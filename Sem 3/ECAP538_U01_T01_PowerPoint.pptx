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7" r:id="rId3"/>
    <p:sldId id="266" r:id="rId4"/>
    <p:sldId id="268" r:id="rId5"/>
    <p:sldId id="269" r:id="rId6"/>
    <p:sldId id="270" r:id="rId7"/>
    <p:sldId id="273" r:id="rId8"/>
    <p:sldId id="274" r:id="rId9"/>
    <p:sldId id="271" r:id="rId10"/>
    <p:sldId id="272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317" r:id="rId20"/>
    <p:sldId id="318" r:id="rId21"/>
    <p:sldId id="283" r:id="rId22"/>
    <p:sldId id="284" r:id="rId23"/>
    <p:sldId id="285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2" r:id="rId38"/>
    <p:sldId id="305" r:id="rId39"/>
    <p:sldId id="301" r:id="rId40"/>
    <p:sldId id="303" r:id="rId41"/>
    <p:sldId id="306" r:id="rId42"/>
    <p:sldId id="304" r:id="rId43"/>
    <p:sldId id="307" r:id="rId44"/>
    <p:sldId id="308" r:id="rId45"/>
    <p:sldId id="309" r:id="rId46"/>
    <p:sldId id="310" r:id="rId47"/>
    <p:sldId id="311" r:id="rId48"/>
    <p:sldId id="313" r:id="rId49"/>
    <p:sldId id="316" r:id="rId50"/>
    <p:sldId id="314" r:id="rId51"/>
    <p:sldId id="315" r:id="rId52"/>
    <p:sldId id="262" r:id="rId5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3F"/>
    <a:srgbClr val="ABF1CF"/>
    <a:srgbClr val="A82B2B"/>
    <a:srgbClr val="2A2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40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3D38A122-EE4C-4BE2-B19D-8255479B9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9" b="10741"/>
          <a:stretch>
            <a:fillRect/>
          </a:stretch>
        </p:blipFill>
        <p:spPr bwMode="auto">
          <a:xfrm>
            <a:off x="0" y="736600"/>
            <a:ext cx="8320088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14310D-59B1-4C8B-A9F6-8684C4D7BE57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0452680B-141E-4C2E-862B-95FCF04E531A}"/>
              </a:ext>
            </a:extLst>
          </p:cNvPr>
          <p:cNvSpPr/>
          <p:nvPr userDrawn="1"/>
        </p:nvSpPr>
        <p:spPr>
          <a:xfrm>
            <a:off x="4078288" y="5299075"/>
            <a:ext cx="4864100" cy="822325"/>
          </a:xfrm>
          <a:prstGeom prst="parallelogram">
            <a:avLst/>
          </a:prstGeom>
          <a:solidFill>
            <a:srgbClr val="01141A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170C9E1-6015-4091-804F-89AA5C91BAA8}"/>
              </a:ext>
            </a:extLst>
          </p:cNvPr>
          <p:cNvSpPr/>
          <p:nvPr userDrawn="1"/>
        </p:nvSpPr>
        <p:spPr>
          <a:xfrm>
            <a:off x="5692775" y="5929313"/>
            <a:ext cx="212725" cy="501650"/>
          </a:xfrm>
          <a:prstGeom prst="parallelogram">
            <a:avLst>
              <a:gd name="adj" fmla="val 55247"/>
            </a:avLst>
          </a:prstGeom>
          <a:solidFill>
            <a:srgbClr val="00D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9FE92DC-76A9-4BAF-B45A-C31605622CC8}"/>
              </a:ext>
            </a:extLst>
          </p:cNvPr>
          <p:cNvSpPr/>
          <p:nvPr userDrawn="1"/>
        </p:nvSpPr>
        <p:spPr>
          <a:xfrm>
            <a:off x="5480050" y="5929313"/>
            <a:ext cx="212725" cy="501650"/>
          </a:xfrm>
          <a:prstGeom prst="parallelogram">
            <a:avLst>
              <a:gd name="adj" fmla="val 55247"/>
            </a:avLst>
          </a:prstGeom>
          <a:solidFill>
            <a:srgbClr val="00D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E903B05-8F58-46A7-AC63-BC2B604FB4E1}"/>
              </a:ext>
            </a:extLst>
          </p:cNvPr>
          <p:cNvSpPr/>
          <p:nvPr userDrawn="1"/>
        </p:nvSpPr>
        <p:spPr>
          <a:xfrm>
            <a:off x="5275263" y="5929313"/>
            <a:ext cx="212725" cy="501650"/>
          </a:xfrm>
          <a:prstGeom prst="parallelogram">
            <a:avLst>
              <a:gd name="adj" fmla="val 55247"/>
            </a:avLst>
          </a:prstGeom>
          <a:solidFill>
            <a:srgbClr val="00D4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666D150-62A7-4EC0-A0A7-9CDF8B809145}"/>
              </a:ext>
            </a:extLst>
          </p:cNvPr>
          <p:cNvSpPr/>
          <p:nvPr userDrawn="1"/>
        </p:nvSpPr>
        <p:spPr>
          <a:xfrm>
            <a:off x="5888038" y="5929313"/>
            <a:ext cx="2790825" cy="501650"/>
          </a:xfrm>
          <a:prstGeom prst="parallelogram">
            <a:avLst/>
          </a:prstGeom>
          <a:solidFill>
            <a:srgbClr val="00D4A2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3CA45-610F-4394-82FC-2F6F419C28C2}"/>
              </a:ext>
            </a:extLst>
          </p:cNvPr>
          <p:cNvSpPr txBox="1"/>
          <p:nvPr userDrawn="1"/>
        </p:nvSpPr>
        <p:spPr>
          <a:xfrm>
            <a:off x="4535488" y="5308600"/>
            <a:ext cx="2703512" cy="620713"/>
          </a:xfrm>
          <a:prstGeom prst="rect">
            <a:avLst/>
          </a:prstGeom>
          <a:noFill/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D4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+mn-cs"/>
              </a:rPr>
              <a:t>Dr. </a:t>
            </a:r>
            <a:r>
              <a:rPr lang="en-US" sz="3200" b="1" dirty="0" err="1">
                <a:solidFill>
                  <a:srgbClr val="00D4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+mn-cs"/>
              </a:rPr>
              <a:t>Divya</a:t>
            </a:r>
            <a:endParaRPr lang="en-US" sz="3200" b="1" dirty="0">
              <a:solidFill>
                <a:srgbClr val="00D4A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73B3F-43EF-45DE-BDAE-40C7F6F6B9E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11863" y="5929313"/>
            <a:ext cx="2667000" cy="50165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000">
                <a:solidFill>
                  <a:srgbClr val="00203F"/>
                </a:solidFill>
                <a:latin typeface="Bahnschrift" panose="020B0502040204020203" pitchFamily="34" charset="0"/>
              </a:rPr>
              <a:t>Assistant Professor</a:t>
            </a:r>
          </a:p>
        </p:txBody>
      </p:sp>
      <p:sp>
        <p:nvSpPr>
          <p:cNvPr id="12" name="Arrow: Pentagon 5">
            <a:extLst>
              <a:ext uri="{FF2B5EF4-FFF2-40B4-BE49-F238E27FC236}">
                <a16:creationId xmlns:a16="http://schemas.microsoft.com/office/drawing/2014/main" id="{623A175A-4822-4947-8A41-831FBF6EB728}"/>
              </a:ext>
            </a:extLst>
          </p:cNvPr>
          <p:cNvSpPr/>
          <p:nvPr userDrawn="1"/>
        </p:nvSpPr>
        <p:spPr>
          <a:xfrm>
            <a:off x="382588" y="411163"/>
            <a:ext cx="2662237" cy="1322387"/>
          </a:xfrm>
          <a:prstGeom prst="homePlate">
            <a:avLst/>
          </a:prstGeom>
          <a:solidFill>
            <a:srgbClr val="ABF1CF"/>
          </a:solidFill>
          <a:ln>
            <a:solidFill>
              <a:srgbClr val="00203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00203F"/>
                </a:solidFill>
              </a:rPr>
              <a:t>ECAP538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359044" y="426286"/>
            <a:ext cx="6084514" cy="1292661"/>
          </a:xfrm>
          <a:custGeom>
            <a:avLst/>
            <a:gdLst>
              <a:gd name="connsiteX0" fmla="*/ 0 w 6084514"/>
              <a:gd name="connsiteY0" fmla="*/ 0 h 1292661"/>
              <a:gd name="connsiteX1" fmla="*/ 5915641 w 6084514"/>
              <a:gd name="connsiteY1" fmla="*/ 0 h 1292661"/>
              <a:gd name="connsiteX2" fmla="*/ 6084514 w 6084514"/>
              <a:gd name="connsiteY2" fmla="*/ 168873 h 1292661"/>
              <a:gd name="connsiteX3" fmla="*/ 6084514 w 6084514"/>
              <a:gd name="connsiteY3" fmla="*/ 1292661 h 1292661"/>
              <a:gd name="connsiteX4" fmla="*/ 9051 w 6084514"/>
              <a:gd name="connsiteY4" fmla="*/ 1292661 h 1292661"/>
              <a:gd name="connsiteX5" fmla="*/ 650856 w 6084514"/>
              <a:gd name="connsiteY5" fmla="*/ 650856 h 129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4514" h="1292661">
                <a:moveTo>
                  <a:pt x="0" y="0"/>
                </a:moveTo>
                <a:lnTo>
                  <a:pt x="5915641" y="0"/>
                </a:lnTo>
                <a:cubicBezTo>
                  <a:pt x="6008907" y="0"/>
                  <a:pt x="6084514" y="75607"/>
                  <a:pt x="6084514" y="168873"/>
                </a:cubicBezTo>
                <a:lnTo>
                  <a:pt x="6084514" y="1292661"/>
                </a:lnTo>
                <a:lnTo>
                  <a:pt x="9051" y="1292661"/>
                </a:lnTo>
                <a:lnTo>
                  <a:pt x="650856" y="650856"/>
                </a:lnTo>
                <a:close/>
              </a:path>
            </a:pathLst>
          </a:custGeom>
          <a:solidFill>
            <a:srgbClr val="00203F"/>
          </a:solidFill>
          <a:ln>
            <a:solidFill>
              <a:srgbClr val="ABF1C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marL="800100" indent="0" algn="l">
              <a:buNone/>
              <a:defRPr sz="3400" cap="small" baseline="0">
                <a:ln>
                  <a:noFill/>
                </a:ln>
                <a:solidFill>
                  <a:srgbClr val="ABF1C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10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9ED41A-FC2A-4F1F-8A6F-053967040979}"/>
              </a:ext>
            </a:extLst>
          </p:cNvPr>
          <p:cNvSpPr/>
          <p:nvPr userDrawn="1"/>
        </p:nvSpPr>
        <p:spPr>
          <a:xfrm>
            <a:off x="0" y="0"/>
            <a:ext cx="9144000" cy="2171700"/>
          </a:xfrm>
          <a:prstGeom prst="rect">
            <a:avLst/>
          </a:prstGeom>
          <a:gradFill flip="none" rotWithShape="1">
            <a:gsLst>
              <a:gs pos="0">
                <a:srgbClr val="ABF1CF"/>
              </a:gs>
              <a:gs pos="46000">
                <a:srgbClr val="00203F">
                  <a:alpha val="95000"/>
                </a:srgbClr>
              </a:gs>
              <a:gs pos="100000">
                <a:srgbClr val="00203F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Graphic 12" descr="Bullseye outline">
            <a:extLst>
              <a:ext uri="{FF2B5EF4-FFF2-40B4-BE49-F238E27FC236}">
                <a16:creationId xmlns:a16="http://schemas.microsoft.com/office/drawing/2014/main" id="{975A8666-CE84-43AA-901E-DEB1114AC4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6650" y="333375"/>
            <a:ext cx="1504950" cy="1504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EE8C6CBE-0E44-4108-BB17-ADC0FEF3E0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8650" y="2243138"/>
            <a:ext cx="7315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00203F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3600450" cy="2171700"/>
          </a:xfrm>
        </p:spPr>
        <p:txBody>
          <a:bodyPr/>
          <a:lstStyle>
            <a:lvl1pPr>
              <a:spcAft>
                <a:spcPts val="600"/>
              </a:spcAft>
              <a:defRPr>
                <a:solidFill>
                  <a:srgbClr val="ABF1C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48" y="2809874"/>
            <a:ext cx="7315201" cy="3819525"/>
          </a:xfrm>
        </p:spPr>
        <p:txBody>
          <a:bodyPr/>
          <a:lstStyle>
            <a:lvl1pPr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4881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BD0EFB-61BC-4617-9EC5-0D4F2DB6E1C8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00203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4000">
                <a:solidFill>
                  <a:srgbClr val="ABF1C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573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35FD65-AC0D-4FCA-B222-888F3FBCF106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00203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4000">
                <a:solidFill>
                  <a:srgbClr val="ABF1C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297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F7FA2-6019-4126-B34B-B220C5B9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2F949-7823-4EDE-9115-4E449E7A8A6D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2FD62-44BF-472B-92E1-14664778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A0AFB-4107-453E-8FEA-844D6C20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C032B6-2A4A-4AD0-91F5-E3CA7EE5D9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064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99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C1557C2-C327-4452-9313-E22E8274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D17F0-69D6-4668-ADF0-05137FBD1440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12868-ECA4-46DF-A44F-ABB6C8B2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E23F6-D5BC-4C86-B618-5C8F16ED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2761-4B47-4FF7-9C10-02ABE08583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07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A4F48B-6C01-4236-AE0B-90EA27D9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7DEAFA-D85B-4C00-A98A-10CBA9D5EFA5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D1F948-2436-4A44-A349-F438337D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2535E2C-8961-4ADE-9246-34A96354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5194DA-FF26-4C0C-9922-BEEDCA382A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151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3FEEBAE-F56E-4710-A4EA-C1023A05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E0605-B7F3-407B-B529-E2B50CCD06EA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DBE5F47-4312-4680-B829-809D5074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DC2938-BC6D-4A9C-B5C2-A361DEEE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DC8FF-82F7-4C07-931F-E2B2C9D34E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48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46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3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B294509-E58F-4CBA-A9B0-D592BF47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C2F02-3107-406A-8C05-CD6075A1BD3E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D3FB0F-04BF-4E53-B1DC-F550E9BD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55E364-BF7A-4D78-BD4A-36325199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84E34A-B046-4923-AC86-81A388002E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636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F0700C2-D942-427D-AF9C-E962532C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78C1E-1FA4-4773-B5A3-6662AE5A4CC2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0E3F50-71EA-4AD7-9C14-9A17C125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FE23B6-F13C-44A9-A7D2-B2D7DECA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E28E4-EEC8-4833-90C3-8363BBBFAC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063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D3BC4-E9C9-4A19-8453-0539F9A9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54F29-B73F-4180-B92B-F4420C8E4F6F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ADB3D-29CA-43A5-BF9A-E2CADE4F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1442E-3175-4DFA-80FD-484348A8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113207-8214-42F3-83A3-38F034E668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358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8662-ED85-4951-B9E4-466B916C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9332B-C24B-4856-9FFD-2131BDB4A07E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2607-C508-4E86-8ADB-D3004934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44CC3-38C1-4C5B-89B4-CECCAD84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CD4D4-DA54-40A4-B7CA-83479C3975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049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4">
            <a:extLst>
              <a:ext uri="{FF2B5EF4-FFF2-40B4-BE49-F238E27FC236}">
                <a16:creationId xmlns:a16="http://schemas.microsoft.com/office/drawing/2014/main" id="{947D9233-82EB-4F77-8619-7291220C320E}"/>
              </a:ext>
            </a:extLst>
          </p:cNvPr>
          <p:cNvSpPr/>
          <p:nvPr userDrawn="1"/>
        </p:nvSpPr>
        <p:spPr>
          <a:xfrm>
            <a:off x="1608138" y="2662238"/>
            <a:ext cx="5927725" cy="1574800"/>
          </a:xfrm>
          <a:prstGeom prst="roundRect">
            <a:avLst>
              <a:gd name="adj" fmla="val 10858"/>
            </a:avLst>
          </a:prstGeom>
          <a:solidFill>
            <a:srgbClr val="ABF1CF"/>
          </a:solidFill>
          <a:ln>
            <a:solidFill>
              <a:schemeClr val="bg1"/>
            </a:solidFill>
          </a:ln>
          <a:effectLst>
            <a:outerShdw blurRad="63500" sx="104000" sy="104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9CCF19ED-0A73-408A-9734-56678B512D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47888" y="3044825"/>
            <a:ext cx="48482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400">
                <a:solidFill>
                  <a:srgbClr val="00203F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281318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>
            <a:alphaModFix amt="2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0C746AD-F292-40D9-A4CC-8D3E0A2883B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3DA8FF6-7880-42D6-A88C-20883F767B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08929-B4C4-4245-82F8-31E8A3C5F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8E60485-4DBE-4286-AB89-17A93708B58E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CBC2-F3C0-4E92-8542-5B9B92FE9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CC1F2-F72C-44DC-B7DF-3DB43C209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Bahnschrift" panose="020B0502040204020203" pitchFamily="34" charset="0"/>
              </a:defRPr>
            </a:lvl1pPr>
          </a:lstStyle>
          <a:p>
            <a:fld id="{B1137B4B-11F0-42DA-96D9-2C1CBB4E20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09" r:id="rId5"/>
    <p:sldLayoutId id="2147483721" r:id="rId6"/>
    <p:sldLayoutId id="2147483710" r:id="rId7"/>
    <p:sldLayoutId id="2147483711" r:id="rId8"/>
    <p:sldLayoutId id="2147483712" r:id="rId9"/>
    <p:sldLayoutId id="2147483722" r:id="rId10"/>
    <p:sldLayoutId id="2147483723" r:id="rId11"/>
    <p:sldLayoutId id="2147483713" r:id="rId12"/>
    <p:sldLayoutId id="2147483714" r:id="rId13"/>
    <p:sldLayoutId id="2147483715" r:id="rId14"/>
    <p:sldLayoutId id="2147483716" r:id="rId15"/>
    <p:sldLayoutId id="2147483724" r:id="rId16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ahnschrift SemiBold" panose="020B05020402040202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2BAE8F-03CE-4A08-A87F-72FEF35194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59025" y="427038"/>
            <a:ext cx="6084888" cy="129222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/>
              <a:t>Linux and Shell Scripting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8DE3-5F2E-4A80-B288-F0737726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/>
              <a:t>Learning Outcomes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C36FA901-9268-4227-B78F-ABA528A18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440" y="3038475"/>
            <a:ext cx="7315200" cy="628361"/>
          </a:xfrm>
        </p:spPr>
        <p:txBody>
          <a:bodyPr/>
          <a:lstStyle/>
          <a:p>
            <a:pPr eaLnBrk="1" hangingPunct="1"/>
            <a:r>
              <a:rPr lang="en-IN" altLang="en-US" dirty="0"/>
              <a:t>Understand the basic data structures.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5737-B8F0-4289-ADF0-641924A1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Stacks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06A2BE3-75DF-4ABF-8293-5C8F48322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201121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Stack: </a:t>
            </a:r>
            <a:r>
              <a:rPr lang="en-US" altLang="en-US" sz="2800" dirty="0"/>
              <a:t>A stack is an ordered list in which all insertions and deletions are made at one end, called the top.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13C0-42DA-40D6-A40C-AC19380E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Representation of a stack and queue</a:t>
            </a:r>
          </a:p>
        </p:txBody>
      </p:sp>
      <p:pic>
        <p:nvPicPr>
          <p:cNvPr id="13315" name="Content Placeholder 6" descr="Ch1-1.JPG">
            <a:extLst>
              <a:ext uri="{FF2B5EF4-FFF2-40B4-BE49-F238E27FC236}">
                <a16:creationId xmlns:a16="http://schemas.microsoft.com/office/drawing/2014/main" id="{0599CF91-8113-4E62-B1B7-BAC54F6F6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5195" y="2451389"/>
            <a:ext cx="3328988" cy="3762375"/>
          </a:xfrm>
        </p:spPr>
      </p:pic>
      <p:sp>
        <p:nvSpPr>
          <p:cNvPr id="13316" name="TextBox 4">
            <a:extLst>
              <a:ext uri="{FF2B5EF4-FFF2-40B4-BE49-F238E27FC236}">
                <a16:creationId xmlns:a16="http://schemas.microsoft.com/office/drawing/2014/main" id="{AF2119ED-1BDC-43D6-9DF3-F91F78441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64" y="1289050"/>
            <a:ext cx="7203786" cy="651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ahnschrift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ahnschrift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Stack follows the </a:t>
            </a:r>
            <a:r>
              <a:rPr lang="en-US" altLang="en-US" dirty="0">
                <a:solidFill>
                  <a:srgbClr val="FF0000"/>
                </a:solidFill>
              </a:rPr>
              <a:t>LIFO</a:t>
            </a:r>
            <a:r>
              <a:rPr lang="en-US" altLang="en-US" dirty="0"/>
              <a:t>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B790-B4D2-42BE-99D7-06D6E168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defRPr/>
            </a:pPr>
            <a:r>
              <a:rPr lang="en-US" dirty="0"/>
              <a:t>Representation of a stack by 1-D array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F3AD41D0-F968-47CF-B423-BAC677442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344285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Using a 1-D array.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stack [0 : n-1], where </a:t>
            </a:r>
            <a:r>
              <a:rPr lang="en-US" altLang="en-US" i="1" dirty="0"/>
              <a:t>n</a:t>
            </a:r>
            <a:r>
              <a:rPr lang="en-US" altLang="en-US" dirty="0"/>
              <a:t> is the maximum number of allowable entries.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first or bottom element in the stack is stored at stack [0], the second at stack[1],and the </a:t>
            </a:r>
            <a:r>
              <a:rPr lang="en-US" altLang="en-US" dirty="0" err="1"/>
              <a:t>ith</a:t>
            </a:r>
            <a:r>
              <a:rPr lang="en-US" altLang="en-US" dirty="0"/>
              <a:t> at stack[i-1].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630F-B0D4-4CEF-ACA5-BEDA7572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Top of the stack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7D05ECDF-8035-4446-B1A0-5721DA715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Associated with the array is a variable, typically called top, which points to the top element in the stack.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To test whether the stack is empty, we ask 	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	"if (top &lt; 0)". If not, the topmost element is at stack [top].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Checking whether the stack is full by "if (top &gt; n-1)".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0DA9-6CB8-4E5B-8B3B-D84F03F9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Operations on a stack (Add)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0FEB9-0F60-47DF-B21B-EFCF4E4DB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Algorithm Add (item)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// Push an element on to the stack. Return </a:t>
            </a:r>
            <a:r>
              <a:rPr lang="en-US" b="1" dirty="0"/>
              <a:t>true</a:t>
            </a:r>
            <a:r>
              <a:rPr lang="en-US" dirty="0"/>
              <a:t> if successful;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// else return </a:t>
            </a:r>
            <a:r>
              <a:rPr lang="en-US" b="1" dirty="0"/>
              <a:t>false</a:t>
            </a:r>
            <a:r>
              <a:rPr lang="en-US" dirty="0"/>
              <a:t>, item is used as an input.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  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if (top ≥ n - 1) then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write (\"Stack is full!\;")return false;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else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top :=top + 1;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stack[top] :=item;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return true;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ECEC-BDB5-45A1-AB82-461FEC3E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Operations on a stack (Delete)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893F-86E9-4689-B238-0E85C562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Algorithm Delete(item)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// Pop the top element from the stack. Return true if successful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// else return false, item is used as an output.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if (top &lt; 0) then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write (\"Stack is empty!"); return false;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else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item:=stack[top], top :=top - 1; return true;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}	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9B5F-A89E-43EE-99E2-C1D8FD1C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Representation of a stack by links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8FEA020D-1C61-4AD6-9DA2-62779528F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Use of a pointer.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 node is a collection of data and link information.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 stack can be represented by using nodes with two fields, possibly called data and 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2027-1130-49DA-9BCA-5F42B059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Representation of a stack by links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C982969A-3CC9-485B-8A0E-7198D1B9E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402474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Data Field: </a:t>
            </a:r>
            <a:r>
              <a:rPr lang="en-US" altLang="en-US" dirty="0"/>
              <a:t>The data field of each node contains an item in the stack and the corresponding link field points to the node containing the next item in the stack.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Link Field: </a:t>
            </a:r>
            <a:r>
              <a:rPr lang="en-US" altLang="en-US" dirty="0"/>
              <a:t>The link field of the last node is zero, for we assume that all nodes have an address greater than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21D4-CFE1-4687-BF71-1D304826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Representation of a stack by links</a:t>
            </a:r>
          </a:p>
        </p:txBody>
      </p:sp>
      <p:pic>
        <p:nvPicPr>
          <p:cNvPr id="20483" name="Content Placeholder 3" descr="Ch1-3.JPG">
            <a:extLst>
              <a:ext uri="{FF2B5EF4-FFF2-40B4-BE49-F238E27FC236}">
                <a16:creationId xmlns:a16="http://schemas.microsoft.com/office/drawing/2014/main" id="{EDF96980-6FB0-471B-8469-729B7891E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950" y="2908734"/>
            <a:ext cx="8582025" cy="18415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8C7A-75A7-4EE5-B10B-8B7372EA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Type of data</a:t>
            </a:r>
            <a:endParaRPr lang="en-US" dirty="0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3A9D59EB-2CE0-4EE2-8EAA-7B874F776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node=record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{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Type data; 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node *link;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488C-E030-4F7E-B2AF-C79B770A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Operations on a stack (Add)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F617-4E4B-455B-A5FC-BE0912123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Algorithm Add (item)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// Get a new node.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temp:=new node;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if (temp ≠ 0) then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(temp  → data) :=item;(temp  → link) :=top;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top :=temp; return true;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}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else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 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write ("Out of space!”); 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return false; 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13AE-8547-4C58-98DF-5BF11D2F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Operations on a stack (Delete)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59EC3-0381-49E7-8557-979F27C32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Algorithm Delete (item)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if (top = 0) then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write (\"Stack is empty!”);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return false;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else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{	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item:=(top → data); temp:= top;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top :=(top → link);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delete temp;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return true;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		 } 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0664-BBB4-45D7-8C26-E6134B2E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Operations on a stack</a:t>
            </a:r>
            <a:endParaRPr 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057D8A89-ED6D-4549-A51F-D38C1443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variable top points to the topmost node (the last item inserted) in the list.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empty stack is represented by setting top :=0.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Because of the way the links are pointing, insertion and deletion are easy to accomplish.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In the case of Add, the statement temp := new node; assigns to the variable temp the address of an available node.</a:t>
            </a:r>
          </a:p>
          <a:p>
            <a:pPr algn="just" eaLnBrk="1" hangingPunct="1">
              <a:lnSpc>
                <a:spcPct val="15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DD1D-9C93-4A6A-A5FD-DA70E37E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Operations on a stack</a:t>
            </a:r>
            <a:endParaRPr lang="en-US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619AF471-2035-4278-8927-0877F7780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If no more nodes exist, it returns( ).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If a node exists, we store appropriate values into the two fields of the node. Then the variable top is updated to point to the new top element of the list.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Finally, true is returned. If no more space exists, it prints an error message and returns false.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F57D-00B1-4CDB-8CAC-71DEF1A5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Operations on a stack</a:t>
            </a:r>
            <a:endParaRPr lang="en-US" dirty="0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A4BD2CA3-CB63-4398-B2CA-3B7DD32CD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Referring to Delete, if the stack is empty, then trying to delete an item produces the error message "Stack is empty!“ and false is returned.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Otherwise the top element is stored as the value of the variable item, a pointer to the first node is saved, and top is updated to point to the next node.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deleted node is returned for future use and finally true is returned.</a:t>
            </a:r>
          </a:p>
          <a:p>
            <a:pPr algn="just" eaLnBrk="1" hangingPunct="1">
              <a:lnSpc>
                <a:spcPct val="15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0B94-E679-4182-B542-4182D125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Operations on a stack</a:t>
            </a:r>
            <a:endParaRPr lang="en-US" dirty="0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CA7AA114-C743-4FE7-AD40-9512B181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use of links to represent a stack requires more storage than the sequential array stack [0: n – 1] does.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However, there is greater flexibility when using links, for many structures can simultaneously use the same pool of available space.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Most importantly the times for insertion and deletion using either representation are independent of the size of the stack.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FB32-11F4-4B6C-BC8C-0689F758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Queues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8D78E87A-CFDC-495F-BF48-507153555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Queue: </a:t>
            </a:r>
            <a:r>
              <a:rPr lang="en-US" altLang="en-US" dirty="0"/>
              <a:t>A queue is an ordered list in which all insertions take place at one end, the rear, whereas all deletions take place at the other end, the front.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9DB4-51C0-4F13-B67E-9E407B9B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Example of a stack and queue</a:t>
            </a:r>
          </a:p>
        </p:txBody>
      </p:sp>
      <p:pic>
        <p:nvPicPr>
          <p:cNvPr id="29699" name="Picture 7" descr="Ch1-2.JPG">
            <a:extLst>
              <a:ext uri="{FF2B5EF4-FFF2-40B4-BE49-F238E27FC236}">
                <a16:creationId xmlns:a16="http://schemas.microsoft.com/office/drawing/2014/main" id="{A41D2437-6A69-419B-9A46-579EF3111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214" y="2544763"/>
            <a:ext cx="3762375" cy="368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4">
            <a:extLst>
              <a:ext uri="{FF2B5EF4-FFF2-40B4-BE49-F238E27FC236}">
                <a16:creationId xmlns:a16="http://schemas.microsoft.com/office/drawing/2014/main" id="{AED367E3-989B-4946-A525-A3A29473A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97" y="1337721"/>
            <a:ext cx="6773862" cy="651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ahnschrift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ahnschrift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Queue follows the </a:t>
            </a:r>
            <a:r>
              <a:rPr lang="en-US" altLang="en-US" dirty="0">
                <a:solidFill>
                  <a:srgbClr val="FF0000"/>
                </a:solidFill>
              </a:rPr>
              <a:t>FIFO </a:t>
            </a:r>
            <a:r>
              <a:rPr lang="en-US" altLang="en-US" dirty="0"/>
              <a:t>operations.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B213-9888-4D21-B830-3F03A90A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Queue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7A3A9-EDAD-44A3-92E2-701024439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400" dirty="0"/>
              <a:t>An efficient queue representation can be obtained by taking an array q[0 : n - 1] and treating it as if it were circular. 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400" dirty="0"/>
              <a:t>Elements are inserted by increasing the variable rear to the next free position. When rear = n - 1, the next element is entered at q[0] in case that spot is free. 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400" dirty="0"/>
              <a:t>The variable front always points one position counterclockwise from the first element in the queue.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400" dirty="0"/>
              <a:t>The variable front= rear if and only if the queue is empty and we initially set front:=rear := 0.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D730-A966-4342-B20B-77A85F9F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defRPr/>
            </a:pPr>
            <a:r>
              <a:rPr lang="en-IN" dirty="0"/>
              <a:t>Possible configurations of circular queue</a:t>
            </a:r>
            <a:endParaRPr lang="en-US" dirty="0"/>
          </a:p>
        </p:txBody>
      </p:sp>
      <p:pic>
        <p:nvPicPr>
          <p:cNvPr id="31747" name="Content Placeholder 3" descr="Ch1-4.JPG">
            <a:extLst>
              <a:ext uri="{FF2B5EF4-FFF2-40B4-BE49-F238E27FC236}">
                <a16:creationId xmlns:a16="http://schemas.microsoft.com/office/drawing/2014/main" id="{791CAFF9-4E9A-490D-9553-B9AF101AF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950" y="2201863"/>
            <a:ext cx="8582025" cy="3587750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C6A2-7FBC-4DF7-AD3C-33CA4458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Operation on a queue (Add)</a:t>
            </a:r>
            <a:endParaRPr lang="en-US" dirty="0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DC81CE64-302C-41B8-A81B-1379B6EEE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 dirty="0"/>
              <a:t>To insert an element, it is necessary to move rear one position clockwise. This can be done using the code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en-US" sz="2600" dirty="0"/>
              <a:t>if (rear= n - 1) then rear :=0;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en-US" sz="2600" dirty="0"/>
              <a:t>else rear := rear + 1;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2B52-C55E-4FF3-B774-A98DC7D1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Representation of a queue</a:t>
            </a:r>
            <a:endParaRPr lang="en-US" dirty="0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03320DB8-56B7-4F92-9BF2-9F6D85C1C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Another way to represent a queue is by using links.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As with the linked stack example, each node of the queue is composed of the two fields data and link.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 queue is pointed at by two variables, front and rear.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Deletions are made from the front, and insertions at the rear. Variable front= 0 signals an empty queue.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7610-3076-4659-A537-B992CB09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Operation on a queue (Add)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ED4D6-0AE6-43A5-AB03-F3D3B65EB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Algorithm </a:t>
            </a:r>
            <a:r>
              <a:rPr lang="en-US" dirty="0" err="1"/>
              <a:t>AddQ</a:t>
            </a:r>
            <a:r>
              <a:rPr lang="en-US" dirty="0"/>
              <a:t> (item)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rear :=(rear+ 1) mod n; // Advance rear clockwise.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if (front= rear) then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write ("</a:t>
            </a:r>
            <a:r>
              <a:rPr lang="en-US" dirty="0" err="1"/>
              <a:t>Queueis</a:t>
            </a:r>
            <a:r>
              <a:rPr lang="en-US" dirty="0"/>
              <a:t> full!”);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if (front=0) then rear := n-1;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else rear :=rear - 1;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// Move rear one position counterclockwise.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Return false;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else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q[rear] := item;// Insert new item.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return true;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IN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23C6-00DF-4226-A9AB-5D67690C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Operation on a queue (Delete)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259C5-34CC-48D4-915E-F2356BC9A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Algorithm Delete Q (item)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if (front= rear) then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write ("Queue is empty!”);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return false;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else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front:=(front+ 1) mod n; // Advance front clockwise.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item:=q[front]; //Set item to front of queue.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return true;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IN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A785-1897-42FF-9883-0394E469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Trees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75133BE6-57B3-4E19-8C4F-9CC281F1A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 dirty="0"/>
              <a:t>A tree is a finite set of one or more nodes such that there is a specially designated node called the root and the remaining nodes are partitioned into n &gt; 0 disjoint sets T</a:t>
            </a:r>
            <a:r>
              <a:rPr lang="en-US" altLang="en-US" baseline="-25000" dirty="0"/>
              <a:t>1</a:t>
            </a:r>
            <a:r>
              <a:rPr lang="en-US" altLang="en-US" dirty="0"/>
              <a:t>,…,Tn, where each of these sets is a tree. The sets T</a:t>
            </a:r>
            <a:r>
              <a:rPr lang="en-US" altLang="en-US" baseline="-25000" dirty="0"/>
              <a:t>1</a:t>
            </a:r>
            <a:r>
              <a:rPr lang="en-US" altLang="en-US" dirty="0"/>
              <a:t>,...,Tn are called the subtrees of the root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28A3-9158-4D7A-B0FA-54763BB4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A sample tree</a:t>
            </a:r>
            <a:endParaRPr lang="en-US" dirty="0"/>
          </a:p>
        </p:txBody>
      </p:sp>
      <p:pic>
        <p:nvPicPr>
          <p:cNvPr id="37891" name="Content Placeholder 3" descr="Ch1-5.JPG">
            <a:extLst>
              <a:ext uri="{FF2B5EF4-FFF2-40B4-BE49-F238E27FC236}">
                <a16:creationId xmlns:a16="http://schemas.microsoft.com/office/drawing/2014/main" id="{CD98A4C1-2E40-4AD9-AD5A-79F6F3A4A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6713" y="2200275"/>
            <a:ext cx="8572500" cy="3590925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B62-EE0E-495C-9AC9-6A82163B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A sample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D41C1-BAD5-48F0-9E00-CAA112FF2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 rtlCol="0">
            <a:normAutofit fontScale="92500" lnSpcReduction="10000"/>
          </a:bodyPr>
          <a:lstStyle/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dirty="0"/>
              <a:t>This tree has 13 nodes.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dirty="0"/>
              <a:t>Root contains A.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/>
              <a:t>The number of </a:t>
            </a:r>
            <a:r>
              <a:rPr lang="en-US" dirty="0" err="1"/>
              <a:t>subtrees</a:t>
            </a:r>
            <a:r>
              <a:rPr lang="en-US" dirty="0"/>
              <a:t> of a node is called its degree. The degree of A is 3, of C is 1, and of F is 0.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/>
              <a:t>Nodes that have degree zero are called leaf or terminal nodes. The set {K,L,F,G,M,I,J} is the set of leaf node.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/>
              <a:t>The other nodes are referred to as </a:t>
            </a:r>
            <a:r>
              <a:rPr lang="en-US" dirty="0" err="1"/>
              <a:t>nonterminals</a:t>
            </a:r>
            <a:r>
              <a:rPr lang="en-US" dirty="0"/>
              <a:t>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/>
              <a:t>Thus the children of D are H, </a:t>
            </a:r>
            <a:r>
              <a:rPr lang="en-US" dirty="0" err="1"/>
              <a:t>I,and</a:t>
            </a:r>
            <a:r>
              <a:rPr lang="en-US" dirty="0"/>
              <a:t> J, and the parent of D is 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8E0F-628D-4F34-AE82-8A8AC2DFB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A sample tree</a:t>
            </a:r>
            <a:endParaRPr lang="en-US" dirty="0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9D073E06-7D64-4848-9967-7895B083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54006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Children of the same parent are said to be siblings. For example H, I, and J are siblings.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degree of a tree is the maximum degree of the nodes in the tree.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ancestors of a node are all the nodes along the path from the root to that node.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ancestors of M are A, D, and 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4ADE-A893-4B24-8E12-1177E52B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A sample tree</a:t>
            </a:r>
            <a:endParaRPr lang="en-US" dirty="0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529E7492-9B8F-44C5-B346-6C2A36333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level of a node is defined by initially letting the root be at level one.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If a node is at level p, then its children are at level p + 1.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height or depth of a tree is defined to be the maximum level of any node in the tree.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0AC9-EFB3-4DFC-8E30-9D8955D3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A sample tree</a:t>
            </a:r>
            <a:endParaRPr lang="en-US" dirty="0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FEA2A5E8-94C9-40C0-9298-2ED70C1D6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 sz="2800"/>
              <a:t>A forest is a set of n &gt;0 disjoint trees. The notion of a forest is very close to that of a tree because if we remove the root of a tree, we get a forest.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E54C-20EE-4A48-B21F-200952DD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Representation of a tree</a:t>
            </a:r>
            <a:endParaRPr lang="en-US" dirty="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61DBBF81-D361-44C7-B242-851AFF979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142932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 dirty="0"/>
              <a:t>We can represent a tree using a fixed node size list structure.</a:t>
            </a:r>
          </a:p>
        </p:txBody>
      </p:sp>
      <p:pic>
        <p:nvPicPr>
          <p:cNvPr id="43012" name="Picture 3" descr="Ch1-6.JPG">
            <a:extLst>
              <a:ext uri="{FF2B5EF4-FFF2-40B4-BE49-F238E27FC236}">
                <a16:creationId xmlns:a16="http://schemas.microsoft.com/office/drawing/2014/main" id="{64E73DB7-3074-4E08-BF10-61F1CBD50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493" y="3209926"/>
            <a:ext cx="6549014" cy="2786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D15A-26FA-4BEE-AD2A-6B8B54C2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Binary Trees</a:t>
            </a:r>
            <a:endParaRPr lang="en-US" dirty="0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CF9BE24D-59A9-4656-901B-B6F960C9A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Any node can have at most two children; that is, there is no node with a degree greater than two.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For binary trees, we distinguish between the subtree on the left and that on the right.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Furthermore, a binary tree is allowed to have zero nodes, whereas any other tree must have at least one node. Thus, a binary tree is really a different kind of object than any other tree.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26EE-8992-4F74-92AF-9D22B58C4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Binary Trees</a:t>
            </a:r>
            <a:endParaRPr lang="en-US" dirty="0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170E4193-FFB9-4A65-8C5A-12AD736A2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 sz="2800" dirty="0"/>
              <a:t>A binary tree is a finite set of nodes that is either empty or consists of a root and two disjoint binary trees called the left and right subtrees.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60E4-B427-4D76-937E-C5F08391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Representation of a binary tree</a:t>
            </a:r>
            <a:endParaRPr lang="en-US" dirty="0"/>
          </a:p>
        </p:txBody>
      </p:sp>
      <p:pic>
        <p:nvPicPr>
          <p:cNvPr id="46083" name="Content Placeholder 3" descr="Ch1-7.JPG">
            <a:extLst>
              <a:ext uri="{FF2B5EF4-FFF2-40B4-BE49-F238E27FC236}">
                <a16:creationId xmlns:a16="http://schemas.microsoft.com/office/drawing/2014/main" id="{4D8AD503-82E9-4B42-A9B8-538D3691E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87737" y="2606964"/>
            <a:ext cx="2168525" cy="3171825"/>
          </a:xfrm>
        </p:spPr>
      </p:pic>
      <p:sp>
        <p:nvSpPr>
          <p:cNvPr id="46084" name="TextBox 4">
            <a:extLst>
              <a:ext uri="{FF2B5EF4-FFF2-40B4-BE49-F238E27FC236}">
                <a16:creationId xmlns:a16="http://schemas.microsoft.com/office/drawing/2014/main" id="{6A92D293-3135-4786-A23A-3BB5974D8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993" y="1565419"/>
            <a:ext cx="40179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ahnschrift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ahnschrift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ahnschrift" panose="020B0502040204020203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IN" altLang="en-US" dirty="0"/>
              <a:t>Left skewed binary tree</a:t>
            </a: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DC4A-3020-41C0-A049-C4B23F5B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defRPr/>
            </a:pPr>
            <a:r>
              <a:rPr lang="en-IN" dirty="0"/>
              <a:t>Sequential representation of binary tree</a:t>
            </a:r>
            <a:endParaRPr lang="en-US" dirty="0"/>
          </a:p>
        </p:txBody>
      </p:sp>
      <p:pic>
        <p:nvPicPr>
          <p:cNvPr id="47107" name="Content Placeholder 3" descr="Ch1-9.JPG">
            <a:extLst>
              <a:ext uri="{FF2B5EF4-FFF2-40B4-BE49-F238E27FC236}">
                <a16:creationId xmlns:a16="http://schemas.microsoft.com/office/drawing/2014/main" id="{6F341C54-4D8A-409D-A7F8-C3DCCF0ED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9882" y="2629333"/>
            <a:ext cx="6030191" cy="1917560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E912-39A9-4953-8C07-465C292E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Linked representation</a:t>
            </a:r>
            <a:endParaRPr lang="en-US" dirty="0"/>
          </a:p>
        </p:txBody>
      </p:sp>
      <p:pic>
        <p:nvPicPr>
          <p:cNvPr id="48131" name="Content Placeholder 3" descr="Ch1-11.JPG">
            <a:extLst>
              <a:ext uri="{FF2B5EF4-FFF2-40B4-BE49-F238E27FC236}">
                <a16:creationId xmlns:a16="http://schemas.microsoft.com/office/drawing/2014/main" id="{D2B37A40-A7BA-472A-95A5-9C183CD9A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36875" y="2452688"/>
            <a:ext cx="2211388" cy="2586037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88EB-E23A-4B6A-963E-EE8B85EDA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Complete Binary Tree</a:t>
            </a:r>
            <a:endParaRPr lang="en-US" dirty="0"/>
          </a:p>
        </p:txBody>
      </p:sp>
      <p:pic>
        <p:nvPicPr>
          <p:cNvPr id="49155" name="Content Placeholder 3" descr="Ch1-8.JPG">
            <a:extLst>
              <a:ext uri="{FF2B5EF4-FFF2-40B4-BE49-F238E27FC236}">
                <a16:creationId xmlns:a16="http://schemas.microsoft.com/office/drawing/2014/main" id="{50D8E76F-D1FC-4BC0-BEFC-FE55C380F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0288" y="2382838"/>
            <a:ext cx="3411537" cy="2954337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923A-53B1-4049-8644-DE317B57D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defRPr/>
            </a:pPr>
            <a:r>
              <a:rPr lang="en-IN" dirty="0"/>
              <a:t>Sequential representation of binary tree</a:t>
            </a:r>
            <a:endParaRPr lang="en-US" dirty="0"/>
          </a:p>
        </p:txBody>
      </p:sp>
      <p:pic>
        <p:nvPicPr>
          <p:cNvPr id="50179" name="Content Placeholder 3" descr="Ch1-10.JPG">
            <a:extLst>
              <a:ext uri="{FF2B5EF4-FFF2-40B4-BE49-F238E27FC236}">
                <a16:creationId xmlns:a16="http://schemas.microsoft.com/office/drawing/2014/main" id="{32B705B3-FBF5-4A78-898F-CCB89FA01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4363" y="2868613"/>
            <a:ext cx="4168775" cy="1374775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9A44-E8AB-44BF-8F91-33E143FA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Linked representation</a:t>
            </a:r>
            <a:endParaRPr lang="en-US" dirty="0"/>
          </a:p>
        </p:txBody>
      </p:sp>
      <p:pic>
        <p:nvPicPr>
          <p:cNvPr id="51203" name="Content Placeholder 3" descr="Ch1-12.JPG">
            <a:extLst>
              <a:ext uri="{FF2B5EF4-FFF2-40B4-BE49-F238E27FC236}">
                <a16:creationId xmlns:a16="http://schemas.microsoft.com/office/drawing/2014/main" id="{42E7F910-8BE6-4228-8785-C895F59E7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0838" y="1939925"/>
            <a:ext cx="6165850" cy="3740150"/>
          </a:xfr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CDB9-462B-474D-A15A-16C6D603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US" dirty="0"/>
              <a:t>DICTIONARIES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A31CEE9F-A467-4A32-8523-97E346D76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An abstract data type that supports the operations insert, delete, and search is called a dictionary.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Dictionaries have been used in the design of numerous algorithms.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451F9-37AE-4FAE-9C61-B54ADE2C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Example</a:t>
            </a:r>
            <a:endParaRPr lang="en-US" dirty="0"/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20DA3089-C903-49F1-BF8D-A534D6327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 dirty="0"/>
              <a:t>Consider the database of books maintained in a library system. When a user wants to check whether a particular book is available, a </a:t>
            </a:r>
            <a:r>
              <a:rPr lang="en-US" altLang="en-US" dirty="0">
                <a:solidFill>
                  <a:srgbClr val="FF0000"/>
                </a:solidFill>
              </a:rPr>
              <a:t>search</a:t>
            </a:r>
            <a:r>
              <a:rPr lang="en-US" altLang="en-US" dirty="0"/>
              <a:t>, operation is called for. If the book is available and is issued to the user, a </a:t>
            </a:r>
            <a:r>
              <a:rPr lang="en-US" altLang="en-US" dirty="0">
                <a:solidFill>
                  <a:srgbClr val="FF0000"/>
                </a:solidFill>
              </a:rPr>
              <a:t>delete</a:t>
            </a:r>
            <a:r>
              <a:rPr lang="en-US" altLang="en-US" dirty="0"/>
              <a:t> operation can be performed to remove this book from the set of available books. When the user returns the book, it can be</a:t>
            </a:r>
            <a:r>
              <a:rPr lang="en-US" altLang="en-US" dirty="0">
                <a:solidFill>
                  <a:srgbClr val="FF0000"/>
                </a:solidFill>
              </a:rPr>
              <a:t> inserted </a:t>
            </a:r>
            <a:r>
              <a:rPr lang="en-US" altLang="en-US" dirty="0"/>
              <a:t>back into the set.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FCF9-0DCC-40B7-8DF0-B1D1E45C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Binary Search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D86A7-8B7C-4D24-9243-72BD230B6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0" indent="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dirty="0"/>
              <a:t>A binary search tree is a binary tree. It may be empty. If it is not empty, then it satisfies the following properties: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1. Every element has a key and no two elements have the same key (i.e., the keys are distinct).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2. The keys (if any) in the left </a:t>
            </a:r>
            <a:r>
              <a:rPr lang="en-US" dirty="0" err="1"/>
              <a:t>subtree</a:t>
            </a:r>
            <a:r>
              <a:rPr lang="en-US" dirty="0"/>
              <a:t> are smaller than the key in the root.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3. The keys (if any) in the right </a:t>
            </a:r>
            <a:r>
              <a:rPr lang="en-US" dirty="0" err="1"/>
              <a:t>subtree</a:t>
            </a:r>
            <a:r>
              <a:rPr lang="en-US" dirty="0"/>
              <a:t> are larger than the key in the root.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4. The left and right </a:t>
            </a:r>
            <a:r>
              <a:rPr lang="en-US" dirty="0" err="1"/>
              <a:t>subtrees</a:t>
            </a:r>
            <a:r>
              <a:rPr lang="en-US" dirty="0"/>
              <a:t> are also binary search trees.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3DAB-AE28-4188-8E26-4E566A9F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Binary Search Tree</a:t>
            </a:r>
            <a:endParaRPr lang="en-US" dirty="0"/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31AD89F9-EA43-4DDE-A29B-2C2407CC0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8582025" cy="141085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en-US"/>
              <a:t>A binary search tree can support the operation search, insert, and delete among others.</a:t>
            </a:r>
          </a:p>
        </p:txBody>
      </p:sp>
      <p:pic>
        <p:nvPicPr>
          <p:cNvPr id="55300" name="Picture 3" descr="Ch1-13.JPG">
            <a:extLst>
              <a:ext uri="{FF2B5EF4-FFF2-40B4-BE49-F238E27FC236}">
                <a16:creationId xmlns:a16="http://schemas.microsoft.com/office/drawing/2014/main" id="{05A30274-29B6-4A3A-8C68-24A65FC6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829050"/>
            <a:ext cx="4460875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CAA1A-52DE-497A-A5AC-9EF7797C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Binary Search Tree</a:t>
            </a:r>
            <a:endParaRPr lang="en-US" dirty="0"/>
          </a:p>
        </p:txBody>
      </p:sp>
      <p:pic>
        <p:nvPicPr>
          <p:cNvPr id="56323" name="Content Placeholder 3" descr="Ch1-14.JPG">
            <a:extLst>
              <a:ext uri="{FF2B5EF4-FFF2-40B4-BE49-F238E27FC236}">
                <a16:creationId xmlns:a16="http://schemas.microsoft.com/office/drawing/2014/main" id="{48843118-12C6-4052-8E1E-F982AEA21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288" y="2720831"/>
            <a:ext cx="5851525" cy="2222500"/>
          </a:xfr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33CF-D053-43EC-907E-B255646D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Priority Queues</a:t>
            </a:r>
            <a:endParaRPr lang="en-US" dirty="0"/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C1E0EDA8-DD40-4CF4-B434-9F8DE056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Any data structure that supports the operations of search min (or max), insert, and delete min (or max, respectively) is called a priority queue.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 max (min) heap is a complete binary tree with the property that the value at each node is at least as large as (as small as) the values at its children(if they exist).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1080-4EA5-401C-BEF5-4CD82CB5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Graphs</a:t>
            </a:r>
            <a:endParaRPr lang="en-US" dirty="0"/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AF80C48A-AFDE-4FE8-9FBE-06695186E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graph G consists of two sets, V and E. The set V is a finite, non-empty set of vertices. The set E is a set of pairs of vertices; these pairs are called edges.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notations V(G) and E(G) represent the sets of vertices and edges, respectively, of the graph G. We also write G = (V, E) to represent a graph.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C1447-CBBF-4F76-9033-F7F06693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Graphs</a:t>
            </a:r>
            <a:endParaRPr lang="en-US" dirty="0"/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DAC9251-D37A-49C9-8C3D-82C74FC06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In an undirected graph, the pair of vertices representing any edge is unordered.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Thus, the pairs(u, v) and (v, u) represent the same edge.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In a directed graph, each edge is represented by a directed pair (u, v); u is the tail and v the head of the edge. Therefore, (v, u) and (u, v) represent two different edges.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DEA8-DD7A-4984-A634-1FD651DC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Graphs</a:t>
            </a:r>
            <a:endParaRPr lang="en-US" dirty="0"/>
          </a:p>
        </p:txBody>
      </p:sp>
      <p:pic>
        <p:nvPicPr>
          <p:cNvPr id="60419" name="Content Placeholder 3" descr="Ch1-16.JPG">
            <a:extLst>
              <a:ext uri="{FF2B5EF4-FFF2-40B4-BE49-F238E27FC236}">
                <a16:creationId xmlns:a16="http://schemas.microsoft.com/office/drawing/2014/main" id="{CFBEE7B0-6C28-46BB-9C44-37F2BCC24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35"/>
          <a:stretch>
            <a:fillRect/>
          </a:stretch>
        </p:blipFill>
        <p:spPr>
          <a:xfrm>
            <a:off x="1417638" y="2351088"/>
            <a:ext cx="6451600" cy="2109787"/>
          </a:xfr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02B0-BBE4-4533-A1E7-7E397334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eaLnBrk="1" fontAlgn="auto" hangingPunct="1">
              <a:defRPr/>
            </a:pPr>
            <a:r>
              <a:rPr lang="en-IN" dirty="0"/>
              <a:t>Adjacency matrices of graphs</a:t>
            </a:r>
            <a:endParaRPr lang="en-US" dirty="0"/>
          </a:p>
        </p:txBody>
      </p:sp>
      <p:pic>
        <p:nvPicPr>
          <p:cNvPr id="61443" name="Content Placeholder 3" descr="Ch1-17.JPG">
            <a:extLst>
              <a:ext uri="{FF2B5EF4-FFF2-40B4-BE49-F238E27FC236}">
                <a16:creationId xmlns:a16="http://schemas.microsoft.com/office/drawing/2014/main" id="{2F235873-4346-4BA2-905D-CED1AC61D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95875" y="2508250"/>
            <a:ext cx="2662238" cy="2271713"/>
          </a:xfrm>
        </p:spPr>
      </p:pic>
      <p:pic>
        <p:nvPicPr>
          <p:cNvPr id="61444" name="Picture 4" descr="Ch1-18.JPG">
            <a:extLst>
              <a:ext uri="{FF2B5EF4-FFF2-40B4-BE49-F238E27FC236}">
                <a16:creationId xmlns:a16="http://schemas.microsoft.com/office/drawing/2014/main" id="{926F9DD7-0BBF-4A7E-9D26-E17A4CE2B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2614613"/>
            <a:ext cx="2233613" cy="206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534</TotalTime>
  <Words>2394</Words>
  <Application>Microsoft Office PowerPoint</Application>
  <PresentationFormat>On-screen Show (4:3)</PresentationFormat>
  <Paragraphs>223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Bahnschrift SemiBold</vt:lpstr>
      <vt:lpstr>Bahnschrift</vt:lpstr>
      <vt:lpstr>Calibri</vt:lpstr>
      <vt:lpstr>Office Theme</vt:lpstr>
      <vt:lpstr>PowerPoint Presentation</vt:lpstr>
      <vt:lpstr>Learning Outcomes</vt:lpstr>
      <vt:lpstr>Stacks</vt:lpstr>
      <vt:lpstr>Representation of a stack and queue</vt:lpstr>
      <vt:lpstr>Representation of a stack by 1-D array</vt:lpstr>
      <vt:lpstr>Top of the stack</vt:lpstr>
      <vt:lpstr>Operations on a stack (Add)</vt:lpstr>
      <vt:lpstr>Operations on a stack (Delete)</vt:lpstr>
      <vt:lpstr>Representation of a stack by links</vt:lpstr>
      <vt:lpstr>Representation of a stack by links</vt:lpstr>
      <vt:lpstr>Representation of a stack by links</vt:lpstr>
      <vt:lpstr>Type of data</vt:lpstr>
      <vt:lpstr>Operations on a stack (Add)</vt:lpstr>
      <vt:lpstr>Operations on a stack (Delete)</vt:lpstr>
      <vt:lpstr>Operations on a stack</vt:lpstr>
      <vt:lpstr>Operations on a stack</vt:lpstr>
      <vt:lpstr>Operations on a stack</vt:lpstr>
      <vt:lpstr>Operations on a stack</vt:lpstr>
      <vt:lpstr>Queues</vt:lpstr>
      <vt:lpstr>Example of a stack and queue</vt:lpstr>
      <vt:lpstr>Queue</vt:lpstr>
      <vt:lpstr>Possible configurations of circular queue</vt:lpstr>
      <vt:lpstr>Operation on a queue (Add)</vt:lpstr>
      <vt:lpstr>Representation of a queue</vt:lpstr>
      <vt:lpstr>Operation on a queue (Add) </vt:lpstr>
      <vt:lpstr>Operation on a queue (Delete) </vt:lpstr>
      <vt:lpstr>Trees</vt:lpstr>
      <vt:lpstr>A sample tree</vt:lpstr>
      <vt:lpstr>A sample tree</vt:lpstr>
      <vt:lpstr>A sample tree</vt:lpstr>
      <vt:lpstr>A sample tree</vt:lpstr>
      <vt:lpstr>A sample tree</vt:lpstr>
      <vt:lpstr>Representation of a tree</vt:lpstr>
      <vt:lpstr>Binary Trees</vt:lpstr>
      <vt:lpstr>Binary Trees</vt:lpstr>
      <vt:lpstr>Representation of a binary tree</vt:lpstr>
      <vt:lpstr>Sequential representation of binary tree</vt:lpstr>
      <vt:lpstr>Linked representation</vt:lpstr>
      <vt:lpstr>Complete Binary Tree</vt:lpstr>
      <vt:lpstr>Sequential representation of binary tree</vt:lpstr>
      <vt:lpstr>Linked representation</vt:lpstr>
      <vt:lpstr>DICTIONARIES</vt:lpstr>
      <vt:lpstr>Example</vt:lpstr>
      <vt:lpstr>Binary Search Tree</vt:lpstr>
      <vt:lpstr>Binary Search Tree</vt:lpstr>
      <vt:lpstr>Binary Search Tree</vt:lpstr>
      <vt:lpstr>Priority Queues</vt:lpstr>
      <vt:lpstr>Graphs</vt:lpstr>
      <vt:lpstr>Graphs</vt:lpstr>
      <vt:lpstr>Graphs</vt:lpstr>
      <vt:lpstr>Adjacency matrices of graphs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27</cp:revision>
  <dcterms:created xsi:type="dcterms:W3CDTF">2020-12-18T18:59:12Z</dcterms:created>
  <dcterms:modified xsi:type="dcterms:W3CDTF">2021-06-15T02:36:23Z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316633</vt:lpwstr>
  </property>
  <property fmtid="{D5CDD505-2E9C-101B-9397-08002B2CF9AE}" name="NXPowerLiteSettings" pid="3">
    <vt:lpwstr>C6200358026400</vt:lpwstr>
  </property>
  <property fmtid="{D5CDD505-2E9C-101B-9397-08002B2CF9AE}" name="NXPowerLiteVersion" pid="4">
    <vt:lpwstr>D8.0.4</vt:lpwstr>
  </property>
</Properties>
</file>