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70" r:id="rId4"/>
    <p:sldId id="371" r:id="rId5"/>
    <p:sldId id="372" r:id="rId6"/>
    <p:sldId id="373" r:id="rId7"/>
    <p:sldId id="382" r:id="rId8"/>
    <p:sldId id="383" r:id="rId9"/>
    <p:sldId id="384" r:id="rId10"/>
    <p:sldId id="385" r:id="rId11"/>
    <p:sldId id="386" r:id="rId12"/>
    <p:sldId id="374" r:id="rId13"/>
    <p:sldId id="375" r:id="rId14"/>
    <p:sldId id="376" r:id="rId15"/>
    <p:sldId id="387" r:id="rId16"/>
    <p:sldId id="377" r:id="rId17"/>
    <p:sldId id="388" r:id="rId18"/>
    <p:sldId id="389" r:id="rId19"/>
    <p:sldId id="379" r:id="rId20"/>
    <p:sldId id="380" r:id="rId21"/>
    <p:sldId id="381" r:id="rId22"/>
    <p:sldId id="390" r:id="rId23"/>
    <p:sldId id="391" r:id="rId24"/>
    <p:sldId id="393" r:id="rId25"/>
    <p:sldId id="392" r:id="rId26"/>
    <p:sldId id="25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>
      <p:cViewPr varScale="1">
        <p:scale>
          <a:sx n="74" d="100"/>
          <a:sy n="74" d="100"/>
        </p:scale>
        <p:origin x="1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xmlns="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</a:t>
            </a:r>
            <a:r>
              <a:rPr lang="en-IN" sz="2800" dirty="0" smtClean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Kumar</a:t>
            </a:r>
            <a:endParaRPr lang="en-IN" sz="28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xmlns="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xmlns="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xmlns="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xmlns="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xmlns="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xmlns="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 smtClean="0"/>
              <a:t>ClicX</a:t>
            </a:r>
            <a:r>
              <a:rPr lang="en-US" dirty="0" smtClean="0"/>
              <a:t> </a:t>
            </a:r>
            <a:r>
              <a:rPr lang="en-US" dirty="0"/>
              <a:t>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network flow problems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xmlns="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graph theory, a flow network is </a:t>
            </a:r>
            <a:r>
              <a:rPr lang="en-IN" dirty="0" smtClean="0"/>
              <a:t>a </a:t>
            </a:r>
            <a:r>
              <a:rPr lang="en-IN" dirty="0"/>
              <a:t>directed graph involving a </a:t>
            </a:r>
            <a:r>
              <a:rPr lang="en-IN" dirty="0" smtClean="0"/>
              <a:t>source(s) </a:t>
            </a:r>
            <a:r>
              <a:rPr lang="en-IN" dirty="0"/>
              <a:t>and a </a:t>
            </a:r>
            <a:r>
              <a:rPr lang="en-IN" dirty="0" smtClean="0"/>
              <a:t>sink(t) </a:t>
            </a:r>
            <a:r>
              <a:rPr lang="en-IN" dirty="0"/>
              <a:t>and several other nodes connected with edges. </a:t>
            </a:r>
          </a:p>
          <a:p>
            <a:r>
              <a:rPr lang="en-IN" dirty="0" smtClean="0"/>
              <a:t>Each </a:t>
            </a:r>
            <a:r>
              <a:rPr lang="en-IN" dirty="0"/>
              <a:t>edge has an individual capacity which is the maximum limit of flow that edge could </a:t>
            </a:r>
            <a:r>
              <a:rPr lang="en-IN" dirty="0" smtClean="0"/>
              <a:t>allow.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Flow Problems</a:t>
            </a:r>
          </a:p>
        </p:txBody>
      </p:sp>
    </p:spTree>
    <p:extLst>
      <p:ext uri="{BB962C8B-B14F-4D97-AF65-F5344CB8AC3E}">
        <p14:creationId xmlns:p14="http://schemas.microsoft.com/office/powerpoint/2010/main" val="390351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Problem1: </a:t>
            </a:r>
            <a:r>
              <a:rPr lang="en-IN" dirty="0"/>
              <a:t>Given a flow network G = (V, E), the maximum flow problem is to find a flow with maximum value.</a:t>
            </a:r>
          </a:p>
          <a:p>
            <a:r>
              <a:rPr lang="en-IN" dirty="0" smtClean="0"/>
              <a:t>Problem </a:t>
            </a:r>
            <a:r>
              <a:rPr lang="en-IN" dirty="0"/>
              <a:t>2: The multiple source and sink maximum flow problem is similar to the maximum flow problem, except there is a set {s1,s2,s3.......</a:t>
            </a:r>
            <a:r>
              <a:rPr lang="en-IN" dirty="0" err="1"/>
              <a:t>sn</a:t>
            </a:r>
            <a:r>
              <a:rPr lang="en-IN" dirty="0"/>
              <a:t>} of sources and a set {t1,t2,t3..........</a:t>
            </a:r>
            <a:r>
              <a:rPr lang="en-IN" dirty="0" err="1"/>
              <a:t>tn</a:t>
            </a:r>
            <a:r>
              <a:rPr lang="en-IN" dirty="0"/>
              <a:t>} of sinks.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Flow Problems</a:t>
            </a:r>
          </a:p>
        </p:txBody>
      </p:sp>
    </p:spTree>
    <p:extLst>
      <p:ext uri="{BB962C8B-B14F-4D97-AF65-F5344CB8AC3E}">
        <p14:creationId xmlns:p14="http://schemas.microsoft.com/office/powerpoint/2010/main" val="231918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For any non-source and non-sink node, the input flow is equal to output flow.</a:t>
            </a:r>
          </a:p>
          <a:p>
            <a:pPr marL="228600" lvl="1">
              <a:spcBef>
                <a:spcPts val="1000"/>
              </a:spcBef>
            </a:pPr>
            <a:r>
              <a:rPr lang="en-IN" dirty="0"/>
              <a:t>For any </a:t>
            </a:r>
            <a:r>
              <a:rPr lang="en-IN" dirty="0" smtClean="0"/>
              <a:t>edge(</a:t>
            </a:r>
            <a:r>
              <a:rPr lang="en-IN" dirty="0" err="1" smtClean="0"/>
              <a:t>E</a:t>
            </a:r>
            <a:r>
              <a:rPr lang="en-IN" baseline="-25000" dirty="0" err="1" smtClean="0"/>
              <a:t>i</a:t>
            </a:r>
            <a:r>
              <a:rPr lang="en-IN" dirty="0" smtClean="0"/>
              <a:t>) </a:t>
            </a:r>
            <a:r>
              <a:rPr lang="en-IN" dirty="0"/>
              <a:t>in the </a:t>
            </a:r>
            <a:r>
              <a:rPr lang="en-IN" dirty="0" smtClean="0"/>
              <a:t>network</a:t>
            </a:r>
            <a:r>
              <a:rPr lang="en-IN" sz="2000" i="1" dirty="0" smtClean="0"/>
              <a:t>, </a:t>
            </a:r>
            <a:r>
              <a:rPr lang="en-IN" sz="2000" i="1" dirty="0"/>
              <a:t>0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</a:t>
            </a:r>
            <a:r>
              <a:rPr lang="en-IN" sz="2000" i="1" dirty="0"/>
              <a:t>flow (</a:t>
            </a:r>
            <a:r>
              <a:rPr lang="en-IN" sz="2000" i="1" dirty="0" err="1"/>
              <a:t>E</a:t>
            </a:r>
            <a:r>
              <a:rPr lang="en-IN" sz="2000" i="1" baseline="-25000" dirty="0" err="1"/>
              <a:t>i</a:t>
            </a:r>
            <a:r>
              <a:rPr lang="en-IN" sz="2000" i="1" dirty="0"/>
              <a:t>)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≤capacity(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2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i="1" dirty="0"/>
              <a:t>.</a:t>
            </a:r>
          </a:p>
          <a:p>
            <a:r>
              <a:rPr lang="en-IN" dirty="0" smtClean="0"/>
              <a:t>Total </a:t>
            </a:r>
            <a:r>
              <a:rPr lang="en-IN" dirty="0"/>
              <a:t>flow out of the </a:t>
            </a:r>
            <a:r>
              <a:rPr lang="en-IN" dirty="0" smtClean="0"/>
              <a:t>source </a:t>
            </a:r>
            <a:r>
              <a:rPr lang="en-IN" dirty="0"/>
              <a:t>node is equal total to flow in to the sink node.</a:t>
            </a:r>
          </a:p>
          <a:p>
            <a:r>
              <a:rPr lang="en-IN" dirty="0"/>
              <a:t>Net flow in the edges follows skew symmetry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Conditions for </a:t>
            </a:r>
            <a:r>
              <a:rPr lang="en-IN" dirty="0" smtClean="0"/>
              <a:t>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615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Problem: Maximize the total amount of flow from s to t</a:t>
            </a:r>
          </a:p>
          <a:p>
            <a:r>
              <a:rPr lang="en-IN" dirty="0"/>
              <a:t>subject to two </a:t>
            </a:r>
            <a:r>
              <a:rPr lang="en-IN" dirty="0" smtClean="0"/>
              <a:t>constraints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– Flow on edge e doesn’t exceed c(e)</a:t>
            </a:r>
          </a:p>
          <a:p>
            <a:pPr marL="457200" lvl="1" indent="0">
              <a:buNone/>
            </a:pPr>
            <a:r>
              <a:rPr lang="en-IN" dirty="0"/>
              <a:t>– For every node v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≠ </a:t>
            </a:r>
            <a:r>
              <a:rPr lang="en-IN" dirty="0" smtClean="0"/>
              <a:t>s</a:t>
            </a:r>
            <a:r>
              <a:rPr lang="en-IN" dirty="0"/>
              <a:t>, t, incoming flow is equal to outgoing flow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Network Flow Problems</a:t>
            </a:r>
          </a:p>
        </p:txBody>
      </p:sp>
    </p:spTree>
    <p:extLst>
      <p:ext uri="{BB962C8B-B14F-4D97-AF65-F5344CB8AC3E}">
        <p14:creationId xmlns:p14="http://schemas.microsoft.com/office/powerpoint/2010/main" val="369937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Minimum-cost </a:t>
            </a:r>
            <a:r>
              <a:rPr lang="en-IN" b="1" dirty="0"/>
              <a:t>flow </a:t>
            </a:r>
            <a:r>
              <a:rPr lang="en-IN" b="1" dirty="0" smtClean="0"/>
              <a:t>problem</a:t>
            </a:r>
            <a:r>
              <a:rPr lang="en-IN" dirty="0" smtClean="0"/>
              <a:t>:  </a:t>
            </a:r>
            <a:r>
              <a:rPr lang="en-IN" dirty="0"/>
              <a:t>in which the edges have costs as well as capacities and the goal is to achieve a given amount of flow (or a maximum flow) that has the minimum possible </a:t>
            </a:r>
            <a:r>
              <a:rPr lang="en-IN" dirty="0" smtClean="0"/>
              <a:t>cost.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 </a:t>
            </a:r>
            <a:r>
              <a:rPr lang="en-IN" dirty="0"/>
              <a:t>of network flow problems</a:t>
            </a:r>
          </a:p>
        </p:txBody>
      </p:sp>
    </p:spTree>
    <p:extLst>
      <p:ext uri="{BB962C8B-B14F-4D97-AF65-F5344CB8AC3E}">
        <p14:creationId xmlns:p14="http://schemas.microsoft.com/office/powerpoint/2010/main" val="4052155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Multi-commodity flow problem</a:t>
            </a:r>
            <a:r>
              <a:rPr lang="en-IN" dirty="0"/>
              <a:t>:  in which one must construct multiple flows for different commodities whose total flow amounts together respect the </a:t>
            </a:r>
            <a:r>
              <a:rPr lang="en-IN" dirty="0" smtClean="0"/>
              <a:t>capacities.</a:t>
            </a:r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network flow problems</a:t>
            </a:r>
          </a:p>
        </p:txBody>
      </p:sp>
    </p:spTree>
    <p:extLst>
      <p:ext uri="{BB962C8B-B14F-4D97-AF65-F5344CB8AC3E}">
        <p14:creationId xmlns:p14="http://schemas.microsoft.com/office/powerpoint/2010/main" val="573217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Nowhere-zero flow:  </a:t>
            </a:r>
            <a:r>
              <a:rPr lang="en-IN" dirty="0"/>
              <a:t>a type of flow studied in </a:t>
            </a:r>
            <a:r>
              <a:rPr lang="en-IN" dirty="0" err="1"/>
              <a:t>combinatorics</a:t>
            </a:r>
            <a:r>
              <a:rPr lang="en-IN" dirty="0"/>
              <a:t> in which the flow amounts are restricted to a finite set of nonzero </a:t>
            </a:r>
            <a:r>
              <a:rPr lang="en-IN" dirty="0" smtClean="0"/>
              <a:t>values.</a:t>
            </a:r>
          </a:p>
          <a:p>
            <a:r>
              <a:rPr lang="en-IN" dirty="0"/>
              <a:t>Maximum flow </a:t>
            </a:r>
            <a:r>
              <a:rPr lang="en-IN" dirty="0" smtClean="0"/>
              <a:t>problem.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network flow problems</a:t>
            </a:r>
          </a:p>
        </p:txBody>
      </p:sp>
    </p:spTree>
    <p:extLst>
      <p:ext uri="{BB962C8B-B14F-4D97-AF65-F5344CB8AC3E}">
        <p14:creationId xmlns:p14="http://schemas.microsoft.com/office/powerpoint/2010/main" val="107369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</a:t>
            </a:r>
            <a:r>
              <a:rPr lang="en-IN" b="1" dirty="0"/>
              <a:t>Ford–Fulkerson algorithm</a:t>
            </a:r>
            <a:r>
              <a:rPr lang="en-IN" dirty="0"/>
              <a:t>, a greedy algorithm for maximum flow that is not in general strongly polynomial</a:t>
            </a:r>
          </a:p>
          <a:p>
            <a:r>
              <a:rPr lang="en-IN" b="1" dirty="0" err="1" smtClean="0"/>
              <a:t>Dinic's</a:t>
            </a:r>
            <a:r>
              <a:rPr lang="en-IN" b="1" dirty="0" smtClean="0"/>
              <a:t> </a:t>
            </a:r>
            <a:r>
              <a:rPr lang="en-IN" b="1" dirty="0"/>
              <a:t>algorithm</a:t>
            </a:r>
            <a:r>
              <a:rPr lang="en-IN" dirty="0"/>
              <a:t>, a strongly polynomial algorithm for maximum flow</a:t>
            </a:r>
          </a:p>
          <a:p>
            <a:r>
              <a:rPr lang="en-IN" dirty="0"/>
              <a:t>The </a:t>
            </a:r>
            <a:r>
              <a:rPr lang="en-IN" b="1" dirty="0"/>
              <a:t>Edmonds–Karp algorithm</a:t>
            </a:r>
            <a:r>
              <a:rPr lang="en-IN" dirty="0"/>
              <a:t>, a faster strongly polynomial algorithm for maximum </a:t>
            </a:r>
            <a:r>
              <a:rPr lang="en-IN" dirty="0" smtClean="0"/>
              <a:t>flow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638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b="1" dirty="0"/>
              <a:t>network simplex algorithm</a:t>
            </a:r>
            <a:r>
              <a:rPr lang="en-IN" dirty="0"/>
              <a:t>, a method based on linear programming but specialized for network flow</a:t>
            </a:r>
          </a:p>
          <a:p>
            <a:r>
              <a:rPr lang="en-IN" dirty="0"/>
              <a:t>The </a:t>
            </a:r>
            <a:r>
              <a:rPr lang="en-IN" b="1" dirty="0"/>
              <a:t>out-of-kilter algorithm </a:t>
            </a:r>
            <a:r>
              <a:rPr lang="en-IN" dirty="0"/>
              <a:t>for minimum-cost flow</a:t>
            </a:r>
          </a:p>
          <a:p>
            <a:r>
              <a:rPr lang="en-IN" dirty="0"/>
              <a:t>The </a:t>
            </a:r>
            <a:r>
              <a:rPr lang="en-IN" b="1" dirty="0"/>
              <a:t>push–</a:t>
            </a:r>
            <a:r>
              <a:rPr lang="en-IN" b="1" dirty="0" err="1"/>
              <a:t>relabel</a:t>
            </a:r>
            <a:r>
              <a:rPr lang="en-IN" b="1" dirty="0"/>
              <a:t> maximum flow algorithm</a:t>
            </a:r>
            <a:r>
              <a:rPr lang="en-IN" dirty="0"/>
              <a:t>, one of the most efficient known techniques for maximum flow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Algorithms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19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 was developed by L. R. Ford, Jr. and D. R. Fulkerson in 1956</a:t>
            </a:r>
          </a:p>
          <a:p>
            <a:r>
              <a:rPr lang="en-IN" dirty="0" smtClean="0"/>
              <a:t>A </a:t>
            </a:r>
            <a:r>
              <a:rPr lang="en-IN" dirty="0"/>
              <a:t>simple and practical max-flow algorithm</a:t>
            </a:r>
          </a:p>
          <a:p>
            <a:r>
              <a:rPr lang="en-IN" dirty="0" smtClean="0"/>
              <a:t>Objective: </a:t>
            </a:r>
            <a:r>
              <a:rPr lang="en-IN" dirty="0"/>
              <a:t>find valid flow paths until there is none left, </a:t>
            </a:r>
            <a:r>
              <a:rPr lang="en-IN" dirty="0" smtClean="0"/>
              <a:t>and add </a:t>
            </a:r>
            <a:r>
              <a:rPr lang="en-IN" dirty="0"/>
              <a:t>them </a:t>
            </a:r>
            <a:r>
              <a:rPr lang="en-IN" dirty="0" smtClean="0"/>
              <a:t>up.</a:t>
            </a: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Algorithm</a:t>
            </a:r>
          </a:p>
        </p:txBody>
      </p:sp>
    </p:spTree>
    <p:extLst>
      <p:ext uri="{BB962C8B-B14F-4D97-AF65-F5344CB8AC3E}">
        <p14:creationId xmlns:p14="http://schemas.microsoft.com/office/powerpoint/2010/main" val="421047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Source </a:t>
            </a:r>
          </a:p>
          <a:p>
            <a:r>
              <a:rPr lang="en-IN" dirty="0" smtClean="0"/>
              <a:t>Sink </a:t>
            </a:r>
          </a:p>
          <a:p>
            <a:r>
              <a:rPr lang="en-IN" dirty="0" smtClean="0"/>
              <a:t>Bottleneck capacity </a:t>
            </a:r>
          </a:p>
          <a:p>
            <a:r>
              <a:rPr lang="en-IN" dirty="0" smtClean="0"/>
              <a:t>Flow </a:t>
            </a:r>
          </a:p>
          <a:p>
            <a:r>
              <a:rPr lang="en-IN" dirty="0" smtClean="0"/>
              <a:t>Augmenting path</a:t>
            </a:r>
          </a:p>
          <a:p>
            <a:r>
              <a:rPr lang="en-IN" dirty="0" smtClean="0"/>
              <a:t>Residual capacity 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Terminology: Ford-Fulkerson </a:t>
            </a:r>
            <a:r>
              <a:rPr lang="en-IN" dirty="0"/>
              <a:t>Algorithm</a:t>
            </a:r>
          </a:p>
        </p:txBody>
      </p:sp>
    </p:spTree>
    <p:extLst>
      <p:ext uri="{BB962C8B-B14F-4D97-AF65-F5344CB8AC3E}">
        <p14:creationId xmlns:p14="http://schemas.microsoft.com/office/powerpoint/2010/main" val="1715857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2382313"/>
          </a:xfrm>
        </p:spPr>
        <p:txBody>
          <a:bodyPr/>
          <a:lstStyle/>
          <a:p>
            <a:r>
              <a:rPr lang="en-IN" dirty="0" smtClean="0"/>
              <a:t>The </a:t>
            </a:r>
            <a:r>
              <a:rPr lang="en-IN" b="1" dirty="0" smtClean="0"/>
              <a:t>source vertex </a:t>
            </a:r>
            <a:r>
              <a:rPr lang="en-IN" dirty="0" smtClean="0"/>
              <a:t>has all outward edges, no inward edges. </a:t>
            </a:r>
          </a:p>
          <a:p>
            <a:r>
              <a:rPr lang="en-IN" b="1" dirty="0" smtClean="0"/>
              <a:t>Sink</a:t>
            </a:r>
            <a:r>
              <a:rPr lang="en-IN" dirty="0" smtClean="0"/>
              <a:t> have all </a:t>
            </a:r>
            <a:r>
              <a:rPr lang="en-IN" dirty="0" smtClean="0"/>
              <a:t>inward </a:t>
            </a:r>
            <a:r>
              <a:rPr lang="en-IN" dirty="0" smtClean="0"/>
              <a:t>edges, no outward edges.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Terminology: Ford-Fulkerson Algorithm</a:t>
            </a:r>
          </a:p>
        </p:txBody>
      </p:sp>
      <p:sp>
        <p:nvSpPr>
          <p:cNvPr id="23" name="Oval 22"/>
          <p:cNvSpPr/>
          <p:nvPr/>
        </p:nvSpPr>
        <p:spPr>
          <a:xfrm>
            <a:off x="1513459" y="4859824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4" name="Oval 23"/>
          <p:cNvSpPr/>
          <p:nvPr/>
        </p:nvSpPr>
        <p:spPr>
          <a:xfrm>
            <a:off x="5276844" y="400705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25" name="Oval 24"/>
          <p:cNvSpPr/>
          <p:nvPr/>
        </p:nvSpPr>
        <p:spPr>
          <a:xfrm>
            <a:off x="5276844" y="567351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26" name="Oval 25"/>
          <p:cNvSpPr/>
          <p:nvPr/>
        </p:nvSpPr>
        <p:spPr>
          <a:xfrm>
            <a:off x="2967850" y="567351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27" name="Oval 26"/>
          <p:cNvSpPr/>
          <p:nvPr/>
        </p:nvSpPr>
        <p:spPr>
          <a:xfrm>
            <a:off x="6580065" y="4859824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28" name="Oval 27"/>
          <p:cNvSpPr/>
          <p:nvPr/>
        </p:nvSpPr>
        <p:spPr>
          <a:xfrm>
            <a:off x="2967850" y="400705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29" name="Oval 28"/>
          <p:cNvSpPr/>
          <p:nvPr/>
        </p:nvSpPr>
        <p:spPr>
          <a:xfrm>
            <a:off x="4076540" y="4836040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30" name="Straight Arrow Connector 29"/>
          <p:cNvCxnSpPr>
            <a:stCxn id="23" idx="7"/>
          </p:cNvCxnSpPr>
          <p:nvPr/>
        </p:nvCxnSpPr>
        <p:spPr>
          <a:xfrm flipV="1">
            <a:off x="2046874" y="4470372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3453373" y="4578177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9" idx="7"/>
          </p:cNvCxnSpPr>
          <p:nvPr/>
        </p:nvCxnSpPr>
        <p:spPr>
          <a:xfrm flipV="1">
            <a:off x="4554406" y="4522789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6" idx="7"/>
          </p:cNvCxnSpPr>
          <p:nvPr/>
        </p:nvCxnSpPr>
        <p:spPr>
          <a:xfrm flipV="1">
            <a:off x="3501265" y="5258037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5901778" y="5299097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24" idx="2"/>
          </p:cNvCxnSpPr>
          <p:nvPr/>
        </p:nvCxnSpPr>
        <p:spPr>
          <a:xfrm>
            <a:off x="3601393" y="4320311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25" idx="2"/>
          </p:cNvCxnSpPr>
          <p:nvPr/>
        </p:nvCxnSpPr>
        <p:spPr>
          <a:xfrm>
            <a:off x="3601393" y="5986768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9" idx="5"/>
          </p:cNvCxnSpPr>
          <p:nvPr/>
        </p:nvCxnSpPr>
        <p:spPr>
          <a:xfrm>
            <a:off x="4554406" y="5312784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endCxn id="26" idx="2"/>
          </p:cNvCxnSpPr>
          <p:nvPr/>
        </p:nvCxnSpPr>
        <p:spPr>
          <a:xfrm>
            <a:off x="2085075" y="5357002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27" idx="1"/>
          </p:cNvCxnSpPr>
          <p:nvPr/>
        </p:nvCxnSpPr>
        <p:spPr>
          <a:xfrm>
            <a:off x="5847053" y="4498865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26" idx="0"/>
          </p:cNvCxnSpPr>
          <p:nvPr/>
        </p:nvCxnSpPr>
        <p:spPr>
          <a:xfrm>
            <a:off x="3256662" y="4667488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4" idx="4"/>
            <a:endCxn id="25" idx="0"/>
          </p:cNvCxnSpPr>
          <p:nvPr/>
        </p:nvCxnSpPr>
        <p:spPr>
          <a:xfrm>
            <a:off x="5589311" y="4633564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94647" y="4508914"/>
            <a:ext cx="995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Source</a:t>
            </a:r>
            <a:endParaRPr lang="en-IN" sz="2000" dirty="0"/>
          </a:p>
        </p:txBody>
      </p:sp>
      <p:sp>
        <p:nvSpPr>
          <p:cNvPr id="44" name="TextBox 43"/>
          <p:cNvSpPr txBox="1"/>
          <p:nvPr/>
        </p:nvSpPr>
        <p:spPr>
          <a:xfrm>
            <a:off x="7204999" y="4582242"/>
            <a:ext cx="9957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</a:t>
            </a:r>
            <a:r>
              <a:rPr lang="en-IN" sz="2000" dirty="0" smtClean="0"/>
              <a:t>ink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6809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1878163"/>
          </a:xfrm>
        </p:spPr>
        <p:txBody>
          <a:bodyPr/>
          <a:lstStyle/>
          <a:p>
            <a:r>
              <a:rPr lang="en-IN" b="1" dirty="0"/>
              <a:t>Bottleneck capacity </a:t>
            </a:r>
            <a:r>
              <a:rPr lang="en-IN" dirty="0"/>
              <a:t>of a path is the minimum capacity of any edge on the path.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Terminology: 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423307" y="4537852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186692" y="368508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5186692" y="535154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7" name="Oval 6"/>
          <p:cNvSpPr/>
          <p:nvPr/>
        </p:nvSpPr>
        <p:spPr>
          <a:xfrm>
            <a:off x="2877698" y="535154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6489913" y="4537852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9" name="Oval 8"/>
          <p:cNvSpPr/>
          <p:nvPr/>
        </p:nvSpPr>
        <p:spPr>
          <a:xfrm>
            <a:off x="2877698" y="368508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3986388" y="4514068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11" name="Straight Arrow Connector 10"/>
          <p:cNvCxnSpPr>
            <a:stCxn id="4" idx="7"/>
          </p:cNvCxnSpPr>
          <p:nvPr/>
        </p:nvCxnSpPr>
        <p:spPr>
          <a:xfrm flipV="1">
            <a:off x="1956722" y="4148400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363221" y="4256205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7"/>
          </p:cNvCxnSpPr>
          <p:nvPr/>
        </p:nvCxnSpPr>
        <p:spPr>
          <a:xfrm flipV="1">
            <a:off x="4464254" y="4200817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</p:cNvCxnSpPr>
          <p:nvPr/>
        </p:nvCxnSpPr>
        <p:spPr>
          <a:xfrm flipV="1">
            <a:off x="3411113" y="4936065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811626" y="4977125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5" idx="2"/>
          </p:cNvCxnSpPr>
          <p:nvPr/>
        </p:nvCxnSpPr>
        <p:spPr>
          <a:xfrm>
            <a:off x="3511241" y="3998339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2"/>
          </p:cNvCxnSpPr>
          <p:nvPr/>
        </p:nvCxnSpPr>
        <p:spPr>
          <a:xfrm>
            <a:off x="3511241" y="5664796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</p:cNvCxnSpPr>
          <p:nvPr/>
        </p:nvCxnSpPr>
        <p:spPr>
          <a:xfrm>
            <a:off x="4464254" y="4990812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2"/>
          </p:cNvCxnSpPr>
          <p:nvPr/>
        </p:nvCxnSpPr>
        <p:spPr>
          <a:xfrm>
            <a:off x="1994923" y="5035030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8" idx="1"/>
          </p:cNvCxnSpPr>
          <p:nvPr/>
        </p:nvCxnSpPr>
        <p:spPr>
          <a:xfrm>
            <a:off x="5756901" y="4176893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7" idx="0"/>
          </p:cNvCxnSpPr>
          <p:nvPr/>
        </p:nvCxnSpPr>
        <p:spPr>
          <a:xfrm>
            <a:off x="3166510" y="4345516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4"/>
            <a:endCxn id="6" idx="0"/>
          </p:cNvCxnSpPr>
          <p:nvPr/>
        </p:nvCxnSpPr>
        <p:spPr>
          <a:xfrm>
            <a:off x="5499159" y="4311592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56722" y="4143382"/>
            <a:ext cx="33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4081169" y="3627653"/>
            <a:ext cx="33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60203" y="4071539"/>
            <a:ext cx="335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5411" y="6330659"/>
            <a:ext cx="1861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A-B-C-G = 2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0929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2086099"/>
          </a:xfrm>
        </p:spPr>
        <p:txBody>
          <a:bodyPr/>
          <a:lstStyle/>
          <a:p>
            <a:r>
              <a:rPr lang="en-IN" dirty="0"/>
              <a:t>An </a:t>
            </a:r>
            <a:r>
              <a:rPr lang="en-IN" b="1" dirty="0"/>
              <a:t>augmenting path </a:t>
            </a:r>
            <a:r>
              <a:rPr lang="en-IN" dirty="0"/>
              <a:t>is a simple path from </a:t>
            </a:r>
            <a:r>
              <a:rPr lang="en-IN" b="1" dirty="0"/>
              <a:t>source</a:t>
            </a:r>
            <a:r>
              <a:rPr lang="en-IN" dirty="0"/>
              <a:t> to </a:t>
            </a:r>
            <a:r>
              <a:rPr lang="en-IN" b="1" dirty="0"/>
              <a:t>sink</a:t>
            </a:r>
            <a:r>
              <a:rPr lang="en-IN" dirty="0"/>
              <a:t> which do not include any cycles and that pass only </a:t>
            </a:r>
            <a:r>
              <a:rPr lang="en-IN" dirty="0" smtClean="0"/>
              <a:t>through </a:t>
            </a:r>
            <a:r>
              <a:rPr lang="en-IN" dirty="0"/>
              <a:t>positive weighted </a:t>
            </a:r>
            <a:r>
              <a:rPr lang="en-IN" dirty="0" smtClean="0"/>
              <a:t>edges.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Terminology: 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307397" y="4563610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070782" y="371084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5070782" y="537730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7" name="Oval 6"/>
          <p:cNvSpPr/>
          <p:nvPr/>
        </p:nvSpPr>
        <p:spPr>
          <a:xfrm>
            <a:off x="2761788" y="537730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6374003" y="4563610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9" name="Oval 8"/>
          <p:cNvSpPr/>
          <p:nvPr/>
        </p:nvSpPr>
        <p:spPr>
          <a:xfrm>
            <a:off x="2761788" y="3710845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3870478" y="4539826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11" name="Straight Arrow Connector 10"/>
          <p:cNvCxnSpPr>
            <a:stCxn id="4" idx="7"/>
          </p:cNvCxnSpPr>
          <p:nvPr/>
        </p:nvCxnSpPr>
        <p:spPr>
          <a:xfrm flipV="1">
            <a:off x="1840812" y="4174158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47311" y="4281963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7"/>
          </p:cNvCxnSpPr>
          <p:nvPr/>
        </p:nvCxnSpPr>
        <p:spPr>
          <a:xfrm flipV="1">
            <a:off x="4348344" y="4226575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</p:cNvCxnSpPr>
          <p:nvPr/>
        </p:nvCxnSpPr>
        <p:spPr>
          <a:xfrm flipV="1">
            <a:off x="3295203" y="4961823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695716" y="5002883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5" idx="2"/>
          </p:cNvCxnSpPr>
          <p:nvPr/>
        </p:nvCxnSpPr>
        <p:spPr>
          <a:xfrm>
            <a:off x="3395331" y="4024097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2"/>
          </p:cNvCxnSpPr>
          <p:nvPr/>
        </p:nvCxnSpPr>
        <p:spPr>
          <a:xfrm>
            <a:off x="3395331" y="5690554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</p:cNvCxnSpPr>
          <p:nvPr/>
        </p:nvCxnSpPr>
        <p:spPr>
          <a:xfrm>
            <a:off x="4348344" y="5016570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2"/>
          </p:cNvCxnSpPr>
          <p:nvPr/>
        </p:nvCxnSpPr>
        <p:spPr>
          <a:xfrm>
            <a:off x="1879013" y="5060788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8" idx="1"/>
          </p:cNvCxnSpPr>
          <p:nvPr/>
        </p:nvCxnSpPr>
        <p:spPr>
          <a:xfrm>
            <a:off x="5640991" y="4202651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7" idx="0"/>
          </p:cNvCxnSpPr>
          <p:nvPr/>
        </p:nvCxnSpPr>
        <p:spPr>
          <a:xfrm>
            <a:off x="3050600" y="4371274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4"/>
            <a:endCxn id="6" idx="0"/>
          </p:cNvCxnSpPr>
          <p:nvPr/>
        </p:nvCxnSpPr>
        <p:spPr>
          <a:xfrm>
            <a:off x="5383249" y="4337350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66681" y="6375042"/>
            <a:ext cx="33743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 smtClean="0"/>
              <a:t>A-B-C-G  and  A-D-E-C-G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124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Residual capacity</a:t>
            </a:r>
            <a:r>
              <a:rPr lang="en-IN" dirty="0"/>
              <a:t>: which is equal to original capacity of the edge minus current flow. Residual capacity is basically the current capacity of the edge. </a:t>
            </a: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Terminology: Ford-Fulkerson Algorithm</a:t>
            </a:r>
          </a:p>
        </p:txBody>
      </p:sp>
    </p:spTree>
    <p:extLst>
      <p:ext uri="{BB962C8B-B14F-4D97-AF65-F5344CB8AC3E}">
        <p14:creationId xmlns:p14="http://schemas.microsoft.com/office/powerpoint/2010/main" val="970971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461943" y="3520421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5225328" y="266765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5225328" y="433411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8" name="Oval 7"/>
          <p:cNvSpPr/>
          <p:nvPr/>
        </p:nvSpPr>
        <p:spPr>
          <a:xfrm>
            <a:off x="2916334" y="433411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6528549" y="3520421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2916334" y="266765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22" name="Oval 21"/>
          <p:cNvSpPr/>
          <p:nvPr/>
        </p:nvSpPr>
        <p:spPr>
          <a:xfrm>
            <a:off x="4025024" y="3496637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33" name="Straight Arrow Connector 32"/>
          <p:cNvCxnSpPr>
            <a:stCxn id="4" idx="7"/>
          </p:cNvCxnSpPr>
          <p:nvPr/>
        </p:nvCxnSpPr>
        <p:spPr>
          <a:xfrm flipV="1">
            <a:off x="1995358" y="3130969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3401857" y="3238774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22" idx="7"/>
          </p:cNvCxnSpPr>
          <p:nvPr/>
        </p:nvCxnSpPr>
        <p:spPr>
          <a:xfrm flipV="1">
            <a:off x="4502890" y="3183386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8" idx="7"/>
          </p:cNvCxnSpPr>
          <p:nvPr/>
        </p:nvCxnSpPr>
        <p:spPr>
          <a:xfrm flipV="1">
            <a:off x="3449749" y="3918634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5850262" y="3959694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endCxn id="6" idx="2"/>
          </p:cNvCxnSpPr>
          <p:nvPr/>
        </p:nvCxnSpPr>
        <p:spPr>
          <a:xfrm>
            <a:off x="3549877" y="2980908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endCxn id="7" idx="2"/>
          </p:cNvCxnSpPr>
          <p:nvPr/>
        </p:nvCxnSpPr>
        <p:spPr>
          <a:xfrm>
            <a:off x="3549877" y="4647365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22" idx="5"/>
          </p:cNvCxnSpPr>
          <p:nvPr/>
        </p:nvCxnSpPr>
        <p:spPr>
          <a:xfrm>
            <a:off x="4502890" y="3973381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endCxn id="8" idx="2"/>
          </p:cNvCxnSpPr>
          <p:nvPr/>
        </p:nvCxnSpPr>
        <p:spPr>
          <a:xfrm>
            <a:off x="2033559" y="4017599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9" idx="1"/>
          </p:cNvCxnSpPr>
          <p:nvPr/>
        </p:nvCxnSpPr>
        <p:spPr>
          <a:xfrm>
            <a:off x="5795537" y="3159462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endCxn id="8" idx="0"/>
          </p:cNvCxnSpPr>
          <p:nvPr/>
        </p:nvCxnSpPr>
        <p:spPr>
          <a:xfrm>
            <a:off x="3205146" y="3328085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6" idx="4"/>
            <a:endCxn id="7" idx="0"/>
          </p:cNvCxnSpPr>
          <p:nvPr/>
        </p:nvCxnSpPr>
        <p:spPr>
          <a:xfrm>
            <a:off x="5537795" y="3294161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15475" y="3054108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2213409" y="4269643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0947" y="368584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4182851" y="2652722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3655239" y="315623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7310" y="3347078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3558378" y="3865279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1216" y="412734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84084" y="463897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6101439" y="4173674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2349" y="3012286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68303" y="3646433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5684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191487" y="3134055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4954872" y="2281290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4954872" y="394774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7" name="Oval 6"/>
          <p:cNvSpPr/>
          <p:nvPr/>
        </p:nvSpPr>
        <p:spPr>
          <a:xfrm>
            <a:off x="2645878" y="3947747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6258093" y="3134055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9" name="Oval 8"/>
          <p:cNvSpPr/>
          <p:nvPr/>
        </p:nvSpPr>
        <p:spPr>
          <a:xfrm>
            <a:off x="2645878" y="2281290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3754568" y="3110271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11" name="Straight Arrow Connector 10"/>
          <p:cNvCxnSpPr>
            <a:stCxn id="4" idx="7"/>
          </p:cNvCxnSpPr>
          <p:nvPr/>
        </p:nvCxnSpPr>
        <p:spPr>
          <a:xfrm flipV="1">
            <a:off x="1724902" y="2744603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131401" y="2852408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7"/>
          </p:cNvCxnSpPr>
          <p:nvPr/>
        </p:nvCxnSpPr>
        <p:spPr>
          <a:xfrm flipV="1">
            <a:off x="4232434" y="2797020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</p:cNvCxnSpPr>
          <p:nvPr/>
        </p:nvCxnSpPr>
        <p:spPr>
          <a:xfrm flipV="1">
            <a:off x="3179293" y="3532268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5579806" y="3573328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5" idx="2"/>
          </p:cNvCxnSpPr>
          <p:nvPr/>
        </p:nvCxnSpPr>
        <p:spPr>
          <a:xfrm>
            <a:off x="3279421" y="2594542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2"/>
          </p:cNvCxnSpPr>
          <p:nvPr/>
        </p:nvCxnSpPr>
        <p:spPr>
          <a:xfrm>
            <a:off x="3279421" y="4260999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</p:cNvCxnSpPr>
          <p:nvPr/>
        </p:nvCxnSpPr>
        <p:spPr>
          <a:xfrm>
            <a:off x="4232434" y="3587015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2"/>
          </p:cNvCxnSpPr>
          <p:nvPr/>
        </p:nvCxnSpPr>
        <p:spPr>
          <a:xfrm>
            <a:off x="1763103" y="3631233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8" idx="1"/>
          </p:cNvCxnSpPr>
          <p:nvPr/>
        </p:nvCxnSpPr>
        <p:spPr>
          <a:xfrm>
            <a:off x="5525081" y="2773096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7" idx="0"/>
          </p:cNvCxnSpPr>
          <p:nvPr/>
        </p:nvCxnSpPr>
        <p:spPr>
          <a:xfrm>
            <a:off x="2934690" y="2941719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4"/>
            <a:endCxn id="6" idx="0"/>
          </p:cNvCxnSpPr>
          <p:nvPr/>
        </p:nvCxnSpPr>
        <p:spPr>
          <a:xfrm>
            <a:off x="5267339" y="2907795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9739" y="2633616"/>
            <a:ext cx="548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0/6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1590047" y="3883277"/>
            <a:ext cx="5971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0/9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2471006" y="3224309"/>
            <a:ext cx="555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0/2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3912395" y="2266356"/>
            <a:ext cx="52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0/4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3384783" y="2803835"/>
            <a:ext cx="57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0/3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4506854" y="2933411"/>
            <a:ext cx="55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0/3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3177311" y="3427862"/>
            <a:ext cx="574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0/2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3658975" y="3950935"/>
            <a:ext cx="601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0/1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4237450" y="4308770"/>
            <a:ext cx="524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0/6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5830983" y="3787308"/>
            <a:ext cx="51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0/3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5903273" y="2633616"/>
            <a:ext cx="5599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0/9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5197847" y="3173167"/>
            <a:ext cx="584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0/1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1191487" y="5267459"/>
            <a:ext cx="105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Flow = 0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5812414" y="1806257"/>
            <a:ext cx="105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Flow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10592" y="2205709"/>
            <a:ext cx="127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rgbClr val="FF0000"/>
                </a:solidFill>
              </a:rPr>
              <a:t>Capacity </a:t>
            </a:r>
            <a:endParaRPr lang="en-IN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>
            <a:off x="6025046" y="2055065"/>
            <a:ext cx="8278" cy="6123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6370957" y="2575041"/>
            <a:ext cx="639635" cy="2711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756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Oval 46"/>
          <p:cNvSpPr/>
          <p:nvPr/>
        </p:nvSpPr>
        <p:spPr>
          <a:xfrm>
            <a:off x="4408845" y="2125307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687937" y="3011291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/>
          <p:cNvSpPr/>
          <p:nvPr/>
        </p:nvSpPr>
        <p:spPr>
          <a:xfrm>
            <a:off x="5451322" y="215852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Oval 5"/>
          <p:cNvSpPr/>
          <p:nvPr/>
        </p:nvSpPr>
        <p:spPr>
          <a:xfrm>
            <a:off x="5451322" y="382498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7" name="Oval 6"/>
          <p:cNvSpPr/>
          <p:nvPr/>
        </p:nvSpPr>
        <p:spPr>
          <a:xfrm>
            <a:off x="3142328" y="382498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8" name="Oval 7"/>
          <p:cNvSpPr/>
          <p:nvPr/>
        </p:nvSpPr>
        <p:spPr>
          <a:xfrm>
            <a:off x="6754543" y="3011291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9" name="Oval 8"/>
          <p:cNvSpPr/>
          <p:nvPr/>
        </p:nvSpPr>
        <p:spPr>
          <a:xfrm>
            <a:off x="3142328" y="215852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0" name="Oval 9"/>
          <p:cNvSpPr/>
          <p:nvPr/>
        </p:nvSpPr>
        <p:spPr>
          <a:xfrm>
            <a:off x="4251018" y="2987507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11" name="Straight Arrow Connector 10"/>
          <p:cNvCxnSpPr>
            <a:stCxn id="4" idx="7"/>
          </p:cNvCxnSpPr>
          <p:nvPr/>
        </p:nvCxnSpPr>
        <p:spPr>
          <a:xfrm flipV="1">
            <a:off x="2221352" y="2621839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627851" y="2729644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7"/>
          </p:cNvCxnSpPr>
          <p:nvPr/>
        </p:nvCxnSpPr>
        <p:spPr>
          <a:xfrm flipV="1">
            <a:off x="4728884" y="2674256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7" idx="7"/>
          </p:cNvCxnSpPr>
          <p:nvPr/>
        </p:nvCxnSpPr>
        <p:spPr>
          <a:xfrm flipV="1">
            <a:off x="3675743" y="3409504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6076256" y="3450564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endCxn id="5" idx="2"/>
          </p:cNvCxnSpPr>
          <p:nvPr/>
        </p:nvCxnSpPr>
        <p:spPr>
          <a:xfrm>
            <a:off x="3775871" y="2471778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2"/>
          </p:cNvCxnSpPr>
          <p:nvPr/>
        </p:nvCxnSpPr>
        <p:spPr>
          <a:xfrm>
            <a:off x="3775871" y="4138235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5"/>
          </p:cNvCxnSpPr>
          <p:nvPr/>
        </p:nvCxnSpPr>
        <p:spPr>
          <a:xfrm>
            <a:off x="4728884" y="3464251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7" idx="2"/>
          </p:cNvCxnSpPr>
          <p:nvPr/>
        </p:nvCxnSpPr>
        <p:spPr>
          <a:xfrm>
            <a:off x="2259553" y="3508469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8" idx="1"/>
          </p:cNvCxnSpPr>
          <p:nvPr/>
        </p:nvCxnSpPr>
        <p:spPr>
          <a:xfrm>
            <a:off x="6021531" y="2650332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7" idx="0"/>
          </p:cNvCxnSpPr>
          <p:nvPr/>
        </p:nvCxnSpPr>
        <p:spPr>
          <a:xfrm>
            <a:off x="3431140" y="2818955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5" idx="4"/>
            <a:endCxn id="6" idx="0"/>
          </p:cNvCxnSpPr>
          <p:nvPr/>
        </p:nvCxnSpPr>
        <p:spPr>
          <a:xfrm>
            <a:off x="5763789" y="2785031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20668" y="2509663"/>
            <a:ext cx="622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4/6</a:t>
            </a:r>
            <a:endParaRPr lang="en-IN" dirty="0"/>
          </a:p>
        </p:txBody>
      </p:sp>
      <p:sp>
        <p:nvSpPr>
          <p:cNvPr id="24" name="TextBox 23"/>
          <p:cNvSpPr txBox="1"/>
          <p:nvPr/>
        </p:nvSpPr>
        <p:spPr>
          <a:xfrm>
            <a:off x="2271665" y="3760513"/>
            <a:ext cx="411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9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3186941" y="317671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4408845" y="2179800"/>
            <a:ext cx="55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4/4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3881233" y="264710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5003304" y="2837948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84372" y="3356149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7210" y="361821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0078" y="412984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6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6327433" y="3664544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6348343" y="2621838"/>
            <a:ext cx="54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4/9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5694297" y="3137303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823" y="1535213"/>
            <a:ext cx="335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Path: A-B-C-G</a:t>
            </a:r>
            <a:endParaRPr lang="en-IN" dirty="0"/>
          </a:p>
        </p:txBody>
      </p:sp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700583"/>
              </p:ext>
            </p:extLst>
          </p:nvPr>
        </p:nvGraphicFramePr>
        <p:xfrm>
          <a:off x="1359804" y="4822576"/>
          <a:ext cx="6096000" cy="1107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Augmenting</a:t>
                      </a:r>
                      <a:r>
                        <a:rPr lang="en-IN" baseline="0" dirty="0" smtClean="0"/>
                        <a:t> path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Bottleneck capacity</a:t>
                      </a:r>
                      <a:endParaRPr lang="en-IN" dirty="0"/>
                    </a:p>
                  </a:txBody>
                  <a:tcPr/>
                </a:tc>
              </a:tr>
              <a:tr h="331621">
                <a:tc>
                  <a:txBody>
                    <a:bodyPr/>
                    <a:lstStyle/>
                    <a:p>
                      <a:r>
                        <a:rPr lang="en-IN" dirty="0" smtClean="0"/>
                        <a:t>A-B-C-G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278041" y="1659981"/>
            <a:ext cx="220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Flow = 4</a:t>
            </a:r>
            <a:endParaRPr lang="en-IN" dirty="0"/>
          </a:p>
        </p:txBody>
      </p:sp>
      <p:cxnSp>
        <p:nvCxnSpPr>
          <p:cNvPr id="39" name="Straight Connector 38"/>
          <p:cNvCxnSpPr/>
          <p:nvPr/>
        </p:nvCxnSpPr>
        <p:spPr>
          <a:xfrm flipV="1">
            <a:off x="2271666" y="2710991"/>
            <a:ext cx="782573" cy="405245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3791526" y="2531217"/>
            <a:ext cx="1553206" cy="2964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5977864" y="2688722"/>
            <a:ext cx="817200" cy="454464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163605" y="3823352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586" y="2138803"/>
            <a:ext cx="3352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Residual capacity:6-4=</a:t>
            </a:r>
            <a:r>
              <a:rPr lang="en-IN" dirty="0" smtClean="0">
                <a:solidFill>
                  <a:srgbClr val="FF0000"/>
                </a:solidFill>
              </a:rPr>
              <a:t>2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60341" y="2141169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734860" y="261817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60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val 50"/>
          <p:cNvSpPr/>
          <p:nvPr/>
        </p:nvSpPr>
        <p:spPr>
          <a:xfrm>
            <a:off x="5629934" y="3725958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3726265" y="2184295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1005357" y="3070279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4768742" y="221751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7" name="Oval 6"/>
          <p:cNvSpPr/>
          <p:nvPr/>
        </p:nvSpPr>
        <p:spPr>
          <a:xfrm>
            <a:off x="4768742" y="388397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8" name="Oval 7"/>
          <p:cNvSpPr/>
          <p:nvPr/>
        </p:nvSpPr>
        <p:spPr>
          <a:xfrm>
            <a:off x="2459748" y="388397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9" name="Oval 8"/>
          <p:cNvSpPr/>
          <p:nvPr/>
        </p:nvSpPr>
        <p:spPr>
          <a:xfrm>
            <a:off x="6071963" y="3070279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0" name="Oval 9"/>
          <p:cNvSpPr/>
          <p:nvPr/>
        </p:nvSpPr>
        <p:spPr>
          <a:xfrm>
            <a:off x="2459748" y="221751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1" name="Oval 10"/>
          <p:cNvSpPr/>
          <p:nvPr/>
        </p:nvSpPr>
        <p:spPr>
          <a:xfrm>
            <a:off x="3568438" y="3046495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12" name="Straight Arrow Connector 11"/>
          <p:cNvCxnSpPr>
            <a:stCxn id="5" idx="7"/>
          </p:cNvCxnSpPr>
          <p:nvPr/>
        </p:nvCxnSpPr>
        <p:spPr>
          <a:xfrm flipV="1">
            <a:off x="1538772" y="2680827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2945271" y="2788632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7"/>
          </p:cNvCxnSpPr>
          <p:nvPr/>
        </p:nvCxnSpPr>
        <p:spPr>
          <a:xfrm flipV="1">
            <a:off x="4046304" y="2733244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8" idx="7"/>
          </p:cNvCxnSpPr>
          <p:nvPr/>
        </p:nvCxnSpPr>
        <p:spPr>
          <a:xfrm flipV="1">
            <a:off x="2993163" y="3468492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393676" y="3509552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6" idx="2"/>
          </p:cNvCxnSpPr>
          <p:nvPr/>
        </p:nvCxnSpPr>
        <p:spPr>
          <a:xfrm>
            <a:off x="3093291" y="2530766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7" idx="2"/>
          </p:cNvCxnSpPr>
          <p:nvPr/>
        </p:nvCxnSpPr>
        <p:spPr>
          <a:xfrm>
            <a:off x="3093291" y="4197223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1" idx="5"/>
          </p:cNvCxnSpPr>
          <p:nvPr/>
        </p:nvCxnSpPr>
        <p:spPr>
          <a:xfrm>
            <a:off x="4046304" y="3523239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8" idx="2"/>
          </p:cNvCxnSpPr>
          <p:nvPr/>
        </p:nvCxnSpPr>
        <p:spPr>
          <a:xfrm>
            <a:off x="1576973" y="3567457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9" idx="1"/>
          </p:cNvCxnSpPr>
          <p:nvPr/>
        </p:nvCxnSpPr>
        <p:spPr>
          <a:xfrm>
            <a:off x="5338951" y="2709320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8" idx="0"/>
          </p:cNvCxnSpPr>
          <p:nvPr/>
        </p:nvCxnSpPr>
        <p:spPr>
          <a:xfrm>
            <a:off x="2748560" y="2877943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6" idx="4"/>
            <a:endCxn id="7" idx="0"/>
          </p:cNvCxnSpPr>
          <p:nvPr/>
        </p:nvCxnSpPr>
        <p:spPr>
          <a:xfrm>
            <a:off x="5081209" y="2844019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576973" y="2568651"/>
            <a:ext cx="583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4/6</a:t>
            </a:r>
            <a:endParaRPr lang="en-IN" dirty="0"/>
          </a:p>
        </p:txBody>
      </p:sp>
      <p:sp>
        <p:nvSpPr>
          <p:cNvPr id="25" name="TextBox 24"/>
          <p:cNvSpPr txBox="1"/>
          <p:nvPr/>
        </p:nvSpPr>
        <p:spPr>
          <a:xfrm>
            <a:off x="1603742" y="3801066"/>
            <a:ext cx="53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3/9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2504361" y="3235703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3726265" y="2238788"/>
            <a:ext cx="55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4/4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3198653" y="2706093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0724" y="2896936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3101792" y="3415137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4630" y="3677203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2852" y="4197223"/>
            <a:ext cx="528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3/6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5644853" y="3716905"/>
            <a:ext cx="59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3/3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5665763" y="2680826"/>
            <a:ext cx="54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4/9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011717" y="3196291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3108946" y="2590205"/>
            <a:ext cx="1553206" cy="2964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927076" y="1712967"/>
            <a:ext cx="1659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Path: </a:t>
            </a:r>
            <a:r>
              <a:rPr lang="en-IN" dirty="0" smtClean="0"/>
              <a:t>A-D-E-G</a:t>
            </a:r>
            <a:endParaRPr lang="en-IN" dirty="0"/>
          </a:p>
        </p:txBody>
      </p:sp>
      <p:graphicFrame>
        <p:nvGraphicFramePr>
          <p:cNvPr id="40" name="Table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739414"/>
              </p:ext>
            </p:extLst>
          </p:nvPr>
        </p:nvGraphicFramePr>
        <p:xfrm>
          <a:off x="1230281" y="4874091"/>
          <a:ext cx="6096000" cy="11125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Augmenting</a:t>
                      </a:r>
                      <a:r>
                        <a:rPr lang="en-IN" baseline="0" dirty="0" smtClean="0"/>
                        <a:t> path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Bottleneck capacity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A-B-C-G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A-D-E-G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5705467" y="1607406"/>
            <a:ext cx="198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Flow = 4+3</a:t>
            </a:r>
            <a:endParaRPr lang="en-IN" dirty="0"/>
          </a:p>
        </p:txBody>
      </p:sp>
      <p:sp>
        <p:nvSpPr>
          <p:cNvPr id="42" name="TextBox 41"/>
          <p:cNvSpPr txBox="1"/>
          <p:nvPr/>
        </p:nvSpPr>
        <p:spPr>
          <a:xfrm>
            <a:off x="3342523" y="3882340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5403244" y="3480378"/>
            <a:ext cx="629351" cy="477476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1652217" y="3533736"/>
            <a:ext cx="726263" cy="533270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3121488" y="4251672"/>
            <a:ext cx="1551020" cy="15443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2549" y="2471751"/>
            <a:ext cx="90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RC: </a:t>
            </a:r>
            <a:r>
              <a:rPr lang="en-IN" dirty="0" smtClean="0">
                <a:solidFill>
                  <a:srgbClr val="FF0000"/>
                </a:solidFill>
              </a:rPr>
              <a:t>2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117679" y="3754146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04109" y="2217514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822792" y="4190224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3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439213" y="3801066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032595" y="2698461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11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/>
          <p:cNvSpPr/>
          <p:nvPr/>
        </p:nvSpPr>
        <p:spPr>
          <a:xfrm>
            <a:off x="1998279" y="2542893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5990542" y="3700200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4086873" y="2158537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1365965" y="3044521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7" name="Oval 6"/>
          <p:cNvSpPr/>
          <p:nvPr/>
        </p:nvSpPr>
        <p:spPr>
          <a:xfrm>
            <a:off x="5129350" y="219175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8" name="Oval 7"/>
          <p:cNvSpPr/>
          <p:nvPr/>
        </p:nvSpPr>
        <p:spPr>
          <a:xfrm>
            <a:off x="5129350" y="385821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9" name="Oval 8"/>
          <p:cNvSpPr/>
          <p:nvPr/>
        </p:nvSpPr>
        <p:spPr>
          <a:xfrm>
            <a:off x="2820356" y="3858213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0" name="Oval 9"/>
          <p:cNvSpPr/>
          <p:nvPr/>
        </p:nvSpPr>
        <p:spPr>
          <a:xfrm>
            <a:off x="6432571" y="3044521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1" name="Oval 10"/>
          <p:cNvSpPr/>
          <p:nvPr/>
        </p:nvSpPr>
        <p:spPr>
          <a:xfrm>
            <a:off x="2820356" y="2191756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2" name="Oval 11"/>
          <p:cNvSpPr/>
          <p:nvPr/>
        </p:nvSpPr>
        <p:spPr>
          <a:xfrm>
            <a:off x="3929046" y="3020737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13" name="Straight Arrow Connector 12"/>
          <p:cNvCxnSpPr>
            <a:stCxn id="6" idx="7"/>
          </p:cNvCxnSpPr>
          <p:nvPr/>
        </p:nvCxnSpPr>
        <p:spPr>
          <a:xfrm flipV="1">
            <a:off x="1899380" y="2655069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305879" y="2762874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2" idx="7"/>
          </p:cNvCxnSpPr>
          <p:nvPr/>
        </p:nvCxnSpPr>
        <p:spPr>
          <a:xfrm flipV="1">
            <a:off x="4406912" y="2707486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7"/>
          </p:cNvCxnSpPr>
          <p:nvPr/>
        </p:nvCxnSpPr>
        <p:spPr>
          <a:xfrm flipV="1">
            <a:off x="3353771" y="3442734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5754284" y="3483794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endCxn id="7" idx="2"/>
          </p:cNvCxnSpPr>
          <p:nvPr/>
        </p:nvCxnSpPr>
        <p:spPr>
          <a:xfrm>
            <a:off x="3453899" y="2505008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8" idx="2"/>
          </p:cNvCxnSpPr>
          <p:nvPr/>
        </p:nvCxnSpPr>
        <p:spPr>
          <a:xfrm>
            <a:off x="3453899" y="4171465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2" idx="5"/>
          </p:cNvCxnSpPr>
          <p:nvPr/>
        </p:nvCxnSpPr>
        <p:spPr>
          <a:xfrm>
            <a:off x="4406912" y="3497481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9" idx="2"/>
          </p:cNvCxnSpPr>
          <p:nvPr/>
        </p:nvCxnSpPr>
        <p:spPr>
          <a:xfrm>
            <a:off x="1937581" y="3541699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0" idx="1"/>
          </p:cNvCxnSpPr>
          <p:nvPr/>
        </p:nvCxnSpPr>
        <p:spPr>
          <a:xfrm>
            <a:off x="5699559" y="2683562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9" idx="0"/>
          </p:cNvCxnSpPr>
          <p:nvPr/>
        </p:nvCxnSpPr>
        <p:spPr>
          <a:xfrm>
            <a:off x="3109168" y="2852185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7" idx="4"/>
            <a:endCxn id="8" idx="0"/>
          </p:cNvCxnSpPr>
          <p:nvPr/>
        </p:nvCxnSpPr>
        <p:spPr>
          <a:xfrm>
            <a:off x="5441817" y="2818261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16580" y="2542893"/>
            <a:ext cx="50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  <a:r>
              <a:rPr lang="en-IN" dirty="0" smtClean="0"/>
              <a:t>/6</a:t>
            </a:r>
            <a:endParaRPr lang="en-IN" dirty="0"/>
          </a:p>
        </p:txBody>
      </p:sp>
      <p:sp>
        <p:nvSpPr>
          <p:cNvPr id="26" name="TextBox 25"/>
          <p:cNvSpPr txBox="1"/>
          <p:nvPr/>
        </p:nvSpPr>
        <p:spPr>
          <a:xfrm>
            <a:off x="1964350" y="3775308"/>
            <a:ext cx="53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3/9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2864969" y="320994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4086873" y="2213030"/>
            <a:ext cx="55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4/4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3559261" y="2620766"/>
            <a:ext cx="56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2/3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4681332" y="2899956"/>
            <a:ext cx="614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2/3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3462400" y="3389379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5238" y="3651445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3460" y="4171465"/>
            <a:ext cx="528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3/6</a:t>
            </a:r>
            <a:endParaRPr lang="en-IN" dirty="0"/>
          </a:p>
        </p:txBody>
      </p:sp>
      <p:sp>
        <p:nvSpPr>
          <p:cNvPr id="34" name="TextBox 33"/>
          <p:cNvSpPr txBox="1"/>
          <p:nvPr/>
        </p:nvSpPr>
        <p:spPr>
          <a:xfrm>
            <a:off x="6005461" y="3691147"/>
            <a:ext cx="59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3/3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6026371" y="2655068"/>
            <a:ext cx="54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  <a:r>
              <a:rPr lang="en-IN" dirty="0" smtClean="0"/>
              <a:t>/9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5372325" y="3170533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3469554" y="2564447"/>
            <a:ext cx="1553206" cy="2964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655892" y="2721952"/>
            <a:ext cx="817200" cy="454464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703131" y="3856582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5763852" y="3454620"/>
            <a:ext cx="629351" cy="477476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7990170"/>
              </p:ext>
            </p:extLst>
          </p:nvPr>
        </p:nvGraphicFramePr>
        <p:xfrm>
          <a:off x="1298243" y="4706676"/>
          <a:ext cx="6033404" cy="1463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16702"/>
                <a:gridCol w="3016702"/>
              </a:tblGrid>
              <a:tr h="343041">
                <a:tc>
                  <a:txBody>
                    <a:bodyPr/>
                    <a:lstStyle/>
                    <a:p>
                      <a:r>
                        <a:rPr lang="en-IN" dirty="0" smtClean="0"/>
                        <a:t>Augmenting</a:t>
                      </a:r>
                      <a:r>
                        <a:rPr lang="en-IN" baseline="0" dirty="0" smtClean="0"/>
                        <a:t> path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Bottleneck capacity</a:t>
                      </a:r>
                      <a:endParaRPr lang="en-IN" dirty="0"/>
                    </a:p>
                  </a:txBody>
                  <a:tcPr/>
                </a:tc>
              </a:tr>
              <a:tr h="343041">
                <a:tc>
                  <a:txBody>
                    <a:bodyPr/>
                    <a:lstStyle/>
                    <a:p>
                      <a:r>
                        <a:rPr lang="en-IN" dirty="0" smtClean="0"/>
                        <a:t>A-B-C-G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43041">
                <a:tc>
                  <a:txBody>
                    <a:bodyPr/>
                    <a:lstStyle/>
                    <a:p>
                      <a:r>
                        <a:rPr lang="en-IN" dirty="0" smtClean="0"/>
                        <a:t>A-D-E-G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</a:tr>
              <a:tr h="3430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A-B-F-C-G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5" name="Rectangle 44"/>
          <p:cNvSpPr/>
          <p:nvPr/>
        </p:nvSpPr>
        <p:spPr>
          <a:xfrm>
            <a:off x="927076" y="1571299"/>
            <a:ext cx="1877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Path: </a:t>
            </a:r>
            <a:r>
              <a:rPr lang="en-IN" dirty="0" smtClean="0"/>
              <a:t>A-B-F-C-G</a:t>
            </a:r>
            <a:endParaRPr lang="en-IN" dirty="0"/>
          </a:p>
        </p:txBody>
      </p:sp>
      <p:cxnSp>
        <p:nvCxnSpPr>
          <p:cNvPr id="46" name="Straight Connector 45"/>
          <p:cNvCxnSpPr/>
          <p:nvPr/>
        </p:nvCxnSpPr>
        <p:spPr>
          <a:xfrm>
            <a:off x="3238526" y="2796744"/>
            <a:ext cx="722206" cy="447983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379854" y="2678678"/>
            <a:ext cx="770866" cy="365771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078527" y="1534533"/>
            <a:ext cx="198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Flow = 4+3+2</a:t>
            </a:r>
            <a:endParaRPr lang="en-IN" dirty="0"/>
          </a:p>
        </p:txBody>
      </p:sp>
      <p:sp>
        <p:nvSpPr>
          <p:cNvPr id="52" name="TextBox 51"/>
          <p:cNvSpPr txBox="1"/>
          <p:nvPr/>
        </p:nvSpPr>
        <p:spPr>
          <a:xfrm>
            <a:off x="1314967" y="2414315"/>
            <a:ext cx="6104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4/6</a:t>
            </a:r>
            <a:endParaRPr lang="en-IN" sz="1600" dirty="0"/>
          </a:p>
        </p:txBody>
      </p:sp>
      <p:cxnSp>
        <p:nvCxnSpPr>
          <p:cNvPr id="56" name="Straight Connector 55"/>
          <p:cNvCxnSpPr/>
          <p:nvPr/>
        </p:nvCxnSpPr>
        <p:spPr>
          <a:xfrm flipV="1">
            <a:off x="2012241" y="2796744"/>
            <a:ext cx="684053" cy="360023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63574" y="2371391"/>
            <a:ext cx="727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RC: </a:t>
            </a:r>
            <a:r>
              <a:rPr lang="en-IN" dirty="0" smtClean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00839" y="3711268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858183" y="2194201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8063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58"/>
          <p:cNvSpPr/>
          <p:nvPr/>
        </p:nvSpPr>
        <p:spPr>
          <a:xfrm>
            <a:off x="4612053" y="2825364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1985401" y="2491378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5977664" y="3648685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4073995" y="2107022"/>
            <a:ext cx="552016" cy="39752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353087" y="2993006"/>
            <a:ext cx="624934" cy="626505"/>
          </a:xfrm>
          <a:prstGeom prst="ellips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5116472" y="214024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9" name="Oval 8"/>
          <p:cNvSpPr/>
          <p:nvPr/>
        </p:nvSpPr>
        <p:spPr>
          <a:xfrm>
            <a:off x="5116472" y="380669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</a:t>
            </a:r>
          </a:p>
        </p:txBody>
      </p:sp>
      <p:sp>
        <p:nvSpPr>
          <p:cNvPr id="10" name="Oval 9"/>
          <p:cNvSpPr/>
          <p:nvPr/>
        </p:nvSpPr>
        <p:spPr>
          <a:xfrm>
            <a:off x="2807478" y="3806698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11" name="Oval 10"/>
          <p:cNvSpPr/>
          <p:nvPr/>
        </p:nvSpPr>
        <p:spPr>
          <a:xfrm>
            <a:off x="6419693" y="2993006"/>
            <a:ext cx="624934" cy="626505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G</a:t>
            </a:r>
          </a:p>
        </p:txBody>
      </p:sp>
      <p:sp>
        <p:nvSpPr>
          <p:cNvPr id="12" name="Oval 11"/>
          <p:cNvSpPr/>
          <p:nvPr/>
        </p:nvSpPr>
        <p:spPr>
          <a:xfrm>
            <a:off x="2807478" y="214024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3916168" y="2969222"/>
            <a:ext cx="559855" cy="558540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F</a:t>
            </a:r>
          </a:p>
        </p:txBody>
      </p:sp>
      <p:cxnSp>
        <p:nvCxnSpPr>
          <p:cNvPr id="14" name="Straight Arrow Connector 13"/>
          <p:cNvCxnSpPr>
            <a:stCxn id="7" idx="7"/>
          </p:cNvCxnSpPr>
          <p:nvPr/>
        </p:nvCxnSpPr>
        <p:spPr>
          <a:xfrm flipV="1">
            <a:off x="1886502" y="2603554"/>
            <a:ext cx="928633" cy="48120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293001" y="2711359"/>
            <a:ext cx="703073" cy="4583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3" idx="7"/>
          </p:cNvCxnSpPr>
          <p:nvPr/>
        </p:nvCxnSpPr>
        <p:spPr>
          <a:xfrm flipV="1">
            <a:off x="4394034" y="2655971"/>
            <a:ext cx="802186" cy="39504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0" idx="7"/>
          </p:cNvCxnSpPr>
          <p:nvPr/>
        </p:nvCxnSpPr>
        <p:spPr>
          <a:xfrm flipV="1">
            <a:off x="3340893" y="3391219"/>
            <a:ext cx="655181" cy="50722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V="1">
            <a:off x="5741406" y="3432279"/>
            <a:ext cx="713117" cy="5350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8" idx="2"/>
          </p:cNvCxnSpPr>
          <p:nvPr/>
        </p:nvCxnSpPr>
        <p:spPr>
          <a:xfrm>
            <a:off x="3441021" y="2453493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9" idx="2"/>
          </p:cNvCxnSpPr>
          <p:nvPr/>
        </p:nvCxnSpPr>
        <p:spPr>
          <a:xfrm>
            <a:off x="3441021" y="4119950"/>
            <a:ext cx="1675451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3" idx="5"/>
          </p:cNvCxnSpPr>
          <p:nvPr/>
        </p:nvCxnSpPr>
        <p:spPr>
          <a:xfrm>
            <a:off x="4394034" y="3445966"/>
            <a:ext cx="770580" cy="4963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0" idx="2"/>
          </p:cNvCxnSpPr>
          <p:nvPr/>
        </p:nvCxnSpPr>
        <p:spPr>
          <a:xfrm>
            <a:off x="1924703" y="3490184"/>
            <a:ext cx="882775" cy="62976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11" idx="1"/>
          </p:cNvCxnSpPr>
          <p:nvPr/>
        </p:nvCxnSpPr>
        <p:spPr>
          <a:xfrm>
            <a:off x="5686681" y="2632047"/>
            <a:ext cx="824531" cy="4527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endCxn id="10" idx="0"/>
          </p:cNvCxnSpPr>
          <p:nvPr/>
        </p:nvCxnSpPr>
        <p:spPr>
          <a:xfrm>
            <a:off x="3096290" y="2800670"/>
            <a:ext cx="23655" cy="10060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8" idx="4"/>
            <a:endCxn id="9" idx="0"/>
          </p:cNvCxnSpPr>
          <p:nvPr/>
        </p:nvCxnSpPr>
        <p:spPr>
          <a:xfrm>
            <a:off x="5428939" y="2766746"/>
            <a:ext cx="0" cy="10399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003702" y="2491378"/>
            <a:ext cx="50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</a:t>
            </a:r>
            <a:r>
              <a:rPr lang="en-IN" dirty="0" smtClean="0"/>
              <a:t>/6</a:t>
            </a:r>
            <a:endParaRPr lang="en-IN" dirty="0"/>
          </a:p>
        </p:txBody>
      </p:sp>
      <p:sp>
        <p:nvSpPr>
          <p:cNvPr id="27" name="TextBox 26"/>
          <p:cNvSpPr txBox="1"/>
          <p:nvPr/>
        </p:nvSpPr>
        <p:spPr>
          <a:xfrm>
            <a:off x="1951472" y="3723793"/>
            <a:ext cx="539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4/9</a:t>
            </a:r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2852091" y="3158430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</a:t>
            </a:r>
            <a:endParaRPr lang="en-IN" dirty="0"/>
          </a:p>
        </p:txBody>
      </p:sp>
      <p:sp>
        <p:nvSpPr>
          <p:cNvPr id="29" name="TextBox 28"/>
          <p:cNvSpPr txBox="1"/>
          <p:nvPr/>
        </p:nvSpPr>
        <p:spPr>
          <a:xfrm>
            <a:off x="4073995" y="2161515"/>
            <a:ext cx="55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4/4</a:t>
            </a:r>
            <a:endParaRPr lang="en-IN" dirty="0"/>
          </a:p>
        </p:txBody>
      </p:sp>
      <p:sp>
        <p:nvSpPr>
          <p:cNvPr id="30" name="TextBox 29"/>
          <p:cNvSpPr txBox="1"/>
          <p:nvPr/>
        </p:nvSpPr>
        <p:spPr>
          <a:xfrm>
            <a:off x="3546383" y="2569251"/>
            <a:ext cx="5640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2/3</a:t>
            </a:r>
            <a:endParaRPr lang="en-IN" dirty="0"/>
          </a:p>
        </p:txBody>
      </p:sp>
      <p:sp>
        <p:nvSpPr>
          <p:cNvPr id="31" name="TextBox 30"/>
          <p:cNvSpPr txBox="1"/>
          <p:nvPr/>
        </p:nvSpPr>
        <p:spPr>
          <a:xfrm>
            <a:off x="4668454" y="2848441"/>
            <a:ext cx="614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  <a:r>
              <a:rPr lang="en-IN" dirty="0" smtClean="0"/>
              <a:t>/3</a:t>
            </a:r>
            <a:endParaRPr lang="en-IN" dirty="0"/>
          </a:p>
        </p:txBody>
      </p:sp>
      <p:sp>
        <p:nvSpPr>
          <p:cNvPr id="32" name="TextBox 31"/>
          <p:cNvSpPr txBox="1"/>
          <p:nvPr/>
        </p:nvSpPr>
        <p:spPr>
          <a:xfrm>
            <a:off x="3360376" y="3260882"/>
            <a:ext cx="623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1/2</a:t>
            </a:r>
            <a:endParaRPr lang="en-IN" dirty="0"/>
          </a:p>
        </p:txBody>
      </p:sp>
      <p:sp>
        <p:nvSpPr>
          <p:cNvPr id="33" name="TextBox 32"/>
          <p:cNvSpPr txBox="1"/>
          <p:nvPr/>
        </p:nvSpPr>
        <p:spPr>
          <a:xfrm>
            <a:off x="4512360" y="3599930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0582" y="4119950"/>
            <a:ext cx="528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3/6</a:t>
            </a:r>
            <a:endParaRPr lang="en-IN" dirty="0"/>
          </a:p>
        </p:txBody>
      </p:sp>
      <p:sp>
        <p:nvSpPr>
          <p:cNvPr id="35" name="TextBox 34"/>
          <p:cNvSpPr txBox="1"/>
          <p:nvPr/>
        </p:nvSpPr>
        <p:spPr>
          <a:xfrm>
            <a:off x="5992583" y="3639632"/>
            <a:ext cx="599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3/3</a:t>
            </a:r>
            <a:endParaRPr lang="en-IN" dirty="0"/>
          </a:p>
        </p:txBody>
      </p:sp>
      <p:sp>
        <p:nvSpPr>
          <p:cNvPr id="36" name="TextBox 35"/>
          <p:cNvSpPr txBox="1"/>
          <p:nvPr/>
        </p:nvSpPr>
        <p:spPr>
          <a:xfrm>
            <a:off x="6013493" y="2603553"/>
            <a:ext cx="541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  <a:r>
              <a:rPr lang="en-IN" dirty="0" smtClean="0"/>
              <a:t>/9</a:t>
            </a:r>
            <a:endParaRPr lang="en-IN" dirty="0"/>
          </a:p>
        </p:txBody>
      </p:sp>
      <p:sp>
        <p:nvSpPr>
          <p:cNvPr id="37" name="TextBox 36"/>
          <p:cNvSpPr txBox="1"/>
          <p:nvPr/>
        </p:nvSpPr>
        <p:spPr>
          <a:xfrm>
            <a:off x="5359447" y="3119018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38" name="Straight Connector 37"/>
          <p:cNvCxnSpPr/>
          <p:nvPr/>
        </p:nvCxnSpPr>
        <p:spPr>
          <a:xfrm flipV="1">
            <a:off x="3456676" y="2512932"/>
            <a:ext cx="1553206" cy="2964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5643014" y="2670437"/>
            <a:ext cx="817200" cy="454464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690253" y="3805067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41" name="Straight Connector 40"/>
          <p:cNvCxnSpPr/>
          <p:nvPr/>
        </p:nvCxnSpPr>
        <p:spPr>
          <a:xfrm flipV="1">
            <a:off x="5750974" y="3403105"/>
            <a:ext cx="629351" cy="477476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3401100" y="3507701"/>
            <a:ext cx="570012" cy="408114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269225" y="2362800"/>
            <a:ext cx="643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4/6</a:t>
            </a:r>
            <a:endParaRPr lang="en-IN" dirty="0"/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1999363" y="2745229"/>
            <a:ext cx="684053" cy="360023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914198" y="1519784"/>
            <a:ext cx="18903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Path: </a:t>
            </a:r>
            <a:r>
              <a:rPr lang="en-IN" dirty="0" smtClean="0"/>
              <a:t>A-D-F-C-G</a:t>
            </a:r>
            <a:endParaRPr lang="en-IN" dirty="0"/>
          </a:p>
        </p:txBody>
      </p:sp>
      <p:cxnSp>
        <p:nvCxnSpPr>
          <p:cNvPr id="51" name="Straight Connector 50"/>
          <p:cNvCxnSpPr/>
          <p:nvPr/>
        </p:nvCxnSpPr>
        <p:spPr>
          <a:xfrm>
            <a:off x="1969396" y="3465491"/>
            <a:ext cx="771472" cy="522840"/>
          </a:xfrm>
          <a:prstGeom prst="line">
            <a:avLst/>
          </a:prstGeom>
          <a:ln w="28575"/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285507"/>
              </p:ext>
            </p:extLst>
          </p:nvPr>
        </p:nvGraphicFramePr>
        <p:xfrm>
          <a:off x="1283128" y="4603645"/>
          <a:ext cx="6033404" cy="1828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016702"/>
                <a:gridCol w="3016702"/>
              </a:tblGrid>
              <a:tr h="343041">
                <a:tc>
                  <a:txBody>
                    <a:bodyPr/>
                    <a:lstStyle/>
                    <a:p>
                      <a:r>
                        <a:rPr lang="en-IN" dirty="0" smtClean="0"/>
                        <a:t>Augmenting</a:t>
                      </a:r>
                      <a:r>
                        <a:rPr lang="en-IN" baseline="0" dirty="0" smtClean="0"/>
                        <a:t> path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Bottleneck capacity</a:t>
                      </a:r>
                      <a:endParaRPr lang="en-IN" dirty="0"/>
                    </a:p>
                  </a:txBody>
                  <a:tcPr/>
                </a:tc>
              </a:tr>
              <a:tr h="343041">
                <a:tc>
                  <a:txBody>
                    <a:bodyPr/>
                    <a:lstStyle/>
                    <a:p>
                      <a:r>
                        <a:rPr lang="en-IN" dirty="0" smtClean="0"/>
                        <a:t>A-B-C-G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4</a:t>
                      </a:r>
                      <a:endParaRPr lang="en-IN" dirty="0"/>
                    </a:p>
                  </a:txBody>
                  <a:tcPr/>
                </a:tc>
              </a:tr>
              <a:tr h="343041">
                <a:tc>
                  <a:txBody>
                    <a:bodyPr/>
                    <a:lstStyle/>
                    <a:p>
                      <a:r>
                        <a:rPr lang="en-IN" dirty="0" smtClean="0"/>
                        <a:t>A-D-E-G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3</a:t>
                      </a:r>
                      <a:endParaRPr lang="en-IN" dirty="0"/>
                    </a:p>
                  </a:txBody>
                  <a:tcPr/>
                </a:tc>
              </a:tr>
              <a:tr h="3430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A-B-F-C-G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2</a:t>
                      </a:r>
                      <a:endParaRPr lang="en-IN" dirty="0"/>
                    </a:p>
                  </a:txBody>
                  <a:tcPr/>
                </a:tc>
              </a:tr>
              <a:tr h="3430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 smtClean="0"/>
                        <a:t>A-D-F-C-G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1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5519781" y="1531373"/>
            <a:ext cx="2593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Flow = 4+3+2+1 = </a:t>
            </a:r>
            <a:r>
              <a:rPr lang="en-IN" b="1" dirty="0" smtClean="0"/>
              <a:t>10</a:t>
            </a:r>
            <a:r>
              <a:rPr lang="en-IN" dirty="0" smtClean="0"/>
              <a:t> </a:t>
            </a:r>
            <a:endParaRPr lang="en-IN" dirty="0"/>
          </a:p>
        </p:txBody>
      </p:sp>
      <p:sp>
        <p:nvSpPr>
          <p:cNvPr id="57" name="TextBox 56"/>
          <p:cNvSpPr txBox="1"/>
          <p:nvPr/>
        </p:nvSpPr>
        <p:spPr>
          <a:xfrm>
            <a:off x="4767007" y="3243389"/>
            <a:ext cx="6144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/>
              <a:t>2/3</a:t>
            </a:r>
            <a:endParaRPr lang="en-IN" sz="1600" dirty="0"/>
          </a:p>
        </p:txBody>
      </p:sp>
      <p:sp>
        <p:nvSpPr>
          <p:cNvPr id="60" name="TextBox 59"/>
          <p:cNvSpPr txBox="1"/>
          <p:nvPr/>
        </p:nvSpPr>
        <p:spPr>
          <a:xfrm>
            <a:off x="1283128" y="3757618"/>
            <a:ext cx="5394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3</a:t>
            </a:r>
            <a:r>
              <a:rPr lang="en-IN" sz="1600" dirty="0" smtClean="0"/>
              <a:t>/9</a:t>
            </a:r>
            <a:endParaRPr lang="en-IN" sz="1600" dirty="0"/>
          </a:p>
        </p:txBody>
      </p:sp>
      <p:cxnSp>
        <p:nvCxnSpPr>
          <p:cNvPr id="62" name="Straight Connector 61"/>
          <p:cNvCxnSpPr/>
          <p:nvPr/>
        </p:nvCxnSpPr>
        <p:spPr>
          <a:xfrm flipV="1">
            <a:off x="4437279" y="2641478"/>
            <a:ext cx="595394" cy="297105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089870" y="2827539"/>
            <a:ext cx="244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063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Circulation </a:t>
            </a:r>
            <a:r>
              <a:rPr lang="en-US" dirty="0"/>
              <a:t>with </a:t>
            </a:r>
            <a:r>
              <a:rPr lang="en-US" dirty="0" smtClean="0"/>
              <a:t>demands</a:t>
            </a:r>
          </a:p>
          <a:p>
            <a:r>
              <a:rPr lang="en-IN" dirty="0"/>
              <a:t>Water distribution </a:t>
            </a:r>
            <a:r>
              <a:rPr lang="en-IN" dirty="0" smtClean="0"/>
              <a:t>pipeline</a:t>
            </a:r>
          </a:p>
          <a:p>
            <a:r>
              <a:rPr lang="en-US" dirty="0"/>
              <a:t>Bipartite matching problem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Ford-Fulkerson Applications</a:t>
            </a:r>
          </a:p>
        </p:txBody>
      </p:sp>
    </p:spTree>
    <p:extLst>
      <p:ext uri="{BB962C8B-B14F-4D97-AF65-F5344CB8AC3E}">
        <p14:creationId xmlns:p14="http://schemas.microsoft.com/office/powerpoint/2010/main" val="34868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Time Complexity: Time complexity of the above algorithm is O(</a:t>
            </a:r>
            <a:r>
              <a:rPr lang="en-IN" dirty="0" err="1"/>
              <a:t>max_flow</a:t>
            </a:r>
            <a:r>
              <a:rPr lang="en-IN" dirty="0"/>
              <a:t> * E).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Complexity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75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14225</TotalTime>
  <Words>857</Words>
  <Application>Microsoft Office PowerPoint</Application>
  <PresentationFormat>On-screen Show (4:3)</PresentationFormat>
  <Paragraphs>268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Bahnschrift</vt:lpstr>
      <vt:lpstr>Bahnschrift SemiBold</vt:lpstr>
      <vt:lpstr>Times New Roman</vt:lpstr>
      <vt:lpstr>Office Theme</vt:lpstr>
      <vt:lpstr>PowerPoint Presentation</vt:lpstr>
      <vt:lpstr>Learning Outcomes</vt:lpstr>
      <vt:lpstr>Network Flow Problems</vt:lpstr>
      <vt:lpstr>Network Flow Problems</vt:lpstr>
      <vt:lpstr>Conditions for flow</vt:lpstr>
      <vt:lpstr>Network Flow Problems</vt:lpstr>
      <vt:lpstr>Types of network flow problems</vt:lpstr>
      <vt:lpstr>Types of network flow problems</vt:lpstr>
      <vt:lpstr>Types of network flow problems</vt:lpstr>
      <vt:lpstr>Algorithms</vt:lpstr>
      <vt:lpstr>Algorithms</vt:lpstr>
      <vt:lpstr>Ford-Fulkerson Algorithm</vt:lpstr>
      <vt:lpstr>Terminology: Ford-Fulkerson Algorithm</vt:lpstr>
      <vt:lpstr>Terminology: Ford-Fulkerson Algorithm</vt:lpstr>
      <vt:lpstr>Terminology: Ford-Fulkerson Algorithm</vt:lpstr>
      <vt:lpstr>Terminology: Ford-Fulkerson Algorithm</vt:lpstr>
      <vt:lpstr>Terminology: Ford-Fulkerson Algorithm</vt:lpstr>
      <vt:lpstr>Ford-Fulkerson Algorithm</vt:lpstr>
      <vt:lpstr>Ford-Fulkerson Algorithm</vt:lpstr>
      <vt:lpstr>Ford-Fulkerson Algorithm</vt:lpstr>
      <vt:lpstr>Ford-Fulkerson Algorithm</vt:lpstr>
      <vt:lpstr>Ford-Fulkerson Algorithm</vt:lpstr>
      <vt:lpstr>Ford-Fulkerson Algorithm</vt:lpstr>
      <vt:lpstr>Ford-Fulkerson Applications</vt:lpstr>
      <vt:lpstr>Complexity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HP</cp:lastModifiedBy>
  <cp:revision>813</cp:revision>
  <dcterms:created xsi:type="dcterms:W3CDTF">2020-12-02T15:29:53Z</dcterms:created>
  <dcterms:modified xsi:type="dcterms:W3CDTF">2022-01-20T10:46:31Z</dcterms:modified>
</cp:coreProperties>
</file>