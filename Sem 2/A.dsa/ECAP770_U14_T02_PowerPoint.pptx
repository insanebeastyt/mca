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73" r:id="rId4"/>
    <p:sldId id="381" r:id="rId5"/>
    <p:sldId id="374" r:id="rId6"/>
    <p:sldId id="375" r:id="rId7"/>
    <p:sldId id="376" r:id="rId8"/>
    <p:sldId id="377" r:id="rId9"/>
    <p:sldId id="365" r:id="rId10"/>
    <p:sldId id="378" r:id="rId11"/>
    <p:sldId id="380" r:id="rId12"/>
    <p:sldId id="25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2C2C2C"/>
    <a:srgbClr val="191919"/>
    <a:srgbClr val="636973"/>
    <a:srgbClr val="999999"/>
    <a:srgbClr val="C2C2C2"/>
    <a:srgbClr val="00203F"/>
    <a:srgbClr val="ADF0D1"/>
    <a:srgbClr val="7CAAF1"/>
    <a:srgbClr val="DD5C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91" autoAdjust="0"/>
    <p:restoredTop sz="94660"/>
  </p:normalViewPr>
  <p:slideViewPr>
    <p:cSldViewPr snapToGrid="0">
      <p:cViewPr varScale="1">
        <p:scale>
          <a:sx n="68" d="100"/>
          <a:sy n="68" d="100"/>
        </p:scale>
        <p:origin x="13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FDCE79-4E29-402C-B477-B11C4D011C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alphaModFix amt="90000"/>
          </a:blip>
          <a:stretch>
            <a:fillRect/>
          </a:stretch>
        </p:blipFill>
        <p:spPr>
          <a:xfrm>
            <a:off x="0" y="-1"/>
            <a:ext cx="9144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992F9EE-5066-4DC7-9A8B-A0704FB56E63}"/>
              </a:ext>
            </a:extLst>
          </p:cNvPr>
          <p:cNvSpPr/>
          <p:nvPr userDrawn="1"/>
        </p:nvSpPr>
        <p:spPr>
          <a:xfrm>
            <a:off x="0" y="1440872"/>
            <a:ext cx="9144000" cy="3976255"/>
          </a:xfrm>
          <a:prstGeom prst="rect">
            <a:avLst/>
          </a:prstGeom>
          <a:solidFill>
            <a:srgbClr val="2C2C2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51063-0A73-407E-9285-9A6C27FF3658}"/>
              </a:ext>
            </a:extLst>
          </p:cNvPr>
          <p:cNvSpPr txBox="1"/>
          <p:nvPr userDrawn="1"/>
        </p:nvSpPr>
        <p:spPr>
          <a:xfrm>
            <a:off x="318655" y="1551705"/>
            <a:ext cx="52508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ECAP770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D37EDC-9BA2-4106-A0D1-49964EF39471}"/>
              </a:ext>
            </a:extLst>
          </p:cNvPr>
          <p:cNvSpPr txBox="1"/>
          <p:nvPr userDrawn="1"/>
        </p:nvSpPr>
        <p:spPr>
          <a:xfrm>
            <a:off x="263235" y="2970116"/>
            <a:ext cx="5347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cap="small" baseline="0" dirty="0">
                <a:solidFill>
                  <a:schemeClr val="bg1"/>
                </a:solidFill>
              </a:rPr>
              <a:t>Advance Data Structures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59E63-B3F3-40A8-A422-69AB2D35C404}"/>
              </a:ext>
            </a:extLst>
          </p:cNvPr>
          <p:cNvCxnSpPr>
            <a:cxnSpLocks/>
          </p:cNvCxnSpPr>
          <p:nvPr userDrawn="1"/>
        </p:nvCxnSpPr>
        <p:spPr>
          <a:xfrm>
            <a:off x="318655" y="3782289"/>
            <a:ext cx="5347855" cy="0"/>
          </a:xfrm>
          <a:prstGeom prst="line">
            <a:avLst/>
          </a:prstGeom>
          <a:ln w="3175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3F2AB1-044B-42E4-8A81-97A7A2FE5418}"/>
              </a:ext>
            </a:extLst>
          </p:cNvPr>
          <p:cNvSpPr txBox="1"/>
          <p:nvPr userDrawn="1"/>
        </p:nvSpPr>
        <p:spPr>
          <a:xfrm>
            <a:off x="5999019" y="4563687"/>
            <a:ext cx="2826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Ashwani Kumar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979311-FF32-46BF-9637-46454C71F372}"/>
              </a:ext>
            </a:extLst>
          </p:cNvPr>
          <p:cNvSpPr txBox="1"/>
          <p:nvPr userDrawn="1"/>
        </p:nvSpPr>
        <p:spPr>
          <a:xfrm>
            <a:off x="6044739" y="5039622"/>
            <a:ext cx="2826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2108135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0050" y="2840182"/>
            <a:ext cx="8534400" cy="3827317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buFont typeface="Arial" panose="020B0604020202020204" pitchFamily="34" charset="0"/>
              <a:buNone/>
              <a:defRPr>
                <a:solidFill>
                  <a:srgbClr val="00203F"/>
                </a:solidFill>
              </a:defRPr>
            </a:lvl1pPr>
            <a:lvl2pPr>
              <a:lnSpc>
                <a:spcPct val="150000"/>
              </a:lnSpc>
              <a:buClr>
                <a:srgbClr val="FF0066"/>
              </a:buClr>
              <a:defRPr sz="2800"/>
            </a:lvl2pPr>
            <a:lvl3pPr>
              <a:buClr>
                <a:srgbClr val="FF0066"/>
              </a:buClr>
              <a:defRPr/>
            </a:lvl3pPr>
            <a:lvl4pPr>
              <a:buClr>
                <a:srgbClr val="FF0066"/>
              </a:buClr>
              <a:defRPr/>
            </a:lvl4pPr>
            <a:lvl5pPr>
              <a:buClr>
                <a:srgbClr val="FF0066"/>
              </a:buClr>
              <a:defRPr/>
            </a:lvl5pPr>
          </a:lstStyle>
          <a:p>
            <a:pPr lvl="1"/>
            <a:r>
              <a:rPr lang="en-US" dirty="0"/>
              <a:t>outcome 1</a:t>
            </a:r>
          </a:p>
          <a:p>
            <a:pPr lvl="1"/>
            <a:r>
              <a:rPr lang="en-US" dirty="0"/>
              <a:t>outcome 2</a:t>
            </a:r>
          </a:p>
          <a:p>
            <a:pPr lvl="1"/>
            <a:r>
              <a:rPr lang="en-US" dirty="0"/>
              <a:t>outcome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2095499"/>
          </a:xfrm>
          <a:prstGeom prst="rect">
            <a:avLst/>
          </a:prstGeom>
          <a:gradFill flip="none" rotWithShape="1">
            <a:gsLst>
              <a:gs pos="76000">
                <a:srgbClr val="636973"/>
              </a:gs>
              <a:gs pos="25000">
                <a:srgbClr val="2C2C2C"/>
              </a:gs>
              <a:gs pos="100000">
                <a:srgbClr val="99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0050" y="0"/>
            <a:ext cx="8743950" cy="2095499"/>
          </a:xfrm>
        </p:spPr>
        <p:txBody>
          <a:bodyPr>
            <a:normAutofit/>
          </a:bodyPr>
          <a:lstStyle>
            <a:lvl1pPr>
              <a:defRPr sz="44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</a:t>
            </a:r>
          </a:p>
        </p:txBody>
      </p:sp>
      <p:pic>
        <p:nvPicPr>
          <p:cNvPr id="13" name="Graphic 12" descr="Bullseye with solid fill">
            <a:extLst>
              <a:ext uri="{FF2B5EF4-FFF2-40B4-BE49-F238E27FC236}">
                <a16:creationId xmlns:a16="http://schemas.microsoft.com/office/drawing/2014/main" id="{DA53A35D-A7FC-46DF-8F17-CB2B929D87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2465" y="201756"/>
            <a:ext cx="1691985" cy="1691985"/>
          </a:xfrm>
          <a:prstGeom prst="rect">
            <a:avLst/>
          </a:prstGeom>
          <a:effectLst>
            <a:outerShdw blurRad="63500" dist="63500" sx="104000" sy="104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8C5984-85FD-4A7B-BC9D-CFD0ADC314BC}"/>
              </a:ext>
            </a:extLst>
          </p:cNvPr>
          <p:cNvSpPr txBox="1"/>
          <p:nvPr userDrawn="1"/>
        </p:nvSpPr>
        <p:spPr>
          <a:xfrm>
            <a:off x="400050" y="2297255"/>
            <a:ext cx="8092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1F1F1F"/>
                </a:solidFill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404072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Grey)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1"/>
            <a:ext cx="8743950" cy="1314450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7622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0"/>
            <a:ext cx="874395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2039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2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0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33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8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76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blipFill dpi="0" rotWithShape="1">
          <a:blip r:embed="rId2">
            <a:alphaModFix amt="24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D8FB24-47A5-44BC-AECD-0BC32C75DA0B}"/>
              </a:ext>
            </a:extLst>
          </p:cNvPr>
          <p:cNvSpPr/>
          <p:nvPr userDrawn="1"/>
        </p:nvSpPr>
        <p:spPr>
          <a:xfrm>
            <a:off x="548640" y="548640"/>
            <a:ext cx="8046720" cy="5760720"/>
          </a:xfrm>
          <a:prstGeom prst="roundRect">
            <a:avLst>
              <a:gd name="adj" fmla="val 6085"/>
            </a:avLst>
          </a:prstGeom>
          <a:solidFill>
            <a:srgbClr val="191919"/>
          </a:solidFill>
          <a:ln w="28575">
            <a:solidFill>
              <a:srgbClr val="ADF0D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ADF0D1"/>
                </a:solidFill>
              </a:rPr>
              <a:t>That’s all for now…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952D653F-880E-4704-B157-47A700D64B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0F10F3FB-B2E5-4042-8A74-C8150CE8F5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1C516898-262F-4C12-85F9-35D321590C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394B66A9-76CC-4130-959F-4495CE8CFE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859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34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53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85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EE634-6B37-4575-989D-67DDA194FFF3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6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6" r:id="rId3"/>
    <p:sldLayoutId id="2147483674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5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829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F5D201-13EE-4515-BCA8-C03A66FB0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understand rehashing,</a:t>
            </a:r>
          </a:p>
          <a:p>
            <a:pPr lvl="1"/>
            <a:r>
              <a:rPr lang="en-IN" dirty="0"/>
              <a:t>load factor.	</a:t>
            </a:r>
          </a:p>
          <a:p>
            <a:pPr marL="914400" lvl="1" indent="-457200"/>
            <a:endParaRPr lang="en-IN" dirty="0"/>
          </a:p>
          <a:p>
            <a:pPr marL="914400" lvl="1" indent="-457200"/>
            <a:endParaRPr lang="en-IN" dirty="0"/>
          </a:p>
          <a:p>
            <a:pPr marL="914400" lvl="1" indent="-457200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87DFED-79C6-45F1-801E-613D1FB5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</p:spTree>
    <p:extLst>
      <p:ext uri="{BB962C8B-B14F-4D97-AF65-F5344CB8AC3E}">
        <p14:creationId xmlns:p14="http://schemas.microsoft.com/office/powerpoint/2010/main" val="3896377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CB87BC-973A-4E62-A9AC-D15B9FA86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43050"/>
            <a:ext cx="8293784" cy="512445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It is process of re-calculating the hash code of already stored entries.</a:t>
            </a:r>
          </a:p>
          <a:p>
            <a:pPr algn="just"/>
            <a:r>
              <a:rPr lang="en-US" dirty="0"/>
              <a:t>The Hash table provides Constant time complexity of insertion and searching, provided the hash function is able to distribute the input load evenly. </a:t>
            </a:r>
          </a:p>
          <a:p>
            <a:pPr algn="just"/>
            <a:r>
              <a:rPr lang="en-US" dirty="0"/>
              <a:t>In case of Collision, the time complexity can go up to O(N) in the worst case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BEC352-F809-493D-AB4F-9B4BF3C2E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Rehashing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511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104969-1AB9-4973-AD3E-84CFA8BA7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43050"/>
            <a:ext cx="8350055" cy="5124450"/>
          </a:xfrm>
        </p:spPr>
        <p:txBody>
          <a:bodyPr/>
          <a:lstStyle/>
          <a:p>
            <a:pPr algn="just"/>
            <a:r>
              <a:rPr lang="en-US" dirty="0"/>
              <a:t>Rehashing of a hash map is done when the number of elements in the map reaches the maximum threshold value.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93DC5B-C726-4D99-AF64-12DB7D51D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Rehashing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834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AC8B10-089E-4F4E-9C74-7BFF66790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43050"/>
            <a:ext cx="8350055" cy="5124450"/>
          </a:xfrm>
        </p:spPr>
        <p:txBody>
          <a:bodyPr/>
          <a:lstStyle/>
          <a:p>
            <a:pPr algn="just"/>
            <a:r>
              <a:rPr lang="en-US" dirty="0"/>
              <a:t>When load factor increases to more then its predefined value, complexity increases.</a:t>
            </a:r>
          </a:p>
          <a:p>
            <a:pPr algn="just"/>
            <a:r>
              <a:rPr lang="en-US" dirty="0"/>
              <a:t>To overcome this problem, size of array is increased, and all the values are hashed again and stored in new double size array to maintain a low </a:t>
            </a:r>
            <a:r>
              <a:rPr lang="en-US" dirty="0">
                <a:solidFill>
                  <a:srgbClr val="C00000"/>
                </a:solidFill>
              </a:rPr>
              <a:t>load factor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complexity</a:t>
            </a:r>
            <a:r>
              <a:rPr lang="en-US" dirty="0"/>
              <a:t>. 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A727F4-5875-439B-9FD0-DDEEF87AD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Rehashing</a:t>
            </a:r>
          </a:p>
        </p:txBody>
      </p:sp>
    </p:spTree>
    <p:extLst>
      <p:ext uri="{BB962C8B-B14F-4D97-AF65-F5344CB8AC3E}">
        <p14:creationId xmlns:p14="http://schemas.microsoft.com/office/powerpoint/2010/main" val="1498547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11B7E1-5933-458C-BADE-C0E73DC1B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factor is number of element (n) divide by number of bucket (m).</a:t>
            </a:r>
          </a:p>
          <a:p>
            <a:r>
              <a:rPr lang="en-US" dirty="0"/>
              <a:t>Load factor (</a:t>
            </a:r>
            <a:r>
              <a:rPr lang="el-GR" dirty="0"/>
              <a:t> λ </a:t>
            </a:r>
            <a:r>
              <a:rPr lang="en-US" dirty="0"/>
              <a:t>) =n/m</a:t>
            </a:r>
          </a:p>
          <a:p>
            <a:r>
              <a:rPr lang="en-US" dirty="0"/>
              <a:t> </a:t>
            </a:r>
            <a:r>
              <a:rPr lang="el-GR" dirty="0"/>
              <a:t>λ</a:t>
            </a:r>
            <a:r>
              <a:rPr lang="en-US" dirty="0"/>
              <a:t> &lt; 1  i.e.  m&gt;n</a:t>
            </a:r>
          </a:p>
          <a:p>
            <a:r>
              <a:rPr lang="en-US" dirty="0"/>
              <a:t>if </a:t>
            </a:r>
            <a:r>
              <a:rPr lang="el-GR" dirty="0"/>
              <a:t>λ</a:t>
            </a:r>
            <a:r>
              <a:rPr lang="en-US" dirty="0"/>
              <a:t> &lt; 1 then no need to apply rehashing</a:t>
            </a:r>
          </a:p>
          <a:p>
            <a:r>
              <a:rPr lang="en-US" dirty="0"/>
              <a:t>if </a:t>
            </a:r>
            <a:r>
              <a:rPr lang="el-GR" dirty="0"/>
              <a:t>λ</a:t>
            </a:r>
            <a:r>
              <a:rPr lang="en-US" dirty="0"/>
              <a:t> &gt; 1 then we need to increase number of buckets</a:t>
            </a:r>
          </a:p>
          <a:p>
            <a:r>
              <a:rPr lang="en-US" dirty="0"/>
              <a:t>Increase in bucket size is known as rehashing.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46EE64-8D00-4DFA-A5DD-784C2B45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804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CB08F4-DED6-4893-817D-0B9F1D01E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-Increase number of buckets.</a:t>
            </a:r>
          </a:p>
          <a:p>
            <a:pPr marL="0" indent="0">
              <a:buNone/>
            </a:pPr>
            <a:r>
              <a:rPr lang="en-US" dirty="0"/>
              <a:t>-Modify hash function</a:t>
            </a:r>
            <a:endParaRPr lang="en-IN" dirty="0"/>
          </a:p>
          <a:p>
            <a:r>
              <a:rPr lang="en-IN" dirty="0"/>
              <a:t>Hash function before rehashing : </a:t>
            </a:r>
            <a:r>
              <a:rPr lang="en-IN" dirty="0">
                <a:solidFill>
                  <a:srgbClr val="0070C0"/>
                </a:solidFill>
              </a:rPr>
              <a:t>x mod m</a:t>
            </a:r>
          </a:p>
          <a:p>
            <a:pPr marL="0" indent="0">
              <a:buNone/>
            </a:pPr>
            <a:r>
              <a:rPr lang="en-IN" dirty="0"/>
              <a:t>	after rehashing </a:t>
            </a:r>
            <a:r>
              <a:rPr lang="en-IN" dirty="0">
                <a:solidFill>
                  <a:srgbClr val="00B050"/>
                </a:solidFill>
              </a:rPr>
              <a:t>x mod m’</a:t>
            </a:r>
          </a:p>
          <a:p>
            <a:pPr marL="0" indent="0">
              <a:buNone/>
            </a:pPr>
            <a:r>
              <a:rPr lang="en-IN" dirty="0"/>
              <a:t>-apply changed hash function to existing elements.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BB70F8-7193-4E06-A7E0-4E668B044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Rehashing steps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001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4D338A-4F96-4DB2-9119-0587C99B5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m’ = closet prime number of 2m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m=3 	 m’= 2(3) = 6</a:t>
            </a:r>
          </a:p>
          <a:p>
            <a:r>
              <a:rPr lang="en-US" dirty="0"/>
              <a:t>Closet prime number = 5 or 7.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53B313-510E-48C2-92D8-70900A48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m’ calculation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4572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1563" y="1"/>
            <a:ext cx="8872437" cy="1314450"/>
          </a:xfrm>
        </p:spPr>
        <p:txBody>
          <a:bodyPr/>
          <a:lstStyle/>
          <a:p>
            <a:r>
              <a:rPr lang="en-US" dirty="0"/>
              <a:t>Example: Rehashing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477305" y="3287362"/>
            <a:ext cx="322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 flipH="1">
            <a:off x="6443824" y="4158766"/>
            <a:ext cx="485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5199" y="3723064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9204" y="4674819"/>
            <a:ext cx="133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Hash table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25313" y="2845646"/>
            <a:ext cx="771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Index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1561" y="1662098"/>
            <a:ext cx="1848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h(x) = x mod 3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283" y="2538939"/>
            <a:ext cx="218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Elements: </a:t>
            </a:r>
            <a:r>
              <a:rPr lang="en-IN" b="1" dirty="0"/>
              <a:t>12, 13, 14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B0897D99-A941-43F4-BDB4-D020F4412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587073"/>
              </p:ext>
            </p:extLst>
          </p:nvPr>
        </p:nvGraphicFramePr>
        <p:xfrm>
          <a:off x="6955033" y="3391087"/>
          <a:ext cx="122896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8963">
                  <a:extLst>
                    <a:ext uri="{9D8B030D-6E8A-4147-A177-3AD203B41FA5}">
                      <a16:colId xmlns:a16="http://schemas.microsoft.com/office/drawing/2014/main" val="2027136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82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27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68616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2ECC680-80D1-4953-B325-330B5A879D56}"/>
              </a:ext>
            </a:extLst>
          </p:cNvPr>
          <p:cNvSpPr txBox="1"/>
          <p:nvPr/>
        </p:nvSpPr>
        <p:spPr>
          <a:xfrm>
            <a:off x="111284" y="3472563"/>
            <a:ext cx="1624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12 mod 3 = 0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26198C7-3940-4BF4-826F-7D64AAA2278F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1566537" y="3472028"/>
            <a:ext cx="4910768" cy="1846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4EE597-9E27-41EC-A654-CF8BB216787F}"/>
              </a:ext>
            </a:extLst>
          </p:cNvPr>
          <p:cNvSpPr txBox="1"/>
          <p:nvPr/>
        </p:nvSpPr>
        <p:spPr>
          <a:xfrm>
            <a:off x="111283" y="3933871"/>
            <a:ext cx="1624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13 mod 3 = 1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99EC4D-1876-468E-B17E-2C8E6C1FBE65}"/>
              </a:ext>
            </a:extLst>
          </p:cNvPr>
          <p:cNvSpPr txBox="1"/>
          <p:nvPr/>
        </p:nvSpPr>
        <p:spPr>
          <a:xfrm>
            <a:off x="111283" y="4406187"/>
            <a:ext cx="1624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14 mod 3 = 2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537593-77B3-46DB-A127-8D9E37AB0C95}"/>
              </a:ext>
            </a:extLst>
          </p:cNvPr>
          <p:cNvCxnSpPr>
            <a:cxnSpLocks/>
          </p:cNvCxnSpPr>
          <p:nvPr/>
        </p:nvCxnSpPr>
        <p:spPr>
          <a:xfrm flipV="1">
            <a:off x="1574797" y="3933869"/>
            <a:ext cx="4910768" cy="1846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BD99EA2-F497-4EA4-8AAB-E0543CB3388B}"/>
              </a:ext>
            </a:extLst>
          </p:cNvPr>
          <p:cNvCxnSpPr>
            <a:cxnSpLocks/>
          </p:cNvCxnSpPr>
          <p:nvPr/>
        </p:nvCxnSpPr>
        <p:spPr>
          <a:xfrm flipV="1">
            <a:off x="1533056" y="4399398"/>
            <a:ext cx="4910768" cy="1846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863B088-3977-46D1-919E-DFF85FAAA0E8}"/>
              </a:ext>
            </a:extLst>
          </p:cNvPr>
          <p:cNvSpPr txBox="1"/>
          <p:nvPr/>
        </p:nvSpPr>
        <p:spPr>
          <a:xfrm>
            <a:off x="74785" y="5099262"/>
            <a:ext cx="85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 = 3</a:t>
            </a:r>
            <a:endParaRPr lang="en-IN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6AEFE5-64A7-445A-898D-CD587CD455A5}"/>
              </a:ext>
            </a:extLst>
          </p:cNvPr>
          <p:cNvSpPr txBox="1"/>
          <p:nvPr/>
        </p:nvSpPr>
        <p:spPr>
          <a:xfrm>
            <a:off x="70792" y="5468594"/>
            <a:ext cx="1055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 = 3</a:t>
            </a:r>
            <a:endParaRPr lang="en-IN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66EEF6-9D26-40E2-B7A4-02F9B6B704FA}"/>
              </a:ext>
            </a:extLst>
          </p:cNvPr>
          <p:cNvSpPr txBox="1"/>
          <p:nvPr/>
        </p:nvSpPr>
        <p:spPr>
          <a:xfrm>
            <a:off x="70792" y="5848220"/>
            <a:ext cx="204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 factor (</a:t>
            </a:r>
            <a:r>
              <a:rPr lang="el-GR" dirty="0"/>
              <a:t>λ</a:t>
            </a:r>
            <a:r>
              <a:rPr lang="en-US" dirty="0"/>
              <a:t>)</a:t>
            </a:r>
            <a:r>
              <a:rPr lang="en-IN" dirty="0"/>
              <a:t> = 1</a:t>
            </a:r>
            <a:endParaRPr lang="en-IN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6DB1E0-CA94-472B-A333-C5EA6AE9C05F}"/>
              </a:ext>
            </a:extLst>
          </p:cNvPr>
          <p:cNvSpPr txBox="1"/>
          <p:nvPr/>
        </p:nvSpPr>
        <p:spPr>
          <a:xfrm>
            <a:off x="70792" y="6304002"/>
            <a:ext cx="5574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λ</a:t>
            </a:r>
            <a:r>
              <a:rPr lang="en-US" dirty="0"/>
              <a:t> is not less then 1 so need to perform rehashing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03907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C9BE73-C9ED-46F1-9C39-DBC8874AB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m’ = 2n</a:t>
            </a:r>
          </a:p>
          <a:p>
            <a:r>
              <a:rPr lang="en-US" dirty="0"/>
              <a:t>m’ = 2x3 =&gt; 6</a:t>
            </a:r>
          </a:p>
          <a:p>
            <a:r>
              <a:rPr lang="en-US" dirty="0"/>
              <a:t>Nearest prime numbers are 5 and 7</a:t>
            </a:r>
          </a:p>
          <a:p>
            <a:r>
              <a:rPr lang="en-US" dirty="0"/>
              <a:t>m’ = 7</a:t>
            </a:r>
          </a:p>
          <a:p>
            <a:r>
              <a:rPr lang="en-US" dirty="0"/>
              <a:t>x mod m’  =&gt; x mod 7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EA13FC-6FB4-4792-8516-BF0A759B2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Rehashing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6039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1563" y="1"/>
            <a:ext cx="8872437" cy="1314450"/>
          </a:xfrm>
        </p:spPr>
        <p:txBody>
          <a:bodyPr/>
          <a:lstStyle/>
          <a:p>
            <a:r>
              <a:rPr lang="en-US" dirty="0"/>
              <a:t>Example: Rehashing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477305" y="3287362"/>
            <a:ext cx="322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 flipH="1">
            <a:off x="6443824" y="4158766"/>
            <a:ext cx="485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5199" y="3723064"/>
            <a:ext cx="45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6616" y="6005667"/>
            <a:ext cx="133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Hash table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25313" y="2845646"/>
            <a:ext cx="771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Index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1561" y="1662098"/>
            <a:ext cx="1848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h(x) = x mod 7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283" y="2538939"/>
            <a:ext cx="218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Elements: </a:t>
            </a:r>
            <a:r>
              <a:rPr lang="en-IN" b="1" dirty="0"/>
              <a:t>12, 13, 14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B0897D99-A941-43F4-BDB4-D020F4412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667497"/>
              </p:ext>
            </p:extLst>
          </p:nvPr>
        </p:nvGraphicFramePr>
        <p:xfrm>
          <a:off x="6955033" y="3391087"/>
          <a:ext cx="122896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8963">
                  <a:extLst>
                    <a:ext uri="{9D8B030D-6E8A-4147-A177-3AD203B41FA5}">
                      <a16:colId xmlns:a16="http://schemas.microsoft.com/office/drawing/2014/main" val="2027136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82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27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686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342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082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218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53694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2ECC680-80D1-4953-B325-330B5A879D56}"/>
              </a:ext>
            </a:extLst>
          </p:cNvPr>
          <p:cNvSpPr txBox="1"/>
          <p:nvPr/>
        </p:nvSpPr>
        <p:spPr>
          <a:xfrm>
            <a:off x="111284" y="3472563"/>
            <a:ext cx="1624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12 mod 3 = 0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26198C7-3940-4BF4-826F-7D64AAA2278F}"/>
              </a:ext>
            </a:extLst>
          </p:cNvPr>
          <p:cNvCxnSpPr>
            <a:cxnSpLocks/>
            <a:endCxn id="22" idx="3"/>
          </p:cNvCxnSpPr>
          <p:nvPr/>
        </p:nvCxnSpPr>
        <p:spPr>
          <a:xfrm>
            <a:off x="1651287" y="3683629"/>
            <a:ext cx="4816876" cy="17404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4EE597-9E27-41EC-A654-CF8BB216787F}"/>
              </a:ext>
            </a:extLst>
          </p:cNvPr>
          <p:cNvSpPr txBox="1"/>
          <p:nvPr/>
        </p:nvSpPr>
        <p:spPr>
          <a:xfrm>
            <a:off x="111283" y="3933871"/>
            <a:ext cx="1624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13 mod 3 = 1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99EC4D-1876-468E-B17E-2C8E6C1FBE65}"/>
              </a:ext>
            </a:extLst>
          </p:cNvPr>
          <p:cNvSpPr txBox="1"/>
          <p:nvPr/>
        </p:nvSpPr>
        <p:spPr>
          <a:xfrm>
            <a:off x="111283" y="4406187"/>
            <a:ext cx="1624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14 mod 3 = 2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537593-77B3-46DB-A127-8D9E37AB0C95}"/>
              </a:ext>
            </a:extLst>
          </p:cNvPr>
          <p:cNvCxnSpPr>
            <a:cxnSpLocks/>
            <a:endCxn id="25" idx="3"/>
          </p:cNvCxnSpPr>
          <p:nvPr/>
        </p:nvCxnSpPr>
        <p:spPr>
          <a:xfrm>
            <a:off x="1574797" y="4118537"/>
            <a:ext cx="4893366" cy="17868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BD99EA2-F497-4EA4-8AAB-E0543CB3388B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1533056" y="3472028"/>
            <a:ext cx="4944249" cy="11120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863B088-3977-46D1-919E-DFF85FAAA0E8}"/>
              </a:ext>
            </a:extLst>
          </p:cNvPr>
          <p:cNvSpPr txBox="1"/>
          <p:nvPr/>
        </p:nvSpPr>
        <p:spPr>
          <a:xfrm>
            <a:off x="74785" y="5099262"/>
            <a:ext cx="85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 = 3</a:t>
            </a:r>
            <a:endParaRPr lang="en-IN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6AEFE5-64A7-445A-898D-CD587CD455A5}"/>
              </a:ext>
            </a:extLst>
          </p:cNvPr>
          <p:cNvSpPr txBox="1"/>
          <p:nvPr/>
        </p:nvSpPr>
        <p:spPr>
          <a:xfrm>
            <a:off x="70792" y="5468594"/>
            <a:ext cx="1055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m’ = 7</a:t>
            </a:r>
            <a:endParaRPr lang="en-IN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66EEF6-9D26-40E2-B7A4-02F9B6B704FA}"/>
              </a:ext>
            </a:extLst>
          </p:cNvPr>
          <p:cNvSpPr txBox="1"/>
          <p:nvPr/>
        </p:nvSpPr>
        <p:spPr>
          <a:xfrm>
            <a:off x="0" y="5848220"/>
            <a:ext cx="2570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 factor (</a:t>
            </a:r>
            <a:r>
              <a:rPr lang="el-GR" dirty="0"/>
              <a:t>λ</a:t>
            </a:r>
            <a:r>
              <a:rPr lang="en-US" dirty="0"/>
              <a:t>)</a:t>
            </a:r>
            <a:r>
              <a:rPr lang="en-IN" dirty="0"/>
              <a:t> = </a:t>
            </a:r>
            <a:r>
              <a:rPr lang="en-IN" b="1" dirty="0"/>
              <a:t>0.42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6DB1E0-CA94-472B-A333-C5EA6AE9C05F}"/>
              </a:ext>
            </a:extLst>
          </p:cNvPr>
          <p:cNvSpPr txBox="1"/>
          <p:nvPr/>
        </p:nvSpPr>
        <p:spPr>
          <a:xfrm>
            <a:off x="70792" y="6304002"/>
            <a:ext cx="325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 factor (</a:t>
            </a:r>
            <a:r>
              <a:rPr lang="el-GR" dirty="0"/>
              <a:t>λ</a:t>
            </a:r>
            <a:r>
              <a:rPr lang="en-US" dirty="0"/>
              <a:t>) is less then 1</a:t>
            </a:r>
            <a:endParaRPr lang="en-IN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98E2FF-2F8A-4ADD-AD9B-EBDAFF78DCA1}"/>
              </a:ext>
            </a:extLst>
          </p:cNvPr>
          <p:cNvSpPr txBox="1"/>
          <p:nvPr/>
        </p:nvSpPr>
        <p:spPr>
          <a:xfrm flipH="1">
            <a:off x="6461175" y="4855015"/>
            <a:ext cx="485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A76C60-C0B7-453C-848D-53405E635A6E}"/>
              </a:ext>
            </a:extLst>
          </p:cNvPr>
          <p:cNvSpPr txBox="1"/>
          <p:nvPr/>
        </p:nvSpPr>
        <p:spPr>
          <a:xfrm flipH="1">
            <a:off x="6468163" y="5240590"/>
            <a:ext cx="422387" cy="366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7C86D2-E1E8-4D3C-AACB-CF19ABC187B0}"/>
              </a:ext>
            </a:extLst>
          </p:cNvPr>
          <p:cNvSpPr txBox="1"/>
          <p:nvPr/>
        </p:nvSpPr>
        <p:spPr>
          <a:xfrm flipH="1">
            <a:off x="6468163" y="5720711"/>
            <a:ext cx="485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AE40C5-B587-4FB9-93ED-EF01DB9185BD}"/>
              </a:ext>
            </a:extLst>
          </p:cNvPr>
          <p:cNvSpPr txBox="1"/>
          <p:nvPr/>
        </p:nvSpPr>
        <p:spPr>
          <a:xfrm flipH="1">
            <a:off x="6456739" y="4520542"/>
            <a:ext cx="485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2191933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230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4503</TotalTime>
  <Words>457</Words>
  <Application>Microsoft Office PowerPoint</Application>
  <PresentationFormat>On-screen Show (4:3)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Bahnschrift</vt:lpstr>
      <vt:lpstr>Bahnschrift SemiBold</vt:lpstr>
      <vt:lpstr>Office Theme</vt:lpstr>
      <vt:lpstr>PowerPoint Presentation</vt:lpstr>
      <vt:lpstr>Learning Outcomes</vt:lpstr>
      <vt:lpstr>Rehashing </vt:lpstr>
      <vt:lpstr>Rehashing</vt:lpstr>
      <vt:lpstr>Rehashing</vt:lpstr>
      <vt:lpstr>Load factor </vt:lpstr>
      <vt:lpstr>Rehashing steps</vt:lpstr>
      <vt:lpstr>m’ calculation</vt:lpstr>
      <vt:lpstr>Example: Rehashing</vt:lpstr>
      <vt:lpstr>Example: Rehashing</vt:lpstr>
      <vt:lpstr>Example: Rehashing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recording2</cp:lastModifiedBy>
  <cp:revision>365</cp:revision>
  <dcterms:created xsi:type="dcterms:W3CDTF">2020-12-02T15:29:53Z</dcterms:created>
  <dcterms:modified xsi:type="dcterms:W3CDTF">2021-12-13T08:08:21Z</dcterms:modified>
</cp:coreProperties>
</file>