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357" r:id="rId4"/>
    <p:sldId id="358" r:id="rId5"/>
    <p:sldId id="359" r:id="rId6"/>
    <p:sldId id="360" r:id="rId7"/>
    <p:sldId id="361" r:id="rId8"/>
    <p:sldId id="362" r:id="rId9"/>
    <p:sldId id="363" r:id="rId10"/>
    <p:sldId id="364" r:id="rId11"/>
    <p:sldId id="365" r:id="rId12"/>
    <p:sldId id="366" r:id="rId13"/>
    <p:sldId id="367" r:id="rId14"/>
    <p:sldId id="368" r:id="rId15"/>
    <p:sldId id="369" r:id="rId16"/>
    <p:sldId id="370" r:id="rId17"/>
    <p:sldId id="371" r:id="rId18"/>
    <p:sldId id="259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F1F1F"/>
    <a:srgbClr val="7CAAF1"/>
    <a:srgbClr val="2C2C2C"/>
    <a:srgbClr val="191919"/>
    <a:srgbClr val="636973"/>
    <a:srgbClr val="999999"/>
    <a:srgbClr val="C2C2C2"/>
    <a:srgbClr val="00203F"/>
    <a:srgbClr val="ADF0D1"/>
    <a:srgbClr val="DD5C3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632" autoAdjust="0"/>
    <p:restoredTop sz="94660"/>
  </p:normalViewPr>
  <p:slideViewPr>
    <p:cSldViewPr snapToGrid="0">
      <p:cViewPr varScale="1">
        <p:scale>
          <a:sx n="79" d="100"/>
          <a:sy n="79" d="100"/>
        </p:scale>
        <p:origin x="1541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EFDCE79-4E29-402C-B477-B11C4D011CD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grayscl/>
            <a:alphaModFix amt="90000"/>
          </a:blip>
          <a:stretch>
            <a:fillRect/>
          </a:stretch>
        </p:blipFill>
        <p:spPr>
          <a:xfrm>
            <a:off x="0" y="-1"/>
            <a:ext cx="9144000" cy="68580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5992F9EE-5066-4DC7-9A8B-A0704FB56E63}"/>
              </a:ext>
            </a:extLst>
          </p:cNvPr>
          <p:cNvSpPr/>
          <p:nvPr userDrawn="1"/>
        </p:nvSpPr>
        <p:spPr>
          <a:xfrm>
            <a:off x="0" y="1440872"/>
            <a:ext cx="9144000" cy="3976255"/>
          </a:xfrm>
          <a:prstGeom prst="rect">
            <a:avLst/>
          </a:prstGeom>
          <a:solidFill>
            <a:srgbClr val="2C2C2C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9451063-0A73-407E-9285-9A6C27FF3658}"/>
              </a:ext>
            </a:extLst>
          </p:cNvPr>
          <p:cNvSpPr txBox="1"/>
          <p:nvPr userDrawn="1"/>
        </p:nvSpPr>
        <p:spPr>
          <a:xfrm>
            <a:off x="318655" y="1551705"/>
            <a:ext cx="525087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96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ECAP770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1D37EDC-9BA2-4106-A0D1-49964EF39471}"/>
              </a:ext>
            </a:extLst>
          </p:cNvPr>
          <p:cNvSpPr txBox="1"/>
          <p:nvPr userDrawn="1"/>
        </p:nvSpPr>
        <p:spPr>
          <a:xfrm>
            <a:off x="263235" y="2970116"/>
            <a:ext cx="534785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600" cap="small" baseline="0" dirty="0">
                <a:solidFill>
                  <a:schemeClr val="bg1"/>
                </a:solidFill>
              </a:rPr>
              <a:t>Advance Data Structures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6C59E63-B3F3-40A8-A422-69AB2D35C404}"/>
              </a:ext>
            </a:extLst>
          </p:cNvPr>
          <p:cNvCxnSpPr>
            <a:cxnSpLocks/>
          </p:cNvCxnSpPr>
          <p:nvPr userDrawn="1"/>
        </p:nvCxnSpPr>
        <p:spPr>
          <a:xfrm>
            <a:off x="318655" y="3782289"/>
            <a:ext cx="5347855" cy="0"/>
          </a:xfrm>
          <a:prstGeom prst="line">
            <a:avLst/>
          </a:prstGeom>
          <a:ln w="31750">
            <a:solidFill>
              <a:schemeClr val="bg1">
                <a:alpha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403F2AB1-044B-42E4-8A81-97A7A2FE5418}"/>
              </a:ext>
            </a:extLst>
          </p:cNvPr>
          <p:cNvSpPr txBox="1"/>
          <p:nvPr userDrawn="1"/>
        </p:nvSpPr>
        <p:spPr>
          <a:xfrm>
            <a:off x="5999019" y="4563687"/>
            <a:ext cx="28263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Ashwani Kumar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4979311-FF32-46BF-9637-46454C71F372}"/>
              </a:ext>
            </a:extLst>
          </p:cNvPr>
          <p:cNvSpPr txBox="1"/>
          <p:nvPr userDrawn="1"/>
        </p:nvSpPr>
        <p:spPr>
          <a:xfrm>
            <a:off x="6044739" y="5039622"/>
            <a:ext cx="28263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Assistant Professor</a:t>
            </a:r>
          </a:p>
        </p:txBody>
      </p:sp>
    </p:spTree>
    <p:extLst>
      <p:ext uri="{BB962C8B-B14F-4D97-AF65-F5344CB8AC3E}">
        <p14:creationId xmlns:p14="http://schemas.microsoft.com/office/powerpoint/2010/main" val="21081352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earning Outcome">
    <p:bg>
      <p:bgPr>
        <a:blipFill dpi="0" rotWithShape="1">
          <a:blip r:embed="rId2">
            <a:alphaModFix amt="15000"/>
            <a:lum/>
          </a:blip>
          <a:srcRect/>
          <a:stretch>
            <a:fillRect l="-17000" r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00050" y="2840182"/>
            <a:ext cx="8534400" cy="3827317"/>
          </a:xfrm>
        </p:spPr>
        <p:txBody>
          <a:bodyPr/>
          <a:lstStyle>
            <a:lvl1pPr>
              <a:lnSpc>
                <a:spcPct val="150000"/>
              </a:lnSpc>
              <a:buClr>
                <a:srgbClr val="FF0066"/>
              </a:buClr>
              <a:buFont typeface="Arial" panose="020B0604020202020204" pitchFamily="34" charset="0"/>
              <a:buNone/>
              <a:defRPr>
                <a:solidFill>
                  <a:srgbClr val="00203F"/>
                </a:solidFill>
              </a:defRPr>
            </a:lvl1pPr>
            <a:lvl2pPr>
              <a:lnSpc>
                <a:spcPct val="150000"/>
              </a:lnSpc>
              <a:buClr>
                <a:srgbClr val="FF0066"/>
              </a:buClr>
              <a:defRPr sz="2800"/>
            </a:lvl2pPr>
            <a:lvl3pPr>
              <a:buClr>
                <a:srgbClr val="FF0066"/>
              </a:buClr>
              <a:defRPr/>
            </a:lvl3pPr>
            <a:lvl4pPr>
              <a:buClr>
                <a:srgbClr val="FF0066"/>
              </a:buClr>
              <a:defRPr/>
            </a:lvl4pPr>
            <a:lvl5pPr>
              <a:buClr>
                <a:srgbClr val="FF0066"/>
              </a:buClr>
              <a:defRPr/>
            </a:lvl5pPr>
          </a:lstStyle>
          <a:p>
            <a:pPr lvl="1"/>
            <a:r>
              <a:rPr lang="en-US" dirty="0"/>
              <a:t>outcome 1</a:t>
            </a:r>
          </a:p>
          <a:p>
            <a:pPr lvl="1"/>
            <a:r>
              <a:rPr lang="en-US" dirty="0"/>
              <a:t>outcome 2</a:t>
            </a:r>
          </a:p>
          <a:p>
            <a:pPr lvl="1"/>
            <a:r>
              <a:rPr lang="en-US" dirty="0"/>
              <a:t>outcome 3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E90D9AD-C954-4C2B-885A-E0CD61FABCA7}"/>
              </a:ext>
            </a:extLst>
          </p:cNvPr>
          <p:cNvSpPr/>
          <p:nvPr userDrawn="1"/>
        </p:nvSpPr>
        <p:spPr>
          <a:xfrm>
            <a:off x="0" y="0"/>
            <a:ext cx="9144000" cy="2095499"/>
          </a:xfrm>
          <a:prstGeom prst="rect">
            <a:avLst/>
          </a:prstGeom>
          <a:gradFill flip="none" rotWithShape="1">
            <a:gsLst>
              <a:gs pos="76000">
                <a:srgbClr val="636973"/>
              </a:gs>
              <a:gs pos="25000">
                <a:srgbClr val="2C2C2C"/>
              </a:gs>
              <a:gs pos="100000">
                <a:srgbClr val="999999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00050" y="0"/>
            <a:ext cx="8743950" cy="2095499"/>
          </a:xfrm>
        </p:spPr>
        <p:txBody>
          <a:bodyPr>
            <a:normAutofit/>
          </a:bodyPr>
          <a:lstStyle>
            <a:lvl1pPr>
              <a:defRPr sz="4400">
                <a:solidFill>
                  <a:srgbClr val="ADF0D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 dirty="0"/>
              <a:t>Learning</a:t>
            </a:r>
            <a:br>
              <a:rPr lang="en-US" dirty="0"/>
            </a:br>
            <a:r>
              <a:rPr lang="en-US" dirty="0"/>
              <a:t>Outcome</a:t>
            </a:r>
          </a:p>
        </p:txBody>
      </p:sp>
      <p:pic>
        <p:nvPicPr>
          <p:cNvPr id="13" name="Graphic 12" descr="Bullseye with solid fill">
            <a:extLst>
              <a:ext uri="{FF2B5EF4-FFF2-40B4-BE49-F238E27FC236}">
                <a16:creationId xmlns:a16="http://schemas.microsoft.com/office/drawing/2014/main" id="{DA53A35D-A7FC-46DF-8F17-CB2B929D870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242465" y="201756"/>
            <a:ext cx="1691985" cy="1691985"/>
          </a:xfrm>
          <a:prstGeom prst="rect">
            <a:avLst/>
          </a:prstGeom>
          <a:effectLst>
            <a:outerShdw blurRad="63500" dist="63500" sx="104000" sy="104000" algn="ctr" rotWithShape="0">
              <a:prstClr val="black">
                <a:alpha val="40000"/>
              </a:prstClr>
            </a:outerShdw>
          </a:effec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28C5984-85FD-4A7B-BC9D-CFD0ADC314BC}"/>
              </a:ext>
            </a:extLst>
          </p:cNvPr>
          <p:cNvSpPr txBox="1"/>
          <p:nvPr userDrawn="1"/>
        </p:nvSpPr>
        <p:spPr>
          <a:xfrm>
            <a:off x="400050" y="2297255"/>
            <a:ext cx="809278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sz="2800" dirty="0">
                <a:solidFill>
                  <a:srgbClr val="1F1F1F"/>
                </a:solidFill>
              </a:rPr>
              <a:t>After this lecture, you will be able to</a:t>
            </a:r>
          </a:p>
        </p:txBody>
      </p:sp>
    </p:spTree>
    <p:extLst>
      <p:ext uri="{BB962C8B-B14F-4D97-AF65-F5344CB8AC3E}">
        <p14:creationId xmlns:p14="http://schemas.microsoft.com/office/powerpoint/2010/main" val="40407266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 (Grey)">
    <p:bg>
      <p:bgPr>
        <a:blipFill dpi="0" rotWithShape="1">
          <a:blip r:embed="rId2">
            <a:alphaModFix amt="15000"/>
            <a:lum/>
          </a:blip>
          <a:srcRect/>
          <a:stretch>
            <a:fillRect l="-17000" r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0050" y="1543050"/>
            <a:ext cx="8534400" cy="5124450"/>
          </a:xfrm>
        </p:spPr>
        <p:txBody>
          <a:bodyPr/>
          <a:lstStyle>
            <a:lvl1pPr>
              <a:lnSpc>
                <a:spcPct val="150000"/>
              </a:lnSpc>
              <a:buClr>
                <a:srgbClr val="FF0066"/>
              </a:buClr>
              <a:defRPr/>
            </a:lvl1pPr>
            <a:lvl2pPr>
              <a:lnSpc>
                <a:spcPct val="150000"/>
              </a:lnSpc>
              <a:buClr>
                <a:srgbClr val="FF0066"/>
              </a:buClr>
              <a:defRPr/>
            </a:lvl2pPr>
            <a:lvl3pPr>
              <a:lnSpc>
                <a:spcPct val="150000"/>
              </a:lnSpc>
              <a:buClr>
                <a:srgbClr val="FF0066"/>
              </a:buClr>
              <a:defRPr/>
            </a:lvl3pPr>
            <a:lvl4pPr>
              <a:lnSpc>
                <a:spcPct val="150000"/>
              </a:lnSpc>
              <a:buClr>
                <a:srgbClr val="FF0066"/>
              </a:buClr>
              <a:defRPr/>
            </a:lvl4pPr>
            <a:lvl5pPr>
              <a:lnSpc>
                <a:spcPct val="150000"/>
              </a:lnSpc>
              <a:buClr>
                <a:srgbClr val="FF0066"/>
              </a:buCl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E90D9AD-C954-4C2B-885A-E0CD61FABCA7}"/>
              </a:ext>
            </a:extLst>
          </p:cNvPr>
          <p:cNvSpPr/>
          <p:nvPr userDrawn="1"/>
        </p:nvSpPr>
        <p:spPr>
          <a:xfrm>
            <a:off x="0" y="0"/>
            <a:ext cx="9144000" cy="1325562"/>
          </a:xfrm>
          <a:prstGeom prst="rect">
            <a:avLst/>
          </a:prstGeom>
          <a:solidFill>
            <a:srgbClr val="2C2C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0050" y="1"/>
            <a:ext cx="8743950" cy="1314450"/>
          </a:xfrm>
        </p:spPr>
        <p:txBody>
          <a:bodyPr>
            <a:normAutofit/>
          </a:bodyPr>
          <a:lstStyle>
            <a:lvl1pPr>
              <a:defRPr sz="4000">
                <a:solidFill>
                  <a:srgbClr val="ADF0D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7976220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3_Title and Content (Whit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0050" y="1543050"/>
            <a:ext cx="8534400" cy="5124450"/>
          </a:xfrm>
        </p:spPr>
        <p:txBody>
          <a:bodyPr/>
          <a:lstStyle>
            <a:lvl1pPr>
              <a:lnSpc>
                <a:spcPct val="150000"/>
              </a:lnSpc>
              <a:buClr>
                <a:srgbClr val="FF0066"/>
              </a:buClr>
              <a:defRPr/>
            </a:lvl1pPr>
            <a:lvl2pPr>
              <a:lnSpc>
                <a:spcPct val="150000"/>
              </a:lnSpc>
              <a:buClr>
                <a:srgbClr val="FF0066"/>
              </a:buClr>
              <a:defRPr/>
            </a:lvl2pPr>
            <a:lvl3pPr>
              <a:lnSpc>
                <a:spcPct val="150000"/>
              </a:lnSpc>
              <a:buClr>
                <a:srgbClr val="FF0066"/>
              </a:buClr>
              <a:defRPr/>
            </a:lvl3pPr>
            <a:lvl4pPr>
              <a:lnSpc>
                <a:spcPct val="150000"/>
              </a:lnSpc>
              <a:buClr>
                <a:srgbClr val="FF0066"/>
              </a:buClr>
              <a:defRPr/>
            </a:lvl4pPr>
            <a:lvl5pPr>
              <a:lnSpc>
                <a:spcPct val="150000"/>
              </a:lnSpc>
              <a:buClr>
                <a:srgbClr val="FF0066"/>
              </a:buCl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E90D9AD-C954-4C2B-885A-E0CD61FABCA7}"/>
              </a:ext>
            </a:extLst>
          </p:cNvPr>
          <p:cNvSpPr/>
          <p:nvPr userDrawn="1"/>
        </p:nvSpPr>
        <p:spPr>
          <a:xfrm>
            <a:off x="0" y="0"/>
            <a:ext cx="9144000" cy="1325562"/>
          </a:xfrm>
          <a:prstGeom prst="rect">
            <a:avLst/>
          </a:prstGeom>
          <a:solidFill>
            <a:srgbClr val="2C2C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0050" y="0"/>
            <a:ext cx="8743950" cy="1325563"/>
          </a:xfrm>
        </p:spPr>
        <p:txBody>
          <a:bodyPr>
            <a:normAutofit/>
          </a:bodyPr>
          <a:lstStyle>
            <a:lvl1pPr>
              <a:defRPr sz="4000">
                <a:solidFill>
                  <a:srgbClr val="ADF0D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2120395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EE634-6B37-4575-989D-67DDA194FFF3}" type="datetimeFigureOut">
              <a:rPr lang="en-US" smtClean="0"/>
              <a:t>11/13/2021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EAAA1-D3CF-4C53-8B5F-CDA826E878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77230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EE634-6B37-4575-989D-67DDA194FFF3}" type="datetimeFigureOut">
              <a:rPr lang="en-US" smtClean="0"/>
              <a:t>11/13/2021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EAAA1-D3CF-4C53-8B5F-CDA826E878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7004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EE634-6B37-4575-989D-67DDA194FFF3}" type="datetimeFigureOut">
              <a:rPr lang="en-US" smtClean="0"/>
              <a:t>11/13/2021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EAAA1-D3CF-4C53-8B5F-CDA826E878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39333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EE634-6B37-4575-989D-67DDA194FFF3}" type="datetimeFigureOut">
              <a:rPr lang="en-US" smtClean="0"/>
              <a:t>11/13/2021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EAAA1-D3CF-4C53-8B5F-CDA826E878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76835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EE634-6B37-4575-989D-67DDA194FFF3}" type="datetimeFigureOut">
              <a:rPr lang="en-US" smtClean="0"/>
              <a:t>11/13/2021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EAAA1-D3CF-4C53-8B5F-CDA826E878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72760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hank you">
    <p:bg>
      <p:bgPr>
        <a:blipFill dpi="0" rotWithShape="1">
          <a:blip r:embed="rId2">
            <a:alphaModFix amt="24000"/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10D8FB24-47A5-44BC-AECD-0BC32C75DA0B}"/>
              </a:ext>
            </a:extLst>
          </p:cNvPr>
          <p:cNvSpPr/>
          <p:nvPr userDrawn="1"/>
        </p:nvSpPr>
        <p:spPr>
          <a:xfrm>
            <a:off x="548640" y="548640"/>
            <a:ext cx="8046720" cy="5760720"/>
          </a:xfrm>
          <a:prstGeom prst="roundRect">
            <a:avLst>
              <a:gd name="adj" fmla="val 6085"/>
            </a:avLst>
          </a:prstGeom>
          <a:solidFill>
            <a:srgbClr val="191919"/>
          </a:solidFill>
          <a:ln w="28575">
            <a:solidFill>
              <a:srgbClr val="ADF0D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dirty="0">
                <a:solidFill>
                  <a:srgbClr val="ADF0D1"/>
                </a:solidFill>
              </a:rPr>
              <a:t>That’s all for now…</a:t>
            </a:r>
          </a:p>
        </p:txBody>
      </p:sp>
      <p:pic>
        <p:nvPicPr>
          <p:cNvPr id="10" name="Picture 9" descr="Icon&#10;&#10;Description automatically generated">
            <a:extLst>
              <a:ext uri="{FF2B5EF4-FFF2-40B4-BE49-F238E27FC236}">
                <a16:creationId xmlns:a16="http://schemas.microsoft.com/office/drawing/2014/main" id="{952D653F-880E-4704-B157-47A700D64B0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925" t="9932" r="13734" b="18474"/>
          <a:stretch>
            <a:fillRect/>
          </a:stretch>
        </p:blipFill>
        <p:spPr>
          <a:xfrm>
            <a:off x="790332" y="790379"/>
            <a:ext cx="228600" cy="228600"/>
          </a:xfrm>
          <a:custGeom>
            <a:avLst/>
            <a:gdLst>
              <a:gd name="connsiteX0" fmla="*/ 722434 w 1444868"/>
              <a:gd name="connsiteY0" fmla="*/ 0 h 1444868"/>
              <a:gd name="connsiteX1" fmla="*/ 1444868 w 1444868"/>
              <a:gd name="connsiteY1" fmla="*/ 722434 h 1444868"/>
              <a:gd name="connsiteX2" fmla="*/ 722434 w 1444868"/>
              <a:gd name="connsiteY2" fmla="*/ 1444868 h 1444868"/>
              <a:gd name="connsiteX3" fmla="*/ 0 w 1444868"/>
              <a:gd name="connsiteY3" fmla="*/ 722434 h 1444868"/>
              <a:gd name="connsiteX4" fmla="*/ 722434 w 1444868"/>
              <a:gd name="connsiteY4" fmla="*/ 0 h 14448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44868" h="1444868">
                <a:moveTo>
                  <a:pt x="722434" y="0"/>
                </a:moveTo>
                <a:cubicBezTo>
                  <a:pt x="1121423" y="0"/>
                  <a:pt x="1444868" y="323445"/>
                  <a:pt x="1444868" y="722434"/>
                </a:cubicBezTo>
                <a:cubicBezTo>
                  <a:pt x="1444868" y="1121423"/>
                  <a:pt x="1121423" y="1444868"/>
                  <a:pt x="722434" y="1444868"/>
                </a:cubicBezTo>
                <a:cubicBezTo>
                  <a:pt x="323445" y="1444868"/>
                  <a:pt x="0" y="1121423"/>
                  <a:pt x="0" y="722434"/>
                </a:cubicBezTo>
                <a:cubicBezTo>
                  <a:pt x="0" y="323445"/>
                  <a:pt x="323445" y="0"/>
                  <a:pt x="722434" y="0"/>
                </a:cubicBezTo>
                <a:close/>
              </a:path>
            </a:pathLst>
          </a:cu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11" name="Picture 10" descr="Icon&#10;&#10;Description automatically generated">
            <a:extLst>
              <a:ext uri="{FF2B5EF4-FFF2-40B4-BE49-F238E27FC236}">
                <a16:creationId xmlns:a16="http://schemas.microsoft.com/office/drawing/2014/main" id="{0F10F3FB-B2E5-4042-8A74-C8150CE8F5F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925" t="9932" r="13734" b="18474"/>
          <a:stretch>
            <a:fillRect/>
          </a:stretch>
        </p:blipFill>
        <p:spPr>
          <a:xfrm>
            <a:off x="8125068" y="790379"/>
            <a:ext cx="228600" cy="228600"/>
          </a:xfrm>
          <a:custGeom>
            <a:avLst/>
            <a:gdLst>
              <a:gd name="connsiteX0" fmla="*/ 722434 w 1444868"/>
              <a:gd name="connsiteY0" fmla="*/ 0 h 1444868"/>
              <a:gd name="connsiteX1" fmla="*/ 1444868 w 1444868"/>
              <a:gd name="connsiteY1" fmla="*/ 722434 h 1444868"/>
              <a:gd name="connsiteX2" fmla="*/ 722434 w 1444868"/>
              <a:gd name="connsiteY2" fmla="*/ 1444868 h 1444868"/>
              <a:gd name="connsiteX3" fmla="*/ 0 w 1444868"/>
              <a:gd name="connsiteY3" fmla="*/ 722434 h 1444868"/>
              <a:gd name="connsiteX4" fmla="*/ 722434 w 1444868"/>
              <a:gd name="connsiteY4" fmla="*/ 0 h 14448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44868" h="1444868">
                <a:moveTo>
                  <a:pt x="722434" y="0"/>
                </a:moveTo>
                <a:cubicBezTo>
                  <a:pt x="1121423" y="0"/>
                  <a:pt x="1444868" y="323445"/>
                  <a:pt x="1444868" y="722434"/>
                </a:cubicBezTo>
                <a:cubicBezTo>
                  <a:pt x="1444868" y="1121423"/>
                  <a:pt x="1121423" y="1444868"/>
                  <a:pt x="722434" y="1444868"/>
                </a:cubicBezTo>
                <a:cubicBezTo>
                  <a:pt x="323445" y="1444868"/>
                  <a:pt x="0" y="1121423"/>
                  <a:pt x="0" y="722434"/>
                </a:cubicBezTo>
                <a:cubicBezTo>
                  <a:pt x="0" y="323445"/>
                  <a:pt x="323445" y="0"/>
                  <a:pt x="722434" y="0"/>
                </a:cubicBezTo>
                <a:close/>
              </a:path>
            </a:pathLst>
          </a:cu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12" name="Picture 11" descr="Icon&#10;&#10;Description automatically generated">
            <a:extLst>
              <a:ext uri="{FF2B5EF4-FFF2-40B4-BE49-F238E27FC236}">
                <a16:creationId xmlns:a16="http://schemas.microsoft.com/office/drawing/2014/main" id="{1C516898-262F-4C12-85F9-35D321590CE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925" t="9932" r="13734" b="18474"/>
          <a:stretch>
            <a:fillRect/>
          </a:stretch>
        </p:blipFill>
        <p:spPr>
          <a:xfrm>
            <a:off x="790332" y="5839460"/>
            <a:ext cx="228600" cy="228600"/>
          </a:xfrm>
          <a:custGeom>
            <a:avLst/>
            <a:gdLst>
              <a:gd name="connsiteX0" fmla="*/ 722434 w 1444868"/>
              <a:gd name="connsiteY0" fmla="*/ 0 h 1444868"/>
              <a:gd name="connsiteX1" fmla="*/ 1444868 w 1444868"/>
              <a:gd name="connsiteY1" fmla="*/ 722434 h 1444868"/>
              <a:gd name="connsiteX2" fmla="*/ 722434 w 1444868"/>
              <a:gd name="connsiteY2" fmla="*/ 1444868 h 1444868"/>
              <a:gd name="connsiteX3" fmla="*/ 0 w 1444868"/>
              <a:gd name="connsiteY3" fmla="*/ 722434 h 1444868"/>
              <a:gd name="connsiteX4" fmla="*/ 722434 w 1444868"/>
              <a:gd name="connsiteY4" fmla="*/ 0 h 14448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44868" h="1444868">
                <a:moveTo>
                  <a:pt x="722434" y="0"/>
                </a:moveTo>
                <a:cubicBezTo>
                  <a:pt x="1121423" y="0"/>
                  <a:pt x="1444868" y="323445"/>
                  <a:pt x="1444868" y="722434"/>
                </a:cubicBezTo>
                <a:cubicBezTo>
                  <a:pt x="1444868" y="1121423"/>
                  <a:pt x="1121423" y="1444868"/>
                  <a:pt x="722434" y="1444868"/>
                </a:cubicBezTo>
                <a:cubicBezTo>
                  <a:pt x="323445" y="1444868"/>
                  <a:pt x="0" y="1121423"/>
                  <a:pt x="0" y="722434"/>
                </a:cubicBezTo>
                <a:cubicBezTo>
                  <a:pt x="0" y="323445"/>
                  <a:pt x="323445" y="0"/>
                  <a:pt x="722434" y="0"/>
                </a:cubicBezTo>
                <a:close/>
              </a:path>
            </a:pathLst>
          </a:cu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13" name="Picture 12" descr="Icon&#10;&#10;Description automatically generated">
            <a:extLst>
              <a:ext uri="{FF2B5EF4-FFF2-40B4-BE49-F238E27FC236}">
                <a16:creationId xmlns:a16="http://schemas.microsoft.com/office/drawing/2014/main" id="{394B66A9-76CC-4130-959F-4495CE8CFE2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925" t="9932" r="13734" b="18474"/>
          <a:stretch>
            <a:fillRect/>
          </a:stretch>
        </p:blipFill>
        <p:spPr>
          <a:xfrm>
            <a:off x="8125068" y="5839460"/>
            <a:ext cx="228600" cy="228600"/>
          </a:xfrm>
          <a:custGeom>
            <a:avLst/>
            <a:gdLst>
              <a:gd name="connsiteX0" fmla="*/ 722434 w 1444868"/>
              <a:gd name="connsiteY0" fmla="*/ 0 h 1444868"/>
              <a:gd name="connsiteX1" fmla="*/ 1444868 w 1444868"/>
              <a:gd name="connsiteY1" fmla="*/ 722434 h 1444868"/>
              <a:gd name="connsiteX2" fmla="*/ 722434 w 1444868"/>
              <a:gd name="connsiteY2" fmla="*/ 1444868 h 1444868"/>
              <a:gd name="connsiteX3" fmla="*/ 0 w 1444868"/>
              <a:gd name="connsiteY3" fmla="*/ 722434 h 1444868"/>
              <a:gd name="connsiteX4" fmla="*/ 722434 w 1444868"/>
              <a:gd name="connsiteY4" fmla="*/ 0 h 14448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44868" h="1444868">
                <a:moveTo>
                  <a:pt x="722434" y="0"/>
                </a:moveTo>
                <a:cubicBezTo>
                  <a:pt x="1121423" y="0"/>
                  <a:pt x="1444868" y="323445"/>
                  <a:pt x="1444868" y="722434"/>
                </a:cubicBezTo>
                <a:cubicBezTo>
                  <a:pt x="1444868" y="1121423"/>
                  <a:pt x="1121423" y="1444868"/>
                  <a:pt x="722434" y="1444868"/>
                </a:cubicBezTo>
                <a:cubicBezTo>
                  <a:pt x="323445" y="1444868"/>
                  <a:pt x="0" y="1121423"/>
                  <a:pt x="0" y="722434"/>
                </a:cubicBezTo>
                <a:cubicBezTo>
                  <a:pt x="0" y="323445"/>
                  <a:pt x="323445" y="0"/>
                  <a:pt x="722434" y="0"/>
                </a:cubicBezTo>
                <a:close/>
              </a:path>
            </a:pathLst>
          </a:cu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7285979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EE634-6B37-4575-989D-67DDA194FFF3}" type="datetimeFigureOut">
              <a:rPr lang="en-US" smtClean="0"/>
              <a:t>11/13/2021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EAAA1-D3CF-4C53-8B5F-CDA826E878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483475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 err="1"/>
              <a:t>ClicX</a:t>
            </a:r>
            <a:r>
              <a:rPr lang="en-US" dirty="0"/>
              <a:t>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EE634-6B37-4575-989D-67DDA194FFF3}" type="datetimeFigureOut">
              <a:rPr lang="en-US" smtClean="0"/>
              <a:t>11/13/2021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EAAA1-D3CF-4C53-8B5F-CDA826E878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045316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EE634-6B37-4575-989D-67DDA194FFF3}" type="datetimeFigureOut">
              <a:rPr lang="en-US" smtClean="0"/>
              <a:t>11/13/2021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EAAA1-D3CF-4C53-8B5F-CDA826E878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378522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EE634-6B37-4575-989D-67DDA194FFF3}" type="datetimeFigureOut">
              <a:rPr lang="en-US" smtClean="0"/>
              <a:t>11/13/2021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EAAA1-D3CF-4C53-8B5F-CDA826E878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364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1EE634-6B37-4575-989D-67DDA194FFF3}" type="datetimeFigureOut">
              <a:rPr lang="en-US" smtClean="0"/>
              <a:t>11/13/2021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EEAAA1-D3CF-4C53-8B5F-CDA826E878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21635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76" r:id="rId3"/>
    <p:sldLayoutId id="2147483674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75" r:id="rId10"/>
    <p:sldLayoutId id="2147483668" r:id="rId11"/>
    <p:sldLayoutId id="2147483669" r:id="rId12"/>
    <p:sldLayoutId id="2147483670" r:id="rId13"/>
    <p:sldLayoutId id="2147483671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428297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1F5D201-13EE-4515-BCA8-C03A66FB0E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914400" lvl="1" indent="-457200"/>
            <a:r>
              <a:rPr lang="en-IN" dirty="0"/>
              <a:t>Understand spanning trees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287DFED-79C6-45F1-801E-613D1FB560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Learning</a:t>
            </a:r>
            <a:br>
              <a:rPr lang="en-US" dirty="0"/>
            </a:br>
            <a:r>
              <a:rPr lang="en-US" dirty="0"/>
              <a:t>Outcomes</a:t>
            </a:r>
          </a:p>
        </p:txBody>
      </p:sp>
    </p:spTree>
    <p:extLst>
      <p:ext uri="{BB962C8B-B14F-4D97-AF65-F5344CB8AC3E}">
        <p14:creationId xmlns:p14="http://schemas.microsoft.com/office/powerpoint/2010/main" val="38963779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IN" dirty="0"/>
              <a:t>A spanning tree is a sub-graph of an undirected connected graph, which has all the vertices covered with minimum possible number of edges. If a vertex is missed, then it is not a spanning tree.</a:t>
            </a:r>
          </a:p>
          <a:p>
            <a:pPr algn="just"/>
            <a:r>
              <a:rPr lang="en-IN" dirty="0"/>
              <a:t>A spanning tree does not have cycles and it cannot be disconnected.</a:t>
            </a:r>
          </a:p>
          <a:p>
            <a:endParaRPr lang="en-IN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Spanning Tree</a:t>
            </a:r>
          </a:p>
        </p:txBody>
      </p:sp>
    </p:spTree>
    <p:extLst>
      <p:ext uri="{BB962C8B-B14F-4D97-AF65-F5344CB8AC3E}">
        <p14:creationId xmlns:p14="http://schemas.microsoft.com/office/powerpoint/2010/main" val="19189686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IN" b="1" dirty="0"/>
              <a:t>Undirected graph</a:t>
            </a:r>
            <a:r>
              <a:rPr lang="en-IN" dirty="0"/>
              <a:t>: An undirected graph is a graph in which all the edges do not point to any particular direction.</a:t>
            </a:r>
          </a:p>
          <a:p>
            <a:r>
              <a:rPr lang="en-IN" b="1" dirty="0"/>
              <a:t>Connected graph</a:t>
            </a:r>
            <a:r>
              <a:rPr lang="en-IN" dirty="0"/>
              <a:t>: A connected graph is a graph in which a path always exists from a vertex to any other vertex.</a:t>
            </a:r>
          </a:p>
          <a:p>
            <a:r>
              <a:rPr lang="en-IN" dirty="0"/>
              <a:t>A graph is connected if we can reach any vertex from any other vertex by following edges in either direction.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Types of graphs</a:t>
            </a:r>
          </a:p>
        </p:txBody>
      </p:sp>
    </p:spTree>
    <p:extLst>
      <p:ext uri="{BB962C8B-B14F-4D97-AF65-F5344CB8AC3E}">
        <p14:creationId xmlns:p14="http://schemas.microsoft.com/office/powerpoint/2010/main" val="8087922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IN" b="1" dirty="0"/>
              <a:t>Directed graph</a:t>
            </a:r>
            <a:r>
              <a:rPr lang="en-IN" dirty="0"/>
              <a:t>: A directed graph is defined as a graph in which set of V vertices and set of Edges, each connecting two different vertices, but it is not mandatory that node points in the opposite direction also.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Types of graphs</a:t>
            </a:r>
          </a:p>
        </p:txBody>
      </p:sp>
    </p:spTree>
    <p:extLst>
      <p:ext uri="{BB962C8B-B14F-4D97-AF65-F5344CB8AC3E}">
        <p14:creationId xmlns:p14="http://schemas.microsoft.com/office/powerpoint/2010/main" val="3763320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IN" dirty="0"/>
              <a:t>A undirected connected graph can have more than one spanning tree.</a:t>
            </a:r>
          </a:p>
          <a:p>
            <a:pPr algn="just"/>
            <a:r>
              <a:rPr lang="en-IN" dirty="0"/>
              <a:t>All the possible spanning trees of a graph have the same number of edges and vertices.</a:t>
            </a:r>
          </a:p>
          <a:p>
            <a:pPr algn="just"/>
            <a:r>
              <a:rPr lang="en-IN" dirty="0"/>
              <a:t>The spanning tree does not have any cycle / loops.</a:t>
            </a:r>
          </a:p>
          <a:p>
            <a:pPr algn="just"/>
            <a:r>
              <a:rPr lang="en-IN" dirty="0"/>
              <a:t>Any connected and undirected graph will always have at least one spanning tree.</a:t>
            </a:r>
          </a:p>
          <a:p>
            <a:endParaRPr lang="en-IN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Properties of Spanning Tree</a:t>
            </a:r>
          </a:p>
        </p:txBody>
      </p:sp>
    </p:spTree>
    <p:extLst>
      <p:ext uri="{BB962C8B-B14F-4D97-AF65-F5344CB8AC3E}">
        <p14:creationId xmlns:p14="http://schemas.microsoft.com/office/powerpoint/2010/main" val="8261849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IN" dirty="0"/>
              <a:t>Spanning tree is always </a:t>
            </a:r>
            <a:r>
              <a:rPr lang="en-IN" b="1" dirty="0"/>
              <a:t>minimally connected</a:t>
            </a:r>
            <a:r>
              <a:rPr lang="en-IN" dirty="0"/>
              <a:t>. Removing one edge from the spanning tree will make the graph disconnected</a:t>
            </a:r>
          </a:p>
          <a:p>
            <a:pPr algn="just"/>
            <a:r>
              <a:rPr lang="en-IN" dirty="0"/>
              <a:t>A spanning tree is </a:t>
            </a:r>
            <a:r>
              <a:rPr lang="en-IN" b="1" dirty="0"/>
              <a:t>maximally acyclic. </a:t>
            </a:r>
            <a:r>
              <a:rPr lang="en-IN" dirty="0"/>
              <a:t>Adding one edge to the spanning tree will create a cycle or loop.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Properties of Spanning Tree</a:t>
            </a:r>
          </a:p>
        </p:txBody>
      </p:sp>
    </p:spTree>
    <p:extLst>
      <p:ext uri="{BB962C8B-B14F-4D97-AF65-F5344CB8AC3E}">
        <p14:creationId xmlns:p14="http://schemas.microsoft.com/office/powerpoint/2010/main" val="21639954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Spanning tree has n-1 edges, where n is the number of nodes (vertices).</a:t>
            </a:r>
          </a:p>
          <a:p>
            <a:r>
              <a:rPr lang="en-IN" dirty="0"/>
              <a:t>A complete graph can have maximum n</a:t>
            </a:r>
            <a:r>
              <a:rPr lang="en-IN" baseline="30000" dirty="0"/>
              <a:t>n-2</a:t>
            </a:r>
            <a:r>
              <a:rPr lang="en-IN" dirty="0"/>
              <a:t> number of spanning trees.</a:t>
            </a:r>
          </a:p>
          <a:p>
            <a:r>
              <a:rPr lang="en-IN" dirty="0"/>
              <a:t>From a complete graph, by removing maximum e - n + 1 edges, we can construct a spanning tree.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Mathematical Properties of Spanning Tree</a:t>
            </a:r>
          </a:p>
        </p:txBody>
      </p:sp>
    </p:spTree>
    <p:extLst>
      <p:ext uri="{BB962C8B-B14F-4D97-AF65-F5344CB8AC3E}">
        <p14:creationId xmlns:p14="http://schemas.microsoft.com/office/powerpoint/2010/main" val="5882243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Example: Spanning Tree</a:t>
            </a:r>
          </a:p>
        </p:txBody>
      </p:sp>
      <p:sp>
        <p:nvSpPr>
          <p:cNvPr id="4" name="Oval 3"/>
          <p:cNvSpPr/>
          <p:nvPr/>
        </p:nvSpPr>
        <p:spPr>
          <a:xfrm>
            <a:off x="2193748" y="3365277"/>
            <a:ext cx="656053" cy="601700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D</a:t>
            </a:r>
          </a:p>
        </p:txBody>
      </p:sp>
      <p:sp>
        <p:nvSpPr>
          <p:cNvPr id="5" name="Oval 4"/>
          <p:cNvSpPr/>
          <p:nvPr/>
        </p:nvSpPr>
        <p:spPr>
          <a:xfrm>
            <a:off x="2198412" y="1923739"/>
            <a:ext cx="613412" cy="626506"/>
          </a:xfrm>
          <a:prstGeom prst="ellipse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B</a:t>
            </a:r>
          </a:p>
        </p:txBody>
      </p:sp>
      <p:sp>
        <p:nvSpPr>
          <p:cNvPr id="6" name="Oval 5"/>
          <p:cNvSpPr/>
          <p:nvPr/>
        </p:nvSpPr>
        <p:spPr>
          <a:xfrm>
            <a:off x="756632" y="3365277"/>
            <a:ext cx="626026" cy="605511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C</a:t>
            </a:r>
          </a:p>
        </p:txBody>
      </p:sp>
      <p:sp>
        <p:nvSpPr>
          <p:cNvPr id="7" name="Oval 6"/>
          <p:cNvSpPr/>
          <p:nvPr/>
        </p:nvSpPr>
        <p:spPr>
          <a:xfrm>
            <a:off x="766993" y="1923739"/>
            <a:ext cx="624934" cy="626505"/>
          </a:xfrm>
          <a:prstGeom prst="ellipse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A</a:t>
            </a:r>
          </a:p>
        </p:txBody>
      </p:sp>
      <p:cxnSp>
        <p:nvCxnSpPr>
          <p:cNvPr id="8" name="Straight Connector 7"/>
          <p:cNvCxnSpPr>
            <a:endCxn id="6" idx="0"/>
          </p:cNvCxnSpPr>
          <p:nvPr/>
        </p:nvCxnSpPr>
        <p:spPr>
          <a:xfrm flipH="1">
            <a:off x="1069645" y="2529250"/>
            <a:ext cx="12638" cy="836027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>
            <a:endCxn id="7" idx="6"/>
          </p:cNvCxnSpPr>
          <p:nvPr/>
        </p:nvCxnSpPr>
        <p:spPr>
          <a:xfrm flipH="1">
            <a:off x="1391927" y="2231828"/>
            <a:ext cx="794962" cy="5164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 flipH="1">
            <a:off x="2534532" y="2551730"/>
            <a:ext cx="29794" cy="813547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flipH="1">
            <a:off x="1391926" y="3640528"/>
            <a:ext cx="792554" cy="1520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02276" y="4307756"/>
            <a:ext cx="34077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/>
              <a:t>Undirected connected graph</a:t>
            </a:r>
          </a:p>
        </p:txBody>
      </p:sp>
      <p:sp>
        <p:nvSpPr>
          <p:cNvPr id="17" name="Oval 16"/>
          <p:cNvSpPr/>
          <p:nvPr/>
        </p:nvSpPr>
        <p:spPr>
          <a:xfrm>
            <a:off x="6647691" y="3360113"/>
            <a:ext cx="656053" cy="601700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D</a:t>
            </a:r>
          </a:p>
        </p:txBody>
      </p:sp>
      <p:sp>
        <p:nvSpPr>
          <p:cNvPr id="18" name="Oval 17"/>
          <p:cNvSpPr/>
          <p:nvPr/>
        </p:nvSpPr>
        <p:spPr>
          <a:xfrm>
            <a:off x="6652355" y="1918575"/>
            <a:ext cx="613412" cy="626506"/>
          </a:xfrm>
          <a:prstGeom prst="ellipse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B</a:t>
            </a:r>
          </a:p>
        </p:txBody>
      </p:sp>
      <p:sp>
        <p:nvSpPr>
          <p:cNvPr id="19" name="Oval 18"/>
          <p:cNvSpPr/>
          <p:nvPr/>
        </p:nvSpPr>
        <p:spPr>
          <a:xfrm>
            <a:off x="5210575" y="3360113"/>
            <a:ext cx="626026" cy="605511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C</a:t>
            </a:r>
          </a:p>
        </p:txBody>
      </p:sp>
      <p:sp>
        <p:nvSpPr>
          <p:cNvPr id="20" name="Oval 19"/>
          <p:cNvSpPr/>
          <p:nvPr/>
        </p:nvSpPr>
        <p:spPr>
          <a:xfrm>
            <a:off x="5220936" y="1918575"/>
            <a:ext cx="624934" cy="626505"/>
          </a:xfrm>
          <a:prstGeom prst="ellipse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A</a:t>
            </a:r>
          </a:p>
        </p:txBody>
      </p:sp>
      <p:cxnSp>
        <p:nvCxnSpPr>
          <p:cNvPr id="21" name="Straight Connector 20"/>
          <p:cNvCxnSpPr>
            <a:endCxn id="19" idx="0"/>
          </p:cNvCxnSpPr>
          <p:nvPr/>
        </p:nvCxnSpPr>
        <p:spPr>
          <a:xfrm flipH="1">
            <a:off x="5523588" y="2524086"/>
            <a:ext cx="12638" cy="836027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>
            <a:endCxn id="20" idx="6"/>
          </p:cNvCxnSpPr>
          <p:nvPr/>
        </p:nvCxnSpPr>
        <p:spPr>
          <a:xfrm flipH="1">
            <a:off x="5845870" y="2226664"/>
            <a:ext cx="794962" cy="5164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 flipH="1">
            <a:off x="5845869" y="3635364"/>
            <a:ext cx="792554" cy="1520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502276" y="4929833"/>
            <a:ext cx="8500056" cy="14147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000" dirty="0"/>
              <a:t>If we have n = 4, the maximum number of possible spanning trees is equal to 4</a:t>
            </a:r>
            <a:r>
              <a:rPr lang="en-IN" sz="2000" baseline="30000" dirty="0"/>
              <a:t>4-2</a:t>
            </a:r>
            <a:r>
              <a:rPr lang="en-IN" sz="2000" dirty="0"/>
              <a:t> = 16. Thus, 16 spanning trees can be formed from a complete graph with 4 vertices.</a:t>
            </a:r>
          </a:p>
        </p:txBody>
      </p:sp>
    </p:spTree>
    <p:extLst>
      <p:ext uri="{BB962C8B-B14F-4D97-AF65-F5344CB8AC3E}">
        <p14:creationId xmlns:p14="http://schemas.microsoft.com/office/powerpoint/2010/main" val="2150464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Example: Spanning Tree</a:t>
            </a:r>
          </a:p>
        </p:txBody>
      </p:sp>
      <p:sp>
        <p:nvSpPr>
          <p:cNvPr id="4" name="Oval 3"/>
          <p:cNvSpPr/>
          <p:nvPr/>
        </p:nvSpPr>
        <p:spPr>
          <a:xfrm>
            <a:off x="2566276" y="3902481"/>
            <a:ext cx="656053" cy="601700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D</a:t>
            </a:r>
          </a:p>
        </p:txBody>
      </p:sp>
      <p:sp>
        <p:nvSpPr>
          <p:cNvPr id="5" name="Oval 4"/>
          <p:cNvSpPr/>
          <p:nvPr/>
        </p:nvSpPr>
        <p:spPr>
          <a:xfrm>
            <a:off x="2570940" y="2460943"/>
            <a:ext cx="613412" cy="626506"/>
          </a:xfrm>
          <a:prstGeom prst="ellipse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B</a:t>
            </a:r>
          </a:p>
        </p:txBody>
      </p:sp>
      <p:sp>
        <p:nvSpPr>
          <p:cNvPr id="6" name="Oval 5"/>
          <p:cNvSpPr/>
          <p:nvPr/>
        </p:nvSpPr>
        <p:spPr>
          <a:xfrm>
            <a:off x="1129160" y="3902481"/>
            <a:ext cx="626026" cy="605511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C</a:t>
            </a:r>
          </a:p>
        </p:txBody>
      </p:sp>
      <p:sp>
        <p:nvSpPr>
          <p:cNvPr id="7" name="Oval 6"/>
          <p:cNvSpPr/>
          <p:nvPr/>
        </p:nvSpPr>
        <p:spPr>
          <a:xfrm>
            <a:off x="1139521" y="2460943"/>
            <a:ext cx="624934" cy="626505"/>
          </a:xfrm>
          <a:prstGeom prst="ellipse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A</a:t>
            </a:r>
          </a:p>
        </p:txBody>
      </p:sp>
      <p:cxnSp>
        <p:nvCxnSpPr>
          <p:cNvPr id="8" name="Straight Connector 7"/>
          <p:cNvCxnSpPr>
            <a:endCxn id="6" idx="0"/>
          </p:cNvCxnSpPr>
          <p:nvPr/>
        </p:nvCxnSpPr>
        <p:spPr>
          <a:xfrm flipH="1">
            <a:off x="1442173" y="3066454"/>
            <a:ext cx="12638" cy="836027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>
            <a:endCxn id="7" idx="6"/>
          </p:cNvCxnSpPr>
          <p:nvPr/>
        </p:nvCxnSpPr>
        <p:spPr>
          <a:xfrm flipH="1">
            <a:off x="1764455" y="2769032"/>
            <a:ext cx="794962" cy="5164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 flipH="1">
            <a:off x="2907060" y="3088934"/>
            <a:ext cx="29794" cy="813547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7419464" y="3902481"/>
            <a:ext cx="656053" cy="601700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D</a:t>
            </a:r>
          </a:p>
        </p:txBody>
      </p:sp>
      <p:sp>
        <p:nvSpPr>
          <p:cNvPr id="13" name="Oval 12"/>
          <p:cNvSpPr/>
          <p:nvPr/>
        </p:nvSpPr>
        <p:spPr>
          <a:xfrm>
            <a:off x="7424128" y="2460943"/>
            <a:ext cx="613412" cy="626506"/>
          </a:xfrm>
          <a:prstGeom prst="ellipse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B</a:t>
            </a:r>
          </a:p>
        </p:txBody>
      </p:sp>
      <p:sp>
        <p:nvSpPr>
          <p:cNvPr id="14" name="Oval 13"/>
          <p:cNvSpPr/>
          <p:nvPr/>
        </p:nvSpPr>
        <p:spPr>
          <a:xfrm>
            <a:off x="5982348" y="3902481"/>
            <a:ext cx="626026" cy="605511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C</a:t>
            </a:r>
          </a:p>
        </p:txBody>
      </p:sp>
      <p:sp>
        <p:nvSpPr>
          <p:cNvPr id="15" name="Oval 14"/>
          <p:cNvSpPr/>
          <p:nvPr/>
        </p:nvSpPr>
        <p:spPr>
          <a:xfrm>
            <a:off x="5992709" y="2460943"/>
            <a:ext cx="624934" cy="626505"/>
          </a:xfrm>
          <a:prstGeom prst="ellipse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A</a:t>
            </a:r>
          </a:p>
        </p:txBody>
      </p:sp>
      <p:cxnSp>
        <p:nvCxnSpPr>
          <p:cNvPr id="17" name="Straight Connector 16"/>
          <p:cNvCxnSpPr>
            <a:endCxn id="15" idx="6"/>
          </p:cNvCxnSpPr>
          <p:nvPr/>
        </p:nvCxnSpPr>
        <p:spPr>
          <a:xfrm flipH="1">
            <a:off x="6617643" y="2769032"/>
            <a:ext cx="794962" cy="5164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 flipH="1">
            <a:off x="7760248" y="3088934"/>
            <a:ext cx="29794" cy="813547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6617642" y="4177732"/>
            <a:ext cx="792554" cy="1520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793218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Example: Spanning Tree</a:t>
            </a:r>
          </a:p>
        </p:txBody>
      </p:sp>
      <p:sp>
        <p:nvSpPr>
          <p:cNvPr id="4" name="Oval 3"/>
          <p:cNvSpPr/>
          <p:nvPr/>
        </p:nvSpPr>
        <p:spPr>
          <a:xfrm>
            <a:off x="2585731" y="3921937"/>
            <a:ext cx="656053" cy="601700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D</a:t>
            </a:r>
          </a:p>
        </p:txBody>
      </p:sp>
      <p:sp>
        <p:nvSpPr>
          <p:cNvPr id="5" name="Oval 4"/>
          <p:cNvSpPr/>
          <p:nvPr/>
        </p:nvSpPr>
        <p:spPr>
          <a:xfrm>
            <a:off x="2590395" y="2480399"/>
            <a:ext cx="613412" cy="626506"/>
          </a:xfrm>
          <a:prstGeom prst="ellipse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B</a:t>
            </a:r>
          </a:p>
        </p:txBody>
      </p:sp>
      <p:sp>
        <p:nvSpPr>
          <p:cNvPr id="6" name="Oval 5"/>
          <p:cNvSpPr/>
          <p:nvPr/>
        </p:nvSpPr>
        <p:spPr>
          <a:xfrm>
            <a:off x="1148615" y="3921937"/>
            <a:ext cx="626026" cy="605511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C</a:t>
            </a:r>
          </a:p>
        </p:txBody>
      </p:sp>
      <p:sp>
        <p:nvSpPr>
          <p:cNvPr id="7" name="Oval 6"/>
          <p:cNvSpPr/>
          <p:nvPr/>
        </p:nvSpPr>
        <p:spPr>
          <a:xfrm>
            <a:off x="1158976" y="2480399"/>
            <a:ext cx="624934" cy="626505"/>
          </a:xfrm>
          <a:prstGeom prst="ellipse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A</a:t>
            </a:r>
          </a:p>
        </p:txBody>
      </p:sp>
      <p:cxnSp>
        <p:nvCxnSpPr>
          <p:cNvPr id="10" name="Straight Connector 9"/>
          <p:cNvCxnSpPr/>
          <p:nvPr/>
        </p:nvCxnSpPr>
        <p:spPr>
          <a:xfrm flipH="1">
            <a:off x="2926515" y="3108390"/>
            <a:ext cx="29794" cy="813547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flipH="1">
            <a:off x="1783909" y="4197188"/>
            <a:ext cx="792554" cy="1520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7245737" y="3921936"/>
            <a:ext cx="656053" cy="601700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D</a:t>
            </a:r>
          </a:p>
        </p:txBody>
      </p:sp>
      <p:sp>
        <p:nvSpPr>
          <p:cNvPr id="13" name="Oval 12"/>
          <p:cNvSpPr/>
          <p:nvPr/>
        </p:nvSpPr>
        <p:spPr>
          <a:xfrm>
            <a:off x="7250401" y="2480398"/>
            <a:ext cx="613412" cy="626506"/>
          </a:xfrm>
          <a:prstGeom prst="ellipse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B</a:t>
            </a:r>
          </a:p>
        </p:txBody>
      </p:sp>
      <p:sp>
        <p:nvSpPr>
          <p:cNvPr id="14" name="Oval 13"/>
          <p:cNvSpPr/>
          <p:nvPr/>
        </p:nvSpPr>
        <p:spPr>
          <a:xfrm>
            <a:off x="5808621" y="3921936"/>
            <a:ext cx="626026" cy="605511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C</a:t>
            </a:r>
          </a:p>
        </p:txBody>
      </p:sp>
      <p:sp>
        <p:nvSpPr>
          <p:cNvPr id="15" name="Oval 14"/>
          <p:cNvSpPr/>
          <p:nvPr/>
        </p:nvSpPr>
        <p:spPr>
          <a:xfrm>
            <a:off x="5818982" y="2480398"/>
            <a:ext cx="624934" cy="626505"/>
          </a:xfrm>
          <a:prstGeom prst="ellipse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A</a:t>
            </a:r>
          </a:p>
        </p:txBody>
      </p:sp>
      <p:cxnSp>
        <p:nvCxnSpPr>
          <p:cNvPr id="17" name="Straight Connector 16"/>
          <p:cNvCxnSpPr>
            <a:endCxn id="15" idx="6"/>
          </p:cNvCxnSpPr>
          <p:nvPr/>
        </p:nvCxnSpPr>
        <p:spPr>
          <a:xfrm flipH="1">
            <a:off x="6443916" y="2788487"/>
            <a:ext cx="794962" cy="5164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>
            <a:stCxn id="13" idx="3"/>
            <a:endCxn id="14" idx="7"/>
          </p:cNvCxnSpPr>
          <p:nvPr/>
        </p:nvCxnSpPr>
        <p:spPr>
          <a:xfrm flipH="1">
            <a:off x="6342968" y="3015154"/>
            <a:ext cx="997265" cy="995457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6443915" y="4197187"/>
            <a:ext cx="792554" cy="1520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>
            <a:endCxn id="6" idx="0"/>
          </p:cNvCxnSpPr>
          <p:nvPr/>
        </p:nvCxnSpPr>
        <p:spPr>
          <a:xfrm flipH="1">
            <a:off x="1461628" y="3106108"/>
            <a:ext cx="9815" cy="815829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72965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Example: Spanning Tree</a:t>
            </a:r>
          </a:p>
        </p:txBody>
      </p:sp>
      <p:sp>
        <p:nvSpPr>
          <p:cNvPr id="4" name="Oval 3"/>
          <p:cNvSpPr/>
          <p:nvPr/>
        </p:nvSpPr>
        <p:spPr>
          <a:xfrm>
            <a:off x="4902467" y="3943172"/>
            <a:ext cx="656053" cy="601700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D</a:t>
            </a:r>
          </a:p>
        </p:txBody>
      </p:sp>
      <p:sp>
        <p:nvSpPr>
          <p:cNvPr id="5" name="Oval 4"/>
          <p:cNvSpPr/>
          <p:nvPr/>
        </p:nvSpPr>
        <p:spPr>
          <a:xfrm>
            <a:off x="4907131" y="2501634"/>
            <a:ext cx="613412" cy="626506"/>
          </a:xfrm>
          <a:prstGeom prst="ellipse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B</a:t>
            </a:r>
          </a:p>
        </p:txBody>
      </p:sp>
      <p:sp>
        <p:nvSpPr>
          <p:cNvPr id="6" name="Oval 5"/>
          <p:cNvSpPr/>
          <p:nvPr/>
        </p:nvSpPr>
        <p:spPr>
          <a:xfrm>
            <a:off x="3465351" y="3943172"/>
            <a:ext cx="626026" cy="605511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C</a:t>
            </a:r>
          </a:p>
        </p:txBody>
      </p:sp>
      <p:sp>
        <p:nvSpPr>
          <p:cNvPr id="7" name="Oval 6"/>
          <p:cNvSpPr/>
          <p:nvPr/>
        </p:nvSpPr>
        <p:spPr>
          <a:xfrm>
            <a:off x="3475712" y="2501634"/>
            <a:ext cx="624934" cy="626505"/>
          </a:xfrm>
          <a:prstGeom prst="ellipse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A</a:t>
            </a:r>
          </a:p>
        </p:txBody>
      </p:sp>
      <p:cxnSp>
        <p:nvCxnSpPr>
          <p:cNvPr id="8" name="Straight Connector 7"/>
          <p:cNvCxnSpPr>
            <a:endCxn id="7" idx="6"/>
          </p:cNvCxnSpPr>
          <p:nvPr/>
        </p:nvCxnSpPr>
        <p:spPr>
          <a:xfrm flipH="1">
            <a:off x="4100646" y="2809723"/>
            <a:ext cx="794962" cy="5164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>
            <a:endCxn id="4" idx="1"/>
          </p:cNvCxnSpPr>
          <p:nvPr/>
        </p:nvCxnSpPr>
        <p:spPr>
          <a:xfrm>
            <a:off x="4005257" y="3037927"/>
            <a:ext cx="993287" cy="99336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 flipH="1">
            <a:off x="4100645" y="4218423"/>
            <a:ext cx="792554" cy="1520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065751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00049" y="1543050"/>
            <a:ext cx="8491031" cy="5124450"/>
          </a:xfrm>
        </p:spPr>
        <p:txBody>
          <a:bodyPr/>
          <a:lstStyle/>
          <a:p>
            <a:pPr marL="0" indent="0">
              <a:buNone/>
            </a:pPr>
            <a:r>
              <a:rPr lang="en-IN" dirty="0"/>
              <a:t>It is used to find a minimum path to connect all nodes in a graph</a:t>
            </a:r>
          </a:p>
          <a:p>
            <a:r>
              <a:rPr lang="en-IN" dirty="0"/>
              <a:t>Computer Network Routing Protocol</a:t>
            </a:r>
          </a:p>
          <a:p>
            <a:r>
              <a:rPr lang="en-IN" dirty="0"/>
              <a:t>Cluster Analysis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Application of Spanning Tree</a:t>
            </a:r>
          </a:p>
        </p:txBody>
      </p:sp>
    </p:spTree>
    <p:extLst>
      <p:ext uri="{BB962C8B-B14F-4D97-AF65-F5344CB8AC3E}">
        <p14:creationId xmlns:p14="http://schemas.microsoft.com/office/powerpoint/2010/main" val="39486395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IN" dirty="0"/>
              <a:t>A minimum spanning tree is a spanning tree in which the sum of the weight of the edges is as minimum as possible.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Minimum Spanning Tree</a:t>
            </a:r>
          </a:p>
        </p:txBody>
      </p:sp>
    </p:spTree>
    <p:extLst>
      <p:ext uri="{BB962C8B-B14F-4D97-AF65-F5344CB8AC3E}">
        <p14:creationId xmlns:p14="http://schemas.microsoft.com/office/powerpoint/2010/main" val="25691439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Minimum Spanning Tree</a:t>
            </a:r>
          </a:p>
        </p:txBody>
      </p:sp>
      <p:sp>
        <p:nvSpPr>
          <p:cNvPr id="4" name="Oval 3"/>
          <p:cNvSpPr/>
          <p:nvPr/>
        </p:nvSpPr>
        <p:spPr>
          <a:xfrm>
            <a:off x="2637796" y="3857277"/>
            <a:ext cx="656053" cy="601700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D</a:t>
            </a:r>
          </a:p>
        </p:txBody>
      </p:sp>
      <p:sp>
        <p:nvSpPr>
          <p:cNvPr id="5" name="Oval 4"/>
          <p:cNvSpPr/>
          <p:nvPr/>
        </p:nvSpPr>
        <p:spPr>
          <a:xfrm>
            <a:off x="2642460" y="2415739"/>
            <a:ext cx="613412" cy="626506"/>
          </a:xfrm>
          <a:prstGeom prst="ellipse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B</a:t>
            </a:r>
          </a:p>
        </p:txBody>
      </p:sp>
      <p:sp>
        <p:nvSpPr>
          <p:cNvPr id="6" name="Oval 5"/>
          <p:cNvSpPr/>
          <p:nvPr/>
        </p:nvSpPr>
        <p:spPr>
          <a:xfrm>
            <a:off x="1200680" y="3857277"/>
            <a:ext cx="626026" cy="605511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C</a:t>
            </a:r>
          </a:p>
        </p:txBody>
      </p:sp>
      <p:sp>
        <p:nvSpPr>
          <p:cNvPr id="7" name="Oval 6"/>
          <p:cNvSpPr/>
          <p:nvPr/>
        </p:nvSpPr>
        <p:spPr>
          <a:xfrm>
            <a:off x="1211041" y="2415739"/>
            <a:ext cx="624934" cy="626505"/>
          </a:xfrm>
          <a:prstGeom prst="ellipse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A</a:t>
            </a:r>
          </a:p>
        </p:txBody>
      </p:sp>
      <p:cxnSp>
        <p:nvCxnSpPr>
          <p:cNvPr id="8" name="Straight Connector 7"/>
          <p:cNvCxnSpPr>
            <a:endCxn id="6" idx="0"/>
          </p:cNvCxnSpPr>
          <p:nvPr/>
        </p:nvCxnSpPr>
        <p:spPr>
          <a:xfrm flipH="1">
            <a:off x="1513693" y="3021250"/>
            <a:ext cx="12638" cy="836027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>
            <a:endCxn id="7" idx="6"/>
          </p:cNvCxnSpPr>
          <p:nvPr/>
        </p:nvCxnSpPr>
        <p:spPr>
          <a:xfrm flipH="1">
            <a:off x="1835975" y="2723828"/>
            <a:ext cx="794962" cy="5164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 flipH="1">
            <a:off x="2978580" y="3043730"/>
            <a:ext cx="29794" cy="813547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flipH="1">
            <a:off x="1835974" y="4132528"/>
            <a:ext cx="792554" cy="1520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2105422" y="2415739"/>
            <a:ext cx="2833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40172" y="3278423"/>
            <a:ext cx="2833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90583" y="4094605"/>
            <a:ext cx="2833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90455" y="3227456"/>
            <a:ext cx="2833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81840" y="4883696"/>
            <a:ext cx="18740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Weighted Graph</a:t>
            </a:r>
          </a:p>
        </p:txBody>
      </p:sp>
      <p:sp>
        <p:nvSpPr>
          <p:cNvPr id="17" name="Oval 16"/>
          <p:cNvSpPr/>
          <p:nvPr/>
        </p:nvSpPr>
        <p:spPr>
          <a:xfrm>
            <a:off x="6821283" y="3861659"/>
            <a:ext cx="656053" cy="601700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D</a:t>
            </a:r>
          </a:p>
        </p:txBody>
      </p:sp>
      <p:sp>
        <p:nvSpPr>
          <p:cNvPr id="18" name="Oval 17"/>
          <p:cNvSpPr/>
          <p:nvPr/>
        </p:nvSpPr>
        <p:spPr>
          <a:xfrm>
            <a:off x="6825947" y="2420121"/>
            <a:ext cx="613412" cy="626506"/>
          </a:xfrm>
          <a:prstGeom prst="ellipse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B</a:t>
            </a:r>
          </a:p>
        </p:txBody>
      </p:sp>
      <p:sp>
        <p:nvSpPr>
          <p:cNvPr id="19" name="Oval 18"/>
          <p:cNvSpPr/>
          <p:nvPr/>
        </p:nvSpPr>
        <p:spPr>
          <a:xfrm>
            <a:off x="5384167" y="3861659"/>
            <a:ext cx="626026" cy="605511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C</a:t>
            </a:r>
          </a:p>
        </p:txBody>
      </p:sp>
      <p:sp>
        <p:nvSpPr>
          <p:cNvPr id="20" name="Oval 19"/>
          <p:cNvSpPr/>
          <p:nvPr/>
        </p:nvSpPr>
        <p:spPr>
          <a:xfrm>
            <a:off x="5394528" y="2420121"/>
            <a:ext cx="624934" cy="626505"/>
          </a:xfrm>
          <a:prstGeom prst="ellipse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A</a:t>
            </a:r>
          </a:p>
        </p:txBody>
      </p:sp>
      <p:cxnSp>
        <p:nvCxnSpPr>
          <p:cNvPr id="21" name="Straight Connector 20"/>
          <p:cNvCxnSpPr>
            <a:endCxn id="19" idx="0"/>
          </p:cNvCxnSpPr>
          <p:nvPr/>
        </p:nvCxnSpPr>
        <p:spPr>
          <a:xfrm flipH="1">
            <a:off x="5697180" y="3025632"/>
            <a:ext cx="12638" cy="836027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>
            <a:endCxn id="20" idx="6"/>
          </p:cNvCxnSpPr>
          <p:nvPr/>
        </p:nvCxnSpPr>
        <p:spPr>
          <a:xfrm flipH="1">
            <a:off x="6019462" y="2728210"/>
            <a:ext cx="794962" cy="5164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 flipH="1">
            <a:off x="6019461" y="4136910"/>
            <a:ext cx="792554" cy="1520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6288909" y="2420121"/>
            <a:ext cx="2833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23659" y="3282805"/>
            <a:ext cx="2833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74070" y="4098987"/>
            <a:ext cx="2833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78722" y="4961671"/>
            <a:ext cx="18740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Sum =12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74070" y="5593187"/>
            <a:ext cx="5314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(A)</a:t>
            </a:r>
          </a:p>
        </p:txBody>
      </p:sp>
    </p:spTree>
    <p:extLst>
      <p:ext uri="{BB962C8B-B14F-4D97-AF65-F5344CB8AC3E}">
        <p14:creationId xmlns:p14="http://schemas.microsoft.com/office/powerpoint/2010/main" val="16550484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Minimum Spanning Tree</a:t>
            </a:r>
          </a:p>
        </p:txBody>
      </p:sp>
      <p:sp>
        <p:nvSpPr>
          <p:cNvPr id="4" name="Oval 3"/>
          <p:cNvSpPr/>
          <p:nvPr/>
        </p:nvSpPr>
        <p:spPr>
          <a:xfrm>
            <a:off x="2297327" y="3944826"/>
            <a:ext cx="656053" cy="601700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D</a:t>
            </a:r>
          </a:p>
        </p:txBody>
      </p:sp>
      <p:sp>
        <p:nvSpPr>
          <p:cNvPr id="5" name="Oval 4"/>
          <p:cNvSpPr/>
          <p:nvPr/>
        </p:nvSpPr>
        <p:spPr>
          <a:xfrm>
            <a:off x="2301991" y="2503288"/>
            <a:ext cx="613412" cy="626506"/>
          </a:xfrm>
          <a:prstGeom prst="ellipse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B</a:t>
            </a:r>
          </a:p>
        </p:txBody>
      </p:sp>
      <p:sp>
        <p:nvSpPr>
          <p:cNvPr id="6" name="Oval 5"/>
          <p:cNvSpPr/>
          <p:nvPr/>
        </p:nvSpPr>
        <p:spPr>
          <a:xfrm>
            <a:off x="860211" y="3944826"/>
            <a:ext cx="626026" cy="605511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C</a:t>
            </a:r>
          </a:p>
        </p:txBody>
      </p:sp>
      <p:sp>
        <p:nvSpPr>
          <p:cNvPr id="7" name="Oval 6"/>
          <p:cNvSpPr/>
          <p:nvPr/>
        </p:nvSpPr>
        <p:spPr>
          <a:xfrm>
            <a:off x="870572" y="2503288"/>
            <a:ext cx="624934" cy="626505"/>
          </a:xfrm>
          <a:prstGeom prst="ellipse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A</a:t>
            </a:r>
          </a:p>
        </p:txBody>
      </p:sp>
      <p:cxnSp>
        <p:nvCxnSpPr>
          <p:cNvPr id="8" name="Straight Connector 7"/>
          <p:cNvCxnSpPr>
            <a:endCxn id="6" idx="0"/>
          </p:cNvCxnSpPr>
          <p:nvPr/>
        </p:nvCxnSpPr>
        <p:spPr>
          <a:xfrm flipH="1">
            <a:off x="1173224" y="3108799"/>
            <a:ext cx="12638" cy="836027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>
            <a:endCxn id="7" idx="6"/>
          </p:cNvCxnSpPr>
          <p:nvPr/>
        </p:nvCxnSpPr>
        <p:spPr>
          <a:xfrm flipH="1">
            <a:off x="1495506" y="2811377"/>
            <a:ext cx="794962" cy="5164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 flipH="1">
            <a:off x="2638111" y="3131279"/>
            <a:ext cx="29794" cy="813547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764953" y="2503288"/>
            <a:ext cx="2833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9703" y="3365972"/>
            <a:ext cx="2833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49986" y="3315005"/>
            <a:ext cx="2833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3</a:t>
            </a:r>
          </a:p>
        </p:txBody>
      </p:sp>
      <p:sp>
        <p:nvSpPr>
          <p:cNvPr id="16" name="Oval 15"/>
          <p:cNvSpPr/>
          <p:nvPr/>
        </p:nvSpPr>
        <p:spPr>
          <a:xfrm>
            <a:off x="6983090" y="4000905"/>
            <a:ext cx="656053" cy="601700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D</a:t>
            </a:r>
          </a:p>
        </p:txBody>
      </p:sp>
      <p:sp>
        <p:nvSpPr>
          <p:cNvPr id="17" name="Oval 16"/>
          <p:cNvSpPr/>
          <p:nvPr/>
        </p:nvSpPr>
        <p:spPr>
          <a:xfrm>
            <a:off x="6987754" y="2559367"/>
            <a:ext cx="613412" cy="626506"/>
          </a:xfrm>
          <a:prstGeom prst="ellipse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B</a:t>
            </a:r>
          </a:p>
        </p:txBody>
      </p:sp>
      <p:sp>
        <p:nvSpPr>
          <p:cNvPr id="18" name="Oval 17"/>
          <p:cNvSpPr/>
          <p:nvPr/>
        </p:nvSpPr>
        <p:spPr>
          <a:xfrm>
            <a:off x="5545974" y="4000905"/>
            <a:ext cx="626026" cy="605511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C</a:t>
            </a:r>
          </a:p>
        </p:txBody>
      </p:sp>
      <p:sp>
        <p:nvSpPr>
          <p:cNvPr id="19" name="Oval 18"/>
          <p:cNvSpPr/>
          <p:nvPr/>
        </p:nvSpPr>
        <p:spPr>
          <a:xfrm>
            <a:off x="5556335" y="2559367"/>
            <a:ext cx="624934" cy="626505"/>
          </a:xfrm>
          <a:prstGeom prst="ellipse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A</a:t>
            </a:r>
          </a:p>
        </p:txBody>
      </p:sp>
      <p:cxnSp>
        <p:nvCxnSpPr>
          <p:cNvPr id="21" name="Straight Connector 20"/>
          <p:cNvCxnSpPr>
            <a:endCxn id="19" idx="6"/>
          </p:cNvCxnSpPr>
          <p:nvPr/>
        </p:nvCxnSpPr>
        <p:spPr>
          <a:xfrm flipH="1">
            <a:off x="6181269" y="2867456"/>
            <a:ext cx="794962" cy="5164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 flipH="1">
            <a:off x="7323874" y="3187358"/>
            <a:ext cx="29794" cy="813547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6181268" y="4276156"/>
            <a:ext cx="792554" cy="1520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450716" y="2559367"/>
            <a:ext cx="2833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35877" y="4238233"/>
            <a:ext cx="2833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35749" y="3371084"/>
            <a:ext cx="2833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68802" y="5162237"/>
            <a:ext cx="18740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Sum =9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60311" y="5162237"/>
            <a:ext cx="18740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Sum =13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87742" y="5784890"/>
            <a:ext cx="5314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(C)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627251" y="5774137"/>
            <a:ext cx="5314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(B)</a:t>
            </a:r>
          </a:p>
        </p:txBody>
      </p:sp>
    </p:spTree>
    <p:extLst>
      <p:ext uri="{BB962C8B-B14F-4D97-AF65-F5344CB8AC3E}">
        <p14:creationId xmlns:p14="http://schemas.microsoft.com/office/powerpoint/2010/main" val="46720179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Minimum Spanning Tree</a:t>
            </a:r>
          </a:p>
        </p:txBody>
      </p:sp>
      <p:sp>
        <p:nvSpPr>
          <p:cNvPr id="4" name="Oval 3"/>
          <p:cNvSpPr/>
          <p:nvPr/>
        </p:nvSpPr>
        <p:spPr>
          <a:xfrm>
            <a:off x="2633273" y="3808776"/>
            <a:ext cx="656053" cy="601700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D</a:t>
            </a:r>
          </a:p>
        </p:txBody>
      </p:sp>
      <p:sp>
        <p:nvSpPr>
          <p:cNvPr id="5" name="Oval 4"/>
          <p:cNvSpPr/>
          <p:nvPr/>
        </p:nvSpPr>
        <p:spPr>
          <a:xfrm>
            <a:off x="2637937" y="2367238"/>
            <a:ext cx="613412" cy="626506"/>
          </a:xfrm>
          <a:prstGeom prst="ellipse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B</a:t>
            </a:r>
          </a:p>
        </p:txBody>
      </p:sp>
      <p:sp>
        <p:nvSpPr>
          <p:cNvPr id="6" name="Oval 5"/>
          <p:cNvSpPr/>
          <p:nvPr/>
        </p:nvSpPr>
        <p:spPr>
          <a:xfrm>
            <a:off x="1196157" y="3808776"/>
            <a:ext cx="626026" cy="605511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C</a:t>
            </a:r>
          </a:p>
        </p:txBody>
      </p:sp>
      <p:sp>
        <p:nvSpPr>
          <p:cNvPr id="7" name="Oval 6"/>
          <p:cNvSpPr/>
          <p:nvPr/>
        </p:nvSpPr>
        <p:spPr>
          <a:xfrm>
            <a:off x="1206518" y="2367238"/>
            <a:ext cx="624934" cy="626505"/>
          </a:xfrm>
          <a:prstGeom prst="ellipse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A</a:t>
            </a:r>
          </a:p>
        </p:txBody>
      </p:sp>
      <p:cxnSp>
        <p:nvCxnSpPr>
          <p:cNvPr id="8" name="Straight Connector 7"/>
          <p:cNvCxnSpPr>
            <a:endCxn id="6" idx="0"/>
          </p:cNvCxnSpPr>
          <p:nvPr/>
        </p:nvCxnSpPr>
        <p:spPr>
          <a:xfrm flipH="1">
            <a:off x="1509170" y="2972749"/>
            <a:ext cx="12638" cy="836027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 flipH="1">
            <a:off x="2974057" y="2995229"/>
            <a:ext cx="29794" cy="813547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flipH="1">
            <a:off x="1831451" y="4084027"/>
            <a:ext cx="792554" cy="1520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235649" y="3229922"/>
            <a:ext cx="2833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86060" y="4046104"/>
            <a:ext cx="2833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85932" y="3178955"/>
            <a:ext cx="2833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3</a:t>
            </a:r>
          </a:p>
        </p:txBody>
      </p:sp>
      <p:sp>
        <p:nvSpPr>
          <p:cNvPr id="16" name="Oval 15"/>
          <p:cNvSpPr/>
          <p:nvPr/>
        </p:nvSpPr>
        <p:spPr>
          <a:xfrm>
            <a:off x="7205273" y="3864855"/>
            <a:ext cx="656053" cy="601700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D</a:t>
            </a:r>
          </a:p>
        </p:txBody>
      </p:sp>
      <p:sp>
        <p:nvSpPr>
          <p:cNvPr id="17" name="Oval 16"/>
          <p:cNvSpPr/>
          <p:nvPr/>
        </p:nvSpPr>
        <p:spPr>
          <a:xfrm>
            <a:off x="7209937" y="2423317"/>
            <a:ext cx="613412" cy="626506"/>
          </a:xfrm>
          <a:prstGeom prst="ellipse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B</a:t>
            </a:r>
          </a:p>
        </p:txBody>
      </p:sp>
      <p:sp>
        <p:nvSpPr>
          <p:cNvPr id="18" name="Oval 17"/>
          <p:cNvSpPr/>
          <p:nvPr/>
        </p:nvSpPr>
        <p:spPr>
          <a:xfrm>
            <a:off x="5768157" y="3864855"/>
            <a:ext cx="626026" cy="605511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C</a:t>
            </a:r>
          </a:p>
        </p:txBody>
      </p:sp>
      <p:sp>
        <p:nvSpPr>
          <p:cNvPr id="19" name="Oval 18"/>
          <p:cNvSpPr/>
          <p:nvPr/>
        </p:nvSpPr>
        <p:spPr>
          <a:xfrm>
            <a:off x="5778518" y="2423317"/>
            <a:ext cx="624934" cy="626505"/>
          </a:xfrm>
          <a:prstGeom prst="ellipse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A</a:t>
            </a:r>
          </a:p>
        </p:txBody>
      </p:sp>
      <p:cxnSp>
        <p:nvCxnSpPr>
          <p:cNvPr id="21" name="Straight Connector 20"/>
          <p:cNvCxnSpPr>
            <a:endCxn id="19" idx="6"/>
          </p:cNvCxnSpPr>
          <p:nvPr/>
        </p:nvCxnSpPr>
        <p:spPr>
          <a:xfrm flipH="1">
            <a:off x="6403452" y="2731406"/>
            <a:ext cx="794962" cy="5164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 flipH="1">
            <a:off x="7546057" y="3051308"/>
            <a:ext cx="29794" cy="813547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6403451" y="4140106"/>
            <a:ext cx="792554" cy="1520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672899" y="2423317"/>
            <a:ext cx="2833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58060" y="4102183"/>
            <a:ext cx="2833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57932" y="3235034"/>
            <a:ext cx="2833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84420" y="4964867"/>
            <a:ext cx="18740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Sum =11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81170" y="4964867"/>
            <a:ext cx="18740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Sum =9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558888" y="5732319"/>
            <a:ext cx="27946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Minimum spanning tree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745608" y="5514298"/>
            <a:ext cx="5314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(D)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86715" y="5375867"/>
            <a:ext cx="5314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(C)</a:t>
            </a:r>
          </a:p>
        </p:txBody>
      </p:sp>
    </p:spTree>
    <p:extLst>
      <p:ext uri="{BB962C8B-B14F-4D97-AF65-F5344CB8AC3E}">
        <p14:creationId xmlns:p14="http://schemas.microsoft.com/office/powerpoint/2010/main" val="89737804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792300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Bahnschrift SemiBold"/>
        <a:ea typeface=""/>
        <a:cs typeface=""/>
      </a:majorFont>
      <a:minorFont>
        <a:latin typeface="Bahnschrif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12550</TotalTime>
  <Words>554</Words>
  <Application>Microsoft Office PowerPoint</Application>
  <PresentationFormat>On-screen Show (4:3)</PresentationFormat>
  <Paragraphs>121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Bahnschrift</vt:lpstr>
      <vt:lpstr>Bahnschrift SemiBold</vt:lpstr>
      <vt:lpstr>Office Theme</vt:lpstr>
      <vt:lpstr>PowerPoint Presentation</vt:lpstr>
      <vt:lpstr>Learning Outcomes</vt:lpstr>
      <vt:lpstr>Spanning Tree</vt:lpstr>
      <vt:lpstr>Types of graphs</vt:lpstr>
      <vt:lpstr>Types of graphs</vt:lpstr>
      <vt:lpstr>Properties of Spanning Tree</vt:lpstr>
      <vt:lpstr>Properties of Spanning Tree</vt:lpstr>
      <vt:lpstr>Mathematical Properties of Spanning Tree</vt:lpstr>
      <vt:lpstr>Example: Spanning Tree</vt:lpstr>
      <vt:lpstr>Example: Spanning Tree</vt:lpstr>
      <vt:lpstr>Example: Spanning Tree</vt:lpstr>
      <vt:lpstr>Example: Spanning Tree</vt:lpstr>
      <vt:lpstr>Application of Spanning Tree</vt:lpstr>
      <vt:lpstr>Minimum Spanning Tree</vt:lpstr>
      <vt:lpstr>Minimum Spanning Tree</vt:lpstr>
      <vt:lpstr>Minimum Spanning Tree</vt:lpstr>
      <vt:lpstr>Minimum Spanning Tree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Sonu Singh Rajpoot</dc:creator>
  <cp:lastModifiedBy>video recording 1</cp:lastModifiedBy>
  <cp:revision>691</cp:revision>
  <dcterms:created xsi:type="dcterms:W3CDTF">2020-12-02T15:29:53Z</dcterms:created>
  <dcterms:modified xsi:type="dcterms:W3CDTF">2021-11-13T05:19:52Z</dcterms:modified>
</cp:coreProperties>
</file>