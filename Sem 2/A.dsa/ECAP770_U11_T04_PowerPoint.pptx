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70" r:id="rId4"/>
    <p:sldId id="393" r:id="rId5"/>
    <p:sldId id="394" r:id="rId6"/>
    <p:sldId id="395" r:id="rId7"/>
    <p:sldId id="396" r:id="rId8"/>
    <p:sldId id="397" r:id="rId9"/>
    <p:sldId id="398" r:id="rId10"/>
    <p:sldId id="399" r:id="rId11"/>
    <p:sldId id="400" r:id="rId12"/>
    <p:sldId id="401" r:id="rId13"/>
    <p:sldId id="25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1F1F"/>
    <a:srgbClr val="7CAAF1"/>
    <a:srgbClr val="2C2C2C"/>
    <a:srgbClr val="191919"/>
    <a:srgbClr val="636973"/>
    <a:srgbClr val="999999"/>
    <a:srgbClr val="C2C2C2"/>
    <a:srgbClr val="00203F"/>
    <a:srgbClr val="ADF0D1"/>
    <a:srgbClr val="DD5C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660"/>
  </p:normalViewPr>
  <p:slideViewPr>
    <p:cSldViewPr snapToGrid="0">
      <p:cViewPr varScale="1">
        <p:scale>
          <a:sx n="68" d="100"/>
          <a:sy n="68" d="100"/>
        </p:scale>
        <p:origin x="13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EFDCE79-4E29-402C-B477-B11C4D011CD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grayscl/>
            <a:alphaModFix amt="90000"/>
          </a:blip>
          <a:stretch>
            <a:fillRect/>
          </a:stretch>
        </p:blipFill>
        <p:spPr>
          <a:xfrm>
            <a:off x="0" y="-1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992F9EE-5066-4DC7-9A8B-A0704FB56E63}"/>
              </a:ext>
            </a:extLst>
          </p:cNvPr>
          <p:cNvSpPr/>
          <p:nvPr userDrawn="1"/>
        </p:nvSpPr>
        <p:spPr>
          <a:xfrm>
            <a:off x="0" y="1440872"/>
            <a:ext cx="9144000" cy="3976255"/>
          </a:xfrm>
          <a:prstGeom prst="rect">
            <a:avLst/>
          </a:prstGeom>
          <a:solidFill>
            <a:srgbClr val="2C2C2C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451063-0A73-407E-9285-9A6C27FF3658}"/>
              </a:ext>
            </a:extLst>
          </p:cNvPr>
          <p:cNvSpPr txBox="1"/>
          <p:nvPr userDrawn="1"/>
        </p:nvSpPr>
        <p:spPr>
          <a:xfrm>
            <a:off x="318655" y="1551705"/>
            <a:ext cx="52508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ECAP770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37EDC-9BA2-4106-A0D1-49964EF39471}"/>
              </a:ext>
            </a:extLst>
          </p:cNvPr>
          <p:cNvSpPr txBox="1"/>
          <p:nvPr userDrawn="1"/>
        </p:nvSpPr>
        <p:spPr>
          <a:xfrm>
            <a:off x="263235" y="2970116"/>
            <a:ext cx="53478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cap="small" baseline="0" dirty="0">
                <a:solidFill>
                  <a:schemeClr val="bg1"/>
                </a:solidFill>
              </a:rPr>
              <a:t>Advance Data Structures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6C59E63-B3F3-40A8-A422-69AB2D35C404}"/>
              </a:ext>
            </a:extLst>
          </p:cNvPr>
          <p:cNvCxnSpPr>
            <a:cxnSpLocks/>
          </p:cNvCxnSpPr>
          <p:nvPr userDrawn="1"/>
        </p:nvCxnSpPr>
        <p:spPr>
          <a:xfrm>
            <a:off x="318655" y="3782289"/>
            <a:ext cx="5347855" cy="0"/>
          </a:xfrm>
          <a:prstGeom prst="line">
            <a:avLst/>
          </a:prstGeom>
          <a:ln w="31750">
            <a:solidFill>
              <a:schemeClr val="bg1">
                <a:alpha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03F2AB1-044B-42E4-8A81-97A7A2FE5418}"/>
              </a:ext>
            </a:extLst>
          </p:cNvPr>
          <p:cNvSpPr txBox="1"/>
          <p:nvPr userDrawn="1"/>
        </p:nvSpPr>
        <p:spPr>
          <a:xfrm>
            <a:off x="5999019" y="4563687"/>
            <a:ext cx="2826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Ashwani Kumar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979311-FF32-46BF-9637-46454C71F372}"/>
              </a:ext>
            </a:extLst>
          </p:cNvPr>
          <p:cNvSpPr txBox="1"/>
          <p:nvPr userDrawn="1"/>
        </p:nvSpPr>
        <p:spPr>
          <a:xfrm>
            <a:off x="6044739" y="5039622"/>
            <a:ext cx="28263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Assistant Professor</a:t>
            </a:r>
          </a:p>
        </p:txBody>
      </p:sp>
    </p:spTree>
    <p:extLst>
      <p:ext uri="{BB962C8B-B14F-4D97-AF65-F5344CB8AC3E}">
        <p14:creationId xmlns:p14="http://schemas.microsoft.com/office/powerpoint/2010/main" val="2108135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00050" y="2840182"/>
            <a:ext cx="8534400" cy="3827317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buFont typeface="Arial" panose="020B0604020202020204" pitchFamily="34" charset="0"/>
              <a:buNone/>
              <a:defRPr>
                <a:solidFill>
                  <a:srgbClr val="00203F"/>
                </a:solidFill>
              </a:defRPr>
            </a:lvl1pPr>
            <a:lvl2pPr>
              <a:lnSpc>
                <a:spcPct val="150000"/>
              </a:lnSpc>
              <a:buClr>
                <a:srgbClr val="FF0066"/>
              </a:buClr>
              <a:defRPr sz="2800"/>
            </a:lvl2pPr>
            <a:lvl3pPr>
              <a:buClr>
                <a:srgbClr val="FF0066"/>
              </a:buClr>
              <a:defRPr/>
            </a:lvl3pPr>
            <a:lvl4pPr>
              <a:buClr>
                <a:srgbClr val="FF0066"/>
              </a:buClr>
              <a:defRPr/>
            </a:lvl4pPr>
            <a:lvl5pPr>
              <a:buClr>
                <a:srgbClr val="FF0066"/>
              </a:buClr>
              <a:defRPr/>
            </a:lvl5pPr>
          </a:lstStyle>
          <a:p>
            <a:pPr lvl="1"/>
            <a:r>
              <a:rPr lang="en-US" dirty="0"/>
              <a:t>outcome 1</a:t>
            </a:r>
          </a:p>
          <a:p>
            <a:pPr lvl="1"/>
            <a:r>
              <a:rPr lang="en-US" dirty="0"/>
              <a:t>outcome 2</a:t>
            </a:r>
          </a:p>
          <a:p>
            <a:pPr lvl="1"/>
            <a:r>
              <a:rPr lang="en-US" dirty="0"/>
              <a:t>outcome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2095499"/>
          </a:xfrm>
          <a:prstGeom prst="rect">
            <a:avLst/>
          </a:prstGeom>
          <a:gradFill flip="none" rotWithShape="1">
            <a:gsLst>
              <a:gs pos="76000">
                <a:srgbClr val="636973"/>
              </a:gs>
              <a:gs pos="25000">
                <a:srgbClr val="2C2C2C"/>
              </a:gs>
              <a:gs pos="100000">
                <a:srgbClr val="999999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0050" y="0"/>
            <a:ext cx="8743950" cy="2095499"/>
          </a:xfrm>
        </p:spPr>
        <p:txBody>
          <a:bodyPr>
            <a:normAutofit/>
          </a:bodyPr>
          <a:lstStyle>
            <a:lvl1pPr>
              <a:defRPr sz="44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</a:t>
            </a:r>
          </a:p>
        </p:txBody>
      </p:sp>
      <p:pic>
        <p:nvPicPr>
          <p:cNvPr id="13" name="Graphic 12" descr="Bullseye with solid fill">
            <a:extLst>
              <a:ext uri="{FF2B5EF4-FFF2-40B4-BE49-F238E27FC236}">
                <a16:creationId xmlns:a16="http://schemas.microsoft.com/office/drawing/2014/main" id="{DA53A35D-A7FC-46DF-8F17-CB2B929D870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2465" y="201756"/>
            <a:ext cx="1691985" cy="1691985"/>
          </a:xfrm>
          <a:prstGeom prst="rect">
            <a:avLst/>
          </a:prstGeom>
          <a:effectLst>
            <a:outerShdw blurRad="63500" dist="63500" sx="104000" sy="104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8C5984-85FD-4A7B-BC9D-CFD0ADC314BC}"/>
              </a:ext>
            </a:extLst>
          </p:cNvPr>
          <p:cNvSpPr txBox="1"/>
          <p:nvPr userDrawn="1"/>
        </p:nvSpPr>
        <p:spPr>
          <a:xfrm>
            <a:off x="400050" y="2297255"/>
            <a:ext cx="80927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srgbClr val="1F1F1F"/>
                </a:solidFill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404072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Grey)">
    <p:bg>
      <p:bgPr>
        <a:blipFill dpi="0" rotWithShape="1">
          <a:blip r:embed="rId2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369877" cy="5124450"/>
          </a:xfrm>
        </p:spPr>
        <p:txBody>
          <a:bodyPr/>
          <a:lstStyle>
            <a:lvl1pPr algn="just">
              <a:lnSpc>
                <a:spcPct val="150000"/>
              </a:lnSpc>
              <a:buClr>
                <a:srgbClr val="FF0066"/>
              </a:buClr>
              <a:defRPr/>
            </a:lvl1pPr>
            <a:lvl2pPr algn="just">
              <a:lnSpc>
                <a:spcPct val="150000"/>
              </a:lnSpc>
              <a:buClr>
                <a:srgbClr val="FF0066"/>
              </a:buClr>
              <a:defRPr/>
            </a:lvl2pPr>
            <a:lvl3pPr algn="just">
              <a:lnSpc>
                <a:spcPct val="150000"/>
              </a:lnSpc>
              <a:buClr>
                <a:srgbClr val="FF0066"/>
              </a:buClr>
              <a:defRPr/>
            </a:lvl3pPr>
            <a:lvl4pPr algn="just">
              <a:lnSpc>
                <a:spcPct val="150000"/>
              </a:lnSpc>
              <a:buClr>
                <a:srgbClr val="FF0066"/>
              </a:buClr>
              <a:defRPr/>
            </a:lvl4pPr>
            <a:lvl5pPr algn="just"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1"/>
            <a:ext cx="8743950" cy="1314450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97622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050" y="1543050"/>
            <a:ext cx="8534400" cy="5124450"/>
          </a:xfrm>
        </p:spPr>
        <p:txBody>
          <a:bodyPr/>
          <a:lstStyle>
            <a:lvl1pPr>
              <a:lnSpc>
                <a:spcPct val="150000"/>
              </a:lnSpc>
              <a:buClr>
                <a:srgbClr val="FF0066"/>
              </a:buClr>
              <a:defRPr/>
            </a:lvl1pPr>
            <a:lvl2pPr>
              <a:lnSpc>
                <a:spcPct val="150000"/>
              </a:lnSpc>
              <a:buClr>
                <a:srgbClr val="FF0066"/>
              </a:buClr>
              <a:defRPr/>
            </a:lvl2pPr>
            <a:lvl3pPr>
              <a:lnSpc>
                <a:spcPct val="150000"/>
              </a:lnSpc>
              <a:buClr>
                <a:srgbClr val="FF0066"/>
              </a:buClr>
              <a:defRPr/>
            </a:lvl3pPr>
            <a:lvl4pPr>
              <a:lnSpc>
                <a:spcPct val="150000"/>
              </a:lnSpc>
              <a:buClr>
                <a:srgbClr val="FF0066"/>
              </a:buClr>
              <a:defRPr/>
            </a:lvl4pPr>
            <a:lvl5pPr>
              <a:lnSpc>
                <a:spcPct val="150000"/>
              </a:lnSpc>
              <a:buClr>
                <a:srgbClr val="FF0066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90D9AD-C954-4C2B-885A-E0CD61FABCA7}"/>
              </a:ext>
            </a:extLst>
          </p:cNvPr>
          <p:cNvSpPr/>
          <p:nvPr userDrawn="1"/>
        </p:nvSpPr>
        <p:spPr>
          <a:xfrm>
            <a:off x="0" y="0"/>
            <a:ext cx="9144000" cy="1325562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0050" y="0"/>
            <a:ext cx="8743950" cy="1325563"/>
          </a:xfrm>
        </p:spPr>
        <p:txBody>
          <a:bodyPr>
            <a:normAutofit/>
          </a:bodyPr>
          <a:lstStyle>
            <a:lvl1pPr>
              <a:defRPr sz="4000">
                <a:solidFill>
                  <a:srgbClr val="ADF0D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2039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23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70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33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8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276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blipFill dpi="0" rotWithShape="1">
          <a:blip r:embed="rId2">
            <a:alphaModFix amt="24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0D8FB24-47A5-44BC-AECD-0BC32C75DA0B}"/>
              </a:ext>
            </a:extLst>
          </p:cNvPr>
          <p:cNvSpPr/>
          <p:nvPr userDrawn="1"/>
        </p:nvSpPr>
        <p:spPr>
          <a:xfrm>
            <a:off x="548640" y="548640"/>
            <a:ext cx="8046720" cy="5760720"/>
          </a:xfrm>
          <a:prstGeom prst="roundRect">
            <a:avLst>
              <a:gd name="adj" fmla="val 6085"/>
            </a:avLst>
          </a:prstGeom>
          <a:solidFill>
            <a:srgbClr val="191919"/>
          </a:solidFill>
          <a:ln w="28575">
            <a:solidFill>
              <a:srgbClr val="ADF0D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solidFill>
                  <a:srgbClr val="ADF0D1"/>
                </a:solidFill>
              </a:rPr>
              <a:t>That’s all for now…</a:t>
            </a:r>
          </a:p>
        </p:txBody>
      </p:sp>
      <p:pic>
        <p:nvPicPr>
          <p:cNvPr id="10" name="Picture 9" descr="Icon&#10;&#10;Description automatically generated">
            <a:extLst>
              <a:ext uri="{FF2B5EF4-FFF2-40B4-BE49-F238E27FC236}">
                <a16:creationId xmlns:a16="http://schemas.microsoft.com/office/drawing/2014/main" id="{952D653F-880E-4704-B157-47A700D64B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0F10F3FB-B2E5-4042-8A74-C8150CE8F5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790379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1C516898-262F-4C12-85F9-35D321590C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790332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394B66A9-76CC-4130-959F-4495CE8CFE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5" t="9932" r="13734" b="18474"/>
          <a:stretch>
            <a:fillRect/>
          </a:stretch>
        </p:blipFill>
        <p:spPr>
          <a:xfrm>
            <a:off x="8125068" y="5839460"/>
            <a:ext cx="228600" cy="228600"/>
          </a:xfrm>
          <a:custGeom>
            <a:avLst/>
            <a:gdLst>
              <a:gd name="connsiteX0" fmla="*/ 722434 w 1444868"/>
              <a:gd name="connsiteY0" fmla="*/ 0 h 1444868"/>
              <a:gd name="connsiteX1" fmla="*/ 1444868 w 1444868"/>
              <a:gd name="connsiteY1" fmla="*/ 722434 h 1444868"/>
              <a:gd name="connsiteX2" fmla="*/ 722434 w 1444868"/>
              <a:gd name="connsiteY2" fmla="*/ 1444868 h 1444868"/>
              <a:gd name="connsiteX3" fmla="*/ 0 w 1444868"/>
              <a:gd name="connsiteY3" fmla="*/ 722434 h 1444868"/>
              <a:gd name="connsiteX4" fmla="*/ 722434 w 1444868"/>
              <a:gd name="connsiteY4" fmla="*/ 0 h 144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4868" h="1444868">
                <a:moveTo>
                  <a:pt x="722434" y="0"/>
                </a:moveTo>
                <a:cubicBezTo>
                  <a:pt x="1121423" y="0"/>
                  <a:pt x="1444868" y="323445"/>
                  <a:pt x="1444868" y="722434"/>
                </a:cubicBezTo>
                <a:cubicBezTo>
                  <a:pt x="1444868" y="1121423"/>
                  <a:pt x="1121423" y="1444868"/>
                  <a:pt x="722434" y="1444868"/>
                </a:cubicBezTo>
                <a:cubicBezTo>
                  <a:pt x="323445" y="1444868"/>
                  <a:pt x="0" y="1121423"/>
                  <a:pt x="0" y="722434"/>
                </a:cubicBezTo>
                <a:cubicBezTo>
                  <a:pt x="0" y="323445"/>
                  <a:pt x="323445" y="0"/>
                  <a:pt x="722434" y="0"/>
                </a:cubicBezTo>
                <a:close/>
              </a:path>
            </a:pathLst>
          </a:cu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8597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834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ClicX</a:t>
            </a:r>
            <a:r>
              <a:rPr lang="en-US" dirty="0"/>
              <a:t>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453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785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EE634-6B37-4575-989D-67DDA194FFF3}" type="datetimeFigureOut">
              <a:rPr lang="en-US" smtClean="0"/>
              <a:t>11/26/2021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EAAA1-D3CF-4C53-8B5F-CDA826E87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163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6" r:id="rId3"/>
    <p:sldLayoutId id="2147483674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5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2829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F5D201-13EE-4515-BCA8-C03A66FB0E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/>
            <a:r>
              <a:rPr lang="en-IN" dirty="0"/>
              <a:t>Understand </a:t>
            </a:r>
            <a:r>
              <a:rPr lang="en-IN" dirty="0" err="1"/>
              <a:t>warshall's</a:t>
            </a:r>
            <a:r>
              <a:rPr lang="en-IN" dirty="0"/>
              <a:t> algorithm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287DFED-79C6-45F1-801E-613D1FB56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389637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Floyd </a:t>
            </a:r>
            <a:r>
              <a:rPr lang="en-IN" dirty="0" err="1"/>
              <a:t>Warshall</a:t>
            </a:r>
            <a:r>
              <a:rPr lang="en-IN" dirty="0"/>
              <a:t> Algorithm is used for solving the All Pairs Shortest Path problem. </a:t>
            </a:r>
          </a:p>
          <a:p>
            <a:pPr algn="just"/>
            <a:r>
              <a:rPr lang="en-IN" dirty="0"/>
              <a:t>The problem is to finding the shortest path between all the pairs of vertices in a weighted directed Graph.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Floyd-</a:t>
            </a:r>
            <a:r>
              <a:rPr lang="en-IN" dirty="0" err="1"/>
              <a:t>Warshall</a:t>
            </a:r>
            <a:r>
              <a:rPr lang="en-IN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390351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This algorithm works for both the directed and undirected weighted graphs.</a:t>
            </a:r>
          </a:p>
          <a:p>
            <a:r>
              <a:rPr lang="en-IN" dirty="0"/>
              <a:t>Floyd-</a:t>
            </a:r>
            <a:r>
              <a:rPr lang="en-IN" dirty="0" err="1"/>
              <a:t>Warhshall</a:t>
            </a:r>
            <a:r>
              <a:rPr lang="en-IN" dirty="0"/>
              <a:t> algorithm  follows the dynamic programming approach to find the shortest paths.</a:t>
            </a:r>
          </a:p>
          <a:p>
            <a:r>
              <a:rPr lang="en-IN" dirty="0"/>
              <a:t>Floyd-</a:t>
            </a:r>
            <a:r>
              <a:rPr lang="en-IN" dirty="0" err="1"/>
              <a:t>Warhshall</a:t>
            </a:r>
            <a:r>
              <a:rPr lang="en-IN" dirty="0"/>
              <a:t> algorithm is also called as </a:t>
            </a:r>
            <a:r>
              <a:rPr lang="en-IN" b="1" dirty="0"/>
              <a:t>Floyd's algorithm</a:t>
            </a:r>
            <a:r>
              <a:rPr lang="en-IN" dirty="0"/>
              <a:t>,</a:t>
            </a:r>
            <a:r>
              <a:rPr lang="en-IN" b="1" dirty="0"/>
              <a:t> Roy-Floyd algorithm</a:t>
            </a:r>
            <a:r>
              <a:rPr lang="en-IN" dirty="0"/>
              <a:t>,</a:t>
            </a:r>
            <a:r>
              <a:rPr lang="en-IN" b="1" dirty="0"/>
              <a:t> Roy-</a:t>
            </a:r>
            <a:r>
              <a:rPr lang="en-IN" b="1" dirty="0" err="1"/>
              <a:t>Warshall</a:t>
            </a:r>
            <a:r>
              <a:rPr lang="en-IN" b="1" dirty="0"/>
              <a:t> algorithm</a:t>
            </a:r>
            <a:r>
              <a:rPr lang="en-IN" dirty="0"/>
              <a:t>,</a:t>
            </a:r>
            <a:r>
              <a:rPr lang="en-IN" b="1" dirty="0"/>
              <a:t> or WFI algorithm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Floyd-</a:t>
            </a:r>
            <a:r>
              <a:rPr lang="en-IN" dirty="0" err="1"/>
              <a:t>Warshall</a:t>
            </a:r>
            <a:r>
              <a:rPr lang="en-IN" dirty="0"/>
              <a:t> Algorithm</a:t>
            </a:r>
          </a:p>
        </p:txBody>
      </p:sp>
    </p:spTree>
    <p:extLst>
      <p:ext uri="{BB962C8B-B14F-4D97-AF65-F5344CB8AC3E}">
        <p14:creationId xmlns:p14="http://schemas.microsoft.com/office/powerpoint/2010/main" val="2291110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Floyd-</a:t>
            </a:r>
            <a:r>
              <a:rPr lang="en-IN" dirty="0" err="1"/>
              <a:t>Warshall</a:t>
            </a:r>
            <a:r>
              <a:rPr lang="en-IN" dirty="0"/>
              <a:t>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7595041" y="287905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7595041" y="454550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286047" y="454550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286047" y="287905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9" name="Straight Arrow Connector 8"/>
          <p:cNvCxnSpPr>
            <a:endCxn id="5" idx="1"/>
          </p:cNvCxnSpPr>
          <p:nvPr/>
        </p:nvCxnSpPr>
        <p:spPr>
          <a:xfrm>
            <a:off x="5771570" y="345017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4" idx="3"/>
            <a:endCxn id="6" idx="7"/>
          </p:cNvCxnSpPr>
          <p:nvPr/>
        </p:nvCxnSpPr>
        <p:spPr>
          <a:xfrm flipH="1">
            <a:off x="5819462" y="341380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4" idx="2"/>
          </p:cNvCxnSpPr>
          <p:nvPr/>
        </p:nvCxnSpPr>
        <p:spPr>
          <a:xfrm>
            <a:off x="5919590" y="319230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2"/>
          </p:cNvCxnSpPr>
          <p:nvPr/>
        </p:nvCxnSpPr>
        <p:spPr>
          <a:xfrm flipH="1">
            <a:off x="5919591" y="485876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6" idx="0"/>
            <a:endCxn id="7" idx="4"/>
          </p:cNvCxnSpPr>
          <p:nvPr/>
        </p:nvCxnSpPr>
        <p:spPr>
          <a:xfrm flipV="1">
            <a:off x="5598514" y="350555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5" idx="0"/>
            <a:endCxn id="4" idx="4"/>
          </p:cNvCxnSpPr>
          <p:nvPr/>
        </p:nvCxnSpPr>
        <p:spPr>
          <a:xfrm flipV="1">
            <a:off x="7907508" y="350555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230783" y="385904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5884" y="385904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278" y="407140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325" y="482239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4297" y="402804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0033" y="285933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701" y="2048669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046" y="3520607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8061" y="4711971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046" y="6056124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6145" y="2036787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6144" y="2433087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6146" y="1667455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67938" y="3793941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6314" y="3447110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44690" y="3136225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67938" y="5006550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167" y="4659719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6314" y="4354112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67938" y="6334576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72229" y="5985047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67938" y="5687662"/>
            <a:ext cx="309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cxnSp>
        <p:nvCxnSpPr>
          <p:cNvPr id="51" name="Straight Arrow Connector 50"/>
          <p:cNvCxnSpPr>
            <a:endCxn id="41" idx="1"/>
          </p:cNvCxnSpPr>
          <p:nvPr/>
        </p:nvCxnSpPr>
        <p:spPr>
          <a:xfrm flipV="1">
            <a:off x="884758" y="1852121"/>
            <a:ext cx="641388" cy="3812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 flipV="1">
            <a:off x="884757" y="2197506"/>
            <a:ext cx="652988" cy="71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893108" y="2342394"/>
            <a:ext cx="674830" cy="204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flipV="1">
            <a:off x="947716" y="3265750"/>
            <a:ext cx="641388" cy="3812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 flipV="1">
            <a:off x="947715" y="3611135"/>
            <a:ext cx="652988" cy="71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>
            <a:off x="956066" y="3756023"/>
            <a:ext cx="674830" cy="204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/>
          <p:nvPr/>
        </p:nvCxnSpPr>
        <p:spPr>
          <a:xfrm flipV="1">
            <a:off x="912549" y="4468568"/>
            <a:ext cx="641388" cy="3812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/>
          <p:cNvCxnSpPr/>
          <p:nvPr/>
        </p:nvCxnSpPr>
        <p:spPr>
          <a:xfrm flipV="1">
            <a:off x="912548" y="4813953"/>
            <a:ext cx="652988" cy="71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920899" y="4958841"/>
            <a:ext cx="674830" cy="204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 flipV="1">
            <a:off x="956067" y="5821803"/>
            <a:ext cx="641388" cy="3812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>
          <a:xfrm flipV="1">
            <a:off x="956066" y="6167188"/>
            <a:ext cx="652988" cy="716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/>
          <p:nvPr/>
        </p:nvCxnSpPr>
        <p:spPr>
          <a:xfrm>
            <a:off x="964417" y="6312076"/>
            <a:ext cx="674830" cy="2042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116804" y="1544308"/>
            <a:ext cx="308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All pair shortest path </a:t>
            </a:r>
          </a:p>
        </p:txBody>
      </p:sp>
    </p:spTree>
    <p:extLst>
      <p:ext uri="{BB962C8B-B14F-4D97-AF65-F5344CB8AC3E}">
        <p14:creationId xmlns:p14="http://schemas.microsoft.com/office/powerpoint/2010/main" val="60777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Floyd-</a:t>
            </a:r>
            <a:r>
              <a:rPr lang="en-IN" dirty="0" err="1"/>
              <a:t>Warshall</a:t>
            </a:r>
            <a:r>
              <a:rPr lang="en-IN" dirty="0"/>
              <a:t> Algorithm</a:t>
            </a:r>
          </a:p>
        </p:txBody>
      </p:sp>
      <p:sp>
        <p:nvSpPr>
          <p:cNvPr id="4" name="Left Bracket 3"/>
          <p:cNvSpPr/>
          <p:nvPr/>
        </p:nvSpPr>
        <p:spPr>
          <a:xfrm>
            <a:off x="6465090" y="3598090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Left Bracket 4"/>
          <p:cNvSpPr/>
          <p:nvPr/>
        </p:nvSpPr>
        <p:spPr>
          <a:xfrm flipH="1">
            <a:off x="7960357" y="3592168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6552431" y="3740965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7	∞	1</a:t>
            </a:r>
          </a:p>
          <a:p>
            <a:r>
              <a:rPr lang="en-IN" dirty="0"/>
              <a:t>∞ 	0	2 	∞</a:t>
            </a:r>
          </a:p>
          <a:p>
            <a:r>
              <a:rPr lang="en-IN" dirty="0"/>
              <a:t>5	∞ 	0	∞</a:t>
            </a:r>
          </a:p>
          <a:p>
            <a:r>
              <a:rPr lang="en-IN" dirty="0"/>
              <a:t>∞ 	2	8	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5090" y="3208224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56038" y="3774610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183017" y="21583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3183017" y="382477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874023" y="3824771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874023" y="2158314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3" name="Straight Arrow Connector 12"/>
          <p:cNvCxnSpPr>
            <a:endCxn id="10" idx="1"/>
          </p:cNvCxnSpPr>
          <p:nvPr/>
        </p:nvCxnSpPr>
        <p:spPr>
          <a:xfrm>
            <a:off x="1359546" y="2729432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1" idx="7"/>
          </p:cNvCxnSpPr>
          <p:nvPr/>
        </p:nvCxnSpPr>
        <p:spPr>
          <a:xfrm flipH="1">
            <a:off x="1407438" y="2693069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2"/>
          </p:cNvCxnSpPr>
          <p:nvPr/>
        </p:nvCxnSpPr>
        <p:spPr>
          <a:xfrm>
            <a:off x="1507566" y="2471566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2"/>
          </p:cNvCxnSpPr>
          <p:nvPr/>
        </p:nvCxnSpPr>
        <p:spPr>
          <a:xfrm flipH="1">
            <a:off x="1507567" y="4138024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0"/>
            <a:endCxn id="12" idx="4"/>
          </p:cNvCxnSpPr>
          <p:nvPr/>
        </p:nvCxnSpPr>
        <p:spPr>
          <a:xfrm flipV="1">
            <a:off x="1186490" y="2784819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9" idx="4"/>
          </p:cNvCxnSpPr>
          <p:nvPr/>
        </p:nvCxnSpPr>
        <p:spPr>
          <a:xfrm flipV="1">
            <a:off x="3495484" y="2784819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18759" y="3138310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0" y="3138310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6254" y="3350670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90301" y="410166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2273" y="3307303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8009" y="2138597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490" y="4052721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0 </a:t>
            </a:r>
            <a:r>
              <a:rPr lang="en-IN" sz="2400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542390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</a:t>
            </a:r>
            <a:r>
              <a:rPr lang="en-IN" baseline="30000" dirty="0"/>
              <a:t>1</a:t>
            </a:r>
            <a:endParaRPr lang="en-IN" dirty="0"/>
          </a:p>
        </p:txBody>
      </p:sp>
      <p:sp>
        <p:nvSpPr>
          <p:cNvPr id="4" name="Left Bracket 3"/>
          <p:cNvSpPr/>
          <p:nvPr/>
        </p:nvSpPr>
        <p:spPr>
          <a:xfrm>
            <a:off x="5754962" y="2029649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Left Bracket 4"/>
          <p:cNvSpPr/>
          <p:nvPr/>
        </p:nvSpPr>
        <p:spPr>
          <a:xfrm flipH="1">
            <a:off x="7250229" y="2023727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842303" y="2172524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7	∞	1</a:t>
            </a:r>
          </a:p>
          <a:p>
            <a:r>
              <a:rPr lang="en-IN" dirty="0"/>
              <a:t>∞ 	0	2 	∞</a:t>
            </a:r>
          </a:p>
          <a:p>
            <a:r>
              <a:rPr lang="en-IN" dirty="0"/>
              <a:t>5	 ∞ 	0	∞</a:t>
            </a:r>
          </a:p>
          <a:p>
            <a:r>
              <a:rPr lang="en-IN" dirty="0"/>
              <a:t>∞ 	2	8	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54962" y="1639783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5910" y="2206169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3014074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3014074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705080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705080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3" name="Straight Arrow Connector 12"/>
          <p:cNvCxnSpPr>
            <a:endCxn id="10" idx="1"/>
          </p:cNvCxnSpPr>
          <p:nvPr/>
        </p:nvCxnSpPr>
        <p:spPr>
          <a:xfrm>
            <a:off x="1190603" y="231116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1" idx="7"/>
          </p:cNvCxnSpPr>
          <p:nvPr/>
        </p:nvCxnSpPr>
        <p:spPr>
          <a:xfrm flipH="1">
            <a:off x="1238495" y="227479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2"/>
          </p:cNvCxnSpPr>
          <p:nvPr/>
        </p:nvCxnSpPr>
        <p:spPr>
          <a:xfrm>
            <a:off x="1338623" y="205329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2"/>
          </p:cNvCxnSpPr>
          <p:nvPr/>
        </p:nvCxnSpPr>
        <p:spPr>
          <a:xfrm flipH="1">
            <a:off x="1338624" y="371975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0"/>
            <a:endCxn id="12" idx="4"/>
          </p:cNvCxnSpPr>
          <p:nvPr/>
        </p:nvCxnSpPr>
        <p:spPr>
          <a:xfrm flipV="1">
            <a:off x="1017547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9" idx="4"/>
          </p:cNvCxnSpPr>
          <p:nvPr/>
        </p:nvCxnSpPr>
        <p:spPr>
          <a:xfrm flipV="1">
            <a:off x="3326541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9816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4917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7311" y="293239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358" y="368338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3330" y="288903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9066" y="172032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9362" y="2484280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0 </a:t>
            </a:r>
            <a:r>
              <a:rPr lang="en-IN" sz="2400" dirty="0"/>
              <a:t>=</a:t>
            </a:r>
          </a:p>
        </p:txBody>
      </p:sp>
      <p:sp>
        <p:nvSpPr>
          <p:cNvPr id="26" name="Left Bracket 25"/>
          <p:cNvSpPr/>
          <p:nvPr/>
        </p:nvSpPr>
        <p:spPr>
          <a:xfrm>
            <a:off x="1378331" y="4864580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Left Bracket 26"/>
          <p:cNvSpPr/>
          <p:nvPr/>
        </p:nvSpPr>
        <p:spPr>
          <a:xfrm flipH="1">
            <a:off x="2873598" y="4858658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1465672" y="5007455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0	7	∞	1</a:t>
            </a:r>
          </a:p>
          <a:p>
            <a:r>
              <a:rPr lang="en-IN" b="1" dirty="0">
                <a:solidFill>
                  <a:srgbClr val="FF0000"/>
                </a:solidFill>
              </a:rPr>
              <a:t>∞</a:t>
            </a:r>
            <a:r>
              <a:rPr lang="en-IN" dirty="0"/>
              <a:t> 	0	2 	∞</a:t>
            </a:r>
          </a:p>
          <a:p>
            <a:r>
              <a:rPr lang="en-IN" b="1" dirty="0">
                <a:solidFill>
                  <a:srgbClr val="FF0000"/>
                </a:solidFill>
              </a:rPr>
              <a:t>5</a:t>
            </a:r>
            <a:r>
              <a:rPr lang="en-IN" dirty="0"/>
              <a:t>    </a:t>
            </a:r>
            <a:r>
              <a:rPr lang="en-IN" dirty="0">
                <a:solidFill>
                  <a:srgbClr val="00B050"/>
                </a:solidFill>
              </a:rPr>
              <a:t>12 </a:t>
            </a:r>
            <a:r>
              <a:rPr lang="en-IN" dirty="0"/>
              <a:t>	0	</a:t>
            </a:r>
            <a:r>
              <a:rPr lang="en-IN" dirty="0">
                <a:solidFill>
                  <a:srgbClr val="00B050"/>
                </a:solidFill>
              </a:rPr>
              <a:t>6</a:t>
            </a:r>
          </a:p>
          <a:p>
            <a:r>
              <a:rPr lang="en-IN" b="1" dirty="0">
                <a:solidFill>
                  <a:srgbClr val="FF0000"/>
                </a:solidFill>
              </a:rPr>
              <a:t>∞</a:t>
            </a:r>
            <a:r>
              <a:rPr lang="en-IN" dirty="0"/>
              <a:t> 	2	8	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8331" y="4474714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79" y="5041100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731" y="5319211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1 </a:t>
            </a:r>
            <a:r>
              <a:rPr lang="en-IN" sz="2400" dirty="0"/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2313" y="4105382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3= (2-1),(1-3) == </a:t>
            </a:r>
            <a:r>
              <a:rPr lang="en-IN" b="1" dirty="0"/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2312" y="4381269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4= (2-1),(1-4) == </a:t>
            </a:r>
            <a:r>
              <a:rPr lang="en-IN" b="1" dirty="0"/>
              <a:t>∞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2311" y="4706601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2= (3-1),(1-2) == </a:t>
            </a:r>
            <a:r>
              <a:rPr lang="en-IN" b="1" dirty="0"/>
              <a:t>5+7=&gt;12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12312" y="5026488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4= (3-1),(1-4) == </a:t>
            </a:r>
            <a:r>
              <a:rPr lang="en-IN" b="1" dirty="0"/>
              <a:t>5+1=&gt;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2310" y="5307820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2= (4-1),(1-4) == </a:t>
            </a:r>
            <a:r>
              <a:rPr lang="en-IN" b="1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2308" y="5593989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3= (4-1),(1-3) == </a:t>
            </a:r>
            <a:r>
              <a:rPr lang="en-IN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88776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245503" y="13639"/>
            <a:ext cx="8743950" cy="1314450"/>
          </a:xfrm>
        </p:spPr>
        <p:txBody>
          <a:bodyPr/>
          <a:lstStyle/>
          <a:p>
            <a:r>
              <a:rPr lang="en-IN" dirty="0"/>
              <a:t>D</a:t>
            </a:r>
            <a:r>
              <a:rPr lang="en-IN" baseline="30000" dirty="0"/>
              <a:t>2</a:t>
            </a:r>
            <a:endParaRPr lang="en-IN" dirty="0"/>
          </a:p>
        </p:txBody>
      </p:sp>
      <p:sp>
        <p:nvSpPr>
          <p:cNvPr id="9" name="Oval 8"/>
          <p:cNvSpPr/>
          <p:nvPr/>
        </p:nvSpPr>
        <p:spPr>
          <a:xfrm>
            <a:off x="3014074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3014074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11" name="Oval 10"/>
          <p:cNvSpPr/>
          <p:nvPr/>
        </p:nvSpPr>
        <p:spPr>
          <a:xfrm>
            <a:off x="705080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705080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13" name="Straight Arrow Connector 12"/>
          <p:cNvCxnSpPr>
            <a:endCxn id="10" idx="1"/>
          </p:cNvCxnSpPr>
          <p:nvPr/>
        </p:nvCxnSpPr>
        <p:spPr>
          <a:xfrm>
            <a:off x="1190603" y="231116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3"/>
            <a:endCxn id="11" idx="7"/>
          </p:cNvCxnSpPr>
          <p:nvPr/>
        </p:nvCxnSpPr>
        <p:spPr>
          <a:xfrm flipH="1">
            <a:off x="1238495" y="227479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endCxn id="9" idx="2"/>
          </p:cNvCxnSpPr>
          <p:nvPr/>
        </p:nvCxnSpPr>
        <p:spPr>
          <a:xfrm>
            <a:off x="1338623" y="205329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0" idx="2"/>
          </p:cNvCxnSpPr>
          <p:nvPr/>
        </p:nvCxnSpPr>
        <p:spPr>
          <a:xfrm flipH="1">
            <a:off x="1338624" y="371975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1" idx="0"/>
            <a:endCxn id="12" idx="4"/>
          </p:cNvCxnSpPr>
          <p:nvPr/>
        </p:nvCxnSpPr>
        <p:spPr>
          <a:xfrm flipV="1">
            <a:off x="1017547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0" idx="0"/>
            <a:endCxn id="9" idx="4"/>
          </p:cNvCxnSpPr>
          <p:nvPr/>
        </p:nvCxnSpPr>
        <p:spPr>
          <a:xfrm flipV="1">
            <a:off x="3326541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9816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4917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7311" y="293239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1358" y="368338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3330" y="288903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9066" y="172032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6" name="Left Bracket 25"/>
          <p:cNvSpPr/>
          <p:nvPr/>
        </p:nvSpPr>
        <p:spPr>
          <a:xfrm>
            <a:off x="6169272" y="2073828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Left Bracket 26"/>
          <p:cNvSpPr/>
          <p:nvPr/>
        </p:nvSpPr>
        <p:spPr>
          <a:xfrm flipH="1">
            <a:off x="7664539" y="2067906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6256613" y="2216703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0	7	∞	1</a:t>
            </a:r>
          </a:p>
          <a:p>
            <a:r>
              <a:rPr lang="en-IN" b="1" dirty="0">
                <a:solidFill>
                  <a:srgbClr val="FF0000"/>
                </a:solidFill>
              </a:rPr>
              <a:t>∞</a:t>
            </a:r>
            <a:r>
              <a:rPr lang="en-IN" dirty="0"/>
              <a:t> 	0	2 	∞</a:t>
            </a:r>
          </a:p>
          <a:p>
            <a:r>
              <a:rPr lang="en-IN" b="1" dirty="0">
                <a:solidFill>
                  <a:srgbClr val="FF0000"/>
                </a:solidFill>
              </a:rPr>
              <a:t>5</a:t>
            </a:r>
            <a:r>
              <a:rPr lang="en-IN" dirty="0"/>
              <a:t>    </a:t>
            </a:r>
            <a:r>
              <a:rPr lang="en-IN" dirty="0">
                <a:solidFill>
                  <a:srgbClr val="00B050"/>
                </a:solidFill>
              </a:rPr>
              <a:t>12 </a:t>
            </a:r>
            <a:r>
              <a:rPr lang="en-IN" dirty="0"/>
              <a:t>	0	</a:t>
            </a:r>
            <a:r>
              <a:rPr lang="en-IN" dirty="0">
                <a:solidFill>
                  <a:srgbClr val="00B050"/>
                </a:solidFill>
              </a:rPr>
              <a:t>6</a:t>
            </a:r>
          </a:p>
          <a:p>
            <a:r>
              <a:rPr lang="en-IN" b="1" dirty="0">
                <a:solidFill>
                  <a:srgbClr val="FF0000"/>
                </a:solidFill>
              </a:rPr>
              <a:t>∞</a:t>
            </a:r>
            <a:r>
              <a:rPr lang="en-IN" dirty="0"/>
              <a:t> 	2	8	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9272" y="1683962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220" y="2250348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7076" y="2528459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1 </a:t>
            </a:r>
            <a:r>
              <a:rPr lang="en-IN" sz="2400" dirty="0"/>
              <a:t>=</a:t>
            </a:r>
          </a:p>
        </p:txBody>
      </p:sp>
      <p:sp>
        <p:nvSpPr>
          <p:cNvPr id="44" name="Left Bracket 43"/>
          <p:cNvSpPr/>
          <p:nvPr/>
        </p:nvSpPr>
        <p:spPr>
          <a:xfrm>
            <a:off x="1338623" y="4910732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Left Bracket 44"/>
          <p:cNvSpPr/>
          <p:nvPr/>
        </p:nvSpPr>
        <p:spPr>
          <a:xfrm flipH="1">
            <a:off x="2833890" y="4904810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423020" y="5055621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</a:t>
            </a:r>
            <a:r>
              <a:rPr lang="en-IN" b="1" dirty="0">
                <a:solidFill>
                  <a:srgbClr val="FF0000"/>
                </a:solidFill>
              </a:rPr>
              <a:t>7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9</a:t>
            </a:r>
            <a:r>
              <a:rPr lang="en-IN" dirty="0"/>
              <a:t>	1</a:t>
            </a:r>
          </a:p>
          <a:p>
            <a:r>
              <a:rPr lang="en-IN" b="1" dirty="0">
                <a:solidFill>
                  <a:srgbClr val="FF0000"/>
                </a:solidFill>
              </a:rPr>
              <a:t>∞ 	0	2 	∞</a:t>
            </a:r>
          </a:p>
          <a:p>
            <a:r>
              <a:rPr lang="en-IN" dirty="0"/>
              <a:t>5    </a:t>
            </a:r>
            <a:r>
              <a:rPr lang="en-IN" b="1" dirty="0">
                <a:solidFill>
                  <a:srgbClr val="FF0000"/>
                </a:solidFill>
              </a:rPr>
              <a:t>12</a:t>
            </a:r>
            <a:r>
              <a:rPr lang="en-IN" dirty="0"/>
              <a:t> 	0	6</a:t>
            </a:r>
          </a:p>
          <a:p>
            <a:r>
              <a:rPr lang="en-IN" dirty="0"/>
              <a:t>∞ 	</a:t>
            </a:r>
            <a:r>
              <a:rPr lang="en-IN" b="1" dirty="0">
                <a:solidFill>
                  <a:srgbClr val="FF0000"/>
                </a:solidFill>
              </a:rPr>
              <a:t>2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4</a:t>
            </a:r>
            <a:r>
              <a:rPr lang="en-IN" dirty="0"/>
              <a:t>	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38623" y="4520866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9571" y="5087252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6427" y="5365363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2 </a:t>
            </a:r>
            <a:r>
              <a:rPr lang="en-IN" sz="2400" dirty="0"/>
              <a:t>=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12313" y="4105382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3= (1-2),(2-3) == </a:t>
            </a:r>
            <a:r>
              <a:rPr lang="en-IN" b="1" dirty="0"/>
              <a:t>7+2=&gt;9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12313" y="4372936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4= (1-2),(2-4) == </a:t>
            </a:r>
            <a:r>
              <a:rPr lang="en-IN" b="1" dirty="0"/>
              <a:t>1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12248" y="4640490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1= (3-2),(2-1) == </a:t>
            </a:r>
            <a:r>
              <a:rPr lang="en-IN" b="1" dirty="0"/>
              <a:t>5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12248" y="4916501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4= (3-2),(2-4) == </a:t>
            </a:r>
            <a:r>
              <a:rPr lang="en-IN" b="1" dirty="0"/>
              <a:t>6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12248" y="5216158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1= (4-2),(2-4) == ∞ </a:t>
            </a:r>
            <a:r>
              <a:rPr lang="en-IN" b="1" dirty="0"/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2247" y="5502765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3= (4-2),(2-3) == 2+2=&gt;4 </a:t>
            </a: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3875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Oval 37"/>
          <p:cNvSpPr/>
          <p:nvPr/>
        </p:nvSpPr>
        <p:spPr>
          <a:xfrm>
            <a:off x="1408044" y="5881184"/>
            <a:ext cx="317036" cy="374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/>
          <p:cNvSpPr/>
          <p:nvPr/>
        </p:nvSpPr>
        <p:spPr>
          <a:xfrm>
            <a:off x="2757640" y="5333516"/>
            <a:ext cx="345627" cy="2952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</a:t>
            </a:r>
            <a:r>
              <a:rPr lang="en-IN" baseline="30000" dirty="0"/>
              <a:t>3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3014074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3014074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705080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705080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8" name="Straight Arrow Connector 7"/>
          <p:cNvCxnSpPr>
            <a:endCxn id="5" idx="1"/>
          </p:cNvCxnSpPr>
          <p:nvPr/>
        </p:nvCxnSpPr>
        <p:spPr>
          <a:xfrm>
            <a:off x="1190603" y="231116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6" idx="7"/>
          </p:cNvCxnSpPr>
          <p:nvPr/>
        </p:nvCxnSpPr>
        <p:spPr>
          <a:xfrm flipH="1">
            <a:off x="1238495" y="227479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4" idx="2"/>
          </p:cNvCxnSpPr>
          <p:nvPr/>
        </p:nvCxnSpPr>
        <p:spPr>
          <a:xfrm>
            <a:off x="1338623" y="205329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 flipH="1">
            <a:off x="1338624" y="371975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0"/>
            <a:endCxn id="7" idx="4"/>
          </p:cNvCxnSpPr>
          <p:nvPr/>
        </p:nvCxnSpPr>
        <p:spPr>
          <a:xfrm flipV="1">
            <a:off x="1017547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0"/>
            <a:endCxn id="4" idx="4"/>
          </p:cNvCxnSpPr>
          <p:nvPr/>
        </p:nvCxnSpPr>
        <p:spPr>
          <a:xfrm flipV="1">
            <a:off x="3326541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816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4917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7311" y="293239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358" y="368338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43330" y="288903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9066" y="172032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0" name="Left Bracket 19"/>
          <p:cNvSpPr/>
          <p:nvPr/>
        </p:nvSpPr>
        <p:spPr>
          <a:xfrm>
            <a:off x="5611558" y="2029649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Left Bracket 20"/>
          <p:cNvSpPr/>
          <p:nvPr/>
        </p:nvSpPr>
        <p:spPr>
          <a:xfrm flipH="1">
            <a:off x="7106825" y="2023727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/>
          <p:cNvSpPr txBox="1"/>
          <p:nvPr/>
        </p:nvSpPr>
        <p:spPr>
          <a:xfrm>
            <a:off x="5695955" y="2174538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</a:t>
            </a:r>
            <a:r>
              <a:rPr lang="en-IN" b="1" dirty="0">
                <a:solidFill>
                  <a:srgbClr val="FF0000"/>
                </a:solidFill>
              </a:rPr>
              <a:t>7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9</a:t>
            </a:r>
            <a:r>
              <a:rPr lang="en-IN" dirty="0"/>
              <a:t>	1</a:t>
            </a:r>
          </a:p>
          <a:p>
            <a:r>
              <a:rPr lang="en-IN" b="1" dirty="0">
                <a:solidFill>
                  <a:srgbClr val="FF0000"/>
                </a:solidFill>
              </a:rPr>
              <a:t>∞ 	0	2 	∞</a:t>
            </a:r>
          </a:p>
          <a:p>
            <a:r>
              <a:rPr lang="en-IN" dirty="0"/>
              <a:t>5    </a:t>
            </a:r>
            <a:r>
              <a:rPr lang="en-IN" b="1" dirty="0">
                <a:solidFill>
                  <a:srgbClr val="FF0000"/>
                </a:solidFill>
              </a:rPr>
              <a:t>12</a:t>
            </a:r>
            <a:r>
              <a:rPr lang="en-IN" dirty="0"/>
              <a:t> 	0	6</a:t>
            </a:r>
          </a:p>
          <a:p>
            <a:r>
              <a:rPr lang="en-IN" dirty="0"/>
              <a:t>∞ 	</a:t>
            </a:r>
            <a:r>
              <a:rPr lang="en-IN" b="1" dirty="0">
                <a:solidFill>
                  <a:srgbClr val="FF0000"/>
                </a:solidFill>
              </a:rPr>
              <a:t>2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4</a:t>
            </a:r>
            <a:r>
              <a:rPr lang="en-IN" dirty="0"/>
              <a:t>	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1558" y="1639783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02506" y="2206169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9362" y="2484280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2 </a:t>
            </a:r>
            <a:r>
              <a:rPr lang="en-IN" sz="2400" dirty="0"/>
              <a:t>=</a:t>
            </a:r>
          </a:p>
        </p:txBody>
      </p:sp>
      <p:sp>
        <p:nvSpPr>
          <p:cNvPr id="26" name="Left Bracket 25"/>
          <p:cNvSpPr/>
          <p:nvPr/>
        </p:nvSpPr>
        <p:spPr>
          <a:xfrm>
            <a:off x="1338623" y="4910732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Left Bracket 26"/>
          <p:cNvSpPr/>
          <p:nvPr/>
        </p:nvSpPr>
        <p:spPr>
          <a:xfrm flipH="1">
            <a:off x="2833890" y="4904810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TextBox 27"/>
          <p:cNvSpPr txBox="1"/>
          <p:nvPr/>
        </p:nvSpPr>
        <p:spPr>
          <a:xfrm>
            <a:off x="1410506" y="5055621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7	</a:t>
            </a:r>
            <a:r>
              <a:rPr lang="en-IN" b="1" dirty="0">
                <a:solidFill>
                  <a:srgbClr val="FF0000"/>
                </a:solidFill>
              </a:rPr>
              <a:t>9</a:t>
            </a:r>
            <a:r>
              <a:rPr lang="en-IN" dirty="0"/>
              <a:t>	1</a:t>
            </a:r>
          </a:p>
          <a:p>
            <a:r>
              <a:rPr lang="en-IN" b="1" dirty="0">
                <a:solidFill>
                  <a:srgbClr val="00B050"/>
                </a:solidFill>
              </a:rPr>
              <a:t>7</a:t>
            </a:r>
            <a:r>
              <a:rPr lang="en-IN" dirty="0"/>
              <a:t> 	0	</a:t>
            </a:r>
            <a:r>
              <a:rPr lang="en-IN" b="1" dirty="0">
                <a:solidFill>
                  <a:srgbClr val="FF0000"/>
                </a:solidFill>
              </a:rPr>
              <a:t>2 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8</a:t>
            </a:r>
          </a:p>
          <a:p>
            <a:r>
              <a:rPr lang="en-IN" b="1" dirty="0">
                <a:solidFill>
                  <a:srgbClr val="FF0000"/>
                </a:solidFill>
              </a:rPr>
              <a:t>5    12 	0	6</a:t>
            </a:r>
          </a:p>
          <a:p>
            <a:r>
              <a:rPr lang="en-IN" dirty="0">
                <a:solidFill>
                  <a:srgbClr val="00B050"/>
                </a:solidFill>
              </a:rPr>
              <a:t>9</a:t>
            </a:r>
            <a:r>
              <a:rPr lang="en-IN" dirty="0"/>
              <a:t> 	2	</a:t>
            </a:r>
            <a:r>
              <a:rPr lang="en-IN" b="1" dirty="0">
                <a:solidFill>
                  <a:srgbClr val="FF0000"/>
                </a:solidFill>
              </a:rPr>
              <a:t>4</a:t>
            </a:r>
            <a:r>
              <a:rPr lang="en-IN" dirty="0"/>
              <a:t>	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8623" y="4520866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9571" y="5087252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27" y="5365363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3 </a:t>
            </a:r>
            <a:r>
              <a:rPr lang="en-IN" sz="2400" dirty="0"/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12313" y="4105382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2= (1-3),(3-2) == </a:t>
            </a:r>
            <a:r>
              <a:rPr lang="en-IN" b="1" dirty="0"/>
              <a:t>7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12312" y="4349638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4= (1-3),(3-4) == 1</a:t>
            </a:r>
            <a:r>
              <a:rPr lang="en-IN" b="1" dirty="0"/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7586" y="4615380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1= (2-3),(3-1) == 7</a:t>
            </a:r>
            <a:r>
              <a:rPr lang="en-IN" b="1" dirty="0"/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2860" y="4881122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4= (2-3),(3-4 </a:t>
            </a:r>
            <a:r>
              <a:rPr lang="en-IN" dirty="0">
                <a:solidFill>
                  <a:srgbClr val="FF0000"/>
                </a:solidFill>
              </a:rPr>
              <a:t>(3-1)(1-4)</a:t>
            </a:r>
            <a:r>
              <a:rPr lang="en-IN" dirty="0"/>
              <a:t>)==2+5+1=&gt;8 </a:t>
            </a:r>
            <a:r>
              <a:rPr lang="en-IN" b="1" dirty="0"/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2312" y="5155417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1= (4-3</a:t>
            </a:r>
            <a:r>
              <a:rPr lang="en-IN" dirty="0">
                <a:solidFill>
                  <a:srgbClr val="FF0000"/>
                </a:solidFill>
              </a:rPr>
              <a:t>(4-2)(2-3)</a:t>
            </a:r>
            <a:r>
              <a:rPr lang="en-IN" dirty="0"/>
              <a:t>) ,(3-1) == 2+2+5=&gt;9</a:t>
            </a:r>
            <a:r>
              <a:rPr lang="en-IN" b="1" dirty="0"/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2312" y="5411529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 to 2= (4-3),(3-2) == 2</a:t>
            </a: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81870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Oval 52"/>
          <p:cNvSpPr/>
          <p:nvPr/>
        </p:nvSpPr>
        <p:spPr>
          <a:xfrm>
            <a:off x="1805482" y="5625038"/>
            <a:ext cx="328787" cy="3339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</a:t>
            </a:r>
            <a:r>
              <a:rPr lang="en-IN" baseline="30000" dirty="0"/>
              <a:t>4</a:t>
            </a:r>
            <a:endParaRPr lang="en-IN" dirty="0"/>
          </a:p>
        </p:txBody>
      </p:sp>
      <p:sp>
        <p:nvSpPr>
          <p:cNvPr id="4" name="Oval 3"/>
          <p:cNvSpPr/>
          <p:nvPr/>
        </p:nvSpPr>
        <p:spPr>
          <a:xfrm>
            <a:off x="2988316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2988316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679322" y="340649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79322" y="174004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8" name="Straight Arrow Connector 7"/>
          <p:cNvCxnSpPr>
            <a:endCxn id="5" idx="1"/>
          </p:cNvCxnSpPr>
          <p:nvPr/>
        </p:nvCxnSpPr>
        <p:spPr>
          <a:xfrm>
            <a:off x="1164845" y="231116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6" idx="7"/>
          </p:cNvCxnSpPr>
          <p:nvPr/>
        </p:nvCxnSpPr>
        <p:spPr>
          <a:xfrm flipH="1">
            <a:off x="1212737" y="227479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4" idx="2"/>
          </p:cNvCxnSpPr>
          <p:nvPr/>
        </p:nvCxnSpPr>
        <p:spPr>
          <a:xfrm>
            <a:off x="1312865" y="205329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 flipH="1">
            <a:off x="1312866" y="371975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0"/>
            <a:endCxn id="7" idx="4"/>
          </p:cNvCxnSpPr>
          <p:nvPr/>
        </p:nvCxnSpPr>
        <p:spPr>
          <a:xfrm flipV="1">
            <a:off x="991789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0"/>
            <a:endCxn id="4" idx="4"/>
          </p:cNvCxnSpPr>
          <p:nvPr/>
        </p:nvCxnSpPr>
        <p:spPr>
          <a:xfrm flipV="1">
            <a:off x="3300783" y="236654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4058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89159" y="272003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1553" y="293239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95600" y="368338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7572" y="288903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3308" y="172032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5655221" y="3100360"/>
            <a:ext cx="317036" cy="374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7004817" y="2552692"/>
            <a:ext cx="345627" cy="2952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Left Bracket 21"/>
          <p:cNvSpPr/>
          <p:nvPr/>
        </p:nvSpPr>
        <p:spPr>
          <a:xfrm>
            <a:off x="5585800" y="2129908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Left Bracket 22"/>
          <p:cNvSpPr/>
          <p:nvPr/>
        </p:nvSpPr>
        <p:spPr>
          <a:xfrm flipH="1">
            <a:off x="7081067" y="2123986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657683" y="2274797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7	</a:t>
            </a:r>
            <a:r>
              <a:rPr lang="en-IN" b="1" dirty="0">
                <a:solidFill>
                  <a:srgbClr val="FF0000"/>
                </a:solidFill>
              </a:rPr>
              <a:t>9</a:t>
            </a:r>
            <a:r>
              <a:rPr lang="en-IN" dirty="0"/>
              <a:t>	1</a:t>
            </a:r>
          </a:p>
          <a:p>
            <a:r>
              <a:rPr lang="en-IN" b="1" dirty="0">
                <a:solidFill>
                  <a:srgbClr val="00B050"/>
                </a:solidFill>
              </a:rPr>
              <a:t>7</a:t>
            </a:r>
            <a:r>
              <a:rPr lang="en-IN" dirty="0"/>
              <a:t> 	0	</a:t>
            </a:r>
            <a:r>
              <a:rPr lang="en-IN" b="1" dirty="0">
                <a:solidFill>
                  <a:srgbClr val="FF0000"/>
                </a:solidFill>
              </a:rPr>
              <a:t>2 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8</a:t>
            </a:r>
          </a:p>
          <a:p>
            <a:r>
              <a:rPr lang="en-IN" b="1" dirty="0">
                <a:solidFill>
                  <a:srgbClr val="FF0000"/>
                </a:solidFill>
              </a:rPr>
              <a:t>5    12 	0	6</a:t>
            </a:r>
          </a:p>
          <a:p>
            <a:r>
              <a:rPr lang="en-IN" dirty="0">
                <a:solidFill>
                  <a:srgbClr val="00B050"/>
                </a:solidFill>
              </a:rPr>
              <a:t>9</a:t>
            </a:r>
            <a:r>
              <a:rPr lang="en-IN" dirty="0"/>
              <a:t> 	2	</a:t>
            </a:r>
            <a:r>
              <a:rPr lang="en-IN" b="1" dirty="0">
                <a:solidFill>
                  <a:srgbClr val="FF0000"/>
                </a:solidFill>
              </a:rPr>
              <a:t>4</a:t>
            </a:r>
            <a:r>
              <a:rPr lang="en-IN" dirty="0"/>
              <a:t>	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5800" y="1740042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76748" y="2306428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3604" y="2584539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3 </a:t>
            </a:r>
            <a:r>
              <a:rPr lang="en-IN" sz="2400" dirty="0"/>
              <a:t>=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12313" y="4105382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2= (1-4),(4-2) == 1+2=&gt;3</a:t>
            </a:r>
            <a:r>
              <a:rPr lang="en-IN" b="1" dirty="0"/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2312" y="4407513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 to 3= (1-4),(4-3</a:t>
            </a:r>
            <a:r>
              <a:rPr lang="en-IN" dirty="0">
                <a:solidFill>
                  <a:srgbClr val="FF0000"/>
                </a:solidFill>
              </a:rPr>
              <a:t>(4-2)(2-3)</a:t>
            </a:r>
            <a:r>
              <a:rPr lang="en-IN" dirty="0"/>
              <a:t>) == 1+2+2=&gt;5</a:t>
            </a:r>
            <a:r>
              <a:rPr lang="en-IN" b="1" dirty="0"/>
              <a:t> </a:t>
            </a:r>
          </a:p>
        </p:txBody>
      </p:sp>
      <p:sp>
        <p:nvSpPr>
          <p:cNvPr id="39" name="Oval 38"/>
          <p:cNvSpPr/>
          <p:nvPr/>
        </p:nvSpPr>
        <p:spPr>
          <a:xfrm>
            <a:off x="1373677" y="5904275"/>
            <a:ext cx="317036" cy="374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/>
          <p:cNvSpPr/>
          <p:nvPr/>
        </p:nvSpPr>
        <p:spPr>
          <a:xfrm>
            <a:off x="2723273" y="5356607"/>
            <a:ext cx="345627" cy="2952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Left Bracket 40"/>
          <p:cNvSpPr/>
          <p:nvPr/>
        </p:nvSpPr>
        <p:spPr>
          <a:xfrm>
            <a:off x="1304256" y="4933823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Left Bracket 41"/>
          <p:cNvSpPr/>
          <p:nvPr/>
        </p:nvSpPr>
        <p:spPr>
          <a:xfrm flipH="1">
            <a:off x="2799523" y="4927901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/>
          <p:cNvSpPr txBox="1"/>
          <p:nvPr/>
        </p:nvSpPr>
        <p:spPr>
          <a:xfrm>
            <a:off x="1376139" y="5078712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0	</a:t>
            </a:r>
            <a:r>
              <a:rPr lang="en-IN" b="1" dirty="0">
                <a:solidFill>
                  <a:srgbClr val="00B050"/>
                </a:solidFill>
              </a:rPr>
              <a:t>3</a:t>
            </a:r>
            <a:r>
              <a:rPr lang="en-IN" dirty="0"/>
              <a:t>	</a:t>
            </a:r>
            <a:r>
              <a:rPr lang="en-IN" b="1" dirty="0">
                <a:solidFill>
                  <a:srgbClr val="00B050"/>
                </a:solidFill>
              </a:rPr>
              <a:t>5</a:t>
            </a: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1</a:t>
            </a:r>
          </a:p>
          <a:p>
            <a:r>
              <a:rPr lang="en-IN" dirty="0"/>
              <a:t>7 	0	2 	</a:t>
            </a:r>
            <a:r>
              <a:rPr lang="en-IN" dirty="0">
                <a:solidFill>
                  <a:srgbClr val="FF0000"/>
                </a:solidFill>
              </a:rPr>
              <a:t>8</a:t>
            </a:r>
          </a:p>
          <a:p>
            <a:r>
              <a:rPr lang="en-IN" dirty="0"/>
              <a:t>5     </a:t>
            </a:r>
            <a:r>
              <a:rPr lang="en-IN" b="1" dirty="0">
                <a:solidFill>
                  <a:srgbClr val="00B050"/>
                </a:solidFill>
              </a:rPr>
              <a:t>8</a:t>
            </a:r>
            <a:r>
              <a:rPr lang="en-IN" dirty="0"/>
              <a:t> 	0	</a:t>
            </a:r>
            <a:r>
              <a:rPr lang="en-IN" dirty="0">
                <a:solidFill>
                  <a:srgbClr val="FF0000"/>
                </a:solidFill>
              </a:rPr>
              <a:t>6</a:t>
            </a:r>
          </a:p>
          <a:p>
            <a:r>
              <a:rPr lang="en-IN" dirty="0">
                <a:solidFill>
                  <a:srgbClr val="FF0000"/>
                </a:solidFill>
              </a:rPr>
              <a:t>9 	2	4	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04256" y="4543957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5204" y="5110343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2060" y="5388454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4 </a:t>
            </a:r>
            <a:r>
              <a:rPr lang="en-IN" sz="2400" dirty="0"/>
              <a:t>=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22033" y="4704006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1= (2-4),(4-1) == 7</a:t>
            </a:r>
            <a:r>
              <a:rPr lang="en-IN" b="1" dirty="0"/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2032" y="4987275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 to 3= (2-4),(4-3) == 2</a:t>
            </a:r>
            <a:r>
              <a:rPr lang="en-IN" b="1" dirty="0"/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33101" y="5282476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1= (3-4),(4-1) == 5</a:t>
            </a:r>
            <a:r>
              <a:rPr lang="en-IN" b="1" dirty="0"/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33101" y="5565745"/>
            <a:ext cx="460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 to 2= (3-4</a:t>
            </a:r>
            <a:r>
              <a:rPr lang="en-IN" dirty="0">
                <a:solidFill>
                  <a:srgbClr val="FF0000"/>
                </a:solidFill>
              </a:rPr>
              <a:t>(3-1)(1-4)</a:t>
            </a:r>
            <a:r>
              <a:rPr lang="en-IN" dirty="0"/>
              <a:t>),(4-2) == 5+1+2=&gt;8</a:t>
            </a:r>
            <a:r>
              <a:rPr lang="en-IN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2093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Floyd-</a:t>
            </a:r>
            <a:r>
              <a:rPr lang="en-IN" dirty="0" err="1"/>
              <a:t>Warshall</a:t>
            </a:r>
            <a:r>
              <a:rPr lang="en-IN" dirty="0"/>
              <a:t> Algorithm</a:t>
            </a:r>
          </a:p>
        </p:txBody>
      </p:sp>
      <p:sp>
        <p:nvSpPr>
          <p:cNvPr id="4" name="Oval 3"/>
          <p:cNvSpPr/>
          <p:nvPr/>
        </p:nvSpPr>
        <p:spPr>
          <a:xfrm>
            <a:off x="2847713" y="297927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2847713" y="464572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4</a:t>
            </a:r>
          </a:p>
        </p:txBody>
      </p:sp>
      <p:sp>
        <p:nvSpPr>
          <p:cNvPr id="6" name="Oval 5"/>
          <p:cNvSpPr/>
          <p:nvPr/>
        </p:nvSpPr>
        <p:spPr>
          <a:xfrm>
            <a:off x="538719" y="4645729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538719" y="2979272"/>
            <a:ext cx="624934" cy="626505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1</a:t>
            </a:r>
          </a:p>
        </p:txBody>
      </p:sp>
      <p:cxnSp>
        <p:nvCxnSpPr>
          <p:cNvPr id="8" name="Straight Arrow Connector 7"/>
          <p:cNvCxnSpPr>
            <a:endCxn id="5" idx="1"/>
          </p:cNvCxnSpPr>
          <p:nvPr/>
        </p:nvCxnSpPr>
        <p:spPr>
          <a:xfrm>
            <a:off x="1024242" y="3550390"/>
            <a:ext cx="1914990" cy="118708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4" idx="3"/>
            <a:endCxn id="6" idx="7"/>
          </p:cNvCxnSpPr>
          <p:nvPr/>
        </p:nvCxnSpPr>
        <p:spPr>
          <a:xfrm flipH="1">
            <a:off x="1072134" y="3514027"/>
            <a:ext cx="1867098" cy="12234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endCxn id="4" idx="2"/>
          </p:cNvCxnSpPr>
          <p:nvPr/>
        </p:nvCxnSpPr>
        <p:spPr>
          <a:xfrm>
            <a:off x="1172262" y="3292524"/>
            <a:ext cx="1675451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</p:cNvCxnSpPr>
          <p:nvPr/>
        </p:nvCxnSpPr>
        <p:spPr>
          <a:xfrm flipH="1">
            <a:off x="1172263" y="4958982"/>
            <a:ext cx="1675450" cy="1805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6" idx="0"/>
            <a:endCxn id="7" idx="4"/>
          </p:cNvCxnSpPr>
          <p:nvPr/>
        </p:nvCxnSpPr>
        <p:spPr>
          <a:xfrm flipV="1">
            <a:off x="851186" y="360577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0"/>
            <a:endCxn id="4" idx="4"/>
          </p:cNvCxnSpPr>
          <p:nvPr/>
        </p:nvCxnSpPr>
        <p:spPr>
          <a:xfrm flipV="1">
            <a:off x="3160180" y="3605777"/>
            <a:ext cx="0" cy="103995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83455" y="395926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48556" y="395926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0950" y="4171628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4997" y="4922619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76969" y="4128261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705" y="2959555"/>
            <a:ext cx="321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6858024" y="3739698"/>
            <a:ext cx="316858" cy="31549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/>
          <p:cNvSpPr/>
          <p:nvPr/>
        </p:nvSpPr>
        <p:spPr>
          <a:xfrm>
            <a:off x="6820129" y="4291398"/>
            <a:ext cx="328787" cy="33396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/>
          <p:cNvSpPr/>
          <p:nvPr/>
        </p:nvSpPr>
        <p:spPr>
          <a:xfrm>
            <a:off x="6388324" y="4570635"/>
            <a:ext cx="317036" cy="37476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/>
          <p:cNvSpPr/>
          <p:nvPr/>
        </p:nvSpPr>
        <p:spPr>
          <a:xfrm>
            <a:off x="7737920" y="4022967"/>
            <a:ext cx="345627" cy="2952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Left Bracket 23"/>
          <p:cNvSpPr/>
          <p:nvPr/>
        </p:nvSpPr>
        <p:spPr>
          <a:xfrm>
            <a:off x="6318903" y="3600183"/>
            <a:ext cx="347834" cy="1376849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Left Bracket 24"/>
          <p:cNvSpPr/>
          <p:nvPr/>
        </p:nvSpPr>
        <p:spPr>
          <a:xfrm flipH="1">
            <a:off x="7814170" y="3594261"/>
            <a:ext cx="379216" cy="1382772"/>
          </a:xfrm>
          <a:prstGeom prst="leftBracket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/>
          <p:cNvSpPr txBox="1"/>
          <p:nvPr/>
        </p:nvSpPr>
        <p:spPr>
          <a:xfrm>
            <a:off x="6390786" y="3745072"/>
            <a:ext cx="1916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0	3	5	1</a:t>
            </a:r>
          </a:p>
          <a:p>
            <a:r>
              <a:rPr lang="en-IN" b="1" dirty="0"/>
              <a:t>7 	0	2 	8</a:t>
            </a:r>
          </a:p>
          <a:p>
            <a:r>
              <a:rPr lang="en-IN" b="1" dirty="0"/>
              <a:t>5     8 	0	6</a:t>
            </a:r>
          </a:p>
          <a:p>
            <a:r>
              <a:rPr lang="en-IN" b="1" dirty="0"/>
              <a:t>9 	2	4	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903" y="3210317"/>
            <a:ext cx="190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	2	3	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09851" y="3776703"/>
            <a:ext cx="397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123</a:t>
            </a:r>
          </a:p>
          <a:p>
            <a:r>
              <a:rPr lang="en-IN" dirty="0"/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6707" y="4054814"/>
            <a:ext cx="844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D</a:t>
            </a:r>
            <a:r>
              <a:rPr lang="en-IN" sz="2400" baseline="30000" dirty="0"/>
              <a:t>4 </a:t>
            </a:r>
            <a:r>
              <a:rPr lang="en-IN" sz="2400" dirty="0"/>
              <a:t>=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3889420" y="4022967"/>
            <a:ext cx="940157" cy="474626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/>
          <p:cNvSpPr txBox="1"/>
          <p:nvPr/>
        </p:nvSpPr>
        <p:spPr>
          <a:xfrm>
            <a:off x="3116804" y="1544308"/>
            <a:ext cx="3082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All pair shortest path </a:t>
            </a:r>
          </a:p>
        </p:txBody>
      </p:sp>
    </p:spTree>
    <p:extLst>
      <p:ext uri="{BB962C8B-B14F-4D97-AF65-F5344CB8AC3E}">
        <p14:creationId xmlns:p14="http://schemas.microsoft.com/office/powerpoint/2010/main" val="357071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Time complexity = O(|V|3) </a:t>
            </a:r>
          </a:p>
          <a:p>
            <a:r>
              <a:rPr lang="en-IN" dirty="0"/>
              <a:t>Space complexity = O(|V|2)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Complexity </a:t>
            </a:r>
          </a:p>
        </p:txBody>
      </p:sp>
    </p:spTree>
    <p:extLst>
      <p:ext uri="{BB962C8B-B14F-4D97-AF65-F5344CB8AC3E}">
        <p14:creationId xmlns:p14="http://schemas.microsoft.com/office/powerpoint/2010/main" val="258533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9230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14328</TotalTime>
  <Words>887</Words>
  <Application>Microsoft Office PowerPoint</Application>
  <PresentationFormat>On-screen Show (4:3)</PresentationFormat>
  <Paragraphs>211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Bahnschrift</vt:lpstr>
      <vt:lpstr>Bahnschrift SemiBold</vt:lpstr>
      <vt:lpstr>Office Theme</vt:lpstr>
      <vt:lpstr>PowerPoint Presentation</vt:lpstr>
      <vt:lpstr>Learning Outcomes</vt:lpstr>
      <vt:lpstr>Floyd-Warshall Algorithm</vt:lpstr>
      <vt:lpstr>Floyd-Warshall Algorithm</vt:lpstr>
      <vt:lpstr>Floyd-Warshall Algorithm</vt:lpstr>
      <vt:lpstr>Floyd-Warshall Algorithm</vt:lpstr>
      <vt:lpstr>D1</vt:lpstr>
      <vt:lpstr>D2</vt:lpstr>
      <vt:lpstr>D3</vt:lpstr>
      <vt:lpstr>D4</vt:lpstr>
      <vt:lpstr>Floyd-Warshall Algorithm</vt:lpstr>
      <vt:lpstr>Complexity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recording2</cp:lastModifiedBy>
  <cp:revision>851</cp:revision>
  <dcterms:created xsi:type="dcterms:W3CDTF">2020-12-02T15:29:53Z</dcterms:created>
  <dcterms:modified xsi:type="dcterms:W3CDTF">2021-11-26T07:39:02Z</dcterms:modified>
</cp:coreProperties>
</file>