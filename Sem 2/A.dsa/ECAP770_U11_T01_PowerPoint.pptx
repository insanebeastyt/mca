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57" r:id="rId4"/>
    <p:sldId id="364" r:id="rId5"/>
    <p:sldId id="365" r:id="rId6"/>
    <p:sldId id="366" r:id="rId7"/>
    <p:sldId id="367" r:id="rId8"/>
    <p:sldId id="368" r:id="rId9"/>
    <p:sldId id="369" r:id="rId10"/>
    <p:sldId id="373" r:id="rId11"/>
    <p:sldId id="374" r:id="rId12"/>
    <p:sldId id="379" r:id="rId13"/>
    <p:sldId id="375" r:id="rId14"/>
    <p:sldId id="376" r:id="rId15"/>
    <p:sldId id="377" r:id="rId16"/>
    <p:sldId id="378" r:id="rId17"/>
    <p:sldId id="370" r:id="rId18"/>
    <p:sldId id="371" r:id="rId19"/>
    <p:sldId id="25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7CAAF1"/>
    <a:srgbClr val="2C2C2C"/>
    <a:srgbClr val="191919"/>
    <a:srgbClr val="636973"/>
    <a:srgbClr val="999999"/>
    <a:srgbClr val="C2C2C2"/>
    <a:srgbClr val="00203F"/>
    <a:srgbClr val="ADF0D1"/>
    <a:srgbClr val="DD5C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32" autoAdjust="0"/>
    <p:restoredTop sz="94660"/>
  </p:normalViewPr>
  <p:slideViewPr>
    <p:cSldViewPr snapToGrid="0">
      <p:cViewPr varScale="1">
        <p:scale>
          <a:sx n="79" d="100"/>
          <a:sy n="79" d="100"/>
        </p:scale>
        <p:origin x="15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FDCE79-4E29-402C-B477-B11C4D011C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grayscl/>
            <a:alphaModFix amt="90000"/>
          </a:blip>
          <a:stretch>
            <a:fillRect/>
          </a:stretch>
        </p:blipFill>
        <p:spPr>
          <a:xfrm>
            <a:off x="0" y="-1"/>
            <a:ext cx="9144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992F9EE-5066-4DC7-9A8B-A0704FB56E63}"/>
              </a:ext>
            </a:extLst>
          </p:cNvPr>
          <p:cNvSpPr/>
          <p:nvPr userDrawn="1"/>
        </p:nvSpPr>
        <p:spPr>
          <a:xfrm>
            <a:off x="0" y="1440872"/>
            <a:ext cx="9144000" cy="3976255"/>
          </a:xfrm>
          <a:prstGeom prst="rect">
            <a:avLst/>
          </a:prstGeom>
          <a:solidFill>
            <a:srgbClr val="2C2C2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451063-0A73-407E-9285-9A6C27FF3658}"/>
              </a:ext>
            </a:extLst>
          </p:cNvPr>
          <p:cNvSpPr txBox="1"/>
          <p:nvPr userDrawn="1"/>
        </p:nvSpPr>
        <p:spPr>
          <a:xfrm>
            <a:off x="318655" y="1551705"/>
            <a:ext cx="52508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ECAP770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D37EDC-9BA2-4106-A0D1-49964EF39471}"/>
              </a:ext>
            </a:extLst>
          </p:cNvPr>
          <p:cNvSpPr txBox="1"/>
          <p:nvPr userDrawn="1"/>
        </p:nvSpPr>
        <p:spPr>
          <a:xfrm>
            <a:off x="263235" y="2970116"/>
            <a:ext cx="53478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cap="small" baseline="0" dirty="0">
                <a:solidFill>
                  <a:schemeClr val="bg1"/>
                </a:solidFill>
              </a:rPr>
              <a:t>Advance Data Structures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59E63-B3F3-40A8-A422-69AB2D35C404}"/>
              </a:ext>
            </a:extLst>
          </p:cNvPr>
          <p:cNvCxnSpPr>
            <a:cxnSpLocks/>
          </p:cNvCxnSpPr>
          <p:nvPr userDrawn="1"/>
        </p:nvCxnSpPr>
        <p:spPr>
          <a:xfrm>
            <a:off x="318655" y="3782289"/>
            <a:ext cx="5347855" cy="0"/>
          </a:xfrm>
          <a:prstGeom prst="line">
            <a:avLst/>
          </a:prstGeom>
          <a:ln w="31750">
            <a:solidFill>
              <a:schemeClr val="bg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3F2AB1-044B-42E4-8A81-97A7A2FE5418}"/>
              </a:ext>
            </a:extLst>
          </p:cNvPr>
          <p:cNvSpPr txBox="1"/>
          <p:nvPr userDrawn="1"/>
        </p:nvSpPr>
        <p:spPr>
          <a:xfrm>
            <a:off x="5999019" y="4563687"/>
            <a:ext cx="2826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Ashwani Kumar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979311-FF32-46BF-9637-46454C71F372}"/>
              </a:ext>
            </a:extLst>
          </p:cNvPr>
          <p:cNvSpPr txBox="1"/>
          <p:nvPr userDrawn="1"/>
        </p:nvSpPr>
        <p:spPr>
          <a:xfrm>
            <a:off x="6044739" y="5039622"/>
            <a:ext cx="2826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Assistant Professor</a:t>
            </a:r>
          </a:p>
        </p:txBody>
      </p:sp>
    </p:spTree>
    <p:extLst>
      <p:ext uri="{BB962C8B-B14F-4D97-AF65-F5344CB8AC3E}">
        <p14:creationId xmlns:p14="http://schemas.microsoft.com/office/powerpoint/2010/main" val="2108135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0050" y="2840182"/>
            <a:ext cx="8534400" cy="3827317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buFont typeface="Arial" panose="020B0604020202020204" pitchFamily="34" charset="0"/>
              <a:buNone/>
              <a:defRPr>
                <a:solidFill>
                  <a:srgbClr val="00203F"/>
                </a:solidFill>
              </a:defRPr>
            </a:lvl1pPr>
            <a:lvl2pPr>
              <a:lnSpc>
                <a:spcPct val="150000"/>
              </a:lnSpc>
              <a:buClr>
                <a:srgbClr val="FF0066"/>
              </a:buClr>
              <a:defRPr sz="2800"/>
            </a:lvl2pPr>
            <a:lvl3pPr>
              <a:buClr>
                <a:srgbClr val="FF0066"/>
              </a:buClr>
              <a:defRPr/>
            </a:lvl3pPr>
            <a:lvl4pPr>
              <a:buClr>
                <a:srgbClr val="FF0066"/>
              </a:buClr>
              <a:defRPr/>
            </a:lvl4pPr>
            <a:lvl5pPr>
              <a:buClr>
                <a:srgbClr val="FF0066"/>
              </a:buClr>
              <a:defRPr/>
            </a:lvl5pPr>
          </a:lstStyle>
          <a:p>
            <a:pPr lvl="1"/>
            <a:r>
              <a:rPr lang="en-US" dirty="0"/>
              <a:t>outcome 1</a:t>
            </a:r>
          </a:p>
          <a:p>
            <a:pPr lvl="1"/>
            <a:r>
              <a:rPr lang="en-US" dirty="0"/>
              <a:t>outcome 2</a:t>
            </a:r>
          </a:p>
          <a:p>
            <a:pPr lvl="1"/>
            <a:r>
              <a:rPr lang="en-US" dirty="0"/>
              <a:t>outcome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2095499"/>
          </a:xfrm>
          <a:prstGeom prst="rect">
            <a:avLst/>
          </a:prstGeom>
          <a:gradFill flip="none" rotWithShape="1">
            <a:gsLst>
              <a:gs pos="76000">
                <a:srgbClr val="636973"/>
              </a:gs>
              <a:gs pos="25000">
                <a:srgbClr val="2C2C2C"/>
              </a:gs>
              <a:gs pos="100000">
                <a:srgbClr val="99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0050" y="0"/>
            <a:ext cx="8743950" cy="2095499"/>
          </a:xfrm>
        </p:spPr>
        <p:txBody>
          <a:bodyPr>
            <a:normAutofit/>
          </a:bodyPr>
          <a:lstStyle>
            <a:lvl1pPr>
              <a:defRPr sz="44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Learning</a:t>
            </a:r>
            <a:br>
              <a:rPr lang="en-US" dirty="0"/>
            </a:br>
            <a:r>
              <a:rPr lang="en-US" dirty="0"/>
              <a:t>Outcome</a:t>
            </a:r>
          </a:p>
        </p:txBody>
      </p:sp>
      <p:pic>
        <p:nvPicPr>
          <p:cNvPr id="13" name="Graphic 12" descr="Bullseye with solid fill">
            <a:extLst>
              <a:ext uri="{FF2B5EF4-FFF2-40B4-BE49-F238E27FC236}">
                <a16:creationId xmlns:a16="http://schemas.microsoft.com/office/drawing/2014/main" id="{DA53A35D-A7FC-46DF-8F17-CB2B929D87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2465" y="201756"/>
            <a:ext cx="1691985" cy="1691985"/>
          </a:xfrm>
          <a:prstGeom prst="rect">
            <a:avLst/>
          </a:prstGeom>
          <a:effectLst>
            <a:outerShdw blurRad="63500" dist="63500" sx="104000" sy="104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8C5984-85FD-4A7B-BC9D-CFD0ADC314BC}"/>
              </a:ext>
            </a:extLst>
          </p:cNvPr>
          <p:cNvSpPr txBox="1"/>
          <p:nvPr userDrawn="1"/>
        </p:nvSpPr>
        <p:spPr>
          <a:xfrm>
            <a:off x="400050" y="2297255"/>
            <a:ext cx="8092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1F1F1F"/>
                </a:solidFill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404072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Grey)">
    <p:bg>
      <p:bgPr>
        <a:blipFill dpi="0" rotWithShape="1">
          <a:blip r:embed="rId2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543050"/>
            <a:ext cx="8534400" cy="5124450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defRPr/>
            </a:lvl1pPr>
            <a:lvl2pPr>
              <a:lnSpc>
                <a:spcPct val="150000"/>
              </a:lnSpc>
              <a:buClr>
                <a:srgbClr val="FF0066"/>
              </a:buClr>
              <a:defRPr/>
            </a:lvl2pPr>
            <a:lvl3pPr>
              <a:lnSpc>
                <a:spcPct val="150000"/>
              </a:lnSpc>
              <a:buClr>
                <a:srgbClr val="FF0066"/>
              </a:buClr>
              <a:defRPr/>
            </a:lvl3pPr>
            <a:lvl4pPr>
              <a:lnSpc>
                <a:spcPct val="150000"/>
              </a:lnSpc>
              <a:buClr>
                <a:srgbClr val="FF0066"/>
              </a:buClr>
              <a:defRPr/>
            </a:lvl4pPr>
            <a:lvl5pPr>
              <a:lnSpc>
                <a:spcPct val="150000"/>
              </a:lnSpc>
              <a:buClr>
                <a:srgbClr val="FF006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132556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1"/>
            <a:ext cx="8743950" cy="1314450"/>
          </a:xfrm>
        </p:spPr>
        <p:txBody>
          <a:bodyPr>
            <a:normAutofit/>
          </a:bodyPr>
          <a:lstStyle>
            <a:lvl1pPr>
              <a:defRPr sz="40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7622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543050"/>
            <a:ext cx="8534400" cy="5124450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defRPr/>
            </a:lvl1pPr>
            <a:lvl2pPr>
              <a:lnSpc>
                <a:spcPct val="150000"/>
              </a:lnSpc>
              <a:buClr>
                <a:srgbClr val="FF0066"/>
              </a:buClr>
              <a:defRPr/>
            </a:lvl2pPr>
            <a:lvl3pPr>
              <a:lnSpc>
                <a:spcPct val="150000"/>
              </a:lnSpc>
              <a:buClr>
                <a:srgbClr val="FF0066"/>
              </a:buClr>
              <a:defRPr/>
            </a:lvl3pPr>
            <a:lvl4pPr>
              <a:lnSpc>
                <a:spcPct val="150000"/>
              </a:lnSpc>
              <a:buClr>
                <a:srgbClr val="FF0066"/>
              </a:buClr>
              <a:defRPr/>
            </a:lvl4pPr>
            <a:lvl5pPr>
              <a:lnSpc>
                <a:spcPct val="150000"/>
              </a:lnSpc>
              <a:buClr>
                <a:srgbClr val="FF006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132556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0"/>
            <a:ext cx="874395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2039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23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00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33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8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76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blipFill dpi="0" rotWithShape="1">
          <a:blip r:embed="rId2">
            <a:alphaModFix amt="24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0D8FB24-47A5-44BC-AECD-0BC32C75DA0B}"/>
              </a:ext>
            </a:extLst>
          </p:cNvPr>
          <p:cNvSpPr/>
          <p:nvPr userDrawn="1"/>
        </p:nvSpPr>
        <p:spPr>
          <a:xfrm>
            <a:off x="548640" y="548640"/>
            <a:ext cx="8046720" cy="5760720"/>
          </a:xfrm>
          <a:prstGeom prst="roundRect">
            <a:avLst>
              <a:gd name="adj" fmla="val 6085"/>
            </a:avLst>
          </a:prstGeom>
          <a:solidFill>
            <a:srgbClr val="191919"/>
          </a:solidFill>
          <a:ln w="28575">
            <a:solidFill>
              <a:srgbClr val="ADF0D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rgbClr val="ADF0D1"/>
                </a:solidFill>
              </a:rPr>
              <a:t>That’s all for now…</a:t>
            </a: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952D653F-880E-4704-B157-47A700D64B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790332" y="790379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0F10F3FB-B2E5-4042-8A74-C8150CE8F5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8125068" y="790379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1C516898-262F-4C12-85F9-35D321590C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790332" y="5839460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394B66A9-76CC-4130-959F-4495CE8CFE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8125068" y="5839460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859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34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err="1"/>
              <a:t>ClicX</a:t>
            </a:r>
            <a:r>
              <a:rPr lang="en-US" dirty="0"/>
              <a:t>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53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785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EE634-6B37-4575-989D-67DDA194FFF3}" type="datetimeFigureOut">
              <a:rPr lang="en-US" smtClean="0"/>
              <a:t>11/13/2021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163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6" r:id="rId3"/>
    <p:sldLayoutId id="2147483674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5" r:id="rId10"/>
    <p:sldLayoutId id="2147483668" r:id="rId11"/>
    <p:sldLayoutId id="2147483669" r:id="rId12"/>
    <p:sldLayoutId id="2147483670" r:id="rId13"/>
    <p:sldLayoutId id="21474836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829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F5D201-13EE-4515-BCA8-C03A66FB0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/>
            <a:r>
              <a:rPr lang="en-IN" dirty="0"/>
              <a:t>Understand breadth first search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87DFED-79C6-45F1-801E-613D1FB56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</p:spTree>
    <p:extLst>
      <p:ext uri="{BB962C8B-B14F-4D97-AF65-F5344CB8AC3E}">
        <p14:creationId xmlns:p14="http://schemas.microsoft.com/office/powerpoint/2010/main" val="3896377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IN" dirty="0"/>
              <a:t>In Graph traversal visiting every vertex and edge exactly once in a well-defined order.</a:t>
            </a:r>
          </a:p>
          <a:p>
            <a:pPr algn="just"/>
            <a:r>
              <a:rPr lang="en-IN" dirty="0"/>
              <a:t>In graph algorithms, you must ensure that each vertex of the graph is visited exactly once. </a:t>
            </a:r>
          </a:p>
          <a:p>
            <a:pPr algn="just"/>
            <a:r>
              <a:rPr lang="en-IN" dirty="0"/>
              <a:t>The order in which the vertices are visited may depend upon the algorithm or type of problem going to solve.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Graph traversals</a:t>
            </a:r>
          </a:p>
        </p:txBody>
      </p:sp>
    </p:spTree>
    <p:extLst>
      <p:ext uri="{BB962C8B-B14F-4D97-AF65-F5344CB8AC3E}">
        <p14:creationId xmlns:p14="http://schemas.microsoft.com/office/powerpoint/2010/main" val="1918968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Breadth First Search (BFS)</a:t>
            </a:r>
          </a:p>
          <a:p>
            <a:pPr algn="just"/>
            <a:r>
              <a:rPr lang="en-IN" dirty="0"/>
              <a:t>Depth First Search (DFS)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 Traversal Algorithm</a:t>
            </a:r>
          </a:p>
        </p:txBody>
      </p:sp>
    </p:spTree>
    <p:extLst>
      <p:ext uri="{BB962C8B-B14F-4D97-AF65-F5344CB8AC3E}">
        <p14:creationId xmlns:p14="http://schemas.microsoft.com/office/powerpoint/2010/main" val="2480413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Breadth first search is a graph traversal algorithm that starts traversing the graph from root node and explores all the neighbouring nodes. Then, it selects the nearest node and explore all the unexplored nodes. </a:t>
            </a:r>
          </a:p>
          <a:p>
            <a:pPr algn="just"/>
            <a:r>
              <a:rPr lang="en-IN" dirty="0"/>
              <a:t>The algorithm follows the same process for each of the nearest node until it finds the goal.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Breadth First Search </a:t>
            </a:r>
          </a:p>
        </p:txBody>
      </p:sp>
    </p:spTree>
    <p:extLst>
      <p:ext uri="{BB962C8B-B14F-4D97-AF65-F5344CB8AC3E}">
        <p14:creationId xmlns:p14="http://schemas.microsoft.com/office/powerpoint/2010/main" val="2521470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For using BFS algorithm user should know about data structure </a:t>
            </a:r>
            <a:r>
              <a:rPr lang="en-IN" b="1" dirty="0"/>
              <a:t>queue</a:t>
            </a:r>
            <a:r>
              <a:rPr lang="en-IN" dirty="0"/>
              <a:t> and its relevant operations like en-queue and de-queue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Breadth First Search </a:t>
            </a:r>
          </a:p>
        </p:txBody>
      </p:sp>
    </p:spTree>
    <p:extLst>
      <p:ext uri="{BB962C8B-B14F-4D97-AF65-F5344CB8AC3E}">
        <p14:creationId xmlns:p14="http://schemas.microsoft.com/office/powerpoint/2010/main" val="1416061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Step 1: SET STATUS = 1 (ready state)</a:t>
            </a:r>
          </a:p>
          <a:p>
            <a:pPr marL="0" indent="0">
              <a:buNone/>
            </a:pPr>
            <a:r>
              <a:rPr lang="en-IN" dirty="0"/>
              <a:t>	for each node in G</a:t>
            </a:r>
          </a:p>
          <a:p>
            <a:pPr marL="0" indent="0">
              <a:buNone/>
            </a:pPr>
            <a:r>
              <a:rPr lang="en-IN" dirty="0"/>
              <a:t>Step 2: </a:t>
            </a:r>
            <a:r>
              <a:rPr lang="en-IN" dirty="0" err="1"/>
              <a:t>Enqueue</a:t>
            </a:r>
            <a:r>
              <a:rPr lang="en-IN" dirty="0"/>
              <a:t> the starting node A</a:t>
            </a:r>
          </a:p>
          <a:p>
            <a:pPr marL="0" indent="0">
              <a:buNone/>
            </a:pPr>
            <a:r>
              <a:rPr lang="en-IN" dirty="0"/>
              <a:t>	and set its STATUS = 2</a:t>
            </a:r>
          </a:p>
          <a:p>
            <a:pPr marL="0" indent="0">
              <a:buNone/>
            </a:pPr>
            <a:r>
              <a:rPr lang="en-IN" dirty="0"/>
              <a:t>	(waiting state)</a:t>
            </a:r>
          </a:p>
          <a:p>
            <a:pPr marL="0" indent="0">
              <a:buNone/>
            </a:pPr>
            <a:r>
              <a:rPr lang="en-IN" dirty="0"/>
              <a:t>Step 3: Repeat Steps 4 and 5 until</a:t>
            </a:r>
          </a:p>
          <a:p>
            <a:pPr marL="0" indent="0">
              <a:buNone/>
            </a:pPr>
            <a:r>
              <a:rPr lang="en-IN" dirty="0"/>
              <a:t>	QUEUE is empty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Algorithm: Breadth First Search </a:t>
            </a:r>
          </a:p>
        </p:txBody>
      </p:sp>
    </p:spTree>
    <p:extLst>
      <p:ext uri="{BB962C8B-B14F-4D97-AF65-F5344CB8AC3E}">
        <p14:creationId xmlns:p14="http://schemas.microsoft.com/office/powerpoint/2010/main" val="1436460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IN" dirty="0"/>
              <a:t>Step 4: </a:t>
            </a:r>
            <a:r>
              <a:rPr lang="en-IN" dirty="0" err="1"/>
              <a:t>Dequeue</a:t>
            </a:r>
            <a:r>
              <a:rPr lang="en-IN" dirty="0"/>
              <a:t> a node N. Process it</a:t>
            </a:r>
          </a:p>
          <a:p>
            <a:pPr marL="0" indent="0" algn="just">
              <a:buNone/>
            </a:pPr>
            <a:r>
              <a:rPr lang="en-IN" dirty="0"/>
              <a:t>	and set its STATUS = 3</a:t>
            </a:r>
          </a:p>
          <a:p>
            <a:pPr marL="0" indent="0" algn="just">
              <a:buNone/>
            </a:pPr>
            <a:r>
              <a:rPr lang="en-IN" dirty="0"/>
              <a:t>	(processed state).</a:t>
            </a:r>
          </a:p>
          <a:p>
            <a:pPr marL="0" indent="0" algn="just">
              <a:buNone/>
            </a:pPr>
            <a:r>
              <a:rPr lang="en-IN" dirty="0"/>
              <a:t>Step 5: </a:t>
            </a:r>
            <a:r>
              <a:rPr lang="en-IN" dirty="0" err="1"/>
              <a:t>Enqueue</a:t>
            </a:r>
            <a:r>
              <a:rPr lang="en-IN" dirty="0"/>
              <a:t> all the neighbours of</a:t>
            </a:r>
          </a:p>
          <a:p>
            <a:pPr marL="0" indent="0" algn="just">
              <a:buNone/>
            </a:pPr>
            <a:r>
              <a:rPr lang="en-IN" dirty="0"/>
              <a:t>	N that are in the ready state</a:t>
            </a:r>
          </a:p>
          <a:p>
            <a:pPr marL="0" indent="0" algn="just">
              <a:buNone/>
            </a:pPr>
            <a:r>
              <a:rPr lang="en-IN" dirty="0"/>
              <a:t>	(whose STATUS = 1) and set</a:t>
            </a:r>
          </a:p>
          <a:p>
            <a:pPr marL="0" indent="0" algn="just">
              <a:buNone/>
            </a:pPr>
            <a:r>
              <a:rPr lang="en-IN" dirty="0"/>
              <a:t>	their STATUS = 2</a:t>
            </a:r>
          </a:p>
          <a:p>
            <a:pPr marL="0" indent="0" algn="just">
              <a:buNone/>
            </a:pPr>
            <a:r>
              <a:rPr lang="en-IN" dirty="0"/>
              <a:t>	(waiting state)</a:t>
            </a:r>
          </a:p>
          <a:p>
            <a:pPr marL="0" indent="0" algn="just">
              <a:buNone/>
            </a:pPr>
            <a:r>
              <a:rPr lang="en-IN" dirty="0"/>
              <a:t>[END OF LOOP]</a:t>
            </a:r>
          </a:p>
          <a:p>
            <a:pPr marL="0" indent="0" algn="just">
              <a:buNone/>
            </a:pPr>
            <a:r>
              <a:rPr lang="en-IN" dirty="0"/>
              <a:t>	Step 6: EXIT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Algorithm: Breadth First Search </a:t>
            </a:r>
          </a:p>
        </p:txBody>
      </p:sp>
    </p:spTree>
    <p:extLst>
      <p:ext uri="{BB962C8B-B14F-4D97-AF65-F5344CB8AC3E}">
        <p14:creationId xmlns:p14="http://schemas.microsoft.com/office/powerpoint/2010/main" val="3325387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Breadth First Search </a:t>
            </a:r>
          </a:p>
        </p:txBody>
      </p:sp>
      <p:sp>
        <p:nvSpPr>
          <p:cNvPr id="5" name="Oval 4"/>
          <p:cNvSpPr/>
          <p:nvPr/>
        </p:nvSpPr>
        <p:spPr>
          <a:xfrm>
            <a:off x="1543144" y="3115747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531953" y="2169328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10" name="Straight Connector 9"/>
          <p:cNvCxnSpPr>
            <a:stCxn id="7" idx="3"/>
            <a:endCxn id="5" idx="7"/>
          </p:cNvCxnSpPr>
          <p:nvPr/>
        </p:nvCxnSpPr>
        <p:spPr>
          <a:xfrm flipH="1">
            <a:off x="2066724" y="2704083"/>
            <a:ext cx="556748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17" idx="1"/>
            <a:endCxn id="7" idx="5"/>
          </p:cNvCxnSpPr>
          <p:nvPr/>
        </p:nvCxnSpPr>
        <p:spPr>
          <a:xfrm flipH="1" flipV="1">
            <a:off x="3065368" y="2704083"/>
            <a:ext cx="605129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188254" y="4038110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4" name="Oval 13"/>
          <p:cNvSpPr/>
          <p:nvPr/>
        </p:nvSpPr>
        <p:spPr>
          <a:xfrm>
            <a:off x="3079404" y="4038110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15" name="Oval 14"/>
          <p:cNvSpPr/>
          <p:nvPr/>
        </p:nvSpPr>
        <p:spPr>
          <a:xfrm>
            <a:off x="2098451" y="4038110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16" name="Oval 15"/>
          <p:cNvSpPr/>
          <p:nvPr/>
        </p:nvSpPr>
        <p:spPr>
          <a:xfrm>
            <a:off x="798315" y="4069649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7" name="Oval 16"/>
          <p:cNvSpPr/>
          <p:nvPr/>
        </p:nvSpPr>
        <p:spPr>
          <a:xfrm>
            <a:off x="3580665" y="3115747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H="1" flipV="1">
            <a:off x="2000182" y="3662417"/>
            <a:ext cx="367168" cy="39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4068919" y="3641298"/>
            <a:ext cx="358987" cy="4390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3411242" y="3621647"/>
            <a:ext cx="266006" cy="4164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1282328" y="3611331"/>
            <a:ext cx="332434" cy="4989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110792" y="2319137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7932215" y="2272029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979178" y="1703645"/>
            <a:ext cx="978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Queue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941" y="5507880"/>
            <a:ext cx="2010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 / visited : </a:t>
            </a:r>
          </a:p>
        </p:txBody>
      </p:sp>
    </p:spTree>
    <p:extLst>
      <p:ext uri="{BB962C8B-B14F-4D97-AF65-F5344CB8AC3E}">
        <p14:creationId xmlns:p14="http://schemas.microsoft.com/office/powerpoint/2010/main" val="3854191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Breadth First Search </a:t>
            </a:r>
          </a:p>
        </p:txBody>
      </p:sp>
      <p:sp>
        <p:nvSpPr>
          <p:cNvPr id="5" name="Oval 4"/>
          <p:cNvSpPr/>
          <p:nvPr/>
        </p:nvSpPr>
        <p:spPr>
          <a:xfrm>
            <a:off x="1173493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162302" y="2502990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10" name="Straight Connector 9"/>
          <p:cNvCxnSpPr>
            <a:stCxn id="7" idx="3"/>
            <a:endCxn id="5" idx="7"/>
          </p:cNvCxnSpPr>
          <p:nvPr/>
        </p:nvCxnSpPr>
        <p:spPr>
          <a:xfrm flipH="1">
            <a:off x="1697073" y="3037745"/>
            <a:ext cx="556748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17" idx="1"/>
            <a:endCxn id="7" idx="5"/>
          </p:cNvCxnSpPr>
          <p:nvPr/>
        </p:nvCxnSpPr>
        <p:spPr>
          <a:xfrm flipH="1" flipV="1">
            <a:off x="2695717" y="3037745"/>
            <a:ext cx="605129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1860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4" name="Oval 13"/>
          <p:cNvSpPr/>
          <p:nvPr/>
        </p:nvSpPr>
        <p:spPr>
          <a:xfrm>
            <a:off x="270975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15" name="Oval 14"/>
          <p:cNvSpPr/>
          <p:nvPr/>
        </p:nvSpPr>
        <p:spPr>
          <a:xfrm>
            <a:off x="1728800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16" name="Oval 15"/>
          <p:cNvSpPr/>
          <p:nvPr/>
        </p:nvSpPr>
        <p:spPr>
          <a:xfrm>
            <a:off x="428664" y="4403311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7" name="Oval 16"/>
          <p:cNvSpPr/>
          <p:nvPr/>
        </p:nvSpPr>
        <p:spPr>
          <a:xfrm>
            <a:off x="3211014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H="1" flipV="1">
            <a:off x="1630531" y="3996079"/>
            <a:ext cx="367168" cy="39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3699268" y="3974960"/>
            <a:ext cx="358987" cy="4390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3041591" y="3955309"/>
            <a:ext cx="266006" cy="4164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912677" y="3944993"/>
            <a:ext cx="332434" cy="4989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6776032" y="2551844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7597455" y="2504736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772065" y="1936352"/>
            <a:ext cx="1030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Queue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" y="5841541"/>
            <a:ext cx="475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 / visited : A B C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16762" y="2715288"/>
            <a:ext cx="309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BC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441604" y="2606146"/>
            <a:ext cx="593902" cy="34324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/>
          <p:cNvSpPr txBox="1"/>
          <p:nvPr/>
        </p:nvSpPr>
        <p:spPr>
          <a:xfrm>
            <a:off x="3767087" y="6262263"/>
            <a:ext cx="1030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Fig. (A) </a:t>
            </a:r>
          </a:p>
        </p:txBody>
      </p:sp>
    </p:spTree>
    <p:extLst>
      <p:ext uri="{BB962C8B-B14F-4D97-AF65-F5344CB8AC3E}">
        <p14:creationId xmlns:p14="http://schemas.microsoft.com/office/powerpoint/2010/main" val="3568522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Breadth First Search </a:t>
            </a:r>
          </a:p>
        </p:txBody>
      </p:sp>
      <p:sp>
        <p:nvSpPr>
          <p:cNvPr id="5" name="Oval 4"/>
          <p:cNvSpPr/>
          <p:nvPr/>
        </p:nvSpPr>
        <p:spPr>
          <a:xfrm>
            <a:off x="1173493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162302" y="2502990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10" name="Straight Connector 9"/>
          <p:cNvCxnSpPr>
            <a:stCxn id="7" idx="3"/>
            <a:endCxn id="5" idx="7"/>
          </p:cNvCxnSpPr>
          <p:nvPr/>
        </p:nvCxnSpPr>
        <p:spPr>
          <a:xfrm flipH="1">
            <a:off x="1697073" y="3037745"/>
            <a:ext cx="556748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17" idx="1"/>
            <a:endCxn id="7" idx="5"/>
          </p:cNvCxnSpPr>
          <p:nvPr/>
        </p:nvCxnSpPr>
        <p:spPr>
          <a:xfrm flipH="1" flipV="1">
            <a:off x="2695717" y="3037745"/>
            <a:ext cx="605129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1860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4" name="Oval 13"/>
          <p:cNvSpPr/>
          <p:nvPr/>
        </p:nvSpPr>
        <p:spPr>
          <a:xfrm>
            <a:off x="270975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15" name="Oval 14"/>
          <p:cNvSpPr/>
          <p:nvPr/>
        </p:nvSpPr>
        <p:spPr>
          <a:xfrm>
            <a:off x="1728800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16" name="Oval 15"/>
          <p:cNvSpPr/>
          <p:nvPr/>
        </p:nvSpPr>
        <p:spPr>
          <a:xfrm>
            <a:off x="428664" y="4403311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7" name="Oval 16"/>
          <p:cNvSpPr/>
          <p:nvPr/>
        </p:nvSpPr>
        <p:spPr>
          <a:xfrm>
            <a:off x="3211014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H="1" flipV="1">
            <a:off x="1630531" y="3996079"/>
            <a:ext cx="367168" cy="39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3699268" y="3974960"/>
            <a:ext cx="358987" cy="4390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3041591" y="3955309"/>
            <a:ext cx="266006" cy="4164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912677" y="3944993"/>
            <a:ext cx="332434" cy="4989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6613981" y="2572963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7435404" y="2525855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610014" y="1957471"/>
            <a:ext cx="1030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Queue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" y="5841541"/>
            <a:ext cx="475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 / visited : A B C D 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4711" y="2736407"/>
            <a:ext cx="3090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</a:t>
            </a:r>
          </a:p>
          <a:p>
            <a:r>
              <a:rPr lang="en-IN" dirty="0"/>
              <a:t>D</a:t>
            </a:r>
          </a:p>
          <a:p>
            <a:r>
              <a:rPr lang="en-IN" dirty="0"/>
              <a:t>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38627" y="3543932"/>
            <a:ext cx="593902" cy="34324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/>
          <p:cNvSpPr txBox="1"/>
          <p:nvPr/>
        </p:nvSpPr>
        <p:spPr>
          <a:xfrm>
            <a:off x="3767087" y="6262263"/>
            <a:ext cx="1030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Fig. (B) </a:t>
            </a:r>
          </a:p>
        </p:txBody>
      </p:sp>
    </p:spTree>
    <p:extLst>
      <p:ext uri="{BB962C8B-B14F-4D97-AF65-F5344CB8AC3E}">
        <p14:creationId xmlns:p14="http://schemas.microsoft.com/office/powerpoint/2010/main" val="1048484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Breadth First Search </a:t>
            </a:r>
          </a:p>
        </p:txBody>
      </p:sp>
      <p:sp>
        <p:nvSpPr>
          <p:cNvPr id="5" name="Oval 4"/>
          <p:cNvSpPr/>
          <p:nvPr/>
        </p:nvSpPr>
        <p:spPr>
          <a:xfrm>
            <a:off x="1173493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162302" y="2502990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10" name="Straight Connector 9"/>
          <p:cNvCxnSpPr>
            <a:stCxn id="7" idx="3"/>
            <a:endCxn id="5" idx="7"/>
          </p:cNvCxnSpPr>
          <p:nvPr/>
        </p:nvCxnSpPr>
        <p:spPr>
          <a:xfrm flipH="1">
            <a:off x="1697073" y="3037745"/>
            <a:ext cx="556748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17" idx="1"/>
            <a:endCxn id="7" idx="5"/>
          </p:cNvCxnSpPr>
          <p:nvPr/>
        </p:nvCxnSpPr>
        <p:spPr>
          <a:xfrm flipH="1" flipV="1">
            <a:off x="2695717" y="3037745"/>
            <a:ext cx="605129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1860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4" name="Oval 13"/>
          <p:cNvSpPr/>
          <p:nvPr/>
        </p:nvSpPr>
        <p:spPr>
          <a:xfrm>
            <a:off x="270975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15" name="Oval 14"/>
          <p:cNvSpPr/>
          <p:nvPr/>
        </p:nvSpPr>
        <p:spPr>
          <a:xfrm>
            <a:off x="1728800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16" name="Oval 15"/>
          <p:cNvSpPr/>
          <p:nvPr/>
        </p:nvSpPr>
        <p:spPr>
          <a:xfrm>
            <a:off x="428664" y="4403311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7" name="Oval 16"/>
          <p:cNvSpPr/>
          <p:nvPr/>
        </p:nvSpPr>
        <p:spPr>
          <a:xfrm>
            <a:off x="3211014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H="1" flipV="1">
            <a:off x="1630531" y="3996079"/>
            <a:ext cx="367168" cy="39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3699268" y="3974960"/>
            <a:ext cx="358987" cy="4390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3041591" y="3955309"/>
            <a:ext cx="266006" cy="4164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912677" y="3944993"/>
            <a:ext cx="332434" cy="4989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6290602" y="2650832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7112025" y="2603724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286635" y="2035340"/>
            <a:ext cx="1030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Queue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" y="5841541"/>
            <a:ext cx="475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 / visited : A B C D E F G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31332" y="2814276"/>
            <a:ext cx="3090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D</a:t>
            </a:r>
          </a:p>
          <a:p>
            <a:r>
              <a:rPr lang="en-IN" dirty="0"/>
              <a:t>E</a:t>
            </a:r>
          </a:p>
          <a:p>
            <a:r>
              <a:rPr lang="en-IN" dirty="0"/>
              <a:t>F</a:t>
            </a:r>
          </a:p>
          <a:p>
            <a:r>
              <a:rPr lang="en-IN" dirty="0"/>
              <a:t>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578721" y="3612068"/>
            <a:ext cx="593902" cy="34324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/>
          <p:cNvSpPr txBox="1"/>
          <p:nvPr/>
        </p:nvSpPr>
        <p:spPr>
          <a:xfrm>
            <a:off x="3767087" y="6262263"/>
            <a:ext cx="1030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Fig. (C) </a:t>
            </a:r>
          </a:p>
        </p:txBody>
      </p:sp>
    </p:spTree>
    <p:extLst>
      <p:ext uri="{BB962C8B-B14F-4D97-AF65-F5344CB8AC3E}">
        <p14:creationId xmlns:p14="http://schemas.microsoft.com/office/powerpoint/2010/main" val="3963627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Breadth First Search </a:t>
            </a:r>
          </a:p>
        </p:txBody>
      </p:sp>
      <p:sp>
        <p:nvSpPr>
          <p:cNvPr id="5" name="Oval 4"/>
          <p:cNvSpPr/>
          <p:nvPr/>
        </p:nvSpPr>
        <p:spPr>
          <a:xfrm>
            <a:off x="1173493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162302" y="2502990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10" name="Straight Connector 9"/>
          <p:cNvCxnSpPr>
            <a:stCxn id="7" idx="3"/>
            <a:endCxn id="5" idx="7"/>
          </p:cNvCxnSpPr>
          <p:nvPr/>
        </p:nvCxnSpPr>
        <p:spPr>
          <a:xfrm flipH="1">
            <a:off x="1697073" y="3037745"/>
            <a:ext cx="556748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17" idx="1"/>
            <a:endCxn id="7" idx="5"/>
          </p:cNvCxnSpPr>
          <p:nvPr/>
        </p:nvCxnSpPr>
        <p:spPr>
          <a:xfrm flipH="1" flipV="1">
            <a:off x="2695717" y="3037745"/>
            <a:ext cx="605129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1860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4" name="Oval 13"/>
          <p:cNvSpPr/>
          <p:nvPr/>
        </p:nvSpPr>
        <p:spPr>
          <a:xfrm>
            <a:off x="270975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15" name="Oval 14"/>
          <p:cNvSpPr/>
          <p:nvPr/>
        </p:nvSpPr>
        <p:spPr>
          <a:xfrm>
            <a:off x="1728800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16" name="Oval 15"/>
          <p:cNvSpPr/>
          <p:nvPr/>
        </p:nvSpPr>
        <p:spPr>
          <a:xfrm>
            <a:off x="428664" y="4403311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7" name="Oval 16"/>
          <p:cNvSpPr/>
          <p:nvPr/>
        </p:nvSpPr>
        <p:spPr>
          <a:xfrm>
            <a:off x="3211014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H="1" flipV="1">
            <a:off x="1630531" y="3996079"/>
            <a:ext cx="367168" cy="39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3699268" y="3974960"/>
            <a:ext cx="358987" cy="4390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3041591" y="3955309"/>
            <a:ext cx="266006" cy="4164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912677" y="3944993"/>
            <a:ext cx="332434" cy="4989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6904012" y="2641104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7725435" y="2593996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900045" y="2025612"/>
            <a:ext cx="1030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Queue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" y="5841541"/>
            <a:ext cx="475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 / visited : A B C D E F G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44742" y="2804548"/>
            <a:ext cx="3090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E</a:t>
            </a:r>
          </a:p>
          <a:p>
            <a:r>
              <a:rPr lang="en-IN" dirty="0"/>
              <a:t>F</a:t>
            </a:r>
          </a:p>
          <a:p>
            <a:r>
              <a:rPr lang="en-IN" dirty="0"/>
              <a:t>G</a:t>
            </a:r>
          </a:p>
        </p:txBody>
      </p:sp>
      <p:sp>
        <p:nvSpPr>
          <p:cNvPr id="22" name="Right Arrow 21"/>
          <p:cNvSpPr/>
          <p:nvPr/>
        </p:nvSpPr>
        <p:spPr>
          <a:xfrm rot="5400000">
            <a:off x="308195" y="3882198"/>
            <a:ext cx="593902" cy="34324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/>
          <p:cNvSpPr txBox="1"/>
          <p:nvPr/>
        </p:nvSpPr>
        <p:spPr>
          <a:xfrm>
            <a:off x="3767087" y="6262263"/>
            <a:ext cx="1030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Fig. (D) </a:t>
            </a:r>
          </a:p>
        </p:txBody>
      </p:sp>
    </p:spTree>
    <p:extLst>
      <p:ext uri="{BB962C8B-B14F-4D97-AF65-F5344CB8AC3E}">
        <p14:creationId xmlns:p14="http://schemas.microsoft.com/office/powerpoint/2010/main" val="2368467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Breadth First Search </a:t>
            </a:r>
          </a:p>
        </p:txBody>
      </p:sp>
      <p:sp>
        <p:nvSpPr>
          <p:cNvPr id="5" name="Oval 4"/>
          <p:cNvSpPr/>
          <p:nvPr/>
        </p:nvSpPr>
        <p:spPr>
          <a:xfrm>
            <a:off x="1173493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162302" y="2502990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10" name="Straight Connector 9"/>
          <p:cNvCxnSpPr>
            <a:stCxn id="7" idx="3"/>
            <a:endCxn id="5" idx="7"/>
          </p:cNvCxnSpPr>
          <p:nvPr/>
        </p:nvCxnSpPr>
        <p:spPr>
          <a:xfrm flipH="1">
            <a:off x="1697073" y="3037745"/>
            <a:ext cx="556748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17" idx="1"/>
            <a:endCxn id="7" idx="5"/>
          </p:cNvCxnSpPr>
          <p:nvPr/>
        </p:nvCxnSpPr>
        <p:spPr>
          <a:xfrm flipH="1" flipV="1">
            <a:off x="2695717" y="3037745"/>
            <a:ext cx="605129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1860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4" name="Oval 13"/>
          <p:cNvSpPr/>
          <p:nvPr/>
        </p:nvSpPr>
        <p:spPr>
          <a:xfrm>
            <a:off x="270975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15" name="Oval 14"/>
          <p:cNvSpPr/>
          <p:nvPr/>
        </p:nvSpPr>
        <p:spPr>
          <a:xfrm>
            <a:off x="1728800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16" name="Oval 15"/>
          <p:cNvSpPr/>
          <p:nvPr/>
        </p:nvSpPr>
        <p:spPr>
          <a:xfrm>
            <a:off x="428664" y="4403311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7" name="Oval 16"/>
          <p:cNvSpPr/>
          <p:nvPr/>
        </p:nvSpPr>
        <p:spPr>
          <a:xfrm>
            <a:off x="3211014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H="1" flipV="1">
            <a:off x="1630531" y="3996079"/>
            <a:ext cx="367168" cy="39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3699268" y="3974960"/>
            <a:ext cx="358987" cy="4390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3041591" y="3955309"/>
            <a:ext cx="266006" cy="4164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912677" y="3944993"/>
            <a:ext cx="332434" cy="4989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6805757" y="2621648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7627180" y="2574540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801790" y="2006156"/>
            <a:ext cx="1030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Queue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" y="5841541"/>
            <a:ext cx="475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 / visited : A B C D E F G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6487" y="2785092"/>
            <a:ext cx="3090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F</a:t>
            </a:r>
          </a:p>
          <a:p>
            <a:r>
              <a:rPr lang="en-IN" dirty="0"/>
              <a:t>G</a:t>
            </a:r>
          </a:p>
        </p:txBody>
      </p:sp>
      <p:sp>
        <p:nvSpPr>
          <p:cNvPr id="22" name="Right Arrow 21"/>
          <p:cNvSpPr/>
          <p:nvPr/>
        </p:nvSpPr>
        <p:spPr>
          <a:xfrm rot="5400000">
            <a:off x="1896583" y="3870527"/>
            <a:ext cx="593902" cy="34324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3767087" y="6262263"/>
            <a:ext cx="1030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Fig. (E) </a:t>
            </a:r>
          </a:p>
        </p:txBody>
      </p:sp>
    </p:spTree>
    <p:extLst>
      <p:ext uri="{BB962C8B-B14F-4D97-AF65-F5344CB8AC3E}">
        <p14:creationId xmlns:p14="http://schemas.microsoft.com/office/powerpoint/2010/main" val="1713122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Breadth First Search </a:t>
            </a:r>
          </a:p>
        </p:txBody>
      </p:sp>
      <p:sp>
        <p:nvSpPr>
          <p:cNvPr id="5" name="Oval 4"/>
          <p:cNvSpPr/>
          <p:nvPr/>
        </p:nvSpPr>
        <p:spPr>
          <a:xfrm>
            <a:off x="1173493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162302" y="2502990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10" name="Straight Connector 9"/>
          <p:cNvCxnSpPr>
            <a:stCxn id="7" idx="3"/>
            <a:endCxn id="5" idx="7"/>
          </p:cNvCxnSpPr>
          <p:nvPr/>
        </p:nvCxnSpPr>
        <p:spPr>
          <a:xfrm flipH="1">
            <a:off x="1697073" y="3037745"/>
            <a:ext cx="556748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17" idx="1"/>
            <a:endCxn id="7" idx="5"/>
          </p:cNvCxnSpPr>
          <p:nvPr/>
        </p:nvCxnSpPr>
        <p:spPr>
          <a:xfrm flipH="1" flipV="1">
            <a:off x="2695717" y="3037745"/>
            <a:ext cx="605129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1860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4" name="Oval 13"/>
          <p:cNvSpPr/>
          <p:nvPr/>
        </p:nvSpPr>
        <p:spPr>
          <a:xfrm>
            <a:off x="270975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15" name="Oval 14"/>
          <p:cNvSpPr/>
          <p:nvPr/>
        </p:nvSpPr>
        <p:spPr>
          <a:xfrm>
            <a:off x="1728800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16" name="Oval 15"/>
          <p:cNvSpPr/>
          <p:nvPr/>
        </p:nvSpPr>
        <p:spPr>
          <a:xfrm>
            <a:off x="428664" y="4403311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7" name="Oval 16"/>
          <p:cNvSpPr/>
          <p:nvPr/>
        </p:nvSpPr>
        <p:spPr>
          <a:xfrm>
            <a:off x="3211014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H="1" flipV="1">
            <a:off x="1630531" y="3996079"/>
            <a:ext cx="367168" cy="39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3699268" y="3974960"/>
            <a:ext cx="358987" cy="4390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3041591" y="3955309"/>
            <a:ext cx="266006" cy="4164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912677" y="3944993"/>
            <a:ext cx="332434" cy="4989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324100" y="2563283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8145523" y="2516175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20133" y="1947791"/>
            <a:ext cx="1030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Queue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" y="5841541"/>
            <a:ext cx="475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 / visited : A B C D E F G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4830" y="2726727"/>
            <a:ext cx="3090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G</a:t>
            </a:r>
          </a:p>
        </p:txBody>
      </p:sp>
      <p:sp>
        <p:nvSpPr>
          <p:cNvPr id="22" name="Right Arrow 21"/>
          <p:cNvSpPr/>
          <p:nvPr/>
        </p:nvSpPr>
        <p:spPr>
          <a:xfrm rot="5400000">
            <a:off x="2564373" y="3884312"/>
            <a:ext cx="593902" cy="34324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3767087" y="6262263"/>
            <a:ext cx="1030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Fig. (F) </a:t>
            </a:r>
          </a:p>
        </p:txBody>
      </p:sp>
    </p:spTree>
    <p:extLst>
      <p:ext uri="{BB962C8B-B14F-4D97-AF65-F5344CB8AC3E}">
        <p14:creationId xmlns:p14="http://schemas.microsoft.com/office/powerpoint/2010/main" val="2236419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 Breadth First Search </a:t>
            </a:r>
          </a:p>
        </p:txBody>
      </p:sp>
      <p:sp>
        <p:nvSpPr>
          <p:cNvPr id="5" name="Oval 4"/>
          <p:cNvSpPr/>
          <p:nvPr/>
        </p:nvSpPr>
        <p:spPr>
          <a:xfrm>
            <a:off x="1173493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2162302" y="2502990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cxnSp>
        <p:nvCxnSpPr>
          <p:cNvPr id="10" name="Straight Connector 9"/>
          <p:cNvCxnSpPr>
            <a:stCxn id="7" idx="3"/>
            <a:endCxn id="5" idx="7"/>
          </p:cNvCxnSpPr>
          <p:nvPr/>
        </p:nvCxnSpPr>
        <p:spPr>
          <a:xfrm flipH="1">
            <a:off x="1697073" y="3037745"/>
            <a:ext cx="556748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17" idx="1"/>
            <a:endCxn id="7" idx="5"/>
          </p:cNvCxnSpPr>
          <p:nvPr/>
        </p:nvCxnSpPr>
        <p:spPr>
          <a:xfrm flipH="1" flipV="1">
            <a:off x="2695717" y="3037745"/>
            <a:ext cx="605129" cy="5034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81860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4" name="Oval 13"/>
          <p:cNvSpPr/>
          <p:nvPr/>
        </p:nvSpPr>
        <p:spPr>
          <a:xfrm>
            <a:off x="2709753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sp>
        <p:nvSpPr>
          <p:cNvPr id="15" name="Oval 14"/>
          <p:cNvSpPr/>
          <p:nvPr/>
        </p:nvSpPr>
        <p:spPr>
          <a:xfrm>
            <a:off x="1728800" y="4371772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16" name="Oval 15"/>
          <p:cNvSpPr/>
          <p:nvPr/>
        </p:nvSpPr>
        <p:spPr>
          <a:xfrm>
            <a:off x="428664" y="4403311"/>
            <a:ext cx="613412" cy="62650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7" name="Oval 16"/>
          <p:cNvSpPr/>
          <p:nvPr/>
        </p:nvSpPr>
        <p:spPr>
          <a:xfrm>
            <a:off x="3211014" y="3449409"/>
            <a:ext cx="613412" cy="626506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H="1" flipV="1">
            <a:off x="1630531" y="3996079"/>
            <a:ext cx="367168" cy="39681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 flipV="1">
            <a:off x="3699268" y="3974960"/>
            <a:ext cx="358987" cy="4390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3041591" y="3955309"/>
            <a:ext cx="266006" cy="4164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912677" y="3944993"/>
            <a:ext cx="332434" cy="4989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6773164" y="2721677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7594587" y="2674569"/>
            <a:ext cx="25758" cy="28462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163889" y="2133658"/>
            <a:ext cx="1635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Empty Queue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" y="5841541"/>
            <a:ext cx="4751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 / visited : A B C D E F G </a:t>
            </a:r>
          </a:p>
        </p:txBody>
      </p:sp>
      <p:sp>
        <p:nvSpPr>
          <p:cNvPr id="22" name="Right Arrow 21"/>
          <p:cNvSpPr/>
          <p:nvPr/>
        </p:nvSpPr>
        <p:spPr>
          <a:xfrm rot="5400000">
            <a:off x="3917327" y="3828650"/>
            <a:ext cx="593902" cy="34324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/>
          <p:cNvSpPr txBox="1"/>
          <p:nvPr/>
        </p:nvSpPr>
        <p:spPr>
          <a:xfrm>
            <a:off x="3767087" y="6262263"/>
            <a:ext cx="1030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Fig. (G) </a:t>
            </a:r>
          </a:p>
        </p:txBody>
      </p:sp>
    </p:spTree>
    <p:extLst>
      <p:ext uri="{BB962C8B-B14F-4D97-AF65-F5344CB8AC3E}">
        <p14:creationId xmlns:p14="http://schemas.microsoft.com/office/powerpoint/2010/main" val="900538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The </a:t>
            </a:r>
            <a:r>
              <a:rPr lang="en-IN" b="1" dirty="0"/>
              <a:t>time complexity </a:t>
            </a:r>
            <a:r>
              <a:rPr lang="en-IN" dirty="0"/>
              <a:t>of the BFS algorithm is represented in the form of O(V + E), where V is the number of nodes and E is the number of edges.</a:t>
            </a:r>
          </a:p>
          <a:p>
            <a:pPr algn="just"/>
            <a:r>
              <a:rPr lang="en-IN" dirty="0"/>
              <a:t>The </a:t>
            </a:r>
            <a:r>
              <a:rPr lang="en-IN" b="1" dirty="0"/>
              <a:t>space complexity </a:t>
            </a:r>
            <a:r>
              <a:rPr lang="en-IN" dirty="0"/>
              <a:t>of the algorithm is O(V).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 Complexity</a:t>
            </a:r>
          </a:p>
        </p:txBody>
      </p:sp>
    </p:spTree>
    <p:extLst>
      <p:ext uri="{BB962C8B-B14F-4D97-AF65-F5344CB8AC3E}">
        <p14:creationId xmlns:p14="http://schemas.microsoft.com/office/powerpoint/2010/main" val="106833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Path finding algorithms</a:t>
            </a:r>
          </a:p>
          <a:p>
            <a:pPr algn="just"/>
            <a:r>
              <a:rPr lang="en-IN" dirty="0"/>
              <a:t>To build index by search index</a:t>
            </a:r>
          </a:p>
          <a:p>
            <a:pPr algn="just"/>
            <a:r>
              <a:rPr lang="en-IN" dirty="0"/>
              <a:t>Cycle detection in an undirected graph</a:t>
            </a:r>
          </a:p>
          <a:p>
            <a:pPr algn="just"/>
            <a:r>
              <a:rPr lang="en-IN" dirty="0"/>
              <a:t>For GPS navigation</a:t>
            </a:r>
          </a:p>
          <a:p>
            <a:pPr algn="just"/>
            <a:r>
              <a:rPr lang="en-IN" dirty="0"/>
              <a:t>In minimum spanning tree</a:t>
            </a:r>
          </a:p>
          <a:p>
            <a:pPr algn="just"/>
            <a:r>
              <a:rPr lang="en-IN" dirty="0"/>
              <a:t>Social networking websites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BFS Applications</a:t>
            </a:r>
          </a:p>
        </p:txBody>
      </p:sp>
    </p:spTree>
    <p:extLst>
      <p:ext uri="{BB962C8B-B14F-4D97-AF65-F5344CB8AC3E}">
        <p14:creationId xmlns:p14="http://schemas.microsoft.com/office/powerpoint/2010/main" val="3797349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230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13011</TotalTime>
  <Words>588</Words>
  <Application>Microsoft Office PowerPoint</Application>
  <PresentationFormat>On-screen Show (4:3)</PresentationFormat>
  <Paragraphs>151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Bahnschrift</vt:lpstr>
      <vt:lpstr>Bahnschrift SemiBold</vt:lpstr>
      <vt:lpstr>Office Theme</vt:lpstr>
      <vt:lpstr>PowerPoint Presentation</vt:lpstr>
      <vt:lpstr>Learning Outcomes</vt:lpstr>
      <vt:lpstr>Graph traversals</vt:lpstr>
      <vt:lpstr>Graph Traversal Algorithm</vt:lpstr>
      <vt:lpstr>Breadth First Search </vt:lpstr>
      <vt:lpstr>Breadth First Search </vt:lpstr>
      <vt:lpstr>Algorithm: Breadth First Search </vt:lpstr>
      <vt:lpstr>Algorithm: Breadth First Search </vt:lpstr>
      <vt:lpstr>Example: Breadth First Search </vt:lpstr>
      <vt:lpstr>Example: Breadth First Search </vt:lpstr>
      <vt:lpstr>Example: Breadth First Search </vt:lpstr>
      <vt:lpstr>Example: Breadth First Search </vt:lpstr>
      <vt:lpstr>Example: Breadth First Search </vt:lpstr>
      <vt:lpstr>Example: Breadth First Search </vt:lpstr>
      <vt:lpstr>Example: Breadth First Search </vt:lpstr>
      <vt:lpstr>Example: Breadth First Search </vt:lpstr>
      <vt:lpstr>Algorithm Complexity</vt:lpstr>
      <vt:lpstr>BFS Applications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 1</cp:lastModifiedBy>
  <cp:revision>708</cp:revision>
  <dcterms:created xsi:type="dcterms:W3CDTF">2020-12-02T15:29:53Z</dcterms:created>
  <dcterms:modified xsi:type="dcterms:W3CDTF">2021-11-13T05:25:16Z</dcterms:modified>
</cp:coreProperties>
</file>