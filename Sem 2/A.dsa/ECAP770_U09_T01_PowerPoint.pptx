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26" r:id="rId4"/>
    <p:sldId id="330" r:id="rId5"/>
    <p:sldId id="331" r:id="rId6"/>
    <p:sldId id="332" r:id="rId7"/>
    <p:sldId id="333" r:id="rId8"/>
    <p:sldId id="334" r:id="rId9"/>
    <p:sldId id="335" r:id="rId10"/>
    <p:sldId id="336" r:id="rId11"/>
    <p:sldId id="337" r:id="rId12"/>
    <p:sldId id="338" r:id="rId13"/>
    <p:sldId id="339" r:id="rId14"/>
    <p:sldId id="340" r:id="rId15"/>
    <p:sldId id="341" r:id="rId16"/>
    <p:sldId id="25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  <a:srgbClr val="7CAAF1"/>
    <a:srgbClr val="2C2C2C"/>
    <a:srgbClr val="191919"/>
    <a:srgbClr val="636973"/>
    <a:srgbClr val="999999"/>
    <a:srgbClr val="C2C2C2"/>
    <a:srgbClr val="00203F"/>
    <a:srgbClr val="ADF0D1"/>
    <a:srgbClr val="DD5C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79" autoAdjust="0"/>
    <p:restoredTop sz="94660"/>
  </p:normalViewPr>
  <p:slideViewPr>
    <p:cSldViewPr snapToGrid="0">
      <p:cViewPr varScale="1">
        <p:scale>
          <a:sx n="68" d="100"/>
          <a:sy n="68" d="100"/>
        </p:scale>
        <p:origin x="13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FDCE79-4E29-402C-B477-B11C4D011C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grayscl/>
            <a:alphaModFix amt="90000"/>
          </a:blip>
          <a:stretch>
            <a:fillRect/>
          </a:stretch>
        </p:blipFill>
        <p:spPr>
          <a:xfrm>
            <a:off x="0" y="-1"/>
            <a:ext cx="9144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992F9EE-5066-4DC7-9A8B-A0704FB56E63}"/>
              </a:ext>
            </a:extLst>
          </p:cNvPr>
          <p:cNvSpPr/>
          <p:nvPr userDrawn="1"/>
        </p:nvSpPr>
        <p:spPr>
          <a:xfrm>
            <a:off x="0" y="1440872"/>
            <a:ext cx="9144000" cy="3976255"/>
          </a:xfrm>
          <a:prstGeom prst="rect">
            <a:avLst/>
          </a:prstGeom>
          <a:solidFill>
            <a:srgbClr val="2C2C2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451063-0A73-407E-9285-9A6C27FF3658}"/>
              </a:ext>
            </a:extLst>
          </p:cNvPr>
          <p:cNvSpPr txBox="1"/>
          <p:nvPr userDrawn="1"/>
        </p:nvSpPr>
        <p:spPr>
          <a:xfrm>
            <a:off x="318655" y="1551705"/>
            <a:ext cx="52508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ECAP770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D37EDC-9BA2-4106-A0D1-49964EF39471}"/>
              </a:ext>
            </a:extLst>
          </p:cNvPr>
          <p:cNvSpPr txBox="1"/>
          <p:nvPr userDrawn="1"/>
        </p:nvSpPr>
        <p:spPr>
          <a:xfrm>
            <a:off x="263235" y="2970116"/>
            <a:ext cx="53478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cap="small" baseline="0" dirty="0">
                <a:solidFill>
                  <a:schemeClr val="bg1"/>
                </a:solidFill>
              </a:rPr>
              <a:t>Advance Data Structures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C59E63-B3F3-40A8-A422-69AB2D35C404}"/>
              </a:ext>
            </a:extLst>
          </p:cNvPr>
          <p:cNvCxnSpPr>
            <a:cxnSpLocks/>
          </p:cNvCxnSpPr>
          <p:nvPr userDrawn="1"/>
        </p:nvCxnSpPr>
        <p:spPr>
          <a:xfrm>
            <a:off x="318655" y="3782289"/>
            <a:ext cx="5347855" cy="0"/>
          </a:xfrm>
          <a:prstGeom prst="line">
            <a:avLst/>
          </a:prstGeom>
          <a:ln w="31750">
            <a:solidFill>
              <a:schemeClr val="bg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3F2AB1-044B-42E4-8A81-97A7A2FE5418}"/>
              </a:ext>
            </a:extLst>
          </p:cNvPr>
          <p:cNvSpPr txBox="1"/>
          <p:nvPr userDrawn="1"/>
        </p:nvSpPr>
        <p:spPr>
          <a:xfrm>
            <a:off x="5999019" y="4563687"/>
            <a:ext cx="2826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Ashwani </a:t>
            </a:r>
            <a:r>
              <a:rPr lang="en-IN" sz="28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Xumar</a:t>
            </a:r>
            <a:endParaRPr lang="en-IN" sz="28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979311-FF32-46BF-9637-46454C71F372}"/>
              </a:ext>
            </a:extLst>
          </p:cNvPr>
          <p:cNvSpPr txBox="1"/>
          <p:nvPr userDrawn="1"/>
        </p:nvSpPr>
        <p:spPr>
          <a:xfrm>
            <a:off x="6044739" y="5039622"/>
            <a:ext cx="2826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Assistant Professor</a:t>
            </a:r>
          </a:p>
        </p:txBody>
      </p:sp>
    </p:spTree>
    <p:extLst>
      <p:ext uri="{BB962C8B-B14F-4D97-AF65-F5344CB8AC3E}">
        <p14:creationId xmlns:p14="http://schemas.microsoft.com/office/powerpoint/2010/main" val="2108135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0050" y="2840182"/>
            <a:ext cx="8534400" cy="3827317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buFont typeface="Arial" panose="020B0604020202020204" pitchFamily="34" charset="0"/>
              <a:buNone/>
              <a:defRPr>
                <a:solidFill>
                  <a:srgbClr val="00203F"/>
                </a:solidFill>
              </a:defRPr>
            </a:lvl1pPr>
            <a:lvl2pPr>
              <a:lnSpc>
                <a:spcPct val="150000"/>
              </a:lnSpc>
              <a:buClr>
                <a:srgbClr val="FF0066"/>
              </a:buClr>
              <a:defRPr sz="2800"/>
            </a:lvl2pPr>
            <a:lvl3pPr>
              <a:buClr>
                <a:srgbClr val="FF0066"/>
              </a:buClr>
              <a:defRPr/>
            </a:lvl3pPr>
            <a:lvl4pPr>
              <a:buClr>
                <a:srgbClr val="FF0066"/>
              </a:buClr>
              <a:defRPr/>
            </a:lvl4pPr>
            <a:lvl5pPr>
              <a:buClr>
                <a:srgbClr val="FF0066"/>
              </a:buClr>
              <a:defRPr/>
            </a:lvl5pPr>
          </a:lstStyle>
          <a:p>
            <a:pPr lvl="1"/>
            <a:r>
              <a:rPr lang="en-US" dirty="0"/>
              <a:t>outcome 1</a:t>
            </a:r>
          </a:p>
          <a:p>
            <a:pPr lvl="1"/>
            <a:r>
              <a:rPr lang="en-US" dirty="0"/>
              <a:t>outcome 2</a:t>
            </a:r>
          </a:p>
          <a:p>
            <a:pPr lvl="1"/>
            <a:r>
              <a:rPr lang="en-US" dirty="0"/>
              <a:t>outcome 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2095499"/>
          </a:xfrm>
          <a:prstGeom prst="rect">
            <a:avLst/>
          </a:prstGeom>
          <a:gradFill flip="none" rotWithShape="1">
            <a:gsLst>
              <a:gs pos="76000">
                <a:srgbClr val="636973"/>
              </a:gs>
              <a:gs pos="25000">
                <a:srgbClr val="2C2C2C"/>
              </a:gs>
              <a:gs pos="100000">
                <a:srgbClr val="99999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0050" y="0"/>
            <a:ext cx="8743950" cy="2095499"/>
          </a:xfrm>
        </p:spPr>
        <p:txBody>
          <a:bodyPr>
            <a:normAutofit/>
          </a:bodyPr>
          <a:lstStyle>
            <a:lvl1pPr>
              <a:defRPr sz="44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Learning</a:t>
            </a:r>
            <a:br>
              <a:rPr lang="en-US" dirty="0"/>
            </a:br>
            <a:r>
              <a:rPr lang="en-US" dirty="0"/>
              <a:t>Outcome</a:t>
            </a:r>
          </a:p>
        </p:txBody>
      </p:sp>
      <p:pic>
        <p:nvPicPr>
          <p:cNvPr id="13" name="Graphic 12" descr="Bullseye with solid fill">
            <a:extLst>
              <a:ext uri="{FF2B5EF4-FFF2-40B4-BE49-F238E27FC236}">
                <a16:creationId xmlns:a16="http://schemas.microsoft.com/office/drawing/2014/main" id="{DA53A35D-A7FC-46DF-8F17-CB2B929D87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42465" y="201756"/>
            <a:ext cx="1691985" cy="1691985"/>
          </a:xfrm>
          <a:prstGeom prst="rect">
            <a:avLst/>
          </a:prstGeom>
          <a:effectLst>
            <a:outerShdw blurRad="63500" dist="63500" sx="104000" sy="104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8C5984-85FD-4A7B-BC9D-CFD0ADC314BC}"/>
              </a:ext>
            </a:extLst>
          </p:cNvPr>
          <p:cNvSpPr txBox="1"/>
          <p:nvPr userDrawn="1"/>
        </p:nvSpPr>
        <p:spPr>
          <a:xfrm>
            <a:off x="400050" y="2297255"/>
            <a:ext cx="80927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1F1F1F"/>
                </a:solidFill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404072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Grey)">
    <p:bg>
      <p:bgPr>
        <a:blipFill dpi="0" rotWithShape="1">
          <a:blip r:embed="rId2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1543050"/>
            <a:ext cx="8534400" cy="5124450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defRPr/>
            </a:lvl1pPr>
            <a:lvl2pPr>
              <a:lnSpc>
                <a:spcPct val="150000"/>
              </a:lnSpc>
              <a:buClr>
                <a:srgbClr val="FF0066"/>
              </a:buClr>
              <a:defRPr/>
            </a:lvl2pPr>
            <a:lvl3pPr>
              <a:lnSpc>
                <a:spcPct val="150000"/>
              </a:lnSpc>
              <a:buClr>
                <a:srgbClr val="FF0066"/>
              </a:buClr>
              <a:defRPr/>
            </a:lvl3pPr>
            <a:lvl4pPr>
              <a:lnSpc>
                <a:spcPct val="150000"/>
              </a:lnSpc>
              <a:buClr>
                <a:srgbClr val="FF0066"/>
              </a:buClr>
              <a:defRPr/>
            </a:lvl4pPr>
            <a:lvl5pPr>
              <a:lnSpc>
                <a:spcPct val="150000"/>
              </a:lnSpc>
              <a:buClr>
                <a:srgbClr val="FF0066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132556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1"/>
            <a:ext cx="8743950" cy="1314450"/>
          </a:xfrm>
        </p:spPr>
        <p:txBody>
          <a:bodyPr>
            <a:normAutofit/>
          </a:bodyPr>
          <a:lstStyle>
            <a:lvl1pPr>
              <a:defRPr sz="40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7622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1543050"/>
            <a:ext cx="8534400" cy="5124450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defRPr/>
            </a:lvl1pPr>
            <a:lvl2pPr>
              <a:lnSpc>
                <a:spcPct val="150000"/>
              </a:lnSpc>
              <a:buClr>
                <a:srgbClr val="FF0066"/>
              </a:buClr>
              <a:defRPr/>
            </a:lvl2pPr>
            <a:lvl3pPr>
              <a:lnSpc>
                <a:spcPct val="150000"/>
              </a:lnSpc>
              <a:buClr>
                <a:srgbClr val="FF0066"/>
              </a:buClr>
              <a:defRPr/>
            </a:lvl3pPr>
            <a:lvl4pPr>
              <a:lnSpc>
                <a:spcPct val="150000"/>
              </a:lnSpc>
              <a:buClr>
                <a:srgbClr val="FF0066"/>
              </a:buClr>
              <a:defRPr/>
            </a:lvl4pPr>
            <a:lvl5pPr>
              <a:lnSpc>
                <a:spcPct val="150000"/>
              </a:lnSpc>
              <a:buClr>
                <a:srgbClr val="FF0066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132556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0"/>
            <a:ext cx="874395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2039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23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00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933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83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276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blipFill dpi="0" rotWithShape="1">
          <a:blip r:embed="rId2">
            <a:alphaModFix amt="24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0D8FB24-47A5-44BC-AECD-0BC32C75DA0B}"/>
              </a:ext>
            </a:extLst>
          </p:cNvPr>
          <p:cNvSpPr/>
          <p:nvPr userDrawn="1"/>
        </p:nvSpPr>
        <p:spPr>
          <a:xfrm>
            <a:off x="548640" y="548640"/>
            <a:ext cx="8046720" cy="5760720"/>
          </a:xfrm>
          <a:prstGeom prst="roundRect">
            <a:avLst>
              <a:gd name="adj" fmla="val 6085"/>
            </a:avLst>
          </a:prstGeom>
          <a:solidFill>
            <a:srgbClr val="191919"/>
          </a:solidFill>
          <a:ln w="28575">
            <a:solidFill>
              <a:srgbClr val="ADF0D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rgbClr val="ADF0D1"/>
                </a:solidFill>
              </a:rPr>
              <a:t>That’s all for now…</a:t>
            </a: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952D653F-880E-4704-B157-47A700D64B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790332" y="790379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0F10F3FB-B2E5-4042-8A74-C8150CE8F5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8125068" y="790379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1C516898-262F-4C12-85F9-35D321590CE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790332" y="5839460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394B66A9-76CC-4130-959F-4495CE8CFE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8125068" y="5839460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8597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834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err="1"/>
              <a:t>ClicX</a:t>
            </a:r>
            <a:r>
              <a:rPr lang="en-US" dirty="0"/>
              <a:t>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53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785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6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EE634-6B37-4575-989D-67DDA194FFF3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163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6" r:id="rId3"/>
    <p:sldLayoutId id="2147483674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5" r:id="rId10"/>
    <p:sldLayoutId id="2147483668" r:id="rId11"/>
    <p:sldLayoutId id="2147483669" r:id="rId12"/>
    <p:sldLayoutId id="2147483670" r:id="rId13"/>
    <p:sldLayoutId id="214748367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2829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F5D201-13EE-4515-BCA8-C03A66FB0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457200"/>
            <a:r>
              <a:rPr lang="en-IN" dirty="0"/>
              <a:t>understand heap sort.</a:t>
            </a:r>
          </a:p>
          <a:p>
            <a:pPr marL="457200" lvl="1" indent="0">
              <a:buNone/>
            </a:pPr>
            <a:r>
              <a:rPr lang="en-IN" dirty="0"/>
              <a:t>		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87DFED-79C6-45F1-801E-613D1FB56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</p:spTree>
    <p:extLst>
      <p:ext uri="{BB962C8B-B14F-4D97-AF65-F5344CB8AC3E}">
        <p14:creationId xmlns:p14="http://schemas.microsoft.com/office/powerpoint/2010/main" val="3896377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543050"/>
            <a:ext cx="8321919" cy="5124450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Heap sort is sorting technique based upon Binary Heap data structure.</a:t>
            </a:r>
          </a:p>
          <a:p>
            <a:pPr algn="just"/>
            <a:r>
              <a:rPr lang="en-IN" dirty="0"/>
              <a:t>It is comparison-based sorting technique.</a:t>
            </a:r>
          </a:p>
          <a:p>
            <a:pPr algn="just"/>
            <a:r>
              <a:rPr lang="en-IN" dirty="0"/>
              <a:t>It processes the elements by creating the min heap or max heap using the elements of the array.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Heap Sort</a:t>
            </a:r>
          </a:p>
        </p:txBody>
      </p:sp>
    </p:spTree>
    <p:extLst>
      <p:ext uri="{BB962C8B-B14F-4D97-AF65-F5344CB8AC3E}">
        <p14:creationId xmlns:p14="http://schemas.microsoft.com/office/powerpoint/2010/main" val="1941008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543050"/>
            <a:ext cx="8321919" cy="5124450"/>
          </a:xfrm>
        </p:spPr>
        <p:txBody>
          <a:bodyPr/>
          <a:lstStyle/>
          <a:p>
            <a:pPr algn="just"/>
            <a:r>
              <a:rPr lang="en-IN" b="1" dirty="0">
                <a:solidFill>
                  <a:srgbClr val="C00000"/>
                </a:solidFill>
              </a:rPr>
              <a:t>Max Heap </a:t>
            </a:r>
            <a:r>
              <a:rPr lang="en-IN" dirty="0"/>
              <a:t>is used to arrange list of elements in Descending order.</a:t>
            </a:r>
          </a:p>
          <a:p>
            <a:pPr algn="just"/>
            <a:r>
              <a:rPr lang="en-IN" b="1" dirty="0">
                <a:solidFill>
                  <a:srgbClr val="C00000"/>
                </a:solidFill>
              </a:rPr>
              <a:t>Min Heap </a:t>
            </a:r>
            <a:r>
              <a:rPr lang="en-IN" dirty="0"/>
              <a:t>is used to arrange list elements in Ascending order.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Heap Sort</a:t>
            </a:r>
          </a:p>
        </p:txBody>
      </p:sp>
    </p:spTree>
    <p:extLst>
      <p:ext uri="{BB962C8B-B14F-4D97-AF65-F5344CB8AC3E}">
        <p14:creationId xmlns:p14="http://schemas.microsoft.com/office/powerpoint/2010/main" val="3713809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543050"/>
            <a:ext cx="8321919" cy="5124450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Construct a Binary Tree from the list of Elements.</a:t>
            </a:r>
          </a:p>
          <a:p>
            <a:pPr algn="just"/>
            <a:r>
              <a:rPr lang="en-IN" dirty="0"/>
              <a:t>Transform the Binary Tree into Max Heap / Min Heap.</a:t>
            </a:r>
          </a:p>
          <a:p>
            <a:pPr algn="just"/>
            <a:r>
              <a:rPr lang="en-IN" dirty="0"/>
              <a:t>Delete the root element from Max Heap / Min Heap</a:t>
            </a:r>
          </a:p>
          <a:p>
            <a:pPr algn="just"/>
            <a:r>
              <a:rPr lang="en-IN" dirty="0"/>
              <a:t>Reducing the size of heap by 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Steps for Heap Sort</a:t>
            </a:r>
          </a:p>
        </p:txBody>
      </p:sp>
    </p:spTree>
    <p:extLst>
      <p:ext uri="{BB962C8B-B14F-4D97-AF65-F5344CB8AC3E}">
        <p14:creationId xmlns:p14="http://schemas.microsoft.com/office/powerpoint/2010/main" val="1473507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543050"/>
            <a:ext cx="8335987" cy="5124450"/>
          </a:xfrm>
        </p:spPr>
        <p:txBody>
          <a:bodyPr/>
          <a:lstStyle/>
          <a:p>
            <a:pPr algn="just"/>
            <a:r>
              <a:rPr lang="en-IN" dirty="0" err="1"/>
              <a:t>Heapify</a:t>
            </a:r>
            <a:r>
              <a:rPr lang="en-IN" dirty="0"/>
              <a:t> the root of the tree.</a:t>
            </a:r>
          </a:p>
          <a:p>
            <a:pPr algn="just"/>
            <a:r>
              <a:rPr lang="en-IN" dirty="0"/>
              <a:t>Put the deleted element into the Sorted list.</a:t>
            </a:r>
          </a:p>
          <a:p>
            <a:pPr algn="just"/>
            <a:r>
              <a:rPr lang="en-IN" dirty="0"/>
              <a:t>Repeat the same until Min Heap becomes empty.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Steps for Heap Sort</a:t>
            </a:r>
          </a:p>
        </p:txBody>
      </p:sp>
    </p:spTree>
    <p:extLst>
      <p:ext uri="{BB962C8B-B14F-4D97-AF65-F5344CB8AC3E}">
        <p14:creationId xmlns:p14="http://schemas.microsoft.com/office/powerpoint/2010/main" val="358441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Heap Sort (Max Heap)</a:t>
            </a:r>
          </a:p>
        </p:txBody>
      </p:sp>
      <p:sp>
        <p:nvSpPr>
          <p:cNvPr id="4" name="Oval 3"/>
          <p:cNvSpPr/>
          <p:nvPr/>
        </p:nvSpPr>
        <p:spPr>
          <a:xfrm>
            <a:off x="2600873" y="3903496"/>
            <a:ext cx="699952" cy="49258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40</a:t>
            </a:r>
          </a:p>
        </p:txBody>
      </p:sp>
      <p:sp>
        <p:nvSpPr>
          <p:cNvPr id="5" name="Oval 4"/>
          <p:cNvSpPr/>
          <p:nvPr/>
        </p:nvSpPr>
        <p:spPr>
          <a:xfrm>
            <a:off x="2332761" y="4792534"/>
            <a:ext cx="699952" cy="49258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50</a:t>
            </a:r>
          </a:p>
        </p:txBody>
      </p:sp>
      <p:sp>
        <p:nvSpPr>
          <p:cNvPr id="6" name="Oval 5"/>
          <p:cNvSpPr/>
          <p:nvPr/>
        </p:nvSpPr>
        <p:spPr>
          <a:xfrm>
            <a:off x="1173239" y="3891107"/>
            <a:ext cx="699952" cy="49258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7" name="Oval 6"/>
          <p:cNvSpPr/>
          <p:nvPr/>
        </p:nvSpPr>
        <p:spPr>
          <a:xfrm>
            <a:off x="3170744" y="4783888"/>
            <a:ext cx="699952" cy="49258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8" name="Oval 7"/>
          <p:cNvSpPr/>
          <p:nvPr/>
        </p:nvSpPr>
        <p:spPr>
          <a:xfrm>
            <a:off x="1834865" y="3012633"/>
            <a:ext cx="699952" cy="492584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2666380" y="4383691"/>
            <a:ext cx="237125" cy="408843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433930" y="3443492"/>
            <a:ext cx="362197" cy="467884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endCxn id="7" idx="0"/>
          </p:cNvCxnSpPr>
          <p:nvPr/>
        </p:nvCxnSpPr>
        <p:spPr>
          <a:xfrm>
            <a:off x="3179568" y="4322835"/>
            <a:ext cx="341152" cy="461053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1692471" y="3436865"/>
            <a:ext cx="241822" cy="46663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03481" y="4792534"/>
            <a:ext cx="699952" cy="49258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70</a:t>
            </a:r>
          </a:p>
        </p:txBody>
      </p:sp>
      <p:sp>
        <p:nvSpPr>
          <p:cNvPr id="14" name="Oval 13"/>
          <p:cNvSpPr/>
          <p:nvPr/>
        </p:nvSpPr>
        <p:spPr>
          <a:xfrm>
            <a:off x="1541897" y="4792534"/>
            <a:ext cx="699952" cy="49258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60</a:t>
            </a:r>
          </a:p>
        </p:txBody>
      </p:sp>
      <p:cxnSp>
        <p:nvCxnSpPr>
          <p:cNvPr id="15" name="Straight Connector 14"/>
          <p:cNvCxnSpPr/>
          <p:nvPr/>
        </p:nvCxnSpPr>
        <p:spPr>
          <a:xfrm flipH="1">
            <a:off x="1042441" y="4349194"/>
            <a:ext cx="337949" cy="434694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692471" y="4351759"/>
            <a:ext cx="249644" cy="43212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75634" y="1429173"/>
            <a:ext cx="3914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6">
                    <a:lumMod val="50000"/>
                  </a:schemeClr>
                </a:solidFill>
              </a:rPr>
              <a:t>Elements</a:t>
            </a:r>
            <a:r>
              <a:rPr lang="en-IN" sz="2000" dirty="0">
                <a:solidFill>
                  <a:srgbClr val="0070C0"/>
                </a:solidFill>
              </a:rPr>
              <a:t>: </a:t>
            </a:r>
            <a:r>
              <a:rPr lang="en-IN" sz="2000" b="1" dirty="0">
                <a:solidFill>
                  <a:srgbClr val="0070C0"/>
                </a:solidFill>
              </a:rPr>
              <a:t>30 20 40 70 60 50 10</a:t>
            </a:r>
          </a:p>
        </p:txBody>
      </p:sp>
      <p:sp>
        <p:nvSpPr>
          <p:cNvPr id="20" name="Oval 19"/>
          <p:cNvSpPr/>
          <p:nvPr/>
        </p:nvSpPr>
        <p:spPr>
          <a:xfrm>
            <a:off x="7506107" y="3903496"/>
            <a:ext cx="699952" cy="49258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50</a:t>
            </a:r>
          </a:p>
        </p:txBody>
      </p:sp>
      <p:sp>
        <p:nvSpPr>
          <p:cNvPr id="21" name="Oval 20"/>
          <p:cNvSpPr/>
          <p:nvPr/>
        </p:nvSpPr>
        <p:spPr>
          <a:xfrm>
            <a:off x="7237995" y="4792534"/>
            <a:ext cx="699952" cy="49258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40</a:t>
            </a:r>
          </a:p>
        </p:txBody>
      </p:sp>
      <p:sp>
        <p:nvSpPr>
          <p:cNvPr id="22" name="Oval 21"/>
          <p:cNvSpPr/>
          <p:nvPr/>
        </p:nvSpPr>
        <p:spPr>
          <a:xfrm>
            <a:off x="6078473" y="3891107"/>
            <a:ext cx="699952" cy="49258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60</a:t>
            </a:r>
          </a:p>
        </p:txBody>
      </p:sp>
      <p:sp>
        <p:nvSpPr>
          <p:cNvPr id="23" name="Oval 22"/>
          <p:cNvSpPr/>
          <p:nvPr/>
        </p:nvSpPr>
        <p:spPr>
          <a:xfrm>
            <a:off x="8075978" y="4783888"/>
            <a:ext cx="699952" cy="49258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24" name="Oval 23"/>
          <p:cNvSpPr/>
          <p:nvPr/>
        </p:nvSpPr>
        <p:spPr>
          <a:xfrm>
            <a:off x="6740099" y="3012633"/>
            <a:ext cx="699952" cy="492584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70</a:t>
            </a:r>
          </a:p>
        </p:txBody>
      </p:sp>
      <p:cxnSp>
        <p:nvCxnSpPr>
          <p:cNvPr id="25" name="Straight Connector 24"/>
          <p:cNvCxnSpPr/>
          <p:nvPr/>
        </p:nvCxnSpPr>
        <p:spPr>
          <a:xfrm flipH="1">
            <a:off x="7571614" y="4383691"/>
            <a:ext cx="237125" cy="408843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339164" y="3443492"/>
            <a:ext cx="362197" cy="467884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endCxn id="23" idx="0"/>
          </p:cNvCxnSpPr>
          <p:nvPr/>
        </p:nvCxnSpPr>
        <p:spPr>
          <a:xfrm>
            <a:off x="8084802" y="4322835"/>
            <a:ext cx="341152" cy="461053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6597705" y="3436865"/>
            <a:ext cx="241822" cy="46663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508715" y="4792534"/>
            <a:ext cx="699952" cy="49258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30" name="Oval 29"/>
          <p:cNvSpPr/>
          <p:nvPr/>
        </p:nvSpPr>
        <p:spPr>
          <a:xfrm>
            <a:off x="6475906" y="4792534"/>
            <a:ext cx="699952" cy="49258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30</a:t>
            </a:r>
          </a:p>
        </p:txBody>
      </p:sp>
      <p:cxnSp>
        <p:nvCxnSpPr>
          <p:cNvPr id="31" name="Straight Connector 30"/>
          <p:cNvCxnSpPr/>
          <p:nvPr/>
        </p:nvCxnSpPr>
        <p:spPr>
          <a:xfrm flipH="1">
            <a:off x="5947675" y="4349194"/>
            <a:ext cx="337949" cy="434694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6597705" y="4351759"/>
            <a:ext cx="249644" cy="43212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ight Arrow 32"/>
          <p:cNvSpPr/>
          <p:nvPr/>
        </p:nvSpPr>
        <p:spPr>
          <a:xfrm>
            <a:off x="4056845" y="3786389"/>
            <a:ext cx="1017431" cy="360608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/>
          <p:cNvSpPr txBox="1"/>
          <p:nvPr/>
        </p:nvSpPr>
        <p:spPr>
          <a:xfrm>
            <a:off x="2820473" y="5825855"/>
            <a:ext cx="41985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0070C0"/>
                </a:solidFill>
              </a:rPr>
              <a:t>Convert tree into Max Heap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9138" y="2014092"/>
            <a:ext cx="53433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6">
                    <a:lumMod val="50000"/>
                  </a:schemeClr>
                </a:solidFill>
              </a:rPr>
              <a:t>Elements after sorting</a:t>
            </a:r>
            <a:r>
              <a:rPr lang="en-IN" sz="2000" dirty="0">
                <a:solidFill>
                  <a:srgbClr val="0070C0"/>
                </a:solidFill>
              </a:rPr>
              <a:t>: </a:t>
            </a:r>
            <a:r>
              <a:rPr lang="en-IN" sz="2000" b="1" dirty="0">
                <a:solidFill>
                  <a:srgbClr val="0070C0"/>
                </a:solidFill>
              </a:rPr>
              <a:t>70 60 50 40 30 20 10</a:t>
            </a:r>
          </a:p>
        </p:txBody>
      </p:sp>
    </p:spTree>
    <p:extLst>
      <p:ext uri="{BB962C8B-B14F-4D97-AF65-F5344CB8AC3E}">
        <p14:creationId xmlns:p14="http://schemas.microsoft.com/office/powerpoint/2010/main" val="719179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Heap Sort</a:t>
            </a:r>
          </a:p>
        </p:txBody>
      </p:sp>
      <p:sp>
        <p:nvSpPr>
          <p:cNvPr id="4" name="Oval 3"/>
          <p:cNvSpPr/>
          <p:nvPr/>
        </p:nvSpPr>
        <p:spPr>
          <a:xfrm>
            <a:off x="2420601" y="3864859"/>
            <a:ext cx="699952" cy="49258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50</a:t>
            </a:r>
          </a:p>
        </p:txBody>
      </p:sp>
      <p:sp>
        <p:nvSpPr>
          <p:cNvPr id="5" name="Oval 4"/>
          <p:cNvSpPr/>
          <p:nvPr/>
        </p:nvSpPr>
        <p:spPr>
          <a:xfrm>
            <a:off x="2152489" y="4753897"/>
            <a:ext cx="699952" cy="49258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40</a:t>
            </a:r>
          </a:p>
        </p:txBody>
      </p:sp>
      <p:sp>
        <p:nvSpPr>
          <p:cNvPr id="6" name="Oval 5"/>
          <p:cNvSpPr/>
          <p:nvPr/>
        </p:nvSpPr>
        <p:spPr>
          <a:xfrm>
            <a:off x="992967" y="3852470"/>
            <a:ext cx="699952" cy="49258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60</a:t>
            </a:r>
          </a:p>
        </p:txBody>
      </p:sp>
      <p:sp>
        <p:nvSpPr>
          <p:cNvPr id="7" name="Oval 6"/>
          <p:cNvSpPr/>
          <p:nvPr/>
        </p:nvSpPr>
        <p:spPr>
          <a:xfrm>
            <a:off x="2990472" y="4745251"/>
            <a:ext cx="699952" cy="49258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8" name="Oval 7"/>
          <p:cNvSpPr/>
          <p:nvPr/>
        </p:nvSpPr>
        <p:spPr>
          <a:xfrm>
            <a:off x="1654593" y="2973996"/>
            <a:ext cx="699952" cy="492584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70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2486108" y="4345054"/>
            <a:ext cx="237125" cy="408843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253658" y="3404855"/>
            <a:ext cx="362197" cy="467884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endCxn id="7" idx="0"/>
          </p:cNvCxnSpPr>
          <p:nvPr/>
        </p:nvCxnSpPr>
        <p:spPr>
          <a:xfrm>
            <a:off x="2999296" y="4284198"/>
            <a:ext cx="341152" cy="461053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1512199" y="3398228"/>
            <a:ext cx="241822" cy="46663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23209" y="4753897"/>
            <a:ext cx="699952" cy="49258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14" name="Oval 13"/>
          <p:cNvSpPr/>
          <p:nvPr/>
        </p:nvSpPr>
        <p:spPr>
          <a:xfrm>
            <a:off x="1390400" y="4753897"/>
            <a:ext cx="699952" cy="49258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30</a:t>
            </a:r>
          </a:p>
        </p:txBody>
      </p:sp>
      <p:cxnSp>
        <p:nvCxnSpPr>
          <p:cNvPr id="15" name="Straight Connector 14"/>
          <p:cNvCxnSpPr/>
          <p:nvPr/>
        </p:nvCxnSpPr>
        <p:spPr>
          <a:xfrm flipH="1">
            <a:off x="862169" y="4310557"/>
            <a:ext cx="337949" cy="434694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512199" y="4313122"/>
            <a:ext cx="249644" cy="43212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23209" y="1710905"/>
            <a:ext cx="3837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6">
                    <a:lumMod val="50000"/>
                  </a:schemeClr>
                </a:solidFill>
              </a:rPr>
              <a:t>Elements</a:t>
            </a:r>
            <a:r>
              <a:rPr lang="en-IN" sz="2000" dirty="0">
                <a:solidFill>
                  <a:srgbClr val="0070C0"/>
                </a:solidFill>
              </a:rPr>
              <a:t>: </a:t>
            </a:r>
            <a:r>
              <a:rPr lang="en-IN" sz="2000" b="1" dirty="0">
                <a:solidFill>
                  <a:srgbClr val="0070C0"/>
                </a:solidFill>
              </a:rPr>
              <a:t>30 20 40 70 60 50 10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8715" y="1710905"/>
            <a:ext cx="3837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6">
                    <a:lumMod val="50000"/>
                  </a:schemeClr>
                </a:solidFill>
              </a:rPr>
              <a:t>Elements</a:t>
            </a:r>
            <a:r>
              <a:rPr lang="en-IN" sz="2000" dirty="0">
                <a:solidFill>
                  <a:srgbClr val="0070C0"/>
                </a:solidFill>
              </a:rPr>
              <a:t>: </a:t>
            </a: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</a:rPr>
              <a:t>70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1869415" y="2914103"/>
            <a:ext cx="503443" cy="45700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ight Arrow 38"/>
          <p:cNvSpPr/>
          <p:nvPr/>
        </p:nvSpPr>
        <p:spPr>
          <a:xfrm>
            <a:off x="4220935" y="3692435"/>
            <a:ext cx="1017431" cy="360608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Curved Left Arrow 39"/>
          <p:cNvSpPr/>
          <p:nvPr/>
        </p:nvSpPr>
        <p:spPr>
          <a:xfrm rot="19415280" flipV="1">
            <a:off x="2990440" y="2552856"/>
            <a:ext cx="618186" cy="2380628"/>
          </a:xfrm>
          <a:prstGeom prst="curvedLef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7410936" y="3864859"/>
            <a:ext cx="699952" cy="49258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50</a:t>
            </a:r>
          </a:p>
        </p:txBody>
      </p:sp>
      <p:sp>
        <p:nvSpPr>
          <p:cNvPr id="42" name="Oval 41"/>
          <p:cNvSpPr/>
          <p:nvPr/>
        </p:nvSpPr>
        <p:spPr>
          <a:xfrm>
            <a:off x="7142824" y="4753897"/>
            <a:ext cx="699952" cy="49258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40</a:t>
            </a:r>
          </a:p>
        </p:txBody>
      </p:sp>
      <p:sp>
        <p:nvSpPr>
          <p:cNvPr id="43" name="Oval 42"/>
          <p:cNvSpPr/>
          <p:nvPr/>
        </p:nvSpPr>
        <p:spPr>
          <a:xfrm>
            <a:off x="5983302" y="3852470"/>
            <a:ext cx="699952" cy="49258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60</a:t>
            </a:r>
          </a:p>
        </p:txBody>
      </p:sp>
      <p:sp>
        <p:nvSpPr>
          <p:cNvPr id="45" name="Oval 44"/>
          <p:cNvSpPr/>
          <p:nvPr/>
        </p:nvSpPr>
        <p:spPr>
          <a:xfrm>
            <a:off x="6644928" y="2973996"/>
            <a:ext cx="699952" cy="492584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10</a:t>
            </a:r>
          </a:p>
        </p:txBody>
      </p:sp>
      <p:cxnSp>
        <p:nvCxnSpPr>
          <p:cNvPr id="46" name="Straight Connector 45"/>
          <p:cNvCxnSpPr/>
          <p:nvPr/>
        </p:nvCxnSpPr>
        <p:spPr>
          <a:xfrm flipH="1">
            <a:off x="7476443" y="4345054"/>
            <a:ext cx="237125" cy="408843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7243993" y="3404855"/>
            <a:ext cx="362197" cy="467884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>
            <a:off x="6502534" y="3398228"/>
            <a:ext cx="241822" cy="46663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5413544" y="4753897"/>
            <a:ext cx="699952" cy="49258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51" name="Oval 50"/>
          <p:cNvSpPr/>
          <p:nvPr/>
        </p:nvSpPr>
        <p:spPr>
          <a:xfrm>
            <a:off x="6380735" y="4753897"/>
            <a:ext cx="699952" cy="49258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30</a:t>
            </a:r>
          </a:p>
        </p:txBody>
      </p:sp>
      <p:cxnSp>
        <p:nvCxnSpPr>
          <p:cNvPr id="52" name="Straight Connector 51"/>
          <p:cNvCxnSpPr/>
          <p:nvPr/>
        </p:nvCxnSpPr>
        <p:spPr>
          <a:xfrm flipH="1">
            <a:off x="5852504" y="4310557"/>
            <a:ext cx="337949" cy="434694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6502534" y="4313122"/>
            <a:ext cx="249644" cy="43212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325041" y="5655324"/>
            <a:ext cx="3837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err="1">
                <a:solidFill>
                  <a:srgbClr val="0070C0"/>
                </a:solidFill>
              </a:rPr>
              <a:t>Heapify</a:t>
            </a:r>
            <a:r>
              <a:rPr lang="en-IN" sz="2000" dirty="0">
                <a:solidFill>
                  <a:srgbClr val="0070C0"/>
                </a:solidFill>
              </a:rPr>
              <a:t> the root element</a:t>
            </a:r>
          </a:p>
        </p:txBody>
      </p:sp>
    </p:spTree>
    <p:extLst>
      <p:ext uri="{BB962C8B-B14F-4D97-AF65-F5344CB8AC3E}">
        <p14:creationId xmlns:p14="http://schemas.microsoft.com/office/powerpoint/2010/main" val="3124519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Heap Sort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2592" y="1700341"/>
            <a:ext cx="3914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6">
                    <a:lumMod val="50000"/>
                  </a:schemeClr>
                </a:solidFill>
              </a:rPr>
              <a:t>Elements</a:t>
            </a:r>
            <a:r>
              <a:rPr lang="en-IN" sz="2000" dirty="0">
                <a:solidFill>
                  <a:srgbClr val="0070C0"/>
                </a:solidFill>
              </a:rPr>
              <a:t>: </a:t>
            </a:r>
            <a:r>
              <a:rPr lang="en-IN" sz="2000" b="1" dirty="0">
                <a:solidFill>
                  <a:srgbClr val="0070C0"/>
                </a:solidFill>
              </a:rPr>
              <a:t>30 20 40 70 60 50 10</a:t>
            </a:r>
          </a:p>
        </p:txBody>
      </p:sp>
      <p:sp>
        <p:nvSpPr>
          <p:cNvPr id="5" name="Oval 4"/>
          <p:cNvSpPr/>
          <p:nvPr/>
        </p:nvSpPr>
        <p:spPr>
          <a:xfrm>
            <a:off x="2397442" y="3884652"/>
            <a:ext cx="699952" cy="49258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50</a:t>
            </a:r>
          </a:p>
        </p:txBody>
      </p:sp>
      <p:sp>
        <p:nvSpPr>
          <p:cNvPr id="6" name="Oval 5"/>
          <p:cNvSpPr/>
          <p:nvPr/>
        </p:nvSpPr>
        <p:spPr>
          <a:xfrm>
            <a:off x="2129330" y="4773690"/>
            <a:ext cx="699952" cy="49258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40</a:t>
            </a:r>
          </a:p>
        </p:txBody>
      </p:sp>
      <p:sp>
        <p:nvSpPr>
          <p:cNvPr id="7" name="Oval 6"/>
          <p:cNvSpPr/>
          <p:nvPr/>
        </p:nvSpPr>
        <p:spPr>
          <a:xfrm>
            <a:off x="969808" y="3872263"/>
            <a:ext cx="699952" cy="49258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30</a:t>
            </a:r>
          </a:p>
        </p:txBody>
      </p:sp>
      <p:sp>
        <p:nvSpPr>
          <p:cNvPr id="8" name="Oval 7"/>
          <p:cNvSpPr/>
          <p:nvPr/>
        </p:nvSpPr>
        <p:spPr>
          <a:xfrm>
            <a:off x="1631434" y="2993789"/>
            <a:ext cx="699952" cy="492584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60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2462949" y="4364847"/>
            <a:ext cx="237125" cy="408843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230499" y="3424648"/>
            <a:ext cx="362197" cy="467884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1489040" y="3418021"/>
            <a:ext cx="241822" cy="46663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00050" y="4773690"/>
            <a:ext cx="699952" cy="49258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13" name="Oval 12"/>
          <p:cNvSpPr/>
          <p:nvPr/>
        </p:nvSpPr>
        <p:spPr>
          <a:xfrm>
            <a:off x="1367241" y="4773690"/>
            <a:ext cx="699952" cy="49258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10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839010" y="4330350"/>
            <a:ext cx="337949" cy="434694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489040" y="4332915"/>
            <a:ext cx="249644" cy="43212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ight Arrow 15"/>
          <p:cNvSpPr/>
          <p:nvPr/>
        </p:nvSpPr>
        <p:spPr>
          <a:xfrm>
            <a:off x="3448203" y="3938251"/>
            <a:ext cx="1017431" cy="360608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/>
          <p:cNvSpPr/>
          <p:nvPr/>
        </p:nvSpPr>
        <p:spPr>
          <a:xfrm>
            <a:off x="7211994" y="3884652"/>
            <a:ext cx="699952" cy="49258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50</a:t>
            </a:r>
          </a:p>
        </p:txBody>
      </p:sp>
      <p:sp>
        <p:nvSpPr>
          <p:cNvPr id="18" name="Oval 17"/>
          <p:cNvSpPr/>
          <p:nvPr/>
        </p:nvSpPr>
        <p:spPr>
          <a:xfrm>
            <a:off x="6943882" y="4773690"/>
            <a:ext cx="699952" cy="49258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40</a:t>
            </a:r>
          </a:p>
        </p:txBody>
      </p:sp>
      <p:sp>
        <p:nvSpPr>
          <p:cNvPr id="19" name="Oval 18"/>
          <p:cNvSpPr/>
          <p:nvPr/>
        </p:nvSpPr>
        <p:spPr>
          <a:xfrm>
            <a:off x="5784360" y="3872263"/>
            <a:ext cx="699952" cy="49258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30</a:t>
            </a:r>
          </a:p>
        </p:txBody>
      </p:sp>
      <p:sp>
        <p:nvSpPr>
          <p:cNvPr id="20" name="Oval 19"/>
          <p:cNvSpPr/>
          <p:nvPr/>
        </p:nvSpPr>
        <p:spPr>
          <a:xfrm>
            <a:off x="6445986" y="2993789"/>
            <a:ext cx="699952" cy="492584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60</a:t>
            </a:r>
          </a:p>
        </p:txBody>
      </p:sp>
      <p:cxnSp>
        <p:nvCxnSpPr>
          <p:cNvPr id="21" name="Straight Connector 20"/>
          <p:cNvCxnSpPr/>
          <p:nvPr/>
        </p:nvCxnSpPr>
        <p:spPr>
          <a:xfrm flipH="1">
            <a:off x="7277501" y="4364847"/>
            <a:ext cx="237125" cy="408843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045051" y="3424648"/>
            <a:ext cx="362197" cy="467884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6303592" y="3418021"/>
            <a:ext cx="241822" cy="46663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214602" y="4773690"/>
            <a:ext cx="699952" cy="49258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25" name="Oval 24"/>
          <p:cNvSpPr/>
          <p:nvPr/>
        </p:nvSpPr>
        <p:spPr>
          <a:xfrm>
            <a:off x="6181793" y="4773690"/>
            <a:ext cx="699952" cy="49258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10</a:t>
            </a:r>
          </a:p>
        </p:txBody>
      </p:sp>
      <p:cxnSp>
        <p:nvCxnSpPr>
          <p:cNvPr id="26" name="Straight Connector 25"/>
          <p:cNvCxnSpPr/>
          <p:nvPr/>
        </p:nvCxnSpPr>
        <p:spPr>
          <a:xfrm flipH="1">
            <a:off x="5653562" y="4330350"/>
            <a:ext cx="337949" cy="434694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303592" y="4332915"/>
            <a:ext cx="249644" cy="43212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738039" y="2939944"/>
            <a:ext cx="503443" cy="45700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718715" y="1710905"/>
            <a:ext cx="3837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6">
                    <a:lumMod val="50000"/>
                  </a:schemeClr>
                </a:solidFill>
              </a:rPr>
              <a:t>Elements</a:t>
            </a:r>
            <a:r>
              <a:rPr lang="en-IN" sz="2000" dirty="0">
                <a:solidFill>
                  <a:srgbClr val="0070C0"/>
                </a:solidFill>
              </a:rPr>
              <a:t>: </a:t>
            </a: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</a:rPr>
              <a:t>70 60</a:t>
            </a:r>
          </a:p>
        </p:txBody>
      </p:sp>
      <p:sp>
        <p:nvSpPr>
          <p:cNvPr id="31" name="Up Arrow 30"/>
          <p:cNvSpPr/>
          <p:nvPr/>
        </p:nvSpPr>
        <p:spPr>
          <a:xfrm rot="20595194">
            <a:off x="6827545" y="3535773"/>
            <a:ext cx="217570" cy="1190341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103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Heap Sort</a:t>
            </a:r>
          </a:p>
        </p:txBody>
      </p:sp>
      <p:sp>
        <p:nvSpPr>
          <p:cNvPr id="4" name="Oval 3"/>
          <p:cNvSpPr/>
          <p:nvPr/>
        </p:nvSpPr>
        <p:spPr>
          <a:xfrm>
            <a:off x="2268654" y="3897531"/>
            <a:ext cx="699952" cy="49258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50</a:t>
            </a:r>
          </a:p>
        </p:txBody>
      </p:sp>
      <p:sp>
        <p:nvSpPr>
          <p:cNvPr id="6" name="Oval 5"/>
          <p:cNvSpPr/>
          <p:nvPr/>
        </p:nvSpPr>
        <p:spPr>
          <a:xfrm>
            <a:off x="841020" y="3885142"/>
            <a:ext cx="699952" cy="49258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30</a:t>
            </a:r>
          </a:p>
        </p:txBody>
      </p:sp>
      <p:sp>
        <p:nvSpPr>
          <p:cNvPr id="7" name="Oval 6"/>
          <p:cNvSpPr/>
          <p:nvPr/>
        </p:nvSpPr>
        <p:spPr>
          <a:xfrm>
            <a:off x="1502646" y="3006668"/>
            <a:ext cx="699952" cy="492584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101711" y="3437527"/>
            <a:ext cx="362197" cy="467884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1360252" y="3430900"/>
            <a:ext cx="241822" cy="46663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71262" y="4786569"/>
            <a:ext cx="699952" cy="49258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12" name="Oval 11"/>
          <p:cNvSpPr/>
          <p:nvPr/>
        </p:nvSpPr>
        <p:spPr>
          <a:xfrm>
            <a:off x="1238453" y="4786569"/>
            <a:ext cx="699952" cy="49258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10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710222" y="4343229"/>
            <a:ext cx="337949" cy="434694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360252" y="4345794"/>
            <a:ext cx="249644" cy="43212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2592" y="1700341"/>
            <a:ext cx="3914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6">
                    <a:lumMod val="50000"/>
                  </a:schemeClr>
                </a:solidFill>
              </a:rPr>
              <a:t>Elements</a:t>
            </a:r>
            <a:r>
              <a:rPr lang="en-IN" sz="2000" dirty="0">
                <a:solidFill>
                  <a:srgbClr val="0070C0"/>
                </a:solidFill>
              </a:rPr>
              <a:t>: </a:t>
            </a:r>
            <a:r>
              <a:rPr lang="en-IN" sz="2000" b="1" dirty="0">
                <a:solidFill>
                  <a:srgbClr val="0070C0"/>
                </a:solidFill>
              </a:rPr>
              <a:t>30 20 40 70 60 50 10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8715" y="1710905"/>
            <a:ext cx="3837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6">
                    <a:lumMod val="50000"/>
                  </a:schemeClr>
                </a:solidFill>
              </a:rPr>
              <a:t>Elements</a:t>
            </a:r>
            <a:r>
              <a:rPr lang="en-IN" sz="2000" dirty="0">
                <a:solidFill>
                  <a:srgbClr val="0070C0"/>
                </a:solidFill>
              </a:rPr>
              <a:t>: </a:t>
            </a: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</a:rPr>
              <a:t>70 60 50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592" y="5694611"/>
            <a:ext cx="3837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err="1">
                <a:solidFill>
                  <a:srgbClr val="0070C0"/>
                </a:solidFill>
              </a:rPr>
              <a:t>Heapify</a:t>
            </a:r>
            <a:r>
              <a:rPr lang="en-IN" sz="2000" dirty="0">
                <a:solidFill>
                  <a:srgbClr val="0070C0"/>
                </a:solidFill>
              </a:rPr>
              <a:t> the root element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448203" y="3938251"/>
            <a:ext cx="1017431" cy="360608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/>
          <p:cNvSpPr/>
          <p:nvPr/>
        </p:nvSpPr>
        <p:spPr>
          <a:xfrm>
            <a:off x="7070327" y="3897531"/>
            <a:ext cx="699952" cy="49258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40</a:t>
            </a:r>
          </a:p>
        </p:txBody>
      </p:sp>
      <p:sp>
        <p:nvSpPr>
          <p:cNvPr id="22" name="Oval 21"/>
          <p:cNvSpPr/>
          <p:nvPr/>
        </p:nvSpPr>
        <p:spPr>
          <a:xfrm>
            <a:off x="5642693" y="3885142"/>
            <a:ext cx="699952" cy="49258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30</a:t>
            </a:r>
          </a:p>
        </p:txBody>
      </p:sp>
      <p:sp>
        <p:nvSpPr>
          <p:cNvPr id="23" name="Oval 22"/>
          <p:cNvSpPr/>
          <p:nvPr/>
        </p:nvSpPr>
        <p:spPr>
          <a:xfrm>
            <a:off x="6303590" y="2992363"/>
            <a:ext cx="699952" cy="492584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50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6903384" y="3437527"/>
            <a:ext cx="362197" cy="467884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6161925" y="3430900"/>
            <a:ext cx="241822" cy="46663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072935" y="4786569"/>
            <a:ext cx="699952" cy="49258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27" name="Oval 26"/>
          <p:cNvSpPr/>
          <p:nvPr/>
        </p:nvSpPr>
        <p:spPr>
          <a:xfrm>
            <a:off x="6040126" y="4786569"/>
            <a:ext cx="699952" cy="49258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10</a:t>
            </a:r>
          </a:p>
        </p:txBody>
      </p:sp>
      <p:cxnSp>
        <p:nvCxnSpPr>
          <p:cNvPr id="28" name="Straight Connector 27"/>
          <p:cNvCxnSpPr/>
          <p:nvPr/>
        </p:nvCxnSpPr>
        <p:spPr>
          <a:xfrm flipH="1">
            <a:off x="5511895" y="4343229"/>
            <a:ext cx="337949" cy="434694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6161925" y="4345794"/>
            <a:ext cx="249644" cy="43212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581039" y="2941331"/>
            <a:ext cx="503443" cy="45700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Up Arrow 31"/>
          <p:cNvSpPr/>
          <p:nvPr/>
        </p:nvSpPr>
        <p:spPr>
          <a:xfrm rot="415396">
            <a:off x="6459197" y="3520033"/>
            <a:ext cx="281486" cy="1222803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105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Heap Sort</a:t>
            </a:r>
          </a:p>
        </p:txBody>
      </p:sp>
      <p:sp>
        <p:nvSpPr>
          <p:cNvPr id="4" name="Oval 3"/>
          <p:cNvSpPr/>
          <p:nvPr/>
        </p:nvSpPr>
        <p:spPr>
          <a:xfrm>
            <a:off x="2397442" y="3910410"/>
            <a:ext cx="699952" cy="49258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40</a:t>
            </a:r>
          </a:p>
        </p:txBody>
      </p:sp>
      <p:sp>
        <p:nvSpPr>
          <p:cNvPr id="5" name="Oval 4"/>
          <p:cNvSpPr/>
          <p:nvPr/>
        </p:nvSpPr>
        <p:spPr>
          <a:xfrm>
            <a:off x="969808" y="3898021"/>
            <a:ext cx="699952" cy="49258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30</a:t>
            </a:r>
          </a:p>
        </p:txBody>
      </p:sp>
      <p:sp>
        <p:nvSpPr>
          <p:cNvPr id="6" name="Oval 5"/>
          <p:cNvSpPr/>
          <p:nvPr/>
        </p:nvSpPr>
        <p:spPr>
          <a:xfrm>
            <a:off x="1630705" y="3005242"/>
            <a:ext cx="699952" cy="492584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10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2230499" y="3450406"/>
            <a:ext cx="362197" cy="467884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1489040" y="3443779"/>
            <a:ext cx="241822" cy="46663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00050" y="4799448"/>
            <a:ext cx="699952" cy="49258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20</a:t>
            </a:r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839010" y="4356108"/>
            <a:ext cx="337949" cy="434694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42592" y="1700341"/>
            <a:ext cx="3914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6">
                    <a:lumMod val="50000"/>
                  </a:schemeClr>
                </a:solidFill>
              </a:rPr>
              <a:t>Elements</a:t>
            </a:r>
            <a:r>
              <a:rPr lang="en-IN" sz="2000" dirty="0">
                <a:solidFill>
                  <a:srgbClr val="0070C0"/>
                </a:solidFill>
              </a:rPr>
              <a:t>: </a:t>
            </a:r>
            <a:r>
              <a:rPr lang="en-IN" sz="2000" b="1" dirty="0">
                <a:solidFill>
                  <a:srgbClr val="0070C0"/>
                </a:solidFill>
              </a:rPr>
              <a:t>30 20 40 70 60 50 10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715" y="1710905"/>
            <a:ext cx="3837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6">
                    <a:lumMod val="50000"/>
                  </a:schemeClr>
                </a:solidFill>
              </a:rPr>
              <a:t>Elements</a:t>
            </a:r>
            <a:r>
              <a:rPr lang="en-IN" sz="2000" dirty="0">
                <a:solidFill>
                  <a:srgbClr val="0070C0"/>
                </a:solidFill>
              </a:rPr>
              <a:t>: </a:t>
            </a: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</a:rPr>
              <a:t>70 60 50 40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778463" y="3976398"/>
            <a:ext cx="1017431" cy="360608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/>
          <p:cNvSpPr txBox="1"/>
          <p:nvPr/>
        </p:nvSpPr>
        <p:spPr>
          <a:xfrm>
            <a:off x="278423" y="5707980"/>
            <a:ext cx="3837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err="1">
                <a:solidFill>
                  <a:srgbClr val="0070C0"/>
                </a:solidFill>
              </a:rPr>
              <a:t>Heapify</a:t>
            </a:r>
            <a:r>
              <a:rPr lang="en-IN" sz="2000" dirty="0">
                <a:solidFill>
                  <a:srgbClr val="0070C0"/>
                </a:solidFill>
              </a:rPr>
              <a:t> the root element</a:t>
            </a:r>
          </a:p>
        </p:txBody>
      </p:sp>
      <p:sp>
        <p:nvSpPr>
          <p:cNvPr id="19" name="Oval 18"/>
          <p:cNvSpPr/>
          <p:nvPr/>
        </p:nvSpPr>
        <p:spPr>
          <a:xfrm>
            <a:off x="7121842" y="3910410"/>
            <a:ext cx="699952" cy="49258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20" name="Oval 19"/>
          <p:cNvSpPr/>
          <p:nvPr/>
        </p:nvSpPr>
        <p:spPr>
          <a:xfrm>
            <a:off x="5694208" y="3898021"/>
            <a:ext cx="699952" cy="49258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30</a:t>
            </a:r>
          </a:p>
        </p:txBody>
      </p:sp>
      <p:sp>
        <p:nvSpPr>
          <p:cNvPr id="21" name="Oval 20"/>
          <p:cNvSpPr/>
          <p:nvPr/>
        </p:nvSpPr>
        <p:spPr>
          <a:xfrm>
            <a:off x="6355105" y="3005242"/>
            <a:ext cx="699952" cy="492584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40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6954899" y="3450406"/>
            <a:ext cx="362197" cy="467884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6213440" y="3443779"/>
            <a:ext cx="241822" cy="46663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124450" y="4799448"/>
            <a:ext cx="699952" cy="49258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20</a:t>
            </a:r>
          </a:p>
        </p:txBody>
      </p:sp>
      <p:cxnSp>
        <p:nvCxnSpPr>
          <p:cNvPr id="25" name="Straight Connector 24"/>
          <p:cNvCxnSpPr/>
          <p:nvPr/>
        </p:nvCxnSpPr>
        <p:spPr>
          <a:xfrm flipH="1">
            <a:off x="5633106" y="4356108"/>
            <a:ext cx="268254" cy="48873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581039" y="2941331"/>
            <a:ext cx="503443" cy="45700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rved Left Arrow 30"/>
          <p:cNvSpPr/>
          <p:nvPr/>
        </p:nvSpPr>
        <p:spPr>
          <a:xfrm rot="2005878" flipH="1" flipV="1">
            <a:off x="5193289" y="2708269"/>
            <a:ext cx="632056" cy="2139455"/>
          </a:xfrm>
          <a:prstGeom prst="curvedLef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6468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Heap Sort</a:t>
            </a:r>
          </a:p>
        </p:txBody>
      </p:sp>
      <p:sp>
        <p:nvSpPr>
          <p:cNvPr id="4" name="Oval 3"/>
          <p:cNvSpPr/>
          <p:nvPr/>
        </p:nvSpPr>
        <p:spPr>
          <a:xfrm>
            <a:off x="1838694" y="4295873"/>
            <a:ext cx="699952" cy="49258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5" name="Oval 4"/>
          <p:cNvSpPr/>
          <p:nvPr/>
        </p:nvSpPr>
        <p:spPr>
          <a:xfrm>
            <a:off x="516901" y="4323024"/>
            <a:ext cx="699952" cy="49258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30</a:t>
            </a:r>
          </a:p>
        </p:txBody>
      </p:sp>
      <p:sp>
        <p:nvSpPr>
          <p:cNvPr id="6" name="Oval 5"/>
          <p:cNvSpPr/>
          <p:nvPr/>
        </p:nvSpPr>
        <p:spPr>
          <a:xfrm>
            <a:off x="1177798" y="3430245"/>
            <a:ext cx="699952" cy="492584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20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777592" y="3875409"/>
            <a:ext cx="241823" cy="420464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1036133" y="3868782"/>
            <a:ext cx="241822" cy="46663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42592" y="1700341"/>
            <a:ext cx="3914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6">
                    <a:lumMod val="50000"/>
                  </a:schemeClr>
                </a:solidFill>
              </a:rPr>
              <a:t>Elements</a:t>
            </a:r>
            <a:r>
              <a:rPr lang="en-IN" sz="2000" dirty="0">
                <a:solidFill>
                  <a:srgbClr val="0070C0"/>
                </a:solidFill>
              </a:rPr>
              <a:t>: </a:t>
            </a:r>
            <a:r>
              <a:rPr lang="en-IN" sz="2000" b="1" dirty="0">
                <a:solidFill>
                  <a:srgbClr val="0070C0"/>
                </a:solidFill>
              </a:rPr>
              <a:t>30 20 40 70 60 50 10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8715" y="1710905"/>
            <a:ext cx="3837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6">
                    <a:lumMod val="50000"/>
                  </a:schemeClr>
                </a:solidFill>
              </a:rPr>
              <a:t>Elements</a:t>
            </a:r>
            <a:r>
              <a:rPr lang="en-IN" sz="2000" dirty="0">
                <a:solidFill>
                  <a:srgbClr val="0070C0"/>
                </a:solidFill>
              </a:rPr>
              <a:t>: </a:t>
            </a: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</a:rPr>
              <a:t>70 60 50 40 30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8941" y="5471974"/>
            <a:ext cx="3837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err="1">
                <a:solidFill>
                  <a:srgbClr val="0070C0"/>
                </a:solidFill>
              </a:rPr>
              <a:t>Heapify</a:t>
            </a:r>
            <a:r>
              <a:rPr lang="en-IN" sz="2000" dirty="0">
                <a:solidFill>
                  <a:srgbClr val="0070C0"/>
                </a:solidFill>
              </a:rPr>
              <a:t> the root element</a:t>
            </a:r>
          </a:p>
        </p:txBody>
      </p:sp>
      <p:sp>
        <p:nvSpPr>
          <p:cNvPr id="17" name="Oval 16"/>
          <p:cNvSpPr/>
          <p:nvPr/>
        </p:nvSpPr>
        <p:spPr>
          <a:xfrm>
            <a:off x="6563094" y="4268722"/>
            <a:ext cx="699952" cy="49258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18" name="Oval 17"/>
          <p:cNvSpPr/>
          <p:nvPr/>
        </p:nvSpPr>
        <p:spPr>
          <a:xfrm>
            <a:off x="5241301" y="4295873"/>
            <a:ext cx="699952" cy="49258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19" name="Oval 18"/>
          <p:cNvSpPr/>
          <p:nvPr/>
        </p:nvSpPr>
        <p:spPr>
          <a:xfrm>
            <a:off x="5902198" y="3403094"/>
            <a:ext cx="699952" cy="492584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30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6501992" y="3848258"/>
            <a:ext cx="241823" cy="420464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760533" y="3841631"/>
            <a:ext cx="241822" cy="46663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ight Arrow 21"/>
          <p:cNvSpPr/>
          <p:nvPr/>
        </p:nvSpPr>
        <p:spPr>
          <a:xfrm>
            <a:off x="3310426" y="3974805"/>
            <a:ext cx="1017431" cy="360608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3" name="Straight Connector 22"/>
          <p:cNvCxnSpPr/>
          <p:nvPr/>
        </p:nvCxnSpPr>
        <p:spPr>
          <a:xfrm>
            <a:off x="6134224" y="3355674"/>
            <a:ext cx="503443" cy="45700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rved Left Arrow 23"/>
          <p:cNvSpPr/>
          <p:nvPr/>
        </p:nvSpPr>
        <p:spPr>
          <a:xfrm rot="19443794" flipV="1">
            <a:off x="6910091" y="3217555"/>
            <a:ext cx="434303" cy="1190242"/>
          </a:xfrm>
          <a:prstGeom prst="curvedLef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999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Heap Sort</a:t>
            </a:r>
          </a:p>
        </p:txBody>
      </p:sp>
      <p:sp>
        <p:nvSpPr>
          <p:cNvPr id="5" name="Oval 4"/>
          <p:cNvSpPr/>
          <p:nvPr/>
        </p:nvSpPr>
        <p:spPr>
          <a:xfrm>
            <a:off x="682179" y="4192842"/>
            <a:ext cx="699952" cy="49258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6" name="Oval 5"/>
          <p:cNvSpPr/>
          <p:nvPr/>
        </p:nvSpPr>
        <p:spPr>
          <a:xfrm>
            <a:off x="1201411" y="3246016"/>
            <a:ext cx="699952" cy="492584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10</a:t>
            </a:r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1201411" y="3738600"/>
            <a:ext cx="241822" cy="46663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18941" y="5471974"/>
            <a:ext cx="3837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err="1">
                <a:solidFill>
                  <a:srgbClr val="0070C0"/>
                </a:solidFill>
              </a:rPr>
              <a:t>Heapify</a:t>
            </a:r>
            <a:r>
              <a:rPr lang="en-IN" sz="2000" dirty="0">
                <a:solidFill>
                  <a:srgbClr val="0070C0"/>
                </a:solidFill>
              </a:rPr>
              <a:t> the root element</a:t>
            </a:r>
          </a:p>
        </p:txBody>
      </p:sp>
      <p:sp>
        <p:nvSpPr>
          <p:cNvPr id="11" name="Oval 10"/>
          <p:cNvSpPr/>
          <p:nvPr/>
        </p:nvSpPr>
        <p:spPr>
          <a:xfrm>
            <a:off x="5844461" y="4192842"/>
            <a:ext cx="699952" cy="49258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12" name="Oval 11"/>
          <p:cNvSpPr/>
          <p:nvPr/>
        </p:nvSpPr>
        <p:spPr>
          <a:xfrm>
            <a:off x="6363693" y="3246016"/>
            <a:ext cx="699952" cy="492584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20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6363693" y="3738600"/>
            <a:ext cx="241822" cy="46663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ight Arrow 13"/>
          <p:cNvSpPr/>
          <p:nvPr/>
        </p:nvSpPr>
        <p:spPr>
          <a:xfrm>
            <a:off x="3310426" y="3974805"/>
            <a:ext cx="1017431" cy="360608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/>
          <p:cNvSpPr txBox="1"/>
          <p:nvPr/>
        </p:nvSpPr>
        <p:spPr>
          <a:xfrm>
            <a:off x="142592" y="1700341"/>
            <a:ext cx="3914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6">
                    <a:lumMod val="50000"/>
                  </a:schemeClr>
                </a:solidFill>
              </a:rPr>
              <a:t>Elements</a:t>
            </a:r>
            <a:r>
              <a:rPr lang="en-IN" sz="2000" dirty="0">
                <a:solidFill>
                  <a:srgbClr val="0070C0"/>
                </a:solidFill>
              </a:rPr>
              <a:t>: </a:t>
            </a:r>
            <a:r>
              <a:rPr lang="en-IN" sz="2000" b="1" dirty="0">
                <a:solidFill>
                  <a:srgbClr val="0070C0"/>
                </a:solidFill>
              </a:rPr>
              <a:t>30 20 40 70 60 50 10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715" y="1710905"/>
            <a:ext cx="3837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6">
                    <a:lumMod val="50000"/>
                  </a:schemeClr>
                </a:solidFill>
              </a:rPr>
              <a:t>Elements</a:t>
            </a:r>
            <a:r>
              <a:rPr lang="en-IN" sz="2000" dirty="0">
                <a:solidFill>
                  <a:srgbClr val="0070C0"/>
                </a:solidFill>
              </a:rPr>
              <a:t>: </a:t>
            </a: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</a:rPr>
              <a:t>70 60 50 40 30 20 10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6605515" y="3149612"/>
            <a:ext cx="503443" cy="45700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9477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Worst Case : O(n log n)</a:t>
            </a:r>
          </a:p>
          <a:p>
            <a:r>
              <a:rPr lang="pt-BR" dirty="0"/>
              <a:t>Best Case : O(n log n)</a:t>
            </a:r>
          </a:p>
          <a:p>
            <a:r>
              <a:rPr lang="pt-BR" dirty="0"/>
              <a:t>Average Case : O(n log n)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Complexity of the Heap Sort </a:t>
            </a:r>
          </a:p>
        </p:txBody>
      </p:sp>
    </p:spTree>
    <p:extLst>
      <p:ext uri="{BB962C8B-B14F-4D97-AF65-F5344CB8AC3E}">
        <p14:creationId xmlns:p14="http://schemas.microsoft.com/office/powerpoint/2010/main" val="1538812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K sorted array</a:t>
            </a:r>
          </a:p>
          <a:p>
            <a:r>
              <a:rPr lang="en-IN" dirty="0"/>
              <a:t>K largest or smallest elements in an array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 of Heap Sort </a:t>
            </a:r>
          </a:p>
        </p:txBody>
      </p:sp>
    </p:spTree>
    <p:extLst>
      <p:ext uri="{BB962C8B-B14F-4D97-AF65-F5344CB8AC3E}">
        <p14:creationId xmlns:p14="http://schemas.microsoft.com/office/powerpoint/2010/main" val="3355230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9230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10038</TotalTime>
  <Words>425</Words>
  <Application>Microsoft Office PowerPoint</Application>
  <PresentationFormat>On-screen Show (4:3)</PresentationFormat>
  <Paragraphs>120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Bahnschrift</vt:lpstr>
      <vt:lpstr>Bahnschrift SemiBold</vt:lpstr>
      <vt:lpstr>Office Theme</vt:lpstr>
      <vt:lpstr>PowerPoint Presentation</vt:lpstr>
      <vt:lpstr>Learning Outcomes</vt:lpstr>
      <vt:lpstr>Heap Sort</vt:lpstr>
      <vt:lpstr>Heap Sort</vt:lpstr>
      <vt:lpstr>Steps for Heap Sort</vt:lpstr>
      <vt:lpstr>Steps for Heap Sort</vt:lpstr>
      <vt:lpstr>Example: Heap Sort (Max Heap)</vt:lpstr>
      <vt:lpstr>Example: Heap Sort</vt:lpstr>
      <vt:lpstr>Example: Heap Sort</vt:lpstr>
      <vt:lpstr>Example: Heap Sort</vt:lpstr>
      <vt:lpstr>Example: Heap Sort</vt:lpstr>
      <vt:lpstr>Example: Heap Sort</vt:lpstr>
      <vt:lpstr>Example: Heap Sort</vt:lpstr>
      <vt:lpstr>Complexity of the Heap Sort </vt:lpstr>
      <vt:lpstr>Applications of Heap Sort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video recording2</cp:lastModifiedBy>
  <cp:revision>552</cp:revision>
  <dcterms:created xsi:type="dcterms:W3CDTF">2020-12-02T15:29:53Z</dcterms:created>
  <dcterms:modified xsi:type="dcterms:W3CDTF">2021-10-25T09:19:27Z</dcterms:modified>
</cp:coreProperties>
</file>