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39" r:id="rId4"/>
    <p:sldId id="340" r:id="rId5"/>
    <p:sldId id="343" r:id="rId6"/>
    <p:sldId id="341" r:id="rId7"/>
    <p:sldId id="342" r:id="rId8"/>
    <p:sldId id="344" r:id="rId9"/>
    <p:sldId id="345" r:id="rId10"/>
    <p:sldId id="346" r:id="rId11"/>
    <p:sldId id="349" r:id="rId12"/>
    <p:sldId id="348" r:id="rId13"/>
    <p:sldId id="350" r:id="rId14"/>
    <p:sldId id="354" r:id="rId15"/>
    <p:sldId id="352" r:id="rId16"/>
    <p:sldId id="355" r:id="rId17"/>
    <p:sldId id="353" r:id="rId18"/>
    <p:sldId id="351" r:id="rId19"/>
    <p:sldId id="25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2" autoAdjust="0"/>
    <p:restoredTop sz="94660"/>
  </p:normalViewPr>
  <p:slideViewPr>
    <p:cSldViewPr snapToGrid="0">
      <p:cViewPr varScale="1">
        <p:scale>
          <a:sx n="68" d="100"/>
          <a:sy n="68" d="100"/>
        </p:scale>
        <p:origin x="14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</a:t>
            </a:r>
            <a:r>
              <a:rPr lang="en-I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Xumar</a:t>
            </a:r>
            <a:endParaRPr lang="en-I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Fibonacci Heap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07852" cy="5124450"/>
          </a:xfrm>
        </p:spPr>
        <p:txBody>
          <a:bodyPr/>
          <a:lstStyle/>
          <a:p>
            <a:pPr algn="just"/>
            <a:r>
              <a:rPr lang="en-IN" dirty="0"/>
              <a:t>Fibonacci heap data structure is collection of trees which follow min heap or max heap property. </a:t>
            </a:r>
          </a:p>
          <a:p>
            <a:pPr algn="just"/>
            <a:r>
              <a:rPr lang="en-IN" dirty="0"/>
              <a:t>In a Fibonacci heap, a node can have more than two children or no children at all.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Fibonacci Heap</a:t>
            </a:r>
          </a:p>
        </p:txBody>
      </p:sp>
    </p:spTree>
    <p:extLst>
      <p:ext uri="{BB962C8B-B14F-4D97-AF65-F5344CB8AC3E}">
        <p14:creationId xmlns:p14="http://schemas.microsoft.com/office/powerpoint/2010/main" val="63999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50055" cy="5124450"/>
          </a:xfrm>
        </p:spPr>
        <p:txBody>
          <a:bodyPr/>
          <a:lstStyle/>
          <a:p>
            <a:pPr algn="just"/>
            <a:r>
              <a:rPr lang="en-IN" dirty="0"/>
              <a:t>A pointer is maintained at the minimum element node.</a:t>
            </a:r>
          </a:p>
          <a:p>
            <a:pPr algn="just"/>
            <a:r>
              <a:rPr lang="en-IN" dirty="0"/>
              <a:t>The trees within a Fibonacci heap are unordered but rooted.</a:t>
            </a:r>
          </a:p>
          <a:p>
            <a:pPr algn="just"/>
            <a:r>
              <a:rPr lang="en-IN" dirty="0"/>
              <a:t>It is a set of min heap-ordered trees.</a:t>
            </a:r>
          </a:p>
          <a:p>
            <a:pPr algn="just"/>
            <a:r>
              <a:rPr lang="en-IN" dirty="0"/>
              <a:t>It consists of a set of marked nodes.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a Fibonacci Heap</a:t>
            </a:r>
          </a:p>
        </p:txBody>
      </p:sp>
    </p:spTree>
    <p:extLst>
      <p:ext uri="{BB962C8B-B14F-4D97-AF65-F5344CB8AC3E}">
        <p14:creationId xmlns:p14="http://schemas.microsoft.com/office/powerpoint/2010/main" val="1583915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Fibonacci Heap</a:t>
            </a:r>
          </a:p>
        </p:txBody>
      </p:sp>
      <p:sp>
        <p:nvSpPr>
          <p:cNvPr id="4" name="Oval 3"/>
          <p:cNvSpPr/>
          <p:nvPr/>
        </p:nvSpPr>
        <p:spPr>
          <a:xfrm>
            <a:off x="2195969" y="3930881"/>
            <a:ext cx="658309" cy="58091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2668978" y="2737942"/>
            <a:ext cx="641025" cy="594842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592607" y="3332784"/>
            <a:ext cx="320758" cy="6385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45185" y="3916959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237559" y="2716946"/>
            <a:ext cx="749741" cy="61583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540212" y="3311789"/>
            <a:ext cx="12638" cy="615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8" idx="6"/>
          </p:cNvCxnSpPr>
          <p:nvPr/>
        </p:nvCxnSpPr>
        <p:spPr>
          <a:xfrm flipH="1">
            <a:off x="1987300" y="3014367"/>
            <a:ext cx="670155" cy="104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300087" y="2737941"/>
            <a:ext cx="657581" cy="642454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2" name="Oval 11"/>
          <p:cNvSpPr/>
          <p:nvPr/>
        </p:nvSpPr>
        <p:spPr>
          <a:xfrm>
            <a:off x="3240737" y="3916958"/>
            <a:ext cx="653298" cy="60551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3" name="Oval 12"/>
          <p:cNvSpPr/>
          <p:nvPr/>
        </p:nvSpPr>
        <p:spPr>
          <a:xfrm>
            <a:off x="6007795" y="2737940"/>
            <a:ext cx="682339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3221794" y="5056083"/>
            <a:ext cx="672241" cy="594843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15" name="Oval 14"/>
          <p:cNvSpPr/>
          <p:nvPr/>
        </p:nvSpPr>
        <p:spPr>
          <a:xfrm>
            <a:off x="5195980" y="3847693"/>
            <a:ext cx="674069" cy="66410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22</a:t>
            </a:r>
          </a:p>
        </p:txBody>
      </p:sp>
      <p:sp>
        <p:nvSpPr>
          <p:cNvPr id="16" name="Oval 15"/>
          <p:cNvSpPr/>
          <p:nvPr/>
        </p:nvSpPr>
        <p:spPr>
          <a:xfrm>
            <a:off x="6690134" y="3916957"/>
            <a:ext cx="689460" cy="60551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095409" y="3296934"/>
            <a:ext cx="357751" cy="6712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4" idx="0"/>
          </p:cNvCxnSpPr>
          <p:nvPr/>
        </p:nvCxnSpPr>
        <p:spPr>
          <a:xfrm flipH="1">
            <a:off x="3557915" y="4511801"/>
            <a:ext cx="2522" cy="5442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982929" y="5056083"/>
            <a:ext cx="662864" cy="594843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32</a:t>
            </a:r>
          </a:p>
        </p:txBody>
      </p:sp>
      <p:sp>
        <p:nvSpPr>
          <p:cNvPr id="31" name="Oval 30"/>
          <p:cNvSpPr/>
          <p:nvPr/>
        </p:nvSpPr>
        <p:spPr>
          <a:xfrm>
            <a:off x="4759713" y="5101307"/>
            <a:ext cx="623353" cy="594843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33" name="Straight Connector 32"/>
          <p:cNvCxnSpPr>
            <a:stCxn id="11" idx="2"/>
            <a:endCxn id="5" idx="6"/>
          </p:cNvCxnSpPr>
          <p:nvPr/>
        </p:nvCxnSpPr>
        <p:spPr>
          <a:xfrm flipH="1" flipV="1">
            <a:off x="3310003" y="3035363"/>
            <a:ext cx="990084" cy="2380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811504" y="4382317"/>
            <a:ext cx="342850" cy="7479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5193807" y="4476448"/>
            <a:ext cx="196270" cy="6602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16" idx="1"/>
          </p:cNvCxnSpPr>
          <p:nvPr/>
        </p:nvCxnSpPr>
        <p:spPr>
          <a:xfrm>
            <a:off x="6500484" y="3245670"/>
            <a:ext cx="290619" cy="7599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3" idx="3"/>
            <a:endCxn id="15" idx="7"/>
          </p:cNvCxnSpPr>
          <p:nvPr/>
        </p:nvCxnSpPr>
        <p:spPr>
          <a:xfrm flipH="1">
            <a:off x="5771334" y="3245670"/>
            <a:ext cx="336387" cy="6992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3" idx="2"/>
          </p:cNvCxnSpPr>
          <p:nvPr/>
        </p:nvCxnSpPr>
        <p:spPr>
          <a:xfrm flipH="1">
            <a:off x="4905395" y="3035362"/>
            <a:ext cx="1102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077196" y="1690743"/>
            <a:ext cx="961436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Roots</a:t>
            </a:r>
          </a:p>
        </p:txBody>
      </p:sp>
      <p:cxnSp>
        <p:nvCxnSpPr>
          <p:cNvPr id="62" name="Straight Connector 61"/>
          <p:cNvCxnSpPr>
            <a:endCxn id="8" idx="7"/>
          </p:cNvCxnSpPr>
          <p:nvPr/>
        </p:nvCxnSpPr>
        <p:spPr>
          <a:xfrm flipH="1">
            <a:off x="1877503" y="2064230"/>
            <a:ext cx="1363234" cy="742903"/>
          </a:xfrm>
          <a:prstGeom prst="line">
            <a:avLst/>
          </a:prstGeom>
          <a:ln w="28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5" idx="0"/>
          </p:cNvCxnSpPr>
          <p:nvPr/>
        </p:nvCxnSpPr>
        <p:spPr>
          <a:xfrm flipV="1">
            <a:off x="2989491" y="2064230"/>
            <a:ext cx="464648" cy="673712"/>
          </a:xfrm>
          <a:prstGeom prst="line">
            <a:avLst/>
          </a:prstGeom>
          <a:ln w="28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1" idx="1"/>
          </p:cNvCxnSpPr>
          <p:nvPr/>
        </p:nvCxnSpPr>
        <p:spPr>
          <a:xfrm flipH="1" flipV="1">
            <a:off x="3567388" y="2064230"/>
            <a:ext cx="829000" cy="767796"/>
          </a:xfrm>
          <a:prstGeom prst="line">
            <a:avLst/>
          </a:prstGeom>
          <a:ln w="28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1"/>
          </p:cNvCxnSpPr>
          <p:nvPr/>
        </p:nvCxnSpPr>
        <p:spPr>
          <a:xfrm flipH="1" flipV="1">
            <a:off x="3805045" y="2064230"/>
            <a:ext cx="2302676" cy="760823"/>
          </a:xfrm>
          <a:prstGeom prst="line">
            <a:avLst/>
          </a:prstGeom>
          <a:ln w="28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59951" y="1798167"/>
            <a:ext cx="961436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</a:t>
            </a:r>
          </a:p>
        </p:txBody>
      </p:sp>
      <p:sp>
        <p:nvSpPr>
          <p:cNvPr id="2" name="Down Arrow 1"/>
          <p:cNvSpPr/>
          <p:nvPr/>
        </p:nvSpPr>
        <p:spPr>
          <a:xfrm>
            <a:off x="6200688" y="2159327"/>
            <a:ext cx="198239" cy="48351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7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93784" cy="5124450"/>
          </a:xfrm>
        </p:spPr>
        <p:txBody>
          <a:bodyPr/>
          <a:lstStyle/>
          <a:p>
            <a:pPr algn="just"/>
            <a:r>
              <a:rPr lang="en-IN" dirty="0"/>
              <a:t>The child nodes of a parent node are connected to each other through a circular doubly linked list.</a:t>
            </a:r>
          </a:p>
          <a:p>
            <a:pPr algn="just"/>
            <a:r>
              <a:rPr lang="en-IN" dirty="0"/>
              <a:t>Deleting a node from the tree takes O(1) time.</a:t>
            </a:r>
          </a:p>
          <a:p>
            <a:pPr algn="just"/>
            <a:r>
              <a:rPr lang="en-IN" dirty="0"/>
              <a:t>The concatenation of two such lists takes O(1) time.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Fibonacci Heap</a:t>
            </a:r>
          </a:p>
        </p:txBody>
      </p:sp>
    </p:spTree>
    <p:extLst>
      <p:ext uri="{BB962C8B-B14F-4D97-AF65-F5344CB8AC3E}">
        <p14:creationId xmlns:p14="http://schemas.microsoft.com/office/powerpoint/2010/main" val="216321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79716" cy="5124450"/>
          </a:xfrm>
        </p:spPr>
        <p:txBody>
          <a:bodyPr/>
          <a:lstStyle/>
          <a:p>
            <a:pPr marL="365125" indent="-365125" algn="just"/>
            <a:r>
              <a:rPr lang="en-IN" dirty="0"/>
              <a:t>Fibonacci heaps have a faster amortized running time than other heap types.</a:t>
            </a:r>
          </a:p>
          <a:p>
            <a:pPr marL="365125" indent="-365125" algn="just"/>
            <a:r>
              <a:rPr lang="en-IN" dirty="0"/>
              <a:t>Fibonacci heaps have a less rigid structure as compared to binomial heaps.</a:t>
            </a:r>
          </a:p>
          <a:p>
            <a:pPr marL="365125" indent="-365125" algn="just"/>
            <a:r>
              <a:rPr lang="en-IN" dirty="0"/>
              <a:t>Fibonacci heaps are used to implement the priority queue element in </a:t>
            </a:r>
            <a:r>
              <a:rPr lang="en-IN" dirty="0" err="1"/>
              <a:t>Dijkstra’s</a:t>
            </a:r>
            <a:r>
              <a:rPr lang="en-IN" dirty="0"/>
              <a:t> algorithm.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Fibonacci Heap</a:t>
            </a:r>
          </a:p>
        </p:txBody>
      </p:sp>
    </p:spTree>
    <p:extLst>
      <p:ext uri="{BB962C8B-B14F-4D97-AF65-F5344CB8AC3E}">
        <p14:creationId xmlns:p14="http://schemas.microsoft.com/office/powerpoint/2010/main" val="91073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Insertion</a:t>
            </a:r>
          </a:p>
          <a:p>
            <a:r>
              <a:rPr lang="en-IN" dirty="0"/>
              <a:t>Find Min</a:t>
            </a:r>
          </a:p>
          <a:p>
            <a:r>
              <a:rPr lang="en-IN" dirty="0"/>
              <a:t>Union</a:t>
            </a:r>
          </a:p>
          <a:p>
            <a:r>
              <a:rPr lang="en-IN" dirty="0"/>
              <a:t>Extract Min</a:t>
            </a:r>
          </a:p>
          <a:p>
            <a:r>
              <a:rPr lang="en-IN" dirty="0"/>
              <a:t>Decrease a key</a:t>
            </a:r>
          </a:p>
          <a:p>
            <a:r>
              <a:rPr lang="en-IN" dirty="0"/>
              <a:t>Delete a node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a Fibonacci Heap</a:t>
            </a:r>
          </a:p>
        </p:txBody>
      </p:sp>
    </p:spTree>
    <p:extLst>
      <p:ext uri="{BB962C8B-B14F-4D97-AF65-F5344CB8AC3E}">
        <p14:creationId xmlns:p14="http://schemas.microsoft.com/office/powerpoint/2010/main" val="428679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37513" cy="5124450"/>
          </a:xfrm>
        </p:spPr>
        <p:txBody>
          <a:bodyPr/>
          <a:lstStyle/>
          <a:p>
            <a:pPr algn="just"/>
            <a:r>
              <a:rPr lang="en-IN" dirty="0"/>
              <a:t>Create a new node for the element.</a:t>
            </a:r>
          </a:p>
          <a:p>
            <a:pPr algn="just"/>
            <a:r>
              <a:rPr lang="en-IN" dirty="0"/>
              <a:t>Check if the heap is empty.</a:t>
            </a:r>
          </a:p>
          <a:p>
            <a:pPr algn="just"/>
            <a:r>
              <a:rPr lang="en-IN" dirty="0"/>
              <a:t>If the heap is empty, set the new node as a root node and mark it min.</a:t>
            </a:r>
          </a:p>
          <a:p>
            <a:pPr algn="just"/>
            <a:r>
              <a:rPr lang="en-IN" dirty="0"/>
              <a:t>Else, insert the node into the root list and update min.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</a:t>
            </a:r>
          </a:p>
        </p:txBody>
      </p:sp>
    </p:spTree>
    <p:extLst>
      <p:ext uri="{BB962C8B-B14F-4D97-AF65-F5344CB8AC3E}">
        <p14:creationId xmlns:p14="http://schemas.microsoft.com/office/powerpoint/2010/main" val="1826452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79716" cy="5124450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Steps for Union of two Fibonacci heaps.</a:t>
            </a:r>
          </a:p>
          <a:p>
            <a:pPr algn="just"/>
            <a:r>
              <a:rPr lang="en-IN" dirty="0"/>
              <a:t>Concatenate the roots of both the heaps.</a:t>
            </a:r>
          </a:p>
          <a:p>
            <a:pPr algn="just"/>
            <a:r>
              <a:rPr lang="en-IN" dirty="0"/>
              <a:t>Update min by selecting a minimum key from the new root lists.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119891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Union: Example</a:t>
            </a:r>
          </a:p>
        </p:txBody>
      </p:sp>
      <p:sp>
        <p:nvSpPr>
          <p:cNvPr id="4" name="Oval 3"/>
          <p:cNvSpPr/>
          <p:nvPr/>
        </p:nvSpPr>
        <p:spPr>
          <a:xfrm>
            <a:off x="1500510" y="4059670"/>
            <a:ext cx="658309" cy="58091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1973519" y="2866731"/>
            <a:ext cx="641025" cy="594842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12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897148" y="3461573"/>
            <a:ext cx="320758" cy="6385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9726" y="4045748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542100" y="2845735"/>
            <a:ext cx="749741" cy="61583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844753" y="3440578"/>
            <a:ext cx="12638" cy="615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45278" y="4045747"/>
            <a:ext cx="653298" cy="60551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4" name="Oval 13"/>
          <p:cNvSpPr/>
          <p:nvPr/>
        </p:nvSpPr>
        <p:spPr>
          <a:xfrm>
            <a:off x="2526335" y="5184872"/>
            <a:ext cx="672241" cy="594843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18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399950" y="3425723"/>
            <a:ext cx="357751" cy="6712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4" idx="0"/>
          </p:cNvCxnSpPr>
          <p:nvPr/>
        </p:nvCxnSpPr>
        <p:spPr>
          <a:xfrm flipH="1">
            <a:off x="2862456" y="4640590"/>
            <a:ext cx="2522" cy="5442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522064" y="1996599"/>
            <a:ext cx="685548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</a:t>
            </a:r>
          </a:p>
        </p:txBody>
      </p:sp>
      <p:sp>
        <p:nvSpPr>
          <p:cNvPr id="45" name="Oval 44"/>
          <p:cNvSpPr/>
          <p:nvPr/>
        </p:nvSpPr>
        <p:spPr>
          <a:xfrm>
            <a:off x="6448378" y="4023820"/>
            <a:ext cx="658309" cy="58091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</a:t>
            </a:r>
          </a:p>
        </p:txBody>
      </p:sp>
      <p:sp>
        <p:nvSpPr>
          <p:cNvPr id="46" name="Oval 45"/>
          <p:cNvSpPr/>
          <p:nvPr/>
        </p:nvSpPr>
        <p:spPr>
          <a:xfrm>
            <a:off x="6921387" y="2830881"/>
            <a:ext cx="641025" cy="594842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12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6845016" y="3425723"/>
            <a:ext cx="320758" cy="6385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497594" y="4009898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9" name="Oval 48"/>
          <p:cNvSpPr/>
          <p:nvPr/>
        </p:nvSpPr>
        <p:spPr>
          <a:xfrm>
            <a:off x="5489968" y="2809885"/>
            <a:ext cx="749741" cy="61583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5792621" y="3404728"/>
            <a:ext cx="12638" cy="615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endCxn id="49" idx="6"/>
          </p:cNvCxnSpPr>
          <p:nvPr/>
        </p:nvCxnSpPr>
        <p:spPr>
          <a:xfrm flipH="1">
            <a:off x="6239709" y="3107306"/>
            <a:ext cx="670155" cy="104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493146" y="4009897"/>
            <a:ext cx="653298" cy="60551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53" name="Oval 52"/>
          <p:cNvSpPr/>
          <p:nvPr/>
        </p:nvSpPr>
        <p:spPr>
          <a:xfrm>
            <a:off x="7474203" y="5149022"/>
            <a:ext cx="672241" cy="594843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18</a:t>
            </a:r>
          </a:p>
        </p:txBody>
      </p:sp>
      <p:cxnSp>
        <p:nvCxnSpPr>
          <p:cNvPr id="54" name="Straight Connector 53"/>
          <p:cNvCxnSpPr/>
          <p:nvPr/>
        </p:nvCxnSpPr>
        <p:spPr>
          <a:xfrm>
            <a:off x="7347818" y="3389873"/>
            <a:ext cx="357751" cy="6712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53" idx="0"/>
          </p:cNvCxnSpPr>
          <p:nvPr/>
        </p:nvCxnSpPr>
        <p:spPr>
          <a:xfrm flipH="1">
            <a:off x="7810324" y="4604740"/>
            <a:ext cx="2522" cy="5442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72153" y="2042282"/>
            <a:ext cx="685548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6293" y="2042282"/>
            <a:ext cx="685548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</a:t>
            </a:r>
          </a:p>
        </p:txBody>
      </p:sp>
      <p:sp>
        <p:nvSpPr>
          <p:cNvPr id="2" name="Down Arrow 1"/>
          <p:cNvSpPr/>
          <p:nvPr/>
        </p:nvSpPr>
        <p:spPr>
          <a:xfrm>
            <a:off x="844753" y="2370086"/>
            <a:ext cx="159799" cy="439799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Down Arrow 58"/>
          <p:cNvSpPr/>
          <p:nvPr/>
        </p:nvSpPr>
        <p:spPr>
          <a:xfrm>
            <a:off x="2230135" y="2355752"/>
            <a:ext cx="159799" cy="439799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Down Arrow 60"/>
          <p:cNvSpPr/>
          <p:nvPr/>
        </p:nvSpPr>
        <p:spPr>
          <a:xfrm>
            <a:off x="5725359" y="2312994"/>
            <a:ext cx="159799" cy="439799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/>
          <p:cNvSpPr txBox="1"/>
          <p:nvPr/>
        </p:nvSpPr>
        <p:spPr>
          <a:xfrm>
            <a:off x="4016598" y="3979171"/>
            <a:ext cx="89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Union </a:t>
            </a:r>
          </a:p>
        </p:txBody>
      </p:sp>
      <p:sp>
        <p:nvSpPr>
          <p:cNvPr id="65" name="Down Arrow 64"/>
          <p:cNvSpPr/>
          <p:nvPr/>
        </p:nvSpPr>
        <p:spPr>
          <a:xfrm rot="16200000">
            <a:off x="4264185" y="3252271"/>
            <a:ext cx="401015" cy="101818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2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05243"/>
            <a:ext cx="8321919" cy="5162257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In extract min minimum value is removed from the heap and the tree is re-adjusted.</a:t>
            </a:r>
          </a:p>
          <a:p>
            <a:pPr algn="just"/>
            <a:r>
              <a:rPr lang="en-IN" dirty="0"/>
              <a:t>Steps for Extract Min</a:t>
            </a:r>
          </a:p>
          <a:p>
            <a:pPr marL="971550" lvl="1" indent="-514350" algn="just">
              <a:buClrTx/>
              <a:buFont typeface="+mj-lt"/>
              <a:buAutoNum type="arabicParenR"/>
            </a:pPr>
            <a:r>
              <a:rPr lang="en-IN" dirty="0"/>
              <a:t>Delete the min node.</a:t>
            </a:r>
          </a:p>
          <a:p>
            <a:pPr marL="971550" lvl="1" indent="-514350" algn="just">
              <a:buClrTx/>
              <a:buFont typeface="+mj-lt"/>
              <a:buAutoNum type="arabicParenR"/>
            </a:pPr>
            <a:r>
              <a:rPr lang="en-IN" dirty="0"/>
              <a:t>Set the min-pointer to the next root in the root list.</a:t>
            </a:r>
          </a:p>
          <a:p>
            <a:pPr marL="971550" lvl="1" indent="-514350" algn="just">
              <a:buClrTx/>
              <a:buFont typeface="+mj-lt"/>
              <a:buAutoNum type="arabicParenR"/>
            </a:pPr>
            <a:r>
              <a:rPr lang="en-IN" dirty="0"/>
              <a:t>Create an array of size equal to the maximum degree of the trees in the heap before deletion.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Min</a:t>
            </a:r>
          </a:p>
        </p:txBody>
      </p:sp>
    </p:spTree>
    <p:extLst>
      <p:ext uri="{BB962C8B-B14F-4D97-AF65-F5344CB8AC3E}">
        <p14:creationId xmlns:p14="http://schemas.microsoft.com/office/powerpoint/2010/main" val="316786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>
            <a:normAutofit/>
          </a:bodyPr>
          <a:lstStyle/>
          <a:p>
            <a:pPr marL="971550" lvl="1" indent="-514350" algn="just">
              <a:lnSpc>
                <a:spcPct val="160000"/>
              </a:lnSpc>
              <a:buClrTx/>
              <a:buFont typeface="+mj-lt"/>
              <a:buAutoNum type="arabicParenR" startAt="4"/>
            </a:pPr>
            <a:r>
              <a:rPr lang="en-IN" dirty="0"/>
              <a:t>Do the following (steps 5-7) until there are no multiple roots with the same degree.</a:t>
            </a:r>
          </a:p>
          <a:p>
            <a:pPr marL="971550" lvl="1" indent="-514350" algn="just">
              <a:lnSpc>
                <a:spcPct val="160000"/>
              </a:lnSpc>
              <a:buClrTx/>
              <a:buFont typeface="+mj-lt"/>
              <a:buAutoNum type="arabicParenR" startAt="4"/>
            </a:pPr>
            <a:r>
              <a:rPr lang="en-IN" dirty="0"/>
              <a:t>Map the degree of current root (min-pointer) to the degree in the array.</a:t>
            </a:r>
          </a:p>
          <a:p>
            <a:pPr marL="971550" lvl="1" indent="-514350" algn="just">
              <a:lnSpc>
                <a:spcPct val="160000"/>
              </a:lnSpc>
              <a:buClrTx/>
              <a:buFont typeface="+mj-lt"/>
              <a:buAutoNum type="arabicParenR" startAt="4"/>
            </a:pPr>
            <a:r>
              <a:rPr lang="en-IN" dirty="0"/>
              <a:t>Map the degree of next root to the degree in array.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Min</a:t>
            </a:r>
          </a:p>
        </p:txBody>
      </p:sp>
    </p:spTree>
    <p:extLst>
      <p:ext uri="{BB962C8B-B14F-4D97-AF65-F5344CB8AC3E}">
        <p14:creationId xmlns:p14="http://schemas.microsoft.com/office/powerpoint/2010/main" val="944343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35987" cy="5124450"/>
          </a:xfrm>
        </p:spPr>
        <p:txBody>
          <a:bodyPr>
            <a:normAutofit/>
          </a:bodyPr>
          <a:lstStyle/>
          <a:p>
            <a:pPr marL="971550" lvl="1" indent="-514350" algn="just">
              <a:lnSpc>
                <a:spcPct val="160000"/>
              </a:lnSpc>
              <a:buClrTx/>
              <a:buFont typeface="+mj-lt"/>
              <a:buAutoNum type="arabicParenR" startAt="4"/>
            </a:pPr>
            <a:r>
              <a:rPr lang="en-IN" dirty="0"/>
              <a:t>If there are more than two mappings for the same degree, then apply union operation to those roots such that the min-heap property is maintained (i.e. the minimum is at the root).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Min</a:t>
            </a:r>
          </a:p>
        </p:txBody>
      </p:sp>
    </p:spTree>
    <p:extLst>
      <p:ext uri="{BB962C8B-B14F-4D97-AF65-F5344CB8AC3E}">
        <p14:creationId xmlns:p14="http://schemas.microsoft.com/office/powerpoint/2010/main" val="2441116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7578" y="1442434"/>
            <a:ext cx="8492528" cy="5225066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Decrease the value of the node ‘x’ to the new chosen value.</a:t>
            </a:r>
          </a:p>
          <a:p>
            <a:pPr algn="just"/>
            <a:r>
              <a:rPr lang="en-IN" dirty="0"/>
              <a:t>CASE 1 - If min heap order not violated,</a:t>
            </a:r>
          </a:p>
          <a:p>
            <a:pPr lvl="1" algn="just"/>
            <a:r>
              <a:rPr lang="en-IN" dirty="0"/>
              <a:t>Update min pointer if necessary.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Decrease Key: Algorithm</a:t>
            </a:r>
          </a:p>
        </p:txBody>
      </p:sp>
    </p:spTree>
    <p:extLst>
      <p:ext uri="{BB962C8B-B14F-4D97-AF65-F5344CB8AC3E}">
        <p14:creationId xmlns:p14="http://schemas.microsoft.com/office/powerpoint/2010/main" val="3003020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7578" y="1442434"/>
            <a:ext cx="8492528" cy="5225066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CASE 2 - If min heap order violated and parent of ‘x’ is unmarked,</a:t>
            </a:r>
          </a:p>
          <a:p>
            <a:pPr marL="900113" indent="0" algn="just">
              <a:buNone/>
            </a:pPr>
            <a:r>
              <a:rPr lang="en-IN" dirty="0"/>
              <a:t>	Cut off the link between ‘x’ and its parent.</a:t>
            </a:r>
          </a:p>
          <a:p>
            <a:pPr marL="900113" indent="0" algn="just">
              <a:buNone/>
            </a:pPr>
            <a:r>
              <a:rPr lang="en-IN" dirty="0"/>
              <a:t>	Mark the parent of ‘x’.</a:t>
            </a:r>
          </a:p>
          <a:p>
            <a:pPr marL="900113" indent="0" algn="just">
              <a:buNone/>
            </a:pPr>
            <a:r>
              <a:rPr lang="en-IN" dirty="0"/>
              <a:t>	Add tree rooted at ‘x’ to the root list and update min pointer if necessary.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Decrease Key: Algorithm</a:t>
            </a:r>
          </a:p>
        </p:txBody>
      </p:sp>
    </p:spTree>
    <p:extLst>
      <p:ext uri="{BB962C8B-B14F-4D97-AF65-F5344CB8AC3E}">
        <p14:creationId xmlns:p14="http://schemas.microsoft.com/office/powerpoint/2010/main" val="1331864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50055" cy="512445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sz="3600" dirty="0"/>
              <a:t>CASE 3 - If min heap order is violated and parent of ‘x’ is marked,</a:t>
            </a:r>
          </a:p>
          <a:p>
            <a:pPr marL="1350963" indent="-450850" algn="just"/>
            <a:r>
              <a:rPr lang="en-IN" dirty="0"/>
              <a:t>Cut off the link between ‘x’ and its parent p[x].</a:t>
            </a:r>
          </a:p>
          <a:p>
            <a:pPr marL="1350963" indent="-450850" algn="just"/>
            <a:r>
              <a:rPr lang="en-IN" dirty="0"/>
              <a:t>Add ‘x’ to the root list, updating min pointer if necessary.</a:t>
            </a:r>
          </a:p>
          <a:p>
            <a:pPr marL="1350963" indent="-450850" algn="just"/>
            <a:r>
              <a:rPr lang="en-IN" dirty="0"/>
              <a:t>Cut off link between p[x] and p[p[x]].</a:t>
            </a:r>
          </a:p>
          <a:p>
            <a:pPr marL="1350963" indent="-450850" algn="just"/>
            <a:r>
              <a:rPr lang="en-IN" dirty="0"/>
              <a:t>Add p[x] to the root list, updating min pointer if necessary.</a:t>
            </a:r>
          </a:p>
          <a:p>
            <a:pPr marL="1350963" indent="-450850" algn="just"/>
            <a:r>
              <a:rPr lang="en-IN" dirty="0"/>
              <a:t>If p[p[x]] is unmarked, mark it.</a:t>
            </a:r>
          </a:p>
          <a:p>
            <a:pPr marL="1350963" indent="-450850" algn="just"/>
            <a:r>
              <a:rPr lang="en-IN" dirty="0"/>
              <a:t>Else, cut off p[p[x]] and repeat steps 4.2 to 4.5, taking p[p[x]] as ‘x’.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Decrease Key</a:t>
            </a:r>
          </a:p>
        </p:txBody>
      </p:sp>
    </p:spTree>
    <p:extLst>
      <p:ext uri="{BB962C8B-B14F-4D97-AF65-F5344CB8AC3E}">
        <p14:creationId xmlns:p14="http://schemas.microsoft.com/office/powerpoint/2010/main" val="179890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This process makes use of </a:t>
            </a:r>
            <a:r>
              <a:rPr lang="en-IN" dirty="0">
                <a:solidFill>
                  <a:srgbClr val="C00000"/>
                </a:solidFill>
              </a:rPr>
              <a:t>decrease-key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extract-min</a:t>
            </a:r>
            <a:r>
              <a:rPr lang="en-IN" dirty="0"/>
              <a:t> operations. The following steps are followed for deleting a node.</a:t>
            </a:r>
          </a:p>
          <a:p>
            <a:pPr marL="971550" lvl="1" indent="-514350" algn="just">
              <a:buClrTx/>
              <a:buFont typeface="+mj-lt"/>
              <a:buAutoNum type="arabicPeriod"/>
            </a:pPr>
            <a:r>
              <a:rPr lang="en-IN" dirty="0"/>
              <a:t>Let k be the node to be deleted.</a:t>
            </a:r>
          </a:p>
          <a:p>
            <a:pPr marL="971550" lvl="1" indent="-514350" algn="just">
              <a:buClrTx/>
              <a:buFont typeface="+mj-lt"/>
              <a:buAutoNum type="arabicPeriod"/>
            </a:pPr>
            <a:r>
              <a:rPr lang="en-IN" dirty="0"/>
              <a:t>Apply decrease-key operation to decrease the value of k to the lowest possible value (i.e. -∞).</a:t>
            </a:r>
          </a:p>
          <a:p>
            <a:pPr marL="971550" lvl="1" indent="-514350" algn="just">
              <a:buClrTx/>
              <a:buFont typeface="+mj-lt"/>
              <a:buAutoNum type="arabicPeriod"/>
            </a:pPr>
            <a:r>
              <a:rPr lang="en-IN" dirty="0"/>
              <a:t>Apply extract-min operation to remove this node.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a Node</a:t>
            </a:r>
          </a:p>
        </p:txBody>
      </p:sp>
    </p:spTree>
    <p:extLst>
      <p:ext uri="{BB962C8B-B14F-4D97-AF65-F5344CB8AC3E}">
        <p14:creationId xmlns:p14="http://schemas.microsoft.com/office/powerpoint/2010/main" val="780872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11346</TotalTime>
  <Words>735</Words>
  <Application>Microsoft Office PowerPoint</Application>
  <PresentationFormat>On-screen Show (4:3)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Fibonacci Heap</vt:lpstr>
      <vt:lpstr>Properties of a Fibonacci Heap</vt:lpstr>
      <vt:lpstr>Fibonacci Heap</vt:lpstr>
      <vt:lpstr>Fibonacci Heap</vt:lpstr>
      <vt:lpstr>Fibonacci Heap</vt:lpstr>
      <vt:lpstr>Operations on a Fibonacci Heap</vt:lpstr>
      <vt:lpstr>Insertion</vt:lpstr>
      <vt:lpstr>Union</vt:lpstr>
      <vt:lpstr>Union: Example</vt:lpstr>
      <vt:lpstr>Extract Min</vt:lpstr>
      <vt:lpstr>Extract Min</vt:lpstr>
      <vt:lpstr>Extract Min</vt:lpstr>
      <vt:lpstr>Decrease Key: Algorithm</vt:lpstr>
      <vt:lpstr>Decrease Key: Algorithm</vt:lpstr>
      <vt:lpstr>Decrease Key</vt:lpstr>
      <vt:lpstr>Deleting a Node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614</cp:revision>
  <dcterms:created xsi:type="dcterms:W3CDTF">2020-12-02T15:29:53Z</dcterms:created>
  <dcterms:modified xsi:type="dcterms:W3CDTF">2021-10-29T05:28:09Z</dcterms:modified>
</cp:coreProperties>
</file>