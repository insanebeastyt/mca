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34" r:id="rId4"/>
    <p:sldId id="350" r:id="rId5"/>
    <p:sldId id="335" r:id="rId6"/>
    <p:sldId id="351" r:id="rId7"/>
    <p:sldId id="345" r:id="rId8"/>
    <p:sldId id="352" r:id="rId9"/>
    <p:sldId id="346" r:id="rId10"/>
    <p:sldId id="336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7" r:id="rId19"/>
    <p:sldId id="348" r:id="rId20"/>
    <p:sldId id="349" r:id="rId21"/>
    <p:sldId id="25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1F2"/>
    <a:srgbClr val="1F1F1F"/>
    <a:srgbClr val="7CAAF1"/>
    <a:srgbClr val="2C2C2C"/>
    <a:srgbClr val="191919"/>
    <a:srgbClr val="636973"/>
    <a:srgbClr val="999999"/>
    <a:srgbClr val="C2C2C2"/>
    <a:srgbClr val="00203F"/>
    <a:srgbClr val="ADF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</a:t>
            </a:r>
            <a:r>
              <a:rPr lang="en-IN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Xumar</a:t>
            </a:r>
            <a:endParaRPr lang="en-IN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ClicX</a:t>
            </a:r>
            <a:r>
              <a:rPr lang="en-US" dirty="0"/>
              <a:t>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10/27/2021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 algn="just"/>
            <a:r>
              <a:rPr lang="en-IN" dirty="0"/>
              <a:t>understand binomial heaps	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57" y="1543050"/>
            <a:ext cx="8412479" cy="5124450"/>
          </a:xfrm>
        </p:spPr>
        <p:txBody>
          <a:bodyPr/>
          <a:lstStyle/>
          <a:p>
            <a:pPr algn="just"/>
            <a:r>
              <a:rPr lang="en-IN" dirty="0"/>
              <a:t>A binomial Heap is a collection of Binomial Trees that satisfies the heap properties, i.e., min heap. it supports quicker merging of two heaps in             O (log n).</a:t>
            </a:r>
          </a:p>
          <a:p>
            <a:pPr algn="just">
              <a:buClrTx/>
            </a:pPr>
            <a:r>
              <a:rPr lang="en-IN" dirty="0">
                <a:solidFill>
                  <a:srgbClr val="F2F1F2"/>
                </a:solidFill>
              </a:rPr>
              <a:t>A min heap is a heap in which each node has a value lesser than the value of its child nodes.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Heap</a:t>
            </a:r>
          </a:p>
        </p:txBody>
      </p:sp>
    </p:spTree>
    <p:extLst>
      <p:ext uri="{BB962C8B-B14F-4D97-AF65-F5344CB8AC3E}">
        <p14:creationId xmlns:p14="http://schemas.microsoft.com/office/powerpoint/2010/main" val="26028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57" y="1543050"/>
            <a:ext cx="8412479" cy="5124450"/>
          </a:xfrm>
        </p:spPr>
        <p:txBody>
          <a:bodyPr/>
          <a:lstStyle/>
          <a:p>
            <a:pPr algn="just"/>
            <a:r>
              <a:rPr lang="en-IN" dirty="0"/>
              <a:t>A binomial Heap is a collection of Binomial Trees that satisfies the heap properties, i.e., min heap. it supports quicker merging of two heaps in             O (log n).</a:t>
            </a:r>
          </a:p>
          <a:p>
            <a:pPr algn="just"/>
            <a:r>
              <a:rPr lang="en-IN" dirty="0"/>
              <a:t>A min heap is a heap in which each node has a value lesser than the value of its child nodes.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Heap</a:t>
            </a:r>
          </a:p>
        </p:txBody>
      </p:sp>
    </p:spTree>
    <p:extLst>
      <p:ext uri="{BB962C8B-B14F-4D97-AF65-F5344CB8AC3E}">
        <p14:creationId xmlns:p14="http://schemas.microsoft.com/office/powerpoint/2010/main" val="37447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21919" cy="5124450"/>
          </a:xfrm>
        </p:spPr>
        <p:txBody>
          <a:bodyPr/>
          <a:lstStyle/>
          <a:p>
            <a:pPr algn="just"/>
            <a:r>
              <a:rPr lang="en-IN" dirty="0"/>
              <a:t>A Binomial tree is a tree in which </a:t>
            </a:r>
            <a:r>
              <a:rPr lang="en-IN" dirty="0" err="1"/>
              <a:t>B</a:t>
            </a:r>
            <a:r>
              <a:rPr lang="en-IN" sz="1800" dirty="0" err="1"/>
              <a:t>k</a:t>
            </a:r>
            <a:r>
              <a:rPr lang="en-IN" dirty="0"/>
              <a:t> is an ordered tree defined recursively, where k is defined as the order of the binomial tree.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F2F1F2"/>
                </a:solidFill>
              </a:rPr>
              <a:t>The binomial tree B</a:t>
            </a:r>
            <a:r>
              <a:rPr lang="en-IN" sz="2400" dirty="0">
                <a:solidFill>
                  <a:srgbClr val="F2F1F2"/>
                </a:solidFill>
              </a:rPr>
              <a:t>0</a:t>
            </a:r>
            <a:r>
              <a:rPr lang="en-IN" dirty="0">
                <a:solidFill>
                  <a:srgbClr val="F2F1F2"/>
                </a:solidFill>
              </a:rPr>
              <a:t> consists of a single node. The binomial tree </a:t>
            </a:r>
            <a:r>
              <a:rPr lang="en-IN" dirty="0" err="1">
                <a:solidFill>
                  <a:srgbClr val="F2F1F2"/>
                </a:solidFill>
              </a:rPr>
              <a:t>B</a:t>
            </a:r>
            <a:r>
              <a:rPr lang="en-IN" sz="2000" dirty="0" err="1">
                <a:solidFill>
                  <a:srgbClr val="F2F1F2"/>
                </a:solidFill>
              </a:rPr>
              <a:t>k</a:t>
            </a:r>
            <a:r>
              <a:rPr lang="en-IN" dirty="0">
                <a:solidFill>
                  <a:srgbClr val="F2F1F2"/>
                </a:solidFill>
              </a:rPr>
              <a:t> consists of two binomial trees Bk-1 that are linked together, the root of one is the leftmost child of the root of the other.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Tree</a:t>
            </a:r>
          </a:p>
        </p:txBody>
      </p:sp>
    </p:spTree>
    <p:extLst>
      <p:ext uri="{BB962C8B-B14F-4D97-AF65-F5344CB8AC3E}">
        <p14:creationId xmlns:p14="http://schemas.microsoft.com/office/powerpoint/2010/main" val="3065463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21919" cy="5124450"/>
          </a:xfrm>
        </p:spPr>
        <p:txBody>
          <a:bodyPr/>
          <a:lstStyle/>
          <a:p>
            <a:pPr algn="just"/>
            <a:r>
              <a:rPr lang="en-IN" dirty="0"/>
              <a:t>A Binomial tree is a tree in which </a:t>
            </a:r>
            <a:r>
              <a:rPr lang="en-IN" dirty="0" err="1"/>
              <a:t>B</a:t>
            </a:r>
            <a:r>
              <a:rPr lang="en-IN" sz="1800" dirty="0" err="1"/>
              <a:t>k</a:t>
            </a:r>
            <a:r>
              <a:rPr lang="en-IN" dirty="0"/>
              <a:t> is an ordered tree defined recursively, where k is defined as the order of the binomial tree.</a:t>
            </a:r>
          </a:p>
          <a:p>
            <a:pPr algn="just"/>
            <a:r>
              <a:rPr lang="en-IN" dirty="0"/>
              <a:t>The binomial tree B</a:t>
            </a:r>
            <a:r>
              <a:rPr lang="en-IN" sz="2400" dirty="0"/>
              <a:t>0</a:t>
            </a:r>
            <a:r>
              <a:rPr lang="en-IN" dirty="0"/>
              <a:t> consists of a single node. The binomial tree </a:t>
            </a:r>
            <a:r>
              <a:rPr lang="en-IN" dirty="0" err="1"/>
              <a:t>B</a:t>
            </a:r>
            <a:r>
              <a:rPr lang="en-IN" sz="2000" dirty="0" err="1"/>
              <a:t>k</a:t>
            </a:r>
            <a:r>
              <a:rPr lang="en-IN" dirty="0"/>
              <a:t> consists of two binomial trees Bk-1 that are linked together, the root of one is the leftmost child of the root of the other.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Tree</a:t>
            </a:r>
          </a:p>
        </p:txBody>
      </p:sp>
    </p:spTree>
    <p:extLst>
      <p:ext uri="{BB962C8B-B14F-4D97-AF65-F5344CB8AC3E}">
        <p14:creationId xmlns:p14="http://schemas.microsoft.com/office/powerpoint/2010/main" val="367215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21919" cy="5124450"/>
          </a:xfrm>
        </p:spPr>
        <p:txBody>
          <a:bodyPr/>
          <a:lstStyle/>
          <a:p>
            <a:pPr algn="just"/>
            <a:r>
              <a:rPr lang="en-IN" dirty="0"/>
              <a:t>If the binomial tree is represented as B0 then the tree consists of a single node.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F2F1F2"/>
                </a:solidFill>
              </a:rPr>
              <a:t>In general terms, </a:t>
            </a:r>
            <a:r>
              <a:rPr lang="en-IN" dirty="0" err="1">
                <a:solidFill>
                  <a:srgbClr val="F2F1F2"/>
                </a:solidFill>
              </a:rPr>
              <a:t>B</a:t>
            </a:r>
            <a:r>
              <a:rPr lang="en-IN" sz="2000" dirty="0" err="1">
                <a:solidFill>
                  <a:srgbClr val="F2F1F2"/>
                </a:solidFill>
              </a:rPr>
              <a:t>k</a:t>
            </a:r>
            <a:r>
              <a:rPr lang="en-IN" dirty="0">
                <a:solidFill>
                  <a:srgbClr val="F2F1F2"/>
                </a:solidFill>
              </a:rPr>
              <a:t> consists of two binomial trees, i.e., Bk-1 and Bk-1 are linked together in which one tree becomes the left sub tree of another binomial tree.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Tree</a:t>
            </a:r>
          </a:p>
        </p:txBody>
      </p:sp>
    </p:spTree>
    <p:extLst>
      <p:ext uri="{BB962C8B-B14F-4D97-AF65-F5344CB8AC3E}">
        <p14:creationId xmlns:p14="http://schemas.microsoft.com/office/powerpoint/2010/main" val="1266685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21919" cy="5124450"/>
          </a:xfrm>
        </p:spPr>
        <p:txBody>
          <a:bodyPr/>
          <a:lstStyle/>
          <a:p>
            <a:pPr algn="just"/>
            <a:r>
              <a:rPr lang="en-IN" dirty="0"/>
              <a:t>If the binomial tree is represented as B0 then the tree consists of a single node.</a:t>
            </a:r>
          </a:p>
          <a:p>
            <a:pPr algn="just"/>
            <a:r>
              <a:rPr lang="en-IN" dirty="0"/>
              <a:t>In general terms, </a:t>
            </a:r>
            <a:r>
              <a:rPr lang="en-IN" dirty="0" err="1"/>
              <a:t>B</a:t>
            </a:r>
            <a:r>
              <a:rPr lang="en-IN" sz="2000" dirty="0" err="1"/>
              <a:t>k</a:t>
            </a:r>
            <a:r>
              <a:rPr lang="en-IN" dirty="0"/>
              <a:t> consists of two binomial trees, i.e., Bk-1 and Bk-1 are linked together in which one tree becomes the left sub tree of another binomial tree.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Tree</a:t>
            </a:r>
          </a:p>
        </p:txBody>
      </p:sp>
    </p:spTree>
    <p:extLst>
      <p:ext uri="{BB962C8B-B14F-4D97-AF65-F5344CB8AC3E}">
        <p14:creationId xmlns:p14="http://schemas.microsoft.com/office/powerpoint/2010/main" val="187006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Tree B</a:t>
            </a:r>
            <a:r>
              <a:rPr lang="en-IN" sz="2800" dirty="0"/>
              <a:t>0</a:t>
            </a:r>
          </a:p>
        </p:txBody>
      </p:sp>
      <p:sp>
        <p:nvSpPr>
          <p:cNvPr id="4" name="Oval 3"/>
          <p:cNvSpPr/>
          <p:nvPr/>
        </p:nvSpPr>
        <p:spPr>
          <a:xfrm>
            <a:off x="3683358" y="3486550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3806113" y="4707123"/>
            <a:ext cx="572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B</a:t>
            </a:r>
            <a:r>
              <a:rPr lang="en-IN" sz="1600" dirty="0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50" y="1570338"/>
            <a:ext cx="860228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/>
              <a:t>If B0, k= 0, there would be only one node in the tree </a:t>
            </a:r>
          </a:p>
        </p:txBody>
      </p:sp>
    </p:spTree>
    <p:extLst>
      <p:ext uri="{BB962C8B-B14F-4D97-AF65-F5344CB8AC3E}">
        <p14:creationId xmlns:p14="http://schemas.microsoft.com/office/powerpoint/2010/main" val="2804451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Tree B</a:t>
            </a:r>
            <a:r>
              <a:rPr lang="en-IN" sz="2800" dirty="0"/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515126" y="5216988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3872009" y="3729293"/>
            <a:ext cx="605307" cy="5948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00050" y="1570338"/>
            <a:ext cx="8335987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If B1, k= 1, means k-1 equal to 0. Therefore, there would be two binomial trees of B0 in which one B0 becomes the left sub tree of another B0.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3872009" y="4320984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09868" y="6112992"/>
            <a:ext cx="572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B</a:t>
            </a:r>
            <a:r>
              <a:rPr lang="en-IN" sz="1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74714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293784" cy="172990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dirty="0"/>
              <a:t>If B2, k= 2, means k-1 equal to 1. Therefore, there would be two binomial trees of B1 in which one B1 becomes the left sub tree of another B1.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Tree B</a:t>
            </a:r>
            <a:r>
              <a:rPr lang="en-IN" sz="2800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4607683" y="5352339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4964566" y="3864644"/>
            <a:ext cx="605307" cy="5948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4964566" y="4456335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801360" y="5511257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3158243" y="4023562"/>
            <a:ext cx="605307" cy="5948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3158243" y="4615253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8" idx="2"/>
          </p:cNvCxnSpPr>
          <p:nvPr/>
        </p:nvCxnSpPr>
        <p:spPr>
          <a:xfrm flipH="1">
            <a:off x="3763550" y="4162066"/>
            <a:ext cx="1201016" cy="152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20822" y="6106100"/>
            <a:ext cx="572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B</a:t>
            </a:r>
            <a:r>
              <a:rPr lang="en-IN" sz="1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29800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Tree B</a:t>
            </a:r>
            <a:r>
              <a:rPr lang="en-IN" sz="2800" dirty="0"/>
              <a:t>3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6919440" y="5262187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6973670" y="3774492"/>
            <a:ext cx="605307" cy="5948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/>
          <p:cNvCxnSpPr>
            <a:endCxn id="4" idx="0"/>
          </p:cNvCxnSpPr>
          <p:nvPr/>
        </p:nvCxnSpPr>
        <p:spPr>
          <a:xfrm flipH="1">
            <a:off x="7222094" y="4318101"/>
            <a:ext cx="54229" cy="944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20267" y="5996121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5510215" y="4660582"/>
            <a:ext cx="605307" cy="5948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/>
          <p:cNvCxnSpPr>
            <a:endCxn id="7" idx="0"/>
          </p:cNvCxnSpPr>
          <p:nvPr/>
        </p:nvCxnSpPr>
        <p:spPr>
          <a:xfrm flipH="1">
            <a:off x="5722921" y="5176195"/>
            <a:ext cx="89948" cy="81992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6058268" y="4206144"/>
            <a:ext cx="946793" cy="6757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01239" y="5996121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3758122" y="4508426"/>
            <a:ext cx="605307" cy="5948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3758122" y="5100117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594916" y="6155039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1951799" y="4667344"/>
            <a:ext cx="605307" cy="5948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1951799" y="5259035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2" idx="2"/>
          </p:cNvCxnSpPr>
          <p:nvPr/>
        </p:nvCxnSpPr>
        <p:spPr>
          <a:xfrm flipH="1">
            <a:off x="2557106" y="4805848"/>
            <a:ext cx="1201016" cy="152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5" idx="2"/>
          </p:cNvCxnSpPr>
          <p:nvPr/>
        </p:nvCxnSpPr>
        <p:spPr>
          <a:xfrm flipH="1">
            <a:off x="4332039" y="4071914"/>
            <a:ext cx="2641631" cy="6353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71106" y="1492853"/>
            <a:ext cx="8408660" cy="1679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If B3 , k= 3, means k-1 equal to 2. Therefore, there would be two binomial trees of B2 in which one B2 becomes the left sub tree of another B2.</a:t>
            </a:r>
          </a:p>
        </p:txBody>
      </p:sp>
    </p:spTree>
    <p:extLst>
      <p:ext uri="{BB962C8B-B14F-4D97-AF65-F5344CB8AC3E}">
        <p14:creationId xmlns:p14="http://schemas.microsoft.com/office/powerpoint/2010/main" val="1503979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Union of two binomial heap</a:t>
            </a:r>
          </a:p>
          <a:p>
            <a:r>
              <a:rPr lang="en-IN" dirty="0"/>
              <a:t>Finding the minimum key</a:t>
            </a:r>
          </a:p>
          <a:p>
            <a:r>
              <a:rPr lang="en-IN" dirty="0"/>
              <a:t>Creating a new binomial heap</a:t>
            </a:r>
          </a:p>
          <a:p>
            <a:r>
              <a:rPr lang="en-IN" dirty="0"/>
              <a:t>Inserting a node</a:t>
            </a:r>
          </a:p>
          <a:p>
            <a:r>
              <a:rPr lang="en-IN" dirty="0"/>
              <a:t>Extracting minimum key</a:t>
            </a:r>
          </a:p>
          <a:p>
            <a:r>
              <a:rPr lang="en-IN" dirty="0"/>
              <a:t>Decreasing a key</a:t>
            </a:r>
          </a:p>
          <a:p>
            <a:r>
              <a:rPr lang="en-IN" dirty="0"/>
              <a:t>Deleting a node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of Binomial Heap</a:t>
            </a:r>
          </a:p>
        </p:txBody>
      </p:sp>
    </p:spTree>
    <p:extLst>
      <p:ext uri="{BB962C8B-B14F-4D97-AF65-F5344CB8AC3E}">
        <p14:creationId xmlns:p14="http://schemas.microsoft.com/office/powerpoint/2010/main" val="4206899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279716" cy="5124450"/>
          </a:xfrm>
        </p:spPr>
        <p:txBody>
          <a:bodyPr>
            <a:normAutofit/>
          </a:bodyPr>
          <a:lstStyle/>
          <a:p>
            <a:pPr algn="just"/>
            <a:r>
              <a:rPr lang="en-IN" b="1" dirty="0"/>
              <a:t>Case 1</a:t>
            </a:r>
            <a:r>
              <a:rPr lang="en-IN" dirty="0"/>
              <a:t>: If degree[x] is not equal to degree[next x] then move pointer ahead.</a:t>
            </a:r>
          </a:p>
          <a:p>
            <a:pPr algn="just"/>
            <a:r>
              <a:rPr lang="en-IN" b="1" dirty="0"/>
              <a:t>Case 2</a:t>
            </a:r>
            <a:r>
              <a:rPr lang="en-IN" dirty="0"/>
              <a:t>: if degree[x] = degree[next x] = degree[sibling(next x)] then</a:t>
            </a:r>
          </a:p>
          <a:p>
            <a:pPr marL="0" indent="0" algn="just">
              <a:buNone/>
            </a:pPr>
            <a:r>
              <a:rPr lang="en-IN" dirty="0"/>
              <a:t>	Move pointer ahead.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Union of two binomial heap</a:t>
            </a:r>
          </a:p>
        </p:txBody>
      </p:sp>
    </p:spTree>
    <p:extLst>
      <p:ext uri="{BB962C8B-B14F-4D97-AF65-F5344CB8AC3E}">
        <p14:creationId xmlns:p14="http://schemas.microsoft.com/office/powerpoint/2010/main" val="3400961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21919" cy="5124450"/>
          </a:xfrm>
        </p:spPr>
        <p:txBody>
          <a:bodyPr>
            <a:normAutofit/>
          </a:bodyPr>
          <a:lstStyle/>
          <a:p>
            <a:pPr algn="just"/>
            <a:r>
              <a:rPr lang="en-IN" b="1" dirty="0"/>
              <a:t>Case 3</a:t>
            </a:r>
            <a:r>
              <a:rPr lang="en-IN" dirty="0"/>
              <a:t>: If degree[x] = degree[next x] but not equal to degree[sibling[next x]]  and key[x] &lt; key[next x] then remove [next x] from root and attached to x.</a:t>
            </a:r>
          </a:p>
          <a:p>
            <a:pPr algn="just"/>
            <a:r>
              <a:rPr lang="en-IN" b="1" dirty="0"/>
              <a:t>Case 4</a:t>
            </a:r>
            <a:r>
              <a:rPr lang="en-IN" dirty="0"/>
              <a:t>: If degree[x] = degree[next x] but not equal to degree[sibling[next x]] and key[x] &gt; key[next x] then remove x from root and attached to [next x].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Union of two binomial heap</a:t>
            </a:r>
          </a:p>
        </p:txBody>
      </p:sp>
    </p:spTree>
    <p:extLst>
      <p:ext uri="{BB962C8B-B14F-4D97-AF65-F5344CB8AC3E}">
        <p14:creationId xmlns:p14="http://schemas.microsoft.com/office/powerpoint/2010/main" val="2858577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Union of two binomial heap</a:t>
            </a:r>
          </a:p>
        </p:txBody>
      </p:sp>
      <p:sp>
        <p:nvSpPr>
          <p:cNvPr id="4" name="Oval 3"/>
          <p:cNvSpPr/>
          <p:nvPr/>
        </p:nvSpPr>
        <p:spPr>
          <a:xfrm>
            <a:off x="2602749" y="4708233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</a:t>
            </a:r>
          </a:p>
        </p:txBody>
      </p:sp>
      <p:sp>
        <p:nvSpPr>
          <p:cNvPr id="5" name="Oval 4"/>
          <p:cNvSpPr/>
          <p:nvPr/>
        </p:nvSpPr>
        <p:spPr>
          <a:xfrm>
            <a:off x="2959632" y="3220538"/>
            <a:ext cx="620777" cy="591691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2959632" y="3812229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96426" y="4867151"/>
            <a:ext cx="723281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1153309" y="3379456"/>
            <a:ext cx="727006" cy="591691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14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153309" y="3971147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5" idx="2"/>
          </p:cNvCxnSpPr>
          <p:nvPr/>
        </p:nvCxnSpPr>
        <p:spPr>
          <a:xfrm flipH="1">
            <a:off x="1758616" y="3516384"/>
            <a:ext cx="1201016" cy="1537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79289" y="4272308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6836172" y="2784613"/>
            <a:ext cx="605307" cy="5948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6836172" y="3376304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672966" y="4431226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</a:p>
        </p:txBody>
      </p:sp>
      <p:sp>
        <p:nvSpPr>
          <p:cNvPr id="15" name="Oval 14"/>
          <p:cNvSpPr/>
          <p:nvPr/>
        </p:nvSpPr>
        <p:spPr>
          <a:xfrm>
            <a:off x="5029849" y="2943531"/>
            <a:ext cx="605307" cy="5948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5029849" y="3535222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2" idx="2"/>
          </p:cNvCxnSpPr>
          <p:nvPr/>
        </p:nvCxnSpPr>
        <p:spPr>
          <a:xfrm flipH="1">
            <a:off x="5635156" y="3082035"/>
            <a:ext cx="1201016" cy="152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58617" y="6014433"/>
            <a:ext cx="482308" cy="37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5156" y="6014432"/>
            <a:ext cx="482308" cy="37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1300" y="1792176"/>
            <a:ext cx="58250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Comparison of root keys of H1 and H2</a:t>
            </a:r>
          </a:p>
        </p:txBody>
      </p:sp>
    </p:spTree>
    <p:extLst>
      <p:ext uri="{BB962C8B-B14F-4D97-AF65-F5344CB8AC3E}">
        <p14:creationId xmlns:p14="http://schemas.microsoft.com/office/powerpoint/2010/main" val="3078289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Union of two binomial heap</a:t>
            </a:r>
          </a:p>
        </p:txBody>
      </p:sp>
      <p:sp>
        <p:nvSpPr>
          <p:cNvPr id="4" name="Oval 3"/>
          <p:cNvSpPr/>
          <p:nvPr/>
        </p:nvSpPr>
        <p:spPr>
          <a:xfrm>
            <a:off x="2706548" y="4409235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</a:t>
            </a:r>
          </a:p>
        </p:txBody>
      </p:sp>
      <p:sp>
        <p:nvSpPr>
          <p:cNvPr id="5" name="Oval 4"/>
          <p:cNvSpPr/>
          <p:nvPr/>
        </p:nvSpPr>
        <p:spPr>
          <a:xfrm>
            <a:off x="3063431" y="2921540"/>
            <a:ext cx="620777" cy="591691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3063431" y="3513231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00225" y="4568153"/>
            <a:ext cx="723281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1257108" y="3080458"/>
            <a:ext cx="727006" cy="591691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14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257108" y="3672149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5" idx="2"/>
          </p:cNvCxnSpPr>
          <p:nvPr/>
        </p:nvCxnSpPr>
        <p:spPr>
          <a:xfrm flipH="1">
            <a:off x="1862415" y="3217386"/>
            <a:ext cx="1201016" cy="1537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685351" y="4113390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7042234" y="2625695"/>
            <a:ext cx="605307" cy="5948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7042234" y="3217386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879028" y="4708233"/>
            <a:ext cx="605307" cy="5948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</a:p>
        </p:txBody>
      </p:sp>
      <p:sp>
        <p:nvSpPr>
          <p:cNvPr id="15" name="Oval 14"/>
          <p:cNvSpPr/>
          <p:nvPr/>
        </p:nvSpPr>
        <p:spPr>
          <a:xfrm>
            <a:off x="5328775" y="3296910"/>
            <a:ext cx="605307" cy="5948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5259076" y="3852168"/>
            <a:ext cx="248424" cy="8991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2" idx="2"/>
            <a:endCxn id="15" idx="6"/>
          </p:cNvCxnSpPr>
          <p:nvPr/>
        </p:nvCxnSpPr>
        <p:spPr>
          <a:xfrm flipH="1">
            <a:off x="5934082" y="2923117"/>
            <a:ext cx="1108152" cy="6712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2" idx="1"/>
          </p:cNvCxnSpPr>
          <p:nvPr/>
        </p:nvCxnSpPr>
        <p:spPr>
          <a:xfrm flipH="1">
            <a:off x="3663873" y="2712808"/>
            <a:ext cx="3467006" cy="50187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11855" y="5900082"/>
            <a:ext cx="1553238" cy="37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(H1 and H2)</a:t>
            </a:r>
          </a:p>
        </p:txBody>
      </p:sp>
    </p:spTree>
    <p:extLst>
      <p:ext uri="{BB962C8B-B14F-4D97-AF65-F5344CB8AC3E}">
        <p14:creationId xmlns:p14="http://schemas.microsoft.com/office/powerpoint/2010/main" val="2923840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21919" cy="5124450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To find the minimum element of the heap, find the minimum among the roots of the binomial trees.</a:t>
            </a:r>
          </a:p>
          <a:p>
            <a:pPr algn="just"/>
            <a:r>
              <a:rPr lang="en-IN" dirty="0"/>
              <a:t>It requires O(</a:t>
            </a:r>
            <a:r>
              <a:rPr lang="en-IN" dirty="0" err="1"/>
              <a:t>Logn</a:t>
            </a:r>
            <a:r>
              <a:rPr lang="en-IN" dirty="0"/>
              <a:t>) time. It can be optimized to O(1) by maintaining a pointer to minimum key root.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Find minimum</a:t>
            </a:r>
          </a:p>
        </p:txBody>
      </p:sp>
    </p:spTree>
    <p:extLst>
      <p:ext uri="{BB962C8B-B14F-4D97-AF65-F5344CB8AC3E}">
        <p14:creationId xmlns:p14="http://schemas.microsoft.com/office/powerpoint/2010/main" val="4208918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307852" cy="5124450"/>
          </a:xfrm>
        </p:spPr>
        <p:txBody>
          <a:bodyPr/>
          <a:lstStyle/>
          <a:p>
            <a:pPr algn="just"/>
            <a:r>
              <a:rPr lang="en-IN" dirty="0"/>
              <a:t>We compare the decreases key with it parent and if parent’s key is more, we swap keys and recur for the parent. </a:t>
            </a:r>
          </a:p>
          <a:p>
            <a:pPr algn="just"/>
            <a:r>
              <a:rPr lang="en-IN" dirty="0"/>
              <a:t>Swap process stop when we either reach a node whose parent has a smaller key or we hit the root node.</a:t>
            </a:r>
          </a:p>
          <a:p>
            <a:pPr algn="just"/>
            <a:r>
              <a:rPr lang="en-IN" dirty="0"/>
              <a:t> Time complexity of decrease Key() is O(</a:t>
            </a:r>
            <a:r>
              <a:rPr lang="en-IN" dirty="0" err="1"/>
              <a:t>Logn</a:t>
            </a:r>
            <a:r>
              <a:rPr lang="en-IN" dirty="0"/>
              <a:t>).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Decrease Key</a:t>
            </a:r>
          </a:p>
        </p:txBody>
      </p:sp>
    </p:spTree>
    <p:extLst>
      <p:ext uri="{BB962C8B-B14F-4D97-AF65-F5344CB8AC3E}">
        <p14:creationId xmlns:p14="http://schemas.microsoft.com/office/powerpoint/2010/main" val="4279259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293784" cy="5124450"/>
          </a:xfrm>
        </p:spPr>
        <p:txBody>
          <a:bodyPr/>
          <a:lstStyle/>
          <a:p>
            <a:pPr algn="just"/>
            <a:r>
              <a:rPr lang="en-IN" dirty="0"/>
              <a:t>First find this element, remove it from its binomial tree, and obtain a list of its sub trees. </a:t>
            </a:r>
          </a:p>
          <a:p>
            <a:pPr algn="just"/>
            <a:r>
              <a:rPr lang="en-IN" dirty="0"/>
              <a:t>Transform this list of sub trees into a separate binomial heap by reordering them from smallest to largest order. Then merge this heap with the original heap.</a:t>
            </a:r>
          </a:p>
          <a:p>
            <a:pPr algn="just"/>
            <a:r>
              <a:rPr lang="en-IN" dirty="0"/>
              <a:t>This operation requires O(</a:t>
            </a:r>
            <a:r>
              <a:rPr lang="en-IN" dirty="0" err="1"/>
              <a:t>Logn</a:t>
            </a:r>
            <a:r>
              <a:rPr lang="en-IN" dirty="0"/>
              <a:t>) time.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Extract minimum key</a:t>
            </a:r>
          </a:p>
        </p:txBody>
      </p:sp>
    </p:spTree>
    <p:extLst>
      <p:ext uri="{BB962C8B-B14F-4D97-AF65-F5344CB8AC3E}">
        <p14:creationId xmlns:p14="http://schemas.microsoft.com/office/powerpoint/2010/main" val="1290854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10567</TotalTime>
  <Words>911</Words>
  <Application>Microsoft Office PowerPoint</Application>
  <PresentationFormat>On-screen Show (4:3)</PresentationFormat>
  <Paragraphs>79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Bahnschrift</vt:lpstr>
      <vt:lpstr>Bahnschrift SemiBold</vt:lpstr>
      <vt:lpstr>Office Theme</vt:lpstr>
      <vt:lpstr>PowerPoint Presentation</vt:lpstr>
      <vt:lpstr>Learning Outcomes</vt:lpstr>
      <vt:lpstr>Binomial Heap</vt:lpstr>
      <vt:lpstr>Binomial Heap</vt:lpstr>
      <vt:lpstr>Binomial Tree</vt:lpstr>
      <vt:lpstr>Binomial Tree</vt:lpstr>
      <vt:lpstr>Binomial Tree</vt:lpstr>
      <vt:lpstr>Binomial Tree</vt:lpstr>
      <vt:lpstr>Binomial Tree B0</vt:lpstr>
      <vt:lpstr>Binomial Tree B1</vt:lpstr>
      <vt:lpstr>Binomial Tree B2</vt:lpstr>
      <vt:lpstr>Binomial Tree B3</vt:lpstr>
      <vt:lpstr>Operations of Binomial Heap</vt:lpstr>
      <vt:lpstr>Union of two binomial heap</vt:lpstr>
      <vt:lpstr>Union of two binomial heap</vt:lpstr>
      <vt:lpstr>Union of two binomial heap</vt:lpstr>
      <vt:lpstr>Union of two binomial heap</vt:lpstr>
      <vt:lpstr>Find minimum</vt:lpstr>
      <vt:lpstr>Decrease Key</vt:lpstr>
      <vt:lpstr>Extract minimum key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recording2</cp:lastModifiedBy>
  <cp:revision>583</cp:revision>
  <dcterms:created xsi:type="dcterms:W3CDTF">2020-12-02T15:29:53Z</dcterms:created>
  <dcterms:modified xsi:type="dcterms:W3CDTF">2021-10-27T05:02:48Z</dcterms:modified>
</cp:coreProperties>
</file>