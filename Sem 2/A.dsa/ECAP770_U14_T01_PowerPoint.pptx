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9" r:id="rId4"/>
    <p:sldId id="355" r:id="rId5"/>
    <p:sldId id="356" r:id="rId6"/>
    <p:sldId id="366" r:id="rId7"/>
    <p:sldId id="367" r:id="rId8"/>
    <p:sldId id="368" r:id="rId9"/>
    <p:sldId id="365" r:id="rId10"/>
    <p:sldId id="372" r:id="rId11"/>
    <p:sldId id="373" r:id="rId12"/>
    <p:sldId id="374" r:id="rId13"/>
    <p:sldId id="375" r:id="rId14"/>
    <p:sldId id="376" r:id="rId15"/>
    <p:sldId id="377" r:id="rId16"/>
    <p:sldId id="369" r:id="rId17"/>
    <p:sldId id="378" r:id="rId18"/>
    <p:sldId id="25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C2C2C"/>
    <a:srgbClr val="191919"/>
    <a:srgbClr val="636973"/>
    <a:srgbClr val="999999"/>
    <a:srgbClr val="C2C2C2"/>
    <a:srgbClr val="00203F"/>
    <a:srgbClr val="ADF0D1"/>
    <a:srgbClr val="7CAAF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425295" cy="5124450"/>
          </a:xfrm>
        </p:spPr>
        <p:txBody>
          <a:bodyPr/>
          <a:lstStyle>
            <a:lvl1pPr algn="just">
              <a:lnSpc>
                <a:spcPct val="150000"/>
              </a:lnSpc>
              <a:buClr>
                <a:srgbClr val="FF0066"/>
              </a:buClr>
              <a:defRPr/>
            </a:lvl1pPr>
            <a:lvl2pPr algn="just">
              <a:lnSpc>
                <a:spcPct val="150000"/>
              </a:lnSpc>
              <a:buClr>
                <a:srgbClr val="FF0066"/>
              </a:buClr>
              <a:defRPr/>
            </a:lvl2pPr>
            <a:lvl3pPr algn="just">
              <a:lnSpc>
                <a:spcPct val="150000"/>
              </a:lnSpc>
              <a:buClr>
                <a:srgbClr val="FF0066"/>
              </a:buClr>
              <a:defRPr/>
            </a:lvl3pPr>
            <a:lvl4pPr algn="just">
              <a:lnSpc>
                <a:spcPct val="150000"/>
              </a:lnSpc>
              <a:buClr>
                <a:srgbClr val="FF0066"/>
              </a:buClr>
              <a:defRPr/>
            </a:lvl4pPr>
            <a:lvl5pPr algn="just"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sz="2600" dirty="0"/>
              <a:t>Understand Collision Resolution Techniques</a:t>
            </a:r>
          </a:p>
          <a:p>
            <a:pPr lvl="1"/>
            <a:r>
              <a:rPr lang="en-IN" sz="2600" dirty="0"/>
              <a:t>Open addressing (closed hashing)</a:t>
            </a:r>
          </a:p>
          <a:p>
            <a:pPr lvl="2"/>
            <a:r>
              <a:rPr lang="en-IN" sz="2400" dirty="0"/>
              <a:t>Double hashing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</a:p>
          <a:p>
            <a:pPr marL="914400" lvl="1" indent="-457200"/>
            <a:endParaRPr lang="en-IN" dirty="0"/>
          </a:p>
          <a:p>
            <a:pPr marL="914400" lvl="1" indent="-457200"/>
            <a:endParaRPr lang="en-IN" dirty="0"/>
          </a:p>
          <a:p>
            <a:pPr marL="914400" lvl="1" indent="-457200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50055" cy="5124450"/>
          </a:xfrm>
        </p:spPr>
        <p:txBody>
          <a:bodyPr/>
          <a:lstStyle/>
          <a:p>
            <a:pPr algn="just"/>
            <a:r>
              <a:rPr lang="en-IN" dirty="0"/>
              <a:t>When two keys or hash values compete with a single hash table slot, then Collision occur.</a:t>
            </a:r>
          </a:p>
          <a:p>
            <a:pPr algn="just"/>
            <a:r>
              <a:rPr lang="en-IN" dirty="0"/>
              <a:t>To resolve collision we use collision resolution techniques.</a:t>
            </a:r>
          </a:p>
          <a:p>
            <a:pPr algn="just"/>
            <a:r>
              <a:rPr lang="en-IN" dirty="0"/>
              <a:t>Collisions can be reduced with a selection of a good hash function.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Collision Resolution</a:t>
            </a:r>
          </a:p>
        </p:txBody>
      </p:sp>
    </p:spTree>
    <p:extLst>
      <p:ext uri="{BB962C8B-B14F-4D97-AF65-F5344CB8AC3E}">
        <p14:creationId xmlns:p14="http://schemas.microsoft.com/office/powerpoint/2010/main" val="282554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78190" cy="51244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The open addressing technique requires a hash table with fixed and known size. </a:t>
            </a:r>
          </a:p>
          <a:p>
            <a:pPr algn="just"/>
            <a:r>
              <a:rPr lang="en-IN" dirty="0"/>
              <a:t>All elements are stored in the hash table itself</a:t>
            </a:r>
          </a:p>
          <a:p>
            <a:pPr algn="just"/>
            <a:r>
              <a:rPr lang="en-IN" dirty="0"/>
              <a:t>The size of the table must be greater than or equal to the total number of keys.</a:t>
            </a:r>
          </a:p>
          <a:p>
            <a:pPr algn="just"/>
            <a:r>
              <a:rPr lang="en-IN" dirty="0"/>
              <a:t>During insertion, if a collision is encountered, alternative cells are tried until an empty bucket is found.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Addressing</a:t>
            </a:r>
          </a:p>
        </p:txBody>
      </p:sp>
    </p:spTree>
    <p:extLst>
      <p:ext uri="{BB962C8B-B14F-4D97-AF65-F5344CB8AC3E}">
        <p14:creationId xmlns:p14="http://schemas.microsoft.com/office/powerpoint/2010/main" val="170285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 case of collision:</a:t>
            </a:r>
          </a:p>
          <a:p>
            <a:r>
              <a:rPr lang="en-IN" sz="2600" dirty="0"/>
              <a:t>Probing is performed until an empty bucket is found.</a:t>
            </a:r>
          </a:p>
          <a:p>
            <a:r>
              <a:rPr lang="en-IN" sz="2600" dirty="0"/>
              <a:t>Once an empty bucket is found, the key is inserted.</a:t>
            </a:r>
          </a:p>
          <a:p>
            <a:r>
              <a:rPr lang="en-IN" sz="2600" dirty="0"/>
              <a:t>Probing is performed in accordance with the technique used for open addressing.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Addressing</a:t>
            </a:r>
          </a:p>
        </p:txBody>
      </p:sp>
    </p:spTree>
    <p:extLst>
      <p:ext uri="{BB962C8B-B14F-4D97-AF65-F5344CB8AC3E}">
        <p14:creationId xmlns:p14="http://schemas.microsoft.com/office/powerpoint/2010/main" val="46026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Double Hashing is a hashing collision resolution technique in open addressed Hash tables.</a:t>
            </a:r>
          </a:p>
          <a:p>
            <a:r>
              <a:rPr lang="en-IN" dirty="0"/>
              <a:t>In double hashing, there are two hash functions.</a:t>
            </a:r>
          </a:p>
          <a:p>
            <a:r>
              <a:rPr lang="en-IN" dirty="0"/>
              <a:t>The second hash function is used to provide an offset value in case the first function causes a collision.</a:t>
            </a:r>
          </a:p>
          <a:p>
            <a:r>
              <a:rPr lang="en-IN" dirty="0"/>
              <a:t>Second hash function used to remove the collision when you encountered the collision.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355641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468192"/>
            <a:ext cx="8534400" cy="519930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Double hashing can be performed using :</a:t>
            </a:r>
          </a:p>
          <a:p>
            <a:pPr marL="0" indent="0">
              <a:buNone/>
            </a:pPr>
            <a:r>
              <a:rPr lang="en-IN" b="1" i="1" dirty="0"/>
              <a:t>   (</a:t>
            </a:r>
            <a:r>
              <a:rPr lang="en-IN" b="1" i="1" dirty="0">
                <a:solidFill>
                  <a:schemeClr val="accent1"/>
                </a:solidFill>
              </a:rPr>
              <a:t>hash1</a:t>
            </a:r>
            <a:r>
              <a:rPr lang="en-IN" b="1" i="1" dirty="0"/>
              <a:t>(key)</a:t>
            </a:r>
            <a:r>
              <a:rPr lang="en-IN" b="1" i="1" dirty="0">
                <a:solidFill>
                  <a:srgbClr val="0070C0"/>
                </a:solidFill>
              </a:rPr>
              <a:t> </a:t>
            </a:r>
            <a:r>
              <a:rPr lang="en-IN" b="1" i="1" dirty="0"/>
              <a:t>+ </a:t>
            </a:r>
            <a:r>
              <a:rPr lang="en-IN" b="1" i="1" dirty="0" err="1"/>
              <a:t>i</a:t>
            </a:r>
            <a:r>
              <a:rPr lang="en-IN" b="1" i="1" dirty="0"/>
              <a:t> * </a:t>
            </a:r>
            <a:r>
              <a:rPr lang="en-IN" b="1" i="1" dirty="0">
                <a:solidFill>
                  <a:srgbClr val="00B0F0"/>
                </a:solidFill>
              </a:rPr>
              <a:t>hash2</a:t>
            </a:r>
            <a:r>
              <a:rPr lang="en-IN" b="1" i="1" dirty="0"/>
              <a:t>(key)) </a:t>
            </a:r>
            <a:r>
              <a:rPr lang="en-IN" i="1" dirty="0"/>
              <a:t>mod</a:t>
            </a:r>
            <a:r>
              <a:rPr lang="en-IN" b="1" i="1" dirty="0"/>
              <a:t> TABLE_SIZE</a:t>
            </a:r>
          </a:p>
          <a:p>
            <a:pPr marL="0" indent="0">
              <a:buNone/>
            </a:pPr>
            <a:r>
              <a:rPr lang="en-IN" dirty="0"/>
              <a:t>	Here hash1() and hash2() are hash functions </a:t>
            </a:r>
          </a:p>
          <a:p>
            <a:r>
              <a:rPr lang="en-IN" dirty="0"/>
              <a:t>First hash function: </a:t>
            </a:r>
          </a:p>
          <a:p>
            <a:pPr marL="0" indent="0" algn="ctr">
              <a:buNone/>
            </a:pPr>
            <a:r>
              <a:rPr lang="en-IN" b="1" i="1" dirty="0">
                <a:solidFill>
                  <a:schemeClr val="accent1"/>
                </a:solidFill>
              </a:rPr>
              <a:t>hash1</a:t>
            </a:r>
            <a:r>
              <a:rPr lang="en-IN" b="1" i="1" dirty="0"/>
              <a:t>(key) = key </a:t>
            </a:r>
            <a:r>
              <a:rPr lang="en-IN" i="1" dirty="0"/>
              <a:t>mod </a:t>
            </a:r>
            <a:r>
              <a:rPr lang="en-IN" b="1" i="1" dirty="0"/>
              <a:t>TABLE_SIZE</a:t>
            </a:r>
          </a:p>
          <a:p>
            <a:r>
              <a:rPr lang="en-IN" dirty="0"/>
              <a:t>Second hash function is :</a:t>
            </a:r>
          </a:p>
          <a:p>
            <a:pPr marL="0" indent="0" algn="ctr">
              <a:buNone/>
            </a:pPr>
            <a:r>
              <a:rPr lang="en-IN" b="1" i="1" dirty="0">
                <a:solidFill>
                  <a:srgbClr val="00B0F0"/>
                </a:solidFill>
              </a:rPr>
              <a:t>hash2</a:t>
            </a:r>
            <a:r>
              <a:rPr lang="en-IN" b="1" i="1" dirty="0"/>
              <a:t>(key) = PRIME – (key </a:t>
            </a:r>
            <a:r>
              <a:rPr lang="en-IN" i="1" dirty="0"/>
              <a:t>mod</a:t>
            </a:r>
            <a:r>
              <a:rPr lang="en-IN" b="1" i="1" dirty="0"/>
              <a:t> PRIME) </a:t>
            </a:r>
          </a:p>
          <a:p>
            <a:pPr marL="0" indent="0">
              <a:buNone/>
            </a:pPr>
            <a:r>
              <a:rPr lang="en-IN" dirty="0"/>
              <a:t>where PRIME is a prime smaller than the TABLE_SIZE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2603642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good second Hash function is:</a:t>
            </a:r>
          </a:p>
          <a:p>
            <a:r>
              <a:rPr lang="en-IN" dirty="0"/>
              <a:t>It must never evaluate to zero</a:t>
            </a:r>
          </a:p>
          <a:p>
            <a:r>
              <a:rPr lang="en-IN" dirty="0"/>
              <a:t>Must make sure that all cells can be probed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Hashing</a:t>
            </a:r>
          </a:p>
        </p:txBody>
      </p:sp>
    </p:spTree>
    <p:extLst>
      <p:ext uri="{BB962C8B-B14F-4D97-AF65-F5344CB8AC3E}">
        <p14:creationId xmlns:p14="http://schemas.microsoft.com/office/powerpoint/2010/main" val="293553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950011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1561" y="1662098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h1(k)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1" y="2382098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h2(key)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61" y="3826008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(h1(key) + </a:t>
            </a:r>
            <a:r>
              <a:rPr lang="en-IN" dirty="0" err="1"/>
              <a:t>i</a:t>
            </a:r>
            <a:r>
              <a:rPr lang="en-IN" dirty="0"/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60" y="4513288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/>
              <a:t>20, 25, 36, 16, 55, 17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62" y="3050684"/>
            <a:ext cx="3823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h2(key) = </a:t>
            </a:r>
            <a:r>
              <a:rPr lang="en-IN" sz="2400" b="1" dirty="0">
                <a:solidFill>
                  <a:srgbClr val="C00000"/>
                </a:solidFill>
              </a:rPr>
              <a:t>7</a:t>
            </a:r>
            <a:r>
              <a:rPr lang="en-IN" sz="2400" b="1" dirty="0"/>
              <a:t> – (key mod </a:t>
            </a:r>
            <a:r>
              <a:rPr lang="en-IN" sz="2400" b="1" dirty="0">
                <a:solidFill>
                  <a:srgbClr val="C00000"/>
                </a:solidFill>
              </a:rPr>
              <a:t>7</a:t>
            </a:r>
            <a:r>
              <a:rPr lang="en-IN" sz="2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390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48442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74" y="1618871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h1</a:t>
            </a:r>
            <a:r>
              <a:rPr lang="en-IN" dirty="0"/>
              <a:t>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3" y="2081606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h2</a:t>
            </a:r>
            <a:r>
              <a:rPr lang="en-IN" dirty="0"/>
              <a:t>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14" y="2618047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(h1(key) + </a:t>
            </a:r>
            <a:r>
              <a:rPr lang="en-IN" dirty="0" err="1"/>
              <a:t>i</a:t>
            </a:r>
            <a:r>
              <a:rPr lang="en-IN" dirty="0"/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14" y="3154488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IN" b="1" dirty="0"/>
              <a:t>, 25, 36, 16, 55,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63" y="3819077"/>
            <a:ext cx="1879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20 mod 10 = 0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028673" y="2266272"/>
            <a:ext cx="4462279" cy="17374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82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167687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74" y="1618871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h1</a:t>
            </a:r>
            <a:r>
              <a:rPr lang="en-IN" dirty="0"/>
              <a:t>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3" y="2081606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h2</a:t>
            </a:r>
            <a:r>
              <a:rPr lang="en-IN" dirty="0"/>
              <a:t>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14" y="2618047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(h1(key) + </a:t>
            </a:r>
            <a:r>
              <a:rPr lang="en-IN" dirty="0" err="1"/>
              <a:t>i</a:t>
            </a:r>
            <a:r>
              <a:rPr lang="en-IN" dirty="0"/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14" y="3154488"/>
            <a:ext cx="386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20, 25</a:t>
            </a:r>
            <a:r>
              <a:rPr lang="en-IN" b="1" dirty="0"/>
              <a:t>, 36, 16, 55,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63" y="3819077"/>
            <a:ext cx="1879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25 mod 10 = 5 </a:t>
            </a:r>
          </a:p>
        </p:txBody>
      </p:sp>
      <p:cxnSp>
        <p:nvCxnSpPr>
          <p:cNvPr id="4" name="Straight Arrow Connector 3"/>
          <p:cNvCxnSpPr>
            <a:endCxn id="10" idx="1"/>
          </p:cNvCxnSpPr>
          <p:nvPr/>
        </p:nvCxnSpPr>
        <p:spPr>
          <a:xfrm>
            <a:off x="1990380" y="3986367"/>
            <a:ext cx="4652649" cy="4500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866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562023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74" y="1618871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h1</a:t>
            </a:r>
            <a:r>
              <a:rPr lang="en-IN" dirty="0"/>
              <a:t>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3" y="2081606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h2</a:t>
            </a:r>
            <a:r>
              <a:rPr lang="en-IN" dirty="0"/>
              <a:t>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14" y="2618047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(h1(key) + </a:t>
            </a:r>
            <a:r>
              <a:rPr lang="en-IN" dirty="0" err="1"/>
              <a:t>i</a:t>
            </a:r>
            <a:r>
              <a:rPr lang="en-IN" dirty="0"/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14" y="3154488"/>
            <a:ext cx="386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20, 25, 36</a:t>
            </a:r>
            <a:r>
              <a:rPr lang="en-IN" b="1" dirty="0"/>
              <a:t>, 16, 55,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63" y="3819077"/>
            <a:ext cx="1879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36 mod 10 = 6 </a:t>
            </a:r>
          </a:p>
        </p:txBody>
      </p:sp>
      <p:cxnSp>
        <p:nvCxnSpPr>
          <p:cNvPr id="4" name="Straight Arrow Connector 3"/>
          <p:cNvCxnSpPr>
            <a:endCxn id="9" idx="3"/>
          </p:cNvCxnSpPr>
          <p:nvPr/>
        </p:nvCxnSpPr>
        <p:spPr>
          <a:xfrm>
            <a:off x="1990380" y="3986367"/>
            <a:ext cx="4687775" cy="8287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831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13174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74" y="1618871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h1</a:t>
            </a:r>
            <a:r>
              <a:rPr lang="en-IN" dirty="0"/>
              <a:t>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3" y="2081606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h2</a:t>
            </a:r>
            <a:r>
              <a:rPr lang="en-IN" dirty="0"/>
              <a:t>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14" y="2618047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(h1(key) + </a:t>
            </a:r>
            <a:r>
              <a:rPr lang="en-IN" dirty="0" err="1"/>
              <a:t>i</a:t>
            </a:r>
            <a:r>
              <a:rPr lang="en-IN" dirty="0"/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14" y="3154488"/>
            <a:ext cx="386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20, 25, 36, 16</a:t>
            </a:r>
            <a:r>
              <a:rPr lang="en-IN" b="1" dirty="0"/>
              <a:t>, 55,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63" y="3819077"/>
            <a:ext cx="232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16 mod 10 = 6 --- </a:t>
            </a:r>
            <a:r>
              <a:rPr lang="en-IN" dirty="0">
                <a:solidFill>
                  <a:srgbClr val="C00000"/>
                </a:solidFill>
              </a:rPr>
              <a:t>h1 </a:t>
            </a:r>
          </a:p>
        </p:txBody>
      </p:sp>
      <p:cxnSp>
        <p:nvCxnSpPr>
          <p:cNvPr id="4" name="Straight Arrow Connector 3"/>
          <p:cNvCxnSpPr>
            <a:endCxn id="15" idx="1"/>
          </p:cNvCxnSpPr>
          <p:nvPr/>
        </p:nvCxnSpPr>
        <p:spPr>
          <a:xfrm flipV="1">
            <a:off x="2119128" y="2676300"/>
            <a:ext cx="4541795" cy="29999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1563" y="4251714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7- (16 mod 7)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62" y="4684351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7- (2) =5 --- </a:t>
            </a:r>
            <a:r>
              <a:rPr lang="en-IN" dirty="0">
                <a:solidFill>
                  <a:srgbClr val="C00000"/>
                </a:solidFill>
              </a:rPr>
              <a:t>h2 </a:t>
            </a:r>
            <a:r>
              <a:rPr lang="en-IN" dirty="0"/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62" y="5180293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(6+1*5)mod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312" y="5549625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(11)mod 10 = 1</a:t>
            </a:r>
          </a:p>
        </p:txBody>
      </p:sp>
    </p:spTree>
    <p:extLst>
      <p:ext uri="{BB962C8B-B14F-4D97-AF65-F5344CB8AC3E}">
        <p14:creationId xmlns:p14="http://schemas.microsoft.com/office/powerpoint/2010/main" val="3788440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97181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74" y="1618871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h1</a:t>
            </a:r>
            <a:r>
              <a:rPr lang="en-IN" dirty="0"/>
              <a:t>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3" y="2081606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h2</a:t>
            </a:r>
            <a:r>
              <a:rPr lang="en-IN" dirty="0"/>
              <a:t>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14" y="2618047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(h1(key) + </a:t>
            </a:r>
            <a:r>
              <a:rPr lang="en-IN" dirty="0" err="1"/>
              <a:t>i</a:t>
            </a:r>
            <a:r>
              <a:rPr lang="en-IN" dirty="0"/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14" y="3154488"/>
            <a:ext cx="386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Elements: </a:t>
            </a:r>
            <a:r>
              <a:rPr lang="en-IN" b="1" dirty="0">
                <a:solidFill>
                  <a:srgbClr val="00B050"/>
                </a:solidFill>
              </a:rPr>
              <a:t>20</a:t>
            </a:r>
            <a:r>
              <a:rPr lang="en-IN" b="1" dirty="0">
                <a:solidFill>
                  <a:srgbClr val="002060"/>
                </a:solidFill>
              </a:rPr>
              <a:t>,</a:t>
            </a:r>
            <a:r>
              <a:rPr lang="en-IN" b="1" dirty="0">
                <a:solidFill>
                  <a:srgbClr val="00B050"/>
                </a:solidFill>
              </a:rPr>
              <a:t> 25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36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16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55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63" y="3819077"/>
            <a:ext cx="232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55 mod 10 = 5 --- </a:t>
            </a:r>
            <a:r>
              <a:rPr lang="en-IN" dirty="0">
                <a:solidFill>
                  <a:srgbClr val="C00000"/>
                </a:solidFill>
              </a:rPr>
              <a:t>h1</a:t>
            </a:r>
            <a:r>
              <a:rPr lang="en-IN" dirty="0"/>
              <a:t> </a:t>
            </a:r>
          </a:p>
        </p:txBody>
      </p:sp>
      <p:cxnSp>
        <p:nvCxnSpPr>
          <p:cNvPr id="4" name="Straight Arrow Connector 3"/>
          <p:cNvCxnSpPr>
            <a:stCxn id="30" idx="3"/>
            <a:endCxn id="12" idx="1"/>
          </p:cNvCxnSpPr>
          <p:nvPr/>
        </p:nvCxnSpPr>
        <p:spPr>
          <a:xfrm flipV="1">
            <a:off x="3309870" y="5291681"/>
            <a:ext cx="3361065" cy="8752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1563" y="4251714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7- (55 mod 7)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62" y="4684351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7- (6) =1 --- </a:t>
            </a:r>
            <a:r>
              <a:rPr lang="en-IN" dirty="0">
                <a:solidFill>
                  <a:srgbClr val="C00000"/>
                </a:solidFill>
              </a:rPr>
              <a:t>h2</a:t>
            </a:r>
            <a:r>
              <a:rPr lang="en-IN" dirty="0"/>
              <a:t>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62" y="5180293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(5+1*1)mod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62" y="5548456"/>
            <a:ext cx="283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(6)mod 10 = 6   --------</a:t>
            </a:r>
            <a:r>
              <a:rPr lang="en-IN" dirty="0">
                <a:solidFill>
                  <a:srgbClr val="C00000"/>
                </a:solidFill>
              </a:rPr>
              <a:t>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61" y="5982262"/>
            <a:ext cx="303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(5+2*1)mod 10 = 7 ------- </a:t>
            </a:r>
            <a:r>
              <a:rPr lang="en-IN" dirty="0">
                <a:solidFill>
                  <a:srgbClr val="C00000"/>
                </a:solidFill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1461810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IN" dirty="0"/>
              <a:t>Example: Double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3029" y="205593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5565" y="3420016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78155" y="2987379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6678155" y="4630458"/>
            <a:ext cx="31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029" y="425171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565" y="3819077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0935" y="5105167"/>
            <a:ext cx="284058" cy="373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6202" y="5494303"/>
            <a:ext cx="241529" cy="37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433" y="5930154"/>
            <a:ext cx="21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23" y="249163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488668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72894"/>
              </p:ext>
            </p:extLst>
          </p:nvPr>
        </p:nvGraphicFramePr>
        <p:xfrm>
          <a:off x="7234152" y="2055933"/>
          <a:ext cx="961347" cy="4255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391037" y="161421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74" y="1618871"/>
            <a:ext cx="241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h1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(k) = k mod 10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63" y="2081606"/>
            <a:ext cx="382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h2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(key) = Prime – (key mod Prime)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14" y="2618047"/>
            <a:ext cx="414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(h1(key) +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* h2(key)) mod Table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14" y="3154488"/>
            <a:ext cx="386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Elements: </a:t>
            </a:r>
            <a:r>
              <a:rPr lang="en-IN" b="1" dirty="0">
                <a:solidFill>
                  <a:srgbClr val="00B050"/>
                </a:solidFill>
              </a:rPr>
              <a:t>20</a:t>
            </a:r>
            <a:r>
              <a:rPr lang="en-IN" b="1" dirty="0">
                <a:solidFill>
                  <a:srgbClr val="002060"/>
                </a:solidFill>
              </a:rPr>
              <a:t>,</a:t>
            </a:r>
            <a:r>
              <a:rPr lang="en-IN" b="1" dirty="0">
                <a:solidFill>
                  <a:srgbClr val="00B050"/>
                </a:solidFill>
              </a:rPr>
              <a:t> 25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36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16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55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b="1" dirty="0">
                <a:solidFill>
                  <a:srgbClr val="00B050"/>
                </a:solidFill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63" y="3819077"/>
            <a:ext cx="232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17 mod 10 = 7 --- </a:t>
            </a:r>
            <a:r>
              <a:rPr lang="en-IN" dirty="0">
                <a:solidFill>
                  <a:srgbClr val="C00000"/>
                </a:solidFill>
              </a:rPr>
              <a:t>h1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cxnSp>
        <p:nvCxnSpPr>
          <p:cNvPr id="4" name="Straight Arrow Connector 3"/>
          <p:cNvCxnSpPr>
            <a:stCxn id="30" idx="3"/>
            <a:endCxn id="7" idx="1"/>
          </p:cNvCxnSpPr>
          <p:nvPr/>
        </p:nvCxnSpPr>
        <p:spPr>
          <a:xfrm flipV="1">
            <a:off x="3540762" y="3604682"/>
            <a:ext cx="3124803" cy="25622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1563" y="4251714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7- (17 mod 7)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62" y="4684351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7- (3) = 4 --- </a:t>
            </a:r>
            <a:r>
              <a:rPr lang="en-IN" dirty="0">
                <a:solidFill>
                  <a:srgbClr val="C00000"/>
                </a:solidFill>
              </a:rPr>
              <a:t>h2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62" y="5180293"/>
            <a:ext cx="187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(7+1*4)mod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61" y="5548456"/>
            <a:ext cx="305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(11)mod 10 = 1 ---------- </a:t>
            </a:r>
            <a:r>
              <a:rPr lang="en-IN" dirty="0">
                <a:solidFill>
                  <a:srgbClr val="FF0000"/>
                </a:solidFill>
              </a:rPr>
              <a:t>I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1561" y="5982262"/>
            <a:ext cx="326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(5+2*4)mod 10 = 3 -------- </a:t>
            </a:r>
            <a:r>
              <a:rPr lang="en-IN" dirty="0">
                <a:solidFill>
                  <a:srgbClr val="FF0000"/>
                </a:solidFill>
              </a:rPr>
              <a:t>II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90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Computational cost is higher</a:t>
            </a:r>
          </a:p>
          <a:p>
            <a:r>
              <a:rPr lang="en-IN" sz="2600" dirty="0"/>
              <a:t>No primary clustering</a:t>
            </a:r>
          </a:p>
          <a:p>
            <a:r>
              <a:rPr lang="en-IN" sz="2600" dirty="0"/>
              <a:t>No secondary clustering</a:t>
            </a:r>
          </a:p>
          <a:p>
            <a:r>
              <a:rPr lang="en-US" sz="2600" dirty="0"/>
              <a:t>Double hashing can find the next free slot faster than the linear probing approach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hashing highlights </a:t>
            </a:r>
          </a:p>
        </p:txBody>
      </p:sp>
    </p:spTree>
    <p:extLst>
      <p:ext uri="{BB962C8B-B14F-4D97-AF65-F5344CB8AC3E}">
        <p14:creationId xmlns:p14="http://schemas.microsoft.com/office/powerpoint/2010/main" val="3435480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0F7E15-4E42-4DB8-8D1C-D69A3D3AC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Double hashing is used for uniform distribution of records throughout a hash table.</a:t>
            </a:r>
          </a:p>
          <a:p>
            <a:r>
              <a:rPr lang="en-US" sz="2600" dirty="0"/>
              <a:t>Double hashing is useful if an application requires a smaller hash table.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87C76A-9D5D-4160-A037-31A8B587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hashing highlights</a:t>
            </a:r>
          </a:p>
        </p:txBody>
      </p:sp>
    </p:spTree>
    <p:extLst>
      <p:ext uri="{BB962C8B-B14F-4D97-AF65-F5344CB8AC3E}">
        <p14:creationId xmlns:p14="http://schemas.microsoft.com/office/powerpoint/2010/main" val="1524144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4324</TotalTime>
  <Words>1027</Words>
  <Application>Microsoft Office PowerPoint</Application>
  <PresentationFormat>On-screen Show (4:3)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Collision Resolution</vt:lpstr>
      <vt:lpstr>Open Addressing</vt:lpstr>
      <vt:lpstr>Open Addressing</vt:lpstr>
      <vt:lpstr>Double Hashing</vt:lpstr>
      <vt:lpstr>Double Hashing</vt:lpstr>
      <vt:lpstr>Double Hashing</vt:lpstr>
      <vt:lpstr>Example: Double hashing</vt:lpstr>
      <vt:lpstr>Example: Double hashing</vt:lpstr>
      <vt:lpstr>Example: Double hashing</vt:lpstr>
      <vt:lpstr>Example: Double hashing</vt:lpstr>
      <vt:lpstr>Example: Double hashing</vt:lpstr>
      <vt:lpstr>Example: Double hashing</vt:lpstr>
      <vt:lpstr>Example: Double hashing</vt:lpstr>
      <vt:lpstr>Double hashing highlights </vt:lpstr>
      <vt:lpstr>Double hashing highlights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333</cp:revision>
  <dcterms:created xsi:type="dcterms:W3CDTF">2020-12-02T15:29:53Z</dcterms:created>
  <dcterms:modified xsi:type="dcterms:W3CDTF">2021-12-28T08:09:00Z</dcterms:modified>
</cp:coreProperties>
</file>