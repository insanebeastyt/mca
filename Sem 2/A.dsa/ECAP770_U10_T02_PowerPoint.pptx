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0" r:id="rId4"/>
    <p:sldId id="352" r:id="rId5"/>
    <p:sldId id="353" r:id="rId6"/>
    <p:sldId id="354" r:id="rId7"/>
    <p:sldId id="355" r:id="rId8"/>
    <p:sldId id="356" r:id="rId9"/>
    <p:sldId id="364" r:id="rId10"/>
    <p:sldId id="365" r:id="rId11"/>
    <p:sldId id="358" r:id="rId12"/>
    <p:sldId id="25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</a:t>
            </a:r>
            <a:r>
              <a:rPr lang="en-I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Xumar</a:t>
            </a:r>
            <a:endParaRPr lang="en-IN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adjacency matrix 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07852" cy="5124450"/>
          </a:xfrm>
        </p:spPr>
        <p:txBody>
          <a:bodyPr>
            <a:normAutofit/>
          </a:bodyPr>
          <a:lstStyle/>
          <a:p>
            <a:pPr algn="just"/>
            <a:r>
              <a:rPr lang="en-IN" sz="2600" dirty="0"/>
              <a:t>Graph is collection of vertices(nodes) (V) and edges(path) (E). It is non-linear data structure.</a:t>
            </a:r>
          </a:p>
          <a:p>
            <a:pPr marL="0" indent="0" algn="just">
              <a:buNone/>
            </a:pPr>
            <a:r>
              <a:rPr lang="en-IN" sz="2600" dirty="0"/>
              <a:t>   G (V,E)</a:t>
            </a:r>
          </a:p>
          <a:p>
            <a:pPr algn="just"/>
            <a:r>
              <a:rPr lang="en-IN" sz="2600" dirty="0"/>
              <a:t>It is a pictorial representation of a set of objects where objects are connected by links.</a:t>
            </a:r>
          </a:p>
          <a:p>
            <a:pPr algn="just"/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250347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Graphs are commonly represent using following ways:</a:t>
            </a:r>
          </a:p>
          <a:p>
            <a:r>
              <a:rPr lang="en-IN" dirty="0"/>
              <a:t> Adjacency Matrix</a:t>
            </a:r>
          </a:p>
          <a:p>
            <a:r>
              <a:rPr lang="en-IN" dirty="0"/>
              <a:t> Adjacency List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72259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/>
          <a:lstStyle/>
          <a:p>
            <a:pPr algn="just"/>
            <a:r>
              <a:rPr lang="en-IN" dirty="0"/>
              <a:t>Two vertices is called </a:t>
            </a:r>
            <a:r>
              <a:rPr lang="en-IN" dirty="0">
                <a:solidFill>
                  <a:srgbClr val="C00000"/>
                </a:solidFill>
              </a:rPr>
              <a:t>adjacent</a:t>
            </a:r>
            <a:r>
              <a:rPr lang="en-IN" dirty="0"/>
              <a:t> or </a:t>
            </a:r>
            <a:r>
              <a:rPr lang="en-IN" dirty="0">
                <a:solidFill>
                  <a:srgbClr val="C00000"/>
                </a:solidFill>
              </a:rPr>
              <a:t>neighbour</a:t>
            </a:r>
            <a:r>
              <a:rPr lang="en-IN" dirty="0"/>
              <a:t> if it support at least one common edge.</a:t>
            </a:r>
          </a:p>
          <a:p>
            <a:pPr algn="just"/>
            <a:r>
              <a:rPr lang="en-IN" dirty="0"/>
              <a:t>A finite graph can be represented in the form of a square matrix.</a:t>
            </a:r>
          </a:p>
          <a:p>
            <a:pPr algn="just"/>
            <a:r>
              <a:rPr lang="en-IN" dirty="0"/>
              <a:t>Boolean value (0,1) of the matrix indicates if there is a direct path between two vertices.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101104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79716" cy="5124450"/>
          </a:xfrm>
        </p:spPr>
        <p:txBody>
          <a:bodyPr/>
          <a:lstStyle/>
          <a:p>
            <a:pPr algn="just"/>
            <a:r>
              <a:rPr lang="en-IN" dirty="0"/>
              <a:t> It is also called 2D matrix that is used to map the association between the graph nodes.</a:t>
            </a:r>
          </a:p>
          <a:p>
            <a:pPr algn="just"/>
            <a:r>
              <a:rPr lang="en-IN" dirty="0"/>
              <a:t>If a graph has n number of vertices, then the adjacency matrix of that graph is n x n, and each entry of the matrix represents the number of edges from one vertex to another.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203968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79716" cy="5124450"/>
          </a:xfrm>
        </p:spPr>
        <p:txBody>
          <a:bodyPr/>
          <a:lstStyle/>
          <a:p>
            <a:pPr algn="just"/>
            <a:r>
              <a:rPr lang="en-IN" dirty="0"/>
              <a:t>If an Undirected Graph G consists of n vertices then the adjacency matrix of a graph is n x n matrix A = [</a:t>
            </a:r>
            <a:r>
              <a:rPr lang="en-IN" dirty="0" err="1"/>
              <a:t>a</a:t>
            </a:r>
            <a:r>
              <a:rPr lang="en-IN" sz="2000" dirty="0" err="1"/>
              <a:t>ij</a:t>
            </a:r>
            <a:r>
              <a:rPr lang="en-IN" dirty="0"/>
              <a:t>] </a:t>
            </a:r>
          </a:p>
          <a:p>
            <a:pPr algn="just"/>
            <a:r>
              <a:rPr lang="en-IN" dirty="0" err="1"/>
              <a:t>a</a:t>
            </a:r>
            <a:r>
              <a:rPr lang="en-IN" sz="2000" dirty="0" err="1"/>
              <a:t>ij</a:t>
            </a:r>
            <a:r>
              <a:rPr lang="en-IN" sz="2000" dirty="0"/>
              <a:t> </a:t>
            </a:r>
            <a:r>
              <a:rPr lang="en-IN" dirty="0"/>
              <a:t>= 1 (if there is a path exists from V</a:t>
            </a:r>
            <a:r>
              <a:rPr lang="en-IN" sz="2000" dirty="0"/>
              <a:t>i</a:t>
            </a:r>
            <a:r>
              <a:rPr lang="en-IN" dirty="0"/>
              <a:t> to </a:t>
            </a:r>
            <a:r>
              <a:rPr lang="en-IN" dirty="0" err="1"/>
              <a:t>V</a:t>
            </a:r>
            <a:r>
              <a:rPr lang="en-IN" sz="2000" dirty="0" err="1"/>
              <a:t>j</a:t>
            </a:r>
            <a:r>
              <a:rPr lang="en-IN" dirty="0"/>
              <a:t>)</a:t>
            </a:r>
          </a:p>
          <a:p>
            <a:pPr algn="just"/>
            <a:r>
              <a:rPr lang="en-IN" dirty="0" err="1"/>
              <a:t>a</a:t>
            </a:r>
            <a:r>
              <a:rPr lang="en-IN" sz="2000" dirty="0" err="1"/>
              <a:t>ij</a:t>
            </a:r>
            <a:r>
              <a:rPr lang="en-IN" dirty="0"/>
              <a:t> = 0 (if there is no path exists from V</a:t>
            </a:r>
            <a:r>
              <a:rPr lang="en-IN" sz="2000" dirty="0"/>
              <a:t>i</a:t>
            </a:r>
            <a:r>
              <a:rPr lang="en-IN" dirty="0"/>
              <a:t> to </a:t>
            </a:r>
            <a:r>
              <a:rPr lang="en-IN" dirty="0" err="1"/>
              <a:t>V</a:t>
            </a:r>
            <a:r>
              <a:rPr lang="en-IN" sz="2000" dirty="0" err="1"/>
              <a:t>j</a:t>
            </a:r>
            <a:r>
              <a:rPr lang="en-IN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Adjacency Matrix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802888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Undirected Graph Representation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2145775" y="4028136"/>
            <a:ext cx="658309" cy="58091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960276" y="3157616"/>
            <a:ext cx="641025" cy="594842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100792" y="4588486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111152" y="3157616"/>
            <a:ext cx="749741" cy="61583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1413805" y="3752459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2"/>
            <a:endCxn id="7" idx="6"/>
          </p:cNvCxnSpPr>
          <p:nvPr/>
        </p:nvCxnSpPr>
        <p:spPr>
          <a:xfrm flipH="1">
            <a:off x="1860893" y="3455037"/>
            <a:ext cx="1099383" cy="104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5"/>
            <a:endCxn id="4" idx="1"/>
          </p:cNvCxnSpPr>
          <p:nvPr/>
        </p:nvCxnSpPr>
        <p:spPr>
          <a:xfrm>
            <a:off x="1751096" y="3683266"/>
            <a:ext cx="491086" cy="4299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3"/>
          </p:cNvCxnSpPr>
          <p:nvPr/>
        </p:nvCxnSpPr>
        <p:spPr>
          <a:xfrm flipH="1">
            <a:off x="1658644" y="4523981"/>
            <a:ext cx="583538" cy="2628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3"/>
          </p:cNvCxnSpPr>
          <p:nvPr/>
        </p:nvCxnSpPr>
        <p:spPr>
          <a:xfrm flipH="1">
            <a:off x="2649518" y="3665345"/>
            <a:ext cx="404634" cy="4525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ket 20"/>
          <p:cNvSpPr/>
          <p:nvPr/>
        </p:nvSpPr>
        <p:spPr>
          <a:xfrm>
            <a:off x="4700684" y="3455038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Left Bracket 21"/>
          <p:cNvSpPr/>
          <p:nvPr/>
        </p:nvSpPr>
        <p:spPr>
          <a:xfrm flipH="1">
            <a:off x="6195951" y="3449116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4788025" y="3597913"/>
            <a:ext cx="1916035" cy="118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1	1	1</a:t>
            </a:r>
          </a:p>
          <a:p>
            <a:pPr marL="342900" indent="-342900">
              <a:buAutoNum type="arabicPlain"/>
            </a:pPr>
            <a:r>
              <a:rPr lang="en-IN" dirty="0"/>
              <a:t>  0	0	1</a:t>
            </a:r>
          </a:p>
          <a:p>
            <a:r>
              <a:rPr lang="en-IN" dirty="0"/>
              <a:t>1	0	0	1</a:t>
            </a:r>
          </a:p>
          <a:p>
            <a:r>
              <a:rPr lang="en-IN" dirty="0"/>
              <a:t>1	1	1	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684" y="3065172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	B	C	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1632" y="3631558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ABCD</a:t>
            </a:r>
          </a:p>
        </p:txBody>
      </p:sp>
    </p:spTree>
    <p:extLst>
      <p:ext uri="{BB962C8B-B14F-4D97-AF65-F5344CB8AC3E}">
        <p14:creationId xmlns:p14="http://schemas.microsoft.com/office/powerpoint/2010/main" val="141206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Directed Graph Representation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2145775" y="4028136"/>
            <a:ext cx="658309" cy="58091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960276" y="3151695"/>
            <a:ext cx="641025" cy="594842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100792" y="4588486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111152" y="3157616"/>
            <a:ext cx="749741" cy="61583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1" name="Left Bracket 20"/>
          <p:cNvSpPr/>
          <p:nvPr/>
        </p:nvSpPr>
        <p:spPr>
          <a:xfrm>
            <a:off x="4700684" y="3455038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Left Bracket 21"/>
          <p:cNvSpPr/>
          <p:nvPr/>
        </p:nvSpPr>
        <p:spPr>
          <a:xfrm flipH="1">
            <a:off x="6195951" y="3449116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4788026" y="3631557"/>
            <a:ext cx="1767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1	1	1</a:t>
            </a:r>
          </a:p>
          <a:p>
            <a:r>
              <a:rPr lang="en-IN" dirty="0"/>
              <a:t>0  	0	0	1</a:t>
            </a:r>
          </a:p>
          <a:p>
            <a:r>
              <a:rPr lang="en-IN" dirty="0"/>
              <a:t>0	0	0	1</a:t>
            </a:r>
          </a:p>
          <a:p>
            <a:r>
              <a:rPr lang="en-IN" dirty="0"/>
              <a:t>0	0	0	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684" y="3065172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	B	C	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1632" y="3631558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ABCD</a:t>
            </a:r>
          </a:p>
        </p:txBody>
      </p:sp>
      <p:cxnSp>
        <p:nvCxnSpPr>
          <p:cNvPr id="12" name="Straight Arrow Connector 11"/>
          <p:cNvCxnSpPr>
            <a:stCxn id="7" idx="6"/>
            <a:endCxn id="5" idx="2"/>
          </p:cNvCxnSpPr>
          <p:nvPr/>
        </p:nvCxnSpPr>
        <p:spPr>
          <a:xfrm flipV="1">
            <a:off x="1860893" y="3449116"/>
            <a:ext cx="1099383" cy="1641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3"/>
            <a:endCxn id="4" idx="7"/>
          </p:cNvCxnSpPr>
          <p:nvPr/>
        </p:nvCxnSpPr>
        <p:spPr>
          <a:xfrm flipH="1">
            <a:off x="2707677" y="3659424"/>
            <a:ext cx="346475" cy="45378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4" idx="3"/>
          </p:cNvCxnSpPr>
          <p:nvPr/>
        </p:nvCxnSpPr>
        <p:spPr>
          <a:xfrm flipV="1">
            <a:off x="1717837" y="4523981"/>
            <a:ext cx="524345" cy="25650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4" idx="1"/>
          </p:cNvCxnSpPr>
          <p:nvPr/>
        </p:nvCxnSpPr>
        <p:spPr>
          <a:xfrm>
            <a:off x="1720253" y="3690445"/>
            <a:ext cx="521929" cy="422765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6" idx="0"/>
          </p:cNvCxnSpPr>
          <p:nvPr/>
        </p:nvCxnSpPr>
        <p:spPr>
          <a:xfrm flipH="1">
            <a:off x="1413805" y="3765086"/>
            <a:ext cx="72217" cy="8234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03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Undirected Weighted Graph</a:t>
            </a:r>
          </a:p>
        </p:txBody>
      </p:sp>
      <p:sp>
        <p:nvSpPr>
          <p:cNvPr id="4" name="Oval 3"/>
          <p:cNvSpPr/>
          <p:nvPr/>
        </p:nvSpPr>
        <p:spPr>
          <a:xfrm>
            <a:off x="2145775" y="4028136"/>
            <a:ext cx="658309" cy="58091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960276" y="3157616"/>
            <a:ext cx="641025" cy="594842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100792" y="4588486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111152" y="3157616"/>
            <a:ext cx="749741" cy="61583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1413805" y="3752459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2"/>
            <a:endCxn id="7" idx="6"/>
          </p:cNvCxnSpPr>
          <p:nvPr/>
        </p:nvCxnSpPr>
        <p:spPr>
          <a:xfrm flipH="1">
            <a:off x="1860893" y="3455037"/>
            <a:ext cx="1099383" cy="104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5"/>
            <a:endCxn id="4" idx="1"/>
          </p:cNvCxnSpPr>
          <p:nvPr/>
        </p:nvCxnSpPr>
        <p:spPr>
          <a:xfrm>
            <a:off x="1751096" y="3683266"/>
            <a:ext cx="491086" cy="4299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3"/>
          </p:cNvCxnSpPr>
          <p:nvPr/>
        </p:nvCxnSpPr>
        <p:spPr>
          <a:xfrm flipH="1">
            <a:off x="1658644" y="4523981"/>
            <a:ext cx="583538" cy="2628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3"/>
          </p:cNvCxnSpPr>
          <p:nvPr/>
        </p:nvCxnSpPr>
        <p:spPr>
          <a:xfrm flipH="1">
            <a:off x="2649518" y="3665345"/>
            <a:ext cx="404634" cy="4525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ket 20"/>
          <p:cNvSpPr/>
          <p:nvPr/>
        </p:nvSpPr>
        <p:spPr>
          <a:xfrm>
            <a:off x="4700684" y="3455038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Left Bracket 21"/>
          <p:cNvSpPr/>
          <p:nvPr/>
        </p:nvSpPr>
        <p:spPr>
          <a:xfrm flipH="1">
            <a:off x="6195951" y="3449116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4788025" y="3597913"/>
            <a:ext cx="1916035" cy="118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2	6	4  2	0	0	3</a:t>
            </a:r>
          </a:p>
          <a:p>
            <a:r>
              <a:rPr lang="en-IN" dirty="0"/>
              <a:t>6	0	0	5</a:t>
            </a:r>
          </a:p>
          <a:p>
            <a:r>
              <a:rPr lang="en-IN" dirty="0"/>
              <a:t>4	3	5	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684" y="3065172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	B	C	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1632" y="3631558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ABCD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565" y="3090954"/>
            <a:ext cx="26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5799" y="3829617"/>
            <a:ext cx="257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0679" y="3886208"/>
            <a:ext cx="26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792" y="3985806"/>
            <a:ext cx="26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880" y="4625025"/>
            <a:ext cx="26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2461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Navigation tasks</a:t>
            </a:r>
          </a:p>
          <a:p>
            <a:r>
              <a:rPr lang="en-IN" dirty="0"/>
              <a:t>It is used to represent finite graphs</a:t>
            </a:r>
          </a:p>
          <a:p>
            <a:r>
              <a:rPr lang="en-IN" dirty="0"/>
              <a:t>Creating routing table in networks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Applications: 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324433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12355</TotalTime>
  <Words>396</Words>
  <Application>Microsoft Office PowerPoint</Application>
  <PresentationFormat>On-screen Show (4:3)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Graphs</vt:lpstr>
      <vt:lpstr>Graph Representation</vt:lpstr>
      <vt:lpstr> Adjacency Matrix</vt:lpstr>
      <vt:lpstr> Adjacency Matrix</vt:lpstr>
      <vt:lpstr>Adjacency Matrix Representation</vt:lpstr>
      <vt:lpstr>Undirected Graph Representation</vt:lpstr>
      <vt:lpstr>Directed Graph Representation</vt:lpstr>
      <vt:lpstr>Undirected Weighted Graph</vt:lpstr>
      <vt:lpstr>Applications: Adjacency Matrix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681</cp:revision>
  <dcterms:created xsi:type="dcterms:W3CDTF">2020-12-02T15:29:53Z</dcterms:created>
  <dcterms:modified xsi:type="dcterms:W3CDTF">2021-11-10T10:21:06Z</dcterms:modified>
</cp:coreProperties>
</file>