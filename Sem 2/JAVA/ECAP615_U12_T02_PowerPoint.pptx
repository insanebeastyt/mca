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6" r:id="rId2"/>
    <p:sldId id="261" r:id="rId3"/>
    <p:sldId id="286" r:id="rId4"/>
    <p:sldId id="293" r:id="rId5"/>
    <p:sldId id="287" r:id="rId6"/>
    <p:sldId id="290" r:id="rId7"/>
    <p:sldId id="294" r:id="rId8"/>
    <p:sldId id="288" r:id="rId9"/>
    <p:sldId id="289" r:id="rId10"/>
    <p:sldId id="291" r:id="rId11"/>
    <p:sldId id="29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14-09-2021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320" y="2818150"/>
            <a:ext cx="7704945" cy="369815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Learn the basic concept </a:t>
            </a:r>
            <a:r>
              <a:rPr lang="en-IN" dirty="0" err="1"/>
              <a:t>PreparedStatement</a:t>
            </a:r>
            <a:r>
              <a:rPr lang="en-IN" dirty="0"/>
              <a:t> and </a:t>
            </a:r>
            <a:r>
              <a:rPr lang="en-IN" dirty="0" err="1"/>
              <a:t>ResultSetMetaData</a:t>
            </a:r>
            <a:r>
              <a:rPr lang="en-IN" dirty="0"/>
              <a:t> interface.</a:t>
            </a:r>
            <a:endParaRPr lang="en-US" dirty="0"/>
          </a:p>
          <a:p>
            <a:pPr algn="just"/>
            <a:r>
              <a:rPr lang="en-US" dirty="0"/>
              <a:t>Understand the various methods of </a:t>
            </a:r>
            <a:r>
              <a:rPr lang="en-IN" dirty="0" err="1"/>
              <a:t>PreparedStatement</a:t>
            </a:r>
            <a:r>
              <a:rPr lang="en-IN" dirty="0"/>
              <a:t> and </a:t>
            </a:r>
            <a:r>
              <a:rPr lang="en-IN" dirty="0" err="1"/>
              <a:t>ResultSetMetaData</a:t>
            </a:r>
            <a:r>
              <a:rPr lang="en-IN" dirty="0"/>
              <a:t> interface.</a:t>
            </a:r>
            <a:endParaRPr lang="en-US" dirty="0"/>
          </a:p>
          <a:p>
            <a:pPr algn="just"/>
            <a:r>
              <a:rPr lang="en-US" dirty="0"/>
              <a:t>Implementation of </a:t>
            </a:r>
            <a:r>
              <a:rPr lang="en-IN" dirty="0" err="1"/>
              <a:t>PreparedStatement</a:t>
            </a:r>
            <a:r>
              <a:rPr lang="en-IN" dirty="0"/>
              <a:t> and </a:t>
            </a:r>
            <a:r>
              <a:rPr lang="en-IN" dirty="0" err="1"/>
              <a:t>ResultSetMetaData</a:t>
            </a:r>
            <a:r>
              <a:rPr lang="en-IN" dirty="0"/>
              <a:t> interface.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4" y="1484026"/>
            <a:ext cx="8415892" cy="4863833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dirty="0" err="1"/>
              <a:t>PreparedStatement</a:t>
            </a:r>
            <a:r>
              <a:rPr lang="en-US" sz="2400" dirty="0"/>
              <a:t> interface is a </a:t>
            </a:r>
            <a:r>
              <a:rPr lang="en-US" sz="2400" dirty="0" err="1"/>
              <a:t>subinterface</a:t>
            </a:r>
            <a:r>
              <a:rPr lang="en-US" sz="2400" dirty="0"/>
              <a:t> of Statement. </a:t>
            </a:r>
          </a:p>
          <a:p>
            <a:pPr algn="just"/>
            <a:r>
              <a:rPr lang="en-US" sz="2400" dirty="0"/>
              <a:t>It is a pre-compiled SQL statement. </a:t>
            </a:r>
          </a:p>
          <a:p>
            <a:pPr algn="just"/>
            <a:r>
              <a:rPr lang="en-US" sz="2400" dirty="0"/>
              <a:t>Prepared Statement objects have some useful additional features than Statement objects. </a:t>
            </a:r>
          </a:p>
          <a:p>
            <a:pPr algn="just"/>
            <a:r>
              <a:rPr lang="en-US" sz="2400" dirty="0"/>
              <a:t>Instead of hard coding queries, </a:t>
            </a:r>
            <a:r>
              <a:rPr lang="en-US" sz="2400" dirty="0" err="1"/>
              <a:t>PreparedStatement</a:t>
            </a:r>
            <a:r>
              <a:rPr lang="en-US" sz="2400" dirty="0"/>
              <a:t> object provides a feature to execute a parameterized query.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 err="1"/>
              <a:t>PreparedStatement</a:t>
            </a:r>
            <a:r>
              <a:rPr lang="en-IN" dirty="0"/>
              <a:t> interface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4" y="1484026"/>
            <a:ext cx="8415892" cy="486383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Example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String </a:t>
            </a:r>
            <a:r>
              <a:rPr lang="en-US" dirty="0" err="1"/>
              <a:t>sql</a:t>
            </a:r>
            <a:r>
              <a:rPr lang="en-US" dirty="0"/>
              <a:t>="insert into </a:t>
            </a:r>
            <a:r>
              <a:rPr lang="en-US" dirty="0" err="1"/>
              <a:t>tablename</a:t>
            </a:r>
            <a:r>
              <a:rPr lang="en-US" dirty="0"/>
              <a:t> values(?,?,?)"; 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 err="1"/>
              <a:t>PreparedStatement</a:t>
            </a:r>
            <a:r>
              <a:rPr lang="en-IN" dirty="0"/>
              <a:t> interface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1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2" y="1597794"/>
            <a:ext cx="8651633" cy="5091763"/>
          </a:xfrm>
        </p:spPr>
        <p:txBody>
          <a:bodyPr>
            <a:normAutofit/>
          </a:bodyPr>
          <a:lstStyle/>
          <a:p>
            <a:r>
              <a:rPr lang="en-IN" dirty="0"/>
              <a:t>Why use </a:t>
            </a:r>
            <a:r>
              <a:rPr lang="en-IN" dirty="0" err="1"/>
              <a:t>PreparedStatement</a:t>
            </a:r>
            <a:r>
              <a:rPr lang="en-IN" dirty="0"/>
              <a:t>?</a:t>
            </a:r>
          </a:p>
          <a:p>
            <a:pPr lvl="1">
              <a:buFont typeface="Bahnschrift" panose="020B0502040204020203" pitchFamily="34" charset="0"/>
              <a:buChar char="–"/>
            </a:pPr>
            <a:r>
              <a:rPr lang="en-US" sz="2800" dirty="0"/>
              <a:t>Improves performance </a:t>
            </a:r>
          </a:p>
          <a:p>
            <a:r>
              <a:rPr lang="en-US" dirty="0"/>
              <a:t>How to get the instance of </a:t>
            </a:r>
            <a:r>
              <a:rPr lang="en-US" dirty="0" err="1"/>
              <a:t>PreparedStatement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Syntax:</a:t>
            </a:r>
          </a:p>
          <a:p>
            <a:pPr algn="just"/>
            <a:r>
              <a:rPr lang="en-US" sz="2400" dirty="0"/>
              <a:t>public </a:t>
            </a:r>
            <a:r>
              <a:rPr lang="en-US" sz="2400" dirty="0" err="1"/>
              <a:t>PreparedStatement</a:t>
            </a:r>
            <a:r>
              <a:rPr lang="en-US" sz="2400" dirty="0"/>
              <a:t> </a:t>
            </a:r>
            <a:r>
              <a:rPr lang="en-US" sz="2400" dirty="0" err="1"/>
              <a:t>prepareStatement</a:t>
            </a:r>
            <a:r>
              <a:rPr lang="en-US" sz="2400" dirty="0"/>
              <a:t>(String query)throws </a:t>
            </a:r>
            <a:r>
              <a:rPr lang="en-US" sz="2400" dirty="0" err="1"/>
              <a:t>SQLException</a:t>
            </a:r>
            <a:r>
              <a:rPr lang="en-US" sz="2400" dirty="0"/>
              <a:t>{} 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PreparedStatement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51101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7654"/>
            <a:ext cx="8597510" cy="523614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/>
              <a:t>The following are the steps to use </a:t>
            </a:r>
            <a:r>
              <a:rPr lang="en-IN" sz="2400" dirty="0" err="1"/>
              <a:t>PreparedStatement</a:t>
            </a:r>
            <a:r>
              <a:rPr lang="en-IN" sz="2400" dirty="0"/>
              <a:t> :</a:t>
            </a:r>
          </a:p>
          <a:p>
            <a:pPr marL="269875" indent="-269875" algn="just">
              <a:buAutoNum type="arabicPeriod"/>
            </a:pPr>
            <a:r>
              <a:rPr lang="en-US" sz="2400" b="1" dirty="0"/>
              <a:t>Create Connection to Database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Connection Con =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DriverManager.getConnection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path,username,password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IN" sz="2400" b="1" dirty="0"/>
              <a:t>2. Prepare Statement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PreparedStatement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Stmt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; 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Stmt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Con.prepareStatement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(select * from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tablename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where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</a:rPr>
              <a:t>columnname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&gt; ?);</a:t>
            </a:r>
            <a:endParaRPr lang="en-IN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PreparedStatement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17741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7654"/>
            <a:ext cx="8597510" cy="523614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/>
              <a:t>The following are the steps to use </a:t>
            </a:r>
            <a:r>
              <a:rPr lang="en-IN" sz="2400" dirty="0" err="1"/>
              <a:t>PreparedStatement</a:t>
            </a:r>
            <a:r>
              <a:rPr lang="en-IN" sz="2400" dirty="0"/>
              <a:t> :</a:t>
            </a:r>
          </a:p>
          <a:p>
            <a:pPr marL="0" indent="0" algn="just">
              <a:buNone/>
            </a:pPr>
            <a:r>
              <a:rPr lang="en-IN" sz="2400" b="1" dirty="0"/>
              <a:t>3. Set parameter values for type and position</a:t>
            </a:r>
            <a:r>
              <a:rPr lang="en-IN" sz="2400" dirty="0"/>
              <a:t> </a:t>
            </a:r>
          </a:p>
          <a:p>
            <a:pPr marL="0" indent="0" algn="just">
              <a:buNone/>
            </a:pPr>
            <a:r>
              <a:rPr lang="en-IN" sz="2400" dirty="0" err="1">
                <a:solidFill>
                  <a:schemeClr val="bg2">
                    <a:lumMod val="25000"/>
                  </a:schemeClr>
                </a:solidFill>
              </a:rPr>
              <a:t>Stmt.setInt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(1,20);     </a:t>
            </a:r>
          </a:p>
          <a:p>
            <a:pPr marL="0" indent="0" algn="just">
              <a:buNone/>
            </a:pPr>
            <a:r>
              <a:rPr lang="en-IN" sz="2400" dirty="0" err="1">
                <a:solidFill>
                  <a:schemeClr val="bg2">
                    <a:lumMod val="25000"/>
                  </a:schemeClr>
                </a:solidFill>
              </a:rPr>
              <a:t>Stmt.setString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(2,“ABC"); </a:t>
            </a:r>
          </a:p>
          <a:p>
            <a:pPr marL="0" indent="0" algn="just">
              <a:buNone/>
            </a:pPr>
            <a:r>
              <a:rPr lang="en-IN" sz="2400" b="1" dirty="0"/>
              <a:t>4. Execute the Query</a:t>
            </a:r>
            <a:r>
              <a:rPr lang="en-IN" sz="2400" dirty="0"/>
              <a:t> </a:t>
            </a:r>
          </a:p>
          <a:p>
            <a:pPr marL="0" indent="0" algn="just">
              <a:buNone/>
            </a:pPr>
            <a:r>
              <a:rPr lang="en-IN" sz="2400" dirty="0" err="1">
                <a:solidFill>
                  <a:schemeClr val="bg2">
                    <a:lumMod val="25000"/>
                  </a:schemeClr>
                </a:solidFill>
              </a:rPr>
              <a:t>ResultSet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bg2">
                    <a:lumMod val="25000"/>
                  </a:schemeClr>
                </a:solidFill>
              </a:rPr>
              <a:t>Rs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= </a:t>
            </a:r>
            <a:r>
              <a:rPr lang="en-IN" sz="2400" dirty="0" err="1">
                <a:solidFill>
                  <a:schemeClr val="bg2">
                    <a:lumMod val="25000"/>
                  </a:schemeClr>
                </a:solidFill>
              </a:rPr>
              <a:t>Stmt.executeQuery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(); 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PreparedStatement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83669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54046"/>
            <a:ext cx="8415893" cy="5178983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When </a:t>
            </a:r>
            <a:r>
              <a:rPr lang="en-US" dirty="0" err="1"/>
              <a:t>PreparedStatement</a:t>
            </a:r>
            <a:r>
              <a:rPr lang="en-US" dirty="0"/>
              <a:t> is created, the SQL query is passed as a parameter. </a:t>
            </a:r>
          </a:p>
          <a:p>
            <a:pPr algn="just" fontAlgn="base"/>
            <a:r>
              <a:rPr lang="en-US" dirty="0"/>
              <a:t>It contains a pre-compiled SQL query. </a:t>
            </a:r>
          </a:p>
          <a:p>
            <a:pPr algn="just" fontAlgn="base"/>
            <a:r>
              <a:rPr lang="en-US" dirty="0"/>
              <a:t>We can use the same </a:t>
            </a:r>
            <a:r>
              <a:rPr lang="en-US" dirty="0" err="1"/>
              <a:t>PreparedStatement</a:t>
            </a:r>
            <a:r>
              <a:rPr lang="en-US" dirty="0"/>
              <a:t> and supply with different parameters at the time of execution.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PreparedStatement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63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4" y="1445484"/>
            <a:ext cx="8310962" cy="5207268"/>
          </a:xfrm>
        </p:spPr>
        <p:txBody>
          <a:bodyPr>
            <a:normAutofit/>
          </a:bodyPr>
          <a:lstStyle/>
          <a:p>
            <a:pPr marL="360363" indent="-360363" algn="just" fontAlgn="base"/>
            <a:r>
              <a:rPr lang="en-US" dirty="0" err="1"/>
              <a:t>setInt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) </a:t>
            </a:r>
          </a:p>
          <a:p>
            <a:pPr marL="360363" indent="-360363" algn="just" fontAlgn="base"/>
            <a:r>
              <a:rPr lang="en-US" dirty="0" err="1"/>
              <a:t>setString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, string) </a:t>
            </a:r>
          </a:p>
          <a:p>
            <a:pPr marL="360363" indent="-360363" algn="just" fontAlgn="base"/>
            <a:r>
              <a:rPr lang="en-US" dirty="0" err="1"/>
              <a:t>setFloat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, float) </a:t>
            </a:r>
          </a:p>
          <a:p>
            <a:pPr marL="360363" indent="-360363" algn="just" fontAlgn="base"/>
            <a:r>
              <a:rPr lang="en-US" dirty="0" err="1"/>
              <a:t>setDouble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, double) </a:t>
            </a:r>
          </a:p>
          <a:p>
            <a:pPr marL="360363" indent="-360363" algn="just" fontAlgn="base"/>
            <a:r>
              <a:rPr lang="en-US" dirty="0" err="1"/>
              <a:t>executeUpdate</a:t>
            </a:r>
            <a:r>
              <a:rPr lang="en-US" dirty="0"/>
              <a:t>() </a:t>
            </a:r>
          </a:p>
          <a:p>
            <a:pPr marL="360363" indent="-360363" algn="just" fontAlgn="base"/>
            <a:r>
              <a:rPr lang="en-US" dirty="0" err="1"/>
              <a:t>executeQuery</a:t>
            </a:r>
            <a:r>
              <a:rPr lang="en-US" dirty="0"/>
              <a:t>()</a:t>
            </a:r>
            <a:endParaRPr lang="en-IN" sz="9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Methods of </a:t>
            </a:r>
            <a:r>
              <a:rPr lang="en-IN" dirty="0" err="1"/>
              <a:t>PreparedStatement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264947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18283"/>
            <a:ext cx="8221021" cy="500488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If you want to get metadata of a table, </a:t>
            </a:r>
            <a:r>
              <a:rPr lang="en-US" sz="2400" dirty="0" err="1"/>
              <a:t>ResultSetMetaData</a:t>
            </a:r>
            <a:r>
              <a:rPr lang="en-US" sz="2400" dirty="0"/>
              <a:t> interface is useful because it provides methods to get metadata from the </a:t>
            </a:r>
            <a:r>
              <a:rPr lang="en-US" sz="2400" dirty="0" err="1"/>
              <a:t>ResultSet</a:t>
            </a:r>
            <a:r>
              <a:rPr lang="en-US" sz="2400" dirty="0"/>
              <a:t> object.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/>
              <a:t>getMetaData</a:t>
            </a:r>
            <a:r>
              <a:rPr lang="en-US" sz="2400" dirty="0"/>
              <a:t>() method of </a:t>
            </a:r>
            <a:r>
              <a:rPr lang="en-US" sz="2400" dirty="0" err="1"/>
              <a:t>ResultSet</a:t>
            </a:r>
            <a:r>
              <a:rPr lang="en-US" sz="2400" dirty="0"/>
              <a:t> interface returns the object of </a:t>
            </a:r>
            <a:r>
              <a:rPr lang="en-US" sz="2400" dirty="0" err="1"/>
              <a:t>ResultSetMetaData</a:t>
            </a:r>
            <a:r>
              <a:rPr lang="en-US" sz="2400" dirty="0"/>
              <a:t>. </a:t>
            </a:r>
          </a:p>
          <a:p>
            <a:pPr marL="0" indent="0" algn="just">
              <a:buNone/>
            </a:pPr>
            <a:r>
              <a:rPr lang="en-US" sz="2400" b="1" dirty="0"/>
              <a:t>Syntax:</a:t>
            </a:r>
          </a:p>
          <a:p>
            <a:pPr algn="just"/>
            <a:r>
              <a:rPr lang="en-US" sz="2400" dirty="0"/>
              <a:t>public </a:t>
            </a:r>
            <a:r>
              <a:rPr lang="en-US" sz="2400" dirty="0" err="1"/>
              <a:t>ResultSetMetaData</a:t>
            </a:r>
            <a:r>
              <a:rPr lang="en-US" sz="2400" dirty="0"/>
              <a:t> </a:t>
            </a:r>
            <a:r>
              <a:rPr lang="en-US" sz="2400" dirty="0" err="1"/>
              <a:t>getMetaData</a:t>
            </a:r>
            <a:r>
              <a:rPr lang="en-US" sz="2400" dirty="0"/>
              <a:t>()throws </a:t>
            </a:r>
            <a:r>
              <a:rPr lang="en-US" sz="2400" dirty="0" err="1"/>
              <a:t>SQLException</a:t>
            </a:r>
            <a:r>
              <a:rPr lang="en-US" sz="240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ResultSetMetaData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1082340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2" y="1508223"/>
            <a:ext cx="8265991" cy="5004884"/>
          </a:xfrm>
        </p:spPr>
        <p:txBody>
          <a:bodyPr>
            <a:normAutofit/>
          </a:bodyPr>
          <a:lstStyle/>
          <a:p>
            <a:r>
              <a:rPr lang="en-US" dirty="0" err="1"/>
              <a:t>getColumnCount</a:t>
            </a:r>
            <a:r>
              <a:rPr lang="en-US" dirty="0"/>
              <a:t>()	</a:t>
            </a:r>
          </a:p>
          <a:p>
            <a:r>
              <a:rPr lang="en-US" dirty="0" err="1"/>
              <a:t>getColumnLabel</a:t>
            </a:r>
            <a:r>
              <a:rPr lang="en-US" dirty="0"/>
              <a:t>()	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getColumnName</a:t>
            </a:r>
            <a:r>
              <a:rPr lang="en-US" dirty="0"/>
              <a:t>()	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getTableName</a:t>
            </a:r>
            <a:r>
              <a:rPr lang="en-US" dirty="0"/>
              <a:t>()	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8363" y="0"/>
            <a:ext cx="8709384" cy="1357162"/>
          </a:xfrm>
        </p:spPr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ResultSetMetaData</a:t>
            </a:r>
            <a:r>
              <a:rPr lang="en-IN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1715294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2513</TotalTime>
  <Words>349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 PreparedStatement interface </vt:lpstr>
      <vt:lpstr> PreparedStatement interface </vt:lpstr>
      <vt:lpstr>PreparedStatement Interface</vt:lpstr>
      <vt:lpstr>PreparedStatement Interface</vt:lpstr>
      <vt:lpstr>PreparedStatement Interface</vt:lpstr>
      <vt:lpstr>Advantages of PreparedStatement</vt:lpstr>
      <vt:lpstr>Methods of PreparedStatement interface</vt:lpstr>
      <vt:lpstr>ResultSetMetaData Interface</vt:lpstr>
      <vt:lpstr>Methods of ResultSetMetaData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216</cp:revision>
  <dcterms:created xsi:type="dcterms:W3CDTF">2021-05-13T17:45:44Z</dcterms:created>
  <dcterms:modified xsi:type="dcterms:W3CDTF">2021-09-14T10:01:44Z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341269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