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Override+xml" PartName="/ppt/theme/themeOverride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6" r:id="rId2"/>
    <p:sldId id="261" r:id="rId3"/>
    <p:sldId id="286" r:id="rId4"/>
    <p:sldId id="294" r:id="rId5"/>
    <p:sldId id="288" r:id="rId6"/>
    <p:sldId id="287" r:id="rId7"/>
    <p:sldId id="289" r:id="rId8"/>
    <p:sldId id="290" r:id="rId9"/>
    <p:sldId id="295" r:id="rId10"/>
    <p:sldId id="296" r:id="rId11"/>
    <p:sldId id="297" r:id="rId12"/>
    <p:sldId id="291" r:id="rId13"/>
    <p:sldId id="292" r:id="rId14"/>
    <p:sldId id="298" r:id="rId15"/>
    <p:sldId id="293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0BC"/>
    <a:srgbClr val="017C83"/>
    <a:srgbClr val="26CB8E"/>
    <a:srgbClr val="24CA92"/>
    <a:srgbClr val="D1F4E8"/>
    <a:srgbClr val="092E43"/>
    <a:srgbClr val="2C2C2C"/>
    <a:srgbClr val="353535"/>
    <a:srgbClr val="FFFFFF"/>
    <a:srgbClr val="29C5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26-07-2021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learn the basic concept of </a:t>
            </a:r>
            <a:r>
              <a:rPr lang="en-US" dirty="0" err="1"/>
              <a:t>JButton</a:t>
            </a:r>
            <a:r>
              <a:rPr lang="en-US" dirty="0"/>
              <a:t> class and its various Constructors</a:t>
            </a:r>
          </a:p>
          <a:p>
            <a:pPr algn="just"/>
            <a:r>
              <a:rPr lang="en-US" dirty="0"/>
              <a:t>understand the working of </a:t>
            </a:r>
            <a:r>
              <a:rPr lang="en-US" dirty="0" err="1"/>
              <a:t>JRadioButton</a:t>
            </a:r>
            <a:r>
              <a:rPr lang="en-US" dirty="0"/>
              <a:t> class and its various implementation methods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9512" y="1623946"/>
            <a:ext cx="8422506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The </a:t>
            </a:r>
            <a:r>
              <a:rPr lang="en-US" sz="2600" dirty="0" err="1"/>
              <a:t>JButton</a:t>
            </a:r>
            <a:r>
              <a:rPr lang="en-US" sz="2600" dirty="0"/>
              <a:t> class is used to create a labeled button that has platform independent implementation. </a:t>
            </a:r>
          </a:p>
          <a:p>
            <a:pPr algn="just"/>
            <a:r>
              <a:rPr lang="en-US" sz="2600" dirty="0"/>
              <a:t>The application result in some action when the button is pushed. </a:t>
            </a:r>
          </a:p>
          <a:p>
            <a:pPr algn="just"/>
            <a:r>
              <a:rPr lang="en-US" sz="2600" dirty="0"/>
              <a:t>It inherits </a:t>
            </a:r>
            <a:r>
              <a:rPr lang="en-US" sz="2600" dirty="0" err="1"/>
              <a:t>AbstractButton</a:t>
            </a:r>
            <a:r>
              <a:rPr lang="en-US" sz="2600" dirty="0"/>
              <a:t> class.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JButton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9512" y="1623946"/>
            <a:ext cx="8524976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In order to handle a button click event, the </a:t>
            </a:r>
            <a:r>
              <a:rPr lang="en-US" sz="2600" b="1" dirty="0"/>
              <a:t>ActionListener</a:t>
            </a:r>
            <a:r>
              <a:rPr lang="en-US" sz="2600" dirty="0"/>
              <a:t> interface should be implemented. </a:t>
            </a:r>
          </a:p>
          <a:p>
            <a:pPr algn="just"/>
            <a:r>
              <a:rPr lang="en-US" sz="2600" dirty="0" err="1"/>
              <a:t>JButton</a:t>
            </a:r>
            <a:r>
              <a:rPr lang="en-US" sz="2600" dirty="0"/>
              <a:t> is a </a:t>
            </a:r>
            <a:r>
              <a:rPr lang="en-US" sz="2600" i="1" dirty="0"/>
              <a:t>component</a:t>
            </a:r>
            <a:r>
              <a:rPr lang="en-US" sz="2600" dirty="0"/>
              <a:t> which extends the </a:t>
            </a:r>
            <a:r>
              <a:rPr lang="en-US" sz="2600" dirty="0" err="1"/>
              <a:t>JComponent</a:t>
            </a:r>
            <a:r>
              <a:rPr lang="en-US" sz="2600" dirty="0"/>
              <a:t> class and it can be added to a </a:t>
            </a:r>
            <a:r>
              <a:rPr lang="en-US" sz="2600" i="1" dirty="0"/>
              <a:t>container</a:t>
            </a:r>
            <a:r>
              <a:rPr lang="en-US" sz="2600" dirty="0"/>
              <a:t>.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JButton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74052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1186" y="1628145"/>
            <a:ext cx="7741627" cy="5004884"/>
          </a:xfrm>
        </p:spPr>
        <p:txBody>
          <a:bodyPr/>
          <a:lstStyle/>
          <a:p>
            <a:pPr algn="just"/>
            <a:r>
              <a:rPr lang="en-IN" b="1" dirty="0"/>
              <a:t>public</a:t>
            </a:r>
            <a:r>
              <a:rPr lang="en-IN" dirty="0"/>
              <a:t> </a:t>
            </a:r>
            <a:r>
              <a:rPr lang="en-IN" b="1" dirty="0"/>
              <a:t>class</a:t>
            </a:r>
            <a:r>
              <a:rPr lang="en-IN" dirty="0"/>
              <a:t> </a:t>
            </a:r>
            <a:r>
              <a:rPr lang="en-IN" dirty="0" err="1"/>
              <a:t>JButton</a:t>
            </a:r>
            <a:r>
              <a:rPr lang="en-IN" dirty="0"/>
              <a:t> </a:t>
            </a:r>
            <a:r>
              <a:rPr lang="en-IN" b="1" dirty="0"/>
              <a:t>extends</a:t>
            </a:r>
            <a:r>
              <a:rPr lang="en-IN" dirty="0"/>
              <a:t> </a:t>
            </a:r>
            <a:r>
              <a:rPr lang="en-IN" dirty="0" err="1"/>
              <a:t>AbstractButton</a:t>
            </a:r>
            <a:r>
              <a:rPr lang="en-IN" dirty="0"/>
              <a:t> </a:t>
            </a:r>
            <a:r>
              <a:rPr lang="en-IN" b="1" dirty="0"/>
              <a:t>implements</a:t>
            </a:r>
            <a:r>
              <a:rPr lang="en-IN" dirty="0"/>
              <a:t> Accessible  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Declaration </a:t>
            </a:r>
            <a:r>
              <a:rPr lang="en-IN" dirty="0" err="1"/>
              <a:t>JButton</a:t>
            </a:r>
            <a:r>
              <a:rPr lang="en-IN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015256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Commonly used Constructors</a:t>
            </a:r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128E79-A045-47A4-B911-9087EC438697}"/>
              </a:ext>
            </a:extLst>
          </p:cNvPr>
          <p:cNvGrpSpPr/>
          <p:nvPr/>
        </p:nvGrpSpPr>
        <p:grpSpPr>
          <a:xfrm>
            <a:off x="475572" y="2431701"/>
            <a:ext cx="8201652" cy="3607359"/>
            <a:chOff x="648747" y="2441749"/>
            <a:chExt cx="8201652" cy="360735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01E335E-D3C0-4520-91E6-2A4D022AF262}"/>
                </a:ext>
              </a:extLst>
            </p:cNvPr>
            <p:cNvSpPr/>
            <p:nvPr/>
          </p:nvSpPr>
          <p:spPr>
            <a:xfrm>
              <a:off x="648747" y="3989196"/>
              <a:ext cx="2059912" cy="2059912"/>
            </a:xfrm>
            <a:prstGeom prst="ellipse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dirty="0" err="1">
                  <a:solidFill>
                    <a:schemeClr val="tx1"/>
                  </a:solidFill>
                  <a:latin typeface="Bahnschrift" panose="020B0502040204020203" pitchFamily="34" charset="0"/>
                </a:rPr>
                <a:t>JButton</a:t>
              </a:r>
              <a:r>
                <a:rPr lang="en-IN" sz="20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()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929C410-803F-4545-A5D9-FE82B0D4E6CB}"/>
                </a:ext>
              </a:extLst>
            </p:cNvPr>
            <p:cNvCxnSpPr>
              <a:endCxn id="5" idx="0"/>
            </p:cNvCxnSpPr>
            <p:nvPr/>
          </p:nvCxnSpPr>
          <p:spPr>
            <a:xfrm>
              <a:off x="1678703" y="2441749"/>
              <a:ext cx="0" cy="1547447"/>
            </a:xfrm>
            <a:prstGeom prst="line">
              <a:avLst/>
            </a:prstGeom>
            <a:ln w="57150">
              <a:solidFill>
                <a:srgbClr val="017C8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9E4BA26-C9D4-4430-9969-64E2C38CA89F}"/>
                </a:ext>
              </a:extLst>
            </p:cNvPr>
            <p:cNvSpPr/>
            <p:nvPr/>
          </p:nvSpPr>
          <p:spPr>
            <a:xfrm>
              <a:off x="2699159" y="3989196"/>
              <a:ext cx="2059912" cy="2059912"/>
            </a:xfrm>
            <a:prstGeom prst="ellipse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Bahnschrift" panose="020B0502040204020203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74B4FAE-7029-40B2-BD47-2C6AAB75925B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3729115" y="2441749"/>
              <a:ext cx="0" cy="1547447"/>
            </a:xfrm>
            <a:prstGeom prst="line">
              <a:avLst/>
            </a:prstGeom>
            <a:ln w="57150">
              <a:solidFill>
                <a:srgbClr val="017C8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41BA63-FD6A-4F3D-BDC3-BC6FC3019C77}"/>
                </a:ext>
              </a:extLst>
            </p:cNvPr>
            <p:cNvSpPr txBox="1"/>
            <p:nvPr/>
          </p:nvSpPr>
          <p:spPr>
            <a:xfrm>
              <a:off x="2859791" y="4575970"/>
              <a:ext cx="167367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000" dirty="0" err="1">
                  <a:latin typeface="Bahnschrift" panose="020B0502040204020203" pitchFamily="34" charset="0"/>
                </a:rPr>
                <a:t>JButton</a:t>
              </a:r>
              <a:endParaRPr lang="en-IN" sz="2000" dirty="0">
                <a:latin typeface="Bahnschrift" panose="020B0502040204020203" pitchFamily="34" charset="0"/>
              </a:endParaRPr>
            </a:p>
            <a:p>
              <a:pPr algn="ctr"/>
              <a:r>
                <a:rPr lang="en-IN" sz="2000" dirty="0">
                  <a:latin typeface="Bahnschrift" panose="020B0502040204020203" pitchFamily="34" charset="0"/>
                </a:rPr>
                <a:t>(string text)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3CFB511-20C8-4638-86B4-E32BBC36A00F}"/>
                </a:ext>
              </a:extLst>
            </p:cNvPr>
            <p:cNvSpPr/>
            <p:nvPr/>
          </p:nvSpPr>
          <p:spPr>
            <a:xfrm>
              <a:off x="4749573" y="3989196"/>
              <a:ext cx="2059912" cy="2059912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2000" dirty="0" err="1">
                  <a:solidFill>
                    <a:schemeClr val="tx1"/>
                  </a:solidFill>
                  <a:latin typeface="Bahnschrift" panose="020B0502040204020203" pitchFamily="34" charset="0"/>
                </a:rPr>
                <a:t>JButton</a:t>
              </a:r>
              <a:r>
                <a:rPr lang="en-IN" sz="20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(Icon </a:t>
              </a:r>
              <a:r>
                <a:rPr lang="en-IN" sz="2000" dirty="0" err="1">
                  <a:solidFill>
                    <a:schemeClr val="tx1"/>
                  </a:solidFill>
                  <a:latin typeface="Bahnschrift" panose="020B0502040204020203" pitchFamily="34" charset="0"/>
                </a:rPr>
                <a:t>img</a:t>
              </a:r>
              <a:r>
                <a:rPr lang="en-IN" sz="20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)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5EA43F8-C268-422B-A7E4-F4CB6C4B8537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5779529" y="2441749"/>
              <a:ext cx="0" cy="1547447"/>
            </a:xfrm>
            <a:prstGeom prst="line">
              <a:avLst/>
            </a:prstGeom>
            <a:ln w="57150">
              <a:solidFill>
                <a:srgbClr val="017C8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A0237DB-A6E5-4704-8FF4-28A9DE5C6268}"/>
                </a:ext>
              </a:extLst>
            </p:cNvPr>
            <p:cNvSpPr/>
            <p:nvPr/>
          </p:nvSpPr>
          <p:spPr>
            <a:xfrm>
              <a:off x="6790487" y="3989196"/>
              <a:ext cx="2059912" cy="2059912"/>
            </a:xfrm>
            <a:prstGeom prst="ellipse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000" dirty="0">
                <a:latin typeface="Bahnschrift" panose="020B0502040204020203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B85478-A651-4F53-B045-8C1E96390C93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7820443" y="2441749"/>
              <a:ext cx="0" cy="1547447"/>
            </a:xfrm>
            <a:prstGeom prst="line">
              <a:avLst/>
            </a:prstGeom>
            <a:ln w="57150">
              <a:solidFill>
                <a:srgbClr val="017C8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603BD9-057C-4F06-BDD2-CD56D0BE0135}"/>
                </a:ext>
              </a:extLst>
            </p:cNvPr>
            <p:cNvSpPr txBox="1"/>
            <p:nvPr/>
          </p:nvSpPr>
          <p:spPr>
            <a:xfrm>
              <a:off x="6906042" y="4495779"/>
              <a:ext cx="1673679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000" dirty="0" err="1">
                  <a:latin typeface="Bahnschrift" panose="020B0502040204020203" pitchFamily="34" charset="0"/>
                </a:rPr>
                <a:t>JButton</a:t>
              </a:r>
              <a:endParaRPr lang="en-IN" sz="2000" dirty="0">
                <a:latin typeface="Bahnschrift" panose="020B0502040204020203" pitchFamily="34" charset="0"/>
              </a:endParaRPr>
            </a:p>
            <a:p>
              <a:pPr algn="ctr"/>
              <a:r>
                <a:rPr lang="en-IN" sz="2000" dirty="0">
                  <a:latin typeface="Bahnschrift" panose="020B0502040204020203" pitchFamily="34" charset="0"/>
                </a:rPr>
                <a:t>(string text, icon </a:t>
              </a:r>
              <a:r>
                <a:rPr lang="en-IN" sz="2000" dirty="0" err="1">
                  <a:latin typeface="Bahnschrift" panose="020B0502040204020203" pitchFamily="34" charset="0"/>
                </a:rPr>
                <a:t>img</a:t>
              </a:r>
              <a:r>
                <a:rPr lang="en-IN" sz="2000" dirty="0">
                  <a:latin typeface="Bahnschrift" panose="020B0502040204020203" pitchFamily="34" charset="0"/>
                </a:rPr>
                <a:t>)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53B849-7638-4E0E-AD09-6D528A4DCF6B}"/>
              </a:ext>
            </a:extLst>
          </p:cNvPr>
          <p:cNvSpPr/>
          <p:nvPr/>
        </p:nvSpPr>
        <p:spPr>
          <a:xfrm>
            <a:off x="366765" y="1521760"/>
            <a:ext cx="8410470" cy="1211391"/>
          </a:xfrm>
          <a:prstGeom prst="roundRect">
            <a:avLst>
              <a:gd name="adj" fmla="val 50000"/>
            </a:avLst>
          </a:prstGeom>
          <a:solidFill>
            <a:srgbClr val="2190BC"/>
          </a:solidFill>
          <a:effectLst>
            <a:innerShdw blurRad="381000" dist="63500" dir="1200000">
              <a:prstClr val="black">
                <a:alpha val="70000"/>
              </a:prstClr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The following are the types of constructors commonly used in </a:t>
            </a:r>
            <a:r>
              <a:rPr lang="en-US" sz="2400" dirty="0" err="1">
                <a:solidFill>
                  <a:sysClr val="windowText" lastClr="000000"/>
                </a:solidFill>
                <a:latin typeface="Bahnschrift" panose="020B0502040204020203" pitchFamily="34" charset="0"/>
              </a:rPr>
              <a:t>JButton</a:t>
            </a:r>
            <a:r>
              <a:rPr lang="en-US" sz="24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Class:</a:t>
            </a:r>
          </a:p>
        </p:txBody>
      </p:sp>
    </p:spTree>
    <p:extLst>
      <p:ext uri="{BB962C8B-B14F-4D97-AF65-F5344CB8AC3E}">
        <p14:creationId xmlns:p14="http://schemas.microsoft.com/office/powerpoint/2010/main" val="322670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err="1"/>
              <a:t>JRadioButton</a:t>
            </a:r>
            <a:r>
              <a:rPr lang="en-IN" b="1" dirty="0"/>
              <a:t> Class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37879" y="1459655"/>
            <a:ext cx="8488003" cy="4812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We use the </a:t>
            </a:r>
            <a:r>
              <a:rPr lang="en-US" sz="2600" dirty="0" err="1">
                <a:solidFill>
                  <a:srgbClr val="273239"/>
                </a:solidFill>
                <a:latin typeface="Bahnschrift" panose="020B0502040204020203" pitchFamily="34" charset="0"/>
              </a:rPr>
              <a:t>JRadioButton</a:t>
            </a: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 class to create a radio button.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Radio button is used to select one option from multiple options.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We add radio buttons to a </a:t>
            </a:r>
            <a:r>
              <a:rPr lang="en-US" sz="2600" dirty="0" err="1">
                <a:solidFill>
                  <a:srgbClr val="273239"/>
                </a:solidFill>
                <a:latin typeface="Bahnschrift" panose="020B0502040204020203" pitchFamily="34" charset="0"/>
              </a:rPr>
              <a:t>ButtonGroup</a:t>
            </a: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 so that we can select only one radio button at a time. 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We use the "</a:t>
            </a:r>
            <a:r>
              <a:rPr lang="en-US" sz="2600" dirty="0" err="1">
                <a:solidFill>
                  <a:srgbClr val="273239"/>
                </a:solidFill>
                <a:latin typeface="Bahnschrift" panose="020B0502040204020203" pitchFamily="34" charset="0"/>
              </a:rPr>
              <a:t>ButtonGroup</a:t>
            </a: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" class to create a </a:t>
            </a:r>
            <a:r>
              <a:rPr lang="en-US" sz="2600" dirty="0" err="1">
                <a:solidFill>
                  <a:srgbClr val="273239"/>
                </a:solidFill>
                <a:latin typeface="Bahnschrift" panose="020B0502040204020203" pitchFamily="34" charset="0"/>
              </a:rPr>
              <a:t>ButtonGroup</a:t>
            </a:r>
            <a:r>
              <a:rPr lang="en-US" sz="2600" dirty="0">
                <a:solidFill>
                  <a:srgbClr val="273239"/>
                </a:solidFill>
                <a:latin typeface="Bahnschrift" panose="020B0502040204020203" pitchFamily="34" charset="0"/>
              </a:rPr>
              <a:t> and add radio buttons to a group.</a:t>
            </a:r>
            <a:endParaRPr lang="en-IN" sz="2600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5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8167" y="1406769"/>
            <a:ext cx="7886700" cy="5265336"/>
          </a:xfrm>
        </p:spPr>
        <p:txBody>
          <a:bodyPr>
            <a:normAutofit fontScale="85000" lnSpcReduction="20000"/>
          </a:bodyPr>
          <a:lstStyle/>
          <a:p>
            <a:r>
              <a:rPr lang="en-US" sz="3100" b="1" dirty="0" err="1"/>
              <a:t>JRadioButton</a:t>
            </a:r>
            <a:r>
              <a:rPr lang="en-US" sz="3100" b="1" dirty="0"/>
              <a:t>() </a:t>
            </a:r>
          </a:p>
          <a:p>
            <a:pPr marL="0" indent="0">
              <a:buNone/>
            </a:pPr>
            <a:r>
              <a:rPr lang="en-US" sz="3100" b="1" dirty="0"/>
              <a:t>Example:</a:t>
            </a:r>
          </a:p>
          <a:p>
            <a:pPr marL="0" indent="0">
              <a:buNone/>
            </a:pPr>
            <a:r>
              <a:rPr lang="en-US" sz="3100" dirty="0" err="1"/>
              <a:t>JRadioButton</a:t>
            </a:r>
            <a:r>
              <a:rPr lang="en-US" sz="3100" dirty="0"/>
              <a:t> j1 = new </a:t>
            </a:r>
            <a:r>
              <a:rPr lang="en-US" sz="3100" dirty="0" err="1"/>
              <a:t>JRadioButton</a:t>
            </a:r>
            <a:r>
              <a:rPr lang="en-US" sz="3100" dirty="0"/>
              <a:t>()</a:t>
            </a:r>
          </a:p>
          <a:p>
            <a:r>
              <a:rPr lang="en-US" sz="2400" b="1" dirty="0" err="1">
                <a:solidFill>
                  <a:schemeClr val="bg1">
                    <a:lumMod val="85000"/>
                  </a:schemeClr>
                </a:solidFill>
              </a:rPr>
              <a:t>JButton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(String s)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JButton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b1 = new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JButton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("Button")</a:t>
            </a:r>
          </a:p>
          <a:p>
            <a:r>
              <a:rPr lang="en-US" sz="2400" b="1" dirty="0" err="1">
                <a:solidFill>
                  <a:schemeClr val="bg1">
                    <a:lumMod val="85000"/>
                  </a:schemeClr>
                </a:solidFill>
              </a:rPr>
              <a:t>JLabel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(String s)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JLabel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L = new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JLabel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("Label 1")</a:t>
            </a:r>
            <a:endParaRPr lang="en-IN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 in </a:t>
            </a:r>
            <a:r>
              <a:rPr lang="en-IN" b="1" dirty="0" err="1"/>
              <a:t>JRadioButton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29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8167" y="1225899"/>
            <a:ext cx="7886700" cy="5536642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 err="1">
                <a:solidFill>
                  <a:schemeClr val="bg1">
                    <a:lumMod val="85000"/>
                  </a:schemeClr>
                </a:solidFill>
              </a:rPr>
              <a:t>JRadioButton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()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JRadioButton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 j1 = new </a:t>
            </a:r>
            <a:r>
              <a:rPr lang="en-US" sz="2400" dirty="0" err="1">
                <a:solidFill>
                  <a:schemeClr val="bg1">
                    <a:lumMod val="85000"/>
                  </a:schemeClr>
                </a:solidFill>
              </a:rPr>
              <a:t>JRadioButton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r>
              <a:rPr lang="en-US" sz="3100" b="1" dirty="0" err="1"/>
              <a:t>JButton</a:t>
            </a:r>
            <a:r>
              <a:rPr lang="en-US" sz="3100" b="1" dirty="0"/>
              <a:t>(String s)</a:t>
            </a:r>
          </a:p>
          <a:p>
            <a:pPr marL="0" indent="0">
              <a:buNone/>
            </a:pPr>
            <a:r>
              <a:rPr lang="en-US" sz="3100" b="1" dirty="0"/>
              <a:t>Example:</a:t>
            </a:r>
          </a:p>
          <a:p>
            <a:pPr marL="0" indent="0">
              <a:buNone/>
            </a:pPr>
            <a:r>
              <a:rPr lang="en-US" sz="3100" dirty="0" err="1"/>
              <a:t>JButton</a:t>
            </a:r>
            <a:r>
              <a:rPr lang="en-US" sz="3100" dirty="0"/>
              <a:t> b1 = new </a:t>
            </a:r>
            <a:r>
              <a:rPr lang="en-US" sz="3100" dirty="0" err="1"/>
              <a:t>JButton</a:t>
            </a:r>
            <a:r>
              <a:rPr lang="en-US" sz="3100" dirty="0"/>
              <a:t>("Button")</a:t>
            </a:r>
          </a:p>
          <a:p>
            <a:r>
              <a:rPr lang="en-US" sz="2400" b="1" dirty="0" err="1">
                <a:solidFill>
                  <a:schemeClr val="bg1">
                    <a:lumMod val="85000"/>
                  </a:schemeClr>
                </a:solidFill>
              </a:rPr>
              <a:t>JLabel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(String s)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 err="1">
                <a:solidFill>
                  <a:schemeClr val="bg1">
                    <a:lumMod val="85000"/>
                  </a:schemeClr>
                </a:solidFill>
              </a:rPr>
              <a:t>JLabel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 L = new </a:t>
            </a:r>
            <a:r>
              <a:rPr lang="en-US" sz="2400" b="1" dirty="0" err="1">
                <a:solidFill>
                  <a:schemeClr val="bg1">
                    <a:lumMod val="85000"/>
                  </a:schemeClr>
                </a:solidFill>
              </a:rPr>
              <a:t>JLabel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("Label 1")</a:t>
            </a:r>
            <a:endParaRPr lang="en-IN" sz="24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 in </a:t>
            </a:r>
            <a:r>
              <a:rPr lang="en-IN" b="1" dirty="0" err="1"/>
              <a:t>JRadioButton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7324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8167" y="1527661"/>
            <a:ext cx="7886700" cy="5004884"/>
          </a:xfrm>
        </p:spPr>
        <p:txBody>
          <a:bodyPr>
            <a:normAutofit fontScale="70000" lnSpcReduction="20000"/>
          </a:bodyPr>
          <a:lstStyle/>
          <a:p>
            <a:r>
              <a:rPr lang="en-US" sz="2600" b="1" dirty="0" err="1">
                <a:solidFill>
                  <a:schemeClr val="bg1">
                    <a:lumMod val="85000"/>
                  </a:schemeClr>
                </a:solidFill>
              </a:rPr>
              <a:t>JRadioButton</a:t>
            </a:r>
            <a:r>
              <a:rPr lang="en-US" sz="2600" b="1" dirty="0">
                <a:solidFill>
                  <a:schemeClr val="bg1">
                    <a:lumMod val="85000"/>
                  </a:schemeClr>
                </a:solidFill>
              </a:rPr>
              <a:t>() 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8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600" dirty="0" err="1">
                <a:solidFill>
                  <a:schemeClr val="bg1">
                    <a:lumMod val="85000"/>
                  </a:schemeClr>
                </a:solidFill>
              </a:rPr>
              <a:t>JRadioButton</a:t>
            </a:r>
            <a:r>
              <a:rPr lang="en-US" sz="2600" dirty="0">
                <a:solidFill>
                  <a:schemeClr val="bg1">
                    <a:lumMod val="85000"/>
                  </a:schemeClr>
                </a:solidFill>
              </a:rPr>
              <a:t> j1 = new </a:t>
            </a:r>
            <a:r>
              <a:rPr lang="en-US" sz="2600" dirty="0" err="1">
                <a:solidFill>
                  <a:schemeClr val="bg1">
                    <a:lumMod val="85000"/>
                  </a:schemeClr>
                </a:solidFill>
              </a:rPr>
              <a:t>JRadioButton</a:t>
            </a:r>
            <a:r>
              <a:rPr lang="en-US" sz="2600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r>
              <a:rPr lang="en-US" sz="2600" b="1" dirty="0" err="1">
                <a:solidFill>
                  <a:schemeClr val="bg1">
                    <a:lumMod val="85000"/>
                  </a:schemeClr>
                </a:solidFill>
              </a:rPr>
              <a:t>JButton</a:t>
            </a:r>
            <a:r>
              <a:rPr lang="en-US" sz="2600" b="1" dirty="0">
                <a:solidFill>
                  <a:schemeClr val="bg1">
                    <a:lumMod val="85000"/>
                  </a:schemeClr>
                </a:solidFill>
              </a:rPr>
              <a:t>(String s)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bg1">
                    <a:lumMod val="8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600" dirty="0" err="1">
                <a:solidFill>
                  <a:schemeClr val="bg1">
                    <a:lumMod val="85000"/>
                  </a:schemeClr>
                </a:solidFill>
              </a:rPr>
              <a:t>JButton</a:t>
            </a:r>
            <a:r>
              <a:rPr lang="en-US" sz="2600" dirty="0">
                <a:solidFill>
                  <a:schemeClr val="bg1">
                    <a:lumMod val="85000"/>
                  </a:schemeClr>
                </a:solidFill>
              </a:rPr>
              <a:t> b1 = new </a:t>
            </a:r>
            <a:r>
              <a:rPr lang="en-US" sz="2600" dirty="0" err="1">
                <a:solidFill>
                  <a:schemeClr val="bg1">
                    <a:lumMod val="85000"/>
                  </a:schemeClr>
                </a:solidFill>
              </a:rPr>
              <a:t>JButton</a:t>
            </a:r>
            <a:r>
              <a:rPr lang="en-US" sz="2600" dirty="0">
                <a:solidFill>
                  <a:schemeClr val="bg1">
                    <a:lumMod val="85000"/>
                  </a:schemeClr>
                </a:solidFill>
              </a:rPr>
              <a:t>("Button")</a:t>
            </a:r>
          </a:p>
          <a:p>
            <a:r>
              <a:rPr lang="en-US" sz="3700" b="1" dirty="0" err="1"/>
              <a:t>JLabel</a:t>
            </a:r>
            <a:r>
              <a:rPr lang="en-US" sz="3700" b="1" dirty="0"/>
              <a:t>(String s) </a:t>
            </a:r>
          </a:p>
          <a:p>
            <a:pPr marL="0" indent="0">
              <a:buNone/>
            </a:pPr>
            <a:r>
              <a:rPr lang="en-US" sz="3700" b="1" dirty="0"/>
              <a:t>Example:</a:t>
            </a:r>
          </a:p>
          <a:p>
            <a:pPr marL="0" indent="0">
              <a:buNone/>
            </a:pPr>
            <a:r>
              <a:rPr lang="en-US" sz="3700" dirty="0" err="1"/>
              <a:t>JLabel</a:t>
            </a:r>
            <a:r>
              <a:rPr lang="en-US" sz="3700" dirty="0"/>
              <a:t> L = new </a:t>
            </a:r>
            <a:r>
              <a:rPr lang="en-US" sz="3700" dirty="0" err="1"/>
              <a:t>JLabel</a:t>
            </a:r>
            <a:r>
              <a:rPr lang="en-US" sz="3700" dirty="0"/>
              <a:t>("Label 1")</a:t>
            </a:r>
            <a:endParaRPr lang="en-IN" sz="3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 in </a:t>
            </a:r>
            <a:r>
              <a:rPr lang="en-IN" b="1" dirty="0" err="1"/>
              <a:t>JRadioButton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80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0413" y="1487468"/>
            <a:ext cx="8063174" cy="500488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b="1" dirty="0" err="1"/>
              <a:t>ButtonGroup</a:t>
            </a:r>
            <a:r>
              <a:rPr lang="en-US" sz="2600" b="1" dirty="0"/>
              <a:t>() </a:t>
            </a:r>
          </a:p>
          <a:p>
            <a:pPr algn="just"/>
            <a:r>
              <a:rPr lang="en-US" sz="2600" dirty="0"/>
              <a:t>Steps to Group the radio buttons together.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/>
              <a:t>Create a </a:t>
            </a:r>
            <a:r>
              <a:rPr lang="en-US" sz="2200" dirty="0" err="1"/>
              <a:t>ButtonGroup</a:t>
            </a:r>
            <a:r>
              <a:rPr lang="en-US" sz="2200" dirty="0"/>
              <a:t> instance by using “</a:t>
            </a:r>
            <a:r>
              <a:rPr lang="en-US" sz="2200" dirty="0" err="1"/>
              <a:t>ButtonGroup</a:t>
            </a:r>
            <a:r>
              <a:rPr lang="en-US" sz="2200" dirty="0"/>
              <a:t>()” Method.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 err="1"/>
              <a:t>ButtonGroup</a:t>
            </a:r>
            <a:r>
              <a:rPr lang="en-US" sz="2200" dirty="0"/>
              <a:t> G = new </a:t>
            </a:r>
            <a:r>
              <a:rPr lang="en-US" sz="2200" dirty="0" err="1"/>
              <a:t>ButtonGroup</a:t>
            </a:r>
            <a:r>
              <a:rPr lang="en-US" sz="2200" dirty="0"/>
              <a:t>()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/>
              <a:t>Now add buttons in a Group “G”, with the help of “add()” Method.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 in </a:t>
            </a:r>
            <a:r>
              <a:rPr lang="en-IN" b="1" dirty="0" err="1"/>
              <a:t>JRadioButton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5750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0413" y="1487468"/>
            <a:ext cx="8063174" cy="500488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b="1" dirty="0" err="1"/>
              <a:t>ButtonGroup</a:t>
            </a:r>
            <a:r>
              <a:rPr lang="en-US" sz="2600" b="1" dirty="0"/>
              <a:t>() </a:t>
            </a:r>
          </a:p>
          <a:p>
            <a:pPr marL="0" indent="0" algn="just">
              <a:buNone/>
            </a:pPr>
            <a:r>
              <a:rPr lang="en-US" sz="2600" b="1" dirty="0"/>
              <a:t>Example:</a:t>
            </a:r>
          </a:p>
          <a:p>
            <a:pPr marL="0" indent="0" algn="just">
              <a:buNone/>
            </a:pPr>
            <a:r>
              <a:rPr lang="en-US" sz="2600" dirty="0" err="1"/>
              <a:t>G.add</a:t>
            </a:r>
            <a:r>
              <a:rPr lang="en-US" sz="2600" dirty="0"/>
              <a:t>(Button1);</a:t>
            </a:r>
          </a:p>
          <a:p>
            <a:pPr marL="0" indent="0" algn="just">
              <a:buNone/>
            </a:pPr>
            <a:r>
              <a:rPr lang="en-US" sz="2600" dirty="0" err="1"/>
              <a:t>G.add</a:t>
            </a:r>
            <a:r>
              <a:rPr lang="en-US" sz="2600" dirty="0"/>
              <a:t>(Button2);</a:t>
            </a:r>
            <a:endParaRPr lang="en-IN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 in </a:t>
            </a:r>
            <a:r>
              <a:rPr lang="en-IN" b="1" dirty="0" err="1"/>
              <a:t>JRadioButton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79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46963"/>
            <a:ext cx="8514235" cy="518606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 err="1"/>
              <a:t>isSelected</a:t>
            </a:r>
            <a:r>
              <a:rPr lang="en-US" b="1" dirty="0"/>
              <a:t>() </a:t>
            </a:r>
          </a:p>
          <a:p>
            <a:pPr marL="0" indent="0" algn="just">
              <a:buNone/>
            </a:pPr>
            <a:r>
              <a:rPr lang="en-US" b="1" dirty="0"/>
              <a:t>Example:</a:t>
            </a:r>
          </a:p>
          <a:p>
            <a:pPr marL="0" indent="0" algn="just">
              <a:buNone/>
            </a:pPr>
            <a:r>
              <a:rPr lang="en-US" dirty="0" err="1"/>
              <a:t>JRadioButton.isSelected</a:t>
            </a:r>
            <a:r>
              <a:rPr lang="en-US" dirty="0"/>
              <a:t>()</a:t>
            </a:r>
          </a:p>
          <a:p>
            <a:pPr algn="just"/>
            <a:r>
              <a:rPr lang="en-US" dirty="0"/>
              <a:t>Set(…) and Get(…) Methods :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1028700" lvl="1" indent="-571500" algn="just">
              <a:buFont typeface="+mj-lt"/>
              <a:buAutoNum type="romanL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Set and get are used to replace directly accessing member variables from external classes.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Instead of accessing class member variables directly, you define get methods to access these variables, and set methods to modify them.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 in </a:t>
            </a:r>
            <a:r>
              <a:rPr lang="en-IN" b="1" dirty="0" err="1"/>
              <a:t>JRadioButton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74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46963"/>
            <a:ext cx="8514235" cy="518606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err="1"/>
              <a:t>isSelected</a:t>
            </a:r>
            <a:r>
              <a:rPr lang="en-US" b="1" dirty="0"/>
              <a:t>() </a:t>
            </a:r>
          </a:p>
          <a:p>
            <a:pPr marL="0" indent="0" algn="just">
              <a:buNone/>
            </a:pPr>
            <a:r>
              <a:rPr lang="en-US" sz="1900" b="1" dirty="0">
                <a:solidFill>
                  <a:schemeClr val="bg1">
                    <a:lumMod val="85000"/>
                  </a:schemeClr>
                </a:solidFill>
              </a:rPr>
              <a:t>Example:</a:t>
            </a:r>
          </a:p>
          <a:p>
            <a:pPr marL="0" indent="0" algn="just">
              <a:buNone/>
            </a:pPr>
            <a:r>
              <a:rPr lang="en-US" sz="1900" dirty="0" err="1">
                <a:solidFill>
                  <a:schemeClr val="bg1">
                    <a:lumMod val="85000"/>
                  </a:schemeClr>
                </a:solidFill>
              </a:rPr>
              <a:t>JRadioButton.isSelected</a:t>
            </a:r>
            <a:r>
              <a:rPr lang="en-US" sz="1900" dirty="0">
                <a:solidFill>
                  <a:schemeClr val="bg1">
                    <a:lumMod val="85000"/>
                  </a:schemeClr>
                </a:solidFill>
              </a:rPr>
              <a:t>()</a:t>
            </a:r>
          </a:p>
          <a:p>
            <a:pPr algn="just"/>
            <a:r>
              <a:rPr lang="en-US" dirty="0"/>
              <a:t>Set(…) and Get(…) Methods :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US" dirty="0"/>
              <a:t>Set and get are used to replace directly accessing member variables from external classes.</a:t>
            </a:r>
          </a:p>
          <a:p>
            <a:pPr marL="1028700" lvl="1" indent="-571500" algn="just">
              <a:buFont typeface="+mj-lt"/>
              <a:buAutoNum type="romanLcPeriod"/>
            </a:pPr>
            <a:r>
              <a:rPr lang="en-US" dirty="0"/>
              <a:t>Instead of accessing class member variables directly, you define get methods to access these variables, and set methods to modify them.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Methods Used in </a:t>
            </a:r>
            <a:r>
              <a:rPr lang="en-IN" b="1" dirty="0" err="1"/>
              <a:t>JRadioButton</a:t>
            </a:r>
            <a:r>
              <a:rPr lang="en-IN" b="1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822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547758"/>
            <a:ext cx="7886700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700" dirty="0"/>
              <a:t>The </a:t>
            </a:r>
            <a:r>
              <a:rPr lang="en-US" sz="2700" dirty="0" err="1"/>
              <a:t>RadioButton</a:t>
            </a:r>
            <a:r>
              <a:rPr lang="en-US" sz="2700" dirty="0"/>
              <a:t> class can be implemented by one of the following: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700" dirty="0"/>
              <a:t>Using </a:t>
            </a:r>
            <a:r>
              <a:rPr lang="en-US" sz="2700" dirty="0" err="1"/>
              <a:t>ActionListener</a:t>
            </a:r>
            <a:endParaRPr lang="en-US" sz="27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700" dirty="0"/>
              <a:t>Without using </a:t>
            </a:r>
            <a:r>
              <a:rPr lang="en-US" sz="2700" dirty="0" err="1"/>
              <a:t>ActionListener</a:t>
            </a:r>
            <a:r>
              <a:rPr lang="en-US" sz="2700" dirty="0"/>
              <a:t>.</a:t>
            </a:r>
            <a:endParaRPr lang="en-IN" sz="2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</a:t>
            </a:r>
            <a:r>
              <a:rPr lang="en-US" dirty="0" err="1"/>
              <a:t>RadioButton</a:t>
            </a:r>
            <a:r>
              <a:rPr lang="en-US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56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per">
    <a:dk1>
      <a:sysClr val="windowText" lastClr="000000"/>
    </a:dk1>
    <a:lt1>
      <a:sysClr val="window" lastClr="FFFFFF"/>
    </a:lt1>
    <a:dk2>
      <a:srgbClr val="444D26"/>
    </a:dk2>
    <a:lt2>
      <a:srgbClr val="FEFAC9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8E58B6"/>
    </a:hlink>
    <a:folHlink>
      <a:srgbClr val="7F6F6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2154</TotalTime>
  <Words>545</Words>
  <Application>Microsoft Office PowerPoint</Application>
  <PresentationFormat>On-screen Show (4:3)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Bahnschrift</vt:lpstr>
      <vt:lpstr>Bahnschrift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JButton class</vt:lpstr>
      <vt:lpstr>JButton class</vt:lpstr>
      <vt:lpstr>Declaration JButton class</vt:lpstr>
      <vt:lpstr>Commonly used Constructors</vt:lpstr>
      <vt:lpstr>JRadioButton Class</vt:lpstr>
      <vt:lpstr>Methods Used in JRadioButton </vt:lpstr>
      <vt:lpstr>Methods Used in JRadioButton </vt:lpstr>
      <vt:lpstr>Methods Used in JRadioButton </vt:lpstr>
      <vt:lpstr>Methods Used in JRadioButton </vt:lpstr>
      <vt:lpstr>Methods Used in JRadioButton </vt:lpstr>
      <vt:lpstr>Methods Used in JRadioButton </vt:lpstr>
      <vt:lpstr>Methods Used in JRadioButton </vt:lpstr>
      <vt:lpstr>Implementation of RadioButton Class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156</cp:revision>
  <dcterms:created xsi:type="dcterms:W3CDTF">2021-05-13T17:45:44Z</dcterms:created>
  <dcterms:modified xsi:type="dcterms:W3CDTF">2021-07-26T06:35:11Z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349058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