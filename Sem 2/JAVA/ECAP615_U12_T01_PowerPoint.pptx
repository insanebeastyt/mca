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66" r:id="rId2"/>
    <p:sldId id="261" r:id="rId3"/>
    <p:sldId id="286" r:id="rId4"/>
    <p:sldId id="287" r:id="rId5"/>
    <p:sldId id="296" r:id="rId6"/>
    <p:sldId id="288" r:id="rId7"/>
    <p:sldId id="297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08-09-2021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5" b="12869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name="connsiteX0" fmla="*/ 0 w 7837786"/>
              <a:gd name="connsiteY0" fmla="*/ 0 h 5311532"/>
              <a:gd name="connsiteX1" fmla="*/ 7837786 w 7837786"/>
              <a:gd name="connsiteY1" fmla="*/ 0 h 5311532"/>
              <a:gd name="connsiteX2" fmla="*/ 7837786 w 7837786"/>
              <a:gd name="connsiteY2" fmla="*/ 5311532 h 5311532"/>
              <a:gd name="connsiteX3" fmla="*/ 0 w 7837786"/>
              <a:gd name="connsiteY3" fmla="*/ 5311532 h 531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7786" h="5311532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45" hidden="1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5" y="2991370"/>
              <a:ext cx="6857455" cy="874715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name="connsiteX0" fmla="*/ 0 w 9144000"/>
              <a:gd name="connsiteY0" fmla="*/ 0 h 3704595"/>
              <a:gd name="connsiteX1" fmla="*/ 9144000 w 9144000"/>
              <a:gd name="connsiteY1" fmla="*/ 0 h 3704595"/>
              <a:gd name="connsiteX2" fmla="*/ 9144000 w 9144000"/>
              <a:gd name="connsiteY2" fmla="*/ 3704595 h 3704595"/>
              <a:gd name="connsiteX3" fmla="*/ 8983376 w 9144000"/>
              <a:gd name="connsiteY3" fmla="*/ 3589931 h 3704595"/>
              <a:gd name="connsiteX4" fmla="*/ 4191907 w 9144000"/>
              <a:gd name="connsiteY4" fmla="*/ 2322286 h 3704595"/>
              <a:gd name="connsiteX5" fmla="*/ 16852 w 9144000"/>
              <a:gd name="connsiteY5" fmla="*/ 3227218 h 3704595"/>
              <a:gd name="connsiteX6" fmla="*/ 0 w 9144000"/>
              <a:gd name="connsiteY6" fmla="*/ 3236231 h 370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3704595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name="connsiteX0" fmla="*/ 7117835 w 9280687"/>
              <a:gd name="connsiteY0" fmla="*/ 125922 h 1183170"/>
              <a:gd name="connsiteX1" fmla="*/ 9073490 w 9280687"/>
              <a:gd name="connsiteY1" fmla="*/ 581620 h 1183170"/>
              <a:gd name="connsiteX2" fmla="*/ 9280687 w 9280687"/>
              <a:gd name="connsiteY2" fmla="*/ 666400 h 1183170"/>
              <a:gd name="connsiteX3" fmla="*/ 9205783 w 9280687"/>
              <a:gd name="connsiteY3" fmla="*/ 1183170 h 1183170"/>
              <a:gd name="connsiteX4" fmla="*/ 9165483 w 9280687"/>
              <a:gd name="connsiteY4" fmla="*/ 1165010 h 1183170"/>
              <a:gd name="connsiteX5" fmla="*/ 4283728 w 9280687"/>
              <a:gd name="connsiteY5" fmla="*/ 365188 h 1183170"/>
              <a:gd name="connsiteX6" fmla="*/ 162127 w 9280687"/>
              <a:gd name="connsiteY6" fmla="*/ 898131 h 1183170"/>
              <a:gd name="connsiteX7" fmla="*/ 0 w 9280687"/>
              <a:gd name="connsiteY7" fmla="*/ 950170 h 1183170"/>
              <a:gd name="connsiteX8" fmla="*/ 17697 w 9280687"/>
              <a:gd name="connsiteY8" fmla="*/ 828077 h 1183170"/>
              <a:gd name="connsiteX9" fmla="*/ 98649 w 9280687"/>
              <a:gd name="connsiteY9" fmla="*/ 796677 h 1183170"/>
              <a:gd name="connsiteX10" fmla="*/ 4021814 w 9280687"/>
              <a:gd name="connsiteY10" fmla="*/ 35922 h 1183170"/>
              <a:gd name="connsiteX11" fmla="*/ 7117835 w 9280687"/>
              <a:gd name="connsiteY11" fmla="*/ 125922 h 118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0687" h="1183170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name="connsiteX0" fmla="*/ 6609653 w 9200885"/>
              <a:gd name="connsiteY0" fmla="*/ 47138 h 1113415"/>
              <a:gd name="connsiteX1" fmla="*/ 8863252 w 9200885"/>
              <a:gd name="connsiteY1" fmla="*/ 389400 h 1113415"/>
              <a:gd name="connsiteX2" fmla="*/ 9200885 w 9200885"/>
              <a:gd name="connsiteY2" fmla="*/ 482520 h 1113415"/>
              <a:gd name="connsiteX3" fmla="*/ 9155976 w 9200885"/>
              <a:gd name="connsiteY3" fmla="*/ 1113415 h 1113415"/>
              <a:gd name="connsiteX4" fmla="*/ 9122823 w 9200885"/>
              <a:gd name="connsiteY4" fmla="*/ 1102198 h 1113415"/>
              <a:gd name="connsiteX5" fmla="*/ 4303428 w 9200885"/>
              <a:gd name="connsiteY5" fmla="*/ 450385 h 1113415"/>
              <a:gd name="connsiteX6" fmla="*/ 394253 w 9200885"/>
              <a:gd name="connsiteY6" fmla="*/ 859171 h 1113415"/>
              <a:gd name="connsiteX7" fmla="*/ 0 w 9200885"/>
              <a:gd name="connsiteY7" fmla="*/ 956611 h 1113415"/>
              <a:gd name="connsiteX8" fmla="*/ 13469 w 9200885"/>
              <a:gd name="connsiteY8" fmla="*/ 767406 h 1113415"/>
              <a:gd name="connsiteX9" fmla="*/ 273245 w 9200885"/>
              <a:gd name="connsiteY9" fmla="*/ 685196 h 1113415"/>
              <a:gd name="connsiteX10" fmla="*/ 3996058 w 9200885"/>
              <a:gd name="connsiteY10" fmla="*/ 44303 h 1113415"/>
              <a:gd name="connsiteX11" fmla="*/ 6609653 w 9200885"/>
              <a:gd name="connsiteY11" fmla="*/ 47138 h 111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00885" h="111341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name="connsiteX0" fmla="*/ 5794348 w 9169155"/>
              <a:gd name="connsiteY0" fmla="*/ 47138 h 1398953"/>
              <a:gd name="connsiteX1" fmla="*/ 9109159 w 9169155"/>
              <a:gd name="connsiteY1" fmla="*/ 717310 h 1398953"/>
              <a:gd name="connsiteX2" fmla="*/ 9169155 w 9169155"/>
              <a:gd name="connsiteY2" fmla="*/ 743109 h 1398953"/>
              <a:gd name="connsiteX3" fmla="*/ 9122470 w 9169155"/>
              <a:gd name="connsiteY3" fmla="*/ 1398953 h 1398953"/>
              <a:gd name="connsiteX4" fmla="*/ 8780907 w 9169155"/>
              <a:gd name="connsiteY4" fmla="*/ 1262360 h 1398953"/>
              <a:gd name="connsiteX5" fmla="*/ 3488123 w 9169155"/>
              <a:gd name="connsiteY5" fmla="*/ 450385 h 1398953"/>
              <a:gd name="connsiteX6" fmla="*/ 79793 w 9169155"/>
              <a:gd name="connsiteY6" fmla="*/ 754823 h 1398953"/>
              <a:gd name="connsiteX7" fmla="*/ 0 w 9169155"/>
              <a:gd name="connsiteY7" fmla="*/ 771447 h 1398953"/>
              <a:gd name="connsiteX8" fmla="*/ 16951 w 9169155"/>
              <a:gd name="connsiteY8" fmla="*/ 533313 h 1398953"/>
              <a:gd name="connsiteX9" fmla="*/ 430535 w 9169155"/>
              <a:gd name="connsiteY9" fmla="*/ 433765 h 1398953"/>
              <a:gd name="connsiteX10" fmla="*/ 3180753 w 9169155"/>
              <a:gd name="connsiteY10" fmla="*/ 44303 h 1398953"/>
              <a:gd name="connsiteX11" fmla="*/ 5794348 w 9169155"/>
              <a:gd name="connsiteY11" fmla="*/ 47138 h 1398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69155" h="1398953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name="connsiteX0" fmla="*/ 5304048 w 9146481"/>
              <a:gd name="connsiteY0" fmla="*/ 47138 h 1652513"/>
              <a:gd name="connsiteX1" fmla="*/ 9003437 w 9146481"/>
              <a:gd name="connsiteY1" fmla="*/ 913405 h 1652513"/>
              <a:gd name="connsiteX2" fmla="*/ 9146481 w 9146481"/>
              <a:gd name="connsiteY2" fmla="*/ 991895 h 1652513"/>
              <a:gd name="connsiteX3" fmla="*/ 9099457 w 9146481"/>
              <a:gd name="connsiteY3" fmla="*/ 1652513 h 1652513"/>
              <a:gd name="connsiteX4" fmla="*/ 9050932 w 9146481"/>
              <a:gd name="connsiteY4" fmla="*/ 1624567 h 1652513"/>
              <a:gd name="connsiteX5" fmla="*/ 3041522 w 9146481"/>
              <a:gd name="connsiteY5" fmla="*/ 450385 h 1652513"/>
              <a:gd name="connsiteX6" fmla="*/ 210937 w 9146481"/>
              <a:gd name="connsiteY6" fmla="*/ 664651 h 1652513"/>
              <a:gd name="connsiteX7" fmla="*/ 0 w 9146481"/>
              <a:gd name="connsiteY7" fmla="*/ 701716 h 1652513"/>
              <a:gd name="connsiteX8" fmla="*/ 18669 w 9146481"/>
              <a:gd name="connsiteY8" fmla="*/ 439457 h 1652513"/>
              <a:gd name="connsiteX9" fmla="*/ 41869 w 9146481"/>
              <a:gd name="connsiteY9" fmla="*/ 433765 h 1652513"/>
              <a:gd name="connsiteX10" fmla="*/ 2739976 w 9146481"/>
              <a:gd name="connsiteY10" fmla="*/ 44302 h 1652513"/>
              <a:gd name="connsiteX11" fmla="*/ 5304048 w 9146481"/>
              <a:gd name="connsiteY11" fmla="*/ 47138 h 1652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46481" h="1652513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name="connsiteX0" fmla="*/ 0 w 9144000"/>
              <a:gd name="connsiteY0" fmla="*/ 0 h 3704595"/>
              <a:gd name="connsiteX1" fmla="*/ 9144000 w 9144000"/>
              <a:gd name="connsiteY1" fmla="*/ 0 h 3704595"/>
              <a:gd name="connsiteX2" fmla="*/ 9144000 w 9144000"/>
              <a:gd name="connsiteY2" fmla="*/ 3704595 h 3704595"/>
              <a:gd name="connsiteX3" fmla="*/ 8983376 w 9144000"/>
              <a:gd name="connsiteY3" fmla="*/ 3589931 h 3704595"/>
              <a:gd name="connsiteX4" fmla="*/ 4191907 w 9144000"/>
              <a:gd name="connsiteY4" fmla="*/ 2322286 h 3704595"/>
              <a:gd name="connsiteX5" fmla="*/ 16852 w 9144000"/>
              <a:gd name="connsiteY5" fmla="*/ 3227218 h 3704595"/>
              <a:gd name="connsiteX6" fmla="*/ 0 w 9144000"/>
              <a:gd name="connsiteY6" fmla="*/ 3236231 h 370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3704595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name="adj" fmla="val 6911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400" dirty="0">
                <a:latin typeface="Bahnschrift SemiBold" panose="020B0502040204020203" pitchFamily="34" charset="0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name="adj" fmla="val 6911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/>
            <a:r>
              <a:rPr lang="en-US" sz="36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Bahnschrift SemiBold" panose="020B0502040204020203" pitchFamily="34" charset="0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Bahnschrift SemiBold" panose="020B0502040204020203" pitchFamily="34" charset="0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rot="5873456" flipH="1">
              <a:off x="3446679" y="2789549"/>
              <a:ext cx="6937583" cy="1342731"/>
            </a:xfrm>
            <a:custGeom>
              <a:avLst/>
              <a:gdLst>
                <a:gd name="connsiteX0" fmla="*/ 6879256 w 6937583"/>
                <a:gd name="connsiteY0" fmla="*/ 1342731 h 1342731"/>
                <a:gd name="connsiteX1" fmla="*/ 6937583 w 6937583"/>
                <a:gd name="connsiteY1" fmla="*/ 756270 h 1342731"/>
                <a:gd name="connsiteX2" fmla="*/ 6776242 w 6937583"/>
                <a:gd name="connsiteY2" fmla="*/ 660056 h 1342731"/>
                <a:gd name="connsiteX3" fmla="*/ 5253407 w 6937583"/>
                <a:gd name="connsiteY3" fmla="*/ 142904 h 1342731"/>
                <a:gd name="connsiteX4" fmla="*/ 2842590 w 6937583"/>
                <a:gd name="connsiteY4" fmla="*/ 40766 h 1342731"/>
                <a:gd name="connsiteX5" fmla="*/ 108649 w 6937583"/>
                <a:gd name="connsiteY5" fmla="*/ 745329 h 1342731"/>
                <a:gd name="connsiteX6" fmla="*/ 23118 w 6937583"/>
                <a:gd name="connsiteY6" fmla="*/ 787644 h 1342731"/>
                <a:gd name="connsiteX7" fmla="*/ 0 w 6937583"/>
                <a:gd name="connsiteY7" fmla="*/ 954439 h 1342731"/>
                <a:gd name="connsiteX8" fmla="*/ 174961 w 6937583"/>
                <a:gd name="connsiteY8" fmla="*/ 884819 h 1342731"/>
                <a:gd name="connsiteX9" fmla="*/ 3046538 w 6937583"/>
                <a:gd name="connsiteY9" fmla="*/ 414437 h 1342731"/>
                <a:gd name="connsiteX10" fmla="*/ 6847875 w 6937583"/>
                <a:gd name="connsiteY10" fmla="*/ 1322122 h 13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37583" h="1342731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rot="5644297" flipH="1">
              <a:off x="3030930" y="2720825"/>
              <a:ext cx="6885388" cy="1464384"/>
            </a:xfrm>
            <a:custGeom>
              <a:avLst/>
              <a:gdLst>
                <a:gd name="connsiteX0" fmla="*/ 6850410 w 6885388"/>
                <a:gd name="connsiteY0" fmla="*/ 1464384 h 1464384"/>
                <a:gd name="connsiteX1" fmla="*/ 6885388 w 6885388"/>
                <a:gd name="connsiteY1" fmla="*/ 634619 h 1464384"/>
                <a:gd name="connsiteX2" fmla="*/ 6622419 w 6885388"/>
                <a:gd name="connsiteY2" fmla="*/ 512146 h 1464384"/>
                <a:gd name="connsiteX3" fmla="*/ 4867180 w 6885388"/>
                <a:gd name="connsiteY3" fmla="*/ 61997 h 1464384"/>
                <a:gd name="connsiteX4" fmla="*/ 2831555 w 6885388"/>
                <a:gd name="connsiteY4" fmla="*/ 58268 h 1464384"/>
                <a:gd name="connsiteX5" fmla="*/ 255228 w 6885388"/>
                <a:gd name="connsiteY5" fmla="*/ 748625 h 1464384"/>
                <a:gd name="connsiteX6" fmla="*/ 20025 w 6885388"/>
                <a:gd name="connsiteY6" fmla="*/ 859638 h 1464384"/>
                <a:gd name="connsiteX7" fmla="*/ 0 w 6885388"/>
                <a:gd name="connsiteY7" fmla="*/ 1140954 h 1464384"/>
                <a:gd name="connsiteX8" fmla="*/ 26253 w 6885388"/>
                <a:gd name="connsiteY8" fmla="*/ 1129998 h 1464384"/>
                <a:gd name="connsiteX9" fmla="*/ 3070954 w 6885388"/>
                <a:gd name="connsiteY9" fmla="*/ 592355 h 1464384"/>
                <a:gd name="connsiteX10" fmla="*/ 6824588 w 6885388"/>
                <a:gd name="connsiteY10" fmla="*/ 1449631 h 146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5388" h="1464384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rot="5644297" flipH="1">
              <a:off x="2590707" y="2625942"/>
              <a:ext cx="6854129" cy="1627986"/>
            </a:xfrm>
            <a:custGeom>
              <a:avLst/>
              <a:gdLst>
                <a:gd name="connsiteX0" fmla="*/ 6817768 w 6854129"/>
                <a:gd name="connsiteY0" fmla="*/ 1627986 h 1627986"/>
                <a:gd name="connsiteX1" fmla="*/ 6854129 w 6854129"/>
                <a:gd name="connsiteY1" fmla="*/ 864769 h 1627986"/>
                <a:gd name="connsiteX2" fmla="*/ 6807400 w 6854129"/>
                <a:gd name="connsiteY2" fmla="*/ 834746 h 1627986"/>
                <a:gd name="connsiteX3" fmla="*/ 4225626 w 6854129"/>
                <a:gd name="connsiteY3" fmla="*/ 54855 h 1627986"/>
                <a:gd name="connsiteX4" fmla="*/ 2190001 w 6854129"/>
                <a:gd name="connsiteY4" fmla="*/ 51556 h 1627986"/>
                <a:gd name="connsiteX5" fmla="*/ 47966 w 6854129"/>
                <a:gd name="connsiteY5" fmla="*/ 504780 h 1627986"/>
                <a:gd name="connsiteX6" fmla="*/ 21689 w 6854129"/>
                <a:gd name="connsiteY6" fmla="*/ 514230 h 1627986"/>
                <a:gd name="connsiteX7" fmla="*/ 0 w 6854129"/>
                <a:gd name="connsiteY7" fmla="*/ 818919 h 1627986"/>
                <a:gd name="connsiteX8" fmla="*/ 78792 w 6854129"/>
                <a:gd name="connsiteY8" fmla="*/ 798109 h 1627986"/>
                <a:gd name="connsiteX9" fmla="*/ 2429400 w 6854129"/>
                <a:gd name="connsiteY9" fmla="*/ 524121 h 1627986"/>
                <a:gd name="connsiteX10" fmla="*/ 6551738 w 6854129"/>
                <a:gd name="connsiteY10" fmla="*/ 1469030 h 16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54129" h="1627986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rot="5644297" flipH="1">
              <a:off x="2248465" y="2473999"/>
              <a:ext cx="6831762" cy="1923058"/>
            </a:xfrm>
            <a:custGeom>
              <a:avLst/>
              <a:gdLst>
                <a:gd name="connsiteX0" fmla="*/ 6795137 w 6831762"/>
                <a:gd name="connsiteY0" fmla="*/ 1923058 h 1923058"/>
                <a:gd name="connsiteX1" fmla="*/ 6831762 w 6831762"/>
                <a:gd name="connsiteY1" fmla="*/ 1154285 h 1923058"/>
                <a:gd name="connsiteX2" fmla="*/ 6720350 w 6831762"/>
                <a:gd name="connsiteY2" fmla="*/ 1062945 h 1923058"/>
                <a:gd name="connsiteX3" fmla="*/ 3839043 w 6831762"/>
                <a:gd name="connsiteY3" fmla="*/ 54855 h 1923058"/>
                <a:gd name="connsiteX4" fmla="*/ 1841990 w 6831762"/>
                <a:gd name="connsiteY4" fmla="*/ 51555 h 1923058"/>
                <a:gd name="connsiteX5" fmla="*/ 236280 w 6831762"/>
                <a:gd name="connsiteY5" fmla="*/ 352053 h 1923058"/>
                <a:gd name="connsiteX6" fmla="*/ 23468 w 6831762"/>
                <a:gd name="connsiteY6" fmla="*/ 417617 h 1923058"/>
                <a:gd name="connsiteX7" fmla="*/ 0 w 6831762"/>
                <a:gd name="connsiteY7" fmla="*/ 747301 h 1923058"/>
                <a:gd name="connsiteX8" fmla="*/ 393597 w 6831762"/>
                <a:gd name="connsiteY8" fmla="*/ 666710 h 1923058"/>
                <a:gd name="connsiteX9" fmla="*/ 2076852 w 6831762"/>
                <a:gd name="connsiteY9" fmla="*/ 524121 h 1923058"/>
                <a:gd name="connsiteX10" fmla="*/ 6757342 w 6831762"/>
                <a:gd name="connsiteY10" fmla="*/ 1890536 h 1923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31762" h="1923058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746" y="2818150"/>
            <a:ext cx="7758604" cy="36987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understand the basic concepts of Statement Interface and </a:t>
            </a:r>
            <a:r>
              <a:rPr lang="en-US" dirty="0" err="1"/>
              <a:t>ResultSet</a:t>
            </a:r>
            <a:r>
              <a:rPr lang="en-US" dirty="0"/>
              <a:t> Interface</a:t>
            </a:r>
          </a:p>
          <a:p>
            <a:pPr algn="just"/>
            <a:r>
              <a:rPr lang="en-US" dirty="0"/>
              <a:t>implement Statement and </a:t>
            </a:r>
            <a:r>
              <a:rPr lang="en-US" dirty="0" err="1"/>
              <a:t>ResultSet</a:t>
            </a:r>
            <a:r>
              <a:rPr lang="en-US" dirty="0"/>
              <a:t> interface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2097" y="1518842"/>
            <a:ext cx="8099805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The </a:t>
            </a:r>
            <a:r>
              <a:rPr lang="en-US" sz="2600" b="1" dirty="0"/>
              <a:t>Statement interface</a:t>
            </a:r>
            <a:r>
              <a:rPr lang="en-US" sz="2600" dirty="0"/>
              <a:t> provides methods to execute queries with the database. </a:t>
            </a:r>
          </a:p>
          <a:p>
            <a:pPr algn="just"/>
            <a:r>
              <a:rPr lang="en-US" sz="2600" dirty="0"/>
              <a:t>The statement interface is a factory of </a:t>
            </a:r>
            <a:r>
              <a:rPr lang="en-US" sz="2600" dirty="0" err="1"/>
              <a:t>ResultSet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The Statement object executes a normal SQL statement to update or query the database. </a:t>
            </a:r>
          </a:p>
          <a:p>
            <a:pPr algn="just"/>
            <a:r>
              <a:rPr lang="en-US" sz="2600" dirty="0"/>
              <a:t>The java.sql.Statement interface is a part of JDBC API. </a:t>
            </a:r>
            <a:endParaRPr lang="en-IN" sz="26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Statement interface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4567" y="1512531"/>
            <a:ext cx="8094936" cy="500488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A Statement object sends the required SQL statement as a query and then returns a set of results. </a:t>
            </a:r>
          </a:p>
          <a:p>
            <a:pPr algn="just"/>
            <a:r>
              <a:rPr lang="en-US" dirty="0"/>
              <a:t>We can use the </a:t>
            </a:r>
            <a:r>
              <a:rPr lang="en-US" dirty="0" err="1"/>
              <a:t>createStatement</a:t>
            </a:r>
            <a:r>
              <a:rPr lang="en-US" dirty="0"/>
              <a:t>() method of the connection object to obtain Statement object. 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We can create multiple objects by using a single connection object.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 interface</a:t>
            </a:r>
          </a:p>
        </p:txBody>
      </p:sp>
    </p:spTree>
    <p:extLst>
      <p:ext uri="{BB962C8B-B14F-4D97-AF65-F5344CB8AC3E}">
        <p14:creationId xmlns:p14="http://schemas.microsoft.com/office/powerpoint/2010/main" val="348662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4567" y="1512531"/>
            <a:ext cx="7886700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method of the connection objects is used to retrieve a statement object:</a:t>
            </a:r>
          </a:p>
          <a:p>
            <a:pPr marL="0" indent="0" algn="just">
              <a:buNone/>
            </a:pPr>
            <a:r>
              <a:rPr lang="en-US" b="1" dirty="0" err="1"/>
              <a:t>CreateStatement</a:t>
            </a:r>
            <a:r>
              <a:rPr lang="en-US" b="1" dirty="0"/>
              <a:t>():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 interface</a:t>
            </a:r>
          </a:p>
        </p:txBody>
      </p:sp>
    </p:spTree>
    <p:extLst>
      <p:ext uri="{BB962C8B-B14F-4D97-AF65-F5344CB8AC3E}">
        <p14:creationId xmlns:p14="http://schemas.microsoft.com/office/powerpoint/2010/main" val="136460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4497" y="1530418"/>
            <a:ext cx="8235242" cy="5159140"/>
          </a:xfrm>
        </p:spPr>
        <p:txBody>
          <a:bodyPr>
            <a:normAutofit/>
          </a:bodyPr>
          <a:lstStyle/>
          <a:p>
            <a:pPr marL="514350" indent="-514350" algn="just">
              <a:buAutoNum type="arabicParenR"/>
            </a:pPr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execute(String </a:t>
            </a:r>
            <a:r>
              <a:rPr lang="en-US" dirty="0" err="1"/>
              <a:t>url</a:t>
            </a:r>
            <a:r>
              <a:rPr lang="en-US" dirty="0"/>
              <a:t>) </a:t>
            </a:r>
          </a:p>
          <a:p>
            <a:pPr marL="514350" indent="-514350" algn="just">
              <a:buAutoNum type="arabicParenR"/>
            </a:pPr>
            <a:r>
              <a:rPr lang="en-US" dirty="0"/>
              <a:t>public </a:t>
            </a:r>
            <a:r>
              <a:rPr lang="en-US" dirty="0" err="1"/>
              <a:t>ResultSet</a:t>
            </a:r>
            <a:r>
              <a:rPr lang="en-US" dirty="0"/>
              <a:t> </a:t>
            </a:r>
            <a:r>
              <a:rPr lang="en-US" dirty="0" err="1"/>
              <a:t>executeQuery</a:t>
            </a:r>
            <a:r>
              <a:rPr lang="en-US" dirty="0"/>
              <a:t>(String </a:t>
            </a:r>
            <a:r>
              <a:rPr lang="en-US" dirty="0" err="1"/>
              <a:t>url</a:t>
            </a:r>
            <a:r>
              <a:rPr lang="en-US" dirty="0"/>
              <a:t>) </a:t>
            </a:r>
          </a:p>
          <a:p>
            <a:pPr marL="514350" indent="-514350" algn="just">
              <a:buAutoNum type="arabicParenR"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executeUpdate</a:t>
            </a:r>
            <a:r>
              <a:rPr lang="en-US" dirty="0"/>
              <a:t>(String </a:t>
            </a:r>
            <a:r>
              <a:rPr lang="en-US" dirty="0" err="1"/>
              <a:t>url</a:t>
            </a:r>
            <a:r>
              <a:rPr lang="en-US" dirty="0"/>
              <a:t>) </a:t>
            </a:r>
          </a:p>
          <a:p>
            <a:pPr marL="514350" indent="-514350" algn="just">
              <a:buAutoNum type="arabicParenR"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executeBatch</a:t>
            </a:r>
            <a:r>
              <a:rPr lang="en-US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Statement Interface</a:t>
            </a:r>
          </a:p>
        </p:txBody>
      </p:sp>
    </p:spTree>
    <p:extLst>
      <p:ext uri="{BB962C8B-B14F-4D97-AF65-F5344CB8AC3E}">
        <p14:creationId xmlns:p14="http://schemas.microsoft.com/office/powerpoint/2010/main" val="350881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0814" y="1463041"/>
            <a:ext cx="8135118" cy="539495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object of </a:t>
            </a:r>
            <a:r>
              <a:rPr lang="en-US" dirty="0" err="1"/>
              <a:t>ResultSet</a:t>
            </a:r>
            <a:r>
              <a:rPr lang="en-US" dirty="0"/>
              <a:t> maintains a cursor pointing to a row of a table. </a:t>
            </a:r>
          </a:p>
          <a:p>
            <a:pPr algn="just"/>
            <a:r>
              <a:rPr lang="en-US" dirty="0"/>
              <a:t>Initially, cursor points to before the first row.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ResultSet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02484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9030" y="1325563"/>
            <a:ext cx="8536607" cy="5394959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But we can make this object to move forward and backward direction by passing either TYPE_SCROLL_INSENSITIVE or TYPE_SCROLL_SENSITIVE in </a:t>
            </a:r>
            <a:r>
              <a:rPr lang="en-US" sz="2400" dirty="0" err="1"/>
              <a:t>createStatement</a:t>
            </a:r>
            <a:r>
              <a:rPr lang="en-US" sz="2400" dirty="0"/>
              <a:t>(</a:t>
            </a:r>
            <a:r>
              <a:rPr lang="en-US" sz="2400" dirty="0" err="1"/>
              <a:t>int,int</a:t>
            </a:r>
            <a:r>
              <a:rPr lang="en-US" sz="2400" dirty="0"/>
              <a:t>) method as well as we can make this object as updatable by:</a:t>
            </a:r>
          </a:p>
          <a:p>
            <a:pPr marL="0" indent="0">
              <a:buNone/>
            </a:pPr>
            <a:r>
              <a:rPr lang="en-US" sz="2400" b="1" dirty="0"/>
              <a:t>Statement </a:t>
            </a:r>
            <a:r>
              <a:rPr lang="en-US" sz="2400" b="1" dirty="0" err="1"/>
              <a:t>stmt</a:t>
            </a:r>
            <a:r>
              <a:rPr lang="en-US" sz="2400" b="1" dirty="0"/>
              <a:t> = </a:t>
            </a:r>
            <a:r>
              <a:rPr lang="en-US" sz="2400" b="1" dirty="0" err="1"/>
              <a:t>con.createStatement</a:t>
            </a:r>
            <a:r>
              <a:rPr lang="en-US" sz="2400" b="1" dirty="0"/>
              <a:t>(</a:t>
            </a:r>
            <a:r>
              <a:rPr lang="en-US" sz="2400" b="1" dirty="0" err="1"/>
              <a:t>ResultSet.TYPE_SCROLL_INSENSITIVE</a:t>
            </a:r>
            <a:r>
              <a:rPr lang="en-US" sz="2400" b="1" dirty="0"/>
              <a:t>,  </a:t>
            </a:r>
          </a:p>
          <a:p>
            <a:pPr marL="0" indent="0">
              <a:buNone/>
            </a:pPr>
            <a:r>
              <a:rPr lang="en-US" sz="2400" b="1" dirty="0"/>
              <a:t>                     </a:t>
            </a:r>
            <a:r>
              <a:rPr lang="en-US" sz="2400" b="1" dirty="0" err="1"/>
              <a:t>ResultSet.CONCUR_UPDATABLE</a:t>
            </a:r>
            <a:r>
              <a:rPr lang="en-US" sz="2400" b="1" dirty="0"/>
              <a:t>); </a:t>
            </a:r>
            <a:endParaRPr lang="en-IN" sz="2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ResultSet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82778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2015" y="1502021"/>
            <a:ext cx="8084425" cy="5004884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The SELECT statement is the standard way to select rows from a database and view them in a result set.</a:t>
            </a:r>
          </a:p>
          <a:p>
            <a:pPr algn="just"/>
            <a:r>
              <a:rPr lang="en-US" sz="2600" dirty="0"/>
              <a:t>The </a:t>
            </a:r>
            <a:r>
              <a:rPr lang="en-US" sz="2600" i="1" dirty="0" err="1"/>
              <a:t>java.sql.ResultSet</a:t>
            </a:r>
            <a:r>
              <a:rPr lang="en-US" sz="2600" dirty="0"/>
              <a:t> interface represents the result set of a database query.</a:t>
            </a:r>
          </a:p>
          <a:p>
            <a:pPr algn="just"/>
            <a:r>
              <a:rPr lang="en-US" sz="2600" dirty="0"/>
              <a:t>The term "result set" refers to the row and column data contained in a </a:t>
            </a:r>
            <a:r>
              <a:rPr lang="en-US" sz="2600" dirty="0" err="1"/>
              <a:t>ResultSet</a:t>
            </a:r>
            <a:r>
              <a:rPr lang="en-US" sz="2600" dirty="0"/>
              <a:t> object.</a:t>
            </a:r>
          </a:p>
          <a:p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ResultSet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00647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96614"/>
            <a:ext cx="7886700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ResultSet</a:t>
            </a:r>
            <a:r>
              <a:rPr lang="en-US" dirty="0"/>
              <a:t> interface methods can be broken down into the following categories:</a:t>
            </a:r>
          </a:p>
          <a:p>
            <a:pPr marL="452438" indent="-452438" algn="just">
              <a:buFont typeface="Wingdings" panose="05000000000000000000" pitchFamily="2" charset="2"/>
              <a:buChar char="Ø"/>
            </a:pPr>
            <a:r>
              <a:rPr lang="en-US" dirty="0"/>
              <a:t>Navigational methods </a:t>
            </a:r>
          </a:p>
          <a:p>
            <a:pPr marL="452438" indent="-452438" algn="just">
              <a:buFont typeface="Wingdings" panose="05000000000000000000" pitchFamily="2" charset="2"/>
              <a:buChar char="Ø"/>
            </a:pPr>
            <a:r>
              <a:rPr lang="en-US" dirty="0"/>
              <a:t>Get methods </a:t>
            </a:r>
          </a:p>
          <a:p>
            <a:pPr marL="452438" indent="-452438" algn="just">
              <a:buFont typeface="Wingdings" panose="05000000000000000000" pitchFamily="2" charset="2"/>
              <a:buChar char="Ø"/>
            </a:pPr>
            <a:r>
              <a:rPr lang="en-US" dirty="0"/>
              <a:t>Update methods 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ResultSet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23264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48" y="1501541"/>
            <a:ext cx="7886701" cy="5131488"/>
          </a:xfrm>
        </p:spPr>
        <p:txBody>
          <a:bodyPr>
            <a:normAutofit/>
          </a:bodyPr>
          <a:lstStyle/>
          <a:p>
            <a:pPr algn="just"/>
            <a:r>
              <a:rPr lang="en-IN" sz="2600" dirty="0" err="1"/>
              <a:t>ResultSet.TYPE_FORWARD_ONLY</a:t>
            </a:r>
            <a:endParaRPr lang="en-US" sz="2600" dirty="0">
              <a:solidFill>
                <a:srgbClr val="FF0000"/>
              </a:solidFill>
            </a:endParaRPr>
          </a:p>
          <a:p>
            <a:pPr algn="just"/>
            <a:r>
              <a:rPr lang="en-IN" sz="2600" dirty="0" err="1"/>
              <a:t>ResultSet.TYPE_SCROLL_INSENSITIVE</a:t>
            </a:r>
            <a:endParaRPr lang="en-IN" sz="2600" dirty="0"/>
          </a:p>
          <a:p>
            <a:pPr algn="just"/>
            <a:r>
              <a:rPr lang="en-US" sz="2600" dirty="0" err="1"/>
              <a:t>ResultSet.TYPE_SCROLL_SENSITIVE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</a:t>
            </a:r>
            <a:r>
              <a:rPr lang="en-IN" dirty="0" err="1"/>
              <a:t>ResultSet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53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void </a:t>
            </a:r>
            <a:r>
              <a:rPr lang="en-US" dirty="0" err="1"/>
              <a:t>beforeFirst</a:t>
            </a:r>
            <a:r>
              <a:rPr lang="en-US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next() </a:t>
            </a: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previous()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first()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 in </a:t>
            </a:r>
            <a:r>
              <a:rPr lang="en-IN" dirty="0" err="1"/>
              <a:t>ResultSet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99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last()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absolute(</a:t>
            </a:r>
            <a:r>
              <a:rPr lang="en-IN" dirty="0" err="1"/>
              <a:t>int</a:t>
            </a:r>
            <a:r>
              <a:rPr lang="en-IN" dirty="0"/>
              <a:t> row) </a:t>
            </a: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relative(</a:t>
            </a:r>
            <a:r>
              <a:rPr lang="en-IN" dirty="0" err="1"/>
              <a:t>int</a:t>
            </a:r>
            <a:r>
              <a:rPr lang="en-IN" dirty="0"/>
              <a:t> row) </a:t>
            </a:r>
          </a:p>
          <a:p>
            <a:r>
              <a:rPr lang="en-IN" dirty="0"/>
              <a:t>public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getInt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columnIndex</a:t>
            </a:r>
            <a:r>
              <a:rPr lang="en-IN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 in </a:t>
            </a:r>
            <a:r>
              <a:rPr lang="en-IN" dirty="0" err="1"/>
              <a:t>ResultSet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15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public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getInt</a:t>
            </a:r>
            <a:r>
              <a:rPr lang="en-IN" dirty="0"/>
              <a:t>(String </a:t>
            </a:r>
            <a:r>
              <a:rPr lang="en-IN" dirty="0" err="1"/>
              <a:t>columnName</a:t>
            </a:r>
            <a:r>
              <a:rPr lang="en-IN" dirty="0"/>
              <a:t>) </a:t>
            </a:r>
          </a:p>
          <a:p>
            <a:r>
              <a:rPr lang="en-IN" dirty="0"/>
              <a:t>public String </a:t>
            </a:r>
            <a:r>
              <a:rPr lang="en-IN" dirty="0" err="1"/>
              <a:t>getString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columnIndex</a:t>
            </a:r>
            <a:r>
              <a:rPr lang="en-IN" dirty="0"/>
              <a:t>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/>
              <a:t>public String </a:t>
            </a:r>
            <a:r>
              <a:rPr lang="en-IN" dirty="0" err="1"/>
              <a:t>getString</a:t>
            </a:r>
            <a:r>
              <a:rPr lang="en-IN" dirty="0"/>
              <a:t>(String </a:t>
            </a:r>
            <a:r>
              <a:rPr lang="en-IN" dirty="0" err="1"/>
              <a:t>columnName</a:t>
            </a:r>
            <a:r>
              <a:rPr lang="en-IN" dirty="0"/>
              <a:t>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getRow</a:t>
            </a:r>
            <a:r>
              <a:rPr lang="en-US" dirty="0"/>
              <a:t>() throws </a:t>
            </a:r>
            <a:r>
              <a:rPr lang="en-US"/>
              <a:t>SQLException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 in </a:t>
            </a:r>
            <a:r>
              <a:rPr lang="en-IN" dirty="0" err="1"/>
              <a:t>ResultSet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2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2243</TotalTime>
  <Words>444</Words>
  <Application>Microsoft Office PowerPoint</Application>
  <PresentationFormat>On-screen Show (4:3)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Statement interface</vt:lpstr>
      <vt:lpstr>Statement interface</vt:lpstr>
      <vt:lpstr>Statement interface</vt:lpstr>
      <vt:lpstr>Methods of Statement Interface</vt:lpstr>
      <vt:lpstr>ResultSet interface</vt:lpstr>
      <vt:lpstr>ResultSet interface</vt:lpstr>
      <vt:lpstr>ResultSet interface</vt:lpstr>
      <vt:lpstr>ResultSet interface</vt:lpstr>
      <vt:lpstr>Types of ResultSet</vt:lpstr>
      <vt:lpstr>Methods used in ResultSet</vt:lpstr>
      <vt:lpstr>Methods used in ResultSet</vt:lpstr>
      <vt:lpstr>Methods used in ResultSet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160</cp:revision>
  <dcterms:created xsi:type="dcterms:W3CDTF">2021-05-13T17:45:44Z</dcterms:created>
  <dcterms:modified xsi:type="dcterms:W3CDTF">2021-09-08T04:57:59Z</dcterms:modified>
</cp:coreProperties>
</file>