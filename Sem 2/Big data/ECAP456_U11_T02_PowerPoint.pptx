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51"/>
  </p:handoutMasterIdLst>
  <p:sldIdLst>
    <p:sldId id="266" r:id="rId2"/>
    <p:sldId id="261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9" r:id="rId15"/>
    <p:sldId id="287" r:id="rId16"/>
    <p:sldId id="344" r:id="rId17"/>
    <p:sldId id="345" r:id="rId18"/>
    <p:sldId id="282" r:id="rId19"/>
    <p:sldId id="290" r:id="rId20"/>
    <p:sldId id="284" r:id="rId21"/>
    <p:sldId id="292" r:id="rId22"/>
    <p:sldId id="291" r:id="rId23"/>
    <p:sldId id="293" r:id="rId24"/>
    <p:sldId id="294" r:id="rId25"/>
    <p:sldId id="296" r:id="rId26"/>
    <p:sldId id="298" r:id="rId27"/>
    <p:sldId id="299" r:id="rId28"/>
    <p:sldId id="300" r:id="rId29"/>
    <p:sldId id="302" r:id="rId30"/>
    <p:sldId id="303" r:id="rId31"/>
    <p:sldId id="304" r:id="rId32"/>
    <p:sldId id="306" r:id="rId33"/>
    <p:sldId id="308" r:id="rId34"/>
    <p:sldId id="316" r:id="rId35"/>
    <p:sldId id="317" r:id="rId36"/>
    <p:sldId id="318" r:id="rId37"/>
    <p:sldId id="319" r:id="rId38"/>
    <p:sldId id="320" r:id="rId39"/>
    <p:sldId id="323" r:id="rId40"/>
    <p:sldId id="324" r:id="rId41"/>
    <p:sldId id="325" r:id="rId42"/>
    <p:sldId id="326" r:id="rId43"/>
    <p:sldId id="328" r:id="rId44"/>
    <p:sldId id="330" r:id="rId45"/>
    <p:sldId id="331" r:id="rId46"/>
    <p:sldId id="342" r:id="rId47"/>
    <p:sldId id="346" r:id="rId48"/>
    <p:sldId id="343" r:id="rId49"/>
    <p:sldId id="263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25A"/>
    <a:srgbClr val="CBCBCB"/>
    <a:srgbClr val="E7E7E7"/>
    <a:srgbClr val="302C31"/>
    <a:srgbClr val="E4E7E9"/>
    <a:srgbClr val="618495"/>
    <a:srgbClr val="44525B"/>
    <a:srgbClr val="072235"/>
    <a:srgbClr val="453A38"/>
    <a:srgbClr val="B8B1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53" autoAdjust="0"/>
    <p:restoredTop sz="85141" autoAdjust="0"/>
  </p:normalViewPr>
  <p:slideViewPr>
    <p:cSldViewPr snapToGrid="0">
      <p:cViewPr>
        <p:scale>
          <a:sx n="50" d="100"/>
          <a:sy n="50" d="100"/>
        </p:scale>
        <p:origin x="177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 ?><Relationships xmlns="http://schemas.openxmlformats.org/package/2006/relationships"><Relationship Id="rId3" Target="../media/image5.jpeg" Type="http://schemas.openxmlformats.org/officeDocument/2006/relationships/image"/><Relationship Id="rId2" Target="../media/image4.pn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5.xml.rels><?xml version="1.0" encoding="UTF-8" standalone="yes" ?><Relationships xmlns="http://schemas.openxmlformats.org/package/2006/relationships"><Relationship Id="rId3" Target="../media/image7.jpeg" Type="http://schemas.openxmlformats.org/officeDocument/2006/relationships/image"/><Relationship Id="rId2" Target="../media/image6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 ?><Relationships xmlns="http://schemas.openxmlformats.org/package/2006/relationships"><Relationship Id="rId2" Target="../media/image10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 ?><Relationships xmlns="http://schemas.openxmlformats.org/package/2006/relationships"><Relationship Id="rId2" Target="../media/image11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 ?><Relationships xmlns="http://schemas.openxmlformats.org/package/2006/relationships"><Relationship Id="rId2" Target="../media/image1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1.xml.rels><?xml version="1.0" encoding="UTF-8" standalone="yes" ?><Relationships xmlns="http://schemas.openxmlformats.org/package/2006/relationships"><Relationship Id="rId2" Target="../media/image1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2.xml.rels><?xml version="1.0" encoding="UTF-8" standalone="yes" ?><Relationships xmlns="http://schemas.openxmlformats.org/package/2006/relationships"><Relationship Id="rId2" Target="../media/image16.pn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3.xml.rels><?xml version="1.0" encoding="UTF-8" standalone="yes" ?><Relationships xmlns="http://schemas.openxmlformats.org/package/2006/relationships"><Relationship Id="rId2" Target="../media/image17.pn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0" y="2818150"/>
            <a:ext cx="7830800" cy="3773150"/>
          </a:xfrm>
        </p:spPr>
        <p:txBody>
          <a:bodyPr/>
          <a:lstStyle/>
          <a:p>
            <a:pPr algn="just"/>
            <a:r>
              <a:rPr lang="en-US" dirty="0"/>
              <a:t>explore concepts of Apache pig</a:t>
            </a:r>
          </a:p>
          <a:p>
            <a:pPr algn="just"/>
            <a:r>
              <a:rPr lang="en-US" dirty="0"/>
              <a:t>learn Architecture of Apache Pig</a:t>
            </a:r>
          </a:p>
          <a:p>
            <a:pPr algn="just"/>
            <a:r>
              <a:rPr lang="en-US" dirty="0"/>
              <a:t>understand Pig-Latin data types</a:t>
            </a:r>
          </a:p>
          <a:p>
            <a:pPr algn="just"/>
            <a:r>
              <a:rPr lang="en-US" dirty="0"/>
              <a:t>learn Application of Pig</a:t>
            </a:r>
          </a:p>
          <a:p>
            <a:pPr algn="just"/>
            <a:r>
              <a:rPr lang="en-US" dirty="0"/>
              <a:t>explore features of pig</a:t>
            </a:r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EC1CE8F-9791-4645-86E6-03E74DA9E5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282" y="1698503"/>
            <a:ext cx="3795867" cy="330729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900251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EC1CE8F-9791-4645-86E6-03E74DA9E5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282" y="1698503"/>
            <a:ext cx="3795867" cy="330729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EF7B11-EB5C-413F-89DC-99CD3C93C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111" y="1698503"/>
            <a:ext cx="5451745" cy="187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957791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Introduction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DFA7CB3-858F-418A-AC78-275EC3BA7447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840" y="3319137"/>
            <a:ext cx="5283605" cy="35388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AD2462-56C7-4DA5-9FBD-F455BC6B66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-106"/>
          <a:stretch/>
        </p:blipFill>
        <p:spPr>
          <a:xfrm>
            <a:off x="170840" y="1387123"/>
            <a:ext cx="5192233" cy="21375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B737A3-6344-4286-BF8B-756444ABF875}"/>
              </a:ext>
            </a:extLst>
          </p:cNvPr>
          <p:cNvSpPr txBox="1"/>
          <p:nvPr/>
        </p:nvSpPr>
        <p:spPr>
          <a:xfrm>
            <a:off x="5569355" y="3142153"/>
            <a:ext cx="340380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indent="-285750" marL="285750">
              <a:buFont charset="0" panose="020B0604020202020204" pitchFamily="34" typeface="Arial"/>
              <a:buChar char="•"/>
            </a:pPr>
            <a:r>
              <a:rPr dirty="0" lang="en-US" sz="2800">
                <a:solidFill>
                  <a:srgbClr val="000000"/>
                </a:solidFill>
                <a:latin charset="0" panose="020B0502040204020203" pitchFamily="34" typeface="Bahnschrift"/>
              </a:rPr>
              <a:t>C</a:t>
            </a:r>
            <a:r>
              <a:rPr b="0" dirty="0" i="0" lang="en-US" sz="2800">
                <a:solidFill>
                  <a:srgbClr val="000000"/>
                </a:solidFill>
                <a:effectLst/>
                <a:latin charset="0" panose="020B0502040204020203" pitchFamily="34" typeface="Bahnschrift"/>
              </a:rPr>
              <a:t>hallenging to write and </a:t>
            </a:r>
          </a:p>
          <a:p>
            <a:pPr algn="just" indent="-285750" marL="285750">
              <a:buFont charset="0" panose="020B0604020202020204" pitchFamily="34" typeface="Arial"/>
              <a:buChar char="•"/>
            </a:pPr>
            <a:r>
              <a:rPr dirty="0" lang="en-US" sz="2800">
                <a:solidFill>
                  <a:srgbClr val="000000"/>
                </a:solidFill>
                <a:latin charset="0" panose="020B0502040204020203" pitchFamily="34" typeface="Bahnschrift"/>
              </a:rPr>
              <a:t>M</a:t>
            </a:r>
            <a:r>
              <a:rPr b="0" dirty="0" i="0" lang="en-US" sz="2800">
                <a:solidFill>
                  <a:srgbClr val="000000"/>
                </a:solidFill>
                <a:effectLst/>
                <a:latin charset="0" panose="020B0502040204020203" pitchFamily="34" typeface="Bahnschrift"/>
              </a:rPr>
              <a:t>aintain these lengthy Java codes</a:t>
            </a:r>
            <a:endParaRPr dirty="0" lang="en-IN" sz="2800"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3704669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2E4990-9FA8-4EB6-B71E-33D459CB4C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138" y="2303060"/>
            <a:ext cx="8386762" cy="365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703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2E4990-9FA8-4EB6-B71E-33D459CB4C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138" y="2303060"/>
            <a:ext cx="3229912" cy="140770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A5B005A-37E9-4A7C-98E4-9CA357C07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855" y="1794243"/>
            <a:ext cx="2578395" cy="25783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0C63802-9958-429E-8D34-A24253F924EC}"/>
              </a:ext>
            </a:extLst>
          </p:cNvPr>
          <p:cNvSpPr/>
          <p:nvPr/>
        </p:nvSpPr>
        <p:spPr>
          <a:xfrm>
            <a:off x="3886453" y="1967021"/>
            <a:ext cx="2105246" cy="2232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Bahnschrift" panose="020B0502040204020203" pitchFamily="34" charset="0"/>
              </a:rPr>
              <a:t>Developed </a:t>
            </a:r>
            <a:br>
              <a:rPr lang="en-US" sz="2200" dirty="0">
                <a:solidFill>
                  <a:schemeClr val="tx1"/>
                </a:solidFill>
                <a:latin typeface="Bahnschrift" panose="020B0502040204020203" pitchFamily="34" charset="0"/>
              </a:rPr>
            </a:br>
            <a:r>
              <a:rPr lang="en-US" sz="2200" dirty="0">
                <a:solidFill>
                  <a:schemeClr val="tx1"/>
                </a:solidFill>
                <a:latin typeface="Bahnschrift" panose="020B0502040204020203" pitchFamily="34" charset="0"/>
              </a:rPr>
              <a:t>By</a:t>
            </a:r>
            <a:endParaRPr lang="en-IN" sz="22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058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0B453C-9DB6-49E4-B788-72ABA2157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Introduction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4442989B-D6FD-4D42-850C-9347DF356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807" y="2994176"/>
            <a:ext cx="3229912" cy="140770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763D1A6A-93CA-49BA-BA2E-567A0ADB6CC5}"/>
              </a:ext>
            </a:extLst>
          </p:cNvPr>
          <p:cNvSpPr/>
          <p:nvPr/>
        </p:nvSpPr>
        <p:spPr>
          <a:xfrm>
            <a:off x="419101" y="1477926"/>
            <a:ext cx="2791932" cy="181816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For people who don't know how to </a:t>
            </a:r>
            <a:r>
              <a:rPr lang="en-US" dirty="0" err="1">
                <a:latin typeface="Bahnschrift" panose="020B0502040204020203" pitchFamily="34" charset="0"/>
              </a:rPr>
              <a:t>programme</a:t>
            </a:r>
            <a:r>
              <a:rPr lang="en-US" dirty="0">
                <a:latin typeface="Bahnschrift" panose="020B0502040204020203" pitchFamily="34" charset="0"/>
              </a:rPr>
              <a:t> in Java, this is a godsend.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439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0B453C-9DB6-49E4-B788-72ABA2157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Introduction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4442989B-D6FD-4D42-850C-9347DF356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807" y="2994176"/>
            <a:ext cx="3229912" cy="140770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763D1A6A-93CA-49BA-BA2E-567A0ADB6CC5}"/>
              </a:ext>
            </a:extLst>
          </p:cNvPr>
          <p:cNvSpPr/>
          <p:nvPr/>
        </p:nvSpPr>
        <p:spPr>
          <a:xfrm>
            <a:off x="419101" y="1477926"/>
            <a:ext cx="2791932" cy="181816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For people who don't know how to </a:t>
            </a:r>
            <a:r>
              <a:rPr lang="en-US" dirty="0" err="1">
                <a:latin typeface="Bahnschrift" panose="020B0502040204020203" pitchFamily="34" charset="0"/>
              </a:rPr>
              <a:t>programme</a:t>
            </a:r>
            <a:r>
              <a:rPr lang="en-US" dirty="0">
                <a:latin typeface="Bahnschrift" panose="020B0502040204020203" pitchFamily="34" charset="0"/>
              </a:rPr>
              <a:t> in Java, this is a godsend.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9" name="Explosion: 8 Points 8">
            <a:extLst>
              <a:ext uri="{FF2B5EF4-FFF2-40B4-BE49-F238E27FC236}">
                <a16:creationId xmlns:a16="http://schemas.microsoft.com/office/drawing/2014/main" id="{2BEC8642-B78B-4A87-B9D0-F092803E774B}"/>
              </a:ext>
            </a:extLst>
          </p:cNvPr>
          <p:cNvSpPr/>
          <p:nvPr/>
        </p:nvSpPr>
        <p:spPr>
          <a:xfrm>
            <a:off x="5652090" y="1560883"/>
            <a:ext cx="3072809" cy="2137144"/>
          </a:xfrm>
          <a:prstGeom prst="irregularSeal1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Most Popular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6098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0B453C-9DB6-49E4-B788-72ABA2157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Introduction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4442989B-D6FD-4D42-850C-9347DF356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807" y="2994176"/>
            <a:ext cx="3229912" cy="140770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763D1A6A-93CA-49BA-BA2E-567A0ADB6CC5}"/>
              </a:ext>
            </a:extLst>
          </p:cNvPr>
          <p:cNvSpPr/>
          <p:nvPr/>
        </p:nvSpPr>
        <p:spPr>
          <a:xfrm>
            <a:off x="419101" y="1477926"/>
            <a:ext cx="2791932" cy="181816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For people who don't know how to </a:t>
            </a:r>
            <a:r>
              <a:rPr lang="en-US" dirty="0" err="1">
                <a:latin typeface="Bahnschrift" panose="020B0502040204020203" pitchFamily="34" charset="0"/>
              </a:rPr>
              <a:t>programme</a:t>
            </a:r>
            <a:r>
              <a:rPr lang="en-US" dirty="0">
                <a:latin typeface="Bahnschrift" panose="020B0502040204020203" pitchFamily="34" charset="0"/>
              </a:rPr>
              <a:t> in Java, this is a godsend.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9" name="Explosion: 8 Points 8">
            <a:extLst>
              <a:ext uri="{FF2B5EF4-FFF2-40B4-BE49-F238E27FC236}">
                <a16:creationId xmlns:a16="http://schemas.microsoft.com/office/drawing/2014/main" id="{2BEC8642-B78B-4A87-B9D0-F092803E774B}"/>
              </a:ext>
            </a:extLst>
          </p:cNvPr>
          <p:cNvSpPr/>
          <p:nvPr/>
        </p:nvSpPr>
        <p:spPr>
          <a:xfrm>
            <a:off x="5652090" y="1560883"/>
            <a:ext cx="3072809" cy="2137144"/>
          </a:xfrm>
          <a:prstGeom prst="irregularSeal1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Most Popular</a:t>
            </a:r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0D130E-D984-4028-9E4E-001451E52ADE}"/>
              </a:ext>
            </a:extLst>
          </p:cNvPr>
          <p:cNvSpPr/>
          <p:nvPr/>
        </p:nvSpPr>
        <p:spPr>
          <a:xfrm>
            <a:off x="1079892" y="5011148"/>
            <a:ext cx="2158410" cy="1509823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flexibility, 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133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0B453C-9DB6-49E4-B788-72ABA2157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Introduction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4442989B-D6FD-4D42-850C-9347DF356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807" y="2994176"/>
            <a:ext cx="3229912" cy="140770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763D1A6A-93CA-49BA-BA2E-567A0ADB6CC5}"/>
              </a:ext>
            </a:extLst>
          </p:cNvPr>
          <p:cNvSpPr/>
          <p:nvPr/>
        </p:nvSpPr>
        <p:spPr>
          <a:xfrm>
            <a:off x="419101" y="1477926"/>
            <a:ext cx="2791932" cy="181816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For people who don't know how to </a:t>
            </a:r>
            <a:r>
              <a:rPr lang="en-US" dirty="0" err="1">
                <a:latin typeface="Bahnschrift" panose="020B0502040204020203" pitchFamily="34" charset="0"/>
              </a:rPr>
              <a:t>programme</a:t>
            </a:r>
            <a:r>
              <a:rPr lang="en-US" dirty="0">
                <a:latin typeface="Bahnschrift" panose="020B0502040204020203" pitchFamily="34" charset="0"/>
              </a:rPr>
              <a:t> in Java, this is a godsend.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9" name="Explosion: 8 Points 8">
            <a:extLst>
              <a:ext uri="{FF2B5EF4-FFF2-40B4-BE49-F238E27FC236}">
                <a16:creationId xmlns:a16="http://schemas.microsoft.com/office/drawing/2014/main" id="{2BEC8642-B78B-4A87-B9D0-F092803E774B}"/>
              </a:ext>
            </a:extLst>
          </p:cNvPr>
          <p:cNvSpPr/>
          <p:nvPr/>
        </p:nvSpPr>
        <p:spPr>
          <a:xfrm>
            <a:off x="5652090" y="1560883"/>
            <a:ext cx="3072809" cy="2137144"/>
          </a:xfrm>
          <a:prstGeom prst="irregularSeal1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Most Popular</a:t>
            </a:r>
            <a:endParaRPr lang="en-IN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8FDABB2-7EE5-462E-A801-9596E3191615}"/>
              </a:ext>
            </a:extLst>
          </p:cNvPr>
          <p:cNvGrpSpPr/>
          <p:nvPr/>
        </p:nvGrpSpPr>
        <p:grpSpPr>
          <a:xfrm>
            <a:off x="1079892" y="5011148"/>
            <a:ext cx="4571314" cy="1509823"/>
            <a:chOff x="637953" y="5011148"/>
            <a:chExt cx="4571314" cy="1509823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3DCD660-B551-44C2-9533-5CDD24644CB2}"/>
                </a:ext>
              </a:extLst>
            </p:cNvPr>
            <p:cNvSpPr/>
            <p:nvPr/>
          </p:nvSpPr>
          <p:spPr>
            <a:xfrm>
              <a:off x="637953" y="5011148"/>
              <a:ext cx="2158410" cy="1509823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i="0" dirty="0">
                  <a:solidFill>
                    <a:schemeClr val="bg1"/>
                  </a:solidFill>
                  <a:effectLst/>
                  <a:latin typeface="Bahnschrift" panose="020B0502040204020203" pitchFamily="34" charset="0"/>
                </a:rPr>
                <a:t>flexibility, </a:t>
              </a:r>
              <a:endParaRPr lang="en-IN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57626FA-66C8-481F-A5E9-1A2200EE1EFF}"/>
                </a:ext>
              </a:extLst>
            </p:cNvPr>
            <p:cNvSpPr/>
            <p:nvPr/>
          </p:nvSpPr>
          <p:spPr>
            <a:xfrm>
              <a:off x="3050857" y="5011148"/>
              <a:ext cx="2158410" cy="1509823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i="0" dirty="0">
                  <a:solidFill>
                    <a:schemeClr val="bg1"/>
                  </a:solidFill>
                  <a:effectLst/>
                  <a:latin typeface="Bahnschrift" panose="020B0502040204020203" pitchFamily="34" charset="0"/>
                </a:rPr>
                <a:t>reduces code complexity </a:t>
              </a:r>
              <a:endParaRPr lang="en-IN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6106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0B453C-9DB6-49E4-B788-72ABA2157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4442989B-D6FD-4D42-850C-9347DF356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807" y="2994176"/>
            <a:ext cx="3229912" cy="140770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763D1A6A-93CA-49BA-BA2E-567A0ADB6CC5}"/>
              </a:ext>
            </a:extLst>
          </p:cNvPr>
          <p:cNvSpPr/>
          <p:nvPr/>
        </p:nvSpPr>
        <p:spPr>
          <a:xfrm>
            <a:off x="419101" y="1477926"/>
            <a:ext cx="2791932" cy="181816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For people who don't know how to </a:t>
            </a:r>
            <a:r>
              <a:rPr lang="en-US" dirty="0" err="1">
                <a:latin typeface="Bahnschrift" panose="020B0502040204020203" pitchFamily="34" charset="0"/>
              </a:rPr>
              <a:t>programme</a:t>
            </a:r>
            <a:r>
              <a:rPr lang="en-US" dirty="0">
                <a:latin typeface="Bahnschrift" panose="020B0502040204020203" pitchFamily="34" charset="0"/>
              </a:rPr>
              <a:t> in Java, this is a godsend.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9" name="Explosion: 8 Points 8">
            <a:extLst>
              <a:ext uri="{FF2B5EF4-FFF2-40B4-BE49-F238E27FC236}">
                <a16:creationId xmlns:a16="http://schemas.microsoft.com/office/drawing/2014/main" id="{2BEC8642-B78B-4A87-B9D0-F092803E774B}"/>
              </a:ext>
            </a:extLst>
          </p:cNvPr>
          <p:cNvSpPr/>
          <p:nvPr/>
        </p:nvSpPr>
        <p:spPr>
          <a:xfrm>
            <a:off x="5652090" y="1560883"/>
            <a:ext cx="3072809" cy="2137144"/>
          </a:xfrm>
          <a:prstGeom prst="irregularSeal1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Most Popular</a:t>
            </a:r>
            <a:endParaRPr 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46F5035-2EE4-43FE-9510-E09A3F8F1577}"/>
              </a:ext>
            </a:extLst>
          </p:cNvPr>
          <p:cNvGrpSpPr/>
          <p:nvPr/>
        </p:nvGrpSpPr>
        <p:grpSpPr>
          <a:xfrm>
            <a:off x="1079892" y="5011148"/>
            <a:ext cx="6984217" cy="1509823"/>
            <a:chOff x="637953" y="5011148"/>
            <a:chExt cx="6984217" cy="1509823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02612FF-ACAE-4FA7-8D05-7753068EE2D9}"/>
                </a:ext>
              </a:extLst>
            </p:cNvPr>
            <p:cNvSpPr/>
            <p:nvPr/>
          </p:nvSpPr>
          <p:spPr>
            <a:xfrm>
              <a:off x="637953" y="5011148"/>
              <a:ext cx="2158410" cy="1509823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i="0" dirty="0">
                  <a:solidFill>
                    <a:schemeClr val="bg1"/>
                  </a:solidFill>
                  <a:effectLst/>
                  <a:latin typeface="Bahnschrift" panose="020B0502040204020203" pitchFamily="34" charset="0"/>
                </a:rPr>
                <a:t>flexibility, </a:t>
              </a:r>
              <a:endParaRPr lang="en-IN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A068DE5-29F2-4DEF-922B-608F9D1D6259}"/>
                </a:ext>
              </a:extLst>
            </p:cNvPr>
            <p:cNvSpPr/>
            <p:nvPr/>
          </p:nvSpPr>
          <p:spPr>
            <a:xfrm>
              <a:off x="3050857" y="5011148"/>
              <a:ext cx="2158410" cy="1509823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i="0" dirty="0">
                  <a:solidFill>
                    <a:schemeClr val="bg1"/>
                  </a:solidFill>
                  <a:effectLst/>
                  <a:latin typeface="Bahnschrift" panose="020B0502040204020203" pitchFamily="34" charset="0"/>
                </a:rPr>
                <a:t>reduces code complexity </a:t>
              </a:r>
              <a:endParaRPr lang="en-IN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DF9F79C-0A92-4D32-82BD-5EE856FCDAFA}"/>
                </a:ext>
              </a:extLst>
            </p:cNvPr>
            <p:cNvSpPr/>
            <p:nvPr/>
          </p:nvSpPr>
          <p:spPr>
            <a:xfrm>
              <a:off x="5463760" y="5011148"/>
              <a:ext cx="2158410" cy="1509823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i="0" dirty="0">
                  <a:solidFill>
                    <a:schemeClr val="bg1"/>
                  </a:solidFill>
                  <a:effectLst/>
                  <a:latin typeface="Bahnschrift" panose="020B0502040204020203" pitchFamily="34" charset="0"/>
                </a:rPr>
                <a:t>requires less effort</a:t>
              </a:r>
              <a:endParaRPr lang="en-IN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7427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EE7784-3146-4E3B-AEF6-67892E49C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212" y="818984"/>
            <a:ext cx="7139577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lang="en-US" sz="4200" i="0" kern="1200" dirty="0">
                <a:solidFill>
                  <a:srgbClr val="FFFFFF"/>
                </a:solidFill>
                <a:effectLst/>
                <a:ea typeface="+mj-ea"/>
                <a:cs typeface="+mj-cs"/>
              </a:rPr>
              <a:t>Map Reduce vs. Apache Pig</a:t>
            </a:r>
            <a:br>
              <a:rPr lang="en-US" sz="4200" i="0" kern="1200" dirty="0">
                <a:solidFill>
                  <a:srgbClr val="FFFFFF"/>
                </a:solidFill>
                <a:effectLst/>
                <a:ea typeface="+mj-ea"/>
                <a:cs typeface="+mj-cs"/>
              </a:rPr>
            </a:br>
            <a:endParaRPr lang="en-US" sz="4200" kern="1200" dirty="0">
              <a:solidFill>
                <a:srgbClr val="FFFFFF"/>
              </a:solidFill>
              <a:ea typeface="+mj-ea"/>
              <a:cs typeface="+mj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4C157B-412B-41D2-9787-0453AA17F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9572" y="4342878"/>
            <a:ext cx="5716666" cy="124182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kern="1200" dirty="0">
                <a:solidFill>
                  <a:srgbClr val="FFFFFF"/>
                </a:solidFill>
              </a:rPr>
              <a:t>Why the name PIG?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768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4C157B-412B-41D2-9787-0453AA17F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476854"/>
            <a:ext cx="8386537" cy="810255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Why the name PIG?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EE7784-3146-4E3B-AEF6-67892E49C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i="0" dirty="0">
                <a:effectLst/>
                <a:latin typeface="Bahnschrift" panose="020B0502040204020203" pitchFamily="34" charset="0"/>
              </a:rPr>
              <a:t>Map Reduce vs. Apache Pig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9CE770-9A55-44B7-B5DF-6E534D423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165" y="2438400"/>
            <a:ext cx="4184798" cy="427020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81146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777906-816E-461E-9E8A-B2F9D58BA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Architecture of PIG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3312164-CD0D-463D-BE9C-22061C7CB387}"/>
              </a:ext>
            </a:extLst>
          </p:cNvPr>
          <p:cNvSpPr/>
          <p:nvPr/>
        </p:nvSpPr>
        <p:spPr>
          <a:xfrm>
            <a:off x="2251710" y="1959353"/>
            <a:ext cx="4983480" cy="1014153"/>
          </a:xfrm>
          <a:custGeom>
            <a:avLst/>
            <a:gdLst>
              <a:gd name="connsiteX0" fmla="*/ 0 w 1645920"/>
              <a:gd name="connsiteY0" fmla="*/ 49594 h 297557"/>
              <a:gd name="connsiteX1" fmla="*/ 49594 w 1645920"/>
              <a:gd name="connsiteY1" fmla="*/ 0 h 297557"/>
              <a:gd name="connsiteX2" fmla="*/ 1596326 w 1645920"/>
              <a:gd name="connsiteY2" fmla="*/ 0 h 297557"/>
              <a:gd name="connsiteX3" fmla="*/ 1645920 w 1645920"/>
              <a:gd name="connsiteY3" fmla="*/ 49594 h 297557"/>
              <a:gd name="connsiteX4" fmla="*/ 1645920 w 1645920"/>
              <a:gd name="connsiteY4" fmla="*/ 247963 h 297557"/>
              <a:gd name="connsiteX5" fmla="*/ 1596326 w 1645920"/>
              <a:gd name="connsiteY5" fmla="*/ 297557 h 297557"/>
              <a:gd name="connsiteX6" fmla="*/ 49594 w 1645920"/>
              <a:gd name="connsiteY6" fmla="*/ 297557 h 297557"/>
              <a:gd name="connsiteX7" fmla="*/ 0 w 1645920"/>
              <a:gd name="connsiteY7" fmla="*/ 247963 h 297557"/>
              <a:gd name="connsiteX8" fmla="*/ 0 w 1645920"/>
              <a:gd name="connsiteY8" fmla="*/ 49594 h 297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45920" h="297557">
                <a:moveTo>
                  <a:pt x="0" y="49594"/>
                </a:moveTo>
                <a:cubicBezTo>
                  <a:pt x="0" y="22204"/>
                  <a:pt x="22204" y="0"/>
                  <a:pt x="49594" y="0"/>
                </a:cubicBezTo>
                <a:lnTo>
                  <a:pt x="1596326" y="0"/>
                </a:lnTo>
                <a:cubicBezTo>
                  <a:pt x="1623716" y="0"/>
                  <a:pt x="1645920" y="22204"/>
                  <a:pt x="1645920" y="49594"/>
                </a:cubicBezTo>
                <a:lnTo>
                  <a:pt x="1645920" y="247963"/>
                </a:lnTo>
                <a:cubicBezTo>
                  <a:pt x="1645920" y="275353"/>
                  <a:pt x="1623716" y="297557"/>
                  <a:pt x="1596326" y="297557"/>
                </a:cubicBezTo>
                <a:lnTo>
                  <a:pt x="49594" y="297557"/>
                </a:lnTo>
                <a:cubicBezTo>
                  <a:pt x="22204" y="297557"/>
                  <a:pt x="0" y="275353"/>
                  <a:pt x="0" y="247963"/>
                </a:cubicBezTo>
                <a:lnTo>
                  <a:pt x="0" y="49594"/>
                </a:lnTo>
                <a:close/>
              </a:path>
            </a:pathLst>
          </a:custGeom>
          <a:solidFill>
            <a:srgbClr val="44525A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8816" tIns="31671" rIns="48816" bIns="31671" numCol="1" spcCol="1270" anchor="ctr" anchorCtr="0">
            <a:noAutofit/>
          </a:bodyPr>
          <a:lstStyle/>
          <a:p>
            <a:pPr marL="0" lvl="0" indent="0"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>
                <a:latin typeface="Bahnschrift" panose="020B0502040204020203" pitchFamily="34" charset="0"/>
              </a:rPr>
              <a:t>Components</a:t>
            </a:r>
            <a:endParaRPr lang="en-IN" sz="2800" kern="120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069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777906-816E-461E-9E8A-B2F9D58BA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Architecture of PIG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3312164-CD0D-463D-BE9C-22061C7CB387}"/>
              </a:ext>
            </a:extLst>
          </p:cNvPr>
          <p:cNvSpPr/>
          <p:nvPr/>
        </p:nvSpPr>
        <p:spPr>
          <a:xfrm>
            <a:off x="2251710" y="1959353"/>
            <a:ext cx="4983480" cy="1014153"/>
          </a:xfrm>
          <a:custGeom>
            <a:avLst/>
            <a:gdLst>
              <a:gd name="connsiteX0" fmla="*/ 0 w 1645920"/>
              <a:gd name="connsiteY0" fmla="*/ 49594 h 297557"/>
              <a:gd name="connsiteX1" fmla="*/ 49594 w 1645920"/>
              <a:gd name="connsiteY1" fmla="*/ 0 h 297557"/>
              <a:gd name="connsiteX2" fmla="*/ 1596326 w 1645920"/>
              <a:gd name="connsiteY2" fmla="*/ 0 h 297557"/>
              <a:gd name="connsiteX3" fmla="*/ 1645920 w 1645920"/>
              <a:gd name="connsiteY3" fmla="*/ 49594 h 297557"/>
              <a:gd name="connsiteX4" fmla="*/ 1645920 w 1645920"/>
              <a:gd name="connsiteY4" fmla="*/ 247963 h 297557"/>
              <a:gd name="connsiteX5" fmla="*/ 1596326 w 1645920"/>
              <a:gd name="connsiteY5" fmla="*/ 297557 h 297557"/>
              <a:gd name="connsiteX6" fmla="*/ 49594 w 1645920"/>
              <a:gd name="connsiteY6" fmla="*/ 297557 h 297557"/>
              <a:gd name="connsiteX7" fmla="*/ 0 w 1645920"/>
              <a:gd name="connsiteY7" fmla="*/ 247963 h 297557"/>
              <a:gd name="connsiteX8" fmla="*/ 0 w 1645920"/>
              <a:gd name="connsiteY8" fmla="*/ 49594 h 297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45920" h="297557">
                <a:moveTo>
                  <a:pt x="0" y="49594"/>
                </a:moveTo>
                <a:cubicBezTo>
                  <a:pt x="0" y="22204"/>
                  <a:pt x="22204" y="0"/>
                  <a:pt x="49594" y="0"/>
                </a:cubicBezTo>
                <a:lnTo>
                  <a:pt x="1596326" y="0"/>
                </a:lnTo>
                <a:cubicBezTo>
                  <a:pt x="1623716" y="0"/>
                  <a:pt x="1645920" y="22204"/>
                  <a:pt x="1645920" y="49594"/>
                </a:cubicBezTo>
                <a:lnTo>
                  <a:pt x="1645920" y="247963"/>
                </a:lnTo>
                <a:cubicBezTo>
                  <a:pt x="1645920" y="275353"/>
                  <a:pt x="1623716" y="297557"/>
                  <a:pt x="1596326" y="297557"/>
                </a:cubicBezTo>
                <a:lnTo>
                  <a:pt x="49594" y="297557"/>
                </a:lnTo>
                <a:cubicBezTo>
                  <a:pt x="22204" y="297557"/>
                  <a:pt x="0" y="275353"/>
                  <a:pt x="0" y="247963"/>
                </a:cubicBezTo>
                <a:lnTo>
                  <a:pt x="0" y="49594"/>
                </a:lnTo>
                <a:close/>
              </a:path>
            </a:pathLst>
          </a:custGeom>
          <a:solidFill>
            <a:srgbClr val="44525A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8816" tIns="31671" rIns="48816" bIns="31671" numCol="1" spcCol="1270" anchor="ctr" anchorCtr="0">
            <a:noAutofit/>
          </a:bodyPr>
          <a:lstStyle/>
          <a:p>
            <a:pPr marL="0" lvl="0" indent="0"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>
                <a:latin typeface="Bahnschrift" panose="020B0502040204020203" pitchFamily="34" charset="0"/>
              </a:rPr>
              <a:t>Components</a:t>
            </a:r>
            <a:endParaRPr lang="en-IN" sz="2800" kern="1200">
              <a:latin typeface="Bahnschrift" panose="020B0502040204020203" pitchFamily="34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2D56A25-2517-41B1-A976-0A992F2E7F3C}"/>
              </a:ext>
            </a:extLst>
          </p:cNvPr>
          <p:cNvSpPr/>
          <p:nvPr/>
        </p:nvSpPr>
        <p:spPr>
          <a:xfrm>
            <a:off x="2251710" y="3535319"/>
            <a:ext cx="4983480" cy="1014153"/>
          </a:xfrm>
          <a:custGeom>
            <a:avLst/>
            <a:gdLst>
              <a:gd name="connsiteX0" fmla="*/ 0 w 1645920"/>
              <a:gd name="connsiteY0" fmla="*/ 49594 h 297557"/>
              <a:gd name="connsiteX1" fmla="*/ 49594 w 1645920"/>
              <a:gd name="connsiteY1" fmla="*/ 0 h 297557"/>
              <a:gd name="connsiteX2" fmla="*/ 1596326 w 1645920"/>
              <a:gd name="connsiteY2" fmla="*/ 0 h 297557"/>
              <a:gd name="connsiteX3" fmla="*/ 1645920 w 1645920"/>
              <a:gd name="connsiteY3" fmla="*/ 49594 h 297557"/>
              <a:gd name="connsiteX4" fmla="*/ 1645920 w 1645920"/>
              <a:gd name="connsiteY4" fmla="*/ 247963 h 297557"/>
              <a:gd name="connsiteX5" fmla="*/ 1596326 w 1645920"/>
              <a:gd name="connsiteY5" fmla="*/ 297557 h 297557"/>
              <a:gd name="connsiteX6" fmla="*/ 49594 w 1645920"/>
              <a:gd name="connsiteY6" fmla="*/ 297557 h 297557"/>
              <a:gd name="connsiteX7" fmla="*/ 0 w 1645920"/>
              <a:gd name="connsiteY7" fmla="*/ 247963 h 297557"/>
              <a:gd name="connsiteX8" fmla="*/ 0 w 1645920"/>
              <a:gd name="connsiteY8" fmla="*/ 49594 h 297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45920" h="297557">
                <a:moveTo>
                  <a:pt x="0" y="49594"/>
                </a:moveTo>
                <a:cubicBezTo>
                  <a:pt x="0" y="22204"/>
                  <a:pt x="22204" y="0"/>
                  <a:pt x="49594" y="0"/>
                </a:cubicBezTo>
                <a:lnTo>
                  <a:pt x="1596326" y="0"/>
                </a:lnTo>
                <a:cubicBezTo>
                  <a:pt x="1623716" y="0"/>
                  <a:pt x="1645920" y="22204"/>
                  <a:pt x="1645920" y="49594"/>
                </a:cubicBezTo>
                <a:lnTo>
                  <a:pt x="1645920" y="247963"/>
                </a:lnTo>
                <a:cubicBezTo>
                  <a:pt x="1645920" y="275353"/>
                  <a:pt x="1623716" y="297557"/>
                  <a:pt x="1596326" y="297557"/>
                </a:cubicBezTo>
                <a:lnTo>
                  <a:pt x="49594" y="297557"/>
                </a:lnTo>
                <a:cubicBezTo>
                  <a:pt x="22204" y="297557"/>
                  <a:pt x="0" y="275353"/>
                  <a:pt x="0" y="247963"/>
                </a:cubicBezTo>
                <a:lnTo>
                  <a:pt x="0" y="49594"/>
                </a:lnTo>
                <a:close/>
              </a:path>
            </a:pathLst>
          </a:custGeom>
          <a:solidFill>
            <a:srgbClr val="44525A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8816" tIns="31671" rIns="48816" bIns="31671" numCol="1" spcCol="1270" anchor="ctr" anchorCtr="0">
            <a:noAutofit/>
          </a:bodyPr>
          <a:lstStyle/>
          <a:p>
            <a:pPr marL="0" lvl="0" indent="0"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>
                <a:latin typeface="Bahnschrift" panose="020B0502040204020203" pitchFamily="34" charset="0"/>
              </a:rPr>
              <a:t>Pig Latin data model</a:t>
            </a:r>
            <a:endParaRPr lang="en-IN" sz="2800" kern="120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982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777906-816E-461E-9E8A-B2F9D58BA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Architecture of PIG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3312164-CD0D-463D-BE9C-22061C7CB387}"/>
              </a:ext>
            </a:extLst>
          </p:cNvPr>
          <p:cNvSpPr/>
          <p:nvPr/>
        </p:nvSpPr>
        <p:spPr>
          <a:xfrm>
            <a:off x="2251710" y="1959353"/>
            <a:ext cx="4983480" cy="1014153"/>
          </a:xfrm>
          <a:custGeom>
            <a:avLst/>
            <a:gdLst>
              <a:gd name="connsiteX0" fmla="*/ 0 w 1645920"/>
              <a:gd name="connsiteY0" fmla="*/ 49594 h 297557"/>
              <a:gd name="connsiteX1" fmla="*/ 49594 w 1645920"/>
              <a:gd name="connsiteY1" fmla="*/ 0 h 297557"/>
              <a:gd name="connsiteX2" fmla="*/ 1596326 w 1645920"/>
              <a:gd name="connsiteY2" fmla="*/ 0 h 297557"/>
              <a:gd name="connsiteX3" fmla="*/ 1645920 w 1645920"/>
              <a:gd name="connsiteY3" fmla="*/ 49594 h 297557"/>
              <a:gd name="connsiteX4" fmla="*/ 1645920 w 1645920"/>
              <a:gd name="connsiteY4" fmla="*/ 247963 h 297557"/>
              <a:gd name="connsiteX5" fmla="*/ 1596326 w 1645920"/>
              <a:gd name="connsiteY5" fmla="*/ 297557 h 297557"/>
              <a:gd name="connsiteX6" fmla="*/ 49594 w 1645920"/>
              <a:gd name="connsiteY6" fmla="*/ 297557 h 297557"/>
              <a:gd name="connsiteX7" fmla="*/ 0 w 1645920"/>
              <a:gd name="connsiteY7" fmla="*/ 247963 h 297557"/>
              <a:gd name="connsiteX8" fmla="*/ 0 w 1645920"/>
              <a:gd name="connsiteY8" fmla="*/ 49594 h 297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45920" h="297557">
                <a:moveTo>
                  <a:pt x="0" y="49594"/>
                </a:moveTo>
                <a:cubicBezTo>
                  <a:pt x="0" y="22204"/>
                  <a:pt x="22204" y="0"/>
                  <a:pt x="49594" y="0"/>
                </a:cubicBezTo>
                <a:lnTo>
                  <a:pt x="1596326" y="0"/>
                </a:lnTo>
                <a:cubicBezTo>
                  <a:pt x="1623716" y="0"/>
                  <a:pt x="1645920" y="22204"/>
                  <a:pt x="1645920" y="49594"/>
                </a:cubicBezTo>
                <a:lnTo>
                  <a:pt x="1645920" y="247963"/>
                </a:lnTo>
                <a:cubicBezTo>
                  <a:pt x="1645920" y="275353"/>
                  <a:pt x="1623716" y="297557"/>
                  <a:pt x="1596326" y="297557"/>
                </a:cubicBezTo>
                <a:lnTo>
                  <a:pt x="49594" y="297557"/>
                </a:lnTo>
                <a:cubicBezTo>
                  <a:pt x="22204" y="297557"/>
                  <a:pt x="0" y="275353"/>
                  <a:pt x="0" y="247963"/>
                </a:cubicBezTo>
                <a:lnTo>
                  <a:pt x="0" y="49594"/>
                </a:lnTo>
                <a:close/>
              </a:path>
            </a:pathLst>
          </a:custGeom>
          <a:solidFill>
            <a:srgbClr val="44525A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8816" tIns="31671" rIns="48816" bIns="31671" numCol="1" spcCol="1270" anchor="ctr" anchorCtr="0">
            <a:noAutofit/>
          </a:bodyPr>
          <a:lstStyle/>
          <a:p>
            <a:pPr marL="0" lvl="0" indent="0"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>
                <a:latin typeface="Bahnschrift" panose="020B0502040204020203" pitchFamily="34" charset="0"/>
              </a:rPr>
              <a:t>Components</a:t>
            </a:r>
            <a:endParaRPr lang="en-IN" sz="2800" kern="1200">
              <a:latin typeface="Bahnschrift" panose="020B0502040204020203" pitchFamily="34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2D56A25-2517-41B1-A976-0A992F2E7F3C}"/>
              </a:ext>
            </a:extLst>
          </p:cNvPr>
          <p:cNvSpPr/>
          <p:nvPr/>
        </p:nvSpPr>
        <p:spPr>
          <a:xfrm>
            <a:off x="2251710" y="3535319"/>
            <a:ext cx="4983480" cy="1014153"/>
          </a:xfrm>
          <a:custGeom>
            <a:avLst/>
            <a:gdLst>
              <a:gd name="connsiteX0" fmla="*/ 0 w 1645920"/>
              <a:gd name="connsiteY0" fmla="*/ 49594 h 297557"/>
              <a:gd name="connsiteX1" fmla="*/ 49594 w 1645920"/>
              <a:gd name="connsiteY1" fmla="*/ 0 h 297557"/>
              <a:gd name="connsiteX2" fmla="*/ 1596326 w 1645920"/>
              <a:gd name="connsiteY2" fmla="*/ 0 h 297557"/>
              <a:gd name="connsiteX3" fmla="*/ 1645920 w 1645920"/>
              <a:gd name="connsiteY3" fmla="*/ 49594 h 297557"/>
              <a:gd name="connsiteX4" fmla="*/ 1645920 w 1645920"/>
              <a:gd name="connsiteY4" fmla="*/ 247963 h 297557"/>
              <a:gd name="connsiteX5" fmla="*/ 1596326 w 1645920"/>
              <a:gd name="connsiteY5" fmla="*/ 297557 h 297557"/>
              <a:gd name="connsiteX6" fmla="*/ 49594 w 1645920"/>
              <a:gd name="connsiteY6" fmla="*/ 297557 h 297557"/>
              <a:gd name="connsiteX7" fmla="*/ 0 w 1645920"/>
              <a:gd name="connsiteY7" fmla="*/ 247963 h 297557"/>
              <a:gd name="connsiteX8" fmla="*/ 0 w 1645920"/>
              <a:gd name="connsiteY8" fmla="*/ 49594 h 297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45920" h="297557">
                <a:moveTo>
                  <a:pt x="0" y="49594"/>
                </a:moveTo>
                <a:cubicBezTo>
                  <a:pt x="0" y="22204"/>
                  <a:pt x="22204" y="0"/>
                  <a:pt x="49594" y="0"/>
                </a:cubicBezTo>
                <a:lnTo>
                  <a:pt x="1596326" y="0"/>
                </a:lnTo>
                <a:cubicBezTo>
                  <a:pt x="1623716" y="0"/>
                  <a:pt x="1645920" y="22204"/>
                  <a:pt x="1645920" y="49594"/>
                </a:cubicBezTo>
                <a:lnTo>
                  <a:pt x="1645920" y="247963"/>
                </a:lnTo>
                <a:cubicBezTo>
                  <a:pt x="1645920" y="275353"/>
                  <a:pt x="1623716" y="297557"/>
                  <a:pt x="1596326" y="297557"/>
                </a:cubicBezTo>
                <a:lnTo>
                  <a:pt x="49594" y="297557"/>
                </a:lnTo>
                <a:cubicBezTo>
                  <a:pt x="22204" y="297557"/>
                  <a:pt x="0" y="275353"/>
                  <a:pt x="0" y="247963"/>
                </a:cubicBezTo>
                <a:lnTo>
                  <a:pt x="0" y="49594"/>
                </a:lnTo>
                <a:close/>
              </a:path>
            </a:pathLst>
          </a:custGeom>
          <a:solidFill>
            <a:srgbClr val="44525A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8816" tIns="31671" rIns="48816" bIns="31671" numCol="1" spcCol="1270" anchor="ctr" anchorCtr="0">
            <a:noAutofit/>
          </a:bodyPr>
          <a:lstStyle/>
          <a:p>
            <a:pPr marL="0" lvl="0" indent="0"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>
                <a:latin typeface="Bahnschrift" panose="020B0502040204020203" pitchFamily="34" charset="0"/>
              </a:rPr>
              <a:t>Pig Latin data model</a:t>
            </a:r>
            <a:endParaRPr lang="en-IN" sz="2800" kern="1200">
              <a:latin typeface="Bahnschrift" panose="020B0502040204020203" pitchFamily="34" charset="0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09EFF60-1513-43A4-9E7F-347581376D55}"/>
              </a:ext>
            </a:extLst>
          </p:cNvPr>
          <p:cNvSpPr/>
          <p:nvPr/>
        </p:nvSpPr>
        <p:spPr>
          <a:xfrm>
            <a:off x="2251710" y="5111284"/>
            <a:ext cx="4983480" cy="1014153"/>
          </a:xfrm>
          <a:custGeom>
            <a:avLst/>
            <a:gdLst>
              <a:gd name="connsiteX0" fmla="*/ 0 w 1645920"/>
              <a:gd name="connsiteY0" fmla="*/ 49594 h 297557"/>
              <a:gd name="connsiteX1" fmla="*/ 49594 w 1645920"/>
              <a:gd name="connsiteY1" fmla="*/ 0 h 297557"/>
              <a:gd name="connsiteX2" fmla="*/ 1596326 w 1645920"/>
              <a:gd name="connsiteY2" fmla="*/ 0 h 297557"/>
              <a:gd name="connsiteX3" fmla="*/ 1645920 w 1645920"/>
              <a:gd name="connsiteY3" fmla="*/ 49594 h 297557"/>
              <a:gd name="connsiteX4" fmla="*/ 1645920 w 1645920"/>
              <a:gd name="connsiteY4" fmla="*/ 247963 h 297557"/>
              <a:gd name="connsiteX5" fmla="*/ 1596326 w 1645920"/>
              <a:gd name="connsiteY5" fmla="*/ 297557 h 297557"/>
              <a:gd name="connsiteX6" fmla="*/ 49594 w 1645920"/>
              <a:gd name="connsiteY6" fmla="*/ 297557 h 297557"/>
              <a:gd name="connsiteX7" fmla="*/ 0 w 1645920"/>
              <a:gd name="connsiteY7" fmla="*/ 247963 h 297557"/>
              <a:gd name="connsiteX8" fmla="*/ 0 w 1645920"/>
              <a:gd name="connsiteY8" fmla="*/ 49594 h 297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45920" h="297557">
                <a:moveTo>
                  <a:pt x="0" y="49594"/>
                </a:moveTo>
                <a:cubicBezTo>
                  <a:pt x="0" y="22204"/>
                  <a:pt x="22204" y="0"/>
                  <a:pt x="49594" y="0"/>
                </a:cubicBezTo>
                <a:lnTo>
                  <a:pt x="1596326" y="0"/>
                </a:lnTo>
                <a:cubicBezTo>
                  <a:pt x="1623716" y="0"/>
                  <a:pt x="1645920" y="22204"/>
                  <a:pt x="1645920" y="49594"/>
                </a:cubicBezTo>
                <a:lnTo>
                  <a:pt x="1645920" y="247963"/>
                </a:lnTo>
                <a:cubicBezTo>
                  <a:pt x="1645920" y="275353"/>
                  <a:pt x="1623716" y="297557"/>
                  <a:pt x="1596326" y="297557"/>
                </a:cubicBezTo>
                <a:lnTo>
                  <a:pt x="49594" y="297557"/>
                </a:lnTo>
                <a:cubicBezTo>
                  <a:pt x="22204" y="297557"/>
                  <a:pt x="0" y="275353"/>
                  <a:pt x="0" y="247963"/>
                </a:cubicBezTo>
                <a:lnTo>
                  <a:pt x="0" y="49594"/>
                </a:lnTo>
                <a:close/>
              </a:path>
            </a:pathLst>
          </a:custGeom>
          <a:solidFill>
            <a:srgbClr val="44525A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8816" tIns="31671" rIns="48816" bIns="31671" numCol="1" spcCol="1270" anchor="ctr" anchorCtr="0">
            <a:noAutofit/>
          </a:bodyPr>
          <a:lstStyle/>
          <a:p>
            <a:pPr marL="0" lvl="0" indent="0"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>
                <a:latin typeface="Bahnschrift" panose="020B0502040204020203" pitchFamily="34" charset="0"/>
              </a:rPr>
              <a:t>Pig Job Execution Flow in depth</a:t>
            </a:r>
            <a:endParaRPr lang="en-IN" sz="2800" kern="120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599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777906-816E-461E-9E8A-B2F9D58BA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Architecture of PIG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E18C2B9-9583-446F-9E53-264F71B38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731" y="1325563"/>
            <a:ext cx="8386537" cy="6578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Pig Latin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01716D-8097-45C1-B5A3-4C9647734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437" y="2288218"/>
            <a:ext cx="6297123" cy="409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22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84C9D-36FB-4AAD-9C1C-46D8D2B59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Architecture of PIG</a:t>
            </a:r>
          </a:p>
        </p:txBody>
      </p:sp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1DD1D582-73D6-4BDD-AC1A-89A3DFB357D5}"/>
              </a:ext>
            </a:extLst>
          </p:cNvPr>
          <p:cNvSpPr/>
          <p:nvPr/>
        </p:nvSpPr>
        <p:spPr>
          <a:xfrm>
            <a:off x="3172490" y="1420325"/>
            <a:ext cx="2615610" cy="850605"/>
          </a:xfrm>
          <a:prstGeom prst="snip2Diag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Pig Latin Scripts</a:t>
            </a:r>
            <a:endParaRPr lang="en-IN" sz="2200" dirty="0">
              <a:latin typeface="Bahnschrift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F692B67-D811-4F9A-9F6E-98441A38D672}"/>
              </a:ext>
            </a:extLst>
          </p:cNvPr>
          <p:cNvSpPr/>
          <p:nvPr/>
        </p:nvSpPr>
        <p:spPr>
          <a:xfrm>
            <a:off x="2462321" y="2400654"/>
            <a:ext cx="4140497" cy="27880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D4A58C-2D9A-4010-BCC1-120947858933}"/>
              </a:ext>
            </a:extLst>
          </p:cNvPr>
          <p:cNvSpPr txBox="1"/>
          <p:nvPr/>
        </p:nvSpPr>
        <p:spPr>
          <a:xfrm>
            <a:off x="2796363" y="2541181"/>
            <a:ext cx="76554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Grunt Shell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73D0DE-42B4-4705-8D91-5B027AF8D38A}"/>
              </a:ext>
            </a:extLst>
          </p:cNvPr>
          <p:cNvSpPr txBox="1"/>
          <p:nvPr/>
        </p:nvSpPr>
        <p:spPr>
          <a:xfrm>
            <a:off x="4912243" y="2526612"/>
            <a:ext cx="93566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Pig Server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682C6D-B0B3-4C0D-8694-01AC7C5A0C27}"/>
              </a:ext>
            </a:extLst>
          </p:cNvPr>
          <p:cNvSpPr txBox="1"/>
          <p:nvPr/>
        </p:nvSpPr>
        <p:spPr>
          <a:xfrm>
            <a:off x="3561907" y="3282274"/>
            <a:ext cx="147349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Parser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A8D65E-69FE-4DA2-BDF1-1CE90964AE34}"/>
              </a:ext>
            </a:extLst>
          </p:cNvPr>
          <p:cNvSpPr txBox="1"/>
          <p:nvPr/>
        </p:nvSpPr>
        <p:spPr>
          <a:xfrm>
            <a:off x="3561907" y="3746368"/>
            <a:ext cx="147349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Optimizer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B718D9-E1C9-47AF-B48F-9EEEE7079BD6}"/>
              </a:ext>
            </a:extLst>
          </p:cNvPr>
          <p:cNvSpPr txBox="1"/>
          <p:nvPr/>
        </p:nvSpPr>
        <p:spPr>
          <a:xfrm>
            <a:off x="3561907" y="4210462"/>
            <a:ext cx="147349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Compiler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33BDC4-1EE5-4DCA-BB5B-5A451979BFA0}"/>
              </a:ext>
            </a:extLst>
          </p:cNvPr>
          <p:cNvSpPr txBox="1"/>
          <p:nvPr/>
        </p:nvSpPr>
        <p:spPr>
          <a:xfrm>
            <a:off x="3423683" y="4674556"/>
            <a:ext cx="1903228" cy="3693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Execution Engine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B30340E-222D-482B-9EAB-B7094BDD065E}"/>
              </a:ext>
            </a:extLst>
          </p:cNvPr>
          <p:cNvCxnSpPr/>
          <p:nvPr/>
        </p:nvCxnSpPr>
        <p:spPr>
          <a:xfrm>
            <a:off x="4480295" y="2270930"/>
            <a:ext cx="0" cy="79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96247A0-85C9-430A-91AF-46A5EAF2C840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4531630" y="5188687"/>
            <a:ext cx="940" cy="170122"/>
          </a:xfrm>
          <a:prstGeom prst="straightConnector1">
            <a:avLst/>
          </a:prstGeom>
          <a:ln w="28575">
            <a:solidFill>
              <a:srgbClr val="4452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67200BF-50F5-4DC4-B5FD-2627D87C6D66}"/>
              </a:ext>
            </a:extLst>
          </p:cNvPr>
          <p:cNvSpPr/>
          <p:nvPr/>
        </p:nvSpPr>
        <p:spPr>
          <a:xfrm>
            <a:off x="3561907" y="5358809"/>
            <a:ext cx="2038630" cy="478465"/>
          </a:xfrm>
          <a:prstGeom prst="round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Bahnschrift" panose="020B0502040204020203" pitchFamily="34" charset="0"/>
              </a:rPr>
              <a:t>MapReduce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4902E6C-D0FE-484D-B9A1-78525D3196B5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4581222" y="5837274"/>
            <a:ext cx="0" cy="170122"/>
          </a:xfrm>
          <a:prstGeom prst="straightConnector1">
            <a:avLst/>
          </a:prstGeom>
          <a:ln w="28575">
            <a:solidFill>
              <a:srgbClr val="4452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8EB3ED0-F518-4C7F-ADE0-4131C374E40D}"/>
              </a:ext>
            </a:extLst>
          </p:cNvPr>
          <p:cNvSpPr/>
          <p:nvPr/>
        </p:nvSpPr>
        <p:spPr>
          <a:xfrm>
            <a:off x="2462458" y="5982072"/>
            <a:ext cx="4413356" cy="70822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Flowchart: Multidocument 25">
            <a:extLst>
              <a:ext uri="{FF2B5EF4-FFF2-40B4-BE49-F238E27FC236}">
                <a16:creationId xmlns:a16="http://schemas.microsoft.com/office/drawing/2014/main" id="{D4FFE34F-60CB-4DF4-9F63-D9822FEE8520}"/>
              </a:ext>
            </a:extLst>
          </p:cNvPr>
          <p:cNvSpPr/>
          <p:nvPr/>
        </p:nvSpPr>
        <p:spPr>
          <a:xfrm>
            <a:off x="3973489" y="6066838"/>
            <a:ext cx="1116281" cy="563821"/>
          </a:xfrm>
          <a:prstGeom prst="flowChartMultidocumen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HDFS</a:t>
            </a:r>
          </a:p>
        </p:txBody>
      </p:sp>
    </p:spTree>
    <p:extLst>
      <p:ext uri="{BB962C8B-B14F-4D97-AF65-F5344CB8AC3E}">
        <p14:creationId xmlns:p14="http://schemas.microsoft.com/office/powerpoint/2010/main" val="1684575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100FA0-BA7C-4449-BB62-206B490E9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Apache Pig Components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46503A-0BD0-4BA0-88FD-E27B83CC5C54}"/>
              </a:ext>
            </a:extLst>
          </p:cNvPr>
          <p:cNvSpPr/>
          <p:nvPr/>
        </p:nvSpPr>
        <p:spPr>
          <a:xfrm>
            <a:off x="338362" y="2778826"/>
            <a:ext cx="2119830" cy="866899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Bahnschrift" panose="020B0502040204020203" pitchFamily="34" charset="0"/>
              </a:rPr>
              <a:t>Parser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2136BA-BABE-429E-97DF-6B039E5D2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691" y="1515569"/>
            <a:ext cx="6067947" cy="4695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7CA185-9DBA-4A00-8CE1-C780A41291DC}"/>
              </a:ext>
            </a:extLst>
          </p:cNvPr>
          <p:cNvSpPr txBox="1"/>
          <p:nvPr/>
        </p:nvSpPr>
        <p:spPr>
          <a:xfrm>
            <a:off x="4513137" y="6210796"/>
            <a:ext cx="4572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b="0" i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Commands</a:t>
            </a:r>
            <a:endParaRPr lang="en-IN" sz="21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423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100FA0-BA7C-4449-BB62-206B490E9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Apache Pig Components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46503A-0BD0-4BA0-88FD-E27B83CC5C54}"/>
              </a:ext>
            </a:extLst>
          </p:cNvPr>
          <p:cNvSpPr/>
          <p:nvPr/>
        </p:nvSpPr>
        <p:spPr>
          <a:xfrm>
            <a:off x="3218214" y="2910921"/>
            <a:ext cx="2119830" cy="866899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Bahnschrift" panose="020B0502040204020203" pitchFamily="34" charset="0"/>
              </a:rPr>
              <a:t>Parser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47BF87-8373-42B0-9B1F-29F38A346D92}"/>
              </a:ext>
            </a:extLst>
          </p:cNvPr>
          <p:cNvSpPr/>
          <p:nvPr/>
        </p:nvSpPr>
        <p:spPr>
          <a:xfrm>
            <a:off x="1816924" y="1595470"/>
            <a:ext cx="1947553" cy="64633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200" dirty="0">
                <a:latin typeface="Bahnschrift" panose="020B0502040204020203" pitchFamily="34" charset="0"/>
              </a:rPr>
              <a:t>Syntax check</a:t>
            </a:r>
          </a:p>
        </p:txBody>
      </p:sp>
    </p:spTree>
    <p:extLst>
      <p:ext uri="{BB962C8B-B14F-4D97-AF65-F5344CB8AC3E}">
        <p14:creationId xmlns:p14="http://schemas.microsoft.com/office/powerpoint/2010/main" val="4108044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100FA0-BA7C-4449-BB62-206B490E9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Apache Pig Components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46503A-0BD0-4BA0-88FD-E27B83CC5C54}"/>
              </a:ext>
            </a:extLst>
          </p:cNvPr>
          <p:cNvSpPr/>
          <p:nvPr/>
        </p:nvSpPr>
        <p:spPr>
          <a:xfrm>
            <a:off x="3218214" y="2910921"/>
            <a:ext cx="2119830" cy="866899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Bahnschrift" panose="020B0502040204020203" pitchFamily="34" charset="0"/>
              </a:rPr>
              <a:t>Parser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47BF87-8373-42B0-9B1F-29F38A346D92}"/>
              </a:ext>
            </a:extLst>
          </p:cNvPr>
          <p:cNvSpPr/>
          <p:nvPr/>
        </p:nvSpPr>
        <p:spPr>
          <a:xfrm>
            <a:off x="1816924" y="1595470"/>
            <a:ext cx="1947553" cy="64633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200" dirty="0">
                <a:latin typeface="Bahnschrift" panose="020B0502040204020203" pitchFamily="34" charset="0"/>
              </a:rPr>
              <a:t>Syntax check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6692324-7D1B-4E6C-B0FB-147C30C0515D}"/>
              </a:ext>
            </a:extLst>
          </p:cNvPr>
          <p:cNvSpPr/>
          <p:nvPr/>
        </p:nvSpPr>
        <p:spPr>
          <a:xfrm>
            <a:off x="5925787" y="2424773"/>
            <a:ext cx="1947553" cy="64633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200" dirty="0">
                <a:latin typeface="Bahnschrift" panose="020B0502040204020203" pitchFamily="34" charset="0"/>
              </a:rPr>
              <a:t>Type check</a:t>
            </a:r>
          </a:p>
        </p:txBody>
      </p:sp>
    </p:spTree>
    <p:extLst>
      <p:ext uri="{BB962C8B-B14F-4D97-AF65-F5344CB8AC3E}">
        <p14:creationId xmlns:p14="http://schemas.microsoft.com/office/powerpoint/2010/main" val="3854397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100FA0-BA7C-4449-BB62-206B490E9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Apache Pig Components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46503A-0BD0-4BA0-88FD-E27B83CC5C54}"/>
              </a:ext>
            </a:extLst>
          </p:cNvPr>
          <p:cNvSpPr/>
          <p:nvPr/>
        </p:nvSpPr>
        <p:spPr>
          <a:xfrm>
            <a:off x="3218214" y="2910921"/>
            <a:ext cx="2119830" cy="866899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Bahnschrift" panose="020B0502040204020203" pitchFamily="34" charset="0"/>
              </a:rPr>
              <a:t>Parser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47BF87-8373-42B0-9B1F-29F38A346D92}"/>
              </a:ext>
            </a:extLst>
          </p:cNvPr>
          <p:cNvSpPr/>
          <p:nvPr/>
        </p:nvSpPr>
        <p:spPr>
          <a:xfrm>
            <a:off x="1816924" y="1595470"/>
            <a:ext cx="1947553" cy="64633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200" dirty="0">
                <a:latin typeface="Bahnschrift" panose="020B0502040204020203" pitchFamily="34" charset="0"/>
              </a:rPr>
              <a:t>Syntax check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6692324-7D1B-4E6C-B0FB-147C30C0515D}"/>
              </a:ext>
            </a:extLst>
          </p:cNvPr>
          <p:cNvSpPr/>
          <p:nvPr/>
        </p:nvSpPr>
        <p:spPr>
          <a:xfrm>
            <a:off x="5925787" y="2424773"/>
            <a:ext cx="1947553" cy="64633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200" dirty="0">
                <a:latin typeface="Bahnschrift" panose="020B0502040204020203" pitchFamily="34" charset="0"/>
              </a:rPr>
              <a:t>Type check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5B3BE9-21FE-42B5-B147-0A5ED9E104F5}"/>
              </a:ext>
            </a:extLst>
          </p:cNvPr>
          <p:cNvSpPr/>
          <p:nvPr/>
        </p:nvSpPr>
        <p:spPr>
          <a:xfrm>
            <a:off x="843148" y="4170314"/>
            <a:ext cx="3313216" cy="10619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  <a:latin typeface="Bahnschrift" panose="020B0502040204020203" pitchFamily="34" charset="0"/>
              </a:rPr>
              <a:t>DAG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(Directed Acyclic Graph)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 </a:t>
            </a:r>
            <a:endParaRPr lang="en-IN" sz="22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816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100FA0-BA7C-4449-BB62-206B490E9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Apache Pig Components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5B3BE9-21FE-42B5-B147-0A5ED9E104F5}"/>
              </a:ext>
            </a:extLst>
          </p:cNvPr>
          <p:cNvSpPr/>
          <p:nvPr/>
        </p:nvSpPr>
        <p:spPr>
          <a:xfrm>
            <a:off x="2875022" y="5582277"/>
            <a:ext cx="3313216" cy="10619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  <a:latin typeface="Bahnschrift" panose="020B0502040204020203" pitchFamily="34" charset="0"/>
              </a:rPr>
              <a:t>DAG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(Directed Acyclic Graph)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 </a:t>
            </a:r>
            <a:endParaRPr lang="en-IN" sz="22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C82A21-BA18-4BCD-93FC-C4482D961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953" y="1595883"/>
            <a:ext cx="4960484" cy="389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98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9EB546-C31D-499F-8863-D42179E4C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1225" y="2161309"/>
            <a:ext cx="2458193" cy="1056904"/>
          </a:xfrm>
          <a:solidFill>
            <a:srgbClr val="44525A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>
            <a:normAutofit fontScale="85000" lnSpcReduction="20000"/>
          </a:bodyPr>
          <a:lstStyle/>
          <a:p>
            <a:pPr marL="0" indent="0" algn="ctr">
              <a:buNone/>
            </a:pPr>
            <a:br>
              <a:rPr lang="en-IN" b="0" i="0" dirty="0">
                <a:solidFill>
                  <a:schemeClr val="bg1"/>
                </a:solidFill>
                <a:effectLst/>
              </a:rPr>
            </a:br>
            <a:r>
              <a:rPr lang="en-IN" b="0" i="0" dirty="0">
                <a:solidFill>
                  <a:schemeClr val="bg1"/>
                </a:solidFill>
                <a:effectLst/>
              </a:rPr>
              <a:t>Optimizer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67F191-E634-4214-9E2F-66ED6097C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Apache Pig Components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E2F6A3-8D44-4E07-8786-AC863D3C2774}"/>
              </a:ext>
            </a:extLst>
          </p:cNvPr>
          <p:cNvSpPr/>
          <p:nvPr/>
        </p:nvSpPr>
        <p:spPr>
          <a:xfrm>
            <a:off x="1068779" y="4168239"/>
            <a:ext cx="2185060" cy="807522"/>
          </a:xfrm>
          <a:prstGeom prst="roundRect">
            <a:avLst/>
          </a:prstGeom>
          <a:solidFill>
            <a:srgbClr val="44525A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Bahnschrift" panose="020B0502040204020203" pitchFamily="34" charset="0"/>
              </a:rPr>
              <a:t>Projection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244EF3F-1985-4F44-932B-A2FAEB4C469A}"/>
              </a:ext>
            </a:extLst>
          </p:cNvPr>
          <p:cNvSpPr/>
          <p:nvPr/>
        </p:nvSpPr>
        <p:spPr>
          <a:xfrm>
            <a:off x="5389418" y="4168239"/>
            <a:ext cx="2185060" cy="807522"/>
          </a:xfrm>
          <a:prstGeom prst="roundRect">
            <a:avLst/>
          </a:prstGeom>
          <a:solidFill>
            <a:srgbClr val="44525A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Bahnschrift" panose="020B0502040204020203" pitchFamily="34" charset="0"/>
              </a:rPr>
              <a:t>Push Down</a:t>
            </a:r>
          </a:p>
        </p:txBody>
      </p:sp>
    </p:spTree>
    <p:extLst>
      <p:ext uri="{BB962C8B-B14F-4D97-AF65-F5344CB8AC3E}">
        <p14:creationId xmlns:p14="http://schemas.microsoft.com/office/powerpoint/2010/main" val="2276091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9EB546-C31D-499F-8863-D42179E4C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84" y="2372096"/>
            <a:ext cx="2458193" cy="1056904"/>
          </a:xfrm>
          <a:solidFill>
            <a:srgbClr val="44525A"/>
          </a:solidFill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IN" b="0" i="0" dirty="0">
                <a:solidFill>
                  <a:schemeClr val="bg1"/>
                </a:solidFill>
                <a:effectLst/>
              </a:rPr>
              <a:t>Compiler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67F191-E634-4214-9E2F-66ED6097C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Apache Pig Components</a:t>
            </a:r>
          </a:p>
        </p:txBody>
      </p:sp>
    </p:spTree>
    <p:extLst>
      <p:ext uri="{BB962C8B-B14F-4D97-AF65-F5344CB8AC3E}">
        <p14:creationId xmlns:p14="http://schemas.microsoft.com/office/powerpoint/2010/main" val="4128541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9EB546-C31D-499F-8863-D42179E4C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84" y="2372096"/>
            <a:ext cx="2458193" cy="1056904"/>
          </a:xfrm>
          <a:solidFill>
            <a:srgbClr val="44525A"/>
          </a:solidFill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IN" b="0" i="0" dirty="0">
                <a:solidFill>
                  <a:schemeClr val="bg1"/>
                </a:solidFill>
                <a:effectLst/>
              </a:rPr>
              <a:t>Compiler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67F191-E634-4214-9E2F-66ED6097C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Apache Pig Components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C8E83F8-D5C1-46BE-BDA3-896CCC730B03}"/>
              </a:ext>
            </a:extLst>
          </p:cNvPr>
          <p:cNvSpPr/>
          <p:nvPr/>
        </p:nvSpPr>
        <p:spPr>
          <a:xfrm>
            <a:off x="3002477" y="2493818"/>
            <a:ext cx="2359230" cy="93518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Bahnschrift" panose="020B0502040204020203" pitchFamily="34" charset="0"/>
              </a:rPr>
              <a:t>Compiles</a:t>
            </a:r>
          </a:p>
        </p:txBody>
      </p:sp>
    </p:spTree>
    <p:extLst>
      <p:ext uri="{BB962C8B-B14F-4D97-AF65-F5344CB8AC3E}">
        <p14:creationId xmlns:p14="http://schemas.microsoft.com/office/powerpoint/2010/main" val="39688371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9EB546-C31D-499F-8863-D42179E4C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84" y="2372096"/>
            <a:ext cx="2458193" cy="1056904"/>
          </a:xfrm>
          <a:solidFill>
            <a:srgbClr val="44525A"/>
          </a:solidFill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IN" b="0" i="0" dirty="0">
                <a:solidFill>
                  <a:schemeClr val="bg1"/>
                </a:solidFill>
                <a:effectLst/>
              </a:rPr>
              <a:t>Compiler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67F191-E634-4214-9E2F-66ED6097C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Apache Pig Components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C8E83F8-D5C1-46BE-BDA3-896CCC730B03}"/>
              </a:ext>
            </a:extLst>
          </p:cNvPr>
          <p:cNvSpPr/>
          <p:nvPr/>
        </p:nvSpPr>
        <p:spPr>
          <a:xfrm>
            <a:off x="3002477" y="2493818"/>
            <a:ext cx="2359230" cy="93518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Bahnschrift" panose="020B0502040204020203" pitchFamily="34" charset="0"/>
              </a:rPr>
              <a:t>Compiles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31820663-8FF3-4FDF-85AA-49D5FB22EFCE}"/>
              </a:ext>
            </a:extLst>
          </p:cNvPr>
          <p:cNvSpPr txBox="1">
            <a:spLocks/>
          </p:cNvSpPr>
          <p:nvPr/>
        </p:nvSpPr>
        <p:spPr>
          <a:xfrm>
            <a:off x="5553692" y="2441369"/>
            <a:ext cx="2458193" cy="1056904"/>
          </a:xfrm>
          <a:prstGeom prst="rect">
            <a:avLst/>
          </a:prstGeom>
          <a:solidFill>
            <a:srgbClr val="44525A"/>
          </a:solidFill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dirty="0">
                <a:solidFill>
                  <a:schemeClr val="bg1"/>
                </a:solidFill>
              </a:rPr>
              <a:t>Optimized logical plan</a:t>
            </a:r>
          </a:p>
        </p:txBody>
      </p:sp>
    </p:spTree>
    <p:extLst>
      <p:ext uri="{BB962C8B-B14F-4D97-AF65-F5344CB8AC3E}">
        <p14:creationId xmlns:p14="http://schemas.microsoft.com/office/powerpoint/2010/main" val="22317935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9EB546-C31D-499F-8863-D42179E4C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4346" y="2514599"/>
            <a:ext cx="2458193" cy="1056904"/>
          </a:xfrm>
          <a:solidFill>
            <a:srgbClr val="44525A"/>
          </a:solidFill>
        </p:spPr>
        <p:txBody>
          <a:bodyPr anchor="ctr">
            <a:normAutofit fontScale="85000" lnSpcReduction="10000"/>
          </a:bodyPr>
          <a:lstStyle/>
          <a:p>
            <a:pPr marL="0" indent="0" algn="ctr" fontAlgn="base">
              <a:buNone/>
            </a:pPr>
            <a:r>
              <a:rPr lang="en-IN" b="0" i="0" dirty="0">
                <a:solidFill>
                  <a:schemeClr val="bg1"/>
                </a:solidFill>
                <a:effectLst/>
              </a:rPr>
              <a:t>Execution engine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67F191-E634-4214-9E2F-66ED6097C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Apache Pig Components</a:t>
            </a:r>
          </a:p>
        </p:txBody>
      </p:sp>
    </p:spTree>
    <p:extLst>
      <p:ext uri="{BB962C8B-B14F-4D97-AF65-F5344CB8AC3E}">
        <p14:creationId xmlns:p14="http://schemas.microsoft.com/office/powerpoint/2010/main" val="42904496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155E18-4AD2-46B3-A8C2-9F41568227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6577" y="2593748"/>
            <a:ext cx="7430106" cy="288871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15ED568-A2B3-41BA-A6B5-1A7D078E4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br>
              <a:rPr lang="en-IN" dirty="0">
                <a:latin typeface="Bahnschrift" panose="020B0502040204020203" pitchFamily="34" charset="0"/>
              </a:rPr>
            </a:br>
            <a:r>
              <a:rPr lang="en-IN" dirty="0">
                <a:latin typeface="Bahnschrift" panose="020B0502040204020203" pitchFamily="34" charset="0"/>
              </a:rPr>
              <a:t>Pig Latin Data Model</a:t>
            </a:r>
            <a:br>
              <a:rPr lang="en-IN" dirty="0"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107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5ED568-A2B3-41BA-A6B5-1A7D078E4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br>
              <a:rPr lang="en-IN" dirty="0">
                <a:latin typeface="Bahnschrift" panose="020B0502040204020203" pitchFamily="34" charset="0"/>
              </a:rPr>
            </a:br>
            <a:r>
              <a:rPr lang="en-IN" dirty="0">
                <a:latin typeface="Bahnschrift" panose="020B0502040204020203" pitchFamily="34" charset="0"/>
              </a:rPr>
              <a:t>Pig Latin Data Model</a:t>
            </a:r>
            <a:br>
              <a:rPr lang="en-IN" dirty="0"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AF2A4B-A023-44E1-B5D2-9961F1FB8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95" y="2139290"/>
            <a:ext cx="7620000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5608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5ED568-A2B3-41BA-A6B5-1A7D078E4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Pig Latin Data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3B5DF8-BC7A-4E3E-B06A-C85DE9ECA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75" y="1954919"/>
            <a:ext cx="6125623" cy="399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5406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EBBE86-BE1A-4BBB-9938-47664C66C7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6282" y="1985713"/>
            <a:ext cx="5663620" cy="355707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6B3DA50-B16C-4820-A30A-0717E75E6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Pig Latin Data Model</a:t>
            </a:r>
          </a:p>
        </p:txBody>
      </p:sp>
    </p:spTree>
    <p:extLst>
      <p:ext uri="{BB962C8B-B14F-4D97-AF65-F5344CB8AC3E}">
        <p14:creationId xmlns:p14="http://schemas.microsoft.com/office/powerpoint/2010/main" val="1001513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09B8202-FAC9-4BD3-82B6-3BC3A5B157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6591937"/>
              </p:ext>
            </p:extLst>
          </p:nvPr>
        </p:nvGraphicFramePr>
        <p:xfrm>
          <a:off x="378619" y="1569720"/>
          <a:ext cx="8386761" cy="500353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95587">
                  <a:extLst>
                    <a:ext uri="{9D8B030D-6E8A-4147-A177-3AD203B41FA5}">
                      <a16:colId xmlns:a16="http://schemas.microsoft.com/office/drawing/2014/main" val="2759598173"/>
                    </a:ext>
                  </a:extLst>
                </a:gridCol>
                <a:gridCol w="2795587">
                  <a:extLst>
                    <a:ext uri="{9D8B030D-6E8A-4147-A177-3AD203B41FA5}">
                      <a16:colId xmlns:a16="http://schemas.microsoft.com/office/drawing/2014/main" val="4212611620"/>
                    </a:ext>
                  </a:extLst>
                </a:gridCol>
                <a:gridCol w="2795587">
                  <a:extLst>
                    <a:ext uri="{9D8B030D-6E8A-4147-A177-3AD203B41FA5}">
                      <a16:colId xmlns:a16="http://schemas.microsoft.com/office/drawing/2014/main" val="274282445"/>
                    </a:ext>
                  </a:extLst>
                </a:gridCol>
              </a:tblGrid>
              <a:tr h="43714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Bahnschrift" panose="020B0502040204020203" pitchFamily="34" charset="0"/>
                        </a:rPr>
                        <a:t>Data Type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Bahnschrift" panose="020B0502040204020203" pitchFamily="34" charset="0"/>
                        </a:rPr>
                        <a:t>Description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Bahnschrift" panose="020B0502040204020203" pitchFamily="34" charset="0"/>
                        </a:rPr>
                        <a:t>Example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803093"/>
                  </a:ext>
                </a:extLst>
              </a:tr>
              <a:tr h="113658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Bahnschrift" panose="020B0502040204020203" pitchFamily="34" charset="0"/>
                        </a:rPr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Bahnschrift" panose="020B0502040204020203" pitchFamily="34" charset="0"/>
                        </a:rPr>
                        <a:t>Represent a signed 32 bit integer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Bahnschrift" panose="020B0502040204020203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705934"/>
                  </a:ext>
                </a:extLst>
              </a:tr>
              <a:tr h="113658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Bahnschrift" panose="020B0502040204020203" pitchFamily="34" charset="0"/>
                        </a:rPr>
                        <a:t>long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dirty="0">
                          <a:latin typeface="Bahnschrift" panose="020B0502040204020203" pitchFamily="34" charset="0"/>
                        </a:rPr>
                        <a:t>Represent a signed 64 bit integer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Bahnschrift" panose="020B0502040204020203" pitchFamily="34" charset="0"/>
                        </a:rPr>
                        <a:t>5L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929559"/>
                  </a:ext>
                </a:extLst>
              </a:tr>
              <a:tr h="113658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Bahnschrift" panose="020B0502040204020203" pitchFamily="34" charset="0"/>
                        </a:rPr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dirty="0">
                          <a:latin typeface="Bahnschrift" panose="020B0502040204020203" pitchFamily="34" charset="0"/>
                        </a:rPr>
                        <a:t>Represent a signed 32 bit integer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Bahnschrift" panose="020B0502040204020203" pitchFamily="34" charset="0"/>
                        </a:rPr>
                        <a:t>5.5L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459228"/>
                  </a:ext>
                </a:extLst>
              </a:tr>
              <a:tr h="1136583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Bahnschrift" panose="020B0502040204020203" pitchFamily="34" charset="0"/>
                        </a:rPr>
                        <a:t>double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200" dirty="0">
                          <a:latin typeface="Bahnschrift" panose="020B0502040204020203" pitchFamily="34" charset="0"/>
                        </a:rPr>
                        <a:t>Represent a signed 64 bit integer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Bahnschrift" panose="020B0502040204020203" pitchFamily="34" charset="0"/>
                        </a:rPr>
                        <a:t>10.5L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693433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318A6A6-5EA1-4011-B1E1-B144F85DA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Pig Latin Data Type</a:t>
            </a:r>
          </a:p>
        </p:txBody>
      </p:sp>
    </p:spTree>
    <p:extLst>
      <p:ext uri="{BB962C8B-B14F-4D97-AF65-F5344CB8AC3E}">
        <p14:creationId xmlns:p14="http://schemas.microsoft.com/office/powerpoint/2010/main" val="24250727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09B8202-FAC9-4BD3-82B6-3BC3A5B157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5742144"/>
              </p:ext>
            </p:extLst>
          </p:nvPr>
        </p:nvGraphicFramePr>
        <p:xfrm>
          <a:off x="378619" y="2006733"/>
          <a:ext cx="8386761" cy="402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95587">
                  <a:extLst>
                    <a:ext uri="{9D8B030D-6E8A-4147-A177-3AD203B41FA5}">
                      <a16:colId xmlns:a16="http://schemas.microsoft.com/office/drawing/2014/main" val="2759598173"/>
                    </a:ext>
                  </a:extLst>
                </a:gridCol>
                <a:gridCol w="2795587">
                  <a:extLst>
                    <a:ext uri="{9D8B030D-6E8A-4147-A177-3AD203B41FA5}">
                      <a16:colId xmlns:a16="http://schemas.microsoft.com/office/drawing/2014/main" val="4212611620"/>
                    </a:ext>
                  </a:extLst>
                </a:gridCol>
                <a:gridCol w="2795587">
                  <a:extLst>
                    <a:ext uri="{9D8B030D-6E8A-4147-A177-3AD203B41FA5}">
                      <a16:colId xmlns:a16="http://schemas.microsoft.com/office/drawing/2014/main" val="2742824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Bahnschrift" panose="020B0502040204020203" pitchFamily="34" charset="0"/>
                        </a:rPr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Bahnschrift" panose="020B0502040204020203" pitchFamily="34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Bahnschrift" panose="020B0502040204020203" pitchFamily="34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803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>
                          <a:latin typeface="Bahnschrift" panose="020B0502040204020203" pitchFamily="34" charset="0"/>
                        </a:rPr>
                        <a:t>Chararray</a:t>
                      </a:r>
                      <a:endParaRPr lang="en-IN" sz="24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Bahnschrift" panose="020B0502040204020203" pitchFamily="34" charset="0"/>
                        </a:rPr>
                        <a:t>Represents a character array(string) in Unicode UTF-8 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Bahnschrift" panose="020B0502040204020203" pitchFamily="34" charset="0"/>
                        </a:rPr>
                        <a:t>‘Online Classes’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705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>
                          <a:latin typeface="Bahnschrift" panose="020B0502040204020203" pitchFamily="34" charset="0"/>
                        </a:rPr>
                        <a:t>Bytearray</a:t>
                      </a:r>
                      <a:endParaRPr lang="en-IN" sz="24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Bahnschrift" panose="020B0502040204020203" pitchFamily="34" charset="0"/>
                        </a:rPr>
                        <a:t>Represents a Byte array(blob)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4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929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Bahnschrift" panose="020B0502040204020203" pitchFamily="34" charset="0"/>
                        </a:rPr>
                        <a:t>Boolean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Bahnschrift" panose="020B0502040204020203" pitchFamily="34" charset="0"/>
                        </a:rPr>
                        <a:t>Represents a Boolean values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Bahnschrift" panose="020B0502040204020203" pitchFamily="34" charset="0"/>
                        </a:rPr>
                        <a:t>True/false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459228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318A6A6-5EA1-4011-B1E1-B144F85DA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Pig Latin Data Type</a:t>
            </a:r>
          </a:p>
        </p:txBody>
      </p:sp>
    </p:spTree>
    <p:extLst>
      <p:ext uri="{BB962C8B-B14F-4D97-AF65-F5344CB8AC3E}">
        <p14:creationId xmlns:p14="http://schemas.microsoft.com/office/powerpoint/2010/main" val="17866425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09B8202-FAC9-4BD3-82B6-3BC3A5B157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3842210"/>
              </p:ext>
            </p:extLst>
          </p:nvPr>
        </p:nvGraphicFramePr>
        <p:xfrm>
          <a:off x="378619" y="2330583"/>
          <a:ext cx="8386761" cy="3200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95587">
                  <a:extLst>
                    <a:ext uri="{9D8B030D-6E8A-4147-A177-3AD203B41FA5}">
                      <a16:colId xmlns:a16="http://schemas.microsoft.com/office/drawing/2014/main" val="2759598173"/>
                    </a:ext>
                  </a:extLst>
                </a:gridCol>
                <a:gridCol w="2795587">
                  <a:extLst>
                    <a:ext uri="{9D8B030D-6E8A-4147-A177-3AD203B41FA5}">
                      <a16:colId xmlns:a16="http://schemas.microsoft.com/office/drawing/2014/main" val="4212611620"/>
                    </a:ext>
                  </a:extLst>
                </a:gridCol>
                <a:gridCol w="2795587">
                  <a:extLst>
                    <a:ext uri="{9D8B030D-6E8A-4147-A177-3AD203B41FA5}">
                      <a16:colId xmlns:a16="http://schemas.microsoft.com/office/drawing/2014/main" val="2742824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Bahnschrift" panose="020B0502040204020203" pitchFamily="34" charset="0"/>
                        </a:rPr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Bahnschrift" panose="020B0502040204020203" pitchFamily="34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Bahnschrift" panose="020B0502040204020203" pitchFamily="34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803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Bahnschrift" panose="020B0502040204020203" pitchFamily="34" charset="0"/>
                        </a:rPr>
                        <a:t>Datetime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Bahnschrift" panose="020B0502040204020203" pitchFamily="34" charset="0"/>
                        </a:rPr>
                        <a:t>Represents a Date-time.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0" i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1970-01-01T00:00:00.000+00:00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4705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>
                          <a:latin typeface="Bahnschrift" panose="020B0502040204020203" pitchFamily="34" charset="0"/>
                        </a:rPr>
                        <a:t>BigInteger</a:t>
                      </a:r>
                      <a:endParaRPr lang="en-IN" sz="24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Bahnschrift" panose="020B0502040204020203" pitchFamily="34" charset="0"/>
                        </a:rPr>
                        <a:t>Represents a java </a:t>
                      </a:r>
                      <a:r>
                        <a:rPr lang="en-IN" sz="2400" dirty="0" err="1">
                          <a:latin typeface="Bahnschrift" panose="020B0502040204020203" pitchFamily="34" charset="0"/>
                        </a:rPr>
                        <a:t>Biginteger</a:t>
                      </a:r>
                      <a:endParaRPr lang="en-IN" sz="24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0" i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60708090709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3929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>
                          <a:latin typeface="Bahnschrift" panose="020B0502040204020203" pitchFamily="34" charset="0"/>
                        </a:rPr>
                        <a:t>Bigdecimal</a:t>
                      </a:r>
                      <a:endParaRPr lang="en-IN" sz="24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Bahnschrift" panose="020B0502040204020203" pitchFamily="34" charset="0"/>
                        </a:rPr>
                        <a:t>Represents a </a:t>
                      </a:r>
                      <a:r>
                        <a:rPr lang="en-IN" sz="2400" dirty="0" err="1">
                          <a:latin typeface="Bahnschrift" panose="020B0502040204020203" pitchFamily="34" charset="0"/>
                        </a:rPr>
                        <a:t>Bigdecimal</a:t>
                      </a:r>
                      <a:endParaRPr lang="en-IN" sz="24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0" i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185.98376256272893883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6459228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318A6A6-5EA1-4011-B1E1-B144F85DA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Pig Latin Data Type</a:t>
            </a:r>
          </a:p>
        </p:txBody>
      </p:sp>
    </p:spTree>
    <p:extLst>
      <p:ext uri="{BB962C8B-B14F-4D97-AF65-F5344CB8AC3E}">
        <p14:creationId xmlns:p14="http://schemas.microsoft.com/office/powerpoint/2010/main" val="32892080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09B8202-FAC9-4BD3-82B6-3BC3A5B157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1679211"/>
              </p:ext>
            </p:extLst>
          </p:nvPr>
        </p:nvGraphicFramePr>
        <p:xfrm>
          <a:off x="506318" y="2352849"/>
          <a:ext cx="8386761" cy="32918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95587">
                  <a:extLst>
                    <a:ext uri="{9D8B030D-6E8A-4147-A177-3AD203B41FA5}">
                      <a16:colId xmlns:a16="http://schemas.microsoft.com/office/drawing/2014/main" val="2759598173"/>
                    </a:ext>
                  </a:extLst>
                </a:gridCol>
                <a:gridCol w="2795587">
                  <a:extLst>
                    <a:ext uri="{9D8B030D-6E8A-4147-A177-3AD203B41FA5}">
                      <a16:colId xmlns:a16="http://schemas.microsoft.com/office/drawing/2014/main" val="4212611620"/>
                    </a:ext>
                  </a:extLst>
                </a:gridCol>
                <a:gridCol w="2795587">
                  <a:extLst>
                    <a:ext uri="{9D8B030D-6E8A-4147-A177-3AD203B41FA5}">
                      <a16:colId xmlns:a16="http://schemas.microsoft.com/office/drawing/2014/main" val="2742824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Bahnschrift" panose="020B0502040204020203" pitchFamily="34" charset="0"/>
                        </a:rPr>
                        <a:t>Data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Bahnschrift" panose="020B0502040204020203" pitchFamily="34" charset="0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Bahnschrift" panose="020B0502040204020203" pitchFamily="34" charset="0"/>
                        </a:rPr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803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Bahnschrift" panose="020B0502040204020203" pitchFamily="34" charset="0"/>
                        </a:rPr>
                        <a:t>Tuple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Bahnschrift" panose="020B0502040204020203" pitchFamily="34" charset="0"/>
                        </a:rPr>
                        <a:t>A tuple is an ordered set of fields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Bahnschrift" panose="020B0502040204020203" pitchFamily="34" charset="0"/>
                        </a:rPr>
                        <a:t>(raja,30)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705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Bahnschrift" panose="020B0502040204020203" pitchFamily="34" charset="0"/>
                        </a:rPr>
                        <a:t>Bag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Bahnschrift" panose="020B0502040204020203" pitchFamily="34" charset="0"/>
                        </a:rPr>
                        <a:t>A bag is a collection of tuples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Bahnschrift" panose="020B0502040204020203" pitchFamily="34" charset="0"/>
                        </a:rPr>
                        <a:t>{(raju,30),(Mohammad,45)}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929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Bahnschrift" panose="020B0502040204020203" pitchFamily="34" charset="0"/>
                        </a:rPr>
                        <a:t>Map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Bahnschrift" panose="020B0502040204020203" pitchFamily="34" charset="0"/>
                        </a:rPr>
                        <a:t>A Map is a set of key-value pairs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Bahnschrift" panose="020B0502040204020203" pitchFamily="34" charset="0"/>
                        </a:rPr>
                        <a:t>[‘name’#’Raju’,’age’#30]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459228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318A6A6-5EA1-4011-B1E1-B144F85DA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Pig Latin Data Type</a:t>
            </a:r>
          </a:p>
        </p:txBody>
      </p:sp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FE1AF0F1-811F-49CC-A34A-16FC380415CA}"/>
              </a:ext>
            </a:extLst>
          </p:cNvPr>
          <p:cNvSpPr/>
          <p:nvPr/>
        </p:nvSpPr>
        <p:spPr>
          <a:xfrm>
            <a:off x="2774082" y="1410927"/>
            <a:ext cx="3515096" cy="856558"/>
          </a:xfrm>
          <a:prstGeom prst="flowChartAlternateProcess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latin typeface="Bahnschrift" panose="020B0502040204020203" pitchFamily="34" charset="0"/>
              </a:rPr>
              <a:t>Complex Types</a:t>
            </a:r>
          </a:p>
        </p:txBody>
      </p:sp>
    </p:spTree>
    <p:extLst>
      <p:ext uri="{BB962C8B-B14F-4D97-AF65-F5344CB8AC3E}">
        <p14:creationId xmlns:p14="http://schemas.microsoft.com/office/powerpoint/2010/main" val="18651757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824E245-8024-45CB-A1FB-687B99E9B6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6407230"/>
              </p:ext>
            </p:extLst>
          </p:nvPr>
        </p:nvGraphicFramePr>
        <p:xfrm>
          <a:off x="338362" y="2143124"/>
          <a:ext cx="8386762" cy="37814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386762">
                  <a:extLst>
                    <a:ext uri="{9D8B030D-6E8A-4147-A177-3AD203B41FA5}">
                      <a16:colId xmlns:a16="http://schemas.microsoft.com/office/drawing/2014/main" val="3196009567"/>
                    </a:ext>
                  </a:extLst>
                </a:gridCol>
              </a:tblGrid>
              <a:tr h="472678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Operator</a:t>
                      </a:r>
                      <a:endParaRPr lang="en-IN" sz="20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928878"/>
                  </a:ext>
                </a:extLst>
              </a:tr>
              <a:tr h="472678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+ </a:t>
                      </a:r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</a:rPr>
                        <a:t>Addition</a:t>
                      </a:r>
                      <a:r>
                        <a:rPr lang="en-IN" sz="2000" b="0" kern="1200" dirty="0">
                          <a:solidFill>
                            <a:schemeClr val="dk1"/>
                          </a:solidFill>
                          <a:effectLst/>
                        </a:rPr>
                        <a:t> </a:t>
                      </a:r>
                      <a:endParaRPr lang="en-IN" sz="20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474473"/>
                  </a:ext>
                </a:extLst>
              </a:tr>
              <a:tr h="472678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- </a:t>
                      </a:r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</a:rPr>
                        <a:t>Subtraction</a:t>
                      </a:r>
                      <a:endParaRPr lang="en-IN" sz="20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1627821"/>
                  </a:ext>
                </a:extLst>
              </a:tr>
              <a:tr h="472678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* </a:t>
                      </a:r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</a:rPr>
                        <a:t>Multiplication</a:t>
                      </a:r>
                      <a:endParaRPr lang="en-IN" sz="20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4760877"/>
                  </a:ext>
                </a:extLst>
              </a:tr>
              <a:tr h="472678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/ </a:t>
                      </a:r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</a:rPr>
                        <a:t>Division</a:t>
                      </a:r>
                      <a:endParaRPr lang="en-IN" sz="20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1826418"/>
                  </a:ext>
                </a:extLst>
              </a:tr>
              <a:tr h="472678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% </a:t>
                      </a:r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</a:rPr>
                        <a:t>Modulus</a:t>
                      </a:r>
                      <a:endParaRPr lang="en-IN" sz="20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4924150"/>
                  </a:ext>
                </a:extLst>
              </a:tr>
              <a:tr h="472678">
                <a:tc>
                  <a:txBody>
                    <a:bodyPr/>
                    <a:lstStyle/>
                    <a:p>
                      <a:pPr algn="ctr"/>
                      <a:r>
                        <a:rPr lang="en-IN" sz="2000" b="1" kern="1200" dirty="0" err="1">
                          <a:solidFill>
                            <a:schemeClr val="dk1"/>
                          </a:solidFill>
                          <a:effectLst/>
                        </a:rPr>
                        <a:t>Bincond</a:t>
                      </a:r>
                      <a:r>
                        <a:rPr lang="en-IN" sz="2000" b="0" kern="1200" dirty="0">
                          <a:solidFill>
                            <a:schemeClr val="dk1"/>
                          </a:solidFill>
                          <a:effectLst/>
                        </a:rPr>
                        <a:t> </a:t>
                      </a:r>
                      <a:endParaRPr lang="en-IN" sz="20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1469185"/>
                  </a:ext>
                </a:extLst>
              </a:tr>
              <a:tr h="472678">
                <a:tc>
                  <a:txBody>
                    <a:bodyPr/>
                    <a:lstStyle/>
                    <a:p>
                      <a:pPr algn="ctr"/>
                      <a:r>
                        <a:rPr lang="en-IN" sz="2000" b="1" kern="1200" dirty="0">
                          <a:solidFill>
                            <a:schemeClr val="dk1"/>
                          </a:solidFill>
                          <a:effectLst/>
                        </a:rPr>
                        <a:t>Case</a:t>
                      </a:r>
                      <a:r>
                        <a:rPr lang="en-IN" sz="2000" b="0" kern="1200" dirty="0">
                          <a:solidFill>
                            <a:schemeClr val="dk1"/>
                          </a:solidFill>
                          <a:effectLst/>
                        </a:rPr>
                        <a:t> </a:t>
                      </a:r>
                      <a:endParaRPr lang="en-IN" sz="20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497340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759589B0-19E1-4D5B-9C7A-67DFC4990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Pig Latin – Arithmetic Operators</a:t>
            </a:r>
          </a:p>
        </p:txBody>
      </p:sp>
    </p:spTree>
    <p:extLst>
      <p:ext uri="{BB962C8B-B14F-4D97-AF65-F5344CB8AC3E}">
        <p14:creationId xmlns:p14="http://schemas.microsoft.com/office/powerpoint/2010/main" val="15617319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9589B0-19E1-4D5B-9C7A-67DFC4990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Pig Latin – Arithmetic Operators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023543-CBC5-427F-8283-1539CA562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0" dirty="0" err="1">
                <a:solidFill>
                  <a:srgbClr val="000000"/>
                </a:solidFill>
                <a:effectLst/>
              </a:rPr>
              <a:t>Bincond</a:t>
            </a:r>
            <a:r>
              <a:rPr lang="en-US" b="0" dirty="0">
                <a:solidFill>
                  <a:srgbClr val="000000"/>
                </a:solidFill>
                <a:effectLst/>
              </a:rPr>
              <a:t>:</a:t>
            </a:r>
          </a:p>
          <a:p>
            <a:pPr algn="just"/>
            <a:r>
              <a:rPr lang="en-US" b="0" dirty="0">
                <a:solidFill>
                  <a:srgbClr val="000000"/>
                </a:solidFill>
                <a:effectLst/>
              </a:rPr>
              <a:t>Evaluates the Boolean operators. It has three operands as shown below.</a:t>
            </a:r>
          </a:p>
          <a:p>
            <a:pPr algn="just"/>
            <a:r>
              <a:rPr lang="en-US" b="0" dirty="0">
                <a:solidFill>
                  <a:srgbClr val="000000"/>
                </a:solidFill>
                <a:effectLst/>
              </a:rPr>
              <a:t>variable </a:t>
            </a:r>
            <a:r>
              <a:rPr lang="en-US" b="1" dirty="0">
                <a:solidFill>
                  <a:srgbClr val="000000"/>
                </a:solidFill>
                <a:effectLst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</a:rPr>
              <a:t> = (expression) ? </a:t>
            </a:r>
            <a:r>
              <a:rPr lang="en-US" b="1" dirty="0">
                <a:solidFill>
                  <a:srgbClr val="000000"/>
                </a:solidFill>
                <a:effectLst/>
              </a:rPr>
              <a:t>value1</a:t>
            </a:r>
            <a:r>
              <a:rPr lang="en-US" b="0" dirty="0">
                <a:solidFill>
                  <a:srgbClr val="000000"/>
                </a:solidFill>
                <a:effectLst/>
              </a:rPr>
              <a:t> if true : </a:t>
            </a:r>
            <a:r>
              <a:rPr lang="en-US" b="1" dirty="0">
                <a:solidFill>
                  <a:srgbClr val="000000"/>
                </a:solidFill>
                <a:effectLst/>
              </a:rPr>
              <a:t>value2</a:t>
            </a:r>
            <a:r>
              <a:rPr lang="en-US" b="0" dirty="0">
                <a:solidFill>
                  <a:srgbClr val="000000"/>
                </a:solidFill>
                <a:effectLst/>
              </a:rPr>
              <a:t> if false.</a:t>
            </a:r>
          </a:p>
          <a:p>
            <a:pPr marL="0" indent="0" algn="just">
              <a:buNone/>
            </a:pPr>
            <a:endParaRPr lang="en-US" b="0" dirty="0">
              <a:solidFill>
                <a:srgbClr val="000000"/>
              </a:solidFill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94428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9589B0-19E1-4D5B-9C7A-67DFC4990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Pig Latin – Arithmetic Operators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023543-CBC5-427F-8283-1539CA562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</a:rPr>
              <a:t>Bincond</a:t>
            </a:r>
            <a:r>
              <a:rPr lang="en-US" b="0" i="0" dirty="0">
                <a:solidFill>
                  <a:srgbClr val="000000"/>
                </a:solidFill>
                <a:effectLst/>
              </a:rPr>
              <a:t>: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b = (a == 1)? 20: 30;</a:t>
            </a:r>
          </a:p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if a = 1 the value of b is 20.</a:t>
            </a:r>
          </a:p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if a!=1 the value of b is 30.</a:t>
            </a:r>
          </a:p>
          <a:p>
            <a:pPr algn="just"/>
            <a:endParaRPr lang="en-US" b="0" i="0" dirty="0">
              <a:solidFill>
                <a:srgbClr val="000000"/>
              </a:solidFill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28893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63A853-E57E-440D-8A48-9E47B7B50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43050"/>
            <a:ext cx="8577038" cy="5089979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i="0" dirty="0">
                <a:solidFill>
                  <a:srgbClr val="000000"/>
                </a:solidFill>
                <a:effectLst/>
              </a:rPr>
              <a:t>Case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− The case operator is equivalent to nested 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bincond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operator.</a:t>
            </a:r>
          </a:p>
          <a:p>
            <a:pPr marL="0" indent="628650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CASE f2 % 2</a:t>
            </a:r>
          </a:p>
          <a:p>
            <a:pPr marL="0" indent="628650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WHEN 0 THEN 'even'</a:t>
            </a:r>
          </a:p>
          <a:p>
            <a:pPr marL="0" indent="628650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WHEN 1 THEN 'odd'</a:t>
            </a:r>
          </a:p>
          <a:p>
            <a:pPr marL="0" indent="628650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END</a:t>
            </a:r>
          </a:p>
          <a:p>
            <a:pPr algn="just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8F0771-F6B4-4E6E-A259-2A0BECABC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Pig Latin – Arithmetic Operators</a:t>
            </a:r>
          </a:p>
        </p:txBody>
      </p:sp>
    </p:spTree>
    <p:extLst>
      <p:ext uri="{BB962C8B-B14F-4D97-AF65-F5344CB8AC3E}">
        <p14:creationId xmlns:p14="http://schemas.microsoft.com/office/powerpoint/2010/main" val="32409779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C99C06-9FF7-4E17-A76C-C3DD534A1B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4451496"/>
              </p:ext>
            </p:extLst>
          </p:nvPr>
        </p:nvGraphicFramePr>
        <p:xfrm>
          <a:off x="338137" y="1714500"/>
          <a:ext cx="8386762" cy="46101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386762">
                  <a:extLst>
                    <a:ext uri="{9D8B030D-6E8A-4147-A177-3AD203B41FA5}">
                      <a16:colId xmlns:a16="http://schemas.microsoft.com/office/drawing/2014/main" val="622064454"/>
                    </a:ext>
                  </a:extLst>
                </a:gridCol>
              </a:tblGrid>
              <a:tr h="65858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Bahnschrift" panose="020B0502040204020203" pitchFamily="34" charset="0"/>
                        </a:rPr>
                        <a:t>==</a:t>
                      </a:r>
                      <a:r>
                        <a:rPr lang="en-IN" sz="2400" b="1" i="0" kern="1200" dirty="0">
                          <a:solidFill>
                            <a:schemeClr val="lt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Equal</a:t>
                      </a:r>
                      <a:endParaRPr lang="en-IN" sz="24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708749"/>
                  </a:ext>
                </a:extLst>
              </a:tr>
              <a:tr h="65858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Bahnschrift" panose="020B0502040204020203" pitchFamily="34" charset="0"/>
                        </a:rPr>
                        <a:t>!=</a:t>
                      </a:r>
                      <a:r>
                        <a:rPr lang="en-IN" sz="2400" b="1" i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Not Equal</a:t>
                      </a:r>
                      <a:endParaRPr lang="en-IN" sz="24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498901"/>
                  </a:ext>
                </a:extLst>
              </a:tr>
              <a:tr h="65858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Bahnschrift" panose="020B0502040204020203" pitchFamily="34" charset="0"/>
                        </a:rPr>
                        <a:t>&gt;</a:t>
                      </a:r>
                      <a:r>
                        <a:rPr lang="en-IN" sz="2400" b="1" i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Greater than</a:t>
                      </a:r>
                      <a:endParaRPr lang="en-IN" sz="24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4750158"/>
                  </a:ext>
                </a:extLst>
              </a:tr>
              <a:tr h="65858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Bahnschrift" panose="020B0502040204020203" pitchFamily="34" charset="0"/>
                        </a:rPr>
                        <a:t>&lt;</a:t>
                      </a:r>
                      <a:r>
                        <a:rPr lang="en-IN" sz="2400" b="1" i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Less than</a:t>
                      </a:r>
                      <a:endParaRPr lang="en-IN" sz="24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1569775"/>
                  </a:ext>
                </a:extLst>
              </a:tr>
              <a:tr h="65858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Bahnschrift" panose="020B0502040204020203" pitchFamily="34" charset="0"/>
                        </a:rPr>
                        <a:t>&gt;=</a:t>
                      </a:r>
                      <a:r>
                        <a:rPr lang="en-US" sz="2400" b="1" i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Greater than or equal to</a:t>
                      </a:r>
                      <a:endParaRPr lang="en-IN" sz="24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9777266"/>
                  </a:ext>
                </a:extLst>
              </a:tr>
              <a:tr h="65858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Bahnschrift" panose="020B0502040204020203" pitchFamily="34" charset="0"/>
                        </a:rPr>
                        <a:t>&lt;=</a:t>
                      </a:r>
                      <a:r>
                        <a:rPr lang="en-US" sz="2400" b="1" i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Less than or equal to</a:t>
                      </a:r>
                      <a:endParaRPr lang="en-IN" sz="24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244151"/>
                  </a:ext>
                </a:extLst>
              </a:tr>
              <a:tr h="65858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Bahnschrift" panose="020B0502040204020203" pitchFamily="34" charset="0"/>
                        </a:rPr>
                        <a:t>Matches(</a:t>
                      </a:r>
                      <a:r>
                        <a:rPr lang="en-IN" sz="2400" b="1" i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Pattern matching</a:t>
                      </a:r>
                      <a:r>
                        <a:rPr lang="en-IN" sz="2400" b="0" i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 )</a:t>
                      </a:r>
                      <a:endParaRPr lang="en-IN" sz="240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5062125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AB6E8AAC-9E3A-4E2B-AEA2-53ED662C3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Pig Latin – Comparison Operators</a:t>
            </a:r>
          </a:p>
        </p:txBody>
      </p:sp>
    </p:spTree>
    <p:extLst>
      <p:ext uri="{BB962C8B-B14F-4D97-AF65-F5344CB8AC3E}">
        <p14:creationId xmlns:p14="http://schemas.microsoft.com/office/powerpoint/2010/main" val="42423261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D320AD5-52B7-46C3-ACBF-6A42B0CA3F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2756022"/>
              </p:ext>
            </p:extLst>
          </p:nvPr>
        </p:nvGraphicFramePr>
        <p:xfrm>
          <a:off x="338137" y="1905000"/>
          <a:ext cx="8386762" cy="37528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386762">
                  <a:extLst>
                    <a:ext uri="{9D8B030D-6E8A-4147-A177-3AD203B41FA5}">
                      <a16:colId xmlns:a16="http://schemas.microsoft.com/office/drawing/2014/main" val="3159593660"/>
                    </a:ext>
                  </a:extLst>
                </a:gridCol>
              </a:tblGrid>
              <a:tr h="72284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Bahnschrift" panose="020B0502040204020203" pitchFamily="34" charset="0"/>
                        </a:rPr>
                        <a:t>Operator- 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675923"/>
                  </a:ext>
                </a:extLst>
              </a:tr>
              <a:tr h="1010002"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Bahnschrift" panose="020B0502040204020203" pitchFamily="34" charset="0"/>
                        </a:rPr>
                        <a:t>() – Tuple constructor operator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361579"/>
                  </a:ext>
                </a:extLst>
              </a:tr>
              <a:tr h="1010002"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Bahnschrift" panose="020B0502040204020203" pitchFamily="34" charset="0"/>
                        </a:rPr>
                        <a:t>{} - </a:t>
                      </a:r>
                      <a:r>
                        <a:rPr lang="en-IN" sz="2400" b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</a:rPr>
                        <a:t>Bag constructor operator</a:t>
                      </a:r>
                      <a:endParaRPr lang="en-IN" sz="2400" b="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776268"/>
                  </a:ext>
                </a:extLst>
              </a:tr>
              <a:tr h="1010002"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latin typeface="Bahnschrift" panose="020B0502040204020203" pitchFamily="34" charset="0"/>
                        </a:rPr>
                        <a:t>[] - </a:t>
                      </a:r>
                      <a:r>
                        <a:rPr lang="en-IN" sz="2400" b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</a:rPr>
                        <a:t>Map constructor operator </a:t>
                      </a:r>
                      <a:endParaRPr lang="en-IN" sz="2400" b="0" dirty="0">
                        <a:latin typeface="Bahnschrift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8547594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90F6511-45BA-4D80-BDDE-B8B12B098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Pig Latin – Type Construction Operators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8403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D320AD5-52B7-46C3-ACBF-6A42B0CA3F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8264769"/>
              </p:ext>
            </p:extLst>
          </p:nvPr>
        </p:nvGraphicFramePr>
        <p:xfrm>
          <a:off x="528748" y="1402080"/>
          <a:ext cx="8005763" cy="5364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05763">
                  <a:extLst>
                    <a:ext uri="{9D8B030D-6E8A-4147-A177-3AD203B41FA5}">
                      <a16:colId xmlns:a16="http://schemas.microsoft.com/office/drawing/2014/main" val="3159593660"/>
                    </a:ext>
                  </a:extLst>
                </a:gridCol>
              </a:tblGrid>
              <a:tr h="334328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Bahnschrift" panose="020B0502040204020203" pitchFamily="34" charset="0"/>
                        </a:rPr>
                        <a:t>Operator- Description</a:t>
                      </a: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675923"/>
                  </a:ext>
                </a:extLst>
              </a:tr>
              <a:tr h="362188"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Loading and Storing</a:t>
                      </a: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951015"/>
                  </a:ext>
                </a:extLst>
              </a:tr>
              <a:tr h="334328">
                <a:tc>
                  <a:txBody>
                    <a:bodyPr/>
                    <a:lstStyle/>
                    <a:p>
                      <a:pPr algn="ctr"/>
                      <a:r>
                        <a:rPr lang="en-IN" sz="1800" b="0" dirty="0">
                          <a:latin typeface="Bahnschrift" panose="020B0502040204020203" pitchFamily="34" charset="0"/>
                        </a:rPr>
                        <a:t>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361579"/>
                  </a:ext>
                </a:extLst>
              </a:tr>
              <a:tr h="334328">
                <a:tc>
                  <a:txBody>
                    <a:bodyPr/>
                    <a:lstStyle/>
                    <a:p>
                      <a:pPr algn="ctr"/>
                      <a:r>
                        <a:rPr lang="en-IN" sz="1800" b="0" dirty="0">
                          <a:latin typeface="Bahnschrift" panose="020B0502040204020203" pitchFamily="34" charset="0"/>
                        </a:rPr>
                        <a:t>STORE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776268"/>
                  </a:ext>
                </a:extLst>
              </a:tr>
              <a:tr h="417909">
                <a:tc>
                  <a:txBody>
                    <a:bodyPr/>
                    <a:lstStyle/>
                    <a:p>
                      <a:pPr algn="ctr"/>
                      <a:r>
                        <a:rPr lang="en-IN" sz="2400" b="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Filtering</a:t>
                      </a: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547594"/>
                  </a:ext>
                </a:extLst>
              </a:tr>
              <a:tr h="334328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FILTER</a:t>
                      </a:r>
                      <a:endParaRPr lang="en-IN" sz="1800" b="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437605"/>
                  </a:ext>
                </a:extLst>
              </a:tr>
              <a:tr h="334328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DISTINCT</a:t>
                      </a:r>
                      <a:endParaRPr lang="en-IN" sz="1800" b="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983425"/>
                  </a:ext>
                </a:extLst>
              </a:tr>
              <a:tr h="334328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FOREACH, GENERATE</a:t>
                      </a:r>
                      <a:endParaRPr lang="en-IN" sz="1800" b="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651320"/>
                  </a:ext>
                </a:extLst>
              </a:tr>
              <a:tr h="334328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STREAM</a:t>
                      </a:r>
                      <a:endParaRPr lang="en-IN" sz="1800" b="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075225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/>
                      <a:r>
                        <a:rPr lang="en-IN" sz="2600" b="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Grouping and Joining</a:t>
                      </a: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108386"/>
                  </a:ext>
                </a:extLst>
              </a:tr>
              <a:tr h="334328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JOIN</a:t>
                      </a:r>
                      <a:endParaRPr lang="en-IN" sz="1800" b="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102993"/>
                  </a:ext>
                </a:extLst>
              </a:tr>
              <a:tr h="334328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COGROUP</a:t>
                      </a:r>
                      <a:endParaRPr lang="en-IN" sz="1800" b="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198575"/>
                  </a:ext>
                </a:extLst>
              </a:tr>
              <a:tr h="334328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GROUP</a:t>
                      </a:r>
                      <a:endParaRPr lang="en-IN" sz="1800" b="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027575"/>
                  </a:ext>
                </a:extLst>
              </a:tr>
              <a:tr h="334328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CROSS</a:t>
                      </a:r>
                      <a:endParaRPr lang="en-IN" sz="1800" b="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112536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90F6511-45BA-4D80-BDDE-B8B12B098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Pig Latin – Relational Operators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4031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D320AD5-52B7-46C3-ACBF-6A42B0CA3F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4383968"/>
              </p:ext>
            </p:extLst>
          </p:nvPr>
        </p:nvGraphicFramePr>
        <p:xfrm>
          <a:off x="338362" y="1706068"/>
          <a:ext cx="8386762" cy="4668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386762">
                  <a:extLst>
                    <a:ext uri="{9D8B030D-6E8A-4147-A177-3AD203B41FA5}">
                      <a16:colId xmlns:a16="http://schemas.microsoft.com/office/drawing/2014/main" val="3159593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Bahnschrift" panose="020B0502040204020203" pitchFamily="34" charset="0"/>
                        </a:rPr>
                        <a:t>Sorting</a:t>
                      </a: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67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latin typeface="Bahnschrift" panose="020B0502040204020203" pitchFamily="34" charset="0"/>
                        </a:rPr>
                        <a:t>ORDER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361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latin typeface="Bahnschrift" panose="020B0502040204020203" pitchFamily="34" charset="0"/>
                        </a:rPr>
                        <a:t>LIMIT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776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200" b="0" i="0" kern="120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Combining and Splitting</a:t>
                      </a:r>
                      <a:endParaRPr lang="en-IN" sz="2200" b="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547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200" b="0" i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UNION</a:t>
                      </a:r>
                      <a:endParaRPr lang="en-IN" sz="2200" b="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437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200" b="0" i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SPLIT</a:t>
                      </a:r>
                      <a:endParaRPr lang="en-IN" sz="2200" b="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983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i="0" kern="120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Diagnostic Operators</a:t>
                      </a:r>
                      <a:endParaRPr lang="en-IN" sz="2400" b="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108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200" b="0" i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DUMP</a:t>
                      </a:r>
                      <a:endParaRPr lang="en-IN" sz="2200" b="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102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200" b="0" i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DESCRIBE</a:t>
                      </a:r>
                      <a:endParaRPr lang="en-IN" sz="2200" b="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198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200" b="0" i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EXPLAIN</a:t>
                      </a:r>
                      <a:endParaRPr lang="en-IN" sz="2200" b="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027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200" b="0" i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ILLUSTRATE</a:t>
                      </a:r>
                      <a:endParaRPr lang="en-IN" sz="2200" b="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112536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90F6511-45BA-4D80-BDDE-B8B12B098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Pig Latin – Relational Operators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3126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C25CB9-ED51-4246-B4B7-727333B51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475745"/>
            <a:ext cx="8386537" cy="5004884"/>
          </a:xfrm>
        </p:spPr>
        <p:txBody>
          <a:bodyPr>
            <a:noAutofit/>
          </a:bodyPr>
          <a:lstStyle/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</a:rPr>
              <a:t>For exploring large datasets Pig Scripting is used.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</a:rPr>
              <a:t>Provides the supports across large data-sets for Ad-hoc queries.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</a:rPr>
              <a:t>In the prototyping of large data-sets processing algorithms.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692087-7554-4A3B-AADA-F445DF715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Applications of Apache Pig:</a:t>
            </a:r>
          </a:p>
        </p:txBody>
      </p:sp>
    </p:spTree>
    <p:extLst>
      <p:ext uri="{BB962C8B-B14F-4D97-AF65-F5344CB8AC3E}">
        <p14:creationId xmlns:p14="http://schemas.microsoft.com/office/powerpoint/2010/main" val="7175672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C25CB9-ED51-4246-B4B7-727333B51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475745"/>
            <a:ext cx="8386537" cy="5004884"/>
          </a:xfrm>
        </p:spPr>
        <p:txBody>
          <a:bodyPr>
            <a:noAutofit/>
          </a:bodyPr>
          <a:lstStyle/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273239"/>
                </a:solidFill>
                <a:effectLst/>
              </a:rPr>
              <a:t>Required </a:t>
            </a:r>
            <a:r>
              <a:rPr lang="en-US" b="0" i="0" dirty="0">
                <a:solidFill>
                  <a:srgbClr val="273239"/>
                </a:solidFill>
                <a:effectLst/>
              </a:rPr>
              <a:t>to process the time sensitive data loads.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</a:rPr>
              <a:t>For collecting large amounts of datasets in form of search logs and web crawls.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</a:rPr>
              <a:t>Used where the analytical insights are needed using the sampling.</a:t>
            </a: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692087-7554-4A3B-AADA-F445DF715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Applications of Apache Pig:</a:t>
            </a:r>
          </a:p>
        </p:txBody>
      </p:sp>
    </p:spTree>
    <p:extLst>
      <p:ext uri="{BB962C8B-B14F-4D97-AF65-F5344CB8AC3E}">
        <p14:creationId xmlns:p14="http://schemas.microsoft.com/office/powerpoint/2010/main" val="19193730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C25CB9-ED51-4246-B4B7-727333B51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51945"/>
            <a:ext cx="8386537" cy="5004884"/>
          </a:xfrm>
        </p:spPr>
        <p:txBody>
          <a:bodyPr>
            <a:normAutofit/>
          </a:bodyPr>
          <a:lstStyle/>
          <a:p>
            <a:pPr marL="457200" indent="-457200"/>
            <a:r>
              <a:rPr lang="en-IN" i="0" dirty="0">
                <a:effectLst/>
              </a:rPr>
              <a:t>Rich set of operators</a:t>
            </a:r>
          </a:p>
          <a:p>
            <a:pPr marL="457200" indent="-457200"/>
            <a:r>
              <a:rPr lang="en-IN" i="0" dirty="0">
                <a:effectLst/>
              </a:rPr>
              <a:t>Ease of programming</a:t>
            </a:r>
            <a:endParaRPr lang="en-IN" dirty="0"/>
          </a:p>
          <a:p>
            <a:pPr marL="457200" indent="-457200"/>
            <a:r>
              <a:rPr lang="en-IN" i="0" dirty="0">
                <a:effectLst/>
              </a:rPr>
              <a:t>Optimization opportunities</a:t>
            </a:r>
          </a:p>
          <a:p>
            <a:pPr marL="457200" indent="-457200"/>
            <a:r>
              <a:rPr lang="en-IN" i="0" dirty="0">
                <a:effectLst/>
              </a:rPr>
              <a:t>Extensibility</a:t>
            </a:r>
            <a:endParaRPr lang="en-IN" dirty="0"/>
          </a:p>
          <a:p>
            <a:pPr marL="457200" indent="-457200"/>
            <a:r>
              <a:rPr lang="en-IN" i="0" dirty="0">
                <a:effectLst/>
              </a:rPr>
              <a:t>UDF’s </a:t>
            </a:r>
          </a:p>
          <a:p>
            <a:pPr marL="457200" indent="-457200"/>
            <a:r>
              <a:rPr lang="en-US" i="0" dirty="0">
                <a:effectLst/>
              </a:rPr>
              <a:t>Handles all kinds of data 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692087-7554-4A3B-AADA-F445DF715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Features of Apache Pig</a:t>
            </a:r>
          </a:p>
        </p:txBody>
      </p:sp>
    </p:spTree>
    <p:extLst>
      <p:ext uri="{BB962C8B-B14F-4D97-AF65-F5344CB8AC3E}">
        <p14:creationId xmlns:p14="http://schemas.microsoft.com/office/powerpoint/2010/main" val="30533455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1202</TotalTime>
  <Words>793</Words>
  <Application>Microsoft Office PowerPoint</Application>
  <PresentationFormat>On-screen Show (4:3)</PresentationFormat>
  <Paragraphs>228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Map Reduce vs. Apache Pig </vt:lpstr>
      <vt:lpstr>Map Reduce vs. Apache Pig</vt:lpstr>
      <vt:lpstr>Architecture of PIG</vt:lpstr>
      <vt:lpstr>Architecture of PIG</vt:lpstr>
      <vt:lpstr>Architecture of PIG</vt:lpstr>
      <vt:lpstr>Architecture of PIG</vt:lpstr>
      <vt:lpstr>Architecture of PIG</vt:lpstr>
      <vt:lpstr>Apache Pig Components</vt:lpstr>
      <vt:lpstr>Apache Pig Components</vt:lpstr>
      <vt:lpstr>Apache Pig Components</vt:lpstr>
      <vt:lpstr>Apache Pig Components</vt:lpstr>
      <vt:lpstr>Apache Pig Components</vt:lpstr>
      <vt:lpstr>Apache Pig Components</vt:lpstr>
      <vt:lpstr>Apache Pig Components</vt:lpstr>
      <vt:lpstr>Apache Pig Components</vt:lpstr>
      <vt:lpstr>Apache Pig Components</vt:lpstr>
      <vt:lpstr>Apache Pig Components</vt:lpstr>
      <vt:lpstr> Pig Latin Data Model </vt:lpstr>
      <vt:lpstr> Pig Latin Data Model </vt:lpstr>
      <vt:lpstr>Pig Latin Data Model</vt:lpstr>
      <vt:lpstr>Pig Latin Data Model</vt:lpstr>
      <vt:lpstr>Pig Latin Data Type</vt:lpstr>
      <vt:lpstr>Pig Latin Data Type</vt:lpstr>
      <vt:lpstr>Pig Latin Data Type</vt:lpstr>
      <vt:lpstr>Pig Latin Data Type</vt:lpstr>
      <vt:lpstr>Pig Latin – Arithmetic Operators</vt:lpstr>
      <vt:lpstr>Pig Latin – Arithmetic Operators</vt:lpstr>
      <vt:lpstr>Pig Latin – Arithmetic Operators</vt:lpstr>
      <vt:lpstr>Pig Latin – Arithmetic Operators</vt:lpstr>
      <vt:lpstr>Pig Latin – Comparison Operators</vt:lpstr>
      <vt:lpstr>Pig Latin – Type Construction Operators</vt:lpstr>
      <vt:lpstr>Pig Latin – Relational Operators</vt:lpstr>
      <vt:lpstr>Pig Latin – Relational Operators</vt:lpstr>
      <vt:lpstr>Applications of Apache Pig:</vt:lpstr>
      <vt:lpstr>Applications of Apache Pig:</vt:lpstr>
      <vt:lpstr>Features of Apache Pig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92</cp:revision>
  <dcterms:created xsi:type="dcterms:W3CDTF">2021-05-13T17:45:44Z</dcterms:created>
  <dcterms:modified xsi:type="dcterms:W3CDTF">2021-09-10T05:46:39Z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748429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