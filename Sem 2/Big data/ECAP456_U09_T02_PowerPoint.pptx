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9"/>
  </p:handoutMasterIdLst>
  <p:sldIdLst>
    <p:sldId id="266" r:id="rId2"/>
    <p:sldId id="261" r:id="rId3"/>
    <p:sldId id="268" r:id="rId4"/>
    <p:sldId id="273" r:id="rId5"/>
    <p:sldId id="281" r:id="rId6"/>
    <p:sldId id="287" r:id="rId7"/>
    <p:sldId id="264" r:id="rId8"/>
    <p:sldId id="292" r:id="rId9"/>
    <p:sldId id="293" r:id="rId10"/>
    <p:sldId id="300" r:id="rId11"/>
    <p:sldId id="294" r:id="rId12"/>
    <p:sldId id="295" r:id="rId13"/>
    <p:sldId id="296" r:id="rId14"/>
    <p:sldId id="297" r:id="rId15"/>
    <p:sldId id="298" r:id="rId16"/>
    <p:sldId id="299" r:id="rId17"/>
    <p:sldId id="26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618495"/>
    <a:srgbClr val="44525B"/>
    <a:srgbClr val="072235"/>
    <a:srgbClr val="453A38"/>
    <a:srgbClr val="B8B192"/>
    <a:srgbClr val="473B39"/>
    <a:srgbClr val="302C31"/>
    <a:srgbClr val="63504D"/>
    <a:srgbClr val="9478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14164" y="2657881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614129" y="1916914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2612"/>
            <a:ext cx="8267699" cy="5354552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9.xml" Type="http://schemas.openxmlformats.org/officeDocument/2006/relationships/slideLayout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497" y="2653258"/>
            <a:ext cx="7830800" cy="3773150"/>
          </a:xfrm>
        </p:spPr>
        <p:txBody>
          <a:bodyPr/>
          <a:lstStyle/>
          <a:p>
            <a:pPr algn="just"/>
            <a:r>
              <a:rPr lang="en-US" dirty="0"/>
              <a:t>learn how to format name node on </a:t>
            </a:r>
            <a:r>
              <a:rPr lang="en-US" dirty="0" err="1"/>
              <a:t>hadoop</a:t>
            </a:r>
            <a:r>
              <a:rPr lang="en-US" dirty="0"/>
              <a:t> master</a:t>
            </a:r>
          </a:p>
          <a:p>
            <a:pPr algn="just"/>
            <a:r>
              <a:rPr lang="en-US" dirty="0"/>
              <a:t>learn how to start all </a:t>
            </a:r>
            <a:r>
              <a:rPr lang="en-US" dirty="0" err="1"/>
              <a:t>hadoop</a:t>
            </a:r>
            <a:r>
              <a:rPr lang="en-US" dirty="0"/>
              <a:t> services.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1E9732-7D7B-4A75-BD1D-6CE1C0760BD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738859" y="222522"/>
            <a:ext cx="6775554" cy="641295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B95D469-067E-4CA7-A0E8-8D134D8A5B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 rot="16200000">
            <a:off x="-2766219" y="2766218"/>
            <a:ext cx="6858002" cy="1325563"/>
          </a:xfrm>
          <a:solidFill>
            <a:schemeClr val="tx2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 SemiBold" panose="020B0502040204020203" pitchFamily="34" charset="0"/>
              </a:rPr>
              <a:t>Introduction</a:t>
            </a:r>
            <a:endParaRPr lang="en-IN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416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9C318D5-30FC-4A63-B636-820FA176E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753" y="1484028"/>
            <a:ext cx="8130493" cy="520158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8DC9651-2718-4F7D-BC50-F3B07EAD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IN" b="1" dirty="0">
                <a:latin typeface="Bahnschrift" panose="020B0502040204020203" pitchFamily="34" charset="0"/>
              </a:rPr>
              <a:t>Multiple </a:t>
            </a:r>
            <a:r>
              <a:rPr lang="en-IN" b="1" dirty="0" err="1">
                <a:latin typeface="Bahnschrift" panose="020B0502040204020203" pitchFamily="34" charset="0"/>
              </a:rPr>
              <a:t>Namenodes</a:t>
            </a:r>
            <a:r>
              <a:rPr lang="en-IN" b="1" dirty="0">
                <a:latin typeface="Bahnschrift" panose="020B0502040204020203" pitchFamily="34" charset="0"/>
              </a:rPr>
              <a:t>/Namespaces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636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5EDEC3-3D0B-4306-A94F-19E8D2AB14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2267194"/>
              </p:ext>
            </p:extLst>
          </p:nvPr>
        </p:nvGraphicFramePr>
        <p:xfrm>
          <a:off x="457200" y="1392238"/>
          <a:ext cx="8267700" cy="524655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885607">
                  <a:extLst>
                    <a:ext uri="{9D8B030D-6E8A-4147-A177-3AD203B41FA5}">
                      <a16:colId xmlns:a16="http://schemas.microsoft.com/office/drawing/2014/main" val="3699322612"/>
                    </a:ext>
                  </a:extLst>
                </a:gridCol>
                <a:gridCol w="5382093">
                  <a:extLst>
                    <a:ext uri="{9D8B030D-6E8A-4147-A177-3AD203B41FA5}">
                      <a16:colId xmlns:a16="http://schemas.microsoft.com/office/drawing/2014/main" val="2272713754"/>
                    </a:ext>
                  </a:extLst>
                </a:gridCol>
              </a:tblGrid>
              <a:tr h="462000"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Daemon</a:t>
                      </a:r>
                      <a:endParaRPr lang="en-IN" sz="200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Configuration Parameter</a:t>
                      </a:r>
                      <a:endParaRPr lang="en-IN" sz="200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111853"/>
                  </a:ext>
                </a:extLst>
              </a:tr>
              <a:tr h="2847951">
                <a:tc>
                  <a:txBody>
                    <a:bodyPr/>
                    <a:lstStyle/>
                    <a:p>
                      <a:r>
                        <a:rPr lang="en-IN" sz="20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Namenode</a:t>
                      </a:r>
                      <a:endParaRPr lang="en-IN" sz="200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dfs.namenode.rpc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-address</a:t>
                      </a:r>
                      <a:r>
                        <a:rPr lang="en-IN" sz="20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 </a:t>
                      </a:r>
                      <a:r>
                        <a:rPr lang="en-IN" sz="20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dfs.namenode.servicerpc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-address</a:t>
                      </a:r>
                      <a:r>
                        <a:rPr lang="en-IN" sz="20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 </a:t>
                      </a:r>
                      <a:r>
                        <a:rPr lang="en-IN" sz="20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dfs.namenode.http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-address</a:t>
                      </a:r>
                      <a:r>
                        <a:rPr lang="en-IN" sz="20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 </a:t>
                      </a:r>
                      <a:r>
                        <a:rPr lang="en-IN" sz="20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dfs.namenode.https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-address</a:t>
                      </a:r>
                      <a:r>
                        <a:rPr lang="en-IN" sz="20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 </a:t>
                      </a:r>
                      <a:r>
                        <a:rPr lang="en-IN" sz="20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dfs.namenode.keytab.file</a:t>
                      </a:r>
                      <a:r>
                        <a:rPr lang="en-IN" sz="20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 </a:t>
                      </a:r>
                      <a:r>
                        <a:rPr lang="en-IN" sz="20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dfs.namenode.name.dir</a:t>
                      </a:r>
                      <a:r>
                        <a:rPr lang="en-IN" sz="20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 </a:t>
                      </a:r>
                      <a:r>
                        <a:rPr lang="en-IN" sz="20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dfs.namenode.edits.dir</a:t>
                      </a:r>
                      <a:r>
                        <a:rPr lang="en-IN" sz="20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 </a:t>
                      </a:r>
                      <a:r>
                        <a:rPr lang="en-IN" sz="20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dfs.namenode.checkpoint.dir</a:t>
                      </a:r>
                      <a:r>
                        <a:rPr lang="en-IN" sz="20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 </a:t>
                      </a:r>
                      <a:r>
                        <a:rPr lang="en-IN" sz="20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dfs.namenode.checkpoint.edits.dir</a:t>
                      </a:r>
                      <a:endParaRPr lang="en-IN" sz="200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21986"/>
                  </a:ext>
                </a:extLst>
              </a:tr>
              <a:tr h="1139181">
                <a:tc>
                  <a:txBody>
                    <a:bodyPr/>
                    <a:lstStyle/>
                    <a:p>
                      <a:r>
                        <a:rPr lang="en-IN" sz="20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Secondary Namenode</a:t>
                      </a:r>
                      <a:endParaRPr lang="en-IN" sz="200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dfs.namenode.secondary.http</a:t>
                      </a:r>
                      <a:r>
                        <a:rPr lang="en-IN" sz="20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-address</a:t>
                      </a:r>
                      <a:r>
                        <a:rPr lang="en-IN" sz="20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 </a:t>
                      </a:r>
                      <a:r>
                        <a:rPr lang="en-IN" sz="20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dfs.secondary.namenode.keytab.file</a:t>
                      </a:r>
                      <a:endParaRPr lang="en-IN" sz="200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714610"/>
                  </a:ext>
                </a:extLst>
              </a:tr>
              <a:tr h="797425">
                <a:tc>
                  <a:txBody>
                    <a:bodyPr/>
                    <a:lstStyle/>
                    <a:p>
                      <a:r>
                        <a:rPr lang="en-IN" sz="2000" b="0" kern="1200" dirty="0" err="1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BackupNode</a:t>
                      </a:r>
                      <a:endParaRPr lang="en-IN" sz="200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dfs.namenode.backup.address</a:t>
                      </a:r>
                      <a:r>
                        <a:rPr lang="en-IN" sz="2000" b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 </a:t>
                      </a:r>
                      <a:r>
                        <a:rPr lang="en-IN" sz="20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dfs.secondary.namenode.keytab.file</a:t>
                      </a:r>
                      <a:endParaRPr lang="en-IN" sz="200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006319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6883622-F20C-4903-B1F1-95F3307F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i="0" dirty="0">
                <a:effectLst/>
              </a:rPr>
              <a:t>Federation Configuration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073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6EE4FD-480F-42A5-9FEB-DA630457C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A187062F-BE14-42FC-B06A-607DB2384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632016" y="1766812"/>
            <a:ext cx="616869" cy="4232692"/>
          </a:xfrm>
          <a:custGeom>
            <a:avLst/>
            <a:gdLst>
              <a:gd name="T0" fmla="*/ 491 w 491"/>
              <a:gd name="T1" fmla="*/ 2247 h 2732"/>
              <a:gd name="T2" fmla="*/ 0 w 491"/>
              <a:gd name="T3" fmla="*/ 2732 h 2732"/>
              <a:gd name="T4" fmla="*/ 0 w 491"/>
              <a:gd name="T5" fmla="*/ 486 h 2732"/>
              <a:gd name="T6" fmla="*/ 491 w 491"/>
              <a:gd name="T7" fmla="*/ 0 h 2732"/>
              <a:gd name="T8" fmla="*/ 491 w 491"/>
              <a:gd name="T9" fmla="*/ 2247 h 2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2732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731FE21B-2A45-4BF5-8B03-E1234198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632016" y="1423780"/>
            <a:ext cx="515816" cy="3820236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2DC5A94D-79ED-48F5-9DC5-96CBB507C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87432" y="1239381"/>
            <a:ext cx="260400" cy="369970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93A3D4BE-AF25-4F9A-9C29-1145CCE24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87431" y="1230651"/>
            <a:ext cx="7656494" cy="353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5048BB-BD75-4659-9C45-9D4A6B0FB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247" y="1607809"/>
            <a:ext cx="6927020" cy="28766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Format a namenode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D7A2AC-822F-473C-8825-CFED4AC7F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624" y="4810308"/>
            <a:ext cx="6752266" cy="107655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hdfs namenode -format [-clusterId &lt;cluster_id&gt;]</a:t>
            </a: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003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2922B-A132-4D34-B90C-8808A1B6B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 su Hadoop</a:t>
            </a:r>
          </a:p>
          <a:p>
            <a:pPr marL="0" indent="0">
              <a:buNone/>
            </a:pPr>
            <a:r>
              <a:rPr lang="en-US" dirty="0"/>
              <a:t>$ cd /opt/hadoop/hadoop</a:t>
            </a:r>
          </a:p>
          <a:p>
            <a:pPr marL="0" indent="0">
              <a:buNone/>
            </a:pPr>
            <a:r>
              <a:rPr lang="en-US" dirty="0"/>
              <a:t>$ bin/hadoop namenode -format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 a namenode</a:t>
            </a:r>
          </a:p>
        </p:txBody>
      </p:sp>
    </p:spTree>
    <p:extLst>
      <p:ext uri="{BB962C8B-B14F-4D97-AF65-F5344CB8AC3E}">
        <p14:creationId xmlns:p14="http://schemas.microsoft.com/office/powerpoint/2010/main" val="3613012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03CAAB-AEC7-4CF3-B07C-A5B0AF9F3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242729"/>
                </a:solidFill>
                <a:effectLst/>
              </a:rPr>
              <a:t>By </a:t>
            </a:r>
            <a:r>
              <a:rPr lang="en-US" i="0" dirty="0">
                <a:solidFill>
                  <a:srgbClr val="FF0000"/>
                </a:solidFill>
                <a:effectLst/>
              </a:rPr>
              <a:t>default the namenode </a:t>
            </a:r>
            <a:r>
              <a:rPr lang="en-US" b="0" i="0" dirty="0">
                <a:solidFill>
                  <a:srgbClr val="242729"/>
                </a:solidFill>
                <a:effectLst/>
              </a:rPr>
              <a:t>location will be at </a:t>
            </a:r>
            <a:r>
              <a:rPr lang="en-US" i="0" dirty="0">
                <a:solidFill>
                  <a:srgbClr val="FF0000"/>
                </a:solidFill>
                <a:effectLst/>
              </a:rPr>
              <a:t>"/</a:t>
            </a:r>
            <a:r>
              <a:rPr lang="en-US" i="0" dirty="0" err="1">
                <a:solidFill>
                  <a:srgbClr val="FF0000"/>
                </a:solidFill>
                <a:effectLst/>
              </a:rPr>
              <a:t>tmp</a:t>
            </a:r>
            <a:r>
              <a:rPr lang="en-US" i="0" dirty="0">
                <a:solidFill>
                  <a:srgbClr val="FF0000"/>
                </a:solidFill>
                <a:effectLst/>
              </a:rPr>
              <a:t>/hadoop-</a:t>
            </a:r>
            <a:r>
              <a:rPr lang="en-US" i="0" dirty="0" err="1">
                <a:solidFill>
                  <a:srgbClr val="FF0000"/>
                </a:solidFill>
                <a:effectLst/>
              </a:rPr>
              <a:t>myuser</a:t>
            </a:r>
            <a:r>
              <a:rPr lang="en-US" i="0" dirty="0">
                <a:solidFill>
                  <a:srgbClr val="FF0000"/>
                </a:solidFill>
                <a:effectLst/>
              </a:rPr>
              <a:t>/</a:t>
            </a:r>
            <a:r>
              <a:rPr lang="en-US" i="0" dirty="0" err="1">
                <a:solidFill>
                  <a:srgbClr val="FF0000"/>
                </a:solidFill>
                <a:effectLst/>
              </a:rPr>
              <a:t>dfs</a:t>
            </a:r>
            <a:r>
              <a:rPr lang="en-US" i="0" dirty="0">
                <a:solidFill>
                  <a:srgbClr val="FF0000"/>
                </a:solidFill>
                <a:effectLst/>
              </a:rPr>
              <a:t>/name“</a:t>
            </a:r>
          </a:p>
          <a:p>
            <a:pPr algn="just"/>
            <a:r>
              <a:rPr lang="en-US" b="0" i="0" dirty="0">
                <a:solidFill>
                  <a:srgbClr val="242729"/>
                </a:solidFill>
                <a:effectLst/>
              </a:rPr>
              <a:t>While you formatting the namenode, this file location was cleared.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E8BD7D-C96C-4DA2-80FB-DFD9C593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b="1" i="0" dirty="0">
                <a:effectLst/>
              </a:rPr>
            </a:br>
            <a:r>
              <a:rPr lang="en-IN" b="1" i="0" dirty="0">
                <a:effectLst/>
              </a:rPr>
              <a:t>Reason for Hadoop </a:t>
            </a:r>
            <a:r>
              <a:rPr lang="en-IN" b="1" i="0" dirty="0" err="1">
                <a:effectLst/>
              </a:rPr>
              <a:t>Namenode</a:t>
            </a:r>
            <a:r>
              <a:rPr lang="en-IN" b="1" i="0" dirty="0">
                <a:effectLst/>
              </a:rPr>
              <a:t> - Format 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902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03CAAB-AEC7-4CF3-B07C-A5B0AF9F3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42729"/>
                </a:solidFill>
                <a:effectLst/>
                <a:latin typeface="-apple-system"/>
              </a:rPr>
              <a:t>To </a:t>
            </a:r>
            <a:r>
              <a:rPr lang="en-US" b="1" i="0" dirty="0">
                <a:solidFill>
                  <a:srgbClr val="242729"/>
                </a:solidFill>
                <a:effectLst/>
                <a:latin typeface="-apple-system"/>
              </a:rPr>
              <a:t>change the namenode location</a:t>
            </a:r>
            <a:r>
              <a:rPr lang="en-US" b="0" i="0" dirty="0">
                <a:solidFill>
                  <a:srgbClr val="242729"/>
                </a:solidFill>
                <a:effectLst/>
                <a:latin typeface="-apple-system"/>
              </a:rPr>
              <a:t> add the </a:t>
            </a:r>
            <a:r>
              <a:rPr lang="en-US" b="0" i="0" dirty="0" err="1">
                <a:solidFill>
                  <a:srgbClr val="242729"/>
                </a:solidFill>
                <a:effectLst/>
                <a:latin typeface="-apple-system"/>
              </a:rPr>
              <a:t>follwing</a:t>
            </a:r>
            <a:r>
              <a:rPr lang="en-US" b="0" i="0" dirty="0">
                <a:solidFill>
                  <a:srgbClr val="242729"/>
                </a:solidFill>
                <a:effectLst/>
                <a:latin typeface="-apple-system"/>
              </a:rPr>
              <a:t> properties </a:t>
            </a:r>
            <a:r>
              <a:rPr lang="en-US" b="1" i="0" dirty="0">
                <a:solidFill>
                  <a:srgbClr val="242729"/>
                </a:solidFill>
                <a:effectLst/>
                <a:latin typeface="-apple-system"/>
              </a:rPr>
              <a:t>At hdfs-site.xml</a:t>
            </a:r>
          </a:p>
          <a:p>
            <a:pPr marL="0" indent="0" algn="ctr">
              <a:buNone/>
            </a:pPr>
            <a:r>
              <a:rPr lang="en-IN" dirty="0"/>
              <a:t>&lt;property&gt;</a:t>
            </a:r>
          </a:p>
          <a:p>
            <a:pPr marL="0" indent="0" algn="ctr">
              <a:buNone/>
            </a:pPr>
            <a:r>
              <a:rPr lang="en-IN" dirty="0"/>
              <a:t>    &lt;name&gt;</a:t>
            </a:r>
            <a:r>
              <a:rPr lang="en-IN" dirty="0" err="1"/>
              <a:t>dfs.namenode.name.dir</a:t>
            </a:r>
            <a:r>
              <a:rPr lang="en-IN" dirty="0"/>
              <a:t>&lt;/name&gt;</a:t>
            </a:r>
          </a:p>
          <a:p>
            <a:pPr marL="0" indent="0" algn="ctr">
              <a:buNone/>
            </a:pPr>
            <a:r>
              <a:rPr lang="en-IN" dirty="0"/>
              <a:t>    &lt;value&gt;file:/search/data/dfs/namenode&lt;/value&gt;</a:t>
            </a:r>
          </a:p>
          <a:p>
            <a:pPr marL="0" indent="0" algn="ctr">
              <a:buNone/>
            </a:pPr>
            <a:r>
              <a:rPr lang="en-IN" dirty="0"/>
              <a:t>&lt;/property&gt;</a:t>
            </a:r>
          </a:p>
          <a:p>
            <a:pPr marL="0" indent="0" algn="ctr">
              <a:buNone/>
            </a:pPr>
            <a:r>
              <a:rPr lang="en-IN" dirty="0"/>
              <a:t>&lt;property&gt;</a:t>
            </a:r>
          </a:p>
          <a:p>
            <a:pPr marL="0" indent="0" algn="ctr">
              <a:buNone/>
            </a:pPr>
            <a:r>
              <a:rPr lang="en-IN" dirty="0"/>
              <a:t>  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E8BD7D-C96C-4DA2-80FB-DFD9C593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sz="4000" b="1" i="0" dirty="0">
                <a:effectLst/>
                <a:latin typeface="Bahnschrift" panose="020B0502040204020203" pitchFamily="34" charset="0"/>
              </a:rPr>
              <a:t>Reason for Hadoop </a:t>
            </a:r>
            <a:r>
              <a:rPr lang="en-IN" sz="4000" b="1" i="0" dirty="0" err="1">
                <a:effectLst/>
                <a:latin typeface="Bahnschrift" panose="020B0502040204020203" pitchFamily="34" charset="0"/>
              </a:rPr>
              <a:t>Namenode</a:t>
            </a:r>
            <a:r>
              <a:rPr lang="en-IN" sz="4000" b="1" i="0" dirty="0">
                <a:effectLst/>
                <a:latin typeface="Bahnschrift" panose="020B0502040204020203" pitchFamily="34" charset="0"/>
              </a:rPr>
              <a:t> - Format </a:t>
            </a:r>
            <a:br>
              <a:rPr lang="en-IN" dirty="0">
                <a:latin typeface="Bahnschrift" panose="020B0502040204020203" pitchFamily="34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4804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03CAAB-AEC7-4CF3-B07C-A5B0AF9F3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42729"/>
                </a:solidFill>
                <a:effectLst/>
                <a:latin typeface="-apple-system"/>
              </a:rPr>
              <a:t>To </a:t>
            </a:r>
            <a:r>
              <a:rPr lang="en-US" b="1" i="0" dirty="0">
                <a:solidFill>
                  <a:srgbClr val="242729"/>
                </a:solidFill>
                <a:effectLst/>
                <a:latin typeface="-apple-system"/>
              </a:rPr>
              <a:t>change the namenode location</a:t>
            </a:r>
            <a:r>
              <a:rPr lang="en-US" b="0" i="0" dirty="0">
                <a:solidFill>
                  <a:srgbClr val="242729"/>
                </a:solidFill>
                <a:effectLst/>
                <a:latin typeface="-apple-system"/>
              </a:rPr>
              <a:t> add the </a:t>
            </a:r>
            <a:r>
              <a:rPr lang="en-US" b="0" i="0" dirty="0" err="1">
                <a:solidFill>
                  <a:srgbClr val="242729"/>
                </a:solidFill>
                <a:effectLst/>
                <a:latin typeface="-apple-system"/>
              </a:rPr>
              <a:t>follwing</a:t>
            </a:r>
            <a:r>
              <a:rPr lang="en-US" b="0" i="0" dirty="0">
                <a:solidFill>
                  <a:srgbClr val="242729"/>
                </a:solidFill>
                <a:effectLst/>
                <a:latin typeface="-apple-system"/>
              </a:rPr>
              <a:t> </a:t>
            </a:r>
            <a:r>
              <a:rPr lang="en-IN" dirty="0"/>
              <a:t>&lt;name&gt;</a:t>
            </a:r>
            <a:r>
              <a:rPr lang="en-IN" dirty="0" err="1"/>
              <a:t>dfs.datanode.data.dir</a:t>
            </a:r>
            <a:r>
              <a:rPr lang="en-IN" dirty="0"/>
              <a:t>&lt;/name&gt;</a:t>
            </a:r>
          </a:p>
          <a:p>
            <a:pPr marL="0" indent="0" algn="ctr">
              <a:buNone/>
            </a:pPr>
            <a:r>
              <a:rPr lang="en-IN" dirty="0"/>
              <a:t>    &lt;value&gt;file:/search/data/dfs/datanode&lt;/value&gt;</a:t>
            </a:r>
          </a:p>
          <a:p>
            <a:pPr marL="0" indent="0" algn="ctr">
              <a:buNone/>
            </a:pPr>
            <a:r>
              <a:rPr lang="en-IN" dirty="0"/>
              <a:t>&lt;/property&gt;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E8BD7D-C96C-4DA2-80FB-DFD9C593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sz="4000" b="1" i="0" dirty="0">
                <a:effectLst/>
                <a:latin typeface="Bahnschrift" panose="020B0502040204020203" pitchFamily="34" charset="0"/>
              </a:rPr>
              <a:t>Reason for Hadoop </a:t>
            </a:r>
            <a:r>
              <a:rPr lang="en-IN" sz="4000" b="1" i="0" dirty="0" err="1">
                <a:effectLst/>
                <a:latin typeface="Bahnschrift" panose="020B0502040204020203" pitchFamily="34" charset="0"/>
              </a:rPr>
              <a:t>Namenode</a:t>
            </a:r>
            <a:r>
              <a:rPr lang="en-IN" sz="4000" b="1" i="0" dirty="0">
                <a:effectLst/>
                <a:latin typeface="Bahnschrift" panose="020B0502040204020203" pitchFamily="34" charset="0"/>
              </a:rPr>
              <a:t> - Format </a:t>
            </a:r>
            <a:br>
              <a:rPr lang="en-IN" dirty="0">
                <a:latin typeface="Bahnschrift" panose="020B0502040204020203" pitchFamily="34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882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B2EC62-678A-4079-AB93-C23FF727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0" i="0" dirty="0">
                <a:solidFill>
                  <a:srgbClr val="292929"/>
                </a:solidFill>
                <a:effectLst/>
              </a:rPr>
              <a:t>cd ~/</a:t>
            </a:r>
            <a:r>
              <a:rPr lang="en-IN" b="0" i="0" dirty="0" err="1">
                <a:solidFill>
                  <a:srgbClr val="292929"/>
                </a:solidFill>
                <a:effectLst/>
              </a:rPr>
              <a:t>hadoop</a:t>
            </a:r>
            <a:r>
              <a:rPr lang="en-IN" b="0" i="0" dirty="0">
                <a:solidFill>
                  <a:srgbClr val="292929"/>
                </a:solidFill>
                <a:effectLst/>
              </a:rPr>
              <a:t>/</a:t>
            </a:r>
            <a:r>
              <a:rPr lang="en-IN" b="0" i="0" dirty="0" err="1">
                <a:solidFill>
                  <a:srgbClr val="292929"/>
                </a:solidFill>
                <a:effectLst/>
              </a:rPr>
              <a:t>sbin</a:t>
            </a:r>
            <a:endParaRPr lang="en-IN" b="0" i="0" dirty="0">
              <a:solidFill>
                <a:srgbClr val="292929"/>
              </a:solidFill>
              <a:effectLst/>
            </a:endParaRPr>
          </a:p>
          <a:p>
            <a:pPr algn="just"/>
            <a:r>
              <a:rPr lang="en-IN" b="0" i="0" dirty="0">
                <a:effectLst/>
              </a:rPr>
              <a:t>start-dfs.sh</a:t>
            </a:r>
            <a:endParaRPr lang="en-US" b="0" i="0" dirty="0">
              <a:effectLst/>
            </a:endParaRPr>
          </a:p>
          <a:p>
            <a:pPr lvl="1" algn="just"/>
            <a:r>
              <a:rPr lang="en-IN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stop-dfs.sh</a:t>
            </a:r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pPr lvl="1" algn="just"/>
            <a:r>
              <a:rPr lang="en-IN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start-mapred.sh</a:t>
            </a:r>
          </a:p>
          <a:p>
            <a:pPr lvl="1" algn="just"/>
            <a:r>
              <a:rPr lang="en-US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stop-mapred.sh </a:t>
            </a:r>
          </a:p>
          <a:p>
            <a:pPr lvl="1" algn="just"/>
            <a:r>
              <a:rPr lang="en-US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start-all.sh</a:t>
            </a:r>
          </a:p>
          <a:p>
            <a:pPr lvl="1" algn="just"/>
            <a:r>
              <a:rPr lang="en-US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stop-all.sh</a:t>
            </a:r>
          </a:p>
          <a:p>
            <a:pPr lvl="1" algn="just"/>
            <a:endParaRPr lang="en-IN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88D57-8438-4AB3-983D-19DBBF8B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Starting Hadoop Services.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192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B2EC62-678A-4079-AB93-C23FF727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0" i="0" dirty="0">
                <a:solidFill>
                  <a:srgbClr val="292929"/>
                </a:solidFill>
                <a:effectLst/>
              </a:rPr>
              <a:t>cd ~/</a:t>
            </a:r>
            <a:r>
              <a:rPr lang="en-IN" b="0" i="0" dirty="0" err="1">
                <a:solidFill>
                  <a:srgbClr val="292929"/>
                </a:solidFill>
                <a:effectLst/>
              </a:rPr>
              <a:t>hadoop</a:t>
            </a:r>
            <a:r>
              <a:rPr lang="en-IN" b="0" i="0" dirty="0">
                <a:solidFill>
                  <a:srgbClr val="292929"/>
                </a:solidFill>
                <a:effectLst/>
              </a:rPr>
              <a:t>/</a:t>
            </a:r>
            <a:r>
              <a:rPr lang="en-IN" b="0" i="0" dirty="0" err="1">
                <a:solidFill>
                  <a:srgbClr val="292929"/>
                </a:solidFill>
                <a:effectLst/>
              </a:rPr>
              <a:t>sbin</a:t>
            </a:r>
            <a:endParaRPr lang="en-IN" b="0" i="0" dirty="0">
              <a:solidFill>
                <a:srgbClr val="292929"/>
              </a:solidFill>
              <a:effectLst/>
            </a:endParaRPr>
          </a:p>
          <a:p>
            <a:pPr lvl="1" algn="just"/>
            <a:r>
              <a:rPr lang="en-IN" sz="2800" b="0" i="0" dirty="0">
                <a:effectLst/>
              </a:rPr>
              <a:t>start-dfs.sh</a:t>
            </a:r>
            <a:endParaRPr lang="en-US" sz="2800" b="0" i="0" dirty="0">
              <a:effectLst/>
            </a:endParaRPr>
          </a:p>
          <a:p>
            <a:pPr lvl="1" algn="just"/>
            <a:r>
              <a:rPr lang="en-IN" sz="2800" b="0" i="0" dirty="0">
                <a:effectLst/>
              </a:rPr>
              <a:t>stop-dfs.sh</a:t>
            </a:r>
            <a:endParaRPr lang="en-US" sz="2800" dirty="0"/>
          </a:p>
          <a:p>
            <a:pPr lvl="1" algn="just"/>
            <a:r>
              <a:rPr lang="en-IN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start-mapred.sh</a:t>
            </a:r>
          </a:p>
          <a:p>
            <a:pPr lvl="1" algn="just"/>
            <a:r>
              <a:rPr lang="en-US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stop-mapred.sh </a:t>
            </a:r>
          </a:p>
          <a:p>
            <a:pPr lvl="1" algn="just"/>
            <a:r>
              <a:rPr lang="en-US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start-all.sh</a:t>
            </a:r>
          </a:p>
          <a:p>
            <a:pPr lvl="1" algn="just"/>
            <a:r>
              <a:rPr lang="en-US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stop-all.sh</a:t>
            </a:r>
          </a:p>
          <a:p>
            <a:pPr lvl="1" algn="just"/>
            <a:endParaRPr lang="en-IN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88D57-8438-4AB3-983D-19DBBF8B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Starting Hadoop 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9131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B2EC62-678A-4079-AB93-C23FF727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0" i="0" dirty="0">
                <a:solidFill>
                  <a:srgbClr val="292929"/>
                </a:solidFill>
                <a:effectLst/>
              </a:rPr>
              <a:t>cd ~/</a:t>
            </a:r>
            <a:r>
              <a:rPr lang="en-IN" b="0" i="0" dirty="0" err="1">
                <a:solidFill>
                  <a:srgbClr val="292929"/>
                </a:solidFill>
                <a:effectLst/>
              </a:rPr>
              <a:t>hadoop</a:t>
            </a:r>
            <a:r>
              <a:rPr lang="en-IN" b="0" i="0" dirty="0">
                <a:solidFill>
                  <a:srgbClr val="292929"/>
                </a:solidFill>
                <a:effectLst/>
              </a:rPr>
              <a:t>/</a:t>
            </a:r>
            <a:r>
              <a:rPr lang="en-IN" b="0" i="0" dirty="0" err="1">
                <a:solidFill>
                  <a:srgbClr val="292929"/>
                </a:solidFill>
                <a:effectLst/>
              </a:rPr>
              <a:t>sbin</a:t>
            </a:r>
            <a:endParaRPr lang="en-IN" b="0" i="0" dirty="0">
              <a:solidFill>
                <a:srgbClr val="292929"/>
              </a:solidFill>
              <a:effectLst/>
            </a:endParaRPr>
          </a:p>
          <a:p>
            <a:pPr lvl="1" algn="just"/>
            <a:r>
              <a:rPr lang="en-IN" sz="2800" b="0" i="0" dirty="0">
                <a:effectLst/>
              </a:rPr>
              <a:t>start-dfs.sh</a:t>
            </a:r>
            <a:endParaRPr lang="en-US" sz="2800" b="0" i="0" dirty="0">
              <a:effectLst/>
            </a:endParaRPr>
          </a:p>
          <a:p>
            <a:pPr lvl="1" algn="just"/>
            <a:r>
              <a:rPr lang="en-IN" sz="2800" b="0" i="0" dirty="0">
                <a:effectLst/>
              </a:rPr>
              <a:t>stop-dfs.sh</a:t>
            </a:r>
            <a:endParaRPr lang="en-US" sz="2800" dirty="0"/>
          </a:p>
          <a:p>
            <a:pPr lvl="1" algn="just"/>
            <a:r>
              <a:rPr lang="en-IN" sz="2800" b="0" i="0" dirty="0">
                <a:effectLst/>
              </a:rPr>
              <a:t>start-mapred.sh</a:t>
            </a:r>
          </a:p>
          <a:p>
            <a:pPr lvl="1" algn="just"/>
            <a:r>
              <a:rPr lang="en-US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stop-mapred.sh </a:t>
            </a:r>
          </a:p>
          <a:p>
            <a:pPr lvl="1" algn="just"/>
            <a:r>
              <a:rPr lang="en-US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start-all.sh</a:t>
            </a:r>
          </a:p>
          <a:p>
            <a:pPr lvl="1" algn="just"/>
            <a:r>
              <a:rPr lang="en-US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stop-all.sh</a:t>
            </a:r>
          </a:p>
          <a:p>
            <a:pPr lvl="1" algn="just"/>
            <a:endParaRPr lang="en-IN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88D57-8438-4AB3-983D-19DBBF8B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Starting Hadoop 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958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B2EC62-678A-4079-AB93-C23FF727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0" i="0" dirty="0">
                <a:solidFill>
                  <a:srgbClr val="292929"/>
                </a:solidFill>
                <a:effectLst/>
              </a:rPr>
              <a:t>cd ~/</a:t>
            </a:r>
            <a:r>
              <a:rPr lang="en-IN" b="0" i="0" dirty="0" err="1">
                <a:solidFill>
                  <a:srgbClr val="292929"/>
                </a:solidFill>
                <a:effectLst/>
              </a:rPr>
              <a:t>hadoop</a:t>
            </a:r>
            <a:r>
              <a:rPr lang="en-IN" b="0" i="0" dirty="0">
                <a:solidFill>
                  <a:srgbClr val="292929"/>
                </a:solidFill>
                <a:effectLst/>
              </a:rPr>
              <a:t>/</a:t>
            </a:r>
            <a:r>
              <a:rPr lang="en-IN" b="0" i="0" dirty="0" err="1">
                <a:solidFill>
                  <a:srgbClr val="292929"/>
                </a:solidFill>
                <a:effectLst/>
              </a:rPr>
              <a:t>sbin</a:t>
            </a:r>
            <a:endParaRPr lang="en-IN" b="0" i="0" dirty="0">
              <a:solidFill>
                <a:srgbClr val="292929"/>
              </a:solidFill>
              <a:effectLst/>
            </a:endParaRPr>
          </a:p>
          <a:p>
            <a:pPr lvl="1" algn="just"/>
            <a:r>
              <a:rPr lang="en-IN" sz="2800" b="0" i="0" dirty="0">
                <a:effectLst/>
              </a:rPr>
              <a:t>start-dfs.sh</a:t>
            </a:r>
            <a:endParaRPr lang="en-US" sz="2800" b="0" i="0" dirty="0">
              <a:effectLst/>
            </a:endParaRPr>
          </a:p>
          <a:p>
            <a:pPr lvl="1" algn="just"/>
            <a:r>
              <a:rPr lang="en-IN" sz="2800" b="0" i="0" dirty="0">
                <a:effectLst/>
              </a:rPr>
              <a:t>stop-dfs.sh</a:t>
            </a:r>
            <a:endParaRPr lang="en-US" sz="2800" dirty="0"/>
          </a:p>
          <a:p>
            <a:pPr lvl="1" algn="just"/>
            <a:r>
              <a:rPr lang="en-IN" sz="2800" b="0" i="0" dirty="0">
                <a:effectLst/>
              </a:rPr>
              <a:t>start-mapred.sh</a:t>
            </a:r>
          </a:p>
          <a:p>
            <a:pPr lvl="1" algn="just"/>
            <a:r>
              <a:rPr lang="en-US" sz="2800" b="0" i="0" dirty="0">
                <a:effectLst/>
              </a:rPr>
              <a:t>stop-mapred.sh </a:t>
            </a:r>
          </a:p>
          <a:p>
            <a:pPr lvl="1" algn="just"/>
            <a:r>
              <a:rPr lang="en-US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start-all.sh</a:t>
            </a:r>
          </a:p>
          <a:p>
            <a:pPr lvl="1" algn="just"/>
            <a:r>
              <a:rPr lang="en-US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stop-all.sh</a:t>
            </a:r>
          </a:p>
          <a:p>
            <a:pPr lvl="1" algn="just"/>
            <a:endParaRPr lang="en-IN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88D57-8438-4AB3-983D-19DBBF8B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Starting Hadoop 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7663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B2EC62-678A-4079-AB93-C23FF727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0" i="0" dirty="0">
                <a:solidFill>
                  <a:srgbClr val="292929"/>
                </a:solidFill>
                <a:effectLst/>
              </a:rPr>
              <a:t>cd ~/</a:t>
            </a:r>
            <a:r>
              <a:rPr lang="en-IN" b="0" i="0" dirty="0" err="1">
                <a:solidFill>
                  <a:srgbClr val="292929"/>
                </a:solidFill>
                <a:effectLst/>
              </a:rPr>
              <a:t>hadoop</a:t>
            </a:r>
            <a:r>
              <a:rPr lang="en-IN" b="0" i="0" dirty="0">
                <a:solidFill>
                  <a:srgbClr val="292929"/>
                </a:solidFill>
                <a:effectLst/>
              </a:rPr>
              <a:t>/</a:t>
            </a:r>
            <a:r>
              <a:rPr lang="en-IN" b="0" i="0" dirty="0" err="1">
                <a:solidFill>
                  <a:srgbClr val="292929"/>
                </a:solidFill>
                <a:effectLst/>
              </a:rPr>
              <a:t>sbin</a:t>
            </a:r>
            <a:endParaRPr lang="en-IN" b="0" i="0" dirty="0">
              <a:solidFill>
                <a:srgbClr val="292929"/>
              </a:solidFill>
              <a:effectLst/>
            </a:endParaRPr>
          </a:p>
          <a:p>
            <a:pPr lvl="1" algn="just"/>
            <a:r>
              <a:rPr lang="en-IN" sz="2800" b="0" i="0" dirty="0">
                <a:effectLst/>
              </a:rPr>
              <a:t>start-dfs.sh</a:t>
            </a:r>
            <a:endParaRPr lang="en-US" sz="2800" b="0" i="0" dirty="0">
              <a:effectLst/>
            </a:endParaRPr>
          </a:p>
          <a:p>
            <a:pPr lvl="1" algn="just"/>
            <a:r>
              <a:rPr lang="en-IN" sz="2800" b="0" i="0" dirty="0">
                <a:effectLst/>
              </a:rPr>
              <a:t>stop-dfs.sh</a:t>
            </a:r>
            <a:endParaRPr lang="en-US" sz="2800" dirty="0"/>
          </a:p>
          <a:p>
            <a:pPr lvl="1" algn="just"/>
            <a:r>
              <a:rPr lang="en-IN" sz="2800" b="0" i="0" dirty="0">
                <a:effectLst/>
              </a:rPr>
              <a:t>start-mapred.sh</a:t>
            </a:r>
          </a:p>
          <a:p>
            <a:pPr lvl="1" algn="just"/>
            <a:r>
              <a:rPr lang="en-US" sz="2800" b="0" i="0" dirty="0">
                <a:effectLst/>
              </a:rPr>
              <a:t>stop-mapred.sh </a:t>
            </a:r>
          </a:p>
          <a:p>
            <a:pPr lvl="1" algn="just"/>
            <a:r>
              <a:rPr lang="en-US" sz="2800" b="0" i="0" dirty="0">
                <a:effectLst/>
              </a:rPr>
              <a:t>start-all.sh</a:t>
            </a:r>
          </a:p>
          <a:p>
            <a:pPr lvl="1" algn="just"/>
            <a:r>
              <a:rPr lang="en-US" sz="28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stop-all.sh</a:t>
            </a:r>
          </a:p>
          <a:p>
            <a:pPr lvl="1" algn="just"/>
            <a:endParaRPr lang="en-IN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88D57-8438-4AB3-983D-19DBBF8B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Starting Hadoop 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387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B2EC62-678A-4079-AB93-C23FF727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0" i="0" dirty="0">
                <a:solidFill>
                  <a:srgbClr val="292929"/>
                </a:solidFill>
                <a:effectLst/>
              </a:rPr>
              <a:t>cd ~/</a:t>
            </a:r>
            <a:r>
              <a:rPr lang="en-IN" b="0" i="0" dirty="0" err="1">
                <a:solidFill>
                  <a:srgbClr val="292929"/>
                </a:solidFill>
                <a:effectLst/>
              </a:rPr>
              <a:t>hadoop</a:t>
            </a:r>
            <a:r>
              <a:rPr lang="en-IN" b="0" i="0" dirty="0">
                <a:solidFill>
                  <a:srgbClr val="292929"/>
                </a:solidFill>
                <a:effectLst/>
              </a:rPr>
              <a:t>/</a:t>
            </a:r>
            <a:r>
              <a:rPr lang="en-IN" b="0" i="0" dirty="0" err="1">
                <a:solidFill>
                  <a:srgbClr val="292929"/>
                </a:solidFill>
                <a:effectLst/>
              </a:rPr>
              <a:t>sbin</a:t>
            </a:r>
            <a:endParaRPr lang="en-IN" b="0" i="0" dirty="0">
              <a:solidFill>
                <a:srgbClr val="292929"/>
              </a:solidFill>
              <a:effectLst/>
            </a:endParaRPr>
          </a:p>
          <a:p>
            <a:pPr lvl="1" algn="just"/>
            <a:r>
              <a:rPr lang="en-IN" sz="2800" b="0" i="0" dirty="0">
                <a:effectLst/>
              </a:rPr>
              <a:t>start-dfs.sh</a:t>
            </a:r>
            <a:endParaRPr lang="en-US" sz="2800" b="0" i="0" dirty="0">
              <a:effectLst/>
            </a:endParaRPr>
          </a:p>
          <a:p>
            <a:pPr lvl="1" algn="just"/>
            <a:r>
              <a:rPr lang="en-IN" sz="2800" b="0" i="0" dirty="0">
                <a:effectLst/>
              </a:rPr>
              <a:t>stop-dfs.sh</a:t>
            </a:r>
            <a:endParaRPr lang="en-US" sz="2800" dirty="0"/>
          </a:p>
          <a:p>
            <a:pPr lvl="1" algn="just"/>
            <a:r>
              <a:rPr lang="en-IN" sz="2800" b="0" i="0" dirty="0">
                <a:effectLst/>
              </a:rPr>
              <a:t>start-mapred.sh</a:t>
            </a:r>
          </a:p>
          <a:p>
            <a:pPr lvl="1" algn="just"/>
            <a:r>
              <a:rPr lang="en-US" sz="2800" b="0" i="0" dirty="0">
                <a:effectLst/>
              </a:rPr>
              <a:t>stop-mapred.sh </a:t>
            </a:r>
          </a:p>
          <a:p>
            <a:pPr lvl="1" algn="just"/>
            <a:r>
              <a:rPr lang="en-US" sz="2800" b="0" i="0" dirty="0">
                <a:effectLst/>
              </a:rPr>
              <a:t>start-all.sh</a:t>
            </a:r>
          </a:p>
          <a:p>
            <a:pPr lvl="1" algn="just"/>
            <a:r>
              <a:rPr lang="en-US" sz="2800" b="0" i="0" dirty="0">
                <a:effectLst/>
              </a:rPr>
              <a:t>stop-all.sh</a:t>
            </a:r>
          </a:p>
          <a:p>
            <a:pPr lvl="1" algn="just"/>
            <a:endParaRPr lang="en-IN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088D57-8438-4AB3-983D-19DBBF8B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Starting Hadoop 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945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1038</TotalTime>
  <Words>463</Words>
  <Application>Microsoft Office PowerPoint</Application>
  <PresentationFormat>On-screen Show (4:3)</PresentationFormat>
  <Paragraphs>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-apple-system</vt:lpstr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</vt:lpstr>
      <vt:lpstr>Multiple Namenodes/Namespaces</vt:lpstr>
      <vt:lpstr>Federation Configuration</vt:lpstr>
      <vt:lpstr>Format a namenode</vt:lpstr>
      <vt:lpstr>Format a namenode</vt:lpstr>
      <vt:lpstr> Reason for Hadoop Namenode - Format  </vt:lpstr>
      <vt:lpstr> Reason for Hadoop Namenode - Format  </vt:lpstr>
      <vt:lpstr> Reason for Hadoop Namenode - Format  </vt:lpstr>
      <vt:lpstr>Starting Hadoop Services.</vt:lpstr>
      <vt:lpstr>Starting Hadoop Services.</vt:lpstr>
      <vt:lpstr>Starting Hadoop Services.</vt:lpstr>
      <vt:lpstr>Starting Hadoop Services.</vt:lpstr>
      <vt:lpstr>Starting Hadoop Services.</vt:lpstr>
      <vt:lpstr>Starting Hadoop Services.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59</cp:revision>
  <dcterms:created xsi:type="dcterms:W3CDTF">2021-05-13T17:45:44Z</dcterms:created>
  <dcterms:modified xsi:type="dcterms:W3CDTF">2021-08-18T07:23:07Z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265490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