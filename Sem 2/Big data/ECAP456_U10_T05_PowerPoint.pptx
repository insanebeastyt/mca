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vnd.ms-photo" Extension="wdp"/>
  <Default ContentType="application/xml" Extension="xml"/>
  <Override ContentType="application/vnd.openxmlformats-officedocument.presentationml.presentation.main+xml" PartName="/ppt/presentation.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notesMaster+xml" PartName="/ppt/notesMasters/notesMaster1.xml"/>
  <Override ContentType="application/vnd.openxmlformats-officedocument.presentationml.handoutMaster+xml" PartName="/ppt/handoutMasters/handoutMaster1.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theme+xml" PartName="/ppt/theme/theme1.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theme+xml" PartName="/ppt/theme/theme2.xml"/>
  <Override ContentType="application/vnd.openxmlformats-officedocument.theme+xml" PartName="/ppt/theme/theme3.xml"/>
  <Override ContentType="application/vnd.openxmlformats-officedocument.drawingml.diagramData+xml" PartName="/ppt/diagrams/data1.xml"/>
  <Override ContentType="application/vnd.openxmlformats-officedocument.drawingml.diagramLayout+xml" PartName="/ppt/diagrams/layout1.xml"/>
  <Override ContentType="application/vnd.openxmlformats-officedocument.drawingml.diagramStyle+xml" PartName="/ppt/diagrams/quickStyle1.xml"/>
  <Override ContentType="application/vnd.openxmlformats-officedocument.drawingml.diagramColors+xml" PartName="/ppt/diagrams/colors1.xml"/>
  <Override ContentType="application/vnd.ms-office.drawingml.diagramDrawing+xml" PartName="/ppt/diagrams/drawing1.xml"/>
  <Override ContentType="application/vnd.openxmlformats-officedocument.drawingml.diagramData+xml" PartName="/ppt/diagrams/data2.xml"/>
  <Override ContentType="application/vnd.openxmlformats-officedocument.drawingml.diagramLayout+xml" PartName="/ppt/diagrams/layout2.xml"/>
  <Override ContentType="application/vnd.openxmlformats-officedocument.drawingml.diagramStyle+xml" PartName="/ppt/diagrams/quickStyle2.xml"/>
  <Override ContentType="application/vnd.openxmlformats-officedocument.drawingml.diagramColors+xml" PartName="/ppt/diagrams/colors2.xml"/>
  <Override ContentType="application/vnd.ms-office.drawingml.diagramDrawing+xml" PartName="/ppt/diagrams/drawing2.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package.core-properties+xml" PartName="/docProps/core.xml"/>
  <Override ContentType="application/vnd.openxmlformats-officedocument.extended-properties+xml" PartName="/docProps/app.xml"/>
  <Override ContentType="application/vnd.openxmlformats-officedocument.custom-properties+xml" PartName="/docProps/custom.xml"/>
</Types>
</file>

<file path=_rels/.rels><?xml version="1.0" encoding="UTF-8" standalone="yes" ?><Relationships xmlns="http://schemas.openxmlformats.org/package/2006/relationships"><Relationship Id="rId3" Target="docProps/core.xml" Type="http://schemas.openxmlformats.org/package/2006/relationships/metadata/core-properties"/><Relationship Id="rId2" Target="docProps/thumbnail.jpeg" Type="http://schemas.openxmlformats.org/package/2006/relationships/metadata/thumbnail"/><Relationship Id="rId1" Target="ppt/presentation.xml" Type="http://schemas.openxmlformats.org/officeDocument/2006/relationships/officeDocument"/><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9"/>
  </p:notesMasterIdLst>
  <p:handoutMasterIdLst>
    <p:handoutMasterId r:id="rId70"/>
  </p:handoutMasterIdLst>
  <p:sldIdLst>
    <p:sldId id="266" r:id="rId2"/>
    <p:sldId id="261" r:id="rId3"/>
    <p:sldId id="361" r:id="rId4"/>
    <p:sldId id="362" r:id="rId5"/>
    <p:sldId id="363" r:id="rId6"/>
    <p:sldId id="364" r:id="rId7"/>
    <p:sldId id="365" r:id="rId8"/>
    <p:sldId id="366" r:id="rId9"/>
    <p:sldId id="367" r:id="rId10"/>
    <p:sldId id="368" r:id="rId11"/>
    <p:sldId id="369" r:id="rId12"/>
    <p:sldId id="370" r:id="rId13"/>
    <p:sldId id="371" r:id="rId14"/>
    <p:sldId id="372" r:id="rId15"/>
    <p:sldId id="373" r:id="rId16"/>
    <p:sldId id="374" r:id="rId17"/>
    <p:sldId id="375" r:id="rId18"/>
    <p:sldId id="376" r:id="rId19"/>
    <p:sldId id="377" r:id="rId20"/>
    <p:sldId id="378" r:id="rId21"/>
    <p:sldId id="379" r:id="rId22"/>
    <p:sldId id="299" r:id="rId23"/>
    <p:sldId id="300" r:id="rId24"/>
    <p:sldId id="301" r:id="rId25"/>
    <p:sldId id="302" r:id="rId26"/>
    <p:sldId id="303" r:id="rId27"/>
    <p:sldId id="306" r:id="rId28"/>
    <p:sldId id="307" r:id="rId29"/>
    <p:sldId id="308" r:id="rId30"/>
    <p:sldId id="310" r:id="rId31"/>
    <p:sldId id="309" r:id="rId32"/>
    <p:sldId id="311" r:id="rId33"/>
    <p:sldId id="312" r:id="rId34"/>
    <p:sldId id="314" r:id="rId35"/>
    <p:sldId id="315" r:id="rId36"/>
    <p:sldId id="318" r:id="rId37"/>
    <p:sldId id="317" r:id="rId38"/>
    <p:sldId id="319" r:id="rId39"/>
    <p:sldId id="320" r:id="rId40"/>
    <p:sldId id="322" r:id="rId41"/>
    <p:sldId id="324" r:id="rId42"/>
    <p:sldId id="326" r:id="rId43"/>
    <p:sldId id="327" r:id="rId44"/>
    <p:sldId id="328" r:id="rId45"/>
    <p:sldId id="325" r:id="rId46"/>
    <p:sldId id="329" r:id="rId47"/>
    <p:sldId id="330" r:id="rId48"/>
    <p:sldId id="331" r:id="rId49"/>
    <p:sldId id="332" r:id="rId50"/>
    <p:sldId id="333" r:id="rId51"/>
    <p:sldId id="347" r:id="rId52"/>
    <p:sldId id="381" r:id="rId53"/>
    <p:sldId id="382" r:id="rId54"/>
    <p:sldId id="383" r:id="rId55"/>
    <p:sldId id="380" r:id="rId56"/>
    <p:sldId id="384" r:id="rId57"/>
    <p:sldId id="385" r:id="rId58"/>
    <p:sldId id="386" r:id="rId59"/>
    <p:sldId id="351" r:id="rId60"/>
    <p:sldId id="387" r:id="rId61"/>
    <p:sldId id="353" r:id="rId62"/>
    <p:sldId id="388" r:id="rId63"/>
    <p:sldId id="357" r:id="rId64"/>
    <p:sldId id="339" r:id="rId65"/>
    <p:sldId id="389" r:id="rId66"/>
    <p:sldId id="360" r:id="rId67"/>
    <p:sldId id="263" r:id="rId6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525A"/>
    <a:srgbClr val="618495"/>
    <a:srgbClr val="44525B"/>
    <a:srgbClr val="072235"/>
    <a:srgbClr val="453A38"/>
    <a:srgbClr val="B8B192"/>
    <a:srgbClr val="473B39"/>
    <a:srgbClr val="302C31"/>
    <a:srgbClr val="63504D"/>
    <a:srgbClr val="94787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53" autoAdjust="0"/>
    <p:restoredTop sz="94660"/>
  </p:normalViewPr>
  <p:slideViewPr>
    <p:cSldViewPr snapToGrid="0">
      <p:cViewPr>
        <p:scale>
          <a:sx n="50" d="100"/>
          <a:sy n="50" d="100"/>
        </p:scale>
        <p:origin x="1776" y="366"/>
      </p:cViewPr>
      <p:guideLst/>
    </p:cSldViewPr>
  </p:slideViewPr>
  <p:notesTextViewPr>
    <p:cViewPr>
      <p:scale>
        <a:sx n="1" d="1"/>
        <a:sy n="1" d="1"/>
      </p:scale>
      <p:origin x="0" y="0"/>
    </p:cViewPr>
  </p:notesTextViewPr>
  <p:notesViewPr>
    <p:cSldViewPr snapToGrid="0">
      <p:cViewPr varScale="1">
        <p:scale>
          <a:sx n="49" d="100"/>
          <a:sy n="49" d="100"/>
        </p:scale>
        <p:origin x="2910" y="3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56B1C63-0183-4B96-B3DB-3916166F8972}" type="doc">
      <dgm:prSet loTypeId="urn:microsoft.com/office/officeart/2005/8/layout/default" loCatId="list" qsTypeId="urn:microsoft.com/office/officeart/2005/8/quickstyle/simple1" qsCatId="simple" csTypeId="urn:microsoft.com/office/officeart/2005/8/colors/accent0_3" csCatId="mainScheme" phldr="1"/>
      <dgm:spPr/>
      <dgm:t>
        <a:bodyPr/>
        <a:lstStyle/>
        <a:p>
          <a:endParaRPr lang="en-IN"/>
        </a:p>
      </dgm:t>
    </dgm:pt>
    <dgm:pt modelId="{16F7EDF2-D006-48B8-BEAE-21218E96792B}">
      <dgm:prSet phldrT="[Text]"/>
      <dgm:spPr/>
      <dgm:t>
        <a:bodyPr/>
        <a:lstStyle/>
        <a:p>
          <a:r>
            <a:rPr lang="en-IN" b="0" i="0" dirty="0"/>
            <a:t>scheduling tasks</a:t>
          </a:r>
          <a:endParaRPr lang="en-IN" dirty="0"/>
        </a:p>
      </dgm:t>
    </dgm:pt>
    <dgm:pt modelId="{1E773C72-7260-48E5-B13F-124286A681DD}" type="parTrans" cxnId="{F530E4C5-412D-499A-94A5-8EAAC8633F22}">
      <dgm:prSet/>
      <dgm:spPr/>
      <dgm:t>
        <a:bodyPr/>
        <a:lstStyle/>
        <a:p>
          <a:endParaRPr lang="en-IN"/>
        </a:p>
      </dgm:t>
    </dgm:pt>
    <dgm:pt modelId="{4BCA5BC0-F962-4623-A54C-A957BC9B59F9}" type="sibTrans" cxnId="{F530E4C5-412D-499A-94A5-8EAAC8633F22}">
      <dgm:prSet/>
      <dgm:spPr/>
      <dgm:t>
        <a:bodyPr/>
        <a:lstStyle/>
        <a:p>
          <a:endParaRPr lang="en-IN"/>
        </a:p>
      </dgm:t>
    </dgm:pt>
    <dgm:pt modelId="{E5A97BD2-0CBF-4184-A6B7-8942812A03BE}">
      <dgm:prSet phldrT="[Text]"/>
      <dgm:spPr/>
      <dgm:t>
        <a:bodyPr/>
        <a:lstStyle/>
        <a:p>
          <a:r>
            <a:rPr lang="en-IN" b="0" i="0" dirty="0"/>
            <a:t>monitoring them</a:t>
          </a:r>
          <a:endParaRPr lang="en-IN" dirty="0"/>
        </a:p>
      </dgm:t>
    </dgm:pt>
    <dgm:pt modelId="{7337E547-0BEA-4F87-B31B-85F0473F5704}" type="parTrans" cxnId="{6FFE00ED-11D9-4B2D-BDC8-1D60A5A450CD}">
      <dgm:prSet/>
      <dgm:spPr/>
      <dgm:t>
        <a:bodyPr/>
        <a:lstStyle/>
        <a:p>
          <a:endParaRPr lang="en-IN"/>
        </a:p>
      </dgm:t>
    </dgm:pt>
    <dgm:pt modelId="{5D269A45-897B-49F9-AC91-6F0B5DF4BAC4}" type="sibTrans" cxnId="{6FFE00ED-11D9-4B2D-BDC8-1D60A5A450CD}">
      <dgm:prSet/>
      <dgm:spPr/>
      <dgm:t>
        <a:bodyPr/>
        <a:lstStyle/>
        <a:p>
          <a:endParaRPr lang="en-IN"/>
        </a:p>
      </dgm:t>
    </dgm:pt>
    <dgm:pt modelId="{4CBA97E7-2C1E-43C0-B483-E0CEACEE2680}">
      <dgm:prSet phldrT="[Text]"/>
      <dgm:spPr/>
      <dgm:t>
        <a:bodyPr/>
        <a:lstStyle/>
        <a:p>
          <a:r>
            <a:rPr lang="en-IN" b="0" i="0" dirty="0"/>
            <a:t>re-executes the failed task.</a:t>
          </a:r>
          <a:endParaRPr lang="en-IN" dirty="0"/>
        </a:p>
      </dgm:t>
    </dgm:pt>
    <dgm:pt modelId="{7CB46FFD-0D36-4AE3-998A-FB0F701B87EC}" type="parTrans" cxnId="{4CDD2A17-A8CB-4300-8F30-F080F4606291}">
      <dgm:prSet/>
      <dgm:spPr/>
      <dgm:t>
        <a:bodyPr/>
        <a:lstStyle/>
        <a:p>
          <a:endParaRPr lang="en-IN"/>
        </a:p>
      </dgm:t>
    </dgm:pt>
    <dgm:pt modelId="{99751139-7C86-4798-A572-29A96508B99F}" type="sibTrans" cxnId="{4CDD2A17-A8CB-4300-8F30-F080F4606291}">
      <dgm:prSet/>
      <dgm:spPr/>
      <dgm:t>
        <a:bodyPr/>
        <a:lstStyle/>
        <a:p>
          <a:endParaRPr lang="en-IN"/>
        </a:p>
      </dgm:t>
    </dgm:pt>
    <dgm:pt modelId="{AC5335BA-6888-4889-AA8F-C61B71B6A1BB}" type="pres">
      <dgm:prSet presAssocID="{B56B1C63-0183-4B96-B3DB-3916166F8972}" presName="diagram" presStyleCnt="0">
        <dgm:presLayoutVars>
          <dgm:dir/>
          <dgm:resizeHandles val="exact"/>
        </dgm:presLayoutVars>
      </dgm:prSet>
      <dgm:spPr/>
    </dgm:pt>
    <dgm:pt modelId="{9A843BD1-6094-4B90-AA66-FF565DF85C89}" type="pres">
      <dgm:prSet presAssocID="{16F7EDF2-D006-48B8-BEAE-21218E96792B}" presName="node" presStyleLbl="node1" presStyleIdx="0" presStyleCnt="3">
        <dgm:presLayoutVars>
          <dgm:bulletEnabled val="1"/>
        </dgm:presLayoutVars>
      </dgm:prSet>
      <dgm:spPr/>
    </dgm:pt>
    <dgm:pt modelId="{654C19CE-B7ED-4B98-9BD0-CEC9BD4B4E5A}" type="pres">
      <dgm:prSet presAssocID="{4BCA5BC0-F962-4623-A54C-A957BC9B59F9}" presName="sibTrans" presStyleCnt="0"/>
      <dgm:spPr/>
    </dgm:pt>
    <dgm:pt modelId="{01062ABC-1B28-443A-B44F-A5E24A42BECC}" type="pres">
      <dgm:prSet presAssocID="{E5A97BD2-0CBF-4184-A6B7-8942812A03BE}" presName="node" presStyleLbl="node1" presStyleIdx="1" presStyleCnt="3">
        <dgm:presLayoutVars>
          <dgm:bulletEnabled val="1"/>
        </dgm:presLayoutVars>
      </dgm:prSet>
      <dgm:spPr/>
    </dgm:pt>
    <dgm:pt modelId="{174F9341-A6B0-4B36-89AE-D3B43031C4AC}" type="pres">
      <dgm:prSet presAssocID="{5D269A45-897B-49F9-AC91-6F0B5DF4BAC4}" presName="sibTrans" presStyleCnt="0"/>
      <dgm:spPr/>
    </dgm:pt>
    <dgm:pt modelId="{B0491180-C579-46B1-A9D0-F56C16EB9C21}" type="pres">
      <dgm:prSet presAssocID="{4CBA97E7-2C1E-43C0-B483-E0CEACEE2680}" presName="node" presStyleLbl="node1" presStyleIdx="2" presStyleCnt="3">
        <dgm:presLayoutVars>
          <dgm:bulletEnabled val="1"/>
        </dgm:presLayoutVars>
      </dgm:prSet>
      <dgm:spPr/>
    </dgm:pt>
  </dgm:ptLst>
  <dgm:cxnLst>
    <dgm:cxn modelId="{4CDD2A17-A8CB-4300-8F30-F080F4606291}" srcId="{B56B1C63-0183-4B96-B3DB-3916166F8972}" destId="{4CBA97E7-2C1E-43C0-B483-E0CEACEE2680}" srcOrd="2" destOrd="0" parTransId="{7CB46FFD-0D36-4AE3-998A-FB0F701B87EC}" sibTransId="{99751139-7C86-4798-A572-29A96508B99F}"/>
    <dgm:cxn modelId="{79E1F05F-2AD9-4C37-BE6C-6031695C89CE}" type="presOf" srcId="{B56B1C63-0183-4B96-B3DB-3916166F8972}" destId="{AC5335BA-6888-4889-AA8F-C61B71B6A1BB}" srcOrd="0" destOrd="0" presId="urn:microsoft.com/office/officeart/2005/8/layout/default"/>
    <dgm:cxn modelId="{46A9AB68-A3AD-45ED-A66B-B2E73C72597B}" type="presOf" srcId="{16F7EDF2-D006-48B8-BEAE-21218E96792B}" destId="{9A843BD1-6094-4B90-AA66-FF565DF85C89}" srcOrd="0" destOrd="0" presId="urn:microsoft.com/office/officeart/2005/8/layout/default"/>
    <dgm:cxn modelId="{BA5B63A9-9986-49C5-91D1-0BCB07127447}" type="presOf" srcId="{4CBA97E7-2C1E-43C0-B483-E0CEACEE2680}" destId="{B0491180-C579-46B1-A9D0-F56C16EB9C21}" srcOrd="0" destOrd="0" presId="urn:microsoft.com/office/officeart/2005/8/layout/default"/>
    <dgm:cxn modelId="{F530E4C5-412D-499A-94A5-8EAAC8633F22}" srcId="{B56B1C63-0183-4B96-B3DB-3916166F8972}" destId="{16F7EDF2-D006-48B8-BEAE-21218E96792B}" srcOrd="0" destOrd="0" parTransId="{1E773C72-7260-48E5-B13F-124286A681DD}" sibTransId="{4BCA5BC0-F962-4623-A54C-A957BC9B59F9}"/>
    <dgm:cxn modelId="{6FFE00ED-11D9-4B2D-BDC8-1D60A5A450CD}" srcId="{B56B1C63-0183-4B96-B3DB-3916166F8972}" destId="{E5A97BD2-0CBF-4184-A6B7-8942812A03BE}" srcOrd="1" destOrd="0" parTransId="{7337E547-0BEA-4F87-B31B-85F0473F5704}" sibTransId="{5D269A45-897B-49F9-AC91-6F0B5DF4BAC4}"/>
    <dgm:cxn modelId="{CAE0A5EF-B2DE-43BD-8110-DA7B5503EA03}" type="presOf" srcId="{E5A97BD2-0CBF-4184-A6B7-8942812A03BE}" destId="{01062ABC-1B28-443A-B44F-A5E24A42BECC}" srcOrd="0" destOrd="0" presId="urn:microsoft.com/office/officeart/2005/8/layout/default"/>
    <dgm:cxn modelId="{1440445E-5BF5-40F2-947C-696195037EF0}" type="presParOf" srcId="{AC5335BA-6888-4889-AA8F-C61B71B6A1BB}" destId="{9A843BD1-6094-4B90-AA66-FF565DF85C89}" srcOrd="0" destOrd="0" presId="urn:microsoft.com/office/officeart/2005/8/layout/default"/>
    <dgm:cxn modelId="{1091ABCC-E1A7-4E2E-8DC3-391B028CC85C}" type="presParOf" srcId="{AC5335BA-6888-4889-AA8F-C61B71B6A1BB}" destId="{654C19CE-B7ED-4B98-9BD0-CEC9BD4B4E5A}" srcOrd="1" destOrd="0" presId="urn:microsoft.com/office/officeart/2005/8/layout/default"/>
    <dgm:cxn modelId="{F9E2004A-B48D-4D3B-9E01-AB373D7500BA}" type="presParOf" srcId="{AC5335BA-6888-4889-AA8F-C61B71B6A1BB}" destId="{01062ABC-1B28-443A-B44F-A5E24A42BECC}" srcOrd="2" destOrd="0" presId="urn:microsoft.com/office/officeart/2005/8/layout/default"/>
    <dgm:cxn modelId="{EBA21753-55C4-450F-81EF-B71BFB8B4942}" type="presParOf" srcId="{AC5335BA-6888-4889-AA8F-C61B71B6A1BB}" destId="{174F9341-A6B0-4B36-89AE-D3B43031C4AC}" srcOrd="3" destOrd="0" presId="urn:microsoft.com/office/officeart/2005/8/layout/default"/>
    <dgm:cxn modelId="{0F2D215C-6531-48B4-B67A-9D7FEBAF12E1}" type="presParOf" srcId="{AC5335BA-6888-4889-AA8F-C61B71B6A1BB}" destId="{B0491180-C579-46B1-A9D0-F56C16EB9C21}" srcOrd="4" destOrd="0" presId="urn:microsoft.com/office/officeart/2005/8/layout/defaul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5607FD0-4556-49B3-AB03-4B2EFC27A42A}" type="doc">
      <dgm:prSet loTypeId="urn:microsoft.com/office/officeart/2005/8/layout/hierarchy2" loCatId="hierarchy" qsTypeId="urn:microsoft.com/office/officeart/2005/8/quickstyle/simple1" qsCatId="simple" csTypeId="urn:microsoft.com/office/officeart/2005/8/colors/accent0_3" csCatId="mainScheme" phldr="1"/>
      <dgm:spPr/>
      <dgm:t>
        <a:bodyPr/>
        <a:lstStyle/>
        <a:p>
          <a:endParaRPr lang="en-IN"/>
        </a:p>
      </dgm:t>
    </dgm:pt>
    <dgm:pt modelId="{563FD258-F03D-45A7-BADC-074D3A91D1BE}">
      <dgm:prSet/>
      <dgm:spPr/>
      <dgm:t>
        <a:bodyPr/>
        <a:lstStyle/>
        <a:p>
          <a:r>
            <a:rPr lang="en-US" b="0" i="0">
              <a:effectLst/>
              <a:latin typeface="Bahnschrift" panose="020B0502040204020203" pitchFamily="34" charset="0"/>
            </a:rPr>
            <a:t>The ResourceManager has two main components that are </a:t>
          </a:r>
          <a:endParaRPr lang="en-US" b="0" i="0" dirty="0">
            <a:effectLst/>
            <a:latin typeface="Bahnschrift" panose="020B0502040204020203" pitchFamily="34" charset="0"/>
          </a:endParaRPr>
        </a:p>
      </dgm:t>
    </dgm:pt>
    <dgm:pt modelId="{FC4404F6-13C9-492D-94F0-32F3436D10AD}" type="parTrans" cxnId="{D6FDBB41-A7C6-473D-956B-DD1CF1A5AB98}">
      <dgm:prSet/>
      <dgm:spPr/>
      <dgm:t>
        <a:bodyPr/>
        <a:lstStyle/>
        <a:p>
          <a:endParaRPr lang="en-IN"/>
        </a:p>
      </dgm:t>
    </dgm:pt>
    <dgm:pt modelId="{8B4D1754-A9C5-47CB-8CA3-F3F0A19B58A3}" type="sibTrans" cxnId="{D6FDBB41-A7C6-473D-956B-DD1CF1A5AB98}">
      <dgm:prSet/>
      <dgm:spPr/>
      <dgm:t>
        <a:bodyPr/>
        <a:lstStyle/>
        <a:p>
          <a:endParaRPr lang="en-IN"/>
        </a:p>
      </dgm:t>
    </dgm:pt>
    <dgm:pt modelId="{C0B4CEAC-0C89-47ED-9733-78481E42D0C1}">
      <dgm:prSet/>
      <dgm:spPr/>
      <dgm:t>
        <a:bodyPr/>
        <a:lstStyle/>
        <a:p>
          <a:r>
            <a:rPr lang="en-US" b="0" i="0" dirty="0">
              <a:effectLst/>
              <a:latin typeface="Bahnschrift" panose="020B0502040204020203" pitchFamily="34" charset="0"/>
            </a:rPr>
            <a:t>Schedulers </a:t>
          </a:r>
        </a:p>
      </dgm:t>
    </dgm:pt>
    <dgm:pt modelId="{2A2D6B70-3746-43DE-BCDF-0FEE1BF79A85}" type="parTrans" cxnId="{2F6BB2A7-5669-4BCD-9AC1-13B05C3FC8F2}">
      <dgm:prSet/>
      <dgm:spPr/>
      <dgm:t>
        <a:bodyPr/>
        <a:lstStyle/>
        <a:p>
          <a:endParaRPr lang="en-IN"/>
        </a:p>
      </dgm:t>
    </dgm:pt>
    <dgm:pt modelId="{ED2EC2AF-7D29-4062-8800-F7066C72244B}" type="sibTrans" cxnId="{2F6BB2A7-5669-4BCD-9AC1-13B05C3FC8F2}">
      <dgm:prSet/>
      <dgm:spPr/>
      <dgm:t>
        <a:bodyPr/>
        <a:lstStyle/>
        <a:p>
          <a:endParaRPr lang="en-IN"/>
        </a:p>
      </dgm:t>
    </dgm:pt>
    <dgm:pt modelId="{2F383C7F-6B58-49D1-A4FB-9CAA3B2CD9C7}">
      <dgm:prSet/>
      <dgm:spPr/>
      <dgm:t>
        <a:bodyPr/>
        <a:lstStyle/>
        <a:p>
          <a:r>
            <a:rPr lang="en-US" b="0" i="0" dirty="0" err="1">
              <a:effectLst/>
              <a:latin typeface="Bahnschrift" panose="020B0502040204020203" pitchFamily="34" charset="0"/>
            </a:rPr>
            <a:t>ApplicationsManager</a:t>
          </a:r>
          <a:endParaRPr lang="en-IN" dirty="0">
            <a:latin typeface="Bahnschrift" panose="020B0502040204020203" pitchFamily="34" charset="0"/>
          </a:endParaRPr>
        </a:p>
      </dgm:t>
    </dgm:pt>
    <dgm:pt modelId="{F8E1E8D8-ECE7-4CB1-9D35-C169972A5139}" type="parTrans" cxnId="{63ACF300-501E-48B8-90C3-58A6014BA33B}">
      <dgm:prSet/>
      <dgm:spPr/>
      <dgm:t>
        <a:bodyPr/>
        <a:lstStyle/>
        <a:p>
          <a:endParaRPr lang="en-IN"/>
        </a:p>
      </dgm:t>
    </dgm:pt>
    <dgm:pt modelId="{287B8491-D66F-4D51-9BB4-14F5D19D6918}" type="sibTrans" cxnId="{63ACF300-501E-48B8-90C3-58A6014BA33B}">
      <dgm:prSet/>
      <dgm:spPr/>
      <dgm:t>
        <a:bodyPr/>
        <a:lstStyle/>
        <a:p>
          <a:endParaRPr lang="en-IN"/>
        </a:p>
      </dgm:t>
    </dgm:pt>
    <dgm:pt modelId="{F11FF231-2D54-4D47-AB43-D1406978F7D9}" type="pres">
      <dgm:prSet presAssocID="{D5607FD0-4556-49B3-AB03-4B2EFC27A42A}" presName="diagram" presStyleCnt="0">
        <dgm:presLayoutVars>
          <dgm:chPref val="1"/>
          <dgm:dir/>
          <dgm:animOne val="branch"/>
          <dgm:animLvl val="lvl"/>
          <dgm:resizeHandles val="exact"/>
        </dgm:presLayoutVars>
      </dgm:prSet>
      <dgm:spPr/>
    </dgm:pt>
    <dgm:pt modelId="{E7CCDAB7-E6C3-4044-8E53-A7AAEF25E7C2}" type="pres">
      <dgm:prSet presAssocID="{563FD258-F03D-45A7-BADC-074D3A91D1BE}" presName="root1" presStyleCnt="0"/>
      <dgm:spPr/>
    </dgm:pt>
    <dgm:pt modelId="{43C065C9-6E15-4BD2-B4DE-3B8FDDD3EB23}" type="pres">
      <dgm:prSet presAssocID="{563FD258-F03D-45A7-BADC-074D3A91D1BE}" presName="LevelOneTextNode" presStyleLbl="node0" presStyleIdx="0" presStyleCnt="1">
        <dgm:presLayoutVars>
          <dgm:chPref val="3"/>
        </dgm:presLayoutVars>
      </dgm:prSet>
      <dgm:spPr/>
    </dgm:pt>
    <dgm:pt modelId="{61BD76E6-D7B7-4660-9836-6E4920D8B382}" type="pres">
      <dgm:prSet presAssocID="{563FD258-F03D-45A7-BADC-074D3A91D1BE}" presName="level2hierChild" presStyleCnt="0"/>
      <dgm:spPr/>
    </dgm:pt>
    <dgm:pt modelId="{D0D318EE-5A36-4FDB-8B8F-DA65F24F4B10}" type="pres">
      <dgm:prSet presAssocID="{2A2D6B70-3746-43DE-BCDF-0FEE1BF79A85}" presName="conn2-1" presStyleLbl="parChTrans1D2" presStyleIdx="0" presStyleCnt="2"/>
      <dgm:spPr/>
    </dgm:pt>
    <dgm:pt modelId="{213CD06F-FF4B-4DC8-8DFE-BD345AC7CD2B}" type="pres">
      <dgm:prSet presAssocID="{2A2D6B70-3746-43DE-BCDF-0FEE1BF79A85}" presName="connTx" presStyleLbl="parChTrans1D2" presStyleIdx="0" presStyleCnt="2"/>
      <dgm:spPr/>
    </dgm:pt>
    <dgm:pt modelId="{46AA4D62-6E88-445E-A83A-A9EEEE8598D4}" type="pres">
      <dgm:prSet presAssocID="{C0B4CEAC-0C89-47ED-9733-78481E42D0C1}" presName="root2" presStyleCnt="0"/>
      <dgm:spPr/>
    </dgm:pt>
    <dgm:pt modelId="{89CA3502-A7E3-47F9-84E4-81D711B54301}" type="pres">
      <dgm:prSet presAssocID="{C0B4CEAC-0C89-47ED-9733-78481E42D0C1}" presName="LevelTwoTextNode" presStyleLbl="node2" presStyleIdx="0" presStyleCnt="2">
        <dgm:presLayoutVars>
          <dgm:chPref val="3"/>
        </dgm:presLayoutVars>
      </dgm:prSet>
      <dgm:spPr/>
    </dgm:pt>
    <dgm:pt modelId="{972D9A68-EF01-4313-A8C5-4B7421EB6163}" type="pres">
      <dgm:prSet presAssocID="{C0B4CEAC-0C89-47ED-9733-78481E42D0C1}" presName="level3hierChild" presStyleCnt="0"/>
      <dgm:spPr/>
    </dgm:pt>
    <dgm:pt modelId="{35539381-DE6C-4A4E-A356-91457ABAF3C4}" type="pres">
      <dgm:prSet presAssocID="{F8E1E8D8-ECE7-4CB1-9D35-C169972A5139}" presName="conn2-1" presStyleLbl="parChTrans1D2" presStyleIdx="1" presStyleCnt="2"/>
      <dgm:spPr/>
    </dgm:pt>
    <dgm:pt modelId="{EE520297-74A4-461B-B9D2-498EAE73B564}" type="pres">
      <dgm:prSet presAssocID="{F8E1E8D8-ECE7-4CB1-9D35-C169972A5139}" presName="connTx" presStyleLbl="parChTrans1D2" presStyleIdx="1" presStyleCnt="2"/>
      <dgm:spPr/>
    </dgm:pt>
    <dgm:pt modelId="{B2038777-A444-4778-A466-4A7DDCF11473}" type="pres">
      <dgm:prSet presAssocID="{2F383C7F-6B58-49D1-A4FB-9CAA3B2CD9C7}" presName="root2" presStyleCnt="0"/>
      <dgm:spPr/>
    </dgm:pt>
    <dgm:pt modelId="{E0356EE3-CB49-44EB-8387-E7FBF5C769A9}" type="pres">
      <dgm:prSet presAssocID="{2F383C7F-6B58-49D1-A4FB-9CAA3B2CD9C7}" presName="LevelTwoTextNode" presStyleLbl="node2" presStyleIdx="1" presStyleCnt="2">
        <dgm:presLayoutVars>
          <dgm:chPref val="3"/>
        </dgm:presLayoutVars>
      </dgm:prSet>
      <dgm:spPr/>
    </dgm:pt>
    <dgm:pt modelId="{FD229262-4960-46E3-B0D6-1D81C8F6E45B}" type="pres">
      <dgm:prSet presAssocID="{2F383C7F-6B58-49D1-A4FB-9CAA3B2CD9C7}" presName="level3hierChild" presStyleCnt="0"/>
      <dgm:spPr/>
    </dgm:pt>
  </dgm:ptLst>
  <dgm:cxnLst>
    <dgm:cxn modelId="{63ACF300-501E-48B8-90C3-58A6014BA33B}" srcId="{563FD258-F03D-45A7-BADC-074D3A91D1BE}" destId="{2F383C7F-6B58-49D1-A4FB-9CAA3B2CD9C7}" srcOrd="1" destOrd="0" parTransId="{F8E1E8D8-ECE7-4CB1-9D35-C169972A5139}" sibTransId="{287B8491-D66F-4D51-9BB4-14F5D19D6918}"/>
    <dgm:cxn modelId="{7179692D-C49C-4AE1-9104-D683FD4BFAA8}" type="presOf" srcId="{F8E1E8D8-ECE7-4CB1-9D35-C169972A5139}" destId="{35539381-DE6C-4A4E-A356-91457ABAF3C4}" srcOrd="0" destOrd="0" presId="urn:microsoft.com/office/officeart/2005/8/layout/hierarchy2"/>
    <dgm:cxn modelId="{E4A90D34-F45C-4589-A454-9F9A466FDA16}" type="presOf" srcId="{2F383C7F-6B58-49D1-A4FB-9CAA3B2CD9C7}" destId="{E0356EE3-CB49-44EB-8387-E7FBF5C769A9}" srcOrd="0" destOrd="0" presId="urn:microsoft.com/office/officeart/2005/8/layout/hierarchy2"/>
    <dgm:cxn modelId="{D6FDBB41-A7C6-473D-956B-DD1CF1A5AB98}" srcId="{D5607FD0-4556-49B3-AB03-4B2EFC27A42A}" destId="{563FD258-F03D-45A7-BADC-074D3A91D1BE}" srcOrd="0" destOrd="0" parTransId="{FC4404F6-13C9-492D-94F0-32F3436D10AD}" sibTransId="{8B4D1754-A9C5-47CB-8CA3-F3F0A19B58A3}"/>
    <dgm:cxn modelId="{B681EA48-F9FB-4E70-B8C6-160891A5FE9F}" type="presOf" srcId="{563FD258-F03D-45A7-BADC-074D3A91D1BE}" destId="{43C065C9-6E15-4BD2-B4DE-3B8FDDD3EB23}" srcOrd="0" destOrd="0" presId="urn:microsoft.com/office/officeart/2005/8/layout/hierarchy2"/>
    <dgm:cxn modelId="{F0132495-4E16-4C51-834A-9B5CA80A4B43}" type="presOf" srcId="{C0B4CEAC-0C89-47ED-9733-78481E42D0C1}" destId="{89CA3502-A7E3-47F9-84E4-81D711B54301}" srcOrd="0" destOrd="0" presId="urn:microsoft.com/office/officeart/2005/8/layout/hierarchy2"/>
    <dgm:cxn modelId="{12E53EA7-7991-4CE5-B6F5-1A54565B4597}" type="presOf" srcId="{2A2D6B70-3746-43DE-BCDF-0FEE1BF79A85}" destId="{D0D318EE-5A36-4FDB-8B8F-DA65F24F4B10}" srcOrd="0" destOrd="0" presId="urn:microsoft.com/office/officeart/2005/8/layout/hierarchy2"/>
    <dgm:cxn modelId="{22DC78A7-C9E7-4E1B-AB47-DC92E36649BE}" type="presOf" srcId="{2A2D6B70-3746-43DE-BCDF-0FEE1BF79A85}" destId="{213CD06F-FF4B-4DC8-8DFE-BD345AC7CD2B}" srcOrd="1" destOrd="0" presId="urn:microsoft.com/office/officeart/2005/8/layout/hierarchy2"/>
    <dgm:cxn modelId="{2F6BB2A7-5669-4BCD-9AC1-13B05C3FC8F2}" srcId="{563FD258-F03D-45A7-BADC-074D3A91D1BE}" destId="{C0B4CEAC-0C89-47ED-9733-78481E42D0C1}" srcOrd="0" destOrd="0" parTransId="{2A2D6B70-3746-43DE-BCDF-0FEE1BF79A85}" sibTransId="{ED2EC2AF-7D29-4062-8800-F7066C72244B}"/>
    <dgm:cxn modelId="{559CB9B1-FAC6-4F63-B46D-F2F180C5FC7A}" type="presOf" srcId="{D5607FD0-4556-49B3-AB03-4B2EFC27A42A}" destId="{F11FF231-2D54-4D47-AB43-D1406978F7D9}" srcOrd="0" destOrd="0" presId="urn:microsoft.com/office/officeart/2005/8/layout/hierarchy2"/>
    <dgm:cxn modelId="{450C70BE-3AC4-4D39-ACD0-9AB0D6350902}" type="presOf" srcId="{F8E1E8D8-ECE7-4CB1-9D35-C169972A5139}" destId="{EE520297-74A4-461B-B9D2-498EAE73B564}" srcOrd="1" destOrd="0" presId="urn:microsoft.com/office/officeart/2005/8/layout/hierarchy2"/>
    <dgm:cxn modelId="{9C1A4719-1A3E-4B8D-AA6C-48E2C3B9522C}" type="presParOf" srcId="{F11FF231-2D54-4D47-AB43-D1406978F7D9}" destId="{E7CCDAB7-E6C3-4044-8E53-A7AAEF25E7C2}" srcOrd="0" destOrd="0" presId="urn:microsoft.com/office/officeart/2005/8/layout/hierarchy2"/>
    <dgm:cxn modelId="{05854D24-B5EC-4B0E-AADB-D287AE2783C4}" type="presParOf" srcId="{E7CCDAB7-E6C3-4044-8E53-A7AAEF25E7C2}" destId="{43C065C9-6E15-4BD2-B4DE-3B8FDDD3EB23}" srcOrd="0" destOrd="0" presId="urn:microsoft.com/office/officeart/2005/8/layout/hierarchy2"/>
    <dgm:cxn modelId="{3AE58913-2062-4DBA-BD31-B3387F18DCC2}" type="presParOf" srcId="{E7CCDAB7-E6C3-4044-8E53-A7AAEF25E7C2}" destId="{61BD76E6-D7B7-4660-9836-6E4920D8B382}" srcOrd="1" destOrd="0" presId="urn:microsoft.com/office/officeart/2005/8/layout/hierarchy2"/>
    <dgm:cxn modelId="{C4436185-9039-4AF8-9D6A-E5EBF5B25081}" type="presParOf" srcId="{61BD76E6-D7B7-4660-9836-6E4920D8B382}" destId="{D0D318EE-5A36-4FDB-8B8F-DA65F24F4B10}" srcOrd="0" destOrd="0" presId="urn:microsoft.com/office/officeart/2005/8/layout/hierarchy2"/>
    <dgm:cxn modelId="{5CD46C08-FEE4-4126-87D0-7DCB097A6591}" type="presParOf" srcId="{D0D318EE-5A36-4FDB-8B8F-DA65F24F4B10}" destId="{213CD06F-FF4B-4DC8-8DFE-BD345AC7CD2B}" srcOrd="0" destOrd="0" presId="urn:microsoft.com/office/officeart/2005/8/layout/hierarchy2"/>
    <dgm:cxn modelId="{FF7C6239-7CA0-4F90-A122-E2BCC4C0E130}" type="presParOf" srcId="{61BD76E6-D7B7-4660-9836-6E4920D8B382}" destId="{46AA4D62-6E88-445E-A83A-A9EEEE8598D4}" srcOrd="1" destOrd="0" presId="urn:microsoft.com/office/officeart/2005/8/layout/hierarchy2"/>
    <dgm:cxn modelId="{24BB1207-A998-4203-B9E4-1479AA1BFB1A}" type="presParOf" srcId="{46AA4D62-6E88-445E-A83A-A9EEEE8598D4}" destId="{89CA3502-A7E3-47F9-84E4-81D711B54301}" srcOrd="0" destOrd="0" presId="urn:microsoft.com/office/officeart/2005/8/layout/hierarchy2"/>
    <dgm:cxn modelId="{D7A5C346-B45A-4EA1-A002-1FDA4AD22DF6}" type="presParOf" srcId="{46AA4D62-6E88-445E-A83A-A9EEEE8598D4}" destId="{972D9A68-EF01-4313-A8C5-4B7421EB6163}" srcOrd="1" destOrd="0" presId="urn:microsoft.com/office/officeart/2005/8/layout/hierarchy2"/>
    <dgm:cxn modelId="{AED03D7C-70B4-4718-90B4-E8A9E76C6DF2}" type="presParOf" srcId="{61BD76E6-D7B7-4660-9836-6E4920D8B382}" destId="{35539381-DE6C-4A4E-A356-91457ABAF3C4}" srcOrd="2" destOrd="0" presId="urn:microsoft.com/office/officeart/2005/8/layout/hierarchy2"/>
    <dgm:cxn modelId="{5AAA73DD-05A1-4C50-8FE2-89E3C10D1DB6}" type="presParOf" srcId="{35539381-DE6C-4A4E-A356-91457ABAF3C4}" destId="{EE520297-74A4-461B-B9D2-498EAE73B564}" srcOrd="0" destOrd="0" presId="urn:microsoft.com/office/officeart/2005/8/layout/hierarchy2"/>
    <dgm:cxn modelId="{30195362-A4E1-46D8-8F31-B75669D85A75}" type="presParOf" srcId="{61BD76E6-D7B7-4660-9836-6E4920D8B382}" destId="{B2038777-A444-4778-A466-4A7DDCF11473}" srcOrd="3" destOrd="0" presId="urn:microsoft.com/office/officeart/2005/8/layout/hierarchy2"/>
    <dgm:cxn modelId="{5A4F4B97-65BB-4AE1-BD8D-8E7F22EF3190}" type="presParOf" srcId="{B2038777-A444-4778-A466-4A7DDCF11473}" destId="{E0356EE3-CB49-44EB-8387-E7FBF5C769A9}" srcOrd="0" destOrd="0" presId="urn:microsoft.com/office/officeart/2005/8/layout/hierarchy2"/>
    <dgm:cxn modelId="{28A0781A-5F59-4EB0-A1F8-522D0B07FADE}" type="presParOf" srcId="{B2038777-A444-4778-A466-4A7DDCF11473}" destId="{FD229262-4960-46E3-B0D6-1D81C8F6E45B}"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843BD1-6094-4B90-AA66-FF565DF85C89}">
      <dsp:nvSpPr>
        <dsp:cNvPr id="0" name=""/>
        <dsp:cNvSpPr/>
      </dsp:nvSpPr>
      <dsp:spPr>
        <a:xfrm>
          <a:off x="916584" y="893"/>
          <a:ext cx="2957736" cy="1774642"/>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IN" sz="3500" b="0" i="0" kern="1200" dirty="0"/>
            <a:t>scheduling tasks</a:t>
          </a:r>
          <a:endParaRPr lang="en-IN" sz="3500" kern="1200" dirty="0"/>
        </a:p>
      </dsp:txBody>
      <dsp:txXfrm>
        <a:off x="916584" y="893"/>
        <a:ext cx="2957736" cy="1774642"/>
      </dsp:txXfrm>
    </dsp:sp>
    <dsp:sp modelId="{01062ABC-1B28-443A-B44F-A5E24A42BECC}">
      <dsp:nvSpPr>
        <dsp:cNvPr id="0" name=""/>
        <dsp:cNvSpPr/>
      </dsp:nvSpPr>
      <dsp:spPr>
        <a:xfrm>
          <a:off x="4170094" y="893"/>
          <a:ext cx="2957736" cy="1774642"/>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IN" sz="3500" b="0" i="0" kern="1200" dirty="0"/>
            <a:t>monitoring them</a:t>
          </a:r>
          <a:endParaRPr lang="en-IN" sz="3500" kern="1200" dirty="0"/>
        </a:p>
      </dsp:txBody>
      <dsp:txXfrm>
        <a:off x="4170094" y="893"/>
        <a:ext cx="2957736" cy="1774642"/>
      </dsp:txXfrm>
    </dsp:sp>
    <dsp:sp modelId="{B0491180-C579-46B1-A9D0-F56C16EB9C21}">
      <dsp:nvSpPr>
        <dsp:cNvPr id="0" name=""/>
        <dsp:cNvSpPr/>
      </dsp:nvSpPr>
      <dsp:spPr>
        <a:xfrm>
          <a:off x="2543339" y="2071309"/>
          <a:ext cx="2957736" cy="1774642"/>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IN" sz="3500" b="0" i="0" kern="1200" dirty="0"/>
            <a:t>re-executes the failed task.</a:t>
          </a:r>
          <a:endParaRPr lang="en-IN" sz="3500" kern="1200" dirty="0"/>
        </a:p>
      </dsp:txBody>
      <dsp:txXfrm>
        <a:off x="2543339" y="2071309"/>
        <a:ext cx="2957736" cy="17746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C065C9-6E15-4BD2-B4DE-3B8FDDD3EB23}">
      <dsp:nvSpPr>
        <dsp:cNvPr id="0" name=""/>
        <dsp:cNvSpPr/>
      </dsp:nvSpPr>
      <dsp:spPr>
        <a:xfrm>
          <a:off x="2575" y="1801352"/>
          <a:ext cx="3121167" cy="1560583"/>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b="0" i="0" kern="1200">
              <a:effectLst/>
              <a:latin typeface="Bahnschrift" panose="020B0502040204020203" pitchFamily="34" charset="0"/>
            </a:rPr>
            <a:t>The ResourceManager has two main components that are </a:t>
          </a:r>
          <a:endParaRPr lang="en-US" sz="2500" b="0" i="0" kern="1200" dirty="0">
            <a:effectLst/>
            <a:latin typeface="Bahnschrift" panose="020B0502040204020203" pitchFamily="34" charset="0"/>
          </a:endParaRPr>
        </a:p>
      </dsp:txBody>
      <dsp:txXfrm>
        <a:off x="48283" y="1847060"/>
        <a:ext cx="3029751" cy="1469167"/>
      </dsp:txXfrm>
    </dsp:sp>
    <dsp:sp modelId="{D0D318EE-5A36-4FDB-8B8F-DA65F24F4B10}">
      <dsp:nvSpPr>
        <dsp:cNvPr id="0" name=""/>
        <dsp:cNvSpPr/>
      </dsp:nvSpPr>
      <dsp:spPr>
        <a:xfrm rot="19457599">
          <a:off x="2979230" y="2105774"/>
          <a:ext cx="1537491" cy="54404"/>
        </a:xfrm>
        <a:custGeom>
          <a:avLst/>
          <a:gdLst/>
          <a:ahLst/>
          <a:cxnLst/>
          <a:rect l="0" t="0" r="0" b="0"/>
          <a:pathLst>
            <a:path>
              <a:moveTo>
                <a:pt x="0" y="27202"/>
              </a:moveTo>
              <a:lnTo>
                <a:pt x="1537491" y="27202"/>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709539" y="2094538"/>
        <a:ext cx="76874" cy="76874"/>
      </dsp:txXfrm>
    </dsp:sp>
    <dsp:sp modelId="{89CA3502-A7E3-47F9-84E4-81D711B54301}">
      <dsp:nvSpPr>
        <dsp:cNvPr id="0" name=""/>
        <dsp:cNvSpPr/>
      </dsp:nvSpPr>
      <dsp:spPr>
        <a:xfrm>
          <a:off x="4372209" y="904016"/>
          <a:ext cx="3121167" cy="1560583"/>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b="0" i="0" kern="1200" dirty="0">
              <a:effectLst/>
              <a:latin typeface="Bahnschrift" panose="020B0502040204020203" pitchFamily="34" charset="0"/>
            </a:rPr>
            <a:t>Schedulers </a:t>
          </a:r>
        </a:p>
      </dsp:txBody>
      <dsp:txXfrm>
        <a:off x="4417917" y="949724"/>
        <a:ext cx="3029751" cy="1469167"/>
      </dsp:txXfrm>
    </dsp:sp>
    <dsp:sp modelId="{35539381-DE6C-4A4E-A356-91457ABAF3C4}">
      <dsp:nvSpPr>
        <dsp:cNvPr id="0" name=""/>
        <dsp:cNvSpPr/>
      </dsp:nvSpPr>
      <dsp:spPr>
        <a:xfrm rot="2142401">
          <a:off x="2979230" y="3003109"/>
          <a:ext cx="1537491" cy="54404"/>
        </a:xfrm>
        <a:custGeom>
          <a:avLst/>
          <a:gdLst/>
          <a:ahLst/>
          <a:cxnLst/>
          <a:rect l="0" t="0" r="0" b="0"/>
          <a:pathLst>
            <a:path>
              <a:moveTo>
                <a:pt x="0" y="27202"/>
              </a:moveTo>
              <a:lnTo>
                <a:pt x="1537491" y="27202"/>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709539" y="2991874"/>
        <a:ext cx="76874" cy="76874"/>
      </dsp:txXfrm>
    </dsp:sp>
    <dsp:sp modelId="{E0356EE3-CB49-44EB-8387-E7FBF5C769A9}">
      <dsp:nvSpPr>
        <dsp:cNvPr id="0" name=""/>
        <dsp:cNvSpPr/>
      </dsp:nvSpPr>
      <dsp:spPr>
        <a:xfrm>
          <a:off x="4372209" y="2698687"/>
          <a:ext cx="3121167" cy="1560583"/>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b="0" i="0" kern="1200" dirty="0" err="1">
              <a:effectLst/>
              <a:latin typeface="Bahnschrift" panose="020B0502040204020203" pitchFamily="34" charset="0"/>
            </a:rPr>
            <a:t>ApplicationsManager</a:t>
          </a:r>
          <a:endParaRPr lang="en-IN" sz="2500" kern="1200" dirty="0">
            <a:latin typeface="Bahnschrift" panose="020B0502040204020203" pitchFamily="34" charset="0"/>
          </a:endParaRPr>
        </a:p>
      </dsp:txBody>
      <dsp:txXfrm>
        <a:off x="4417917" y="2744395"/>
        <a:ext cx="3029751" cy="1469167"/>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2CA918-4CC9-454A-A0CC-18E4AB14716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4B17E60-0D58-4E11-A0B3-7C89A952127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71E31DF-E085-4560-B70C-2BE0282116AF}" type="datetimeFigureOut">
              <a:rPr lang="en-US" smtClean="0"/>
              <a:t>9/3/2021</a:t>
            </a:fld>
            <a:endParaRPr lang="en-US"/>
          </a:p>
        </p:txBody>
      </p:sp>
      <p:sp>
        <p:nvSpPr>
          <p:cNvPr id="4" name="Footer Placeholder 3">
            <a:extLst>
              <a:ext uri="{FF2B5EF4-FFF2-40B4-BE49-F238E27FC236}">
                <a16:creationId xmlns:a16="http://schemas.microsoft.com/office/drawing/2014/main" id="{5C826CD9-44E6-4934-88CC-7B6414A4080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2126C7B-3E85-4BB4-8FD9-8DF00D10313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12DE278-E6FC-4BDC-BC08-49EFF8121A40}" type="slidenum">
              <a:rPr lang="en-US" smtClean="0"/>
              <a:t>‹#›</a:t>
            </a:fld>
            <a:endParaRPr lang="en-US"/>
          </a:p>
        </p:txBody>
      </p:sp>
    </p:spTree>
    <p:extLst>
      <p:ext uri="{BB962C8B-B14F-4D97-AF65-F5344CB8AC3E}">
        <p14:creationId xmlns:p14="http://schemas.microsoft.com/office/powerpoint/2010/main" val="5339040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2BBACA-D182-4B57-9AB0-2850A65D668C}" type="datetimeFigureOut">
              <a:rPr lang="en-IN" smtClean="0"/>
              <a:t>03-09-2021</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7DC971-3C18-4FE8-9538-30C08A8D967D}" type="slidenum">
              <a:rPr lang="en-IN" smtClean="0"/>
              <a:t>‹#›</a:t>
            </a:fld>
            <a:endParaRPr lang="en-IN"/>
          </a:p>
        </p:txBody>
      </p:sp>
    </p:spTree>
    <p:extLst>
      <p:ext uri="{BB962C8B-B14F-4D97-AF65-F5344CB8AC3E}">
        <p14:creationId xmlns:p14="http://schemas.microsoft.com/office/powerpoint/2010/main" val="3592065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E7DC971-3C18-4FE8-9538-30C08A8D967D}" type="slidenum">
              <a:rPr lang="en-IN" smtClean="0"/>
              <a:t>62</a:t>
            </a:fld>
            <a:endParaRPr lang="en-IN"/>
          </a:p>
        </p:txBody>
      </p:sp>
    </p:spTree>
    <p:extLst>
      <p:ext uri="{BB962C8B-B14F-4D97-AF65-F5344CB8AC3E}">
        <p14:creationId xmlns:p14="http://schemas.microsoft.com/office/powerpoint/2010/main" val="37428349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E7DC971-3C18-4FE8-9538-30C08A8D967D}" type="slidenum">
              <a:rPr lang="en-IN" smtClean="0"/>
              <a:t>63</a:t>
            </a:fld>
            <a:endParaRPr lang="en-IN"/>
          </a:p>
        </p:txBody>
      </p:sp>
    </p:spTree>
    <p:extLst>
      <p:ext uri="{BB962C8B-B14F-4D97-AF65-F5344CB8AC3E}">
        <p14:creationId xmlns:p14="http://schemas.microsoft.com/office/powerpoint/2010/main" val="3836970976"/>
      </p:ext>
    </p:extLst>
  </p:cSld>
  <p:clrMapOvr>
    <a:masterClrMapping/>
  </p:clrMapOvr>
</p:notes>
</file>

<file path=ppt/slideLayouts/_rels/slideLayout1.xml.rels><?xml version="1.0" encoding="UTF-8" standalone="yes" ?><Relationships xmlns="http://schemas.openxmlformats.org/package/2006/relationships"><Relationship Id="rId3" Target="../media/image2.jpeg" Type="http://schemas.openxmlformats.org/officeDocument/2006/relationships/image"/><Relationship Id="rId2" Target="../media/image1.jpeg" Type="http://schemas.openxmlformats.org/officeDocument/2006/relationships/image"/><Relationship Id="rId1" Target="../slideMasters/slideMaster1.xml" Type="http://schemas.openxmlformats.org/officeDocument/2006/relationships/slideMaster"/></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preserve="1" userDrawn="1">
  <p:cSld name="1_Title Slide">
    <p:spTree>
      <p:nvGrpSpPr>
        <p:cNvPr id="1" name=""/>
        <p:cNvGrpSpPr/>
        <p:nvPr/>
      </p:nvGrpSpPr>
      <p:grpSpPr>
        <a:xfrm>
          <a:off x="0" y="0"/>
          <a:ext cx="0" cy="0"/>
          <a:chOff x="0" y="0"/>
          <a:chExt cx="0" cy="0"/>
        </a:xfrm>
      </p:grpSpPr>
      <p:sp>
        <p:nvSpPr>
          <p:cNvPr id="79" name="Rectangle: Rounded Corners 78">
            <a:extLst>
              <a:ext uri="{FF2B5EF4-FFF2-40B4-BE49-F238E27FC236}">
                <a16:creationId xmlns:a16="http://schemas.microsoft.com/office/drawing/2014/main" id="{FB821A54-EBB6-44D6-B654-A7206FCE625D}"/>
              </a:ext>
            </a:extLst>
          </p:cNvPr>
          <p:cNvSpPr/>
          <p:nvPr userDrawn="1"/>
        </p:nvSpPr>
        <p:spPr>
          <a:xfrm>
            <a:off x="51361" y="222575"/>
            <a:ext cx="4711139" cy="712652"/>
          </a:xfrm>
          <a:prstGeom prst="roundRect">
            <a:avLst>
              <a:gd fmla="val 10415" name="adj"/>
            </a:avLst>
          </a:prstGeom>
          <a:solidFill>
            <a:srgbClr val="44525B"/>
          </a:solidFill>
          <a:ln>
            <a:solidFill>
              <a:srgbClr val="44525A"/>
            </a:solidFill>
          </a:ln>
          <a:effectLst>
            <a:outerShdw algn="ctr" blurRad="63500" rotWithShape="0" sx="102000" sy="102000">
              <a:prstClr val="black">
                <a:alpha val="40000"/>
              </a:prstClr>
            </a:outerShdw>
          </a:effectLst>
          <a:scene3d>
            <a:camera prst="orthographicFront"/>
            <a:lightRig dir="t" rig="threeP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lvl="0"/>
            <a:r>
              <a:rPr baseline="0" cap="small" dirty="0" lang="en-US" sz="3200" u="none">
                <a:solidFill>
                  <a:schemeClr val="bg1"/>
                </a:solidFill>
                <a:latin charset="0" panose="020B0502040204020203" pitchFamily="34" typeface="Bahnschrift SemiBold"/>
              </a:rPr>
              <a:t>Introduction to Big Data</a:t>
            </a:r>
          </a:p>
        </p:txBody>
      </p:sp>
      <p:grpSp>
        <p:nvGrpSpPr>
          <p:cNvPr hidden="1" id="18" name="Group 45">
            <a:extLst>
              <a:ext uri="{FF2B5EF4-FFF2-40B4-BE49-F238E27FC236}">
                <a16:creationId xmlns:a16="http://schemas.microsoft.com/office/drawing/2014/main" id="{850EC89B-90C3-44BB-9D08-4AA2F18B76E6}"/>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4562810" y="545"/>
            <a:ext cx="656040" cy="6857455"/>
            <a:chOff x="5632355" y="0"/>
            <a:chExt cx="874719" cy="6857455"/>
          </a:xfrm>
        </p:grpSpPr>
        <p:sp>
          <p:nvSpPr>
            <p:cNvPr id="19" name="Freeform: Shape 18">
              <a:extLst>
                <a:ext uri="{FF2B5EF4-FFF2-40B4-BE49-F238E27FC236}">
                  <a16:creationId xmlns:a16="http://schemas.microsoft.com/office/drawing/2014/main" id="{CE7AE735-969F-4B48-90BB-9C0B68FF30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flipH="1" rot="5400000">
              <a:off x="2640985" y="2991370"/>
              <a:ext cx="6857455" cy="874715"/>
            </a:xfrm>
            <a:custGeom>
              <a:avLst/>
              <a:gdLst>
                <a:gd fmla="*/ 6857455 w 6857455" name="connsiteX0"/>
                <a:gd fmla="*/ 804643 h 874716" name="connsiteY0"/>
                <a:gd fmla="*/ 6857455 w 6857455" name="connsiteX1"/>
                <a:gd fmla="*/ 562246 h 874716" name="connsiteY1"/>
                <a:gd fmla="*/ 6829178 w 6857455" name="connsiteX2"/>
                <a:gd fmla="*/ 551284 h 874716" name="connsiteY2"/>
                <a:gd fmla="*/ 6766024 w 6857455" name="connsiteX3"/>
                <a:gd fmla="*/ 500372 h 874716" name="connsiteY3"/>
                <a:gd fmla="*/ 6734971 w 6857455" name="connsiteX4"/>
                <a:gd fmla="*/ 500944 h 874716" name="connsiteY4"/>
                <a:gd fmla="*/ 6683915 w 6857455" name="connsiteX5"/>
                <a:gd fmla="*/ 507040 h 874716" name="connsiteY5"/>
                <a:gd fmla="*/ 6628860 w 6857455" name="connsiteX6"/>
                <a:gd fmla="*/ 495418 h 874716" name="connsiteY6"/>
                <a:gd fmla="*/ 6588662 w 6857455" name="connsiteX7"/>
                <a:gd fmla="*/ 487227 h 874716" name="connsiteY7"/>
                <a:gd fmla="*/ 6476074 w 6857455" name="connsiteX8"/>
                <a:gd fmla="*/ 511230 h 874716" name="connsiteY8"/>
                <a:gd fmla="*/ 6382345 w 6857455" name="connsiteX9"/>
                <a:gd fmla="*/ 534853 h 874716" name="connsiteY9"/>
                <a:gd fmla="*/ 6369391 w 6857455" name="connsiteX10"/>
                <a:gd fmla="*/ 531615 h 874716" name="connsiteY10"/>
                <a:gd fmla="*/ 6244799 w 6857455" name="connsiteX11"/>
                <a:gd fmla="*/ 512182 h 874716" name="connsiteY11"/>
                <a:gd fmla="*/ 6190315 w 6857455" name="connsiteX12"/>
                <a:gd fmla="*/ 485703 h 874716" name="connsiteY12"/>
                <a:gd fmla="*/ 6115446 w 6857455" name="connsiteX13"/>
                <a:gd fmla="*/ 462270 h 874716" name="connsiteY13"/>
                <a:gd fmla="*/ 6032194 w 6857455" name="connsiteX14"/>
                <a:gd fmla="*/ 434266 h 874716" name="connsiteY14"/>
                <a:gd fmla="*/ 5971042 w 6857455" name="connsiteX15"/>
                <a:gd fmla="*/ 420738 h 874716" name="connsiteY15"/>
                <a:gd fmla="*/ 5880933 w 6857455" name="connsiteX16"/>
                <a:gd fmla="*/ 430646 h 874716" name="connsiteY16"/>
                <a:gd fmla="*/ 5862452 w 6857455" name="connsiteX17"/>
                <a:gd fmla="*/ 438648 h 874716" name="connsiteY17"/>
                <a:gd fmla="*/ 5685283 w 6857455" name="connsiteX18"/>
                <a:gd fmla="*/ 498658 h 874716" name="connsiteY18"/>
                <a:gd fmla="*/ 5567169 w 6857455" name="connsiteX19"/>
                <a:gd fmla="*/ 499420 h 874716" name="connsiteY19"/>
                <a:gd fmla="*/ 5527923 w 6857455" name="connsiteX20"/>
                <a:gd fmla="*/ 490466 h 874716" name="connsiteY20"/>
                <a:gd fmla="*/ 5456292 w 6857455" name="connsiteX21"/>
                <a:gd fmla="*/ 450650 h 874716" name="connsiteY21"/>
                <a:gd fmla="*/ 5424670 w 6857455" name="connsiteX22"/>
                <a:gd fmla="*/ 444934 h 874716" name="connsiteY22"/>
                <a:gd fmla="*/ 5368662 w 6857455" name="connsiteX23"/>
                <a:gd fmla="*/ 441124 h 874716" name="connsiteY23"/>
                <a:gd fmla="*/ 5247118 w 6857455" name="connsiteX24"/>
                <a:gd fmla="*/ 444934 h 874716" name="connsiteY24"/>
                <a:gd fmla="*/ 5088617 w 6857455" name="connsiteX25"/>
                <a:gd fmla="*/ 428742 h 874716" name="connsiteY25"/>
                <a:gd fmla="*/ 5025750 w 6857455" name="connsiteX26"/>
                <a:gd fmla="*/ 433694 h 874716" name="connsiteY26"/>
                <a:gd fmla="*/ 4957930 w 6857455" name="connsiteX27"/>
                <a:gd fmla="*/ 442268 h 874716" name="connsiteY27"/>
                <a:gd fmla="*/ 4938116 w 6857455" name="connsiteX28"/>
                <a:gd fmla="*/ 441886 h 874716" name="connsiteY28"/>
                <a:gd fmla="*/ 4833910 w 6857455" name="connsiteX29"/>
                <a:gd fmla="*/ 421693 h 874716" name="connsiteY29"/>
                <a:gd fmla="*/ 4810095 w 6857455" name="connsiteX30"/>
                <a:gd fmla="*/ 408167 h 874716" name="connsiteY30"/>
                <a:gd fmla="*/ 4747991 w 6857455" name="connsiteX31"/>
                <a:gd fmla="*/ 413691 h 874716" name="connsiteY31"/>
                <a:gd fmla="*/ 4692745 w 6857455" name="connsiteX32"/>
                <a:gd fmla="*/ 435790 h 874716" name="connsiteY32"/>
                <a:gd fmla="*/ 4375933 w 6857455" name="connsiteX33"/>
                <a:gd fmla="*/ 483417 h 874716" name="connsiteY33"/>
                <a:gd fmla="*/ 4185426 w 6857455" name="connsiteX34"/>
                <a:gd fmla="*/ 484179 h 874716" name="connsiteY34"/>
                <a:gd fmla="*/ 4052072 w 6857455" name="connsiteX35"/>
                <a:gd fmla="*/ 505134 h 874716" name="connsiteY35"/>
                <a:gd fmla="*/ 4029973 w 6857455" name="connsiteX36"/>
                <a:gd fmla="*/ 527233 h 874716" name="connsiteY36"/>
                <a:gd fmla="*/ 3948626 w 6857455" name="connsiteX37"/>
                <a:gd fmla="*/ 550666 h 874716" name="connsiteY37"/>
                <a:gd fmla="*/ 3871280 w 6857455" name="connsiteX38"/>
                <a:gd fmla="*/ 502275 h 874716" name="connsiteY38"/>
                <a:gd fmla="*/ 3774312 w 6857455" name="connsiteX39"/>
                <a:gd fmla="*/ 429122 h 874716" name="connsiteY39"/>
                <a:gd fmla="*/ 3721543 w 6857455" name="connsiteX40"/>
                <a:gd fmla="*/ 428552 h 874716" name="connsiteY40"/>
                <a:gd fmla="*/ 3612763 w 6857455" name="connsiteX41"/>
                <a:gd fmla="*/ 414263 h 874716" name="connsiteY41"/>
                <a:gd fmla="*/ 3537323 w 6857455" name="connsiteX42"/>
                <a:gd fmla="*/ 389878 h 874716" name="connsiteY42"/>
                <a:gd fmla="*/ 3431593 w 6857455" name="connsiteX43"/>
                <a:gd fmla="*/ 360921 h 874716" name="connsiteY43"/>
                <a:gd fmla="*/ 3392158 w 6857455" name="connsiteX44"/>
                <a:gd fmla="*/ 345681 h 874716" name="connsiteY44"/>
                <a:gd fmla="*/ 3297856 w 6857455" name="connsiteX45"/>
                <a:gd fmla="*/ 323010 h 874716" name="connsiteY45"/>
                <a:gd fmla="*/ 3219748 w 6857455" name="connsiteX46"/>
                <a:gd fmla="*/ 308151 h 874716" name="connsiteY46"/>
                <a:gd fmla="*/ 3156692 w 6857455" name="connsiteX47"/>
                <a:gd fmla="*/ 261668 h 874716" name="connsiteY47"/>
                <a:gd fmla="*/ 3136497 w 6857455" name="connsiteX48"/>
                <a:gd fmla="*/ 237663 h 874716" name="connsiteY48"/>
                <a:gd fmla="*/ 3119733 w 6857455" name="connsiteX49"/>
                <a:gd fmla="*/ 222233 h 874716" name="connsiteY49"/>
                <a:gd fmla="*/ 3045436 w 6857455" name="connsiteX50"/>
                <a:gd fmla="*/ 131742 h 874716" name="connsiteY50"/>
                <a:gd fmla="*/ 3037054 w 6857455" name="connsiteX51"/>
                <a:gd fmla="*/ 124121 h 874716" name="connsiteY51"/>
                <a:gd fmla="*/ 2936466 w 6857455" name="connsiteX52"/>
                <a:gd fmla="*/ 82400 h 874716" name="connsiteY52"/>
                <a:gd fmla="*/ 2901031 w 6857455" name="connsiteX53"/>
                <a:gd fmla="*/ 59731 h 874716" name="connsiteY53"/>
                <a:gd fmla="*/ 2828259 w 6857455" name="connsiteX54"/>
                <a:gd fmla="*/ 3149 h 874716" name="connsiteY54"/>
                <a:gd fmla="*/ 2799492 w 6857455" name="connsiteX55"/>
                <a:gd fmla="*/ 1245 h 874716" name="connsiteY55"/>
                <a:gd fmla="*/ 2693570 w 6857455" name="connsiteX56"/>
                <a:gd fmla="*/ 35154 h 874716" name="connsiteY56"/>
                <a:gd fmla="*/ 2639847 w 6857455" name="connsiteX57"/>
                <a:gd fmla="*/ 73448 h 874716" name="connsiteY57"/>
                <a:gd fmla="*/ 2621178 w 6857455" name="connsiteX58"/>
                <a:gd fmla="*/ 88688 h 874716" name="connsiteY58"/>
                <a:gd fmla="*/ 2489348 w 6857455" name="connsiteX59"/>
                <a:gd fmla="*/ 72304 h 874716" name="connsiteY59"/>
                <a:gd fmla="*/ 2452580 w 6857455" name="connsiteX60"/>
                <a:gd fmla="*/ 68683 h 874716" name="connsiteY60"/>
                <a:gd fmla="*/ 2326464 w 6857455" name="connsiteX61"/>
                <a:gd fmla="*/ 50395 h 874716" name="connsiteY61"/>
                <a:gd fmla="*/ 2300365 w 6857455" name="connsiteX62"/>
                <a:gd fmla="*/ 54777 h 874716" name="connsiteY62"/>
                <a:gd fmla="*/ 2130434 w 6857455" name="connsiteX63"/>
                <a:gd fmla="*/ 58397 h 874716" name="connsiteY63"/>
                <a:gd fmla="*/ 2118621 w 6857455" name="connsiteX64"/>
                <a:gd fmla="*/ 47919 h 874716" name="connsiteY64"/>
                <a:gd fmla="*/ 2057659 w 6857455" name="connsiteX65"/>
                <a:gd fmla="*/ 16866 h 874716" name="connsiteY65"/>
                <a:gd fmla="*/ 1976314 w 6857455" name="connsiteX66"/>
                <a:gd fmla="*/ 8865 h 874716" name="connsiteY66"/>
                <a:gd fmla="*/ 1961454 w 6857455" name="connsiteX67"/>
                <a:gd fmla="*/ 11724 h 874716" name="connsiteY67"/>
                <a:gd fmla="*/ 1906588 w 6857455" name="connsiteX68"/>
                <a:gd fmla="*/ 30964 h 874716" name="connsiteY68"/>
                <a:gd fmla="*/ 1783330 w 6857455" name="connsiteX69"/>
                <a:gd fmla="*/ 48871 h 874716" name="connsiteY69"/>
                <a:gd fmla="*/ 1759327 w 6857455" name="connsiteX70"/>
                <a:gd fmla="*/ 55349 h 874716" name="connsiteY70"/>
                <a:gd fmla="*/ 1716082 w 6857455" name="connsiteX71"/>
                <a:gd fmla="*/ 65445 h 874716" name="connsiteY71"/>
                <a:gd fmla="*/ 1598920 w 6857455" name="connsiteX72"/>
                <a:gd fmla="*/ 72114 h 874716" name="connsiteY72"/>
                <a:gd fmla="*/ 1542150 w 6857455" name="connsiteX73"/>
                <a:gd fmla="*/ 62207 h 874716" name="connsiteY73"/>
                <a:gd fmla="*/ 1516813 w 6857455" name="connsiteX74"/>
                <a:gd fmla="*/ 62779 h 874716" name="connsiteY74"/>
                <a:gd fmla="*/ 1432228 w 6857455" name="connsiteX75"/>
                <a:gd fmla="*/ 88116 h 874716" name="connsiteY75"/>
                <a:gd fmla="*/ 1224765 w 6857455" name="connsiteX76"/>
                <a:gd fmla="*/ 71924 h 874716" name="connsiteY76"/>
                <a:gd fmla="*/ 1159231 w 6857455" name="connsiteX77"/>
                <a:gd fmla="*/ 58207 h 874716" name="connsiteY77"/>
                <a:gd fmla="*/ 1124370 w 6857455" name="connsiteX78"/>
                <a:gd fmla="*/ 56301 h 874716" name="connsiteY78"/>
                <a:gd fmla="*/ 1075600 w 6857455" name="connsiteX79"/>
                <a:gd fmla="*/ 75542 h 874716" name="connsiteY79"/>
                <a:gd fmla="*/ 986633 w 6857455" name="connsiteX80"/>
                <a:gd fmla="*/ 79162 h 874716" name="connsiteY80"/>
                <a:gd fmla="*/ 861089 w 6857455" name="connsiteX81"/>
                <a:gd fmla="*/ 76304 h 874716" name="connsiteY81"/>
                <a:gd fmla="*/ 759168 w 6857455" name="connsiteX82"/>
                <a:gd fmla="*/ 104689 h 874716" name="connsiteY82"/>
                <a:gd fmla="*/ 723735 w 6857455" name="connsiteX83"/>
                <a:gd fmla="*/ 140696 h 874716" name="connsiteY83"/>
                <a:gd fmla="*/ 647532 w 6857455" name="connsiteX84"/>
                <a:gd fmla="*/ 147934 h 874716" name="connsiteY84"/>
                <a:gd fmla="*/ 552659 w 6857455" name="connsiteX85"/>
                <a:gd fmla="*/ 95926 h 874716" name="connsiteY85"/>
                <a:gd fmla="*/ 541800 w 6857455" name="connsiteX86"/>
                <a:gd fmla="*/ 97640 h 874716" name="connsiteY86"/>
                <a:gd fmla="*/ 375107 w 6857455" name="connsiteX87"/>
                <a:gd fmla="*/ 123169 h 874716" name="connsiteY87"/>
                <a:gd fmla="*/ 273567 w 6857455" name="connsiteX88"/>
                <a:gd fmla="*/ 145458 h 874716" name="connsiteY88"/>
                <a:gd fmla="*/ 264043 w 6857455" name="connsiteX89"/>
                <a:gd fmla="*/ 154792 h 874716" name="connsiteY89"/>
                <a:gd fmla="*/ 169360 w 6857455" name="connsiteX90"/>
                <a:gd fmla="*/ 177273 h 874716" name="connsiteY90"/>
                <a:gd fmla="*/ 89347 w 6857455" name="connsiteX91"/>
                <a:gd fmla="*/ 157460 h 874716" name="connsiteY91"/>
                <a:gd fmla="*/ 34291 w 6857455" name="connsiteX92"/>
                <a:gd fmla="*/ 145268 h 874716" name="connsiteY92"/>
                <a:gd fmla="*/ 0 w 6857455" name="connsiteX93"/>
                <a:gd fmla="*/ 142056 h 874716" name="connsiteY93"/>
                <a:gd fmla="*/ 0 w 6857455" name="connsiteX94"/>
                <a:gd fmla="*/ 849556 h 874716" name="connsiteY94"/>
                <a:gd fmla="*/ 60652 w 6857455" name="connsiteX95"/>
                <a:gd fmla="*/ 844783 h 874716" name="connsiteY95"/>
                <a:gd fmla="*/ 119068 w 6857455" name="connsiteX96"/>
                <a:gd fmla="*/ 827281 h 874716" name="connsiteY96"/>
                <a:gd fmla="*/ 171840 w 6857455" name="connsiteX97"/>
                <a:gd fmla="*/ 804420 h 874716" name="connsiteY97"/>
                <a:gd fmla="*/ 274329 w 6857455" name="connsiteX98"/>
                <a:gd fmla="*/ 794324 h 874716" name="connsiteY98"/>
                <a:gd fmla="*/ 306715 w 6857455" name="connsiteX99"/>
                <a:gd fmla="*/ 788798 h 874716" name="connsiteY99"/>
                <a:gd fmla="*/ 393967 w 6857455" name="connsiteX100"/>
                <a:gd fmla="*/ 765937 h 874716" name="connsiteY100"/>
                <a:gd fmla="*/ 493793 w 6857455" name="connsiteX101"/>
                <a:gd fmla="*/ 725549 h 874716" name="connsiteY101"/>
                <a:gd fmla="*/ 546373 w 6857455" name="connsiteX102"/>
                <a:gd fmla="*/ 740600 h 874716" name="connsiteY102"/>
                <a:gd fmla="*/ 730211 w 6857455" name="connsiteX103"/>
                <a:gd fmla="*/ 698116 h 874716" name="connsiteY103"/>
                <a:gd fmla="*/ 784889 w 6857455" name="connsiteX104"/>
                <a:gd fmla="*/ 676018 h 874716" name="connsiteY104"/>
                <a:gd fmla="*/ 800509 w 6857455" name="connsiteX105"/>
                <a:gd fmla="*/ 661349 h 874716" name="connsiteY105"/>
                <a:gd fmla="*/ 857661 w 6857455" name="connsiteX106"/>
                <a:gd fmla="*/ 626868 h 874716" name="connsiteY106"/>
                <a:gd fmla="*/ 949102 w 6857455" name="connsiteX107"/>
                <a:gd fmla="*/ 614676 h 874716" name="connsiteY107"/>
                <a:gd fmla="*/ 960342 w 6857455" name="connsiteX108"/>
                <a:gd fmla="*/ 607435 h 874716" name="connsiteY108"/>
                <a:gd fmla="*/ 977109 w 6857455" name="connsiteX109"/>
                <a:gd fmla="*/ 595815 h 874716" name="connsiteY109"/>
                <a:gd fmla="*/ 1071218 w 6857455" name="connsiteX110"/>
                <a:gd fmla="*/ 575240 h 874716" name="connsiteY110"/>
                <a:gd fmla="*/ 1091983 w 6857455" name="connsiteX111"/>
                <a:gd fmla="*/ 568764 h 874716" name="connsiteY111"/>
                <a:gd fmla="*/ 1109321 w 6857455" name="connsiteX112"/>
                <a:gd fmla="*/ 557904 h 874716" name="connsiteY112"/>
                <a:gd fmla="*/ 1162279 w 6857455" name="connsiteX113"/>
                <a:gd fmla="*/ 532949 h 874716" name="connsiteY113"/>
                <a:gd fmla="*/ 1206097 w 6857455" name="connsiteX114"/>
                <a:gd fmla="*/ 532187 h 874716" name="connsiteY114"/>
                <a:gd fmla="*/ 1266867 w 6857455" name="connsiteX115"/>
                <a:gd fmla="*/ 518088 h 874716" name="connsiteY115"/>
                <a:gd fmla="*/ 1380219 w 6857455" name="connsiteX116"/>
                <a:gd fmla="*/ 504182 h 874716" name="connsiteY116"/>
                <a:gd fmla="*/ 1403461 w 6857455" name="connsiteX117"/>
                <a:gd fmla="*/ 496180 h 874716" name="connsiteY117"/>
                <a:gd fmla="*/ 1544054 w 6857455" name="connsiteX118"/>
                <a:gd fmla="*/ 458268 h 874716" name="connsiteY118"/>
                <a:gd fmla="*/ 1656644 w 6857455" name="connsiteX119"/>
                <a:gd fmla="*/ 459032 h 874716" name="connsiteY119"/>
                <a:gd fmla="*/ 1665406 w 6857455" name="connsiteX120"/>
                <a:gd fmla="*/ 460747 h 874716" name="connsiteY120"/>
                <a:gd fmla="*/ 1708461 w 6857455" name="connsiteX121"/>
                <a:gd fmla="*/ 473318 h 874716" name="connsiteY121"/>
                <a:gd fmla="*/ 1775140 w 6857455" name="connsiteX122"/>
                <a:gd fmla="*/ 469891 h 874716" name="connsiteY122"/>
                <a:gd fmla="*/ 1821051 w 6857455" name="connsiteX123"/>
                <a:gd fmla="*/ 452554 h 874716" name="connsiteY123"/>
                <a:gd fmla="*/ 1878203 w 6857455" name="connsiteX124"/>
                <a:gd fmla="*/ 451792 h 874716" name="connsiteY124"/>
                <a:gd fmla="*/ 1943547 w 6857455" name="connsiteX125"/>
                <a:gd fmla="*/ 462651 h 874716" name="connsiteY125"/>
                <a:gd fmla="*/ 1972884 w 6857455" name="connsiteX126"/>
                <a:gd fmla="*/ 464937 h 874716" name="connsiteY126"/>
                <a:gd fmla="*/ 2053469 w 6857455" name="connsiteX127"/>
                <a:gd fmla="*/ 487417 h 874716" name="connsiteY127"/>
                <a:gd fmla="*/ 2101477 w 6857455" name="connsiteX128"/>
                <a:gd fmla="*/ 481893 h 874716" name="connsiteY128"/>
                <a:gd fmla="*/ 2148722 w 6857455" name="connsiteX129"/>
                <a:gd fmla="*/ 467033 h 874716" name="connsiteY129"/>
                <a:gd fmla="*/ 2179011 w 6857455" name="connsiteX130"/>
                <a:gd fmla="*/ 452744 h 874716" name="connsiteY130"/>
                <a:gd fmla="*/ 2240165 w 6857455" name="connsiteX131"/>
                <a:gd fmla="*/ 442648 h 874716" name="connsiteY131"/>
                <a:gd fmla="*/ 2251404 w 6857455" name="connsiteX132"/>
                <a:gd fmla="*/ 444172 h 874716" name="connsiteY132"/>
                <a:gd fmla="*/ 2433912 w 6857455" name="connsiteX133"/>
                <a:gd fmla="*/ 456746 h 874716" name="connsiteY133"/>
                <a:gd fmla="*/ 2506302 w 6857455" name="connsiteX134"/>
                <a:gd fmla="*/ 476939 h 874716" name="connsiteY134"/>
                <a:gd fmla="*/ 2521735 w 6857455" name="connsiteX135"/>
                <a:gd fmla="*/ 479415 h 874716" name="connsiteY135"/>
                <a:gd fmla="*/ 2675854 w 6857455" name="connsiteX136"/>
                <a:gd fmla="*/ 502086 h 874716" name="connsiteY136"/>
                <a:gd fmla="*/ 2692998 w 6857455" name="connsiteX137"/>
                <a:gd fmla="*/ 503038 h 874716" name="connsiteY137"/>
                <a:gd fmla="*/ 2740816 w 6857455" name="connsiteX138"/>
                <a:gd fmla="*/ 499037 h 874716" name="connsiteY138"/>
                <a:gd fmla="*/ 2853596 w 6857455" name="connsiteX139"/>
                <a:gd fmla="*/ 540187 h 874716" name="connsiteY139"/>
                <a:gd fmla="*/ 2966565 w 6857455" name="connsiteX140"/>
                <a:gd fmla="*/ 554286 h 874716" name="connsiteY140"/>
                <a:gd fmla="*/ 3028671 w 6857455" name="connsiteX141"/>
                <a:gd fmla="*/ 554094 h 874716" name="connsiteY141"/>
                <a:gd fmla="*/ 3073059 w 6857455" name="connsiteX142"/>
                <a:gd fmla="*/ 564192 h 874716" name="connsiteY142"/>
                <a:gd fmla="*/ 3182219 w 6857455" name="connsiteX143"/>
                <a:gd fmla="*/ 594862 h 874716" name="connsiteY143"/>
                <a:gd fmla="*/ 3233656 w 6857455" name="connsiteX144"/>
                <a:gd fmla="*/ 599625 h 874716" name="connsiteY144"/>
                <a:gd fmla="*/ 3288332 w 6857455" name="connsiteX145"/>
                <a:gd fmla="*/ 609914 h 874716" name="connsiteY145"/>
                <a:gd fmla="*/ 3423591 w 6857455" name="connsiteX146"/>
                <a:gd fmla="*/ 656015 h 874716" name="connsiteY146"/>
                <a:gd fmla="*/ 3534084 w 6857455" name="connsiteX147"/>
                <a:gd fmla="*/ 653349 h 874716" name="connsiteY147"/>
                <a:gd fmla="*/ 3604571 w 6857455" name="connsiteX148"/>
                <a:gd fmla="*/ 653918 h 874716" name="connsiteY148"/>
                <a:gd fmla="*/ 3688586 w 6857455" name="connsiteX149"/>
                <a:gd fmla="*/ 669160 h 874716" name="connsiteY149"/>
                <a:gd fmla="*/ 3757358 w 6857455" name="connsiteX150"/>
                <a:gd fmla="*/ 691450 h 874716" name="connsiteY150"/>
                <a:gd fmla="*/ 3852421 w 6857455" name="connsiteX151"/>
                <a:gd fmla="*/ 709167 h 874716" name="connsiteY151"/>
                <a:gd fmla="*/ 3947104 w 6857455" name="connsiteX152"/>
                <a:gd fmla="*/ 743267 h 874716" name="connsiteY152"/>
                <a:gd fmla="*/ 4013208 w 6857455" name="connsiteX153"/>
                <a:gd fmla="*/ 769367 h 874716" name="connsiteY153"/>
                <a:gd fmla="*/ 4105222 w 6857455" name="connsiteX154"/>
                <a:gd fmla="*/ 792418 h 874716" name="connsiteY154"/>
                <a:gd fmla="*/ 4246006 w 6857455" name="connsiteX155"/>
                <a:gd fmla="*/ 808610 h 874716" name="connsiteY155"/>
                <a:gd fmla="*/ 4310779 w 6857455" name="connsiteX156"/>
                <a:gd fmla="*/ 810326 h 874716" name="connsiteY156"/>
                <a:gd fmla="*/ 4413272 w 6857455" name="connsiteX157"/>
                <a:gd fmla="*/ 848235 h 874716" name="connsiteY157"/>
                <a:gd fmla="*/ 4457087 w 6857455" name="connsiteX158"/>
                <a:gd fmla="*/ 866524 h 874716" name="connsiteY158"/>
                <a:gd fmla="*/ 4496523 w 6857455" name="connsiteX159"/>
                <a:gd fmla="*/ 851284 h 874716" name="connsiteY159"/>
                <a:gd fmla="*/ 4522050 w 6857455" name="connsiteX160"/>
                <a:gd fmla="*/ 833757 h 874716" name="connsiteY160"/>
                <a:gd fmla="*/ 4602824 w 6857455" name="connsiteX161"/>
                <a:gd fmla="*/ 848618 h 874716" name="connsiteY161"/>
                <a:gd fmla="*/ 4688553 w 6857455" name="connsiteX162"/>
                <a:gd fmla="*/ 864238 h 874716" name="connsiteY162"/>
                <a:gd fmla="*/ 4749895 w 6857455" name="connsiteX163"/>
                <a:gd fmla="*/ 874716 h 874716" name="connsiteY163"/>
                <a:gd fmla="*/ 4826480 w 6857455" name="connsiteX164"/>
                <a:gd fmla="*/ 866334 h 874716" name="connsiteY164"/>
                <a:gd fmla="*/ 4886870 w 6857455" name="connsiteX165"/>
                <a:gd fmla="*/ 862906 h 874716" name="connsiteY165"/>
                <a:gd fmla="*/ 4935639 w 6857455" name="connsiteX166"/>
                <a:gd fmla="*/ 853190 h 874716" name="connsiteY166"/>
                <a:gd fmla="*/ 4952784 w 6857455" name="connsiteX167"/>
                <a:gd fmla="*/ 847473 h 874716" name="connsiteY167"/>
                <a:gd fmla="*/ 5088617 w 6857455" name="connsiteX168"/>
                <a:gd fmla="*/ 802896 h 874716" name="connsiteY168"/>
                <a:gd fmla="*/ 5233781 w 6857455" name="connsiteX169"/>
                <a:gd fmla="*/ 767271 h 874716" name="connsiteY169"/>
                <a:gd fmla="*/ 5327893 w 6857455" name="connsiteX170"/>
                <a:gd fmla="*/ 789752 h 874716" name="connsiteY170"/>
                <a:gd fmla="*/ 5362946 w 6857455" name="connsiteX171"/>
                <a:gd fmla="*/ 789370 h 874716" name="connsiteY171"/>
                <a:gd fmla="*/ 5524115 w 6857455" name="connsiteX172"/>
                <a:gd fmla="*/ 794514 h 874716" name="connsiteY172"/>
                <a:gd fmla="*/ 5552500 w 6857455" name="connsiteX173"/>
                <a:gd fmla="*/ 800038 h 874716" name="connsiteY173"/>
                <a:gd fmla="*/ 5705857 w 6857455" name="connsiteX174"/>
                <a:gd fmla="*/ 777367 h 874716" name="connsiteY174"/>
                <a:gd fmla="*/ 5761485 w 6857455" name="connsiteX175"/>
                <a:gd fmla="*/ 773557 h 874716" name="connsiteY175"/>
                <a:gd fmla="*/ 5812731 w 6857455" name="connsiteX176"/>
                <a:gd fmla="*/ 767271 h 874716" name="connsiteY176"/>
                <a:gd fmla="*/ 5884361 w 6857455" name="connsiteX177"/>
                <a:gd fmla="*/ 765747 h 874716" name="connsiteY177"/>
                <a:gd fmla="*/ 5958660 w 6857455" name="connsiteX178"/>
                <a:gd fmla="*/ 768605 h 874716" name="connsiteY178"/>
                <a:gd fmla="*/ 6041528 w 6857455" name="connsiteX179"/>
                <a:gd fmla="*/ 768033 h 874716" name="connsiteY179"/>
                <a:gd fmla="*/ 6074297 w 6857455" name="connsiteX180"/>
                <a:gd fmla="*/ 763081 h 874716" name="connsiteY180"/>
                <a:gd fmla="*/ 6162880 w 6857455" name="connsiteX181"/>
                <a:gd fmla="*/ 766509 h 874716" name="connsiteY181"/>
                <a:gd fmla="*/ 6209364 w 6857455" name="connsiteX182"/>
                <a:gd fmla="*/ 760795 h 874716" name="connsiteY182"/>
                <a:gd fmla="*/ 6285948 w 6857455" name="connsiteX183"/>
                <a:gd fmla="*/ 759651 h 874716" name="connsiteY183"/>
                <a:gd fmla="*/ 6310905 w 6857455" name="connsiteX184"/>
                <a:gd fmla="*/ 758316 h 874716" name="connsiteY184"/>
                <a:gd fmla="*/ 6333194 w 6857455" name="connsiteX185"/>
                <a:gd fmla="*/ 757554 h 874716" name="connsiteY185"/>
                <a:gd fmla="*/ 6409586 w 6857455" name="connsiteX186"/>
                <a:gd fmla="*/ 773177 h 874716" name="connsiteY186"/>
                <a:gd fmla="*/ 6477407 w 6857455" name="connsiteX187"/>
                <a:gd fmla="*/ 774129 h 874716" name="connsiteY187"/>
                <a:gd fmla="*/ 6596283 w 6857455" name="connsiteX188"/>
                <a:gd fmla="*/ 786703 h 874716" name="connsiteY188"/>
                <a:gd fmla="*/ 6622573 w 6857455" name="connsiteX189"/>
                <a:gd fmla="*/ 782321 h 874716" name="connsiteY189"/>
                <a:gd fmla="*/ 6704872 w 6857455" name="connsiteX190"/>
                <a:gd fmla="*/ 780607 h 874716" name="connsiteY190"/>
                <a:gd fmla="*/ 6751738 w 6857455" name="connsiteX191"/>
                <a:gd fmla="*/ 779273 h 874716" name="connsiteY191"/>
                <a:gd fmla="*/ 6809650 w 6857455" name="connsiteX192"/>
                <a:gd fmla="*/ 788417 h 874716" name="connsiteY192"/>
                <a:gd fmla="*/ 6832976 w 6857455" name="connsiteX193"/>
                <a:gd fmla="*/ 800428 h 874716" name="connsiteY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b="b" l="l" r="r" t="t"/>
              <a:pathLst>
                <a:path h="874716" w="6857455">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8"/>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lang="en-US"/>
            </a:p>
          </p:txBody>
        </p:sp>
        <p:sp>
          <p:nvSpPr>
            <p:cNvPr id="20" name="Freeform: Shape 47">
              <a:extLst>
                <a:ext uri="{FF2B5EF4-FFF2-40B4-BE49-F238E27FC236}">
                  <a16:creationId xmlns:a16="http://schemas.microsoft.com/office/drawing/2014/main" id="{1E3EFCBE-34EF-4B4E-BB43-0CC49CCDD13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flipH="1" rot="5400000">
              <a:off x="2640988" y="2991370"/>
              <a:ext cx="6857455" cy="874716"/>
            </a:xfrm>
            <a:custGeom>
              <a:avLst/>
              <a:gdLst>
                <a:gd fmla="*/ 6857455 w 6857455" name="connsiteX0"/>
                <a:gd fmla="*/ 804643 h 874716" name="connsiteY0"/>
                <a:gd fmla="*/ 6857455 w 6857455" name="connsiteX1"/>
                <a:gd fmla="*/ 562246 h 874716" name="connsiteY1"/>
                <a:gd fmla="*/ 6829178 w 6857455" name="connsiteX2"/>
                <a:gd fmla="*/ 551284 h 874716" name="connsiteY2"/>
                <a:gd fmla="*/ 6766024 w 6857455" name="connsiteX3"/>
                <a:gd fmla="*/ 500372 h 874716" name="connsiteY3"/>
                <a:gd fmla="*/ 6734971 w 6857455" name="connsiteX4"/>
                <a:gd fmla="*/ 500944 h 874716" name="connsiteY4"/>
                <a:gd fmla="*/ 6683915 w 6857455" name="connsiteX5"/>
                <a:gd fmla="*/ 507040 h 874716" name="connsiteY5"/>
                <a:gd fmla="*/ 6628860 w 6857455" name="connsiteX6"/>
                <a:gd fmla="*/ 495418 h 874716" name="connsiteY6"/>
                <a:gd fmla="*/ 6588662 w 6857455" name="connsiteX7"/>
                <a:gd fmla="*/ 487227 h 874716" name="connsiteY7"/>
                <a:gd fmla="*/ 6476074 w 6857455" name="connsiteX8"/>
                <a:gd fmla="*/ 511230 h 874716" name="connsiteY8"/>
                <a:gd fmla="*/ 6382345 w 6857455" name="connsiteX9"/>
                <a:gd fmla="*/ 534853 h 874716" name="connsiteY9"/>
                <a:gd fmla="*/ 6369391 w 6857455" name="connsiteX10"/>
                <a:gd fmla="*/ 531615 h 874716" name="connsiteY10"/>
                <a:gd fmla="*/ 6244799 w 6857455" name="connsiteX11"/>
                <a:gd fmla="*/ 512182 h 874716" name="connsiteY11"/>
                <a:gd fmla="*/ 6190315 w 6857455" name="connsiteX12"/>
                <a:gd fmla="*/ 485703 h 874716" name="connsiteY12"/>
                <a:gd fmla="*/ 6115446 w 6857455" name="connsiteX13"/>
                <a:gd fmla="*/ 462270 h 874716" name="connsiteY13"/>
                <a:gd fmla="*/ 6032194 w 6857455" name="connsiteX14"/>
                <a:gd fmla="*/ 434266 h 874716" name="connsiteY14"/>
                <a:gd fmla="*/ 5971042 w 6857455" name="connsiteX15"/>
                <a:gd fmla="*/ 420738 h 874716" name="connsiteY15"/>
                <a:gd fmla="*/ 5880933 w 6857455" name="connsiteX16"/>
                <a:gd fmla="*/ 430646 h 874716" name="connsiteY16"/>
                <a:gd fmla="*/ 5862452 w 6857455" name="connsiteX17"/>
                <a:gd fmla="*/ 438648 h 874716" name="connsiteY17"/>
                <a:gd fmla="*/ 5685283 w 6857455" name="connsiteX18"/>
                <a:gd fmla="*/ 498658 h 874716" name="connsiteY18"/>
                <a:gd fmla="*/ 5567169 w 6857455" name="connsiteX19"/>
                <a:gd fmla="*/ 499420 h 874716" name="connsiteY19"/>
                <a:gd fmla="*/ 5527923 w 6857455" name="connsiteX20"/>
                <a:gd fmla="*/ 490466 h 874716" name="connsiteY20"/>
                <a:gd fmla="*/ 5456292 w 6857455" name="connsiteX21"/>
                <a:gd fmla="*/ 450650 h 874716" name="connsiteY21"/>
                <a:gd fmla="*/ 5424670 w 6857455" name="connsiteX22"/>
                <a:gd fmla="*/ 444934 h 874716" name="connsiteY22"/>
                <a:gd fmla="*/ 5368662 w 6857455" name="connsiteX23"/>
                <a:gd fmla="*/ 441124 h 874716" name="connsiteY23"/>
                <a:gd fmla="*/ 5247118 w 6857455" name="connsiteX24"/>
                <a:gd fmla="*/ 444934 h 874716" name="connsiteY24"/>
                <a:gd fmla="*/ 5088617 w 6857455" name="connsiteX25"/>
                <a:gd fmla="*/ 428742 h 874716" name="connsiteY25"/>
                <a:gd fmla="*/ 5025750 w 6857455" name="connsiteX26"/>
                <a:gd fmla="*/ 433694 h 874716" name="connsiteY26"/>
                <a:gd fmla="*/ 4957930 w 6857455" name="connsiteX27"/>
                <a:gd fmla="*/ 442268 h 874716" name="connsiteY27"/>
                <a:gd fmla="*/ 4938116 w 6857455" name="connsiteX28"/>
                <a:gd fmla="*/ 441886 h 874716" name="connsiteY28"/>
                <a:gd fmla="*/ 4833910 w 6857455" name="connsiteX29"/>
                <a:gd fmla="*/ 421693 h 874716" name="connsiteY29"/>
                <a:gd fmla="*/ 4810095 w 6857455" name="connsiteX30"/>
                <a:gd fmla="*/ 408167 h 874716" name="connsiteY30"/>
                <a:gd fmla="*/ 4747991 w 6857455" name="connsiteX31"/>
                <a:gd fmla="*/ 413691 h 874716" name="connsiteY31"/>
                <a:gd fmla="*/ 4692745 w 6857455" name="connsiteX32"/>
                <a:gd fmla="*/ 435790 h 874716" name="connsiteY32"/>
                <a:gd fmla="*/ 4375933 w 6857455" name="connsiteX33"/>
                <a:gd fmla="*/ 483417 h 874716" name="connsiteY33"/>
                <a:gd fmla="*/ 4185426 w 6857455" name="connsiteX34"/>
                <a:gd fmla="*/ 484179 h 874716" name="connsiteY34"/>
                <a:gd fmla="*/ 4052072 w 6857455" name="connsiteX35"/>
                <a:gd fmla="*/ 505134 h 874716" name="connsiteY35"/>
                <a:gd fmla="*/ 4029973 w 6857455" name="connsiteX36"/>
                <a:gd fmla="*/ 527233 h 874716" name="connsiteY36"/>
                <a:gd fmla="*/ 3948626 w 6857455" name="connsiteX37"/>
                <a:gd fmla="*/ 550666 h 874716" name="connsiteY37"/>
                <a:gd fmla="*/ 3871280 w 6857455" name="connsiteX38"/>
                <a:gd fmla="*/ 502275 h 874716" name="connsiteY38"/>
                <a:gd fmla="*/ 3774312 w 6857455" name="connsiteX39"/>
                <a:gd fmla="*/ 429122 h 874716" name="connsiteY39"/>
                <a:gd fmla="*/ 3721543 w 6857455" name="connsiteX40"/>
                <a:gd fmla="*/ 428552 h 874716" name="connsiteY40"/>
                <a:gd fmla="*/ 3612763 w 6857455" name="connsiteX41"/>
                <a:gd fmla="*/ 414263 h 874716" name="connsiteY41"/>
                <a:gd fmla="*/ 3537323 w 6857455" name="connsiteX42"/>
                <a:gd fmla="*/ 389878 h 874716" name="connsiteY42"/>
                <a:gd fmla="*/ 3431593 w 6857455" name="connsiteX43"/>
                <a:gd fmla="*/ 360921 h 874716" name="connsiteY43"/>
                <a:gd fmla="*/ 3392158 w 6857455" name="connsiteX44"/>
                <a:gd fmla="*/ 345681 h 874716" name="connsiteY44"/>
                <a:gd fmla="*/ 3297856 w 6857455" name="connsiteX45"/>
                <a:gd fmla="*/ 323010 h 874716" name="connsiteY45"/>
                <a:gd fmla="*/ 3219748 w 6857455" name="connsiteX46"/>
                <a:gd fmla="*/ 308151 h 874716" name="connsiteY46"/>
                <a:gd fmla="*/ 3156692 w 6857455" name="connsiteX47"/>
                <a:gd fmla="*/ 261668 h 874716" name="connsiteY47"/>
                <a:gd fmla="*/ 3136497 w 6857455" name="connsiteX48"/>
                <a:gd fmla="*/ 237663 h 874716" name="connsiteY48"/>
                <a:gd fmla="*/ 3119733 w 6857455" name="connsiteX49"/>
                <a:gd fmla="*/ 222233 h 874716" name="connsiteY49"/>
                <a:gd fmla="*/ 3045436 w 6857455" name="connsiteX50"/>
                <a:gd fmla="*/ 131742 h 874716" name="connsiteY50"/>
                <a:gd fmla="*/ 3037054 w 6857455" name="connsiteX51"/>
                <a:gd fmla="*/ 124121 h 874716" name="connsiteY51"/>
                <a:gd fmla="*/ 2936466 w 6857455" name="connsiteX52"/>
                <a:gd fmla="*/ 82400 h 874716" name="connsiteY52"/>
                <a:gd fmla="*/ 2901031 w 6857455" name="connsiteX53"/>
                <a:gd fmla="*/ 59731 h 874716" name="connsiteY53"/>
                <a:gd fmla="*/ 2828259 w 6857455" name="connsiteX54"/>
                <a:gd fmla="*/ 3149 h 874716" name="connsiteY54"/>
                <a:gd fmla="*/ 2799492 w 6857455" name="connsiteX55"/>
                <a:gd fmla="*/ 1245 h 874716" name="connsiteY55"/>
                <a:gd fmla="*/ 2693570 w 6857455" name="connsiteX56"/>
                <a:gd fmla="*/ 35154 h 874716" name="connsiteY56"/>
                <a:gd fmla="*/ 2639847 w 6857455" name="connsiteX57"/>
                <a:gd fmla="*/ 73448 h 874716" name="connsiteY57"/>
                <a:gd fmla="*/ 2621178 w 6857455" name="connsiteX58"/>
                <a:gd fmla="*/ 88688 h 874716" name="connsiteY58"/>
                <a:gd fmla="*/ 2489348 w 6857455" name="connsiteX59"/>
                <a:gd fmla="*/ 72304 h 874716" name="connsiteY59"/>
                <a:gd fmla="*/ 2452580 w 6857455" name="connsiteX60"/>
                <a:gd fmla="*/ 68683 h 874716" name="connsiteY60"/>
                <a:gd fmla="*/ 2326464 w 6857455" name="connsiteX61"/>
                <a:gd fmla="*/ 50395 h 874716" name="connsiteY61"/>
                <a:gd fmla="*/ 2300365 w 6857455" name="connsiteX62"/>
                <a:gd fmla="*/ 54777 h 874716" name="connsiteY62"/>
                <a:gd fmla="*/ 2130434 w 6857455" name="connsiteX63"/>
                <a:gd fmla="*/ 58397 h 874716" name="connsiteY63"/>
                <a:gd fmla="*/ 2118621 w 6857455" name="connsiteX64"/>
                <a:gd fmla="*/ 47919 h 874716" name="connsiteY64"/>
                <a:gd fmla="*/ 2057659 w 6857455" name="connsiteX65"/>
                <a:gd fmla="*/ 16866 h 874716" name="connsiteY65"/>
                <a:gd fmla="*/ 1976314 w 6857455" name="connsiteX66"/>
                <a:gd fmla="*/ 8865 h 874716" name="connsiteY66"/>
                <a:gd fmla="*/ 1961454 w 6857455" name="connsiteX67"/>
                <a:gd fmla="*/ 11724 h 874716" name="connsiteY67"/>
                <a:gd fmla="*/ 1906588 w 6857455" name="connsiteX68"/>
                <a:gd fmla="*/ 30964 h 874716" name="connsiteY68"/>
                <a:gd fmla="*/ 1783330 w 6857455" name="connsiteX69"/>
                <a:gd fmla="*/ 48871 h 874716" name="connsiteY69"/>
                <a:gd fmla="*/ 1759327 w 6857455" name="connsiteX70"/>
                <a:gd fmla="*/ 55349 h 874716" name="connsiteY70"/>
                <a:gd fmla="*/ 1716082 w 6857455" name="connsiteX71"/>
                <a:gd fmla="*/ 65445 h 874716" name="connsiteY71"/>
                <a:gd fmla="*/ 1598920 w 6857455" name="connsiteX72"/>
                <a:gd fmla="*/ 72114 h 874716" name="connsiteY72"/>
                <a:gd fmla="*/ 1542150 w 6857455" name="connsiteX73"/>
                <a:gd fmla="*/ 62207 h 874716" name="connsiteY73"/>
                <a:gd fmla="*/ 1516813 w 6857455" name="connsiteX74"/>
                <a:gd fmla="*/ 62779 h 874716" name="connsiteY74"/>
                <a:gd fmla="*/ 1432228 w 6857455" name="connsiteX75"/>
                <a:gd fmla="*/ 88116 h 874716" name="connsiteY75"/>
                <a:gd fmla="*/ 1224765 w 6857455" name="connsiteX76"/>
                <a:gd fmla="*/ 71924 h 874716" name="connsiteY76"/>
                <a:gd fmla="*/ 1159231 w 6857455" name="connsiteX77"/>
                <a:gd fmla="*/ 58207 h 874716" name="connsiteY77"/>
                <a:gd fmla="*/ 1124370 w 6857455" name="connsiteX78"/>
                <a:gd fmla="*/ 56301 h 874716" name="connsiteY78"/>
                <a:gd fmla="*/ 1075600 w 6857455" name="connsiteX79"/>
                <a:gd fmla="*/ 75542 h 874716" name="connsiteY79"/>
                <a:gd fmla="*/ 986633 w 6857455" name="connsiteX80"/>
                <a:gd fmla="*/ 79162 h 874716" name="connsiteY80"/>
                <a:gd fmla="*/ 861089 w 6857455" name="connsiteX81"/>
                <a:gd fmla="*/ 76304 h 874716" name="connsiteY81"/>
                <a:gd fmla="*/ 759168 w 6857455" name="connsiteX82"/>
                <a:gd fmla="*/ 104689 h 874716" name="connsiteY82"/>
                <a:gd fmla="*/ 723735 w 6857455" name="connsiteX83"/>
                <a:gd fmla="*/ 140696 h 874716" name="connsiteY83"/>
                <a:gd fmla="*/ 647532 w 6857455" name="connsiteX84"/>
                <a:gd fmla="*/ 147934 h 874716" name="connsiteY84"/>
                <a:gd fmla="*/ 552659 w 6857455" name="connsiteX85"/>
                <a:gd fmla="*/ 95926 h 874716" name="connsiteY85"/>
                <a:gd fmla="*/ 541800 w 6857455" name="connsiteX86"/>
                <a:gd fmla="*/ 97640 h 874716" name="connsiteY86"/>
                <a:gd fmla="*/ 375107 w 6857455" name="connsiteX87"/>
                <a:gd fmla="*/ 123169 h 874716" name="connsiteY87"/>
                <a:gd fmla="*/ 273567 w 6857455" name="connsiteX88"/>
                <a:gd fmla="*/ 145458 h 874716" name="connsiteY88"/>
                <a:gd fmla="*/ 264043 w 6857455" name="connsiteX89"/>
                <a:gd fmla="*/ 154792 h 874716" name="connsiteY89"/>
                <a:gd fmla="*/ 169360 w 6857455" name="connsiteX90"/>
                <a:gd fmla="*/ 177273 h 874716" name="connsiteY90"/>
                <a:gd fmla="*/ 89347 w 6857455" name="connsiteX91"/>
                <a:gd fmla="*/ 157460 h 874716" name="connsiteY91"/>
                <a:gd fmla="*/ 34291 w 6857455" name="connsiteX92"/>
                <a:gd fmla="*/ 145268 h 874716" name="connsiteY92"/>
                <a:gd fmla="*/ 0 w 6857455" name="connsiteX93"/>
                <a:gd fmla="*/ 142056 h 874716" name="connsiteY93"/>
                <a:gd fmla="*/ 0 w 6857455" name="connsiteX94"/>
                <a:gd fmla="*/ 849556 h 874716" name="connsiteY94"/>
                <a:gd fmla="*/ 60652 w 6857455" name="connsiteX95"/>
                <a:gd fmla="*/ 844783 h 874716" name="connsiteY95"/>
                <a:gd fmla="*/ 119068 w 6857455" name="connsiteX96"/>
                <a:gd fmla="*/ 827281 h 874716" name="connsiteY96"/>
                <a:gd fmla="*/ 171840 w 6857455" name="connsiteX97"/>
                <a:gd fmla="*/ 804420 h 874716" name="connsiteY97"/>
                <a:gd fmla="*/ 274329 w 6857455" name="connsiteX98"/>
                <a:gd fmla="*/ 794324 h 874716" name="connsiteY98"/>
                <a:gd fmla="*/ 306715 w 6857455" name="connsiteX99"/>
                <a:gd fmla="*/ 788798 h 874716" name="connsiteY99"/>
                <a:gd fmla="*/ 393967 w 6857455" name="connsiteX100"/>
                <a:gd fmla="*/ 765937 h 874716" name="connsiteY100"/>
                <a:gd fmla="*/ 493793 w 6857455" name="connsiteX101"/>
                <a:gd fmla="*/ 725549 h 874716" name="connsiteY101"/>
                <a:gd fmla="*/ 546373 w 6857455" name="connsiteX102"/>
                <a:gd fmla="*/ 740600 h 874716" name="connsiteY102"/>
                <a:gd fmla="*/ 730211 w 6857455" name="connsiteX103"/>
                <a:gd fmla="*/ 698116 h 874716" name="connsiteY103"/>
                <a:gd fmla="*/ 784889 w 6857455" name="connsiteX104"/>
                <a:gd fmla="*/ 676018 h 874716" name="connsiteY104"/>
                <a:gd fmla="*/ 800509 w 6857455" name="connsiteX105"/>
                <a:gd fmla="*/ 661349 h 874716" name="connsiteY105"/>
                <a:gd fmla="*/ 857661 w 6857455" name="connsiteX106"/>
                <a:gd fmla="*/ 626868 h 874716" name="connsiteY106"/>
                <a:gd fmla="*/ 949102 w 6857455" name="connsiteX107"/>
                <a:gd fmla="*/ 614676 h 874716" name="connsiteY107"/>
                <a:gd fmla="*/ 960342 w 6857455" name="connsiteX108"/>
                <a:gd fmla="*/ 607435 h 874716" name="connsiteY108"/>
                <a:gd fmla="*/ 977109 w 6857455" name="connsiteX109"/>
                <a:gd fmla="*/ 595815 h 874716" name="connsiteY109"/>
                <a:gd fmla="*/ 1071218 w 6857455" name="connsiteX110"/>
                <a:gd fmla="*/ 575240 h 874716" name="connsiteY110"/>
                <a:gd fmla="*/ 1091983 w 6857455" name="connsiteX111"/>
                <a:gd fmla="*/ 568764 h 874716" name="connsiteY111"/>
                <a:gd fmla="*/ 1109321 w 6857455" name="connsiteX112"/>
                <a:gd fmla="*/ 557904 h 874716" name="connsiteY112"/>
                <a:gd fmla="*/ 1162279 w 6857455" name="connsiteX113"/>
                <a:gd fmla="*/ 532949 h 874716" name="connsiteY113"/>
                <a:gd fmla="*/ 1206097 w 6857455" name="connsiteX114"/>
                <a:gd fmla="*/ 532187 h 874716" name="connsiteY114"/>
                <a:gd fmla="*/ 1266867 w 6857455" name="connsiteX115"/>
                <a:gd fmla="*/ 518088 h 874716" name="connsiteY115"/>
                <a:gd fmla="*/ 1380219 w 6857455" name="connsiteX116"/>
                <a:gd fmla="*/ 504182 h 874716" name="connsiteY116"/>
                <a:gd fmla="*/ 1403461 w 6857455" name="connsiteX117"/>
                <a:gd fmla="*/ 496180 h 874716" name="connsiteY117"/>
                <a:gd fmla="*/ 1544054 w 6857455" name="connsiteX118"/>
                <a:gd fmla="*/ 458268 h 874716" name="connsiteY118"/>
                <a:gd fmla="*/ 1656644 w 6857455" name="connsiteX119"/>
                <a:gd fmla="*/ 459032 h 874716" name="connsiteY119"/>
                <a:gd fmla="*/ 1665406 w 6857455" name="connsiteX120"/>
                <a:gd fmla="*/ 460747 h 874716" name="connsiteY120"/>
                <a:gd fmla="*/ 1708461 w 6857455" name="connsiteX121"/>
                <a:gd fmla="*/ 473318 h 874716" name="connsiteY121"/>
                <a:gd fmla="*/ 1775140 w 6857455" name="connsiteX122"/>
                <a:gd fmla="*/ 469891 h 874716" name="connsiteY122"/>
                <a:gd fmla="*/ 1821051 w 6857455" name="connsiteX123"/>
                <a:gd fmla="*/ 452554 h 874716" name="connsiteY123"/>
                <a:gd fmla="*/ 1878203 w 6857455" name="connsiteX124"/>
                <a:gd fmla="*/ 451792 h 874716" name="connsiteY124"/>
                <a:gd fmla="*/ 1943547 w 6857455" name="connsiteX125"/>
                <a:gd fmla="*/ 462651 h 874716" name="connsiteY125"/>
                <a:gd fmla="*/ 1972884 w 6857455" name="connsiteX126"/>
                <a:gd fmla="*/ 464937 h 874716" name="connsiteY126"/>
                <a:gd fmla="*/ 2053469 w 6857455" name="connsiteX127"/>
                <a:gd fmla="*/ 487417 h 874716" name="connsiteY127"/>
                <a:gd fmla="*/ 2101477 w 6857455" name="connsiteX128"/>
                <a:gd fmla="*/ 481893 h 874716" name="connsiteY128"/>
                <a:gd fmla="*/ 2148722 w 6857455" name="connsiteX129"/>
                <a:gd fmla="*/ 467033 h 874716" name="connsiteY129"/>
                <a:gd fmla="*/ 2179011 w 6857455" name="connsiteX130"/>
                <a:gd fmla="*/ 452744 h 874716" name="connsiteY130"/>
                <a:gd fmla="*/ 2240165 w 6857455" name="connsiteX131"/>
                <a:gd fmla="*/ 442648 h 874716" name="connsiteY131"/>
                <a:gd fmla="*/ 2251404 w 6857455" name="connsiteX132"/>
                <a:gd fmla="*/ 444172 h 874716" name="connsiteY132"/>
                <a:gd fmla="*/ 2433912 w 6857455" name="connsiteX133"/>
                <a:gd fmla="*/ 456746 h 874716" name="connsiteY133"/>
                <a:gd fmla="*/ 2506302 w 6857455" name="connsiteX134"/>
                <a:gd fmla="*/ 476939 h 874716" name="connsiteY134"/>
                <a:gd fmla="*/ 2521735 w 6857455" name="connsiteX135"/>
                <a:gd fmla="*/ 479415 h 874716" name="connsiteY135"/>
                <a:gd fmla="*/ 2675854 w 6857455" name="connsiteX136"/>
                <a:gd fmla="*/ 502086 h 874716" name="connsiteY136"/>
                <a:gd fmla="*/ 2692998 w 6857455" name="connsiteX137"/>
                <a:gd fmla="*/ 503038 h 874716" name="connsiteY137"/>
                <a:gd fmla="*/ 2740816 w 6857455" name="connsiteX138"/>
                <a:gd fmla="*/ 499037 h 874716" name="connsiteY138"/>
                <a:gd fmla="*/ 2853596 w 6857455" name="connsiteX139"/>
                <a:gd fmla="*/ 540187 h 874716" name="connsiteY139"/>
                <a:gd fmla="*/ 2966565 w 6857455" name="connsiteX140"/>
                <a:gd fmla="*/ 554286 h 874716" name="connsiteY140"/>
                <a:gd fmla="*/ 3028671 w 6857455" name="connsiteX141"/>
                <a:gd fmla="*/ 554094 h 874716" name="connsiteY141"/>
                <a:gd fmla="*/ 3073059 w 6857455" name="connsiteX142"/>
                <a:gd fmla="*/ 564192 h 874716" name="connsiteY142"/>
                <a:gd fmla="*/ 3182219 w 6857455" name="connsiteX143"/>
                <a:gd fmla="*/ 594862 h 874716" name="connsiteY143"/>
                <a:gd fmla="*/ 3233656 w 6857455" name="connsiteX144"/>
                <a:gd fmla="*/ 599625 h 874716" name="connsiteY144"/>
                <a:gd fmla="*/ 3288332 w 6857455" name="connsiteX145"/>
                <a:gd fmla="*/ 609914 h 874716" name="connsiteY145"/>
                <a:gd fmla="*/ 3423591 w 6857455" name="connsiteX146"/>
                <a:gd fmla="*/ 656015 h 874716" name="connsiteY146"/>
                <a:gd fmla="*/ 3534084 w 6857455" name="connsiteX147"/>
                <a:gd fmla="*/ 653349 h 874716" name="connsiteY147"/>
                <a:gd fmla="*/ 3604571 w 6857455" name="connsiteX148"/>
                <a:gd fmla="*/ 653918 h 874716" name="connsiteY148"/>
                <a:gd fmla="*/ 3688586 w 6857455" name="connsiteX149"/>
                <a:gd fmla="*/ 669160 h 874716" name="connsiteY149"/>
                <a:gd fmla="*/ 3757358 w 6857455" name="connsiteX150"/>
                <a:gd fmla="*/ 691450 h 874716" name="connsiteY150"/>
                <a:gd fmla="*/ 3852421 w 6857455" name="connsiteX151"/>
                <a:gd fmla="*/ 709167 h 874716" name="connsiteY151"/>
                <a:gd fmla="*/ 3947104 w 6857455" name="connsiteX152"/>
                <a:gd fmla="*/ 743267 h 874716" name="connsiteY152"/>
                <a:gd fmla="*/ 4013208 w 6857455" name="connsiteX153"/>
                <a:gd fmla="*/ 769367 h 874716" name="connsiteY153"/>
                <a:gd fmla="*/ 4105222 w 6857455" name="connsiteX154"/>
                <a:gd fmla="*/ 792417 h 874716" name="connsiteY154"/>
                <a:gd fmla="*/ 4246006 w 6857455" name="connsiteX155"/>
                <a:gd fmla="*/ 808610 h 874716" name="connsiteY155"/>
                <a:gd fmla="*/ 4310779 w 6857455" name="connsiteX156"/>
                <a:gd fmla="*/ 810326 h 874716" name="connsiteY156"/>
                <a:gd fmla="*/ 4413272 w 6857455" name="connsiteX157"/>
                <a:gd fmla="*/ 848235 h 874716" name="connsiteY157"/>
                <a:gd fmla="*/ 4457087 w 6857455" name="connsiteX158"/>
                <a:gd fmla="*/ 866524 h 874716" name="connsiteY158"/>
                <a:gd fmla="*/ 4496523 w 6857455" name="connsiteX159"/>
                <a:gd fmla="*/ 851284 h 874716" name="connsiteY159"/>
                <a:gd fmla="*/ 4522050 w 6857455" name="connsiteX160"/>
                <a:gd fmla="*/ 833757 h 874716" name="connsiteY160"/>
                <a:gd fmla="*/ 4602824 w 6857455" name="connsiteX161"/>
                <a:gd fmla="*/ 848618 h 874716" name="connsiteY161"/>
                <a:gd fmla="*/ 4688553 w 6857455" name="connsiteX162"/>
                <a:gd fmla="*/ 864238 h 874716" name="connsiteY162"/>
                <a:gd fmla="*/ 4749895 w 6857455" name="connsiteX163"/>
                <a:gd fmla="*/ 874716 h 874716" name="connsiteY163"/>
                <a:gd fmla="*/ 4826480 w 6857455" name="connsiteX164"/>
                <a:gd fmla="*/ 866334 h 874716" name="connsiteY164"/>
                <a:gd fmla="*/ 4886870 w 6857455" name="connsiteX165"/>
                <a:gd fmla="*/ 862906 h 874716" name="connsiteY165"/>
                <a:gd fmla="*/ 4935639 w 6857455" name="connsiteX166"/>
                <a:gd fmla="*/ 853190 h 874716" name="connsiteY166"/>
                <a:gd fmla="*/ 4952784 w 6857455" name="connsiteX167"/>
                <a:gd fmla="*/ 847473 h 874716" name="connsiteY167"/>
                <a:gd fmla="*/ 5088617 w 6857455" name="connsiteX168"/>
                <a:gd fmla="*/ 802896 h 874716" name="connsiteY168"/>
                <a:gd fmla="*/ 5233781 w 6857455" name="connsiteX169"/>
                <a:gd fmla="*/ 767271 h 874716" name="connsiteY169"/>
                <a:gd fmla="*/ 5327893 w 6857455" name="connsiteX170"/>
                <a:gd fmla="*/ 789752 h 874716" name="connsiteY170"/>
                <a:gd fmla="*/ 5362946 w 6857455" name="connsiteX171"/>
                <a:gd fmla="*/ 789370 h 874716" name="connsiteY171"/>
                <a:gd fmla="*/ 5524115 w 6857455" name="connsiteX172"/>
                <a:gd fmla="*/ 794514 h 874716" name="connsiteY172"/>
                <a:gd fmla="*/ 5552500 w 6857455" name="connsiteX173"/>
                <a:gd fmla="*/ 800038 h 874716" name="connsiteY173"/>
                <a:gd fmla="*/ 5705857 w 6857455" name="connsiteX174"/>
                <a:gd fmla="*/ 777367 h 874716" name="connsiteY174"/>
                <a:gd fmla="*/ 5761485 w 6857455" name="connsiteX175"/>
                <a:gd fmla="*/ 773557 h 874716" name="connsiteY175"/>
                <a:gd fmla="*/ 5812731 w 6857455" name="connsiteX176"/>
                <a:gd fmla="*/ 767271 h 874716" name="connsiteY176"/>
                <a:gd fmla="*/ 5884361 w 6857455" name="connsiteX177"/>
                <a:gd fmla="*/ 765747 h 874716" name="connsiteY177"/>
                <a:gd fmla="*/ 5958660 w 6857455" name="connsiteX178"/>
                <a:gd fmla="*/ 768605 h 874716" name="connsiteY178"/>
                <a:gd fmla="*/ 6041528 w 6857455" name="connsiteX179"/>
                <a:gd fmla="*/ 768033 h 874716" name="connsiteY179"/>
                <a:gd fmla="*/ 6074297 w 6857455" name="connsiteX180"/>
                <a:gd fmla="*/ 763081 h 874716" name="connsiteY180"/>
                <a:gd fmla="*/ 6162880 w 6857455" name="connsiteX181"/>
                <a:gd fmla="*/ 766509 h 874716" name="connsiteY181"/>
                <a:gd fmla="*/ 6209364 w 6857455" name="connsiteX182"/>
                <a:gd fmla="*/ 760795 h 874716" name="connsiteY182"/>
                <a:gd fmla="*/ 6285948 w 6857455" name="connsiteX183"/>
                <a:gd fmla="*/ 759651 h 874716" name="connsiteY183"/>
                <a:gd fmla="*/ 6310905 w 6857455" name="connsiteX184"/>
                <a:gd fmla="*/ 758316 h 874716" name="connsiteY184"/>
                <a:gd fmla="*/ 6333194 w 6857455" name="connsiteX185"/>
                <a:gd fmla="*/ 757554 h 874716" name="connsiteY185"/>
                <a:gd fmla="*/ 6409586 w 6857455" name="connsiteX186"/>
                <a:gd fmla="*/ 773177 h 874716" name="connsiteY186"/>
                <a:gd fmla="*/ 6477407 w 6857455" name="connsiteX187"/>
                <a:gd fmla="*/ 774129 h 874716" name="connsiteY187"/>
                <a:gd fmla="*/ 6596283 w 6857455" name="connsiteX188"/>
                <a:gd fmla="*/ 786703 h 874716" name="connsiteY188"/>
                <a:gd fmla="*/ 6622573 w 6857455" name="connsiteX189"/>
                <a:gd fmla="*/ 782321 h 874716" name="connsiteY189"/>
                <a:gd fmla="*/ 6704872 w 6857455" name="connsiteX190"/>
                <a:gd fmla="*/ 780607 h 874716" name="connsiteY190"/>
                <a:gd fmla="*/ 6751738 w 6857455" name="connsiteX191"/>
                <a:gd fmla="*/ 779273 h 874716" name="connsiteY191"/>
                <a:gd fmla="*/ 6809650 w 6857455" name="connsiteX192"/>
                <a:gd fmla="*/ 788417 h 874716" name="connsiteY192"/>
                <a:gd fmla="*/ 6832976 w 6857455" name="connsiteX193"/>
                <a:gd fmla="*/ 800428 h 874716" name="connsiteY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b="b" l="l" r="r" t="t"/>
              <a:pathLst>
                <a:path h="874716" w="6857455">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7"/>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blipFill dpi="0" rotWithShape="1">
              <a:blip r:embed="rId2">
                <a:alphaModFix amt="57000"/>
              </a:blip>
              <a:srcRect/>
              <a:tile algn="tl" flip="none" sx="100000" sy="100000" tx="0" ty="0"/>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lang="en-US"/>
            </a:p>
          </p:txBody>
        </p:sp>
      </p:grpSp>
      <p:pic>
        <p:nvPicPr>
          <p:cNvPr id="98" name="Picture 97">
            <a:extLst>
              <a:ext uri="{FF2B5EF4-FFF2-40B4-BE49-F238E27FC236}">
                <a16:creationId xmlns:a16="http://schemas.microsoft.com/office/drawing/2014/main" id="{178902E1-D29E-4408-BD1A-7961DCC69A4E}"/>
              </a:ext>
            </a:extLst>
          </p:cNvPr>
          <p:cNvPicPr>
            <a:picLocks noChangeArrowheads="1" noChangeAspect="1"/>
          </p:cNvPicPr>
          <p:nvPr userDrawn="1"/>
        </p:nvPicPr>
        <p:blipFill rotWithShape="1">
          <a:blip r:embed="rId3">
            <a:extLst>
              <a:ext uri="{28A0092B-C50C-407E-A947-70E740481C1C}">
                <a14:useLocalDpi xmlns:a14="http://schemas.microsoft.com/office/drawing/2010/main" val="0"/>
              </a:ext>
            </a:extLst>
          </a:blip>
          <a:srcRect b="-57" r="80"/>
          <a:stretch/>
        </p:blipFill>
        <p:spPr bwMode="auto">
          <a:xfrm>
            <a:off x="-9948" y="3838"/>
            <a:ext cx="9153948" cy="6850324"/>
          </a:xfrm>
          <a:custGeom>
            <a:avLst/>
            <a:gdLst>
              <a:gd fmla="*/ 5282861 w 9153948" name="connsiteX0"/>
              <a:gd fmla="*/ 0 h 6850324" name="connsiteY0"/>
              <a:gd fmla="*/ 9153948 w 9153948" name="connsiteX1"/>
              <a:gd fmla="*/ 0 h 6850324" name="connsiteY1"/>
              <a:gd fmla="*/ 9153948 w 9153948" name="connsiteX2"/>
              <a:gd fmla="*/ 3977971 h 6850324" name="connsiteY2"/>
              <a:gd fmla="*/ 9004662 w 9153948" name="connsiteX3"/>
              <a:gd fmla="*/ 4052945 h 6850324" name="connsiteY3"/>
              <a:gd fmla="*/ 6158650 w 9153948" name="connsiteX4"/>
              <a:gd fmla="*/ 6710840 h 6850324" name="connsiteY4"/>
              <a:gd fmla="*/ 6089071 w 9153948" name="connsiteX5"/>
              <a:gd fmla="*/ 6850324 h 6850324" name="connsiteY5"/>
              <a:gd fmla="*/ 0 w 9153948" name="connsiteX6"/>
              <a:gd fmla="*/ 6850324 h 6850324" name="connsiteY6"/>
              <a:gd fmla="*/ 0 w 9153948" name="connsiteX7"/>
              <a:gd fmla="*/ 4281319 h 6850324" name="connsiteY7"/>
              <a:gd fmla="*/ 169673 w 9153948" name="connsiteX8"/>
              <a:gd fmla="*/ 4239758 h 6850324" name="connsiteY8"/>
              <a:gd fmla="*/ 1253697 w 9153948" name="connsiteX9"/>
              <a:gd fmla="*/ 3877347 h 6850324" name="connsiteY9"/>
              <a:gd fmla="*/ 5263701 w 9153948" name="connsiteX10"/>
              <a:gd fmla="*/ 75693 h 6850324" name="connsiteY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b="b" l="l" r="r" t="t"/>
            <a:pathLst>
              <a:path h="6850324" w="9153948">
                <a:moveTo>
                  <a:pt x="5282861" y="0"/>
                </a:moveTo>
                <a:lnTo>
                  <a:pt x="9153948" y="0"/>
                </a:lnTo>
                <a:lnTo>
                  <a:pt x="9153948" y="3977971"/>
                </a:lnTo>
                <a:lnTo>
                  <a:pt x="9004662" y="4052945"/>
                </a:lnTo>
                <a:cubicBezTo>
                  <a:pt x="7703988" y="4749593"/>
                  <a:pt x="6701910" y="5709432"/>
                  <a:pt x="6158650" y="6710840"/>
                </a:cubicBezTo>
                <a:lnTo>
                  <a:pt x="6089071" y="6850324"/>
                </a:lnTo>
                <a:lnTo>
                  <a:pt x="0" y="6850324"/>
                </a:lnTo>
                <a:lnTo>
                  <a:pt x="0" y="4281319"/>
                </a:lnTo>
                <a:lnTo>
                  <a:pt x="169673" y="4239758"/>
                </a:lnTo>
                <a:cubicBezTo>
                  <a:pt x="528296" y="4145614"/>
                  <a:pt x="891090" y="4025089"/>
                  <a:pt x="1253697" y="3877347"/>
                </a:cubicBezTo>
                <a:cubicBezTo>
                  <a:pt x="3316023" y="3037055"/>
                  <a:pt x="4817044" y="1542499"/>
                  <a:pt x="5263701" y="75693"/>
                </a:cubicBezTo>
                <a:close/>
              </a:path>
            </a:pathLst>
          </a:custGeom>
          <a:noFill/>
          <a:extLst>
            <a:ext uri="{909E8E84-426E-40DD-AFC4-6F175D3DCCD1}">
              <a14:hiddenFill xmlns:a14="http://schemas.microsoft.com/office/drawing/2010/main">
                <a:solidFill>
                  <a:srgbClr val="FFFFFF"/>
                </a:solidFill>
              </a14:hiddenFill>
            </a:ext>
          </a:extLst>
        </p:spPr>
      </p:pic>
      <p:sp>
        <p:nvSpPr>
          <p:cNvPr id="97" name="Freeform: Shape 96">
            <a:extLst>
              <a:ext uri="{FF2B5EF4-FFF2-40B4-BE49-F238E27FC236}">
                <a16:creationId xmlns:a16="http://schemas.microsoft.com/office/drawing/2014/main" id="{8B6C1D65-4ABB-4690-93DF-7DFB2A98622A}"/>
              </a:ext>
            </a:extLst>
          </p:cNvPr>
          <p:cNvSpPr/>
          <p:nvPr userDrawn="1"/>
        </p:nvSpPr>
        <p:spPr>
          <a:xfrm>
            <a:off x="-9948" y="3838"/>
            <a:ext cx="9153948" cy="6850324"/>
          </a:xfrm>
          <a:custGeom>
            <a:avLst/>
            <a:gdLst>
              <a:gd fmla="*/ 5282862 w 9153948" name="connsiteX0"/>
              <a:gd fmla="*/ 0 h 6850324" name="connsiteY0"/>
              <a:gd fmla="*/ 9153948 w 9153948" name="connsiteX1"/>
              <a:gd fmla="*/ 0 h 6850324" name="connsiteY1"/>
              <a:gd fmla="*/ 9153948 w 9153948" name="connsiteX2"/>
              <a:gd fmla="*/ 3977971 h 6850324" name="connsiteY2"/>
              <a:gd fmla="*/ 9004662 w 9153948" name="connsiteX3"/>
              <a:gd fmla="*/ 4052945 h 6850324" name="connsiteY3"/>
              <a:gd fmla="*/ 6158650 w 9153948" name="connsiteX4"/>
              <a:gd fmla="*/ 6710840 h 6850324" name="connsiteY4"/>
              <a:gd fmla="*/ 6089071 w 9153948" name="connsiteX5"/>
              <a:gd fmla="*/ 6850324 h 6850324" name="connsiteY5"/>
              <a:gd fmla="*/ 0 w 9153948" name="connsiteX6"/>
              <a:gd fmla="*/ 6850324 h 6850324" name="connsiteY6"/>
              <a:gd fmla="*/ 0 w 9153948" name="connsiteX7"/>
              <a:gd fmla="*/ 4281319 h 6850324" name="connsiteY7"/>
              <a:gd fmla="*/ 169673 w 9153948" name="connsiteX8"/>
              <a:gd fmla="*/ 4239758 h 6850324" name="connsiteY8"/>
              <a:gd fmla="*/ 1253697 w 9153948" name="connsiteX9"/>
              <a:gd fmla="*/ 3877347 h 6850324" name="connsiteY9"/>
              <a:gd fmla="*/ 5263701 w 9153948" name="connsiteX10"/>
              <a:gd fmla="*/ 75694 h 6850324" name="connsiteY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b="b" l="l" r="r" t="t"/>
            <a:pathLst>
              <a:path h="6850324" w="9153948">
                <a:moveTo>
                  <a:pt x="5282862" y="0"/>
                </a:moveTo>
                <a:lnTo>
                  <a:pt x="9153948" y="0"/>
                </a:lnTo>
                <a:lnTo>
                  <a:pt x="9153948" y="3977971"/>
                </a:lnTo>
                <a:lnTo>
                  <a:pt x="9004662" y="4052945"/>
                </a:lnTo>
                <a:cubicBezTo>
                  <a:pt x="7703988" y="4749593"/>
                  <a:pt x="6701910" y="5709433"/>
                  <a:pt x="6158650" y="6710840"/>
                </a:cubicBezTo>
                <a:lnTo>
                  <a:pt x="6089071" y="6850324"/>
                </a:lnTo>
                <a:lnTo>
                  <a:pt x="0" y="6850324"/>
                </a:lnTo>
                <a:lnTo>
                  <a:pt x="0" y="4281319"/>
                </a:lnTo>
                <a:lnTo>
                  <a:pt x="169673" y="4239758"/>
                </a:lnTo>
                <a:cubicBezTo>
                  <a:pt x="528296" y="4145614"/>
                  <a:pt x="891090" y="4025089"/>
                  <a:pt x="1253697" y="3877347"/>
                </a:cubicBezTo>
                <a:cubicBezTo>
                  <a:pt x="3316023" y="3037055"/>
                  <a:pt x="4817044" y="1542499"/>
                  <a:pt x="5263701" y="75694"/>
                </a:cubicBezTo>
                <a:close/>
              </a:path>
            </a:pathLst>
          </a:custGeom>
          <a:solidFill>
            <a:schemeClr val="bg1">
              <a:lumMod val="50000"/>
              <a:alpha val="50000"/>
            </a:schemeClr>
          </a:solidFill>
          <a:ln>
            <a:noFill/>
          </a:ln>
          <a:effectLst>
            <a:outerShdw algn="ctr" blurRad="63500" rotWithShape="0" sx="102000" sy="10200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dirty="0" lang="en-US"/>
          </a:p>
        </p:txBody>
      </p:sp>
      <p:sp>
        <p:nvSpPr>
          <p:cNvPr id="75" name="Freeform: Shape 74">
            <a:extLst>
              <a:ext uri="{FF2B5EF4-FFF2-40B4-BE49-F238E27FC236}">
                <a16:creationId xmlns:a16="http://schemas.microsoft.com/office/drawing/2014/main" id="{3D86ACB6-5BFD-4C67-B168-1E477676C765}"/>
              </a:ext>
            </a:extLst>
          </p:cNvPr>
          <p:cNvSpPr/>
          <p:nvPr userDrawn="1"/>
        </p:nvSpPr>
        <p:spPr>
          <a:xfrm>
            <a:off x="-133350" y="-751246"/>
            <a:ext cx="11106409" cy="4858109"/>
          </a:xfrm>
          <a:custGeom>
            <a:avLst/>
            <a:gdLst>
              <a:gd fmla="*/ 3909888 w 9144000" name="connsiteX0"/>
              <a:gd fmla="*/ 1376794 h 3809635" name="connsiteY0"/>
              <a:gd fmla="*/ 3815327 w 9144000" name="connsiteX1"/>
              <a:gd fmla="*/ 1514144 h 3809635" name="connsiteY1"/>
              <a:gd fmla="*/ 1032179 w 9144000" name="connsiteX2"/>
              <a:gd fmla="*/ 3516551 h 3809635" name="connsiteY2"/>
              <a:gd fmla="*/ 139693 w 9144000" name="connsiteX3"/>
              <a:gd fmla="*/ 3800747 h 3809635" name="connsiteY3"/>
              <a:gd fmla="*/ 101598 w 9144000" name="connsiteX4"/>
              <a:gd fmla="*/ 3809635 h 3809635" name="connsiteY4"/>
              <a:gd fmla="*/ 101598 w 9144000" name="connsiteX5"/>
              <a:gd fmla="*/ 3477088 h 3809635" name="connsiteY5"/>
              <a:gd fmla="*/ 181491 w 9144000" name="connsiteX6"/>
              <a:gd fmla="*/ 3460712 h 3809635" name="connsiteY6"/>
              <a:gd fmla="*/ 897358 w 9144000" name="connsiteX7"/>
              <a:gd fmla="*/ 3266910 h 3809635" name="connsiteY7"/>
              <a:gd fmla="*/ 3800595 w 9144000" name="connsiteX8"/>
              <a:gd fmla="*/ 1503680 h 3809635" name="connsiteY8"/>
              <a:gd fmla="*/ 4639132 w 9144000" name="connsiteX9"/>
              <a:gd fmla="*/ 0 h 3809635" name="connsiteY9"/>
              <a:gd fmla="*/ 9144000 w 9144000" name="connsiteX10"/>
              <a:gd fmla="*/ 0 h 3809635" name="connsiteY10"/>
              <a:gd fmla="*/ 9144000 w 9144000" name="connsiteX11"/>
              <a:gd fmla="*/ 545 h 3809635" name="connsiteY11"/>
              <a:gd fmla="*/ 4639015 w 9144000" name="connsiteX12"/>
              <a:gd fmla="*/ 545 h 3809635" name="connsiteY12"/>
              <a:gd fmla="*/ 0 w 9144000" name="connsiteX13"/>
              <a:gd fmla="*/ 0 h 3809635" name="connsiteY13"/>
              <a:gd fmla="*/ 2434 w 9144000" name="connsiteX14"/>
              <a:gd fmla="*/ 0 h 3809635" name="connsiteY14"/>
              <a:gd fmla="*/ 2434 w 9144000" name="connsiteX15"/>
              <a:gd fmla="*/ 116112 h 3809635" name="connsiteY15"/>
              <a:gd fmla="*/ 0 w 9144000" name="connsiteX16"/>
              <a:gd fmla="*/ 116112 h 3809635" name="connsiteY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b="b" l="l" r="r" t="t"/>
            <a:pathLst>
              <a:path h="3809635" w="9144000">
                <a:moveTo>
                  <a:pt x="3909888" y="1376794"/>
                </a:moveTo>
                <a:lnTo>
                  <a:pt x="3815327" y="1514144"/>
                </a:lnTo>
                <a:cubicBezTo>
                  <a:pt x="3222015" y="2313441"/>
                  <a:pt x="2244987" y="3045879"/>
                  <a:pt x="1032179" y="3516551"/>
                </a:cubicBezTo>
                <a:cubicBezTo>
                  <a:pt x="733642" y="3632408"/>
                  <a:pt x="434950" y="3726921"/>
                  <a:pt x="139693" y="3800747"/>
                </a:cubicBezTo>
                <a:lnTo>
                  <a:pt x="101598" y="3809635"/>
                </a:lnTo>
                <a:lnTo>
                  <a:pt x="101598" y="3477088"/>
                </a:lnTo>
                <a:lnTo>
                  <a:pt x="181491" y="3460712"/>
                </a:lnTo>
                <a:cubicBezTo>
                  <a:pt x="418466" y="3408295"/>
                  <a:pt x="657613" y="3343819"/>
                  <a:pt x="897358" y="3266910"/>
                </a:cubicBezTo>
                <a:cubicBezTo>
                  <a:pt x="2114817" y="2876352"/>
                  <a:pt x="3128242" y="2235559"/>
                  <a:pt x="3800595" y="1503680"/>
                </a:cubicBezTo>
                <a:close/>
                <a:moveTo>
                  <a:pt x="4639132" y="0"/>
                </a:moveTo>
                <a:lnTo>
                  <a:pt x="9144000" y="0"/>
                </a:lnTo>
                <a:lnTo>
                  <a:pt x="9144000" y="545"/>
                </a:lnTo>
                <a:lnTo>
                  <a:pt x="4639015" y="545"/>
                </a:lnTo>
                <a:close/>
                <a:moveTo>
                  <a:pt x="0" y="0"/>
                </a:moveTo>
                <a:lnTo>
                  <a:pt x="2434" y="0"/>
                </a:lnTo>
                <a:lnTo>
                  <a:pt x="2434" y="116112"/>
                </a:lnTo>
                <a:lnTo>
                  <a:pt x="0" y="116112"/>
                </a:lnTo>
                <a:close/>
              </a:path>
            </a:pathLst>
          </a:custGeom>
          <a:solidFill>
            <a:srgbClr val="44525B"/>
          </a:solidFill>
          <a:ln>
            <a:noFill/>
          </a:ln>
          <a:effectLst>
            <a:outerShdw algn="ctr" blurRad="63500" rotWithShape="0" sx="102000" sy="10200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dirty="0" lang="en-US"/>
          </a:p>
        </p:txBody>
      </p:sp>
      <p:sp>
        <p:nvSpPr>
          <p:cNvPr id="89" name="Freeform: Shape 88">
            <a:extLst>
              <a:ext uri="{FF2B5EF4-FFF2-40B4-BE49-F238E27FC236}">
                <a16:creationId xmlns:a16="http://schemas.microsoft.com/office/drawing/2014/main" id="{B33DEB17-D024-478D-B70D-E045AB878E9A}"/>
              </a:ext>
            </a:extLst>
          </p:cNvPr>
          <p:cNvSpPr/>
          <p:nvPr userDrawn="1"/>
        </p:nvSpPr>
        <p:spPr>
          <a:xfrm rot="10800000">
            <a:off x="99294" y="4154791"/>
            <a:ext cx="11106409" cy="4102154"/>
          </a:xfrm>
          <a:custGeom>
            <a:avLst/>
            <a:gdLst>
              <a:gd fmla="*/ 11106409 w 11106409" name="connsiteX0"/>
              <a:gd fmla="*/ 695 h 4102154" name="connsiteY0"/>
              <a:gd fmla="*/ 5634601 w 11106409" name="connsiteX1"/>
              <a:gd fmla="*/ 695 h 4102154" name="connsiteY1"/>
              <a:gd fmla="*/ 5634744 w 11106409" name="connsiteX2"/>
              <a:gd fmla="*/ 0 h 4102154" name="connsiteY2"/>
              <a:gd fmla="*/ 11106409 w 11106409" name="connsiteX3"/>
              <a:gd fmla="*/ 0 h 4102154" name="connsiteY3"/>
              <a:gd fmla="*/ 2956 w 11106409" name="connsiteX4"/>
              <a:gd fmla="*/ 148068 h 4102154" name="connsiteY4"/>
              <a:gd fmla="*/ 0 w 11106409" name="connsiteX5"/>
              <a:gd fmla="*/ 148068 h 4102154" name="connsiteY5"/>
              <a:gd fmla="*/ 0 w 11106409" name="connsiteX6"/>
              <a:gd fmla="*/ 0 h 4102154" name="connsiteY6"/>
              <a:gd fmla="*/ 2956 w 11106409" name="connsiteX7"/>
              <a:gd fmla="*/ 0 h 4102154" name="connsiteY7"/>
              <a:gd fmla="*/ 2061703 w 11106409" name="connsiteX8"/>
              <a:gd fmla="*/ 4102154 h 4102154" name="connsiteY8"/>
              <a:gd fmla="*/ 2061703 w 11106409" name="connsiteX9"/>
              <a:gd fmla="*/ 3774848 h 4102154" name="connsiteY9"/>
              <a:gd fmla="*/ 2149929 w 11106409" name="connsiteX10"/>
              <a:gd fmla="*/ 3735822 h 4102154" name="connsiteY10"/>
              <a:gd fmla="*/ 4616246 w 11106409" name="connsiteX11"/>
              <a:gd fmla="*/ 1917518 h 4102154" name="connsiteY11"/>
              <a:gd fmla="*/ 4748995 w 11106409" name="connsiteX12"/>
              <a:gd fmla="*/ 1755710 h 4102154" name="connsiteY12"/>
              <a:gd fmla="*/ 4634140 w 11106409" name="connsiteX13"/>
              <a:gd fmla="*/ 1930861 h 4102154" name="connsiteY13"/>
              <a:gd fmla="*/ 2302010 w 11106409" name="connsiteX14"/>
              <a:gd fmla="*/ 3975502 h 4102154" name="connsiteY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b="b" l="l" r="r" t="t"/>
            <a:pathLst>
              <a:path h="4102154" w="11106409">
                <a:moveTo>
                  <a:pt x="11106409" y="695"/>
                </a:moveTo>
                <a:lnTo>
                  <a:pt x="5634601" y="695"/>
                </a:lnTo>
                <a:lnTo>
                  <a:pt x="5634744" y="0"/>
                </a:lnTo>
                <a:lnTo>
                  <a:pt x="11106409" y="0"/>
                </a:lnTo>
                <a:close/>
                <a:moveTo>
                  <a:pt x="2956" y="148068"/>
                </a:moveTo>
                <a:lnTo>
                  <a:pt x="0" y="148068"/>
                </a:lnTo>
                <a:lnTo>
                  <a:pt x="0" y="0"/>
                </a:lnTo>
                <a:lnTo>
                  <a:pt x="2956" y="0"/>
                </a:lnTo>
                <a:close/>
                <a:moveTo>
                  <a:pt x="2061703" y="4102154"/>
                </a:moveTo>
                <a:lnTo>
                  <a:pt x="2061703" y="3774848"/>
                </a:lnTo>
                <a:lnTo>
                  <a:pt x="2149929" y="3735822"/>
                </a:lnTo>
                <a:cubicBezTo>
                  <a:pt x="3158248" y="3252137"/>
                  <a:pt x="4003761" y="2617496"/>
                  <a:pt x="4616246" y="1917518"/>
                </a:cubicBezTo>
                <a:lnTo>
                  <a:pt x="4748995" y="1755710"/>
                </a:lnTo>
                <a:lnTo>
                  <a:pt x="4634140" y="1930861"/>
                </a:lnTo>
                <a:cubicBezTo>
                  <a:pt x="4093657" y="2695319"/>
                  <a:pt x="3291012" y="3411818"/>
                  <a:pt x="2302010" y="3975502"/>
                </a:cubicBezTo>
                <a:close/>
              </a:path>
            </a:pathLst>
          </a:custGeom>
          <a:solidFill>
            <a:srgbClr val="44525B"/>
          </a:solidFill>
          <a:ln>
            <a:noFill/>
          </a:ln>
          <a:effectLst>
            <a:outerShdw algn="ctr" blurRad="63500" rotWithShape="0" sx="102000" sy="10200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lstStyle/>
          <a:p>
            <a:pPr algn="ctr"/>
            <a:endParaRPr dirty="0" lang="en-US"/>
          </a:p>
        </p:txBody>
      </p:sp>
      <p:sp>
        <p:nvSpPr>
          <p:cNvPr id="78" name="Rectangle: Rounded Corners 77">
            <a:extLst>
              <a:ext uri="{FF2B5EF4-FFF2-40B4-BE49-F238E27FC236}">
                <a16:creationId xmlns:a16="http://schemas.microsoft.com/office/drawing/2014/main" id="{FFE54959-DEE0-47EE-AF9E-5321D7B257EA}"/>
              </a:ext>
            </a:extLst>
          </p:cNvPr>
          <p:cNvSpPr/>
          <p:nvPr userDrawn="1"/>
        </p:nvSpPr>
        <p:spPr>
          <a:xfrm>
            <a:off x="51361" y="1070314"/>
            <a:ext cx="2310839" cy="712652"/>
          </a:xfrm>
          <a:prstGeom prst="roundRect">
            <a:avLst>
              <a:gd fmla="val 7564" name="adj"/>
            </a:avLst>
          </a:prstGeom>
          <a:solidFill>
            <a:srgbClr val="44525B">
              <a:alpha val="4000"/>
            </a:srgbClr>
          </a:solidFill>
          <a:ln>
            <a:solidFill>
              <a:srgbClr val="44525A"/>
            </a:solidFill>
          </a:ln>
          <a:effectLst>
            <a:outerShdw algn="ctr" blurRad="63500" rotWithShape="0" sx="102000" sy="102000">
              <a:prstClr val="black">
                <a:alpha val="40000"/>
              </a:prstClr>
            </a:outerShdw>
          </a:effectLst>
          <a:scene3d>
            <a:camera prst="orthographicFront"/>
            <a:lightRig dir="t" rig="threeP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lvl="0"/>
            <a:r>
              <a:rPr baseline="0" cap="small" dirty="0" lang="en-US" sz="4000" u="none">
                <a:solidFill>
                  <a:srgbClr val="44525A"/>
                </a:solidFill>
                <a:latin charset="0" panose="020B0502040204020203" pitchFamily="34" typeface="Bahnschrift SemiBold"/>
              </a:rPr>
              <a:t>ECAP456</a:t>
            </a:r>
          </a:p>
        </p:txBody>
      </p:sp>
      <p:sp>
        <p:nvSpPr>
          <p:cNvPr id="80" name="TextBox 79">
            <a:extLst>
              <a:ext uri="{FF2B5EF4-FFF2-40B4-BE49-F238E27FC236}">
                <a16:creationId xmlns:a16="http://schemas.microsoft.com/office/drawing/2014/main" id="{D618CB88-4007-40A9-B126-AE157A2EA3D6}"/>
              </a:ext>
            </a:extLst>
          </p:cNvPr>
          <p:cNvSpPr txBox="1"/>
          <p:nvPr userDrawn="1"/>
        </p:nvSpPr>
        <p:spPr>
          <a:xfrm>
            <a:off x="6817722" y="5891971"/>
            <a:ext cx="2326278" cy="461665"/>
          </a:xfrm>
          <a:prstGeom prst="rect">
            <a:avLst/>
          </a:prstGeom>
          <a:noFill/>
        </p:spPr>
        <p:txBody>
          <a:bodyPr rtlCol="0" wrap="none">
            <a:spAutoFit/>
          </a:bodyPr>
          <a:lstStyle/>
          <a:p>
            <a:r>
              <a:rPr dirty="0" lang="en-US" sz="2400">
                <a:latin charset="0" panose="020B0502040204020203" pitchFamily="34" typeface="Bahnschrift SemiBold"/>
              </a:rPr>
              <a:t>Dr. Rajni Bhalla</a:t>
            </a:r>
          </a:p>
        </p:txBody>
      </p:sp>
      <p:sp>
        <p:nvSpPr>
          <p:cNvPr id="81" name="TextBox 80">
            <a:extLst>
              <a:ext uri="{FF2B5EF4-FFF2-40B4-BE49-F238E27FC236}">
                <a16:creationId xmlns:a16="http://schemas.microsoft.com/office/drawing/2014/main" id="{50CF1EBC-DA85-4E58-B8EC-90839B52F650}"/>
              </a:ext>
            </a:extLst>
          </p:cNvPr>
          <p:cNvSpPr txBox="1"/>
          <p:nvPr userDrawn="1"/>
        </p:nvSpPr>
        <p:spPr>
          <a:xfrm>
            <a:off x="6667805" y="6332318"/>
            <a:ext cx="2518638" cy="400110"/>
          </a:xfrm>
          <a:prstGeom prst="rect">
            <a:avLst/>
          </a:prstGeom>
          <a:noFill/>
        </p:spPr>
        <p:txBody>
          <a:bodyPr rtlCol="0" wrap="none">
            <a:spAutoFit/>
          </a:bodyPr>
          <a:lstStyle/>
          <a:p>
            <a:r>
              <a:rPr dirty="0" lang="en-US" sz="2000">
                <a:latin charset="0" panose="020B0502040204020203" pitchFamily="34" typeface="Bahnschrift SemiBold"/>
              </a:rPr>
              <a:t>Associate Professor</a:t>
            </a:r>
          </a:p>
        </p:txBody>
      </p:sp>
      <p:sp>
        <p:nvSpPr>
          <p:cNvPr id="99" name="Rectangle 98">
            <a:extLst>
              <a:ext uri="{FF2B5EF4-FFF2-40B4-BE49-F238E27FC236}">
                <a16:creationId xmlns:a16="http://schemas.microsoft.com/office/drawing/2014/main" id="{28AA0A77-4443-4511-81DB-6D4919D92960}"/>
              </a:ext>
            </a:extLst>
          </p:cNvPr>
          <p:cNvSpPr/>
          <p:nvPr userDrawn="1"/>
        </p:nvSpPr>
        <p:spPr>
          <a:xfrm>
            <a:off x="6734323" y="6696075"/>
            <a:ext cx="2409677" cy="50253"/>
          </a:xfrm>
          <a:prstGeom prst="rect">
            <a:avLst/>
          </a:prstGeom>
          <a:gradFill>
            <a:gsLst>
              <a:gs pos="100000">
                <a:schemeClr val="accent1">
                  <a:lumMod val="5000"/>
                  <a:lumOff val="95000"/>
                </a:schemeClr>
              </a:gs>
              <a:gs pos="0">
                <a:srgbClr val="072235"/>
              </a:gs>
            </a:gsLst>
            <a:path path="circle">
              <a:fillToRect b="50000" l="50000" r="50000" t="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sp>
        <p:nvSpPr>
          <p:cNvPr id="100" name="Rectangle 99">
            <a:extLst>
              <a:ext uri="{FF2B5EF4-FFF2-40B4-BE49-F238E27FC236}">
                <a16:creationId xmlns:a16="http://schemas.microsoft.com/office/drawing/2014/main" id="{EA4B1C0C-45EB-4524-B766-E8F5A3D56091}"/>
              </a:ext>
            </a:extLst>
          </p:cNvPr>
          <p:cNvSpPr/>
          <p:nvPr userDrawn="1"/>
        </p:nvSpPr>
        <p:spPr>
          <a:xfrm>
            <a:off x="6734323" y="6353636"/>
            <a:ext cx="2409677" cy="50253"/>
          </a:xfrm>
          <a:prstGeom prst="rect">
            <a:avLst/>
          </a:prstGeom>
          <a:gradFill>
            <a:gsLst>
              <a:gs pos="100000">
                <a:schemeClr val="accent1">
                  <a:lumMod val="5000"/>
                  <a:lumOff val="95000"/>
                </a:schemeClr>
              </a:gs>
              <a:gs pos="0">
                <a:srgbClr val="072235"/>
              </a:gs>
            </a:gsLst>
            <a:path path="circle">
              <a:fillToRect b="50000" l="50000" r="50000" t="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spTree>
    <p:extLst>
      <p:ext uri="{BB962C8B-B14F-4D97-AF65-F5344CB8AC3E}">
        <p14:creationId xmlns:p14="http://schemas.microsoft.com/office/powerpoint/2010/main" val="2593747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3A4C81D-18A7-452F-9BBC-C8DF7C8B815D}"/>
              </a:ext>
            </a:extLst>
          </p:cNvPr>
          <p:cNvSpPr/>
          <p:nvPr userDrawn="1"/>
        </p:nvSpPr>
        <p:spPr>
          <a:xfrm>
            <a:off x="0" y="0"/>
            <a:ext cx="9144000" cy="1959429"/>
          </a:xfrm>
          <a:prstGeom prst="rect">
            <a:avLst/>
          </a:prstGeom>
          <a:gradFill flip="none" rotWithShape="1">
            <a:gsLst>
              <a:gs pos="69000">
                <a:srgbClr val="818A8F"/>
              </a:gs>
              <a:gs pos="0">
                <a:srgbClr val="44525A"/>
              </a:gs>
              <a:gs pos="100000">
                <a:srgbClr val="F4F4F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p:cNvSpPr>
            <a:spLocks noGrp="1"/>
          </p:cNvSpPr>
          <p:nvPr>
            <p:ph idx="1" hasCustomPrompt="1"/>
          </p:nvPr>
        </p:nvSpPr>
        <p:spPr>
          <a:xfrm>
            <a:off x="921639" y="2700396"/>
            <a:ext cx="7525999" cy="3698763"/>
          </a:xfrm>
        </p:spPr>
        <p:txBody>
          <a:bodyPr/>
          <a:lstStyle>
            <a:lvl1pPr>
              <a:lnSpc>
                <a:spcPct val="150000"/>
              </a:lnSpc>
              <a:defRPr sz="2600">
                <a:latin typeface="Bahnschrift" panose="020B0502040204020203" pitchFamily="34" charset="0"/>
              </a:defRPr>
            </a:lvl1pPr>
            <a:lvl2pPr>
              <a:lnSpc>
                <a:spcPct val="150000"/>
              </a:lnSpc>
              <a:defRPr>
                <a:latin typeface="Bahnschrift" panose="020B0502040204020203" pitchFamily="34" charset="0"/>
              </a:defRPr>
            </a:lvl2pPr>
            <a:lvl3pPr>
              <a:lnSpc>
                <a:spcPct val="150000"/>
              </a:lnSpc>
              <a:defRPr>
                <a:latin typeface="Bahnschrift" panose="020B0502040204020203" pitchFamily="34" charset="0"/>
              </a:defRPr>
            </a:lvl3pPr>
            <a:lvl4pPr>
              <a:lnSpc>
                <a:spcPct val="150000"/>
              </a:lnSpc>
              <a:defRPr>
                <a:latin typeface="Bahnschrift" panose="020B0502040204020203" pitchFamily="34" charset="0"/>
              </a:defRPr>
            </a:lvl4pPr>
            <a:lvl5pPr>
              <a:lnSpc>
                <a:spcPct val="150000"/>
              </a:lnSpc>
              <a:defRPr>
                <a:latin typeface="Bahnschrift" panose="020B0502040204020203" pitchFamily="34" charset="0"/>
              </a:defRPr>
            </a:lvl5pPr>
          </a:lstStyle>
          <a:p>
            <a:pPr lvl="0"/>
            <a:r>
              <a:rPr lang="en-US" dirty="0"/>
              <a:t>Outcome 1</a:t>
            </a:r>
          </a:p>
          <a:p>
            <a:pPr lvl="0"/>
            <a:r>
              <a:rPr lang="en-US" dirty="0"/>
              <a:t>Outcome 2</a:t>
            </a:r>
          </a:p>
          <a:p>
            <a:pPr lvl="0"/>
            <a:r>
              <a:rPr lang="en-US" dirty="0"/>
              <a:t>Outcome 3</a:t>
            </a:r>
          </a:p>
        </p:txBody>
      </p:sp>
      <p:sp>
        <p:nvSpPr>
          <p:cNvPr id="10" name="TextBox 9">
            <a:extLst>
              <a:ext uri="{FF2B5EF4-FFF2-40B4-BE49-F238E27FC236}">
                <a16:creationId xmlns:a16="http://schemas.microsoft.com/office/drawing/2014/main" id="{66F90CB2-A495-4AF3-BC7C-1B34E1164439}"/>
              </a:ext>
            </a:extLst>
          </p:cNvPr>
          <p:cNvSpPr txBox="1"/>
          <p:nvPr userDrawn="1"/>
        </p:nvSpPr>
        <p:spPr>
          <a:xfrm>
            <a:off x="628650" y="235182"/>
            <a:ext cx="3429000" cy="1446550"/>
          </a:xfrm>
          <a:prstGeom prst="rect">
            <a:avLst/>
          </a:prstGeom>
          <a:noFill/>
        </p:spPr>
        <p:txBody>
          <a:bodyPr wrap="square" rtlCol="0">
            <a:spAutoFit/>
          </a:bodyPr>
          <a:lstStyle/>
          <a:p>
            <a:pPr marL="0" algn="l" defTabSz="457200" rtl="0" eaLnBrk="1" latinLnBrk="0" hangingPunct="1">
              <a:lnSpc>
                <a:spcPct val="100000"/>
              </a:lnSpc>
              <a:spcBef>
                <a:spcPct val="0"/>
              </a:spcBef>
              <a:buNone/>
            </a:pPr>
            <a:r>
              <a:rPr lang="en-US" sz="4400" kern="1200" dirty="0">
                <a:solidFill>
                  <a:schemeClr val="bg1"/>
                </a:solidFill>
                <a:latin typeface="Bahnschrift SemiBold" panose="020B0502040204020203" pitchFamily="34" charset="0"/>
                <a:ea typeface="+mn-ea"/>
                <a:cs typeface="+mn-cs"/>
              </a:rPr>
              <a:t>Learning Outcomes</a:t>
            </a:r>
          </a:p>
        </p:txBody>
      </p:sp>
      <p:pic>
        <p:nvPicPr>
          <p:cNvPr id="12" name="Picture 11">
            <a:extLst>
              <a:ext uri="{FF2B5EF4-FFF2-40B4-BE49-F238E27FC236}">
                <a16:creationId xmlns:a16="http://schemas.microsoft.com/office/drawing/2014/main" id="{70BD9AB8-BE8B-4AD4-8989-7D5BB1CBD5C5}"/>
              </a:ext>
            </a:extLst>
          </p:cNvPr>
          <p:cNvPicPr>
            <a:picLocks noChangeAspect="1"/>
          </p:cNvPicPr>
          <p:nvPr userDrawn="1"/>
        </p:nvPicPr>
        <p:blipFill>
          <a:blip r:embed="rId2">
            <a:extLst>
              <a:ext uri="{BEBA8EAE-BF5A-486C-A8C5-ECC9F3942E4B}">
                <a14:imgProps xmlns:a14="http://schemas.microsoft.com/office/drawing/2010/main">
                  <a14:imgLayer r:embed="rId3">
                    <a14:imgEffect>
                      <a14:backgroundRemoval t="6102" b="98622" l="9753" r="89973">
                        <a14:foregroundMark x1="62637" y1="39764" x2="62637" y2="39764"/>
                        <a14:foregroundMark x1="40797" y1="53346" x2="40797" y2="53346"/>
                        <a14:foregroundMark x1="27198" y1="59055" x2="27198" y2="59055"/>
                        <a14:foregroundMark x1="25687" y1="41929" x2="25687" y2="41929"/>
                        <a14:foregroundMark x1="28434" y1="22835" x2="28434" y2="22835"/>
                        <a14:foregroundMark x1="37225" y1="10433" x2="37225" y2="10433"/>
                        <a14:foregroundMark x1="49863" y1="6496" x2="49863" y2="6496"/>
                        <a14:foregroundMark x1="61538" y1="13583" x2="61538" y2="13583"/>
                        <a14:foregroundMark x1="71016" y1="24803" x2="71016" y2="24803"/>
                        <a14:foregroundMark x1="73626" y1="40945" x2="73626" y2="40945"/>
                        <a14:foregroundMark x1="72115" y1="60039" x2="72115" y2="60039"/>
                        <a14:foregroundMark x1="55345" y1="90060" x2="55907" y2="90157"/>
                        <a14:foregroundMark x1="48764" y1="98622" x2="50275" y2="97835"/>
                        <a14:foregroundMark x1="53709" y1="89764" x2="53709" y2="89764"/>
                        <a14:foregroundMark x1="53434" y1="90354" x2="51511" y2="89370"/>
                        <a14:foregroundMark x1="44780" y1="88189" x2="51236" y2="89567"/>
                        <a14:backgroundMark x1="55769" y1="85433" x2="49950" y2="86267"/>
                        <a14:backgroundMark x1="52194" y1="91242" x2="50589" y2="90886"/>
                        <a14:backgroundMark x1="56181" y1="92126" x2="53895" y2="91619"/>
                        <a14:backgroundMark x1="55495" y1="86024" x2="54258" y2="85827"/>
                        <a14:backgroundMark x1="54396" y1="86024" x2="55632" y2="86614"/>
                        <a14:backgroundMark x1="49176" y1="96654" x2="47940" y2="95079"/>
                      </a14:backgroundRemoval>
                    </a14:imgEffect>
                  </a14:imgLayer>
                </a14:imgProps>
              </a:ext>
            </a:extLst>
          </a:blip>
          <a:stretch>
            <a:fillRect/>
          </a:stretch>
        </p:blipFill>
        <p:spPr>
          <a:xfrm rot="19619398">
            <a:off x="7045240" y="145893"/>
            <a:ext cx="2389846" cy="1667640"/>
          </a:xfrm>
          <a:prstGeom prst="rect">
            <a:avLst/>
          </a:prstGeom>
        </p:spPr>
      </p:pic>
      <p:sp>
        <p:nvSpPr>
          <p:cNvPr id="2" name="Rectangle 1">
            <a:extLst>
              <a:ext uri="{FF2B5EF4-FFF2-40B4-BE49-F238E27FC236}">
                <a16:creationId xmlns:a16="http://schemas.microsoft.com/office/drawing/2014/main" id="{0FCCDEB3-12E7-45AF-A8F2-BC0F9E2254EE}"/>
              </a:ext>
            </a:extLst>
          </p:cNvPr>
          <p:cNvSpPr/>
          <p:nvPr userDrawn="1"/>
        </p:nvSpPr>
        <p:spPr>
          <a:xfrm>
            <a:off x="455696" y="1959429"/>
            <a:ext cx="7915742" cy="740967"/>
          </a:xfrm>
          <a:prstGeom prst="rect">
            <a:avLst/>
          </a:prstGeom>
        </p:spPr>
        <p:txBody>
          <a:bodyPr vert="horz" lIns="91440" tIns="45720" rIns="91440" bIns="45720" rtlCol="0">
            <a:normAutofit/>
          </a:bodyPr>
          <a:lstStyle/>
          <a:p>
            <a:pPr marL="0" lvl="0" indent="0" defTabSz="914400">
              <a:lnSpc>
                <a:spcPct val="150000"/>
              </a:lnSpc>
              <a:spcBef>
                <a:spcPts val="1000"/>
              </a:spcBef>
              <a:buFont typeface="Arial" panose="020B0604020202020204" pitchFamily="34" charset="0"/>
              <a:buNone/>
            </a:pPr>
            <a:r>
              <a:rPr lang="en-US" sz="2800" dirty="0">
                <a:solidFill>
                  <a:schemeClr val="tx1"/>
                </a:solidFill>
                <a:latin typeface="Bahnschrift" panose="020B0502040204020203" pitchFamily="34" charset="0"/>
              </a:rPr>
              <a:t>After this lecture, you will be able to</a:t>
            </a:r>
          </a:p>
        </p:txBody>
      </p:sp>
    </p:spTree>
    <p:extLst>
      <p:ext uri="{BB962C8B-B14F-4D97-AF65-F5344CB8AC3E}">
        <p14:creationId xmlns:p14="http://schemas.microsoft.com/office/powerpoint/2010/main" val="2209906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3A4C81D-18A7-452F-9BBC-C8DF7C8B815D}"/>
              </a:ext>
            </a:extLst>
          </p:cNvPr>
          <p:cNvSpPr/>
          <p:nvPr userDrawn="1"/>
        </p:nvSpPr>
        <p:spPr>
          <a:xfrm>
            <a:off x="0" y="0"/>
            <a:ext cx="9144000" cy="1325563"/>
          </a:xfrm>
          <a:prstGeom prst="rect">
            <a:avLst/>
          </a:prstGeom>
          <a:solidFill>
            <a:srgbClr val="4452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p:cNvSpPr>
            <a:spLocks noGrp="1"/>
          </p:cNvSpPr>
          <p:nvPr>
            <p:ph idx="1"/>
          </p:nvPr>
        </p:nvSpPr>
        <p:spPr>
          <a:xfrm>
            <a:off x="338362" y="1628145"/>
            <a:ext cx="8386537" cy="5004884"/>
          </a:xfrm>
        </p:spPr>
        <p:txBody>
          <a:bodyPr/>
          <a:lstStyle>
            <a:lvl1pPr>
              <a:lnSpc>
                <a:spcPct val="150000"/>
              </a:lnSpc>
              <a:defRPr>
                <a:latin typeface="Bahnschrift" panose="020B0502040204020203" pitchFamily="34" charset="0"/>
              </a:defRPr>
            </a:lvl1pPr>
            <a:lvl2pPr>
              <a:lnSpc>
                <a:spcPct val="150000"/>
              </a:lnSpc>
              <a:defRPr>
                <a:latin typeface="Bahnschrift" panose="020B0502040204020203" pitchFamily="34" charset="0"/>
              </a:defRPr>
            </a:lvl2pPr>
            <a:lvl3pPr>
              <a:lnSpc>
                <a:spcPct val="150000"/>
              </a:lnSpc>
              <a:defRPr>
                <a:latin typeface="Bahnschrift" panose="020B0502040204020203" pitchFamily="34" charset="0"/>
              </a:defRPr>
            </a:lvl3pPr>
            <a:lvl4pPr>
              <a:lnSpc>
                <a:spcPct val="150000"/>
              </a:lnSpc>
              <a:defRPr>
                <a:latin typeface="Bahnschrift" panose="020B0502040204020203" pitchFamily="34" charset="0"/>
              </a:defRPr>
            </a:lvl4pPr>
            <a:lvl5pPr>
              <a:lnSpc>
                <a:spcPct val="150000"/>
              </a:lnSpc>
              <a:defRPr>
                <a:latin typeface="Bahnschrift" panose="020B050204020402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1">
            <a:extLst>
              <a:ext uri="{FF2B5EF4-FFF2-40B4-BE49-F238E27FC236}">
                <a16:creationId xmlns:a16="http://schemas.microsoft.com/office/drawing/2014/main" id="{D674DD10-9343-40FC-87DE-8A1F63FF11A0}"/>
              </a:ext>
            </a:extLst>
          </p:cNvPr>
          <p:cNvSpPr>
            <a:spLocks noGrp="1"/>
          </p:cNvSpPr>
          <p:nvPr>
            <p:ph type="title"/>
          </p:nvPr>
        </p:nvSpPr>
        <p:spPr>
          <a:xfrm>
            <a:off x="338362" y="0"/>
            <a:ext cx="8386537" cy="1325563"/>
          </a:xfrm>
        </p:spPr>
        <p:txBody>
          <a:bodyPr>
            <a:normAutofit/>
          </a:bodyPr>
          <a:lstStyle>
            <a:lvl1pPr marL="0" algn="l" defTabSz="457200" rtl="0" eaLnBrk="1" latinLnBrk="0" hangingPunct="1">
              <a:lnSpc>
                <a:spcPct val="100000"/>
              </a:lnSpc>
              <a:defRPr lang="en-US" sz="3600" kern="1200" dirty="0">
                <a:solidFill>
                  <a:schemeClr val="bg1"/>
                </a:solidFill>
                <a:latin typeface="Bahnschrift SemiBold" panose="020B0502040204020203" pitchFamily="34" charset="0"/>
                <a:ea typeface="+mn-ea"/>
                <a:cs typeface="+mn-cs"/>
              </a:defRPr>
            </a:lvl1pPr>
          </a:lstStyle>
          <a:p>
            <a:r>
              <a:rPr lang="en-US" dirty="0"/>
              <a:t>Click to edit Master title style</a:t>
            </a:r>
          </a:p>
        </p:txBody>
      </p:sp>
    </p:spTree>
    <p:extLst>
      <p:ext uri="{BB962C8B-B14F-4D97-AF65-F5344CB8AC3E}">
        <p14:creationId xmlns:p14="http://schemas.microsoft.com/office/powerpoint/2010/main" val="2192153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28650" y="8928101"/>
            <a:ext cx="2057400" cy="365125"/>
          </a:xfrm>
        </p:spPr>
        <p:txBody>
          <a:bodyPr/>
          <a:lstStyle/>
          <a:p>
            <a:fld id="{71BC5188-02C1-4612-A2C7-F501CF181F2E}" type="datetimeFigureOut">
              <a:rPr lang="en-US" smtClean="0"/>
              <a:t>9/3/2021</a:t>
            </a:fld>
            <a:endParaRPr lang="en-US"/>
          </a:p>
        </p:txBody>
      </p:sp>
      <p:sp>
        <p:nvSpPr>
          <p:cNvPr id="5" name="Footer Placeholder 4"/>
          <p:cNvSpPr>
            <a:spLocks noGrp="1"/>
          </p:cNvSpPr>
          <p:nvPr>
            <p:ph type="ftr" sz="quarter" idx="11"/>
          </p:nvPr>
        </p:nvSpPr>
        <p:spPr>
          <a:xfrm>
            <a:off x="3028950" y="8928101"/>
            <a:ext cx="3086100" cy="365125"/>
          </a:xfrm>
        </p:spPr>
        <p:txBody>
          <a:bodyPr/>
          <a:lstStyle/>
          <a:p>
            <a:endParaRPr lang="en-US"/>
          </a:p>
        </p:txBody>
      </p:sp>
      <p:sp>
        <p:nvSpPr>
          <p:cNvPr id="6" name="Slide Number Placeholder 5"/>
          <p:cNvSpPr>
            <a:spLocks noGrp="1"/>
          </p:cNvSpPr>
          <p:nvPr>
            <p:ph type="sldNum" sz="quarter" idx="12"/>
          </p:nvPr>
        </p:nvSpPr>
        <p:spPr>
          <a:xfrm>
            <a:off x="6457950" y="8928101"/>
            <a:ext cx="2057400" cy="365125"/>
          </a:xfrm>
        </p:spPr>
        <p:txBody>
          <a:bodyPr/>
          <a:lstStyle/>
          <a:p>
            <a:fld id="{0E4DDFBB-2C77-4C22-A6ED-B339E4E2C87F}" type="slidenum">
              <a:rPr lang="en-US" smtClean="0"/>
              <a:t>‹#›</a:t>
            </a:fld>
            <a:endParaRPr lang="en-US"/>
          </a:p>
        </p:txBody>
      </p:sp>
      <p:sp>
        <p:nvSpPr>
          <p:cNvPr id="19" name="Freeform: Shape 18">
            <a:extLst>
              <a:ext uri="{FF2B5EF4-FFF2-40B4-BE49-F238E27FC236}">
                <a16:creationId xmlns:a16="http://schemas.microsoft.com/office/drawing/2014/main" id="{89D0141E-891B-4C49-A1C4-D9497F151474}"/>
              </a:ext>
            </a:extLst>
          </p:cNvPr>
          <p:cNvSpPr/>
          <p:nvPr userDrawn="1"/>
        </p:nvSpPr>
        <p:spPr>
          <a:xfrm>
            <a:off x="1562553" y="2584505"/>
            <a:ext cx="6037944" cy="1756230"/>
          </a:xfrm>
          <a:custGeom>
            <a:avLst/>
            <a:gdLst>
              <a:gd name="connsiteX0" fmla="*/ 3018972 w 6037944"/>
              <a:gd name="connsiteY0" fmla="*/ 0 h 1451430"/>
              <a:gd name="connsiteX1" fmla="*/ 6037944 w 6037944"/>
              <a:gd name="connsiteY1" fmla="*/ 725715 h 1451430"/>
              <a:gd name="connsiteX2" fmla="*/ 3018972 w 6037944"/>
              <a:gd name="connsiteY2" fmla="*/ 1451430 h 1451430"/>
              <a:gd name="connsiteX3" fmla="*/ 0 w 6037944"/>
              <a:gd name="connsiteY3" fmla="*/ 725715 h 1451430"/>
              <a:gd name="connsiteX4" fmla="*/ 3018972 w 6037944"/>
              <a:gd name="connsiteY4" fmla="*/ 0 h 1451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37944" h="1451430">
                <a:moveTo>
                  <a:pt x="3018972" y="0"/>
                </a:moveTo>
                <a:cubicBezTo>
                  <a:pt x="4686304" y="0"/>
                  <a:pt x="6037944" y="324914"/>
                  <a:pt x="6037944" y="725715"/>
                </a:cubicBezTo>
                <a:cubicBezTo>
                  <a:pt x="6037944" y="1126516"/>
                  <a:pt x="4686304" y="1451430"/>
                  <a:pt x="3018972" y="1451430"/>
                </a:cubicBezTo>
                <a:cubicBezTo>
                  <a:pt x="1351640" y="1451430"/>
                  <a:pt x="0" y="1126516"/>
                  <a:pt x="0" y="725715"/>
                </a:cubicBezTo>
                <a:cubicBezTo>
                  <a:pt x="0" y="324914"/>
                  <a:pt x="1351640" y="0"/>
                  <a:pt x="3018972" y="0"/>
                </a:cubicBezTo>
                <a:close/>
              </a:path>
            </a:pathLst>
          </a:custGeom>
          <a:gradFill>
            <a:gsLst>
              <a:gs pos="54000">
                <a:schemeClr val="bg1"/>
              </a:gs>
              <a:gs pos="0">
                <a:srgbClr val="44525A"/>
              </a:gs>
              <a:gs pos="100000">
                <a:srgbClr val="44525A"/>
              </a:gs>
            </a:gsLst>
            <a:lin ang="5400000" scaled="1"/>
          </a:gradFill>
          <a:ln>
            <a:solidFill>
              <a:srgbClr val="81908F"/>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tIns="731520" rtlCol="0" anchor="ctr">
            <a:noAutofit/>
          </a:bodyPr>
          <a:lstStyle/>
          <a:p>
            <a:pPr lvl="0"/>
            <a:endParaRPr lang="en-US" sz="3600" dirty="0">
              <a:solidFill>
                <a:srgbClr val="4B8985"/>
              </a:solidFill>
              <a:latin typeface="Bahnschrift SemiBold" panose="020B0502040204020203" pitchFamily="34" charset="0"/>
            </a:endParaRPr>
          </a:p>
        </p:txBody>
      </p:sp>
      <p:sp>
        <p:nvSpPr>
          <p:cNvPr id="18" name="Freeform: Shape 17">
            <a:extLst>
              <a:ext uri="{FF2B5EF4-FFF2-40B4-BE49-F238E27FC236}">
                <a16:creationId xmlns:a16="http://schemas.microsoft.com/office/drawing/2014/main" id="{C8AD4718-0501-403B-AFBC-33331BEC043B}"/>
              </a:ext>
            </a:extLst>
          </p:cNvPr>
          <p:cNvSpPr/>
          <p:nvPr userDrawn="1"/>
        </p:nvSpPr>
        <p:spPr>
          <a:xfrm>
            <a:off x="1562553" y="1895077"/>
            <a:ext cx="6037944" cy="1146629"/>
          </a:xfrm>
          <a:custGeom>
            <a:avLst/>
            <a:gdLst>
              <a:gd name="connsiteX0" fmla="*/ 3018972 w 6037944"/>
              <a:gd name="connsiteY0" fmla="*/ 0 h 1146629"/>
              <a:gd name="connsiteX1" fmla="*/ 6037944 w 6037944"/>
              <a:gd name="connsiteY1" fmla="*/ 1146629 h 1146629"/>
              <a:gd name="connsiteX2" fmla="*/ 3018972 w 6037944"/>
              <a:gd name="connsiteY2" fmla="*/ 420914 h 1146629"/>
              <a:gd name="connsiteX3" fmla="*/ 0 w 6037944"/>
              <a:gd name="connsiteY3" fmla="*/ 1146629 h 1146629"/>
              <a:gd name="connsiteX4" fmla="*/ 3018972 w 6037944"/>
              <a:gd name="connsiteY4" fmla="*/ 0 h 1146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37944" h="1146629">
                <a:moveTo>
                  <a:pt x="3018972" y="0"/>
                </a:moveTo>
                <a:cubicBezTo>
                  <a:pt x="4686304" y="0"/>
                  <a:pt x="6037944" y="513363"/>
                  <a:pt x="6037944" y="1146629"/>
                </a:cubicBezTo>
                <a:cubicBezTo>
                  <a:pt x="6037944" y="745828"/>
                  <a:pt x="4686304" y="420914"/>
                  <a:pt x="3018972" y="420914"/>
                </a:cubicBezTo>
                <a:cubicBezTo>
                  <a:pt x="1351640" y="420914"/>
                  <a:pt x="0" y="745828"/>
                  <a:pt x="0" y="1146629"/>
                </a:cubicBezTo>
                <a:cubicBezTo>
                  <a:pt x="0" y="513363"/>
                  <a:pt x="1351640" y="0"/>
                  <a:pt x="3018972" y="0"/>
                </a:cubicBezTo>
                <a:close/>
              </a:path>
            </a:pathLst>
          </a:custGeom>
          <a:gradFill>
            <a:gsLst>
              <a:gs pos="0">
                <a:schemeClr val="bg1"/>
              </a:gs>
              <a:gs pos="74000">
                <a:srgbClr val="44525A"/>
              </a:gs>
              <a:gs pos="83000">
                <a:srgbClr val="44525A"/>
              </a:gs>
              <a:gs pos="100000">
                <a:srgbClr val="44525A"/>
              </a:gs>
            </a:gsLst>
            <a:lin ang="5400000" scaled="1"/>
          </a:gradFill>
          <a:ln>
            <a:solidFill>
              <a:srgbClr val="81908F"/>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tIns="731520" rtlCol="0" anchor="ctr">
            <a:noAutofit/>
          </a:bodyPr>
          <a:lstStyle/>
          <a:p>
            <a:pPr lvl="0"/>
            <a:endParaRPr lang="en-US" sz="3600" dirty="0">
              <a:solidFill>
                <a:srgbClr val="4B8985"/>
              </a:solidFill>
              <a:latin typeface="Bahnschrift SemiBold" panose="020B0502040204020203" pitchFamily="34" charset="0"/>
            </a:endParaRPr>
          </a:p>
        </p:txBody>
      </p:sp>
      <p:sp>
        <p:nvSpPr>
          <p:cNvPr id="17" name="Freeform: Shape 16">
            <a:extLst>
              <a:ext uri="{FF2B5EF4-FFF2-40B4-BE49-F238E27FC236}">
                <a16:creationId xmlns:a16="http://schemas.microsoft.com/office/drawing/2014/main" id="{38861B3F-8E45-4BA3-97F7-23CB90BE0433}"/>
              </a:ext>
            </a:extLst>
          </p:cNvPr>
          <p:cNvSpPr/>
          <p:nvPr userDrawn="1"/>
        </p:nvSpPr>
        <p:spPr>
          <a:xfrm>
            <a:off x="1543503" y="3816295"/>
            <a:ext cx="6037944" cy="1146629"/>
          </a:xfrm>
          <a:custGeom>
            <a:avLst/>
            <a:gdLst>
              <a:gd name="connsiteX0" fmla="*/ 0 w 6037944"/>
              <a:gd name="connsiteY0" fmla="*/ 0 h 1146629"/>
              <a:gd name="connsiteX1" fmla="*/ 3018972 w 6037944"/>
              <a:gd name="connsiteY1" fmla="*/ 725715 h 1146629"/>
              <a:gd name="connsiteX2" fmla="*/ 6037944 w 6037944"/>
              <a:gd name="connsiteY2" fmla="*/ 0 h 1146629"/>
              <a:gd name="connsiteX3" fmla="*/ 3018972 w 6037944"/>
              <a:gd name="connsiteY3" fmla="*/ 1146629 h 1146629"/>
              <a:gd name="connsiteX4" fmla="*/ 0 w 6037944"/>
              <a:gd name="connsiteY4" fmla="*/ 0 h 1146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37944" h="1146629">
                <a:moveTo>
                  <a:pt x="0" y="0"/>
                </a:moveTo>
                <a:cubicBezTo>
                  <a:pt x="0" y="400801"/>
                  <a:pt x="1351640" y="725715"/>
                  <a:pt x="3018972" y="725715"/>
                </a:cubicBezTo>
                <a:cubicBezTo>
                  <a:pt x="4686304" y="725715"/>
                  <a:pt x="6037944" y="400801"/>
                  <a:pt x="6037944" y="0"/>
                </a:cubicBezTo>
                <a:cubicBezTo>
                  <a:pt x="6037944" y="633266"/>
                  <a:pt x="4686304" y="1146629"/>
                  <a:pt x="3018972" y="1146629"/>
                </a:cubicBezTo>
                <a:cubicBezTo>
                  <a:pt x="1351640" y="1146629"/>
                  <a:pt x="0" y="633266"/>
                  <a:pt x="0" y="0"/>
                </a:cubicBezTo>
                <a:close/>
              </a:path>
            </a:pathLst>
          </a:custGeom>
          <a:gradFill>
            <a:gsLst>
              <a:gs pos="0">
                <a:schemeClr val="bg1"/>
              </a:gs>
              <a:gs pos="74000">
                <a:srgbClr val="44525A"/>
              </a:gs>
              <a:gs pos="83000">
                <a:srgbClr val="44525A"/>
              </a:gs>
              <a:gs pos="100000">
                <a:srgbClr val="44525A"/>
              </a:gs>
            </a:gsLst>
            <a:lin ang="5400000" scaled="1"/>
          </a:gradFill>
          <a:ln>
            <a:solidFill>
              <a:srgbClr val="81908F"/>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tIns="731520" rtlCol="0" anchor="ctr">
            <a:noAutofit/>
          </a:bodyPr>
          <a:lstStyle/>
          <a:p>
            <a:pPr lvl="0"/>
            <a:endParaRPr lang="en-US" sz="3600" dirty="0">
              <a:solidFill>
                <a:srgbClr val="4B8985"/>
              </a:solidFill>
              <a:latin typeface="Bahnschrift SemiBold" panose="020B0502040204020203" pitchFamily="34" charset="0"/>
            </a:endParaRPr>
          </a:p>
        </p:txBody>
      </p:sp>
      <p:sp>
        <p:nvSpPr>
          <p:cNvPr id="22" name="TextBox 21">
            <a:extLst>
              <a:ext uri="{FF2B5EF4-FFF2-40B4-BE49-F238E27FC236}">
                <a16:creationId xmlns:a16="http://schemas.microsoft.com/office/drawing/2014/main" id="{513C37F6-66F0-4125-B2E0-B93F212BA9B3}"/>
              </a:ext>
            </a:extLst>
          </p:cNvPr>
          <p:cNvSpPr txBox="1"/>
          <p:nvPr userDrawn="1"/>
        </p:nvSpPr>
        <p:spPr>
          <a:xfrm>
            <a:off x="2147298" y="3044280"/>
            <a:ext cx="4849404" cy="769441"/>
          </a:xfrm>
          <a:prstGeom prst="rect">
            <a:avLst/>
          </a:prstGeom>
          <a:noFill/>
        </p:spPr>
        <p:txBody>
          <a:bodyPr wrap="none" rtlCol="0">
            <a:spAutoFit/>
          </a:bodyPr>
          <a:lstStyle/>
          <a:p>
            <a:r>
              <a:rPr lang="en-US" sz="4400" dirty="0">
                <a:solidFill>
                  <a:srgbClr val="453A38"/>
                </a:solidFill>
                <a:latin typeface="Bahnschrift SemiBold" panose="020B0502040204020203" pitchFamily="34" charset="0"/>
              </a:rPr>
              <a:t>That’s all for now…</a:t>
            </a:r>
          </a:p>
        </p:txBody>
      </p:sp>
    </p:spTree>
    <p:extLst>
      <p:ext uri="{BB962C8B-B14F-4D97-AF65-F5344CB8AC3E}">
        <p14:creationId xmlns:p14="http://schemas.microsoft.com/office/powerpoint/2010/main" val="780960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BC5188-02C1-4612-A2C7-F501CF181F2E}" type="datetimeFigureOut">
              <a:rPr lang="en-US" smtClean="0"/>
              <a:t>9/3/2021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1078509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1BC5188-02C1-4612-A2C7-F501CF181F2E}" type="datetimeFigureOut">
              <a:rPr lang="en-US" smtClean="0"/>
              <a:t>9/3/2021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26530039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1BC5188-02C1-4612-A2C7-F501CF181F2E}" type="datetimeFigureOut">
              <a:rPr lang="en-US" smtClean="0"/>
              <a:t>9/3/2021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236719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1BC5188-02C1-4612-A2C7-F501CF181F2E}" type="datetimeFigureOut">
              <a:rPr lang="en-US" smtClean="0"/>
              <a:t>9/3/2021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776215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BC5188-02C1-4612-A2C7-F501CF181F2E}" type="datetimeFigureOut">
              <a:rPr lang="en-US" smtClean="0"/>
              <a:t>9/3/2021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3028252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BC5188-02C1-4612-A2C7-F501CF181F2E}" type="datetimeFigureOut">
              <a:rPr lang="en-US" smtClean="0"/>
              <a:t>9/3/2021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2474809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BC5188-02C1-4612-A2C7-F501CF181F2E}" type="datetimeFigureOut">
              <a:rPr lang="en-US" smtClean="0"/>
              <a:t>9/3/2021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33838827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BC5188-02C1-4612-A2C7-F501CF181F2E}" type="datetimeFigureOut">
              <a:rPr lang="en-US" smtClean="0"/>
              <a:t>9/3/2021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33442609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BC5188-02C1-4612-A2C7-F501CF181F2E}" type="datetimeFigureOut">
              <a:rPr lang="en-US" smtClean="0"/>
              <a:t>9/3/2021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DDFBB-2C77-4C22-A6ED-B339E4E2C87F}" type="slidenum">
              <a:rPr lang="en-US" smtClean="0"/>
              <a:t>‹#›</a:t>
            </a:fld>
            <a:endParaRPr lang="en-US"/>
          </a:p>
        </p:txBody>
      </p:sp>
    </p:spTree>
    <p:extLst>
      <p:ext uri="{BB962C8B-B14F-4D97-AF65-F5344CB8AC3E}">
        <p14:creationId xmlns:p14="http://schemas.microsoft.com/office/powerpoint/2010/main" val="3230408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72235">
            <a:alpha val="11000"/>
          </a:srgb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BC5188-02C1-4612-A2C7-F501CF181F2E}" type="datetimeFigureOut">
              <a:rPr lang="en-US" smtClean="0"/>
              <a:t>9/3/2021</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4DDFBB-2C77-4C22-A6ED-B339E4E2C87F}" type="slidenum">
              <a:rPr lang="en-US" smtClean="0"/>
              <a:t>‹#›</a:t>
            </a:fld>
            <a:endParaRPr lang="en-US"/>
          </a:p>
        </p:txBody>
      </p:sp>
    </p:spTree>
    <p:extLst>
      <p:ext uri="{BB962C8B-B14F-4D97-AF65-F5344CB8AC3E}">
        <p14:creationId xmlns:p14="http://schemas.microsoft.com/office/powerpoint/2010/main" val="2771957338"/>
      </p:ext>
    </p:extLst>
  </p:cSld>
  <p:clrMap bg1="lt1" tx1="dk1" bg2="lt2" tx2="dk2" accent1="accent1" accent2="accent2" accent3="accent3" accent4="accent4" accent5="accent5" accent6="accent6" hlink="hlink" folHlink="folHlink"/>
  <p:sldLayoutIdLst>
    <p:sldLayoutId id="2147483675" r:id="rId1"/>
    <p:sldLayoutId id="2147483673" r:id="rId2"/>
    <p:sldLayoutId id="2147483674"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arget="../media/image8.jpeg" Type="http://schemas.openxmlformats.org/officeDocument/2006/relationships/image"/><Relationship Id="rId1" Target="../slideLayouts/slideLayout3.xml" Type="http://schemas.openxmlformats.org/officeDocument/2006/relationships/slideLayout"/></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7609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D1D9C0B-6FD1-4FB9-A1DD-A4626C9E7E32}"/>
              </a:ext>
            </a:extLst>
          </p:cNvPr>
          <p:cNvSpPr>
            <a:spLocks noGrp="1"/>
          </p:cNvSpPr>
          <p:nvPr>
            <p:ph idx="1"/>
          </p:nvPr>
        </p:nvSpPr>
        <p:spPr>
          <a:xfrm>
            <a:off x="989350" y="2818150"/>
            <a:ext cx="7830800" cy="3773150"/>
          </a:xfrm>
        </p:spPr>
        <p:txBody>
          <a:bodyPr/>
          <a:lstStyle/>
          <a:p>
            <a:pPr algn="just"/>
            <a:r>
              <a:rPr lang="en-US" dirty="0"/>
              <a:t>Learn basics of Hadoop scheduler</a:t>
            </a:r>
          </a:p>
          <a:p>
            <a:pPr algn="just"/>
            <a:r>
              <a:rPr lang="en-US" b="0" i="0" dirty="0">
                <a:effectLst/>
              </a:rPr>
              <a:t>Learn different types of Hadoop Scheduler</a:t>
            </a:r>
          </a:p>
          <a:p>
            <a:pPr algn="just"/>
            <a:r>
              <a:rPr lang="en-US" dirty="0"/>
              <a:t>Learn failure scenario that can occur in Hadoop</a:t>
            </a:r>
          </a:p>
          <a:p>
            <a:pPr algn="just"/>
            <a:r>
              <a:rPr lang="en-US" dirty="0"/>
              <a:t>Learn how to handle failure in </a:t>
            </a:r>
            <a:r>
              <a:rPr lang="en-US" dirty="0" err="1"/>
              <a:t>mapreduce</a:t>
            </a:r>
            <a:endParaRPr lang="en-US" dirty="0"/>
          </a:p>
        </p:txBody>
      </p:sp>
    </p:spTree>
    <p:extLst>
      <p:ext uri="{BB962C8B-B14F-4D97-AF65-F5344CB8AC3E}">
        <p14:creationId xmlns:p14="http://schemas.microsoft.com/office/powerpoint/2010/main" val="2497399800"/>
      </p:ext>
    </p:extLst>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FA0A5EA-CC8E-4F10-9A1F-766C7C2608B0}"/>
              </a:ext>
            </a:extLst>
          </p:cNvPr>
          <p:cNvPicPr>
            <a:picLocks noChangeAspect="1" noGrp="1"/>
          </p:cNvPicPr>
          <p:nvPr>
            <p:ph idx="1"/>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b="94" r="15"/>
          <a:stretch/>
        </p:blipFill>
        <p:spPr>
          <a:xfrm>
            <a:off x="457200" y="2732568"/>
            <a:ext cx="8436162" cy="2583711"/>
          </a:xfrm>
          <a:prstGeom prst="rect">
            <a:avLst/>
          </a:prstGeom>
        </p:spPr>
      </p:pic>
      <p:sp>
        <p:nvSpPr>
          <p:cNvPr id="3" name="Title 2">
            <a:extLst>
              <a:ext uri="{FF2B5EF4-FFF2-40B4-BE49-F238E27FC236}">
                <a16:creationId xmlns:a16="http://schemas.microsoft.com/office/drawing/2014/main" id="{9C27E1D6-E295-4037-ADAB-F9B050F2C519}"/>
              </a:ext>
            </a:extLst>
          </p:cNvPr>
          <p:cNvSpPr>
            <a:spLocks noGrp="1"/>
          </p:cNvSpPr>
          <p:nvPr>
            <p:ph type="title"/>
          </p:nvPr>
        </p:nvSpPr>
        <p:spPr>
          <a:xfrm>
            <a:off x="457200" y="0"/>
            <a:ext cx="8401050" cy="1314450"/>
          </a:xfrm>
        </p:spPr>
        <p:txBody>
          <a:bodyPr>
            <a:noAutofit/>
          </a:bodyPr>
          <a:lstStyle/>
          <a:p>
            <a:r>
              <a:rPr b="0" dirty="0" i="0" lang="en-IN">
                <a:effectLst/>
              </a:rPr>
              <a:t>Introduction to Hadoop Scheduler</a:t>
            </a:r>
            <a:endParaRPr dirty="0" lang="en-US"/>
          </a:p>
        </p:txBody>
      </p:sp>
    </p:spTree>
    <p:extLst>
      <p:ext uri="{BB962C8B-B14F-4D97-AF65-F5344CB8AC3E}">
        <p14:creationId xmlns:p14="http://schemas.microsoft.com/office/powerpoint/2010/main" val="4572219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AF01AE-A3DE-4241-B23C-7F6C80461558}"/>
              </a:ext>
            </a:extLst>
          </p:cNvPr>
          <p:cNvSpPr>
            <a:spLocks noGrp="1"/>
          </p:cNvSpPr>
          <p:nvPr>
            <p:ph type="title"/>
          </p:nvPr>
        </p:nvSpPr>
        <p:spPr/>
        <p:txBody>
          <a:bodyPr vert="horz" lIns="91440" tIns="45720" rIns="91440" bIns="45720" rtlCol="0" anchor="ctr">
            <a:noAutofit/>
          </a:bodyPr>
          <a:lstStyle/>
          <a:p>
            <a:r>
              <a:rPr lang="en-IN" dirty="0"/>
              <a:t>Introduction to Hadoop Scheduler</a:t>
            </a:r>
          </a:p>
        </p:txBody>
      </p:sp>
      <p:graphicFrame>
        <p:nvGraphicFramePr>
          <p:cNvPr id="7" name="Content Placeholder 6">
            <a:extLst>
              <a:ext uri="{FF2B5EF4-FFF2-40B4-BE49-F238E27FC236}">
                <a16:creationId xmlns:a16="http://schemas.microsoft.com/office/drawing/2014/main" id="{2D995DA8-F579-49FD-AE48-6A5E8DAFAA05}"/>
              </a:ext>
            </a:extLst>
          </p:cNvPr>
          <p:cNvGraphicFramePr>
            <a:graphicFrameLocks noGrp="1"/>
          </p:cNvGraphicFramePr>
          <p:nvPr>
            <p:ph idx="1"/>
          </p:nvPr>
        </p:nvGraphicFramePr>
        <p:xfrm>
          <a:off x="595424" y="2650817"/>
          <a:ext cx="8044416" cy="38468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a:extLst>
              <a:ext uri="{FF2B5EF4-FFF2-40B4-BE49-F238E27FC236}">
                <a16:creationId xmlns:a16="http://schemas.microsoft.com/office/drawing/2014/main" id="{609AFECB-8E84-41C8-AB36-D7C591061278}"/>
              </a:ext>
            </a:extLst>
          </p:cNvPr>
          <p:cNvSpPr txBox="1"/>
          <p:nvPr/>
        </p:nvSpPr>
        <p:spPr>
          <a:xfrm>
            <a:off x="419101" y="1594884"/>
            <a:ext cx="8129476" cy="523220"/>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Hadoop MapReduce is responsible for :</a:t>
            </a:r>
            <a:endParaRPr kumimoji="0" lang="en-IN" sz="28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Tree>
    <p:extLst>
      <p:ext uri="{BB962C8B-B14F-4D97-AF65-F5344CB8AC3E}">
        <p14:creationId xmlns:p14="http://schemas.microsoft.com/office/powerpoint/2010/main" val="36832676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2235">
            <a:alpha val="0"/>
          </a:srgb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B9C33B5-7628-438F-A505-1DE6A66197D6}"/>
              </a:ext>
            </a:extLst>
          </p:cNvPr>
          <p:cNvSpPr>
            <a:spLocks noGrp="1"/>
          </p:cNvSpPr>
          <p:nvPr>
            <p:ph type="title"/>
          </p:nvPr>
        </p:nvSpPr>
        <p:spPr/>
        <p:txBody>
          <a:bodyPr vert="horz" lIns="91440" tIns="45720" rIns="91440" bIns="45720" rtlCol="0" anchor="ctr">
            <a:noAutofit/>
          </a:bodyPr>
          <a:lstStyle/>
          <a:p>
            <a:r>
              <a:rPr lang="en-IN" dirty="0"/>
              <a:t>Introduction to Hadoop Scheduler</a:t>
            </a:r>
          </a:p>
        </p:txBody>
      </p:sp>
      <p:pic>
        <p:nvPicPr>
          <p:cNvPr id="7" name="Content Placeholder 6">
            <a:extLst>
              <a:ext uri="{FF2B5EF4-FFF2-40B4-BE49-F238E27FC236}">
                <a16:creationId xmlns:a16="http://schemas.microsoft.com/office/drawing/2014/main" id="{234E9639-CB0F-41AB-B6F8-6B0433A2F154}"/>
              </a:ext>
            </a:extLst>
          </p:cNvPr>
          <p:cNvPicPr>
            <a:picLocks noGrp="1" noChangeAspect="1"/>
          </p:cNvPicPr>
          <p:nvPr>
            <p:ph idx="1"/>
          </p:nvPr>
        </p:nvPicPr>
        <p:blipFill>
          <a:blip r:embed="rId2"/>
          <a:stretch>
            <a:fillRect/>
          </a:stretch>
        </p:blipFill>
        <p:spPr>
          <a:xfrm>
            <a:off x="488952" y="1628775"/>
            <a:ext cx="8085134" cy="5003800"/>
          </a:xfrm>
          <a:prstGeom prst="rect">
            <a:avLst/>
          </a:prstGeom>
        </p:spPr>
      </p:pic>
    </p:spTree>
    <p:extLst>
      <p:ext uri="{BB962C8B-B14F-4D97-AF65-F5344CB8AC3E}">
        <p14:creationId xmlns:p14="http://schemas.microsoft.com/office/powerpoint/2010/main" val="2074608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82AC71-A54B-4D10-8E4E-DB88563D3D72}"/>
              </a:ext>
            </a:extLst>
          </p:cNvPr>
          <p:cNvSpPr>
            <a:spLocks noGrp="1"/>
          </p:cNvSpPr>
          <p:nvPr>
            <p:ph type="title"/>
          </p:nvPr>
        </p:nvSpPr>
        <p:spPr/>
        <p:txBody>
          <a:bodyPr vert="horz" lIns="91440" tIns="45720" rIns="91440" bIns="45720" rtlCol="0" anchor="ctr">
            <a:noAutofit/>
          </a:bodyPr>
          <a:lstStyle/>
          <a:p>
            <a:br>
              <a:rPr lang="en-IN" dirty="0"/>
            </a:br>
            <a:r>
              <a:rPr lang="en-IN" dirty="0"/>
              <a:t>Introduction to Hadoop Scheduler</a:t>
            </a:r>
            <a:br>
              <a:rPr lang="en-IN" dirty="0"/>
            </a:br>
            <a:endParaRPr lang="en-IN" dirty="0"/>
          </a:p>
        </p:txBody>
      </p:sp>
      <p:graphicFrame>
        <p:nvGraphicFramePr>
          <p:cNvPr id="4" name="Diagram 3">
            <a:extLst>
              <a:ext uri="{FF2B5EF4-FFF2-40B4-BE49-F238E27FC236}">
                <a16:creationId xmlns:a16="http://schemas.microsoft.com/office/drawing/2014/main" id="{2FE739A5-75CB-4B51-A566-109E1B0C2671}"/>
              </a:ext>
            </a:extLst>
          </p:cNvPr>
          <p:cNvGraphicFramePr/>
          <p:nvPr/>
        </p:nvGraphicFramePr>
        <p:xfrm>
          <a:off x="824023" y="1567449"/>
          <a:ext cx="7495953" cy="51632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66105533"/>
      </p:ext>
    </p:extLst>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72235">
            <a:alpha val="0"/>
          </a:srgbClr>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A99237D-AF50-4D2C-823A-D719756FB780}"/>
              </a:ext>
            </a:extLst>
          </p:cNvPr>
          <p:cNvPicPr>
            <a:picLocks noChangeAspect="1" noGrp="1"/>
          </p:cNvPicPr>
          <p:nvPr>
            <p:ph idx="1"/>
          </p:nvPr>
        </p:nvPicPr>
        <p:blipFill rotWithShape="1">
          <a:blip r:embed="rId2"/>
          <a:srcRect b="122"/>
          <a:stretch/>
        </p:blipFill>
        <p:spPr>
          <a:xfrm>
            <a:off x="195008" y="2392325"/>
            <a:ext cx="8821401" cy="3274827"/>
          </a:xfrm>
          <a:prstGeom prst="rect">
            <a:avLst/>
          </a:prstGeom>
        </p:spPr>
      </p:pic>
      <p:sp>
        <p:nvSpPr>
          <p:cNvPr id="3" name="Title 2">
            <a:extLst>
              <a:ext uri="{FF2B5EF4-FFF2-40B4-BE49-F238E27FC236}">
                <a16:creationId xmlns:a16="http://schemas.microsoft.com/office/drawing/2014/main" id="{3B840167-9602-405C-9E40-BE981FEAD5F2}"/>
              </a:ext>
            </a:extLst>
          </p:cNvPr>
          <p:cNvSpPr>
            <a:spLocks noGrp="1"/>
          </p:cNvSpPr>
          <p:nvPr>
            <p:ph type="title"/>
          </p:nvPr>
        </p:nvSpPr>
        <p:spPr/>
        <p:txBody>
          <a:bodyPr anchor="ctr" bIns="45720" lIns="91440" rIns="91440" rtlCol="0" tIns="45720" vert="horz">
            <a:noAutofit/>
          </a:bodyPr>
          <a:lstStyle/>
          <a:p>
            <a:r>
              <a:rPr dirty="0" lang="en-US"/>
              <a:t>Types of HADOOP Scheduler</a:t>
            </a:r>
            <a:endParaRPr dirty="0" lang="en-IN"/>
          </a:p>
        </p:txBody>
      </p:sp>
    </p:spTree>
    <p:extLst>
      <p:ext uri="{BB962C8B-B14F-4D97-AF65-F5344CB8AC3E}">
        <p14:creationId xmlns:p14="http://schemas.microsoft.com/office/powerpoint/2010/main" val="2610257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B840167-9602-405C-9E40-BE981FEAD5F2}"/>
              </a:ext>
            </a:extLst>
          </p:cNvPr>
          <p:cNvSpPr>
            <a:spLocks noGrp="1"/>
          </p:cNvSpPr>
          <p:nvPr>
            <p:ph type="title"/>
          </p:nvPr>
        </p:nvSpPr>
        <p:spPr/>
        <p:txBody>
          <a:bodyPr vert="horz" lIns="91440" tIns="45720" rIns="91440" bIns="45720" rtlCol="0" anchor="ctr">
            <a:noAutofit/>
          </a:bodyPr>
          <a:lstStyle/>
          <a:p>
            <a:r>
              <a:rPr lang="en-US" dirty="0"/>
              <a:t>Types of HADOOP Scheduler</a:t>
            </a:r>
            <a:endParaRPr lang="en-IN" dirty="0"/>
          </a:p>
        </p:txBody>
      </p:sp>
      <p:sp>
        <p:nvSpPr>
          <p:cNvPr id="4" name="Freeform: Shape 3">
            <a:extLst>
              <a:ext uri="{FF2B5EF4-FFF2-40B4-BE49-F238E27FC236}">
                <a16:creationId xmlns:a16="http://schemas.microsoft.com/office/drawing/2014/main" id="{82C47EE3-4366-4C4D-B26B-B8696166AE87}"/>
              </a:ext>
            </a:extLst>
          </p:cNvPr>
          <p:cNvSpPr/>
          <p:nvPr/>
        </p:nvSpPr>
        <p:spPr>
          <a:xfrm>
            <a:off x="810953" y="2968052"/>
            <a:ext cx="7522094" cy="1325563"/>
          </a:xfrm>
          <a:custGeom>
            <a:avLst/>
            <a:gdLst>
              <a:gd name="connsiteX0" fmla="*/ 0 w 7522094"/>
              <a:gd name="connsiteY0" fmla="*/ 0 h 4513256"/>
              <a:gd name="connsiteX1" fmla="*/ 7522094 w 7522094"/>
              <a:gd name="connsiteY1" fmla="*/ 0 h 4513256"/>
              <a:gd name="connsiteX2" fmla="*/ 7522094 w 7522094"/>
              <a:gd name="connsiteY2" fmla="*/ 4513256 h 4513256"/>
              <a:gd name="connsiteX3" fmla="*/ 0 w 7522094"/>
              <a:gd name="connsiteY3" fmla="*/ 4513256 h 4513256"/>
              <a:gd name="connsiteX4" fmla="*/ 0 w 7522094"/>
              <a:gd name="connsiteY4" fmla="*/ 0 h 4513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22094" h="4513256">
                <a:moveTo>
                  <a:pt x="0" y="0"/>
                </a:moveTo>
                <a:lnTo>
                  <a:pt x="7522094" y="0"/>
                </a:lnTo>
                <a:lnTo>
                  <a:pt x="7522094" y="4513256"/>
                </a:lnTo>
                <a:lnTo>
                  <a:pt x="0" y="4513256"/>
                </a:lnTo>
                <a:lnTo>
                  <a:pt x="0" y="0"/>
                </a:lnTo>
                <a:close/>
              </a:path>
            </a:pathLst>
          </a:custGeom>
          <a:solidFill>
            <a:srgbClr val="44525A"/>
          </a:solidFill>
          <a:ln>
            <a:noFill/>
          </a:ln>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247650" tIns="247650" rIns="247650" bIns="247650" numCol="1" spcCol="1270" anchor="ctr" anchorCtr="0">
            <a:noAutofit/>
          </a:bodyPr>
          <a:lstStyle/>
          <a:p>
            <a:pPr marL="0" marR="0" lvl="0" indent="0" algn="ctr" defTabSz="2889250" rtl="0" eaLnBrk="1" fontAlgn="auto" latinLnBrk="0" hangingPunct="1">
              <a:lnSpc>
                <a:spcPct val="90000"/>
              </a:lnSpc>
              <a:spcBef>
                <a:spcPct val="0"/>
              </a:spcBef>
              <a:spcAft>
                <a:spcPct val="35000"/>
              </a:spcAft>
              <a:buClrTx/>
              <a:buSzTx/>
              <a:buFontTx/>
              <a:buNone/>
              <a:tabLst/>
              <a:defRPr/>
            </a:pPr>
            <a:r>
              <a:rPr kumimoji="0" lang="en-US" sz="4800" b="0" i="0" u="none" strike="noStrike" kern="1200" cap="none" spc="0" normalizeH="0" baseline="0" noProof="0" dirty="0">
                <a:ln>
                  <a:noFill/>
                </a:ln>
                <a:solidFill>
                  <a:prstClr val="white"/>
                </a:solidFill>
                <a:effectLst/>
                <a:uLnTx/>
                <a:uFillTx/>
                <a:latin typeface="Bahnschrift" panose="020B0502040204020203" pitchFamily="34" charset="0"/>
                <a:ea typeface="+mn-ea"/>
                <a:cs typeface="+mn-cs"/>
              </a:rPr>
              <a:t>Fifo Scheduler</a:t>
            </a:r>
            <a:endParaRPr kumimoji="0" lang="en-IN" sz="4800" b="0" i="0" u="none" strike="noStrike" kern="1200" cap="none" spc="0" normalizeH="0" baseline="0" noProof="0" dirty="0">
              <a:ln>
                <a:noFill/>
              </a:ln>
              <a:solidFill>
                <a:prstClr val="white"/>
              </a:solidFill>
              <a:effectLst/>
              <a:uLnTx/>
              <a:uFillTx/>
              <a:latin typeface="Bahnschrift" panose="020B0502040204020203" pitchFamily="34" charset="0"/>
              <a:ea typeface="+mn-ea"/>
              <a:cs typeface="+mn-cs"/>
            </a:endParaRPr>
          </a:p>
        </p:txBody>
      </p:sp>
    </p:spTree>
    <p:extLst>
      <p:ext uri="{BB962C8B-B14F-4D97-AF65-F5344CB8AC3E}">
        <p14:creationId xmlns:p14="http://schemas.microsoft.com/office/powerpoint/2010/main" val="24422803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B24474-3EB7-4933-A980-0C29F9AA50C8}"/>
              </a:ext>
            </a:extLst>
          </p:cNvPr>
          <p:cNvSpPr>
            <a:spLocks noGrp="1"/>
          </p:cNvSpPr>
          <p:nvPr>
            <p:ph idx="1"/>
          </p:nvPr>
        </p:nvSpPr>
        <p:spPr/>
        <p:txBody>
          <a:bodyPr>
            <a:normAutofit/>
          </a:bodyPr>
          <a:lstStyle/>
          <a:p>
            <a:pPr algn="just" fontAlgn="base">
              <a:buFont typeface="Arial" panose="020B0604020202020204" pitchFamily="34" charset="0"/>
              <a:buChar char="•"/>
            </a:pPr>
            <a:r>
              <a:rPr lang="en-US" b="0" i="0" dirty="0">
                <a:effectLst/>
              </a:rPr>
              <a:t>It is simple to understand and doesn’t need any configuration.</a:t>
            </a:r>
          </a:p>
          <a:p>
            <a:pPr algn="just" fontAlgn="base">
              <a:buFont typeface="Arial" panose="020B0604020202020204" pitchFamily="34" charset="0"/>
              <a:buChar char="•"/>
            </a:pPr>
            <a:r>
              <a:rPr lang="en-US" b="0" i="0" dirty="0">
                <a:effectLst/>
              </a:rPr>
              <a:t>Jobs are executed in the order of their submission.</a:t>
            </a:r>
          </a:p>
        </p:txBody>
      </p:sp>
      <p:sp>
        <p:nvSpPr>
          <p:cNvPr id="3" name="Title 2">
            <a:extLst>
              <a:ext uri="{FF2B5EF4-FFF2-40B4-BE49-F238E27FC236}">
                <a16:creationId xmlns:a16="http://schemas.microsoft.com/office/drawing/2014/main" id="{0185F652-CC22-42AA-8AEF-9FD3D2F777DA}"/>
              </a:ext>
            </a:extLst>
          </p:cNvPr>
          <p:cNvSpPr>
            <a:spLocks noGrp="1"/>
          </p:cNvSpPr>
          <p:nvPr>
            <p:ph type="title"/>
          </p:nvPr>
        </p:nvSpPr>
        <p:spPr/>
        <p:txBody>
          <a:bodyPr vert="horz" lIns="91440" tIns="45720" rIns="91440" bIns="45720" rtlCol="0" anchor="ctr">
            <a:noAutofit/>
          </a:bodyPr>
          <a:lstStyle/>
          <a:p>
            <a:r>
              <a:rPr lang="en-US" dirty="0"/>
              <a:t>Advantages of FIFO Scheduling</a:t>
            </a:r>
            <a:endParaRPr lang="en-IN" dirty="0"/>
          </a:p>
        </p:txBody>
      </p:sp>
    </p:spTree>
    <p:extLst>
      <p:ext uri="{BB962C8B-B14F-4D97-AF65-F5344CB8AC3E}">
        <p14:creationId xmlns:p14="http://schemas.microsoft.com/office/powerpoint/2010/main" val="3768749306"/>
      </p:ext>
    </p:extLst>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558B4E1-D516-4A18-BF6A-E50AB76466E9}"/>
              </a:ext>
            </a:extLst>
          </p:cNvPr>
          <p:cNvPicPr>
            <a:picLocks noChangeAspect="1" noGrp="1"/>
          </p:cNvPicPr>
          <p:nvPr>
            <p:ph idx="1"/>
          </p:nvPr>
        </p:nvPicPr>
        <p:blipFill rotWithShape="1">
          <a:blip r:embed="rId2"/>
          <a:srcRect b="275"/>
          <a:stretch/>
        </p:blipFill>
        <p:spPr>
          <a:xfrm>
            <a:off x="176214" y="2913321"/>
            <a:ext cx="8791572" cy="1860697"/>
          </a:xfrm>
          <a:prstGeom prst="rect">
            <a:avLst/>
          </a:prstGeom>
        </p:spPr>
      </p:pic>
      <p:sp>
        <p:nvSpPr>
          <p:cNvPr id="3" name="Title 2">
            <a:extLst>
              <a:ext uri="{FF2B5EF4-FFF2-40B4-BE49-F238E27FC236}">
                <a16:creationId xmlns:a16="http://schemas.microsoft.com/office/drawing/2014/main" id="{0185F652-CC22-42AA-8AEF-9FD3D2F777DA}"/>
              </a:ext>
            </a:extLst>
          </p:cNvPr>
          <p:cNvSpPr>
            <a:spLocks noGrp="1"/>
          </p:cNvSpPr>
          <p:nvPr>
            <p:ph type="title"/>
          </p:nvPr>
        </p:nvSpPr>
        <p:spPr/>
        <p:txBody>
          <a:bodyPr anchor="ctr" bIns="45720" lIns="91440" rIns="91440" rtlCol="0" tIns="45720" vert="horz">
            <a:noAutofit/>
          </a:bodyPr>
          <a:lstStyle/>
          <a:p>
            <a:r>
              <a:rPr dirty="0" lang="en-US"/>
              <a:t>Disadvantages of FIFO Scheduling</a:t>
            </a:r>
            <a:endParaRPr dirty="0" lang="en-IN"/>
          </a:p>
        </p:txBody>
      </p:sp>
    </p:spTree>
    <p:extLst>
      <p:ext uri="{BB962C8B-B14F-4D97-AF65-F5344CB8AC3E}">
        <p14:creationId xmlns:p14="http://schemas.microsoft.com/office/powerpoint/2010/main" val="9138894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B24474-3EB7-4933-A980-0C29F9AA50C8}"/>
              </a:ext>
            </a:extLst>
          </p:cNvPr>
          <p:cNvSpPr>
            <a:spLocks noGrp="1"/>
          </p:cNvSpPr>
          <p:nvPr>
            <p:ph idx="1"/>
          </p:nvPr>
        </p:nvSpPr>
        <p:spPr>
          <a:xfrm>
            <a:off x="338362" y="1538204"/>
            <a:ext cx="8386537" cy="5004884"/>
          </a:xfrm>
        </p:spPr>
        <p:txBody>
          <a:bodyPr vert="horz" lIns="91440" tIns="45720" rIns="91440" bIns="45720" rtlCol="0">
            <a:normAutofit lnSpcReduction="10000"/>
          </a:bodyPr>
          <a:lstStyle/>
          <a:p>
            <a:pPr algn="just" fontAlgn="base"/>
            <a:r>
              <a:rPr lang="en-US" dirty="0"/>
              <a:t>It is not suitable for shared clusters. If the large application comes before the shorter one, then the large application will use all the resources in the cluster, and the shorter application has to wait for its turn. This leads to starvation.</a:t>
            </a:r>
          </a:p>
          <a:p>
            <a:pPr algn="just" fontAlgn="base"/>
            <a:r>
              <a:rPr lang="en-US" dirty="0"/>
              <a:t>It does not take into account the balance of resource allocation between the long applications and short applications.</a:t>
            </a:r>
          </a:p>
        </p:txBody>
      </p:sp>
      <p:sp>
        <p:nvSpPr>
          <p:cNvPr id="3" name="Title 2">
            <a:extLst>
              <a:ext uri="{FF2B5EF4-FFF2-40B4-BE49-F238E27FC236}">
                <a16:creationId xmlns:a16="http://schemas.microsoft.com/office/drawing/2014/main" id="{0185F652-CC22-42AA-8AEF-9FD3D2F777DA}"/>
              </a:ext>
            </a:extLst>
          </p:cNvPr>
          <p:cNvSpPr>
            <a:spLocks noGrp="1"/>
          </p:cNvSpPr>
          <p:nvPr>
            <p:ph type="title"/>
          </p:nvPr>
        </p:nvSpPr>
        <p:spPr/>
        <p:txBody>
          <a:bodyPr vert="horz" lIns="91440" tIns="45720" rIns="91440" bIns="45720" rtlCol="0" anchor="ctr">
            <a:noAutofit/>
          </a:bodyPr>
          <a:lstStyle/>
          <a:p>
            <a:r>
              <a:rPr lang="en-US" dirty="0"/>
              <a:t>Disadvantages of FIFO Scheduling</a:t>
            </a:r>
            <a:endParaRPr lang="en-IN" dirty="0"/>
          </a:p>
        </p:txBody>
      </p:sp>
    </p:spTree>
    <p:extLst>
      <p:ext uri="{BB962C8B-B14F-4D97-AF65-F5344CB8AC3E}">
        <p14:creationId xmlns:p14="http://schemas.microsoft.com/office/powerpoint/2010/main" val="26092851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B840167-9602-405C-9E40-BE981FEAD5F2}"/>
              </a:ext>
            </a:extLst>
          </p:cNvPr>
          <p:cNvSpPr>
            <a:spLocks noGrp="1"/>
          </p:cNvSpPr>
          <p:nvPr>
            <p:ph type="title"/>
          </p:nvPr>
        </p:nvSpPr>
        <p:spPr/>
        <p:txBody>
          <a:bodyPr vert="horz" lIns="91440" tIns="45720" rIns="91440" bIns="45720" rtlCol="0" anchor="ctr">
            <a:noAutofit/>
          </a:bodyPr>
          <a:lstStyle/>
          <a:p>
            <a:r>
              <a:rPr lang="en-US" dirty="0"/>
              <a:t>Types of HADOOP Scheduler</a:t>
            </a:r>
            <a:endParaRPr lang="en-IN" dirty="0"/>
          </a:p>
        </p:txBody>
      </p:sp>
      <p:sp>
        <p:nvSpPr>
          <p:cNvPr id="4" name="Freeform: Shape 3">
            <a:extLst>
              <a:ext uri="{FF2B5EF4-FFF2-40B4-BE49-F238E27FC236}">
                <a16:creationId xmlns:a16="http://schemas.microsoft.com/office/drawing/2014/main" id="{0CCD12E2-7E93-486B-BD15-09A6D9D01311}"/>
              </a:ext>
            </a:extLst>
          </p:cNvPr>
          <p:cNvSpPr/>
          <p:nvPr/>
        </p:nvSpPr>
        <p:spPr>
          <a:xfrm>
            <a:off x="810953" y="2968052"/>
            <a:ext cx="7522094" cy="1325563"/>
          </a:xfrm>
          <a:custGeom>
            <a:avLst/>
            <a:gdLst>
              <a:gd name="connsiteX0" fmla="*/ 0 w 7522094"/>
              <a:gd name="connsiteY0" fmla="*/ 0 h 4513256"/>
              <a:gd name="connsiteX1" fmla="*/ 7522094 w 7522094"/>
              <a:gd name="connsiteY1" fmla="*/ 0 h 4513256"/>
              <a:gd name="connsiteX2" fmla="*/ 7522094 w 7522094"/>
              <a:gd name="connsiteY2" fmla="*/ 4513256 h 4513256"/>
              <a:gd name="connsiteX3" fmla="*/ 0 w 7522094"/>
              <a:gd name="connsiteY3" fmla="*/ 4513256 h 4513256"/>
              <a:gd name="connsiteX4" fmla="*/ 0 w 7522094"/>
              <a:gd name="connsiteY4" fmla="*/ 0 h 4513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22094" h="4513256">
                <a:moveTo>
                  <a:pt x="0" y="0"/>
                </a:moveTo>
                <a:lnTo>
                  <a:pt x="7522094" y="0"/>
                </a:lnTo>
                <a:lnTo>
                  <a:pt x="7522094" y="4513256"/>
                </a:lnTo>
                <a:lnTo>
                  <a:pt x="0" y="4513256"/>
                </a:lnTo>
                <a:lnTo>
                  <a:pt x="0" y="0"/>
                </a:lnTo>
                <a:close/>
              </a:path>
            </a:pathLst>
          </a:custGeom>
          <a:solidFill>
            <a:srgbClr val="44525A"/>
          </a:solidFill>
          <a:ln>
            <a:noFill/>
          </a:ln>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247650" tIns="247650" rIns="247650" bIns="247650" numCol="1" spcCol="1270" anchor="ctr" anchorCtr="0">
            <a:noAutofit/>
          </a:bodyPr>
          <a:lstStyle/>
          <a:p>
            <a:pPr marL="0" marR="0" lvl="0" indent="0" algn="ctr" defTabSz="2889250" rtl="0" eaLnBrk="1" fontAlgn="auto" latinLnBrk="0" hangingPunct="1">
              <a:lnSpc>
                <a:spcPct val="90000"/>
              </a:lnSpc>
              <a:spcBef>
                <a:spcPct val="0"/>
              </a:spcBef>
              <a:spcAft>
                <a:spcPct val="35000"/>
              </a:spcAft>
              <a:buClrTx/>
              <a:buSzTx/>
              <a:buFontTx/>
              <a:buNone/>
              <a:tabLst/>
              <a:defRPr/>
            </a:pPr>
            <a:r>
              <a:rPr kumimoji="0" lang="en-US" sz="4800" b="0" i="0" u="none" strike="noStrike" kern="1200" cap="none" spc="0" normalizeH="0" baseline="0" noProof="0" dirty="0">
                <a:ln>
                  <a:noFill/>
                </a:ln>
                <a:solidFill>
                  <a:prstClr val="white"/>
                </a:solidFill>
                <a:effectLst/>
                <a:uLnTx/>
                <a:uFillTx/>
                <a:latin typeface="Bahnschrift" panose="020B0502040204020203" pitchFamily="34" charset="0"/>
                <a:ea typeface="+mn-ea"/>
                <a:cs typeface="+mn-cs"/>
              </a:rPr>
              <a:t>Capacity Scheduler</a:t>
            </a:r>
          </a:p>
        </p:txBody>
      </p:sp>
    </p:spTree>
    <p:extLst>
      <p:ext uri="{BB962C8B-B14F-4D97-AF65-F5344CB8AC3E}">
        <p14:creationId xmlns:p14="http://schemas.microsoft.com/office/powerpoint/2010/main" val="2901877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F6A794D-A06B-4289-ABCE-670ED0DA2ABF}"/>
              </a:ext>
            </a:extLst>
          </p:cNvPr>
          <p:cNvSpPr>
            <a:spLocks noGrp="1"/>
          </p:cNvSpPr>
          <p:nvPr>
            <p:ph idx="1"/>
          </p:nvPr>
        </p:nvSpPr>
        <p:spPr>
          <a:xfrm>
            <a:off x="338361" y="1463253"/>
            <a:ext cx="8580787" cy="5004884"/>
          </a:xfrm>
        </p:spPr>
        <p:txBody>
          <a:bodyPr vert="horz" lIns="91440" tIns="45720" rIns="91440" bIns="45720" rtlCol="0">
            <a:normAutofit/>
          </a:bodyPr>
          <a:lstStyle/>
          <a:p>
            <a:pPr algn="just" fontAlgn="base"/>
            <a:r>
              <a:rPr lang="en-US" dirty="0"/>
              <a:t>It allows multiple-tenants to securely share a large Hadoop cluster. </a:t>
            </a:r>
          </a:p>
          <a:p>
            <a:pPr algn="just" fontAlgn="base"/>
            <a:r>
              <a:rPr lang="en-US" dirty="0"/>
              <a:t>It is designed to run Hadoop applications in a shared, multi-tenant cluster.</a:t>
            </a:r>
          </a:p>
          <a:p>
            <a:pPr algn="just" fontAlgn="base"/>
            <a:r>
              <a:rPr lang="en-US" dirty="0"/>
              <a:t>It supports hierarchical queues to reflect the structure of organizations.</a:t>
            </a:r>
          </a:p>
          <a:p>
            <a:pPr algn="just" fontAlgn="base"/>
            <a:endParaRPr lang="en-IN" dirty="0"/>
          </a:p>
        </p:txBody>
      </p:sp>
      <p:sp>
        <p:nvSpPr>
          <p:cNvPr id="3" name="Title 2">
            <a:extLst>
              <a:ext uri="{FF2B5EF4-FFF2-40B4-BE49-F238E27FC236}">
                <a16:creationId xmlns:a16="http://schemas.microsoft.com/office/drawing/2014/main" id="{D6C9E4E6-B825-4124-B718-52ED740A8D6E}"/>
              </a:ext>
            </a:extLst>
          </p:cNvPr>
          <p:cNvSpPr>
            <a:spLocks noGrp="1"/>
          </p:cNvSpPr>
          <p:nvPr>
            <p:ph type="title"/>
          </p:nvPr>
        </p:nvSpPr>
        <p:spPr/>
        <p:txBody>
          <a:bodyPr vert="horz" lIns="91440" tIns="45720" rIns="91440" bIns="45720" rtlCol="0" anchor="ctr">
            <a:noAutofit/>
          </a:bodyPr>
          <a:lstStyle/>
          <a:p>
            <a:r>
              <a:rPr lang="en-US" dirty="0"/>
              <a:t>Capacity Scheduler</a:t>
            </a:r>
            <a:endParaRPr lang="en-IN" dirty="0"/>
          </a:p>
        </p:txBody>
      </p:sp>
    </p:spTree>
    <p:extLst>
      <p:ext uri="{BB962C8B-B14F-4D97-AF65-F5344CB8AC3E}">
        <p14:creationId xmlns:p14="http://schemas.microsoft.com/office/powerpoint/2010/main" val="37246643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7CCB1BA-1753-4262-8E0F-1939ABA781B7}"/>
              </a:ext>
            </a:extLst>
          </p:cNvPr>
          <p:cNvSpPr>
            <a:spLocks noGrp="1"/>
          </p:cNvSpPr>
          <p:nvPr>
            <p:ph type="title"/>
          </p:nvPr>
        </p:nvSpPr>
        <p:spPr/>
        <p:txBody>
          <a:bodyPr vert="horz" lIns="91440" tIns="45720" rIns="91440" bIns="45720" rtlCol="0" anchor="ctr">
            <a:noAutofit/>
          </a:bodyPr>
          <a:lstStyle/>
          <a:p>
            <a:r>
              <a:rPr lang="en-US" dirty="0"/>
              <a:t>Capacity Scheduler</a:t>
            </a:r>
            <a:endParaRPr lang="en-IN" dirty="0"/>
          </a:p>
        </p:txBody>
      </p:sp>
      <p:sp>
        <p:nvSpPr>
          <p:cNvPr id="5" name="Freeform: Shape 4">
            <a:extLst>
              <a:ext uri="{FF2B5EF4-FFF2-40B4-BE49-F238E27FC236}">
                <a16:creationId xmlns:a16="http://schemas.microsoft.com/office/drawing/2014/main" id="{820DC12D-6FF7-488A-A36F-4C4C35124D01}"/>
              </a:ext>
            </a:extLst>
          </p:cNvPr>
          <p:cNvSpPr/>
          <p:nvPr/>
        </p:nvSpPr>
        <p:spPr>
          <a:xfrm>
            <a:off x="689548" y="3178552"/>
            <a:ext cx="3370095" cy="1748692"/>
          </a:xfrm>
          <a:custGeom>
            <a:avLst/>
            <a:gdLst>
              <a:gd name="connsiteX0" fmla="*/ 0 w 2987084"/>
              <a:gd name="connsiteY0" fmla="*/ 149354 h 1493542"/>
              <a:gd name="connsiteX1" fmla="*/ 149354 w 2987084"/>
              <a:gd name="connsiteY1" fmla="*/ 0 h 1493542"/>
              <a:gd name="connsiteX2" fmla="*/ 2837730 w 2987084"/>
              <a:gd name="connsiteY2" fmla="*/ 0 h 1493542"/>
              <a:gd name="connsiteX3" fmla="*/ 2987084 w 2987084"/>
              <a:gd name="connsiteY3" fmla="*/ 149354 h 1493542"/>
              <a:gd name="connsiteX4" fmla="*/ 2987084 w 2987084"/>
              <a:gd name="connsiteY4" fmla="*/ 1344188 h 1493542"/>
              <a:gd name="connsiteX5" fmla="*/ 2837730 w 2987084"/>
              <a:gd name="connsiteY5" fmla="*/ 1493542 h 1493542"/>
              <a:gd name="connsiteX6" fmla="*/ 149354 w 2987084"/>
              <a:gd name="connsiteY6" fmla="*/ 1493542 h 1493542"/>
              <a:gd name="connsiteX7" fmla="*/ 0 w 2987084"/>
              <a:gd name="connsiteY7" fmla="*/ 1344188 h 1493542"/>
              <a:gd name="connsiteX8" fmla="*/ 0 w 2987084"/>
              <a:gd name="connsiteY8" fmla="*/ 149354 h 1493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87084" h="1493542">
                <a:moveTo>
                  <a:pt x="0" y="149354"/>
                </a:moveTo>
                <a:cubicBezTo>
                  <a:pt x="0" y="66868"/>
                  <a:pt x="66868" y="0"/>
                  <a:pt x="149354" y="0"/>
                </a:cubicBezTo>
                <a:lnTo>
                  <a:pt x="2837730" y="0"/>
                </a:lnTo>
                <a:cubicBezTo>
                  <a:pt x="2920216" y="0"/>
                  <a:pt x="2987084" y="66868"/>
                  <a:pt x="2987084" y="149354"/>
                </a:cubicBezTo>
                <a:lnTo>
                  <a:pt x="2987084" y="1344188"/>
                </a:lnTo>
                <a:cubicBezTo>
                  <a:pt x="2987084" y="1426674"/>
                  <a:pt x="2920216" y="1493542"/>
                  <a:pt x="2837730" y="1493542"/>
                </a:cubicBezTo>
                <a:lnTo>
                  <a:pt x="149354" y="1493542"/>
                </a:lnTo>
                <a:cubicBezTo>
                  <a:pt x="66868" y="1493542"/>
                  <a:pt x="0" y="1426674"/>
                  <a:pt x="0" y="1344188"/>
                </a:cubicBezTo>
                <a:lnTo>
                  <a:pt x="0" y="149354"/>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60254" tIns="60254" rIns="60254" bIns="60254" numCol="1" spcCol="1270" anchor="ctr" anchorCtr="0">
            <a:noAutofit/>
          </a:bodyPr>
          <a:lstStyle/>
          <a:p>
            <a:pPr marL="0" marR="0" lvl="0" indent="0" algn="ctr" defTabSz="1155700" rtl="0" eaLnBrk="1" fontAlgn="auto" latinLnBrk="0" hangingPunct="1">
              <a:lnSpc>
                <a:spcPct val="90000"/>
              </a:lnSpc>
              <a:spcBef>
                <a:spcPct val="0"/>
              </a:spcBef>
              <a:spcAft>
                <a:spcPct val="35000"/>
              </a:spcAft>
              <a:buClrTx/>
              <a:buSzTx/>
              <a:buFontTx/>
              <a:buNone/>
              <a:tabLst/>
              <a:defRPr/>
            </a:pPr>
            <a:r>
              <a:rPr kumimoji="0" lang="en-US" sz="2600" b="0" i="0" u="none" strike="noStrike" kern="1200" cap="none" spc="0" normalizeH="0" baseline="0" noProof="0">
                <a:ln>
                  <a:noFill/>
                </a:ln>
                <a:solidFill>
                  <a:prstClr val="white"/>
                </a:solidFill>
                <a:effectLst/>
                <a:uLnTx/>
                <a:uFillTx/>
                <a:latin typeface="Bahnschrift" panose="020B0502040204020203" pitchFamily="34" charset="0"/>
                <a:ea typeface="+mn-ea"/>
                <a:cs typeface="+mn-cs"/>
              </a:rPr>
              <a:t>A queue hierarchy contains three types of queues that are</a:t>
            </a:r>
            <a:endParaRPr kumimoji="0" lang="en-US" sz="2600" b="0" i="0" u="none" strike="noStrike" kern="1200" cap="none" spc="0" normalizeH="0" baseline="0" noProof="0" dirty="0">
              <a:ln>
                <a:noFill/>
              </a:ln>
              <a:solidFill>
                <a:prstClr val="white"/>
              </a:solidFill>
              <a:effectLst/>
              <a:uLnTx/>
              <a:uFillTx/>
              <a:latin typeface="Bahnschrift" panose="020B0502040204020203" pitchFamily="34" charset="0"/>
              <a:ea typeface="+mn-ea"/>
              <a:cs typeface="+mn-cs"/>
            </a:endParaRPr>
          </a:p>
        </p:txBody>
      </p:sp>
      <p:sp>
        <p:nvSpPr>
          <p:cNvPr id="6" name="Freeform: Shape 5">
            <a:extLst>
              <a:ext uri="{FF2B5EF4-FFF2-40B4-BE49-F238E27FC236}">
                <a16:creationId xmlns:a16="http://schemas.microsoft.com/office/drawing/2014/main" id="{DE2B6C6C-F2A2-44FA-8681-DE382A7B962A}"/>
              </a:ext>
            </a:extLst>
          </p:cNvPr>
          <p:cNvSpPr/>
          <p:nvPr/>
        </p:nvSpPr>
        <p:spPr>
          <a:xfrm rot="18289469">
            <a:off x="3610914" y="3154338"/>
            <a:ext cx="2092292" cy="54492"/>
          </a:xfrm>
          <a:custGeom>
            <a:avLst/>
            <a:gdLst>
              <a:gd name="connsiteX0" fmla="*/ 0 w 2092292"/>
              <a:gd name="connsiteY0" fmla="*/ 27246 h 54492"/>
              <a:gd name="connsiteX1" fmla="*/ 2092292 w 2092292"/>
              <a:gd name="connsiteY1" fmla="*/ 27246 h 54492"/>
            </a:gdLst>
            <a:ahLst/>
            <a:cxnLst>
              <a:cxn ang="0">
                <a:pos x="connsiteX0" y="connsiteY0"/>
              </a:cxn>
              <a:cxn ang="0">
                <a:pos x="connsiteX1" y="connsiteY1"/>
              </a:cxn>
            </a:cxnLst>
            <a:rect l="l" t="t" r="r" b="b"/>
            <a:pathLst>
              <a:path w="2092292" h="54492">
                <a:moveTo>
                  <a:pt x="0" y="27246"/>
                </a:moveTo>
                <a:lnTo>
                  <a:pt x="2092292" y="27246"/>
                </a:lnTo>
              </a:path>
            </a:pathLst>
          </a:custGeom>
          <a:noFill/>
        </p:spPr>
        <p:style>
          <a:lnRef idx="2">
            <a:schemeClr val="dk2">
              <a:shade val="60000"/>
              <a:hueOff val="0"/>
              <a:satOff val="0"/>
              <a:lumOff val="0"/>
              <a:alphaOff val="0"/>
            </a:schemeClr>
          </a:lnRef>
          <a:fillRef idx="0">
            <a:scrgbClr r="0" g="0" b="0"/>
          </a:fillRef>
          <a:effectRef idx="0">
            <a:schemeClr val="dk2">
              <a:hueOff val="0"/>
              <a:satOff val="0"/>
              <a:lumOff val="0"/>
              <a:alphaOff val="0"/>
            </a:schemeClr>
          </a:effectRef>
          <a:fontRef idx="minor">
            <a:schemeClr val="tx1">
              <a:hueOff val="0"/>
              <a:satOff val="0"/>
              <a:lumOff val="0"/>
              <a:alphaOff val="0"/>
            </a:schemeClr>
          </a:fontRef>
        </p:style>
        <p:txBody>
          <a:bodyPr spcFirstLastPara="0" vert="horz" wrap="square" lIns="1006539" tIns="-25061" rIns="1006539" bIns="-25062" numCol="1" spcCol="1270" anchor="ctr" anchorCtr="0">
            <a:noAutofit/>
          </a:bodyPr>
          <a:lstStyle/>
          <a:p>
            <a:pPr marL="0" marR="0" lvl="0" indent="0" algn="ctr" defTabSz="311150" rtl="0" eaLnBrk="1" fontAlgn="auto" latinLnBrk="0" hangingPunct="1">
              <a:lnSpc>
                <a:spcPct val="90000"/>
              </a:lnSpc>
              <a:spcBef>
                <a:spcPct val="0"/>
              </a:spcBef>
              <a:spcAft>
                <a:spcPct val="35000"/>
              </a:spcAft>
              <a:buClrTx/>
              <a:buSzTx/>
              <a:buFontTx/>
              <a:buNone/>
              <a:tabLst/>
              <a:defRPr/>
            </a:pPr>
            <a:endParaRPr kumimoji="0" lang="en-IN" sz="700" b="0" i="0" u="none" strike="noStrike" kern="1200" cap="none" spc="0" normalizeH="0" baseline="0" noProof="0">
              <a:ln>
                <a:noFill/>
              </a:ln>
              <a:solidFill>
                <a:prstClr val="black">
                  <a:hueOff val="0"/>
                  <a:satOff val="0"/>
                  <a:lumOff val="0"/>
                  <a:alphaOff val="0"/>
                </a:prstClr>
              </a:solidFill>
              <a:effectLst/>
              <a:uLnTx/>
              <a:uFillTx/>
              <a:latin typeface="Bahnschrift" panose="020B0502040204020203" pitchFamily="34" charset="0"/>
              <a:ea typeface="+mn-ea"/>
              <a:cs typeface="+mn-cs"/>
            </a:endParaRPr>
          </a:p>
        </p:txBody>
      </p:sp>
      <p:sp>
        <p:nvSpPr>
          <p:cNvPr id="7" name="Freeform: Shape 6">
            <a:extLst>
              <a:ext uri="{FF2B5EF4-FFF2-40B4-BE49-F238E27FC236}">
                <a16:creationId xmlns:a16="http://schemas.microsoft.com/office/drawing/2014/main" id="{F6C775B8-0DB5-4978-A6C2-7165DA58B547}"/>
              </a:ext>
            </a:extLst>
          </p:cNvPr>
          <p:cNvSpPr/>
          <p:nvPr/>
        </p:nvSpPr>
        <p:spPr>
          <a:xfrm>
            <a:off x="5254477" y="1576026"/>
            <a:ext cx="2987084" cy="1493542"/>
          </a:xfrm>
          <a:custGeom>
            <a:avLst/>
            <a:gdLst>
              <a:gd name="connsiteX0" fmla="*/ 0 w 2987084"/>
              <a:gd name="connsiteY0" fmla="*/ 149354 h 1493542"/>
              <a:gd name="connsiteX1" fmla="*/ 149354 w 2987084"/>
              <a:gd name="connsiteY1" fmla="*/ 0 h 1493542"/>
              <a:gd name="connsiteX2" fmla="*/ 2837730 w 2987084"/>
              <a:gd name="connsiteY2" fmla="*/ 0 h 1493542"/>
              <a:gd name="connsiteX3" fmla="*/ 2987084 w 2987084"/>
              <a:gd name="connsiteY3" fmla="*/ 149354 h 1493542"/>
              <a:gd name="connsiteX4" fmla="*/ 2987084 w 2987084"/>
              <a:gd name="connsiteY4" fmla="*/ 1344188 h 1493542"/>
              <a:gd name="connsiteX5" fmla="*/ 2837730 w 2987084"/>
              <a:gd name="connsiteY5" fmla="*/ 1493542 h 1493542"/>
              <a:gd name="connsiteX6" fmla="*/ 149354 w 2987084"/>
              <a:gd name="connsiteY6" fmla="*/ 1493542 h 1493542"/>
              <a:gd name="connsiteX7" fmla="*/ 0 w 2987084"/>
              <a:gd name="connsiteY7" fmla="*/ 1344188 h 1493542"/>
              <a:gd name="connsiteX8" fmla="*/ 0 w 2987084"/>
              <a:gd name="connsiteY8" fmla="*/ 149354 h 1493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87084" h="1493542">
                <a:moveTo>
                  <a:pt x="0" y="149354"/>
                </a:moveTo>
                <a:cubicBezTo>
                  <a:pt x="0" y="66868"/>
                  <a:pt x="66868" y="0"/>
                  <a:pt x="149354" y="0"/>
                </a:cubicBezTo>
                <a:lnTo>
                  <a:pt x="2837730" y="0"/>
                </a:lnTo>
                <a:cubicBezTo>
                  <a:pt x="2920216" y="0"/>
                  <a:pt x="2987084" y="66868"/>
                  <a:pt x="2987084" y="149354"/>
                </a:cubicBezTo>
                <a:lnTo>
                  <a:pt x="2987084" y="1344188"/>
                </a:lnTo>
                <a:cubicBezTo>
                  <a:pt x="2987084" y="1426674"/>
                  <a:pt x="2920216" y="1493542"/>
                  <a:pt x="2837730" y="1493542"/>
                </a:cubicBezTo>
                <a:lnTo>
                  <a:pt x="149354" y="1493542"/>
                </a:lnTo>
                <a:cubicBezTo>
                  <a:pt x="66868" y="1493542"/>
                  <a:pt x="0" y="1426674"/>
                  <a:pt x="0" y="1344188"/>
                </a:cubicBezTo>
                <a:lnTo>
                  <a:pt x="0" y="149354"/>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60254" tIns="60254" rIns="60254" bIns="60254" numCol="1" spcCol="1270" anchor="ctr" anchorCtr="0">
            <a:noAutofit/>
          </a:bodyPr>
          <a:lstStyle/>
          <a:p>
            <a:pPr marL="0" marR="0" lvl="0" indent="0" algn="ctr" defTabSz="1155700" rtl="0" eaLnBrk="1" fontAlgn="auto" latinLnBrk="0" hangingPunct="1">
              <a:lnSpc>
                <a:spcPct val="90000"/>
              </a:lnSpc>
              <a:spcBef>
                <a:spcPct val="0"/>
              </a:spcBef>
              <a:spcAft>
                <a:spcPct val="35000"/>
              </a:spcAft>
              <a:buClrTx/>
              <a:buSzTx/>
              <a:buFontTx/>
              <a:buNone/>
              <a:tabLst/>
              <a:defRPr/>
            </a:pPr>
            <a:r>
              <a:rPr kumimoji="0" lang="en-US" sz="2600" b="0" i="0" u="none" strike="noStrike" kern="1200" cap="none" spc="0" normalizeH="0" baseline="0" noProof="0" dirty="0">
                <a:ln>
                  <a:noFill/>
                </a:ln>
                <a:solidFill>
                  <a:prstClr val="white"/>
                </a:solidFill>
                <a:effectLst/>
                <a:uLnTx/>
                <a:uFillTx/>
                <a:latin typeface="Bahnschrift" panose="020B0502040204020203" pitchFamily="34" charset="0"/>
                <a:ea typeface="+mn-ea"/>
                <a:cs typeface="+mn-cs"/>
              </a:rPr>
              <a:t>root</a:t>
            </a:r>
          </a:p>
        </p:txBody>
      </p:sp>
      <p:sp>
        <p:nvSpPr>
          <p:cNvPr id="8" name="Freeform: Shape 7">
            <a:extLst>
              <a:ext uri="{FF2B5EF4-FFF2-40B4-BE49-F238E27FC236}">
                <a16:creationId xmlns:a16="http://schemas.microsoft.com/office/drawing/2014/main" id="{E6555DBF-C630-4DD2-8112-84CB80DDDC3C}"/>
              </a:ext>
            </a:extLst>
          </p:cNvPr>
          <p:cNvSpPr/>
          <p:nvPr/>
        </p:nvSpPr>
        <p:spPr>
          <a:xfrm>
            <a:off x="4059643" y="4013125"/>
            <a:ext cx="1194833" cy="54492"/>
          </a:xfrm>
          <a:custGeom>
            <a:avLst/>
            <a:gdLst>
              <a:gd name="connsiteX0" fmla="*/ 0 w 1194833"/>
              <a:gd name="connsiteY0" fmla="*/ 27246 h 54492"/>
              <a:gd name="connsiteX1" fmla="*/ 1194833 w 1194833"/>
              <a:gd name="connsiteY1" fmla="*/ 27246 h 54492"/>
            </a:gdLst>
            <a:ahLst/>
            <a:cxnLst>
              <a:cxn ang="0">
                <a:pos x="connsiteX0" y="connsiteY0"/>
              </a:cxn>
              <a:cxn ang="0">
                <a:pos x="connsiteX1" y="connsiteY1"/>
              </a:cxn>
            </a:cxnLst>
            <a:rect l="l" t="t" r="r" b="b"/>
            <a:pathLst>
              <a:path w="1194833" h="54492">
                <a:moveTo>
                  <a:pt x="0" y="27246"/>
                </a:moveTo>
                <a:lnTo>
                  <a:pt x="1194833" y="27246"/>
                </a:lnTo>
              </a:path>
            </a:pathLst>
          </a:custGeom>
          <a:noFill/>
        </p:spPr>
        <p:style>
          <a:lnRef idx="2">
            <a:schemeClr val="dk2">
              <a:shade val="60000"/>
              <a:hueOff val="0"/>
              <a:satOff val="0"/>
              <a:lumOff val="0"/>
              <a:alphaOff val="0"/>
            </a:schemeClr>
          </a:lnRef>
          <a:fillRef idx="0">
            <a:scrgbClr r="0" g="0" b="0"/>
          </a:fillRef>
          <a:effectRef idx="0">
            <a:schemeClr val="dk2">
              <a:hueOff val="0"/>
              <a:satOff val="0"/>
              <a:lumOff val="0"/>
              <a:alphaOff val="0"/>
            </a:schemeClr>
          </a:effectRef>
          <a:fontRef idx="minor">
            <a:schemeClr val="tx1">
              <a:hueOff val="0"/>
              <a:satOff val="0"/>
              <a:lumOff val="0"/>
              <a:alphaOff val="0"/>
            </a:schemeClr>
          </a:fontRef>
        </p:style>
        <p:txBody>
          <a:bodyPr spcFirstLastPara="0" vert="horz" wrap="square" lIns="580246" tIns="-2625" rIns="580246" bIns="-2624" numCol="1" spcCol="1270" anchor="ctr" anchorCtr="0">
            <a:noAutofit/>
          </a:bodyPr>
          <a:lstStyle/>
          <a:p>
            <a:pPr marL="0" marR="0" lvl="0" indent="0" algn="ctr" defTabSz="222250" rtl="0" eaLnBrk="1" fontAlgn="auto" latinLnBrk="0" hangingPunct="1">
              <a:lnSpc>
                <a:spcPct val="90000"/>
              </a:lnSpc>
              <a:spcBef>
                <a:spcPct val="0"/>
              </a:spcBef>
              <a:spcAft>
                <a:spcPct val="35000"/>
              </a:spcAft>
              <a:buClrTx/>
              <a:buSzTx/>
              <a:buFontTx/>
              <a:buNone/>
              <a:tabLst/>
              <a:defRPr/>
            </a:pPr>
            <a:endParaRPr kumimoji="0" lang="en-IN" sz="500" b="0" i="0" u="none" strike="noStrike" kern="1200" cap="none" spc="0" normalizeH="0" baseline="0" noProof="0">
              <a:ln>
                <a:noFill/>
              </a:ln>
              <a:solidFill>
                <a:prstClr val="black">
                  <a:hueOff val="0"/>
                  <a:satOff val="0"/>
                  <a:lumOff val="0"/>
                  <a:alphaOff val="0"/>
                </a:prstClr>
              </a:solidFill>
              <a:effectLst/>
              <a:uLnTx/>
              <a:uFillTx/>
              <a:latin typeface="Bahnschrift" panose="020B0502040204020203" pitchFamily="34" charset="0"/>
              <a:ea typeface="+mn-ea"/>
              <a:cs typeface="+mn-cs"/>
            </a:endParaRPr>
          </a:p>
        </p:txBody>
      </p:sp>
      <p:sp>
        <p:nvSpPr>
          <p:cNvPr id="9" name="Freeform: Shape 8">
            <a:extLst>
              <a:ext uri="{FF2B5EF4-FFF2-40B4-BE49-F238E27FC236}">
                <a16:creationId xmlns:a16="http://schemas.microsoft.com/office/drawing/2014/main" id="{879A96A3-EF90-470E-92B4-8F09BF8B5A94}"/>
              </a:ext>
            </a:extLst>
          </p:cNvPr>
          <p:cNvSpPr/>
          <p:nvPr/>
        </p:nvSpPr>
        <p:spPr>
          <a:xfrm>
            <a:off x="5254477" y="3293600"/>
            <a:ext cx="2987084" cy="1493542"/>
          </a:xfrm>
          <a:custGeom>
            <a:avLst/>
            <a:gdLst>
              <a:gd name="connsiteX0" fmla="*/ 0 w 2987084"/>
              <a:gd name="connsiteY0" fmla="*/ 149354 h 1493542"/>
              <a:gd name="connsiteX1" fmla="*/ 149354 w 2987084"/>
              <a:gd name="connsiteY1" fmla="*/ 0 h 1493542"/>
              <a:gd name="connsiteX2" fmla="*/ 2837730 w 2987084"/>
              <a:gd name="connsiteY2" fmla="*/ 0 h 1493542"/>
              <a:gd name="connsiteX3" fmla="*/ 2987084 w 2987084"/>
              <a:gd name="connsiteY3" fmla="*/ 149354 h 1493542"/>
              <a:gd name="connsiteX4" fmla="*/ 2987084 w 2987084"/>
              <a:gd name="connsiteY4" fmla="*/ 1344188 h 1493542"/>
              <a:gd name="connsiteX5" fmla="*/ 2837730 w 2987084"/>
              <a:gd name="connsiteY5" fmla="*/ 1493542 h 1493542"/>
              <a:gd name="connsiteX6" fmla="*/ 149354 w 2987084"/>
              <a:gd name="connsiteY6" fmla="*/ 1493542 h 1493542"/>
              <a:gd name="connsiteX7" fmla="*/ 0 w 2987084"/>
              <a:gd name="connsiteY7" fmla="*/ 1344188 h 1493542"/>
              <a:gd name="connsiteX8" fmla="*/ 0 w 2987084"/>
              <a:gd name="connsiteY8" fmla="*/ 149354 h 1493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87084" h="1493542">
                <a:moveTo>
                  <a:pt x="0" y="149354"/>
                </a:moveTo>
                <a:cubicBezTo>
                  <a:pt x="0" y="66868"/>
                  <a:pt x="66868" y="0"/>
                  <a:pt x="149354" y="0"/>
                </a:cubicBezTo>
                <a:lnTo>
                  <a:pt x="2837730" y="0"/>
                </a:lnTo>
                <a:cubicBezTo>
                  <a:pt x="2920216" y="0"/>
                  <a:pt x="2987084" y="66868"/>
                  <a:pt x="2987084" y="149354"/>
                </a:cubicBezTo>
                <a:lnTo>
                  <a:pt x="2987084" y="1344188"/>
                </a:lnTo>
                <a:cubicBezTo>
                  <a:pt x="2987084" y="1426674"/>
                  <a:pt x="2920216" y="1493542"/>
                  <a:pt x="2837730" y="1493542"/>
                </a:cubicBezTo>
                <a:lnTo>
                  <a:pt x="149354" y="1493542"/>
                </a:lnTo>
                <a:cubicBezTo>
                  <a:pt x="66868" y="1493542"/>
                  <a:pt x="0" y="1426674"/>
                  <a:pt x="0" y="1344188"/>
                </a:cubicBezTo>
                <a:lnTo>
                  <a:pt x="0" y="149354"/>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60254" tIns="60254" rIns="60254" bIns="60254" numCol="1" spcCol="1270" anchor="ctr" anchorCtr="0">
            <a:noAutofit/>
          </a:bodyPr>
          <a:lstStyle/>
          <a:p>
            <a:pPr marL="0" marR="0" lvl="0" indent="0" algn="ctr" defTabSz="1155700" rtl="0" eaLnBrk="1" fontAlgn="auto" latinLnBrk="0" hangingPunct="1">
              <a:lnSpc>
                <a:spcPct val="90000"/>
              </a:lnSpc>
              <a:spcBef>
                <a:spcPct val="0"/>
              </a:spcBef>
              <a:spcAft>
                <a:spcPct val="35000"/>
              </a:spcAft>
              <a:buClrTx/>
              <a:buSzTx/>
              <a:buFontTx/>
              <a:buNone/>
              <a:tabLst/>
              <a:defRPr/>
            </a:pPr>
            <a:r>
              <a:rPr kumimoji="0" lang="en-US" sz="2600" b="0" i="0" u="none" strike="noStrike" kern="1200" cap="none" spc="0" normalizeH="0" baseline="0" noProof="0" dirty="0">
                <a:ln>
                  <a:noFill/>
                </a:ln>
                <a:solidFill>
                  <a:prstClr val="white"/>
                </a:solidFill>
                <a:effectLst/>
                <a:uLnTx/>
                <a:uFillTx/>
                <a:latin typeface="Bahnschrift" panose="020B0502040204020203" pitchFamily="34" charset="0"/>
                <a:ea typeface="+mn-ea"/>
                <a:cs typeface="+mn-cs"/>
              </a:rPr>
              <a:t>parent </a:t>
            </a:r>
          </a:p>
        </p:txBody>
      </p:sp>
      <p:sp>
        <p:nvSpPr>
          <p:cNvPr id="10" name="Freeform: Shape 9">
            <a:extLst>
              <a:ext uri="{FF2B5EF4-FFF2-40B4-BE49-F238E27FC236}">
                <a16:creationId xmlns:a16="http://schemas.microsoft.com/office/drawing/2014/main" id="{1B520177-B363-486B-914E-421A32C397AC}"/>
              </a:ext>
            </a:extLst>
          </p:cNvPr>
          <p:cNvSpPr/>
          <p:nvPr/>
        </p:nvSpPr>
        <p:spPr>
          <a:xfrm rot="3310531">
            <a:off x="3610914" y="4871912"/>
            <a:ext cx="2092292" cy="54492"/>
          </a:xfrm>
          <a:custGeom>
            <a:avLst/>
            <a:gdLst>
              <a:gd name="connsiteX0" fmla="*/ 0 w 2092292"/>
              <a:gd name="connsiteY0" fmla="*/ 27246 h 54492"/>
              <a:gd name="connsiteX1" fmla="*/ 2092292 w 2092292"/>
              <a:gd name="connsiteY1" fmla="*/ 27246 h 54492"/>
            </a:gdLst>
            <a:ahLst/>
            <a:cxnLst>
              <a:cxn ang="0">
                <a:pos x="connsiteX0" y="connsiteY0"/>
              </a:cxn>
              <a:cxn ang="0">
                <a:pos x="connsiteX1" y="connsiteY1"/>
              </a:cxn>
            </a:cxnLst>
            <a:rect l="l" t="t" r="r" b="b"/>
            <a:pathLst>
              <a:path w="2092292" h="54492">
                <a:moveTo>
                  <a:pt x="0" y="27246"/>
                </a:moveTo>
                <a:lnTo>
                  <a:pt x="2092292" y="27246"/>
                </a:lnTo>
              </a:path>
            </a:pathLst>
          </a:custGeom>
          <a:noFill/>
        </p:spPr>
        <p:style>
          <a:lnRef idx="2">
            <a:schemeClr val="dk2">
              <a:shade val="60000"/>
              <a:hueOff val="0"/>
              <a:satOff val="0"/>
              <a:lumOff val="0"/>
              <a:alphaOff val="0"/>
            </a:schemeClr>
          </a:lnRef>
          <a:fillRef idx="0">
            <a:scrgbClr r="0" g="0" b="0"/>
          </a:fillRef>
          <a:effectRef idx="0">
            <a:schemeClr val="dk2">
              <a:hueOff val="0"/>
              <a:satOff val="0"/>
              <a:lumOff val="0"/>
              <a:alphaOff val="0"/>
            </a:schemeClr>
          </a:effectRef>
          <a:fontRef idx="minor">
            <a:schemeClr val="tx1">
              <a:hueOff val="0"/>
              <a:satOff val="0"/>
              <a:lumOff val="0"/>
              <a:alphaOff val="0"/>
            </a:schemeClr>
          </a:fontRef>
        </p:style>
        <p:txBody>
          <a:bodyPr spcFirstLastPara="0" vert="horz" wrap="square" lIns="1006538" tIns="-25062" rIns="1006539" bIns="-25061" numCol="1" spcCol="1270" anchor="ctr" anchorCtr="0">
            <a:noAutofit/>
          </a:bodyPr>
          <a:lstStyle/>
          <a:p>
            <a:pPr marL="0" marR="0" lvl="0" indent="0" algn="ctr" defTabSz="311150" rtl="0" eaLnBrk="1" fontAlgn="auto" latinLnBrk="0" hangingPunct="1">
              <a:lnSpc>
                <a:spcPct val="90000"/>
              </a:lnSpc>
              <a:spcBef>
                <a:spcPct val="0"/>
              </a:spcBef>
              <a:spcAft>
                <a:spcPct val="35000"/>
              </a:spcAft>
              <a:buClrTx/>
              <a:buSzTx/>
              <a:buFontTx/>
              <a:buNone/>
              <a:tabLst/>
              <a:defRPr/>
            </a:pPr>
            <a:endParaRPr kumimoji="0" lang="en-IN" sz="700" b="0" i="0" u="none" strike="noStrike" kern="1200" cap="none" spc="0" normalizeH="0" baseline="0" noProof="0">
              <a:ln>
                <a:noFill/>
              </a:ln>
              <a:solidFill>
                <a:prstClr val="black">
                  <a:hueOff val="0"/>
                  <a:satOff val="0"/>
                  <a:lumOff val="0"/>
                  <a:alphaOff val="0"/>
                </a:prstClr>
              </a:solidFill>
              <a:effectLst/>
              <a:uLnTx/>
              <a:uFillTx/>
              <a:latin typeface="Bahnschrift" panose="020B0502040204020203" pitchFamily="34" charset="0"/>
              <a:ea typeface="+mn-ea"/>
              <a:cs typeface="+mn-cs"/>
            </a:endParaRPr>
          </a:p>
        </p:txBody>
      </p:sp>
      <p:sp>
        <p:nvSpPr>
          <p:cNvPr id="11" name="Freeform: Shape 10">
            <a:extLst>
              <a:ext uri="{FF2B5EF4-FFF2-40B4-BE49-F238E27FC236}">
                <a16:creationId xmlns:a16="http://schemas.microsoft.com/office/drawing/2014/main" id="{5CBB46AC-23C7-4913-B187-CF8A963AC2AD}"/>
              </a:ext>
            </a:extLst>
          </p:cNvPr>
          <p:cNvSpPr/>
          <p:nvPr/>
        </p:nvSpPr>
        <p:spPr>
          <a:xfrm>
            <a:off x="5254477" y="5011173"/>
            <a:ext cx="2987084" cy="1493542"/>
          </a:xfrm>
          <a:custGeom>
            <a:avLst/>
            <a:gdLst>
              <a:gd name="connsiteX0" fmla="*/ 0 w 2987084"/>
              <a:gd name="connsiteY0" fmla="*/ 149354 h 1493542"/>
              <a:gd name="connsiteX1" fmla="*/ 149354 w 2987084"/>
              <a:gd name="connsiteY1" fmla="*/ 0 h 1493542"/>
              <a:gd name="connsiteX2" fmla="*/ 2837730 w 2987084"/>
              <a:gd name="connsiteY2" fmla="*/ 0 h 1493542"/>
              <a:gd name="connsiteX3" fmla="*/ 2987084 w 2987084"/>
              <a:gd name="connsiteY3" fmla="*/ 149354 h 1493542"/>
              <a:gd name="connsiteX4" fmla="*/ 2987084 w 2987084"/>
              <a:gd name="connsiteY4" fmla="*/ 1344188 h 1493542"/>
              <a:gd name="connsiteX5" fmla="*/ 2837730 w 2987084"/>
              <a:gd name="connsiteY5" fmla="*/ 1493542 h 1493542"/>
              <a:gd name="connsiteX6" fmla="*/ 149354 w 2987084"/>
              <a:gd name="connsiteY6" fmla="*/ 1493542 h 1493542"/>
              <a:gd name="connsiteX7" fmla="*/ 0 w 2987084"/>
              <a:gd name="connsiteY7" fmla="*/ 1344188 h 1493542"/>
              <a:gd name="connsiteX8" fmla="*/ 0 w 2987084"/>
              <a:gd name="connsiteY8" fmla="*/ 149354 h 1493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87084" h="1493542">
                <a:moveTo>
                  <a:pt x="0" y="149354"/>
                </a:moveTo>
                <a:cubicBezTo>
                  <a:pt x="0" y="66868"/>
                  <a:pt x="66868" y="0"/>
                  <a:pt x="149354" y="0"/>
                </a:cubicBezTo>
                <a:lnTo>
                  <a:pt x="2837730" y="0"/>
                </a:lnTo>
                <a:cubicBezTo>
                  <a:pt x="2920216" y="0"/>
                  <a:pt x="2987084" y="66868"/>
                  <a:pt x="2987084" y="149354"/>
                </a:cubicBezTo>
                <a:lnTo>
                  <a:pt x="2987084" y="1344188"/>
                </a:lnTo>
                <a:cubicBezTo>
                  <a:pt x="2987084" y="1426674"/>
                  <a:pt x="2920216" y="1493542"/>
                  <a:pt x="2837730" y="1493542"/>
                </a:cubicBezTo>
                <a:lnTo>
                  <a:pt x="149354" y="1493542"/>
                </a:lnTo>
                <a:cubicBezTo>
                  <a:pt x="66868" y="1493542"/>
                  <a:pt x="0" y="1426674"/>
                  <a:pt x="0" y="1344188"/>
                </a:cubicBezTo>
                <a:lnTo>
                  <a:pt x="0" y="149354"/>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60254" tIns="60254" rIns="60254" bIns="60254" numCol="1" spcCol="1270" anchor="ctr" anchorCtr="0">
            <a:noAutofit/>
          </a:bodyPr>
          <a:lstStyle/>
          <a:p>
            <a:pPr marL="0" marR="0" lvl="0" indent="0" algn="ctr" defTabSz="1155700" rtl="0" eaLnBrk="1" fontAlgn="auto" latinLnBrk="0" hangingPunct="1">
              <a:lnSpc>
                <a:spcPct val="90000"/>
              </a:lnSpc>
              <a:spcBef>
                <a:spcPct val="0"/>
              </a:spcBef>
              <a:spcAft>
                <a:spcPct val="35000"/>
              </a:spcAft>
              <a:buClrTx/>
              <a:buSzTx/>
              <a:buFontTx/>
              <a:buNone/>
              <a:tabLst/>
              <a:defRPr/>
            </a:pPr>
            <a:r>
              <a:rPr kumimoji="0" lang="en-US" sz="2600" b="0" i="0" u="none" strike="noStrike" kern="1200" cap="none" spc="0" normalizeH="0" baseline="0" noProof="0">
                <a:ln>
                  <a:noFill/>
                </a:ln>
                <a:solidFill>
                  <a:prstClr val="white"/>
                </a:solidFill>
                <a:effectLst/>
                <a:uLnTx/>
                <a:uFillTx/>
                <a:latin typeface="Bahnschrift" panose="020B0502040204020203" pitchFamily="34" charset="0"/>
                <a:ea typeface="+mn-ea"/>
                <a:cs typeface="+mn-cs"/>
              </a:rPr>
              <a:t>and leaf.</a:t>
            </a:r>
            <a:endParaRPr kumimoji="0" lang="en-US" sz="2600" b="0" i="0" u="none" strike="noStrike" kern="1200" cap="none" spc="0" normalizeH="0" baseline="0" noProof="0" dirty="0">
              <a:ln>
                <a:noFill/>
              </a:ln>
              <a:solidFill>
                <a:prstClr val="white"/>
              </a:solidFill>
              <a:effectLst/>
              <a:uLnTx/>
              <a:uFillTx/>
              <a:latin typeface="Bahnschrift" panose="020B0502040204020203" pitchFamily="34" charset="0"/>
              <a:ea typeface="+mn-ea"/>
              <a:cs typeface="+mn-cs"/>
            </a:endParaRPr>
          </a:p>
        </p:txBody>
      </p:sp>
    </p:spTree>
    <p:extLst>
      <p:ext uri="{BB962C8B-B14F-4D97-AF65-F5344CB8AC3E}">
        <p14:creationId xmlns:p14="http://schemas.microsoft.com/office/powerpoint/2010/main" val="26705905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DAACE2E-EAD3-4D50-8BAA-55247BB66D71}"/>
              </a:ext>
            </a:extLst>
          </p:cNvPr>
          <p:cNvSpPr>
            <a:spLocks noGrp="1"/>
          </p:cNvSpPr>
          <p:nvPr>
            <p:ph idx="1"/>
          </p:nvPr>
        </p:nvSpPr>
        <p:spPr>
          <a:xfrm>
            <a:off x="508483" y="2106797"/>
            <a:ext cx="4063517" cy="2644405"/>
          </a:xfrm>
        </p:spPr>
        <p:txBody>
          <a:bodyPr vert="horz" lIns="91440" tIns="45720" rIns="91440" bIns="45720" rtlCol="0">
            <a:noAutofit/>
          </a:bodyPr>
          <a:lstStyle/>
          <a:p>
            <a:pPr marL="0" indent="0" algn="just" fontAlgn="base">
              <a:lnSpc>
                <a:spcPct val="170000"/>
              </a:lnSpc>
              <a:buNone/>
            </a:pPr>
            <a:r>
              <a:rPr lang="en-US" dirty="0"/>
              <a:t>To ensure fairness and stability, it also provides limits on initialized and pending apps from a single user and queue.</a:t>
            </a:r>
            <a:endParaRPr lang="en-IN" dirty="0"/>
          </a:p>
        </p:txBody>
      </p:sp>
      <p:sp>
        <p:nvSpPr>
          <p:cNvPr id="3" name="Title 2">
            <a:extLst>
              <a:ext uri="{FF2B5EF4-FFF2-40B4-BE49-F238E27FC236}">
                <a16:creationId xmlns:a16="http://schemas.microsoft.com/office/drawing/2014/main" id="{103E2F03-5CB9-4708-A865-35A831AB653F}"/>
              </a:ext>
            </a:extLst>
          </p:cNvPr>
          <p:cNvSpPr>
            <a:spLocks noGrp="1"/>
          </p:cNvSpPr>
          <p:nvPr>
            <p:ph type="title"/>
          </p:nvPr>
        </p:nvSpPr>
        <p:spPr/>
        <p:txBody>
          <a:bodyPr vert="horz" lIns="91440" tIns="45720" rIns="91440" bIns="45720" rtlCol="0" anchor="ctr">
            <a:noAutofit/>
          </a:bodyPr>
          <a:lstStyle/>
          <a:p>
            <a:r>
              <a:rPr lang="en-US" dirty="0"/>
              <a:t>Capacity Scheduler</a:t>
            </a:r>
            <a:endParaRPr lang="en-IN" dirty="0"/>
          </a:p>
        </p:txBody>
      </p:sp>
      <p:pic>
        <p:nvPicPr>
          <p:cNvPr id="4" name="Picture 3">
            <a:extLst>
              <a:ext uri="{FF2B5EF4-FFF2-40B4-BE49-F238E27FC236}">
                <a16:creationId xmlns:a16="http://schemas.microsoft.com/office/drawing/2014/main" id="{75D00506-990F-4E91-A0B4-CB293E0D7DAF}"/>
              </a:ext>
            </a:extLst>
          </p:cNvPr>
          <p:cNvPicPr>
            <a:picLocks noChangeAspect="1"/>
          </p:cNvPicPr>
          <p:nvPr/>
        </p:nvPicPr>
        <p:blipFill>
          <a:blip r:embed="rId2"/>
          <a:stretch>
            <a:fillRect/>
          </a:stretch>
        </p:blipFill>
        <p:spPr>
          <a:xfrm>
            <a:off x="5140886" y="2743907"/>
            <a:ext cx="3769684" cy="2644405"/>
          </a:xfrm>
          <a:prstGeom prst="rect">
            <a:avLst/>
          </a:prstGeom>
        </p:spPr>
      </p:pic>
    </p:spTree>
    <p:extLst>
      <p:ext uri="{BB962C8B-B14F-4D97-AF65-F5344CB8AC3E}">
        <p14:creationId xmlns:p14="http://schemas.microsoft.com/office/powerpoint/2010/main" val="16292276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DAACE2E-EAD3-4D50-8BAA-55247BB66D71}"/>
              </a:ext>
            </a:extLst>
          </p:cNvPr>
          <p:cNvSpPr>
            <a:spLocks noGrp="1"/>
          </p:cNvSpPr>
          <p:nvPr>
            <p:ph idx="1"/>
          </p:nvPr>
        </p:nvSpPr>
        <p:spPr>
          <a:xfrm>
            <a:off x="338362" y="1524291"/>
            <a:ext cx="8582354" cy="5048778"/>
          </a:xfrm>
        </p:spPr>
        <p:txBody>
          <a:bodyPr vert="horz" lIns="91440" tIns="45720" rIns="91440" bIns="45720" rtlCol="0">
            <a:normAutofit/>
          </a:bodyPr>
          <a:lstStyle/>
          <a:p>
            <a:pPr algn="just" fontAlgn="base"/>
            <a:r>
              <a:rPr lang="en-US" dirty="0"/>
              <a:t>It maximizes the utilization of resources and throughput in the Hadoop cluster.</a:t>
            </a:r>
          </a:p>
          <a:p>
            <a:pPr algn="just" fontAlgn="base"/>
            <a:r>
              <a:rPr lang="en-US" dirty="0"/>
              <a:t>Provides elasticity for groups or organizations in a cost-effective manner.</a:t>
            </a:r>
          </a:p>
          <a:p>
            <a:pPr algn="just" fontAlgn="base"/>
            <a:r>
              <a:rPr lang="en-US" dirty="0"/>
              <a:t>It also gives capacity guarantees and safeguards to the organization utilizing cluster.</a:t>
            </a:r>
          </a:p>
        </p:txBody>
      </p:sp>
      <p:sp>
        <p:nvSpPr>
          <p:cNvPr id="3" name="Title 2">
            <a:extLst>
              <a:ext uri="{FF2B5EF4-FFF2-40B4-BE49-F238E27FC236}">
                <a16:creationId xmlns:a16="http://schemas.microsoft.com/office/drawing/2014/main" id="{103E2F03-5CB9-4708-A865-35A831AB653F}"/>
              </a:ext>
            </a:extLst>
          </p:cNvPr>
          <p:cNvSpPr>
            <a:spLocks noGrp="1"/>
          </p:cNvSpPr>
          <p:nvPr>
            <p:ph type="title"/>
          </p:nvPr>
        </p:nvSpPr>
        <p:spPr/>
        <p:txBody>
          <a:bodyPr vert="horz" lIns="91440" tIns="45720" rIns="91440" bIns="45720" rtlCol="0" anchor="ctr">
            <a:noAutofit/>
          </a:bodyPr>
          <a:lstStyle/>
          <a:p>
            <a:r>
              <a:rPr lang="en-US" dirty="0"/>
              <a:t>Advantages of Capacity Scheduler</a:t>
            </a:r>
            <a:endParaRPr lang="en-IN" dirty="0"/>
          </a:p>
        </p:txBody>
      </p:sp>
    </p:spTree>
    <p:extLst>
      <p:ext uri="{BB962C8B-B14F-4D97-AF65-F5344CB8AC3E}">
        <p14:creationId xmlns:p14="http://schemas.microsoft.com/office/powerpoint/2010/main" val="29990149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DAACE2E-EAD3-4D50-8BAA-55247BB66D71}"/>
              </a:ext>
            </a:extLst>
          </p:cNvPr>
          <p:cNvSpPr>
            <a:spLocks noGrp="1"/>
          </p:cNvSpPr>
          <p:nvPr>
            <p:ph idx="1"/>
          </p:nvPr>
        </p:nvSpPr>
        <p:spPr>
          <a:xfrm>
            <a:off x="338362" y="1524291"/>
            <a:ext cx="8582354" cy="5048778"/>
          </a:xfrm>
        </p:spPr>
        <p:txBody>
          <a:bodyPr vert="horz" lIns="91440" tIns="45720" rIns="91440" bIns="45720" rtlCol="0">
            <a:normAutofit/>
          </a:bodyPr>
          <a:lstStyle/>
          <a:p>
            <a:pPr algn="just" fontAlgn="base"/>
            <a:r>
              <a:rPr lang="en-US" dirty="0"/>
              <a:t>It is complex amongst the other scheduler.</a:t>
            </a:r>
          </a:p>
        </p:txBody>
      </p:sp>
      <p:sp>
        <p:nvSpPr>
          <p:cNvPr id="3" name="Title 2">
            <a:extLst>
              <a:ext uri="{FF2B5EF4-FFF2-40B4-BE49-F238E27FC236}">
                <a16:creationId xmlns:a16="http://schemas.microsoft.com/office/drawing/2014/main" id="{103E2F03-5CB9-4708-A865-35A831AB653F}"/>
              </a:ext>
            </a:extLst>
          </p:cNvPr>
          <p:cNvSpPr>
            <a:spLocks noGrp="1"/>
          </p:cNvSpPr>
          <p:nvPr>
            <p:ph type="title"/>
          </p:nvPr>
        </p:nvSpPr>
        <p:spPr/>
        <p:txBody>
          <a:bodyPr vert="horz" lIns="91440" tIns="45720" rIns="91440" bIns="45720" rtlCol="0" anchor="ctr">
            <a:noAutofit/>
          </a:bodyPr>
          <a:lstStyle/>
          <a:p>
            <a:r>
              <a:rPr lang="en-US" dirty="0"/>
              <a:t>Disadvantages of Capacity Scheduler</a:t>
            </a:r>
            <a:endParaRPr lang="en-IN" dirty="0"/>
          </a:p>
        </p:txBody>
      </p:sp>
    </p:spTree>
    <p:extLst>
      <p:ext uri="{BB962C8B-B14F-4D97-AF65-F5344CB8AC3E}">
        <p14:creationId xmlns:p14="http://schemas.microsoft.com/office/powerpoint/2010/main" val="31405641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B840167-9602-405C-9E40-BE981FEAD5F2}"/>
              </a:ext>
            </a:extLst>
          </p:cNvPr>
          <p:cNvSpPr>
            <a:spLocks noGrp="1"/>
          </p:cNvSpPr>
          <p:nvPr>
            <p:ph type="title"/>
          </p:nvPr>
        </p:nvSpPr>
        <p:spPr/>
        <p:txBody>
          <a:bodyPr vert="horz" lIns="91440" tIns="45720" rIns="91440" bIns="45720" rtlCol="0" anchor="ctr">
            <a:noAutofit/>
          </a:bodyPr>
          <a:lstStyle/>
          <a:p>
            <a:r>
              <a:rPr lang="en-US" dirty="0"/>
              <a:t>Types of HADOOP Scheduler</a:t>
            </a:r>
            <a:endParaRPr lang="en-IN" dirty="0"/>
          </a:p>
        </p:txBody>
      </p:sp>
      <p:sp>
        <p:nvSpPr>
          <p:cNvPr id="4" name="Freeform: Shape 3">
            <a:extLst>
              <a:ext uri="{FF2B5EF4-FFF2-40B4-BE49-F238E27FC236}">
                <a16:creationId xmlns:a16="http://schemas.microsoft.com/office/drawing/2014/main" id="{2AB2E97D-E8F1-449C-99D1-01B1352306E3}"/>
              </a:ext>
            </a:extLst>
          </p:cNvPr>
          <p:cNvSpPr/>
          <p:nvPr/>
        </p:nvSpPr>
        <p:spPr>
          <a:xfrm>
            <a:off x="810953" y="2968052"/>
            <a:ext cx="7522094" cy="1325563"/>
          </a:xfrm>
          <a:custGeom>
            <a:avLst/>
            <a:gdLst>
              <a:gd name="connsiteX0" fmla="*/ 0 w 7522094"/>
              <a:gd name="connsiteY0" fmla="*/ 0 h 4513256"/>
              <a:gd name="connsiteX1" fmla="*/ 7522094 w 7522094"/>
              <a:gd name="connsiteY1" fmla="*/ 0 h 4513256"/>
              <a:gd name="connsiteX2" fmla="*/ 7522094 w 7522094"/>
              <a:gd name="connsiteY2" fmla="*/ 4513256 h 4513256"/>
              <a:gd name="connsiteX3" fmla="*/ 0 w 7522094"/>
              <a:gd name="connsiteY3" fmla="*/ 4513256 h 4513256"/>
              <a:gd name="connsiteX4" fmla="*/ 0 w 7522094"/>
              <a:gd name="connsiteY4" fmla="*/ 0 h 4513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22094" h="4513256">
                <a:moveTo>
                  <a:pt x="0" y="0"/>
                </a:moveTo>
                <a:lnTo>
                  <a:pt x="7522094" y="0"/>
                </a:lnTo>
                <a:lnTo>
                  <a:pt x="7522094" y="4513256"/>
                </a:lnTo>
                <a:lnTo>
                  <a:pt x="0" y="4513256"/>
                </a:lnTo>
                <a:lnTo>
                  <a:pt x="0" y="0"/>
                </a:lnTo>
                <a:close/>
              </a:path>
            </a:pathLst>
          </a:custGeom>
          <a:solidFill>
            <a:srgbClr val="44525A"/>
          </a:solidFill>
          <a:ln>
            <a:noFill/>
          </a:ln>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247650" tIns="247650" rIns="247650" bIns="247650" numCol="1" spcCol="1270" anchor="ctr" anchorCtr="0">
            <a:noAutofit/>
          </a:bodyPr>
          <a:lstStyle/>
          <a:p>
            <a:pPr marL="0" marR="0" lvl="0" indent="0" algn="ctr" defTabSz="2889250" rtl="0" eaLnBrk="1" fontAlgn="auto" latinLnBrk="0" hangingPunct="1">
              <a:lnSpc>
                <a:spcPct val="90000"/>
              </a:lnSpc>
              <a:spcBef>
                <a:spcPct val="0"/>
              </a:spcBef>
              <a:spcAft>
                <a:spcPct val="35000"/>
              </a:spcAft>
              <a:buClrTx/>
              <a:buSzTx/>
              <a:buFontTx/>
              <a:buNone/>
              <a:tabLst/>
              <a:defRPr/>
            </a:pPr>
            <a:r>
              <a:rPr kumimoji="0" lang="en-US" sz="4800" b="0" i="0" u="none" strike="noStrike" kern="1200" cap="none" spc="0" normalizeH="0" baseline="0" noProof="0" dirty="0">
                <a:ln>
                  <a:noFill/>
                </a:ln>
                <a:solidFill>
                  <a:prstClr val="white"/>
                </a:solidFill>
                <a:effectLst/>
                <a:uLnTx/>
                <a:uFillTx/>
                <a:latin typeface="Bahnschrift" panose="020B0502040204020203" pitchFamily="34" charset="0"/>
                <a:ea typeface="+mn-ea"/>
                <a:cs typeface="+mn-cs"/>
              </a:rPr>
              <a:t>Fair Scheduler</a:t>
            </a:r>
          </a:p>
        </p:txBody>
      </p:sp>
    </p:spTree>
    <p:extLst>
      <p:ext uri="{BB962C8B-B14F-4D97-AF65-F5344CB8AC3E}">
        <p14:creationId xmlns:p14="http://schemas.microsoft.com/office/powerpoint/2010/main" val="29250189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72235">
            <a:alpha val="0"/>
          </a:srgbClr>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9F2A7C7-9E50-4D1B-8F9B-E5698189F97F}"/>
              </a:ext>
            </a:extLst>
          </p:cNvPr>
          <p:cNvPicPr>
            <a:picLocks noGrp="1" noChangeAspect="1"/>
          </p:cNvPicPr>
          <p:nvPr>
            <p:ph idx="1"/>
          </p:nvPr>
        </p:nvPicPr>
        <p:blipFill>
          <a:blip r:embed="rId2"/>
          <a:stretch>
            <a:fillRect/>
          </a:stretch>
        </p:blipFill>
        <p:spPr>
          <a:xfrm>
            <a:off x="797340" y="1628775"/>
            <a:ext cx="7468358" cy="5003800"/>
          </a:xfrm>
          <a:prstGeom prst="rect">
            <a:avLst/>
          </a:prstGeom>
        </p:spPr>
      </p:pic>
      <p:sp>
        <p:nvSpPr>
          <p:cNvPr id="3" name="Title 2">
            <a:extLst>
              <a:ext uri="{FF2B5EF4-FFF2-40B4-BE49-F238E27FC236}">
                <a16:creationId xmlns:a16="http://schemas.microsoft.com/office/drawing/2014/main" id="{8668AC0A-0ABB-42D9-9329-373906AC18A3}"/>
              </a:ext>
            </a:extLst>
          </p:cNvPr>
          <p:cNvSpPr>
            <a:spLocks noGrp="1"/>
          </p:cNvSpPr>
          <p:nvPr>
            <p:ph type="title"/>
          </p:nvPr>
        </p:nvSpPr>
        <p:spPr/>
        <p:txBody>
          <a:bodyPr vert="horz" lIns="91440" tIns="45720" rIns="91440" bIns="45720" rtlCol="0" anchor="ctr">
            <a:noAutofit/>
          </a:bodyPr>
          <a:lstStyle/>
          <a:p>
            <a:r>
              <a:rPr lang="en-US" dirty="0"/>
              <a:t>Types of HADOOP Scheduler</a:t>
            </a:r>
            <a:endParaRPr lang="en-IN" dirty="0"/>
          </a:p>
        </p:txBody>
      </p:sp>
    </p:spTree>
    <p:extLst>
      <p:ext uri="{BB962C8B-B14F-4D97-AF65-F5344CB8AC3E}">
        <p14:creationId xmlns:p14="http://schemas.microsoft.com/office/powerpoint/2010/main" val="7522099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985107E-6F4D-45A0-B2F7-F5E4E8886B33}"/>
              </a:ext>
            </a:extLst>
          </p:cNvPr>
          <p:cNvSpPr>
            <a:spLocks noGrp="1"/>
          </p:cNvSpPr>
          <p:nvPr>
            <p:ph idx="1"/>
          </p:nvPr>
        </p:nvSpPr>
        <p:spPr/>
        <p:txBody>
          <a:bodyPr vert="horz" lIns="91440" tIns="45720" rIns="91440" bIns="45720" rtlCol="0">
            <a:normAutofit/>
          </a:bodyPr>
          <a:lstStyle/>
          <a:p>
            <a:pPr algn="just" fontAlgn="base"/>
            <a:r>
              <a:rPr lang="en-US" dirty="0"/>
              <a:t>It provides a reasonable way to share the Hadoop Cluster between the number of users.</a:t>
            </a:r>
          </a:p>
          <a:p>
            <a:pPr algn="just" fontAlgn="base"/>
            <a:r>
              <a:rPr lang="en-US" dirty="0"/>
              <a:t>Also, the Fair Scheduler can work with app priorities where the priorities are used as weights in determining the fraction of the total resources that each application should get.</a:t>
            </a:r>
          </a:p>
        </p:txBody>
      </p:sp>
      <p:sp>
        <p:nvSpPr>
          <p:cNvPr id="3" name="Title 2">
            <a:extLst>
              <a:ext uri="{FF2B5EF4-FFF2-40B4-BE49-F238E27FC236}">
                <a16:creationId xmlns:a16="http://schemas.microsoft.com/office/drawing/2014/main" id="{6B7D7757-CF76-4930-A60E-266717E31E63}"/>
              </a:ext>
            </a:extLst>
          </p:cNvPr>
          <p:cNvSpPr>
            <a:spLocks noGrp="1"/>
          </p:cNvSpPr>
          <p:nvPr>
            <p:ph type="title"/>
          </p:nvPr>
        </p:nvSpPr>
        <p:spPr/>
        <p:txBody>
          <a:bodyPr vert="horz" lIns="91440" tIns="45720" rIns="91440" bIns="45720" rtlCol="0" anchor="ctr">
            <a:noAutofit/>
          </a:bodyPr>
          <a:lstStyle/>
          <a:p>
            <a:r>
              <a:rPr lang="en-US" dirty="0"/>
              <a:t>Advantages of Fair scheduler</a:t>
            </a:r>
            <a:endParaRPr lang="en-IN" dirty="0"/>
          </a:p>
        </p:txBody>
      </p:sp>
    </p:spTree>
    <p:extLst>
      <p:ext uri="{BB962C8B-B14F-4D97-AF65-F5344CB8AC3E}">
        <p14:creationId xmlns:p14="http://schemas.microsoft.com/office/powerpoint/2010/main" val="36149091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985107E-6F4D-45A0-B2F7-F5E4E8886B33}"/>
              </a:ext>
            </a:extLst>
          </p:cNvPr>
          <p:cNvSpPr>
            <a:spLocks noGrp="1"/>
          </p:cNvSpPr>
          <p:nvPr>
            <p:ph idx="1"/>
          </p:nvPr>
        </p:nvSpPr>
        <p:spPr/>
        <p:txBody>
          <a:bodyPr vert="horz" lIns="91440" tIns="45720" rIns="91440" bIns="45720" rtlCol="0">
            <a:normAutofit/>
          </a:bodyPr>
          <a:lstStyle/>
          <a:p>
            <a:pPr algn="just" fontAlgn="base"/>
            <a:r>
              <a:rPr lang="en-IN" dirty="0"/>
              <a:t>It requires configuration.</a:t>
            </a:r>
          </a:p>
        </p:txBody>
      </p:sp>
      <p:sp>
        <p:nvSpPr>
          <p:cNvPr id="3" name="Title 2">
            <a:extLst>
              <a:ext uri="{FF2B5EF4-FFF2-40B4-BE49-F238E27FC236}">
                <a16:creationId xmlns:a16="http://schemas.microsoft.com/office/drawing/2014/main" id="{6B7D7757-CF76-4930-A60E-266717E31E63}"/>
              </a:ext>
            </a:extLst>
          </p:cNvPr>
          <p:cNvSpPr>
            <a:spLocks noGrp="1"/>
          </p:cNvSpPr>
          <p:nvPr>
            <p:ph type="title"/>
          </p:nvPr>
        </p:nvSpPr>
        <p:spPr/>
        <p:txBody>
          <a:bodyPr vert="horz" lIns="91440" tIns="45720" rIns="91440" bIns="45720" rtlCol="0" anchor="ctr">
            <a:noAutofit/>
          </a:bodyPr>
          <a:lstStyle/>
          <a:p>
            <a:r>
              <a:rPr lang="en-US" dirty="0"/>
              <a:t>Disadvantages of Fair scheduler</a:t>
            </a:r>
            <a:endParaRPr lang="en-IN" dirty="0"/>
          </a:p>
        </p:txBody>
      </p:sp>
    </p:spTree>
    <p:extLst>
      <p:ext uri="{BB962C8B-B14F-4D97-AF65-F5344CB8AC3E}">
        <p14:creationId xmlns:p14="http://schemas.microsoft.com/office/powerpoint/2010/main" val="16513542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E94EB5-8A48-404B-84B4-46640B87D068}"/>
              </a:ext>
            </a:extLst>
          </p:cNvPr>
          <p:cNvSpPr>
            <a:spLocks noGrp="1"/>
          </p:cNvSpPr>
          <p:nvPr>
            <p:ph idx="1"/>
          </p:nvPr>
        </p:nvSpPr>
        <p:spPr>
          <a:xfrm>
            <a:off x="338361" y="1493233"/>
            <a:ext cx="8386537" cy="5004884"/>
          </a:xfrm>
        </p:spPr>
        <p:txBody>
          <a:bodyPr>
            <a:normAutofit/>
          </a:bodyPr>
          <a:lstStyle/>
          <a:p>
            <a:pPr marL="0" indent="0" algn="just">
              <a:buNone/>
            </a:pPr>
            <a:r>
              <a:rPr lang="en-US" sz="2600" dirty="0"/>
              <a:t>In classic MapReduce, there can be three kinds of failures</a:t>
            </a:r>
          </a:p>
          <a:p>
            <a:pPr marL="914400" lvl="1" indent="-457200" algn="just">
              <a:buFont typeface="+mj-lt"/>
              <a:buAutoNum type="arabicPeriod"/>
            </a:pPr>
            <a:r>
              <a:rPr lang="en-US" sz="2600" dirty="0"/>
              <a:t>Failure of map reduce task</a:t>
            </a:r>
          </a:p>
          <a:p>
            <a:pPr marL="914400" lvl="1" indent="-457200" algn="just">
              <a:buFont typeface="+mj-lt"/>
              <a:buAutoNum type="arabicPeriod"/>
            </a:pPr>
            <a:r>
              <a:rPr lang="en-US" sz="2600" dirty="0"/>
              <a:t>Failure of task tacker</a:t>
            </a:r>
          </a:p>
          <a:p>
            <a:pPr marL="914400" lvl="1" indent="-457200" algn="just">
              <a:buFont typeface="+mj-lt"/>
              <a:buAutoNum type="arabicPeriod"/>
            </a:pPr>
            <a:r>
              <a:rPr lang="en-US" sz="2600" dirty="0"/>
              <a:t>Failure of Job Tracker</a:t>
            </a:r>
            <a:endParaRPr lang="en-IN" sz="2600" dirty="0"/>
          </a:p>
        </p:txBody>
      </p:sp>
      <p:sp>
        <p:nvSpPr>
          <p:cNvPr id="3" name="Title 2">
            <a:extLst>
              <a:ext uri="{FF2B5EF4-FFF2-40B4-BE49-F238E27FC236}">
                <a16:creationId xmlns:a16="http://schemas.microsoft.com/office/drawing/2014/main" id="{E0DC6F96-1A97-4649-84ED-AA24AD0D9AD4}"/>
              </a:ext>
            </a:extLst>
          </p:cNvPr>
          <p:cNvSpPr>
            <a:spLocks noGrp="1"/>
          </p:cNvSpPr>
          <p:nvPr>
            <p:ph type="title"/>
          </p:nvPr>
        </p:nvSpPr>
        <p:spPr/>
        <p:txBody>
          <a:bodyPr vert="horz" lIns="91440" tIns="45720" rIns="91440" bIns="45720" rtlCol="0" anchor="ctr">
            <a:noAutofit/>
          </a:bodyPr>
          <a:lstStyle/>
          <a:p>
            <a:r>
              <a:rPr lang="en-IN" dirty="0"/>
              <a:t>Failures in MapReduce</a:t>
            </a:r>
          </a:p>
        </p:txBody>
      </p:sp>
    </p:spTree>
    <p:extLst>
      <p:ext uri="{BB962C8B-B14F-4D97-AF65-F5344CB8AC3E}">
        <p14:creationId xmlns:p14="http://schemas.microsoft.com/office/powerpoint/2010/main" val="20898110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DF980A-8D6C-4BE4-8369-4D0B35B92EA5}"/>
              </a:ext>
            </a:extLst>
          </p:cNvPr>
          <p:cNvSpPr>
            <a:spLocks noGrp="1"/>
          </p:cNvSpPr>
          <p:nvPr>
            <p:ph type="title"/>
          </p:nvPr>
        </p:nvSpPr>
        <p:spPr/>
        <p:txBody>
          <a:bodyPr vert="horz" lIns="91440" tIns="45720" rIns="91440" bIns="45720" rtlCol="0" anchor="ctr">
            <a:noAutofit/>
          </a:bodyPr>
          <a:lstStyle/>
          <a:p>
            <a:r>
              <a:rPr lang="en-IN" dirty="0"/>
              <a:t>Failures in Classic Map-reduce</a:t>
            </a:r>
          </a:p>
        </p:txBody>
      </p:sp>
      <p:grpSp>
        <p:nvGrpSpPr>
          <p:cNvPr id="11" name="Group 10">
            <a:extLst>
              <a:ext uri="{FF2B5EF4-FFF2-40B4-BE49-F238E27FC236}">
                <a16:creationId xmlns:a16="http://schemas.microsoft.com/office/drawing/2014/main" id="{9009387E-E3CB-4E43-9322-240748E425B8}"/>
              </a:ext>
            </a:extLst>
          </p:cNvPr>
          <p:cNvGrpSpPr/>
          <p:nvPr/>
        </p:nvGrpSpPr>
        <p:grpSpPr>
          <a:xfrm>
            <a:off x="2721936" y="2834260"/>
            <a:ext cx="2828258" cy="3912783"/>
            <a:chOff x="3062177" y="2391195"/>
            <a:chExt cx="2828258" cy="3912783"/>
          </a:xfrm>
        </p:grpSpPr>
        <p:sp>
          <p:nvSpPr>
            <p:cNvPr id="4" name="Rectangle 3">
              <a:extLst>
                <a:ext uri="{FF2B5EF4-FFF2-40B4-BE49-F238E27FC236}">
                  <a16:creationId xmlns:a16="http://schemas.microsoft.com/office/drawing/2014/main" id="{9DB163A9-200A-4577-9A1E-450C51AD39FC}"/>
                </a:ext>
              </a:extLst>
            </p:cNvPr>
            <p:cNvSpPr/>
            <p:nvPr/>
          </p:nvSpPr>
          <p:spPr>
            <a:xfrm>
              <a:off x="3062177" y="2391195"/>
              <a:ext cx="2658140" cy="3912783"/>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5" name="Rectangle 4">
              <a:extLst>
                <a:ext uri="{FF2B5EF4-FFF2-40B4-BE49-F238E27FC236}">
                  <a16:creationId xmlns:a16="http://schemas.microsoft.com/office/drawing/2014/main" id="{3A45F569-48B8-4CF8-A8A3-7C6E0D14EA11}"/>
                </a:ext>
              </a:extLst>
            </p:cNvPr>
            <p:cNvSpPr/>
            <p:nvPr/>
          </p:nvSpPr>
          <p:spPr>
            <a:xfrm>
              <a:off x="3237614" y="4147431"/>
              <a:ext cx="2083982" cy="15995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latin typeface="Bahnschrift" panose="020B0502040204020203" pitchFamily="34" charset="0"/>
                </a:rPr>
                <a:t>Child JVM</a:t>
              </a:r>
              <a:endParaRPr lang="en-IN" dirty="0">
                <a:solidFill>
                  <a:schemeClr val="tx1"/>
                </a:solidFill>
                <a:latin typeface="Bahnschrift" panose="020B0502040204020203" pitchFamily="34" charset="0"/>
              </a:endParaRPr>
            </a:p>
          </p:txBody>
        </p:sp>
        <p:sp>
          <p:nvSpPr>
            <p:cNvPr id="6" name="Rectangle 5">
              <a:extLst>
                <a:ext uri="{FF2B5EF4-FFF2-40B4-BE49-F238E27FC236}">
                  <a16:creationId xmlns:a16="http://schemas.microsoft.com/office/drawing/2014/main" id="{BB0F663C-64F5-43DA-99BA-F66A48A4170A}"/>
                </a:ext>
              </a:extLst>
            </p:cNvPr>
            <p:cNvSpPr/>
            <p:nvPr/>
          </p:nvSpPr>
          <p:spPr>
            <a:xfrm>
              <a:off x="3530010" y="4420178"/>
              <a:ext cx="1499189" cy="113632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Map or reduce Task</a:t>
              </a:r>
              <a:endParaRPr lang="en-IN" dirty="0">
                <a:latin typeface="Bahnschrift" panose="020B0502040204020203" pitchFamily="34" charset="0"/>
              </a:endParaRPr>
            </a:p>
          </p:txBody>
        </p:sp>
        <p:sp>
          <p:nvSpPr>
            <p:cNvPr id="7" name="Rectangle 6">
              <a:extLst>
                <a:ext uri="{FF2B5EF4-FFF2-40B4-BE49-F238E27FC236}">
                  <a16:creationId xmlns:a16="http://schemas.microsoft.com/office/drawing/2014/main" id="{8FDAFE31-8F54-45A1-881D-59D8A22C7821}"/>
                </a:ext>
              </a:extLst>
            </p:cNvPr>
            <p:cNvSpPr/>
            <p:nvPr/>
          </p:nvSpPr>
          <p:spPr>
            <a:xfrm>
              <a:off x="3418367" y="2620536"/>
              <a:ext cx="1499189" cy="1136320"/>
            </a:xfrm>
            <a:prstGeom prst="rect">
              <a:avLst/>
            </a:prstGeom>
            <a:solidFill>
              <a:schemeClr val="accent2">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Task Tracker</a:t>
              </a:r>
              <a:endParaRPr lang="en-IN" dirty="0">
                <a:latin typeface="Bahnschrift" panose="020B0502040204020203" pitchFamily="34" charset="0"/>
              </a:endParaRPr>
            </a:p>
          </p:txBody>
        </p:sp>
        <p:cxnSp>
          <p:nvCxnSpPr>
            <p:cNvPr id="9" name="Straight Arrow Connector 8">
              <a:extLst>
                <a:ext uri="{FF2B5EF4-FFF2-40B4-BE49-F238E27FC236}">
                  <a16:creationId xmlns:a16="http://schemas.microsoft.com/office/drawing/2014/main" id="{6539AC0F-465C-4129-87E1-D8365F65A309}"/>
                </a:ext>
              </a:extLst>
            </p:cNvPr>
            <p:cNvCxnSpPr>
              <a:stCxn id="7" idx="2"/>
            </p:cNvCxnSpPr>
            <p:nvPr/>
          </p:nvCxnSpPr>
          <p:spPr>
            <a:xfrm flipH="1">
              <a:off x="4167961" y="3756856"/>
              <a:ext cx="1" cy="42174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CEF94F9-4904-4A86-A527-1973C55248F0}"/>
                </a:ext>
              </a:extLst>
            </p:cNvPr>
            <p:cNvSpPr/>
            <p:nvPr/>
          </p:nvSpPr>
          <p:spPr>
            <a:xfrm>
              <a:off x="4391247" y="3838353"/>
              <a:ext cx="1499188" cy="34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Step 3</a:t>
              </a:r>
              <a:endParaRPr lang="en-IN" dirty="0">
                <a:solidFill>
                  <a:schemeClr val="tx1"/>
                </a:solidFill>
                <a:latin typeface="Bahnschrift" panose="020B0502040204020203" pitchFamily="34" charset="0"/>
              </a:endParaRPr>
            </a:p>
          </p:txBody>
        </p:sp>
      </p:grpSp>
      <p:grpSp>
        <p:nvGrpSpPr>
          <p:cNvPr id="24" name="Group 23">
            <a:extLst>
              <a:ext uri="{FF2B5EF4-FFF2-40B4-BE49-F238E27FC236}">
                <a16:creationId xmlns:a16="http://schemas.microsoft.com/office/drawing/2014/main" id="{41645338-ADFE-4472-AB9E-37F9D3DC825F}"/>
              </a:ext>
            </a:extLst>
          </p:cNvPr>
          <p:cNvGrpSpPr/>
          <p:nvPr/>
        </p:nvGrpSpPr>
        <p:grpSpPr>
          <a:xfrm>
            <a:off x="2302834" y="1387448"/>
            <a:ext cx="6422065" cy="1271270"/>
            <a:chOff x="2302834" y="1387448"/>
            <a:chExt cx="6422065" cy="1271270"/>
          </a:xfrm>
        </p:grpSpPr>
        <p:sp>
          <p:nvSpPr>
            <p:cNvPr id="12" name="Rectangle 11">
              <a:extLst>
                <a:ext uri="{FF2B5EF4-FFF2-40B4-BE49-F238E27FC236}">
                  <a16:creationId xmlns:a16="http://schemas.microsoft.com/office/drawing/2014/main" id="{1BA1F06F-9AC5-47B5-9B1D-8706ABD313C8}"/>
                </a:ext>
              </a:extLst>
            </p:cNvPr>
            <p:cNvSpPr/>
            <p:nvPr/>
          </p:nvSpPr>
          <p:spPr>
            <a:xfrm>
              <a:off x="2302834" y="1387448"/>
              <a:ext cx="6422065" cy="127127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13" name="Rectangle 12">
              <a:extLst>
                <a:ext uri="{FF2B5EF4-FFF2-40B4-BE49-F238E27FC236}">
                  <a16:creationId xmlns:a16="http://schemas.microsoft.com/office/drawing/2014/main" id="{5B5E329E-5782-4CD5-AB08-338177441B5A}"/>
                </a:ext>
              </a:extLst>
            </p:cNvPr>
            <p:cNvSpPr/>
            <p:nvPr/>
          </p:nvSpPr>
          <p:spPr>
            <a:xfrm>
              <a:off x="2568647" y="1473841"/>
              <a:ext cx="5890437" cy="88956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14" name="Rectangle 13">
              <a:extLst>
                <a:ext uri="{FF2B5EF4-FFF2-40B4-BE49-F238E27FC236}">
                  <a16:creationId xmlns:a16="http://schemas.microsoft.com/office/drawing/2014/main" id="{77DA1DBD-2C60-4ADE-AE0F-5CA352D98A5B}"/>
                </a:ext>
              </a:extLst>
            </p:cNvPr>
            <p:cNvSpPr/>
            <p:nvPr/>
          </p:nvSpPr>
          <p:spPr>
            <a:xfrm>
              <a:off x="3094074" y="1604430"/>
              <a:ext cx="1477926" cy="628389"/>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Job Tracker</a:t>
              </a:r>
              <a:endParaRPr lang="en-IN" dirty="0">
                <a:solidFill>
                  <a:schemeClr val="tx1"/>
                </a:solidFill>
                <a:latin typeface="Bahnschrift" panose="020B0502040204020203" pitchFamily="34" charset="0"/>
              </a:endParaRPr>
            </a:p>
          </p:txBody>
        </p:sp>
        <p:sp>
          <p:nvSpPr>
            <p:cNvPr id="21" name="Rectangle 20">
              <a:extLst>
                <a:ext uri="{FF2B5EF4-FFF2-40B4-BE49-F238E27FC236}">
                  <a16:creationId xmlns:a16="http://schemas.microsoft.com/office/drawing/2014/main" id="{C63B68B5-D7DC-49BF-8198-D0D121D54AF2}"/>
                </a:ext>
              </a:extLst>
            </p:cNvPr>
            <p:cNvSpPr/>
            <p:nvPr/>
          </p:nvSpPr>
          <p:spPr>
            <a:xfrm>
              <a:off x="4366629" y="2384011"/>
              <a:ext cx="3391786" cy="2206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Bahnschrift" panose="020B0502040204020203" pitchFamily="34" charset="0"/>
                </a:rPr>
                <a:t>Job Tracker Node</a:t>
              </a:r>
              <a:endParaRPr lang="en-IN" sz="2000" dirty="0">
                <a:solidFill>
                  <a:schemeClr val="tx1"/>
                </a:solidFill>
                <a:latin typeface="Bahnschrift" panose="020B0502040204020203" pitchFamily="34" charset="0"/>
              </a:endParaRPr>
            </a:p>
          </p:txBody>
        </p:sp>
      </p:grpSp>
      <p:sp>
        <p:nvSpPr>
          <p:cNvPr id="22" name="Rectangle 21">
            <a:extLst>
              <a:ext uri="{FF2B5EF4-FFF2-40B4-BE49-F238E27FC236}">
                <a16:creationId xmlns:a16="http://schemas.microsoft.com/office/drawing/2014/main" id="{F942A8D3-749A-4275-9F0F-BC46995453FA}"/>
              </a:ext>
            </a:extLst>
          </p:cNvPr>
          <p:cNvSpPr/>
          <p:nvPr/>
        </p:nvSpPr>
        <p:spPr>
          <a:xfrm>
            <a:off x="2626245" y="2601814"/>
            <a:ext cx="1295013" cy="5575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Bahnschrift" panose="020B0502040204020203" pitchFamily="34" charset="0"/>
              </a:rPr>
              <a:t>Heart Beats</a:t>
            </a:r>
            <a:endParaRPr lang="en-IN" sz="1600" dirty="0">
              <a:solidFill>
                <a:schemeClr val="tx1"/>
              </a:solidFill>
              <a:latin typeface="Bahnschrift" panose="020B0502040204020203" pitchFamily="34" charset="0"/>
            </a:endParaRPr>
          </a:p>
        </p:txBody>
      </p:sp>
      <p:cxnSp>
        <p:nvCxnSpPr>
          <p:cNvPr id="16" name="Straight Arrow Connector 15">
            <a:extLst>
              <a:ext uri="{FF2B5EF4-FFF2-40B4-BE49-F238E27FC236}">
                <a16:creationId xmlns:a16="http://schemas.microsoft.com/office/drawing/2014/main" id="{4DC7DF8B-63DB-41EB-AE4E-CF664287EA20}"/>
              </a:ext>
            </a:extLst>
          </p:cNvPr>
          <p:cNvCxnSpPr>
            <a:cxnSpLocks/>
            <a:stCxn id="7" idx="0"/>
            <a:endCxn id="14" idx="2"/>
          </p:cNvCxnSpPr>
          <p:nvPr/>
        </p:nvCxnSpPr>
        <p:spPr>
          <a:xfrm flipV="1">
            <a:off x="3827721" y="2232819"/>
            <a:ext cx="5316" cy="83078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73822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DF980A-8D6C-4BE4-8369-4D0B35B92EA5}"/>
              </a:ext>
            </a:extLst>
          </p:cNvPr>
          <p:cNvSpPr>
            <a:spLocks noGrp="1"/>
          </p:cNvSpPr>
          <p:nvPr>
            <p:ph type="title"/>
          </p:nvPr>
        </p:nvSpPr>
        <p:spPr/>
        <p:txBody>
          <a:bodyPr vert="horz" lIns="91440" tIns="45720" rIns="91440" bIns="45720" rtlCol="0" anchor="ctr">
            <a:noAutofit/>
          </a:bodyPr>
          <a:lstStyle/>
          <a:p>
            <a:r>
              <a:rPr lang="en-IN" dirty="0"/>
              <a:t>Failures in Classic Map-reduce</a:t>
            </a:r>
          </a:p>
        </p:txBody>
      </p:sp>
      <p:grpSp>
        <p:nvGrpSpPr>
          <p:cNvPr id="11" name="Group 10">
            <a:extLst>
              <a:ext uri="{FF2B5EF4-FFF2-40B4-BE49-F238E27FC236}">
                <a16:creationId xmlns:a16="http://schemas.microsoft.com/office/drawing/2014/main" id="{9009387E-E3CB-4E43-9322-240748E425B8}"/>
              </a:ext>
            </a:extLst>
          </p:cNvPr>
          <p:cNvGrpSpPr/>
          <p:nvPr/>
        </p:nvGrpSpPr>
        <p:grpSpPr>
          <a:xfrm>
            <a:off x="2721936" y="2834260"/>
            <a:ext cx="2828258" cy="3912783"/>
            <a:chOff x="3062177" y="2391195"/>
            <a:chExt cx="2828258" cy="3912783"/>
          </a:xfrm>
        </p:grpSpPr>
        <p:sp>
          <p:nvSpPr>
            <p:cNvPr id="4" name="Rectangle 3">
              <a:extLst>
                <a:ext uri="{FF2B5EF4-FFF2-40B4-BE49-F238E27FC236}">
                  <a16:creationId xmlns:a16="http://schemas.microsoft.com/office/drawing/2014/main" id="{9DB163A9-200A-4577-9A1E-450C51AD39FC}"/>
                </a:ext>
              </a:extLst>
            </p:cNvPr>
            <p:cNvSpPr/>
            <p:nvPr/>
          </p:nvSpPr>
          <p:spPr>
            <a:xfrm>
              <a:off x="3062177" y="2391195"/>
              <a:ext cx="2658140" cy="3912783"/>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5" name="Rectangle 4">
              <a:extLst>
                <a:ext uri="{FF2B5EF4-FFF2-40B4-BE49-F238E27FC236}">
                  <a16:creationId xmlns:a16="http://schemas.microsoft.com/office/drawing/2014/main" id="{3A45F569-48B8-4CF8-A8A3-7C6E0D14EA11}"/>
                </a:ext>
              </a:extLst>
            </p:cNvPr>
            <p:cNvSpPr/>
            <p:nvPr/>
          </p:nvSpPr>
          <p:spPr>
            <a:xfrm>
              <a:off x="3237614" y="4147431"/>
              <a:ext cx="2083982" cy="15995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latin typeface="Bahnschrift" panose="020B0502040204020203" pitchFamily="34" charset="0"/>
                </a:rPr>
                <a:t>Child JVM</a:t>
              </a:r>
              <a:endParaRPr lang="en-IN" dirty="0">
                <a:solidFill>
                  <a:schemeClr val="tx1"/>
                </a:solidFill>
                <a:latin typeface="Bahnschrift" panose="020B0502040204020203" pitchFamily="34" charset="0"/>
              </a:endParaRPr>
            </a:p>
          </p:txBody>
        </p:sp>
        <p:sp>
          <p:nvSpPr>
            <p:cNvPr id="6" name="Rectangle 5">
              <a:extLst>
                <a:ext uri="{FF2B5EF4-FFF2-40B4-BE49-F238E27FC236}">
                  <a16:creationId xmlns:a16="http://schemas.microsoft.com/office/drawing/2014/main" id="{BB0F663C-64F5-43DA-99BA-F66A48A4170A}"/>
                </a:ext>
              </a:extLst>
            </p:cNvPr>
            <p:cNvSpPr/>
            <p:nvPr/>
          </p:nvSpPr>
          <p:spPr>
            <a:xfrm>
              <a:off x="3530010" y="4420178"/>
              <a:ext cx="1499189" cy="113632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Map or reduce Task</a:t>
              </a:r>
              <a:endParaRPr lang="en-IN" dirty="0">
                <a:latin typeface="Bahnschrift" panose="020B0502040204020203" pitchFamily="34" charset="0"/>
              </a:endParaRPr>
            </a:p>
          </p:txBody>
        </p:sp>
        <p:sp>
          <p:nvSpPr>
            <p:cNvPr id="7" name="Rectangle 6">
              <a:extLst>
                <a:ext uri="{FF2B5EF4-FFF2-40B4-BE49-F238E27FC236}">
                  <a16:creationId xmlns:a16="http://schemas.microsoft.com/office/drawing/2014/main" id="{8FDAFE31-8F54-45A1-881D-59D8A22C7821}"/>
                </a:ext>
              </a:extLst>
            </p:cNvPr>
            <p:cNvSpPr/>
            <p:nvPr/>
          </p:nvSpPr>
          <p:spPr>
            <a:xfrm>
              <a:off x="3418367" y="2620536"/>
              <a:ext cx="1499189" cy="1136320"/>
            </a:xfrm>
            <a:prstGeom prst="rect">
              <a:avLst/>
            </a:prstGeom>
            <a:solidFill>
              <a:schemeClr val="accent2">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Task Tracker</a:t>
              </a:r>
              <a:endParaRPr lang="en-IN" dirty="0">
                <a:latin typeface="Bahnschrift" panose="020B0502040204020203" pitchFamily="34" charset="0"/>
              </a:endParaRPr>
            </a:p>
          </p:txBody>
        </p:sp>
        <p:cxnSp>
          <p:nvCxnSpPr>
            <p:cNvPr id="9" name="Straight Arrow Connector 8">
              <a:extLst>
                <a:ext uri="{FF2B5EF4-FFF2-40B4-BE49-F238E27FC236}">
                  <a16:creationId xmlns:a16="http://schemas.microsoft.com/office/drawing/2014/main" id="{6539AC0F-465C-4129-87E1-D8365F65A309}"/>
                </a:ext>
              </a:extLst>
            </p:cNvPr>
            <p:cNvCxnSpPr>
              <a:stCxn id="7" idx="2"/>
            </p:cNvCxnSpPr>
            <p:nvPr/>
          </p:nvCxnSpPr>
          <p:spPr>
            <a:xfrm flipH="1">
              <a:off x="4167961" y="3756856"/>
              <a:ext cx="1" cy="42174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CEF94F9-4904-4A86-A527-1973C55248F0}"/>
                </a:ext>
              </a:extLst>
            </p:cNvPr>
            <p:cNvSpPr/>
            <p:nvPr/>
          </p:nvSpPr>
          <p:spPr>
            <a:xfrm>
              <a:off x="4391247" y="3838353"/>
              <a:ext cx="1499188" cy="34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Step 3</a:t>
              </a:r>
              <a:endParaRPr lang="en-IN" dirty="0">
                <a:solidFill>
                  <a:schemeClr val="tx1"/>
                </a:solidFill>
                <a:latin typeface="Bahnschrift" panose="020B0502040204020203" pitchFamily="34" charset="0"/>
              </a:endParaRPr>
            </a:p>
          </p:txBody>
        </p:sp>
      </p:grpSp>
      <p:grpSp>
        <p:nvGrpSpPr>
          <p:cNvPr id="24" name="Group 23">
            <a:extLst>
              <a:ext uri="{FF2B5EF4-FFF2-40B4-BE49-F238E27FC236}">
                <a16:creationId xmlns:a16="http://schemas.microsoft.com/office/drawing/2014/main" id="{41645338-ADFE-4472-AB9E-37F9D3DC825F}"/>
              </a:ext>
            </a:extLst>
          </p:cNvPr>
          <p:cNvGrpSpPr/>
          <p:nvPr/>
        </p:nvGrpSpPr>
        <p:grpSpPr>
          <a:xfrm>
            <a:off x="2302834" y="1387448"/>
            <a:ext cx="6422065" cy="1271270"/>
            <a:chOff x="2302834" y="1387448"/>
            <a:chExt cx="6422065" cy="1271270"/>
          </a:xfrm>
        </p:grpSpPr>
        <p:sp>
          <p:nvSpPr>
            <p:cNvPr id="12" name="Rectangle 11">
              <a:extLst>
                <a:ext uri="{FF2B5EF4-FFF2-40B4-BE49-F238E27FC236}">
                  <a16:creationId xmlns:a16="http://schemas.microsoft.com/office/drawing/2014/main" id="{1BA1F06F-9AC5-47B5-9B1D-8706ABD313C8}"/>
                </a:ext>
              </a:extLst>
            </p:cNvPr>
            <p:cNvSpPr/>
            <p:nvPr/>
          </p:nvSpPr>
          <p:spPr>
            <a:xfrm>
              <a:off x="2302834" y="1387448"/>
              <a:ext cx="6422065" cy="127127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13" name="Rectangle 12">
              <a:extLst>
                <a:ext uri="{FF2B5EF4-FFF2-40B4-BE49-F238E27FC236}">
                  <a16:creationId xmlns:a16="http://schemas.microsoft.com/office/drawing/2014/main" id="{5B5E329E-5782-4CD5-AB08-338177441B5A}"/>
                </a:ext>
              </a:extLst>
            </p:cNvPr>
            <p:cNvSpPr/>
            <p:nvPr/>
          </p:nvSpPr>
          <p:spPr>
            <a:xfrm>
              <a:off x="2568647" y="1473841"/>
              <a:ext cx="5890437" cy="88956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14" name="Rectangle 13">
              <a:extLst>
                <a:ext uri="{FF2B5EF4-FFF2-40B4-BE49-F238E27FC236}">
                  <a16:creationId xmlns:a16="http://schemas.microsoft.com/office/drawing/2014/main" id="{77DA1DBD-2C60-4ADE-AE0F-5CA352D98A5B}"/>
                </a:ext>
              </a:extLst>
            </p:cNvPr>
            <p:cNvSpPr/>
            <p:nvPr/>
          </p:nvSpPr>
          <p:spPr>
            <a:xfrm>
              <a:off x="3094074" y="1604430"/>
              <a:ext cx="1477926" cy="628389"/>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Job Tracker</a:t>
              </a:r>
              <a:endParaRPr lang="en-IN" dirty="0">
                <a:solidFill>
                  <a:schemeClr val="tx1"/>
                </a:solidFill>
                <a:latin typeface="Bahnschrift" panose="020B0502040204020203" pitchFamily="34" charset="0"/>
              </a:endParaRPr>
            </a:p>
          </p:txBody>
        </p:sp>
        <p:sp>
          <p:nvSpPr>
            <p:cNvPr id="21" name="Rectangle 20">
              <a:extLst>
                <a:ext uri="{FF2B5EF4-FFF2-40B4-BE49-F238E27FC236}">
                  <a16:creationId xmlns:a16="http://schemas.microsoft.com/office/drawing/2014/main" id="{C63B68B5-D7DC-49BF-8198-D0D121D54AF2}"/>
                </a:ext>
              </a:extLst>
            </p:cNvPr>
            <p:cNvSpPr/>
            <p:nvPr/>
          </p:nvSpPr>
          <p:spPr>
            <a:xfrm>
              <a:off x="4366629" y="2384011"/>
              <a:ext cx="3391786" cy="2206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Bahnschrift" panose="020B0502040204020203" pitchFamily="34" charset="0"/>
                </a:rPr>
                <a:t>Job Tracker Node</a:t>
              </a:r>
              <a:endParaRPr lang="en-IN" sz="2000" dirty="0">
                <a:solidFill>
                  <a:schemeClr val="tx1"/>
                </a:solidFill>
                <a:latin typeface="Bahnschrift" panose="020B0502040204020203" pitchFamily="34" charset="0"/>
              </a:endParaRPr>
            </a:p>
          </p:txBody>
        </p:sp>
      </p:grpSp>
      <p:sp>
        <p:nvSpPr>
          <p:cNvPr id="22" name="Rectangle 21">
            <a:extLst>
              <a:ext uri="{FF2B5EF4-FFF2-40B4-BE49-F238E27FC236}">
                <a16:creationId xmlns:a16="http://schemas.microsoft.com/office/drawing/2014/main" id="{F942A8D3-749A-4275-9F0F-BC46995453FA}"/>
              </a:ext>
            </a:extLst>
          </p:cNvPr>
          <p:cNvSpPr/>
          <p:nvPr/>
        </p:nvSpPr>
        <p:spPr>
          <a:xfrm>
            <a:off x="2626245" y="2601814"/>
            <a:ext cx="1295013" cy="5575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Bahnschrift" panose="020B0502040204020203" pitchFamily="34" charset="0"/>
              </a:rPr>
              <a:t>Heart Beats</a:t>
            </a:r>
            <a:endParaRPr lang="en-IN" sz="1600" dirty="0">
              <a:solidFill>
                <a:schemeClr val="tx1"/>
              </a:solidFill>
              <a:latin typeface="Bahnschrift" panose="020B0502040204020203" pitchFamily="34" charset="0"/>
            </a:endParaRPr>
          </a:p>
        </p:txBody>
      </p:sp>
      <p:cxnSp>
        <p:nvCxnSpPr>
          <p:cNvPr id="16" name="Straight Arrow Connector 15">
            <a:extLst>
              <a:ext uri="{FF2B5EF4-FFF2-40B4-BE49-F238E27FC236}">
                <a16:creationId xmlns:a16="http://schemas.microsoft.com/office/drawing/2014/main" id="{4DC7DF8B-63DB-41EB-AE4E-CF664287EA20}"/>
              </a:ext>
            </a:extLst>
          </p:cNvPr>
          <p:cNvCxnSpPr>
            <a:cxnSpLocks/>
            <a:stCxn id="7" idx="0"/>
            <a:endCxn id="14" idx="2"/>
          </p:cNvCxnSpPr>
          <p:nvPr/>
        </p:nvCxnSpPr>
        <p:spPr>
          <a:xfrm flipV="1">
            <a:off x="3827721" y="2232819"/>
            <a:ext cx="5316" cy="83078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Multiplication Sign 1">
            <a:extLst>
              <a:ext uri="{FF2B5EF4-FFF2-40B4-BE49-F238E27FC236}">
                <a16:creationId xmlns:a16="http://schemas.microsoft.com/office/drawing/2014/main" id="{66603E15-A1DA-4748-829A-35B896A8E58A}"/>
              </a:ext>
            </a:extLst>
          </p:cNvPr>
          <p:cNvSpPr/>
          <p:nvPr/>
        </p:nvSpPr>
        <p:spPr>
          <a:xfrm>
            <a:off x="2363085" y="4590496"/>
            <a:ext cx="3112681" cy="1708760"/>
          </a:xfrm>
          <a:prstGeom prst="mathMultiply">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Tree>
    <p:extLst>
      <p:ext uri="{BB962C8B-B14F-4D97-AF65-F5344CB8AC3E}">
        <p14:creationId xmlns:p14="http://schemas.microsoft.com/office/powerpoint/2010/main" val="26566487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DF980A-8D6C-4BE4-8369-4D0B35B92EA5}"/>
              </a:ext>
            </a:extLst>
          </p:cNvPr>
          <p:cNvSpPr>
            <a:spLocks noGrp="1"/>
          </p:cNvSpPr>
          <p:nvPr>
            <p:ph type="title"/>
          </p:nvPr>
        </p:nvSpPr>
        <p:spPr/>
        <p:txBody>
          <a:bodyPr vert="horz" lIns="91440" tIns="45720" rIns="91440" bIns="45720" rtlCol="0" anchor="ctr">
            <a:noAutofit/>
          </a:bodyPr>
          <a:lstStyle/>
          <a:p>
            <a:r>
              <a:rPr lang="en-IN" dirty="0"/>
              <a:t>Failures in Classic Map-reduce</a:t>
            </a:r>
          </a:p>
        </p:txBody>
      </p:sp>
      <p:grpSp>
        <p:nvGrpSpPr>
          <p:cNvPr id="11" name="Group 10">
            <a:extLst>
              <a:ext uri="{FF2B5EF4-FFF2-40B4-BE49-F238E27FC236}">
                <a16:creationId xmlns:a16="http://schemas.microsoft.com/office/drawing/2014/main" id="{9009387E-E3CB-4E43-9322-240748E425B8}"/>
              </a:ext>
            </a:extLst>
          </p:cNvPr>
          <p:cNvGrpSpPr/>
          <p:nvPr/>
        </p:nvGrpSpPr>
        <p:grpSpPr>
          <a:xfrm>
            <a:off x="2721936" y="2834260"/>
            <a:ext cx="2828258" cy="3912783"/>
            <a:chOff x="3062177" y="2391195"/>
            <a:chExt cx="2828258" cy="3912783"/>
          </a:xfrm>
        </p:grpSpPr>
        <p:sp>
          <p:nvSpPr>
            <p:cNvPr id="4" name="Rectangle 3">
              <a:extLst>
                <a:ext uri="{FF2B5EF4-FFF2-40B4-BE49-F238E27FC236}">
                  <a16:creationId xmlns:a16="http://schemas.microsoft.com/office/drawing/2014/main" id="{9DB163A9-200A-4577-9A1E-450C51AD39FC}"/>
                </a:ext>
              </a:extLst>
            </p:cNvPr>
            <p:cNvSpPr/>
            <p:nvPr/>
          </p:nvSpPr>
          <p:spPr>
            <a:xfrm>
              <a:off x="3062177" y="2391195"/>
              <a:ext cx="2658140" cy="3912783"/>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5" name="Rectangle 4">
              <a:extLst>
                <a:ext uri="{FF2B5EF4-FFF2-40B4-BE49-F238E27FC236}">
                  <a16:creationId xmlns:a16="http://schemas.microsoft.com/office/drawing/2014/main" id="{3A45F569-48B8-4CF8-A8A3-7C6E0D14EA11}"/>
                </a:ext>
              </a:extLst>
            </p:cNvPr>
            <p:cNvSpPr/>
            <p:nvPr/>
          </p:nvSpPr>
          <p:spPr>
            <a:xfrm>
              <a:off x="3237614" y="4147431"/>
              <a:ext cx="2083982" cy="15995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latin typeface="Bahnschrift" panose="020B0502040204020203" pitchFamily="34" charset="0"/>
                </a:rPr>
                <a:t>Child JVM</a:t>
              </a:r>
              <a:endParaRPr lang="en-IN" dirty="0">
                <a:solidFill>
                  <a:schemeClr val="tx1"/>
                </a:solidFill>
                <a:latin typeface="Bahnschrift" panose="020B0502040204020203" pitchFamily="34" charset="0"/>
              </a:endParaRPr>
            </a:p>
          </p:txBody>
        </p:sp>
        <p:sp>
          <p:nvSpPr>
            <p:cNvPr id="6" name="Rectangle 5">
              <a:extLst>
                <a:ext uri="{FF2B5EF4-FFF2-40B4-BE49-F238E27FC236}">
                  <a16:creationId xmlns:a16="http://schemas.microsoft.com/office/drawing/2014/main" id="{BB0F663C-64F5-43DA-99BA-F66A48A4170A}"/>
                </a:ext>
              </a:extLst>
            </p:cNvPr>
            <p:cNvSpPr/>
            <p:nvPr/>
          </p:nvSpPr>
          <p:spPr>
            <a:xfrm>
              <a:off x="3530010" y="4420178"/>
              <a:ext cx="1499189" cy="113632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Map or reduce Task</a:t>
              </a:r>
              <a:endParaRPr lang="en-IN" dirty="0">
                <a:latin typeface="Bahnschrift" panose="020B0502040204020203" pitchFamily="34" charset="0"/>
              </a:endParaRPr>
            </a:p>
          </p:txBody>
        </p:sp>
        <p:sp>
          <p:nvSpPr>
            <p:cNvPr id="7" name="Rectangle 6">
              <a:extLst>
                <a:ext uri="{FF2B5EF4-FFF2-40B4-BE49-F238E27FC236}">
                  <a16:creationId xmlns:a16="http://schemas.microsoft.com/office/drawing/2014/main" id="{8FDAFE31-8F54-45A1-881D-59D8A22C7821}"/>
                </a:ext>
              </a:extLst>
            </p:cNvPr>
            <p:cNvSpPr/>
            <p:nvPr/>
          </p:nvSpPr>
          <p:spPr>
            <a:xfrm>
              <a:off x="3418367" y="2620536"/>
              <a:ext cx="1499189" cy="1136320"/>
            </a:xfrm>
            <a:prstGeom prst="rect">
              <a:avLst/>
            </a:prstGeom>
            <a:solidFill>
              <a:schemeClr val="accent2">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Task Tracker</a:t>
              </a:r>
              <a:endParaRPr lang="en-IN" dirty="0">
                <a:latin typeface="Bahnschrift" panose="020B0502040204020203" pitchFamily="34" charset="0"/>
              </a:endParaRPr>
            </a:p>
          </p:txBody>
        </p:sp>
        <p:cxnSp>
          <p:nvCxnSpPr>
            <p:cNvPr id="9" name="Straight Arrow Connector 8">
              <a:extLst>
                <a:ext uri="{FF2B5EF4-FFF2-40B4-BE49-F238E27FC236}">
                  <a16:creationId xmlns:a16="http://schemas.microsoft.com/office/drawing/2014/main" id="{6539AC0F-465C-4129-87E1-D8365F65A309}"/>
                </a:ext>
              </a:extLst>
            </p:cNvPr>
            <p:cNvCxnSpPr>
              <a:stCxn id="7" idx="2"/>
            </p:cNvCxnSpPr>
            <p:nvPr/>
          </p:nvCxnSpPr>
          <p:spPr>
            <a:xfrm flipH="1">
              <a:off x="4167961" y="3756856"/>
              <a:ext cx="1" cy="42174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CEF94F9-4904-4A86-A527-1973C55248F0}"/>
                </a:ext>
              </a:extLst>
            </p:cNvPr>
            <p:cNvSpPr/>
            <p:nvPr/>
          </p:nvSpPr>
          <p:spPr>
            <a:xfrm>
              <a:off x="4391247" y="3838353"/>
              <a:ext cx="1499188" cy="34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Step 3</a:t>
              </a:r>
              <a:endParaRPr lang="en-IN" dirty="0">
                <a:solidFill>
                  <a:schemeClr val="tx1"/>
                </a:solidFill>
                <a:latin typeface="Bahnschrift" panose="020B0502040204020203" pitchFamily="34" charset="0"/>
              </a:endParaRPr>
            </a:p>
          </p:txBody>
        </p:sp>
      </p:grpSp>
      <p:grpSp>
        <p:nvGrpSpPr>
          <p:cNvPr id="24" name="Group 23">
            <a:extLst>
              <a:ext uri="{FF2B5EF4-FFF2-40B4-BE49-F238E27FC236}">
                <a16:creationId xmlns:a16="http://schemas.microsoft.com/office/drawing/2014/main" id="{41645338-ADFE-4472-AB9E-37F9D3DC825F}"/>
              </a:ext>
            </a:extLst>
          </p:cNvPr>
          <p:cNvGrpSpPr/>
          <p:nvPr/>
        </p:nvGrpSpPr>
        <p:grpSpPr>
          <a:xfrm>
            <a:off x="2302834" y="1387448"/>
            <a:ext cx="6422065" cy="1271270"/>
            <a:chOff x="2302834" y="1387448"/>
            <a:chExt cx="6422065" cy="1271270"/>
          </a:xfrm>
        </p:grpSpPr>
        <p:sp>
          <p:nvSpPr>
            <p:cNvPr id="12" name="Rectangle 11">
              <a:extLst>
                <a:ext uri="{FF2B5EF4-FFF2-40B4-BE49-F238E27FC236}">
                  <a16:creationId xmlns:a16="http://schemas.microsoft.com/office/drawing/2014/main" id="{1BA1F06F-9AC5-47B5-9B1D-8706ABD313C8}"/>
                </a:ext>
              </a:extLst>
            </p:cNvPr>
            <p:cNvSpPr/>
            <p:nvPr/>
          </p:nvSpPr>
          <p:spPr>
            <a:xfrm>
              <a:off x="2302834" y="1387448"/>
              <a:ext cx="6422065" cy="127127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13" name="Rectangle 12">
              <a:extLst>
                <a:ext uri="{FF2B5EF4-FFF2-40B4-BE49-F238E27FC236}">
                  <a16:creationId xmlns:a16="http://schemas.microsoft.com/office/drawing/2014/main" id="{5B5E329E-5782-4CD5-AB08-338177441B5A}"/>
                </a:ext>
              </a:extLst>
            </p:cNvPr>
            <p:cNvSpPr/>
            <p:nvPr/>
          </p:nvSpPr>
          <p:spPr>
            <a:xfrm>
              <a:off x="2568647" y="1473841"/>
              <a:ext cx="5890437" cy="88956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14" name="Rectangle 13">
              <a:extLst>
                <a:ext uri="{FF2B5EF4-FFF2-40B4-BE49-F238E27FC236}">
                  <a16:creationId xmlns:a16="http://schemas.microsoft.com/office/drawing/2014/main" id="{77DA1DBD-2C60-4ADE-AE0F-5CA352D98A5B}"/>
                </a:ext>
              </a:extLst>
            </p:cNvPr>
            <p:cNvSpPr/>
            <p:nvPr/>
          </p:nvSpPr>
          <p:spPr>
            <a:xfrm>
              <a:off x="3094074" y="1604430"/>
              <a:ext cx="1477926" cy="628389"/>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Job Tracker</a:t>
              </a:r>
              <a:endParaRPr lang="en-IN" dirty="0">
                <a:solidFill>
                  <a:schemeClr val="tx1"/>
                </a:solidFill>
                <a:latin typeface="Bahnschrift" panose="020B0502040204020203" pitchFamily="34" charset="0"/>
              </a:endParaRPr>
            </a:p>
          </p:txBody>
        </p:sp>
        <p:sp>
          <p:nvSpPr>
            <p:cNvPr id="21" name="Rectangle 20">
              <a:extLst>
                <a:ext uri="{FF2B5EF4-FFF2-40B4-BE49-F238E27FC236}">
                  <a16:creationId xmlns:a16="http://schemas.microsoft.com/office/drawing/2014/main" id="{C63B68B5-D7DC-49BF-8198-D0D121D54AF2}"/>
                </a:ext>
              </a:extLst>
            </p:cNvPr>
            <p:cNvSpPr/>
            <p:nvPr/>
          </p:nvSpPr>
          <p:spPr>
            <a:xfrm>
              <a:off x="4366629" y="2384011"/>
              <a:ext cx="3391786" cy="2206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Bahnschrift" panose="020B0502040204020203" pitchFamily="34" charset="0"/>
                </a:rPr>
                <a:t>Job Tracker Node</a:t>
              </a:r>
              <a:endParaRPr lang="en-IN" sz="2000" dirty="0">
                <a:solidFill>
                  <a:schemeClr val="tx1"/>
                </a:solidFill>
                <a:latin typeface="Bahnschrift" panose="020B0502040204020203" pitchFamily="34" charset="0"/>
              </a:endParaRPr>
            </a:p>
          </p:txBody>
        </p:sp>
      </p:grpSp>
      <p:sp>
        <p:nvSpPr>
          <p:cNvPr id="22" name="Rectangle 21">
            <a:extLst>
              <a:ext uri="{FF2B5EF4-FFF2-40B4-BE49-F238E27FC236}">
                <a16:creationId xmlns:a16="http://schemas.microsoft.com/office/drawing/2014/main" id="{F942A8D3-749A-4275-9F0F-BC46995453FA}"/>
              </a:ext>
            </a:extLst>
          </p:cNvPr>
          <p:cNvSpPr/>
          <p:nvPr/>
        </p:nvSpPr>
        <p:spPr>
          <a:xfrm>
            <a:off x="2626245" y="2601814"/>
            <a:ext cx="1295013" cy="5575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Bahnschrift" panose="020B0502040204020203" pitchFamily="34" charset="0"/>
              </a:rPr>
              <a:t>Heart Beats</a:t>
            </a:r>
            <a:endParaRPr lang="en-IN" sz="1600" dirty="0">
              <a:solidFill>
                <a:schemeClr val="tx1"/>
              </a:solidFill>
              <a:latin typeface="Bahnschrift" panose="020B0502040204020203" pitchFamily="34" charset="0"/>
            </a:endParaRPr>
          </a:p>
        </p:txBody>
      </p:sp>
      <p:cxnSp>
        <p:nvCxnSpPr>
          <p:cNvPr id="16" name="Straight Arrow Connector 15">
            <a:extLst>
              <a:ext uri="{FF2B5EF4-FFF2-40B4-BE49-F238E27FC236}">
                <a16:creationId xmlns:a16="http://schemas.microsoft.com/office/drawing/2014/main" id="{4DC7DF8B-63DB-41EB-AE4E-CF664287EA20}"/>
              </a:ext>
            </a:extLst>
          </p:cNvPr>
          <p:cNvCxnSpPr>
            <a:cxnSpLocks/>
            <a:stCxn id="7" idx="0"/>
            <a:endCxn id="14" idx="2"/>
          </p:cNvCxnSpPr>
          <p:nvPr/>
        </p:nvCxnSpPr>
        <p:spPr>
          <a:xfrm flipV="1">
            <a:off x="3827721" y="2232819"/>
            <a:ext cx="5316" cy="83078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Multiplication Sign 1">
            <a:extLst>
              <a:ext uri="{FF2B5EF4-FFF2-40B4-BE49-F238E27FC236}">
                <a16:creationId xmlns:a16="http://schemas.microsoft.com/office/drawing/2014/main" id="{66603E15-A1DA-4748-829A-35B896A8E58A}"/>
              </a:ext>
            </a:extLst>
          </p:cNvPr>
          <p:cNvSpPr/>
          <p:nvPr/>
        </p:nvSpPr>
        <p:spPr>
          <a:xfrm>
            <a:off x="2363085" y="4590496"/>
            <a:ext cx="3112681" cy="1708760"/>
          </a:xfrm>
          <a:prstGeom prst="mathMultiply">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18" name="Multiplication Sign 17">
            <a:extLst>
              <a:ext uri="{FF2B5EF4-FFF2-40B4-BE49-F238E27FC236}">
                <a16:creationId xmlns:a16="http://schemas.microsoft.com/office/drawing/2014/main" id="{805C17FD-6F93-4C50-985E-D0E0EDA732E4}"/>
              </a:ext>
            </a:extLst>
          </p:cNvPr>
          <p:cNvSpPr/>
          <p:nvPr/>
        </p:nvSpPr>
        <p:spPr>
          <a:xfrm>
            <a:off x="2267395" y="2702031"/>
            <a:ext cx="3112681" cy="1708760"/>
          </a:xfrm>
          <a:prstGeom prst="mathMultiply">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Tree>
    <p:extLst>
      <p:ext uri="{BB962C8B-B14F-4D97-AF65-F5344CB8AC3E}">
        <p14:creationId xmlns:p14="http://schemas.microsoft.com/office/powerpoint/2010/main" val="19302997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DF980A-8D6C-4BE4-8369-4D0B35B92EA5}"/>
              </a:ext>
            </a:extLst>
          </p:cNvPr>
          <p:cNvSpPr>
            <a:spLocks noGrp="1"/>
          </p:cNvSpPr>
          <p:nvPr>
            <p:ph type="title"/>
          </p:nvPr>
        </p:nvSpPr>
        <p:spPr/>
        <p:txBody>
          <a:bodyPr vert="horz" lIns="91440" tIns="45720" rIns="91440" bIns="45720" rtlCol="0" anchor="ctr">
            <a:noAutofit/>
          </a:bodyPr>
          <a:lstStyle/>
          <a:p>
            <a:r>
              <a:rPr lang="en-IN" dirty="0"/>
              <a:t>Failures in Classic Map-reduce</a:t>
            </a:r>
          </a:p>
        </p:txBody>
      </p:sp>
      <p:grpSp>
        <p:nvGrpSpPr>
          <p:cNvPr id="11" name="Group 10">
            <a:extLst>
              <a:ext uri="{FF2B5EF4-FFF2-40B4-BE49-F238E27FC236}">
                <a16:creationId xmlns:a16="http://schemas.microsoft.com/office/drawing/2014/main" id="{9009387E-E3CB-4E43-9322-240748E425B8}"/>
              </a:ext>
            </a:extLst>
          </p:cNvPr>
          <p:cNvGrpSpPr/>
          <p:nvPr/>
        </p:nvGrpSpPr>
        <p:grpSpPr>
          <a:xfrm>
            <a:off x="2721936" y="2834260"/>
            <a:ext cx="2828258" cy="3912783"/>
            <a:chOff x="3062177" y="2391195"/>
            <a:chExt cx="2828258" cy="3912783"/>
          </a:xfrm>
        </p:grpSpPr>
        <p:sp>
          <p:nvSpPr>
            <p:cNvPr id="4" name="Rectangle 3">
              <a:extLst>
                <a:ext uri="{FF2B5EF4-FFF2-40B4-BE49-F238E27FC236}">
                  <a16:creationId xmlns:a16="http://schemas.microsoft.com/office/drawing/2014/main" id="{9DB163A9-200A-4577-9A1E-450C51AD39FC}"/>
                </a:ext>
              </a:extLst>
            </p:cNvPr>
            <p:cNvSpPr/>
            <p:nvPr/>
          </p:nvSpPr>
          <p:spPr>
            <a:xfrm>
              <a:off x="3062177" y="2391195"/>
              <a:ext cx="2658140" cy="3912783"/>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5" name="Rectangle 4">
              <a:extLst>
                <a:ext uri="{FF2B5EF4-FFF2-40B4-BE49-F238E27FC236}">
                  <a16:creationId xmlns:a16="http://schemas.microsoft.com/office/drawing/2014/main" id="{3A45F569-48B8-4CF8-A8A3-7C6E0D14EA11}"/>
                </a:ext>
              </a:extLst>
            </p:cNvPr>
            <p:cNvSpPr/>
            <p:nvPr/>
          </p:nvSpPr>
          <p:spPr>
            <a:xfrm>
              <a:off x="3237614" y="4147431"/>
              <a:ext cx="2083982" cy="15995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latin typeface="Bahnschrift" panose="020B0502040204020203" pitchFamily="34" charset="0"/>
                </a:rPr>
                <a:t>Child JVM</a:t>
              </a:r>
              <a:endParaRPr lang="en-IN" dirty="0">
                <a:solidFill>
                  <a:schemeClr val="tx1"/>
                </a:solidFill>
                <a:latin typeface="Bahnschrift" panose="020B0502040204020203" pitchFamily="34" charset="0"/>
              </a:endParaRPr>
            </a:p>
          </p:txBody>
        </p:sp>
        <p:sp>
          <p:nvSpPr>
            <p:cNvPr id="6" name="Rectangle 5">
              <a:extLst>
                <a:ext uri="{FF2B5EF4-FFF2-40B4-BE49-F238E27FC236}">
                  <a16:creationId xmlns:a16="http://schemas.microsoft.com/office/drawing/2014/main" id="{BB0F663C-64F5-43DA-99BA-F66A48A4170A}"/>
                </a:ext>
              </a:extLst>
            </p:cNvPr>
            <p:cNvSpPr/>
            <p:nvPr/>
          </p:nvSpPr>
          <p:spPr>
            <a:xfrm>
              <a:off x="3530010" y="4420178"/>
              <a:ext cx="1499189" cy="113632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Map or reduce Task</a:t>
              </a:r>
              <a:endParaRPr lang="en-IN" dirty="0">
                <a:latin typeface="Bahnschrift" panose="020B0502040204020203" pitchFamily="34" charset="0"/>
              </a:endParaRPr>
            </a:p>
          </p:txBody>
        </p:sp>
        <p:sp>
          <p:nvSpPr>
            <p:cNvPr id="7" name="Rectangle 6">
              <a:extLst>
                <a:ext uri="{FF2B5EF4-FFF2-40B4-BE49-F238E27FC236}">
                  <a16:creationId xmlns:a16="http://schemas.microsoft.com/office/drawing/2014/main" id="{8FDAFE31-8F54-45A1-881D-59D8A22C7821}"/>
                </a:ext>
              </a:extLst>
            </p:cNvPr>
            <p:cNvSpPr/>
            <p:nvPr/>
          </p:nvSpPr>
          <p:spPr>
            <a:xfrm>
              <a:off x="3418367" y="2620536"/>
              <a:ext cx="1499189" cy="1136320"/>
            </a:xfrm>
            <a:prstGeom prst="rect">
              <a:avLst/>
            </a:prstGeom>
            <a:solidFill>
              <a:schemeClr val="accent2">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Task Tracker</a:t>
              </a:r>
              <a:endParaRPr lang="en-IN" dirty="0">
                <a:latin typeface="Bahnschrift" panose="020B0502040204020203" pitchFamily="34" charset="0"/>
              </a:endParaRPr>
            </a:p>
          </p:txBody>
        </p:sp>
        <p:cxnSp>
          <p:nvCxnSpPr>
            <p:cNvPr id="9" name="Straight Arrow Connector 8">
              <a:extLst>
                <a:ext uri="{FF2B5EF4-FFF2-40B4-BE49-F238E27FC236}">
                  <a16:creationId xmlns:a16="http://schemas.microsoft.com/office/drawing/2014/main" id="{6539AC0F-465C-4129-87E1-D8365F65A309}"/>
                </a:ext>
              </a:extLst>
            </p:cNvPr>
            <p:cNvCxnSpPr>
              <a:stCxn id="7" idx="2"/>
            </p:cNvCxnSpPr>
            <p:nvPr/>
          </p:nvCxnSpPr>
          <p:spPr>
            <a:xfrm flipH="1">
              <a:off x="4167961" y="3756856"/>
              <a:ext cx="1" cy="42174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CEF94F9-4904-4A86-A527-1973C55248F0}"/>
                </a:ext>
              </a:extLst>
            </p:cNvPr>
            <p:cNvSpPr/>
            <p:nvPr/>
          </p:nvSpPr>
          <p:spPr>
            <a:xfrm>
              <a:off x="4391247" y="3838353"/>
              <a:ext cx="1499188" cy="34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Step 3</a:t>
              </a:r>
              <a:endParaRPr lang="en-IN" dirty="0">
                <a:solidFill>
                  <a:schemeClr val="tx1"/>
                </a:solidFill>
                <a:latin typeface="Bahnschrift" panose="020B0502040204020203" pitchFamily="34" charset="0"/>
              </a:endParaRPr>
            </a:p>
          </p:txBody>
        </p:sp>
      </p:grpSp>
      <p:grpSp>
        <p:nvGrpSpPr>
          <p:cNvPr id="24" name="Group 23">
            <a:extLst>
              <a:ext uri="{FF2B5EF4-FFF2-40B4-BE49-F238E27FC236}">
                <a16:creationId xmlns:a16="http://schemas.microsoft.com/office/drawing/2014/main" id="{41645338-ADFE-4472-AB9E-37F9D3DC825F}"/>
              </a:ext>
            </a:extLst>
          </p:cNvPr>
          <p:cNvGrpSpPr/>
          <p:nvPr/>
        </p:nvGrpSpPr>
        <p:grpSpPr>
          <a:xfrm>
            <a:off x="2302834" y="1387448"/>
            <a:ext cx="6422065" cy="1271270"/>
            <a:chOff x="2302834" y="1387448"/>
            <a:chExt cx="6422065" cy="1271270"/>
          </a:xfrm>
        </p:grpSpPr>
        <p:sp>
          <p:nvSpPr>
            <p:cNvPr id="12" name="Rectangle 11">
              <a:extLst>
                <a:ext uri="{FF2B5EF4-FFF2-40B4-BE49-F238E27FC236}">
                  <a16:creationId xmlns:a16="http://schemas.microsoft.com/office/drawing/2014/main" id="{1BA1F06F-9AC5-47B5-9B1D-8706ABD313C8}"/>
                </a:ext>
              </a:extLst>
            </p:cNvPr>
            <p:cNvSpPr/>
            <p:nvPr/>
          </p:nvSpPr>
          <p:spPr>
            <a:xfrm>
              <a:off x="2302834" y="1387448"/>
              <a:ext cx="6422065" cy="127127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13" name="Rectangle 12">
              <a:extLst>
                <a:ext uri="{FF2B5EF4-FFF2-40B4-BE49-F238E27FC236}">
                  <a16:creationId xmlns:a16="http://schemas.microsoft.com/office/drawing/2014/main" id="{5B5E329E-5782-4CD5-AB08-338177441B5A}"/>
                </a:ext>
              </a:extLst>
            </p:cNvPr>
            <p:cNvSpPr/>
            <p:nvPr/>
          </p:nvSpPr>
          <p:spPr>
            <a:xfrm>
              <a:off x="2568647" y="1473841"/>
              <a:ext cx="5890437" cy="88956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14" name="Rectangle 13">
              <a:extLst>
                <a:ext uri="{FF2B5EF4-FFF2-40B4-BE49-F238E27FC236}">
                  <a16:creationId xmlns:a16="http://schemas.microsoft.com/office/drawing/2014/main" id="{77DA1DBD-2C60-4ADE-AE0F-5CA352D98A5B}"/>
                </a:ext>
              </a:extLst>
            </p:cNvPr>
            <p:cNvSpPr/>
            <p:nvPr/>
          </p:nvSpPr>
          <p:spPr>
            <a:xfrm>
              <a:off x="3094074" y="1604430"/>
              <a:ext cx="1477926" cy="628389"/>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Job Tracker</a:t>
              </a:r>
              <a:endParaRPr lang="en-IN" dirty="0">
                <a:solidFill>
                  <a:schemeClr val="tx1"/>
                </a:solidFill>
                <a:latin typeface="Bahnschrift" panose="020B0502040204020203" pitchFamily="34" charset="0"/>
              </a:endParaRPr>
            </a:p>
          </p:txBody>
        </p:sp>
        <p:sp>
          <p:nvSpPr>
            <p:cNvPr id="21" name="Rectangle 20">
              <a:extLst>
                <a:ext uri="{FF2B5EF4-FFF2-40B4-BE49-F238E27FC236}">
                  <a16:creationId xmlns:a16="http://schemas.microsoft.com/office/drawing/2014/main" id="{C63B68B5-D7DC-49BF-8198-D0D121D54AF2}"/>
                </a:ext>
              </a:extLst>
            </p:cNvPr>
            <p:cNvSpPr/>
            <p:nvPr/>
          </p:nvSpPr>
          <p:spPr>
            <a:xfrm>
              <a:off x="4366629" y="2384011"/>
              <a:ext cx="3391786" cy="2206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Bahnschrift" panose="020B0502040204020203" pitchFamily="34" charset="0"/>
                </a:rPr>
                <a:t>Job Tracker Node</a:t>
              </a:r>
              <a:endParaRPr lang="en-IN" sz="2000" dirty="0">
                <a:solidFill>
                  <a:schemeClr val="tx1"/>
                </a:solidFill>
                <a:latin typeface="Bahnschrift" panose="020B0502040204020203" pitchFamily="34" charset="0"/>
              </a:endParaRPr>
            </a:p>
          </p:txBody>
        </p:sp>
      </p:grpSp>
      <p:sp>
        <p:nvSpPr>
          <p:cNvPr id="22" name="Rectangle 21">
            <a:extLst>
              <a:ext uri="{FF2B5EF4-FFF2-40B4-BE49-F238E27FC236}">
                <a16:creationId xmlns:a16="http://schemas.microsoft.com/office/drawing/2014/main" id="{F942A8D3-749A-4275-9F0F-BC46995453FA}"/>
              </a:ext>
            </a:extLst>
          </p:cNvPr>
          <p:cNvSpPr/>
          <p:nvPr/>
        </p:nvSpPr>
        <p:spPr>
          <a:xfrm>
            <a:off x="2626245" y="2601814"/>
            <a:ext cx="1295013" cy="5575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Bahnschrift" panose="020B0502040204020203" pitchFamily="34" charset="0"/>
              </a:rPr>
              <a:t>Heart Beats</a:t>
            </a:r>
            <a:endParaRPr lang="en-IN" sz="1600" dirty="0">
              <a:solidFill>
                <a:schemeClr val="tx1"/>
              </a:solidFill>
              <a:latin typeface="Bahnschrift" panose="020B0502040204020203" pitchFamily="34" charset="0"/>
            </a:endParaRPr>
          </a:p>
        </p:txBody>
      </p:sp>
      <p:cxnSp>
        <p:nvCxnSpPr>
          <p:cNvPr id="16" name="Straight Arrow Connector 15">
            <a:extLst>
              <a:ext uri="{FF2B5EF4-FFF2-40B4-BE49-F238E27FC236}">
                <a16:creationId xmlns:a16="http://schemas.microsoft.com/office/drawing/2014/main" id="{4DC7DF8B-63DB-41EB-AE4E-CF664287EA20}"/>
              </a:ext>
            </a:extLst>
          </p:cNvPr>
          <p:cNvCxnSpPr>
            <a:cxnSpLocks/>
            <a:stCxn id="7" idx="0"/>
            <a:endCxn id="14" idx="2"/>
          </p:cNvCxnSpPr>
          <p:nvPr/>
        </p:nvCxnSpPr>
        <p:spPr>
          <a:xfrm flipV="1">
            <a:off x="3827721" y="2232819"/>
            <a:ext cx="5316" cy="83078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Multiplication Sign 1">
            <a:extLst>
              <a:ext uri="{FF2B5EF4-FFF2-40B4-BE49-F238E27FC236}">
                <a16:creationId xmlns:a16="http://schemas.microsoft.com/office/drawing/2014/main" id="{66603E15-A1DA-4748-829A-35B896A8E58A}"/>
              </a:ext>
            </a:extLst>
          </p:cNvPr>
          <p:cNvSpPr/>
          <p:nvPr/>
        </p:nvSpPr>
        <p:spPr>
          <a:xfrm>
            <a:off x="2363085" y="4590496"/>
            <a:ext cx="3112681" cy="1708760"/>
          </a:xfrm>
          <a:prstGeom prst="mathMultiply">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18" name="Multiplication Sign 17">
            <a:extLst>
              <a:ext uri="{FF2B5EF4-FFF2-40B4-BE49-F238E27FC236}">
                <a16:creationId xmlns:a16="http://schemas.microsoft.com/office/drawing/2014/main" id="{805C17FD-6F93-4C50-985E-D0E0EDA732E4}"/>
              </a:ext>
            </a:extLst>
          </p:cNvPr>
          <p:cNvSpPr/>
          <p:nvPr/>
        </p:nvSpPr>
        <p:spPr>
          <a:xfrm>
            <a:off x="2267395" y="2702031"/>
            <a:ext cx="3112681" cy="1708760"/>
          </a:xfrm>
          <a:prstGeom prst="mathMultiply">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19" name="Multiplication Sign 18">
            <a:extLst>
              <a:ext uri="{FF2B5EF4-FFF2-40B4-BE49-F238E27FC236}">
                <a16:creationId xmlns:a16="http://schemas.microsoft.com/office/drawing/2014/main" id="{DCA5739B-C285-432D-B81C-F55FE48C053D}"/>
              </a:ext>
            </a:extLst>
          </p:cNvPr>
          <p:cNvSpPr/>
          <p:nvPr/>
        </p:nvSpPr>
        <p:spPr>
          <a:xfrm>
            <a:off x="2302832" y="1143971"/>
            <a:ext cx="3112681" cy="1708760"/>
          </a:xfrm>
          <a:prstGeom prst="mathMultiply">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Tree>
    <p:extLst>
      <p:ext uri="{BB962C8B-B14F-4D97-AF65-F5344CB8AC3E}">
        <p14:creationId xmlns:p14="http://schemas.microsoft.com/office/powerpoint/2010/main" val="20656132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DF980A-8D6C-4BE4-8369-4D0B35B92EA5}"/>
              </a:ext>
            </a:extLst>
          </p:cNvPr>
          <p:cNvSpPr>
            <a:spLocks noGrp="1"/>
          </p:cNvSpPr>
          <p:nvPr>
            <p:ph type="title"/>
          </p:nvPr>
        </p:nvSpPr>
        <p:spPr/>
        <p:txBody>
          <a:bodyPr vert="horz" lIns="91440" tIns="45720" rIns="91440" bIns="45720" rtlCol="0" anchor="ctr">
            <a:noAutofit/>
          </a:bodyPr>
          <a:lstStyle/>
          <a:p>
            <a:r>
              <a:rPr lang="en-IN" dirty="0"/>
              <a:t>Failures in Classic Map-reduce</a:t>
            </a:r>
          </a:p>
        </p:txBody>
      </p:sp>
      <p:grpSp>
        <p:nvGrpSpPr>
          <p:cNvPr id="11" name="Group 10">
            <a:extLst>
              <a:ext uri="{FF2B5EF4-FFF2-40B4-BE49-F238E27FC236}">
                <a16:creationId xmlns:a16="http://schemas.microsoft.com/office/drawing/2014/main" id="{9009387E-E3CB-4E43-9322-240748E425B8}"/>
              </a:ext>
            </a:extLst>
          </p:cNvPr>
          <p:cNvGrpSpPr/>
          <p:nvPr/>
        </p:nvGrpSpPr>
        <p:grpSpPr>
          <a:xfrm>
            <a:off x="2721936" y="2834260"/>
            <a:ext cx="2828258" cy="3912783"/>
            <a:chOff x="3062177" y="2391195"/>
            <a:chExt cx="2828258" cy="3912783"/>
          </a:xfrm>
        </p:grpSpPr>
        <p:sp>
          <p:nvSpPr>
            <p:cNvPr id="4" name="Rectangle 3">
              <a:extLst>
                <a:ext uri="{FF2B5EF4-FFF2-40B4-BE49-F238E27FC236}">
                  <a16:creationId xmlns:a16="http://schemas.microsoft.com/office/drawing/2014/main" id="{9DB163A9-200A-4577-9A1E-450C51AD39FC}"/>
                </a:ext>
              </a:extLst>
            </p:cNvPr>
            <p:cNvSpPr/>
            <p:nvPr/>
          </p:nvSpPr>
          <p:spPr>
            <a:xfrm>
              <a:off x="3062177" y="2391195"/>
              <a:ext cx="2658140" cy="3912783"/>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5" name="Rectangle 4">
              <a:extLst>
                <a:ext uri="{FF2B5EF4-FFF2-40B4-BE49-F238E27FC236}">
                  <a16:creationId xmlns:a16="http://schemas.microsoft.com/office/drawing/2014/main" id="{3A45F569-48B8-4CF8-A8A3-7C6E0D14EA11}"/>
                </a:ext>
              </a:extLst>
            </p:cNvPr>
            <p:cNvSpPr/>
            <p:nvPr/>
          </p:nvSpPr>
          <p:spPr>
            <a:xfrm>
              <a:off x="3237614" y="4147431"/>
              <a:ext cx="2083982" cy="15995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latin typeface="Bahnschrift" panose="020B0502040204020203" pitchFamily="34" charset="0"/>
                </a:rPr>
                <a:t>Child JVM</a:t>
              </a:r>
              <a:endParaRPr lang="en-IN" dirty="0">
                <a:solidFill>
                  <a:schemeClr val="tx1"/>
                </a:solidFill>
                <a:latin typeface="Bahnschrift" panose="020B0502040204020203" pitchFamily="34" charset="0"/>
              </a:endParaRPr>
            </a:p>
          </p:txBody>
        </p:sp>
        <p:sp>
          <p:nvSpPr>
            <p:cNvPr id="6" name="Rectangle 5">
              <a:extLst>
                <a:ext uri="{FF2B5EF4-FFF2-40B4-BE49-F238E27FC236}">
                  <a16:creationId xmlns:a16="http://schemas.microsoft.com/office/drawing/2014/main" id="{BB0F663C-64F5-43DA-99BA-F66A48A4170A}"/>
                </a:ext>
              </a:extLst>
            </p:cNvPr>
            <p:cNvSpPr/>
            <p:nvPr/>
          </p:nvSpPr>
          <p:spPr>
            <a:xfrm>
              <a:off x="3530010" y="4420178"/>
              <a:ext cx="1499189" cy="113632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Map or reduce Task</a:t>
              </a:r>
              <a:endParaRPr lang="en-IN" dirty="0">
                <a:latin typeface="Bahnschrift" panose="020B0502040204020203" pitchFamily="34" charset="0"/>
              </a:endParaRPr>
            </a:p>
          </p:txBody>
        </p:sp>
        <p:sp>
          <p:nvSpPr>
            <p:cNvPr id="7" name="Rectangle 6">
              <a:extLst>
                <a:ext uri="{FF2B5EF4-FFF2-40B4-BE49-F238E27FC236}">
                  <a16:creationId xmlns:a16="http://schemas.microsoft.com/office/drawing/2014/main" id="{8FDAFE31-8F54-45A1-881D-59D8A22C7821}"/>
                </a:ext>
              </a:extLst>
            </p:cNvPr>
            <p:cNvSpPr/>
            <p:nvPr/>
          </p:nvSpPr>
          <p:spPr>
            <a:xfrm>
              <a:off x="3418367" y="2620536"/>
              <a:ext cx="1499189" cy="1136320"/>
            </a:xfrm>
            <a:prstGeom prst="rect">
              <a:avLst/>
            </a:prstGeom>
            <a:solidFill>
              <a:schemeClr val="accent2">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Task Tracker</a:t>
              </a:r>
              <a:endParaRPr lang="en-IN" dirty="0">
                <a:latin typeface="Bahnschrift" panose="020B0502040204020203" pitchFamily="34" charset="0"/>
              </a:endParaRPr>
            </a:p>
          </p:txBody>
        </p:sp>
        <p:cxnSp>
          <p:nvCxnSpPr>
            <p:cNvPr id="9" name="Straight Arrow Connector 8">
              <a:extLst>
                <a:ext uri="{FF2B5EF4-FFF2-40B4-BE49-F238E27FC236}">
                  <a16:creationId xmlns:a16="http://schemas.microsoft.com/office/drawing/2014/main" id="{6539AC0F-465C-4129-87E1-D8365F65A309}"/>
                </a:ext>
              </a:extLst>
            </p:cNvPr>
            <p:cNvCxnSpPr>
              <a:stCxn id="7" idx="2"/>
            </p:cNvCxnSpPr>
            <p:nvPr/>
          </p:nvCxnSpPr>
          <p:spPr>
            <a:xfrm flipH="1">
              <a:off x="4167961" y="3756856"/>
              <a:ext cx="1" cy="42174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CEF94F9-4904-4A86-A527-1973C55248F0}"/>
                </a:ext>
              </a:extLst>
            </p:cNvPr>
            <p:cNvSpPr/>
            <p:nvPr/>
          </p:nvSpPr>
          <p:spPr>
            <a:xfrm>
              <a:off x="4391247" y="3838353"/>
              <a:ext cx="1499188" cy="34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Step 3</a:t>
              </a:r>
              <a:endParaRPr lang="en-IN" dirty="0">
                <a:solidFill>
                  <a:schemeClr val="tx1"/>
                </a:solidFill>
                <a:latin typeface="Bahnschrift" panose="020B0502040204020203" pitchFamily="34" charset="0"/>
              </a:endParaRPr>
            </a:p>
          </p:txBody>
        </p:sp>
      </p:grpSp>
      <p:grpSp>
        <p:nvGrpSpPr>
          <p:cNvPr id="24" name="Group 23">
            <a:extLst>
              <a:ext uri="{FF2B5EF4-FFF2-40B4-BE49-F238E27FC236}">
                <a16:creationId xmlns:a16="http://schemas.microsoft.com/office/drawing/2014/main" id="{41645338-ADFE-4472-AB9E-37F9D3DC825F}"/>
              </a:ext>
            </a:extLst>
          </p:cNvPr>
          <p:cNvGrpSpPr/>
          <p:nvPr/>
        </p:nvGrpSpPr>
        <p:grpSpPr>
          <a:xfrm>
            <a:off x="2302834" y="1387448"/>
            <a:ext cx="6422065" cy="1271270"/>
            <a:chOff x="2302834" y="1387448"/>
            <a:chExt cx="6422065" cy="1271270"/>
          </a:xfrm>
        </p:grpSpPr>
        <p:sp>
          <p:nvSpPr>
            <p:cNvPr id="12" name="Rectangle 11">
              <a:extLst>
                <a:ext uri="{FF2B5EF4-FFF2-40B4-BE49-F238E27FC236}">
                  <a16:creationId xmlns:a16="http://schemas.microsoft.com/office/drawing/2014/main" id="{1BA1F06F-9AC5-47B5-9B1D-8706ABD313C8}"/>
                </a:ext>
              </a:extLst>
            </p:cNvPr>
            <p:cNvSpPr/>
            <p:nvPr/>
          </p:nvSpPr>
          <p:spPr>
            <a:xfrm>
              <a:off x="2302834" y="1387448"/>
              <a:ext cx="6422065" cy="127127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13" name="Rectangle 12">
              <a:extLst>
                <a:ext uri="{FF2B5EF4-FFF2-40B4-BE49-F238E27FC236}">
                  <a16:creationId xmlns:a16="http://schemas.microsoft.com/office/drawing/2014/main" id="{5B5E329E-5782-4CD5-AB08-338177441B5A}"/>
                </a:ext>
              </a:extLst>
            </p:cNvPr>
            <p:cNvSpPr/>
            <p:nvPr/>
          </p:nvSpPr>
          <p:spPr>
            <a:xfrm>
              <a:off x="2568647" y="1473841"/>
              <a:ext cx="5890437" cy="88956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14" name="Rectangle 13">
              <a:extLst>
                <a:ext uri="{FF2B5EF4-FFF2-40B4-BE49-F238E27FC236}">
                  <a16:creationId xmlns:a16="http://schemas.microsoft.com/office/drawing/2014/main" id="{77DA1DBD-2C60-4ADE-AE0F-5CA352D98A5B}"/>
                </a:ext>
              </a:extLst>
            </p:cNvPr>
            <p:cNvSpPr/>
            <p:nvPr/>
          </p:nvSpPr>
          <p:spPr>
            <a:xfrm>
              <a:off x="3094074" y="1604430"/>
              <a:ext cx="1477926" cy="628389"/>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Job Tracker</a:t>
              </a:r>
              <a:endParaRPr lang="en-IN" dirty="0">
                <a:solidFill>
                  <a:schemeClr val="tx1"/>
                </a:solidFill>
                <a:latin typeface="Bahnschrift" panose="020B0502040204020203" pitchFamily="34" charset="0"/>
              </a:endParaRPr>
            </a:p>
          </p:txBody>
        </p:sp>
        <p:sp>
          <p:nvSpPr>
            <p:cNvPr id="21" name="Rectangle 20">
              <a:extLst>
                <a:ext uri="{FF2B5EF4-FFF2-40B4-BE49-F238E27FC236}">
                  <a16:creationId xmlns:a16="http://schemas.microsoft.com/office/drawing/2014/main" id="{C63B68B5-D7DC-49BF-8198-D0D121D54AF2}"/>
                </a:ext>
              </a:extLst>
            </p:cNvPr>
            <p:cNvSpPr/>
            <p:nvPr/>
          </p:nvSpPr>
          <p:spPr>
            <a:xfrm>
              <a:off x="4366629" y="2384011"/>
              <a:ext cx="3391786" cy="2206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Bahnschrift" panose="020B0502040204020203" pitchFamily="34" charset="0"/>
                </a:rPr>
                <a:t>Job Tracker Node</a:t>
              </a:r>
              <a:endParaRPr lang="en-IN" sz="2000" dirty="0">
                <a:solidFill>
                  <a:schemeClr val="tx1"/>
                </a:solidFill>
                <a:latin typeface="Bahnschrift" panose="020B0502040204020203" pitchFamily="34" charset="0"/>
              </a:endParaRPr>
            </a:p>
          </p:txBody>
        </p:sp>
      </p:grpSp>
      <p:sp>
        <p:nvSpPr>
          <p:cNvPr id="22" name="Rectangle 21">
            <a:extLst>
              <a:ext uri="{FF2B5EF4-FFF2-40B4-BE49-F238E27FC236}">
                <a16:creationId xmlns:a16="http://schemas.microsoft.com/office/drawing/2014/main" id="{F942A8D3-749A-4275-9F0F-BC46995453FA}"/>
              </a:ext>
            </a:extLst>
          </p:cNvPr>
          <p:cNvSpPr/>
          <p:nvPr/>
        </p:nvSpPr>
        <p:spPr>
          <a:xfrm>
            <a:off x="2626245" y="2601814"/>
            <a:ext cx="1295013" cy="5575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Bahnschrift" panose="020B0502040204020203" pitchFamily="34" charset="0"/>
              </a:rPr>
              <a:t>Heart Beats</a:t>
            </a:r>
            <a:endParaRPr lang="en-IN" sz="1600" dirty="0">
              <a:solidFill>
                <a:schemeClr val="tx1"/>
              </a:solidFill>
              <a:latin typeface="Bahnschrift" panose="020B0502040204020203" pitchFamily="34" charset="0"/>
            </a:endParaRPr>
          </a:p>
        </p:txBody>
      </p:sp>
      <p:cxnSp>
        <p:nvCxnSpPr>
          <p:cNvPr id="16" name="Straight Arrow Connector 15">
            <a:extLst>
              <a:ext uri="{FF2B5EF4-FFF2-40B4-BE49-F238E27FC236}">
                <a16:creationId xmlns:a16="http://schemas.microsoft.com/office/drawing/2014/main" id="{4DC7DF8B-63DB-41EB-AE4E-CF664287EA20}"/>
              </a:ext>
            </a:extLst>
          </p:cNvPr>
          <p:cNvCxnSpPr>
            <a:cxnSpLocks/>
            <a:stCxn id="7" idx="0"/>
            <a:endCxn id="14" idx="2"/>
          </p:cNvCxnSpPr>
          <p:nvPr/>
        </p:nvCxnSpPr>
        <p:spPr>
          <a:xfrm flipV="1">
            <a:off x="3827721" y="2232819"/>
            <a:ext cx="5316" cy="83078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Multiplication Sign 1">
            <a:extLst>
              <a:ext uri="{FF2B5EF4-FFF2-40B4-BE49-F238E27FC236}">
                <a16:creationId xmlns:a16="http://schemas.microsoft.com/office/drawing/2014/main" id="{66603E15-A1DA-4748-829A-35B896A8E58A}"/>
              </a:ext>
            </a:extLst>
          </p:cNvPr>
          <p:cNvSpPr/>
          <p:nvPr/>
        </p:nvSpPr>
        <p:spPr>
          <a:xfrm>
            <a:off x="2363085" y="4590496"/>
            <a:ext cx="3112681" cy="1708760"/>
          </a:xfrm>
          <a:prstGeom prst="mathMultiply">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graphicFrame>
        <p:nvGraphicFramePr>
          <p:cNvPr id="15" name="Table 16">
            <a:extLst>
              <a:ext uri="{FF2B5EF4-FFF2-40B4-BE49-F238E27FC236}">
                <a16:creationId xmlns:a16="http://schemas.microsoft.com/office/drawing/2014/main" id="{D238B4C9-72A7-4B47-89CC-F8DCA248244D}"/>
              </a:ext>
            </a:extLst>
          </p:cNvPr>
          <p:cNvGraphicFramePr>
            <a:graphicFrameLocks noGrp="1"/>
          </p:cNvGraphicFramePr>
          <p:nvPr>
            <p:extLst>
              <p:ext uri="{D42A27DB-BD31-4B8C-83A1-F6EECF244321}">
                <p14:modId xmlns:p14="http://schemas.microsoft.com/office/powerpoint/2010/main" val="1046512892"/>
              </p:ext>
            </p:extLst>
          </p:nvPr>
        </p:nvGraphicFramePr>
        <p:xfrm>
          <a:off x="5645892" y="2837822"/>
          <a:ext cx="3253371" cy="833300"/>
        </p:xfrm>
        <a:graphic>
          <a:graphicData uri="http://schemas.openxmlformats.org/drawingml/2006/table">
            <a:tbl>
              <a:tblPr firstRow="1" bandRow="1">
                <a:tableStyleId>{5C22544A-7EE6-4342-B048-85BDC9FD1C3A}</a:tableStyleId>
              </a:tblPr>
              <a:tblGrid>
                <a:gridCol w="3253371">
                  <a:extLst>
                    <a:ext uri="{9D8B030D-6E8A-4147-A177-3AD203B41FA5}">
                      <a16:colId xmlns:a16="http://schemas.microsoft.com/office/drawing/2014/main" val="152096159"/>
                    </a:ext>
                  </a:extLst>
                </a:gridCol>
              </a:tblGrid>
              <a:tr h="416650">
                <a:tc>
                  <a:txBody>
                    <a:bodyPr/>
                    <a:lstStyle/>
                    <a:p>
                      <a:r>
                        <a:rPr lang="en-US" dirty="0">
                          <a:solidFill>
                            <a:schemeClr val="tx1"/>
                          </a:solidFill>
                          <a:latin typeface="Bahnschrift" panose="020B0502040204020203" pitchFamily="34" charset="0"/>
                        </a:rPr>
                        <a:t>Task Failure</a:t>
                      </a:r>
                      <a:endParaRPr lang="en-IN" dirty="0">
                        <a:solidFill>
                          <a:schemeClr val="tx1"/>
                        </a:solidFill>
                        <a:latin typeface="Bahnschrift" panose="020B0502040204020203" pitchFamily="34" charset="0"/>
                      </a:endParaRPr>
                    </a:p>
                  </a:txBody>
                  <a:tcPr>
                    <a:solidFill>
                      <a:schemeClr val="bg1">
                        <a:lumMod val="85000"/>
                      </a:schemeClr>
                    </a:solidFill>
                  </a:tcPr>
                </a:tc>
                <a:extLst>
                  <a:ext uri="{0D108BD9-81ED-4DB2-BD59-A6C34878D82A}">
                    <a16:rowId xmlns:a16="http://schemas.microsoft.com/office/drawing/2014/main" val="1258551309"/>
                  </a:ext>
                </a:extLst>
              </a:tr>
              <a:tr h="416650">
                <a:tc>
                  <a:txBody>
                    <a:bodyPr/>
                    <a:lstStyle/>
                    <a:p>
                      <a:r>
                        <a:rPr lang="en-US" dirty="0">
                          <a:solidFill>
                            <a:schemeClr val="tx1"/>
                          </a:solidFill>
                          <a:latin typeface="Bahnschrift" panose="020B0502040204020203" pitchFamily="34" charset="0"/>
                        </a:rPr>
                        <a:t>Code Caused Issues</a:t>
                      </a:r>
                      <a:endParaRPr lang="en-IN" dirty="0">
                        <a:solidFill>
                          <a:schemeClr val="tx1"/>
                        </a:solidFill>
                        <a:latin typeface="Bahnschrift" panose="020B0502040204020203" pitchFamily="34" charset="0"/>
                      </a:endParaRPr>
                    </a:p>
                  </a:txBody>
                  <a:tcPr>
                    <a:solidFill>
                      <a:schemeClr val="bg1">
                        <a:lumMod val="85000"/>
                      </a:schemeClr>
                    </a:solidFill>
                  </a:tcPr>
                </a:tc>
                <a:extLst>
                  <a:ext uri="{0D108BD9-81ED-4DB2-BD59-A6C34878D82A}">
                    <a16:rowId xmlns:a16="http://schemas.microsoft.com/office/drawing/2014/main" val="3255544291"/>
                  </a:ext>
                </a:extLst>
              </a:tr>
            </a:tbl>
          </a:graphicData>
        </a:graphic>
      </p:graphicFrame>
    </p:spTree>
    <p:extLst>
      <p:ext uri="{BB962C8B-B14F-4D97-AF65-F5344CB8AC3E}">
        <p14:creationId xmlns:p14="http://schemas.microsoft.com/office/powerpoint/2010/main" val="15565351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DF980A-8D6C-4BE4-8369-4D0B35B92EA5}"/>
              </a:ext>
            </a:extLst>
          </p:cNvPr>
          <p:cNvSpPr>
            <a:spLocks noGrp="1"/>
          </p:cNvSpPr>
          <p:nvPr>
            <p:ph type="title"/>
          </p:nvPr>
        </p:nvSpPr>
        <p:spPr/>
        <p:txBody>
          <a:bodyPr vert="horz" lIns="91440" tIns="45720" rIns="91440" bIns="45720" rtlCol="0" anchor="ctr">
            <a:noAutofit/>
          </a:bodyPr>
          <a:lstStyle/>
          <a:p>
            <a:r>
              <a:rPr lang="en-IN" dirty="0"/>
              <a:t>Failures in Classic Map-reduce</a:t>
            </a:r>
          </a:p>
        </p:txBody>
      </p:sp>
      <p:grpSp>
        <p:nvGrpSpPr>
          <p:cNvPr id="11" name="Group 10">
            <a:extLst>
              <a:ext uri="{FF2B5EF4-FFF2-40B4-BE49-F238E27FC236}">
                <a16:creationId xmlns:a16="http://schemas.microsoft.com/office/drawing/2014/main" id="{9009387E-E3CB-4E43-9322-240748E425B8}"/>
              </a:ext>
            </a:extLst>
          </p:cNvPr>
          <p:cNvGrpSpPr/>
          <p:nvPr/>
        </p:nvGrpSpPr>
        <p:grpSpPr>
          <a:xfrm>
            <a:off x="2721936" y="2834260"/>
            <a:ext cx="2828258" cy="3912783"/>
            <a:chOff x="3062177" y="2391195"/>
            <a:chExt cx="2828258" cy="3912783"/>
          </a:xfrm>
        </p:grpSpPr>
        <p:sp>
          <p:nvSpPr>
            <p:cNvPr id="4" name="Rectangle 3">
              <a:extLst>
                <a:ext uri="{FF2B5EF4-FFF2-40B4-BE49-F238E27FC236}">
                  <a16:creationId xmlns:a16="http://schemas.microsoft.com/office/drawing/2014/main" id="{9DB163A9-200A-4577-9A1E-450C51AD39FC}"/>
                </a:ext>
              </a:extLst>
            </p:cNvPr>
            <p:cNvSpPr/>
            <p:nvPr/>
          </p:nvSpPr>
          <p:spPr>
            <a:xfrm>
              <a:off x="3062177" y="2391195"/>
              <a:ext cx="2658140" cy="3912783"/>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5" name="Rectangle 4">
              <a:extLst>
                <a:ext uri="{FF2B5EF4-FFF2-40B4-BE49-F238E27FC236}">
                  <a16:creationId xmlns:a16="http://schemas.microsoft.com/office/drawing/2014/main" id="{3A45F569-48B8-4CF8-A8A3-7C6E0D14EA11}"/>
                </a:ext>
              </a:extLst>
            </p:cNvPr>
            <p:cNvSpPr/>
            <p:nvPr/>
          </p:nvSpPr>
          <p:spPr>
            <a:xfrm>
              <a:off x="3237614" y="4147431"/>
              <a:ext cx="2083982" cy="15995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latin typeface="Bahnschrift" panose="020B0502040204020203" pitchFamily="34" charset="0"/>
                </a:rPr>
                <a:t>Child JVM</a:t>
              </a:r>
              <a:endParaRPr lang="en-IN" dirty="0">
                <a:solidFill>
                  <a:schemeClr val="tx1"/>
                </a:solidFill>
                <a:latin typeface="Bahnschrift" panose="020B0502040204020203" pitchFamily="34" charset="0"/>
              </a:endParaRPr>
            </a:p>
          </p:txBody>
        </p:sp>
        <p:sp>
          <p:nvSpPr>
            <p:cNvPr id="6" name="Rectangle 5">
              <a:extLst>
                <a:ext uri="{FF2B5EF4-FFF2-40B4-BE49-F238E27FC236}">
                  <a16:creationId xmlns:a16="http://schemas.microsoft.com/office/drawing/2014/main" id="{BB0F663C-64F5-43DA-99BA-F66A48A4170A}"/>
                </a:ext>
              </a:extLst>
            </p:cNvPr>
            <p:cNvSpPr/>
            <p:nvPr/>
          </p:nvSpPr>
          <p:spPr>
            <a:xfrm>
              <a:off x="3530010" y="4420178"/>
              <a:ext cx="1499189" cy="113632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Map or reduce Task</a:t>
              </a:r>
              <a:endParaRPr lang="en-IN" dirty="0">
                <a:latin typeface="Bahnschrift" panose="020B0502040204020203" pitchFamily="34" charset="0"/>
              </a:endParaRPr>
            </a:p>
          </p:txBody>
        </p:sp>
        <p:sp>
          <p:nvSpPr>
            <p:cNvPr id="7" name="Rectangle 6">
              <a:extLst>
                <a:ext uri="{FF2B5EF4-FFF2-40B4-BE49-F238E27FC236}">
                  <a16:creationId xmlns:a16="http://schemas.microsoft.com/office/drawing/2014/main" id="{8FDAFE31-8F54-45A1-881D-59D8A22C7821}"/>
                </a:ext>
              </a:extLst>
            </p:cNvPr>
            <p:cNvSpPr/>
            <p:nvPr/>
          </p:nvSpPr>
          <p:spPr>
            <a:xfrm>
              <a:off x="3418367" y="2620536"/>
              <a:ext cx="1499189" cy="1136320"/>
            </a:xfrm>
            <a:prstGeom prst="rect">
              <a:avLst/>
            </a:prstGeom>
            <a:solidFill>
              <a:schemeClr val="accent2">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Task Tracker</a:t>
              </a:r>
              <a:endParaRPr lang="en-IN" dirty="0">
                <a:latin typeface="Bahnschrift" panose="020B0502040204020203" pitchFamily="34" charset="0"/>
              </a:endParaRPr>
            </a:p>
          </p:txBody>
        </p:sp>
        <p:cxnSp>
          <p:nvCxnSpPr>
            <p:cNvPr id="9" name="Straight Arrow Connector 8">
              <a:extLst>
                <a:ext uri="{FF2B5EF4-FFF2-40B4-BE49-F238E27FC236}">
                  <a16:creationId xmlns:a16="http://schemas.microsoft.com/office/drawing/2014/main" id="{6539AC0F-465C-4129-87E1-D8365F65A309}"/>
                </a:ext>
              </a:extLst>
            </p:cNvPr>
            <p:cNvCxnSpPr>
              <a:stCxn id="7" idx="2"/>
            </p:cNvCxnSpPr>
            <p:nvPr/>
          </p:nvCxnSpPr>
          <p:spPr>
            <a:xfrm flipH="1">
              <a:off x="4167961" y="3756856"/>
              <a:ext cx="1" cy="42174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CEF94F9-4904-4A86-A527-1973C55248F0}"/>
                </a:ext>
              </a:extLst>
            </p:cNvPr>
            <p:cNvSpPr/>
            <p:nvPr/>
          </p:nvSpPr>
          <p:spPr>
            <a:xfrm>
              <a:off x="4391247" y="3838353"/>
              <a:ext cx="1499188" cy="34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Step 3</a:t>
              </a:r>
              <a:endParaRPr lang="en-IN" dirty="0">
                <a:solidFill>
                  <a:schemeClr val="tx1"/>
                </a:solidFill>
                <a:latin typeface="Bahnschrift" panose="020B0502040204020203" pitchFamily="34" charset="0"/>
              </a:endParaRPr>
            </a:p>
          </p:txBody>
        </p:sp>
      </p:grpSp>
      <p:grpSp>
        <p:nvGrpSpPr>
          <p:cNvPr id="24" name="Group 23">
            <a:extLst>
              <a:ext uri="{FF2B5EF4-FFF2-40B4-BE49-F238E27FC236}">
                <a16:creationId xmlns:a16="http://schemas.microsoft.com/office/drawing/2014/main" id="{41645338-ADFE-4472-AB9E-37F9D3DC825F}"/>
              </a:ext>
            </a:extLst>
          </p:cNvPr>
          <p:cNvGrpSpPr/>
          <p:nvPr/>
        </p:nvGrpSpPr>
        <p:grpSpPr>
          <a:xfrm>
            <a:off x="2302834" y="1387448"/>
            <a:ext cx="6422065" cy="1271270"/>
            <a:chOff x="2302834" y="1387448"/>
            <a:chExt cx="6422065" cy="1271270"/>
          </a:xfrm>
        </p:grpSpPr>
        <p:sp>
          <p:nvSpPr>
            <p:cNvPr id="12" name="Rectangle 11">
              <a:extLst>
                <a:ext uri="{FF2B5EF4-FFF2-40B4-BE49-F238E27FC236}">
                  <a16:creationId xmlns:a16="http://schemas.microsoft.com/office/drawing/2014/main" id="{1BA1F06F-9AC5-47B5-9B1D-8706ABD313C8}"/>
                </a:ext>
              </a:extLst>
            </p:cNvPr>
            <p:cNvSpPr/>
            <p:nvPr/>
          </p:nvSpPr>
          <p:spPr>
            <a:xfrm>
              <a:off x="2302834" y="1387448"/>
              <a:ext cx="6422065" cy="127127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13" name="Rectangle 12">
              <a:extLst>
                <a:ext uri="{FF2B5EF4-FFF2-40B4-BE49-F238E27FC236}">
                  <a16:creationId xmlns:a16="http://schemas.microsoft.com/office/drawing/2014/main" id="{5B5E329E-5782-4CD5-AB08-338177441B5A}"/>
                </a:ext>
              </a:extLst>
            </p:cNvPr>
            <p:cNvSpPr/>
            <p:nvPr/>
          </p:nvSpPr>
          <p:spPr>
            <a:xfrm>
              <a:off x="2568647" y="1473841"/>
              <a:ext cx="5890437" cy="88956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14" name="Rectangle 13">
              <a:extLst>
                <a:ext uri="{FF2B5EF4-FFF2-40B4-BE49-F238E27FC236}">
                  <a16:creationId xmlns:a16="http://schemas.microsoft.com/office/drawing/2014/main" id="{77DA1DBD-2C60-4ADE-AE0F-5CA352D98A5B}"/>
                </a:ext>
              </a:extLst>
            </p:cNvPr>
            <p:cNvSpPr/>
            <p:nvPr/>
          </p:nvSpPr>
          <p:spPr>
            <a:xfrm>
              <a:off x="3094074" y="1604430"/>
              <a:ext cx="1477926" cy="628389"/>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Job Tracker</a:t>
              </a:r>
              <a:endParaRPr lang="en-IN" dirty="0">
                <a:solidFill>
                  <a:schemeClr val="tx1"/>
                </a:solidFill>
                <a:latin typeface="Bahnschrift" panose="020B0502040204020203" pitchFamily="34" charset="0"/>
              </a:endParaRPr>
            </a:p>
          </p:txBody>
        </p:sp>
        <p:sp>
          <p:nvSpPr>
            <p:cNvPr id="21" name="Rectangle 20">
              <a:extLst>
                <a:ext uri="{FF2B5EF4-FFF2-40B4-BE49-F238E27FC236}">
                  <a16:creationId xmlns:a16="http://schemas.microsoft.com/office/drawing/2014/main" id="{C63B68B5-D7DC-49BF-8198-D0D121D54AF2}"/>
                </a:ext>
              </a:extLst>
            </p:cNvPr>
            <p:cNvSpPr/>
            <p:nvPr/>
          </p:nvSpPr>
          <p:spPr>
            <a:xfrm>
              <a:off x="4366629" y="2384011"/>
              <a:ext cx="3391786" cy="2206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Bahnschrift" panose="020B0502040204020203" pitchFamily="34" charset="0"/>
                </a:rPr>
                <a:t>Job Tracker Node</a:t>
              </a:r>
              <a:endParaRPr lang="en-IN" sz="2000" dirty="0">
                <a:solidFill>
                  <a:schemeClr val="tx1"/>
                </a:solidFill>
                <a:latin typeface="Bahnschrift" panose="020B0502040204020203" pitchFamily="34" charset="0"/>
              </a:endParaRPr>
            </a:p>
          </p:txBody>
        </p:sp>
      </p:grpSp>
      <p:sp>
        <p:nvSpPr>
          <p:cNvPr id="22" name="Rectangle 21">
            <a:extLst>
              <a:ext uri="{FF2B5EF4-FFF2-40B4-BE49-F238E27FC236}">
                <a16:creationId xmlns:a16="http://schemas.microsoft.com/office/drawing/2014/main" id="{F942A8D3-749A-4275-9F0F-BC46995453FA}"/>
              </a:ext>
            </a:extLst>
          </p:cNvPr>
          <p:cNvSpPr/>
          <p:nvPr/>
        </p:nvSpPr>
        <p:spPr>
          <a:xfrm>
            <a:off x="2626245" y="2601814"/>
            <a:ext cx="1295013" cy="5575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Bahnschrift" panose="020B0502040204020203" pitchFamily="34" charset="0"/>
              </a:rPr>
              <a:t>Heart Beats</a:t>
            </a:r>
            <a:endParaRPr lang="en-IN" sz="1600" dirty="0">
              <a:solidFill>
                <a:schemeClr val="tx1"/>
              </a:solidFill>
              <a:latin typeface="Bahnschrift" panose="020B0502040204020203" pitchFamily="34" charset="0"/>
            </a:endParaRPr>
          </a:p>
        </p:txBody>
      </p:sp>
      <p:cxnSp>
        <p:nvCxnSpPr>
          <p:cNvPr id="16" name="Straight Arrow Connector 15">
            <a:extLst>
              <a:ext uri="{FF2B5EF4-FFF2-40B4-BE49-F238E27FC236}">
                <a16:creationId xmlns:a16="http://schemas.microsoft.com/office/drawing/2014/main" id="{4DC7DF8B-63DB-41EB-AE4E-CF664287EA20}"/>
              </a:ext>
            </a:extLst>
          </p:cNvPr>
          <p:cNvCxnSpPr>
            <a:cxnSpLocks/>
            <a:stCxn id="7" idx="0"/>
            <a:endCxn id="14" idx="2"/>
          </p:cNvCxnSpPr>
          <p:nvPr/>
        </p:nvCxnSpPr>
        <p:spPr>
          <a:xfrm flipV="1">
            <a:off x="3827721" y="2232819"/>
            <a:ext cx="5316" cy="83078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Multiplication Sign 1">
            <a:extLst>
              <a:ext uri="{FF2B5EF4-FFF2-40B4-BE49-F238E27FC236}">
                <a16:creationId xmlns:a16="http://schemas.microsoft.com/office/drawing/2014/main" id="{66603E15-A1DA-4748-829A-35B896A8E58A}"/>
              </a:ext>
            </a:extLst>
          </p:cNvPr>
          <p:cNvSpPr/>
          <p:nvPr/>
        </p:nvSpPr>
        <p:spPr>
          <a:xfrm>
            <a:off x="2363085" y="4590496"/>
            <a:ext cx="3112681" cy="1708760"/>
          </a:xfrm>
          <a:prstGeom prst="mathMultiply">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graphicFrame>
        <p:nvGraphicFramePr>
          <p:cNvPr id="15" name="Table 16">
            <a:extLst>
              <a:ext uri="{FF2B5EF4-FFF2-40B4-BE49-F238E27FC236}">
                <a16:creationId xmlns:a16="http://schemas.microsoft.com/office/drawing/2014/main" id="{D238B4C9-72A7-4B47-89CC-F8DCA248244D}"/>
              </a:ext>
            </a:extLst>
          </p:cNvPr>
          <p:cNvGraphicFramePr>
            <a:graphicFrameLocks noGrp="1"/>
          </p:cNvGraphicFramePr>
          <p:nvPr>
            <p:extLst>
              <p:ext uri="{D42A27DB-BD31-4B8C-83A1-F6EECF244321}">
                <p14:modId xmlns:p14="http://schemas.microsoft.com/office/powerpoint/2010/main" val="2060927318"/>
              </p:ext>
            </p:extLst>
          </p:nvPr>
        </p:nvGraphicFramePr>
        <p:xfrm>
          <a:off x="5645892" y="2837822"/>
          <a:ext cx="3253371" cy="1249950"/>
        </p:xfrm>
        <a:graphic>
          <a:graphicData uri="http://schemas.openxmlformats.org/drawingml/2006/table">
            <a:tbl>
              <a:tblPr firstRow="1" bandRow="1">
                <a:tableStyleId>{5C22544A-7EE6-4342-B048-85BDC9FD1C3A}</a:tableStyleId>
              </a:tblPr>
              <a:tblGrid>
                <a:gridCol w="3253371">
                  <a:extLst>
                    <a:ext uri="{9D8B030D-6E8A-4147-A177-3AD203B41FA5}">
                      <a16:colId xmlns:a16="http://schemas.microsoft.com/office/drawing/2014/main" val="152096159"/>
                    </a:ext>
                  </a:extLst>
                </a:gridCol>
              </a:tblGrid>
              <a:tr h="416650">
                <a:tc>
                  <a:txBody>
                    <a:bodyPr/>
                    <a:lstStyle/>
                    <a:p>
                      <a:r>
                        <a:rPr lang="en-US" dirty="0">
                          <a:solidFill>
                            <a:schemeClr val="tx1"/>
                          </a:solidFill>
                          <a:latin typeface="Bahnschrift" panose="020B0502040204020203" pitchFamily="34" charset="0"/>
                        </a:rPr>
                        <a:t>Task Failure</a:t>
                      </a:r>
                      <a:endParaRPr lang="en-IN" dirty="0">
                        <a:solidFill>
                          <a:schemeClr val="tx1"/>
                        </a:solidFill>
                        <a:latin typeface="Bahnschrift" panose="020B0502040204020203" pitchFamily="34" charset="0"/>
                      </a:endParaRPr>
                    </a:p>
                  </a:txBody>
                  <a:tcPr>
                    <a:solidFill>
                      <a:schemeClr val="bg1">
                        <a:lumMod val="85000"/>
                      </a:schemeClr>
                    </a:solidFill>
                  </a:tcPr>
                </a:tc>
                <a:extLst>
                  <a:ext uri="{0D108BD9-81ED-4DB2-BD59-A6C34878D82A}">
                    <a16:rowId xmlns:a16="http://schemas.microsoft.com/office/drawing/2014/main" val="1258551309"/>
                  </a:ext>
                </a:extLst>
              </a:tr>
              <a:tr h="416650">
                <a:tc>
                  <a:txBody>
                    <a:bodyPr/>
                    <a:lstStyle/>
                    <a:p>
                      <a:r>
                        <a:rPr lang="en-US" dirty="0">
                          <a:solidFill>
                            <a:schemeClr val="tx1"/>
                          </a:solidFill>
                          <a:latin typeface="Bahnschrift" panose="020B0502040204020203" pitchFamily="34" charset="0"/>
                        </a:rPr>
                        <a:t>Code Caused Issues</a:t>
                      </a:r>
                      <a:endParaRPr lang="en-IN" dirty="0">
                        <a:solidFill>
                          <a:schemeClr val="tx1"/>
                        </a:solidFill>
                        <a:latin typeface="Bahnschrift" panose="020B0502040204020203" pitchFamily="34" charset="0"/>
                      </a:endParaRPr>
                    </a:p>
                  </a:txBody>
                  <a:tcPr>
                    <a:solidFill>
                      <a:schemeClr val="bg1">
                        <a:lumMod val="85000"/>
                      </a:schemeClr>
                    </a:solidFill>
                  </a:tcPr>
                </a:tc>
                <a:extLst>
                  <a:ext uri="{0D108BD9-81ED-4DB2-BD59-A6C34878D82A}">
                    <a16:rowId xmlns:a16="http://schemas.microsoft.com/office/drawing/2014/main" val="3255544291"/>
                  </a:ext>
                </a:extLst>
              </a:tr>
              <a:tr h="416650">
                <a:tc>
                  <a:txBody>
                    <a:bodyPr/>
                    <a:lstStyle/>
                    <a:p>
                      <a:r>
                        <a:rPr lang="en-US" dirty="0">
                          <a:solidFill>
                            <a:schemeClr val="tx1"/>
                          </a:solidFill>
                          <a:latin typeface="Bahnschrift" panose="020B0502040204020203" pitchFamily="34" charset="0"/>
                        </a:rPr>
                        <a:t>Infinite Loop/Hung Code</a:t>
                      </a:r>
                      <a:endParaRPr lang="en-IN" dirty="0">
                        <a:solidFill>
                          <a:schemeClr val="tx1"/>
                        </a:solidFill>
                        <a:latin typeface="Bahnschrift" panose="020B0502040204020203" pitchFamily="34" charset="0"/>
                      </a:endParaRPr>
                    </a:p>
                  </a:txBody>
                  <a:tcPr>
                    <a:solidFill>
                      <a:schemeClr val="bg1">
                        <a:lumMod val="85000"/>
                      </a:schemeClr>
                    </a:solidFill>
                  </a:tcPr>
                </a:tc>
                <a:extLst>
                  <a:ext uri="{0D108BD9-81ED-4DB2-BD59-A6C34878D82A}">
                    <a16:rowId xmlns:a16="http://schemas.microsoft.com/office/drawing/2014/main" val="2221998323"/>
                  </a:ext>
                </a:extLst>
              </a:tr>
            </a:tbl>
          </a:graphicData>
        </a:graphic>
      </p:graphicFrame>
    </p:spTree>
    <p:extLst>
      <p:ext uri="{BB962C8B-B14F-4D97-AF65-F5344CB8AC3E}">
        <p14:creationId xmlns:p14="http://schemas.microsoft.com/office/powerpoint/2010/main" val="18884954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DF980A-8D6C-4BE4-8369-4D0B35B92EA5}"/>
              </a:ext>
            </a:extLst>
          </p:cNvPr>
          <p:cNvSpPr>
            <a:spLocks noGrp="1"/>
          </p:cNvSpPr>
          <p:nvPr>
            <p:ph type="title"/>
          </p:nvPr>
        </p:nvSpPr>
        <p:spPr/>
        <p:txBody>
          <a:bodyPr vert="horz" lIns="91440" tIns="45720" rIns="91440" bIns="45720" rtlCol="0" anchor="ctr">
            <a:noAutofit/>
          </a:bodyPr>
          <a:lstStyle/>
          <a:p>
            <a:r>
              <a:rPr lang="en-IN" dirty="0"/>
              <a:t>Failures in Classic Map-reduce</a:t>
            </a:r>
          </a:p>
        </p:txBody>
      </p:sp>
      <p:grpSp>
        <p:nvGrpSpPr>
          <p:cNvPr id="11" name="Group 10">
            <a:extLst>
              <a:ext uri="{FF2B5EF4-FFF2-40B4-BE49-F238E27FC236}">
                <a16:creationId xmlns:a16="http://schemas.microsoft.com/office/drawing/2014/main" id="{9009387E-E3CB-4E43-9322-240748E425B8}"/>
              </a:ext>
            </a:extLst>
          </p:cNvPr>
          <p:cNvGrpSpPr/>
          <p:nvPr/>
        </p:nvGrpSpPr>
        <p:grpSpPr>
          <a:xfrm>
            <a:off x="2721936" y="2834260"/>
            <a:ext cx="2828258" cy="3912783"/>
            <a:chOff x="3062177" y="2391195"/>
            <a:chExt cx="2828258" cy="3912783"/>
          </a:xfrm>
        </p:grpSpPr>
        <p:sp>
          <p:nvSpPr>
            <p:cNvPr id="4" name="Rectangle 3">
              <a:extLst>
                <a:ext uri="{FF2B5EF4-FFF2-40B4-BE49-F238E27FC236}">
                  <a16:creationId xmlns:a16="http://schemas.microsoft.com/office/drawing/2014/main" id="{9DB163A9-200A-4577-9A1E-450C51AD39FC}"/>
                </a:ext>
              </a:extLst>
            </p:cNvPr>
            <p:cNvSpPr/>
            <p:nvPr/>
          </p:nvSpPr>
          <p:spPr>
            <a:xfrm>
              <a:off x="3062177" y="2391195"/>
              <a:ext cx="2658140" cy="3912783"/>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5" name="Rectangle 4">
              <a:extLst>
                <a:ext uri="{FF2B5EF4-FFF2-40B4-BE49-F238E27FC236}">
                  <a16:creationId xmlns:a16="http://schemas.microsoft.com/office/drawing/2014/main" id="{3A45F569-48B8-4CF8-A8A3-7C6E0D14EA11}"/>
                </a:ext>
              </a:extLst>
            </p:cNvPr>
            <p:cNvSpPr/>
            <p:nvPr/>
          </p:nvSpPr>
          <p:spPr>
            <a:xfrm>
              <a:off x="3237614" y="4147431"/>
              <a:ext cx="2083982" cy="15995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latin typeface="Bahnschrift" panose="020B0502040204020203" pitchFamily="34" charset="0"/>
                </a:rPr>
                <a:t>Child JVM</a:t>
              </a:r>
              <a:endParaRPr lang="en-IN" dirty="0">
                <a:solidFill>
                  <a:schemeClr val="tx1"/>
                </a:solidFill>
                <a:latin typeface="Bahnschrift" panose="020B0502040204020203" pitchFamily="34" charset="0"/>
              </a:endParaRPr>
            </a:p>
          </p:txBody>
        </p:sp>
        <p:sp>
          <p:nvSpPr>
            <p:cNvPr id="6" name="Rectangle 5">
              <a:extLst>
                <a:ext uri="{FF2B5EF4-FFF2-40B4-BE49-F238E27FC236}">
                  <a16:creationId xmlns:a16="http://schemas.microsoft.com/office/drawing/2014/main" id="{BB0F663C-64F5-43DA-99BA-F66A48A4170A}"/>
                </a:ext>
              </a:extLst>
            </p:cNvPr>
            <p:cNvSpPr/>
            <p:nvPr/>
          </p:nvSpPr>
          <p:spPr>
            <a:xfrm>
              <a:off x="3530010" y="4420178"/>
              <a:ext cx="1499189" cy="113632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Map or reduce Task</a:t>
              </a:r>
              <a:endParaRPr lang="en-IN" dirty="0">
                <a:latin typeface="Bahnschrift" panose="020B0502040204020203" pitchFamily="34" charset="0"/>
              </a:endParaRPr>
            </a:p>
          </p:txBody>
        </p:sp>
        <p:sp>
          <p:nvSpPr>
            <p:cNvPr id="7" name="Rectangle 6">
              <a:extLst>
                <a:ext uri="{FF2B5EF4-FFF2-40B4-BE49-F238E27FC236}">
                  <a16:creationId xmlns:a16="http://schemas.microsoft.com/office/drawing/2014/main" id="{8FDAFE31-8F54-45A1-881D-59D8A22C7821}"/>
                </a:ext>
              </a:extLst>
            </p:cNvPr>
            <p:cNvSpPr/>
            <p:nvPr/>
          </p:nvSpPr>
          <p:spPr>
            <a:xfrm>
              <a:off x="3418367" y="2620536"/>
              <a:ext cx="1499189" cy="1136320"/>
            </a:xfrm>
            <a:prstGeom prst="rect">
              <a:avLst/>
            </a:prstGeom>
            <a:solidFill>
              <a:schemeClr val="accent2">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Task Tracker</a:t>
              </a:r>
              <a:endParaRPr lang="en-IN" dirty="0">
                <a:latin typeface="Bahnschrift" panose="020B0502040204020203" pitchFamily="34" charset="0"/>
              </a:endParaRPr>
            </a:p>
          </p:txBody>
        </p:sp>
        <p:cxnSp>
          <p:nvCxnSpPr>
            <p:cNvPr id="9" name="Straight Arrow Connector 8">
              <a:extLst>
                <a:ext uri="{FF2B5EF4-FFF2-40B4-BE49-F238E27FC236}">
                  <a16:creationId xmlns:a16="http://schemas.microsoft.com/office/drawing/2014/main" id="{6539AC0F-465C-4129-87E1-D8365F65A309}"/>
                </a:ext>
              </a:extLst>
            </p:cNvPr>
            <p:cNvCxnSpPr>
              <a:stCxn id="7" idx="2"/>
            </p:cNvCxnSpPr>
            <p:nvPr/>
          </p:nvCxnSpPr>
          <p:spPr>
            <a:xfrm flipH="1">
              <a:off x="4167961" y="3756856"/>
              <a:ext cx="1" cy="42174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CEF94F9-4904-4A86-A527-1973C55248F0}"/>
                </a:ext>
              </a:extLst>
            </p:cNvPr>
            <p:cNvSpPr/>
            <p:nvPr/>
          </p:nvSpPr>
          <p:spPr>
            <a:xfrm>
              <a:off x="4391247" y="3838353"/>
              <a:ext cx="1499188" cy="34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Step 3</a:t>
              </a:r>
              <a:endParaRPr lang="en-IN" dirty="0">
                <a:solidFill>
                  <a:schemeClr val="tx1"/>
                </a:solidFill>
                <a:latin typeface="Bahnschrift" panose="020B0502040204020203" pitchFamily="34" charset="0"/>
              </a:endParaRPr>
            </a:p>
          </p:txBody>
        </p:sp>
      </p:grpSp>
      <p:grpSp>
        <p:nvGrpSpPr>
          <p:cNvPr id="24" name="Group 23">
            <a:extLst>
              <a:ext uri="{FF2B5EF4-FFF2-40B4-BE49-F238E27FC236}">
                <a16:creationId xmlns:a16="http://schemas.microsoft.com/office/drawing/2014/main" id="{41645338-ADFE-4472-AB9E-37F9D3DC825F}"/>
              </a:ext>
            </a:extLst>
          </p:cNvPr>
          <p:cNvGrpSpPr/>
          <p:nvPr/>
        </p:nvGrpSpPr>
        <p:grpSpPr>
          <a:xfrm>
            <a:off x="2302834" y="1387448"/>
            <a:ext cx="6422065" cy="1271270"/>
            <a:chOff x="2302834" y="1387448"/>
            <a:chExt cx="6422065" cy="1271270"/>
          </a:xfrm>
        </p:grpSpPr>
        <p:sp>
          <p:nvSpPr>
            <p:cNvPr id="12" name="Rectangle 11">
              <a:extLst>
                <a:ext uri="{FF2B5EF4-FFF2-40B4-BE49-F238E27FC236}">
                  <a16:creationId xmlns:a16="http://schemas.microsoft.com/office/drawing/2014/main" id="{1BA1F06F-9AC5-47B5-9B1D-8706ABD313C8}"/>
                </a:ext>
              </a:extLst>
            </p:cNvPr>
            <p:cNvSpPr/>
            <p:nvPr/>
          </p:nvSpPr>
          <p:spPr>
            <a:xfrm>
              <a:off x="2302834" y="1387448"/>
              <a:ext cx="6422065" cy="127127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13" name="Rectangle 12">
              <a:extLst>
                <a:ext uri="{FF2B5EF4-FFF2-40B4-BE49-F238E27FC236}">
                  <a16:creationId xmlns:a16="http://schemas.microsoft.com/office/drawing/2014/main" id="{5B5E329E-5782-4CD5-AB08-338177441B5A}"/>
                </a:ext>
              </a:extLst>
            </p:cNvPr>
            <p:cNvSpPr/>
            <p:nvPr/>
          </p:nvSpPr>
          <p:spPr>
            <a:xfrm>
              <a:off x="2568647" y="1473841"/>
              <a:ext cx="5890437" cy="88956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14" name="Rectangle 13">
              <a:extLst>
                <a:ext uri="{FF2B5EF4-FFF2-40B4-BE49-F238E27FC236}">
                  <a16:creationId xmlns:a16="http://schemas.microsoft.com/office/drawing/2014/main" id="{77DA1DBD-2C60-4ADE-AE0F-5CA352D98A5B}"/>
                </a:ext>
              </a:extLst>
            </p:cNvPr>
            <p:cNvSpPr/>
            <p:nvPr/>
          </p:nvSpPr>
          <p:spPr>
            <a:xfrm>
              <a:off x="3094074" y="1604430"/>
              <a:ext cx="1477926" cy="628389"/>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Job Tracker</a:t>
              </a:r>
              <a:endParaRPr lang="en-IN" dirty="0">
                <a:solidFill>
                  <a:schemeClr val="tx1"/>
                </a:solidFill>
                <a:latin typeface="Bahnschrift" panose="020B0502040204020203" pitchFamily="34" charset="0"/>
              </a:endParaRPr>
            </a:p>
          </p:txBody>
        </p:sp>
        <p:sp>
          <p:nvSpPr>
            <p:cNvPr id="21" name="Rectangle 20">
              <a:extLst>
                <a:ext uri="{FF2B5EF4-FFF2-40B4-BE49-F238E27FC236}">
                  <a16:creationId xmlns:a16="http://schemas.microsoft.com/office/drawing/2014/main" id="{C63B68B5-D7DC-49BF-8198-D0D121D54AF2}"/>
                </a:ext>
              </a:extLst>
            </p:cNvPr>
            <p:cNvSpPr/>
            <p:nvPr/>
          </p:nvSpPr>
          <p:spPr>
            <a:xfrm>
              <a:off x="4366629" y="2384011"/>
              <a:ext cx="3391786" cy="2206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Bahnschrift" panose="020B0502040204020203" pitchFamily="34" charset="0"/>
                </a:rPr>
                <a:t>Job Tracker Node</a:t>
              </a:r>
              <a:endParaRPr lang="en-IN" sz="2000" dirty="0">
                <a:solidFill>
                  <a:schemeClr val="tx1"/>
                </a:solidFill>
                <a:latin typeface="Bahnschrift" panose="020B0502040204020203" pitchFamily="34" charset="0"/>
              </a:endParaRPr>
            </a:p>
          </p:txBody>
        </p:sp>
      </p:grpSp>
      <p:sp>
        <p:nvSpPr>
          <p:cNvPr id="22" name="Rectangle 21">
            <a:extLst>
              <a:ext uri="{FF2B5EF4-FFF2-40B4-BE49-F238E27FC236}">
                <a16:creationId xmlns:a16="http://schemas.microsoft.com/office/drawing/2014/main" id="{F942A8D3-749A-4275-9F0F-BC46995453FA}"/>
              </a:ext>
            </a:extLst>
          </p:cNvPr>
          <p:cNvSpPr/>
          <p:nvPr/>
        </p:nvSpPr>
        <p:spPr>
          <a:xfrm>
            <a:off x="2626245" y="2601814"/>
            <a:ext cx="1295013" cy="5575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Bahnschrift" panose="020B0502040204020203" pitchFamily="34" charset="0"/>
              </a:rPr>
              <a:t>Heart Beats</a:t>
            </a:r>
            <a:endParaRPr lang="en-IN" sz="1600" dirty="0">
              <a:solidFill>
                <a:schemeClr val="tx1"/>
              </a:solidFill>
              <a:latin typeface="Bahnschrift" panose="020B0502040204020203" pitchFamily="34" charset="0"/>
            </a:endParaRPr>
          </a:p>
        </p:txBody>
      </p:sp>
      <p:cxnSp>
        <p:nvCxnSpPr>
          <p:cNvPr id="16" name="Straight Arrow Connector 15">
            <a:extLst>
              <a:ext uri="{FF2B5EF4-FFF2-40B4-BE49-F238E27FC236}">
                <a16:creationId xmlns:a16="http://schemas.microsoft.com/office/drawing/2014/main" id="{4DC7DF8B-63DB-41EB-AE4E-CF664287EA20}"/>
              </a:ext>
            </a:extLst>
          </p:cNvPr>
          <p:cNvCxnSpPr>
            <a:cxnSpLocks/>
            <a:stCxn id="7" idx="0"/>
            <a:endCxn id="14" idx="2"/>
          </p:cNvCxnSpPr>
          <p:nvPr/>
        </p:nvCxnSpPr>
        <p:spPr>
          <a:xfrm flipV="1">
            <a:off x="3827721" y="2232819"/>
            <a:ext cx="5316" cy="83078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Multiplication Sign 1">
            <a:extLst>
              <a:ext uri="{FF2B5EF4-FFF2-40B4-BE49-F238E27FC236}">
                <a16:creationId xmlns:a16="http://schemas.microsoft.com/office/drawing/2014/main" id="{66603E15-A1DA-4748-829A-35B896A8E58A}"/>
              </a:ext>
            </a:extLst>
          </p:cNvPr>
          <p:cNvSpPr/>
          <p:nvPr/>
        </p:nvSpPr>
        <p:spPr>
          <a:xfrm>
            <a:off x="2363085" y="4590496"/>
            <a:ext cx="3112681" cy="1708760"/>
          </a:xfrm>
          <a:prstGeom prst="mathMultiply">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graphicFrame>
        <p:nvGraphicFramePr>
          <p:cNvPr id="15" name="Table 16">
            <a:extLst>
              <a:ext uri="{FF2B5EF4-FFF2-40B4-BE49-F238E27FC236}">
                <a16:creationId xmlns:a16="http://schemas.microsoft.com/office/drawing/2014/main" id="{D238B4C9-72A7-4B47-89CC-F8DCA248244D}"/>
              </a:ext>
            </a:extLst>
          </p:cNvPr>
          <p:cNvGraphicFramePr>
            <a:graphicFrameLocks noGrp="1"/>
          </p:cNvGraphicFramePr>
          <p:nvPr>
            <p:extLst>
              <p:ext uri="{D42A27DB-BD31-4B8C-83A1-F6EECF244321}">
                <p14:modId xmlns:p14="http://schemas.microsoft.com/office/powerpoint/2010/main" val="4114987591"/>
              </p:ext>
            </p:extLst>
          </p:nvPr>
        </p:nvGraphicFramePr>
        <p:xfrm>
          <a:off x="5603362" y="2837822"/>
          <a:ext cx="3295902" cy="1752676"/>
        </p:xfrm>
        <a:graphic>
          <a:graphicData uri="http://schemas.openxmlformats.org/drawingml/2006/table">
            <a:tbl>
              <a:tblPr firstRow="1" bandRow="1">
                <a:tableStyleId>{5C22544A-7EE6-4342-B048-85BDC9FD1C3A}</a:tableStyleId>
              </a:tblPr>
              <a:tblGrid>
                <a:gridCol w="3295902">
                  <a:extLst>
                    <a:ext uri="{9D8B030D-6E8A-4147-A177-3AD203B41FA5}">
                      <a16:colId xmlns:a16="http://schemas.microsoft.com/office/drawing/2014/main" val="152096159"/>
                    </a:ext>
                  </a:extLst>
                </a:gridCol>
              </a:tblGrid>
              <a:tr h="438169">
                <a:tc>
                  <a:txBody>
                    <a:bodyPr/>
                    <a:lstStyle/>
                    <a:p>
                      <a:r>
                        <a:rPr lang="en-US" dirty="0">
                          <a:solidFill>
                            <a:schemeClr val="tx1"/>
                          </a:solidFill>
                          <a:latin typeface="Bahnschrift" panose="020B0502040204020203" pitchFamily="34" charset="0"/>
                        </a:rPr>
                        <a:t>Task Failure</a:t>
                      </a:r>
                      <a:endParaRPr lang="en-IN" dirty="0">
                        <a:solidFill>
                          <a:schemeClr val="tx1"/>
                        </a:solidFill>
                        <a:latin typeface="Bahnschrift" panose="020B0502040204020203" pitchFamily="34" charset="0"/>
                      </a:endParaRPr>
                    </a:p>
                  </a:txBody>
                  <a:tcPr>
                    <a:solidFill>
                      <a:schemeClr val="bg1">
                        <a:lumMod val="85000"/>
                      </a:schemeClr>
                    </a:solidFill>
                  </a:tcPr>
                </a:tc>
                <a:extLst>
                  <a:ext uri="{0D108BD9-81ED-4DB2-BD59-A6C34878D82A}">
                    <a16:rowId xmlns:a16="http://schemas.microsoft.com/office/drawing/2014/main" val="1258551309"/>
                  </a:ext>
                </a:extLst>
              </a:tr>
              <a:tr h="438169">
                <a:tc>
                  <a:txBody>
                    <a:bodyPr/>
                    <a:lstStyle/>
                    <a:p>
                      <a:r>
                        <a:rPr lang="en-US" dirty="0">
                          <a:solidFill>
                            <a:schemeClr val="tx1"/>
                          </a:solidFill>
                          <a:latin typeface="Bahnschrift" panose="020B0502040204020203" pitchFamily="34" charset="0"/>
                        </a:rPr>
                        <a:t>Code Caused Issues</a:t>
                      </a:r>
                      <a:endParaRPr lang="en-IN" dirty="0">
                        <a:solidFill>
                          <a:schemeClr val="tx1"/>
                        </a:solidFill>
                        <a:latin typeface="Bahnschrift" panose="020B0502040204020203" pitchFamily="34" charset="0"/>
                      </a:endParaRPr>
                    </a:p>
                  </a:txBody>
                  <a:tcPr>
                    <a:solidFill>
                      <a:schemeClr val="bg1">
                        <a:lumMod val="85000"/>
                      </a:schemeClr>
                    </a:solidFill>
                  </a:tcPr>
                </a:tc>
                <a:extLst>
                  <a:ext uri="{0D108BD9-81ED-4DB2-BD59-A6C34878D82A}">
                    <a16:rowId xmlns:a16="http://schemas.microsoft.com/office/drawing/2014/main" val="3255544291"/>
                  </a:ext>
                </a:extLst>
              </a:tr>
              <a:tr h="438169">
                <a:tc>
                  <a:txBody>
                    <a:bodyPr/>
                    <a:lstStyle/>
                    <a:p>
                      <a:r>
                        <a:rPr lang="en-US" dirty="0">
                          <a:solidFill>
                            <a:schemeClr val="tx1"/>
                          </a:solidFill>
                          <a:latin typeface="Bahnschrift" panose="020B0502040204020203" pitchFamily="34" charset="0"/>
                        </a:rPr>
                        <a:t>Infinite Loop/Hung Code</a:t>
                      </a:r>
                      <a:endParaRPr lang="en-IN" dirty="0">
                        <a:solidFill>
                          <a:schemeClr val="tx1"/>
                        </a:solidFill>
                        <a:latin typeface="Bahnschrift" panose="020B0502040204020203" pitchFamily="34" charset="0"/>
                      </a:endParaRPr>
                    </a:p>
                  </a:txBody>
                  <a:tcPr>
                    <a:solidFill>
                      <a:schemeClr val="bg1">
                        <a:lumMod val="85000"/>
                      </a:schemeClr>
                    </a:solidFill>
                  </a:tcPr>
                </a:tc>
                <a:extLst>
                  <a:ext uri="{0D108BD9-81ED-4DB2-BD59-A6C34878D82A}">
                    <a16:rowId xmlns:a16="http://schemas.microsoft.com/office/drawing/2014/main" val="2221998323"/>
                  </a:ext>
                </a:extLst>
              </a:tr>
              <a:tr h="438169">
                <a:tc>
                  <a:txBody>
                    <a:bodyPr/>
                    <a:lstStyle/>
                    <a:p>
                      <a:r>
                        <a:rPr lang="en-US" dirty="0">
                          <a:solidFill>
                            <a:schemeClr val="tx1"/>
                          </a:solidFill>
                          <a:latin typeface="Bahnschrift" panose="020B0502040204020203" pitchFamily="34" charset="0"/>
                        </a:rPr>
                        <a:t>mapred.task.timeout=0</a:t>
                      </a:r>
                      <a:endParaRPr lang="en-IN" dirty="0">
                        <a:solidFill>
                          <a:schemeClr val="tx1"/>
                        </a:solidFill>
                        <a:latin typeface="Bahnschrift" panose="020B0502040204020203" pitchFamily="34" charset="0"/>
                      </a:endParaRPr>
                    </a:p>
                  </a:txBody>
                  <a:tcPr>
                    <a:solidFill>
                      <a:schemeClr val="bg1">
                        <a:lumMod val="85000"/>
                      </a:schemeClr>
                    </a:solidFill>
                  </a:tcPr>
                </a:tc>
                <a:extLst>
                  <a:ext uri="{0D108BD9-81ED-4DB2-BD59-A6C34878D82A}">
                    <a16:rowId xmlns:a16="http://schemas.microsoft.com/office/drawing/2014/main" val="681509257"/>
                  </a:ext>
                </a:extLst>
              </a:tr>
            </a:tbl>
          </a:graphicData>
        </a:graphic>
      </p:graphicFrame>
    </p:spTree>
    <p:extLst>
      <p:ext uri="{BB962C8B-B14F-4D97-AF65-F5344CB8AC3E}">
        <p14:creationId xmlns:p14="http://schemas.microsoft.com/office/powerpoint/2010/main" val="42165670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DF980A-8D6C-4BE4-8369-4D0B35B92EA5}"/>
              </a:ext>
            </a:extLst>
          </p:cNvPr>
          <p:cNvSpPr>
            <a:spLocks noGrp="1"/>
          </p:cNvSpPr>
          <p:nvPr>
            <p:ph type="title"/>
          </p:nvPr>
        </p:nvSpPr>
        <p:spPr/>
        <p:txBody>
          <a:bodyPr vert="horz" lIns="91440" tIns="45720" rIns="91440" bIns="45720" rtlCol="0" anchor="ctr">
            <a:noAutofit/>
          </a:bodyPr>
          <a:lstStyle/>
          <a:p>
            <a:r>
              <a:rPr lang="en-IN" dirty="0"/>
              <a:t>Failures in Classic Map-reduce</a:t>
            </a:r>
          </a:p>
        </p:txBody>
      </p:sp>
      <p:grpSp>
        <p:nvGrpSpPr>
          <p:cNvPr id="11" name="Group 10">
            <a:extLst>
              <a:ext uri="{FF2B5EF4-FFF2-40B4-BE49-F238E27FC236}">
                <a16:creationId xmlns:a16="http://schemas.microsoft.com/office/drawing/2014/main" id="{9009387E-E3CB-4E43-9322-240748E425B8}"/>
              </a:ext>
            </a:extLst>
          </p:cNvPr>
          <p:cNvGrpSpPr/>
          <p:nvPr/>
        </p:nvGrpSpPr>
        <p:grpSpPr>
          <a:xfrm>
            <a:off x="2721936" y="2834260"/>
            <a:ext cx="2828258" cy="3912783"/>
            <a:chOff x="3062177" y="2391195"/>
            <a:chExt cx="2828258" cy="3912783"/>
          </a:xfrm>
        </p:grpSpPr>
        <p:sp>
          <p:nvSpPr>
            <p:cNvPr id="4" name="Rectangle 3">
              <a:extLst>
                <a:ext uri="{FF2B5EF4-FFF2-40B4-BE49-F238E27FC236}">
                  <a16:creationId xmlns:a16="http://schemas.microsoft.com/office/drawing/2014/main" id="{9DB163A9-200A-4577-9A1E-450C51AD39FC}"/>
                </a:ext>
              </a:extLst>
            </p:cNvPr>
            <p:cNvSpPr/>
            <p:nvPr/>
          </p:nvSpPr>
          <p:spPr>
            <a:xfrm>
              <a:off x="3062177" y="2391195"/>
              <a:ext cx="2658140" cy="3912783"/>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5" name="Rectangle 4">
              <a:extLst>
                <a:ext uri="{FF2B5EF4-FFF2-40B4-BE49-F238E27FC236}">
                  <a16:creationId xmlns:a16="http://schemas.microsoft.com/office/drawing/2014/main" id="{3A45F569-48B8-4CF8-A8A3-7C6E0D14EA11}"/>
                </a:ext>
              </a:extLst>
            </p:cNvPr>
            <p:cNvSpPr/>
            <p:nvPr/>
          </p:nvSpPr>
          <p:spPr>
            <a:xfrm>
              <a:off x="3237614" y="4147431"/>
              <a:ext cx="2083982" cy="15995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latin typeface="Bahnschrift" panose="020B0502040204020203" pitchFamily="34" charset="0"/>
                </a:rPr>
                <a:t>Child JVM</a:t>
              </a:r>
              <a:endParaRPr lang="en-IN" dirty="0">
                <a:solidFill>
                  <a:schemeClr val="tx1"/>
                </a:solidFill>
                <a:latin typeface="Bahnschrift" panose="020B0502040204020203" pitchFamily="34" charset="0"/>
              </a:endParaRPr>
            </a:p>
          </p:txBody>
        </p:sp>
        <p:sp>
          <p:nvSpPr>
            <p:cNvPr id="6" name="Rectangle 5">
              <a:extLst>
                <a:ext uri="{FF2B5EF4-FFF2-40B4-BE49-F238E27FC236}">
                  <a16:creationId xmlns:a16="http://schemas.microsoft.com/office/drawing/2014/main" id="{BB0F663C-64F5-43DA-99BA-F66A48A4170A}"/>
                </a:ext>
              </a:extLst>
            </p:cNvPr>
            <p:cNvSpPr/>
            <p:nvPr/>
          </p:nvSpPr>
          <p:spPr>
            <a:xfrm>
              <a:off x="3530010" y="4420178"/>
              <a:ext cx="1499189" cy="113632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Map or reduce Task</a:t>
              </a:r>
              <a:endParaRPr lang="en-IN" dirty="0">
                <a:latin typeface="Bahnschrift" panose="020B0502040204020203" pitchFamily="34" charset="0"/>
              </a:endParaRPr>
            </a:p>
          </p:txBody>
        </p:sp>
        <p:sp>
          <p:nvSpPr>
            <p:cNvPr id="7" name="Rectangle 6">
              <a:extLst>
                <a:ext uri="{FF2B5EF4-FFF2-40B4-BE49-F238E27FC236}">
                  <a16:creationId xmlns:a16="http://schemas.microsoft.com/office/drawing/2014/main" id="{8FDAFE31-8F54-45A1-881D-59D8A22C7821}"/>
                </a:ext>
              </a:extLst>
            </p:cNvPr>
            <p:cNvSpPr/>
            <p:nvPr/>
          </p:nvSpPr>
          <p:spPr>
            <a:xfrm>
              <a:off x="3418367" y="2620536"/>
              <a:ext cx="1499189" cy="1136320"/>
            </a:xfrm>
            <a:prstGeom prst="rect">
              <a:avLst/>
            </a:prstGeom>
            <a:solidFill>
              <a:schemeClr val="accent2">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Task Tracker</a:t>
              </a:r>
              <a:endParaRPr lang="en-IN" dirty="0">
                <a:latin typeface="Bahnschrift" panose="020B0502040204020203" pitchFamily="34" charset="0"/>
              </a:endParaRPr>
            </a:p>
          </p:txBody>
        </p:sp>
        <p:cxnSp>
          <p:nvCxnSpPr>
            <p:cNvPr id="9" name="Straight Arrow Connector 8">
              <a:extLst>
                <a:ext uri="{FF2B5EF4-FFF2-40B4-BE49-F238E27FC236}">
                  <a16:creationId xmlns:a16="http://schemas.microsoft.com/office/drawing/2014/main" id="{6539AC0F-465C-4129-87E1-D8365F65A309}"/>
                </a:ext>
              </a:extLst>
            </p:cNvPr>
            <p:cNvCxnSpPr>
              <a:stCxn id="7" idx="2"/>
            </p:cNvCxnSpPr>
            <p:nvPr/>
          </p:nvCxnSpPr>
          <p:spPr>
            <a:xfrm flipH="1">
              <a:off x="4167961" y="3756856"/>
              <a:ext cx="1" cy="42174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CEF94F9-4904-4A86-A527-1973C55248F0}"/>
                </a:ext>
              </a:extLst>
            </p:cNvPr>
            <p:cNvSpPr/>
            <p:nvPr/>
          </p:nvSpPr>
          <p:spPr>
            <a:xfrm>
              <a:off x="4391247" y="3838353"/>
              <a:ext cx="1499188" cy="34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Step 3</a:t>
              </a:r>
              <a:endParaRPr lang="en-IN" dirty="0">
                <a:solidFill>
                  <a:schemeClr val="tx1"/>
                </a:solidFill>
                <a:latin typeface="Bahnschrift" panose="020B0502040204020203" pitchFamily="34" charset="0"/>
              </a:endParaRPr>
            </a:p>
          </p:txBody>
        </p:sp>
      </p:grpSp>
      <p:grpSp>
        <p:nvGrpSpPr>
          <p:cNvPr id="24" name="Group 23">
            <a:extLst>
              <a:ext uri="{FF2B5EF4-FFF2-40B4-BE49-F238E27FC236}">
                <a16:creationId xmlns:a16="http://schemas.microsoft.com/office/drawing/2014/main" id="{41645338-ADFE-4472-AB9E-37F9D3DC825F}"/>
              </a:ext>
            </a:extLst>
          </p:cNvPr>
          <p:cNvGrpSpPr/>
          <p:nvPr/>
        </p:nvGrpSpPr>
        <p:grpSpPr>
          <a:xfrm>
            <a:off x="2302834" y="1387448"/>
            <a:ext cx="6422065" cy="1271270"/>
            <a:chOff x="2302834" y="1387448"/>
            <a:chExt cx="6422065" cy="1271270"/>
          </a:xfrm>
        </p:grpSpPr>
        <p:sp>
          <p:nvSpPr>
            <p:cNvPr id="12" name="Rectangle 11">
              <a:extLst>
                <a:ext uri="{FF2B5EF4-FFF2-40B4-BE49-F238E27FC236}">
                  <a16:creationId xmlns:a16="http://schemas.microsoft.com/office/drawing/2014/main" id="{1BA1F06F-9AC5-47B5-9B1D-8706ABD313C8}"/>
                </a:ext>
              </a:extLst>
            </p:cNvPr>
            <p:cNvSpPr/>
            <p:nvPr/>
          </p:nvSpPr>
          <p:spPr>
            <a:xfrm>
              <a:off x="2302834" y="1387448"/>
              <a:ext cx="6422065" cy="127127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13" name="Rectangle 12">
              <a:extLst>
                <a:ext uri="{FF2B5EF4-FFF2-40B4-BE49-F238E27FC236}">
                  <a16:creationId xmlns:a16="http://schemas.microsoft.com/office/drawing/2014/main" id="{5B5E329E-5782-4CD5-AB08-338177441B5A}"/>
                </a:ext>
              </a:extLst>
            </p:cNvPr>
            <p:cNvSpPr/>
            <p:nvPr/>
          </p:nvSpPr>
          <p:spPr>
            <a:xfrm>
              <a:off x="2568647" y="1473841"/>
              <a:ext cx="5890437" cy="88956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14" name="Rectangle 13">
              <a:extLst>
                <a:ext uri="{FF2B5EF4-FFF2-40B4-BE49-F238E27FC236}">
                  <a16:creationId xmlns:a16="http://schemas.microsoft.com/office/drawing/2014/main" id="{77DA1DBD-2C60-4ADE-AE0F-5CA352D98A5B}"/>
                </a:ext>
              </a:extLst>
            </p:cNvPr>
            <p:cNvSpPr/>
            <p:nvPr/>
          </p:nvSpPr>
          <p:spPr>
            <a:xfrm>
              <a:off x="3094074" y="1604430"/>
              <a:ext cx="1477926" cy="628389"/>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Job Tracker</a:t>
              </a:r>
              <a:endParaRPr lang="en-IN" dirty="0">
                <a:solidFill>
                  <a:schemeClr val="tx1"/>
                </a:solidFill>
                <a:latin typeface="Bahnschrift" panose="020B0502040204020203" pitchFamily="34" charset="0"/>
              </a:endParaRPr>
            </a:p>
          </p:txBody>
        </p:sp>
        <p:sp>
          <p:nvSpPr>
            <p:cNvPr id="21" name="Rectangle 20">
              <a:extLst>
                <a:ext uri="{FF2B5EF4-FFF2-40B4-BE49-F238E27FC236}">
                  <a16:creationId xmlns:a16="http://schemas.microsoft.com/office/drawing/2014/main" id="{C63B68B5-D7DC-49BF-8198-D0D121D54AF2}"/>
                </a:ext>
              </a:extLst>
            </p:cNvPr>
            <p:cNvSpPr/>
            <p:nvPr/>
          </p:nvSpPr>
          <p:spPr>
            <a:xfrm>
              <a:off x="4366629" y="2384011"/>
              <a:ext cx="3391786" cy="2206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Bahnschrift" panose="020B0502040204020203" pitchFamily="34" charset="0"/>
                </a:rPr>
                <a:t>Job Tracker Node</a:t>
              </a:r>
              <a:endParaRPr lang="en-IN" sz="2000" dirty="0">
                <a:solidFill>
                  <a:schemeClr val="tx1"/>
                </a:solidFill>
                <a:latin typeface="Bahnschrift" panose="020B0502040204020203" pitchFamily="34" charset="0"/>
              </a:endParaRPr>
            </a:p>
          </p:txBody>
        </p:sp>
      </p:grpSp>
      <p:sp>
        <p:nvSpPr>
          <p:cNvPr id="22" name="Rectangle 21">
            <a:extLst>
              <a:ext uri="{FF2B5EF4-FFF2-40B4-BE49-F238E27FC236}">
                <a16:creationId xmlns:a16="http://schemas.microsoft.com/office/drawing/2014/main" id="{F942A8D3-749A-4275-9F0F-BC46995453FA}"/>
              </a:ext>
            </a:extLst>
          </p:cNvPr>
          <p:cNvSpPr/>
          <p:nvPr/>
        </p:nvSpPr>
        <p:spPr>
          <a:xfrm>
            <a:off x="2626245" y="2601814"/>
            <a:ext cx="1295013" cy="5575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Bahnschrift" panose="020B0502040204020203" pitchFamily="34" charset="0"/>
              </a:rPr>
              <a:t>Heart Beats</a:t>
            </a:r>
            <a:endParaRPr lang="en-IN" sz="1600" dirty="0">
              <a:solidFill>
                <a:schemeClr val="tx1"/>
              </a:solidFill>
              <a:latin typeface="Bahnschrift" panose="020B0502040204020203" pitchFamily="34" charset="0"/>
            </a:endParaRPr>
          </a:p>
        </p:txBody>
      </p:sp>
      <p:cxnSp>
        <p:nvCxnSpPr>
          <p:cNvPr id="16" name="Straight Arrow Connector 15">
            <a:extLst>
              <a:ext uri="{FF2B5EF4-FFF2-40B4-BE49-F238E27FC236}">
                <a16:creationId xmlns:a16="http://schemas.microsoft.com/office/drawing/2014/main" id="{4DC7DF8B-63DB-41EB-AE4E-CF664287EA20}"/>
              </a:ext>
            </a:extLst>
          </p:cNvPr>
          <p:cNvCxnSpPr>
            <a:cxnSpLocks/>
            <a:stCxn id="7" idx="0"/>
            <a:endCxn id="14" idx="2"/>
          </p:cNvCxnSpPr>
          <p:nvPr/>
        </p:nvCxnSpPr>
        <p:spPr>
          <a:xfrm flipV="1">
            <a:off x="3827721" y="2232819"/>
            <a:ext cx="5316" cy="83078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Multiplication Sign 1">
            <a:extLst>
              <a:ext uri="{FF2B5EF4-FFF2-40B4-BE49-F238E27FC236}">
                <a16:creationId xmlns:a16="http://schemas.microsoft.com/office/drawing/2014/main" id="{66603E15-A1DA-4748-829A-35B896A8E58A}"/>
              </a:ext>
            </a:extLst>
          </p:cNvPr>
          <p:cNvSpPr/>
          <p:nvPr/>
        </p:nvSpPr>
        <p:spPr>
          <a:xfrm>
            <a:off x="2363085" y="4590496"/>
            <a:ext cx="3112681" cy="1708760"/>
          </a:xfrm>
          <a:prstGeom prst="mathMultiply">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graphicFrame>
        <p:nvGraphicFramePr>
          <p:cNvPr id="15" name="Table 16">
            <a:extLst>
              <a:ext uri="{FF2B5EF4-FFF2-40B4-BE49-F238E27FC236}">
                <a16:creationId xmlns:a16="http://schemas.microsoft.com/office/drawing/2014/main" id="{D238B4C9-72A7-4B47-89CC-F8DCA248244D}"/>
              </a:ext>
            </a:extLst>
          </p:cNvPr>
          <p:cNvGraphicFramePr>
            <a:graphicFrameLocks noGrp="1"/>
          </p:cNvGraphicFramePr>
          <p:nvPr>
            <p:extLst>
              <p:ext uri="{D42A27DB-BD31-4B8C-83A1-F6EECF244321}">
                <p14:modId xmlns:p14="http://schemas.microsoft.com/office/powerpoint/2010/main" val="2656475693"/>
              </p:ext>
            </p:extLst>
          </p:nvPr>
        </p:nvGraphicFramePr>
        <p:xfrm>
          <a:off x="5603362" y="2837822"/>
          <a:ext cx="3295902" cy="2190845"/>
        </p:xfrm>
        <a:graphic>
          <a:graphicData uri="http://schemas.openxmlformats.org/drawingml/2006/table">
            <a:tbl>
              <a:tblPr firstRow="1" bandRow="1">
                <a:tableStyleId>{5C22544A-7EE6-4342-B048-85BDC9FD1C3A}</a:tableStyleId>
              </a:tblPr>
              <a:tblGrid>
                <a:gridCol w="3295902">
                  <a:extLst>
                    <a:ext uri="{9D8B030D-6E8A-4147-A177-3AD203B41FA5}">
                      <a16:colId xmlns:a16="http://schemas.microsoft.com/office/drawing/2014/main" val="152096159"/>
                    </a:ext>
                  </a:extLst>
                </a:gridCol>
              </a:tblGrid>
              <a:tr h="438169">
                <a:tc>
                  <a:txBody>
                    <a:bodyPr/>
                    <a:lstStyle/>
                    <a:p>
                      <a:r>
                        <a:rPr lang="en-US" dirty="0">
                          <a:solidFill>
                            <a:schemeClr val="tx1"/>
                          </a:solidFill>
                          <a:latin typeface="Bahnschrift" panose="020B0502040204020203" pitchFamily="34" charset="0"/>
                        </a:rPr>
                        <a:t>Task Failure</a:t>
                      </a:r>
                      <a:endParaRPr lang="en-IN" dirty="0">
                        <a:solidFill>
                          <a:schemeClr val="tx1"/>
                        </a:solidFill>
                        <a:latin typeface="Bahnschrift" panose="020B0502040204020203" pitchFamily="34" charset="0"/>
                      </a:endParaRPr>
                    </a:p>
                  </a:txBody>
                  <a:tcPr>
                    <a:solidFill>
                      <a:schemeClr val="bg1">
                        <a:lumMod val="85000"/>
                      </a:schemeClr>
                    </a:solidFill>
                  </a:tcPr>
                </a:tc>
                <a:extLst>
                  <a:ext uri="{0D108BD9-81ED-4DB2-BD59-A6C34878D82A}">
                    <a16:rowId xmlns:a16="http://schemas.microsoft.com/office/drawing/2014/main" val="1258551309"/>
                  </a:ext>
                </a:extLst>
              </a:tr>
              <a:tr h="438169">
                <a:tc>
                  <a:txBody>
                    <a:bodyPr/>
                    <a:lstStyle/>
                    <a:p>
                      <a:r>
                        <a:rPr lang="en-US" dirty="0">
                          <a:solidFill>
                            <a:schemeClr val="tx1"/>
                          </a:solidFill>
                          <a:latin typeface="Bahnschrift" panose="020B0502040204020203" pitchFamily="34" charset="0"/>
                        </a:rPr>
                        <a:t>Code Caused Issues</a:t>
                      </a:r>
                      <a:endParaRPr lang="en-IN" dirty="0">
                        <a:solidFill>
                          <a:schemeClr val="tx1"/>
                        </a:solidFill>
                        <a:latin typeface="Bahnschrift" panose="020B0502040204020203" pitchFamily="34" charset="0"/>
                      </a:endParaRPr>
                    </a:p>
                  </a:txBody>
                  <a:tcPr>
                    <a:solidFill>
                      <a:schemeClr val="bg1">
                        <a:lumMod val="85000"/>
                      </a:schemeClr>
                    </a:solidFill>
                  </a:tcPr>
                </a:tc>
                <a:extLst>
                  <a:ext uri="{0D108BD9-81ED-4DB2-BD59-A6C34878D82A}">
                    <a16:rowId xmlns:a16="http://schemas.microsoft.com/office/drawing/2014/main" val="3255544291"/>
                  </a:ext>
                </a:extLst>
              </a:tr>
              <a:tr h="438169">
                <a:tc>
                  <a:txBody>
                    <a:bodyPr/>
                    <a:lstStyle/>
                    <a:p>
                      <a:r>
                        <a:rPr lang="en-US" dirty="0">
                          <a:solidFill>
                            <a:schemeClr val="tx1"/>
                          </a:solidFill>
                          <a:latin typeface="Bahnschrift" panose="020B0502040204020203" pitchFamily="34" charset="0"/>
                        </a:rPr>
                        <a:t>Infinite Loop/Hung Code</a:t>
                      </a:r>
                      <a:endParaRPr lang="en-IN" dirty="0">
                        <a:solidFill>
                          <a:schemeClr val="tx1"/>
                        </a:solidFill>
                        <a:latin typeface="Bahnschrift" panose="020B0502040204020203" pitchFamily="34" charset="0"/>
                      </a:endParaRPr>
                    </a:p>
                  </a:txBody>
                  <a:tcPr>
                    <a:solidFill>
                      <a:schemeClr val="bg1">
                        <a:lumMod val="85000"/>
                      </a:schemeClr>
                    </a:solidFill>
                  </a:tcPr>
                </a:tc>
                <a:extLst>
                  <a:ext uri="{0D108BD9-81ED-4DB2-BD59-A6C34878D82A}">
                    <a16:rowId xmlns:a16="http://schemas.microsoft.com/office/drawing/2014/main" val="2221998323"/>
                  </a:ext>
                </a:extLst>
              </a:tr>
              <a:tr h="438169">
                <a:tc>
                  <a:txBody>
                    <a:bodyPr/>
                    <a:lstStyle/>
                    <a:p>
                      <a:r>
                        <a:rPr lang="en-US" dirty="0">
                          <a:solidFill>
                            <a:schemeClr val="tx1"/>
                          </a:solidFill>
                          <a:latin typeface="Bahnschrift" panose="020B0502040204020203" pitchFamily="34" charset="0"/>
                        </a:rPr>
                        <a:t>mapred.task.timeout=0</a:t>
                      </a:r>
                      <a:endParaRPr lang="en-IN" dirty="0">
                        <a:solidFill>
                          <a:schemeClr val="tx1"/>
                        </a:solidFill>
                        <a:latin typeface="Bahnschrift" panose="020B0502040204020203" pitchFamily="34" charset="0"/>
                      </a:endParaRPr>
                    </a:p>
                  </a:txBody>
                  <a:tcPr>
                    <a:solidFill>
                      <a:schemeClr val="bg1">
                        <a:lumMod val="85000"/>
                      </a:schemeClr>
                    </a:solidFill>
                  </a:tcPr>
                </a:tc>
                <a:extLst>
                  <a:ext uri="{0D108BD9-81ED-4DB2-BD59-A6C34878D82A}">
                    <a16:rowId xmlns:a16="http://schemas.microsoft.com/office/drawing/2014/main" val="681509257"/>
                  </a:ext>
                </a:extLst>
              </a:tr>
              <a:tr h="438169">
                <a:tc>
                  <a:txBody>
                    <a:bodyPr/>
                    <a:lstStyle/>
                    <a:p>
                      <a:r>
                        <a:rPr lang="en-US" dirty="0">
                          <a:solidFill>
                            <a:schemeClr val="tx1"/>
                          </a:solidFill>
                          <a:latin typeface="Bahnschrift" panose="020B0502040204020203" pitchFamily="34" charset="0"/>
                        </a:rPr>
                        <a:t>Run time error</a:t>
                      </a:r>
                      <a:endParaRPr lang="en-IN" dirty="0">
                        <a:solidFill>
                          <a:schemeClr val="tx1"/>
                        </a:solidFill>
                        <a:latin typeface="Bahnschrift" panose="020B0502040204020203" pitchFamily="34" charset="0"/>
                      </a:endParaRPr>
                    </a:p>
                  </a:txBody>
                  <a:tcPr>
                    <a:solidFill>
                      <a:schemeClr val="bg1">
                        <a:lumMod val="85000"/>
                      </a:schemeClr>
                    </a:solidFill>
                  </a:tcPr>
                </a:tc>
                <a:extLst>
                  <a:ext uri="{0D108BD9-81ED-4DB2-BD59-A6C34878D82A}">
                    <a16:rowId xmlns:a16="http://schemas.microsoft.com/office/drawing/2014/main" val="1616968465"/>
                  </a:ext>
                </a:extLst>
              </a:tr>
            </a:tbl>
          </a:graphicData>
        </a:graphic>
      </p:graphicFrame>
    </p:spTree>
    <p:extLst>
      <p:ext uri="{BB962C8B-B14F-4D97-AF65-F5344CB8AC3E}">
        <p14:creationId xmlns:p14="http://schemas.microsoft.com/office/powerpoint/2010/main" val="32023039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DF980A-8D6C-4BE4-8369-4D0B35B92EA5}"/>
              </a:ext>
            </a:extLst>
          </p:cNvPr>
          <p:cNvSpPr>
            <a:spLocks noGrp="1"/>
          </p:cNvSpPr>
          <p:nvPr>
            <p:ph type="title"/>
          </p:nvPr>
        </p:nvSpPr>
        <p:spPr/>
        <p:txBody>
          <a:bodyPr vert="horz" lIns="91440" tIns="45720" rIns="91440" bIns="45720" rtlCol="0" anchor="ctr">
            <a:noAutofit/>
          </a:bodyPr>
          <a:lstStyle/>
          <a:p>
            <a:r>
              <a:rPr lang="en-IN" dirty="0"/>
              <a:t>Failures in Classic Map-reduce</a:t>
            </a:r>
          </a:p>
        </p:txBody>
      </p:sp>
      <p:grpSp>
        <p:nvGrpSpPr>
          <p:cNvPr id="11" name="Group 10">
            <a:extLst>
              <a:ext uri="{FF2B5EF4-FFF2-40B4-BE49-F238E27FC236}">
                <a16:creationId xmlns:a16="http://schemas.microsoft.com/office/drawing/2014/main" id="{9009387E-E3CB-4E43-9322-240748E425B8}"/>
              </a:ext>
            </a:extLst>
          </p:cNvPr>
          <p:cNvGrpSpPr/>
          <p:nvPr/>
        </p:nvGrpSpPr>
        <p:grpSpPr>
          <a:xfrm>
            <a:off x="2721936" y="2834260"/>
            <a:ext cx="2961163" cy="3912783"/>
            <a:chOff x="3062177" y="2391195"/>
            <a:chExt cx="2961163" cy="3912783"/>
          </a:xfrm>
        </p:grpSpPr>
        <p:sp>
          <p:nvSpPr>
            <p:cNvPr id="4" name="Rectangle 3">
              <a:extLst>
                <a:ext uri="{FF2B5EF4-FFF2-40B4-BE49-F238E27FC236}">
                  <a16:creationId xmlns:a16="http://schemas.microsoft.com/office/drawing/2014/main" id="{9DB163A9-200A-4577-9A1E-450C51AD39FC}"/>
                </a:ext>
              </a:extLst>
            </p:cNvPr>
            <p:cNvSpPr/>
            <p:nvPr/>
          </p:nvSpPr>
          <p:spPr>
            <a:xfrm>
              <a:off x="3062177" y="2391195"/>
              <a:ext cx="2658140" cy="3912783"/>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5" name="Rectangle 4">
              <a:extLst>
                <a:ext uri="{FF2B5EF4-FFF2-40B4-BE49-F238E27FC236}">
                  <a16:creationId xmlns:a16="http://schemas.microsoft.com/office/drawing/2014/main" id="{3A45F569-48B8-4CF8-A8A3-7C6E0D14EA11}"/>
                </a:ext>
              </a:extLst>
            </p:cNvPr>
            <p:cNvSpPr/>
            <p:nvPr/>
          </p:nvSpPr>
          <p:spPr>
            <a:xfrm>
              <a:off x="3237614" y="4147431"/>
              <a:ext cx="2083982" cy="15995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latin typeface="Bahnschrift" panose="020B0502040204020203" pitchFamily="34" charset="0"/>
                </a:rPr>
                <a:t>Child JVM</a:t>
              </a:r>
              <a:endParaRPr lang="en-IN" dirty="0">
                <a:solidFill>
                  <a:schemeClr val="tx1"/>
                </a:solidFill>
                <a:latin typeface="Bahnschrift" panose="020B0502040204020203" pitchFamily="34" charset="0"/>
              </a:endParaRPr>
            </a:p>
          </p:txBody>
        </p:sp>
        <p:sp>
          <p:nvSpPr>
            <p:cNvPr id="6" name="Rectangle 5">
              <a:extLst>
                <a:ext uri="{FF2B5EF4-FFF2-40B4-BE49-F238E27FC236}">
                  <a16:creationId xmlns:a16="http://schemas.microsoft.com/office/drawing/2014/main" id="{BB0F663C-64F5-43DA-99BA-F66A48A4170A}"/>
                </a:ext>
              </a:extLst>
            </p:cNvPr>
            <p:cNvSpPr/>
            <p:nvPr/>
          </p:nvSpPr>
          <p:spPr>
            <a:xfrm>
              <a:off x="3530010" y="4420178"/>
              <a:ext cx="1499189" cy="113632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Map or reduce Task</a:t>
              </a:r>
              <a:endParaRPr lang="en-IN" dirty="0">
                <a:latin typeface="Bahnschrift" panose="020B0502040204020203" pitchFamily="34" charset="0"/>
              </a:endParaRPr>
            </a:p>
          </p:txBody>
        </p:sp>
        <p:sp>
          <p:nvSpPr>
            <p:cNvPr id="7" name="Rectangle 6">
              <a:extLst>
                <a:ext uri="{FF2B5EF4-FFF2-40B4-BE49-F238E27FC236}">
                  <a16:creationId xmlns:a16="http://schemas.microsoft.com/office/drawing/2014/main" id="{8FDAFE31-8F54-45A1-881D-59D8A22C7821}"/>
                </a:ext>
              </a:extLst>
            </p:cNvPr>
            <p:cNvSpPr/>
            <p:nvPr/>
          </p:nvSpPr>
          <p:spPr>
            <a:xfrm>
              <a:off x="3418367" y="2620536"/>
              <a:ext cx="1499189" cy="1136320"/>
            </a:xfrm>
            <a:prstGeom prst="rect">
              <a:avLst/>
            </a:prstGeom>
            <a:solidFill>
              <a:schemeClr val="accent2">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Task Tracker</a:t>
              </a:r>
              <a:endParaRPr lang="en-IN" dirty="0">
                <a:latin typeface="Bahnschrift" panose="020B0502040204020203" pitchFamily="34" charset="0"/>
              </a:endParaRPr>
            </a:p>
          </p:txBody>
        </p:sp>
        <p:cxnSp>
          <p:nvCxnSpPr>
            <p:cNvPr id="9" name="Straight Arrow Connector 8">
              <a:extLst>
                <a:ext uri="{FF2B5EF4-FFF2-40B4-BE49-F238E27FC236}">
                  <a16:creationId xmlns:a16="http://schemas.microsoft.com/office/drawing/2014/main" id="{6539AC0F-465C-4129-87E1-D8365F65A309}"/>
                </a:ext>
              </a:extLst>
            </p:cNvPr>
            <p:cNvCxnSpPr>
              <a:stCxn id="7" idx="2"/>
            </p:cNvCxnSpPr>
            <p:nvPr/>
          </p:nvCxnSpPr>
          <p:spPr>
            <a:xfrm flipH="1">
              <a:off x="4167961" y="3756856"/>
              <a:ext cx="1" cy="42174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CEF94F9-4904-4A86-A527-1973C55248F0}"/>
                </a:ext>
              </a:extLst>
            </p:cNvPr>
            <p:cNvSpPr/>
            <p:nvPr/>
          </p:nvSpPr>
          <p:spPr>
            <a:xfrm>
              <a:off x="4524152" y="3797604"/>
              <a:ext cx="1499188" cy="34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Report Error</a:t>
              </a:r>
              <a:endParaRPr lang="en-IN" dirty="0">
                <a:solidFill>
                  <a:schemeClr val="tx1"/>
                </a:solidFill>
                <a:latin typeface="Bahnschrift" panose="020B0502040204020203" pitchFamily="34" charset="0"/>
              </a:endParaRPr>
            </a:p>
          </p:txBody>
        </p:sp>
      </p:grpSp>
      <p:grpSp>
        <p:nvGrpSpPr>
          <p:cNvPr id="24" name="Group 23">
            <a:extLst>
              <a:ext uri="{FF2B5EF4-FFF2-40B4-BE49-F238E27FC236}">
                <a16:creationId xmlns:a16="http://schemas.microsoft.com/office/drawing/2014/main" id="{41645338-ADFE-4472-AB9E-37F9D3DC825F}"/>
              </a:ext>
            </a:extLst>
          </p:cNvPr>
          <p:cNvGrpSpPr/>
          <p:nvPr/>
        </p:nvGrpSpPr>
        <p:grpSpPr>
          <a:xfrm>
            <a:off x="2302834" y="1387448"/>
            <a:ext cx="6422065" cy="1271270"/>
            <a:chOff x="2302834" y="1387448"/>
            <a:chExt cx="6422065" cy="1271270"/>
          </a:xfrm>
        </p:grpSpPr>
        <p:sp>
          <p:nvSpPr>
            <p:cNvPr id="12" name="Rectangle 11">
              <a:extLst>
                <a:ext uri="{FF2B5EF4-FFF2-40B4-BE49-F238E27FC236}">
                  <a16:creationId xmlns:a16="http://schemas.microsoft.com/office/drawing/2014/main" id="{1BA1F06F-9AC5-47B5-9B1D-8706ABD313C8}"/>
                </a:ext>
              </a:extLst>
            </p:cNvPr>
            <p:cNvSpPr/>
            <p:nvPr/>
          </p:nvSpPr>
          <p:spPr>
            <a:xfrm>
              <a:off x="2302834" y="1387448"/>
              <a:ext cx="6422065" cy="127127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13" name="Rectangle 12">
              <a:extLst>
                <a:ext uri="{FF2B5EF4-FFF2-40B4-BE49-F238E27FC236}">
                  <a16:creationId xmlns:a16="http://schemas.microsoft.com/office/drawing/2014/main" id="{5B5E329E-5782-4CD5-AB08-338177441B5A}"/>
                </a:ext>
              </a:extLst>
            </p:cNvPr>
            <p:cNvSpPr/>
            <p:nvPr/>
          </p:nvSpPr>
          <p:spPr>
            <a:xfrm>
              <a:off x="2568647" y="1473841"/>
              <a:ext cx="5890437" cy="88956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14" name="Rectangle 13">
              <a:extLst>
                <a:ext uri="{FF2B5EF4-FFF2-40B4-BE49-F238E27FC236}">
                  <a16:creationId xmlns:a16="http://schemas.microsoft.com/office/drawing/2014/main" id="{77DA1DBD-2C60-4ADE-AE0F-5CA352D98A5B}"/>
                </a:ext>
              </a:extLst>
            </p:cNvPr>
            <p:cNvSpPr/>
            <p:nvPr/>
          </p:nvSpPr>
          <p:spPr>
            <a:xfrm>
              <a:off x="3094074" y="1604430"/>
              <a:ext cx="1477926" cy="628389"/>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Job Tracker</a:t>
              </a:r>
              <a:endParaRPr lang="en-IN" dirty="0">
                <a:solidFill>
                  <a:schemeClr val="tx1"/>
                </a:solidFill>
                <a:latin typeface="Bahnschrift" panose="020B0502040204020203" pitchFamily="34" charset="0"/>
              </a:endParaRPr>
            </a:p>
          </p:txBody>
        </p:sp>
        <p:sp>
          <p:nvSpPr>
            <p:cNvPr id="21" name="Rectangle 20">
              <a:extLst>
                <a:ext uri="{FF2B5EF4-FFF2-40B4-BE49-F238E27FC236}">
                  <a16:creationId xmlns:a16="http://schemas.microsoft.com/office/drawing/2014/main" id="{C63B68B5-D7DC-49BF-8198-D0D121D54AF2}"/>
                </a:ext>
              </a:extLst>
            </p:cNvPr>
            <p:cNvSpPr/>
            <p:nvPr/>
          </p:nvSpPr>
          <p:spPr>
            <a:xfrm>
              <a:off x="4366629" y="2384011"/>
              <a:ext cx="3391786" cy="2206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Bahnschrift" panose="020B0502040204020203" pitchFamily="34" charset="0"/>
                </a:rPr>
                <a:t>Job Tracker Node</a:t>
              </a:r>
              <a:endParaRPr lang="en-IN" sz="2000" dirty="0">
                <a:solidFill>
                  <a:schemeClr val="tx1"/>
                </a:solidFill>
                <a:latin typeface="Bahnschrift" panose="020B0502040204020203" pitchFamily="34" charset="0"/>
              </a:endParaRPr>
            </a:p>
          </p:txBody>
        </p:sp>
      </p:grpSp>
      <p:sp>
        <p:nvSpPr>
          <p:cNvPr id="22" name="Rectangle 21">
            <a:extLst>
              <a:ext uri="{FF2B5EF4-FFF2-40B4-BE49-F238E27FC236}">
                <a16:creationId xmlns:a16="http://schemas.microsoft.com/office/drawing/2014/main" id="{F942A8D3-749A-4275-9F0F-BC46995453FA}"/>
              </a:ext>
            </a:extLst>
          </p:cNvPr>
          <p:cNvSpPr/>
          <p:nvPr/>
        </p:nvSpPr>
        <p:spPr>
          <a:xfrm>
            <a:off x="2626245" y="2601814"/>
            <a:ext cx="1295013" cy="5575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Bahnschrift" panose="020B0502040204020203" pitchFamily="34" charset="0"/>
              </a:rPr>
              <a:t>Heart Beats</a:t>
            </a:r>
            <a:endParaRPr lang="en-IN" sz="1600" dirty="0">
              <a:solidFill>
                <a:schemeClr val="tx1"/>
              </a:solidFill>
              <a:latin typeface="Bahnschrift" panose="020B0502040204020203" pitchFamily="34" charset="0"/>
            </a:endParaRPr>
          </a:p>
        </p:txBody>
      </p:sp>
      <p:cxnSp>
        <p:nvCxnSpPr>
          <p:cNvPr id="16" name="Straight Arrow Connector 15">
            <a:extLst>
              <a:ext uri="{FF2B5EF4-FFF2-40B4-BE49-F238E27FC236}">
                <a16:creationId xmlns:a16="http://schemas.microsoft.com/office/drawing/2014/main" id="{4DC7DF8B-63DB-41EB-AE4E-CF664287EA20}"/>
              </a:ext>
            </a:extLst>
          </p:cNvPr>
          <p:cNvCxnSpPr>
            <a:cxnSpLocks/>
            <a:stCxn id="7" idx="0"/>
            <a:endCxn id="14" idx="2"/>
          </p:cNvCxnSpPr>
          <p:nvPr/>
        </p:nvCxnSpPr>
        <p:spPr>
          <a:xfrm flipV="1">
            <a:off x="3827721" y="2232819"/>
            <a:ext cx="5316" cy="83078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Multiplication Sign 1">
            <a:extLst>
              <a:ext uri="{FF2B5EF4-FFF2-40B4-BE49-F238E27FC236}">
                <a16:creationId xmlns:a16="http://schemas.microsoft.com/office/drawing/2014/main" id="{66603E15-A1DA-4748-829A-35B896A8E58A}"/>
              </a:ext>
            </a:extLst>
          </p:cNvPr>
          <p:cNvSpPr/>
          <p:nvPr/>
        </p:nvSpPr>
        <p:spPr>
          <a:xfrm>
            <a:off x="2363085" y="4590496"/>
            <a:ext cx="3112681" cy="1708760"/>
          </a:xfrm>
          <a:prstGeom prst="mathMultiply">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cxnSp>
        <p:nvCxnSpPr>
          <p:cNvPr id="17" name="Straight Arrow Connector 16">
            <a:extLst>
              <a:ext uri="{FF2B5EF4-FFF2-40B4-BE49-F238E27FC236}">
                <a16:creationId xmlns:a16="http://schemas.microsoft.com/office/drawing/2014/main" id="{5B047162-F878-4441-B12C-413E27E68B62}"/>
              </a:ext>
            </a:extLst>
          </p:cNvPr>
          <p:cNvCxnSpPr/>
          <p:nvPr/>
        </p:nvCxnSpPr>
        <p:spPr>
          <a:xfrm flipV="1">
            <a:off x="4231758" y="4199921"/>
            <a:ext cx="0" cy="390575"/>
          </a:xfrm>
          <a:prstGeom prst="straightConnector1">
            <a:avLst/>
          </a:prstGeom>
          <a:ln w="38100">
            <a:solidFill>
              <a:srgbClr val="44525A"/>
            </a:solidFill>
            <a:tailEnd type="triangle"/>
          </a:ln>
        </p:spPr>
        <p:style>
          <a:lnRef idx="1">
            <a:schemeClr val="accent1"/>
          </a:lnRef>
          <a:fillRef idx="0">
            <a:schemeClr val="accent1"/>
          </a:fillRef>
          <a:effectRef idx="0">
            <a:schemeClr val="accent1"/>
          </a:effectRef>
          <a:fontRef idx="minor">
            <a:schemeClr val="tx1"/>
          </a:fontRef>
        </p:style>
      </p:cxnSp>
      <p:sp>
        <p:nvSpPr>
          <p:cNvPr id="18" name="Flowchart: Magnetic Disk 17">
            <a:extLst>
              <a:ext uri="{FF2B5EF4-FFF2-40B4-BE49-F238E27FC236}">
                <a16:creationId xmlns:a16="http://schemas.microsoft.com/office/drawing/2014/main" id="{11C9E041-EC89-4CBE-B0E0-63F7BA28D802}"/>
              </a:ext>
            </a:extLst>
          </p:cNvPr>
          <p:cNvSpPr/>
          <p:nvPr/>
        </p:nvSpPr>
        <p:spPr>
          <a:xfrm>
            <a:off x="5836389" y="2969399"/>
            <a:ext cx="1945758" cy="1271270"/>
          </a:xfrm>
          <a:prstGeom prst="flowChartMagneticDisk">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00" dirty="0">
                <a:solidFill>
                  <a:schemeClr val="tx1"/>
                </a:solidFill>
                <a:latin typeface="Bahnschrift" panose="020B0502040204020203" pitchFamily="34" charset="0"/>
              </a:rPr>
              <a:t>User Logs</a:t>
            </a:r>
            <a:endParaRPr lang="en-IN" sz="2100" dirty="0">
              <a:solidFill>
                <a:schemeClr val="tx1"/>
              </a:solidFill>
              <a:latin typeface="Bahnschrift" panose="020B0502040204020203" pitchFamily="34" charset="0"/>
            </a:endParaRPr>
          </a:p>
        </p:txBody>
      </p:sp>
      <p:cxnSp>
        <p:nvCxnSpPr>
          <p:cNvPr id="20" name="Straight Arrow Connector 19">
            <a:extLst>
              <a:ext uri="{FF2B5EF4-FFF2-40B4-BE49-F238E27FC236}">
                <a16:creationId xmlns:a16="http://schemas.microsoft.com/office/drawing/2014/main" id="{FBCFC563-4504-4B40-A965-7EAFE9DA9C03}"/>
              </a:ext>
            </a:extLst>
          </p:cNvPr>
          <p:cNvCxnSpPr>
            <a:stCxn id="7" idx="3"/>
            <a:endCxn id="18" idx="2"/>
          </p:cNvCxnSpPr>
          <p:nvPr/>
        </p:nvCxnSpPr>
        <p:spPr>
          <a:xfrm flipV="1">
            <a:off x="4577315" y="3605034"/>
            <a:ext cx="1259074" cy="26727"/>
          </a:xfrm>
          <a:prstGeom prst="straightConnector1">
            <a:avLst/>
          </a:prstGeom>
          <a:ln w="38100">
            <a:solidFill>
              <a:srgbClr val="44525A"/>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16799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DF980A-8D6C-4BE4-8369-4D0B35B92EA5}"/>
              </a:ext>
            </a:extLst>
          </p:cNvPr>
          <p:cNvSpPr>
            <a:spLocks noGrp="1"/>
          </p:cNvSpPr>
          <p:nvPr>
            <p:ph type="title"/>
          </p:nvPr>
        </p:nvSpPr>
        <p:spPr/>
        <p:txBody>
          <a:bodyPr vert="horz" lIns="91440" tIns="45720" rIns="91440" bIns="45720" rtlCol="0" anchor="ctr">
            <a:noAutofit/>
          </a:bodyPr>
          <a:lstStyle/>
          <a:p>
            <a:r>
              <a:rPr lang="en-IN" dirty="0"/>
              <a:t>Failures in Classic Map-reduce</a:t>
            </a:r>
          </a:p>
        </p:txBody>
      </p:sp>
      <p:grpSp>
        <p:nvGrpSpPr>
          <p:cNvPr id="11" name="Group 10">
            <a:extLst>
              <a:ext uri="{FF2B5EF4-FFF2-40B4-BE49-F238E27FC236}">
                <a16:creationId xmlns:a16="http://schemas.microsoft.com/office/drawing/2014/main" id="{9009387E-E3CB-4E43-9322-240748E425B8}"/>
              </a:ext>
            </a:extLst>
          </p:cNvPr>
          <p:cNvGrpSpPr/>
          <p:nvPr/>
        </p:nvGrpSpPr>
        <p:grpSpPr>
          <a:xfrm>
            <a:off x="1145663" y="2857507"/>
            <a:ext cx="2961163" cy="3912783"/>
            <a:chOff x="3062177" y="2391195"/>
            <a:chExt cx="2961163" cy="3912783"/>
          </a:xfrm>
        </p:grpSpPr>
        <p:sp>
          <p:nvSpPr>
            <p:cNvPr id="4" name="Rectangle 3">
              <a:extLst>
                <a:ext uri="{FF2B5EF4-FFF2-40B4-BE49-F238E27FC236}">
                  <a16:creationId xmlns:a16="http://schemas.microsoft.com/office/drawing/2014/main" id="{9DB163A9-200A-4577-9A1E-450C51AD39FC}"/>
                </a:ext>
              </a:extLst>
            </p:cNvPr>
            <p:cNvSpPr/>
            <p:nvPr/>
          </p:nvSpPr>
          <p:spPr>
            <a:xfrm>
              <a:off x="3062177" y="2391195"/>
              <a:ext cx="2658140" cy="3912783"/>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5" name="Rectangle 4">
              <a:extLst>
                <a:ext uri="{FF2B5EF4-FFF2-40B4-BE49-F238E27FC236}">
                  <a16:creationId xmlns:a16="http://schemas.microsoft.com/office/drawing/2014/main" id="{3A45F569-48B8-4CF8-A8A3-7C6E0D14EA11}"/>
                </a:ext>
              </a:extLst>
            </p:cNvPr>
            <p:cNvSpPr/>
            <p:nvPr/>
          </p:nvSpPr>
          <p:spPr>
            <a:xfrm>
              <a:off x="3237614" y="4147431"/>
              <a:ext cx="2083982" cy="15995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latin typeface="Bahnschrift" panose="020B0502040204020203" pitchFamily="34" charset="0"/>
                </a:rPr>
                <a:t>Child JVM</a:t>
              </a:r>
              <a:endParaRPr lang="en-IN" dirty="0">
                <a:solidFill>
                  <a:schemeClr val="tx1"/>
                </a:solidFill>
                <a:latin typeface="Bahnschrift" panose="020B0502040204020203" pitchFamily="34" charset="0"/>
              </a:endParaRPr>
            </a:p>
          </p:txBody>
        </p:sp>
        <p:sp>
          <p:nvSpPr>
            <p:cNvPr id="6" name="Rectangle 5">
              <a:extLst>
                <a:ext uri="{FF2B5EF4-FFF2-40B4-BE49-F238E27FC236}">
                  <a16:creationId xmlns:a16="http://schemas.microsoft.com/office/drawing/2014/main" id="{BB0F663C-64F5-43DA-99BA-F66A48A4170A}"/>
                </a:ext>
              </a:extLst>
            </p:cNvPr>
            <p:cNvSpPr/>
            <p:nvPr/>
          </p:nvSpPr>
          <p:spPr>
            <a:xfrm>
              <a:off x="3530010" y="4420178"/>
              <a:ext cx="1499189" cy="113632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Map or reduce Task</a:t>
              </a:r>
              <a:endParaRPr lang="en-IN" dirty="0">
                <a:latin typeface="Bahnschrift" panose="020B0502040204020203" pitchFamily="34" charset="0"/>
              </a:endParaRPr>
            </a:p>
          </p:txBody>
        </p:sp>
        <p:sp>
          <p:nvSpPr>
            <p:cNvPr id="7" name="Rectangle 6">
              <a:extLst>
                <a:ext uri="{FF2B5EF4-FFF2-40B4-BE49-F238E27FC236}">
                  <a16:creationId xmlns:a16="http://schemas.microsoft.com/office/drawing/2014/main" id="{8FDAFE31-8F54-45A1-881D-59D8A22C7821}"/>
                </a:ext>
              </a:extLst>
            </p:cNvPr>
            <p:cNvSpPr/>
            <p:nvPr/>
          </p:nvSpPr>
          <p:spPr>
            <a:xfrm>
              <a:off x="3418367" y="2620536"/>
              <a:ext cx="1499189" cy="1136320"/>
            </a:xfrm>
            <a:prstGeom prst="rect">
              <a:avLst/>
            </a:prstGeom>
            <a:solidFill>
              <a:schemeClr val="accent2">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Task Tracker</a:t>
              </a:r>
              <a:endParaRPr lang="en-IN" dirty="0">
                <a:latin typeface="Bahnschrift" panose="020B0502040204020203" pitchFamily="34" charset="0"/>
              </a:endParaRPr>
            </a:p>
          </p:txBody>
        </p:sp>
        <p:cxnSp>
          <p:nvCxnSpPr>
            <p:cNvPr id="9" name="Straight Arrow Connector 8">
              <a:extLst>
                <a:ext uri="{FF2B5EF4-FFF2-40B4-BE49-F238E27FC236}">
                  <a16:creationId xmlns:a16="http://schemas.microsoft.com/office/drawing/2014/main" id="{6539AC0F-465C-4129-87E1-D8365F65A309}"/>
                </a:ext>
              </a:extLst>
            </p:cNvPr>
            <p:cNvCxnSpPr>
              <a:stCxn id="7" idx="2"/>
            </p:cNvCxnSpPr>
            <p:nvPr/>
          </p:nvCxnSpPr>
          <p:spPr>
            <a:xfrm flipH="1">
              <a:off x="4167961" y="3756856"/>
              <a:ext cx="1" cy="42174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CEF94F9-4904-4A86-A527-1973C55248F0}"/>
                </a:ext>
              </a:extLst>
            </p:cNvPr>
            <p:cNvSpPr/>
            <p:nvPr/>
          </p:nvSpPr>
          <p:spPr>
            <a:xfrm>
              <a:off x="4524152" y="3797604"/>
              <a:ext cx="1499188" cy="34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Report Error</a:t>
              </a:r>
              <a:endParaRPr lang="en-IN" dirty="0">
                <a:solidFill>
                  <a:schemeClr val="tx1"/>
                </a:solidFill>
                <a:latin typeface="Bahnschrift" panose="020B0502040204020203" pitchFamily="34" charset="0"/>
              </a:endParaRPr>
            </a:p>
          </p:txBody>
        </p:sp>
      </p:grpSp>
      <p:grpSp>
        <p:nvGrpSpPr>
          <p:cNvPr id="24" name="Group 23">
            <a:extLst>
              <a:ext uri="{FF2B5EF4-FFF2-40B4-BE49-F238E27FC236}">
                <a16:creationId xmlns:a16="http://schemas.microsoft.com/office/drawing/2014/main" id="{41645338-ADFE-4472-AB9E-37F9D3DC825F}"/>
              </a:ext>
            </a:extLst>
          </p:cNvPr>
          <p:cNvGrpSpPr/>
          <p:nvPr/>
        </p:nvGrpSpPr>
        <p:grpSpPr>
          <a:xfrm>
            <a:off x="1145663" y="1395786"/>
            <a:ext cx="6422065" cy="1271270"/>
            <a:chOff x="1145663" y="1395786"/>
            <a:chExt cx="6422065" cy="1271270"/>
          </a:xfrm>
        </p:grpSpPr>
        <p:sp>
          <p:nvSpPr>
            <p:cNvPr id="12" name="Rectangle 11">
              <a:extLst>
                <a:ext uri="{FF2B5EF4-FFF2-40B4-BE49-F238E27FC236}">
                  <a16:creationId xmlns:a16="http://schemas.microsoft.com/office/drawing/2014/main" id="{1BA1F06F-9AC5-47B5-9B1D-8706ABD313C8}"/>
                </a:ext>
              </a:extLst>
            </p:cNvPr>
            <p:cNvSpPr/>
            <p:nvPr/>
          </p:nvSpPr>
          <p:spPr>
            <a:xfrm>
              <a:off x="1145663" y="1395786"/>
              <a:ext cx="6422065" cy="127127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13" name="Rectangle 12">
              <a:extLst>
                <a:ext uri="{FF2B5EF4-FFF2-40B4-BE49-F238E27FC236}">
                  <a16:creationId xmlns:a16="http://schemas.microsoft.com/office/drawing/2014/main" id="{5B5E329E-5782-4CD5-AB08-338177441B5A}"/>
                </a:ext>
              </a:extLst>
            </p:cNvPr>
            <p:cNvSpPr/>
            <p:nvPr/>
          </p:nvSpPr>
          <p:spPr>
            <a:xfrm>
              <a:off x="1321100" y="1493130"/>
              <a:ext cx="5890437" cy="88956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14" name="Rectangle 13">
              <a:extLst>
                <a:ext uri="{FF2B5EF4-FFF2-40B4-BE49-F238E27FC236}">
                  <a16:creationId xmlns:a16="http://schemas.microsoft.com/office/drawing/2014/main" id="{77DA1DBD-2C60-4ADE-AE0F-5CA352D98A5B}"/>
                </a:ext>
              </a:extLst>
            </p:cNvPr>
            <p:cNvSpPr/>
            <p:nvPr/>
          </p:nvSpPr>
          <p:spPr>
            <a:xfrm>
              <a:off x="1536412" y="1604430"/>
              <a:ext cx="1477926" cy="628389"/>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Job Tracker</a:t>
              </a:r>
              <a:endParaRPr lang="en-IN" dirty="0">
                <a:solidFill>
                  <a:schemeClr val="tx1"/>
                </a:solidFill>
                <a:latin typeface="Bahnschrift" panose="020B0502040204020203" pitchFamily="34" charset="0"/>
              </a:endParaRPr>
            </a:p>
          </p:txBody>
        </p:sp>
        <p:sp>
          <p:nvSpPr>
            <p:cNvPr id="21" name="Rectangle 20">
              <a:extLst>
                <a:ext uri="{FF2B5EF4-FFF2-40B4-BE49-F238E27FC236}">
                  <a16:creationId xmlns:a16="http://schemas.microsoft.com/office/drawing/2014/main" id="{C63B68B5-D7DC-49BF-8198-D0D121D54AF2}"/>
                </a:ext>
              </a:extLst>
            </p:cNvPr>
            <p:cNvSpPr/>
            <p:nvPr/>
          </p:nvSpPr>
          <p:spPr>
            <a:xfrm>
              <a:off x="2722822" y="2383670"/>
              <a:ext cx="3391786" cy="2206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Bahnschrift" panose="020B0502040204020203" pitchFamily="34" charset="0"/>
                </a:rPr>
                <a:t>Job Tracker Node</a:t>
              </a:r>
              <a:endParaRPr lang="en-IN" sz="2000" dirty="0">
                <a:solidFill>
                  <a:schemeClr val="tx1"/>
                </a:solidFill>
                <a:latin typeface="Bahnschrift" panose="020B0502040204020203" pitchFamily="34" charset="0"/>
              </a:endParaRPr>
            </a:p>
          </p:txBody>
        </p:sp>
      </p:grpSp>
      <p:sp>
        <p:nvSpPr>
          <p:cNvPr id="22" name="Rectangle 21">
            <a:extLst>
              <a:ext uri="{FF2B5EF4-FFF2-40B4-BE49-F238E27FC236}">
                <a16:creationId xmlns:a16="http://schemas.microsoft.com/office/drawing/2014/main" id="{F942A8D3-749A-4275-9F0F-BC46995453FA}"/>
              </a:ext>
            </a:extLst>
          </p:cNvPr>
          <p:cNvSpPr/>
          <p:nvPr/>
        </p:nvSpPr>
        <p:spPr>
          <a:xfrm>
            <a:off x="2626245" y="2601814"/>
            <a:ext cx="1295013" cy="5575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Bahnschrift" panose="020B0502040204020203" pitchFamily="34" charset="0"/>
              </a:rPr>
              <a:t>Heart Beats</a:t>
            </a:r>
            <a:endParaRPr lang="en-IN" sz="1600" dirty="0">
              <a:solidFill>
                <a:schemeClr val="tx1"/>
              </a:solidFill>
              <a:latin typeface="Bahnschrift" panose="020B0502040204020203" pitchFamily="34" charset="0"/>
            </a:endParaRPr>
          </a:p>
        </p:txBody>
      </p:sp>
      <p:cxnSp>
        <p:nvCxnSpPr>
          <p:cNvPr id="16" name="Straight Arrow Connector 15">
            <a:extLst>
              <a:ext uri="{FF2B5EF4-FFF2-40B4-BE49-F238E27FC236}">
                <a16:creationId xmlns:a16="http://schemas.microsoft.com/office/drawing/2014/main" id="{4DC7DF8B-63DB-41EB-AE4E-CF664287EA20}"/>
              </a:ext>
            </a:extLst>
          </p:cNvPr>
          <p:cNvCxnSpPr>
            <a:cxnSpLocks/>
            <a:stCxn id="7" idx="0"/>
            <a:endCxn id="14" idx="2"/>
          </p:cNvCxnSpPr>
          <p:nvPr/>
        </p:nvCxnSpPr>
        <p:spPr>
          <a:xfrm flipV="1">
            <a:off x="2251448" y="2232819"/>
            <a:ext cx="23927" cy="85402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Multiplication Sign 1">
            <a:extLst>
              <a:ext uri="{FF2B5EF4-FFF2-40B4-BE49-F238E27FC236}">
                <a16:creationId xmlns:a16="http://schemas.microsoft.com/office/drawing/2014/main" id="{66603E15-A1DA-4748-829A-35B896A8E58A}"/>
              </a:ext>
            </a:extLst>
          </p:cNvPr>
          <p:cNvSpPr/>
          <p:nvPr/>
        </p:nvSpPr>
        <p:spPr>
          <a:xfrm>
            <a:off x="808577" y="4505108"/>
            <a:ext cx="3112681" cy="1708760"/>
          </a:xfrm>
          <a:prstGeom prst="mathMultiply">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cxnSp>
        <p:nvCxnSpPr>
          <p:cNvPr id="17" name="Straight Arrow Connector 16">
            <a:extLst>
              <a:ext uri="{FF2B5EF4-FFF2-40B4-BE49-F238E27FC236}">
                <a16:creationId xmlns:a16="http://schemas.microsoft.com/office/drawing/2014/main" id="{5B047162-F878-4441-B12C-413E27E68B62}"/>
              </a:ext>
            </a:extLst>
          </p:cNvPr>
          <p:cNvCxnSpPr/>
          <p:nvPr/>
        </p:nvCxnSpPr>
        <p:spPr>
          <a:xfrm flipV="1">
            <a:off x="2586373" y="4223168"/>
            <a:ext cx="0" cy="390575"/>
          </a:xfrm>
          <a:prstGeom prst="straightConnector1">
            <a:avLst/>
          </a:prstGeom>
          <a:ln w="38100">
            <a:solidFill>
              <a:srgbClr val="44525A"/>
            </a:solidFill>
            <a:tailEnd type="triangle"/>
          </a:ln>
        </p:spPr>
        <p:style>
          <a:lnRef idx="1">
            <a:schemeClr val="accent1"/>
          </a:lnRef>
          <a:fillRef idx="0">
            <a:schemeClr val="accent1"/>
          </a:fillRef>
          <a:effectRef idx="0">
            <a:schemeClr val="accent1"/>
          </a:effectRef>
          <a:fontRef idx="minor">
            <a:schemeClr val="tx1"/>
          </a:fontRef>
        </p:style>
      </p:cxnSp>
      <p:sp>
        <p:nvSpPr>
          <p:cNvPr id="18" name="Flowchart: Magnetic Disk 17">
            <a:extLst>
              <a:ext uri="{FF2B5EF4-FFF2-40B4-BE49-F238E27FC236}">
                <a16:creationId xmlns:a16="http://schemas.microsoft.com/office/drawing/2014/main" id="{11C9E041-EC89-4CBE-B0E0-63F7BA28D802}"/>
              </a:ext>
            </a:extLst>
          </p:cNvPr>
          <p:cNvSpPr/>
          <p:nvPr/>
        </p:nvSpPr>
        <p:spPr>
          <a:xfrm>
            <a:off x="4108984" y="3289301"/>
            <a:ext cx="1626780" cy="678950"/>
          </a:xfrm>
          <a:prstGeom prst="flowChartMagneticDisk">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00" dirty="0">
                <a:solidFill>
                  <a:schemeClr val="tx1"/>
                </a:solidFill>
                <a:latin typeface="Bahnschrift" panose="020B0502040204020203" pitchFamily="34" charset="0"/>
              </a:rPr>
              <a:t>User Logs</a:t>
            </a:r>
            <a:endParaRPr lang="en-IN" sz="2100" dirty="0">
              <a:solidFill>
                <a:schemeClr val="tx1"/>
              </a:solidFill>
              <a:latin typeface="Bahnschrift" panose="020B0502040204020203" pitchFamily="34" charset="0"/>
            </a:endParaRPr>
          </a:p>
        </p:txBody>
      </p:sp>
      <p:cxnSp>
        <p:nvCxnSpPr>
          <p:cNvPr id="20" name="Straight Arrow Connector 19">
            <a:extLst>
              <a:ext uri="{FF2B5EF4-FFF2-40B4-BE49-F238E27FC236}">
                <a16:creationId xmlns:a16="http://schemas.microsoft.com/office/drawing/2014/main" id="{FBCFC563-4504-4B40-A965-7EAFE9DA9C03}"/>
              </a:ext>
            </a:extLst>
          </p:cNvPr>
          <p:cNvCxnSpPr>
            <a:cxnSpLocks/>
            <a:stCxn id="7" idx="3"/>
            <a:endCxn id="18" idx="2"/>
          </p:cNvCxnSpPr>
          <p:nvPr/>
        </p:nvCxnSpPr>
        <p:spPr>
          <a:xfrm flipV="1">
            <a:off x="3001042" y="3628776"/>
            <a:ext cx="1107942" cy="26232"/>
          </a:xfrm>
          <a:prstGeom prst="straightConnector1">
            <a:avLst/>
          </a:prstGeom>
          <a:ln w="38100">
            <a:solidFill>
              <a:srgbClr val="44525A"/>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7" name="Table 27">
            <a:extLst>
              <a:ext uri="{FF2B5EF4-FFF2-40B4-BE49-F238E27FC236}">
                <a16:creationId xmlns:a16="http://schemas.microsoft.com/office/drawing/2014/main" id="{50605AE7-97BF-4D40-AC88-6A5C03AE833B}"/>
              </a:ext>
            </a:extLst>
          </p:cNvPr>
          <p:cNvGraphicFramePr>
            <a:graphicFrameLocks noGrp="1"/>
          </p:cNvGraphicFramePr>
          <p:nvPr>
            <p:extLst>
              <p:ext uri="{D42A27DB-BD31-4B8C-83A1-F6EECF244321}">
                <p14:modId xmlns:p14="http://schemas.microsoft.com/office/powerpoint/2010/main" val="2529399983"/>
              </p:ext>
            </p:extLst>
          </p:nvPr>
        </p:nvGraphicFramePr>
        <p:xfrm>
          <a:off x="5924998" y="2880608"/>
          <a:ext cx="3205716" cy="2029390"/>
        </p:xfrm>
        <a:graphic>
          <a:graphicData uri="http://schemas.openxmlformats.org/drawingml/2006/table">
            <a:tbl>
              <a:tblPr firstRow="1" bandRow="1">
                <a:tableStyleId>{5C22544A-7EE6-4342-B048-85BDC9FD1C3A}</a:tableStyleId>
              </a:tblPr>
              <a:tblGrid>
                <a:gridCol w="3205716">
                  <a:extLst>
                    <a:ext uri="{9D8B030D-6E8A-4147-A177-3AD203B41FA5}">
                      <a16:colId xmlns:a16="http://schemas.microsoft.com/office/drawing/2014/main" val="501526426"/>
                    </a:ext>
                  </a:extLst>
                </a:gridCol>
              </a:tblGrid>
              <a:tr h="405878">
                <a:tc>
                  <a:txBody>
                    <a:bodyPr/>
                    <a:lstStyle/>
                    <a:p>
                      <a:r>
                        <a:rPr lang="en-US" dirty="0">
                          <a:solidFill>
                            <a:schemeClr val="tx1"/>
                          </a:solidFill>
                          <a:latin typeface="Bahnschrift" panose="020B0502040204020203" pitchFamily="34" charset="0"/>
                        </a:rPr>
                        <a:t>Task Failure</a:t>
                      </a:r>
                      <a:endParaRPr lang="en-IN" dirty="0">
                        <a:solidFill>
                          <a:schemeClr val="tx1"/>
                        </a:solidFill>
                        <a:latin typeface="Bahnschrift" panose="020B0502040204020203" pitchFamily="34" charset="0"/>
                      </a:endParaRPr>
                    </a:p>
                  </a:txBody>
                  <a:tcPr>
                    <a:solidFill>
                      <a:schemeClr val="bg1">
                        <a:lumMod val="85000"/>
                      </a:schemeClr>
                    </a:solidFill>
                  </a:tcPr>
                </a:tc>
                <a:extLst>
                  <a:ext uri="{0D108BD9-81ED-4DB2-BD59-A6C34878D82A}">
                    <a16:rowId xmlns:a16="http://schemas.microsoft.com/office/drawing/2014/main" val="2221542430"/>
                  </a:ext>
                </a:extLst>
              </a:tr>
              <a:tr h="405878">
                <a:tc>
                  <a:txBody>
                    <a:bodyPr/>
                    <a:lstStyle/>
                    <a:p>
                      <a:r>
                        <a:rPr lang="en-US" dirty="0"/>
                        <a:t>JVM ERRORS</a:t>
                      </a:r>
                      <a:endParaRPr lang="en-IN" dirty="0"/>
                    </a:p>
                  </a:txBody>
                  <a:tcPr>
                    <a:solidFill>
                      <a:schemeClr val="bg1">
                        <a:lumMod val="85000"/>
                      </a:schemeClr>
                    </a:solidFill>
                  </a:tcPr>
                </a:tc>
                <a:extLst>
                  <a:ext uri="{0D108BD9-81ED-4DB2-BD59-A6C34878D82A}">
                    <a16:rowId xmlns:a16="http://schemas.microsoft.com/office/drawing/2014/main" val="577188963"/>
                  </a:ext>
                </a:extLst>
              </a:tr>
              <a:tr h="405878">
                <a:tc>
                  <a:txBody>
                    <a:bodyPr/>
                    <a:lstStyle/>
                    <a:p>
                      <a:endParaRPr lang="en-IN" dirty="0"/>
                    </a:p>
                  </a:txBody>
                  <a:tcPr>
                    <a:solidFill>
                      <a:schemeClr val="bg1">
                        <a:lumMod val="85000"/>
                      </a:schemeClr>
                    </a:solidFill>
                  </a:tcPr>
                </a:tc>
                <a:extLst>
                  <a:ext uri="{0D108BD9-81ED-4DB2-BD59-A6C34878D82A}">
                    <a16:rowId xmlns:a16="http://schemas.microsoft.com/office/drawing/2014/main" val="2163509597"/>
                  </a:ext>
                </a:extLst>
              </a:tr>
              <a:tr h="405878">
                <a:tc>
                  <a:txBody>
                    <a:bodyPr/>
                    <a:lstStyle/>
                    <a:p>
                      <a:endParaRPr lang="en-IN"/>
                    </a:p>
                  </a:txBody>
                  <a:tcPr>
                    <a:solidFill>
                      <a:schemeClr val="bg1">
                        <a:lumMod val="85000"/>
                      </a:schemeClr>
                    </a:solidFill>
                  </a:tcPr>
                </a:tc>
                <a:extLst>
                  <a:ext uri="{0D108BD9-81ED-4DB2-BD59-A6C34878D82A}">
                    <a16:rowId xmlns:a16="http://schemas.microsoft.com/office/drawing/2014/main" val="1743939803"/>
                  </a:ext>
                </a:extLst>
              </a:tr>
              <a:tr h="405878">
                <a:tc>
                  <a:txBody>
                    <a:bodyPr/>
                    <a:lstStyle/>
                    <a:p>
                      <a:endParaRPr lang="en-IN" dirty="0"/>
                    </a:p>
                  </a:txBody>
                  <a:tcPr>
                    <a:solidFill>
                      <a:schemeClr val="bg1">
                        <a:lumMod val="85000"/>
                      </a:schemeClr>
                    </a:solidFill>
                  </a:tcPr>
                </a:tc>
                <a:extLst>
                  <a:ext uri="{0D108BD9-81ED-4DB2-BD59-A6C34878D82A}">
                    <a16:rowId xmlns:a16="http://schemas.microsoft.com/office/drawing/2014/main" val="3719790504"/>
                  </a:ext>
                </a:extLst>
              </a:tr>
            </a:tbl>
          </a:graphicData>
        </a:graphic>
      </p:graphicFrame>
    </p:spTree>
    <p:extLst>
      <p:ext uri="{BB962C8B-B14F-4D97-AF65-F5344CB8AC3E}">
        <p14:creationId xmlns:p14="http://schemas.microsoft.com/office/powerpoint/2010/main" val="22568929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DF980A-8D6C-4BE4-8369-4D0B35B92EA5}"/>
              </a:ext>
            </a:extLst>
          </p:cNvPr>
          <p:cNvSpPr>
            <a:spLocks noGrp="1"/>
          </p:cNvSpPr>
          <p:nvPr>
            <p:ph type="title"/>
          </p:nvPr>
        </p:nvSpPr>
        <p:spPr/>
        <p:txBody>
          <a:bodyPr vert="horz" lIns="91440" tIns="45720" rIns="91440" bIns="45720" rtlCol="0" anchor="ctr">
            <a:noAutofit/>
          </a:bodyPr>
          <a:lstStyle/>
          <a:p>
            <a:r>
              <a:rPr lang="en-IN" dirty="0"/>
              <a:t>Failures in Classic Map-reduce</a:t>
            </a:r>
          </a:p>
        </p:txBody>
      </p:sp>
      <p:grpSp>
        <p:nvGrpSpPr>
          <p:cNvPr id="11" name="Group 10">
            <a:extLst>
              <a:ext uri="{FF2B5EF4-FFF2-40B4-BE49-F238E27FC236}">
                <a16:creationId xmlns:a16="http://schemas.microsoft.com/office/drawing/2014/main" id="{9009387E-E3CB-4E43-9322-240748E425B8}"/>
              </a:ext>
            </a:extLst>
          </p:cNvPr>
          <p:cNvGrpSpPr/>
          <p:nvPr/>
        </p:nvGrpSpPr>
        <p:grpSpPr>
          <a:xfrm>
            <a:off x="3552511" y="2871517"/>
            <a:ext cx="2961163" cy="3912783"/>
            <a:chOff x="3062177" y="2391195"/>
            <a:chExt cx="2961163" cy="3912783"/>
          </a:xfrm>
        </p:grpSpPr>
        <p:sp>
          <p:nvSpPr>
            <p:cNvPr id="4" name="Rectangle 3">
              <a:extLst>
                <a:ext uri="{FF2B5EF4-FFF2-40B4-BE49-F238E27FC236}">
                  <a16:creationId xmlns:a16="http://schemas.microsoft.com/office/drawing/2014/main" id="{9DB163A9-200A-4577-9A1E-450C51AD39FC}"/>
                </a:ext>
              </a:extLst>
            </p:cNvPr>
            <p:cNvSpPr/>
            <p:nvPr/>
          </p:nvSpPr>
          <p:spPr>
            <a:xfrm>
              <a:off x="3062177" y="2391195"/>
              <a:ext cx="2658140" cy="3912783"/>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5" name="Rectangle 4">
              <a:extLst>
                <a:ext uri="{FF2B5EF4-FFF2-40B4-BE49-F238E27FC236}">
                  <a16:creationId xmlns:a16="http://schemas.microsoft.com/office/drawing/2014/main" id="{3A45F569-48B8-4CF8-A8A3-7C6E0D14EA11}"/>
                </a:ext>
              </a:extLst>
            </p:cNvPr>
            <p:cNvSpPr/>
            <p:nvPr/>
          </p:nvSpPr>
          <p:spPr>
            <a:xfrm>
              <a:off x="3237614" y="4147431"/>
              <a:ext cx="2083982" cy="15995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latin typeface="Bahnschrift" panose="020B0502040204020203" pitchFamily="34" charset="0"/>
                </a:rPr>
                <a:t>Child JVM</a:t>
              </a:r>
              <a:endParaRPr lang="en-IN" dirty="0">
                <a:solidFill>
                  <a:schemeClr val="tx1"/>
                </a:solidFill>
                <a:latin typeface="Bahnschrift" panose="020B0502040204020203" pitchFamily="34" charset="0"/>
              </a:endParaRPr>
            </a:p>
          </p:txBody>
        </p:sp>
        <p:sp>
          <p:nvSpPr>
            <p:cNvPr id="6" name="Rectangle 5">
              <a:extLst>
                <a:ext uri="{FF2B5EF4-FFF2-40B4-BE49-F238E27FC236}">
                  <a16:creationId xmlns:a16="http://schemas.microsoft.com/office/drawing/2014/main" id="{BB0F663C-64F5-43DA-99BA-F66A48A4170A}"/>
                </a:ext>
              </a:extLst>
            </p:cNvPr>
            <p:cNvSpPr/>
            <p:nvPr/>
          </p:nvSpPr>
          <p:spPr>
            <a:xfrm>
              <a:off x="3530010" y="4420178"/>
              <a:ext cx="1499189" cy="113632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Map or reduce Task</a:t>
              </a:r>
              <a:endParaRPr lang="en-IN" dirty="0">
                <a:latin typeface="Bahnschrift" panose="020B0502040204020203" pitchFamily="34" charset="0"/>
              </a:endParaRPr>
            </a:p>
          </p:txBody>
        </p:sp>
        <p:sp>
          <p:nvSpPr>
            <p:cNvPr id="7" name="Rectangle 6">
              <a:extLst>
                <a:ext uri="{FF2B5EF4-FFF2-40B4-BE49-F238E27FC236}">
                  <a16:creationId xmlns:a16="http://schemas.microsoft.com/office/drawing/2014/main" id="{8FDAFE31-8F54-45A1-881D-59D8A22C7821}"/>
                </a:ext>
              </a:extLst>
            </p:cNvPr>
            <p:cNvSpPr/>
            <p:nvPr/>
          </p:nvSpPr>
          <p:spPr>
            <a:xfrm>
              <a:off x="3418367" y="2620536"/>
              <a:ext cx="1499189" cy="1136320"/>
            </a:xfrm>
            <a:prstGeom prst="rect">
              <a:avLst/>
            </a:prstGeom>
            <a:solidFill>
              <a:schemeClr val="accent2">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Task Tracker</a:t>
              </a:r>
              <a:endParaRPr lang="en-IN" dirty="0">
                <a:latin typeface="Bahnschrift" panose="020B0502040204020203" pitchFamily="34" charset="0"/>
              </a:endParaRPr>
            </a:p>
          </p:txBody>
        </p:sp>
        <p:cxnSp>
          <p:nvCxnSpPr>
            <p:cNvPr id="9" name="Straight Arrow Connector 8">
              <a:extLst>
                <a:ext uri="{FF2B5EF4-FFF2-40B4-BE49-F238E27FC236}">
                  <a16:creationId xmlns:a16="http://schemas.microsoft.com/office/drawing/2014/main" id="{6539AC0F-465C-4129-87E1-D8365F65A309}"/>
                </a:ext>
              </a:extLst>
            </p:cNvPr>
            <p:cNvCxnSpPr>
              <a:stCxn id="7" idx="2"/>
            </p:cNvCxnSpPr>
            <p:nvPr/>
          </p:nvCxnSpPr>
          <p:spPr>
            <a:xfrm flipH="1">
              <a:off x="4167961" y="3756856"/>
              <a:ext cx="1" cy="42174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CEF94F9-4904-4A86-A527-1973C55248F0}"/>
                </a:ext>
              </a:extLst>
            </p:cNvPr>
            <p:cNvSpPr/>
            <p:nvPr/>
          </p:nvSpPr>
          <p:spPr>
            <a:xfrm>
              <a:off x="4524152" y="3797604"/>
              <a:ext cx="1499188" cy="34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Report Error</a:t>
              </a:r>
              <a:endParaRPr lang="en-IN" dirty="0">
                <a:solidFill>
                  <a:schemeClr val="tx1"/>
                </a:solidFill>
                <a:latin typeface="Bahnschrift" panose="020B0502040204020203" pitchFamily="34" charset="0"/>
              </a:endParaRPr>
            </a:p>
          </p:txBody>
        </p:sp>
      </p:grpSp>
      <p:grpSp>
        <p:nvGrpSpPr>
          <p:cNvPr id="24" name="Group 23">
            <a:extLst>
              <a:ext uri="{FF2B5EF4-FFF2-40B4-BE49-F238E27FC236}">
                <a16:creationId xmlns:a16="http://schemas.microsoft.com/office/drawing/2014/main" id="{41645338-ADFE-4472-AB9E-37F9D3DC825F}"/>
              </a:ext>
            </a:extLst>
          </p:cNvPr>
          <p:cNvGrpSpPr/>
          <p:nvPr/>
        </p:nvGrpSpPr>
        <p:grpSpPr>
          <a:xfrm>
            <a:off x="2800354" y="1290879"/>
            <a:ext cx="5595501" cy="1347997"/>
            <a:chOff x="1145663" y="1395786"/>
            <a:chExt cx="6422065" cy="1271270"/>
          </a:xfrm>
        </p:grpSpPr>
        <p:sp>
          <p:nvSpPr>
            <p:cNvPr id="12" name="Rectangle 11">
              <a:extLst>
                <a:ext uri="{FF2B5EF4-FFF2-40B4-BE49-F238E27FC236}">
                  <a16:creationId xmlns:a16="http://schemas.microsoft.com/office/drawing/2014/main" id="{1BA1F06F-9AC5-47B5-9B1D-8706ABD313C8}"/>
                </a:ext>
              </a:extLst>
            </p:cNvPr>
            <p:cNvSpPr/>
            <p:nvPr/>
          </p:nvSpPr>
          <p:spPr>
            <a:xfrm>
              <a:off x="1145663" y="1395786"/>
              <a:ext cx="6422065" cy="127127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3" name="Rectangle 12">
              <a:extLst>
                <a:ext uri="{FF2B5EF4-FFF2-40B4-BE49-F238E27FC236}">
                  <a16:creationId xmlns:a16="http://schemas.microsoft.com/office/drawing/2014/main" id="{5B5E329E-5782-4CD5-AB08-338177441B5A}"/>
                </a:ext>
              </a:extLst>
            </p:cNvPr>
            <p:cNvSpPr/>
            <p:nvPr/>
          </p:nvSpPr>
          <p:spPr>
            <a:xfrm>
              <a:off x="1321100" y="1493130"/>
              <a:ext cx="5890437" cy="88956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77DA1DBD-2C60-4ADE-AE0F-5CA352D98A5B}"/>
                </a:ext>
              </a:extLst>
            </p:cNvPr>
            <p:cNvSpPr/>
            <p:nvPr/>
          </p:nvSpPr>
          <p:spPr>
            <a:xfrm>
              <a:off x="1536412" y="1604430"/>
              <a:ext cx="1477926" cy="628389"/>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Job Tracker</a:t>
              </a:r>
              <a:endParaRPr lang="en-IN" dirty="0">
                <a:solidFill>
                  <a:schemeClr val="tx1"/>
                </a:solidFill>
                <a:latin typeface="Bahnschrift" panose="020B0502040204020203" pitchFamily="34" charset="0"/>
              </a:endParaRPr>
            </a:p>
          </p:txBody>
        </p:sp>
        <p:sp>
          <p:nvSpPr>
            <p:cNvPr id="21" name="Rectangle 20">
              <a:extLst>
                <a:ext uri="{FF2B5EF4-FFF2-40B4-BE49-F238E27FC236}">
                  <a16:creationId xmlns:a16="http://schemas.microsoft.com/office/drawing/2014/main" id="{C63B68B5-D7DC-49BF-8198-D0D121D54AF2}"/>
                </a:ext>
              </a:extLst>
            </p:cNvPr>
            <p:cNvSpPr/>
            <p:nvPr/>
          </p:nvSpPr>
          <p:spPr>
            <a:xfrm>
              <a:off x="2722822" y="2383670"/>
              <a:ext cx="3391786" cy="2206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Bahnschrift" panose="020B0502040204020203" pitchFamily="34" charset="0"/>
                </a:rPr>
                <a:t>Job Tracker Node</a:t>
              </a:r>
              <a:endParaRPr lang="en-IN" sz="2000" dirty="0">
                <a:solidFill>
                  <a:schemeClr val="tx1"/>
                </a:solidFill>
                <a:latin typeface="Bahnschrift" panose="020B0502040204020203" pitchFamily="34" charset="0"/>
              </a:endParaRPr>
            </a:p>
          </p:txBody>
        </p:sp>
      </p:grpSp>
      <p:sp>
        <p:nvSpPr>
          <p:cNvPr id="22" name="Rectangle 21">
            <a:extLst>
              <a:ext uri="{FF2B5EF4-FFF2-40B4-BE49-F238E27FC236}">
                <a16:creationId xmlns:a16="http://schemas.microsoft.com/office/drawing/2014/main" id="{F942A8D3-749A-4275-9F0F-BC46995453FA}"/>
              </a:ext>
            </a:extLst>
          </p:cNvPr>
          <p:cNvSpPr/>
          <p:nvPr/>
        </p:nvSpPr>
        <p:spPr>
          <a:xfrm>
            <a:off x="2626245" y="2601814"/>
            <a:ext cx="1295013" cy="5575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Bahnschrift" panose="020B0502040204020203" pitchFamily="34" charset="0"/>
              </a:rPr>
              <a:t>Heart Beats</a:t>
            </a:r>
            <a:endParaRPr lang="en-IN" sz="1600" dirty="0">
              <a:solidFill>
                <a:schemeClr val="tx1"/>
              </a:solidFill>
              <a:latin typeface="Bahnschrift" panose="020B0502040204020203" pitchFamily="34" charset="0"/>
            </a:endParaRPr>
          </a:p>
        </p:txBody>
      </p:sp>
      <p:cxnSp>
        <p:nvCxnSpPr>
          <p:cNvPr id="16" name="Straight Arrow Connector 15">
            <a:extLst>
              <a:ext uri="{FF2B5EF4-FFF2-40B4-BE49-F238E27FC236}">
                <a16:creationId xmlns:a16="http://schemas.microsoft.com/office/drawing/2014/main" id="{4DC7DF8B-63DB-41EB-AE4E-CF664287EA20}"/>
              </a:ext>
            </a:extLst>
          </p:cNvPr>
          <p:cNvCxnSpPr>
            <a:cxnSpLocks/>
            <a:stCxn id="7" idx="0"/>
            <a:endCxn id="14" idx="2"/>
          </p:cNvCxnSpPr>
          <p:nvPr/>
        </p:nvCxnSpPr>
        <p:spPr>
          <a:xfrm flipH="1" flipV="1">
            <a:off x="3784665" y="2178431"/>
            <a:ext cx="873631" cy="92242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Multiplication Sign 1">
            <a:extLst>
              <a:ext uri="{FF2B5EF4-FFF2-40B4-BE49-F238E27FC236}">
                <a16:creationId xmlns:a16="http://schemas.microsoft.com/office/drawing/2014/main" id="{66603E15-A1DA-4748-829A-35B896A8E58A}"/>
              </a:ext>
            </a:extLst>
          </p:cNvPr>
          <p:cNvSpPr/>
          <p:nvPr/>
        </p:nvSpPr>
        <p:spPr>
          <a:xfrm>
            <a:off x="3325240" y="4573132"/>
            <a:ext cx="3112681" cy="1708760"/>
          </a:xfrm>
          <a:prstGeom prst="mathMultiply">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cxnSp>
        <p:nvCxnSpPr>
          <p:cNvPr id="17" name="Straight Arrow Connector 16">
            <a:extLst>
              <a:ext uri="{FF2B5EF4-FFF2-40B4-BE49-F238E27FC236}">
                <a16:creationId xmlns:a16="http://schemas.microsoft.com/office/drawing/2014/main" id="{5B047162-F878-4441-B12C-413E27E68B62}"/>
              </a:ext>
            </a:extLst>
          </p:cNvPr>
          <p:cNvCxnSpPr/>
          <p:nvPr/>
        </p:nvCxnSpPr>
        <p:spPr>
          <a:xfrm flipV="1">
            <a:off x="4881581" y="4216447"/>
            <a:ext cx="0" cy="390575"/>
          </a:xfrm>
          <a:prstGeom prst="straightConnector1">
            <a:avLst/>
          </a:prstGeom>
          <a:ln w="38100">
            <a:solidFill>
              <a:srgbClr val="44525A"/>
            </a:solidFill>
            <a:tailEnd type="triangle"/>
          </a:ln>
        </p:spPr>
        <p:style>
          <a:lnRef idx="1">
            <a:schemeClr val="accent1"/>
          </a:lnRef>
          <a:fillRef idx="0">
            <a:schemeClr val="accent1"/>
          </a:fillRef>
          <a:effectRef idx="0">
            <a:schemeClr val="accent1"/>
          </a:effectRef>
          <a:fontRef idx="minor">
            <a:schemeClr val="tx1"/>
          </a:fontRef>
        </p:style>
      </p:cxnSp>
      <p:sp>
        <p:nvSpPr>
          <p:cNvPr id="18" name="Flowchart: Magnetic Disk 17">
            <a:extLst>
              <a:ext uri="{FF2B5EF4-FFF2-40B4-BE49-F238E27FC236}">
                <a16:creationId xmlns:a16="http://schemas.microsoft.com/office/drawing/2014/main" id="{11C9E041-EC89-4CBE-B0E0-63F7BA28D802}"/>
              </a:ext>
            </a:extLst>
          </p:cNvPr>
          <p:cNvSpPr/>
          <p:nvPr/>
        </p:nvSpPr>
        <p:spPr>
          <a:xfrm>
            <a:off x="6673551" y="3329543"/>
            <a:ext cx="1626780" cy="678950"/>
          </a:xfrm>
          <a:prstGeom prst="flowChartMagneticDisk">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00" dirty="0">
                <a:solidFill>
                  <a:schemeClr val="tx1"/>
                </a:solidFill>
                <a:latin typeface="Bahnschrift" panose="020B0502040204020203" pitchFamily="34" charset="0"/>
              </a:rPr>
              <a:t>User Logs</a:t>
            </a:r>
            <a:endParaRPr lang="en-IN" sz="2100" dirty="0">
              <a:solidFill>
                <a:schemeClr val="tx1"/>
              </a:solidFill>
              <a:latin typeface="Bahnschrift" panose="020B0502040204020203" pitchFamily="34" charset="0"/>
            </a:endParaRPr>
          </a:p>
        </p:txBody>
      </p:sp>
      <p:cxnSp>
        <p:nvCxnSpPr>
          <p:cNvPr id="20" name="Straight Arrow Connector 19">
            <a:extLst>
              <a:ext uri="{FF2B5EF4-FFF2-40B4-BE49-F238E27FC236}">
                <a16:creationId xmlns:a16="http://schemas.microsoft.com/office/drawing/2014/main" id="{FBCFC563-4504-4B40-A965-7EAFE9DA9C03}"/>
              </a:ext>
            </a:extLst>
          </p:cNvPr>
          <p:cNvCxnSpPr>
            <a:cxnSpLocks/>
            <a:stCxn id="7" idx="3"/>
          </p:cNvCxnSpPr>
          <p:nvPr/>
        </p:nvCxnSpPr>
        <p:spPr>
          <a:xfrm>
            <a:off x="5407890" y="3669018"/>
            <a:ext cx="1365786" cy="0"/>
          </a:xfrm>
          <a:prstGeom prst="straightConnector1">
            <a:avLst/>
          </a:prstGeom>
          <a:ln w="38100">
            <a:solidFill>
              <a:srgbClr val="44525A"/>
            </a:solidFill>
            <a:tailEnd type="triangle"/>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AABD314F-8810-4262-AAEC-9902F80C707B}"/>
              </a:ext>
            </a:extLst>
          </p:cNvPr>
          <p:cNvGrpSpPr/>
          <p:nvPr/>
        </p:nvGrpSpPr>
        <p:grpSpPr>
          <a:xfrm>
            <a:off x="331347" y="3039157"/>
            <a:ext cx="2695114" cy="3659356"/>
            <a:chOff x="3062177" y="2391195"/>
            <a:chExt cx="2884624" cy="3912783"/>
          </a:xfrm>
        </p:grpSpPr>
        <p:sp>
          <p:nvSpPr>
            <p:cNvPr id="26" name="Rectangle 25">
              <a:extLst>
                <a:ext uri="{FF2B5EF4-FFF2-40B4-BE49-F238E27FC236}">
                  <a16:creationId xmlns:a16="http://schemas.microsoft.com/office/drawing/2014/main" id="{8B463EF7-B163-48EC-B97E-02A4C8D2806B}"/>
                </a:ext>
              </a:extLst>
            </p:cNvPr>
            <p:cNvSpPr/>
            <p:nvPr/>
          </p:nvSpPr>
          <p:spPr>
            <a:xfrm>
              <a:off x="3062177" y="2391195"/>
              <a:ext cx="2658140" cy="3912783"/>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28" name="Rectangle 27">
              <a:extLst>
                <a:ext uri="{FF2B5EF4-FFF2-40B4-BE49-F238E27FC236}">
                  <a16:creationId xmlns:a16="http://schemas.microsoft.com/office/drawing/2014/main" id="{7003641D-00B7-4388-A41E-3DD0BF2B63B3}"/>
                </a:ext>
              </a:extLst>
            </p:cNvPr>
            <p:cNvSpPr/>
            <p:nvPr/>
          </p:nvSpPr>
          <p:spPr>
            <a:xfrm>
              <a:off x="3237614" y="4147431"/>
              <a:ext cx="2083982" cy="15995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latin typeface="Bahnschrift" panose="020B0502040204020203" pitchFamily="34" charset="0"/>
                </a:rPr>
                <a:t>Child JVM</a:t>
              </a:r>
              <a:endParaRPr lang="en-IN" dirty="0">
                <a:solidFill>
                  <a:schemeClr val="tx1"/>
                </a:solidFill>
                <a:latin typeface="Bahnschrift" panose="020B0502040204020203" pitchFamily="34" charset="0"/>
              </a:endParaRPr>
            </a:p>
          </p:txBody>
        </p:sp>
        <p:sp>
          <p:nvSpPr>
            <p:cNvPr id="29" name="Rectangle 28">
              <a:extLst>
                <a:ext uri="{FF2B5EF4-FFF2-40B4-BE49-F238E27FC236}">
                  <a16:creationId xmlns:a16="http://schemas.microsoft.com/office/drawing/2014/main" id="{FB55D9DA-FC21-4DCA-BB1A-2711F88057D4}"/>
                </a:ext>
              </a:extLst>
            </p:cNvPr>
            <p:cNvSpPr/>
            <p:nvPr/>
          </p:nvSpPr>
          <p:spPr>
            <a:xfrm>
              <a:off x="3530010" y="4420178"/>
              <a:ext cx="1499189" cy="113632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Map or reduce Task</a:t>
              </a:r>
              <a:endParaRPr lang="en-IN" dirty="0">
                <a:latin typeface="Bahnschrift" panose="020B0502040204020203" pitchFamily="34" charset="0"/>
              </a:endParaRPr>
            </a:p>
          </p:txBody>
        </p:sp>
        <p:sp>
          <p:nvSpPr>
            <p:cNvPr id="30" name="Rectangle 29">
              <a:extLst>
                <a:ext uri="{FF2B5EF4-FFF2-40B4-BE49-F238E27FC236}">
                  <a16:creationId xmlns:a16="http://schemas.microsoft.com/office/drawing/2014/main" id="{A0F0D4B1-D3F9-4A95-9562-8FB1A3C3A85F}"/>
                </a:ext>
              </a:extLst>
            </p:cNvPr>
            <p:cNvSpPr/>
            <p:nvPr/>
          </p:nvSpPr>
          <p:spPr>
            <a:xfrm>
              <a:off x="3418367" y="2620536"/>
              <a:ext cx="1499189" cy="1136320"/>
            </a:xfrm>
            <a:prstGeom prst="rect">
              <a:avLst/>
            </a:prstGeom>
            <a:solidFill>
              <a:schemeClr val="accent2">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Task Tracker</a:t>
              </a:r>
              <a:endParaRPr lang="en-IN" dirty="0">
                <a:latin typeface="Bahnschrift" panose="020B0502040204020203" pitchFamily="34" charset="0"/>
              </a:endParaRPr>
            </a:p>
          </p:txBody>
        </p:sp>
        <p:cxnSp>
          <p:nvCxnSpPr>
            <p:cNvPr id="31" name="Straight Arrow Connector 30">
              <a:extLst>
                <a:ext uri="{FF2B5EF4-FFF2-40B4-BE49-F238E27FC236}">
                  <a16:creationId xmlns:a16="http://schemas.microsoft.com/office/drawing/2014/main" id="{7CBB4D7E-5F5D-4C47-8CCC-9C1C1A20FE7D}"/>
                </a:ext>
              </a:extLst>
            </p:cNvPr>
            <p:cNvCxnSpPr>
              <a:stCxn id="30" idx="2"/>
            </p:cNvCxnSpPr>
            <p:nvPr/>
          </p:nvCxnSpPr>
          <p:spPr>
            <a:xfrm flipH="1">
              <a:off x="4167961" y="3756856"/>
              <a:ext cx="1" cy="42174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850BE09F-07ED-4C05-9A9F-533CC79729CA}"/>
                </a:ext>
              </a:extLst>
            </p:cNvPr>
            <p:cNvSpPr/>
            <p:nvPr/>
          </p:nvSpPr>
          <p:spPr>
            <a:xfrm>
              <a:off x="4103361" y="3678558"/>
              <a:ext cx="1843440" cy="5276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Report Error</a:t>
              </a:r>
              <a:endParaRPr lang="en-IN" dirty="0">
                <a:solidFill>
                  <a:schemeClr val="tx1"/>
                </a:solidFill>
                <a:latin typeface="Bahnschrift" panose="020B0502040204020203" pitchFamily="34" charset="0"/>
              </a:endParaRPr>
            </a:p>
          </p:txBody>
        </p:sp>
      </p:grpSp>
      <p:cxnSp>
        <p:nvCxnSpPr>
          <p:cNvPr id="33" name="Straight Arrow Connector 32">
            <a:extLst>
              <a:ext uri="{FF2B5EF4-FFF2-40B4-BE49-F238E27FC236}">
                <a16:creationId xmlns:a16="http://schemas.microsoft.com/office/drawing/2014/main" id="{D24E9A65-B8C0-4FBC-82C7-2D18726827D8}"/>
              </a:ext>
            </a:extLst>
          </p:cNvPr>
          <p:cNvCxnSpPr/>
          <p:nvPr/>
        </p:nvCxnSpPr>
        <p:spPr>
          <a:xfrm flipH="1">
            <a:off x="1977656" y="2178431"/>
            <a:ext cx="1807008" cy="98097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BA7FACD0-B4D8-41BD-898F-B14E3A1490D1}"/>
              </a:ext>
            </a:extLst>
          </p:cNvPr>
          <p:cNvSpPr/>
          <p:nvPr/>
        </p:nvSpPr>
        <p:spPr>
          <a:xfrm>
            <a:off x="6513674" y="4607022"/>
            <a:ext cx="2513368" cy="1942632"/>
          </a:xfrm>
          <a:prstGeom prst="rect">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And job tracker reschedules the execution of the failed task on a different task tracker. </a:t>
            </a:r>
          </a:p>
        </p:txBody>
      </p:sp>
    </p:spTree>
    <p:extLst>
      <p:ext uri="{BB962C8B-B14F-4D97-AF65-F5344CB8AC3E}">
        <p14:creationId xmlns:p14="http://schemas.microsoft.com/office/powerpoint/2010/main" val="13623259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DF980A-8D6C-4BE4-8369-4D0B35B92EA5}"/>
              </a:ext>
            </a:extLst>
          </p:cNvPr>
          <p:cNvSpPr>
            <a:spLocks noGrp="1"/>
          </p:cNvSpPr>
          <p:nvPr>
            <p:ph type="title"/>
          </p:nvPr>
        </p:nvSpPr>
        <p:spPr/>
        <p:txBody>
          <a:bodyPr vert="horz" lIns="91440" tIns="45720" rIns="91440" bIns="45720" rtlCol="0" anchor="ctr">
            <a:noAutofit/>
          </a:bodyPr>
          <a:lstStyle/>
          <a:p>
            <a:r>
              <a:rPr lang="en-IN" dirty="0"/>
              <a:t>Failures in Classic Map-reduce</a:t>
            </a:r>
          </a:p>
        </p:txBody>
      </p:sp>
      <p:grpSp>
        <p:nvGrpSpPr>
          <p:cNvPr id="11" name="Group 10">
            <a:extLst>
              <a:ext uri="{FF2B5EF4-FFF2-40B4-BE49-F238E27FC236}">
                <a16:creationId xmlns:a16="http://schemas.microsoft.com/office/drawing/2014/main" id="{9009387E-E3CB-4E43-9322-240748E425B8}"/>
              </a:ext>
            </a:extLst>
          </p:cNvPr>
          <p:cNvGrpSpPr/>
          <p:nvPr/>
        </p:nvGrpSpPr>
        <p:grpSpPr>
          <a:xfrm>
            <a:off x="3051048" y="3031299"/>
            <a:ext cx="2961163" cy="3912783"/>
            <a:chOff x="3062177" y="2391195"/>
            <a:chExt cx="2961163" cy="3912783"/>
          </a:xfrm>
        </p:grpSpPr>
        <p:sp>
          <p:nvSpPr>
            <p:cNvPr id="4" name="Rectangle 3">
              <a:extLst>
                <a:ext uri="{FF2B5EF4-FFF2-40B4-BE49-F238E27FC236}">
                  <a16:creationId xmlns:a16="http://schemas.microsoft.com/office/drawing/2014/main" id="{9DB163A9-200A-4577-9A1E-450C51AD39FC}"/>
                </a:ext>
              </a:extLst>
            </p:cNvPr>
            <p:cNvSpPr/>
            <p:nvPr/>
          </p:nvSpPr>
          <p:spPr>
            <a:xfrm>
              <a:off x="3062177" y="2391195"/>
              <a:ext cx="2658140" cy="3912783"/>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5" name="Rectangle 4">
              <a:extLst>
                <a:ext uri="{FF2B5EF4-FFF2-40B4-BE49-F238E27FC236}">
                  <a16:creationId xmlns:a16="http://schemas.microsoft.com/office/drawing/2014/main" id="{3A45F569-48B8-4CF8-A8A3-7C6E0D14EA11}"/>
                </a:ext>
              </a:extLst>
            </p:cNvPr>
            <p:cNvSpPr/>
            <p:nvPr/>
          </p:nvSpPr>
          <p:spPr>
            <a:xfrm>
              <a:off x="3237614" y="4147431"/>
              <a:ext cx="2083982" cy="15995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latin typeface="Bahnschrift" panose="020B0502040204020203" pitchFamily="34" charset="0"/>
                </a:rPr>
                <a:t>Child JVM</a:t>
              </a:r>
              <a:endParaRPr lang="en-IN" dirty="0">
                <a:solidFill>
                  <a:schemeClr val="tx1"/>
                </a:solidFill>
                <a:latin typeface="Bahnschrift" panose="020B0502040204020203" pitchFamily="34" charset="0"/>
              </a:endParaRPr>
            </a:p>
          </p:txBody>
        </p:sp>
        <p:sp>
          <p:nvSpPr>
            <p:cNvPr id="6" name="Rectangle 5">
              <a:extLst>
                <a:ext uri="{FF2B5EF4-FFF2-40B4-BE49-F238E27FC236}">
                  <a16:creationId xmlns:a16="http://schemas.microsoft.com/office/drawing/2014/main" id="{BB0F663C-64F5-43DA-99BA-F66A48A4170A}"/>
                </a:ext>
              </a:extLst>
            </p:cNvPr>
            <p:cNvSpPr/>
            <p:nvPr/>
          </p:nvSpPr>
          <p:spPr>
            <a:xfrm>
              <a:off x="3530010" y="4420178"/>
              <a:ext cx="1499189" cy="113632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Map or reduce Task</a:t>
              </a:r>
              <a:endParaRPr lang="en-IN" dirty="0">
                <a:latin typeface="Bahnschrift" panose="020B0502040204020203" pitchFamily="34" charset="0"/>
              </a:endParaRPr>
            </a:p>
          </p:txBody>
        </p:sp>
        <p:sp>
          <p:nvSpPr>
            <p:cNvPr id="7" name="Rectangle 6">
              <a:extLst>
                <a:ext uri="{FF2B5EF4-FFF2-40B4-BE49-F238E27FC236}">
                  <a16:creationId xmlns:a16="http://schemas.microsoft.com/office/drawing/2014/main" id="{8FDAFE31-8F54-45A1-881D-59D8A22C7821}"/>
                </a:ext>
              </a:extLst>
            </p:cNvPr>
            <p:cNvSpPr/>
            <p:nvPr/>
          </p:nvSpPr>
          <p:spPr>
            <a:xfrm>
              <a:off x="3418367" y="2620536"/>
              <a:ext cx="1499189" cy="1136320"/>
            </a:xfrm>
            <a:prstGeom prst="rect">
              <a:avLst/>
            </a:prstGeom>
            <a:solidFill>
              <a:schemeClr val="accent2">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Task Tracker</a:t>
              </a:r>
              <a:endParaRPr lang="en-IN" dirty="0">
                <a:latin typeface="Bahnschrift" panose="020B0502040204020203" pitchFamily="34" charset="0"/>
              </a:endParaRPr>
            </a:p>
          </p:txBody>
        </p:sp>
        <p:cxnSp>
          <p:nvCxnSpPr>
            <p:cNvPr id="9" name="Straight Arrow Connector 8">
              <a:extLst>
                <a:ext uri="{FF2B5EF4-FFF2-40B4-BE49-F238E27FC236}">
                  <a16:creationId xmlns:a16="http://schemas.microsoft.com/office/drawing/2014/main" id="{6539AC0F-465C-4129-87E1-D8365F65A309}"/>
                </a:ext>
              </a:extLst>
            </p:cNvPr>
            <p:cNvCxnSpPr>
              <a:stCxn id="7" idx="2"/>
            </p:cNvCxnSpPr>
            <p:nvPr/>
          </p:nvCxnSpPr>
          <p:spPr>
            <a:xfrm flipH="1">
              <a:off x="4167961" y="3756856"/>
              <a:ext cx="1" cy="42174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CEF94F9-4904-4A86-A527-1973C55248F0}"/>
                </a:ext>
              </a:extLst>
            </p:cNvPr>
            <p:cNvSpPr/>
            <p:nvPr/>
          </p:nvSpPr>
          <p:spPr>
            <a:xfrm>
              <a:off x="4524152" y="3797604"/>
              <a:ext cx="1499188" cy="34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Report Error</a:t>
              </a:r>
              <a:endParaRPr lang="en-IN" dirty="0">
                <a:solidFill>
                  <a:schemeClr val="tx1"/>
                </a:solidFill>
                <a:latin typeface="Bahnschrift" panose="020B0502040204020203" pitchFamily="34" charset="0"/>
              </a:endParaRPr>
            </a:p>
          </p:txBody>
        </p:sp>
      </p:grpSp>
      <p:grpSp>
        <p:nvGrpSpPr>
          <p:cNvPr id="24" name="Group 23">
            <a:extLst>
              <a:ext uri="{FF2B5EF4-FFF2-40B4-BE49-F238E27FC236}">
                <a16:creationId xmlns:a16="http://schemas.microsoft.com/office/drawing/2014/main" id="{41645338-ADFE-4472-AB9E-37F9D3DC825F}"/>
              </a:ext>
            </a:extLst>
          </p:cNvPr>
          <p:cNvGrpSpPr/>
          <p:nvPr/>
        </p:nvGrpSpPr>
        <p:grpSpPr>
          <a:xfrm>
            <a:off x="2800354" y="1290879"/>
            <a:ext cx="5595501" cy="1347997"/>
            <a:chOff x="1145663" y="1395786"/>
            <a:chExt cx="6422065" cy="1271270"/>
          </a:xfrm>
        </p:grpSpPr>
        <p:sp>
          <p:nvSpPr>
            <p:cNvPr id="12" name="Rectangle 11">
              <a:extLst>
                <a:ext uri="{FF2B5EF4-FFF2-40B4-BE49-F238E27FC236}">
                  <a16:creationId xmlns:a16="http://schemas.microsoft.com/office/drawing/2014/main" id="{1BA1F06F-9AC5-47B5-9B1D-8706ABD313C8}"/>
                </a:ext>
              </a:extLst>
            </p:cNvPr>
            <p:cNvSpPr/>
            <p:nvPr/>
          </p:nvSpPr>
          <p:spPr>
            <a:xfrm>
              <a:off x="1145663" y="1395786"/>
              <a:ext cx="6422065" cy="127127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13" name="Rectangle 12">
              <a:extLst>
                <a:ext uri="{FF2B5EF4-FFF2-40B4-BE49-F238E27FC236}">
                  <a16:creationId xmlns:a16="http://schemas.microsoft.com/office/drawing/2014/main" id="{5B5E329E-5782-4CD5-AB08-338177441B5A}"/>
                </a:ext>
              </a:extLst>
            </p:cNvPr>
            <p:cNvSpPr/>
            <p:nvPr/>
          </p:nvSpPr>
          <p:spPr>
            <a:xfrm>
              <a:off x="1321100" y="1493130"/>
              <a:ext cx="5890437" cy="88956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14" name="Rectangle 13">
              <a:extLst>
                <a:ext uri="{FF2B5EF4-FFF2-40B4-BE49-F238E27FC236}">
                  <a16:creationId xmlns:a16="http://schemas.microsoft.com/office/drawing/2014/main" id="{77DA1DBD-2C60-4ADE-AE0F-5CA352D98A5B}"/>
                </a:ext>
              </a:extLst>
            </p:cNvPr>
            <p:cNvSpPr/>
            <p:nvPr/>
          </p:nvSpPr>
          <p:spPr>
            <a:xfrm>
              <a:off x="1536412" y="1604430"/>
              <a:ext cx="1477926" cy="628389"/>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Job Tracker</a:t>
              </a:r>
              <a:endParaRPr lang="en-IN" dirty="0">
                <a:solidFill>
                  <a:schemeClr val="tx1"/>
                </a:solidFill>
                <a:latin typeface="Bahnschrift" panose="020B0502040204020203" pitchFamily="34" charset="0"/>
              </a:endParaRPr>
            </a:p>
          </p:txBody>
        </p:sp>
        <p:sp>
          <p:nvSpPr>
            <p:cNvPr id="21" name="Rectangle 20">
              <a:extLst>
                <a:ext uri="{FF2B5EF4-FFF2-40B4-BE49-F238E27FC236}">
                  <a16:creationId xmlns:a16="http://schemas.microsoft.com/office/drawing/2014/main" id="{C63B68B5-D7DC-49BF-8198-D0D121D54AF2}"/>
                </a:ext>
              </a:extLst>
            </p:cNvPr>
            <p:cNvSpPr/>
            <p:nvPr/>
          </p:nvSpPr>
          <p:spPr>
            <a:xfrm>
              <a:off x="2722822" y="2383670"/>
              <a:ext cx="3391786" cy="2206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Bahnschrift" panose="020B0502040204020203" pitchFamily="34" charset="0"/>
                </a:rPr>
                <a:t>Job Tracker Node</a:t>
              </a:r>
              <a:endParaRPr lang="en-IN" sz="2000" dirty="0">
                <a:solidFill>
                  <a:schemeClr val="tx1"/>
                </a:solidFill>
                <a:latin typeface="Bahnschrift" panose="020B0502040204020203" pitchFamily="34" charset="0"/>
              </a:endParaRPr>
            </a:p>
          </p:txBody>
        </p:sp>
      </p:grpSp>
      <p:sp>
        <p:nvSpPr>
          <p:cNvPr id="22" name="Rectangle 21">
            <a:extLst>
              <a:ext uri="{FF2B5EF4-FFF2-40B4-BE49-F238E27FC236}">
                <a16:creationId xmlns:a16="http://schemas.microsoft.com/office/drawing/2014/main" id="{F942A8D3-749A-4275-9F0F-BC46995453FA}"/>
              </a:ext>
            </a:extLst>
          </p:cNvPr>
          <p:cNvSpPr/>
          <p:nvPr/>
        </p:nvSpPr>
        <p:spPr>
          <a:xfrm>
            <a:off x="2626245" y="2601814"/>
            <a:ext cx="1295013" cy="5575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Bahnschrift" panose="020B0502040204020203" pitchFamily="34" charset="0"/>
              </a:rPr>
              <a:t>Heart Beats</a:t>
            </a:r>
            <a:endParaRPr lang="en-IN" sz="1600" dirty="0">
              <a:solidFill>
                <a:schemeClr val="tx1"/>
              </a:solidFill>
              <a:latin typeface="Bahnschrift" panose="020B0502040204020203" pitchFamily="34" charset="0"/>
            </a:endParaRPr>
          </a:p>
        </p:txBody>
      </p:sp>
      <p:cxnSp>
        <p:nvCxnSpPr>
          <p:cNvPr id="16" name="Straight Arrow Connector 15">
            <a:extLst>
              <a:ext uri="{FF2B5EF4-FFF2-40B4-BE49-F238E27FC236}">
                <a16:creationId xmlns:a16="http://schemas.microsoft.com/office/drawing/2014/main" id="{4DC7DF8B-63DB-41EB-AE4E-CF664287EA20}"/>
              </a:ext>
            </a:extLst>
          </p:cNvPr>
          <p:cNvCxnSpPr>
            <a:cxnSpLocks/>
            <a:stCxn id="7" idx="0"/>
            <a:endCxn id="14" idx="2"/>
          </p:cNvCxnSpPr>
          <p:nvPr/>
        </p:nvCxnSpPr>
        <p:spPr>
          <a:xfrm flipH="1" flipV="1">
            <a:off x="3784665" y="2178431"/>
            <a:ext cx="372168" cy="108220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Multiplication Sign 1">
            <a:extLst>
              <a:ext uri="{FF2B5EF4-FFF2-40B4-BE49-F238E27FC236}">
                <a16:creationId xmlns:a16="http://schemas.microsoft.com/office/drawing/2014/main" id="{66603E15-A1DA-4748-829A-35B896A8E58A}"/>
              </a:ext>
            </a:extLst>
          </p:cNvPr>
          <p:cNvSpPr/>
          <p:nvPr/>
        </p:nvSpPr>
        <p:spPr>
          <a:xfrm>
            <a:off x="2716028" y="4732504"/>
            <a:ext cx="3112681" cy="1708760"/>
          </a:xfrm>
          <a:prstGeom prst="mathMultiply">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cxnSp>
        <p:nvCxnSpPr>
          <p:cNvPr id="17" name="Straight Arrow Connector 16">
            <a:extLst>
              <a:ext uri="{FF2B5EF4-FFF2-40B4-BE49-F238E27FC236}">
                <a16:creationId xmlns:a16="http://schemas.microsoft.com/office/drawing/2014/main" id="{5B047162-F878-4441-B12C-413E27E68B62}"/>
              </a:ext>
            </a:extLst>
          </p:cNvPr>
          <p:cNvCxnSpPr/>
          <p:nvPr/>
        </p:nvCxnSpPr>
        <p:spPr>
          <a:xfrm flipV="1">
            <a:off x="4881581" y="4216447"/>
            <a:ext cx="0" cy="390575"/>
          </a:xfrm>
          <a:prstGeom prst="straightConnector1">
            <a:avLst/>
          </a:prstGeom>
          <a:ln w="38100">
            <a:solidFill>
              <a:srgbClr val="44525A"/>
            </a:solidFill>
            <a:tailEnd type="triangle"/>
          </a:ln>
        </p:spPr>
        <p:style>
          <a:lnRef idx="1">
            <a:schemeClr val="accent1"/>
          </a:lnRef>
          <a:fillRef idx="0">
            <a:schemeClr val="accent1"/>
          </a:fillRef>
          <a:effectRef idx="0">
            <a:schemeClr val="accent1"/>
          </a:effectRef>
          <a:fontRef idx="minor">
            <a:schemeClr val="tx1"/>
          </a:fontRef>
        </p:style>
      </p:cxnSp>
      <p:sp>
        <p:nvSpPr>
          <p:cNvPr id="18" name="Flowchart: Magnetic Disk 17">
            <a:extLst>
              <a:ext uri="{FF2B5EF4-FFF2-40B4-BE49-F238E27FC236}">
                <a16:creationId xmlns:a16="http://schemas.microsoft.com/office/drawing/2014/main" id="{11C9E041-EC89-4CBE-B0E0-63F7BA28D802}"/>
              </a:ext>
            </a:extLst>
          </p:cNvPr>
          <p:cNvSpPr/>
          <p:nvPr/>
        </p:nvSpPr>
        <p:spPr>
          <a:xfrm>
            <a:off x="6673551" y="3329543"/>
            <a:ext cx="1626780" cy="678950"/>
          </a:xfrm>
          <a:prstGeom prst="flowChartMagneticDisk">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00" dirty="0">
                <a:solidFill>
                  <a:schemeClr val="tx1"/>
                </a:solidFill>
                <a:latin typeface="Bahnschrift" panose="020B0502040204020203" pitchFamily="34" charset="0"/>
              </a:rPr>
              <a:t>User Logs</a:t>
            </a:r>
            <a:endParaRPr lang="en-IN" sz="2100" dirty="0">
              <a:solidFill>
                <a:schemeClr val="tx1"/>
              </a:solidFill>
              <a:latin typeface="Bahnschrift" panose="020B0502040204020203" pitchFamily="34" charset="0"/>
            </a:endParaRPr>
          </a:p>
        </p:txBody>
      </p:sp>
      <p:cxnSp>
        <p:nvCxnSpPr>
          <p:cNvPr id="20" name="Straight Arrow Connector 19">
            <a:extLst>
              <a:ext uri="{FF2B5EF4-FFF2-40B4-BE49-F238E27FC236}">
                <a16:creationId xmlns:a16="http://schemas.microsoft.com/office/drawing/2014/main" id="{FBCFC563-4504-4B40-A965-7EAFE9DA9C03}"/>
              </a:ext>
            </a:extLst>
          </p:cNvPr>
          <p:cNvCxnSpPr>
            <a:cxnSpLocks/>
            <a:stCxn id="7" idx="3"/>
          </p:cNvCxnSpPr>
          <p:nvPr/>
        </p:nvCxnSpPr>
        <p:spPr>
          <a:xfrm>
            <a:off x="4906427" y="3828800"/>
            <a:ext cx="1365786" cy="0"/>
          </a:xfrm>
          <a:prstGeom prst="straightConnector1">
            <a:avLst/>
          </a:prstGeom>
          <a:ln w="38100">
            <a:solidFill>
              <a:srgbClr val="44525A"/>
            </a:solidFill>
            <a:tailEnd type="triangle"/>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AABD314F-8810-4262-AAEC-9902F80C707B}"/>
              </a:ext>
            </a:extLst>
          </p:cNvPr>
          <p:cNvGrpSpPr/>
          <p:nvPr/>
        </p:nvGrpSpPr>
        <p:grpSpPr>
          <a:xfrm>
            <a:off x="141741" y="3062259"/>
            <a:ext cx="2695114" cy="3659356"/>
            <a:chOff x="3062177" y="2391195"/>
            <a:chExt cx="2884624" cy="3912783"/>
          </a:xfrm>
        </p:grpSpPr>
        <p:sp>
          <p:nvSpPr>
            <p:cNvPr id="26" name="Rectangle 25">
              <a:extLst>
                <a:ext uri="{FF2B5EF4-FFF2-40B4-BE49-F238E27FC236}">
                  <a16:creationId xmlns:a16="http://schemas.microsoft.com/office/drawing/2014/main" id="{8B463EF7-B163-48EC-B97E-02A4C8D2806B}"/>
                </a:ext>
              </a:extLst>
            </p:cNvPr>
            <p:cNvSpPr/>
            <p:nvPr/>
          </p:nvSpPr>
          <p:spPr>
            <a:xfrm>
              <a:off x="3062177" y="2391195"/>
              <a:ext cx="2658140" cy="3912783"/>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28" name="Rectangle 27">
              <a:extLst>
                <a:ext uri="{FF2B5EF4-FFF2-40B4-BE49-F238E27FC236}">
                  <a16:creationId xmlns:a16="http://schemas.microsoft.com/office/drawing/2014/main" id="{7003641D-00B7-4388-A41E-3DD0BF2B63B3}"/>
                </a:ext>
              </a:extLst>
            </p:cNvPr>
            <p:cNvSpPr/>
            <p:nvPr/>
          </p:nvSpPr>
          <p:spPr>
            <a:xfrm>
              <a:off x="3237614" y="4147431"/>
              <a:ext cx="2083982" cy="15995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latin typeface="Bahnschrift" panose="020B0502040204020203" pitchFamily="34" charset="0"/>
                </a:rPr>
                <a:t>Child JVM</a:t>
              </a:r>
              <a:endParaRPr lang="en-IN" dirty="0">
                <a:solidFill>
                  <a:schemeClr val="tx1"/>
                </a:solidFill>
                <a:latin typeface="Bahnschrift" panose="020B0502040204020203" pitchFamily="34" charset="0"/>
              </a:endParaRPr>
            </a:p>
          </p:txBody>
        </p:sp>
        <p:sp>
          <p:nvSpPr>
            <p:cNvPr id="29" name="Rectangle 28">
              <a:extLst>
                <a:ext uri="{FF2B5EF4-FFF2-40B4-BE49-F238E27FC236}">
                  <a16:creationId xmlns:a16="http://schemas.microsoft.com/office/drawing/2014/main" id="{FB55D9DA-FC21-4DCA-BB1A-2711F88057D4}"/>
                </a:ext>
              </a:extLst>
            </p:cNvPr>
            <p:cNvSpPr/>
            <p:nvPr/>
          </p:nvSpPr>
          <p:spPr>
            <a:xfrm>
              <a:off x="3530010" y="4420178"/>
              <a:ext cx="1499189" cy="113632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Map or reduce Task</a:t>
              </a:r>
              <a:endParaRPr lang="en-IN" dirty="0">
                <a:latin typeface="Bahnschrift" panose="020B0502040204020203" pitchFamily="34" charset="0"/>
              </a:endParaRPr>
            </a:p>
          </p:txBody>
        </p:sp>
        <p:sp>
          <p:nvSpPr>
            <p:cNvPr id="30" name="Rectangle 29">
              <a:extLst>
                <a:ext uri="{FF2B5EF4-FFF2-40B4-BE49-F238E27FC236}">
                  <a16:creationId xmlns:a16="http://schemas.microsoft.com/office/drawing/2014/main" id="{A0F0D4B1-D3F9-4A95-9562-8FB1A3C3A85F}"/>
                </a:ext>
              </a:extLst>
            </p:cNvPr>
            <p:cNvSpPr/>
            <p:nvPr/>
          </p:nvSpPr>
          <p:spPr>
            <a:xfrm>
              <a:off x="3418367" y="2620536"/>
              <a:ext cx="1499189" cy="1136320"/>
            </a:xfrm>
            <a:prstGeom prst="rect">
              <a:avLst/>
            </a:prstGeom>
            <a:solidFill>
              <a:schemeClr val="accent2">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Task Tracker</a:t>
              </a:r>
              <a:endParaRPr lang="en-IN" dirty="0">
                <a:latin typeface="Bahnschrift" panose="020B0502040204020203" pitchFamily="34" charset="0"/>
              </a:endParaRPr>
            </a:p>
          </p:txBody>
        </p:sp>
        <p:cxnSp>
          <p:nvCxnSpPr>
            <p:cNvPr id="31" name="Straight Arrow Connector 30">
              <a:extLst>
                <a:ext uri="{FF2B5EF4-FFF2-40B4-BE49-F238E27FC236}">
                  <a16:creationId xmlns:a16="http://schemas.microsoft.com/office/drawing/2014/main" id="{7CBB4D7E-5F5D-4C47-8CCC-9C1C1A20FE7D}"/>
                </a:ext>
              </a:extLst>
            </p:cNvPr>
            <p:cNvCxnSpPr>
              <a:stCxn id="30" idx="2"/>
            </p:cNvCxnSpPr>
            <p:nvPr/>
          </p:nvCxnSpPr>
          <p:spPr>
            <a:xfrm flipH="1">
              <a:off x="4167961" y="3756856"/>
              <a:ext cx="1" cy="42174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850BE09F-07ED-4C05-9A9F-533CC79729CA}"/>
                </a:ext>
              </a:extLst>
            </p:cNvPr>
            <p:cNvSpPr/>
            <p:nvPr/>
          </p:nvSpPr>
          <p:spPr>
            <a:xfrm>
              <a:off x="4103361" y="3678558"/>
              <a:ext cx="1843440" cy="5276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Report Error</a:t>
              </a:r>
              <a:endParaRPr lang="en-IN" dirty="0">
                <a:solidFill>
                  <a:schemeClr val="tx1"/>
                </a:solidFill>
                <a:latin typeface="Bahnschrift" panose="020B0502040204020203" pitchFamily="34" charset="0"/>
              </a:endParaRPr>
            </a:p>
          </p:txBody>
        </p:sp>
      </p:grpSp>
      <p:cxnSp>
        <p:nvCxnSpPr>
          <p:cNvPr id="33" name="Straight Arrow Connector 32">
            <a:extLst>
              <a:ext uri="{FF2B5EF4-FFF2-40B4-BE49-F238E27FC236}">
                <a16:creationId xmlns:a16="http://schemas.microsoft.com/office/drawing/2014/main" id="{D24E9A65-B8C0-4FBC-82C7-2D18726827D8}"/>
              </a:ext>
            </a:extLst>
          </p:cNvPr>
          <p:cNvCxnSpPr/>
          <p:nvPr/>
        </p:nvCxnSpPr>
        <p:spPr>
          <a:xfrm flipH="1">
            <a:off x="1977656" y="2178431"/>
            <a:ext cx="1807008" cy="98097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BC044570-9288-4742-AF89-8A7F1632CAB0}"/>
              </a:ext>
            </a:extLst>
          </p:cNvPr>
          <p:cNvSpPr txBox="1"/>
          <p:nvPr/>
        </p:nvSpPr>
        <p:spPr>
          <a:xfrm>
            <a:off x="5709189" y="4827908"/>
            <a:ext cx="3434812" cy="707886"/>
          </a:xfrm>
          <a:prstGeom prst="rect">
            <a:avLst/>
          </a:prstGeom>
          <a:noFill/>
        </p:spPr>
        <p:txBody>
          <a:bodyPr wrap="square">
            <a:spAutoFit/>
          </a:bodyPr>
          <a:lstStyle/>
          <a:p>
            <a:pPr algn="just"/>
            <a:r>
              <a:rPr lang="en-IN" sz="2000" dirty="0">
                <a:latin typeface="Bahnschrift" panose="020B0502040204020203" pitchFamily="34" charset="0"/>
              </a:rPr>
              <a:t>“</a:t>
            </a:r>
            <a:r>
              <a:rPr lang="en-IN" sz="2000" dirty="0" err="1">
                <a:latin typeface="Bahnschrift" panose="020B0502040204020203" pitchFamily="34" charset="0"/>
              </a:rPr>
              <a:t>mapred.map.max.attempts</a:t>
            </a:r>
            <a:r>
              <a:rPr lang="en-IN" sz="2000" dirty="0">
                <a:latin typeface="Bahnschrift" panose="020B0502040204020203" pitchFamily="34" charset="0"/>
              </a:rPr>
              <a:t>”=4 (default) 	</a:t>
            </a:r>
          </a:p>
        </p:txBody>
      </p:sp>
    </p:spTree>
    <p:extLst>
      <p:ext uri="{BB962C8B-B14F-4D97-AF65-F5344CB8AC3E}">
        <p14:creationId xmlns:p14="http://schemas.microsoft.com/office/powerpoint/2010/main" val="39207957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DF980A-8D6C-4BE4-8369-4D0B35B92EA5}"/>
              </a:ext>
            </a:extLst>
          </p:cNvPr>
          <p:cNvSpPr>
            <a:spLocks noGrp="1"/>
          </p:cNvSpPr>
          <p:nvPr>
            <p:ph type="title"/>
          </p:nvPr>
        </p:nvSpPr>
        <p:spPr/>
        <p:txBody>
          <a:bodyPr vert="horz" lIns="91440" tIns="45720" rIns="91440" bIns="45720" rtlCol="0" anchor="ctr">
            <a:noAutofit/>
          </a:bodyPr>
          <a:lstStyle/>
          <a:p>
            <a:r>
              <a:rPr lang="en-IN" dirty="0"/>
              <a:t>Failures in Classic Map-reduce</a:t>
            </a:r>
          </a:p>
        </p:txBody>
      </p:sp>
      <p:grpSp>
        <p:nvGrpSpPr>
          <p:cNvPr id="11" name="Group 10">
            <a:extLst>
              <a:ext uri="{FF2B5EF4-FFF2-40B4-BE49-F238E27FC236}">
                <a16:creationId xmlns:a16="http://schemas.microsoft.com/office/drawing/2014/main" id="{9009387E-E3CB-4E43-9322-240748E425B8}"/>
              </a:ext>
            </a:extLst>
          </p:cNvPr>
          <p:cNvGrpSpPr/>
          <p:nvPr/>
        </p:nvGrpSpPr>
        <p:grpSpPr>
          <a:xfrm>
            <a:off x="3051048" y="3031299"/>
            <a:ext cx="2961163" cy="3912783"/>
            <a:chOff x="3062177" y="2391195"/>
            <a:chExt cx="2961163" cy="3912783"/>
          </a:xfrm>
        </p:grpSpPr>
        <p:sp>
          <p:nvSpPr>
            <p:cNvPr id="4" name="Rectangle 3">
              <a:extLst>
                <a:ext uri="{FF2B5EF4-FFF2-40B4-BE49-F238E27FC236}">
                  <a16:creationId xmlns:a16="http://schemas.microsoft.com/office/drawing/2014/main" id="{9DB163A9-200A-4577-9A1E-450C51AD39FC}"/>
                </a:ext>
              </a:extLst>
            </p:cNvPr>
            <p:cNvSpPr/>
            <p:nvPr/>
          </p:nvSpPr>
          <p:spPr>
            <a:xfrm>
              <a:off x="3062177" y="2391195"/>
              <a:ext cx="2658140" cy="3912783"/>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5" name="Rectangle 4">
              <a:extLst>
                <a:ext uri="{FF2B5EF4-FFF2-40B4-BE49-F238E27FC236}">
                  <a16:creationId xmlns:a16="http://schemas.microsoft.com/office/drawing/2014/main" id="{3A45F569-48B8-4CF8-A8A3-7C6E0D14EA11}"/>
                </a:ext>
              </a:extLst>
            </p:cNvPr>
            <p:cNvSpPr/>
            <p:nvPr/>
          </p:nvSpPr>
          <p:spPr>
            <a:xfrm>
              <a:off x="3237614" y="4147431"/>
              <a:ext cx="2083982" cy="15995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latin typeface="Bahnschrift" panose="020B0502040204020203" pitchFamily="34" charset="0"/>
                </a:rPr>
                <a:t>Child JVM</a:t>
              </a:r>
              <a:endParaRPr lang="en-IN" dirty="0">
                <a:solidFill>
                  <a:schemeClr val="tx1"/>
                </a:solidFill>
                <a:latin typeface="Bahnschrift" panose="020B0502040204020203" pitchFamily="34" charset="0"/>
              </a:endParaRPr>
            </a:p>
          </p:txBody>
        </p:sp>
        <p:sp>
          <p:nvSpPr>
            <p:cNvPr id="6" name="Rectangle 5">
              <a:extLst>
                <a:ext uri="{FF2B5EF4-FFF2-40B4-BE49-F238E27FC236}">
                  <a16:creationId xmlns:a16="http://schemas.microsoft.com/office/drawing/2014/main" id="{BB0F663C-64F5-43DA-99BA-F66A48A4170A}"/>
                </a:ext>
              </a:extLst>
            </p:cNvPr>
            <p:cNvSpPr/>
            <p:nvPr/>
          </p:nvSpPr>
          <p:spPr>
            <a:xfrm>
              <a:off x="3530010" y="4420178"/>
              <a:ext cx="1499189" cy="113632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Map or reduce Task</a:t>
              </a:r>
              <a:endParaRPr lang="en-IN" dirty="0">
                <a:latin typeface="Bahnschrift" panose="020B0502040204020203" pitchFamily="34" charset="0"/>
              </a:endParaRPr>
            </a:p>
          </p:txBody>
        </p:sp>
        <p:sp>
          <p:nvSpPr>
            <p:cNvPr id="7" name="Rectangle 6">
              <a:extLst>
                <a:ext uri="{FF2B5EF4-FFF2-40B4-BE49-F238E27FC236}">
                  <a16:creationId xmlns:a16="http://schemas.microsoft.com/office/drawing/2014/main" id="{8FDAFE31-8F54-45A1-881D-59D8A22C7821}"/>
                </a:ext>
              </a:extLst>
            </p:cNvPr>
            <p:cNvSpPr/>
            <p:nvPr/>
          </p:nvSpPr>
          <p:spPr>
            <a:xfrm>
              <a:off x="3418367" y="2620536"/>
              <a:ext cx="1499189" cy="1136320"/>
            </a:xfrm>
            <a:prstGeom prst="rect">
              <a:avLst/>
            </a:prstGeom>
            <a:solidFill>
              <a:schemeClr val="accent2">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Task Tracker</a:t>
              </a:r>
              <a:endParaRPr lang="en-IN" dirty="0">
                <a:latin typeface="Bahnschrift" panose="020B0502040204020203" pitchFamily="34" charset="0"/>
              </a:endParaRPr>
            </a:p>
          </p:txBody>
        </p:sp>
        <p:cxnSp>
          <p:nvCxnSpPr>
            <p:cNvPr id="9" name="Straight Arrow Connector 8">
              <a:extLst>
                <a:ext uri="{FF2B5EF4-FFF2-40B4-BE49-F238E27FC236}">
                  <a16:creationId xmlns:a16="http://schemas.microsoft.com/office/drawing/2014/main" id="{6539AC0F-465C-4129-87E1-D8365F65A309}"/>
                </a:ext>
              </a:extLst>
            </p:cNvPr>
            <p:cNvCxnSpPr>
              <a:stCxn id="7" idx="2"/>
            </p:cNvCxnSpPr>
            <p:nvPr/>
          </p:nvCxnSpPr>
          <p:spPr>
            <a:xfrm flipH="1">
              <a:off x="4167961" y="3756856"/>
              <a:ext cx="1" cy="42174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CEF94F9-4904-4A86-A527-1973C55248F0}"/>
                </a:ext>
              </a:extLst>
            </p:cNvPr>
            <p:cNvSpPr/>
            <p:nvPr/>
          </p:nvSpPr>
          <p:spPr>
            <a:xfrm>
              <a:off x="4524152" y="3797604"/>
              <a:ext cx="1499188" cy="34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Report Error</a:t>
              </a:r>
              <a:endParaRPr lang="en-IN" dirty="0">
                <a:solidFill>
                  <a:schemeClr val="tx1"/>
                </a:solidFill>
                <a:latin typeface="Bahnschrift" panose="020B0502040204020203" pitchFamily="34" charset="0"/>
              </a:endParaRPr>
            </a:p>
          </p:txBody>
        </p:sp>
      </p:grpSp>
      <p:grpSp>
        <p:nvGrpSpPr>
          <p:cNvPr id="24" name="Group 23">
            <a:extLst>
              <a:ext uri="{FF2B5EF4-FFF2-40B4-BE49-F238E27FC236}">
                <a16:creationId xmlns:a16="http://schemas.microsoft.com/office/drawing/2014/main" id="{41645338-ADFE-4472-AB9E-37F9D3DC825F}"/>
              </a:ext>
            </a:extLst>
          </p:cNvPr>
          <p:cNvGrpSpPr/>
          <p:nvPr/>
        </p:nvGrpSpPr>
        <p:grpSpPr>
          <a:xfrm>
            <a:off x="2800354" y="1290879"/>
            <a:ext cx="5595501" cy="1347997"/>
            <a:chOff x="1145663" y="1395786"/>
            <a:chExt cx="6422065" cy="1271270"/>
          </a:xfrm>
        </p:grpSpPr>
        <p:sp>
          <p:nvSpPr>
            <p:cNvPr id="12" name="Rectangle 11">
              <a:extLst>
                <a:ext uri="{FF2B5EF4-FFF2-40B4-BE49-F238E27FC236}">
                  <a16:creationId xmlns:a16="http://schemas.microsoft.com/office/drawing/2014/main" id="{1BA1F06F-9AC5-47B5-9B1D-8706ABD313C8}"/>
                </a:ext>
              </a:extLst>
            </p:cNvPr>
            <p:cNvSpPr/>
            <p:nvPr/>
          </p:nvSpPr>
          <p:spPr>
            <a:xfrm>
              <a:off x="1145663" y="1395786"/>
              <a:ext cx="6422065" cy="127127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13" name="Rectangle 12">
              <a:extLst>
                <a:ext uri="{FF2B5EF4-FFF2-40B4-BE49-F238E27FC236}">
                  <a16:creationId xmlns:a16="http://schemas.microsoft.com/office/drawing/2014/main" id="{5B5E329E-5782-4CD5-AB08-338177441B5A}"/>
                </a:ext>
              </a:extLst>
            </p:cNvPr>
            <p:cNvSpPr/>
            <p:nvPr/>
          </p:nvSpPr>
          <p:spPr>
            <a:xfrm>
              <a:off x="1321100" y="1493130"/>
              <a:ext cx="5890437" cy="88956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14" name="Rectangle 13">
              <a:extLst>
                <a:ext uri="{FF2B5EF4-FFF2-40B4-BE49-F238E27FC236}">
                  <a16:creationId xmlns:a16="http://schemas.microsoft.com/office/drawing/2014/main" id="{77DA1DBD-2C60-4ADE-AE0F-5CA352D98A5B}"/>
                </a:ext>
              </a:extLst>
            </p:cNvPr>
            <p:cNvSpPr/>
            <p:nvPr/>
          </p:nvSpPr>
          <p:spPr>
            <a:xfrm>
              <a:off x="1536412" y="1604430"/>
              <a:ext cx="1477926" cy="628389"/>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Job Tracker</a:t>
              </a:r>
              <a:endParaRPr lang="en-IN" dirty="0">
                <a:solidFill>
                  <a:schemeClr val="tx1"/>
                </a:solidFill>
                <a:latin typeface="Bahnschrift" panose="020B0502040204020203" pitchFamily="34" charset="0"/>
              </a:endParaRPr>
            </a:p>
          </p:txBody>
        </p:sp>
        <p:sp>
          <p:nvSpPr>
            <p:cNvPr id="21" name="Rectangle 20">
              <a:extLst>
                <a:ext uri="{FF2B5EF4-FFF2-40B4-BE49-F238E27FC236}">
                  <a16:creationId xmlns:a16="http://schemas.microsoft.com/office/drawing/2014/main" id="{C63B68B5-D7DC-49BF-8198-D0D121D54AF2}"/>
                </a:ext>
              </a:extLst>
            </p:cNvPr>
            <p:cNvSpPr/>
            <p:nvPr/>
          </p:nvSpPr>
          <p:spPr>
            <a:xfrm>
              <a:off x="2722822" y="2383670"/>
              <a:ext cx="3391786" cy="2206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Bahnschrift" panose="020B0502040204020203" pitchFamily="34" charset="0"/>
                </a:rPr>
                <a:t>Job Tracker Node</a:t>
              </a:r>
              <a:endParaRPr lang="en-IN" sz="2000" dirty="0">
                <a:solidFill>
                  <a:schemeClr val="tx1"/>
                </a:solidFill>
                <a:latin typeface="Bahnschrift" panose="020B0502040204020203" pitchFamily="34" charset="0"/>
              </a:endParaRPr>
            </a:p>
          </p:txBody>
        </p:sp>
      </p:grpSp>
      <p:sp>
        <p:nvSpPr>
          <p:cNvPr id="22" name="Rectangle 21">
            <a:extLst>
              <a:ext uri="{FF2B5EF4-FFF2-40B4-BE49-F238E27FC236}">
                <a16:creationId xmlns:a16="http://schemas.microsoft.com/office/drawing/2014/main" id="{F942A8D3-749A-4275-9F0F-BC46995453FA}"/>
              </a:ext>
            </a:extLst>
          </p:cNvPr>
          <p:cNvSpPr/>
          <p:nvPr/>
        </p:nvSpPr>
        <p:spPr>
          <a:xfrm>
            <a:off x="2626245" y="2601814"/>
            <a:ext cx="1295013" cy="5575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Bahnschrift" panose="020B0502040204020203" pitchFamily="34" charset="0"/>
              </a:rPr>
              <a:t>Heart Beats</a:t>
            </a:r>
            <a:endParaRPr lang="en-IN" sz="1600" dirty="0">
              <a:solidFill>
                <a:schemeClr val="tx1"/>
              </a:solidFill>
              <a:latin typeface="Bahnschrift" panose="020B0502040204020203" pitchFamily="34" charset="0"/>
            </a:endParaRPr>
          </a:p>
        </p:txBody>
      </p:sp>
      <p:cxnSp>
        <p:nvCxnSpPr>
          <p:cNvPr id="16" name="Straight Arrow Connector 15">
            <a:extLst>
              <a:ext uri="{FF2B5EF4-FFF2-40B4-BE49-F238E27FC236}">
                <a16:creationId xmlns:a16="http://schemas.microsoft.com/office/drawing/2014/main" id="{4DC7DF8B-63DB-41EB-AE4E-CF664287EA20}"/>
              </a:ext>
            </a:extLst>
          </p:cNvPr>
          <p:cNvCxnSpPr>
            <a:cxnSpLocks/>
            <a:stCxn id="7" idx="0"/>
            <a:endCxn id="14" idx="2"/>
          </p:cNvCxnSpPr>
          <p:nvPr/>
        </p:nvCxnSpPr>
        <p:spPr>
          <a:xfrm flipH="1" flipV="1">
            <a:off x="3784665" y="2178431"/>
            <a:ext cx="372168" cy="108220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Multiplication Sign 1">
            <a:extLst>
              <a:ext uri="{FF2B5EF4-FFF2-40B4-BE49-F238E27FC236}">
                <a16:creationId xmlns:a16="http://schemas.microsoft.com/office/drawing/2014/main" id="{66603E15-A1DA-4748-829A-35B896A8E58A}"/>
              </a:ext>
            </a:extLst>
          </p:cNvPr>
          <p:cNvSpPr/>
          <p:nvPr/>
        </p:nvSpPr>
        <p:spPr>
          <a:xfrm>
            <a:off x="2716028" y="4732504"/>
            <a:ext cx="3112681" cy="1708760"/>
          </a:xfrm>
          <a:prstGeom prst="mathMultiply">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cxnSp>
        <p:nvCxnSpPr>
          <p:cNvPr id="17" name="Straight Arrow Connector 16">
            <a:extLst>
              <a:ext uri="{FF2B5EF4-FFF2-40B4-BE49-F238E27FC236}">
                <a16:creationId xmlns:a16="http://schemas.microsoft.com/office/drawing/2014/main" id="{5B047162-F878-4441-B12C-413E27E68B62}"/>
              </a:ext>
            </a:extLst>
          </p:cNvPr>
          <p:cNvCxnSpPr/>
          <p:nvPr/>
        </p:nvCxnSpPr>
        <p:spPr>
          <a:xfrm flipV="1">
            <a:off x="4881581" y="4216447"/>
            <a:ext cx="0" cy="390575"/>
          </a:xfrm>
          <a:prstGeom prst="straightConnector1">
            <a:avLst/>
          </a:prstGeom>
          <a:ln w="38100">
            <a:solidFill>
              <a:srgbClr val="44525A"/>
            </a:solidFill>
            <a:tailEnd type="triangle"/>
          </a:ln>
        </p:spPr>
        <p:style>
          <a:lnRef idx="1">
            <a:schemeClr val="accent1"/>
          </a:lnRef>
          <a:fillRef idx="0">
            <a:schemeClr val="accent1"/>
          </a:fillRef>
          <a:effectRef idx="0">
            <a:schemeClr val="accent1"/>
          </a:effectRef>
          <a:fontRef idx="minor">
            <a:schemeClr val="tx1"/>
          </a:fontRef>
        </p:style>
      </p:cxnSp>
      <p:sp>
        <p:nvSpPr>
          <p:cNvPr id="18" name="Flowchart: Magnetic Disk 17">
            <a:extLst>
              <a:ext uri="{FF2B5EF4-FFF2-40B4-BE49-F238E27FC236}">
                <a16:creationId xmlns:a16="http://schemas.microsoft.com/office/drawing/2014/main" id="{11C9E041-EC89-4CBE-B0E0-63F7BA28D802}"/>
              </a:ext>
            </a:extLst>
          </p:cNvPr>
          <p:cNvSpPr/>
          <p:nvPr/>
        </p:nvSpPr>
        <p:spPr>
          <a:xfrm>
            <a:off x="6673551" y="3329543"/>
            <a:ext cx="1626780" cy="678950"/>
          </a:xfrm>
          <a:prstGeom prst="flowChartMagneticDisk">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00" dirty="0">
                <a:solidFill>
                  <a:schemeClr val="tx1"/>
                </a:solidFill>
                <a:latin typeface="Bahnschrift" panose="020B0502040204020203" pitchFamily="34" charset="0"/>
              </a:rPr>
              <a:t>User Logs</a:t>
            </a:r>
            <a:endParaRPr lang="en-IN" sz="2100" dirty="0">
              <a:solidFill>
                <a:schemeClr val="tx1"/>
              </a:solidFill>
              <a:latin typeface="Bahnschrift" panose="020B0502040204020203" pitchFamily="34" charset="0"/>
            </a:endParaRPr>
          </a:p>
        </p:txBody>
      </p:sp>
      <p:cxnSp>
        <p:nvCxnSpPr>
          <p:cNvPr id="20" name="Straight Arrow Connector 19">
            <a:extLst>
              <a:ext uri="{FF2B5EF4-FFF2-40B4-BE49-F238E27FC236}">
                <a16:creationId xmlns:a16="http://schemas.microsoft.com/office/drawing/2014/main" id="{FBCFC563-4504-4B40-A965-7EAFE9DA9C03}"/>
              </a:ext>
            </a:extLst>
          </p:cNvPr>
          <p:cNvCxnSpPr>
            <a:cxnSpLocks/>
            <a:stCxn id="7" idx="3"/>
          </p:cNvCxnSpPr>
          <p:nvPr/>
        </p:nvCxnSpPr>
        <p:spPr>
          <a:xfrm>
            <a:off x="4906427" y="3828800"/>
            <a:ext cx="1365786" cy="0"/>
          </a:xfrm>
          <a:prstGeom prst="straightConnector1">
            <a:avLst/>
          </a:prstGeom>
          <a:ln w="38100">
            <a:solidFill>
              <a:srgbClr val="44525A"/>
            </a:solidFill>
            <a:tailEnd type="triangle"/>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AABD314F-8810-4262-AAEC-9902F80C707B}"/>
              </a:ext>
            </a:extLst>
          </p:cNvPr>
          <p:cNvGrpSpPr/>
          <p:nvPr/>
        </p:nvGrpSpPr>
        <p:grpSpPr>
          <a:xfrm>
            <a:off x="141741" y="3062259"/>
            <a:ext cx="2695114" cy="3659356"/>
            <a:chOff x="3062177" y="2391195"/>
            <a:chExt cx="2884624" cy="3912783"/>
          </a:xfrm>
        </p:grpSpPr>
        <p:sp>
          <p:nvSpPr>
            <p:cNvPr id="26" name="Rectangle 25">
              <a:extLst>
                <a:ext uri="{FF2B5EF4-FFF2-40B4-BE49-F238E27FC236}">
                  <a16:creationId xmlns:a16="http://schemas.microsoft.com/office/drawing/2014/main" id="{8B463EF7-B163-48EC-B97E-02A4C8D2806B}"/>
                </a:ext>
              </a:extLst>
            </p:cNvPr>
            <p:cNvSpPr/>
            <p:nvPr/>
          </p:nvSpPr>
          <p:spPr>
            <a:xfrm>
              <a:off x="3062177" y="2391195"/>
              <a:ext cx="2658140" cy="3912783"/>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28" name="Rectangle 27">
              <a:extLst>
                <a:ext uri="{FF2B5EF4-FFF2-40B4-BE49-F238E27FC236}">
                  <a16:creationId xmlns:a16="http://schemas.microsoft.com/office/drawing/2014/main" id="{7003641D-00B7-4388-A41E-3DD0BF2B63B3}"/>
                </a:ext>
              </a:extLst>
            </p:cNvPr>
            <p:cNvSpPr/>
            <p:nvPr/>
          </p:nvSpPr>
          <p:spPr>
            <a:xfrm>
              <a:off x="3237614" y="4147431"/>
              <a:ext cx="2083982" cy="15995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latin typeface="Bahnschrift" panose="020B0502040204020203" pitchFamily="34" charset="0"/>
                </a:rPr>
                <a:t>Child JVM</a:t>
              </a:r>
              <a:endParaRPr lang="en-IN" dirty="0">
                <a:solidFill>
                  <a:schemeClr val="tx1"/>
                </a:solidFill>
                <a:latin typeface="Bahnschrift" panose="020B0502040204020203" pitchFamily="34" charset="0"/>
              </a:endParaRPr>
            </a:p>
          </p:txBody>
        </p:sp>
        <p:sp>
          <p:nvSpPr>
            <p:cNvPr id="29" name="Rectangle 28">
              <a:extLst>
                <a:ext uri="{FF2B5EF4-FFF2-40B4-BE49-F238E27FC236}">
                  <a16:creationId xmlns:a16="http://schemas.microsoft.com/office/drawing/2014/main" id="{FB55D9DA-FC21-4DCA-BB1A-2711F88057D4}"/>
                </a:ext>
              </a:extLst>
            </p:cNvPr>
            <p:cNvSpPr/>
            <p:nvPr/>
          </p:nvSpPr>
          <p:spPr>
            <a:xfrm>
              <a:off x="3530010" y="4420178"/>
              <a:ext cx="1499189" cy="113632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Map or reduce Task</a:t>
              </a:r>
              <a:endParaRPr lang="en-IN" dirty="0">
                <a:latin typeface="Bahnschrift" panose="020B0502040204020203" pitchFamily="34" charset="0"/>
              </a:endParaRPr>
            </a:p>
          </p:txBody>
        </p:sp>
        <p:sp>
          <p:nvSpPr>
            <p:cNvPr id="30" name="Rectangle 29">
              <a:extLst>
                <a:ext uri="{FF2B5EF4-FFF2-40B4-BE49-F238E27FC236}">
                  <a16:creationId xmlns:a16="http://schemas.microsoft.com/office/drawing/2014/main" id="{A0F0D4B1-D3F9-4A95-9562-8FB1A3C3A85F}"/>
                </a:ext>
              </a:extLst>
            </p:cNvPr>
            <p:cNvSpPr/>
            <p:nvPr/>
          </p:nvSpPr>
          <p:spPr>
            <a:xfrm>
              <a:off x="3418367" y="2620536"/>
              <a:ext cx="1499189" cy="1136320"/>
            </a:xfrm>
            <a:prstGeom prst="rect">
              <a:avLst/>
            </a:prstGeom>
            <a:solidFill>
              <a:schemeClr val="accent2">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Task Tracker</a:t>
              </a:r>
              <a:endParaRPr lang="en-IN" dirty="0">
                <a:latin typeface="Bahnschrift" panose="020B0502040204020203" pitchFamily="34" charset="0"/>
              </a:endParaRPr>
            </a:p>
          </p:txBody>
        </p:sp>
        <p:cxnSp>
          <p:nvCxnSpPr>
            <p:cNvPr id="31" name="Straight Arrow Connector 30">
              <a:extLst>
                <a:ext uri="{FF2B5EF4-FFF2-40B4-BE49-F238E27FC236}">
                  <a16:creationId xmlns:a16="http://schemas.microsoft.com/office/drawing/2014/main" id="{7CBB4D7E-5F5D-4C47-8CCC-9C1C1A20FE7D}"/>
                </a:ext>
              </a:extLst>
            </p:cNvPr>
            <p:cNvCxnSpPr>
              <a:stCxn id="30" idx="2"/>
            </p:cNvCxnSpPr>
            <p:nvPr/>
          </p:nvCxnSpPr>
          <p:spPr>
            <a:xfrm flipH="1">
              <a:off x="4167961" y="3756856"/>
              <a:ext cx="1" cy="42174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850BE09F-07ED-4C05-9A9F-533CC79729CA}"/>
                </a:ext>
              </a:extLst>
            </p:cNvPr>
            <p:cNvSpPr/>
            <p:nvPr/>
          </p:nvSpPr>
          <p:spPr>
            <a:xfrm>
              <a:off x="4103361" y="3678558"/>
              <a:ext cx="1843440" cy="5276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Report Error</a:t>
              </a:r>
              <a:endParaRPr lang="en-IN" dirty="0">
                <a:solidFill>
                  <a:schemeClr val="tx1"/>
                </a:solidFill>
                <a:latin typeface="Bahnschrift" panose="020B0502040204020203" pitchFamily="34" charset="0"/>
              </a:endParaRPr>
            </a:p>
          </p:txBody>
        </p:sp>
      </p:grpSp>
      <p:cxnSp>
        <p:nvCxnSpPr>
          <p:cNvPr id="33" name="Straight Arrow Connector 32">
            <a:extLst>
              <a:ext uri="{FF2B5EF4-FFF2-40B4-BE49-F238E27FC236}">
                <a16:creationId xmlns:a16="http://schemas.microsoft.com/office/drawing/2014/main" id="{D24E9A65-B8C0-4FBC-82C7-2D18726827D8}"/>
              </a:ext>
            </a:extLst>
          </p:cNvPr>
          <p:cNvCxnSpPr/>
          <p:nvPr/>
        </p:nvCxnSpPr>
        <p:spPr>
          <a:xfrm flipH="1">
            <a:off x="1977656" y="2178431"/>
            <a:ext cx="1807008" cy="98097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BC044570-9288-4742-AF89-8A7F1632CAB0}"/>
              </a:ext>
            </a:extLst>
          </p:cNvPr>
          <p:cNvSpPr txBox="1"/>
          <p:nvPr/>
        </p:nvSpPr>
        <p:spPr>
          <a:xfrm>
            <a:off x="5709189" y="4827908"/>
            <a:ext cx="3434812" cy="707886"/>
          </a:xfrm>
          <a:prstGeom prst="rect">
            <a:avLst/>
          </a:prstGeom>
          <a:noFill/>
        </p:spPr>
        <p:txBody>
          <a:bodyPr wrap="square">
            <a:spAutoFit/>
          </a:bodyPr>
          <a:lstStyle/>
          <a:p>
            <a:pPr algn="just"/>
            <a:r>
              <a:rPr lang="en-IN" sz="2000" dirty="0">
                <a:latin typeface="Bahnschrift" panose="020B0502040204020203" pitchFamily="34" charset="0"/>
              </a:rPr>
              <a:t>“</a:t>
            </a:r>
            <a:r>
              <a:rPr lang="en-IN" sz="2000" dirty="0" err="1">
                <a:latin typeface="Bahnschrift" panose="020B0502040204020203" pitchFamily="34" charset="0"/>
              </a:rPr>
              <a:t>mapred.map.max.attempts</a:t>
            </a:r>
            <a:r>
              <a:rPr lang="en-IN" sz="2000" dirty="0">
                <a:latin typeface="Bahnschrift" panose="020B0502040204020203" pitchFamily="34" charset="0"/>
              </a:rPr>
              <a:t>”=4 (default) 	</a:t>
            </a:r>
          </a:p>
        </p:txBody>
      </p:sp>
      <p:sp>
        <p:nvSpPr>
          <p:cNvPr id="35" name="TextBox 34">
            <a:extLst>
              <a:ext uri="{FF2B5EF4-FFF2-40B4-BE49-F238E27FC236}">
                <a16:creationId xmlns:a16="http://schemas.microsoft.com/office/drawing/2014/main" id="{22183F1C-297B-4459-9036-FE6220D9118A}"/>
              </a:ext>
            </a:extLst>
          </p:cNvPr>
          <p:cNvSpPr txBox="1"/>
          <p:nvPr/>
        </p:nvSpPr>
        <p:spPr>
          <a:xfrm>
            <a:off x="5709189" y="5643166"/>
            <a:ext cx="3434812" cy="707886"/>
          </a:xfrm>
          <a:prstGeom prst="rect">
            <a:avLst/>
          </a:prstGeom>
          <a:noFill/>
          <a:ln w="12700">
            <a:solidFill>
              <a:schemeClr val="tx1"/>
            </a:solidFill>
          </a:ln>
        </p:spPr>
        <p:txBody>
          <a:bodyPr wrap="square">
            <a:spAutoFit/>
          </a:bodyPr>
          <a:lstStyle/>
          <a:p>
            <a:pPr algn="just"/>
            <a:r>
              <a:rPr lang="en-IN" sz="2000" dirty="0">
                <a:latin typeface="Bahnschrift" panose="020B0502040204020203" pitchFamily="34" charset="0"/>
              </a:rPr>
              <a:t>“</a:t>
            </a:r>
            <a:r>
              <a:rPr lang="en-IN" sz="2000" dirty="0" err="1">
                <a:latin typeface="Bahnschrift" panose="020B0502040204020203" pitchFamily="34" charset="0"/>
              </a:rPr>
              <a:t>mapred.reduce.max.attempts</a:t>
            </a:r>
            <a:r>
              <a:rPr lang="en-IN" sz="2000" dirty="0">
                <a:latin typeface="Bahnschrift" panose="020B0502040204020203" pitchFamily="34" charset="0"/>
              </a:rPr>
              <a:t>”=4 (default) 	</a:t>
            </a:r>
          </a:p>
        </p:txBody>
      </p:sp>
    </p:spTree>
    <p:extLst>
      <p:ext uri="{BB962C8B-B14F-4D97-AF65-F5344CB8AC3E}">
        <p14:creationId xmlns:p14="http://schemas.microsoft.com/office/powerpoint/2010/main" val="33619175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ED8E54F9-849C-4865-8C5E-FD967B81D7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391AE6B3-1D2D-4C67-A4DB-888635B527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054983"/>
          </a:xfrm>
          <a:custGeom>
            <a:avLst/>
            <a:gdLst>
              <a:gd name="connsiteX0" fmla="*/ 6788003 w 12188952"/>
              <a:gd name="connsiteY0" fmla="*/ 5986774 h 6054983"/>
              <a:gd name="connsiteX1" fmla="*/ 6787005 w 12188952"/>
              <a:gd name="connsiteY1" fmla="*/ 5986852 h 6054983"/>
              <a:gd name="connsiteX2" fmla="*/ 6786779 w 12188952"/>
              <a:gd name="connsiteY2" fmla="*/ 5987386 h 6054983"/>
              <a:gd name="connsiteX3" fmla="*/ 0 w 12188952"/>
              <a:gd name="connsiteY3" fmla="*/ 0 h 6054983"/>
              <a:gd name="connsiteX4" fmla="*/ 12188952 w 12188952"/>
              <a:gd name="connsiteY4" fmla="*/ 0 h 6054983"/>
              <a:gd name="connsiteX5" fmla="*/ 12188952 w 12188952"/>
              <a:gd name="connsiteY5" fmla="*/ 5092539 h 6054983"/>
              <a:gd name="connsiteX6" fmla="*/ 12058081 w 12188952"/>
              <a:gd name="connsiteY6" fmla="*/ 5131579 h 6054983"/>
              <a:gd name="connsiteX7" fmla="*/ 11673881 w 12188952"/>
              <a:gd name="connsiteY7" fmla="*/ 5235154 h 6054983"/>
              <a:gd name="connsiteX8" fmla="*/ 10422749 w 12188952"/>
              <a:gd name="connsiteY8" fmla="*/ 5518693 h 6054983"/>
              <a:gd name="connsiteX9" fmla="*/ 9421666 w 12188952"/>
              <a:gd name="connsiteY9" fmla="*/ 5693855 h 6054983"/>
              <a:gd name="connsiteX10" fmla="*/ 8456304 w 12188952"/>
              <a:gd name="connsiteY10" fmla="*/ 5827556 h 6054983"/>
              <a:gd name="connsiteX11" fmla="*/ 7714041 w 12188952"/>
              <a:gd name="connsiteY11" fmla="*/ 5907503 h 6054983"/>
              <a:gd name="connsiteX12" fmla="*/ 6949978 w 12188952"/>
              <a:gd name="connsiteY12" fmla="*/ 5973283 h 6054983"/>
              <a:gd name="connsiteX13" fmla="*/ 6934569 w 12188952"/>
              <a:gd name="connsiteY13" fmla="*/ 5975354 h 6054983"/>
              <a:gd name="connsiteX14" fmla="*/ 6788750 w 12188952"/>
              <a:gd name="connsiteY14" fmla="*/ 5986715 h 6054983"/>
              <a:gd name="connsiteX15" fmla="*/ 6798241 w 12188952"/>
              <a:gd name="connsiteY15" fmla="*/ 5988535 h 6054983"/>
              <a:gd name="connsiteX16" fmla="*/ 6833723 w 12188952"/>
              <a:gd name="connsiteY16" fmla="*/ 5986828 h 6054983"/>
              <a:gd name="connsiteX17" fmla="*/ 6882282 w 12188952"/>
              <a:gd name="connsiteY17" fmla="*/ 5983850 h 6054983"/>
              <a:gd name="connsiteX18" fmla="*/ 7576876 w 12188952"/>
              <a:gd name="connsiteY18" fmla="*/ 5951323 h 6054983"/>
              <a:gd name="connsiteX19" fmla="*/ 8621689 w 12188952"/>
              <a:gd name="connsiteY19" fmla="*/ 5864426 h 6054983"/>
              <a:gd name="connsiteX20" fmla="*/ 9477600 w 12188952"/>
              <a:gd name="connsiteY20" fmla="*/ 5760520 h 6054983"/>
              <a:gd name="connsiteX21" fmla="*/ 10626651 w 12188952"/>
              <a:gd name="connsiteY21" fmla="*/ 5566363 h 6054983"/>
              <a:gd name="connsiteX22" fmla="*/ 11995498 w 12188952"/>
              <a:gd name="connsiteY22" fmla="*/ 5240369 h 6054983"/>
              <a:gd name="connsiteX23" fmla="*/ 12188952 w 12188952"/>
              <a:gd name="connsiteY23" fmla="*/ 5183370 h 6054983"/>
              <a:gd name="connsiteX24" fmla="*/ 12188952 w 12188952"/>
              <a:gd name="connsiteY24" fmla="*/ 5238107 h 6054983"/>
              <a:gd name="connsiteX25" fmla="*/ 11826300 w 12188952"/>
              <a:gd name="connsiteY25" fmla="*/ 5343406 h 6054983"/>
              <a:gd name="connsiteX26" fmla="*/ 10936448 w 12188952"/>
              <a:gd name="connsiteY26" fmla="*/ 5557921 h 6054983"/>
              <a:gd name="connsiteX27" fmla="*/ 9983034 w 12188952"/>
              <a:gd name="connsiteY27" fmla="*/ 5737926 h 6054983"/>
              <a:gd name="connsiteX28" fmla="*/ 9184585 w 12188952"/>
              <a:gd name="connsiteY28" fmla="*/ 5853873 h 6054983"/>
              <a:gd name="connsiteX29" fmla="*/ 8576053 w 12188952"/>
              <a:gd name="connsiteY29" fmla="*/ 5923392 h 6054983"/>
              <a:gd name="connsiteX30" fmla="*/ 7862392 w 12188952"/>
              <a:gd name="connsiteY30" fmla="*/ 5984843 h 6054983"/>
              <a:gd name="connsiteX31" fmla="*/ 6933768 w 12188952"/>
              <a:gd name="connsiteY31" fmla="*/ 6036237 h 6054983"/>
              <a:gd name="connsiteX32" fmla="*/ 6476130 w 12188952"/>
              <a:gd name="connsiteY32" fmla="*/ 6050140 h 6054983"/>
              <a:gd name="connsiteX33" fmla="*/ 6360703 w 12188952"/>
              <a:gd name="connsiteY33" fmla="*/ 6054983 h 6054983"/>
              <a:gd name="connsiteX34" fmla="*/ 6055614 w 12188952"/>
              <a:gd name="connsiteY34" fmla="*/ 6054983 h 6054983"/>
              <a:gd name="connsiteX35" fmla="*/ 5976289 w 12188952"/>
              <a:gd name="connsiteY35" fmla="*/ 6050389 h 6054983"/>
              <a:gd name="connsiteX36" fmla="*/ 5263770 w 12188952"/>
              <a:gd name="connsiteY36" fmla="*/ 6014140 h 6054983"/>
              <a:gd name="connsiteX37" fmla="*/ 4345190 w 12188952"/>
              <a:gd name="connsiteY37" fmla="*/ 5952070 h 6054983"/>
              <a:gd name="connsiteX38" fmla="*/ 3372201 w 12188952"/>
              <a:gd name="connsiteY38" fmla="*/ 5853501 h 6054983"/>
              <a:gd name="connsiteX39" fmla="*/ 2361582 w 12188952"/>
              <a:gd name="connsiteY39" fmla="*/ 5734574 h 6054983"/>
              <a:gd name="connsiteX40" fmla="*/ 1232869 w 12188952"/>
              <a:gd name="connsiteY40" fmla="*/ 5561398 h 6054983"/>
              <a:gd name="connsiteX41" fmla="*/ 68483 w 12188952"/>
              <a:gd name="connsiteY41" fmla="*/ 5321691 h 6054983"/>
              <a:gd name="connsiteX42" fmla="*/ 0 w 12188952"/>
              <a:gd name="connsiteY42" fmla="*/ 5304336 h 6054983"/>
              <a:gd name="connsiteX43" fmla="*/ 0 w 12188952"/>
              <a:gd name="connsiteY43" fmla="*/ 5247847 h 6054983"/>
              <a:gd name="connsiteX44" fmla="*/ 72423 w 12188952"/>
              <a:gd name="connsiteY44" fmla="*/ 5266624 h 6054983"/>
              <a:gd name="connsiteX45" fmla="*/ 600566 w 12188952"/>
              <a:gd name="connsiteY45" fmla="*/ 5384994 h 6054983"/>
              <a:gd name="connsiteX46" fmla="*/ 1769069 w 12188952"/>
              <a:gd name="connsiteY46" fmla="*/ 5595162 h 6054983"/>
              <a:gd name="connsiteX47" fmla="*/ 2612900 w 12188952"/>
              <a:gd name="connsiteY47" fmla="*/ 5712104 h 6054983"/>
              <a:gd name="connsiteX48" fmla="*/ 2580488 w 12188952"/>
              <a:gd name="connsiteY48" fmla="*/ 5702173 h 6054983"/>
              <a:gd name="connsiteX49" fmla="*/ 1112357 w 12188952"/>
              <a:gd name="connsiteY49" fmla="*/ 5369476 h 6054983"/>
              <a:gd name="connsiteX50" fmla="*/ 420307 w 12188952"/>
              <a:gd name="connsiteY50" fmla="*/ 5170043 h 6054983"/>
              <a:gd name="connsiteX51" fmla="*/ 0 w 12188952"/>
              <a:gd name="connsiteY51" fmla="*/ 5031126 h 6054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88952" h="6054983">
                <a:moveTo>
                  <a:pt x="6788003" y="5986774"/>
                </a:moveTo>
                <a:lnTo>
                  <a:pt x="6787005" y="5986852"/>
                </a:lnTo>
                <a:lnTo>
                  <a:pt x="6786779" y="5987386"/>
                </a:lnTo>
                <a:close/>
                <a:moveTo>
                  <a:pt x="0" y="0"/>
                </a:moveTo>
                <a:lnTo>
                  <a:pt x="12188952" y="0"/>
                </a:lnTo>
                <a:lnTo>
                  <a:pt x="12188952" y="5092539"/>
                </a:lnTo>
                <a:lnTo>
                  <a:pt x="12058081" y="5131579"/>
                </a:lnTo>
                <a:cubicBezTo>
                  <a:pt x="11930517" y="5167793"/>
                  <a:pt x="11802439" y="5202322"/>
                  <a:pt x="11673881" y="5235154"/>
                </a:cubicBezTo>
                <a:cubicBezTo>
                  <a:pt x="11259973" y="5342661"/>
                  <a:pt x="10842632" y="5436263"/>
                  <a:pt x="10422749" y="5518693"/>
                </a:cubicBezTo>
                <a:cubicBezTo>
                  <a:pt x="10090287" y="5583904"/>
                  <a:pt x="9756593" y="5642301"/>
                  <a:pt x="9421666" y="5693855"/>
                </a:cubicBezTo>
                <a:cubicBezTo>
                  <a:pt x="9100721" y="5743512"/>
                  <a:pt x="8778938" y="5788079"/>
                  <a:pt x="8456304" y="5827556"/>
                </a:cubicBezTo>
                <a:cubicBezTo>
                  <a:pt x="8209307" y="5857722"/>
                  <a:pt x="7961801" y="5883295"/>
                  <a:pt x="7714041" y="5907503"/>
                </a:cubicBezTo>
                <a:lnTo>
                  <a:pt x="6949978" y="5973283"/>
                </a:lnTo>
                <a:lnTo>
                  <a:pt x="6934569" y="5975354"/>
                </a:lnTo>
                <a:lnTo>
                  <a:pt x="6788750" y="5986715"/>
                </a:lnTo>
                <a:lnTo>
                  <a:pt x="6798241" y="5988535"/>
                </a:lnTo>
                <a:cubicBezTo>
                  <a:pt x="6809920" y="5989001"/>
                  <a:pt x="6822028" y="5986828"/>
                  <a:pt x="6833723" y="5986828"/>
                </a:cubicBezTo>
                <a:cubicBezTo>
                  <a:pt x="6849867" y="5986828"/>
                  <a:pt x="6866012" y="5984221"/>
                  <a:pt x="6882282" y="5983850"/>
                </a:cubicBezTo>
                <a:cubicBezTo>
                  <a:pt x="7114026" y="5978388"/>
                  <a:pt x="7345514" y="5966221"/>
                  <a:pt x="7576876" y="5951323"/>
                </a:cubicBezTo>
                <a:cubicBezTo>
                  <a:pt x="7925570" y="5928855"/>
                  <a:pt x="8274011" y="5900676"/>
                  <a:pt x="8621689" y="5864426"/>
                </a:cubicBezTo>
                <a:cubicBezTo>
                  <a:pt x="8907712" y="5835128"/>
                  <a:pt x="9193011" y="5800493"/>
                  <a:pt x="9477600" y="5760520"/>
                </a:cubicBezTo>
                <a:cubicBezTo>
                  <a:pt x="9862435" y="5706146"/>
                  <a:pt x="10245452" y="5641432"/>
                  <a:pt x="10626651" y="5566363"/>
                </a:cubicBezTo>
                <a:cubicBezTo>
                  <a:pt x="11087341" y="5475243"/>
                  <a:pt x="11544088" y="5367737"/>
                  <a:pt x="11995498" y="5240369"/>
                </a:cubicBezTo>
                <a:lnTo>
                  <a:pt x="12188952" y="5183370"/>
                </a:lnTo>
                <a:lnTo>
                  <a:pt x="12188952" y="5238107"/>
                </a:lnTo>
                <a:lnTo>
                  <a:pt x="11826300" y="5343406"/>
                </a:lnTo>
                <a:cubicBezTo>
                  <a:pt x="11531885" y="5423103"/>
                  <a:pt x="11235310" y="5493989"/>
                  <a:pt x="10936448" y="5557921"/>
                </a:cubicBezTo>
                <a:cubicBezTo>
                  <a:pt x="10620168" y="5625703"/>
                  <a:pt x="10302365" y="5685700"/>
                  <a:pt x="9983034" y="5737926"/>
                </a:cubicBezTo>
                <a:cubicBezTo>
                  <a:pt x="9717606" y="5781375"/>
                  <a:pt x="9451451" y="5820020"/>
                  <a:pt x="9184585" y="5853873"/>
                </a:cubicBezTo>
                <a:cubicBezTo>
                  <a:pt x="8981951" y="5879447"/>
                  <a:pt x="8779319" y="5903530"/>
                  <a:pt x="8576053" y="5923392"/>
                </a:cubicBezTo>
                <a:cubicBezTo>
                  <a:pt x="8338462" y="5946112"/>
                  <a:pt x="8100618" y="5967587"/>
                  <a:pt x="7862392" y="5984843"/>
                </a:cubicBezTo>
                <a:cubicBezTo>
                  <a:pt x="7553105" y="6007187"/>
                  <a:pt x="7243690" y="6025065"/>
                  <a:pt x="6933768" y="6036237"/>
                </a:cubicBezTo>
                <a:cubicBezTo>
                  <a:pt x="6781221" y="6041700"/>
                  <a:pt x="6628676" y="6045548"/>
                  <a:pt x="6476130" y="6050140"/>
                </a:cubicBezTo>
                <a:cubicBezTo>
                  <a:pt x="6437585" y="6048056"/>
                  <a:pt x="6398929" y="6049681"/>
                  <a:pt x="6360703" y="6054983"/>
                </a:cubicBezTo>
                <a:lnTo>
                  <a:pt x="6055614" y="6054983"/>
                </a:lnTo>
                <a:lnTo>
                  <a:pt x="5976289" y="6050389"/>
                </a:lnTo>
                <a:cubicBezTo>
                  <a:pt x="5738826" y="6037976"/>
                  <a:pt x="5501363" y="6024197"/>
                  <a:pt x="5263770" y="6014140"/>
                </a:cubicBezTo>
                <a:cubicBezTo>
                  <a:pt x="4957027" y="6001724"/>
                  <a:pt x="4650663" y="5981244"/>
                  <a:pt x="4345190" y="5952070"/>
                </a:cubicBezTo>
                <a:cubicBezTo>
                  <a:pt x="4020648" y="5921158"/>
                  <a:pt x="3696870" y="5886523"/>
                  <a:pt x="3372201" y="5853501"/>
                </a:cubicBezTo>
                <a:cubicBezTo>
                  <a:pt x="3034653" y="5819239"/>
                  <a:pt x="2697781" y="5779600"/>
                  <a:pt x="2361582" y="5734574"/>
                </a:cubicBezTo>
                <a:cubicBezTo>
                  <a:pt x="1984196" y="5684421"/>
                  <a:pt x="1607962" y="5626695"/>
                  <a:pt x="1232869" y="5561398"/>
                </a:cubicBezTo>
                <a:cubicBezTo>
                  <a:pt x="841970" y="5492685"/>
                  <a:pt x="453644" y="5414197"/>
                  <a:pt x="68483" y="5321691"/>
                </a:cubicBezTo>
                <a:lnTo>
                  <a:pt x="0" y="5304336"/>
                </a:lnTo>
                <a:lnTo>
                  <a:pt x="0" y="5247847"/>
                </a:lnTo>
                <a:lnTo>
                  <a:pt x="72423" y="5266624"/>
                </a:lnTo>
                <a:cubicBezTo>
                  <a:pt x="247899" y="5308802"/>
                  <a:pt x="424058" y="5348062"/>
                  <a:pt x="600566" y="5384994"/>
                </a:cubicBezTo>
                <a:cubicBezTo>
                  <a:pt x="988032" y="5465808"/>
                  <a:pt x="1377788" y="5534706"/>
                  <a:pt x="1769069" y="5595162"/>
                </a:cubicBezTo>
                <a:cubicBezTo>
                  <a:pt x="2051913" y="5638738"/>
                  <a:pt x="2335141" y="5678835"/>
                  <a:pt x="2612900" y="5712104"/>
                </a:cubicBezTo>
                <a:cubicBezTo>
                  <a:pt x="2604892" y="5714711"/>
                  <a:pt x="2593962" y="5704655"/>
                  <a:pt x="2580488" y="5702173"/>
                </a:cubicBezTo>
                <a:cubicBezTo>
                  <a:pt x="2086656" y="5610221"/>
                  <a:pt x="1597284" y="5499328"/>
                  <a:pt x="1112357" y="5369476"/>
                </a:cubicBezTo>
                <a:cubicBezTo>
                  <a:pt x="880233" y="5307405"/>
                  <a:pt x="649550" y="5240927"/>
                  <a:pt x="420307" y="5170043"/>
                </a:cubicBezTo>
                <a:lnTo>
                  <a:pt x="0" y="503112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B960DBE-A1D1-4E43-A977-06E886B09AB3}"/>
              </a:ext>
            </a:extLst>
          </p:cNvPr>
          <p:cNvSpPr>
            <a:spLocks noGrp="1"/>
          </p:cNvSpPr>
          <p:nvPr>
            <p:ph type="title"/>
          </p:nvPr>
        </p:nvSpPr>
        <p:spPr>
          <a:xfrm>
            <a:off x="1143000" y="929452"/>
            <a:ext cx="6858000" cy="2526738"/>
          </a:xfrm>
        </p:spPr>
        <p:txBody>
          <a:bodyPr vert="horz" lIns="91440" tIns="45720" rIns="91440" bIns="45720" rtlCol="0" anchor="b">
            <a:normAutofit/>
          </a:bodyPr>
          <a:lstStyle/>
          <a:p>
            <a:pPr algn="ctr">
              <a:lnSpc>
                <a:spcPct val="100000"/>
              </a:lnSpc>
            </a:pPr>
            <a:r>
              <a:rPr lang="en-US" sz="5700" kern="1200" dirty="0">
                <a:solidFill>
                  <a:srgbClr val="FFFFFF"/>
                </a:solidFill>
                <a:latin typeface="Bahnschrift" panose="020B0502040204020203" pitchFamily="34" charset="0"/>
              </a:rPr>
              <a:t>Failure of </a:t>
            </a:r>
            <a:r>
              <a:rPr lang="en-US" sz="5700" kern="1200" dirty="0" err="1">
                <a:solidFill>
                  <a:srgbClr val="FFFFFF"/>
                </a:solidFill>
                <a:latin typeface="Bahnschrift" panose="020B0502040204020203" pitchFamily="34" charset="0"/>
              </a:rPr>
              <a:t>TaskTracker</a:t>
            </a:r>
            <a:endParaRPr lang="en-US" sz="5700" kern="1200" dirty="0">
              <a:solidFill>
                <a:srgbClr val="FFFFFF"/>
              </a:solidFill>
              <a:latin typeface="Bahnschrift" panose="020B0502040204020203" pitchFamily="34" charset="0"/>
            </a:endParaRPr>
          </a:p>
        </p:txBody>
      </p:sp>
      <p:sp>
        <p:nvSpPr>
          <p:cNvPr id="11" name="sketch line">
            <a:extLst>
              <a:ext uri="{FF2B5EF4-FFF2-40B4-BE49-F238E27FC236}">
                <a16:creationId xmlns:a16="http://schemas.microsoft.com/office/drawing/2014/main" id="{6D080EC2-42B5-4E04-BBF7-F0BC5CB7C9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3566566"/>
            <a:ext cx="3182692" cy="18288"/>
          </a:xfrm>
          <a:custGeom>
            <a:avLst/>
            <a:gdLst>
              <a:gd name="connsiteX0" fmla="*/ 0 w 3182692"/>
              <a:gd name="connsiteY0" fmla="*/ 0 h 18288"/>
              <a:gd name="connsiteX1" fmla="*/ 604711 w 3182692"/>
              <a:gd name="connsiteY1" fmla="*/ 0 h 18288"/>
              <a:gd name="connsiteX2" fmla="*/ 1241250 w 3182692"/>
              <a:gd name="connsiteY2" fmla="*/ 0 h 18288"/>
              <a:gd name="connsiteX3" fmla="*/ 1909615 w 3182692"/>
              <a:gd name="connsiteY3" fmla="*/ 0 h 18288"/>
              <a:gd name="connsiteX4" fmla="*/ 2577981 w 3182692"/>
              <a:gd name="connsiteY4" fmla="*/ 0 h 18288"/>
              <a:gd name="connsiteX5" fmla="*/ 3182692 w 3182692"/>
              <a:gd name="connsiteY5" fmla="*/ 0 h 18288"/>
              <a:gd name="connsiteX6" fmla="*/ 3182692 w 3182692"/>
              <a:gd name="connsiteY6" fmla="*/ 18288 h 18288"/>
              <a:gd name="connsiteX7" fmla="*/ 2482500 w 3182692"/>
              <a:gd name="connsiteY7" fmla="*/ 18288 h 18288"/>
              <a:gd name="connsiteX8" fmla="*/ 1782308 w 3182692"/>
              <a:gd name="connsiteY8" fmla="*/ 18288 h 18288"/>
              <a:gd name="connsiteX9" fmla="*/ 1145769 w 3182692"/>
              <a:gd name="connsiteY9" fmla="*/ 18288 h 18288"/>
              <a:gd name="connsiteX10" fmla="*/ 0 w 3182692"/>
              <a:gd name="connsiteY10" fmla="*/ 18288 h 18288"/>
              <a:gd name="connsiteX11" fmla="*/ 0 w 3182692"/>
              <a:gd name="connsiteY11" fmla="*/ 0 h 18288"/>
              <a:gd name="connsiteX0" fmla="*/ 0 w 3182692"/>
              <a:gd name="connsiteY0" fmla="*/ 0 h 18288"/>
              <a:gd name="connsiteX1" fmla="*/ 604711 w 3182692"/>
              <a:gd name="connsiteY1" fmla="*/ 0 h 18288"/>
              <a:gd name="connsiteX2" fmla="*/ 1145769 w 3182692"/>
              <a:gd name="connsiteY2" fmla="*/ 0 h 18288"/>
              <a:gd name="connsiteX3" fmla="*/ 1845961 w 3182692"/>
              <a:gd name="connsiteY3" fmla="*/ 0 h 18288"/>
              <a:gd name="connsiteX4" fmla="*/ 2450673 w 3182692"/>
              <a:gd name="connsiteY4" fmla="*/ 0 h 18288"/>
              <a:gd name="connsiteX5" fmla="*/ 3182692 w 3182692"/>
              <a:gd name="connsiteY5" fmla="*/ 0 h 18288"/>
              <a:gd name="connsiteX6" fmla="*/ 3182692 w 3182692"/>
              <a:gd name="connsiteY6" fmla="*/ 18288 h 18288"/>
              <a:gd name="connsiteX7" fmla="*/ 2546154 w 3182692"/>
              <a:gd name="connsiteY7" fmla="*/ 18288 h 18288"/>
              <a:gd name="connsiteX8" fmla="*/ 1845961 w 3182692"/>
              <a:gd name="connsiteY8" fmla="*/ 18288 h 18288"/>
              <a:gd name="connsiteX9" fmla="*/ 1304904 w 3182692"/>
              <a:gd name="connsiteY9" fmla="*/ 18288 h 18288"/>
              <a:gd name="connsiteX10" fmla="*/ 668365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145195" y="-37571"/>
                  <a:pt x="472618" y="-13696"/>
                  <a:pt x="604711" y="0"/>
                </a:cubicBezTo>
                <a:cubicBezTo>
                  <a:pt x="706652" y="-3280"/>
                  <a:pt x="1039328" y="-8567"/>
                  <a:pt x="1241250" y="0"/>
                </a:cubicBezTo>
                <a:cubicBezTo>
                  <a:pt x="1405712" y="-7891"/>
                  <a:pt x="1711158" y="8053"/>
                  <a:pt x="1909615" y="0"/>
                </a:cubicBezTo>
                <a:cubicBezTo>
                  <a:pt x="2107436" y="-40150"/>
                  <a:pt x="2247192" y="19443"/>
                  <a:pt x="2577981" y="0"/>
                </a:cubicBezTo>
                <a:cubicBezTo>
                  <a:pt x="2894393" y="-5855"/>
                  <a:pt x="3041563" y="17846"/>
                  <a:pt x="3182692" y="0"/>
                </a:cubicBezTo>
                <a:cubicBezTo>
                  <a:pt x="3181973" y="8390"/>
                  <a:pt x="3182735" y="11854"/>
                  <a:pt x="3182692" y="18288"/>
                </a:cubicBezTo>
                <a:cubicBezTo>
                  <a:pt x="2975928" y="57450"/>
                  <a:pt x="2667693" y="19406"/>
                  <a:pt x="2482500" y="18288"/>
                </a:cubicBezTo>
                <a:cubicBezTo>
                  <a:pt x="2299734" y="36912"/>
                  <a:pt x="1925962" y="9303"/>
                  <a:pt x="1782308" y="18288"/>
                </a:cubicBezTo>
                <a:cubicBezTo>
                  <a:pt x="1635580" y="20546"/>
                  <a:pt x="1257854" y="-3663"/>
                  <a:pt x="1145769" y="18288"/>
                </a:cubicBezTo>
                <a:cubicBezTo>
                  <a:pt x="1025065" y="56574"/>
                  <a:pt x="247799" y="-11536"/>
                  <a:pt x="0" y="18288"/>
                </a:cubicBezTo>
                <a:cubicBezTo>
                  <a:pt x="-405" y="13204"/>
                  <a:pt x="-1092" y="5311"/>
                  <a:pt x="0" y="0"/>
                </a:cubicBezTo>
                <a:close/>
              </a:path>
              <a:path w="3182692" h="18288" stroke="0" extrusionOk="0">
                <a:moveTo>
                  <a:pt x="0" y="0"/>
                </a:moveTo>
                <a:cubicBezTo>
                  <a:pt x="288308" y="19724"/>
                  <a:pt x="431183" y="-26509"/>
                  <a:pt x="604711" y="0"/>
                </a:cubicBezTo>
                <a:cubicBezTo>
                  <a:pt x="795174" y="4405"/>
                  <a:pt x="950067" y="22541"/>
                  <a:pt x="1145769" y="0"/>
                </a:cubicBezTo>
                <a:cubicBezTo>
                  <a:pt x="1301850" y="7702"/>
                  <a:pt x="1499974" y="-70469"/>
                  <a:pt x="1845961" y="0"/>
                </a:cubicBezTo>
                <a:cubicBezTo>
                  <a:pt x="2191264" y="15313"/>
                  <a:pt x="2307232" y="-97"/>
                  <a:pt x="2450673" y="0"/>
                </a:cubicBezTo>
                <a:cubicBezTo>
                  <a:pt x="2596405" y="-19465"/>
                  <a:pt x="3033067" y="-31048"/>
                  <a:pt x="3182692" y="0"/>
                </a:cubicBezTo>
                <a:cubicBezTo>
                  <a:pt x="3182066" y="4696"/>
                  <a:pt x="3183370" y="10269"/>
                  <a:pt x="3182692" y="18288"/>
                </a:cubicBezTo>
                <a:cubicBezTo>
                  <a:pt x="3091120" y="-23022"/>
                  <a:pt x="2811074" y="61693"/>
                  <a:pt x="2546154" y="18288"/>
                </a:cubicBezTo>
                <a:cubicBezTo>
                  <a:pt x="2285186" y="27529"/>
                  <a:pt x="2090205" y="-22321"/>
                  <a:pt x="1845961" y="18288"/>
                </a:cubicBezTo>
                <a:cubicBezTo>
                  <a:pt x="1599794" y="31493"/>
                  <a:pt x="1466284" y="37447"/>
                  <a:pt x="1304904" y="18288"/>
                </a:cubicBezTo>
                <a:cubicBezTo>
                  <a:pt x="1189365" y="43775"/>
                  <a:pt x="952251" y="23461"/>
                  <a:pt x="668365" y="18288"/>
                </a:cubicBezTo>
                <a:cubicBezTo>
                  <a:pt x="407868" y="43595"/>
                  <a:pt x="284672" y="-9405"/>
                  <a:pt x="0" y="18288"/>
                </a:cubicBezTo>
                <a:cubicBezTo>
                  <a:pt x="527" y="9891"/>
                  <a:pt x="870" y="7012"/>
                  <a:pt x="0" y="0"/>
                </a:cubicBezTo>
                <a:close/>
              </a:path>
              <a:path w="3182692" h="18288" fill="none" stroke="0" extrusionOk="0">
                <a:moveTo>
                  <a:pt x="0" y="0"/>
                </a:moveTo>
                <a:cubicBezTo>
                  <a:pt x="108839" y="-32375"/>
                  <a:pt x="447732" y="16552"/>
                  <a:pt x="604711" y="0"/>
                </a:cubicBezTo>
                <a:cubicBezTo>
                  <a:pt x="781899" y="-548"/>
                  <a:pt x="1052060" y="7118"/>
                  <a:pt x="1241250" y="0"/>
                </a:cubicBezTo>
                <a:cubicBezTo>
                  <a:pt x="1399482" y="14083"/>
                  <a:pt x="1706293" y="54730"/>
                  <a:pt x="1909615" y="0"/>
                </a:cubicBezTo>
                <a:cubicBezTo>
                  <a:pt x="2085313" y="-24404"/>
                  <a:pt x="2264415" y="16988"/>
                  <a:pt x="2577981" y="0"/>
                </a:cubicBezTo>
                <a:cubicBezTo>
                  <a:pt x="2926098" y="-10318"/>
                  <a:pt x="3036314" y="-14769"/>
                  <a:pt x="3182692" y="0"/>
                </a:cubicBezTo>
                <a:cubicBezTo>
                  <a:pt x="3181841" y="8135"/>
                  <a:pt x="3181636" y="12730"/>
                  <a:pt x="3182692" y="18288"/>
                </a:cubicBezTo>
                <a:cubicBezTo>
                  <a:pt x="2996012" y="-1231"/>
                  <a:pt x="2669008" y="27395"/>
                  <a:pt x="2482500" y="18288"/>
                </a:cubicBezTo>
                <a:cubicBezTo>
                  <a:pt x="2296543" y="21246"/>
                  <a:pt x="1935236" y="7938"/>
                  <a:pt x="1782308" y="18288"/>
                </a:cubicBezTo>
                <a:cubicBezTo>
                  <a:pt x="1607683" y="25490"/>
                  <a:pt x="1291498" y="1369"/>
                  <a:pt x="1145769" y="18288"/>
                </a:cubicBezTo>
                <a:cubicBezTo>
                  <a:pt x="1015407" y="55325"/>
                  <a:pt x="262557" y="26571"/>
                  <a:pt x="0" y="18288"/>
                </a:cubicBezTo>
                <a:cubicBezTo>
                  <a:pt x="508" y="13336"/>
                  <a:pt x="437" y="7274"/>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custGeom>
                    <a:avLst/>
                    <a:gdLst>
                      <a:gd name="connsiteX0" fmla="*/ 0 w 3182692"/>
                      <a:gd name="connsiteY0" fmla="*/ 0 h 18288"/>
                      <a:gd name="connsiteX1" fmla="*/ 604711 w 3182692"/>
                      <a:gd name="connsiteY1" fmla="*/ 0 h 18288"/>
                      <a:gd name="connsiteX2" fmla="*/ 1241250 w 3182692"/>
                      <a:gd name="connsiteY2" fmla="*/ 0 h 18288"/>
                      <a:gd name="connsiteX3" fmla="*/ 1909615 w 3182692"/>
                      <a:gd name="connsiteY3" fmla="*/ 0 h 18288"/>
                      <a:gd name="connsiteX4" fmla="*/ 2577981 w 3182692"/>
                      <a:gd name="connsiteY4" fmla="*/ 0 h 18288"/>
                      <a:gd name="connsiteX5" fmla="*/ 3182692 w 3182692"/>
                      <a:gd name="connsiteY5" fmla="*/ 0 h 18288"/>
                      <a:gd name="connsiteX6" fmla="*/ 3182692 w 3182692"/>
                      <a:gd name="connsiteY6" fmla="*/ 18288 h 18288"/>
                      <a:gd name="connsiteX7" fmla="*/ 2482500 w 3182692"/>
                      <a:gd name="connsiteY7" fmla="*/ 18288 h 18288"/>
                      <a:gd name="connsiteX8" fmla="*/ 1782308 w 3182692"/>
                      <a:gd name="connsiteY8" fmla="*/ 18288 h 18288"/>
                      <a:gd name="connsiteX9" fmla="*/ 1145769 w 3182692"/>
                      <a:gd name="connsiteY9" fmla="*/ 18288 h 18288"/>
                      <a:gd name="connsiteX10" fmla="*/ 0 w 3182692"/>
                      <a:gd name="connsiteY10" fmla="*/ 18288 h 18288"/>
                      <a:gd name="connsiteX11" fmla="*/ 0 w 3182692"/>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2692" h="18288" fill="none" extrusionOk="0">
                        <a:moveTo>
                          <a:pt x="0" y="0"/>
                        </a:moveTo>
                        <a:cubicBezTo>
                          <a:pt x="126686" y="-21366"/>
                          <a:pt x="467788" y="9025"/>
                          <a:pt x="604711" y="0"/>
                        </a:cubicBezTo>
                        <a:cubicBezTo>
                          <a:pt x="741634" y="-9025"/>
                          <a:pt x="1061620" y="6814"/>
                          <a:pt x="1241250" y="0"/>
                        </a:cubicBezTo>
                        <a:cubicBezTo>
                          <a:pt x="1420880" y="-6814"/>
                          <a:pt x="1713773" y="13383"/>
                          <a:pt x="1909615" y="0"/>
                        </a:cubicBezTo>
                        <a:cubicBezTo>
                          <a:pt x="2105457" y="-13383"/>
                          <a:pt x="2257256" y="13567"/>
                          <a:pt x="2577981" y="0"/>
                        </a:cubicBezTo>
                        <a:cubicBezTo>
                          <a:pt x="2898706" y="-13567"/>
                          <a:pt x="3026063" y="6328"/>
                          <a:pt x="3182692" y="0"/>
                        </a:cubicBezTo>
                        <a:cubicBezTo>
                          <a:pt x="3181983" y="8157"/>
                          <a:pt x="3182279" y="12125"/>
                          <a:pt x="3182692" y="18288"/>
                        </a:cubicBezTo>
                        <a:cubicBezTo>
                          <a:pt x="2998421" y="21742"/>
                          <a:pt x="2675038" y="19014"/>
                          <a:pt x="2482500" y="18288"/>
                        </a:cubicBezTo>
                        <a:cubicBezTo>
                          <a:pt x="2289962" y="17562"/>
                          <a:pt x="1930644" y="6834"/>
                          <a:pt x="1782308" y="18288"/>
                        </a:cubicBezTo>
                        <a:cubicBezTo>
                          <a:pt x="1633972" y="29742"/>
                          <a:pt x="1287388" y="-1992"/>
                          <a:pt x="1145769" y="18288"/>
                        </a:cubicBezTo>
                        <a:cubicBezTo>
                          <a:pt x="1004150" y="38568"/>
                          <a:pt x="256377" y="-37438"/>
                          <a:pt x="0" y="18288"/>
                        </a:cubicBezTo>
                        <a:cubicBezTo>
                          <a:pt x="-46" y="12483"/>
                          <a:pt x="-203" y="6491"/>
                          <a:pt x="0" y="0"/>
                        </a:cubicBezTo>
                        <a:close/>
                      </a:path>
                      <a:path w="3182692" h="18288" stroke="0" extrusionOk="0">
                        <a:moveTo>
                          <a:pt x="0" y="0"/>
                        </a:moveTo>
                        <a:cubicBezTo>
                          <a:pt x="283446" y="18201"/>
                          <a:pt x="432812" y="7290"/>
                          <a:pt x="604711" y="0"/>
                        </a:cubicBezTo>
                        <a:cubicBezTo>
                          <a:pt x="776610" y="-7290"/>
                          <a:pt x="982253" y="15478"/>
                          <a:pt x="1145769" y="0"/>
                        </a:cubicBezTo>
                        <a:cubicBezTo>
                          <a:pt x="1309285" y="-15478"/>
                          <a:pt x="1514247" y="-25520"/>
                          <a:pt x="1845961" y="0"/>
                        </a:cubicBezTo>
                        <a:cubicBezTo>
                          <a:pt x="2177675" y="25520"/>
                          <a:pt x="2297588" y="16646"/>
                          <a:pt x="2450673" y="0"/>
                        </a:cubicBezTo>
                        <a:cubicBezTo>
                          <a:pt x="2603758" y="-16646"/>
                          <a:pt x="3023048" y="-21196"/>
                          <a:pt x="3182692" y="0"/>
                        </a:cubicBezTo>
                        <a:cubicBezTo>
                          <a:pt x="3182428" y="4493"/>
                          <a:pt x="3183076" y="9472"/>
                          <a:pt x="3182692" y="18288"/>
                        </a:cubicBezTo>
                        <a:cubicBezTo>
                          <a:pt x="3039109" y="-12701"/>
                          <a:pt x="2823860" y="13848"/>
                          <a:pt x="2546154" y="18288"/>
                        </a:cubicBezTo>
                        <a:cubicBezTo>
                          <a:pt x="2268448" y="22728"/>
                          <a:pt x="2098674" y="5291"/>
                          <a:pt x="1845961" y="18288"/>
                        </a:cubicBezTo>
                        <a:cubicBezTo>
                          <a:pt x="1593248" y="31285"/>
                          <a:pt x="1456743" y="27560"/>
                          <a:pt x="1304904" y="18288"/>
                        </a:cubicBezTo>
                        <a:cubicBezTo>
                          <a:pt x="1153065" y="9016"/>
                          <a:pt x="947204" y="11126"/>
                          <a:pt x="668365" y="18288"/>
                        </a:cubicBezTo>
                        <a:cubicBezTo>
                          <a:pt x="389526" y="25450"/>
                          <a:pt x="288244" y="-4628"/>
                          <a:pt x="0" y="18288"/>
                        </a:cubicBezTo>
                        <a:cubicBezTo>
                          <a:pt x="843" y="9577"/>
                          <a:pt x="371" y="6900"/>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24569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DF980A-8D6C-4BE4-8369-4D0B35B92EA5}"/>
              </a:ext>
            </a:extLst>
          </p:cNvPr>
          <p:cNvSpPr>
            <a:spLocks noGrp="1"/>
          </p:cNvSpPr>
          <p:nvPr>
            <p:ph type="title"/>
          </p:nvPr>
        </p:nvSpPr>
        <p:spPr/>
        <p:txBody>
          <a:bodyPr vert="horz" lIns="91440" tIns="45720" rIns="91440" bIns="45720" rtlCol="0" anchor="ctr">
            <a:noAutofit/>
          </a:bodyPr>
          <a:lstStyle/>
          <a:p>
            <a:r>
              <a:rPr lang="en-IN" dirty="0"/>
              <a:t>Failure of </a:t>
            </a:r>
            <a:r>
              <a:rPr lang="en-IN" dirty="0" err="1"/>
              <a:t>TaskTracker</a:t>
            </a:r>
            <a:endParaRPr lang="en-IN" dirty="0"/>
          </a:p>
        </p:txBody>
      </p:sp>
      <p:grpSp>
        <p:nvGrpSpPr>
          <p:cNvPr id="11" name="Group 10">
            <a:extLst>
              <a:ext uri="{FF2B5EF4-FFF2-40B4-BE49-F238E27FC236}">
                <a16:creationId xmlns:a16="http://schemas.microsoft.com/office/drawing/2014/main" id="{9009387E-E3CB-4E43-9322-240748E425B8}"/>
              </a:ext>
            </a:extLst>
          </p:cNvPr>
          <p:cNvGrpSpPr/>
          <p:nvPr/>
        </p:nvGrpSpPr>
        <p:grpSpPr>
          <a:xfrm>
            <a:off x="2732626" y="3022852"/>
            <a:ext cx="2620040" cy="3464710"/>
            <a:chOff x="3062177" y="2391195"/>
            <a:chExt cx="2828258" cy="3912783"/>
          </a:xfrm>
        </p:grpSpPr>
        <p:sp>
          <p:nvSpPr>
            <p:cNvPr id="4" name="Rectangle 3">
              <a:extLst>
                <a:ext uri="{FF2B5EF4-FFF2-40B4-BE49-F238E27FC236}">
                  <a16:creationId xmlns:a16="http://schemas.microsoft.com/office/drawing/2014/main" id="{9DB163A9-200A-4577-9A1E-450C51AD39FC}"/>
                </a:ext>
              </a:extLst>
            </p:cNvPr>
            <p:cNvSpPr/>
            <p:nvPr/>
          </p:nvSpPr>
          <p:spPr>
            <a:xfrm>
              <a:off x="3062177" y="2391195"/>
              <a:ext cx="2658140" cy="3912783"/>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5" name="Rectangle 4">
              <a:extLst>
                <a:ext uri="{FF2B5EF4-FFF2-40B4-BE49-F238E27FC236}">
                  <a16:creationId xmlns:a16="http://schemas.microsoft.com/office/drawing/2014/main" id="{3A45F569-48B8-4CF8-A8A3-7C6E0D14EA11}"/>
                </a:ext>
              </a:extLst>
            </p:cNvPr>
            <p:cNvSpPr/>
            <p:nvPr/>
          </p:nvSpPr>
          <p:spPr>
            <a:xfrm>
              <a:off x="3237614" y="4147431"/>
              <a:ext cx="2083982" cy="15995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latin typeface="Bahnschrift" panose="020B0502040204020203" pitchFamily="34" charset="0"/>
                </a:rPr>
                <a:t>Child JVM</a:t>
              </a:r>
              <a:endParaRPr lang="en-IN" dirty="0">
                <a:solidFill>
                  <a:schemeClr val="tx1"/>
                </a:solidFill>
                <a:latin typeface="Bahnschrift" panose="020B0502040204020203" pitchFamily="34" charset="0"/>
              </a:endParaRPr>
            </a:p>
          </p:txBody>
        </p:sp>
        <p:sp>
          <p:nvSpPr>
            <p:cNvPr id="6" name="Rectangle 5">
              <a:extLst>
                <a:ext uri="{FF2B5EF4-FFF2-40B4-BE49-F238E27FC236}">
                  <a16:creationId xmlns:a16="http://schemas.microsoft.com/office/drawing/2014/main" id="{BB0F663C-64F5-43DA-99BA-F66A48A4170A}"/>
                </a:ext>
              </a:extLst>
            </p:cNvPr>
            <p:cNvSpPr/>
            <p:nvPr/>
          </p:nvSpPr>
          <p:spPr>
            <a:xfrm>
              <a:off x="3530010" y="4420178"/>
              <a:ext cx="1499189" cy="113632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Map or reduce Task</a:t>
              </a:r>
              <a:endParaRPr lang="en-IN" dirty="0">
                <a:latin typeface="Bahnschrift" panose="020B0502040204020203" pitchFamily="34" charset="0"/>
              </a:endParaRPr>
            </a:p>
          </p:txBody>
        </p:sp>
        <p:sp>
          <p:nvSpPr>
            <p:cNvPr id="7" name="Rectangle 6">
              <a:extLst>
                <a:ext uri="{FF2B5EF4-FFF2-40B4-BE49-F238E27FC236}">
                  <a16:creationId xmlns:a16="http://schemas.microsoft.com/office/drawing/2014/main" id="{8FDAFE31-8F54-45A1-881D-59D8A22C7821}"/>
                </a:ext>
              </a:extLst>
            </p:cNvPr>
            <p:cNvSpPr/>
            <p:nvPr/>
          </p:nvSpPr>
          <p:spPr>
            <a:xfrm>
              <a:off x="3418367" y="2620536"/>
              <a:ext cx="1499189" cy="1136320"/>
            </a:xfrm>
            <a:prstGeom prst="rect">
              <a:avLst/>
            </a:prstGeom>
            <a:solidFill>
              <a:schemeClr val="accent2">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Task Tracker</a:t>
              </a:r>
              <a:endParaRPr lang="en-IN" dirty="0">
                <a:latin typeface="Bahnschrift" panose="020B0502040204020203" pitchFamily="34" charset="0"/>
              </a:endParaRPr>
            </a:p>
          </p:txBody>
        </p:sp>
        <p:cxnSp>
          <p:nvCxnSpPr>
            <p:cNvPr id="9" name="Straight Arrow Connector 8">
              <a:extLst>
                <a:ext uri="{FF2B5EF4-FFF2-40B4-BE49-F238E27FC236}">
                  <a16:creationId xmlns:a16="http://schemas.microsoft.com/office/drawing/2014/main" id="{6539AC0F-465C-4129-87E1-D8365F65A309}"/>
                </a:ext>
              </a:extLst>
            </p:cNvPr>
            <p:cNvCxnSpPr>
              <a:stCxn id="7" idx="2"/>
            </p:cNvCxnSpPr>
            <p:nvPr/>
          </p:nvCxnSpPr>
          <p:spPr>
            <a:xfrm flipH="1">
              <a:off x="4167961" y="3756856"/>
              <a:ext cx="1" cy="42174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CEF94F9-4904-4A86-A527-1973C55248F0}"/>
                </a:ext>
              </a:extLst>
            </p:cNvPr>
            <p:cNvSpPr/>
            <p:nvPr/>
          </p:nvSpPr>
          <p:spPr>
            <a:xfrm>
              <a:off x="4391247" y="3838353"/>
              <a:ext cx="1499188" cy="34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Step 3</a:t>
              </a:r>
              <a:endParaRPr lang="en-IN" dirty="0">
                <a:solidFill>
                  <a:schemeClr val="tx1"/>
                </a:solidFill>
                <a:latin typeface="Bahnschrift" panose="020B0502040204020203" pitchFamily="34" charset="0"/>
              </a:endParaRPr>
            </a:p>
          </p:txBody>
        </p:sp>
      </p:grpSp>
      <p:grpSp>
        <p:nvGrpSpPr>
          <p:cNvPr id="24" name="Group 23">
            <a:extLst>
              <a:ext uri="{FF2B5EF4-FFF2-40B4-BE49-F238E27FC236}">
                <a16:creationId xmlns:a16="http://schemas.microsoft.com/office/drawing/2014/main" id="{41645338-ADFE-4472-AB9E-37F9D3DC825F}"/>
              </a:ext>
            </a:extLst>
          </p:cNvPr>
          <p:cNvGrpSpPr/>
          <p:nvPr/>
        </p:nvGrpSpPr>
        <p:grpSpPr>
          <a:xfrm>
            <a:off x="2302834" y="1387448"/>
            <a:ext cx="6422065" cy="1271270"/>
            <a:chOff x="2302834" y="1387448"/>
            <a:chExt cx="6422065" cy="1271270"/>
          </a:xfrm>
        </p:grpSpPr>
        <p:sp>
          <p:nvSpPr>
            <p:cNvPr id="12" name="Rectangle 11">
              <a:extLst>
                <a:ext uri="{FF2B5EF4-FFF2-40B4-BE49-F238E27FC236}">
                  <a16:creationId xmlns:a16="http://schemas.microsoft.com/office/drawing/2014/main" id="{1BA1F06F-9AC5-47B5-9B1D-8706ABD313C8}"/>
                </a:ext>
              </a:extLst>
            </p:cNvPr>
            <p:cNvSpPr/>
            <p:nvPr/>
          </p:nvSpPr>
          <p:spPr>
            <a:xfrm>
              <a:off x="2302834" y="1387448"/>
              <a:ext cx="6422065" cy="127127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13" name="Rectangle 12">
              <a:extLst>
                <a:ext uri="{FF2B5EF4-FFF2-40B4-BE49-F238E27FC236}">
                  <a16:creationId xmlns:a16="http://schemas.microsoft.com/office/drawing/2014/main" id="{5B5E329E-5782-4CD5-AB08-338177441B5A}"/>
                </a:ext>
              </a:extLst>
            </p:cNvPr>
            <p:cNvSpPr/>
            <p:nvPr/>
          </p:nvSpPr>
          <p:spPr>
            <a:xfrm>
              <a:off x="2568647" y="1473841"/>
              <a:ext cx="5890437" cy="88956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14" name="Rectangle 13">
              <a:extLst>
                <a:ext uri="{FF2B5EF4-FFF2-40B4-BE49-F238E27FC236}">
                  <a16:creationId xmlns:a16="http://schemas.microsoft.com/office/drawing/2014/main" id="{77DA1DBD-2C60-4ADE-AE0F-5CA352D98A5B}"/>
                </a:ext>
              </a:extLst>
            </p:cNvPr>
            <p:cNvSpPr/>
            <p:nvPr/>
          </p:nvSpPr>
          <p:spPr>
            <a:xfrm>
              <a:off x="3094074" y="1604430"/>
              <a:ext cx="1477926" cy="628389"/>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Job Tracker</a:t>
              </a:r>
              <a:endParaRPr lang="en-IN" dirty="0">
                <a:solidFill>
                  <a:schemeClr val="tx1"/>
                </a:solidFill>
                <a:latin typeface="Bahnschrift" panose="020B0502040204020203" pitchFamily="34" charset="0"/>
              </a:endParaRPr>
            </a:p>
          </p:txBody>
        </p:sp>
        <p:sp>
          <p:nvSpPr>
            <p:cNvPr id="21" name="Rectangle 20">
              <a:extLst>
                <a:ext uri="{FF2B5EF4-FFF2-40B4-BE49-F238E27FC236}">
                  <a16:creationId xmlns:a16="http://schemas.microsoft.com/office/drawing/2014/main" id="{C63B68B5-D7DC-49BF-8198-D0D121D54AF2}"/>
                </a:ext>
              </a:extLst>
            </p:cNvPr>
            <p:cNvSpPr/>
            <p:nvPr/>
          </p:nvSpPr>
          <p:spPr>
            <a:xfrm>
              <a:off x="4366629" y="2384011"/>
              <a:ext cx="3391786" cy="2206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Bahnschrift" panose="020B0502040204020203" pitchFamily="34" charset="0"/>
                </a:rPr>
                <a:t>Job Tracker Node</a:t>
              </a:r>
              <a:endParaRPr lang="en-IN" sz="2000" dirty="0">
                <a:solidFill>
                  <a:schemeClr val="tx1"/>
                </a:solidFill>
                <a:latin typeface="Bahnschrift" panose="020B0502040204020203" pitchFamily="34" charset="0"/>
              </a:endParaRPr>
            </a:p>
          </p:txBody>
        </p:sp>
      </p:grpSp>
      <p:sp>
        <p:nvSpPr>
          <p:cNvPr id="22" name="Rectangle 21">
            <a:extLst>
              <a:ext uri="{FF2B5EF4-FFF2-40B4-BE49-F238E27FC236}">
                <a16:creationId xmlns:a16="http://schemas.microsoft.com/office/drawing/2014/main" id="{F942A8D3-749A-4275-9F0F-BC46995453FA}"/>
              </a:ext>
            </a:extLst>
          </p:cNvPr>
          <p:cNvSpPr/>
          <p:nvPr/>
        </p:nvSpPr>
        <p:spPr>
          <a:xfrm>
            <a:off x="3900059" y="2562911"/>
            <a:ext cx="1295013" cy="5575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Bahnschrift" panose="020B0502040204020203" pitchFamily="34" charset="0"/>
              </a:rPr>
              <a:t>Heart Beats</a:t>
            </a:r>
            <a:endParaRPr lang="en-IN" sz="1600" dirty="0">
              <a:solidFill>
                <a:schemeClr val="tx1"/>
              </a:solidFill>
              <a:latin typeface="Bahnschrift" panose="020B0502040204020203" pitchFamily="34" charset="0"/>
            </a:endParaRPr>
          </a:p>
        </p:txBody>
      </p:sp>
      <p:cxnSp>
        <p:nvCxnSpPr>
          <p:cNvPr id="16" name="Straight Arrow Connector 15">
            <a:extLst>
              <a:ext uri="{FF2B5EF4-FFF2-40B4-BE49-F238E27FC236}">
                <a16:creationId xmlns:a16="http://schemas.microsoft.com/office/drawing/2014/main" id="{4DC7DF8B-63DB-41EB-AE4E-CF664287EA20}"/>
              </a:ext>
            </a:extLst>
          </p:cNvPr>
          <p:cNvCxnSpPr>
            <a:cxnSpLocks/>
            <a:stCxn id="7" idx="0"/>
            <a:endCxn id="14" idx="2"/>
          </p:cNvCxnSpPr>
          <p:nvPr/>
        </p:nvCxnSpPr>
        <p:spPr>
          <a:xfrm flipV="1">
            <a:off x="3757002" y="2232819"/>
            <a:ext cx="76035" cy="99311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Multiplication Sign 1">
            <a:extLst>
              <a:ext uri="{FF2B5EF4-FFF2-40B4-BE49-F238E27FC236}">
                <a16:creationId xmlns:a16="http://schemas.microsoft.com/office/drawing/2014/main" id="{66603E15-A1DA-4748-829A-35B896A8E58A}"/>
              </a:ext>
            </a:extLst>
          </p:cNvPr>
          <p:cNvSpPr/>
          <p:nvPr/>
        </p:nvSpPr>
        <p:spPr>
          <a:xfrm>
            <a:off x="2565102" y="4545289"/>
            <a:ext cx="2787564" cy="1527938"/>
          </a:xfrm>
          <a:prstGeom prst="mathMultiply">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18" name="Multiplication Sign 17">
            <a:extLst>
              <a:ext uri="{FF2B5EF4-FFF2-40B4-BE49-F238E27FC236}">
                <a16:creationId xmlns:a16="http://schemas.microsoft.com/office/drawing/2014/main" id="{805C17FD-6F93-4C50-985E-D0E0EDA732E4}"/>
              </a:ext>
            </a:extLst>
          </p:cNvPr>
          <p:cNvSpPr/>
          <p:nvPr/>
        </p:nvSpPr>
        <p:spPr>
          <a:xfrm>
            <a:off x="2276696" y="2907264"/>
            <a:ext cx="3112681" cy="1708760"/>
          </a:xfrm>
          <a:prstGeom prst="mathMultiply">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Tree>
    <p:extLst>
      <p:ext uri="{BB962C8B-B14F-4D97-AF65-F5344CB8AC3E}">
        <p14:creationId xmlns:p14="http://schemas.microsoft.com/office/powerpoint/2010/main" val="16435801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DF980A-8D6C-4BE4-8369-4D0B35B92EA5}"/>
              </a:ext>
            </a:extLst>
          </p:cNvPr>
          <p:cNvSpPr>
            <a:spLocks noGrp="1"/>
          </p:cNvSpPr>
          <p:nvPr>
            <p:ph type="title"/>
          </p:nvPr>
        </p:nvSpPr>
        <p:spPr/>
        <p:txBody>
          <a:bodyPr vert="horz" lIns="91440" tIns="45720" rIns="91440" bIns="45720" rtlCol="0" anchor="ctr">
            <a:noAutofit/>
          </a:bodyPr>
          <a:lstStyle/>
          <a:p>
            <a:r>
              <a:rPr lang="en-IN" dirty="0"/>
              <a:t>Failure of </a:t>
            </a:r>
            <a:r>
              <a:rPr lang="en-IN" dirty="0" err="1"/>
              <a:t>TaskTracker</a:t>
            </a:r>
            <a:endParaRPr lang="en-IN" dirty="0"/>
          </a:p>
        </p:txBody>
      </p:sp>
      <p:grpSp>
        <p:nvGrpSpPr>
          <p:cNvPr id="11" name="Group 10">
            <a:extLst>
              <a:ext uri="{FF2B5EF4-FFF2-40B4-BE49-F238E27FC236}">
                <a16:creationId xmlns:a16="http://schemas.microsoft.com/office/drawing/2014/main" id="{9009387E-E3CB-4E43-9322-240748E425B8}"/>
              </a:ext>
            </a:extLst>
          </p:cNvPr>
          <p:cNvGrpSpPr/>
          <p:nvPr/>
        </p:nvGrpSpPr>
        <p:grpSpPr>
          <a:xfrm>
            <a:off x="2732626" y="3022852"/>
            <a:ext cx="2620040" cy="3464710"/>
            <a:chOff x="3062177" y="2391195"/>
            <a:chExt cx="2828258" cy="3912783"/>
          </a:xfrm>
        </p:grpSpPr>
        <p:sp>
          <p:nvSpPr>
            <p:cNvPr id="4" name="Rectangle 3">
              <a:extLst>
                <a:ext uri="{FF2B5EF4-FFF2-40B4-BE49-F238E27FC236}">
                  <a16:creationId xmlns:a16="http://schemas.microsoft.com/office/drawing/2014/main" id="{9DB163A9-200A-4577-9A1E-450C51AD39FC}"/>
                </a:ext>
              </a:extLst>
            </p:cNvPr>
            <p:cNvSpPr/>
            <p:nvPr/>
          </p:nvSpPr>
          <p:spPr>
            <a:xfrm>
              <a:off x="3062177" y="2391195"/>
              <a:ext cx="2658140" cy="3912783"/>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5" name="Rectangle 4">
              <a:extLst>
                <a:ext uri="{FF2B5EF4-FFF2-40B4-BE49-F238E27FC236}">
                  <a16:creationId xmlns:a16="http://schemas.microsoft.com/office/drawing/2014/main" id="{3A45F569-48B8-4CF8-A8A3-7C6E0D14EA11}"/>
                </a:ext>
              </a:extLst>
            </p:cNvPr>
            <p:cNvSpPr/>
            <p:nvPr/>
          </p:nvSpPr>
          <p:spPr>
            <a:xfrm>
              <a:off x="3237614" y="4147431"/>
              <a:ext cx="2083982" cy="15995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latin typeface="Bahnschrift" panose="020B0502040204020203" pitchFamily="34" charset="0"/>
                </a:rPr>
                <a:t>Child JVM</a:t>
              </a:r>
              <a:endParaRPr lang="en-IN" dirty="0">
                <a:solidFill>
                  <a:schemeClr val="tx1"/>
                </a:solidFill>
                <a:latin typeface="Bahnschrift" panose="020B0502040204020203" pitchFamily="34" charset="0"/>
              </a:endParaRPr>
            </a:p>
          </p:txBody>
        </p:sp>
        <p:sp>
          <p:nvSpPr>
            <p:cNvPr id="6" name="Rectangle 5">
              <a:extLst>
                <a:ext uri="{FF2B5EF4-FFF2-40B4-BE49-F238E27FC236}">
                  <a16:creationId xmlns:a16="http://schemas.microsoft.com/office/drawing/2014/main" id="{BB0F663C-64F5-43DA-99BA-F66A48A4170A}"/>
                </a:ext>
              </a:extLst>
            </p:cNvPr>
            <p:cNvSpPr/>
            <p:nvPr/>
          </p:nvSpPr>
          <p:spPr>
            <a:xfrm>
              <a:off x="3530010" y="4420178"/>
              <a:ext cx="1499189" cy="113632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Map or reduce Task</a:t>
              </a:r>
              <a:endParaRPr lang="en-IN" dirty="0">
                <a:latin typeface="Bahnschrift" panose="020B0502040204020203" pitchFamily="34" charset="0"/>
              </a:endParaRPr>
            </a:p>
          </p:txBody>
        </p:sp>
        <p:sp>
          <p:nvSpPr>
            <p:cNvPr id="7" name="Rectangle 6">
              <a:extLst>
                <a:ext uri="{FF2B5EF4-FFF2-40B4-BE49-F238E27FC236}">
                  <a16:creationId xmlns:a16="http://schemas.microsoft.com/office/drawing/2014/main" id="{8FDAFE31-8F54-45A1-881D-59D8A22C7821}"/>
                </a:ext>
              </a:extLst>
            </p:cNvPr>
            <p:cNvSpPr/>
            <p:nvPr/>
          </p:nvSpPr>
          <p:spPr>
            <a:xfrm>
              <a:off x="3418367" y="2620536"/>
              <a:ext cx="1499189" cy="1136320"/>
            </a:xfrm>
            <a:prstGeom prst="rect">
              <a:avLst/>
            </a:prstGeom>
            <a:solidFill>
              <a:schemeClr val="accent2">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Task Tracker</a:t>
              </a:r>
              <a:endParaRPr lang="en-IN" dirty="0">
                <a:latin typeface="Bahnschrift" panose="020B0502040204020203" pitchFamily="34" charset="0"/>
              </a:endParaRPr>
            </a:p>
          </p:txBody>
        </p:sp>
        <p:cxnSp>
          <p:nvCxnSpPr>
            <p:cNvPr id="9" name="Straight Arrow Connector 8">
              <a:extLst>
                <a:ext uri="{FF2B5EF4-FFF2-40B4-BE49-F238E27FC236}">
                  <a16:creationId xmlns:a16="http://schemas.microsoft.com/office/drawing/2014/main" id="{6539AC0F-465C-4129-87E1-D8365F65A309}"/>
                </a:ext>
              </a:extLst>
            </p:cNvPr>
            <p:cNvCxnSpPr>
              <a:stCxn id="7" idx="2"/>
            </p:cNvCxnSpPr>
            <p:nvPr/>
          </p:nvCxnSpPr>
          <p:spPr>
            <a:xfrm flipH="1">
              <a:off x="4167961" y="3756856"/>
              <a:ext cx="1" cy="42174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CEF94F9-4904-4A86-A527-1973C55248F0}"/>
                </a:ext>
              </a:extLst>
            </p:cNvPr>
            <p:cNvSpPr/>
            <p:nvPr/>
          </p:nvSpPr>
          <p:spPr>
            <a:xfrm>
              <a:off x="4391247" y="3838353"/>
              <a:ext cx="1499188" cy="34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Step 3</a:t>
              </a:r>
              <a:endParaRPr lang="en-IN" dirty="0">
                <a:solidFill>
                  <a:schemeClr val="tx1"/>
                </a:solidFill>
                <a:latin typeface="Bahnschrift" panose="020B0502040204020203" pitchFamily="34" charset="0"/>
              </a:endParaRPr>
            </a:p>
          </p:txBody>
        </p:sp>
      </p:grpSp>
      <p:grpSp>
        <p:nvGrpSpPr>
          <p:cNvPr id="24" name="Group 23">
            <a:extLst>
              <a:ext uri="{FF2B5EF4-FFF2-40B4-BE49-F238E27FC236}">
                <a16:creationId xmlns:a16="http://schemas.microsoft.com/office/drawing/2014/main" id="{41645338-ADFE-4472-AB9E-37F9D3DC825F}"/>
              </a:ext>
            </a:extLst>
          </p:cNvPr>
          <p:cNvGrpSpPr/>
          <p:nvPr/>
        </p:nvGrpSpPr>
        <p:grpSpPr>
          <a:xfrm>
            <a:off x="2302834" y="1387448"/>
            <a:ext cx="6422065" cy="1271270"/>
            <a:chOff x="2302834" y="1387448"/>
            <a:chExt cx="6422065" cy="1271270"/>
          </a:xfrm>
        </p:grpSpPr>
        <p:sp>
          <p:nvSpPr>
            <p:cNvPr id="12" name="Rectangle 11">
              <a:extLst>
                <a:ext uri="{FF2B5EF4-FFF2-40B4-BE49-F238E27FC236}">
                  <a16:creationId xmlns:a16="http://schemas.microsoft.com/office/drawing/2014/main" id="{1BA1F06F-9AC5-47B5-9B1D-8706ABD313C8}"/>
                </a:ext>
              </a:extLst>
            </p:cNvPr>
            <p:cNvSpPr/>
            <p:nvPr/>
          </p:nvSpPr>
          <p:spPr>
            <a:xfrm>
              <a:off x="2302834" y="1387448"/>
              <a:ext cx="6422065" cy="127127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13" name="Rectangle 12">
              <a:extLst>
                <a:ext uri="{FF2B5EF4-FFF2-40B4-BE49-F238E27FC236}">
                  <a16:creationId xmlns:a16="http://schemas.microsoft.com/office/drawing/2014/main" id="{5B5E329E-5782-4CD5-AB08-338177441B5A}"/>
                </a:ext>
              </a:extLst>
            </p:cNvPr>
            <p:cNvSpPr/>
            <p:nvPr/>
          </p:nvSpPr>
          <p:spPr>
            <a:xfrm>
              <a:off x="2568647" y="1473841"/>
              <a:ext cx="5890437" cy="88956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14" name="Rectangle 13">
              <a:extLst>
                <a:ext uri="{FF2B5EF4-FFF2-40B4-BE49-F238E27FC236}">
                  <a16:creationId xmlns:a16="http://schemas.microsoft.com/office/drawing/2014/main" id="{77DA1DBD-2C60-4ADE-AE0F-5CA352D98A5B}"/>
                </a:ext>
              </a:extLst>
            </p:cNvPr>
            <p:cNvSpPr/>
            <p:nvPr/>
          </p:nvSpPr>
          <p:spPr>
            <a:xfrm>
              <a:off x="3094074" y="1604430"/>
              <a:ext cx="1477926" cy="628389"/>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Job Tracker</a:t>
              </a:r>
              <a:endParaRPr lang="en-IN" dirty="0">
                <a:solidFill>
                  <a:schemeClr val="tx1"/>
                </a:solidFill>
                <a:latin typeface="Bahnschrift" panose="020B0502040204020203" pitchFamily="34" charset="0"/>
              </a:endParaRPr>
            </a:p>
          </p:txBody>
        </p:sp>
        <p:sp>
          <p:nvSpPr>
            <p:cNvPr id="21" name="Rectangle 20">
              <a:extLst>
                <a:ext uri="{FF2B5EF4-FFF2-40B4-BE49-F238E27FC236}">
                  <a16:creationId xmlns:a16="http://schemas.microsoft.com/office/drawing/2014/main" id="{C63B68B5-D7DC-49BF-8198-D0D121D54AF2}"/>
                </a:ext>
              </a:extLst>
            </p:cNvPr>
            <p:cNvSpPr/>
            <p:nvPr/>
          </p:nvSpPr>
          <p:spPr>
            <a:xfrm>
              <a:off x="4366629" y="2384011"/>
              <a:ext cx="3391786" cy="2206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Bahnschrift" panose="020B0502040204020203" pitchFamily="34" charset="0"/>
                </a:rPr>
                <a:t>Job Tracker Node</a:t>
              </a:r>
              <a:endParaRPr lang="en-IN" sz="2000" dirty="0">
                <a:solidFill>
                  <a:schemeClr val="tx1"/>
                </a:solidFill>
                <a:latin typeface="Bahnschrift" panose="020B0502040204020203" pitchFamily="34" charset="0"/>
              </a:endParaRPr>
            </a:p>
          </p:txBody>
        </p:sp>
      </p:grpSp>
      <p:sp>
        <p:nvSpPr>
          <p:cNvPr id="22" name="Rectangle 21">
            <a:extLst>
              <a:ext uri="{FF2B5EF4-FFF2-40B4-BE49-F238E27FC236}">
                <a16:creationId xmlns:a16="http://schemas.microsoft.com/office/drawing/2014/main" id="{F942A8D3-749A-4275-9F0F-BC46995453FA}"/>
              </a:ext>
            </a:extLst>
          </p:cNvPr>
          <p:cNvSpPr/>
          <p:nvPr/>
        </p:nvSpPr>
        <p:spPr>
          <a:xfrm>
            <a:off x="3900059" y="2562911"/>
            <a:ext cx="1295013" cy="5575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Bahnschrift" panose="020B0502040204020203" pitchFamily="34" charset="0"/>
              </a:rPr>
              <a:t>Heart Beats</a:t>
            </a:r>
            <a:endParaRPr lang="en-IN" sz="1600" dirty="0">
              <a:solidFill>
                <a:schemeClr val="tx1"/>
              </a:solidFill>
              <a:latin typeface="Bahnschrift" panose="020B0502040204020203" pitchFamily="34" charset="0"/>
            </a:endParaRPr>
          </a:p>
        </p:txBody>
      </p:sp>
      <p:cxnSp>
        <p:nvCxnSpPr>
          <p:cNvPr id="16" name="Straight Arrow Connector 15">
            <a:extLst>
              <a:ext uri="{FF2B5EF4-FFF2-40B4-BE49-F238E27FC236}">
                <a16:creationId xmlns:a16="http://schemas.microsoft.com/office/drawing/2014/main" id="{4DC7DF8B-63DB-41EB-AE4E-CF664287EA20}"/>
              </a:ext>
            </a:extLst>
          </p:cNvPr>
          <p:cNvCxnSpPr>
            <a:cxnSpLocks/>
            <a:stCxn id="7" idx="0"/>
            <a:endCxn id="14" idx="2"/>
          </p:cNvCxnSpPr>
          <p:nvPr/>
        </p:nvCxnSpPr>
        <p:spPr>
          <a:xfrm flipV="1">
            <a:off x="3757002" y="2232819"/>
            <a:ext cx="76035" cy="99311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Multiplication Sign 1">
            <a:extLst>
              <a:ext uri="{FF2B5EF4-FFF2-40B4-BE49-F238E27FC236}">
                <a16:creationId xmlns:a16="http://schemas.microsoft.com/office/drawing/2014/main" id="{66603E15-A1DA-4748-829A-35B896A8E58A}"/>
              </a:ext>
            </a:extLst>
          </p:cNvPr>
          <p:cNvSpPr/>
          <p:nvPr/>
        </p:nvSpPr>
        <p:spPr>
          <a:xfrm>
            <a:off x="2565102" y="4545289"/>
            <a:ext cx="2787564" cy="1527938"/>
          </a:xfrm>
          <a:prstGeom prst="mathMultiply">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18" name="Multiplication Sign 17">
            <a:extLst>
              <a:ext uri="{FF2B5EF4-FFF2-40B4-BE49-F238E27FC236}">
                <a16:creationId xmlns:a16="http://schemas.microsoft.com/office/drawing/2014/main" id="{805C17FD-6F93-4C50-985E-D0E0EDA732E4}"/>
              </a:ext>
            </a:extLst>
          </p:cNvPr>
          <p:cNvSpPr/>
          <p:nvPr/>
        </p:nvSpPr>
        <p:spPr>
          <a:xfrm>
            <a:off x="2276696" y="2907264"/>
            <a:ext cx="3112681" cy="1708760"/>
          </a:xfrm>
          <a:prstGeom prst="mathMultiply">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8" name="Multiplication Sign 7">
            <a:extLst>
              <a:ext uri="{FF2B5EF4-FFF2-40B4-BE49-F238E27FC236}">
                <a16:creationId xmlns:a16="http://schemas.microsoft.com/office/drawing/2014/main" id="{05933E61-79E1-46E0-9B0D-2DEF8A8C2550}"/>
              </a:ext>
            </a:extLst>
          </p:cNvPr>
          <p:cNvSpPr/>
          <p:nvPr/>
        </p:nvSpPr>
        <p:spPr>
          <a:xfrm>
            <a:off x="3757002" y="2604411"/>
            <a:ext cx="1530203" cy="418057"/>
          </a:xfrm>
          <a:prstGeom prst="mathMultiply">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Tree>
    <p:extLst>
      <p:ext uri="{BB962C8B-B14F-4D97-AF65-F5344CB8AC3E}">
        <p14:creationId xmlns:p14="http://schemas.microsoft.com/office/powerpoint/2010/main" val="21752932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DF980A-8D6C-4BE4-8369-4D0B35B92EA5}"/>
              </a:ext>
            </a:extLst>
          </p:cNvPr>
          <p:cNvSpPr>
            <a:spLocks noGrp="1"/>
          </p:cNvSpPr>
          <p:nvPr>
            <p:ph type="title"/>
          </p:nvPr>
        </p:nvSpPr>
        <p:spPr/>
        <p:txBody>
          <a:bodyPr vert="horz" lIns="91440" tIns="45720" rIns="91440" bIns="45720" rtlCol="0" anchor="ctr">
            <a:noAutofit/>
          </a:bodyPr>
          <a:lstStyle/>
          <a:p>
            <a:r>
              <a:rPr lang="en-IN" dirty="0"/>
              <a:t>Failure of </a:t>
            </a:r>
            <a:r>
              <a:rPr lang="en-IN" dirty="0" err="1"/>
              <a:t>TaskTracker</a:t>
            </a:r>
            <a:endParaRPr lang="en-IN" dirty="0"/>
          </a:p>
        </p:txBody>
      </p:sp>
      <p:grpSp>
        <p:nvGrpSpPr>
          <p:cNvPr id="11" name="Group 10">
            <a:extLst>
              <a:ext uri="{FF2B5EF4-FFF2-40B4-BE49-F238E27FC236}">
                <a16:creationId xmlns:a16="http://schemas.microsoft.com/office/drawing/2014/main" id="{9009387E-E3CB-4E43-9322-240748E425B8}"/>
              </a:ext>
            </a:extLst>
          </p:cNvPr>
          <p:cNvGrpSpPr/>
          <p:nvPr/>
        </p:nvGrpSpPr>
        <p:grpSpPr>
          <a:xfrm>
            <a:off x="2732626" y="3022852"/>
            <a:ext cx="2620040" cy="3464710"/>
            <a:chOff x="3062177" y="2391195"/>
            <a:chExt cx="2828258" cy="3912783"/>
          </a:xfrm>
        </p:grpSpPr>
        <p:sp>
          <p:nvSpPr>
            <p:cNvPr id="4" name="Rectangle 3">
              <a:extLst>
                <a:ext uri="{FF2B5EF4-FFF2-40B4-BE49-F238E27FC236}">
                  <a16:creationId xmlns:a16="http://schemas.microsoft.com/office/drawing/2014/main" id="{9DB163A9-200A-4577-9A1E-450C51AD39FC}"/>
                </a:ext>
              </a:extLst>
            </p:cNvPr>
            <p:cNvSpPr/>
            <p:nvPr/>
          </p:nvSpPr>
          <p:spPr>
            <a:xfrm>
              <a:off x="3062177" y="2391195"/>
              <a:ext cx="2658140" cy="3912783"/>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5" name="Rectangle 4">
              <a:extLst>
                <a:ext uri="{FF2B5EF4-FFF2-40B4-BE49-F238E27FC236}">
                  <a16:creationId xmlns:a16="http://schemas.microsoft.com/office/drawing/2014/main" id="{3A45F569-48B8-4CF8-A8A3-7C6E0D14EA11}"/>
                </a:ext>
              </a:extLst>
            </p:cNvPr>
            <p:cNvSpPr/>
            <p:nvPr/>
          </p:nvSpPr>
          <p:spPr>
            <a:xfrm>
              <a:off x="3237614" y="4147431"/>
              <a:ext cx="2083982" cy="15995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latin typeface="Bahnschrift" panose="020B0502040204020203" pitchFamily="34" charset="0"/>
                </a:rPr>
                <a:t>Child JVM</a:t>
              </a:r>
              <a:endParaRPr lang="en-IN" dirty="0">
                <a:solidFill>
                  <a:schemeClr val="tx1"/>
                </a:solidFill>
                <a:latin typeface="Bahnschrift" panose="020B0502040204020203" pitchFamily="34" charset="0"/>
              </a:endParaRPr>
            </a:p>
          </p:txBody>
        </p:sp>
        <p:sp>
          <p:nvSpPr>
            <p:cNvPr id="6" name="Rectangle 5">
              <a:extLst>
                <a:ext uri="{FF2B5EF4-FFF2-40B4-BE49-F238E27FC236}">
                  <a16:creationId xmlns:a16="http://schemas.microsoft.com/office/drawing/2014/main" id="{BB0F663C-64F5-43DA-99BA-F66A48A4170A}"/>
                </a:ext>
              </a:extLst>
            </p:cNvPr>
            <p:cNvSpPr/>
            <p:nvPr/>
          </p:nvSpPr>
          <p:spPr>
            <a:xfrm>
              <a:off x="3530010" y="4420178"/>
              <a:ext cx="1499189" cy="113632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Map or reduce Task</a:t>
              </a:r>
              <a:endParaRPr lang="en-IN" dirty="0">
                <a:latin typeface="Bahnschrift" panose="020B0502040204020203" pitchFamily="34" charset="0"/>
              </a:endParaRPr>
            </a:p>
          </p:txBody>
        </p:sp>
        <p:sp>
          <p:nvSpPr>
            <p:cNvPr id="7" name="Rectangle 6">
              <a:extLst>
                <a:ext uri="{FF2B5EF4-FFF2-40B4-BE49-F238E27FC236}">
                  <a16:creationId xmlns:a16="http://schemas.microsoft.com/office/drawing/2014/main" id="{8FDAFE31-8F54-45A1-881D-59D8A22C7821}"/>
                </a:ext>
              </a:extLst>
            </p:cNvPr>
            <p:cNvSpPr/>
            <p:nvPr/>
          </p:nvSpPr>
          <p:spPr>
            <a:xfrm>
              <a:off x="3418367" y="2620536"/>
              <a:ext cx="1499189" cy="1136320"/>
            </a:xfrm>
            <a:prstGeom prst="rect">
              <a:avLst/>
            </a:prstGeom>
            <a:solidFill>
              <a:schemeClr val="accent2">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Task Tracker</a:t>
              </a:r>
              <a:endParaRPr lang="en-IN" dirty="0">
                <a:latin typeface="Bahnschrift" panose="020B0502040204020203" pitchFamily="34" charset="0"/>
              </a:endParaRPr>
            </a:p>
          </p:txBody>
        </p:sp>
        <p:cxnSp>
          <p:nvCxnSpPr>
            <p:cNvPr id="9" name="Straight Arrow Connector 8">
              <a:extLst>
                <a:ext uri="{FF2B5EF4-FFF2-40B4-BE49-F238E27FC236}">
                  <a16:creationId xmlns:a16="http://schemas.microsoft.com/office/drawing/2014/main" id="{6539AC0F-465C-4129-87E1-D8365F65A309}"/>
                </a:ext>
              </a:extLst>
            </p:cNvPr>
            <p:cNvCxnSpPr>
              <a:stCxn id="7" idx="2"/>
            </p:cNvCxnSpPr>
            <p:nvPr/>
          </p:nvCxnSpPr>
          <p:spPr>
            <a:xfrm flipH="1">
              <a:off x="4167961" y="3756856"/>
              <a:ext cx="1" cy="42174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CEF94F9-4904-4A86-A527-1973C55248F0}"/>
                </a:ext>
              </a:extLst>
            </p:cNvPr>
            <p:cNvSpPr/>
            <p:nvPr/>
          </p:nvSpPr>
          <p:spPr>
            <a:xfrm>
              <a:off x="4391247" y="3838353"/>
              <a:ext cx="1499188" cy="34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Step 3</a:t>
              </a:r>
              <a:endParaRPr lang="en-IN" dirty="0">
                <a:solidFill>
                  <a:schemeClr val="tx1"/>
                </a:solidFill>
                <a:latin typeface="Bahnschrift" panose="020B0502040204020203" pitchFamily="34" charset="0"/>
              </a:endParaRPr>
            </a:p>
          </p:txBody>
        </p:sp>
      </p:grpSp>
      <p:grpSp>
        <p:nvGrpSpPr>
          <p:cNvPr id="24" name="Group 23">
            <a:extLst>
              <a:ext uri="{FF2B5EF4-FFF2-40B4-BE49-F238E27FC236}">
                <a16:creationId xmlns:a16="http://schemas.microsoft.com/office/drawing/2014/main" id="{41645338-ADFE-4472-AB9E-37F9D3DC825F}"/>
              </a:ext>
            </a:extLst>
          </p:cNvPr>
          <p:cNvGrpSpPr/>
          <p:nvPr/>
        </p:nvGrpSpPr>
        <p:grpSpPr>
          <a:xfrm>
            <a:off x="2302834" y="1387448"/>
            <a:ext cx="6422065" cy="1271270"/>
            <a:chOff x="2302834" y="1387448"/>
            <a:chExt cx="6422065" cy="1271270"/>
          </a:xfrm>
        </p:grpSpPr>
        <p:sp>
          <p:nvSpPr>
            <p:cNvPr id="12" name="Rectangle 11">
              <a:extLst>
                <a:ext uri="{FF2B5EF4-FFF2-40B4-BE49-F238E27FC236}">
                  <a16:creationId xmlns:a16="http://schemas.microsoft.com/office/drawing/2014/main" id="{1BA1F06F-9AC5-47B5-9B1D-8706ABD313C8}"/>
                </a:ext>
              </a:extLst>
            </p:cNvPr>
            <p:cNvSpPr/>
            <p:nvPr/>
          </p:nvSpPr>
          <p:spPr>
            <a:xfrm>
              <a:off x="2302834" y="1387448"/>
              <a:ext cx="6422065" cy="127127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13" name="Rectangle 12">
              <a:extLst>
                <a:ext uri="{FF2B5EF4-FFF2-40B4-BE49-F238E27FC236}">
                  <a16:creationId xmlns:a16="http://schemas.microsoft.com/office/drawing/2014/main" id="{5B5E329E-5782-4CD5-AB08-338177441B5A}"/>
                </a:ext>
              </a:extLst>
            </p:cNvPr>
            <p:cNvSpPr/>
            <p:nvPr/>
          </p:nvSpPr>
          <p:spPr>
            <a:xfrm>
              <a:off x="2568647" y="1473841"/>
              <a:ext cx="5890437" cy="88956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14" name="Rectangle 13">
              <a:extLst>
                <a:ext uri="{FF2B5EF4-FFF2-40B4-BE49-F238E27FC236}">
                  <a16:creationId xmlns:a16="http://schemas.microsoft.com/office/drawing/2014/main" id="{77DA1DBD-2C60-4ADE-AE0F-5CA352D98A5B}"/>
                </a:ext>
              </a:extLst>
            </p:cNvPr>
            <p:cNvSpPr/>
            <p:nvPr/>
          </p:nvSpPr>
          <p:spPr>
            <a:xfrm>
              <a:off x="3094074" y="1604430"/>
              <a:ext cx="1477926" cy="628389"/>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Job Tracker</a:t>
              </a:r>
              <a:endParaRPr lang="en-IN" dirty="0">
                <a:solidFill>
                  <a:schemeClr val="tx1"/>
                </a:solidFill>
                <a:latin typeface="Bahnschrift" panose="020B0502040204020203" pitchFamily="34" charset="0"/>
              </a:endParaRPr>
            </a:p>
          </p:txBody>
        </p:sp>
        <p:sp>
          <p:nvSpPr>
            <p:cNvPr id="21" name="Rectangle 20">
              <a:extLst>
                <a:ext uri="{FF2B5EF4-FFF2-40B4-BE49-F238E27FC236}">
                  <a16:creationId xmlns:a16="http://schemas.microsoft.com/office/drawing/2014/main" id="{C63B68B5-D7DC-49BF-8198-D0D121D54AF2}"/>
                </a:ext>
              </a:extLst>
            </p:cNvPr>
            <p:cNvSpPr/>
            <p:nvPr/>
          </p:nvSpPr>
          <p:spPr>
            <a:xfrm>
              <a:off x="4366629" y="2384011"/>
              <a:ext cx="3391786" cy="2206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Bahnschrift" panose="020B0502040204020203" pitchFamily="34" charset="0"/>
                </a:rPr>
                <a:t>Job Tracker Node</a:t>
              </a:r>
              <a:endParaRPr lang="en-IN" sz="2000" dirty="0">
                <a:solidFill>
                  <a:schemeClr val="tx1"/>
                </a:solidFill>
                <a:latin typeface="Bahnschrift" panose="020B0502040204020203" pitchFamily="34" charset="0"/>
              </a:endParaRPr>
            </a:p>
          </p:txBody>
        </p:sp>
      </p:grpSp>
      <p:sp>
        <p:nvSpPr>
          <p:cNvPr id="22" name="Rectangle 21">
            <a:extLst>
              <a:ext uri="{FF2B5EF4-FFF2-40B4-BE49-F238E27FC236}">
                <a16:creationId xmlns:a16="http://schemas.microsoft.com/office/drawing/2014/main" id="{F942A8D3-749A-4275-9F0F-BC46995453FA}"/>
              </a:ext>
            </a:extLst>
          </p:cNvPr>
          <p:cNvSpPr/>
          <p:nvPr/>
        </p:nvSpPr>
        <p:spPr>
          <a:xfrm>
            <a:off x="3900059" y="2562911"/>
            <a:ext cx="1295013" cy="5575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Bahnschrift" panose="020B0502040204020203" pitchFamily="34" charset="0"/>
              </a:rPr>
              <a:t>Heart Beats</a:t>
            </a:r>
            <a:endParaRPr lang="en-IN" sz="1600" dirty="0">
              <a:solidFill>
                <a:schemeClr val="tx1"/>
              </a:solidFill>
              <a:latin typeface="Bahnschrift" panose="020B0502040204020203" pitchFamily="34" charset="0"/>
            </a:endParaRPr>
          </a:p>
        </p:txBody>
      </p:sp>
      <p:cxnSp>
        <p:nvCxnSpPr>
          <p:cNvPr id="16" name="Straight Arrow Connector 15">
            <a:extLst>
              <a:ext uri="{FF2B5EF4-FFF2-40B4-BE49-F238E27FC236}">
                <a16:creationId xmlns:a16="http://schemas.microsoft.com/office/drawing/2014/main" id="{4DC7DF8B-63DB-41EB-AE4E-CF664287EA20}"/>
              </a:ext>
            </a:extLst>
          </p:cNvPr>
          <p:cNvCxnSpPr>
            <a:cxnSpLocks/>
            <a:stCxn id="7" idx="0"/>
            <a:endCxn id="14" idx="2"/>
          </p:cNvCxnSpPr>
          <p:nvPr/>
        </p:nvCxnSpPr>
        <p:spPr>
          <a:xfrm flipV="1">
            <a:off x="3757002" y="2232819"/>
            <a:ext cx="76035" cy="99311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Multiplication Sign 1">
            <a:extLst>
              <a:ext uri="{FF2B5EF4-FFF2-40B4-BE49-F238E27FC236}">
                <a16:creationId xmlns:a16="http://schemas.microsoft.com/office/drawing/2014/main" id="{66603E15-A1DA-4748-829A-35B896A8E58A}"/>
              </a:ext>
            </a:extLst>
          </p:cNvPr>
          <p:cNvSpPr/>
          <p:nvPr/>
        </p:nvSpPr>
        <p:spPr>
          <a:xfrm>
            <a:off x="2565102" y="4545289"/>
            <a:ext cx="2787564" cy="1527938"/>
          </a:xfrm>
          <a:prstGeom prst="mathMultiply">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18" name="Multiplication Sign 17">
            <a:extLst>
              <a:ext uri="{FF2B5EF4-FFF2-40B4-BE49-F238E27FC236}">
                <a16:creationId xmlns:a16="http://schemas.microsoft.com/office/drawing/2014/main" id="{805C17FD-6F93-4C50-985E-D0E0EDA732E4}"/>
              </a:ext>
            </a:extLst>
          </p:cNvPr>
          <p:cNvSpPr/>
          <p:nvPr/>
        </p:nvSpPr>
        <p:spPr>
          <a:xfrm>
            <a:off x="2276696" y="2907264"/>
            <a:ext cx="3112681" cy="1708760"/>
          </a:xfrm>
          <a:prstGeom prst="mathMultiply">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8" name="Multiplication Sign 7">
            <a:extLst>
              <a:ext uri="{FF2B5EF4-FFF2-40B4-BE49-F238E27FC236}">
                <a16:creationId xmlns:a16="http://schemas.microsoft.com/office/drawing/2014/main" id="{05933E61-79E1-46E0-9B0D-2DEF8A8C2550}"/>
              </a:ext>
            </a:extLst>
          </p:cNvPr>
          <p:cNvSpPr/>
          <p:nvPr/>
        </p:nvSpPr>
        <p:spPr>
          <a:xfrm>
            <a:off x="3757002" y="2604411"/>
            <a:ext cx="1530203" cy="418057"/>
          </a:xfrm>
          <a:prstGeom prst="mathMultiply">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grpSp>
        <p:nvGrpSpPr>
          <p:cNvPr id="30" name="Group 29">
            <a:extLst>
              <a:ext uri="{FF2B5EF4-FFF2-40B4-BE49-F238E27FC236}">
                <a16:creationId xmlns:a16="http://schemas.microsoft.com/office/drawing/2014/main" id="{3ACFB506-4BA0-4A4B-B93A-4A5949933EF6}"/>
              </a:ext>
            </a:extLst>
          </p:cNvPr>
          <p:cNvGrpSpPr/>
          <p:nvPr/>
        </p:nvGrpSpPr>
        <p:grpSpPr>
          <a:xfrm>
            <a:off x="79075" y="3087131"/>
            <a:ext cx="2620040" cy="3464710"/>
            <a:chOff x="3062177" y="2391195"/>
            <a:chExt cx="2828258" cy="3912783"/>
          </a:xfrm>
        </p:grpSpPr>
        <p:sp>
          <p:nvSpPr>
            <p:cNvPr id="31" name="Rectangle 30">
              <a:extLst>
                <a:ext uri="{FF2B5EF4-FFF2-40B4-BE49-F238E27FC236}">
                  <a16:creationId xmlns:a16="http://schemas.microsoft.com/office/drawing/2014/main" id="{0F67BC08-599D-4A64-B0A0-84D4098246BF}"/>
                </a:ext>
              </a:extLst>
            </p:cNvPr>
            <p:cNvSpPr/>
            <p:nvPr/>
          </p:nvSpPr>
          <p:spPr>
            <a:xfrm>
              <a:off x="3062177" y="2391195"/>
              <a:ext cx="2658140" cy="3912783"/>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32" name="Rectangle 31">
              <a:extLst>
                <a:ext uri="{FF2B5EF4-FFF2-40B4-BE49-F238E27FC236}">
                  <a16:creationId xmlns:a16="http://schemas.microsoft.com/office/drawing/2014/main" id="{F00A77D7-ED1E-4326-AC53-393B16F47CF5}"/>
                </a:ext>
              </a:extLst>
            </p:cNvPr>
            <p:cNvSpPr/>
            <p:nvPr/>
          </p:nvSpPr>
          <p:spPr>
            <a:xfrm>
              <a:off x="3237614" y="4147431"/>
              <a:ext cx="2083982" cy="15995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latin typeface="Bahnschrift" panose="020B0502040204020203" pitchFamily="34" charset="0"/>
                </a:rPr>
                <a:t>Child JVM</a:t>
              </a:r>
              <a:endParaRPr lang="en-IN" dirty="0">
                <a:solidFill>
                  <a:schemeClr val="tx1"/>
                </a:solidFill>
                <a:latin typeface="Bahnschrift" panose="020B0502040204020203" pitchFamily="34" charset="0"/>
              </a:endParaRPr>
            </a:p>
          </p:txBody>
        </p:sp>
        <p:sp>
          <p:nvSpPr>
            <p:cNvPr id="33" name="Rectangle 32">
              <a:extLst>
                <a:ext uri="{FF2B5EF4-FFF2-40B4-BE49-F238E27FC236}">
                  <a16:creationId xmlns:a16="http://schemas.microsoft.com/office/drawing/2014/main" id="{7C88044E-A66F-4A2A-A668-6C4AC2DA9519}"/>
                </a:ext>
              </a:extLst>
            </p:cNvPr>
            <p:cNvSpPr/>
            <p:nvPr/>
          </p:nvSpPr>
          <p:spPr>
            <a:xfrm>
              <a:off x="3530010" y="4420178"/>
              <a:ext cx="1499189" cy="113632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Map or reduce Task</a:t>
              </a:r>
              <a:endParaRPr lang="en-IN" dirty="0">
                <a:latin typeface="Bahnschrift" panose="020B0502040204020203" pitchFamily="34" charset="0"/>
              </a:endParaRPr>
            </a:p>
          </p:txBody>
        </p:sp>
        <p:sp>
          <p:nvSpPr>
            <p:cNvPr id="34" name="Rectangle 33">
              <a:extLst>
                <a:ext uri="{FF2B5EF4-FFF2-40B4-BE49-F238E27FC236}">
                  <a16:creationId xmlns:a16="http://schemas.microsoft.com/office/drawing/2014/main" id="{B73E0246-D7F5-4F32-8576-542379014E3B}"/>
                </a:ext>
              </a:extLst>
            </p:cNvPr>
            <p:cNvSpPr/>
            <p:nvPr/>
          </p:nvSpPr>
          <p:spPr>
            <a:xfrm>
              <a:off x="3418367" y="2620536"/>
              <a:ext cx="1499189" cy="1136320"/>
            </a:xfrm>
            <a:prstGeom prst="rect">
              <a:avLst/>
            </a:prstGeom>
            <a:solidFill>
              <a:schemeClr val="accent2">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Task Tracker</a:t>
              </a:r>
              <a:endParaRPr lang="en-IN" dirty="0">
                <a:latin typeface="Bahnschrift" panose="020B0502040204020203" pitchFamily="34" charset="0"/>
              </a:endParaRPr>
            </a:p>
          </p:txBody>
        </p:sp>
        <p:cxnSp>
          <p:nvCxnSpPr>
            <p:cNvPr id="35" name="Straight Arrow Connector 34">
              <a:extLst>
                <a:ext uri="{FF2B5EF4-FFF2-40B4-BE49-F238E27FC236}">
                  <a16:creationId xmlns:a16="http://schemas.microsoft.com/office/drawing/2014/main" id="{1414E54D-CC1F-4B10-9857-7147EA2CF9F7}"/>
                </a:ext>
              </a:extLst>
            </p:cNvPr>
            <p:cNvCxnSpPr>
              <a:stCxn id="34" idx="2"/>
            </p:cNvCxnSpPr>
            <p:nvPr/>
          </p:nvCxnSpPr>
          <p:spPr>
            <a:xfrm flipH="1">
              <a:off x="4167961" y="3756856"/>
              <a:ext cx="1" cy="42174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90CBB12B-4456-4EDB-8C89-B5A8F429C22A}"/>
                </a:ext>
              </a:extLst>
            </p:cNvPr>
            <p:cNvSpPr/>
            <p:nvPr/>
          </p:nvSpPr>
          <p:spPr>
            <a:xfrm>
              <a:off x="4391247" y="3838353"/>
              <a:ext cx="1499188" cy="34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Step 3</a:t>
              </a:r>
              <a:endParaRPr lang="en-IN" dirty="0">
                <a:solidFill>
                  <a:schemeClr val="tx1"/>
                </a:solidFill>
                <a:latin typeface="Bahnschrift" panose="020B0502040204020203" pitchFamily="34" charset="0"/>
              </a:endParaRPr>
            </a:p>
          </p:txBody>
        </p:sp>
      </p:grpSp>
      <p:cxnSp>
        <p:nvCxnSpPr>
          <p:cNvPr id="17" name="Straight Arrow Connector 16">
            <a:extLst>
              <a:ext uri="{FF2B5EF4-FFF2-40B4-BE49-F238E27FC236}">
                <a16:creationId xmlns:a16="http://schemas.microsoft.com/office/drawing/2014/main" id="{ED1D65CA-1244-4821-BE18-DAC80E1E8DE5}"/>
              </a:ext>
            </a:extLst>
          </p:cNvPr>
          <p:cNvCxnSpPr>
            <a:stCxn id="14" idx="2"/>
            <a:endCxn id="31" idx="0"/>
          </p:cNvCxnSpPr>
          <p:nvPr/>
        </p:nvCxnSpPr>
        <p:spPr>
          <a:xfrm flipH="1">
            <a:off x="1310298" y="2232819"/>
            <a:ext cx="2522739" cy="85431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0B487390-7355-41F2-B19A-AB814B06285E}"/>
              </a:ext>
            </a:extLst>
          </p:cNvPr>
          <p:cNvSpPr txBox="1"/>
          <p:nvPr/>
        </p:nvSpPr>
        <p:spPr>
          <a:xfrm>
            <a:off x="5376247" y="4360623"/>
            <a:ext cx="2938413" cy="646331"/>
          </a:xfrm>
          <a:prstGeom prst="rect">
            <a:avLst/>
          </a:prstGeom>
          <a:noFill/>
        </p:spPr>
        <p:txBody>
          <a:bodyPr wrap="square">
            <a:spAutoFit/>
          </a:bodyPr>
          <a:lstStyle/>
          <a:p>
            <a:r>
              <a:rPr lang="en-IN" dirty="0">
                <a:latin typeface="Bahnschrift" panose="020B0502040204020203" pitchFamily="34" charset="0"/>
              </a:rPr>
              <a:t>R</a:t>
            </a:r>
            <a:r>
              <a:rPr lang="en-IN" sz="1800" dirty="0">
                <a:latin typeface="Bahnschrift" panose="020B0502040204020203" pitchFamily="34" charset="0"/>
              </a:rPr>
              <a:t>eschedules the task on other task tracker.</a:t>
            </a:r>
            <a:endParaRPr lang="en-IN" dirty="0">
              <a:latin typeface="Bahnschrift" panose="020B0502040204020203" pitchFamily="34" charset="0"/>
            </a:endParaRPr>
          </a:p>
        </p:txBody>
      </p:sp>
    </p:spTree>
    <p:extLst>
      <p:ext uri="{BB962C8B-B14F-4D97-AF65-F5344CB8AC3E}">
        <p14:creationId xmlns:p14="http://schemas.microsoft.com/office/powerpoint/2010/main" val="26747321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DF980A-8D6C-4BE4-8369-4D0B35B92EA5}"/>
              </a:ext>
            </a:extLst>
          </p:cNvPr>
          <p:cNvSpPr>
            <a:spLocks noGrp="1"/>
          </p:cNvSpPr>
          <p:nvPr>
            <p:ph type="title"/>
          </p:nvPr>
        </p:nvSpPr>
        <p:spPr/>
        <p:txBody>
          <a:bodyPr vert="horz" lIns="91440" tIns="45720" rIns="91440" bIns="45720" rtlCol="0" anchor="ctr">
            <a:noAutofit/>
          </a:bodyPr>
          <a:lstStyle/>
          <a:p>
            <a:r>
              <a:rPr lang="en-IN" dirty="0"/>
              <a:t>Failure of </a:t>
            </a:r>
            <a:r>
              <a:rPr lang="en-IN" dirty="0" err="1"/>
              <a:t>TaskTracker</a:t>
            </a:r>
            <a:endParaRPr lang="en-IN" dirty="0"/>
          </a:p>
        </p:txBody>
      </p:sp>
      <p:grpSp>
        <p:nvGrpSpPr>
          <p:cNvPr id="11" name="Group 10">
            <a:extLst>
              <a:ext uri="{FF2B5EF4-FFF2-40B4-BE49-F238E27FC236}">
                <a16:creationId xmlns:a16="http://schemas.microsoft.com/office/drawing/2014/main" id="{9009387E-E3CB-4E43-9322-240748E425B8}"/>
              </a:ext>
            </a:extLst>
          </p:cNvPr>
          <p:cNvGrpSpPr/>
          <p:nvPr/>
        </p:nvGrpSpPr>
        <p:grpSpPr>
          <a:xfrm>
            <a:off x="2732626" y="3022852"/>
            <a:ext cx="2620040" cy="3464710"/>
            <a:chOff x="3062177" y="2391195"/>
            <a:chExt cx="2828258" cy="3912783"/>
          </a:xfrm>
        </p:grpSpPr>
        <p:sp>
          <p:nvSpPr>
            <p:cNvPr id="4" name="Rectangle 3">
              <a:extLst>
                <a:ext uri="{FF2B5EF4-FFF2-40B4-BE49-F238E27FC236}">
                  <a16:creationId xmlns:a16="http://schemas.microsoft.com/office/drawing/2014/main" id="{9DB163A9-200A-4577-9A1E-450C51AD39FC}"/>
                </a:ext>
              </a:extLst>
            </p:cNvPr>
            <p:cNvSpPr/>
            <p:nvPr/>
          </p:nvSpPr>
          <p:spPr>
            <a:xfrm>
              <a:off x="3062177" y="2391195"/>
              <a:ext cx="2658140" cy="3912783"/>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5" name="Rectangle 4">
              <a:extLst>
                <a:ext uri="{FF2B5EF4-FFF2-40B4-BE49-F238E27FC236}">
                  <a16:creationId xmlns:a16="http://schemas.microsoft.com/office/drawing/2014/main" id="{3A45F569-48B8-4CF8-A8A3-7C6E0D14EA11}"/>
                </a:ext>
              </a:extLst>
            </p:cNvPr>
            <p:cNvSpPr/>
            <p:nvPr/>
          </p:nvSpPr>
          <p:spPr>
            <a:xfrm>
              <a:off x="3237614" y="4147431"/>
              <a:ext cx="2083982" cy="15995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latin typeface="Bahnschrift" panose="020B0502040204020203" pitchFamily="34" charset="0"/>
                </a:rPr>
                <a:t>Child JVM</a:t>
              </a:r>
              <a:endParaRPr lang="en-IN" dirty="0">
                <a:solidFill>
                  <a:schemeClr val="tx1"/>
                </a:solidFill>
                <a:latin typeface="Bahnschrift" panose="020B0502040204020203" pitchFamily="34" charset="0"/>
              </a:endParaRPr>
            </a:p>
          </p:txBody>
        </p:sp>
        <p:sp>
          <p:nvSpPr>
            <p:cNvPr id="6" name="Rectangle 5">
              <a:extLst>
                <a:ext uri="{FF2B5EF4-FFF2-40B4-BE49-F238E27FC236}">
                  <a16:creationId xmlns:a16="http://schemas.microsoft.com/office/drawing/2014/main" id="{BB0F663C-64F5-43DA-99BA-F66A48A4170A}"/>
                </a:ext>
              </a:extLst>
            </p:cNvPr>
            <p:cNvSpPr/>
            <p:nvPr/>
          </p:nvSpPr>
          <p:spPr>
            <a:xfrm>
              <a:off x="3530010" y="4420178"/>
              <a:ext cx="1499189" cy="113632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Map or reduce Task</a:t>
              </a:r>
              <a:endParaRPr lang="en-IN" dirty="0">
                <a:latin typeface="Bahnschrift" panose="020B0502040204020203" pitchFamily="34" charset="0"/>
              </a:endParaRPr>
            </a:p>
          </p:txBody>
        </p:sp>
        <p:sp>
          <p:nvSpPr>
            <p:cNvPr id="7" name="Rectangle 6">
              <a:extLst>
                <a:ext uri="{FF2B5EF4-FFF2-40B4-BE49-F238E27FC236}">
                  <a16:creationId xmlns:a16="http://schemas.microsoft.com/office/drawing/2014/main" id="{8FDAFE31-8F54-45A1-881D-59D8A22C7821}"/>
                </a:ext>
              </a:extLst>
            </p:cNvPr>
            <p:cNvSpPr/>
            <p:nvPr/>
          </p:nvSpPr>
          <p:spPr>
            <a:xfrm>
              <a:off x="3418367" y="2620536"/>
              <a:ext cx="1499189" cy="1136320"/>
            </a:xfrm>
            <a:prstGeom prst="rect">
              <a:avLst/>
            </a:prstGeom>
            <a:solidFill>
              <a:schemeClr val="accent2">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Task Tracker</a:t>
              </a:r>
              <a:endParaRPr lang="en-IN" dirty="0">
                <a:latin typeface="Bahnschrift" panose="020B0502040204020203" pitchFamily="34" charset="0"/>
              </a:endParaRPr>
            </a:p>
          </p:txBody>
        </p:sp>
        <p:cxnSp>
          <p:nvCxnSpPr>
            <p:cNvPr id="9" name="Straight Arrow Connector 8">
              <a:extLst>
                <a:ext uri="{FF2B5EF4-FFF2-40B4-BE49-F238E27FC236}">
                  <a16:creationId xmlns:a16="http://schemas.microsoft.com/office/drawing/2014/main" id="{6539AC0F-465C-4129-87E1-D8365F65A309}"/>
                </a:ext>
              </a:extLst>
            </p:cNvPr>
            <p:cNvCxnSpPr>
              <a:stCxn id="7" idx="2"/>
            </p:cNvCxnSpPr>
            <p:nvPr/>
          </p:nvCxnSpPr>
          <p:spPr>
            <a:xfrm flipH="1">
              <a:off x="4167961" y="3756856"/>
              <a:ext cx="1" cy="42174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CEF94F9-4904-4A86-A527-1973C55248F0}"/>
                </a:ext>
              </a:extLst>
            </p:cNvPr>
            <p:cNvSpPr/>
            <p:nvPr/>
          </p:nvSpPr>
          <p:spPr>
            <a:xfrm>
              <a:off x="4391247" y="3838353"/>
              <a:ext cx="1499188" cy="34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Step 3</a:t>
              </a:r>
              <a:endParaRPr lang="en-IN" dirty="0">
                <a:solidFill>
                  <a:schemeClr val="tx1"/>
                </a:solidFill>
                <a:latin typeface="Bahnschrift" panose="020B0502040204020203" pitchFamily="34" charset="0"/>
              </a:endParaRPr>
            </a:p>
          </p:txBody>
        </p:sp>
      </p:grpSp>
      <p:grpSp>
        <p:nvGrpSpPr>
          <p:cNvPr id="24" name="Group 23">
            <a:extLst>
              <a:ext uri="{FF2B5EF4-FFF2-40B4-BE49-F238E27FC236}">
                <a16:creationId xmlns:a16="http://schemas.microsoft.com/office/drawing/2014/main" id="{41645338-ADFE-4472-AB9E-37F9D3DC825F}"/>
              </a:ext>
            </a:extLst>
          </p:cNvPr>
          <p:cNvGrpSpPr/>
          <p:nvPr/>
        </p:nvGrpSpPr>
        <p:grpSpPr>
          <a:xfrm>
            <a:off x="2302834" y="1387448"/>
            <a:ext cx="6422065" cy="1271270"/>
            <a:chOff x="2302834" y="1387448"/>
            <a:chExt cx="6422065" cy="1271270"/>
          </a:xfrm>
        </p:grpSpPr>
        <p:sp>
          <p:nvSpPr>
            <p:cNvPr id="12" name="Rectangle 11">
              <a:extLst>
                <a:ext uri="{FF2B5EF4-FFF2-40B4-BE49-F238E27FC236}">
                  <a16:creationId xmlns:a16="http://schemas.microsoft.com/office/drawing/2014/main" id="{1BA1F06F-9AC5-47B5-9B1D-8706ABD313C8}"/>
                </a:ext>
              </a:extLst>
            </p:cNvPr>
            <p:cNvSpPr/>
            <p:nvPr/>
          </p:nvSpPr>
          <p:spPr>
            <a:xfrm>
              <a:off x="2302834" y="1387448"/>
              <a:ext cx="6422065" cy="127127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13" name="Rectangle 12">
              <a:extLst>
                <a:ext uri="{FF2B5EF4-FFF2-40B4-BE49-F238E27FC236}">
                  <a16:creationId xmlns:a16="http://schemas.microsoft.com/office/drawing/2014/main" id="{5B5E329E-5782-4CD5-AB08-338177441B5A}"/>
                </a:ext>
              </a:extLst>
            </p:cNvPr>
            <p:cNvSpPr/>
            <p:nvPr/>
          </p:nvSpPr>
          <p:spPr>
            <a:xfrm>
              <a:off x="2568647" y="1473841"/>
              <a:ext cx="5890437" cy="88956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14" name="Rectangle 13">
              <a:extLst>
                <a:ext uri="{FF2B5EF4-FFF2-40B4-BE49-F238E27FC236}">
                  <a16:creationId xmlns:a16="http://schemas.microsoft.com/office/drawing/2014/main" id="{77DA1DBD-2C60-4ADE-AE0F-5CA352D98A5B}"/>
                </a:ext>
              </a:extLst>
            </p:cNvPr>
            <p:cNvSpPr/>
            <p:nvPr/>
          </p:nvSpPr>
          <p:spPr>
            <a:xfrm>
              <a:off x="3094074" y="1604430"/>
              <a:ext cx="1477926" cy="628389"/>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Job Tracker</a:t>
              </a:r>
              <a:endParaRPr lang="en-IN" dirty="0">
                <a:solidFill>
                  <a:schemeClr val="tx1"/>
                </a:solidFill>
                <a:latin typeface="Bahnschrift" panose="020B0502040204020203" pitchFamily="34" charset="0"/>
              </a:endParaRPr>
            </a:p>
          </p:txBody>
        </p:sp>
        <p:sp>
          <p:nvSpPr>
            <p:cNvPr id="21" name="Rectangle 20">
              <a:extLst>
                <a:ext uri="{FF2B5EF4-FFF2-40B4-BE49-F238E27FC236}">
                  <a16:creationId xmlns:a16="http://schemas.microsoft.com/office/drawing/2014/main" id="{C63B68B5-D7DC-49BF-8198-D0D121D54AF2}"/>
                </a:ext>
              </a:extLst>
            </p:cNvPr>
            <p:cNvSpPr/>
            <p:nvPr/>
          </p:nvSpPr>
          <p:spPr>
            <a:xfrm>
              <a:off x="4366629" y="2384011"/>
              <a:ext cx="3391786" cy="2206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Bahnschrift" panose="020B0502040204020203" pitchFamily="34" charset="0"/>
                </a:rPr>
                <a:t>Job Tracker Node</a:t>
              </a:r>
              <a:endParaRPr lang="en-IN" sz="2000" dirty="0">
                <a:solidFill>
                  <a:schemeClr val="tx1"/>
                </a:solidFill>
                <a:latin typeface="Bahnschrift" panose="020B0502040204020203" pitchFamily="34" charset="0"/>
              </a:endParaRPr>
            </a:p>
          </p:txBody>
        </p:sp>
      </p:grpSp>
      <p:sp>
        <p:nvSpPr>
          <p:cNvPr id="22" name="Rectangle 21">
            <a:extLst>
              <a:ext uri="{FF2B5EF4-FFF2-40B4-BE49-F238E27FC236}">
                <a16:creationId xmlns:a16="http://schemas.microsoft.com/office/drawing/2014/main" id="{F942A8D3-749A-4275-9F0F-BC46995453FA}"/>
              </a:ext>
            </a:extLst>
          </p:cNvPr>
          <p:cNvSpPr/>
          <p:nvPr/>
        </p:nvSpPr>
        <p:spPr>
          <a:xfrm>
            <a:off x="3900059" y="2562911"/>
            <a:ext cx="1295013" cy="5575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Bahnschrift" panose="020B0502040204020203" pitchFamily="34" charset="0"/>
              </a:rPr>
              <a:t>Heart Beats</a:t>
            </a:r>
            <a:endParaRPr lang="en-IN" sz="1600" dirty="0">
              <a:solidFill>
                <a:schemeClr val="tx1"/>
              </a:solidFill>
              <a:latin typeface="Bahnschrift" panose="020B0502040204020203" pitchFamily="34" charset="0"/>
            </a:endParaRPr>
          </a:p>
        </p:txBody>
      </p:sp>
      <p:cxnSp>
        <p:nvCxnSpPr>
          <p:cNvPr id="16" name="Straight Arrow Connector 15">
            <a:extLst>
              <a:ext uri="{FF2B5EF4-FFF2-40B4-BE49-F238E27FC236}">
                <a16:creationId xmlns:a16="http://schemas.microsoft.com/office/drawing/2014/main" id="{4DC7DF8B-63DB-41EB-AE4E-CF664287EA20}"/>
              </a:ext>
            </a:extLst>
          </p:cNvPr>
          <p:cNvCxnSpPr>
            <a:cxnSpLocks/>
            <a:stCxn id="7" idx="0"/>
            <a:endCxn id="14" idx="2"/>
          </p:cNvCxnSpPr>
          <p:nvPr/>
        </p:nvCxnSpPr>
        <p:spPr>
          <a:xfrm flipV="1">
            <a:off x="3757002" y="2232819"/>
            <a:ext cx="76035" cy="99311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Multiplication Sign 1">
            <a:extLst>
              <a:ext uri="{FF2B5EF4-FFF2-40B4-BE49-F238E27FC236}">
                <a16:creationId xmlns:a16="http://schemas.microsoft.com/office/drawing/2014/main" id="{66603E15-A1DA-4748-829A-35B896A8E58A}"/>
              </a:ext>
            </a:extLst>
          </p:cNvPr>
          <p:cNvSpPr/>
          <p:nvPr/>
        </p:nvSpPr>
        <p:spPr>
          <a:xfrm>
            <a:off x="2565102" y="4545289"/>
            <a:ext cx="2787564" cy="1527938"/>
          </a:xfrm>
          <a:prstGeom prst="mathMultiply">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18" name="Multiplication Sign 17">
            <a:extLst>
              <a:ext uri="{FF2B5EF4-FFF2-40B4-BE49-F238E27FC236}">
                <a16:creationId xmlns:a16="http://schemas.microsoft.com/office/drawing/2014/main" id="{805C17FD-6F93-4C50-985E-D0E0EDA732E4}"/>
              </a:ext>
            </a:extLst>
          </p:cNvPr>
          <p:cNvSpPr/>
          <p:nvPr/>
        </p:nvSpPr>
        <p:spPr>
          <a:xfrm>
            <a:off x="2276696" y="2907264"/>
            <a:ext cx="3112681" cy="1708760"/>
          </a:xfrm>
          <a:prstGeom prst="mathMultiply">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8" name="Multiplication Sign 7">
            <a:extLst>
              <a:ext uri="{FF2B5EF4-FFF2-40B4-BE49-F238E27FC236}">
                <a16:creationId xmlns:a16="http://schemas.microsoft.com/office/drawing/2014/main" id="{05933E61-79E1-46E0-9B0D-2DEF8A8C2550}"/>
              </a:ext>
            </a:extLst>
          </p:cNvPr>
          <p:cNvSpPr/>
          <p:nvPr/>
        </p:nvSpPr>
        <p:spPr>
          <a:xfrm>
            <a:off x="3757002" y="2604411"/>
            <a:ext cx="1530203" cy="418057"/>
          </a:xfrm>
          <a:prstGeom prst="mathMultiply">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grpSp>
        <p:nvGrpSpPr>
          <p:cNvPr id="30" name="Group 29">
            <a:extLst>
              <a:ext uri="{FF2B5EF4-FFF2-40B4-BE49-F238E27FC236}">
                <a16:creationId xmlns:a16="http://schemas.microsoft.com/office/drawing/2014/main" id="{3ACFB506-4BA0-4A4B-B93A-4A5949933EF6}"/>
              </a:ext>
            </a:extLst>
          </p:cNvPr>
          <p:cNvGrpSpPr/>
          <p:nvPr/>
        </p:nvGrpSpPr>
        <p:grpSpPr>
          <a:xfrm>
            <a:off x="79075" y="3087131"/>
            <a:ext cx="2620040" cy="3464710"/>
            <a:chOff x="3062177" y="2391195"/>
            <a:chExt cx="2828258" cy="3912783"/>
          </a:xfrm>
        </p:grpSpPr>
        <p:sp>
          <p:nvSpPr>
            <p:cNvPr id="31" name="Rectangle 30">
              <a:extLst>
                <a:ext uri="{FF2B5EF4-FFF2-40B4-BE49-F238E27FC236}">
                  <a16:creationId xmlns:a16="http://schemas.microsoft.com/office/drawing/2014/main" id="{0F67BC08-599D-4A64-B0A0-84D4098246BF}"/>
                </a:ext>
              </a:extLst>
            </p:cNvPr>
            <p:cNvSpPr/>
            <p:nvPr/>
          </p:nvSpPr>
          <p:spPr>
            <a:xfrm>
              <a:off x="3062177" y="2391195"/>
              <a:ext cx="2658140" cy="3912783"/>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32" name="Rectangle 31">
              <a:extLst>
                <a:ext uri="{FF2B5EF4-FFF2-40B4-BE49-F238E27FC236}">
                  <a16:creationId xmlns:a16="http://schemas.microsoft.com/office/drawing/2014/main" id="{F00A77D7-ED1E-4326-AC53-393B16F47CF5}"/>
                </a:ext>
              </a:extLst>
            </p:cNvPr>
            <p:cNvSpPr/>
            <p:nvPr/>
          </p:nvSpPr>
          <p:spPr>
            <a:xfrm>
              <a:off x="3237614" y="4147431"/>
              <a:ext cx="2083982" cy="15995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latin typeface="Bahnschrift" panose="020B0502040204020203" pitchFamily="34" charset="0"/>
                </a:rPr>
                <a:t>Child JVM</a:t>
              </a:r>
              <a:endParaRPr lang="en-IN" dirty="0">
                <a:solidFill>
                  <a:schemeClr val="tx1"/>
                </a:solidFill>
                <a:latin typeface="Bahnschrift" panose="020B0502040204020203" pitchFamily="34" charset="0"/>
              </a:endParaRPr>
            </a:p>
          </p:txBody>
        </p:sp>
        <p:sp>
          <p:nvSpPr>
            <p:cNvPr id="33" name="Rectangle 32">
              <a:extLst>
                <a:ext uri="{FF2B5EF4-FFF2-40B4-BE49-F238E27FC236}">
                  <a16:creationId xmlns:a16="http://schemas.microsoft.com/office/drawing/2014/main" id="{7C88044E-A66F-4A2A-A668-6C4AC2DA9519}"/>
                </a:ext>
              </a:extLst>
            </p:cNvPr>
            <p:cNvSpPr/>
            <p:nvPr/>
          </p:nvSpPr>
          <p:spPr>
            <a:xfrm>
              <a:off x="3530010" y="4420178"/>
              <a:ext cx="1499189" cy="113632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Map or reduce Task</a:t>
              </a:r>
              <a:endParaRPr lang="en-IN" dirty="0">
                <a:latin typeface="Bahnschrift" panose="020B0502040204020203" pitchFamily="34" charset="0"/>
              </a:endParaRPr>
            </a:p>
          </p:txBody>
        </p:sp>
        <p:sp>
          <p:nvSpPr>
            <p:cNvPr id="34" name="Rectangle 33">
              <a:extLst>
                <a:ext uri="{FF2B5EF4-FFF2-40B4-BE49-F238E27FC236}">
                  <a16:creationId xmlns:a16="http://schemas.microsoft.com/office/drawing/2014/main" id="{B73E0246-D7F5-4F32-8576-542379014E3B}"/>
                </a:ext>
              </a:extLst>
            </p:cNvPr>
            <p:cNvSpPr/>
            <p:nvPr/>
          </p:nvSpPr>
          <p:spPr>
            <a:xfrm>
              <a:off x="3418367" y="2620536"/>
              <a:ext cx="1499189" cy="1136320"/>
            </a:xfrm>
            <a:prstGeom prst="rect">
              <a:avLst/>
            </a:prstGeom>
            <a:solidFill>
              <a:schemeClr val="accent2">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Task Tracker</a:t>
              </a:r>
              <a:endParaRPr lang="en-IN" dirty="0">
                <a:latin typeface="Bahnschrift" panose="020B0502040204020203" pitchFamily="34" charset="0"/>
              </a:endParaRPr>
            </a:p>
          </p:txBody>
        </p:sp>
        <p:cxnSp>
          <p:nvCxnSpPr>
            <p:cNvPr id="35" name="Straight Arrow Connector 34">
              <a:extLst>
                <a:ext uri="{FF2B5EF4-FFF2-40B4-BE49-F238E27FC236}">
                  <a16:creationId xmlns:a16="http://schemas.microsoft.com/office/drawing/2014/main" id="{1414E54D-CC1F-4B10-9857-7147EA2CF9F7}"/>
                </a:ext>
              </a:extLst>
            </p:cNvPr>
            <p:cNvCxnSpPr>
              <a:stCxn id="34" idx="2"/>
            </p:cNvCxnSpPr>
            <p:nvPr/>
          </p:nvCxnSpPr>
          <p:spPr>
            <a:xfrm flipH="1">
              <a:off x="4167961" y="3756856"/>
              <a:ext cx="1" cy="42174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90CBB12B-4456-4EDB-8C89-B5A8F429C22A}"/>
                </a:ext>
              </a:extLst>
            </p:cNvPr>
            <p:cNvSpPr/>
            <p:nvPr/>
          </p:nvSpPr>
          <p:spPr>
            <a:xfrm>
              <a:off x="4391247" y="3838353"/>
              <a:ext cx="1499188" cy="34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Step 3</a:t>
              </a:r>
              <a:endParaRPr lang="en-IN" dirty="0">
                <a:solidFill>
                  <a:schemeClr val="tx1"/>
                </a:solidFill>
                <a:latin typeface="Bahnschrift" panose="020B0502040204020203" pitchFamily="34" charset="0"/>
              </a:endParaRPr>
            </a:p>
          </p:txBody>
        </p:sp>
      </p:grpSp>
      <p:cxnSp>
        <p:nvCxnSpPr>
          <p:cNvPr id="17" name="Straight Arrow Connector 16">
            <a:extLst>
              <a:ext uri="{FF2B5EF4-FFF2-40B4-BE49-F238E27FC236}">
                <a16:creationId xmlns:a16="http://schemas.microsoft.com/office/drawing/2014/main" id="{ED1D65CA-1244-4821-BE18-DAC80E1E8DE5}"/>
              </a:ext>
            </a:extLst>
          </p:cNvPr>
          <p:cNvCxnSpPr>
            <a:stCxn id="14" idx="2"/>
            <a:endCxn id="31" idx="0"/>
          </p:cNvCxnSpPr>
          <p:nvPr/>
        </p:nvCxnSpPr>
        <p:spPr>
          <a:xfrm flipH="1">
            <a:off x="1310298" y="2232819"/>
            <a:ext cx="2522739" cy="85431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0B487390-7355-41F2-B19A-AB814B06285E}"/>
              </a:ext>
            </a:extLst>
          </p:cNvPr>
          <p:cNvSpPr txBox="1"/>
          <p:nvPr/>
        </p:nvSpPr>
        <p:spPr>
          <a:xfrm>
            <a:off x="5376247" y="4360624"/>
            <a:ext cx="3348652" cy="369332"/>
          </a:xfrm>
          <a:prstGeom prst="rect">
            <a:avLst/>
          </a:prstGeom>
          <a:noFill/>
        </p:spPr>
        <p:txBody>
          <a:bodyPr wrap="square">
            <a:spAutoFit/>
          </a:bodyPr>
          <a:lstStyle/>
          <a:p>
            <a:r>
              <a:rPr lang="en-IN" sz="1800" dirty="0" err="1">
                <a:latin typeface="Bahnschrift" panose="020B0502040204020203" pitchFamily="34" charset="0"/>
              </a:rPr>
              <a:t>mapred.max.tracker.failures</a:t>
            </a:r>
            <a:endParaRPr lang="en-IN" dirty="0">
              <a:latin typeface="Bahnschrift" panose="020B0502040204020203" pitchFamily="34" charset="0"/>
            </a:endParaRPr>
          </a:p>
        </p:txBody>
      </p:sp>
    </p:spTree>
    <p:extLst>
      <p:ext uri="{BB962C8B-B14F-4D97-AF65-F5344CB8AC3E}">
        <p14:creationId xmlns:p14="http://schemas.microsoft.com/office/powerpoint/2010/main" val="29976376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ED8E54F9-849C-4865-8C5E-FD967B81D7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391AE6B3-1D2D-4C67-A4DB-888635B527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054983"/>
          </a:xfrm>
          <a:custGeom>
            <a:avLst/>
            <a:gdLst>
              <a:gd name="connsiteX0" fmla="*/ 6788003 w 12188952"/>
              <a:gd name="connsiteY0" fmla="*/ 5986774 h 6054983"/>
              <a:gd name="connsiteX1" fmla="*/ 6787005 w 12188952"/>
              <a:gd name="connsiteY1" fmla="*/ 5986852 h 6054983"/>
              <a:gd name="connsiteX2" fmla="*/ 6786779 w 12188952"/>
              <a:gd name="connsiteY2" fmla="*/ 5987386 h 6054983"/>
              <a:gd name="connsiteX3" fmla="*/ 0 w 12188952"/>
              <a:gd name="connsiteY3" fmla="*/ 0 h 6054983"/>
              <a:gd name="connsiteX4" fmla="*/ 12188952 w 12188952"/>
              <a:gd name="connsiteY4" fmla="*/ 0 h 6054983"/>
              <a:gd name="connsiteX5" fmla="*/ 12188952 w 12188952"/>
              <a:gd name="connsiteY5" fmla="*/ 5092539 h 6054983"/>
              <a:gd name="connsiteX6" fmla="*/ 12058081 w 12188952"/>
              <a:gd name="connsiteY6" fmla="*/ 5131579 h 6054983"/>
              <a:gd name="connsiteX7" fmla="*/ 11673881 w 12188952"/>
              <a:gd name="connsiteY7" fmla="*/ 5235154 h 6054983"/>
              <a:gd name="connsiteX8" fmla="*/ 10422749 w 12188952"/>
              <a:gd name="connsiteY8" fmla="*/ 5518693 h 6054983"/>
              <a:gd name="connsiteX9" fmla="*/ 9421666 w 12188952"/>
              <a:gd name="connsiteY9" fmla="*/ 5693855 h 6054983"/>
              <a:gd name="connsiteX10" fmla="*/ 8456304 w 12188952"/>
              <a:gd name="connsiteY10" fmla="*/ 5827556 h 6054983"/>
              <a:gd name="connsiteX11" fmla="*/ 7714041 w 12188952"/>
              <a:gd name="connsiteY11" fmla="*/ 5907503 h 6054983"/>
              <a:gd name="connsiteX12" fmla="*/ 6949978 w 12188952"/>
              <a:gd name="connsiteY12" fmla="*/ 5973283 h 6054983"/>
              <a:gd name="connsiteX13" fmla="*/ 6934569 w 12188952"/>
              <a:gd name="connsiteY13" fmla="*/ 5975354 h 6054983"/>
              <a:gd name="connsiteX14" fmla="*/ 6788750 w 12188952"/>
              <a:gd name="connsiteY14" fmla="*/ 5986715 h 6054983"/>
              <a:gd name="connsiteX15" fmla="*/ 6798241 w 12188952"/>
              <a:gd name="connsiteY15" fmla="*/ 5988535 h 6054983"/>
              <a:gd name="connsiteX16" fmla="*/ 6833723 w 12188952"/>
              <a:gd name="connsiteY16" fmla="*/ 5986828 h 6054983"/>
              <a:gd name="connsiteX17" fmla="*/ 6882282 w 12188952"/>
              <a:gd name="connsiteY17" fmla="*/ 5983850 h 6054983"/>
              <a:gd name="connsiteX18" fmla="*/ 7576876 w 12188952"/>
              <a:gd name="connsiteY18" fmla="*/ 5951323 h 6054983"/>
              <a:gd name="connsiteX19" fmla="*/ 8621689 w 12188952"/>
              <a:gd name="connsiteY19" fmla="*/ 5864426 h 6054983"/>
              <a:gd name="connsiteX20" fmla="*/ 9477600 w 12188952"/>
              <a:gd name="connsiteY20" fmla="*/ 5760520 h 6054983"/>
              <a:gd name="connsiteX21" fmla="*/ 10626651 w 12188952"/>
              <a:gd name="connsiteY21" fmla="*/ 5566363 h 6054983"/>
              <a:gd name="connsiteX22" fmla="*/ 11995498 w 12188952"/>
              <a:gd name="connsiteY22" fmla="*/ 5240369 h 6054983"/>
              <a:gd name="connsiteX23" fmla="*/ 12188952 w 12188952"/>
              <a:gd name="connsiteY23" fmla="*/ 5183370 h 6054983"/>
              <a:gd name="connsiteX24" fmla="*/ 12188952 w 12188952"/>
              <a:gd name="connsiteY24" fmla="*/ 5238107 h 6054983"/>
              <a:gd name="connsiteX25" fmla="*/ 11826300 w 12188952"/>
              <a:gd name="connsiteY25" fmla="*/ 5343406 h 6054983"/>
              <a:gd name="connsiteX26" fmla="*/ 10936448 w 12188952"/>
              <a:gd name="connsiteY26" fmla="*/ 5557921 h 6054983"/>
              <a:gd name="connsiteX27" fmla="*/ 9983034 w 12188952"/>
              <a:gd name="connsiteY27" fmla="*/ 5737926 h 6054983"/>
              <a:gd name="connsiteX28" fmla="*/ 9184585 w 12188952"/>
              <a:gd name="connsiteY28" fmla="*/ 5853873 h 6054983"/>
              <a:gd name="connsiteX29" fmla="*/ 8576053 w 12188952"/>
              <a:gd name="connsiteY29" fmla="*/ 5923392 h 6054983"/>
              <a:gd name="connsiteX30" fmla="*/ 7862392 w 12188952"/>
              <a:gd name="connsiteY30" fmla="*/ 5984843 h 6054983"/>
              <a:gd name="connsiteX31" fmla="*/ 6933768 w 12188952"/>
              <a:gd name="connsiteY31" fmla="*/ 6036237 h 6054983"/>
              <a:gd name="connsiteX32" fmla="*/ 6476130 w 12188952"/>
              <a:gd name="connsiteY32" fmla="*/ 6050140 h 6054983"/>
              <a:gd name="connsiteX33" fmla="*/ 6360703 w 12188952"/>
              <a:gd name="connsiteY33" fmla="*/ 6054983 h 6054983"/>
              <a:gd name="connsiteX34" fmla="*/ 6055614 w 12188952"/>
              <a:gd name="connsiteY34" fmla="*/ 6054983 h 6054983"/>
              <a:gd name="connsiteX35" fmla="*/ 5976289 w 12188952"/>
              <a:gd name="connsiteY35" fmla="*/ 6050389 h 6054983"/>
              <a:gd name="connsiteX36" fmla="*/ 5263770 w 12188952"/>
              <a:gd name="connsiteY36" fmla="*/ 6014140 h 6054983"/>
              <a:gd name="connsiteX37" fmla="*/ 4345190 w 12188952"/>
              <a:gd name="connsiteY37" fmla="*/ 5952070 h 6054983"/>
              <a:gd name="connsiteX38" fmla="*/ 3372201 w 12188952"/>
              <a:gd name="connsiteY38" fmla="*/ 5853501 h 6054983"/>
              <a:gd name="connsiteX39" fmla="*/ 2361582 w 12188952"/>
              <a:gd name="connsiteY39" fmla="*/ 5734574 h 6054983"/>
              <a:gd name="connsiteX40" fmla="*/ 1232869 w 12188952"/>
              <a:gd name="connsiteY40" fmla="*/ 5561398 h 6054983"/>
              <a:gd name="connsiteX41" fmla="*/ 68483 w 12188952"/>
              <a:gd name="connsiteY41" fmla="*/ 5321691 h 6054983"/>
              <a:gd name="connsiteX42" fmla="*/ 0 w 12188952"/>
              <a:gd name="connsiteY42" fmla="*/ 5304336 h 6054983"/>
              <a:gd name="connsiteX43" fmla="*/ 0 w 12188952"/>
              <a:gd name="connsiteY43" fmla="*/ 5247847 h 6054983"/>
              <a:gd name="connsiteX44" fmla="*/ 72423 w 12188952"/>
              <a:gd name="connsiteY44" fmla="*/ 5266624 h 6054983"/>
              <a:gd name="connsiteX45" fmla="*/ 600566 w 12188952"/>
              <a:gd name="connsiteY45" fmla="*/ 5384994 h 6054983"/>
              <a:gd name="connsiteX46" fmla="*/ 1769069 w 12188952"/>
              <a:gd name="connsiteY46" fmla="*/ 5595162 h 6054983"/>
              <a:gd name="connsiteX47" fmla="*/ 2612900 w 12188952"/>
              <a:gd name="connsiteY47" fmla="*/ 5712104 h 6054983"/>
              <a:gd name="connsiteX48" fmla="*/ 2580488 w 12188952"/>
              <a:gd name="connsiteY48" fmla="*/ 5702173 h 6054983"/>
              <a:gd name="connsiteX49" fmla="*/ 1112357 w 12188952"/>
              <a:gd name="connsiteY49" fmla="*/ 5369476 h 6054983"/>
              <a:gd name="connsiteX50" fmla="*/ 420307 w 12188952"/>
              <a:gd name="connsiteY50" fmla="*/ 5170043 h 6054983"/>
              <a:gd name="connsiteX51" fmla="*/ 0 w 12188952"/>
              <a:gd name="connsiteY51" fmla="*/ 5031126 h 6054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88952" h="6054983">
                <a:moveTo>
                  <a:pt x="6788003" y="5986774"/>
                </a:moveTo>
                <a:lnTo>
                  <a:pt x="6787005" y="5986852"/>
                </a:lnTo>
                <a:lnTo>
                  <a:pt x="6786779" y="5987386"/>
                </a:lnTo>
                <a:close/>
                <a:moveTo>
                  <a:pt x="0" y="0"/>
                </a:moveTo>
                <a:lnTo>
                  <a:pt x="12188952" y="0"/>
                </a:lnTo>
                <a:lnTo>
                  <a:pt x="12188952" y="5092539"/>
                </a:lnTo>
                <a:lnTo>
                  <a:pt x="12058081" y="5131579"/>
                </a:lnTo>
                <a:cubicBezTo>
                  <a:pt x="11930517" y="5167793"/>
                  <a:pt x="11802439" y="5202322"/>
                  <a:pt x="11673881" y="5235154"/>
                </a:cubicBezTo>
                <a:cubicBezTo>
                  <a:pt x="11259973" y="5342661"/>
                  <a:pt x="10842632" y="5436263"/>
                  <a:pt x="10422749" y="5518693"/>
                </a:cubicBezTo>
                <a:cubicBezTo>
                  <a:pt x="10090287" y="5583904"/>
                  <a:pt x="9756593" y="5642301"/>
                  <a:pt x="9421666" y="5693855"/>
                </a:cubicBezTo>
                <a:cubicBezTo>
                  <a:pt x="9100721" y="5743512"/>
                  <a:pt x="8778938" y="5788079"/>
                  <a:pt x="8456304" y="5827556"/>
                </a:cubicBezTo>
                <a:cubicBezTo>
                  <a:pt x="8209307" y="5857722"/>
                  <a:pt x="7961801" y="5883295"/>
                  <a:pt x="7714041" y="5907503"/>
                </a:cubicBezTo>
                <a:lnTo>
                  <a:pt x="6949978" y="5973283"/>
                </a:lnTo>
                <a:lnTo>
                  <a:pt x="6934569" y="5975354"/>
                </a:lnTo>
                <a:lnTo>
                  <a:pt x="6788750" y="5986715"/>
                </a:lnTo>
                <a:lnTo>
                  <a:pt x="6798241" y="5988535"/>
                </a:lnTo>
                <a:cubicBezTo>
                  <a:pt x="6809920" y="5989001"/>
                  <a:pt x="6822028" y="5986828"/>
                  <a:pt x="6833723" y="5986828"/>
                </a:cubicBezTo>
                <a:cubicBezTo>
                  <a:pt x="6849867" y="5986828"/>
                  <a:pt x="6866012" y="5984221"/>
                  <a:pt x="6882282" y="5983850"/>
                </a:cubicBezTo>
                <a:cubicBezTo>
                  <a:pt x="7114026" y="5978388"/>
                  <a:pt x="7345514" y="5966221"/>
                  <a:pt x="7576876" y="5951323"/>
                </a:cubicBezTo>
                <a:cubicBezTo>
                  <a:pt x="7925570" y="5928855"/>
                  <a:pt x="8274011" y="5900676"/>
                  <a:pt x="8621689" y="5864426"/>
                </a:cubicBezTo>
                <a:cubicBezTo>
                  <a:pt x="8907712" y="5835128"/>
                  <a:pt x="9193011" y="5800493"/>
                  <a:pt x="9477600" y="5760520"/>
                </a:cubicBezTo>
                <a:cubicBezTo>
                  <a:pt x="9862435" y="5706146"/>
                  <a:pt x="10245452" y="5641432"/>
                  <a:pt x="10626651" y="5566363"/>
                </a:cubicBezTo>
                <a:cubicBezTo>
                  <a:pt x="11087341" y="5475243"/>
                  <a:pt x="11544088" y="5367737"/>
                  <a:pt x="11995498" y="5240369"/>
                </a:cubicBezTo>
                <a:lnTo>
                  <a:pt x="12188952" y="5183370"/>
                </a:lnTo>
                <a:lnTo>
                  <a:pt x="12188952" y="5238107"/>
                </a:lnTo>
                <a:lnTo>
                  <a:pt x="11826300" y="5343406"/>
                </a:lnTo>
                <a:cubicBezTo>
                  <a:pt x="11531885" y="5423103"/>
                  <a:pt x="11235310" y="5493989"/>
                  <a:pt x="10936448" y="5557921"/>
                </a:cubicBezTo>
                <a:cubicBezTo>
                  <a:pt x="10620168" y="5625703"/>
                  <a:pt x="10302365" y="5685700"/>
                  <a:pt x="9983034" y="5737926"/>
                </a:cubicBezTo>
                <a:cubicBezTo>
                  <a:pt x="9717606" y="5781375"/>
                  <a:pt x="9451451" y="5820020"/>
                  <a:pt x="9184585" y="5853873"/>
                </a:cubicBezTo>
                <a:cubicBezTo>
                  <a:pt x="8981951" y="5879447"/>
                  <a:pt x="8779319" y="5903530"/>
                  <a:pt x="8576053" y="5923392"/>
                </a:cubicBezTo>
                <a:cubicBezTo>
                  <a:pt x="8338462" y="5946112"/>
                  <a:pt x="8100618" y="5967587"/>
                  <a:pt x="7862392" y="5984843"/>
                </a:cubicBezTo>
                <a:cubicBezTo>
                  <a:pt x="7553105" y="6007187"/>
                  <a:pt x="7243690" y="6025065"/>
                  <a:pt x="6933768" y="6036237"/>
                </a:cubicBezTo>
                <a:cubicBezTo>
                  <a:pt x="6781221" y="6041700"/>
                  <a:pt x="6628676" y="6045548"/>
                  <a:pt x="6476130" y="6050140"/>
                </a:cubicBezTo>
                <a:cubicBezTo>
                  <a:pt x="6437585" y="6048056"/>
                  <a:pt x="6398929" y="6049681"/>
                  <a:pt x="6360703" y="6054983"/>
                </a:cubicBezTo>
                <a:lnTo>
                  <a:pt x="6055614" y="6054983"/>
                </a:lnTo>
                <a:lnTo>
                  <a:pt x="5976289" y="6050389"/>
                </a:lnTo>
                <a:cubicBezTo>
                  <a:pt x="5738826" y="6037976"/>
                  <a:pt x="5501363" y="6024197"/>
                  <a:pt x="5263770" y="6014140"/>
                </a:cubicBezTo>
                <a:cubicBezTo>
                  <a:pt x="4957027" y="6001724"/>
                  <a:pt x="4650663" y="5981244"/>
                  <a:pt x="4345190" y="5952070"/>
                </a:cubicBezTo>
                <a:cubicBezTo>
                  <a:pt x="4020648" y="5921158"/>
                  <a:pt x="3696870" y="5886523"/>
                  <a:pt x="3372201" y="5853501"/>
                </a:cubicBezTo>
                <a:cubicBezTo>
                  <a:pt x="3034653" y="5819239"/>
                  <a:pt x="2697781" y="5779600"/>
                  <a:pt x="2361582" y="5734574"/>
                </a:cubicBezTo>
                <a:cubicBezTo>
                  <a:pt x="1984196" y="5684421"/>
                  <a:pt x="1607962" y="5626695"/>
                  <a:pt x="1232869" y="5561398"/>
                </a:cubicBezTo>
                <a:cubicBezTo>
                  <a:pt x="841970" y="5492685"/>
                  <a:pt x="453644" y="5414197"/>
                  <a:pt x="68483" y="5321691"/>
                </a:cubicBezTo>
                <a:lnTo>
                  <a:pt x="0" y="5304336"/>
                </a:lnTo>
                <a:lnTo>
                  <a:pt x="0" y="5247847"/>
                </a:lnTo>
                <a:lnTo>
                  <a:pt x="72423" y="5266624"/>
                </a:lnTo>
                <a:cubicBezTo>
                  <a:pt x="247899" y="5308802"/>
                  <a:pt x="424058" y="5348062"/>
                  <a:pt x="600566" y="5384994"/>
                </a:cubicBezTo>
                <a:cubicBezTo>
                  <a:pt x="988032" y="5465808"/>
                  <a:pt x="1377788" y="5534706"/>
                  <a:pt x="1769069" y="5595162"/>
                </a:cubicBezTo>
                <a:cubicBezTo>
                  <a:pt x="2051913" y="5638738"/>
                  <a:pt x="2335141" y="5678835"/>
                  <a:pt x="2612900" y="5712104"/>
                </a:cubicBezTo>
                <a:cubicBezTo>
                  <a:pt x="2604892" y="5714711"/>
                  <a:pt x="2593962" y="5704655"/>
                  <a:pt x="2580488" y="5702173"/>
                </a:cubicBezTo>
                <a:cubicBezTo>
                  <a:pt x="2086656" y="5610221"/>
                  <a:pt x="1597284" y="5499328"/>
                  <a:pt x="1112357" y="5369476"/>
                </a:cubicBezTo>
                <a:cubicBezTo>
                  <a:pt x="880233" y="5307405"/>
                  <a:pt x="649550" y="5240927"/>
                  <a:pt x="420307" y="5170043"/>
                </a:cubicBezTo>
                <a:lnTo>
                  <a:pt x="0" y="503112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42EEDA9-D527-459E-9F04-DD0DAA52C9F6}"/>
              </a:ext>
            </a:extLst>
          </p:cNvPr>
          <p:cNvSpPr>
            <a:spLocks noGrp="1"/>
          </p:cNvSpPr>
          <p:nvPr>
            <p:ph type="title"/>
          </p:nvPr>
        </p:nvSpPr>
        <p:spPr>
          <a:xfrm>
            <a:off x="1143000" y="929452"/>
            <a:ext cx="6858000" cy="2526738"/>
          </a:xfrm>
        </p:spPr>
        <p:txBody>
          <a:bodyPr vert="horz" lIns="91440" tIns="45720" rIns="91440" bIns="45720" rtlCol="0" anchor="b">
            <a:normAutofit/>
          </a:bodyPr>
          <a:lstStyle/>
          <a:p>
            <a:pPr algn="ctr"/>
            <a:r>
              <a:rPr lang="en-US" sz="5700" kern="1200" dirty="0">
                <a:solidFill>
                  <a:srgbClr val="FFFFFF"/>
                </a:solidFill>
                <a:latin typeface="Bahnschrift" panose="020B0502040204020203" pitchFamily="34" charset="0"/>
              </a:rPr>
              <a:t>Failure of Job Tracker</a:t>
            </a:r>
          </a:p>
        </p:txBody>
      </p:sp>
      <p:sp>
        <p:nvSpPr>
          <p:cNvPr id="11" name="sketch line">
            <a:extLst>
              <a:ext uri="{FF2B5EF4-FFF2-40B4-BE49-F238E27FC236}">
                <a16:creationId xmlns:a16="http://schemas.microsoft.com/office/drawing/2014/main" id="{6D080EC2-42B5-4E04-BBF7-F0BC5CB7C9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3566566"/>
            <a:ext cx="3182692" cy="18288"/>
          </a:xfrm>
          <a:custGeom>
            <a:avLst/>
            <a:gdLst>
              <a:gd name="connsiteX0" fmla="*/ 0 w 3182692"/>
              <a:gd name="connsiteY0" fmla="*/ 0 h 18288"/>
              <a:gd name="connsiteX1" fmla="*/ 604711 w 3182692"/>
              <a:gd name="connsiteY1" fmla="*/ 0 h 18288"/>
              <a:gd name="connsiteX2" fmla="*/ 1241250 w 3182692"/>
              <a:gd name="connsiteY2" fmla="*/ 0 h 18288"/>
              <a:gd name="connsiteX3" fmla="*/ 1909615 w 3182692"/>
              <a:gd name="connsiteY3" fmla="*/ 0 h 18288"/>
              <a:gd name="connsiteX4" fmla="*/ 2577981 w 3182692"/>
              <a:gd name="connsiteY4" fmla="*/ 0 h 18288"/>
              <a:gd name="connsiteX5" fmla="*/ 3182692 w 3182692"/>
              <a:gd name="connsiteY5" fmla="*/ 0 h 18288"/>
              <a:gd name="connsiteX6" fmla="*/ 3182692 w 3182692"/>
              <a:gd name="connsiteY6" fmla="*/ 18288 h 18288"/>
              <a:gd name="connsiteX7" fmla="*/ 2482500 w 3182692"/>
              <a:gd name="connsiteY7" fmla="*/ 18288 h 18288"/>
              <a:gd name="connsiteX8" fmla="*/ 1782308 w 3182692"/>
              <a:gd name="connsiteY8" fmla="*/ 18288 h 18288"/>
              <a:gd name="connsiteX9" fmla="*/ 1145769 w 3182692"/>
              <a:gd name="connsiteY9" fmla="*/ 18288 h 18288"/>
              <a:gd name="connsiteX10" fmla="*/ 0 w 3182692"/>
              <a:gd name="connsiteY10" fmla="*/ 18288 h 18288"/>
              <a:gd name="connsiteX11" fmla="*/ 0 w 3182692"/>
              <a:gd name="connsiteY11" fmla="*/ 0 h 18288"/>
              <a:gd name="connsiteX0" fmla="*/ 0 w 3182692"/>
              <a:gd name="connsiteY0" fmla="*/ 0 h 18288"/>
              <a:gd name="connsiteX1" fmla="*/ 604711 w 3182692"/>
              <a:gd name="connsiteY1" fmla="*/ 0 h 18288"/>
              <a:gd name="connsiteX2" fmla="*/ 1145769 w 3182692"/>
              <a:gd name="connsiteY2" fmla="*/ 0 h 18288"/>
              <a:gd name="connsiteX3" fmla="*/ 1845961 w 3182692"/>
              <a:gd name="connsiteY3" fmla="*/ 0 h 18288"/>
              <a:gd name="connsiteX4" fmla="*/ 2450673 w 3182692"/>
              <a:gd name="connsiteY4" fmla="*/ 0 h 18288"/>
              <a:gd name="connsiteX5" fmla="*/ 3182692 w 3182692"/>
              <a:gd name="connsiteY5" fmla="*/ 0 h 18288"/>
              <a:gd name="connsiteX6" fmla="*/ 3182692 w 3182692"/>
              <a:gd name="connsiteY6" fmla="*/ 18288 h 18288"/>
              <a:gd name="connsiteX7" fmla="*/ 2546154 w 3182692"/>
              <a:gd name="connsiteY7" fmla="*/ 18288 h 18288"/>
              <a:gd name="connsiteX8" fmla="*/ 1845961 w 3182692"/>
              <a:gd name="connsiteY8" fmla="*/ 18288 h 18288"/>
              <a:gd name="connsiteX9" fmla="*/ 1304904 w 3182692"/>
              <a:gd name="connsiteY9" fmla="*/ 18288 h 18288"/>
              <a:gd name="connsiteX10" fmla="*/ 668365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145195" y="-37571"/>
                  <a:pt x="472618" y="-13696"/>
                  <a:pt x="604711" y="0"/>
                </a:cubicBezTo>
                <a:cubicBezTo>
                  <a:pt x="706652" y="-3280"/>
                  <a:pt x="1039328" y="-8567"/>
                  <a:pt x="1241250" y="0"/>
                </a:cubicBezTo>
                <a:cubicBezTo>
                  <a:pt x="1405712" y="-7891"/>
                  <a:pt x="1711158" y="8053"/>
                  <a:pt x="1909615" y="0"/>
                </a:cubicBezTo>
                <a:cubicBezTo>
                  <a:pt x="2107436" y="-40150"/>
                  <a:pt x="2247192" y="19443"/>
                  <a:pt x="2577981" y="0"/>
                </a:cubicBezTo>
                <a:cubicBezTo>
                  <a:pt x="2894393" y="-5855"/>
                  <a:pt x="3041563" y="17846"/>
                  <a:pt x="3182692" y="0"/>
                </a:cubicBezTo>
                <a:cubicBezTo>
                  <a:pt x="3181973" y="8390"/>
                  <a:pt x="3182735" y="11854"/>
                  <a:pt x="3182692" y="18288"/>
                </a:cubicBezTo>
                <a:cubicBezTo>
                  <a:pt x="2975928" y="57450"/>
                  <a:pt x="2667693" y="19406"/>
                  <a:pt x="2482500" y="18288"/>
                </a:cubicBezTo>
                <a:cubicBezTo>
                  <a:pt x="2299734" y="36912"/>
                  <a:pt x="1925962" y="9303"/>
                  <a:pt x="1782308" y="18288"/>
                </a:cubicBezTo>
                <a:cubicBezTo>
                  <a:pt x="1635580" y="20546"/>
                  <a:pt x="1257854" y="-3663"/>
                  <a:pt x="1145769" y="18288"/>
                </a:cubicBezTo>
                <a:cubicBezTo>
                  <a:pt x="1025065" y="56574"/>
                  <a:pt x="247799" y="-11536"/>
                  <a:pt x="0" y="18288"/>
                </a:cubicBezTo>
                <a:cubicBezTo>
                  <a:pt x="-405" y="13204"/>
                  <a:pt x="-1092" y="5311"/>
                  <a:pt x="0" y="0"/>
                </a:cubicBezTo>
                <a:close/>
              </a:path>
              <a:path w="3182692" h="18288" stroke="0" extrusionOk="0">
                <a:moveTo>
                  <a:pt x="0" y="0"/>
                </a:moveTo>
                <a:cubicBezTo>
                  <a:pt x="288308" y="19724"/>
                  <a:pt x="431183" y="-26509"/>
                  <a:pt x="604711" y="0"/>
                </a:cubicBezTo>
                <a:cubicBezTo>
                  <a:pt x="795174" y="4405"/>
                  <a:pt x="950067" y="22541"/>
                  <a:pt x="1145769" y="0"/>
                </a:cubicBezTo>
                <a:cubicBezTo>
                  <a:pt x="1301850" y="7702"/>
                  <a:pt x="1499974" y="-70469"/>
                  <a:pt x="1845961" y="0"/>
                </a:cubicBezTo>
                <a:cubicBezTo>
                  <a:pt x="2191264" y="15313"/>
                  <a:pt x="2307232" y="-97"/>
                  <a:pt x="2450673" y="0"/>
                </a:cubicBezTo>
                <a:cubicBezTo>
                  <a:pt x="2596405" y="-19465"/>
                  <a:pt x="3033067" y="-31048"/>
                  <a:pt x="3182692" y="0"/>
                </a:cubicBezTo>
                <a:cubicBezTo>
                  <a:pt x="3182066" y="4696"/>
                  <a:pt x="3183370" y="10269"/>
                  <a:pt x="3182692" y="18288"/>
                </a:cubicBezTo>
                <a:cubicBezTo>
                  <a:pt x="3091120" y="-23022"/>
                  <a:pt x="2811074" y="61693"/>
                  <a:pt x="2546154" y="18288"/>
                </a:cubicBezTo>
                <a:cubicBezTo>
                  <a:pt x="2285186" y="27529"/>
                  <a:pt x="2090205" y="-22321"/>
                  <a:pt x="1845961" y="18288"/>
                </a:cubicBezTo>
                <a:cubicBezTo>
                  <a:pt x="1599794" y="31493"/>
                  <a:pt x="1466284" y="37447"/>
                  <a:pt x="1304904" y="18288"/>
                </a:cubicBezTo>
                <a:cubicBezTo>
                  <a:pt x="1189365" y="43775"/>
                  <a:pt x="952251" y="23461"/>
                  <a:pt x="668365" y="18288"/>
                </a:cubicBezTo>
                <a:cubicBezTo>
                  <a:pt x="407868" y="43595"/>
                  <a:pt x="284672" y="-9405"/>
                  <a:pt x="0" y="18288"/>
                </a:cubicBezTo>
                <a:cubicBezTo>
                  <a:pt x="527" y="9891"/>
                  <a:pt x="870" y="7012"/>
                  <a:pt x="0" y="0"/>
                </a:cubicBezTo>
                <a:close/>
              </a:path>
              <a:path w="3182692" h="18288" fill="none" stroke="0" extrusionOk="0">
                <a:moveTo>
                  <a:pt x="0" y="0"/>
                </a:moveTo>
                <a:cubicBezTo>
                  <a:pt x="108839" y="-32375"/>
                  <a:pt x="447732" y="16552"/>
                  <a:pt x="604711" y="0"/>
                </a:cubicBezTo>
                <a:cubicBezTo>
                  <a:pt x="781899" y="-548"/>
                  <a:pt x="1052060" y="7118"/>
                  <a:pt x="1241250" y="0"/>
                </a:cubicBezTo>
                <a:cubicBezTo>
                  <a:pt x="1399482" y="14083"/>
                  <a:pt x="1706293" y="54730"/>
                  <a:pt x="1909615" y="0"/>
                </a:cubicBezTo>
                <a:cubicBezTo>
                  <a:pt x="2085313" y="-24404"/>
                  <a:pt x="2264415" y="16988"/>
                  <a:pt x="2577981" y="0"/>
                </a:cubicBezTo>
                <a:cubicBezTo>
                  <a:pt x="2926098" y="-10318"/>
                  <a:pt x="3036314" y="-14769"/>
                  <a:pt x="3182692" y="0"/>
                </a:cubicBezTo>
                <a:cubicBezTo>
                  <a:pt x="3181841" y="8135"/>
                  <a:pt x="3181636" y="12730"/>
                  <a:pt x="3182692" y="18288"/>
                </a:cubicBezTo>
                <a:cubicBezTo>
                  <a:pt x="2996012" y="-1231"/>
                  <a:pt x="2669008" y="27395"/>
                  <a:pt x="2482500" y="18288"/>
                </a:cubicBezTo>
                <a:cubicBezTo>
                  <a:pt x="2296543" y="21246"/>
                  <a:pt x="1935236" y="7938"/>
                  <a:pt x="1782308" y="18288"/>
                </a:cubicBezTo>
                <a:cubicBezTo>
                  <a:pt x="1607683" y="25490"/>
                  <a:pt x="1291498" y="1369"/>
                  <a:pt x="1145769" y="18288"/>
                </a:cubicBezTo>
                <a:cubicBezTo>
                  <a:pt x="1015407" y="55325"/>
                  <a:pt x="262557" y="26571"/>
                  <a:pt x="0" y="18288"/>
                </a:cubicBezTo>
                <a:cubicBezTo>
                  <a:pt x="508" y="13336"/>
                  <a:pt x="437" y="7274"/>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custGeom>
                    <a:avLst/>
                    <a:gdLst>
                      <a:gd name="connsiteX0" fmla="*/ 0 w 3182692"/>
                      <a:gd name="connsiteY0" fmla="*/ 0 h 18288"/>
                      <a:gd name="connsiteX1" fmla="*/ 604711 w 3182692"/>
                      <a:gd name="connsiteY1" fmla="*/ 0 h 18288"/>
                      <a:gd name="connsiteX2" fmla="*/ 1241250 w 3182692"/>
                      <a:gd name="connsiteY2" fmla="*/ 0 h 18288"/>
                      <a:gd name="connsiteX3" fmla="*/ 1909615 w 3182692"/>
                      <a:gd name="connsiteY3" fmla="*/ 0 h 18288"/>
                      <a:gd name="connsiteX4" fmla="*/ 2577981 w 3182692"/>
                      <a:gd name="connsiteY4" fmla="*/ 0 h 18288"/>
                      <a:gd name="connsiteX5" fmla="*/ 3182692 w 3182692"/>
                      <a:gd name="connsiteY5" fmla="*/ 0 h 18288"/>
                      <a:gd name="connsiteX6" fmla="*/ 3182692 w 3182692"/>
                      <a:gd name="connsiteY6" fmla="*/ 18288 h 18288"/>
                      <a:gd name="connsiteX7" fmla="*/ 2482500 w 3182692"/>
                      <a:gd name="connsiteY7" fmla="*/ 18288 h 18288"/>
                      <a:gd name="connsiteX8" fmla="*/ 1782308 w 3182692"/>
                      <a:gd name="connsiteY8" fmla="*/ 18288 h 18288"/>
                      <a:gd name="connsiteX9" fmla="*/ 1145769 w 3182692"/>
                      <a:gd name="connsiteY9" fmla="*/ 18288 h 18288"/>
                      <a:gd name="connsiteX10" fmla="*/ 0 w 3182692"/>
                      <a:gd name="connsiteY10" fmla="*/ 18288 h 18288"/>
                      <a:gd name="connsiteX11" fmla="*/ 0 w 3182692"/>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2692" h="18288" fill="none" extrusionOk="0">
                        <a:moveTo>
                          <a:pt x="0" y="0"/>
                        </a:moveTo>
                        <a:cubicBezTo>
                          <a:pt x="126686" y="-21366"/>
                          <a:pt x="467788" y="9025"/>
                          <a:pt x="604711" y="0"/>
                        </a:cubicBezTo>
                        <a:cubicBezTo>
                          <a:pt x="741634" y="-9025"/>
                          <a:pt x="1061620" y="6814"/>
                          <a:pt x="1241250" y="0"/>
                        </a:cubicBezTo>
                        <a:cubicBezTo>
                          <a:pt x="1420880" y="-6814"/>
                          <a:pt x="1713773" y="13383"/>
                          <a:pt x="1909615" y="0"/>
                        </a:cubicBezTo>
                        <a:cubicBezTo>
                          <a:pt x="2105457" y="-13383"/>
                          <a:pt x="2257256" y="13567"/>
                          <a:pt x="2577981" y="0"/>
                        </a:cubicBezTo>
                        <a:cubicBezTo>
                          <a:pt x="2898706" y="-13567"/>
                          <a:pt x="3026063" y="6328"/>
                          <a:pt x="3182692" y="0"/>
                        </a:cubicBezTo>
                        <a:cubicBezTo>
                          <a:pt x="3181983" y="8157"/>
                          <a:pt x="3182279" y="12125"/>
                          <a:pt x="3182692" y="18288"/>
                        </a:cubicBezTo>
                        <a:cubicBezTo>
                          <a:pt x="2998421" y="21742"/>
                          <a:pt x="2675038" y="19014"/>
                          <a:pt x="2482500" y="18288"/>
                        </a:cubicBezTo>
                        <a:cubicBezTo>
                          <a:pt x="2289962" y="17562"/>
                          <a:pt x="1930644" y="6834"/>
                          <a:pt x="1782308" y="18288"/>
                        </a:cubicBezTo>
                        <a:cubicBezTo>
                          <a:pt x="1633972" y="29742"/>
                          <a:pt x="1287388" y="-1992"/>
                          <a:pt x="1145769" y="18288"/>
                        </a:cubicBezTo>
                        <a:cubicBezTo>
                          <a:pt x="1004150" y="38568"/>
                          <a:pt x="256377" y="-37438"/>
                          <a:pt x="0" y="18288"/>
                        </a:cubicBezTo>
                        <a:cubicBezTo>
                          <a:pt x="-46" y="12483"/>
                          <a:pt x="-203" y="6491"/>
                          <a:pt x="0" y="0"/>
                        </a:cubicBezTo>
                        <a:close/>
                      </a:path>
                      <a:path w="3182692" h="18288" stroke="0" extrusionOk="0">
                        <a:moveTo>
                          <a:pt x="0" y="0"/>
                        </a:moveTo>
                        <a:cubicBezTo>
                          <a:pt x="283446" y="18201"/>
                          <a:pt x="432812" y="7290"/>
                          <a:pt x="604711" y="0"/>
                        </a:cubicBezTo>
                        <a:cubicBezTo>
                          <a:pt x="776610" y="-7290"/>
                          <a:pt x="982253" y="15478"/>
                          <a:pt x="1145769" y="0"/>
                        </a:cubicBezTo>
                        <a:cubicBezTo>
                          <a:pt x="1309285" y="-15478"/>
                          <a:pt x="1514247" y="-25520"/>
                          <a:pt x="1845961" y="0"/>
                        </a:cubicBezTo>
                        <a:cubicBezTo>
                          <a:pt x="2177675" y="25520"/>
                          <a:pt x="2297588" y="16646"/>
                          <a:pt x="2450673" y="0"/>
                        </a:cubicBezTo>
                        <a:cubicBezTo>
                          <a:pt x="2603758" y="-16646"/>
                          <a:pt x="3023048" y="-21196"/>
                          <a:pt x="3182692" y="0"/>
                        </a:cubicBezTo>
                        <a:cubicBezTo>
                          <a:pt x="3182428" y="4493"/>
                          <a:pt x="3183076" y="9472"/>
                          <a:pt x="3182692" y="18288"/>
                        </a:cubicBezTo>
                        <a:cubicBezTo>
                          <a:pt x="3039109" y="-12701"/>
                          <a:pt x="2823860" y="13848"/>
                          <a:pt x="2546154" y="18288"/>
                        </a:cubicBezTo>
                        <a:cubicBezTo>
                          <a:pt x="2268448" y="22728"/>
                          <a:pt x="2098674" y="5291"/>
                          <a:pt x="1845961" y="18288"/>
                        </a:cubicBezTo>
                        <a:cubicBezTo>
                          <a:pt x="1593248" y="31285"/>
                          <a:pt x="1456743" y="27560"/>
                          <a:pt x="1304904" y="18288"/>
                        </a:cubicBezTo>
                        <a:cubicBezTo>
                          <a:pt x="1153065" y="9016"/>
                          <a:pt x="947204" y="11126"/>
                          <a:pt x="668365" y="18288"/>
                        </a:cubicBezTo>
                        <a:cubicBezTo>
                          <a:pt x="389526" y="25450"/>
                          <a:pt x="288244" y="-4628"/>
                          <a:pt x="0" y="18288"/>
                        </a:cubicBezTo>
                        <a:cubicBezTo>
                          <a:pt x="843" y="9577"/>
                          <a:pt x="371" y="6900"/>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045314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DF980A-8D6C-4BE4-8369-4D0B35B92EA5}"/>
              </a:ext>
            </a:extLst>
          </p:cNvPr>
          <p:cNvSpPr>
            <a:spLocks noGrp="1"/>
          </p:cNvSpPr>
          <p:nvPr>
            <p:ph type="title"/>
          </p:nvPr>
        </p:nvSpPr>
        <p:spPr/>
        <p:txBody>
          <a:bodyPr vert="horz" lIns="91440" tIns="45720" rIns="91440" bIns="45720" rtlCol="0" anchor="ctr">
            <a:noAutofit/>
          </a:bodyPr>
          <a:lstStyle/>
          <a:p>
            <a:r>
              <a:rPr lang="en-IN" dirty="0"/>
              <a:t>Failures of </a:t>
            </a:r>
            <a:r>
              <a:rPr lang="en-IN" dirty="0" err="1"/>
              <a:t>JobTracker</a:t>
            </a:r>
            <a:endParaRPr lang="en-IN" dirty="0"/>
          </a:p>
        </p:txBody>
      </p:sp>
      <p:grpSp>
        <p:nvGrpSpPr>
          <p:cNvPr id="11" name="Group 10">
            <a:extLst>
              <a:ext uri="{FF2B5EF4-FFF2-40B4-BE49-F238E27FC236}">
                <a16:creationId xmlns:a16="http://schemas.microsoft.com/office/drawing/2014/main" id="{9009387E-E3CB-4E43-9322-240748E425B8}"/>
              </a:ext>
            </a:extLst>
          </p:cNvPr>
          <p:cNvGrpSpPr/>
          <p:nvPr/>
        </p:nvGrpSpPr>
        <p:grpSpPr>
          <a:xfrm>
            <a:off x="2721936" y="2834260"/>
            <a:ext cx="2828258" cy="3912783"/>
            <a:chOff x="3062177" y="2391195"/>
            <a:chExt cx="2828258" cy="3912783"/>
          </a:xfrm>
        </p:grpSpPr>
        <p:sp>
          <p:nvSpPr>
            <p:cNvPr id="4" name="Rectangle 3">
              <a:extLst>
                <a:ext uri="{FF2B5EF4-FFF2-40B4-BE49-F238E27FC236}">
                  <a16:creationId xmlns:a16="http://schemas.microsoft.com/office/drawing/2014/main" id="{9DB163A9-200A-4577-9A1E-450C51AD39FC}"/>
                </a:ext>
              </a:extLst>
            </p:cNvPr>
            <p:cNvSpPr/>
            <p:nvPr/>
          </p:nvSpPr>
          <p:spPr>
            <a:xfrm>
              <a:off x="3062177" y="2391195"/>
              <a:ext cx="2658140" cy="3912783"/>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5" name="Rectangle 4">
              <a:extLst>
                <a:ext uri="{FF2B5EF4-FFF2-40B4-BE49-F238E27FC236}">
                  <a16:creationId xmlns:a16="http://schemas.microsoft.com/office/drawing/2014/main" id="{3A45F569-48B8-4CF8-A8A3-7C6E0D14EA11}"/>
                </a:ext>
              </a:extLst>
            </p:cNvPr>
            <p:cNvSpPr/>
            <p:nvPr/>
          </p:nvSpPr>
          <p:spPr>
            <a:xfrm>
              <a:off x="3237614" y="4147431"/>
              <a:ext cx="2083982" cy="15995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latin typeface="Bahnschrift" panose="020B0502040204020203" pitchFamily="34" charset="0"/>
                </a:rPr>
                <a:t>Child JVM</a:t>
              </a:r>
              <a:endParaRPr lang="en-IN" dirty="0">
                <a:solidFill>
                  <a:schemeClr val="tx1"/>
                </a:solidFill>
                <a:latin typeface="Bahnschrift" panose="020B0502040204020203" pitchFamily="34" charset="0"/>
              </a:endParaRPr>
            </a:p>
          </p:txBody>
        </p:sp>
        <p:sp>
          <p:nvSpPr>
            <p:cNvPr id="6" name="Rectangle 5">
              <a:extLst>
                <a:ext uri="{FF2B5EF4-FFF2-40B4-BE49-F238E27FC236}">
                  <a16:creationId xmlns:a16="http://schemas.microsoft.com/office/drawing/2014/main" id="{BB0F663C-64F5-43DA-99BA-F66A48A4170A}"/>
                </a:ext>
              </a:extLst>
            </p:cNvPr>
            <p:cNvSpPr/>
            <p:nvPr/>
          </p:nvSpPr>
          <p:spPr>
            <a:xfrm>
              <a:off x="3530010" y="4420178"/>
              <a:ext cx="1499189" cy="113632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Map or reduce Task</a:t>
              </a:r>
              <a:endParaRPr lang="en-IN" dirty="0">
                <a:latin typeface="Bahnschrift" panose="020B0502040204020203" pitchFamily="34" charset="0"/>
              </a:endParaRPr>
            </a:p>
          </p:txBody>
        </p:sp>
        <p:sp>
          <p:nvSpPr>
            <p:cNvPr id="7" name="Rectangle 6">
              <a:extLst>
                <a:ext uri="{FF2B5EF4-FFF2-40B4-BE49-F238E27FC236}">
                  <a16:creationId xmlns:a16="http://schemas.microsoft.com/office/drawing/2014/main" id="{8FDAFE31-8F54-45A1-881D-59D8A22C7821}"/>
                </a:ext>
              </a:extLst>
            </p:cNvPr>
            <p:cNvSpPr/>
            <p:nvPr/>
          </p:nvSpPr>
          <p:spPr>
            <a:xfrm>
              <a:off x="3418367" y="2620536"/>
              <a:ext cx="1499189" cy="1136320"/>
            </a:xfrm>
            <a:prstGeom prst="rect">
              <a:avLst/>
            </a:prstGeom>
            <a:solidFill>
              <a:schemeClr val="accent2">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Task Tracker</a:t>
              </a:r>
              <a:endParaRPr lang="en-IN" dirty="0">
                <a:latin typeface="Bahnschrift" panose="020B0502040204020203" pitchFamily="34" charset="0"/>
              </a:endParaRPr>
            </a:p>
          </p:txBody>
        </p:sp>
        <p:cxnSp>
          <p:nvCxnSpPr>
            <p:cNvPr id="9" name="Straight Arrow Connector 8">
              <a:extLst>
                <a:ext uri="{FF2B5EF4-FFF2-40B4-BE49-F238E27FC236}">
                  <a16:creationId xmlns:a16="http://schemas.microsoft.com/office/drawing/2014/main" id="{6539AC0F-465C-4129-87E1-D8365F65A309}"/>
                </a:ext>
              </a:extLst>
            </p:cNvPr>
            <p:cNvCxnSpPr>
              <a:stCxn id="7" idx="2"/>
            </p:cNvCxnSpPr>
            <p:nvPr/>
          </p:nvCxnSpPr>
          <p:spPr>
            <a:xfrm flipH="1">
              <a:off x="4167961" y="3756856"/>
              <a:ext cx="1" cy="42174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CEF94F9-4904-4A86-A527-1973C55248F0}"/>
                </a:ext>
              </a:extLst>
            </p:cNvPr>
            <p:cNvSpPr/>
            <p:nvPr/>
          </p:nvSpPr>
          <p:spPr>
            <a:xfrm>
              <a:off x="4391247" y="3838353"/>
              <a:ext cx="1499188" cy="34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Step 3</a:t>
              </a:r>
              <a:endParaRPr lang="en-IN" dirty="0">
                <a:solidFill>
                  <a:schemeClr val="tx1"/>
                </a:solidFill>
                <a:latin typeface="Bahnschrift" panose="020B0502040204020203" pitchFamily="34" charset="0"/>
              </a:endParaRPr>
            </a:p>
          </p:txBody>
        </p:sp>
      </p:grpSp>
      <p:grpSp>
        <p:nvGrpSpPr>
          <p:cNvPr id="24" name="Group 23">
            <a:extLst>
              <a:ext uri="{FF2B5EF4-FFF2-40B4-BE49-F238E27FC236}">
                <a16:creationId xmlns:a16="http://schemas.microsoft.com/office/drawing/2014/main" id="{41645338-ADFE-4472-AB9E-37F9D3DC825F}"/>
              </a:ext>
            </a:extLst>
          </p:cNvPr>
          <p:cNvGrpSpPr/>
          <p:nvPr/>
        </p:nvGrpSpPr>
        <p:grpSpPr>
          <a:xfrm>
            <a:off x="2302834" y="1387448"/>
            <a:ext cx="6422065" cy="1271270"/>
            <a:chOff x="2302834" y="1387448"/>
            <a:chExt cx="6422065" cy="1271270"/>
          </a:xfrm>
        </p:grpSpPr>
        <p:sp>
          <p:nvSpPr>
            <p:cNvPr id="12" name="Rectangle 11">
              <a:extLst>
                <a:ext uri="{FF2B5EF4-FFF2-40B4-BE49-F238E27FC236}">
                  <a16:creationId xmlns:a16="http://schemas.microsoft.com/office/drawing/2014/main" id="{1BA1F06F-9AC5-47B5-9B1D-8706ABD313C8}"/>
                </a:ext>
              </a:extLst>
            </p:cNvPr>
            <p:cNvSpPr/>
            <p:nvPr/>
          </p:nvSpPr>
          <p:spPr>
            <a:xfrm>
              <a:off x="2302834" y="1387448"/>
              <a:ext cx="6422065" cy="127127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13" name="Rectangle 12">
              <a:extLst>
                <a:ext uri="{FF2B5EF4-FFF2-40B4-BE49-F238E27FC236}">
                  <a16:creationId xmlns:a16="http://schemas.microsoft.com/office/drawing/2014/main" id="{5B5E329E-5782-4CD5-AB08-338177441B5A}"/>
                </a:ext>
              </a:extLst>
            </p:cNvPr>
            <p:cNvSpPr/>
            <p:nvPr/>
          </p:nvSpPr>
          <p:spPr>
            <a:xfrm>
              <a:off x="2568647" y="1473841"/>
              <a:ext cx="5890437" cy="88956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14" name="Rectangle 13">
              <a:extLst>
                <a:ext uri="{FF2B5EF4-FFF2-40B4-BE49-F238E27FC236}">
                  <a16:creationId xmlns:a16="http://schemas.microsoft.com/office/drawing/2014/main" id="{77DA1DBD-2C60-4ADE-AE0F-5CA352D98A5B}"/>
                </a:ext>
              </a:extLst>
            </p:cNvPr>
            <p:cNvSpPr/>
            <p:nvPr/>
          </p:nvSpPr>
          <p:spPr>
            <a:xfrm>
              <a:off x="3094074" y="1604430"/>
              <a:ext cx="1477926" cy="628389"/>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Job Tracker</a:t>
              </a:r>
              <a:endParaRPr lang="en-IN" dirty="0">
                <a:solidFill>
                  <a:schemeClr val="tx1"/>
                </a:solidFill>
                <a:latin typeface="Bahnschrift" panose="020B0502040204020203" pitchFamily="34" charset="0"/>
              </a:endParaRPr>
            </a:p>
          </p:txBody>
        </p:sp>
        <p:sp>
          <p:nvSpPr>
            <p:cNvPr id="21" name="Rectangle 20">
              <a:extLst>
                <a:ext uri="{FF2B5EF4-FFF2-40B4-BE49-F238E27FC236}">
                  <a16:creationId xmlns:a16="http://schemas.microsoft.com/office/drawing/2014/main" id="{C63B68B5-D7DC-49BF-8198-D0D121D54AF2}"/>
                </a:ext>
              </a:extLst>
            </p:cNvPr>
            <p:cNvSpPr/>
            <p:nvPr/>
          </p:nvSpPr>
          <p:spPr>
            <a:xfrm>
              <a:off x="4366629" y="2384011"/>
              <a:ext cx="3391786" cy="2206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Bahnschrift" panose="020B0502040204020203" pitchFamily="34" charset="0"/>
                </a:rPr>
                <a:t>Job Tracker Node</a:t>
              </a:r>
              <a:endParaRPr lang="en-IN" sz="2000" dirty="0">
                <a:solidFill>
                  <a:schemeClr val="tx1"/>
                </a:solidFill>
                <a:latin typeface="Bahnschrift" panose="020B0502040204020203" pitchFamily="34" charset="0"/>
              </a:endParaRPr>
            </a:p>
          </p:txBody>
        </p:sp>
      </p:grpSp>
      <p:sp>
        <p:nvSpPr>
          <p:cNvPr id="22" name="Rectangle 21">
            <a:extLst>
              <a:ext uri="{FF2B5EF4-FFF2-40B4-BE49-F238E27FC236}">
                <a16:creationId xmlns:a16="http://schemas.microsoft.com/office/drawing/2014/main" id="{F942A8D3-749A-4275-9F0F-BC46995453FA}"/>
              </a:ext>
            </a:extLst>
          </p:cNvPr>
          <p:cNvSpPr/>
          <p:nvPr/>
        </p:nvSpPr>
        <p:spPr>
          <a:xfrm>
            <a:off x="2626245" y="2601814"/>
            <a:ext cx="1295013" cy="5575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Bahnschrift" panose="020B0502040204020203" pitchFamily="34" charset="0"/>
              </a:rPr>
              <a:t>Heart Beats</a:t>
            </a:r>
            <a:endParaRPr lang="en-IN" sz="1600" dirty="0">
              <a:solidFill>
                <a:schemeClr val="tx1"/>
              </a:solidFill>
              <a:latin typeface="Bahnschrift" panose="020B0502040204020203" pitchFamily="34" charset="0"/>
            </a:endParaRPr>
          </a:p>
        </p:txBody>
      </p:sp>
      <p:cxnSp>
        <p:nvCxnSpPr>
          <p:cNvPr id="16" name="Straight Arrow Connector 15">
            <a:extLst>
              <a:ext uri="{FF2B5EF4-FFF2-40B4-BE49-F238E27FC236}">
                <a16:creationId xmlns:a16="http://schemas.microsoft.com/office/drawing/2014/main" id="{4DC7DF8B-63DB-41EB-AE4E-CF664287EA20}"/>
              </a:ext>
            </a:extLst>
          </p:cNvPr>
          <p:cNvCxnSpPr>
            <a:cxnSpLocks/>
            <a:stCxn id="7" idx="0"/>
            <a:endCxn id="14" idx="2"/>
          </p:cNvCxnSpPr>
          <p:nvPr/>
        </p:nvCxnSpPr>
        <p:spPr>
          <a:xfrm flipV="1">
            <a:off x="3827721" y="2232819"/>
            <a:ext cx="5316" cy="83078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Multiplication Sign 18">
            <a:extLst>
              <a:ext uri="{FF2B5EF4-FFF2-40B4-BE49-F238E27FC236}">
                <a16:creationId xmlns:a16="http://schemas.microsoft.com/office/drawing/2014/main" id="{DCA5739B-C285-432D-B81C-F55FE48C053D}"/>
              </a:ext>
            </a:extLst>
          </p:cNvPr>
          <p:cNvSpPr/>
          <p:nvPr/>
        </p:nvSpPr>
        <p:spPr>
          <a:xfrm>
            <a:off x="2302832" y="1143971"/>
            <a:ext cx="3112681" cy="1708760"/>
          </a:xfrm>
          <a:prstGeom prst="mathMultiply">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Tree>
    <p:extLst>
      <p:ext uri="{BB962C8B-B14F-4D97-AF65-F5344CB8AC3E}">
        <p14:creationId xmlns:p14="http://schemas.microsoft.com/office/powerpoint/2010/main" val="16416441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DF980A-8D6C-4BE4-8369-4D0B35B92EA5}"/>
              </a:ext>
            </a:extLst>
          </p:cNvPr>
          <p:cNvSpPr>
            <a:spLocks noGrp="1"/>
          </p:cNvSpPr>
          <p:nvPr>
            <p:ph type="title"/>
          </p:nvPr>
        </p:nvSpPr>
        <p:spPr/>
        <p:txBody>
          <a:bodyPr vert="horz" lIns="91440" tIns="45720" rIns="91440" bIns="45720" rtlCol="0" anchor="ctr">
            <a:noAutofit/>
          </a:bodyPr>
          <a:lstStyle/>
          <a:p>
            <a:r>
              <a:rPr lang="en-IN" dirty="0"/>
              <a:t>Failures of </a:t>
            </a:r>
            <a:r>
              <a:rPr lang="en-IN" dirty="0" err="1"/>
              <a:t>JobTracker</a:t>
            </a:r>
            <a:endParaRPr lang="en-IN" dirty="0"/>
          </a:p>
        </p:txBody>
      </p:sp>
      <p:grpSp>
        <p:nvGrpSpPr>
          <p:cNvPr id="11" name="Group 10">
            <a:extLst>
              <a:ext uri="{FF2B5EF4-FFF2-40B4-BE49-F238E27FC236}">
                <a16:creationId xmlns:a16="http://schemas.microsoft.com/office/drawing/2014/main" id="{9009387E-E3CB-4E43-9322-240748E425B8}"/>
              </a:ext>
            </a:extLst>
          </p:cNvPr>
          <p:cNvGrpSpPr/>
          <p:nvPr/>
        </p:nvGrpSpPr>
        <p:grpSpPr>
          <a:xfrm>
            <a:off x="2721936" y="2834260"/>
            <a:ext cx="2828258" cy="3912783"/>
            <a:chOff x="3062177" y="2391195"/>
            <a:chExt cx="2828258" cy="3912783"/>
          </a:xfrm>
        </p:grpSpPr>
        <p:sp>
          <p:nvSpPr>
            <p:cNvPr id="4" name="Rectangle 3">
              <a:extLst>
                <a:ext uri="{FF2B5EF4-FFF2-40B4-BE49-F238E27FC236}">
                  <a16:creationId xmlns:a16="http://schemas.microsoft.com/office/drawing/2014/main" id="{9DB163A9-200A-4577-9A1E-450C51AD39FC}"/>
                </a:ext>
              </a:extLst>
            </p:cNvPr>
            <p:cNvSpPr/>
            <p:nvPr/>
          </p:nvSpPr>
          <p:spPr>
            <a:xfrm>
              <a:off x="3062177" y="2391195"/>
              <a:ext cx="2658140" cy="3912783"/>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5" name="Rectangle 4">
              <a:extLst>
                <a:ext uri="{FF2B5EF4-FFF2-40B4-BE49-F238E27FC236}">
                  <a16:creationId xmlns:a16="http://schemas.microsoft.com/office/drawing/2014/main" id="{3A45F569-48B8-4CF8-A8A3-7C6E0D14EA11}"/>
                </a:ext>
              </a:extLst>
            </p:cNvPr>
            <p:cNvSpPr/>
            <p:nvPr/>
          </p:nvSpPr>
          <p:spPr>
            <a:xfrm>
              <a:off x="3237614" y="4147431"/>
              <a:ext cx="2083982" cy="15995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latin typeface="Bahnschrift" panose="020B0502040204020203" pitchFamily="34" charset="0"/>
                </a:rPr>
                <a:t>Child JVM</a:t>
              </a:r>
              <a:endParaRPr lang="en-IN" dirty="0">
                <a:solidFill>
                  <a:schemeClr val="tx1"/>
                </a:solidFill>
                <a:latin typeface="Bahnschrift" panose="020B0502040204020203" pitchFamily="34" charset="0"/>
              </a:endParaRPr>
            </a:p>
          </p:txBody>
        </p:sp>
        <p:sp>
          <p:nvSpPr>
            <p:cNvPr id="6" name="Rectangle 5">
              <a:extLst>
                <a:ext uri="{FF2B5EF4-FFF2-40B4-BE49-F238E27FC236}">
                  <a16:creationId xmlns:a16="http://schemas.microsoft.com/office/drawing/2014/main" id="{BB0F663C-64F5-43DA-99BA-F66A48A4170A}"/>
                </a:ext>
              </a:extLst>
            </p:cNvPr>
            <p:cNvSpPr/>
            <p:nvPr/>
          </p:nvSpPr>
          <p:spPr>
            <a:xfrm>
              <a:off x="3530010" y="4420178"/>
              <a:ext cx="1499189" cy="113632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Map or reduce Task</a:t>
              </a:r>
              <a:endParaRPr lang="en-IN" dirty="0">
                <a:latin typeface="Bahnschrift" panose="020B0502040204020203" pitchFamily="34" charset="0"/>
              </a:endParaRPr>
            </a:p>
          </p:txBody>
        </p:sp>
        <p:sp>
          <p:nvSpPr>
            <p:cNvPr id="7" name="Rectangle 6">
              <a:extLst>
                <a:ext uri="{FF2B5EF4-FFF2-40B4-BE49-F238E27FC236}">
                  <a16:creationId xmlns:a16="http://schemas.microsoft.com/office/drawing/2014/main" id="{8FDAFE31-8F54-45A1-881D-59D8A22C7821}"/>
                </a:ext>
              </a:extLst>
            </p:cNvPr>
            <p:cNvSpPr/>
            <p:nvPr/>
          </p:nvSpPr>
          <p:spPr>
            <a:xfrm>
              <a:off x="3418367" y="2620536"/>
              <a:ext cx="1499189" cy="1136320"/>
            </a:xfrm>
            <a:prstGeom prst="rect">
              <a:avLst/>
            </a:prstGeom>
            <a:solidFill>
              <a:schemeClr val="accent2">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hnschrift" panose="020B0502040204020203" pitchFamily="34" charset="0"/>
                </a:rPr>
                <a:t>Task Tracker</a:t>
              </a:r>
              <a:endParaRPr lang="en-IN" dirty="0">
                <a:latin typeface="Bahnschrift" panose="020B0502040204020203" pitchFamily="34" charset="0"/>
              </a:endParaRPr>
            </a:p>
          </p:txBody>
        </p:sp>
        <p:cxnSp>
          <p:nvCxnSpPr>
            <p:cNvPr id="9" name="Straight Arrow Connector 8">
              <a:extLst>
                <a:ext uri="{FF2B5EF4-FFF2-40B4-BE49-F238E27FC236}">
                  <a16:creationId xmlns:a16="http://schemas.microsoft.com/office/drawing/2014/main" id="{6539AC0F-465C-4129-87E1-D8365F65A309}"/>
                </a:ext>
              </a:extLst>
            </p:cNvPr>
            <p:cNvCxnSpPr>
              <a:stCxn id="7" idx="2"/>
            </p:cNvCxnSpPr>
            <p:nvPr/>
          </p:nvCxnSpPr>
          <p:spPr>
            <a:xfrm flipH="1">
              <a:off x="4167961" y="3756856"/>
              <a:ext cx="1" cy="42174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CEF94F9-4904-4A86-A527-1973C55248F0}"/>
                </a:ext>
              </a:extLst>
            </p:cNvPr>
            <p:cNvSpPr/>
            <p:nvPr/>
          </p:nvSpPr>
          <p:spPr>
            <a:xfrm>
              <a:off x="4391247" y="3838353"/>
              <a:ext cx="1499188" cy="340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Step 3</a:t>
              </a:r>
              <a:endParaRPr lang="en-IN" dirty="0">
                <a:solidFill>
                  <a:schemeClr val="tx1"/>
                </a:solidFill>
                <a:latin typeface="Bahnschrift" panose="020B0502040204020203" pitchFamily="34" charset="0"/>
              </a:endParaRPr>
            </a:p>
          </p:txBody>
        </p:sp>
      </p:grpSp>
      <p:grpSp>
        <p:nvGrpSpPr>
          <p:cNvPr id="24" name="Group 23">
            <a:extLst>
              <a:ext uri="{FF2B5EF4-FFF2-40B4-BE49-F238E27FC236}">
                <a16:creationId xmlns:a16="http://schemas.microsoft.com/office/drawing/2014/main" id="{41645338-ADFE-4472-AB9E-37F9D3DC825F}"/>
              </a:ext>
            </a:extLst>
          </p:cNvPr>
          <p:cNvGrpSpPr/>
          <p:nvPr/>
        </p:nvGrpSpPr>
        <p:grpSpPr>
          <a:xfrm>
            <a:off x="2302834" y="1387448"/>
            <a:ext cx="6422065" cy="1271270"/>
            <a:chOff x="2302834" y="1387448"/>
            <a:chExt cx="6422065" cy="1271270"/>
          </a:xfrm>
        </p:grpSpPr>
        <p:sp>
          <p:nvSpPr>
            <p:cNvPr id="12" name="Rectangle 11">
              <a:extLst>
                <a:ext uri="{FF2B5EF4-FFF2-40B4-BE49-F238E27FC236}">
                  <a16:creationId xmlns:a16="http://schemas.microsoft.com/office/drawing/2014/main" id="{1BA1F06F-9AC5-47B5-9B1D-8706ABD313C8}"/>
                </a:ext>
              </a:extLst>
            </p:cNvPr>
            <p:cNvSpPr/>
            <p:nvPr/>
          </p:nvSpPr>
          <p:spPr>
            <a:xfrm>
              <a:off x="2302834" y="1387448"/>
              <a:ext cx="6422065" cy="127127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13" name="Rectangle 12">
              <a:extLst>
                <a:ext uri="{FF2B5EF4-FFF2-40B4-BE49-F238E27FC236}">
                  <a16:creationId xmlns:a16="http://schemas.microsoft.com/office/drawing/2014/main" id="{5B5E329E-5782-4CD5-AB08-338177441B5A}"/>
                </a:ext>
              </a:extLst>
            </p:cNvPr>
            <p:cNvSpPr/>
            <p:nvPr/>
          </p:nvSpPr>
          <p:spPr>
            <a:xfrm>
              <a:off x="2568647" y="1473841"/>
              <a:ext cx="5890437" cy="88956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14" name="Rectangle 13">
              <a:extLst>
                <a:ext uri="{FF2B5EF4-FFF2-40B4-BE49-F238E27FC236}">
                  <a16:creationId xmlns:a16="http://schemas.microsoft.com/office/drawing/2014/main" id="{77DA1DBD-2C60-4ADE-AE0F-5CA352D98A5B}"/>
                </a:ext>
              </a:extLst>
            </p:cNvPr>
            <p:cNvSpPr/>
            <p:nvPr/>
          </p:nvSpPr>
          <p:spPr>
            <a:xfrm>
              <a:off x="3094074" y="1604430"/>
              <a:ext cx="1477926" cy="628389"/>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hnschrift" panose="020B0502040204020203" pitchFamily="34" charset="0"/>
                </a:rPr>
                <a:t>Job Tracker</a:t>
              </a:r>
              <a:endParaRPr lang="en-IN" dirty="0">
                <a:solidFill>
                  <a:schemeClr val="tx1"/>
                </a:solidFill>
                <a:latin typeface="Bahnschrift" panose="020B0502040204020203" pitchFamily="34" charset="0"/>
              </a:endParaRPr>
            </a:p>
          </p:txBody>
        </p:sp>
        <p:sp>
          <p:nvSpPr>
            <p:cNvPr id="21" name="Rectangle 20">
              <a:extLst>
                <a:ext uri="{FF2B5EF4-FFF2-40B4-BE49-F238E27FC236}">
                  <a16:creationId xmlns:a16="http://schemas.microsoft.com/office/drawing/2014/main" id="{C63B68B5-D7DC-49BF-8198-D0D121D54AF2}"/>
                </a:ext>
              </a:extLst>
            </p:cNvPr>
            <p:cNvSpPr/>
            <p:nvPr/>
          </p:nvSpPr>
          <p:spPr>
            <a:xfrm>
              <a:off x="4366629" y="2384011"/>
              <a:ext cx="3391786" cy="2206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Bahnschrift" panose="020B0502040204020203" pitchFamily="34" charset="0"/>
                </a:rPr>
                <a:t>Job Tracker Node</a:t>
              </a:r>
              <a:endParaRPr lang="en-IN" sz="2000" dirty="0">
                <a:solidFill>
                  <a:schemeClr val="tx1"/>
                </a:solidFill>
                <a:latin typeface="Bahnschrift" panose="020B0502040204020203" pitchFamily="34" charset="0"/>
              </a:endParaRPr>
            </a:p>
          </p:txBody>
        </p:sp>
      </p:grpSp>
      <p:sp>
        <p:nvSpPr>
          <p:cNvPr id="22" name="Rectangle 21">
            <a:extLst>
              <a:ext uri="{FF2B5EF4-FFF2-40B4-BE49-F238E27FC236}">
                <a16:creationId xmlns:a16="http://schemas.microsoft.com/office/drawing/2014/main" id="{F942A8D3-749A-4275-9F0F-BC46995453FA}"/>
              </a:ext>
            </a:extLst>
          </p:cNvPr>
          <p:cNvSpPr/>
          <p:nvPr/>
        </p:nvSpPr>
        <p:spPr>
          <a:xfrm>
            <a:off x="2626245" y="2601814"/>
            <a:ext cx="1295013" cy="5575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Bahnschrift" panose="020B0502040204020203" pitchFamily="34" charset="0"/>
              </a:rPr>
              <a:t>Heart Beats</a:t>
            </a:r>
            <a:endParaRPr lang="en-IN" sz="1600" dirty="0">
              <a:solidFill>
                <a:schemeClr val="tx1"/>
              </a:solidFill>
              <a:latin typeface="Bahnschrift" panose="020B0502040204020203" pitchFamily="34" charset="0"/>
            </a:endParaRPr>
          </a:p>
        </p:txBody>
      </p:sp>
      <p:cxnSp>
        <p:nvCxnSpPr>
          <p:cNvPr id="16" name="Straight Arrow Connector 15">
            <a:extLst>
              <a:ext uri="{FF2B5EF4-FFF2-40B4-BE49-F238E27FC236}">
                <a16:creationId xmlns:a16="http://schemas.microsoft.com/office/drawing/2014/main" id="{4DC7DF8B-63DB-41EB-AE4E-CF664287EA20}"/>
              </a:ext>
            </a:extLst>
          </p:cNvPr>
          <p:cNvCxnSpPr>
            <a:cxnSpLocks/>
            <a:stCxn id="7" idx="0"/>
            <a:endCxn id="14" idx="2"/>
          </p:cNvCxnSpPr>
          <p:nvPr/>
        </p:nvCxnSpPr>
        <p:spPr>
          <a:xfrm flipV="1">
            <a:off x="3827721" y="2232819"/>
            <a:ext cx="5316" cy="83078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Multiplication Sign 18">
            <a:extLst>
              <a:ext uri="{FF2B5EF4-FFF2-40B4-BE49-F238E27FC236}">
                <a16:creationId xmlns:a16="http://schemas.microsoft.com/office/drawing/2014/main" id="{DCA5739B-C285-432D-B81C-F55FE48C053D}"/>
              </a:ext>
            </a:extLst>
          </p:cNvPr>
          <p:cNvSpPr/>
          <p:nvPr/>
        </p:nvSpPr>
        <p:spPr>
          <a:xfrm>
            <a:off x="2302832" y="1143971"/>
            <a:ext cx="3112681" cy="1708760"/>
          </a:xfrm>
          <a:prstGeom prst="mathMultiply">
            <a:avLst/>
          </a:prstGeom>
          <a:solidFill>
            <a:srgbClr val="4452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graphicFrame>
        <p:nvGraphicFramePr>
          <p:cNvPr id="2" name="Table 7">
            <a:extLst>
              <a:ext uri="{FF2B5EF4-FFF2-40B4-BE49-F238E27FC236}">
                <a16:creationId xmlns:a16="http://schemas.microsoft.com/office/drawing/2014/main" id="{9D880D77-D560-439A-9401-4DC84034A33C}"/>
              </a:ext>
            </a:extLst>
          </p:cNvPr>
          <p:cNvGraphicFramePr>
            <a:graphicFrameLocks noGrp="1"/>
          </p:cNvGraphicFramePr>
          <p:nvPr>
            <p:extLst>
              <p:ext uri="{D42A27DB-BD31-4B8C-83A1-F6EECF244321}">
                <p14:modId xmlns:p14="http://schemas.microsoft.com/office/powerpoint/2010/main" val="2913201151"/>
              </p:ext>
            </p:extLst>
          </p:nvPr>
        </p:nvGraphicFramePr>
        <p:xfrm>
          <a:off x="5513865" y="3063601"/>
          <a:ext cx="3048000" cy="429982"/>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1716640794"/>
                    </a:ext>
                  </a:extLst>
                </a:gridCol>
              </a:tblGrid>
              <a:tr h="429982">
                <a:tc>
                  <a:txBody>
                    <a:bodyPr/>
                    <a:lstStyle/>
                    <a:p>
                      <a:r>
                        <a:rPr lang="en-IN" dirty="0">
                          <a:solidFill>
                            <a:schemeClr val="tx1"/>
                          </a:solidFill>
                          <a:latin typeface="Bahnschrift" panose="020B0502040204020203" pitchFamily="34" charset="0"/>
                        </a:rPr>
                        <a:t>Single Point of Failure</a:t>
                      </a:r>
                    </a:p>
                  </a:txBody>
                  <a:tcPr>
                    <a:solidFill>
                      <a:schemeClr val="bg1">
                        <a:lumMod val="85000"/>
                      </a:schemeClr>
                    </a:solidFill>
                  </a:tcPr>
                </a:tc>
                <a:extLst>
                  <a:ext uri="{0D108BD9-81ED-4DB2-BD59-A6C34878D82A}">
                    <a16:rowId xmlns:a16="http://schemas.microsoft.com/office/drawing/2014/main" val="3477198054"/>
                  </a:ext>
                </a:extLst>
              </a:tr>
            </a:tbl>
          </a:graphicData>
        </a:graphic>
      </p:graphicFrame>
    </p:spTree>
    <p:extLst>
      <p:ext uri="{BB962C8B-B14F-4D97-AF65-F5344CB8AC3E}">
        <p14:creationId xmlns:p14="http://schemas.microsoft.com/office/powerpoint/2010/main" val="25127013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ED8E54F9-849C-4865-8C5E-FD967B81D7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391AE6B3-1D2D-4C67-A4DB-888635B527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054983"/>
          </a:xfrm>
          <a:custGeom>
            <a:avLst/>
            <a:gdLst>
              <a:gd name="connsiteX0" fmla="*/ 6788003 w 12188952"/>
              <a:gd name="connsiteY0" fmla="*/ 5986774 h 6054983"/>
              <a:gd name="connsiteX1" fmla="*/ 6787005 w 12188952"/>
              <a:gd name="connsiteY1" fmla="*/ 5986852 h 6054983"/>
              <a:gd name="connsiteX2" fmla="*/ 6786779 w 12188952"/>
              <a:gd name="connsiteY2" fmla="*/ 5987386 h 6054983"/>
              <a:gd name="connsiteX3" fmla="*/ 0 w 12188952"/>
              <a:gd name="connsiteY3" fmla="*/ 0 h 6054983"/>
              <a:gd name="connsiteX4" fmla="*/ 12188952 w 12188952"/>
              <a:gd name="connsiteY4" fmla="*/ 0 h 6054983"/>
              <a:gd name="connsiteX5" fmla="*/ 12188952 w 12188952"/>
              <a:gd name="connsiteY5" fmla="*/ 5092539 h 6054983"/>
              <a:gd name="connsiteX6" fmla="*/ 12058081 w 12188952"/>
              <a:gd name="connsiteY6" fmla="*/ 5131579 h 6054983"/>
              <a:gd name="connsiteX7" fmla="*/ 11673881 w 12188952"/>
              <a:gd name="connsiteY7" fmla="*/ 5235154 h 6054983"/>
              <a:gd name="connsiteX8" fmla="*/ 10422749 w 12188952"/>
              <a:gd name="connsiteY8" fmla="*/ 5518693 h 6054983"/>
              <a:gd name="connsiteX9" fmla="*/ 9421666 w 12188952"/>
              <a:gd name="connsiteY9" fmla="*/ 5693855 h 6054983"/>
              <a:gd name="connsiteX10" fmla="*/ 8456304 w 12188952"/>
              <a:gd name="connsiteY10" fmla="*/ 5827556 h 6054983"/>
              <a:gd name="connsiteX11" fmla="*/ 7714041 w 12188952"/>
              <a:gd name="connsiteY11" fmla="*/ 5907503 h 6054983"/>
              <a:gd name="connsiteX12" fmla="*/ 6949978 w 12188952"/>
              <a:gd name="connsiteY12" fmla="*/ 5973283 h 6054983"/>
              <a:gd name="connsiteX13" fmla="*/ 6934569 w 12188952"/>
              <a:gd name="connsiteY13" fmla="*/ 5975354 h 6054983"/>
              <a:gd name="connsiteX14" fmla="*/ 6788750 w 12188952"/>
              <a:gd name="connsiteY14" fmla="*/ 5986715 h 6054983"/>
              <a:gd name="connsiteX15" fmla="*/ 6798241 w 12188952"/>
              <a:gd name="connsiteY15" fmla="*/ 5988535 h 6054983"/>
              <a:gd name="connsiteX16" fmla="*/ 6833723 w 12188952"/>
              <a:gd name="connsiteY16" fmla="*/ 5986828 h 6054983"/>
              <a:gd name="connsiteX17" fmla="*/ 6882282 w 12188952"/>
              <a:gd name="connsiteY17" fmla="*/ 5983850 h 6054983"/>
              <a:gd name="connsiteX18" fmla="*/ 7576876 w 12188952"/>
              <a:gd name="connsiteY18" fmla="*/ 5951323 h 6054983"/>
              <a:gd name="connsiteX19" fmla="*/ 8621689 w 12188952"/>
              <a:gd name="connsiteY19" fmla="*/ 5864426 h 6054983"/>
              <a:gd name="connsiteX20" fmla="*/ 9477600 w 12188952"/>
              <a:gd name="connsiteY20" fmla="*/ 5760520 h 6054983"/>
              <a:gd name="connsiteX21" fmla="*/ 10626651 w 12188952"/>
              <a:gd name="connsiteY21" fmla="*/ 5566363 h 6054983"/>
              <a:gd name="connsiteX22" fmla="*/ 11995498 w 12188952"/>
              <a:gd name="connsiteY22" fmla="*/ 5240369 h 6054983"/>
              <a:gd name="connsiteX23" fmla="*/ 12188952 w 12188952"/>
              <a:gd name="connsiteY23" fmla="*/ 5183370 h 6054983"/>
              <a:gd name="connsiteX24" fmla="*/ 12188952 w 12188952"/>
              <a:gd name="connsiteY24" fmla="*/ 5238107 h 6054983"/>
              <a:gd name="connsiteX25" fmla="*/ 11826300 w 12188952"/>
              <a:gd name="connsiteY25" fmla="*/ 5343406 h 6054983"/>
              <a:gd name="connsiteX26" fmla="*/ 10936448 w 12188952"/>
              <a:gd name="connsiteY26" fmla="*/ 5557921 h 6054983"/>
              <a:gd name="connsiteX27" fmla="*/ 9983034 w 12188952"/>
              <a:gd name="connsiteY27" fmla="*/ 5737926 h 6054983"/>
              <a:gd name="connsiteX28" fmla="*/ 9184585 w 12188952"/>
              <a:gd name="connsiteY28" fmla="*/ 5853873 h 6054983"/>
              <a:gd name="connsiteX29" fmla="*/ 8576053 w 12188952"/>
              <a:gd name="connsiteY29" fmla="*/ 5923392 h 6054983"/>
              <a:gd name="connsiteX30" fmla="*/ 7862392 w 12188952"/>
              <a:gd name="connsiteY30" fmla="*/ 5984843 h 6054983"/>
              <a:gd name="connsiteX31" fmla="*/ 6933768 w 12188952"/>
              <a:gd name="connsiteY31" fmla="*/ 6036237 h 6054983"/>
              <a:gd name="connsiteX32" fmla="*/ 6476130 w 12188952"/>
              <a:gd name="connsiteY32" fmla="*/ 6050140 h 6054983"/>
              <a:gd name="connsiteX33" fmla="*/ 6360703 w 12188952"/>
              <a:gd name="connsiteY33" fmla="*/ 6054983 h 6054983"/>
              <a:gd name="connsiteX34" fmla="*/ 6055614 w 12188952"/>
              <a:gd name="connsiteY34" fmla="*/ 6054983 h 6054983"/>
              <a:gd name="connsiteX35" fmla="*/ 5976289 w 12188952"/>
              <a:gd name="connsiteY35" fmla="*/ 6050389 h 6054983"/>
              <a:gd name="connsiteX36" fmla="*/ 5263770 w 12188952"/>
              <a:gd name="connsiteY36" fmla="*/ 6014140 h 6054983"/>
              <a:gd name="connsiteX37" fmla="*/ 4345190 w 12188952"/>
              <a:gd name="connsiteY37" fmla="*/ 5952070 h 6054983"/>
              <a:gd name="connsiteX38" fmla="*/ 3372201 w 12188952"/>
              <a:gd name="connsiteY38" fmla="*/ 5853501 h 6054983"/>
              <a:gd name="connsiteX39" fmla="*/ 2361582 w 12188952"/>
              <a:gd name="connsiteY39" fmla="*/ 5734574 h 6054983"/>
              <a:gd name="connsiteX40" fmla="*/ 1232869 w 12188952"/>
              <a:gd name="connsiteY40" fmla="*/ 5561398 h 6054983"/>
              <a:gd name="connsiteX41" fmla="*/ 68483 w 12188952"/>
              <a:gd name="connsiteY41" fmla="*/ 5321691 h 6054983"/>
              <a:gd name="connsiteX42" fmla="*/ 0 w 12188952"/>
              <a:gd name="connsiteY42" fmla="*/ 5304336 h 6054983"/>
              <a:gd name="connsiteX43" fmla="*/ 0 w 12188952"/>
              <a:gd name="connsiteY43" fmla="*/ 5247847 h 6054983"/>
              <a:gd name="connsiteX44" fmla="*/ 72423 w 12188952"/>
              <a:gd name="connsiteY44" fmla="*/ 5266624 h 6054983"/>
              <a:gd name="connsiteX45" fmla="*/ 600566 w 12188952"/>
              <a:gd name="connsiteY45" fmla="*/ 5384994 h 6054983"/>
              <a:gd name="connsiteX46" fmla="*/ 1769069 w 12188952"/>
              <a:gd name="connsiteY46" fmla="*/ 5595162 h 6054983"/>
              <a:gd name="connsiteX47" fmla="*/ 2612900 w 12188952"/>
              <a:gd name="connsiteY47" fmla="*/ 5712104 h 6054983"/>
              <a:gd name="connsiteX48" fmla="*/ 2580488 w 12188952"/>
              <a:gd name="connsiteY48" fmla="*/ 5702173 h 6054983"/>
              <a:gd name="connsiteX49" fmla="*/ 1112357 w 12188952"/>
              <a:gd name="connsiteY49" fmla="*/ 5369476 h 6054983"/>
              <a:gd name="connsiteX50" fmla="*/ 420307 w 12188952"/>
              <a:gd name="connsiteY50" fmla="*/ 5170043 h 6054983"/>
              <a:gd name="connsiteX51" fmla="*/ 0 w 12188952"/>
              <a:gd name="connsiteY51" fmla="*/ 5031126 h 6054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88952" h="6054983">
                <a:moveTo>
                  <a:pt x="6788003" y="5986774"/>
                </a:moveTo>
                <a:lnTo>
                  <a:pt x="6787005" y="5986852"/>
                </a:lnTo>
                <a:lnTo>
                  <a:pt x="6786779" y="5987386"/>
                </a:lnTo>
                <a:close/>
                <a:moveTo>
                  <a:pt x="0" y="0"/>
                </a:moveTo>
                <a:lnTo>
                  <a:pt x="12188952" y="0"/>
                </a:lnTo>
                <a:lnTo>
                  <a:pt x="12188952" y="5092539"/>
                </a:lnTo>
                <a:lnTo>
                  <a:pt x="12058081" y="5131579"/>
                </a:lnTo>
                <a:cubicBezTo>
                  <a:pt x="11930517" y="5167793"/>
                  <a:pt x="11802439" y="5202322"/>
                  <a:pt x="11673881" y="5235154"/>
                </a:cubicBezTo>
                <a:cubicBezTo>
                  <a:pt x="11259973" y="5342661"/>
                  <a:pt x="10842632" y="5436263"/>
                  <a:pt x="10422749" y="5518693"/>
                </a:cubicBezTo>
                <a:cubicBezTo>
                  <a:pt x="10090287" y="5583904"/>
                  <a:pt x="9756593" y="5642301"/>
                  <a:pt x="9421666" y="5693855"/>
                </a:cubicBezTo>
                <a:cubicBezTo>
                  <a:pt x="9100721" y="5743512"/>
                  <a:pt x="8778938" y="5788079"/>
                  <a:pt x="8456304" y="5827556"/>
                </a:cubicBezTo>
                <a:cubicBezTo>
                  <a:pt x="8209307" y="5857722"/>
                  <a:pt x="7961801" y="5883295"/>
                  <a:pt x="7714041" y="5907503"/>
                </a:cubicBezTo>
                <a:lnTo>
                  <a:pt x="6949978" y="5973283"/>
                </a:lnTo>
                <a:lnTo>
                  <a:pt x="6934569" y="5975354"/>
                </a:lnTo>
                <a:lnTo>
                  <a:pt x="6788750" y="5986715"/>
                </a:lnTo>
                <a:lnTo>
                  <a:pt x="6798241" y="5988535"/>
                </a:lnTo>
                <a:cubicBezTo>
                  <a:pt x="6809920" y="5989001"/>
                  <a:pt x="6822028" y="5986828"/>
                  <a:pt x="6833723" y="5986828"/>
                </a:cubicBezTo>
                <a:cubicBezTo>
                  <a:pt x="6849867" y="5986828"/>
                  <a:pt x="6866012" y="5984221"/>
                  <a:pt x="6882282" y="5983850"/>
                </a:cubicBezTo>
                <a:cubicBezTo>
                  <a:pt x="7114026" y="5978388"/>
                  <a:pt x="7345514" y="5966221"/>
                  <a:pt x="7576876" y="5951323"/>
                </a:cubicBezTo>
                <a:cubicBezTo>
                  <a:pt x="7925570" y="5928855"/>
                  <a:pt x="8274011" y="5900676"/>
                  <a:pt x="8621689" y="5864426"/>
                </a:cubicBezTo>
                <a:cubicBezTo>
                  <a:pt x="8907712" y="5835128"/>
                  <a:pt x="9193011" y="5800493"/>
                  <a:pt x="9477600" y="5760520"/>
                </a:cubicBezTo>
                <a:cubicBezTo>
                  <a:pt x="9862435" y="5706146"/>
                  <a:pt x="10245452" y="5641432"/>
                  <a:pt x="10626651" y="5566363"/>
                </a:cubicBezTo>
                <a:cubicBezTo>
                  <a:pt x="11087341" y="5475243"/>
                  <a:pt x="11544088" y="5367737"/>
                  <a:pt x="11995498" y="5240369"/>
                </a:cubicBezTo>
                <a:lnTo>
                  <a:pt x="12188952" y="5183370"/>
                </a:lnTo>
                <a:lnTo>
                  <a:pt x="12188952" y="5238107"/>
                </a:lnTo>
                <a:lnTo>
                  <a:pt x="11826300" y="5343406"/>
                </a:lnTo>
                <a:cubicBezTo>
                  <a:pt x="11531885" y="5423103"/>
                  <a:pt x="11235310" y="5493989"/>
                  <a:pt x="10936448" y="5557921"/>
                </a:cubicBezTo>
                <a:cubicBezTo>
                  <a:pt x="10620168" y="5625703"/>
                  <a:pt x="10302365" y="5685700"/>
                  <a:pt x="9983034" y="5737926"/>
                </a:cubicBezTo>
                <a:cubicBezTo>
                  <a:pt x="9717606" y="5781375"/>
                  <a:pt x="9451451" y="5820020"/>
                  <a:pt x="9184585" y="5853873"/>
                </a:cubicBezTo>
                <a:cubicBezTo>
                  <a:pt x="8981951" y="5879447"/>
                  <a:pt x="8779319" y="5903530"/>
                  <a:pt x="8576053" y="5923392"/>
                </a:cubicBezTo>
                <a:cubicBezTo>
                  <a:pt x="8338462" y="5946112"/>
                  <a:pt x="8100618" y="5967587"/>
                  <a:pt x="7862392" y="5984843"/>
                </a:cubicBezTo>
                <a:cubicBezTo>
                  <a:pt x="7553105" y="6007187"/>
                  <a:pt x="7243690" y="6025065"/>
                  <a:pt x="6933768" y="6036237"/>
                </a:cubicBezTo>
                <a:cubicBezTo>
                  <a:pt x="6781221" y="6041700"/>
                  <a:pt x="6628676" y="6045548"/>
                  <a:pt x="6476130" y="6050140"/>
                </a:cubicBezTo>
                <a:cubicBezTo>
                  <a:pt x="6437585" y="6048056"/>
                  <a:pt x="6398929" y="6049681"/>
                  <a:pt x="6360703" y="6054983"/>
                </a:cubicBezTo>
                <a:lnTo>
                  <a:pt x="6055614" y="6054983"/>
                </a:lnTo>
                <a:lnTo>
                  <a:pt x="5976289" y="6050389"/>
                </a:lnTo>
                <a:cubicBezTo>
                  <a:pt x="5738826" y="6037976"/>
                  <a:pt x="5501363" y="6024197"/>
                  <a:pt x="5263770" y="6014140"/>
                </a:cubicBezTo>
                <a:cubicBezTo>
                  <a:pt x="4957027" y="6001724"/>
                  <a:pt x="4650663" y="5981244"/>
                  <a:pt x="4345190" y="5952070"/>
                </a:cubicBezTo>
                <a:cubicBezTo>
                  <a:pt x="4020648" y="5921158"/>
                  <a:pt x="3696870" y="5886523"/>
                  <a:pt x="3372201" y="5853501"/>
                </a:cubicBezTo>
                <a:cubicBezTo>
                  <a:pt x="3034653" y="5819239"/>
                  <a:pt x="2697781" y="5779600"/>
                  <a:pt x="2361582" y="5734574"/>
                </a:cubicBezTo>
                <a:cubicBezTo>
                  <a:pt x="1984196" y="5684421"/>
                  <a:pt x="1607962" y="5626695"/>
                  <a:pt x="1232869" y="5561398"/>
                </a:cubicBezTo>
                <a:cubicBezTo>
                  <a:pt x="841970" y="5492685"/>
                  <a:pt x="453644" y="5414197"/>
                  <a:pt x="68483" y="5321691"/>
                </a:cubicBezTo>
                <a:lnTo>
                  <a:pt x="0" y="5304336"/>
                </a:lnTo>
                <a:lnTo>
                  <a:pt x="0" y="5247847"/>
                </a:lnTo>
                <a:lnTo>
                  <a:pt x="72423" y="5266624"/>
                </a:lnTo>
                <a:cubicBezTo>
                  <a:pt x="247899" y="5308802"/>
                  <a:pt x="424058" y="5348062"/>
                  <a:pt x="600566" y="5384994"/>
                </a:cubicBezTo>
                <a:cubicBezTo>
                  <a:pt x="988032" y="5465808"/>
                  <a:pt x="1377788" y="5534706"/>
                  <a:pt x="1769069" y="5595162"/>
                </a:cubicBezTo>
                <a:cubicBezTo>
                  <a:pt x="2051913" y="5638738"/>
                  <a:pt x="2335141" y="5678835"/>
                  <a:pt x="2612900" y="5712104"/>
                </a:cubicBezTo>
                <a:cubicBezTo>
                  <a:pt x="2604892" y="5714711"/>
                  <a:pt x="2593962" y="5704655"/>
                  <a:pt x="2580488" y="5702173"/>
                </a:cubicBezTo>
                <a:cubicBezTo>
                  <a:pt x="2086656" y="5610221"/>
                  <a:pt x="1597284" y="5499328"/>
                  <a:pt x="1112357" y="5369476"/>
                </a:cubicBezTo>
                <a:cubicBezTo>
                  <a:pt x="880233" y="5307405"/>
                  <a:pt x="649550" y="5240927"/>
                  <a:pt x="420307" y="5170043"/>
                </a:cubicBezTo>
                <a:lnTo>
                  <a:pt x="0" y="503112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CE50A3A-687C-4AC9-AD1E-B6D0ADD4B8D3}"/>
              </a:ext>
            </a:extLst>
          </p:cNvPr>
          <p:cNvSpPr>
            <a:spLocks noGrp="1"/>
          </p:cNvSpPr>
          <p:nvPr>
            <p:ph type="title"/>
          </p:nvPr>
        </p:nvSpPr>
        <p:spPr>
          <a:xfrm>
            <a:off x="1143000" y="929452"/>
            <a:ext cx="6858000" cy="2526738"/>
          </a:xfrm>
        </p:spPr>
        <p:txBody>
          <a:bodyPr vert="horz" lIns="91440" tIns="45720" rIns="91440" bIns="45720" rtlCol="0" anchor="b">
            <a:normAutofit/>
          </a:bodyPr>
          <a:lstStyle/>
          <a:p>
            <a:pPr algn="ctr"/>
            <a:r>
              <a:rPr lang="en-US" sz="5700" kern="1200" dirty="0">
                <a:solidFill>
                  <a:srgbClr val="FFFFFF"/>
                </a:solidFill>
                <a:latin typeface="Bahnschrift" panose="020B0502040204020203" pitchFamily="34" charset="0"/>
              </a:rPr>
              <a:t>Failures in Yarn</a:t>
            </a:r>
          </a:p>
        </p:txBody>
      </p:sp>
      <p:sp>
        <p:nvSpPr>
          <p:cNvPr id="11" name="sketch line">
            <a:extLst>
              <a:ext uri="{FF2B5EF4-FFF2-40B4-BE49-F238E27FC236}">
                <a16:creationId xmlns:a16="http://schemas.microsoft.com/office/drawing/2014/main" id="{6D080EC2-42B5-4E04-BBF7-F0BC5CB7C9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3566566"/>
            <a:ext cx="3182692" cy="18288"/>
          </a:xfrm>
          <a:custGeom>
            <a:avLst/>
            <a:gdLst>
              <a:gd name="connsiteX0" fmla="*/ 0 w 3182692"/>
              <a:gd name="connsiteY0" fmla="*/ 0 h 18288"/>
              <a:gd name="connsiteX1" fmla="*/ 604711 w 3182692"/>
              <a:gd name="connsiteY1" fmla="*/ 0 h 18288"/>
              <a:gd name="connsiteX2" fmla="*/ 1241250 w 3182692"/>
              <a:gd name="connsiteY2" fmla="*/ 0 h 18288"/>
              <a:gd name="connsiteX3" fmla="*/ 1909615 w 3182692"/>
              <a:gd name="connsiteY3" fmla="*/ 0 h 18288"/>
              <a:gd name="connsiteX4" fmla="*/ 2577981 w 3182692"/>
              <a:gd name="connsiteY4" fmla="*/ 0 h 18288"/>
              <a:gd name="connsiteX5" fmla="*/ 3182692 w 3182692"/>
              <a:gd name="connsiteY5" fmla="*/ 0 h 18288"/>
              <a:gd name="connsiteX6" fmla="*/ 3182692 w 3182692"/>
              <a:gd name="connsiteY6" fmla="*/ 18288 h 18288"/>
              <a:gd name="connsiteX7" fmla="*/ 2482500 w 3182692"/>
              <a:gd name="connsiteY7" fmla="*/ 18288 h 18288"/>
              <a:gd name="connsiteX8" fmla="*/ 1782308 w 3182692"/>
              <a:gd name="connsiteY8" fmla="*/ 18288 h 18288"/>
              <a:gd name="connsiteX9" fmla="*/ 1145769 w 3182692"/>
              <a:gd name="connsiteY9" fmla="*/ 18288 h 18288"/>
              <a:gd name="connsiteX10" fmla="*/ 0 w 3182692"/>
              <a:gd name="connsiteY10" fmla="*/ 18288 h 18288"/>
              <a:gd name="connsiteX11" fmla="*/ 0 w 3182692"/>
              <a:gd name="connsiteY11" fmla="*/ 0 h 18288"/>
              <a:gd name="connsiteX0" fmla="*/ 0 w 3182692"/>
              <a:gd name="connsiteY0" fmla="*/ 0 h 18288"/>
              <a:gd name="connsiteX1" fmla="*/ 604711 w 3182692"/>
              <a:gd name="connsiteY1" fmla="*/ 0 h 18288"/>
              <a:gd name="connsiteX2" fmla="*/ 1145769 w 3182692"/>
              <a:gd name="connsiteY2" fmla="*/ 0 h 18288"/>
              <a:gd name="connsiteX3" fmla="*/ 1845961 w 3182692"/>
              <a:gd name="connsiteY3" fmla="*/ 0 h 18288"/>
              <a:gd name="connsiteX4" fmla="*/ 2450673 w 3182692"/>
              <a:gd name="connsiteY4" fmla="*/ 0 h 18288"/>
              <a:gd name="connsiteX5" fmla="*/ 3182692 w 3182692"/>
              <a:gd name="connsiteY5" fmla="*/ 0 h 18288"/>
              <a:gd name="connsiteX6" fmla="*/ 3182692 w 3182692"/>
              <a:gd name="connsiteY6" fmla="*/ 18288 h 18288"/>
              <a:gd name="connsiteX7" fmla="*/ 2546154 w 3182692"/>
              <a:gd name="connsiteY7" fmla="*/ 18288 h 18288"/>
              <a:gd name="connsiteX8" fmla="*/ 1845961 w 3182692"/>
              <a:gd name="connsiteY8" fmla="*/ 18288 h 18288"/>
              <a:gd name="connsiteX9" fmla="*/ 1304904 w 3182692"/>
              <a:gd name="connsiteY9" fmla="*/ 18288 h 18288"/>
              <a:gd name="connsiteX10" fmla="*/ 668365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145195" y="-37571"/>
                  <a:pt x="472618" y="-13696"/>
                  <a:pt x="604711" y="0"/>
                </a:cubicBezTo>
                <a:cubicBezTo>
                  <a:pt x="706652" y="-3280"/>
                  <a:pt x="1039328" y="-8567"/>
                  <a:pt x="1241250" y="0"/>
                </a:cubicBezTo>
                <a:cubicBezTo>
                  <a:pt x="1405712" y="-7891"/>
                  <a:pt x="1711158" y="8053"/>
                  <a:pt x="1909615" y="0"/>
                </a:cubicBezTo>
                <a:cubicBezTo>
                  <a:pt x="2107436" y="-40150"/>
                  <a:pt x="2247192" y="19443"/>
                  <a:pt x="2577981" y="0"/>
                </a:cubicBezTo>
                <a:cubicBezTo>
                  <a:pt x="2894393" y="-5855"/>
                  <a:pt x="3041563" y="17846"/>
                  <a:pt x="3182692" y="0"/>
                </a:cubicBezTo>
                <a:cubicBezTo>
                  <a:pt x="3181973" y="8390"/>
                  <a:pt x="3182735" y="11854"/>
                  <a:pt x="3182692" y="18288"/>
                </a:cubicBezTo>
                <a:cubicBezTo>
                  <a:pt x="2975928" y="57450"/>
                  <a:pt x="2667693" y="19406"/>
                  <a:pt x="2482500" y="18288"/>
                </a:cubicBezTo>
                <a:cubicBezTo>
                  <a:pt x="2299734" y="36912"/>
                  <a:pt x="1925962" y="9303"/>
                  <a:pt x="1782308" y="18288"/>
                </a:cubicBezTo>
                <a:cubicBezTo>
                  <a:pt x="1635580" y="20546"/>
                  <a:pt x="1257854" y="-3663"/>
                  <a:pt x="1145769" y="18288"/>
                </a:cubicBezTo>
                <a:cubicBezTo>
                  <a:pt x="1025065" y="56574"/>
                  <a:pt x="247799" y="-11536"/>
                  <a:pt x="0" y="18288"/>
                </a:cubicBezTo>
                <a:cubicBezTo>
                  <a:pt x="-405" y="13204"/>
                  <a:pt x="-1092" y="5311"/>
                  <a:pt x="0" y="0"/>
                </a:cubicBezTo>
                <a:close/>
              </a:path>
              <a:path w="3182692" h="18288" stroke="0" extrusionOk="0">
                <a:moveTo>
                  <a:pt x="0" y="0"/>
                </a:moveTo>
                <a:cubicBezTo>
                  <a:pt x="288308" y="19724"/>
                  <a:pt x="431183" y="-26509"/>
                  <a:pt x="604711" y="0"/>
                </a:cubicBezTo>
                <a:cubicBezTo>
                  <a:pt x="795174" y="4405"/>
                  <a:pt x="950067" y="22541"/>
                  <a:pt x="1145769" y="0"/>
                </a:cubicBezTo>
                <a:cubicBezTo>
                  <a:pt x="1301850" y="7702"/>
                  <a:pt x="1499974" y="-70469"/>
                  <a:pt x="1845961" y="0"/>
                </a:cubicBezTo>
                <a:cubicBezTo>
                  <a:pt x="2191264" y="15313"/>
                  <a:pt x="2307232" y="-97"/>
                  <a:pt x="2450673" y="0"/>
                </a:cubicBezTo>
                <a:cubicBezTo>
                  <a:pt x="2596405" y="-19465"/>
                  <a:pt x="3033067" y="-31048"/>
                  <a:pt x="3182692" y="0"/>
                </a:cubicBezTo>
                <a:cubicBezTo>
                  <a:pt x="3182066" y="4696"/>
                  <a:pt x="3183370" y="10269"/>
                  <a:pt x="3182692" y="18288"/>
                </a:cubicBezTo>
                <a:cubicBezTo>
                  <a:pt x="3091120" y="-23022"/>
                  <a:pt x="2811074" y="61693"/>
                  <a:pt x="2546154" y="18288"/>
                </a:cubicBezTo>
                <a:cubicBezTo>
                  <a:pt x="2285186" y="27529"/>
                  <a:pt x="2090205" y="-22321"/>
                  <a:pt x="1845961" y="18288"/>
                </a:cubicBezTo>
                <a:cubicBezTo>
                  <a:pt x="1599794" y="31493"/>
                  <a:pt x="1466284" y="37447"/>
                  <a:pt x="1304904" y="18288"/>
                </a:cubicBezTo>
                <a:cubicBezTo>
                  <a:pt x="1189365" y="43775"/>
                  <a:pt x="952251" y="23461"/>
                  <a:pt x="668365" y="18288"/>
                </a:cubicBezTo>
                <a:cubicBezTo>
                  <a:pt x="407868" y="43595"/>
                  <a:pt x="284672" y="-9405"/>
                  <a:pt x="0" y="18288"/>
                </a:cubicBezTo>
                <a:cubicBezTo>
                  <a:pt x="527" y="9891"/>
                  <a:pt x="870" y="7012"/>
                  <a:pt x="0" y="0"/>
                </a:cubicBezTo>
                <a:close/>
              </a:path>
              <a:path w="3182692" h="18288" fill="none" stroke="0" extrusionOk="0">
                <a:moveTo>
                  <a:pt x="0" y="0"/>
                </a:moveTo>
                <a:cubicBezTo>
                  <a:pt x="108839" y="-32375"/>
                  <a:pt x="447732" y="16552"/>
                  <a:pt x="604711" y="0"/>
                </a:cubicBezTo>
                <a:cubicBezTo>
                  <a:pt x="781899" y="-548"/>
                  <a:pt x="1052060" y="7118"/>
                  <a:pt x="1241250" y="0"/>
                </a:cubicBezTo>
                <a:cubicBezTo>
                  <a:pt x="1399482" y="14083"/>
                  <a:pt x="1706293" y="54730"/>
                  <a:pt x="1909615" y="0"/>
                </a:cubicBezTo>
                <a:cubicBezTo>
                  <a:pt x="2085313" y="-24404"/>
                  <a:pt x="2264415" y="16988"/>
                  <a:pt x="2577981" y="0"/>
                </a:cubicBezTo>
                <a:cubicBezTo>
                  <a:pt x="2926098" y="-10318"/>
                  <a:pt x="3036314" y="-14769"/>
                  <a:pt x="3182692" y="0"/>
                </a:cubicBezTo>
                <a:cubicBezTo>
                  <a:pt x="3181841" y="8135"/>
                  <a:pt x="3181636" y="12730"/>
                  <a:pt x="3182692" y="18288"/>
                </a:cubicBezTo>
                <a:cubicBezTo>
                  <a:pt x="2996012" y="-1231"/>
                  <a:pt x="2669008" y="27395"/>
                  <a:pt x="2482500" y="18288"/>
                </a:cubicBezTo>
                <a:cubicBezTo>
                  <a:pt x="2296543" y="21246"/>
                  <a:pt x="1935236" y="7938"/>
                  <a:pt x="1782308" y="18288"/>
                </a:cubicBezTo>
                <a:cubicBezTo>
                  <a:pt x="1607683" y="25490"/>
                  <a:pt x="1291498" y="1369"/>
                  <a:pt x="1145769" y="18288"/>
                </a:cubicBezTo>
                <a:cubicBezTo>
                  <a:pt x="1015407" y="55325"/>
                  <a:pt x="262557" y="26571"/>
                  <a:pt x="0" y="18288"/>
                </a:cubicBezTo>
                <a:cubicBezTo>
                  <a:pt x="508" y="13336"/>
                  <a:pt x="437" y="7274"/>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custGeom>
                    <a:avLst/>
                    <a:gdLst>
                      <a:gd name="connsiteX0" fmla="*/ 0 w 3182692"/>
                      <a:gd name="connsiteY0" fmla="*/ 0 h 18288"/>
                      <a:gd name="connsiteX1" fmla="*/ 604711 w 3182692"/>
                      <a:gd name="connsiteY1" fmla="*/ 0 h 18288"/>
                      <a:gd name="connsiteX2" fmla="*/ 1241250 w 3182692"/>
                      <a:gd name="connsiteY2" fmla="*/ 0 h 18288"/>
                      <a:gd name="connsiteX3" fmla="*/ 1909615 w 3182692"/>
                      <a:gd name="connsiteY3" fmla="*/ 0 h 18288"/>
                      <a:gd name="connsiteX4" fmla="*/ 2577981 w 3182692"/>
                      <a:gd name="connsiteY4" fmla="*/ 0 h 18288"/>
                      <a:gd name="connsiteX5" fmla="*/ 3182692 w 3182692"/>
                      <a:gd name="connsiteY5" fmla="*/ 0 h 18288"/>
                      <a:gd name="connsiteX6" fmla="*/ 3182692 w 3182692"/>
                      <a:gd name="connsiteY6" fmla="*/ 18288 h 18288"/>
                      <a:gd name="connsiteX7" fmla="*/ 2482500 w 3182692"/>
                      <a:gd name="connsiteY7" fmla="*/ 18288 h 18288"/>
                      <a:gd name="connsiteX8" fmla="*/ 1782308 w 3182692"/>
                      <a:gd name="connsiteY8" fmla="*/ 18288 h 18288"/>
                      <a:gd name="connsiteX9" fmla="*/ 1145769 w 3182692"/>
                      <a:gd name="connsiteY9" fmla="*/ 18288 h 18288"/>
                      <a:gd name="connsiteX10" fmla="*/ 0 w 3182692"/>
                      <a:gd name="connsiteY10" fmla="*/ 18288 h 18288"/>
                      <a:gd name="connsiteX11" fmla="*/ 0 w 3182692"/>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2692" h="18288" fill="none" extrusionOk="0">
                        <a:moveTo>
                          <a:pt x="0" y="0"/>
                        </a:moveTo>
                        <a:cubicBezTo>
                          <a:pt x="126686" y="-21366"/>
                          <a:pt x="467788" y="9025"/>
                          <a:pt x="604711" y="0"/>
                        </a:cubicBezTo>
                        <a:cubicBezTo>
                          <a:pt x="741634" y="-9025"/>
                          <a:pt x="1061620" y="6814"/>
                          <a:pt x="1241250" y="0"/>
                        </a:cubicBezTo>
                        <a:cubicBezTo>
                          <a:pt x="1420880" y="-6814"/>
                          <a:pt x="1713773" y="13383"/>
                          <a:pt x="1909615" y="0"/>
                        </a:cubicBezTo>
                        <a:cubicBezTo>
                          <a:pt x="2105457" y="-13383"/>
                          <a:pt x="2257256" y="13567"/>
                          <a:pt x="2577981" y="0"/>
                        </a:cubicBezTo>
                        <a:cubicBezTo>
                          <a:pt x="2898706" y="-13567"/>
                          <a:pt x="3026063" y="6328"/>
                          <a:pt x="3182692" y="0"/>
                        </a:cubicBezTo>
                        <a:cubicBezTo>
                          <a:pt x="3181983" y="8157"/>
                          <a:pt x="3182279" y="12125"/>
                          <a:pt x="3182692" y="18288"/>
                        </a:cubicBezTo>
                        <a:cubicBezTo>
                          <a:pt x="2998421" y="21742"/>
                          <a:pt x="2675038" y="19014"/>
                          <a:pt x="2482500" y="18288"/>
                        </a:cubicBezTo>
                        <a:cubicBezTo>
                          <a:pt x="2289962" y="17562"/>
                          <a:pt x="1930644" y="6834"/>
                          <a:pt x="1782308" y="18288"/>
                        </a:cubicBezTo>
                        <a:cubicBezTo>
                          <a:pt x="1633972" y="29742"/>
                          <a:pt x="1287388" y="-1992"/>
                          <a:pt x="1145769" y="18288"/>
                        </a:cubicBezTo>
                        <a:cubicBezTo>
                          <a:pt x="1004150" y="38568"/>
                          <a:pt x="256377" y="-37438"/>
                          <a:pt x="0" y="18288"/>
                        </a:cubicBezTo>
                        <a:cubicBezTo>
                          <a:pt x="-46" y="12483"/>
                          <a:pt x="-203" y="6491"/>
                          <a:pt x="0" y="0"/>
                        </a:cubicBezTo>
                        <a:close/>
                      </a:path>
                      <a:path w="3182692" h="18288" stroke="0" extrusionOk="0">
                        <a:moveTo>
                          <a:pt x="0" y="0"/>
                        </a:moveTo>
                        <a:cubicBezTo>
                          <a:pt x="283446" y="18201"/>
                          <a:pt x="432812" y="7290"/>
                          <a:pt x="604711" y="0"/>
                        </a:cubicBezTo>
                        <a:cubicBezTo>
                          <a:pt x="776610" y="-7290"/>
                          <a:pt x="982253" y="15478"/>
                          <a:pt x="1145769" y="0"/>
                        </a:cubicBezTo>
                        <a:cubicBezTo>
                          <a:pt x="1309285" y="-15478"/>
                          <a:pt x="1514247" y="-25520"/>
                          <a:pt x="1845961" y="0"/>
                        </a:cubicBezTo>
                        <a:cubicBezTo>
                          <a:pt x="2177675" y="25520"/>
                          <a:pt x="2297588" y="16646"/>
                          <a:pt x="2450673" y="0"/>
                        </a:cubicBezTo>
                        <a:cubicBezTo>
                          <a:pt x="2603758" y="-16646"/>
                          <a:pt x="3023048" y="-21196"/>
                          <a:pt x="3182692" y="0"/>
                        </a:cubicBezTo>
                        <a:cubicBezTo>
                          <a:pt x="3182428" y="4493"/>
                          <a:pt x="3183076" y="9472"/>
                          <a:pt x="3182692" y="18288"/>
                        </a:cubicBezTo>
                        <a:cubicBezTo>
                          <a:pt x="3039109" y="-12701"/>
                          <a:pt x="2823860" y="13848"/>
                          <a:pt x="2546154" y="18288"/>
                        </a:cubicBezTo>
                        <a:cubicBezTo>
                          <a:pt x="2268448" y="22728"/>
                          <a:pt x="2098674" y="5291"/>
                          <a:pt x="1845961" y="18288"/>
                        </a:cubicBezTo>
                        <a:cubicBezTo>
                          <a:pt x="1593248" y="31285"/>
                          <a:pt x="1456743" y="27560"/>
                          <a:pt x="1304904" y="18288"/>
                        </a:cubicBezTo>
                        <a:cubicBezTo>
                          <a:pt x="1153065" y="9016"/>
                          <a:pt x="947204" y="11126"/>
                          <a:pt x="668365" y="18288"/>
                        </a:cubicBezTo>
                        <a:cubicBezTo>
                          <a:pt x="389526" y="25450"/>
                          <a:pt x="288244" y="-4628"/>
                          <a:pt x="0" y="18288"/>
                        </a:cubicBezTo>
                        <a:cubicBezTo>
                          <a:pt x="843" y="9577"/>
                          <a:pt x="371" y="6900"/>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81514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7244A3-3562-4942-AF60-1845F9C726F3}"/>
              </a:ext>
            </a:extLst>
          </p:cNvPr>
          <p:cNvSpPr>
            <a:spLocks noGrp="1"/>
          </p:cNvSpPr>
          <p:nvPr>
            <p:ph idx="1"/>
          </p:nvPr>
        </p:nvSpPr>
        <p:spPr>
          <a:xfrm>
            <a:off x="338361" y="1463253"/>
            <a:ext cx="8386537" cy="5004884"/>
          </a:xfrm>
        </p:spPr>
        <p:txBody>
          <a:bodyPr/>
          <a:lstStyle/>
          <a:p>
            <a:r>
              <a:rPr lang="en-IN" dirty="0"/>
              <a:t>It can following failure scenarios in YARN framework.</a:t>
            </a:r>
          </a:p>
          <a:p>
            <a:r>
              <a:rPr lang="en-IN" dirty="0"/>
              <a:t>Task failure</a:t>
            </a:r>
          </a:p>
          <a:p>
            <a:r>
              <a:rPr lang="en-IN" dirty="0"/>
              <a:t>Application master failure</a:t>
            </a:r>
          </a:p>
          <a:p>
            <a:r>
              <a:rPr lang="en-IN" dirty="0"/>
              <a:t>Node Manager Failure</a:t>
            </a:r>
          </a:p>
          <a:p>
            <a:r>
              <a:rPr lang="en-IN" dirty="0"/>
              <a:t>And last is resource manager failure</a:t>
            </a:r>
          </a:p>
        </p:txBody>
      </p:sp>
      <p:sp>
        <p:nvSpPr>
          <p:cNvPr id="3" name="Title 2">
            <a:extLst>
              <a:ext uri="{FF2B5EF4-FFF2-40B4-BE49-F238E27FC236}">
                <a16:creationId xmlns:a16="http://schemas.microsoft.com/office/drawing/2014/main" id="{AFC4A214-3DA9-467A-9AA9-922FFA03D235}"/>
              </a:ext>
            </a:extLst>
          </p:cNvPr>
          <p:cNvSpPr>
            <a:spLocks noGrp="1"/>
          </p:cNvSpPr>
          <p:nvPr>
            <p:ph type="title"/>
          </p:nvPr>
        </p:nvSpPr>
        <p:spPr/>
        <p:txBody>
          <a:bodyPr vert="horz" lIns="91440" tIns="45720" rIns="91440" bIns="45720" rtlCol="0" anchor="ctr">
            <a:noAutofit/>
          </a:bodyPr>
          <a:lstStyle/>
          <a:p>
            <a:r>
              <a:rPr lang="en-IN" dirty="0"/>
              <a:t>Failures in Yarn</a:t>
            </a:r>
          </a:p>
        </p:txBody>
      </p:sp>
    </p:spTree>
    <p:extLst>
      <p:ext uri="{BB962C8B-B14F-4D97-AF65-F5344CB8AC3E}">
        <p14:creationId xmlns:p14="http://schemas.microsoft.com/office/powerpoint/2010/main" val="41131560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060F97-037E-4CE4-9C01-3E4523679A94}"/>
              </a:ext>
            </a:extLst>
          </p:cNvPr>
          <p:cNvSpPr>
            <a:spLocks noGrp="1"/>
          </p:cNvSpPr>
          <p:nvPr>
            <p:ph type="title"/>
          </p:nvPr>
        </p:nvSpPr>
        <p:spPr/>
        <p:txBody>
          <a:bodyPr vert="horz" lIns="91440" tIns="45720" rIns="91440" bIns="45720" rtlCol="0" anchor="ctr">
            <a:noAutofit/>
          </a:bodyPr>
          <a:lstStyle/>
          <a:p>
            <a:r>
              <a:rPr lang="en-IN" dirty="0"/>
              <a:t>Failure Scenarios in YARN</a:t>
            </a:r>
          </a:p>
        </p:txBody>
      </p:sp>
      <p:grpSp>
        <p:nvGrpSpPr>
          <p:cNvPr id="9" name="Group 8">
            <a:extLst>
              <a:ext uri="{FF2B5EF4-FFF2-40B4-BE49-F238E27FC236}">
                <a16:creationId xmlns:a16="http://schemas.microsoft.com/office/drawing/2014/main" id="{04BFA7FF-A534-4E5A-BF33-629DCBE29544}"/>
              </a:ext>
            </a:extLst>
          </p:cNvPr>
          <p:cNvGrpSpPr/>
          <p:nvPr/>
        </p:nvGrpSpPr>
        <p:grpSpPr>
          <a:xfrm>
            <a:off x="200249" y="1659512"/>
            <a:ext cx="3857401" cy="1689319"/>
            <a:chOff x="271687" y="1500187"/>
            <a:chExt cx="3857401" cy="1689319"/>
          </a:xfrm>
        </p:grpSpPr>
        <p:sp>
          <p:nvSpPr>
            <p:cNvPr id="4" name="Rectangle 3">
              <a:extLst>
                <a:ext uri="{FF2B5EF4-FFF2-40B4-BE49-F238E27FC236}">
                  <a16:creationId xmlns:a16="http://schemas.microsoft.com/office/drawing/2014/main" id="{3EED08C9-1246-4D52-877C-EF6F9602074D}"/>
                </a:ext>
              </a:extLst>
            </p:cNvPr>
            <p:cNvSpPr/>
            <p:nvPr/>
          </p:nvSpPr>
          <p:spPr>
            <a:xfrm>
              <a:off x="271687" y="1500187"/>
              <a:ext cx="3857401" cy="168931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5" name="Rectangle 4">
              <a:extLst>
                <a:ext uri="{FF2B5EF4-FFF2-40B4-BE49-F238E27FC236}">
                  <a16:creationId xmlns:a16="http://schemas.microsoft.com/office/drawing/2014/main" id="{77B58201-1CC8-4ADD-82B4-71EC4BF7BD9F}"/>
                </a:ext>
              </a:extLst>
            </p:cNvPr>
            <p:cNvSpPr/>
            <p:nvPr/>
          </p:nvSpPr>
          <p:spPr>
            <a:xfrm>
              <a:off x="461960" y="1677192"/>
              <a:ext cx="3367090" cy="112315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6" name="Rectangle: Rounded Corners 5">
              <a:extLst>
                <a:ext uri="{FF2B5EF4-FFF2-40B4-BE49-F238E27FC236}">
                  <a16:creationId xmlns:a16="http://schemas.microsoft.com/office/drawing/2014/main" id="{CF949162-D5F4-4702-8E5C-CDB460C8B59C}"/>
                </a:ext>
              </a:extLst>
            </p:cNvPr>
            <p:cNvSpPr/>
            <p:nvPr/>
          </p:nvSpPr>
          <p:spPr>
            <a:xfrm>
              <a:off x="685800" y="1828800"/>
              <a:ext cx="1443038" cy="7143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MapReduce Program</a:t>
              </a:r>
            </a:p>
          </p:txBody>
        </p:sp>
        <p:sp>
          <p:nvSpPr>
            <p:cNvPr id="7" name="Rectangle: Rounded Corners 6">
              <a:extLst>
                <a:ext uri="{FF2B5EF4-FFF2-40B4-BE49-F238E27FC236}">
                  <a16:creationId xmlns:a16="http://schemas.microsoft.com/office/drawing/2014/main" id="{12A3D9C6-F86E-4413-ACD2-66BBEEB089B9}"/>
                </a:ext>
              </a:extLst>
            </p:cNvPr>
            <p:cNvSpPr/>
            <p:nvPr/>
          </p:nvSpPr>
          <p:spPr>
            <a:xfrm>
              <a:off x="2235992" y="1805780"/>
              <a:ext cx="1443038" cy="7143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Job Client</a:t>
              </a:r>
            </a:p>
          </p:txBody>
        </p:sp>
        <p:sp>
          <p:nvSpPr>
            <p:cNvPr id="8" name="TextBox 7">
              <a:extLst>
                <a:ext uri="{FF2B5EF4-FFF2-40B4-BE49-F238E27FC236}">
                  <a16:creationId xmlns:a16="http://schemas.microsoft.com/office/drawing/2014/main" id="{F5EE3ABF-1B4B-4029-AA30-5482E0C1A80D}"/>
                </a:ext>
              </a:extLst>
            </p:cNvPr>
            <p:cNvSpPr txBox="1"/>
            <p:nvPr/>
          </p:nvSpPr>
          <p:spPr>
            <a:xfrm>
              <a:off x="1714500" y="2543175"/>
              <a:ext cx="1614488" cy="646331"/>
            </a:xfrm>
            <a:prstGeom prst="rect">
              <a:avLst/>
            </a:prstGeom>
            <a:noFill/>
          </p:spPr>
          <p:txBody>
            <a:bodyPr wrap="square" rtlCol="0">
              <a:spAutoFit/>
            </a:bodyPr>
            <a:lstStyle/>
            <a:p>
              <a:r>
                <a:rPr lang="en-IN" dirty="0">
                  <a:latin typeface="Bahnschrift" panose="020B0502040204020203" pitchFamily="34" charset="0"/>
                </a:rPr>
                <a:t>Client JVM</a:t>
              </a:r>
            </a:p>
            <a:p>
              <a:r>
                <a:rPr lang="en-IN" dirty="0">
                  <a:latin typeface="Bahnschrift" panose="020B0502040204020203" pitchFamily="34" charset="0"/>
                </a:rPr>
                <a:t>Client Mode</a:t>
              </a:r>
            </a:p>
          </p:txBody>
        </p:sp>
      </p:grpSp>
      <p:sp>
        <p:nvSpPr>
          <p:cNvPr id="10" name="Rectangle 9">
            <a:extLst>
              <a:ext uri="{FF2B5EF4-FFF2-40B4-BE49-F238E27FC236}">
                <a16:creationId xmlns:a16="http://schemas.microsoft.com/office/drawing/2014/main" id="{3339410E-5678-4F9C-8C83-D77E1565D523}"/>
              </a:ext>
            </a:extLst>
          </p:cNvPr>
          <p:cNvSpPr/>
          <p:nvPr/>
        </p:nvSpPr>
        <p:spPr>
          <a:xfrm>
            <a:off x="4686300" y="1500187"/>
            <a:ext cx="4038599" cy="168931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11" name="Rectangle 10">
            <a:extLst>
              <a:ext uri="{FF2B5EF4-FFF2-40B4-BE49-F238E27FC236}">
                <a16:creationId xmlns:a16="http://schemas.microsoft.com/office/drawing/2014/main" id="{CE4EFF6C-D2E3-41A6-BB74-7D2C68E2A831}"/>
              </a:ext>
            </a:extLst>
          </p:cNvPr>
          <p:cNvSpPr/>
          <p:nvPr/>
        </p:nvSpPr>
        <p:spPr>
          <a:xfrm>
            <a:off x="4857750" y="1677192"/>
            <a:ext cx="3600451" cy="126603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13" name="Rectangle: Rounded Corners 12">
            <a:extLst>
              <a:ext uri="{FF2B5EF4-FFF2-40B4-BE49-F238E27FC236}">
                <a16:creationId xmlns:a16="http://schemas.microsoft.com/office/drawing/2014/main" id="{37C779D1-AF97-41EF-B06D-8EEA730479A1}"/>
              </a:ext>
            </a:extLst>
          </p:cNvPr>
          <p:cNvSpPr/>
          <p:nvPr/>
        </p:nvSpPr>
        <p:spPr>
          <a:xfrm>
            <a:off x="5003117" y="1953020"/>
            <a:ext cx="1443038" cy="7143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Resource manager</a:t>
            </a:r>
          </a:p>
        </p:txBody>
      </p:sp>
      <p:grpSp>
        <p:nvGrpSpPr>
          <p:cNvPr id="18" name="Group 17">
            <a:extLst>
              <a:ext uri="{FF2B5EF4-FFF2-40B4-BE49-F238E27FC236}">
                <a16:creationId xmlns:a16="http://schemas.microsoft.com/office/drawing/2014/main" id="{D4728B8B-567C-4CB1-9BD9-144AFECBA63D}"/>
              </a:ext>
            </a:extLst>
          </p:cNvPr>
          <p:cNvGrpSpPr/>
          <p:nvPr/>
        </p:nvGrpSpPr>
        <p:grpSpPr>
          <a:xfrm>
            <a:off x="657224" y="3674049"/>
            <a:ext cx="2600325" cy="3026789"/>
            <a:chOff x="657224" y="3674049"/>
            <a:chExt cx="2600325" cy="3026789"/>
          </a:xfrm>
        </p:grpSpPr>
        <p:sp>
          <p:nvSpPr>
            <p:cNvPr id="14" name="Rectangle 13">
              <a:extLst>
                <a:ext uri="{FF2B5EF4-FFF2-40B4-BE49-F238E27FC236}">
                  <a16:creationId xmlns:a16="http://schemas.microsoft.com/office/drawing/2014/main" id="{7CD20094-2FE7-49D0-A9ED-9FE30E6C10A3}"/>
                </a:ext>
              </a:extLst>
            </p:cNvPr>
            <p:cNvSpPr/>
            <p:nvPr/>
          </p:nvSpPr>
          <p:spPr>
            <a:xfrm>
              <a:off x="657224" y="3674049"/>
              <a:ext cx="2600325" cy="30267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15" name="Rectangle 14">
              <a:extLst>
                <a:ext uri="{FF2B5EF4-FFF2-40B4-BE49-F238E27FC236}">
                  <a16:creationId xmlns:a16="http://schemas.microsoft.com/office/drawing/2014/main" id="{5B64A3D2-2AEF-475E-B6C0-330663446877}"/>
                </a:ext>
              </a:extLst>
            </p:cNvPr>
            <p:cNvSpPr/>
            <p:nvPr/>
          </p:nvSpPr>
          <p:spPr>
            <a:xfrm>
              <a:off x="942976" y="3786188"/>
              <a:ext cx="2000250" cy="657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Node Manager</a:t>
              </a:r>
            </a:p>
          </p:txBody>
        </p:sp>
        <p:sp>
          <p:nvSpPr>
            <p:cNvPr id="16" name="TextBox 15">
              <a:extLst>
                <a:ext uri="{FF2B5EF4-FFF2-40B4-BE49-F238E27FC236}">
                  <a16:creationId xmlns:a16="http://schemas.microsoft.com/office/drawing/2014/main" id="{76E06E72-FEF7-4849-ADA2-C5C1004AEAC1}"/>
                </a:ext>
              </a:extLst>
            </p:cNvPr>
            <p:cNvSpPr txBox="1"/>
            <p:nvPr/>
          </p:nvSpPr>
          <p:spPr>
            <a:xfrm>
              <a:off x="942976" y="4843463"/>
              <a:ext cx="2000250" cy="1754326"/>
            </a:xfrm>
            <a:prstGeom prst="rect">
              <a:avLst/>
            </a:prstGeom>
            <a:noFill/>
            <a:ln>
              <a:solidFill>
                <a:schemeClr val="tx1"/>
              </a:solidFill>
            </a:ln>
          </p:spPr>
          <p:txBody>
            <a:bodyPr wrap="square" rtlCol="0">
              <a:spAutoFit/>
            </a:bodyPr>
            <a:lstStyle/>
            <a:p>
              <a:r>
                <a:rPr lang="en-IN" dirty="0">
                  <a:latin typeface="Bahnschrift" panose="020B0502040204020203" pitchFamily="34" charset="0"/>
                </a:rPr>
                <a:t>       Child JVM</a:t>
              </a:r>
            </a:p>
            <a:p>
              <a:endParaRPr lang="en-IN" dirty="0">
                <a:latin typeface="Bahnschrift" panose="020B0502040204020203" pitchFamily="34" charset="0"/>
              </a:endParaRPr>
            </a:p>
            <a:p>
              <a:endParaRPr lang="en-IN" dirty="0">
                <a:latin typeface="Bahnschrift" panose="020B0502040204020203" pitchFamily="34" charset="0"/>
              </a:endParaRPr>
            </a:p>
            <a:p>
              <a:endParaRPr lang="en-IN" dirty="0">
                <a:latin typeface="Bahnschrift" panose="020B0502040204020203" pitchFamily="34" charset="0"/>
              </a:endParaRPr>
            </a:p>
            <a:p>
              <a:endParaRPr lang="en-IN" dirty="0">
                <a:latin typeface="Bahnschrift" panose="020B0502040204020203" pitchFamily="34" charset="0"/>
              </a:endParaRPr>
            </a:p>
            <a:p>
              <a:endParaRPr lang="en-IN" dirty="0">
                <a:latin typeface="Bahnschrift" panose="020B0502040204020203" pitchFamily="34" charset="0"/>
              </a:endParaRPr>
            </a:p>
          </p:txBody>
        </p:sp>
        <p:sp>
          <p:nvSpPr>
            <p:cNvPr id="17" name="Rectangle 16">
              <a:extLst>
                <a:ext uri="{FF2B5EF4-FFF2-40B4-BE49-F238E27FC236}">
                  <a16:creationId xmlns:a16="http://schemas.microsoft.com/office/drawing/2014/main" id="{DA79B904-D163-4873-8224-EBE411E3AE9C}"/>
                </a:ext>
              </a:extLst>
            </p:cNvPr>
            <p:cNvSpPr/>
            <p:nvPr/>
          </p:nvSpPr>
          <p:spPr>
            <a:xfrm>
              <a:off x="1314451" y="5293303"/>
              <a:ext cx="1257300" cy="945137"/>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App Master</a:t>
              </a:r>
            </a:p>
          </p:txBody>
        </p:sp>
      </p:grpSp>
      <p:grpSp>
        <p:nvGrpSpPr>
          <p:cNvPr id="19" name="Group 18">
            <a:extLst>
              <a:ext uri="{FF2B5EF4-FFF2-40B4-BE49-F238E27FC236}">
                <a16:creationId xmlns:a16="http://schemas.microsoft.com/office/drawing/2014/main" id="{CBCD0844-30A0-4EFE-931C-F6CDC7250CA2}"/>
              </a:ext>
            </a:extLst>
          </p:cNvPr>
          <p:cNvGrpSpPr/>
          <p:nvPr/>
        </p:nvGrpSpPr>
        <p:grpSpPr>
          <a:xfrm>
            <a:off x="4531630" y="3429000"/>
            <a:ext cx="2914648" cy="3352007"/>
            <a:chOff x="657224" y="3674049"/>
            <a:chExt cx="2600325" cy="3026789"/>
          </a:xfrm>
        </p:grpSpPr>
        <p:sp>
          <p:nvSpPr>
            <p:cNvPr id="20" name="Rectangle 19">
              <a:extLst>
                <a:ext uri="{FF2B5EF4-FFF2-40B4-BE49-F238E27FC236}">
                  <a16:creationId xmlns:a16="http://schemas.microsoft.com/office/drawing/2014/main" id="{F5188BEA-3883-4DC0-AFC7-8A7B3F701126}"/>
                </a:ext>
              </a:extLst>
            </p:cNvPr>
            <p:cNvSpPr/>
            <p:nvPr/>
          </p:nvSpPr>
          <p:spPr>
            <a:xfrm>
              <a:off x="657224" y="3674049"/>
              <a:ext cx="2600325" cy="30267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21" name="Rectangle 20">
              <a:extLst>
                <a:ext uri="{FF2B5EF4-FFF2-40B4-BE49-F238E27FC236}">
                  <a16:creationId xmlns:a16="http://schemas.microsoft.com/office/drawing/2014/main" id="{9593AF1E-9859-4C8B-8DDA-66AFD6C472BC}"/>
                </a:ext>
              </a:extLst>
            </p:cNvPr>
            <p:cNvSpPr/>
            <p:nvPr/>
          </p:nvSpPr>
          <p:spPr>
            <a:xfrm>
              <a:off x="942976" y="3786188"/>
              <a:ext cx="2000250" cy="657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Node Manager</a:t>
              </a:r>
            </a:p>
          </p:txBody>
        </p:sp>
        <p:sp>
          <p:nvSpPr>
            <p:cNvPr id="22" name="TextBox 21">
              <a:extLst>
                <a:ext uri="{FF2B5EF4-FFF2-40B4-BE49-F238E27FC236}">
                  <a16:creationId xmlns:a16="http://schemas.microsoft.com/office/drawing/2014/main" id="{23AD05BF-684F-4F3E-9879-41D0BB6D8207}"/>
                </a:ext>
              </a:extLst>
            </p:cNvPr>
            <p:cNvSpPr txBox="1"/>
            <p:nvPr/>
          </p:nvSpPr>
          <p:spPr>
            <a:xfrm>
              <a:off x="957261" y="4651874"/>
              <a:ext cx="1985966" cy="1584118"/>
            </a:xfrm>
            <a:prstGeom prst="rect">
              <a:avLst/>
            </a:prstGeom>
            <a:noFill/>
            <a:ln>
              <a:solidFill>
                <a:schemeClr val="tx1"/>
              </a:solidFill>
            </a:ln>
          </p:spPr>
          <p:txBody>
            <a:bodyPr wrap="square" rtlCol="0">
              <a:spAutoFit/>
            </a:bodyPr>
            <a:lstStyle/>
            <a:p>
              <a:r>
                <a:rPr lang="en-IN" dirty="0">
                  <a:latin typeface="Bahnschrift" panose="020B0502040204020203" pitchFamily="34" charset="0"/>
                </a:rPr>
                <a:t>       Task JVM</a:t>
              </a:r>
            </a:p>
            <a:p>
              <a:endParaRPr lang="en-IN" dirty="0">
                <a:latin typeface="Bahnschrift" panose="020B0502040204020203" pitchFamily="34" charset="0"/>
              </a:endParaRPr>
            </a:p>
            <a:p>
              <a:endParaRPr lang="en-IN" dirty="0">
                <a:latin typeface="Bahnschrift" panose="020B0502040204020203" pitchFamily="34" charset="0"/>
              </a:endParaRPr>
            </a:p>
            <a:p>
              <a:endParaRPr lang="en-IN" dirty="0">
                <a:latin typeface="Bahnschrift" panose="020B0502040204020203" pitchFamily="34" charset="0"/>
              </a:endParaRPr>
            </a:p>
            <a:p>
              <a:endParaRPr lang="en-IN" dirty="0">
                <a:latin typeface="Bahnschrift" panose="020B0502040204020203" pitchFamily="34" charset="0"/>
              </a:endParaRPr>
            </a:p>
            <a:p>
              <a:endParaRPr lang="en-IN" dirty="0">
                <a:latin typeface="Bahnschrift" panose="020B0502040204020203" pitchFamily="34" charset="0"/>
              </a:endParaRPr>
            </a:p>
          </p:txBody>
        </p:sp>
        <p:sp>
          <p:nvSpPr>
            <p:cNvPr id="23" name="Rectangle 22">
              <a:extLst>
                <a:ext uri="{FF2B5EF4-FFF2-40B4-BE49-F238E27FC236}">
                  <a16:creationId xmlns:a16="http://schemas.microsoft.com/office/drawing/2014/main" id="{734924F9-F4C3-4670-8C78-D859FCF4E305}"/>
                </a:ext>
              </a:extLst>
            </p:cNvPr>
            <p:cNvSpPr/>
            <p:nvPr/>
          </p:nvSpPr>
          <p:spPr>
            <a:xfrm>
              <a:off x="1328735" y="5393113"/>
              <a:ext cx="1409700" cy="700448"/>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Map or Reduce Tasks</a:t>
              </a:r>
            </a:p>
          </p:txBody>
        </p:sp>
        <p:sp>
          <p:nvSpPr>
            <p:cNvPr id="24" name="Rectangle 23">
              <a:extLst>
                <a:ext uri="{FF2B5EF4-FFF2-40B4-BE49-F238E27FC236}">
                  <a16:creationId xmlns:a16="http://schemas.microsoft.com/office/drawing/2014/main" id="{27BD81B5-80E9-4A08-A8B9-6023FDCFAB4C}"/>
                </a:ext>
              </a:extLst>
            </p:cNvPr>
            <p:cNvSpPr/>
            <p:nvPr/>
          </p:nvSpPr>
          <p:spPr>
            <a:xfrm>
              <a:off x="1328735" y="4956384"/>
              <a:ext cx="1257300" cy="356758"/>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YARN Child</a:t>
              </a:r>
            </a:p>
          </p:txBody>
        </p:sp>
      </p:grpSp>
      <p:sp>
        <p:nvSpPr>
          <p:cNvPr id="25" name="TextBox 24">
            <a:extLst>
              <a:ext uri="{FF2B5EF4-FFF2-40B4-BE49-F238E27FC236}">
                <a16:creationId xmlns:a16="http://schemas.microsoft.com/office/drawing/2014/main" id="{953C8AF9-50AD-4910-A2E3-DB64D547F151}"/>
              </a:ext>
            </a:extLst>
          </p:cNvPr>
          <p:cNvSpPr txBox="1"/>
          <p:nvPr/>
        </p:nvSpPr>
        <p:spPr>
          <a:xfrm>
            <a:off x="4686300" y="6372225"/>
            <a:ext cx="2614613" cy="369332"/>
          </a:xfrm>
          <a:prstGeom prst="rect">
            <a:avLst/>
          </a:prstGeom>
          <a:noFill/>
        </p:spPr>
        <p:txBody>
          <a:bodyPr wrap="square" rtlCol="0">
            <a:spAutoFit/>
          </a:bodyPr>
          <a:lstStyle/>
          <a:p>
            <a:pPr algn="ctr"/>
            <a:r>
              <a:rPr lang="en-IN" dirty="0">
                <a:latin typeface="Bahnschrift" panose="020B0502040204020203" pitchFamily="34" charset="0"/>
              </a:rPr>
              <a:t>Node Manager Node</a:t>
            </a:r>
          </a:p>
        </p:txBody>
      </p:sp>
      <p:cxnSp>
        <p:nvCxnSpPr>
          <p:cNvPr id="27" name="Straight Arrow Connector 26">
            <a:extLst>
              <a:ext uri="{FF2B5EF4-FFF2-40B4-BE49-F238E27FC236}">
                <a16:creationId xmlns:a16="http://schemas.microsoft.com/office/drawing/2014/main" id="{368FB3EA-9A5E-46C1-9481-EC838CF82842}"/>
              </a:ext>
            </a:extLst>
          </p:cNvPr>
          <p:cNvCxnSpPr>
            <a:cxnSpLocks/>
            <a:stCxn id="21" idx="0"/>
          </p:cNvCxnSpPr>
          <p:nvPr/>
        </p:nvCxnSpPr>
        <p:spPr>
          <a:xfrm flipV="1">
            <a:off x="5972942" y="2726074"/>
            <a:ext cx="0" cy="8271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E8665AB9-DF1B-46C0-8BFC-6F824DA34E67}"/>
              </a:ext>
            </a:extLst>
          </p:cNvPr>
          <p:cNvSpPr txBox="1"/>
          <p:nvPr/>
        </p:nvSpPr>
        <p:spPr>
          <a:xfrm>
            <a:off x="6115050" y="2959674"/>
            <a:ext cx="1543049" cy="400110"/>
          </a:xfrm>
          <a:prstGeom prst="rect">
            <a:avLst/>
          </a:prstGeom>
          <a:noFill/>
        </p:spPr>
        <p:txBody>
          <a:bodyPr wrap="square" rtlCol="0">
            <a:spAutoFit/>
          </a:bodyPr>
          <a:lstStyle/>
          <a:p>
            <a:r>
              <a:rPr lang="en-IN" sz="2000" dirty="0">
                <a:latin typeface="Bahnschrift" panose="020B0502040204020203" pitchFamily="34" charset="0"/>
              </a:rPr>
              <a:t>Heartbeats</a:t>
            </a:r>
          </a:p>
        </p:txBody>
      </p:sp>
      <p:cxnSp>
        <p:nvCxnSpPr>
          <p:cNvPr id="31" name="Straight Arrow Connector 30">
            <a:extLst>
              <a:ext uri="{FF2B5EF4-FFF2-40B4-BE49-F238E27FC236}">
                <a16:creationId xmlns:a16="http://schemas.microsoft.com/office/drawing/2014/main" id="{484EEBEF-8576-4E63-9490-7DA6B23971D1}"/>
              </a:ext>
            </a:extLst>
          </p:cNvPr>
          <p:cNvCxnSpPr>
            <a:stCxn id="14" idx="0"/>
          </p:cNvCxnSpPr>
          <p:nvPr/>
        </p:nvCxnSpPr>
        <p:spPr>
          <a:xfrm flipV="1">
            <a:off x="1957387" y="2357438"/>
            <a:ext cx="3045730" cy="131661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B791D9B1-E0FF-42F6-95A2-299E5B0123EA}"/>
              </a:ext>
            </a:extLst>
          </p:cNvPr>
          <p:cNvCxnSpPr/>
          <p:nvPr/>
        </p:nvCxnSpPr>
        <p:spPr>
          <a:xfrm flipV="1">
            <a:off x="2571751" y="3786188"/>
            <a:ext cx="2280172" cy="207168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912A7EC6-31EC-450D-AE45-E969BA247BD1}"/>
              </a:ext>
            </a:extLst>
          </p:cNvPr>
          <p:cNvSpPr txBox="1"/>
          <p:nvPr/>
        </p:nvSpPr>
        <p:spPr>
          <a:xfrm>
            <a:off x="3249052" y="3021130"/>
            <a:ext cx="1543049" cy="400110"/>
          </a:xfrm>
          <a:prstGeom prst="rect">
            <a:avLst/>
          </a:prstGeom>
          <a:noFill/>
        </p:spPr>
        <p:txBody>
          <a:bodyPr wrap="square" rtlCol="0">
            <a:spAutoFit/>
          </a:bodyPr>
          <a:lstStyle/>
          <a:p>
            <a:r>
              <a:rPr lang="en-IN" sz="2000" dirty="0">
                <a:latin typeface="Bahnschrift" panose="020B0502040204020203" pitchFamily="34" charset="0"/>
              </a:rPr>
              <a:t>Heartbeats</a:t>
            </a:r>
          </a:p>
        </p:txBody>
      </p:sp>
    </p:spTree>
    <p:extLst>
      <p:ext uri="{BB962C8B-B14F-4D97-AF65-F5344CB8AC3E}">
        <p14:creationId xmlns:p14="http://schemas.microsoft.com/office/powerpoint/2010/main" val="20527197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060F97-037E-4CE4-9C01-3E4523679A94}"/>
              </a:ext>
            </a:extLst>
          </p:cNvPr>
          <p:cNvSpPr>
            <a:spLocks noGrp="1"/>
          </p:cNvSpPr>
          <p:nvPr>
            <p:ph type="title"/>
          </p:nvPr>
        </p:nvSpPr>
        <p:spPr/>
        <p:txBody>
          <a:bodyPr vert="horz" lIns="91440" tIns="45720" rIns="91440" bIns="45720" rtlCol="0" anchor="ctr">
            <a:noAutofit/>
          </a:bodyPr>
          <a:lstStyle/>
          <a:p>
            <a:r>
              <a:rPr lang="en-IN" dirty="0"/>
              <a:t>Failure Scenarios in YARN</a:t>
            </a:r>
          </a:p>
        </p:txBody>
      </p:sp>
      <p:grpSp>
        <p:nvGrpSpPr>
          <p:cNvPr id="9" name="Group 8">
            <a:extLst>
              <a:ext uri="{FF2B5EF4-FFF2-40B4-BE49-F238E27FC236}">
                <a16:creationId xmlns:a16="http://schemas.microsoft.com/office/drawing/2014/main" id="{04BFA7FF-A534-4E5A-BF33-629DCBE29544}"/>
              </a:ext>
            </a:extLst>
          </p:cNvPr>
          <p:cNvGrpSpPr/>
          <p:nvPr/>
        </p:nvGrpSpPr>
        <p:grpSpPr>
          <a:xfrm>
            <a:off x="200249" y="1659512"/>
            <a:ext cx="3857401" cy="1689319"/>
            <a:chOff x="271687" y="1500187"/>
            <a:chExt cx="3857401" cy="1689319"/>
          </a:xfrm>
        </p:grpSpPr>
        <p:sp>
          <p:nvSpPr>
            <p:cNvPr id="4" name="Rectangle 3">
              <a:extLst>
                <a:ext uri="{FF2B5EF4-FFF2-40B4-BE49-F238E27FC236}">
                  <a16:creationId xmlns:a16="http://schemas.microsoft.com/office/drawing/2014/main" id="{3EED08C9-1246-4D52-877C-EF6F9602074D}"/>
                </a:ext>
              </a:extLst>
            </p:cNvPr>
            <p:cNvSpPr/>
            <p:nvPr/>
          </p:nvSpPr>
          <p:spPr>
            <a:xfrm>
              <a:off x="271687" y="1500187"/>
              <a:ext cx="3857401" cy="168931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5" name="Rectangle 4">
              <a:extLst>
                <a:ext uri="{FF2B5EF4-FFF2-40B4-BE49-F238E27FC236}">
                  <a16:creationId xmlns:a16="http://schemas.microsoft.com/office/drawing/2014/main" id="{77B58201-1CC8-4ADD-82B4-71EC4BF7BD9F}"/>
                </a:ext>
              </a:extLst>
            </p:cNvPr>
            <p:cNvSpPr/>
            <p:nvPr/>
          </p:nvSpPr>
          <p:spPr>
            <a:xfrm>
              <a:off x="461960" y="1677192"/>
              <a:ext cx="3367090" cy="112315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6" name="Rectangle: Rounded Corners 5">
              <a:extLst>
                <a:ext uri="{FF2B5EF4-FFF2-40B4-BE49-F238E27FC236}">
                  <a16:creationId xmlns:a16="http://schemas.microsoft.com/office/drawing/2014/main" id="{CF949162-D5F4-4702-8E5C-CDB460C8B59C}"/>
                </a:ext>
              </a:extLst>
            </p:cNvPr>
            <p:cNvSpPr/>
            <p:nvPr/>
          </p:nvSpPr>
          <p:spPr>
            <a:xfrm>
              <a:off x="685800" y="1828800"/>
              <a:ext cx="1443038" cy="7143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MapReduce Program</a:t>
              </a:r>
            </a:p>
          </p:txBody>
        </p:sp>
        <p:sp>
          <p:nvSpPr>
            <p:cNvPr id="7" name="Rectangle: Rounded Corners 6">
              <a:extLst>
                <a:ext uri="{FF2B5EF4-FFF2-40B4-BE49-F238E27FC236}">
                  <a16:creationId xmlns:a16="http://schemas.microsoft.com/office/drawing/2014/main" id="{12A3D9C6-F86E-4413-ACD2-66BBEEB089B9}"/>
                </a:ext>
              </a:extLst>
            </p:cNvPr>
            <p:cNvSpPr/>
            <p:nvPr/>
          </p:nvSpPr>
          <p:spPr>
            <a:xfrm>
              <a:off x="2235992" y="1805780"/>
              <a:ext cx="1443038" cy="7143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Job Client</a:t>
              </a:r>
            </a:p>
          </p:txBody>
        </p:sp>
        <p:sp>
          <p:nvSpPr>
            <p:cNvPr id="8" name="TextBox 7">
              <a:extLst>
                <a:ext uri="{FF2B5EF4-FFF2-40B4-BE49-F238E27FC236}">
                  <a16:creationId xmlns:a16="http://schemas.microsoft.com/office/drawing/2014/main" id="{F5EE3ABF-1B4B-4029-AA30-5482E0C1A80D}"/>
                </a:ext>
              </a:extLst>
            </p:cNvPr>
            <p:cNvSpPr txBox="1"/>
            <p:nvPr/>
          </p:nvSpPr>
          <p:spPr>
            <a:xfrm>
              <a:off x="1714500" y="2543175"/>
              <a:ext cx="1614488" cy="646331"/>
            </a:xfrm>
            <a:prstGeom prst="rect">
              <a:avLst/>
            </a:prstGeom>
            <a:noFill/>
          </p:spPr>
          <p:txBody>
            <a:bodyPr wrap="square" rtlCol="0">
              <a:spAutoFit/>
            </a:bodyPr>
            <a:lstStyle/>
            <a:p>
              <a:r>
                <a:rPr lang="en-IN" dirty="0">
                  <a:latin typeface="Bahnschrift" panose="020B0502040204020203" pitchFamily="34" charset="0"/>
                </a:rPr>
                <a:t>Client JVM</a:t>
              </a:r>
            </a:p>
            <a:p>
              <a:r>
                <a:rPr lang="en-IN" dirty="0">
                  <a:latin typeface="Bahnschrift" panose="020B0502040204020203" pitchFamily="34" charset="0"/>
                </a:rPr>
                <a:t>Client Mode</a:t>
              </a:r>
            </a:p>
          </p:txBody>
        </p:sp>
      </p:grpSp>
      <p:sp>
        <p:nvSpPr>
          <p:cNvPr id="10" name="Rectangle 9">
            <a:extLst>
              <a:ext uri="{FF2B5EF4-FFF2-40B4-BE49-F238E27FC236}">
                <a16:creationId xmlns:a16="http://schemas.microsoft.com/office/drawing/2014/main" id="{3339410E-5678-4F9C-8C83-D77E1565D523}"/>
              </a:ext>
            </a:extLst>
          </p:cNvPr>
          <p:cNvSpPr/>
          <p:nvPr/>
        </p:nvSpPr>
        <p:spPr>
          <a:xfrm>
            <a:off x="4686300" y="1500187"/>
            <a:ext cx="4038599" cy="168931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11" name="Rectangle 10">
            <a:extLst>
              <a:ext uri="{FF2B5EF4-FFF2-40B4-BE49-F238E27FC236}">
                <a16:creationId xmlns:a16="http://schemas.microsoft.com/office/drawing/2014/main" id="{CE4EFF6C-D2E3-41A6-BB74-7D2C68E2A831}"/>
              </a:ext>
            </a:extLst>
          </p:cNvPr>
          <p:cNvSpPr/>
          <p:nvPr/>
        </p:nvSpPr>
        <p:spPr>
          <a:xfrm>
            <a:off x="4857750" y="1677192"/>
            <a:ext cx="3600451" cy="126603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13" name="Rectangle: Rounded Corners 12">
            <a:extLst>
              <a:ext uri="{FF2B5EF4-FFF2-40B4-BE49-F238E27FC236}">
                <a16:creationId xmlns:a16="http://schemas.microsoft.com/office/drawing/2014/main" id="{37C779D1-AF97-41EF-B06D-8EEA730479A1}"/>
              </a:ext>
            </a:extLst>
          </p:cNvPr>
          <p:cNvSpPr/>
          <p:nvPr/>
        </p:nvSpPr>
        <p:spPr>
          <a:xfrm>
            <a:off x="5003117" y="1953020"/>
            <a:ext cx="1443038" cy="7143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Resource manager</a:t>
            </a:r>
          </a:p>
        </p:txBody>
      </p:sp>
      <p:grpSp>
        <p:nvGrpSpPr>
          <p:cNvPr id="18" name="Group 17">
            <a:extLst>
              <a:ext uri="{FF2B5EF4-FFF2-40B4-BE49-F238E27FC236}">
                <a16:creationId xmlns:a16="http://schemas.microsoft.com/office/drawing/2014/main" id="{D4728B8B-567C-4CB1-9BD9-144AFECBA63D}"/>
              </a:ext>
            </a:extLst>
          </p:cNvPr>
          <p:cNvGrpSpPr/>
          <p:nvPr/>
        </p:nvGrpSpPr>
        <p:grpSpPr>
          <a:xfrm>
            <a:off x="657224" y="3674049"/>
            <a:ext cx="2600325" cy="3026789"/>
            <a:chOff x="657224" y="3674049"/>
            <a:chExt cx="2600325" cy="3026789"/>
          </a:xfrm>
        </p:grpSpPr>
        <p:sp>
          <p:nvSpPr>
            <p:cNvPr id="14" name="Rectangle 13">
              <a:extLst>
                <a:ext uri="{FF2B5EF4-FFF2-40B4-BE49-F238E27FC236}">
                  <a16:creationId xmlns:a16="http://schemas.microsoft.com/office/drawing/2014/main" id="{7CD20094-2FE7-49D0-A9ED-9FE30E6C10A3}"/>
                </a:ext>
              </a:extLst>
            </p:cNvPr>
            <p:cNvSpPr/>
            <p:nvPr/>
          </p:nvSpPr>
          <p:spPr>
            <a:xfrm>
              <a:off x="657224" y="3674049"/>
              <a:ext cx="2600325" cy="30267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15" name="Rectangle 14">
              <a:extLst>
                <a:ext uri="{FF2B5EF4-FFF2-40B4-BE49-F238E27FC236}">
                  <a16:creationId xmlns:a16="http://schemas.microsoft.com/office/drawing/2014/main" id="{5B64A3D2-2AEF-475E-B6C0-330663446877}"/>
                </a:ext>
              </a:extLst>
            </p:cNvPr>
            <p:cNvSpPr/>
            <p:nvPr/>
          </p:nvSpPr>
          <p:spPr>
            <a:xfrm>
              <a:off x="942976" y="3786188"/>
              <a:ext cx="2000250" cy="657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Node Manager</a:t>
              </a:r>
            </a:p>
          </p:txBody>
        </p:sp>
        <p:sp>
          <p:nvSpPr>
            <p:cNvPr id="16" name="TextBox 15">
              <a:extLst>
                <a:ext uri="{FF2B5EF4-FFF2-40B4-BE49-F238E27FC236}">
                  <a16:creationId xmlns:a16="http://schemas.microsoft.com/office/drawing/2014/main" id="{76E06E72-FEF7-4849-ADA2-C5C1004AEAC1}"/>
                </a:ext>
              </a:extLst>
            </p:cNvPr>
            <p:cNvSpPr txBox="1"/>
            <p:nvPr/>
          </p:nvSpPr>
          <p:spPr>
            <a:xfrm>
              <a:off x="942976" y="4843463"/>
              <a:ext cx="2000250" cy="1754326"/>
            </a:xfrm>
            <a:prstGeom prst="rect">
              <a:avLst/>
            </a:prstGeom>
            <a:noFill/>
            <a:ln>
              <a:solidFill>
                <a:schemeClr val="tx1"/>
              </a:solidFill>
            </a:ln>
          </p:spPr>
          <p:txBody>
            <a:bodyPr wrap="square" rtlCol="0">
              <a:spAutoFit/>
            </a:bodyPr>
            <a:lstStyle/>
            <a:p>
              <a:r>
                <a:rPr lang="en-IN" dirty="0">
                  <a:latin typeface="Bahnschrift" panose="020B0502040204020203" pitchFamily="34" charset="0"/>
                </a:rPr>
                <a:t>       Child JVM</a:t>
              </a:r>
            </a:p>
            <a:p>
              <a:endParaRPr lang="en-IN" dirty="0">
                <a:latin typeface="Bahnschrift" panose="020B0502040204020203" pitchFamily="34" charset="0"/>
              </a:endParaRPr>
            </a:p>
            <a:p>
              <a:endParaRPr lang="en-IN" dirty="0">
                <a:latin typeface="Bahnschrift" panose="020B0502040204020203" pitchFamily="34" charset="0"/>
              </a:endParaRPr>
            </a:p>
            <a:p>
              <a:endParaRPr lang="en-IN" dirty="0">
                <a:latin typeface="Bahnschrift" panose="020B0502040204020203" pitchFamily="34" charset="0"/>
              </a:endParaRPr>
            </a:p>
            <a:p>
              <a:endParaRPr lang="en-IN" dirty="0">
                <a:latin typeface="Bahnschrift" panose="020B0502040204020203" pitchFamily="34" charset="0"/>
              </a:endParaRPr>
            </a:p>
            <a:p>
              <a:endParaRPr lang="en-IN" dirty="0">
                <a:latin typeface="Bahnschrift" panose="020B0502040204020203" pitchFamily="34" charset="0"/>
              </a:endParaRPr>
            </a:p>
          </p:txBody>
        </p:sp>
        <p:sp>
          <p:nvSpPr>
            <p:cNvPr id="17" name="Rectangle 16">
              <a:extLst>
                <a:ext uri="{FF2B5EF4-FFF2-40B4-BE49-F238E27FC236}">
                  <a16:creationId xmlns:a16="http://schemas.microsoft.com/office/drawing/2014/main" id="{DA79B904-D163-4873-8224-EBE411E3AE9C}"/>
                </a:ext>
              </a:extLst>
            </p:cNvPr>
            <p:cNvSpPr/>
            <p:nvPr/>
          </p:nvSpPr>
          <p:spPr>
            <a:xfrm>
              <a:off x="1314451" y="5293303"/>
              <a:ext cx="1257300" cy="945137"/>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App Master</a:t>
              </a:r>
            </a:p>
          </p:txBody>
        </p:sp>
      </p:grpSp>
      <p:grpSp>
        <p:nvGrpSpPr>
          <p:cNvPr id="19" name="Group 18">
            <a:extLst>
              <a:ext uri="{FF2B5EF4-FFF2-40B4-BE49-F238E27FC236}">
                <a16:creationId xmlns:a16="http://schemas.microsoft.com/office/drawing/2014/main" id="{CBCD0844-30A0-4EFE-931C-F6CDC7250CA2}"/>
              </a:ext>
            </a:extLst>
          </p:cNvPr>
          <p:cNvGrpSpPr/>
          <p:nvPr/>
        </p:nvGrpSpPr>
        <p:grpSpPr>
          <a:xfrm>
            <a:off x="4531630" y="3429000"/>
            <a:ext cx="2914648" cy="3352007"/>
            <a:chOff x="657224" y="3674049"/>
            <a:chExt cx="2600325" cy="3026789"/>
          </a:xfrm>
        </p:grpSpPr>
        <p:sp>
          <p:nvSpPr>
            <p:cNvPr id="20" name="Rectangle 19">
              <a:extLst>
                <a:ext uri="{FF2B5EF4-FFF2-40B4-BE49-F238E27FC236}">
                  <a16:creationId xmlns:a16="http://schemas.microsoft.com/office/drawing/2014/main" id="{F5188BEA-3883-4DC0-AFC7-8A7B3F701126}"/>
                </a:ext>
              </a:extLst>
            </p:cNvPr>
            <p:cNvSpPr/>
            <p:nvPr/>
          </p:nvSpPr>
          <p:spPr>
            <a:xfrm>
              <a:off x="657224" y="3674049"/>
              <a:ext cx="2600325" cy="30267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21" name="Rectangle 20">
              <a:extLst>
                <a:ext uri="{FF2B5EF4-FFF2-40B4-BE49-F238E27FC236}">
                  <a16:creationId xmlns:a16="http://schemas.microsoft.com/office/drawing/2014/main" id="{9593AF1E-9859-4C8B-8DDA-66AFD6C472BC}"/>
                </a:ext>
              </a:extLst>
            </p:cNvPr>
            <p:cNvSpPr/>
            <p:nvPr/>
          </p:nvSpPr>
          <p:spPr>
            <a:xfrm>
              <a:off x="942976" y="3786188"/>
              <a:ext cx="2000250" cy="657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Node Manager</a:t>
              </a:r>
            </a:p>
          </p:txBody>
        </p:sp>
        <p:sp>
          <p:nvSpPr>
            <p:cNvPr id="22" name="TextBox 21">
              <a:extLst>
                <a:ext uri="{FF2B5EF4-FFF2-40B4-BE49-F238E27FC236}">
                  <a16:creationId xmlns:a16="http://schemas.microsoft.com/office/drawing/2014/main" id="{23AD05BF-684F-4F3E-9879-41D0BB6D8207}"/>
                </a:ext>
              </a:extLst>
            </p:cNvPr>
            <p:cNvSpPr txBox="1"/>
            <p:nvPr/>
          </p:nvSpPr>
          <p:spPr>
            <a:xfrm>
              <a:off x="957261" y="4651874"/>
              <a:ext cx="1985966" cy="1584118"/>
            </a:xfrm>
            <a:prstGeom prst="rect">
              <a:avLst/>
            </a:prstGeom>
            <a:noFill/>
            <a:ln>
              <a:solidFill>
                <a:schemeClr val="tx1"/>
              </a:solidFill>
            </a:ln>
          </p:spPr>
          <p:txBody>
            <a:bodyPr wrap="square" rtlCol="0">
              <a:spAutoFit/>
            </a:bodyPr>
            <a:lstStyle/>
            <a:p>
              <a:r>
                <a:rPr lang="en-IN" dirty="0">
                  <a:latin typeface="Bahnschrift" panose="020B0502040204020203" pitchFamily="34" charset="0"/>
                </a:rPr>
                <a:t>       Task JVM</a:t>
              </a:r>
            </a:p>
            <a:p>
              <a:endParaRPr lang="en-IN" dirty="0">
                <a:latin typeface="Bahnschrift" panose="020B0502040204020203" pitchFamily="34" charset="0"/>
              </a:endParaRPr>
            </a:p>
            <a:p>
              <a:endParaRPr lang="en-IN" dirty="0">
                <a:latin typeface="Bahnschrift" panose="020B0502040204020203" pitchFamily="34" charset="0"/>
              </a:endParaRPr>
            </a:p>
            <a:p>
              <a:endParaRPr lang="en-IN" dirty="0">
                <a:latin typeface="Bahnschrift" panose="020B0502040204020203" pitchFamily="34" charset="0"/>
              </a:endParaRPr>
            </a:p>
            <a:p>
              <a:endParaRPr lang="en-IN" dirty="0">
                <a:latin typeface="Bahnschrift" panose="020B0502040204020203" pitchFamily="34" charset="0"/>
              </a:endParaRPr>
            </a:p>
            <a:p>
              <a:endParaRPr lang="en-IN" dirty="0">
                <a:latin typeface="Bahnschrift" panose="020B0502040204020203" pitchFamily="34" charset="0"/>
              </a:endParaRPr>
            </a:p>
          </p:txBody>
        </p:sp>
        <p:sp>
          <p:nvSpPr>
            <p:cNvPr id="23" name="Rectangle 22">
              <a:extLst>
                <a:ext uri="{FF2B5EF4-FFF2-40B4-BE49-F238E27FC236}">
                  <a16:creationId xmlns:a16="http://schemas.microsoft.com/office/drawing/2014/main" id="{734924F9-F4C3-4670-8C78-D859FCF4E305}"/>
                </a:ext>
              </a:extLst>
            </p:cNvPr>
            <p:cNvSpPr/>
            <p:nvPr/>
          </p:nvSpPr>
          <p:spPr>
            <a:xfrm>
              <a:off x="1328735" y="5393113"/>
              <a:ext cx="1409700" cy="700448"/>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Map or Reduce Tasks</a:t>
              </a:r>
            </a:p>
          </p:txBody>
        </p:sp>
        <p:sp>
          <p:nvSpPr>
            <p:cNvPr id="24" name="Rectangle 23">
              <a:extLst>
                <a:ext uri="{FF2B5EF4-FFF2-40B4-BE49-F238E27FC236}">
                  <a16:creationId xmlns:a16="http://schemas.microsoft.com/office/drawing/2014/main" id="{27BD81B5-80E9-4A08-A8B9-6023FDCFAB4C}"/>
                </a:ext>
              </a:extLst>
            </p:cNvPr>
            <p:cNvSpPr/>
            <p:nvPr/>
          </p:nvSpPr>
          <p:spPr>
            <a:xfrm>
              <a:off x="1328735" y="4956384"/>
              <a:ext cx="1257300" cy="356758"/>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YARN Child</a:t>
              </a:r>
            </a:p>
          </p:txBody>
        </p:sp>
      </p:grpSp>
      <p:sp>
        <p:nvSpPr>
          <p:cNvPr id="25" name="TextBox 24">
            <a:extLst>
              <a:ext uri="{FF2B5EF4-FFF2-40B4-BE49-F238E27FC236}">
                <a16:creationId xmlns:a16="http://schemas.microsoft.com/office/drawing/2014/main" id="{953C8AF9-50AD-4910-A2E3-DB64D547F151}"/>
              </a:ext>
            </a:extLst>
          </p:cNvPr>
          <p:cNvSpPr txBox="1"/>
          <p:nvPr/>
        </p:nvSpPr>
        <p:spPr>
          <a:xfrm>
            <a:off x="4686300" y="6372225"/>
            <a:ext cx="2614613" cy="369332"/>
          </a:xfrm>
          <a:prstGeom prst="rect">
            <a:avLst/>
          </a:prstGeom>
          <a:noFill/>
        </p:spPr>
        <p:txBody>
          <a:bodyPr wrap="square" rtlCol="0">
            <a:spAutoFit/>
          </a:bodyPr>
          <a:lstStyle/>
          <a:p>
            <a:pPr algn="ctr"/>
            <a:r>
              <a:rPr lang="en-IN" dirty="0">
                <a:latin typeface="Bahnschrift" panose="020B0502040204020203" pitchFamily="34" charset="0"/>
              </a:rPr>
              <a:t>Node Manager Node</a:t>
            </a:r>
          </a:p>
        </p:txBody>
      </p:sp>
      <p:cxnSp>
        <p:nvCxnSpPr>
          <p:cNvPr id="27" name="Straight Arrow Connector 26">
            <a:extLst>
              <a:ext uri="{FF2B5EF4-FFF2-40B4-BE49-F238E27FC236}">
                <a16:creationId xmlns:a16="http://schemas.microsoft.com/office/drawing/2014/main" id="{368FB3EA-9A5E-46C1-9481-EC838CF82842}"/>
              </a:ext>
            </a:extLst>
          </p:cNvPr>
          <p:cNvCxnSpPr>
            <a:cxnSpLocks/>
            <a:stCxn id="21" idx="0"/>
          </p:cNvCxnSpPr>
          <p:nvPr/>
        </p:nvCxnSpPr>
        <p:spPr>
          <a:xfrm flipV="1">
            <a:off x="5972942" y="2726074"/>
            <a:ext cx="0" cy="8271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E8665AB9-DF1B-46C0-8BFC-6F824DA34E67}"/>
              </a:ext>
            </a:extLst>
          </p:cNvPr>
          <p:cNvSpPr txBox="1"/>
          <p:nvPr/>
        </p:nvSpPr>
        <p:spPr>
          <a:xfrm>
            <a:off x="6115050" y="2959674"/>
            <a:ext cx="1543049" cy="400110"/>
          </a:xfrm>
          <a:prstGeom prst="rect">
            <a:avLst/>
          </a:prstGeom>
          <a:noFill/>
        </p:spPr>
        <p:txBody>
          <a:bodyPr wrap="square" rtlCol="0">
            <a:spAutoFit/>
          </a:bodyPr>
          <a:lstStyle/>
          <a:p>
            <a:r>
              <a:rPr lang="en-IN" sz="2000" dirty="0">
                <a:latin typeface="Bahnschrift" panose="020B0502040204020203" pitchFamily="34" charset="0"/>
              </a:rPr>
              <a:t>Heartbeats</a:t>
            </a:r>
          </a:p>
        </p:txBody>
      </p:sp>
      <p:cxnSp>
        <p:nvCxnSpPr>
          <p:cNvPr id="31" name="Straight Arrow Connector 30">
            <a:extLst>
              <a:ext uri="{FF2B5EF4-FFF2-40B4-BE49-F238E27FC236}">
                <a16:creationId xmlns:a16="http://schemas.microsoft.com/office/drawing/2014/main" id="{484EEBEF-8576-4E63-9490-7DA6B23971D1}"/>
              </a:ext>
            </a:extLst>
          </p:cNvPr>
          <p:cNvCxnSpPr>
            <a:stCxn id="14" idx="0"/>
          </p:cNvCxnSpPr>
          <p:nvPr/>
        </p:nvCxnSpPr>
        <p:spPr>
          <a:xfrm flipV="1">
            <a:off x="1957387" y="2357438"/>
            <a:ext cx="3045730" cy="131661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B791D9B1-E0FF-42F6-95A2-299E5B0123EA}"/>
              </a:ext>
            </a:extLst>
          </p:cNvPr>
          <p:cNvCxnSpPr/>
          <p:nvPr/>
        </p:nvCxnSpPr>
        <p:spPr>
          <a:xfrm flipV="1">
            <a:off x="2571751" y="3786188"/>
            <a:ext cx="2280172" cy="207168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912A7EC6-31EC-450D-AE45-E969BA247BD1}"/>
              </a:ext>
            </a:extLst>
          </p:cNvPr>
          <p:cNvSpPr txBox="1"/>
          <p:nvPr/>
        </p:nvSpPr>
        <p:spPr>
          <a:xfrm>
            <a:off x="3249052" y="3021130"/>
            <a:ext cx="1543049" cy="400110"/>
          </a:xfrm>
          <a:prstGeom prst="rect">
            <a:avLst/>
          </a:prstGeom>
          <a:noFill/>
        </p:spPr>
        <p:txBody>
          <a:bodyPr wrap="square" rtlCol="0">
            <a:spAutoFit/>
          </a:bodyPr>
          <a:lstStyle/>
          <a:p>
            <a:r>
              <a:rPr lang="en-IN" sz="2000" dirty="0">
                <a:latin typeface="Bahnschrift" panose="020B0502040204020203" pitchFamily="34" charset="0"/>
              </a:rPr>
              <a:t>Heartbeats</a:t>
            </a:r>
          </a:p>
        </p:txBody>
      </p:sp>
      <p:sp>
        <p:nvSpPr>
          <p:cNvPr id="2" name="Multiplication Sign 1">
            <a:extLst>
              <a:ext uri="{FF2B5EF4-FFF2-40B4-BE49-F238E27FC236}">
                <a16:creationId xmlns:a16="http://schemas.microsoft.com/office/drawing/2014/main" id="{61104AA9-73DC-451C-9DD6-C35A79A2E93B}"/>
              </a:ext>
            </a:extLst>
          </p:cNvPr>
          <p:cNvSpPr/>
          <p:nvPr/>
        </p:nvSpPr>
        <p:spPr>
          <a:xfrm>
            <a:off x="5303934" y="5204042"/>
            <a:ext cx="1662218" cy="1164303"/>
          </a:xfrm>
          <a:prstGeom prst="mathMultiply">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Tree>
    <p:extLst>
      <p:ext uri="{BB962C8B-B14F-4D97-AF65-F5344CB8AC3E}">
        <p14:creationId xmlns:p14="http://schemas.microsoft.com/office/powerpoint/2010/main" val="16357418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060F97-037E-4CE4-9C01-3E4523679A94}"/>
              </a:ext>
            </a:extLst>
          </p:cNvPr>
          <p:cNvSpPr>
            <a:spLocks noGrp="1"/>
          </p:cNvSpPr>
          <p:nvPr>
            <p:ph type="title"/>
          </p:nvPr>
        </p:nvSpPr>
        <p:spPr/>
        <p:txBody>
          <a:bodyPr vert="horz" lIns="91440" tIns="45720" rIns="91440" bIns="45720" rtlCol="0" anchor="ctr">
            <a:noAutofit/>
          </a:bodyPr>
          <a:lstStyle/>
          <a:p>
            <a:r>
              <a:rPr lang="en-IN" dirty="0"/>
              <a:t>Failure Scenarios in YARN</a:t>
            </a:r>
          </a:p>
        </p:txBody>
      </p:sp>
      <p:grpSp>
        <p:nvGrpSpPr>
          <p:cNvPr id="9" name="Group 8">
            <a:extLst>
              <a:ext uri="{FF2B5EF4-FFF2-40B4-BE49-F238E27FC236}">
                <a16:creationId xmlns:a16="http://schemas.microsoft.com/office/drawing/2014/main" id="{04BFA7FF-A534-4E5A-BF33-629DCBE29544}"/>
              </a:ext>
            </a:extLst>
          </p:cNvPr>
          <p:cNvGrpSpPr/>
          <p:nvPr/>
        </p:nvGrpSpPr>
        <p:grpSpPr>
          <a:xfrm>
            <a:off x="200249" y="1659512"/>
            <a:ext cx="3857401" cy="1689319"/>
            <a:chOff x="271687" y="1500187"/>
            <a:chExt cx="3857401" cy="1689319"/>
          </a:xfrm>
        </p:grpSpPr>
        <p:sp>
          <p:nvSpPr>
            <p:cNvPr id="4" name="Rectangle 3">
              <a:extLst>
                <a:ext uri="{FF2B5EF4-FFF2-40B4-BE49-F238E27FC236}">
                  <a16:creationId xmlns:a16="http://schemas.microsoft.com/office/drawing/2014/main" id="{3EED08C9-1246-4D52-877C-EF6F9602074D}"/>
                </a:ext>
              </a:extLst>
            </p:cNvPr>
            <p:cNvSpPr/>
            <p:nvPr/>
          </p:nvSpPr>
          <p:spPr>
            <a:xfrm>
              <a:off x="271687" y="1500187"/>
              <a:ext cx="3857401" cy="168931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5" name="Rectangle 4">
              <a:extLst>
                <a:ext uri="{FF2B5EF4-FFF2-40B4-BE49-F238E27FC236}">
                  <a16:creationId xmlns:a16="http://schemas.microsoft.com/office/drawing/2014/main" id="{77B58201-1CC8-4ADD-82B4-71EC4BF7BD9F}"/>
                </a:ext>
              </a:extLst>
            </p:cNvPr>
            <p:cNvSpPr/>
            <p:nvPr/>
          </p:nvSpPr>
          <p:spPr>
            <a:xfrm>
              <a:off x="461960" y="1677192"/>
              <a:ext cx="3367090" cy="112315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6" name="Rectangle: Rounded Corners 5">
              <a:extLst>
                <a:ext uri="{FF2B5EF4-FFF2-40B4-BE49-F238E27FC236}">
                  <a16:creationId xmlns:a16="http://schemas.microsoft.com/office/drawing/2014/main" id="{CF949162-D5F4-4702-8E5C-CDB460C8B59C}"/>
                </a:ext>
              </a:extLst>
            </p:cNvPr>
            <p:cNvSpPr/>
            <p:nvPr/>
          </p:nvSpPr>
          <p:spPr>
            <a:xfrm>
              <a:off x="685800" y="1828800"/>
              <a:ext cx="1443038" cy="7143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MapReduce Program</a:t>
              </a:r>
            </a:p>
          </p:txBody>
        </p:sp>
        <p:sp>
          <p:nvSpPr>
            <p:cNvPr id="7" name="Rectangle: Rounded Corners 6">
              <a:extLst>
                <a:ext uri="{FF2B5EF4-FFF2-40B4-BE49-F238E27FC236}">
                  <a16:creationId xmlns:a16="http://schemas.microsoft.com/office/drawing/2014/main" id="{12A3D9C6-F86E-4413-ACD2-66BBEEB089B9}"/>
                </a:ext>
              </a:extLst>
            </p:cNvPr>
            <p:cNvSpPr/>
            <p:nvPr/>
          </p:nvSpPr>
          <p:spPr>
            <a:xfrm>
              <a:off x="2235992" y="1805780"/>
              <a:ext cx="1443038" cy="7143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Job Client</a:t>
              </a:r>
            </a:p>
          </p:txBody>
        </p:sp>
        <p:sp>
          <p:nvSpPr>
            <p:cNvPr id="8" name="TextBox 7">
              <a:extLst>
                <a:ext uri="{FF2B5EF4-FFF2-40B4-BE49-F238E27FC236}">
                  <a16:creationId xmlns:a16="http://schemas.microsoft.com/office/drawing/2014/main" id="{F5EE3ABF-1B4B-4029-AA30-5482E0C1A80D}"/>
                </a:ext>
              </a:extLst>
            </p:cNvPr>
            <p:cNvSpPr txBox="1"/>
            <p:nvPr/>
          </p:nvSpPr>
          <p:spPr>
            <a:xfrm>
              <a:off x="1714500" y="2543175"/>
              <a:ext cx="1614488" cy="646331"/>
            </a:xfrm>
            <a:prstGeom prst="rect">
              <a:avLst/>
            </a:prstGeom>
            <a:noFill/>
          </p:spPr>
          <p:txBody>
            <a:bodyPr wrap="square" rtlCol="0">
              <a:spAutoFit/>
            </a:bodyPr>
            <a:lstStyle/>
            <a:p>
              <a:r>
                <a:rPr lang="en-IN" dirty="0">
                  <a:latin typeface="Bahnschrift" panose="020B0502040204020203" pitchFamily="34" charset="0"/>
                </a:rPr>
                <a:t>Client JVM</a:t>
              </a:r>
            </a:p>
            <a:p>
              <a:r>
                <a:rPr lang="en-IN" dirty="0">
                  <a:latin typeface="Bahnschrift" panose="020B0502040204020203" pitchFamily="34" charset="0"/>
                </a:rPr>
                <a:t>Client Mode</a:t>
              </a:r>
            </a:p>
          </p:txBody>
        </p:sp>
      </p:grpSp>
      <p:sp>
        <p:nvSpPr>
          <p:cNvPr id="10" name="Rectangle 9">
            <a:extLst>
              <a:ext uri="{FF2B5EF4-FFF2-40B4-BE49-F238E27FC236}">
                <a16:creationId xmlns:a16="http://schemas.microsoft.com/office/drawing/2014/main" id="{3339410E-5678-4F9C-8C83-D77E1565D523}"/>
              </a:ext>
            </a:extLst>
          </p:cNvPr>
          <p:cNvSpPr/>
          <p:nvPr/>
        </p:nvSpPr>
        <p:spPr>
          <a:xfrm>
            <a:off x="4686300" y="1500187"/>
            <a:ext cx="4038599" cy="168931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11" name="Rectangle 10">
            <a:extLst>
              <a:ext uri="{FF2B5EF4-FFF2-40B4-BE49-F238E27FC236}">
                <a16:creationId xmlns:a16="http://schemas.microsoft.com/office/drawing/2014/main" id="{CE4EFF6C-D2E3-41A6-BB74-7D2C68E2A831}"/>
              </a:ext>
            </a:extLst>
          </p:cNvPr>
          <p:cNvSpPr/>
          <p:nvPr/>
        </p:nvSpPr>
        <p:spPr>
          <a:xfrm>
            <a:off x="4857750" y="1677192"/>
            <a:ext cx="3600451" cy="126603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13" name="Rectangle: Rounded Corners 12">
            <a:extLst>
              <a:ext uri="{FF2B5EF4-FFF2-40B4-BE49-F238E27FC236}">
                <a16:creationId xmlns:a16="http://schemas.microsoft.com/office/drawing/2014/main" id="{37C779D1-AF97-41EF-B06D-8EEA730479A1}"/>
              </a:ext>
            </a:extLst>
          </p:cNvPr>
          <p:cNvSpPr/>
          <p:nvPr/>
        </p:nvSpPr>
        <p:spPr>
          <a:xfrm>
            <a:off x="5003117" y="1953020"/>
            <a:ext cx="1443038" cy="7143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Resource manager</a:t>
            </a:r>
          </a:p>
        </p:txBody>
      </p:sp>
      <p:grpSp>
        <p:nvGrpSpPr>
          <p:cNvPr id="18" name="Group 17">
            <a:extLst>
              <a:ext uri="{FF2B5EF4-FFF2-40B4-BE49-F238E27FC236}">
                <a16:creationId xmlns:a16="http://schemas.microsoft.com/office/drawing/2014/main" id="{D4728B8B-567C-4CB1-9BD9-144AFECBA63D}"/>
              </a:ext>
            </a:extLst>
          </p:cNvPr>
          <p:cNvGrpSpPr/>
          <p:nvPr/>
        </p:nvGrpSpPr>
        <p:grpSpPr>
          <a:xfrm>
            <a:off x="657224" y="3674049"/>
            <a:ext cx="2600325" cy="3026789"/>
            <a:chOff x="657224" y="3674049"/>
            <a:chExt cx="2600325" cy="3026789"/>
          </a:xfrm>
        </p:grpSpPr>
        <p:sp>
          <p:nvSpPr>
            <p:cNvPr id="14" name="Rectangle 13">
              <a:extLst>
                <a:ext uri="{FF2B5EF4-FFF2-40B4-BE49-F238E27FC236}">
                  <a16:creationId xmlns:a16="http://schemas.microsoft.com/office/drawing/2014/main" id="{7CD20094-2FE7-49D0-A9ED-9FE30E6C10A3}"/>
                </a:ext>
              </a:extLst>
            </p:cNvPr>
            <p:cNvSpPr/>
            <p:nvPr/>
          </p:nvSpPr>
          <p:spPr>
            <a:xfrm>
              <a:off x="657224" y="3674049"/>
              <a:ext cx="2600325" cy="30267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15" name="Rectangle 14">
              <a:extLst>
                <a:ext uri="{FF2B5EF4-FFF2-40B4-BE49-F238E27FC236}">
                  <a16:creationId xmlns:a16="http://schemas.microsoft.com/office/drawing/2014/main" id="{5B64A3D2-2AEF-475E-B6C0-330663446877}"/>
                </a:ext>
              </a:extLst>
            </p:cNvPr>
            <p:cNvSpPr/>
            <p:nvPr/>
          </p:nvSpPr>
          <p:spPr>
            <a:xfrm>
              <a:off x="942976" y="3786188"/>
              <a:ext cx="2000250" cy="657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Node Manager</a:t>
              </a:r>
            </a:p>
          </p:txBody>
        </p:sp>
        <p:sp>
          <p:nvSpPr>
            <p:cNvPr id="16" name="TextBox 15">
              <a:extLst>
                <a:ext uri="{FF2B5EF4-FFF2-40B4-BE49-F238E27FC236}">
                  <a16:creationId xmlns:a16="http://schemas.microsoft.com/office/drawing/2014/main" id="{76E06E72-FEF7-4849-ADA2-C5C1004AEAC1}"/>
                </a:ext>
              </a:extLst>
            </p:cNvPr>
            <p:cNvSpPr txBox="1"/>
            <p:nvPr/>
          </p:nvSpPr>
          <p:spPr>
            <a:xfrm>
              <a:off x="942976" y="4843463"/>
              <a:ext cx="2000250" cy="1754326"/>
            </a:xfrm>
            <a:prstGeom prst="rect">
              <a:avLst/>
            </a:prstGeom>
            <a:noFill/>
            <a:ln>
              <a:solidFill>
                <a:schemeClr val="tx1"/>
              </a:solidFill>
            </a:ln>
          </p:spPr>
          <p:txBody>
            <a:bodyPr wrap="square" rtlCol="0">
              <a:spAutoFit/>
            </a:bodyPr>
            <a:lstStyle/>
            <a:p>
              <a:r>
                <a:rPr lang="en-IN" dirty="0">
                  <a:latin typeface="Bahnschrift" panose="020B0502040204020203" pitchFamily="34" charset="0"/>
                </a:rPr>
                <a:t>       Child JVM</a:t>
              </a:r>
            </a:p>
            <a:p>
              <a:endParaRPr lang="en-IN" dirty="0">
                <a:latin typeface="Bahnschrift" panose="020B0502040204020203" pitchFamily="34" charset="0"/>
              </a:endParaRPr>
            </a:p>
            <a:p>
              <a:endParaRPr lang="en-IN" dirty="0">
                <a:latin typeface="Bahnschrift" panose="020B0502040204020203" pitchFamily="34" charset="0"/>
              </a:endParaRPr>
            </a:p>
            <a:p>
              <a:endParaRPr lang="en-IN" dirty="0">
                <a:latin typeface="Bahnschrift" panose="020B0502040204020203" pitchFamily="34" charset="0"/>
              </a:endParaRPr>
            </a:p>
            <a:p>
              <a:endParaRPr lang="en-IN" dirty="0">
                <a:latin typeface="Bahnschrift" panose="020B0502040204020203" pitchFamily="34" charset="0"/>
              </a:endParaRPr>
            </a:p>
            <a:p>
              <a:endParaRPr lang="en-IN" dirty="0">
                <a:latin typeface="Bahnschrift" panose="020B0502040204020203" pitchFamily="34" charset="0"/>
              </a:endParaRPr>
            </a:p>
          </p:txBody>
        </p:sp>
        <p:sp>
          <p:nvSpPr>
            <p:cNvPr id="17" name="Rectangle 16">
              <a:extLst>
                <a:ext uri="{FF2B5EF4-FFF2-40B4-BE49-F238E27FC236}">
                  <a16:creationId xmlns:a16="http://schemas.microsoft.com/office/drawing/2014/main" id="{DA79B904-D163-4873-8224-EBE411E3AE9C}"/>
                </a:ext>
              </a:extLst>
            </p:cNvPr>
            <p:cNvSpPr/>
            <p:nvPr/>
          </p:nvSpPr>
          <p:spPr>
            <a:xfrm>
              <a:off x="1314451" y="5293303"/>
              <a:ext cx="1257300" cy="945137"/>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App Master</a:t>
              </a:r>
            </a:p>
          </p:txBody>
        </p:sp>
      </p:grpSp>
      <p:grpSp>
        <p:nvGrpSpPr>
          <p:cNvPr id="19" name="Group 18">
            <a:extLst>
              <a:ext uri="{FF2B5EF4-FFF2-40B4-BE49-F238E27FC236}">
                <a16:creationId xmlns:a16="http://schemas.microsoft.com/office/drawing/2014/main" id="{CBCD0844-30A0-4EFE-931C-F6CDC7250CA2}"/>
              </a:ext>
            </a:extLst>
          </p:cNvPr>
          <p:cNvGrpSpPr/>
          <p:nvPr/>
        </p:nvGrpSpPr>
        <p:grpSpPr>
          <a:xfrm>
            <a:off x="4531630" y="3429000"/>
            <a:ext cx="2914648" cy="3352007"/>
            <a:chOff x="657224" y="3674049"/>
            <a:chExt cx="2600325" cy="3026789"/>
          </a:xfrm>
        </p:grpSpPr>
        <p:sp>
          <p:nvSpPr>
            <p:cNvPr id="20" name="Rectangle 19">
              <a:extLst>
                <a:ext uri="{FF2B5EF4-FFF2-40B4-BE49-F238E27FC236}">
                  <a16:creationId xmlns:a16="http://schemas.microsoft.com/office/drawing/2014/main" id="{F5188BEA-3883-4DC0-AFC7-8A7B3F701126}"/>
                </a:ext>
              </a:extLst>
            </p:cNvPr>
            <p:cNvSpPr/>
            <p:nvPr/>
          </p:nvSpPr>
          <p:spPr>
            <a:xfrm>
              <a:off x="657224" y="3674049"/>
              <a:ext cx="2600325" cy="30267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21" name="Rectangle 20">
              <a:extLst>
                <a:ext uri="{FF2B5EF4-FFF2-40B4-BE49-F238E27FC236}">
                  <a16:creationId xmlns:a16="http://schemas.microsoft.com/office/drawing/2014/main" id="{9593AF1E-9859-4C8B-8DDA-66AFD6C472BC}"/>
                </a:ext>
              </a:extLst>
            </p:cNvPr>
            <p:cNvSpPr/>
            <p:nvPr/>
          </p:nvSpPr>
          <p:spPr>
            <a:xfrm>
              <a:off x="942976" y="3786188"/>
              <a:ext cx="2000250" cy="657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Node Manager</a:t>
              </a:r>
            </a:p>
          </p:txBody>
        </p:sp>
        <p:sp>
          <p:nvSpPr>
            <p:cNvPr id="22" name="TextBox 21">
              <a:extLst>
                <a:ext uri="{FF2B5EF4-FFF2-40B4-BE49-F238E27FC236}">
                  <a16:creationId xmlns:a16="http://schemas.microsoft.com/office/drawing/2014/main" id="{23AD05BF-684F-4F3E-9879-41D0BB6D8207}"/>
                </a:ext>
              </a:extLst>
            </p:cNvPr>
            <p:cNvSpPr txBox="1"/>
            <p:nvPr/>
          </p:nvSpPr>
          <p:spPr>
            <a:xfrm>
              <a:off x="957261" y="4651874"/>
              <a:ext cx="1985966" cy="1584118"/>
            </a:xfrm>
            <a:prstGeom prst="rect">
              <a:avLst/>
            </a:prstGeom>
            <a:noFill/>
            <a:ln>
              <a:solidFill>
                <a:schemeClr val="tx1"/>
              </a:solidFill>
            </a:ln>
          </p:spPr>
          <p:txBody>
            <a:bodyPr wrap="square" rtlCol="0">
              <a:spAutoFit/>
            </a:bodyPr>
            <a:lstStyle/>
            <a:p>
              <a:r>
                <a:rPr lang="en-IN" dirty="0">
                  <a:latin typeface="Bahnschrift" panose="020B0502040204020203" pitchFamily="34" charset="0"/>
                </a:rPr>
                <a:t>       Task JVM</a:t>
              </a:r>
            </a:p>
            <a:p>
              <a:endParaRPr lang="en-IN" dirty="0">
                <a:latin typeface="Bahnschrift" panose="020B0502040204020203" pitchFamily="34" charset="0"/>
              </a:endParaRPr>
            </a:p>
            <a:p>
              <a:endParaRPr lang="en-IN" dirty="0">
                <a:latin typeface="Bahnschrift" panose="020B0502040204020203" pitchFamily="34" charset="0"/>
              </a:endParaRPr>
            </a:p>
            <a:p>
              <a:endParaRPr lang="en-IN" dirty="0">
                <a:latin typeface="Bahnschrift" panose="020B0502040204020203" pitchFamily="34" charset="0"/>
              </a:endParaRPr>
            </a:p>
            <a:p>
              <a:endParaRPr lang="en-IN" dirty="0">
                <a:latin typeface="Bahnschrift" panose="020B0502040204020203" pitchFamily="34" charset="0"/>
              </a:endParaRPr>
            </a:p>
            <a:p>
              <a:endParaRPr lang="en-IN" dirty="0">
                <a:latin typeface="Bahnschrift" panose="020B0502040204020203" pitchFamily="34" charset="0"/>
              </a:endParaRPr>
            </a:p>
          </p:txBody>
        </p:sp>
        <p:sp>
          <p:nvSpPr>
            <p:cNvPr id="23" name="Rectangle 22">
              <a:extLst>
                <a:ext uri="{FF2B5EF4-FFF2-40B4-BE49-F238E27FC236}">
                  <a16:creationId xmlns:a16="http://schemas.microsoft.com/office/drawing/2014/main" id="{734924F9-F4C3-4670-8C78-D859FCF4E305}"/>
                </a:ext>
              </a:extLst>
            </p:cNvPr>
            <p:cNvSpPr/>
            <p:nvPr/>
          </p:nvSpPr>
          <p:spPr>
            <a:xfrm>
              <a:off x="1328735" y="5393113"/>
              <a:ext cx="1409700" cy="700448"/>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Map or Reduce Tasks</a:t>
              </a:r>
            </a:p>
          </p:txBody>
        </p:sp>
        <p:sp>
          <p:nvSpPr>
            <p:cNvPr id="24" name="Rectangle 23">
              <a:extLst>
                <a:ext uri="{FF2B5EF4-FFF2-40B4-BE49-F238E27FC236}">
                  <a16:creationId xmlns:a16="http://schemas.microsoft.com/office/drawing/2014/main" id="{27BD81B5-80E9-4A08-A8B9-6023FDCFAB4C}"/>
                </a:ext>
              </a:extLst>
            </p:cNvPr>
            <p:cNvSpPr/>
            <p:nvPr/>
          </p:nvSpPr>
          <p:spPr>
            <a:xfrm>
              <a:off x="1328735" y="4956384"/>
              <a:ext cx="1257300" cy="356758"/>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YARN Child</a:t>
              </a:r>
            </a:p>
          </p:txBody>
        </p:sp>
      </p:grpSp>
      <p:sp>
        <p:nvSpPr>
          <p:cNvPr id="25" name="TextBox 24">
            <a:extLst>
              <a:ext uri="{FF2B5EF4-FFF2-40B4-BE49-F238E27FC236}">
                <a16:creationId xmlns:a16="http://schemas.microsoft.com/office/drawing/2014/main" id="{953C8AF9-50AD-4910-A2E3-DB64D547F151}"/>
              </a:ext>
            </a:extLst>
          </p:cNvPr>
          <p:cNvSpPr txBox="1"/>
          <p:nvPr/>
        </p:nvSpPr>
        <p:spPr>
          <a:xfrm>
            <a:off x="4686300" y="6372225"/>
            <a:ext cx="2614613" cy="369332"/>
          </a:xfrm>
          <a:prstGeom prst="rect">
            <a:avLst/>
          </a:prstGeom>
          <a:noFill/>
        </p:spPr>
        <p:txBody>
          <a:bodyPr wrap="square" rtlCol="0">
            <a:spAutoFit/>
          </a:bodyPr>
          <a:lstStyle/>
          <a:p>
            <a:pPr algn="ctr"/>
            <a:r>
              <a:rPr lang="en-IN" dirty="0">
                <a:latin typeface="Bahnschrift" panose="020B0502040204020203" pitchFamily="34" charset="0"/>
              </a:rPr>
              <a:t>Node Manager Node</a:t>
            </a:r>
          </a:p>
        </p:txBody>
      </p:sp>
      <p:cxnSp>
        <p:nvCxnSpPr>
          <p:cNvPr id="27" name="Straight Arrow Connector 26">
            <a:extLst>
              <a:ext uri="{FF2B5EF4-FFF2-40B4-BE49-F238E27FC236}">
                <a16:creationId xmlns:a16="http://schemas.microsoft.com/office/drawing/2014/main" id="{368FB3EA-9A5E-46C1-9481-EC838CF82842}"/>
              </a:ext>
            </a:extLst>
          </p:cNvPr>
          <p:cNvCxnSpPr>
            <a:cxnSpLocks/>
            <a:stCxn id="21" idx="0"/>
          </p:cNvCxnSpPr>
          <p:nvPr/>
        </p:nvCxnSpPr>
        <p:spPr>
          <a:xfrm flipV="1">
            <a:off x="5972942" y="2726074"/>
            <a:ext cx="0" cy="8271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E8665AB9-DF1B-46C0-8BFC-6F824DA34E67}"/>
              </a:ext>
            </a:extLst>
          </p:cNvPr>
          <p:cNvSpPr txBox="1"/>
          <p:nvPr/>
        </p:nvSpPr>
        <p:spPr>
          <a:xfrm>
            <a:off x="6115050" y="2959674"/>
            <a:ext cx="1543049" cy="400110"/>
          </a:xfrm>
          <a:prstGeom prst="rect">
            <a:avLst/>
          </a:prstGeom>
          <a:noFill/>
        </p:spPr>
        <p:txBody>
          <a:bodyPr wrap="square" rtlCol="0">
            <a:spAutoFit/>
          </a:bodyPr>
          <a:lstStyle/>
          <a:p>
            <a:r>
              <a:rPr lang="en-IN" sz="2000" dirty="0">
                <a:latin typeface="Bahnschrift" panose="020B0502040204020203" pitchFamily="34" charset="0"/>
              </a:rPr>
              <a:t>Heartbeats</a:t>
            </a:r>
          </a:p>
        </p:txBody>
      </p:sp>
      <p:cxnSp>
        <p:nvCxnSpPr>
          <p:cNvPr id="31" name="Straight Arrow Connector 30">
            <a:extLst>
              <a:ext uri="{FF2B5EF4-FFF2-40B4-BE49-F238E27FC236}">
                <a16:creationId xmlns:a16="http://schemas.microsoft.com/office/drawing/2014/main" id="{484EEBEF-8576-4E63-9490-7DA6B23971D1}"/>
              </a:ext>
            </a:extLst>
          </p:cNvPr>
          <p:cNvCxnSpPr>
            <a:stCxn id="14" idx="0"/>
          </p:cNvCxnSpPr>
          <p:nvPr/>
        </p:nvCxnSpPr>
        <p:spPr>
          <a:xfrm flipV="1">
            <a:off x="1957387" y="2357438"/>
            <a:ext cx="3045730" cy="131661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B791D9B1-E0FF-42F6-95A2-299E5B0123EA}"/>
              </a:ext>
            </a:extLst>
          </p:cNvPr>
          <p:cNvCxnSpPr/>
          <p:nvPr/>
        </p:nvCxnSpPr>
        <p:spPr>
          <a:xfrm flipV="1">
            <a:off x="2571751" y="3786188"/>
            <a:ext cx="2280172" cy="207168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912A7EC6-31EC-450D-AE45-E969BA247BD1}"/>
              </a:ext>
            </a:extLst>
          </p:cNvPr>
          <p:cNvSpPr txBox="1"/>
          <p:nvPr/>
        </p:nvSpPr>
        <p:spPr>
          <a:xfrm>
            <a:off x="3249052" y="3021130"/>
            <a:ext cx="1543049" cy="400110"/>
          </a:xfrm>
          <a:prstGeom prst="rect">
            <a:avLst/>
          </a:prstGeom>
          <a:noFill/>
        </p:spPr>
        <p:txBody>
          <a:bodyPr wrap="square" rtlCol="0">
            <a:spAutoFit/>
          </a:bodyPr>
          <a:lstStyle/>
          <a:p>
            <a:r>
              <a:rPr lang="en-IN" sz="2000" dirty="0">
                <a:latin typeface="Bahnschrift" panose="020B0502040204020203" pitchFamily="34" charset="0"/>
              </a:rPr>
              <a:t>Heartbeats</a:t>
            </a:r>
          </a:p>
        </p:txBody>
      </p:sp>
      <p:sp>
        <p:nvSpPr>
          <p:cNvPr id="2" name="Multiplication Sign 1">
            <a:extLst>
              <a:ext uri="{FF2B5EF4-FFF2-40B4-BE49-F238E27FC236}">
                <a16:creationId xmlns:a16="http://schemas.microsoft.com/office/drawing/2014/main" id="{61104AA9-73DC-451C-9DD6-C35A79A2E93B}"/>
              </a:ext>
            </a:extLst>
          </p:cNvPr>
          <p:cNvSpPr/>
          <p:nvPr/>
        </p:nvSpPr>
        <p:spPr>
          <a:xfrm>
            <a:off x="1126277" y="5198488"/>
            <a:ext cx="1662218" cy="1164303"/>
          </a:xfrm>
          <a:prstGeom prst="mathMultiply">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Tree>
    <p:extLst>
      <p:ext uri="{BB962C8B-B14F-4D97-AF65-F5344CB8AC3E}">
        <p14:creationId xmlns:p14="http://schemas.microsoft.com/office/powerpoint/2010/main" val="36921694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060F97-037E-4CE4-9C01-3E4523679A94}"/>
              </a:ext>
            </a:extLst>
          </p:cNvPr>
          <p:cNvSpPr>
            <a:spLocks noGrp="1"/>
          </p:cNvSpPr>
          <p:nvPr>
            <p:ph type="title"/>
          </p:nvPr>
        </p:nvSpPr>
        <p:spPr/>
        <p:txBody>
          <a:bodyPr vert="horz" lIns="91440" tIns="45720" rIns="91440" bIns="45720" rtlCol="0" anchor="ctr">
            <a:noAutofit/>
          </a:bodyPr>
          <a:lstStyle/>
          <a:p>
            <a:r>
              <a:rPr lang="en-IN" dirty="0"/>
              <a:t>Failure Scenarios in YARN</a:t>
            </a:r>
          </a:p>
        </p:txBody>
      </p:sp>
      <p:grpSp>
        <p:nvGrpSpPr>
          <p:cNvPr id="9" name="Group 8">
            <a:extLst>
              <a:ext uri="{FF2B5EF4-FFF2-40B4-BE49-F238E27FC236}">
                <a16:creationId xmlns:a16="http://schemas.microsoft.com/office/drawing/2014/main" id="{04BFA7FF-A534-4E5A-BF33-629DCBE29544}"/>
              </a:ext>
            </a:extLst>
          </p:cNvPr>
          <p:cNvGrpSpPr/>
          <p:nvPr/>
        </p:nvGrpSpPr>
        <p:grpSpPr>
          <a:xfrm>
            <a:off x="200249" y="1659512"/>
            <a:ext cx="3857401" cy="1689319"/>
            <a:chOff x="271687" y="1500187"/>
            <a:chExt cx="3857401" cy="1689319"/>
          </a:xfrm>
        </p:grpSpPr>
        <p:sp>
          <p:nvSpPr>
            <p:cNvPr id="4" name="Rectangle 3">
              <a:extLst>
                <a:ext uri="{FF2B5EF4-FFF2-40B4-BE49-F238E27FC236}">
                  <a16:creationId xmlns:a16="http://schemas.microsoft.com/office/drawing/2014/main" id="{3EED08C9-1246-4D52-877C-EF6F9602074D}"/>
                </a:ext>
              </a:extLst>
            </p:cNvPr>
            <p:cNvSpPr/>
            <p:nvPr/>
          </p:nvSpPr>
          <p:spPr>
            <a:xfrm>
              <a:off x="271687" y="1500187"/>
              <a:ext cx="3857401" cy="168931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5" name="Rectangle 4">
              <a:extLst>
                <a:ext uri="{FF2B5EF4-FFF2-40B4-BE49-F238E27FC236}">
                  <a16:creationId xmlns:a16="http://schemas.microsoft.com/office/drawing/2014/main" id="{77B58201-1CC8-4ADD-82B4-71EC4BF7BD9F}"/>
                </a:ext>
              </a:extLst>
            </p:cNvPr>
            <p:cNvSpPr/>
            <p:nvPr/>
          </p:nvSpPr>
          <p:spPr>
            <a:xfrm>
              <a:off x="461960" y="1677192"/>
              <a:ext cx="3367090" cy="112315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6" name="Rectangle: Rounded Corners 5">
              <a:extLst>
                <a:ext uri="{FF2B5EF4-FFF2-40B4-BE49-F238E27FC236}">
                  <a16:creationId xmlns:a16="http://schemas.microsoft.com/office/drawing/2014/main" id="{CF949162-D5F4-4702-8E5C-CDB460C8B59C}"/>
                </a:ext>
              </a:extLst>
            </p:cNvPr>
            <p:cNvSpPr/>
            <p:nvPr/>
          </p:nvSpPr>
          <p:spPr>
            <a:xfrm>
              <a:off x="685800" y="1828800"/>
              <a:ext cx="1443038" cy="7143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MapReduce Program</a:t>
              </a:r>
            </a:p>
          </p:txBody>
        </p:sp>
        <p:sp>
          <p:nvSpPr>
            <p:cNvPr id="7" name="Rectangle: Rounded Corners 6">
              <a:extLst>
                <a:ext uri="{FF2B5EF4-FFF2-40B4-BE49-F238E27FC236}">
                  <a16:creationId xmlns:a16="http://schemas.microsoft.com/office/drawing/2014/main" id="{12A3D9C6-F86E-4413-ACD2-66BBEEB089B9}"/>
                </a:ext>
              </a:extLst>
            </p:cNvPr>
            <p:cNvSpPr/>
            <p:nvPr/>
          </p:nvSpPr>
          <p:spPr>
            <a:xfrm>
              <a:off x="2235992" y="1805780"/>
              <a:ext cx="1443038" cy="7143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Job Client</a:t>
              </a:r>
            </a:p>
          </p:txBody>
        </p:sp>
        <p:sp>
          <p:nvSpPr>
            <p:cNvPr id="8" name="TextBox 7">
              <a:extLst>
                <a:ext uri="{FF2B5EF4-FFF2-40B4-BE49-F238E27FC236}">
                  <a16:creationId xmlns:a16="http://schemas.microsoft.com/office/drawing/2014/main" id="{F5EE3ABF-1B4B-4029-AA30-5482E0C1A80D}"/>
                </a:ext>
              </a:extLst>
            </p:cNvPr>
            <p:cNvSpPr txBox="1"/>
            <p:nvPr/>
          </p:nvSpPr>
          <p:spPr>
            <a:xfrm>
              <a:off x="1714500" y="2543175"/>
              <a:ext cx="1614488" cy="646331"/>
            </a:xfrm>
            <a:prstGeom prst="rect">
              <a:avLst/>
            </a:prstGeom>
            <a:noFill/>
          </p:spPr>
          <p:txBody>
            <a:bodyPr wrap="square" rtlCol="0">
              <a:spAutoFit/>
            </a:bodyPr>
            <a:lstStyle/>
            <a:p>
              <a:r>
                <a:rPr lang="en-IN" dirty="0">
                  <a:latin typeface="Bahnschrift" panose="020B0502040204020203" pitchFamily="34" charset="0"/>
                </a:rPr>
                <a:t>Client JVM</a:t>
              </a:r>
            </a:p>
            <a:p>
              <a:r>
                <a:rPr lang="en-IN" dirty="0">
                  <a:latin typeface="Bahnschrift" panose="020B0502040204020203" pitchFamily="34" charset="0"/>
                </a:rPr>
                <a:t>Client Mode</a:t>
              </a:r>
            </a:p>
          </p:txBody>
        </p:sp>
      </p:grpSp>
      <p:sp>
        <p:nvSpPr>
          <p:cNvPr id="10" name="Rectangle 9">
            <a:extLst>
              <a:ext uri="{FF2B5EF4-FFF2-40B4-BE49-F238E27FC236}">
                <a16:creationId xmlns:a16="http://schemas.microsoft.com/office/drawing/2014/main" id="{3339410E-5678-4F9C-8C83-D77E1565D523}"/>
              </a:ext>
            </a:extLst>
          </p:cNvPr>
          <p:cNvSpPr/>
          <p:nvPr/>
        </p:nvSpPr>
        <p:spPr>
          <a:xfrm>
            <a:off x="4686300" y="1500187"/>
            <a:ext cx="4038599" cy="168931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11" name="Rectangle 10">
            <a:extLst>
              <a:ext uri="{FF2B5EF4-FFF2-40B4-BE49-F238E27FC236}">
                <a16:creationId xmlns:a16="http://schemas.microsoft.com/office/drawing/2014/main" id="{CE4EFF6C-D2E3-41A6-BB74-7D2C68E2A831}"/>
              </a:ext>
            </a:extLst>
          </p:cNvPr>
          <p:cNvSpPr/>
          <p:nvPr/>
        </p:nvSpPr>
        <p:spPr>
          <a:xfrm>
            <a:off x="4857750" y="1677192"/>
            <a:ext cx="3600451" cy="126603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13" name="Rectangle: Rounded Corners 12">
            <a:extLst>
              <a:ext uri="{FF2B5EF4-FFF2-40B4-BE49-F238E27FC236}">
                <a16:creationId xmlns:a16="http://schemas.microsoft.com/office/drawing/2014/main" id="{37C779D1-AF97-41EF-B06D-8EEA730479A1}"/>
              </a:ext>
            </a:extLst>
          </p:cNvPr>
          <p:cNvSpPr/>
          <p:nvPr/>
        </p:nvSpPr>
        <p:spPr>
          <a:xfrm>
            <a:off x="5003117" y="1953020"/>
            <a:ext cx="1443038" cy="7143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Resource manager</a:t>
            </a:r>
          </a:p>
        </p:txBody>
      </p:sp>
      <p:grpSp>
        <p:nvGrpSpPr>
          <p:cNvPr id="18" name="Group 17">
            <a:extLst>
              <a:ext uri="{FF2B5EF4-FFF2-40B4-BE49-F238E27FC236}">
                <a16:creationId xmlns:a16="http://schemas.microsoft.com/office/drawing/2014/main" id="{D4728B8B-567C-4CB1-9BD9-144AFECBA63D}"/>
              </a:ext>
            </a:extLst>
          </p:cNvPr>
          <p:cNvGrpSpPr/>
          <p:nvPr/>
        </p:nvGrpSpPr>
        <p:grpSpPr>
          <a:xfrm>
            <a:off x="657224" y="3674049"/>
            <a:ext cx="2600325" cy="3026789"/>
            <a:chOff x="657224" y="3674049"/>
            <a:chExt cx="2600325" cy="3026789"/>
          </a:xfrm>
        </p:grpSpPr>
        <p:sp>
          <p:nvSpPr>
            <p:cNvPr id="14" name="Rectangle 13">
              <a:extLst>
                <a:ext uri="{FF2B5EF4-FFF2-40B4-BE49-F238E27FC236}">
                  <a16:creationId xmlns:a16="http://schemas.microsoft.com/office/drawing/2014/main" id="{7CD20094-2FE7-49D0-A9ED-9FE30E6C10A3}"/>
                </a:ext>
              </a:extLst>
            </p:cNvPr>
            <p:cNvSpPr/>
            <p:nvPr/>
          </p:nvSpPr>
          <p:spPr>
            <a:xfrm>
              <a:off x="657224" y="3674049"/>
              <a:ext cx="2600325" cy="30267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15" name="Rectangle 14">
              <a:extLst>
                <a:ext uri="{FF2B5EF4-FFF2-40B4-BE49-F238E27FC236}">
                  <a16:creationId xmlns:a16="http://schemas.microsoft.com/office/drawing/2014/main" id="{5B64A3D2-2AEF-475E-B6C0-330663446877}"/>
                </a:ext>
              </a:extLst>
            </p:cNvPr>
            <p:cNvSpPr/>
            <p:nvPr/>
          </p:nvSpPr>
          <p:spPr>
            <a:xfrm>
              <a:off x="942976" y="3786188"/>
              <a:ext cx="2000250" cy="657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Node Manager</a:t>
              </a:r>
            </a:p>
          </p:txBody>
        </p:sp>
        <p:sp>
          <p:nvSpPr>
            <p:cNvPr id="16" name="TextBox 15">
              <a:extLst>
                <a:ext uri="{FF2B5EF4-FFF2-40B4-BE49-F238E27FC236}">
                  <a16:creationId xmlns:a16="http://schemas.microsoft.com/office/drawing/2014/main" id="{76E06E72-FEF7-4849-ADA2-C5C1004AEAC1}"/>
                </a:ext>
              </a:extLst>
            </p:cNvPr>
            <p:cNvSpPr txBox="1"/>
            <p:nvPr/>
          </p:nvSpPr>
          <p:spPr>
            <a:xfrm>
              <a:off x="942976" y="4843463"/>
              <a:ext cx="2000250" cy="1754326"/>
            </a:xfrm>
            <a:prstGeom prst="rect">
              <a:avLst/>
            </a:prstGeom>
            <a:noFill/>
            <a:ln>
              <a:solidFill>
                <a:schemeClr val="tx1"/>
              </a:solidFill>
            </a:ln>
          </p:spPr>
          <p:txBody>
            <a:bodyPr wrap="square" rtlCol="0">
              <a:spAutoFit/>
            </a:bodyPr>
            <a:lstStyle/>
            <a:p>
              <a:r>
                <a:rPr lang="en-IN" dirty="0">
                  <a:latin typeface="Bahnschrift" panose="020B0502040204020203" pitchFamily="34" charset="0"/>
                </a:rPr>
                <a:t>       Child JVM</a:t>
              </a:r>
            </a:p>
            <a:p>
              <a:endParaRPr lang="en-IN" dirty="0">
                <a:latin typeface="Bahnschrift" panose="020B0502040204020203" pitchFamily="34" charset="0"/>
              </a:endParaRPr>
            </a:p>
            <a:p>
              <a:endParaRPr lang="en-IN" dirty="0">
                <a:latin typeface="Bahnschrift" panose="020B0502040204020203" pitchFamily="34" charset="0"/>
              </a:endParaRPr>
            </a:p>
            <a:p>
              <a:endParaRPr lang="en-IN" dirty="0">
                <a:latin typeface="Bahnschrift" panose="020B0502040204020203" pitchFamily="34" charset="0"/>
              </a:endParaRPr>
            </a:p>
            <a:p>
              <a:endParaRPr lang="en-IN" dirty="0">
                <a:latin typeface="Bahnschrift" panose="020B0502040204020203" pitchFamily="34" charset="0"/>
              </a:endParaRPr>
            </a:p>
            <a:p>
              <a:endParaRPr lang="en-IN" dirty="0">
                <a:latin typeface="Bahnschrift" panose="020B0502040204020203" pitchFamily="34" charset="0"/>
              </a:endParaRPr>
            </a:p>
          </p:txBody>
        </p:sp>
        <p:sp>
          <p:nvSpPr>
            <p:cNvPr id="17" name="Rectangle 16">
              <a:extLst>
                <a:ext uri="{FF2B5EF4-FFF2-40B4-BE49-F238E27FC236}">
                  <a16:creationId xmlns:a16="http://schemas.microsoft.com/office/drawing/2014/main" id="{DA79B904-D163-4873-8224-EBE411E3AE9C}"/>
                </a:ext>
              </a:extLst>
            </p:cNvPr>
            <p:cNvSpPr/>
            <p:nvPr/>
          </p:nvSpPr>
          <p:spPr>
            <a:xfrm>
              <a:off x="1314451" y="5293303"/>
              <a:ext cx="1257300" cy="945137"/>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App Master</a:t>
              </a:r>
            </a:p>
          </p:txBody>
        </p:sp>
      </p:grpSp>
      <p:grpSp>
        <p:nvGrpSpPr>
          <p:cNvPr id="19" name="Group 18">
            <a:extLst>
              <a:ext uri="{FF2B5EF4-FFF2-40B4-BE49-F238E27FC236}">
                <a16:creationId xmlns:a16="http://schemas.microsoft.com/office/drawing/2014/main" id="{CBCD0844-30A0-4EFE-931C-F6CDC7250CA2}"/>
              </a:ext>
            </a:extLst>
          </p:cNvPr>
          <p:cNvGrpSpPr/>
          <p:nvPr/>
        </p:nvGrpSpPr>
        <p:grpSpPr>
          <a:xfrm>
            <a:off x="4531630" y="3429000"/>
            <a:ext cx="2914648" cy="3352007"/>
            <a:chOff x="657224" y="3674049"/>
            <a:chExt cx="2600325" cy="3026789"/>
          </a:xfrm>
        </p:grpSpPr>
        <p:sp>
          <p:nvSpPr>
            <p:cNvPr id="20" name="Rectangle 19">
              <a:extLst>
                <a:ext uri="{FF2B5EF4-FFF2-40B4-BE49-F238E27FC236}">
                  <a16:creationId xmlns:a16="http://schemas.microsoft.com/office/drawing/2014/main" id="{F5188BEA-3883-4DC0-AFC7-8A7B3F701126}"/>
                </a:ext>
              </a:extLst>
            </p:cNvPr>
            <p:cNvSpPr/>
            <p:nvPr/>
          </p:nvSpPr>
          <p:spPr>
            <a:xfrm>
              <a:off x="657224" y="3674049"/>
              <a:ext cx="2600325" cy="30267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21" name="Rectangle 20">
              <a:extLst>
                <a:ext uri="{FF2B5EF4-FFF2-40B4-BE49-F238E27FC236}">
                  <a16:creationId xmlns:a16="http://schemas.microsoft.com/office/drawing/2014/main" id="{9593AF1E-9859-4C8B-8DDA-66AFD6C472BC}"/>
                </a:ext>
              </a:extLst>
            </p:cNvPr>
            <p:cNvSpPr/>
            <p:nvPr/>
          </p:nvSpPr>
          <p:spPr>
            <a:xfrm>
              <a:off x="942976" y="3786188"/>
              <a:ext cx="2000250" cy="657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Node Manager</a:t>
              </a:r>
            </a:p>
          </p:txBody>
        </p:sp>
        <p:sp>
          <p:nvSpPr>
            <p:cNvPr id="22" name="TextBox 21">
              <a:extLst>
                <a:ext uri="{FF2B5EF4-FFF2-40B4-BE49-F238E27FC236}">
                  <a16:creationId xmlns:a16="http://schemas.microsoft.com/office/drawing/2014/main" id="{23AD05BF-684F-4F3E-9879-41D0BB6D8207}"/>
                </a:ext>
              </a:extLst>
            </p:cNvPr>
            <p:cNvSpPr txBox="1"/>
            <p:nvPr/>
          </p:nvSpPr>
          <p:spPr>
            <a:xfrm>
              <a:off x="957261" y="4651874"/>
              <a:ext cx="1985966" cy="1584118"/>
            </a:xfrm>
            <a:prstGeom prst="rect">
              <a:avLst/>
            </a:prstGeom>
            <a:noFill/>
            <a:ln>
              <a:solidFill>
                <a:schemeClr val="tx1"/>
              </a:solidFill>
            </a:ln>
          </p:spPr>
          <p:txBody>
            <a:bodyPr wrap="square" rtlCol="0">
              <a:spAutoFit/>
            </a:bodyPr>
            <a:lstStyle/>
            <a:p>
              <a:r>
                <a:rPr lang="en-IN" dirty="0">
                  <a:latin typeface="Bahnschrift" panose="020B0502040204020203" pitchFamily="34" charset="0"/>
                </a:rPr>
                <a:t>       Task JVM</a:t>
              </a:r>
            </a:p>
            <a:p>
              <a:endParaRPr lang="en-IN" dirty="0">
                <a:latin typeface="Bahnschrift" panose="020B0502040204020203" pitchFamily="34" charset="0"/>
              </a:endParaRPr>
            </a:p>
            <a:p>
              <a:endParaRPr lang="en-IN" dirty="0">
                <a:latin typeface="Bahnschrift" panose="020B0502040204020203" pitchFamily="34" charset="0"/>
              </a:endParaRPr>
            </a:p>
            <a:p>
              <a:endParaRPr lang="en-IN" dirty="0">
                <a:latin typeface="Bahnschrift" panose="020B0502040204020203" pitchFamily="34" charset="0"/>
              </a:endParaRPr>
            </a:p>
            <a:p>
              <a:endParaRPr lang="en-IN" dirty="0">
                <a:latin typeface="Bahnschrift" panose="020B0502040204020203" pitchFamily="34" charset="0"/>
              </a:endParaRPr>
            </a:p>
            <a:p>
              <a:endParaRPr lang="en-IN" dirty="0">
                <a:latin typeface="Bahnschrift" panose="020B0502040204020203" pitchFamily="34" charset="0"/>
              </a:endParaRPr>
            </a:p>
          </p:txBody>
        </p:sp>
        <p:sp>
          <p:nvSpPr>
            <p:cNvPr id="23" name="Rectangle 22">
              <a:extLst>
                <a:ext uri="{FF2B5EF4-FFF2-40B4-BE49-F238E27FC236}">
                  <a16:creationId xmlns:a16="http://schemas.microsoft.com/office/drawing/2014/main" id="{734924F9-F4C3-4670-8C78-D859FCF4E305}"/>
                </a:ext>
              </a:extLst>
            </p:cNvPr>
            <p:cNvSpPr/>
            <p:nvPr/>
          </p:nvSpPr>
          <p:spPr>
            <a:xfrm>
              <a:off x="1328735" y="5393113"/>
              <a:ext cx="1409700" cy="700448"/>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Map or Reduce Tasks</a:t>
              </a:r>
            </a:p>
          </p:txBody>
        </p:sp>
        <p:sp>
          <p:nvSpPr>
            <p:cNvPr id="24" name="Rectangle 23">
              <a:extLst>
                <a:ext uri="{FF2B5EF4-FFF2-40B4-BE49-F238E27FC236}">
                  <a16:creationId xmlns:a16="http://schemas.microsoft.com/office/drawing/2014/main" id="{27BD81B5-80E9-4A08-A8B9-6023FDCFAB4C}"/>
                </a:ext>
              </a:extLst>
            </p:cNvPr>
            <p:cNvSpPr/>
            <p:nvPr/>
          </p:nvSpPr>
          <p:spPr>
            <a:xfrm>
              <a:off x="1328735" y="4956384"/>
              <a:ext cx="1257300" cy="356758"/>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YARN Child</a:t>
              </a:r>
            </a:p>
          </p:txBody>
        </p:sp>
      </p:grpSp>
      <p:sp>
        <p:nvSpPr>
          <p:cNvPr id="25" name="TextBox 24">
            <a:extLst>
              <a:ext uri="{FF2B5EF4-FFF2-40B4-BE49-F238E27FC236}">
                <a16:creationId xmlns:a16="http://schemas.microsoft.com/office/drawing/2014/main" id="{953C8AF9-50AD-4910-A2E3-DB64D547F151}"/>
              </a:ext>
            </a:extLst>
          </p:cNvPr>
          <p:cNvSpPr txBox="1"/>
          <p:nvPr/>
        </p:nvSpPr>
        <p:spPr>
          <a:xfrm>
            <a:off x="4686300" y="6372225"/>
            <a:ext cx="2614613" cy="369332"/>
          </a:xfrm>
          <a:prstGeom prst="rect">
            <a:avLst/>
          </a:prstGeom>
          <a:noFill/>
        </p:spPr>
        <p:txBody>
          <a:bodyPr wrap="square" rtlCol="0">
            <a:spAutoFit/>
          </a:bodyPr>
          <a:lstStyle/>
          <a:p>
            <a:pPr algn="ctr"/>
            <a:r>
              <a:rPr lang="en-IN" dirty="0">
                <a:latin typeface="Bahnschrift" panose="020B0502040204020203" pitchFamily="34" charset="0"/>
              </a:rPr>
              <a:t>Node Manager Node</a:t>
            </a:r>
          </a:p>
        </p:txBody>
      </p:sp>
      <p:cxnSp>
        <p:nvCxnSpPr>
          <p:cNvPr id="27" name="Straight Arrow Connector 26">
            <a:extLst>
              <a:ext uri="{FF2B5EF4-FFF2-40B4-BE49-F238E27FC236}">
                <a16:creationId xmlns:a16="http://schemas.microsoft.com/office/drawing/2014/main" id="{368FB3EA-9A5E-46C1-9481-EC838CF82842}"/>
              </a:ext>
            </a:extLst>
          </p:cNvPr>
          <p:cNvCxnSpPr>
            <a:cxnSpLocks/>
            <a:stCxn id="21" idx="0"/>
          </p:cNvCxnSpPr>
          <p:nvPr/>
        </p:nvCxnSpPr>
        <p:spPr>
          <a:xfrm flipV="1">
            <a:off x="5972942" y="2726074"/>
            <a:ext cx="0" cy="8271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E8665AB9-DF1B-46C0-8BFC-6F824DA34E67}"/>
              </a:ext>
            </a:extLst>
          </p:cNvPr>
          <p:cNvSpPr txBox="1"/>
          <p:nvPr/>
        </p:nvSpPr>
        <p:spPr>
          <a:xfrm>
            <a:off x="6115050" y="2959674"/>
            <a:ext cx="1543049" cy="400110"/>
          </a:xfrm>
          <a:prstGeom prst="rect">
            <a:avLst/>
          </a:prstGeom>
          <a:noFill/>
        </p:spPr>
        <p:txBody>
          <a:bodyPr wrap="square" rtlCol="0">
            <a:spAutoFit/>
          </a:bodyPr>
          <a:lstStyle/>
          <a:p>
            <a:r>
              <a:rPr lang="en-IN" sz="2000" dirty="0">
                <a:latin typeface="Bahnschrift" panose="020B0502040204020203" pitchFamily="34" charset="0"/>
              </a:rPr>
              <a:t>Heartbeats</a:t>
            </a:r>
          </a:p>
        </p:txBody>
      </p:sp>
      <p:cxnSp>
        <p:nvCxnSpPr>
          <p:cNvPr id="31" name="Straight Arrow Connector 30">
            <a:extLst>
              <a:ext uri="{FF2B5EF4-FFF2-40B4-BE49-F238E27FC236}">
                <a16:creationId xmlns:a16="http://schemas.microsoft.com/office/drawing/2014/main" id="{484EEBEF-8576-4E63-9490-7DA6B23971D1}"/>
              </a:ext>
            </a:extLst>
          </p:cNvPr>
          <p:cNvCxnSpPr>
            <a:stCxn id="14" idx="0"/>
          </p:cNvCxnSpPr>
          <p:nvPr/>
        </p:nvCxnSpPr>
        <p:spPr>
          <a:xfrm flipV="1">
            <a:off x="1957387" y="2357438"/>
            <a:ext cx="3045730" cy="131661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B791D9B1-E0FF-42F6-95A2-299E5B0123EA}"/>
              </a:ext>
            </a:extLst>
          </p:cNvPr>
          <p:cNvCxnSpPr/>
          <p:nvPr/>
        </p:nvCxnSpPr>
        <p:spPr>
          <a:xfrm flipV="1">
            <a:off x="2571751" y="3786188"/>
            <a:ext cx="2280172" cy="207168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912A7EC6-31EC-450D-AE45-E969BA247BD1}"/>
              </a:ext>
            </a:extLst>
          </p:cNvPr>
          <p:cNvSpPr txBox="1"/>
          <p:nvPr/>
        </p:nvSpPr>
        <p:spPr>
          <a:xfrm>
            <a:off x="3249052" y="3021130"/>
            <a:ext cx="1543049" cy="400110"/>
          </a:xfrm>
          <a:prstGeom prst="rect">
            <a:avLst/>
          </a:prstGeom>
          <a:noFill/>
        </p:spPr>
        <p:txBody>
          <a:bodyPr wrap="square" rtlCol="0">
            <a:spAutoFit/>
          </a:bodyPr>
          <a:lstStyle/>
          <a:p>
            <a:r>
              <a:rPr lang="en-IN" sz="2000" dirty="0">
                <a:latin typeface="Bahnschrift" panose="020B0502040204020203" pitchFamily="34" charset="0"/>
              </a:rPr>
              <a:t>Heartbeats</a:t>
            </a:r>
          </a:p>
        </p:txBody>
      </p:sp>
      <p:sp>
        <p:nvSpPr>
          <p:cNvPr id="2" name="Multiplication Sign 1">
            <a:extLst>
              <a:ext uri="{FF2B5EF4-FFF2-40B4-BE49-F238E27FC236}">
                <a16:creationId xmlns:a16="http://schemas.microsoft.com/office/drawing/2014/main" id="{61104AA9-73DC-451C-9DD6-C35A79A2E93B}"/>
              </a:ext>
            </a:extLst>
          </p:cNvPr>
          <p:cNvSpPr/>
          <p:nvPr/>
        </p:nvSpPr>
        <p:spPr>
          <a:xfrm>
            <a:off x="5054664" y="3347586"/>
            <a:ext cx="1662218" cy="1164303"/>
          </a:xfrm>
          <a:prstGeom prst="mathMultiply">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Tree>
    <p:extLst>
      <p:ext uri="{BB962C8B-B14F-4D97-AF65-F5344CB8AC3E}">
        <p14:creationId xmlns:p14="http://schemas.microsoft.com/office/powerpoint/2010/main" val="10158341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060F97-037E-4CE4-9C01-3E4523679A94}"/>
              </a:ext>
            </a:extLst>
          </p:cNvPr>
          <p:cNvSpPr>
            <a:spLocks noGrp="1"/>
          </p:cNvSpPr>
          <p:nvPr>
            <p:ph type="title"/>
          </p:nvPr>
        </p:nvSpPr>
        <p:spPr/>
        <p:txBody>
          <a:bodyPr vert="horz" lIns="91440" tIns="45720" rIns="91440" bIns="45720" rtlCol="0" anchor="ctr">
            <a:noAutofit/>
          </a:bodyPr>
          <a:lstStyle/>
          <a:p>
            <a:r>
              <a:rPr lang="en-IN" dirty="0"/>
              <a:t>Failure Scenarios in YARN</a:t>
            </a:r>
          </a:p>
        </p:txBody>
      </p:sp>
      <p:grpSp>
        <p:nvGrpSpPr>
          <p:cNvPr id="9" name="Group 8">
            <a:extLst>
              <a:ext uri="{FF2B5EF4-FFF2-40B4-BE49-F238E27FC236}">
                <a16:creationId xmlns:a16="http://schemas.microsoft.com/office/drawing/2014/main" id="{04BFA7FF-A534-4E5A-BF33-629DCBE29544}"/>
              </a:ext>
            </a:extLst>
          </p:cNvPr>
          <p:cNvGrpSpPr/>
          <p:nvPr/>
        </p:nvGrpSpPr>
        <p:grpSpPr>
          <a:xfrm>
            <a:off x="200249" y="1659512"/>
            <a:ext cx="3857401" cy="1689319"/>
            <a:chOff x="271687" y="1500187"/>
            <a:chExt cx="3857401" cy="1689319"/>
          </a:xfrm>
        </p:grpSpPr>
        <p:sp>
          <p:nvSpPr>
            <p:cNvPr id="4" name="Rectangle 3">
              <a:extLst>
                <a:ext uri="{FF2B5EF4-FFF2-40B4-BE49-F238E27FC236}">
                  <a16:creationId xmlns:a16="http://schemas.microsoft.com/office/drawing/2014/main" id="{3EED08C9-1246-4D52-877C-EF6F9602074D}"/>
                </a:ext>
              </a:extLst>
            </p:cNvPr>
            <p:cNvSpPr/>
            <p:nvPr/>
          </p:nvSpPr>
          <p:spPr>
            <a:xfrm>
              <a:off x="271687" y="1500187"/>
              <a:ext cx="3857401" cy="168931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5" name="Rectangle 4">
              <a:extLst>
                <a:ext uri="{FF2B5EF4-FFF2-40B4-BE49-F238E27FC236}">
                  <a16:creationId xmlns:a16="http://schemas.microsoft.com/office/drawing/2014/main" id="{77B58201-1CC8-4ADD-82B4-71EC4BF7BD9F}"/>
                </a:ext>
              </a:extLst>
            </p:cNvPr>
            <p:cNvSpPr/>
            <p:nvPr/>
          </p:nvSpPr>
          <p:spPr>
            <a:xfrm>
              <a:off x="461960" y="1677192"/>
              <a:ext cx="3367090" cy="112315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6" name="Rectangle: Rounded Corners 5">
              <a:extLst>
                <a:ext uri="{FF2B5EF4-FFF2-40B4-BE49-F238E27FC236}">
                  <a16:creationId xmlns:a16="http://schemas.microsoft.com/office/drawing/2014/main" id="{CF949162-D5F4-4702-8E5C-CDB460C8B59C}"/>
                </a:ext>
              </a:extLst>
            </p:cNvPr>
            <p:cNvSpPr/>
            <p:nvPr/>
          </p:nvSpPr>
          <p:spPr>
            <a:xfrm>
              <a:off x="685800" y="1828800"/>
              <a:ext cx="1443038" cy="7143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MapReduce Program</a:t>
              </a:r>
            </a:p>
          </p:txBody>
        </p:sp>
        <p:sp>
          <p:nvSpPr>
            <p:cNvPr id="7" name="Rectangle: Rounded Corners 6">
              <a:extLst>
                <a:ext uri="{FF2B5EF4-FFF2-40B4-BE49-F238E27FC236}">
                  <a16:creationId xmlns:a16="http://schemas.microsoft.com/office/drawing/2014/main" id="{12A3D9C6-F86E-4413-ACD2-66BBEEB089B9}"/>
                </a:ext>
              </a:extLst>
            </p:cNvPr>
            <p:cNvSpPr/>
            <p:nvPr/>
          </p:nvSpPr>
          <p:spPr>
            <a:xfrm>
              <a:off x="2235992" y="1805780"/>
              <a:ext cx="1443038" cy="7143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Job Client</a:t>
              </a:r>
            </a:p>
          </p:txBody>
        </p:sp>
        <p:sp>
          <p:nvSpPr>
            <p:cNvPr id="8" name="TextBox 7">
              <a:extLst>
                <a:ext uri="{FF2B5EF4-FFF2-40B4-BE49-F238E27FC236}">
                  <a16:creationId xmlns:a16="http://schemas.microsoft.com/office/drawing/2014/main" id="{F5EE3ABF-1B4B-4029-AA30-5482E0C1A80D}"/>
                </a:ext>
              </a:extLst>
            </p:cNvPr>
            <p:cNvSpPr txBox="1"/>
            <p:nvPr/>
          </p:nvSpPr>
          <p:spPr>
            <a:xfrm>
              <a:off x="1714500" y="2543175"/>
              <a:ext cx="1614488" cy="646331"/>
            </a:xfrm>
            <a:prstGeom prst="rect">
              <a:avLst/>
            </a:prstGeom>
            <a:noFill/>
          </p:spPr>
          <p:txBody>
            <a:bodyPr wrap="square" rtlCol="0">
              <a:spAutoFit/>
            </a:bodyPr>
            <a:lstStyle/>
            <a:p>
              <a:r>
                <a:rPr lang="en-IN" dirty="0">
                  <a:latin typeface="Bahnschrift" panose="020B0502040204020203" pitchFamily="34" charset="0"/>
                </a:rPr>
                <a:t>Client JVM</a:t>
              </a:r>
            </a:p>
            <a:p>
              <a:r>
                <a:rPr lang="en-IN" dirty="0">
                  <a:latin typeface="Bahnschrift" panose="020B0502040204020203" pitchFamily="34" charset="0"/>
                </a:rPr>
                <a:t>Client Mode</a:t>
              </a:r>
            </a:p>
          </p:txBody>
        </p:sp>
      </p:grpSp>
      <p:sp>
        <p:nvSpPr>
          <p:cNvPr id="10" name="Rectangle 9">
            <a:extLst>
              <a:ext uri="{FF2B5EF4-FFF2-40B4-BE49-F238E27FC236}">
                <a16:creationId xmlns:a16="http://schemas.microsoft.com/office/drawing/2014/main" id="{3339410E-5678-4F9C-8C83-D77E1565D523}"/>
              </a:ext>
            </a:extLst>
          </p:cNvPr>
          <p:cNvSpPr/>
          <p:nvPr/>
        </p:nvSpPr>
        <p:spPr>
          <a:xfrm>
            <a:off x="4686300" y="1500187"/>
            <a:ext cx="4038599" cy="168931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
        <p:nvSpPr>
          <p:cNvPr id="11" name="Rectangle 10">
            <a:extLst>
              <a:ext uri="{FF2B5EF4-FFF2-40B4-BE49-F238E27FC236}">
                <a16:creationId xmlns:a16="http://schemas.microsoft.com/office/drawing/2014/main" id="{CE4EFF6C-D2E3-41A6-BB74-7D2C68E2A831}"/>
              </a:ext>
            </a:extLst>
          </p:cNvPr>
          <p:cNvSpPr/>
          <p:nvPr/>
        </p:nvSpPr>
        <p:spPr>
          <a:xfrm>
            <a:off x="4857750" y="1677192"/>
            <a:ext cx="3600451" cy="126603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13" name="Rectangle: Rounded Corners 12">
            <a:extLst>
              <a:ext uri="{FF2B5EF4-FFF2-40B4-BE49-F238E27FC236}">
                <a16:creationId xmlns:a16="http://schemas.microsoft.com/office/drawing/2014/main" id="{37C779D1-AF97-41EF-B06D-8EEA730479A1}"/>
              </a:ext>
            </a:extLst>
          </p:cNvPr>
          <p:cNvSpPr/>
          <p:nvPr/>
        </p:nvSpPr>
        <p:spPr>
          <a:xfrm>
            <a:off x="5003117" y="1953020"/>
            <a:ext cx="1443038" cy="7143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Resource manager</a:t>
            </a:r>
          </a:p>
        </p:txBody>
      </p:sp>
      <p:grpSp>
        <p:nvGrpSpPr>
          <p:cNvPr id="18" name="Group 17">
            <a:extLst>
              <a:ext uri="{FF2B5EF4-FFF2-40B4-BE49-F238E27FC236}">
                <a16:creationId xmlns:a16="http://schemas.microsoft.com/office/drawing/2014/main" id="{D4728B8B-567C-4CB1-9BD9-144AFECBA63D}"/>
              </a:ext>
            </a:extLst>
          </p:cNvPr>
          <p:cNvGrpSpPr/>
          <p:nvPr/>
        </p:nvGrpSpPr>
        <p:grpSpPr>
          <a:xfrm>
            <a:off x="657224" y="3674049"/>
            <a:ext cx="2600325" cy="3026789"/>
            <a:chOff x="657224" y="3674049"/>
            <a:chExt cx="2600325" cy="3026789"/>
          </a:xfrm>
        </p:grpSpPr>
        <p:sp>
          <p:nvSpPr>
            <p:cNvPr id="14" name="Rectangle 13">
              <a:extLst>
                <a:ext uri="{FF2B5EF4-FFF2-40B4-BE49-F238E27FC236}">
                  <a16:creationId xmlns:a16="http://schemas.microsoft.com/office/drawing/2014/main" id="{7CD20094-2FE7-49D0-A9ED-9FE30E6C10A3}"/>
                </a:ext>
              </a:extLst>
            </p:cNvPr>
            <p:cNvSpPr/>
            <p:nvPr/>
          </p:nvSpPr>
          <p:spPr>
            <a:xfrm>
              <a:off x="657224" y="3674049"/>
              <a:ext cx="2600325" cy="30267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15" name="Rectangle 14">
              <a:extLst>
                <a:ext uri="{FF2B5EF4-FFF2-40B4-BE49-F238E27FC236}">
                  <a16:creationId xmlns:a16="http://schemas.microsoft.com/office/drawing/2014/main" id="{5B64A3D2-2AEF-475E-B6C0-330663446877}"/>
                </a:ext>
              </a:extLst>
            </p:cNvPr>
            <p:cNvSpPr/>
            <p:nvPr/>
          </p:nvSpPr>
          <p:spPr>
            <a:xfrm>
              <a:off x="942976" y="3786188"/>
              <a:ext cx="2000250" cy="657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Node Manager</a:t>
              </a:r>
            </a:p>
          </p:txBody>
        </p:sp>
        <p:sp>
          <p:nvSpPr>
            <p:cNvPr id="16" name="TextBox 15">
              <a:extLst>
                <a:ext uri="{FF2B5EF4-FFF2-40B4-BE49-F238E27FC236}">
                  <a16:creationId xmlns:a16="http://schemas.microsoft.com/office/drawing/2014/main" id="{76E06E72-FEF7-4849-ADA2-C5C1004AEAC1}"/>
                </a:ext>
              </a:extLst>
            </p:cNvPr>
            <p:cNvSpPr txBox="1"/>
            <p:nvPr/>
          </p:nvSpPr>
          <p:spPr>
            <a:xfrm>
              <a:off x="942976" y="4843463"/>
              <a:ext cx="2000250" cy="1754326"/>
            </a:xfrm>
            <a:prstGeom prst="rect">
              <a:avLst/>
            </a:prstGeom>
            <a:noFill/>
            <a:ln>
              <a:solidFill>
                <a:schemeClr val="tx1"/>
              </a:solidFill>
            </a:ln>
          </p:spPr>
          <p:txBody>
            <a:bodyPr wrap="square" rtlCol="0">
              <a:spAutoFit/>
            </a:bodyPr>
            <a:lstStyle/>
            <a:p>
              <a:r>
                <a:rPr lang="en-IN" dirty="0">
                  <a:latin typeface="Bahnschrift" panose="020B0502040204020203" pitchFamily="34" charset="0"/>
                </a:rPr>
                <a:t>       Child JVM</a:t>
              </a:r>
            </a:p>
            <a:p>
              <a:endParaRPr lang="en-IN" dirty="0">
                <a:latin typeface="Bahnschrift" panose="020B0502040204020203" pitchFamily="34" charset="0"/>
              </a:endParaRPr>
            </a:p>
            <a:p>
              <a:endParaRPr lang="en-IN" dirty="0">
                <a:latin typeface="Bahnschrift" panose="020B0502040204020203" pitchFamily="34" charset="0"/>
              </a:endParaRPr>
            </a:p>
            <a:p>
              <a:endParaRPr lang="en-IN" dirty="0">
                <a:latin typeface="Bahnschrift" panose="020B0502040204020203" pitchFamily="34" charset="0"/>
              </a:endParaRPr>
            </a:p>
            <a:p>
              <a:endParaRPr lang="en-IN" dirty="0">
                <a:latin typeface="Bahnschrift" panose="020B0502040204020203" pitchFamily="34" charset="0"/>
              </a:endParaRPr>
            </a:p>
            <a:p>
              <a:endParaRPr lang="en-IN" dirty="0">
                <a:latin typeface="Bahnschrift" panose="020B0502040204020203" pitchFamily="34" charset="0"/>
              </a:endParaRPr>
            </a:p>
          </p:txBody>
        </p:sp>
        <p:sp>
          <p:nvSpPr>
            <p:cNvPr id="17" name="Rectangle 16">
              <a:extLst>
                <a:ext uri="{FF2B5EF4-FFF2-40B4-BE49-F238E27FC236}">
                  <a16:creationId xmlns:a16="http://schemas.microsoft.com/office/drawing/2014/main" id="{DA79B904-D163-4873-8224-EBE411E3AE9C}"/>
                </a:ext>
              </a:extLst>
            </p:cNvPr>
            <p:cNvSpPr/>
            <p:nvPr/>
          </p:nvSpPr>
          <p:spPr>
            <a:xfrm>
              <a:off x="1314451" y="5293303"/>
              <a:ext cx="1257300" cy="945137"/>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App Master</a:t>
              </a:r>
            </a:p>
          </p:txBody>
        </p:sp>
      </p:grpSp>
      <p:grpSp>
        <p:nvGrpSpPr>
          <p:cNvPr id="19" name="Group 18">
            <a:extLst>
              <a:ext uri="{FF2B5EF4-FFF2-40B4-BE49-F238E27FC236}">
                <a16:creationId xmlns:a16="http://schemas.microsoft.com/office/drawing/2014/main" id="{CBCD0844-30A0-4EFE-931C-F6CDC7250CA2}"/>
              </a:ext>
            </a:extLst>
          </p:cNvPr>
          <p:cNvGrpSpPr/>
          <p:nvPr/>
        </p:nvGrpSpPr>
        <p:grpSpPr>
          <a:xfrm>
            <a:off x="4531630" y="3429000"/>
            <a:ext cx="2914648" cy="3352007"/>
            <a:chOff x="657224" y="3674049"/>
            <a:chExt cx="2600325" cy="3026789"/>
          </a:xfrm>
        </p:grpSpPr>
        <p:sp>
          <p:nvSpPr>
            <p:cNvPr id="20" name="Rectangle 19">
              <a:extLst>
                <a:ext uri="{FF2B5EF4-FFF2-40B4-BE49-F238E27FC236}">
                  <a16:creationId xmlns:a16="http://schemas.microsoft.com/office/drawing/2014/main" id="{F5188BEA-3883-4DC0-AFC7-8A7B3F701126}"/>
                </a:ext>
              </a:extLst>
            </p:cNvPr>
            <p:cNvSpPr/>
            <p:nvPr/>
          </p:nvSpPr>
          <p:spPr>
            <a:xfrm>
              <a:off x="657224" y="3674049"/>
              <a:ext cx="2600325" cy="30267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ahnschrift" panose="020B0502040204020203" pitchFamily="34" charset="0"/>
              </a:endParaRPr>
            </a:p>
          </p:txBody>
        </p:sp>
        <p:sp>
          <p:nvSpPr>
            <p:cNvPr id="21" name="Rectangle 20">
              <a:extLst>
                <a:ext uri="{FF2B5EF4-FFF2-40B4-BE49-F238E27FC236}">
                  <a16:creationId xmlns:a16="http://schemas.microsoft.com/office/drawing/2014/main" id="{9593AF1E-9859-4C8B-8DDA-66AFD6C472BC}"/>
                </a:ext>
              </a:extLst>
            </p:cNvPr>
            <p:cNvSpPr/>
            <p:nvPr/>
          </p:nvSpPr>
          <p:spPr>
            <a:xfrm>
              <a:off x="942976" y="3786188"/>
              <a:ext cx="2000250" cy="657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Node Manager</a:t>
              </a:r>
            </a:p>
          </p:txBody>
        </p:sp>
        <p:sp>
          <p:nvSpPr>
            <p:cNvPr id="22" name="TextBox 21">
              <a:extLst>
                <a:ext uri="{FF2B5EF4-FFF2-40B4-BE49-F238E27FC236}">
                  <a16:creationId xmlns:a16="http://schemas.microsoft.com/office/drawing/2014/main" id="{23AD05BF-684F-4F3E-9879-41D0BB6D8207}"/>
                </a:ext>
              </a:extLst>
            </p:cNvPr>
            <p:cNvSpPr txBox="1"/>
            <p:nvPr/>
          </p:nvSpPr>
          <p:spPr>
            <a:xfrm>
              <a:off x="957261" y="4651874"/>
              <a:ext cx="1985966" cy="1584118"/>
            </a:xfrm>
            <a:prstGeom prst="rect">
              <a:avLst/>
            </a:prstGeom>
            <a:noFill/>
            <a:ln>
              <a:solidFill>
                <a:schemeClr val="tx1"/>
              </a:solidFill>
            </a:ln>
          </p:spPr>
          <p:txBody>
            <a:bodyPr wrap="square" rtlCol="0">
              <a:spAutoFit/>
            </a:bodyPr>
            <a:lstStyle/>
            <a:p>
              <a:r>
                <a:rPr lang="en-IN" dirty="0">
                  <a:latin typeface="Bahnschrift" panose="020B0502040204020203" pitchFamily="34" charset="0"/>
                </a:rPr>
                <a:t>       Task JVM</a:t>
              </a:r>
            </a:p>
            <a:p>
              <a:endParaRPr lang="en-IN" dirty="0">
                <a:latin typeface="Bahnschrift" panose="020B0502040204020203" pitchFamily="34" charset="0"/>
              </a:endParaRPr>
            </a:p>
            <a:p>
              <a:endParaRPr lang="en-IN" dirty="0">
                <a:latin typeface="Bahnschrift" panose="020B0502040204020203" pitchFamily="34" charset="0"/>
              </a:endParaRPr>
            </a:p>
            <a:p>
              <a:endParaRPr lang="en-IN" dirty="0">
                <a:latin typeface="Bahnschrift" panose="020B0502040204020203" pitchFamily="34" charset="0"/>
              </a:endParaRPr>
            </a:p>
            <a:p>
              <a:endParaRPr lang="en-IN" dirty="0">
                <a:latin typeface="Bahnschrift" panose="020B0502040204020203" pitchFamily="34" charset="0"/>
              </a:endParaRPr>
            </a:p>
            <a:p>
              <a:endParaRPr lang="en-IN" dirty="0">
                <a:latin typeface="Bahnschrift" panose="020B0502040204020203" pitchFamily="34" charset="0"/>
              </a:endParaRPr>
            </a:p>
          </p:txBody>
        </p:sp>
        <p:sp>
          <p:nvSpPr>
            <p:cNvPr id="23" name="Rectangle 22">
              <a:extLst>
                <a:ext uri="{FF2B5EF4-FFF2-40B4-BE49-F238E27FC236}">
                  <a16:creationId xmlns:a16="http://schemas.microsoft.com/office/drawing/2014/main" id="{734924F9-F4C3-4670-8C78-D859FCF4E305}"/>
                </a:ext>
              </a:extLst>
            </p:cNvPr>
            <p:cNvSpPr/>
            <p:nvPr/>
          </p:nvSpPr>
          <p:spPr>
            <a:xfrm>
              <a:off x="1328735" y="5393113"/>
              <a:ext cx="1409700" cy="700448"/>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Map or Reduce Tasks</a:t>
              </a:r>
            </a:p>
          </p:txBody>
        </p:sp>
        <p:sp>
          <p:nvSpPr>
            <p:cNvPr id="24" name="Rectangle 23">
              <a:extLst>
                <a:ext uri="{FF2B5EF4-FFF2-40B4-BE49-F238E27FC236}">
                  <a16:creationId xmlns:a16="http://schemas.microsoft.com/office/drawing/2014/main" id="{27BD81B5-80E9-4A08-A8B9-6023FDCFAB4C}"/>
                </a:ext>
              </a:extLst>
            </p:cNvPr>
            <p:cNvSpPr/>
            <p:nvPr/>
          </p:nvSpPr>
          <p:spPr>
            <a:xfrm>
              <a:off x="1328735" y="4956384"/>
              <a:ext cx="1257300" cy="356758"/>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YARN Child</a:t>
              </a:r>
            </a:p>
          </p:txBody>
        </p:sp>
      </p:grpSp>
      <p:sp>
        <p:nvSpPr>
          <p:cNvPr id="25" name="TextBox 24">
            <a:extLst>
              <a:ext uri="{FF2B5EF4-FFF2-40B4-BE49-F238E27FC236}">
                <a16:creationId xmlns:a16="http://schemas.microsoft.com/office/drawing/2014/main" id="{953C8AF9-50AD-4910-A2E3-DB64D547F151}"/>
              </a:ext>
            </a:extLst>
          </p:cNvPr>
          <p:cNvSpPr txBox="1"/>
          <p:nvPr/>
        </p:nvSpPr>
        <p:spPr>
          <a:xfrm>
            <a:off x="4686300" y="6372225"/>
            <a:ext cx="2614613" cy="369332"/>
          </a:xfrm>
          <a:prstGeom prst="rect">
            <a:avLst/>
          </a:prstGeom>
          <a:noFill/>
        </p:spPr>
        <p:txBody>
          <a:bodyPr wrap="square" rtlCol="0">
            <a:spAutoFit/>
          </a:bodyPr>
          <a:lstStyle/>
          <a:p>
            <a:pPr algn="ctr"/>
            <a:r>
              <a:rPr lang="en-IN" dirty="0">
                <a:latin typeface="Bahnschrift" panose="020B0502040204020203" pitchFamily="34" charset="0"/>
              </a:rPr>
              <a:t>Node Manager Node</a:t>
            </a:r>
          </a:p>
        </p:txBody>
      </p:sp>
      <p:cxnSp>
        <p:nvCxnSpPr>
          <p:cNvPr id="27" name="Straight Arrow Connector 26">
            <a:extLst>
              <a:ext uri="{FF2B5EF4-FFF2-40B4-BE49-F238E27FC236}">
                <a16:creationId xmlns:a16="http://schemas.microsoft.com/office/drawing/2014/main" id="{368FB3EA-9A5E-46C1-9481-EC838CF82842}"/>
              </a:ext>
            </a:extLst>
          </p:cNvPr>
          <p:cNvCxnSpPr>
            <a:cxnSpLocks/>
            <a:stCxn id="21" idx="0"/>
          </p:cNvCxnSpPr>
          <p:nvPr/>
        </p:nvCxnSpPr>
        <p:spPr>
          <a:xfrm flipV="1">
            <a:off x="5972942" y="2726074"/>
            <a:ext cx="0" cy="8271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E8665AB9-DF1B-46C0-8BFC-6F824DA34E67}"/>
              </a:ext>
            </a:extLst>
          </p:cNvPr>
          <p:cNvSpPr txBox="1"/>
          <p:nvPr/>
        </p:nvSpPr>
        <p:spPr>
          <a:xfrm>
            <a:off x="6115050" y="2959674"/>
            <a:ext cx="1543049" cy="400110"/>
          </a:xfrm>
          <a:prstGeom prst="rect">
            <a:avLst/>
          </a:prstGeom>
          <a:noFill/>
        </p:spPr>
        <p:txBody>
          <a:bodyPr wrap="square" rtlCol="0">
            <a:spAutoFit/>
          </a:bodyPr>
          <a:lstStyle/>
          <a:p>
            <a:r>
              <a:rPr lang="en-IN" sz="2000" dirty="0">
                <a:latin typeface="Bahnschrift" panose="020B0502040204020203" pitchFamily="34" charset="0"/>
              </a:rPr>
              <a:t>Heartbeats</a:t>
            </a:r>
          </a:p>
        </p:txBody>
      </p:sp>
      <p:cxnSp>
        <p:nvCxnSpPr>
          <p:cNvPr id="31" name="Straight Arrow Connector 30">
            <a:extLst>
              <a:ext uri="{FF2B5EF4-FFF2-40B4-BE49-F238E27FC236}">
                <a16:creationId xmlns:a16="http://schemas.microsoft.com/office/drawing/2014/main" id="{484EEBEF-8576-4E63-9490-7DA6B23971D1}"/>
              </a:ext>
            </a:extLst>
          </p:cNvPr>
          <p:cNvCxnSpPr>
            <a:stCxn id="14" idx="0"/>
          </p:cNvCxnSpPr>
          <p:nvPr/>
        </p:nvCxnSpPr>
        <p:spPr>
          <a:xfrm flipV="1">
            <a:off x="1957387" y="2357438"/>
            <a:ext cx="3045730" cy="131661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B791D9B1-E0FF-42F6-95A2-299E5B0123EA}"/>
              </a:ext>
            </a:extLst>
          </p:cNvPr>
          <p:cNvCxnSpPr/>
          <p:nvPr/>
        </p:nvCxnSpPr>
        <p:spPr>
          <a:xfrm flipV="1">
            <a:off x="2571751" y="3786188"/>
            <a:ext cx="2280172" cy="207168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912A7EC6-31EC-450D-AE45-E969BA247BD1}"/>
              </a:ext>
            </a:extLst>
          </p:cNvPr>
          <p:cNvSpPr txBox="1"/>
          <p:nvPr/>
        </p:nvSpPr>
        <p:spPr>
          <a:xfrm>
            <a:off x="3249052" y="3021130"/>
            <a:ext cx="1543049" cy="400110"/>
          </a:xfrm>
          <a:prstGeom prst="rect">
            <a:avLst/>
          </a:prstGeom>
          <a:noFill/>
        </p:spPr>
        <p:txBody>
          <a:bodyPr wrap="square" rtlCol="0">
            <a:spAutoFit/>
          </a:bodyPr>
          <a:lstStyle/>
          <a:p>
            <a:r>
              <a:rPr lang="en-IN" sz="2000" dirty="0">
                <a:latin typeface="Bahnschrift" panose="020B0502040204020203" pitchFamily="34" charset="0"/>
              </a:rPr>
              <a:t>Heartbeats</a:t>
            </a:r>
          </a:p>
        </p:txBody>
      </p:sp>
      <p:sp>
        <p:nvSpPr>
          <p:cNvPr id="2" name="Multiplication Sign 1">
            <a:extLst>
              <a:ext uri="{FF2B5EF4-FFF2-40B4-BE49-F238E27FC236}">
                <a16:creationId xmlns:a16="http://schemas.microsoft.com/office/drawing/2014/main" id="{61104AA9-73DC-451C-9DD6-C35A79A2E93B}"/>
              </a:ext>
            </a:extLst>
          </p:cNvPr>
          <p:cNvSpPr/>
          <p:nvPr/>
        </p:nvSpPr>
        <p:spPr>
          <a:xfrm>
            <a:off x="4851923" y="1795371"/>
            <a:ext cx="1662218" cy="1164303"/>
          </a:xfrm>
          <a:prstGeom prst="mathMultiply">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Bahnschrift" panose="020B0502040204020203" pitchFamily="34" charset="0"/>
            </a:endParaRPr>
          </a:p>
        </p:txBody>
      </p:sp>
    </p:spTree>
    <p:extLst>
      <p:ext uri="{BB962C8B-B14F-4D97-AF65-F5344CB8AC3E}">
        <p14:creationId xmlns:p14="http://schemas.microsoft.com/office/powerpoint/2010/main" val="39284819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7DA945-9951-4EE8-8EAA-F9F93058B914}"/>
              </a:ext>
            </a:extLst>
          </p:cNvPr>
          <p:cNvSpPr>
            <a:spLocks noGrp="1"/>
          </p:cNvSpPr>
          <p:nvPr>
            <p:ph idx="1"/>
          </p:nvPr>
        </p:nvSpPr>
        <p:spPr>
          <a:xfrm>
            <a:off x="127591" y="1414131"/>
            <a:ext cx="5799043" cy="5295014"/>
          </a:xfrm>
        </p:spPr>
        <p:txBody>
          <a:bodyPr>
            <a:noAutofit/>
          </a:bodyPr>
          <a:lstStyle/>
          <a:p>
            <a:pPr algn="just"/>
            <a:r>
              <a:rPr lang="en-US" sz="2400" dirty="0"/>
              <a:t>Runtime exceptions and sudden exits of the JVM are propagated </a:t>
            </a:r>
          </a:p>
        </p:txBody>
      </p:sp>
      <p:sp>
        <p:nvSpPr>
          <p:cNvPr id="3" name="Title 2">
            <a:extLst>
              <a:ext uri="{FF2B5EF4-FFF2-40B4-BE49-F238E27FC236}">
                <a16:creationId xmlns:a16="http://schemas.microsoft.com/office/drawing/2014/main" id="{C56609EB-17FC-4762-9560-7EA5D3DCEFF3}"/>
              </a:ext>
            </a:extLst>
          </p:cNvPr>
          <p:cNvSpPr>
            <a:spLocks noGrp="1"/>
          </p:cNvSpPr>
          <p:nvPr>
            <p:ph type="title"/>
          </p:nvPr>
        </p:nvSpPr>
        <p:spPr/>
        <p:txBody>
          <a:bodyPr vert="horz" lIns="91440" tIns="45720" rIns="91440" bIns="45720" rtlCol="0" anchor="ctr">
            <a:noAutofit/>
          </a:bodyPr>
          <a:lstStyle/>
          <a:p>
            <a:r>
              <a:rPr lang="en-IN" dirty="0"/>
              <a:t>Task failure</a:t>
            </a:r>
          </a:p>
        </p:txBody>
      </p:sp>
      <p:grpSp>
        <p:nvGrpSpPr>
          <p:cNvPr id="4" name="Group 3">
            <a:extLst>
              <a:ext uri="{FF2B5EF4-FFF2-40B4-BE49-F238E27FC236}">
                <a16:creationId xmlns:a16="http://schemas.microsoft.com/office/drawing/2014/main" id="{896ADAB2-6FFD-40B1-81A0-130C38104DB7}"/>
              </a:ext>
            </a:extLst>
          </p:cNvPr>
          <p:cNvGrpSpPr/>
          <p:nvPr/>
        </p:nvGrpSpPr>
        <p:grpSpPr>
          <a:xfrm>
            <a:off x="5967026" y="1915432"/>
            <a:ext cx="2914648" cy="3352007"/>
            <a:chOff x="657224" y="3674049"/>
            <a:chExt cx="2600325" cy="3026789"/>
          </a:xfrm>
        </p:grpSpPr>
        <p:sp>
          <p:nvSpPr>
            <p:cNvPr id="5" name="Rectangle 4">
              <a:extLst>
                <a:ext uri="{FF2B5EF4-FFF2-40B4-BE49-F238E27FC236}">
                  <a16:creationId xmlns:a16="http://schemas.microsoft.com/office/drawing/2014/main" id="{3FFB591D-04C8-4FB9-9408-7C4269015564}"/>
                </a:ext>
              </a:extLst>
            </p:cNvPr>
            <p:cNvSpPr/>
            <p:nvPr/>
          </p:nvSpPr>
          <p:spPr>
            <a:xfrm>
              <a:off x="657224" y="3674049"/>
              <a:ext cx="2600325" cy="30267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29F49847-86F8-45B9-941A-35564E3B5282}"/>
                </a:ext>
              </a:extLst>
            </p:cNvPr>
            <p:cNvSpPr/>
            <p:nvPr/>
          </p:nvSpPr>
          <p:spPr>
            <a:xfrm>
              <a:off x="942976" y="3786188"/>
              <a:ext cx="2000250" cy="657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Node Manager</a:t>
              </a:r>
            </a:p>
          </p:txBody>
        </p:sp>
        <p:sp>
          <p:nvSpPr>
            <p:cNvPr id="7" name="TextBox 6">
              <a:extLst>
                <a:ext uri="{FF2B5EF4-FFF2-40B4-BE49-F238E27FC236}">
                  <a16:creationId xmlns:a16="http://schemas.microsoft.com/office/drawing/2014/main" id="{9377DB4E-10F6-4062-B31F-FDAB0BF213BD}"/>
                </a:ext>
              </a:extLst>
            </p:cNvPr>
            <p:cNvSpPr txBox="1"/>
            <p:nvPr/>
          </p:nvSpPr>
          <p:spPr>
            <a:xfrm>
              <a:off x="957261" y="4651874"/>
              <a:ext cx="1985966" cy="1584118"/>
            </a:xfrm>
            <a:prstGeom prst="rect">
              <a:avLst/>
            </a:prstGeom>
            <a:noFill/>
            <a:ln>
              <a:solidFill>
                <a:schemeClr val="tx1"/>
              </a:solidFill>
            </a:ln>
          </p:spPr>
          <p:txBody>
            <a:bodyPr wrap="square" rtlCol="0">
              <a:spAutoFit/>
            </a:bodyPr>
            <a:lstStyle/>
            <a:p>
              <a:r>
                <a:rPr lang="en-IN" dirty="0"/>
                <a:t>       Task JVM</a:t>
              </a:r>
            </a:p>
            <a:p>
              <a:endParaRPr lang="en-IN" dirty="0"/>
            </a:p>
            <a:p>
              <a:endParaRPr lang="en-IN" dirty="0"/>
            </a:p>
            <a:p>
              <a:endParaRPr lang="en-IN" dirty="0"/>
            </a:p>
            <a:p>
              <a:endParaRPr lang="en-IN" dirty="0"/>
            </a:p>
            <a:p>
              <a:endParaRPr lang="en-IN" dirty="0"/>
            </a:p>
          </p:txBody>
        </p:sp>
        <p:sp>
          <p:nvSpPr>
            <p:cNvPr id="8" name="Rectangle 7">
              <a:extLst>
                <a:ext uri="{FF2B5EF4-FFF2-40B4-BE49-F238E27FC236}">
                  <a16:creationId xmlns:a16="http://schemas.microsoft.com/office/drawing/2014/main" id="{34113852-628C-4BFD-93B7-743CD27CC9F2}"/>
                </a:ext>
              </a:extLst>
            </p:cNvPr>
            <p:cNvSpPr/>
            <p:nvPr/>
          </p:nvSpPr>
          <p:spPr>
            <a:xfrm>
              <a:off x="1328735" y="5393113"/>
              <a:ext cx="1409700" cy="700448"/>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Map or Reduce Tasks</a:t>
              </a:r>
            </a:p>
          </p:txBody>
        </p:sp>
        <p:sp>
          <p:nvSpPr>
            <p:cNvPr id="9" name="Rectangle 8">
              <a:extLst>
                <a:ext uri="{FF2B5EF4-FFF2-40B4-BE49-F238E27FC236}">
                  <a16:creationId xmlns:a16="http://schemas.microsoft.com/office/drawing/2014/main" id="{3C0E9D53-4F01-4EB0-B095-A704D28698FD}"/>
                </a:ext>
              </a:extLst>
            </p:cNvPr>
            <p:cNvSpPr/>
            <p:nvPr/>
          </p:nvSpPr>
          <p:spPr>
            <a:xfrm>
              <a:off x="1328735" y="4956384"/>
              <a:ext cx="1257300" cy="356758"/>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YARN Child</a:t>
              </a:r>
            </a:p>
          </p:txBody>
        </p:sp>
      </p:grpSp>
      <p:sp>
        <p:nvSpPr>
          <p:cNvPr id="10" name="Multiplication Sign 9">
            <a:extLst>
              <a:ext uri="{FF2B5EF4-FFF2-40B4-BE49-F238E27FC236}">
                <a16:creationId xmlns:a16="http://schemas.microsoft.com/office/drawing/2014/main" id="{B582BA76-B53E-4B96-855C-E8FFA4A5394D}"/>
              </a:ext>
            </a:extLst>
          </p:cNvPr>
          <p:cNvSpPr/>
          <p:nvPr/>
        </p:nvSpPr>
        <p:spPr>
          <a:xfrm>
            <a:off x="6156182" y="3591436"/>
            <a:ext cx="1662218" cy="1164303"/>
          </a:xfrm>
          <a:prstGeom prst="mathMultiply">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5282699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7DA945-9951-4EE8-8EAA-F9F93058B914}"/>
              </a:ext>
            </a:extLst>
          </p:cNvPr>
          <p:cNvSpPr>
            <a:spLocks noGrp="1"/>
          </p:cNvSpPr>
          <p:nvPr>
            <p:ph idx="1"/>
          </p:nvPr>
        </p:nvSpPr>
        <p:spPr>
          <a:xfrm>
            <a:off x="127591" y="1414131"/>
            <a:ext cx="5799043" cy="5295014"/>
          </a:xfrm>
        </p:spPr>
        <p:txBody>
          <a:bodyPr>
            <a:noAutofit/>
          </a:bodyPr>
          <a:lstStyle/>
          <a:p>
            <a:pPr algn="just"/>
            <a:r>
              <a:rPr lang="en-US" sz="2400" dirty="0"/>
              <a:t>Runtime exceptions and sudden exits of the JVM are propagated </a:t>
            </a:r>
          </a:p>
          <a:p>
            <a:pPr algn="just"/>
            <a:r>
              <a:rPr lang="en-US" sz="2400" dirty="0"/>
              <a:t>Hanging tasks are noticed by the application master </a:t>
            </a:r>
          </a:p>
        </p:txBody>
      </p:sp>
      <p:sp>
        <p:nvSpPr>
          <p:cNvPr id="3" name="Title 2">
            <a:extLst>
              <a:ext uri="{FF2B5EF4-FFF2-40B4-BE49-F238E27FC236}">
                <a16:creationId xmlns:a16="http://schemas.microsoft.com/office/drawing/2014/main" id="{C56609EB-17FC-4762-9560-7EA5D3DCEFF3}"/>
              </a:ext>
            </a:extLst>
          </p:cNvPr>
          <p:cNvSpPr>
            <a:spLocks noGrp="1"/>
          </p:cNvSpPr>
          <p:nvPr>
            <p:ph type="title"/>
          </p:nvPr>
        </p:nvSpPr>
        <p:spPr/>
        <p:txBody>
          <a:bodyPr vert="horz" lIns="91440" tIns="45720" rIns="91440" bIns="45720" rtlCol="0" anchor="ctr">
            <a:noAutofit/>
          </a:bodyPr>
          <a:lstStyle/>
          <a:p>
            <a:r>
              <a:rPr lang="en-IN" dirty="0"/>
              <a:t>Task failure</a:t>
            </a:r>
          </a:p>
        </p:txBody>
      </p:sp>
      <p:grpSp>
        <p:nvGrpSpPr>
          <p:cNvPr id="4" name="Group 3">
            <a:extLst>
              <a:ext uri="{FF2B5EF4-FFF2-40B4-BE49-F238E27FC236}">
                <a16:creationId xmlns:a16="http://schemas.microsoft.com/office/drawing/2014/main" id="{896ADAB2-6FFD-40B1-81A0-130C38104DB7}"/>
              </a:ext>
            </a:extLst>
          </p:cNvPr>
          <p:cNvGrpSpPr/>
          <p:nvPr/>
        </p:nvGrpSpPr>
        <p:grpSpPr>
          <a:xfrm>
            <a:off x="5967026" y="1915432"/>
            <a:ext cx="2914648" cy="3352007"/>
            <a:chOff x="657224" y="3674049"/>
            <a:chExt cx="2600325" cy="3026789"/>
          </a:xfrm>
        </p:grpSpPr>
        <p:sp>
          <p:nvSpPr>
            <p:cNvPr id="5" name="Rectangle 4">
              <a:extLst>
                <a:ext uri="{FF2B5EF4-FFF2-40B4-BE49-F238E27FC236}">
                  <a16:creationId xmlns:a16="http://schemas.microsoft.com/office/drawing/2014/main" id="{3FFB591D-04C8-4FB9-9408-7C4269015564}"/>
                </a:ext>
              </a:extLst>
            </p:cNvPr>
            <p:cNvSpPr/>
            <p:nvPr/>
          </p:nvSpPr>
          <p:spPr>
            <a:xfrm>
              <a:off x="657224" y="3674049"/>
              <a:ext cx="2600325" cy="30267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29F49847-86F8-45B9-941A-35564E3B5282}"/>
                </a:ext>
              </a:extLst>
            </p:cNvPr>
            <p:cNvSpPr/>
            <p:nvPr/>
          </p:nvSpPr>
          <p:spPr>
            <a:xfrm>
              <a:off x="942976" y="3786188"/>
              <a:ext cx="2000250" cy="657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Node Manager</a:t>
              </a:r>
            </a:p>
          </p:txBody>
        </p:sp>
        <p:sp>
          <p:nvSpPr>
            <p:cNvPr id="7" name="TextBox 6">
              <a:extLst>
                <a:ext uri="{FF2B5EF4-FFF2-40B4-BE49-F238E27FC236}">
                  <a16:creationId xmlns:a16="http://schemas.microsoft.com/office/drawing/2014/main" id="{9377DB4E-10F6-4062-B31F-FDAB0BF213BD}"/>
                </a:ext>
              </a:extLst>
            </p:cNvPr>
            <p:cNvSpPr txBox="1"/>
            <p:nvPr/>
          </p:nvSpPr>
          <p:spPr>
            <a:xfrm>
              <a:off x="957261" y="4651874"/>
              <a:ext cx="1985966" cy="1584118"/>
            </a:xfrm>
            <a:prstGeom prst="rect">
              <a:avLst/>
            </a:prstGeom>
            <a:noFill/>
            <a:ln>
              <a:solidFill>
                <a:schemeClr val="tx1"/>
              </a:solidFill>
            </a:ln>
          </p:spPr>
          <p:txBody>
            <a:bodyPr wrap="square" rtlCol="0">
              <a:spAutoFit/>
            </a:bodyPr>
            <a:lstStyle/>
            <a:p>
              <a:r>
                <a:rPr lang="en-IN" dirty="0"/>
                <a:t>       Task JVM</a:t>
              </a:r>
            </a:p>
            <a:p>
              <a:endParaRPr lang="en-IN" dirty="0"/>
            </a:p>
            <a:p>
              <a:endParaRPr lang="en-IN" dirty="0"/>
            </a:p>
            <a:p>
              <a:endParaRPr lang="en-IN" dirty="0"/>
            </a:p>
            <a:p>
              <a:endParaRPr lang="en-IN" dirty="0"/>
            </a:p>
            <a:p>
              <a:endParaRPr lang="en-IN" dirty="0"/>
            </a:p>
          </p:txBody>
        </p:sp>
        <p:sp>
          <p:nvSpPr>
            <p:cNvPr id="8" name="Rectangle 7">
              <a:extLst>
                <a:ext uri="{FF2B5EF4-FFF2-40B4-BE49-F238E27FC236}">
                  <a16:creationId xmlns:a16="http://schemas.microsoft.com/office/drawing/2014/main" id="{34113852-628C-4BFD-93B7-743CD27CC9F2}"/>
                </a:ext>
              </a:extLst>
            </p:cNvPr>
            <p:cNvSpPr/>
            <p:nvPr/>
          </p:nvSpPr>
          <p:spPr>
            <a:xfrm>
              <a:off x="1328735" y="5393113"/>
              <a:ext cx="1409700" cy="700448"/>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Map or Reduce Tasks</a:t>
              </a:r>
            </a:p>
          </p:txBody>
        </p:sp>
        <p:sp>
          <p:nvSpPr>
            <p:cNvPr id="9" name="Rectangle 8">
              <a:extLst>
                <a:ext uri="{FF2B5EF4-FFF2-40B4-BE49-F238E27FC236}">
                  <a16:creationId xmlns:a16="http://schemas.microsoft.com/office/drawing/2014/main" id="{3C0E9D53-4F01-4EB0-B095-A704D28698FD}"/>
                </a:ext>
              </a:extLst>
            </p:cNvPr>
            <p:cNvSpPr/>
            <p:nvPr/>
          </p:nvSpPr>
          <p:spPr>
            <a:xfrm>
              <a:off x="1328735" y="4956384"/>
              <a:ext cx="1257300" cy="356758"/>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YARN Child</a:t>
              </a:r>
            </a:p>
          </p:txBody>
        </p:sp>
      </p:grpSp>
      <p:sp>
        <p:nvSpPr>
          <p:cNvPr id="10" name="Multiplication Sign 9">
            <a:extLst>
              <a:ext uri="{FF2B5EF4-FFF2-40B4-BE49-F238E27FC236}">
                <a16:creationId xmlns:a16="http://schemas.microsoft.com/office/drawing/2014/main" id="{B582BA76-B53E-4B96-855C-E8FFA4A5394D}"/>
              </a:ext>
            </a:extLst>
          </p:cNvPr>
          <p:cNvSpPr/>
          <p:nvPr/>
        </p:nvSpPr>
        <p:spPr>
          <a:xfrm>
            <a:off x="6156182" y="3591436"/>
            <a:ext cx="1662218" cy="1164303"/>
          </a:xfrm>
          <a:prstGeom prst="mathMultiply">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38478042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7DA945-9951-4EE8-8EAA-F9F93058B914}"/>
              </a:ext>
            </a:extLst>
          </p:cNvPr>
          <p:cNvSpPr>
            <a:spLocks noGrp="1"/>
          </p:cNvSpPr>
          <p:nvPr>
            <p:ph idx="1"/>
          </p:nvPr>
        </p:nvSpPr>
        <p:spPr>
          <a:xfrm>
            <a:off x="127591" y="1414131"/>
            <a:ext cx="5799043" cy="5295014"/>
          </a:xfrm>
        </p:spPr>
        <p:txBody>
          <a:bodyPr>
            <a:noAutofit/>
          </a:bodyPr>
          <a:lstStyle/>
          <a:p>
            <a:pPr algn="just"/>
            <a:r>
              <a:rPr lang="en-US" sz="2400" dirty="0"/>
              <a:t>Runtime exceptions and sudden exits of the JVM are propagated </a:t>
            </a:r>
          </a:p>
          <a:p>
            <a:pPr algn="just"/>
            <a:r>
              <a:rPr lang="en-US" sz="2400" dirty="0"/>
              <a:t>Hanging tasks are noticed by the application master </a:t>
            </a:r>
          </a:p>
          <a:p>
            <a:pPr algn="just"/>
            <a:r>
              <a:rPr lang="en-US" sz="2400" dirty="0" err="1"/>
              <a:t>mapreduce.task.time</a:t>
            </a:r>
            <a:r>
              <a:rPr lang="en-US" sz="2400" dirty="0"/>
              <a:t> out</a:t>
            </a:r>
          </a:p>
        </p:txBody>
      </p:sp>
      <p:sp>
        <p:nvSpPr>
          <p:cNvPr id="3" name="Title 2">
            <a:extLst>
              <a:ext uri="{FF2B5EF4-FFF2-40B4-BE49-F238E27FC236}">
                <a16:creationId xmlns:a16="http://schemas.microsoft.com/office/drawing/2014/main" id="{C56609EB-17FC-4762-9560-7EA5D3DCEFF3}"/>
              </a:ext>
            </a:extLst>
          </p:cNvPr>
          <p:cNvSpPr>
            <a:spLocks noGrp="1"/>
          </p:cNvSpPr>
          <p:nvPr>
            <p:ph type="title"/>
          </p:nvPr>
        </p:nvSpPr>
        <p:spPr/>
        <p:txBody>
          <a:bodyPr vert="horz" lIns="91440" tIns="45720" rIns="91440" bIns="45720" rtlCol="0" anchor="ctr">
            <a:noAutofit/>
          </a:bodyPr>
          <a:lstStyle/>
          <a:p>
            <a:r>
              <a:rPr lang="en-IN" dirty="0"/>
              <a:t>Task failure</a:t>
            </a:r>
          </a:p>
        </p:txBody>
      </p:sp>
      <p:grpSp>
        <p:nvGrpSpPr>
          <p:cNvPr id="4" name="Group 3">
            <a:extLst>
              <a:ext uri="{FF2B5EF4-FFF2-40B4-BE49-F238E27FC236}">
                <a16:creationId xmlns:a16="http://schemas.microsoft.com/office/drawing/2014/main" id="{896ADAB2-6FFD-40B1-81A0-130C38104DB7}"/>
              </a:ext>
            </a:extLst>
          </p:cNvPr>
          <p:cNvGrpSpPr/>
          <p:nvPr/>
        </p:nvGrpSpPr>
        <p:grpSpPr>
          <a:xfrm>
            <a:off x="5967026" y="1915432"/>
            <a:ext cx="2914648" cy="3352007"/>
            <a:chOff x="657224" y="3674049"/>
            <a:chExt cx="2600325" cy="3026789"/>
          </a:xfrm>
        </p:grpSpPr>
        <p:sp>
          <p:nvSpPr>
            <p:cNvPr id="5" name="Rectangle 4">
              <a:extLst>
                <a:ext uri="{FF2B5EF4-FFF2-40B4-BE49-F238E27FC236}">
                  <a16:creationId xmlns:a16="http://schemas.microsoft.com/office/drawing/2014/main" id="{3FFB591D-04C8-4FB9-9408-7C4269015564}"/>
                </a:ext>
              </a:extLst>
            </p:cNvPr>
            <p:cNvSpPr/>
            <p:nvPr/>
          </p:nvSpPr>
          <p:spPr>
            <a:xfrm>
              <a:off x="657224" y="3674049"/>
              <a:ext cx="2600325" cy="30267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29F49847-86F8-45B9-941A-35564E3B5282}"/>
                </a:ext>
              </a:extLst>
            </p:cNvPr>
            <p:cNvSpPr/>
            <p:nvPr/>
          </p:nvSpPr>
          <p:spPr>
            <a:xfrm>
              <a:off x="942976" y="3786188"/>
              <a:ext cx="2000250" cy="657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Node Manager</a:t>
              </a:r>
            </a:p>
          </p:txBody>
        </p:sp>
        <p:sp>
          <p:nvSpPr>
            <p:cNvPr id="7" name="TextBox 6">
              <a:extLst>
                <a:ext uri="{FF2B5EF4-FFF2-40B4-BE49-F238E27FC236}">
                  <a16:creationId xmlns:a16="http://schemas.microsoft.com/office/drawing/2014/main" id="{9377DB4E-10F6-4062-B31F-FDAB0BF213BD}"/>
                </a:ext>
              </a:extLst>
            </p:cNvPr>
            <p:cNvSpPr txBox="1"/>
            <p:nvPr/>
          </p:nvSpPr>
          <p:spPr>
            <a:xfrm>
              <a:off x="957261" y="4651874"/>
              <a:ext cx="1985966" cy="1584118"/>
            </a:xfrm>
            <a:prstGeom prst="rect">
              <a:avLst/>
            </a:prstGeom>
            <a:noFill/>
            <a:ln>
              <a:solidFill>
                <a:schemeClr val="tx1"/>
              </a:solidFill>
            </a:ln>
          </p:spPr>
          <p:txBody>
            <a:bodyPr wrap="square" rtlCol="0">
              <a:spAutoFit/>
            </a:bodyPr>
            <a:lstStyle/>
            <a:p>
              <a:r>
                <a:rPr lang="en-IN" dirty="0"/>
                <a:t>       Task JVM</a:t>
              </a:r>
            </a:p>
            <a:p>
              <a:endParaRPr lang="en-IN" dirty="0"/>
            </a:p>
            <a:p>
              <a:endParaRPr lang="en-IN" dirty="0"/>
            </a:p>
            <a:p>
              <a:endParaRPr lang="en-IN" dirty="0"/>
            </a:p>
            <a:p>
              <a:endParaRPr lang="en-IN" dirty="0"/>
            </a:p>
            <a:p>
              <a:endParaRPr lang="en-IN" dirty="0"/>
            </a:p>
          </p:txBody>
        </p:sp>
        <p:sp>
          <p:nvSpPr>
            <p:cNvPr id="8" name="Rectangle 7">
              <a:extLst>
                <a:ext uri="{FF2B5EF4-FFF2-40B4-BE49-F238E27FC236}">
                  <a16:creationId xmlns:a16="http://schemas.microsoft.com/office/drawing/2014/main" id="{34113852-628C-4BFD-93B7-743CD27CC9F2}"/>
                </a:ext>
              </a:extLst>
            </p:cNvPr>
            <p:cNvSpPr/>
            <p:nvPr/>
          </p:nvSpPr>
          <p:spPr>
            <a:xfrm>
              <a:off x="1328735" y="5393113"/>
              <a:ext cx="1409700" cy="700448"/>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Map or Reduce Tasks</a:t>
              </a:r>
            </a:p>
          </p:txBody>
        </p:sp>
        <p:sp>
          <p:nvSpPr>
            <p:cNvPr id="9" name="Rectangle 8">
              <a:extLst>
                <a:ext uri="{FF2B5EF4-FFF2-40B4-BE49-F238E27FC236}">
                  <a16:creationId xmlns:a16="http://schemas.microsoft.com/office/drawing/2014/main" id="{3C0E9D53-4F01-4EB0-B095-A704D28698FD}"/>
                </a:ext>
              </a:extLst>
            </p:cNvPr>
            <p:cNvSpPr/>
            <p:nvPr/>
          </p:nvSpPr>
          <p:spPr>
            <a:xfrm>
              <a:off x="1328735" y="4956384"/>
              <a:ext cx="1257300" cy="356758"/>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YARN Child</a:t>
              </a:r>
            </a:p>
          </p:txBody>
        </p:sp>
      </p:grpSp>
      <p:sp>
        <p:nvSpPr>
          <p:cNvPr id="10" name="Multiplication Sign 9">
            <a:extLst>
              <a:ext uri="{FF2B5EF4-FFF2-40B4-BE49-F238E27FC236}">
                <a16:creationId xmlns:a16="http://schemas.microsoft.com/office/drawing/2014/main" id="{B582BA76-B53E-4B96-855C-E8FFA4A5394D}"/>
              </a:ext>
            </a:extLst>
          </p:cNvPr>
          <p:cNvSpPr/>
          <p:nvPr/>
        </p:nvSpPr>
        <p:spPr>
          <a:xfrm>
            <a:off x="6156182" y="3591436"/>
            <a:ext cx="1662218" cy="1164303"/>
          </a:xfrm>
          <a:prstGeom prst="mathMultiply">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40677930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7DA945-9951-4EE8-8EAA-F9F93058B914}"/>
              </a:ext>
            </a:extLst>
          </p:cNvPr>
          <p:cNvSpPr>
            <a:spLocks noGrp="1"/>
          </p:cNvSpPr>
          <p:nvPr>
            <p:ph idx="1"/>
          </p:nvPr>
        </p:nvSpPr>
        <p:spPr>
          <a:xfrm>
            <a:off x="127591" y="1414131"/>
            <a:ext cx="5799043" cy="5295014"/>
          </a:xfrm>
        </p:spPr>
        <p:txBody>
          <a:bodyPr>
            <a:noAutofit/>
          </a:bodyPr>
          <a:lstStyle/>
          <a:p>
            <a:pPr algn="just"/>
            <a:r>
              <a:rPr lang="en-US" sz="2400" dirty="0"/>
              <a:t>Runtime exceptions and sudden exits of the JVM are propagated </a:t>
            </a:r>
          </a:p>
          <a:p>
            <a:pPr algn="just"/>
            <a:r>
              <a:rPr lang="en-US" sz="2400" dirty="0"/>
              <a:t>Hanging tasks are noticed by the application master </a:t>
            </a:r>
          </a:p>
          <a:p>
            <a:pPr algn="just"/>
            <a:r>
              <a:rPr lang="en-US" sz="2400" dirty="0" err="1"/>
              <a:t>mapreduce.task.time</a:t>
            </a:r>
            <a:r>
              <a:rPr lang="en-US" sz="2400" dirty="0"/>
              <a:t> out</a:t>
            </a:r>
          </a:p>
          <a:p>
            <a:pPr algn="just"/>
            <a:r>
              <a:rPr lang="en-US" sz="2400" dirty="0"/>
              <a:t>The configuration properties for determining when a task is considered to be failed are the same as the classic case.</a:t>
            </a:r>
          </a:p>
        </p:txBody>
      </p:sp>
      <p:sp>
        <p:nvSpPr>
          <p:cNvPr id="3" name="Title 2">
            <a:extLst>
              <a:ext uri="{FF2B5EF4-FFF2-40B4-BE49-F238E27FC236}">
                <a16:creationId xmlns:a16="http://schemas.microsoft.com/office/drawing/2014/main" id="{C56609EB-17FC-4762-9560-7EA5D3DCEFF3}"/>
              </a:ext>
            </a:extLst>
          </p:cNvPr>
          <p:cNvSpPr>
            <a:spLocks noGrp="1"/>
          </p:cNvSpPr>
          <p:nvPr>
            <p:ph type="title"/>
          </p:nvPr>
        </p:nvSpPr>
        <p:spPr/>
        <p:txBody>
          <a:bodyPr vert="horz" lIns="91440" tIns="45720" rIns="91440" bIns="45720" rtlCol="0" anchor="ctr">
            <a:noAutofit/>
          </a:bodyPr>
          <a:lstStyle/>
          <a:p>
            <a:r>
              <a:rPr lang="en-IN" dirty="0"/>
              <a:t>Task failure</a:t>
            </a:r>
          </a:p>
        </p:txBody>
      </p:sp>
      <p:grpSp>
        <p:nvGrpSpPr>
          <p:cNvPr id="4" name="Group 3">
            <a:extLst>
              <a:ext uri="{FF2B5EF4-FFF2-40B4-BE49-F238E27FC236}">
                <a16:creationId xmlns:a16="http://schemas.microsoft.com/office/drawing/2014/main" id="{896ADAB2-6FFD-40B1-81A0-130C38104DB7}"/>
              </a:ext>
            </a:extLst>
          </p:cNvPr>
          <p:cNvGrpSpPr/>
          <p:nvPr/>
        </p:nvGrpSpPr>
        <p:grpSpPr>
          <a:xfrm>
            <a:off x="5967026" y="1915432"/>
            <a:ext cx="2914648" cy="3352007"/>
            <a:chOff x="657224" y="3674049"/>
            <a:chExt cx="2600325" cy="3026789"/>
          </a:xfrm>
        </p:grpSpPr>
        <p:sp>
          <p:nvSpPr>
            <p:cNvPr id="5" name="Rectangle 4">
              <a:extLst>
                <a:ext uri="{FF2B5EF4-FFF2-40B4-BE49-F238E27FC236}">
                  <a16:creationId xmlns:a16="http://schemas.microsoft.com/office/drawing/2014/main" id="{3FFB591D-04C8-4FB9-9408-7C4269015564}"/>
                </a:ext>
              </a:extLst>
            </p:cNvPr>
            <p:cNvSpPr/>
            <p:nvPr/>
          </p:nvSpPr>
          <p:spPr>
            <a:xfrm>
              <a:off x="657224" y="3674049"/>
              <a:ext cx="2600325" cy="30267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29F49847-86F8-45B9-941A-35564E3B5282}"/>
                </a:ext>
              </a:extLst>
            </p:cNvPr>
            <p:cNvSpPr/>
            <p:nvPr/>
          </p:nvSpPr>
          <p:spPr>
            <a:xfrm>
              <a:off x="942976" y="3786188"/>
              <a:ext cx="2000250" cy="657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Node Manager</a:t>
              </a:r>
            </a:p>
          </p:txBody>
        </p:sp>
        <p:sp>
          <p:nvSpPr>
            <p:cNvPr id="7" name="TextBox 6">
              <a:extLst>
                <a:ext uri="{FF2B5EF4-FFF2-40B4-BE49-F238E27FC236}">
                  <a16:creationId xmlns:a16="http://schemas.microsoft.com/office/drawing/2014/main" id="{9377DB4E-10F6-4062-B31F-FDAB0BF213BD}"/>
                </a:ext>
              </a:extLst>
            </p:cNvPr>
            <p:cNvSpPr txBox="1"/>
            <p:nvPr/>
          </p:nvSpPr>
          <p:spPr>
            <a:xfrm>
              <a:off x="957261" y="4651874"/>
              <a:ext cx="1985966" cy="1584118"/>
            </a:xfrm>
            <a:prstGeom prst="rect">
              <a:avLst/>
            </a:prstGeom>
            <a:noFill/>
            <a:ln>
              <a:solidFill>
                <a:schemeClr val="tx1"/>
              </a:solidFill>
            </a:ln>
          </p:spPr>
          <p:txBody>
            <a:bodyPr wrap="square" rtlCol="0">
              <a:spAutoFit/>
            </a:bodyPr>
            <a:lstStyle/>
            <a:p>
              <a:r>
                <a:rPr lang="en-IN" dirty="0"/>
                <a:t>       Task JVM</a:t>
              </a:r>
            </a:p>
            <a:p>
              <a:endParaRPr lang="en-IN" dirty="0"/>
            </a:p>
            <a:p>
              <a:endParaRPr lang="en-IN" dirty="0"/>
            </a:p>
            <a:p>
              <a:endParaRPr lang="en-IN" dirty="0"/>
            </a:p>
            <a:p>
              <a:endParaRPr lang="en-IN" dirty="0"/>
            </a:p>
            <a:p>
              <a:endParaRPr lang="en-IN" dirty="0"/>
            </a:p>
          </p:txBody>
        </p:sp>
        <p:sp>
          <p:nvSpPr>
            <p:cNvPr id="8" name="Rectangle 7">
              <a:extLst>
                <a:ext uri="{FF2B5EF4-FFF2-40B4-BE49-F238E27FC236}">
                  <a16:creationId xmlns:a16="http://schemas.microsoft.com/office/drawing/2014/main" id="{34113852-628C-4BFD-93B7-743CD27CC9F2}"/>
                </a:ext>
              </a:extLst>
            </p:cNvPr>
            <p:cNvSpPr/>
            <p:nvPr/>
          </p:nvSpPr>
          <p:spPr>
            <a:xfrm>
              <a:off x="1328735" y="5393113"/>
              <a:ext cx="1409700" cy="700448"/>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Map or Reduce Tasks</a:t>
              </a:r>
            </a:p>
          </p:txBody>
        </p:sp>
        <p:sp>
          <p:nvSpPr>
            <p:cNvPr id="9" name="Rectangle 8">
              <a:extLst>
                <a:ext uri="{FF2B5EF4-FFF2-40B4-BE49-F238E27FC236}">
                  <a16:creationId xmlns:a16="http://schemas.microsoft.com/office/drawing/2014/main" id="{3C0E9D53-4F01-4EB0-B095-A704D28698FD}"/>
                </a:ext>
              </a:extLst>
            </p:cNvPr>
            <p:cNvSpPr/>
            <p:nvPr/>
          </p:nvSpPr>
          <p:spPr>
            <a:xfrm>
              <a:off x="1328735" y="4956384"/>
              <a:ext cx="1257300" cy="356758"/>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YARN Child</a:t>
              </a:r>
            </a:p>
          </p:txBody>
        </p:sp>
      </p:grpSp>
      <p:sp>
        <p:nvSpPr>
          <p:cNvPr id="10" name="Multiplication Sign 9">
            <a:extLst>
              <a:ext uri="{FF2B5EF4-FFF2-40B4-BE49-F238E27FC236}">
                <a16:creationId xmlns:a16="http://schemas.microsoft.com/office/drawing/2014/main" id="{B582BA76-B53E-4B96-855C-E8FFA4A5394D}"/>
              </a:ext>
            </a:extLst>
          </p:cNvPr>
          <p:cNvSpPr/>
          <p:nvPr/>
        </p:nvSpPr>
        <p:spPr>
          <a:xfrm>
            <a:off x="6156182" y="3591436"/>
            <a:ext cx="1662218" cy="1164303"/>
          </a:xfrm>
          <a:prstGeom prst="mathMultiply">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37581260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7DA945-9951-4EE8-8EAA-F9F93058B914}"/>
              </a:ext>
            </a:extLst>
          </p:cNvPr>
          <p:cNvSpPr>
            <a:spLocks noGrp="1"/>
          </p:cNvSpPr>
          <p:nvPr>
            <p:ph idx="1"/>
          </p:nvPr>
        </p:nvSpPr>
        <p:spPr>
          <a:xfrm>
            <a:off x="127591" y="1414131"/>
            <a:ext cx="5799043" cy="5295014"/>
          </a:xfrm>
        </p:spPr>
        <p:txBody>
          <a:bodyPr>
            <a:noAutofit/>
          </a:bodyPr>
          <a:lstStyle/>
          <a:p>
            <a:pPr algn="just"/>
            <a:r>
              <a:rPr lang="en-US" sz="2400" dirty="0" err="1"/>
              <a:t>mapreduce.map.maxattempts</a:t>
            </a:r>
            <a:endParaRPr lang="en-US" sz="2400" dirty="0"/>
          </a:p>
        </p:txBody>
      </p:sp>
      <p:sp>
        <p:nvSpPr>
          <p:cNvPr id="3" name="Title 2">
            <a:extLst>
              <a:ext uri="{FF2B5EF4-FFF2-40B4-BE49-F238E27FC236}">
                <a16:creationId xmlns:a16="http://schemas.microsoft.com/office/drawing/2014/main" id="{C56609EB-17FC-4762-9560-7EA5D3DCEFF3}"/>
              </a:ext>
            </a:extLst>
          </p:cNvPr>
          <p:cNvSpPr>
            <a:spLocks noGrp="1"/>
          </p:cNvSpPr>
          <p:nvPr>
            <p:ph type="title"/>
          </p:nvPr>
        </p:nvSpPr>
        <p:spPr/>
        <p:txBody>
          <a:bodyPr vert="horz" lIns="91440" tIns="45720" rIns="91440" bIns="45720" rtlCol="0" anchor="ctr">
            <a:noAutofit/>
          </a:bodyPr>
          <a:lstStyle/>
          <a:p>
            <a:r>
              <a:rPr lang="en-IN" dirty="0"/>
              <a:t>Task failure</a:t>
            </a:r>
          </a:p>
        </p:txBody>
      </p:sp>
      <p:grpSp>
        <p:nvGrpSpPr>
          <p:cNvPr id="4" name="Group 3">
            <a:extLst>
              <a:ext uri="{FF2B5EF4-FFF2-40B4-BE49-F238E27FC236}">
                <a16:creationId xmlns:a16="http://schemas.microsoft.com/office/drawing/2014/main" id="{896ADAB2-6FFD-40B1-81A0-130C38104DB7}"/>
              </a:ext>
            </a:extLst>
          </p:cNvPr>
          <p:cNvGrpSpPr/>
          <p:nvPr/>
        </p:nvGrpSpPr>
        <p:grpSpPr>
          <a:xfrm>
            <a:off x="5967026" y="1915432"/>
            <a:ext cx="2914648" cy="3352007"/>
            <a:chOff x="657224" y="3674049"/>
            <a:chExt cx="2600325" cy="3026789"/>
          </a:xfrm>
        </p:grpSpPr>
        <p:sp>
          <p:nvSpPr>
            <p:cNvPr id="5" name="Rectangle 4">
              <a:extLst>
                <a:ext uri="{FF2B5EF4-FFF2-40B4-BE49-F238E27FC236}">
                  <a16:creationId xmlns:a16="http://schemas.microsoft.com/office/drawing/2014/main" id="{3FFB591D-04C8-4FB9-9408-7C4269015564}"/>
                </a:ext>
              </a:extLst>
            </p:cNvPr>
            <p:cNvSpPr/>
            <p:nvPr/>
          </p:nvSpPr>
          <p:spPr>
            <a:xfrm>
              <a:off x="657224" y="3674049"/>
              <a:ext cx="2600325" cy="30267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29F49847-86F8-45B9-941A-35564E3B5282}"/>
                </a:ext>
              </a:extLst>
            </p:cNvPr>
            <p:cNvSpPr/>
            <p:nvPr/>
          </p:nvSpPr>
          <p:spPr>
            <a:xfrm>
              <a:off x="942976" y="3786188"/>
              <a:ext cx="2000250" cy="657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Node Manager</a:t>
              </a:r>
            </a:p>
          </p:txBody>
        </p:sp>
        <p:sp>
          <p:nvSpPr>
            <p:cNvPr id="7" name="TextBox 6">
              <a:extLst>
                <a:ext uri="{FF2B5EF4-FFF2-40B4-BE49-F238E27FC236}">
                  <a16:creationId xmlns:a16="http://schemas.microsoft.com/office/drawing/2014/main" id="{9377DB4E-10F6-4062-B31F-FDAB0BF213BD}"/>
                </a:ext>
              </a:extLst>
            </p:cNvPr>
            <p:cNvSpPr txBox="1"/>
            <p:nvPr/>
          </p:nvSpPr>
          <p:spPr>
            <a:xfrm>
              <a:off x="957261" y="4651874"/>
              <a:ext cx="1985966" cy="1584118"/>
            </a:xfrm>
            <a:prstGeom prst="rect">
              <a:avLst/>
            </a:prstGeom>
            <a:noFill/>
            <a:ln>
              <a:solidFill>
                <a:schemeClr val="tx1"/>
              </a:solidFill>
            </a:ln>
          </p:spPr>
          <p:txBody>
            <a:bodyPr wrap="square" rtlCol="0">
              <a:spAutoFit/>
            </a:bodyPr>
            <a:lstStyle/>
            <a:p>
              <a:r>
                <a:rPr lang="en-IN" dirty="0"/>
                <a:t>       Task JVM</a:t>
              </a:r>
            </a:p>
            <a:p>
              <a:endParaRPr lang="en-IN" dirty="0"/>
            </a:p>
            <a:p>
              <a:endParaRPr lang="en-IN" dirty="0"/>
            </a:p>
            <a:p>
              <a:endParaRPr lang="en-IN" dirty="0"/>
            </a:p>
            <a:p>
              <a:endParaRPr lang="en-IN" dirty="0"/>
            </a:p>
            <a:p>
              <a:endParaRPr lang="en-IN" dirty="0"/>
            </a:p>
          </p:txBody>
        </p:sp>
        <p:sp>
          <p:nvSpPr>
            <p:cNvPr id="8" name="Rectangle 7">
              <a:extLst>
                <a:ext uri="{FF2B5EF4-FFF2-40B4-BE49-F238E27FC236}">
                  <a16:creationId xmlns:a16="http://schemas.microsoft.com/office/drawing/2014/main" id="{34113852-628C-4BFD-93B7-743CD27CC9F2}"/>
                </a:ext>
              </a:extLst>
            </p:cNvPr>
            <p:cNvSpPr/>
            <p:nvPr/>
          </p:nvSpPr>
          <p:spPr>
            <a:xfrm>
              <a:off x="1328735" y="5393113"/>
              <a:ext cx="1409700" cy="700448"/>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Map or Reduce Tasks</a:t>
              </a:r>
            </a:p>
          </p:txBody>
        </p:sp>
        <p:sp>
          <p:nvSpPr>
            <p:cNvPr id="9" name="Rectangle 8">
              <a:extLst>
                <a:ext uri="{FF2B5EF4-FFF2-40B4-BE49-F238E27FC236}">
                  <a16:creationId xmlns:a16="http://schemas.microsoft.com/office/drawing/2014/main" id="{3C0E9D53-4F01-4EB0-B095-A704D28698FD}"/>
                </a:ext>
              </a:extLst>
            </p:cNvPr>
            <p:cNvSpPr/>
            <p:nvPr/>
          </p:nvSpPr>
          <p:spPr>
            <a:xfrm>
              <a:off x="1328735" y="4956384"/>
              <a:ext cx="1257300" cy="356758"/>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YARN Child</a:t>
              </a:r>
            </a:p>
          </p:txBody>
        </p:sp>
      </p:grpSp>
      <p:sp>
        <p:nvSpPr>
          <p:cNvPr id="10" name="Multiplication Sign 9">
            <a:extLst>
              <a:ext uri="{FF2B5EF4-FFF2-40B4-BE49-F238E27FC236}">
                <a16:creationId xmlns:a16="http://schemas.microsoft.com/office/drawing/2014/main" id="{B582BA76-B53E-4B96-855C-E8FFA4A5394D}"/>
              </a:ext>
            </a:extLst>
          </p:cNvPr>
          <p:cNvSpPr/>
          <p:nvPr/>
        </p:nvSpPr>
        <p:spPr>
          <a:xfrm>
            <a:off x="6156182" y="3591436"/>
            <a:ext cx="1662218" cy="1164303"/>
          </a:xfrm>
          <a:prstGeom prst="mathMultiply">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36149340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7DA945-9951-4EE8-8EAA-F9F93058B914}"/>
              </a:ext>
            </a:extLst>
          </p:cNvPr>
          <p:cNvSpPr>
            <a:spLocks noGrp="1"/>
          </p:cNvSpPr>
          <p:nvPr>
            <p:ph idx="1"/>
          </p:nvPr>
        </p:nvSpPr>
        <p:spPr>
          <a:xfrm>
            <a:off x="127591" y="1414131"/>
            <a:ext cx="5799043" cy="5295014"/>
          </a:xfrm>
        </p:spPr>
        <p:txBody>
          <a:bodyPr>
            <a:noAutofit/>
          </a:bodyPr>
          <a:lstStyle/>
          <a:p>
            <a:pPr algn="just"/>
            <a:r>
              <a:rPr lang="en-US" sz="2400" dirty="0" err="1"/>
              <a:t>mapreduce.map.maxattempts</a:t>
            </a:r>
            <a:endParaRPr lang="en-US" sz="2400" dirty="0"/>
          </a:p>
          <a:p>
            <a:pPr algn="just"/>
            <a:r>
              <a:rPr lang="en-US" sz="2400" dirty="0" err="1"/>
              <a:t>mapreduce.reduce.maxattempts</a:t>
            </a:r>
            <a:r>
              <a:rPr lang="en-US" sz="2400" dirty="0"/>
              <a:t>. </a:t>
            </a:r>
          </a:p>
        </p:txBody>
      </p:sp>
      <p:sp>
        <p:nvSpPr>
          <p:cNvPr id="3" name="Title 2">
            <a:extLst>
              <a:ext uri="{FF2B5EF4-FFF2-40B4-BE49-F238E27FC236}">
                <a16:creationId xmlns:a16="http://schemas.microsoft.com/office/drawing/2014/main" id="{C56609EB-17FC-4762-9560-7EA5D3DCEFF3}"/>
              </a:ext>
            </a:extLst>
          </p:cNvPr>
          <p:cNvSpPr>
            <a:spLocks noGrp="1"/>
          </p:cNvSpPr>
          <p:nvPr>
            <p:ph type="title"/>
          </p:nvPr>
        </p:nvSpPr>
        <p:spPr/>
        <p:txBody>
          <a:bodyPr vert="horz" lIns="91440" tIns="45720" rIns="91440" bIns="45720" rtlCol="0" anchor="ctr">
            <a:noAutofit/>
          </a:bodyPr>
          <a:lstStyle/>
          <a:p>
            <a:r>
              <a:rPr lang="en-IN" dirty="0"/>
              <a:t>Task failure</a:t>
            </a:r>
          </a:p>
        </p:txBody>
      </p:sp>
      <p:grpSp>
        <p:nvGrpSpPr>
          <p:cNvPr id="4" name="Group 3">
            <a:extLst>
              <a:ext uri="{FF2B5EF4-FFF2-40B4-BE49-F238E27FC236}">
                <a16:creationId xmlns:a16="http://schemas.microsoft.com/office/drawing/2014/main" id="{896ADAB2-6FFD-40B1-81A0-130C38104DB7}"/>
              </a:ext>
            </a:extLst>
          </p:cNvPr>
          <p:cNvGrpSpPr/>
          <p:nvPr/>
        </p:nvGrpSpPr>
        <p:grpSpPr>
          <a:xfrm>
            <a:off x="5967026" y="1915432"/>
            <a:ext cx="2914648" cy="3352007"/>
            <a:chOff x="657224" y="3674049"/>
            <a:chExt cx="2600325" cy="3026789"/>
          </a:xfrm>
        </p:grpSpPr>
        <p:sp>
          <p:nvSpPr>
            <p:cNvPr id="5" name="Rectangle 4">
              <a:extLst>
                <a:ext uri="{FF2B5EF4-FFF2-40B4-BE49-F238E27FC236}">
                  <a16:creationId xmlns:a16="http://schemas.microsoft.com/office/drawing/2014/main" id="{3FFB591D-04C8-4FB9-9408-7C4269015564}"/>
                </a:ext>
              </a:extLst>
            </p:cNvPr>
            <p:cNvSpPr/>
            <p:nvPr/>
          </p:nvSpPr>
          <p:spPr>
            <a:xfrm>
              <a:off x="657224" y="3674049"/>
              <a:ext cx="2600325" cy="30267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29F49847-86F8-45B9-941A-35564E3B5282}"/>
                </a:ext>
              </a:extLst>
            </p:cNvPr>
            <p:cNvSpPr/>
            <p:nvPr/>
          </p:nvSpPr>
          <p:spPr>
            <a:xfrm>
              <a:off x="942976" y="3786188"/>
              <a:ext cx="2000250" cy="657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Node Manager</a:t>
              </a:r>
            </a:p>
          </p:txBody>
        </p:sp>
        <p:sp>
          <p:nvSpPr>
            <p:cNvPr id="7" name="TextBox 6">
              <a:extLst>
                <a:ext uri="{FF2B5EF4-FFF2-40B4-BE49-F238E27FC236}">
                  <a16:creationId xmlns:a16="http://schemas.microsoft.com/office/drawing/2014/main" id="{9377DB4E-10F6-4062-B31F-FDAB0BF213BD}"/>
                </a:ext>
              </a:extLst>
            </p:cNvPr>
            <p:cNvSpPr txBox="1"/>
            <p:nvPr/>
          </p:nvSpPr>
          <p:spPr>
            <a:xfrm>
              <a:off x="957261" y="4651874"/>
              <a:ext cx="1985966" cy="1584118"/>
            </a:xfrm>
            <a:prstGeom prst="rect">
              <a:avLst/>
            </a:prstGeom>
            <a:noFill/>
            <a:ln>
              <a:solidFill>
                <a:schemeClr val="tx1"/>
              </a:solidFill>
            </a:ln>
          </p:spPr>
          <p:txBody>
            <a:bodyPr wrap="square" rtlCol="0">
              <a:spAutoFit/>
            </a:bodyPr>
            <a:lstStyle/>
            <a:p>
              <a:r>
                <a:rPr lang="en-IN" dirty="0"/>
                <a:t>       Task JVM</a:t>
              </a:r>
            </a:p>
            <a:p>
              <a:endParaRPr lang="en-IN" dirty="0"/>
            </a:p>
            <a:p>
              <a:endParaRPr lang="en-IN" dirty="0"/>
            </a:p>
            <a:p>
              <a:endParaRPr lang="en-IN" dirty="0"/>
            </a:p>
            <a:p>
              <a:endParaRPr lang="en-IN" dirty="0"/>
            </a:p>
            <a:p>
              <a:endParaRPr lang="en-IN" dirty="0"/>
            </a:p>
          </p:txBody>
        </p:sp>
        <p:sp>
          <p:nvSpPr>
            <p:cNvPr id="8" name="Rectangle 7">
              <a:extLst>
                <a:ext uri="{FF2B5EF4-FFF2-40B4-BE49-F238E27FC236}">
                  <a16:creationId xmlns:a16="http://schemas.microsoft.com/office/drawing/2014/main" id="{34113852-628C-4BFD-93B7-743CD27CC9F2}"/>
                </a:ext>
              </a:extLst>
            </p:cNvPr>
            <p:cNvSpPr/>
            <p:nvPr/>
          </p:nvSpPr>
          <p:spPr>
            <a:xfrm>
              <a:off x="1328735" y="5393113"/>
              <a:ext cx="1409700" cy="700448"/>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Map or Reduce Tasks</a:t>
              </a:r>
            </a:p>
          </p:txBody>
        </p:sp>
        <p:sp>
          <p:nvSpPr>
            <p:cNvPr id="9" name="Rectangle 8">
              <a:extLst>
                <a:ext uri="{FF2B5EF4-FFF2-40B4-BE49-F238E27FC236}">
                  <a16:creationId xmlns:a16="http://schemas.microsoft.com/office/drawing/2014/main" id="{3C0E9D53-4F01-4EB0-B095-A704D28698FD}"/>
                </a:ext>
              </a:extLst>
            </p:cNvPr>
            <p:cNvSpPr/>
            <p:nvPr/>
          </p:nvSpPr>
          <p:spPr>
            <a:xfrm>
              <a:off x="1328735" y="4956384"/>
              <a:ext cx="1257300" cy="356758"/>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YARN Child</a:t>
              </a:r>
            </a:p>
          </p:txBody>
        </p:sp>
      </p:grpSp>
      <p:sp>
        <p:nvSpPr>
          <p:cNvPr id="10" name="Multiplication Sign 9">
            <a:extLst>
              <a:ext uri="{FF2B5EF4-FFF2-40B4-BE49-F238E27FC236}">
                <a16:creationId xmlns:a16="http://schemas.microsoft.com/office/drawing/2014/main" id="{B582BA76-B53E-4B96-855C-E8FFA4A5394D}"/>
              </a:ext>
            </a:extLst>
          </p:cNvPr>
          <p:cNvSpPr/>
          <p:nvPr/>
        </p:nvSpPr>
        <p:spPr>
          <a:xfrm>
            <a:off x="6156182" y="3591436"/>
            <a:ext cx="1662218" cy="1164303"/>
          </a:xfrm>
          <a:prstGeom prst="mathMultiply">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8465273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7DA945-9951-4EE8-8EAA-F9F93058B914}"/>
              </a:ext>
            </a:extLst>
          </p:cNvPr>
          <p:cNvSpPr>
            <a:spLocks noGrp="1"/>
          </p:cNvSpPr>
          <p:nvPr>
            <p:ph idx="1"/>
          </p:nvPr>
        </p:nvSpPr>
        <p:spPr>
          <a:xfrm>
            <a:off x="127591" y="1414131"/>
            <a:ext cx="5799043" cy="5295014"/>
          </a:xfrm>
        </p:spPr>
        <p:txBody>
          <a:bodyPr>
            <a:noAutofit/>
          </a:bodyPr>
          <a:lstStyle/>
          <a:p>
            <a:pPr algn="just"/>
            <a:r>
              <a:rPr lang="en-US" sz="2400" dirty="0" err="1"/>
              <a:t>mapreduce.map.maxattempts</a:t>
            </a:r>
            <a:endParaRPr lang="en-US" sz="2400" dirty="0"/>
          </a:p>
          <a:p>
            <a:pPr algn="just"/>
            <a:r>
              <a:rPr lang="en-US" sz="2400" dirty="0" err="1"/>
              <a:t>mapreduce.reduce.maxattempts</a:t>
            </a:r>
            <a:r>
              <a:rPr lang="en-US" sz="2400" dirty="0"/>
              <a:t>. </a:t>
            </a:r>
          </a:p>
          <a:p>
            <a:pPr algn="just"/>
            <a:r>
              <a:rPr lang="en-US" sz="2400" dirty="0" err="1"/>
              <a:t>mapreduce.map.failures.maxpercent</a:t>
            </a:r>
            <a:endParaRPr lang="en-US" sz="2400" dirty="0"/>
          </a:p>
        </p:txBody>
      </p:sp>
      <p:sp>
        <p:nvSpPr>
          <p:cNvPr id="3" name="Title 2">
            <a:extLst>
              <a:ext uri="{FF2B5EF4-FFF2-40B4-BE49-F238E27FC236}">
                <a16:creationId xmlns:a16="http://schemas.microsoft.com/office/drawing/2014/main" id="{C56609EB-17FC-4762-9560-7EA5D3DCEFF3}"/>
              </a:ext>
            </a:extLst>
          </p:cNvPr>
          <p:cNvSpPr>
            <a:spLocks noGrp="1"/>
          </p:cNvSpPr>
          <p:nvPr>
            <p:ph type="title"/>
          </p:nvPr>
        </p:nvSpPr>
        <p:spPr/>
        <p:txBody>
          <a:bodyPr vert="horz" lIns="91440" tIns="45720" rIns="91440" bIns="45720" rtlCol="0" anchor="ctr">
            <a:noAutofit/>
          </a:bodyPr>
          <a:lstStyle/>
          <a:p>
            <a:r>
              <a:rPr lang="en-IN" dirty="0"/>
              <a:t>Task failure</a:t>
            </a:r>
          </a:p>
        </p:txBody>
      </p:sp>
      <p:grpSp>
        <p:nvGrpSpPr>
          <p:cNvPr id="4" name="Group 3">
            <a:extLst>
              <a:ext uri="{FF2B5EF4-FFF2-40B4-BE49-F238E27FC236}">
                <a16:creationId xmlns:a16="http://schemas.microsoft.com/office/drawing/2014/main" id="{896ADAB2-6FFD-40B1-81A0-130C38104DB7}"/>
              </a:ext>
            </a:extLst>
          </p:cNvPr>
          <p:cNvGrpSpPr/>
          <p:nvPr/>
        </p:nvGrpSpPr>
        <p:grpSpPr>
          <a:xfrm>
            <a:off x="5967026" y="1915432"/>
            <a:ext cx="2914648" cy="3352007"/>
            <a:chOff x="657224" y="3674049"/>
            <a:chExt cx="2600325" cy="3026789"/>
          </a:xfrm>
        </p:grpSpPr>
        <p:sp>
          <p:nvSpPr>
            <p:cNvPr id="5" name="Rectangle 4">
              <a:extLst>
                <a:ext uri="{FF2B5EF4-FFF2-40B4-BE49-F238E27FC236}">
                  <a16:creationId xmlns:a16="http://schemas.microsoft.com/office/drawing/2014/main" id="{3FFB591D-04C8-4FB9-9408-7C4269015564}"/>
                </a:ext>
              </a:extLst>
            </p:cNvPr>
            <p:cNvSpPr/>
            <p:nvPr/>
          </p:nvSpPr>
          <p:spPr>
            <a:xfrm>
              <a:off x="657224" y="3674049"/>
              <a:ext cx="2600325" cy="30267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29F49847-86F8-45B9-941A-35564E3B5282}"/>
                </a:ext>
              </a:extLst>
            </p:cNvPr>
            <p:cNvSpPr/>
            <p:nvPr/>
          </p:nvSpPr>
          <p:spPr>
            <a:xfrm>
              <a:off x="942976" y="3786188"/>
              <a:ext cx="2000250" cy="657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Node Manager</a:t>
              </a:r>
            </a:p>
          </p:txBody>
        </p:sp>
        <p:sp>
          <p:nvSpPr>
            <p:cNvPr id="7" name="TextBox 6">
              <a:extLst>
                <a:ext uri="{FF2B5EF4-FFF2-40B4-BE49-F238E27FC236}">
                  <a16:creationId xmlns:a16="http://schemas.microsoft.com/office/drawing/2014/main" id="{9377DB4E-10F6-4062-B31F-FDAB0BF213BD}"/>
                </a:ext>
              </a:extLst>
            </p:cNvPr>
            <p:cNvSpPr txBox="1"/>
            <p:nvPr/>
          </p:nvSpPr>
          <p:spPr>
            <a:xfrm>
              <a:off x="957261" y="4651874"/>
              <a:ext cx="1985966" cy="1584118"/>
            </a:xfrm>
            <a:prstGeom prst="rect">
              <a:avLst/>
            </a:prstGeom>
            <a:noFill/>
            <a:ln>
              <a:solidFill>
                <a:schemeClr val="tx1"/>
              </a:solidFill>
            </a:ln>
          </p:spPr>
          <p:txBody>
            <a:bodyPr wrap="square" rtlCol="0">
              <a:spAutoFit/>
            </a:bodyPr>
            <a:lstStyle/>
            <a:p>
              <a:r>
                <a:rPr lang="en-IN" dirty="0"/>
                <a:t>       Task JVM</a:t>
              </a:r>
            </a:p>
            <a:p>
              <a:endParaRPr lang="en-IN" dirty="0"/>
            </a:p>
            <a:p>
              <a:endParaRPr lang="en-IN" dirty="0"/>
            </a:p>
            <a:p>
              <a:endParaRPr lang="en-IN" dirty="0"/>
            </a:p>
            <a:p>
              <a:endParaRPr lang="en-IN" dirty="0"/>
            </a:p>
            <a:p>
              <a:endParaRPr lang="en-IN" dirty="0"/>
            </a:p>
          </p:txBody>
        </p:sp>
        <p:sp>
          <p:nvSpPr>
            <p:cNvPr id="8" name="Rectangle 7">
              <a:extLst>
                <a:ext uri="{FF2B5EF4-FFF2-40B4-BE49-F238E27FC236}">
                  <a16:creationId xmlns:a16="http://schemas.microsoft.com/office/drawing/2014/main" id="{34113852-628C-4BFD-93B7-743CD27CC9F2}"/>
                </a:ext>
              </a:extLst>
            </p:cNvPr>
            <p:cNvSpPr/>
            <p:nvPr/>
          </p:nvSpPr>
          <p:spPr>
            <a:xfrm>
              <a:off x="1328735" y="5393113"/>
              <a:ext cx="1409700" cy="700448"/>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Map or Reduce Tasks</a:t>
              </a:r>
            </a:p>
          </p:txBody>
        </p:sp>
        <p:sp>
          <p:nvSpPr>
            <p:cNvPr id="9" name="Rectangle 8">
              <a:extLst>
                <a:ext uri="{FF2B5EF4-FFF2-40B4-BE49-F238E27FC236}">
                  <a16:creationId xmlns:a16="http://schemas.microsoft.com/office/drawing/2014/main" id="{3C0E9D53-4F01-4EB0-B095-A704D28698FD}"/>
                </a:ext>
              </a:extLst>
            </p:cNvPr>
            <p:cNvSpPr/>
            <p:nvPr/>
          </p:nvSpPr>
          <p:spPr>
            <a:xfrm>
              <a:off x="1328735" y="4956384"/>
              <a:ext cx="1257300" cy="356758"/>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YARN Child</a:t>
              </a:r>
            </a:p>
          </p:txBody>
        </p:sp>
      </p:grpSp>
      <p:sp>
        <p:nvSpPr>
          <p:cNvPr id="10" name="Multiplication Sign 9">
            <a:extLst>
              <a:ext uri="{FF2B5EF4-FFF2-40B4-BE49-F238E27FC236}">
                <a16:creationId xmlns:a16="http://schemas.microsoft.com/office/drawing/2014/main" id="{B582BA76-B53E-4B96-855C-E8FFA4A5394D}"/>
              </a:ext>
            </a:extLst>
          </p:cNvPr>
          <p:cNvSpPr/>
          <p:nvPr/>
        </p:nvSpPr>
        <p:spPr>
          <a:xfrm>
            <a:off x="6156182" y="3591436"/>
            <a:ext cx="1662218" cy="1164303"/>
          </a:xfrm>
          <a:prstGeom prst="mathMultiply">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17068237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7DA945-9951-4EE8-8EAA-F9F93058B914}"/>
              </a:ext>
            </a:extLst>
          </p:cNvPr>
          <p:cNvSpPr>
            <a:spLocks noGrp="1"/>
          </p:cNvSpPr>
          <p:nvPr>
            <p:ph idx="1"/>
          </p:nvPr>
        </p:nvSpPr>
        <p:spPr>
          <a:xfrm>
            <a:off x="127591" y="1414131"/>
            <a:ext cx="5799043" cy="5295014"/>
          </a:xfrm>
        </p:spPr>
        <p:txBody>
          <a:bodyPr>
            <a:noAutofit/>
          </a:bodyPr>
          <a:lstStyle/>
          <a:p>
            <a:pPr algn="just"/>
            <a:r>
              <a:rPr lang="en-US" sz="2400" dirty="0" err="1"/>
              <a:t>mapreduce.map.maxattempts</a:t>
            </a:r>
            <a:endParaRPr lang="en-US" sz="2400" dirty="0"/>
          </a:p>
          <a:p>
            <a:pPr algn="just"/>
            <a:r>
              <a:rPr lang="en-US" sz="2400" dirty="0" err="1"/>
              <a:t>mapreduce.reduce.maxattempts</a:t>
            </a:r>
            <a:r>
              <a:rPr lang="en-US" sz="2400" dirty="0"/>
              <a:t>. </a:t>
            </a:r>
          </a:p>
          <a:p>
            <a:pPr algn="just"/>
            <a:r>
              <a:rPr lang="en-US" sz="2400" dirty="0" err="1"/>
              <a:t>mapreduce.map.failures.maxpercent</a:t>
            </a:r>
            <a:endParaRPr lang="en-US" sz="2400" dirty="0"/>
          </a:p>
          <a:p>
            <a:pPr algn="just"/>
            <a:r>
              <a:rPr lang="en-US" sz="2400" dirty="0" err="1"/>
              <a:t>mapreduce.reduce.failures.maxpercent</a:t>
            </a:r>
            <a:endParaRPr lang="en-IN" sz="2400" dirty="0"/>
          </a:p>
        </p:txBody>
      </p:sp>
      <p:sp>
        <p:nvSpPr>
          <p:cNvPr id="3" name="Title 2">
            <a:extLst>
              <a:ext uri="{FF2B5EF4-FFF2-40B4-BE49-F238E27FC236}">
                <a16:creationId xmlns:a16="http://schemas.microsoft.com/office/drawing/2014/main" id="{C56609EB-17FC-4762-9560-7EA5D3DCEFF3}"/>
              </a:ext>
            </a:extLst>
          </p:cNvPr>
          <p:cNvSpPr>
            <a:spLocks noGrp="1"/>
          </p:cNvSpPr>
          <p:nvPr>
            <p:ph type="title"/>
          </p:nvPr>
        </p:nvSpPr>
        <p:spPr/>
        <p:txBody>
          <a:bodyPr vert="horz" lIns="91440" tIns="45720" rIns="91440" bIns="45720" rtlCol="0" anchor="ctr">
            <a:noAutofit/>
          </a:bodyPr>
          <a:lstStyle/>
          <a:p>
            <a:r>
              <a:rPr lang="en-IN" dirty="0"/>
              <a:t>Task failure</a:t>
            </a:r>
          </a:p>
        </p:txBody>
      </p:sp>
      <p:grpSp>
        <p:nvGrpSpPr>
          <p:cNvPr id="4" name="Group 3">
            <a:extLst>
              <a:ext uri="{FF2B5EF4-FFF2-40B4-BE49-F238E27FC236}">
                <a16:creationId xmlns:a16="http://schemas.microsoft.com/office/drawing/2014/main" id="{896ADAB2-6FFD-40B1-81A0-130C38104DB7}"/>
              </a:ext>
            </a:extLst>
          </p:cNvPr>
          <p:cNvGrpSpPr/>
          <p:nvPr/>
        </p:nvGrpSpPr>
        <p:grpSpPr>
          <a:xfrm>
            <a:off x="5967026" y="1915432"/>
            <a:ext cx="2914648" cy="3352007"/>
            <a:chOff x="657224" y="3674049"/>
            <a:chExt cx="2600325" cy="3026789"/>
          </a:xfrm>
        </p:grpSpPr>
        <p:sp>
          <p:nvSpPr>
            <p:cNvPr id="5" name="Rectangle 4">
              <a:extLst>
                <a:ext uri="{FF2B5EF4-FFF2-40B4-BE49-F238E27FC236}">
                  <a16:creationId xmlns:a16="http://schemas.microsoft.com/office/drawing/2014/main" id="{3FFB591D-04C8-4FB9-9408-7C4269015564}"/>
                </a:ext>
              </a:extLst>
            </p:cNvPr>
            <p:cNvSpPr/>
            <p:nvPr/>
          </p:nvSpPr>
          <p:spPr>
            <a:xfrm>
              <a:off x="657224" y="3674049"/>
              <a:ext cx="2600325" cy="30267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29F49847-86F8-45B9-941A-35564E3B5282}"/>
                </a:ext>
              </a:extLst>
            </p:cNvPr>
            <p:cNvSpPr/>
            <p:nvPr/>
          </p:nvSpPr>
          <p:spPr>
            <a:xfrm>
              <a:off x="942976" y="3786188"/>
              <a:ext cx="2000250" cy="657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Node Manager</a:t>
              </a:r>
            </a:p>
          </p:txBody>
        </p:sp>
        <p:sp>
          <p:nvSpPr>
            <p:cNvPr id="7" name="TextBox 6">
              <a:extLst>
                <a:ext uri="{FF2B5EF4-FFF2-40B4-BE49-F238E27FC236}">
                  <a16:creationId xmlns:a16="http://schemas.microsoft.com/office/drawing/2014/main" id="{9377DB4E-10F6-4062-B31F-FDAB0BF213BD}"/>
                </a:ext>
              </a:extLst>
            </p:cNvPr>
            <p:cNvSpPr txBox="1"/>
            <p:nvPr/>
          </p:nvSpPr>
          <p:spPr>
            <a:xfrm>
              <a:off x="957261" y="4651874"/>
              <a:ext cx="1985966" cy="1584118"/>
            </a:xfrm>
            <a:prstGeom prst="rect">
              <a:avLst/>
            </a:prstGeom>
            <a:noFill/>
            <a:ln>
              <a:solidFill>
                <a:schemeClr val="tx1"/>
              </a:solidFill>
            </a:ln>
          </p:spPr>
          <p:txBody>
            <a:bodyPr wrap="square" rtlCol="0">
              <a:spAutoFit/>
            </a:bodyPr>
            <a:lstStyle/>
            <a:p>
              <a:r>
                <a:rPr lang="en-IN" dirty="0"/>
                <a:t>       Task JVM</a:t>
              </a:r>
            </a:p>
            <a:p>
              <a:endParaRPr lang="en-IN" dirty="0"/>
            </a:p>
            <a:p>
              <a:endParaRPr lang="en-IN" dirty="0"/>
            </a:p>
            <a:p>
              <a:endParaRPr lang="en-IN" dirty="0"/>
            </a:p>
            <a:p>
              <a:endParaRPr lang="en-IN" dirty="0"/>
            </a:p>
            <a:p>
              <a:endParaRPr lang="en-IN" dirty="0"/>
            </a:p>
          </p:txBody>
        </p:sp>
        <p:sp>
          <p:nvSpPr>
            <p:cNvPr id="8" name="Rectangle 7">
              <a:extLst>
                <a:ext uri="{FF2B5EF4-FFF2-40B4-BE49-F238E27FC236}">
                  <a16:creationId xmlns:a16="http://schemas.microsoft.com/office/drawing/2014/main" id="{34113852-628C-4BFD-93B7-743CD27CC9F2}"/>
                </a:ext>
              </a:extLst>
            </p:cNvPr>
            <p:cNvSpPr/>
            <p:nvPr/>
          </p:nvSpPr>
          <p:spPr>
            <a:xfrm>
              <a:off x="1328735" y="5393113"/>
              <a:ext cx="1409700" cy="700448"/>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Map or Reduce Tasks</a:t>
              </a:r>
            </a:p>
          </p:txBody>
        </p:sp>
        <p:sp>
          <p:nvSpPr>
            <p:cNvPr id="9" name="Rectangle 8">
              <a:extLst>
                <a:ext uri="{FF2B5EF4-FFF2-40B4-BE49-F238E27FC236}">
                  <a16:creationId xmlns:a16="http://schemas.microsoft.com/office/drawing/2014/main" id="{3C0E9D53-4F01-4EB0-B095-A704D28698FD}"/>
                </a:ext>
              </a:extLst>
            </p:cNvPr>
            <p:cNvSpPr/>
            <p:nvPr/>
          </p:nvSpPr>
          <p:spPr>
            <a:xfrm>
              <a:off x="1328735" y="4956384"/>
              <a:ext cx="1257300" cy="356758"/>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YARN Child</a:t>
              </a:r>
            </a:p>
          </p:txBody>
        </p:sp>
      </p:grpSp>
      <p:sp>
        <p:nvSpPr>
          <p:cNvPr id="10" name="Multiplication Sign 9">
            <a:extLst>
              <a:ext uri="{FF2B5EF4-FFF2-40B4-BE49-F238E27FC236}">
                <a16:creationId xmlns:a16="http://schemas.microsoft.com/office/drawing/2014/main" id="{B582BA76-B53E-4B96-855C-E8FFA4A5394D}"/>
              </a:ext>
            </a:extLst>
          </p:cNvPr>
          <p:cNvSpPr/>
          <p:nvPr/>
        </p:nvSpPr>
        <p:spPr>
          <a:xfrm>
            <a:off x="6156182" y="3591436"/>
            <a:ext cx="1662218" cy="1164303"/>
          </a:xfrm>
          <a:prstGeom prst="mathMultiply">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317690595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0BAA2EC-F350-4BDB-9A3B-BDD8750FEB82}"/>
              </a:ext>
            </a:extLst>
          </p:cNvPr>
          <p:cNvSpPr>
            <a:spLocks noGrp="1"/>
          </p:cNvSpPr>
          <p:nvPr>
            <p:ph idx="1"/>
          </p:nvPr>
        </p:nvSpPr>
        <p:spPr>
          <a:xfrm>
            <a:off x="255182" y="1573619"/>
            <a:ext cx="5550196" cy="5059409"/>
          </a:xfrm>
        </p:spPr>
        <p:txBody>
          <a:bodyPr>
            <a:noAutofit/>
          </a:bodyPr>
          <a:lstStyle/>
          <a:p>
            <a:pPr algn="just"/>
            <a:r>
              <a:rPr lang="en-US" sz="2600" dirty="0"/>
              <a:t>Applications in YARN are tried multiple times in the event of failure.</a:t>
            </a:r>
          </a:p>
          <a:p>
            <a:pPr algn="just"/>
            <a:r>
              <a:rPr lang="en-US" sz="2600" dirty="0" err="1"/>
              <a:t>yarn.resourcemanager.am.max</a:t>
            </a:r>
            <a:r>
              <a:rPr lang="en-US" sz="2600" dirty="0"/>
              <a:t>-retries</a:t>
            </a:r>
            <a:r>
              <a:rPr lang="en-US" sz="2600" dirty="0">
                <a:solidFill>
                  <a:schemeClr val="bg1">
                    <a:lumMod val="95000"/>
                  </a:schemeClr>
                </a:solidFill>
              </a:rPr>
              <a:t>.</a:t>
            </a:r>
          </a:p>
          <a:p>
            <a:pPr algn="just"/>
            <a:r>
              <a:rPr lang="en-US" sz="2600" dirty="0"/>
              <a:t>An application master sends periodic heartbeats to the resource manager</a:t>
            </a:r>
          </a:p>
        </p:txBody>
      </p:sp>
      <p:sp>
        <p:nvSpPr>
          <p:cNvPr id="3" name="Title 2">
            <a:extLst>
              <a:ext uri="{FF2B5EF4-FFF2-40B4-BE49-F238E27FC236}">
                <a16:creationId xmlns:a16="http://schemas.microsoft.com/office/drawing/2014/main" id="{978C0971-A1FE-4F68-A385-97AAE2D0A118}"/>
              </a:ext>
            </a:extLst>
          </p:cNvPr>
          <p:cNvSpPr>
            <a:spLocks noGrp="1"/>
          </p:cNvSpPr>
          <p:nvPr>
            <p:ph type="title"/>
          </p:nvPr>
        </p:nvSpPr>
        <p:spPr/>
        <p:txBody>
          <a:bodyPr vert="horz" lIns="91440" tIns="45720" rIns="91440" bIns="45720" rtlCol="0" anchor="ctr">
            <a:noAutofit/>
          </a:bodyPr>
          <a:lstStyle/>
          <a:p>
            <a:r>
              <a:rPr lang="en-IN" dirty="0"/>
              <a:t>Application Master Failure</a:t>
            </a:r>
          </a:p>
        </p:txBody>
      </p:sp>
      <p:pic>
        <p:nvPicPr>
          <p:cNvPr id="6" name="Picture 5">
            <a:extLst>
              <a:ext uri="{FF2B5EF4-FFF2-40B4-BE49-F238E27FC236}">
                <a16:creationId xmlns:a16="http://schemas.microsoft.com/office/drawing/2014/main" id="{42B549C9-B8D3-403E-8A4C-D234AD01E4DD}"/>
              </a:ext>
            </a:extLst>
          </p:cNvPr>
          <p:cNvPicPr>
            <a:picLocks noChangeAspect="1"/>
          </p:cNvPicPr>
          <p:nvPr/>
        </p:nvPicPr>
        <p:blipFill>
          <a:blip r:embed="rId2"/>
          <a:stretch>
            <a:fillRect/>
          </a:stretch>
        </p:blipFill>
        <p:spPr>
          <a:xfrm>
            <a:off x="5914850" y="3101811"/>
            <a:ext cx="2609314" cy="3036071"/>
          </a:xfrm>
          <a:prstGeom prst="rect">
            <a:avLst/>
          </a:prstGeom>
        </p:spPr>
      </p:pic>
    </p:spTree>
    <p:extLst>
      <p:ext uri="{BB962C8B-B14F-4D97-AF65-F5344CB8AC3E}">
        <p14:creationId xmlns:p14="http://schemas.microsoft.com/office/powerpoint/2010/main" val="313422343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0BAA2EC-F350-4BDB-9A3B-BDD8750FEB82}"/>
              </a:ext>
            </a:extLst>
          </p:cNvPr>
          <p:cNvSpPr>
            <a:spLocks noGrp="1"/>
          </p:cNvSpPr>
          <p:nvPr>
            <p:ph idx="1"/>
          </p:nvPr>
        </p:nvSpPr>
        <p:spPr>
          <a:xfrm>
            <a:off x="255182" y="1573619"/>
            <a:ext cx="5550196" cy="5059409"/>
          </a:xfrm>
        </p:spPr>
        <p:txBody>
          <a:bodyPr>
            <a:noAutofit/>
          </a:bodyPr>
          <a:lstStyle/>
          <a:p>
            <a:pPr algn="just"/>
            <a:r>
              <a:rPr lang="en-US" sz="2600" dirty="0"/>
              <a:t>It can recover the state of the tasks that had already been run by the (failed) application</a:t>
            </a:r>
            <a:r>
              <a:rPr lang="en-US" sz="2600" dirty="0">
                <a:solidFill>
                  <a:schemeClr val="bg1">
                    <a:lumMod val="95000"/>
                  </a:schemeClr>
                </a:solidFill>
              </a:rPr>
              <a:t>. </a:t>
            </a:r>
          </a:p>
          <a:p>
            <a:pPr algn="just"/>
            <a:r>
              <a:rPr lang="en-US" sz="2600" dirty="0" err="1"/>
              <a:t>yarn.app.mapreduce.am.job.recov</a:t>
            </a:r>
            <a:r>
              <a:rPr lang="en-US" sz="2600" dirty="0"/>
              <a:t> </a:t>
            </a:r>
            <a:r>
              <a:rPr lang="en-US" sz="2600" dirty="0" err="1"/>
              <a:t>ery.enable</a:t>
            </a:r>
            <a:endParaRPr lang="en-IN" sz="2600" dirty="0"/>
          </a:p>
        </p:txBody>
      </p:sp>
      <p:sp>
        <p:nvSpPr>
          <p:cNvPr id="3" name="Title 2">
            <a:extLst>
              <a:ext uri="{FF2B5EF4-FFF2-40B4-BE49-F238E27FC236}">
                <a16:creationId xmlns:a16="http://schemas.microsoft.com/office/drawing/2014/main" id="{978C0971-A1FE-4F68-A385-97AAE2D0A118}"/>
              </a:ext>
            </a:extLst>
          </p:cNvPr>
          <p:cNvSpPr>
            <a:spLocks noGrp="1"/>
          </p:cNvSpPr>
          <p:nvPr>
            <p:ph type="title"/>
          </p:nvPr>
        </p:nvSpPr>
        <p:spPr/>
        <p:txBody>
          <a:bodyPr vert="horz" lIns="91440" tIns="45720" rIns="91440" bIns="45720" rtlCol="0" anchor="ctr">
            <a:noAutofit/>
          </a:bodyPr>
          <a:lstStyle/>
          <a:p>
            <a:r>
              <a:rPr lang="en-IN" dirty="0"/>
              <a:t>Application Master Failure</a:t>
            </a:r>
          </a:p>
        </p:txBody>
      </p:sp>
      <p:pic>
        <p:nvPicPr>
          <p:cNvPr id="6" name="Picture 5">
            <a:extLst>
              <a:ext uri="{FF2B5EF4-FFF2-40B4-BE49-F238E27FC236}">
                <a16:creationId xmlns:a16="http://schemas.microsoft.com/office/drawing/2014/main" id="{42B549C9-B8D3-403E-8A4C-D234AD01E4DD}"/>
              </a:ext>
            </a:extLst>
          </p:cNvPr>
          <p:cNvPicPr>
            <a:picLocks noChangeAspect="1"/>
          </p:cNvPicPr>
          <p:nvPr/>
        </p:nvPicPr>
        <p:blipFill>
          <a:blip r:embed="rId2"/>
          <a:stretch>
            <a:fillRect/>
          </a:stretch>
        </p:blipFill>
        <p:spPr>
          <a:xfrm>
            <a:off x="5914850" y="3101811"/>
            <a:ext cx="2609314" cy="3036071"/>
          </a:xfrm>
          <a:prstGeom prst="rect">
            <a:avLst/>
          </a:prstGeom>
        </p:spPr>
      </p:pic>
    </p:spTree>
    <p:extLst>
      <p:ext uri="{BB962C8B-B14F-4D97-AF65-F5344CB8AC3E}">
        <p14:creationId xmlns:p14="http://schemas.microsoft.com/office/powerpoint/2010/main" val="398728168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0BAA2EC-F350-4BDB-9A3B-BDD8750FEB82}"/>
              </a:ext>
            </a:extLst>
          </p:cNvPr>
          <p:cNvSpPr>
            <a:spLocks noGrp="1"/>
          </p:cNvSpPr>
          <p:nvPr>
            <p:ph idx="1"/>
          </p:nvPr>
        </p:nvSpPr>
        <p:spPr>
          <a:xfrm>
            <a:off x="255182" y="1573619"/>
            <a:ext cx="5550196" cy="5059409"/>
          </a:xfrm>
        </p:spPr>
        <p:txBody>
          <a:bodyPr>
            <a:normAutofit lnSpcReduction="10000"/>
          </a:bodyPr>
          <a:lstStyle/>
          <a:p>
            <a:pPr algn="just"/>
            <a:r>
              <a:rPr lang="en-US" sz="2400" b="0" i="0" dirty="0">
                <a:effectLst/>
              </a:rPr>
              <a:t>The client polls the application master for progress reports</a:t>
            </a:r>
          </a:p>
          <a:p>
            <a:pPr algn="just"/>
            <a:r>
              <a:rPr lang="en-US" sz="2400" b="0" i="0" dirty="0">
                <a:effectLst/>
              </a:rPr>
              <a:t>it doesn’t overload the </a:t>
            </a:r>
            <a:r>
              <a:rPr lang="en-US" sz="2400" b="0" i="0" dirty="0" err="1">
                <a:effectLst/>
              </a:rPr>
              <a:t>the</a:t>
            </a:r>
            <a:r>
              <a:rPr lang="en-US" sz="2400" b="0" i="0" dirty="0">
                <a:effectLst/>
              </a:rPr>
              <a:t> resource manager with a request every time it needs to poll the application master</a:t>
            </a:r>
            <a:r>
              <a:rPr lang="en-US" sz="2400" b="0" i="0" dirty="0">
                <a:solidFill>
                  <a:schemeClr val="bg1">
                    <a:lumMod val="95000"/>
                  </a:schemeClr>
                </a:solidFill>
                <a:effectLst/>
              </a:rPr>
              <a:t>.</a:t>
            </a:r>
          </a:p>
          <a:p>
            <a:pPr algn="just"/>
            <a:r>
              <a:rPr lang="en-US" sz="2400" b="0" i="0" dirty="0">
                <a:effectLst/>
              </a:rPr>
              <a:t> If the application master fails, however, the client will experience a timeout when it issues a status update</a:t>
            </a:r>
            <a:endParaRPr lang="en-IN" sz="2400" dirty="0"/>
          </a:p>
        </p:txBody>
      </p:sp>
      <p:sp>
        <p:nvSpPr>
          <p:cNvPr id="3" name="Title 2">
            <a:extLst>
              <a:ext uri="{FF2B5EF4-FFF2-40B4-BE49-F238E27FC236}">
                <a16:creationId xmlns:a16="http://schemas.microsoft.com/office/drawing/2014/main" id="{978C0971-A1FE-4F68-A385-97AAE2D0A118}"/>
              </a:ext>
            </a:extLst>
          </p:cNvPr>
          <p:cNvSpPr>
            <a:spLocks noGrp="1"/>
          </p:cNvSpPr>
          <p:nvPr>
            <p:ph type="title"/>
          </p:nvPr>
        </p:nvSpPr>
        <p:spPr/>
        <p:txBody>
          <a:bodyPr vert="horz" lIns="91440" tIns="45720" rIns="91440" bIns="45720" rtlCol="0" anchor="ctr">
            <a:noAutofit/>
          </a:bodyPr>
          <a:lstStyle/>
          <a:p>
            <a:r>
              <a:rPr lang="en-IN" dirty="0"/>
              <a:t>Application Master Failure</a:t>
            </a:r>
          </a:p>
        </p:txBody>
      </p:sp>
      <p:pic>
        <p:nvPicPr>
          <p:cNvPr id="6" name="Picture 5">
            <a:extLst>
              <a:ext uri="{FF2B5EF4-FFF2-40B4-BE49-F238E27FC236}">
                <a16:creationId xmlns:a16="http://schemas.microsoft.com/office/drawing/2014/main" id="{42B549C9-B8D3-403E-8A4C-D234AD01E4DD}"/>
              </a:ext>
            </a:extLst>
          </p:cNvPr>
          <p:cNvPicPr>
            <a:picLocks noChangeAspect="1"/>
          </p:cNvPicPr>
          <p:nvPr/>
        </p:nvPicPr>
        <p:blipFill>
          <a:blip r:embed="rId2"/>
          <a:stretch>
            <a:fillRect/>
          </a:stretch>
        </p:blipFill>
        <p:spPr>
          <a:xfrm>
            <a:off x="5914850" y="3101811"/>
            <a:ext cx="2609314" cy="3036071"/>
          </a:xfrm>
          <a:prstGeom prst="rect">
            <a:avLst/>
          </a:prstGeom>
        </p:spPr>
      </p:pic>
    </p:spTree>
    <p:extLst>
      <p:ext uri="{BB962C8B-B14F-4D97-AF65-F5344CB8AC3E}">
        <p14:creationId xmlns:p14="http://schemas.microsoft.com/office/powerpoint/2010/main" val="2131203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D5FD848-2231-4EB9-A468-536D8E9FB73D}"/>
              </a:ext>
            </a:extLst>
          </p:cNvPr>
          <p:cNvSpPr>
            <a:spLocks noGrp="1"/>
          </p:cNvSpPr>
          <p:nvPr>
            <p:ph idx="1"/>
          </p:nvPr>
        </p:nvSpPr>
        <p:spPr>
          <a:xfrm>
            <a:off x="338362" y="1436281"/>
            <a:ext cx="5488279" cy="5006248"/>
          </a:xfrm>
        </p:spPr>
        <p:txBody>
          <a:bodyPr>
            <a:noAutofit/>
          </a:bodyPr>
          <a:lstStyle/>
          <a:p>
            <a:pPr algn="just"/>
            <a:r>
              <a:rPr lang="en-US" sz="2400" dirty="0"/>
              <a:t>If a node manager fails, then it will stop sending heartbeats to the resource manager</a:t>
            </a:r>
          </a:p>
          <a:p>
            <a:pPr algn="just"/>
            <a:r>
              <a:rPr lang="en-US" sz="2400" dirty="0" err="1"/>
              <a:t>yarn.resourcemanager.nm.liveness-monitor.expiry-intervalms</a:t>
            </a:r>
            <a:endParaRPr lang="en-US" sz="2400" dirty="0"/>
          </a:p>
          <a:p>
            <a:pPr algn="just"/>
            <a:r>
              <a:rPr lang="en-US" sz="2400" dirty="0"/>
              <a:t>Node managers may be blacklisted if the number of failures for the application is high. </a:t>
            </a:r>
          </a:p>
        </p:txBody>
      </p:sp>
      <p:sp>
        <p:nvSpPr>
          <p:cNvPr id="3" name="Title 2">
            <a:extLst>
              <a:ext uri="{FF2B5EF4-FFF2-40B4-BE49-F238E27FC236}">
                <a16:creationId xmlns:a16="http://schemas.microsoft.com/office/drawing/2014/main" id="{1CD4DF73-98FD-47BF-82B4-6E732366FAA8}"/>
              </a:ext>
            </a:extLst>
          </p:cNvPr>
          <p:cNvSpPr>
            <a:spLocks noGrp="1"/>
          </p:cNvSpPr>
          <p:nvPr>
            <p:ph type="title"/>
          </p:nvPr>
        </p:nvSpPr>
        <p:spPr/>
        <p:txBody>
          <a:bodyPr vert="horz" lIns="91440" tIns="45720" rIns="91440" bIns="45720" rtlCol="0" anchor="ctr">
            <a:noAutofit/>
          </a:bodyPr>
          <a:lstStyle/>
          <a:p>
            <a:r>
              <a:rPr lang="en-IN" dirty="0"/>
              <a:t>Node Manager Failure</a:t>
            </a:r>
          </a:p>
        </p:txBody>
      </p:sp>
      <p:pic>
        <p:nvPicPr>
          <p:cNvPr id="4" name="Picture 3">
            <a:extLst>
              <a:ext uri="{FF2B5EF4-FFF2-40B4-BE49-F238E27FC236}">
                <a16:creationId xmlns:a16="http://schemas.microsoft.com/office/drawing/2014/main" id="{7D4250CD-B528-48B9-AD64-7BEC0A941210}"/>
              </a:ext>
            </a:extLst>
          </p:cNvPr>
          <p:cNvPicPr>
            <a:picLocks noChangeAspect="1"/>
          </p:cNvPicPr>
          <p:nvPr/>
        </p:nvPicPr>
        <p:blipFill>
          <a:blip r:embed="rId3"/>
          <a:stretch>
            <a:fillRect/>
          </a:stretch>
        </p:blipFill>
        <p:spPr>
          <a:xfrm>
            <a:off x="5997840" y="3195434"/>
            <a:ext cx="2932430" cy="3359187"/>
          </a:xfrm>
          <a:prstGeom prst="rect">
            <a:avLst/>
          </a:prstGeom>
        </p:spPr>
      </p:pic>
    </p:spTree>
    <p:extLst>
      <p:ext uri="{BB962C8B-B14F-4D97-AF65-F5344CB8AC3E}">
        <p14:creationId xmlns:p14="http://schemas.microsoft.com/office/powerpoint/2010/main" val="142477751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D5FD848-2231-4EB9-A468-536D8E9FB73D}"/>
              </a:ext>
            </a:extLst>
          </p:cNvPr>
          <p:cNvSpPr>
            <a:spLocks noGrp="1"/>
          </p:cNvSpPr>
          <p:nvPr>
            <p:ph idx="1"/>
          </p:nvPr>
        </p:nvSpPr>
        <p:spPr>
          <a:xfrm>
            <a:off x="338362" y="1436281"/>
            <a:ext cx="5488279" cy="5006248"/>
          </a:xfrm>
        </p:spPr>
        <p:txBody>
          <a:bodyPr anchor="ctr">
            <a:noAutofit/>
          </a:bodyPr>
          <a:lstStyle/>
          <a:p>
            <a:pPr algn="just"/>
            <a:r>
              <a:rPr lang="en-US" sz="2400" dirty="0"/>
              <a:t>Blacklisting is done by the application master</a:t>
            </a:r>
          </a:p>
          <a:p>
            <a:pPr algn="just"/>
            <a:r>
              <a:rPr lang="en-US" sz="2400" dirty="0" err="1"/>
              <a:t>mapreduce.job.maxtaskfai</a:t>
            </a:r>
            <a:r>
              <a:rPr lang="en-US" sz="2400" dirty="0"/>
              <a:t> </a:t>
            </a:r>
            <a:r>
              <a:rPr lang="en-US" sz="2400" dirty="0" err="1"/>
              <a:t>lures.per.tracker</a:t>
            </a:r>
            <a:r>
              <a:rPr lang="en-US" sz="2400" dirty="0"/>
              <a:t>.</a:t>
            </a:r>
            <a:endParaRPr lang="en-IN" sz="2400" dirty="0"/>
          </a:p>
        </p:txBody>
      </p:sp>
      <p:sp>
        <p:nvSpPr>
          <p:cNvPr id="3" name="Title 2">
            <a:extLst>
              <a:ext uri="{FF2B5EF4-FFF2-40B4-BE49-F238E27FC236}">
                <a16:creationId xmlns:a16="http://schemas.microsoft.com/office/drawing/2014/main" id="{1CD4DF73-98FD-47BF-82B4-6E732366FAA8}"/>
              </a:ext>
            </a:extLst>
          </p:cNvPr>
          <p:cNvSpPr>
            <a:spLocks noGrp="1"/>
          </p:cNvSpPr>
          <p:nvPr>
            <p:ph type="title"/>
          </p:nvPr>
        </p:nvSpPr>
        <p:spPr/>
        <p:txBody>
          <a:bodyPr vert="horz" lIns="91440" tIns="45720" rIns="91440" bIns="45720" rtlCol="0" anchor="ctr">
            <a:noAutofit/>
          </a:bodyPr>
          <a:lstStyle/>
          <a:p>
            <a:r>
              <a:rPr lang="en-IN" dirty="0"/>
              <a:t>Node Manager Failure</a:t>
            </a:r>
          </a:p>
        </p:txBody>
      </p:sp>
      <p:pic>
        <p:nvPicPr>
          <p:cNvPr id="4" name="Picture 3">
            <a:extLst>
              <a:ext uri="{FF2B5EF4-FFF2-40B4-BE49-F238E27FC236}">
                <a16:creationId xmlns:a16="http://schemas.microsoft.com/office/drawing/2014/main" id="{7D4250CD-B528-48B9-AD64-7BEC0A941210}"/>
              </a:ext>
            </a:extLst>
          </p:cNvPr>
          <p:cNvPicPr>
            <a:picLocks noChangeAspect="1"/>
          </p:cNvPicPr>
          <p:nvPr/>
        </p:nvPicPr>
        <p:blipFill>
          <a:blip r:embed="rId3"/>
          <a:stretch>
            <a:fillRect/>
          </a:stretch>
        </p:blipFill>
        <p:spPr>
          <a:xfrm>
            <a:off x="5997840" y="3195434"/>
            <a:ext cx="2932430" cy="3359187"/>
          </a:xfrm>
          <a:prstGeom prst="rect">
            <a:avLst/>
          </a:prstGeom>
        </p:spPr>
      </p:pic>
    </p:spTree>
    <p:extLst>
      <p:ext uri="{BB962C8B-B14F-4D97-AF65-F5344CB8AC3E}">
        <p14:creationId xmlns:p14="http://schemas.microsoft.com/office/powerpoint/2010/main" val="37898353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D5FD848-2231-4EB9-A468-536D8E9FB73D}"/>
              </a:ext>
            </a:extLst>
          </p:cNvPr>
          <p:cNvSpPr>
            <a:spLocks noGrp="1"/>
          </p:cNvSpPr>
          <p:nvPr>
            <p:ph idx="1"/>
          </p:nvPr>
        </p:nvSpPr>
        <p:spPr>
          <a:xfrm>
            <a:off x="338362" y="1626781"/>
            <a:ext cx="8321858" cy="5006248"/>
          </a:xfrm>
        </p:spPr>
        <p:txBody>
          <a:bodyPr anchor="t">
            <a:noAutofit/>
          </a:bodyPr>
          <a:lstStyle/>
          <a:p>
            <a:pPr marL="0" indent="0" algn="just">
              <a:buNone/>
            </a:pPr>
            <a:r>
              <a:rPr lang="en-US" dirty="0"/>
              <a:t>Failure of the resource manager is serious </a:t>
            </a:r>
          </a:p>
        </p:txBody>
      </p:sp>
      <p:sp>
        <p:nvSpPr>
          <p:cNvPr id="3" name="Title 2">
            <a:extLst>
              <a:ext uri="{FF2B5EF4-FFF2-40B4-BE49-F238E27FC236}">
                <a16:creationId xmlns:a16="http://schemas.microsoft.com/office/drawing/2014/main" id="{1CD4DF73-98FD-47BF-82B4-6E732366FAA8}"/>
              </a:ext>
            </a:extLst>
          </p:cNvPr>
          <p:cNvSpPr>
            <a:spLocks noGrp="1"/>
          </p:cNvSpPr>
          <p:nvPr>
            <p:ph type="title"/>
          </p:nvPr>
        </p:nvSpPr>
        <p:spPr/>
        <p:txBody>
          <a:bodyPr vert="horz" lIns="91440" tIns="45720" rIns="91440" bIns="45720" rtlCol="0" anchor="ctr">
            <a:noAutofit/>
          </a:bodyPr>
          <a:lstStyle/>
          <a:p>
            <a:r>
              <a:rPr lang="en-IN" dirty="0"/>
              <a:t>Resource Manager Failure</a:t>
            </a:r>
          </a:p>
        </p:txBody>
      </p:sp>
      <p:sp>
        <p:nvSpPr>
          <p:cNvPr id="7" name="Rectangle 6">
            <a:extLst>
              <a:ext uri="{FF2B5EF4-FFF2-40B4-BE49-F238E27FC236}">
                <a16:creationId xmlns:a16="http://schemas.microsoft.com/office/drawing/2014/main" id="{39219ED5-0DFB-410B-B491-EDE8E2EACCF8}"/>
              </a:ext>
            </a:extLst>
          </p:cNvPr>
          <p:cNvSpPr/>
          <p:nvPr/>
        </p:nvSpPr>
        <p:spPr>
          <a:xfrm>
            <a:off x="2716619" y="3541900"/>
            <a:ext cx="4038599" cy="168931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Rectangle 7">
            <a:extLst>
              <a:ext uri="{FF2B5EF4-FFF2-40B4-BE49-F238E27FC236}">
                <a16:creationId xmlns:a16="http://schemas.microsoft.com/office/drawing/2014/main" id="{D559F5CF-4EE0-4998-98BC-60263EE9FEBE}"/>
              </a:ext>
            </a:extLst>
          </p:cNvPr>
          <p:cNvSpPr/>
          <p:nvPr/>
        </p:nvSpPr>
        <p:spPr>
          <a:xfrm>
            <a:off x="2888069" y="3718905"/>
            <a:ext cx="3600451" cy="126603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Rounded Corners 8">
            <a:extLst>
              <a:ext uri="{FF2B5EF4-FFF2-40B4-BE49-F238E27FC236}">
                <a16:creationId xmlns:a16="http://schemas.microsoft.com/office/drawing/2014/main" id="{11195197-3929-49FC-8C01-FD0A1C0377D0}"/>
              </a:ext>
            </a:extLst>
          </p:cNvPr>
          <p:cNvSpPr/>
          <p:nvPr/>
        </p:nvSpPr>
        <p:spPr>
          <a:xfrm>
            <a:off x="3033436" y="3994733"/>
            <a:ext cx="1443038" cy="7143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Bahnschrift" panose="020B0502040204020203" pitchFamily="34" charset="0"/>
              </a:rPr>
              <a:t>Resource manager</a:t>
            </a:r>
          </a:p>
        </p:txBody>
      </p:sp>
      <p:sp>
        <p:nvSpPr>
          <p:cNvPr id="10" name="Multiplication Sign 9">
            <a:extLst>
              <a:ext uri="{FF2B5EF4-FFF2-40B4-BE49-F238E27FC236}">
                <a16:creationId xmlns:a16="http://schemas.microsoft.com/office/drawing/2014/main" id="{CF791FE9-867D-4572-9F20-21ECD7A752BC}"/>
              </a:ext>
            </a:extLst>
          </p:cNvPr>
          <p:cNvSpPr/>
          <p:nvPr/>
        </p:nvSpPr>
        <p:spPr>
          <a:xfrm>
            <a:off x="3232547" y="3856817"/>
            <a:ext cx="1044816" cy="990205"/>
          </a:xfrm>
          <a:prstGeom prst="mathMultiply">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4966671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D5FD848-2231-4EB9-A468-536D8E9FB73D}"/>
              </a:ext>
            </a:extLst>
          </p:cNvPr>
          <p:cNvSpPr>
            <a:spLocks noGrp="1"/>
          </p:cNvSpPr>
          <p:nvPr>
            <p:ph idx="1"/>
          </p:nvPr>
        </p:nvSpPr>
        <p:spPr>
          <a:xfrm>
            <a:off x="338362" y="1608893"/>
            <a:ext cx="5488279" cy="5006248"/>
          </a:xfrm>
        </p:spPr>
        <p:txBody>
          <a:bodyPr>
            <a:noAutofit/>
          </a:bodyPr>
          <a:lstStyle/>
          <a:p>
            <a:pPr algn="just"/>
            <a:r>
              <a:rPr lang="en-US" dirty="0"/>
              <a:t>After a crash, a new resource manager instance is brought up (by an </a:t>
            </a:r>
            <a:r>
              <a:rPr lang="en-US" dirty="0" err="1"/>
              <a:t>adminstrator</a:t>
            </a:r>
            <a:r>
              <a:rPr lang="en-US" dirty="0"/>
              <a:t>) and it recovers from the saved state. </a:t>
            </a:r>
          </a:p>
          <a:p>
            <a:pPr algn="just"/>
            <a:r>
              <a:rPr lang="en-US" dirty="0"/>
              <a:t>The state consists of the node managers in the system as well as the running applications.</a:t>
            </a:r>
          </a:p>
        </p:txBody>
      </p:sp>
      <p:sp>
        <p:nvSpPr>
          <p:cNvPr id="3" name="Title 2">
            <a:extLst>
              <a:ext uri="{FF2B5EF4-FFF2-40B4-BE49-F238E27FC236}">
                <a16:creationId xmlns:a16="http://schemas.microsoft.com/office/drawing/2014/main" id="{1CD4DF73-98FD-47BF-82B4-6E732366FAA8}"/>
              </a:ext>
            </a:extLst>
          </p:cNvPr>
          <p:cNvSpPr>
            <a:spLocks noGrp="1"/>
          </p:cNvSpPr>
          <p:nvPr>
            <p:ph type="title"/>
          </p:nvPr>
        </p:nvSpPr>
        <p:spPr/>
        <p:txBody>
          <a:bodyPr vert="horz" lIns="91440" tIns="45720" rIns="91440" bIns="45720" rtlCol="0" anchor="ctr">
            <a:noAutofit/>
          </a:bodyPr>
          <a:lstStyle/>
          <a:p>
            <a:r>
              <a:rPr lang="en-IN" dirty="0"/>
              <a:t>Resource Manager Failure</a:t>
            </a:r>
          </a:p>
        </p:txBody>
      </p:sp>
      <p:pic>
        <p:nvPicPr>
          <p:cNvPr id="5" name="Picture 4">
            <a:extLst>
              <a:ext uri="{FF2B5EF4-FFF2-40B4-BE49-F238E27FC236}">
                <a16:creationId xmlns:a16="http://schemas.microsoft.com/office/drawing/2014/main" id="{0C495FDF-296D-4324-B6AF-AA1B2B945A34}"/>
              </a:ext>
            </a:extLst>
          </p:cNvPr>
          <p:cNvPicPr>
            <a:picLocks noChangeAspect="1"/>
          </p:cNvPicPr>
          <p:nvPr/>
        </p:nvPicPr>
        <p:blipFill>
          <a:blip r:embed="rId2"/>
          <a:stretch>
            <a:fillRect/>
          </a:stretch>
        </p:blipFill>
        <p:spPr>
          <a:xfrm>
            <a:off x="5826642" y="3429000"/>
            <a:ext cx="2898258" cy="1411455"/>
          </a:xfrm>
          <a:prstGeom prst="rect">
            <a:avLst/>
          </a:prstGeom>
        </p:spPr>
      </p:pic>
    </p:spTree>
    <p:extLst>
      <p:ext uri="{BB962C8B-B14F-4D97-AF65-F5344CB8AC3E}">
        <p14:creationId xmlns:p14="http://schemas.microsoft.com/office/powerpoint/2010/main" val="206180888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D5FD848-2231-4EB9-A468-536D8E9FB73D}"/>
              </a:ext>
            </a:extLst>
          </p:cNvPr>
          <p:cNvSpPr>
            <a:spLocks noGrp="1"/>
          </p:cNvSpPr>
          <p:nvPr>
            <p:ph idx="1"/>
          </p:nvPr>
        </p:nvSpPr>
        <p:spPr>
          <a:xfrm>
            <a:off x="338362" y="1608893"/>
            <a:ext cx="5488279" cy="5006248"/>
          </a:xfrm>
        </p:spPr>
        <p:txBody>
          <a:bodyPr>
            <a:noAutofit/>
          </a:bodyPr>
          <a:lstStyle/>
          <a:p>
            <a:pPr algn="just"/>
            <a:r>
              <a:rPr lang="en-IN" b="0" i="0" dirty="0" err="1">
                <a:effectLst/>
              </a:rPr>
              <a:t>yarn.resourceman</a:t>
            </a:r>
            <a:r>
              <a:rPr lang="en-IN" b="0" i="0" dirty="0">
                <a:effectLst/>
              </a:rPr>
              <a:t> </a:t>
            </a:r>
            <a:r>
              <a:rPr lang="en-IN" b="0" i="0" dirty="0" err="1">
                <a:effectLst/>
              </a:rPr>
              <a:t>ager.store.class</a:t>
            </a:r>
            <a:r>
              <a:rPr lang="en-IN" dirty="0"/>
              <a:t> </a:t>
            </a:r>
          </a:p>
          <a:p>
            <a:pPr algn="just"/>
            <a:r>
              <a:rPr lang="en-IN" dirty="0" err="1"/>
              <a:t>org.apache.hadoop.yarn.server.resource</a:t>
            </a:r>
            <a:r>
              <a:rPr lang="en-IN" dirty="0"/>
              <a:t> </a:t>
            </a:r>
            <a:r>
              <a:rPr lang="en-IN" dirty="0" err="1"/>
              <a:t>manager.recovery.MemStore</a:t>
            </a:r>
            <a:endParaRPr lang="en-IN" dirty="0"/>
          </a:p>
          <a:p>
            <a:pPr marL="0" indent="0" algn="just">
              <a:buNone/>
            </a:pPr>
            <a:endParaRPr lang="en-US" dirty="0"/>
          </a:p>
          <a:p>
            <a:pPr algn="just"/>
            <a:endParaRPr lang="en-US" dirty="0"/>
          </a:p>
        </p:txBody>
      </p:sp>
      <p:sp>
        <p:nvSpPr>
          <p:cNvPr id="3" name="Title 2">
            <a:extLst>
              <a:ext uri="{FF2B5EF4-FFF2-40B4-BE49-F238E27FC236}">
                <a16:creationId xmlns:a16="http://schemas.microsoft.com/office/drawing/2014/main" id="{1CD4DF73-98FD-47BF-82B4-6E732366FAA8}"/>
              </a:ext>
            </a:extLst>
          </p:cNvPr>
          <p:cNvSpPr>
            <a:spLocks noGrp="1"/>
          </p:cNvSpPr>
          <p:nvPr>
            <p:ph type="title"/>
          </p:nvPr>
        </p:nvSpPr>
        <p:spPr/>
        <p:txBody>
          <a:bodyPr vert="horz" lIns="91440" tIns="45720" rIns="91440" bIns="45720" rtlCol="0" anchor="ctr">
            <a:noAutofit/>
          </a:bodyPr>
          <a:lstStyle/>
          <a:p>
            <a:r>
              <a:rPr lang="en-IN" dirty="0"/>
              <a:t>Resource Manager Failure</a:t>
            </a:r>
          </a:p>
        </p:txBody>
      </p:sp>
      <p:pic>
        <p:nvPicPr>
          <p:cNvPr id="5" name="Picture 4">
            <a:extLst>
              <a:ext uri="{FF2B5EF4-FFF2-40B4-BE49-F238E27FC236}">
                <a16:creationId xmlns:a16="http://schemas.microsoft.com/office/drawing/2014/main" id="{0C495FDF-296D-4324-B6AF-AA1B2B945A34}"/>
              </a:ext>
            </a:extLst>
          </p:cNvPr>
          <p:cNvPicPr>
            <a:picLocks noChangeAspect="1"/>
          </p:cNvPicPr>
          <p:nvPr/>
        </p:nvPicPr>
        <p:blipFill>
          <a:blip r:embed="rId2"/>
          <a:stretch>
            <a:fillRect/>
          </a:stretch>
        </p:blipFill>
        <p:spPr>
          <a:xfrm>
            <a:off x="5826642" y="3429000"/>
            <a:ext cx="2898258" cy="1411455"/>
          </a:xfrm>
          <a:prstGeom prst="rect">
            <a:avLst/>
          </a:prstGeom>
        </p:spPr>
      </p:pic>
    </p:spTree>
    <p:extLst>
      <p:ext uri="{BB962C8B-B14F-4D97-AF65-F5344CB8AC3E}">
        <p14:creationId xmlns:p14="http://schemas.microsoft.com/office/powerpoint/2010/main" val="385611762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361440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1494</TotalTime>
  <Words>1754</Words>
  <Application>Microsoft Office PowerPoint</Application>
  <PresentationFormat>On-screen Show (4:3)</PresentationFormat>
  <Paragraphs>489</Paragraphs>
  <Slides>67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67</vt:i4>
      </vt:variant>
    </vt:vector>
  </HeadingPairs>
  <TitlesOfParts>
    <vt:vector size="73" baseType="lpstr">
      <vt:lpstr>Arial</vt:lpstr>
      <vt:lpstr>Bahnschrift</vt:lpstr>
      <vt:lpstr>Bahnschrift SemiBold</vt:lpstr>
      <vt:lpstr>Calibri</vt:lpstr>
      <vt:lpstr>Calibri Light</vt:lpstr>
      <vt:lpstr>Office Theme</vt:lpstr>
      <vt:lpstr>PowerPoint Presentation</vt:lpstr>
      <vt:lpstr>PowerPoint Presentation</vt:lpstr>
      <vt:lpstr>Introduction to Hadoop Scheduler</vt:lpstr>
      <vt:lpstr>Introduction to Hadoop Scheduler</vt:lpstr>
      <vt:lpstr>Introduction to Hadoop Scheduler</vt:lpstr>
      <vt:lpstr> Introduction to Hadoop Scheduler </vt:lpstr>
      <vt:lpstr>Types of HADOOP Scheduler</vt:lpstr>
      <vt:lpstr>Types of HADOOP Scheduler</vt:lpstr>
      <vt:lpstr>Advantages of FIFO Scheduling</vt:lpstr>
      <vt:lpstr>Disadvantages of FIFO Scheduling</vt:lpstr>
      <vt:lpstr>Disadvantages of FIFO Scheduling</vt:lpstr>
      <vt:lpstr>Types of HADOOP Scheduler</vt:lpstr>
      <vt:lpstr>Capacity Scheduler</vt:lpstr>
      <vt:lpstr>Capacity Scheduler</vt:lpstr>
      <vt:lpstr>Capacity Scheduler</vt:lpstr>
      <vt:lpstr>Advantages of Capacity Scheduler</vt:lpstr>
      <vt:lpstr>Disadvantages of Capacity Scheduler</vt:lpstr>
      <vt:lpstr>Types of HADOOP Scheduler</vt:lpstr>
      <vt:lpstr>Types of HADOOP Scheduler</vt:lpstr>
      <vt:lpstr>Advantages of Fair scheduler</vt:lpstr>
      <vt:lpstr>Disadvantages of Fair scheduler</vt:lpstr>
      <vt:lpstr>Failures in MapReduce</vt:lpstr>
      <vt:lpstr>Failures in Classic Map-reduce</vt:lpstr>
      <vt:lpstr>Failures in Classic Map-reduce</vt:lpstr>
      <vt:lpstr>Failures in Classic Map-reduce</vt:lpstr>
      <vt:lpstr>Failures in Classic Map-reduce</vt:lpstr>
      <vt:lpstr>Failures in Classic Map-reduce</vt:lpstr>
      <vt:lpstr>Failures in Classic Map-reduce</vt:lpstr>
      <vt:lpstr>Failures in Classic Map-reduce</vt:lpstr>
      <vt:lpstr>Failures in Classic Map-reduce</vt:lpstr>
      <vt:lpstr>Failures in Classic Map-reduce</vt:lpstr>
      <vt:lpstr>Failures in Classic Map-reduce</vt:lpstr>
      <vt:lpstr>Failures in Classic Map-reduce</vt:lpstr>
      <vt:lpstr>Failures in Classic Map-reduce</vt:lpstr>
      <vt:lpstr>Failures in Classic Map-reduce</vt:lpstr>
      <vt:lpstr>Failure of TaskTracker</vt:lpstr>
      <vt:lpstr>Failure of TaskTracker</vt:lpstr>
      <vt:lpstr>Failure of TaskTracker</vt:lpstr>
      <vt:lpstr>Failure of TaskTracker</vt:lpstr>
      <vt:lpstr>Failure of TaskTracker</vt:lpstr>
      <vt:lpstr>Failure of Job Tracker</vt:lpstr>
      <vt:lpstr>Failures of JobTracker</vt:lpstr>
      <vt:lpstr>Failures of JobTracker</vt:lpstr>
      <vt:lpstr>Failures in Yarn</vt:lpstr>
      <vt:lpstr>Failures in Yarn</vt:lpstr>
      <vt:lpstr>Failure Scenarios in YARN</vt:lpstr>
      <vt:lpstr>Failure Scenarios in YARN</vt:lpstr>
      <vt:lpstr>Failure Scenarios in YARN</vt:lpstr>
      <vt:lpstr>Failure Scenarios in YARN</vt:lpstr>
      <vt:lpstr>Failure Scenarios in YARN</vt:lpstr>
      <vt:lpstr>Task failure</vt:lpstr>
      <vt:lpstr>Task failure</vt:lpstr>
      <vt:lpstr>Task failure</vt:lpstr>
      <vt:lpstr>Task failure</vt:lpstr>
      <vt:lpstr>Task failure</vt:lpstr>
      <vt:lpstr>Task failure</vt:lpstr>
      <vt:lpstr>Task failure</vt:lpstr>
      <vt:lpstr>Task failure</vt:lpstr>
      <vt:lpstr>Application Master Failure</vt:lpstr>
      <vt:lpstr>Application Master Failure</vt:lpstr>
      <vt:lpstr>Application Master Failure</vt:lpstr>
      <vt:lpstr>Node Manager Failure</vt:lpstr>
      <vt:lpstr>Node Manager Failure</vt:lpstr>
      <vt:lpstr>Resource Manager Failure</vt:lpstr>
      <vt:lpstr>Resource Manager Failure</vt:lpstr>
      <vt:lpstr>Resource Manager Failure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video recording 1</dc:creator>
  <cp:lastModifiedBy>video recording 1</cp:lastModifiedBy>
  <cp:revision>127</cp:revision>
  <dcterms:created xsi:type="dcterms:W3CDTF">2021-05-13T17:45:44Z</dcterms:created>
  <dcterms:modified xsi:type="dcterms:W3CDTF">2021-09-03T05:15:30Z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name="NXPowerLiteLastOptimized" pid="2">
    <vt:lpwstr>715705</vt:lpwstr>
  </property>
  <property fmtid="{D5CDD505-2E9C-101B-9397-08002B2CF9AE}" name="NXPowerLiteSettings" pid="3">
    <vt:lpwstr>E700052003A000</vt:lpwstr>
  </property>
  <property fmtid="{D5CDD505-2E9C-101B-9397-08002B2CF9AE}" name="NXPowerLiteVersion" pid="4">
    <vt:lpwstr>D9.1.4</vt:lpwstr>
  </property>
</Properties>
</file>