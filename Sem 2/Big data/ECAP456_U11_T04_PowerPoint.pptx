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50"/>
  </p:handoutMasterIdLst>
  <p:sldIdLst>
    <p:sldId id="266" r:id="rId2"/>
    <p:sldId id="261" r:id="rId3"/>
    <p:sldId id="267" r:id="rId4"/>
    <p:sldId id="273" r:id="rId5"/>
    <p:sldId id="275" r:id="rId6"/>
    <p:sldId id="278" r:id="rId7"/>
    <p:sldId id="284" r:id="rId8"/>
    <p:sldId id="283" r:id="rId9"/>
    <p:sldId id="328" r:id="rId10"/>
    <p:sldId id="297" r:id="rId11"/>
    <p:sldId id="330" r:id="rId12"/>
    <p:sldId id="331" r:id="rId13"/>
    <p:sldId id="332" r:id="rId14"/>
    <p:sldId id="333" r:id="rId15"/>
    <p:sldId id="334" r:id="rId16"/>
    <p:sldId id="335" r:id="rId17"/>
    <p:sldId id="288" r:id="rId18"/>
    <p:sldId id="329" r:id="rId19"/>
    <p:sldId id="298" r:id="rId20"/>
    <p:sldId id="301" r:id="rId21"/>
    <p:sldId id="299" r:id="rId22"/>
    <p:sldId id="300" r:id="rId23"/>
    <p:sldId id="302" r:id="rId24"/>
    <p:sldId id="303" r:id="rId25"/>
    <p:sldId id="304" r:id="rId26"/>
    <p:sldId id="305" r:id="rId27"/>
    <p:sldId id="306" r:id="rId28"/>
    <p:sldId id="307" r:id="rId29"/>
    <p:sldId id="309" r:id="rId30"/>
    <p:sldId id="310" r:id="rId31"/>
    <p:sldId id="312" r:id="rId32"/>
    <p:sldId id="313" r:id="rId33"/>
    <p:sldId id="314" r:id="rId34"/>
    <p:sldId id="311"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263"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727"/>
    <a:srgbClr val="44525A"/>
    <a:srgbClr val="618495"/>
    <a:srgbClr val="44525B"/>
    <a:srgbClr val="072235"/>
    <a:srgbClr val="453A38"/>
    <a:srgbClr val="B8B192"/>
    <a:srgbClr val="473B39"/>
    <a:srgbClr val="302C31"/>
    <a:srgbClr val="635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249" autoAdjust="0"/>
  </p:normalViewPr>
  <p:slideViewPr>
    <p:cSldViewPr snapToGrid="0">
      <p:cViewPr>
        <p:scale>
          <a:sx n="66" d="100"/>
          <a:sy n="66" d="100"/>
        </p:scale>
        <p:origin x="624" y="0"/>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BD429C-3256-4A40-B728-6F149A64BA0C}" type="doc">
      <dgm:prSet loTypeId="urn:microsoft.com/office/officeart/2005/8/layout/hierarchy1" loCatId="hierarchy" qsTypeId="urn:microsoft.com/office/officeart/2005/8/quickstyle/3d1" qsCatId="3D" csTypeId="urn:microsoft.com/office/officeart/2005/8/colors/colorful1" csCatId="colorful" phldr="1"/>
      <dgm:spPr/>
      <dgm:t>
        <a:bodyPr/>
        <a:lstStyle/>
        <a:p>
          <a:endParaRPr lang="en-IN"/>
        </a:p>
      </dgm:t>
    </dgm:pt>
    <dgm:pt modelId="{3ACCB1F0-64A5-4F20-8A54-18F594207328}">
      <dgm:prSet/>
      <dgm:spPr/>
      <dgm:t>
        <a:bodyPr/>
        <a:lstStyle/>
        <a:p>
          <a:r>
            <a:rPr lang="en-US" dirty="0" err="1">
              <a:latin typeface="Bahnschrift" panose="020B0502040204020203" pitchFamily="34" charset="0"/>
            </a:rPr>
            <a:t>Metastore</a:t>
          </a:r>
          <a:r>
            <a:rPr lang="en-US" dirty="0">
              <a:latin typeface="Bahnschrift" panose="020B0502040204020203" pitchFamily="34" charset="0"/>
            </a:rPr>
            <a:t> can be configured in one of two ways</a:t>
          </a:r>
        </a:p>
      </dgm:t>
    </dgm:pt>
    <dgm:pt modelId="{66A115F3-7126-46C7-83AC-B54B6417B28D}" type="parTrans" cxnId="{B911FF6D-4EF5-456F-9543-E54954329693}">
      <dgm:prSet/>
      <dgm:spPr/>
      <dgm:t>
        <a:bodyPr/>
        <a:lstStyle/>
        <a:p>
          <a:endParaRPr lang="en-IN">
            <a:latin typeface="Bahnschrift" panose="020B0502040204020203" pitchFamily="34" charset="0"/>
          </a:endParaRPr>
        </a:p>
      </dgm:t>
    </dgm:pt>
    <dgm:pt modelId="{F86840EE-DF44-4466-8757-2C43D020F883}" type="sibTrans" cxnId="{B911FF6D-4EF5-456F-9543-E54954329693}">
      <dgm:prSet/>
      <dgm:spPr/>
      <dgm:t>
        <a:bodyPr/>
        <a:lstStyle/>
        <a:p>
          <a:endParaRPr lang="en-IN">
            <a:latin typeface="Bahnschrift" panose="020B0502040204020203" pitchFamily="34" charset="0"/>
          </a:endParaRPr>
        </a:p>
      </dgm:t>
    </dgm:pt>
    <dgm:pt modelId="{CF9405EE-50E6-460C-BBC1-64DD0A191D0D}">
      <dgm:prSet/>
      <dgm:spPr/>
      <dgm:t>
        <a:bodyPr/>
        <a:lstStyle/>
        <a:p>
          <a:r>
            <a:rPr lang="en-US">
              <a:latin typeface="Bahnschrift" panose="020B0502040204020203" pitchFamily="34" charset="0"/>
            </a:rPr>
            <a:t>Remote</a:t>
          </a:r>
          <a:endParaRPr lang="en-US" dirty="0">
            <a:latin typeface="Bahnschrift" panose="020B0502040204020203" pitchFamily="34" charset="0"/>
          </a:endParaRPr>
        </a:p>
      </dgm:t>
    </dgm:pt>
    <dgm:pt modelId="{8F157005-4580-4B83-A74B-48B92AF993E2}" type="parTrans" cxnId="{C37862A8-D160-409D-9CF2-9DB83D5C51E4}">
      <dgm:prSet/>
      <dgm:spPr/>
      <dgm:t>
        <a:bodyPr/>
        <a:lstStyle/>
        <a:p>
          <a:endParaRPr lang="en-IN">
            <a:latin typeface="Bahnschrift" panose="020B0502040204020203" pitchFamily="34" charset="0"/>
          </a:endParaRPr>
        </a:p>
      </dgm:t>
    </dgm:pt>
    <dgm:pt modelId="{F489F9F0-6594-4B19-9AEE-AE14845F34AE}" type="sibTrans" cxnId="{C37862A8-D160-409D-9CF2-9DB83D5C51E4}">
      <dgm:prSet/>
      <dgm:spPr/>
      <dgm:t>
        <a:bodyPr/>
        <a:lstStyle/>
        <a:p>
          <a:endParaRPr lang="en-IN">
            <a:latin typeface="Bahnschrift" panose="020B0502040204020203" pitchFamily="34" charset="0"/>
          </a:endParaRPr>
        </a:p>
      </dgm:t>
    </dgm:pt>
    <dgm:pt modelId="{75FC6C08-DBCC-4102-B797-9AAA9301B808}">
      <dgm:prSet/>
      <dgm:spPr/>
      <dgm:t>
        <a:bodyPr/>
        <a:lstStyle/>
        <a:p>
          <a:r>
            <a:rPr lang="en-US">
              <a:latin typeface="Bahnschrift" panose="020B0502040204020203" pitchFamily="34" charset="0"/>
            </a:rPr>
            <a:t>Embedded</a:t>
          </a:r>
          <a:endParaRPr lang="en-IN" dirty="0">
            <a:latin typeface="Bahnschrift" panose="020B0502040204020203" pitchFamily="34" charset="0"/>
          </a:endParaRPr>
        </a:p>
      </dgm:t>
    </dgm:pt>
    <dgm:pt modelId="{1A40044E-881C-4A30-A947-256E2F272063}" type="parTrans" cxnId="{47D55A7E-BA32-4E32-9641-9FE59363E9FD}">
      <dgm:prSet/>
      <dgm:spPr/>
      <dgm:t>
        <a:bodyPr/>
        <a:lstStyle/>
        <a:p>
          <a:endParaRPr lang="en-IN">
            <a:latin typeface="Bahnschrift" panose="020B0502040204020203" pitchFamily="34" charset="0"/>
          </a:endParaRPr>
        </a:p>
      </dgm:t>
    </dgm:pt>
    <dgm:pt modelId="{48DEB143-52FB-4726-AE18-0606842CEE3A}" type="sibTrans" cxnId="{47D55A7E-BA32-4E32-9641-9FE59363E9FD}">
      <dgm:prSet/>
      <dgm:spPr/>
      <dgm:t>
        <a:bodyPr/>
        <a:lstStyle/>
        <a:p>
          <a:endParaRPr lang="en-IN">
            <a:latin typeface="Bahnschrift" panose="020B0502040204020203" pitchFamily="34" charset="0"/>
          </a:endParaRPr>
        </a:p>
      </dgm:t>
    </dgm:pt>
    <dgm:pt modelId="{D8287DC8-FBBE-48D7-A200-6100CB141E95}" type="pres">
      <dgm:prSet presAssocID="{94BD429C-3256-4A40-B728-6F149A64BA0C}" presName="hierChild1" presStyleCnt="0">
        <dgm:presLayoutVars>
          <dgm:chPref val="1"/>
          <dgm:dir/>
          <dgm:animOne val="branch"/>
          <dgm:animLvl val="lvl"/>
          <dgm:resizeHandles/>
        </dgm:presLayoutVars>
      </dgm:prSet>
      <dgm:spPr/>
    </dgm:pt>
    <dgm:pt modelId="{0A5D13BB-7CAF-4555-95C6-D36B20087307}" type="pres">
      <dgm:prSet presAssocID="{3ACCB1F0-64A5-4F20-8A54-18F594207328}" presName="hierRoot1" presStyleCnt="0"/>
      <dgm:spPr/>
    </dgm:pt>
    <dgm:pt modelId="{0E20AA56-33BD-4373-BEB9-9A2F06DC0633}" type="pres">
      <dgm:prSet presAssocID="{3ACCB1F0-64A5-4F20-8A54-18F594207328}" presName="composite" presStyleCnt="0"/>
      <dgm:spPr/>
    </dgm:pt>
    <dgm:pt modelId="{02A2835D-0504-492F-8216-111AD35FF7B8}" type="pres">
      <dgm:prSet presAssocID="{3ACCB1F0-64A5-4F20-8A54-18F594207328}" presName="background" presStyleLbl="node0" presStyleIdx="0" presStyleCnt="1"/>
      <dgm:spPr/>
    </dgm:pt>
    <dgm:pt modelId="{DFF2532B-82BC-44CF-A91B-23D66C576585}" type="pres">
      <dgm:prSet presAssocID="{3ACCB1F0-64A5-4F20-8A54-18F594207328}" presName="text" presStyleLbl="fgAcc0" presStyleIdx="0" presStyleCnt="1">
        <dgm:presLayoutVars>
          <dgm:chPref val="3"/>
        </dgm:presLayoutVars>
      </dgm:prSet>
      <dgm:spPr/>
    </dgm:pt>
    <dgm:pt modelId="{3D546952-94A0-4092-B124-C42DB5BE34DE}" type="pres">
      <dgm:prSet presAssocID="{3ACCB1F0-64A5-4F20-8A54-18F594207328}" presName="hierChild2" presStyleCnt="0"/>
      <dgm:spPr/>
    </dgm:pt>
    <dgm:pt modelId="{1701EF87-0EAD-454F-BBCF-5B7019321D14}" type="pres">
      <dgm:prSet presAssocID="{8F157005-4580-4B83-A74B-48B92AF993E2}" presName="Name10" presStyleLbl="parChTrans1D2" presStyleIdx="0" presStyleCnt="2"/>
      <dgm:spPr/>
    </dgm:pt>
    <dgm:pt modelId="{9F27CEA7-5A48-4B7A-97E3-158412D76D00}" type="pres">
      <dgm:prSet presAssocID="{CF9405EE-50E6-460C-BBC1-64DD0A191D0D}" presName="hierRoot2" presStyleCnt="0"/>
      <dgm:spPr/>
    </dgm:pt>
    <dgm:pt modelId="{56426B1C-FC94-471C-A305-8B2D7C54C999}" type="pres">
      <dgm:prSet presAssocID="{CF9405EE-50E6-460C-BBC1-64DD0A191D0D}" presName="composite2" presStyleCnt="0"/>
      <dgm:spPr/>
    </dgm:pt>
    <dgm:pt modelId="{41FFD935-7D26-49F1-8965-537A1B63785D}" type="pres">
      <dgm:prSet presAssocID="{CF9405EE-50E6-460C-BBC1-64DD0A191D0D}" presName="background2" presStyleLbl="node2" presStyleIdx="0" presStyleCnt="2"/>
      <dgm:spPr/>
    </dgm:pt>
    <dgm:pt modelId="{3EDEC67B-B714-4344-85E5-7372FCC9D520}" type="pres">
      <dgm:prSet presAssocID="{CF9405EE-50E6-460C-BBC1-64DD0A191D0D}" presName="text2" presStyleLbl="fgAcc2" presStyleIdx="0" presStyleCnt="2">
        <dgm:presLayoutVars>
          <dgm:chPref val="3"/>
        </dgm:presLayoutVars>
      </dgm:prSet>
      <dgm:spPr/>
    </dgm:pt>
    <dgm:pt modelId="{84C81551-A140-40CB-9DCF-695E8257EA1E}" type="pres">
      <dgm:prSet presAssocID="{CF9405EE-50E6-460C-BBC1-64DD0A191D0D}" presName="hierChild3" presStyleCnt="0"/>
      <dgm:spPr/>
    </dgm:pt>
    <dgm:pt modelId="{EEF406B2-DE96-40DA-AA2C-DE87AEDC0AE7}" type="pres">
      <dgm:prSet presAssocID="{1A40044E-881C-4A30-A947-256E2F272063}" presName="Name10" presStyleLbl="parChTrans1D2" presStyleIdx="1" presStyleCnt="2"/>
      <dgm:spPr/>
    </dgm:pt>
    <dgm:pt modelId="{4D64248A-57A3-4CCE-8C7C-ECCB0D6BF115}" type="pres">
      <dgm:prSet presAssocID="{75FC6C08-DBCC-4102-B797-9AAA9301B808}" presName="hierRoot2" presStyleCnt="0"/>
      <dgm:spPr/>
    </dgm:pt>
    <dgm:pt modelId="{7E5688F9-5179-484E-AA73-1B1AD05E660E}" type="pres">
      <dgm:prSet presAssocID="{75FC6C08-DBCC-4102-B797-9AAA9301B808}" presName="composite2" presStyleCnt="0"/>
      <dgm:spPr/>
    </dgm:pt>
    <dgm:pt modelId="{32C700E1-370D-484D-9ADD-999C72DD871B}" type="pres">
      <dgm:prSet presAssocID="{75FC6C08-DBCC-4102-B797-9AAA9301B808}" presName="background2" presStyleLbl="node2" presStyleIdx="1" presStyleCnt="2"/>
      <dgm:spPr/>
    </dgm:pt>
    <dgm:pt modelId="{F43D58E5-1A23-46B8-AD28-9C2CB6391B33}" type="pres">
      <dgm:prSet presAssocID="{75FC6C08-DBCC-4102-B797-9AAA9301B808}" presName="text2" presStyleLbl="fgAcc2" presStyleIdx="1" presStyleCnt="2">
        <dgm:presLayoutVars>
          <dgm:chPref val="3"/>
        </dgm:presLayoutVars>
      </dgm:prSet>
      <dgm:spPr/>
    </dgm:pt>
    <dgm:pt modelId="{B8881689-2D76-4C09-A26F-275524FB1471}" type="pres">
      <dgm:prSet presAssocID="{75FC6C08-DBCC-4102-B797-9AAA9301B808}" presName="hierChild3" presStyleCnt="0"/>
      <dgm:spPr/>
    </dgm:pt>
  </dgm:ptLst>
  <dgm:cxnLst>
    <dgm:cxn modelId="{252B760A-34DC-4011-87B5-DBC1A9BAE5A9}" type="presOf" srcId="{CF9405EE-50E6-460C-BBC1-64DD0A191D0D}" destId="{3EDEC67B-B714-4344-85E5-7372FCC9D520}" srcOrd="0" destOrd="0" presId="urn:microsoft.com/office/officeart/2005/8/layout/hierarchy1"/>
    <dgm:cxn modelId="{291F0040-CE96-43C8-B512-670FA41DEB64}" type="presOf" srcId="{8F157005-4580-4B83-A74B-48B92AF993E2}" destId="{1701EF87-0EAD-454F-BBCF-5B7019321D14}" srcOrd="0" destOrd="0" presId="urn:microsoft.com/office/officeart/2005/8/layout/hierarchy1"/>
    <dgm:cxn modelId="{762B665D-4CAD-42B6-98D1-BAAE16F704F4}" type="presOf" srcId="{75FC6C08-DBCC-4102-B797-9AAA9301B808}" destId="{F43D58E5-1A23-46B8-AD28-9C2CB6391B33}" srcOrd="0" destOrd="0" presId="urn:microsoft.com/office/officeart/2005/8/layout/hierarchy1"/>
    <dgm:cxn modelId="{2F236244-A9D7-4DF4-99B2-55EEA800B36C}" type="presOf" srcId="{94BD429C-3256-4A40-B728-6F149A64BA0C}" destId="{D8287DC8-FBBE-48D7-A200-6100CB141E95}" srcOrd="0" destOrd="0" presId="urn:microsoft.com/office/officeart/2005/8/layout/hierarchy1"/>
    <dgm:cxn modelId="{B911FF6D-4EF5-456F-9543-E54954329693}" srcId="{94BD429C-3256-4A40-B728-6F149A64BA0C}" destId="{3ACCB1F0-64A5-4F20-8A54-18F594207328}" srcOrd="0" destOrd="0" parTransId="{66A115F3-7126-46C7-83AC-B54B6417B28D}" sibTransId="{F86840EE-DF44-4466-8757-2C43D020F883}"/>
    <dgm:cxn modelId="{90944A53-73A0-4BC9-B2AF-038DE4C3B7DB}" type="presOf" srcId="{1A40044E-881C-4A30-A947-256E2F272063}" destId="{EEF406B2-DE96-40DA-AA2C-DE87AEDC0AE7}" srcOrd="0" destOrd="0" presId="urn:microsoft.com/office/officeart/2005/8/layout/hierarchy1"/>
    <dgm:cxn modelId="{47D55A7E-BA32-4E32-9641-9FE59363E9FD}" srcId="{3ACCB1F0-64A5-4F20-8A54-18F594207328}" destId="{75FC6C08-DBCC-4102-B797-9AAA9301B808}" srcOrd="1" destOrd="0" parTransId="{1A40044E-881C-4A30-A947-256E2F272063}" sibTransId="{48DEB143-52FB-4726-AE18-0606842CEE3A}"/>
    <dgm:cxn modelId="{C37862A8-D160-409D-9CF2-9DB83D5C51E4}" srcId="{3ACCB1F0-64A5-4F20-8A54-18F594207328}" destId="{CF9405EE-50E6-460C-BBC1-64DD0A191D0D}" srcOrd="0" destOrd="0" parTransId="{8F157005-4580-4B83-A74B-48B92AF993E2}" sibTransId="{F489F9F0-6594-4B19-9AEE-AE14845F34AE}"/>
    <dgm:cxn modelId="{377338E2-9B6E-4DDE-9222-775E878CE37E}" type="presOf" srcId="{3ACCB1F0-64A5-4F20-8A54-18F594207328}" destId="{DFF2532B-82BC-44CF-A91B-23D66C576585}" srcOrd="0" destOrd="0" presId="urn:microsoft.com/office/officeart/2005/8/layout/hierarchy1"/>
    <dgm:cxn modelId="{278A5FE6-C61A-4EF0-BC84-9273A35F471F}" type="presParOf" srcId="{D8287DC8-FBBE-48D7-A200-6100CB141E95}" destId="{0A5D13BB-7CAF-4555-95C6-D36B20087307}" srcOrd="0" destOrd="0" presId="urn:microsoft.com/office/officeart/2005/8/layout/hierarchy1"/>
    <dgm:cxn modelId="{6D792733-CF6B-46A7-A7C2-D576AFD2B49B}" type="presParOf" srcId="{0A5D13BB-7CAF-4555-95C6-D36B20087307}" destId="{0E20AA56-33BD-4373-BEB9-9A2F06DC0633}" srcOrd="0" destOrd="0" presId="urn:microsoft.com/office/officeart/2005/8/layout/hierarchy1"/>
    <dgm:cxn modelId="{17B4F5A5-EF0A-4C26-8809-92799588C891}" type="presParOf" srcId="{0E20AA56-33BD-4373-BEB9-9A2F06DC0633}" destId="{02A2835D-0504-492F-8216-111AD35FF7B8}" srcOrd="0" destOrd="0" presId="urn:microsoft.com/office/officeart/2005/8/layout/hierarchy1"/>
    <dgm:cxn modelId="{C406D698-F4EB-4EAC-BD10-1FFB0A4BE784}" type="presParOf" srcId="{0E20AA56-33BD-4373-BEB9-9A2F06DC0633}" destId="{DFF2532B-82BC-44CF-A91B-23D66C576585}" srcOrd="1" destOrd="0" presId="urn:microsoft.com/office/officeart/2005/8/layout/hierarchy1"/>
    <dgm:cxn modelId="{7B090637-0115-493D-861D-30DC304A20C3}" type="presParOf" srcId="{0A5D13BB-7CAF-4555-95C6-D36B20087307}" destId="{3D546952-94A0-4092-B124-C42DB5BE34DE}" srcOrd="1" destOrd="0" presId="urn:microsoft.com/office/officeart/2005/8/layout/hierarchy1"/>
    <dgm:cxn modelId="{E9790BBD-D1A9-404A-BB6C-EB4D3B9F1A17}" type="presParOf" srcId="{3D546952-94A0-4092-B124-C42DB5BE34DE}" destId="{1701EF87-0EAD-454F-BBCF-5B7019321D14}" srcOrd="0" destOrd="0" presId="urn:microsoft.com/office/officeart/2005/8/layout/hierarchy1"/>
    <dgm:cxn modelId="{139DA915-95F4-458D-8D8A-78431C1D9125}" type="presParOf" srcId="{3D546952-94A0-4092-B124-C42DB5BE34DE}" destId="{9F27CEA7-5A48-4B7A-97E3-158412D76D00}" srcOrd="1" destOrd="0" presId="urn:microsoft.com/office/officeart/2005/8/layout/hierarchy1"/>
    <dgm:cxn modelId="{6308BA56-F043-49E9-880D-76AF98BCA519}" type="presParOf" srcId="{9F27CEA7-5A48-4B7A-97E3-158412D76D00}" destId="{56426B1C-FC94-471C-A305-8B2D7C54C999}" srcOrd="0" destOrd="0" presId="urn:microsoft.com/office/officeart/2005/8/layout/hierarchy1"/>
    <dgm:cxn modelId="{DAA2AF25-0EC2-4F83-BBFA-B7D93DC6150E}" type="presParOf" srcId="{56426B1C-FC94-471C-A305-8B2D7C54C999}" destId="{41FFD935-7D26-49F1-8965-537A1B63785D}" srcOrd="0" destOrd="0" presId="urn:microsoft.com/office/officeart/2005/8/layout/hierarchy1"/>
    <dgm:cxn modelId="{6C0A2B28-98E4-4D33-8E60-A5306710EE83}" type="presParOf" srcId="{56426B1C-FC94-471C-A305-8B2D7C54C999}" destId="{3EDEC67B-B714-4344-85E5-7372FCC9D520}" srcOrd="1" destOrd="0" presId="urn:microsoft.com/office/officeart/2005/8/layout/hierarchy1"/>
    <dgm:cxn modelId="{B7FEFCD0-A84E-4116-9E9F-4F41B5C504C8}" type="presParOf" srcId="{9F27CEA7-5A48-4B7A-97E3-158412D76D00}" destId="{84C81551-A140-40CB-9DCF-695E8257EA1E}" srcOrd="1" destOrd="0" presId="urn:microsoft.com/office/officeart/2005/8/layout/hierarchy1"/>
    <dgm:cxn modelId="{2E40ECD4-7001-4A64-AFAB-56B43E1CDB2F}" type="presParOf" srcId="{3D546952-94A0-4092-B124-C42DB5BE34DE}" destId="{EEF406B2-DE96-40DA-AA2C-DE87AEDC0AE7}" srcOrd="2" destOrd="0" presId="urn:microsoft.com/office/officeart/2005/8/layout/hierarchy1"/>
    <dgm:cxn modelId="{E1EF0D7F-6E94-496E-9E3C-358F52290A94}" type="presParOf" srcId="{3D546952-94A0-4092-B124-C42DB5BE34DE}" destId="{4D64248A-57A3-4CCE-8C7C-ECCB0D6BF115}" srcOrd="3" destOrd="0" presId="urn:microsoft.com/office/officeart/2005/8/layout/hierarchy1"/>
    <dgm:cxn modelId="{CC92B160-A76F-41E3-9E28-4901A5EDD64E}" type="presParOf" srcId="{4D64248A-57A3-4CCE-8C7C-ECCB0D6BF115}" destId="{7E5688F9-5179-484E-AA73-1B1AD05E660E}" srcOrd="0" destOrd="0" presId="urn:microsoft.com/office/officeart/2005/8/layout/hierarchy1"/>
    <dgm:cxn modelId="{3066582F-C0B4-457B-A9CD-8554EAF7F254}" type="presParOf" srcId="{7E5688F9-5179-484E-AA73-1B1AD05E660E}" destId="{32C700E1-370D-484D-9ADD-999C72DD871B}" srcOrd="0" destOrd="0" presId="urn:microsoft.com/office/officeart/2005/8/layout/hierarchy1"/>
    <dgm:cxn modelId="{06745FA4-EAE0-43DD-B4A1-1350336184A1}" type="presParOf" srcId="{7E5688F9-5179-484E-AA73-1B1AD05E660E}" destId="{F43D58E5-1A23-46B8-AD28-9C2CB6391B33}" srcOrd="1" destOrd="0" presId="urn:microsoft.com/office/officeart/2005/8/layout/hierarchy1"/>
    <dgm:cxn modelId="{0CC89932-93B7-419B-97DA-FC193F15C5F8}" type="presParOf" srcId="{4D64248A-57A3-4CCE-8C7C-ECCB0D6BF115}" destId="{B8881689-2D76-4C09-A26F-275524FB147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F406B2-DE96-40DA-AA2C-DE87AEDC0AE7}">
      <dsp:nvSpPr>
        <dsp:cNvPr id="0" name=""/>
        <dsp:cNvSpPr/>
      </dsp:nvSpPr>
      <dsp:spPr>
        <a:xfrm>
          <a:off x="4063252" y="1486412"/>
          <a:ext cx="1430174" cy="680633"/>
        </a:xfrm>
        <a:custGeom>
          <a:avLst/>
          <a:gdLst/>
          <a:ahLst/>
          <a:cxnLst/>
          <a:rect l="0" t="0" r="0" b="0"/>
          <a:pathLst>
            <a:path>
              <a:moveTo>
                <a:pt x="0" y="0"/>
              </a:moveTo>
              <a:lnTo>
                <a:pt x="0" y="463831"/>
              </a:lnTo>
              <a:lnTo>
                <a:pt x="1430174" y="463831"/>
              </a:lnTo>
              <a:lnTo>
                <a:pt x="1430174" y="680633"/>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701EF87-0EAD-454F-BBCF-5B7019321D14}">
      <dsp:nvSpPr>
        <dsp:cNvPr id="0" name=""/>
        <dsp:cNvSpPr/>
      </dsp:nvSpPr>
      <dsp:spPr>
        <a:xfrm>
          <a:off x="2633077" y="1486412"/>
          <a:ext cx="1430174" cy="680633"/>
        </a:xfrm>
        <a:custGeom>
          <a:avLst/>
          <a:gdLst/>
          <a:ahLst/>
          <a:cxnLst/>
          <a:rect l="0" t="0" r="0" b="0"/>
          <a:pathLst>
            <a:path>
              <a:moveTo>
                <a:pt x="1430174" y="0"/>
              </a:moveTo>
              <a:lnTo>
                <a:pt x="1430174" y="463831"/>
              </a:lnTo>
              <a:lnTo>
                <a:pt x="0" y="463831"/>
              </a:lnTo>
              <a:lnTo>
                <a:pt x="0" y="680633"/>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2A2835D-0504-492F-8216-111AD35FF7B8}">
      <dsp:nvSpPr>
        <dsp:cNvPr id="0" name=""/>
        <dsp:cNvSpPr/>
      </dsp:nvSpPr>
      <dsp:spPr>
        <a:xfrm>
          <a:off x="2893109" y="330"/>
          <a:ext cx="2340286" cy="148608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FF2532B-82BC-44CF-A91B-23D66C576585}">
      <dsp:nvSpPr>
        <dsp:cNvPr id="0" name=""/>
        <dsp:cNvSpPr/>
      </dsp:nvSpPr>
      <dsp:spPr>
        <a:xfrm>
          <a:off x="3153141" y="247360"/>
          <a:ext cx="2340286" cy="1486081"/>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latin typeface="Bahnschrift" panose="020B0502040204020203" pitchFamily="34" charset="0"/>
            </a:rPr>
            <a:t>Metastore</a:t>
          </a:r>
          <a:r>
            <a:rPr lang="en-US" sz="2200" kern="1200" dirty="0">
              <a:latin typeface="Bahnschrift" panose="020B0502040204020203" pitchFamily="34" charset="0"/>
            </a:rPr>
            <a:t> can be configured in one of two ways</a:t>
          </a:r>
        </a:p>
      </dsp:txBody>
      <dsp:txXfrm>
        <a:off x="3196667" y="290886"/>
        <a:ext cx="2253234" cy="1399029"/>
      </dsp:txXfrm>
    </dsp:sp>
    <dsp:sp modelId="{41FFD935-7D26-49F1-8965-537A1B63785D}">
      <dsp:nvSpPr>
        <dsp:cNvPr id="0" name=""/>
        <dsp:cNvSpPr/>
      </dsp:nvSpPr>
      <dsp:spPr>
        <a:xfrm>
          <a:off x="1462934" y="2167045"/>
          <a:ext cx="2340286" cy="148608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sp>
    <dsp:sp modelId="{3EDEC67B-B714-4344-85E5-7372FCC9D520}">
      <dsp:nvSpPr>
        <dsp:cNvPr id="0" name=""/>
        <dsp:cNvSpPr/>
      </dsp:nvSpPr>
      <dsp:spPr>
        <a:xfrm>
          <a:off x="1722966" y="2414075"/>
          <a:ext cx="2340286" cy="1486081"/>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latin typeface="Bahnschrift" panose="020B0502040204020203" pitchFamily="34" charset="0"/>
            </a:rPr>
            <a:t>Remote</a:t>
          </a:r>
          <a:endParaRPr lang="en-US" sz="2200" kern="1200" dirty="0">
            <a:latin typeface="Bahnschrift" panose="020B0502040204020203" pitchFamily="34" charset="0"/>
          </a:endParaRPr>
        </a:p>
      </dsp:txBody>
      <dsp:txXfrm>
        <a:off x="1766492" y="2457601"/>
        <a:ext cx="2253234" cy="1399029"/>
      </dsp:txXfrm>
    </dsp:sp>
    <dsp:sp modelId="{32C700E1-370D-484D-9ADD-999C72DD871B}">
      <dsp:nvSpPr>
        <dsp:cNvPr id="0" name=""/>
        <dsp:cNvSpPr/>
      </dsp:nvSpPr>
      <dsp:spPr>
        <a:xfrm>
          <a:off x="4323284" y="2167045"/>
          <a:ext cx="2340286" cy="148608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sp>
    <dsp:sp modelId="{F43D58E5-1A23-46B8-AD28-9C2CB6391B33}">
      <dsp:nvSpPr>
        <dsp:cNvPr id="0" name=""/>
        <dsp:cNvSpPr/>
      </dsp:nvSpPr>
      <dsp:spPr>
        <a:xfrm>
          <a:off x="4583316" y="2414075"/>
          <a:ext cx="2340286" cy="1486081"/>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latin typeface="Bahnschrift" panose="020B0502040204020203" pitchFamily="34" charset="0"/>
            </a:rPr>
            <a:t>Embedded</a:t>
          </a:r>
          <a:endParaRPr lang="en-IN" sz="2200" kern="1200" dirty="0">
            <a:latin typeface="Bahnschrift" panose="020B0502040204020203" pitchFamily="34" charset="0"/>
          </a:endParaRPr>
        </a:p>
      </dsp:txBody>
      <dsp:txXfrm>
        <a:off x="4626842" y="2457601"/>
        <a:ext cx="2253234" cy="139902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9/13/2021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9/13/2021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9/13/2021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9/13/2021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9/13/2021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9/13/2021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9/13/2021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9/13/2021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arget="../media/image8.jpeg" Type="http://schemas.openxmlformats.org/officeDocument/2006/relationships/image"/><Relationship Id="rId1" Target="../slideLayouts/slideLayout3.xml" Type="http://schemas.openxmlformats.org/officeDocument/2006/relationships/slideLayout"/></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arget="../media/image11.jpeg" Type="http://schemas.openxmlformats.org/officeDocument/2006/relationships/image"/><Relationship Id="rId1" Target="../slideLayouts/slideLayout3.xml" Type="http://schemas.openxmlformats.org/officeDocument/2006/relationships/slideLayout"/></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dirty="0"/>
              <a:t>learn services offered by HIVE</a:t>
            </a:r>
          </a:p>
          <a:p>
            <a:pPr algn="just"/>
            <a:r>
              <a:rPr lang="en-US" dirty="0"/>
              <a:t>explore concepts of HIVEQL</a:t>
            </a:r>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2235">
            <a:alpha val="1000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988BF35-5BA3-4266-AF97-425DC8ADF94A}"/>
              </a:ext>
            </a:extLst>
          </p:cNvPr>
          <p:cNvPicPr>
            <a:picLocks noChangeAspect="1" noGrp="1"/>
          </p:cNvPicPr>
          <p:nvPr>
            <p:ph idx="1"/>
          </p:nvPr>
        </p:nvPicPr>
        <p:blipFill rotWithShape="1">
          <a:blip r:embed="rId2"/>
          <a:srcRect b="13" r="-37"/>
          <a:stretch/>
        </p:blipFill>
        <p:spPr>
          <a:xfrm>
            <a:off x="2211571" y="1605516"/>
            <a:ext cx="4478735" cy="4189228"/>
          </a:xfrm>
          <a:prstGeom prst="rect">
            <a:avLst/>
          </a:prstGeom>
        </p:spPr>
      </p:pic>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lstStyle/>
          <a:p>
            <a:r>
              <a:rPr dirty="0" lang="en-US"/>
              <a:t>Introduction</a:t>
            </a:r>
          </a:p>
        </p:txBody>
      </p:sp>
      <p:sp>
        <p:nvSpPr>
          <p:cNvPr id="5" name="Rectangle: Diagonal Corners Snipped 4">
            <a:extLst>
              <a:ext uri="{FF2B5EF4-FFF2-40B4-BE49-F238E27FC236}">
                <a16:creationId xmlns:a16="http://schemas.microsoft.com/office/drawing/2014/main" id="{4655B1FE-E3D3-4C52-8BEB-73B46ACAF497}"/>
              </a:ext>
            </a:extLst>
          </p:cNvPr>
          <p:cNvSpPr/>
          <p:nvPr/>
        </p:nvSpPr>
        <p:spPr>
          <a:xfrm>
            <a:off x="2365743" y="5990488"/>
            <a:ext cx="4170390" cy="669851"/>
          </a:xfrm>
          <a:prstGeom prst="snip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US" sz="2800">
                <a:latin charset="0" panose="020B0502040204020203" pitchFamily="34" typeface="Bahnschrift"/>
              </a:rPr>
              <a:t>HIVE Architecture</a:t>
            </a:r>
            <a:endParaRPr dirty="0" lang="en-IN" sz="2800">
              <a:latin charset="0" panose="020B0502040204020203" pitchFamily="34" typeface="Bahnschrift"/>
            </a:endParaRPr>
          </a:p>
        </p:txBody>
      </p:sp>
    </p:spTree>
    <p:extLst>
      <p:ext uri="{BB962C8B-B14F-4D97-AF65-F5344CB8AC3E}">
        <p14:creationId xmlns:p14="http://schemas.microsoft.com/office/powerpoint/2010/main" val="3026351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lang="en-IN" dirty="0"/>
              <a:t>Services offered by HIVE</a:t>
            </a:r>
          </a:p>
        </p:txBody>
      </p:sp>
      <p:pic>
        <p:nvPicPr>
          <p:cNvPr id="4" name="Picture 3">
            <a:extLst>
              <a:ext uri="{FF2B5EF4-FFF2-40B4-BE49-F238E27FC236}">
                <a16:creationId xmlns:a16="http://schemas.microsoft.com/office/drawing/2014/main" id="{9807211D-6647-49ED-B2E8-6515C9F59174}"/>
              </a:ext>
            </a:extLst>
          </p:cNvPr>
          <p:cNvPicPr>
            <a:picLocks noChangeAspect="1"/>
          </p:cNvPicPr>
          <p:nvPr/>
        </p:nvPicPr>
        <p:blipFill>
          <a:blip r:embed="rId2"/>
          <a:stretch>
            <a:fillRect/>
          </a:stretch>
        </p:blipFill>
        <p:spPr>
          <a:xfrm>
            <a:off x="1716604" y="2384879"/>
            <a:ext cx="5476875" cy="4248150"/>
          </a:xfrm>
          <a:prstGeom prst="rect">
            <a:avLst/>
          </a:prstGeom>
          <a:effectLst>
            <a:outerShdw blurRad="63500" sx="102000" sy="102000" algn="ctr" rotWithShape="0">
              <a:prstClr val="black">
                <a:alpha val="40000"/>
              </a:prstClr>
            </a:outerShdw>
          </a:effectLst>
        </p:spPr>
      </p:pic>
      <p:sp>
        <p:nvSpPr>
          <p:cNvPr id="5" name="Rectangle: Diagonal Corners Snipped 4">
            <a:extLst>
              <a:ext uri="{FF2B5EF4-FFF2-40B4-BE49-F238E27FC236}">
                <a16:creationId xmlns:a16="http://schemas.microsoft.com/office/drawing/2014/main" id="{3788B286-5928-4761-8D04-640C9B1BBD9C}"/>
              </a:ext>
            </a:extLst>
          </p:cNvPr>
          <p:cNvSpPr/>
          <p:nvPr/>
        </p:nvSpPr>
        <p:spPr>
          <a:xfrm>
            <a:off x="2772937" y="1520295"/>
            <a:ext cx="3364205" cy="669851"/>
          </a:xfrm>
          <a:prstGeom prst="snip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Beeline</a:t>
            </a:r>
          </a:p>
        </p:txBody>
      </p:sp>
    </p:spTree>
    <p:extLst>
      <p:ext uri="{BB962C8B-B14F-4D97-AF65-F5344CB8AC3E}">
        <p14:creationId xmlns:p14="http://schemas.microsoft.com/office/powerpoint/2010/main" val="388913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lang="en-IN" dirty="0"/>
              <a:t>Services offered by HIVE</a:t>
            </a:r>
          </a:p>
        </p:txBody>
      </p:sp>
      <p:pic>
        <p:nvPicPr>
          <p:cNvPr id="8" name="Picture 7">
            <a:extLst>
              <a:ext uri="{FF2B5EF4-FFF2-40B4-BE49-F238E27FC236}">
                <a16:creationId xmlns:a16="http://schemas.microsoft.com/office/drawing/2014/main" id="{737A2C82-091F-4045-96BD-07DA42068AF3}"/>
              </a:ext>
            </a:extLst>
          </p:cNvPr>
          <p:cNvPicPr>
            <a:picLocks noChangeAspect="1"/>
          </p:cNvPicPr>
          <p:nvPr/>
        </p:nvPicPr>
        <p:blipFill>
          <a:blip r:embed="rId2"/>
          <a:stretch>
            <a:fillRect/>
          </a:stretch>
        </p:blipFill>
        <p:spPr>
          <a:xfrm>
            <a:off x="964070" y="2764465"/>
            <a:ext cx="7135119" cy="3876748"/>
          </a:xfrm>
          <a:prstGeom prst="rect">
            <a:avLst/>
          </a:prstGeom>
          <a:effectLst>
            <a:outerShdw blurRad="63500" sx="102000" sy="102000" algn="ctr" rotWithShape="0">
              <a:prstClr val="black">
                <a:alpha val="40000"/>
              </a:prstClr>
            </a:outerShdw>
          </a:effectLst>
        </p:spPr>
      </p:pic>
      <p:sp>
        <p:nvSpPr>
          <p:cNvPr id="6" name="Rectangle: Diagonal Corners Snipped 5">
            <a:extLst>
              <a:ext uri="{FF2B5EF4-FFF2-40B4-BE49-F238E27FC236}">
                <a16:creationId xmlns:a16="http://schemas.microsoft.com/office/drawing/2014/main" id="{BEF1EF42-1D64-461D-AB9F-B8CDD89296A0}"/>
              </a:ext>
            </a:extLst>
          </p:cNvPr>
          <p:cNvSpPr/>
          <p:nvPr/>
        </p:nvSpPr>
        <p:spPr>
          <a:xfrm>
            <a:off x="2446434" y="1710088"/>
            <a:ext cx="4170390" cy="669851"/>
          </a:xfrm>
          <a:prstGeom prst="snip2DiagRect">
            <a:avLst/>
          </a:prstGeom>
          <a:solidFill>
            <a:srgbClr val="4452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HIVE Server2</a:t>
            </a:r>
          </a:p>
        </p:txBody>
      </p:sp>
    </p:spTree>
    <p:extLst>
      <p:ext uri="{BB962C8B-B14F-4D97-AF65-F5344CB8AC3E}">
        <p14:creationId xmlns:p14="http://schemas.microsoft.com/office/powerpoint/2010/main" val="4291591231"/>
      </p:ext>
    </p:extLst>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dirty="0" lang="en-IN"/>
              <a:t>Services offered by HIVE</a:t>
            </a:r>
          </a:p>
        </p:txBody>
      </p:sp>
      <p:pic>
        <p:nvPicPr>
          <p:cNvPr id="7" name="Content Placeholder 6">
            <a:extLst>
              <a:ext uri="{FF2B5EF4-FFF2-40B4-BE49-F238E27FC236}">
                <a16:creationId xmlns:a16="http://schemas.microsoft.com/office/drawing/2014/main" id="{50B93EC5-C772-4ED9-BEBA-C0F117336F39}"/>
              </a:ext>
            </a:extLst>
          </p:cNvPr>
          <p:cNvPicPr>
            <a:picLocks noChangeAspect="1" noGrp="1"/>
          </p:cNvPicPr>
          <p:nvPr>
            <p:ph idx="1"/>
          </p:nvPr>
        </p:nvPicPr>
        <p:blipFill rotWithShape="1">
          <a:blip r:embed="rId2"/>
          <a:srcRect b="-128" r="-99"/>
          <a:stretch/>
        </p:blipFill>
        <p:spPr>
          <a:xfrm>
            <a:off x="1862856" y="2764464"/>
            <a:ext cx="5337546" cy="3746987"/>
          </a:xfrm>
          <a:prstGeom prst="rect">
            <a:avLst/>
          </a:prstGeom>
          <a:effectLst>
            <a:outerShdw algn="ctr" blurRad="63500" rotWithShape="0" sx="102000" sy="102000">
              <a:prstClr val="black">
                <a:alpha val="40000"/>
              </a:prstClr>
            </a:outerShdw>
          </a:effectLst>
        </p:spPr>
      </p:pic>
      <p:sp>
        <p:nvSpPr>
          <p:cNvPr id="6" name="Rectangle: Diagonal Corners Snipped 5">
            <a:extLst>
              <a:ext uri="{FF2B5EF4-FFF2-40B4-BE49-F238E27FC236}">
                <a16:creationId xmlns:a16="http://schemas.microsoft.com/office/drawing/2014/main" id="{3F2FA06C-6016-4458-B847-3931FF33BF67}"/>
              </a:ext>
            </a:extLst>
          </p:cNvPr>
          <p:cNvSpPr/>
          <p:nvPr/>
        </p:nvSpPr>
        <p:spPr>
          <a:xfrm>
            <a:off x="2446434" y="1710088"/>
            <a:ext cx="4170390" cy="669851"/>
          </a:xfrm>
          <a:prstGeom prst="snip2DiagRect">
            <a:avLst/>
          </a:prstGeom>
          <a:solidFill>
            <a:srgbClr val="4452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US" sz="2800">
                <a:latin charset="0" panose="020B0502040204020203" pitchFamily="34" typeface="Bahnschrift"/>
              </a:rPr>
              <a:t>HIVE Driver</a:t>
            </a:r>
          </a:p>
        </p:txBody>
      </p:sp>
    </p:spTree>
    <p:extLst>
      <p:ext uri="{BB962C8B-B14F-4D97-AF65-F5344CB8AC3E}">
        <p14:creationId xmlns:p14="http://schemas.microsoft.com/office/powerpoint/2010/main" val="309079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8E7F8D2-5DEA-47DC-AB3C-072F2FA9DD7A}"/>
              </a:ext>
            </a:extLst>
          </p:cNvPr>
          <p:cNvPicPr>
            <a:picLocks noGrp="1" noChangeAspect="1"/>
          </p:cNvPicPr>
          <p:nvPr>
            <p:ph idx="1"/>
          </p:nvPr>
        </p:nvPicPr>
        <p:blipFill>
          <a:blip r:embed="rId2"/>
          <a:stretch>
            <a:fillRect/>
          </a:stretch>
        </p:blipFill>
        <p:spPr>
          <a:xfrm>
            <a:off x="1819718" y="2741824"/>
            <a:ext cx="5423822" cy="3472476"/>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lang="en-IN" dirty="0"/>
              <a:t>Services offered by HIVE</a:t>
            </a:r>
          </a:p>
        </p:txBody>
      </p:sp>
      <p:sp>
        <p:nvSpPr>
          <p:cNvPr id="6" name="Rectangle: Diagonal Corners Snipped 5">
            <a:extLst>
              <a:ext uri="{FF2B5EF4-FFF2-40B4-BE49-F238E27FC236}">
                <a16:creationId xmlns:a16="http://schemas.microsoft.com/office/drawing/2014/main" id="{F8DD3DF6-1970-473B-8476-D02E1220F9F3}"/>
              </a:ext>
            </a:extLst>
          </p:cNvPr>
          <p:cNvSpPr/>
          <p:nvPr/>
        </p:nvSpPr>
        <p:spPr>
          <a:xfrm>
            <a:off x="2446434" y="1710088"/>
            <a:ext cx="4170390" cy="669851"/>
          </a:xfrm>
          <a:prstGeom prst="snip2DiagRect">
            <a:avLst/>
          </a:prstGeom>
          <a:solidFill>
            <a:srgbClr val="4452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HIVE Complier</a:t>
            </a:r>
          </a:p>
        </p:txBody>
      </p:sp>
    </p:spTree>
    <p:extLst>
      <p:ext uri="{BB962C8B-B14F-4D97-AF65-F5344CB8AC3E}">
        <p14:creationId xmlns:p14="http://schemas.microsoft.com/office/powerpoint/2010/main" val="2578275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lang="en-IN" dirty="0"/>
              <a:t>Services offered by HIVE</a:t>
            </a:r>
          </a:p>
        </p:txBody>
      </p:sp>
      <p:pic>
        <p:nvPicPr>
          <p:cNvPr id="4" name="Picture 3">
            <a:extLst>
              <a:ext uri="{FF2B5EF4-FFF2-40B4-BE49-F238E27FC236}">
                <a16:creationId xmlns:a16="http://schemas.microsoft.com/office/drawing/2014/main" id="{2327C897-2E4C-4ACF-A4A2-EAF2F2365F70}"/>
              </a:ext>
            </a:extLst>
          </p:cNvPr>
          <p:cNvPicPr>
            <a:picLocks noChangeAspect="1"/>
          </p:cNvPicPr>
          <p:nvPr/>
        </p:nvPicPr>
        <p:blipFill>
          <a:blip r:embed="rId2"/>
          <a:stretch>
            <a:fillRect/>
          </a:stretch>
        </p:blipFill>
        <p:spPr>
          <a:xfrm>
            <a:off x="1983575" y="2732568"/>
            <a:ext cx="5176849" cy="3914902"/>
          </a:xfrm>
          <a:prstGeom prst="rect">
            <a:avLst/>
          </a:prstGeom>
          <a:effectLst>
            <a:outerShdw blurRad="63500" sx="102000" sy="102000" algn="ctr" rotWithShape="0">
              <a:prstClr val="black">
                <a:alpha val="40000"/>
              </a:prstClr>
            </a:outerShdw>
          </a:effectLst>
        </p:spPr>
      </p:pic>
      <p:sp>
        <p:nvSpPr>
          <p:cNvPr id="6" name="Rectangle: Diagonal Corners Snipped 5">
            <a:extLst>
              <a:ext uri="{FF2B5EF4-FFF2-40B4-BE49-F238E27FC236}">
                <a16:creationId xmlns:a16="http://schemas.microsoft.com/office/drawing/2014/main" id="{F328E02E-DB67-4D6B-8AC4-FC7C27030ADC}"/>
              </a:ext>
            </a:extLst>
          </p:cNvPr>
          <p:cNvSpPr/>
          <p:nvPr/>
        </p:nvSpPr>
        <p:spPr>
          <a:xfrm>
            <a:off x="2446434" y="1710088"/>
            <a:ext cx="4170390" cy="669851"/>
          </a:xfrm>
          <a:prstGeom prst="snip2DiagRect">
            <a:avLst/>
          </a:prstGeom>
          <a:solidFill>
            <a:srgbClr val="4452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HIVE Complier</a:t>
            </a:r>
          </a:p>
        </p:txBody>
      </p:sp>
    </p:spTree>
    <p:extLst>
      <p:ext uri="{BB962C8B-B14F-4D97-AF65-F5344CB8AC3E}">
        <p14:creationId xmlns:p14="http://schemas.microsoft.com/office/powerpoint/2010/main" val="2332631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57198-290C-4ACC-9F3E-5ED38B41FD65}"/>
              </a:ext>
            </a:extLst>
          </p:cNvPr>
          <p:cNvSpPr>
            <a:spLocks noGrp="1"/>
          </p:cNvSpPr>
          <p:nvPr>
            <p:ph type="title"/>
          </p:nvPr>
        </p:nvSpPr>
        <p:spPr/>
        <p:txBody>
          <a:bodyPr/>
          <a:lstStyle/>
          <a:p>
            <a:r>
              <a:rPr lang="en-IN" dirty="0"/>
              <a:t>Services offered by HIVE</a:t>
            </a:r>
          </a:p>
        </p:txBody>
      </p:sp>
      <p:sp>
        <p:nvSpPr>
          <p:cNvPr id="5" name="Rectangle 4">
            <a:extLst>
              <a:ext uri="{FF2B5EF4-FFF2-40B4-BE49-F238E27FC236}">
                <a16:creationId xmlns:a16="http://schemas.microsoft.com/office/drawing/2014/main" id="{FCA87C6A-999D-42D1-91C5-AF502095675E}"/>
              </a:ext>
            </a:extLst>
          </p:cNvPr>
          <p:cNvSpPr/>
          <p:nvPr/>
        </p:nvSpPr>
        <p:spPr>
          <a:xfrm>
            <a:off x="0" y="3409950"/>
            <a:ext cx="9144000" cy="946298"/>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Bahnschrift" panose="020B0502040204020203" pitchFamily="34" charset="0"/>
              </a:rPr>
              <a:t>Optimizer</a:t>
            </a:r>
          </a:p>
        </p:txBody>
      </p:sp>
      <p:sp>
        <p:nvSpPr>
          <p:cNvPr id="2" name="Rectangle 1">
            <a:extLst>
              <a:ext uri="{FF2B5EF4-FFF2-40B4-BE49-F238E27FC236}">
                <a16:creationId xmlns:a16="http://schemas.microsoft.com/office/drawing/2014/main" id="{3D6ABFEC-4EA2-4EDA-BC9D-A0A20CEF87FB}"/>
              </a:ext>
            </a:extLst>
          </p:cNvPr>
          <p:cNvSpPr/>
          <p:nvPr/>
        </p:nvSpPr>
        <p:spPr>
          <a:xfrm>
            <a:off x="0" y="3486150"/>
            <a:ext cx="9144000" cy="190500"/>
          </a:xfrm>
          <a:prstGeom prst="rect">
            <a:avLst/>
          </a:prstGeom>
          <a:gradFill flip="none" rotWithShape="1">
            <a:gsLst>
              <a:gs pos="0">
                <a:srgbClr val="FFC000"/>
              </a:gs>
              <a:gs pos="85000">
                <a:srgbClr val="FFFF00"/>
              </a:gs>
              <a:gs pos="100000">
                <a:schemeClr val="tx1"/>
              </a:gs>
            </a:gsLst>
            <a:lin ang="8100000" scaled="1"/>
            <a:tileRect/>
          </a:gradFill>
          <a:ln>
            <a:noFill/>
          </a:ln>
          <a:effectLst>
            <a:innerShdw blurRad="114300">
              <a:prstClr val="black"/>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7039CD6-67AA-4E27-8C6F-C94312B1E21B}"/>
              </a:ext>
            </a:extLst>
          </p:cNvPr>
          <p:cNvSpPr/>
          <p:nvPr/>
        </p:nvSpPr>
        <p:spPr>
          <a:xfrm>
            <a:off x="0" y="4108598"/>
            <a:ext cx="9144000" cy="190500"/>
          </a:xfrm>
          <a:prstGeom prst="rect">
            <a:avLst/>
          </a:prstGeom>
          <a:gradFill flip="none" rotWithShape="1">
            <a:gsLst>
              <a:gs pos="0">
                <a:srgbClr val="FFC000"/>
              </a:gs>
              <a:gs pos="85000">
                <a:srgbClr val="FFFF00"/>
              </a:gs>
              <a:gs pos="100000">
                <a:schemeClr val="tx1"/>
              </a:gs>
            </a:gsLst>
            <a:lin ang="8100000" scaled="1"/>
            <a:tileRect/>
          </a:gradFill>
          <a:ln>
            <a:noFill/>
          </a:ln>
          <a:effectLst>
            <a:innerShdw blurRad="114300">
              <a:prstClr val="black"/>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919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210316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Usage of Suitable File Format in Hive</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1129404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Usage of Suitable File Format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Partitioning </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1548934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Usage of Suitable File Format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Partitioning </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Bucketing in Hive</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4218487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Usage of Suitable File Format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Partitioning </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Bucketing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Vectorization In Hive</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32617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Usage of Suitable File Format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Partitioning </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Bucketing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Vectorization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Cost-Based Optimization in Hive (CBO)</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2958528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0" y="2732569"/>
            <a:ext cx="9144000" cy="3900460"/>
          </a:xfrm>
        </p:spPr>
        <p:txBody>
          <a:bodyPr>
            <a:normAutofit/>
          </a:bodyPr>
          <a:lstStyle/>
          <a:p>
            <a:pPr marL="457200" lvl="1" indent="0" algn="just">
              <a:buNone/>
            </a:pPr>
            <a:r>
              <a:rPr lang="en-IN" sz="1200" dirty="0"/>
              <a:t>	</a:t>
            </a:r>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7" name="Freeform: Shape 6">
            <a:extLst>
              <a:ext uri="{FF2B5EF4-FFF2-40B4-BE49-F238E27FC236}">
                <a16:creationId xmlns:a16="http://schemas.microsoft.com/office/drawing/2014/main" id="{6B3366AB-512F-4F94-B9F0-8873E60B4545}"/>
              </a:ext>
            </a:extLst>
          </p:cNvPr>
          <p:cNvSpPr/>
          <p:nvPr/>
        </p:nvSpPr>
        <p:spPr>
          <a:xfrm>
            <a:off x="338362" y="2223571"/>
            <a:ext cx="8386536" cy="4158000"/>
          </a:xfrm>
          <a:custGeom>
            <a:avLst/>
            <a:gdLst>
              <a:gd name="connsiteX0" fmla="*/ 0 w 8386536"/>
              <a:gd name="connsiteY0" fmla="*/ 0 h 4158000"/>
              <a:gd name="connsiteX1" fmla="*/ 8386536 w 8386536"/>
              <a:gd name="connsiteY1" fmla="*/ 0 h 4158000"/>
              <a:gd name="connsiteX2" fmla="*/ 8386536 w 8386536"/>
              <a:gd name="connsiteY2" fmla="*/ 4158000 h 4158000"/>
              <a:gd name="connsiteX3" fmla="*/ 0 w 8386536"/>
              <a:gd name="connsiteY3" fmla="*/ 4158000 h 4158000"/>
              <a:gd name="connsiteX4" fmla="*/ 0 w 8386536"/>
              <a:gd name="connsiteY4" fmla="*/ 0 h 41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536" h="4158000">
                <a:moveTo>
                  <a:pt x="0" y="0"/>
                </a:moveTo>
                <a:lnTo>
                  <a:pt x="8386536" y="0"/>
                </a:lnTo>
                <a:lnTo>
                  <a:pt x="8386536" y="4158000"/>
                </a:lnTo>
                <a:lnTo>
                  <a:pt x="0" y="4158000"/>
                </a:lnTo>
                <a:lnTo>
                  <a:pt x="0" y="0"/>
                </a:lnTo>
                <a:close/>
              </a:path>
            </a:pathLst>
          </a:custGeom>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0888" tIns="624840" rIns="650888" bIns="213360" numCol="1" spcCol="1270" anchor="t" anchorCtr="0">
            <a:noAutofit/>
          </a:bodyPr>
          <a:lstStyle/>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Tez-Execution Engine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a:latin typeface="Bahnschrift" panose="020B0502040204020203" pitchFamily="34" charset="0"/>
              </a:rPr>
              <a:t>Usage of Suitable File Format in Hive</a:t>
            </a:r>
            <a:endParaRPr lang="en-IN" sz="3000" kern="120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Partitioning </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a:latin typeface="Bahnschrift" panose="020B0502040204020203" pitchFamily="34" charset="0"/>
              </a:rPr>
              <a:t>Bucketing in Hive</a:t>
            </a:r>
            <a:endParaRPr lang="en-IN" sz="3000" kern="120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Vectorization In Hive</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US" sz="3000" b="0" i="0" kern="1200" dirty="0">
                <a:latin typeface="Bahnschrift" panose="020B0502040204020203" pitchFamily="34" charset="0"/>
              </a:rPr>
              <a:t>Cost-Based Optimization in Hive (CBO)</a:t>
            </a:r>
            <a:endParaRPr lang="en-IN" sz="3000" kern="1200" dirty="0">
              <a:latin typeface="Bahnschrift" panose="020B0502040204020203" pitchFamily="34" charset="0"/>
            </a:endParaRPr>
          </a:p>
          <a:p>
            <a:pPr marL="285750" lvl="1" indent="-285750" algn="l" defTabSz="1333500">
              <a:lnSpc>
                <a:spcPct val="90000"/>
              </a:lnSpc>
              <a:spcBef>
                <a:spcPct val="0"/>
              </a:spcBef>
              <a:spcAft>
                <a:spcPct val="15000"/>
              </a:spcAft>
              <a:buFont typeface="Arial" panose="020B0604020202020204" pitchFamily="34" charset="0"/>
              <a:buChar char="•"/>
            </a:pPr>
            <a:r>
              <a:rPr lang="en-IN" sz="3000" b="0" i="0" kern="1200" dirty="0">
                <a:latin typeface="Bahnschrift" panose="020B0502040204020203" pitchFamily="34" charset="0"/>
              </a:rPr>
              <a:t>Hive Indexing </a:t>
            </a:r>
            <a:endParaRPr lang="en-IN" sz="3000" kern="1200" dirty="0">
              <a:latin typeface="Bahnschrift" panose="020B0502040204020203" pitchFamily="34" charset="0"/>
            </a:endParaRPr>
          </a:p>
        </p:txBody>
      </p:sp>
      <p:sp>
        <p:nvSpPr>
          <p:cNvPr id="8" name="Freeform: Shape 7">
            <a:extLst>
              <a:ext uri="{FF2B5EF4-FFF2-40B4-BE49-F238E27FC236}">
                <a16:creationId xmlns:a16="http://schemas.microsoft.com/office/drawing/2014/main" id="{A4849BD8-DB40-4FAD-8B89-9E50745ECCBA}"/>
              </a:ext>
            </a:extLst>
          </p:cNvPr>
          <p:cNvSpPr/>
          <p:nvPr/>
        </p:nvSpPr>
        <p:spPr>
          <a:xfrm>
            <a:off x="757688" y="1871483"/>
            <a:ext cx="5870575" cy="885600"/>
          </a:xfrm>
          <a:custGeom>
            <a:avLst/>
            <a:gdLst>
              <a:gd name="connsiteX0" fmla="*/ 0 w 5870575"/>
              <a:gd name="connsiteY0" fmla="*/ 147603 h 885600"/>
              <a:gd name="connsiteX1" fmla="*/ 147603 w 5870575"/>
              <a:gd name="connsiteY1" fmla="*/ 0 h 885600"/>
              <a:gd name="connsiteX2" fmla="*/ 5722972 w 5870575"/>
              <a:gd name="connsiteY2" fmla="*/ 0 h 885600"/>
              <a:gd name="connsiteX3" fmla="*/ 5870575 w 5870575"/>
              <a:gd name="connsiteY3" fmla="*/ 147603 h 885600"/>
              <a:gd name="connsiteX4" fmla="*/ 5870575 w 5870575"/>
              <a:gd name="connsiteY4" fmla="*/ 737997 h 885600"/>
              <a:gd name="connsiteX5" fmla="*/ 5722972 w 5870575"/>
              <a:gd name="connsiteY5" fmla="*/ 885600 h 885600"/>
              <a:gd name="connsiteX6" fmla="*/ 147603 w 5870575"/>
              <a:gd name="connsiteY6" fmla="*/ 885600 h 885600"/>
              <a:gd name="connsiteX7" fmla="*/ 0 w 5870575"/>
              <a:gd name="connsiteY7" fmla="*/ 737997 h 885600"/>
              <a:gd name="connsiteX8" fmla="*/ 0 w 5870575"/>
              <a:gd name="connsiteY8" fmla="*/ 147603 h 88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75" h="885600">
                <a:moveTo>
                  <a:pt x="0" y="147603"/>
                </a:moveTo>
                <a:cubicBezTo>
                  <a:pt x="0" y="66084"/>
                  <a:pt x="66084" y="0"/>
                  <a:pt x="147603" y="0"/>
                </a:cubicBezTo>
                <a:lnTo>
                  <a:pt x="5722972" y="0"/>
                </a:lnTo>
                <a:cubicBezTo>
                  <a:pt x="5804491" y="0"/>
                  <a:pt x="5870575" y="66084"/>
                  <a:pt x="5870575" y="147603"/>
                </a:cubicBezTo>
                <a:lnTo>
                  <a:pt x="5870575" y="737997"/>
                </a:lnTo>
                <a:cubicBezTo>
                  <a:pt x="5870575" y="819516"/>
                  <a:pt x="5804491" y="885600"/>
                  <a:pt x="5722972" y="885600"/>
                </a:cubicBezTo>
                <a:lnTo>
                  <a:pt x="147603" y="885600"/>
                </a:lnTo>
                <a:cubicBezTo>
                  <a:pt x="66084" y="885600"/>
                  <a:pt x="0" y="819516"/>
                  <a:pt x="0" y="737997"/>
                </a:cubicBezTo>
                <a:lnTo>
                  <a:pt x="0" y="147603"/>
                </a:lnTo>
                <a:close/>
              </a:path>
            </a:pathLst>
          </a:custGeom>
          <a:solidFill>
            <a:srgbClr val="272727"/>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spcFirstLastPara="0" vert="horz" wrap="square" lIns="265125" tIns="43231" rIns="265125" bIns="43231" numCol="1" spcCol="1270" anchor="ctr" anchorCtr="0">
            <a:noAutofit/>
          </a:bodyPr>
          <a:lstStyle/>
          <a:p>
            <a:pPr marL="0" lvl="0" indent="0" algn="l" defTabSz="1333500">
              <a:lnSpc>
                <a:spcPct val="90000"/>
              </a:lnSpc>
              <a:spcBef>
                <a:spcPct val="0"/>
              </a:spcBef>
              <a:spcAft>
                <a:spcPct val="35000"/>
              </a:spcAft>
              <a:buNone/>
            </a:pPr>
            <a:r>
              <a:rPr lang="en-IN" sz="3000" b="0" i="0" kern="1200">
                <a:latin typeface="Bahnschrift" panose="020B0502040204020203" pitchFamily="34" charset="0"/>
              </a:rPr>
              <a:t>Optimization Techniques </a:t>
            </a:r>
            <a:endParaRPr lang="en-IN" sz="3000" kern="1200">
              <a:latin typeface="Bahnschrift" panose="020B0502040204020203" pitchFamily="34" charset="0"/>
            </a:endParaRPr>
          </a:p>
        </p:txBody>
      </p:sp>
    </p:spTree>
    <p:extLst>
      <p:ext uri="{BB962C8B-B14F-4D97-AF65-F5344CB8AC3E}">
        <p14:creationId xmlns:p14="http://schemas.microsoft.com/office/powerpoint/2010/main" val="174433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4" name="Flowchart: Terminator 3">
            <a:extLst>
              <a:ext uri="{FF2B5EF4-FFF2-40B4-BE49-F238E27FC236}">
                <a16:creationId xmlns:a16="http://schemas.microsoft.com/office/drawing/2014/main" id="{23B0C409-4BDF-452E-A627-812E8A3D6FFE}"/>
              </a:ext>
            </a:extLst>
          </p:cNvPr>
          <p:cNvSpPr/>
          <p:nvPr/>
        </p:nvSpPr>
        <p:spPr>
          <a:xfrm>
            <a:off x="504825" y="3429000"/>
            <a:ext cx="8134349" cy="946298"/>
          </a:xfrm>
          <a:prstGeom prst="flowChartTerminator">
            <a:avLst/>
          </a:prstGeom>
          <a:ln w="38100">
            <a:solidFill>
              <a:schemeClr val="tx1"/>
            </a:solidFill>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IN" sz="2200" dirty="0">
                <a:latin typeface="Bahnschrift" panose="020B0502040204020203" pitchFamily="34" charset="0"/>
              </a:rPr>
              <a:t>Execution Engine</a:t>
            </a:r>
          </a:p>
        </p:txBody>
      </p:sp>
    </p:spTree>
    <p:extLst>
      <p:ext uri="{BB962C8B-B14F-4D97-AF65-F5344CB8AC3E}">
        <p14:creationId xmlns:p14="http://schemas.microsoft.com/office/powerpoint/2010/main" val="2221580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338362" y="2732569"/>
            <a:ext cx="8386537" cy="3115781"/>
          </a:xfrm>
        </p:spPr>
        <p:txBody>
          <a:bodyPr>
            <a:normAutofit/>
          </a:bodyPr>
          <a:lstStyle/>
          <a:p>
            <a:pPr marL="0" indent="0" algn="just">
              <a:buNone/>
            </a:pPr>
            <a:r>
              <a:rPr lang="en-US" dirty="0"/>
              <a:t>The execution engine uses Hadoop to execute the execution plan created by the compiler in order of their dependencies following the compilation and optimization processes.</a:t>
            </a:r>
            <a:endParaRPr lang="en-IN" dirty="0"/>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5" name="Rectangle: Diagonal Corners Rounded 4">
            <a:extLst>
              <a:ext uri="{FF2B5EF4-FFF2-40B4-BE49-F238E27FC236}">
                <a16:creationId xmlns:a16="http://schemas.microsoft.com/office/drawing/2014/main" id="{15A310D7-66E9-4BB6-92BE-7D2B1C141670}"/>
              </a:ext>
            </a:extLst>
          </p:cNvPr>
          <p:cNvSpPr/>
          <p:nvPr/>
        </p:nvSpPr>
        <p:spPr>
          <a:xfrm>
            <a:off x="3003263" y="1582559"/>
            <a:ext cx="3056733" cy="893014"/>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Execution Engine</a:t>
            </a:r>
          </a:p>
        </p:txBody>
      </p:sp>
    </p:spTree>
    <p:extLst>
      <p:ext uri="{BB962C8B-B14F-4D97-AF65-F5344CB8AC3E}">
        <p14:creationId xmlns:p14="http://schemas.microsoft.com/office/powerpoint/2010/main" val="2852089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377BAE8-6A3A-4F26-AF3E-DF5A97012311}"/>
              </a:ext>
            </a:extLst>
          </p:cNvPr>
          <p:cNvPicPr>
            <a:picLocks noGrp="1" noChangeAspect="1"/>
          </p:cNvPicPr>
          <p:nvPr>
            <p:ph idx="1"/>
          </p:nvPr>
        </p:nvPicPr>
        <p:blipFill>
          <a:blip r:embed="rId2"/>
          <a:stretch>
            <a:fillRect/>
          </a:stretch>
        </p:blipFill>
        <p:spPr>
          <a:xfrm>
            <a:off x="1511167" y="2560638"/>
            <a:ext cx="6121665" cy="3900487"/>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Rectangle: Diagonal Corners Rounded 5">
            <a:extLst>
              <a:ext uri="{FF2B5EF4-FFF2-40B4-BE49-F238E27FC236}">
                <a16:creationId xmlns:a16="http://schemas.microsoft.com/office/drawing/2014/main" id="{0385ED36-1715-4940-B656-24EAB9705172}"/>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MetaStore</a:t>
            </a:r>
          </a:p>
        </p:txBody>
      </p:sp>
    </p:spTree>
    <p:extLst>
      <p:ext uri="{BB962C8B-B14F-4D97-AF65-F5344CB8AC3E}">
        <p14:creationId xmlns:p14="http://schemas.microsoft.com/office/powerpoint/2010/main" val="2869300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graphicFrame>
        <p:nvGraphicFramePr>
          <p:cNvPr id="7" name="Content Placeholder 6">
            <a:extLst>
              <a:ext uri="{FF2B5EF4-FFF2-40B4-BE49-F238E27FC236}">
                <a16:creationId xmlns:a16="http://schemas.microsoft.com/office/drawing/2014/main" id="{FBA68015-6A6C-4E53-98B3-EDBE404289DC}"/>
              </a:ext>
            </a:extLst>
          </p:cNvPr>
          <p:cNvGraphicFramePr>
            <a:graphicFrameLocks noGrp="1"/>
          </p:cNvGraphicFramePr>
          <p:nvPr>
            <p:ph idx="1"/>
            <p:extLst>
              <p:ext uri="{D42A27DB-BD31-4B8C-83A1-F6EECF244321}">
                <p14:modId xmlns:p14="http://schemas.microsoft.com/office/powerpoint/2010/main" val="294539116"/>
              </p:ext>
            </p:extLst>
          </p:nvPr>
        </p:nvGraphicFramePr>
        <p:xfrm>
          <a:off x="525259" y="2731607"/>
          <a:ext cx="8386537" cy="3900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Diagonal Corners Rounded 4">
            <a:extLst>
              <a:ext uri="{FF2B5EF4-FFF2-40B4-BE49-F238E27FC236}">
                <a16:creationId xmlns:a16="http://schemas.microsoft.com/office/drawing/2014/main" id="{8B59593B-13AB-45E7-A7D3-49E5A3840D3D}"/>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MetaStore</a:t>
            </a:r>
          </a:p>
        </p:txBody>
      </p:sp>
    </p:spTree>
    <p:extLst>
      <p:ext uri="{BB962C8B-B14F-4D97-AF65-F5344CB8AC3E}">
        <p14:creationId xmlns:p14="http://schemas.microsoft.com/office/powerpoint/2010/main" val="1084766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338362" y="2075543"/>
            <a:ext cx="8573409" cy="3900460"/>
          </a:xfrm>
        </p:spPr>
        <p:txBody>
          <a:bodyPr>
            <a:normAutofit/>
          </a:bodyPr>
          <a:lstStyle/>
          <a:p>
            <a:pPr marL="0" indent="0" algn="just">
              <a:buNone/>
            </a:pPr>
            <a:r>
              <a:rPr lang="en-US" dirty="0"/>
              <a:t>It also holds serializer and </a:t>
            </a:r>
            <a:r>
              <a:rPr lang="en-US" dirty="0" err="1"/>
              <a:t>deserializer</a:t>
            </a:r>
            <a:r>
              <a:rPr lang="en-US" dirty="0"/>
              <a:t> metadata, which is essential for read/write operations, as well as HDFS files where data is kept. In most cases, this </a:t>
            </a:r>
            <a:r>
              <a:rPr lang="en-US" dirty="0" err="1"/>
              <a:t>metastore</a:t>
            </a:r>
            <a:r>
              <a:rPr lang="en-US" dirty="0"/>
              <a:t> is a relational </a:t>
            </a:r>
            <a:r>
              <a:rPr lang="en-US" dirty="0" err="1"/>
              <a:t>database.For</a:t>
            </a:r>
            <a:r>
              <a:rPr lang="en-US" dirty="0"/>
              <a:t> searching and altering Hive metadata, </a:t>
            </a:r>
            <a:r>
              <a:rPr lang="en-US" dirty="0" err="1"/>
              <a:t>Metastore</a:t>
            </a:r>
            <a:r>
              <a:rPr lang="en-US" dirty="0"/>
              <a:t> provides a Thrift interface.</a:t>
            </a:r>
            <a:endParaRPr lang="en-IN" dirty="0"/>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5" name="Rectangle: Diagonal Corners Rounded 4">
            <a:extLst>
              <a:ext uri="{FF2B5EF4-FFF2-40B4-BE49-F238E27FC236}">
                <a16:creationId xmlns:a16="http://schemas.microsoft.com/office/drawing/2014/main" id="{BDC51D38-C5DB-4C10-A375-952F2ECCB511}"/>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MetaStore</a:t>
            </a:r>
          </a:p>
        </p:txBody>
      </p:sp>
    </p:spTree>
    <p:extLst>
      <p:ext uri="{BB962C8B-B14F-4D97-AF65-F5344CB8AC3E}">
        <p14:creationId xmlns:p14="http://schemas.microsoft.com/office/powerpoint/2010/main" val="2801619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338362" y="2216937"/>
            <a:ext cx="8386537" cy="3900460"/>
          </a:xfrm>
        </p:spPr>
        <p:txBody>
          <a:bodyPr>
            <a:normAutofit/>
          </a:bodyPr>
          <a:lstStyle/>
          <a:p>
            <a:pPr marL="0" indent="0" algn="just">
              <a:buNone/>
            </a:pPr>
            <a:r>
              <a:rPr lang="en-US" dirty="0"/>
              <a:t>It also holds serializer and </a:t>
            </a:r>
            <a:r>
              <a:rPr lang="en-US" dirty="0" err="1"/>
              <a:t>deserializer</a:t>
            </a:r>
            <a:r>
              <a:rPr lang="en-US" dirty="0"/>
              <a:t> metadata, which is essential for read/write operations, as well as HDFS files where data is kept. In most cases, this </a:t>
            </a:r>
            <a:r>
              <a:rPr lang="en-US" dirty="0" err="1"/>
              <a:t>metastore</a:t>
            </a:r>
            <a:r>
              <a:rPr lang="en-US" dirty="0"/>
              <a:t> is a relational </a:t>
            </a:r>
            <a:r>
              <a:rPr lang="en-US" dirty="0" err="1"/>
              <a:t>database.For</a:t>
            </a:r>
            <a:r>
              <a:rPr lang="en-US" dirty="0"/>
              <a:t> searching and altering Hive metadata, </a:t>
            </a:r>
            <a:r>
              <a:rPr lang="en-US" dirty="0" err="1"/>
              <a:t>Metastore</a:t>
            </a:r>
            <a:r>
              <a:rPr lang="en-US" dirty="0"/>
              <a:t> provides a Thrift interface.</a:t>
            </a:r>
            <a:endParaRPr lang="en-IN" dirty="0"/>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5" name="Rectangle: Diagonal Corners Rounded 4">
            <a:extLst>
              <a:ext uri="{FF2B5EF4-FFF2-40B4-BE49-F238E27FC236}">
                <a16:creationId xmlns:a16="http://schemas.microsoft.com/office/drawing/2014/main" id="{9E4AE6BF-32F9-48AB-8DC4-3BF58A615325}"/>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MetaStore</a:t>
            </a:r>
          </a:p>
        </p:txBody>
      </p:sp>
    </p:spTree>
    <p:extLst>
      <p:ext uri="{BB962C8B-B14F-4D97-AF65-F5344CB8AC3E}">
        <p14:creationId xmlns:p14="http://schemas.microsoft.com/office/powerpoint/2010/main" val="1555691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338362" y="2216937"/>
            <a:ext cx="8587924" cy="3900460"/>
          </a:xfrm>
        </p:spPr>
        <p:txBody>
          <a:bodyPr>
            <a:noAutofit/>
          </a:bodyPr>
          <a:lstStyle/>
          <a:p>
            <a:pPr marL="0" indent="0" algn="just">
              <a:buNone/>
            </a:pPr>
            <a:r>
              <a:rPr lang="en-US" sz="2600" dirty="0" err="1"/>
              <a:t>Metastore</a:t>
            </a:r>
            <a:r>
              <a:rPr lang="en-US" sz="2600" dirty="0"/>
              <a:t> can be configured in one of two ways:</a:t>
            </a:r>
          </a:p>
          <a:p>
            <a:pPr marL="906463" lvl="1" indent="-449263" algn="just">
              <a:buFont typeface="Bahnschrift" panose="020B0502040204020203" pitchFamily="34" charset="0"/>
              <a:buChar char="–"/>
            </a:pPr>
            <a:r>
              <a:rPr lang="en-US" sz="2600" dirty="0">
                <a:solidFill>
                  <a:srgbClr val="FF0000"/>
                </a:solidFill>
              </a:rPr>
              <a:t>Remote: </a:t>
            </a:r>
            <a:r>
              <a:rPr lang="en-US" sz="2600" dirty="0" err="1"/>
              <a:t>Metastore</a:t>
            </a:r>
            <a:r>
              <a:rPr lang="en-US" sz="2600" dirty="0"/>
              <a:t> is a Thrift service in remote mode, which is suitable for non-Java applications.</a:t>
            </a:r>
          </a:p>
          <a:p>
            <a:pPr marL="906463" lvl="1" indent="-449263" algn="just">
              <a:buFont typeface="Bahnschrift" panose="020B0502040204020203" pitchFamily="34" charset="0"/>
              <a:buChar char="–"/>
            </a:pPr>
            <a:r>
              <a:rPr lang="en-US" sz="2600" dirty="0">
                <a:solidFill>
                  <a:srgbClr val="FF0000"/>
                </a:solidFill>
              </a:rPr>
              <a:t>Embedded: </a:t>
            </a:r>
            <a:r>
              <a:rPr lang="en-US" sz="2600" dirty="0"/>
              <a:t>In embedded mode, the client can use JDBC to interface directly with the </a:t>
            </a:r>
            <a:r>
              <a:rPr lang="en-US" sz="2600" dirty="0" err="1"/>
              <a:t>metastore</a:t>
            </a:r>
            <a:r>
              <a:rPr lang="en-US" sz="2600" dirty="0"/>
              <a:t>.</a:t>
            </a:r>
            <a:endParaRPr lang="en-IN" sz="2600" dirty="0"/>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5" name="Rectangle: Diagonal Corners Rounded 4">
            <a:extLst>
              <a:ext uri="{FF2B5EF4-FFF2-40B4-BE49-F238E27FC236}">
                <a16:creationId xmlns:a16="http://schemas.microsoft.com/office/drawing/2014/main" id="{8F1F7E9A-4A89-4BF6-8431-58AEBBCABD82}"/>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MetaStore</a:t>
            </a:r>
          </a:p>
        </p:txBody>
      </p:sp>
    </p:spTree>
    <p:extLst>
      <p:ext uri="{BB962C8B-B14F-4D97-AF65-F5344CB8AC3E}">
        <p14:creationId xmlns:p14="http://schemas.microsoft.com/office/powerpoint/2010/main" val="2165345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440A07-B9D4-4198-A855-9A8EE6F640B0}"/>
              </a:ext>
            </a:extLst>
          </p:cNvPr>
          <p:cNvSpPr>
            <a:spLocks noGrp="1"/>
          </p:cNvSpPr>
          <p:nvPr>
            <p:ph idx="1"/>
          </p:nvPr>
        </p:nvSpPr>
        <p:spPr>
          <a:xfrm>
            <a:off x="338362" y="2216937"/>
            <a:ext cx="8544381" cy="3900460"/>
          </a:xfrm>
        </p:spPr>
        <p:txBody>
          <a:bodyPr>
            <a:normAutofit/>
          </a:bodyPr>
          <a:lstStyle/>
          <a:p>
            <a:pPr marL="0" indent="0" algn="just">
              <a:buNone/>
            </a:pPr>
            <a:r>
              <a:rPr lang="en-US" sz="2600" dirty="0"/>
              <a:t>Hadoop's table and storage management layer is </a:t>
            </a:r>
            <a:r>
              <a:rPr lang="en-US" sz="2600" dirty="0" err="1"/>
              <a:t>HCatalog</a:t>
            </a:r>
            <a:r>
              <a:rPr lang="en-US" sz="2600" dirty="0"/>
              <a:t>. It allows users to read and write data on the grid using various data processing tools such as Pig, MapReduce, and </a:t>
            </a:r>
            <a:r>
              <a:rPr lang="en-US" sz="2600" dirty="0" err="1"/>
              <a:t>others.It</a:t>
            </a:r>
            <a:r>
              <a:rPr lang="en-US" sz="2600" dirty="0"/>
              <a:t> is based on Hive </a:t>
            </a:r>
            <a:r>
              <a:rPr lang="en-US" sz="2600" dirty="0" err="1"/>
              <a:t>metastore</a:t>
            </a:r>
            <a:r>
              <a:rPr lang="en-US" sz="2600" dirty="0"/>
              <a:t> and exposes Hive </a:t>
            </a:r>
            <a:r>
              <a:rPr lang="en-US" sz="2600" dirty="0" err="1"/>
              <a:t>metastore's</a:t>
            </a:r>
            <a:r>
              <a:rPr lang="en-US" sz="2600" dirty="0"/>
              <a:t> tabular data to other data processing tools.</a:t>
            </a:r>
            <a:endParaRPr lang="en-IN" sz="2600" dirty="0"/>
          </a:p>
        </p:txBody>
      </p:sp>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5" name="Rectangle: Diagonal Corners Rounded 4">
            <a:extLst>
              <a:ext uri="{FF2B5EF4-FFF2-40B4-BE49-F238E27FC236}">
                <a16:creationId xmlns:a16="http://schemas.microsoft.com/office/drawing/2014/main" id="{B96A7C52-CC69-40CD-B88C-9EE3501AC033}"/>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HCatalog</a:t>
            </a:r>
          </a:p>
        </p:txBody>
      </p:sp>
    </p:spTree>
    <p:extLst>
      <p:ext uri="{BB962C8B-B14F-4D97-AF65-F5344CB8AC3E}">
        <p14:creationId xmlns:p14="http://schemas.microsoft.com/office/powerpoint/2010/main" val="4474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921EA1-0BE8-4DC0-89BC-CE57053BC0B7}"/>
              </a:ext>
            </a:extLst>
          </p:cNvPr>
          <p:cNvPicPr>
            <a:picLocks noGrp="1" noChangeAspect="1"/>
          </p:cNvPicPr>
          <p:nvPr>
            <p:ph idx="1"/>
          </p:nvPr>
        </p:nvPicPr>
        <p:blipFill>
          <a:blip r:embed="rId2"/>
          <a:stretch>
            <a:fillRect/>
          </a:stretch>
        </p:blipFill>
        <p:spPr>
          <a:xfrm>
            <a:off x="1194847" y="2438229"/>
            <a:ext cx="6420817" cy="3763927"/>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Rectangle: Diagonal Corners Rounded 5">
            <a:extLst>
              <a:ext uri="{FF2B5EF4-FFF2-40B4-BE49-F238E27FC236}">
                <a16:creationId xmlns:a16="http://schemas.microsoft.com/office/drawing/2014/main" id="{738D83D4-B30A-4527-8D4A-00645B045216}"/>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HCatalog</a:t>
            </a:r>
          </a:p>
        </p:txBody>
      </p:sp>
    </p:spTree>
    <p:extLst>
      <p:ext uri="{BB962C8B-B14F-4D97-AF65-F5344CB8AC3E}">
        <p14:creationId xmlns:p14="http://schemas.microsoft.com/office/powerpoint/2010/main" val="1977245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Content Placeholder 5">
            <a:extLst>
              <a:ext uri="{FF2B5EF4-FFF2-40B4-BE49-F238E27FC236}">
                <a16:creationId xmlns:a16="http://schemas.microsoft.com/office/drawing/2014/main" id="{60106C91-B963-4A2B-AB9E-09F14F2462D1}"/>
              </a:ext>
            </a:extLst>
          </p:cNvPr>
          <p:cNvSpPr>
            <a:spLocks noGrp="1"/>
          </p:cNvSpPr>
          <p:nvPr>
            <p:ph idx="1"/>
          </p:nvPr>
        </p:nvSpPr>
        <p:spPr>
          <a:xfrm>
            <a:off x="340244" y="2216937"/>
            <a:ext cx="8557014" cy="4387063"/>
          </a:xfrm>
        </p:spPr>
        <p:txBody>
          <a:bodyPr vert="horz" lIns="91440" tIns="45720" rIns="91440" bIns="45720" rtlCol="0">
            <a:normAutofit fontScale="92500"/>
          </a:bodyPr>
          <a:lstStyle/>
          <a:p>
            <a:pPr marL="0" indent="0" algn="just">
              <a:lnSpc>
                <a:spcPct val="170000"/>
              </a:lnSpc>
              <a:buNone/>
            </a:pPr>
            <a:r>
              <a:rPr lang="en-US" sz="2400" dirty="0"/>
              <a:t>HCatalog is a Hadoop table and storage management layer that allows users to read and write data on the grid more simply using various data processing tools such as Pig and MapReduce. Users can have a relational view of data in the Hadoop distributed file system (HDFS) thanks to </a:t>
            </a:r>
            <a:r>
              <a:rPr lang="en-US" sz="2400" dirty="0" err="1"/>
              <a:t>HCatalog's</a:t>
            </a:r>
            <a:r>
              <a:rPr lang="en-US" sz="2400" dirty="0"/>
              <a:t> table abstraction, which means they don't have to worry about where or how their data is stored — </a:t>
            </a:r>
            <a:r>
              <a:rPr lang="en-US" sz="2400" dirty="0" err="1"/>
              <a:t>RCFile</a:t>
            </a:r>
            <a:r>
              <a:rPr lang="en-US" sz="2400" dirty="0"/>
              <a:t> format, text files, </a:t>
            </a:r>
            <a:r>
              <a:rPr lang="en-US" sz="2400" dirty="0" err="1"/>
              <a:t>SequenceFiles</a:t>
            </a:r>
            <a:r>
              <a:rPr lang="en-US" sz="2400" dirty="0"/>
              <a:t>, or ORC files.</a:t>
            </a:r>
          </a:p>
        </p:txBody>
      </p:sp>
      <p:sp>
        <p:nvSpPr>
          <p:cNvPr id="5" name="Rectangle: Diagonal Corners Rounded 4">
            <a:extLst>
              <a:ext uri="{FF2B5EF4-FFF2-40B4-BE49-F238E27FC236}">
                <a16:creationId xmlns:a16="http://schemas.microsoft.com/office/drawing/2014/main" id="{728E84CD-1E7E-4E9F-AF3D-71FB4E8BFAB6}"/>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HCatalog</a:t>
            </a:r>
          </a:p>
        </p:txBody>
      </p:sp>
    </p:spTree>
    <p:extLst>
      <p:ext uri="{BB962C8B-B14F-4D97-AF65-F5344CB8AC3E}">
        <p14:creationId xmlns:p14="http://schemas.microsoft.com/office/powerpoint/2010/main" val="1074230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Content Placeholder 5">
            <a:extLst>
              <a:ext uri="{FF2B5EF4-FFF2-40B4-BE49-F238E27FC236}">
                <a16:creationId xmlns:a16="http://schemas.microsoft.com/office/drawing/2014/main" id="{60106C91-B963-4A2B-AB9E-09F14F2462D1}"/>
              </a:ext>
            </a:extLst>
          </p:cNvPr>
          <p:cNvSpPr>
            <a:spLocks noGrp="1"/>
          </p:cNvSpPr>
          <p:nvPr>
            <p:ph idx="1"/>
          </p:nvPr>
        </p:nvSpPr>
        <p:spPr>
          <a:xfrm>
            <a:off x="338362" y="2216937"/>
            <a:ext cx="8558895" cy="3624014"/>
          </a:xfrm>
        </p:spPr>
        <p:txBody>
          <a:bodyPr>
            <a:normAutofit/>
          </a:bodyPr>
          <a:lstStyle/>
          <a:p>
            <a:pPr marL="0" indent="0" algn="just">
              <a:buNone/>
            </a:pPr>
            <a:r>
              <a:rPr lang="en-US" sz="2400" b="0" i="0" dirty="0" err="1">
                <a:effectLst/>
              </a:rPr>
              <a:t>HCatalog</a:t>
            </a:r>
            <a:r>
              <a:rPr lang="en-US" sz="2400" b="0" i="0" dirty="0">
                <a:effectLst/>
              </a:rPr>
              <a:t> supports reading and writing files in any format for which a </a:t>
            </a:r>
            <a:r>
              <a:rPr lang="en-US" sz="2400" b="0" i="0" dirty="0" err="1">
                <a:effectLst/>
              </a:rPr>
              <a:t>SerDe</a:t>
            </a:r>
            <a:r>
              <a:rPr lang="en-US" sz="2400" b="0" i="0" dirty="0">
                <a:effectLst/>
              </a:rPr>
              <a:t> (serializer-</a:t>
            </a:r>
            <a:r>
              <a:rPr lang="en-US" sz="2400" b="0" i="0" dirty="0" err="1">
                <a:effectLst/>
              </a:rPr>
              <a:t>deserializer</a:t>
            </a:r>
            <a:r>
              <a:rPr lang="en-US" sz="2400" b="0" i="0" dirty="0">
                <a:effectLst/>
              </a:rPr>
              <a:t>) can be written. By default, </a:t>
            </a:r>
            <a:r>
              <a:rPr lang="en-US" sz="2400" b="0" i="0" dirty="0" err="1">
                <a:effectLst/>
              </a:rPr>
              <a:t>HCatalog</a:t>
            </a:r>
            <a:r>
              <a:rPr lang="en-US" sz="2400" b="0" i="0" dirty="0">
                <a:effectLst/>
              </a:rPr>
              <a:t> supports </a:t>
            </a:r>
            <a:r>
              <a:rPr lang="en-US" sz="2400" b="0" i="0" dirty="0" err="1">
                <a:effectLst/>
              </a:rPr>
              <a:t>RCFile</a:t>
            </a:r>
            <a:r>
              <a:rPr lang="en-US" sz="2400" b="0" i="0" dirty="0">
                <a:effectLst/>
              </a:rPr>
              <a:t>, CSV, JSON, and </a:t>
            </a:r>
            <a:r>
              <a:rPr lang="en-US" sz="2400" b="0" i="0" dirty="0" err="1">
                <a:effectLst/>
              </a:rPr>
              <a:t>SequenceFile</a:t>
            </a:r>
            <a:r>
              <a:rPr lang="en-US" sz="2400" b="0" i="0" dirty="0">
                <a:effectLst/>
              </a:rPr>
              <a:t>, and ORC file formats. To use a custom format, you must provide the </a:t>
            </a:r>
            <a:r>
              <a:rPr lang="en-US" sz="2400" b="0" i="0" dirty="0" err="1">
                <a:effectLst/>
              </a:rPr>
              <a:t>InputFormat</a:t>
            </a:r>
            <a:r>
              <a:rPr lang="en-US" sz="2400" b="0" i="0" dirty="0">
                <a:effectLst/>
              </a:rPr>
              <a:t>, </a:t>
            </a:r>
            <a:r>
              <a:rPr lang="en-US" sz="2400" b="0" i="0" dirty="0" err="1">
                <a:effectLst/>
              </a:rPr>
              <a:t>OutputFormat</a:t>
            </a:r>
            <a:r>
              <a:rPr lang="en-US" sz="2400" b="0" i="0" dirty="0">
                <a:effectLst/>
              </a:rPr>
              <a:t>, and </a:t>
            </a:r>
            <a:r>
              <a:rPr lang="en-US" sz="2400" b="0" i="0" dirty="0" err="1">
                <a:effectLst/>
              </a:rPr>
              <a:t>SerDe</a:t>
            </a:r>
            <a:r>
              <a:rPr lang="en-US" sz="2400" b="0" i="0" dirty="0">
                <a:effectLst/>
              </a:rPr>
              <a:t>.</a:t>
            </a:r>
            <a:endParaRPr lang="en-IN" sz="2400" dirty="0"/>
          </a:p>
        </p:txBody>
      </p:sp>
      <p:sp>
        <p:nvSpPr>
          <p:cNvPr id="5" name="Rectangle: Diagonal Corners Rounded 4">
            <a:extLst>
              <a:ext uri="{FF2B5EF4-FFF2-40B4-BE49-F238E27FC236}">
                <a16:creationId xmlns:a16="http://schemas.microsoft.com/office/drawing/2014/main" id="{7A999C54-3A27-4934-954B-61B1EB832795}"/>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HCatalog</a:t>
            </a:r>
          </a:p>
        </p:txBody>
      </p:sp>
    </p:spTree>
    <p:extLst>
      <p:ext uri="{BB962C8B-B14F-4D97-AF65-F5344CB8AC3E}">
        <p14:creationId xmlns:p14="http://schemas.microsoft.com/office/powerpoint/2010/main" val="2238739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Content Placeholder 5">
            <a:extLst>
              <a:ext uri="{FF2B5EF4-FFF2-40B4-BE49-F238E27FC236}">
                <a16:creationId xmlns:a16="http://schemas.microsoft.com/office/drawing/2014/main" id="{60106C91-B963-4A2B-AB9E-09F14F2462D1}"/>
              </a:ext>
            </a:extLst>
          </p:cNvPr>
          <p:cNvSpPr>
            <a:spLocks noGrp="1"/>
          </p:cNvSpPr>
          <p:nvPr>
            <p:ph idx="1"/>
          </p:nvPr>
        </p:nvSpPr>
        <p:spPr>
          <a:xfrm>
            <a:off x="340244" y="2370385"/>
            <a:ext cx="8384656" cy="3624014"/>
          </a:xfrm>
        </p:spPr>
        <p:txBody>
          <a:bodyPr>
            <a:normAutofit/>
          </a:bodyPr>
          <a:lstStyle/>
          <a:p>
            <a:pPr marL="0" indent="0" algn="just">
              <a:buNone/>
            </a:pPr>
            <a:r>
              <a:rPr lang="en-US" b="0" i="0" dirty="0">
                <a:effectLst/>
              </a:rPr>
              <a:t>For </a:t>
            </a:r>
            <a:r>
              <a:rPr lang="en-US" b="0" i="0" dirty="0" err="1">
                <a:effectLst/>
              </a:rPr>
              <a:t>HCatalog</a:t>
            </a:r>
            <a:r>
              <a:rPr lang="en-US" b="0" i="0" dirty="0">
                <a:effectLst/>
              </a:rPr>
              <a:t>, </a:t>
            </a:r>
            <a:r>
              <a:rPr lang="en-US" b="0" i="0" dirty="0" err="1">
                <a:effectLst/>
              </a:rPr>
              <a:t>WebHCat</a:t>
            </a:r>
            <a:r>
              <a:rPr lang="en-US" b="0" i="0" dirty="0">
                <a:effectLst/>
              </a:rPr>
              <a:t> is the REST API. It's a Hive metadata operations HTTP interface. It lets users perform Hadoop MapReduce (or YARN), Pig, and Hive jobs.</a:t>
            </a:r>
            <a:endParaRPr lang="en-IN" dirty="0"/>
          </a:p>
        </p:txBody>
      </p:sp>
      <p:sp>
        <p:nvSpPr>
          <p:cNvPr id="5" name="Rectangle: Diagonal Corners Rounded 4">
            <a:extLst>
              <a:ext uri="{FF2B5EF4-FFF2-40B4-BE49-F238E27FC236}">
                <a16:creationId xmlns:a16="http://schemas.microsoft.com/office/drawing/2014/main" id="{FC062731-9CFD-4500-ADD5-F0C9B515F01B}"/>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 </a:t>
            </a:r>
            <a:r>
              <a:rPr lang="en-IN" sz="2400" b="0" i="0" dirty="0" err="1">
                <a:solidFill>
                  <a:schemeClr val="bg1"/>
                </a:solidFill>
                <a:effectLst/>
                <a:latin typeface="Bahnschrift" panose="020B0502040204020203" pitchFamily="34" charset="0"/>
              </a:rPr>
              <a:t>WebHCat</a:t>
            </a:r>
            <a:endParaRPr lang="en-IN" sz="2400" b="0" i="0" dirty="0">
              <a:solidFill>
                <a:schemeClr val="bg1"/>
              </a:solidFill>
              <a:effectLst/>
              <a:latin typeface="Bahnschrift" panose="020B0502040204020203" pitchFamily="34" charset="0"/>
            </a:endParaRPr>
          </a:p>
        </p:txBody>
      </p:sp>
    </p:spTree>
    <p:extLst>
      <p:ext uri="{BB962C8B-B14F-4D97-AF65-F5344CB8AC3E}">
        <p14:creationId xmlns:p14="http://schemas.microsoft.com/office/powerpoint/2010/main" val="3910225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4" name="Rectangle: Diagonal Corners Rounded 3">
            <a:extLst>
              <a:ext uri="{FF2B5EF4-FFF2-40B4-BE49-F238E27FC236}">
                <a16:creationId xmlns:a16="http://schemas.microsoft.com/office/drawing/2014/main" id="{23B0C409-4BDF-452E-A627-812E8A3D6FFE}"/>
              </a:ext>
            </a:extLst>
          </p:cNvPr>
          <p:cNvSpPr/>
          <p:nvPr/>
        </p:nvSpPr>
        <p:spPr>
          <a:xfrm>
            <a:off x="3382168" y="1466957"/>
            <a:ext cx="2046176" cy="608586"/>
          </a:xfrm>
          <a:prstGeom prst="round2Diag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0" i="0" dirty="0">
                <a:solidFill>
                  <a:schemeClr val="bg1"/>
                </a:solidFill>
                <a:effectLst/>
                <a:latin typeface="Bahnschrift" panose="020B0502040204020203" pitchFamily="34" charset="0"/>
              </a:rPr>
              <a:t> </a:t>
            </a:r>
            <a:r>
              <a:rPr lang="en-IN" sz="2400" b="0" i="0" dirty="0" err="1">
                <a:solidFill>
                  <a:schemeClr val="bg1"/>
                </a:solidFill>
                <a:effectLst/>
                <a:latin typeface="Bahnschrift" panose="020B0502040204020203" pitchFamily="34" charset="0"/>
              </a:rPr>
              <a:t>WebHCat</a:t>
            </a:r>
            <a:endParaRPr lang="en-IN" sz="2400" b="0" i="0" dirty="0">
              <a:solidFill>
                <a:schemeClr val="bg1"/>
              </a:solidFill>
              <a:effectLst/>
              <a:latin typeface="Bahnschrift" panose="020B0502040204020203" pitchFamily="34" charset="0"/>
            </a:endParaRPr>
          </a:p>
        </p:txBody>
      </p:sp>
      <p:sp>
        <p:nvSpPr>
          <p:cNvPr id="6" name="Content Placeholder 5">
            <a:extLst>
              <a:ext uri="{FF2B5EF4-FFF2-40B4-BE49-F238E27FC236}">
                <a16:creationId xmlns:a16="http://schemas.microsoft.com/office/drawing/2014/main" id="{60106C91-B963-4A2B-AB9E-09F14F2462D1}"/>
              </a:ext>
            </a:extLst>
          </p:cNvPr>
          <p:cNvSpPr>
            <a:spLocks noGrp="1"/>
          </p:cNvSpPr>
          <p:nvPr>
            <p:ph idx="1"/>
          </p:nvPr>
        </p:nvSpPr>
        <p:spPr>
          <a:xfrm>
            <a:off x="338362" y="1949471"/>
            <a:ext cx="8561088" cy="3624014"/>
          </a:xfrm>
        </p:spPr>
        <p:txBody>
          <a:bodyPr>
            <a:noAutofit/>
          </a:bodyPr>
          <a:lstStyle/>
          <a:p>
            <a:pPr marL="0" indent="0" algn="just">
              <a:buNone/>
            </a:pPr>
            <a:r>
              <a:rPr lang="en-US" sz="2300" b="0" i="0" dirty="0">
                <a:effectLst/>
              </a:rPr>
              <a:t>Developers use HTTP requests to access Hadoop MapReduce (or YARN), Pig, Hive, and </a:t>
            </a:r>
            <a:r>
              <a:rPr lang="en-US" sz="2300" b="0" i="0" dirty="0" err="1">
                <a:effectLst/>
              </a:rPr>
              <a:t>HCatalog</a:t>
            </a:r>
            <a:r>
              <a:rPr lang="en-US" sz="2300" b="0" i="0" dirty="0">
                <a:effectLst/>
              </a:rPr>
              <a:t> DDL from within applications, as demonstrated in the diagram below. HDFS stores the data and code </a:t>
            </a:r>
            <a:r>
              <a:rPr lang="en-US" sz="2300" b="0" i="0" dirty="0" err="1">
                <a:effectLst/>
              </a:rPr>
              <a:t>utilised</a:t>
            </a:r>
            <a:r>
              <a:rPr lang="en-US" sz="2300" b="0" i="0" dirty="0">
                <a:effectLst/>
              </a:rPr>
              <a:t> by this API. When </a:t>
            </a:r>
            <a:r>
              <a:rPr lang="en-US" sz="2300" b="0" i="0" dirty="0" err="1">
                <a:effectLst/>
              </a:rPr>
              <a:t>HCatalog</a:t>
            </a:r>
            <a:r>
              <a:rPr lang="en-US" sz="2300" b="0" i="0" dirty="0">
                <a:effectLst/>
              </a:rPr>
              <a:t> DDL commands are requested, they are immediately executed. </a:t>
            </a:r>
            <a:r>
              <a:rPr lang="en-US" sz="2300" b="0" i="0" dirty="0" err="1">
                <a:effectLst/>
              </a:rPr>
              <a:t>WebHCat</a:t>
            </a:r>
            <a:r>
              <a:rPr lang="en-US" sz="2300" b="0" i="0" dirty="0">
                <a:effectLst/>
              </a:rPr>
              <a:t> (Templeton) servers queue MapReduce, Pig, and Hive jobs, which may be monitored for progress or cancelled as needed. Pig, Hive, and MapReduce results are stored in HDFS, and developers select where they should be stored.</a:t>
            </a:r>
            <a:endParaRPr lang="en-IN" sz="2300" dirty="0"/>
          </a:p>
        </p:txBody>
      </p:sp>
    </p:spTree>
    <p:extLst>
      <p:ext uri="{BB962C8B-B14F-4D97-AF65-F5344CB8AC3E}">
        <p14:creationId xmlns:p14="http://schemas.microsoft.com/office/powerpoint/2010/main" val="2500403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Services offered by HIVE</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35395"/>
            <a:ext cx="8386537" cy="5197633"/>
          </a:xfrm>
        </p:spPr>
        <p:txBody>
          <a:bodyPr/>
          <a:lstStyle/>
          <a:p>
            <a:pPr algn="just"/>
            <a:r>
              <a:rPr lang="en-IN" dirty="0"/>
              <a:t>URL Format</a:t>
            </a:r>
          </a:p>
          <a:p>
            <a:pPr algn="just"/>
            <a:endParaRPr lang="en-IN" dirty="0"/>
          </a:p>
        </p:txBody>
      </p:sp>
    </p:spTree>
    <p:extLst>
      <p:ext uri="{BB962C8B-B14F-4D97-AF65-F5344CB8AC3E}">
        <p14:creationId xmlns:p14="http://schemas.microsoft.com/office/powerpoint/2010/main" val="3648224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1944F-D95D-4DDB-B3A4-44CB7D02A3D4}"/>
              </a:ext>
            </a:extLst>
          </p:cNvPr>
          <p:cNvSpPr>
            <a:spLocks noGrp="1"/>
          </p:cNvSpPr>
          <p:nvPr>
            <p:ph type="title"/>
          </p:nvPr>
        </p:nvSpPr>
        <p:spPr>
          <a:xfrm>
            <a:off x="1143000" y="1293338"/>
            <a:ext cx="6858000" cy="3274592"/>
          </a:xfrm>
        </p:spPr>
        <p:txBody>
          <a:bodyPr vert="horz" lIns="91440" tIns="45720" rIns="91440" bIns="45720" rtlCol="0" anchor="ctr">
            <a:normAutofit/>
          </a:bodyPr>
          <a:lstStyle/>
          <a:p>
            <a:pPr algn="ctr"/>
            <a:r>
              <a:rPr lang="en-US" sz="6300" kern="1200" dirty="0">
                <a:solidFill>
                  <a:schemeClr val="tx1"/>
                </a:solidFill>
                <a:latin typeface="Bahnschrift SemiBold" panose="020B0502040204020203" pitchFamily="34" charset="0"/>
              </a:rPr>
              <a:t>HIVE QL</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9021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CEC733-8B69-4077-9076-04184F37B4FC}"/>
              </a:ext>
            </a:extLst>
          </p:cNvPr>
          <p:cNvPicPr>
            <a:picLocks noGrp="1" noChangeAspect="1"/>
          </p:cNvPicPr>
          <p:nvPr>
            <p:ph idx="1"/>
          </p:nvPr>
        </p:nvPicPr>
        <p:blipFill>
          <a:blip r:embed="rId2"/>
          <a:stretch>
            <a:fillRect/>
          </a:stretch>
        </p:blipFill>
        <p:spPr>
          <a:xfrm>
            <a:off x="497681" y="1863725"/>
            <a:ext cx="8067675" cy="4533900"/>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6D56A9AE-866E-491B-9EC4-A8F97C923AE6}"/>
              </a:ext>
            </a:extLst>
          </p:cNvPr>
          <p:cNvSpPr>
            <a:spLocks noGrp="1"/>
          </p:cNvSpPr>
          <p:nvPr>
            <p:ph type="title"/>
          </p:nvPr>
        </p:nvSpPr>
        <p:spPr/>
        <p:txBody>
          <a:bodyPr/>
          <a:lstStyle/>
          <a:p>
            <a:r>
              <a:rPr lang="en-IN" dirty="0"/>
              <a:t>HIVE QL</a:t>
            </a:r>
          </a:p>
        </p:txBody>
      </p:sp>
    </p:spTree>
    <p:extLst>
      <p:ext uri="{BB962C8B-B14F-4D97-AF65-F5344CB8AC3E}">
        <p14:creationId xmlns:p14="http://schemas.microsoft.com/office/powerpoint/2010/main" val="1197085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56A9AE-866E-491B-9EC4-A8F97C923AE6}"/>
              </a:ext>
            </a:extLst>
          </p:cNvPr>
          <p:cNvSpPr>
            <a:spLocks noGrp="1"/>
          </p:cNvSpPr>
          <p:nvPr>
            <p:ph type="title"/>
          </p:nvPr>
        </p:nvSpPr>
        <p:spPr/>
        <p:txBody>
          <a:bodyPr/>
          <a:lstStyle/>
          <a:p>
            <a:r>
              <a:rPr lang="en-IN" dirty="0"/>
              <a:t>HIVE QL</a:t>
            </a:r>
          </a:p>
        </p:txBody>
      </p:sp>
    </p:spTree>
    <p:extLst>
      <p:ext uri="{BB962C8B-B14F-4D97-AF65-F5344CB8AC3E}">
        <p14:creationId xmlns:p14="http://schemas.microsoft.com/office/powerpoint/2010/main" val="2872132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35395"/>
            <a:ext cx="8386537" cy="5197633"/>
          </a:xfrm>
        </p:spPr>
        <p:txBody>
          <a:bodyPr/>
          <a:lstStyle/>
          <a:p>
            <a:r>
              <a:rPr lang="en-IN" dirty="0"/>
              <a:t>Syntax</a:t>
            </a:r>
          </a:p>
        </p:txBody>
      </p:sp>
    </p:spTree>
    <p:extLst>
      <p:ext uri="{BB962C8B-B14F-4D97-AF65-F5344CB8AC3E}">
        <p14:creationId xmlns:p14="http://schemas.microsoft.com/office/powerpoint/2010/main" val="870968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1" y="1661528"/>
            <a:ext cx="8386537" cy="2291317"/>
          </a:xfrm>
        </p:spPr>
        <p:txBody>
          <a:bodyPr>
            <a:normAutofit lnSpcReduction="10000"/>
          </a:bodyPr>
          <a:lstStyle/>
          <a:p>
            <a:pPr marL="0" indent="0">
              <a:buNone/>
            </a:pPr>
            <a:r>
              <a:rPr lang="en-IN" sz="2000" dirty="0">
                <a:solidFill>
                  <a:srgbClr val="FF0000"/>
                </a:solidFill>
              </a:rPr>
              <a:t>Example</a:t>
            </a:r>
            <a:br>
              <a:rPr lang="en-IN" sz="2000" dirty="0"/>
            </a:br>
            <a:r>
              <a:rPr lang="en-US" sz="2000" b="0" i="0" dirty="0">
                <a:solidFill>
                  <a:srgbClr val="000000"/>
                </a:solidFill>
                <a:effectLst/>
              </a:rPr>
              <a:t>Let us take an example for SELECT…WHERE clause. Assume we have the employee table as given below, with fields named Id, Name, Salary, Designation, and Dept. Generate a query to retrieve the employee details who earn a salary of more than Rs 30000.</a:t>
            </a:r>
            <a:endParaRPr lang="en-IN" sz="2000" dirty="0"/>
          </a:p>
        </p:txBody>
      </p:sp>
      <p:pic>
        <p:nvPicPr>
          <p:cNvPr id="4" name="Picture 3">
            <a:extLst>
              <a:ext uri="{FF2B5EF4-FFF2-40B4-BE49-F238E27FC236}">
                <a16:creationId xmlns:a16="http://schemas.microsoft.com/office/drawing/2014/main" id="{154673AE-9E6C-4E73-AA6A-DF298B46FDBE}"/>
              </a:ext>
            </a:extLst>
          </p:cNvPr>
          <p:cNvPicPr>
            <a:picLocks noChangeAspect="1"/>
          </p:cNvPicPr>
          <p:nvPr/>
        </p:nvPicPr>
        <p:blipFill>
          <a:blip r:embed="rId2"/>
          <a:stretch>
            <a:fillRect/>
          </a:stretch>
        </p:blipFill>
        <p:spPr>
          <a:xfrm>
            <a:off x="694203" y="4050813"/>
            <a:ext cx="8030696" cy="2743583"/>
          </a:xfrm>
          <a:prstGeom prst="rect">
            <a:avLst/>
          </a:prstGeom>
        </p:spPr>
      </p:pic>
    </p:spTree>
    <p:extLst>
      <p:ext uri="{BB962C8B-B14F-4D97-AF65-F5344CB8AC3E}">
        <p14:creationId xmlns:p14="http://schemas.microsoft.com/office/powerpoint/2010/main" val="1033295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35395"/>
            <a:ext cx="8386537" cy="1003005"/>
          </a:xfrm>
        </p:spPr>
        <p:txBody>
          <a:bodyPr>
            <a:normAutofit/>
          </a:bodyPr>
          <a:lstStyle/>
          <a:p>
            <a:pPr marL="0" indent="0">
              <a:buNone/>
            </a:pPr>
            <a:r>
              <a:rPr lang="en-IN" dirty="0"/>
              <a:t>Query</a:t>
            </a:r>
          </a:p>
        </p:txBody>
      </p:sp>
      <p:pic>
        <p:nvPicPr>
          <p:cNvPr id="4" name="Picture 3">
            <a:extLst>
              <a:ext uri="{FF2B5EF4-FFF2-40B4-BE49-F238E27FC236}">
                <a16:creationId xmlns:a16="http://schemas.microsoft.com/office/drawing/2014/main" id="{154673AE-9E6C-4E73-AA6A-DF298B46FDBE}"/>
              </a:ext>
            </a:extLst>
          </p:cNvPr>
          <p:cNvPicPr>
            <a:picLocks noChangeAspect="1"/>
          </p:cNvPicPr>
          <p:nvPr/>
        </p:nvPicPr>
        <p:blipFill>
          <a:blip r:embed="rId2"/>
          <a:stretch>
            <a:fillRect/>
          </a:stretch>
        </p:blipFill>
        <p:spPr>
          <a:xfrm>
            <a:off x="556652" y="3257550"/>
            <a:ext cx="8030696" cy="274358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43466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00561"/>
            <a:ext cx="8724899" cy="608992"/>
          </a:xfrm>
        </p:spPr>
        <p:txBody>
          <a:bodyPr>
            <a:normAutofit lnSpcReduction="10000"/>
          </a:bodyPr>
          <a:lstStyle/>
          <a:p>
            <a:pPr marL="0" indent="0">
              <a:buNone/>
            </a:pPr>
            <a:r>
              <a:rPr lang="en-IN" sz="2400" dirty="0"/>
              <a:t>JDBC Program</a:t>
            </a:r>
          </a:p>
          <a:p>
            <a:pPr marL="0" indent="0">
              <a:buNone/>
            </a:pPr>
            <a:endParaRPr lang="en-IN" sz="2400" dirty="0"/>
          </a:p>
        </p:txBody>
      </p:sp>
      <p:sp>
        <p:nvSpPr>
          <p:cNvPr id="7" name="TextBox 6">
            <a:extLst>
              <a:ext uri="{FF2B5EF4-FFF2-40B4-BE49-F238E27FC236}">
                <a16:creationId xmlns:a16="http://schemas.microsoft.com/office/drawing/2014/main" id="{C5C10BEE-9F01-410B-B17B-9FA57405E498}"/>
              </a:ext>
            </a:extLst>
          </p:cNvPr>
          <p:cNvSpPr txBox="1"/>
          <p:nvPr/>
        </p:nvSpPr>
        <p:spPr>
          <a:xfrm>
            <a:off x="338362" y="2009553"/>
            <a:ext cx="8888819" cy="4801314"/>
          </a:xfrm>
          <a:prstGeom prst="rect">
            <a:avLst/>
          </a:prstGeom>
          <a:noFill/>
        </p:spPr>
        <p:txBody>
          <a:bodyPr wrap="square">
            <a:spAutoFit/>
          </a:bodyPr>
          <a:lstStyle/>
          <a:p>
            <a:r>
              <a:rPr lang="en-IN" dirty="0">
                <a:latin typeface="Bahnschrift" panose="020B0502040204020203" pitchFamily="34" charset="0"/>
              </a:rPr>
              <a:t>import </a:t>
            </a:r>
            <a:r>
              <a:rPr lang="en-IN" dirty="0" err="1">
                <a:latin typeface="Bahnschrift" panose="020B0502040204020203" pitchFamily="34" charset="0"/>
              </a:rPr>
              <a:t>java.sql.SQLException</a:t>
            </a:r>
            <a:r>
              <a:rPr lang="en-IN" dirty="0">
                <a:latin typeface="Bahnschrift" panose="020B0502040204020203" pitchFamily="34" charset="0"/>
              </a:rPr>
              <a:t>;</a:t>
            </a:r>
          </a:p>
          <a:p>
            <a:r>
              <a:rPr lang="en-IN" dirty="0">
                <a:latin typeface="Bahnschrift" panose="020B0502040204020203" pitchFamily="34" charset="0"/>
              </a:rPr>
              <a:t>import </a:t>
            </a:r>
            <a:r>
              <a:rPr lang="en-IN" dirty="0" err="1">
                <a:latin typeface="Bahnschrift" panose="020B0502040204020203" pitchFamily="34" charset="0"/>
              </a:rPr>
              <a:t>java.sql.Connection</a:t>
            </a:r>
            <a:r>
              <a:rPr lang="en-IN" dirty="0">
                <a:latin typeface="Bahnschrift" panose="020B0502040204020203" pitchFamily="34" charset="0"/>
              </a:rPr>
              <a:t>;</a:t>
            </a:r>
          </a:p>
          <a:p>
            <a:r>
              <a:rPr lang="en-IN" dirty="0">
                <a:latin typeface="Bahnschrift" panose="020B0502040204020203" pitchFamily="34" charset="0"/>
              </a:rPr>
              <a:t>import </a:t>
            </a:r>
            <a:r>
              <a:rPr lang="en-IN" dirty="0" err="1">
                <a:latin typeface="Bahnschrift" panose="020B0502040204020203" pitchFamily="34" charset="0"/>
              </a:rPr>
              <a:t>java.sql.ResultSet</a:t>
            </a:r>
            <a:r>
              <a:rPr lang="en-IN" dirty="0">
                <a:latin typeface="Bahnschrift" panose="020B0502040204020203" pitchFamily="34" charset="0"/>
              </a:rPr>
              <a:t>;</a:t>
            </a:r>
          </a:p>
          <a:p>
            <a:r>
              <a:rPr lang="en-IN" dirty="0">
                <a:latin typeface="Bahnschrift" panose="020B0502040204020203" pitchFamily="34" charset="0"/>
              </a:rPr>
              <a:t>import </a:t>
            </a:r>
            <a:r>
              <a:rPr lang="en-IN" dirty="0" err="1">
                <a:latin typeface="Bahnschrift" panose="020B0502040204020203" pitchFamily="34" charset="0"/>
              </a:rPr>
              <a:t>java.sql.Statement</a:t>
            </a:r>
            <a:r>
              <a:rPr lang="en-IN" dirty="0">
                <a:latin typeface="Bahnschrift" panose="020B0502040204020203" pitchFamily="34" charset="0"/>
              </a:rPr>
              <a:t>;</a:t>
            </a:r>
          </a:p>
          <a:p>
            <a:r>
              <a:rPr lang="en-IN" dirty="0">
                <a:latin typeface="Bahnschrift" panose="020B0502040204020203" pitchFamily="34" charset="0"/>
              </a:rPr>
              <a:t>import </a:t>
            </a:r>
            <a:r>
              <a:rPr lang="en-IN" dirty="0" err="1">
                <a:latin typeface="Bahnschrift" panose="020B0502040204020203" pitchFamily="34" charset="0"/>
              </a:rPr>
              <a:t>java.sql.DriverManager</a:t>
            </a:r>
            <a:r>
              <a:rPr lang="en-IN" dirty="0">
                <a:latin typeface="Bahnschrift" panose="020B0502040204020203" pitchFamily="34" charset="0"/>
              </a:rPr>
              <a:t>;</a:t>
            </a:r>
          </a:p>
          <a:p>
            <a:endParaRPr lang="en-IN" dirty="0">
              <a:latin typeface="Bahnschrift" panose="020B0502040204020203" pitchFamily="34" charset="0"/>
            </a:endParaRPr>
          </a:p>
          <a:p>
            <a:r>
              <a:rPr lang="en-IN" dirty="0">
                <a:latin typeface="Bahnschrift" panose="020B0502040204020203" pitchFamily="34" charset="0"/>
              </a:rPr>
              <a:t>public class </a:t>
            </a:r>
            <a:r>
              <a:rPr lang="en-IN" dirty="0" err="1">
                <a:latin typeface="Bahnschrift" panose="020B0502040204020203" pitchFamily="34" charset="0"/>
              </a:rPr>
              <a:t>HiveQLWhere</a:t>
            </a:r>
            <a:r>
              <a:rPr lang="en-IN" dirty="0">
                <a:latin typeface="Bahnschrift" panose="020B0502040204020203" pitchFamily="34" charset="0"/>
              </a:rPr>
              <a:t> {</a:t>
            </a:r>
          </a:p>
          <a:p>
            <a:r>
              <a:rPr lang="en-IN" dirty="0">
                <a:latin typeface="Bahnschrift" panose="020B0502040204020203" pitchFamily="34" charset="0"/>
              </a:rPr>
              <a:t>   private static String </a:t>
            </a:r>
            <a:r>
              <a:rPr lang="en-IN" dirty="0" err="1">
                <a:latin typeface="Bahnschrift" panose="020B0502040204020203" pitchFamily="34" charset="0"/>
              </a:rPr>
              <a:t>driverName</a:t>
            </a:r>
            <a:r>
              <a:rPr lang="en-IN" dirty="0">
                <a:latin typeface="Bahnschrift" panose="020B0502040204020203" pitchFamily="34" charset="0"/>
              </a:rPr>
              <a:t> = "</a:t>
            </a:r>
            <a:r>
              <a:rPr lang="en-IN" dirty="0" err="1">
                <a:latin typeface="Bahnschrift" panose="020B0502040204020203" pitchFamily="34" charset="0"/>
              </a:rPr>
              <a:t>org.apache.hadoop.hive.jdbc.HiveDriver</a:t>
            </a:r>
            <a:r>
              <a:rPr lang="en-IN" dirty="0">
                <a:latin typeface="Bahnschrift" panose="020B0502040204020203" pitchFamily="34" charset="0"/>
              </a:rPr>
              <a:t>";</a:t>
            </a:r>
          </a:p>
          <a:p>
            <a:r>
              <a:rPr lang="en-IN" dirty="0">
                <a:latin typeface="Bahnschrift" panose="020B0502040204020203" pitchFamily="34" charset="0"/>
              </a:rPr>
              <a:t>   </a:t>
            </a:r>
          </a:p>
          <a:p>
            <a:r>
              <a:rPr lang="en-IN" dirty="0">
                <a:latin typeface="Bahnschrift" panose="020B0502040204020203" pitchFamily="34" charset="0"/>
              </a:rPr>
              <a:t>   public static void main(String[] </a:t>
            </a:r>
            <a:r>
              <a:rPr lang="en-IN" dirty="0" err="1">
                <a:latin typeface="Bahnschrift" panose="020B0502040204020203" pitchFamily="34" charset="0"/>
              </a:rPr>
              <a:t>args</a:t>
            </a:r>
            <a:r>
              <a:rPr lang="en-IN" dirty="0">
                <a:latin typeface="Bahnschrift" panose="020B0502040204020203" pitchFamily="34" charset="0"/>
              </a:rPr>
              <a:t>) throws </a:t>
            </a:r>
            <a:r>
              <a:rPr lang="en-IN" dirty="0" err="1">
                <a:latin typeface="Bahnschrift" panose="020B0502040204020203" pitchFamily="34" charset="0"/>
              </a:rPr>
              <a:t>SQLException</a:t>
            </a:r>
            <a:r>
              <a:rPr lang="en-IN" dirty="0">
                <a:latin typeface="Bahnschrift" panose="020B0502040204020203" pitchFamily="34" charset="0"/>
              </a:rPr>
              <a:t> {</a:t>
            </a:r>
          </a:p>
          <a:p>
            <a:r>
              <a:rPr lang="en-IN" dirty="0">
                <a:latin typeface="Bahnschrift" panose="020B0502040204020203" pitchFamily="34" charset="0"/>
              </a:rPr>
              <a:t>   </a:t>
            </a:r>
          </a:p>
          <a:p>
            <a:r>
              <a:rPr lang="en-IN" dirty="0">
                <a:latin typeface="Bahnschrift" panose="020B0502040204020203" pitchFamily="34" charset="0"/>
              </a:rPr>
              <a:t>      // Register driver and create driver instance</a:t>
            </a:r>
          </a:p>
          <a:p>
            <a:r>
              <a:rPr lang="en-IN" dirty="0">
                <a:latin typeface="Bahnschrift" panose="020B0502040204020203" pitchFamily="34" charset="0"/>
              </a:rPr>
              <a:t>      </a:t>
            </a:r>
            <a:r>
              <a:rPr lang="en-IN" dirty="0" err="1">
                <a:latin typeface="Bahnschrift" panose="020B0502040204020203" pitchFamily="34" charset="0"/>
              </a:rPr>
              <a:t>Class.forName</a:t>
            </a:r>
            <a:r>
              <a:rPr lang="en-IN" dirty="0">
                <a:latin typeface="Bahnschrift" panose="020B0502040204020203" pitchFamily="34" charset="0"/>
              </a:rPr>
              <a:t>(</a:t>
            </a:r>
            <a:r>
              <a:rPr lang="en-IN" dirty="0" err="1">
                <a:latin typeface="Bahnschrift" panose="020B0502040204020203" pitchFamily="34" charset="0"/>
              </a:rPr>
              <a:t>driverName</a:t>
            </a:r>
            <a:r>
              <a:rPr lang="en-IN" dirty="0">
                <a:latin typeface="Bahnschrift" panose="020B0502040204020203" pitchFamily="34" charset="0"/>
              </a:rPr>
              <a:t>);</a:t>
            </a:r>
          </a:p>
          <a:p>
            <a:r>
              <a:rPr lang="en-IN" dirty="0">
                <a:latin typeface="Bahnschrift" panose="020B0502040204020203" pitchFamily="34" charset="0"/>
              </a:rPr>
              <a:t>      </a:t>
            </a:r>
          </a:p>
          <a:p>
            <a:r>
              <a:rPr lang="en-IN" dirty="0">
                <a:latin typeface="Bahnschrift" panose="020B0502040204020203" pitchFamily="34" charset="0"/>
              </a:rPr>
              <a:t>      // get connection</a:t>
            </a:r>
          </a:p>
          <a:p>
            <a:r>
              <a:rPr lang="en-IN" dirty="0">
                <a:latin typeface="Bahnschrift" panose="020B0502040204020203" pitchFamily="34" charset="0"/>
              </a:rPr>
              <a:t>      Connection con = </a:t>
            </a:r>
            <a:r>
              <a:rPr lang="en-IN" dirty="0" err="1">
                <a:latin typeface="Bahnschrift" panose="020B0502040204020203" pitchFamily="34" charset="0"/>
              </a:rPr>
              <a:t>DriverManager.getConnection</a:t>
            </a:r>
            <a:r>
              <a:rPr lang="en-IN" dirty="0">
                <a:latin typeface="Bahnschrift" panose="020B0502040204020203" pitchFamily="34" charset="0"/>
              </a:rPr>
              <a:t>("</a:t>
            </a:r>
            <a:r>
              <a:rPr lang="en-IN" dirty="0" err="1">
                <a:latin typeface="Bahnschrift" panose="020B0502040204020203" pitchFamily="34" charset="0"/>
              </a:rPr>
              <a:t>jdbc:hive</a:t>
            </a:r>
            <a:r>
              <a:rPr lang="en-IN" dirty="0">
                <a:latin typeface="Bahnschrift" panose="020B0502040204020203" pitchFamily="34" charset="0"/>
              </a:rPr>
              <a:t>://localhost:10000/</a:t>
            </a:r>
            <a:r>
              <a:rPr lang="en-IN" dirty="0" err="1">
                <a:latin typeface="Bahnschrift" panose="020B0502040204020203" pitchFamily="34" charset="0"/>
              </a:rPr>
              <a:t>userdb</a:t>
            </a:r>
            <a:r>
              <a:rPr lang="en-IN" dirty="0">
                <a:latin typeface="Bahnschrift" panose="020B0502040204020203" pitchFamily="34" charset="0"/>
              </a:rPr>
              <a:t>", "", "");      </a:t>
            </a:r>
          </a:p>
        </p:txBody>
      </p:sp>
    </p:spTree>
    <p:extLst>
      <p:ext uri="{BB962C8B-B14F-4D97-AF65-F5344CB8AC3E}">
        <p14:creationId xmlns:p14="http://schemas.microsoft.com/office/powerpoint/2010/main" val="3936835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520435"/>
            <a:ext cx="8724899" cy="556015"/>
          </a:xfrm>
        </p:spPr>
        <p:txBody>
          <a:bodyPr>
            <a:normAutofit/>
          </a:bodyPr>
          <a:lstStyle/>
          <a:p>
            <a:pPr marL="0" indent="0" algn="just">
              <a:buNone/>
            </a:pPr>
            <a:r>
              <a:rPr lang="en-IN" sz="2000" dirty="0"/>
              <a:t>JDBC Program</a:t>
            </a:r>
          </a:p>
          <a:p>
            <a:pPr marL="0" indent="0" algn="just">
              <a:buNone/>
            </a:pPr>
            <a:endParaRPr lang="en-IN" sz="2000" dirty="0"/>
          </a:p>
        </p:txBody>
      </p:sp>
      <p:sp>
        <p:nvSpPr>
          <p:cNvPr id="7" name="TextBox 6">
            <a:extLst>
              <a:ext uri="{FF2B5EF4-FFF2-40B4-BE49-F238E27FC236}">
                <a16:creationId xmlns:a16="http://schemas.microsoft.com/office/drawing/2014/main" id="{C5C10BEE-9F01-410B-B17B-9FA57405E498}"/>
              </a:ext>
            </a:extLst>
          </p:cNvPr>
          <p:cNvSpPr txBox="1"/>
          <p:nvPr/>
        </p:nvSpPr>
        <p:spPr>
          <a:xfrm>
            <a:off x="338362" y="2076450"/>
            <a:ext cx="8888819" cy="4524315"/>
          </a:xfrm>
          <a:prstGeom prst="rect">
            <a:avLst/>
          </a:prstGeom>
          <a:noFill/>
        </p:spPr>
        <p:txBody>
          <a:bodyPr wrap="square">
            <a:spAutoFit/>
          </a:bodyPr>
          <a:lstStyle/>
          <a:p>
            <a:r>
              <a:rPr lang="en-IN" dirty="0">
                <a:latin typeface="Bahnschrift" panose="020B0502040204020203" pitchFamily="34" charset="0"/>
              </a:rPr>
              <a:t> // create statement</a:t>
            </a:r>
          </a:p>
          <a:p>
            <a:r>
              <a:rPr lang="en-IN" dirty="0">
                <a:latin typeface="Bahnschrift" panose="020B0502040204020203" pitchFamily="34" charset="0"/>
              </a:rPr>
              <a:t>      Statement </a:t>
            </a:r>
            <a:r>
              <a:rPr lang="en-IN" dirty="0" err="1">
                <a:latin typeface="Bahnschrift" panose="020B0502040204020203" pitchFamily="34" charset="0"/>
              </a:rPr>
              <a:t>stmt</a:t>
            </a:r>
            <a:r>
              <a:rPr lang="en-IN" dirty="0">
                <a:latin typeface="Bahnschrift" panose="020B0502040204020203" pitchFamily="34" charset="0"/>
              </a:rPr>
              <a:t> = </a:t>
            </a:r>
            <a:r>
              <a:rPr lang="en-IN" dirty="0" err="1">
                <a:latin typeface="Bahnschrift" panose="020B0502040204020203" pitchFamily="34" charset="0"/>
              </a:rPr>
              <a:t>con.createStatement</a:t>
            </a:r>
            <a:r>
              <a:rPr lang="en-IN" dirty="0">
                <a:latin typeface="Bahnschrift" panose="020B0502040204020203" pitchFamily="34" charset="0"/>
              </a:rPr>
              <a:t>();</a:t>
            </a:r>
            <a:endParaRPr lang="en-IN" sz="1800" dirty="0">
              <a:latin typeface="Bahnschrift" panose="020B0502040204020203" pitchFamily="34" charset="0"/>
            </a:endParaRPr>
          </a:p>
          <a:p>
            <a:r>
              <a:rPr lang="en-IN" sz="1800" dirty="0">
                <a:latin typeface="Bahnschrift" panose="020B0502040204020203" pitchFamily="34" charset="0"/>
              </a:rPr>
              <a:t>// execute statement</a:t>
            </a:r>
          </a:p>
          <a:p>
            <a:r>
              <a:rPr lang="en-IN" sz="1800" dirty="0">
                <a:latin typeface="Bahnschrift" panose="020B0502040204020203" pitchFamily="34" charset="0"/>
              </a:rPr>
              <a:t>      </a:t>
            </a:r>
            <a:r>
              <a:rPr lang="en-IN" sz="1800" dirty="0" err="1">
                <a:latin typeface="Bahnschrift" panose="020B0502040204020203" pitchFamily="34" charset="0"/>
              </a:rPr>
              <a:t>Resultset</a:t>
            </a:r>
            <a:r>
              <a:rPr lang="en-IN" sz="1800" dirty="0">
                <a:latin typeface="Bahnschrift" panose="020B0502040204020203" pitchFamily="34" charset="0"/>
              </a:rPr>
              <a:t> res = </a:t>
            </a:r>
            <a:r>
              <a:rPr lang="en-IN" sz="1800" dirty="0" err="1">
                <a:latin typeface="Bahnschrift" panose="020B0502040204020203" pitchFamily="34" charset="0"/>
              </a:rPr>
              <a:t>stmt.executeQuery</a:t>
            </a:r>
            <a:r>
              <a:rPr lang="en-IN" sz="1800" dirty="0">
                <a:latin typeface="Bahnschrift" panose="020B0502040204020203" pitchFamily="34" charset="0"/>
              </a:rPr>
              <a:t>("SELECT * FROM employee WHERE salary&gt;30000;");</a:t>
            </a:r>
          </a:p>
          <a:p>
            <a:r>
              <a:rPr lang="en-IN" sz="1800" dirty="0">
                <a:latin typeface="Bahnschrift" panose="020B0502040204020203" pitchFamily="34" charset="0"/>
              </a:rPr>
              <a:t>      </a:t>
            </a:r>
          </a:p>
          <a:p>
            <a:r>
              <a:rPr lang="en-IN" sz="1800" dirty="0">
                <a:latin typeface="Bahnschrift" panose="020B0502040204020203" pitchFamily="34" charset="0"/>
              </a:rPr>
              <a:t>      </a:t>
            </a:r>
            <a:r>
              <a:rPr lang="en-IN" sz="1800" dirty="0" err="1">
                <a:latin typeface="Bahnschrift" panose="020B0502040204020203" pitchFamily="34" charset="0"/>
              </a:rPr>
              <a:t>System.out.println</a:t>
            </a:r>
            <a:r>
              <a:rPr lang="en-IN" sz="1800" dirty="0">
                <a:latin typeface="Bahnschrift" panose="020B0502040204020203" pitchFamily="34" charset="0"/>
              </a:rPr>
              <a:t>("Result:");</a:t>
            </a:r>
            <a:endParaRPr lang="en-IN" dirty="0">
              <a:latin typeface="Bahnschrift" panose="020B0502040204020203" pitchFamily="34" charset="0"/>
            </a:endParaRPr>
          </a:p>
          <a:p>
            <a:r>
              <a:rPr lang="en-IN" dirty="0" err="1">
                <a:latin typeface="Bahnschrift" panose="020B0502040204020203" pitchFamily="34" charset="0"/>
              </a:rPr>
              <a:t>System.out.println</a:t>
            </a:r>
            <a:r>
              <a:rPr lang="en-IN" dirty="0">
                <a:latin typeface="Bahnschrift" panose="020B0502040204020203" pitchFamily="34" charset="0"/>
              </a:rPr>
              <a:t>(" ID \t Name \t Salary \t Designation \t Dept ");</a:t>
            </a:r>
          </a:p>
          <a:p>
            <a:r>
              <a:rPr lang="en-IN" dirty="0">
                <a:latin typeface="Bahnschrift" panose="020B0502040204020203" pitchFamily="34" charset="0"/>
              </a:rPr>
              <a:t>      </a:t>
            </a:r>
          </a:p>
          <a:p>
            <a:r>
              <a:rPr lang="en-IN" dirty="0">
                <a:latin typeface="Bahnschrift" panose="020B0502040204020203" pitchFamily="34" charset="0"/>
              </a:rPr>
              <a:t>      while (</a:t>
            </a:r>
            <a:r>
              <a:rPr lang="en-IN" dirty="0" err="1">
                <a:latin typeface="Bahnschrift" panose="020B0502040204020203" pitchFamily="34" charset="0"/>
              </a:rPr>
              <a:t>res.next</a:t>
            </a:r>
            <a:r>
              <a:rPr lang="en-IN" dirty="0">
                <a:latin typeface="Bahnschrift" panose="020B0502040204020203" pitchFamily="34" charset="0"/>
              </a:rPr>
              <a:t>()) {</a:t>
            </a:r>
          </a:p>
          <a:p>
            <a:r>
              <a:rPr lang="en-IN" dirty="0">
                <a:latin typeface="Bahnschrift" panose="020B0502040204020203" pitchFamily="34" charset="0"/>
              </a:rPr>
              <a:t>         </a:t>
            </a:r>
            <a:r>
              <a:rPr lang="en-IN" dirty="0" err="1">
                <a:latin typeface="Bahnschrift" panose="020B0502040204020203" pitchFamily="34" charset="0"/>
              </a:rPr>
              <a:t>System.out.println</a:t>
            </a:r>
            <a:r>
              <a:rPr lang="en-IN" dirty="0">
                <a:latin typeface="Bahnschrift" panose="020B0502040204020203" pitchFamily="34" charset="0"/>
              </a:rPr>
              <a:t>(</a:t>
            </a:r>
            <a:r>
              <a:rPr lang="en-IN" dirty="0" err="1">
                <a:latin typeface="Bahnschrift" panose="020B0502040204020203" pitchFamily="34" charset="0"/>
              </a:rPr>
              <a:t>res.getInt</a:t>
            </a:r>
            <a:r>
              <a:rPr lang="en-IN" dirty="0">
                <a:latin typeface="Bahnschrift" panose="020B0502040204020203" pitchFamily="34" charset="0"/>
              </a:rPr>
              <a:t>(1) + " " + </a:t>
            </a:r>
            <a:r>
              <a:rPr lang="en-IN" dirty="0" err="1">
                <a:latin typeface="Bahnschrift" panose="020B0502040204020203" pitchFamily="34" charset="0"/>
              </a:rPr>
              <a:t>res.getString</a:t>
            </a:r>
            <a:r>
              <a:rPr lang="en-IN" dirty="0">
                <a:latin typeface="Bahnschrift" panose="020B0502040204020203" pitchFamily="34" charset="0"/>
              </a:rPr>
              <a:t>(2) + " " + </a:t>
            </a:r>
            <a:r>
              <a:rPr lang="en-IN" dirty="0" err="1">
                <a:latin typeface="Bahnschrift" panose="020B0502040204020203" pitchFamily="34" charset="0"/>
              </a:rPr>
              <a:t>res.getDouble</a:t>
            </a:r>
            <a:r>
              <a:rPr lang="en-IN" dirty="0">
                <a:latin typeface="Bahnschrift" panose="020B0502040204020203" pitchFamily="34" charset="0"/>
              </a:rPr>
              <a:t>(3) + " " + </a:t>
            </a:r>
            <a:r>
              <a:rPr lang="en-IN" dirty="0" err="1">
                <a:latin typeface="Bahnschrift" panose="020B0502040204020203" pitchFamily="34" charset="0"/>
              </a:rPr>
              <a:t>res.getString</a:t>
            </a:r>
            <a:r>
              <a:rPr lang="en-IN" dirty="0">
                <a:latin typeface="Bahnschrift" panose="020B0502040204020203" pitchFamily="34" charset="0"/>
              </a:rPr>
              <a:t>(4) + " " + </a:t>
            </a:r>
            <a:r>
              <a:rPr lang="en-IN" dirty="0" err="1">
                <a:latin typeface="Bahnschrift" panose="020B0502040204020203" pitchFamily="34" charset="0"/>
              </a:rPr>
              <a:t>res.getString</a:t>
            </a:r>
            <a:r>
              <a:rPr lang="en-IN" dirty="0">
                <a:latin typeface="Bahnschrift" panose="020B0502040204020203" pitchFamily="34" charset="0"/>
              </a:rPr>
              <a:t>(5));</a:t>
            </a:r>
          </a:p>
          <a:p>
            <a:r>
              <a:rPr lang="en-IN" dirty="0">
                <a:latin typeface="Bahnschrift" panose="020B0502040204020203" pitchFamily="34" charset="0"/>
              </a:rPr>
              <a:t>      }</a:t>
            </a:r>
          </a:p>
          <a:p>
            <a:r>
              <a:rPr lang="en-IN" dirty="0">
                <a:latin typeface="Bahnschrift" panose="020B0502040204020203" pitchFamily="34" charset="0"/>
              </a:rPr>
              <a:t>      </a:t>
            </a:r>
            <a:r>
              <a:rPr lang="en-IN" dirty="0" err="1">
                <a:latin typeface="Bahnschrift" panose="020B0502040204020203" pitchFamily="34" charset="0"/>
              </a:rPr>
              <a:t>con.close</a:t>
            </a:r>
            <a:r>
              <a:rPr lang="en-IN" dirty="0">
                <a:latin typeface="Bahnschrift" panose="020B0502040204020203" pitchFamily="34" charset="0"/>
              </a:rPr>
              <a:t>();</a:t>
            </a:r>
          </a:p>
          <a:p>
            <a:r>
              <a:rPr lang="en-IN" dirty="0">
                <a:latin typeface="Bahnschrift" panose="020B0502040204020203" pitchFamily="34" charset="0"/>
              </a:rPr>
              <a:t>   }</a:t>
            </a:r>
          </a:p>
          <a:p>
            <a:r>
              <a:rPr lang="en-IN" dirty="0">
                <a:latin typeface="Bahnschrift" panose="020B0502040204020203" pitchFamily="34" charset="0"/>
              </a:rPr>
              <a:t>}</a:t>
            </a:r>
          </a:p>
        </p:txBody>
      </p:sp>
    </p:spTree>
    <p:extLst>
      <p:ext uri="{BB962C8B-B14F-4D97-AF65-F5344CB8AC3E}">
        <p14:creationId xmlns:p14="http://schemas.microsoft.com/office/powerpoint/2010/main" val="3451264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573968"/>
            <a:ext cx="8505835" cy="5254052"/>
          </a:xfrm>
        </p:spPr>
        <p:txBody>
          <a:bodyPr>
            <a:normAutofit/>
          </a:bodyPr>
          <a:lstStyle/>
          <a:p>
            <a:pPr marL="0" indent="0" algn="just">
              <a:buNone/>
            </a:pPr>
            <a:r>
              <a:rPr lang="en-US" sz="2400" b="0" i="0" dirty="0">
                <a:solidFill>
                  <a:srgbClr val="000000"/>
                </a:solidFill>
                <a:effectLst/>
              </a:rPr>
              <a:t>Save the program in a file named HiveQLWhere.java. Commands to compile and execute this program.</a:t>
            </a:r>
            <a:endParaRPr lang="en-IN" sz="3600" dirty="0"/>
          </a:p>
        </p:txBody>
      </p:sp>
    </p:spTree>
    <p:extLst>
      <p:ext uri="{BB962C8B-B14F-4D97-AF65-F5344CB8AC3E}">
        <p14:creationId xmlns:p14="http://schemas.microsoft.com/office/powerpoint/2010/main" val="1807447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84026"/>
            <a:ext cx="8386537" cy="5373974"/>
          </a:xfrm>
        </p:spPr>
        <p:txBody>
          <a:bodyPr>
            <a:normAutofit/>
          </a:bodyPr>
          <a:lstStyle/>
          <a:p>
            <a:pPr marL="0" indent="0" algn="just">
              <a:buNone/>
            </a:pPr>
            <a:r>
              <a:rPr lang="en-US" b="0" i="0" dirty="0">
                <a:solidFill>
                  <a:srgbClr val="000000"/>
                </a:solidFill>
                <a:effectLst/>
              </a:rPr>
              <a:t>ORDER BY clause in a SELECT statement.</a:t>
            </a:r>
            <a:endParaRPr lang="en-IN" dirty="0"/>
          </a:p>
        </p:txBody>
      </p:sp>
    </p:spTree>
    <p:extLst>
      <p:ext uri="{BB962C8B-B14F-4D97-AF65-F5344CB8AC3E}">
        <p14:creationId xmlns:p14="http://schemas.microsoft.com/office/powerpoint/2010/main" val="3422869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83493"/>
            <a:ext cx="8386537" cy="3891014"/>
          </a:xfrm>
        </p:spPr>
        <p:txBody>
          <a:bodyPr>
            <a:normAutofit/>
          </a:bodyPr>
          <a:lstStyle/>
          <a:p>
            <a:pPr marL="0" indent="0">
              <a:buNone/>
            </a:pPr>
            <a:r>
              <a:rPr lang="en-US" sz="2400" b="0" i="0" dirty="0">
                <a:solidFill>
                  <a:srgbClr val="000000"/>
                </a:solidFill>
                <a:effectLst/>
              </a:rPr>
              <a:t>ORDER BY</a:t>
            </a:r>
          </a:p>
          <a:p>
            <a:r>
              <a:rPr lang="en-US" sz="2400" dirty="0">
                <a:solidFill>
                  <a:srgbClr val="000000"/>
                </a:solidFill>
              </a:rPr>
              <a:t>Syntax</a:t>
            </a:r>
            <a:endParaRPr lang="en-IN" sz="2400" dirty="0"/>
          </a:p>
        </p:txBody>
      </p:sp>
    </p:spTree>
    <p:extLst>
      <p:ext uri="{BB962C8B-B14F-4D97-AF65-F5344CB8AC3E}">
        <p14:creationId xmlns:p14="http://schemas.microsoft.com/office/powerpoint/2010/main" val="4140186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84026"/>
            <a:ext cx="8386537" cy="5373974"/>
          </a:xfrm>
        </p:spPr>
        <p:txBody>
          <a:bodyPr>
            <a:normAutofit/>
          </a:bodyPr>
          <a:lstStyle/>
          <a:p>
            <a:pPr marL="0" indent="0" algn="l">
              <a:buNone/>
            </a:pPr>
            <a:r>
              <a:rPr lang="en-IN" sz="1800" b="0" i="0" dirty="0">
                <a:solidFill>
                  <a:srgbClr val="FF0000"/>
                </a:solidFill>
                <a:effectLst/>
              </a:rPr>
              <a:t>Example</a:t>
            </a:r>
          </a:p>
          <a:p>
            <a:pPr marL="0" indent="0" algn="l">
              <a:buNone/>
            </a:pPr>
            <a:r>
              <a:rPr lang="en-US" sz="1800" b="0" i="0" dirty="0">
                <a:solidFill>
                  <a:srgbClr val="000000"/>
                </a:solidFill>
                <a:effectLst/>
              </a:rPr>
              <a:t>Let us take an example for SELECT...ORDER BY clause. Assume employee table as given below, with the fields named Id, Name, Salary, Designation, and Dept. Generate a query to retrieve the employee details in order by using Department name.</a:t>
            </a:r>
            <a:endParaRPr lang="en-IN" sz="1800" b="0" i="0" dirty="0">
              <a:effectLst/>
            </a:endParaRPr>
          </a:p>
        </p:txBody>
      </p:sp>
      <p:pic>
        <p:nvPicPr>
          <p:cNvPr id="4" name="Picture 3">
            <a:extLst>
              <a:ext uri="{FF2B5EF4-FFF2-40B4-BE49-F238E27FC236}">
                <a16:creationId xmlns:a16="http://schemas.microsoft.com/office/drawing/2014/main" id="{E7667548-189E-4159-9429-A3027DA14BD9}"/>
              </a:ext>
            </a:extLst>
          </p:cNvPr>
          <p:cNvPicPr>
            <a:picLocks noChangeAspect="1"/>
          </p:cNvPicPr>
          <p:nvPr/>
        </p:nvPicPr>
        <p:blipFill>
          <a:blip r:embed="rId2"/>
          <a:stretch>
            <a:fillRect/>
          </a:stretch>
        </p:blipFill>
        <p:spPr>
          <a:xfrm>
            <a:off x="556652" y="3730023"/>
            <a:ext cx="8030696" cy="2743583"/>
          </a:xfrm>
          <a:prstGeom prst="rect">
            <a:avLst/>
          </a:prstGeom>
        </p:spPr>
      </p:pic>
    </p:spTree>
    <p:extLst>
      <p:ext uri="{BB962C8B-B14F-4D97-AF65-F5344CB8AC3E}">
        <p14:creationId xmlns:p14="http://schemas.microsoft.com/office/powerpoint/2010/main" val="3996000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45485"/>
            <a:ext cx="8724899" cy="937952"/>
          </a:xfrm>
        </p:spPr>
        <p:txBody>
          <a:bodyPr>
            <a:normAutofit/>
          </a:bodyPr>
          <a:lstStyle/>
          <a:p>
            <a:pPr marL="0" indent="0" algn="l">
              <a:buNone/>
            </a:pPr>
            <a:r>
              <a:rPr lang="en-IN" b="0" i="0" dirty="0">
                <a:effectLst/>
              </a:rPr>
              <a:t>Query</a:t>
            </a:r>
          </a:p>
        </p:txBody>
      </p:sp>
      <p:pic>
        <p:nvPicPr>
          <p:cNvPr id="4" name="Picture 3">
            <a:extLst>
              <a:ext uri="{FF2B5EF4-FFF2-40B4-BE49-F238E27FC236}">
                <a16:creationId xmlns:a16="http://schemas.microsoft.com/office/drawing/2014/main" id="{E7667548-189E-4159-9429-A3027DA14BD9}"/>
              </a:ext>
            </a:extLst>
          </p:cNvPr>
          <p:cNvPicPr>
            <a:picLocks noChangeAspect="1"/>
          </p:cNvPicPr>
          <p:nvPr/>
        </p:nvPicPr>
        <p:blipFill>
          <a:blip r:embed="rId2"/>
          <a:stretch>
            <a:fillRect/>
          </a:stretch>
        </p:blipFill>
        <p:spPr>
          <a:xfrm>
            <a:off x="694203" y="2995160"/>
            <a:ext cx="8030696" cy="2743583"/>
          </a:xfrm>
          <a:prstGeom prst="rect">
            <a:avLst/>
          </a:prstGeom>
        </p:spPr>
      </p:pic>
    </p:spTree>
    <p:extLst>
      <p:ext uri="{BB962C8B-B14F-4D97-AF65-F5344CB8AC3E}">
        <p14:creationId xmlns:p14="http://schemas.microsoft.com/office/powerpoint/2010/main" val="2881325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445484"/>
            <a:ext cx="8724899" cy="4160837"/>
          </a:xfrm>
        </p:spPr>
        <p:txBody>
          <a:bodyPr>
            <a:normAutofit/>
          </a:bodyPr>
          <a:lstStyle/>
          <a:p>
            <a:pPr algn="l"/>
            <a:r>
              <a:rPr lang="en-IN" sz="2400" b="0" i="0" dirty="0">
                <a:effectLst/>
              </a:rPr>
              <a:t>GROUP BY</a:t>
            </a:r>
          </a:p>
        </p:txBody>
      </p:sp>
    </p:spTree>
    <p:extLst>
      <p:ext uri="{BB962C8B-B14F-4D97-AF65-F5344CB8AC3E}">
        <p14:creationId xmlns:p14="http://schemas.microsoft.com/office/powerpoint/2010/main" val="3944198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550417"/>
            <a:ext cx="8520825" cy="4475630"/>
          </a:xfrm>
        </p:spPr>
        <p:txBody>
          <a:bodyPr>
            <a:normAutofit/>
          </a:bodyPr>
          <a:lstStyle/>
          <a:p>
            <a:pPr algn="l"/>
            <a:r>
              <a:rPr lang="en-IN" b="0" i="0" dirty="0">
                <a:effectLst/>
              </a:rPr>
              <a:t>Syntax</a:t>
            </a:r>
          </a:p>
          <a:p>
            <a:pPr algn="l"/>
            <a:endParaRPr lang="en-IN" sz="2400" b="0" i="0" dirty="0">
              <a:effectLst/>
            </a:endParaRPr>
          </a:p>
        </p:txBody>
      </p:sp>
    </p:spTree>
    <p:extLst>
      <p:ext uri="{BB962C8B-B14F-4D97-AF65-F5344CB8AC3E}">
        <p14:creationId xmlns:p14="http://schemas.microsoft.com/office/powerpoint/2010/main" val="1681256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338362" y="1571026"/>
            <a:ext cx="8724899" cy="2103439"/>
          </a:xfrm>
        </p:spPr>
        <p:txBody>
          <a:bodyPr>
            <a:normAutofit fontScale="85000" lnSpcReduction="10000"/>
          </a:bodyPr>
          <a:lstStyle/>
          <a:p>
            <a:pPr marL="0" indent="0" algn="l">
              <a:buNone/>
            </a:pPr>
            <a:r>
              <a:rPr lang="en-IN" sz="2400" b="0" i="0" dirty="0">
                <a:solidFill>
                  <a:srgbClr val="FF0000"/>
                </a:solidFill>
                <a:effectLst/>
              </a:rPr>
              <a:t>Example</a:t>
            </a:r>
          </a:p>
          <a:p>
            <a:pPr marL="0" indent="0" algn="l">
              <a:buNone/>
            </a:pPr>
            <a:r>
              <a:rPr lang="en-US" sz="2400" b="0" i="0" dirty="0">
                <a:solidFill>
                  <a:srgbClr val="000000"/>
                </a:solidFill>
                <a:effectLst/>
              </a:rPr>
              <a:t>Let us take an example of SELECT…GROUP BY clause. Assume employee table as given below, with Id, Name, Salary, Designation, and Dept fields. Generate a query to retrieve the number of employees in each department.</a:t>
            </a:r>
            <a:endParaRPr lang="en-IN" sz="2400" b="0" i="0" dirty="0">
              <a:effectLst/>
            </a:endParaRPr>
          </a:p>
          <a:p>
            <a:pPr marL="0" indent="0" algn="l">
              <a:buNone/>
            </a:pPr>
            <a:endParaRPr lang="en-IN" sz="2400" b="0" i="0" dirty="0">
              <a:effectLst/>
            </a:endParaRPr>
          </a:p>
        </p:txBody>
      </p:sp>
      <p:pic>
        <p:nvPicPr>
          <p:cNvPr id="5" name="Picture 4">
            <a:extLst>
              <a:ext uri="{FF2B5EF4-FFF2-40B4-BE49-F238E27FC236}">
                <a16:creationId xmlns:a16="http://schemas.microsoft.com/office/drawing/2014/main" id="{DCB8ABC8-B347-4690-8A1C-5D0C88AF4CAA}"/>
              </a:ext>
            </a:extLst>
          </p:cNvPr>
          <p:cNvPicPr>
            <a:picLocks noChangeAspect="1"/>
          </p:cNvPicPr>
          <p:nvPr/>
        </p:nvPicPr>
        <p:blipFill>
          <a:blip r:embed="rId2"/>
          <a:stretch>
            <a:fillRect/>
          </a:stretch>
        </p:blipFill>
        <p:spPr>
          <a:xfrm>
            <a:off x="485204" y="3674466"/>
            <a:ext cx="8173591" cy="275310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05440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0D05EB-A318-4814-B34C-5D793F61CB41}"/>
              </a:ext>
            </a:extLst>
          </p:cNvPr>
          <p:cNvSpPr>
            <a:spLocks noGrp="1"/>
          </p:cNvSpPr>
          <p:nvPr>
            <p:ph type="title"/>
          </p:nvPr>
        </p:nvSpPr>
        <p:spPr/>
        <p:txBody>
          <a:bodyPr/>
          <a:lstStyle/>
          <a:p>
            <a:r>
              <a:rPr lang="en-IN" dirty="0"/>
              <a:t>HIVE QL</a:t>
            </a:r>
          </a:p>
        </p:txBody>
      </p:sp>
      <p:sp>
        <p:nvSpPr>
          <p:cNvPr id="6" name="Content Placeholder 5">
            <a:extLst>
              <a:ext uri="{FF2B5EF4-FFF2-40B4-BE49-F238E27FC236}">
                <a16:creationId xmlns:a16="http://schemas.microsoft.com/office/drawing/2014/main" id="{808FD7BC-5FAC-44C4-A2E1-A5BD85AEF07E}"/>
              </a:ext>
            </a:extLst>
          </p:cNvPr>
          <p:cNvSpPr>
            <a:spLocks noGrp="1"/>
          </p:cNvSpPr>
          <p:nvPr>
            <p:ph idx="1"/>
          </p:nvPr>
        </p:nvSpPr>
        <p:spPr>
          <a:xfrm>
            <a:off x="614015" y="2035722"/>
            <a:ext cx="8724899" cy="683119"/>
          </a:xfrm>
        </p:spPr>
        <p:txBody>
          <a:bodyPr>
            <a:normAutofit fontScale="92500" lnSpcReduction="10000"/>
          </a:bodyPr>
          <a:lstStyle/>
          <a:p>
            <a:pPr marL="0" indent="0" algn="just">
              <a:buNone/>
            </a:pPr>
            <a:r>
              <a:rPr lang="en-IN" b="0" i="0" dirty="0">
                <a:effectLst/>
              </a:rPr>
              <a:t>Query</a:t>
            </a:r>
          </a:p>
          <a:p>
            <a:pPr marL="0" indent="0" algn="just">
              <a:buNone/>
            </a:pPr>
            <a:endParaRPr lang="en-IN" sz="2400" b="0" i="0" dirty="0">
              <a:effectLst/>
            </a:endParaRPr>
          </a:p>
        </p:txBody>
      </p:sp>
      <p:pic>
        <p:nvPicPr>
          <p:cNvPr id="4" name="Picture 3">
            <a:extLst>
              <a:ext uri="{FF2B5EF4-FFF2-40B4-BE49-F238E27FC236}">
                <a16:creationId xmlns:a16="http://schemas.microsoft.com/office/drawing/2014/main" id="{F0186BB2-685D-4EC6-A2F1-4E22277FBB8F}"/>
              </a:ext>
            </a:extLst>
          </p:cNvPr>
          <p:cNvPicPr>
            <a:picLocks noChangeAspect="1"/>
          </p:cNvPicPr>
          <p:nvPr/>
        </p:nvPicPr>
        <p:blipFill>
          <a:blip r:embed="rId2"/>
          <a:stretch>
            <a:fillRect/>
          </a:stretch>
        </p:blipFill>
        <p:spPr>
          <a:xfrm>
            <a:off x="551308" y="3429000"/>
            <a:ext cx="8173591" cy="275310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40585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1213</TotalTime>
  <Words>1269</Words>
  <Application>Microsoft Office PowerPoint</Application>
  <PresentationFormat>On-screen Show (4:3)</PresentationFormat>
  <Paragraphs>171</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Bahnschrift</vt:lpstr>
      <vt:lpstr>Bahnschrift SemiBold</vt:lpstr>
      <vt:lpstr>Calibri</vt:lpstr>
      <vt:lpstr>Calibri Light</vt:lpstr>
      <vt:lpstr>Office Theme</vt:lpstr>
      <vt:lpstr>PowerPoint Presentation</vt:lpstr>
      <vt:lpstr>PowerPoint Presentation</vt:lpstr>
      <vt:lpstr>Introduction</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Services offered by HIVE</vt:lpstr>
      <vt:lpstr>HIVE QL</vt:lpstr>
      <vt:lpstr>HIVE QL</vt:lpstr>
      <vt:lpstr>HIVE QL</vt:lpstr>
      <vt:lpstr>HIVE QL</vt:lpstr>
      <vt:lpstr>HIVE QL</vt:lpstr>
      <vt:lpstr>HIVE QL</vt:lpstr>
      <vt:lpstr>HIVE QL</vt:lpstr>
      <vt:lpstr>HIVE QL</vt:lpstr>
      <vt:lpstr>HIVE QL</vt:lpstr>
      <vt:lpstr>HIVE QL</vt:lpstr>
      <vt:lpstr>HIVE QL</vt:lpstr>
      <vt:lpstr>HIVE QL</vt:lpstr>
      <vt:lpstr>HIVE QL</vt:lpstr>
      <vt:lpstr>HIVE QL</vt:lpstr>
      <vt:lpstr>HIVE QL</vt:lpstr>
      <vt:lpstr>HIVE QL</vt:lpstr>
      <vt:lpstr>HIVE QL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77</cp:revision>
  <dcterms:created xsi:type="dcterms:W3CDTF">2021-05-13T17:45:44Z</dcterms:created>
  <dcterms:modified xsi:type="dcterms:W3CDTF">2021-09-13T09:27:45Z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510947</vt:lpwstr>
  </property>
  <property fmtid="{D5CDD505-2E9C-101B-9397-08002B2CF9AE}" name="NXPowerLiteSettings" pid="3">
    <vt:lpwstr>E700052003A000</vt:lpwstr>
  </property>
  <property fmtid="{D5CDD505-2E9C-101B-9397-08002B2CF9AE}" name="NXPowerLiteVersion" pid="4">
    <vt:lpwstr>D9.1.4</vt:lpwstr>
  </property>
</Properties>
</file>