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drawingml.diagramData+xml" PartName="/ppt/diagrams/data2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Colors+xml" PartName="/ppt/diagrams/colors2.xml"/>
  <Override ContentType="application/vnd.ms-office.drawingml.diagramDrawing+xml" PartName="/ppt/diagrams/drawing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58"/>
  </p:handoutMasterIdLst>
  <p:sldIdLst>
    <p:sldId id="266" r:id="rId2"/>
    <p:sldId id="261" r:id="rId3"/>
    <p:sldId id="268" r:id="rId4"/>
    <p:sldId id="269" r:id="rId5"/>
    <p:sldId id="270" r:id="rId6"/>
    <p:sldId id="271" r:id="rId7"/>
    <p:sldId id="272" r:id="rId8"/>
    <p:sldId id="320" r:id="rId9"/>
    <p:sldId id="321" r:id="rId10"/>
    <p:sldId id="322" r:id="rId11"/>
    <p:sldId id="274" r:id="rId12"/>
    <p:sldId id="323" r:id="rId13"/>
    <p:sldId id="324" r:id="rId14"/>
    <p:sldId id="276" r:id="rId15"/>
    <p:sldId id="278" r:id="rId16"/>
    <p:sldId id="281" r:id="rId17"/>
    <p:sldId id="282" r:id="rId18"/>
    <p:sldId id="284" r:id="rId19"/>
    <p:sldId id="286" r:id="rId20"/>
    <p:sldId id="279" r:id="rId21"/>
    <p:sldId id="288" r:id="rId22"/>
    <p:sldId id="289" r:id="rId23"/>
    <p:sldId id="325" r:id="rId24"/>
    <p:sldId id="326" r:id="rId25"/>
    <p:sldId id="292" r:id="rId26"/>
    <p:sldId id="294" r:id="rId27"/>
    <p:sldId id="327" r:id="rId28"/>
    <p:sldId id="328" r:id="rId29"/>
    <p:sldId id="329" r:id="rId30"/>
    <p:sldId id="330" r:id="rId31"/>
    <p:sldId id="300" r:id="rId32"/>
    <p:sldId id="331" r:id="rId33"/>
    <p:sldId id="332" r:id="rId34"/>
    <p:sldId id="333" r:id="rId35"/>
    <p:sldId id="296" r:id="rId36"/>
    <p:sldId id="297" r:id="rId37"/>
    <p:sldId id="298" r:id="rId38"/>
    <p:sldId id="299" r:id="rId39"/>
    <p:sldId id="302" r:id="rId40"/>
    <p:sldId id="334" r:id="rId41"/>
    <p:sldId id="335" r:id="rId42"/>
    <p:sldId id="336" r:id="rId43"/>
    <p:sldId id="304" r:id="rId44"/>
    <p:sldId id="337" r:id="rId45"/>
    <p:sldId id="338" r:id="rId46"/>
    <p:sldId id="303" r:id="rId47"/>
    <p:sldId id="307" r:id="rId48"/>
    <p:sldId id="308" r:id="rId49"/>
    <p:sldId id="310" r:id="rId50"/>
    <p:sldId id="313" r:id="rId51"/>
    <p:sldId id="314" r:id="rId52"/>
    <p:sldId id="319" r:id="rId53"/>
    <p:sldId id="315" r:id="rId54"/>
    <p:sldId id="317" r:id="rId55"/>
    <p:sldId id="318" r:id="rId56"/>
    <p:sldId id="263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D43"/>
    <a:srgbClr val="637883"/>
    <a:srgbClr val="44525A"/>
    <a:srgbClr val="B6BBC2"/>
    <a:srgbClr val="D0D3D8"/>
    <a:srgbClr val="FFFFFF"/>
    <a:srgbClr val="618495"/>
    <a:srgbClr val="44525B"/>
    <a:srgbClr val="072235"/>
    <a:srgbClr val="453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F7AFCC-18F7-4D32-9415-5E0F0B134CF9}" type="doc">
      <dgm:prSet loTypeId="urn:microsoft.com/office/officeart/2005/8/layout/hierarchy1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0B6F6F2-BD98-4EDB-B4B4-63BCD622F332}">
      <dgm:prSet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I</a:t>
          </a:r>
          <a:r>
            <a:rPr lang="en-US" b="0" i="0" dirty="0">
              <a:effectLst/>
              <a:latin typeface="Bahnschrift" panose="020B0502040204020203" pitchFamily="34" charset="0"/>
            </a:rPr>
            <a:t>nformation is maintained persistently over the local disk </a:t>
          </a:r>
          <a:r>
            <a:rPr lang="en-US" b="0" i="0" dirty="0">
              <a:latin typeface="Bahnschrift" panose="020B0502040204020203" pitchFamily="34" charset="0"/>
            </a:rPr>
            <a:t>in the form of two files:</a:t>
          </a:r>
          <a:endParaRPr lang="en-US" b="0" i="0" dirty="0">
            <a:effectLst/>
            <a:latin typeface="Bahnschrift" panose="020B0502040204020203" pitchFamily="34" charset="0"/>
          </a:endParaRPr>
        </a:p>
      </dgm:t>
    </dgm:pt>
    <dgm:pt modelId="{9907FD6E-D1EB-4F91-BC20-C7E119364A5C}" type="parTrans" cxnId="{06548C5E-7D9C-4DEF-8400-B994AFB78453}">
      <dgm:prSet/>
      <dgm:spPr/>
      <dgm:t>
        <a:bodyPr/>
        <a:lstStyle/>
        <a:p>
          <a:endParaRPr lang="en-IN"/>
        </a:p>
      </dgm:t>
    </dgm:pt>
    <dgm:pt modelId="{7951C8F5-EDBF-49AC-B411-72534C566D4E}" type="sibTrans" cxnId="{06548C5E-7D9C-4DEF-8400-B994AFB78453}">
      <dgm:prSet/>
      <dgm:spPr/>
      <dgm:t>
        <a:bodyPr/>
        <a:lstStyle/>
        <a:p>
          <a:endParaRPr lang="en-IN"/>
        </a:p>
      </dgm:t>
    </dgm:pt>
    <dgm:pt modelId="{5C315808-D881-42C0-ABFB-172ACE930DA3}">
      <dgm:prSet/>
      <dgm:spPr/>
      <dgm:t>
        <a:bodyPr/>
        <a:lstStyle/>
        <a:p>
          <a:r>
            <a:rPr lang="en-IN" b="1" i="0">
              <a:effectLst/>
              <a:latin typeface="roboto" panose="02000000000000000000" pitchFamily="2" charset="0"/>
            </a:rPr>
            <a:t>Fsimage</a:t>
          </a:r>
          <a:endParaRPr lang="en-IN" b="1" i="0" dirty="0">
            <a:effectLst/>
            <a:latin typeface="roboto" panose="02000000000000000000" pitchFamily="2" charset="0"/>
          </a:endParaRPr>
        </a:p>
      </dgm:t>
    </dgm:pt>
    <dgm:pt modelId="{30C52CE8-A55A-41B7-BAC6-F3A104CB0275}" type="parTrans" cxnId="{BC5DFD33-63F1-49EE-8069-97581583BD57}">
      <dgm:prSet/>
      <dgm:spPr/>
      <dgm:t>
        <a:bodyPr/>
        <a:lstStyle/>
        <a:p>
          <a:endParaRPr lang="en-IN"/>
        </a:p>
      </dgm:t>
    </dgm:pt>
    <dgm:pt modelId="{E12E0DFD-D2B2-44D3-9167-7CC80D0CBE45}" type="sibTrans" cxnId="{BC5DFD33-63F1-49EE-8069-97581583BD57}">
      <dgm:prSet/>
      <dgm:spPr/>
      <dgm:t>
        <a:bodyPr/>
        <a:lstStyle/>
        <a:p>
          <a:endParaRPr lang="en-IN"/>
        </a:p>
      </dgm:t>
    </dgm:pt>
    <dgm:pt modelId="{FE5142F7-0967-4074-AEE4-CDA4E75A8190}">
      <dgm:prSet/>
      <dgm:spPr/>
      <dgm:t>
        <a:bodyPr/>
        <a:lstStyle/>
        <a:p>
          <a:r>
            <a:rPr lang="en-IN" b="1" i="0" dirty="0">
              <a:effectLst/>
              <a:latin typeface="roboto" panose="02000000000000000000" pitchFamily="2" charset="0"/>
            </a:rPr>
            <a:t>Edit Log</a:t>
          </a:r>
          <a:r>
            <a:rPr lang="en-IN" b="0" i="0" dirty="0">
              <a:effectLst/>
              <a:latin typeface="roboto" panose="02000000000000000000" pitchFamily="2" charset="0"/>
            </a:rPr>
            <a:t>.</a:t>
          </a:r>
          <a:endParaRPr lang="en-IN" dirty="0"/>
        </a:p>
      </dgm:t>
    </dgm:pt>
    <dgm:pt modelId="{5272F568-5D71-42C6-8B5E-A5EDB5FF623A}" type="parTrans" cxnId="{80B60AAA-E5D9-4A8E-A928-9F52C686A7E5}">
      <dgm:prSet/>
      <dgm:spPr/>
      <dgm:t>
        <a:bodyPr/>
        <a:lstStyle/>
        <a:p>
          <a:endParaRPr lang="en-IN"/>
        </a:p>
      </dgm:t>
    </dgm:pt>
    <dgm:pt modelId="{A509C526-B50C-447E-866E-2CC5F4AA608C}" type="sibTrans" cxnId="{80B60AAA-E5D9-4A8E-A928-9F52C686A7E5}">
      <dgm:prSet/>
      <dgm:spPr/>
      <dgm:t>
        <a:bodyPr/>
        <a:lstStyle/>
        <a:p>
          <a:endParaRPr lang="en-IN"/>
        </a:p>
      </dgm:t>
    </dgm:pt>
    <dgm:pt modelId="{8B9A0509-DDED-4346-A5C3-DE933D627E60}" type="pres">
      <dgm:prSet presAssocID="{30F7AFCC-18F7-4D32-9415-5E0F0B134CF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A1F17-632F-43C2-B360-480CD70AA89C}" type="pres">
      <dgm:prSet presAssocID="{10B6F6F2-BD98-4EDB-B4B4-63BCD622F332}" presName="hierRoot1" presStyleCnt="0"/>
      <dgm:spPr/>
    </dgm:pt>
    <dgm:pt modelId="{2DEE5912-48AC-4EEB-A793-6EB4B4198238}" type="pres">
      <dgm:prSet presAssocID="{10B6F6F2-BD98-4EDB-B4B4-63BCD622F332}" presName="composite" presStyleCnt="0"/>
      <dgm:spPr/>
    </dgm:pt>
    <dgm:pt modelId="{F4FF09B6-60C5-4770-A80D-71F29F53013B}" type="pres">
      <dgm:prSet presAssocID="{10B6F6F2-BD98-4EDB-B4B4-63BCD622F332}" presName="background" presStyleLbl="node0" presStyleIdx="0" presStyleCnt="1"/>
      <dgm:spPr/>
    </dgm:pt>
    <dgm:pt modelId="{20D24020-95E2-4498-8AE1-2ACF30988262}" type="pres">
      <dgm:prSet presAssocID="{10B6F6F2-BD98-4EDB-B4B4-63BCD622F332}" presName="text" presStyleLbl="fgAcc0" presStyleIdx="0" presStyleCnt="1" custScaleX="127283" custScaleY="127283">
        <dgm:presLayoutVars>
          <dgm:chPref val="3"/>
        </dgm:presLayoutVars>
      </dgm:prSet>
      <dgm:spPr/>
    </dgm:pt>
    <dgm:pt modelId="{D545C0C8-A2FF-49E6-AE34-2A5DD4EFA98B}" type="pres">
      <dgm:prSet presAssocID="{10B6F6F2-BD98-4EDB-B4B4-63BCD622F332}" presName="hierChild2" presStyleCnt="0"/>
      <dgm:spPr/>
    </dgm:pt>
    <dgm:pt modelId="{1A16DED1-9894-4870-A0BE-F2945EB78BA6}" type="pres">
      <dgm:prSet presAssocID="{30C52CE8-A55A-41B7-BAC6-F3A104CB0275}" presName="Name10" presStyleLbl="parChTrans1D2" presStyleIdx="0" presStyleCnt="2"/>
      <dgm:spPr/>
    </dgm:pt>
    <dgm:pt modelId="{DF6AE838-73A7-427F-9B2F-8CBEC7B9EE9D}" type="pres">
      <dgm:prSet presAssocID="{5C315808-D881-42C0-ABFB-172ACE930DA3}" presName="hierRoot2" presStyleCnt="0"/>
      <dgm:spPr/>
    </dgm:pt>
    <dgm:pt modelId="{27DDD92F-DA5E-4681-BAF9-C8FEC46B24C2}" type="pres">
      <dgm:prSet presAssocID="{5C315808-D881-42C0-ABFB-172ACE930DA3}" presName="composite2" presStyleCnt="0"/>
      <dgm:spPr/>
    </dgm:pt>
    <dgm:pt modelId="{6222828D-1961-44B5-8108-634FB26897A7}" type="pres">
      <dgm:prSet presAssocID="{5C315808-D881-42C0-ABFB-172ACE930DA3}" presName="background2" presStyleLbl="node2" presStyleIdx="0" presStyleCnt="2"/>
      <dgm:spPr/>
    </dgm:pt>
    <dgm:pt modelId="{15FAA3A1-EAC8-4FD9-8604-25F0C400B8EE}" type="pres">
      <dgm:prSet presAssocID="{5C315808-D881-42C0-ABFB-172ACE930DA3}" presName="text2" presStyleLbl="fgAcc2" presStyleIdx="0" presStyleCnt="2">
        <dgm:presLayoutVars>
          <dgm:chPref val="3"/>
        </dgm:presLayoutVars>
      </dgm:prSet>
      <dgm:spPr/>
    </dgm:pt>
    <dgm:pt modelId="{69CE4B7A-2A9E-4836-93D9-5E6A33CF0E75}" type="pres">
      <dgm:prSet presAssocID="{5C315808-D881-42C0-ABFB-172ACE930DA3}" presName="hierChild3" presStyleCnt="0"/>
      <dgm:spPr/>
    </dgm:pt>
    <dgm:pt modelId="{558E7833-0F84-4B60-BB00-A987A66A3E44}" type="pres">
      <dgm:prSet presAssocID="{5272F568-5D71-42C6-8B5E-A5EDB5FF623A}" presName="Name10" presStyleLbl="parChTrans1D2" presStyleIdx="1" presStyleCnt="2"/>
      <dgm:spPr/>
    </dgm:pt>
    <dgm:pt modelId="{68B92C55-0CDF-4312-A1CA-E65B02E87146}" type="pres">
      <dgm:prSet presAssocID="{FE5142F7-0967-4074-AEE4-CDA4E75A8190}" presName="hierRoot2" presStyleCnt="0"/>
      <dgm:spPr/>
    </dgm:pt>
    <dgm:pt modelId="{A7441D49-03C0-4E80-AEB4-49EEB56DEA82}" type="pres">
      <dgm:prSet presAssocID="{FE5142F7-0967-4074-AEE4-CDA4E75A8190}" presName="composite2" presStyleCnt="0"/>
      <dgm:spPr/>
    </dgm:pt>
    <dgm:pt modelId="{21729AFF-3CAC-4D8F-8E3F-1877818629F1}" type="pres">
      <dgm:prSet presAssocID="{FE5142F7-0967-4074-AEE4-CDA4E75A8190}" presName="background2" presStyleLbl="node2" presStyleIdx="1" presStyleCnt="2"/>
      <dgm:spPr/>
    </dgm:pt>
    <dgm:pt modelId="{A08440B1-3570-4D39-AA16-FD5D36B0FC0A}" type="pres">
      <dgm:prSet presAssocID="{FE5142F7-0967-4074-AEE4-CDA4E75A8190}" presName="text2" presStyleLbl="fgAcc2" presStyleIdx="1" presStyleCnt="2">
        <dgm:presLayoutVars>
          <dgm:chPref val="3"/>
        </dgm:presLayoutVars>
      </dgm:prSet>
      <dgm:spPr/>
    </dgm:pt>
    <dgm:pt modelId="{FCD5C345-05FA-4327-A542-E74260FDEC58}" type="pres">
      <dgm:prSet presAssocID="{FE5142F7-0967-4074-AEE4-CDA4E75A8190}" presName="hierChild3" presStyleCnt="0"/>
      <dgm:spPr/>
    </dgm:pt>
  </dgm:ptLst>
  <dgm:cxnLst>
    <dgm:cxn modelId="{201C3E00-A722-43C0-B8D0-2298C02535E4}" type="presOf" srcId="{30C52CE8-A55A-41B7-BAC6-F3A104CB0275}" destId="{1A16DED1-9894-4870-A0BE-F2945EB78BA6}" srcOrd="0" destOrd="0" presId="urn:microsoft.com/office/officeart/2005/8/layout/hierarchy1"/>
    <dgm:cxn modelId="{315DD401-61C4-4859-A124-25B012CE7703}" type="presOf" srcId="{FE5142F7-0967-4074-AEE4-CDA4E75A8190}" destId="{A08440B1-3570-4D39-AA16-FD5D36B0FC0A}" srcOrd="0" destOrd="0" presId="urn:microsoft.com/office/officeart/2005/8/layout/hierarchy1"/>
    <dgm:cxn modelId="{03462A12-9999-4993-8353-2594E911D0F0}" type="presOf" srcId="{10B6F6F2-BD98-4EDB-B4B4-63BCD622F332}" destId="{20D24020-95E2-4498-8AE1-2ACF30988262}" srcOrd="0" destOrd="0" presId="urn:microsoft.com/office/officeart/2005/8/layout/hierarchy1"/>
    <dgm:cxn modelId="{BC5DFD33-63F1-49EE-8069-97581583BD57}" srcId="{10B6F6F2-BD98-4EDB-B4B4-63BCD622F332}" destId="{5C315808-D881-42C0-ABFB-172ACE930DA3}" srcOrd="0" destOrd="0" parTransId="{30C52CE8-A55A-41B7-BAC6-F3A104CB0275}" sibTransId="{E12E0DFD-D2B2-44D3-9167-7CC80D0CBE45}"/>
    <dgm:cxn modelId="{06548C5E-7D9C-4DEF-8400-B994AFB78453}" srcId="{30F7AFCC-18F7-4D32-9415-5E0F0B134CF9}" destId="{10B6F6F2-BD98-4EDB-B4B4-63BCD622F332}" srcOrd="0" destOrd="0" parTransId="{9907FD6E-D1EB-4F91-BC20-C7E119364A5C}" sibTransId="{7951C8F5-EDBF-49AC-B411-72534C566D4E}"/>
    <dgm:cxn modelId="{6534EF83-13ED-425C-97AF-3438C70F069E}" type="presOf" srcId="{5C315808-D881-42C0-ABFB-172ACE930DA3}" destId="{15FAA3A1-EAC8-4FD9-8604-25F0C400B8EE}" srcOrd="0" destOrd="0" presId="urn:microsoft.com/office/officeart/2005/8/layout/hierarchy1"/>
    <dgm:cxn modelId="{62184D94-F3D1-42A3-AB48-2D0A5104156E}" type="presOf" srcId="{30F7AFCC-18F7-4D32-9415-5E0F0B134CF9}" destId="{8B9A0509-DDED-4346-A5C3-DE933D627E60}" srcOrd="0" destOrd="0" presId="urn:microsoft.com/office/officeart/2005/8/layout/hierarchy1"/>
    <dgm:cxn modelId="{80B60AAA-E5D9-4A8E-A928-9F52C686A7E5}" srcId="{10B6F6F2-BD98-4EDB-B4B4-63BCD622F332}" destId="{FE5142F7-0967-4074-AEE4-CDA4E75A8190}" srcOrd="1" destOrd="0" parTransId="{5272F568-5D71-42C6-8B5E-A5EDB5FF623A}" sibTransId="{A509C526-B50C-447E-866E-2CC5F4AA608C}"/>
    <dgm:cxn modelId="{36052CC0-8201-42F7-943C-5C38C09635B0}" type="presOf" srcId="{5272F568-5D71-42C6-8B5E-A5EDB5FF623A}" destId="{558E7833-0F84-4B60-BB00-A987A66A3E44}" srcOrd="0" destOrd="0" presId="urn:microsoft.com/office/officeart/2005/8/layout/hierarchy1"/>
    <dgm:cxn modelId="{664DC665-E03E-4470-9A11-B79C0BE619A1}" type="presParOf" srcId="{8B9A0509-DDED-4346-A5C3-DE933D627E60}" destId="{95DA1F17-632F-43C2-B360-480CD70AA89C}" srcOrd="0" destOrd="0" presId="urn:microsoft.com/office/officeart/2005/8/layout/hierarchy1"/>
    <dgm:cxn modelId="{B2112878-A7EC-4E74-ABDC-5B800DE2BB6A}" type="presParOf" srcId="{95DA1F17-632F-43C2-B360-480CD70AA89C}" destId="{2DEE5912-48AC-4EEB-A793-6EB4B4198238}" srcOrd="0" destOrd="0" presId="urn:microsoft.com/office/officeart/2005/8/layout/hierarchy1"/>
    <dgm:cxn modelId="{FDE3981B-3B43-4D24-9B17-336694F4174B}" type="presParOf" srcId="{2DEE5912-48AC-4EEB-A793-6EB4B4198238}" destId="{F4FF09B6-60C5-4770-A80D-71F29F53013B}" srcOrd="0" destOrd="0" presId="urn:microsoft.com/office/officeart/2005/8/layout/hierarchy1"/>
    <dgm:cxn modelId="{62FF522D-C63B-417D-9E73-DB5AA25127BF}" type="presParOf" srcId="{2DEE5912-48AC-4EEB-A793-6EB4B4198238}" destId="{20D24020-95E2-4498-8AE1-2ACF30988262}" srcOrd="1" destOrd="0" presId="urn:microsoft.com/office/officeart/2005/8/layout/hierarchy1"/>
    <dgm:cxn modelId="{692913EB-C14F-4863-8A29-C27DE3FB284C}" type="presParOf" srcId="{95DA1F17-632F-43C2-B360-480CD70AA89C}" destId="{D545C0C8-A2FF-49E6-AE34-2A5DD4EFA98B}" srcOrd="1" destOrd="0" presId="urn:microsoft.com/office/officeart/2005/8/layout/hierarchy1"/>
    <dgm:cxn modelId="{5CC626C2-3F73-40A1-95C7-C6317DF3C24D}" type="presParOf" srcId="{D545C0C8-A2FF-49E6-AE34-2A5DD4EFA98B}" destId="{1A16DED1-9894-4870-A0BE-F2945EB78BA6}" srcOrd="0" destOrd="0" presId="urn:microsoft.com/office/officeart/2005/8/layout/hierarchy1"/>
    <dgm:cxn modelId="{D18EA543-AFAA-4DFD-A57A-7DCBFB38C2E5}" type="presParOf" srcId="{D545C0C8-A2FF-49E6-AE34-2A5DD4EFA98B}" destId="{DF6AE838-73A7-427F-9B2F-8CBEC7B9EE9D}" srcOrd="1" destOrd="0" presId="urn:microsoft.com/office/officeart/2005/8/layout/hierarchy1"/>
    <dgm:cxn modelId="{6857BD4F-ABD6-43AA-81F2-93540C7CCC7E}" type="presParOf" srcId="{DF6AE838-73A7-427F-9B2F-8CBEC7B9EE9D}" destId="{27DDD92F-DA5E-4681-BAF9-C8FEC46B24C2}" srcOrd="0" destOrd="0" presId="urn:microsoft.com/office/officeart/2005/8/layout/hierarchy1"/>
    <dgm:cxn modelId="{3DB640FC-1AB1-49A1-B6DC-6D07FD30A10F}" type="presParOf" srcId="{27DDD92F-DA5E-4681-BAF9-C8FEC46B24C2}" destId="{6222828D-1961-44B5-8108-634FB26897A7}" srcOrd="0" destOrd="0" presId="urn:microsoft.com/office/officeart/2005/8/layout/hierarchy1"/>
    <dgm:cxn modelId="{30876231-54F8-4C3F-BFDE-7664CB9C1EBA}" type="presParOf" srcId="{27DDD92F-DA5E-4681-BAF9-C8FEC46B24C2}" destId="{15FAA3A1-EAC8-4FD9-8604-25F0C400B8EE}" srcOrd="1" destOrd="0" presId="urn:microsoft.com/office/officeart/2005/8/layout/hierarchy1"/>
    <dgm:cxn modelId="{732AC72A-E045-48A1-9CAE-B42BC4DA4FFE}" type="presParOf" srcId="{DF6AE838-73A7-427F-9B2F-8CBEC7B9EE9D}" destId="{69CE4B7A-2A9E-4836-93D9-5E6A33CF0E75}" srcOrd="1" destOrd="0" presId="urn:microsoft.com/office/officeart/2005/8/layout/hierarchy1"/>
    <dgm:cxn modelId="{731982AC-AB26-470F-A289-A0313C24351A}" type="presParOf" srcId="{D545C0C8-A2FF-49E6-AE34-2A5DD4EFA98B}" destId="{558E7833-0F84-4B60-BB00-A987A66A3E44}" srcOrd="2" destOrd="0" presId="urn:microsoft.com/office/officeart/2005/8/layout/hierarchy1"/>
    <dgm:cxn modelId="{58D38709-4A2F-4995-A2BB-AC63F6E6C463}" type="presParOf" srcId="{D545C0C8-A2FF-49E6-AE34-2A5DD4EFA98B}" destId="{68B92C55-0CDF-4312-A1CA-E65B02E87146}" srcOrd="3" destOrd="0" presId="urn:microsoft.com/office/officeart/2005/8/layout/hierarchy1"/>
    <dgm:cxn modelId="{FAE3DACB-22F9-4514-B9FD-443241026B08}" type="presParOf" srcId="{68B92C55-0CDF-4312-A1CA-E65B02E87146}" destId="{A7441D49-03C0-4E80-AEB4-49EEB56DEA82}" srcOrd="0" destOrd="0" presId="urn:microsoft.com/office/officeart/2005/8/layout/hierarchy1"/>
    <dgm:cxn modelId="{5975CB5E-6B9D-48E5-ACA3-DAF83C85B697}" type="presParOf" srcId="{A7441D49-03C0-4E80-AEB4-49EEB56DEA82}" destId="{21729AFF-3CAC-4D8F-8E3F-1877818629F1}" srcOrd="0" destOrd="0" presId="urn:microsoft.com/office/officeart/2005/8/layout/hierarchy1"/>
    <dgm:cxn modelId="{F10C3CC8-D334-4D21-81D3-F34BE5910EE3}" type="presParOf" srcId="{A7441D49-03C0-4E80-AEB4-49EEB56DEA82}" destId="{A08440B1-3570-4D39-AA16-FD5D36B0FC0A}" srcOrd="1" destOrd="0" presId="urn:microsoft.com/office/officeart/2005/8/layout/hierarchy1"/>
    <dgm:cxn modelId="{FADB1D5A-6DCE-454B-B8B9-C241AFE20278}" type="presParOf" srcId="{68B92C55-0CDF-4312-A1CA-E65B02E87146}" destId="{FCD5C345-05FA-4327-A542-E74260FDEC5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995755-F958-4087-8716-326305384AD2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4D9446F-844A-4041-A447-1DE082EAB93A}">
      <dgm:prSet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D</a:t>
          </a:r>
          <a:r>
            <a:rPr lang="en-US" b="0" i="0" dirty="0">
              <a:effectLst/>
              <a:latin typeface="Bahnschrift" panose="020B0502040204020203" pitchFamily="34" charset="0"/>
            </a:rPr>
            <a:t>ivides the job into tasks of two types</a:t>
          </a:r>
        </a:p>
      </dgm:t>
    </dgm:pt>
    <dgm:pt modelId="{956956E8-C7D7-4D3B-8D69-8D5E94320021}" type="parTrans" cxnId="{CA9259EC-CEDF-454D-8549-55FA4A12CBF5}">
      <dgm:prSet/>
      <dgm:spPr/>
      <dgm:t>
        <a:bodyPr/>
        <a:lstStyle/>
        <a:p>
          <a:endParaRPr lang="en-IN"/>
        </a:p>
      </dgm:t>
    </dgm:pt>
    <dgm:pt modelId="{FA9DED9B-E2C2-41FF-993E-3C3932D3F9EF}" type="sibTrans" cxnId="{CA9259EC-CEDF-454D-8549-55FA4A12CBF5}">
      <dgm:prSet/>
      <dgm:spPr/>
      <dgm:t>
        <a:bodyPr/>
        <a:lstStyle/>
        <a:p>
          <a:endParaRPr lang="en-IN"/>
        </a:p>
      </dgm:t>
    </dgm:pt>
    <dgm:pt modelId="{0FB3FD8A-30DB-4C38-9371-88CFDDA40F40}">
      <dgm:prSet/>
      <dgm:spPr/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map tasks.</a:t>
          </a:r>
          <a:endParaRPr lang="en-IN" dirty="0">
            <a:latin typeface="Bahnschrift" panose="020B0502040204020203" pitchFamily="34" charset="0"/>
          </a:endParaRPr>
        </a:p>
      </dgm:t>
    </dgm:pt>
    <dgm:pt modelId="{1656B653-A6E1-43E1-AE10-89567632F62E}" type="parTrans" cxnId="{057E4A22-AD8E-4F13-860B-8FF890CD118B}">
      <dgm:prSet/>
      <dgm:spPr/>
      <dgm:t>
        <a:bodyPr/>
        <a:lstStyle/>
        <a:p>
          <a:endParaRPr lang="en-IN"/>
        </a:p>
      </dgm:t>
    </dgm:pt>
    <dgm:pt modelId="{94DDDBA4-B103-4EFC-9995-F2AA7FE1E0BA}" type="sibTrans" cxnId="{057E4A22-AD8E-4F13-860B-8FF890CD118B}">
      <dgm:prSet/>
      <dgm:spPr/>
      <dgm:t>
        <a:bodyPr/>
        <a:lstStyle/>
        <a:p>
          <a:endParaRPr lang="en-IN"/>
        </a:p>
      </dgm:t>
    </dgm:pt>
    <dgm:pt modelId="{4F574274-8028-446B-8D6A-515115D1C151}">
      <dgm:prSet/>
      <dgm:spPr/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and reduce tasks</a:t>
          </a:r>
          <a:endParaRPr lang="en-IN" dirty="0">
            <a:latin typeface="Bahnschrift" panose="020B0502040204020203" pitchFamily="34" charset="0"/>
          </a:endParaRPr>
        </a:p>
      </dgm:t>
    </dgm:pt>
    <dgm:pt modelId="{2208D919-4354-4EFC-B72B-9D3165C127F4}" type="parTrans" cxnId="{B6557CEF-2A5B-41B6-B8D8-4F80C0389740}">
      <dgm:prSet/>
      <dgm:spPr/>
      <dgm:t>
        <a:bodyPr/>
        <a:lstStyle/>
        <a:p>
          <a:endParaRPr lang="en-IN"/>
        </a:p>
      </dgm:t>
    </dgm:pt>
    <dgm:pt modelId="{AFE13899-33A9-46CA-BACD-F616ED981FE0}" type="sibTrans" cxnId="{B6557CEF-2A5B-41B6-B8D8-4F80C0389740}">
      <dgm:prSet/>
      <dgm:spPr/>
      <dgm:t>
        <a:bodyPr/>
        <a:lstStyle/>
        <a:p>
          <a:endParaRPr lang="en-IN"/>
        </a:p>
      </dgm:t>
    </dgm:pt>
    <dgm:pt modelId="{4D35DA15-741C-424E-9CAF-4CF44C8E87D2}" type="pres">
      <dgm:prSet presAssocID="{FC995755-F958-4087-8716-326305384AD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A7DCA64-FC9F-40AE-A4BD-D425CA0F85DF}" type="pres">
      <dgm:prSet presAssocID="{14D9446F-844A-4041-A447-1DE082EAB93A}" presName="root1" presStyleCnt="0"/>
      <dgm:spPr/>
    </dgm:pt>
    <dgm:pt modelId="{E2F63FD9-BE4E-409E-8552-82940760D34C}" type="pres">
      <dgm:prSet presAssocID="{14D9446F-844A-4041-A447-1DE082EAB93A}" presName="LevelOneTextNode" presStyleLbl="node0" presStyleIdx="0" presStyleCnt="1">
        <dgm:presLayoutVars>
          <dgm:chPref val="3"/>
        </dgm:presLayoutVars>
      </dgm:prSet>
      <dgm:spPr/>
    </dgm:pt>
    <dgm:pt modelId="{E39308B8-5081-4B9A-B37F-3B076A8F1779}" type="pres">
      <dgm:prSet presAssocID="{14D9446F-844A-4041-A447-1DE082EAB93A}" presName="level2hierChild" presStyleCnt="0"/>
      <dgm:spPr/>
    </dgm:pt>
    <dgm:pt modelId="{F5CB9FBE-B56E-4561-8B20-B5FD67127E0C}" type="pres">
      <dgm:prSet presAssocID="{1656B653-A6E1-43E1-AE10-89567632F62E}" presName="conn2-1" presStyleLbl="parChTrans1D2" presStyleIdx="0" presStyleCnt="2"/>
      <dgm:spPr/>
    </dgm:pt>
    <dgm:pt modelId="{B5EF598B-717A-4F36-849A-DF1B7B97BB8A}" type="pres">
      <dgm:prSet presAssocID="{1656B653-A6E1-43E1-AE10-89567632F62E}" presName="connTx" presStyleLbl="parChTrans1D2" presStyleIdx="0" presStyleCnt="2"/>
      <dgm:spPr/>
    </dgm:pt>
    <dgm:pt modelId="{AB5EE845-1986-4C95-8DEA-C3958948FB69}" type="pres">
      <dgm:prSet presAssocID="{0FB3FD8A-30DB-4C38-9371-88CFDDA40F40}" presName="root2" presStyleCnt="0"/>
      <dgm:spPr/>
    </dgm:pt>
    <dgm:pt modelId="{1DB4CA75-9609-4D12-B3B1-9D5955B1799A}" type="pres">
      <dgm:prSet presAssocID="{0FB3FD8A-30DB-4C38-9371-88CFDDA40F40}" presName="LevelTwoTextNode" presStyleLbl="node2" presStyleIdx="0" presStyleCnt="2">
        <dgm:presLayoutVars>
          <dgm:chPref val="3"/>
        </dgm:presLayoutVars>
      </dgm:prSet>
      <dgm:spPr/>
    </dgm:pt>
    <dgm:pt modelId="{32DB26F8-B961-4E16-8534-F9044BAC4496}" type="pres">
      <dgm:prSet presAssocID="{0FB3FD8A-30DB-4C38-9371-88CFDDA40F40}" presName="level3hierChild" presStyleCnt="0"/>
      <dgm:spPr/>
    </dgm:pt>
    <dgm:pt modelId="{D71A68F1-4357-4FE0-A381-66FF0C619F98}" type="pres">
      <dgm:prSet presAssocID="{2208D919-4354-4EFC-B72B-9D3165C127F4}" presName="conn2-1" presStyleLbl="parChTrans1D2" presStyleIdx="1" presStyleCnt="2"/>
      <dgm:spPr/>
    </dgm:pt>
    <dgm:pt modelId="{96AEBD68-AB96-42C3-A39C-90985050FA43}" type="pres">
      <dgm:prSet presAssocID="{2208D919-4354-4EFC-B72B-9D3165C127F4}" presName="connTx" presStyleLbl="parChTrans1D2" presStyleIdx="1" presStyleCnt="2"/>
      <dgm:spPr/>
    </dgm:pt>
    <dgm:pt modelId="{39B222F4-62C4-451E-B6F5-32BD1207CD39}" type="pres">
      <dgm:prSet presAssocID="{4F574274-8028-446B-8D6A-515115D1C151}" presName="root2" presStyleCnt="0"/>
      <dgm:spPr/>
    </dgm:pt>
    <dgm:pt modelId="{CF29AED3-2189-46B7-9344-8C6A967373C5}" type="pres">
      <dgm:prSet presAssocID="{4F574274-8028-446B-8D6A-515115D1C151}" presName="LevelTwoTextNode" presStyleLbl="node2" presStyleIdx="1" presStyleCnt="2">
        <dgm:presLayoutVars>
          <dgm:chPref val="3"/>
        </dgm:presLayoutVars>
      </dgm:prSet>
      <dgm:spPr/>
    </dgm:pt>
    <dgm:pt modelId="{C44C21AB-F6D7-4763-9675-310597123774}" type="pres">
      <dgm:prSet presAssocID="{4F574274-8028-446B-8D6A-515115D1C151}" presName="level3hierChild" presStyleCnt="0"/>
      <dgm:spPr/>
    </dgm:pt>
  </dgm:ptLst>
  <dgm:cxnLst>
    <dgm:cxn modelId="{2640291E-5395-4251-B96C-C3802CEDCBB8}" type="presOf" srcId="{FC995755-F958-4087-8716-326305384AD2}" destId="{4D35DA15-741C-424E-9CAF-4CF44C8E87D2}" srcOrd="0" destOrd="0" presId="urn:microsoft.com/office/officeart/2005/8/layout/hierarchy2"/>
    <dgm:cxn modelId="{057E4A22-AD8E-4F13-860B-8FF890CD118B}" srcId="{14D9446F-844A-4041-A447-1DE082EAB93A}" destId="{0FB3FD8A-30DB-4C38-9371-88CFDDA40F40}" srcOrd="0" destOrd="0" parTransId="{1656B653-A6E1-43E1-AE10-89567632F62E}" sibTransId="{94DDDBA4-B103-4EFC-9995-F2AA7FE1E0BA}"/>
    <dgm:cxn modelId="{F5E0EF41-D7E3-42C7-86D1-E703B1A9B826}" type="presOf" srcId="{0FB3FD8A-30DB-4C38-9371-88CFDDA40F40}" destId="{1DB4CA75-9609-4D12-B3B1-9D5955B1799A}" srcOrd="0" destOrd="0" presId="urn:microsoft.com/office/officeart/2005/8/layout/hierarchy2"/>
    <dgm:cxn modelId="{0E512951-84A8-4E59-A85F-BD73151BA1AC}" type="presOf" srcId="{4F574274-8028-446B-8D6A-515115D1C151}" destId="{CF29AED3-2189-46B7-9344-8C6A967373C5}" srcOrd="0" destOrd="0" presId="urn:microsoft.com/office/officeart/2005/8/layout/hierarchy2"/>
    <dgm:cxn modelId="{2CC6B286-6BEC-4A68-801C-A5085B1B64B0}" type="presOf" srcId="{1656B653-A6E1-43E1-AE10-89567632F62E}" destId="{B5EF598B-717A-4F36-849A-DF1B7B97BB8A}" srcOrd="1" destOrd="0" presId="urn:microsoft.com/office/officeart/2005/8/layout/hierarchy2"/>
    <dgm:cxn modelId="{07EEEDB5-3EC8-47E0-BD00-39D2D66FC0B9}" type="presOf" srcId="{1656B653-A6E1-43E1-AE10-89567632F62E}" destId="{F5CB9FBE-B56E-4561-8B20-B5FD67127E0C}" srcOrd="0" destOrd="0" presId="urn:microsoft.com/office/officeart/2005/8/layout/hierarchy2"/>
    <dgm:cxn modelId="{222842C8-07B2-4242-AC60-ED8F622BC7A9}" type="presOf" srcId="{14D9446F-844A-4041-A447-1DE082EAB93A}" destId="{E2F63FD9-BE4E-409E-8552-82940760D34C}" srcOrd="0" destOrd="0" presId="urn:microsoft.com/office/officeart/2005/8/layout/hierarchy2"/>
    <dgm:cxn modelId="{CA9259EC-CEDF-454D-8549-55FA4A12CBF5}" srcId="{FC995755-F958-4087-8716-326305384AD2}" destId="{14D9446F-844A-4041-A447-1DE082EAB93A}" srcOrd="0" destOrd="0" parTransId="{956956E8-C7D7-4D3B-8D69-8D5E94320021}" sibTransId="{FA9DED9B-E2C2-41FF-993E-3C3932D3F9EF}"/>
    <dgm:cxn modelId="{B6557CEF-2A5B-41B6-B8D8-4F80C0389740}" srcId="{14D9446F-844A-4041-A447-1DE082EAB93A}" destId="{4F574274-8028-446B-8D6A-515115D1C151}" srcOrd="1" destOrd="0" parTransId="{2208D919-4354-4EFC-B72B-9D3165C127F4}" sibTransId="{AFE13899-33A9-46CA-BACD-F616ED981FE0}"/>
    <dgm:cxn modelId="{C1B90AFA-A348-4AFA-9BD3-48CE478B5003}" type="presOf" srcId="{2208D919-4354-4EFC-B72B-9D3165C127F4}" destId="{D71A68F1-4357-4FE0-A381-66FF0C619F98}" srcOrd="0" destOrd="0" presId="urn:microsoft.com/office/officeart/2005/8/layout/hierarchy2"/>
    <dgm:cxn modelId="{CE04B9FC-38E7-4C7D-A4E7-5C8247C31DDD}" type="presOf" srcId="{2208D919-4354-4EFC-B72B-9D3165C127F4}" destId="{96AEBD68-AB96-42C3-A39C-90985050FA43}" srcOrd="1" destOrd="0" presId="urn:microsoft.com/office/officeart/2005/8/layout/hierarchy2"/>
    <dgm:cxn modelId="{AD91FF96-6BC4-4C23-B36D-53C990633980}" type="presParOf" srcId="{4D35DA15-741C-424E-9CAF-4CF44C8E87D2}" destId="{FA7DCA64-FC9F-40AE-A4BD-D425CA0F85DF}" srcOrd="0" destOrd="0" presId="urn:microsoft.com/office/officeart/2005/8/layout/hierarchy2"/>
    <dgm:cxn modelId="{61DC9EFB-05DF-4373-A76D-645C4CA5CA58}" type="presParOf" srcId="{FA7DCA64-FC9F-40AE-A4BD-D425CA0F85DF}" destId="{E2F63FD9-BE4E-409E-8552-82940760D34C}" srcOrd="0" destOrd="0" presId="urn:microsoft.com/office/officeart/2005/8/layout/hierarchy2"/>
    <dgm:cxn modelId="{E3D2D4E8-A9C9-4506-BE50-35E208854830}" type="presParOf" srcId="{FA7DCA64-FC9F-40AE-A4BD-D425CA0F85DF}" destId="{E39308B8-5081-4B9A-B37F-3B076A8F1779}" srcOrd="1" destOrd="0" presId="urn:microsoft.com/office/officeart/2005/8/layout/hierarchy2"/>
    <dgm:cxn modelId="{B05736CE-0E94-4115-83D9-7E87F3CF2245}" type="presParOf" srcId="{E39308B8-5081-4B9A-B37F-3B076A8F1779}" destId="{F5CB9FBE-B56E-4561-8B20-B5FD67127E0C}" srcOrd="0" destOrd="0" presId="urn:microsoft.com/office/officeart/2005/8/layout/hierarchy2"/>
    <dgm:cxn modelId="{57278D79-B250-4EB7-BED2-A201D214C159}" type="presParOf" srcId="{F5CB9FBE-B56E-4561-8B20-B5FD67127E0C}" destId="{B5EF598B-717A-4F36-849A-DF1B7B97BB8A}" srcOrd="0" destOrd="0" presId="urn:microsoft.com/office/officeart/2005/8/layout/hierarchy2"/>
    <dgm:cxn modelId="{81C0BBA4-BFA2-4E2E-95E9-D705914A56F3}" type="presParOf" srcId="{E39308B8-5081-4B9A-B37F-3B076A8F1779}" destId="{AB5EE845-1986-4C95-8DEA-C3958948FB69}" srcOrd="1" destOrd="0" presId="urn:microsoft.com/office/officeart/2005/8/layout/hierarchy2"/>
    <dgm:cxn modelId="{DC022F3E-8DB9-4A8A-BDEF-9194073EB1E2}" type="presParOf" srcId="{AB5EE845-1986-4C95-8DEA-C3958948FB69}" destId="{1DB4CA75-9609-4D12-B3B1-9D5955B1799A}" srcOrd="0" destOrd="0" presId="urn:microsoft.com/office/officeart/2005/8/layout/hierarchy2"/>
    <dgm:cxn modelId="{59DE0AE9-A6F3-4E69-B05D-12E672C5255E}" type="presParOf" srcId="{AB5EE845-1986-4C95-8DEA-C3958948FB69}" destId="{32DB26F8-B961-4E16-8534-F9044BAC4496}" srcOrd="1" destOrd="0" presId="urn:microsoft.com/office/officeart/2005/8/layout/hierarchy2"/>
    <dgm:cxn modelId="{0EDB5C79-B7B6-49B2-B659-B7F1F2292E64}" type="presParOf" srcId="{E39308B8-5081-4B9A-B37F-3B076A8F1779}" destId="{D71A68F1-4357-4FE0-A381-66FF0C619F98}" srcOrd="2" destOrd="0" presId="urn:microsoft.com/office/officeart/2005/8/layout/hierarchy2"/>
    <dgm:cxn modelId="{E0CF9202-79EC-4AE9-B356-CA517A3C35E8}" type="presParOf" srcId="{D71A68F1-4357-4FE0-A381-66FF0C619F98}" destId="{96AEBD68-AB96-42C3-A39C-90985050FA43}" srcOrd="0" destOrd="0" presId="urn:microsoft.com/office/officeart/2005/8/layout/hierarchy2"/>
    <dgm:cxn modelId="{C5BB8A5F-C460-47A7-BB8E-9FDB4ABB6C6C}" type="presParOf" srcId="{E39308B8-5081-4B9A-B37F-3B076A8F1779}" destId="{39B222F4-62C4-451E-B6F5-32BD1207CD39}" srcOrd="3" destOrd="0" presId="urn:microsoft.com/office/officeart/2005/8/layout/hierarchy2"/>
    <dgm:cxn modelId="{EC9AAAC1-8835-445E-9DB8-B825FF39EA7F}" type="presParOf" srcId="{39B222F4-62C4-451E-B6F5-32BD1207CD39}" destId="{CF29AED3-2189-46B7-9344-8C6A967373C5}" srcOrd="0" destOrd="0" presId="urn:microsoft.com/office/officeart/2005/8/layout/hierarchy2"/>
    <dgm:cxn modelId="{4CDCD573-ACA9-44A6-B4F3-A24D712B428D}" type="presParOf" srcId="{39B222F4-62C4-451E-B6F5-32BD1207CD39}" destId="{C44C21AB-F6D7-4763-9675-31059712377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E7833-0F84-4B60-BB00-A987A66A3E44}">
      <dsp:nvSpPr>
        <dsp:cNvPr id="0" name=""/>
        <dsp:cNvSpPr/>
      </dsp:nvSpPr>
      <dsp:spPr>
        <a:xfrm>
          <a:off x="3728665" y="2136631"/>
          <a:ext cx="1613137" cy="7677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169"/>
              </a:lnTo>
              <a:lnTo>
                <a:pt x="1613137" y="523169"/>
              </a:lnTo>
              <a:lnTo>
                <a:pt x="1613137" y="76770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16DED1-9894-4870-A0BE-F2945EB78BA6}">
      <dsp:nvSpPr>
        <dsp:cNvPr id="0" name=""/>
        <dsp:cNvSpPr/>
      </dsp:nvSpPr>
      <dsp:spPr>
        <a:xfrm>
          <a:off x="2115528" y="2136631"/>
          <a:ext cx="1613137" cy="767706"/>
        </a:xfrm>
        <a:custGeom>
          <a:avLst/>
          <a:gdLst/>
          <a:ahLst/>
          <a:cxnLst/>
          <a:rect l="0" t="0" r="0" b="0"/>
          <a:pathLst>
            <a:path>
              <a:moveTo>
                <a:pt x="1613137" y="0"/>
              </a:moveTo>
              <a:lnTo>
                <a:pt x="1613137" y="523169"/>
              </a:lnTo>
              <a:lnTo>
                <a:pt x="0" y="523169"/>
              </a:lnTo>
              <a:lnTo>
                <a:pt x="0" y="76770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FF09B6-60C5-4770-A80D-71F29F53013B}">
      <dsp:nvSpPr>
        <dsp:cNvPr id="0" name=""/>
        <dsp:cNvSpPr/>
      </dsp:nvSpPr>
      <dsp:spPr>
        <a:xfrm>
          <a:off x="2048733" y="3118"/>
          <a:ext cx="3359863" cy="21335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0D24020-95E2-4498-8AE1-2ACF30988262}">
      <dsp:nvSpPr>
        <dsp:cNvPr id="0" name=""/>
        <dsp:cNvSpPr/>
      </dsp:nvSpPr>
      <dsp:spPr>
        <a:xfrm>
          <a:off x="2342031" y="281751"/>
          <a:ext cx="3359863" cy="213351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Bahnschrift" panose="020B0502040204020203" pitchFamily="34" charset="0"/>
            </a:rPr>
            <a:t>I</a:t>
          </a:r>
          <a:r>
            <a:rPr lang="en-US" sz="2600" b="0" i="0" kern="1200" dirty="0">
              <a:effectLst/>
              <a:latin typeface="Bahnschrift" panose="020B0502040204020203" pitchFamily="34" charset="0"/>
            </a:rPr>
            <a:t>nformation is maintained persistently over the local disk </a:t>
          </a:r>
          <a:r>
            <a:rPr lang="en-US" sz="2600" b="0" i="0" kern="1200" dirty="0">
              <a:latin typeface="Bahnschrift" panose="020B0502040204020203" pitchFamily="34" charset="0"/>
            </a:rPr>
            <a:t>in the form of two files:</a:t>
          </a:r>
          <a:endParaRPr lang="en-US" sz="2600" b="0" i="0" kern="1200" dirty="0">
            <a:effectLst/>
            <a:latin typeface="Bahnschrift" panose="020B0502040204020203" pitchFamily="34" charset="0"/>
          </a:endParaRPr>
        </a:p>
      </dsp:txBody>
      <dsp:txXfrm>
        <a:off x="2404519" y="344239"/>
        <a:ext cx="3234887" cy="2008537"/>
      </dsp:txXfrm>
    </dsp:sp>
    <dsp:sp modelId="{6222828D-1961-44B5-8108-634FB26897A7}">
      <dsp:nvSpPr>
        <dsp:cNvPr id="0" name=""/>
        <dsp:cNvSpPr/>
      </dsp:nvSpPr>
      <dsp:spPr>
        <a:xfrm>
          <a:off x="795688" y="2904338"/>
          <a:ext cx="2639679" cy="16761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5FAA3A1-EAC8-4FD9-8604-25F0C400B8EE}">
      <dsp:nvSpPr>
        <dsp:cNvPr id="0" name=""/>
        <dsp:cNvSpPr/>
      </dsp:nvSpPr>
      <dsp:spPr>
        <a:xfrm>
          <a:off x="1088986" y="3182971"/>
          <a:ext cx="2639679" cy="167619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i="0" kern="1200">
              <a:effectLst/>
              <a:latin typeface="roboto" panose="02000000000000000000" pitchFamily="2" charset="0"/>
            </a:rPr>
            <a:t>Fsimage</a:t>
          </a:r>
          <a:endParaRPr lang="en-IN" sz="2600" b="1" i="0" kern="1200" dirty="0">
            <a:effectLst/>
            <a:latin typeface="roboto" panose="02000000000000000000" pitchFamily="2" charset="0"/>
          </a:endParaRPr>
        </a:p>
      </dsp:txBody>
      <dsp:txXfrm>
        <a:off x="1138080" y="3232065"/>
        <a:ext cx="2541491" cy="1578008"/>
      </dsp:txXfrm>
    </dsp:sp>
    <dsp:sp modelId="{21729AFF-3CAC-4D8F-8E3F-1877818629F1}">
      <dsp:nvSpPr>
        <dsp:cNvPr id="0" name=""/>
        <dsp:cNvSpPr/>
      </dsp:nvSpPr>
      <dsp:spPr>
        <a:xfrm>
          <a:off x="4021963" y="2904338"/>
          <a:ext cx="2639679" cy="16761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08440B1-3570-4D39-AA16-FD5D36B0FC0A}">
      <dsp:nvSpPr>
        <dsp:cNvPr id="0" name=""/>
        <dsp:cNvSpPr/>
      </dsp:nvSpPr>
      <dsp:spPr>
        <a:xfrm>
          <a:off x="4315261" y="3182971"/>
          <a:ext cx="2639679" cy="167619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i="0" kern="1200" dirty="0">
              <a:effectLst/>
              <a:latin typeface="roboto" panose="02000000000000000000" pitchFamily="2" charset="0"/>
            </a:rPr>
            <a:t>Edit Log</a:t>
          </a:r>
          <a:r>
            <a:rPr lang="en-IN" sz="2600" b="0" i="0" kern="1200" dirty="0">
              <a:effectLst/>
              <a:latin typeface="roboto" panose="02000000000000000000" pitchFamily="2" charset="0"/>
            </a:rPr>
            <a:t>.</a:t>
          </a:r>
          <a:endParaRPr lang="en-IN" sz="2600" kern="1200" dirty="0"/>
        </a:p>
      </dsp:txBody>
      <dsp:txXfrm>
        <a:off x="4364355" y="3232065"/>
        <a:ext cx="2541491" cy="15780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63FD9-BE4E-409E-8552-82940760D34C}">
      <dsp:nvSpPr>
        <dsp:cNvPr id="0" name=""/>
        <dsp:cNvSpPr/>
      </dsp:nvSpPr>
      <dsp:spPr>
        <a:xfrm>
          <a:off x="0" y="1397000"/>
          <a:ext cx="2539999" cy="126999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Bahnschrift" panose="020B0502040204020203" pitchFamily="34" charset="0"/>
            </a:rPr>
            <a:t>D</a:t>
          </a:r>
          <a:r>
            <a:rPr lang="en-US" sz="2800" b="0" i="0" kern="1200" dirty="0">
              <a:effectLst/>
              <a:latin typeface="Bahnschrift" panose="020B0502040204020203" pitchFamily="34" charset="0"/>
            </a:rPr>
            <a:t>ivides the job into tasks of two types</a:t>
          </a:r>
        </a:p>
      </dsp:txBody>
      <dsp:txXfrm>
        <a:off x="37197" y="1434197"/>
        <a:ext cx="2465605" cy="1195605"/>
      </dsp:txXfrm>
    </dsp:sp>
    <dsp:sp modelId="{F5CB9FBE-B56E-4561-8B20-B5FD67127E0C}">
      <dsp:nvSpPr>
        <dsp:cNvPr id="0" name=""/>
        <dsp:cNvSpPr/>
      </dsp:nvSpPr>
      <dsp:spPr>
        <a:xfrm rot="19457599">
          <a:off x="2422396" y="1638750"/>
          <a:ext cx="1251207" cy="56250"/>
        </a:xfrm>
        <a:custGeom>
          <a:avLst/>
          <a:gdLst/>
          <a:ahLst/>
          <a:cxnLst/>
          <a:rect l="0" t="0" r="0" b="0"/>
          <a:pathLst>
            <a:path>
              <a:moveTo>
                <a:pt x="0" y="28125"/>
              </a:moveTo>
              <a:lnTo>
                <a:pt x="1251207" y="2812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016719" y="1635594"/>
        <a:ext cx="62560" cy="62560"/>
      </dsp:txXfrm>
    </dsp:sp>
    <dsp:sp modelId="{1DB4CA75-9609-4D12-B3B1-9D5955B1799A}">
      <dsp:nvSpPr>
        <dsp:cNvPr id="0" name=""/>
        <dsp:cNvSpPr/>
      </dsp:nvSpPr>
      <dsp:spPr>
        <a:xfrm>
          <a:off x="3556000" y="666750"/>
          <a:ext cx="2539999" cy="126999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effectLst/>
              <a:latin typeface="Bahnschrift" panose="020B0502040204020203" pitchFamily="34" charset="0"/>
            </a:rPr>
            <a:t>map tasks.</a:t>
          </a:r>
          <a:endParaRPr lang="en-IN" sz="2800" kern="1200" dirty="0">
            <a:latin typeface="Bahnschrift" panose="020B0502040204020203" pitchFamily="34" charset="0"/>
          </a:endParaRPr>
        </a:p>
      </dsp:txBody>
      <dsp:txXfrm>
        <a:off x="3593197" y="703947"/>
        <a:ext cx="2465605" cy="1195605"/>
      </dsp:txXfrm>
    </dsp:sp>
    <dsp:sp modelId="{D71A68F1-4357-4FE0-A381-66FF0C619F98}">
      <dsp:nvSpPr>
        <dsp:cNvPr id="0" name=""/>
        <dsp:cNvSpPr/>
      </dsp:nvSpPr>
      <dsp:spPr>
        <a:xfrm rot="2142401">
          <a:off x="2422396" y="2368999"/>
          <a:ext cx="1251207" cy="56250"/>
        </a:xfrm>
        <a:custGeom>
          <a:avLst/>
          <a:gdLst/>
          <a:ahLst/>
          <a:cxnLst/>
          <a:rect l="0" t="0" r="0" b="0"/>
          <a:pathLst>
            <a:path>
              <a:moveTo>
                <a:pt x="0" y="28125"/>
              </a:moveTo>
              <a:lnTo>
                <a:pt x="1251207" y="2812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016719" y="2365844"/>
        <a:ext cx="62560" cy="62560"/>
      </dsp:txXfrm>
    </dsp:sp>
    <dsp:sp modelId="{CF29AED3-2189-46B7-9344-8C6A967373C5}">
      <dsp:nvSpPr>
        <dsp:cNvPr id="0" name=""/>
        <dsp:cNvSpPr/>
      </dsp:nvSpPr>
      <dsp:spPr>
        <a:xfrm>
          <a:off x="3556000" y="2127250"/>
          <a:ext cx="2539999" cy="126999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effectLst/>
              <a:latin typeface="Bahnschrift" panose="020B0502040204020203" pitchFamily="34" charset="0"/>
            </a:rPr>
            <a:t>and reduce tasks</a:t>
          </a:r>
          <a:endParaRPr lang="en-IN" sz="2800" kern="1200" dirty="0">
            <a:latin typeface="Bahnschrift" panose="020B0502040204020203" pitchFamily="34" charset="0"/>
          </a:endParaRPr>
        </a:p>
      </dsp:txBody>
      <dsp:txXfrm>
        <a:off x="3593197" y="2164447"/>
        <a:ext cx="2465605" cy="11956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6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 ?><Relationships xmlns="http://schemas.openxmlformats.org/package/2006/relationships"><Relationship Id="rId3" Target="../media/hdphoto2.wdp" Type="http://schemas.microsoft.com/office/2007/relationships/hdphoto"/><Relationship Id="rId2" Target="../media/image1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 ?><Relationships xmlns="http://schemas.openxmlformats.org/package/2006/relationships"><Relationship Id="rId2" Target="../media/image12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 ?>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 ?><Relationships xmlns="http://schemas.openxmlformats.org/package/2006/relationships"><Relationship Id="rId2" Target="../media/image1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548328"/>
            <a:ext cx="7830800" cy="4042972"/>
          </a:xfrm>
        </p:spPr>
        <p:txBody>
          <a:bodyPr/>
          <a:lstStyle/>
          <a:p>
            <a:pPr algn="just"/>
            <a:r>
              <a:rPr lang="en-US" dirty="0"/>
              <a:t>learn what is Hadoop,</a:t>
            </a:r>
          </a:p>
          <a:p>
            <a:pPr algn="just"/>
            <a:r>
              <a:rPr lang="en-US" dirty="0"/>
              <a:t>understand the Hadoop Core components,</a:t>
            </a:r>
          </a:p>
          <a:p>
            <a:pPr algn="just"/>
            <a:r>
              <a:rPr lang="en-US" dirty="0"/>
              <a:t>learn </a:t>
            </a:r>
            <a:r>
              <a:rPr lang="en-US" b="0" i="0" dirty="0">
                <a:effectLst/>
              </a:rPr>
              <a:t>Hadoop Daemons,</a:t>
            </a:r>
            <a:endParaRPr lang="en-US" dirty="0"/>
          </a:p>
          <a:p>
            <a:pPr algn="just"/>
            <a:r>
              <a:rPr lang="en-US" dirty="0"/>
              <a:t>learn How </a:t>
            </a:r>
            <a:r>
              <a:rPr lang="en-US" dirty="0" err="1"/>
              <a:t>Hdfs</a:t>
            </a:r>
            <a:r>
              <a:rPr lang="en-US" dirty="0"/>
              <a:t> Works.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28DF3B-4B17-4D6D-937E-742A8E611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8114" y="1506596"/>
            <a:ext cx="4284584" cy="442423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98DDC87-C7C7-455D-8CD8-71614504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1186F9-6D3B-44D5-A588-B8438301EB5D}"/>
              </a:ext>
            </a:extLst>
          </p:cNvPr>
          <p:cNvSpPr/>
          <p:nvPr/>
        </p:nvSpPr>
        <p:spPr>
          <a:xfrm>
            <a:off x="2849694" y="6084181"/>
            <a:ext cx="2881423" cy="595423"/>
          </a:xfrm>
          <a:prstGeom prst="rect">
            <a:avLst/>
          </a:pr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Distributed Manner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112982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8DDC87-C7C7-455D-8CD8-71614504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791D0E5-5B7C-462D-BE1B-89BD1CF1F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b="0" dirty="0" i="0" lang="en-US" sz="2800">
                <a:effectLst/>
              </a:rPr>
              <a:t>Hadoop provides the world’s most reliable storage layer</a:t>
            </a:r>
            <a:endParaRPr dirty="0"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C0263B-0B11-4E78-B7C1-E3675034500E}"/>
              </a:ext>
            </a:extLst>
          </p:cNvPr>
          <p:cNvSpPr/>
          <p:nvPr/>
        </p:nvSpPr>
        <p:spPr>
          <a:xfrm>
            <a:off x="928915" y="3568158"/>
            <a:ext cx="7271656" cy="1849299"/>
          </a:xfrm>
          <a:prstGeom prst="roundRect">
            <a:avLst>
              <a:gd fmla="val 12743" name="adj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B6BBC2"/>
              </a:gs>
              <a:gs pos="83000">
                <a:srgbClr val="B6BBC2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algn="br" blurRad="50800" dir="13500000" dist="381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743C86-42C0-4BCB-BC7C-E08024404296}"/>
              </a:ext>
            </a:extLst>
          </p:cNvPr>
          <p:cNvSpPr/>
          <p:nvPr/>
        </p:nvSpPr>
        <p:spPr>
          <a:xfrm>
            <a:off x="943429" y="3582671"/>
            <a:ext cx="7271656" cy="1849299"/>
          </a:xfrm>
          <a:prstGeom prst="roundRect">
            <a:avLst>
              <a:gd fmla="val 12743" name="adj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B6BBC2"/>
              </a:gs>
              <a:gs pos="83000">
                <a:srgbClr val="B6BBC2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algn="tl" blurRad="50800" dir="2700000" dist="381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FF043F-1FD1-47C7-9BAE-ED95F3E9CB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821" l="3010" r="9712"/>
          <a:stretch/>
        </p:blipFill>
        <p:spPr>
          <a:xfrm>
            <a:off x="1364344" y="4160249"/>
            <a:ext cx="2612571" cy="69414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0EB397-3B18-46F0-B0B5-53C6F8965EA1}"/>
              </a:ext>
            </a:extLst>
          </p:cNvPr>
          <p:cNvSpPr/>
          <p:nvPr/>
        </p:nvSpPr>
        <p:spPr>
          <a:xfrm>
            <a:off x="5384800" y="3838389"/>
            <a:ext cx="2467430" cy="1337859"/>
          </a:xfrm>
          <a:prstGeom prst="roundRect">
            <a:avLst>
              <a:gd fmla="val 14497" name="adj"/>
            </a:avLst>
          </a:prstGeom>
          <a:gradFill flip="none" rotWithShape="1">
            <a:gsLst>
              <a:gs pos="59000">
                <a:srgbClr val="6096C8"/>
              </a:gs>
              <a:gs pos="0">
                <a:srgbClr val="92B7D9"/>
              </a:gs>
              <a:gs pos="93000">
                <a:schemeClr val="accent5">
                  <a:lumMod val="75000"/>
                </a:schemeClr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 sz="3200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charset="0" panose="020B0502040204020203" pitchFamily="34" typeface="Bahnschrift SemiBold"/>
              </a:rPr>
              <a:t>Storage</a:t>
            </a:r>
          </a:p>
          <a:p>
            <a:pPr algn="ctr"/>
            <a:r>
              <a:rPr dirty="0" lang="en-IN" sz="3200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charset="0" panose="020B0502040204020203" pitchFamily="34" typeface="Bahnschrift SemiBold"/>
              </a:rPr>
              <a:t>Layer</a:t>
            </a:r>
          </a:p>
        </p:txBody>
      </p:sp>
    </p:spTree>
    <p:extLst>
      <p:ext uri="{BB962C8B-B14F-4D97-AF65-F5344CB8AC3E}">
        <p14:creationId xmlns:p14="http://schemas.microsoft.com/office/powerpoint/2010/main" val="3390868603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6E2BBC-CEEB-443F-8652-D672ABDAD7E5}"/>
              </a:ext>
            </a:extLst>
          </p:cNvPr>
          <p:cNvSpPr/>
          <p:nvPr/>
        </p:nvSpPr>
        <p:spPr>
          <a:xfrm>
            <a:off x="943429" y="3582671"/>
            <a:ext cx="7271656" cy="1849299"/>
          </a:xfrm>
          <a:prstGeom prst="roundRect">
            <a:avLst>
              <a:gd fmla="val 12743" name="adj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B6BBC2"/>
              </a:gs>
              <a:gs pos="83000">
                <a:srgbClr val="B6BBC2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algn="tl" blurRad="50800" dir="2700000" dist="381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8DDC87-C7C7-455D-8CD8-71614504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791D0E5-5B7C-462D-BE1B-89BD1CF1F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b="0" dirty="0" i="0" lang="en-US" sz="2800">
                <a:solidFill>
                  <a:srgbClr val="444444"/>
                </a:solidFill>
                <a:effectLst/>
              </a:rPr>
              <a:t>Hadoop provides the world’s most reliable storage layer</a:t>
            </a:r>
            <a:endParaRPr dirty="0"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3D46F3-D452-4EDF-AC87-B88104813420}"/>
              </a:ext>
            </a:extLst>
          </p:cNvPr>
          <p:cNvSpPr/>
          <p:nvPr/>
        </p:nvSpPr>
        <p:spPr>
          <a:xfrm>
            <a:off x="939344" y="3620337"/>
            <a:ext cx="7271656" cy="1849299"/>
          </a:xfrm>
          <a:prstGeom prst="roundRect">
            <a:avLst>
              <a:gd fmla="val 12743" name="adj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B6BBC2"/>
              </a:gs>
              <a:gs pos="83000">
                <a:srgbClr val="B6BBC2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algn="br" blurRad="50800" dir="13500000" dist="381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78F769-253A-4F9A-A81C-BCD6D6D892E6}"/>
              </a:ext>
            </a:extLst>
          </p:cNvPr>
          <p:cNvSpPr/>
          <p:nvPr/>
        </p:nvSpPr>
        <p:spPr>
          <a:xfrm>
            <a:off x="5384800" y="3838389"/>
            <a:ext cx="2467430" cy="1337859"/>
          </a:xfrm>
          <a:prstGeom prst="roundRect">
            <a:avLst>
              <a:gd fmla="val 14497" name="adj"/>
            </a:avLst>
          </a:prstGeom>
          <a:gradFill flip="none" rotWithShape="1">
            <a:gsLst>
              <a:gs pos="59000">
                <a:srgbClr val="6096C8"/>
              </a:gs>
              <a:gs pos="0">
                <a:srgbClr val="92B7D9"/>
              </a:gs>
              <a:gs pos="93000">
                <a:schemeClr val="accent5">
                  <a:lumMod val="75000"/>
                </a:schemeClr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 sz="3200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charset="0" panose="020B0502040204020203" pitchFamily="34" typeface="Bahnschrift SemiBold"/>
              </a:rPr>
              <a:t>Application</a:t>
            </a:r>
          </a:p>
          <a:p>
            <a:pPr algn="ctr"/>
            <a:r>
              <a:rPr dirty="0" lang="en-IN" sz="3200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charset="0" panose="020B0502040204020203" pitchFamily="34" typeface="Bahnschrift SemiBold"/>
              </a:rPr>
              <a:t>Layer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FF043F-1FD1-47C7-9BAE-ED95F3E9CB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96" l="3706" r="-66" t="85602"/>
          <a:stretch/>
        </p:blipFill>
        <p:spPr>
          <a:xfrm>
            <a:off x="1093788" y="4137633"/>
            <a:ext cx="2844799" cy="81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772369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8DDC87-C7C7-455D-8CD8-71614504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791D0E5-5B7C-462D-BE1B-89BD1CF1F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b="0" dirty="0" i="0" lang="en-US" sz="2800">
                <a:solidFill>
                  <a:srgbClr val="444444"/>
                </a:solidFill>
                <a:effectLst/>
              </a:rPr>
              <a:t>Hadoop provides the world’s most reliable storage layer</a:t>
            </a:r>
            <a:endParaRPr dirty="0"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DB98C3-D4AE-44D5-9D16-79777741CCD1}"/>
              </a:ext>
            </a:extLst>
          </p:cNvPr>
          <p:cNvSpPr/>
          <p:nvPr/>
        </p:nvSpPr>
        <p:spPr>
          <a:xfrm>
            <a:off x="928915" y="3568158"/>
            <a:ext cx="7271656" cy="1849299"/>
          </a:xfrm>
          <a:prstGeom prst="roundRect">
            <a:avLst>
              <a:gd fmla="val 12743" name="adj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B6BBC2"/>
              </a:gs>
              <a:gs pos="83000">
                <a:srgbClr val="B6BBC2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algn="br" blurRad="50800" dir="13500000" dist="381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852FC8-33B0-435C-94EF-D35E13D5FEDE}"/>
              </a:ext>
            </a:extLst>
          </p:cNvPr>
          <p:cNvSpPr/>
          <p:nvPr/>
        </p:nvSpPr>
        <p:spPr>
          <a:xfrm>
            <a:off x="943429" y="3582671"/>
            <a:ext cx="7271656" cy="1849299"/>
          </a:xfrm>
          <a:prstGeom prst="roundRect">
            <a:avLst>
              <a:gd fmla="val 12743" name="adj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B6BBC2"/>
              </a:gs>
              <a:gs pos="83000">
                <a:srgbClr val="B6BBC2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algn="tl" blurRad="50800" dir="2700000" dist="381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2D2251-3283-4790-A8D4-272EC1EF22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821" l="3010" r="9712"/>
          <a:stretch/>
        </p:blipFill>
        <p:spPr>
          <a:xfrm>
            <a:off x="1364344" y="4160249"/>
            <a:ext cx="2612571" cy="69414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8BF77B-BC36-49CE-B5FD-73EEB208435B}"/>
              </a:ext>
            </a:extLst>
          </p:cNvPr>
          <p:cNvSpPr/>
          <p:nvPr/>
        </p:nvSpPr>
        <p:spPr>
          <a:xfrm>
            <a:off x="5384800" y="3838389"/>
            <a:ext cx="2467430" cy="1337859"/>
          </a:xfrm>
          <a:prstGeom prst="roundRect">
            <a:avLst>
              <a:gd fmla="val 14497" name="adj"/>
            </a:avLst>
          </a:prstGeom>
          <a:gradFill flip="none" rotWithShape="1">
            <a:gsLst>
              <a:gs pos="59000">
                <a:srgbClr val="6096C8"/>
              </a:gs>
              <a:gs pos="0">
                <a:srgbClr val="92B7D9"/>
              </a:gs>
              <a:gs pos="93000">
                <a:schemeClr val="accent5">
                  <a:lumMod val="75000"/>
                </a:schemeClr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 sz="2800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charset="0" panose="020B0502040204020203" pitchFamily="34" typeface="Bahnschrift SemiBold"/>
              </a:rPr>
              <a:t>Resource</a:t>
            </a:r>
          </a:p>
          <a:p>
            <a:pPr algn="ctr"/>
            <a:r>
              <a:rPr dirty="0" lang="en-IN" sz="2800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charset="0" panose="020B0502040204020203" pitchFamily="34" typeface="Bahnschrift SemiBold"/>
              </a:rPr>
              <a:t>Management</a:t>
            </a:r>
          </a:p>
          <a:p>
            <a:pPr algn="ctr"/>
            <a:r>
              <a:rPr dirty="0" lang="en-IN" sz="2800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charset="0" panose="020B0502040204020203" pitchFamily="34" typeface="Bahnschrift SemiBold"/>
              </a:rPr>
              <a:t>Layer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FF043F-1FD1-47C7-9BAE-ED95F3E9CB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140" r="6184" t="40271"/>
          <a:stretch/>
        </p:blipFill>
        <p:spPr>
          <a:xfrm>
            <a:off x="1088572" y="4115773"/>
            <a:ext cx="3164114" cy="87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03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5B7E9FB-2155-4FA7-959C-470ABF31B717}"/>
              </a:ext>
            </a:extLst>
          </p:cNvPr>
          <p:cNvSpPr/>
          <p:nvPr/>
        </p:nvSpPr>
        <p:spPr>
          <a:xfrm>
            <a:off x="338362" y="16667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>
                <a:latin typeface="Bahnschrift" panose="020B0502040204020203" pitchFamily="34" charset="0"/>
              </a:rPr>
              <a:t>M</a:t>
            </a:r>
            <a:r>
              <a:rPr lang="en-US" sz="2800" b="0" i="0" kern="1200" dirty="0">
                <a:latin typeface="Bahnschrift" panose="020B0502040204020203" pitchFamily="34" charset="0"/>
              </a:rPr>
              <a:t>aintain huge volumes of data </a:t>
            </a:r>
            <a:endParaRPr lang="en-IN" sz="2800" kern="1200" dirty="0">
              <a:latin typeface="Bahnschrift" panose="020B050204020402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5CD23CA-17B4-4ABE-9319-82BE30BCEEC6}"/>
              </a:ext>
            </a:extLst>
          </p:cNvPr>
          <p:cNvSpPr/>
          <p:nvPr/>
        </p:nvSpPr>
        <p:spPr>
          <a:xfrm>
            <a:off x="338362" y="29411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0" i="0" kern="12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Break down the data into smaller chunks</a:t>
            </a:r>
            <a:endParaRPr lang="en-IN" sz="2800" kern="12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A35338-349E-41BF-BE56-AEDE8FB3E380}"/>
              </a:ext>
            </a:extLst>
          </p:cNvPr>
          <p:cNvSpPr/>
          <p:nvPr/>
        </p:nvSpPr>
        <p:spPr>
          <a:xfrm>
            <a:off x="338362" y="42155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kern="12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D</a:t>
            </a:r>
            <a:r>
              <a:rPr lang="en-IN" sz="2800" b="0" i="0" kern="12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istributed file systems.</a:t>
            </a:r>
            <a:endParaRPr lang="en-IN" sz="2800" kern="12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A9667F2-0F5F-46E8-98AE-352AB3815871}"/>
              </a:ext>
            </a:extLst>
          </p:cNvPr>
          <p:cNvSpPr/>
          <p:nvPr/>
        </p:nvSpPr>
        <p:spPr>
          <a:xfrm>
            <a:off x="338362" y="54899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0" i="0" kern="12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Hadoop Distributed File System (HDFS) is the storage component </a:t>
            </a:r>
            <a:endParaRPr lang="en-IN" sz="3000" kern="12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B73ECF-094C-41CF-BC5F-7E0066FD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Hadoop Distribute File System(HDFS)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474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5B7E9FB-2155-4FA7-959C-470ABF31B717}"/>
              </a:ext>
            </a:extLst>
          </p:cNvPr>
          <p:cNvSpPr/>
          <p:nvPr/>
        </p:nvSpPr>
        <p:spPr>
          <a:xfrm>
            <a:off x="338362" y="16667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M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aintain huge volumes of data </a:t>
            </a:r>
            <a:endParaRPr lang="en-IN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5CD23CA-17B4-4ABE-9319-82BE30BCEEC6}"/>
              </a:ext>
            </a:extLst>
          </p:cNvPr>
          <p:cNvSpPr/>
          <p:nvPr/>
        </p:nvSpPr>
        <p:spPr>
          <a:xfrm>
            <a:off x="338362" y="29411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0" i="0" kern="1200" dirty="0">
                <a:latin typeface="Bahnschrift" panose="020B0502040204020203" pitchFamily="34" charset="0"/>
              </a:rPr>
              <a:t>Break down the data into smaller chunks</a:t>
            </a:r>
            <a:endParaRPr lang="en-IN" sz="2800" kern="1200" dirty="0">
              <a:latin typeface="Bahnschrift" panose="020B050204020402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A35338-349E-41BF-BE56-AEDE8FB3E380}"/>
              </a:ext>
            </a:extLst>
          </p:cNvPr>
          <p:cNvSpPr/>
          <p:nvPr/>
        </p:nvSpPr>
        <p:spPr>
          <a:xfrm>
            <a:off x="338362" y="42155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Distributed file systems.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A9667F2-0F5F-46E8-98AE-352AB3815871}"/>
              </a:ext>
            </a:extLst>
          </p:cNvPr>
          <p:cNvSpPr/>
          <p:nvPr/>
        </p:nvSpPr>
        <p:spPr>
          <a:xfrm>
            <a:off x="338362" y="54899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Hadoop Distributed File System (HDFS) is the storage component </a:t>
            </a:r>
            <a:endParaRPr lang="en-IN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B73ECF-094C-41CF-BC5F-7E0066FD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Hadoop Distribute File System(HDFS)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1309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5B7E9FB-2155-4FA7-959C-470ABF31B717}"/>
              </a:ext>
            </a:extLst>
          </p:cNvPr>
          <p:cNvSpPr/>
          <p:nvPr/>
        </p:nvSpPr>
        <p:spPr>
          <a:xfrm>
            <a:off x="338362" y="16667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M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aintain huge volumes of data </a:t>
            </a:r>
            <a:endParaRPr lang="en-IN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5CD23CA-17B4-4ABE-9319-82BE30BCEEC6}"/>
              </a:ext>
            </a:extLst>
          </p:cNvPr>
          <p:cNvSpPr/>
          <p:nvPr/>
        </p:nvSpPr>
        <p:spPr>
          <a:xfrm>
            <a:off x="338362" y="29411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Break down the data into smaller chunks</a:t>
            </a:r>
            <a:endParaRPr lang="en-IN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A35338-349E-41BF-BE56-AEDE8FB3E380}"/>
              </a:ext>
            </a:extLst>
          </p:cNvPr>
          <p:cNvSpPr/>
          <p:nvPr/>
        </p:nvSpPr>
        <p:spPr>
          <a:xfrm>
            <a:off x="338362" y="42155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kern="1200" dirty="0">
                <a:latin typeface="Bahnschrift" panose="020B0502040204020203" pitchFamily="34" charset="0"/>
              </a:rPr>
              <a:t>D</a:t>
            </a:r>
            <a:r>
              <a:rPr lang="en-IN" sz="2800" b="0" i="0" kern="1200" dirty="0">
                <a:latin typeface="Bahnschrift" panose="020B0502040204020203" pitchFamily="34" charset="0"/>
              </a:rPr>
              <a:t>istributed file systems.</a:t>
            </a:r>
            <a:endParaRPr lang="en-IN" sz="2800" kern="1200" dirty="0">
              <a:latin typeface="Bahnschrift" panose="020B0502040204020203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A9667F2-0F5F-46E8-98AE-352AB3815871}"/>
              </a:ext>
            </a:extLst>
          </p:cNvPr>
          <p:cNvSpPr/>
          <p:nvPr/>
        </p:nvSpPr>
        <p:spPr>
          <a:xfrm>
            <a:off x="338362" y="54899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Hadoop Distributed File System (HDFS) is the storage component </a:t>
            </a:r>
            <a:endParaRPr lang="en-IN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B73ECF-094C-41CF-BC5F-7E0066FD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Hadoop Distribute File System(HDFS)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541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5B7E9FB-2155-4FA7-959C-470ABF31B717}"/>
              </a:ext>
            </a:extLst>
          </p:cNvPr>
          <p:cNvSpPr/>
          <p:nvPr/>
        </p:nvSpPr>
        <p:spPr>
          <a:xfrm>
            <a:off x="338362" y="16667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M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aintain huge volumes of data </a:t>
            </a:r>
            <a:endParaRPr lang="en-IN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5CD23CA-17B4-4ABE-9319-82BE30BCEEC6}"/>
              </a:ext>
            </a:extLst>
          </p:cNvPr>
          <p:cNvSpPr/>
          <p:nvPr/>
        </p:nvSpPr>
        <p:spPr>
          <a:xfrm>
            <a:off x="338362" y="29411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Break down the data into smaller chunks</a:t>
            </a:r>
            <a:endParaRPr lang="en-IN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A35338-349E-41BF-BE56-AEDE8FB3E380}"/>
              </a:ext>
            </a:extLst>
          </p:cNvPr>
          <p:cNvSpPr/>
          <p:nvPr/>
        </p:nvSpPr>
        <p:spPr>
          <a:xfrm>
            <a:off x="338362" y="42155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Distributed file systems.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A9667F2-0F5F-46E8-98AE-352AB3815871}"/>
              </a:ext>
            </a:extLst>
          </p:cNvPr>
          <p:cNvSpPr/>
          <p:nvPr/>
        </p:nvSpPr>
        <p:spPr>
          <a:xfrm>
            <a:off x="338362" y="5489947"/>
            <a:ext cx="8386537" cy="1104480"/>
          </a:xfrm>
          <a:custGeom>
            <a:avLst/>
            <a:gdLst>
              <a:gd name="connsiteX0" fmla="*/ 0 w 8386537"/>
              <a:gd name="connsiteY0" fmla="*/ 184084 h 1104480"/>
              <a:gd name="connsiteX1" fmla="*/ 184084 w 8386537"/>
              <a:gd name="connsiteY1" fmla="*/ 0 h 1104480"/>
              <a:gd name="connsiteX2" fmla="*/ 8202453 w 8386537"/>
              <a:gd name="connsiteY2" fmla="*/ 0 h 1104480"/>
              <a:gd name="connsiteX3" fmla="*/ 8386537 w 8386537"/>
              <a:gd name="connsiteY3" fmla="*/ 184084 h 1104480"/>
              <a:gd name="connsiteX4" fmla="*/ 8386537 w 8386537"/>
              <a:gd name="connsiteY4" fmla="*/ 920396 h 1104480"/>
              <a:gd name="connsiteX5" fmla="*/ 8202453 w 8386537"/>
              <a:gd name="connsiteY5" fmla="*/ 1104480 h 1104480"/>
              <a:gd name="connsiteX6" fmla="*/ 184084 w 8386537"/>
              <a:gd name="connsiteY6" fmla="*/ 1104480 h 1104480"/>
              <a:gd name="connsiteX7" fmla="*/ 0 w 8386537"/>
              <a:gd name="connsiteY7" fmla="*/ 920396 h 1104480"/>
              <a:gd name="connsiteX8" fmla="*/ 0 w 8386537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86537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8202453" y="0"/>
                </a:lnTo>
                <a:cubicBezTo>
                  <a:pt x="8304120" y="0"/>
                  <a:pt x="8386537" y="82417"/>
                  <a:pt x="8386537" y="184084"/>
                </a:cubicBezTo>
                <a:lnTo>
                  <a:pt x="8386537" y="920396"/>
                </a:lnTo>
                <a:cubicBezTo>
                  <a:pt x="8386537" y="1022063"/>
                  <a:pt x="8304120" y="1104480"/>
                  <a:pt x="8202453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0" i="0" kern="1200" dirty="0">
                <a:latin typeface="Bahnschrift" panose="020B0502040204020203" pitchFamily="34" charset="0"/>
              </a:rPr>
              <a:t>Hadoop Distributed File System (HDFS) is the storage component </a:t>
            </a:r>
            <a:endParaRPr lang="en-IN" sz="3000" kern="1200" dirty="0">
              <a:latin typeface="Bahnschrift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B73ECF-094C-41CF-BC5F-7E0066FD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Hadoop Distribute File System(HDFS)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254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BEAEF1-DF3D-4EF0-AE92-95EF6002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9351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effectLst/>
              </a:rPr>
              <a:t>It has a few properties that define its existence:-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B73ECF-094C-41CF-BC5F-7E0066FD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Hadoop Distribute File System(HDFS)</a:t>
            </a:r>
            <a:endParaRPr lang="en-IN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E988AE2-5A54-48E1-8BD9-1FD940CF6A17}"/>
              </a:ext>
            </a:extLst>
          </p:cNvPr>
          <p:cNvSpPr/>
          <p:nvPr/>
        </p:nvSpPr>
        <p:spPr>
          <a:xfrm>
            <a:off x="2309338" y="2569966"/>
            <a:ext cx="4444584" cy="992160"/>
          </a:xfrm>
          <a:custGeom>
            <a:avLst/>
            <a:gdLst>
              <a:gd name="connsiteX0" fmla="*/ 0 w 4444584"/>
              <a:gd name="connsiteY0" fmla="*/ 165363 h 992160"/>
              <a:gd name="connsiteX1" fmla="*/ 165363 w 4444584"/>
              <a:gd name="connsiteY1" fmla="*/ 0 h 992160"/>
              <a:gd name="connsiteX2" fmla="*/ 4279221 w 4444584"/>
              <a:gd name="connsiteY2" fmla="*/ 0 h 992160"/>
              <a:gd name="connsiteX3" fmla="*/ 4444584 w 4444584"/>
              <a:gd name="connsiteY3" fmla="*/ 165363 h 992160"/>
              <a:gd name="connsiteX4" fmla="*/ 4444584 w 4444584"/>
              <a:gd name="connsiteY4" fmla="*/ 826797 h 992160"/>
              <a:gd name="connsiteX5" fmla="*/ 4279221 w 4444584"/>
              <a:gd name="connsiteY5" fmla="*/ 992160 h 992160"/>
              <a:gd name="connsiteX6" fmla="*/ 165363 w 4444584"/>
              <a:gd name="connsiteY6" fmla="*/ 992160 h 992160"/>
              <a:gd name="connsiteX7" fmla="*/ 0 w 4444584"/>
              <a:gd name="connsiteY7" fmla="*/ 826797 h 992160"/>
              <a:gd name="connsiteX8" fmla="*/ 0 w 4444584"/>
              <a:gd name="connsiteY8" fmla="*/ 165363 h 99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44584" h="992160">
                <a:moveTo>
                  <a:pt x="0" y="165363"/>
                </a:moveTo>
                <a:cubicBezTo>
                  <a:pt x="0" y="74036"/>
                  <a:pt x="74036" y="0"/>
                  <a:pt x="165363" y="0"/>
                </a:cubicBezTo>
                <a:lnTo>
                  <a:pt x="4279221" y="0"/>
                </a:lnTo>
                <a:cubicBezTo>
                  <a:pt x="4370548" y="0"/>
                  <a:pt x="4444584" y="74036"/>
                  <a:pt x="4444584" y="165363"/>
                </a:cubicBezTo>
                <a:lnTo>
                  <a:pt x="4444584" y="826797"/>
                </a:lnTo>
                <a:cubicBezTo>
                  <a:pt x="4444584" y="918124"/>
                  <a:pt x="4370548" y="992160"/>
                  <a:pt x="4279221" y="992160"/>
                </a:cubicBezTo>
                <a:lnTo>
                  <a:pt x="165363" y="992160"/>
                </a:lnTo>
                <a:cubicBezTo>
                  <a:pt x="74036" y="992160"/>
                  <a:pt x="0" y="918124"/>
                  <a:pt x="0" y="826797"/>
                </a:cubicBezTo>
                <a:lnTo>
                  <a:pt x="0" y="165363"/>
                </a:lnTo>
                <a:close/>
              </a:path>
            </a:pathLst>
          </a:custGeom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5113" tIns="155113" rIns="155113" bIns="155113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>
                <a:latin typeface="Bahnschrift" panose="020B0502040204020203" pitchFamily="34" charset="0"/>
              </a:rPr>
              <a:t>Huge volumes </a:t>
            </a:r>
            <a:endParaRPr lang="en-IN" sz="2800" kern="1200">
              <a:latin typeface="Bahnschrift" panose="020B0502040204020203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F7425F-7CE7-4694-8B32-A862984A1947}"/>
              </a:ext>
            </a:extLst>
          </p:cNvPr>
          <p:cNvSpPr/>
          <p:nvPr/>
        </p:nvSpPr>
        <p:spPr>
          <a:xfrm>
            <a:off x="2309338" y="3714766"/>
            <a:ext cx="4444584" cy="992160"/>
          </a:xfrm>
          <a:custGeom>
            <a:avLst/>
            <a:gdLst>
              <a:gd name="connsiteX0" fmla="*/ 0 w 4444584"/>
              <a:gd name="connsiteY0" fmla="*/ 165363 h 992160"/>
              <a:gd name="connsiteX1" fmla="*/ 165363 w 4444584"/>
              <a:gd name="connsiteY1" fmla="*/ 0 h 992160"/>
              <a:gd name="connsiteX2" fmla="*/ 4279221 w 4444584"/>
              <a:gd name="connsiteY2" fmla="*/ 0 h 992160"/>
              <a:gd name="connsiteX3" fmla="*/ 4444584 w 4444584"/>
              <a:gd name="connsiteY3" fmla="*/ 165363 h 992160"/>
              <a:gd name="connsiteX4" fmla="*/ 4444584 w 4444584"/>
              <a:gd name="connsiteY4" fmla="*/ 826797 h 992160"/>
              <a:gd name="connsiteX5" fmla="*/ 4279221 w 4444584"/>
              <a:gd name="connsiteY5" fmla="*/ 992160 h 992160"/>
              <a:gd name="connsiteX6" fmla="*/ 165363 w 4444584"/>
              <a:gd name="connsiteY6" fmla="*/ 992160 h 992160"/>
              <a:gd name="connsiteX7" fmla="*/ 0 w 4444584"/>
              <a:gd name="connsiteY7" fmla="*/ 826797 h 992160"/>
              <a:gd name="connsiteX8" fmla="*/ 0 w 4444584"/>
              <a:gd name="connsiteY8" fmla="*/ 165363 h 99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44584" h="992160">
                <a:moveTo>
                  <a:pt x="0" y="165363"/>
                </a:moveTo>
                <a:cubicBezTo>
                  <a:pt x="0" y="74036"/>
                  <a:pt x="74036" y="0"/>
                  <a:pt x="165363" y="0"/>
                </a:cubicBezTo>
                <a:lnTo>
                  <a:pt x="4279221" y="0"/>
                </a:lnTo>
                <a:cubicBezTo>
                  <a:pt x="4370548" y="0"/>
                  <a:pt x="4444584" y="74036"/>
                  <a:pt x="4444584" y="165363"/>
                </a:cubicBezTo>
                <a:lnTo>
                  <a:pt x="4444584" y="826797"/>
                </a:lnTo>
                <a:cubicBezTo>
                  <a:pt x="4444584" y="918124"/>
                  <a:pt x="4370548" y="992160"/>
                  <a:pt x="4279221" y="992160"/>
                </a:cubicBezTo>
                <a:lnTo>
                  <a:pt x="165363" y="992160"/>
                </a:lnTo>
                <a:cubicBezTo>
                  <a:pt x="74036" y="992160"/>
                  <a:pt x="0" y="918124"/>
                  <a:pt x="0" y="826797"/>
                </a:cubicBezTo>
                <a:lnTo>
                  <a:pt x="0" y="165363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Data access </a:t>
            </a:r>
            <a:endParaRPr lang="en-IN" sz="280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7B9125-11E8-4626-9BCD-54DDE887077A}"/>
              </a:ext>
            </a:extLst>
          </p:cNvPr>
          <p:cNvSpPr/>
          <p:nvPr/>
        </p:nvSpPr>
        <p:spPr>
          <a:xfrm>
            <a:off x="2309338" y="4859566"/>
            <a:ext cx="4444584" cy="992160"/>
          </a:xfrm>
          <a:custGeom>
            <a:avLst/>
            <a:gdLst>
              <a:gd name="connsiteX0" fmla="*/ 0 w 4444584"/>
              <a:gd name="connsiteY0" fmla="*/ 165363 h 992160"/>
              <a:gd name="connsiteX1" fmla="*/ 165363 w 4444584"/>
              <a:gd name="connsiteY1" fmla="*/ 0 h 992160"/>
              <a:gd name="connsiteX2" fmla="*/ 4279221 w 4444584"/>
              <a:gd name="connsiteY2" fmla="*/ 0 h 992160"/>
              <a:gd name="connsiteX3" fmla="*/ 4444584 w 4444584"/>
              <a:gd name="connsiteY3" fmla="*/ 165363 h 992160"/>
              <a:gd name="connsiteX4" fmla="*/ 4444584 w 4444584"/>
              <a:gd name="connsiteY4" fmla="*/ 826797 h 992160"/>
              <a:gd name="connsiteX5" fmla="*/ 4279221 w 4444584"/>
              <a:gd name="connsiteY5" fmla="*/ 992160 h 992160"/>
              <a:gd name="connsiteX6" fmla="*/ 165363 w 4444584"/>
              <a:gd name="connsiteY6" fmla="*/ 992160 h 992160"/>
              <a:gd name="connsiteX7" fmla="*/ 0 w 4444584"/>
              <a:gd name="connsiteY7" fmla="*/ 826797 h 992160"/>
              <a:gd name="connsiteX8" fmla="*/ 0 w 4444584"/>
              <a:gd name="connsiteY8" fmla="*/ 165363 h 99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44584" h="992160">
                <a:moveTo>
                  <a:pt x="0" y="165363"/>
                </a:moveTo>
                <a:cubicBezTo>
                  <a:pt x="0" y="74036"/>
                  <a:pt x="74036" y="0"/>
                  <a:pt x="165363" y="0"/>
                </a:cubicBezTo>
                <a:lnTo>
                  <a:pt x="4279221" y="0"/>
                </a:lnTo>
                <a:cubicBezTo>
                  <a:pt x="4370548" y="0"/>
                  <a:pt x="4444584" y="74036"/>
                  <a:pt x="4444584" y="165363"/>
                </a:cubicBezTo>
                <a:lnTo>
                  <a:pt x="4444584" y="826797"/>
                </a:lnTo>
                <a:cubicBezTo>
                  <a:pt x="4444584" y="918124"/>
                  <a:pt x="4370548" y="992160"/>
                  <a:pt x="4279221" y="992160"/>
                </a:cubicBezTo>
                <a:lnTo>
                  <a:pt x="165363" y="992160"/>
                </a:lnTo>
                <a:cubicBezTo>
                  <a:pt x="74036" y="992160"/>
                  <a:pt x="0" y="918124"/>
                  <a:pt x="0" y="826797"/>
                </a:cubicBezTo>
                <a:lnTo>
                  <a:pt x="0" y="165363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Cost-effective </a:t>
            </a:r>
            <a:endParaRPr lang="en-IN" sz="280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47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BEAEF1-DF3D-4EF0-AE92-95EF6002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9351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effectLst/>
              </a:rPr>
              <a:t>It has a few properties that define its existence:-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B73ECF-094C-41CF-BC5F-7E0066FD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Hadoop Distribute File System(HDFS)</a:t>
            </a:r>
            <a:endParaRPr lang="en-IN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E988AE2-5A54-48E1-8BD9-1FD940CF6A17}"/>
              </a:ext>
            </a:extLst>
          </p:cNvPr>
          <p:cNvSpPr/>
          <p:nvPr/>
        </p:nvSpPr>
        <p:spPr>
          <a:xfrm>
            <a:off x="2309338" y="2569966"/>
            <a:ext cx="4444584" cy="992160"/>
          </a:xfrm>
          <a:custGeom>
            <a:avLst/>
            <a:gdLst>
              <a:gd name="connsiteX0" fmla="*/ 0 w 4444584"/>
              <a:gd name="connsiteY0" fmla="*/ 165363 h 992160"/>
              <a:gd name="connsiteX1" fmla="*/ 165363 w 4444584"/>
              <a:gd name="connsiteY1" fmla="*/ 0 h 992160"/>
              <a:gd name="connsiteX2" fmla="*/ 4279221 w 4444584"/>
              <a:gd name="connsiteY2" fmla="*/ 0 h 992160"/>
              <a:gd name="connsiteX3" fmla="*/ 4444584 w 4444584"/>
              <a:gd name="connsiteY3" fmla="*/ 165363 h 992160"/>
              <a:gd name="connsiteX4" fmla="*/ 4444584 w 4444584"/>
              <a:gd name="connsiteY4" fmla="*/ 826797 h 992160"/>
              <a:gd name="connsiteX5" fmla="*/ 4279221 w 4444584"/>
              <a:gd name="connsiteY5" fmla="*/ 992160 h 992160"/>
              <a:gd name="connsiteX6" fmla="*/ 165363 w 4444584"/>
              <a:gd name="connsiteY6" fmla="*/ 992160 h 992160"/>
              <a:gd name="connsiteX7" fmla="*/ 0 w 4444584"/>
              <a:gd name="connsiteY7" fmla="*/ 826797 h 992160"/>
              <a:gd name="connsiteX8" fmla="*/ 0 w 4444584"/>
              <a:gd name="connsiteY8" fmla="*/ 165363 h 99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44584" h="992160">
                <a:moveTo>
                  <a:pt x="0" y="165363"/>
                </a:moveTo>
                <a:cubicBezTo>
                  <a:pt x="0" y="74036"/>
                  <a:pt x="74036" y="0"/>
                  <a:pt x="165363" y="0"/>
                </a:cubicBezTo>
                <a:lnTo>
                  <a:pt x="4279221" y="0"/>
                </a:lnTo>
                <a:cubicBezTo>
                  <a:pt x="4370548" y="0"/>
                  <a:pt x="4444584" y="74036"/>
                  <a:pt x="4444584" y="165363"/>
                </a:cubicBezTo>
                <a:lnTo>
                  <a:pt x="4444584" y="826797"/>
                </a:lnTo>
                <a:cubicBezTo>
                  <a:pt x="4444584" y="918124"/>
                  <a:pt x="4370548" y="992160"/>
                  <a:pt x="4279221" y="992160"/>
                </a:cubicBezTo>
                <a:lnTo>
                  <a:pt x="165363" y="992160"/>
                </a:lnTo>
                <a:cubicBezTo>
                  <a:pt x="74036" y="992160"/>
                  <a:pt x="0" y="918124"/>
                  <a:pt x="0" y="826797"/>
                </a:cubicBezTo>
                <a:lnTo>
                  <a:pt x="0" y="165363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Huge volumes </a:t>
            </a:r>
            <a:endParaRPr lang="en-IN" sz="280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F7425F-7CE7-4694-8B32-A862984A1947}"/>
              </a:ext>
            </a:extLst>
          </p:cNvPr>
          <p:cNvSpPr/>
          <p:nvPr/>
        </p:nvSpPr>
        <p:spPr>
          <a:xfrm>
            <a:off x="2309338" y="3714766"/>
            <a:ext cx="4444584" cy="992160"/>
          </a:xfrm>
          <a:custGeom>
            <a:avLst/>
            <a:gdLst>
              <a:gd name="connsiteX0" fmla="*/ 0 w 4444584"/>
              <a:gd name="connsiteY0" fmla="*/ 165363 h 992160"/>
              <a:gd name="connsiteX1" fmla="*/ 165363 w 4444584"/>
              <a:gd name="connsiteY1" fmla="*/ 0 h 992160"/>
              <a:gd name="connsiteX2" fmla="*/ 4279221 w 4444584"/>
              <a:gd name="connsiteY2" fmla="*/ 0 h 992160"/>
              <a:gd name="connsiteX3" fmla="*/ 4444584 w 4444584"/>
              <a:gd name="connsiteY3" fmla="*/ 165363 h 992160"/>
              <a:gd name="connsiteX4" fmla="*/ 4444584 w 4444584"/>
              <a:gd name="connsiteY4" fmla="*/ 826797 h 992160"/>
              <a:gd name="connsiteX5" fmla="*/ 4279221 w 4444584"/>
              <a:gd name="connsiteY5" fmla="*/ 992160 h 992160"/>
              <a:gd name="connsiteX6" fmla="*/ 165363 w 4444584"/>
              <a:gd name="connsiteY6" fmla="*/ 992160 h 992160"/>
              <a:gd name="connsiteX7" fmla="*/ 0 w 4444584"/>
              <a:gd name="connsiteY7" fmla="*/ 826797 h 992160"/>
              <a:gd name="connsiteX8" fmla="*/ 0 w 4444584"/>
              <a:gd name="connsiteY8" fmla="*/ 165363 h 99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44584" h="992160">
                <a:moveTo>
                  <a:pt x="0" y="165363"/>
                </a:moveTo>
                <a:cubicBezTo>
                  <a:pt x="0" y="74036"/>
                  <a:pt x="74036" y="0"/>
                  <a:pt x="165363" y="0"/>
                </a:cubicBezTo>
                <a:lnTo>
                  <a:pt x="4279221" y="0"/>
                </a:lnTo>
                <a:cubicBezTo>
                  <a:pt x="4370548" y="0"/>
                  <a:pt x="4444584" y="74036"/>
                  <a:pt x="4444584" y="165363"/>
                </a:cubicBezTo>
                <a:lnTo>
                  <a:pt x="4444584" y="826797"/>
                </a:lnTo>
                <a:cubicBezTo>
                  <a:pt x="4444584" y="918124"/>
                  <a:pt x="4370548" y="992160"/>
                  <a:pt x="4279221" y="992160"/>
                </a:cubicBezTo>
                <a:lnTo>
                  <a:pt x="165363" y="992160"/>
                </a:lnTo>
                <a:cubicBezTo>
                  <a:pt x="74036" y="992160"/>
                  <a:pt x="0" y="918124"/>
                  <a:pt x="0" y="826797"/>
                </a:cubicBezTo>
                <a:lnTo>
                  <a:pt x="0" y="165363"/>
                </a:lnTo>
                <a:close/>
              </a:path>
            </a:pathLst>
          </a:custGeom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5113" tIns="155113" rIns="155113" bIns="155113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>
                <a:latin typeface="Bahnschrift" panose="020B0502040204020203" pitchFamily="34" charset="0"/>
              </a:rPr>
              <a:t>Data access </a:t>
            </a:r>
            <a:endParaRPr lang="en-IN" sz="2800" kern="1200">
              <a:latin typeface="Bahnschrift" panose="020B0502040204020203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7B9125-11E8-4626-9BCD-54DDE887077A}"/>
              </a:ext>
            </a:extLst>
          </p:cNvPr>
          <p:cNvSpPr/>
          <p:nvPr/>
        </p:nvSpPr>
        <p:spPr>
          <a:xfrm>
            <a:off x="2309338" y="4859566"/>
            <a:ext cx="4444584" cy="992160"/>
          </a:xfrm>
          <a:custGeom>
            <a:avLst/>
            <a:gdLst>
              <a:gd name="connsiteX0" fmla="*/ 0 w 4444584"/>
              <a:gd name="connsiteY0" fmla="*/ 165363 h 992160"/>
              <a:gd name="connsiteX1" fmla="*/ 165363 w 4444584"/>
              <a:gd name="connsiteY1" fmla="*/ 0 h 992160"/>
              <a:gd name="connsiteX2" fmla="*/ 4279221 w 4444584"/>
              <a:gd name="connsiteY2" fmla="*/ 0 h 992160"/>
              <a:gd name="connsiteX3" fmla="*/ 4444584 w 4444584"/>
              <a:gd name="connsiteY3" fmla="*/ 165363 h 992160"/>
              <a:gd name="connsiteX4" fmla="*/ 4444584 w 4444584"/>
              <a:gd name="connsiteY4" fmla="*/ 826797 h 992160"/>
              <a:gd name="connsiteX5" fmla="*/ 4279221 w 4444584"/>
              <a:gd name="connsiteY5" fmla="*/ 992160 h 992160"/>
              <a:gd name="connsiteX6" fmla="*/ 165363 w 4444584"/>
              <a:gd name="connsiteY6" fmla="*/ 992160 h 992160"/>
              <a:gd name="connsiteX7" fmla="*/ 0 w 4444584"/>
              <a:gd name="connsiteY7" fmla="*/ 826797 h 992160"/>
              <a:gd name="connsiteX8" fmla="*/ 0 w 4444584"/>
              <a:gd name="connsiteY8" fmla="*/ 165363 h 99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44584" h="992160">
                <a:moveTo>
                  <a:pt x="0" y="165363"/>
                </a:moveTo>
                <a:cubicBezTo>
                  <a:pt x="0" y="74036"/>
                  <a:pt x="74036" y="0"/>
                  <a:pt x="165363" y="0"/>
                </a:cubicBezTo>
                <a:lnTo>
                  <a:pt x="4279221" y="0"/>
                </a:lnTo>
                <a:cubicBezTo>
                  <a:pt x="4370548" y="0"/>
                  <a:pt x="4444584" y="74036"/>
                  <a:pt x="4444584" y="165363"/>
                </a:cubicBezTo>
                <a:lnTo>
                  <a:pt x="4444584" y="826797"/>
                </a:lnTo>
                <a:cubicBezTo>
                  <a:pt x="4444584" y="918124"/>
                  <a:pt x="4370548" y="992160"/>
                  <a:pt x="4279221" y="992160"/>
                </a:cubicBezTo>
                <a:lnTo>
                  <a:pt x="165363" y="992160"/>
                </a:lnTo>
                <a:cubicBezTo>
                  <a:pt x="74036" y="992160"/>
                  <a:pt x="0" y="918124"/>
                  <a:pt x="0" y="826797"/>
                </a:cubicBezTo>
                <a:lnTo>
                  <a:pt x="0" y="165363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Cost-effective </a:t>
            </a:r>
            <a:endParaRPr lang="en-IN" sz="280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182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BEAEF1-DF3D-4EF0-AE92-95EF6002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9351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effectLst/>
              </a:rPr>
              <a:t>It has a few properties that define its existence:-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B73ECF-094C-41CF-BC5F-7E0066FD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Hadoop Distribute File System(HDFS)</a:t>
            </a:r>
            <a:endParaRPr lang="en-IN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E988AE2-5A54-48E1-8BD9-1FD940CF6A17}"/>
              </a:ext>
            </a:extLst>
          </p:cNvPr>
          <p:cNvSpPr/>
          <p:nvPr/>
        </p:nvSpPr>
        <p:spPr>
          <a:xfrm>
            <a:off x="2309338" y="2569966"/>
            <a:ext cx="4444584" cy="992160"/>
          </a:xfrm>
          <a:custGeom>
            <a:avLst/>
            <a:gdLst>
              <a:gd name="connsiteX0" fmla="*/ 0 w 4444584"/>
              <a:gd name="connsiteY0" fmla="*/ 165363 h 992160"/>
              <a:gd name="connsiteX1" fmla="*/ 165363 w 4444584"/>
              <a:gd name="connsiteY1" fmla="*/ 0 h 992160"/>
              <a:gd name="connsiteX2" fmla="*/ 4279221 w 4444584"/>
              <a:gd name="connsiteY2" fmla="*/ 0 h 992160"/>
              <a:gd name="connsiteX3" fmla="*/ 4444584 w 4444584"/>
              <a:gd name="connsiteY3" fmla="*/ 165363 h 992160"/>
              <a:gd name="connsiteX4" fmla="*/ 4444584 w 4444584"/>
              <a:gd name="connsiteY4" fmla="*/ 826797 h 992160"/>
              <a:gd name="connsiteX5" fmla="*/ 4279221 w 4444584"/>
              <a:gd name="connsiteY5" fmla="*/ 992160 h 992160"/>
              <a:gd name="connsiteX6" fmla="*/ 165363 w 4444584"/>
              <a:gd name="connsiteY6" fmla="*/ 992160 h 992160"/>
              <a:gd name="connsiteX7" fmla="*/ 0 w 4444584"/>
              <a:gd name="connsiteY7" fmla="*/ 826797 h 992160"/>
              <a:gd name="connsiteX8" fmla="*/ 0 w 4444584"/>
              <a:gd name="connsiteY8" fmla="*/ 165363 h 99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44584" h="992160">
                <a:moveTo>
                  <a:pt x="0" y="165363"/>
                </a:moveTo>
                <a:cubicBezTo>
                  <a:pt x="0" y="74036"/>
                  <a:pt x="74036" y="0"/>
                  <a:pt x="165363" y="0"/>
                </a:cubicBezTo>
                <a:lnTo>
                  <a:pt x="4279221" y="0"/>
                </a:lnTo>
                <a:cubicBezTo>
                  <a:pt x="4370548" y="0"/>
                  <a:pt x="4444584" y="74036"/>
                  <a:pt x="4444584" y="165363"/>
                </a:cubicBezTo>
                <a:lnTo>
                  <a:pt x="4444584" y="826797"/>
                </a:lnTo>
                <a:cubicBezTo>
                  <a:pt x="4444584" y="918124"/>
                  <a:pt x="4370548" y="992160"/>
                  <a:pt x="4279221" y="992160"/>
                </a:cubicBezTo>
                <a:lnTo>
                  <a:pt x="165363" y="992160"/>
                </a:lnTo>
                <a:cubicBezTo>
                  <a:pt x="74036" y="992160"/>
                  <a:pt x="0" y="918124"/>
                  <a:pt x="0" y="826797"/>
                </a:cubicBezTo>
                <a:lnTo>
                  <a:pt x="0" y="165363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Huge volumes </a:t>
            </a:r>
            <a:endParaRPr lang="en-IN" sz="280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F7425F-7CE7-4694-8B32-A862984A1947}"/>
              </a:ext>
            </a:extLst>
          </p:cNvPr>
          <p:cNvSpPr/>
          <p:nvPr/>
        </p:nvSpPr>
        <p:spPr>
          <a:xfrm>
            <a:off x="2309338" y="3714766"/>
            <a:ext cx="4444584" cy="992160"/>
          </a:xfrm>
          <a:custGeom>
            <a:avLst/>
            <a:gdLst>
              <a:gd name="connsiteX0" fmla="*/ 0 w 4444584"/>
              <a:gd name="connsiteY0" fmla="*/ 165363 h 992160"/>
              <a:gd name="connsiteX1" fmla="*/ 165363 w 4444584"/>
              <a:gd name="connsiteY1" fmla="*/ 0 h 992160"/>
              <a:gd name="connsiteX2" fmla="*/ 4279221 w 4444584"/>
              <a:gd name="connsiteY2" fmla="*/ 0 h 992160"/>
              <a:gd name="connsiteX3" fmla="*/ 4444584 w 4444584"/>
              <a:gd name="connsiteY3" fmla="*/ 165363 h 992160"/>
              <a:gd name="connsiteX4" fmla="*/ 4444584 w 4444584"/>
              <a:gd name="connsiteY4" fmla="*/ 826797 h 992160"/>
              <a:gd name="connsiteX5" fmla="*/ 4279221 w 4444584"/>
              <a:gd name="connsiteY5" fmla="*/ 992160 h 992160"/>
              <a:gd name="connsiteX6" fmla="*/ 165363 w 4444584"/>
              <a:gd name="connsiteY6" fmla="*/ 992160 h 992160"/>
              <a:gd name="connsiteX7" fmla="*/ 0 w 4444584"/>
              <a:gd name="connsiteY7" fmla="*/ 826797 h 992160"/>
              <a:gd name="connsiteX8" fmla="*/ 0 w 4444584"/>
              <a:gd name="connsiteY8" fmla="*/ 165363 h 99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44584" h="992160">
                <a:moveTo>
                  <a:pt x="0" y="165363"/>
                </a:moveTo>
                <a:cubicBezTo>
                  <a:pt x="0" y="74036"/>
                  <a:pt x="74036" y="0"/>
                  <a:pt x="165363" y="0"/>
                </a:cubicBezTo>
                <a:lnTo>
                  <a:pt x="4279221" y="0"/>
                </a:lnTo>
                <a:cubicBezTo>
                  <a:pt x="4370548" y="0"/>
                  <a:pt x="4444584" y="74036"/>
                  <a:pt x="4444584" y="165363"/>
                </a:cubicBezTo>
                <a:lnTo>
                  <a:pt x="4444584" y="826797"/>
                </a:lnTo>
                <a:cubicBezTo>
                  <a:pt x="4444584" y="918124"/>
                  <a:pt x="4370548" y="992160"/>
                  <a:pt x="4279221" y="992160"/>
                </a:cubicBezTo>
                <a:lnTo>
                  <a:pt x="165363" y="992160"/>
                </a:lnTo>
                <a:cubicBezTo>
                  <a:pt x="74036" y="992160"/>
                  <a:pt x="0" y="918124"/>
                  <a:pt x="0" y="826797"/>
                </a:cubicBezTo>
                <a:lnTo>
                  <a:pt x="0" y="165363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Data access </a:t>
            </a:r>
            <a:endParaRPr lang="en-IN" sz="280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7B9125-11E8-4626-9BCD-54DDE887077A}"/>
              </a:ext>
            </a:extLst>
          </p:cNvPr>
          <p:cNvSpPr/>
          <p:nvPr/>
        </p:nvSpPr>
        <p:spPr>
          <a:xfrm>
            <a:off x="2309338" y="4859566"/>
            <a:ext cx="4444584" cy="992160"/>
          </a:xfrm>
          <a:custGeom>
            <a:avLst/>
            <a:gdLst>
              <a:gd name="connsiteX0" fmla="*/ 0 w 4444584"/>
              <a:gd name="connsiteY0" fmla="*/ 165363 h 992160"/>
              <a:gd name="connsiteX1" fmla="*/ 165363 w 4444584"/>
              <a:gd name="connsiteY1" fmla="*/ 0 h 992160"/>
              <a:gd name="connsiteX2" fmla="*/ 4279221 w 4444584"/>
              <a:gd name="connsiteY2" fmla="*/ 0 h 992160"/>
              <a:gd name="connsiteX3" fmla="*/ 4444584 w 4444584"/>
              <a:gd name="connsiteY3" fmla="*/ 165363 h 992160"/>
              <a:gd name="connsiteX4" fmla="*/ 4444584 w 4444584"/>
              <a:gd name="connsiteY4" fmla="*/ 826797 h 992160"/>
              <a:gd name="connsiteX5" fmla="*/ 4279221 w 4444584"/>
              <a:gd name="connsiteY5" fmla="*/ 992160 h 992160"/>
              <a:gd name="connsiteX6" fmla="*/ 165363 w 4444584"/>
              <a:gd name="connsiteY6" fmla="*/ 992160 h 992160"/>
              <a:gd name="connsiteX7" fmla="*/ 0 w 4444584"/>
              <a:gd name="connsiteY7" fmla="*/ 826797 h 992160"/>
              <a:gd name="connsiteX8" fmla="*/ 0 w 4444584"/>
              <a:gd name="connsiteY8" fmla="*/ 165363 h 99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44584" h="992160">
                <a:moveTo>
                  <a:pt x="0" y="165363"/>
                </a:moveTo>
                <a:cubicBezTo>
                  <a:pt x="0" y="74036"/>
                  <a:pt x="74036" y="0"/>
                  <a:pt x="165363" y="0"/>
                </a:cubicBezTo>
                <a:lnTo>
                  <a:pt x="4279221" y="0"/>
                </a:lnTo>
                <a:cubicBezTo>
                  <a:pt x="4370548" y="0"/>
                  <a:pt x="4444584" y="74036"/>
                  <a:pt x="4444584" y="165363"/>
                </a:cubicBezTo>
                <a:lnTo>
                  <a:pt x="4444584" y="826797"/>
                </a:lnTo>
                <a:cubicBezTo>
                  <a:pt x="4444584" y="918124"/>
                  <a:pt x="4370548" y="992160"/>
                  <a:pt x="4279221" y="992160"/>
                </a:cubicBezTo>
                <a:lnTo>
                  <a:pt x="165363" y="992160"/>
                </a:lnTo>
                <a:cubicBezTo>
                  <a:pt x="74036" y="992160"/>
                  <a:pt x="0" y="918124"/>
                  <a:pt x="0" y="826797"/>
                </a:cubicBezTo>
                <a:lnTo>
                  <a:pt x="0" y="165363"/>
                </a:lnTo>
                <a:close/>
              </a:path>
            </a:pathLst>
          </a:custGeom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5113" tIns="155113" rIns="155113" bIns="155113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>
                <a:latin typeface="Bahnschrift" panose="020B0502040204020203" pitchFamily="34" charset="0"/>
              </a:rPr>
              <a:t>Cost-effective </a:t>
            </a:r>
            <a:endParaRPr lang="en-IN" sz="2800" kern="120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83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1A4797-8BA9-4DB8-B669-CC770582C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b="0" i="0" dirty="0">
                <a:effectLst/>
                <a:latin typeface="Bahnschrift" panose="020B0502040204020203" pitchFamily="34" charset="0"/>
              </a:rPr>
              <a:t>Hadoop Components and Domains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59E967E-F8FB-4EE9-879F-DD2B6DDA9799}"/>
              </a:ext>
            </a:extLst>
          </p:cNvPr>
          <p:cNvSpPr/>
          <p:nvPr/>
        </p:nvSpPr>
        <p:spPr>
          <a:xfrm>
            <a:off x="529218" y="1772994"/>
            <a:ext cx="8085561" cy="1923642"/>
          </a:xfrm>
          <a:custGeom>
            <a:avLst/>
            <a:gdLst>
              <a:gd name="connsiteX0" fmla="*/ 0 w 8085561"/>
              <a:gd name="connsiteY0" fmla="*/ 192364 h 1923642"/>
              <a:gd name="connsiteX1" fmla="*/ 192364 w 8085561"/>
              <a:gd name="connsiteY1" fmla="*/ 0 h 1923642"/>
              <a:gd name="connsiteX2" fmla="*/ 7893197 w 8085561"/>
              <a:gd name="connsiteY2" fmla="*/ 0 h 1923642"/>
              <a:gd name="connsiteX3" fmla="*/ 8085561 w 8085561"/>
              <a:gd name="connsiteY3" fmla="*/ 192364 h 1923642"/>
              <a:gd name="connsiteX4" fmla="*/ 8085561 w 8085561"/>
              <a:gd name="connsiteY4" fmla="*/ 1731278 h 1923642"/>
              <a:gd name="connsiteX5" fmla="*/ 7893197 w 8085561"/>
              <a:gd name="connsiteY5" fmla="*/ 1923642 h 1923642"/>
              <a:gd name="connsiteX6" fmla="*/ 192364 w 8085561"/>
              <a:gd name="connsiteY6" fmla="*/ 1923642 h 1923642"/>
              <a:gd name="connsiteX7" fmla="*/ 0 w 8085561"/>
              <a:gd name="connsiteY7" fmla="*/ 1731278 h 1923642"/>
              <a:gd name="connsiteX8" fmla="*/ 0 w 8085561"/>
              <a:gd name="connsiteY8" fmla="*/ 192364 h 192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85561" h="1923642">
                <a:moveTo>
                  <a:pt x="0" y="192364"/>
                </a:moveTo>
                <a:cubicBezTo>
                  <a:pt x="0" y="86124"/>
                  <a:pt x="86124" y="0"/>
                  <a:pt x="192364" y="0"/>
                </a:cubicBezTo>
                <a:lnTo>
                  <a:pt x="7893197" y="0"/>
                </a:lnTo>
                <a:cubicBezTo>
                  <a:pt x="7999437" y="0"/>
                  <a:pt x="8085561" y="86124"/>
                  <a:pt x="8085561" y="192364"/>
                </a:cubicBezTo>
                <a:lnTo>
                  <a:pt x="8085561" y="1731278"/>
                </a:lnTo>
                <a:cubicBezTo>
                  <a:pt x="8085561" y="1837518"/>
                  <a:pt x="7999437" y="1923642"/>
                  <a:pt x="7893197" y="1923642"/>
                </a:cubicBezTo>
                <a:lnTo>
                  <a:pt x="192364" y="1923642"/>
                </a:lnTo>
                <a:cubicBezTo>
                  <a:pt x="86124" y="1923642"/>
                  <a:pt x="0" y="1837518"/>
                  <a:pt x="0" y="1731278"/>
                </a:cubicBezTo>
                <a:lnTo>
                  <a:pt x="0" y="192364"/>
                </a:lnTo>
                <a:close/>
              </a:path>
            </a:pathLst>
          </a:custGeom>
          <a:gradFill>
            <a:gsLst>
              <a:gs pos="0">
                <a:srgbClr val="637883"/>
              </a:gs>
              <a:gs pos="51000">
                <a:srgbClr val="44525A"/>
              </a:gs>
              <a:gs pos="100000">
                <a:srgbClr val="333D43"/>
              </a:gs>
            </a:gsLst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3">
            <a:schemeClr val="dk2">
              <a:hueOff val="0"/>
              <a:satOff val="0"/>
              <a:lumOff val="0"/>
              <a:alphaOff val="0"/>
            </a:schemeClr>
          </a:fillRef>
          <a:effectRef idx="3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022" tIns="163022" rIns="163022" bIns="163022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0" i="0" kern="1200" dirty="0">
                <a:effectLst/>
                <a:latin typeface="Bahnschrift" panose="020B0502040204020203" pitchFamily="34" charset="0"/>
              </a:rPr>
              <a:t>Hadoop consists of three layers (core components) and they are:-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30ABF67-6B85-46C0-8FED-09428500D614}"/>
              </a:ext>
            </a:extLst>
          </p:cNvPr>
          <p:cNvSpPr/>
          <p:nvPr/>
        </p:nvSpPr>
        <p:spPr>
          <a:xfrm>
            <a:off x="529218" y="3949302"/>
            <a:ext cx="2552260" cy="2751008"/>
          </a:xfrm>
          <a:custGeom>
            <a:avLst/>
            <a:gdLst>
              <a:gd name="connsiteX0" fmla="*/ 0 w 2552260"/>
              <a:gd name="connsiteY0" fmla="*/ 255226 h 2751008"/>
              <a:gd name="connsiteX1" fmla="*/ 255226 w 2552260"/>
              <a:gd name="connsiteY1" fmla="*/ 0 h 2751008"/>
              <a:gd name="connsiteX2" fmla="*/ 2297034 w 2552260"/>
              <a:gd name="connsiteY2" fmla="*/ 0 h 2751008"/>
              <a:gd name="connsiteX3" fmla="*/ 2552260 w 2552260"/>
              <a:gd name="connsiteY3" fmla="*/ 255226 h 2751008"/>
              <a:gd name="connsiteX4" fmla="*/ 2552260 w 2552260"/>
              <a:gd name="connsiteY4" fmla="*/ 2495782 h 2751008"/>
              <a:gd name="connsiteX5" fmla="*/ 2297034 w 2552260"/>
              <a:gd name="connsiteY5" fmla="*/ 2751008 h 2751008"/>
              <a:gd name="connsiteX6" fmla="*/ 255226 w 2552260"/>
              <a:gd name="connsiteY6" fmla="*/ 2751008 h 2751008"/>
              <a:gd name="connsiteX7" fmla="*/ 0 w 2552260"/>
              <a:gd name="connsiteY7" fmla="*/ 2495782 h 2751008"/>
              <a:gd name="connsiteX8" fmla="*/ 0 w 2552260"/>
              <a:gd name="connsiteY8" fmla="*/ 255226 h 2751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2260" h="2751008">
                <a:moveTo>
                  <a:pt x="0" y="255226"/>
                </a:moveTo>
                <a:cubicBezTo>
                  <a:pt x="0" y="114269"/>
                  <a:pt x="114269" y="0"/>
                  <a:pt x="255226" y="0"/>
                </a:cubicBezTo>
                <a:lnTo>
                  <a:pt x="2297034" y="0"/>
                </a:lnTo>
                <a:cubicBezTo>
                  <a:pt x="2437991" y="0"/>
                  <a:pt x="2552260" y="114269"/>
                  <a:pt x="2552260" y="255226"/>
                </a:cubicBezTo>
                <a:lnTo>
                  <a:pt x="2552260" y="2495782"/>
                </a:lnTo>
                <a:cubicBezTo>
                  <a:pt x="2552260" y="2636739"/>
                  <a:pt x="2437991" y="2751008"/>
                  <a:pt x="2297034" y="2751008"/>
                </a:cubicBezTo>
                <a:lnTo>
                  <a:pt x="255226" y="2751008"/>
                </a:lnTo>
                <a:cubicBezTo>
                  <a:pt x="114269" y="2751008"/>
                  <a:pt x="0" y="2636739"/>
                  <a:pt x="0" y="2495782"/>
                </a:cubicBezTo>
                <a:lnTo>
                  <a:pt x="0" y="255226"/>
                </a:lnTo>
                <a:close/>
              </a:path>
            </a:pathLst>
          </a:custGeom>
          <a:gradFill>
            <a:gsLst>
              <a:gs pos="0">
                <a:srgbClr val="637883">
                  <a:alpha val="77000"/>
                </a:srgbClr>
              </a:gs>
              <a:gs pos="51000">
                <a:srgbClr val="44525A">
                  <a:alpha val="62000"/>
                </a:srgbClr>
              </a:gs>
              <a:gs pos="100000">
                <a:srgbClr val="333D43">
                  <a:alpha val="67000"/>
                </a:srgbClr>
              </a:gs>
            </a:gsLst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3">
            <a:schemeClr val="dk2">
              <a:hueOff val="0"/>
              <a:satOff val="0"/>
              <a:lumOff val="0"/>
              <a:alphaOff val="0"/>
            </a:schemeClr>
          </a:fillRef>
          <a:effectRef idx="3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022" tIns="163022" rIns="163022" bIns="163022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800" dirty="0">
                <a:latin typeface="Bahnschrift" panose="020B0502040204020203" pitchFamily="34" charset="0"/>
              </a:rPr>
              <a:t>HDFS – Hadoop Distributed </a:t>
            </a:r>
            <a:r>
              <a:rPr lang="en-IN" sz="2800">
                <a:latin typeface="Bahnschrift" panose="020B0502040204020203" pitchFamily="34" charset="0"/>
              </a:rPr>
              <a:t>File System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3F37EA6-9CE0-4EC4-9299-0F7FD4E2DEAD}"/>
              </a:ext>
            </a:extLst>
          </p:cNvPr>
          <p:cNvSpPr/>
          <p:nvPr/>
        </p:nvSpPr>
        <p:spPr>
          <a:xfrm>
            <a:off x="3295869" y="3949302"/>
            <a:ext cx="2552260" cy="2751008"/>
          </a:xfrm>
          <a:custGeom>
            <a:avLst/>
            <a:gdLst>
              <a:gd name="connsiteX0" fmla="*/ 0 w 2552260"/>
              <a:gd name="connsiteY0" fmla="*/ 255226 h 2751008"/>
              <a:gd name="connsiteX1" fmla="*/ 255226 w 2552260"/>
              <a:gd name="connsiteY1" fmla="*/ 0 h 2751008"/>
              <a:gd name="connsiteX2" fmla="*/ 2297034 w 2552260"/>
              <a:gd name="connsiteY2" fmla="*/ 0 h 2751008"/>
              <a:gd name="connsiteX3" fmla="*/ 2552260 w 2552260"/>
              <a:gd name="connsiteY3" fmla="*/ 255226 h 2751008"/>
              <a:gd name="connsiteX4" fmla="*/ 2552260 w 2552260"/>
              <a:gd name="connsiteY4" fmla="*/ 2495782 h 2751008"/>
              <a:gd name="connsiteX5" fmla="*/ 2297034 w 2552260"/>
              <a:gd name="connsiteY5" fmla="*/ 2751008 h 2751008"/>
              <a:gd name="connsiteX6" fmla="*/ 255226 w 2552260"/>
              <a:gd name="connsiteY6" fmla="*/ 2751008 h 2751008"/>
              <a:gd name="connsiteX7" fmla="*/ 0 w 2552260"/>
              <a:gd name="connsiteY7" fmla="*/ 2495782 h 2751008"/>
              <a:gd name="connsiteX8" fmla="*/ 0 w 2552260"/>
              <a:gd name="connsiteY8" fmla="*/ 255226 h 2751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2260" h="2751008">
                <a:moveTo>
                  <a:pt x="0" y="255226"/>
                </a:moveTo>
                <a:cubicBezTo>
                  <a:pt x="0" y="114269"/>
                  <a:pt x="114269" y="0"/>
                  <a:pt x="255226" y="0"/>
                </a:cubicBezTo>
                <a:lnTo>
                  <a:pt x="2297034" y="0"/>
                </a:lnTo>
                <a:cubicBezTo>
                  <a:pt x="2437991" y="0"/>
                  <a:pt x="2552260" y="114269"/>
                  <a:pt x="2552260" y="255226"/>
                </a:cubicBezTo>
                <a:lnTo>
                  <a:pt x="2552260" y="2495782"/>
                </a:lnTo>
                <a:cubicBezTo>
                  <a:pt x="2552260" y="2636739"/>
                  <a:pt x="2437991" y="2751008"/>
                  <a:pt x="2297034" y="2751008"/>
                </a:cubicBezTo>
                <a:lnTo>
                  <a:pt x="255226" y="2751008"/>
                </a:lnTo>
                <a:cubicBezTo>
                  <a:pt x="114269" y="2751008"/>
                  <a:pt x="0" y="2636739"/>
                  <a:pt x="0" y="2495782"/>
                </a:cubicBezTo>
                <a:lnTo>
                  <a:pt x="0" y="255226"/>
                </a:lnTo>
                <a:close/>
              </a:path>
            </a:pathLst>
          </a:custGeom>
          <a:gradFill>
            <a:gsLst>
              <a:gs pos="0">
                <a:srgbClr val="637883">
                  <a:alpha val="77000"/>
                </a:srgbClr>
              </a:gs>
              <a:gs pos="51000">
                <a:srgbClr val="44525A">
                  <a:alpha val="62000"/>
                </a:srgbClr>
              </a:gs>
              <a:gs pos="100000">
                <a:srgbClr val="333D43">
                  <a:alpha val="67000"/>
                </a:srgbClr>
              </a:gs>
            </a:gsLst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3">
            <a:schemeClr val="dk2">
              <a:hueOff val="0"/>
              <a:satOff val="0"/>
              <a:lumOff val="0"/>
              <a:alphaOff val="0"/>
            </a:schemeClr>
          </a:fillRef>
          <a:effectRef idx="3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022" tIns="163022" rIns="163022" bIns="163022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800">
                <a:latin typeface="Bahnschrift" panose="020B0502040204020203" pitchFamily="34" charset="0"/>
              </a:rPr>
              <a:t>MapReduce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D03A95-CCBF-45AF-9137-6E50173617DE}"/>
              </a:ext>
            </a:extLst>
          </p:cNvPr>
          <p:cNvSpPr/>
          <p:nvPr/>
        </p:nvSpPr>
        <p:spPr>
          <a:xfrm>
            <a:off x="6062519" y="3949302"/>
            <a:ext cx="2552260" cy="2751008"/>
          </a:xfrm>
          <a:custGeom>
            <a:avLst/>
            <a:gdLst>
              <a:gd name="connsiteX0" fmla="*/ 0 w 2552260"/>
              <a:gd name="connsiteY0" fmla="*/ 255226 h 2751008"/>
              <a:gd name="connsiteX1" fmla="*/ 255226 w 2552260"/>
              <a:gd name="connsiteY1" fmla="*/ 0 h 2751008"/>
              <a:gd name="connsiteX2" fmla="*/ 2297034 w 2552260"/>
              <a:gd name="connsiteY2" fmla="*/ 0 h 2751008"/>
              <a:gd name="connsiteX3" fmla="*/ 2552260 w 2552260"/>
              <a:gd name="connsiteY3" fmla="*/ 255226 h 2751008"/>
              <a:gd name="connsiteX4" fmla="*/ 2552260 w 2552260"/>
              <a:gd name="connsiteY4" fmla="*/ 2495782 h 2751008"/>
              <a:gd name="connsiteX5" fmla="*/ 2297034 w 2552260"/>
              <a:gd name="connsiteY5" fmla="*/ 2751008 h 2751008"/>
              <a:gd name="connsiteX6" fmla="*/ 255226 w 2552260"/>
              <a:gd name="connsiteY6" fmla="*/ 2751008 h 2751008"/>
              <a:gd name="connsiteX7" fmla="*/ 0 w 2552260"/>
              <a:gd name="connsiteY7" fmla="*/ 2495782 h 2751008"/>
              <a:gd name="connsiteX8" fmla="*/ 0 w 2552260"/>
              <a:gd name="connsiteY8" fmla="*/ 255226 h 2751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2260" h="2751008">
                <a:moveTo>
                  <a:pt x="0" y="255226"/>
                </a:moveTo>
                <a:cubicBezTo>
                  <a:pt x="0" y="114269"/>
                  <a:pt x="114269" y="0"/>
                  <a:pt x="255226" y="0"/>
                </a:cubicBezTo>
                <a:lnTo>
                  <a:pt x="2297034" y="0"/>
                </a:lnTo>
                <a:cubicBezTo>
                  <a:pt x="2437991" y="0"/>
                  <a:pt x="2552260" y="114269"/>
                  <a:pt x="2552260" y="255226"/>
                </a:cubicBezTo>
                <a:lnTo>
                  <a:pt x="2552260" y="2495782"/>
                </a:lnTo>
                <a:cubicBezTo>
                  <a:pt x="2552260" y="2636739"/>
                  <a:pt x="2437991" y="2751008"/>
                  <a:pt x="2297034" y="2751008"/>
                </a:cubicBezTo>
                <a:lnTo>
                  <a:pt x="255226" y="2751008"/>
                </a:lnTo>
                <a:cubicBezTo>
                  <a:pt x="114269" y="2751008"/>
                  <a:pt x="0" y="2636739"/>
                  <a:pt x="0" y="2495782"/>
                </a:cubicBezTo>
                <a:lnTo>
                  <a:pt x="0" y="255226"/>
                </a:lnTo>
                <a:close/>
              </a:path>
            </a:pathLst>
          </a:custGeom>
          <a:gradFill>
            <a:gsLst>
              <a:gs pos="0">
                <a:srgbClr val="637883">
                  <a:alpha val="77000"/>
                </a:srgbClr>
              </a:gs>
              <a:gs pos="51000">
                <a:srgbClr val="44525A">
                  <a:alpha val="62000"/>
                </a:srgbClr>
              </a:gs>
              <a:gs pos="100000">
                <a:srgbClr val="333D43">
                  <a:alpha val="67000"/>
                </a:srgbClr>
              </a:gs>
            </a:gsLst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3">
            <a:schemeClr val="dk2">
              <a:hueOff val="0"/>
              <a:satOff val="0"/>
              <a:lumOff val="0"/>
              <a:alphaOff val="0"/>
            </a:schemeClr>
          </a:fillRef>
          <a:effectRef idx="3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022" tIns="163022" rIns="163022" bIns="163022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Bahnschrift" panose="020B0502040204020203" pitchFamily="34" charset="0"/>
              </a:rPr>
              <a:t>Yarn – Yet Another Resource Manager</a:t>
            </a: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76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D2D876-A621-46C1-9C8E-7B49F00D2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</a:t>
            </a:r>
            <a:r>
              <a:rPr lang="en-US" b="0" i="0" dirty="0">
                <a:effectLst/>
              </a:rPr>
              <a:t>he storage of Hadoop. </a:t>
            </a:r>
          </a:p>
          <a:p>
            <a:pPr algn="just"/>
            <a:r>
              <a:rPr lang="en-US" dirty="0"/>
              <a:t>S</a:t>
            </a:r>
            <a:r>
              <a:rPr lang="en-US" b="0" i="0" dirty="0">
                <a:effectLst/>
              </a:rPr>
              <a:t>tores the data in a distributed manner. </a:t>
            </a:r>
          </a:p>
          <a:p>
            <a:pPr algn="just"/>
            <a:r>
              <a:rPr lang="en-US" b="0" i="0" dirty="0">
                <a:effectLst/>
              </a:rPr>
              <a:t>The file gets divided into a number of blocks.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DD03D7-6C9C-4F48-9C22-A061C529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711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D2D876-A621-46C1-9C8E-7B49F00D2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DD03D7-6C9C-4F48-9C22-A061C529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066BB-A982-465C-A2CF-4E7509FE5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027" y="2479999"/>
            <a:ext cx="6081946" cy="389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12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D2D876-A621-46C1-9C8E-7B49F00D2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DD03D7-6C9C-4F48-9C22-A061C529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066BB-A982-465C-A2CF-4E7509FE5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1" y="2772229"/>
            <a:ext cx="4375884" cy="2957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32D151-27AC-42F5-A673-75F7D5DEE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516" y="2772230"/>
            <a:ext cx="3886254" cy="295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49165"/>
      </p:ext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DD03D7-6C9C-4F48-9C22-A061C529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Hadoop Components</a:t>
            </a:r>
            <a:endParaRPr dirty="0"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499335-890B-414A-B260-102F99EB8F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" r="52"/>
          <a:stretch/>
        </p:blipFill>
        <p:spPr>
          <a:xfrm>
            <a:off x="0" y="1788435"/>
            <a:ext cx="3415857" cy="508201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D2D876-A621-46C1-9C8E-7B49F00D2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4074" y="1562987"/>
            <a:ext cx="5630825" cy="4010499"/>
          </a:xfrm>
        </p:spPr>
        <p:txBody>
          <a:bodyPr anchor="ctr"/>
          <a:lstStyle/>
          <a:p>
            <a:pPr algn="just"/>
            <a:r>
              <a:rPr dirty="0" lang="en-US"/>
              <a:t>W</a:t>
            </a:r>
            <a:r>
              <a:rPr b="0" dirty="0" i="0" lang="en-US">
                <a:effectLst/>
              </a:rPr>
              <a:t>hy such a huge amount in a single block?</a:t>
            </a:r>
          </a:p>
          <a:p>
            <a:pPr algn="just"/>
            <a:r>
              <a:rPr b="0" dirty="0" i="0" lang="en-US">
                <a:effectLst/>
              </a:rPr>
              <a:t>Why not multiple blocks of 10KB each?</a:t>
            </a:r>
            <a:endParaRPr dirty="0" lang="en-IN"/>
          </a:p>
        </p:txBody>
      </p:sp>
    </p:spTree>
    <p:extLst>
      <p:ext uri="{BB962C8B-B14F-4D97-AF65-F5344CB8AC3E}">
        <p14:creationId xmlns:p14="http://schemas.microsoft.com/office/powerpoint/2010/main" val="1053329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D2D876-A621-46C1-9C8E-7B49F00D2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35395"/>
            <a:ext cx="8603619" cy="51976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effectLst/>
              </a:rPr>
              <a:t>There are several perks to storing data in blocks rather than saving the complete file.</a:t>
            </a:r>
          </a:p>
          <a:p>
            <a:pPr algn="just"/>
            <a:r>
              <a:rPr lang="en-US" b="0" i="0" dirty="0">
                <a:effectLst/>
              </a:rPr>
              <a:t> The file itself would be too large to store on any single disk alone.</a:t>
            </a:r>
          </a:p>
          <a:p>
            <a:pPr algn="just"/>
            <a:r>
              <a:rPr lang="en-US" dirty="0"/>
              <a:t>P</a:t>
            </a:r>
            <a:r>
              <a:rPr lang="en-US" b="0" i="0" dirty="0">
                <a:effectLst/>
              </a:rPr>
              <a:t>roper spread of the workload </a:t>
            </a:r>
          </a:p>
          <a:p>
            <a:pPr algn="just"/>
            <a:r>
              <a:rPr lang="en-US" dirty="0"/>
              <a:t>P</a:t>
            </a:r>
            <a:r>
              <a:rPr lang="en-US" b="0" i="0" dirty="0">
                <a:effectLst/>
              </a:rPr>
              <a:t>revent the choke of a single machine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DD03D7-6C9C-4F48-9C22-A061C529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249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32BC28-E2FE-45BE-BDBC-C419D34F4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1484" y="2307771"/>
            <a:ext cx="6701032" cy="406399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1C5A0F-DC12-4528-886D-5441B193AF5C}"/>
              </a:ext>
            </a:extLst>
          </p:cNvPr>
          <p:cNvSpPr/>
          <p:nvPr/>
        </p:nvSpPr>
        <p:spPr>
          <a:xfrm>
            <a:off x="4146698" y="4593265"/>
            <a:ext cx="776176" cy="287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2138E6-232D-4B57-A164-9C0DB6C79E09}"/>
              </a:ext>
            </a:extLst>
          </p:cNvPr>
          <p:cNvSpPr txBox="1"/>
          <p:nvPr/>
        </p:nvSpPr>
        <p:spPr>
          <a:xfrm>
            <a:off x="0" y="1489444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Bahnschrift" panose="020B0502040204020203" pitchFamily="34" charset="0"/>
              </a:rPr>
              <a:t>The HDFS comprises the following components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642440"/>
      </p:ext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Hadoop Components</a:t>
            </a:r>
            <a:endParaRPr dirty="0"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CDCB9-73C4-4CF1-A8DF-A0C14FD22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9144000" cy="5312817"/>
          </a:xfrm>
        </p:spPr>
        <p:txBody>
          <a:bodyPr>
            <a:normAutofit/>
          </a:bodyPr>
          <a:lstStyle/>
          <a:p>
            <a:pPr algn="ctr" indent="0" marL="0">
              <a:buNone/>
            </a:pPr>
            <a:r>
              <a:rPr dirty="0" err="1" i="0" lang="en-IN">
                <a:effectLst/>
              </a:rPr>
              <a:t>Namenode</a:t>
            </a:r>
            <a:r>
              <a:rPr dirty="0" i="0" lang="en-IN">
                <a:effectLst/>
              </a:rPr>
              <a:t> in HDFS</a:t>
            </a:r>
          </a:p>
          <a:p>
            <a:pPr algn="ctr" indent="0" marL="0">
              <a:buNone/>
            </a:pPr>
            <a:endParaRPr dirty="0"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2636E3-7854-4BA3-8A2A-1ECD9347CE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r="-59"/>
          <a:stretch/>
        </p:blipFill>
        <p:spPr>
          <a:xfrm>
            <a:off x="506593" y="2462440"/>
            <a:ext cx="8218306" cy="398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02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CDCB9-73C4-4CF1-A8DF-A0C14FD22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633496"/>
            <a:ext cx="8386537" cy="13255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i="0" dirty="0" err="1">
                <a:solidFill>
                  <a:srgbClr val="C00000"/>
                </a:solidFill>
                <a:effectLst/>
              </a:rPr>
              <a:t>Namenode</a:t>
            </a:r>
            <a:r>
              <a:rPr lang="en-US" b="0" i="0" dirty="0">
                <a:effectLst/>
              </a:rPr>
              <a:t> is the master node that runs on a separate node in the cluster.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8E73914-6F0E-48C6-8823-E0DAA4C64D4B}"/>
              </a:ext>
            </a:extLst>
          </p:cNvPr>
          <p:cNvSpPr/>
          <p:nvPr/>
        </p:nvSpPr>
        <p:spPr>
          <a:xfrm>
            <a:off x="1150495" y="3286079"/>
            <a:ext cx="6843010" cy="823680"/>
          </a:xfrm>
          <a:custGeom>
            <a:avLst/>
            <a:gdLst>
              <a:gd name="connsiteX0" fmla="*/ 0 w 6843010"/>
              <a:gd name="connsiteY0" fmla="*/ 137283 h 823680"/>
              <a:gd name="connsiteX1" fmla="*/ 137283 w 6843010"/>
              <a:gd name="connsiteY1" fmla="*/ 0 h 823680"/>
              <a:gd name="connsiteX2" fmla="*/ 6705727 w 6843010"/>
              <a:gd name="connsiteY2" fmla="*/ 0 h 823680"/>
              <a:gd name="connsiteX3" fmla="*/ 6843010 w 6843010"/>
              <a:gd name="connsiteY3" fmla="*/ 137283 h 823680"/>
              <a:gd name="connsiteX4" fmla="*/ 6843010 w 6843010"/>
              <a:gd name="connsiteY4" fmla="*/ 686397 h 823680"/>
              <a:gd name="connsiteX5" fmla="*/ 6705727 w 6843010"/>
              <a:gd name="connsiteY5" fmla="*/ 823680 h 823680"/>
              <a:gd name="connsiteX6" fmla="*/ 137283 w 6843010"/>
              <a:gd name="connsiteY6" fmla="*/ 823680 h 823680"/>
              <a:gd name="connsiteX7" fmla="*/ 0 w 6843010"/>
              <a:gd name="connsiteY7" fmla="*/ 686397 h 823680"/>
              <a:gd name="connsiteX8" fmla="*/ 0 w 6843010"/>
              <a:gd name="connsiteY8" fmla="*/ 137283 h 82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3010" h="823680">
                <a:moveTo>
                  <a:pt x="0" y="137283"/>
                </a:moveTo>
                <a:cubicBezTo>
                  <a:pt x="0" y="61464"/>
                  <a:pt x="61464" y="0"/>
                  <a:pt x="137283" y="0"/>
                </a:cubicBezTo>
                <a:lnTo>
                  <a:pt x="6705727" y="0"/>
                </a:lnTo>
                <a:cubicBezTo>
                  <a:pt x="6781546" y="0"/>
                  <a:pt x="6843010" y="61464"/>
                  <a:pt x="6843010" y="137283"/>
                </a:cubicBezTo>
                <a:lnTo>
                  <a:pt x="6843010" y="686397"/>
                </a:lnTo>
                <a:cubicBezTo>
                  <a:pt x="6843010" y="762216"/>
                  <a:pt x="6781546" y="823680"/>
                  <a:pt x="6705727" y="823680"/>
                </a:cubicBezTo>
                <a:lnTo>
                  <a:pt x="137283" y="823680"/>
                </a:lnTo>
                <a:cubicBezTo>
                  <a:pt x="61464" y="823680"/>
                  <a:pt x="0" y="762216"/>
                  <a:pt x="0" y="686397"/>
                </a:cubicBezTo>
                <a:lnTo>
                  <a:pt x="0" y="137283"/>
                </a:lnTo>
                <a:close/>
              </a:path>
            </a:pathLst>
          </a:custGeom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6889" tIns="146889" rIns="146889" bIns="146889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b="0" i="0" kern="1200">
                <a:latin typeface="Bahnschrift" panose="020B0502040204020203" pitchFamily="34" charset="0"/>
              </a:rPr>
              <a:t>Manages the filesystem namespace </a:t>
            </a:r>
            <a:endParaRPr lang="en-IN" sz="2800" kern="1200">
              <a:latin typeface="Bahnschrift" panose="020B0502040204020203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52DD2D-A7E6-4111-9594-A98805DE54D1}"/>
              </a:ext>
            </a:extLst>
          </p:cNvPr>
          <p:cNvSpPr/>
          <p:nvPr/>
        </p:nvSpPr>
        <p:spPr>
          <a:xfrm>
            <a:off x="1150495" y="4236479"/>
            <a:ext cx="6843010" cy="823680"/>
          </a:xfrm>
          <a:custGeom>
            <a:avLst/>
            <a:gdLst>
              <a:gd name="connsiteX0" fmla="*/ 0 w 6843010"/>
              <a:gd name="connsiteY0" fmla="*/ 137283 h 823680"/>
              <a:gd name="connsiteX1" fmla="*/ 137283 w 6843010"/>
              <a:gd name="connsiteY1" fmla="*/ 0 h 823680"/>
              <a:gd name="connsiteX2" fmla="*/ 6705727 w 6843010"/>
              <a:gd name="connsiteY2" fmla="*/ 0 h 823680"/>
              <a:gd name="connsiteX3" fmla="*/ 6843010 w 6843010"/>
              <a:gd name="connsiteY3" fmla="*/ 137283 h 823680"/>
              <a:gd name="connsiteX4" fmla="*/ 6843010 w 6843010"/>
              <a:gd name="connsiteY4" fmla="*/ 686397 h 823680"/>
              <a:gd name="connsiteX5" fmla="*/ 6705727 w 6843010"/>
              <a:gd name="connsiteY5" fmla="*/ 823680 h 823680"/>
              <a:gd name="connsiteX6" fmla="*/ 137283 w 6843010"/>
              <a:gd name="connsiteY6" fmla="*/ 823680 h 823680"/>
              <a:gd name="connsiteX7" fmla="*/ 0 w 6843010"/>
              <a:gd name="connsiteY7" fmla="*/ 686397 h 823680"/>
              <a:gd name="connsiteX8" fmla="*/ 0 w 6843010"/>
              <a:gd name="connsiteY8" fmla="*/ 137283 h 82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3010" h="823680">
                <a:moveTo>
                  <a:pt x="0" y="137283"/>
                </a:moveTo>
                <a:cubicBezTo>
                  <a:pt x="0" y="61464"/>
                  <a:pt x="61464" y="0"/>
                  <a:pt x="137283" y="0"/>
                </a:cubicBezTo>
                <a:lnTo>
                  <a:pt x="6705727" y="0"/>
                </a:lnTo>
                <a:cubicBezTo>
                  <a:pt x="6781546" y="0"/>
                  <a:pt x="6843010" y="61464"/>
                  <a:pt x="6843010" y="137283"/>
                </a:cubicBezTo>
                <a:lnTo>
                  <a:pt x="6843010" y="686397"/>
                </a:lnTo>
                <a:cubicBezTo>
                  <a:pt x="6843010" y="762216"/>
                  <a:pt x="6781546" y="823680"/>
                  <a:pt x="6705727" y="823680"/>
                </a:cubicBezTo>
                <a:lnTo>
                  <a:pt x="137283" y="823680"/>
                </a:lnTo>
                <a:cubicBezTo>
                  <a:pt x="61464" y="823680"/>
                  <a:pt x="0" y="762216"/>
                  <a:pt x="0" y="686397"/>
                </a:cubicBezTo>
                <a:lnTo>
                  <a:pt x="0" y="137283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Stores information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90EB5D3-74B5-459B-A83F-38E624B7C1B7}"/>
              </a:ext>
            </a:extLst>
          </p:cNvPr>
          <p:cNvSpPr/>
          <p:nvPr/>
        </p:nvSpPr>
        <p:spPr>
          <a:xfrm>
            <a:off x="1150495" y="5186879"/>
            <a:ext cx="6843010" cy="823680"/>
          </a:xfrm>
          <a:custGeom>
            <a:avLst/>
            <a:gdLst>
              <a:gd name="connsiteX0" fmla="*/ 0 w 6843010"/>
              <a:gd name="connsiteY0" fmla="*/ 137283 h 823680"/>
              <a:gd name="connsiteX1" fmla="*/ 137283 w 6843010"/>
              <a:gd name="connsiteY1" fmla="*/ 0 h 823680"/>
              <a:gd name="connsiteX2" fmla="*/ 6705727 w 6843010"/>
              <a:gd name="connsiteY2" fmla="*/ 0 h 823680"/>
              <a:gd name="connsiteX3" fmla="*/ 6843010 w 6843010"/>
              <a:gd name="connsiteY3" fmla="*/ 137283 h 823680"/>
              <a:gd name="connsiteX4" fmla="*/ 6843010 w 6843010"/>
              <a:gd name="connsiteY4" fmla="*/ 686397 h 823680"/>
              <a:gd name="connsiteX5" fmla="*/ 6705727 w 6843010"/>
              <a:gd name="connsiteY5" fmla="*/ 823680 h 823680"/>
              <a:gd name="connsiteX6" fmla="*/ 137283 w 6843010"/>
              <a:gd name="connsiteY6" fmla="*/ 823680 h 823680"/>
              <a:gd name="connsiteX7" fmla="*/ 0 w 6843010"/>
              <a:gd name="connsiteY7" fmla="*/ 686397 h 823680"/>
              <a:gd name="connsiteX8" fmla="*/ 0 w 6843010"/>
              <a:gd name="connsiteY8" fmla="*/ 137283 h 82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3010" h="823680">
                <a:moveTo>
                  <a:pt x="0" y="137283"/>
                </a:moveTo>
                <a:cubicBezTo>
                  <a:pt x="0" y="61464"/>
                  <a:pt x="61464" y="0"/>
                  <a:pt x="137283" y="0"/>
                </a:cubicBezTo>
                <a:lnTo>
                  <a:pt x="6705727" y="0"/>
                </a:lnTo>
                <a:cubicBezTo>
                  <a:pt x="6781546" y="0"/>
                  <a:pt x="6843010" y="61464"/>
                  <a:pt x="6843010" y="137283"/>
                </a:cubicBezTo>
                <a:lnTo>
                  <a:pt x="6843010" y="686397"/>
                </a:lnTo>
                <a:cubicBezTo>
                  <a:pt x="6843010" y="762216"/>
                  <a:pt x="6781546" y="823680"/>
                  <a:pt x="6705727" y="823680"/>
                </a:cubicBezTo>
                <a:lnTo>
                  <a:pt x="137283" y="823680"/>
                </a:lnTo>
                <a:cubicBezTo>
                  <a:pt x="61464" y="823680"/>
                  <a:pt x="0" y="762216"/>
                  <a:pt x="0" y="686397"/>
                </a:cubicBezTo>
                <a:lnTo>
                  <a:pt x="0" y="137283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aware of the locations of all the blocks</a:t>
            </a:r>
            <a:endParaRPr lang="en-IN" sz="280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623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CDCB9-73C4-4CF1-A8DF-A0C14FD22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633496"/>
            <a:ext cx="8386537" cy="13255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i="0" dirty="0" err="1">
                <a:solidFill>
                  <a:srgbClr val="C00000"/>
                </a:solidFill>
                <a:effectLst/>
              </a:rPr>
              <a:t>Namenode</a:t>
            </a:r>
            <a:r>
              <a:rPr lang="en-US" b="0" i="0" dirty="0">
                <a:effectLst/>
              </a:rPr>
              <a:t> is the master node that runs on a separate node in the cluster.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8E73914-6F0E-48C6-8823-E0DAA4C64D4B}"/>
              </a:ext>
            </a:extLst>
          </p:cNvPr>
          <p:cNvSpPr/>
          <p:nvPr/>
        </p:nvSpPr>
        <p:spPr>
          <a:xfrm>
            <a:off x="1150495" y="3286079"/>
            <a:ext cx="6843010" cy="823680"/>
          </a:xfrm>
          <a:custGeom>
            <a:avLst/>
            <a:gdLst>
              <a:gd name="connsiteX0" fmla="*/ 0 w 6843010"/>
              <a:gd name="connsiteY0" fmla="*/ 137283 h 823680"/>
              <a:gd name="connsiteX1" fmla="*/ 137283 w 6843010"/>
              <a:gd name="connsiteY1" fmla="*/ 0 h 823680"/>
              <a:gd name="connsiteX2" fmla="*/ 6705727 w 6843010"/>
              <a:gd name="connsiteY2" fmla="*/ 0 h 823680"/>
              <a:gd name="connsiteX3" fmla="*/ 6843010 w 6843010"/>
              <a:gd name="connsiteY3" fmla="*/ 137283 h 823680"/>
              <a:gd name="connsiteX4" fmla="*/ 6843010 w 6843010"/>
              <a:gd name="connsiteY4" fmla="*/ 686397 h 823680"/>
              <a:gd name="connsiteX5" fmla="*/ 6705727 w 6843010"/>
              <a:gd name="connsiteY5" fmla="*/ 823680 h 823680"/>
              <a:gd name="connsiteX6" fmla="*/ 137283 w 6843010"/>
              <a:gd name="connsiteY6" fmla="*/ 823680 h 823680"/>
              <a:gd name="connsiteX7" fmla="*/ 0 w 6843010"/>
              <a:gd name="connsiteY7" fmla="*/ 686397 h 823680"/>
              <a:gd name="connsiteX8" fmla="*/ 0 w 6843010"/>
              <a:gd name="connsiteY8" fmla="*/ 137283 h 82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3010" h="823680">
                <a:moveTo>
                  <a:pt x="0" y="137283"/>
                </a:moveTo>
                <a:cubicBezTo>
                  <a:pt x="0" y="61464"/>
                  <a:pt x="61464" y="0"/>
                  <a:pt x="137283" y="0"/>
                </a:cubicBezTo>
                <a:lnTo>
                  <a:pt x="6705727" y="0"/>
                </a:lnTo>
                <a:cubicBezTo>
                  <a:pt x="6781546" y="0"/>
                  <a:pt x="6843010" y="61464"/>
                  <a:pt x="6843010" y="137283"/>
                </a:cubicBezTo>
                <a:lnTo>
                  <a:pt x="6843010" y="686397"/>
                </a:lnTo>
                <a:cubicBezTo>
                  <a:pt x="6843010" y="762216"/>
                  <a:pt x="6781546" y="823680"/>
                  <a:pt x="6705727" y="823680"/>
                </a:cubicBezTo>
                <a:lnTo>
                  <a:pt x="137283" y="823680"/>
                </a:lnTo>
                <a:cubicBezTo>
                  <a:pt x="61464" y="823680"/>
                  <a:pt x="0" y="762216"/>
                  <a:pt x="0" y="686397"/>
                </a:cubicBezTo>
                <a:lnTo>
                  <a:pt x="0" y="137283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Manages the filesystem namespace 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52DD2D-A7E6-4111-9594-A98805DE54D1}"/>
              </a:ext>
            </a:extLst>
          </p:cNvPr>
          <p:cNvSpPr/>
          <p:nvPr/>
        </p:nvSpPr>
        <p:spPr>
          <a:xfrm>
            <a:off x="1150495" y="4236479"/>
            <a:ext cx="6843010" cy="823680"/>
          </a:xfrm>
          <a:custGeom>
            <a:avLst/>
            <a:gdLst>
              <a:gd name="connsiteX0" fmla="*/ 0 w 6843010"/>
              <a:gd name="connsiteY0" fmla="*/ 137283 h 823680"/>
              <a:gd name="connsiteX1" fmla="*/ 137283 w 6843010"/>
              <a:gd name="connsiteY1" fmla="*/ 0 h 823680"/>
              <a:gd name="connsiteX2" fmla="*/ 6705727 w 6843010"/>
              <a:gd name="connsiteY2" fmla="*/ 0 h 823680"/>
              <a:gd name="connsiteX3" fmla="*/ 6843010 w 6843010"/>
              <a:gd name="connsiteY3" fmla="*/ 137283 h 823680"/>
              <a:gd name="connsiteX4" fmla="*/ 6843010 w 6843010"/>
              <a:gd name="connsiteY4" fmla="*/ 686397 h 823680"/>
              <a:gd name="connsiteX5" fmla="*/ 6705727 w 6843010"/>
              <a:gd name="connsiteY5" fmla="*/ 823680 h 823680"/>
              <a:gd name="connsiteX6" fmla="*/ 137283 w 6843010"/>
              <a:gd name="connsiteY6" fmla="*/ 823680 h 823680"/>
              <a:gd name="connsiteX7" fmla="*/ 0 w 6843010"/>
              <a:gd name="connsiteY7" fmla="*/ 686397 h 823680"/>
              <a:gd name="connsiteX8" fmla="*/ 0 w 6843010"/>
              <a:gd name="connsiteY8" fmla="*/ 137283 h 82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3010" h="823680">
                <a:moveTo>
                  <a:pt x="0" y="137283"/>
                </a:moveTo>
                <a:cubicBezTo>
                  <a:pt x="0" y="61464"/>
                  <a:pt x="61464" y="0"/>
                  <a:pt x="137283" y="0"/>
                </a:cubicBezTo>
                <a:lnTo>
                  <a:pt x="6705727" y="0"/>
                </a:lnTo>
                <a:cubicBezTo>
                  <a:pt x="6781546" y="0"/>
                  <a:pt x="6843010" y="61464"/>
                  <a:pt x="6843010" y="137283"/>
                </a:cubicBezTo>
                <a:lnTo>
                  <a:pt x="6843010" y="686397"/>
                </a:lnTo>
                <a:cubicBezTo>
                  <a:pt x="6843010" y="762216"/>
                  <a:pt x="6781546" y="823680"/>
                  <a:pt x="6705727" y="823680"/>
                </a:cubicBezTo>
                <a:lnTo>
                  <a:pt x="137283" y="823680"/>
                </a:lnTo>
                <a:cubicBezTo>
                  <a:pt x="61464" y="823680"/>
                  <a:pt x="0" y="762216"/>
                  <a:pt x="0" y="686397"/>
                </a:cubicBezTo>
                <a:lnTo>
                  <a:pt x="0" y="137283"/>
                </a:lnTo>
                <a:close/>
              </a:path>
            </a:pathLst>
          </a:custGeom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6889" tIns="146889" rIns="146889" bIns="146889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b="0" i="0" kern="1200">
                <a:latin typeface="Bahnschrift" panose="020B0502040204020203" pitchFamily="34" charset="0"/>
              </a:rPr>
              <a:t>Stores information</a:t>
            </a:r>
            <a:endParaRPr lang="en-IN" sz="2800" kern="1200">
              <a:latin typeface="Bahnschrift" panose="020B0502040204020203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90EB5D3-74B5-459B-A83F-38E624B7C1B7}"/>
              </a:ext>
            </a:extLst>
          </p:cNvPr>
          <p:cNvSpPr/>
          <p:nvPr/>
        </p:nvSpPr>
        <p:spPr>
          <a:xfrm>
            <a:off x="1150495" y="5186879"/>
            <a:ext cx="6843010" cy="823680"/>
          </a:xfrm>
          <a:custGeom>
            <a:avLst/>
            <a:gdLst>
              <a:gd name="connsiteX0" fmla="*/ 0 w 6843010"/>
              <a:gd name="connsiteY0" fmla="*/ 137283 h 823680"/>
              <a:gd name="connsiteX1" fmla="*/ 137283 w 6843010"/>
              <a:gd name="connsiteY1" fmla="*/ 0 h 823680"/>
              <a:gd name="connsiteX2" fmla="*/ 6705727 w 6843010"/>
              <a:gd name="connsiteY2" fmla="*/ 0 h 823680"/>
              <a:gd name="connsiteX3" fmla="*/ 6843010 w 6843010"/>
              <a:gd name="connsiteY3" fmla="*/ 137283 h 823680"/>
              <a:gd name="connsiteX4" fmla="*/ 6843010 w 6843010"/>
              <a:gd name="connsiteY4" fmla="*/ 686397 h 823680"/>
              <a:gd name="connsiteX5" fmla="*/ 6705727 w 6843010"/>
              <a:gd name="connsiteY5" fmla="*/ 823680 h 823680"/>
              <a:gd name="connsiteX6" fmla="*/ 137283 w 6843010"/>
              <a:gd name="connsiteY6" fmla="*/ 823680 h 823680"/>
              <a:gd name="connsiteX7" fmla="*/ 0 w 6843010"/>
              <a:gd name="connsiteY7" fmla="*/ 686397 h 823680"/>
              <a:gd name="connsiteX8" fmla="*/ 0 w 6843010"/>
              <a:gd name="connsiteY8" fmla="*/ 137283 h 82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3010" h="823680">
                <a:moveTo>
                  <a:pt x="0" y="137283"/>
                </a:moveTo>
                <a:cubicBezTo>
                  <a:pt x="0" y="61464"/>
                  <a:pt x="61464" y="0"/>
                  <a:pt x="137283" y="0"/>
                </a:cubicBezTo>
                <a:lnTo>
                  <a:pt x="6705727" y="0"/>
                </a:lnTo>
                <a:cubicBezTo>
                  <a:pt x="6781546" y="0"/>
                  <a:pt x="6843010" y="61464"/>
                  <a:pt x="6843010" y="137283"/>
                </a:cubicBezTo>
                <a:lnTo>
                  <a:pt x="6843010" y="686397"/>
                </a:lnTo>
                <a:cubicBezTo>
                  <a:pt x="6843010" y="762216"/>
                  <a:pt x="6781546" y="823680"/>
                  <a:pt x="6705727" y="823680"/>
                </a:cubicBezTo>
                <a:lnTo>
                  <a:pt x="137283" y="823680"/>
                </a:lnTo>
                <a:cubicBezTo>
                  <a:pt x="61464" y="823680"/>
                  <a:pt x="0" y="762216"/>
                  <a:pt x="0" y="686397"/>
                </a:cubicBezTo>
                <a:lnTo>
                  <a:pt x="0" y="137283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aware of the locations of all the blocks</a:t>
            </a:r>
            <a:endParaRPr lang="en-IN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152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CDCB9-73C4-4CF1-A8DF-A0C14FD22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633496"/>
            <a:ext cx="8386537" cy="13255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i="0" dirty="0" err="1">
                <a:solidFill>
                  <a:srgbClr val="C00000"/>
                </a:solidFill>
                <a:effectLst/>
              </a:rPr>
              <a:t>Namenode</a:t>
            </a:r>
            <a:r>
              <a:rPr lang="en-US" b="0" i="0" dirty="0">
                <a:effectLst/>
              </a:rPr>
              <a:t> is the master node that runs on a separate node in the cluster.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8E73914-6F0E-48C6-8823-E0DAA4C64D4B}"/>
              </a:ext>
            </a:extLst>
          </p:cNvPr>
          <p:cNvSpPr/>
          <p:nvPr/>
        </p:nvSpPr>
        <p:spPr>
          <a:xfrm>
            <a:off x="1150495" y="3286079"/>
            <a:ext cx="6843010" cy="823680"/>
          </a:xfrm>
          <a:custGeom>
            <a:avLst/>
            <a:gdLst>
              <a:gd name="connsiteX0" fmla="*/ 0 w 6843010"/>
              <a:gd name="connsiteY0" fmla="*/ 137283 h 823680"/>
              <a:gd name="connsiteX1" fmla="*/ 137283 w 6843010"/>
              <a:gd name="connsiteY1" fmla="*/ 0 h 823680"/>
              <a:gd name="connsiteX2" fmla="*/ 6705727 w 6843010"/>
              <a:gd name="connsiteY2" fmla="*/ 0 h 823680"/>
              <a:gd name="connsiteX3" fmla="*/ 6843010 w 6843010"/>
              <a:gd name="connsiteY3" fmla="*/ 137283 h 823680"/>
              <a:gd name="connsiteX4" fmla="*/ 6843010 w 6843010"/>
              <a:gd name="connsiteY4" fmla="*/ 686397 h 823680"/>
              <a:gd name="connsiteX5" fmla="*/ 6705727 w 6843010"/>
              <a:gd name="connsiteY5" fmla="*/ 823680 h 823680"/>
              <a:gd name="connsiteX6" fmla="*/ 137283 w 6843010"/>
              <a:gd name="connsiteY6" fmla="*/ 823680 h 823680"/>
              <a:gd name="connsiteX7" fmla="*/ 0 w 6843010"/>
              <a:gd name="connsiteY7" fmla="*/ 686397 h 823680"/>
              <a:gd name="connsiteX8" fmla="*/ 0 w 6843010"/>
              <a:gd name="connsiteY8" fmla="*/ 137283 h 82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3010" h="823680">
                <a:moveTo>
                  <a:pt x="0" y="137283"/>
                </a:moveTo>
                <a:cubicBezTo>
                  <a:pt x="0" y="61464"/>
                  <a:pt x="61464" y="0"/>
                  <a:pt x="137283" y="0"/>
                </a:cubicBezTo>
                <a:lnTo>
                  <a:pt x="6705727" y="0"/>
                </a:lnTo>
                <a:cubicBezTo>
                  <a:pt x="6781546" y="0"/>
                  <a:pt x="6843010" y="61464"/>
                  <a:pt x="6843010" y="137283"/>
                </a:cubicBezTo>
                <a:lnTo>
                  <a:pt x="6843010" y="686397"/>
                </a:lnTo>
                <a:cubicBezTo>
                  <a:pt x="6843010" y="762216"/>
                  <a:pt x="6781546" y="823680"/>
                  <a:pt x="6705727" y="823680"/>
                </a:cubicBezTo>
                <a:lnTo>
                  <a:pt x="137283" y="823680"/>
                </a:lnTo>
                <a:cubicBezTo>
                  <a:pt x="61464" y="823680"/>
                  <a:pt x="0" y="762216"/>
                  <a:pt x="0" y="686397"/>
                </a:cubicBezTo>
                <a:lnTo>
                  <a:pt x="0" y="137283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Manages the filesystem namespace 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52DD2D-A7E6-4111-9594-A98805DE54D1}"/>
              </a:ext>
            </a:extLst>
          </p:cNvPr>
          <p:cNvSpPr/>
          <p:nvPr/>
        </p:nvSpPr>
        <p:spPr>
          <a:xfrm>
            <a:off x="1150495" y="4236479"/>
            <a:ext cx="6843010" cy="823680"/>
          </a:xfrm>
          <a:custGeom>
            <a:avLst/>
            <a:gdLst>
              <a:gd name="connsiteX0" fmla="*/ 0 w 6843010"/>
              <a:gd name="connsiteY0" fmla="*/ 137283 h 823680"/>
              <a:gd name="connsiteX1" fmla="*/ 137283 w 6843010"/>
              <a:gd name="connsiteY1" fmla="*/ 0 h 823680"/>
              <a:gd name="connsiteX2" fmla="*/ 6705727 w 6843010"/>
              <a:gd name="connsiteY2" fmla="*/ 0 h 823680"/>
              <a:gd name="connsiteX3" fmla="*/ 6843010 w 6843010"/>
              <a:gd name="connsiteY3" fmla="*/ 137283 h 823680"/>
              <a:gd name="connsiteX4" fmla="*/ 6843010 w 6843010"/>
              <a:gd name="connsiteY4" fmla="*/ 686397 h 823680"/>
              <a:gd name="connsiteX5" fmla="*/ 6705727 w 6843010"/>
              <a:gd name="connsiteY5" fmla="*/ 823680 h 823680"/>
              <a:gd name="connsiteX6" fmla="*/ 137283 w 6843010"/>
              <a:gd name="connsiteY6" fmla="*/ 823680 h 823680"/>
              <a:gd name="connsiteX7" fmla="*/ 0 w 6843010"/>
              <a:gd name="connsiteY7" fmla="*/ 686397 h 823680"/>
              <a:gd name="connsiteX8" fmla="*/ 0 w 6843010"/>
              <a:gd name="connsiteY8" fmla="*/ 137283 h 82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3010" h="823680">
                <a:moveTo>
                  <a:pt x="0" y="137283"/>
                </a:moveTo>
                <a:cubicBezTo>
                  <a:pt x="0" y="61464"/>
                  <a:pt x="61464" y="0"/>
                  <a:pt x="137283" y="0"/>
                </a:cubicBezTo>
                <a:lnTo>
                  <a:pt x="6705727" y="0"/>
                </a:lnTo>
                <a:cubicBezTo>
                  <a:pt x="6781546" y="0"/>
                  <a:pt x="6843010" y="61464"/>
                  <a:pt x="6843010" y="137283"/>
                </a:cubicBezTo>
                <a:lnTo>
                  <a:pt x="6843010" y="686397"/>
                </a:lnTo>
                <a:cubicBezTo>
                  <a:pt x="6843010" y="762216"/>
                  <a:pt x="6781546" y="823680"/>
                  <a:pt x="6705727" y="823680"/>
                </a:cubicBezTo>
                <a:lnTo>
                  <a:pt x="137283" y="823680"/>
                </a:lnTo>
                <a:cubicBezTo>
                  <a:pt x="61464" y="823680"/>
                  <a:pt x="0" y="762216"/>
                  <a:pt x="0" y="686397"/>
                </a:cubicBezTo>
                <a:lnTo>
                  <a:pt x="0" y="137283"/>
                </a:lnTo>
                <a:close/>
              </a:path>
            </a:pathLst>
          </a:custGeom>
          <a:solidFill>
            <a:schemeClr val="bg1"/>
          </a:solidFill>
          <a:effectLst/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80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Stores information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90EB5D3-74B5-459B-A83F-38E624B7C1B7}"/>
              </a:ext>
            </a:extLst>
          </p:cNvPr>
          <p:cNvSpPr/>
          <p:nvPr/>
        </p:nvSpPr>
        <p:spPr>
          <a:xfrm>
            <a:off x="1150495" y="5186879"/>
            <a:ext cx="6843010" cy="823680"/>
          </a:xfrm>
          <a:custGeom>
            <a:avLst/>
            <a:gdLst>
              <a:gd name="connsiteX0" fmla="*/ 0 w 6843010"/>
              <a:gd name="connsiteY0" fmla="*/ 137283 h 823680"/>
              <a:gd name="connsiteX1" fmla="*/ 137283 w 6843010"/>
              <a:gd name="connsiteY1" fmla="*/ 0 h 823680"/>
              <a:gd name="connsiteX2" fmla="*/ 6705727 w 6843010"/>
              <a:gd name="connsiteY2" fmla="*/ 0 h 823680"/>
              <a:gd name="connsiteX3" fmla="*/ 6843010 w 6843010"/>
              <a:gd name="connsiteY3" fmla="*/ 137283 h 823680"/>
              <a:gd name="connsiteX4" fmla="*/ 6843010 w 6843010"/>
              <a:gd name="connsiteY4" fmla="*/ 686397 h 823680"/>
              <a:gd name="connsiteX5" fmla="*/ 6705727 w 6843010"/>
              <a:gd name="connsiteY5" fmla="*/ 823680 h 823680"/>
              <a:gd name="connsiteX6" fmla="*/ 137283 w 6843010"/>
              <a:gd name="connsiteY6" fmla="*/ 823680 h 823680"/>
              <a:gd name="connsiteX7" fmla="*/ 0 w 6843010"/>
              <a:gd name="connsiteY7" fmla="*/ 686397 h 823680"/>
              <a:gd name="connsiteX8" fmla="*/ 0 w 6843010"/>
              <a:gd name="connsiteY8" fmla="*/ 137283 h 82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3010" h="823680">
                <a:moveTo>
                  <a:pt x="0" y="137283"/>
                </a:moveTo>
                <a:cubicBezTo>
                  <a:pt x="0" y="61464"/>
                  <a:pt x="61464" y="0"/>
                  <a:pt x="137283" y="0"/>
                </a:cubicBezTo>
                <a:lnTo>
                  <a:pt x="6705727" y="0"/>
                </a:lnTo>
                <a:cubicBezTo>
                  <a:pt x="6781546" y="0"/>
                  <a:pt x="6843010" y="61464"/>
                  <a:pt x="6843010" y="137283"/>
                </a:cubicBezTo>
                <a:lnTo>
                  <a:pt x="6843010" y="686397"/>
                </a:lnTo>
                <a:cubicBezTo>
                  <a:pt x="6843010" y="762216"/>
                  <a:pt x="6781546" y="823680"/>
                  <a:pt x="6705727" y="823680"/>
                </a:cubicBezTo>
                <a:lnTo>
                  <a:pt x="137283" y="823680"/>
                </a:lnTo>
                <a:cubicBezTo>
                  <a:pt x="61464" y="823680"/>
                  <a:pt x="0" y="762216"/>
                  <a:pt x="0" y="686397"/>
                </a:cubicBezTo>
                <a:lnTo>
                  <a:pt x="0" y="137283"/>
                </a:lnTo>
                <a:close/>
              </a:path>
            </a:pathLst>
          </a:custGeom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6889" tIns="146889" rIns="146889" bIns="146889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0" i="0" kern="1200">
                <a:latin typeface="Bahnschrift" panose="020B0502040204020203" pitchFamily="34" charset="0"/>
              </a:rPr>
              <a:t>aware of the locations of all the blocks</a:t>
            </a:r>
            <a:endParaRPr lang="en-IN" sz="2800" kern="120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242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63C5214-BA3B-4CAC-9717-096A39DD59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3226726"/>
              </p:ext>
            </p:extLst>
          </p:nvPr>
        </p:nvGraphicFramePr>
        <p:xfrm>
          <a:off x="696685" y="1669143"/>
          <a:ext cx="7750629" cy="4862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4086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82729-E28C-4F9B-BB3D-DA2D62C78B75}"/>
              </a:ext>
            </a:extLst>
          </p:cNvPr>
          <p:cNvSpPr txBox="1"/>
          <p:nvPr/>
        </p:nvSpPr>
        <p:spPr>
          <a:xfrm>
            <a:off x="338362" y="1584250"/>
            <a:ext cx="8667415" cy="45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Bahnschrift" panose="020B0502040204020203" pitchFamily="34" charset="0"/>
              </a:rPr>
              <a:t>Data node in HDFS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Bahnschrift" panose="020B0502040204020203" pitchFamily="34" charset="0"/>
              </a:rPr>
              <a:t>W</a:t>
            </a:r>
            <a:r>
              <a:rPr lang="en-IN" sz="2800" b="0" i="0" dirty="0">
                <a:effectLst/>
                <a:latin typeface="Bahnschrift" panose="020B0502040204020203" pitchFamily="34" charset="0"/>
              </a:rPr>
              <a:t>orker nodes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I</a:t>
            </a:r>
            <a:r>
              <a:rPr lang="en-IN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nexpensive commodity hardware</a:t>
            </a:r>
            <a:endParaRPr lang="en-IN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R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esponsible for storing, retrieving, replicating, deletion, etc.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S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end heartbeats to the </a:t>
            </a:r>
            <a:r>
              <a:rPr lang="en-US" sz="2800" b="0" i="0" dirty="0" err="1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Namenode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 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S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ends a list of blocks</a:t>
            </a:r>
            <a:endParaRPr lang="en-IN" sz="20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832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82729-E28C-4F9B-BB3D-DA2D62C78B75}"/>
              </a:ext>
            </a:extLst>
          </p:cNvPr>
          <p:cNvSpPr txBox="1"/>
          <p:nvPr/>
        </p:nvSpPr>
        <p:spPr>
          <a:xfrm>
            <a:off x="338362" y="1584250"/>
            <a:ext cx="8667415" cy="45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Bahnschrift" panose="020B0502040204020203" pitchFamily="34" charset="0"/>
              </a:rPr>
              <a:t>Data node in HDFS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W</a:t>
            </a:r>
            <a:r>
              <a:rPr lang="en-IN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orker nodes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Bahnschrift" panose="020B0502040204020203" pitchFamily="34" charset="0"/>
              </a:rPr>
              <a:t>I</a:t>
            </a:r>
            <a:r>
              <a:rPr lang="en-IN" sz="2800" b="0" i="0" dirty="0">
                <a:effectLst/>
                <a:latin typeface="Bahnschrift" panose="020B0502040204020203" pitchFamily="34" charset="0"/>
              </a:rPr>
              <a:t>nexpensive commodity hardware</a:t>
            </a:r>
            <a:endParaRPr lang="en-IN" sz="2800" dirty="0"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R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esponsible for storing, retrieving, replicating, deletion, etc.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S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end heartbeats to the </a:t>
            </a:r>
            <a:r>
              <a:rPr lang="en-US" sz="2800" b="0" i="0" dirty="0" err="1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Namenode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 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S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ends a list of blocks</a:t>
            </a:r>
            <a:endParaRPr lang="en-IN" sz="20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994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82729-E28C-4F9B-BB3D-DA2D62C78B75}"/>
              </a:ext>
            </a:extLst>
          </p:cNvPr>
          <p:cNvSpPr txBox="1"/>
          <p:nvPr/>
        </p:nvSpPr>
        <p:spPr>
          <a:xfrm>
            <a:off x="338362" y="1584250"/>
            <a:ext cx="8667415" cy="45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Bahnschrift" panose="020B0502040204020203" pitchFamily="34" charset="0"/>
              </a:rPr>
              <a:t>Data node in HDFS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W</a:t>
            </a:r>
            <a:r>
              <a:rPr lang="en-IN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orker nodes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I</a:t>
            </a:r>
            <a:r>
              <a:rPr lang="en-IN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nexpensive commodity hardware</a:t>
            </a:r>
            <a:endParaRPr lang="en-IN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R</a:t>
            </a:r>
            <a:r>
              <a:rPr lang="en-US" sz="2800" b="0" i="0" dirty="0">
                <a:effectLst/>
                <a:latin typeface="Bahnschrift" panose="020B0502040204020203" pitchFamily="34" charset="0"/>
              </a:rPr>
              <a:t>esponsible for storing, retrieving, replicating, deletion, etc.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S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end heartbeats to the </a:t>
            </a:r>
            <a:r>
              <a:rPr lang="en-US" sz="2800" b="0" i="0" dirty="0" err="1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Namenode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 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S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ends a list of blocks</a:t>
            </a:r>
            <a:endParaRPr lang="en-IN" sz="20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130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82729-E28C-4F9B-BB3D-DA2D62C78B75}"/>
              </a:ext>
            </a:extLst>
          </p:cNvPr>
          <p:cNvSpPr txBox="1"/>
          <p:nvPr/>
        </p:nvSpPr>
        <p:spPr>
          <a:xfrm>
            <a:off x="338362" y="1584250"/>
            <a:ext cx="8667415" cy="45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Bahnschrift" panose="020B0502040204020203" pitchFamily="34" charset="0"/>
              </a:rPr>
              <a:t>Data node in HDFS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W</a:t>
            </a:r>
            <a:r>
              <a:rPr lang="en-IN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orker nodes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I</a:t>
            </a:r>
            <a:r>
              <a:rPr lang="en-IN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nexpensive commodity hardware</a:t>
            </a:r>
            <a:endParaRPr lang="en-IN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R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esponsible for storing, retrieving, replicating, deletion, etc.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</a:t>
            </a:r>
            <a:r>
              <a:rPr lang="en-US" sz="2800" b="0" i="0" dirty="0">
                <a:effectLst/>
                <a:latin typeface="Bahnschrift" panose="020B0502040204020203" pitchFamily="34" charset="0"/>
              </a:rPr>
              <a:t>end heartbeats to the </a:t>
            </a:r>
            <a:r>
              <a:rPr lang="en-US" sz="2800" b="0" i="0" dirty="0" err="1">
                <a:effectLst/>
                <a:latin typeface="Bahnschrift" panose="020B0502040204020203" pitchFamily="34" charset="0"/>
              </a:rPr>
              <a:t>Namenode</a:t>
            </a:r>
            <a:r>
              <a:rPr lang="en-US" sz="2800" b="0" i="0" dirty="0">
                <a:effectLst/>
                <a:latin typeface="Bahnschrift" panose="020B0502040204020203" pitchFamily="34" charset="0"/>
              </a:rPr>
              <a:t> </a:t>
            </a:r>
            <a:endParaRPr lang="en-US" sz="2800" dirty="0"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S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ends a list of blocks</a:t>
            </a:r>
            <a:endParaRPr lang="en-IN" sz="20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2858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82729-E28C-4F9B-BB3D-DA2D62C78B75}"/>
              </a:ext>
            </a:extLst>
          </p:cNvPr>
          <p:cNvSpPr txBox="1"/>
          <p:nvPr/>
        </p:nvSpPr>
        <p:spPr>
          <a:xfrm>
            <a:off x="338362" y="1584250"/>
            <a:ext cx="8667415" cy="45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Bahnschrift" panose="020B0502040204020203" pitchFamily="34" charset="0"/>
              </a:rPr>
              <a:t>Data node in HDFS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W</a:t>
            </a:r>
            <a:r>
              <a:rPr lang="en-IN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orker nodes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I</a:t>
            </a:r>
            <a:r>
              <a:rPr lang="en-IN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nexpensive commodity hardware</a:t>
            </a:r>
            <a:endParaRPr lang="en-IN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R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esponsible for storing, retrieving, replicating, deletion, etc.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S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end heartbeats to the </a:t>
            </a:r>
            <a:r>
              <a:rPr lang="en-US" sz="2800" b="0" i="0" dirty="0" err="1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Namenode</a:t>
            </a:r>
            <a:r>
              <a:rPr lang="en-US" sz="28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 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</a:t>
            </a:r>
            <a:r>
              <a:rPr lang="en-US" sz="2800" b="0" i="0" dirty="0">
                <a:effectLst/>
                <a:latin typeface="Bahnschrift" panose="020B0502040204020203" pitchFamily="34" charset="0"/>
              </a:rPr>
              <a:t>ends a list of blocks</a:t>
            </a:r>
            <a:endParaRPr lang="en-IN" sz="2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328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82729-E28C-4F9B-BB3D-DA2D62C78B75}"/>
              </a:ext>
            </a:extLst>
          </p:cNvPr>
          <p:cNvSpPr txBox="1"/>
          <p:nvPr/>
        </p:nvSpPr>
        <p:spPr>
          <a:xfrm>
            <a:off x="338362" y="1584251"/>
            <a:ext cx="8667415" cy="3658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Secondary </a:t>
            </a:r>
            <a:r>
              <a:rPr lang="en-US" sz="2800" dirty="0" err="1">
                <a:solidFill>
                  <a:srgbClr val="C00000"/>
                </a:solidFill>
                <a:latin typeface="Bahnschrift" panose="020B0502040204020203" pitchFamily="34" charset="0"/>
              </a:rPr>
              <a:t>Namenode</a:t>
            </a: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 in HDFS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0" i="0" dirty="0">
                <a:effectLst/>
                <a:latin typeface="Bahnschrift" panose="020B0502040204020203" pitchFamily="34" charset="0"/>
              </a:rPr>
              <a:t>Copy the </a:t>
            </a:r>
            <a:r>
              <a:rPr lang="en-US" sz="2600" b="0" i="0" dirty="0" err="1">
                <a:effectLst/>
                <a:latin typeface="Bahnschrift" panose="020B0502040204020203" pitchFamily="34" charset="0"/>
              </a:rPr>
              <a:t>Fsimage</a:t>
            </a:r>
            <a:r>
              <a:rPr lang="en-US" sz="2600" b="0" i="0" dirty="0">
                <a:effectLst/>
                <a:latin typeface="Bahnschrift" panose="020B0502040204020203" pitchFamily="34" charset="0"/>
              </a:rPr>
              <a:t> from disk to memory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Copy the latest copy of Edit Log to </a:t>
            </a:r>
            <a:r>
              <a:rPr lang="en-US" sz="2600" b="0" i="0" dirty="0" err="1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Fsimage</a:t>
            </a: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 </a:t>
            </a:r>
            <a:endParaRPr lang="en-US" sz="26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I</a:t>
            </a: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f we restart the node after a long time, then the Edit log could have grown in size. 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L</a:t>
            </a: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ot of time to apply the transactions from the Edit log.</a:t>
            </a:r>
            <a:endParaRPr lang="en-US" sz="26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4267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82729-E28C-4F9B-BB3D-DA2D62C78B75}"/>
              </a:ext>
            </a:extLst>
          </p:cNvPr>
          <p:cNvSpPr txBox="1"/>
          <p:nvPr/>
        </p:nvSpPr>
        <p:spPr>
          <a:xfrm>
            <a:off x="338362" y="1584251"/>
            <a:ext cx="8667415" cy="3658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Secondary </a:t>
            </a:r>
            <a:r>
              <a:rPr lang="en-US" sz="2800" dirty="0" err="1">
                <a:solidFill>
                  <a:srgbClr val="C00000"/>
                </a:solidFill>
                <a:latin typeface="Bahnschrift" panose="020B0502040204020203" pitchFamily="34" charset="0"/>
              </a:rPr>
              <a:t>Namenode</a:t>
            </a: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 in HDFS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Copy the </a:t>
            </a:r>
            <a:r>
              <a:rPr lang="en-US" sz="2600" b="0" i="0" dirty="0" err="1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Fsimage</a:t>
            </a: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 from disk to memory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0" i="0" dirty="0">
                <a:effectLst/>
                <a:latin typeface="Bahnschrift" panose="020B0502040204020203" pitchFamily="34" charset="0"/>
              </a:rPr>
              <a:t>Copy the latest copy of Edit Log to </a:t>
            </a:r>
            <a:r>
              <a:rPr lang="en-US" sz="2600" b="0" i="0" dirty="0" err="1">
                <a:effectLst/>
                <a:latin typeface="Bahnschrift" panose="020B0502040204020203" pitchFamily="34" charset="0"/>
              </a:rPr>
              <a:t>Fsimage</a:t>
            </a:r>
            <a:r>
              <a:rPr lang="en-US" sz="2600" b="0" i="0" dirty="0">
                <a:effectLst/>
                <a:latin typeface="Bahnschrift" panose="020B0502040204020203" pitchFamily="34" charset="0"/>
              </a:rPr>
              <a:t> </a:t>
            </a:r>
            <a:endParaRPr lang="en-US" sz="2600" dirty="0"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I</a:t>
            </a: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f we restart the node after a long time, then the Edit log could have grown in size. 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L</a:t>
            </a: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ot of time to apply the transactions from the Edit log.</a:t>
            </a:r>
            <a:endParaRPr lang="en-US" sz="26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51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82729-E28C-4F9B-BB3D-DA2D62C78B75}"/>
              </a:ext>
            </a:extLst>
          </p:cNvPr>
          <p:cNvSpPr txBox="1"/>
          <p:nvPr/>
        </p:nvSpPr>
        <p:spPr>
          <a:xfrm>
            <a:off x="338362" y="1584251"/>
            <a:ext cx="8667415" cy="3658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Secondary </a:t>
            </a:r>
            <a:r>
              <a:rPr lang="en-US" sz="2800" dirty="0" err="1">
                <a:solidFill>
                  <a:srgbClr val="C00000"/>
                </a:solidFill>
                <a:latin typeface="Bahnschrift" panose="020B0502040204020203" pitchFamily="34" charset="0"/>
              </a:rPr>
              <a:t>Namenode</a:t>
            </a: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 in HDFS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Copy the </a:t>
            </a:r>
            <a:r>
              <a:rPr lang="en-US" sz="2600" b="0" i="0" dirty="0" err="1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Fsimage</a:t>
            </a: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 from disk to memory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Copy the latest copy of Edit Log to </a:t>
            </a:r>
            <a:r>
              <a:rPr lang="en-US" sz="2600" b="0" i="0" dirty="0" err="1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Fsimage</a:t>
            </a: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 </a:t>
            </a:r>
            <a:endParaRPr lang="en-US" sz="26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Bahnschrift" panose="020B0502040204020203" pitchFamily="34" charset="0"/>
              </a:rPr>
              <a:t>I</a:t>
            </a:r>
            <a:r>
              <a:rPr lang="en-US" sz="2600" b="0" i="0" dirty="0">
                <a:effectLst/>
                <a:latin typeface="Bahnschrift" panose="020B0502040204020203" pitchFamily="34" charset="0"/>
              </a:rPr>
              <a:t>f we restart the node after a long time, then the Edit log could have grown in size. 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L</a:t>
            </a: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ot of time to apply the transactions from the Edit log.</a:t>
            </a:r>
            <a:endParaRPr lang="en-US" sz="26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9494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82729-E28C-4F9B-BB3D-DA2D62C78B75}"/>
              </a:ext>
            </a:extLst>
          </p:cNvPr>
          <p:cNvSpPr txBox="1"/>
          <p:nvPr/>
        </p:nvSpPr>
        <p:spPr>
          <a:xfrm>
            <a:off x="338362" y="1584251"/>
            <a:ext cx="8667415" cy="3658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Secondary </a:t>
            </a:r>
            <a:r>
              <a:rPr lang="en-US" sz="2800" dirty="0" err="1">
                <a:solidFill>
                  <a:srgbClr val="C00000"/>
                </a:solidFill>
                <a:latin typeface="Bahnschrift" panose="020B0502040204020203" pitchFamily="34" charset="0"/>
              </a:rPr>
              <a:t>Namenode</a:t>
            </a: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 in HDFS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Copy the </a:t>
            </a:r>
            <a:r>
              <a:rPr lang="en-US" sz="2600" b="0" i="0" dirty="0" err="1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Fsimage</a:t>
            </a: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 from disk to memory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Copy the latest copy of Edit Log to </a:t>
            </a:r>
            <a:r>
              <a:rPr lang="en-US" sz="2600" b="0" i="0" dirty="0" err="1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Fsimage</a:t>
            </a: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 </a:t>
            </a:r>
            <a:endParaRPr lang="en-US" sz="26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</a:rPr>
              <a:t>I</a:t>
            </a:r>
            <a:r>
              <a:rPr lang="en-US" sz="2600" b="0" i="0" dirty="0">
                <a:solidFill>
                  <a:schemeClr val="bg1">
                    <a:lumMod val="65000"/>
                  </a:schemeClr>
                </a:solidFill>
                <a:effectLst/>
                <a:latin typeface="Bahnschrift" panose="020B0502040204020203" pitchFamily="34" charset="0"/>
              </a:rPr>
              <a:t>f we restart the node after a long time, then the Edit log could have grown in size. 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Bahnschrift" panose="020B0502040204020203" pitchFamily="34" charset="0"/>
              </a:rPr>
              <a:t>L</a:t>
            </a:r>
            <a:r>
              <a:rPr lang="en-US" sz="2600" b="0" i="0" dirty="0">
                <a:effectLst/>
                <a:latin typeface="Bahnschrift" panose="020B0502040204020203" pitchFamily="34" charset="0"/>
              </a:rPr>
              <a:t>ot of time to apply the transactions from the Edit log.</a:t>
            </a:r>
            <a:endParaRPr lang="en-US" sz="2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359780"/>
      </p:ext>
    </p:extLst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Hadoop Components</a:t>
            </a:r>
            <a:endParaRPr dirty="0"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0A1EF-0EC7-45A6-9B27-E3350EFC77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165" r="53233" t="2"/>
          <a:stretch/>
        </p:blipFill>
        <p:spPr>
          <a:xfrm>
            <a:off x="721713" y="1584251"/>
            <a:ext cx="3563208" cy="184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45467"/>
      </p:ext>
    </p:extLst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Hadoop Components</a:t>
            </a:r>
            <a:endParaRPr dirty="0"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0A1EF-0EC7-45A6-9B27-E3350EFC77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897" r="-11" t="2"/>
          <a:stretch/>
        </p:blipFill>
        <p:spPr>
          <a:xfrm>
            <a:off x="721713" y="1584252"/>
            <a:ext cx="7619834" cy="250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57427"/>
      </p:ext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Hadoop Components</a:t>
            </a:r>
            <a:endParaRPr dirty="0"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0A1EF-0EC7-45A6-9B27-E3350EFC77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551" r="-11"/>
          <a:stretch/>
        </p:blipFill>
        <p:spPr>
          <a:xfrm>
            <a:off x="721713" y="1584251"/>
            <a:ext cx="7619834" cy="332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12224"/>
      </p:ext>
    </p:extLst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B03BC6-A6DA-4E51-9B03-25F1A0B7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Hadoop Components</a:t>
            </a:r>
            <a:endParaRPr dirty="0"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0A1EF-0EC7-45A6-9B27-E3350EFC77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" r="-11" t="2"/>
          <a:stretch/>
        </p:blipFill>
        <p:spPr>
          <a:xfrm>
            <a:off x="721713" y="1584251"/>
            <a:ext cx="7619834" cy="500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053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48668A-6097-4345-BB34-44808D6B2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Secondary </a:t>
            </a:r>
            <a:r>
              <a:rPr lang="en-US" sz="2800" dirty="0" err="1">
                <a:solidFill>
                  <a:srgbClr val="C00000"/>
                </a:solidFill>
                <a:latin typeface="Bahnschrift" panose="020B0502040204020203" pitchFamily="34" charset="0"/>
              </a:rPr>
              <a:t>Namenode</a:t>
            </a: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 in HDFS</a:t>
            </a:r>
          </a:p>
          <a:p>
            <a:pPr algn="just"/>
            <a:r>
              <a:rPr lang="en-US" b="0" i="0" dirty="0">
                <a:effectLst/>
              </a:rPr>
              <a:t>checkpointing procedure is computationally very expensive </a:t>
            </a:r>
          </a:p>
          <a:p>
            <a:pPr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Secondary </a:t>
            </a:r>
            <a:r>
              <a:rPr lang="en-US" b="0" i="0" dirty="0" err="1">
                <a:solidFill>
                  <a:schemeClr val="bg1">
                    <a:lumMod val="65000"/>
                  </a:schemeClr>
                </a:solidFill>
                <a:effectLst/>
              </a:rPr>
              <a:t>namenode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 runs on a separate node on the cluster.</a:t>
            </a:r>
          </a:p>
          <a:p>
            <a:pPr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Secondary </a:t>
            </a:r>
            <a:r>
              <a:rPr lang="en-US" b="0" i="0" dirty="0" err="1">
                <a:solidFill>
                  <a:schemeClr val="bg1">
                    <a:lumMod val="65000"/>
                  </a:schemeClr>
                </a:solidFill>
                <a:effectLst/>
              </a:rPr>
              <a:t>Namenode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 does not act as a </a:t>
            </a:r>
            <a:r>
              <a:rPr lang="en-US" b="0" i="0" dirty="0" err="1">
                <a:solidFill>
                  <a:schemeClr val="bg1">
                    <a:lumMod val="65000"/>
                  </a:schemeClr>
                </a:solidFill>
                <a:effectLst/>
              </a:rPr>
              <a:t>Namenode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.</a:t>
            </a:r>
          </a:p>
          <a:p>
            <a:pPr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Keeping a copy of the latest </a:t>
            </a:r>
            <a:r>
              <a:rPr lang="en-US" b="0" i="0" dirty="0" err="1">
                <a:solidFill>
                  <a:schemeClr val="bg1">
                    <a:lumMod val="65000"/>
                  </a:schemeClr>
                </a:solidFill>
                <a:effectLst/>
              </a:rPr>
              <a:t>Fsimage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.</a:t>
            </a: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E46CDC-D76D-4B88-A4B7-C9C0A576C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477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48668A-6097-4345-BB34-44808D6B2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Secondary </a:t>
            </a:r>
            <a:r>
              <a:rPr lang="en-US" sz="2800" dirty="0" err="1">
                <a:solidFill>
                  <a:srgbClr val="C00000"/>
                </a:solidFill>
                <a:latin typeface="Bahnschrift" panose="020B0502040204020203" pitchFamily="34" charset="0"/>
              </a:rPr>
              <a:t>Namenode</a:t>
            </a: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 in HDFS</a:t>
            </a:r>
          </a:p>
          <a:p>
            <a:pPr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checkpointing procedure is computationally very expensive </a:t>
            </a:r>
          </a:p>
          <a:p>
            <a:pPr algn="just"/>
            <a:r>
              <a:rPr lang="en-US" b="0" i="0" dirty="0">
                <a:effectLst/>
              </a:rPr>
              <a:t>Secondary </a:t>
            </a:r>
            <a:r>
              <a:rPr lang="en-US" b="0" i="0" dirty="0" err="1">
                <a:effectLst/>
              </a:rPr>
              <a:t>namenode</a:t>
            </a:r>
            <a:r>
              <a:rPr lang="en-US" b="0" i="0" dirty="0">
                <a:effectLst/>
              </a:rPr>
              <a:t> runs on a separate node on the cluster.</a:t>
            </a:r>
          </a:p>
          <a:p>
            <a:pPr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Secondary </a:t>
            </a:r>
            <a:r>
              <a:rPr lang="en-US" b="0" i="0" dirty="0" err="1">
                <a:solidFill>
                  <a:schemeClr val="bg1">
                    <a:lumMod val="65000"/>
                  </a:schemeClr>
                </a:solidFill>
                <a:effectLst/>
              </a:rPr>
              <a:t>Namenode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 does not act as a </a:t>
            </a:r>
            <a:r>
              <a:rPr lang="en-US" b="0" i="0" dirty="0" err="1">
                <a:solidFill>
                  <a:schemeClr val="bg1">
                    <a:lumMod val="65000"/>
                  </a:schemeClr>
                </a:solidFill>
                <a:effectLst/>
              </a:rPr>
              <a:t>Namenode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.</a:t>
            </a:r>
          </a:p>
          <a:p>
            <a:pPr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Keeping a copy of the latest </a:t>
            </a:r>
            <a:r>
              <a:rPr lang="en-US" b="0" i="0" dirty="0" err="1">
                <a:solidFill>
                  <a:schemeClr val="bg1">
                    <a:lumMod val="65000"/>
                  </a:schemeClr>
                </a:solidFill>
                <a:effectLst/>
              </a:rPr>
              <a:t>Fsimage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.</a:t>
            </a: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E46CDC-D76D-4B88-A4B7-C9C0A576C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30598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48668A-6097-4345-BB34-44808D6B2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Secondary </a:t>
            </a:r>
            <a:r>
              <a:rPr lang="en-US" sz="2800" dirty="0" err="1">
                <a:solidFill>
                  <a:srgbClr val="C00000"/>
                </a:solidFill>
                <a:latin typeface="Bahnschrift" panose="020B0502040204020203" pitchFamily="34" charset="0"/>
              </a:rPr>
              <a:t>Namenode</a:t>
            </a: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 in HDFS</a:t>
            </a:r>
          </a:p>
          <a:p>
            <a:pPr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checkpointing procedure is computationally very expensive </a:t>
            </a:r>
          </a:p>
          <a:p>
            <a:pPr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Secondary </a:t>
            </a:r>
            <a:r>
              <a:rPr lang="en-US" b="0" i="0" dirty="0" err="1">
                <a:solidFill>
                  <a:schemeClr val="bg1">
                    <a:lumMod val="65000"/>
                  </a:schemeClr>
                </a:solidFill>
                <a:effectLst/>
              </a:rPr>
              <a:t>namenode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 runs on a separate node on the cluster.</a:t>
            </a:r>
          </a:p>
          <a:p>
            <a:pPr algn="just"/>
            <a:r>
              <a:rPr lang="en-US" b="0" i="0" dirty="0">
                <a:effectLst/>
              </a:rPr>
              <a:t>Secondary </a:t>
            </a:r>
            <a:r>
              <a:rPr lang="en-US" b="0" i="0" dirty="0" err="1">
                <a:effectLst/>
              </a:rPr>
              <a:t>Namenode</a:t>
            </a:r>
            <a:r>
              <a:rPr lang="en-US" b="0" i="0" dirty="0">
                <a:effectLst/>
              </a:rPr>
              <a:t> does not act as a </a:t>
            </a:r>
            <a:r>
              <a:rPr lang="en-US" b="0" i="0" dirty="0" err="1">
                <a:effectLst/>
              </a:rPr>
              <a:t>Namenode</a:t>
            </a:r>
            <a:r>
              <a:rPr lang="en-US" b="0" i="0" dirty="0">
                <a:effectLst/>
              </a:rPr>
              <a:t>.</a:t>
            </a:r>
          </a:p>
          <a:p>
            <a:pPr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Keeping a copy of the latest </a:t>
            </a:r>
            <a:r>
              <a:rPr lang="en-US" b="0" i="0" dirty="0" err="1">
                <a:solidFill>
                  <a:schemeClr val="bg1">
                    <a:lumMod val="65000"/>
                  </a:schemeClr>
                </a:solidFill>
                <a:effectLst/>
              </a:rPr>
              <a:t>Fsimage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.</a:t>
            </a: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E46CDC-D76D-4B88-A4B7-C9C0A576C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2476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48668A-6097-4345-BB34-44808D6B2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Secondary </a:t>
            </a:r>
            <a:r>
              <a:rPr lang="en-US" sz="2800" dirty="0" err="1">
                <a:solidFill>
                  <a:srgbClr val="C00000"/>
                </a:solidFill>
                <a:latin typeface="Bahnschrift" panose="020B0502040204020203" pitchFamily="34" charset="0"/>
              </a:rPr>
              <a:t>Namenode</a:t>
            </a:r>
            <a:r>
              <a:rPr lang="en-US" sz="2800" dirty="0">
                <a:solidFill>
                  <a:srgbClr val="C00000"/>
                </a:solidFill>
                <a:latin typeface="Bahnschrift" panose="020B0502040204020203" pitchFamily="34" charset="0"/>
              </a:rPr>
              <a:t> in HDFS</a:t>
            </a:r>
          </a:p>
          <a:p>
            <a:pPr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checkpointing procedure is computationally very expensive </a:t>
            </a:r>
          </a:p>
          <a:p>
            <a:pPr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Secondary </a:t>
            </a:r>
            <a:r>
              <a:rPr lang="en-US" b="0" i="0" dirty="0" err="1">
                <a:solidFill>
                  <a:schemeClr val="bg1">
                    <a:lumMod val="65000"/>
                  </a:schemeClr>
                </a:solidFill>
                <a:effectLst/>
              </a:rPr>
              <a:t>namenode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 runs on a separate node on the cluster.</a:t>
            </a:r>
          </a:p>
          <a:p>
            <a:pPr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Secondary </a:t>
            </a:r>
            <a:r>
              <a:rPr lang="en-US" b="0" i="0" dirty="0" err="1">
                <a:solidFill>
                  <a:schemeClr val="bg1">
                    <a:lumMod val="65000"/>
                  </a:schemeClr>
                </a:solidFill>
                <a:effectLst/>
              </a:rPr>
              <a:t>Namenode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 does not act as a </a:t>
            </a:r>
            <a:r>
              <a:rPr lang="en-US" b="0" i="0" dirty="0" err="1">
                <a:solidFill>
                  <a:schemeClr val="bg1">
                    <a:lumMod val="65000"/>
                  </a:schemeClr>
                </a:solidFill>
                <a:effectLst/>
              </a:rPr>
              <a:t>Namenode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.</a:t>
            </a:r>
          </a:p>
          <a:p>
            <a:pPr algn="just"/>
            <a:r>
              <a:rPr lang="en-US" b="0" i="0" dirty="0">
                <a:effectLst/>
              </a:rPr>
              <a:t>Keeping a copy of the latest </a:t>
            </a:r>
            <a:r>
              <a:rPr lang="en-US" b="0" i="0" dirty="0" err="1">
                <a:effectLst/>
              </a:rPr>
              <a:t>Fsimage</a:t>
            </a:r>
            <a:r>
              <a:rPr lang="en-US" b="0" i="0" dirty="0">
                <a:effectLst/>
              </a:rPr>
              <a:t>.</a:t>
            </a: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E46CDC-D76D-4B88-A4B7-C9C0A576C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22471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48668A-6097-4345-BB34-44808D6B2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>
                <a:solidFill>
                  <a:srgbClr val="C00000"/>
                </a:solidFill>
              </a:rPr>
              <a:t>Mapreduce</a:t>
            </a:r>
            <a:endParaRPr lang="en-US" dirty="0">
              <a:solidFill>
                <a:srgbClr val="C00000"/>
              </a:solidFill>
            </a:endParaRPr>
          </a:p>
          <a:p>
            <a:pPr marL="363538" indent="-363538" algn="just"/>
            <a:r>
              <a:rPr lang="en-US" b="0" i="0" dirty="0">
                <a:effectLst/>
              </a:rPr>
              <a:t>This is the processing engine of Hadoop.</a:t>
            </a:r>
            <a:r>
              <a:rPr lang="en-US" b="1" i="0" dirty="0">
                <a:effectLst/>
              </a:rPr>
              <a:t> </a:t>
            </a:r>
          </a:p>
          <a:p>
            <a:pPr marL="363538" indent="-363538" algn="just"/>
            <a:r>
              <a:rPr lang="en-US" i="0" dirty="0">
                <a:solidFill>
                  <a:schemeClr val="bg1">
                    <a:lumMod val="65000"/>
                  </a:schemeClr>
                </a:solidFill>
                <a:effectLst/>
              </a:rPr>
              <a:t>MapReduce works on the principle of distributed processing. </a:t>
            </a:r>
          </a:p>
          <a:p>
            <a:pPr marL="363538" indent="-363538"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It divides the task submitted by the user into a number of independent subtasks.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E46CDC-D76D-4B88-A4B7-C9C0A576C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6875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48668A-6097-4345-BB34-44808D6B2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>
                <a:solidFill>
                  <a:srgbClr val="C00000"/>
                </a:solidFill>
              </a:rPr>
              <a:t>Mapreduce</a:t>
            </a:r>
            <a:endParaRPr lang="en-US" dirty="0">
              <a:solidFill>
                <a:srgbClr val="C00000"/>
              </a:solidFill>
            </a:endParaRPr>
          </a:p>
          <a:p>
            <a:pPr marL="363538" indent="-363538"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This is the processing engine of Hadoop.</a:t>
            </a:r>
            <a:r>
              <a:rPr lang="en-US" b="1" i="0" dirty="0">
                <a:solidFill>
                  <a:schemeClr val="bg1">
                    <a:lumMod val="65000"/>
                  </a:schemeClr>
                </a:solidFill>
                <a:effectLst/>
              </a:rPr>
              <a:t> </a:t>
            </a:r>
          </a:p>
          <a:p>
            <a:pPr marL="363538" indent="-363538" algn="just"/>
            <a:r>
              <a:rPr lang="en-US" i="0" dirty="0">
                <a:solidFill>
                  <a:srgbClr val="C00000"/>
                </a:solidFill>
                <a:effectLst/>
              </a:rPr>
              <a:t>MapReduce works on the principle of distributed processing. </a:t>
            </a:r>
          </a:p>
          <a:p>
            <a:pPr marL="363538" indent="-363538"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It divides the task submitted by the user into a number of independent subtasks.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E46CDC-D76D-4B88-A4B7-C9C0A576C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3087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48668A-6097-4345-BB34-44808D6B2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>
                <a:solidFill>
                  <a:srgbClr val="C00000"/>
                </a:solidFill>
              </a:rPr>
              <a:t>Mapreduce</a:t>
            </a:r>
            <a:endParaRPr lang="en-US" dirty="0">
              <a:solidFill>
                <a:srgbClr val="C00000"/>
              </a:solidFill>
            </a:endParaRPr>
          </a:p>
          <a:p>
            <a:pPr marL="363538" indent="-363538" algn="just"/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</a:rPr>
              <a:t>This is the processing engine of Hadoop.</a:t>
            </a:r>
            <a:r>
              <a:rPr lang="en-US" b="1" i="0" dirty="0">
                <a:solidFill>
                  <a:schemeClr val="bg1">
                    <a:lumMod val="65000"/>
                  </a:schemeClr>
                </a:solidFill>
                <a:effectLst/>
              </a:rPr>
              <a:t> </a:t>
            </a:r>
          </a:p>
          <a:p>
            <a:pPr marL="363538" indent="-363538" algn="just"/>
            <a:r>
              <a:rPr lang="en-US" i="0" dirty="0">
                <a:solidFill>
                  <a:schemeClr val="bg1">
                    <a:lumMod val="65000"/>
                  </a:schemeClr>
                </a:solidFill>
                <a:effectLst/>
              </a:rPr>
              <a:t>MapReduce works on the principle of distributed processing. </a:t>
            </a:r>
          </a:p>
          <a:p>
            <a:pPr marL="363538" indent="-363538" algn="just"/>
            <a:r>
              <a:rPr lang="en-US" b="0" i="0" dirty="0">
                <a:effectLst/>
              </a:rPr>
              <a:t>It divides the task submitted by the user into a number of independent subtasks.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E46CDC-D76D-4B88-A4B7-C9C0A576C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2416634"/>
      </p:ext>
    </p:extLst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ACF3EA-00E4-4892-9A7A-E7BC450633D9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26" r="36"/>
          <a:stretch/>
        </p:blipFill>
        <p:spPr>
          <a:xfrm>
            <a:off x="88004" y="2406410"/>
            <a:ext cx="8967991" cy="302699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A690E0E-F27A-4A57-B27C-AEE1643B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Hadoop Components</a:t>
            </a:r>
            <a:endParaRPr dirty="0" lang="en-IN"/>
          </a:p>
        </p:txBody>
      </p:sp>
    </p:spTree>
    <p:extLst>
      <p:ext uri="{BB962C8B-B14F-4D97-AF65-F5344CB8AC3E}">
        <p14:creationId xmlns:p14="http://schemas.microsoft.com/office/powerpoint/2010/main" val="9144244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690E0E-F27A-4A57-B27C-AEE1643B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YARN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6719AF-8B29-4B98-B2FF-081A63831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53028"/>
            <a:ext cx="8529867" cy="530497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0" i="0" u="none" strike="noStrike" dirty="0">
                <a:solidFill>
                  <a:srgbClr val="C00000"/>
                </a:solidFill>
                <a:effectLst/>
              </a:rPr>
              <a:t>Hadoop YARN</a:t>
            </a:r>
            <a:r>
              <a:rPr lang="en-US" sz="2400" b="0" i="0" dirty="0">
                <a:solidFill>
                  <a:srgbClr val="C00000"/>
                </a:solidFill>
                <a:effectLst/>
              </a:rPr>
              <a:t> </a:t>
            </a:r>
            <a:r>
              <a:rPr lang="en-US" sz="2400" b="0" i="0" dirty="0">
                <a:effectLst/>
              </a:rPr>
              <a:t>stands for Yet Another Resource Negotiator. It is the resource management unit of Hadoop and is available as a component of Hadoop version 2.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Hadoop YARN acts like an OS to Hadoop. It is a file system that is built on top of HDFS.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It is responsible for managing cluster resources to make sure you don't overload one machine.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It performs job scheduling to make sure that the jobs are scheduled in the right place</a:t>
            </a:r>
          </a:p>
          <a:p>
            <a:pPr marL="0" indent="0" algn="just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16498208"/>
      </p:ext>
    </p:extLst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690E0E-F27A-4A57-B27C-AEE1643B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Hadoop YARN</a:t>
            </a:r>
            <a:endParaRPr dirty="0" lang="en-IN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8C77CAD5-2BD9-4D9B-8F89-006A99376A35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44" r="-38"/>
          <a:stretch/>
        </p:blipFill>
        <p:spPr>
          <a:xfrm>
            <a:off x="120650" y="2105247"/>
            <a:ext cx="8927636" cy="419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140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D031B8-0512-4235-968F-017A4BFDB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effectLst/>
              </a:rPr>
              <a:t>The Hadoop Daemons are:-</a:t>
            </a:r>
          </a:p>
          <a:p>
            <a:pPr marL="514350" indent="-514350" algn="l" fontAlgn="base">
              <a:buFont typeface="+mj-lt"/>
              <a:buAutoNum type="alphaLcParenR"/>
            </a:pPr>
            <a:r>
              <a:rPr lang="en-IN" i="0" dirty="0" err="1">
                <a:effectLst/>
              </a:rPr>
              <a:t>Namenode</a:t>
            </a:r>
            <a:r>
              <a:rPr lang="en-IN" i="0" dirty="0">
                <a:effectLst/>
              </a:rPr>
              <a:t> </a:t>
            </a:r>
          </a:p>
          <a:p>
            <a:pPr marL="514350" indent="-514350" algn="l" fontAlgn="base">
              <a:buFont typeface="+mj-lt"/>
              <a:buAutoNum type="alphaLcParenR"/>
            </a:pPr>
            <a:r>
              <a:rPr lang="en-IN" i="0" dirty="0" err="1">
                <a:effectLst/>
              </a:rPr>
              <a:t>Datanode</a:t>
            </a:r>
            <a:r>
              <a:rPr lang="en-IN" i="0" dirty="0">
                <a:effectLst/>
              </a:rPr>
              <a:t> </a:t>
            </a:r>
          </a:p>
          <a:p>
            <a:pPr marL="514350" indent="-514350" algn="l" fontAlgn="base">
              <a:buFont typeface="+mj-lt"/>
              <a:buAutoNum type="alphaLcParenR"/>
            </a:pPr>
            <a:r>
              <a:rPr lang="en-IN" i="0" dirty="0">
                <a:effectLst/>
              </a:rPr>
              <a:t>Resource Manager</a:t>
            </a:r>
          </a:p>
          <a:p>
            <a:pPr marL="514350" indent="-514350" algn="l" fontAlgn="base">
              <a:buFont typeface="+mj-lt"/>
              <a:buAutoNum type="alphaLcParenR"/>
            </a:pPr>
            <a:r>
              <a:rPr lang="en-IN" i="0" dirty="0">
                <a:effectLst/>
              </a:rPr>
              <a:t>Node Manager </a:t>
            </a:r>
          </a:p>
          <a:p>
            <a:pPr lvl="1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E83513-955A-4D07-A160-0F1F92CE3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Daemons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7784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77D836-F8E5-4722-8BE5-328E86ED7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effectLst/>
              </a:rPr>
              <a:t>The Hadoop MapReduce works as follows: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684990-864F-40E5-837C-13911A96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HDFS  works?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C4CB8B8-5E38-4C2A-88DD-E84F704E7E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5995180"/>
              </p:ext>
            </p:extLst>
          </p:nvPr>
        </p:nvGraphicFramePr>
        <p:xfrm>
          <a:off x="1524000" y="222634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13337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77D836-F8E5-4722-8BE5-328E86ED7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28997"/>
            <a:ext cx="8386537" cy="5171606"/>
          </a:xfrm>
        </p:spPr>
        <p:txBody>
          <a:bodyPr>
            <a:normAutofit/>
          </a:bodyPr>
          <a:lstStyle/>
          <a:p>
            <a:pPr algn="just"/>
            <a:r>
              <a:rPr lang="en-IN" b="0" i="0" dirty="0">
                <a:effectLst/>
              </a:rPr>
              <a:t>YARN scheduled these tasks</a:t>
            </a:r>
          </a:p>
          <a:p>
            <a:pPr algn="just"/>
            <a:r>
              <a:rPr lang="en-US" b="0" i="0" dirty="0">
                <a:effectLst/>
              </a:rPr>
              <a:t>MapReduce job is divided into fixed-size pieces</a:t>
            </a:r>
            <a:endParaRPr lang="en-IN" dirty="0"/>
          </a:p>
          <a:p>
            <a:pPr algn="just"/>
            <a:r>
              <a:rPr lang="en-US" b="0" i="0" dirty="0">
                <a:effectLst/>
              </a:rPr>
              <a:t>map tasks run on the </a:t>
            </a:r>
            <a:r>
              <a:rPr lang="en-US" b="0" i="0" dirty="0" err="1">
                <a:effectLst/>
              </a:rPr>
              <a:t>DataNodes</a:t>
            </a:r>
            <a:r>
              <a:rPr lang="en-US" b="0" i="0" dirty="0">
                <a:effectLst/>
              </a:rPr>
              <a:t> where the input data resides.</a:t>
            </a:r>
            <a:endParaRPr lang="en-IN" b="0" i="0" dirty="0">
              <a:effectLst/>
            </a:endParaRPr>
          </a:p>
          <a:p>
            <a:pPr algn="just"/>
            <a:r>
              <a:rPr lang="en-US" b="0" i="0" dirty="0">
                <a:effectLst/>
              </a:rPr>
              <a:t>output of the map task is intermediate output </a:t>
            </a:r>
            <a:endParaRPr lang="en-IN" dirty="0"/>
          </a:p>
          <a:p>
            <a:pPr algn="just"/>
            <a:r>
              <a:rPr lang="en-US" b="0" i="0" dirty="0">
                <a:effectLst/>
              </a:rPr>
              <a:t>intermediate outputs of the map tasks are shuffled </a:t>
            </a:r>
            <a:endParaRPr lang="en-IN" b="0" i="0" dirty="0">
              <a:effectLst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684990-864F-40E5-837C-13911A96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HDFS  works?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645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77D836-F8E5-4722-8BE5-328E86ED7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28997"/>
            <a:ext cx="8386537" cy="5171606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</a:rPr>
              <a:t>the sorted intermediate output of mapper is passed to the node where the reducer task is running.</a:t>
            </a:r>
          </a:p>
          <a:p>
            <a:pPr algn="just"/>
            <a:r>
              <a:rPr lang="en-US" b="0" i="0" dirty="0">
                <a:effectLst/>
              </a:rPr>
              <a:t>reduce function summarizes the output </a:t>
            </a:r>
          </a:p>
          <a:p>
            <a:pPr algn="just"/>
            <a:r>
              <a:rPr lang="en-US" b="0" i="0" dirty="0">
                <a:effectLst/>
              </a:rPr>
              <a:t>For multiple reduce functions, the user specifies the number of reducers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684990-864F-40E5-837C-13911A96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HDFS  works?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8561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92FACD-ABEA-46FF-9D81-BADAC34AB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3664" y="1628775"/>
            <a:ext cx="6095710" cy="50038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0684990-864F-40E5-837C-13911A96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HDFS  works?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76407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684990-864F-40E5-837C-13911A96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HDFS  works?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C9AF09-7EAC-4E2B-B0A3-CBA9994AA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effectLst/>
              </a:rPr>
              <a:t>There are two YARN daemons running in the Hadoop cluster for serving YARN core services. They are:</a:t>
            </a:r>
          </a:p>
          <a:p>
            <a:pPr algn="just"/>
            <a:r>
              <a:rPr lang="en-IN" i="0" dirty="0">
                <a:effectLst/>
              </a:rPr>
              <a:t>Resource Manager</a:t>
            </a:r>
          </a:p>
          <a:p>
            <a:pPr algn="just"/>
            <a:r>
              <a:rPr lang="en-IN" i="0" dirty="0">
                <a:effectLst/>
              </a:rPr>
              <a:t>Node Manager</a:t>
            </a:r>
          </a:p>
          <a:p>
            <a:pPr algn="just"/>
            <a:r>
              <a:rPr lang="en-IN" i="0" dirty="0">
                <a:effectLst/>
              </a:rPr>
              <a:t>Application Master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92920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6CDB20-394C-4D51-9C5B-8751E213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46DFD1E0-DCA7-47E6-B78B-6ECDDF873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058" y="640080"/>
            <a:ext cx="8190312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B0B1E-BB97-40E0-8DCD-D1197A0E1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018" y="960109"/>
            <a:ext cx="7708392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DC4CA5-27F5-4221-A151-4B237AEEC0F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66048" y="2069952"/>
            <a:ext cx="7228332" cy="27147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b="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Summarize how Hadoop works internally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9682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1072</TotalTime>
  <Words>1429</Words>
  <Application>Microsoft Office PowerPoint</Application>
  <PresentationFormat>On-screen Show (4:3)</PresentationFormat>
  <Paragraphs>235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</vt:lpstr>
      <vt:lpstr>Bahnschrift</vt:lpstr>
      <vt:lpstr>Bahnschrift SemiBold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Introduction</vt:lpstr>
      <vt:lpstr>Introduction</vt:lpstr>
      <vt:lpstr>Introduction</vt:lpstr>
      <vt:lpstr>Introduction</vt:lpstr>
      <vt:lpstr>What is Hadoop Distribute File System(HDFS)</vt:lpstr>
      <vt:lpstr>What is Hadoop Distribute File System(HDFS)</vt:lpstr>
      <vt:lpstr>What is Hadoop Distribute File System(HDFS)</vt:lpstr>
      <vt:lpstr>What is Hadoop Distribute File System(HDFS)</vt:lpstr>
      <vt:lpstr>What is Hadoop Distribute File System(HDFS)</vt:lpstr>
      <vt:lpstr>What is Hadoop Distribute File System(HDFS)</vt:lpstr>
      <vt:lpstr>What is Hadoop Distribute File System(HDFS)</vt:lpstr>
      <vt:lpstr> Hadoop Components and Domains 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Components</vt:lpstr>
      <vt:lpstr>Hadoop YARN</vt:lpstr>
      <vt:lpstr>Hadoop YARN</vt:lpstr>
      <vt:lpstr>Hadoop Daemons</vt:lpstr>
      <vt:lpstr>How HDFS  works?</vt:lpstr>
      <vt:lpstr>How HDFS  works?</vt:lpstr>
      <vt:lpstr>How HDFS  works?</vt:lpstr>
      <vt:lpstr>How HDFS  works?</vt:lpstr>
      <vt:lpstr>How HDFS  works?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Arpit Thakur</cp:lastModifiedBy>
  <cp:revision>74</cp:revision>
  <dcterms:created xsi:type="dcterms:W3CDTF">2021-05-13T17:45:44Z</dcterms:created>
  <dcterms:modified xsi:type="dcterms:W3CDTF">2021-07-27T10:08:54Z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656101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