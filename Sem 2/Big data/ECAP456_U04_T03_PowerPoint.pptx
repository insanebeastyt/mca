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handoutMaster+xml" PartName="/ppt/handoutMasters/handout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63"/>
  </p:handoutMasterIdLst>
  <p:sldIdLst>
    <p:sldId id="266" r:id="rId2"/>
    <p:sldId id="261" r:id="rId3"/>
    <p:sldId id="267" r:id="rId4"/>
    <p:sldId id="268" r:id="rId5"/>
    <p:sldId id="270" r:id="rId6"/>
    <p:sldId id="273" r:id="rId7"/>
    <p:sldId id="274" r:id="rId8"/>
    <p:sldId id="275" r:id="rId9"/>
    <p:sldId id="276" r:id="rId10"/>
    <p:sldId id="278" r:id="rId11"/>
    <p:sldId id="279" r:id="rId12"/>
    <p:sldId id="280" r:id="rId13"/>
    <p:sldId id="284" r:id="rId14"/>
    <p:sldId id="285" r:id="rId15"/>
    <p:sldId id="286" r:id="rId16"/>
    <p:sldId id="287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9" r:id="rId36"/>
    <p:sldId id="310" r:id="rId37"/>
    <p:sldId id="311" r:id="rId38"/>
    <p:sldId id="312" r:id="rId39"/>
    <p:sldId id="313" r:id="rId40"/>
    <p:sldId id="314" r:id="rId41"/>
    <p:sldId id="316" r:id="rId42"/>
    <p:sldId id="335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263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deo recording 1" initials="vr1" lastIdx="1" clrIdx="0">
    <p:extLst>
      <p:ext uri="{19B8F6BF-5375-455C-9EA6-DF929625EA0E}">
        <p15:presenceInfo xmlns:p15="http://schemas.microsoft.com/office/powerpoint/2012/main" userId="S::videorecording1@lpu.in::5780b62a-8821-427a-ab1e-c242583c20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FFFFFF"/>
    <a:srgbClr val="618495"/>
    <a:srgbClr val="44525B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9" autoAdjust="0"/>
    <p:restoredTop sz="94660"/>
  </p:normalViewPr>
  <p:slideViewPr>
    <p:cSldViewPr snapToGrid="0">
      <p:cViewPr>
        <p:scale>
          <a:sx n="50" d="100"/>
          <a:sy n="50" d="100"/>
        </p:scale>
        <p:origin x="133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D111C2-100B-4AA9-94F4-5BD64FEAD2BA}" type="doc">
      <dgm:prSet loTypeId="urn:microsoft.com/office/officeart/2005/8/layout/hProcess9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6B61E5-D8B9-453E-9CF8-3CAECA79A7B2}">
      <dgm:prSet custT="1"/>
      <dgm:spPr>
        <a:solidFill>
          <a:srgbClr val="44525A"/>
        </a:solidFill>
      </dgm:spPr>
      <dgm:t>
        <a:bodyPr/>
        <a:lstStyle/>
        <a:p>
          <a:r>
            <a:rPr lang="en-IN" sz="4000" dirty="0">
              <a:latin typeface="Bahnschrift" panose="020B0502040204020203" pitchFamily="34" charset="0"/>
            </a:rPr>
            <a:t>A</a:t>
          </a:r>
          <a:r>
            <a:rPr lang="en-IN" sz="4000" b="0" i="0" dirty="0">
              <a:latin typeface="Bahnschrift" panose="020B0502040204020203" pitchFamily="34" charset="0"/>
            </a:rPr>
            <a:t>voids joins</a:t>
          </a:r>
          <a:endParaRPr lang="en-IN" sz="4000" dirty="0">
            <a:latin typeface="Bahnschrift" panose="020B0502040204020203" pitchFamily="34" charset="0"/>
          </a:endParaRPr>
        </a:p>
      </dgm:t>
    </dgm:pt>
    <dgm:pt modelId="{FEF0EC6F-E774-41EB-8547-6776E3060453}" type="parTrans" cxnId="{4401084A-C41D-4D70-ADF6-80CBA9C0D600}">
      <dgm:prSet/>
      <dgm:spPr/>
      <dgm:t>
        <a:bodyPr/>
        <a:lstStyle/>
        <a:p>
          <a:endParaRPr lang="en-IN"/>
        </a:p>
      </dgm:t>
    </dgm:pt>
    <dgm:pt modelId="{A599602E-0F58-4572-8B5D-936E1C6225F3}" type="sibTrans" cxnId="{4401084A-C41D-4D70-ADF6-80CBA9C0D600}">
      <dgm:prSet/>
      <dgm:spPr/>
      <dgm:t>
        <a:bodyPr/>
        <a:lstStyle/>
        <a:p>
          <a:endParaRPr lang="en-IN"/>
        </a:p>
      </dgm:t>
    </dgm:pt>
    <dgm:pt modelId="{49B716EA-8717-46A7-8324-554B598DF76F}">
      <dgm:prSet custT="1"/>
      <dgm:spPr>
        <a:solidFill>
          <a:srgbClr val="44525A"/>
        </a:solidFill>
      </dgm:spPr>
      <dgm:t>
        <a:bodyPr/>
        <a:lstStyle/>
        <a:p>
          <a:r>
            <a:rPr lang="en-IN" sz="4000">
              <a:latin typeface="Bahnschrift" panose="020B0502040204020203" pitchFamily="34" charset="0"/>
            </a:rPr>
            <a:t>Easy to scale</a:t>
          </a:r>
        </a:p>
      </dgm:t>
    </dgm:pt>
    <dgm:pt modelId="{2E2B32B4-1F4E-4600-99C7-7C3679EA96E5}" type="parTrans" cxnId="{5C3A2CE0-BC6A-43DC-9F54-107D86F049D9}">
      <dgm:prSet/>
      <dgm:spPr/>
      <dgm:t>
        <a:bodyPr/>
        <a:lstStyle/>
        <a:p>
          <a:endParaRPr lang="en-IN"/>
        </a:p>
      </dgm:t>
    </dgm:pt>
    <dgm:pt modelId="{3A260A1A-BED7-436F-83E6-DC8C97619926}" type="sibTrans" cxnId="{5C3A2CE0-BC6A-43DC-9F54-107D86F049D9}">
      <dgm:prSet/>
      <dgm:spPr/>
      <dgm:t>
        <a:bodyPr/>
        <a:lstStyle/>
        <a:p>
          <a:endParaRPr lang="en-IN"/>
        </a:p>
      </dgm:t>
    </dgm:pt>
    <dgm:pt modelId="{4A23E0B7-9993-4124-B9DC-F99B6C07DF5B}" type="pres">
      <dgm:prSet presAssocID="{B3D111C2-100B-4AA9-94F4-5BD64FEAD2BA}" presName="CompostProcess" presStyleCnt="0">
        <dgm:presLayoutVars>
          <dgm:dir/>
          <dgm:resizeHandles val="exact"/>
        </dgm:presLayoutVars>
      </dgm:prSet>
      <dgm:spPr/>
    </dgm:pt>
    <dgm:pt modelId="{E1FD551F-5782-4E44-B6AD-A350B72B1608}" type="pres">
      <dgm:prSet presAssocID="{B3D111C2-100B-4AA9-94F4-5BD64FEAD2BA}" presName="arrow" presStyleLbl="bgShp" presStyleIdx="0" presStyleCn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</dgm:pt>
    <dgm:pt modelId="{7FB29D47-21FB-4CE0-A459-5E117BF313BF}" type="pres">
      <dgm:prSet presAssocID="{B3D111C2-100B-4AA9-94F4-5BD64FEAD2BA}" presName="linearProcess" presStyleCnt="0"/>
      <dgm:spPr/>
    </dgm:pt>
    <dgm:pt modelId="{AC2269D9-FAE0-4236-AFDB-72AF3AA4C242}" type="pres">
      <dgm:prSet presAssocID="{036B61E5-D8B9-453E-9CF8-3CAECA79A7B2}" presName="textNode" presStyleLbl="node1" presStyleIdx="0" presStyleCnt="2" custScaleX="160199">
        <dgm:presLayoutVars>
          <dgm:bulletEnabled val="1"/>
        </dgm:presLayoutVars>
      </dgm:prSet>
      <dgm:spPr/>
    </dgm:pt>
    <dgm:pt modelId="{FB0DB46B-E009-4BD4-9270-C822B9528751}" type="pres">
      <dgm:prSet presAssocID="{A599602E-0F58-4572-8B5D-936E1C6225F3}" presName="sibTrans" presStyleCnt="0"/>
      <dgm:spPr/>
    </dgm:pt>
    <dgm:pt modelId="{8A4B3164-CEC9-4DF3-AD7C-6B3CA98289CD}" type="pres">
      <dgm:prSet presAssocID="{49B716EA-8717-46A7-8324-554B598DF76F}" presName="textNode" presStyleLbl="node1" presStyleIdx="1" presStyleCnt="2" custScaleX="160199">
        <dgm:presLayoutVars>
          <dgm:bulletEnabled val="1"/>
        </dgm:presLayoutVars>
      </dgm:prSet>
      <dgm:spPr/>
    </dgm:pt>
  </dgm:ptLst>
  <dgm:cxnLst>
    <dgm:cxn modelId="{59501718-DCFC-4BB0-8EC5-CAD44B28754B}" type="presOf" srcId="{49B716EA-8717-46A7-8324-554B598DF76F}" destId="{8A4B3164-CEC9-4DF3-AD7C-6B3CA98289CD}" srcOrd="0" destOrd="0" presId="urn:microsoft.com/office/officeart/2005/8/layout/hProcess9"/>
    <dgm:cxn modelId="{A100C72E-9D12-468C-AFE0-49C405901E5E}" type="presOf" srcId="{036B61E5-D8B9-453E-9CF8-3CAECA79A7B2}" destId="{AC2269D9-FAE0-4236-AFDB-72AF3AA4C242}" srcOrd="0" destOrd="0" presId="urn:microsoft.com/office/officeart/2005/8/layout/hProcess9"/>
    <dgm:cxn modelId="{4401084A-C41D-4D70-ADF6-80CBA9C0D600}" srcId="{B3D111C2-100B-4AA9-94F4-5BD64FEAD2BA}" destId="{036B61E5-D8B9-453E-9CF8-3CAECA79A7B2}" srcOrd="0" destOrd="0" parTransId="{FEF0EC6F-E774-41EB-8547-6776E3060453}" sibTransId="{A599602E-0F58-4572-8B5D-936E1C6225F3}"/>
    <dgm:cxn modelId="{5C3A2CE0-BC6A-43DC-9F54-107D86F049D9}" srcId="{B3D111C2-100B-4AA9-94F4-5BD64FEAD2BA}" destId="{49B716EA-8717-46A7-8324-554B598DF76F}" srcOrd="1" destOrd="0" parTransId="{2E2B32B4-1F4E-4600-99C7-7C3679EA96E5}" sibTransId="{3A260A1A-BED7-436F-83E6-DC8C97619926}"/>
    <dgm:cxn modelId="{E4AD42FD-D245-4399-823C-90A550412D8A}" type="presOf" srcId="{B3D111C2-100B-4AA9-94F4-5BD64FEAD2BA}" destId="{4A23E0B7-9993-4124-B9DC-F99B6C07DF5B}" srcOrd="0" destOrd="0" presId="urn:microsoft.com/office/officeart/2005/8/layout/hProcess9"/>
    <dgm:cxn modelId="{05EA54F6-1118-4646-9C96-6643483F0679}" type="presParOf" srcId="{4A23E0B7-9993-4124-B9DC-F99B6C07DF5B}" destId="{E1FD551F-5782-4E44-B6AD-A350B72B1608}" srcOrd="0" destOrd="0" presId="urn:microsoft.com/office/officeart/2005/8/layout/hProcess9"/>
    <dgm:cxn modelId="{0F82F40A-6FC5-4F9B-A114-B14E87B701D8}" type="presParOf" srcId="{4A23E0B7-9993-4124-B9DC-F99B6C07DF5B}" destId="{7FB29D47-21FB-4CE0-A459-5E117BF313BF}" srcOrd="1" destOrd="0" presId="urn:microsoft.com/office/officeart/2005/8/layout/hProcess9"/>
    <dgm:cxn modelId="{212CDD4D-C52D-4601-BA92-BC4D121FA488}" type="presParOf" srcId="{7FB29D47-21FB-4CE0-A459-5E117BF313BF}" destId="{AC2269D9-FAE0-4236-AFDB-72AF3AA4C242}" srcOrd="0" destOrd="0" presId="urn:microsoft.com/office/officeart/2005/8/layout/hProcess9"/>
    <dgm:cxn modelId="{53809458-9F09-4F7E-A0AB-4C0E5FDABDE3}" type="presParOf" srcId="{7FB29D47-21FB-4CE0-A459-5E117BF313BF}" destId="{FB0DB46B-E009-4BD4-9270-C822B9528751}" srcOrd="1" destOrd="0" presId="urn:microsoft.com/office/officeart/2005/8/layout/hProcess9"/>
    <dgm:cxn modelId="{54FDDFF7-495C-4B82-ACB8-E0BDB9827840}" type="presParOf" srcId="{7FB29D47-21FB-4CE0-A459-5E117BF313BF}" destId="{8A4B3164-CEC9-4DF3-AD7C-6B3CA98289CD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D551F-5782-4E44-B6AD-A350B72B1608}">
      <dsp:nvSpPr>
        <dsp:cNvPr id="0" name=""/>
        <dsp:cNvSpPr/>
      </dsp:nvSpPr>
      <dsp:spPr>
        <a:xfrm>
          <a:off x="623649" y="0"/>
          <a:ext cx="7068025" cy="4953407"/>
        </a:xfrm>
        <a:prstGeom prst="rightArrow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</dsp:sp>
    <dsp:sp modelId="{AC2269D9-FAE0-4236-AFDB-72AF3AA4C242}">
      <dsp:nvSpPr>
        <dsp:cNvPr id="0" name=""/>
        <dsp:cNvSpPr/>
      </dsp:nvSpPr>
      <dsp:spPr>
        <a:xfrm>
          <a:off x="2727" y="1486022"/>
          <a:ext cx="3949487" cy="1981363"/>
        </a:xfrm>
        <a:prstGeom prst="roundRect">
          <a:avLst/>
        </a:prstGeom>
        <a:solidFill>
          <a:srgbClr val="44525A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>
              <a:latin typeface="Bahnschrift" panose="020B0502040204020203" pitchFamily="34" charset="0"/>
            </a:rPr>
            <a:t>A</a:t>
          </a:r>
          <a:r>
            <a:rPr lang="en-IN" sz="4000" b="0" i="0" kern="1200" dirty="0">
              <a:latin typeface="Bahnschrift" panose="020B0502040204020203" pitchFamily="34" charset="0"/>
            </a:rPr>
            <a:t>voids joins</a:t>
          </a:r>
          <a:endParaRPr lang="en-IN" sz="4000" kern="1200" dirty="0">
            <a:latin typeface="Bahnschrift" panose="020B0502040204020203" pitchFamily="34" charset="0"/>
          </a:endParaRPr>
        </a:p>
      </dsp:txBody>
      <dsp:txXfrm>
        <a:off x="99449" y="1582744"/>
        <a:ext cx="3756043" cy="1787919"/>
      </dsp:txXfrm>
    </dsp:sp>
    <dsp:sp modelId="{8A4B3164-CEC9-4DF3-AD7C-6B3CA98289CD}">
      <dsp:nvSpPr>
        <dsp:cNvPr id="0" name=""/>
        <dsp:cNvSpPr/>
      </dsp:nvSpPr>
      <dsp:spPr>
        <a:xfrm>
          <a:off x="4363108" y="1486022"/>
          <a:ext cx="3949487" cy="1981363"/>
        </a:xfrm>
        <a:prstGeom prst="roundRect">
          <a:avLst/>
        </a:prstGeom>
        <a:solidFill>
          <a:srgbClr val="44525A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>
              <a:latin typeface="Bahnschrift" panose="020B0502040204020203" pitchFamily="34" charset="0"/>
            </a:rPr>
            <a:t>Easy to scale</a:t>
          </a:r>
        </a:p>
      </dsp:txBody>
      <dsp:txXfrm>
        <a:off x="4459830" y="1582744"/>
        <a:ext cx="3756043" cy="1787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 ?><Relationships xmlns="http://schemas.openxmlformats.org/package/2006/relationships"><Relationship Id="rId3" Target="../media/image5.png" Type="http://schemas.openxmlformats.org/officeDocument/2006/relationships/image"/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3" Target="../media/image5.png" Type="http://schemas.openxmlformats.org/officeDocument/2006/relationships/image"/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7.png" Type="http://schemas.openxmlformats.org/officeDocument/2006/relationships/image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 ?><Relationships xmlns="http://schemas.openxmlformats.org/package/2006/relationships"><Relationship Id="rId2" Target="../media/image2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3.xml.rels><?xml version="1.0" encoding="UTF-8" standalone="yes" ?>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 ?><Relationships xmlns="http://schemas.openxmlformats.org/package/2006/relationships"><Relationship Id="rId2" Target="../media/image2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 ?><Relationships xmlns="http://schemas.openxmlformats.org/package/2006/relationships"><Relationship Id="rId2" Target="../media/image2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 ?><Relationships xmlns="http://schemas.openxmlformats.org/package/2006/relationships"><Relationship Id="rId2" Target="../media/image2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3.xml.rels><?xml version="1.0" encoding="UTF-8" standalone="yes" ?><Relationships xmlns="http://schemas.openxmlformats.org/package/2006/relationships"><Relationship Id="rId2" Target="../media/image2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4.xml.rels><?xml version="1.0" encoding="UTF-8" standalone="yes" ?><Relationships xmlns="http://schemas.openxmlformats.org/package/2006/relationships"><Relationship Id="rId3" Target="../media/image30.png" Type="http://schemas.openxmlformats.org/officeDocument/2006/relationships/image"/><Relationship Id="rId2" Target="../media/image2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 ?><Relationships xmlns="http://schemas.openxmlformats.org/package/2006/relationships"><Relationship Id="rId2" Target="../media/image3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2.xml.rels><?xml version="1.0" encoding="UTF-8" standalone="yes" ?><Relationships xmlns="http://schemas.openxmlformats.org/package/2006/relationships"><Relationship Id="rId3" Target="../media/image36.jpeg" Type="http://schemas.openxmlformats.org/officeDocument/2006/relationships/image"/><Relationship Id="rId2" Target="../media/image3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3.xml.rels><?xml version="1.0" encoding="UTF-8" standalone="yes" ?><Relationships xmlns="http://schemas.openxmlformats.org/package/2006/relationships"><Relationship Id="rId2" Target="../media/image3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4.xml.rels><?xml version="1.0" encoding="UTF-8" standalone="yes" ?><Relationships xmlns="http://schemas.openxmlformats.org/package/2006/relationships"><Relationship Id="rId2" Target="../media/image3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5.xml.rels><?xml version="1.0" encoding="UTF-8" standalone="yes" ?><Relationships xmlns="http://schemas.openxmlformats.org/package/2006/relationships"><Relationship Id="rId2" Target="../media/image3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 ?><Relationships xmlns="http://schemas.openxmlformats.org/package/2006/relationships"><Relationship Id="rId3" Target="../media/image42.jpeg" Type="http://schemas.openxmlformats.org/officeDocument/2006/relationships/image"/><Relationship Id="rId2" Target="../media/image41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9.xml.rels><?xml version="1.0" encoding="UTF-8" standalone="yes" ?><Relationships xmlns="http://schemas.openxmlformats.org/package/2006/relationships"><Relationship Id="rId3" Target="../media/image42.jpeg" Type="http://schemas.openxmlformats.org/officeDocument/2006/relationships/image"/><Relationship Id="rId2" Target="../media/image41.pn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43.png" Type="http://schemas.openxmlformats.org/officeDocument/2006/relationships/image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 ?><Relationships xmlns="http://schemas.openxmlformats.org/package/2006/relationships"><Relationship Id="rId2" Target="../media/image4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 ?><Relationships xmlns="http://schemas.openxmlformats.org/package/2006/relationships"><Relationship Id="rId2" Target="../media/image5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exploring and understanding the concepts of </a:t>
            </a:r>
            <a:r>
              <a:rPr lang="en-US" dirty="0" err="1"/>
              <a:t>nosql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learn h</a:t>
            </a:r>
            <a:r>
              <a:rPr lang="en-US" i="0" dirty="0">
                <a:solidFill>
                  <a:srgbClr val="222222"/>
                </a:solidFill>
                <a:effectLst/>
              </a:rPr>
              <a:t>istory of </a:t>
            </a:r>
            <a:r>
              <a:rPr lang="en-US" i="0" dirty="0" err="1">
                <a:solidFill>
                  <a:srgbClr val="222222"/>
                </a:solidFill>
                <a:effectLst/>
              </a:rPr>
              <a:t>nosql</a:t>
            </a:r>
            <a:r>
              <a:rPr lang="en-US" i="0" dirty="0">
                <a:solidFill>
                  <a:srgbClr val="222222"/>
                </a:solidFill>
                <a:effectLst/>
              </a:rPr>
              <a:t> databases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 to NoSQL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8224AB9-C7E2-441A-AE2B-943365F16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985" y="1690576"/>
            <a:ext cx="2616887" cy="2985283"/>
          </a:xfr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88D415-27A1-4D19-B83B-5CFF8B512A2D}"/>
              </a:ext>
            </a:extLst>
          </p:cNvPr>
          <p:cNvSpPr txBox="1"/>
          <p:nvPr/>
        </p:nvSpPr>
        <p:spPr>
          <a:xfrm>
            <a:off x="1201314" y="5167424"/>
            <a:ext cx="6912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Bahnschrift" panose="020B0502040204020203" pitchFamily="34" charset="0"/>
              </a:rPr>
              <a:t>Non-relational Data Management System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213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5C8B05C-107E-45C0-A2B1-4E73CCC82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923475"/>
              </p:ext>
            </p:extLst>
          </p:nvPr>
        </p:nvGraphicFramePr>
        <p:xfrm>
          <a:off x="457200" y="1570995"/>
          <a:ext cx="8315324" cy="4953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720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3E22D-6EBD-44D3-82F6-17D945387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494795"/>
            <a:ext cx="8534400" cy="49321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What is the major purpose of using a NoSQL database?</a:t>
            </a:r>
          </a:p>
          <a:p>
            <a:pPr algn="just">
              <a:buFont typeface="Bahnschrift" panose="020B0502040204020203" pitchFamily="34" charset="0"/>
              <a:buChar char="–"/>
            </a:pPr>
            <a:r>
              <a:rPr lang="en-US" b="0" i="0" dirty="0">
                <a:solidFill>
                  <a:srgbClr val="222222"/>
                </a:solidFill>
                <a:effectLst/>
              </a:rPr>
              <a:t>The major purpose of using a NoSQL database is for distributed data stores with huge data storage needs. NoSQL is used for Big data and real-time web apps.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63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C0AECA-ADD1-4527-A15D-888066D67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55" y="1768659"/>
            <a:ext cx="2324100" cy="19716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794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EAFDC3-B7ED-4DC9-82E8-C8F8D204C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5091" y="1815841"/>
            <a:ext cx="3497707" cy="19587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C0AECA-ADD1-4527-A15D-888066D67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55" y="1768659"/>
            <a:ext cx="2324100" cy="19716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181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EAFDC3-B7ED-4DC9-82E8-C8F8D204C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5091" y="1815841"/>
            <a:ext cx="3497707" cy="19587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C0AECA-ADD1-4527-A15D-888066D67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55" y="1768659"/>
            <a:ext cx="2324100" cy="19716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F0D0A6-3E24-465C-86EA-A4E791F5E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005" y="3872576"/>
            <a:ext cx="5238750" cy="28003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477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681865-B0E8-4B7B-B495-4B36E8619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0" dirty="0">
                <a:solidFill>
                  <a:srgbClr val="FF0000"/>
                </a:solidFill>
                <a:effectLst/>
              </a:rPr>
              <a:t>NoSQL database </a:t>
            </a:r>
            <a:r>
              <a:rPr lang="en-US" b="0" i="0" dirty="0">
                <a:solidFill>
                  <a:srgbClr val="222222"/>
                </a:solidFill>
                <a:effectLst/>
              </a:rPr>
              <a:t>stands for </a:t>
            </a:r>
          </a:p>
          <a:p>
            <a:pPr lvl="1" algn="just"/>
            <a:r>
              <a:rPr lang="en-US" b="0" i="0" dirty="0">
                <a:solidFill>
                  <a:srgbClr val="222222"/>
                </a:solidFill>
                <a:effectLst/>
              </a:rPr>
              <a:t>"Not Only SQL" or "Not SQL.“</a:t>
            </a:r>
          </a:p>
          <a:p>
            <a:pPr lvl="1" algn="just"/>
            <a:r>
              <a:rPr lang="en-US" b="0" i="0" dirty="0">
                <a:solidFill>
                  <a:srgbClr val="222222"/>
                </a:solidFill>
                <a:effectLst/>
              </a:rPr>
              <a:t> Though a better term would be "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NoREL</a:t>
            </a:r>
            <a:r>
              <a:rPr lang="en-US" b="0" i="0" dirty="0">
                <a:solidFill>
                  <a:srgbClr val="222222"/>
                </a:solidFill>
                <a:effectLst/>
              </a:rPr>
              <a:t>", NoSQL caught on. </a:t>
            </a:r>
          </a:p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Carl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Strozz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introduced the NoSQL concept in 1998.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5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681865-B0E8-4B7B-B495-4B36E8619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494795"/>
            <a:ext cx="8386537" cy="10570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0" dirty="0">
                <a:solidFill>
                  <a:srgbClr val="222222"/>
                </a:solidFill>
                <a:effectLst/>
              </a:rPr>
              <a:t>Traditional RDBMS uses </a:t>
            </a:r>
          </a:p>
          <a:p>
            <a:pPr marL="0" indent="0" algn="just">
              <a:buNone/>
            </a:pPr>
            <a:endParaRPr lang="en-US" i="0" dirty="0">
              <a:solidFill>
                <a:srgbClr val="222222"/>
              </a:solidFill>
              <a:effectLst/>
            </a:endParaRPr>
          </a:p>
          <a:p>
            <a:pPr marL="0" indent="0" algn="just">
              <a:buNone/>
            </a:pPr>
            <a:endParaRPr lang="en-US" i="0" dirty="0">
              <a:solidFill>
                <a:srgbClr val="222222"/>
              </a:solidFill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28B888-B975-4559-8DF1-F10E7C66F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40" y="2551812"/>
            <a:ext cx="8211110" cy="24758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493A74-D6C3-4923-BC56-D57B0E0B5A0C}"/>
              </a:ext>
            </a:extLst>
          </p:cNvPr>
          <p:cNvSpPr/>
          <p:nvPr/>
        </p:nvSpPr>
        <p:spPr>
          <a:xfrm>
            <a:off x="3343939" y="5555955"/>
            <a:ext cx="2456121" cy="81734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SQL Syntax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747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to NoSQL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681865-B0E8-4B7B-B495-4B36E8619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56695"/>
            <a:ext cx="8386537" cy="14017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Instead, a NoSQL database system covers a wide range of database technologies </a:t>
            </a:r>
            <a:r>
              <a:rPr lang="en-IN" b="0" i="0" dirty="0">
                <a:solidFill>
                  <a:srgbClr val="222222"/>
                </a:solidFill>
                <a:effectLst/>
              </a:rPr>
              <a:t>that can store</a:t>
            </a:r>
            <a:endParaRPr lang="en-US" i="0" dirty="0">
              <a:solidFill>
                <a:srgbClr val="222222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83CA7-02B8-4DB3-90EA-DBA833650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93" y="2858471"/>
            <a:ext cx="7863663" cy="37745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1833831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A16F51-A93C-4E73-8672-A337D4F9E23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r="22"/>
          <a:stretch/>
        </p:blipFill>
        <p:spPr>
          <a:xfrm>
            <a:off x="396147" y="1628775"/>
            <a:ext cx="4175853" cy="5003800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38A901-2330-4947-A498-6562BA1B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Example of SQL Database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0C999-1EEE-4C73-8B55-7BA13FDAD4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5" r="68"/>
          <a:stretch/>
        </p:blipFill>
        <p:spPr>
          <a:xfrm>
            <a:off x="4756812" y="1628775"/>
            <a:ext cx="4137981" cy="2018968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361725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80BA9-9626-4F5E-B783-E7B9FBC1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Why NoSQL?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85150-6260-4AB1-B933-B3C7223AC7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72" r="-3"/>
          <a:stretch/>
        </p:blipFill>
        <p:spPr>
          <a:xfrm>
            <a:off x="633913" y="2864145"/>
            <a:ext cx="7876174" cy="22541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1785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80BA9-9626-4F5E-B783-E7B9FBC1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Why NoSQL?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917D47-3D83-4220-A37F-EE6F0AC6C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3" y="1519393"/>
            <a:ext cx="7953153" cy="42416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EF248C-2428-4475-A673-B3430DFF61A3}"/>
              </a:ext>
            </a:extLst>
          </p:cNvPr>
          <p:cNvSpPr/>
          <p:nvPr/>
        </p:nvSpPr>
        <p:spPr>
          <a:xfrm>
            <a:off x="2580555" y="5954905"/>
            <a:ext cx="3902149" cy="68225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Slow Response Time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353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80BA9-9626-4F5E-B783-E7B9FBC1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Why NoSQL?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7203D-0AEA-4289-B242-5697D4583D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2355444" y="1864131"/>
            <a:ext cx="4433112" cy="485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28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80BA9-9626-4F5E-B783-E7B9FBC1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Why NoSQL?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7203D-0AEA-4289-B242-5697D4583D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526"/>
          <a:stretch/>
        </p:blipFill>
        <p:spPr>
          <a:xfrm>
            <a:off x="2679405" y="1684263"/>
            <a:ext cx="3997841" cy="46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0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44BC49-F3B6-49C3-990E-3CCEBE559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3874" y="1596877"/>
            <a:ext cx="3118461" cy="42054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7219171-5402-48D3-9C77-C20311CE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History of NoSQL Databases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FC6F2-4A80-4EC6-862F-F0047AC87B16}"/>
              </a:ext>
            </a:extLst>
          </p:cNvPr>
          <p:cNvSpPr txBox="1"/>
          <p:nvPr/>
        </p:nvSpPr>
        <p:spPr>
          <a:xfrm>
            <a:off x="338362" y="5956670"/>
            <a:ext cx="8805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1998- Carlo Strozzi use the term NoSQL for his lightweight, open-source 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4083567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219171-5402-48D3-9C77-C20311CE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History of NoSQL Databases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FC6F2-4A80-4EC6-862F-F0047AC87B16}"/>
              </a:ext>
            </a:extLst>
          </p:cNvPr>
          <p:cNvSpPr txBox="1"/>
          <p:nvPr/>
        </p:nvSpPr>
        <p:spPr>
          <a:xfrm>
            <a:off x="169181" y="6220480"/>
            <a:ext cx="8805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2004- Google </a:t>
            </a:r>
            <a:r>
              <a:rPr lang="en-US" sz="2800" b="0" i="0" dirty="0" err="1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BigTable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 is launched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1757558-F2C6-4292-8F5A-9CE12AC3E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9418" y="1505330"/>
            <a:ext cx="6825163" cy="453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45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219171-5402-48D3-9C77-C20311CE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History of NoSQL Databases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FC6F2-4A80-4EC6-862F-F0047AC87B16}"/>
              </a:ext>
            </a:extLst>
          </p:cNvPr>
          <p:cNvSpPr txBox="1"/>
          <p:nvPr/>
        </p:nvSpPr>
        <p:spPr>
          <a:xfrm>
            <a:off x="338362" y="5956670"/>
            <a:ext cx="8805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2000- Graph database Neo4j is launched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4E6F6-030C-430B-A402-EFD097FFF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971" y="1840687"/>
            <a:ext cx="748665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20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110627-909D-4591-ACA1-C3AE31B6F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957" y="1573618"/>
            <a:ext cx="4279202" cy="430404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C43862E-3074-462D-8A15-BCA3B917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History of NoSQL Databases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7EA48-2143-4D60-8745-8D925383ED69}"/>
              </a:ext>
            </a:extLst>
          </p:cNvPr>
          <p:cNvSpPr txBox="1"/>
          <p:nvPr/>
        </p:nvSpPr>
        <p:spPr>
          <a:xfrm>
            <a:off x="2615610" y="612571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2005- CouchDB is launched</a:t>
            </a:r>
          </a:p>
        </p:txBody>
      </p:sp>
    </p:spTree>
    <p:extLst>
      <p:ext uri="{BB962C8B-B14F-4D97-AF65-F5344CB8AC3E}">
        <p14:creationId xmlns:p14="http://schemas.microsoft.com/office/powerpoint/2010/main" val="2791799116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A521C0-A65F-4AA3-BA72-B09B3AA5D30F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72" r="70"/>
          <a:stretch/>
        </p:blipFill>
        <p:spPr>
          <a:xfrm>
            <a:off x="755485" y="1640919"/>
            <a:ext cx="7633030" cy="310470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065DF36-7DA5-4C2D-8552-5735324F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History of NoSQL Databases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EB894-3DCF-4494-98CB-D9EA5F034E26}"/>
              </a:ext>
            </a:extLst>
          </p:cNvPr>
          <p:cNvSpPr txBox="1"/>
          <p:nvPr/>
        </p:nvSpPr>
        <p:spPr>
          <a:xfrm>
            <a:off x="1765004" y="5082131"/>
            <a:ext cx="62301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i="0" lang="en-US" sz="2200">
                <a:solidFill>
                  <a:srgbClr val="222222"/>
                </a:solidFill>
                <a:effectLst/>
                <a:latin charset="0" panose="020B0502040204020203" pitchFamily="34" typeface="Bahnschrift"/>
              </a:rPr>
              <a:t>2007- The research paper on Amazon Dynamo is released</a:t>
            </a:r>
          </a:p>
        </p:txBody>
      </p:sp>
    </p:spTree>
    <p:extLst>
      <p:ext uri="{BB962C8B-B14F-4D97-AF65-F5344CB8AC3E}">
        <p14:creationId xmlns:p14="http://schemas.microsoft.com/office/powerpoint/2010/main" val="3382996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68E97D-8AD4-426B-85DC-56E60510E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824" y="1738423"/>
            <a:ext cx="6692351" cy="338115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6A0BBA4-3CB7-40D7-9617-83A37B51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History of NoSQL Databases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5348F-836E-48D0-9506-A6FC81C9B792}"/>
              </a:ext>
            </a:extLst>
          </p:cNvPr>
          <p:cNvSpPr txBox="1"/>
          <p:nvPr/>
        </p:nvSpPr>
        <p:spPr>
          <a:xfrm>
            <a:off x="1648045" y="5725874"/>
            <a:ext cx="58479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2008- Facebooks open sources the Cassandra project</a:t>
            </a:r>
          </a:p>
        </p:txBody>
      </p:sp>
    </p:spTree>
    <p:extLst>
      <p:ext uri="{BB962C8B-B14F-4D97-AF65-F5344CB8AC3E}">
        <p14:creationId xmlns:p14="http://schemas.microsoft.com/office/powerpoint/2010/main" val="4163492819"/>
      </p:ext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8AD931-BFCD-4B41-B349-06DA7E1CE1B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50" r="-62"/>
          <a:stretch/>
        </p:blipFill>
        <p:spPr>
          <a:xfrm>
            <a:off x="835777" y="1868488"/>
            <a:ext cx="7472446" cy="3317358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0A9884-2E40-4789-B366-5267D27C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 fontScale="90000"/>
          </a:bodyPr>
          <a:lstStyle/>
          <a:p>
            <a:br>
              <a:rPr dirty="0" lang="en-IN"/>
            </a:br>
            <a:r>
              <a:rPr dirty="0" lang="en-IN"/>
              <a:t>History of NoSQL Databases</a:t>
            </a:r>
            <a:br>
              <a:rPr dirty="0" lang="en-IN"/>
            </a:br>
            <a:endParaRPr dirty="0"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24E88-3F0B-4221-9C63-1FDA6E793FB3}"/>
              </a:ext>
            </a:extLst>
          </p:cNvPr>
          <p:cNvSpPr txBox="1"/>
          <p:nvPr/>
        </p:nvSpPr>
        <p:spPr>
          <a:xfrm>
            <a:off x="2120383" y="572877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i="0" lang="en-US" sz="2400">
                <a:solidFill>
                  <a:srgbClr val="222222"/>
                </a:solidFill>
                <a:effectLst/>
                <a:latin charset="0" panose="020B0502040204020203" pitchFamily="34" typeface="Bahnschrift"/>
              </a:rPr>
              <a:t> 2009- The term NoSQL was reintroduced</a:t>
            </a:r>
          </a:p>
        </p:txBody>
      </p:sp>
    </p:spTree>
    <p:extLst>
      <p:ext uri="{BB962C8B-B14F-4D97-AF65-F5344CB8AC3E}">
        <p14:creationId xmlns:p14="http://schemas.microsoft.com/office/powerpoint/2010/main" val="4267357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1756CB7-BDF3-4746-A687-88E9711C48FF}"/>
              </a:ext>
            </a:extLst>
          </p:cNvPr>
          <p:cNvSpPr/>
          <p:nvPr/>
        </p:nvSpPr>
        <p:spPr>
          <a:xfrm>
            <a:off x="3022052" y="1526518"/>
            <a:ext cx="3019153" cy="1211515"/>
          </a:xfrm>
          <a:custGeom>
            <a:avLst/>
            <a:gdLst>
              <a:gd name="connsiteX0" fmla="*/ 0 w 3019153"/>
              <a:gd name="connsiteY0" fmla="*/ 201923 h 1211515"/>
              <a:gd name="connsiteX1" fmla="*/ 201923 w 3019153"/>
              <a:gd name="connsiteY1" fmla="*/ 0 h 1211515"/>
              <a:gd name="connsiteX2" fmla="*/ 2817230 w 3019153"/>
              <a:gd name="connsiteY2" fmla="*/ 0 h 1211515"/>
              <a:gd name="connsiteX3" fmla="*/ 3019153 w 3019153"/>
              <a:gd name="connsiteY3" fmla="*/ 201923 h 1211515"/>
              <a:gd name="connsiteX4" fmla="*/ 3019153 w 3019153"/>
              <a:gd name="connsiteY4" fmla="*/ 1009592 h 1211515"/>
              <a:gd name="connsiteX5" fmla="*/ 2817230 w 3019153"/>
              <a:gd name="connsiteY5" fmla="*/ 1211515 h 1211515"/>
              <a:gd name="connsiteX6" fmla="*/ 201923 w 3019153"/>
              <a:gd name="connsiteY6" fmla="*/ 1211515 h 1211515"/>
              <a:gd name="connsiteX7" fmla="*/ 0 w 3019153"/>
              <a:gd name="connsiteY7" fmla="*/ 1009592 h 1211515"/>
              <a:gd name="connsiteX8" fmla="*/ 0 w 3019153"/>
              <a:gd name="connsiteY8" fmla="*/ 201923 h 121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9153" h="1211515">
                <a:moveTo>
                  <a:pt x="0" y="201923"/>
                </a:moveTo>
                <a:cubicBezTo>
                  <a:pt x="0" y="90404"/>
                  <a:pt x="90404" y="0"/>
                  <a:pt x="201923" y="0"/>
                </a:cubicBezTo>
                <a:lnTo>
                  <a:pt x="2817230" y="0"/>
                </a:lnTo>
                <a:cubicBezTo>
                  <a:pt x="2928749" y="0"/>
                  <a:pt x="3019153" y="90404"/>
                  <a:pt x="3019153" y="201923"/>
                </a:cubicBezTo>
                <a:lnTo>
                  <a:pt x="3019153" y="1009592"/>
                </a:lnTo>
                <a:cubicBezTo>
                  <a:pt x="3019153" y="1121111"/>
                  <a:pt x="2928749" y="1211515"/>
                  <a:pt x="2817230" y="1211515"/>
                </a:cubicBezTo>
                <a:lnTo>
                  <a:pt x="201923" y="1211515"/>
                </a:lnTo>
                <a:cubicBezTo>
                  <a:pt x="90404" y="1211515"/>
                  <a:pt x="0" y="1121111"/>
                  <a:pt x="0" y="1009592"/>
                </a:cubicBezTo>
                <a:lnTo>
                  <a:pt x="0" y="201923"/>
                </a:lnTo>
                <a:close/>
              </a:path>
            </a:pathLst>
          </a:custGeom>
          <a:solidFill>
            <a:srgbClr val="44525A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491" tIns="125816" rIns="192491" bIns="125816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3500" i="0" kern="1200"/>
              <a:t>Non-relational</a:t>
            </a:r>
            <a:endParaRPr lang="en-IN" sz="3500" kern="12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E3ECDF7-CB37-4080-A9C2-5C86EE2D3922}"/>
              </a:ext>
            </a:extLst>
          </p:cNvPr>
          <p:cNvSpPr/>
          <p:nvPr/>
        </p:nvSpPr>
        <p:spPr>
          <a:xfrm>
            <a:off x="3022052" y="2798610"/>
            <a:ext cx="3019153" cy="1211515"/>
          </a:xfrm>
          <a:custGeom>
            <a:avLst/>
            <a:gdLst>
              <a:gd name="connsiteX0" fmla="*/ 0 w 3019153"/>
              <a:gd name="connsiteY0" fmla="*/ 201923 h 1211515"/>
              <a:gd name="connsiteX1" fmla="*/ 201923 w 3019153"/>
              <a:gd name="connsiteY1" fmla="*/ 0 h 1211515"/>
              <a:gd name="connsiteX2" fmla="*/ 2817230 w 3019153"/>
              <a:gd name="connsiteY2" fmla="*/ 0 h 1211515"/>
              <a:gd name="connsiteX3" fmla="*/ 3019153 w 3019153"/>
              <a:gd name="connsiteY3" fmla="*/ 201923 h 1211515"/>
              <a:gd name="connsiteX4" fmla="*/ 3019153 w 3019153"/>
              <a:gd name="connsiteY4" fmla="*/ 1009592 h 1211515"/>
              <a:gd name="connsiteX5" fmla="*/ 2817230 w 3019153"/>
              <a:gd name="connsiteY5" fmla="*/ 1211515 h 1211515"/>
              <a:gd name="connsiteX6" fmla="*/ 201923 w 3019153"/>
              <a:gd name="connsiteY6" fmla="*/ 1211515 h 1211515"/>
              <a:gd name="connsiteX7" fmla="*/ 0 w 3019153"/>
              <a:gd name="connsiteY7" fmla="*/ 1009592 h 1211515"/>
              <a:gd name="connsiteX8" fmla="*/ 0 w 3019153"/>
              <a:gd name="connsiteY8" fmla="*/ 201923 h 121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9153" h="1211515">
                <a:moveTo>
                  <a:pt x="0" y="201923"/>
                </a:moveTo>
                <a:cubicBezTo>
                  <a:pt x="0" y="90404"/>
                  <a:pt x="90404" y="0"/>
                  <a:pt x="201923" y="0"/>
                </a:cubicBezTo>
                <a:lnTo>
                  <a:pt x="2817230" y="0"/>
                </a:lnTo>
                <a:cubicBezTo>
                  <a:pt x="2928749" y="0"/>
                  <a:pt x="3019153" y="90404"/>
                  <a:pt x="3019153" y="201923"/>
                </a:cubicBezTo>
                <a:lnTo>
                  <a:pt x="3019153" y="1009592"/>
                </a:lnTo>
                <a:cubicBezTo>
                  <a:pt x="3019153" y="1121111"/>
                  <a:pt x="2928749" y="1211515"/>
                  <a:pt x="2817230" y="1211515"/>
                </a:cubicBezTo>
                <a:lnTo>
                  <a:pt x="201923" y="1211515"/>
                </a:lnTo>
                <a:cubicBezTo>
                  <a:pt x="90404" y="1211515"/>
                  <a:pt x="0" y="1121111"/>
                  <a:pt x="0" y="1009592"/>
                </a:cubicBezTo>
                <a:lnTo>
                  <a:pt x="0" y="201923"/>
                </a:lnTo>
                <a:close/>
              </a:path>
            </a:pathLst>
          </a:custGeom>
          <a:solidFill>
            <a:srgbClr val="44525A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491" tIns="125816" rIns="192491" bIns="125816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3500" i="0" kern="1200"/>
              <a:t>Schema-free</a:t>
            </a:r>
            <a:endParaRPr lang="en-IN" sz="3500" kern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FF39579-5EFA-4129-B3D9-332AF87B73CA}"/>
              </a:ext>
            </a:extLst>
          </p:cNvPr>
          <p:cNvSpPr/>
          <p:nvPr/>
        </p:nvSpPr>
        <p:spPr>
          <a:xfrm>
            <a:off x="3022052" y="4070702"/>
            <a:ext cx="3019153" cy="1211515"/>
          </a:xfrm>
          <a:custGeom>
            <a:avLst/>
            <a:gdLst>
              <a:gd name="connsiteX0" fmla="*/ 0 w 3019153"/>
              <a:gd name="connsiteY0" fmla="*/ 201923 h 1211515"/>
              <a:gd name="connsiteX1" fmla="*/ 201923 w 3019153"/>
              <a:gd name="connsiteY1" fmla="*/ 0 h 1211515"/>
              <a:gd name="connsiteX2" fmla="*/ 2817230 w 3019153"/>
              <a:gd name="connsiteY2" fmla="*/ 0 h 1211515"/>
              <a:gd name="connsiteX3" fmla="*/ 3019153 w 3019153"/>
              <a:gd name="connsiteY3" fmla="*/ 201923 h 1211515"/>
              <a:gd name="connsiteX4" fmla="*/ 3019153 w 3019153"/>
              <a:gd name="connsiteY4" fmla="*/ 1009592 h 1211515"/>
              <a:gd name="connsiteX5" fmla="*/ 2817230 w 3019153"/>
              <a:gd name="connsiteY5" fmla="*/ 1211515 h 1211515"/>
              <a:gd name="connsiteX6" fmla="*/ 201923 w 3019153"/>
              <a:gd name="connsiteY6" fmla="*/ 1211515 h 1211515"/>
              <a:gd name="connsiteX7" fmla="*/ 0 w 3019153"/>
              <a:gd name="connsiteY7" fmla="*/ 1009592 h 1211515"/>
              <a:gd name="connsiteX8" fmla="*/ 0 w 3019153"/>
              <a:gd name="connsiteY8" fmla="*/ 201923 h 121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9153" h="1211515">
                <a:moveTo>
                  <a:pt x="0" y="201923"/>
                </a:moveTo>
                <a:cubicBezTo>
                  <a:pt x="0" y="90404"/>
                  <a:pt x="90404" y="0"/>
                  <a:pt x="201923" y="0"/>
                </a:cubicBezTo>
                <a:lnTo>
                  <a:pt x="2817230" y="0"/>
                </a:lnTo>
                <a:cubicBezTo>
                  <a:pt x="2928749" y="0"/>
                  <a:pt x="3019153" y="90404"/>
                  <a:pt x="3019153" y="201923"/>
                </a:cubicBezTo>
                <a:lnTo>
                  <a:pt x="3019153" y="1009592"/>
                </a:lnTo>
                <a:cubicBezTo>
                  <a:pt x="3019153" y="1121111"/>
                  <a:pt x="2928749" y="1211515"/>
                  <a:pt x="2817230" y="1211515"/>
                </a:cubicBezTo>
                <a:lnTo>
                  <a:pt x="201923" y="1211515"/>
                </a:lnTo>
                <a:cubicBezTo>
                  <a:pt x="90404" y="1211515"/>
                  <a:pt x="0" y="1121111"/>
                  <a:pt x="0" y="1009592"/>
                </a:cubicBezTo>
                <a:lnTo>
                  <a:pt x="0" y="201923"/>
                </a:lnTo>
                <a:close/>
              </a:path>
            </a:pathLst>
          </a:custGeom>
          <a:solidFill>
            <a:srgbClr val="44525A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491" tIns="125816" rIns="192491" bIns="125816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3500" i="0" kern="1200"/>
              <a:t>Simple API</a:t>
            </a:r>
            <a:endParaRPr lang="en-IN" sz="3500" kern="12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65BAE58-2C28-4AC6-ACCF-377C5C2D6DB7}"/>
              </a:ext>
            </a:extLst>
          </p:cNvPr>
          <p:cNvSpPr/>
          <p:nvPr/>
        </p:nvSpPr>
        <p:spPr>
          <a:xfrm>
            <a:off x="3022052" y="5342794"/>
            <a:ext cx="3019153" cy="1211515"/>
          </a:xfrm>
          <a:custGeom>
            <a:avLst/>
            <a:gdLst>
              <a:gd name="connsiteX0" fmla="*/ 0 w 3019153"/>
              <a:gd name="connsiteY0" fmla="*/ 201923 h 1211515"/>
              <a:gd name="connsiteX1" fmla="*/ 201923 w 3019153"/>
              <a:gd name="connsiteY1" fmla="*/ 0 h 1211515"/>
              <a:gd name="connsiteX2" fmla="*/ 2817230 w 3019153"/>
              <a:gd name="connsiteY2" fmla="*/ 0 h 1211515"/>
              <a:gd name="connsiteX3" fmla="*/ 3019153 w 3019153"/>
              <a:gd name="connsiteY3" fmla="*/ 201923 h 1211515"/>
              <a:gd name="connsiteX4" fmla="*/ 3019153 w 3019153"/>
              <a:gd name="connsiteY4" fmla="*/ 1009592 h 1211515"/>
              <a:gd name="connsiteX5" fmla="*/ 2817230 w 3019153"/>
              <a:gd name="connsiteY5" fmla="*/ 1211515 h 1211515"/>
              <a:gd name="connsiteX6" fmla="*/ 201923 w 3019153"/>
              <a:gd name="connsiteY6" fmla="*/ 1211515 h 1211515"/>
              <a:gd name="connsiteX7" fmla="*/ 0 w 3019153"/>
              <a:gd name="connsiteY7" fmla="*/ 1009592 h 1211515"/>
              <a:gd name="connsiteX8" fmla="*/ 0 w 3019153"/>
              <a:gd name="connsiteY8" fmla="*/ 201923 h 121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9153" h="1211515">
                <a:moveTo>
                  <a:pt x="0" y="201923"/>
                </a:moveTo>
                <a:cubicBezTo>
                  <a:pt x="0" y="90404"/>
                  <a:pt x="90404" y="0"/>
                  <a:pt x="201923" y="0"/>
                </a:cubicBezTo>
                <a:lnTo>
                  <a:pt x="2817230" y="0"/>
                </a:lnTo>
                <a:cubicBezTo>
                  <a:pt x="2928749" y="0"/>
                  <a:pt x="3019153" y="90404"/>
                  <a:pt x="3019153" y="201923"/>
                </a:cubicBezTo>
                <a:lnTo>
                  <a:pt x="3019153" y="1009592"/>
                </a:lnTo>
                <a:cubicBezTo>
                  <a:pt x="3019153" y="1121111"/>
                  <a:pt x="2928749" y="1211515"/>
                  <a:pt x="2817230" y="1211515"/>
                </a:cubicBezTo>
                <a:lnTo>
                  <a:pt x="201923" y="1211515"/>
                </a:lnTo>
                <a:cubicBezTo>
                  <a:pt x="90404" y="1211515"/>
                  <a:pt x="0" y="1121111"/>
                  <a:pt x="0" y="1009592"/>
                </a:cubicBezTo>
                <a:lnTo>
                  <a:pt x="0" y="201923"/>
                </a:lnTo>
                <a:close/>
              </a:path>
            </a:pathLst>
          </a:custGeom>
          <a:solidFill>
            <a:srgbClr val="44525A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491" tIns="125816" rIns="192491" bIns="125816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3500" i="0" kern="1200"/>
              <a:t>Distributed</a:t>
            </a:r>
            <a:endParaRPr lang="en-IN" sz="3500" kern="12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01B2A4-5993-4AA0-A531-03674BD6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Features of NoSQL</a:t>
            </a:r>
          </a:p>
        </p:txBody>
      </p:sp>
    </p:spTree>
    <p:extLst>
      <p:ext uri="{BB962C8B-B14F-4D97-AF65-F5344CB8AC3E}">
        <p14:creationId xmlns:p14="http://schemas.microsoft.com/office/powerpoint/2010/main" val="3935337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C4ADF-08FB-4E93-BE75-9E5E51C9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13845"/>
            <a:ext cx="838653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i="0" dirty="0">
                <a:solidFill>
                  <a:srgbClr val="FF0000"/>
                </a:solidFill>
                <a:effectLst/>
              </a:rPr>
              <a:t>Non-relational</a:t>
            </a:r>
          </a:p>
          <a:p>
            <a:pPr lvl="1" algn="just"/>
            <a:r>
              <a:rPr lang="en-US" b="0" i="0" dirty="0">
                <a:solidFill>
                  <a:srgbClr val="222222"/>
                </a:solidFill>
                <a:effectLst/>
              </a:rPr>
              <a:t>Never follow the </a:t>
            </a:r>
            <a:r>
              <a:rPr lang="en-US" b="0" i="0" u="none" strike="noStrike" dirty="0">
                <a:effectLst/>
              </a:rPr>
              <a:t>relational model</a:t>
            </a:r>
            <a:endParaRPr lang="en-US" b="0" i="0" dirty="0">
              <a:effectLst/>
            </a:endParaRPr>
          </a:p>
          <a:p>
            <a:pPr lvl="1" algn="just"/>
            <a:r>
              <a:rPr lang="en-US" b="0" i="0" dirty="0">
                <a:solidFill>
                  <a:srgbClr val="222222"/>
                </a:solidFill>
                <a:effectLst/>
              </a:rPr>
              <a:t>Never provide tables with flat fixed-column records</a:t>
            </a:r>
          </a:p>
          <a:p>
            <a:pPr lvl="1" algn="just"/>
            <a:r>
              <a:rPr lang="en-US" b="0" i="0" dirty="0">
                <a:solidFill>
                  <a:srgbClr val="222222"/>
                </a:solidFill>
                <a:effectLst/>
              </a:rPr>
              <a:t>Work with self-contained aggregates or BLOBs</a:t>
            </a:r>
          </a:p>
          <a:p>
            <a:pPr lvl="1" algn="just"/>
            <a:r>
              <a:rPr lang="en-US" b="0" i="0" dirty="0">
                <a:solidFill>
                  <a:srgbClr val="222222"/>
                </a:solidFill>
                <a:effectLst/>
              </a:rPr>
              <a:t>Doesn't require object-relational mapping and data normalization</a:t>
            </a:r>
          </a:p>
          <a:p>
            <a:pPr lvl="1" algn="just"/>
            <a:r>
              <a:rPr lang="en-US" b="0" i="0" dirty="0">
                <a:solidFill>
                  <a:srgbClr val="222222"/>
                </a:solidFill>
                <a:effectLst/>
              </a:rPr>
              <a:t>No complex features like query languages, query planners, referential integrity joins, ACID</a:t>
            </a:r>
          </a:p>
          <a:p>
            <a:pPr lvl="1"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01B2A4-5993-4AA0-A531-03674BD6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Features of NoSQL</a:t>
            </a:r>
          </a:p>
        </p:txBody>
      </p:sp>
    </p:spTree>
    <p:extLst>
      <p:ext uri="{BB962C8B-B14F-4D97-AF65-F5344CB8AC3E}">
        <p14:creationId xmlns:p14="http://schemas.microsoft.com/office/powerpoint/2010/main" val="3770411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C4ADF-08FB-4E93-BE75-9E5E51C9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0995"/>
            <a:ext cx="8386537" cy="791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i="0" dirty="0">
                <a:solidFill>
                  <a:srgbClr val="222222"/>
                </a:solidFill>
                <a:effectLst/>
              </a:rPr>
              <a:t>Schema-free</a:t>
            </a:r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01B2A4-5993-4AA0-A531-03674BD6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Features of NoSQL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DB36D-9EC2-41CC-87C5-8F291271F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771776"/>
            <a:ext cx="7124700" cy="3448050"/>
          </a:xfrm>
          <a:prstGeom prst="rect">
            <a:avLst/>
          </a:prstGeom>
          <a:solidFill>
            <a:srgbClr val="072235"/>
          </a:solidFill>
        </p:spPr>
      </p:pic>
    </p:spTree>
    <p:extLst>
      <p:ext uri="{BB962C8B-B14F-4D97-AF65-F5344CB8AC3E}">
        <p14:creationId xmlns:p14="http://schemas.microsoft.com/office/powerpoint/2010/main" val="305476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C4ADF-08FB-4E93-BE75-9E5E51C9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94795"/>
            <a:ext cx="8386537" cy="7340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i="0" dirty="0">
                <a:solidFill>
                  <a:srgbClr val="222222"/>
                </a:solidFill>
                <a:effectLst/>
              </a:rPr>
              <a:t>Simple API</a:t>
            </a:r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01B2A4-5993-4AA0-A531-03674BD6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Features of NoSQL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B7914-F4F3-461B-8A9F-B94AFF45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54" y="2411862"/>
            <a:ext cx="5628222" cy="422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64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C4ADF-08FB-4E93-BE75-9E5E51C9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75745"/>
            <a:ext cx="838653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i="0" dirty="0">
                <a:solidFill>
                  <a:srgbClr val="222222"/>
                </a:solidFill>
                <a:effectLst/>
              </a:rPr>
              <a:t>Distributed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01B2A4-5993-4AA0-A531-03674BD6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dirty="0"/>
            </a:br>
            <a:r>
              <a:rPr lang="en-IN" dirty="0"/>
              <a:t>Features of NoSQL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425C0B-9FFE-457E-94D3-69D5F3925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553" y="2452538"/>
            <a:ext cx="6648893" cy="41804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779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C4ADF-08FB-4E93-BE75-9E5E51C9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59876"/>
            <a:ext cx="8386537" cy="88327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i="0" dirty="0">
                <a:solidFill>
                  <a:srgbClr val="FF0000"/>
                </a:solidFill>
                <a:effectLst/>
              </a:rPr>
              <a:t>Distributed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01B2A4-5993-4AA0-A531-03674BD6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Features of NoSQL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9E133-4AFC-4B15-A3E2-42E18F3E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2478225"/>
            <a:ext cx="8275921" cy="3162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DF97CF-9F00-4BF3-9412-E998E1FCA678}"/>
              </a:ext>
            </a:extLst>
          </p:cNvPr>
          <p:cNvSpPr txBox="1"/>
          <p:nvPr/>
        </p:nvSpPr>
        <p:spPr>
          <a:xfrm>
            <a:off x="1915190" y="595785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NoSQL is Shared Nothing.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852634"/>
      </p:ext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descr="Padlock on computer motherboard" id="4" name="Picture 3">
            <a:extLst>
              <a:ext uri="{FF2B5EF4-FFF2-40B4-BE49-F238E27FC236}">
                <a16:creationId xmlns:a16="http://schemas.microsoft.com/office/drawing/2014/main" id="{CD121C3E-108D-4A56-A6E2-D0A013B4BB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-2" r="14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8A441B-4681-4F72-8AEA-06BD5A36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80" y="3957481"/>
            <a:ext cx="6858000" cy="2900518"/>
          </a:xfrm>
        </p:spPr>
        <p:txBody>
          <a:bodyPr anchor="b" bIns="45720" lIns="91440" rIns="91440" rtlCol="0" tIns="45720" vert="horz">
            <a:normAutofit/>
          </a:bodyPr>
          <a:lstStyle/>
          <a:p>
            <a:pPr algn="ctr"/>
            <a:r>
              <a:rPr b="1" dirty="0" i="0" lang="en-US">
                <a:solidFill>
                  <a:srgbClr val="FFFFFF"/>
                </a:solidFill>
                <a:effectLst/>
                <a:latin charset="0" panose="020B0502040204020203" pitchFamily="34" typeface="Bahnschrift SemiBold"/>
              </a:rPr>
              <a:t>Types of NoSQL Databases</a:t>
            </a:r>
            <a:endParaRPr dirty="0" lang="en-US">
              <a:solidFill>
                <a:srgbClr val="FFFFFF"/>
              </a:solidFill>
              <a:latin charset="0" panose="020B0502040204020203" pitchFamily="34" typeface="Bahnschrif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14069000"/>
      </p:ext>
    </p:extLst>
  </p:cSld>
  <p:clrMapOvr>
    <a:overrideClrMapping accent1="accent1" accent2="accent2" accent3="accent3" accent4="accent4" accent5="accent5" accent6="accent6" bg1="dk1" bg2="dk2" folHlink="folHlink" hlink="hlink" tx1="lt1" tx2="lt2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910957-BC02-47B8-B53D-25B0AEF9E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619" y="2710672"/>
            <a:ext cx="8386762" cy="26911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62DA3CB-B27A-4637-A980-6F0685B6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Types of NoSQL Databases</a:t>
            </a:r>
          </a:p>
        </p:txBody>
      </p:sp>
    </p:spTree>
    <p:extLst>
      <p:ext uri="{BB962C8B-B14F-4D97-AF65-F5344CB8AC3E}">
        <p14:creationId xmlns:p14="http://schemas.microsoft.com/office/powerpoint/2010/main" val="439259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F2E07A-4525-4CED-A1C2-9642A618B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60" y="1956390"/>
            <a:ext cx="5949804" cy="366904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65A8909-BB1E-427A-8A9F-7A0A67A1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Key Value Pair Based</a:t>
            </a:r>
          </a:p>
        </p:txBody>
      </p:sp>
    </p:spTree>
    <p:extLst>
      <p:ext uri="{BB962C8B-B14F-4D97-AF65-F5344CB8AC3E}">
        <p14:creationId xmlns:p14="http://schemas.microsoft.com/office/powerpoint/2010/main" val="1183089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5A8909-BB1E-427A-8A9F-7A0A67A1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Key Value Pair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C0F98F-5AE3-400E-8C1F-BEE06E3A1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0" y="2115880"/>
            <a:ext cx="5072978" cy="24704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F93F7-CFFC-4192-A76D-41D5E35FE056}"/>
              </a:ext>
            </a:extLst>
          </p:cNvPr>
          <p:cNvSpPr/>
          <p:nvPr/>
        </p:nvSpPr>
        <p:spPr>
          <a:xfrm>
            <a:off x="2041451" y="4742121"/>
            <a:ext cx="1190847" cy="79031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JSON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21034"/>
      </p:ext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5A8909-BB1E-427A-8A9F-7A0A67A1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Key Value Pair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C0F98F-5AE3-400E-8C1F-BEE06E3A1E9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0" y="2115880"/>
            <a:ext cx="5072978" cy="24704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F93F7-CFFC-4192-A76D-41D5E35FE056}"/>
              </a:ext>
            </a:extLst>
          </p:cNvPr>
          <p:cNvSpPr/>
          <p:nvPr/>
        </p:nvSpPr>
        <p:spPr>
          <a:xfrm>
            <a:off x="2041451" y="4742121"/>
            <a:ext cx="1190847" cy="79031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400">
                <a:latin charset="0" panose="020B0502040204020203" pitchFamily="34" typeface="Bahnschrift"/>
              </a:rPr>
              <a:t>JSON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4D6345-0D78-4961-8B4A-9EAC201CD6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8"/>
          <a:stretch/>
        </p:blipFill>
        <p:spPr>
          <a:xfrm>
            <a:off x="5219257" y="2115879"/>
            <a:ext cx="3683451" cy="24704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D2D5036-A1C6-4657-92A2-D90432175F22}"/>
              </a:ext>
            </a:extLst>
          </p:cNvPr>
          <p:cNvSpPr/>
          <p:nvPr/>
        </p:nvSpPr>
        <p:spPr>
          <a:xfrm>
            <a:off x="5433237" y="4742120"/>
            <a:ext cx="3391785" cy="79031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IN" sz="24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 BLOB(Binary Large Objects)</a:t>
            </a:r>
            <a:endParaRPr dirty="0" lang="en-IN" sz="22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043793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6BD347-F645-41BC-8D19-4CEC5541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NoSQL database is used as a collection, dictionaries, associative arrays, etc. </a:t>
            </a:r>
          </a:p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Key value stores help the developer to store schema-less data. </a:t>
            </a:r>
          </a:p>
          <a:p>
            <a:pPr algn="just"/>
            <a:r>
              <a:rPr lang="en-US" b="0" i="0" dirty="0">
                <a:solidFill>
                  <a:srgbClr val="222222"/>
                </a:solidFill>
                <a:effectLst/>
              </a:rPr>
              <a:t>They work best for shopping cart contents.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B2B6D4-5788-4CA8-870B-3D338FE5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Key Value Pair Based</a:t>
            </a:r>
          </a:p>
        </p:txBody>
      </p:sp>
    </p:spTree>
    <p:extLst>
      <p:ext uri="{BB962C8B-B14F-4D97-AF65-F5344CB8AC3E}">
        <p14:creationId xmlns:p14="http://schemas.microsoft.com/office/powerpoint/2010/main" val="3214401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D0611C-3B67-4126-A2BD-7D15ACC00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2729387"/>
            <a:ext cx="8386762" cy="280257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A5A95F-A19A-4E2A-94DC-8D050952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Key Value Pair Based</a:t>
            </a:r>
          </a:p>
        </p:txBody>
      </p:sp>
    </p:spTree>
    <p:extLst>
      <p:ext uri="{BB962C8B-B14F-4D97-AF65-F5344CB8AC3E}">
        <p14:creationId xmlns:p14="http://schemas.microsoft.com/office/powerpoint/2010/main" val="349242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A5A95F-A19A-4E2A-94DC-8D050952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Key Value Pair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CF0657-2D70-433A-97C4-C10CC609E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132" y="1657350"/>
            <a:ext cx="7285736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79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A5A95F-A19A-4E2A-94DC-8D050952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Key Value Pair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892AC0-FD32-4C62-ACF9-0B3E74ED9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310" y="2690038"/>
            <a:ext cx="6647573" cy="210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24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A5A95F-A19A-4E2A-94DC-8D050952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Key Value Pair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29106A-C8E2-46AB-9B95-254B6BB1A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9077" y="1701909"/>
            <a:ext cx="5050188" cy="4002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00AA8D-C71E-47B2-8BFA-8FD8F5ECD5E2}"/>
              </a:ext>
            </a:extLst>
          </p:cNvPr>
          <p:cNvSpPr txBox="1"/>
          <p:nvPr/>
        </p:nvSpPr>
        <p:spPr>
          <a:xfrm>
            <a:off x="2623652" y="5867954"/>
            <a:ext cx="3896695" cy="823914"/>
          </a:xfrm>
          <a:prstGeom prst="rect">
            <a:avLst/>
          </a:prstGeom>
          <a:solidFill>
            <a:srgbClr val="44525A">
              <a:alpha val="9800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Based on </a:t>
            </a:r>
            <a:r>
              <a:rPr lang="en-IN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Amazon's Dynamo paper.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115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8D7D1E-1407-4D5B-9C80-E70D99362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6612" y="762552"/>
            <a:ext cx="4439500" cy="521433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4FD1BE-E333-402D-A2AF-8E2D7570F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6612" y="762552"/>
            <a:ext cx="4439500" cy="5214332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6066" y="658175"/>
            <a:ext cx="4439500" cy="5214332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1982A-7BC6-4DB0-A3FD-244D4E67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050" y="1186940"/>
            <a:ext cx="3921172" cy="31318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i="0" kern="120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</a:rPr>
              <a:t>COLUMN-BASED</a:t>
            </a:r>
            <a:endParaRPr lang="en-US" sz="3600" kern="12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91072" y="252951"/>
            <a:ext cx="622210" cy="82961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EF7D4A3-132F-4989-B22B-25948794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91072" y="252951"/>
            <a:ext cx="622210" cy="82961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6217" y="4410821"/>
            <a:ext cx="310807" cy="414409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4EEEB0-E565-42CB-8299-2454D31F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6217" y="4410821"/>
            <a:ext cx="310807" cy="41440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0599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EFA97A-6907-4F3E-A9A5-0BC28124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9972" y="1824038"/>
            <a:ext cx="4812517" cy="340718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20831DE-930D-4928-89A9-41AFE74C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Column-based</a:t>
            </a:r>
          </a:p>
        </p:txBody>
      </p:sp>
    </p:spTree>
    <p:extLst>
      <p:ext uri="{BB962C8B-B14F-4D97-AF65-F5344CB8AC3E}">
        <p14:creationId xmlns:p14="http://schemas.microsoft.com/office/powerpoint/2010/main" val="298756851"/>
      </p:ext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EFA97A-6907-4F3E-A9A5-0BC281243792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9972" y="1824038"/>
            <a:ext cx="4812517" cy="340718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20831DE-930D-4928-89A9-41AFE74C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Column-based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7A9A7-DBE9-4915-A880-F01AB917D22D}"/>
              </a:ext>
            </a:extLst>
          </p:cNvPr>
          <p:cNvSpPr txBox="1"/>
          <p:nvPr/>
        </p:nvSpPr>
        <p:spPr>
          <a:xfrm>
            <a:off x="170121" y="1824038"/>
            <a:ext cx="353945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dirty="0" i="0" lang="en-US" sz="2200">
                <a:solidFill>
                  <a:srgbClr val="222222"/>
                </a:solidFill>
                <a:effectLst/>
                <a:latin charset="0" panose="020B0502040204020203" pitchFamily="34" typeface="Bahnschrift"/>
              </a:rPr>
              <a:t>They deliver high performance on aggregation queries </a:t>
            </a:r>
            <a:endParaRPr dirty="0" lang="en-IN" sz="2200">
              <a:latin charset="0" panose="020B0502040204020203" pitchFamily="34" typeface="Bahnschrift"/>
            </a:endParaRPr>
          </a:p>
        </p:txBody>
      </p:sp>
      <p:pic>
        <p:nvPicPr>
          <p:cNvPr descr="SQL Aggregate Functions" id="2050" name="Picture 2">
            <a:extLst>
              <a:ext uri="{FF2B5EF4-FFF2-40B4-BE49-F238E27FC236}">
                <a16:creationId xmlns:a16="http://schemas.microsoft.com/office/drawing/2014/main" id="{FF9FDD73-432C-4A51-8928-B1E9C0F6A64B}"/>
              </a:ext>
            </a:extLst>
          </p:cNvPr>
          <p:cNvPicPr>
            <a:picLocks noChangeArrowheads="1"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" r="169"/>
          <a:stretch/>
        </p:blipFill>
        <p:spPr bwMode="auto">
          <a:xfrm>
            <a:off x="0" y="2999743"/>
            <a:ext cx="3957581" cy="197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017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0831DE-930D-4928-89A9-41AFE74C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Column-based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9EF38-B51B-4E29-9185-278D9CF39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02242"/>
            <a:ext cx="8386537" cy="9138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Column-based NoSQL databases are widely used to manage 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EB570-D664-45EB-BB45-6330D3A23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900" y="2738276"/>
            <a:ext cx="5365400" cy="31716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FE2AA96-1742-40B9-922A-DF8DD1905558}"/>
              </a:ext>
            </a:extLst>
          </p:cNvPr>
          <p:cNvSpPr/>
          <p:nvPr/>
        </p:nvSpPr>
        <p:spPr>
          <a:xfrm>
            <a:off x="3215020" y="6115561"/>
            <a:ext cx="2998381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latin typeface="Bahnschrift" panose="020B0502040204020203" pitchFamily="34" charset="0"/>
              </a:rPr>
              <a:t>Dataware</a:t>
            </a:r>
            <a:r>
              <a:rPr lang="en-US" sz="2200" dirty="0">
                <a:latin typeface="Bahnschrift" panose="020B0502040204020203" pitchFamily="34" charset="0"/>
              </a:rPr>
              <a:t> house</a:t>
            </a:r>
            <a:endParaRPr lang="en-IN" sz="2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9681"/>
      </p:ext>
    </p:extLst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0831DE-930D-4928-89A9-41AFE74C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Column-based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9EF38-B51B-4E29-9185-278D9CF39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94795"/>
            <a:ext cx="8386537" cy="1325563"/>
          </a:xfrm>
        </p:spPr>
        <p:txBody>
          <a:bodyPr>
            <a:normAutofit/>
          </a:bodyPr>
          <a:lstStyle/>
          <a:p>
            <a:pPr algn="just" indent="0" marL="0">
              <a:buNone/>
            </a:pPr>
            <a:r>
              <a:rPr b="0" dirty="0" i="0" lang="en-US">
                <a:solidFill>
                  <a:srgbClr val="222222"/>
                </a:solidFill>
                <a:effectLst/>
              </a:rPr>
              <a:t>Column-based NoSQL databases are widely used to manage </a:t>
            </a:r>
            <a:endParaRPr dirty="0"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010365-8589-498F-B29D-D9DDC5DFBC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68" r="-52"/>
          <a:stretch/>
        </p:blipFill>
        <p:spPr>
          <a:xfrm>
            <a:off x="1575392" y="2820358"/>
            <a:ext cx="6655982" cy="386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84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0831DE-930D-4928-89A9-41AFE74C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Column-based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9EF38-B51B-4E29-9185-278D9CF39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14781"/>
            <a:ext cx="8386537" cy="132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Column-based NoSQL databases are widely used to manage 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EDA49-FBE5-4922-85B0-8AE7CFB20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398" y="2913416"/>
            <a:ext cx="6412647" cy="31562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976636-E4F8-4D7C-8A98-8B830552B1A0}"/>
              </a:ext>
            </a:extLst>
          </p:cNvPr>
          <p:cNvSpPr txBox="1"/>
          <p:nvPr/>
        </p:nvSpPr>
        <p:spPr>
          <a:xfrm>
            <a:off x="2322722" y="624271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Bahnschrift" panose="020B0502040204020203" pitchFamily="34" charset="0"/>
              </a:rPr>
              <a:t>Library card </a:t>
            </a:r>
            <a:r>
              <a:rPr lang="en-IN" sz="2800" dirty="0" err="1">
                <a:latin typeface="Bahnschrift" panose="020B0502040204020203" pitchFamily="34" charset="0"/>
              </a:rPr>
              <a:t>catalogs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74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0831DE-930D-4928-89A9-41AFE74C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Column-based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9EF38-B51B-4E29-9185-278D9CF39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5745"/>
            <a:ext cx="8386537" cy="132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Column-based NoSQL databases are widely used to manage 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D595C1-C0AC-4C0E-9CC9-EEB13E105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964" b="93315" l="9993" r="89935">
                        <a14:foregroundMark x1="49747" y1="7103" x2="52643" y2="7799"/>
                        <a14:foregroundMark x1="49312" y1="93315" x2="51991" y2="93315"/>
                        <a14:foregroundMark x1="44388" y1="47214" x2="44388" y2="47214"/>
                        <a14:foregroundMark x1="48805" y1="46936" x2="48805" y2="46936"/>
                        <a14:foregroundMark x1="55033" y1="52786" x2="55033" y2="52786"/>
                        <a14:foregroundMark x1="47647" y1="53064" x2="47647" y2="530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8037" y="2951490"/>
            <a:ext cx="7227925" cy="375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323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52558F4-66F1-42A9-97B5-5C9E0998C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904016"/>
              </p:ext>
            </p:extLst>
          </p:nvPr>
        </p:nvGraphicFramePr>
        <p:xfrm>
          <a:off x="880399" y="1609502"/>
          <a:ext cx="7343664" cy="467699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960324">
                  <a:extLst>
                    <a:ext uri="{9D8B030D-6E8A-4147-A177-3AD203B41FA5}">
                      <a16:colId xmlns:a16="http://schemas.microsoft.com/office/drawing/2014/main" val="3937796817"/>
                    </a:ext>
                  </a:extLst>
                </a:gridCol>
                <a:gridCol w="4383340">
                  <a:extLst>
                    <a:ext uri="{9D8B030D-6E8A-4147-A177-3AD203B41FA5}">
                      <a16:colId xmlns:a16="http://schemas.microsoft.com/office/drawing/2014/main" val="620021624"/>
                    </a:ext>
                  </a:extLst>
                </a:gridCol>
              </a:tblGrid>
              <a:tr h="2338499">
                <a:tc>
                  <a:txBody>
                    <a:bodyPr/>
                    <a:lstStyle/>
                    <a:p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4766234"/>
                  </a:ext>
                </a:extLst>
              </a:tr>
              <a:tr h="2338499">
                <a:tc gridSpan="2">
                  <a:txBody>
                    <a:bodyPr/>
                    <a:lstStyle/>
                    <a:p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69333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0ADB0A4-1A74-4C28-877A-4909A538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Column-based</a:t>
            </a:r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C616E4E2-C360-4E39-B3B8-3961FE2BE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37" y="1692570"/>
            <a:ext cx="3035374" cy="220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544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52558F4-66F1-42A9-97B5-5C9E0998C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49427"/>
              </p:ext>
            </p:extLst>
          </p:nvPr>
        </p:nvGraphicFramePr>
        <p:xfrm>
          <a:off x="880398" y="1609503"/>
          <a:ext cx="7343665" cy="477003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960325">
                  <a:extLst>
                    <a:ext uri="{9D8B030D-6E8A-4147-A177-3AD203B41FA5}">
                      <a16:colId xmlns:a16="http://schemas.microsoft.com/office/drawing/2014/main" val="3937796817"/>
                    </a:ext>
                  </a:extLst>
                </a:gridCol>
                <a:gridCol w="4383340">
                  <a:extLst>
                    <a:ext uri="{9D8B030D-6E8A-4147-A177-3AD203B41FA5}">
                      <a16:colId xmlns:a16="http://schemas.microsoft.com/office/drawing/2014/main" val="620021624"/>
                    </a:ext>
                  </a:extLst>
                </a:gridCol>
              </a:tblGrid>
              <a:tr h="238501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766234"/>
                  </a:ext>
                </a:extLst>
              </a:tr>
              <a:tr h="2385016">
                <a:tc gridSpan="2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69333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0ADB0A4-1A74-4C28-877A-4909A538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Column-based</a:t>
            </a:r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C616E4E2-C360-4E39-B3B8-3961FE2BE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37" y="1692570"/>
            <a:ext cx="3035374" cy="2206603"/>
          </a:xfrm>
          <a:prstGeom prst="rect">
            <a:avLst/>
          </a:prstGeom>
        </p:spPr>
      </p:pic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92DC2E8C-B310-4492-A47B-8B891595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42" y="1692569"/>
            <a:ext cx="3940363" cy="220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68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52558F4-66F1-42A9-97B5-5C9E0998C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027457"/>
              </p:ext>
            </p:extLst>
          </p:nvPr>
        </p:nvGraphicFramePr>
        <p:xfrm>
          <a:off x="880398" y="1609503"/>
          <a:ext cx="7343665" cy="4770032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2960325">
                  <a:extLst>
                    <a:ext uri="{9D8B030D-6E8A-4147-A177-3AD203B41FA5}">
                      <a16:colId xmlns:a16="http://schemas.microsoft.com/office/drawing/2014/main" val="3937796817"/>
                    </a:ext>
                  </a:extLst>
                </a:gridCol>
                <a:gridCol w="4383340">
                  <a:extLst>
                    <a:ext uri="{9D8B030D-6E8A-4147-A177-3AD203B41FA5}">
                      <a16:colId xmlns:a16="http://schemas.microsoft.com/office/drawing/2014/main" val="620021624"/>
                    </a:ext>
                  </a:extLst>
                </a:gridCol>
              </a:tblGrid>
              <a:tr h="238501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766234"/>
                  </a:ext>
                </a:extLst>
              </a:tr>
              <a:tr h="2385016">
                <a:tc gridSpan="2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69333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0ADB0A4-1A74-4C28-877A-4909A538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Column-based</a:t>
            </a:r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C616E4E2-C360-4E39-B3B8-3961FE2BE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37" y="1692570"/>
            <a:ext cx="3035374" cy="2206603"/>
          </a:xfrm>
          <a:prstGeom prst="rect">
            <a:avLst/>
          </a:prstGeom>
        </p:spPr>
      </p:pic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92DC2E8C-B310-4492-A47B-8B891595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342" y="1692569"/>
            <a:ext cx="3940363" cy="2206603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F0ECE1CB-6341-4B87-82F3-C67825172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87" y="4532017"/>
            <a:ext cx="71342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03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EA81CD-DF55-4E23-BE1A-C64BBB1EC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392326"/>
            <a:ext cx="8944057" cy="26500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24709F5-4BAF-4614-83A0-91E8E6F8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Document-Oriented</a:t>
            </a:r>
          </a:p>
        </p:txBody>
      </p:sp>
    </p:spTree>
    <p:extLst>
      <p:ext uri="{BB962C8B-B14F-4D97-AF65-F5344CB8AC3E}">
        <p14:creationId xmlns:p14="http://schemas.microsoft.com/office/powerpoint/2010/main" val="33552522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BCCB59-0F6A-4506-AB63-0547FC05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5745"/>
            <a:ext cx="8386537" cy="886455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The document type is mostly used for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97A1D-79E8-4C51-B56B-12E37DB8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Document-Oriented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40AA2-CFBD-47CA-8357-3712B62B8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12382"/>
            <a:ext cx="6553200" cy="39319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00170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BCCB59-0F6A-4506-AB63-0547FC05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84767"/>
            <a:ext cx="8386537" cy="877433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The document type is mostly used for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97A1D-79E8-4C51-B56B-12E37DB8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Document-Oriented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71FF9-303D-4112-9CFB-3000F1A9D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693" y="2521404"/>
            <a:ext cx="6424613" cy="39715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3209803"/>
      </p:ext>
    </p:extLst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BCCB59-0F6A-4506-AB63-0547FC05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24837"/>
            <a:ext cx="8386537" cy="723063"/>
          </a:xfrm>
        </p:spPr>
        <p:txBody>
          <a:bodyPr/>
          <a:lstStyle/>
          <a:p>
            <a:pPr algn="just" indent="0" marL="0">
              <a:buNone/>
            </a:pPr>
            <a:r>
              <a:rPr b="0" dirty="0" i="0" lang="en-US">
                <a:solidFill>
                  <a:srgbClr val="222222"/>
                </a:solidFill>
                <a:effectLst/>
              </a:rPr>
              <a:t>The document type is mostly used for</a:t>
            </a:r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97A1D-79E8-4C51-B56B-12E37DB8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Document-Oriented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94601-E46E-4495-9AC0-E2117E1B32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38"/>
          <a:stretch/>
        </p:blipFill>
        <p:spPr>
          <a:xfrm>
            <a:off x="742950" y="2413455"/>
            <a:ext cx="7658100" cy="39448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3391619"/>
      </p:ext>
    </p:extLst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BCCB59-0F6A-4506-AB63-0547FC05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94795"/>
            <a:ext cx="8386537" cy="734055"/>
          </a:xfrm>
        </p:spPr>
        <p:txBody>
          <a:bodyPr/>
          <a:lstStyle/>
          <a:p>
            <a:pPr indent="0" marL="0">
              <a:buNone/>
            </a:pPr>
            <a:r>
              <a:rPr b="0" dirty="0" i="0" lang="en-US">
                <a:solidFill>
                  <a:srgbClr val="222222"/>
                </a:solidFill>
                <a:effectLst/>
              </a:rPr>
              <a:t>The document type is mostly used for</a:t>
            </a:r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97A1D-79E8-4C51-B56B-12E37DB8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Document-Oriented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43B70-1FDD-4657-A99D-469AE57037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81" r="-43"/>
          <a:stretch/>
        </p:blipFill>
        <p:spPr>
          <a:xfrm>
            <a:off x="1632046" y="2398082"/>
            <a:ext cx="5879907" cy="429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019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F3310B-19F9-4AB1-A4E0-A6BFB7438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88791" y="2223983"/>
            <a:ext cx="5451291" cy="363419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9FCB5EE-8102-4199-8C38-F640622A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Document-Oriented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3E7D6-77D0-41AA-88D2-B5014F173E3A}"/>
              </a:ext>
            </a:extLst>
          </p:cNvPr>
          <p:cNvSpPr txBox="1"/>
          <p:nvPr/>
        </p:nvSpPr>
        <p:spPr>
          <a:xfrm>
            <a:off x="3693485" y="1911202"/>
            <a:ext cx="5221915" cy="4259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b="0" i="0" dirty="0">
                <a:solidFill>
                  <a:srgbClr val="222222"/>
                </a:solidFill>
                <a:effectLst/>
                <a:latin typeface="Bahnschrift" panose="020B0502040204020203" pitchFamily="34" charset="0"/>
              </a:rPr>
              <a:t>It should not use for complex transactions which require multiple operations or queries against varying aggregate structures.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7961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FCB5EE-8102-4199-8C38-F640622A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Document-Oriented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E1351-84FB-4A7F-9B4B-433836B65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89995"/>
            <a:ext cx="8386537" cy="965720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>
                <a:solidFill>
                  <a:srgbClr val="222222"/>
                </a:solidFill>
              </a:rPr>
              <a:t>P</a:t>
            </a:r>
            <a:r>
              <a:rPr lang="en-IN" b="0" i="0" dirty="0">
                <a:solidFill>
                  <a:srgbClr val="222222"/>
                </a:solidFill>
                <a:effectLst/>
              </a:rPr>
              <a:t>opular Document originated DBMS systems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416F76-8942-4AC1-A1B6-8C2A19563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81" y="2420147"/>
            <a:ext cx="4029637" cy="403916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35248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B4F577-8E11-4902-A223-B7B33C701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146" y="1990346"/>
            <a:ext cx="5199708" cy="41956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EE7365-5B2A-4BB2-B969-51630730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Graph-Based</a:t>
            </a:r>
          </a:p>
        </p:txBody>
      </p:sp>
    </p:spTree>
    <p:extLst>
      <p:ext uri="{BB962C8B-B14F-4D97-AF65-F5344CB8AC3E}">
        <p14:creationId xmlns:p14="http://schemas.microsoft.com/office/powerpoint/2010/main" val="17620512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EE7365-5B2A-4BB2-B969-51630730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Graph-Based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DC8ECC-EF65-4C16-930B-0D46A9F23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13845"/>
            <a:ext cx="8386537" cy="5004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Graph base database mostly used for</a:t>
            </a:r>
          </a:p>
          <a:p>
            <a:pPr marL="895350" lvl="1">
              <a:buFont typeface="Bahnschrift" panose="020B0502040204020203" pitchFamily="34" charset="0"/>
              <a:buChar char="–"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 social networks,</a:t>
            </a:r>
          </a:p>
          <a:p>
            <a:pPr marL="895350" lvl="1">
              <a:buFont typeface="Bahnschrift" panose="020B0502040204020203" pitchFamily="34" charset="0"/>
              <a:buChar char="–"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 logistics,</a:t>
            </a:r>
          </a:p>
          <a:p>
            <a:pPr marL="895350" lvl="1">
              <a:buFont typeface="Bahnschrift" panose="020B0502040204020203" pitchFamily="34" charset="0"/>
              <a:buChar char="–"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 spatial data.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403745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EE7365-5B2A-4BB2-B969-51630730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Graph-Based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DC8ECC-EF65-4C16-930B-0D46A9F23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5745"/>
            <a:ext cx="838653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222222"/>
                </a:solidFill>
                <a:effectLst/>
              </a:rPr>
              <a:t>Some popular graph-based databases.</a:t>
            </a:r>
          </a:p>
          <a:p>
            <a:pPr marL="800100" lvl="1" indent="-342900" algn="just">
              <a:buFont typeface="Bahnschrift" panose="020B0502040204020203" pitchFamily="34" charset="0"/>
              <a:buChar char="–"/>
            </a:pPr>
            <a:r>
              <a:rPr lang="en-IN" sz="2800" b="0" i="0" dirty="0">
                <a:solidFill>
                  <a:srgbClr val="222222"/>
                </a:solidFill>
                <a:effectLst/>
              </a:rPr>
              <a:t>Neo4J, </a:t>
            </a:r>
          </a:p>
          <a:p>
            <a:pPr marL="800100" lvl="1" indent="-342900" algn="just">
              <a:buFont typeface="Bahnschrift" panose="020B0502040204020203" pitchFamily="34" charset="0"/>
              <a:buChar char="–"/>
            </a:pPr>
            <a:r>
              <a:rPr lang="en-IN" sz="2800" b="0" i="0" dirty="0">
                <a:solidFill>
                  <a:srgbClr val="222222"/>
                </a:solidFill>
                <a:effectLst/>
              </a:rPr>
              <a:t>Infinite Graph, </a:t>
            </a:r>
          </a:p>
          <a:p>
            <a:pPr marL="800100" lvl="1" indent="-342900" algn="just">
              <a:buFont typeface="Bahnschrift" panose="020B0502040204020203" pitchFamily="34" charset="0"/>
              <a:buChar char="–"/>
            </a:pPr>
            <a:r>
              <a:rPr lang="en-IN" sz="2800" b="0" i="0" dirty="0" err="1">
                <a:solidFill>
                  <a:srgbClr val="222222"/>
                </a:solidFill>
                <a:effectLst/>
              </a:rPr>
              <a:t>OrientDB</a:t>
            </a:r>
            <a:r>
              <a:rPr lang="en-IN" sz="2800" b="0" i="0" dirty="0">
                <a:solidFill>
                  <a:srgbClr val="222222"/>
                </a:solidFill>
                <a:effectLst/>
              </a:rPr>
              <a:t>, </a:t>
            </a:r>
          </a:p>
          <a:p>
            <a:pPr marL="800100" lvl="1" indent="-342900" algn="just">
              <a:buFont typeface="Bahnschrift" panose="020B0502040204020203" pitchFamily="34" charset="0"/>
              <a:buChar char="–"/>
            </a:pPr>
            <a:r>
              <a:rPr lang="en-IN" sz="2800" b="0" i="0" dirty="0" err="1">
                <a:solidFill>
                  <a:srgbClr val="222222"/>
                </a:solidFill>
                <a:effectLst/>
              </a:rPr>
              <a:t>FlockDB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103742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B3B72-A751-4CAE-878B-469265D22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94795"/>
            <a:ext cx="8557988" cy="5004884"/>
          </a:xfrm>
        </p:spPr>
        <p:txBody>
          <a:bodyPr>
            <a:noAutofit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</a:rPr>
              <a:t>The most common data retrieval mechanism is the REST-based retrieval of a value based on its key/ID with GET resource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</a:rPr>
              <a:t>Document store Database offers more difficult queries as they understand the value in a key-value pair. </a:t>
            </a:r>
          </a:p>
          <a:p>
            <a:pPr marL="895350" lvl="1" indent="-438150">
              <a:buFont typeface="Bahnschrift" panose="020B0502040204020203" pitchFamily="34" charset="0"/>
              <a:buChar char="–"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For example, CouchDB allows defining views with MapReduce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587DB0-5FB3-4462-82EF-DAC3FA57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Query </a:t>
            </a:r>
            <a:r>
              <a:rPr lang="en-US" dirty="0"/>
              <a:t>Mechanism tools </a:t>
            </a:r>
            <a:r>
              <a:rPr lang="en-US"/>
              <a:t>for </a:t>
            </a:r>
            <a:r>
              <a:rPr lang="en-US" dirty="0"/>
              <a:t>NoSQL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712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1107</TotalTime>
  <Words>612</Words>
  <Application>Microsoft Office PowerPoint</Application>
  <PresentationFormat>On-screen Show (4:3)</PresentationFormat>
  <Paragraphs>128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 to NoSQL</vt:lpstr>
      <vt:lpstr>Introduction to NoSQL</vt:lpstr>
      <vt:lpstr>Introduction to NoSQL</vt:lpstr>
      <vt:lpstr>Introduction to NoSQL</vt:lpstr>
      <vt:lpstr>Introduction to NoSQL</vt:lpstr>
      <vt:lpstr>Introduction to NoSQL</vt:lpstr>
      <vt:lpstr>Introduction to NoSQL</vt:lpstr>
      <vt:lpstr>Introduction to NoSQL</vt:lpstr>
      <vt:lpstr>Introduction to NoSQL</vt:lpstr>
      <vt:lpstr>Example of SQL Database</vt:lpstr>
      <vt:lpstr>Why NoSQL?</vt:lpstr>
      <vt:lpstr>Why NoSQL?</vt:lpstr>
      <vt:lpstr>Why NoSQL?</vt:lpstr>
      <vt:lpstr>Why NoSQL?</vt:lpstr>
      <vt:lpstr>History of NoSQL Databases</vt:lpstr>
      <vt:lpstr>History of NoSQL Databases</vt:lpstr>
      <vt:lpstr>History of NoSQL Databases</vt:lpstr>
      <vt:lpstr>History of NoSQL Databases</vt:lpstr>
      <vt:lpstr>History of NoSQL Databases</vt:lpstr>
      <vt:lpstr>History of NoSQL Databases</vt:lpstr>
      <vt:lpstr> History of NoSQL Databases </vt:lpstr>
      <vt:lpstr>Features of NoSQL</vt:lpstr>
      <vt:lpstr>Features of NoSQL</vt:lpstr>
      <vt:lpstr>Features of NoSQL</vt:lpstr>
      <vt:lpstr>Features of NoSQL</vt:lpstr>
      <vt:lpstr> Features of NoSQL </vt:lpstr>
      <vt:lpstr>Features of NoSQL</vt:lpstr>
      <vt:lpstr>Types of NoSQL Databases</vt:lpstr>
      <vt:lpstr>Types of NoSQL Databases</vt:lpstr>
      <vt:lpstr>Key Value Pair Based</vt:lpstr>
      <vt:lpstr>Key Value Pair Based</vt:lpstr>
      <vt:lpstr>Key Value Pair Based</vt:lpstr>
      <vt:lpstr>Key Value Pair Based</vt:lpstr>
      <vt:lpstr>Key Value Pair Based</vt:lpstr>
      <vt:lpstr>Key Value Pair Based</vt:lpstr>
      <vt:lpstr>Key Value Pair Based</vt:lpstr>
      <vt:lpstr>Key Value Pair Based</vt:lpstr>
      <vt:lpstr>COLUMN-BASED</vt:lpstr>
      <vt:lpstr>Column-based</vt:lpstr>
      <vt:lpstr>Column-based</vt:lpstr>
      <vt:lpstr>Column-based</vt:lpstr>
      <vt:lpstr>Column-based</vt:lpstr>
      <vt:lpstr>Column-based</vt:lpstr>
      <vt:lpstr>Column-based</vt:lpstr>
      <vt:lpstr>Column-based</vt:lpstr>
      <vt:lpstr>Column-based</vt:lpstr>
      <vt:lpstr>Column-based</vt:lpstr>
      <vt:lpstr>Document-Oriented</vt:lpstr>
      <vt:lpstr>Document-Oriented</vt:lpstr>
      <vt:lpstr>Document-Oriented</vt:lpstr>
      <vt:lpstr>Document-Oriented</vt:lpstr>
      <vt:lpstr>Document-Oriented</vt:lpstr>
      <vt:lpstr>Document-Oriented</vt:lpstr>
      <vt:lpstr>Document-Oriented</vt:lpstr>
      <vt:lpstr>Graph-Based</vt:lpstr>
      <vt:lpstr>Graph-Based</vt:lpstr>
      <vt:lpstr>Graph-Based</vt:lpstr>
      <vt:lpstr>Query Mechanism tools for NoSQL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102</cp:revision>
  <dcterms:created xsi:type="dcterms:W3CDTF">2021-05-13T17:45:44Z</dcterms:created>
  <dcterms:modified xsi:type="dcterms:W3CDTF">2021-08-13T09:20:15Z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1756378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