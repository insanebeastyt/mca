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2"/>
  </p:handoutMasterIdLst>
  <p:sldIdLst>
    <p:sldId id="266" r:id="rId2"/>
    <p:sldId id="261" r:id="rId3"/>
    <p:sldId id="283"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6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25A"/>
    <a:srgbClr val="618495"/>
    <a:srgbClr val="44525B"/>
    <a:srgbClr val="072235"/>
    <a:srgbClr val="453A38"/>
    <a:srgbClr val="B8B192"/>
    <a:srgbClr val="473B39"/>
    <a:srgbClr val="302C31"/>
    <a:srgbClr val="63504D"/>
    <a:srgbClr val="947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p:cViewPr varScale="1">
        <p:scale>
          <a:sx n="74" d="100"/>
          <a:sy n="74" d="100"/>
        </p:scale>
        <p:origin x="1531" y="77"/>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7AA355-6EB5-43BC-A715-2D50AF101458}"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IN"/>
        </a:p>
      </dgm:t>
    </dgm:pt>
    <dgm:pt modelId="{13C73A47-3F54-4923-8FD0-7DC3FE52C398}">
      <dgm:prSet custT="1"/>
      <dgm:spPr/>
      <dgm:t>
        <a:bodyPr/>
        <a:lstStyle/>
        <a:p>
          <a:r>
            <a:rPr lang="en-US" sz="2400" b="0" i="0" dirty="0">
              <a:effectLst/>
              <a:latin typeface="Bahnschrift" panose="020B0502040204020203" pitchFamily="34" charset="0"/>
            </a:rPr>
            <a:t>Events are stored in the index as a group of files that fall into two categories:</a:t>
          </a:r>
        </a:p>
      </dgm:t>
    </dgm:pt>
    <dgm:pt modelId="{7F004CC3-D608-48D6-BE04-65C48C0C0544}" type="parTrans" cxnId="{7DAD54DE-9311-439A-89D9-B89C098F1461}">
      <dgm:prSet/>
      <dgm:spPr/>
      <dgm:t>
        <a:bodyPr/>
        <a:lstStyle/>
        <a:p>
          <a:endParaRPr lang="en-IN" sz="1400">
            <a:latin typeface="Bahnschrift" panose="020B0502040204020203" pitchFamily="34" charset="0"/>
          </a:endParaRPr>
        </a:p>
      </dgm:t>
    </dgm:pt>
    <dgm:pt modelId="{A23AA8BA-9080-46C0-832C-AFEF8016640A}" type="sibTrans" cxnId="{7DAD54DE-9311-439A-89D9-B89C098F1461}">
      <dgm:prSet/>
      <dgm:spPr/>
      <dgm:t>
        <a:bodyPr/>
        <a:lstStyle/>
        <a:p>
          <a:endParaRPr lang="en-IN" sz="1400">
            <a:latin typeface="Bahnschrift" panose="020B0502040204020203" pitchFamily="34" charset="0"/>
          </a:endParaRPr>
        </a:p>
      </dgm:t>
    </dgm:pt>
    <dgm:pt modelId="{56607987-77DB-40B1-81BC-D76E6134931E}">
      <dgm:prSet custT="1"/>
      <dgm:spPr/>
      <dgm:t>
        <a:bodyPr/>
        <a:lstStyle/>
        <a:p>
          <a:r>
            <a:rPr lang="en-IN" sz="2400" b="0" i="0">
              <a:effectLst/>
              <a:latin typeface="Bahnschrift" panose="020B0502040204020203" pitchFamily="34" charset="0"/>
            </a:rPr>
            <a:t>Raw data</a:t>
          </a:r>
          <a:endParaRPr lang="en-US" sz="2400" dirty="0">
            <a:latin typeface="Bahnschrift" panose="020B0502040204020203" pitchFamily="34" charset="0"/>
          </a:endParaRPr>
        </a:p>
      </dgm:t>
    </dgm:pt>
    <dgm:pt modelId="{7B943C96-AF87-4364-989A-700044FBC91F}" type="parTrans" cxnId="{1C034991-DA86-4184-A29D-372627056122}">
      <dgm:prSet custT="1"/>
      <dgm:spPr/>
      <dgm:t>
        <a:bodyPr/>
        <a:lstStyle/>
        <a:p>
          <a:endParaRPr lang="en-IN" sz="400">
            <a:latin typeface="Bahnschrift" panose="020B0502040204020203" pitchFamily="34" charset="0"/>
          </a:endParaRPr>
        </a:p>
      </dgm:t>
    </dgm:pt>
    <dgm:pt modelId="{6B157437-F22F-4EF5-8F1D-F7DB3474B135}" type="sibTrans" cxnId="{1C034991-DA86-4184-A29D-372627056122}">
      <dgm:prSet/>
      <dgm:spPr/>
      <dgm:t>
        <a:bodyPr/>
        <a:lstStyle/>
        <a:p>
          <a:endParaRPr lang="en-IN" sz="1400">
            <a:latin typeface="Bahnschrift" panose="020B0502040204020203" pitchFamily="34" charset="0"/>
          </a:endParaRPr>
        </a:p>
      </dgm:t>
    </dgm:pt>
    <dgm:pt modelId="{CCC7F60D-8C84-47AE-A87C-0E6FEAF8DE9A}">
      <dgm:prSet custT="1"/>
      <dgm:spPr/>
      <dgm:t>
        <a:bodyPr/>
        <a:lstStyle/>
        <a:p>
          <a:r>
            <a:rPr lang="en-IN" sz="2400" b="0" i="0">
              <a:effectLst/>
              <a:latin typeface="Bahnschrift" panose="020B0502040204020203" pitchFamily="34" charset="0"/>
            </a:rPr>
            <a:t>Index files</a:t>
          </a:r>
          <a:endParaRPr lang="en-IN" sz="2400" dirty="0">
            <a:latin typeface="Bahnschrift" panose="020B0502040204020203" pitchFamily="34" charset="0"/>
          </a:endParaRPr>
        </a:p>
      </dgm:t>
    </dgm:pt>
    <dgm:pt modelId="{66E487DE-ED2F-436D-BBC4-94FD3E4CA663}" type="parTrans" cxnId="{F4A2CA6A-60FB-46B5-A813-56EAAD881379}">
      <dgm:prSet custT="1"/>
      <dgm:spPr/>
      <dgm:t>
        <a:bodyPr/>
        <a:lstStyle/>
        <a:p>
          <a:endParaRPr lang="en-IN" sz="400">
            <a:latin typeface="Bahnschrift" panose="020B0502040204020203" pitchFamily="34" charset="0"/>
          </a:endParaRPr>
        </a:p>
      </dgm:t>
    </dgm:pt>
    <dgm:pt modelId="{3F66DF5C-89D2-4E10-B280-0D2C5C235557}" type="sibTrans" cxnId="{F4A2CA6A-60FB-46B5-A813-56EAAD881379}">
      <dgm:prSet/>
      <dgm:spPr/>
      <dgm:t>
        <a:bodyPr/>
        <a:lstStyle/>
        <a:p>
          <a:endParaRPr lang="en-IN" sz="1400">
            <a:latin typeface="Bahnschrift" panose="020B0502040204020203" pitchFamily="34" charset="0"/>
          </a:endParaRPr>
        </a:p>
      </dgm:t>
    </dgm:pt>
    <dgm:pt modelId="{7884D1BE-78D0-4A78-9451-CEC34EFCD56C}" type="pres">
      <dgm:prSet presAssocID="{C07AA355-6EB5-43BC-A715-2D50AF101458}" presName="diagram" presStyleCnt="0">
        <dgm:presLayoutVars>
          <dgm:chPref val="1"/>
          <dgm:dir/>
          <dgm:animOne val="branch"/>
          <dgm:animLvl val="lvl"/>
          <dgm:resizeHandles val="exact"/>
        </dgm:presLayoutVars>
      </dgm:prSet>
      <dgm:spPr/>
    </dgm:pt>
    <dgm:pt modelId="{1CEC72A0-C9C7-409C-AA25-9C9DAC52B834}" type="pres">
      <dgm:prSet presAssocID="{13C73A47-3F54-4923-8FD0-7DC3FE52C398}" presName="root1" presStyleCnt="0"/>
      <dgm:spPr/>
    </dgm:pt>
    <dgm:pt modelId="{EE79C6AB-EAC6-4CF5-9B85-47F9B08BA641}" type="pres">
      <dgm:prSet presAssocID="{13C73A47-3F54-4923-8FD0-7DC3FE52C398}" presName="LevelOneTextNode" presStyleLbl="node0" presStyleIdx="0" presStyleCnt="1">
        <dgm:presLayoutVars>
          <dgm:chPref val="3"/>
        </dgm:presLayoutVars>
      </dgm:prSet>
      <dgm:spPr/>
    </dgm:pt>
    <dgm:pt modelId="{0C7C456D-3545-46A2-B3C7-E4CA719768D0}" type="pres">
      <dgm:prSet presAssocID="{13C73A47-3F54-4923-8FD0-7DC3FE52C398}" presName="level2hierChild" presStyleCnt="0"/>
      <dgm:spPr/>
    </dgm:pt>
    <dgm:pt modelId="{F94EC639-2732-4ABD-9D5C-8B32A22D6F67}" type="pres">
      <dgm:prSet presAssocID="{7B943C96-AF87-4364-989A-700044FBC91F}" presName="conn2-1" presStyleLbl="parChTrans1D2" presStyleIdx="0" presStyleCnt="2"/>
      <dgm:spPr/>
    </dgm:pt>
    <dgm:pt modelId="{9A18DD14-1ED0-4133-B722-39A7D84E587D}" type="pres">
      <dgm:prSet presAssocID="{7B943C96-AF87-4364-989A-700044FBC91F}" presName="connTx" presStyleLbl="parChTrans1D2" presStyleIdx="0" presStyleCnt="2"/>
      <dgm:spPr/>
    </dgm:pt>
    <dgm:pt modelId="{D876E1DB-0C52-4C4D-B3B6-80CBE72DBC64}" type="pres">
      <dgm:prSet presAssocID="{56607987-77DB-40B1-81BC-D76E6134931E}" presName="root2" presStyleCnt="0"/>
      <dgm:spPr/>
    </dgm:pt>
    <dgm:pt modelId="{2DAB6367-C4B6-4636-8169-483FF379D089}" type="pres">
      <dgm:prSet presAssocID="{56607987-77DB-40B1-81BC-D76E6134931E}" presName="LevelTwoTextNode" presStyleLbl="node2" presStyleIdx="0" presStyleCnt="2">
        <dgm:presLayoutVars>
          <dgm:chPref val="3"/>
        </dgm:presLayoutVars>
      </dgm:prSet>
      <dgm:spPr/>
    </dgm:pt>
    <dgm:pt modelId="{995713BC-A873-4328-8CB0-5A2B6C6B9648}" type="pres">
      <dgm:prSet presAssocID="{56607987-77DB-40B1-81BC-D76E6134931E}" presName="level3hierChild" presStyleCnt="0"/>
      <dgm:spPr/>
    </dgm:pt>
    <dgm:pt modelId="{87C4D44D-1E09-4848-A6D9-8D87564841C8}" type="pres">
      <dgm:prSet presAssocID="{66E487DE-ED2F-436D-BBC4-94FD3E4CA663}" presName="conn2-1" presStyleLbl="parChTrans1D2" presStyleIdx="1" presStyleCnt="2"/>
      <dgm:spPr/>
    </dgm:pt>
    <dgm:pt modelId="{6CB140CF-13F9-44B5-9520-6367F999BC13}" type="pres">
      <dgm:prSet presAssocID="{66E487DE-ED2F-436D-BBC4-94FD3E4CA663}" presName="connTx" presStyleLbl="parChTrans1D2" presStyleIdx="1" presStyleCnt="2"/>
      <dgm:spPr/>
    </dgm:pt>
    <dgm:pt modelId="{B4F91E53-AF34-4751-9886-46950DFBAFEC}" type="pres">
      <dgm:prSet presAssocID="{CCC7F60D-8C84-47AE-A87C-0E6FEAF8DE9A}" presName="root2" presStyleCnt="0"/>
      <dgm:spPr/>
    </dgm:pt>
    <dgm:pt modelId="{F2A0FD6E-A249-4EAB-A2C9-3903DA5649D2}" type="pres">
      <dgm:prSet presAssocID="{CCC7F60D-8C84-47AE-A87C-0E6FEAF8DE9A}" presName="LevelTwoTextNode" presStyleLbl="node2" presStyleIdx="1" presStyleCnt="2">
        <dgm:presLayoutVars>
          <dgm:chPref val="3"/>
        </dgm:presLayoutVars>
      </dgm:prSet>
      <dgm:spPr/>
    </dgm:pt>
    <dgm:pt modelId="{7102EA2D-2F48-41A2-9801-8C1F9D4D80DB}" type="pres">
      <dgm:prSet presAssocID="{CCC7F60D-8C84-47AE-A87C-0E6FEAF8DE9A}" presName="level3hierChild" presStyleCnt="0"/>
      <dgm:spPr/>
    </dgm:pt>
  </dgm:ptLst>
  <dgm:cxnLst>
    <dgm:cxn modelId="{37F1C60B-B084-43F0-8BE5-CCD547E0AA75}" type="presOf" srcId="{7B943C96-AF87-4364-989A-700044FBC91F}" destId="{9A18DD14-1ED0-4133-B722-39A7D84E587D}" srcOrd="1" destOrd="0" presId="urn:microsoft.com/office/officeart/2005/8/layout/hierarchy2"/>
    <dgm:cxn modelId="{86CC020C-C545-4897-B727-24107D5E97F2}" type="presOf" srcId="{66E487DE-ED2F-436D-BBC4-94FD3E4CA663}" destId="{6CB140CF-13F9-44B5-9520-6367F999BC13}" srcOrd="1" destOrd="0" presId="urn:microsoft.com/office/officeart/2005/8/layout/hierarchy2"/>
    <dgm:cxn modelId="{7D39F61B-F3A4-4085-BE54-563BC56DBB38}" type="presOf" srcId="{56607987-77DB-40B1-81BC-D76E6134931E}" destId="{2DAB6367-C4B6-4636-8169-483FF379D089}" srcOrd="0" destOrd="0" presId="urn:microsoft.com/office/officeart/2005/8/layout/hierarchy2"/>
    <dgm:cxn modelId="{45995B2E-7623-4F8D-8AA3-4382F075C625}" type="presOf" srcId="{13C73A47-3F54-4923-8FD0-7DC3FE52C398}" destId="{EE79C6AB-EAC6-4CF5-9B85-47F9B08BA641}" srcOrd="0" destOrd="0" presId="urn:microsoft.com/office/officeart/2005/8/layout/hierarchy2"/>
    <dgm:cxn modelId="{F4A2CA6A-60FB-46B5-A813-56EAAD881379}" srcId="{13C73A47-3F54-4923-8FD0-7DC3FE52C398}" destId="{CCC7F60D-8C84-47AE-A87C-0E6FEAF8DE9A}" srcOrd="1" destOrd="0" parTransId="{66E487DE-ED2F-436D-BBC4-94FD3E4CA663}" sibTransId="{3F66DF5C-89D2-4E10-B280-0D2C5C235557}"/>
    <dgm:cxn modelId="{5B99BC55-DFAD-4CB9-A591-891AD27F53D7}" type="presOf" srcId="{66E487DE-ED2F-436D-BBC4-94FD3E4CA663}" destId="{87C4D44D-1E09-4848-A6D9-8D87564841C8}" srcOrd="0" destOrd="0" presId="urn:microsoft.com/office/officeart/2005/8/layout/hierarchy2"/>
    <dgm:cxn modelId="{1C034991-DA86-4184-A29D-372627056122}" srcId="{13C73A47-3F54-4923-8FD0-7DC3FE52C398}" destId="{56607987-77DB-40B1-81BC-D76E6134931E}" srcOrd="0" destOrd="0" parTransId="{7B943C96-AF87-4364-989A-700044FBC91F}" sibTransId="{6B157437-F22F-4EF5-8F1D-F7DB3474B135}"/>
    <dgm:cxn modelId="{C5BD23C6-AC48-46E9-A559-18AD176AB8B8}" type="presOf" srcId="{C07AA355-6EB5-43BC-A715-2D50AF101458}" destId="{7884D1BE-78D0-4A78-9451-CEC34EFCD56C}" srcOrd="0" destOrd="0" presId="urn:microsoft.com/office/officeart/2005/8/layout/hierarchy2"/>
    <dgm:cxn modelId="{25A3F2C6-BA54-4FE2-B1F5-F0B38CA513AF}" type="presOf" srcId="{7B943C96-AF87-4364-989A-700044FBC91F}" destId="{F94EC639-2732-4ABD-9D5C-8B32A22D6F67}" srcOrd="0" destOrd="0" presId="urn:microsoft.com/office/officeart/2005/8/layout/hierarchy2"/>
    <dgm:cxn modelId="{1B451AD5-6B92-4E5C-BC43-4ED6585A207D}" type="presOf" srcId="{CCC7F60D-8C84-47AE-A87C-0E6FEAF8DE9A}" destId="{F2A0FD6E-A249-4EAB-A2C9-3903DA5649D2}" srcOrd="0" destOrd="0" presId="urn:microsoft.com/office/officeart/2005/8/layout/hierarchy2"/>
    <dgm:cxn modelId="{7DAD54DE-9311-439A-89D9-B89C098F1461}" srcId="{C07AA355-6EB5-43BC-A715-2D50AF101458}" destId="{13C73A47-3F54-4923-8FD0-7DC3FE52C398}" srcOrd="0" destOrd="0" parTransId="{7F004CC3-D608-48D6-BE04-65C48C0C0544}" sibTransId="{A23AA8BA-9080-46C0-832C-AFEF8016640A}"/>
    <dgm:cxn modelId="{87FE40EF-6784-41A6-A9ED-D8C03692B0D8}" type="presParOf" srcId="{7884D1BE-78D0-4A78-9451-CEC34EFCD56C}" destId="{1CEC72A0-C9C7-409C-AA25-9C9DAC52B834}" srcOrd="0" destOrd="0" presId="urn:microsoft.com/office/officeart/2005/8/layout/hierarchy2"/>
    <dgm:cxn modelId="{29F50D37-F798-4CAB-812D-86E003BB2FA6}" type="presParOf" srcId="{1CEC72A0-C9C7-409C-AA25-9C9DAC52B834}" destId="{EE79C6AB-EAC6-4CF5-9B85-47F9B08BA641}" srcOrd="0" destOrd="0" presId="urn:microsoft.com/office/officeart/2005/8/layout/hierarchy2"/>
    <dgm:cxn modelId="{BE275D65-EE46-472A-818B-D80E3BB90078}" type="presParOf" srcId="{1CEC72A0-C9C7-409C-AA25-9C9DAC52B834}" destId="{0C7C456D-3545-46A2-B3C7-E4CA719768D0}" srcOrd="1" destOrd="0" presId="urn:microsoft.com/office/officeart/2005/8/layout/hierarchy2"/>
    <dgm:cxn modelId="{35C94E57-5F12-45AB-8CD0-E3AFA79012AE}" type="presParOf" srcId="{0C7C456D-3545-46A2-B3C7-E4CA719768D0}" destId="{F94EC639-2732-4ABD-9D5C-8B32A22D6F67}" srcOrd="0" destOrd="0" presId="urn:microsoft.com/office/officeart/2005/8/layout/hierarchy2"/>
    <dgm:cxn modelId="{C28BF0F3-5C91-4FEB-80DF-5460C33F27EE}" type="presParOf" srcId="{F94EC639-2732-4ABD-9D5C-8B32A22D6F67}" destId="{9A18DD14-1ED0-4133-B722-39A7D84E587D}" srcOrd="0" destOrd="0" presId="urn:microsoft.com/office/officeart/2005/8/layout/hierarchy2"/>
    <dgm:cxn modelId="{17B906F1-4E61-4D9D-9BAE-FCB916482A9C}" type="presParOf" srcId="{0C7C456D-3545-46A2-B3C7-E4CA719768D0}" destId="{D876E1DB-0C52-4C4D-B3B6-80CBE72DBC64}" srcOrd="1" destOrd="0" presId="urn:microsoft.com/office/officeart/2005/8/layout/hierarchy2"/>
    <dgm:cxn modelId="{78C9DA5B-D7B1-4D22-A86E-388A1A65944E}" type="presParOf" srcId="{D876E1DB-0C52-4C4D-B3B6-80CBE72DBC64}" destId="{2DAB6367-C4B6-4636-8169-483FF379D089}" srcOrd="0" destOrd="0" presId="urn:microsoft.com/office/officeart/2005/8/layout/hierarchy2"/>
    <dgm:cxn modelId="{535E1967-6BC2-4C2D-A6C6-8F65E447ADEC}" type="presParOf" srcId="{D876E1DB-0C52-4C4D-B3B6-80CBE72DBC64}" destId="{995713BC-A873-4328-8CB0-5A2B6C6B9648}" srcOrd="1" destOrd="0" presId="urn:microsoft.com/office/officeart/2005/8/layout/hierarchy2"/>
    <dgm:cxn modelId="{6C0E38C4-B81B-425A-9047-4F1FC7EC4378}" type="presParOf" srcId="{0C7C456D-3545-46A2-B3C7-E4CA719768D0}" destId="{87C4D44D-1E09-4848-A6D9-8D87564841C8}" srcOrd="2" destOrd="0" presId="urn:microsoft.com/office/officeart/2005/8/layout/hierarchy2"/>
    <dgm:cxn modelId="{5EA7A8E3-2E90-4E57-940F-2A06A6F8F629}" type="presParOf" srcId="{87C4D44D-1E09-4848-A6D9-8D87564841C8}" destId="{6CB140CF-13F9-44B5-9520-6367F999BC13}" srcOrd="0" destOrd="0" presId="urn:microsoft.com/office/officeart/2005/8/layout/hierarchy2"/>
    <dgm:cxn modelId="{C5B3DB88-AA62-404B-B441-6999AA25DFF9}" type="presParOf" srcId="{0C7C456D-3545-46A2-B3C7-E4CA719768D0}" destId="{B4F91E53-AF34-4751-9886-46950DFBAFEC}" srcOrd="3" destOrd="0" presId="urn:microsoft.com/office/officeart/2005/8/layout/hierarchy2"/>
    <dgm:cxn modelId="{32FB43BD-0A73-4150-BC5F-B21CA88308FC}" type="presParOf" srcId="{B4F91E53-AF34-4751-9886-46950DFBAFEC}" destId="{F2A0FD6E-A249-4EAB-A2C9-3903DA5649D2}" srcOrd="0" destOrd="0" presId="urn:microsoft.com/office/officeart/2005/8/layout/hierarchy2"/>
    <dgm:cxn modelId="{897725F2-8639-4049-8EE2-F2F9FD908D3A}" type="presParOf" srcId="{B4F91E53-AF34-4751-9886-46950DFBAFEC}" destId="{7102EA2D-2F48-41A2-9801-8C1F9D4D80DB}"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79C6AB-EAC6-4CF5-9B85-47F9B08BA641}">
      <dsp:nvSpPr>
        <dsp:cNvPr id="0" name=""/>
        <dsp:cNvSpPr/>
      </dsp:nvSpPr>
      <dsp:spPr>
        <a:xfrm>
          <a:off x="743" y="1628433"/>
          <a:ext cx="3493864" cy="17469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Events are stored in the index as a group of files that fall into two categories:</a:t>
          </a:r>
        </a:p>
      </dsp:txBody>
      <dsp:txXfrm>
        <a:off x="51909" y="1679599"/>
        <a:ext cx="3391532" cy="1644600"/>
      </dsp:txXfrm>
    </dsp:sp>
    <dsp:sp modelId="{F94EC639-2732-4ABD-9D5C-8B32A22D6F67}">
      <dsp:nvSpPr>
        <dsp:cNvPr id="0" name=""/>
        <dsp:cNvSpPr/>
      </dsp:nvSpPr>
      <dsp:spPr>
        <a:xfrm rot="19457599">
          <a:off x="3332839" y="1968236"/>
          <a:ext cx="1721082" cy="62841"/>
        </a:xfrm>
        <a:custGeom>
          <a:avLst/>
          <a:gdLst/>
          <a:ahLst/>
          <a:cxnLst/>
          <a:rect l="0" t="0" r="0" b="0"/>
          <a:pathLst>
            <a:path>
              <a:moveTo>
                <a:pt x="0" y="31420"/>
              </a:moveTo>
              <a:lnTo>
                <a:pt x="1721082" y="314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IN" sz="400" kern="1200">
            <a:latin typeface="Bahnschrift" panose="020B0502040204020203" pitchFamily="34" charset="0"/>
          </a:endParaRPr>
        </a:p>
      </dsp:txBody>
      <dsp:txXfrm>
        <a:off x="4150353" y="1956629"/>
        <a:ext cx="86054" cy="86054"/>
      </dsp:txXfrm>
    </dsp:sp>
    <dsp:sp modelId="{2DAB6367-C4B6-4636-8169-483FF379D089}">
      <dsp:nvSpPr>
        <dsp:cNvPr id="0" name=""/>
        <dsp:cNvSpPr/>
      </dsp:nvSpPr>
      <dsp:spPr>
        <a:xfrm>
          <a:off x="4892153" y="623947"/>
          <a:ext cx="3493864" cy="17469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0" i="0" kern="1200">
              <a:effectLst/>
              <a:latin typeface="Bahnschrift" panose="020B0502040204020203" pitchFamily="34" charset="0"/>
            </a:rPr>
            <a:t>Raw data</a:t>
          </a:r>
          <a:endParaRPr lang="en-US" sz="2400" kern="1200" dirty="0">
            <a:latin typeface="Bahnschrift" panose="020B0502040204020203" pitchFamily="34" charset="0"/>
          </a:endParaRPr>
        </a:p>
      </dsp:txBody>
      <dsp:txXfrm>
        <a:off x="4943319" y="675113"/>
        <a:ext cx="3391532" cy="1644600"/>
      </dsp:txXfrm>
    </dsp:sp>
    <dsp:sp modelId="{87C4D44D-1E09-4848-A6D9-8D87564841C8}">
      <dsp:nvSpPr>
        <dsp:cNvPr id="0" name=""/>
        <dsp:cNvSpPr/>
      </dsp:nvSpPr>
      <dsp:spPr>
        <a:xfrm rot="2142401">
          <a:off x="3332839" y="2972722"/>
          <a:ext cx="1721082" cy="62841"/>
        </a:xfrm>
        <a:custGeom>
          <a:avLst/>
          <a:gdLst/>
          <a:ahLst/>
          <a:cxnLst/>
          <a:rect l="0" t="0" r="0" b="0"/>
          <a:pathLst>
            <a:path>
              <a:moveTo>
                <a:pt x="0" y="31420"/>
              </a:moveTo>
              <a:lnTo>
                <a:pt x="1721082" y="314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IN" sz="400" kern="1200">
            <a:latin typeface="Bahnschrift" panose="020B0502040204020203" pitchFamily="34" charset="0"/>
          </a:endParaRPr>
        </a:p>
      </dsp:txBody>
      <dsp:txXfrm>
        <a:off x="4150353" y="2961115"/>
        <a:ext cx="86054" cy="86054"/>
      </dsp:txXfrm>
    </dsp:sp>
    <dsp:sp modelId="{F2A0FD6E-A249-4EAB-A2C9-3903DA5649D2}">
      <dsp:nvSpPr>
        <dsp:cNvPr id="0" name=""/>
        <dsp:cNvSpPr/>
      </dsp:nvSpPr>
      <dsp:spPr>
        <a:xfrm>
          <a:off x="4892153" y="2632919"/>
          <a:ext cx="3493864" cy="17469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0" i="0" kern="1200">
              <a:effectLst/>
              <a:latin typeface="Bahnschrift" panose="020B0502040204020203" pitchFamily="34" charset="0"/>
            </a:rPr>
            <a:t>Index files</a:t>
          </a:r>
          <a:endParaRPr lang="en-IN" sz="2400" kern="1200" dirty="0">
            <a:latin typeface="Bahnschrift" panose="020B0502040204020203" pitchFamily="34" charset="0"/>
          </a:endParaRPr>
        </a:p>
      </dsp:txBody>
      <dsp:txXfrm>
        <a:off x="4943319" y="2684085"/>
        <a:ext cx="3391532" cy="16446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10/1/2021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10/1/2021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10/1/2021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10/1/2021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10/1/2021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10/1/2021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10/1/2021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10/1/2021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10/1/2021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10/1/2021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10/1/2021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10/1/2021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10.xml.rels><?xml version="1.0" encoding="UTF-8" standalone="yes" ?><Relationships xmlns="http://schemas.openxmlformats.org/package/2006/relationships"><Relationship Id="rId2" Target="../media/image5.jpeg" Type="http://schemas.openxmlformats.org/officeDocument/2006/relationships/image"/><Relationship Id="rId1" Target="../slideLayouts/slideLayout3.xml" Type="http://schemas.openxmlformats.org/officeDocument/2006/relationships/slideLayout"/></Relationships>
</file>

<file path=ppt/slides/_rels/slide11.xml.rels><?xml version="1.0" encoding="UTF-8" standalone="yes" ?><Relationships xmlns="http://schemas.openxmlformats.org/package/2006/relationships"><Relationship Id="rId2" Target="../media/image6.jpeg" Type="http://schemas.openxmlformats.org/officeDocument/2006/relationships/image"/><Relationship Id="rId1" Target="../slideLayouts/slideLayout3.xml" Type="http://schemas.openxmlformats.org/officeDocument/2006/relationships/slideLayout"/></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arget="../media/image7.jpeg" Type="http://schemas.openxmlformats.org/officeDocument/2006/relationships/image"/><Relationship Id="rId1" Target="../slideLayouts/slideLayout3.xml" Type="http://schemas.openxmlformats.org/officeDocument/2006/relationships/slideLayout"/></Relationships>
</file>

<file path=ppt/slides/_rels/slide14.xml.rels><?xml version="1.0" encoding="UTF-8" standalone="yes" ?><Relationships xmlns="http://schemas.openxmlformats.org/package/2006/relationships"><Relationship Id="rId2" Target="../media/image8.jpeg" Type="http://schemas.openxmlformats.org/officeDocument/2006/relationships/image"/><Relationship Id="rId1" Target="../slideLayouts/slideLayout3.xml" Type="http://schemas.openxmlformats.org/officeDocument/2006/relationships/slideLayout"/></Relationships>
</file>

<file path=ppt/slides/_rels/slide15.xml.rels><?xml version="1.0" encoding="UTF-8" standalone="yes" ?><Relationships xmlns="http://schemas.openxmlformats.org/package/2006/relationships"><Relationship Id="rId2" Target="../media/image9.jpeg" Type="http://schemas.openxmlformats.org/officeDocument/2006/relationships/image"/><Relationship Id="rId1" Target="../slideLayouts/slideLayout3.xml" Type="http://schemas.openxmlformats.org/officeDocument/2006/relationships/slideLayout"/></Relationships>
</file>

<file path=ppt/slides/_rels/slide16.xml.rels><?xml version="1.0" encoding="UTF-8" standalone="yes" ?><Relationships xmlns="http://schemas.openxmlformats.org/package/2006/relationships"><Relationship Id="rId2" Target="../media/image10.jpeg" Type="http://schemas.openxmlformats.org/officeDocument/2006/relationships/image"/><Relationship Id="rId1" Target="../slideLayouts/slideLayout3.xml" Type="http://schemas.openxmlformats.org/officeDocument/2006/relationships/slideLayout"/></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arget="../media/image11.jpeg" Type="http://schemas.openxmlformats.org/officeDocument/2006/relationships/image"/><Relationship Id="rId1" Target="../slideLayouts/slideLayout3.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11.jpeg" Type="http://schemas.openxmlformats.org/officeDocument/2006/relationships/image"/><Relationship Id="rId1" Target="../slideLayouts/slideLayout3.xml" Type="http://schemas.openxmlformats.org/officeDocument/2006/relationships/slideLayout"/></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dirty="0"/>
              <a:t>Learn about data ingestion</a:t>
            </a:r>
          </a:p>
          <a:p>
            <a:pPr algn="just"/>
            <a:r>
              <a:rPr lang="en-US" dirty="0"/>
              <a:t>Learn about uploading data</a:t>
            </a:r>
          </a:p>
          <a:p>
            <a:pPr marL="0" indent="0" algn="just">
              <a:buNone/>
            </a:pPr>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1B9D9-E08B-4988-98DB-A0A11AF6B871}"/>
              </a:ext>
            </a:extLst>
          </p:cNvPr>
          <p:cNvSpPr>
            <a:spLocks noGrp="1"/>
          </p:cNvSpPr>
          <p:nvPr>
            <p:ph idx="1"/>
          </p:nvPr>
        </p:nvSpPr>
        <p:spPr>
          <a:xfrm>
            <a:off x="338362" y="1524236"/>
            <a:ext cx="8386537" cy="5004884"/>
          </a:xfrm>
        </p:spPr>
        <p:txBody>
          <a:bodyPr>
            <a:normAutofit/>
          </a:bodyPr>
          <a:lstStyle/>
          <a:p>
            <a:pPr marL="0" indent="0" algn="just">
              <a:buNone/>
            </a:pPr>
            <a:r>
              <a:rPr lang="en-US" sz="2400" b="0" i="0" dirty="0">
                <a:solidFill>
                  <a:srgbClr val="000000"/>
                </a:solidFill>
                <a:effectLst/>
              </a:rPr>
              <a:t>Data ingestion in Splunk happens through the </a:t>
            </a:r>
            <a:r>
              <a:rPr lang="en-US" sz="2400" b="1" i="0" dirty="0">
                <a:solidFill>
                  <a:srgbClr val="000000"/>
                </a:solidFill>
                <a:effectLst/>
              </a:rPr>
              <a:t>Add Data</a:t>
            </a:r>
            <a:r>
              <a:rPr lang="en-US" sz="2400" b="0" i="0" dirty="0">
                <a:solidFill>
                  <a:srgbClr val="000000"/>
                </a:solidFill>
                <a:effectLst/>
              </a:rPr>
              <a:t> feature which is part of the search and reporting app. After logging in, the Splunk interface home screen shows the </a:t>
            </a:r>
            <a:r>
              <a:rPr lang="en-US" sz="2400" b="1" i="0" dirty="0">
                <a:solidFill>
                  <a:srgbClr val="000000"/>
                </a:solidFill>
                <a:effectLst/>
              </a:rPr>
              <a:t>Add Data</a:t>
            </a:r>
            <a:r>
              <a:rPr lang="en-US" sz="2400" b="0" i="0" dirty="0">
                <a:solidFill>
                  <a:srgbClr val="000000"/>
                </a:solidFill>
                <a:effectLst/>
              </a:rPr>
              <a:t> icon </a:t>
            </a:r>
            <a:endParaRPr lang="en-IN" sz="2400" dirty="0"/>
          </a:p>
        </p:txBody>
      </p:sp>
      <p:sp>
        <p:nvSpPr>
          <p:cNvPr id="3" name="Title 2">
            <a:extLst>
              <a:ext uri="{FF2B5EF4-FFF2-40B4-BE49-F238E27FC236}">
                <a16:creationId xmlns:a16="http://schemas.microsoft.com/office/drawing/2014/main" id="{CFEF98B5-4CD2-4887-AB4F-047A07AE56A4}"/>
              </a:ext>
            </a:extLst>
          </p:cNvPr>
          <p:cNvSpPr>
            <a:spLocks noGrp="1"/>
          </p:cNvSpPr>
          <p:nvPr>
            <p:ph type="title"/>
          </p:nvPr>
        </p:nvSpPr>
        <p:spPr/>
        <p:txBody>
          <a:bodyPr/>
          <a:lstStyle/>
          <a:p>
            <a:r>
              <a:rPr lang="en-IN" dirty="0"/>
              <a:t>Introduction</a:t>
            </a:r>
          </a:p>
        </p:txBody>
      </p:sp>
    </p:spTree>
    <p:extLst>
      <p:ext uri="{BB962C8B-B14F-4D97-AF65-F5344CB8AC3E}">
        <p14:creationId xmlns:p14="http://schemas.microsoft.com/office/powerpoint/2010/main" val="202805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F31E29-8A4A-45B3-8F10-CE7E1936B72D}"/>
              </a:ext>
            </a:extLst>
          </p:cNvPr>
          <p:cNvSpPr>
            <a:spLocks noGrp="1"/>
          </p:cNvSpPr>
          <p:nvPr>
            <p:ph idx="1"/>
          </p:nvPr>
        </p:nvSpPr>
        <p:spPr>
          <a:xfrm>
            <a:off x="338361" y="1493064"/>
            <a:ext cx="8386537" cy="5004884"/>
          </a:xfrm>
        </p:spPr>
        <p:txBody>
          <a:bodyPr/>
          <a:lstStyle/>
          <a:p>
            <a:pPr marL="0" indent="0">
              <a:buNone/>
            </a:pPr>
            <a:r>
              <a:rPr lang="en-IN" b="1" i="0" u="none" strike="noStrike" dirty="0">
                <a:solidFill>
                  <a:srgbClr val="2D2D2D"/>
                </a:solidFill>
                <a:effectLst/>
              </a:rPr>
              <a:t>About uploading data</a:t>
            </a:r>
          </a:p>
          <a:p>
            <a:pPr marL="0" indent="0" algn="just">
              <a:buNone/>
            </a:pPr>
            <a:r>
              <a:rPr lang="en-US" sz="2200" b="0" i="0" dirty="0">
                <a:solidFill>
                  <a:srgbClr val="000000"/>
                </a:solidFill>
                <a:effectLst/>
              </a:rPr>
              <a:t>When you add data to your Splunk deployment, the data is processed and transformed into a series of individual events that you can view, search, and analyze</a:t>
            </a:r>
            <a:endParaRPr lang="en-IN" sz="2200" b="0" i="0" dirty="0">
              <a:solidFill>
                <a:srgbClr val="2D2D2D"/>
              </a:solidFill>
              <a:effectLst/>
            </a:endParaRPr>
          </a:p>
          <a:p>
            <a:endParaRPr lang="en-IN" dirty="0"/>
          </a:p>
        </p:txBody>
      </p:sp>
      <p:sp>
        <p:nvSpPr>
          <p:cNvPr id="3" name="Title 2">
            <a:extLst>
              <a:ext uri="{FF2B5EF4-FFF2-40B4-BE49-F238E27FC236}">
                <a16:creationId xmlns:a16="http://schemas.microsoft.com/office/drawing/2014/main" id="{ED4415FC-91AF-4C17-A96F-187CA6A7FA51}"/>
              </a:ext>
            </a:extLst>
          </p:cNvPr>
          <p:cNvSpPr>
            <a:spLocks noGrp="1"/>
          </p:cNvSpPr>
          <p:nvPr>
            <p:ph type="title"/>
          </p:nvPr>
        </p:nvSpPr>
        <p:spPr/>
        <p:txBody>
          <a:bodyPr vert="horz" lIns="91440" tIns="45720" rIns="91440" bIns="45720" rtlCol="0" anchor="ctr">
            <a:normAutofit/>
          </a:bodyPr>
          <a:lstStyle/>
          <a:p>
            <a:r>
              <a:rPr lang="en-IN" dirty="0"/>
              <a:t>Introduction</a:t>
            </a:r>
          </a:p>
        </p:txBody>
      </p:sp>
    </p:spTree>
    <p:extLst>
      <p:ext uri="{BB962C8B-B14F-4D97-AF65-F5344CB8AC3E}">
        <p14:creationId xmlns:p14="http://schemas.microsoft.com/office/powerpoint/2010/main" val="284710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F31E29-8A4A-45B3-8F10-CE7E1936B72D}"/>
              </a:ext>
            </a:extLst>
          </p:cNvPr>
          <p:cNvSpPr>
            <a:spLocks noGrp="1"/>
          </p:cNvSpPr>
          <p:nvPr>
            <p:ph idx="1"/>
          </p:nvPr>
        </p:nvSpPr>
        <p:spPr>
          <a:xfrm>
            <a:off x="233916" y="1414130"/>
            <a:ext cx="8490983" cy="903043"/>
          </a:xfrm>
        </p:spPr>
        <p:txBody>
          <a:bodyPr/>
          <a:lstStyle/>
          <a:p>
            <a:pPr marL="0" indent="0">
              <a:buNone/>
            </a:pPr>
            <a:r>
              <a:rPr lang="en-IN" b="1" i="0" u="none" strike="noStrike" dirty="0">
                <a:solidFill>
                  <a:srgbClr val="2D2D2D"/>
                </a:solidFill>
                <a:effectLst/>
              </a:rPr>
              <a:t>What kind of data?</a:t>
            </a:r>
          </a:p>
          <a:p>
            <a:pPr marL="0" indent="0">
              <a:buNone/>
            </a:pPr>
            <a:endParaRPr lang="en-IN" dirty="0"/>
          </a:p>
        </p:txBody>
      </p:sp>
      <p:sp>
        <p:nvSpPr>
          <p:cNvPr id="3" name="Title 2">
            <a:extLst>
              <a:ext uri="{FF2B5EF4-FFF2-40B4-BE49-F238E27FC236}">
                <a16:creationId xmlns:a16="http://schemas.microsoft.com/office/drawing/2014/main" id="{ED4415FC-91AF-4C17-A96F-187CA6A7FA51}"/>
              </a:ext>
            </a:extLst>
          </p:cNvPr>
          <p:cNvSpPr>
            <a:spLocks noGrp="1"/>
          </p:cNvSpPr>
          <p:nvPr>
            <p:ph type="title"/>
          </p:nvPr>
        </p:nvSpPr>
        <p:spPr/>
        <p:txBody>
          <a:bodyPr vert="horz" lIns="91440" tIns="45720" rIns="91440" bIns="45720" rtlCol="0" anchor="ctr">
            <a:normAutofit/>
          </a:bodyPr>
          <a:lstStyle/>
          <a:p>
            <a:r>
              <a:rPr lang="en-IN" dirty="0"/>
              <a:t>Introduction</a:t>
            </a:r>
          </a:p>
        </p:txBody>
      </p:sp>
      <p:graphicFrame>
        <p:nvGraphicFramePr>
          <p:cNvPr id="4" name="Table 4">
            <a:extLst>
              <a:ext uri="{FF2B5EF4-FFF2-40B4-BE49-F238E27FC236}">
                <a16:creationId xmlns:a16="http://schemas.microsoft.com/office/drawing/2014/main" id="{8E9579F8-09BB-4A0F-B656-501A73D7B12E}"/>
              </a:ext>
            </a:extLst>
          </p:cNvPr>
          <p:cNvGraphicFramePr>
            <a:graphicFrameLocks noGrp="1"/>
          </p:cNvGraphicFramePr>
          <p:nvPr>
            <p:extLst>
              <p:ext uri="{D42A27DB-BD31-4B8C-83A1-F6EECF244321}">
                <p14:modId xmlns:p14="http://schemas.microsoft.com/office/powerpoint/2010/main" val="695504650"/>
              </p:ext>
            </p:extLst>
          </p:nvPr>
        </p:nvGraphicFramePr>
        <p:xfrm>
          <a:off x="2916865" y="2092922"/>
          <a:ext cx="3654056" cy="4540107"/>
        </p:xfrm>
        <a:graphic>
          <a:graphicData uri="http://schemas.openxmlformats.org/drawingml/2006/table">
            <a:tbl>
              <a:tblPr firstRow="1" bandRow="1">
                <a:tableStyleId>{5C22544A-7EE6-4342-B048-85BDC9FD1C3A}</a:tableStyleId>
              </a:tblPr>
              <a:tblGrid>
                <a:gridCol w="3654056">
                  <a:extLst>
                    <a:ext uri="{9D8B030D-6E8A-4147-A177-3AD203B41FA5}">
                      <a16:colId xmlns:a16="http://schemas.microsoft.com/office/drawing/2014/main" val="3721504933"/>
                    </a:ext>
                  </a:extLst>
                </a:gridCol>
              </a:tblGrid>
              <a:tr h="412737">
                <a:tc>
                  <a:txBody>
                    <a:bodyPr/>
                    <a:lstStyle/>
                    <a:p>
                      <a:pPr algn="ctr"/>
                      <a:r>
                        <a:rPr lang="en-IN" sz="2000" b="1" i="0" kern="1200" dirty="0">
                          <a:solidFill>
                            <a:schemeClr val="lt1"/>
                          </a:solidFill>
                          <a:effectLst/>
                          <a:latin typeface="+mn-lt"/>
                          <a:ea typeface="+mn-ea"/>
                          <a:cs typeface="+mn-cs"/>
                        </a:rPr>
                        <a:t>Data source</a:t>
                      </a:r>
                      <a:endParaRPr lang="en-IN" sz="2000" dirty="0"/>
                    </a:p>
                  </a:txBody>
                  <a:tcPr>
                    <a:solidFill>
                      <a:srgbClr val="44525A"/>
                    </a:solidFill>
                  </a:tcPr>
                </a:tc>
                <a:extLst>
                  <a:ext uri="{0D108BD9-81ED-4DB2-BD59-A6C34878D82A}">
                    <a16:rowId xmlns:a16="http://schemas.microsoft.com/office/drawing/2014/main" val="1865554860"/>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Files and directories</a:t>
                      </a:r>
                      <a:endParaRPr lang="en-IN" sz="2000" b="0" dirty="0">
                        <a:solidFill>
                          <a:schemeClr val="bg1"/>
                        </a:solidFill>
                        <a:latin typeface="Bahnschrift" panose="020B0502040204020203" pitchFamily="34" charset="0"/>
                      </a:endParaRPr>
                    </a:p>
                  </a:txBody>
                  <a:tcPr>
                    <a:solidFill>
                      <a:schemeClr val="bg1">
                        <a:lumMod val="50000"/>
                      </a:schemeClr>
                    </a:solidFill>
                  </a:tcPr>
                </a:tc>
                <a:extLst>
                  <a:ext uri="{0D108BD9-81ED-4DB2-BD59-A6C34878D82A}">
                    <a16:rowId xmlns:a16="http://schemas.microsoft.com/office/drawing/2014/main" val="1369826858"/>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Network events</a:t>
                      </a:r>
                      <a:endParaRPr lang="en-IN" sz="2000" b="0" dirty="0">
                        <a:solidFill>
                          <a:schemeClr val="bg1"/>
                        </a:solidFill>
                        <a:latin typeface="Bahnschrift" panose="020B0502040204020203" pitchFamily="34" charset="0"/>
                      </a:endParaRPr>
                    </a:p>
                  </a:txBody>
                  <a:tcPr>
                    <a:solidFill>
                      <a:srgbClr val="44525A"/>
                    </a:solidFill>
                  </a:tcPr>
                </a:tc>
                <a:extLst>
                  <a:ext uri="{0D108BD9-81ED-4DB2-BD59-A6C34878D82A}">
                    <a16:rowId xmlns:a16="http://schemas.microsoft.com/office/drawing/2014/main" val="2815508081"/>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IT Operations</a:t>
                      </a:r>
                      <a:endParaRPr lang="en-IN" sz="2000" b="0" dirty="0">
                        <a:solidFill>
                          <a:schemeClr val="bg1"/>
                        </a:solidFill>
                        <a:latin typeface="Bahnschrift" panose="020B0502040204020203" pitchFamily="34" charset="0"/>
                      </a:endParaRPr>
                    </a:p>
                  </a:txBody>
                  <a:tcPr>
                    <a:solidFill>
                      <a:schemeClr val="bg1">
                        <a:lumMod val="50000"/>
                      </a:schemeClr>
                    </a:solidFill>
                  </a:tcPr>
                </a:tc>
                <a:extLst>
                  <a:ext uri="{0D108BD9-81ED-4DB2-BD59-A6C34878D82A}">
                    <a16:rowId xmlns:a16="http://schemas.microsoft.com/office/drawing/2014/main" val="1454029508"/>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Cloud services</a:t>
                      </a:r>
                      <a:endParaRPr lang="en-IN" sz="2000" b="0" dirty="0">
                        <a:solidFill>
                          <a:schemeClr val="bg1"/>
                        </a:solidFill>
                        <a:latin typeface="Bahnschrift" panose="020B0502040204020203" pitchFamily="34" charset="0"/>
                      </a:endParaRPr>
                    </a:p>
                  </a:txBody>
                  <a:tcPr>
                    <a:solidFill>
                      <a:srgbClr val="44525A"/>
                    </a:solidFill>
                  </a:tcPr>
                </a:tc>
                <a:extLst>
                  <a:ext uri="{0D108BD9-81ED-4DB2-BD59-A6C34878D82A}">
                    <a16:rowId xmlns:a16="http://schemas.microsoft.com/office/drawing/2014/main" val="3109100637"/>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Database services</a:t>
                      </a:r>
                      <a:endParaRPr lang="en-IN" sz="2000" b="0" dirty="0">
                        <a:solidFill>
                          <a:schemeClr val="bg1"/>
                        </a:solidFill>
                        <a:latin typeface="Bahnschrift" panose="020B0502040204020203" pitchFamily="34" charset="0"/>
                      </a:endParaRPr>
                    </a:p>
                  </a:txBody>
                  <a:tcPr>
                    <a:solidFill>
                      <a:schemeClr val="bg1">
                        <a:lumMod val="50000"/>
                      </a:schemeClr>
                    </a:solidFill>
                  </a:tcPr>
                </a:tc>
                <a:extLst>
                  <a:ext uri="{0D108BD9-81ED-4DB2-BD59-A6C34878D82A}">
                    <a16:rowId xmlns:a16="http://schemas.microsoft.com/office/drawing/2014/main" val="3370820881"/>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Security services</a:t>
                      </a:r>
                      <a:endParaRPr lang="en-IN" sz="2000" b="0" dirty="0">
                        <a:solidFill>
                          <a:schemeClr val="bg1"/>
                        </a:solidFill>
                        <a:latin typeface="Bahnschrift" panose="020B0502040204020203" pitchFamily="34" charset="0"/>
                      </a:endParaRPr>
                    </a:p>
                  </a:txBody>
                  <a:tcPr>
                    <a:solidFill>
                      <a:srgbClr val="44525A"/>
                    </a:solidFill>
                  </a:tcPr>
                </a:tc>
                <a:extLst>
                  <a:ext uri="{0D108BD9-81ED-4DB2-BD59-A6C34878D82A}">
                    <a16:rowId xmlns:a16="http://schemas.microsoft.com/office/drawing/2014/main" val="3728688087"/>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Virtualization services</a:t>
                      </a:r>
                      <a:endParaRPr lang="en-IN" sz="2000" b="0" dirty="0">
                        <a:solidFill>
                          <a:schemeClr val="bg1"/>
                        </a:solidFill>
                        <a:latin typeface="Bahnschrift" panose="020B0502040204020203" pitchFamily="34" charset="0"/>
                      </a:endParaRPr>
                    </a:p>
                  </a:txBody>
                  <a:tcPr>
                    <a:solidFill>
                      <a:schemeClr val="bg1">
                        <a:lumMod val="50000"/>
                      </a:schemeClr>
                    </a:solidFill>
                  </a:tcPr>
                </a:tc>
                <a:extLst>
                  <a:ext uri="{0D108BD9-81ED-4DB2-BD59-A6C34878D82A}">
                    <a16:rowId xmlns:a16="http://schemas.microsoft.com/office/drawing/2014/main" val="3478781881"/>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Application servers</a:t>
                      </a:r>
                      <a:endParaRPr lang="en-IN" sz="2000" b="0" dirty="0">
                        <a:solidFill>
                          <a:schemeClr val="bg1"/>
                        </a:solidFill>
                        <a:latin typeface="Bahnschrift" panose="020B0502040204020203" pitchFamily="34" charset="0"/>
                      </a:endParaRPr>
                    </a:p>
                  </a:txBody>
                  <a:tcPr>
                    <a:solidFill>
                      <a:srgbClr val="44525A"/>
                    </a:solidFill>
                  </a:tcPr>
                </a:tc>
                <a:extLst>
                  <a:ext uri="{0D108BD9-81ED-4DB2-BD59-A6C34878D82A}">
                    <a16:rowId xmlns:a16="http://schemas.microsoft.com/office/drawing/2014/main" val="1902054838"/>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Windows sources</a:t>
                      </a:r>
                      <a:endParaRPr lang="en-IN" sz="2000" b="0" dirty="0">
                        <a:solidFill>
                          <a:schemeClr val="bg1"/>
                        </a:solidFill>
                        <a:latin typeface="Bahnschrift" panose="020B0502040204020203" pitchFamily="34" charset="0"/>
                      </a:endParaRPr>
                    </a:p>
                  </a:txBody>
                  <a:tcPr>
                    <a:solidFill>
                      <a:schemeClr val="bg1">
                        <a:lumMod val="50000"/>
                      </a:schemeClr>
                    </a:solidFill>
                  </a:tcPr>
                </a:tc>
                <a:extLst>
                  <a:ext uri="{0D108BD9-81ED-4DB2-BD59-A6C34878D82A}">
                    <a16:rowId xmlns:a16="http://schemas.microsoft.com/office/drawing/2014/main" val="1702593759"/>
                  </a:ext>
                </a:extLst>
              </a:tr>
              <a:tr h="412737">
                <a:tc>
                  <a:txBody>
                    <a:bodyPr/>
                    <a:lstStyle/>
                    <a:p>
                      <a:pPr algn="ctr"/>
                      <a:r>
                        <a:rPr lang="en-IN" sz="2000" b="0" i="0" kern="1200" dirty="0">
                          <a:solidFill>
                            <a:schemeClr val="bg1"/>
                          </a:solidFill>
                          <a:effectLst/>
                          <a:latin typeface="Bahnschrift" panose="020B0502040204020203" pitchFamily="34" charset="0"/>
                          <a:ea typeface="+mn-ea"/>
                          <a:cs typeface="+mn-cs"/>
                        </a:rPr>
                        <a:t>Other sources</a:t>
                      </a:r>
                      <a:endParaRPr lang="en-IN" sz="2000" b="0" dirty="0">
                        <a:solidFill>
                          <a:schemeClr val="bg1"/>
                        </a:solidFill>
                        <a:latin typeface="Bahnschrift" panose="020B0502040204020203" pitchFamily="34" charset="0"/>
                      </a:endParaRPr>
                    </a:p>
                  </a:txBody>
                  <a:tcPr>
                    <a:solidFill>
                      <a:srgbClr val="44525A"/>
                    </a:solidFill>
                  </a:tcPr>
                </a:tc>
                <a:extLst>
                  <a:ext uri="{0D108BD9-81ED-4DB2-BD59-A6C34878D82A}">
                    <a16:rowId xmlns:a16="http://schemas.microsoft.com/office/drawing/2014/main" val="2490195500"/>
                  </a:ext>
                </a:extLst>
              </a:tr>
            </a:tbl>
          </a:graphicData>
        </a:graphic>
      </p:graphicFrame>
    </p:spTree>
    <p:extLst>
      <p:ext uri="{BB962C8B-B14F-4D97-AF65-F5344CB8AC3E}">
        <p14:creationId xmlns:p14="http://schemas.microsoft.com/office/powerpoint/2010/main" val="1256089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F31E29-8A4A-45B3-8F10-CE7E1936B72D}"/>
              </a:ext>
            </a:extLst>
          </p:cNvPr>
          <p:cNvSpPr>
            <a:spLocks noGrp="1"/>
          </p:cNvSpPr>
          <p:nvPr>
            <p:ph idx="1"/>
          </p:nvPr>
        </p:nvSpPr>
        <p:spPr>
          <a:xfrm>
            <a:off x="338362" y="1538821"/>
            <a:ext cx="8386537" cy="4830806"/>
          </a:xfrm>
        </p:spPr>
        <p:txBody>
          <a:bodyPr>
            <a:normAutofit fontScale="92500" lnSpcReduction="10000"/>
          </a:bodyPr>
          <a:lstStyle/>
          <a:p>
            <a:pPr algn="just"/>
            <a:r>
              <a:rPr lang="en-US" b="0" i="0" dirty="0">
                <a:solidFill>
                  <a:srgbClr val="000000"/>
                </a:solidFill>
                <a:effectLst/>
              </a:rPr>
              <a:t>The process of transforming the data is called </a:t>
            </a:r>
            <a:r>
              <a:rPr lang="en-US" b="1" i="0" dirty="0">
                <a:solidFill>
                  <a:srgbClr val="000000"/>
                </a:solidFill>
                <a:effectLst/>
              </a:rPr>
              <a:t>indexing</a:t>
            </a:r>
            <a:r>
              <a:rPr lang="en-US" b="0" i="0" dirty="0">
                <a:solidFill>
                  <a:srgbClr val="000000"/>
                </a:solidFill>
                <a:effectLst/>
              </a:rPr>
              <a:t>. </a:t>
            </a:r>
          </a:p>
          <a:p>
            <a:pPr algn="just"/>
            <a:r>
              <a:rPr lang="en-US" b="0" i="0" dirty="0">
                <a:solidFill>
                  <a:srgbClr val="000000"/>
                </a:solidFill>
                <a:effectLst/>
              </a:rPr>
              <a:t>During indexing, the incoming data is processed to enable fast searching and analysis. The processed results are stored in the index as </a:t>
            </a:r>
            <a:r>
              <a:rPr lang="en-US" b="1" i="0" dirty="0">
                <a:solidFill>
                  <a:srgbClr val="000000"/>
                </a:solidFill>
                <a:effectLst/>
              </a:rPr>
              <a:t>events</a:t>
            </a:r>
            <a:r>
              <a:rPr lang="en-US" b="0" i="0" dirty="0">
                <a:solidFill>
                  <a:srgbClr val="000000"/>
                </a:solidFill>
                <a:effectLst/>
              </a:rPr>
              <a:t>.</a:t>
            </a:r>
          </a:p>
          <a:p>
            <a:pPr algn="just"/>
            <a:r>
              <a:rPr lang="en-US" b="0" i="0" dirty="0">
                <a:solidFill>
                  <a:srgbClr val="000000"/>
                </a:solidFill>
                <a:effectLst/>
              </a:rPr>
              <a:t>The index is a </a:t>
            </a:r>
            <a:r>
              <a:rPr lang="en-US" b="1" i="0" dirty="0">
                <a:solidFill>
                  <a:srgbClr val="000000"/>
                </a:solidFill>
                <a:effectLst/>
              </a:rPr>
              <a:t>flat file repository </a:t>
            </a:r>
            <a:r>
              <a:rPr lang="en-US" b="0" i="0" dirty="0">
                <a:solidFill>
                  <a:srgbClr val="000000"/>
                </a:solidFill>
                <a:effectLst/>
              </a:rPr>
              <a:t>for the data. The index resides on the computer where you access your Splunk deployment.</a:t>
            </a:r>
            <a:endParaRPr lang="en-IN" dirty="0"/>
          </a:p>
        </p:txBody>
      </p:sp>
      <p:sp>
        <p:nvSpPr>
          <p:cNvPr id="3" name="Title 2">
            <a:extLst>
              <a:ext uri="{FF2B5EF4-FFF2-40B4-BE49-F238E27FC236}">
                <a16:creationId xmlns:a16="http://schemas.microsoft.com/office/drawing/2014/main" id="{ED4415FC-91AF-4C17-A96F-187CA6A7FA51}"/>
              </a:ext>
            </a:extLst>
          </p:cNvPr>
          <p:cNvSpPr>
            <a:spLocks noGrp="1"/>
          </p:cNvSpPr>
          <p:nvPr>
            <p:ph type="title"/>
          </p:nvPr>
        </p:nvSpPr>
        <p:spPr/>
        <p:txBody>
          <a:bodyPr vert="horz" lIns="91440" tIns="45720" rIns="91440" bIns="45720" rtlCol="0" anchor="ctr">
            <a:normAutofit/>
          </a:bodyPr>
          <a:lstStyle/>
          <a:p>
            <a:r>
              <a:rPr lang="en-US" dirty="0"/>
              <a:t>Where is the data stored?</a:t>
            </a:r>
          </a:p>
        </p:txBody>
      </p:sp>
    </p:spTree>
    <p:extLst>
      <p:ext uri="{BB962C8B-B14F-4D97-AF65-F5344CB8AC3E}">
        <p14:creationId xmlns:p14="http://schemas.microsoft.com/office/powerpoint/2010/main" val="4141220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BE8EEC-0893-4A4B-A24F-86C0B33898F1}"/>
              </a:ext>
            </a:extLst>
          </p:cNvPr>
          <p:cNvGraphicFramePr>
            <a:graphicFrameLocks noGrp="1"/>
          </p:cNvGraphicFramePr>
          <p:nvPr>
            <p:ph idx="1"/>
            <p:extLst>
              <p:ext uri="{D42A27DB-BD31-4B8C-83A1-F6EECF244321}">
                <p14:modId xmlns:p14="http://schemas.microsoft.com/office/powerpoint/2010/main" val="3515912577"/>
              </p:ext>
            </p:extLst>
          </p:nvPr>
        </p:nvGraphicFramePr>
        <p:xfrm>
          <a:off x="338138" y="1628775"/>
          <a:ext cx="8386762" cy="500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ED4415FC-91AF-4C17-A96F-187CA6A7FA51}"/>
              </a:ext>
            </a:extLst>
          </p:cNvPr>
          <p:cNvSpPr>
            <a:spLocks noGrp="1"/>
          </p:cNvSpPr>
          <p:nvPr>
            <p:ph type="title"/>
          </p:nvPr>
        </p:nvSpPr>
        <p:spPr/>
        <p:txBody>
          <a:bodyPr vert="horz" lIns="91440" tIns="45720" rIns="91440" bIns="45720" rtlCol="0" anchor="ctr">
            <a:normAutofit/>
          </a:bodyPr>
          <a:lstStyle/>
          <a:p>
            <a:r>
              <a:rPr lang="en-US" dirty="0"/>
              <a:t>Where is the data stored?</a:t>
            </a:r>
          </a:p>
        </p:txBody>
      </p:sp>
    </p:spTree>
    <p:extLst>
      <p:ext uri="{BB962C8B-B14F-4D97-AF65-F5344CB8AC3E}">
        <p14:creationId xmlns:p14="http://schemas.microsoft.com/office/powerpoint/2010/main" val="519201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4415FC-91AF-4C17-A96F-187CA6A7FA51}"/>
              </a:ext>
            </a:extLst>
          </p:cNvPr>
          <p:cNvSpPr>
            <a:spLocks noGrp="1"/>
          </p:cNvSpPr>
          <p:nvPr>
            <p:ph type="title"/>
          </p:nvPr>
        </p:nvSpPr>
        <p:spPr/>
        <p:txBody>
          <a:bodyPr vert="horz" lIns="91440" tIns="45720" rIns="91440" bIns="45720" rtlCol="0" anchor="ctr">
            <a:normAutofit/>
          </a:bodyPr>
          <a:lstStyle/>
          <a:p>
            <a:r>
              <a:rPr lang="en-US" dirty="0"/>
              <a:t>Where is the data stored?</a:t>
            </a:r>
          </a:p>
        </p:txBody>
      </p:sp>
      <p:sp>
        <p:nvSpPr>
          <p:cNvPr id="6" name="Rectangle: Diagonal Corners Snipped 5">
            <a:extLst>
              <a:ext uri="{FF2B5EF4-FFF2-40B4-BE49-F238E27FC236}">
                <a16:creationId xmlns:a16="http://schemas.microsoft.com/office/drawing/2014/main" id="{EA299572-2969-47FF-ADFC-4E9262ACAEF6}"/>
              </a:ext>
            </a:extLst>
          </p:cNvPr>
          <p:cNvSpPr/>
          <p:nvPr/>
        </p:nvSpPr>
        <p:spPr>
          <a:xfrm>
            <a:off x="2690036" y="2030819"/>
            <a:ext cx="2679405" cy="903767"/>
          </a:xfrm>
          <a:prstGeom prst="snip2DiagRect">
            <a:avLst/>
          </a:prstGeom>
          <a:solidFill>
            <a:srgbClr val="44525A"/>
          </a:solidFill>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Buckets</a:t>
            </a:r>
          </a:p>
        </p:txBody>
      </p:sp>
      <p:sp>
        <p:nvSpPr>
          <p:cNvPr id="7" name="Rectangle: Diagonal Corners Snipped 6">
            <a:extLst>
              <a:ext uri="{FF2B5EF4-FFF2-40B4-BE49-F238E27FC236}">
                <a16:creationId xmlns:a16="http://schemas.microsoft.com/office/drawing/2014/main" id="{A02EF707-D1E6-4B7D-8F29-3109C06EC750}"/>
              </a:ext>
            </a:extLst>
          </p:cNvPr>
          <p:cNvSpPr/>
          <p:nvPr/>
        </p:nvSpPr>
        <p:spPr>
          <a:xfrm>
            <a:off x="2690036" y="3236729"/>
            <a:ext cx="2679405" cy="903767"/>
          </a:xfrm>
          <a:prstGeom prst="snip2DiagRect">
            <a:avLst/>
          </a:prstGeom>
          <a:solidFill>
            <a:srgbClr val="44525A"/>
          </a:solidFill>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Main</a:t>
            </a:r>
          </a:p>
        </p:txBody>
      </p:sp>
      <p:sp>
        <p:nvSpPr>
          <p:cNvPr id="8" name="Rectangle: Diagonal Corners Snipped 7">
            <a:extLst>
              <a:ext uri="{FF2B5EF4-FFF2-40B4-BE49-F238E27FC236}">
                <a16:creationId xmlns:a16="http://schemas.microsoft.com/office/drawing/2014/main" id="{D070712B-FA76-437C-BEE9-C2BDFC240EFC}"/>
              </a:ext>
            </a:extLst>
          </p:cNvPr>
          <p:cNvSpPr/>
          <p:nvPr/>
        </p:nvSpPr>
        <p:spPr>
          <a:xfrm>
            <a:off x="2690036" y="4442638"/>
            <a:ext cx="2679405" cy="903767"/>
          </a:xfrm>
          <a:prstGeom prst="snip2DiagRect">
            <a:avLst/>
          </a:prstGeom>
          <a:solidFill>
            <a:srgbClr val="44525A"/>
          </a:solidFill>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Splunk Instance</a:t>
            </a:r>
          </a:p>
        </p:txBody>
      </p:sp>
    </p:spTree>
    <p:extLst>
      <p:ext uri="{BB962C8B-B14F-4D97-AF65-F5344CB8AC3E}">
        <p14:creationId xmlns:p14="http://schemas.microsoft.com/office/powerpoint/2010/main" val="2902909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C8BF0A-3243-423B-A183-35794D7D89A7}"/>
              </a:ext>
            </a:extLst>
          </p:cNvPr>
          <p:cNvSpPr>
            <a:spLocks noGrp="1"/>
          </p:cNvSpPr>
          <p:nvPr>
            <p:ph idx="1"/>
          </p:nvPr>
        </p:nvSpPr>
        <p:spPr>
          <a:xfrm>
            <a:off x="378731" y="1461891"/>
            <a:ext cx="8386537" cy="2391394"/>
          </a:xfrm>
        </p:spPr>
        <p:txBody>
          <a:bodyPr/>
          <a:lstStyle/>
          <a:p>
            <a:pPr algn="just"/>
            <a:r>
              <a:rPr lang="en-US" b="0" i="0" dirty="0">
                <a:solidFill>
                  <a:srgbClr val="000000"/>
                </a:solidFill>
                <a:effectLst/>
              </a:rPr>
              <a:t>If there is a </a:t>
            </a:r>
            <a:r>
              <a:rPr lang="en-US" b="1" i="0" dirty="0">
                <a:solidFill>
                  <a:srgbClr val="000000"/>
                </a:solidFill>
                <a:effectLst/>
              </a:rPr>
              <a:t>Welcome</a:t>
            </a:r>
            <a:r>
              <a:rPr lang="en-US" b="0" i="0" dirty="0">
                <a:solidFill>
                  <a:srgbClr val="000000"/>
                </a:solidFill>
                <a:effectLst/>
              </a:rPr>
              <a:t> window displayed, close that window.</a:t>
            </a:r>
          </a:p>
          <a:p>
            <a:pPr algn="just"/>
            <a:r>
              <a:rPr lang="en-IN" b="0" i="0" dirty="0">
                <a:solidFill>
                  <a:srgbClr val="000000"/>
                </a:solidFill>
                <a:effectLst/>
              </a:rPr>
              <a:t>Click </a:t>
            </a:r>
            <a:r>
              <a:rPr lang="en-IN" b="1" i="0" dirty="0">
                <a:solidFill>
                  <a:srgbClr val="000000"/>
                </a:solidFill>
                <a:effectLst/>
              </a:rPr>
              <a:t>Settings &gt; Add Data</a:t>
            </a:r>
            <a:r>
              <a:rPr lang="en-IN" b="0" i="0" dirty="0">
                <a:solidFill>
                  <a:srgbClr val="000000"/>
                </a:solidFill>
                <a:effectLst/>
              </a:rPr>
              <a:t>.</a:t>
            </a:r>
            <a:endParaRPr lang="en-IN" dirty="0"/>
          </a:p>
        </p:txBody>
      </p:sp>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pic>
        <p:nvPicPr>
          <p:cNvPr id="4" name="Picture 3">
            <a:extLst>
              <a:ext uri="{FF2B5EF4-FFF2-40B4-BE49-F238E27FC236}">
                <a16:creationId xmlns:a16="http://schemas.microsoft.com/office/drawing/2014/main" id="{061EC860-26D0-4F97-9CFB-ACA5806C6621}"/>
              </a:ext>
            </a:extLst>
          </p:cNvPr>
          <p:cNvPicPr>
            <a:picLocks noChangeAspect="1"/>
          </p:cNvPicPr>
          <p:nvPr/>
        </p:nvPicPr>
        <p:blipFill>
          <a:blip r:embed="rId2"/>
          <a:stretch>
            <a:fillRect/>
          </a:stretch>
        </p:blipFill>
        <p:spPr>
          <a:xfrm>
            <a:off x="3677081" y="4185795"/>
            <a:ext cx="2143125" cy="19526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97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C8BF0A-3243-423B-A183-35794D7D89A7}"/>
              </a:ext>
            </a:extLst>
          </p:cNvPr>
          <p:cNvSpPr>
            <a:spLocks noGrp="1"/>
          </p:cNvSpPr>
          <p:nvPr>
            <p:ph idx="1"/>
          </p:nvPr>
        </p:nvSpPr>
        <p:spPr>
          <a:xfrm>
            <a:off x="338362" y="1534627"/>
            <a:ext cx="8386537" cy="2266950"/>
          </a:xfrm>
        </p:spPr>
        <p:txBody>
          <a:bodyPr/>
          <a:lstStyle/>
          <a:p>
            <a:pPr marL="0" indent="0" algn="just">
              <a:buNone/>
            </a:pPr>
            <a:r>
              <a:rPr lang="en-US" b="0" i="0" dirty="0">
                <a:solidFill>
                  <a:srgbClr val="000000"/>
                </a:solidFill>
                <a:effectLst/>
              </a:rPr>
              <a:t>At the bottom of the window, click </a:t>
            </a:r>
            <a:r>
              <a:rPr lang="en-US" b="1" i="0" dirty="0">
                <a:solidFill>
                  <a:srgbClr val="000000"/>
                </a:solidFill>
                <a:effectLst/>
              </a:rPr>
              <a:t>Upload</a:t>
            </a:r>
            <a:r>
              <a:rPr lang="en-US" b="0" i="0" dirty="0">
                <a:solidFill>
                  <a:srgbClr val="000000"/>
                </a:solidFill>
                <a:effectLst/>
              </a:rPr>
              <a:t>. There are other options for adding data, but for this tutorial you will upload the data files.</a:t>
            </a:r>
            <a:endParaRPr lang="en-IN" dirty="0"/>
          </a:p>
        </p:txBody>
      </p:sp>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pic>
        <p:nvPicPr>
          <p:cNvPr id="5" name="Picture 4">
            <a:extLst>
              <a:ext uri="{FF2B5EF4-FFF2-40B4-BE49-F238E27FC236}">
                <a16:creationId xmlns:a16="http://schemas.microsoft.com/office/drawing/2014/main" id="{3550C13A-FA04-468A-A055-D9A4820D3BA2}"/>
              </a:ext>
            </a:extLst>
          </p:cNvPr>
          <p:cNvPicPr>
            <a:picLocks noChangeAspect="1"/>
          </p:cNvPicPr>
          <p:nvPr/>
        </p:nvPicPr>
        <p:blipFill>
          <a:blip r:embed="rId2"/>
          <a:stretch>
            <a:fillRect/>
          </a:stretch>
        </p:blipFill>
        <p:spPr>
          <a:xfrm>
            <a:off x="3460067" y="4037069"/>
            <a:ext cx="2143125" cy="2266950"/>
          </a:xfrm>
          <a:prstGeom prst="rect">
            <a:avLst/>
          </a:prstGeom>
          <a:effectLst>
            <a:innerShdw blurRad="114300">
              <a:prstClr val="black"/>
            </a:innerShdw>
          </a:effectLst>
        </p:spPr>
      </p:pic>
    </p:spTree>
    <p:extLst>
      <p:ext uri="{BB962C8B-B14F-4D97-AF65-F5344CB8AC3E}">
        <p14:creationId xmlns:p14="http://schemas.microsoft.com/office/powerpoint/2010/main" val="1976825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C8BF0A-3243-423B-A183-35794D7D89A7}"/>
              </a:ext>
            </a:extLst>
          </p:cNvPr>
          <p:cNvSpPr>
            <a:spLocks noGrp="1"/>
          </p:cNvSpPr>
          <p:nvPr>
            <p:ph idx="1"/>
          </p:nvPr>
        </p:nvSpPr>
        <p:spPr>
          <a:xfrm>
            <a:off x="338362" y="1535581"/>
            <a:ext cx="8597308" cy="802374"/>
          </a:xfrm>
        </p:spPr>
        <p:txBody>
          <a:bodyPr/>
          <a:lstStyle/>
          <a:p>
            <a:pPr marL="0" indent="0" algn="just">
              <a:buNone/>
            </a:pPr>
            <a:r>
              <a:rPr lang="en-US" b="0" i="0" dirty="0">
                <a:solidFill>
                  <a:srgbClr val="000000"/>
                </a:solidFill>
                <a:effectLst/>
              </a:rPr>
              <a:t>Under </a:t>
            </a:r>
            <a:r>
              <a:rPr lang="en-US" b="1" i="0" dirty="0">
                <a:solidFill>
                  <a:srgbClr val="000000"/>
                </a:solidFill>
                <a:effectLst/>
              </a:rPr>
              <a:t>Select Source</a:t>
            </a:r>
            <a:r>
              <a:rPr lang="en-US" b="0" i="0" dirty="0">
                <a:solidFill>
                  <a:srgbClr val="000000"/>
                </a:solidFill>
                <a:effectLst/>
              </a:rPr>
              <a:t>, click </a:t>
            </a:r>
            <a:r>
              <a:rPr lang="en-US" b="1" i="0" dirty="0">
                <a:solidFill>
                  <a:srgbClr val="000000"/>
                </a:solidFill>
                <a:effectLst/>
              </a:rPr>
              <a:t>Select File</a:t>
            </a:r>
            <a:r>
              <a:rPr lang="en-US" b="0" i="0" dirty="0">
                <a:solidFill>
                  <a:srgbClr val="000000"/>
                </a:solidFill>
                <a:effectLst/>
              </a:rPr>
              <a:t>..</a:t>
            </a:r>
            <a:endParaRPr lang="en-IN" dirty="0"/>
          </a:p>
        </p:txBody>
      </p:sp>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pic>
        <p:nvPicPr>
          <p:cNvPr id="4" name="Picture 3">
            <a:extLst>
              <a:ext uri="{FF2B5EF4-FFF2-40B4-BE49-F238E27FC236}">
                <a16:creationId xmlns:a16="http://schemas.microsoft.com/office/drawing/2014/main" id="{297B6F2D-5E7F-4997-A1FF-C09A9593A42B}"/>
              </a:ext>
            </a:extLst>
          </p:cNvPr>
          <p:cNvPicPr>
            <a:picLocks noChangeAspect="1"/>
          </p:cNvPicPr>
          <p:nvPr/>
        </p:nvPicPr>
        <p:blipFill>
          <a:blip r:embed="rId2"/>
          <a:stretch>
            <a:fillRect/>
          </a:stretch>
        </p:blipFill>
        <p:spPr>
          <a:xfrm>
            <a:off x="1801460" y="2547973"/>
            <a:ext cx="5541079" cy="385236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9864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sp>
        <p:nvSpPr>
          <p:cNvPr id="6" name="Content Placeholder 5">
            <a:extLst>
              <a:ext uri="{FF2B5EF4-FFF2-40B4-BE49-F238E27FC236}">
                <a16:creationId xmlns:a16="http://schemas.microsoft.com/office/drawing/2014/main" id="{CC5D6398-6E0D-4100-90E9-3542ECC5CFCB}"/>
              </a:ext>
            </a:extLst>
          </p:cNvPr>
          <p:cNvSpPr>
            <a:spLocks noGrp="1"/>
          </p:cNvSpPr>
          <p:nvPr>
            <p:ph idx="1"/>
          </p:nvPr>
        </p:nvSpPr>
        <p:spPr>
          <a:xfrm>
            <a:off x="338362" y="1352262"/>
            <a:ext cx="8386537" cy="5335010"/>
          </a:xfrm>
        </p:spPr>
        <p:txBody>
          <a:bodyPr>
            <a:normAutofit fontScale="92500"/>
          </a:bodyPr>
          <a:lstStyle/>
          <a:p>
            <a:pPr algn="just"/>
            <a:r>
              <a:rPr lang="en-IN" sz="2400" dirty="0">
                <a:solidFill>
                  <a:srgbClr val="000000"/>
                </a:solidFill>
                <a:effectLst/>
                <a:ea typeface="Calibri" panose="020F0502020204030204" pitchFamily="34" charset="0"/>
                <a:cs typeface="Times New Roman" panose="02020603050405020304" pitchFamily="18" charset="0"/>
              </a:rPr>
              <a:t>In your download directory, select zip file and click </a:t>
            </a:r>
            <a:r>
              <a:rPr lang="en-IN" sz="2400" b="1" dirty="0">
                <a:effectLst/>
              </a:rPr>
              <a:t>Open</a:t>
            </a:r>
            <a:r>
              <a:rPr lang="en-IN" sz="2400" dirty="0">
                <a:effectLst/>
              </a:rPr>
              <a:t>.</a:t>
            </a:r>
          </a:p>
          <a:p>
            <a:pPr algn="just"/>
            <a:r>
              <a:rPr lang="en-US" sz="2400" b="0" i="0" dirty="0">
                <a:solidFill>
                  <a:srgbClr val="000000"/>
                </a:solidFill>
                <a:effectLst/>
              </a:rPr>
              <a:t>Click </a:t>
            </a:r>
            <a:r>
              <a:rPr lang="en-US" sz="2400" b="1" i="0" dirty="0">
                <a:solidFill>
                  <a:srgbClr val="000000"/>
                </a:solidFill>
                <a:effectLst/>
              </a:rPr>
              <a:t>Next</a:t>
            </a:r>
            <a:r>
              <a:rPr lang="en-US" sz="2400" b="0" i="0" dirty="0">
                <a:solidFill>
                  <a:srgbClr val="000000"/>
                </a:solidFill>
                <a:effectLst/>
              </a:rPr>
              <a:t> to continue to </a:t>
            </a:r>
            <a:r>
              <a:rPr lang="en-US" sz="2400" b="1" i="0" dirty="0">
                <a:solidFill>
                  <a:srgbClr val="000000"/>
                </a:solidFill>
                <a:effectLst/>
              </a:rPr>
              <a:t>Input Settings</a:t>
            </a:r>
            <a:r>
              <a:rPr lang="en-US" sz="2400" b="0" i="0" dirty="0">
                <a:solidFill>
                  <a:srgbClr val="000000"/>
                </a:solidFill>
                <a:effectLst/>
              </a:rPr>
              <a:t>.</a:t>
            </a:r>
          </a:p>
          <a:p>
            <a:pPr algn="just"/>
            <a:r>
              <a:rPr lang="en-US" sz="2400" b="0" i="0" dirty="0">
                <a:solidFill>
                  <a:srgbClr val="000000"/>
                </a:solidFill>
                <a:effectLst/>
              </a:rPr>
              <a:t>Under </a:t>
            </a:r>
            <a:r>
              <a:rPr lang="en-US" sz="2400" b="1" i="0" dirty="0">
                <a:solidFill>
                  <a:srgbClr val="000000"/>
                </a:solidFill>
                <a:effectLst/>
              </a:rPr>
              <a:t>Input Settings</a:t>
            </a:r>
            <a:r>
              <a:rPr lang="en-US" sz="2400" b="0" i="0" dirty="0">
                <a:solidFill>
                  <a:srgbClr val="000000"/>
                </a:solidFill>
                <a:effectLst/>
              </a:rPr>
              <a:t>, you can override the default settings for Host, Source type, and Index.</a:t>
            </a:r>
            <a:br>
              <a:rPr lang="en-US" sz="2400" dirty="0"/>
            </a:br>
            <a:r>
              <a:rPr lang="en-US" sz="2400" b="0" i="0" dirty="0">
                <a:solidFill>
                  <a:srgbClr val="000000"/>
                </a:solidFill>
                <a:effectLst/>
              </a:rPr>
              <a:t>Because this tutorial uses a ZIP file, you are going to modify the </a:t>
            </a:r>
            <a:r>
              <a:rPr lang="en-US" sz="2400" b="1" i="0" dirty="0">
                <a:solidFill>
                  <a:srgbClr val="000000"/>
                </a:solidFill>
                <a:effectLst/>
              </a:rPr>
              <a:t>Host</a:t>
            </a:r>
            <a:r>
              <a:rPr lang="en-US" sz="2400" b="0" i="0" dirty="0">
                <a:solidFill>
                  <a:srgbClr val="000000"/>
                </a:solidFill>
                <a:effectLst/>
              </a:rPr>
              <a:t> setting to assign the host values by using a portion of the path name for the files included in the ZIP file. The setting that you specify depends whether you are using Splunk Cloud or Splunk Enterprise, and on the operating system that you are using.</a:t>
            </a:r>
            <a:endParaRPr lang="en-IN" sz="2400" b="0" i="0" dirty="0">
              <a:solidFill>
                <a:srgbClr val="000000"/>
              </a:solidFill>
            </a:endParaRPr>
          </a:p>
        </p:txBody>
      </p:sp>
    </p:spTree>
    <p:extLst>
      <p:ext uri="{BB962C8B-B14F-4D97-AF65-F5344CB8AC3E}">
        <p14:creationId xmlns:p14="http://schemas.microsoft.com/office/powerpoint/2010/main" val="566742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pic>
        <p:nvPicPr>
          <p:cNvPr id="2" name="Content Placeholder 1">
            <a:extLst>
              <a:ext uri="{FF2B5EF4-FFF2-40B4-BE49-F238E27FC236}">
                <a16:creationId xmlns:a16="http://schemas.microsoft.com/office/drawing/2014/main" id="{BF2DC16C-65D2-4F4D-9AD2-4B7B59B99508}"/>
              </a:ext>
            </a:extLst>
          </p:cNvPr>
          <p:cNvPicPr>
            <a:picLocks noGrp="1" noChangeAspect="1"/>
          </p:cNvPicPr>
          <p:nvPr>
            <p:ph idx="1"/>
          </p:nvPr>
        </p:nvPicPr>
        <p:blipFill>
          <a:blip r:embed="rId2"/>
          <a:stretch>
            <a:fillRect/>
          </a:stretch>
        </p:blipFill>
        <p:spPr>
          <a:xfrm>
            <a:off x="1444568" y="1628775"/>
            <a:ext cx="6173901" cy="50038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39520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sp>
        <p:nvSpPr>
          <p:cNvPr id="5" name="Content Placeholder 4">
            <a:extLst>
              <a:ext uri="{FF2B5EF4-FFF2-40B4-BE49-F238E27FC236}">
                <a16:creationId xmlns:a16="http://schemas.microsoft.com/office/drawing/2014/main" id="{D0BF8846-3C2E-4893-B537-1BF05D3E39FE}"/>
              </a:ext>
            </a:extLst>
          </p:cNvPr>
          <p:cNvSpPr>
            <a:spLocks noGrp="1"/>
          </p:cNvSpPr>
          <p:nvPr>
            <p:ph idx="1"/>
          </p:nvPr>
        </p:nvSpPr>
        <p:spPr>
          <a:xfrm>
            <a:off x="378731" y="1447392"/>
            <a:ext cx="8386537" cy="2189426"/>
          </a:xfrm>
        </p:spPr>
        <p:txBody>
          <a:bodyPr/>
          <a:lstStyle/>
          <a:p>
            <a:pPr marL="0" indent="0">
              <a:buNone/>
            </a:pPr>
            <a:r>
              <a:rPr lang="en-US" dirty="0"/>
              <a:t>a. Select Regular expression on path.</a:t>
            </a:r>
          </a:p>
          <a:p>
            <a:pPr marL="0" indent="0">
              <a:buNone/>
            </a:pPr>
            <a:r>
              <a:rPr lang="en-US" dirty="0"/>
              <a:t>b. Type \\(.*)\/ for the regex to extract the host values from the path.</a:t>
            </a:r>
            <a:endParaRPr lang="en-IN" dirty="0"/>
          </a:p>
        </p:txBody>
      </p:sp>
      <p:pic>
        <p:nvPicPr>
          <p:cNvPr id="6" name="Picture 5">
            <a:extLst>
              <a:ext uri="{FF2B5EF4-FFF2-40B4-BE49-F238E27FC236}">
                <a16:creationId xmlns:a16="http://schemas.microsoft.com/office/drawing/2014/main" id="{3D4B2523-0732-48B3-9DE8-87A440761CC2}"/>
              </a:ext>
            </a:extLst>
          </p:cNvPr>
          <p:cNvPicPr>
            <a:picLocks noChangeAspect="1"/>
          </p:cNvPicPr>
          <p:nvPr/>
        </p:nvPicPr>
        <p:blipFill>
          <a:blip r:embed="rId2"/>
          <a:stretch>
            <a:fillRect/>
          </a:stretch>
        </p:blipFill>
        <p:spPr>
          <a:xfrm>
            <a:off x="1833451" y="3733358"/>
            <a:ext cx="5997613" cy="271891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40817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7611D-BA48-4374-BFD4-057DEDC2C6D1}"/>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sp>
        <p:nvSpPr>
          <p:cNvPr id="5" name="Content Placeholder 4">
            <a:extLst>
              <a:ext uri="{FF2B5EF4-FFF2-40B4-BE49-F238E27FC236}">
                <a16:creationId xmlns:a16="http://schemas.microsoft.com/office/drawing/2014/main" id="{D0BF8846-3C2E-4893-B537-1BF05D3E39FE}"/>
              </a:ext>
            </a:extLst>
          </p:cNvPr>
          <p:cNvSpPr>
            <a:spLocks noGrp="1"/>
          </p:cNvSpPr>
          <p:nvPr>
            <p:ph idx="1"/>
          </p:nvPr>
        </p:nvSpPr>
        <p:spPr>
          <a:xfrm>
            <a:off x="378731" y="1497533"/>
            <a:ext cx="8386537" cy="1547003"/>
          </a:xfrm>
          <a:effectLst>
            <a:outerShdw blurRad="63500" sx="102000" sy="102000" algn="ctr" rotWithShape="0">
              <a:prstClr val="black">
                <a:alpha val="40000"/>
              </a:prstClr>
            </a:outerShdw>
          </a:effectLst>
        </p:spPr>
        <p:txBody>
          <a:bodyPr/>
          <a:lstStyle/>
          <a:p>
            <a:pPr marL="0" indent="0" algn="just">
              <a:buNone/>
            </a:pPr>
            <a:r>
              <a:rPr lang="en-US" b="0" i="0" dirty="0">
                <a:solidFill>
                  <a:srgbClr val="000000"/>
                </a:solidFill>
                <a:effectLst/>
              </a:rPr>
              <a:t>Click </a:t>
            </a:r>
            <a:r>
              <a:rPr lang="en-US" b="1" i="0" dirty="0">
                <a:solidFill>
                  <a:srgbClr val="000000"/>
                </a:solidFill>
                <a:effectLst/>
              </a:rPr>
              <a:t>Review</a:t>
            </a:r>
            <a:r>
              <a:rPr lang="en-US" b="0" i="0" dirty="0">
                <a:solidFill>
                  <a:srgbClr val="000000"/>
                </a:solidFill>
                <a:effectLst/>
              </a:rPr>
              <a:t>. The following screen appears where you can review your input settings.</a:t>
            </a:r>
            <a:endParaRPr lang="en-IN" dirty="0"/>
          </a:p>
        </p:txBody>
      </p:sp>
      <p:pic>
        <p:nvPicPr>
          <p:cNvPr id="2" name="Picture 1">
            <a:extLst>
              <a:ext uri="{FF2B5EF4-FFF2-40B4-BE49-F238E27FC236}">
                <a16:creationId xmlns:a16="http://schemas.microsoft.com/office/drawing/2014/main" id="{B5BD7617-1BA7-4B38-BCEF-243FE5568E64}"/>
              </a:ext>
            </a:extLst>
          </p:cNvPr>
          <p:cNvPicPr>
            <a:picLocks noChangeAspect="1"/>
          </p:cNvPicPr>
          <p:nvPr/>
        </p:nvPicPr>
        <p:blipFill>
          <a:blip r:embed="rId2"/>
          <a:stretch>
            <a:fillRect/>
          </a:stretch>
        </p:blipFill>
        <p:spPr>
          <a:xfrm>
            <a:off x="607867" y="3429000"/>
            <a:ext cx="7928264" cy="287682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56741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DB9B13-AB64-435E-8188-F9EBE85C1D20}"/>
              </a:ext>
            </a:extLst>
          </p:cNvPr>
          <p:cNvSpPr>
            <a:spLocks noGrp="1"/>
          </p:cNvSpPr>
          <p:nvPr>
            <p:ph idx="1"/>
          </p:nvPr>
        </p:nvSpPr>
        <p:spPr>
          <a:xfrm>
            <a:off x="338362" y="1513845"/>
            <a:ext cx="8386537" cy="792937"/>
          </a:xfrm>
        </p:spPr>
        <p:txBody>
          <a:bodyPr/>
          <a:lstStyle/>
          <a:p>
            <a:pPr marL="0" indent="0" algn="just">
              <a:buNone/>
            </a:pPr>
            <a:r>
              <a:rPr lang="en-US" b="0" i="0" dirty="0">
                <a:solidFill>
                  <a:srgbClr val="000000"/>
                </a:solidFill>
                <a:effectLst/>
              </a:rPr>
              <a:t>Click </a:t>
            </a:r>
            <a:r>
              <a:rPr lang="en-US" b="1" i="0" dirty="0">
                <a:solidFill>
                  <a:srgbClr val="000000"/>
                </a:solidFill>
                <a:effectLst/>
              </a:rPr>
              <a:t>Submit</a:t>
            </a:r>
            <a:r>
              <a:rPr lang="en-US" b="0" i="0" dirty="0">
                <a:solidFill>
                  <a:srgbClr val="000000"/>
                </a:solidFill>
                <a:effectLst/>
              </a:rPr>
              <a:t> to add the data.</a:t>
            </a:r>
            <a:endParaRPr lang="en-IN" dirty="0"/>
          </a:p>
        </p:txBody>
      </p:sp>
      <p:sp>
        <p:nvSpPr>
          <p:cNvPr id="3" name="Title 2">
            <a:extLst>
              <a:ext uri="{FF2B5EF4-FFF2-40B4-BE49-F238E27FC236}">
                <a16:creationId xmlns:a16="http://schemas.microsoft.com/office/drawing/2014/main" id="{EA89F0CC-9000-489A-A331-FCC1613F67D0}"/>
              </a:ext>
            </a:extLst>
          </p:cNvPr>
          <p:cNvSpPr>
            <a:spLocks noGrp="1"/>
          </p:cNvSpPr>
          <p:nvPr>
            <p:ph type="title"/>
          </p:nvPr>
        </p:nvSpPr>
        <p:spPr/>
        <p:txBody>
          <a:bodyPr vert="horz" lIns="91440" tIns="45720" rIns="91440" bIns="45720" rtlCol="0" anchor="ctr">
            <a:normAutofit fontScale="90000"/>
          </a:bodyPr>
          <a:lstStyle/>
          <a:p>
            <a:br>
              <a:rPr lang="en-US" dirty="0"/>
            </a:br>
            <a:r>
              <a:rPr lang="en-US" dirty="0"/>
              <a:t>Use the Add Data wizard</a:t>
            </a:r>
            <a:br>
              <a:rPr lang="en-US" dirty="0"/>
            </a:br>
            <a:endParaRPr lang="en-IN" dirty="0"/>
          </a:p>
        </p:txBody>
      </p:sp>
      <p:pic>
        <p:nvPicPr>
          <p:cNvPr id="5" name="Picture 4">
            <a:extLst>
              <a:ext uri="{FF2B5EF4-FFF2-40B4-BE49-F238E27FC236}">
                <a16:creationId xmlns:a16="http://schemas.microsoft.com/office/drawing/2014/main" id="{DC981847-957E-4D32-A88B-FE8069E8B4DD}"/>
              </a:ext>
            </a:extLst>
          </p:cNvPr>
          <p:cNvPicPr>
            <a:picLocks noChangeAspect="1"/>
          </p:cNvPicPr>
          <p:nvPr/>
        </p:nvPicPr>
        <p:blipFill>
          <a:blip r:embed="rId2"/>
          <a:stretch>
            <a:fillRect/>
          </a:stretch>
        </p:blipFill>
        <p:spPr>
          <a:xfrm>
            <a:off x="683531" y="2536622"/>
            <a:ext cx="7776938" cy="4029194"/>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3332047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DB9B13-AB64-435E-8188-F9EBE85C1D20}"/>
              </a:ext>
            </a:extLst>
          </p:cNvPr>
          <p:cNvSpPr>
            <a:spLocks noGrp="1"/>
          </p:cNvSpPr>
          <p:nvPr>
            <p:ph idx="1"/>
          </p:nvPr>
        </p:nvSpPr>
        <p:spPr>
          <a:xfrm>
            <a:off x="338361" y="1534627"/>
            <a:ext cx="8386537" cy="5004884"/>
          </a:xfrm>
        </p:spPr>
        <p:txBody>
          <a:bodyPr/>
          <a:lstStyle/>
          <a:p>
            <a:pPr algn="just"/>
            <a:r>
              <a:rPr lang="en-US" b="0" i="0" dirty="0">
                <a:solidFill>
                  <a:srgbClr val="000000"/>
                </a:solidFill>
                <a:effectLst/>
              </a:rPr>
              <a:t>To see the data in the Search app, click </a:t>
            </a:r>
            <a:r>
              <a:rPr lang="en-US" b="1" i="0" dirty="0">
                <a:solidFill>
                  <a:srgbClr val="000000"/>
                </a:solidFill>
                <a:effectLst/>
              </a:rPr>
              <a:t>Start Searching</a:t>
            </a:r>
            <a:r>
              <a:rPr lang="en-US" b="0" i="0" dirty="0">
                <a:solidFill>
                  <a:srgbClr val="000000"/>
                </a:solidFill>
                <a:effectLst/>
              </a:rPr>
              <a:t>.</a:t>
            </a:r>
          </a:p>
          <a:p>
            <a:pPr algn="just"/>
            <a:r>
              <a:rPr lang="en-US" b="0" i="0" dirty="0">
                <a:solidFill>
                  <a:srgbClr val="000000"/>
                </a:solidFill>
                <a:effectLst/>
              </a:rPr>
              <a:t>You might see a screen asking if you want to take a tour. You can take the tour or click </a:t>
            </a:r>
            <a:r>
              <a:rPr lang="en-US" b="1" i="0" dirty="0">
                <a:solidFill>
                  <a:srgbClr val="000000"/>
                </a:solidFill>
                <a:effectLst/>
              </a:rPr>
              <a:t>Skip</a:t>
            </a:r>
            <a:r>
              <a:rPr lang="en-US" b="0" i="0" dirty="0">
                <a:solidFill>
                  <a:srgbClr val="000000"/>
                </a:solidFill>
                <a:effectLst/>
              </a:rPr>
              <a:t>.</a:t>
            </a:r>
            <a:br>
              <a:rPr lang="en-US" dirty="0"/>
            </a:br>
            <a:r>
              <a:rPr lang="en-US" b="0" i="0" dirty="0">
                <a:solidFill>
                  <a:srgbClr val="000000"/>
                </a:solidFill>
                <a:effectLst/>
              </a:rPr>
              <a:t>The Search app opens and a search is automatically run on the tutorial data source.</a:t>
            </a:r>
            <a:endParaRPr lang="en-IN" dirty="0"/>
          </a:p>
        </p:txBody>
      </p:sp>
      <p:sp>
        <p:nvSpPr>
          <p:cNvPr id="3" name="Title 2">
            <a:extLst>
              <a:ext uri="{FF2B5EF4-FFF2-40B4-BE49-F238E27FC236}">
                <a16:creationId xmlns:a16="http://schemas.microsoft.com/office/drawing/2014/main" id="{EA89F0CC-9000-489A-A331-FCC1613F67D0}"/>
              </a:ext>
            </a:extLst>
          </p:cNvPr>
          <p:cNvSpPr>
            <a:spLocks noGrp="1"/>
          </p:cNvSpPr>
          <p:nvPr>
            <p:ph type="title"/>
          </p:nvPr>
        </p:nvSpPr>
        <p:spPr/>
        <p:txBody>
          <a:bodyPr vert="horz" lIns="91440" tIns="45720" rIns="91440" bIns="45720" rtlCol="0" anchor="ctr">
            <a:normAutofit/>
          </a:bodyPr>
          <a:lstStyle/>
          <a:p>
            <a:r>
              <a:rPr lang="en-IN" dirty="0"/>
              <a:t>Splunk cloud</a:t>
            </a:r>
          </a:p>
        </p:txBody>
      </p:sp>
    </p:spTree>
    <p:extLst>
      <p:ext uri="{BB962C8B-B14F-4D97-AF65-F5344CB8AC3E}">
        <p14:creationId xmlns:p14="http://schemas.microsoft.com/office/powerpoint/2010/main" val="4117662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3B4A964-D115-465C-9833-4D4C14A8E63E}"/>
              </a:ext>
            </a:extLst>
          </p:cNvPr>
          <p:cNvPicPr>
            <a:picLocks noGrp="1" noChangeAspect="1"/>
          </p:cNvPicPr>
          <p:nvPr>
            <p:ph idx="1"/>
          </p:nvPr>
        </p:nvPicPr>
        <p:blipFill>
          <a:blip r:embed="rId2"/>
          <a:stretch>
            <a:fillRect/>
          </a:stretch>
        </p:blipFill>
        <p:spPr>
          <a:xfrm>
            <a:off x="2396509" y="4264229"/>
            <a:ext cx="4718422" cy="2453579"/>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262FC11F-8F91-4276-A6CB-9F726414FCD2}"/>
              </a:ext>
            </a:extLst>
          </p:cNvPr>
          <p:cNvSpPr>
            <a:spLocks noGrp="1"/>
          </p:cNvSpPr>
          <p:nvPr>
            <p:ph type="title"/>
          </p:nvPr>
        </p:nvSpPr>
        <p:spPr/>
        <p:txBody>
          <a:bodyPr vert="horz" lIns="91440" tIns="45720" rIns="91440" bIns="45720" rtlCol="0" anchor="ctr">
            <a:normAutofit/>
          </a:bodyPr>
          <a:lstStyle/>
          <a:p>
            <a:r>
              <a:rPr lang="en-IN" dirty="0"/>
              <a:t>Splunk cloud</a:t>
            </a:r>
          </a:p>
        </p:txBody>
      </p:sp>
      <p:sp>
        <p:nvSpPr>
          <p:cNvPr id="6" name="TextBox 5">
            <a:extLst>
              <a:ext uri="{FF2B5EF4-FFF2-40B4-BE49-F238E27FC236}">
                <a16:creationId xmlns:a16="http://schemas.microsoft.com/office/drawing/2014/main" id="{169AC475-A53F-4C1A-BE04-45BCABDFEA9C}"/>
              </a:ext>
            </a:extLst>
          </p:cNvPr>
          <p:cNvSpPr txBox="1"/>
          <p:nvPr/>
        </p:nvSpPr>
        <p:spPr>
          <a:xfrm>
            <a:off x="338362" y="1476991"/>
            <a:ext cx="8386537" cy="278723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Bahnschrift" panose="020B0502040204020203" pitchFamily="34" charset="0"/>
              </a:rPr>
              <a:t>To see the data in the Search app, click Start Searching.</a:t>
            </a:r>
          </a:p>
          <a:p>
            <a:pPr marL="342900" indent="-342900" algn="just">
              <a:lnSpc>
                <a:spcPct val="150000"/>
              </a:lnSpc>
              <a:buFont typeface="Arial" panose="020B0604020202020204" pitchFamily="34" charset="0"/>
              <a:buChar char="•"/>
            </a:pPr>
            <a:r>
              <a:rPr lang="en-US" sz="2400" dirty="0">
                <a:latin typeface="Bahnschrift" panose="020B0502040204020203" pitchFamily="34" charset="0"/>
              </a:rPr>
              <a:t>You might see a screen asking if you want to take a tour. You can take the tour or click Skip.</a:t>
            </a:r>
          </a:p>
          <a:p>
            <a:pPr marL="342900" indent="-342900" algn="just">
              <a:lnSpc>
                <a:spcPct val="150000"/>
              </a:lnSpc>
              <a:buFont typeface="Arial" panose="020B0604020202020204" pitchFamily="34" charset="0"/>
              <a:buChar char="•"/>
            </a:pPr>
            <a:r>
              <a:rPr lang="en-US" sz="2400" dirty="0">
                <a:latin typeface="Bahnschrift" panose="020B0502040204020203" pitchFamily="34" charset="0"/>
              </a:rPr>
              <a:t>The Search app opens and a search is automatically run on the tutorial data source</a:t>
            </a:r>
            <a:endParaRPr lang="en-IN" sz="2400" dirty="0">
              <a:latin typeface="Bahnschrift" panose="020B0502040204020203" pitchFamily="34" charset="0"/>
            </a:endParaRPr>
          </a:p>
        </p:txBody>
      </p:sp>
    </p:spTree>
    <p:extLst>
      <p:ext uri="{BB962C8B-B14F-4D97-AF65-F5344CB8AC3E}">
        <p14:creationId xmlns:p14="http://schemas.microsoft.com/office/powerpoint/2010/main" val="419174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3B4A964-D115-465C-9833-4D4C14A8E63E}"/>
              </a:ext>
            </a:extLst>
          </p:cNvPr>
          <p:cNvPicPr>
            <a:picLocks noGrp="1" noChangeAspect="1"/>
          </p:cNvPicPr>
          <p:nvPr>
            <p:ph idx="1"/>
          </p:nvPr>
        </p:nvPicPr>
        <p:blipFill>
          <a:blip r:embed="rId2"/>
          <a:stretch>
            <a:fillRect/>
          </a:stretch>
        </p:blipFill>
        <p:spPr>
          <a:xfrm>
            <a:off x="1575253" y="3320485"/>
            <a:ext cx="6331855" cy="3292565"/>
          </a:xfrm>
          <a:prstGeom prst="rect">
            <a:avLst/>
          </a:prstGeom>
        </p:spPr>
      </p:pic>
      <p:sp>
        <p:nvSpPr>
          <p:cNvPr id="3" name="Title 2">
            <a:extLst>
              <a:ext uri="{FF2B5EF4-FFF2-40B4-BE49-F238E27FC236}">
                <a16:creationId xmlns:a16="http://schemas.microsoft.com/office/drawing/2014/main" id="{262FC11F-8F91-4276-A6CB-9F726414FCD2}"/>
              </a:ext>
            </a:extLst>
          </p:cNvPr>
          <p:cNvSpPr>
            <a:spLocks noGrp="1"/>
          </p:cNvSpPr>
          <p:nvPr>
            <p:ph type="title"/>
          </p:nvPr>
        </p:nvSpPr>
        <p:spPr/>
        <p:txBody>
          <a:bodyPr vert="horz" lIns="91440" tIns="45720" rIns="91440" bIns="45720" rtlCol="0" anchor="ctr">
            <a:normAutofit/>
          </a:bodyPr>
          <a:lstStyle/>
          <a:p>
            <a:r>
              <a:rPr lang="en-IN" dirty="0"/>
              <a:t>Splunk cloud</a:t>
            </a:r>
          </a:p>
        </p:txBody>
      </p:sp>
      <p:sp>
        <p:nvSpPr>
          <p:cNvPr id="6" name="TextBox 5">
            <a:extLst>
              <a:ext uri="{FF2B5EF4-FFF2-40B4-BE49-F238E27FC236}">
                <a16:creationId xmlns:a16="http://schemas.microsoft.com/office/drawing/2014/main" id="{169AC475-A53F-4C1A-BE04-45BCABDFEA9C}"/>
              </a:ext>
            </a:extLst>
          </p:cNvPr>
          <p:cNvSpPr txBox="1"/>
          <p:nvPr/>
        </p:nvSpPr>
        <p:spPr>
          <a:xfrm>
            <a:off x="338362" y="1476991"/>
            <a:ext cx="8805638" cy="1692066"/>
          </a:xfrm>
          <a:prstGeom prst="rect">
            <a:avLst/>
          </a:prstGeom>
          <a:noFill/>
        </p:spPr>
        <p:txBody>
          <a:bodyPr wrap="square">
            <a:spAutoFit/>
          </a:bodyPr>
          <a:lstStyle/>
          <a:p>
            <a:pPr algn="just">
              <a:lnSpc>
                <a:spcPct val="150000"/>
              </a:lnSpc>
              <a:spcAft>
                <a:spcPts val="120"/>
              </a:spcAft>
            </a:pPr>
            <a:r>
              <a:rPr lang="en-IN" sz="2400" dirty="0">
                <a:solidFill>
                  <a:srgbClr val="000000"/>
                </a:solidFill>
                <a:effectLst/>
                <a:latin typeface="Bahnschrift" panose="020B0502040204020203" pitchFamily="34" charset="0"/>
                <a:ea typeface="Times New Roman" panose="02020603050405020304" pitchFamily="18" charset="0"/>
                <a:cs typeface="Times New Roman" panose="02020603050405020304" pitchFamily="18" charset="0"/>
              </a:rPr>
              <a:t>Success! The results confirm that the data in zip file was indexed and that events were created.</a:t>
            </a:r>
            <a:endParaRPr lang="en-IN" sz="2400" dirty="0">
              <a:latin typeface="Bahnschrift" panose="020B0502040204020203" pitchFamily="34" charset="0"/>
              <a:ea typeface="Times New Roman" panose="02020603050405020304" pitchFamily="18" charset="0"/>
              <a:cs typeface="Times New Roman" panose="02020603050405020304" pitchFamily="18" charset="0"/>
            </a:endParaRPr>
          </a:p>
          <a:p>
            <a:pPr algn="just">
              <a:lnSpc>
                <a:spcPct val="150000"/>
              </a:lnSpc>
              <a:spcAft>
                <a:spcPts val="120"/>
              </a:spcAft>
            </a:pPr>
            <a:r>
              <a:rPr lang="en-IN" sz="2400" dirty="0">
                <a:solidFill>
                  <a:srgbClr val="000000"/>
                </a:solidFill>
                <a:effectLst/>
                <a:latin typeface="Bahnschrift" panose="020B0502040204020203" pitchFamily="34" charset="0"/>
                <a:ea typeface="Times New Roman" panose="02020603050405020304" pitchFamily="18" charset="0"/>
                <a:cs typeface="Times New Roman" panose="02020603050405020304" pitchFamily="18" charset="0"/>
              </a:rPr>
              <a:t>Click the </a:t>
            </a:r>
            <a:r>
              <a:rPr lang="en-IN" sz="2400" b="1" dirty="0">
                <a:solidFill>
                  <a:srgbClr val="000000"/>
                </a:solidFill>
                <a:effectLst/>
                <a:latin typeface="Bahnschrift" panose="020B0502040204020203" pitchFamily="34" charset="0"/>
                <a:ea typeface="Times New Roman" panose="02020603050405020304" pitchFamily="18" charset="0"/>
                <a:cs typeface="Times New Roman" panose="02020603050405020304" pitchFamily="18" charset="0"/>
              </a:rPr>
              <a:t>Splunk</a:t>
            </a:r>
            <a:r>
              <a:rPr lang="en-IN" sz="2400" dirty="0">
                <a:solidFill>
                  <a:srgbClr val="000000"/>
                </a:solidFill>
                <a:effectLst/>
                <a:latin typeface="Bahnschrift" panose="020B0502040204020203" pitchFamily="34" charset="0"/>
                <a:ea typeface="Times New Roman" panose="02020603050405020304" pitchFamily="18" charset="0"/>
                <a:cs typeface="Times New Roman" panose="02020603050405020304" pitchFamily="18" charset="0"/>
              </a:rPr>
              <a:t> logo to return to Splunk Home.</a:t>
            </a:r>
            <a:endParaRPr lang="en-IN" sz="2400" dirty="0">
              <a:effectLst/>
              <a:latin typeface="Bahnschrift" panose="020B05020402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1491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1019</TotalTime>
  <Words>609</Words>
  <Application>Microsoft Office PowerPoint</Application>
  <PresentationFormat>On-screen Show (4:3)</PresentationFormat>
  <Paragraphs>61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Bahnschrift</vt:lpstr>
      <vt:lpstr>Bahnschrift SemiBold</vt:lpstr>
      <vt:lpstr>Calibri</vt:lpstr>
      <vt:lpstr>Calibri Light</vt:lpstr>
      <vt:lpstr>Office Theme</vt:lpstr>
      <vt:lpstr>PowerPoint Presentation</vt:lpstr>
      <vt:lpstr>PowerPoint Presentation</vt:lpstr>
      <vt:lpstr>Introduction</vt:lpstr>
      <vt:lpstr>Introduction</vt:lpstr>
      <vt:lpstr>Introduction</vt:lpstr>
      <vt:lpstr>Where is the data stored?</vt:lpstr>
      <vt:lpstr>Where is the data stored?</vt:lpstr>
      <vt:lpstr>Where is the data stored?</vt:lpstr>
      <vt:lpstr> Use the Add Data wizard </vt:lpstr>
      <vt:lpstr> Use the Add Data wizard </vt:lpstr>
      <vt:lpstr> Use the Add Data wizard </vt:lpstr>
      <vt:lpstr> Use the Add Data wizard </vt:lpstr>
      <vt:lpstr> Use the Add Data wizard </vt:lpstr>
      <vt:lpstr> Use the Add Data wizard </vt:lpstr>
      <vt:lpstr> Use the Add Data wizard </vt:lpstr>
      <vt:lpstr> Use the Add Data wizard </vt:lpstr>
      <vt:lpstr>Splunk cloud</vt:lpstr>
      <vt:lpstr>Splunk cloud</vt:lpstr>
      <vt:lpstr>Splunk cloud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59</cp:revision>
  <dcterms:created xsi:type="dcterms:W3CDTF">2021-05-13T17:45:44Z</dcterms:created>
  <dcterms:modified xsi:type="dcterms:W3CDTF">2021-10-01T08:09:37Z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438742</vt:lpwstr>
  </property>
  <property fmtid="{D5CDD505-2E9C-101B-9397-08002B2CF9AE}" name="NXPowerLiteSettings" pid="3">
    <vt:lpwstr>E700052003A000</vt:lpwstr>
  </property>
  <property fmtid="{D5CDD505-2E9C-101B-9397-08002B2CF9AE}" name="NXPowerLiteVersion" pid="4">
    <vt:lpwstr>D9.1.4</vt:lpwstr>
  </property>
</Properties>
</file>