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6"/>
  </p:handoutMasterIdLst>
  <p:sldIdLst>
    <p:sldId id="266" r:id="rId2"/>
    <p:sldId id="261" r:id="rId3"/>
    <p:sldId id="264" r:id="rId4"/>
    <p:sldId id="274" r:id="rId5"/>
    <p:sldId id="269" r:id="rId6"/>
    <p:sldId id="305" r:id="rId7"/>
    <p:sldId id="273" r:id="rId8"/>
    <p:sldId id="275" r:id="rId9"/>
    <p:sldId id="306" r:id="rId10"/>
    <p:sldId id="280" r:id="rId11"/>
    <p:sldId id="282" r:id="rId12"/>
    <p:sldId id="307" r:id="rId13"/>
    <p:sldId id="308" r:id="rId14"/>
    <p:sldId id="284" r:id="rId15"/>
    <p:sldId id="309" r:id="rId16"/>
    <p:sldId id="285" r:id="rId17"/>
    <p:sldId id="286" r:id="rId18"/>
    <p:sldId id="287" r:id="rId19"/>
    <p:sldId id="288" r:id="rId20"/>
    <p:sldId id="289" r:id="rId21"/>
    <p:sldId id="291" r:id="rId22"/>
    <p:sldId id="293" r:id="rId23"/>
    <p:sldId id="292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263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4E7E9"/>
    <a:srgbClr val="44525A"/>
    <a:srgbClr val="618495"/>
    <a:srgbClr val="44525B"/>
    <a:srgbClr val="072235"/>
    <a:srgbClr val="453A38"/>
    <a:srgbClr val="B8B192"/>
    <a:srgbClr val="473B39"/>
    <a:srgbClr val="302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76" d="100"/>
          <a:sy n="76" d="100"/>
        </p:scale>
        <p:origin x="9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9930" y="2757860"/>
            <a:ext cx="6767978" cy="3773150"/>
          </a:xfrm>
        </p:spPr>
        <p:txBody>
          <a:bodyPr/>
          <a:lstStyle/>
          <a:p>
            <a:pPr algn="just"/>
            <a:r>
              <a:rPr lang="en-US" dirty="0"/>
              <a:t>Starting HDFS</a:t>
            </a:r>
          </a:p>
          <a:p>
            <a:pPr algn="just"/>
            <a:r>
              <a:rPr lang="en-US" dirty="0"/>
              <a:t>Creating User Account</a:t>
            </a:r>
          </a:p>
          <a:p>
            <a:pPr algn="just"/>
            <a:r>
              <a:rPr lang="en-US" dirty="0"/>
              <a:t>Configuring Key Based Login</a:t>
            </a:r>
          </a:p>
          <a:p>
            <a:pPr algn="just"/>
            <a:r>
              <a:rPr lang="en-US" dirty="0"/>
              <a:t>Configuring Hadoop on Master Server</a:t>
            </a:r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Starting HDFS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DEF8E-3C3E-4DEA-80DD-196E5F52AB17}"/>
              </a:ext>
            </a:extLst>
          </p:cNvPr>
          <p:cNvSpPr/>
          <p:nvPr/>
        </p:nvSpPr>
        <p:spPr>
          <a:xfrm>
            <a:off x="1180214" y="2472069"/>
            <a:ext cx="6783572" cy="95693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F25907-A912-4D9C-9346-A2B0D6B9F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31740" rIns="0" bIns="3174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6FF59-5999-49A3-AB13-A4E371A6A180}"/>
              </a:ext>
            </a:extLst>
          </p:cNvPr>
          <p:cNvSpPr txBox="1"/>
          <p:nvPr/>
        </p:nvSpPr>
        <p:spPr>
          <a:xfrm>
            <a:off x="2371725" y="268892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>
                <a:latin typeface="Bahnschrift" panose="020B0502040204020203" pitchFamily="34" charset="0"/>
              </a:rPr>
              <a:t>hadoop</a:t>
            </a:r>
            <a:r>
              <a:rPr lang="en-IN" sz="2800" dirty="0">
                <a:latin typeface="Bahnschrift" panose="020B0502040204020203" pitchFamily="34" charset="0"/>
              </a:rPr>
              <a:t> </a:t>
            </a:r>
            <a:r>
              <a:rPr lang="en-IN" sz="2800" dirty="0" err="1">
                <a:latin typeface="Bahnschrift" panose="020B0502040204020203" pitchFamily="34" charset="0"/>
              </a:rPr>
              <a:t>namenode</a:t>
            </a:r>
            <a:r>
              <a:rPr lang="en-IN" sz="2800" dirty="0">
                <a:latin typeface="Bahnschrift" panose="020B0502040204020203" pitchFamily="34" charset="0"/>
              </a:rPr>
              <a:t> -format </a:t>
            </a:r>
          </a:p>
        </p:txBody>
      </p:sp>
    </p:spTree>
    <p:extLst>
      <p:ext uri="{BB962C8B-B14F-4D97-AF65-F5344CB8AC3E}">
        <p14:creationId xmlns:p14="http://schemas.microsoft.com/office/powerpoint/2010/main" val="361301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Starting HDFS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DEF8E-3C3E-4DEA-80DD-196E5F52AB17}"/>
              </a:ext>
            </a:extLst>
          </p:cNvPr>
          <p:cNvSpPr/>
          <p:nvPr/>
        </p:nvSpPr>
        <p:spPr>
          <a:xfrm>
            <a:off x="1265939" y="2105467"/>
            <a:ext cx="6783572" cy="956931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10035E-36C4-4D28-B658-C1F5CC59DC2A}"/>
              </a:ext>
            </a:extLst>
          </p:cNvPr>
          <p:cNvSpPr txBox="1"/>
          <p:nvPr/>
        </p:nvSpPr>
        <p:spPr>
          <a:xfrm>
            <a:off x="2286000" y="229154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latin typeface="Bahnschrift" panose="020B0502040204020203" pitchFamily="34" charset="0"/>
              </a:rPr>
              <a:t>start-dfs.sh</a:t>
            </a:r>
          </a:p>
        </p:txBody>
      </p:sp>
    </p:spTree>
    <p:extLst>
      <p:ext uri="{BB962C8B-B14F-4D97-AF65-F5344CB8AC3E}">
        <p14:creationId xmlns:p14="http://schemas.microsoft.com/office/powerpoint/2010/main" val="149253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A854-A203-49E2-9DC0-1190C7D2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655" y="1497516"/>
            <a:ext cx="8192689" cy="5004884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3A3A3A"/>
                </a:solidFill>
                <a:effectLst/>
              </a:rPr>
              <a:t>Execute almost all operations on Hadoop Distributed File Systems.</a:t>
            </a:r>
          </a:p>
          <a:p>
            <a:pPr algn="just"/>
            <a:r>
              <a:rPr lang="en-US" b="0" i="0" dirty="0">
                <a:solidFill>
                  <a:srgbClr val="3A3A3A"/>
                </a:solidFill>
                <a:effectLst/>
              </a:rPr>
              <a:t>You can execute various reading, writing operations .</a:t>
            </a:r>
          </a:p>
          <a:p>
            <a:pPr algn="just"/>
            <a:r>
              <a:rPr lang="en-US" b="0" i="0" dirty="0">
                <a:solidFill>
                  <a:srgbClr val="3A3A3A"/>
                </a:solidFill>
                <a:effectLst/>
              </a:rPr>
              <a:t>You can add access rights and browse the file system to get the cluster information.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EA8E3-2B02-496D-BA76-294642D7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</a:rPr>
              <a:t>HDFS Operations to Read &amp; Write the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5288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A854-A203-49E2-9DC0-1190C7D2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53" y="1628145"/>
            <a:ext cx="8132046" cy="5004884"/>
          </a:xfrm>
        </p:spPr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3A3A3A"/>
                </a:solidFill>
                <a:effectLst/>
              </a:rPr>
              <a:t>HDFS Operations to Read the file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EA8E3-2B02-496D-BA76-294642D7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</a:rPr>
              <a:t>HDFS Operations to Read &amp; Write the Data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84E5EC-FDA8-448F-9BB8-702A81FE55F9}"/>
              </a:ext>
            </a:extLst>
          </p:cNvPr>
          <p:cNvSpPr/>
          <p:nvPr/>
        </p:nvSpPr>
        <p:spPr>
          <a:xfrm>
            <a:off x="903767" y="2849526"/>
            <a:ext cx="2371061" cy="797442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NameNode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378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A854-A203-49E2-9DC0-1190C7D2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853" y="1628145"/>
            <a:ext cx="8132046" cy="5004884"/>
          </a:xfrm>
        </p:spPr>
        <p:txBody>
          <a:bodyPr>
            <a:normAutofit/>
          </a:bodyPr>
          <a:lstStyle/>
          <a:p>
            <a:pPr algn="l"/>
            <a:r>
              <a:rPr lang="en-US" i="0" dirty="0">
                <a:solidFill>
                  <a:srgbClr val="3A3A3A"/>
                </a:solidFill>
                <a:effectLst/>
              </a:rPr>
              <a:t>HDFS Operations to Read the file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EA8E3-2B02-496D-BA76-294642D7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</a:rPr>
              <a:t>HDFS Operations to Read &amp; Write the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53D4C9-61AD-4952-BDFA-74132AA03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207" y="2484449"/>
            <a:ext cx="6052846" cy="414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47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A854-A203-49E2-9DC0-1190C7D2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7" y="1415818"/>
            <a:ext cx="8592986" cy="5442182"/>
          </a:xfrm>
        </p:spPr>
        <p:txBody>
          <a:bodyPr>
            <a:normAutofit/>
          </a:bodyPr>
          <a:lstStyle/>
          <a:p>
            <a:pPr algn="just"/>
            <a:r>
              <a:rPr lang="en-US" i="0" dirty="0">
                <a:solidFill>
                  <a:srgbClr val="3A3A3A"/>
                </a:solidFill>
                <a:effectLst/>
              </a:rPr>
              <a:t>HDFS Operations to Read the file</a:t>
            </a:r>
          </a:p>
          <a:p>
            <a:pPr marL="0" indent="0" algn="just">
              <a:buNone/>
            </a:pPr>
            <a:r>
              <a:rPr lang="en-US" sz="2100" i="0" dirty="0">
                <a:solidFill>
                  <a:srgbClr val="3A3A3A"/>
                </a:solidFill>
                <a:effectLst/>
              </a:rPr>
              <a:t>You can put a read request to NameNode for a particular block location through distributed file systems. The NameNode will then check your privilege to access the </a:t>
            </a:r>
            <a:r>
              <a:rPr lang="en-US" sz="2100" i="0" dirty="0" err="1">
                <a:solidFill>
                  <a:srgbClr val="3A3A3A"/>
                </a:solidFill>
                <a:effectLst/>
              </a:rPr>
              <a:t>DataNode</a:t>
            </a:r>
            <a:r>
              <a:rPr lang="en-US" sz="2100" i="0" dirty="0">
                <a:solidFill>
                  <a:srgbClr val="3A3A3A"/>
                </a:solidFill>
                <a:effectLst/>
              </a:rPr>
              <a:t> and allows you to read the address block if the access is valid.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EA8E3-2B02-496D-BA76-294642D7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0" dirty="0">
                <a:effectLst/>
                <a:latin typeface="Bahnschrift" panose="020B0502040204020203" pitchFamily="34" charset="0"/>
              </a:rPr>
              <a:t>HDFS Operations to Read &amp; Write the Data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1E62F-9E1B-42D3-8C8C-529D491D5B5A}"/>
              </a:ext>
            </a:extLst>
          </p:cNvPr>
          <p:cNvSpPr/>
          <p:nvPr/>
        </p:nvSpPr>
        <p:spPr>
          <a:xfrm>
            <a:off x="1010092" y="4540102"/>
            <a:ext cx="6783572" cy="9569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9CBD1A-A078-4066-8C1A-1CF1C0B56BD8}"/>
              </a:ext>
            </a:extLst>
          </p:cNvPr>
          <p:cNvSpPr txBox="1"/>
          <p:nvPr/>
        </p:nvSpPr>
        <p:spPr>
          <a:xfrm>
            <a:off x="2245630" y="47877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0" i="0" dirty="0">
                <a:solidFill>
                  <a:srgbClr val="3A3A3A"/>
                </a:solidFill>
                <a:effectLst/>
                <a:latin typeface="Bahnschrift" panose="020B0502040204020203" pitchFamily="34" charset="0"/>
              </a:rPr>
              <a:t>bin/hdfs dfs -ls  &lt;path&gt;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073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62A854-A203-49E2-9DC0-1190C7D2F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137" y="1415818"/>
            <a:ext cx="8592986" cy="5442182"/>
          </a:xfrm>
        </p:spPr>
        <p:txBody>
          <a:bodyPr>
            <a:normAutofit/>
          </a:bodyPr>
          <a:lstStyle/>
          <a:p>
            <a:pPr algn="just"/>
            <a:r>
              <a:rPr lang="en-US" i="0" dirty="0">
                <a:solidFill>
                  <a:srgbClr val="3A3A3A"/>
                </a:solidFill>
                <a:effectLst/>
              </a:rPr>
              <a:t>HDFS Operations to Read the file</a:t>
            </a:r>
          </a:p>
          <a:p>
            <a:pPr marL="0" indent="0" algn="just">
              <a:buNone/>
            </a:pPr>
            <a:r>
              <a:rPr lang="en-US" sz="2100" i="0" dirty="0">
                <a:solidFill>
                  <a:srgbClr val="3A3A3A"/>
                </a:solidFill>
                <a:effectLst/>
              </a:rPr>
              <a:t>Similar to the read operation, the HDFS Write operation is used to write the file on a particular address through the </a:t>
            </a:r>
            <a:r>
              <a:rPr lang="en-US" sz="2100" i="0" dirty="0" err="1">
                <a:solidFill>
                  <a:srgbClr val="3A3A3A"/>
                </a:solidFill>
                <a:effectLst/>
              </a:rPr>
              <a:t>NameNode</a:t>
            </a:r>
            <a:r>
              <a:rPr lang="en-US" sz="2100" i="0" dirty="0">
                <a:solidFill>
                  <a:srgbClr val="3A3A3A"/>
                </a:solidFill>
                <a:effectLst/>
              </a:rPr>
              <a:t>.</a:t>
            </a:r>
            <a:br>
              <a:rPr lang="en-US" sz="2100" i="0" dirty="0">
                <a:solidFill>
                  <a:srgbClr val="3A3A3A"/>
                </a:solidFill>
                <a:effectLst/>
              </a:rPr>
            </a:br>
            <a:endParaRPr lang="en-US" sz="2100" i="0" dirty="0">
              <a:solidFill>
                <a:srgbClr val="3A3A3A"/>
              </a:solidFill>
              <a:effectLst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5EA8E3-2B02-496D-BA76-294642D7D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0" dirty="0">
                <a:effectLst/>
                <a:latin typeface="Bahnschrift" panose="020B0502040204020203" pitchFamily="34" charset="0"/>
              </a:rPr>
              <a:t>HDFS Operations to Read &amp; Write the Data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21E62F-9E1B-42D3-8C8C-529D491D5B5A}"/>
              </a:ext>
            </a:extLst>
          </p:cNvPr>
          <p:cNvSpPr/>
          <p:nvPr/>
        </p:nvSpPr>
        <p:spPr>
          <a:xfrm>
            <a:off x="1010092" y="4540102"/>
            <a:ext cx="6783572" cy="9569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1C11C-A38D-453D-9EB7-8D63C8BEB499}"/>
              </a:ext>
            </a:extLst>
          </p:cNvPr>
          <p:cNvSpPr txBox="1"/>
          <p:nvPr/>
        </p:nvSpPr>
        <p:spPr>
          <a:xfrm>
            <a:off x="2115878" y="475695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400" b="0" i="0" dirty="0">
                <a:solidFill>
                  <a:srgbClr val="3A3A3A"/>
                </a:solidFill>
                <a:effectLst/>
                <a:latin typeface="Bahnschrift" panose="020B0502040204020203" pitchFamily="34" charset="0"/>
              </a:rPr>
              <a:t>bin/hdfs dfs -ls  &lt;path&gt;</a:t>
            </a:r>
            <a:endParaRPr lang="en-IN" sz="24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05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49110E-20EA-4D4B-92F7-FB29E4858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84" y="2594344"/>
            <a:ext cx="8501615" cy="1190848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$HADOOP_HOME/bin/</a:t>
            </a:r>
            <a:r>
              <a:rPr lang="en-IN" dirty="0" err="1"/>
              <a:t>hadoop</a:t>
            </a:r>
            <a:r>
              <a:rPr lang="en-IN" dirty="0"/>
              <a:t> fs -ls &lt;</a:t>
            </a:r>
            <a:r>
              <a:rPr lang="en-IN" dirty="0" err="1"/>
              <a:t>args</a:t>
            </a:r>
            <a:r>
              <a:rPr lang="en-IN" dirty="0"/>
              <a:t>&gt;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D1EE62-C326-4892-927D-2E4E8F78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Listing Files in HDFS</a:t>
            </a:r>
            <a:br>
              <a:rPr lang="en-IN" b="1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538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7C303D-378B-41BC-9DD9-009047AE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Step1: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mkdir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/user/input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792435-E98F-45ED-8F8F-B3E42AB2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Inserting Data into HDFS</a:t>
            </a:r>
            <a:br>
              <a:rPr lang="en-IN" b="1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01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7C303D-378B-41BC-9DD9-009047AE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Step1: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mkdir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/user/input</a:t>
            </a:r>
          </a:p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Step2: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-put /home/abc.txt /user/input</a:t>
            </a:r>
            <a:endParaRPr lang="en-US" sz="2600" dirty="0">
              <a:solidFill>
                <a:srgbClr val="3A3A3A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792435-E98F-45ED-8F8F-B3E42AB2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Inserting Data into HDFS</a:t>
            </a:r>
            <a:br>
              <a:rPr lang="en-IN" b="1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817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7C303D-378B-41BC-9DD9-009047AE2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Step1: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mkdir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/user/input</a:t>
            </a:r>
          </a:p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Step2: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-put /home/abc.txt /user/input</a:t>
            </a:r>
            <a:endParaRPr lang="en-US" sz="2600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Step3: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$HADOOP_HOME/bin/</a:t>
            </a:r>
            <a:r>
              <a:rPr lang="en-US" sz="2600" b="0" i="0" dirty="0" err="1">
                <a:solidFill>
                  <a:srgbClr val="3A3A3A"/>
                </a:solidFill>
                <a:effectLst/>
              </a:rPr>
              <a:t>hadoop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 fs -ls /user/input</a:t>
            </a: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792435-E98F-45ED-8F8F-B3E42AB29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i="0" dirty="0">
                <a:effectLst/>
                <a:latin typeface="Bahnschrift" panose="020B0502040204020203" pitchFamily="34" charset="0"/>
              </a:rPr>
            </a:br>
            <a:r>
              <a:rPr lang="en-IN" b="1" i="0" dirty="0">
                <a:effectLst/>
                <a:latin typeface="Bahnschrift" panose="020B0502040204020203" pitchFamily="34" charset="0"/>
              </a:rPr>
              <a:t>Inserting Data into HDFS</a:t>
            </a:r>
            <a:br>
              <a:rPr lang="en-IN" b="1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08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2206B1-8CE1-4B5B-B8FD-9275C0D4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584574" cy="500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Step1: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</a:t>
            </a:r>
            <a:r>
              <a:rPr lang="en-US" sz="2600" dirty="0"/>
              <a:t>$HADOOP_HOME/bin/</a:t>
            </a:r>
            <a:r>
              <a:rPr lang="en-US" sz="2600" dirty="0" err="1"/>
              <a:t>hadoop</a:t>
            </a:r>
            <a:r>
              <a:rPr lang="en-US" sz="2600" dirty="0"/>
              <a:t> fs -cat /user/output</a:t>
            </a:r>
          </a:p>
          <a:p>
            <a:pPr marL="0" indent="0">
              <a:buNone/>
            </a:pP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D89BA-28A7-4672-8CB3-9E9C4BB3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Retrieving Data from HDFS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454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2206B1-8CE1-4B5B-B8FD-9275C0D4D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628145"/>
            <a:ext cx="8584574" cy="5004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Step1: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 </a:t>
            </a:r>
            <a:r>
              <a:rPr lang="en-US" sz="2600" dirty="0"/>
              <a:t>$HADOOP_HOME/bin/</a:t>
            </a:r>
            <a:r>
              <a:rPr lang="en-US" sz="2600" dirty="0" err="1"/>
              <a:t>hadoop</a:t>
            </a:r>
            <a:r>
              <a:rPr lang="en-US" sz="2600" dirty="0"/>
              <a:t> fs -cat /user/output</a:t>
            </a:r>
          </a:p>
          <a:p>
            <a:pPr marL="0" indent="0">
              <a:buNone/>
            </a:pPr>
            <a:r>
              <a:rPr lang="en-US" sz="2600" b="1" i="0" dirty="0">
                <a:solidFill>
                  <a:srgbClr val="3A3A3A"/>
                </a:solidFill>
                <a:effectLst/>
              </a:rPr>
              <a:t>Step2</a:t>
            </a:r>
            <a:r>
              <a:rPr lang="en-US" sz="2600" b="0" i="0" dirty="0">
                <a:solidFill>
                  <a:srgbClr val="3A3A3A"/>
                </a:solidFill>
                <a:effectLst/>
              </a:rPr>
              <a:t>: </a:t>
            </a:r>
            <a:r>
              <a:rPr lang="en-US" sz="2600" dirty="0"/>
              <a:t>$HADOOP_HOME/bin/</a:t>
            </a:r>
            <a:r>
              <a:rPr lang="en-US" sz="2600" dirty="0" err="1"/>
              <a:t>hadoop</a:t>
            </a:r>
            <a:r>
              <a:rPr lang="en-US" sz="2600" dirty="0"/>
              <a:t> fs -get /user/output/ /home/</a:t>
            </a:r>
            <a:r>
              <a:rPr lang="en-US" sz="2600" dirty="0" err="1"/>
              <a:t>hadoop_tp</a:t>
            </a:r>
            <a:r>
              <a:rPr lang="en-US" sz="2600" dirty="0"/>
              <a:t>/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endParaRPr lang="en-IN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D89BA-28A7-4672-8CB3-9E9C4BB3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Retrieving Data from HDFS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39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305DD-BEA5-4758-A7C3-9EF6E1D6A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85" y="1945525"/>
            <a:ext cx="8561089" cy="16693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3A3A3A"/>
                </a:solidFill>
                <a:effectLst/>
              </a:rPr>
              <a:t>Shut down the HDFS files by following the below command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$ stop-dfs.sh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16B05-310D-4679-9FA2-022F89B8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i="0" dirty="0">
                <a:effectLst/>
                <a:latin typeface="Bahnschrift" panose="020B0502040204020203" pitchFamily="34" charset="0"/>
              </a:rPr>
              <a:t>Shutting Down the HDFS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322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F305DD-BEA5-4758-A7C3-9EF6E1D6A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8046" y="2817627"/>
            <a:ext cx="5018568" cy="122274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$ stop-dfs.sh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16B05-310D-4679-9FA2-022F89B85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N" sz="2800" b="1" i="0" dirty="0">
                <a:effectLst/>
                <a:latin typeface="Bahnschrift" panose="020B0502040204020203" pitchFamily="34" charset="0"/>
              </a:rPr>
            </a:br>
            <a:r>
              <a:rPr lang="en-IN" sz="2800" b="1" i="0" dirty="0">
                <a:effectLst/>
                <a:latin typeface="Bahnschrift" panose="020B0502040204020203" pitchFamily="34" charset="0"/>
              </a:rPr>
              <a:t>Shutting Down the HDFS</a:t>
            </a:r>
            <a:br>
              <a:rPr lang="en-IN" sz="2800" b="1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369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EA5617-AFDF-4E5F-928E-E8A8B375D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715" y="1598000"/>
            <a:ext cx="8386537" cy="5004884"/>
          </a:xfrm>
        </p:spPr>
        <p:txBody>
          <a:bodyPr/>
          <a:lstStyle/>
          <a:p>
            <a:r>
              <a:rPr lang="en-IN" i="0" dirty="0">
                <a:solidFill>
                  <a:srgbClr val="3A3A3A"/>
                </a:solidFill>
                <a:effectLst/>
              </a:rPr>
              <a:t>Installing Java</a:t>
            </a:r>
          </a:p>
          <a:p>
            <a:r>
              <a:rPr lang="en-IN" i="0" dirty="0">
                <a:solidFill>
                  <a:srgbClr val="3A3A3A"/>
                </a:solidFill>
                <a:effectLst/>
              </a:rPr>
              <a:t>Syntax of java version command</a:t>
            </a:r>
            <a:endParaRPr lang="en-IN" dirty="0">
              <a:solidFill>
                <a:srgbClr val="3A3A3A"/>
              </a:solidFill>
            </a:endParaRPr>
          </a:p>
          <a:p>
            <a:pPr marL="0" indent="0">
              <a:buNone/>
            </a:pPr>
            <a:r>
              <a:rPr lang="en-IN" dirty="0"/>
              <a:t>$ java -version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44918B-E33F-4528-9FA2-F953A248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Bahnschrift" panose="020B0502040204020203" pitchFamily="34" charset="0"/>
              </a:rPr>
              <a:t>Multi-Node Cluster</a:t>
            </a: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07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FEBD0D-6A88-49AB-9230-2F29410E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949731"/>
            <a:ext cx="8386538" cy="21265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3A3A3A"/>
                </a:solidFill>
                <a:effectLst/>
              </a:rPr>
              <a:t>System user account is used on both master and slave systems for the Hadoop installation.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36C85-6E8C-47CB-B749-3627E440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i="0" dirty="0">
                <a:effectLst/>
                <a:latin typeface="Bahnschrift" panose="020B0502040204020203" pitchFamily="34" charset="0"/>
              </a:rPr>
              <a:t>Creating User Account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44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FEBD0D-6A88-49AB-9230-2F29410E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581" y="2219986"/>
            <a:ext cx="4316819" cy="1711842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 err="1"/>
              <a:t>useradd</a:t>
            </a:r>
            <a:r>
              <a:rPr lang="en-IN" dirty="0"/>
              <a:t> 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passwd </a:t>
            </a:r>
            <a:r>
              <a:rPr lang="en-IN" dirty="0" err="1"/>
              <a:t>hadoop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36C85-6E8C-47CB-B749-3627E440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r>
              <a:rPr lang="en-IN" sz="2800" i="0" dirty="0">
                <a:effectLst/>
                <a:latin typeface="Bahnschrift" panose="020B0502040204020203" pitchFamily="34" charset="0"/>
              </a:rPr>
              <a:t>Creating User Account</a:t>
            </a:r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2321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FEBD0D-6A88-49AB-9230-2F29410E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23" y="1456660"/>
            <a:ext cx="8867553" cy="4954773"/>
          </a:xfrm>
        </p:spPr>
        <p:txBody>
          <a:bodyPr/>
          <a:lstStyle/>
          <a:p>
            <a:r>
              <a:rPr lang="en-IN" b="1" i="0" dirty="0">
                <a:solidFill>
                  <a:srgbClr val="3A3A3A"/>
                </a:solidFill>
                <a:effectLst/>
              </a:rPr>
              <a:t>Mapping the nodes</a:t>
            </a:r>
          </a:p>
          <a:p>
            <a:pPr marL="0" indent="0" algn="ctr">
              <a:buNone/>
            </a:pPr>
            <a:r>
              <a:rPr lang="en-IN" i="0" dirty="0">
                <a:solidFill>
                  <a:srgbClr val="3A3A3A"/>
                </a:solidFill>
                <a:effectLst/>
              </a:rPr>
              <a:t>vi /etc/hosts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36C85-6E8C-47CB-B749-3627E440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r>
              <a:rPr lang="en-IN" sz="2800" i="0" dirty="0">
                <a:effectLst/>
                <a:latin typeface="Bahnschrift" panose="020B0502040204020203" pitchFamily="34" charset="0"/>
              </a:rPr>
              <a:t>Creating User Account</a:t>
            </a:r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16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FEBD0D-6A88-49AB-9230-2F29410E6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23" y="1456660"/>
            <a:ext cx="8867553" cy="4954773"/>
          </a:xfrm>
        </p:spPr>
        <p:txBody>
          <a:bodyPr/>
          <a:lstStyle/>
          <a:p>
            <a:r>
              <a:rPr lang="en-IN" b="1" i="0" dirty="0">
                <a:solidFill>
                  <a:srgbClr val="3A3A3A"/>
                </a:solidFill>
                <a:effectLst/>
              </a:rPr>
              <a:t>Mapping the nodes</a:t>
            </a:r>
          </a:p>
          <a:p>
            <a:pPr marL="0" indent="0" algn="ctr">
              <a:buNone/>
            </a:pPr>
            <a:r>
              <a:rPr lang="en-IN" i="0" dirty="0">
                <a:solidFill>
                  <a:srgbClr val="3A3A3A"/>
                </a:solidFill>
                <a:effectLst/>
              </a:rPr>
              <a:t>vi /etc/hosts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836C85-6E8C-47CB-B749-3627E440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r>
              <a:rPr lang="en-IN" sz="2800" i="0" dirty="0">
                <a:effectLst/>
                <a:latin typeface="Bahnschrift" panose="020B0502040204020203" pitchFamily="34" charset="0"/>
              </a:rPr>
              <a:t>Creating User Account</a:t>
            </a:r>
            <a:br>
              <a:rPr lang="en-IN" sz="2800" i="0" dirty="0">
                <a:effectLst/>
                <a:latin typeface="Bahnschrift" panose="020B0502040204020203" pitchFamily="34" charset="0"/>
              </a:rPr>
            </a:br>
            <a:endParaRPr lang="en-IN" sz="2800" dirty="0"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BAE1D-0607-45C0-B95D-EA83CC2C5262}"/>
              </a:ext>
            </a:extLst>
          </p:cNvPr>
          <p:cNvSpPr txBox="1"/>
          <p:nvPr/>
        </p:nvSpPr>
        <p:spPr>
          <a:xfrm>
            <a:off x="138222" y="3338623"/>
            <a:ext cx="900577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dirty="0">
                <a:solidFill>
                  <a:srgbClr val="3A3A3A"/>
                </a:solidFill>
                <a:effectLst/>
                <a:latin typeface="Bahnschrift" panose="020B0502040204020203" pitchFamily="34" charset="0"/>
              </a:rPr>
              <a:t>Enter the following lines in the /</a:t>
            </a:r>
            <a:r>
              <a:rPr lang="en-US" sz="2800" b="0" i="0" dirty="0" err="1">
                <a:solidFill>
                  <a:srgbClr val="3A3A3A"/>
                </a:solidFill>
                <a:effectLst/>
                <a:latin typeface="Bahnschrift" panose="020B0502040204020203" pitchFamily="34" charset="0"/>
              </a:rPr>
              <a:t>etc</a:t>
            </a:r>
            <a:r>
              <a:rPr lang="en-US" sz="2800" b="0" i="0" dirty="0">
                <a:solidFill>
                  <a:srgbClr val="3A3A3A"/>
                </a:solidFill>
                <a:effectLst/>
                <a:latin typeface="Bahnschrift" panose="020B0502040204020203" pitchFamily="34" charset="0"/>
              </a:rPr>
              <a:t>/hosts file.</a:t>
            </a:r>
          </a:p>
          <a:p>
            <a:pPr algn="ctr"/>
            <a:r>
              <a:rPr lang="en-IN" sz="2800" dirty="0">
                <a:latin typeface="Bahnschrift" panose="020B0502040204020203" pitchFamily="34" charset="0"/>
              </a:rPr>
              <a:t>192.168.1.109 </a:t>
            </a:r>
            <a:r>
              <a:rPr lang="en-IN" sz="2800" dirty="0" err="1">
                <a:latin typeface="Bahnschrift" panose="020B0502040204020203" pitchFamily="34" charset="0"/>
              </a:rPr>
              <a:t>hadoop</a:t>
            </a:r>
            <a:r>
              <a:rPr lang="en-IN" sz="2800" dirty="0">
                <a:latin typeface="Bahnschrift" panose="020B0502040204020203" pitchFamily="34" charset="0"/>
              </a:rPr>
              <a:t>-master</a:t>
            </a:r>
          </a:p>
          <a:p>
            <a:pPr algn="ctr"/>
            <a:r>
              <a:rPr lang="en-IN" sz="2800" dirty="0">
                <a:latin typeface="Bahnschrift" panose="020B0502040204020203" pitchFamily="34" charset="0"/>
              </a:rPr>
              <a:t>192.168.1.145 hadoop-slave-1</a:t>
            </a:r>
          </a:p>
          <a:p>
            <a:pPr algn="ctr"/>
            <a:r>
              <a:rPr lang="en-IN" sz="2800" dirty="0">
                <a:latin typeface="Bahnschrift" panose="020B0502040204020203" pitchFamily="34" charset="0"/>
              </a:rPr>
              <a:t>192.168.56.1 hadoop-slave-2</a:t>
            </a:r>
          </a:p>
        </p:txBody>
      </p:sp>
    </p:spTree>
    <p:extLst>
      <p:ext uri="{BB962C8B-B14F-4D97-AF65-F5344CB8AC3E}">
        <p14:creationId xmlns:p14="http://schemas.microsoft.com/office/powerpoint/2010/main" val="3781467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3EF2F8-71C9-47C4-98E8-53624AE43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184" y="1764071"/>
            <a:ext cx="8709945" cy="37213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# </a:t>
            </a:r>
            <a:r>
              <a:rPr lang="en-IN" sz="2000" dirty="0" err="1"/>
              <a:t>su</a:t>
            </a:r>
            <a:r>
              <a:rPr lang="en-IN" sz="2000" dirty="0"/>
              <a:t> </a:t>
            </a:r>
            <a:r>
              <a:rPr lang="en-IN" sz="2000" dirty="0" err="1"/>
              <a:t>hadoop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$ </a:t>
            </a:r>
            <a:r>
              <a:rPr lang="en-IN" sz="2000" dirty="0" err="1"/>
              <a:t>ssh</a:t>
            </a:r>
            <a:r>
              <a:rPr lang="en-IN" sz="2000" dirty="0"/>
              <a:t>-keygen -t </a:t>
            </a:r>
            <a:r>
              <a:rPr lang="en-IN" sz="2000" dirty="0" err="1"/>
              <a:t>rsa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$ </a:t>
            </a:r>
            <a:r>
              <a:rPr lang="en-IN" sz="2000" dirty="0" err="1"/>
              <a:t>ssh</a:t>
            </a:r>
            <a:r>
              <a:rPr lang="en-IN" sz="2000" dirty="0"/>
              <a:t>-copy-id -</a:t>
            </a:r>
            <a:r>
              <a:rPr lang="en-IN" sz="2000" dirty="0" err="1"/>
              <a:t>i</a:t>
            </a:r>
            <a:r>
              <a:rPr lang="en-IN" sz="2000" dirty="0"/>
              <a:t> ~/.</a:t>
            </a:r>
            <a:r>
              <a:rPr lang="en-IN" sz="2000" dirty="0" err="1"/>
              <a:t>ssh</a:t>
            </a:r>
            <a:r>
              <a:rPr lang="en-IN" sz="2000" dirty="0"/>
              <a:t>/id_rsa.pub </a:t>
            </a:r>
            <a:r>
              <a:rPr lang="en-IN" sz="2000" dirty="0" err="1"/>
              <a:t>tutorialspoint@hadoop-master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$ </a:t>
            </a:r>
            <a:r>
              <a:rPr lang="en-IN" sz="2000" dirty="0" err="1"/>
              <a:t>ssh</a:t>
            </a:r>
            <a:r>
              <a:rPr lang="en-IN" sz="2000" dirty="0"/>
              <a:t>-copy-id -</a:t>
            </a:r>
            <a:r>
              <a:rPr lang="en-IN" sz="2000" dirty="0" err="1"/>
              <a:t>i</a:t>
            </a:r>
            <a:r>
              <a:rPr lang="en-IN" sz="2000" dirty="0"/>
              <a:t> ~/.</a:t>
            </a:r>
            <a:r>
              <a:rPr lang="en-IN" sz="2000" dirty="0" err="1"/>
              <a:t>ssh</a:t>
            </a:r>
            <a:r>
              <a:rPr lang="en-IN" sz="2000" dirty="0"/>
              <a:t>/id_rsa.pub hadoop_tp1@hadoop-slave-1</a:t>
            </a:r>
          </a:p>
          <a:p>
            <a:pPr marL="0" indent="0">
              <a:buNone/>
            </a:pPr>
            <a:r>
              <a:rPr lang="en-IN" sz="2000" dirty="0"/>
              <a:t>$ </a:t>
            </a:r>
            <a:r>
              <a:rPr lang="en-IN" sz="2000" dirty="0" err="1"/>
              <a:t>ssh</a:t>
            </a:r>
            <a:r>
              <a:rPr lang="en-IN" sz="2000" dirty="0"/>
              <a:t>-copy-id -</a:t>
            </a:r>
            <a:r>
              <a:rPr lang="en-IN" sz="2000" dirty="0" err="1"/>
              <a:t>i</a:t>
            </a:r>
            <a:r>
              <a:rPr lang="en-IN" sz="2000" dirty="0"/>
              <a:t> ~/.</a:t>
            </a:r>
            <a:r>
              <a:rPr lang="en-IN" sz="2000" dirty="0" err="1"/>
              <a:t>ssh</a:t>
            </a:r>
            <a:r>
              <a:rPr lang="en-IN" sz="2000" dirty="0"/>
              <a:t>/id_rsa.pub hadoop_tp2@hadoop-slave-2</a:t>
            </a:r>
          </a:p>
          <a:p>
            <a:pPr marL="0" indent="0">
              <a:buNone/>
            </a:pPr>
            <a:r>
              <a:rPr lang="en-IN" sz="2000" dirty="0"/>
              <a:t>$ </a:t>
            </a:r>
            <a:r>
              <a:rPr lang="en-IN" sz="2000" dirty="0" err="1"/>
              <a:t>chmod</a:t>
            </a:r>
            <a:r>
              <a:rPr lang="en-IN" sz="2000" dirty="0"/>
              <a:t> 0600 ~/.</a:t>
            </a:r>
            <a:r>
              <a:rPr lang="en-IN" sz="2000" dirty="0" err="1"/>
              <a:t>ssh</a:t>
            </a:r>
            <a:r>
              <a:rPr lang="en-IN" sz="2000" dirty="0"/>
              <a:t>/</a:t>
            </a:r>
            <a:r>
              <a:rPr lang="en-IN" sz="2000" dirty="0" err="1"/>
              <a:t>authorized_keys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$ exit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72CD6B8-A0BA-460A-81E8-7084DD56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Configuring Key Based Login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861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C57762-717E-4CFE-90A9-16FC800B5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32" y="1567855"/>
            <a:ext cx="8386537" cy="500488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# </a:t>
            </a:r>
            <a:r>
              <a:rPr lang="en-IN" dirty="0" err="1"/>
              <a:t>mkdir</a:t>
            </a:r>
            <a:r>
              <a:rPr lang="en-IN" dirty="0"/>
              <a:t> /opt/</a:t>
            </a:r>
            <a:r>
              <a:rPr lang="en-IN" dirty="0" err="1"/>
              <a:t>hadoop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cd /opt/</a:t>
            </a:r>
            <a:r>
              <a:rPr lang="en-IN" dirty="0" err="1"/>
              <a:t>hadoop</a:t>
            </a:r>
            <a:r>
              <a:rPr lang="en-IN" dirty="0"/>
              <a:t>/</a:t>
            </a:r>
          </a:p>
          <a:p>
            <a:pPr marL="0" indent="0">
              <a:buNone/>
            </a:pPr>
            <a:r>
              <a:rPr lang="en-IN" dirty="0"/>
              <a:t># </a:t>
            </a:r>
            <a:r>
              <a:rPr lang="en-IN" dirty="0" err="1"/>
              <a:t>wget</a:t>
            </a:r>
            <a:r>
              <a:rPr lang="en-IN" dirty="0"/>
              <a:t> http://apache.mesi.com.ar/hadoop/common/hadoop-1.2.1/hadoop-1.2.0.tar.gz</a:t>
            </a:r>
          </a:p>
          <a:p>
            <a:pPr marL="0" indent="0">
              <a:buNone/>
            </a:pPr>
            <a:r>
              <a:rPr lang="en-IN" dirty="0"/>
              <a:t># tar -</a:t>
            </a:r>
            <a:r>
              <a:rPr lang="en-IN" dirty="0" err="1"/>
              <a:t>xzf</a:t>
            </a:r>
            <a:r>
              <a:rPr lang="en-IN" dirty="0"/>
              <a:t> hadoop-1.2.0.tar.gz</a:t>
            </a:r>
          </a:p>
          <a:p>
            <a:pPr marL="0" indent="0">
              <a:buNone/>
            </a:pPr>
            <a:r>
              <a:rPr lang="en-IN" dirty="0"/>
              <a:t># mv hadoop-1.2.0 </a:t>
            </a:r>
            <a:r>
              <a:rPr lang="en-IN" dirty="0" err="1"/>
              <a:t>hadoop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</a:t>
            </a:r>
            <a:r>
              <a:rPr lang="en-IN" dirty="0" err="1"/>
              <a:t>chown</a:t>
            </a:r>
            <a:r>
              <a:rPr lang="en-IN" dirty="0"/>
              <a:t> -R </a:t>
            </a:r>
            <a:r>
              <a:rPr lang="en-IN" dirty="0" err="1"/>
              <a:t>hadoop</a:t>
            </a:r>
            <a:r>
              <a:rPr lang="en-IN" dirty="0"/>
              <a:t> /opt/</a:t>
            </a:r>
            <a:r>
              <a:rPr lang="en-IN" dirty="0" err="1"/>
              <a:t>hadoop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cd /opt/</a:t>
            </a:r>
            <a:r>
              <a:rPr lang="en-IN" dirty="0" err="1"/>
              <a:t>hadoop</a:t>
            </a:r>
            <a:r>
              <a:rPr lang="en-IN" dirty="0"/>
              <a:t>/</a:t>
            </a:r>
            <a:r>
              <a:rPr lang="en-IN" dirty="0" err="1"/>
              <a:t>hadoop</a:t>
            </a:r>
            <a:r>
              <a:rPr lang="en-IN" dirty="0"/>
              <a:t>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0C495F-94C1-457F-9965-B84E1253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Installation of Hadoop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147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A4926A-78DF-4326-968E-3E4BEBAD3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90" y="1438982"/>
            <a:ext cx="8386537" cy="1476796"/>
          </a:xfrm>
        </p:spPr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3A3A3A"/>
                </a:solidFill>
                <a:effectLst/>
              </a:rPr>
              <a:t>Hadoop server must be configured in core-site.xml and should be edited where ever required.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A47D0-AF79-4CE1-9930-DCC63CBC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Configuring Hadoop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7024A5-91D0-4451-AA3F-AEF2BD9F6734}"/>
              </a:ext>
            </a:extLst>
          </p:cNvPr>
          <p:cNvSpPr txBox="1"/>
          <p:nvPr/>
        </p:nvSpPr>
        <p:spPr>
          <a:xfrm>
            <a:off x="224559" y="3074034"/>
            <a:ext cx="869488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Bahnschrift" panose="020B0502040204020203" pitchFamily="34" charset="0"/>
              </a:rPr>
              <a:t>&lt;configuration&gt;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&lt;property&gt;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&lt;name&gt;fs.default.name&lt;/name&gt;&lt;value&gt;hdfs://hadoop-master:9000/&lt;/value&gt;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&lt;/property&gt;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&lt;property&gt;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&lt;name&gt;</a:t>
            </a:r>
            <a:r>
              <a:rPr lang="en-IN" sz="2000" dirty="0" err="1">
                <a:latin typeface="Bahnschrift" panose="020B0502040204020203" pitchFamily="34" charset="0"/>
              </a:rPr>
              <a:t>dfs.permissions</a:t>
            </a:r>
            <a:r>
              <a:rPr lang="en-IN" sz="2000" dirty="0">
                <a:latin typeface="Bahnschrift" panose="020B0502040204020203" pitchFamily="34" charset="0"/>
              </a:rPr>
              <a:t>&lt;/name&gt;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&lt;value&gt;false&lt;/value&gt;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&lt;/property&gt;</a:t>
            </a:r>
          </a:p>
          <a:p>
            <a:r>
              <a:rPr lang="en-IN" sz="2000" dirty="0">
                <a:latin typeface="Bahnschrift" panose="020B0502040204020203" pitchFamily="34" charset="0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3482373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A4926A-78DF-4326-968E-3E4BEBAD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3A3A3A"/>
                </a:solidFill>
                <a:effectLst/>
              </a:rPr>
              <a:t>Hadoop server must be configured in hdfs-site.xml and should be edited where ever required.</a:t>
            </a:r>
            <a:endParaRPr lang="en-IN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A47D0-AF79-4CE1-9930-DCC63CBC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Configuring Hadoop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DAA30FF-655B-4449-856D-C6A2ACA23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340727"/>
              </p:ext>
            </p:extLst>
          </p:nvPr>
        </p:nvGraphicFramePr>
        <p:xfrm>
          <a:off x="512771" y="3153570"/>
          <a:ext cx="829286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434">
                  <a:extLst>
                    <a:ext uri="{9D8B030D-6E8A-4147-A177-3AD203B41FA5}">
                      <a16:colId xmlns:a16="http://schemas.microsoft.com/office/drawing/2014/main" val="2180694537"/>
                    </a:ext>
                  </a:extLst>
                </a:gridCol>
                <a:gridCol w="4146434">
                  <a:extLst>
                    <a:ext uri="{9D8B030D-6E8A-4147-A177-3AD203B41FA5}">
                      <a16:colId xmlns:a16="http://schemas.microsoft.com/office/drawing/2014/main" val="900601084"/>
                    </a:ext>
                  </a:extLst>
                </a:gridCol>
              </a:tblGrid>
              <a:tr h="3289760"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&lt;configuration&gt;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&lt;property&gt;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&lt;name&gt;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dfs.data.dir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&lt;/name&gt;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&lt;value&gt;/opt/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hadoop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hadoop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/name/data&lt;/value&gt;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&lt;final&gt;true&lt;/final&gt;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&lt;/property&gt;</a:t>
                      </a:r>
                    </a:p>
                    <a:p>
                      <a:endParaRPr lang="en-IN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&lt;property&gt;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&lt;name&gt;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dfs.name.dir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&lt;/name&gt;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&lt;value&gt;/opt/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hadoop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hadoop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/name&lt;/value&gt;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&lt;final&gt;true&lt;/final&gt;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&lt;/property&gt;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&lt;property&gt;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&lt;name&gt;</a:t>
                      </a:r>
                      <a:r>
                        <a:rPr lang="en-IN" sz="1800" b="0" dirty="0" err="1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dfs.replication</a:t>
                      </a:r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&lt;/name&gt;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&lt;value&gt;1&lt;/value&gt;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&lt;/property&gt;</a:t>
                      </a:r>
                    </a:p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&lt;/configuration&gt;</a:t>
                      </a:r>
                    </a:p>
                    <a:p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205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521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A4926A-78DF-4326-968E-3E4BEBAD3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dirty="0">
                <a:solidFill>
                  <a:srgbClr val="3A3A3A"/>
                </a:solidFill>
                <a:effectLst/>
              </a:rPr>
              <a:t>Hadoop server must be configured in </a:t>
            </a:r>
            <a:r>
              <a:rPr lang="en-US" sz="2400" dirty="0">
                <a:solidFill>
                  <a:srgbClr val="3A3A3A"/>
                </a:solidFill>
              </a:rPr>
              <a:t>mapred-site.xml </a:t>
            </a:r>
            <a:r>
              <a:rPr lang="en-US" sz="2400" b="0" i="0" dirty="0">
                <a:solidFill>
                  <a:srgbClr val="3A3A3A"/>
                </a:solidFill>
                <a:effectLst/>
              </a:rPr>
              <a:t>and should be edited where ever required.</a:t>
            </a:r>
          </a:p>
          <a:p>
            <a:pPr marL="0" indent="0">
              <a:buNone/>
            </a:pPr>
            <a:r>
              <a:rPr lang="en-US" sz="2000" dirty="0"/>
              <a:t>&lt;configuration&gt;</a:t>
            </a:r>
          </a:p>
          <a:p>
            <a:pPr marL="0" indent="0">
              <a:buNone/>
            </a:pPr>
            <a:r>
              <a:rPr lang="en-US" sz="2000" dirty="0"/>
              <a:t>&lt;property&gt;</a:t>
            </a:r>
          </a:p>
          <a:p>
            <a:pPr marL="0" indent="0">
              <a:buNone/>
            </a:pPr>
            <a:r>
              <a:rPr lang="en-US" sz="2000" dirty="0"/>
              <a:t>&lt;name&gt;</a:t>
            </a:r>
            <a:r>
              <a:rPr lang="en-US" sz="2000" dirty="0" err="1"/>
              <a:t>mapred.job.tracker</a:t>
            </a:r>
            <a:r>
              <a:rPr lang="en-US" sz="2000" dirty="0"/>
              <a:t>&lt;/name&gt;&lt;value&gt;hadoop-master:9001&lt;/value&gt;</a:t>
            </a:r>
          </a:p>
          <a:p>
            <a:pPr marL="0" indent="0">
              <a:buNone/>
            </a:pPr>
            <a:r>
              <a:rPr lang="en-US" sz="2000" dirty="0"/>
              <a:t>&lt;/property&gt;</a:t>
            </a:r>
          </a:p>
          <a:p>
            <a:pPr marL="0" indent="0">
              <a:buNone/>
            </a:pPr>
            <a:r>
              <a:rPr lang="en-US" sz="2000" dirty="0"/>
              <a:t>&lt;/configuration&gt;</a:t>
            </a:r>
            <a:endParaRPr lang="en-IN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A47D0-AF79-4CE1-9930-DCC63CBC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Configuring Hadoop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722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E35B70-8296-4BF4-8E90-D7ED9281B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3A3A3A"/>
                </a:solidFill>
                <a:effectLst/>
              </a:rPr>
              <a:t>JAVA_HOME, HADOOP_CONF_DIR, and HADOOP_OPTS should be edited as follows:</a:t>
            </a:r>
            <a:endParaRPr lang="en-IN" dirty="0"/>
          </a:p>
          <a:p>
            <a:pPr algn="just"/>
            <a:r>
              <a:rPr lang="en-IN" sz="2400" dirty="0"/>
              <a:t>export JAVA_HOME=/opt/jdk1.7.0_17</a:t>
            </a:r>
          </a:p>
          <a:p>
            <a:pPr algn="just"/>
            <a:r>
              <a:rPr lang="en-IN" sz="2400" dirty="0"/>
              <a:t>export HADOOP_OPTS=-Djava.net.preferIPv4Stack=true</a:t>
            </a:r>
          </a:p>
          <a:p>
            <a:pPr algn="just"/>
            <a:r>
              <a:rPr lang="en-IN" sz="2400" dirty="0"/>
              <a:t>export HADOOP_CONF_DIR=/opt/</a:t>
            </a:r>
            <a:r>
              <a:rPr lang="en-IN" sz="2400" dirty="0" err="1"/>
              <a:t>hadoop</a:t>
            </a:r>
            <a:r>
              <a:rPr lang="en-IN" sz="2400" dirty="0"/>
              <a:t>/</a:t>
            </a:r>
            <a:r>
              <a:rPr lang="en-IN" sz="2400" dirty="0" err="1"/>
              <a:t>hadoop</a:t>
            </a:r>
            <a:r>
              <a:rPr lang="en-IN" sz="2400" dirty="0"/>
              <a:t>/conf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ED038-9B84-46FC-BCD3-FDD5CFCCB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Configuring Hadoop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67198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1B1B2D-C4EB-4BED-9247-68028E768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dirty="0"/>
              <a:t># </a:t>
            </a:r>
            <a:r>
              <a:rPr lang="en-IN" dirty="0" err="1"/>
              <a:t>su</a:t>
            </a:r>
            <a:r>
              <a:rPr lang="en-IN" dirty="0"/>
              <a:t> 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$ cd /opt/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$ </a:t>
            </a:r>
            <a:r>
              <a:rPr lang="en-IN" dirty="0" err="1"/>
              <a:t>scp</a:t>
            </a:r>
            <a:r>
              <a:rPr lang="en-IN" dirty="0"/>
              <a:t> -r </a:t>
            </a:r>
            <a:r>
              <a:rPr lang="en-IN" dirty="0" err="1"/>
              <a:t>hadoop</a:t>
            </a:r>
            <a:r>
              <a:rPr lang="en-IN" dirty="0"/>
              <a:t> hadoop-slave-1:/opt/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$ </a:t>
            </a:r>
            <a:r>
              <a:rPr lang="en-IN" dirty="0" err="1"/>
              <a:t>scp</a:t>
            </a:r>
            <a:r>
              <a:rPr lang="en-IN" dirty="0"/>
              <a:t> -r </a:t>
            </a:r>
            <a:r>
              <a:rPr lang="en-IN" dirty="0" err="1"/>
              <a:t>hadoop</a:t>
            </a:r>
            <a:r>
              <a:rPr lang="en-IN" dirty="0"/>
              <a:t> hadoop-slave-2:/opt/</a:t>
            </a:r>
            <a:r>
              <a:rPr lang="en-IN" dirty="0" err="1"/>
              <a:t>hadoop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AE178B-FAE1-4D89-8CF0-AEA5D40E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Installing Hadoop on Slave Servers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947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48918-F4D9-43A9-B760-AB36A25D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A3A3A"/>
                </a:solidFill>
                <a:effectLst/>
              </a:rPr>
              <a:t>Master server configuration</a:t>
            </a:r>
          </a:p>
          <a:p>
            <a:pPr marL="0" indent="0" algn="ctr">
              <a:buNone/>
            </a:pPr>
            <a:r>
              <a:rPr lang="en-IN" dirty="0"/>
              <a:t># </a:t>
            </a:r>
            <a:r>
              <a:rPr lang="en-IN" dirty="0" err="1"/>
              <a:t>su</a:t>
            </a:r>
            <a:r>
              <a:rPr lang="en-IN" dirty="0"/>
              <a:t> 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$ cd /opt/</a:t>
            </a:r>
            <a:r>
              <a:rPr lang="en-IN" dirty="0" err="1"/>
              <a:t>hadoop</a:t>
            </a:r>
            <a:r>
              <a:rPr lang="en-IN" dirty="0"/>
              <a:t>/</a:t>
            </a:r>
            <a:r>
              <a:rPr lang="en-IN" dirty="0" err="1"/>
              <a:t>hadoop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Master Node Configuration</a:t>
            </a:r>
          </a:p>
          <a:p>
            <a:pPr marL="0" indent="0" algn="ctr">
              <a:buNone/>
            </a:pPr>
            <a:r>
              <a:rPr lang="en-IN" dirty="0"/>
              <a:t>$ vi etc/</a:t>
            </a:r>
            <a:r>
              <a:rPr lang="en-IN" dirty="0" err="1"/>
              <a:t>hadoop</a:t>
            </a:r>
            <a:r>
              <a:rPr lang="en-IN" dirty="0"/>
              <a:t>/masters</a:t>
            </a:r>
          </a:p>
          <a:p>
            <a:pPr marL="0" indent="0" algn="ctr">
              <a:buNone/>
            </a:pPr>
            <a:r>
              <a:rPr lang="en-IN" dirty="0" err="1"/>
              <a:t>hadoop</a:t>
            </a:r>
            <a:r>
              <a:rPr lang="en-IN" dirty="0"/>
              <a:t>-master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F6E15-FA38-429C-AA55-E693B1F9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Configuring Hadoop on Master Server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553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48918-F4D9-43A9-B760-AB36A25D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A3A3A"/>
                </a:solidFill>
                <a:effectLst/>
              </a:rPr>
              <a:t>Slave Node Configuration</a:t>
            </a:r>
          </a:p>
          <a:p>
            <a:pPr marL="0" indent="0" algn="ctr">
              <a:buNone/>
            </a:pPr>
            <a:r>
              <a:rPr lang="en-IN" dirty="0"/>
              <a:t>$ vi etc/</a:t>
            </a:r>
            <a:r>
              <a:rPr lang="en-IN" dirty="0" err="1"/>
              <a:t>hadoop</a:t>
            </a:r>
            <a:r>
              <a:rPr lang="en-IN" dirty="0"/>
              <a:t>/slaves</a:t>
            </a:r>
          </a:p>
          <a:p>
            <a:pPr marL="0" indent="0" algn="ctr">
              <a:buNone/>
            </a:pPr>
            <a:r>
              <a:rPr lang="en-IN" dirty="0"/>
              <a:t>hadoop-slave-1</a:t>
            </a:r>
          </a:p>
          <a:p>
            <a:pPr marL="0" indent="0" algn="ctr">
              <a:buNone/>
            </a:pPr>
            <a:r>
              <a:rPr lang="en-IN" dirty="0"/>
              <a:t>hadoop-slave-2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F6E15-FA38-429C-AA55-E693B1F9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Configuring Hadoop on Master Server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8473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48918-F4D9-43A9-B760-AB36A25D2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3A3A3A"/>
                </a:solidFill>
                <a:effectLst/>
              </a:rPr>
              <a:t>Name Node format on Hadoop Master</a:t>
            </a:r>
          </a:p>
          <a:p>
            <a:pPr marL="0" indent="0" algn="ctr">
              <a:buNone/>
            </a:pPr>
            <a:r>
              <a:rPr lang="nl-NL" dirty="0"/>
              <a:t># su hadoop</a:t>
            </a:r>
          </a:p>
          <a:p>
            <a:pPr marL="0" indent="0" algn="ctr">
              <a:buNone/>
            </a:pPr>
            <a:r>
              <a:rPr lang="nl-NL" dirty="0"/>
              <a:t>$ cd /opt/hadoop/hadoop</a:t>
            </a:r>
          </a:p>
          <a:p>
            <a:pPr marL="0" indent="0" algn="ctr">
              <a:buNone/>
            </a:pPr>
            <a:r>
              <a:rPr lang="nl-NL" dirty="0"/>
              <a:t>$ bin/hadoop namenode –format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5F6E15-FA38-429C-AA55-E693B1F9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i="0" dirty="0">
                <a:effectLst/>
                <a:latin typeface="Bahnschrift" panose="020B0502040204020203" pitchFamily="34" charset="0"/>
              </a:rPr>
            </a:br>
            <a:r>
              <a:rPr lang="en-US" i="0" dirty="0">
                <a:effectLst/>
                <a:latin typeface="Bahnschrift" panose="020B0502040204020203" pitchFamily="34" charset="0"/>
              </a:rPr>
              <a:t>Configuring Hadoop on Master Server</a:t>
            </a:r>
            <a:br>
              <a:rPr lang="en-US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055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37EA5C-95C4-4840-9CD6-FA549826D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3A3A3A"/>
                </a:solidFill>
                <a:effectLst/>
              </a:rPr>
              <a:t>Starting Hadoop services on the Hadoop-Master procedure explains its setup.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 cd $HADOOP_HOME/</a:t>
            </a:r>
            <a:r>
              <a:rPr lang="en-US" dirty="0" err="1"/>
              <a:t>sbin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$ start-all.sh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78CBB5-CB68-45D7-8026-15BDEB10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i="0" dirty="0">
                <a:effectLst/>
                <a:latin typeface="Bahnschrift" panose="020B0502040204020203" pitchFamily="34" charset="0"/>
              </a:rPr>
            </a:br>
            <a:r>
              <a:rPr lang="en-IN" i="0" dirty="0">
                <a:effectLst/>
                <a:latin typeface="Bahnschrift" panose="020B0502040204020203" pitchFamily="34" charset="0"/>
              </a:rPr>
              <a:t>Hadoop Services</a:t>
            </a:r>
            <a:br>
              <a:rPr lang="en-IN" i="0" dirty="0">
                <a:effectLst/>
                <a:latin typeface="Bahnschrift" panose="020B0502040204020203" pitchFamily="34" charset="0"/>
              </a:rPr>
            </a:br>
            <a:endParaRPr lang="en-IN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9063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2618</TotalTime>
  <Words>1155</Words>
  <Application>Microsoft Office PowerPoint</Application>
  <PresentationFormat>On-screen Show (4:3)</PresentationFormat>
  <Paragraphs>148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Starting HDFS</vt:lpstr>
      <vt:lpstr>Starting HDFS</vt:lpstr>
      <vt:lpstr>HDFS Operations to Read &amp; Write the Data</vt:lpstr>
      <vt:lpstr>HDFS Operations to Read &amp; Write the Data</vt:lpstr>
      <vt:lpstr>HDFS Operations to Read &amp; Write the Data</vt:lpstr>
      <vt:lpstr>HDFS Operations to Read &amp; Write the Data </vt:lpstr>
      <vt:lpstr>HDFS Operations to Read &amp; Write the Data </vt:lpstr>
      <vt:lpstr> Listing Files in HDFS </vt:lpstr>
      <vt:lpstr> Inserting Data into HDFS </vt:lpstr>
      <vt:lpstr> Inserting Data into HDFS </vt:lpstr>
      <vt:lpstr> Inserting Data into HDFS </vt:lpstr>
      <vt:lpstr> Retrieving Data from HDFS </vt:lpstr>
      <vt:lpstr> Retrieving Data from HDFS </vt:lpstr>
      <vt:lpstr>Shutting Down the HDFS</vt:lpstr>
      <vt:lpstr> Shutting Down the HDFS </vt:lpstr>
      <vt:lpstr>Multi-Node Cluster</vt:lpstr>
      <vt:lpstr>Creating User Account</vt:lpstr>
      <vt:lpstr> Creating User Account </vt:lpstr>
      <vt:lpstr> Creating User Account </vt:lpstr>
      <vt:lpstr> Creating User Account </vt:lpstr>
      <vt:lpstr> Configuring Key Based Login </vt:lpstr>
      <vt:lpstr> Installation of Hadoop </vt:lpstr>
      <vt:lpstr> Configuring Hadoop </vt:lpstr>
      <vt:lpstr> Configuring Hadoop </vt:lpstr>
      <vt:lpstr> Configuring Hadoop </vt:lpstr>
      <vt:lpstr> Configuring Hadoop </vt:lpstr>
      <vt:lpstr> Installing Hadoop on Slave Servers </vt:lpstr>
      <vt:lpstr> Configuring Hadoop on Master Server </vt:lpstr>
      <vt:lpstr> Configuring Hadoop on Master Server </vt:lpstr>
      <vt:lpstr> Configuring Hadoop on Master Server </vt:lpstr>
      <vt:lpstr> Hadoop Services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88</cp:revision>
  <dcterms:created xsi:type="dcterms:W3CDTF">2021-05-13T17:45:44Z</dcterms:created>
  <dcterms:modified xsi:type="dcterms:W3CDTF">2021-08-09T05:03:34Z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288093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