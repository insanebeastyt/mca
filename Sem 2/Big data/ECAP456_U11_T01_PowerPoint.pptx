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handoutMasterIdLst>
    <p:handoutMasterId r:id="rId55"/>
  </p:handoutMasterIdLst>
  <p:sldIdLst>
    <p:sldId id="266" r:id="rId2"/>
    <p:sldId id="261" r:id="rId3"/>
    <p:sldId id="267" r:id="rId4"/>
    <p:sldId id="273" r:id="rId5"/>
    <p:sldId id="276" r:id="rId6"/>
    <p:sldId id="277" r:id="rId7"/>
    <p:sldId id="278" r:id="rId8"/>
    <p:sldId id="280" r:id="rId9"/>
    <p:sldId id="281" r:id="rId10"/>
    <p:sldId id="284" r:id="rId11"/>
    <p:sldId id="286" r:id="rId12"/>
    <p:sldId id="287" r:id="rId13"/>
    <p:sldId id="289" r:id="rId14"/>
    <p:sldId id="290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300" r:id="rId23"/>
    <p:sldId id="301" r:id="rId24"/>
    <p:sldId id="291" r:id="rId25"/>
    <p:sldId id="305" r:id="rId26"/>
    <p:sldId id="304" r:id="rId27"/>
    <p:sldId id="306" r:id="rId28"/>
    <p:sldId id="307" r:id="rId29"/>
    <p:sldId id="308" r:id="rId30"/>
    <p:sldId id="310" r:id="rId31"/>
    <p:sldId id="311" r:id="rId32"/>
    <p:sldId id="312" r:id="rId33"/>
    <p:sldId id="314" r:id="rId34"/>
    <p:sldId id="315" r:id="rId35"/>
    <p:sldId id="316" r:id="rId36"/>
    <p:sldId id="317" r:id="rId37"/>
    <p:sldId id="319" r:id="rId38"/>
    <p:sldId id="321" r:id="rId39"/>
    <p:sldId id="324" r:id="rId40"/>
    <p:sldId id="322" r:id="rId41"/>
    <p:sldId id="323" r:id="rId42"/>
    <p:sldId id="326" r:id="rId43"/>
    <p:sldId id="325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270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072235"/>
    <a:srgbClr val="618495"/>
    <a:srgbClr val="44525B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248B09-B9FE-4BA8-A86D-AF3DF0E76F08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F0A66F3-6F15-4CBC-A82B-EA44A3CC84E4}">
      <dgm:prSet/>
      <dgm:spPr/>
      <dgm:t>
        <a:bodyPr/>
        <a:lstStyle/>
        <a:p>
          <a:r>
            <a:rPr lang="en-US" b="0" i="0">
              <a:effectLst/>
            </a:rPr>
            <a:t>Metastore can be used in two modes.</a:t>
          </a:r>
          <a:endParaRPr lang="en-US" b="0" i="0" dirty="0">
            <a:effectLst/>
          </a:endParaRPr>
        </a:p>
      </dgm:t>
    </dgm:pt>
    <dgm:pt modelId="{6BC571FA-E341-4B7E-840A-DAD692EC8CB4}" type="parTrans" cxnId="{85AF8716-8D7D-4DC7-AC67-E7DAD81DFE2B}">
      <dgm:prSet/>
      <dgm:spPr/>
      <dgm:t>
        <a:bodyPr/>
        <a:lstStyle/>
        <a:p>
          <a:endParaRPr lang="en-IN"/>
        </a:p>
      </dgm:t>
    </dgm:pt>
    <dgm:pt modelId="{E2591567-5EBD-4CB3-8D2E-DB31363D6B29}" type="sibTrans" cxnId="{85AF8716-8D7D-4DC7-AC67-E7DAD81DFE2B}">
      <dgm:prSet/>
      <dgm:spPr/>
      <dgm:t>
        <a:bodyPr/>
        <a:lstStyle/>
        <a:p>
          <a:endParaRPr lang="en-IN"/>
        </a:p>
      </dgm:t>
    </dgm:pt>
    <dgm:pt modelId="{7A504B21-CBBE-450A-901E-9F05FF711A68}">
      <dgm:prSet/>
      <dgm:spPr/>
      <dgm:t>
        <a:bodyPr/>
        <a:lstStyle/>
        <a:p>
          <a:r>
            <a:rPr lang="en-US" b="0" i="0">
              <a:effectLst/>
            </a:rPr>
            <a:t>Remote mode</a:t>
          </a:r>
          <a:endParaRPr lang="en-US" b="0" i="0" dirty="0">
            <a:effectLst/>
          </a:endParaRPr>
        </a:p>
      </dgm:t>
    </dgm:pt>
    <dgm:pt modelId="{E2FFD603-4944-4DDD-96E0-4BEB2FA569FF}" type="parTrans" cxnId="{529FAC48-690F-40DB-A0D2-DCB76267D885}">
      <dgm:prSet/>
      <dgm:spPr/>
      <dgm:t>
        <a:bodyPr/>
        <a:lstStyle/>
        <a:p>
          <a:endParaRPr lang="en-IN"/>
        </a:p>
      </dgm:t>
    </dgm:pt>
    <dgm:pt modelId="{23720418-9134-4136-A70A-F9D98D1CB55C}" type="sibTrans" cxnId="{529FAC48-690F-40DB-A0D2-DCB76267D885}">
      <dgm:prSet/>
      <dgm:spPr/>
      <dgm:t>
        <a:bodyPr/>
        <a:lstStyle/>
        <a:p>
          <a:endParaRPr lang="en-IN"/>
        </a:p>
      </dgm:t>
    </dgm:pt>
    <dgm:pt modelId="{302B7064-0A5B-43C8-BFA3-6E3EFD0698A2}">
      <dgm:prSet/>
      <dgm:spPr/>
      <dgm:t>
        <a:bodyPr/>
        <a:lstStyle/>
        <a:p>
          <a:r>
            <a:rPr lang="en-US" b="0" i="0">
              <a:effectLst/>
            </a:rPr>
            <a:t>Embedded Mode</a:t>
          </a:r>
          <a:endParaRPr lang="en-IN"/>
        </a:p>
      </dgm:t>
    </dgm:pt>
    <dgm:pt modelId="{1CD1D216-5D3C-4034-8F56-2AFC4F5CB1A7}" type="parTrans" cxnId="{2AEF8E21-DCAA-40A9-97F4-6AC1F15C9E27}">
      <dgm:prSet/>
      <dgm:spPr/>
      <dgm:t>
        <a:bodyPr/>
        <a:lstStyle/>
        <a:p>
          <a:endParaRPr lang="en-IN"/>
        </a:p>
      </dgm:t>
    </dgm:pt>
    <dgm:pt modelId="{0D55D8C0-39BC-41A6-A196-AAD9BA39576D}" type="sibTrans" cxnId="{2AEF8E21-DCAA-40A9-97F4-6AC1F15C9E27}">
      <dgm:prSet/>
      <dgm:spPr/>
      <dgm:t>
        <a:bodyPr/>
        <a:lstStyle/>
        <a:p>
          <a:endParaRPr lang="en-IN"/>
        </a:p>
      </dgm:t>
    </dgm:pt>
    <dgm:pt modelId="{BF766799-2CA3-4D60-86C9-0E37072529A0}" type="pres">
      <dgm:prSet presAssocID="{13248B09-B9FE-4BA8-A86D-AF3DF0E76F0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7DA4C72-99AA-4B30-A8F9-724121735C8F}" type="pres">
      <dgm:prSet presAssocID="{CF0A66F3-6F15-4CBC-A82B-EA44A3CC84E4}" presName="root1" presStyleCnt="0"/>
      <dgm:spPr/>
    </dgm:pt>
    <dgm:pt modelId="{0BD4EEDD-C1D8-43F4-8D37-CD40960472C1}" type="pres">
      <dgm:prSet presAssocID="{CF0A66F3-6F15-4CBC-A82B-EA44A3CC84E4}" presName="LevelOneTextNode" presStyleLbl="node0" presStyleIdx="0" presStyleCnt="1">
        <dgm:presLayoutVars>
          <dgm:chPref val="3"/>
        </dgm:presLayoutVars>
      </dgm:prSet>
      <dgm:spPr/>
    </dgm:pt>
    <dgm:pt modelId="{F14369F0-BE10-47CD-BD7F-55A8DD8C7E3F}" type="pres">
      <dgm:prSet presAssocID="{CF0A66F3-6F15-4CBC-A82B-EA44A3CC84E4}" presName="level2hierChild" presStyleCnt="0"/>
      <dgm:spPr/>
    </dgm:pt>
    <dgm:pt modelId="{99296310-B2CC-48B9-AE92-4E3DD07636B4}" type="pres">
      <dgm:prSet presAssocID="{E2FFD603-4944-4DDD-96E0-4BEB2FA569FF}" presName="conn2-1" presStyleLbl="parChTrans1D2" presStyleIdx="0" presStyleCnt="2"/>
      <dgm:spPr/>
    </dgm:pt>
    <dgm:pt modelId="{273852C5-5AD4-4C7F-9A89-13FCB20FB9F6}" type="pres">
      <dgm:prSet presAssocID="{E2FFD603-4944-4DDD-96E0-4BEB2FA569FF}" presName="connTx" presStyleLbl="parChTrans1D2" presStyleIdx="0" presStyleCnt="2"/>
      <dgm:spPr/>
    </dgm:pt>
    <dgm:pt modelId="{A0EF576A-29FB-4CA7-8600-3BA303894AD0}" type="pres">
      <dgm:prSet presAssocID="{7A504B21-CBBE-450A-901E-9F05FF711A68}" presName="root2" presStyleCnt="0"/>
      <dgm:spPr/>
    </dgm:pt>
    <dgm:pt modelId="{FE033146-F94F-4A40-ACEA-78EEC2A74816}" type="pres">
      <dgm:prSet presAssocID="{7A504B21-CBBE-450A-901E-9F05FF711A68}" presName="LevelTwoTextNode" presStyleLbl="node2" presStyleIdx="0" presStyleCnt="2">
        <dgm:presLayoutVars>
          <dgm:chPref val="3"/>
        </dgm:presLayoutVars>
      </dgm:prSet>
      <dgm:spPr/>
    </dgm:pt>
    <dgm:pt modelId="{184C8E95-A9D9-4329-9FA9-C140DDCBD540}" type="pres">
      <dgm:prSet presAssocID="{7A504B21-CBBE-450A-901E-9F05FF711A68}" presName="level3hierChild" presStyleCnt="0"/>
      <dgm:spPr/>
    </dgm:pt>
    <dgm:pt modelId="{511775BC-E842-43A9-98B4-54C5A885D2F2}" type="pres">
      <dgm:prSet presAssocID="{1CD1D216-5D3C-4034-8F56-2AFC4F5CB1A7}" presName="conn2-1" presStyleLbl="parChTrans1D2" presStyleIdx="1" presStyleCnt="2"/>
      <dgm:spPr/>
    </dgm:pt>
    <dgm:pt modelId="{BAB1B22C-BF41-4E7C-8B66-BD063781D8B3}" type="pres">
      <dgm:prSet presAssocID="{1CD1D216-5D3C-4034-8F56-2AFC4F5CB1A7}" presName="connTx" presStyleLbl="parChTrans1D2" presStyleIdx="1" presStyleCnt="2"/>
      <dgm:spPr/>
    </dgm:pt>
    <dgm:pt modelId="{BDF57A8F-44DD-4C40-9BA0-DC2673FE0AEC}" type="pres">
      <dgm:prSet presAssocID="{302B7064-0A5B-43C8-BFA3-6E3EFD0698A2}" presName="root2" presStyleCnt="0"/>
      <dgm:spPr/>
    </dgm:pt>
    <dgm:pt modelId="{E9DA94AE-179A-442B-A4F6-685D1410AB39}" type="pres">
      <dgm:prSet presAssocID="{302B7064-0A5B-43C8-BFA3-6E3EFD0698A2}" presName="LevelTwoTextNode" presStyleLbl="node2" presStyleIdx="1" presStyleCnt="2">
        <dgm:presLayoutVars>
          <dgm:chPref val="3"/>
        </dgm:presLayoutVars>
      </dgm:prSet>
      <dgm:spPr/>
    </dgm:pt>
    <dgm:pt modelId="{DBB5E053-4371-4423-B1A5-64D88442B967}" type="pres">
      <dgm:prSet presAssocID="{302B7064-0A5B-43C8-BFA3-6E3EFD0698A2}" presName="level3hierChild" presStyleCnt="0"/>
      <dgm:spPr/>
    </dgm:pt>
  </dgm:ptLst>
  <dgm:cxnLst>
    <dgm:cxn modelId="{560C0001-E4AA-4757-BC1A-9EA2AE4A46E8}" type="presOf" srcId="{CF0A66F3-6F15-4CBC-A82B-EA44A3CC84E4}" destId="{0BD4EEDD-C1D8-43F4-8D37-CD40960472C1}" srcOrd="0" destOrd="0" presId="urn:microsoft.com/office/officeart/2005/8/layout/hierarchy2"/>
    <dgm:cxn modelId="{85AF8716-8D7D-4DC7-AC67-E7DAD81DFE2B}" srcId="{13248B09-B9FE-4BA8-A86D-AF3DF0E76F08}" destId="{CF0A66F3-6F15-4CBC-A82B-EA44A3CC84E4}" srcOrd="0" destOrd="0" parTransId="{6BC571FA-E341-4B7E-840A-DAD692EC8CB4}" sibTransId="{E2591567-5EBD-4CB3-8D2E-DB31363D6B29}"/>
    <dgm:cxn modelId="{9118B31D-ED2B-4C66-8EE8-2DCDDA486F53}" type="presOf" srcId="{13248B09-B9FE-4BA8-A86D-AF3DF0E76F08}" destId="{BF766799-2CA3-4D60-86C9-0E37072529A0}" srcOrd="0" destOrd="0" presId="urn:microsoft.com/office/officeart/2005/8/layout/hierarchy2"/>
    <dgm:cxn modelId="{2AEF8E21-DCAA-40A9-97F4-6AC1F15C9E27}" srcId="{CF0A66F3-6F15-4CBC-A82B-EA44A3CC84E4}" destId="{302B7064-0A5B-43C8-BFA3-6E3EFD0698A2}" srcOrd="1" destOrd="0" parTransId="{1CD1D216-5D3C-4034-8F56-2AFC4F5CB1A7}" sibTransId="{0D55D8C0-39BC-41A6-A196-AAD9BA39576D}"/>
    <dgm:cxn modelId="{87E2FC3F-04C3-4A94-B75A-448CE61E8BAB}" type="presOf" srcId="{1CD1D216-5D3C-4034-8F56-2AFC4F5CB1A7}" destId="{511775BC-E842-43A9-98B4-54C5A885D2F2}" srcOrd="0" destOrd="0" presId="urn:microsoft.com/office/officeart/2005/8/layout/hierarchy2"/>
    <dgm:cxn modelId="{529FAC48-690F-40DB-A0D2-DCB76267D885}" srcId="{CF0A66F3-6F15-4CBC-A82B-EA44A3CC84E4}" destId="{7A504B21-CBBE-450A-901E-9F05FF711A68}" srcOrd="0" destOrd="0" parTransId="{E2FFD603-4944-4DDD-96E0-4BEB2FA569FF}" sibTransId="{23720418-9134-4136-A70A-F9D98D1CB55C}"/>
    <dgm:cxn modelId="{F5E1DBBA-E3C7-4465-BB08-BF6E7525D987}" type="presOf" srcId="{E2FFD603-4944-4DDD-96E0-4BEB2FA569FF}" destId="{273852C5-5AD4-4C7F-9A89-13FCB20FB9F6}" srcOrd="1" destOrd="0" presId="urn:microsoft.com/office/officeart/2005/8/layout/hierarchy2"/>
    <dgm:cxn modelId="{07C566DB-2F7F-43FF-9A68-7CFCCF661F9C}" type="presOf" srcId="{7A504B21-CBBE-450A-901E-9F05FF711A68}" destId="{FE033146-F94F-4A40-ACEA-78EEC2A74816}" srcOrd="0" destOrd="0" presId="urn:microsoft.com/office/officeart/2005/8/layout/hierarchy2"/>
    <dgm:cxn modelId="{4A8DA5E4-D9A4-4082-834F-6808E1BE5240}" type="presOf" srcId="{E2FFD603-4944-4DDD-96E0-4BEB2FA569FF}" destId="{99296310-B2CC-48B9-AE92-4E3DD07636B4}" srcOrd="0" destOrd="0" presId="urn:microsoft.com/office/officeart/2005/8/layout/hierarchy2"/>
    <dgm:cxn modelId="{98D279F0-8509-465B-8658-347A889CE557}" type="presOf" srcId="{1CD1D216-5D3C-4034-8F56-2AFC4F5CB1A7}" destId="{BAB1B22C-BF41-4E7C-8B66-BD063781D8B3}" srcOrd="1" destOrd="0" presId="urn:microsoft.com/office/officeart/2005/8/layout/hierarchy2"/>
    <dgm:cxn modelId="{9CD1FDF0-32EF-4599-88FD-233EC0D35A09}" type="presOf" srcId="{302B7064-0A5B-43C8-BFA3-6E3EFD0698A2}" destId="{E9DA94AE-179A-442B-A4F6-685D1410AB39}" srcOrd="0" destOrd="0" presId="urn:microsoft.com/office/officeart/2005/8/layout/hierarchy2"/>
    <dgm:cxn modelId="{DD3DD3D0-396E-4536-B747-8E778CE18233}" type="presParOf" srcId="{BF766799-2CA3-4D60-86C9-0E37072529A0}" destId="{B7DA4C72-99AA-4B30-A8F9-724121735C8F}" srcOrd="0" destOrd="0" presId="urn:microsoft.com/office/officeart/2005/8/layout/hierarchy2"/>
    <dgm:cxn modelId="{D77D7503-8DCE-4F51-8863-ED5DC0382773}" type="presParOf" srcId="{B7DA4C72-99AA-4B30-A8F9-724121735C8F}" destId="{0BD4EEDD-C1D8-43F4-8D37-CD40960472C1}" srcOrd="0" destOrd="0" presId="urn:microsoft.com/office/officeart/2005/8/layout/hierarchy2"/>
    <dgm:cxn modelId="{D4E00991-07B8-4FA4-B541-7D623BB0285A}" type="presParOf" srcId="{B7DA4C72-99AA-4B30-A8F9-724121735C8F}" destId="{F14369F0-BE10-47CD-BD7F-55A8DD8C7E3F}" srcOrd="1" destOrd="0" presId="urn:microsoft.com/office/officeart/2005/8/layout/hierarchy2"/>
    <dgm:cxn modelId="{52AC2A4D-7090-478A-AD14-45C91990AA88}" type="presParOf" srcId="{F14369F0-BE10-47CD-BD7F-55A8DD8C7E3F}" destId="{99296310-B2CC-48B9-AE92-4E3DD07636B4}" srcOrd="0" destOrd="0" presId="urn:microsoft.com/office/officeart/2005/8/layout/hierarchy2"/>
    <dgm:cxn modelId="{2A1B30B2-5DB4-4B66-BC01-2D7059089DC6}" type="presParOf" srcId="{99296310-B2CC-48B9-AE92-4E3DD07636B4}" destId="{273852C5-5AD4-4C7F-9A89-13FCB20FB9F6}" srcOrd="0" destOrd="0" presId="urn:microsoft.com/office/officeart/2005/8/layout/hierarchy2"/>
    <dgm:cxn modelId="{F0908487-5D39-41AF-82A6-7FABB08B853E}" type="presParOf" srcId="{F14369F0-BE10-47CD-BD7F-55A8DD8C7E3F}" destId="{A0EF576A-29FB-4CA7-8600-3BA303894AD0}" srcOrd="1" destOrd="0" presId="urn:microsoft.com/office/officeart/2005/8/layout/hierarchy2"/>
    <dgm:cxn modelId="{18C1EF61-8F9E-4F17-B583-544CE824482E}" type="presParOf" srcId="{A0EF576A-29FB-4CA7-8600-3BA303894AD0}" destId="{FE033146-F94F-4A40-ACEA-78EEC2A74816}" srcOrd="0" destOrd="0" presId="urn:microsoft.com/office/officeart/2005/8/layout/hierarchy2"/>
    <dgm:cxn modelId="{D2C805D3-A146-481C-9293-2DD198F606F1}" type="presParOf" srcId="{A0EF576A-29FB-4CA7-8600-3BA303894AD0}" destId="{184C8E95-A9D9-4329-9FA9-C140DDCBD540}" srcOrd="1" destOrd="0" presId="urn:microsoft.com/office/officeart/2005/8/layout/hierarchy2"/>
    <dgm:cxn modelId="{2BBF09FC-6BBA-4AE2-99FC-E99462C45492}" type="presParOf" srcId="{F14369F0-BE10-47CD-BD7F-55A8DD8C7E3F}" destId="{511775BC-E842-43A9-98B4-54C5A885D2F2}" srcOrd="2" destOrd="0" presId="urn:microsoft.com/office/officeart/2005/8/layout/hierarchy2"/>
    <dgm:cxn modelId="{967F2CFC-6678-46E2-83D9-25C2D7154958}" type="presParOf" srcId="{511775BC-E842-43A9-98B4-54C5A885D2F2}" destId="{BAB1B22C-BF41-4E7C-8B66-BD063781D8B3}" srcOrd="0" destOrd="0" presId="urn:microsoft.com/office/officeart/2005/8/layout/hierarchy2"/>
    <dgm:cxn modelId="{0E68EF1E-35B2-4D92-BDBD-2F980E7412B6}" type="presParOf" srcId="{F14369F0-BE10-47CD-BD7F-55A8DD8C7E3F}" destId="{BDF57A8F-44DD-4C40-9BA0-DC2673FE0AEC}" srcOrd="3" destOrd="0" presId="urn:microsoft.com/office/officeart/2005/8/layout/hierarchy2"/>
    <dgm:cxn modelId="{3601F55C-E55D-48CB-A55B-9C21B72B245F}" type="presParOf" srcId="{BDF57A8F-44DD-4C40-9BA0-DC2673FE0AEC}" destId="{E9DA94AE-179A-442B-A4F6-685D1410AB39}" srcOrd="0" destOrd="0" presId="urn:microsoft.com/office/officeart/2005/8/layout/hierarchy2"/>
    <dgm:cxn modelId="{C487614C-468A-47DA-B985-47FB80FDA169}" type="presParOf" srcId="{BDF57A8F-44DD-4C40-9BA0-DC2673FE0AEC}" destId="{DBB5E053-4371-4423-B1A5-64D88442B96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4EEDD-C1D8-43F4-8D37-CD40960472C1}">
      <dsp:nvSpPr>
        <dsp:cNvPr id="0" name=""/>
        <dsp:cNvSpPr/>
      </dsp:nvSpPr>
      <dsp:spPr>
        <a:xfrm>
          <a:off x="743" y="1628433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>
              <a:effectLst/>
            </a:rPr>
            <a:t>Metastore can be used in two modes.</a:t>
          </a:r>
          <a:endParaRPr lang="en-US" sz="3800" b="0" i="0" kern="1200" dirty="0">
            <a:effectLst/>
          </a:endParaRPr>
        </a:p>
      </dsp:txBody>
      <dsp:txXfrm>
        <a:off x="51909" y="1679599"/>
        <a:ext cx="3391532" cy="1644600"/>
      </dsp:txXfrm>
    </dsp:sp>
    <dsp:sp modelId="{99296310-B2CC-48B9-AE92-4E3DD07636B4}">
      <dsp:nvSpPr>
        <dsp:cNvPr id="0" name=""/>
        <dsp:cNvSpPr/>
      </dsp:nvSpPr>
      <dsp:spPr>
        <a:xfrm rot="19457599">
          <a:off x="3332839" y="1968236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4150353" y="1956629"/>
        <a:ext cx="86054" cy="86054"/>
      </dsp:txXfrm>
    </dsp:sp>
    <dsp:sp modelId="{FE033146-F94F-4A40-ACEA-78EEC2A74816}">
      <dsp:nvSpPr>
        <dsp:cNvPr id="0" name=""/>
        <dsp:cNvSpPr/>
      </dsp:nvSpPr>
      <dsp:spPr>
        <a:xfrm>
          <a:off x="4892153" y="623947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>
              <a:effectLst/>
            </a:rPr>
            <a:t>Remote mode</a:t>
          </a:r>
          <a:endParaRPr lang="en-US" sz="3800" b="0" i="0" kern="1200" dirty="0">
            <a:effectLst/>
          </a:endParaRPr>
        </a:p>
      </dsp:txBody>
      <dsp:txXfrm>
        <a:off x="4943319" y="675113"/>
        <a:ext cx="3391532" cy="1644600"/>
      </dsp:txXfrm>
    </dsp:sp>
    <dsp:sp modelId="{511775BC-E842-43A9-98B4-54C5A885D2F2}">
      <dsp:nvSpPr>
        <dsp:cNvPr id="0" name=""/>
        <dsp:cNvSpPr/>
      </dsp:nvSpPr>
      <dsp:spPr>
        <a:xfrm rot="2142401">
          <a:off x="3332839" y="2972722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4150353" y="2961115"/>
        <a:ext cx="86054" cy="86054"/>
      </dsp:txXfrm>
    </dsp:sp>
    <dsp:sp modelId="{E9DA94AE-179A-442B-A4F6-685D1410AB39}">
      <dsp:nvSpPr>
        <dsp:cNvPr id="0" name=""/>
        <dsp:cNvSpPr/>
      </dsp:nvSpPr>
      <dsp:spPr>
        <a:xfrm>
          <a:off x="4892153" y="2632919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>
              <a:effectLst/>
            </a:rPr>
            <a:t>Embedded Mode</a:t>
          </a:r>
          <a:endParaRPr lang="en-IN" sz="3800" kern="1200"/>
        </a:p>
      </dsp:txBody>
      <dsp:txXfrm>
        <a:off x="4943319" y="2684085"/>
        <a:ext cx="3391532" cy="164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5A29B-2FF8-4855-85FA-5DC24F23A966}" type="datetimeFigureOut">
              <a:rPr lang="en-IN" smtClean="0"/>
              <a:t>07-09-2021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DC56-AE71-4A14-8704-85236CB162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85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media/image4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media/image4.pn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6.jpeg" Type="http://schemas.openxmlformats.org/officeDocument/2006/relationships/image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 ?><Relationships xmlns="http://schemas.openxmlformats.org/package/2006/relationships"><Relationship Id="rId3" Target="../media/image10.jpeg" Type="http://schemas.openxmlformats.org/officeDocument/2006/relationships/image"/><Relationship Id="rId2" Target="../media/image9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 ?><Relationships xmlns="http://schemas.openxmlformats.org/package/2006/relationships"><Relationship Id="rId3" Target="../media/image15.jpeg" Type="http://schemas.openxmlformats.org/officeDocument/2006/relationships/image"/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3" Target="../media/image16.png" Type="http://schemas.openxmlformats.org/officeDocument/2006/relationships/image"/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hdphoto2.wdp" Type="http://schemas.microsoft.com/office/2007/relationships/hdphoto"/></Relationships>
</file>

<file path=ppt/slides/_rels/slide16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 ?>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 ?><Relationships xmlns="http://schemas.openxmlformats.org/package/2006/relationships"><Relationship Id="rId3" Target="../media/image18.jpeg" Type="http://schemas.openxmlformats.org/officeDocument/2006/relationships/image"/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9.xml.rels><?xml version="1.0" encoding="UTF-8" standalone="yes" ?>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5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6.xml.rels><?xml version="1.0" encoding="UTF-8" standalone="yes" ?><Relationships xmlns="http://schemas.openxmlformats.org/package/2006/relationships"><Relationship Id="rId3" Target="../media/image22.jpeg" Type="http://schemas.openxmlformats.org/officeDocument/2006/relationships/image"/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4.png" Type="http://schemas.openxmlformats.org/officeDocument/2006/relationships/image"/></Relationships>
</file>

<file path=ppt/slides/_rels/slide27.xml.rels><?xml version="1.0" encoding="UTF-8" standalone="yes" ?><Relationships xmlns="http://schemas.openxmlformats.org/package/2006/relationships"><Relationship Id="rId2" Target="../media/image2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8.xml.rels><?xml version="1.0" encoding="UTF-8" standalone="yes" ?><Relationships xmlns="http://schemas.openxmlformats.org/package/2006/relationships"><Relationship Id="rId2" Target="../media/image2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 ?>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 ?><Relationships xmlns="http://schemas.openxmlformats.org/package/2006/relationships"><Relationship Id="rId3" Target="../media/image28.jpeg" Type="http://schemas.openxmlformats.org/officeDocument/2006/relationships/image"/><Relationship Id="rId2" Target="../media/image2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 ?><Relationships xmlns="http://schemas.openxmlformats.org/package/2006/relationships"><Relationship Id="rId2" Target="../media/image3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0.xml.rels><?xml version="1.0" encoding="UTF-8" standalone="yes" ?><Relationships xmlns="http://schemas.openxmlformats.org/package/2006/relationships"><Relationship Id="rId3" Target="../media/image31.png" Type="http://schemas.openxmlformats.org/officeDocument/2006/relationships/image"/><Relationship Id="rId2" Target="../media/image3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1.xml.rels><?xml version="1.0" encoding="UTF-8" standalone="yes" ?><Relationships xmlns="http://schemas.openxmlformats.org/package/2006/relationships"><Relationship Id="rId3" Target="../media/image31.png" Type="http://schemas.openxmlformats.org/officeDocument/2006/relationships/image"/><Relationship Id="rId2" Target="../media/image30.jpe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32.png" Type="http://schemas.openxmlformats.org/officeDocument/2006/relationships/image"/></Relationships>
</file>

<file path=ppt/slides/_rels/slide42.xml.rels><?xml version="1.0" encoding="UTF-8" standalone="yes" ?><Relationships xmlns="http://schemas.openxmlformats.org/package/2006/relationships"><Relationship Id="rId2" Target="../media/image3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explore the concepts of HIVE.</a:t>
            </a:r>
          </a:p>
          <a:p>
            <a:pPr algn="just"/>
            <a:r>
              <a:rPr lang="en-US" dirty="0"/>
              <a:t>learn features of HIVE.</a:t>
            </a:r>
          </a:p>
          <a:p>
            <a:pPr algn="just"/>
            <a:r>
              <a:rPr lang="en-US" dirty="0"/>
              <a:t>understand architecture of HIVE.</a:t>
            </a:r>
          </a:p>
          <a:p>
            <a:pPr algn="just"/>
            <a:r>
              <a:rPr lang="en-US" dirty="0"/>
              <a:t>learn components and functionalities of HIVE.</a:t>
            </a:r>
          </a:p>
          <a:p>
            <a:pPr algn="just"/>
            <a:r>
              <a:rPr lang="en-US" dirty="0"/>
              <a:t>explore working of HIVE.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CA1B5-E6F2-443B-8877-7B54FA1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6E129-24AB-4A1F-8C66-B6A6085A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250" y="1585312"/>
            <a:ext cx="5858541" cy="527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2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CA1B5-E6F2-443B-8877-7B54FA1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6E129-24AB-4A1F-8C66-B6A6085A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250" y="1585312"/>
            <a:ext cx="5858541" cy="5272687"/>
          </a:xfrm>
          <a:prstGeom prst="rect">
            <a:avLst/>
          </a:prstGeom>
        </p:spPr>
      </p:pic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767AEAF0-8A62-4563-A5E1-078CA765F1BE}"/>
              </a:ext>
            </a:extLst>
          </p:cNvPr>
          <p:cNvSpPr/>
          <p:nvPr/>
        </p:nvSpPr>
        <p:spPr>
          <a:xfrm>
            <a:off x="5943600" y="1325563"/>
            <a:ext cx="3232299" cy="2488018"/>
          </a:xfrm>
          <a:prstGeom prst="irregularSeal1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Most Popular</a:t>
            </a:r>
            <a:endParaRPr lang="en-IN" sz="2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072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CA1B5-E6F2-443B-8877-7B54FA1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6E129-24AB-4A1F-8C66-B6A6085A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917"/>
            <a:ext cx="2713251" cy="244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8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CA1B5-E6F2-443B-8877-7B54FA1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6E129-24AB-4A1F-8C66-B6A6085A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917"/>
            <a:ext cx="2713251" cy="2441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C0272-0BAA-4238-81C5-F933B5C8F89C}"/>
              </a:ext>
            </a:extLst>
          </p:cNvPr>
          <p:cNvSpPr txBox="1"/>
          <p:nvPr/>
        </p:nvSpPr>
        <p:spPr>
          <a:xfrm>
            <a:off x="3051300" y="2402959"/>
            <a:ext cx="2528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ahnschrift" panose="020B0502040204020203" pitchFamily="34" charset="0"/>
              </a:rPr>
              <a:t>Developed By</a:t>
            </a:r>
            <a:endParaRPr lang="en-IN" sz="3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48373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CA1B5-E6F2-443B-8877-7B54FA1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6E129-24AB-4A1F-8C66-B6A6085A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917"/>
            <a:ext cx="2713251" cy="2441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F6C82B-834C-48D7-9D1E-D5EE92D0EE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"/>
          <a:stretch/>
        </p:blipFill>
        <p:spPr>
          <a:xfrm>
            <a:off x="5726566" y="1672875"/>
            <a:ext cx="3417434" cy="2441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C0272-0BAA-4238-81C5-F933B5C8F89C}"/>
              </a:ext>
            </a:extLst>
          </p:cNvPr>
          <p:cNvSpPr txBox="1"/>
          <p:nvPr/>
        </p:nvSpPr>
        <p:spPr>
          <a:xfrm>
            <a:off x="3051300" y="2402959"/>
            <a:ext cx="2528601" cy="120032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dirty="0" lang="en-US" sz="3600">
                <a:latin charset="0" panose="020B0502040204020203" pitchFamily="34" typeface="Bahnschrift"/>
              </a:rPr>
              <a:t>Developed By</a:t>
            </a:r>
            <a:endParaRPr dirty="0" lang="en-IN" sz="36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638927997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CA1B5-E6F2-443B-8877-7B54FA1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6E129-24AB-4A1F-8C66-B6A6085A5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917"/>
            <a:ext cx="2713251" cy="2441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F6C82B-834C-48D7-9D1E-D5EE92D0EE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"/>
          <a:stretch/>
        </p:blipFill>
        <p:spPr>
          <a:xfrm>
            <a:off x="5726566" y="1672875"/>
            <a:ext cx="3417434" cy="2441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C0272-0BAA-4238-81C5-F933B5C8F89C}"/>
              </a:ext>
            </a:extLst>
          </p:cNvPr>
          <p:cNvSpPr txBox="1"/>
          <p:nvPr/>
        </p:nvSpPr>
        <p:spPr>
          <a:xfrm>
            <a:off x="3051300" y="2402959"/>
            <a:ext cx="2528601" cy="120032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dirty="0" lang="en-US" sz="3600">
                <a:latin charset="0" panose="020B0502040204020203" pitchFamily="34" typeface="Bahnschrift"/>
              </a:rPr>
              <a:t>Developed By</a:t>
            </a:r>
            <a:endParaRPr dirty="0" lang="en-IN" sz="3600">
              <a:latin charset="0" panose="020B0502040204020203" pitchFamily="34" typeface="Bahnschrif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A5523A-D366-4DBC-9575-81588FBE9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207" y="4573420"/>
            <a:ext cx="4091586" cy="190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53691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B77A65-31A6-4C96-8E41-E999E1DE0B6E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79"/>
          <a:stretch/>
        </p:blipFill>
        <p:spPr>
          <a:xfrm>
            <a:off x="2038640" y="1775636"/>
            <a:ext cx="4985980" cy="145666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0E2B21-EED1-4B4C-9ABD-7DCC1E16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B3089-8CDF-4C11-B4FB-B6B89437D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156" y="4013447"/>
            <a:ext cx="4901609" cy="206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3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E2B21-EED1-4B4C-9ABD-7DCC1E16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56C6BD-5B5E-417F-9689-856E8E47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92" y="1857153"/>
            <a:ext cx="2724150" cy="167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94DE08-933A-42A1-850B-F79D7333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696" y="1702981"/>
            <a:ext cx="2601184" cy="17260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DE0CA5-F2D4-4B37-B67D-C7CA46C052F7}"/>
              </a:ext>
            </a:extLst>
          </p:cNvPr>
          <p:cNvSpPr/>
          <p:nvPr/>
        </p:nvSpPr>
        <p:spPr>
          <a:xfrm>
            <a:off x="4029740" y="3636334"/>
            <a:ext cx="3327990" cy="95693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Process Structured Data in Hadoop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47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E2B21-EED1-4B4C-9ABD-7DCC1E16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2FBEB0-8CA3-4C34-927E-2B62F8F46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609" y="2140767"/>
            <a:ext cx="5324697" cy="25764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481452-F8A0-4E17-AFD4-C22704953A11}"/>
              </a:ext>
            </a:extLst>
          </p:cNvPr>
          <p:cNvSpPr/>
          <p:nvPr/>
        </p:nvSpPr>
        <p:spPr>
          <a:xfrm>
            <a:off x="3349256" y="4901609"/>
            <a:ext cx="3147237" cy="71238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Summarize Big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31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E2B21-EED1-4B4C-9ABD-7DCC1E16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F63E4D-ADF9-483A-8406-6FD33A265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6" y="1812852"/>
            <a:ext cx="3778102" cy="377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21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E2B21-EED1-4B4C-9ABD-7DCC1E16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BDF2C-4820-4957-A226-0BB704B2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902" y="1995266"/>
            <a:ext cx="2571750" cy="322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F63E4D-ADF9-483A-8406-6FD33A265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6" y="1812852"/>
            <a:ext cx="3778102" cy="37781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6DFA7E-0AF6-4BC4-91F6-80F58C96035F}"/>
              </a:ext>
            </a:extLst>
          </p:cNvPr>
          <p:cNvSpPr/>
          <p:nvPr/>
        </p:nvSpPr>
        <p:spPr>
          <a:xfrm>
            <a:off x="5539563" y="5316279"/>
            <a:ext cx="2466089" cy="57766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Amazon elastic MapReduce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612017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EF1FB1-19C9-4C4E-924A-6CE3FB2081DD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35" r="92"/>
          <a:stretch/>
        </p:blipFill>
        <p:spPr>
          <a:xfrm>
            <a:off x="159490" y="2556225"/>
            <a:ext cx="4079804" cy="22133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7A30-F3ED-4CE4-A4D8-AFB3BCD30375}"/>
              </a:ext>
            </a:extLst>
          </p:cNvPr>
          <p:cNvSpPr txBox="1"/>
          <p:nvPr/>
        </p:nvSpPr>
        <p:spPr>
          <a:xfrm>
            <a:off x="4572000" y="1499191"/>
            <a:ext cx="4412510" cy="132343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/>
            <a:r>
              <a:rPr dirty="0" lang="en-US" sz="4000">
                <a:latin charset="0" panose="020B0502040204020203" pitchFamily="34" typeface="Bahnschrift"/>
              </a:rPr>
              <a:t>Hive is not</a:t>
            </a:r>
          </a:p>
          <a:p>
            <a:pPr algn="just"/>
            <a:endParaRPr dirty="0" lang="en-IN" sz="4000">
              <a:latin charset="0" panose="020B0502040204020203" pitchFamily="34" typeface="Bahnschrif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AB5EA-552B-42F1-90DB-FD9093630C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" r="95"/>
          <a:stretch/>
        </p:blipFill>
        <p:spPr>
          <a:xfrm>
            <a:off x="4774018" y="2360428"/>
            <a:ext cx="3504313" cy="299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62709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EF1FB1-19C9-4C4E-924A-6CE3FB2081DD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35" r="92"/>
          <a:stretch/>
        </p:blipFill>
        <p:spPr>
          <a:xfrm>
            <a:off x="159490" y="2556225"/>
            <a:ext cx="4079804" cy="22133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7A30-F3ED-4CE4-A4D8-AFB3BCD30375}"/>
              </a:ext>
            </a:extLst>
          </p:cNvPr>
          <p:cNvSpPr txBox="1"/>
          <p:nvPr/>
        </p:nvSpPr>
        <p:spPr>
          <a:xfrm>
            <a:off x="4572000" y="1499191"/>
            <a:ext cx="4412510" cy="1323439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/>
            <a:r>
              <a:rPr dirty="0" lang="en-US" sz="4000">
                <a:latin charset="0" panose="020B0502040204020203" pitchFamily="34" typeface="Bahnschrift"/>
              </a:rPr>
              <a:t>Hive is not</a:t>
            </a:r>
          </a:p>
          <a:p>
            <a:pPr algn="just"/>
            <a:endParaRPr dirty="0" lang="en-IN" sz="40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53C40-F3DB-469C-BB6D-CD2D15324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2808" y="2467471"/>
            <a:ext cx="1069620" cy="24387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0E1483-8711-4CDA-982D-E87322C6B117}"/>
              </a:ext>
            </a:extLst>
          </p:cNvPr>
          <p:cNvSpPr/>
          <p:nvPr/>
        </p:nvSpPr>
        <p:spPr>
          <a:xfrm>
            <a:off x="4901609" y="5252484"/>
            <a:ext cx="3710763" cy="85060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Designed for OLTP(Online Transaction Processing)</a:t>
            </a:r>
            <a:endParaRPr dirty="0" lang="en-IN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427906097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EF1FB1-19C9-4C4E-924A-6CE3FB2081DD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35" r="92"/>
          <a:stretch/>
        </p:blipFill>
        <p:spPr>
          <a:xfrm>
            <a:off x="159490" y="2556225"/>
            <a:ext cx="4079804" cy="22133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67A30-F3ED-4CE4-A4D8-AFB3BCD30375}"/>
              </a:ext>
            </a:extLst>
          </p:cNvPr>
          <p:cNvSpPr txBox="1"/>
          <p:nvPr/>
        </p:nvSpPr>
        <p:spPr>
          <a:xfrm>
            <a:off x="4531630" y="2367883"/>
            <a:ext cx="4412510" cy="2590068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dirty="0" lang="en-US" sz="2800">
                <a:latin charset="0" panose="020B0502040204020203" pitchFamily="34" typeface="Bahnschrift"/>
              </a:rPr>
              <a:t>Hive is not</a:t>
            </a:r>
          </a:p>
          <a:p>
            <a:pPr algn="just" indent="-571500" marL="5715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dirty="0" lang="en-US" sz="2800">
                <a:latin charset="0" panose="020B0502040204020203" pitchFamily="34" typeface="Bahnschrift"/>
              </a:rPr>
              <a:t>A language </a:t>
            </a:r>
            <a:r>
              <a:rPr b="0" dirty="0" i="0" lang="en-US" sz="2800">
                <a:effectLst/>
                <a:latin charset="0" panose="020B0502040204020203" pitchFamily="34" typeface="Bahnschrift"/>
              </a:rPr>
              <a:t>for real-time queries </a:t>
            </a:r>
          </a:p>
          <a:p>
            <a:pPr algn="just" indent="-571500" marL="571500">
              <a:lnSpc>
                <a:spcPct val="150000"/>
              </a:lnSpc>
              <a:buFont charset="0" panose="020B0604020202020204" pitchFamily="34" typeface="Arial"/>
              <a:buChar char="•"/>
            </a:pPr>
            <a:r>
              <a:rPr b="0" dirty="0" i="0" lang="en-US" sz="2800">
                <a:effectLst/>
                <a:latin charset="0" panose="020B0502040204020203" pitchFamily="34" typeface="Bahnschrift"/>
              </a:rPr>
              <a:t>and row-level updates</a:t>
            </a:r>
            <a:endParaRPr dirty="0" lang="en-US" sz="28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521096239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Hive</a:t>
            </a:r>
            <a:endParaRPr dirty="0"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130B7E-4C43-435F-B7F5-EB9EADB6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477926"/>
            <a:ext cx="8486660" cy="5155103"/>
          </a:xfrm>
        </p:spPr>
        <p:txBody>
          <a:bodyPr/>
          <a:lstStyle/>
          <a:p>
            <a:pPr indent="0" marL="0">
              <a:buNone/>
            </a:pPr>
            <a:r>
              <a:rPr dirty="0" lang="en-US"/>
              <a:t>Features of HIVE</a:t>
            </a:r>
          </a:p>
          <a:p>
            <a:pPr indent="0" marL="0">
              <a:buNone/>
            </a:pPr>
            <a:r>
              <a:rPr dirty="0" lang="en-US"/>
              <a:t>1. Store Schemas </a:t>
            </a:r>
            <a:endParaRPr dirty="0"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22097-CCDA-466A-AE33-44109A59D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58" r="22"/>
          <a:stretch/>
        </p:blipFill>
        <p:spPr>
          <a:xfrm>
            <a:off x="3785191" y="2243469"/>
            <a:ext cx="1392865" cy="2156697"/>
          </a:xfrm>
          <a:prstGeom prst="can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5DBA4F-ADD2-4FBA-98C7-FB3F15277B83}"/>
              </a:ext>
            </a:extLst>
          </p:cNvPr>
          <p:cNvSpPr/>
          <p:nvPr/>
        </p:nvSpPr>
        <p:spPr>
          <a:xfrm>
            <a:off x="3737344" y="4400166"/>
            <a:ext cx="1488558" cy="563526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200">
                <a:latin charset="0" panose="020B0502040204020203" pitchFamily="34" typeface="Bahnschrift"/>
              </a:rPr>
              <a:t>Database</a:t>
            </a:r>
            <a:endParaRPr dirty="0" lang="en-IN" sz="22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650400495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Hive</a:t>
            </a:r>
            <a:endParaRPr dirty="0"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130B7E-4C43-435F-B7F5-EB9EADB6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477926"/>
            <a:ext cx="8486660" cy="5155103"/>
          </a:xfrm>
        </p:spPr>
        <p:txBody>
          <a:bodyPr/>
          <a:lstStyle/>
          <a:p>
            <a:pPr indent="0" marL="0">
              <a:buNone/>
            </a:pPr>
            <a:r>
              <a:rPr dirty="0" lang="en-US"/>
              <a:t>Features of HIVE</a:t>
            </a:r>
          </a:p>
          <a:p>
            <a:pPr indent="0" marL="0">
              <a:buNone/>
            </a:pPr>
            <a:r>
              <a:rPr dirty="0" lang="en-US"/>
              <a:t>1. Store Schemas </a:t>
            </a:r>
            <a:endParaRPr dirty="0"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22097-CCDA-466A-AE33-44109A59DD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58" r="22"/>
          <a:stretch/>
        </p:blipFill>
        <p:spPr>
          <a:xfrm>
            <a:off x="3785191" y="2243469"/>
            <a:ext cx="1392865" cy="2156697"/>
          </a:xfrm>
          <a:prstGeom prst="can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5DBA4F-ADD2-4FBA-98C7-FB3F15277B83}"/>
              </a:ext>
            </a:extLst>
          </p:cNvPr>
          <p:cNvSpPr/>
          <p:nvPr/>
        </p:nvSpPr>
        <p:spPr>
          <a:xfrm>
            <a:off x="3737344" y="4400166"/>
            <a:ext cx="1488558" cy="563526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200">
                <a:latin charset="0" panose="020B0502040204020203" pitchFamily="34" typeface="Bahnschrift"/>
              </a:rPr>
              <a:t>Database</a:t>
            </a:r>
            <a:endParaRPr dirty="0" lang="en-IN" sz="2200">
              <a:latin charset="0" panose="020B0502040204020203" pitchFamily="34" typeface="Bahnschrif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0D2500-253B-42B6-9AB8-9E33AA988A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0"/>
          <a:stretch/>
        </p:blipFill>
        <p:spPr>
          <a:xfrm>
            <a:off x="5610706" y="2456122"/>
            <a:ext cx="3238240" cy="106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574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130B7E-4C43-435F-B7F5-EB9EADB6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477926"/>
            <a:ext cx="8486660" cy="51551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Features of HIVE</a:t>
            </a:r>
          </a:p>
          <a:p>
            <a:pPr marL="514350" indent="-514350">
              <a:buAutoNum type="arabicPeriod"/>
            </a:pPr>
            <a:r>
              <a:rPr lang="en-US" dirty="0"/>
              <a:t>Store Schemas</a:t>
            </a:r>
          </a:p>
          <a:p>
            <a:pPr marL="514350" indent="-514350">
              <a:buAutoNum type="arabicPeriod"/>
            </a:pPr>
            <a:r>
              <a:rPr lang="en-US" dirty="0"/>
              <a:t>Designed for 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1E016-0EBC-462B-ADDA-5A7A77BC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564" y="1842558"/>
            <a:ext cx="4100710" cy="37107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EB86F6-6849-48BC-A96D-DE76A4669E21}"/>
              </a:ext>
            </a:extLst>
          </p:cNvPr>
          <p:cNvSpPr/>
          <p:nvPr/>
        </p:nvSpPr>
        <p:spPr>
          <a:xfrm>
            <a:off x="5434965" y="5553343"/>
            <a:ext cx="1486829" cy="53911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OLAP</a:t>
            </a:r>
            <a:endParaRPr lang="en-IN" sz="2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9917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Hive</a:t>
            </a:r>
            <a:endParaRPr dirty="0"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130B7E-4C43-435F-B7F5-EB9EADB6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477926"/>
            <a:ext cx="8486660" cy="5155103"/>
          </a:xfrm>
        </p:spPr>
        <p:txBody>
          <a:bodyPr/>
          <a:lstStyle/>
          <a:p>
            <a:pPr indent="0" marL="0">
              <a:buNone/>
            </a:pPr>
            <a:r>
              <a:rPr dirty="0" lang="en-US"/>
              <a:t>Features of HIVE</a:t>
            </a:r>
          </a:p>
          <a:p>
            <a:pPr indent="-514350" marL="514350">
              <a:buAutoNum type="arabicPeriod"/>
            </a:pPr>
            <a:r>
              <a:rPr dirty="0" lang="en-US"/>
              <a:t>Store Schemas</a:t>
            </a:r>
          </a:p>
          <a:p>
            <a:pPr indent="-514350" marL="514350">
              <a:buAutoNum type="arabicPeriod"/>
            </a:pPr>
            <a:r>
              <a:rPr dirty="0" lang="en-US"/>
              <a:t>Designed for </a:t>
            </a:r>
          </a:p>
          <a:p>
            <a:pPr indent="-514350" marL="514350">
              <a:buAutoNum type="arabicPeriod"/>
            </a:pPr>
            <a:r>
              <a:rPr b="0" dirty="0" i="0" lang="en-US">
                <a:effectLst/>
              </a:rPr>
              <a:t>provides SQL type</a:t>
            </a:r>
          </a:p>
          <a:p>
            <a:pPr indent="0" marL="0">
              <a:buNone/>
            </a:pPr>
            <a:r>
              <a:rPr b="0" dirty="0" i="0" lang="en-US">
                <a:effectLst/>
              </a:rPr>
              <a:t> language for querying called </a:t>
            </a:r>
            <a:r>
              <a:rPr dirty="0" lang="en-US"/>
              <a:t> </a:t>
            </a:r>
            <a:endParaRPr dirty="0"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51EB27-66CC-4705-AD5E-878AF02AE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4" r="-17"/>
          <a:stretch/>
        </p:blipFill>
        <p:spPr>
          <a:xfrm>
            <a:off x="3987209" y="2034111"/>
            <a:ext cx="4274289" cy="25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72296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6E42C4-248F-446F-B6AD-E80E758E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Hive</a:t>
            </a:r>
            <a:endParaRPr dirty="0"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130B7E-4C43-435F-B7F5-EB9EADB6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477926"/>
            <a:ext cx="8486660" cy="5155103"/>
          </a:xfrm>
        </p:spPr>
        <p:txBody>
          <a:bodyPr/>
          <a:lstStyle/>
          <a:p>
            <a:pPr indent="0" marL="0">
              <a:buNone/>
            </a:pPr>
            <a:r>
              <a:rPr dirty="0" lang="en-US"/>
              <a:t>Features of HIVE</a:t>
            </a:r>
          </a:p>
          <a:p>
            <a:pPr indent="-514350" marL="514350">
              <a:buAutoNum type="arabicPeriod"/>
            </a:pPr>
            <a:r>
              <a:rPr dirty="0" lang="en-US"/>
              <a:t>Store Schemas</a:t>
            </a:r>
          </a:p>
          <a:p>
            <a:pPr indent="-514350" marL="514350">
              <a:buAutoNum type="arabicPeriod"/>
            </a:pPr>
            <a:r>
              <a:rPr dirty="0" lang="en-US"/>
              <a:t>Designed for </a:t>
            </a:r>
          </a:p>
          <a:p>
            <a:pPr indent="-514350" marL="514350">
              <a:buAutoNum type="arabicPeriod"/>
            </a:pPr>
            <a:r>
              <a:rPr b="0" dirty="0" i="0" lang="en-US">
                <a:effectLst/>
              </a:rPr>
              <a:t>provides SQL type</a:t>
            </a:r>
          </a:p>
          <a:p>
            <a:pPr indent="0" marL="0">
              <a:buNone/>
            </a:pPr>
            <a:r>
              <a:rPr b="0" dirty="0" i="0" lang="en-US">
                <a:effectLst/>
              </a:rPr>
              <a:t> language for querying called</a:t>
            </a:r>
          </a:p>
          <a:p>
            <a:pPr indent="0" marL="0">
              <a:buNone/>
            </a:pPr>
            <a:r>
              <a:rPr dirty="0" lang="en-US"/>
              <a:t>4. F</a:t>
            </a:r>
            <a:r>
              <a:rPr b="0" dirty="0" i="0" lang="en-US">
                <a:effectLst/>
              </a:rPr>
              <a:t>amiliar, fast, scalable, and extensible</a:t>
            </a:r>
            <a:r>
              <a:rPr b="0" dirty="0" i="0" lang="en-US">
                <a:effectLst/>
                <a:latin charset="0" panose="020B0604020202020204" pitchFamily="34" typeface="Arial"/>
              </a:rPr>
              <a:t>.</a:t>
            </a:r>
            <a:endParaRPr dirty="0"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51EB27-66CC-4705-AD5E-878AF02AE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4" r="-17"/>
          <a:stretch/>
        </p:blipFill>
        <p:spPr>
          <a:xfrm>
            <a:off x="3987209" y="2034111"/>
            <a:ext cx="4274289" cy="25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68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70593-E04D-4467-9636-3B689B0993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41444" y="1648870"/>
            <a:ext cx="4483027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n-US" sz="3200" b="0" i="0" dirty="0">
                <a:effectLst/>
                <a:latin typeface="Bahnschrift" panose="020B0502040204020203" pitchFamily="34" charset="0"/>
              </a:rPr>
              <a:t>Architecture of HIVE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623195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70593-E04D-4467-9636-3B689B099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31437"/>
            <a:ext cx="8386537" cy="48467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0" i="0" dirty="0">
                <a:effectLst/>
              </a:rPr>
              <a:t>Next Figure shows the overall architecture of Hive. If you can under this architecture diagram you can easily remember how Hive works.</a:t>
            </a: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FB4F9-2DD9-46C8-A0DD-8504B8CB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HIVE</a:t>
            </a:r>
          </a:p>
        </p:txBody>
      </p:sp>
    </p:spTree>
    <p:extLst>
      <p:ext uri="{BB962C8B-B14F-4D97-AF65-F5344CB8AC3E}">
        <p14:creationId xmlns:p14="http://schemas.microsoft.com/office/powerpoint/2010/main" val="2499442342"/>
      </p:ext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AEE859-9B46-49AC-81D9-2B29CAD2F4E3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44" r="-35"/>
          <a:stretch/>
        </p:blipFill>
        <p:spPr>
          <a:xfrm>
            <a:off x="129750" y="1754372"/>
            <a:ext cx="8934342" cy="466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77995"/>
      </p:ext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AEE859-9B46-49AC-81D9-2B29CAD2F4E3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73387" r="79786"/>
          <a:stretch/>
        </p:blipFill>
        <p:spPr>
          <a:xfrm>
            <a:off x="3245089" y="1467293"/>
            <a:ext cx="2251943" cy="155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97163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AEE859-9B46-49AC-81D9-2B29CAD2F4E3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73387" r="79786"/>
          <a:stretch/>
        </p:blipFill>
        <p:spPr>
          <a:xfrm>
            <a:off x="3245089" y="1467293"/>
            <a:ext cx="2251943" cy="15517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0E0C94-9BC6-446A-B9F7-425A746EB8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26"/>
          <a:stretch/>
        </p:blipFill>
        <p:spPr>
          <a:xfrm>
            <a:off x="701749" y="3610389"/>
            <a:ext cx="1775637" cy="163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7803B0-53C6-44C4-BFB2-FE19BF2BB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032" y="2948781"/>
            <a:ext cx="2713251" cy="24419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37768D-8A07-475F-8E0B-9814BEA36F0A}"/>
              </a:ext>
            </a:extLst>
          </p:cNvPr>
          <p:cNvSpPr/>
          <p:nvPr/>
        </p:nvSpPr>
        <p:spPr>
          <a:xfrm>
            <a:off x="3393946" y="4029740"/>
            <a:ext cx="1484240" cy="796296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500">
                <a:latin charset="0" panose="020B0502040204020203" pitchFamily="34" typeface="Bahnschrift"/>
              </a:rPr>
              <a:t>Interact</a:t>
            </a:r>
            <a:endParaRPr dirty="0" lang="en-IN" sz="2500">
              <a:latin charset="0" panose="020B0502040204020203" pitchFamily="34" typeface="Bahnschrif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EF2FC-B9AF-463F-AD42-1F4D4A094EB1}"/>
              </a:ext>
            </a:extLst>
          </p:cNvPr>
          <p:cNvSpPr/>
          <p:nvPr/>
        </p:nvSpPr>
        <p:spPr>
          <a:xfrm>
            <a:off x="845674" y="5365647"/>
            <a:ext cx="1397795" cy="53542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200">
                <a:latin charset="0" panose="020B0502040204020203" pitchFamily="34" typeface="Bahnschrift"/>
              </a:rPr>
              <a:t>End User</a:t>
            </a:r>
            <a:endParaRPr dirty="0" lang="en-IN" sz="22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945166131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DAF966-6A6F-46FA-8389-3C5AA24A52FF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12" r="-83"/>
          <a:stretch/>
        </p:blipFill>
        <p:spPr>
          <a:xfrm>
            <a:off x="2488018" y="1701208"/>
            <a:ext cx="3391787" cy="479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15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6B39BF-D280-479E-8AF1-97B1C2251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41" y="2955851"/>
            <a:ext cx="9027201" cy="239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18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2B75F5-D4FA-42BB-9E05-EAB9D8C03E4A}"/>
              </a:ext>
            </a:extLst>
          </p:cNvPr>
          <p:cNvSpPr/>
          <p:nvPr/>
        </p:nvSpPr>
        <p:spPr>
          <a:xfrm>
            <a:off x="532151" y="2938072"/>
            <a:ext cx="8079698" cy="1798820"/>
          </a:xfrm>
          <a:prstGeom prst="round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atin typeface="Bahnschrift" panose="020B0502040204020203" pitchFamily="34" charset="0"/>
              </a:rPr>
              <a:t>Hive Query Process Engine</a:t>
            </a:r>
          </a:p>
        </p:txBody>
      </p:sp>
    </p:spTree>
    <p:extLst>
      <p:ext uri="{BB962C8B-B14F-4D97-AF65-F5344CB8AC3E}">
        <p14:creationId xmlns:p14="http://schemas.microsoft.com/office/powerpoint/2010/main" val="213841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6FD251-3E36-4368-8D25-CEC1D2BCB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675" y="2451892"/>
            <a:ext cx="6656288" cy="267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21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7AC979-89DE-4B1C-A2F1-3129A07E6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071" y="1376227"/>
            <a:ext cx="5642010" cy="4431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AFCA68-F30A-48A5-B5E6-5830653D7ABC}"/>
              </a:ext>
            </a:extLst>
          </p:cNvPr>
          <p:cNvSpPr txBox="1"/>
          <p:nvPr/>
        </p:nvSpPr>
        <p:spPr>
          <a:xfrm>
            <a:off x="3022081" y="580747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252525"/>
                </a:solidFill>
                <a:effectLst/>
                <a:latin typeface="Bahnschrift" panose="020B0502040204020203" pitchFamily="34" charset="0"/>
              </a:rPr>
              <a:t>Directed Acyclic Graph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24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3C045F-D15D-46C8-9494-042511A6452E}"/>
              </a:ext>
            </a:extLst>
          </p:cNvPr>
          <p:cNvSpPr/>
          <p:nvPr/>
        </p:nvSpPr>
        <p:spPr>
          <a:xfrm>
            <a:off x="532151" y="2938072"/>
            <a:ext cx="8079698" cy="1798820"/>
          </a:xfrm>
          <a:prstGeom prst="round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latin typeface="Bahnschrift" panose="020B0502040204020203" pitchFamily="34" charset="0"/>
              </a:rPr>
              <a:t>Execution Engine(MR/Tez/Spark)</a:t>
            </a:r>
          </a:p>
        </p:txBody>
      </p:sp>
    </p:spTree>
    <p:extLst>
      <p:ext uri="{BB962C8B-B14F-4D97-AF65-F5344CB8AC3E}">
        <p14:creationId xmlns:p14="http://schemas.microsoft.com/office/powerpoint/2010/main" val="485443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7788F-36BE-43EF-B22D-6A9D6F9A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8243"/>
            <a:ext cx="8386537" cy="5004884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52525"/>
                </a:solidFill>
                <a:effectLst/>
              </a:rPr>
              <a:t>It is where the actual processing of the data will start. </a:t>
            </a:r>
          </a:p>
          <a:p>
            <a:r>
              <a:rPr lang="en-US" b="0" i="0" dirty="0">
                <a:solidFill>
                  <a:srgbClr val="252525"/>
                </a:solidFill>
                <a:effectLst/>
              </a:rPr>
              <a:t>After compiler checking the syntax, performs the optimizations of the execution. </a:t>
            </a:r>
          </a:p>
          <a:p>
            <a:r>
              <a:rPr lang="en-US" b="0" i="0" dirty="0">
                <a:solidFill>
                  <a:srgbClr val="252525"/>
                </a:solidFill>
                <a:effectLst/>
              </a:rPr>
              <a:t>Finally this execution plan will be given to Execution Engine. We have several execution engines that can be used with Hive. </a:t>
            </a:r>
          </a:p>
          <a:p>
            <a:r>
              <a:rPr lang="en-US" b="0" i="0" dirty="0">
                <a:solidFill>
                  <a:srgbClr val="252525"/>
                </a:solidFill>
                <a:effectLst/>
              </a:rPr>
              <a:t>MapReduce is one of the execution engines.</a:t>
            </a:r>
          </a:p>
        </p:txBody>
      </p:sp>
    </p:spTree>
    <p:extLst>
      <p:ext uri="{BB962C8B-B14F-4D97-AF65-F5344CB8AC3E}">
        <p14:creationId xmlns:p14="http://schemas.microsoft.com/office/powerpoint/2010/main" val="3987735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DE9AAB5-2856-4A48-BE9E-649B4636A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630" y="1325563"/>
            <a:ext cx="6096000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00C15-7844-4180-946D-12819608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389" y="4220461"/>
            <a:ext cx="4399221" cy="22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21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D9EE637-41AF-4A1F-8ABB-88B60AFCB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917609"/>
              </p:ext>
            </p:extLst>
          </p:nvPr>
        </p:nvGraphicFramePr>
        <p:xfrm>
          <a:off x="1244009" y="1948721"/>
          <a:ext cx="6655981" cy="4047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5981">
                  <a:extLst>
                    <a:ext uri="{9D8B030D-6E8A-4147-A177-3AD203B41FA5}">
                      <a16:colId xmlns:a16="http://schemas.microsoft.com/office/drawing/2014/main" val="1265610463"/>
                    </a:ext>
                  </a:extLst>
                </a:gridCol>
              </a:tblGrid>
              <a:tr h="134911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set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hive.execution.engine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=spark;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540720"/>
                  </a:ext>
                </a:extLst>
              </a:tr>
              <a:tr h="13491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set </a:t>
                      </a:r>
                      <a:r>
                        <a:rPr lang="en-US" sz="28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hive.execution.engine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=</a:t>
                      </a:r>
                      <a:r>
                        <a:rPr lang="en-US" sz="28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tez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;</a:t>
                      </a:r>
                      <a:endParaRPr lang="en-IN" sz="28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682767"/>
                  </a:ext>
                </a:extLst>
              </a:tr>
              <a:tr h="13491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set </a:t>
                      </a:r>
                      <a:r>
                        <a:rPr lang="en-US" sz="28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hive.execution.engine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=</a:t>
                      </a:r>
                      <a:r>
                        <a:rPr lang="en-US" sz="28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mr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;</a:t>
                      </a:r>
                      <a:endParaRPr lang="en-IN" sz="28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4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086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D9EE637-41AF-4A1F-8ABB-88B60AFCB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276079"/>
              </p:ext>
            </p:extLst>
          </p:nvPr>
        </p:nvGraphicFramePr>
        <p:xfrm>
          <a:off x="1120061" y="1703203"/>
          <a:ext cx="6655981" cy="1168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5981">
                  <a:extLst>
                    <a:ext uri="{9D8B030D-6E8A-4147-A177-3AD203B41FA5}">
                      <a16:colId xmlns:a16="http://schemas.microsoft.com/office/drawing/2014/main" val="1265610463"/>
                    </a:ext>
                  </a:extLst>
                </a:gridCol>
              </a:tblGrid>
              <a:tr h="1168917">
                <a:tc>
                  <a:txBody>
                    <a:bodyPr/>
                    <a:lstStyle/>
                    <a:p>
                      <a:pPr algn="ctr"/>
                      <a:r>
                        <a:rPr lang="en-IN" sz="6600" b="1" i="0" dirty="0" err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Metastore</a:t>
                      </a:r>
                      <a:endParaRPr lang="en-IN" sz="66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anchor="ctr"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540720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93F64B3-C5FD-4E1F-86D4-34184EE8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89" y="3147237"/>
            <a:ext cx="7065753" cy="311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18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D360D-5621-4715-BADF-D1FE16D8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9D05C8AC-2722-413A-A304-7EE344FAF4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701803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8957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75544D-80BC-45C5-BD78-270BC897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Bahnschrift" panose="020B0502040204020203" pitchFamily="34" charset="0"/>
              </a:rPr>
            </a:br>
            <a:r>
              <a:rPr lang="en-IN" b="0" i="0" dirty="0">
                <a:effectLst/>
                <a:latin typeface="Bahnschrift" panose="020B0502040204020203" pitchFamily="34" charset="0"/>
              </a:rPr>
              <a:t>Architecture of Hive</a:t>
            </a:r>
            <a:br>
              <a:rPr lang="en-IN" b="0" i="0" dirty="0">
                <a:effectLst/>
                <a:latin typeface="Bahnschrift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A299D-D0FA-472B-B8E8-8E6C1605A7C5}"/>
              </a:ext>
            </a:extLst>
          </p:cNvPr>
          <p:cNvSpPr/>
          <p:nvPr/>
        </p:nvSpPr>
        <p:spPr>
          <a:xfrm>
            <a:off x="2296632" y="1723082"/>
            <a:ext cx="4040372" cy="93566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HDFS or </a:t>
            </a:r>
            <a:r>
              <a:rPr lang="en-US" sz="2400" dirty="0" err="1">
                <a:latin typeface="Bahnschrift" panose="020B0502040204020203" pitchFamily="34" charset="0"/>
              </a:rPr>
              <a:t>Hbase</a:t>
            </a:r>
            <a:r>
              <a:rPr lang="en-US" sz="2400" dirty="0">
                <a:latin typeface="Bahnschrift" panose="020B0502040204020203" pitchFamily="34" charset="0"/>
              </a:rPr>
              <a:t> </a:t>
            </a:r>
            <a:br>
              <a:rPr lang="en-US" sz="2400" dirty="0">
                <a:latin typeface="Bahnschrift" panose="020B0502040204020203" pitchFamily="34" charset="0"/>
              </a:rPr>
            </a:br>
            <a:r>
              <a:rPr lang="en-US" sz="2400" dirty="0">
                <a:latin typeface="Bahnschrift" panose="020B0502040204020203" pitchFamily="34" charset="0"/>
              </a:rPr>
              <a:t>Storage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595439"/>
      </p:ext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75544D-80BC-45C5-BD78-270BC897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A299D-D0FA-472B-B8E8-8E6C1605A7C5}"/>
              </a:ext>
            </a:extLst>
          </p:cNvPr>
          <p:cNvSpPr/>
          <p:nvPr/>
        </p:nvSpPr>
        <p:spPr>
          <a:xfrm>
            <a:off x="2264735" y="1606123"/>
            <a:ext cx="4040372" cy="93566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400">
                <a:latin charset="0" panose="020B0502040204020203" pitchFamily="34" typeface="Bahnschrift"/>
              </a:rPr>
              <a:t>HDFS or </a:t>
            </a:r>
            <a:r>
              <a:rPr dirty="0" err="1" lang="en-US" sz="2400">
                <a:latin charset="0" panose="020B0502040204020203" pitchFamily="34" typeface="Bahnschrift"/>
              </a:rPr>
              <a:t>Hbase</a:t>
            </a:r>
            <a:r>
              <a:rPr dirty="0" lang="en-US" sz="2400">
                <a:latin charset="0" panose="020B0502040204020203" pitchFamily="34" typeface="Bahnschrift"/>
              </a:rPr>
              <a:t> </a:t>
            </a:r>
            <a:br>
              <a:rPr dirty="0" lang="en-US" sz="2400">
                <a:latin charset="0" panose="020B0502040204020203" pitchFamily="34" typeface="Bahnschrift"/>
              </a:rPr>
            </a:br>
            <a:r>
              <a:rPr dirty="0" lang="en-US" sz="2400">
                <a:latin charset="0" panose="020B0502040204020203" pitchFamily="34" typeface="Bahnschrift"/>
              </a:rPr>
              <a:t>Storage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EA4EF-9150-44F0-8C59-856194053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1"/>
          <a:stretch/>
        </p:blipFill>
        <p:spPr>
          <a:xfrm>
            <a:off x="1043429" y="2953557"/>
            <a:ext cx="3257550" cy="116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78239"/>
      </p:ext>
    </p:extLst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75544D-80BC-45C5-BD78-270BC897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A299D-D0FA-472B-B8E8-8E6C1605A7C5}"/>
              </a:ext>
            </a:extLst>
          </p:cNvPr>
          <p:cNvSpPr/>
          <p:nvPr/>
        </p:nvSpPr>
        <p:spPr>
          <a:xfrm>
            <a:off x="2264735" y="1606123"/>
            <a:ext cx="4040372" cy="93566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400">
                <a:latin charset="0" panose="020B0502040204020203" pitchFamily="34" typeface="Bahnschrift"/>
              </a:rPr>
              <a:t>HDFS or </a:t>
            </a:r>
            <a:r>
              <a:rPr dirty="0" err="1" lang="en-US" sz="2400">
                <a:latin charset="0" panose="020B0502040204020203" pitchFamily="34" typeface="Bahnschrift"/>
              </a:rPr>
              <a:t>Hbase</a:t>
            </a:r>
            <a:r>
              <a:rPr dirty="0" lang="en-US" sz="2400">
                <a:latin charset="0" panose="020B0502040204020203" pitchFamily="34" typeface="Bahnschrift"/>
              </a:rPr>
              <a:t> </a:t>
            </a:r>
            <a:br>
              <a:rPr dirty="0" lang="en-US" sz="2400">
                <a:latin charset="0" panose="020B0502040204020203" pitchFamily="34" typeface="Bahnschrift"/>
              </a:rPr>
            </a:br>
            <a:r>
              <a:rPr dirty="0" lang="en-US" sz="2400">
                <a:latin charset="0" panose="020B0502040204020203" pitchFamily="34" typeface="Bahnschrift"/>
              </a:rPr>
              <a:t>Storage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EA4EF-9150-44F0-8C59-856194053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1"/>
          <a:stretch/>
        </p:blipFill>
        <p:spPr>
          <a:xfrm>
            <a:off x="1043429" y="2953557"/>
            <a:ext cx="3257550" cy="1169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50ACA1-43D9-479A-A023-48A4F011A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73" y="4265057"/>
            <a:ext cx="3046006" cy="221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54624"/>
      </p:ext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75544D-80BC-45C5-BD78-270BC897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b="0" dirty="0" i="0" lang="en-IN">
                <a:effectLst/>
                <a:latin charset="0" panose="020B0502040204020203" pitchFamily="34" typeface="Bahnschrift"/>
              </a:rPr>
            </a:br>
            <a:r>
              <a:rPr b="0" dirty="0" i="0" lang="en-IN">
                <a:effectLst/>
                <a:latin charset="0" panose="020B0502040204020203" pitchFamily="34" typeface="Bahnschrift"/>
              </a:rPr>
              <a:t>Architecture of Hive</a:t>
            </a:r>
            <a:br>
              <a:rPr b="0" dirty="0" i="0" lang="en-IN">
                <a:effectLst/>
                <a:latin charset="0" panose="020B0502040204020203" pitchFamily="34" typeface="Bahnschrift"/>
              </a:rPr>
            </a:br>
            <a:endParaRPr dirty="0"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A299D-D0FA-472B-B8E8-8E6C1605A7C5}"/>
              </a:ext>
            </a:extLst>
          </p:cNvPr>
          <p:cNvSpPr/>
          <p:nvPr/>
        </p:nvSpPr>
        <p:spPr>
          <a:xfrm>
            <a:off x="2264735" y="1606123"/>
            <a:ext cx="4040372" cy="93566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400">
                <a:latin charset="0" panose="020B0502040204020203" pitchFamily="34" typeface="Bahnschrift"/>
              </a:rPr>
              <a:t>HDFS or </a:t>
            </a:r>
            <a:r>
              <a:rPr dirty="0" err="1" lang="en-US" sz="2400">
                <a:latin charset="0" panose="020B0502040204020203" pitchFamily="34" typeface="Bahnschrift"/>
              </a:rPr>
              <a:t>Hbase</a:t>
            </a:r>
            <a:r>
              <a:rPr dirty="0" lang="en-US" sz="2400">
                <a:latin charset="0" panose="020B0502040204020203" pitchFamily="34" typeface="Bahnschrift"/>
              </a:rPr>
              <a:t> </a:t>
            </a:r>
            <a:br>
              <a:rPr dirty="0" lang="en-US" sz="2400">
                <a:latin charset="0" panose="020B0502040204020203" pitchFamily="34" typeface="Bahnschrift"/>
              </a:rPr>
            </a:br>
            <a:r>
              <a:rPr dirty="0" lang="en-US" sz="2400">
                <a:latin charset="0" panose="020B0502040204020203" pitchFamily="34" typeface="Bahnschrift"/>
              </a:rPr>
              <a:t>Storage</a:t>
            </a:r>
            <a:endParaRPr dirty="0" lang="en-IN" sz="2400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EA4EF-9150-44F0-8C59-856194053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1"/>
          <a:stretch/>
        </p:blipFill>
        <p:spPr>
          <a:xfrm>
            <a:off x="1043429" y="2953557"/>
            <a:ext cx="3257550" cy="1169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50ACA1-43D9-479A-A023-48A4F011A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73" y="4265057"/>
            <a:ext cx="3046006" cy="2214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1EFE72-2EBE-4381-A2D2-7D84245B8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94" y="3064907"/>
            <a:ext cx="4396699" cy="329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86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4AC55F-D161-4C64-90AA-79155C8AF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645" y="1626783"/>
            <a:ext cx="7056949" cy="472177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798B59-61A1-4EA3-BDED-AA93A847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HIVE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342990"/>
      </p:ext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6BFAD-F7C4-4663-837F-D7BC3708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722" y="640080"/>
            <a:ext cx="5170932" cy="3566160"/>
          </a:xfrm>
        </p:spPr>
        <p:txBody>
          <a:bodyPr anchor="b" bIns="45720" lIns="91440" rIns="91440" rtlCol="0" tIns="45720" vert="horz">
            <a:normAutofit/>
          </a:bodyPr>
          <a:lstStyle/>
          <a:p>
            <a:r>
              <a:rPr dirty="0" lang="en-US" sz="4800">
                <a:latin charset="0" panose="020B0502040204020203" pitchFamily="34" typeface="Bahnschrift"/>
              </a:rPr>
              <a:t>Working of HIVE</a:t>
            </a:r>
          </a:p>
        </p:txBody>
      </p:sp>
      <p:pic>
        <p:nvPicPr>
          <p:cNvPr descr="Working space background" id="4" name="Picture 3">
            <a:extLst>
              <a:ext uri="{FF2B5EF4-FFF2-40B4-BE49-F238E27FC236}">
                <a16:creationId xmlns:a16="http://schemas.microsoft.com/office/drawing/2014/main" id="{60719B02-281A-4225-A5A9-DD1C7D43B1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" r="-78"/>
          <a:stretch/>
        </p:blipFill>
        <p:spPr>
          <a:xfrm>
            <a:off x="20" y="10"/>
            <a:ext cx="3037334" cy="6857990"/>
          </a:xfrm>
          <a:custGeom>
            <a:avLst/>
            <a:gdLst/>
            <a:ahLst/>
            <a:cxnLst/>
            <a:rect b="b" l="l" r="r" t="t"/>
            <a:pathLst>
              <a:path h="6858000" w="4049806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4409267"/>
            <a:ext cx="3182112" cy="18288"/>
          </a:xfrm>
          <a:custGeom>
            <a:avLst/>
            <a:gdLst>
              <a:gd fmla="*/ 0 w 3182112" name="connsiteX0"/>
              <a:gd fmla="*/ 0 h 18288" name="connsiteY0"/>
              <a:gd fmla="*/ 636422 w 3182112" name="connsiteX1"/>
              <a:gd fmla="*/ 0 h 18288" name="connsiteY1"/>
              <a:gd fmla="*/ 1241024 w 3182112" name="connsiteX2"/>
              <a:gd fmla="*/ 0 h 18288" name="connsiteY2"/>
              <a:gd fmla="*/ 1845625 w 3182112" name="connsiteX3"/>
              <a:gd fmla="*/ 0 h 18288" name="connsiteY3"/>
              <a:gd fmla="*/ 2545690 w 3182112" name="connsiteX4"/>
              <a:gd fmla="*/ 0 h 18288" name="connsiteY4"/>
              <a:gd fmla="*/ 3182112 w 3182112" name="connsiteX5"/>
              <a:gd fmla="*/ 0 h 18288" name="connsiteY5"/>
              <a:gd fmla="*/ 3182112 w 3182112" name="connsiteX6"/>
              <a:gd fmla="*/ 18288 h 18288" name="connsiteY6"/>
              <a:gd fmla="*/ 2545690 w 3182112" name="connsiteX7"/>
              <a:gd fmla="*/ 18288 h 18288" name="connsiteY7"/>
              <a:gd fmla="*/ 2004731 w 3182112" name="connsiteX8"/>
              <a:gd fmla="*/ 18288 h 18288" name="connsiteY8"/>
              <a:gd fmla="*/ 1400129 w 3182112" name="connsiteX9"/>
              <a:gd fmla="*/ 18288 h 18288" name="connsiteY9"/>
              <a:gd fmla="*/ 795528 w 3182112" name="connsiteX10"/>
              <a:gd fmla="*/ 18288 h 18288" name="connsiteY10"/>
              <a:gd fmla="*/ 0 w 3182112" name="connsiteX11"/>
              <a:gd fmla="*/ 18288 h 18288" name="connsiteY11"/>
              <a:gd fmla="*/ 0 w 3182112" name="connsiteX12"/>
              <a:gd fmla="*/ 0 h 18288" name="connsiteY12"/>
              <a:gd fmla="*/ 0 w 3182112" name="connsiteX0"/>
              <a:gd fmla="*/ 0 h 18288" name="connsiteY0"/>
              <a:gd fmla="*/ 572780 w 3182112" name="connsiteX1"/>
              <a:gd fmla="*/ 0 h 18288" name="connsiteY1"/>
              <a:gd fmla="*/ 1272845 w 3182112" name="connsiteX2"/>
              <a:gd fmla="*/ 0 h 18288" name="connsiteY2"/>
              <a:gd fmla="*/ 1813804 w 3182112" name="connsiteX3"/>
              <a:gd fmla="*/ 0 h 18288" name="connsiteY3"/>
              <a:gd fmla="*/ 2354763 w 3182112" name="connsiteX4"/>
              <a:gd fmla="*/ 0 h 18288" name="connsiteY4"/>
              <a:gd fmla="*/ 3182112 w 3182112" name="connsiteX5"/>
              <a:gd fmla="*/ 0 h 18288" name="connsiteY5"/>
              <a:gd fmla="*/ 3182112 w 3182112" name="connsiteX6"/>
              <a:gd fmla="*/ 18288 h 18288" name="connsiteY6"/>
              <a:gd fmla="*/ 2577511 w 3182112" name="connsiteX7"/>
              <a:gd fmla="*/ 18288 h 18288" name="connsiteY7"/>
              <a:gd fmla="*/ 1972909 w 3182112" name="connsiteX8"/>
              <a:gd fmla="*/ 18288 h 18288" name="connsiteY8"/>
              <a:gd fmla="*/ 1368308 w 3182112" name="connsiteX9"/>
              <a:gd fmla="*/ 18288 h 18288" name="connsiteY9"/>
              <a:gd fmla="*/ 668244 w 3182112" name="connsiteX10"/>
              <a:gd fmla="*/ 18288 h 18288" name="connsiteY10"/>
              <a:gd fmla="*/ 0 w 3182112" name="connsiteX11"/>
              <a:gd fmla="*/ 18288 h 18288" name="connsiteY11"/>
              <a:gd fmla="*/ 0 w 3182112" name="connsiteX12"/>
              <a:gd fmla="*/ 0 h 18288" name="connsiteY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b="b" l="l" r="r" t="t"/>
            <a:pathLst>
              <a:path extrusionOk="0" fill="none" h="18288" w="3182112">
                <a:moveTo>
                  <a:pt x="0" y="0"/>
                </a:moveTo>
                <a:cubicBezTo>
                  <a:pt x="167097" y="-35215"/>
                  <a:pt x="386995" y="-47353"/>
                  <a:pt x="636422" y="0"/>
                </a:cubicBezTo>
                <a:cubicBezTo>
                  <a:pt x="915721" y="14911"/>
                  <a:pt x="978814" y="-9181"/>
                  <a:pt x="1241024" y="0"/>
                </a:cubicBezTo>
                <a:cubicBezTo>
                  <a:pt x="1523940" y="31894"/>
                  <a:pt x="1606328" y="-11705"/>
                  <a:pt x="1845625" y="0"/>
                </a:cubicBezTo>
                <a:cubicBezTo>
                  <a:pt x="2102898" y="-3011"/>
                  <a:pt x="2397984" y="13955"/>
                  <a:pt x="2545690" y="0"/>
                </a:cubicBezTo>
                <a:cubicBezTo>
                  <a:pt x="2705364" y="3313"/>
                  <a:pt x="2935432" y="4386"/>
                  <a:pt x="3182112" y="0"/>
                </a:cubicBezTo>
                <a:cubicBezTo>
                  <a:pt x="3181470" y="7828"/>
                  <a:pt x="3181789" y="10025"/>
                  <a:pt x="3182112" y="18288"/>
                </a:cubicBezTo>
                <a:cubicBezTo>
                  <a:pt x="2885361" y="29807"/>
                  <a:pt x="2846304" y="22960"/>
                  <a:pt x="2545690" y="18288"/>
                </a:cubicBezTo>
                <a:cubicBezTo>
                  <a:pt x="2296262" y="32454"/>
                  <a:pt x="2267101" y="-2532"/>
                  <a:pt x="2004731" y="18288"/>
                </a:cubicBezTo>
                <a:cubicBezTo>
                  <a:pt x="1806517" y="20412"/>
                  <a:pt x="1671861" y="-28431"/>
                  <a:pt x="1400129" y="18288"/>
                </a:cubicBezTo>
                <a:cubicBezTo>
                  <a:pt x="1147502" y="47781"/>
                  <a:pt x="1063563" y="20586"/>
                  <a:pt x="795528" y="18288"/>
                </a:cubicBezTo>
                <a:cubicBezTo>
                  <a:pt x="531348" y="19059"/>
                  <a:pt x="307978" y="738"/>
                  <a:pt x="0" y="18288"/>
                </a:cubicBezTo>
                <a:cubicBezTo>
                  <a:pt x="222" y="11591"/>
                  <a:pt x="-26" y="3279"/>
                  <a:pt x="0" y="0"/>
                </a:cubicBezTo>
                <a:close/>
              </a:path>
              <a:path extrusionOk="0" h="18288" stroke="0" w="3182112">
                <a:moveTo>
                  <a:pt x="0" y="0"/>
                </a:moveTo>
                <a:cubicBezTo>
                  <a:pt x="224974" y="-3076"/>
                  <a:pt x="336129" y="12250"/>
                  <a:pt x="572780" y="0"/>
                </a:cubicBezTo>
                <a:cubicBezTo>
                  <a:pt x="802270" y="-6413"/>
                  <a:pt x="1081077" y="-35613"/>
                  <a:pt x="1272845" y="0"/>
                </a:cubicBezTo>
                <a:cubicBezTo>
                  <a:pt x="1483194" y="13818"/>
                  <a:pt x="1709890" y="10279"/>
                  <a:pt x="1813804" y="0"/>
                </a:cubicBezTo>
                <a:cubicBezTo>
                  <a:pt x="1932692" y="-21191"/>
                  <a:pt x="2099661" y="51120"/>
                  <a:pt x="2354763" y="0"/>
                </a:cubicBezTo>
                <a:cubicBezTo>
                  <a:pt x="2613656" y="-59585"/>
                  <a:pt x="2864372" y="-2700"/>
                  <a:pt x="3182112" y="0"/>
                </a:cubicBezTo>
                <a:cubicBezTo>
                  <a:pt x="3182760" y="4436"/>
                  <a:pt x="3182087" y="11325"/>
                  <a:pt x="3182112" y="18288"/>
                </a:cubicBezTo>
                <a:cubicBezTo>
                  <a:pt x="2942487" y="15072"/>
                  <a:pt x="2716398" y="15122"/>
                  <a:pt x="2577511" y="18288"/>
                </a:cubicBezTo>
                <a:cubicBezTo>
                  <a:pt x="2427349" y="9546"/>
                  <a:pt x="2116759" y="23913"/>
                  <a:pt x="1972909" y="18288"/>
                </a:cubicBezTo>
                <a:cubicBezTo>
                  <a:pt x="1839235" y="-6881"/>
                  <a:pt x="1610337" y="-8822"/>
                  <a:pt x="1368308" y="18288"/>
                </a:cubicBezTo>
                <a:cubicBezTo>
                  <a:pt x="1126976" y="-6301"/>
                  <a:pt x="974871" y="-298"/>
                  <a:pt x="668244" y="18288"/>
                </a:cubicBezTo>
                <a:cubicBezTo>
                  <a:pt x="348457" y="18152"/>
                  <a:pt x="256623" y="10126"/>
                  <a:pt x="0" y="18288"/>
                </a:cubicBezTo>
                <a:cubicBezTo>
                  <a:pt x="-163" y="14471"/>
                  <a:pt x="-775" y="4083"/>
                  <a:pt x="0" y="0"/>
                </a:cubicBezTo>
                <a:close/>
              </a:path>
              <a:path extrusionOk="0" fill="none" h="18288" stroke="0" w="3182112">
                <a:moveTo>
                  <a:pt x="0" y="0"/>
                </a:moveTo>
                <a:cubicBezTo>
                  <a:pt x="172613" y="-24909"/>
                  <a:pt x="357564" y="-7371"/>
                  <a:pt x="636422" y="0"/>
                </a:cubicBezTo>
                <a:cubicBezTo>
                  <a:pt x="914248" y="21219"/>
                  <a:pt x="954289" y="-16703"/>
                  <a:pt x="1241024" y="0"/>
                </a:cubicBezTo>
                <a:cubicBezTo>
                  <a:pt x="1510135" y="4876"/>
                  <a:pt x="1604042" y="8738"/>
                  <a:pt x="1845625" y="0"/>
                </a:cubicBezTo>
                <a:cubicBezTo>
                  <a:pt x="2080119" y="20374"/>
                  <a:pt x="2361338" y="20926"/>
                  <a:pt x="2545690" y="0"/>
                </a:cubicBezTo>
                <a:cubicBezTo>
                  <a:pt x="2688348" y="-15245"/>
                  <a:pt x="2879596" y="10087"/>
                  <a:pt x="3182112" y="0"/>
                </a:cubicBezTo>
                <a:cubicBezTo>
                  <a:pt x="3182086" y="7514"/>
                  <a:pt x="3181581" y="9795"/>
                  <a:pt x="3182112" y="18288"/>
                </a:cubicBezTo>
                <a:cubicBezTo>
                  <a:pt x="2874389" y="40084"/>
                  <a:pt x="2836312" y="17807"/>
                  <a:pt x="2545690" y="18288"/>
                </a:cubicBezTo>
                <a:cubicBezTo>
                  <a:pt x="2277674" y="-8094"/>
                  <a:pt x="2165305" y="22724"/>
                  <a:pt x="2004731" y="18288"/>
                </a:cubicBezTo>
                <a:cubicBezTo>
                  <a:pt x="1902847" y="2684"/>
                  <a:pt x="1683658" y="-5219"/>
                  <a:pt x="1400129" y="18288"/>
                </a:cubicBezTo>
                <a:cubicBezTo>
                  <a:pt x="1159937" y="27236"/>
                  <a:pt x="1072890" y="15738"/>
                  <a:pt x="795528" y="18288"/>
                </a:cubicBezTo>
                <a:cubicBezTo>
                  <a:pt x="525743" y="26738"/>
                  <a:pt x="338536" y="-12609"/>
                  <a:pt x="0" y="18288"/>
                </a:cubicBezTo>
                <a:cubicBezTo>
                  <a:pt x="-288" y="12007"/>
                  <a:pt x="-714" y="41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4450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custGeom>
                    <a:avLst/>
                    <a:gdLst>
                      <a:gd fmla="*/ 0 w 3182112" name="connsiteX0"/>
                      <a:gd fmla="*/ 0 h 18288" name="connsiteY0"/>
                      <a:gd fmla="*/ 636422 w 3182112" name="connsiteX1"/>
                      <a:gd fmla="*/ 0 h 18288" name="connsiteY1"/>
                      <a:gd fmla="*/ 1241024 w 3182112" name="connsiteX2"/>
                      <a:gd fmla="*/ 0 h 18288" name="connsiteY2"/>
                      <a:gd fmla="*/ 1845625 w 3182112" name="connsiteX3"/>
                      <a:gd fmla="*/ 0 h 18288" name="connsiteY3"/>
                      <a:gd fmla="*/ 2545690 w 3182112" name="connsiteX4"/>
                      <a:gd fmla="*/ 0 h 18288" name="connsiteY4"/>
                      <a:gd fmla="*/ 3182112 w 3182112" name="connsiteX5"/>
                      <a:gd fmla="*/ 0 h 18288" name="connsiteY5"/>
                      <a:gd fmla="*/ 3182112 w 3182112" name="connsiteX6"/>
                      <a:gd fmla="*/ 18288 h 18288" name="connsiteY6"/>
                      <a:gd fmla="*/ 2545690 w 3182112" name="connsiteX7"/>
                      <a:gd fmla="*/ 18288 h 18288" name="connsiteY7"/>
                      <a:gd fmla="*/ 2004731 w 3182112" name="connsiteX8"/>
                      <a:gd fmla="*/ 18288 h 18288" name="connsiteY8"/>
                      <a:gd fmla="*/ 1400129 w 3182112" name="connsiteX9"/>
                      <a:gd fmla="*/ 18288 h 18288" name="connsiteY9"/>
                      <a:gd fmla="*/ 795528 w 3182112" name="connsiteX10"/>
                      <a:gd fmla="*/ 18288 h 18288" name="connsiteY10"/>
                      <a:gd fmla="*/ 0 w 3182112" name="connsiteX11"/>
                      <a:gd fmla="*/ 18288 h 18288" name="connsiteY11"/>
                      <a:gd fmla="*/ 0 w 3182112" name="connsiteX12"/>
                      <a:gd fmla="*/ 0 h 18288" name="connsiteY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b="b" l="l" r="r" t="t"/>
                    <a:pathLst>
                      <a:path extrusionOk="0" fill="none" h="18288" w="3182112">
                        <a:moveTo>
                          <a:pt x="0" y="0"/>
                        </a:moveTo>
                        <a:cubicBezTo>
                          <a:pt x="149227" y="9811"/>
                          <a:pt x="361579" y="-25608"/>
                          <a:pt x="636422" y="0"/>
                        </a:cubicBezTo>
                        <a:cubicBezTo>
                          <a:pt x="911265" y="25608"/>
                          <a:pt x="969922" y="-15588"/>
                          <a:pt x="1241024" y="0"/>
                        </a:cubicBezTo>
                        <a:cubicBezTo>
                          <a:pt x="1512126" y="15588"/>
                          <a:pt x="1611937" y="-6343"/>
                          <a:pt x="1845625" y="0"/>
                        </a:cubicBezTo>
                        <a:cubicBezTo>
                          <a:pt x="2079313" y="6343"/>
                          <a:pt x="2390997" y="18445"/>
                          <a:pt x="2545690" y="0"/>
                        </a:cubicBezTo>
                        <a:cubicBezTo>
                          <a:pt x="2700383" y="-18445"/>
                          <a:pt x="2898553" y="-25854"/>
                          <a:pt x="3182112" y="0"/>
                        </a:cubicBezTo>
                        <a:cubicBezTo>
                          <a:pt x="3181678" y="7551"/>
                          <a:pt x="3181645" y="9822"/>
                          <a:pt x="3182112" y="18288"/>
                        </a:cubicBezTo>
                        <a:cubicBezTo>
                          <a:pt x="2882016" y="32512"/>
                          <a:pt x="2839678" y="15853"/>
                          <a:pt x="2545690" y="18288"/>
                        </a:cubicBezTo>
                        <a:cubicBezTo>
                          <a:pt x="2251702" y="20723"/>
                          <a:pt x="2152589" y="14997"/>
                          <a:pt x="2004731" y="18288"/>
                        </a:cubicBezTo>
                        <a:cubicBezTo>
                          <a:pt x="1856873" y="21579"/>
                          <a:pt x="1653555" y="5080"/>
                          <a:pt x="1400129" y="18288"/>
                        </a:cubicBezTo>
                        <a:cubicBezTo>
                          <a:pt x="1146703" y="31496"/>
                          <a:pt x="1067656" y="18189"/>
                          <a:pt x="795528" y="18288"/>
                        </a:cubicBezTo>
                        <a:cubicBezTo>
                          <a:pt x="523400" y="18387"/>
                          <a:pt x="318441" y="1018"/>
                          <a:pt x="0" y="18288"/>
                        </a:cubicBezTo>
                        <a:cubicBezTo>
                          <a:pt x="60" y="11696"/>
                          <a:pt x="66" y="3758"/>
                          <a:pt x="0" y="0"/>
                        </a:cubicBezTo>
                        <a:close/>
                      </a:path>
                      <a:path extrusionOk="0" h="18288" stroke="0" w="3182112">
                        <a:moveTo>
                          <a:pt x="0" y="0"/>
                        </a:moveTo>
                        <a:cubicBezTo>
                          <a:pt x="215562" y="1260"/>
                          <a:pt x="336090" y="6473"/>
                          <a:pt x="572780" y="0"/>
                        </a:cubicBezTo>
                        <a:cubicBezTo>
                          <a:pt x="809470" y="-6473"/>
                          <a:pt x="1080729" y="-23038"/>
                          <a:pt x="1272845" y="0"/>
                        </a:cubicBezTo>
                        <a:cubicBezTo>
                          <a:pt x="1464961" y="23038"/>
                          <a:pt x="1699922" y="1589"/>
                          <a:pt x="1813804" y="0"/>
                        </a:cubicBezTo>
                        <a:cubicBezTo>
                          <a:pt x="1927686" y="-1589"/>
                          <a:pt x="2116547" y="7184"/>
                          <a:pt x="2354763" y="0"/>
                        </a:cubicBezTo>
                        <a:cubicBezTo>
                          <a:pt x="2592979" y="-7184"/>
                          <a:pt x="2863919" y="3952"/>
                          <a:pt x="3182112" y="0"/>
                        </a:cubicBezTo>
                        <a:cubicBezTo>
                          <a:pt x="3182030" y="4406"/>
                          <a:pt x="3182023" y="9982"/>
                          <a:pt x="3182112" y="18288"/>
                        </a:cubicBezTo>
                        <a:cubicBezTo>
                          <a:pt x="2938288" y="16038"/>
                          <a:pt x="2724925" y="29080"/>
                          <a:pt x="2577511" y="18288"/>
                        </a:cubicBezTo>
                        <a:cubicBezTo>
                          <a:pt x="2430097" y="7496"/>
                          <a:pt x="2119926" y="47706"/>
                          <a:pt x="1972909" y="18288"/>
                        </a:cubicBezTo>
                        <a:cubicBezTo>
                          <a:pt x="1825892" y="-11130"/>
                          <a:pt x="1597470" y="43818"/>
                          <a:pt x="1368308" y="18288"/>
                        </a:cubicBezTo>
                        <a:cubicBezTo>
                          <a:pt x="1139146" y="-7242"/>
                          <a:pt x="981628" y="18679"/>
                          <a:pt x="668244" y="18288"/>
                        </a:cubicBezTo>
                        <a:cubicBezTo>
                          <a:pt x="354860" y="17897"/>
                          <a:pt x="259749" y="211"/>
                          <a:pt x="0" y="18288"/>
                        </a:cubicBezTo>
                        <a:cubicBezTo>
                          <a:pt x="189" y="14288"/>
                          <a:pt x="-703" y="37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7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555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D3C8B-010B-4849-B8F8-C673F273D683}"/>
              </a:ext>
            </a:extLst>
          </p:cNvPr>
          <p:cNvSpPr/>
          <p:nvPr/>
        </p:nvSpPr>
        <p:spPr>
          <a:xfrm>
            <a:off x="2130057" y="2616852"/>
            <a:ext cx="1173126" cy="6902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162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D3C8B-010B-4849-B8F8-C673F273D683}"/>
              </a:ext>
            </a:extLst>
          </p:cNvPr>
          <p:cNvSpPr/>
          <p:nvPr/>
        </p:nvSpPr>
        <p:spPr>
          <a:xfrm>
            <a:off x="2130057" y="2616852"/>
            <a:ext cx="1173126" cy="6902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C66A3-AB39-4E94-8A8B-3354D4F76CEA}"/>
              </a:ext>
            </a:extLst>
          </p:cNvPr>
          <p:cNvSpPr/>
          <p:nvPr/>
        </p:nvSpPr>
        <p:spPr>
          <a:xfrm>
            <a:off x="1676396" y="4593882"/>
            <a:ext cx="1173126" cy="54431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F6752-6A0D-4A8C-B661-E491A819C680}"/>
              </a:ext>
            </a:extLst>
          </p:cNvPr>
          <p:cNvSpPr txBox="1"/>
          <p:nvPr/>
        </p:nvSpPr>
        <p:spPr>
          <a:xfrm>
            <a:off x="2441941" y="3328964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603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D3C8B-010B-4849-B8F8-C673F273D683}"/>
              </a:ext>
            </a:extLst>
          </p:cNvPr>
          <p:cNvSpPr/>
          <p:nvPr/>
        </p:nvSpPr>
        <p:spPr>
          <a:xfrm>
            <a:off x="2130057" y="2616852"/>
            <a:ext cx="1173126" cy="6902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C66A3-AB39-4E94-8A8B-3354D4F76CEA}"/>
              </a:ext>
            </a:extLst>
          </p:cNvPr>
          <p:cNvSpPr/>
          <p:nvPr/>
        </p:nvSpPr>
        <p:spPr>
          <a:xfrm>
            <a:off x="1676396" y="4593882"/>
            <a:ext cx="1173126" cy="54431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F6752-6A0D-4A8C-B661-E491A819C680}"/>
              </a:ext>
            </a:extLst>
          </p:cNvPr>
          <p:cNvSpPr txBox="1"/>
          <p:nvPr/>
        </p:nvSpPr>
        <p:spPr>
          <a:xfrm>
            <a:off x="2441941" y="3328964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2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5DC8E-FE1E-4BD8-BF39-CA42E538188E}"/>
              </a:ext>
            </a:extLst>
          </p:cNvPr>
          <p:cNvSpPr/>
          <p:nvPr/>
        </p:nvSpPr>
        <p:spPr>
          <a:xfrm>
            <a:off x="4022648" y="4640972"/>
            <a:ext cx="1353880" cy="45013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MetaStore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B996E-9A7F-4204-BED0-78DF68FF53F1}"/>
              </a:ext>
            </a:extLst>
          </p:cNvPr>
          <p:cNvSpPr txBox="1"/>
          <p:nvPr/>
        </p:nvSpPr>
        <p:spPr>
          <a:xfrm>
            <a:off x="2849522" y="4681372"/>
            <a:ext cx="135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3 &amp; 4</a:t>
            </a:r>
            <a:r>
              <a:rPr lang="en-US" sz="1800" b="0" i="0" dirty="0">
                <a:effectLst/>
              </a:rPr>
              <a:t>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0935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D3C8B-010B-4849-B8F8-C673F273D683}"/>
              </a:ext>
            </a:extLst>
          </p:cNvPr>
          <p:cNvSpPr/>
          <p:nvPr/>
        </p:nvSpPr>
        <p:spPr>
          <a:xfrm>
            <a:off x="2130057" y="2616852"/>
            <a:ext cx="1173126" cy="6902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C66A3-AB39-4E94-8A8B-3354D4F76CEA}"/>
              </a:ext>
            </a:extLst>
          </p:cNvPr>
          <p:cNvSpPr/>
          <p:nvPr/>
        </p:nvSpPr>
        <p:spPr>
          <a:xfrm>
            <a:off x="1676396" y="4593882"/>
            <a:ext cx="1173126" cy="54431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F6752-6A0D-4A8C-B661-E491A819C680}"/>
              </a:ext>
            </a:extLst>
          </p:cNvPr>
          <p:cNvSpPr txBox="1"/>
          <p:nvPr/>
        </p:nvSpPr>
        <p:spPr>
          <a:xfrm>
            <a:off x="2441941" y="3328964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2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5DC8E-FE1E-4BD8-BF39-CA42E538188E}"/>
              </a:ext>
            </a:extLst>
          </p:cNvPr>
          <p:cNvSpPr/>
          <p:nvPr/>
        </p:nvSpPr>
        <p:spPr>
          <a:xfrm>
            <a:off x="4022648" y="4640972"/>
            <a:ext cx="1353880" cy="45013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MetaStore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B996E-9A7F-4204-BED0-78DF68FF53F1}"/>
              </a:ext>
            </a:extLst>
          </p:cNvPr>
          <p:cNvSpPr txBox="1"/>
          <p:nvPr/>
        </p:nvSpPr>
        <p:spPr>
          <a:xfrm>
            <a:off x="2849522" y="4681372"/>
            <a:ext cx="135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3 &amp; 4</a:t>
            </a:r>
            <a:r>
              <a:rPr lang="en-US" sz="1800" b="0" i="0" dirty="0">
                <a:effectLst/>
              </a:rPr>
              <a:t>: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0B1B5-3DC2-4C64-A334-1B0FF97AFB6B}"/>
              </a:ext>
            </a:extLst>
          </p:cNvPr>
          <p:cNvSpPr txBox="1"/>
          <p:nvPr/>
        </p:nvSpPr>
        <p:spPr>
          <a:xfrm>
            <a:off x="1493867" y="4271640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167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D3C8B-010B-4849-B8F8-C673F273D683}"/>
              </a:ext>
            </a:extLst>
          </p:cNvPr>
          <p:cNvSpPr/>
          <p:nvPr/>
        </p:nvSpPr>
        <p:spPr>
          <a:xfrm>
            <a:off x="2130057" y="2616852"/>
            <a:ext cx="1173126" cy="6902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C66A3-AB39-4E94-8A8B-3354D4F76CEA}"/>
              </a:ext>
            </a:extLst>
          </p:cNvPr>
          <p:cNvSpPr/>
          <p:nvPr/>
        </p:nvSpPr>
        <p:spPr>
          <a:xfrm>
            <a:off x="1676396" y="4593882"/>
            <a:ext cx="1173126" cy="54431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F6752-6A0D-4A8C-B661-E491A819C680}"/>
              </a:ext>
            </a:extLst>
          </p:cNvPr>
          <p:cNvSpPr txBox="1"/>
          <p:nvPr/>
        </p:nvSpPr>
        <p:spPr>
          <a:xfrm>
            <a:off x="2441941" y="3328964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2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5DC8E-FE1E-4BD8-BF39-CA42E538188E}"/>
              </a:ext>
            </a:extLst>
          </p:cNvPr>
          <p:cNvSpPr/>
          <p:nvPr/>
        </p:nvSpPr>
        <p:spPr>
          <a:xfrm>
            <a:off x="4022648" y="4640972"/>
            <a:ext cx="1353880" cy="45013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MetaStore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B996E-9A7F-4204-BED0-78DF68FF53F1}"/>
              </a:ext>
            </a:extLst>
          </p:cNvPr>
          <p:cNvSpPr txBox="1"/>
          <p:nvPr/>
        </p:nvSpPr>
        <p:spPr>
          <a:xfrm>
            <a:off x="2849522" y="4681372"/>
            <a:ext cx="135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3 &amp; 4</a:t>
            </a:r>
            <a:r>
              <a:rPr lang="en-US" sz="1800" b="0" i="0" dirty="0">
                <a:effectLst/>
              </a:rPr>
              <a:t>: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0B1B5-3DC2-4C64-A334-1B0FF97AFB6B}"/>
              </a:ext>
            </a:extLst>
          </p:cNvPr>
          <p:cNvSpPr txBox="1"/>
          <p:nvPr/>
        </p:nvSpPr>
        <p:spPr>
          <a:xfrm>
            <a:off x="1493867" y="4271640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5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7B152-D45C-48D4-9BEF-F48CB64EA8D6}"/>
              </a:ext>
            </a:extLst>
          </p:cNvPr>
          <p:cNvSpPr/>
          <p:nvPr/>
        </p:nvSpPr>
        <p:spPr>
          <a:xfrm>
            <a:off x="3670010" y="1510407"/>
            <a:ext cx="1263497" cy="56294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 Engine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C522A-2C8A-4E20-8F6C-9FA9C08AE1A7}"/>
              </a:ext>
            </a:extLst>
          </p:cNvPr>
          <p:cNvSpPr txBox="1"/>
          <p:nvPr/>
        </p:nvSpPr>
        <p:spPr>
          <a:xfrm>
            <a:off x="2500426" y="2246861"/>
            <a:ext cx="802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135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1886A5-9066-4A2E-9276-45BA79CD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HIVE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EAD740-FF88-4A86-9F2F-7269BA852F62}"/>
              </a:ext>
            </a:extLst>
          </p:cNvPr>
          <p:cNvSpPr/>
          <p:nvPr/>
        </p:nvSpPr>
        <p:spPr>
          <a:xfrm>
            <a:off x="170121" y="2601064"/>
            <a:ext cx="1173126" cy="73755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D3C8B-010B-4849-B8F8-C673F273D683}"/>
              </a:ext>
            </a:extLst>
          </p:cNvPr>
          <p:cNvSpPr/>
          <p:nvPr/>
        </p:nvSpPr>
        <p:spPr>
          <a:xfrm>
            <a:off x="2130057" y="2616852"/>
            <a:ext cx="1173126" cy="6902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CB6D2-4534-464F-B56C-D121983D38FE}"/>
              </a:ext>
            </a:extLst>
          </p:cNvPr>
          <p:cNvSpPr txBox="1"/>
          <p:nvPr/>
        </p:nvSpPr>
        <p:spPr>
          <a:xfrm>
            <a:off x="1343247" y="2591646"/>
            <a:ext cx="790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1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C66A3-AB39-4E94-8A8B-3354D4F76CEA}"/>
              </a:ext>
            </a:extLst>
          </p:cNvPr>
          <p:cNvSpPr/>
          <p:nvPr/>
        </p:nvSpPr>
        <p:spPr>
          <a:xfrm>
            <a:off x="1676396" y="4593882"/>
            <a:ext cx="1173126" cy="54431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Complier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F6752-6A0D-4A8C-B661-E491A819C680}"/>
              </a:ext>
            </a:extLst>
          </p:cNvPr>
          <p:cNvSpPr txBox="1"/>
          <p:nvPr/>
        </p:nvSpPr>
        <p:spPr>
          <a:xfrm>
            <a:off x="2441941" y="3328964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2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5DC8E-FE1E-4BD8-BF39-CA42E538188E}"/>
              </a:ext>
            </a:extLst>
          </p:cNvPr>
          <p:cNvSpPr/>
          <p:nvPr/>
        </p:nvSpPr>
        <p:spPr>
          <a:xfrm>
            <a:off x="4022648" y="4640972"/>
            <a:ext cx="1353880" cy="45013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MetaStore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B996E-9A7F-4204-BED0-78DF68FF53F1}"/>
              </a:ext>
            </a:extLst>
          </p:cNvPr>
          <p:cNvSpPr txBox="1"/>
          <p:nvPr/>
        </p:nvSpPr>
        <p:spPr>
          <a:xfrm>
            <a:off x="2849522" y="4681372"/>
            <a:ext cx="135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3 &amp; 4</a:t>
            </a:r>
            <a:r>
              <a:rPr lang="en-US" sz="1800" b="0" i="0" dirty="0">
                <a:effectLst/>
              </a:rPr>
              <a:t>: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20B1B5-3DC2-4C64-A334-1B0FF97AFB6B}"/>
              </a:ext>
            </a:extLst>
          </p:cNvPr>
          <p:cNvSpPr txBox="1"/>
          <p:nvPr/>
        </p:nvSpPr>
        <p:spPr>
          <a:xfrm>
            <a:off x="1493867" y="4271640"/>
            <a:ext cx="81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5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7B152-D45C-48D4-9BEF-F48CB64EA8D6}"/>
              </a:ext>
            </a:extLst>
          </p:cNvPr>
          <p:cNvSpPr/>
          <p:nvPr/>
        </p:nvSpPr>
        <p:spPr>
          <a:xfrm>
            <a:off x="3670010" y="1510407"/>
            <a:ext cx="1263497" cy="56294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 Engine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C522A-2C8A-4E20-8F6C-9FA9C08AE1A7}"/>
              </a:ext>
            </a:extLst>
          </p:cNvPr>
          <p:cNvSpPr txBox="1"/>
          <p:nvPr/>
        </p:nvSpPr>
        <p:spPr>
          <a:xfrm>
            <a:off x="2500426" y="2246861"/>
            <a:ext cx="802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</a:t>
            </a:r>
            <a:r>
              <a:rPr lang="en-US" sz="1800" b="0" i="0" dirty="0">
                <a:effectLst/>
              </a:rPr>
              <a:t> 6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3BDDB0-78F6-4015-B14B-41533E2D6667}"/>
              </a:ext>
            </a:extLst>
          </p:cNvPr>
          <p:cNvSpPr/>
          <p:nvPr/>
        </p:nvSpPr>
        <p:spPr>
          <a:xfrm>
            <a:off x="5522724" y="1945231"/>
            <a:ext cx="3451155" cy="46469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CDFC5E-43BF-4778-9B64-C712E8041670}"/>
              </a:ext>
            </a:extLst>
          </p:cNvPr>
          <p:cNvSpPr/>
          <p:nvPr/>
        </p:nvSpPr>
        <p:spPr>
          <a:xfrm>
            <a:off x="6415863" y="2103112"/>
            <a:ext cx="1683488" cy="457200"/>
          </a:xfrm>
          <a:prstGeom prst="round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Tracker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68BDBA-DFE0-4305-AEE6-469F09C8E1B3}"/>
              </a:ext>
            </a:extLst>
          </p:cNvPr>
          <p:cNvSpPr/>
          <p:nvPr/>
        </p:nvSpPr>
        <p:spPr>
          <a:xfrm>
            <a:off x="5794744" y="2591646"/>
            <a:ext cx="2930155" cy="1374298"/>
          </a:xfrm>
          <a:prstGeom prst="round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Task Tracker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8343D5-C62F-4105-997F-A66990413B95}"/>
              </a:ext>
            </a:extLst>
          </p:cNvPr>
          <p:cNvSpPr/>
          <p:nvPr/>
        </p:nvSpPr>
        <p:spPr>
          <a:xfrm>
            <a:off x="5890438" y="3328964"/>
            <a:ext cx="1180214" cy="44559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0722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3B1772-1685-41F2-96A1-2EBC86B285A6}"/>
              </a:ext>
            </a:extLst>
          </p:cNvPr>
          <p:cNvSpPr/>
          <p:nvPr/>
        </p:nvSpPr>
        <p:spPr>
          <a:xfrm>
            <a:off x="7259821" y="3343140"/>
            <a:ext cx="1180214" cy="44559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Reduce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A11EB-D81A-43A8-A769-A20665E81571}"/>
              </a:ext>
            </a:extLst>
          </p:cNvPr>
          <p:cNvSpPr/>
          <p:nvPr/>
        </p:nvSpPr>
        <p:spPr>
          <a:xfrm>
            <a:off x="5794744" y="4866037"/>
            <a:ext cx="1275908" cy="918075"/>
          </a:xfrm>
          <a:prstGeom prst="round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Name Node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C0F095-8D83-448D-8683-0648884C006B}"/>
              </a:ext>
            </a:extLst>
          </p:cNvPr>
          <p:cNvSpPr/>
          <p:nvPr/>
        </p:nvSpPr>
        <p:spPr>
          <a:xfrm>
            <a:off x="7432158" y="4763386"/>
            <a:ext cx="1095151" cy="776177"/>
          </a:xfrm>
          <a:prstGeom prst="rect">
            <a:avLst/>
          </a:prstGeom>
          <a:solidFill>
            <a:srgbClr val="44525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4117B0-9823-43F4-89EE-244AFF70B479}"/>
              </a:ext>
            </a:extLst>
          </p:cNvPr>
          <p:cNvSpPr/>
          <p:nvPr/>
        </p:nvSpPr>
        <p:spPr>
          <a:xfrm>
            <a:off x="7584558" y="4915786"/>
            <a:ext cx="1095151" cy="776177"/>
          </a:xfrm>
          <a:prstGeom prst="rect">
            <a:avLst/>
          </a:prstGeom>
          <a:solidFill>
            <a:srgbClr val="44525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FB88F9-2EE0-4299-B279-B5D2E8A2DA19}"/>
              </a:ext>
            </a:extLst>
          </p:cNvPr>
          <p:cNvSpPr/>
          <p:nvPr/>
        </p:nvSpPr>
        <p:spPr>
          <a:xfrm>
            <a:off x="7736958" y="5068186"/>
            <a:ext cx="1095151" cy="776177"/>
          </a:xfrm>
          <a:prstGeom prst="rect">
            <a:avLst/>
          </a:prstGeom>
          <a:solidFill>
            <a:srgbClr val="44525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Node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0A8B3F-2760-4575-8F33-1BDAD0D3A291}"/>
              </a:ext>
            </a:extLst>
          </p:cNvPr>
          <p:cNvSpPr/>
          <p:nvPr/>
        </p:nvSpPr>
        <p:spPr>
          <a:xfrm>
            <a:off x="6447760" y="1436526"/>
            <a:ext cx="1651591" cy="38603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Hadoop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D82429-9782-4784-AFFD-594A433E38E6}"/>
              </a:ext>
            </a:extLst>
          </p:cNvPr>
          <p:cNvSpPr txBox="1"/>
          <p:nvPr/>
        </p:nvSpPr>
        <p:spPr>
          <a:xfrm>
            <a:off x="5075277" y="1569783"/>
            <a:ext cx="815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effectLst/>
              </a:rPr>
              <a:t>Step 7 and 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449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F12BEF-1EEC-4327-AFA0-DA4C11A40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48263"/>
            <a:ext cx="8386537" cy="5004884"/>
          </a:xfrm>
        </p:spPr>
        <p:txBody>
          <a:bodyPr>
            <a:normAutofit fontScale="92500"/>
          </a:bodyPr>
          <a:lstStyle/>
          <a:p>
            <a:pPr algn="just"/>
            <a:r>
              <a:rPr lang="en-US" b="0" i="0" dirty="0">
                <a:effectLst/>
              </a:rPr>
              <a:t>Submit SQL queries and perform MapReduce jobs.</a:t>
            </a:r>
          </a:p>
          <a:p>
            <a:pPr algn="just"/>
            <a:r>
              <a:rPr lang="en-US" b="0" i="0" dirty="0">
                <a:effectLst/>
              </a:rPr>
              <a:t>Hive has its own language, called HiveQL (HQL). </a:t>
            </a:r>
          </a:p>
          <a:p>
            <a:pPr algn="just"/>
            <a:r>
              <a:rPr lang="en-US" b="0" i="0" dirty="0">
                <a:effectLst/>
              </a:rPr>
              <a:t>It is similar to SQL. </a:t>
            </a:r>
          </a:p>
          <a:p>
            <a:pPr algn="just"/>
            <a:r>
              <a:rPr lang="en-US" b="0" i="0" dirty="0">
                <a:effectLst/>
              </a:rPr>
              <a:t>It translates SQL-like queries into MapReduce jobs.</a:t>
            </a:r>
          </a:p>
          <a:p>
            <a:pPr algn="just"/>
            <a:r>
              <a:rPr lang="en-US" dirty="0"/>
              <a:t>D</a:t>
            </a:r>
            <a:r>
              <a:rPr lang="en-US" b="0" i="0" dirty="0">
                <a:effectLst/>
              </a:rPr>
              <a:t>on’t need to learn Java to work with Hadoop Hive.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D1AE76-9ED2-452C-9299-20D62B94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What is Hive in Hadoop?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3264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1586</TotalTime>
  <Words>592</Words>
  <Application>Microsoft Office PowerPoint</Application>
  <PresentationFormat>On-screen Show (4:3)</PresentationFormat>
  <Paragraphs>167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Hive</vt:lpstr>
      <vt:lpstr>Hive</vt:lpstr>
      <vt:lpstr>Hive</vt:lpstr>
      <vt:lpstr>Hive</vt:lpstr>
      <vt:lpstr>Hive</vt:lpstr>
      <vt:lpstr>PowerPoint Presentation</vt:lpstr>
      <vt:lpstr>Architecture of HIVE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 Architecture of Hive </vt:lpstr>
      <vt:lpstr>Components of HIVE</vt:lpstr>
      <vt:lpstr>Working of HIVE</vt:lpstr>
      <vt:lpstr>Working of HIVE</vt:lpstr>
      <vt:lpstr>Working of HIVE</vt:lpstr>
      <vt:lpstr>Working of HIVE</vt:lpstr>
      <vt:lpstr>Working of HIVE</vt:lpstr>
      <vt:lpstr>Working of HIVE</vt:lpstr>
      <vt:lpstr>Working of HIVE</vt:lpstr>
      <vt:lpstr>Working of HIVE</vt:lpstr>
      <vt:lpstr> What is Hive in Hadoop?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193</cp:revision>
  <dcterms:created xsi:type="dcterms:W3CDTF">2021-05-13T17:45:44Z</dcterms:created>
  <dcterms:modified xsi:type="dcterms:W3CDTF">2021-09-07T08:37:53Z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805667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