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handoutMaster+xml" PartName="/ppt/handoutMasters/handout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59"/>
  </p:handoutMasterIdLst>
  <p:sldIdLst>
    <p:sldId id="266" r:id="rId2"/>
    <p:sldId id="261" r:id="rId3"/>
    <p:sldId id="270" r:id="rId4"/>
    <p:sldId id="276" r:id="rId5"/>
    <p:sldId id="271" r:id="rId6"/>
    <p:sldId id="272" r:id="rId7"/>
    <p:sldId id="273" r:id="rId8"/>
    <p:sldId id="275" r:id="rId9"/>
    <p:sldId id="278" r:id="rId10"/>
    <p:sldId id="277" r:id="rId11"/>
    <p:sldId id="279" r:id="rId12"/>
    <p:sldId id="267" r:id="rId13"/>
    <p:sldId id="281" r:id="rId14"/>
    <p:sldId id="282" r:id="rId15"/>
    <p:sldId id="283" r:id="rId16"/>
    <p:sldId id="286" r:id="rId17"/>
    <p:sldId id="287" r:id="rId18"/>
    <p:sldId id="288" r:id="rId19"/>
    <p:sldId id="290" r:id="rId20"/>
    <p:sldId id="291" r:id="rId21"/>
    <p:sldId id="295" r:id="rId22"/>
    <p:sldId id="293" r:id="rId23"/>
    <p:sldId id="298" r:id="rId24"/>
    <p:sldId id="348" r:id="rId25"/>
    <p:sldId id="349" r:id="rId26"/>
    <p:sldId id="350" r:id="rId27"/>
    <p:sldId id="351" r:id="rId28"/>
    <p:sldId id="311" r:id="rId29"/>
    <p:sldId id="312" r:id="rId30"/>
    <p:sldId id="313" r:id="rId31"/>
    <p:sldId id="314" r:id="rId32"/>
    <p:sldId id="315" r:id="rId33"/>
    <p:sldId id="318" r:id="rId34"/>
    <p:sldId id="319" r:id="rId35"/>
    <p:sldId id="325" r:id="rId36"/>
    <p:sldId id="322" r:id="rId37"/>
    <p:sldId id="324" r:id="rId38"/>
    <p:sldId id="327" r:id="rId39"/>
    <p:sldId id="329" r:id="rId40"/>
    <p:sldId id="330" r:id="rId41"/>
    <p:sldId id="331" r:id="rId42"/>
    <p:sldId id="307" r:id="rId43"/>
    <p:sldId id="309" r:id="rId44"/>
    <p:sldId id="333" r:id="rId45"/>
    <p:sldId id="352" r:id="rId46"/>
    <p:sldId id="334" r:id="rId47"/>
    <p:sldId id="336" r:id="rId48"/>
    <p:sldId id="353" r:id="rId49"/>
    <p:sldId id="339" r:id="rId50"/>
    <p:sldId id="340" r:id="rId51"/>
    <p:sldId id="341" r:id="rId52"/>
    <p:sldId id="342" r:id="rId53"/>
    <p:sldId id="344" r:id="rId54"/>
    <p:sldId id="345" r:id="rId55"/>
    <p:sldId id="346" r:id="rId56"/>
    <p:sldId id="347" r:id="rId57"/>
    <p:sldId id="263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jni Bhalla" initials="RB" lastIdx="1" clrIdx="0">
    <p:extLst>
      <p:ext uri="{19B8F6BF-5375-455C-9EA6-DF929625EA0E}">
        <p15:presenceInfo xmlns:p15="http://schemas.microsoft.com/office/powerpoint/2012/main" userId="ae7d501c28f527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4F7"/>
    <a:srgbClr val="44525A"/>
    <a:srgbClr val="618495"/>
    <a:srgbClr val="44525B"/>
    <a:srgbClr val="072235"/>
    <a:srgbClr val="453A38"/>
    <a:srgbClr val="B8B192"/>
    <a:srgbClr val="473B39"/>
    <a:srgbClr val="302C31"/>
    <a:srgbClr val="63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3" autoAdjust="0"/>
    <p:restoredTop sz="94660"/>
  </p:normalViewPr>
  <p:slideViewPr>
    <p:cSldViewPr snapToGrid="0">
      <p:cViewPr>
        <p:scale>
          <a:sx n="66" d="100"/>
          <a:sy n="66" d="100"/>
        </p:scale>
        <p:origin x="104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96C6D2-0306-48AA-9474-A2AEF5A06BC9}" type="doc">
      <dgm:prSet loTypeId="urn:microsoft.com/office/officeart/2008/layout/HorizontalMultiLevelHierarchy" loCatId="hierarchy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BD20489E-F33C-4B63-9E5F-E8DA58F3B69A}">
      <dgm:prSet/>
      <dgm:spPr/>
      <dgm:t>
        <a:bodyPr/>
        <a:lstStyle/>
        <a:p>
          <a:r>
            <a:rPr lang="en-US" b="0" i="0" dirty="0">
              <a:effectLst/>
              <a:latin typeface="Inter"/>
            </a:rPr>
            <a:t>There are two styles of distributing data:</a:t>
          </a:r>
        </a:p>
      </dgm:t>
    </dgm:pt>
    <dgm:pt modelId="{7B55D22F-C125-4270-B68A-6E3BCC050FF1}" type="parTrans" cxnId="{B11D017F-A240-4C4B-B2FA-B2A58F3FD4BD}">
      <dgm:prSet/>
      <dgm:spPr/>
      <dgm:t>
        <a:bodyPr/>
        <a:lstStyle/>
        <a:p>
          <a:endParaRPr lang="en-IN"/>
        </a:p>
      </dgm:t>
    </dgm:pt>
    <dgm:pt modelId="{C691C585-0EA5-4DD6-B6FA-4ED8BEAFADD2}" type="sibTrans" cxnId="{B11D017F-A240-4C4B-B2FA-B2A58F3FD4BD}">
      <dgm:prSet/>
      <dgm:spPr/>
      <dgm:t>
        <a:bodyPr/>
        <a:lstStyle/>
        <a:p>
          <a:endParaRPr lang="en-IN"/>
        </a:p>
      </dgm:t>
    </dgm:pt>
    <dgm:pt modelId="{435A52CC-A9A5-48ED-9FDD-BA7A1B395B83}">
      <dgm:prSet/>
      <dgm:spPr/>
      <dgm:t>
        <a:bodyPr/>
        <a:lstStyle/>
        <a:p>
          <a:r>
            <a:rPr lang="en-IN" b="0" i="0">
              <a:effectLst/>
              <a:latin typeface="Inter"/>
            </a:rPr>
            <a:t>Sharding:</a:t>
          </a:r>
          <a:endParaRPr lang="en-US" dirty="0">
            <a:latin typeface="Inter"/>
          </a:endParaRPr>
        </a:p>
      </dgm:t>
    </dgm:pt>
    <dgm:pt modelId="{57D57764-741B-4F49-857B-E6550D09F76A}" type="parTrans" cxnId="{DB64AFD8-24EE-4B96-834C-C3F8626561A8}">
      <dgm:prSet/>
      <dgm:spPr/>
      <dgm:t>
        <a:bodyPr/>
        <a:lstStyle/>
        <a:p>
          <a:endParaRPr lang="en-IN"/>
        </a:p>
      </dgm:t>
    </dgm:pt>
    <dgm:pt modelId="{5FFB5390-5E40-4FC4-910D-84CCD84F6F19}" type="sibTrans" cxnId="{DB64AFD8-24EE-4B96-834C-C3F8626561A8}">
      <dgm:prSet/>
      <dgm:spPr/>
      <dgm:t>
        <a:bodyPr/>
        <a:lstStyle/>
        <a:p>
          <a:endParaRPr lang="en-IN"/>
        </a:p>
      </dgm:t>
    </dgm:pt>
    <dgm:pt modelId="{6DA78143-2067-4B8F-A2B7-9BD2494E2CD0}">
      <dgm:prSet/>
      <dgm:spPr/>
      <dgm:t>
        <a:bodyPr/>
        <a:lstStyle/>
        <a:p>
          <a:r>
            <a:rPr lang="en-IN" b="0" i="0" dirty="0">
              <a:effectLst/>
              <a:latin typeface="Inter"/>
            </a:rPr>
            <a:t>Replication</a:t>
          </a:r>
          <a:endParaRPr lang="en-US" dirty="0"/>
        </a:p>
      </dgm:t>
    </dgm:pt>
    <dgm:pt modelId="{88E841B8-4566-4073-8EBA-F3997F532A02}" type="parTrans" cxnId="{A97EF85E-7AE1-4403-9264-8C35FE868A42}">
      <dgm:prSet/>
      <dgm:spPr/>
      <dgm:t>
        <a:bodyPr/>
        <a:lstStyle/>
        <a:p>
          <a:endParaRPr lang="en-IN"/>
        </a:p>
      </dgm:t>
    </dgm:pt>
    <dgm:pt modelId="{78563BC0-B012-4388-8AD2-A3D0FF41E881}" type="sibTrans" cxnId="{A97EF85E-7AE1-4403-9264-8C35FE868A42}">
      <dgm:prSet/>
      <dgm:spPr/>
      <dgm:t>
        <a:bodyPr/>
        <a:lstStyle/>
        <a:p>
          <a:endParaRPr lang="en-IN"/>
        </a:p>
      </dgm:t>
    </dgm:pt>
    <dgm:pt modelId="{5B5C881E-AF77-42CF-A68A-FBFFE8B3FD64}">
      <dgm:prSet/>
      <dgm:spPr/>
      <dgm:t>
        <a:bodyPr/>
        <a:lstStyle/>
        <a:p>
          <a:r>
            <a:rPr lang="en-US" dirty="0"/>
            <a:t>Master –slave </a:t>
          </a:r>
        </a:p>
      </dgm:t>
    </dgm:pt>
    <dgm:pt modelId="{7E4F1379-7ECA-4585-A898-29DACFE93BE0}" type="parTrans" cxnId="{4024B35B-08F0-4A4C-A945-43CF7FE1CFBF}">
      <dgm:prSet/>
      <dgm:spPr/>
      <dgm:t>
        <a:bodyPr/>
        <a:lstStyle/>
        <a:p>
          <a:endParaRPr lang="en-IN"/>
        </a:p>
      </dgm:t>
    </dgm:pt>
    <dgm:pt modelId="{581D4E89-AF0C-4A30-BEA3-C6B72DF49E41}" type="sibTrans" cxnId="{4024B35B-08F0-4A4C-A945-43CF7FE1CFBF}">
      <dgm:prSet/>
      <dgm:spPr/>
      <dgm:t>
        <a:bodyPr/>
        <a:lstStyle/>
        <a:p>
          <a:endParaRPr lang="en-IN"/>
        </a:p>
      </dgm:t>
    </dgm:pt>
    <dgm:pt modelId="{C369588E-E7F2-4BE6-8B29-D6838EE3E23B}">
      <dgm:prSet/>
      <dgm:spPr/>
      <dgm:t>
        <a:bodyPr/>
        <a:lstStyle/>
        <a:p>
          <a:r>
            <a:rPr lang="en-US" dirty="0"/>
            <a:t>Peer-to-peer</a:t>
          </a:r>
        </a:p>
      </dgm:t>
    </dgm:pt>
    <dgm:pt modelId="{6660B295-D9FC-483C-9C25-460AC22FB743}" type="parTrans" cxnId="{B7B84F70-B23B-4BF7-BFDD-592462BD092C}">
      <dgm:prSet/>
      <dgm:spPr/>
      <dgm:t>
        <a:bodyPr/>
        <a:lstStyle/>
        <a:p>
          <a:endParaRPr lang="en-IN"/>
        </a:p>
      </dgm:t>
    </dgm:pt>
    <dgm:pt modelId="{D650ACF4-539A-436F-80FD-C88909B00F5C}" type="sibTrans" cxnId="{B7B84F70-B23B-4BF7-BFDD-592462BD092C}">
      <dgm:prSet/>
      <dgm:spPr/>
      <dgm:t>
        <a:bodyPr/>
        <a:lstStyle/>
        <a:p>
          <a:endParaRPr lang="en-IN"/>
        </a:p>
      </dgm:t>
    </dgm:pt>
    <dgm:pt modelId="{0B4DAFA7-A5A9-4F25-8DF3-7FE3E59ECB18}" type="pres">
      <dgm:prSet presAssocID="{1196C6D2-0306-48AA-9474-A2AEF5A06BC9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ABA096D-47EA-4FC0-9C1C-401628B5FD8E}" type="pres">
      <dgm:prSet presAssocID="{BD20489E-F33C-4B63-9E5F-E8DA58F3B69A}" presName="root1" presStyleCnt="0"/>
      <dgm:spPr/>
    </dgm:pt>
    <dgm:pt modelId="{6151140A-A349-4F7F-9AD7-C81C61D2CA58}" type="pres">
      <dgm:prSet presAssocID="{BD20489E-F33C-4B63-9E5F-E8DA58F3B69A}" presName="LevelOneTextNode" presStyleLbl="node0" presStyleIdx="0" presStyleCnt="1">
        <dgm:presLayoutVars>
          <dgm:chPref val="3"/>
        </dgm:presLayoutVars>
      </dgm:prSet>
      <dgm:spPr/>
    </dgm:pt>
    <dgm:pt modelId="{BAA18F36-7386-4E15-B085-A66C33316CEB}" type="pres">
      <dgm:prSet presAssocID="{BD20489E-F33C-4B63-9E5F-E8DA58F3B69A}" presName="level2hierChild" presStyleCnt="0"/>
      <dgm:spPr/>
    </dgm:pt>
    <dgm:pt modelId="{D87C905C-F8E3-442C-9805-BDB7F9EDFACE}" type="pres">
      <dgm:prSet presAssocID="{57D57764-741B-4F49-857B-E6550D09F76A}" presName="conn2-1" presStyleLbl="parChTrans1D2" presStyleIdx="0" presStyleCnt="2"/>
      <dgm:spPr/>
    </dgm:pt>
    <dgm:pt modelId="{F7B1895D-C617-445B-B436-D5E9DB8F341C}" type="pres">
      <dgm:prSet presAssocID="{57D57764-741B-4F49-857B-E6550D09F76A}" presName="connTx" presStyleLbl="parChTrans1D2" presStyleIdx="0" presStyleCnt="2"/>
      <dgm:spPr/>
    </dgm:pt>
    <dgm:pt modelId="{0086C589-765B-4634-B65E-BCFC1A3BFA0E}" type="pres">
      <dgm:prSet presAssocID="{435A52CC-A9A5-48ED-9FDD-BA7A1B395B83}" presName="root2" presStyleCnt="0"/>
      <dgm:spPr/>
    </dgm:pt>
    <dgm:pt modelId="{FF546190-C3EC-4E4D-8920-C46DD960FFD7}" type="pres">
      <dgm:prSet presAssocID="{435A52CC-A9A5-48ED-9FDD-BA7A1B395B83}" presName="LevelTwoTextNode" presStyleLbl="node2" presStyleIdx="0" presStyleCnt="2">
        <dgm:presLayoutVars>
          <dgm:chPref val="3"/>
        </dgm:presLayoutVars>
      </dgm:prSet>
      <dgm:spPr/>
    </dgm:pt>
    <dgm:pt modelId="{86146666-8525-421C-AF0B-FBC6CAD1FD52}" type="pres">
      <dgm:prSet presAssocID="{435A52CC-A9A5-48ED-9FDD-BA7A1B395B83}" presName="level3hierChild" presStyleCnt="0"/>
      <dgm:spPr/>
    </dgm:pt>
    <dgm:pt modelId="{3522338D-F7B6-4509-B1D4-4EAC3900ADF8}" type="pres">
      <dgm:prSet presAssocID="{88E841B8-4566-4073-8EBA-F3997F532A02}" presName="conn2-1" presStyleLbl="parChTrans1D2" presStyleIdx="1" presStyleCnt="2"/>
      <dgm:spPr/>
    </dgm:pt>
    <dgm:pt modelId="{E0B903D2-465F-470F-BF2E-24423B6F47D6}" type="pres">
      <dgm:prSet presAssocID="{88E841B8-4566-4073-8EBA-F3997F532A02}" presName="connTx" presStyleLbl="parChTrans1D2" presStyleIdx="1" presStyleCnt="2"/>
      <dgm:spPr/>
    </dgm:pt>
    <dgm:pt modelId="{DCBAB909-7427-4643-A13E-4B29758DF1EF}" type="pres">
      <dgm:prSet presAssocID="{6DA78143-2067-4B8F-A2B7-9BD2494E2CD0}" presName="root2" presStyleCnt="0"/>
      <dgm:spPr/>
    </dgm:pt>
    <dgm:pt modelId="{21333FF0-B820-40E7-9FC8-15BB896B7D17}" type="pres">
      <dgm:prSet presAssocID="{6DA78143-2067-4B8F-A2B7-9BD2494E2CD0}" presName="LevelTwoTextNode" presStyleLbl="node2" presStyleIdx="1" presStyleCnt="2">
        <dgm:presLayoutVars>
          <dgm:chPref val="3"/>
        </dgm:presLayoutVars>
      </dgm:prSet>
      <dgm:spPr/>
    </dgm:pt>
    <dgm:pt modelId="{3846BAC2-AD4E-4761-BDEC-7ECACB119BC3}" type="pres">
      <dgm:prSet presAssocID="{6DA78143-2067-4B8F-A2B7-9BD2494E2CD0}" presName="level3hierChild" presStyleCnt="0"/>
      <dgm:spPr/>
    </dgm:pt>
    <dgm:pt modelId="{A9B6658B-F203-452A-9C9A-FE2D3540F23D}" type="pres">
      <dgm:prSet presAssocID="{7E4F1379-7ECA-4585-A898-29DACFE93BE0}" presName="conn2-1" presStyleLbl="parChTrans1D3" presStyleIdx="0" presStyleCnt="2"/>
      <dgm:spPr/>
    </dgm:pt>
    <dgm:pt modelId="{9C78D289-8AE1-4EA4-A46F-21420E23BA85}" type="pres">
      <dgm:prSet presAssocID="{7E4F1379-7ECA-4585-A898-29DACFE93BE0}" presName="connTx" presStyleLbl="parChTrans1D3" presStyleIdx="0" presStyleCnt="2"/>
      <dgm:spPr/>
    </dgm:pt>
    <dgm:pt modelId="{69A533B3-FE3E-40AF-A4E6-2AA92C5A8430}" type="pres">
      <dgm:prSet presAssocID="{5B5C881E-AF77-42CF-A68A-FBFFE8B3FD64}" presName="root2" presStyleCnt="0"/>
      <dgm:spPr/>
    </dgm:pt>
    <dgm:pt modelId="{007C30B6-AFF1-4A45-BEC4-C4013CD02693}" type="pres">
      <dgm:prSet presAssocID="{5B5C881E-AF77-42CF-A68A-FBFFE8B3FD64}" presName="LevelTwoTextNode" presStyleLbl="node3" presStyleIdx="0" presStyleCnt="2">
        <dgm:presLayoutVars>
          <dgm:chPref val="3"/>
        </dgm:presLayoutVars>
      </dgm:prSet>
      <dgm:spPr/>
    </dgm:pt>
    <dgm:pt modelId="{4ABF736B-B554-451C-BC1F-F48AB1DAE19D}" type="pres">
      <dgm:prSet presAssocID="{5B5C881E-AF77-42CF-A68A-FBFFE8B3FD64}" presName="level3hierChild" presStyleCnt="0"/>
      <dgm:spPr/>
    </dgm:pt>
    <dgm:pt modelId="{27F44BA5-7FDF-4411-95FA-E24B1822C3CF}" type="pres">
      <dgm:prSet presAssocID="{6660B295-D9FC-483C-9C25-460AC22FB743}" presName="conn2-1" presStyleLbl="parChTrans1D3" presStyleIdx="1" presStyleCnt="2"/>
      <dgm:spPr/>
    </dgm:pt>
    <dgm:pt modelId="{1C7BBE14-5E00-4358-B499-1669806C66CD}" type="pres">
      <dgm:prSet presAssocID="{6660B295-D9FC-483C-9C25-460AC22FB743}" presName="connTx" presStyleLbl="parChTrans1D3" presStyleIdx="1" presStyleCnt="2"/>
      <dgm:spPr/>
    </dgm:pt>
    <dgm:pt modelId="{F358C7CF-65A1-41FF-B885-C9695E78A1E8}" type="pres">
      <dgm:prSet presAssocID="{C369588E-E7F2-4BE6-8B29-D6838EE3E23B}" presName="root2" presStyleCnt="0"/>
      <dgm:spPr/>
    </dgm:pt>
    <dgm:pt modelId="{6706709B-C9F9-48A2-B401-F9336BBAB2F7}" type="pres">
      <dgm:prSet presAssocID="{C369588E-E7F2-4BE6-8B29-D6838EE3E23B}" presName="LevelTwoTextNode" presStyleLbl="node3" presStyleIdx="1" presStyleCnt="2">
        <dgm:presLayoutVars>
          <dgm:chPref val="3"/>
        </dgm:presLayoutVars>
      </dgm:prSet>
      <dgm:spPr/>
    </dgm:pt>
    <dgm:pt modelId="{8950A8C9-78A6-4532-9733-289D7A75B5B6}" type="pres">
      <dgm:prSet presAssocID="{C369588E-E7F2-4BE6-8B29-D6838EE3E23B}" presName="level3hierChild" presStyleCnt="0"/>
      <dgm:spPr/>
    </dgm:pt>
  </dgm:ptLst>
  <dgm:cxnLst>
    <dgm:cxn modelId="{D9A50112-C2F1-4C23-9CE6-BEA3A505F1D3}" type="presOf" srcId="{BD20489E-F33C-4B63-9E5F-E8DA58F3B69A}" destId="{6151140A-A349-4F7F-9AD7-C81C61D2CA58}" srcOrd="0" destOrd="0" presId="urn:microsoft.com/office/officeart/2008/layout/HorizontalMultiLevelHierarchy"/>
    <dgm:cxn modelId="{B82C2B29-90F9-4870-9C88-1191DA151723}" type="presOf" srcId="{1196C6D2-0306-48AA-9474-A2AEF5A06BC9}" destId="{0B4DAFA7-A5A9-4F25-8DF3-7FE3E59ECB18}" srcOrd="0" destOrd="0" presId="urn:microsoft.com/office/officeart/2008/layout/HorizontalMultiLevelHierarchy"/>
    <dgm:cxn modelId="{4024B35B-08F0-4A4C-A945-43CF7FE1CFBF}" srcId="{6DA78143-2067-4B8F-A2B7-9BD2494E2CD0}" destId="{5B5C881E-AF77-42CF-A68A-FBFFE8B3FD64}" srcOrd="0" destOrd="0" parTransId="{7E4F1379-7ECA-4585-A898-29DACFE93BE0}" sibTransId="{581D4E89-AF0C-4A30-BEA3-C6B72DF49E41}"/>
    <dgm:cxn modelId="{A97EF85E-7AE1-4403-9264-8C35FE868A42}" srcId="{BD20489E-F33C-4B63-9E5F-E8DA58F3B69A}" destId="{6DA78143-2067-4B8F-A2B7-9BD2494E2CD0}" srcOrd="1" destOrd="0" parTransId="{88E841B8-4566-4073-8EBA-F3997F532A02}" sibTransId="{78563BC0-B012-4388-8AD2-A3D0FF41E881}"/>
    <dgm:cxn modelId="{A8B85B5F-5F57-488F-A118-8B5FEEEBD039}" type="presOf" srcId="{7E4F1379-7ECA-4585-A898-29DACFE93BE0}" destId="{9C78D289-8AE1-4EA4-A46F-21420E23BA85}" srcOrd="1" destOrd="0" presId="urn:microsoft.com/office/officeart/2008/layout/HorizontalMultiLevelHierarchy"/>
    <dgm:cxn modelId="{134A6160-560B-473E-B01E-FE957D750B35}" type="presOf" srcId="{57D57764-741B-4F49-857B-E6550D09F76A}" destId="{D87C905C-F8E3-442C-9805-BDB7F9EDFACE}" srcOrd="0" destOrd="0" presId="urn:microsoft.com/office/officeart/2008/layout/HorizontalMultiLevelHierarchy"/>
    <dgm:cxn modelId="{11E15D4A-EB2E-4AC4-9725-54C7B9F492AC}" type="presOf" srcId="{7E4F1379-7ECA-4585-A898-29DACFE93BE0}" destId="{A9B6658B-F203-452A-9C9A-FE2D3540F23D}" srcOrd="0" destOrd="0" presId="urn:microsoft.com/office/officeart/2008/layout/HorizontalMultiLevelHierarchy"/>
    <dgm:cxn modelId="{B7B84F70-B23B-4BF7-BFDD-592462BD092C}" srcId="{6DA78143-2067-4B8F-A2B7-9BD2494E2CD0}" destId="{C369588E-E7F2-4BE6-8B29-D6838EE3E23B}" srcOrd="1" destOrd="0" parTransId="{6660B295-D9FC-483C-9C25-460AC22FB743}" sibTransId="{D650ACF4-539A-436F-80FD-C88909B00F5C}"/>
    <dgm:cxn modelId="{58B70274-5540-41E2-B62D-2F5B406ECE6C}" type="presOf" srcId="{5B5C881E-AF77-42CF-A68A-FBFFE8B3FD64}" destId="{007C30B6-AFF1-4A45-BEC4-C4013CD02693}" srcOrd="0" destOrd="0" presId="urn:microsoft.com/office/officeart/2008/layout/HorizontalMultiLevelHierarchy"/>
    <dgm:cxn modelId="{B11D017F-A240-4C4B-B2FA-B2A58F3FD4BD}" srcId="{1196C6D2-0306-48AA-9474-A2AEF5A06BC9}" destId="{BD20489E-F33C-4B63-9E5F-E8DA58F3B69A}" srcOrd="0" destOrd="0" parTransId="{7B55D22F-C125-4270-B68A-6E3BCC050FF1}" sibTransId="{C691C585-0EA5-4DD6-B6FA-4ED8BEAFADD2}"/>
    <dgm:cxn modelId="{F728DD7F-46B7-4049-A57B-1F65C50BEC40}" type="presOf" srcId="{6DA78143-2067-4B8F-A2B7-9BD2494E2CD0}" destId="{21333FF0-B820-40E7-9FC8-15BB896B7D17}" srcOrd="0" destOrd="0" presId="urn:microsoft.com/office/officeart/2008/layout/HorizontalMultiLevelHierarchy"/>
    <dgm:cxn modelId="{DFB80292-AD74-4448-9656-E860A69B75C3}" type="presOf" srcId="{C369588E-E7F2-4BE6-8B29-D6838EE3E23B}" destId="{6706709B-C9F9-48A2-B401-F9336BBAB2F7}" srcOrd="0" destOrd="0" presId="urn:microsoft.com/office/officeart/2008/layout/HorizontalMultiLevelHierarchy"/>
    <dgm:cxn modelId="{73A30D9D-39A3-4DFC-9DF6-F67886BFA6B4}" type="presOf" srcId="{57D57764-741B-4F49-857B-E6550D09F76A}" destId="{F7B1895D-C617-445B-B436-D5E9DB8F341C}" srcOrd="1" destOrd="0" presId="urn:microsoft.com/office/officeart/2008/layout/HorizontalMultiLevelHierarchy"/>
    <dgm:cxn modelId="{A1CF2AB9-3B87-4880-ACC1-14031538F1F5}" type="presOf" srcId="{435A52CC-A9A5-48ED-9FDD-BA7A1B395B83}" destId="{FF546190-C3EC-4E4D-8920-C46DD960FFD7}" srcOrd="0" destOrd="0" presId="urn:microsoft.com/office/officeart/2008/layout/HorizontalMultiLevelHierarchy"/>
    <dgm:cxn modelId="{9CCE12C9-8D67-4156-8BA5-67EE97AE8EFE}" type="presOf" srcId="{6660B295-D9FC-483C-9C25-460AC22FB743}" destId="{1C7BBE14-5E00-4358-B499-1669806C66CD}" srcOrd="1" destOrd="0" presId="urn:microsoft.com/office/officeart/2008/layout/HorizontalMultiLevelHierarchy"/>
    <dgm:cxn modelId="{DB64AFD8-24EE-4B96-834C-C3F8626561A8}" srcId="{BD20489E-F33C-4B63-9E5F-E8DA58F3B69A}" destId="{435A52CC-A9A5-48ED-9FDD-BA7A1B395B83}" srcOrd="0" destOrd="0" parTransId="{57D57764-741B-4F49-857B-E6550D09F76A}" sibTransId="{5FFB5390-5E40-4FC4-910D-84CCD84F6F19}"/>
    <dgm:cxn modelId="{27EE37E1-3090-4BAC-97AB-3DF20DE37464}" type="presOf" srcId="{6660B295-D9FC-483C-9C25-460AC22FB743}" destId="{27F44BA5-7FDF-4411-95FA-E24B1822C3CF}" srcOrd="0" destOrd="0" presId="urn:microsoft.com/office/officeart/2008/layout/HorizontalMultiLevelHierarchy"/>
    <dgm:cxn modelId="{9C28C1EC-8B7E-4EE7-BA66-8A5B5D1CB1E0}" type="presOf" srcId="{88E841B8-4566-4073-8EBA-F3997F532A02}" destId="{E0B903D2-465F-470F-BF2E-24423B6F47D6}" srcOrd="1" destOrd="0" presId="urn:microsoft.com/office/officeart/2008/layout/HorizontalMultiLevelHierarchy"/>
    <dgm:cxn modelId="{945F99F3-F92F-4111-9810-E0BE4C63472C}" type="presOf" srcId="{88E841B8-4566-4073-8EBA-F3997F532A02}" destId="{3522338D-F7B6-4509-B1D4-4EAC3900ADF8}" srcOrd="0" destOrd="0" presId="urn:microsoft.com/office/officeart/2008/layout/HorizontalMultiLevelHierarchy"/>
    <dgm:cxn modelId="{4807FF58-8F04-41B2-9689-7D4EA7968270}" type="presParOf" srcId="{0B4DAFA7-A5A9-4F25-8DF3-7FE3E59ECB18}" destId="{2ABA096D-47EA-4FC0-9C1C-401628B5FD8E}" srcOrd="0" destOrd="0" presId="urn:microsoft.com/office/officeart/2008/layout/HorizontalMultiLevelHierarchy"/>
    <dgm:cxn modelId="{6F54553B-9F47-45B4-8570-59E0A24071F8}" type="presParOf" srcId="{2ABA096D-47EA-4FC0-9C1C-401628B5FD8E}" destId="{6151140A-A349-4F7F-9AD7-C81C61D2CA58}" srcOrd="0" destOrd="0" presId="urn:microsoft.com/office/officeart/2008/layout/HorizontalMultiLevelHierarchy"/>
    <dgm:cxn modelId="{1F0ED3F1-63ED-4F13-A747-0817CED19BAB}" type="presParOf" srcId="{2ABA096D-47EA-4FC0-9C1C-401628B5FD8E}" destId="{BAA18F36-7386-4E15-B085-A66C33316CEB}" srcOrd="1" destOrd="0" presId="urn:microsoft.com/office/officeart/2008/layout/HorizontalMultiLevelHierarchy"/>
    <dgm:cxn modelId="{D4FBCB62-D9E1-488A-A080-B2F8E767B327}" type="presParOf" srcId="{BAA18F36-7386-4E15-B085-A66C33316CEB}" destId="{D87C905C-F8E3-442C-9805-BDB7F9EDFACE}" srcOrd="0" destOrd="0" presId="urn:microsoft.com/office/officeart/2008/layout/HorizontalMultiLevelHierarchy"/>
    <dgm:cxn modelId="{3342CD10-7DFD-4607-977A-B967B04EBBBD}" type="presParOf" srcId="{D87C905C-F8E3-442C-9805-BDB7F9EDFACE}" destId="{F7B1895D-C617-445B-B436-D5E9DB8F341C}" srcOrd="0" destOrd="0" presId="urn:microsoft.com/office/officeart/2008/layout/HorizontalMultiLevelHierarchy"/>
    <dgm:cxn modelId="{7DDCBEF2-9DD0-4E4D-9520-F16C884FE5BB}" type="presParOf" srcId="{BAA18F36-7386-4E15-B085-A66C33316CEB}" destId="{0086C589-765B-4634-B65E-BCFC1A3BFA0E}" srcOrd="1" destOrd="0" presId="urn:microsoft.com/office/officeart/2008/layout/HorizontalMultiLevelHierarchy"/>
    <dgm:cxn modelId="{E3180848-EBB9-4BD3-8908-21B8F7F5C356}" type="presParOf" srcId="{0086C589-765B-4634-B65E-BCFC1A3BFA0E}" destId="{FF546190-C3EC-4E4D-8920-C46DD960FFD7}" srcOrd="0" destOrd="0" presId="urn:microsoft.com/office/officeart/2008/layout/HorizontalMultiLevelHierarchy"/>
    <dgm:cxn modelId="{432F6451-7AA5-4F4E-B153-26E7D321E4EB}" type="presParOf" srcId="{0086C589-765B-4634-B65E-BCFC1A3BFA0E}" destId="{86146666-8525-421C-AF0B-FBC6CAD1FD52}" srcOrd="1" destOrd="0" presId="urn:microsoft.com/office/officeart/2008/layout/HorizontalMultiLevelHierarchy"/>
    <dgm:cxn modelId="{FD301BFF-DFB8-4CAC-A2D0-8F88F08BE536}" type="presParOf" srcId="{BAA18F36-7386-4E15-B085-A66C33316CEB}" destId="{3522338D-F7B6-4509-B1D4-4EAC3900ADF8}" srcOrd="2" destOrd="0" presId="urn:microsoft.com/office/officeart/2008/layout/HorizontalMultiLevelHierarchy"/>
    <dgm:cxn modelId="{792ED736-37A3-4488-B048-7A35009911E2}" type="presParOf" srcId="{3522338D-F7B6-4509-B1D4-4EAC3900ADF8}" destId="{E0B903D2-465F-470F-BF2E-24423B6F47D6}" srcOrd="0" destOrd="0" presId="urn:microsoft.com/office/officeart/2008/layout/HorizontalMultiLevelHierarchy"/>
    <dgm:cxn modelId="{AC1CF222-2C3F-4B22-B444-9C2F1A0421AE}" type="presParOf" srcId="{BAA18F36-7386-4E15-B085-A66C33316CEB}" destId="{DCBAB909-7427-4643-A13E-4B29758DF1EF}" srcOrd="3" destOrd="0" presId="urn:microsoft.com/office/officeart/2008/layout/HorizontalMultiLevelHierarchy"/>
    <dgm:cxn modelId="{D0D8F7CC-DCDF-425F-B37B-BD6A1329D523}" type="presParOf" srcId="{DCBAB909-7427-4643-A13E-4B29758DF1EF}" destId="{21333FF0-B820-40E7-9FC8-15BB896B7D17}" srcOrd="0" destOrd="0" presId="urn:microsoft.com/office/officeart/2008/layout/HorizontalMultiLevelHierarchy"/>
    <dgm:cxn modelId="{63272271-74E2-4EF4-A415-99FFB8AA9B23}" type="presParOf" srcId="{DCBAB909-7427-4643-A13E-4B29758DF1EF}" destId="{3846BAC2-AD4E-4761-BDEC-7ECACB119BC3}" srcOrd="1" destOrd="0" presId="urn:microsoft.com/office/officeart/2008/layout/HorizontalMultiLevelHierarchy"/>
    <dgm:cxn modelId="{E0B5C684-637D-4349-B96A-D26DAF59FDFB}" type="presParOf" srcId="{3846BAC2-AD4E-4761-BDEC-7ECACB119BC3}" destId="{A9B6658B-F203-452A-9C9A-FE2D3540F23D}" srcOrd="0" destOrd="0" presId="urn:microsoft.com/office/officeart/2008/layout/HorizontalMultiLevelHierarchy"/>
    <dgm:cxn modelId="{B904A7C0-5098-4463-AF37-653FFEAA6D1B}" type="presParOf" srcId="{A9B6658B-F203-452A-9C9A-FE2D3540F23D}" destId="{9C78D289-8AE1-4EA4-A46F-21420E23BA85}" srcOrd="0" destOrd="0" presId="urn:microsoft.com/office/officeart/2008/layout/HorizontalMultiLevelHierarchy"/>
    <dgm:cxn modelId="{879D7AA6-A90C-456E-97FF-FBF3884456BD}" type="presParOf" srcId="{3846BAC2-AD4E-4761-BDEC-7ECACB119BC3}" destId="{69A533B3-FE3E-40AF-A4E6-2AA92C5A8430}" srcOrd="1" destOrd="0" presId="urn:microsoft.com/office/officeart/2008/layout/HorizontalMultiLevelHierarchy"/>
    <dgm:cxn modelId="{0B6E45BA-5573-4838-9DB5-A80FCD2EAD25}" type="presParOf" srcId="{69A533B3-FE3E-40AF-A4E6-2AA92C5A8430}" destId="{007C30B6-AFF1-4A45-BEC4-C4013CD02693}" srcOrd="0" destOrd="0" presId="urn:microsoft.com/office/officeart/2008/layout/HorizontalMultiLevelHierarchy"/>
    <dgm:cxn modelId="{666E174C-4034-41A5-B5A9-0758462D4754}" type="presParOf" srcId="{69A533B3-FE3E-40AF-A4E6-2AA92C5A8430}" destId="{4ABF736B-B554-451C-BC1F-F48AB1DAE19D}" srcOrd="1" destOrd="0" presId="urn:microsoft.com/office/officeart/2008/layout/HorizontalMultiLevelHierarchy"/>
    <dgm:cxn modelId="{1B98944D-0B32-48D5-A378-2A533C885919}" type="presParOf" srcId="{3846BAC2-AD4E-4761-BDEC-7ECACB119BC3}" destId="{27F44BA5-7FDF-4411-95FA-E24B1822C3CF}" srcOrd="2" destOrd="0" presId="urn:microsoft.com/office/officeart/2008/layout/HorizontalMultiLevelHierarchy"/>
    <dgm:cxn modelId="{FE47E7DB-AA9B-4558-8D71-13BD6C8CF082}" type="presParOf" srcId="{27F44BA5-7FDF-4411-95FA-E24B1822C3CF}" destId="{1C7BBE14-5E00-4358-B499-1669806C66CD}" srcOrd="0" destOrd="0" presId="urn:microsoft.com/office/officeart/2008/layout/HorizontalMultiLevelHierarchy"/>
    <dgm:cxn modelId="{35469CB8-D17A-4402-8AA1-F43F45F803A5}" type="presParOf" srcId="{3846BAC2-AD4E-4761-BDEC-7ECACB119BC3}" destId="{F358C7CF-65A1-41FF-B885-C9695E78A1E8}" srcOrd="3" destOrd="0" presId="urn:microsoft.com/office/officeart/2008/layout/HorizontalMultiLevelHierarchy"/>
    <dgm:cxn modelId="{696BF1E4-D48F-405F-9902-09A49A80334A}" type="presParOf" srcId="{F358C7CF-65A1-41FF-B885-C9695E78A1E8}" destId="{6706709B-C9F9-48A2-B401-F9336BBAB2F7}" srcOrd="0" destOrd="0" presId="urn:microsoft.com/office/officeart/2008/layout/HorizontalMultiLevelHierarchy"/>
    <dgm:cxn modelId="{DA97704A-208A-49C7-B93A-C2A214136634}" type="presParOf" srcId="{F358C7CF-65A1-41FF-B885-C9695E78A1E8}" destId="{8950A8C9-78A6-4532-9733-289D7A75B5B6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F44BA5-7FDF-4411-95FA-E24B1822C3CF}">
      <dsp:nvSpPr>
        <dsp:cNvPr id="0" name=""/>
        <dsp:cNvSpPr/>
      </dsp:nvSpPr>
      <dsp:spPr>
        <a:xfrm>
          <a:off x="4665956" y="3092619"/>
          <a:ext cx="620019" cy="590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0009" y="0"/>
              </a:lnTo>
              <a:lnTo>
                <a:pt x="310009" y="590719"/>
              </a:lnTo>
              <a:lnTo>
                <a:pt x="620019" y="590719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954557" y="3366570"/>
        <a:ext cx="42818" cy="42818"/>
      </dsp:txXfrm>
    </dsp:sp>
    <dsp:sp modelId="{A9B6658B-F203-452A-9C9A-FE2D3540F23D}">
      <dsp:nvSpPr>
        <dsp:cNvPr id="0" name=""/>
        <dsp:cNvSpPr/>
      </dsp:nvSpPr>
      <dsp:spPr>
        <a:xfrm>
          <a:off x="4665956" y="2501900"/>
          <a:ext cx="620019" cy="590719"/>
        </a:xfrm>
        <a:custGeom>
          <a:avLst/>
          <a:gdLst/>
          <a:ahLst/>
          <a:cxnLst/>
          <a:rect l="0" t="0" r="0" b="0"/>
          <a:pathLst>
            <a:path>
              <a:moveTo>
                <a:pt x="0" y="590719"/>
              </a:moveTo>
              <a:lnTo>
                <a:pt x="310009" y="590719"/>
              </a:lnTo>
              <a:lnTo>
                <a:pt x="310009" y="0"/>
              </a:lnTo>
              <a:lnTo>
                <a:pt x="620019" y="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954557" y="2775850"/>
        <a:ext cx="42818" cy="42818"/>
      </dsp:txXfrm>
    </dsp:sp>
    <dsp:sp modelId="{3522338D-F7B6-4509-B1D4-4EAC3900ADF8}">
      <dsp:nvSpPr>
        <dsp:cNvPr id="0" name=""/>
        <dsp:cNvSpPr/>
      </dsp:nvSpPr>
      <dsp:spPr>
        <a:xfrm>
          <a:off x="945840" y="2501900"/>
          <a:ext cx="620019" cy="590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0009" y="0"/>
              </a:lnTo>
              <a:lnTo>
                <a:pt x="310009" y="590719"/>
              </a:lnTo>
              <a:lnTo>
                <a:pt x="620019" y="590719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234441" y="2775850"/>
        <a:ext cx="42818" cy="42818"/>
      </dsp:txXfrm>
    </dsp:sp>
    <dsp:sp modelId="{D87C905C-F8E3-442C-9805-BDB7F9EDFACE}">
      <dsp:nvSpPr>
        <dsp:cNvPr id="0" name=""/>
        <dsp:cNvSpPr/>
      </dsp:nvSpPr>
      <dsp:spPr>
        <a:xfrm>
          <a:off x="945840" y="1911180"/>
          <a:ext cx="620019" cy="590719"/>
        </a:xfrm>
        <a:custGeom>
          <a:avLst/>
          <a:gdLst/>
          <a:ahLst/>
          <a:cxnLst/>
          <a:rect l="0" t="0" r="0" b="0"/>
          <a:pathLst>
            <a:path>
              <a:moveTo>
                <a:pt x="0" y="590719"/>
              </a:moveTo>
              <a:lnTo>
                <a:pt x="310009" y="590719"/>
              </a:lnTo>
              <a:lnTo>
                <a:pt x="310009" y="0"/>
              </a:lnTo>
              <a:lnTo>
                <a:pt x="620019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234441" y="2185130"/>
        <a:ext cx="42818" cy="42818"/>
      </dsp:txXfrm>
    </dsp:sp>
    <dsp:sp modelId="{6151140A-A349-4F7F-9AD7-C81C61D2CA58}">
      <dsp:nvSpPr>
        <dsp:cNvPr id="0" name=""/>
        <dsp:cNvSpPr/>
      </dsp:nvSpPr>
      <dsp:spPr>
        <a:xfrm rot="16200000">
          <a:off x="-2013975" y="2029324"/>
          <a:ext cx="4974480" cy="945151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>
              <a:effectLst/>
              <a:latin typeface="Inter"/>
            </a:rPr>
            <a:t>There are two styles of distributing data:</a:t>
          </a:r>
        </a:p>
      </dsp:txBody>
      <dsp:txXfrm>
        <a:off x="-2013975" y="2029324"/>
        <a:ext cx="4974480" cy="945151"/>
      </dsp:txXfrm>
    </dsp:sp>
    <dsp:sp modelId="{FF546190-C3EC-4E4D-8920-C46DD960FFD7}">
      <dsp:nvSpPr>
        <dsp:cNvPr id="0" name=""/>
        <dsp:cNvSpPr/>
      </dsp:nvSpPr>
      <dsp:spPr>
        <a:xfrm>
          <a:off x="1565860" y="1438604"/>
          <a:ext cx="3100096" cy="945151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0" i="0" kern="1200">
              <a:effectLst/>
              <a:latin typeface="Inter"/>
            </a:rPr>
            <a:t>Sharding:</a:t>
          </a:r>
          <a:endParaRPr lang="en-US" sz="3200" kern="1200" dirty="0">
            <a:latin typeface="Inter"/>
          </a:endParaRPr>
        </a:p>
      </dsp:txBody>
      <dsp:txXfrm>
        <a:off x="1565860" y="1438604"/>
        <a:ext cx="3100096" cy="945151"/>
      </dsp:txXfrm>
    </dsp:sp>
    <dsp:sp modelId="{21333FF0-B820-40E7-9FC8-15BB896B7D17}">
      <dsp:nvSpPr>
        <dsp:cNvPr id="0" name=""/>
        <dsp:cNvSpPr/>
      </dsp:nvSpPr>
      <dsp:spPr>
        <a:xfrm>
          <a:off x="1565860" y="2620043"/>
          <a:ext cx="3100096" cy="945151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0" i="0" kern="1200" dirty="0">
              <a:effectLst/>
              <a:latin typeface="Inter"/>
            </a:rPr>
            <a:t>Replication</a:t>
          </a:r>
          <a:endParaRPr lang="en-US" sz="3200" kern="1200" dirty="0"/>
        </a:p>
      </dsp:txBody>
      <dsp:txXfrm>
        <a:off x="1565860" y="2620043"/>
        <a:ext cx="3100096" cy="945151"/>
      </dsp:txXfrm>
    </dsp:sp>
    <dsp:sp modelId="{007C30B6-AFF1-4A45-BEC4-C4013CD02693}">
      <dsp:nvSpPr>
        <dsp:cNvPr id="0" name=""/>
        <dsp:cNvSpPr/>
      </dsp:nvSpPr>
      <dsp:spPr>
        <a:xfrm>
          <a:off x="5285975" y="2029324"/>
          <a:ext cx="3100096" cy="945151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Master –slave </a:t>
          </a:r>
        </a:p>
      </dsp:txBody>
      <dsp:txXfrm>
        <a:off x="5285975" y="2029324"/>
        <a:ext cx="3100096" cy="945151"/>
      </dsp:txXfrm>
    </dsp:sp>
    <dsp:sp modelId="{6706709B-C9F9-48A2-B401-F9336BBAB2F7}">
      <dsp:nvSpPr>
        <dsp:cNvPr id="0" name=""/>
        <dsp:cNvSpPr/>
      </dsp:nvSpPr>
      <dsp:spPr>
        <a:xfrm>
          <a:off x="5285975" y="3210763"/>
          <a:ext cx="3100096" cy="945151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Peer-to-peer</a:t>
          </a:r>
        </a:p>
      </dsp:txBody>
      <dsp:txXfrm>
        <a:off x="5285975" y="3210763"/>
        <a:ext cx="3100096" cy="9451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8/13/2021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.xml.rels><?xml version="1.0" encoding="UTF-8" standalone="yes" ?><Relationships xmlns="http://schemas.openxmlformats.org/package/2006/relationships"><Relationship Id="rId3" Target="../media/image5.jpeg" Type="http://schemas.openxmlformats.org/officeDocument/2006/relationships/image"/><Relationship Id="rId2" Target="../media/image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.xml.rels><?xml version="1.0" encoding="UTF-8" standalone="yes" ?><Relationships xmlns="http://schemas.openxmlformats.org/package/2006/relationships"><Relationship Id="rId2" Target="../media/image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 ?><Relationships xmlns="http://schemas.openxmlformats.org/package/2006/relationships"><Relationship Id="rId2" Target="../media/image1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9.xml.rels><?xml version="1.0" encoding="UTF-8" standalone="yes" ?><Relationships xmlns="http://schemas.openxmlformats.org/package/2006/relationships"><Relationship Id="rId2" Target="../media/image1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0.xml.rels><?xml version="1.0" encoding="UTF-8" standalone="yes" ?><Relationships xmlns="http://schemas.openxmlformats.org/package/2006/relationships"><Relationship Id="rId2" Target="../media/image1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 ?><Relationships xmlns="http://schemas.openxmlformats.org/package/2006/relationships"><Relationship Id="rId2" Target="../media/image1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 ?><Relationships xmlns="http://schemas.openxmlformats.org/package/2006/relationships"><Relationship Id="rId2" Target="../media/image2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 ?><Relationships xmlns="http://schemas.openxmlformats.org/package/2006/relationships"><Relationship Id="rId2" Target="../media/image2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1.xml.rels><?xml version="1.0" encoding="UTF-8" standalone="yes" ?><Relationships xmlns="http://schemas.openxmlformats.org/package/2006/relationships"><Relationship Id="rId2" Target="../media/image2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2.xml.rels><?xml version="1.0" encoding="UTF-8" standalone="yes" ?><Relationships xmlns="http://schemas.openxmlformats.org/package/2006/relationships"><Relationship Id="rId2" Target="../media/image2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830800" cy="377315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explore concepts of distribution models</a:t>
            </a:r>
          </a:p>
          <a:p>
            <a:pPr algn="just"/>
            <a:r>
              <a:rPr lang="en-US" dirty="0"/>
              <a:t>learn types of distribution data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66B111-F9E0-4C1C-8AAD-49EF86910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532" y="85061"/>
            <a:ext cx="8279349" cy="1049116"/>
          </a:xfrm>
        </p:spPr>
        <p:txBody>
          <a:bodyPr/>
          <a:lstStyle/>
          <a:p>
            <a:r>
              <a:rPr lang="en-IN" b="0" i="0" dirty="0">
                <a:effectLst/>
              </a:rPr>
              <a:t>Distribution Models</a:t>
            </a:r>
            <a:endParaRPr lang="en-IN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825664A8-2938-47D1-B8BF-B178252DC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44" y="1647149"/>
            <a:ext cx="2957731" cy="3007863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3138D6-35EE-455D-BDDB-96D8B374B1BF}"/>
              </a:ext>
            </a:extLst>
          </p:cNvPr>
          <p:cNvSpPr txBox="1"/>
          <p:nvPr/>
        </p:nvSpPr>
        <p:spPr>
          <a:xfrm>
            <a:off x="1093733" y="4725335"/>
            <a:ext cx="2743352" cy="707886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un databases on a large cluster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37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DAAFA45-7A7C-41C8-9788-99923C386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544" y="1647149"/>
            <a:ext cx="2957731" cy="3007863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B66B111-F9E0-4C1C-8AAD-49EF86910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532" y="85061"/>
            <a:ext cx="8279349" cy="1049116"/>
          </a:xfrm>
        </p:spPr>
        <p:txBody>
          <a:bodyPr/>
          <a:lstStyle/>
          <a:p>
            <a:r>
              <a:rPr lang="en-IN" b="0" i="0" dirty="0">
                <a:effectLst/>
              </a:rPr>
              <a:t>Distribution Models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96CB26-9C7D-4B3C-9CA6-EA335119A29D}"/>
              </a:ext>
            </a:extLst>
          </p:cNvPr>
          <p:cNvSpPr txBox="1"/>
          <p:nvPr/>
        </p:nvSpPr>
        <p:spPr>
          <a:xfrm>
            <a:off x="1093733" y="4725335"/>
            <a:ext cx="2743352" cy="707886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un databases on a large cluster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B30CD9-EE11-46E8-A2A7-0A5EAA258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630" y="1671305"/>
            <a:ext cx="3473486" cy="2959552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27F246-29F9-497F-A945-F80D1DE56893}"/>
              </a:ext>
            </a:extLst>
          </p:cNvPr>
          <p:cNvSpPr txBox="1"/>
          <p:nvPr/>
        </p:nvSpPr>
        <p:spPr>
          <a:xfrm>
            <a:off x="4926235" y="4725335"/>
            <a:ext cx="2743352" cy="707886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As data volumes increase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89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66B111-F9E0-4C1C-8AAD-49EF8691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Distribution Models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B5E3F7-5E78-4D3E-A3B4-FA1903360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2731" y="1809488"/>
            <a:ext cx="5997797" cy="4198458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4499D05-34FB-44E9-AD42-C79243EC87A5}"/>
              </a:ext>
            </a:extLst>
          </p:cNvPr>
          <p:cNvSpPr txBox="1"/>
          <p:nvPr/>
        </p:nvSpPr>
        <p:spPr>
          <a:xfrm>
            <a:off x="1967022" y="6211669"/>
            <a:ext cx="5263117" cy="461665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Bigger server to run the database</a:t>
            </a:r>
            <a:endParaRPr lang="en-IN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45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A9113A2-1C83-456C-A664-D02ED1A54A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4310" y="2044196"/>
            <a:ext cx="7294640" cy="415373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37F7E35-42F8-4ED4-869B-BB008BC6B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Distribution Models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7A24CC-2CD7-45B5-9CAA-A8F042E95EDD}"/>
              </a:ext>
            </a:extLst>
          </p:cNvPr>
          <p:cNvSpPr txBox="1"/>
          <p:nvPr/>
        </p:nvSpPr>
        <p:spPr>
          <a:xfrm>
            <a:off x="559623" y="1469436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latin typeface="Bahnschrift" panose="020B0502040204020203" pitchFamily="34" charset="0"/>
              </a:rPr>
              <a:t>A more appealing option is</a:t>
            </a:r>
            <a:endParaRPr lang="en-IN" sz="2200" dirty="0">
              <a:latin typeface="Bahnschrift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4FD87E-88D4-44CC-8791-7EA7BB20C6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45623" y="3944482"/>
            <a:ext cx="1137683" cy="130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380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8AC03A-A7DD-4701-AC06-67825E0434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8367" y="1590025"/>
            <a:ext cx="6486525" cy="414337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3FD3BA9-0486-4EBE-8586-665B5AC8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Distribution Models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DFAF6E-C61B-4ED0-9C90-D58E93A0293F}"/>
              </a:ext>
            </a:extLst>
          </p:cNvPr>
          <p:cNvSpPr txBox="1"/>
          <p:nvPr/>
        </p:nvSpPr>
        <p:spPr>
          <a:xfrm>
            <a:off x="1580550" y="5976889"/>
            <a:ext cx="5982900" cy="400110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Aggregate orientation fits well with scaling out</a:t>
            </a:r>
            <a:endParaRPr lang="en-IN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688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051ADF-BAC3-4078-9AF5-A9D137403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6817" y="3110229"/>
            <a:ext cx="5399993" cy="3037496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7A641D-0665-4909-9090-07886179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Distribution Models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7BC7E-981D-4618-A9D6-A4B151F3911A}"/>
              </a:ext>
            </a:extLst>
          </p:cNvPr>
          <p:cNvSpPr txBox="1"/>
          <p:nvPr/>
        </p:nvSpPr>
        <p:spPr>
          <a:xfrm>
            <a:off x="2170814" y="6212299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Bahnschrift SemiBold" panose="020B0502040204020203" pitchFamily="34" charset="0"/>
              </a:rPr>
              <a:t>Handle larger quantities of data</a:t>
            </a:r>
            <a:endParaRPr lang="en-IN" sz="2200" dirty="0">
              <a:latin typeface="Bahnschrift SemiBold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350EE6-1C1D-4788-B450-CB409C56D717}"/>
              </a:ext>
            </a:extLst>
          </p:cNvPr>
          <p:cNvSpPr/>
          <p:nvPr/>
        </p:nvSpPr>
        <p:spPr>
          <a:xfrm>
            <a:off x="619482" y="1494621"/>
            <a:ext cx="782429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Bahnschrift SemiBold" panose="020B0502040204020203" pitchFamily="34" charset="0"/>
              </a:rPr>
              <a:t>Important Benefits of Distribution Model</a:t>
            </a:r>
            <a:endParaRPr lang="en-IN" sz="4400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960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7A641D-0665-4909-9090-07886179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Distribution Models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7BC7E-981D-4618-A9D6-A4B151F3911A}"/>
              </a:ext>
            </a:extLst>
          </p:cNvPr>
          <p:cNvSpPr txBox="1"/>
          <p:nvPr/>
        </p:nvSpPr>
        <p:spPr>
          <a:xfrm>
            <a:off x="2170814" y="4775378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Bahnschrift SemiBold" panose="020B0502040204020203" pitchFamily="34" charset="0"/>
              </a:rPr>
              <a:t>Handle larger quantities of data</a:t>
            </a:r>
            <a:endParaRPr lang="en-IN" sz="2200" dirty="0">
              <a:latin typeface="Bahnschrift SemiBol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124A30-986B-48DC-97D9-60E4CBE284D9}"/>
              </a:ext>
            </a:extLst>
          </p:cNvPr>
          <p:cNvSpPr txBox="1"/>
          <p:nvPr/>
        </p:nvSpPr>
        <p:spPr>
          <a:xfrm>
            <a:off x="1759564" y="5386432"/>
            <a:ext cx="55441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Bahnschrift SemiBold" panose="020B0502040204020203" pitchFamily="34" charset="0"/>
              </a:rPr>
              <a:t>Process a greater read or write traffic</a:t>
            </a:r>
            <a:endParaRPr lang="en-IN" sz="2200" dirty="0">
              <a:latin typeface="Bahnschrift SemiBol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AE7D8E-8372-4E0A-BCE5-33A244331135}"/>
              </a:ext>
            </a:extLst>
          </p:cNvPr>
          <p:cNvSpPr txBox="1"/>
          <p:nvPr/>
        </p:nvSpPr>
        <p:spPr>
          <a:xfrm>
            <a:off x="807134" y="1466086"/>
            <a:ext cx="75297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Bahnschrift SemiBold" panose="020B0502040204020203" pitchFamily="34" charset="0"/>
              </a:rPr>
              <a:t>IMPORTANT BENEFITS OF DISTRIBUTION MODEL</a:t>
            </a:r>
            <a:endParaRPr lang="en-IN" sz="2200" dirty="0">
              <a:latin typeface="Bahnschrift SemiBold" panose="020B0502040204020203" pitchFamily="34" charset="0"/>
            </a:endParaRPr>
          </a:p>
        </p:txBody>
      </p:sp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F3410E61-C743-4C10-BE3B-F01092C88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529" y="2077140"/>
            <a:ext cx="4476570" cy="2518071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5259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7A641D-0665-4909-9090-07886179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Distribution Models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6ABBE5-FD84-4251-8887-4EB12AD93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1011" y="1750066"/>
            <a:ext cx="5861978" cy="3904834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B7957F-5A08-4F3B-86F9-2C18867E449A}"/>
              </a:ext>
            </a:extLst>
          </p:cNvPr>
          <p:cNvSpPr txBox="1"/>
          <p:nvPr/>
        </p:nvSpPr>
        <p:spPr>
          <a:xfrm>
            <a:off x="2022676" y="5937221"/>
            <a:ext cx="5098648" cy="461665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Network slowdowns or breakages</a:t>
            </a:r>
          </a:p>
        </p:txBody>
      </p:sp>
    </p:spTree>
    <p:extLst>
      <p:ext uri="{BB962C8B-B14F-4D97-AF65-F5344CB8AC3E}">
        <p14:creationId xmlns:p14="http://schemas.microsoft.com/office/powerpoint/2010/main" val="865753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15383D-2964-4996-B4B6-69B9DF35E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2714" y="1562986"/>
            <a:ext cx="4662185" cy="50700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These are often important benefits, but they come at a cost. Running over a cluster introduces complexity - so it’s not something to do unless the benefits are convincing.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E14409-A084-4A2B-8FE4-CB9CC04E2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Distribution Models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C9F80B-038F-4879-8F6F-96686900A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01" y="2124218"/>
            <a:ext cx="3309818" cy="328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073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E83A6C-93FD-49F3-8BE8-75B425D314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0822026"/>
              </p:ext>
            </p:extLst>
          </p:nvPr>
        </p:nvGraphicFramePr>
        <p:xfrm>
          <a:off x="464344" y="1489879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 Two styles of distributing data</a:t>
            </a:r>
            <a:endParaRPr lang="en-US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696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b="0" i="0" dirty="0">
                <a:effectLst/>
                <a:latin typeface="Bahnschrift" panose="020B0502040204020203" pitchFamily="34" charset="0"/>
              </a:rPr>
              <a:t> Two styles of distributing data</a:t>
            </a:r>
            <a:endParaRPr lang="en-US" dirty="0">
              <a:latin typeface="Bahnschrift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70A6AB-FD29-436A-B51A-3AA400EF0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868" y="1978374"/>
            <a:ext cx="7240263" cy="32725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0B5807B-43E7-4CFD-B5D6-6CD238C24B9D}"/>
              </a:ext>
            </a:extLst>
          </p:cNvPr>
          <p:cNvSpPr/>
          <p:nvPr/>
        </p:nvSpPr>
        <p:spPr>
          <a:xfrm>
            <a:off x="3290776" y="5450735"/>
            <a:ext cx="2562446" cy="723014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 SemiBold" panose="020B0502040204020203" pitchFamily="34" charset="0"/>
              </a:rPr>
              <a:t>REPLICATION</a:t>
            </a:r>
            <a:endParaRPr lang="en-IN" sz="24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260591"/>
      </p:ext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b="0" dirty="0" i="0" lang="en-US">
                <a:effectLst/>
                <a:latin charset="0" panose="020B0502040204020203" pitchFamily="34" typeface="Bahnschrift"/>
              </a:rPr>
              <a:t> Two styles of distributing data</a:t>
            </a:r>
            <a:endParaRPr dirty="0" lang="en-US">
              <a:latin charset="0" panose="020B0502040204020203" pitchFamily="34" typeface="Bahnschrif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5807B-43E7-4CFD-B5D6-6CD238C24B9D}"/>
              </a:ext>
            </a:extLst>
          </p:cNvPr>
          <p:cNvSpPr/>
          <p:nvPr/>
        </p:nvSpPr>
        <p:spPr>
          <a:xfrm>
            <a:off x="3376502" y="5497033"/>
            <a:ext cx="2562446" cy="723014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err="1" lang="en-US" sz="2400">
                <a:latin charset="0" panose="020B0502040204020203" pitchFamily="34" typeface="Bahnschrift SemiBold"/>
              </a:rPr>
              <a:t>Sharding</a:t>
            </a:r>
            <a:endParaRPr dirty="0" lang="en-IN" sz="2400">
              <a:latin charset="0" panose="020B0502040204020203" pitchFamily="34" typeface="Bahnschrift SemiBol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0CF509-7DE8-4273-9419-056230EC1E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" r="-82"/>
          <a:stretch/>
        </p:blipFill>
        <p:spPr>
          <a:xfrm>
            <a:off x="3012004" y="1531958"/>
            <a:ext cx="3119992" cy="370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05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7D594-FA90-43CA-A969-855119FE9CC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44525A"/>
          </a:solidFill>
        </p:spPr>
        <p:txBody>
          <a:bodyPr anchor="ctr">
            <a:normAutofit/>
          </a:bodyPr>
          <a:lstStyle/>
          <a:p>
            <a:pPr algn="ctr"/>
            <a:r>
              <a:rPr lang="en-IN" sz="66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Single Server</a:t>
            </a:r>
          </a:p>
        </p:txBody>
      </p:sp>
    </p:spTree>
    <p:extLst>
      <p:ext uri="{BB962C8B-B14F-4D97-AF65-F5344CB8AC3E}">
        <p14:creationId xmlns:p14="http://schemas.microsoft.com/office/powerpoint/2010/main" val="553237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09758B-9EB9-4EA5-A5E6-FD8E81356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731" y="1547122"/>
            <a:ext cx="8386537" cy="500488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No distribution at all.</a:t>
            </a:r>
          </a:p>
          <a:p>
            <a:pPr algn="just"/>
            <a:r>
              <a:rPr lang="en-US" dirty="0"/>
              <a:t>Run the database on a single.</a:t>
            </a:r>
          </a:p>
          <a:p>
            <a:pPr algn="just"/>
            <a:r>
              <a:rPr lang="en-US" dirty="0"/>
              <a:t>It eliminates all the complexities that the other options introduce</a:t>
            </a:r>
          </a:p>
          <a:p>
            <a:pPr algn="just"/>
            <a:r>
              <a:rPr lang="en-US" dirty="0"/>
              <a:t>Easy for operations people to manage </a:t>
            </a:r>
          </a:p>
          <a:p>
            <a:pPr algn="just"/>
            <a:r>
              <a:rPr lang="en-US" dirty="0"/>
              <a:t>Easy for application developers to reason about.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F5CDA0-9D90-48B2-8205-D3CB8848D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Single Server</a:t>
            </a:r>
          </a:p>
        </p:txBody>
      </p:sp>
    </p:spTree>
    <p:extLst>
      <p:ext uri="{BB962C8B-B14F-4D97-AF65-F5344CB8AC3E}">
        <p14:creationId xmlns:p14="http://schemas.microsoft.com/office/powerpoint/2010/main" val="1049483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6C2520-447E-4078-B3B3-008599B73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Ques: Which database works best in </a:t>
            </a:r>
            <a:r>
              <a:rPr lang="en-US" dirty="0"/>
              <a:t>single-server configuration ?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968F57-E9D5-4D95-9A0A-3E8229ECB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Single Server</a:t>
            </a:r>
          </a:p>
        </p:txBody>
      </p:sp>
    </p:spTree>
    <p:extLst>
      <p:ext uri="{BB962C8B-B14F-4D97-AF65-F5344CB8AC3E}">
        <p14:creationId xmlns:p14="http://schemas.microsoft.com/office/powerpoint/2010/main" val="130489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6C2520-447E-4078-B3B3-008599B73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Ques: Which database works best in </a:t>
            </a:r>
            <a:r>
              <a:rPr lang="en-US" dirty="0"/>
              <a:t>single-server configuration ?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968F57-E9D5-4D95-9A0A-3E8229ECB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Single Server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7D9C97-916A-496C-8DEE-5EFC6134B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919" y="2552957"/>
            <a:ext cx="4214037" cy="31552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03236D-6CD6-4C45-ADAB-A3862036A7B3}"/>
              </a:ext>
            </a:extLst>
          </p:cNvPr>
          <p:cNvSpPr/>
          <p:nvPr/>
        </p:nvSpPr>
        <p:spPr>
          <a:xfrm>
            <a:off x="4058788" y="5910125"/>
            <a:ext cx="3232297" cy="52099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Bahnschrift SemiBold" panose="020B0502040204020203" pitchFamily="34" charset="0"/>
              </a:rPr>
              <a:t>Graph Database</a:t>
            </a:r>
          </a:p>
        </p:txBody>
      </p:sp>
    </p:spTree>
    <p:extLst>
      <p:ext uri="{BB962C8B-B14F-4D97-AF65-F5344CB8AC3E}">
        <p14:creationId xmlns:p14="http://schemas.microsoft.com/office/powerpoint/2010/main" val="4041965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3AB166-FBEF-41E1-9107-97BE38B4F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Single Server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0F0B65-2B14-4DFC-AC04-E14DC43D1CD7}"/>
              </a:ext>
            </a:extLst>
          </p:cNvPr>
          <p:cNvSpPr/>
          <p:nvPr/>
        </p:nvSpPr>
        <p:spPr>
          <a:xfrm>
            <a:off x="338361" y="2174291"/>
            <a:ext cx="8386537" cy="22082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latin typeface="Bahnschrift SemiBold" panose="020B0502040204020203" pitchFamily="34" charset="0"/>
              </a:rPr>
              <a:t>What is the most appropriate solution for processing aggregates in a  single-server document?</a:t>
            </a:r>
          </a:p>
        </p:txBody>
      </p:sp>
    </p:spTree>
    <p:extLst>
      <p:ext uri="{BB962C8B-B14F-4D97-AF65-F5344CB8AC3E}">
        <p14:creationId xmlns:p14="http://schemas.microsoft.com/office/powerpoint/2010/main" val="993926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D4B332-E5F3-4312-9671-7189E30D05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4724" y="1423516"/>
            <a:ext cx="7193811" cy="437461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967E289-EAD6-468B-A1CD-6B59CF7B7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Single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C51228-432F-4CFE-9EEB-1EA85D869FB7}"/>
              </a:ext>
            </a:extLst>
          </p:cNvPr>
          <p:cNvSpPr txBox="1"/>
          <p:nvPr/>
        </p:nvSpPr>
        <p:spPr>
          <a:xfrm>
            <a:off x="2453662" y="5988682"/>
            <a:ext cx="4236676" cy="523220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K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-value store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937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3AEF56-3B2D-41A2-86A5-72C022AA2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934" y="1758619"/>
            <a:ext cx="8021169" cy="474411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88236D5-082C-4DDF-A13A-373691DBA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Sharding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1598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179877-8CBE-412D-98C9-140C468FC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Sharding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61A8FD2-8639-4F6D-86F1-40266BDAB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362" y="1412927"/>
            <a:ext cx="8138907" cy="491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10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82EA65-4435-4711-9849-D6F6728ED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70272"/>
            <a:ext cx="8603619" cy="4007111"/>
          </a:xfrm>
        </p:spPr>
        <p:txBody>
          <a:bodyPr>
            <a:noAutofit/>
          </a:bodyPr>
          <a:lstStyle/>
          <a:p>
            <a:pPr algn="just"/>
            <a:r>
              <a:rPr lang="en-US" sz="2600" dirty="0">
                <a:latin typeface="Bahnschrift "/>
              </a:rPr>
              <a:t>Rapid responses from that server.</a:t>
            </a:r>
          </a:p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The load is balanced out nicely between servers.</a:t>
            </a:r>
          </a:p>
          <a:p>
            <a:pPr algn="just"/>
            <a:r>
              <a:rPr lang="en-US" sz="2600" b="0" i="0" dirty="0">
                <a:solidFill>
                  <a:schemeClr val="bg1">
                    <a:lumMod val="75000"/>
                  </a:schemeClr>
                </a:solidFill>
                <a:effectLst/>
                <a:latin typeface="Bahnschrift "/>
              </a:rPr>
              <a:t>You can store the new chunks of data, called logical shards</a:t>
            </a:r>
          </a:p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C</a:t>
            </a:r>
            <a:r>
              <a:rPr lang="en-US" sz="2600" b="0" i="0" dirty="0">
                <a:solidFill>
                  <a:schemeClr val="bg1">
                    <a:lumMod val="75000"/>
                  </a:schemeClr>
                </a:solidFill>
                <a:effectLst/>
                <a:latin typeface="Bahnschrift "/>
              </a:rPr>
              <a:t>an take advantage of all the compute resources across your cluster for every query.</a:t>
            </a:r>
          </a:p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S</a:t>
            </a:r>
            <a:r>
              <a:rPr lang="en-US" sz="2600" b="0" i="0" dirty="0">
                <a:solidFill>
                  <a:schemeClr val="bg1">
                    <a:lumMod val="75000"/>
                  </a:schemeClr>
                </a:solidFill>
                <a:effectLst/>
                <a:latin typeface="Bahnschrift "/>
              </a:rPr>
              <a:t>can fewer rows when responding to a query.</a:t>
            </a:r>
            <a:endParaRPr lang="en-US" sz="2600" dirty="0">
              <a:solidFill>
                <a:schemeClr val="bg1">
                  <a:lumMod val="75000"/>
                </a:schemeClr>
              </a:solidFill>
              <a:latin typeface="Bahnschrift 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EF9927-6151-467A-A989-73807A94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</a:t>
            </a:r>
            <a:r>
              <a:rPr lang="en-IN" dirty="0" err="1"/>
              <a:t>Sharding</a:t>
            </a:r>
            <a:r>
              <a:rPr lang="en-IN" dirty="0"/>
              <a:t> Used?</a:t>
            </a:r>
          </a:p>
        </p:txBody>
      </p:sp>
    </p:spTree>
    <p:extLst>
      <p:ext uri="{BB962C8B-B14F-4D97-AF65-F5344CB8AC3E}">
        <p14:creationId xmlns:p14="http://schemas.microsoft.com/office/powerpoint/2010/main" val="3627190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82EA65-4435-4711-9849-D6F6728ED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70272"/>
            <a:ext cx="8603619" cy="4007111"/>
          </a:xfrm>
        </p:spPr>
        <p:txBody>
          <a:bodyPr>
            <a:noAutofit/>
          </a:bodyPr>
          <a:lstStyle/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Rapid responses from that server.</a:t>
            </a:r>
          </a:p>
          <a:p>
            <a:pPr algn="just"/>
            <a:r>
              <a:rPr lang="en-US" sz="2600" dirty="0">
                <a:latin typeface="Bahnschrift "/>
              </a:rPr>
              <a:t>The load is balanced out nicely between servers.</a:t>
            </a:r>
          </a:p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You can store the new chunks of data, called logical shards</a:t>
            </a:r>
          </a:p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Can take advantage of all the compute resources across your cluster for every query.</a:t>
            </a:r>
          </a:p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Scan fewer rows when responding to a query.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EF9927-6151-467A-A989-73807A94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</a:t>
            </a:r>
            <a:r>
              <a:rPr lang="en-IN" dirty="0" err="1"/>
              <a:t>Sharding</a:t>
            </a:r>
            <a:r>
              <a:rPr lang="en-IN" dirty="0"/>
              <a:t> Used?</a:t>
            </a:r>
          </a:p>
        </p:txBody>
      </p:sp>
    </p:spTree>
    <p:extLst>
      <p:ext uri="{BB962C8B-B14F-4D97-AF65-F5344CB8AC3E}">
        <p14:creationId xmlns:p14="http://schemas.microsoft.com/office/powerpoint/2010/main" val="2275318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82EA65-4435-4711-9849-D6F6728ED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70272"/>
            <a:ext cx="8603619" cy="4007111"/>
          </a:xfrm>
        </p:spPr>
        <p:txBody>
          <a:bodyPr>
            <a:noAutofit/>
          </a:bodyPr>
          <a:lstStyle/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Rapid responses from that server.</a:t>
            </a:r>
          </a:p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The load is balanced out nicely between servers.</a:t>
            </a:r>
          </a:p>
          <a:p>
            <a:pPr algn="just"/>
            <a:r>
              <a:rPr lang="en-US" sz="2600" b="0" i="0" dirty="0">
                <a:effectLst/>
                <a:latin typeface="Bahnschrift "/>
              </a:rPr>
              <a:t>You can store the new chunks of data, called logical shards</a:t>
            </a:r>
          </a:p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Can take advantage of all the compute resources across your cluster for every query.</a:t>
            </a:r>
          </a:p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Scan fewer rows when responding to a query.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EF9927-6151-467A-A989-73807A94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</a:t>
            </a:r>
            <a:r>
              <a:rPr lang="en-IN" dirty="0" err="1"/>
              <a:t>Sharding</a:t>
            </a:r>
            <a:r>
              <a:rPr lang="en-IN" dirty="0"/>
              <a:t> Used?</a:t>
            </a:r>
          </a:p>
        </p:txBody>
      </p:sp>
    </p:spTree>
    <p:extLst>
      <p:ext uri="{BB962C8B-B14F-4D97-AF65-F5344CB8AC3E}">
        <p14:creationId xmlns:p14="http://schemas.microsoft.com/office/powerpoint/2010/main" val="1745203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82EA65-4435-4711-9849-D6F6728ED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70272"/>
            <a:ext cx="8603619" cy="4007111"/>
          </a:xfrm>
        </p:spPr>
        <p:txBody>
          <a:bodyPr>
            <a:noAutofit/>
          </a:bodyPr>
          <a:lstStyle/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Rapid responses from that server.</a:t>
            </a:r>
          </a:p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The load is balanced out nicely between servers.</a:t>
            </a:r>
          </a:p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You can store the new chunks of data, called logical shards</a:t>
            </a:r>
          </a:p>
          <a:p>
            <a:pPr algn="just"/>
            <a:r>
              <a:rPr lang="en-US" sz="2600" dirty="0">
                <a:latin typeface="Bahnschrift "/>
              </a:rPr>
              <a:t>C</a:t>
            </a:r>
            <a:r>
              <a:rPr lang="en-US" sz="2600" b="0" i="0" dirty="0">
                <a:effectLst/>
                <a:latin typeface="Bahnschrift "/>
              </a:rPr>
              <a:t>an take advantage of all the compute resources across your cluster for every query.</a:t>
            </a:r>
          </a:p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Scan fewer rows when responding to a query.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EF9927-6151-467A-A989-73807A94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</a:t>
            </a:r>
            <a:r>
              <a:rPr lang="en-IN" dirty="0" err="1"/>
              <a:t>Sharding</a:t>
            </a:r>
            <a:r>
              <a:rPr lang="en-IN" dirty="0"/>
              <a:t> Used?</a:t>
            </a:r>
          </a:p>
        </p:txBody>
      </p:sp>
    </p:spTree>
    <p:extLst>
      <p:ext uri="{BB962C8B-B14F-4D97-AF65-F5344CB8AC3E}">
        <p14:creationId xmlns:p14="http://schemas.microsoft.com/office/powerpoint/2010/main" val="2238822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82EA65-4435-4711-9849-D6F6728ED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70272"/>
            <a:ext cx="8603619" cy="4007111"/>
          </a:xfrm>
        </p:spPr>
        <p:txBody>
          <a:bodyPr>
            <a:noAutofit/>
          </a:bodyPr>
          <a:lstStyle/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Rapid responses from that server.</a:t>
            </a:r>
          </a:p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The load is balanced out nicely between servers.</a:t>
            </a:r>
          </a:p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You can store the new chunks of data, called logical shards</a:t>
            </a:r>
          </a:p>
          <a:p>
            <a:pPr algn="just"/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Bahnschrift "/>
              </a:rPr>
              <a:t>Can take advantage of all the compute resources across your cluster for every query.</a:t>
            </a:r>
          </a:p>
          <a:p>
            <a:pPr algn="just"/>
            <a:r>
              <a:rPr lang="en-US" sz="2600" dirty="0">
                <a:latin typeface="Bahnschrift "/>
              </a:rPr>
              <a:t>S</a:t>
            </a:r>
            <a:r>
              <a:rPr lang="en-US" sz="2600" b="0" i="0" dirty="0">
                <a:effectLst/>
                <a:latin typeface="Bahnschrift "/>
              </a:rPr>
              <a:t>can fewer rows when responding to a query.</a:t>
            </a:r>
            <a:endParaRPr lang="en-US" sz="2600" dirty="0">
              <a:latin typeface="Bahnschrift 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EF9927-6151-467A-A989-73807A94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</a:t>
            </a:r>
            <a:r>
              <a:rPr lang="en-IN" dirty="0" err="1"/>
              <a:t>Sharding</a:t>
            </a:r>
            <a:r>
              <a:rPr lang="en-IN" dirty="0"/>
              <a:t> Used?</a:t>
            </a:r>
          </a:p>
        </p:txBody>
      </p:sp>
    </p:spTree>
    <p:extLst>
      <p:ext uri="{BB962C8B-B14F-4D97-AF65-F5344CB8AC3E}">
        <p14:creationId xmlns:p14="http://schemas.microsoft.com/office/powerpoint/2010/main" val="105730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1A9D1-1FE9-462C-A019-F085898DD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834" y="2070541"/>
            <a:ext cx="8278332" cy="170280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How to clump the data up so that one user mostly gets her data from a single server ?</a:t>
            </a:r>
            <a:endParaRPr lang="en-IN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138604-028D-4791-B390-18E34346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Sharding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73325"/>
      </p:ext>
    </p:extLst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1A9D1-1FE9-462C-A019-F085898DD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lang="en-US"/>
              <a:t>How to clump the data up so that one user mostly gets her data from a single server</a:t>
            </a:r>
            <a:endParaRPr dirty="0"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138604-028D-4791-B390-18E34346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Sharding</a:t>
            </a:r>
            <a:endParaRPr dirty="0"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8D416A-FAC4-4BC1-9A36-AE2503B834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" r="30" t="269"/>
          <a:stretch/>
        </p:blipFill>
        <p:spPr>
          <a:xfrm>
            <a:off x="2179675" y="3047990"/>
            <a:ext cx="4316818" cy="358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55385"/>
      </p:ext>
    </p:extLst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1A9D1-1FE9-462C-A019-F085898DD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3" y="1605516"/>
            <a:ext cx="4488820" cy="5027513"/>
          </a:xfrm>
        </p:spPr>
        <p:txBody>
          <a:bodyPr/>
          <a:lstStyle/>
          <a:p>
            <a:pPr algn="just"/>
            <a:r>
              <a:rPr dirty="0" lang="en-US"/>
              <a:t>Combine data that’s commonly accessed together.</a:t>
            </a:r>
          </a:p>
          <a:p>
            <a:pPr algn="just"/>
            <a:r>
              <a:rPr dirty="0" lang="en-US">
                <a:solidFill>
                  <a:schemeClr val="bg1">
                    <a:lumMod val="85000"/>
                  </a:schemeClr>
                </a:solidFill>
              </a:rPr>
              <a:t>There are several factors that can help improve performance.</a:t>
            </a:r>
            <a:endParaRPr dirty="0" lang="en-IN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138604-028D-4791-B390-18E34346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Sharding</a:t>
            </a:r>
            <a:endParaRPr dirty="0"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8D416A-FAC4-4BC1-9A36-AE2503B834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" r="30"/>
          <a:stretch/>
        </p:blipFill>
        <p:spPr>
          <a:xfrm>
            <a:off x="4827182" y="1759352"/>
            <a:ext cx="4316818" cy="359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363227"/>
      </p:ext>
    </p:extLst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1A9D1-1FE9-462C-A019-F085898DD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3" y="1605516"/>
            <a:ext cx="4488820" cy="5027513"/>
          </a:xfrm>
        </p:spPr>
        <p:txBody>
          <a:bodyPr/>
          <a:lstStyle/>
          <a:p>
            <a:pPr algn="just"/>
            <a:r>
              <a:rPr dirty="0" lang="en-US">
                <a:solidFill>
                  <a:schemeClr val="bg1">
                    <a:lumMod val="85000"/>
                  </a:schemeClr>
                </a:solidFill>
              </a:rPr>
              <a:t>Combine data that’s commonly accessed together.</a:t>
            </a:r>
          </a:p>
          <a:p>
            <a:pPr algn="just"/>
            <a:r>
              <a:rPr dirty="0" lang="en-US"/>
              <a:t>There are several factors that can help improve performance.</a:t>
            </a:r>
            <a:endParaRPr dirty="0"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138604-028D-4791-B390-18E34346B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3" y="0"/>
            <a:ext cx="8386537" cy="1325563"/>
          </a:xfrm>
        </p:spPr>
        <p:txBody>
          <a:bodyPr/>
          <a:lstStyle/>
          <a:p>
            <a:r>
              <a:rPr dirty="0" err="1" lang="en-IN"/>
              <a:t>Sharding</a:t>
            </a:r>
            <a:endParaRPr dirty="0"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14D8F-D290-4191-9535-53ADB81A87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" r="30"/>
          <a:stretch/>
        </p:blipFill>
        <p:spPr>
          <a:xfrm>
            <a:off x="4827182" y="1759352"/>
            <a:ext cx="4316818" cy="359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95342"/>
      </p:ext>
    </p:extLst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1A9D1-1FE9-462C-A019-F085898DD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3" y="1605516"/>
            <a:ext cx="4488820" cy="5027513"/>
          </a:xfrm>
        </p:spPr>
        <p:txBody>
          <a:bodyPr>
            <a:normAutofit lnSpcReduction="10000"/>
          </a:bodyPr>
          <a:lstStyle/>
          <a:p>
            <a:pPr algn="just"/>
            <a:r>
              <a:rPr dirty="0" lang="en-US"/>
              <a:t>Place the data close to where it’s being accessed.</a:t>
            </a:r>
          </a:p>
          <a:p>
            <a:pPr algn="just"/>
            <a:r>
              <a:rPr dirty="0" lang="en-US">
                <a:solidFill>
                  <a:schemeClr val="bg1">
                    <a:lumMod val="85000"/>
                  </a:schemeClr>
                </a:solidFill>
              </a:rPr>
              <a:t>If you have orders for someone who lives in Boston, you can place that data in your eastern US data center</a:t>
            </a:r>
          </a:p>
          <a:p>
            <a:pPr algn="just"/>
            <a:endParaRPr dirty="0"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138604-028D-4791-B390-18E34346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Sharding</a:t>
            </a:r>
            <a:endParaRPr dirty="0"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422B9-99DD-4F7A-ABD7-A0D17388FB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" r="30"/>
          <a:stretch/>
        </p:blipFill>
        <p:spPr>
          <a:xfrm>
            <a:off x="4827182" y="1759352"/>
            <a:ext cx="4316818" cy="359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15181"/>
      </p:ext>
    </p:extLst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1A9D1-1FE9-462C-A019-F085898DD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3" y="1605516"/>
            <a:ext cx="4488820" cy="5027513"/>
          </a:xfrm>
        </p:spPr>
        <p:txBody>
          <a:bodyPr>
            <a:normAutofit lnSpcReduction="10000"/>
          </a:bodyPr>
          <a:lstStyle/>
          <a:p>
            <a:pPr algn="just"/>
            <a:r>
              <a:rPr dirty="0" lang="en-US">
                <a:solidFill>
                  <a:schemeClr val="bg1">
                    <a:lumMod val="85000"/>
                  </a:schemeClr>
                </a:solidFill>
              </a:rPr>
              <a:t>Place the data close to where it’s being accessed.</a:t>
            </a:r>
          </a:p>
          <a:p>
            <a:pPr algn="just"/>
            <a:r>
              <a:rPr dirty="0" lang="en-US"/>
              <a:t>If you have orders for someone who lives in Boston, you can place that data in your eastern US data center</a:t>
            </a:r>
          </a:p>
          <a:p>
            <a:pPr algn="just"/>
            <a:endParaRPr dirty="0"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138604-028D-4791-B390-18E34346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Sharding</a:t>
            </a:r>
            <a:endParaRPr dirty="0"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0125A-4325-4242-95E7-E1D10987BA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" r="30"/>
          <a:stretch/>
        </p:blipFill>
        <p:spPr>
          <a:xfrm>
            <a:off x="4827182" y="1759352"/>
            <a:ext cx="4316818" cy="359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832927"/>
      </p:ext>
    </p:extLst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1A9D1-1FE9-462C-A019-F085898DD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3" y="1605516"/>
            <a:ext cx="4488820" cy="5027513"/>
          </a:xfrm>
        </p:spPr>
        <p:txBody>
          <a:bodyPr>
            <a:normAutofit/>
          </a:bodyPr>
          <a:lstStyle/>
          <a:p>
            <a:pPr algn="just"/>
            <a:r>
              <a:rPr dirty="0" lang="en-US"/>
              <a:t>To keep the load even </a:t>
            </a:r>
          </a:p>
          <a:p>
            <a:pPr algn="just"/>
            <a:r>
              <a:rPr dirty="0" lang="en-US">
                <a:solidFill>
                  <a:schemeClr val="bg1">
                    <a:lumMod val="85000"/>
                  </a:schemeClr>
                </a:solidFill>
              </a:rPr>
              <a:t>Puts Aggregate together</a:t>
            </a:r>
          </a:p>
          <a:p>
            <a:pPr algn="just"/>
            <a:r>
              <a:rPr dirty="0" lang="en-US">
                <a:solidFill>
                  <a:schemeClr val="bg1">
                    <a:lumMod val="85000"/>
                  </a:schemeClr>
                </a:solidFill>
              </a:rPr>
              <a:t>Keeping its rows in lexicographic order.</a:t>
            </a:r>
          </a:p>
          <a:p>
            <a:pPr algn="just"/>
            <a:r>
              <a:rPr dirty="0" lang="en-US">
                <a:solidFill>
                  <a:schemeClr val="bg1">
                    <a:lumMod val="85000"/>
                  </a:schemeClr>
                </a:solidFill>
              </a:rPr>
              <a:t>sorting web addresses based on reversed domain names</a:t>
            </a:r>
          </a:p>
          <a:p>
            <a:pPr algn="just"/>
            <a:endParaRPr dirty="0" lang="en-US"/>
          </a:p>
          <a:p>
            <a:pPr algn="just"/>
            <a:endParaRPr dirty="0"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138604-028D-4791-B390-18E34346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Sharding</a:t>
            </a:r>
            <a:endParaRPr dirty="0"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8D416A-FAC4-4BC1-9A36-AE2503B834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" r="30" t="269"/>
          <a:stretch/>
        </p:blipFill>
        <p:spPr>
          <a:xfrm>
            <a:off x="4827182" y="1325563"/>
            <a:ext cx="4316818" cy="358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59836"/>
      </p:ext>
    </p:extLst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1A9D1-1FE9-462C-A019-F085898DD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3" y="1605516"/>
            <a:ext cx="4488820" cy="5027513"/>
          </a:xfrm>
        </p:spPr>
        <p:txBody>
          <a:bodyPr>
            <a:normAutofit/>
          </a:bodyPr>
          <a:lstStyle/>
          <a:p>
            <a:pPr algn="just"/>
            <a:r>
              <a:rPr dirty="0" lang="en-US">
                <a:solidFill>
                  <a:schemeClr val="bg1">
                    <a:lumMod val="85000"/>
                  </a:schemeClr>
                </a:solidFill>
              </a:rPr>
              <a:t>To keep the load even </a:t>
            </a:r>
          </a:p>
          <a:p>
            <a:pPr algn="just"/>
            <a:r>
              <a:rPr dirty="0" lang="en-US"/>
              <a:t>Puts Aggregate together</a:t>
            </a:r>
          </a:p>
          <a:p>
            <a:pPr algn="just"/>
            <a:r>
              <a:rPr dirty="0" lang="en-US">
                <a:solidFill>
                  <a:schemeClr val="bg1">
                    <a:lumMod val="85000"/>
                  </a:schemeClr>
                </a:solidFill>
              </a:rPr>
              <a:t>Keeping its rows in lexicographic order.</a:t>
            </a:r>
          </a:p>
          <a:p>
            <a:pPr algn="just"/>
            <a:r>
              <a:rPr dirty="0" lang="en-US">
                <a:solidFill>
                  <a:schemeClr val="bg1">
                    <a:lumMod val="85000"/>
                  </a:schemeClr>
                </a:solidFill>
              </a:rPr>
              <a:t>sorting web addresses based on reversed domain names</a:t>
            </a:r>
          </a:p>
          <a:p>
            <a:pPr algn="just"/>
            <a:endParaRPr dirty="0" lang="en-US"/>
          </a:p>
          <a:p>
            <a:pPr algn="just"/>
            <a:endParaRPr dirty="0"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138604-028D-4791-B390-18E34346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Sharding</a:t>
            </a:r>
            <a:endParaRPr dirty="0"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8D416A-FAC4-4BC1-9A36-AE2503B834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" r="30" t="269"/>
          <a:stretch/>
        </p:blipFill>
        <p:spPr>
          <a:xfrm>
            <a:off x="4827182" y="1325563"/>
            <a:ext cx="4316818" cy="358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59690"/>
      </p:ext>
    </p:extLst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1A9D1-1FE9-462C-A019-F085898DD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3" y="1605516"/>
            <a:ext cx="4488820" cy="5027513"/>
          </a:xfrm>
        </p:spPr>
        <p:txBody>
          <a:bodyPr>
            <a:normAutofit/>
          </a:bodyPr>
          <a:lstStyle/>
          <a:p>
            <a:pPr algn="just"/>
            <a:r>
              <a:rPr dirty="0" lang="en-US">
                <a:solidFill>
                  <a:schemeClr val="bg1">
                    <a:lumMod val="85000"/>
                  </a:schemeClr>
                </a:solidFill>
              </a:rPr>
              <a:t>To keep the load even </a:t>
            </a:r>
          </a:p>
          <a:p>
            <a:pPr algn="just"/>
            <a:r>
              <a:rPr dirty="0" lang="en-US">
                <a:solidFill>
                  <a:schemeClr val="bg1">
                    <a:lumMod val="85000"/>
                  </a:schemeClr>
                </a:solidFill>
              </a:rPr>
              <a:t>Puts Aggregate together</a:t>
            </a:r>
          </a:p>
          <a:p>
            <a:pPr algn="just"/>
            <a:r>
              <a:rPr dirty="0" lang="en-US"/>
              <a:t>Keeping its rows in lexicographic order.</a:t>
            </a:r>
          </a:p>
          <a:p>
            <a:pPr algn="just"/>
            <a:r>
              <a:rPr dirty="0" lang="en-US">
                <a:solidFill>
                  <a:schemeClr val="bg1">
                    <a:lumMod val="85000"/>
                  </a:schemeClr>
                </a:solidFill>
              </a:rPr>
              <a:t>sorting web addresses based on reversed domain names</a:t>
            </a:r>
          </a:p>
          <a:p>
            <a:pPr algn="just"/>
            <a:endParaRPr dirty="0" lang="en-US"/>
          </a:p>
          <a:p>
            <a:pPr algn="just"/>
            <a:endParaRPr dirty="0"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138604-028D-4791-B390-18E34346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Sharding</a:t>
            </a:r>
            <a:endParaRPr dirty="0"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8D416A-FAC4-4BC1-9A36-AE2503B834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" r="30" t="269"/>
          <a:stretch/>
        </p:blipFill>
        <p:spPr>
          <a:xfrm>
            <a:off x="4827182" y="1325563"/>
            <a:ext cx="4316818" cy="358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01893"/>
      </p:ext>
    </p:extLst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C1A9D1-1FE9-462C-A019-F085898DD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3" y="1605516"/>
            <a:ext cx="4488820" cy="5027513"/>
          </a:xfrm>
        </p:spPr>
        <p:txBody>
          <a:bodyPr>
            <a:normAutofit/>
          </a:bodyPr>
          <a:lstStyle/>
          <a:p>
            <a:pPr algn="just"/>
            <a:r>
              <a:rPr dirty="0" lang="en-US">
                <a:solidFill>
                  <a:schemeClr val="bg1">
                    <a:lumMod val="85000"/>
                  </a:schemeClr>
                </a:solidFill>
              </a:rPr>
              <a:t>To keep the load even </a:t>
            </a:r>
          </a:p>
          <a:p>
            <a:pPr algn="just"/>
            <a:r>
              <a:rPr dirty="0" lang="en-US">
                <a:solidFill>
                  <a:schemeClr val="bg1">
                    <a:lumMod val="85000"/>
                  </a:schemeClr>
                </a:solidFill>
              </a:rPr>
              <a:t>Puts Aggregate together</a:t>
            </a:r>
          </a:p>
          <a:p>
            <a:pPr algn="just"/>
            <a:r>
              <a:rPr dirty="0" lang="en-US">
                <a:solidFill>
                  <a:schemeClr val="bg1">
                    <a:lumMod val="85000"/>
                  </a:schemeClr>
                </a:solidFill>
              </a:rPr>
              <a:t>Keeping its rows in lexicographic order.</a:t>
            </a:r>
          </a:p>
          <a:p>
            <a:pPr algn="just"/>
            <a:r>
              <a:rPr dirty="0" lang="en-US"/>
              <a:t>Sorting web addresses based on reversed domain names</a:t>
            </a:r>
          </a:p>
          <a:p>
            <a:pPr algn="just"/>
            <a:endParaRPr dirty="0" lang="en-US"/>
          </a:p>
          <a:p>
            <a:pPr algn="just"/>
            <a:endParaRPr dirty="0"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138604-028D-4791-B390-18E34346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Sharding</a:t>
            </a:r>
            <a:endParaRPr dirty="0"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8D416A-FAC4-4BC1-9A36-AE2503B834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" r="30" t="269"/>
          <a:stretch/>
        </p:blipFill>
        <p:spPr>
          <a:xfrm>
            <a:off x="4827182" y="1325563"/>
            <a:ext cx="4316818" cy="358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7367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046CDA-FA7B-40A2-9012-007674EB7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Historically most people have done </a:t>
            </a:r>
            <a:r>
              <a:rPr lang="en-US" dirty="0" err="1"/>
              <a:t>sharding</a:t>
            </a:r>
            <a:r>
              <a:rPr lang="en-US" dirty="0"/>
              <a:t> as part of application logic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865DD5-3AB1-4CF3-8DEF-09F5AF6C1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Sharding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7D0022-F261-4ED3-877E-D7150132AAA2}"/>
              </a:ext>
            </a:extLst>
          </p:cNvPr>
          <p:cNvSpPr/>
          <p:nvPr/>
        </p:nvSpPr>
        <p:spPr>
          <a:xfrm>
            <a:off x="1645759" y="3741297"/>
            <a:ext cx="2275367" cy="1488558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Bahnschrift "/>
              </a:rPr>
              <a:t>A to 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FBFE4E-B57E-437C-A55C-E06865082D2B}"/>
              </a:ext>
            </a:extLst>
          </p:cNvPr>
          <p:cNvSpPr/>
          <p:nvPr/>
        </p:nvSpPr>
        <p:spPr>
          <a:xfrm>
            <a:off x="5185329" y="3741297"/>
            <a:ext cx="2275367" cy="1488558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latin typeface="Bahnschrift "/>
              </a:rPr>
              <a:t>E to G</a:t>
            </a:r>
          </a:p>
        </p:txBody>
      </p:sp>
    </p:spTree>
    <p:extLst>
      <p:ext uri="{BB962C8B-B14F-4D97-AF65-F5344CB8AC3E}">
        <p14:creationId xmlns:p14="http://schemas.microsoft.com/office/powerpoint/2010/main" val="39199967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8572C7-D49B-4E20-9795-46196D556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3462" y="1555612"/>
            <a:ext cx="7077075" cy="394335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B45596A-F6BE-4BF8-A3BB-7EE537FEF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Sharding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F6C8F5-5C48-4F78-B486-C5FED8410492}"/>
              </a:ext>
            </a:extLst>
          </p:cNvPr>
          <p:cNvSpPr txBox="1"/>
          <p:nvPr/>
        </p:nvSpPr>
        <p:spPr>
          <a:xfrm>
            <a:off x="2285999" y="5798002"/>
            <a:ext cx="4572000" cy="400110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 "/>
              </a:rPr>
              <a:t>Rebalancing the </a:t>
            </a:r>
            <a:r>
              <a:rPr lang="en-US" sz="2000" dirty="0" err="1">
                <a:solidFill>
                  <a:schemeClr val="bg1"/>
                </a:solidFill>
                <a:latin typeface="Bahnschrift "/>
              </a:rPr>
              <a:t>Sharding</a:t>
            </a:r>
            <a:endParaRPr lang="en-IN" sz="2000" dirty="0">
              <a:solidFill>
                <a:schemeClr val="bg1"/>
              </a:solidFill>
              <a:latin typeface="Bahnschrift "/>
            </a:endParaRPr>
          </a:p>
        </p:txBody>
      </p:sp>
    </p:spTree>
    <p:extLst>
      <p:ext uri="{BB962C8B-B14F-4D97-AF65-F5344CB8AC3E}">
        <p14:creationId xmlns:p14="http://schemas.microsoft.com/office/powerpoint/2010/main" val="35486833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45596A-F6BE-4BF8-A3BB-7EE537FEF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Sharding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F6C8F5-5C48-4F78-B486-C5FED8410492}"/>
              </a:ext>
            </a:extLst>
          </p:cNvPr>
          <p:cNvSpPr txBox="1"/>
          <p:nvPr/>
        </p:nvSpPr>
        <p:spPr>
          <a:xfrm>
            <a:off x="1789834" y="1733277"/>
            <a:ext cx="5564331" cy="584775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Bahnschrift "/>
              </a:rPr>
              <a:t>Rebalancing the </a:t>
            </a:r>
            <a:r>
              <a:rPr lang="en-US" sz="3200" dirty="0" err="1">
                <a:solidFill>
                  <a:schemeClr val="bg1"/>
                </a:solidFill>
                <a:latin typeface="Bahnschrift "/>
              </a:rPr>
              <a:t>Sharding</a:t>
            </a:r>
            <a:endParaRPr lang="en-IN" sz="3200" dirty="0">
              <a:solidFill>
                <a:schemeClr val="bg1"/>
              </a:solidFill>
              <a:latin typeface="Bahnschrift 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E56D56-CB59-41B3-9939-DD27749B9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267" y="2476847"/>
            <a:ext cx="6923277" cy="2955852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sz="2800" dirty="0"/>
              <a:t>hanging the application code.</a:t>
            </a:r>
          </a:p>
          <a:p>
            <a:r>
              <a:rPr lang="en-US" dirty="0"/>
              <a:t>M</a:t>
            </a:r>
            <a:r>
              <a:rPr lang="en-US" sz="2800" dirty="0"/>
              <a:t>igrating the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4151983"/>
      </p:ext>
    </p:extLst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B82AFF0-1AAD-46A4-B07A-22822694ED8E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6"/>
          <a:stretch/>
        </p:blipFill>
        <p:spPr>
          <a:xfrm>
            <a:off x="1150988" y="1525226"/>
            <a:ext cx="6842023" cy="4210740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4E5415A-7860-4D95-85EA-64B44739C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IN"/>
              <a:t>Auto-</a:t>
            </a:r>
            <a:r>
              <a:rPr dirty="0" err="1" lang="en-IN"/>
              <a:t>Sharding</a:t>
            </a:r>
            <a:endParaRPr dirty="0"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145FC2-EC9F-41E8-B365-7E10B2E59837}"/>
              </a:ext>
            </a:extLst>
          </p:cNvPr>
          <p:cNvSpPr txBox="1"/>
          <p:nvPr/>
        </p:nvSpPr>
        <p:spPr>
          <a:xfrm>
            <a:off x="2384526" y="593562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 i="0" lang="en-US">
                <a:solidFill>
                  <a:srgbClr val="0E0F25"/>
                </a:solidFill>
                <a:effectLst/>
                <a:latin typeface="Bahnschrift "/>
              </a:rPr>
              <a:t>Auto-</a:t>
            </a:r>
            <a:r>
              <a:rPr dirty="0" err="1" i="0" lang="en-US">
                <a:solidFill>
                  <a:srgbClr val="0E0F25"/>
                </a:solidFill>
                <a:effectLst/>
                <a:latin typeface="Bahnschrift "/>
              </a:rPr>
              <a:t>sharding</a:t>
            </a:r>
            <a:r>
              <a:rPr dirty="0" i="0" lang="en-US">
                <a:solidFill>
                  <a:srgbClr val="0E0F25"/>
                </a:solidFill>
                <a:effectLst/>
                <a:latin typeface="Bahnschrift "/>
              </a:rPr>
              <a:t> Shards mongo </a:t>
            </a:r>
            <a:r>
              <a:rPr dirty="0" err="1" i="0" lang="en-US">
                <a:solidFill>
                  <a:srgbClr val="0E0F25"/>
                </a:solidFill>
                <a:effectLst/>
                <a:latin typeface="Bahnschrift "/>
              </a:rPr>
              <a:t>mongo</a:t>
            </a:r>
            <a:r>
              <a:rPr dirty="0" i="0" lang="en-US">
                <a:solidFill>
                  <a:srgbClr val="0E0F25"/>
                </a:solidFill>
                <a:effectLst/>
                <a:latin typeface="Bahnschrift "/>
              </a:rPr>
              <a:t> </a:t>
            </a:r>
            <a:r>
              <a:rPr dirty="0" err="1" i="0" lang="en-US">
                <a:solidFill>
                  <a:srgbClr val="0E0F25"/>
                </a:solidFill>
                <a:effectLst/>
                <a:latin typeface="Bahnschrift "/>
              </a:rPr>
              <a:t>mongo</a:t>
            </a:r>
            <a:endParaRPr dirty="0" i="0" lang="en-US">
              <a:solidFill>
                <a:srgbClr val="0E0F25"/>
              </a:solidFill>
              <a:effectLst/>
              <a:latin typeface="Bahnschrift "/>
            </a:endParaRPr>
          </a:p>
        </p:txBody>
      </p:sp>
    </p:spTree>
    <p:extLst>
      <p:ext uri="{BB962C8B-B14F-4D97-AF65-F5344CB8AC3E}">
        <p14:creationId xmlns:p14="http://schemas.microsoft.com/office/powerpoint/2010/main" val="11425832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18C52B-3F0B-435E-AA85-753EC155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Horizontal </a:t>
            </a:r>
            <a:r>
              <a:rPr lang="en-IN" dirty="0" err="1"/>
              <a:t>Sharding</a:t>
            </a:r>
            <a:r>
              <a:rPr lang="en-IN" dirty="0"/>
              <a:t> is Effective?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1256DCF-E67D-4B5E-8D53-F8319A9D8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4864" y="1732945"/>
            <a:ext cx="3238500" cy="44958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12E227-3608-4BB6-A597-2DCC83E47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62" y="2275206"/>
            <a:ext cx="305752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7229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18C52B-3F0B-435E-AA85-753EC155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Vertical </a:t>
            </a:r>
            <a:r>
              <a:rPr lang="en-IN" dirty="0" err="1"/>
              <a:t>Sharding</a:t>
            </a:r>
            <a:r>
              <a:rPr lang="en-IN" dirty="0"/>
              <a:t> is Effective?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00F33-2968-4717-B6D7-ED19A93A0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62" y="2275206"/>
            <a:ext cx="3057525" cy="2514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40E582-F957-45FC-ADAC-58EFFAA26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013" y="2168881"/>
            <a:ext cx="4562475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390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D5AAAE-421A-4D09-B76D-8EB639AC5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/>
              <a:t>Sharding</a:t>
            </a:r>
            <a:r>
              <a:rPr lang="en-US" dirty="0"/>
              <a:t> is particularly valuable for performance.</a:t>
            </a:r>
          </a:p>
          <a:p>
            <a:pPr algn="just"/>
            <a:r>
              <a:rPr lang="en-US" dirty="0"/>
              <a:t>Using replication, particularly with caching, can greatly improve read performance. </a:t>
            </a:r>
          </a:p>
          <a:p>
            <a:pPr algn="just"/>
            <a:r>
              <a:rPr lang="en-US" dirty="0" err="1"/>
              <a:t>Sharding</a:t>
            </a:r>
            <a:r>
              <a:rPr lang="en-US" dirty="0"/>
              <a:t> provides a way to horizontally scale writes.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C3184C-F9E0-4C7F-980A-B57DF2748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Sharding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81979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D5AAAE-421A-4D09-B76D-8EB639AC5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Improve resilience when used alone. </a:t>
            </a:r>
          </a:p>
          <a:p>
            <a:pPr algn="just"/>
            <a:r>
              <a:rPr lang="en-US" dirty="0"/>
              <a:t>Although the data is on different nodes, a node failure makes that shard’s data unavailable just as surely as it does for a single-server solution.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C3184C-F9E0-4C7F-980A-B57DF2748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Sharding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62106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2AAD50-8AAC-4BD5-8F60-8FFB3FBB6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6501" y="1420916"/>
            <a:ext cx="5750997" cy="421467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0B56C08-417D-467A-9BEB-365ACC9CF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Master-Slave Replication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62EFA8-A1BA-42E4-8AAF-F1B09EDC2C97}"/>
              </a:ext>
            </a:extLst>
          </p:cNvPr>
          <p:cNvSpPr txBox="1"/>
          <p:nvPr/>
        </p:nvSpPr>
        <p:spPr>
          <a:xfrm>
            <a:off x="412390" y="5730948"/>
            <a:ext cx="8238479" cy="1039195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chemeClr val="bg1"/>
                </a:solidFill>
                <a:latin typeface="Bahnschrift "/>
              </a:rPr>
              <a:t>Data is replicated from master to slaves. The master services all writes; reads may come from either master or slaves.</a:t>
            </a:r>
            <a:endParaRPr lang="en-IN" sz="2200" dirty="0">
              <a:solidFill>
                <a:schemeClr val="bg1"/>
              </a:solidFill>
              <a:latin typeface="Bahnschrift "/>
            </a:endParaRPr>
          </a:p>
        </p:txBody>
      </p:sp>
    </p:spTree>
    <p:extLst>
      <p:ext uri="{BB962C8B-B14F-4D97-AF65-F5344CB8AC3E}">
        <p14:creationId xmlns:p14="http://schemas.microsoft.com/office/powerpoint/2010/main" val="19593714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D9198D-0558-434D-84E0-24E481F52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35548"/>
            <a:ext cx="8386537" cy="500488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Master-slave replication is most helpful for scaling when you have a read-intensive dataset. </a:t>
            </a:r>
          </a:p>
          <a:p>
            <a:pPr algn="just"/>
            <a:r>
              <a:rPr lang="en-US" dirty="0"/>
              <a:t>You can scale horizontally to handle more read requests by adding more slave nodes and ensuring that all read requests are routed to the slaves.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6CBDDB-8B8D-4180-B908-629B3539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Master-Slave Replication</a:t>
            </a:r>
          </a:p>
        </p:txBody>
      </p:sp>
    </p:spTree>
    <p:extLst>
      <p:ext uri="{BB962C8B-B14F-4D97-AF65-F5344CB8AC3E}">
        <p14:creationId xmlns:p14="http://schemas.microsoft.com/office/powerpoint/2010/main" val="26961643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D9198D-0558-434D-84E0-24E481F52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35548"/>
            <a:ext cx="8386537" cy="500488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You are still, however, limited by the ability of the master to process updates and its ability to pass those updates on. </a:t>
            </a:r>
          </a:p>
          <a:p>
            <a:pPr algn="just"/>
            <a:r>
              <a:rPr lang="en-US" dirty="0"/>
              <a:t>Consequently it isn’t such a good scheme for datasets with heavy write traffic, although offloading the read traffic will help a bit with handling the write load.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6CBDDB-8B8D-4180-B908-629B3539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Master-Slave Replication</a:t>
            </a:r>
          </a:p>
        </p:txBody>
      </p:sp>
    </p:spTree>
    <p:extLst>
      <p:ext uri="{BB962C8B-B14F-4D97-AF65-F5344CB8AC3E}">
        <p14:creationId xmlns:p14="http://schemas.microsoft.com/office/powerpoint/2010/main" val="14271375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D9198D-0558-434D-84E0-24E481F52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second advantage of master-slave replication is </a:t>
            </a:r>
            <a:r>
              <a:rPr lang="en-US" dirty="0">
                <a:solidFill>
                  <a:srgbClr val="C00000"/>
                </a:solidFill>
              </a:rPr>
              <a:t>read resilience</a:t>
            </a:r>
            <a:r>
              <a:rPr lang="en-US" dirty="0"/>
              <a:t>:</a:t>
            </a:r>
          </a:p>
          <a:p>
            <a:pPr algn="just"/>
            <a:r>
              <a:rPr lang="en-US" dirty="0"/>
              <a:t>The failure of the master does eliminate the ability to handle writes until either the master is restored or a new master is appointed.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6CBDDB-8B8D-4180-B908-629B3539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Master-Slave Replication</a:t>
            </a:r>
          </a:p>
        </p:txBody>
      </p:sp>
    </p:spTree>
    <p:extLst>
      <p:ext uri="{BB962C8B-B14F-4D97-AF65-F5344CB8AC3E}">
        <p14:creationId xmlns:p14="http://schemas.microsoft.com/office/powerpoint/2010/main" val="33696628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2D5DCA-E99A-415A-BD49-E99A6E69C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0119" y="1628775"/>
            <a:ext cx="6482799" cy="50038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E731329-6DAD-4563-BB0A-531C32CF4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-24772"/>
            <a:ext cx="8386537" cy="1325563"/>
          </a:xfrm>
        </p:spPr>
        <p:txBody>
          <a:bodyPr/>
          <a:lstStyle/>
          <a:p>
            <a:r>
              <a:rPr lang="en-IN" dirty="0"/>
              <a:t>Peer-to-Peer Replication</a:t>
            </a:r>
          </a:p>
        </p:txBody>
      </p:sp>
    </p:spTree>
    <p:extLst>
      <p:ext uri="{BB962C8B-B14F-4D97-AF65-F5344CB8AC3E}">
        <p14:creationId xmlns:p14="http://schemas.microsoft.com/office/powerpoint/2010/main" val="24743589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971F49-207B-4D20-B4A5-9EF0AF72D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8257" y="1570749"/>
            <a:ext cx="6898450" cy="426990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7701CFE-716A-466A-B481-87ABDFAFB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Combining </a:t>
            </a:r>
            <a:r>
              <a:rPr lang="en-IN" dirty="0" err="1"/>
              <a:t>Sharding</a:t>
            </a:r>
            <a:r>
              <a:rPr lang="en-IN" dirty="0"/>
              <a:t> and Replication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4858B-F980-471D-8312-77BE5953B32C}"/>
              </a:ext>
            </a:extLst>
          </p:cNvPr>
          <p:cNvSpPr txBox="1"/>
          <p:nvPr/>
        </p:nvSpPr>
        <p:spPr>
          <a:xfrm>
            <a:off x="1941482" y="5922159"/>
            <a:ext cx="4572000" cy="707886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 "/>
              </a:rPr>
              <a:t>Using master-slave replication together with </a:t>
            </a:r>
            <a:r>
              <a:rPr lang="en-US" sz="2000" dirty="0" err="1">
                <a:solidFill>
                  <a:schemeClr val="bg1"/>
                </a:solidFill>
                <a:latin typeface="Bahnschrift "/>
              </a:rPr>
              <a:t>sharding</a:t>
            </a:r>
            <a:endParaRPr lang="en-IN" sz="2000" dirty="0">
              <a:solidFill>
                <a:schemeClr val="bg1"/>
              </a:solidFill>
              <a:latin typeface="Bahnschrift "/>
            </a:endParaRPr>
          </a:p>
        </p:txBody>
      </p:sp>
    </p:spTree>
    <p:extLst>
      <p:ext uri="{BB962C8B-B14F-4D97-AF65-F5344CB8AC3E}">
        <p14:creationId xmlns:p14="http://schemas.microsoft.com/office/powerpoint/2010/main" val="21093712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701CFE-716A-466A-B481-87ABDFAFB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Combining </a:t>
            </a:r>
            <a:r>
              <a:rPr lang="en-IN" dirty="0" err="1"/>
              <a:t>Sharding</a:t>
            </a:r>
            <a:r>
              <a:rPr lang="en-IN" dirty="0"/>
              <a:t> and Replication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4858B-F980-471D-8312-77BE5953B32C}"/>
              </a:ext>
            </a:extLst>
          </p:cNvPr>
          <p:cNvSpPr txBox="1"/>
          <p:nvPr/>
        </p:nvSpPr>
        <p:spPr>
          <a:xfrm>
            <a:off x="1941482" y="5762671"/>
            <a:ext cx="4572000" cy="707886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 "/>
              </a:rPr>
              <a:t>Using peer-to-peer replication together with </a:t>
            </a:r>
            <a:r>
              <a:rPr lang="en-US" sz="2000" dirty="0" err="1">
                <a:solidFill>
                  <a:schemeClr val="bg1"/>
                </a:solidFill>
                <a:latin typeface="Bahnschrift "/>
              </a:rPr>
              <a:t>sharding</a:t>
            </a:r>
            <a:endParaRPr lang="en-IN" sz="2000" dirty="0">
              <a:solidFill>
                <a:schemeClr val="bg1"/>
              </a:solidFill>
              <a:latin typeface="Bahnschrift 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FD7A940-B700-47A6-B926-BD50DB846A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0854" y="1949519"/>
            <a:ext cx="6676493" cy="3164741"/>
          </a:xfrm>
        </p:spPr>
      </p:pic>
    </p:spTree>
    <p:extLst>
      <p:ext uri="{BB962C8B-B14F-4D97-AF65-F5344CB8AC3E}">
        <p14:creationId xmlns:p14="http://schemas.microsoft.com/office/powerpoint/2010/main" val="2447114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6B8544-C1FD-47CD-B6AC-1A1DCE34C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breaking up a large data set into smaller subsets. </a:t>
            </a:r>
          </a:p>
          <a:p>
            <a:pPr algn="just"/>
            <a:r>
              <a:rPr lang="en-US" b="0" i="0" dirty="0" err="1">
                <a:solidFill>
                  <a:schemeClr val="bg1">
                    <a:lumMod val="85000"/>
                  </a:schemeClr>
                </a:solidFill>
                <a:effectLst/>
              </a:rPr>
              <a:t>sharding</a:t>
            </a: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</a:rPr>
              <a:t> implies the data is spread across multiple computers while partitioning does not. </a:t>
            </a:r>
          </a:p>
          <a:p>
            <a:pPr algn="just"/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</a:rPr>
              <a:t>Partitioning is about grouping subsets of data within a single database instance. </a:t>
            </a:r>
          </a:p>
          <a:p>
            <a:pPr algn="just"/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</a:rPr>
              <a:t>In many cases, the terms </a:t>
            </a:r>
            <a:r>
              <a:rPr lang="en-US" b="0" i="0" dirty="0" err="1">
                <a:solidFill>
                  <a:schemeClr val="bg1">
                    <a:lumMod val="85000"/>
                  </a:schemeClr>
                </a:solidFill>
                <a:effectLst/>
              </a:rPr>
              <a:t>sharding</a:t>
            </a: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</a:rPr>
              <a:t> and partitioning are even used synonymously</a:t>
            </a:r>
            <a:r>
              <a:rPr lang="en-US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A8F453-1E51-48D5-82B8-37055B8F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effectLst/>
                <a:latin typeface="Bahnschrift "/>
              </a:rPr>
              <a:t>What Is the Difference between </a:t>
            </a:r>
            <a:r>
              <a:rPr lang="en-US" b="1" i="0" dirty="0" err="1">
                <a:effectLst/>
                <a:latin typeface="Bahnschrift "/>
              </a:rPr>
              <a:t>Sharding</a:t>
            </a:r>
            <a:r>
              <a:rPr lang="en-US" b="1" i="0" dirty="0">
                <a:effectLst/>
                <a:latin typeface="Bahnschrift "/>
              </a:rPr>
              <a:t> and Partitioning?</a:t>
            </a:r>
            <a:endParaRPr lang="en-IN" dirty="0">
              <a:latin typeface="Bahnschrift "/>
            </a:endParaRPr>
          </a:p>
        </p:txBody>
      </p:sp>
    </p:spTree>
    <p:extLst>
      <p:ext uri="{BB962C8B-B14F-4D97-AF65-F5344CB8AC3E}">
        <p14:creationId xmlns:p14="http://schemas.microsoft.com/office/powerpoint/2010/main" val="35433001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6B8544-C1FD-47CD-B6AC-1A1DCE34C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</a:rPr>
              <a:t>breaking up a large data set into smaller subsets. </a:t>
            </a:r>
          </a:p>
          <a:p>
            <a:pPr algn="just"/>
            <a:r>
              <a:rPr lang="en-US" b="0" i="0" dirty="0" err="1">
                <a:solidFill>
                  <a:srgbClr val="000000"/>
                </a:solidFill>
                <a:effectLst/>
              </a:rPr>
              <a:t>sharding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implies the data is spread across multiple computers while partitioning does not. </a:t>
            </a:r>
          </a:p>
          <a:p>
            <a:pPr algn="just"/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</a:rPr>
              <a:t>Partitioning is about grouping subsets of data within a single database instance. </a:t>
            </a:r>
          </a:p>
          <a:p>
            <a:pPr algn="just"/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</a:rPr>
              <a:t>In many cases, the terms </a:t>
            </a:r>
            <a:r>
              <a:rPr lang="en-US" b="0" i="0" dirty="0" err="1">
                <a:solidFill>
                  <a:schemeClr val="bg1">
                    <a:lumMod val="85000"/>
                  </a:schemeClr>
                </a:solidFill>
                <a:effectLst/>
              </a:rPr>
              <a:t>sharding</a:t>
            </a: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</a:rPr>
              <a:t> and partitioning are even used synonymously</a:t>
            </a:r>
            <a:r>
              <a:rPr lang="en-US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A8F453-1E51-48D5-82B8-37055B8F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effectLst/>
                <a:latin typeface="Bahnschrift "/>
              </a:rPr>
              <a:t>What Is the Difference between </a:t>
            </a:r>
            <a:r>
              <a:rPr lang="en-US" b="1" i="0" dirty="0" err="1">
                <a:effectLst/>
                <a:latin typeface="Bahnschrift "/>
              </a:rPr>
              <a:t>Sharding</a:t>
            </a:r>
            <a:r>
              <a:rPr lang="en-US" b="1" i="0" dirty="0">
                <a:effectLst/>
                <a:latin typeface="Bahnschrift "/>
              </a:rPr>
              <a:t> and Partitioning?</a:t>
            </a:r>
            <a:endParaRPr lang="en-IN" dirty="0">
              <a:latin typeface="Bahnschrift "/>
            </a:endParaRPr>
          </a:p>
        </p:txBody>
      </p:sp>
    </p:spTree>
    <p:extLst>
      <p:ext uri="{BB962C8B-B14F-4D97-AF65-F5344CB8AC3E}">
        <p14:creationId xmlns:p14="http://schemas.microsoft.com/office/powerpoint/2010/main" val="11821478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6B8544-C1FD-47CD-B6AC-1A1DCE34C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Bahnschrift "/>
              </a:rPr>
              <a:t>breaking up a large data set into smaller subsets. </a:t>
            </a:r>
          </a:p>
          <a:p>
            <a:pPr algn="just"/>
            <a:r>
              <a:rPr lang="en-US" b="0" i="0" dirty="0" err="1">
                <a:solidFill>
                  <a:schemeClr val="bg1">
                    <a:lumMod val="85000"/>
                  </a:schemeClr>
                </a:solidFill>
                <a:effectLst/>
                <a:latin typeface="Bahnschrift "/>
              </a:rPr>
              <a:t>sharding</a:t>
            </a: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Bahnschrift "/>
              </a:rPr>
              <a:t> implies the data is spread across multiple computers while partitioning does not.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Bahnschrift "/>
              </a:rPr>
              <a:t>Partitioning is about grouping subsets of data within a single database instance. </a:t>
            </a:r>
          </a:p>
          <a:p>
            <a:pPr algn="just"/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Bahnschrift "/>
              </a:rPr>
              <a:t>In many cases, the terms </a:t>
            </a:r>
            <a:r>
              <a:rPr lang="en-US" b="0" i="0" dirty="0" err="1">
                <a:solidFill>
                  <a:schemeClr val="bg1">
                    <a:lumMod val="85000"/>
                  </a:schemeClr>
                </a:solidFill>
                <a:effectLst/>
                <a:latin typeface="Bahnschrift "/>
              </a:rPr>
              <a:t>sharding</a:t>
            </a: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Bahnschrift "/>
              </a:rPr>
              <a:t> and partitioning are even used synonymously</a:t>
            </a:r>
            <a:r>
              <a:rPr lang="en-US" dirty="0">
                <a:solidFill>
                  <a:srgbClr val="000000"/>
                </a:solidFill>
                <a:latin typeface="Bahnschrift "/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A8F453-1E51-48D5-82B8-37055B8F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effectLst/>
                <a:latin typeface="Bahnschrift "/>
              </a:rPr>
              <a:t>What Is the Difference between </a:t>
            </a:r>
            <a:r>
              <a:rPr lang="en-US" b="1" i="0" dirty="0" err="1">
                <a:effectLst/>
                <a:latin typeface="Bahnschrift "/>
              </a:rPr>
              <a:t>Sharding</a:t>
            </a:r>
            <a:r>
              <a:rPr lang="en-US" b="1" i="0" dirty="0">
                <a:effectLst/>
                <a:latin typeface="Bahnschrift "/>
              </a:rPr>
              <a:t> and Partitioning?</a:t>
            </a:r>
            <a:endParaRPr lang="en-IN" dirty="0">
              <a:latin typeface="Bahnschrift "/>
            </a:endParaRPr>
          </a:p>
        </p:txBody>
      </p:sp>
    </p:spTree>
    <p:extLst>
      <p:ext uri="{BB962C8B-B14F-4D97-AF65-F5344CB8AC3E}">
        <p14:creationId xmlns:p14="http://schemas.microsoft.com/office/powerpoint/2010/main" val="25954918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6B8544-C1FD-47CD-B6AC-1A1DCE34C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Bahnschrift "/>
              </a:rPr>
              <a:t>breaking up a large data set into smaller subsets. </a:t>
            </a:r>
          </a:p>
          <a:p>
            <a:pPr algn="just"/>
            <a:r>
              <a:rPr lang="en-US" b="0" i="0" dirty="0" err="1">
                <a:solidFill>
                  <a:schemeClr val="bg1">
                    <a:lumMod val="85000"/>
                  </a:schemeClr>
                </a:solidFill>
                <a:effectLst/>
                <a:latin typeface="Bahnschrift "/>
              </a:rPr>
              <a:t>sharding</a:t>
            </a: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Bahnschrift "/>
              </a:rPr>
              <a:t> implies the data is spread across multiple computers while partitioning does not. </a:t>
            </a:r>
          </a:p>
          <a:p>
            <a:pPr algn="just"/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Bahnschrift "/>
              </a:rPr>
              <a:t>Partitioning is about grouping subsets of data within a single database instance</a:t>
            </a:r>
            <a:r>
              <a:rPr lang="en-US" b="0" i="0" dirty="0">
                <a:solidFill>
                  <a:srgbClr val="000000"/>
                </a:solidFill>
                <a:effectLst/>
                <a:latin typeface="Bahnschrift "/>
              </a:rPr>
              <a:t>. </a:t>
            </a:r>
          </a:p>
          <a:p>
            <a:pPr algn="just"/>
            <a:r>
              <a:rPr lang="en-US" b="0" i="0" dirty="0">
                <a:effectLst/>
                <a:latin typeface="Bahnschrift "/>
              </a:rPr>
              <a:t>In many cases, the terms </a:t>
            </a:r>
            <a:r>
              <a:rPr lang="en-US" b="0" i="0" dirty="0" err="1">
                <a:effectLst/>
                <a:latin typeface="Bahnschrift "/>
              </a:rPr>
              <a:t>sharding</a:t>
            </a:r>
            <a:r>
              <a:rPr lang="en-US" b="0" i="0" dirty="0">
                <a:effectLst/>
                <a:latin typeface="Bahnschrift "/>
              </a:rPr>
              <a:t> and partitioning are even used synonymously</a:t>
            </a:r>
            <a:r>
              <a:rPr lang="en-US" dirty="0">
                <a:latin typeface="Bahnschrift "/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A8F453-1E51-48D5-82B8-37055B8F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effectLst/>
                <a:latin typeface="Bahnschrift "/>
              </a:rPr>
              <a:t>What Is the Difference between </a:t>
            </a:r>
            <a:r>
              <a:rPr lang="en-US" b="1" i="0" dirty="0" err="1">
                <a:effectLst/>
                <a:latin typeface="Bahnschrift "/>
              </a:rPr>
              <a:t>Sharding</a:t>
            </a:r>
            <a:r>
              <a:rPr lang="en-US" b="1" i="0" dirty="0">
                <a:effectLst/>
                <a:latin typeface="Bahnschrift "/>
              </a:rPr>
              <a:t> and Partitioning?</a:t>
            </a:r>
            <a:endParaRPr lang="en-IN" dirty="0">
              <a:latin typeface="Bahnschrift "/>
            </a:endParaRPr>
          </a:p>
        </p:txBody>
      </p:sp>
    </p:spTree>
    <p:extLst>
      <p:ext uri="{BB962C8B-B14F-4D97-AF65-F5344CB8AC3E}">
        <p14:creationId xmlns:p14="http://schemas.microsoft.com/office/powerpoint/2010/main" val="37411181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1224</TotalTime>
  <Words>1304</Words>
  <Application>Microsoft Office PowerPoint</Application>
  <PresentationFormat>On-screen Show (4:3)</PresentationFormat>
  <Paragraphs>175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5" baseType="lpstr">
      <vt:lpstr>Arial</vt:lpstr>
      <vt:lpstr>Bahnschrift</vt:lpstr>
      <vt:lpstr>Bahnschrift </vt:lpstr>
      <vt:lpstr>Bahnschrift SemiBold</vt:lpstr>
      <vt:lpstr>Calibri</vt:lpstr>
      <vt:lpstr>Calibri Light</vt:lpstr>
      <vt:lpstr>Inter</vt:lpstr>
      <vt:lpstr>Office Theme</vt:lpstr>
      <vt:lpstr>PowerPoint Presentation</vt:lpstr>
      <vt:lpstr>PowerPoint Presentation</vt:lpstr>
      <vt:lpstr>Distribution Models</vt:lpstr>
      <vt:lpstr>Distribution Models</vt:lpstr>
      <vt:lpstr>Distribution Models</vt:lpstr>
      <vt:lpstr>Distribution Models</vt:lpstr>
      <vt:lpstr>Distribution Models</vt:lpstr>
      <vt:lpstr>Distribution Models</vt:lpstr>
      <vt:lpstr>Distribution Models</vt:lpstr>
      <vt:lpstr>Distribution Models</vt:lpstr>
      <vt:lpstr>Distribution Models</vt:lpstr>
      <vt:lpstr> Two styles of distributing data</vt:lpstr>
      <vt:lpstr> Two styles of distributing data</vt:lpstr>
      <vt:lpstr> Two styles of distributing data</vt:lpstr>
      <vt:lpstr>Single Server</vt:lpstr>
      <vt:lpstr>Single Server</vt:lpstr>
      <vt:lpstr>Single Server</vt:lpstr>
      <vt:lpstr>Single Server</vt:lpstr>
      <vt:lpstr>Single Server</vt:lpstr>
      <vt:lpstr>Single Server</vt:lpstr>
      <vt:lpstr>Sharding</vt:lpstr>
      <vt:lpstr>Sharding</vt:lpstr>
      <vt:lpstr>Why Is Sharding Used?</vt:lpstr>
      <vt:lpstr>Why Is Sharding Used?</vt:lpstr>
      <vt:lpstr>Why Is Sharding Used?</vt:lpstr>
      <vt:lpstr>Why Is Sharding Used?</vt:lpstr>
      <vt:lpstr>Why Is Sharding Used?</vt:lpstr>
      <vt:lpstr>Sharding</vt:lpstr>
      <vt:lpstr>Sharding</vt:lpstr>
      <vt:lpstr>Sharding</vt:lpstr>
      <vt:lpstr>Sharding</vt:lpstr>
      <vt:lpstr>Sharding</vt:lpstr>
      <vt:lpstr>Sharding</vt:lpstr>
      <vt:lpstr>Sharding</vt:lpstr>
      <vt:lpstr>Sharding</vt:lpstr>
      <vt:lpstr>Sharding</vt:lpstr>
      <vt:lpstr>Sharding</vt:lpstr>
      <vt:lpstr>Sharding</vt:lpstr>
      <vt:lpstr>Sharding</vt:lpstr>
      <vt:lpstr>Sharding</vt:lpstr>
      <vt:lpstr>Auto-Sharding</vt:lpstr>
      <vt:lpstr>When Horizontal Sharding is Effective?</vt:lpstr>
      <vt:lpstr>When Vertical Sharding is Effective?</vt:lpstr>
      <vt:lpstr>Sharding</vt:lpstr>
      <vt:lpstr>Sharding</vt:lpstr>
      <vt:lpstr>Master-Slave Replication</vt:lpstr>
      <vt:lpstr>Master-Slave Replication</vt:lpstr>
      <vt:lpstr>Master-Slave Replication</vt:lpstr>
      <vt:lpstr>Master-Slave Replication</vt:lpstr>
      <vt:lpstr>Peer-to-Peer Replication</vt:lpstr>
      <vt:lpstr>Combining Sharding and Replication</vt:lpstr>
      <vt:lpstr>Combining Sharding and Replication</vt:lpstr>
      <vt:lpstr>What Is the Difference between Sharding and Partitioning?</vt:lpstr>
      <vt:lpstr>What Is the Difference between Sharding and Partitioning?</vt:lpstr>
      <vt:lpstr>What Is the Difference between Sharding and Partitioning?</vt:lpstr>
      <vt:lpstr>What Is the Difference between Sharding and Partitioning?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129</cp:revision>
  <dcterms:created xsi:type="dcterms:W3CDTF">2021-05-13T17:45:44Z</dcterms:created>
  <dcterms:modified xsi:type="dcterms:W3CDTF">2021-08-13T09:12:57Z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971340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