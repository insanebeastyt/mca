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4"/>
  </p:handoutMasterIdLst>
  <p:sldIdLst>
    <p:sldId id="266" r:id="rId2"/>
    <p:sldId id="261" r:id="rId3"/>
    <p:sldId id="268" r:id="rId4"/>
    <p:sldId id="269" r:id="rId5"/>
    <p:sldId id="270" r:id="rId6"/>
    <p:sldId id="271" r:id="rId7"/>
    <p:sldId id="273" r:id="rId8"/>
    <p:sldId id="304" r:id="rId9"/>
    <p:sldId id="275" r:id="rId10"/>
    <p:sldId id="276" r:id="rId11"/>
    <p:sldId id="305" r:id="rId12"/>
    <p:sldId id="306" r:id="rId13"/>
    <p:sldId id="307" r:id="rId14"/>
    <p:sldId id="308" r:id="rId15"/>
    <p:sldId id="277" r:id="rId16"/>
    <p:sldId id="311" r:id="rId17"/>
    <p:sldId id="312" r:id="rId18"/>
    <p:sldId id="278" r:id="rId19"/>
    <p:sldId id="279" r:id="rId20"/>
    <p:sldId id="280" r:id="rId21"/>
    <p:sldId id="28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26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7E9"/>
    <a:srgbClr val="FFFFFF"/>
    <a:srgbClr val="44525A"/>
    <a:srgbClr val="618495"/>
    <a:srgbClr val="44525B"/>
    <a:srgbClr val="072235"/>
    <a:srgbClr val="453A38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4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 ?><Relationships xmlns="http://schemas.openxmlformats.org/package/2006/relationships"><Relationship Id="rId2" Target="../media/image7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697450" cy="3773150"/>
          </a:xfrm>
        </p:spPr>
        <p:txBody>
          <a:bodyPr/>
          <a:lstStyle/>
          <a:p>
            <a:pPr algn="just"/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r>
              <a:rPr lang="en-US" dirty="0"/>
              <a:t>,</a:t>
            </a:r>
          </a:p>
          <a:p>
            <a:pPr algn="just"/>
            <a:r>
              <a:rPr lang="en-US" dirty="0"/>
              <a:t>developing and testing MapReduce jobs running in local mode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F425CB-7F6F-4202-B348-01B9BFA81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5919" y="3429000"/>
            <a:ext cx="2183612" cy="1144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Map 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CD847-2920-4DAA-8260-8461908D94F9}"/>
              </a:ext>
            </a:extLst>
          </p:cNvPr>
          <p:cNvSpPr/>
          <p:nvPr/>
        </p:nvSpPr>
        <p:spPr>
          <a:xfrm>
            <a:off x="1740309" y="3156155"/>
            <a:ext cx="5899355" cy="1533832"/>
          </a:xfrm>
          <a:prstGeom prst="rect">
            <a:avLst/>
          </a:prstGeom>
          <a:solidFill>
            <a:srgbClr val="44525A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C3F1A-8AF9-42DF-9D32-53B1BFC2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68DF2-C1C4-47D4-8F9A-3950F722F164}"/>
              </a:ext>
            </a:extLst>
          </p:cNvPr>
          <p:cNvSpPr txBox="1"/>
          <p:nvPr/>
        </p:nvSpPr>
        <p:spPr>
          <a:xfrm>
            <a:off x="2286000" y="34290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>
                <a:latin typeface="Bahnschrift" panose="020B0502040204020203" pitchFamily="34" charset="0"/>
              </a:rPr>
              <a:t>Reduce Phase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BEFDB3-9B2D-4CB7-B3AE-F5F5E916B646}"/>
              </a:ext>
            </a:extLst>
          </p:cNvPr>
          <p:cNvSpPr/>
          <p:nvPr/>
        </p:nvSpPr>
        <p:spPr>
          <a:xfrm>
            <a:off x="1946788" y="2993923"/>
            <a:ext cx="5132438" cy="1504335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95074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dirty="0" lang="en-US"/>
              <a:t>Developing and testing MapReduce jobs with </a:t>
            </a:r>
            <a:r>
              <a:rPr dirty="0" err="1" lang="en-US"/>
              <a:t>MRUnit</a:t>
            </a:r>
            <a:endParaRPr dirty="0"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41607A-B064-4AE2-A429-C2FCB75082D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29" r="9"/>
          <a:stretch/>
        </p:blipFill>
        <p:spPr>
          <a:xfrm>
            <a:off x="0" y="1491320"/>
            <a:ext cx="8686800" cy="3875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A71544-46A8-48BA-B145-2CE1085254C8}"/>
              </a:ext>
            </a:extLst>
          </p:cNvPr>
          <p:cNvSpPr txBox="1"/>
          <p:nvPr/>
        </p:nvSpPr>
        <p:spPr>
          <a:xfrm>
            <a:off x="2286000" y="558164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lang="en-US" sz="2000">
                <a:latin charset="0" panose="020B0502040204020203" pitchFamily="34" typeface="Bahnschrift"/>
              </a:rPr>
              <a:t>Complexities arise due to the distributed nature of Hadoop</a:t>
            </a:r>
            <a:endParaRPr dirty="0" lang="en-IN" sz="20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80019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62" y="2541182"/>
            <a:ext cx="8123275" cy="2871476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Prior to the release of </a:t>
            </a:r>
            <a:r>
              <a:rPr lang="en-US" dirty="0" err="1"/>
              <a:t>MRUnit</a:t>
            </a:r>
            <a:r>
              <a:rPr lang="en-US" dirty="0"/>
              <a:t> by Cloudera, even the simplest tests running in local mode would have to read from the disk and take several seconds each to set up and run.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241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dirty="0" err="1"/>
              <a:t>MRUnit</a:t>
            </a:r>
            <a:r>
              <a:rPr lang="en-US" dirty="0"/>
              <a:t> removes as much of the Hadoop framework. </a:t>
            </a:r>
          </a:p>
          <a:p>
            <a:pPr algn="just"/>
            <a:r>
              <a:rPr lang="en-US" dirty="0"/>
              <a:t>The focus is narrowed to the map and reduce code.</a:t>
            </a:r>
          </a:p>
          <a:p>
            <a:pPr algn="just"/>
            <a:r>
              <a:rPr lang="en-US" dirty="0"/>
              <a:t>Developing and testing MapReduce code can be done entirely in the IDE.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2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546176" cy="519932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dirty="0"/>
              <a:t>How </a:t>
            </a:r>
            <a:r>
              <a:rPr lang="en-US" dirty="0" err="1"/>
              <a:t>MRUnit</a:t>
            </a:r>
            <a:r>
              <a:rPr lang="en-US" dirty="0"/>
              <a:t> uses the </a:t>
            </a:r>
            <a:r>
              <a:rPr lang="en-US" dirty="0" err="1"/>
              <a:t>IdentityMapper</a:t>
            </a:r>
            <a:r>
              <a:rPr lang="en-US" dirty="0"/>
              <a:t> provided by the MapReduce framework in the lib folder. </a:t>
            </a:r>
          </a:p>
          <a:p>
            <a:pPr algn="just"/>
            <a:r>
              <a:rPr lang="en-US" dirty="0"/>
              <a:t>It takes a key-value pair as input.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68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dirty="0"/>
              <a:t>The Identity Mapper takes a key-value pair as input and emits the same key-value pair, unchanged.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3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Step1:</a:t>
            </a:r>
            <a:r>
              <a:rPr lang="en-US" dirty="0"/>
              <a:t> Download the latest version of </a:t>
            </a:r>
            <a:r>
              <a:rPr lang="en-US" dirty="0" err="1"/>
              <a:t>MRUnit</a:t>
            </a:r>
            <a:r>
              <a:rPr lang="en-US" dirty="0"/>
              <a:t> from http://mrunit.apache.org/ general/downloads.html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Step2: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Create a new Java project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Step3: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Add the mrunit-X.Y.Z-incubating-hadoop1.jar file and other Hadoop JAR files to the build path of the Java project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Step4: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Create a new class named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IdentityMapperTest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Step5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For the full source, review the IdentityMapperTest.java file in the source code.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4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Step1:</a:t>
            </a:r>
            <a:r>
              <a:rPr lang="en-US" dirty="0"/>
              <a:t> Download the latest version of </a:t>
            </a:r>
            <a:r>
              <a:rPr lang="en-US" dirty="0" err="1"/>
              <a:t>MRUnit</a:t>
            </a:r>
            <a:r>
              <a:rPr lang="en-US" dirty="0"/>
              <a:t> from http://mrunit.apache.org/ general/downloads.html</a:t>
            </a:r>
          </a:p>
          <a:p>
            <a:pPr marL="0" indent="0" algn="just">
              <a:buNone/>
            </a:pPr>
            <a:r>
              <a:rPr lang="en-US" b="1" u="sng" dirty="0"/>
              <a:t>Step2: </a:t>
            </a:r>
            <a:r>
              <a:rPr lang="en-US" dirty="0"/>
              <a:t>Create a new Java project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Step3: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Add the mrunit-X.Y.Z-incubating-hadoop1.jar file and other Hadoop JAR files to the build path of the Java project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Step4: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Create a new class named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IdentityMapperTest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Step5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For the full source, review the IdentityMapperTest.java file in the source code.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80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Step1:</a:t>
            </a:r>
            <a:r>
              <a:rPr lang="en-US" dirty="0"/>
              <a:t> Download the latest version of </a:t>
            </a:r>
            <a:r>
              <a:rPr lang="en-US" dirty="0" err="1"/>
              <a:t>MRUnit</a:t>
            </a:r>
            <a:r>
              <a:rPr lang="en-US" dirty="0"/>
              <a:t> from http://mrunit.apache.org/ general/downloads.html</a:t>
            </a:r>
          </a:p>
          <a:p>
            <a:pPr marL="0" indent="0" algn="just">
              <a:buNone/>
            </a:pPr>
            <a:r>
              <a:rPr lang="en-US" b="1" u="sng" dirty="0"/>
              <a:t>Step2: </a:t>
            </a:r>
            <a:r>
              <a:rPr lang="en-US" dirty="0"/>
              <a:t>Create a new Java project</a:t>
            </a:r>
          </a:p>
          <a:p>
            <a:pPr marL="0" indent="0" algn="just">
              <a:buNone/>
            </a:pPr>
            <a:r>
              <a:rPr lang="en-US" b="1" u="sng" dirty="0"/>
              <a:t>Step3:</a:t>
            </a:r>
            <a:r>
              <a:rPr lang="en-US" b="1" dirty="0"/>
              <a:t> </a:t>
            </a:r>
            <a:r>
              <a:rPr lang="en-US" dirty="0"/>
              <a:t>Add the mrunit-X.Y.Z-incubating-hadoop1.jar file and other Hadoop JAR files to the build path of the Java project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Step4: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Create a new class named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IdentityMapperTest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Step5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For the full source, review the IdentityMapperTest.java file in the source code.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08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Step1:</a:t>
            </a:r>
            <a:r>
              <a:rPr lang="en-US" dirty="0"/>
              <a:t> Download the latest version of </a:t>
            </a:r>
            <a:r>
              <a:rPr lang="en-US" dirty="0" err="1"/>
              <a:t>MRUnit</a:t>
            </a:r>
            <a:r>
              <a:rPr lang="en-US" dirty="0"/>
              <a:t> from http://mrunit.apache.org/ general/downloads.html</a:t>
            </a:r>
          </a:p>
          <a:p>
            <a:pPr marL="0" indent="0" algn="just">
              <a:buNone/>
            </a:pPr>
            <a:r>
              <a:rPr lang="en-US" b="1" u="sng" dirty="0"/>
              <a:t>Step2: </a:t>
            </a:r>
            <a:r>
              <a:rPr lang="en-US" dirty="0"/>
              <a:t>Create a new Java project</a:t>
            </a:r>
          </a:p>
          <a:p>
            <a:pPr marL="0" indent="0" algn="just">
              <a:buNone/>
            </a:pPr>
            <a:r>
              <a:rPr lang="en-US" b="1" u="sng" dirty="0"/>
              <a:t>Step3:</a:t>
            </a:r>
            <a:r>
              <a:rPr lang="en-US" b="1" dirty="0"/>
              <a:t> </a:t>
            </a:r>
            <a:r>
              <a:rPr lang="en-US" dirty="0"/>
              <a:t>Add the mrunit-X.Y.Z-incubating-hadoop1.jar file and other Hadoop JAR files to the build path of the Java project</a:t>
            </a:r>
          </a:p>
          <a:p>
            <a:pPr marL="0" indent="0" algn="just">
              <a:buNone/>
            </a:pPr>
            <a:r>
              <a:rPr lang="en-US" b="1" u="sng" dirty="0"/>
              <a:t>Step4:</a:t>
            </a:r>
            <a:r>
              <a:rPr lang="en-US" b="1" dirty="0"/>
              <a:t> </a:t>
            </a:r>
            <a:r>
              <a:rPr lang="en-US" dirty="0"/>
              <a:t>Create a new class named </a:t>
            </a:r>
            <a:r>
              <a:rPr lang="en-US" dirty="0" err="1"/>
              <a:t>IdentityMapperTest</a:t>
            </a:r>
            <a:endParaRPr lang="en-US" dirty="0"/>
          </a:p>
          <a:p>
            <a:pPr marL="0" indent="0" algn="just">
              <a:buNone/>
            </a:pPr>
            <a:r>
              <a:rPr lang="en-US" b="1" u="sng" dirty="0">
                <a:solidFill>
                  <a:schemeClr val="bg1">
                    <a:lumMod val="85000"/>
                  </a:schemeClr>
                </a:solidFill>
              </a:rPr>
              <a:t>Step5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For the full source, review the IdentityMapperTest.java file in the source code.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8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14CB-0367-4E4B-AF0E-C82F7216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1509823"/>
            <a:ext cx="8612372" cy="5199321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Step1:</a:t>
            </a:r>
            <a:r>
              <a:rPr lang="en-US" dirty="0"/>
              <a:t> Download the latest version of </a:t>
            </a:r>
            <a:r>
              <a:rPr lang="en-US" dirty="0" err="1"/>
              <a:t>MRUnit</a:t>
            </a:r>
            <a:r>
              <a:rPr lang="en-US" dirty="0"/>
              <a:t> from http://mrunit.apache.org/ general/downloads.html</a:t>
            </a:r>
          </a:p>
          <a:p>
            <a:pPr marL="0" indent="0" algn="just">
              <a:buNone/>
            </a:pPr>
            <a:r>
              <a:rPr lang="en-US" b="1" u="sng" dirty="0"/>
              <a:t>Step2: </a:t>
            </a:r>
            <a:r>
              <a:rPr lang="en-US" dirty="0"/>
              <a:t>Create a new Java project</a:t>
            </a:r>
          </a:p>
          <a:p>
            <a:pPr marL="0" indent="0" algn="just">
              <a:buNone/>
            </a:pPr>
            <a:r>
              <a:rPr lang="en-US" b="1" u="sng" dirty="0"/>
              <a:t>Step3:</a:t>
            </a:r>
            <a:r>
              <a:rPr lang="en-US" b="1" dirty="0"/>
              <a:t> </a:t>
            </a:r>
            <a:r>
              <a:rPr lang="en-US" dirty="0"/>
              <a:t>Add the mrunit-X.Y.Z-incubating-hadoop1.jar file and other Hadoop JAR files to the build path of the Java project</a:t>
            </a:r>
          </a:p>
          <a:p>
            <a:pPr marL="0" indent="0" algn="just">
              <a:buNone/>
            </a:pPr>
            <a:r>
              <a:rPr lang="en-US" b="1" u="sng" dirty="0"/>
              <a:t>Step4:</a:t>
            </a:r>
            <a:r>
              <a:rPr lang="en-US" b="1" dirty="0"/>
              <a:t> </a:t>
            </a:r>
            <a:r>
              <a:rPr lang="en-US" dirty="0"/>
              <a:t>Create a new class named </a:t>
            </a:r>
            <a:r>
              <a:rPr lang="en-US" dirty="0" err="1"/>
              <a:t>IdentityMapperTest</a:t>
            </a:r>
            <a:endParaRPr lang="en-US" dirty="0"/>
          </a:p>
          <a:p>
            <a:pPr marL="0" indent="0" algn="just">
              <a:buNone/>
            </a:pPr>
            <a:r>
              <a:rPr lang="en-US" b="1" u="sng" dirty="0"/>
              <a:t>Step5</a:t>
            </a:r>
            <a:r>
              <a:rPr lang="en-US" b="1" dirty="0"/>
              <a:t>: </a:t>
            </a:r>
            <a:r>
              <a:rPr lang="en-US" dirty="0"/>
              <a:t>For the full source, review the IdentityMapperTest.java file in the source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67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Follow these steps to test a mapper with </a:t>
            </a:r>
            <a:r>
              <a:rPr lang="en-US" dirty="0" err="1"/>
              <a:t>MRUnit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public class </a:t>
            </a:r>
            <a:r>
              <a:rPr lang="en-US" dirty="0" err="1"/>
              <a:t>IdentityMapperTest</a:t>
            </a:r>
            <a:r>
              <a:rPr lang="en-US" dirty="0"/>
              <a:t> extends </a:t>
            </a:r>
            <a:r>
              <a:rPr lang="en-US" dirty="0" err="1"/>
              <a:t>TestCase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nb-NO" dirty="0">
                <a:solidFill>
                  <a:schemeClr val="bg1">
                    <a:lumMod val="85000"/>
                  </a:schemeClr>
                </a:solidFill>
              </a:rPr>
              <a:t>private Mapper identityMapper; </a:t>
            </a:r>
            <a:br>
              <a:rPr lang="nb-NO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b-NO" dirty="0">
                <a:solidFill>
                  <a:schemeClr val="bg1">
                    <a:lumMod val="85000"/>
                  </a:schemeClr>
                </a:solidFill>
              </a:rPr>
              <a:t>private MapDriver mapDriver;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@Before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public void setup() {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= new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();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mapDriver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= new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MapDriver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); 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A3DE0A-FC36-48B5-B7FC-1AB01807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07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Follow these steps to test a mapper with </a:t>
            </a:r>
            <a:r>
              <a:rPr lang="en-US" dirty="0" err="1"/>
              <a:t>MRUnit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public class </a:t>
            </a:r>
            <a:r>
              <a:rPr lang="en-US" dirty="0" err="1"/>
              <a:t>IdentityMapperTest</a:t>
            </a:r>
            <a:r>
              <a:rPr lang="en-US" dirty="0"/>
              <a:t> extends </a:t>
            </a:r>
            <a:r>
              <a:rPr lang="en-US" dirty="0" err="1"/>
              <a:t>TestCase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nb-NO" dirty="0"/>
              <a:t>private Mapper identityMapper; </a:t>
            </a:r>
            <a:br>
              <a:rPr lang="nb-NO" dirty="0"/>
            </a:br>
            <a:r>
              <a:rPr lang="nb-NO" dirty="0"/>
              <a:t>private MapDriver mapDriver;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@Before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public void setup() {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= new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();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mapDriver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= new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MapDriver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identityMapper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); 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DEFEBB-CDCA-4643-9516-C46318B7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366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Follow these steps to test a mapper with </a:t>
            </a:r>
            <a:r>
              <a:rPr lang="en-US" dirty="0" err="1"/>
              <a:t>MRUnit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public class </a:t>
            </a:r>
            <a:r>
              <a:rPr lang="en-US" dirty="0" err="1"/>
              <a:t>IdentityMapperTest</a:t>
            </a:r>
            <a:r>
              <a:rPr lang="en-US" dirty="0"/>
              <a:t> extends </a:t>
            </a:r>
            <a:r>
              <a:rPr lang="en-US" dirty="0" err="1"/>
              <a:t>TestCase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nb-NO" dirty="0"/>
              <a:t>private Mapper identityMapper; </a:t>
            </a:r>
            <a:br>
              <a:rPr lang="nb-NO" dirty="0"/>
            </a:br>
            <a:r>
              <a:rPr lang="nb-NO" dirty="0"/>
              <a:t>private MapDriver mapDriver;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@Before </a:t>
            </a:r>
          </a:p>
          <a:p>
            <a:pPr marL="0" indent="0" algn="just">
              <a:buNone/>
            </a:pPr>
            <a:r>
              <a:rPr lang="en-IN" dirty="0"/>
              <a:t>public void setup() { </a:t>
            </a:r>
            <a:r>
              <a:rPr lang="en-IN" dirty="0" err="1"/>
              <a:t>identityMapper</a:t>
            </a:r>
            <a:r>
              <a:rPr lang="en-IN" dirty="0"/>
              <a:t> = new </a:t>
            </a:r>
            <a:r>
              <a:rPr lang="en-IN" dirty="0" err="1"/>
              <a:t>IdentityMapper</a:t>
            </a:r>
            <a:r>
              <a:rPr lang="en-IN" dirty="0"/>
              <a:t>(); </a:t>
            </a:r>
            <a:r>
              <a:rPr lang="en-IN" dirty="0" err="1"/>
              <a:t>mapDriver</a:t>
            </a:r>
            <a:r>
              <a:rPr lang="en-IN" dirty="0"/>
              <a:t> = new </a:t>
            </a:r>
            <a:r>
              <a:rPr lang="en-IN" dirty="0" err="1"/>
              <a:t>MapDriver</a:t>
            </a:r>
            <a:r>
              <a:rPr lang="en-IN" dirty="0"/>
              <a:t>(</a:t>
            </a:r>
            <a:r>
              <a:rPr lang="en-IN" dirty="0" err="1"/>
              <a:t>identityMapper</a:t>
            </a:r>
            <a:r>
              <a:rPr lang="en-IN" dirty="0"/>
              <a:t>); 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758F41-69B7-494A-9D38-49A85C6F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509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Follow these steps to test a mapper with </a:t>
            </a:r>
            <a:r>
              <a:rPr lang="en-US" dirty="0" err="1"/>
              <a:t>MRUnit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sz="2000" dirty="0"/>
              <a:t>@Test </a:t>
            </a:r>
          </a:p>
          <a:p>
            <a:pPr marL="0" indent="0" algn="just">
              <a:buNone/>
            </a:pPr>
            <a:r>
              <a:rPr lang="en-US" sz="2000" dirty="0"/>
              <a:t>public void testIdentityMapper1() { </a:t>
            </a:r>
          </a:p>
          <a:p>
            <a:pPr marL="0" indent="0">
              <a:buNone/>
            </a:pPr>
            <a:r>
              <a:rPr lang="en-US" sz="2000" dirty="0" err="1"/>
              <a:t>mapDriver.withInput</a:t>
            </a:r>
            <a:r>
              <a:rPr lang="en-US" sz="2000" dirty="0"/>
              <a:t>(new Text("key"), new Text("value")) </a:t>
            </a:r>
            <a:r>
              <a:rPr lang="en-US" sz="2000" dirty="0" err="1"/>
              <a:t>mapDriver.withOutput</a:t>
            </a:r>
            <a:r>
              <a:rPr lang="en-US" sz="2000" dirty="0"/>
              <a:t>(new Text("key"), new Text("value")) </a:t>
            </a:r>
          </a:p>
          <a:p>
            <a:pPr marL="0" indent="0" algn="just">
              <a:buNone/>
            </a:pPr>
            <a:r>
              <a:rPr lang="en-US" sz="2000" dirty="0"/>
              <a:t>.</a:t>
            </a:r>
            <a:r>
              <a:rPr lang="en-US" sz="2000" dirty="0" err="1"/>
              <a:t>runTest</a:t>
            </a:r>
            <a:r>
              <a:rPr lang="en-US" sz="2000" dirty="0"/>
              <a:t>(); </a:t>
            </a:r>
          </a:p>
          <a:p>
            <a:pPr marL="0" indent="0" algn="just">
              <a:buNone/>
            </a:pPr>
            <a:r>
              <a:rPr lang="en-US" sz="20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49EEE9-3319-49B6-B795-F432C4E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660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Follow these steps to test a mapper with </a:t>
            </a:r>
            <a:r>
              <a:rPr lang="en-US" dirty="0" err="1"/>
              <a:t>MRUnit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Run the application</a:t>
            </a: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49EEE9-3319-49B6-B795-F432C4E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2F2C5-6679-437B-8A80-4AD16B00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452" y="3429000"/>
            <a:ext cx="6391631" cy="264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3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IN" sz="1800" dirty="0"/>
              <a:t>@Test </a:t>
            </a:r>
          </a:p>
          <a:p>
            <a:pPr marL="0" indent="0">
              <a:buNone/>
            </a:pPr>
            <a:r>
              <a:rPr lang="en-IN" sz="2000" dirty="0"/>
              <a:t>public void testIdentityMapper2() { </a:t>
            </a:r>
          </a:p>
          <a:p>
            <a:pPr marL="0" indent="0">
              <a:buNone/>
            </a:pPr>
            <a:r>
              <a:rPr lang="en-IN" sz="2000" dirty="0" err="1"/>
              <a:t>mapDriver.withInput</a:t>
            </a:r>
            <a:r>
              <a:rPr lang="en-IN" sz="2000" dirty="0"/>
              <a:t>(new Text("key"), new Text("value")) </a:t>
            </a:r>
          </a:p>
          <a:p>
            <a:pPr marL="0" indent="0">
              <a:buNone/>
            </a:pPr>
            <a:r>
              <a:rPr lang="en-IN" sz="2000" dirty="0" err="1"/>
              <a:t>mapDriver.withOutput</a:t>
            </a:r>
            <a:r>
              <a:rPr lang="en-IN" sz="2000" dirty="0"/>
              <a:t>(new Text("key2"), new Text("value2"))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dirty="0" err="1"/>
              <a:t>mapDriver.runTest</a:t>
            </a:r>
            <a:r>
              <a:rPr lang="en-IN" sz="2000" dirty="0"/>
              <a:t>(); </a:t>
            </a:r>
          </a:p>
          <a:p>
            <a:pPr marL="0" indent="0">
              <a:buNone/>
            </a:pPr>
            <a:r>
              <a:rPr lang="en-IN" sz="2000" dirty="0"/>
              <a:t>}</a:t>
            </a: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49EEE9-3319-49B6-B795-F432C4E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87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7649B-90A9-42AD-B35D-F256DD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7. </a:t>
            </a:r>
            <a:r>
              <a:rPr lang="en-IN" sz="2600" dirty="0"/>
              <a:t>Run the application again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49EEE9-3319-49B6-B795-F432C4E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and testing MapReduce jobs with </a:t>
            </a:r>
            <a:r>
              <a:rPr lang="en-US" dirty="0" err="1"/>
              <a:t>MRUnit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E2049-0A26-4D71-A5E5-9052F8C36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3" y="2619174"/>
            <a:ext cx="7066153" cy="36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6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08AEB7-A877-47E5-9D3B-95B9A24A1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353" y="3008520"/>
            <a:ext cx="7886700" cy="15001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CB811-0506-4253-BC9B-66D7D0413BED}"/>
              </a:ext>
            </a:extLst>
          </p:cNvPr>
          <p:cNvSpPr/>
          <p:nvPr/>
        </p:nvSpPr>
        <p:spPr>
          <a:xfrm>
            <a:off x="766915" y="2698955"/>
            <a:ext cx="8068137" cy="1500186"/>
          </a:xfrm>
          <a:prstGeom prst="rect">
            <a:avLst/>
          </a:prstGeom>
          <a:solidFill>
            <a:schemeClr val="tx1">
              <a:lumMod val="85000"/>
              <a:lumOff val="15000"/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61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600" b="0" i="0" u="none" strike="noStrike" baseline="0" dirty="0">
                <a:solidFill>
                  <a:srgbClr val="C00000"/>
                </a:solidFill>
              </a:rPr>
              <a:t>Getting ready 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Download the </a:t>
            </a:r>
            <a:r>
              <a:rPr lang="en-US" sz="2600" b="0" i="0" u="none" strike="noStrike" baseline="0" dirty="0">
                <a:solidFill>
                  <a:srgbClr val="FF0000"/>
                </a:solidFill>
              </a:rPr>
              <a:t>weblog_entries_bad_records.txt 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dataset from the </a:t>
            </a:r>
            <a:r>
              <a:rPr lang="en-US" sz="2600" b="0" i="0" u="none" strike="noStrike" baseline="0" dirty="0" err="1">
                <a:solidFill>
                  <a:srgbClr val="000000"/>
                </a:solidFill>
              </a:rPr>
              <a:t>Packt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 website, http://www.packtpub.com/support. 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335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0" i="0" u="none" strike="noStrike" baseline="0" dirty="0">
                <a:solidFill>
                  <a:srgbClr val="C00000"/>
                </a:solidFill>
              </a:rPr>
              <a:t>Getting ready 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Download the </a:t>
            </a:r>
            <a:r>
              <a:rPr lang="en-US" sz="2600" b="0" i="0" u="none" strike="noStrike" baseline="0" dirty="0">
                <a:solidFill>
                  <a:srgbClr val="FF0000"/>
                </a:solidFill>
              </a:rPr>
              <a:t>weblog_entries_bad_records.txt 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dataset from the </a:t>
            </a:r>
            <a:r>
              <a:rPr lang="en-US" sz="2600" b="0" i="0" u="none" strike="noStrike" baseline="0" dirty="0" err="1">
                <a:solidFill>
                  <a:srgbClr val="000000"/>
                </a:solidFill>
              </a:rPr>
              <a:t>Packt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 website, http://www.packtpub.com/support. 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CounterExample.java class </a:t>
            </a:r>
          </a:p>
          <a:p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724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0" i="0" u="none" strike="noStrike" baseline="0" dirty="0">
                <a:solidFill>
                  <a:srgbClr val="C00000"/>
                </a:solidFill>
              </a:rPr>
              <a:t>Getting ready 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Download the </a:t>
            </a:r>
            <a:r>
              <a:rPr lang="en-US" sz="2600" b="0" i="0" u="none" strike="noStrike" baseline="0" dirty="0">
                <a:solidFill>
                  <a:srgbClr val="FF0000"/>
                </a:solidFill>
              </a:rPr>
              <a:t>weblog_entries_bad_records.txt 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dataset from the </a:t>
            </a:r>
            <a:r>
              <a:rPr lang="en-US" sz="2600" b="0" i="0" u="none" strike="noStrike" baseline="0" dirty="0" err="1">
                <a:solidFill>
                  <a:srgbClr val="000000"/>
                </a:solidFill>
              </a:rPr>
              <a:t>Packt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 website, http://www.packtpub.com/support. 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CounterExample.java class </a:t>
            </a:r>
          </a:p>
          <a:p>
            <a:pPr marL="0" indent="0" algn="just">
              <a:buNone/>
            </a:pPr>
            <a:r>
              <a:rPr lang="en-US" sz="2600" b="0" u="none" strike="noStrike" baseline="0" dirty="0">
                <a:solidFill>
                  <a:srgbClr val="000000"/>
                </a:solidFill>
              </a:rPr>
              <a:t>Using Counters in a MapReduce job to track bad records recipe. </a:t>
            </a:r>
            <a:endParaRPr lang="en-IN" sz="2600" b="0" u="none" strike="noStrike" baseline="0" dirty="0">
              <a:solidFill>
                <a:srgbClr val="000000"/>
              </a:solidFill>
            </a:endParaRPr>
          </a:p>
          <a:p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946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4"/>
            <a:ext cx="8386537" cy="5229855"/>
          </a:xfrm>
        </p:spPr>
        <p:txBody>
          <a:bodyPr>
            <a:normAutofit lnSpcReduction="10000"/>
          </a:bodyPr>
          <a:lstStyle/>
          <a:p>
            <a:r>
              <a:rPr lang="en-IN" sz="2600" b="0" i="0" u="none" strike="noStrike" baseline="0" dirty="0">
                <a:solidFill>
                  <a:srgbClr val="000000"/>
                </a:solidFill>
              </a:rPr>
              <a:t>How to do it... 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Step1: Open the $HADOOP_HOME/conf/mapred-site.xml file in a text editor.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Step2: 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</a:rPr>
              <a:t>&lt;property&gt; </a:t>
            </a:r>
          </a:p>
          <a:p>
            <a:pPr marL="0" indent="0" algn="ctr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</a:rPr>
              <a:t>&lt;name&gt;</a:t>
            </a:r>
            <a:r>
              <a:rPr lang="en-US" sz="2400" b="0" i="0" u="none" strike="noStrike" baseline="0" dirty="0" err="1">
                <a:solidFill>
                  <a:srgbClr val="000000"/>
                </a:solidFill>
              </a:rPr>
              <a:t>mapred.job.tracker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&lt;/name&gt; </a:t>
            </a:r>
          </a:p>
          <a:p>
            <a:pPr marL="0" indent="0" algn="ctr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</a:rPr>
              <a:t>&lt;value&gt;local&lt;/value&gt; </a:t>
            </a:r>
          </a:p>
          <a:p>
            <a:pPr marL="0" indent="0" algn="ctr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</a:rPr>
              <a:t>&lt;/property&gt;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70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How to do it... 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</a:rPr>
              <a:t>core-site.xml file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3. 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Set the fs.default.name property value to file:///: </a:t>
            </a:r>
          </a:p>
          <a:p>
            <a:pPr marL="0" indent="0" algn="ctr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&lt;property&gt; </a:t>
            </a:r>
          </a:p>
          <a:p>
            <a:pPr marL="0" indent="0" algn="ctr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&lt;name&gt;fs.default.name&lt;/name&gt; </a:t>
            </a:r>
          </a:p>
          <a:p>
            <a:pPr marL="0" indent="0" algn="ctr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&lt;value&gt;file:///&lt;/value&gt; </a:t>
            </a:r>
          </a:p>
          <a:p>
            <a:pPr marL="0" indent="0" algn="ctr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&lt;/property&gt;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461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646150" cy="4995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How to do it...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4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. hadoop-env.sh file and add the following line: </a:t>
            </a:r>
          </a:p>
          <a:p>
            <a:pPr marL="0" indent="0" algn="ctr">
              <a:buNone/>
            </a:pPr>
            <a:r>
              <a:rPr lang="en-IN" sz="2600" b="0" i="0" u="none" strike="noStrike" baseline="0" dirty="0">
                <a:solidFill>
                  <a:srgbClr val="000000"/>
                </a:solidFill>
              </a:rPr>
              <a:t>export HADOOP_OPTS="-</a:t>
            </a:r>
            <a:r>
              <a:rPr lang="en-IN" sz="2600" b="0" i="0" u="none" strike="noStrike" baseline="0" dirty="0" err="1">
                <a:solidFill>
                  <a:srgbClr val="000000"/>
                </a:solidFill>
              </a:rPr>
              <a:t>agentlib:jdwp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=transport=</a:t>
            </a:r>
            <a:r>
              <a:rPr lang="en-IN" sz="2600" b="0" i="0" u="none" strike="noStrike" baseline="0" dirty="0" err="1">
                <a:solidFill>
                  <a:srgbClr val="000000"/>
                </a:solidFill>
              </a:rPr>
              <a:t>dt_socket,server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=y, suspend=</a:t>
            </a:r>
            <a:r>
              <a:rPr lang="en-IN" sz="2600" b="0" i="0" u="none" strike="noStrike" baseline="0" dirty="0" err="1">
                <a:solidFill>
                  <a:srgbClr val="000000"/>
                </a:solidFill>
              </a:rPr>
              <a:t>y,address</a:t>
            </a:r>
            <a:r>
              <a:rPr lang="en-IN" sz="2600" b="0" i="0" u="none" strike="noStrike" baseline="0" dirty="0">
                <a:solidFill>
                  <a:srgbClr val="000000"/>
                </a:solidFill>
              </a:rPr>
              <a:t>=7272"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059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4"/>
            <a:ext cx="8386537" cy="52298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i="0" u="none" strike="noStrike" baseline="0" dirty="0">
                <a:solidFill>
                  <a:srgbClr val="000000"/>
                </a:solidFill>
              </a:rPr>
              <a:t>How to do it...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5</a:t>
            </a:r>
            <a:r>
              <a:rPr lang="en-US" sz="2600" i="0" u="none" strike="noStrike" baseline="0" dirty="0">
                <a:solidFill>
                  <a:srgbClr val="000000"/>
                </a:solidFill>
              </a:rPr>
              <a:t>. </a:t>
            </a:r>
            <a:r>
              <a:rPr lang="en-IN" sz="2400" i="0" u="none" strike="noStrike" baseline="0" dirty="0">
                <a:solidFill>
                  <a:srgbClr val="000000"/>
                </a:solidFill>
              </a:rPr>
              <a:t>$HADOOP_HOME/bin/</a:t>
            </a:r>
            <a:r>
              <a:rPr lang="en-IN" sz="2400" i="0" u="none" strike="noStrike" baseline="0" dirty="0" err="1">
                <a:solidFill>
                  <a:srgbClr val="000000"/>
                </a:solidFill>
              </a:rPr>
              <a:t>hadoop</a:t>
            </a:r>
            <a:r>
              <a:rPr lang="en-IN" sz="2400" i="0" u="none" strike="noStrike" baseline="0" dirty="0">
                <a:solidFill>
                  <a:srgbClr val="000000"/>
                </a:solidFill>
              </a:rPr>
              <a:t> jar ./CountersExample.jar </a:t>
            </a:r>
            <a:r>
              <a:rPr lang="en-IN" sz="2400" i="0" u="none" strike="noStrike" baseline="0" dirty="0" err="1">
                <a:solidFill>
                  <a:srgbClr val="000000"/>
                </a:solidFill>
              </a:rPr>
              <a:t>com.packt</a:t>
            </a:r>
            <a:r>
              <a:rPr lang="en-IN" sz="2400" i="0" u="none" strike="noStrike" baseline="0" dirty="0">
                <a:solidFill>
                  <a:srgbClr val="000000"/>
                </a:solidFill>
              </a:rPr>
              <a:t>. </a:t>
            </a:r>
            <a:r>
              <a:rPr lang="en-IN" sz="2400" i="0" u="none" strike="noStrike" baseline="0" dirty="0" err="1">
                <a:solidFill>
                  <a:srgbClr val="000000"/>
                </a:solidFill>
              </a:rPr>
              <a:t>hadoop.solutions.CounterExample</a:t>
            </a:r>
            <a:r>
              <a:rPr lang="en-IN" sz="2400" i="0" u="none" strike="noStrike" baseline="0" dirty="0">
                <a:solidFill>
                  <a:srgbClr val="000000"/>
                </a:solidFill>
              </a:rPr>
              <a:t> /local/path/to/</a:t>
            </a:r>
            <a:r>
              <a:rPr lang="en-IN" sz="2400" i="0" u="none" strike="noStrike" baseline="0" dirty="0" err="1">
                <a:solidFill>
                  <a:srgbClr val="000000"/>
                </a:solidFill>
              </a:rPr>
              <a:t>weblog_entries_bad</a:t>
            </a:r>
            <a:r>
              <a:rPr lang="en-IN" sz="2400" i="0" u="none" strike="noStrike" baseline="0" dirty="0">
                <a:solidFill>
                  <a:srgbClr val="000000"/>
                </a:solidFill>
              </a:rPr>
              <a:t>_ records.txt /local/path/to/weblog_entries_clean.txt </a:t>
            </a:r>
          </a:p>
          <a:p>
            <a:pPr marL="0" indent="0">
              <a:buNone/>
            </a:pPr>
            <a:r>
              <a:rPr lang="en-US" sz="2600" i="0" u="none" strike="noStrike" baseline="0" dirty="0">
                <a:solidFill>
                  <a:srgbClr val="000000"/>
                </a:solidFill>
              </a:rPr>
              <a:t>You'll get the following output: </a:t>
            </a:r>
          </a:p>
          <a:p>
            <a:pPr marL="0" indent="0">
              <a:buNone/>
            </a:pPr>
            <a:r>
              <a:rPr lang="en-IN" sz="2600" i="0" u="none" strike="noStrike" baseline="0" dirty="0">
                <a:solidFill>
                  <a:srgbClr val="000000"/>
                </a:solidFill>
              </a:rPr>
              <a:t>Listening for transport </a:t>
            </a:r>
            <a:r>
              <a:rPr lang="en-IN" sz="2600" i="0" u="none" strike="noStrike" baseline="0" dirty="0" err="1">
                <a:solidFill>
                  <a:srgbClr val="000000"/>
                </a:solidFill>
              </a:rPr>
              <a:t>dt_socket</a:t>
            </a:r>
            <a:r>
              <a:rPr lang="en-IN" sz="2600" i="0" u="none" strike="noStrike" baseline="0" dirty="0">
                <a:solidFill>
                  <a:srgbClr val="000000"/>
                </a:solidFill>
              </a:rPr>
              <a:t> at address: 7272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55635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86" y="1509823"/>
            <a:ext cx="8533513" cy="5123206"/>
          </a:xfrm>
        </p:spPr>
        <p:txBody>
          <a:bodyPr>
            <a:normAutofit/>
          </a:bodyPr>
          <a:lstStyle/>
          <a:p>
            <a:pPr indent="0" marL="0">
              <a:buNone/>
            </a:pPr>
            <a:r>
              <a:rPr dirty="0" lang="en-US" sz="2600">
                <a:solidFill>
                  <a:srgbClr val="000000"/>
                </a:solidFill>
              </a:rPr>
              <a:t>6</a:t>
            </a:r>
            <a:r>
              <a:rPr b="0" baseline="0" dirty="0" i="0" lang="en-US" strike="noStrike" sz="2600" u="none">
                <a:solidFill>
                  <a:srgbClr val="000000"/>
                </a:solidFill>
              </a:rPr>
              <a:t>. </a:t>
            </a:r>
            <a:endParaRPr dirty="0" lang="en-IN" sz="26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baseline="0" dirty="0" i="0" lang="en-US" strike="noStrike" sz="3600" u="none">
                <a:latin charset="0" panose="020B0502040204020203" pitchFamily="34" typeface="Bahnschrift"/>
              </a:rPr>
              <a:t>Developing and testing MapReduce jobs running in local mode 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EB722-9786-4917-AFDB-4D2FCA7C8A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31"/>
          <a:stretch/>
        </p:blipFill>
        <p:spPr>
          <a:xfrm>
            <a:off x="1300340" y="1509823"/>
            <a:ext cx="6577898" cy="51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68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33B91-D8AD-481E-92F9-1D348B3D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86" y="1509823"/>
            <a:ext cx="8533513" cy="512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7</a:t>
            </a:r>
            <a:r>
              <a:rPr lang="en-US" sz="2600" b="0" i="0" u="none" strike="noStrike" baseline="0" dirty="0">
                <a:solidFill>
                  <a:srgbClr val="000000"/>
                </a:solidFill>
              </a:rPr>
              <a:t>. Create a new breakpoint and debug. 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682D2-41A5-41FD-A1E5-7BBDEA01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Bahnschrift" panose="020B0502040204020203" pitchFamily="34" charset="0"/>
              </a:rPr>
              <a:t>Developing and testing MapReduce jobs running in local mode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57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1021</TotalTime>
  <Words>1342</Words>
  <Application>Microsoft Office PowerPoint</Application>
  <PresentationFormat>On-screen Show (4:3)</PresentationFormat>
  <Paragraphs>128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Developing and testing MapReduce jobs with MRUnit</vt:lpstr>
      <vt:lpstr>PowerPoint Presentation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Developing and testing MapReduce jobs running in local mode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65</cp:revision>
  <dcterms:created xsi:type="dcterms:W3CDTF">2021-05-13T17:45:44Z</dcterms:created>
  <dcterms:modified xsi:type="dcterms:W3CDTF">2021-08-25T04:04:51Z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331010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