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51"/>
  </p:handoutMasterIdLst>
  <p:sldIdLst>
    <p:sldId id="266" r:id="rId2"/>
    <p:sldId id="261" r:id="rId3"/>
    <p:sldId id="264" r:id="rId4"/>
    <p:sldId id="295" r:id="rId5"/>
    <p:sldId id="292" r:id="rId6"/>
    <p:sldId id="298" r:id="rId7"/>
    <p:sldId id="300" r:id="rId8"/>
    <p:sldId id="301" r:id="rId9"/>
    <p:sldId id="267" r:id="rId10"/>
    <p:sldId id="268" r:id="rId11"/>
    <p:sldId id="269" r:id="rId12"/>
    <p:sldId id="270" r:id="rId13"/>
    <p:sldId id="272" r:id="rId14"/>
    <p:sldId id="284" r:id="rId15"/>
    <p:sldId id="276" r:id="rId16"/>
    <p:sldId id="274" r:id="rId17"/>
    <p:sldId id="275" r:id="rId18"/>
    <p:sldId id="278" r:id="rId19"/>
    <p:sldId id="286" r:id="rId20"/>
    <p:sldId id="280" r:id="rId21"/>
    <p:sldId id="288" r:id="rId22"/>
    <p:sldId id="281" r:id="rId23"/>
    <p:sldId id="304" r:id="rId24"/>
    <p:sldId id="287" r:id="rId25"/>
    <p:sldId id="283" r:id="rId26"/>
    <p:sldId id="289" r:id="rId27"/>
    <p:sldId id="290" r:id="rId28"/>
    <p:sldId id="285" r:id="rId29"/>
    <p:sldId id="308" r:id="rId30"/>
    <p:sldId id="291" r:id="rId31"/>
    <p:sldId id="311" r:id="rId32"/>
    <p:sldId id="312" r:id="rId33"/>
    <p:sldId id="313" r:id="rId34"/>
    <p:sldId id="314" r:id="rId35"/>
    <p:sldId id="320" r:id="rId36"/>
    <p:sldId id="323" r:id="rId37"/>
    <p:sldId id="319" r:id="rId38"/>
    <p:sldId id="316" r:id="rId39"/>
    <p:sldId id="317" r:id="rId40"/>
    <p:sldId id="327" r:id="rId41"/>
    <p:sldId id="318" r:id="rId42"/>
    <p:sldId id="329" r:id="rId43"/>
    <p:sldId id="332" r:id="rId44"/>
    <p:sldId id="334" r:id="rId45"/>
    <p:sldId id="335" r:id="rId46"/>
    <p:sldId id="337" r:id="rId47"/>
    <p:sldId id="339" r:id="rId48"/>
    <p:sldId id="340" r:id="rId49"/>
    <p:sldId id="263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668"/>
    <a:srgbClr val="4472C4"/>
    <a:srgbClr val="F9FAFE"/>
    <a:srgbClr val="44525A"/>
    <a:srgbClr val="F4F4F4"/>
    <a:srgbClr val="618495"/>
    <a:srgbClr val="44525B"/>
    <a:srgbClr val="072235"/>
    <a:srgbClr val="453A38"/>
    <a:srgbClr val="B8B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2905" autoAdjust="0"/>
  </p:normalViewPr>
  <p:slideViewPr>
    <p:cSldViewPr snapToGrid="0">
      <p:cViewPr varScale="1">
        <p:scale>
          <a:sx n="63" d="100"/>
          <a:sy n="63" d="100"/>
        </p:scale>
        <p:origin x="50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 ?>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 ?><Relationships xmlns="http://schemas.openxmlformats.org/package/2006/relationships"><Relationship Id="rId2" Target="../media/image2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7.xml.rels><?xml version="1.0" encoding="UTF-8" standalone="yes" ?><Relationships xmlns="http://schemas.openxmlformats.org/package/2006/relationships"><Relationship Id="rId2" Target="../media/image22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8.xml.rels><?xml version="1.0" encoding="UTF-8" standalone="yes" ?><Relationships xmlns="http://schemas.openxmlformats.org/package/2006/relationships"><Relationship Id="rId2" Target="../media/image2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learn aggregate data models.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145"/>
            <a:ext cx="8401050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data model is a representation that we use to perceive and manipulate our data. </a:t>
            </a:r>
          </a:p>
          <a:p>
            <a:pPr algn="just"/>
            <a:r>
              <a:rPr lang="en-US" dirty="0"/>
              <a:t>It allows us to: –</a:t>
            </a:r>
          </a:p>
          <a:p>
            <a:pPr lvl="1" algn="just"/>
            <a:r>
              <a:rPr lang="en-US" dirty="0"/>
              <a:t> Represent the data elements under analysis, and </a:t>
            </a:r>
          </a:p>
          <a:p>
            <a:pPr lvl="1" algn="just"/>
            <a:r>
              <a:rPr lang="en-US" dirty="0"/>
              <a:t> How these are related to each others .	</a:t>
            </a:r>
          </a:p>
          <a:p>
            <a:pPr algn="just"/>
            <a:r>
              <a:rPr lang="en-US" dirty="0"/>
              <a:t>This representation depends on our perception. </a:t>
            </a:r>
          </a:p>
          <a:p>
            <a:pPr algn="just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Data Model</a:t>
            </a:r>
          </a:p>
        </p:txBody>
      </p:sp>
    </p:spTree>
    <p:extLst>
      <p:ext uri="{BB962C8B-B14F-4D97-AF65-F5344CB8AC3E}">
        <p14:creationId xmlns:p14="http://schemas.microsoft.com/office/powerpoint/2010/main" val="361301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Data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3E0508-5C8E-4955-978B-B734B0524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36807" y="1749593"/>
            <a:ext cx="3914775" cy="335881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572BB8-F7A0-4109-9AF7-3CDD338E49B0}"/>
              </a:ext>
            </a:extLst>
          </p:cNvPr>
          <p:cNvSpPr/>
          <p:nvPr/>
        </p:nvSpPr>
        <p:spPr>
          <a:xfrm>
            <a:off x="0" y="5963920"/>
            <a:ext cx="9144000" cy="577849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Bahnschrift" panose="020B0502040204020203" pitchFamily="34" charset="0"/>
              </a:rPr>
              <a:t>Database is distinct from storage model</a:t>
            </a:r>
            <a:endParaRPr lang="en-IN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51B8EDD9-D9B7-468D-BE65-2B1043242E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43524"/>
              </p:ext>
            </p:extLst>
          </p:nvPr>
        </p:nvGraphicFramePr>
        <p:xfrm>
          <a:off x="292418" y="1749593"/>
          <a:ext cx="4424362" cy="3358811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2212181">
                  <a:extLst>
                    <a:ext uri="{9D8B030D-6E8A-4147-A177-3AD203B41FA5}">
                      <a16:colId xmlns:a16="http://schemas.microsoft.com/office/drawing/2014/main" val="233796672"/>
                    </a:ext>
                  </a:extLst>
                </a:gridCol>
                <a:gridCol w="2212181">
                  <a:extLst>
                    <a:ext uri="{9D8B030D-6E8A-4147-A177-3AD203B41FA5}">
                      <a16:colId xmlns:a16="http://schemas.microsoft.com/office/drawing/2014/main" val="4034883189"/>
                    </a:ext>
                  </a:extLst>
                </a:gridCol>
              </a:tblGrid>
              <a:tr h="107281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ahnschrift" panose="020B0502040204020203" pitchFamily="34" charset="0"/>
                        </a:rPr>
                        <a:t>Database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ahnschrift" panose="020B0502040204020203" pitchFamily="34" charset="0"/>
                        </a:rPr>
                        <a:t>Storage Model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57825367"/>
                  </a:ext>
                </a:extLst>
              </a:tr>
              <a:tr h="18517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ahnschrift" panose="020B0502040204020203" pitchFamily="34" charset="0"/>
                        </a:rPr>
                        <a:t>How we interact with the data in the database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ahnschrift" panose="020B0502040204020203" pitchFamily="34" charset="0"/>
                        </a:rPr>
                        <a:t>How the database stores and manipulates the data internally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375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68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A09828-BBF6-4200-A114-774D4DD20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model is the model of the specific data in an application </a:t>
            </a:r>
          </a:p>
          <a:p>
            <a:r>
              <a:rPr lang="en-US" dirty="0"/>
              <a:t> A developer might point to an entity-relationship diagram and refer it as the data model containing – customers, </a:t>
            </a:r>
          </a:p>
          <a:p>
            <a:pPr marL="0" indent="0">
              <a:buNone/>
            </a:pPr>
            <a:r>
              <a:rPr lang="en-US" dirty="0"/>
              <a:t>  – orders and </a:t>
            </a:r>
          </a:p>
          <a:p>
            <a:pPr marL="0" indent="0">
              <a:buNone/>
            </a:pPr>
            <a:r>
              <a:rPr lang="en-US" dirty="0"/>
              <a:t>  – products 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F13E43-2E57-4349-BA01-A837FAF5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Models: Example</a:t>
            </a:r>
          </a:p>
        </p:txBody>
      </p:sp>
    </p:spTree>
    <p:extLst>
      <p:ext uri="{BB962C8B-B14F-4D97-AF65-F5344CB8AC3E}">
        <p14:creationId xmlns:p14="http://schemas.microsoft.com/office/powerpoint/2010/main" val="4220982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145"/>
            <a:ext cx="8401050" cy="50048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Q: What is the name of data model from last couple of decades?</a:t>
            </a:r>
          </a:p>
          <a:p>
            <a:pPr marL="0" indent="0">
              <a:buNone/>
            </a:pPr>
            <a:r>
              <a:rPr lang="en-US" dirty="0"/>
              <a:t>Ans:-????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Data Model</a:t>
            </a:r>
          </a:p>
        </p:txBody>
      </p:sp>
    </p:spTree>
    <p:extLst>
      <p:ext uri="{BB962C8B-B14F-4D97-AF65-F5344CB8AC3E}">
        <p14:creationId xmlns:p14="http://schemas.microsoft.com/office/powerpoint/2010/main" val="1327396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145"/>
            <a:ext cx="8401050" cy="50048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Q: What is the name of data model from last couple of decades?</a:t>
            </a:r>
          </a:p>
          <a:p>
            <a:pPr marL="0" indent="0">
              <a:buNone/>
            </a:pPr>
            <a:r>
              <a:rPr lang="en-US" dirty="0"/>
              <a:t>Ans:- Relational data model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Data Model</a:t>
            </a:r>
          </a:p>
        </p:txBody>
      </p:sp>
    </p:spTree>
    <p:extLst>
      <p:ext uri="{BB962C8B-B14F-4D97-AF65-F5344CB8AC3E}">
        <p14:creationId xmlns:p14="http://schemas.microsoft.com/office/powerpoint/2010/main" val="3934653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Data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5CC3FF-24E0-4216-A889-E818FC6DA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700212"/>
            <a:ext cx="86677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1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064BED-6376-47CC-B052-4383152CE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It moves away from the relational data model.</a:t>
            </a:r>
          </a:p>
          <a:p>
            <a:pPr algn="just"/>
            <a:r>
              <a:rPr lang="en-US" dirty="0"/>
              <a:t>Each NOSQL database has a different model</a:t>
            </a:r>
          </a:p>
          <a:p>
            <a:pPr lvl="1" algn="just"/>
            <a:r>
              <a:rPr lang="en-US" dirty="0"/>
              <a:t>Key-value</a:t>
            </a:r>
          </a:p>
          <a:p>
            <a:pPr lvl="1" algn="just"/>
            <a:r>
              <a:rPr lang="en-US" dirty="0"/>
              <a:t>Document</a:t>
            </a:r>
          </a:p>
          <a:p>
            <a:pPr lvl="1" algn="just"/>
            <a:r>
              <a:rPr lang="en-US" dirty="0"/>
              <a:t>Column-family</a:t>
            </a:r>
          </a:p>
          <a:p>
            <a:pPr lvl="1" algn="just"/>
            <a:r>
              <a:rPr lang="en-US" dirty="0"/>
              <a:t>Graph, and</a:t>
            </a:r>
          </a:p>
          <a:p>
            <a:pPr lvl="1" algn="just"/>
            <a:r>
              <a:rPr lang="en-US" dirty="0"/>
              <a:t>Sparse (Index based)</a:t>
            </a:r>
          </a:p>
          <a:p>
            <a:pPr algn="just"/>
            <a:r>
              <a:rPr lang="en-US" dirty="0"/>
              <a:t>Of these, the first three share a common characteristics (Aggregate Orientation). 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9A11C4-7EAA-41A7-8619-B2FE91544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954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270761-CC40-4F3F-A916-7E3BC3989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0855C-9FA4-417A-BE67-63C022F81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541782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E6A49B-1B06-403E-8CC5-ACB38A6BD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1826" y="891540"/>
            <a:ext cx="8242174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762DD-58A8-4ADC-B372-C04AEA669376}"/>
              </a:ext>
            </a:extLst>
          </p:cNvPr>
          <p:cNvSpPr/>
          <p:nvPr/>
        </p:nvSpPr>
        <p:spPr>
          <a:xfrm>
            <a:off x="1414136" y="1774348"/>
            <a:ext cx="7217553" cy="330549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hnschrift SemiBold" panose="020B0502040204020203" pitchFamily="34" charset="0"/>
                <a:ea typeface="+mj-ea"/>
                <a:cs typeface="+mj-cs"/>
              </a:rPr>
              <a:t>Relational Model 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  <a:latin typeface="Bahnschrift SemiBold" panose="020B0502040204020203" pitchFamily="34" charset="0"/>
                <a:ea typeface="+mj-ea"/>
                <a:cs typeface="+mj-cs"/>
              </a:rPr>
              <a:t>v</a:t>
            </a:r>
            <a:r>
              <a:rPr lang="en-US" sz="6000" b="1" kern="12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hnschrift SemiBold" panose="020B0502040204020203" pitchFamily="34" charset="0"/>
                <a:ea typeface="+mj-ea"/>
                <a:cs typeface="+mj-cs"/>
              </a:rPr>
              <a:t>s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ahnschrift SemiBold" panose="020B0502040204020203" pitchFamily="34" charset="0"/>
                <a:ea typeface="+mj-ea"/>
                <a:cs typeface="+mj-cs"/>
              </a:rPr>
              <a:t>Aggregate Data Model</a:t>
            </a:r>
          </a:p>
        </p:txBody>
      </p:sp>
    </p:spTree>
    <p:extLst>
      <p:ext uri="{BB962C8B-B14F-4D97-AF65-F5344CB8AC3E}">
        <p14:creationId xmlns:p14="http://schemas.microsoft.com/office/powerpoint/2010/main" val="2976932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6ED092-52C4-47C6-A18F-9F41301DD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relational model takes the information that we want to store and divides it into tuples (rows). </a:t>
            </a:r>
          </a:p>
          <a:p>
            <a:pPr algn="just"/>
            <a:r>
              <a:rPr lang="en-US" dirty="0"/>
              <a:t> However, a tuple is a limited data structure. </a:t>
            </a:r>
          </a:p>
          <a:p>
            <a:pPr algn="just"/>
            <a:r>
              <a:rPr lang="en-US" dirty="0"/>
              <a:t>It captures a set of values. </a:t>
            </a:r>
          </a:p>
          <a:p>
            <a:pPr algn="just"/>
            <a:r>
              <a:rPr lang="en-US" dirty="0"/>
              <a:t> So, we can’t nest one tuple within another to get nested records. </a:t>
            </a:r>
          </a:p>
          <a:p>
            <a:pPr algn="just"/>
            <a:r>
              <a:rPr lang="en-US" dirty="0"/>
              <a:t>Nor we can put a list of values or tuple within another. 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E2787-CAA0-4C4C-A665-3068AEC0C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649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6ED092-52C4-47C6-A18F-9F41301DD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This simplicity characterize the relational model.</a:t>
            </a:r>
          </a:p>
          <a:p>
            <a:pPr algn="just"/>
            <a:r>
              <a:rPr lang="en-US" dirty="0"/>
              <a:t> It allows us to think on data manipulation as operation that have: – </a:t>
            </a:r>
          </a:p>
          <a:p>
            <a:pPr lvl="1" algn="just"/>
            <a:r>
              <a:rPr lang="en-US" dirty="0"/>
              <a:t>As input tuples, and – </a:t>
            </a:r>
          </a:p>
          <a:p>
            <a:pPr lvl="1" algn="just"/>
            <a:r>
              <a:rPr lang="en-US" dirty="0"/>
              <a:t>Return tuples • </a:t>
            </a:r>
          </a:p>
          <a:p>
            <a:pPr algn="just"/>
            <a:r>
              <a:rPr lang="en-US" dirty="0"/>
              <a:t>Aggregate orientation takes a different approach.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E2787-CAA0-4C4C-A665-3068AEC0C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486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82285-65BD-4FDE-90BF-A98D7BD9A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Relational database modelling is vastly different.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An aggregate is a collection of data that we interact with as a unit.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These units of data or aggregates form the boundaries for ACID operations with the database.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A4A19F-CC4F-4B33-A8E0-3F2662BA1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data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377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3AD6A4-D3E2-4234-A5D2-8AF802151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NoSQL databases are classified in different data models: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013CFE-9515-4A4E-8EEB-B3744BF5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data model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43939A-1652-4FC6-A48D-0FBEA721C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818" y="3044286"/>
            <a:ext cx="5268363" cy="337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02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A4A19F-CC4F-4B33-A8E0-3F2662BA1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data model</a:t>
            </a:r>
            <a:endParaRPr lang="en-IN" dirty="0"/>
          </a:p>
        </p:txBody>
      </p:sp>
      <p:pic>
        <p:nvPicPr>
          <p:cNvPr id="1026" name="Picture 2" descr="Key–value database - Wikipedia">
            <a:extLst>
              <a:ext uri="{FF2B5EF4-FFF2-40B4-BE49-F238E27FC236}">
                <a16:creationId xmlns:a16="http://schemas.microsoft.com/office/drawing/2014/main" id="{4C83F5F5-3160-4B74-A046-A912A77AA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337" y="1767334"/>
            <a:ext cx="4911326" cy="3323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1CB75D-4873-4BE0-AB3D-2C8DE8502BC8}"/>
              </a:ext>
            </a:extLst>
          </p:cNvPr>
          <p:cNvSpPr txBox="1"/>
          <p:nvPr/>
        </p:nvSpPr>
        <p:spPr>
          <a:xfrm>
            <a:off x="3669118" y="5242575"/>
            <a:ext cx="1805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 Key-value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907141"/>
      </p:ext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A4A19F-CC4F-4B33-A8E0-3F2662BA1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Aggregate data model</a:t>
            </a:r>
            <a:endParaRPr dirty="0" lang="en-IN"/>
          </a:p>
        </p:txBody>
      </p:sp>
      <p:pic>
        <p:nvPicPr>
          <p:cNvPr descr="Key–value database - Wikipedia" id="1026" name="Picture 2">
            <a:extLst>
              <a:ext uri="{FF2B5EF4-FFF2-40B4-BE49-F238E27FC236}">
                <a16:creationId xmlns:a16="http://schemas.microsoft.com/office/drawing/2014/main" id="{4C83F5F5-3160-4B74-A046-A912A77AA6BF}"/>
              </a:ext>
            </a:extLst>
          </p:cNvPr>
          <p:cNvPicPr>
            <a:picLocks noChangeArrowheads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90" y="2559437"/>
            <a:ext cx="3143498" cy="212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1CB75D-4873-4BE0-AB3D-2C8DE8502BC8}"/>
              </a:ext>
            </a:extLst>
          </p:cNvPr>
          <p:cNvSpPr txBox="1"/>
          <p:nvPr/>
        </p:nvSpPr>
        <p:spPr>
          <a:xfrm>
            <a:off x="903767" y="4686537"/>
            <a:ext cx="1477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 i="0" lang="en-US" sz="2000">
                <a:solidFill>
                  <a:srgbClr val="000000"/>
                </a:solidFill>
                <a:effectLst/>
                <a:latin charset="0" panose="020B0502040204020203" pitchFamily="34" typeface="Bahnschrift"/>
              </a:rPr>
              <a:t> Key-value</a:t>
            </a:r>
            <a:endParaRPr dirty="0" lang="en-IN" sz="2000">
              <a:latin charset="0" panose="020B0502040204020203" pitchFamily="34" typeface="Bahnschrif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EF2DE-2641-47E9-9AEB-3EFCE40F9B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3" r="30"/>
          <a:stretch/>
        </p:blipFill>
        <p:spPr>
          <a:xfrm>
            <a:off x="3523432" y="2559437"/>
            <a:ext cx="5376978" cy="2127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500917-575D-4B38-BDDF-49017A79A79A}"/>
              </a:ext>
            </a:extLst>
          </p:cNvPr>
          <p:cNvSpPr txBox="1"/>
          <p:nvPr/>
        </p:nvSpPr>
        <p:spPr>
          <a:xfrm>
            <a:off x="5324884" y="4686537"/>
            <a:ext cx="2915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 i="0" lang="en-US" sz="2000">
                <a:solidFill>
                  <a:srgbClr val="000000"/>
                </a:solidFill>
                <a:effectLst/>
                <a:latin charset="0" panose="020B0502040204020203" pitchFamily="34" typeface="Bahnschrift"/>
              </a:rPr>
              <a:t>Document Databases</a:t>
            </a:r>
            <a:endParaRPr dirty="0" lang="en-IN" sz="20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4087691972"/>
      </p:ext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A4A19F-CC4F-4B33-A8E0-3F2662BA1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Aggregate data model</a:t>
            </a:r>
            <a:endParaRPr dirty="0"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CB75D-4873-4BE0-AB3D-2C8DE8502BC8}"/>
              </a:ext>
            </a:extLst>
          </p:cNvPr>
          <p:cNvSpPr txBox="1"/>
          <p:nvPr/>
        </p:nvSpPr>
        <p:spPr>
          <a:xfrm>
            <a:off x="2801677" y="5928360"/>
            <a:ext cx="35406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 i="0" lang="en-US" sz="2000">
                <a:solidFill>
                  <a:srgbClr val="000000"/>
                </a:solidFill>
                <a:effectLst/>
                <a:latin charset="0" panose="020B0502040204020203" pitchFamily="34" typeface="Bahnschrift"/>
              </a:rPr>
              <a:t>Column-family databases</a:t>
            </a:r>
            <a:endParaRPr dirty="0" lang="en-IN" sz="2000">
              <a:latin charset="0" panose="020B0502040204020203" pitchFamily="34" typeface="Bahnschrif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659B7-367E-4A1F-9FC2-789D60CE21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82"/>
          <a:stretch/>
        </p:blipFill>
        <p:spPr>
          <a:xfrm>
            <a:off x="115877" y="1499400"/>
            <a:ext cx="8912241" cy="442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36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1CD134-EA7D-478A-A3AF-4B5281C6E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/>
              <a:t>What make it easier for the database?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Aggregates make it easier for the database to manage data storage over clusters.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Aggregate-oriented databases work best when most data interaction is done with the same aggregate.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D3986C-F53F-43EA-A0C4-0410151F1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data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497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91743" y="0"/>
            <a:ext cx="5360514" cy="5777808"/>
            <a:chOff x="329184" y="1"/>
            <a:chExt cx="524256" cy="577780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FD486-BFBD-4666-9276-C9AF13C45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31961"/>
            <a:ext cx="6858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0" i="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Examples of Relations and Aggregates</a:t>
            </a:r>
            <a:endParaRPr lang="en-US" sz="48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112851"/>
      </p:ext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6B7280-0132-44D3-8AD2-5F3755D3AB71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73" r="6"/>
          <a:stretch/>
        </p:blipFill>
        <p:spPr>
          <a:xfrm>
            <a:off x="4062744" y="2053184"/>
            <a:ext cx="5081256" cy="379462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8EA6CD-357A-475B-BB9A-6AD33691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Examples of Relational Model</a:t>
            </a:r>
            <a:endParaRPr dirty="0" lang="en-IN">
              <a:latin charset="0" panose="020B0502040204020203" pitchFamily="34" typeface="Bahnschrif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E954E2-BDCE-42C5-A0DC-57829543DC52}"/>
              </a:ext>
            </a:extLst>
          </p:cNvPr>
          <p:cNvSpPr/>
          <p:nvPr/>
        </p:nvSpPr>
        <p:spPr>
          <a:xfrm>
            <a:off x="1" y="6250172"/>
            <a:ext cx="9144000" cy="531628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2400">
                <a:latin charset="0" panose="020B0502040204020203" pitchFamily="34" typeface="Bahnschrift"/>
              </a:rPr>
              <a:t>Data Model Oriented Around a Relational Database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01CD-C2C3-4D55-AD39-49896A282216}"/>
              </a:ext>
            </a:extLst>
          </p:cNvPr>
          <p:cNvSpPr txBox="1"/>
          <p:nvPr/>
        </p:nvSpPr>
        <p:spPr>
          <a:xfrm>
            <a:off x="338362" y="1432243"/>
            <a:ext cx="3724382" cy="4798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marL="34290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300">
                <a:latin charset="0" panose="020B0502040204020203" pitchFamily="34" typeface="Bahnschrift"/>
              </a:rPr>
              <a:t>Assume we are building an e-commerce website; </a:t>
            </a:r>
          </a:p>
          <a:p>
            <a:pPr indent="-342900" marL="34290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300">
                <a:latin charset="0" panose="020B0502040204020203" pitchFamily="34" typeface="Bahnschrift"/>
              </a:rPr>
              <a:t> We have to store information about: users, products, orders, shipping addresses, billing addresses, and payment data. </a:t>
            </a:r>
            <a:endParaRPr dirty="0" lang="en-IN" sz="23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266521944"/>
      </p:ext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6B7280-0132-44D3-8AD2-5F3755D3AB71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73" r="6"/>
          <a:stretch/>
        </p:blipFill>
        <p:spPr>
          <a:xfrm>
            <a:off x="4197542" y="1921870"/>
            <a:ext cx="4870258" cy="379462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8EA6CD-357A-475B-BB9A-6AD33691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Examples of Relational Model</a:t>
            </a:r>
            <a:endParaRPr dirty="0" lang="en-IN">
              <a:latin charset="0" panose="020B0502040204020203" pitchFamily="34" typeface="Bahnschrif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01CD-C2C3-4D55-AD39-49896A282216}"/>
              </a:ext>
            </a:extLst>
          </p:cNvPr>
          <p:cNvSpPr txBox="1"/>
          <p:nvPr/>
        </p:nvSpPr>
        <p:spPr>
          <a:xfrm>
            <a:off x="338362" y="1453611"/>
            <a:ext cx="3737260" cy="4731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indent="-342900" marL="34290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800">
                <a:latin charset="0" panose="020B0502040204020203" pitchFamily="34" typeface="Bahnschrift"/>
              </a:rPr>
              <a:t>As we are good relational soldier</a:t>
            </a:r>
            <a:r>
              <a:rPr dirty="0" lang="en-US" sz="2000"/>
              <a:t>:</a:t>
            </a:r>
          </a:p>
          <a:p>
            <a:pPr indent="-342900" lvl="1" marL="80010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400">
                <a:latin charset="0" panose="020B0502040204020203" pitchFamily="34" typeface="Bahnschrift"/>
              </a:rPr>
              <a:t>Everything is normalized </a:t>
            </a:r>
          </a:p>
          <a:p>
            <a:pPr indent="-342900" lvl="1" marL="80010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400">
                <a:latin charset="0" panose="020B0502040204020203" pitchFamily="34" typeface="Bahnschrift"/>
              </a:rPr>
              <a:t> No data is repeated in multiple tables. </a:t>
            </a:r>
          </a:p>
          <a:p>
            <a:pPr indent="-342900" lvl="1" marL="80010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400">
                <a:latin charset="0" panose="020B0502040204020203" pitchFamily="34" typeface="Bahnschrift"/>
              </a:rPr>
              <a:t> We have referential integrity </a:t>
            </a:r>
            <a:endParaRPr dirty="0" lang="en-IN" sz="2400">
              <a:latin charset="0" panose="020B0502040204020203" pitchFamily="34" typeface="Bahnschrif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25DB0F-E23C-4B30-938A-6ED69FF1F64C}"/>
              </a:ext>
            </a:extLst>
          </p:cNvPr>
          <p:cNvSpPr/>
          <p:nvPr/>
        </p:nvSpPr>
        <p:spPr>
          <a:xfrm>
            <a:off x="1" y="6250172"/>
            <a:ext cx="9144000" cy="531628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2400">
                <a:latin charset="0" panose="020B0502040204020203" pitchFamily="34" typeface="Bahnschrift"/>
              </a:rPr>
              <a:t>Data Model Oriented Around a Relational Database</a:t>
            </a:r>
          </a:p>
        </p:txBody>
      </p:sp>
    </p:spTree>
    <p:extLst>
      <p:ext uri="{BB962C8B-B14F-4D97-AF65-F5344CB8AC3E}">
        <p14:creationId xmlns:p14="http://schemas.microsoft.com/office/powerpoint/2010/main" val="2204258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59E7A3-1E6C-4AEB-BE5B-707E45B01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4527" y="1325563"/>
            <a:ext cx="6714945" cy="48933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DB6FE70-5386-4C5C-98F2-3A6A8EF6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data using RDBMS data model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3AC54C-8462-4151-AEF4-138C72DB4A50}"/>
              </a:ext>
            </a:extLst>
          </p:cNvPr>
          <p:cNvSpPr/>
          <p:nvPr/>
        </p:nvSpPr>
        <p:spPr>
          <a:xfrm>
            <a:off x="2849407" y="6218901"/>
            <a:ext cx="2865593" cy="56289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Sample Data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695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59E7A3-1E6C-4AEB-BE5B-707E45B01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7765" y="2130082"/>
            <a:ext cx="5988469" cy="43639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DB6FE70-5386-4C5C-98F2-3A6A8EF6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data using RDBMS data model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3AC54C-8462-4151-AEF4-138C72DB4A50}"/>
              </a:ext>
            </a:extLst>
          </p:cNvPr>
          <p:cNvSpPr/>
          <p:nvPr/>
        </p:nvSpPr>
        <p:spPr>
          <a:xfrm>
            <a:off x="2122276" y="1443965"/>
            <a:ext cx="4899447" cy="56771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Sample Data for this model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892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D39DA8-FE2D-4AFA-A064-3A97D35EF8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Bahnschrift" panose="020B0502040204020203" pitchFamily="34" charset="0"/>
              </a:rPr>
              <a:t>Lets see how this model looks when we think in more aggregate-oriented terms</a:t>
            </a:r>
          </a:p>
        </p:txBody>
      </p:sp>
    </p:spTree>
    <p:extLst>
      <p:ext uri="{BB962C8B-B14F-4D97-AF65-F5344CB8AC3E}">
        <p14:creationId xmlns:p14="http://schemas.microsoft.com/office/powerpoint/2010/main" val="3717295557"/>
      </p:ext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1A40C6-2C73-40CC-B3D6-E7C9C803177A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17" r="66"/>
          <a:stretch/>
        </p:blipFill>
        <p:spPr>
          <a:xfrm>
            <a:off x="3407229" y="1698171"/>
            <a:ext cx="5736771" cy="422365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D3CFB95-B094-4526-939B-B77213A1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Example of Aggregate Model</a:t>
            </a:r>
            <a:endParaRPr dirty="0"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005D3F-A31B-458D-A3F5-1140618BE6FF}"/>
              </a:ext>
            </a:extLst>
          </p:cNvPr>
          <p:cNvSpPr/>
          <p:nvPr/>
        </p:nvSpPr>
        <p:spPr>
          <a:xfrm>
            <a:off x="5156671" y="6250892"/>
            <a:ext cx="2668773" cy="45720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/>
              <a:t>An Aggregate Data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4361D-3DE8-4E0C-B964-A0AA9133F338}"/>
              </a:ext>
            </a:extLst>
          </p:cNvPr>
          <p:cNvSpPr txBox="1"/>
          <p:nvPr/>
        </p:nvSpPr>
        <p:spPr>
          <a:xfrm>
            <a:off x="338362" y="1325563"/>
            <a:ext cx="3068867" cy="5557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indent="-285750" marL="28575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400">
                <a:latin charset="0" panose="020B0502040204020203" pitchFamily="34" typeface="Bahnschrift"/>
              </a:rPr>
              <a:t>We have two aggregates:</a:t>
            </a:r>
          </a:p>
          <a:p>
            <a:pPr algn="just" indent="-342900" lvl="1" marL="800100">
              <a:lnSpc>
                <a:spcPct val="150000"/>
              </a:lnSpc>
              <a:buFont charset="2" panose="05000000000000000000" pitchFamily="2" typeface="Wingdings"/>
              <a:buChar char="ü"/>
            </a:pPr>
            <a:r>
              <a:rPr dirty="0" lang="en-US" sz="2400">
                <a:latin charset="0" panose="020B0502040204020203" pitchFamily="34" typeface="Bahnschrift"/>
              </a:rPr>
              <a:t>Customers and</a:t>
            </a:r>
          </a:p>
          <a:p>
            <a:pPr algn="just" indent="-342900" lvl="1" marL="800100">
              <a:lnSpc>
                <a:spcPct val="150000"/>
              </a:lnSpc>
              <a:buFont charset="2" panose="05000000000000000000" pitchFamily="2" typeface="Wingdings"/>
              <a:buChar char="ü"/>
            </a:pPr>
            <a:r>
              <a:rPr dirty="0" lang="en-US" sz="2400">
                <a:latin charset="0" panose="020B0502040204020203" pitchFamily="34" typeface="Bahnschrift"/>
              </a:rPr>
              <a:t>Orders </a:t>
            </a:r>
          </a:p>
          <a:p>
            <a:pPr algn="just" indent="-285750" marL="28575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400">
                <a:latin charset="0" panose="020B0502040204020203" pitchFamily="34" typeface="Bahnschrift"/>
              </a:rPr>
              <a:t> We us the black-diamond composition to show how data fits into the aggregate structure</a:t>
            </a:r>
            <a:endParaRPr dirty="0" lang="en-IN" sz="24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729262271"/>
      </p:ext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1A40C6-2C73-40CC-B3D6-E7C9C803177A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17" r="66"/>
          <a:stretch/>
        </p:blipFill>
        <p:spPr>
          <a:xfrm>
            <a:off x="4061388" y="1965960"/>
            <a:ext cx="5082612" cy="383612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D3CFB95-B094-4526-939B-B77213A1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Example of Aggregate Model</a:t>
            </a:r>
            <a:endParaRPr dirty="0"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005D3F-A31B-458D-A3F5-1140618BE6FF}"/>
              </a:ext>
            </a:extLst>
          </p:cNvPr>
          <p:cNvSpPr/>
          <p:nvPr/>
        </p:nvSpPr>
        <p:spPr>
          <a:xfrm>
            <a:off x="5134900" y="6098493"/>
            <a:ext cx="2668773" cy="45720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/>
              <a:t>An Aggregate Data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4361D-3DE8-4E0C-B964-A0AA9133F338}"/>
              </a:ext>
            </a:extLst>
          </p:cNvPr>
          <p:cNvSpPr txBox="1"/>
          <p:nvPr/>
        </p:nvSpPr>
        <p:spPr>
          <a:xfrm>
            <a:off x="286075" y="1592347"/>
            <a:ext cx="3723026" cy="4963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indent="-285750" marL="28575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200">
                <a:latin charset="0" panose="020B0502040204020203" pitchFamily="34" typeface="Bahnschrift"/>
              </a:rPr>
              <a:t>The customer contains a list of billing addresses; </a:t>
            </a:r>
          </a:p>
          <a:p>
            <a:pPr algn="just" indent="-285750" marL="28575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200">
                <a:latin charset="0" panose="020B0502040204020203" pitchFamily="34" typeface="Bahnschrift"/>
              </a:rPr>
              <a:t>The order contains a list of: </a:t>
            </a:r>
          </a:p>
          <a:p>
            <a:pPr algn="just" indent="-285750" lvl="1" marL="74295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000">
                <a:latin charset="0" panose="020B0502040204020203" pitchFamily="34" typeface="Bahnschrift"/>
              </a:rPr>
              <a:t>order items, </a:t>
            </a:r>
          </a:p>
          <a:p>
            <a:pPr algn="just" indent="-285750" lvl="1" marL="74295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000">
                <a:latin charset="0" panose="020B0502040204020203" pitchFamily="34" typeface="Bahnschrift"/>
              </a:rPr>
              <a:t>a shipping address,  </a:t>
            </a:r>
          </a:p>
          <a:p>
            <a:pPr algn="just" indent="-285750" lvl="1" marL="74295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000">
                <a:latin charset="0" panose="020B0502040204020203" pitchFamily="34" typeface="Bahnschrift"/>
              </a:rPr>
              <a:t>and payments </a:t>
            </a:r>
          </a:p>
          <a:p>
            <a:pPr algn="just" indent="-285750" marL="28575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200">
                <a:latin charset="0" panose="020B0502040204020203" pitchFamily="34" typeface="Bahnschrift"/>
              </a:rPr>
              <a:t>The payment itself contains a billing address for that payment </a:t>
            </a:r>
            <a:endParaRPr dirty="0" lang="en-IN" sz="22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935044379"/>
      </p:ext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1A40C6-2C73-40CC-B3D6-E7C9C803177A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17" r="66"/>
          <a:stretch/>
        </p:blipFill>
        <p:spPr>
          <a:xfrm>
            <a:off x="3533512" y="1491343"/>
            <a:ext cx="5610488" cy="445225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D3CFB95-B094-4526-939B-B77213A1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Example of Aggregate Model</a:t>
            </a:r>
            <a:endParaRPr dirty="0"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005D3F-A31B-458D-A3F5-1140618BE6FF}"/>
              </a:ext>
            </a:extLst>
          </p:cNvPr>
          <p:cNvSpPr/>
          <p:nvPr/>
        </p:nvSpPr>
        <p:spPr>
          <a:xfrm>
            <a:off x="5102243" y="6077672"/>
            <a:ext cx="2668773" cy="45720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/>
              <a:t>An Aggregate Data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4361D-3DE8-4E0C-B964-A0AA9133F338}"/>
              </a:ext>
            </a:extLst>
          </p:cNvPr>
          <p:cNvSpPr txBox="1"/>
          <p:nvPr/>
        </p:nvSpPr>
        <p:spPr>
          <a:xfrm>
            <a:off x="338362" y="1554163"/>
            <a:ext cx="3195150" cy="5101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indent="-285750" marL="28575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200">
                <a:latin charset="0" panose="020B0502040204020203" pitchFamily="34" typeface="Bahnschrift"/>
              </a:rPr>
              <a:t>A single logical address appears 3 times, but instead of using IDs it is copied each time.</a:t>
            </a:r>
          </a:p>
          <a:p>
            <a:pPr algn="just" indent="-285750" marL="28575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200">
                <a:latin charset="0" panose="020B0502040204020203" pitchFamily="34" typeface="Bahnschrift"/>
              </a:rPr>
              <a:t>This fits a domain where we don’t want shipping, payment and billing address to change.</a:t>
            </a:r>
          </a:p>
        </p:txBody>
      </p:sp>
    </p:spTree>
    <p:extLst>
      <p:ext uri="{BB962C8B-B14F-4D97-AF65-F5344CB8AC3E}">
        <p14:creationId xmlns:p14="http://schemas.microsoft.com/office/powerpoint/2010/main" val="434360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FB2B-9EA6-4AD3-BC5D-0DB0948BD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686" y="2095781"/>
            <a:ext cx="4783276" cy="101753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49D525-ACE9-4CCF-934D-D54D6D6A5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325563"/>
            <a:ext cx="8386537" cy="5307466"/>
          </a:xfrm>
        </p:spPr>
        <p:txBody>
          <a:bodyPr>
            <a:normAutofit/>
          </a:bodyPr>
          <a:lstStyle/>
          <a:p>
            <a:r>
              <a:rPr lang="en-US" sz="2000" dirty="0"/>
              <a:t>The link between the customer and the order is a relationship between aggregates </a:t>
            </a: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13B7BB-23D9-4E9D-B53A-2CE59BDD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Aggregate Model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3A26630-B73B-4D75-A355-652E374B6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894765"/>
              </p:ext>
            </p:extLst>
          </p:nvPr>
        </p:nvGraphicFramePr>
        <p:xfrm>
          <a:off x="97972" y="3113315"/>
          <a:ext cx="904602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72">
                  <a:extLst>
                    <a:ext uri="{9D8B030D-6E8A-4147-A177-3AD203B41FA5}">
                      <a16:colId xmlns:a16="http://schemas.microsoft.com/office/drawing/2014/main" val="180986338"/>
                    </a:ext>
                  </a:extLst>
                </a:gridCol>
                <a:gridCol w="3543078">
                  <a:extLst>
                    <a:ext uri="{9D8B030D-6E8A-4147-A177-3AD203B41FA5}">
                      <a16:colId xmlns:a16="http://schemas.microsoft.com/office/drawing/2014/main" val="472886072"/>
                    </a:ext>
                  </a:extLst>
                </a:gridCol>
                <a:gridCol w="3543078">
                  <a:extLst>
                    <a:ext uri="{9D8B030D-6E8A-4147-A177-3AD203B41FA5}">
                      <a16:colId xmlns:a16="http://schemas.microsoft.com/office/drawing/2014/main" val="1527897394"/>
                    </a:ext>
                  </a:extLst>
                </a:gridCol>
              </a:tblGrid>
              <a:tr h="3585029">
                <a:tc>
                  <a:txBody>
                    <a:bodyPr/>
                    <a:lstStyle/>
                    <a:p>
                      <a:r>
                        <a:rPr lang="en-US" dirty="0"/>
                        <a:t>//Customer</a:t>
                      </a:r>
                    </a:p>
                    <a:p>
                      <a:r>
                        <a:rPr lang="en-US" dirty="0"/>
                        <a:t> { </a:t>
                      </a:r>
                    </a:p>
                    <a:p>
                      <a:r>
                        <a:rPr lang="en-US" dirty="0"/>
                        <a:t>        "id": 1,</a:t>
                      </a:r>
                    </a:p>
                    <a:p>
                      <a:r>
                        <a:rPr lang="en-US" dirty="0"/>
                        <a:t>        "name": "Fabio",</a:t>
                      </a:r>
                    </a:p>
                    <a:p>
                      <a:r>
                        <a:rPr lang="en-US" dirty="0"/>
                        <a:t>       "</a:t>
                      </a:r>
                      <a:r>
                        <a:rPr lang="en-US" dirty="0" err="1"/>
                        <a:t>billingAddress</a:t>
                      </a:r>
                      <a:r>
                        <a:rPr lang="en-US" dirty="0"/>
                        <a:t>": [</a:t>
                      </a:r>
                    </a:p>
                    <a:p>
                      <a:r>
                        <a:rPr lang="en-US" dirty="0"/>
                        <a:t>         {  </a:t>
                      </a:r>
                    </a:p>
                    <a:p>
                      <a:r>
                        <a:rPr lang="en-US" dirty="0"/>
                        <a:t>                "city": "Bari" </a:t>
                      </a:r>
                    </a:p>
                    <a:p>
                      <a:r>
                        <a:rPr lang="en-US" dirty="0"/>
                        <a:t>         }</a:t>
                      </a:r>
                    </a:p>
                    <a:p>
                      <a:r>
                        <a:rPr lang="en-US" dirty="0"/>
                        <a:t>     ] </a:t>
                      </a:r>
                    </a:p>
                    <a:p>
                      <a:r>
                        <a:rPr lang="en-US" dirty="0"/>
                        <a:t>} </a:t>
                      </a:r>
                      <a:endParaRPr lang="en-IN" dirty="0"/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//Orders </a:t>
                      </a:r>
                    </a:p>
                    <a:p>
                      <a:r>
                        <a:rPr lang="en-US" dirty="0"/>
                        <a:t>{</a:t>
                      </a:r>
                    </a:p>
                    <a:p>
                      <a:r>
                        <a:rPr lang="en-US" dirty="0"/>
                        <a:t>          "id": 99,</a:t>
                      </a:r>
                    </a:p>
                    <a:p>
                      <a:r>
                        <a:rPr lang="en-US" dirty="0"/>
                        <a:t>          "</a:t>
                      </a:r>
                      <a:r>
                        <a:rPr lang="en-US" dirty="0" err="1"/>
                        <a:t>customerId</a:t>
                      </a:r>
                      <a:r>
                        <a:rPr lang="en-US" dirty="0"/>
                        <a:t>": 1, </a:t>
                      </a:r>
                    </a:p>
                    <a:p>
                      <a:r>
                        <a:rPr lang="en-US" dirty="0"/>
                        <a:t>          "</a:t>
                      </a:r>
                      <a:r>
                        <a:rPr lang="en-US" dirty="0" err="1"/>
                        <a:t>orderItems</a:t>
                      </a:r>
                      <a:r>
                        <a:rPr lang="en-US" dirty="0"/>
                        <a:t>": [</a:t>
                      </a:r>
                    </a:p>
                    <a:p>
                      <a:r>
                        <a:rPr lang="en-US" dirty="0"/>
                        <a:t>         { </a:t>
                      </a:r>
                    </a:p>
                    <a:p>
                      <a:r>
                        <a:rPr lang="en-US" dirty="0"/>
                        <a:t>              "</a:t>
                      </a:r>
                      <a:r>
                        <a:rPr lang="en-US" dirty="0" err="1"/>
                        <a:t>productId</a:t>
                      </a:r>
                      <a:r>
                        <a:rPr lang="en-US" dirty="0"/>
                        <a:t>": 27,</a:t>
                      </a:r>
                    </a:p>
                    <a:p>
                      <a:r>
                        <a:rPr lang="en-US" dirty="0"/>
                        <a:t>               "price": 34,</a:t>
                      </a:r>
                    </a:p>
                    <a:p>
                      <a:r>
                        <a:rPr lang="en-US" dirty="0"/>
                        <a:t>               "</a:t>
                      </a:r>
                      <a:r>
                        <a:rPr lang="en-US" dirty="0" err="1"/>
                        <a:t>productName</a:t>
                      </a:r>
                      <a:r>
                        <a:rPr lang="en-US" dirty="0"/>
                        <a:t>": “NoSQL Distilled”</a:t>
                      </a:r>
                    </a:p>
                    <a:p>
                      <a:r>
                        <a:rPr lang="en-US" dirty="0"/>
                        <a:t>          } ], 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"</a:t>
                      </a:r>
                      <a:r>
                        <a:rPr lang="en-IN" dirty="0" err="1"/>
                        <a:t>shippingAddress</a:t>
                      </a:r>
                      <a:r>
                        <a:rPr lang="en-IN" dirty="0"/>
                        <a:t>": [</a:t>
                      </a:r>
                    </a:p>
                    <a:p>
                      <a:r>
                        <a:rPr lang="en-IN" dirty="0"/>
                        <a:t> {</a:t>
                      </a:r>
                    </a:p>
                    <a:p>
                      <a:r>
                        <a:rPr lang="en-IN" dirty="0"/>
                        <a:t>        "city": "Bari”} ],                   "</a:t>
                      </a:r>
                      <a:r>
                        <a:rPr lang="en-IN" dirty="0" err="1"/>
                        <a:t>orderPayment</a:t>
                      </a:r>
                      <a:r>
                        <a:rPr lang="en-IN" dirty="0"/>
                        <a:t>": [ </a:t>
                      </a:r>
                    </a:p>
                    <a:p>
                      <a:r>
                        <a:rPr lang="en-IN" dirty="0"/>
                        <a:t>{ "</a:t>
                      </a:r>
                      <a:r>
                        <a:rPr lang="en-IN" dirty="0" err="1"/>
                        <a:t>ccinfo</a:t>
                      </a:r>
                      <a:r>
                        <a:rPr lang="en-IN" dirty="0"/>
                        <a:t>": "100-432423-545-134", </a:t>
                      </a:r>
                    </a:p>
                    <a:p>
                      <a:r>
                        <a:rPr lang="en-IN" dirty="0"/>
                        <a:t>  "</a:t>
                      </a:r>
                      <a:r>
                        <a:rPr lang="en-IN" dirty="0" err="1"/>
                        <a:t>txnId</a:t>
                      </a:r>
                      <a:r>
                        <a:rPr lang="en-IN" dirty="0"/>
                        <a:t>": "</a:t>
                      </a:r>
                      <a:r>
                        <a:rPr lang="en-IN" dirty="0" err="1"/>
                        <a:t>afdfsdfsd</a:t>
                      </a:r>
                      <a:r>
                        <a:rPr lang="en-IN" dirty="0"/>
                        <a:t>", </a:t>
                      </a:r>
                    </a:p>
                    <a:p>
                      <a:r>
                        <a:rPr lang="en-IN" dirty="0"/>
                        <a:t> "</a:t>
                      </a:r>
                      <a:r>
                        <a:rPr lang="en-IN" dirty="0" err="1"/>
                        <a:t>billingAddress</a:t>
                      </a:r>
                      <a:r>
                        <a:rPr lang="en-IN" dirty="0"/>
                        <a:t>": [ {"city": “Chicago” }] </a:t>
                      </a:r>
                    </a:p>
                    <a:p>
                      <a:r>
                        <a:rPr lang="en-IN" dirty="0"/>
                        <a:t>} ] </a:t>
                      </a:r>
                    </a:p>
                    <a:p>
                      <a:r>
                        <a:rPr lang="en-IN" dirty="0"/>
                        <a:t>} </a:t>
                      </a: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794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57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A9F25-D0C4-4245-B0BE-72B7BA998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95" y="176487"/>
            <a:ext cx="6878010" cy="58301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9D085A-CEB6-4C58-B145-BD62BF56C25E}"/>
              </a:ext>
            </a:extLst>
          </p:cNvPr>
          <p:cNvSpPr/>
          <p:nvPr/>
        </p:nvSpPr>
        <p:spPr>
          <a:xfrm>
            <a:off x="0" y="6063751"/>
            <a:ext cx="9144000" cy="67723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Bahnschrift" panose="020B0502040204020203" pitchFamily="34" charset="0"/>
              </a:rPr>
              <a:t>Embed all the objects for customer  and the customer’s order</a:t>
            </a:r>
          </a:p>
        </p:txBody>
      </p:sp>
    </p:spTree>
    <p:extLst>
      <p:ext uri="{BB962C8B-B14F-4D97-AF65-F5344CB8AC3E}">
        <p14:creationId xmlns:p14="http://schemas.microsoft.com/office/powerpoint/2010/main" val="25475237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3B62010-2D1F-4517-9587-95736FF38C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647267"/>
              </p:ext>
            </p:extLst>
          </p:nvPr>
        </p:nvGraphicFramePr>
        <p:xfrm>
          <a:off x="239486" y="1628775"/>
          <a:ext cx="848541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2707">
                  <a:extLst>
                    <a:ext uri="{9D8B030D-6E8A-4147-A177-3AD203B41FA5}">
                      <a16:colId xmlns:a16="http://schemas.microsoft.com/office/drawing/2014/main" val="440503688"/>
                    </a:ext>
                  </a:extLst>
                </a:gridCol>
                <a:gridCol w="4242707">
                  <a:extLst>
                    <a:ext uri="{9D8B030D-6E8A-4147-A177-3AD203B41FA5}">
                      <a16:colId xmlns:a16="http://schemas.microsoft.com/office/drawing/2014/main" val="99861765"/>
                    </a:ext>
                  </a:extLst>
                </a:gridCol>
              </a:tblGrid>
              <a:tr h="4826454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Orders </a:t>
                      </a:r>
                    </a:p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{ </a:t>
                      </a:r>
                    </a:p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    "id": 99,</a:t>
                      </a:r>
                    </a:p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    "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customerId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": 1,</a:t>
                      </a:r>
                    </a:p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   "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orderItems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": [</a:t>
                      </a:r>
                    </a:p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   { </a:t>
                      </a:r>
                    </a:p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        "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productId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": 27,</a:t>
                      </a:r>
                    </a:p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        "price": 34,</a:t>
                      </a:r>
                    </a:p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        "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productName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": “NoSQL Distilled” } ],</a:t>
                      </a:r>
                      <a:b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</a:b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   "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shippingAddress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": [ {"city": “Chicago”} ], "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orderPayment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": [</a:t>
                      </a:r>
                    </a:p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{    "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ccinfo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": "100-432423-545-134",  </a:t>
                      </a:r>
                      <a:b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</a:b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    "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txnId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": "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afdfsdfsd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",   </a:t>
                      </a:r>
                      <a:b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</a:b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     "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billingAddress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": [ {"city": “Chicago” }]</a:t>
                      </a:r>
                    </a:p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    } ]</a:t>
                      </a:r>
                    </a:p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There is the customer id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The product name is a part of the ordered Items.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The product id is part of the ordered items.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The address is stored several times.</a:t>
                      </a:r>
                      <a:endParaRPr lang="en-IN" sz="2600" b="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83574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FE87FD2-6FCF-4323-8AF4-F249F2723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Orders Details</a:t>
            </a:r>
          </a:p>
        </p:txBody>
      </p:sp>
    </p:spTree>
    <p:extLst>
      <p:ext uri="{BB962C8B-B14F-4D97-AF65-F5344CB8AC3E}">
        <p14:creationId xmlns:p14="http://schemas.microsoft.com/office/powerpoint/2010/main" val="2367331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91743" y="0"/>
            <a:ext cx="5360514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33B45-A909-4C4C-8326-85BE6CD2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16" y="1994077"/>
            <a:ext cx="653415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CONSEQUENCES OF	AGGREGATE	</a:t>
            </a:r>
            <a:br>
              <a:rPr lang="en-US" sz="51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</a:br>
            <a:r>
              <a:rPr lang="en-US" sz="51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MODELS</a:t>
            </a:r>
            <a:r>
              <a:rPr lang="en-US" sz="5100" kern="1200" dirty="0">
                <a:solidFill>
                  <a:schemeClr val="tx1"/>
                </a:solidFill>
                <a:latin typeface="Bahnschrift SemiBold" panose="020B0502040204020203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153764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A404B0-B79E-4E12-8C11-B8331FA46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sz="3200" dirty="0"/>
              <a:t>Relational mapping captures various data elements and their relationships.</a:t>
            </a:r>
          </a:p>
          <a:p>
            <a:pPr algn="just"/>
            <a:r>
              <a:rPr lang="en-IN" sz="3200" dirty="0"/>
              <a:t>Order consist of</a:t>
            </a:r>
          </a:p>
          <a:p>
            <a:pPr lvl="1" algn="just"/>
            <a:r>
              <a:rPr lang="en-IN" sz="2800" dirty="0" err="1"/>
              <a:t>Oreder</a:t>
            </a:r>
            <a:r>
              <a:rPr lang="en-IN" sz="2800" dirty="0"/>
              <a:t> items, a shipping address, and a payment</a:t>
            </a:r>
          </a:p>
          <a:p>
            <a:pPr algn="just"/>
            <a:r>
              <a:rPr lang="en-IN" sz="3200" dirty="0"/>
              <a:t>All can be expresses in the </a:t>
            </a:r>
            <a:r>
              <a:rPr lang="en-IN" sz="3200" dirty="0">
                <a:solidFill>
                  <a:srgbClr val="FF0000"/>
                </a:solidFill>
              </a:rPr>
              <a:t>relational model </a:t>
            </a:r>
            <a:r>
              <a:rPr lang="en-IN" sz="3200" dirty="0"/>
              <a:t>in terms of </a:t>
            </a:r>
            <a:r>
              <a:rPr lang="en-IN" sz="3200" dirty="0">
                <a:solidFill>
                  <a:srgbClr val="FF0000"/>
                </a:solidFill>
              </a:rPr>
              <a:t>foreign key </a:t>
            </a:r>
            <a:r>
              <a:rPr lang="en-IN" sz="3200" dirty="0"/>
              <a:t>relationships.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04402C-E0FD-4508-A8ED-919DC044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CONSEQUENCES OF AGGREGATE MODELS </a:t>
            </a:r>
          </a:p>
        </p:txBody>
      </p:sp>
    </p:spTree>
    <p:extLst>
      <p:ext uri="{BB962C8B-B14F-4D97-AF65-F5344CB8AC3E}">
        <p14:creationId xmlns:p14="http://schemas.microsoft.com/office/powerpoint/2010/main" val="4133271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58294-2C9E-4E90-9ACE-413749C0B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4224015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IN" dirty="0">
                <a:latin typeface="Bahnschrift" panose="020B0502040204020203" pitchFamily="34" charset="0"/>
              </a:rPr>
              <a:t>The database can’t use a knowledge of aggregate structure to help it store and distribute the data.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52B6AC-45B0-46FA-836D-2C3140872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1944325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12E3C1-4AFA-4395-A16F-AA111A312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Many data modeling techniques provides way to mark aggregate structures in relational models.</a:t>
            </a:r>
          </a:p>
          <a:p>
            <a:pPr algn="just"/>
            <a:r>
              <a:rPr lang="en-US" dirty="0"/>
              <a:t> However, they do not provide semantic that helps in distinguish relationships.</a:t>
            </a:r>
          </a:p>
          <a:p>
            <a:pPr algn="just"/>
            <a:r>
              <a:rPr lang="en-US" dirty="0"/>
              <a:t> When working with aggregate-oriented databases, we have a clear views of the semantic of the data.</a:t>
            </a:r>
          </a:p>
          <a:p>
            <a:pPr algn="just"/>
            <a:r>
              <a:rPr lang="en-US" dirty="0"/>
              <a:t>We can focus on the unit of interaction with the data storage.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A4AA12-2D83-4146-99ED-E6CDCB3EA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 Aggregate Tools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281510"/>
      </p:ext>
    </p:extLst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C70F11-1ACC-49A9-AE6A-4CC7FE667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Aggregate Ignorant</a:t>
            </a:r>
            <a:endParaRPr dirty="0"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F34DDC-22B8-4B0D-95F8-53A6B9CD83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161"/>
          <a:stretch/>
        </p:blipFill>
        <p:spPr>
          <a:xfrm>
            <a:off x="224395" y="1675153"/>
            <a:ext cx="8718119" cy="36915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55A6ABB-5B0E-4915-BDD8-77C1E6FF85AA}"/>
              </a:ext>
            </a:extLst>
          </p:cNvPr>
          <p:cNvSpPr/>
          <p:nvPr/>
        </p:nvSpPr>
        <p:spPr>
          <a:xfrm>
            <a:off x="0" y="5840386"/>
            <a:ext cx="9144000" cy="63661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2800">
                <a:latin charset="0" panose="020B0502040204020203" pitchFamily="34" typeface="Bahnschrift"/>
              </a:rPr>
              <a:t>Relational Database</a:t>
            </a:r>
          </a:p>
        </p:txBody>
      </p:sp>
    </p:spTree>
    <p:extLst>
      <p:ext uri="{BB962C8B-B14F-4D97-AF65-F5344CB8AC3E}">
        <p14:creationId xmlns:p14="http://schemas.microsoft.com/office/powerpoint/2010/main" val="3884075691"/>
      </p:ext>
    </p:extLst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C70F11-1ACC-49A9-AE6A-4CC7FE667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Aggregate Ignorant</a:t>
            </a:r>
            <a:endParaRPr dirty="0"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0C972B-16D0-4F32-8A08-0002127CB8F2}"/>
              </a:ext>
            </a:extLst>
          </p:cNvPr>
          <p:cNvSpPr/>
          <p:nvPr/>
        </p:nvSpPr>
        <p:spPr>
          <a:xfrm>
            <a:off x="1638381" y="5303623"/>
            <a:ext cx="5786498" cy="830997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lstStyle/>
          <a:p>
            <a:pPr algn="ctr"/>
            <a:r>
              <a:rPr b="0" cap="none" dirty="0" lang="en-US" spc="0" sz="4800">
                <a:ln w="0"/>
                <a:solidFill>
                  <a:schemeClr val="accent1"/>
                </a:solidFill>
                <a:effectLst>
                  <a:outerShdw algn="ctr" blurRad="38100" dir="5400000" dist="25400" rotWithShape="0">
                    <a:srgbClr val="6E747A">
                      <a:alpha val="43000"/>
                    </a:srgbClr>
                  </a:outerShdw>
                </a:effectLst>
                <a:latin charset="0" panose="020B0502040204020203" pitchFamily="34" typeface="Bahnschrift"/>
              </a:rPr>
              <a:t>Aggregate Ignorant</a:t>
            </a:r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AB496D55-A463-4025-83E9-6832F70DA8DE}"/>
              </a:ext>
            </a:extLst>
          </p:cNvPr>
          <p:cNvSpPr/>
          <p:nvPr/>
        </p:nvSpPr>
        <p:spPr>
          <a:xfrm>
            <a:off x="3092631" y="4672149"/>
            <a:ext cx="2958737" cy="2418851"/>
          </a:xfrm>
          <a:prstGeom prst="mathMultiply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dirty="0"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F34DDC-22B8-4B0D-95F8-53A6B9CD83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161"/>
          <a:stretch/>
        </p:blipFill>
        <p:spPr>
          <a:xfrm>
            <a:off x="924255" y="1336449"/>
            <a:ext cx="7214750" cy="30549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55A6ABB-5B0E-4915-BDD8-77C1E6FF85AA}"/>
              </a:ext>
            </a:extLst>
          </p:cNvPr>
          <p:cNvSpPr/>
          <p:nvPr/>
        </p:nvSpPr>
        <p:spPr>
          <a:xfrm>
            <a:off x="0" y="4402269"/>
            <a:ext cx="9143999" cy="45276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2000">
                <a:latin charset="0" panose="020B0502040204020203" pitchFamily="34" typeface="Bahnschrift"/>
              </a:rPr>
              <a:t>Relational Database</a:t>
            </a:r>
          </a:p>
        </p:txBody>
      </p:sp>
    </p:spTree>
    <p:extLst>
      <p:ext uri="{BB962C8B-B14F-4D97-AF65-F5344CB8AC3E}">
        <p14:creationId xmlns:p14="http://schemas.microsoft.com/office/powerpoint/2010/main" val="2529287216"/>
      </p:ext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8BBA70-6673-4FA8-9A0F-C024D774E59B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r="60"/>
          <a:stretch/>
        </p:blipFill>
        <p:spPr>
          <a:xfrm>
            <a:off x="1513113" y="1567543"/>
            <a:ext cx="5901959" cy="428970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FC70F11-1ACC-49A9-AE6A-4CC7FE667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Aggregate Ignorant</a:t>
            </a:r>
            <a:endParaRPr dirty="0"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0833FD-C0B0-4DA2-9ADE-AA814ACDA65B}"/>
              </a:ext>
            </a:extLst>
          </p:cNvPr>
          <p:cNvSpPr/>
          <p:nvPr/>
        </p:nvSpPr>
        <p:spPr>
          <a:xfrm>
            <a:off x="0" y="5997642"/>
            <a:ext cx="9144000" cy="65756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2800">
                <a:latin charset="0" panose="020B0502040204020203" pitchFamily="34" typeface="Bahnschrift"/>
              </a:rPr>
              <a:t>Graph Database </a:t>
            </a:r>
            <a:r>
              <a:rPr dirty="0" lang="en-US" sz="2800">
                <a:latin charset="0" panose="020B0502040204020203" pitchFamily="34" typeface="Bahnschrift"/>
              </a:rPr>
              <a:t>are aggregate-ignorant</a:t>
            </a:r>
            <a:endParaRPr dirty="0" lang="en-IN" sz="28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1071182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F47F2F-11EC-43E2-8F24-531DDB1B2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An order is a good aggregate when: </a:t>
            </a:r>
          </a:p>
          <a:p>
            <a:pPr lvl="1" algn="just"/>
            <a:r>
              <a:rPr lang="en-US" dirty="0"/>
              <a:t> A customer is making and reviewing an order, and – When the retailer is processing orders •</a:t>
            </a:r>
          </a:p>
          <a:p>
            <a:pPr algn="just"/>
            <a:r>
              <a:rPr lang="en-US" dirty="0"/>
              <a:t> However, when the retailer want to analyze its product sales over the last months, then aggregate are trouble. •</a:t>
            </a:r>
          </a:p>
          <a:p>
            <a:pPr algn="just"/>
            <a:r>
              <a:rPr lang="en-US" dirty="0"/>
              <a:t>We need to analyze each aggregate to extract sales history.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2BA03D-6553-4A76-BFF7-C3DACF23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and Operations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9675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A5CB44-C637-41C8-93C6-9ACF2C3DD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Aggregate may help in some operation and not in others. </a:t>
            </a:r>
          </a:p>
          <a:p>
            <a:pPr algn="just"/>
            <a:r>
              <a:rPr lang="en-US" dirty="0"/>
              <a:t>In cases where there is not a clear view aggregate ignorant database are the best option. • </a:t>
            </a:r>
          </a:p>
          <a:p>
            <a:pPr algn="just"/>
            <a:r>
              <a:rPr lang="en-US" dirty="0"/>
              <a:t>But, remember the point that drove us to aggregate models (cluster distribution). </a:t>
            </a:r>
          </a:p>
          <a:p>
            <a:pPr algn="just"/>
            <a:r>
              <a:rPr lang="en-US" dirty="0"/>
              <a:t>Running databases on a cluster is need when dealing with huge quantities of data.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7AE8F1-F235-4001-AECF-06CFDA51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and Operations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7834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91743" y="0"/>
            <a:ext cx="5360514" cy="5777808"/>
            <a:chOff x="329184" y="1"/>
            <a:chExt cx="524256" cy="577780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341E0-1E1F-445A-B654-835895A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851" y="1325881"/>
            <a:ext cx="5897880" cy="3004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kern="1200" dirty="0">
                <a:solidFill>
                  <a:schemeClr val="tx1"/>
                </a:solidFill>
                <a:latin typeface="Bahnschrift SemiBold" panose="020B0502040204020203" pitchFamily="34" charset="0"/>
              </a:rPr>
              <a:t>What is the clinching reason for aggregate orientation?</a:t>
            </a:r>
          </a:p>
        </p:txBody>
      </p:sp>
    </p:spTree>
    <p:extLst>
      <p:ext uri="{BB962C8B-B14F-4D97-AF65-F5344CB8AC3E}">
        <p14:creationId xmlns:p14="http://schemas.microsoft.com/office/powerpoint/2010/main" val="42421666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D19BB1-1F38-45F3-B60F-281456CF8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It gives several advantages on computation power and data distribution </a:t>
            </a:r>
          </a:p>
          <a:p>
            <a:pPr algn="just"/>
            <a:r>
              <a:rPr lang="en-US" dirty="0"/>
              <a:t> However, it requires to minimize the number of nodes to query when gathering data.</a:t>
            </a:r>
          </a:p>
          <a:p>
            <a:pPr algn="just"/>
            <a:r>
              <a:rPr lang="en-US" dirty="0"/>
              <a:t> By explicitly including aggregates, we give the database an important of which information should be stored together 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0FB7EF-6339-43BE-BB11-1936815F5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Running on a Cluster</a:t>
            </a:r>
          </a:p>
        </p:txBody>
      </p:sp>
    </p:spTree>
    <p:extLst>
      <p:ext uri="{BB962C8B-B14F-4D97-AF65-F5344CB8AC3E}">
        <p14:creationId xmlns:p14="http://schemas.microsoft.com/office/powerpoint/2010/main" val="1109184401"/>
      </p:ext>
    </p:extLst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1D69A1-E2B3-408A-A3BB-8D9A267BD1F9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-49" r="-14"/>
          <a:stretch/>
        </p:blipFill>
        <p:spPr>
          <a:xfrm>
            <a:off x="338362" y="1967948"/>
            <a:ext cx="7955330" cy="419431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F8485A1-F2AC-42EE-A65D-1B6DB503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IN"/>
              <a:t>How Aggregates plays an important consequence for transactions?</a:t>
            </a:r>
          </a:p>
        </p:txBody>
      </p:sp>
    </p:spTree>
    <p:extLst>
      <p:ext uri="{BB962C8B-B14F-4D97-AF65-F5344CB8AC3E}">
        <p14:creationId xmlns:p14="http://schemas.microsoft.com/office/powerpoint/2010/main" val="4060976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33E142-C533-4D2A-8828-F34FB0D66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7953" y="2209800"/>
            <a:ext cx="6767353" cy="393337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CB5F2CB-3D85-4A67-BC0A-9986F9EAB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data consistency is not required?</a:t>
            </a:r>
          </a:p>
        </p:txBody>
      </p:sp>
    </p:spTree>
    <p:extLst>
      <p:ext uri="{BB962C8B-B14F-4D97-AF65-F5344CB8AC3E}">
        <p14:creationId xmlns:p14="http://schemas.microsoft.com/office/powerpoint/2010/main" val="2354263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FBD911-8871-4A7A-A365-A71ED19B9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619" y="2647940"/>
            <a:ext cx="8386762" cy="269114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33E19D-C5C1-46EC-AF42-168581C9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T</a:t>
            </a:r>
            <a:r>
              <a:rPr lang="en-US" b="0" i="0" dirty="0">
                <a:effectLst/>
                <a:latin typeface="Bahnschrift" panose="020B0502040204020203" pitchFamily="34" charset="0"/>
              </a:rPr>
              <a:t>ypes of NoSQL databases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324125"/>
      </p:ext>
    </p:extLst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46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33E19D-C5C1-46EC-AF42-168581C9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US">
                <a:effectLst/>
                <a:latin charset="0" panose="020B0502040204020203" pitchFamily="34" typeface="Bahnschrift"/>
              </a:rPr>
              <a:t>NoSQL databases</a:t>
            </a: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B3C8FC-24BD-4771-BADD-D7F9C341FDCD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116" r="48"/>
          <a:stretch/>
        </p:blipFill>
        <p:spPr>
          <a:xfrm>
            <a:off x="898070" y="1786307"/>
            <a:ext cx="7347859" cy="440331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C032B8-0BC9-4954-AEB4-D70F22A625C5}"/>
              </a:ext>
            </a:extLst>
          </p:cNvPr>
          <p:cNvSpPr/>
          <p:nvPr/>
        </p:nvSpPr>
        <p:spPr>
          <a:xfrm>
            <a:off x="7467600" y="5897880"/>
            <a:ext cx="1257299" cy="579120"/>
          </a:xfrm>
          <a:prstGeom prst="rect">
            <a:avLst/>
          </a:prstGeom>
          <a:solidFill>
            <a:srgbClr val="3946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4177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33E19D-C5C1-46EC-AF42-168581C9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T</a:t>
            </a:r>
            <a:r>
              <a:rPr lang="en-US" b="0" i="0" dirty="0">
                <a:effectLst/>
                <a:latin typeface="Bahnschrift" panose="020B0502040204020203" pitchFamily="34" charset="0"/>
              </a:rPr>
              <a:t>ypes of NoSQL databases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724FD9-EC87-4EDF-A3C9-DE8C2E3A5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464" y="1864864"/>
            <a:ext cx="8689072" cy="438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3520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64214A-9F15-410B-AA04-91FB12826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5899" y="1674363"/>
            <a:ext cx="5651462" cy="423859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8D91C18-866B-4B3A-A43F-A93540E6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NoSQL databases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43177-BA29-429D-8A49-C5591E58F76C}"/>
              </a:ext>
            </a:extLst>
          </p:cNvPr>
          <p:cNvSpPr txBox="1"/>
          <p:nvPr/>
        </p:nvSpPr>
        <p:spPr>
          <a:xfrm>
            <a:off x="323121" y="5813698"/>
            <a:ext cx="838653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n-US" sz="2400" dirty="0">
                <a:solidFill>
                  <a:srgbClr val="333333"/>
                </a:solidFill>
                <a:latin typeface="Bahnschrift" panose="020B0502040204020203" pitchFamily="34" charset="0"/>
              </a:rPr>
              <a:t>B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Bahnschrift" panose="020B0502040204020203" pitchFamily="34" charset="0"/>
              </a:rPr>
              <a:t>ank account data must be consistent whenever any updates are made to data.</a:t>
            </a:r>
          </a:p>
        </p:txBody>
      </p:sp>
    </p:spTree>
    <p:extLst>
      <p:ext uri="{BB962C8B-B14F-4D97-AF65-F5344CB8AC3E}">
        <p14:creationId xmlns:p14="http://schemas.microsoft.com/office/powerpoint/2010/main" val="11342293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D91C18-866B-4B3A-A43F-A93540E6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NoSQL databases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43177-BA29-429D-8A49-C5591E58F76C}"/>
              </a:ext>
            </a:extLst>
          </p:cNvPr>
          <p:cNvSpPr txBox="1"/>
          <p:nvPr/>
        </p:nvSpPr>
        <p:spPr>
          <a:xfrm>
            <a:off x="338361" y="4793078"/>
            <a:ext cx="8500839" cy="167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333333"/>
                </a:solidFill>
                <a:latin typeface="Bahnschrift" panose="020B0502040204020203" pitchFamily="34" charset="0"/>
              </a:rPr>
              <a:t>O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Bahnschrift" panose="020B0502040204020203" pitchFamily="34" charset="0"/>
              </a:rPr>
              <a:t>nline multiplayer gaming applications usually store profile data of a large number of users that require strong consistency.</a:t>
            </a:r>
            <a:endParaRPr lang="en-IN" sz="2400" dirty="0">
              <a:latin typeface="Bahnschrift" panose="020B05020402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CAEF0F2-78AA-4853-837F-119E5D417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1079" y="1628643"/>
            <a:ext cx="5441841" cy="28613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28074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1374</TotalTime>
  <Words>1353</Words>
  <Application>Microsoft Office PowerPoint</Application>
  <PresentationFormat>On-screen Show (4:3)</PresentationFormat>
  <Paragraphs>192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Bahnschrift</vt:lpstr>
      <vt:lpstr>Bahnschrift SemiBold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Data Model</vt:lpstr>
      <vt:lpstr>Data Model</vt:lpstr>
      <vt:lpstr>Data Models: Example</vt:lpstr>
      <vt:lpstr>Data Model</vt:lpstr>
      <vt:lpstr>Data Model</vt:lpstr>
      <vt:lpstr>Data Model</vt:lpstr>
      <vt:lpstr>NoSQL Data Model</vt:lpstr>
      <vt:lpstr>PowerPoint Presentation</vt:lpstr>
      <vt:lpstr>Relational Model</vt:lpstr>
      <vt:lpstr>Relational Model</vt:lpstr>
      <vt:lpstr>Aggregate data model</vt:lpstr>
      <vt:lpstr>Aggregate data model</vt:lpstr>
      <vt:lpstr>Aggregate data model</vt:lpstr>
      <vt:lpstr>Aggregate data model</vt:lpstr>
      <vt:lpstr>Aggregate data model</vt:lpstr>
      <vt:lpstr>Aggregate data model</vt:lpstr>
      <vt:lpstr>Examples of Relations and Aggregates</vt:lpstr>
      <vt:lpstr>Examples of Relational Model</vt:lpstr>
      <vt:lpstr>Examples of Relational Model</vt:lpstr>
      <vt:lpstr>Typical data using RDBMS data model</vt:lpstr>
      <vt:lpstr>Typical data using RDBMS data model</vt:lpstr>
      <vt:lpstr>PowerPoint Presentation</vt:lpstr>
      <vt:lpstr>Example of Aggregate Model</vt:lpstr>
      <vt:lpstr>Example of Aggregate Model</vt:lpstr>
      <vt:lpstr>Example of Aggregate Model</vt:lpstr>
      <vt:lpstr>Example of Aggregate Model</vt:lpstr>
      <vt:lpstr>PowerPoint Presentation</vt:lpstr>
      <vt:lpstr>Orders Details</vt:lpstr>
      <vt:lpstr>CONSEQUENCES OF AGGREGATE  MODELS </vt:lpstr>
      <vt:lpstr>CONSEQUENCES OF AGGREGATE MODELS </vt:lpstr>
      <vt:lpstr>Important</vt:lpstr>
      <vt:lpstr>Marking Aggregate Tools</vt:lpstr>
      <vt:lpstr>Aggregate Ignorant</vt:lpstr>
      <vt:lpstr>Aggregate Ignorant</vt:lpstr>
      <vt:lpstr>Aggregate Ignorant</vt:lpstr>
      <vt:lpstr>Aggregate and Operations</vt:lpstr>
      <vt:lpstr>Aggregate and Operations</vt:lpstr>
      <vt:lpstr>What is the clinching reason for aggregate orientation?</vt:lpstr>
      <vt:lpstr>Running on a Cluster</vt:lpstr>
      <vt:lpstr>How Aggregates plays an important consequence for transactions?</vt:lpstr>
      <vt:lpstr>Why data consistency is not required?</vt:lpstr>
      <vt:lpstr>Types of NoSQL databases</vt:lpstr>
      <vt:lpstr>NoSQL databases</vt:lpstr>
      <vt:lpstr>Types of NoSQL databases</vt:lpstr>
      <vt:lpstr>NoSQL databases</vt:lpstr>
      <vt:lpstr>NoSQL databases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Arpit Thakur</cp:lastModifiedBy>
  <cp:revision>111</cp:revision>
  <dcterms:created xsi:type="dcterms:W3CDTF">2021-05-13T17:45:44Z</dcterms:created>
  <dcterms:modified xsi:type="dcterms:W3CDTF">2021-08-11T09:33:49Z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1001384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