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vnd.ms-photo" Extension="wdp"/>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handoutMaster+xml" PartName="/ppt/handoutMasters/handout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theme+xml" PartName="/ppt/theme/theme2.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62"/>
  </p:handoutMasterIdLst>
  <p:sldIdLst>
    <p:sldId id="266" r:id="rId2"/>
    <p:sldId id="261" r:id="rId3"/>
    <p:sldId id="268" r:id="rId4"/>
    <p:sldId id="334" r:id="rId5"/>
    <p:sldId id="269" r:id="rId6"/>
    <p:sldId id="270" r:id="rId7"/>
    <p:sldId id="271" r:id="rId8"/>
    <p:sldId id="275" r:id="rId9"/>
    <p:sldId id="347" r:id="rId10"/>
    <p:sldId id="348" r:id="rId11"/>
    <p:sldId id="349" r:id="rId12"/>
    <p:sldId id="277" r:id="rId13"/>
    <p:sldId id="267" r:id="rId14"/>
    <p:sldId id="278" r:id="rId15"/>
    <p:sldId id="279" r:id="rId16"/>
    <p:sldId id="335" r:id="rId17"/>
    <p:sldId id="336" r:id="rId18"/>
    <p:sldId id="337" r:id="rId19"/>
    <p:sldId id="338" r:id="rId20"/>
    <p:sldId id="339" r:id="rId21"/>
    <p:sldId id="340" r:id="rId22"/>
    <p:sldId id="341" r:id="rId23"/>
    <p:sldId id="280" r:id="rId24"/>
    <p:sldId id="281" r:id="rId25"/>
    <p:sldId id="283" r:id="rId26"/>
    <p:sldId id="284" r:id="rId27"/>
    <p:sldId id="286" r:id="rId28"/>
    <p:sldId id="288" r:id="rId29"/>
    <p:sldId id="289" r:id="rId30"/>
    <p:sldId id="342" r:id="rId31"/>
    <p:sldId id="290" r:id="rId32"/>
    <p:sldId id="291" r:id="rId33"/>
    <p:sldId id="292" r:id="rId34"/>
    <p:sldId id="297" r:id="rId35"/>
    <p:sldId id="298" r:id="rId36"/>
    <p:sldId id="299" r:id="rId37"/>
    <p:sldId id="300" r:id="rId38"/>
    <p:sldId id="295" r:id="rId39"/>
    <p:sldId id="301" r:id="rId40"/>
    <p:sldId id="302" r:id="rId41"/>
    <p:sldId id="343" r:id="rId42"/>
    <p:sldId id="344" r:id="rId43"/>
    <p:sldId id="303" r:id="rId44"/>
    <p:sldId id="305" r:id="rId45"/>
    <p:sldId id="306" r:id="rId46"/>
    <p:sldId id="309" r:id="rId47"/>
    <p:sldId id="312" r:id="rId48"/>
    <p:sldId id="311" r:id="rId49"/>
    <p:sldId id="314" r:id="rId50"/>
    <p:sldId id="316" r:id="rId51"/>
    <p:sldId id="315" r:id="rId52"/>
    <p:sldId id="345" r:id="rId53"/>
    <p:sldId id="346" r:id="rId54"/>
    <p:sldId id="317" r:id="rId55"/>
    <p:sldId id="320" r:id="rId56"/>
    <p:sldId id="321" r:id="rId57"/>
    <p:sldId id="322" r:id="rId58"/>
    <p:sldId id="329" r:id="rId59"/>
    <p:sldId id="333" r:id="rId60"/>
    <p:sldId id="263" r:id="rId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525A"/>
    <a:srgbClr val="618495"/>
    <a:srgbClr val="44525B"/>
    <a:srgbClr val="072235"/>
    <a:srgbClr val="453A38"/>
    <a:srgbClr val="B8B192"/>
    <a:srgbClr val="473B39"/>
    <a:srgbClr val="302C31"/>
    <a:srgbClr val="63504D"/>
    <a:srgbClr val="9478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53" autoAdjust="0"/>
    <p:restoredTop sz="94660"/>
  </p:normalViewPr>
  <p:slideViewPr>
    <p:cSldViewPr snapToGrid="0">
      <p:cViewPr varScale="1">
        <p:scale>
          <a:sx n="74" d="100"/>
          <a:sy n="74" d="100"/>
        </p:scale>
        <p:origin x="1531" y="110"/>
      </p:cViewPr>
      <p:guideLst/>
    </p:cSldViewPr>
  </p:slideViewPr>
  <p:notesTextViewPr>
    <p:cViewPr>
      <p:scale>
        <a:sx n="1" d="1"/>
        <a:sy n="1" d="1"/>
      </p:scale>
      <p:origin x="0" y="0"/>
    </p:cViewPr>
  </p:notesTextViewPr>
  <p:notesViewPr>
    <p:cSldViewPr snapToGrid="0">
      <p:cViewPr varScale="1">
        <p:scale>
          <a:sx n="49" d="100"/>
          <a:sy n="49" d="100"/>
        </p:scale>
        <p:origin x="2910" y="3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2CA918-4CC9-454A-A0CC-18E4AB1471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4B17E60-0D58-4E11-A0B3-7C89A95212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1E31DF-E085-4560-B70C-2BE0282116AF}" type="datetimeFigureOut">
              <a:rPr lang="en-US" smtClean="0"/>
              <a:t>7/5/2021</a:t>
            </a:fld>
            <a:endParaRPr lang="en-US"/>
          </a:p>
        </p:txBody>
      </p:sp>
      <p:sp>
        <p:nvSpPr>
          <p:cNvPr id="4" name="Footer Placeholder 3">
            <a:extLst>
              <a:ext uri="{FF2B5EF4-FFF2-40B4-BE49-F238E27FC236}">
                <a16:creationId xmlns:a16="http://schemas.microsoft.com/office/drawing/2014/main" id="{5C826CD9-44E6-4934-88CC-7B6414A4080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2126C7B-3E85-4BB4-8FD9-8DF00D1031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2DE278-E6FC-4BDC-BC08-49EFF8121A40}" type="slidenum">
              <a:rPr lang="en-US" smtClean="0"/>
              <a:t>‹#›</a:t>
            </a:fld>
            <a:endParaRPr lang="en-US"/>
          </a:p>
        </p:txBody>
      </p:sp>
    </p:spTree>
    <p:extLst>
      <p:ext uri="{BB962C8B-B14F-4D97-AF65-F5344CB8AC3E}">
        <p14:creationId xmlns:p14="http://schemas.microsoft.com/office/powerpoint/2010/main" val="53390406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arget="../media/image2.jpeg" Type="http://schemas.openxmlformats.org/officeDocument/2006/relationships/image"/><Relationship Id="rId2" Target="../media/image1.jpeg" Type="http://schemas.openxmlformats.org/officeDocument/2006/relationships/image"/><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preserve="1" userDrawn="1">
  <p:cSld name="1_Title Slide">
    <p:spTree>
      <p:nvGrpSpPr>
        <p:cNvPr id="1" name=""/>
        <p:cNvGrpSpPr/>
        <p:nvPr/>
      </p:nvGrpSpPr>
      <p:grpSpPr>
        <a:xfrm>
          <a:off x="0" y="0"/>
          <a:ext cx="0" cy="0"/>
          <a:chOff x="0" y="0"/>
          <a:chExt cx="0" cy="0"/>
        </a:xfrm>
      </p:grpSpPr>
      <p:sp>
        <p:nvSpPr>
          <p:cNvPr id="79" name="Rectangle: Rounded Corners 78">
            <a:extLst>
              <a:ext uri="{FF2B5EF4-FFF2-40B4-BE49-F238E27FC236}">
                <a16:creationId xmlns:a16="http://schemas.microsoft.com/office/drawing/2014/main" id="{FB821A54-EBB6-44D6-B654-A7206FCE625D}"/>
              </a:ext>
            </a:extLst>
          </p:cNvPr>
          <p:cNvSpPr/>
          <p:nvPr userDrawn="1"/>
        </p:nvSpPr>
        <p:spPr>
          <a:xfrm>
            <a:off x="51361" y="222575"/>
            <a:ext cx="4711139" cy="712652"/>
          </a:xfrm>
          <a:prstGeom prst="roundRect">
            <a:avLst>
              <a:gd fmla="val 10415" name="adj"/>
            </a:avLst>
          </a:prstGeom>
          <a:solidFill>
            <a:srgbClr val="44525B"/>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3200" u="none">
                <a:solidFill>
                  <a:schemeClr val="bg1"/>
                </a:solidFill>
                <a:latin charset="0" panose="020B0502040204020203" pitchFamily="34" typeface="Bahnschrift SemiBold"/>
              </a:rPr>
              <a:t>Introduction to Big Data</a:t>
            </a:r>
          </a:p>
        </p:txBody>
      </p:sp>
      <p:grpSp>
        <p:nvGrpSpPr>
          <p:cNvPr hidden="1" id="18" name="Group 45">
            <a:extLst>
              <a:ext uri="{FF2B5EF4-FFF2-40B4-BE49-F238E27FC236}">
                <a16:creationId xmlns:a16="http://schemas.microsoft.com/office/drawing/2014/main" id="{850EC89B-90C3-44BB-9D08-4AA2F18B76E6}"/>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4562810" y="545"/>
            <a:ext cx="656040" cy="6857455"/>
            <a:chOff x="5632355" y="0"/>
            <a:chExt cx="874719" cy="6857455"/>
          </a:xfrm>
        </p:grpSpPr>
        <p:sp>
          <p:nvSpPr>
            <p:cNvPr id="19" name="Freeform: Shape 18">
              <a:extLst>
                <a:ext uri="{FF2B5EF4-FFF2-40B4-BE49-F238E27FC236}">
                  <a16:creationId xmlns:a16="http://schemas.microsoft.com/office/drawing/2014/main" id="{CE7AE735-969F-4B48-90BB-9C0B68FF30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5" y="2991370"/>
              <a:ext cx="6857455" cy="874715"/>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8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sp>
          <p:nvSpPr>
            <p:cNvPr id="20" name="Freeform: Shape 47">
              <a:extLst>
                <a:ext uri="{FF2B5EF4-FFF2-40B4-BE49-F238E27FC236}">
                  <a16:creationId xmlns:a16="http://schemas.microsoft.com/office/drawing/2014/main" id="{1E3EFCBE-34EF-4B4E-BB43-0CC49CCDD1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8" y="2991370"/>
              <a:ext cx="6857455" cy="874716"/>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7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2">
                <a:alphaModFix amt="57000"/>
              </a:blip>
              <a:srcRect/>
              <a:tile algn="tl" flip="none" sx="100000" sy="100000" tx="0" ty="0"/>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grpSp>
      <p:pic>
        <p:nvPicPr>
          <p:cNvPr id="98" name="Picture 97">
            <a:extLst>
              <a:ext uri="{FF2B5EF4-FFF2-40B4-BE49-F238E27FC236}">
                <a16:creationId xmlns:a16="http://schemas.microsoft.com/office/drawing/2014/main" id="{178902E1-D29E-4408-BD1A-7961DCC69A4E}"/>
              </a:ext>
            </a:extLst>
          </p:cNvPr>
          <p:cNvPicPr>
            <a:picLocks noChangeArrowheads="1" noChangeAspect="1"/>
          </p:cNvPicPr>
          <p:nvPr userDrawn="1"/>
        </p:nvPicPr>
        <p:blipFill rotWithShape="1">
          <a:blip r:embed="rId3">
            <a:extLst>
              <a:ext uri="{28A0092B-C50C-407E-A947-70E740481C1C}">
                <a14:useLocalDpi xmlns:a14="http://schemas.microsoft.com/office/drawing/2010/main" val="0"/>
              </a:ext>
            </a:extLst>
          </a:blip>
          <a:srcRect b="-57" r="80"/>
          <a:stretch/>
        </p:blipFill>
        <p:spPr bwMode="auto">
          <a:xfrm>
            <a:off x="-9948" y="3838"/>
            <a:ext cx="9153948" cy="6850324"/>
          </a:xfrm>
          <a:custGeom>
            <a:avLst/>
            <a:gdLst>
              <a:gd fmla="*/ 5282861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3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1" y="0"/>
                </a:moveTo>
                <a:lnTo>
                  <a:pt x="9153948" y="0"/>
                </a:lnTo>
                <a:lnTo>
                  <a:pt x="9153948" y="3977971"/>
                </a:lnTo>
                <a:lnTo>
                  <a:pt x="9004662" y="4052945"/>
                </a:lnTo>
                <a:cubicBezTo>
                  <a:pt x="7703988" y="4749593"/>
                  <a:pt x="6701910" y="5709432"/>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3"/>
                </a:cubicBezTo>
                <a:close/>
              </a:path>
            </a:pathLst>
          </a:custGeom>
          <a:noFill/>
          <a:extLst>
            <a:ext uri="{909E8E84-426E-40DD-AFC4-6F175D3DCCD1}">
              <a14:hiddenFill xmlns:a14="http://schemas.microsoft.com/office/drawing/2010/main">
                <a:solidFill>
                  <a:srgbClr val="FFFFFF"/>
                </a:solidFill>
              </a14:hiddenFill>
            </a:ext>
          </a:extLst>
        </p:spPr>
      </p:pic>
      <p:sp>
        <p:nvSpPr>
          <p:cNvPr id="97" name="Freeform: Shape 96">
            <a:extLst>
              <a:ext uri="{FF2B5EF4-FFF2-40B4-BE49-F238E27FC236}">
                <a16:creationId xmlns:a16="http://schemas.microsoft.com/office/drawing/2014/main" id="{8B6C1D65-4ABB-4690-93DF-7DFB2A98622A}"/>
              </a:ext>
            </a:extLst>
          </p:cNvPr>
          <p:cNvSpPr/>
          <p:nvPr userDrawn="1"/>
        </p:nvSpPr>
        <p:spPr>
          <a:xfrm>
            <a:off x="-9948" y="3838"/>
            <a:ext cx="9153948" cy="6850324"/>
          </a:xfrm>
          <a:custGeom>
            <a:avLst/>
            <a:gdLst>
              <a:gd fmla="*/ 5282862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4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2" y="0"/>
                </a:moveTo>
                <a:lnTo>
                  <a:pt x="9153948" y="0"/>
                </a:lnTo>
                <a:lnTo>
                  <a:pt x="9153948" y="3977971"/>
                </a:lnTo>
                <a:lnTo>
                  <a:pt x="9004662" y="4052945"/>
                </a:lnTo>
                <a:cubicBezTo>
                  <a:pt x="7703988" y="4749593"/>
                  <a:pt x="6701910" y="5709433"/>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4"/>
                </a:cubicBezTo>
                <a:close/>
              </a:path>
            </a:pathLst>
          </a:custGeom>
          <a:solidFill>
            <a:schemeClr val="bg1">
              <a:lumMod val="50000"/>
              <a:alpha val="50000"/>
            </a:schemeClr>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5" name="Freeform: Shape 74">
            <a:extLst>
              <a:ext uri="{FF2B5EF4-FFF2-40B4-BE49-F238E27FC236}">
                <a16:creationId xmlns:a16="http://schemas.microsoft.com/office/drawing/2014/main" id="{3D86ACB6-5BFD-4C67-B168-1E477676C765}"/>
              </a:ext>
            </a:extLst>
          </p:cNvPr>
          <p:cNvSpPr/>
          <p:nvPr userDrawn="1"/>
        </p:nvSpPr>
        <p:spPr>
          <a:xfrm>
            <a:off x="-133350" y="-751246"/>
            <a:ext cx="11106409" cy="4858109"/>
          </a:xfrm>
          <a:custGeom>
            <a:avLst/>
            <a:gdLst>
              <a:gd fmla="*/ 3909888 w 9144000" name="connsiteX0"/>
              <a:gd fmla="*/ 1376794 h 3809635" name="connsiteY0"/>
              <a:gd fmla="*/ 3815327 w 9144000" name="connsiteX1"/>
              <a:gd fmla="*/ 1514144 h 3809635" name="connsiteY1"/>
              <a:gd fmla="*/ 1032179 w 9144000" name="connsiteX2"/>
              <a:gd fmla="*/ 3516551 h 3809635" name="connsiteY2"/>
              <a:gd fmla="*/ 139693 w 9144000" name="connsiteX3"/>
              <a:gd fmla="*/ 3800747 h 3809635" name="connsiteY3"/>
              <a:gd fmla="*/ 101598 w 9144000" name="connsiteX4"/>
              <a:gd fmla="*/ 3809635 h 3809635" name="connsiteY4"/>
              <a:gd fmla="*/ 101598 w 9144000" name="connsiteX5"/>
              <a:gd fmla="*/ 3477088 h 3809635" name="connsiteY5"/>
              <a:gd fmla="*/ 181491 w 9144000" name="connsiteX6"/>
              <a:gd fmla="*/ 3460712 h 3809635" name="connsiteY6"/>
              <a:gd fmla="*/ 897358 w 9144000" name="connsiteX7"/>
              <a:gd fmla="*/ 3266910 h 3809635" name="connsiteY7"/>
              <a:gd fmla="*/ 3800595 w 9144000" name="connsiteX8"/>
              <a:gd fmla="*/ 1503680 h 3809635" name="connsiteY8"/>
              <a:gd fmla="*/ 4639132 w 9144000" name="connsiteX9"/>
              <a:gd fmla="*/ 0 h 3809635" name="connsiteY9"/>
              <a:gd fmla="*/ 9144000 w 9144000" name="connsiteX10"/>
              <a:gd fmla="*/ 0 h 3809635" name="connsiteY10"/>
              <a:gd fmla="*/ 9144000 w 9144000" name="connsiteX11"/>
              <a:gd fmla="*/ 545 h 3809635" name="connsiteY11"/>
              <a:gd fmla="*/ 4639015 w 9144000" name="connsiteX12"/>
              <a:gd fmla="*/ 545 h 3809635" name="connsiteY12"/>
              <a:gd fmla="*/ 0 w 9144000" name="connsiteX13"/>
              <a:gd fmla="*/ 0 h 3809635" name="connsiteY13"/>
              <a:gd fmla="*/ 2434 w 9144000" name="connsiteX14"/>
              <a:gd fmla="*/ 0 h 3809635" name="connsiteY14"/>
              <a:gd fmla="*/ 2434 w 9144000" name="connsiteX15"/>
              <a:gd fmla="*/ 116112 h 3809635" name="connsiteY15"/>
              <a:gd fmla="*/ 0 w 9144000" name="connsiteX16"/>
              <a:gd fmla="*/ 116112 h 3809635" name="connsiteY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b="b" l="l" r="r" t="t"/>
            <a:pathLst>
              <a:path h="3809635" w="9144000">
                <a:moveTo>
                  <a:pt x="3909888" y="1376794"/>
                </a:moveTo>
                <a:lnTo>
                  <a:pt x="3815327" y="1514144"/>
                </a:lnTo>
                <a:cubicBezTo>
                  <a:pt x="3222015" y="2313441"/>
                  <a:pt x="2244987" y="3045879"/>
                  <a:pt x="1032179" y="3516551"/>
                </a:cubicBezTo>
                <a:cubicBezTo>
                  <a:pt x="733642" y="3632408"/>
                  <a:pt x="434950" y="3726921"/>
                  <a:pt x="139693" y="3800747"/>
                </a:cubicBezTo>
                <a:lnTo>
                  <a:pt x="101598" y="3809635"/>
                </a:lnTo>
                <a:lnTo>
                  <a:pt x="101598" y="3477088"/>
                </a:lnTo>
                <a:lnTo>
                  <a:pt x="181491" y="3460712"/>
                </a:lnTo>
                <a:cubicBezTo>
                  <a:pt x="418466" y="3408295"/>
                  <a:pt x="657613" y="3343819"/>
                  <a:pt x="897358" y="3266910"/>
                </a:cubicBezTo>
                <a:cubicBezTo>
                  <a:pt x="2114817" y="2876352"/>
                  <a:pt x="3128242" y="2235559"/>
                  <a:pt x="3800595" y="1503680"/>
                </a:cubicBezTo>
                <a:close/>
                <a:moveTo>
                  <a:pt x="4639132" y="0"/>
                </a:moveTo>
                <a:lnTo>
                  <a:pt x="9144000" y="0"/>
                </a:lnTo>
                <a:lnTo>
                  <a:pt x="9144000" y="545"/>
                </a:lnTo>
                <a:lnTo>
                  <a:pt x="4639015" y="545"/>
                </a:lnTo>
                <a:close/>
                <a:moveTo>
                  <a:pt x="0" y="0"/>
                </a:moveTo>
                <a:lnTo>
                  <a:pt x="2434" y="0"/>
                </a:lnTo>
                <a:lnTo>
                  <a:pt x="2434" y="116112"/>
                </a:lnTo>
                <a:lnTo>
                  <a:pt x="0" y="116112"/>
                </a:ln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89" name="Freeform: Shape 88">
            <a:extLst>
              <a:ext uri="{FF2B5EF4-FFF2-40B4-BE49-F238E27FC236}">
                <a16:creationId xmlns:a16="http://schemas.microsoft.com/office/drawing/2014/main" id="{B33DEB17-D024-478D-B70D-E045AB878E9A}"/>
              </a:ext>
            </a:extLst>
          </p:cNvPr>
          <p:cNvSpPr/>
          <p:nvPr userDrawn="1"/>
        </p:nvSpPr>
        <p:spPr>
          <a:xfrm rot="10800000">
            <a:off x="99294" y="4154791"/>
            <a:ext cx="11106409" cy="4102154"/>
          </a:xfrm>
          <a:custGeom>
            <a:avLst/>
            <a:gdLst>
              <a:gd fmla="*/ 11106409 w 11106409" name="connsiteX0"/>
              <a:gd fmla="*/ 695 h 4102154" name="connsiteY0"/>
              <a:gd fmla="*/ 5634601 w 11106409" name="connsiteX1"/>
              <a:gd fmla="*/ 695 h 4102154" name="connsiteY1"/>
              <a:gd fmla="*/ 5634744 w 11106409" name="connsiteX2"/>
              <a:gd fmla="*/ 0 h 4102154" name="connsiteY2"/>
              <a:gd fmla="*/ 11106409 w 11106409" name="connsiteX3"/>
              <a:gd fmla="*/ 0 h 4102154" name="connsiteY3"/>
              <a:gd fmla="*/ 2956 w 11106409" name="connsiteX4"/>
              <a:gd fmla="*/ 148068 h 4102154" name="connsiteY4"/>
              <a:gd fmla="*/ 0 w 11106409" name="connsiteX5"/>
              <a:gd fmla="*/ 148068 h 4102154" name="connsiteY5"/>
              <a:gd fmla="*/ 0 w 11106409" name="connsiteX6"/>
              <a:gd fmla="*/ 0 h 4102154" name="connsiteY6"/>
              <a:gd fmla="*/ 2956 w 11106409" name="connsiteX7"/>
              <a:gd fmla="*/ 0 h 4102154" name="connsiteY7"/>
              <a:gd fmla="*/ 2061703 w 11106409" name="connsiteX8"/>
              <a:gd fmla="*/ 4102154 h 4102154" name="connsiteY8"/>
              <a:gd fmla="*/ 2061703 w 11106409" name="connsiteX9"/>
              <a:gd fmla="*/ 3774848 h 4102154" name="connsiteY9"/>
              <a:gd fmla="*/ 2149929 w 11106409" name="connsiteX10"/>
              <a:gd fmla="*/ 3735822 h 4102154" name="connsiteY10"/>
              <a:gd fmla="*/ 4616246 w 11106409" name="connsiteX11"/>
              <a:gd fmla="*/ 1917518 h 4102154" name="connsiteY11"/>
              <a:gd fmla="*/ 4748995 w 11106409" name="connsiteX12"/>
              <a:gd fmla="*/ 1755710 h 4102154" name="connsiteY12"/>
              <a:gd fmla="*/ 4634140 w 11106409" name="connsiteX13"/>
              <a:gd fmla="*/ 1930861 h 4102154" name="connsiteY13"/>
              <a:gd fmla="*/ 2302010 w 11106409" name="connsiteX14"/>
              <a:gd fmla="*/ 3975502 h 4102154" name="connsiteY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b="b" l="l" r="r" t="t"/>
            <a:pathLst>
              <a:path h="4102154" w="11106409">
                <a:moveTo>
                  <a:pt x="11106409" y="695"/>
                </a:moveTo>
                <a:lnTo>
                  <a:pt x="5634601" y="695"/>
                </a:lnTo>
                <a:lnTo>
                  <a:pt x="5634744" y="0"/>
                </a:lnTo>
                <a:lnTo>
                  <a:pt x="11106409" y="0"/>
                </a:lnTo>
                <a:close/>
                <a:moveTo>
                  <a:pt x="2956" y="148068"/>
                </a:moveTo>
                <a:lnTo>
                  <a:pt x="0" y="148068"/>
                </a:lnTo>
                <a:lnTo>
                  <a:pt x="0" y="0"/>
                </a:lnTo>
                <a:lnTo>
                  <a:pt x="2956" y="0"/>
                </a:lnTo>
                <a:close/>
                <a:moveTo>
                  <a:pt x="2061703" y="4102154"/>
                </a:moveTo>
                <a:lnTo>
                  <a:pt x="2061703" y="3774848"/>
                </a:lnTo>
                <a:lnTo>
                  <a:pt x="2149929" y="3735822"/>
                </a:lnTo>
                <a:cubicBezTo>
                  <a:pt x="3158248" y="3252137"/>
                  <a:pt x="4003761" y="2617496"/>
                  <a:pt x="4616246" y="1917518"/>
                </a:cubicBezTo>
                <a:lnTo>
                  <a:pt x="4748995" y="1755710"/>
                </a:lnTo>
                <a:lnTo>
                  <a:pt x="4634140" y="1930861"/>
                </a:lnTo>
                <a:cubicBezTo>
                  <a:pt x="4093657" y="2695319"/>
                  <a:pt x="3291012" y="3411818"/>
                  <a:pt x="2302010" y="3975502"/>
                </a:cubicBez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8" name="Rectangle: Rounded Corners 77">
            <a:extLst>
              <a:ext uri="{FF2B5EF4-FFF2-40B4-BE49-F238E27FC236}">
                <a16:creationId xmlns:a16="http://schemas.microsoft.com/office/drawing/2014/main" id="{FFE54959-DEE0-47EE-AF9E-5321D7B257EA}"/>
              </a:ext>
            </a:extLst>
          </p:cNvPr>
          <p:cNvSpPr/>
          <p:nvPr userDrawn="1"/>
        </p:nvSpPr>
        <p:spPr>
          <a:xfrm>
            <a:off x="51361" y="1070314"/>
            <a:ext cx="2310839" cy="712652"/>
          </a:xfrm>
          <a:prstGeom prst="roundRect">
            <a:avLst>
              <a:gd fmla="val 7564" name="adj"/>
            </a:avLst>
          </a:prstGeom>
          <a:solidFill>
            <a:srgbClr val="44525B">
              <a:alpha val="4000"/>
            </a:srgbClr>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4000" u="none">
                <a:solidFill>
                  <a:srgbClr val="44525A"/>
                </a:solidFill>
                <a:latin charset="0" panose="020B0502040204020203" pitchFamily="34" typeface="Bahnschrift SemiBold"/>
              </a:rPr>
              <a:t>ECAP456</a:t>
            </a:r>
          </a:p>
        </p:txBody>
      </p:sp>
      <p:sp>
        <p:nvSpPr>
          <p:cNvPr id="80" name="TextBox 79">
            <a:extLst>
              <a:ext uri="{FF2B5EF4-FFF2-40B4-BE49-F238E27FC236}">
                <a16:creationId xmlns:a16="http://schemas.microsoft.com/office/drawing/2014/main" id="{D618CB88-4007-40A9-B126-AE157A2EA3D6}"/>
              </a:ext>
            </a:extLst>
          </p:cNvPr>
          <p:cNvSpPr txBox="1"/>
          <p:nvPr userDrawn="1"/>
        </p:nvSpPr>
        <p:spPr>
          <a:xfrm>
            <a:off x="6817722" y="5891971"/>
            <a:ext cx="2326278" cy="461665"/>
          </a:xfrm>
          <a:prstGeom prst="rect">
            <a:avLst/>
          </a:prstGeom>
          <a:noFill/>
        </p:spPr>
        <p:txBody>
          <a:bodyPr rtlCol="0" wrap="none">
            <a:spAutoFit/>
          </a:bodyPr>
          <a:lstStyle/>
          <a:p>
            <a:r>
              <a:rPr dirty="0" lang="en-US" sz="2400">
                <a:latin charset="0" panose="020B0502040204020203" pitchFamily="34" typeface="Bahnschrift SemiBold"/>
              </a:rPr>
              <a:t>Dr. Rajni Bhalla</a:t>
            </a:r>
          </a:p>
        </p:txBody>
      </p:sp>
      <p:sp>
        <p:nvSpPr>
          <p:cNvPr id="81" name="TextBox 80">
            <a:extLst>
              <a:ext uri="{FF2B5EF4-FFF2-40B4-BE49-F238E27FC236}">
                <a16:creationId xmlns:a16="http://schemas.microsoft.com/office/drawing/2014/main" id="{50CF1EBC-DA85-4E58-B8EC-90839B52F650}"/>
              </a:ext>
            </a:extLst>
          </p:cNvPr>
          <p:cNvSpPr txBox="1"/>
          <p:nvPr userDrawn="1"/>
        </p:nvSpPr>
        <p:spPr>
          <a:xfrm>
            <a:off x="6667805" y="6332318"/>
            <a:ext cx="2518638" cy="400110"/>
          </a:xfrm>
          <a:prstGeom prst="rect">
            <a:avLst/>
          </a:prstGeom>
          <a:noFill/>
        </p:spPr>
        <p:txBody>
          <a:bodyPr rtlCol="0" wrap="none">
            <a:spAutoFit/>
          </a:bodyPr>
          <a:lstStyle/>
          <a:p>
            <a:r>
              <a:rPr dirty="0" lang="en-US" sz="2000">
                <a:latin charset="0" panose="020B0502040204020203" pitchFamily="34" typeface="Bahnschrift SemiBold"/>
              </a:rPr>
              <a:t>Associate Professor</a:t>
            </a:r>
          </a:p>
        </p:txBody>
      </p:sp>
      <p:sp>
        <p:nvSpPr>
          <p:cNvPr id="99" name="Rectangle 98">
            <a:extLst>
              <a:ext uri="{FF2B5EF4-FFF2-40B4-BE49-F238E27FC236}">
                <a16:creationId xmlns:a16="http://schemas.microsoft.com/office/drawing/2014/main" id="{28AA0A77-4443-4511-81DB-6D4919D92960}"/>
              </a:ext>
            </a:extLst>
          </p:cNvPr>
          <p:cNvSpPr/>
          <p:nvPr userDrawn="1"/>
        </p:nvSpPr>
        <p:spPr>
          <a:xfrm>
            <a:off x="6734323" y="6696075"/>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100" name="Rectangle 99">
            <a:extLst>
              <a:ext uri="{FF2B5EF4-FFF2-40B4-BE49-F238E27FC236}">
                <a16:creationId xmlns:a16="http://schemas.microsoft.com/office/drawing/2014/main" id="{EA4B1C0C-45EB-4524-B766-E8F5A3D56091}"/>
              </a:ext>
            </a:extLst>
          </p:cNvPr>
          <p:cNvSpPr/>
          <p:nvPr userDrawn="1"/>
        </p:nvSpPr>
        <p:spPr>
          <a:xfrm>
            <a:off x="6734323" y="6353636"/>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25937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959429"/>
          </a:xfrm>
          <a:prstGeom prst="rect">
            <a:avLst/>
          </a:prstGeom>
          <a:gradFill flip="none" rotWithShape="1">
            <a:gsLst>
              <a:gs pos="69000">
                <a:srgbClr val="818A8F"/>
              </a:gs>
              <a:gs pos="0">
                <a:srgbClr val="44525A"/>
              </a:gs>
              <a:gs pos="100000">
                <a:srgbClr val="F4F4F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hasCustomPrompt="1"/>
          </p:nvPr>
        </p:nvSpPr>
        <p:spPr>
          <a:xfrm>
            <a:off x="921639" y="2700396"/>
            <a:ext cx="7525999" cy="3698763"/>
          </a:xfrm>
        </p:spPr>
        <p:txBody>
          <a:bodyPr/>
          <a:lstStyle>
            <a:lvl1pPr>
              <a:lnSpc>
                <a:spcPct val="150000"/>
              </a:lnSpc>
              <a:defRPr sz="2600">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Outcome 1</a:t>
            </a:r>
          </a:p>
          <a:p>
            <a:pPr lvl="0"/>
            <a:r>
              <a:rPr lang="en-US" dirty="0"/>
              <a:t>Outcome 2</a:t>
            </a:r>
          </a:p>
          <a:p>
            <a:pPr lvl="0"/>
            <a:r>
              <a:rPr lang="en-US" dirty="0"/>
              <a:t>Outcome 3</a:t>
            </a:r>
          </a:p>
        </p:txBody>
      </p:sp>
      <p:sp>
        <p:nvSpPr>
          <p:cNvPr id="10" name="TextBox 9">
            <a:extLst>
              <a:ext uri="{FF2B5EF4-FFF2-40B4-BE49-F238E27FC236}">
                <a16:creationId xmlns:a16="http://schemas.microsoft.com/office/drawing/2014/main" id="{66F90CB2-A495-4AF3-BC7C-1B34E1164439}"/>
              </a:ext>
            </a:extLst>
          </p:cNvPr>
          <p:cNvSpPr txBox="1"/>
          <p:nvPr userDrawn="1"/>
        </p:nvSpPr>
        <p:spPr>
          <a:xfrm>
            <a:off x="628650" y="235182"/>
            <a:ext cx="3429000" cy="1446550"/>
          </a:xfrm>
          <a:prstGeom prst="rect">
            <a:avLst/>
          </a:prstGeom>
          <a:noFill/>
        </p:spPr>
        <p:txBody>
          <a:bodyPr wrap="square" rtlCol="0">
            <a:spAutoFit/>
          </a:bodyPr>
          <a:lstStyle/>
          <a:p>
            <a:pPr marL="0" algn="l" defTabSz="457200" rtl="0" eaLnBrk="1" latinLnBrk="0" hangingPunct="1">
              <a:lnSpc>
                <a:spcPct val="100000"/>
              </a:lnSpc>
              <a:spcBef>
                <a:spcPct val="0"/>
              </a:spcBef>
              <a:buNone/>
            </a:pPr>
            <a:r>
              <a:rPr lang="en-US" sz="4400" kern="1200" dirty="0">
                <a:solidFill>
                  <a:schemeClr val="bg1"/>
                </a:solidFill>
                <a:latin typeface="Bahnschrift SemiBold" panose="020B0502040204020203" pitchFamily="34" charset="0"/>
                <a:ea typeface="+mn-ea"/>
                <a:cs typeface="+mn-cs"/>
              </a:rPr>
              <a:t>Learning Outcomes</a:t>
            </a:r>
          </a:p>
        </p:txBody>
      </p:sp>
      <p:pic>
        <p:nvPicPr>
          <p:cNvPr id="12" name="Picture 11">
            <a:extLst>
              <a:ext uri="{FF2B5EF4-FFF2-40B4-BE49-F238E27FC236}">
                <a16:creationId xmlns:a16="http://schemas.microsoft.com/office/drawing/2014/main" id="{70BD9AB8-BE8B-4AD4-8989-7D5BB1CBD5C5}"/>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6102" b="98622" l="9753" r="89973">
                        <a14:foregroundMark x1="62637" y1="39764" x2="62637" y2="39764"/>
                        <a14:foregroundMark x1="40797" y1="53346" x2="40797" y2="53346"/>
                        <a14:foregroundMark x1="27198" y1="59055" x2="27198" y2="59055"/>
                        <a14:foregroundMark x1="25687" y1="41929" x2="25687" y2="41929"/>
                        <a14:foregroundMark x1="28434" y1="22835" x2="28434" y2="22835"/>
                        <a14:foregroundMark x1="37225" y1="10433" x2="37225" y2="10433"/>
                        <a14:foregroundMark x1="49863" y1="6496" x2="49863" y2="6496"/>
                        <a14:foregroundMark x1="61538" y1="13583" x2="61538" y2="13583"/>
                        <a14:foregroundMark x1="71016" y1="24803" x2="71016" y2="24803"/>
                        <a14:foregroundMark x1="73626" y1="40945" x2="73626" y2="40945"/>
                        <a14:foregroundMark x1="72115" y1="60039" x2="72115" y2="60039"/>
                        <a14:foregroundMark x1="55345" y1="90060" x2="55907" y2="90157"/>
                        <a14:foregroundMark x1="48764" y1="98622" x2="50275" y2="97835"/>
                        <a14:foregroundMark x1="53709" y1="89764" x2="53709" y2="89764"/>
                        <a14:foregroundMark x1="53434" y1="90354" x2="51511" y2="89370"/>
                        <a14:foregroundMark x1="44780" y1="88189" x2="51236" y2="89567"/>
                        <a14:backgroundMark x1="55769" y1="85433" x2="49950" y2="86267"/>
                        <a14:backgroundMark x1="52194" y1="91242" x2="50589" y2="90886"/>
                        <a14:backgroundMark x1="56181" y1="92126" x2="53895" y2="91619"/>
                        <a14:backgroundMark x1="55495" y1="86024" x2="54258" y2="85827"/>
                        <a14:backgroundMark x1="54396" y1="86024" x2="55632" y2="86614"/>
                        <a14:backgroundMark x1="49176" y1="96654" x2="47940" y2="95079"/>
                      </a14:backgroundRemoval>
                    </a14:imgEffect>
                  </a14:imgLayer>
                </a14:imgProps>
              </a:ext>
            </a:extLst>
          </a:blip>
          <a:stretch>
            <a:fillRect/>
          </a:stretch>
        </p:blipFill>
        <p:spPr>
          <a:xfrm rot="19619398">
            <a:off x="7045240" y="145893"/>
            <a:ext cx="2389846" cy="1667640"/>
          </a:xfrm>
          <a:prstGeom prst="rect">
            <a:avLst/>
          </a:prstGeom>
        </p:spPr>
      </p:pic>
      <p:sp>
        <p:nvSpPr>
          <p:cNvPr id="2" name="Rectangle 1">
            <a:extLst>
              <a:ext uri="{FF2B5EF4-FFF2-40B4-BE49-F238E27FC236}">
                <a16:creationId xmlns:a16="http://schemas.microsoft.com/office/drawing/2014/main" id="{0FCCDEB3-12E7-45AF-A8F2-BC0F9E2254EE}"/>
              </a:ext>
            </a:extLst>
          </p:cNvPr>
          <p:cNvSpPr/>
          <p:nvPr userDrawn="1"/>
        </p:nvSpPr>
        <p:spPr>
          <a:xfrm>
            <a:off x="455696" y="1959429"/>
            <a:ext cx="7915742" cy="740967"/>
          </a:xfrm>
          <a:prstGeom prst="rect">
            <a:avLst/>
          </a:prstGeom>
        </p:spPr>
        <p:txBody>
          <a:bodyPr vert="horz" lIns="91440" tIns="45720" rIns="91440" bIns="45720" rtlCol="0">
            <a:normAutofit/>
          </a:bodyPr>
          <a:lstStyle/>
          <a:p>
            <a:pPr marL="0" lvl="0" indent="0" defTabSz="914400">
              <a:lnSpc>
                <a:spcPct val="150000"/>
              </a:lnSpc>
              <a:spcBef>
                <a:spcPts val="1000"/>
              </a:spcBef>
              <a:buFont typeface="Arial" panose="020B0604020202020204" pitchFamily="34" charset="0"/>
              <a:buNone/>
            </a:pPr>
            <a:r>
              <a:rPr lang="en-US" sz="2800" dirty="0">
                <a:solidFill>
                  <a:schemeClr val="tx1"/>
                </a:solidFill>
                <a:latin typeface="Bahnschrift" panose="020B0502040204020203" pitchFamily="34" charset="0"/>
              </a:rPr>
              <a:t>After this lecture, you will be able to</a:t>
            </a:r>
          </a:p>
        </p:txBody>
      </p:sp>
    </p:spTree>
    <p:extLst>
      <p:ext uri="{BB962C8B-B14F-4D97-AF65-F5344CB8AC3E}">
        <p14:creationId xmlns:p14="http://schemas.microsoft.com/office/powerpoint/2010/main" val="220990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325563"/>
          </a:xfrm>
          <a:prstGeom prst="rect">
            <a:avLst/>
          </a:prstGeom>
          <a:solidFill>
            <a:srgbClr val="445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338362" y="1628145"/>
            <a:ext cx="8386537" cy="5004884"/>
          </a:xfrm>
        </p:spPr>
        <p:txBody>
          <a:bodyPr/>
          <a:lstStyle>
            <a:lvl1pPr>
              <a:lnSpc>
                <a:spcPct val="150000"/>
              </a:lnSpc>
              <a:defRPr>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D674DD10-9343-40FC-87DE-8A1F63FF11A0}"/>
              </a:ext>
            </a:extLst>
          </p:cNvPr>
          <p:cNvSpPr>
            <a:spLocks noGrp="1"/>
          </p:cNvSpPr>
          <p:nvPr>
            <p:ph type="title"/>
          </p:nvPr>
        </p:nvSpPr>
        <p:spPr>
          <a:xfrm>
            <a:off x="338362" y="0"/>
            <a:ext cx="8386537" cy="1325563"/>
          </a:xfrm>
        </p:spPr>
        <p:txBody>
          <a:bodyPr>
            <a:normAutofit/>
          </a:bodyPr>
          <a:lstStyle>
            <a:lvl1pPr marL="0" algn="l" defTabSz="457200" rtl="0" eaLnBrk="1" latinLnBrk="0" hangingPunct="1">
              <a:lnSpc>
                <a:spcPct val="100000"/>
              </a:lnSpc>
              <a:defRPr lang="en-US" sz="3600" kern="1200" dirty="0">
                <a:solidFill>
                  <a:schemeClr val="bg1"/>
                </a:solidFill>
                <a:latin typeface="Bahnschrift SemiBold" panose="020B0502040204020203" pitchFamily="34" charset="0"/>
                <a:ea typeface="+mn-ea"/>
                <a:cs typeface="+mn-cs"/>
              </a:defRPr>
            </a:lvl1pPr>
          </a:lstStyle>
          <a:p>
            <a:r>
              <a:rPr lang="en-US" dirty="0"/>
              <a:t>Click to edit Master title style</a:t>
            </a:r>
          </a:p>
        </p:txBody>
      </p:sp>
    </p:spTree>
    <p:extLst>
      <p:ext uri="{BB962C8B-B14F-4D97-AF65-F5344CB8AC3E}">
        <p14:creationId xmlns:p14="http://schemas.microsoft.com/office/powerpoint/2010/main" val="2192153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8928101"/>
            <a:ext cx="2057400" cy="365125"/>
          </a:xfrm>
        </p:spPr>
        <p:txBody>
          <a:bodyPr/>
          <a:lstStyle/>
          <a:p>
            <a:fld id="{71BC5188-02C1-4612-A2C7-F501CF181F2E}" type="datetimeFigureOut">
              <a:rPr lang="en-US" smtClean="0"/>
              <a:t>7/5/2021</a:t>
            </a:fld>
            <a:endParaRPr lang="en-US"/>
          </a:p>
        </p:txBody>
      </p:sp>
      <p:sp>
        <p:nvSpPr>
          <p:cNvPr id="5" name="Footer Placeholder 4"/>
          <p:cNvSpPr>
            <a:spLocks noGrp="1"/>
          </p:cNvSpPr>
          <p:nvPr>
            <p:ph type="ftr" sz="quarter" idx="11"/>
          </p:nvPr>
        </p:nvSpPr>
        <p:spPr>
          <a:xfrm>
            <a:off x="3028950" y="8928101"/>
            <a:ext cx="3086100" cy="365125"/>
          </a:xfrm>
        </p:spPr>
        <p:txBody>
          <a:bodyPr/>
          <a:lstStyle/>
          <a:p>
            <a:endParaRPr lang="en-US"/>
          </a:p>
        </p:txBody>
      </p:sp>
      <p:sp>
        <p:nvSpPr>
          <p:cNvPr id="6" name="Slide Number Placeholder 5"/>
          <p:cNvSpPr>
            <a:spLocks noGrp="1"/>
          </p:cNvSpPr>
          <p:nvPr>
            <p:ph type="sldNum" sz="quarter" idx="12"/>
          </p:nvPr>
        </p:nvSpPr>
        <p:spPr>
          <a:xfrm>
            <a:off x="6457950" y="8928101"/>
            <a:ext cx="2057400" cy="365125"/>
          </a:xfrm>
        </p:spPr>
        <p:txBody>
          <a:bodyPr/>
          <a:lstStyle/>
          <a:p>
            <a:fld id="{0E4DDFBB-2C77-4C22-A6ED-B339E4E2C87F}" type="slidenum">
              <a:rPr lang="en-US" smtClean="0"/>
              <a:t>‹#›</a:t>
            </a:fld>
            <a:endParaRPr lang="en-US"/>
          </a:p>
        </p:txBody>
      </p:sp>
      <p:sp>
        <p:nvSpPr>
          <p:cNvPr id="19" name="Freeform: Shape 18">
            <a:extLst>
              <a:ext uri="{FF2B5EF4-FFF2-40B4-BE49-F238E27FC236}">
                <a16:creationId xmlns:a16="http://schemas.microsoft.com/office/drawing/2014/main" id="{89D0141E-891B-4C49-A1C4-D9497F151474}"/>
              </a:ext>
            </a:extLst>
          </p:cNvPr>
          <p:cNvSpPr/>
          <p:nvPr userDrawn="1"/>
        </p:nvSpPr>
        <p:spPr>
          <a:xfrm>
            <a:off x="1562553" y="2584505"/>
            <a:ext cx="6037944" cy="1756230"/>
          </a:xfrm>
          <a:custGeom>
            <a:avLst/>
            <a:gdLst>
              <a:gd name="connsiteX0" fmla="*/ 3018972 w 6037944"/>
              <a:gd name="connsiteY0" fmla="*/ 0 h 1451430"/>
              <a:gd name="connsiteX1" fmla="*/ 6037944 w 6037944"/>
              <a:gd name="connsiteY1" fmla="*/ 725715 h 1451430"/>
              <a:gd name="connsiteX2" fmla="*/ 3018972 w 6037944"/>
              <a:gd name="connsiteY2" fmla="*/ 1451430 h 1451430"/>
              <a:gd name="connsiteX3" fmla="*/ 0 w 6037944"/>
              <a:gd name="connsiteY3" fmla="*/ 725715 h 1451430"/>
              <a:gd name="connsiteX4" fmla="*/ 3018972 w 6037944"/>
              <a:gd name="connsiteY4" fmla="*/ 0 h 1451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451430">
                <a:moveTo>
                  <a:pt x="3018972" y="0"/>
                </a:moveTo>
                <a:cubicBezTo>
                  <a:pt x="4686304" y="0"/>
                  <a:pt x="6037944" y="324914"/>
                  <a:pt x="6037944" y="725715"/>
                </a:cubicBezTo>
                <a:cubicBezTo>
                  <a:pt x="6037944" y="1126516"/>
                  <a:pt x="4686304" y="1451430"/>
                  <a:pt x="3018972" y="1451430"/>
                </a:cubicBezTo>
                <a:cubicBezTo>
                  <a:pt x="1351640" y="1451430"/>
                  <a:pt x="0" y="1126516"/>
                  <a:pt x="0" y="725715"/>
                </a:cubicBezTo>
                <a:cubicBezTo>
                  <a:pt x="0" y="324914"/>
                  <a:pt x="1351640" y="0"/>
                  <a:pt x="3018972" y="0"/>
                </a:cubicBezTo>
                <a:close/>
              </a:path>
            </a:pathLst>
          </a:custGeom>
          <a:gradFill>
            <a:gsLst>
              <a:gs pos="54000">
                <a:schemeClr val="bg1"/>
              </a:gs>
              <a:gs pos="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8" name="Freeform: Shape 17">
            <a:extLst>
              <a:ext uri="{FF2B5EF4-FFF2-40B4-BE49-F238E27FC236}">
                <a16:creationId xmlns:a16="http://schemas.microsoft.com/office/drawing/2014/main" id="{C8AD4718-0501-403B-AFBC-33331BEC043B}"/>
              </a:ext>
            </a:extLst>
          </p:cNvPr>
          <p:cNvSpPr/>
          <p:nvPr userDrawn="1"/>
        </p:nvSpPr>
        <p:spPr>
          <a:xfrm>
            <a:off x="1562553" y="1895077"/>
            <a:ext cx="6037944" cy="1146629"/>
          </a:xfrm>
          <a:custGeom>
            <a:avLst/>
            <a:gdLst>
              <a:gd name="connsiteX0" fmla="*/ 3018972 w 6037944"/>
              <a:gd name="connsiteY0" fmla="*/ 0 h 1146629"/>
              <a:gd name="connsiteX1" fmla="*/ 6037944 w 6037944"/>
              <a:gd name="connsiteY1" fmla="*/ 1146629 h 1146629"/>
              <a:gd name="connsiteX2" fmla="*/ 3018972 w 6037944"/>
              <a:gd name="connsiteY2" fmla="*/ 420914 h 1146629"/>
              <a:gd name="connsiteX3" fmla="*/ 0 w 6037944"/>
              <a:gd name="connsiteY3" fmla="*/ 1146629 h 1146629"/>
              <a:gd name="connsiteX4" fmla="*/ 3018972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3018972" y="0"/>
                </a:moveTo>
                <a:cubicBezTo>
                  <a:pt x="4686304" y="0"/>
                  <a:pt x="6037944" y="513363"/>
                  <a:pt x="6037944" y="1146629"/>
                </a:cubicBezTo>
                <a:cubicBezTo>
                  <a:pt x="6037944" y="745828"/>
                  <a:pt x="4686304" y="420914"/>
                  <a:pt x="3018972" y="420914"/>
                </a:cubicBezTo>
                <a:cubicBezTo>
                  <a:pt x="1351640" y="420914"/>
                  <a:pt x="0" y="745828"/>
                  <a:pt x="0" y="1146629"/>
                </a:cubicBezTo>
                <a:cubicBezTo>
                  <a:pt x="0" y="513363"/>
                  <a:pt x="1351640" y="0"/>
                  <a:pt x="3018972"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7" name="Freeform: Shape 16">
            <a:extLst>
              <a:ext uri="{FF2B5EF4-FFF2-40B4-BE49-F238E27FC236}">
                <a16:creationId xmlns:a16="http://schemas.microsoft.com/office/drawing/2014/main" id="{38861B3F-8E45-4BA3-97F7-23CB90BE0433}"/>
              </a:ext>
            </a:extLst>
          </p:cNvPr>
          <p:cNvSpPr/>
          <p:nvPr userDrawn="1"/>
        </p:nvSpPr>
        <p:spPr>
          <a:xfrm>
            <a:off x="1543503" y="3816295"/>
            <a:ext cx="6037944" cy="1146629"/>
          </a:xfrm>
          <a:custGeom>
            <a:avLst/>
            <a:gdLst>
              <a:gd name="connsiteX0" fmla="*/ 0 w 6037944"/>
              <a:gd name="connsiteY0" fmla="*/ 0 h 1146629"/>
              <a:gd name="connsiteX1" fmla="*/ 3018972 w 6037944"/>
              <a:gd name="connsiteY1" fmla="*/ 725715 h 1146629"/>
              <a:gd name="connsiteX2" fmla="*/ 6037944 w 6037944"/>
              <a:gd name="connsiteY2" fmla="*/ 0 h 1146629"/>
              <a:gd name="connsiteX3" fmla="*/ 3018972 w 6037944"/>
              <a:gd name="connsiteY3" fmla="*/ 1146629 h 1146629"/>
              <a:gd name="connsiteX4" fmla="*/ 0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0" y="0"/>
                </a:moveTo>
                <a:cubicBezTo>
                  <a:pt x="0" y="400801"/>
                  <a:pt x="1351640" y="725715"/>
                  <a:pt x="3018972" y="725715"/>
                </a:cubicBezTo>
                <a:cubicBezTo>
                  <a:pt x="4686304" y="725715"/>
                  <a:pt x="6037944" y="400801"/>
                  <a:pt x="6037944" y="0"/>
                </a:cubicBezTo>
                <a:cubicBezTo>
                  <a:pt x="6037944" y="633266"/>
                  <a:pt x="4686304" y="1146629"/>
                  <a:pt x="3018972" y="1146629"/>
                </a:cubicBezTo>
                <a:cubicBezTo>
                  <a:pt x="1351640" y="1146629"/>
                  <a:pt x="0" y="633266"/>
                  <a:pt x="0"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22" name="TextBox 21">
            <a:extLst>
              <a:ext uri="{FF2B5EF4-FFF2-40B4-BE49-F238E27FC236}">
                <a16:creationId xmlns:a16="http://schemas.microsoft.com/office/drawing/2014/main" id="{513C37F6-66F0-4125-B2E0-B93F212BA9B3}"/>
              </a:ext>
            </a:extLst>
          </p:cNvPr>
          <p:cNvSpPr txBox="1"/>
          <p:nvPr userDrawn="1"/>
        </p:nvSpPr>
        <p:spPr>
          <a:xfrm>
            <a:off x="2147298" y="3044280"/>
            <a:ext cx="4849404" cy="769441"/>
          </a:xfrm>
          <a:prstGeom prst="rect">
            <a:avLst/>
          </a:prstGeom>
          <a:noFill/>
        </p:spPr>
        <p:txBody>
          <a:bodyPr wrap="none" rtlCol="0">
            <a:spAutoFit/>
          </a:bodyPr>
          <a:lstStyle/>
          <a:p>
            <a:r>
              <a:rPr lang="en-US" sz="4400" dirty="0">
                <a:solidFill>
                  <a:srgbClr val="453A38"/>
                </a:solidFill>
                <a:latin typeface="Bahnschrift SemiBold" panose="020B0502040204020203" pitchFamily="34" charset="0"/>
              </a:rPr>
              <a:t>That’s all for now…</a:t>
            </a:r>
          </a:p>
        </p:txBody>
      </p:sp>
    </p:spTree>
    <p:extLst>
      <p:ext uri="{BB962C8B-B14F-4D97-AF65-F5344CB8AC3E}">
        <p14:creationId xmlns:p14="http://schemas.microsoft.com/office/powerpoint/2010/main" val="780960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BC5188-02C1-4612-A2C7-F501CF181F2E}" type="datetimeFigureOut">
              <a:rPr lang="en-US" smtClean="0"/>
              <a:t>7/5/2021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1078509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BC5188-02C1-4612-A2C7-F501CF181F2E}" type="datetimeFigureOut">
              <a:rPr lang="en-US" smtClean="0"/>
              <a:t>7/5/2021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653003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BC5188-02C1-4612-A2C7-F501CF181F2E}" type="datetimeFigureOut">
              <a:rPr lang="en-US" smtClean="0"/>
              <a:t>7/5/2021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36719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BC5188-02C1-4612-A2C7-F501CF181F2E}" type="datetimeFigureOut">
              <a:rPr lang="en-US" smtClean="0"/>
              <a:t>7/5/2021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77621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C5188-02C1-4612-A2C7-F501CF181F2E}" type="datetimeFigureOut">
              <a:rPr lang="en-US" smtClean="0"/>
              <a:t>7/5/2021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028252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7/5/2021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474809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7/5/2021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83882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7/5/2021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44260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7/5/2021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230408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2235">
            <a:alpha val="11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C5188-02C1-4612-A2C7-F501CF181F2E}" type="datetimeFigureOut">
              <a:rPr lang="en-US" smtClean="0"/>
              <a:t>7/5/2021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DDFBB-2C77-4C22-A6ED-B339E4E2C87F}" type="slidenum">
              <a:rPr lang="en-US" smtClean="0"/>
              <a:t>‹#›</a:t>
            </a:fld>
            <a:endParaRPr lang="en-US"/>
          </a:p>
        </p:txBody>
      </p:sp>
    </p:spTree>
    <p:extLst>
      <p:ext uri="{BB962C8B-B14F-4D97-AF65-F5344CB8AC3E}">
        <p14:creationId xmlns:p14="http://schemas.microsoft.com/office/powerpoint/2010/main" val="2771957338"/>
      </p:ext>
    </p:extLst>
  </p:cSld>
  <p:clrMap bg1="lt1" tx1="dk1" bg2="lt2" tx2="dk2" accent1="accent1" accent2="accent2" accent3="accent3" accent4="accent4" accent5="accent5" accent6="accent6" hlink="hlink" folHlink="folHlink"/>
  <p:sldLayoutIdLst>
    <p:sldLayoutId id="2147483675" r:id="rId1"/>
    <p:sldLayoutId id="2147483673" r:id="rId2"/>
    <p:sldLayoutId id="2147483674"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arget="../media/image4.jpeg" Type="http://schemas.openxmlformats.org/officeDocument/2006/relationships/image"/><Relationship Id="rId1" Target="../slideLayouts/slideLayout3.xml" Type="http://schemas.openxmlformats.org/officeDocument/2006/relationships/slideLayout"/></Relationships>
</file>

<file path=ppt/slides/_rels/slide4.xml.rels><?xml version="1.0" encoding="UTF-8" standalone="yes" ?><Relationships xmlns="http://schemas.openxmlformats.org/package/2006/relationships"><Relationship Id="rId2" Target="../media/image5.jpeg" Type="http://schemas.openxmlformats.org/officeDocument/2006/relationships/image"/><Relationship Id="rId1" Target="../slideLayouts/slideLayout3.xml" Type="http://schemas.openxmlformats.org/officeDocument/2006/relationships/slideLayout"/></Relationships>
</file>

<file path=ppt/slides/_rels/slide5.xml.rels><?xml version="1.0" encoding="UTF-8" standalone="yes" ?><Relationships xmlns="http://schemas.openxmlformats.org/package/2006/relationships"><Relationship Id="rId3" Target="../media/image7.jpeg" Type="http://schemas.openxmlformats.org/officeDocument/2006/relationships/image"/><Relationship Id="rId2" Target="../media/image6.png" Type="http://schemas.openxmlformats.org/officeDocument/2006/relationships/image"/><Relationship Id="rId1" Target="../slideLayouts/slideLayout3.xml" Type="http://schemas.openxmlformats.org/officeDocument/2006/relationships/slideLayout"/></Relationships>
</file>

<file path=ppt/slides/_rels/slide6.xml.rels><?xml version="1.0" encoding="UTF-8" standalone="yes" ?><Relationships xmlns="http://schemas.openxmlformats.org/package/2006/relationships"><Relationship Id="rId3" Target="../media/image9.jpeg" Type="http://schemas.openxmlformats.org/officeDocument/2006/relationships/image"/><Relationship Id="rId2" Target="../media/image8.jpeg" Type="http://schemas.openxmlformats.org/officeDocument/2006/relationships/image"/><Relationship Id="rId1" Target="../slideLayouts/slideLayout3.xml" Type="http://schemas.openxmlformats.org/officeDocument/2006/relationships/slideLayout"/></Relationships>
</file>

<file path=ppt/slides/_rels/slide7.xml.rels><?xml version="1.0" encoding="UTF-8" standalone="yes" ?><Relationships xmlns="http://schemas.openxmlformats.org/package/2006/relationships"><Relationship Id="rId2" Target="../media/image10.jpeg" Type="http://schemas.openxmlformats.org/officeDocument/2006/relationships/image"/><Relationship Id="rId1" Target="../slideLayouts/slideLayout3.xml" Type="http://schemas.openxmlformats.org/officeDocument/2006/relationships/slideLayout"/></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arget="../media/image11.jpeg" Type="http://schemas.openxmlformats.org/officeDocument/2006/relationships/image"/><Relationship Id="rId1" Target="../slideLayouts/slideLayout3.xml" Type="http://schemas.openxmlformats.org/officeDocument/2006/relationships/slideLayout"/></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arget="../media/image12.jpeg" Type="http://schemas.openxmlformats.org/officeDocument/2006/relationships/image"/><Relationship Id="rId1" Target="../slideLayouts/slideLayout3.xml" Type="http://schemas.openxmlformats.org/officeDocument/2006/relationships/slideLayout"/></Relationships>
</file>

<file path=ppt/slides/_rels/slide25.xml.rels><?xml version="1.0" encoding="UTF-8" standalone="yes" ?><Relationships xmlns="http://schemas.openxmlformats.org/package/2006/relationships"><Relationship Id="rId2" Target="../media/image12.jpeg" Type="http://schemas.openxmlformats.org/officeDocument/2006/relationships/image"/><Relationship Id="rId1" Target="../slideLayouts/slideLayout3.xml" Type="http://schemas.openxmlformats.org/officeDocument/2006/relationships/slideLayout"/></Relationships>
</file>

<file path=ppt/slides/_rels/slide26.xml.rels><?xml version="1.0" encoding="UTF-8" standalone="yes" ?><Relationships xmlns="http://schemas.openxmlformats.org/package/2006/relationships"><Relationship Id="rId2" Target="../media/image13.jpeg" Type="http://schemas.openxmlformats.org/officeDocument/2006/relationships/image"/><Relationship Id="rId1" Target="../slideLayouts/slideLayout3.xml" Type="http://schemas.openxmlformats.org/officeDocument/2006/relationships/slideLayout"/></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arget="../media/image15.jpeg" Type="http://schemas.openxmlformats.org/officeDocument/2006/relationships/image"/><Relationship Id="rId1" Target="../slideLayouts/slideLayout3.xml" Type="http://schemas.openxmlformats.org/officeDocument/2006/relationships/slideLayout"/></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searchdatamanagement.techtarget.com/definition/Hadoop" TargetMode="External"/><Relationship Id="rId2" Type="http://schemas.openxmlformats.org/officeDocument/2006/relationships/hyperlink" Target="https://searchdatamanagement.techtarget.com/definition/big-data-management" TargetMode="External"/><Relationship Id="rId1" Type="http://schemas.openxmlformats.org/officeDocument/2006/relationships/slideLayout" Target="../slideLayouts/slideLayout3.xml"/><Relationship Id="rId4" Type="http://schemas.openxmlformats.org/officeDocument/2006/relationships/hyperlink" Target="https://searchcloudcomputing.techtarget.com/definition/MapReduce" TargetMode="External"/></Relationships>
</file>

<file path=ppt/slides/_rels/slide39.xml.rels><?xml version="1.0" encoding="UTF-8" standalone="yes" ?><Relationships xmlns="http://schemas.openxmlformats.org/package/2006/relationships"><Relationship Id="rId2" Target="../media/image18.jpeg" Type="http://schemas.openxmlformats.org/officeDocument/2006/relationships/image"/><Relationship Id="rId1" Target="../slideLayouts/slideLayout3.xml" Type="http://schemas.openxmlformats.org/officeDocument/2006/relationships/slideLayout"/></Relationships>
</file>

<file path=ppt/slides/_rels/slide40.xml.rels><?xml version="1.0" encoding="UTF-8" standalone="yes" ?><Relationships xmlns="http://schemas.openxmlformats.org/package/2006/relationships"><Relationship Id="rId2" Target="../media/image19.jpeg" Type="http://schemas.openxmlformats.org/officeDocument/2006/relationships/image"/><Relationship Id="rId1" Target="../slideLayouts/slideLayout3.xml" Type="http://schemas.openxmlformats.org/officeDocument/2006/relationships/slideLayout"/></Relationships>
</file>

<file path=ppt/slides/_rels/slide41.xml.rels><?xml version="1.0" encoding="UTF-8" standalone="yes" ?><Relationships xmlns="http://schemas.openxmlformats.org/package/2006/relationships"><Relationship Id="rId3" Target="../media/image20.jpeg" Type="http://schemas.openxmlformats.org/officeDocument/2006/relationships/image"/><Relationship Id="rId2" Target="../media/image19.jpeg" Type="http://schemas.openxmlformats.org/officeDocument/2006/relationships/image"/><Relationship Id="rId1" Target="../slideLayouts/slideLayout3.xml" Type="http://schemas.openxmlformats.org/officeDocument/2006/relationships/slideLayout"/></Relationships>
</file>

<file path=ppt/slides/_rels/slide42.xml.rels><?xml version="1.0" encoding="UTF-8" standalone="yes" ?><Relationships xmlns="http://schemas.openxmlformats.org/package/2006/relationships"><Relationship Id="rId3" Target="../media/image20.jpeg" Type="http://schemas.openxmlformats.org/officeDocument/2006/relationships/image"/><Relationship Id="rId2" Target="../media/image19.jpeg" Type="http://schemas.openxmlformats.org/officeDocument/2006/relationships/image"/><Relationship Id="rId1" Target="../slideLayouts/slideLayout3.xml" Type="http://schemas.openxmlformats.org/officeDocument/2006/relationships/slideLayout"/><Relationship Id="rId4" Target="../media/image21.png" Type="http://schemas.openxmlformats.org/officeDocument/2006/relationships/image"/></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hyperlink" Target="https://zookeeper.apache.org/doc/r3.1.2/zookeeperProgrammers.html#sc_zkDataModel_znodes" TargetMode="Externa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arget="../media/image25.jpeg" Type="http://schemas.openxmlformats.org/officeDocument/2006/relationships/image"/><Relationship Id="rId1" Target="../slideLayouts/slideLayout3.xml" Type="http://schemas.openxmlformats.org/officeDocument/2006/relationships/slideLayout"/></Relationships>
</file>

<file path=ppt/slides/_rels/slide50.xml.rels><?xml version="1.0" encoding="UTF-8" standalone="yes" ?><Relationships xmlns="http://schemas.openxmlformats.org/package/2006/relationships"><Relationship Id="rId2" Target="../media/image26.jpeg" Type="http://schemas.openxmlformats.org/officeDocument/2006/relationships/image"/><Relationship Id="rId1" Target="../slideLayouts/slideLayout3.xml" Type="http://schemas.openxmlformats.org/officeDocument/2006/relationships/slideLayout"/></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arget="../media/image28.jpeg" Type="http://schemas.openxmlformats.org/officeDocument/2006/relationships/image"/><Relationship Id="rId1" Target="../slideLayouts/slideLayout3.xml" Type="http://schemas.openxmlformats.org/officeDocument/2006/relationships/slideLayout"/></Relationships>
</file>

<file path=ppt/slides/_rels/slide58.xml.rels><?xml version="1.0" encoding="UTF-8" standalone="yes" ?><Relationships xmlns="http://schemas.openxmlformats.org/package/2006/relationships"><Relationship Id="rId3" Target="../media/image30.png" Type="http://schemas.openxmlformats.org/officeDocument/2006/relationships/image"/><Relationship Id="rId2" Target="../media/image29.jpeg" Type="http://schemas.openxmlformats.org/officeDocument/2006/relationships/image"/><Relationship Id="rId1" Target="../slideLayouts/slideLayout3.xml" Type="http://schemas.openxmlformats.org/officeDocument/2006/relationships/slideLayout"/><Relationship Id="rId5" Target="../media/image32.png" Type="http://schemas.openxmlformats.org/officeDocument/2006/relationships/image"/><Relationship Id="rId4" Target="../media/image31.png" Type="http://schemas.openxmlformats.org/officeDocument/2006/relationships/image"/></Relationships>
</file>

<file path=ppt/slides/_rels/slide59.xml.rels><?xml version="1.0" encoding="UTF-8" standalone="yes" ?><Relationships xmlns="http://schemas.openxmlformats.org/package/2006/relationships"><Relationship Id="rId3" Target="../media/image34.jpeg" Type="http://schemas.openxmlformats.org/officeDocument/2006/relationships/image"/><Relationship Id="rId2" Target="../media/image33.jpeg" Type="http://schemas.openxmlformats.org/officeDocument/2006/relationships/image"/><Relationship Id="rId1" Target="../slideLayouts/slideLayout3.xml" Type="http://schemas.openxmlformats.org/officeDocument/2006/relationships/slideLayout"/><Relationship Id="rId6" Target="../media/image37.jpeg" Type="http://schemas.openxmlformats.org/officeDocument/2006/relationships/image"/><Relationship Id="rId5" Target="../media/image36.jpeg" Type="http://schemas.openxmlformats.org/officeDocument/2006/relationships/image"/><Relationship Id="rId4" Target="../media/image35.jpeg" Type="http://schemas.openxmlformats.org/officeDocument/2006/relationships/image"/></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609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1D9C0B-6FD1-4FB9-A1DD-A4626C9E7E32}"/>
              </a:ext>
            </a:extLst>
          </p:cNvPr>
          <p:cNvSpPr>
            <a:spLocks noGrp="1"/>
          </p:cNvSpPr>
          <p:nvPr>
            <p:ph idx="1"/>
          </p:nvPr>
        </p:nvSpPr>
        <p:spPr>
          <a:xfrm>
            <a:off x="989350" y="2818150"/>
            <a:ext cx="7830800" cy="3773150"/>
          </a:xfrm>
        </p:spPr>
        <p:txBody>
          <a:bodyPr/>
          <a:lstStyle/>
          <a:p>
            <a:pPr algn="just"/>
            <a:r>
              <a:rPr lang="en-US" b="0" i="0" dirty="0">
                <a:solidFill>
                  <a:srgbClr val="000000"/>
                </a:solidFill>
                <a:effectLst/>
              </a:rPr>
              <a:t>learn Open-Source Software Related To Hadoop.</a:t>
            </a:r>
            <a:endParaRPr lang="en-US" dirty="0"/>
          </a:p>
        </p:txBody>
      </p:sp>
    </p:spTree>
    <p:extLst>
      <p:ext uri="{BB962C8B-B14F-4D97-AF65-F5344CB8AC3E}">
        <p14:creationId xmlns:p14="http://schemas.microsoft.com/office/powerpoint/2010/main" val="2497399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F94B94B-1471-4F34-B937-634A5C69256F}"/>
              </a:ext>
            </a:extLst>
          </p:cNvPr>
          <p:cNvPicPr>
            <a:picLocks noGrp="1" noChangeAspect="1"/>
          </p:cNvPicPr>
          <p:nvPr>
            <p:ph idx="1"/>
          </p:nvPr>
        </p:nvPicPr>
        <p:blipFill>
          <a:blip r:embed="rId2"/>
          <a:stretch>
            <a:fillRect/>
          </a:stretch>
        </p:blipFill>
        <p:spPr>
          <a:xfrm>
            <a:off x="1346776" y="1404255"/>
            <a:ext cx="7177071" cy="5388429"/>
          </a:xfrm>
          <a:prstGeom prst="rect">
            <a:avLst/>
          </a:prstGeom>
        </p:spPr>
      </p:pic>
      <p:sp>
        <p:nvSpPr>
          <p:cNvPr id="3" name="Title 2">
            <a:extLst>
              <a:ext uri="{FF2B5EF4-FFF2-40B4-BE49-F238E27FC236}">
                <a16:creationId xmlns:a16="http://schemas.microsoft.com/office/drawing/2014/main" id="{9C27E1D6-E295-4037-ADAB-F9B050F2C519}"/>
              </a:ext>
            </a:extLst>
          </p:cNvPr>
          <p:cNvSpPr>
            <a:spLocks noGrp="1"/>
          </p:cNvSpPr>
          <p:nvPr>
            <p:ph type="title"/>
          </p:nvPr>
        </p:nvSpPr>
        <p:spPr>
          <a:xfrm>
            <a:off x="457200" y="0"/>
            <a:ext cx="8401050" cy="1276351"/>
          </a:xfrm>
        </p:spPr>
        <p:txBody>
          <a:bodyPr/>
          <a:lstStyle/>
          <a:p>
            <a:r>
              <a:rPr lang="en-US" dirty="0"/>
              <a:t>Introduction</a:t>
            </a:r>
          </a:p>
        </p:txBody>
      </p:sp>
      <p:sp>
        <p:nvSpPr>
          <p:cNvPr id="5" name="Rectangle 4">
            <a:extLst>
              <a:ext uri="{FF2B5EF4-FFF2-40B4-BE49-F238E27FC236}">
                <a16:creationId xmlns:a16="http://schemas.microsoft.com/office/drawing/2014/main" id="{6478AB16-7077-483C-A792-D555EFF0B69E}"/>
              </a:ext>
            </a:extLst>
          </p:cNvPr>
          <p:cNvSpPr/>
          <p:nvPr/>
        </p:nvSpPr>
        <p:spPr>
          <a:xfrm rot="16200000">
            <a:off x="-1752375" y="3736294"/>
            <a:ext cx="5143501" cy="724350"/>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latin typeface="Bahnschrift" panose="020B0502040204020203" pitchFamily="34" charset="0"/>
              </a:rPr>
              <a:t>Energy efficient &amp; Green Model</a:t>
            </a:r>
          </a:p>
        </p:txBody>
      </p:sp>
    </p:spTree>
    <p:extLst>
      <p:ext uri="{BB962C8B-B14F-4D97-AF65-F5344CB8AC3E}">
        <p14:creationId xmlns:p14="http://schemas.microsoft.com/office/powerpoint/2010/main" val="1084400153"/>
      </p:ext>
    </p:extLst>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27E1D6-E295-4037-ADAB-F9B050F2C519}"/>
              </a:ext>
            </a:extLst>
          </p:cNvPr>
          <p:cNvSpPr>
            <a:spLocks noGrp="1"/>
          </p:cNvSpPr>
          <p:nvPr>
            <p:ph type="title"/>
          </p:nvPr>
        </p:nvSpPr>
        <p:spPr>
          <a:xfrm>
            <a:off x="457200" y="0"/>
            <a:ext cx="8401050" cy="1276351"/>
          </a:xfrm>
        </p:spPr>
        <p:txBody>
          <a:bodyPr anchor="ctr" bIns="45720" lIns="91440" rIns="91440" rtlCol="0" tIns="45720" vert="horz">
            <a:normAutofit/>
          </a:bodyPr>
          <a:lstStyle/>
          <a:p>
            <a:r>
              <a:rPr dirty="0" lang="en-US"/>
              <a:t>Introduction</a:t>
            </a:r>
          </a:p>
        </p:txBody>
      </p:sp>
      <p:pic>
        <p:nvPicPr>
          <p:cNvPr id="6" name="Picture 5">
            <a:extLst>
              <a:ext uri="{FF2B5EF4-FFF2-40B4-BE49-F238E27FC236}">
                <a16:creationId xmlns:a16="http://schemas.microsoft.com/office/drawing/2014/main" id="{80415B3B-ABD9-4D57-B5A9-43842BE95131}"/>
              </a:ext>
            </a:extLst>
          </p:cNvPr>
          <p:cNvPicPr>
            <a:picLocks noChangeAspect="1"/>
          </p:cNvPicPr>
          <p:nvPr/>
        </p:nvPicPr>
        <p:blipFill rotWithShape="1">
          <a:blip r:embed="rId2"/>
          <a:srcRect b="106" r="57"/>
          <a:stretch/>
        </p:blipFill>
        <p:spPr>
          <a:xfrm>
            <a:off x="977339" y="1407109"/>
            <a:ext cx="6242259" cy="5312263"/>
          </a:xfrm>
          <a:prstGeom prst="rect">
            <a:avLst/>
          </a:prstGeom>
        </p:spPr>
      </p:pic>
      <p:sp>
        <p:nvSpPr>
          <p:cNvPr id="7" name="Rectangle 6">
            <a:extLst>
              <a:ext uri="{FF2B5EF4-FFF2-40B4-BE49-F238E27FC236}">
                <a16:creationId xmlns:a16="http://schemas.microsoft.com/office/drawing/2014/main" id="{9C2FB314-EC18-44D2-97E1-326A26DAE3EE}"/>
              </a:ext>
            </a:extLst>
          </p:cNvPr>
          <p:cNvSpPr/>
          <p:nvPr/>
        </p:nvSpPr>
        <p:spPr>
          <a:xfrm rot="5400000">
            <a:off x="5309194" y="3718413"/>
            <a:ext cx="4829331" cy="689654"/>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IN" sz="3200">
                <a:latin charset="0" panose="020B0502040204020203" pitchFamily="34" typeface="Bahnschrift"/>
              </a:rPr>
              <a:t>Resource Scheduling</a:t>
            </a:r>
          </a:p>
        </p:txBody>
      </p:sp>
    </p:spTree>
    <p:extLst>
      <p:ext uri="{BB962C8B-B14F-4D97-AF65-F5344CB8AC3E}">
        <p14:creationId xmlns:p14="http://schemas.microsoft.com/office/powerpoint/2010/main" val="1225304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27E1D6-E295-4037-ADAB-F9B050F2C519}"/>
              </a:ext>
            </a:extLst>
          </p:cNvPr>
          <p:cNvSpPr>
            <a:spLocks noGrp="1"/>
          </p:cNvSpPr>
          <p:nvPr>
            <p:ph type="title"/>
          </p:nvPr>
        </p:nvSpPr>
        <p:spPr>
          <a:xfrm>
            <a:off x="457200" y="0"/>
            <a:ext cx="8401050" cy="1276351"/>
          </a:xfrm>
        </p:spPr>
        <p:txBody>
          <a:bodyPr vert="horz" lIns="91440" tIns="45720" rIns="91440" bIns="45720" rtlCol="0" anchor="ctr">
            <a:normAutofit/>
          </a:bodyPr>
          <a:lstStyle/>
          <a:p>
            <a:r>
              <a:rPr lang="en-US" dirty="0"/>
              <a:t>Introduction</a:t>
            </a:r>
          </a:p>
        </p:txBody>
      </p:sp>
      <p:sp>
        <p:nvSpPr>
          <p:cNvPr id="5" name="Rectangle 4">
            <a:extLst>
              <a:ext uri="{FF2B5EF4-FFF2-40B4-BE49-F238E27FC236}">
                <a16:creationId xmlns:a16="http://schemas.microsoft.com/office/drawing/2014/main" id="{6478AB16-7077-483C-A792-D555EFF0B69E}"/>
              </a:ext>
            </a:extLst>
          </p:cNvPr>
          <p:cNvSpPr/>
          <p:nvPr/>
        </p:nvSpPr>
        <p:spPr>
          <a:xfrm>
            <a:off x="702978" y="5403632"/>
            <a:ext cx="3168501" cy="941532"/>
          </a:xfrm>
          <a:prstGeom prst="rect">
            <a:avLst/>
          </a:prstGeom>
          <a:solidFill>
            <a:srgbClr val="44525A"/>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dirty="0">
                <a:solidFill>
                  <a:schemeClr val="bg1"/>
                </a:solidFill>
                <a:effectLst/>
                <a:latin typeface="Bahnschrift" panose="020B0502040204020203" pitchFamily="34" charset="0"/>
              </a:rPr>
              <a:t>Sustainability Issues</a:t>
            </a:r>
            <a:endParaRPr lang="en-IN" sz="2800" dirty="0">
              <a:solidFill>
                <a:schemeClr val="bg1"/>
              </a:solidFill>
              <a:latin typeface="Bahnschrift" panose="020B0502040204020203" pitchFamily="34" charset="0"/>
            </a:endParaRPr>
          </a:p>
        </p:txBody>
      </p:sp>
      <p:sp>
        <p:nvSpPr>
          <p:cNvPr id="7" name="Rectangle 6">
            <a:extLst>
              <a:ext uri="{FF2B5EF4-FFF2-40B4-BE49-F238E27FC236}">
                <a16:creationId xmlns:a16="http://schemas.microsoft.com/office/drawing/2014/main" id="{9C2FB314-EC18-44D2-97E1-326A26DAE3EE}"/>
              </a:ext>
            </a:extLst>
          </p:cNvPr>
          <p:cNvSpPr/>
          <p:nvPr/>
        </p:nvSpPr>
        <p:spPr>
          <a:xfrm>
            <a:off x="4983914" y="5434118"/>
            <a:ext cx="3168501" cy="941532"/>
          </a:xfrm>
          <a:prstGeom prst="rect">
            <a:avLst/>
          </a:prstGeom>
          <a:solidFill>
            <a:srgbClr val="44525A"/>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latin typeface="Bahnschrift" panose="020B0502040204020203" pitchFamily="34" charset="0"/>
              </a:rPr>
              <a:t>Fault Tolerance and Reliability </a:t>
            </a:r>
          </a:p>
        </p:txBody>
      </p:sp>
      <p:pic>
        <p:nvPicPr>
          <p:cNvPr id="9" name="Content Placeholder 8">
            <a:extLst>
              <a:ext uri="{FF2B5EF4-FFF2-40B4-BE49-F238E27FC236}">
                <a16:creationId xmlns:a16="http://schemas.microsoft.com/office/drawing/2014/main" id="{AAE2FD14-C375-4B12-868E-5459CEB7B616}"/>
              </a:ext>
            </a:extLst>
          </p:cNvPr>
          <p:cNvPicPr>
            <a:picLocks noGrp="1" noChangeAspect="1"/>
          </p:cNvPicPr>
          <p:nvPr>
            <p:ph idx="1"/>
          </p:nvPr>
        </p:nvPicPr>
        <p:blipFill>
          <a:blip r:embed="rId2"/>
          <a:stretch>
            <a:fillRect/>
          </a:stretch>
        </p:blipFill>
        <p:spPr>
          <a:xfrm>
            <a:off x="457200" y="1740321"/>
            <a:ext cx="3716170" cy="3429372"/>
          </a:xfrm>
          <a:prstGeom prst="rect">
            <a:avLst/>
          </a:prstGeom>
        </p:spPr>
      </p:pic>
      <p:pic>
        <p:nvPicPr>
          <p:cNvPr id="10" name="Picture 9">
            <a:extLst>
              <a:ext uri="{FF2B5EF4-FFF2-40B4-BE49-F238E27FC236}">
                <a16:creationId xmlns:a16="http://schemas.microsoft.com/office/drawing/2014/main" id="{68390B4D-8E51-446D-9C95-65C978545301}"/>
              </a:ext>
            </a:extLst>
          </p:cNvPr>
          <p:cNvPicPr>
            <a:picLocks noChangeAspect="1"/>
          </p:cNvPicPr>
          <p:nvPr/>
        </p:nvPicPr>
        <p:blipFill>
          <a:blip r:embed="rId3"/>
          <a:stretch>
            <a:fillRect/>
          </a:stretch>
        </p:blipFill>
        <p:spPr>
          <a:xfrm>
            <a:off x="4333524" y="1688307"/>
            <a:ext cx="4374049" cy="3481386"/>
          </a:xfrm>
          <a:prstGeom prst="rect">
            <a:avLst/>
          </a:prstGeom>
        </p:spPr>
      </p:pic>
    </p:spTree>
    <p:extLst>
      <p:ext uri="{BB962C8B-B14F-4D97-AF65-F5344CB8AC3E}">
        <p14:creationId xmlns:p14="http://schemas.microsoft.com/office/powerpoint/2010/main" val="1672451270"/>
      </p:ext>
    </p:extLst>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27E1D6-E295-4037-ADAB-F9B050F2C519}"/>
              </a:ext>
            </a:extLst>
          </p:cNvPr>
          <p:cNvSpPr>
            <a:spLocks noGrp="1"/>
          </p:cNvSpPr>
          <p:nvPr>
            <p:ph type="title"/>
          </p:nvPr>
        </p:nvSpPr>
        <p:spPr>
          <a:xfrm>
            <a:off x="457200" y="0"/>
            <a:ext cx="8401050" cy="1276351"/>
          </a:xfrm>
        </p:spPr>
        <p:txBody>
          <a:bodyPr anchor="ctr" bIns="45720" lIns="91440" rIns="91440" rtlCol="0" tIns="45720" vert="horz">
            <a:normAutofit/>
          </a:bodyPr>
          <a:lstStyle/>
          <a:p>
            <a:r>
              <a:rPr dirty="0" lang="en-US"/>
              <a:t>Introduction</a:t>
            </a:r>
          </a:p>
        </p:txBody>
      </p:sp>
      <p:sp>
        <p:nvSpPr>
          <p:cNvPr id="5" name="Rectangle 4">
            <a:extLst>
              <a:ext uri="{FF2B5EF4-FFF2-40B4-BE49-F238E27FC236}">
                <a16:creationId xmlns:a16="http://schemas.microsoft.com/office/drawing/2014/main" id="{6478AB16-7077-483C-A792-D555EFF0B69E}"/>
              </a:ext>
            </a:extLst>
          </p:cNvPr>
          <p:cNvSpPr/>
          <p:nvPr/>
        </p:nvSpPr>
        <p:spPr>
          <a:xfrm>
            <a:off x="819769" y="5683746"/>
            <a:ext cx="3485351" cy="747221"/>
          </a:xfrm>
          <a:prstGeom prst="rect">
            <a:avLst/>
          </a:prstGeom>
          <a:solidFill>
            <a:srgbClr val="44525A"/>
          </a:solid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h="38100" w="190500"/>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0" dirty="0" i="0" lang="en-US" sz="2400">
                <a:solidFill>
                  <a:schemeClr val="bg1"/>
                </a:solidFill>
                <a:effectLst/>
                <a:latin charset="0" panose="020B0502040204020203" pitchFamily="34" typeface="Bahnschrift"/>
              </a:rPr>
              <a:t>Machine Learning Techniques</a:t>
            </a:r>
            <a:endParaRPr dirty="0" lang="en-IN" sz="2400">
              <a:solidFill>
                <a:schemeClr val="bg1"/>
              </a:solidFill>
              <a:latin charset="0" panose="020B0502040204020203" pitchFamily="34" typeface="Bahnschrift"/>
            </a:endParaRPr>
          </a:p>
        </p:txBody>
      </p:sp>
      <p:sp>
        <p:nvSpPr>
          <p:cNvPr id="7" name="Rectangle 6">
            <a:extLst>
              <a:ext uri="{FF2B5EF4-FFF2-40B4-BE49-F238E27FC236}">
                <a16:creationId xmlns:a16="http://schemas.microsoft.com/office/drawing/2014/main" id="{9C2FB314-EC18-44D2-97E1-326A26DAE3EE}"/>
              </a:ext>
            </a:extLst>
          </p:cNvPr>
          <p:cNvSpPr/>
          <p:nvPr/>
        </p:nvSpPr>
        <p:spPr>
          <a:xfrm>
            <a:off x="5100705" y="5714232"/>
            <a:ext cx="3485351" cy="747221"/>
          </a:xfrm>
          <a:prstGeom prst="rect">
            <a:avLst/>
          </a:prstGeom>
          <a:solidFill>
            <a:srgbClr val="44525A"/>
          </a:solid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h="38100" w="190500"/>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IN" sz="2400">
                <a:latin charset="0" panose="020B0502040204020203" pitchFamily="34" typeface="Bahnschrift"/>
              </a:rPr>
              <a:t>Graph Analysis</a:t>
            </a:r>
          </a:p>
        </p:txBody>
      </p:sp>
      <p:pic>
        <p:nvPicPr>
          <p:cNvPr id="6" name="Content Placeholder 5">
            <a:extLst>
              <a:ext uri="{FF2B5EF4-FFF2-40B4-BE49-F238E27FC236}">
                <a16:creationId xmlns:a16="http://schemas.microsoft.com/office/drawing/2014/main" id="{D4AFA0E4-EE19-4C75-9D95-97CFEEC08F1F}"/>
              </a:ext>
            </a:extLst>
          </p:cNvPr>
          <p:cNvPicPr>
            <a:picLocks noChangeAspect="1" noGrp="1"/>
          </p:cNvPicPr>
          <p:nvPr>
            <p:ph idx="1"/>
          </p:nvPr>
        </p:nvPicPr>
        <p:blipFill rotWithShape="1">
          <a:blip r:embed="rId2"/>
          <a:srcRect b="-53" r="-74"/>
          <a:stretch/>
        </p:blipFill>
        <p:spPr>
          <a:xfrm>
            <a:off x="457200" y="1641290"/>
            <a:ext cx="3859619" cy="3575419"/>
          </a:xfrm>
          <a:prstGeom prst="rect">
            <a:avLst/>
          </a:prstGeom>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h="38100" w="190500"/>
          </a:sp3d>
        </p:spPr>
      </p:pic>
      <p:pic>
        <p:nvPicPr>
          <p:cNvPr id="8" name="Picture 7">
            <a:extLst>
              <a:ext uri="{FF2B5EF4-FFF2-40B4-BE49-F238E27FC236}">
                <a16:creationId xmlns:a16="http://schemas.microsoft.com/office/drawing/2014/main" id="{266BB217-2C33-4077-AF61-C9AF7C8B151A}"/>
              </a:ext>
            </a:extLst>
          </p:cNvPr>
          <p:cNvPicPr>
            <a:picLocks noChangeAspect="1"/>
          </p:cNvPicPr>
          <p:nvPr/>
        </p:nvPicPr>
        <p:blipFill>
          <a:blip r:embed="rId3"/>
          <a:stretch>
            <a:fillRect/>
          </a:stretch>
        </p:blipFill>
        <p:spPr>
          <a:xfrm>
            <a:off x="4487451" y="2061969"/>
            <a:ext cx="4370799" cy="2903435"/>
          </a:xfrm>
          <a:prstGeom prst="rect">
            <a:avLst/>
          </a:prstGeom>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h="38100" w="190500"/>
          </a:sp3d>
        </p:spPr>
      </p:pic>
    </p:spTree>
    <p:extLst>
      <p:ext uri="{BB962C8B-B14F-4D97-AF65-F5344CB8AC3E}">
        <p14:creationId xmlns:p14="http://schemas.microsoft.com/office/powerpoint/2010/main" val="906504146"/>
      </p:ext>
    </p:extLst>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27E1D6-E295-4037-ADAB-F9B050F2C519}"/>
              </a:ext>
            </a:extLst>
          </p:cNvPr>
          <p:cNvSpPr>
            <a:spLocks noGrp="1"/>
          </p:cNvSpPr>
          <p:nvPr>
            <p:ph type="title"/>
          </p:nvPr>
        </p:nvSpPr>
        <p:spPr>
          <a:xfrm>
            <a:off x="457200" y="0"/>
            <a:ext cx="8401050" cy="1276351"/>
          </a:xfrm>
        </p:spPr>
        <p:txBody>
          <a:bodyPr anchor="ctr" bIns="45720" lIns="91440" rIns="91440" rtlCol="0" tIns="45720" vert="horz">
            <a:normAutofit/>
          </a:bodyPr>
          <a:lstStyle/>
          <a:p>
            <a:r>
              <a:rPr dirty="0" lang="en-US"/>
              <a:t>Introduction</a:t>
            </a:r>
          </a:p>
        </p:txBody>
      </p:sp>
      <p:sp>
        <p:nvSpPr>
          <p:cNvPr id="5" name="Rectangle 4">
            <a:extLst>
              <a:ext uri="{FF2B5EF4-FFF2-40B4-BE49-F238E27FC236}">
                <a16:creationId xmlns:a16="http://schemas.microsoft.com/office/drawing/2014/main" id="{6478AB16-7077-483C-A792-D555EFF0B69E}"/>
              </a:ext>
            </a:extLst>
          </p:cNvPr>
          <p:cNvSpPr/>
          <p:nvPr/>
        </p:nvSpPr>
        <p:spPr>
          <a:xfrm>
            <a:off x="2615608" y="5326468"/>
            <a:ext cx="4389349" cy="845732"/>
          </a:xfrm>
          <a:prstGeom prst="rect">
            <a:avLst/>
          </a:prstGeom>
          <a:solidFill>
            <a:srgbClr val="44525A"/>
          </a:solid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h="38100" w="190500"/>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dirty="0" lang="en-US" sz="2400">
                <a:latin charset="0" panose="020B0502040204020203" pitchFamily="34" typeface="Bahnschrift"/>
              </a:rPr>
              <a:t>Large Scale Recommender System</a:t>
            </a:r>
            <a:endParaRPr dirty="0" lang="en-IN" sz="2400">
              <a:latin charset="0" panose="020B0502040204020203" pitchFamily="34" typeface="Bahnschrift"/>
            </a:endParaRPr>
          </a:p>
        </p:txBody>
      </p:sp>
      <p:pic>
        <p:nvPicPr>
          <p:cNvPr id="9" name="Content Placeholder 8">
            <a:extLst>
              <a:ext uri="{FF2B5EF4-FFF2-40B4-BE49-F238E27FC236}">
                <a16:creationId xmlns:a16="http://schemas.microsoft.com/office/drawing/2014/main" id="{B94D69E3-70B7-41FC-8DFB-2E94FFB226CB}"/>
              </a:ext>
            </a:extLst>
          </p:cNvPr>
          <p:cNvPicPr>
            <a:picLocks noChangeAspect="1" noGrp="1"/>
          </p:cNvPicPr>
          <p:nvPr>
            <p:ph idx="1"/>
          </p:nvPr>
        </p:nvPicPr>
        <p:blipFill rotWithShape="1">
          <a:blip r:embed="rId2"/>
          <a:srcRect r="-23"/>
          <a:stretch/>
        </p:blipFill>
        <p:spPr>
          <a:xfrm>
            <a:off x="711051" y="1805984"/>
            <a:ext cx="7866449" cy="3223216"/>
          </a:xfrm>
          <a:prstGeom prst="rect">
            <a:avLst/>
          </a:prstGeom>
          <a:effectLst>
            <a:outerShdw algn="ctr" blurRad="63500" rotWithShape="0" sx="102000" sy="102000">
              <a:prstClr val="black">
                <a:alpha val="40000"/>
              </a:prstClr>
            </a:outerShdw>
          </a:effectLst>
        </p:spPr>
      </p:pic>
    </p:spTree>
    <p:extLst>
      <p:ext uri="{BB962C8B-B14F-4D97-AF65-F5344CB8AC3E}">
        <p14:creationId xmlns:p14="http://schemas.microsoft.com/office/powerpoint/2010/main" val="3482526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D2782B-62DC-45D9-97E0-04065C3B61D2}"/>
              </a:ext>
            </a:extLst>
          </p:cNvPr>
          <p:cNvSpPr>
            <a:spLocks noGrp="1"/>
          </p:cNvSpPr>
          <p:nvPr>
            <p:ph type="title"/>
          </p:nvPr>
        </p:nvSpPr>
        <p:spPr/>
        <p:txBody>
          <a:bodyPr vert="horz" lIns="91440" tIns="45720" rIns="91440" bIns="45720" rtlCol="0" anchor="ctr">
            <a:normAutofit/>
          </a:bodyPr>
          <a:lstStyle/>
          <a:p>
            <a:r>
              <a:rPr lang="en-US" dirty="0"/>
              <a:t>Introduction</a:t>
            </a:r>
            <a:endParaRPr lang="en-IN" dirty="0"/>
          </a:p>
        </p:txBody>
      </p:sp>
      <p:sp>
        <p:nvSpPr>
          <p:cNvPr id="4" name="Rectangle 3">
            <a:extLst>
              <a:ext uri="{FF2B5EF4-FFF2-40B4-BE49-F238E27FC236}">
                <a16:creationId xmlns:a16="http://schemas.microsoft.com/office/drawing/2014/main" id="{4527094D-16A4-498A-9F64-A730049E5D9E}"/>
              </a:ext>
            </a:extLst>
          </p:cNvPr>
          <p:cNvSpPr/>
          <p:nvPr/>
        </p:nvSpPr>
        <p:spPr>
          <a:xfrm>
            <a:off x="357683" y="1533388"/>
            <a:ext cx="3485351" cy="904137"/>
          </a:xfrm>
          <a:prstGeom prst="rect">
            <a:avLst/>
          </a:prstGeom>
          <a:solidFill>
            <a:srgbClr val="44525A"/>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Bahnschrift" panose="020B0502040204020203" pitchFamily="34" charset="0"/>
              </a:rPr>
              <a:t>I</a:t>
            </a:r>
            <a:r>
              <a:rPr lang="en-US" sz="2800" b="0" i="0" dirty="0">
                <a:solidFill>
                  <a:schemeClr val="bg1"/>
                </a:solidFill>
                <a:effectLst/>
                <a:latin typeface="Bahnschrift" panose="020B0502040204020203" pitchFamily="34" charset="0"/>
              </a:rPr>
              <a:t>ndex structures for big data analytics</a:t>
            </a:r>
            <a:endParaRPr lang="en-IN" sz="2800" dirty="0">
              <a:solidFill>
                <a:schemeClr val="bg1"/>
              </a:solidFill>
              <a:latin typeface="Bahnschrift" panose="020B0502040204020203" pitchFamily="34" charset="0"/>
            </a:endParaRPr>
          </a:p>
        </p:txBody>
      </p:sp>
      <p:sp>
        <p:nvSpPr>
          <p:cNvPr id="5" name="Rectangle 4">
            <a:extLst>
              <a:ext uri="{FF2B5EF4-FFF2-40B4-BE49-F238E27FC236}">
                <a16:creationId xmlns:a16="http://schemas.microsoft.com/office/drawing/2014/main" id="{C01EB41B-6235-45A0-811C-3ADD1A22F944}"/>
              </a:ext>
            </a:extLst>
          </p:cNvPr>
          <p:cNvSpPr/>
          <p:nvPr/>
        </p:nvSpPr>
        <p:spPr>
          <a:xfrm>
            <a:off x="1954575" y="2825304"/>
            <a:ext cx="3485351" cy="904137"/>
          </a:xfrm>
          <a:prstGeom prst="rect">
            <a:avLst/>
          </a:prstGeom>
          <a:solidFill>
            <a:srgbClr val="44525A">
              <a:alpha val="34000"/>
            </a:srgbClr>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44525A"/>
                </a:solidFill>
                <a:latin typeface="Bahnschrift" panose="020B0502040204020203" pitchFamily="34" charset="0"/>
              </a:rPr>
              <a:t>E</a:t>
            </a:r>
            <a:r>
              <a:rPr lang="en-US" sz="2800" b="0" i="0" dirty="0">
                <a:solidFill>
                  <a:srgbClr val="44525A"/>
                </a:solidFill>
                <a:effectLst/>
                <a:latin typeface="Bahnschrift" panose="020B0502040204020203" pitchFamily="34" charset="0"/>
              </a:rPr>
              <a:t>xploratory analytics</a:t>
            </a:r>
            <a:endParaRPr lang="en-IN" sz="2800" dirty="0">
              <a:solidFill>
                <a:srgbClr val="44525A"/>
              </a:solidFill>
              <a:latin typeface="Bahnschrift" panose="020B0502040204020203" pitchFamily="34" charset="0"/>
            </a:endParaRPr>
          </a:p>
        </p:txBody>
      </p:sp>
      <p:sp>
        <p:nvSpPr>
          <p:cNvPr id="6" name="Rectangle 5">
            <a:extLst>
              <a:ext uri="{FF2B5EF4-FFF2-40B4-BE49-F238E27FC236}">
                <a16:creationId xmlns:a16="http://schemas.microsoft.com/office/drawing/2014/main" id="{6E137480-6F0A-4D90-BA39-525683C9B84A}"/>
              </a:ext>
            </a:extLst>
          </p:cNvPr>
          <p:cNvSpPr/>
          <p:nvPr/>
        </p:nvSpPr>
        <p:spPr>
          <a:xfrm>
            <a:off x="3551467" y="4117220"/>
            <a:ext cx="3485351" cy="904137"/>
          </a:xfrm>
          <a:prstGeom prst="rect">
            <a:avLst/>
          </a:prstGeom>
          <a:solidFill>
            <a:srgbClr val="44525A">
              <a:alpha val="34000"/>
            </a:srgbClr>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44525A"/>
                </a:solidFill>
                <a:latin typeface="Bahnschrift" panose="020B0502040204020203" pitchFamily="34" charset="0"/>
              </a:rPr>
              <a:t>B</a:t>
            </a:r>
            <a:r>
              <a:rPr lang="en-US" sz="2800" b="0" i="0" dirty="0">
                <a:solidFill>
                  <a:srgbClr val="44525A"/>
                </a:solidFill>
                <a:effectLst/>
                <a:latin typeface="Bahnschrift" panose="020B0502040204020203" pitchFamily="34" charset="0"/>
              </a:rPr>
              <a:t>ig data management</a:t>
            </a:r>
            <a:endParaRPr lang="en-IN" sz="2800" dirty="0">
              <a:solidFill>
                <a:srgbClr val="44525A"/>
              </a:solidFill>
              <a:latin typeface="Bahnschrift" panose="020B0502040204020203" pitchFamily="34" charset="0"/>
            </a:endParaRPr>
          </a:p>
        </p:txBody>
      </p:sp>
      <p:sp>
        <p:nvSpPr>
          <p:cNvPr id="7" name="Rectangle 6">
            <a:extLst>
              <a:ext uri="{FF2B5EF4-FFF2-40B4-BE49-F238E27FC236}">
                <a16:creationId xmlns:a16="http://schemas.microsoft.com/office/drawing/2014/main" id="{D5522B30-5928-4604-B429-2FAF82E4D774}"/>
              </a:ext>
            </a:extLst>
          </p:cNvPr>
          <p:cNvSpPr/>
          <p:nvPr/>
        </p:nvSpPr>
        <p:spPr>
          <a:xfrm>
            <a:off x="5148358" y="5409136"/>
            <a:ext cx="3485351" cy="904137"/>
          </a:xfrm>
          <a:prstGeom prst="rect">
            <a:avLst/>
          </a:prstGeom>
          <a:solidFill>
            <a:srgbClr val="44525A">
              <a:alpha val="34000"/>
            </a:srgbClr>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dirty="0">
                <a:solidFill>
                  <a:srgbClr val="44525A"/>
                </a:solidFill>
                <a:effectLst/>
                <a:latin typeface="Bahnschrift" panose="020B0502040204020203" pitchFamily="34" charset="0"/>
              </a:rPr>
              <a:t>Scientific computing</a:t>
            </a:r>
            <a:endParaRPr lang="en-IN" sz="2800" dirty="0">
              <a:solidFill>
                <a:srgbClr val="44525A"/>
              </a:solidFill>
              <a:latin typeface="Bahnschrift" panose="020B0502040204020203" pitchFamily="34" charset="0"/>
            </a:endParaRPr>
          </a:p>
        </p:txBody>
      </p:sp>
    </p:spTree>
    <p:extLst>
      <p:ext uri="{BB962C8B-B14F-4D97-AF65-F5344CB8AC3E}">
        <p14:creationId xmlns:p14="http://schemas.microsoft.com/office/powerpoint/2010/main" val="2271032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D2782B-62DC-45D9-97E0-04065C3B61D2}"/>
              </a:ext>
            </a:extLst>
          </p:cNvPr>
          <p:cNvSpPr>
            <a:spLocks noGrp="1"/>
          </p:cNvSpPr>
          <p:nvPr>
            <p:ph type="title"/>
          </p:nvPr>
        </p:nvSpPr>
        <p:spPr/>
        <p:txBody>
          <a:bodyPr vert="horz" lIns="91440" tIns="45720" rIns="91440" bIns="45720" rtlCol="0" anchor="ctr">
            <a:normAutofit/>
          </a:bodyPr>
          <a:lstStyle/>
          <a:p>
            <a:r>
              <a:rPr lang="en-US" dirty="0"/>
              <a:t>Introduction</a:t>
            </a:r>
            <a:endParaRPr lang="en-IN" dirty="0"/>
          </a:p>
        </p:txBody>
      </p:sp>
      <p:sp>
        <p:nvSpPr>
          <p:cNvPr id="4" name="Rectangle 3">
            <a:extLst>
              <a:ext uri="{FF2B5EF4-FFF2-40B4-BE49-F238E27FC236}">
                <a16:creationId xmlns:a16="http://schemas.microsoft.com/office/drawing/2014/main" id="{4527094D-16A4-498A-9F64-A730049E5D9E}"/>
              </a:ext>
            </a:extLst>
          </p:cNvPr>
          <p:cNvSpPr/>
          <p:nvPr/>
        </p:nvSpPr>
        <p:spPr>
          <a:xfrm>
            <a:off x="357683" y="1533388"/>
            <a:ext cx="3485351" cy="904137"/>
          </a:xfrm>
          <a:prstGeom prst="rect">
            <a:avLst/>
          </a:prstGeom>
          <a:solidFill>
            <a:srgbClr val="44525A">
              <a:alpha val="34000"/>
            </a:srgbClr>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44525A"/>
                </a:solidFill>
                <a:latin typeface="Bahnschrift" panose="020B0502040204020203" pitchFamily="34" charset="0"/>
              </a:rPr>
              <a:t>I</a:t>
            </a:r>
            <a:r>
              <a:rPr lang="en-US" sz="2800" b="0" i="0" dirty="0">
                <a:solidFill>
                  <a:srgbClr val="44525A"/>
                </a:solidFill>
                <a:effectLst/>
                <a:latin typeface="Bahnschrift" panose="020B0502040204020203" pitchFamily="34" charset="0"/>
              </a:rPr>
              <a:t>ndex structures for big data analytics</a:t>
            </a:r>
            <a:endParaRPr lang="en-IN" sz="2800" dirty="0">
              <a:solidFill>
                <a:srgbClr val="44525A"/>
              </a:solidFill>
              <a:latin typeface="Bahnschrift" panose="020B0502040204020203" pitchFamily="34" charset="0"/>
            </a:endParaRPr>
          </a:p>
        </p:txBody>
      </p:sp>
      <p:sp>
        <p:nvSpPr>
          <p:cNvPr id="5" name="Rectangle 4">
            <a:extLst>
              <a:ext uri="{FF2B5EF4-FFF2-40B4-BE49-F238E27FC236}">
                <a16:creationId xmlns:a16="http://schemas.microsoft.com/office/drawing/2014/main" id="{C01EB41B-6235-45A0-811C-3ADD1A22F944}"/>
              </a:ext>
            </a:extLst>
          </p:cNvPr>
          <p:cNvSpPr/>
          <p:nvPr/>
        </p:nvSpPr>
        <p:spPr>
          <a:xfrm>
            <a:off x="1954575" y="2825304"/>
            <a:ext cx="3485351" cy="904137"/>
          </a:xfrm>
          <a:prstGeom prst="rect">
            <a:avLst/>
          </a:prstGeom>
          <a:solidFill>
            <a:srgbClr val="44525A"/>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bg1"/>
                </a:solidFill>
                <a:latin typeface="Bahnschrift" panose="020B0502040204020203" pitchFamily="34" charset="0"/>
              </a:rPr>
              <a:t>E</a:t>
            </a:r>
            <a:r>
              <a:rPr lang="en-US" sz="2800" dirty="0">
                <a:solidFill>
                  <a:schemeClr val="bg1"/>
                </a:solidFill>
                <a:latin typeface="Bahnschrift" panose="020B0502040204020203" pitchFamily="34" charset="0"/>
              </a:rPr>
              <a:t>xploratory analytics</a:t>
            </a:r>
            <a:endParaRPr lang="en-IN" sz="2800" dirty="0">
              <a:solidFill>
                <a:schemeClr val="bg1"/>
              </a:solidFill>
              <a:latin typeface="Bahnschrift" panose="020B0502040204020203" pitchFamily="34" charset="0"/>
            </a:endParaRPr>
          </a:p>
        </p:txBody>
      </p:sp>
      <p:sp>
        <p:nvSpPr>
          <p:cNvPr id="6" name="Rectangle 5">
            <a:extLst>
              <a:ext uri="{FF2B5EF4-FFF2-40B4-BE49-F238E27FC236}">
                <a16:creationId xmlns:a16="http://schemas.microsoft.com/office/drawing/2014/main" id="{6E137480-6F0A-4D90-BA39-525683C9B84A}"/>
              </a:ext>
            </a:extLst>
          </p:cNvPr>
          <p:cNvSpPr/>
          <p:nvPr/>
        </p:nvSpPr>
        <p:spPr>
          <a:xfrm>
            <a:off x="3551467" y="4117220"/>
            <a:ext cx="3485351" cy="904137"/>
          </a:xfrm>
          <a:prstGeom prst="rect">
            <a:avLst/>
          </a:prstGeom>
          <a:solidFill>
            <a:srgbClr val="44525A">
              <a:alpha val="34000"/>
            </a:srgbClr>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44525A"/>
                </a:solidFill>
                <a:latin typeface="Bahnschrift" panose="020B0502040204020203" pitchFamily="34" charset="0"/>
              </a:rPr>
              <a:t>B</a:t>
            </a:r>
            <a:r>
              <a:rPr lang="en-US" sz="2800" b="0" i="0" dirty="0">
                <a:solidFill>
                  <a:srgbClr val="44525A"/>
                </a:solidFill>
                <a:effectLst/>
                <a:latin typeface="Bahnschrift" panose="020B0502040204020203" pitchFamily="34" charset="0"/>
              </a:rPr>
              <a:t>ig data management</a:t>
            </a:r>
            <a:endParaRPr lang="en-IN" sz="2800" dirty="0">
              <a:solidFill>
                <a:srgbClr val="44525A"/>
              </a:solidFill>
              <a:latin typeface="Bahnschrift" panose="020B0502040204020203" pitchFamily="34" charset="0"/>
            </a:endParaRPr>
          </a:p>
        </p:txBody>
      </p:sp>
      <p:sp>
        <p:nvSpPr>
          <p:cNvPr id="7" name="Rectangle 6">
            <a:extLst>
              <a:ext uri="{FF2B5EF4-FFF2-40B4-BE49-F238E27FC236}">
                <a16:creationId xmlns:a16="http://schemas.microsoft.com/office/drawing/2014/main" id="{D5522B30-5928-4604-B429-2FAF82E4D774}"/>
              </a:ext>
            </a:extLst>
          </p:cNvPr>
          <p:cNvSpPr/>
          <p:nvPr/>
        </p:nvSpPr>
        <p:spPr>
          <a:xfrm>
            <a:off x="5148358" y="5409136"/>
            <a:ext cx="3485351" cy="904137"/>
          </a:xfrm>
          <a:prstGeom prst="rect">
            <a:avLst/>
          </a:prstGeom>
          <a:solidFill>
            <a:srgbClr val="44525A">
              <a:alpha val="34000"/>
            </a:srgbClr>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dirty="0">
                <a:solidFill>
                  <a:srgbClr val="44525A"/>
                </a:solidFill>
                <a:effectLst/>
                <a:latin typeface="Bahnschrift" panose="020B0502040204020203" pitchFamily="34" charset="0"/>
              </a:rPr>
              <a:t>Scientific computing</a:t>
            </a:r>
            <a:endParaRPr lang="en-IN" sz="2800" dirty="0">
              <a:solidFill>
                <a:srgbClr val="44525A"/>
              </a:solidFill>
              <a:latin typeface="Bahnschrift" panose="020B0502040204020203" pitchFamily="34" charset="0"/>
            </a:endParaRPr>
          </a:p>
        </p:txBody>
      </p:sp>
    </p:spTree>
    <p:extLst>
      <p:ext uri="{BB962C8B-B14F-4D97-AF65-F5344CB8AC3E}">
        <p14:creationId xmlns:p14="http://schemas.microsoft.com/office/powerpoint/2010/main" val="3950949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D2782B-62DC-45D9-97E0-04065C3B61D2}"/>
              </a:ext>
            </a:extLst>
          </p:cNvPr>
          <p:cNvSpPr>
            <a:spLocks noGrp="1"/>
          </p:cNvSpPr>
          <p:nvPr>
            <p:ph type="title"/>
          </p:nvPr>
        </p:nvSpPr>
        <p:spPr/>
        <p:txBody>
          <a:bodyPr vert="horz" lIns="91440" tIns="45720" rIns="91440" bIns="45720" rtlCol="0" anchor="ctr">
            <a:normAutofit/>
          </a:bodyPr>
          <a:lstStyle/>
          <a:p>
            <a:r>
              <a:rPr lang="en-US" dirty="0"/>
              <a:t>Introduction</a:t>
            </a:r>
            <a:endParaRPr lang="en-IN" dirty="0"/>
          </a:p>
        </p:txBody>
      </p:sp>
      <p:sp>
        <p:nvSpPr>
          <p:cNvPr id="4" name="Rectangle 3">
            <a:extLst>
              <a:ext uri="{FF2B5EF4-FFF2-40B4-BE49-F238E27FC236}">
                <a16:creationId xmlns:a16="http://schemas.microsoft.com/office/drawing/2014/main" id="{4527094D-16A4-498A-9F64-A730049E5D9E}"/>
              </a:ext>
            </a:extLst>
          </p:cNvPr>
          <p:cNvSpPr/>
          <p:nvPr/>
        </p:nvSpPr>
        <p:spPr>
          <a:xfrm>
            <a:off x="357683" y="1533388"/>
            <a:ext cx="3485351" cy="904137"/>
          </a:xfrm>
          <a:prstGeom prst="rect">
            <a:avLst/>
          </a:prstGeom>
          <a:solidFill>
            <a:srgbClr val="44525A">
              <a:alpha val="34000"/>
            </a:srgbClr>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44525A"/>
                </a:solidFill>
                <a:latin typeface="Bahnschrift" panose="020B0502040204020203" pitchFamily="34" charset="0"/>
              </a:rPr>
              <a:t>I</a:t>
            </a:r>
            <a:r>
              <a:rPr lang="en-US" sz="2800" b="0" i="0" dirty="0">
                <a:solidFill>
                  <a:srgbClr val="44525A"/>
                </a:solidFill>
                <a:effectLst/>
                <a:latin typeface="Bahnschrift" panose="020B0502040204020203" pitchFamily="34" charset="0"/>
              </a:rPr>
              <a:t>ndex structures for big data analytics</a:t>
            </a:r>
            <a:endParaRPr lang="en-IN" sz="2800" dirty="0">
              <a:solidFill>
                <a:srgbClr val="44525A"/>
              </a:solidFill>
              <a:latin typeface="Bahnschrift" panose="020B0502040204020203" pitchFamily="34" charset="0"/>
            </a:endParaRPr>
          </a:p>
        </p:txBody>
      </p:sp>
      <p:sp>
        <p:nvSpPr>
          <p:cNvPr id="5" name="Rectangle 4">
            <a:extLst>
              <a:ext uri="{FF2B5EF4-FFF2-40B4-BE49-F238E27FC236}">
                <a16:creationId xmlns:a16="http://schemas.microsoft.com/office/drawing/2014/main" id="{C01EB41B-6235-45A0-811C-3ADD1A22F944}"/>
              </a:ext>
            </a:extLst>
          </p:cNvPr>
          <p:cNvSpPr/>
          <p:nvPr/>
        </p:nvSpPr>
        <p:spPr>
          <a:xfrm>
            <a:off x="1954575" y="2825304"/>
            <a:ext cx="3485351" cy="904137"/>
          </a:xfrm>
          <a:prstGeom prst="rect">
            <a:avLst/>
          </a:prstGeom>
          <a:solidFill>
            <a:srgbClr val="44525A">
              <a:alpha val="34000"/>
            </a:srgbClr>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44525A"/>
                </a:solidFill>
                <a:latin typeface="Bahnschrift" panose="020B0502040204020203" pitchFamily="34" charset="0"/>
              </a:rPr>
              <a:t>E</a:t>
            </a:r>
            <a:r>
              <a:rPr lang="en-US" sz="2800" b="0" i="0" dirty="0">
                <a:solidFill>
                  <a:srgbClr val="44525A"/>
                </a:solidFill>
                <a:effectLst/>
                <a:latin typeface="Bahnschrift" panose="020B0502040204020203" pitchFamily="34" charset="0"/>
              </a:rPr>
              <a:t>xploratory analytics</a:t>
            </a:r>
            <a:endParaRPr lang="en-IN" sz="2800" dirty="0">
              <a:solidFill>
                <a:srgbClr val="44525A"/>
              </a:solidFill>
              <a:latin typeface="Bahnschrift" panose="020B0502040204020203" pitchFamily="34" charset="0"/>
            </a:endParaRPr>
          </a:p>
        </p:txBody>
      </p:sp>
      <p:sp>
        <p:nvSpPr>
          <p:cNvPr id="6" name="Rectangle 5">
            <a:extLst>
              <a:ext uri="{FF2B5EF4-FFF2-40B4-BE49-F238E27FC236}">
                <a16:creationId xmlns:a16="http://schemas.microsoft.com/office/drawing/2014/main" id="{6E137480-6F0A-4D90-BA39-525683C9B84A}"/>
              </a:ext>
            </a:extLst>
          </p:cNvPr>
          <p:cNvSpPr/>
          <p:nvPr/>
        </p:nvSpPr>
        <p:spPr>
          <a:xfrm>
            <a:off x="3551467" y="4117220"/>
            <a:ext cx="3485351" cy="904137"/>
          </a:xfrm>
          <a:prstGeom prst="rect">
            <a:avLst/>
          </a:prstGeom>
          <a:solidFill>
            <a:srgbClr val="44525A"/>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Bahnschrift" panose="020B0502040204020203" pitchFamily="34" charset="0"/>
              </a:rPr>
              <a:t>Big data management</a:t>
            </a:r>
            <a:endParaRPr lang="en-IN" sz="2800" dirty="0">
              <a:solidFill>
                <a:schemeClr val="bg1"/>
              </a:solidFill>
              <a:latin typeface="Bahnschrift" panose="020B0502040204020203" pitchFamily="34" charset="0"/>
            </a:endParaRPr>
          </a:p>
        </p:txBody>
      </p:sp>
      <p:sp>
        <p:nvSpPr>
          <p:cNvPr id="7" name="Rectangle 6">
            <a:extLst>
              <a:ext uri="{FF2B5EF4-FFF2-40B4-BE49-F238E27FC236}">
                <a16:creationId xmlns:a16="http://schemas.microsoft.com/office/drawing/2014/main" id="{D5522B30-5928-4604-B429-2FAF82E4D774}"/>
              </a:ext>
            </a:extLst>
          </p:cNvPr>
          <p:cNvSpPr/>
          <p:nvPr/>
        </p:nvSpPr>
        <p:spPr>
          <a:xfrm>
            <a:off x="5148358" y="5409136"/>
            <a:ext cx="3485351" cy="904137"/>
          </a:xfrm>
          <a:prstGeom prst="rect">
            <a:avLst/>
          </a:prstGeom>
          <a:solidFill>
            <a:srgbClr val="44525A">
              <a:alpha val="34000"/>
            </a:srgbClr>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dirty="0">
                <a:solidFill>
                  <a:srgbClr val="44525A"/>
                </a:solidFill>
                <a:effectLst/>
                <a:latin typeface="Bahnschrift" panose="020B0502040204020203" pitchFamily="34" charset="0"/>
              </a:rPr>
              <a:t>Scientific computing</a:t>
            </a:r>
            <a:endParaRPr lang="en-IN" sz="2800" dirty="0">
              <a:solidFill>
                <a:srgbClr val="44525A"/>
              </a:solidFill>
              <a:latin typeface="Bahnschrift" panose="020B0502040204020203" pitchFamily="34" charset="0"/>
            </a:endParaRPr>
          </a:p>
        </p:txBody>
      </p:sp>
    </p:spTree>
    <p:extLst>
      <p:ext uri="{BB962C8B-B14F-4D97-AF65-F5344CB8AC3E}">
        <p14:creationId xmlns:p14="http://schemas.microsoft.com/office/powerpoint/2010/main" val="3403105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D2782B-62DC-45D9-97E0-04065C3B61D2}"/>
              </a:ext>
            </a:extLst>
          </p:cNvPr>
          <p:cNvSpPr>
            <a:spLocks noGrp="1"/>
          </p:cNvSpPr>
          <p:nvPr>
            <p:ph type="title"/>
          </p:nvPr>
        </p:nvSpPr>
        <p:spPr/>
        <p:txBody>
          <a:bodyPr vert="horz" lIns="91440" tIns="45720" rIns="91440" bIns="45720" rtlCol="0" anchor="ctr">
            <a:normAutofit/>
          </a:bodyPr>
          <a:lstStyle/>
          <a:p>
            <a:r>
              <a:rPr lang="en-US" dirty="0"/>
              <a:t>Introduction</a:t>
            </a:r>
            <a:endParaRPr lang="en-IN" dirty="0"/>
          </a:p>
        </p:txBody>
      </p:sp>
      <p:sp>
        <p:nvSpPr>
          <p:cNvPr id="4" name="Rectangle 3">
            <a:extLst>
              <a:ext uri="{FF2B5EF4-FFF2-40B4-BE49-F238E27FC236}">
                <a16:creationId xmlns:a16="http://schemas.microsoft.com/office/drawing/2014/main" id="{4527094D-16A4-498A-9F64-A730049E5D9E}"/>
              </a:ext>
            </a:extLst>
          </p:cNvPr>
          <p:cNvSpPr/>
          <p:nvPr/>
        </p:nvSpPr>
        <p:spPr>
          <a:xfrm>
            <a:off x="357683" y="1533388"/>
            <a:ext cx="3485351" cy="904137"/>
          </a:xfrm>
          <a:prstGeom prst="rect">
            <a:avLst/>
          </a:prstGeom>
          <a:solidFill>
            <a:srgbClr val="44525A">
              <a:alpha val="34000"/>
            </a:srgbClr>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44525A"/>
                </a:solidFill>
                <a:latin typeface="Bahnschrift" panose="020B0502040204020203" pitchFamily="34" charset="0"/>
              </a:rPr>
              <a:t>I</a:t>
            </a:r>
            <a:r>
              <a:rPr lang="en-US" sz="2800" b="0" i="0" dirty="0">
                <a:solidFill>
                  <a:srgbClr val="44525A"/>
                </a:solidFill>
                <a:effectLst/>
                <a:latin typeface="Bahnschrift" panose="020B0502040204020203" pitchFamily="34" charset="0"/>
              </a:rPr>
              <a:t>ndex structures for big data analytics</a:t>
            </a:r>
            <a:endParaRPr lang="en-IN" sz="2800" dirty="0">
              <a:solidFill>
                <a:srgbClr val="44525A"/>
              </a:solidFill>
              <a:latin typeface="Bahnschrift" panose="020B0502040204020203" pitchFamily="34" charset="0"/>
            </a:endParaRPr>
          </a:p>
        </p:txBody>
      </p:sp>
      <p:sp>
        <p:nvSpPr>
          <p:cNvPr id="5" name="Rectangle 4">
            <a:extLst>
              <a:ext uri="{FF2B5EF4-FFF2-40B4-BE49-F238E27FC236}">
                <a16:creationId xmlns:a16="http://schemas.microsoft.com/office/drawing/2014/main" id="{C01EB41B-6235-45A0-811C-3ADD1A22F944}"/>
              </a:ext>
            </a:extLst>
          </p:cNvPr>
          <p:cNvSpPr/>
          <p:nvPr/>
        </p:nvSpPr>
        <p:spPr>
          <a:xfrm>
            <a:off x="1954575" y="2825304"/>
            <a:ext cx="3485351" cy="904137"/>
          </a:xfrm>
          <a:prstGeom prst="rect">
            <a:avLst/>
          </a:prstGeom>
          <a:solidFill>
            <a:srgbClr val="44525A">
              <a:alpha val="34000"/>
            </a:srgbClr>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44525A"/>
                </a:solidFill>
                <a:latin typeface="Bahnschrift" panose="020B0502040204020203" pitchFamily="34" charset="0"/>
              </a:rPr>
              <a:t>E</a:t>
            </a:r>
            <a:r>
              <a:rPr lang="en-US" sz="2800" b="0" i="0" dirty="0">
                <a:solidFill>
                  <a:srgbClr val="44525A"/>
                </a:solidFill>
                <a:effectLst/>
                <a:latin typeface="Bahnschrift" panose="020B0502040204020203" pitchFamily="34" charset="0"/>
              </a:rPr>
              <a:t>xploratory analytics</a:t>
            </a:r>
            <a:endParaRPr lang="en-IN" sz="2800" dirty="0">
              <a:solidFill>
                <a:srgbClr val="44525A"/>
              </a:solidFill>
              <a:latin typeface="Bahnschrift" panose="020B0502040204020203" pitchFamily="34" charset="0"/>
            </a:endParaRPr>
          </a:p>
        </p:txBody>
      </p:sp>
      <p:sp>
        <p:nvSpPr>
          <p:cNvPr id="6" name="Rectangle 5">
            <a:extLst>
              <a:ext uri="{FF2B5EF4-FFF2-40B4-BE49-F238E27FC236}">
                <a16:creationId xmlns:a16="http://schemas.microsoft.com/office/drawing/2014/main" id="{6E137480-6F0A-4D90-BA39-525683C9B84A}"/>
              </a:ext>
            </a:extLst>
          </p:cNvPr>
          <p:cNvSpPr/>
          <p:nvPr/>
        </p:nvSpPr>
        <p:spPr>
          <a:xfrm>
            <a:off x="3551467" y="4117220"/>
            <a:ext cx="3485351" cy="904137"/>
          </a:xfrm>
          <a:prstGeom prst="rect">
            <a:avLst/>
          </a:prstGeom>
          <a:solidFill>
            <a:srgbClr val="44525A">
              <a:alpha val="34000"/>
            </a:srgbClr>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44525A"/>
                </a:solidFill>
                <a:latin typeface="Bahnschrift" panose="020B0502040204020203" pitchFamily="34" charset="0"/>
              </a:rPr>
              <a:t>B</a:t>
            </a:r>
            <a:r>
              <a:rPr lang="en-US" sz="2800" b="0" i="0" dirty="0">
                <a:solidFill>
                  <a:srgbClr val="44525A"/>
                </a:solidFill>
                <a:effectLst/>
                <a:latin typeface="Bahnschrift" panose="020B0502040204020203" pitchFamily="34" charset="0"/>
              </a:rPr>
              <a:t>ig data management</a:t>
            </a:r>
            <a:endParaRPr lang="en-IN" sz="2800" dirty="0">
              <a:solidFill>
                <a:srgbClr val="44525A"/>
              </a:solidFill>
              <a:latin typeface="Bahnschrift" panose="020B0502040204020203" pitchFamily="34" charset="0"/>
            </a:endParaRPr>
          </a:p>
        </p:txBody>
      </p:sp>
      <p:sp>
        <p:nvSpPr>
          <p:cNvPr id="7" name="Rectangle 6">
            <a:extLst>
              <a:ext uri="{FF2B5EF4-FFF2-40B4-BE49-F238E27FC236}">
                <a16:creationId xmlns:a16="http://schemas.microsoft.com/office/drawing/2014/main" id="{D5522B30-5928-4604-B429-2FAF82E4D774}"/>
              </a:ext>
            </a:extLst>
          </p:cNvPr>
          <p:cNvSpPr/>
          <p:nvPr/>
        </p:nvSpPr>
        <p:spPr>
          <a:xfrm>
            <a:off x="5148358" y="5409136"/>
            <a:ext cx="3485351" cy="904137"/>
          </a:xfrm>
          <a:prstGeom prst="rect">
            <a:avLst/>
          </a:prstGeom>
          <a:solidFill>
            <a:srgbClr val="44525A"/>
          </a:solidFill>
          <a:ln>
            <a:solidFill>
              <a:srgbClr val="44525A"/>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Bahnschrift" panose="020B0502040204020203" pitchFamily="34" charset="0"/>
              </a:rPr>
              <a:t>Scientific computing</a:t>
            </a:r>
            <a:endParaRPr lang="en-IN" sz="28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1025535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B33A3A1-4112-4DE6-B897-86F108A92C41}"/>
              </a:ext>
            </a:extLst>
          </p:cNvPr>
          <p:cNvPicPr>
            <a:picLocks noGrp="1" noChangeAspect="1"/>
          </p:cNvPicPr>
          <p:nvPr>
            <p:ph idx="1"/>
          </p:nvPr>
        </p:nvPicPr>
        <p:blipFill>
          <a:blip r:embed="rId2"/>
          <a:stretch>
            <a:fillRect/>
          </a:stretch>
        </p:blipFill>
        <p:spPr>
          <a:xfrm>
            <a:off x="1297708" y="4251556"/>
            <a:ext cx="6548584" cy="2359731"/>
          </a:xfrm>
          <a:prstGeom prst="rect">
            <a:avLst/>
          </a:prstGeom>
          <a:effectLst>
            <a:outerShdw blurRad="63500" sx="102000" sy="102000" algn="ctr" rotWithShape="0">
              <a:prstClr val="black">
                <a:alpha val="40000"/>
              </a:prstClr>
            </a:outerShdw>
          </a:effectLst>
        </p:spPr>
      </p:pic>
      <p:sp>
        <p:nvSpPr>
          <p:cNvPr id="3" name="Title 2">
            <a:extLst>
              <a:ext uri="{FF2B5EF4-FFF2-40B4-BE49-F238E27FC236}">
                <a16:creationId xmlns:a16="http://schemas.microsoft.com/office/drawing/2014/main" id="{A1A96444-69AF-41D6-8E1B-70AC5AB2C7A3}"/>
              </a:ext>
            </a:extLst>
          </p:cNvPr>
          <p:cNvSpPr>
            <a:spLocks noGrp="1"/>
          </p:cNvSpPr>
          <p:nvPr>
            <p:ph type="title"/>
          </p:nvPr>
        </p:nvSpPr>
        <p:spPr/>
        <p:txBody>
          <a:bodyPr vert="horz" lIns="91440" tIns="45720" rIns="91440" bIns="45720" rtlCol="0" anchor="ctr">
            <a:normAutofit/>
          </a:bodyPr>
          <a:lstStyle/>
          <a:p>
            <a:r>
              <a:rPr lang="en-US" dirty="0"/>
              <a:t>Hadoop</a:t>
            </a:r>
            <a:endParaRPr lang="en-IN" dirty="0"/>
          </a:p>
        </p:txBody>
      </p:sp>
      <p:sp>
        <p:nvSpPr>
          <p:cNvPr id="6" name="TextBox 5">
            <a:extLst>
              <a:ext uri="{FF2B5EF4-FFF2-40B4-BE49-F238E27FC236}">
                <a16:creationId xmlns:a16="http://schemas.microsoft.com/office/drawing/2014/main" id="{06049D6A-D159-4F3F-BA83-8FC1701699E9}"/>
              </a:ext>
            </a:extLst>
          </p:cNvPr>
          <p:cNvSpPr txBox="1"/>
          <p:nvPr/>
        </p:nvSpPr>
        <p:spPr>
          <a:xfrm>
            <a:off x="338362" y="1426578"/>
            <a:ext cx="8523514" cy="2590068"/>
          </a:xfrm>
          <a:prstGeom prst="rect">
            <a:avLst/>
          </a:prstGeom>
          <a:noFill/>
        </p:spPr>
        <p:txBody>
          <a:bodyPr wrap="square" anchor="ctr">
            <a:spAutoFit/>
          </a:bodyPr>
          <a:lstStyle/>
          <a:p>
            <a:pPr marL="342900" indent="-342900" algn="just">
              <a:lnSpc>
                <a:spcPct val="150000"/>
              </a:lnSpc>
              <a:buFont typeface="Arial" panose="020B0604020202020204" pitchFamily="34" charset="0"/>
              <a:buChar char="•"/>
            </a:pPr>
            <a:r>
              <a:rPr lang="en-US" sz="2800" b="0" dirty="0">
                <a:effectLst/>
                <a:latin typeface="Bahnschrift" panose="020B0502040204020203" pitchFamily="34" charset="0"/>
              </a:rPr>
              <a:t>Hadoop is an Open-Source Tool that available in public.</a:t>
            </a:r>
          </a:p>
          <a:p>
            <a:pPr marL="342900" indent="-342900" algn="just">
              <a:lnSpc>
                <a:spcPct val="150000"/>
              </a:lnSpc>
              <a:buFont typeface="Arial" panose="020B0604020202020204" pitchFamily="34" charset="0"/>
              <a:buChar char="•"/>
            </a:pPr>
            <a:r>
              <a:rPr lang="en-US" sz="2800" b="0" dirty="0">
                <a:effectLst/>
                <a:latin typeface="Bahnschrift" panose="020B0502040204020203" pitchFamily="34" charset="0"/>
              </a:rPr>
              <a:t>It is a framework that provides too many services like Pig, Impala, Hive, HBase, etc.</a:t>
            </a:r>
            <a:endParaRPr lang="en-IN" sz="2800" dirty="0">
              <a:latin typeface="Bahnschrift" panose="020B0502040204020203" pitchFamily="34" charset="0"/>
            </a:endParaRPr>
          </a:p>
        </p:txBody>
      </p:sp>
    </p:spTree>
    <p:extLst>
      <p:ext uri="{BB962C8B-B14F-4D97-AF65-F5344CB8AC3E}">
        <p14:creationId xmlns:p14="http://schemas.microsoft.com/office/powerpoint/2010/main" val="2578516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B0E6A4-2F7D-4FB2-9922-2614B698FD21}"/>
              </a:ext>
            </a:extLst>
          </p:cNvPr>
          <p:cNvSpPr>
            <a:spLocks noGrp="1"/>
          </p:cNvSpPr>
          <p:nvPr>
            <p:ph idx="1"/>
          </p:nvPr>
        </p:nvSpPr>
        <p:spPr>
          <a:xfrm>
            <a:off x="338361" y="1497517"/>
            <a:ext cx="8544382" cy="5099226"/>
          </a:xfrm>
        </p:spPr>
        <p:txBody>
          <a:bodyPr numCol="2">
            <a:normAutofit fontScale="40000" lnSpcReduction="20000"/>
          </a:bodyPr>
          <a:lstStyle/>
          <a:p>
            <a:pPr>
              <a:buFont typeface="Arial" panose="020B0604020202020204" pitchFamily="34" charset="0"/>
              <a:buChar char="•"/>
              <a:tabLst>
                <a:tab pos="293688" algn="l"/>
              </a:tabLst>
            </a:pPr>
            <a:r>
              <a:rPr lang="en-IN" sz="5100" b="0" i="0" dirty="0">
                <a:solidFill>
                  <a:srgbClr val="333333"/>
                </a:solidFill>
                <a:effectLst/>
              </a:rPr>
              <a:t>Lucene [Java based text search engine]</a:t>
            </a:r>
          </a:p>
          <a:p>
            <a:pPr>
              <a:buFont typeface="Arial" panose="020B0604020202020204" pitchFamily="34" charset="0"/>
              <a:buChar char="•"/>
              <a:tabLst>
                <a:tab pos="293688" algn="l"/>
              </a:tabLst>
            </a:pPr>
            <a:r>
              <a:rPr lang="en-IN" sz="5100" b="0" i="0" dirty="0">
                <a:solidFill>
                  <a:srgbClr val="333333"/>
                </a:solidFill>
                <a:effectLst/>
              </a:rPr>
              <a:t>Eclipse [Popular IDE written in Java]</a:t>
            </a:r>
          </a:p>
          <a:p>
            <a:pPr>
              <a:buFont typeface="Arial" panose="020B0604020202020204" pitchFamily="34" charset="0"/>
              <a:buChar char="•"/>
              <a:tabLst>
                <a:tab pos="293688" algn="l"/>
              </a:tabLst>
            </a:pPr>
            <a:r>
              <a:rPr lang="en-IN" sz="5100" b="0" i="0" dirty="0">
                <a:solidFill>
                  <a:srgbClr val="333333"/>
                </a:solidFill>
                <a:effectLst/>
              </a:rPr>
              <a:t>HBase [Hadoop NoSQL Database]</a:t>
            </a:r>
          </a:p>
          <a:p>
            <a:pPr>
              <a:buFont typeface="Arial" panose="020B0604020202020204" pitchFamily="34" charset="0"/>
              <a:buChar char="•"/>
              <a:tabLst>
                <a:tab pos="293688" algn="l"/>
              </a:tabLst>
            </a:pPr>
            <a:r>
              <a:rPr lang="en-IN" sz="5100" b="0" i="0" dirty="0">
                <a:solidFill>
                  <a:srgbClr val="333333"/>
                </a:solidFill>
                <a:effectLst/>
              </a:rPr>
              <a:t>Hive [Query data engine]</a:t>
            </a:r>
          </a:p>
          <a:p>
            <a:pPr>
              <a:buFont typeface="Arial" panose="020B0604020202020204" pitchFamily="34" charset="0"/>
              <a:buChar char="•"/>
              <a:tabLst>
                <a:tab pos="293688" algn="l"/>
              </a:tabLst>
            </a:pPr>
            <a:r>
              <a:rPr lang="en-IN" sz="5100" b="0" i="0" dirty="0" err="1">
                <a:solidFill>
                  <a:srgbClr val="333333"/>
                </a:solidFill>
                <a:effectLst/>
              </a:rPr>
              <a:t>Jaql</a:t>
            </a:r>
            <a:r>
              <a:rPr lang="en-IN" sz="5100" b="0" i="0" dirty="0">
                <a:solidFill>
                  <a:srgbClr val="333333"/>
                </a:solidFill>
                <a:effectLst/>
              </a:rPr>
              <a:t> [Query language for JavaScript]</a:t>
            </a:r>
          </a:p>
          <a:p>
            <a:pPr>
              <a:buFont typeface="Arial" panose="020B0604020202020204" pitchFamily="34" charset="0"/>
              <a:buChar char="•"/>
              <a:tabLst>
                <a:tab pos="293688" algn="l"/>
              </a:tabLst>
            </a:pPr>
            <a:r>
              <a:rPr lang="en-IN" sz="5100" b="0" i="0" dirty="0">
                <a:solidFill>
                  <a:srgbClr val="333333"/>
                </a:solidFill>
                <a:effectLst/>
              </a:rPr>
              <a:t>Pig [Large datasets </a:t>
            </a:r>
            <a:r>
              <a:rPr lang="en-IN" sz="5100" b="0" i="0" dirty="0" err="1">
                <a:solidFill>
                  <a:srgbClr val="333333"/>
                </a:solidFill>
                <a:effectLst/>
              </a:rPr>
              <a:t>analyzing</a:t>
            </a:r>
            <a:r>
              <a:rPr lang="en-IN" sz="5100" b="0" i="0" dirty="0">
                <a:solidFill>
                  <a:srgbClr val="333333"/>
                </a:solidFill>
                <a:effectLst/>
              </a:rPr>
              <a:t> platform]</a:t>
            </a:r>
          </a:p>
          <a:p>
            <a:pPr>
              <a:buFont typeface="Arial" panose="020B0604020202020204" pitchFamily="34" charset="0"/>
              <a:buChar char="•"/>
              <a:tabLst>
                <a:tab pos="293688" algn="l"/>
              </a:tabLst>
            </a:pPr>
            <a:r>
              <a:rPr lang="en-IN" sz="5100" b="0" i="0" dirty="0">
                <a:solidFill>
                  <a:srgbClr val="333333"/>
                </a:solidFill>
                <a:effectLst/>
              </a:rPr>
              <a:t>Zookeeper [Centralized configuration service]</a:t>
            </a:r>
          </a:p>
          <a:p>
            <a:pPr>
              <a:buFont typeface="Arial" panose="020B0604020202020204" pitchFamily="34" charset="0"/>
              <a:buChar char="•"/>
              <a:tabLst>
                <a:tab pos="293688" algn="l"/>
              </a:tabLst>
            </a:pPr>
            <a:r>
              <a:rPr lang="en-IN" sz="5100" b="0" i="0" dirty="0">
                <a:solidFill>
                  <a:srgbClr val="333333"/>
                </a:solidFill>
                <a:effectLst/>
              </a:rPr>
              <a:t>Avro [Data serialization system]</a:t>
            </a:r>
          </a:p>
          <a:p>
            <a:pPr>
              <a:buFont typeface="Arial" panose="020B0604020202020204" pitchFamily="34" charset="0"/>
              <a:buChar char="•"/>
              <a:tabLst>
                <a:tab pos="293688" algn="l"/>
              </a:tabLst>
            </a:pPr>
            <a:r>
              <a:rPr lang="en-IN" sz="5100" b="0" i="0" dirty="0">
                <a:solidFill>
                  <a:srgbClr val="333333"/>
                </a:solidFill>
                <a:effectLst/>
              </a:rPr>
              <a:t>UIMA [unstructured analytic framework]</a:t>
            </a:r>
          </a:p>
          <a:p>
            <a:pPr>
              <a:buFont typeface="Arial" panose="020B0604020202020204" pitchFamily="34" charset="0"/>
              <a:buChar char="•"/>
              <a:tabLst>
                <a:tab pos="293688" algn="l"/>
              </a:tabLst>
            </a:pPr>
            <a:r>
              <a:rPr lang="en-IN" sz="5100" b="0" i="0" dirty="0">
                <a:solidFill>
                  <a:srgbClr val="333333"/>
                </a:solidFill>
                <a:effectLst/>
              </a:rPr>
              <a:t>Presto [Distributed SQL query solution]</a:t>
            </a:r>
          </a:p>
          <a:p>
            <a:endParaRPr lang="en-IN" dirty="0"/>
          </a:p>
        </p:txBody>
      </p:sp>
      <p:sp>
        <p:nvSpPr>
          <p:cNvPr id="3" name="Title 2">
            <a:extLst>
              <a:ext uri="{FF2B5EF4-FFF2-40B4-BE49-F238E27FC236}">
                <a16:creationId xmlns:a16="http://schemas.microsoft.com/office/drawing/2014/main" id="{0F6E083B-3154-4805-9B13-C8AA4EB964F3}"/>
              </a:ext>
            </a:extLst>
          </p:cNvPr>
          <p:cNvSpPr>
            <a:spLocks noGrp="1"/>
          </p:cNvSpPr>
          <p:nvPr>
            <p:ph type="title"/>
          </p:nvPr>
        </p:nvSpPr>
        <p:spPr/>
        <p:txBody>
          <a:bodyPr vert="horz" lIns="91440" tIns="45720" rIns="91440" bIns="45720" rtlCol="0" anchor="ctr">
            <a:normAutofit/>
          </a:bodyPr>
          <a:lstStyle/>
          <a:p>
            <a:r>
              <a:rPr lang="en-US" dirty="0"/>
              <a:t>Top Hadoop Related Open-Source Tools</a:t>
            </a:r>
            <a:endParaRPr lang="en-IN" dirty="0"/>
          </a:p>
        </p:txBody>
      </p:sp>
    </p:spTree>
    <p:extLst>
      <p:ext uri="{BB962C8B-B14F-4D97-AF65-F5344CB8AC3E}">
        <p14:creationId xmlns:p14="http://schemas.microsoft.com/office/powerpoint/2010/main" val="3007511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9AB9AA-E6CF-48B7-9DA2-05329E388B12}"/>
              </a:ext>
            </a:extLst>
          </p:cNvPr>
          <p:cNvSpPr>
            <a:spLocks noGrp="1"/>
          </p:cNvSpPr>
          <p:nvPr>
            <p:ph idx="1"/>
          </p:nvPr>
        </p:nvSpPr>
        <p:spPr>
          <a:xfrm>
            <a:off x="338362" y="1368371"/>
            <a:ext cx="8618602" cy="5004884"/>
          </a:xfrm>
        </p:spPr>
        <p:txBody>
          <a:bodyPr>
            <a:normAutofit/>
          </a:bodyPr>
          <a:lstStyle/>
          <a:p>
            <a:pPr marL="0" indent="0" algn="just">
              <a:buNone/>
            </a:pPr>
            <a:r>
              <a:rPr lang="en-US" b="0" i="0" dirty="0">
                <a:solidFill>
                  <a:srgbClr val="000000"/>
                </a:solidFill>
                <a:effectLst/>
              </a:rPr>
              <a:t>Lucene is an open source Java based search library. It is very popular and a fast search library. It is used in Java based applications to add document search capability to any kind of application in a very simple and efficient way.</a:t>
            </a:r>
          </a:p>
        </p:txBody>
      </p:sp>
      <p:sp>
        <p:nvSpPr>
          <p:cNvPr id="3" name="Title 2">
            <a:extLst>
              <a:ext uri="{FF2B5EF4-FFF2-40B4-BE49-F238E27FC236}">
                <a16:creationId xmlns:a16="http://schemas.microsoft.com/office/drawing/2014/main" id="{CA40CE2E-54F7-41EA-9759-C644A577BC0C}"/>
              </a:ext>
            </a:extLst>
          </p:cNvPr>
          <p:cNvSpPr>
            <a:spLocks noGrp="1"/>
          </p:cNvSpPr>
          <p:nvPr>
            <p:ph type="title"/>
          </p:nvPr>
        </p:nvSpPr>
        <p:spPr/>
        <p:txBody>
          <a:bodyPr vert="horz" lIns="91440" tIns="45720" rIns="91440" bIns="45720" rtlCol="0" anchor="ctr">
            <a:normAutofit/>
          </a:bodyPr>
          <a:lstStyle/>
          <a:p>
            <a:r>
              <a:rPr lang="en-US" dirty="0"/>
              <a:t>Lucene(Java Based Text Search Engine)</a:t>
            </a:r>
            <a:endParaRPr lang="en-IN" dirty="0"/>
          </a:p>
        </p:txBody>
      </p:sp>
    </p:spTree>
    <p:extLst>
      <p:ext uri="{BB962C8B-B14F-4D97-AF65-F5344CB8AC3E}">
        <p14:creationId xmlns:p14="http://schemas.microsoft.com/office/powerpoint/2010/main" val="94962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2CA6C4-6B4E-4BCF-8892-3E738D554E3A}"/>
              </a:ext>
            </a:extLst>
          </p:cNvPr>
          <p:cNvSpPr>
            <a:spLocks noGrp="1"/>
          </p:cNvSpPr>
          <p:nvPr>
            <p:ph idx="1"/>
          </p:nvPr>
        </p:nvSpPr>
        <p:spPr>
          <a:xfrm>
            <a:off x="338361" y="1461890"/>
            <a:ext cx="8386537" cy="948801"/>
          </a:xfrm>
        </p:spPr>
        <p:txBody>
          <a:bodyPr/>
          <a:lstStyle/>
          <a:p>
            <a:pPr marL="0" indent="0" algn="just">
              <a:buNone/>
            </a:pPr>
            <a:r>
              <a:rPr lang="en-IN" b="0" i="0" dirty="0">
                <a:effectLst/>
              </a:rPr>
              <a:t>How Search Application works?</a:t>
            </a:r>
          </a:p>
        </p:txBody>
      </p:sp>
      <p:sp>
        <p:nvSpPr>
          <p:cNvPr id="3" name="Title 2">
            <a:extLst>
              <a:ext uri="{FF2B5EF4-FFF2-40B4-BE49-F238E27FC236}">
                <a16:creationId xmlns:a16="http://schemas.microsoft.com/office/drawing/2014/main" id="{B2E5A5EB-FF7D-40F9-8AA2-ED640221C762}"/>
              </a:ext>
            </a:extLst>
          </p:cNvPr>
          <p:cNvSpPr>
            <a:spLocks noGrp="1"/>
          </p:cNvSpPr>
          <p:nvPr>
            <p:ph type="title"/>
          </p:nvPr>
        </p:nvSpPr>
        <p:spPr/>
        <p:txBody>
          <a:bodyPr vert="horz" lIns="91440" tIns="45720" rIns="91440" bIns="45720" rtlCol="0" anchor="ctr">
            <a:normAutofit/>
          </a:bodyPr>
          <a:lstStyle/>
          <a:p>
            <a:r>
              <a:rPr lang="en-US" dirty="0"/>
              <a:t>Lucene(Java Based Text Search Engine)</a:t>
            </a:r>
            <a:endParaRPr lang="en-IN" dirty="0"/>
          </a:p>
        </p:txBody>
      </p:sp>
      <p:sp>
        <p:nvSpPr>
          <p:cNvPr id="6" name="Freeform: Shape 5">
            <a:extLst>
              <a:ext uri="{FF2B5EF4-FFF2-40B4-BE49-F238E27FC236}">
                <a16:creationId xmlns:a16="http://schemas.microsoft.com/office/drawing/2014/main" id="{EC91698D-08C1-4875-8D78-F4B0AD1CEF3F}"/>
              </a:ext>
            </a:extLst>
          </p:cNvPr>
          <p:cNvSpPr/>
          <p:nvPr/>
        </p:nvSpPr>
        <p:spPr>
          <a:xfrm>
            <a:off x="1483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rgbClr val="44525A"/>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a:solidFill>
                  <a:schemeClr val="bg1"/>
                </a:solidFill>
                <a:effectLst/>
                <a:latin typeface="Bahnschrift" panose="020B0502040204020203" pitchFamily="34" charset="0"/>
              </a:rPr>
              <a:t>Acquire Raw Content</a:t>
            </a:r>
          </a:p>
        </p:txBody>
      </p:sp>
      <p:sp>
        <p:nvSpPr>
          <p:cNvPr id="7" name="Freeform: Shape 6">
            <a:extLst>
              <a:ext uri="{FF2B5EF4-FFF2-40B4-BE49-F238E27FC236}">
                <a16:creationId xmlns:a16="http://schemas.microsoft.com/office/drawing/2014/main" id="{847B233C-BA4E-4101-81F8-8B03AF005292}"/>
              </a:ext>
            </a:extLst>
          </p:cNvPr>
          <p:cNvSpPr/>
          <p:nvPr/>
        </p:nvSpPr>
        <p:spPr>
          <a:xfrm>
            <a:off x="35791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a:solidFill>
                  <a:schemeClr val="bg1"/>
                </a:solidFill>
                <a:effectLst/>
                <a:latin typeface="Bahnschrift" panose="020B0502040204020203" pitchFamily="34" charset="0"/>
              </a:rPr>
              <a:t>Build the document</a:t>
            </a:r>
            <a:endParaRPr lang="en-IN" sz="2300" b="1" kern="1200" dirty="0">
              <a:solidFill>
                <a:schemeClr val="bg1"/>
              </a:solidFill>
              <a:latin typeface="Bahnschrift" panose="020B0502040204020203" pitchFamily="34" charset="0"/>
            </a:endParaRPr>
          </a:p>
        </p:txBody>
      </p:sp>
      <p:sp>
        <p:nvSpPr>
          <p:cNvPr id="8" name="Freeform: Shape 7">
            <a:extLst>
              <a:ext uri="{FF2B5EF4-FFF2-40B4-BE49-F238E27FC236}">
                <a16:creationId xmlns:a16="http://schemas.microsoft.com/office/drawing/2014/main" id="{9A5BA2D0-9DAD-4FA3-B9CD-6CC4C1C64935}"/>
              </a:ext>
            </a:extLst>
          </p:cNvPr>
          <p:cNvSpPr/>
          <p:nvPr/>
        </p:nvSpPr>
        <p:spPr>
          <a:xfrm>
            <a:off x="5674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err="1">
                <a:solidFill>
                  <a:schemeClr val="bg1"/>
                </a:solidFill>
                <a:effectLst/>
                <a:latin typeface="Bahnschrift" panose="020B0502040204020203" pitchFamily="34" charset="0"/>
              </a:rPr>
              <a:t>Analyze</a:t>
            </a:r>
            <a:r>
              <a:rPr lang="en-IN" sz="2300" b="1" i="0" kern="1200" dirty="0">
                <a:solidFill>
                  <a:schemeClr val="bg1"/>
                </a:solidFill>
                <a:effectLst/>
                <a:latin typeface="Bahnschrift" panose="020B0502040204020203" pitchFamily="34" charset="0"/>
              </a:rPr>
              <a:t> the document</a:t>
            </a:r>
          </a:p>
        </p:txBody>
      </p:sp>
      <p:sp>
        <p:nvSpPr>
          <p:cNvPr id="9" name="Freeform: Shape 8">
            <a:extLst>
              <a:ext uri="{FF2B5EF4-FFF2-40B4-BE49-F238E27FC236}">
                <a16:creationId xmlns:a16="http://schemas.microsoft.com/office/drawing/2014/main" id="{1228E374-744F-4788-B3BC-AB6CA7DBDAFF}"/>
              </a:ext>
            </a:extLst>
          </p:cNvPr>
          <p:cNvSpPr/>
          <p:nvPr/>
        </p:nvSpPr>
        <p:spPr>
          <a:xfrm>
            <a:off x="1483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a:solidFill>
                  <a:schemeClr val="bg1"/>
                </a:solidFill>
                <a:effectLst/>
                <a:latin typeface="Bahnschrift" panose="020B0502040204020203" pitchFamily="34" charset="0"/>
              </a:rPr>
              <a:t>Indexing the document</a:t>
            </a:r>
            <a:endParaRPr lang="en-IN" sz="2300" b="1" kern="1200" dirty="0">
              <a:solidFill>
                <a:schemeClr val="bg1"/>
              </a:solidFill>
              <a:latin typeface="Bahnschrift" panose="020B0502040204020203" pitchFamily="34" charset="0"/>
            </a:endParaRPr>
          </a:p>
        </p:txBody>
      </p:sp>
      <p:sp>
        <p:nvSpPr>
          <p:cNvPr id="10" name="Freeform: Shape 9">
            <a:extLst>
              <a:ext uri="{FF2B5EF4-FFF2-40B4-BE49-F238E27FC236}">
                <a16:creationId xmlns:a16="http://schemas.microsoft.com/office/drawing/2014/main" id="{A83EDCF2-2735-4131-8C77-50DBC07DF0B5}"/>
              </a:ext>
            </a:extLst>
          </p:cNvPr>
          <p:cNvSpPr/>
          <p:nvPr/>
        </p:nvSpPr>
        <p:spPr>
          <a:xfrm>
            <a:off x="35791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a:solidFill>
                  <a:schemeClr val="bg1"/>
                </a:solidFill>
                <a:effectLst/>
                <a:latin typeface="Bahnschrift" panose="020B0502040204020203" pitchFamily="34" charset="0"/>
              </a:rPr>
              <a:t>User Interface for Search</a:t>
            </a:r>
          </a:p>
        </p:txBody>
      </p:sp>
      <p:sp>
        <p:nvSpPr>
          <p:cNvPr id="11" name="Freeform: Shape 10">
            <a:extLst>
              <a:ext uri="{FF2B5EF4-FFF2-40B4-BE49-F238E27FC236}">
                <a16:creationId xmlns:a16="http://schemas.microsoft.com/office/drawing/2014/main" id="{B8874062-6084-413C-BAE7-C7D0580E553D}"/>
              </a:ext>
            </a:extLst>
          </p:cNvPr>
          <p:cNvSpPr/>
          <p:nvPr/>
        </p:nvSpPr>
        <p:spPr>
          <a:xfrm>
            <a:off x="5674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a:solidFill>
                  <a:schemeClr val="bg1"/>
                </a:solidFill>
                <a:effectLst/>
                <a:latin typeface="Bahnschrift" panose="020B0502040204020203" pitchFamily="34" charset="0"/>
              </a:rPr>
              <a:t>Build Query</a:t>
            </a:r>
            <a:endParaRPr lang="en-IN" sz="2300" kern="1200" dirty="0">
              <a:solidFill>
                <a:schemeClr val="bg1"/>
              </a:solidFill>
              <a:latin typeface="Bahnschrift" panose="020B0502040204020203" pitchFamily="34" charset="0"/>
            </a:endParaRPr>
          </a:p>
        </p:txBody>
      </p:sp>
      <p:sp>
        <p:nvSpPr>
          <p:cNvPr id="12" name="Freeform: Shape 11">
            <a:extLst>
              <a:ext uri="{FF2B5EF4-FFF2-40B4-BE49-F238E27FC236}">
                <a16:creationId xmlns:a16="http://schemas.microsoft.com/office/drawing/2014/main" id="{0F7D4B1B-D9A1-4E0F-B05F-E50342106EBE}"/>
              </a:ext>
            </a:extLst>
          </p:cNvPr>
          <p:cNvSpPr/>
          <p:nvPr/>
        </p:nvSpPr>
        <p:spPr>
          <a:xfrm>
            <a:off x="25313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a:latin typeface="Bahnschrift" panose="020B0502040204020203" pitchFamily="34" charset="0"/>
              </a:rPr>
              <a:t>Search Query</a:t>
            </a:r>
            <a:endParaRPr lang="en-IN" sz="2300" kern="1200" dirty="0">
              <a:latin typeface="Bahnschrift" panose="020B0502040204020203" pitchFamily="34" charset="0"/>
            </a:endParaRPr>
          </a:p>
        </p:txBody>
      </p:sp>
      <p:sp>
        <p:nvSpPr>
          <p:cNvPr id="13" name="Freeform: Shape 12">
            <a:extLst>
              <a:ext uri="{FF2B5EF4-FFF2-40B4-BE49-F238E27FC236}">
                <a16:creationId xmlns:a16="http://schemas.microsoft.com/office/drawing/2014/main" id="{AF2B505D-78D0-4E68-AEA7-66B2355B5BF5}"/>
              </a:ext>
            </a:extLst>
          </p:cNvPr>
          <p:cNvSpPr/>
          <p:nvPr/>
        </p:nvSpPr>
        <p:spPr>
          <a:xfrm>
            <a:off x="46268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a:latin typeface="Bahnschrift" panose="020B0502040204020203" pitchFamily="34" charset="0"/>
              </a:rPr>
              <a:t>Render Results</a:t>
            </a:r>
            <a:endParaRPr lang="en-IN" sz="2300" kern="1200" dirty="0">
              <a:latin typeface="Bahnschrift" panose="020B0502040204020203" pitchFamily="34" charset="0"/>
            </a:endParaRPr>
          </a:p>
        </p:txBody>
      </p:sp>
    </p:spTree>
    <p:extLst>
      <p:ext uri="{BB962C8B-B14F-4D97-AF65-F5344CB8AC3E}">
        <p14:creationId xmlns:p14="http://schemas.microsoft.com/office/powerpoint/2010/main" val="521747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2CA6C4-6B4E-4BCF-8892-3E738D554E3A}"/>
              </a:ext>
            </a:extLst>
          </p:cNvPr>
          <p:cNvSpPr>
            <a:spLocks noGrp="1"/>
          </p:cNvSpPr>
          <p:nvPr>
            <p:ph idx="1"/>
          </p:nvPr>
        </p:nvSpPr>
        <p:spPr>
          <a:xfrm>
            <a:off x="338361" y="1461890"/>
            <a:ext cx="8386537" cy="948801"/>
          </a:xfrm>
        </p:spPr>
        <p:txBody>
          <a:bodyPr/>
          <a:lstStyle/>
          <a:p>
            <a:pPr marL="0" indent="0" algn="just">
              <a:buNone/>
            </a:pPr>
            <a:r>
              <a:rPr lang="en-IN" b="0" i="0" dirty="0">
                <a:effectLst/>
              </a:rPr>
              <a:t>How Search Application works?</a:t>
            </a:r>
          </a:p>
        </p:txBody>
      </p:sp>
      <p:sp>
        <p:nvSpPr>
          <p:cNvPr id="3" name="Title 2">
            <a:extLst>
              <a:ext uri="{FF2B5EF4-FFF2-40B4-BE49-F238E27FC236}">
                <a16:creationId xmlns:a16="http://schemas.microsoft.com/office/drawing/2014/main" id="{B2E5A5EB-FF7D-40F9-8AA2-ED640221C762}"/>
              </a:ext>
            </a:extLst>
          </p:cNvPr>
          <p:cNvSpPr>
            <a:spLocks noGrp="1"/>
          </p:cNvSpPr>
          <p:nvPr>
            <p:ph type="title"/>
          </p:nvPr>
        </p:nvSpPr>
        <p:spPr/>
        <p:txBody>
          <a:bodyPr vert="horz" lIns="91440" tIns="45720" rIns="91440" bIns="45720" rtlCol="0" anchor="ctr">
            <a:normAutofit/>
          </a:bodyPr>
          <a:lstStyle/>
          <a:p>
            <a:r>
              <a:rPr lang="en-US" dirty="0"/>
              <a:t>Lucene(Java Based Text Search Engine)</a:t>
            </a:r>
            <a:endParaRPr lang="en-IN" dirty="0"/>
          </a:p>
        </p:txBody>
      </p:sp>
      <p:sp>
        <p:nvSpPr>
          <p:cNvPr id="6" name="Freeform: Shape 5">
            <a:extLst>
              <a:ext uri="{FF2B5EF4-FFF2-40B4-BE49-F238E27FC236}">
                <a16:creationId xmlns:a16="http://schemas.microsoft.com/office/drawing/2014/main" id="{EC91698D-08C1-4875-8D78-F4B0AD1CEF3F}"/>
              </a:ext>
            </a:extLst>
          </p:cNvPr>
          <p:cNvSpPr/>
          <p:nvPr/>
        </p:nvSpPr>
        <p:spPr>
          <a:xfrm>
            <a:off x="1483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Acquire Raw Content</a:t>
            </a:r>
          </a:p>
        </p:txBody>
      </p:sp>
      <p:sp>
        <p:nvSpPr>
          <p:cNvPr id="7" name="Freeform: Shape 6">
            <a:extLst>
              <a:ext uri="{FF2B5EF4-FFF2-40B4-BE49-F238E27FC236}">
                <a16:creationId xmlns:a16="http://schemas.microsoft.com/office/drawing/2014/main" id="{847B233C-BA4E-4101-81F8-8B03AF005292}"/>
              </a:ext>
            </a:extLst>
          </p:cNvPr>
          <p:cNvSpPr/>
          <p:nvPr/>
        </p:nvSpPr>
        <p:spPr>
          <a:xfrm>
            <a:off x="35791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rgbClr val="44525A"/>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a:solidFill>
                  <a:schemeClr val="bg1"/>
                </a:solidFill>
                <a:effectLst/>
                <a:latin typeface="Bahnschrift" panose="020B0502040204020203" pitchFamily="34" charset="0"/>
              </a:rPr>
              <a:t>Build the document</a:t>
            </a:r>
            <a:endParaRPr lang="en-IN" sz="2300" b="1" kern="1200" dirty="0">
              <a:solidFill>
                <a:schemeClr val="bg1"/>
              </a:solidFill>
              <a:latin typeface="Bahnschrift" panose="020B0502040204020203" pitchFamily="34" charset="0"/>
            </a:endParaRPr>
          </a:p>
        </p:txBody>
      </p:sp>
      <p:sp>
        <p:nvSpPr>
          <p:cNvPr id="8" name="Freeform: Shape 7">
            <a:extLst>
              <a:ext uri="{FF2B5EF4-FFF2-40B4-BE49-F238E27FC236}">
                <a16:creationId xmlns:a16="http://schemas.microsoft.com/office/drawing/2014/main" id="{9A5BA2D0-9DAD-4FA3-B9CD-6CC4C1C64935}"/>
              </a:ext>
            </a:extLst>
          </p:cNvPr>
          <p:cNvSpPr/>
          <p:nvPr/>
        </p:nvSpPr>
        <p:spPr>
          <a:xfrm>
            <a:off x="5674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err="1">
                <a:solidFill>
                  <a:schemeClr val="bg1"/>
                </a:solidFill>
                <a:latin typeface="Bahnschrift" panose="020B0502040204020203" pitchFamily="34" charset="0"/>
              </a:rPr>
              <a:t>Analyze</a:t>
            </a:r>
            <a:r>
              <a:rPr lang="en-IN" sz="2300" b="1" dirty="0">
                <a:solidFill>
                  <a:schemeClr val="bg1"/>
                </a:solidFill>
                <a:latin typeface="Bahnschrift" panose="020B0502040204020203" pitchFamily="34" charset="0"/>
              </a:rPr>
              <a:t> the document</a:t>
            </a:r>
          </a:p>
        </p:txBody>
      </p:sp>
      <p:sp>
        <p:nvSpPr>
          <p:cNvPr id="9" name="Freeform: Shape 8">
            <a:extLst>
              <a:ext uri="{FF2B5EF4-FFF2-40B4-BE49-F238E27FC236}">
                <a16:creationId xmlns:a16="http://schemas.microsoft.com/office/drawing/2014/main" id="{1228E374-744F-4788-B3BC-AB6CA7DBDAFF}"/>
              </a:ext>
            </a:extLst>
          </p:cNvPr>
          <p:cNvSpPr/>
          <p:nvPr/>
        </p:nvSpPr>
        <p:spPr>
          <a:xfrm>
            <a:off x="1483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Indexing the document</a:t>
            </a:r>
          </a:p>
        </p:txBody>
      </p:sp>
      <p:sp>
        <p:nvSpPr>
          <p:cNvPr id="10" name="Freeform: Shape 9">
            <a:extLst>
              <a:ext uri="{FF2B5EF4-FFF2-40B4-BE49-F238E27FC236}">
                <a16:creationId xmlns:a16="http://schemas.microsoft.com/office/drawing/2014/main" id="{A83EDCF2-2735-4131-8C77-50DBC07DF0B5}"/>
              </a:ext>
            </a:extLst>
          </p:cNvPr>
          <p:cNvSpPr/>
          <p:nvPr/>
        </p:nvSpPr>
        <p:spPr>
          <a:xfrm>
            <a:off x="35791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User Interface for Search</a:t>
            </a:r>
          </a:p>
        </p:txBody>
      </p:sp>
      <p:sp>
        <p:nvSpPr>
          <p:cNvPr id="11" name="Freeform: Shape 10">
            <a:extLst>
              <a:ext uri="{FF2B5EF4-FFF2-40B4-BE49-F238E27FC236}">
                <a16:creationId xmlns:a16="http://schemas.microsoft.com/office/drawing/2014/main" id="{B8874062-6084-413C-BAE7-C7D0580E553D}"/>
              </a:ext>
            </a:extLst>
          </p:cNvPr>
          <p:cNvSpPr/>
          <p:nvPr/>
        </p:nvSpPr>
        <p:spPr>
          <a:xfrm>
            <a:off x="5674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Build Query</a:t>
            </a:r>
          </a:p>
        </p:txBody>
      </p:sp>
      <p:sp>
        <p:nvSpPr>
          <p:cNvPr id="12" name="Freeform: Shape 11">
            <a:extLst>
              <a:ext uri="{FF2B5EF4-FFF2-40B4-BE49-F238E27FC236}">
                <a16:creationId xmlns:a16="http://schemas.microsoft.com/office/drawing/2014/main" id="{0F7D4B1B-D9A1-4E0F-B05F-E50342106EBE}"/>
              </a:ext>
            </a:extLst>
          </p:cNvPr>
          <p:cNvSpPr/>
          <p:nvPr/>
        </p:nvSpPr>
        <p:spPr>
          <a:xfrm>
            <a:off x="25313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a:solidFill>
                  <a:schemeClr val="bg1"/>
                </a:solidFill>
                <a:latin typeface="Bahnschrift" panose="020B0502040204020203" pitchFamily="34" charset="0"/>
              </a:rPr>
              <a:t>Search Query</a:t>
            </a:r>
            <a:endParaRPr lang="en-IN" sz="2300" b="1" dirty="0">
              <a:solidFill>
                <a:schemeClr val="bg1"/>
              </a:solidFill>
              <a:latin typeface="Bahnschrift" panose="020B0502040204020203" pitchFamily="34" charset="0"/>
            </a:endParaRPr>
          </a:p>
        </p:txBody>
      </p:sp>
      <p:sp>
        <p:nvSpPr>
          <p:cNvPr id="13" name="Freeform: Shape 12">
            <a:extLst>
              <a:ext uri="{FF2B5EF4-FFF2-40B4-BE49-F238E27FC236}">
                <a16:creationId xmlns:a16="http://schemas.microsoft.com/office/drawing/2014/main" id="{AF2B505D-78D0-4E68-AEA7-66B2355B5BF5}"/>
              </a:ext>
            </a:extLst>
          </p:cNvPr>
          <p:cNvSpPr/>
          <p:nvPr/>
        </p:nvSpPr>
        <p:spPr>
          <a:xfrm>
            <a:off x="46268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Render Results</a:t>
            </a:r>
          </a:p>
        </p:txBody>
      </p:sp>
    </p:spTree>
    <p:extLst>
      <p:ext uri="{BB962C8B-B14F-4D97-AF65-F5344CB8AC3E}">
        <p14:creationId xmlns:p14="http://schemas.microsoft.com/office/powerpoint/2010/main" val="3567548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2CA6C4-6B4E-4BCF-8892-3E738D554E3A}"/>
              </a:ext>
            </a:extLst>
          </p:cNvPr>
          <p:cNvSpPr>
            <a:spLocks noGrp="1"/>
          </p:cNvSpPr>
          <p:nvPr>
            <p:ph idx="1"/>
          </p:nvPr>
        </p:nvSpPr>
        <p:spPr>
          <a:xfrm>
            <a:off x="338361" y="1461890"/>
            <a:ext cx="8386537" cy="948801"/>
          </a:xfrm>
        </p:spPr>
        <p:txBody>
          <a:bodyPr/>
          <a:lstStyle/>
          <a:p>
            <a:pPr marL="0" indent="0" algn="just">
              <a:buNone/>
            </a:pPr>
            <a:r>
              <a:rPr lang="en-IN" b="0" i="0" dirty="0">
                <a:effectLst/>
              </a:rPr>
              <a:t>How Search Application works?</a:t>
            </a:r>
          </a:p>
        </p:txBody>
      </p:sp>
      <p:sp>
        <p:nvSpPr>
          <p:cNvPr id="3" name="Title 2">
            <a:extLst>
              <a:ext uri="{FF2B5EF4-FFF2-40B4-BE49-F238E27FC236}">
                <a16:creationId xmlns:a16="http://schemas.microsoft.com/office/drawing/2014/main" id="{B2E5A5EB-FF7D-40F9-8AA2-ED640221C762}"/>
              </a:ext>
            </a:extLst>
          </p:cNvPr>
          <p:cNvSpPr>
            <a:spLocks noGrp="1"/>
          </p:cNvSpPr>
          <p:nvPr>
            <p:ph type="title"/>
          </p:nvPr>
        </p:nvSpPr>
        <p:spPr/>
        <p:txBody>
          <a:bodyPr vert="horz" lIns="91440" tIns="45720" rIns="91440" bIns="45720" rtlCol="0" anchor="ctr">
            <a:normAutofit/>
          </a:bodyPr>
          <a:lstStyle/>
          <a:p>
            <a:r>
              <a:rPr lang="en-US" dirty="0"/>
              <a:t>Lucene(Java Based Text Search Engine)</a:t>
            </a:r>
            <a:endParaRPr lang="en-IN" dirty="0"/>
          </a:p>
        </p:txBody>
      </p:sp>
      <p:sp>
        <p:nvSpPr>
          <p:cNvPr id="6" name="Freeform: Shape 5">
            <a:extLst>
              <a:ext uri="{FF2B5EF4-FFF2-40B4-BE49-F238E27FC236}">
                <a16:creationId xmlns:a16="http://schemas.microsoft.com/office/drawing/2014/main" id="{EC91698D-08C1-4875-8D78-F4B0AD1CEF3F}"/>
              </a:ext>
            </a:extLst>
          </p:cNvPr>
          <p:cNvSpPr/>
          <p:nvPr/>
        </p:nvSpPr>
        <p:spPr>
          <a:xfrm>
            <a:off x="1483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Acquire Raw Content</a:t>
            </a:r>
          </a:p>
        </p:txBody>
      </p:sp>
      <p:sp>
        <p:nvSpPr>
          <p:cNvPr id="7" name="Freeform: Shape 6">
            <a:extLst>
              <a:ext uri="{FF2B5EF4-FFF2-40B4-BE49-F238E27FC236}">
                <a16:creationId xmlns:a16="http://schemas.microsoft.com/office/drawing/2014/main" id="{847B233C-BA4E-4101-81F8-8B03AF005292}"/>
              </a:ext>
            </a:extLst>
          </p:cNvPr>
          <p:cNvSpPr/>
          <p:nvPr/>
        </p:nvSpPr>
        <p:spPr>
          <a:xfrm>
            <a:off x="35791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Build the document</a:t>
            </a:r>
          </a:p>
        </p:txBody>
      </p:sp>
      <p:sp>
        <p:nvSpPr>
          <p:cNvPr id="8" name="Freeform: Shape 7">
            <a:extLst>
              <a:ext uri="{FF2B5EF4-FFF2-40B4-BE49-F238E27FC236}">
                <a16:creationId xmlns:a16="http://schemas.microsoft.com/office/drawing/2014/main" id="{9A5BA2D0-9DAD-4FA3-B9CD-6CC4C1C64935}"/>
              </a:ext>
            </a:extLst>
          </p:cNvPr>
          <p:cNvSpPr/>
          <p:nvPr/>
        </p:nvSpPr>
        <p:spPr>
          <a:xfrm>
            <a:off x="5674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rgbClr val="44525A"/>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err="1">
                <a:solidFill>
                  <a:schemeClr val="bg1"/>
                </a:solidFill>
                <a:effectLst/>
                <a:latin typeface="Bahnschrift" panose="020B0502040204020203" pitchFamily="34" charset="0"/>
              </a:rPr>
              <a:t>Analyze</a:t>
            </a:r>
            <a:r>
              <a:rPr lang="en-IN" sz="2300" b="1" i="0" kern="1200" dirty="0">
                <a:solidFill>
                  <a:schemeClr val="bg1"/>
                </a:solidFill>
                <a:effectLst/>
                <a:latin typeface="Bahnschrift" panose="020B0502040204020203" pitchFamily="34" charset="0"/>
              </a:rPr>
              <a:t> the document</a:t>
            </a:r>
          </a:p>
        </p:txBody>
      </p:sp>
      <p:sp>
        <p:nvSpPr>
          <p:cNvPr id="9" name="Freeform: Shape 8">
            <a:extLst>
              <a:ext uri="{FF2B5EF4-FFF2-40B4-BE49-F238E27FC236}">
                <a16:creationId xmlns:a16="http://schemas.microsoft.com/office/drawing/2014/main" id="{1228E374-744F-4788-B3BC-AB6CA7DBDAFF}"/>
              </a:ext>
            </a:extLst>
          </p:cNvPr>
          <p:cNvSpPr/>
          <p:nvPr/>
        </p:nvSpPr>
        <p:spPr>
          <a:xfrm>
            <a:off x="1483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Indexing the document</a:t>
            </a:r>
          </a:p>
        </p:txBody>
      </p:sp>
      <p:sp>
        <p:nvSpPr>
          <p:cNvPr id="10" name="Freeform: Shape 9">
            <a:extLst>
              <a:ext uri="{FF2B5EF4-FFF2-40B4-BE49-F238E27FC236}">
                <a16:creationId xmlns:a16="http://schemas.microsoft.com/office/drawing/2014/main" id="{A83EDCF2-2735-4131-8C77-50DBC07DF0B5}"/>
              </a:ext>
            </a:extLst>
          </p:cNvPr>
          <p:cNvSpPr/>
          <p:nvPr/>
        </p:nvSpPr>
        <p:spPr>
          <a:xfrm>
            <a:off x="35791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User Interface for Search</a:t>
            </a:r>
          </a:p>
        </p:txBody>
      </p:sp>
      <p:sp>
        <p:nvSpPr>
          <p:cNvPr id="11" name="Freeform: Shape 10">
            <a:extLst>
              <a:ext uri="{FF2B5EF4-FFF2-40B4-BE49-F238E27FC236}">
                <a16:creationId xmlns:a16="http://schemas.microsoft.com/office/drawing/2014/main" id="{B8874062-6084-413C-BAE7-C7D0580E553D}"/>
              </a:ext>
            </a:extLst>
          </p:cNvPr>
          <p:cNvSpPr/>
          <p:nvPr/>
        </p:nvSpPr>
        <p:spPr>
          <a:xfrm>
            <a:off x="5674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Build Query</a:t>
            </a:r>
          </a:p>
        </p:txBody>
      </p:sp>
      <p:sp>
        <p:nvSpPr>
          <p:cNvPr id="12" name="Freeform: Shape 11">
            <a:extLst>
              <a:ext uri="{FF2B5EF4-FFF2-40B4-BE49-F238E27FC236}">
                <a16:creationId xmlns:a16="http://schemas.microsoft.com/office/drawing/2014/main" id="{0F7D4B1B-D9A1-4E0F-B05F-E50342106EBE}"/>
              </a:ext>
            </a:extLst>
          </p:cNvPr>
          <p:cNvSpPr/>
          <p:nvPr/>
        </p:nvSpPr>
        <p:spPr>
          <a:xfrm>
            <a:off x="25313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a:solidFill>
                  <a:schemeClr val="bg1"/>
                </a:solidFill>
                <a:latin typeface="Bahnschrift" panose="020B0502040204020203" pitchFamily="34" charset="0"/>
              </a:rPr>
              <a:t>Search Query</a:t>
            </a:r>
            <a:endParaRPr lang="en-IN" sz="2300" b="1" dirty="0">
              <a:solidFill>
                <a:schemeClr val="bg1"/>
              </a:solidFill>
              <a:latin typeface="Bahnschrift" panose="020B0502040204020203" pitchFamily="34" charset="0"/>
            </a:endParaRPr>
          </a:p>
        </p:txBody>
      </p:sp>
      <p:sp>
        <p:nvSpPr>
          <p:cNvPr id="13" name="Freeform: Shape 12">
            <a:extLst>
              <a:ext uri="{FF2B5EF4-FFF2-40B4-BE49-F238E27FC236}">
                <a16:creationId xmlns:a16="http://schemas.microsoft.com/office/drawing/2014/main" id="{AF2B505D-78D0-4E68-AEA7-66B2355B5BF5}"/>
              </a:ext>
            </a:extLst>
          </p:cNvPr>
          <p:cNvSpPr/>
          <p:nvPr/>
        </p:nvSpPr>
        <p:spPr>
          <a:xfrm>
            <a:off x="46268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Render Results</a:t>
            </a:r>
          </a:p>
        </p:txBody>
      </p:sp>
    </p:spTree>
    <p:extLst>
      <p:ext uri="{BB962C8B-B14F-4D97-AF65-F5344CB8AC3E}">
        <p14:creationId xmlns:p14="http://schemas.microsoft.com/office/powerpoint/2010/main" val="3416575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2CA6C4-6B4E-4BCF-8892-3E738D554E3A}"/>
              </a:ext>
            </a:extLst>
          </p:cNvPr>
          <p:cNvSpPr>
            <a:spLocks noGrp="1"/>
          </p:cNvSpPr>
          <p:nvPr>
            <p:ph idx="1"/>
          </p:nvPr>
        </p:nvSpPr>
        <p:spPr>
          <a:xfrm>
            <a:off x="338361" y="1461890"/>
            <a:ext cx="8386537" cy="948801"/>
          </a:xfrm>
        </p:spPr>
        <p:txBody>
          <a:bodyPr/>
          <a:lstStyle/>
          <a:p>
            <a:pPr marL="0" indent="0" algn="just">
              <a:buNone/>
            </a:pPr>
            <a:r>
              <a:rPr lang="en-IN" b="0" i="0" dirty="0">
                <a:effectLst/>
              </a:rPr>
              <a:t>How Search Application works?</a:t>
            </a:r>
          </a:p>
        </p:txBody>
      </p:sp>
      <p:sp>
        <p:nvSpPr>
          <p:cNvPr id="3" name="Title 2">
            <a:extLst>
              <a:ext uri="{FF2B5EF4-FFF2-40B4-BE49-F238E27FC236}">
                <a16:creationId xmlns:a16="http://schemas.microsoft.com/office/drawing/2014/main" id="{B2E5A5EB-FF7D-40F9-8AA2-ED640221C762}"/>
              </a:ext>
            </a:extLst>
          </p:cNvPr>
          <p:cNvSpPr>
            <a:spLocks noGrp="1"/>
          </p:cNvSpPr>
          <p:nvPr>
            <p:ph type="title"/>
          </p:nvPr>
        </p:nvSpPr>
        <p:spPr/>
        <p:txBody>
          <a:bodyPr vert="horz" lIns="91440" tIns="45720" rIns="91440" bIns="45720" rtlCol="0" anchor="ctr">
            <a:normAutofit/>
          </a:bodyPr>
          <a:lstStyle/>
          <a:p>
            <a:r>
              <a:rPr lang="en-US" dirty="0"/>
              <a:t>Lucene(Java Based Text Search Engine)</a:t>
            </a:r>
            <a:endParaRPr lang="en-IN" dirty="0"/>
          </a:p>
        </p:txBody>
      </p:sp>
      <p:sp>
        <p:nvSpPr>
          <p:cNvPr id="6" name="Freeform: Shape 5">
            <a:extLst>
              <a:ext uri="{FF2B5EF4-FFF2-40B4-BE49-F238E27FC236}">
                <a16:creationId xmlns:a16="http://schemas.microsoft.com/office/drawing/2014/main" id="{EC91698D-08C1-4875-8D78-F4B0AD1CEF3F}"/>
              </a:ext>
            </a:extLst>
          </p:cNvPr>
          <p:cNvSpPr/>
          <p:nvPr/>
        </p:nvSpPr>
        <p:spPr>
          <a:xfrm>
            <a:off x="1483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Acquire Raw Content</a:t>
            </a:r>
          </a:p>
        </p:txBody>
      </p:sp>
      <p:sp>
        <p:nvSpPr>
          <p:cNvPr id="7" name="Freeform: Shape 6">
            <a:extLst>
              <a:ext uri="{FF2B5EF4-FFF2-40B4-BE49-F238E27FC236}">
                <a16:creationId xmlns:a16="http://schemas.microsoft.com/office/drawing/2014/main" id="{847B233C-BA4E-4101-81F8-8B03AF005292}"/>
              </a:ext>
            </a:extLst>
          </p:cNvPr>
          <p:cNvSpPr/>
          <p:nvPr/>
        </p:nvSpPr>
        <p:spPr>
          <a:xfrm>
            <a:off x="35791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Build the document</a:t>
            </a:r>
          </a:p>
        </p:txBody>
      </p:sp>
      <p:sp>
        <p:nvSpPr>
          <p:cNvPr id="8" name="Freeform: Shape 7">
            <a:extLst>
              <a:ext uri="{FF2B5EF4-FFF2-40B4-BE49-F238E27FC236}">
                <a16:creationId xmlns:a16="http://schemas.microsoft.com/office/drawing/2014/main" id="{9A5BA2D0-9DAD-4FA3-B9CD-6CC4C1C64935}"/>
              </a:ext>
            </a:extLst>
          </p:cNvPr>
          <p:cNvSpPr/>
          <p:nvPr/>
        </p:nvSpPr>
        <p:spPr>
          <a:xfrm>
            <a:off x="5674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err="1">
                <a:solidFill>
                  <a:schemeClr val="bg1"/>
                </a:solidFill>
                <a:latin typeface="Bahnschrift" panose="020B0502040204020203" pitchFamily="34" charset="0"/>
              </a:rPr>
              <a:t>Analyze</a:t>
            </a:r>
            <a:r>
              <a:rPr lang="en-IN" sz="2300" b="1" dirty="0">
                <a:solidFill>
                  <a:schemeClr val="bg1"/>
                </a:solidFill>
                <a:latin typeface="Bahnschrift" panose="020B0502040204020203" pitchFamily="34" charset="0"/>
              </a:rPr>
              <a:t> the document</a:t>
            </a:r>
          </a:p>
        </p:txBody>
      </p:sp>
      <p:sp>
        <p:nvSpPr>
          <p:cNvPr id="9" name="Freeform: Shape 8">
            <a:extLst>
              <a:ext uri="{FF2B5EF4-FFF2-40B4-BE49-F238E27FC236}">
                <a16:creationId xmlns:a16="http://schemas.microsoft.com/office/drawing/2014/main" id="{1228E374-744F-4788-B3BC-AB6CA7DBDAFF}"/>
              </a:ext>
            </a:extLst>
          </p:cNvPr>
          <p:cNvSpPr/>
          <p:nvPr/>
        </p:nvSpPr>
        <p:spPr>
          <a:xfrm>
            <a:off x="1483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rgbClr val="44525A"/>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a:solidFill>
                  <a:schemeClr val="bg1"/>
                </a:solidFill>
                <a:effectLst/>
                <a:latin typeface="Bahnschrift" panose="020B0502040204020203" pitchFamily="34" charset="0"/>
              </a:rPr>
              <a:t>Indexing the document</a:t>
            </a:r>
            <a:endParaRPr lang="en-IN" sz="2300" b="1" kern="1200" dirty="0">
              <a:solidFill>
                <a:schemeClr val="bg1"/>
              </a:solidFill>
              <a:latin typeface="Bahnschrift" panose="020B0502040204020203" pitchFamily="34" charset="0"/>
            </a:endParaRPr>
          </a:p>
        </p:txBody>
      </p:sp>
      <p:sp>
        <p:nvSpPr>
          <p:cNvPr id="10" name="Freeform: Shape 9">
            <a:extLst>
              <a:ext uri="{FF2B5EF4-FFF2-40B4-BE49-F238E27FC236}">
                <a16:creationId xmlns:a16="http://schemas.microsoft.com/office/drawing/2014/main" id="{A83EDCF2-2735-4131-8C77-50DBC07DF0B5}"/>
              </a:ext>
            </a:extLst>
          </p:cNvPr>
          <p:cNvSpPr/>
          <p:nvPr/>
        </p:nvSpPr>
        <p:spPr>
          <a:xfrm>
            <a:off x="35791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User Interface for Search</a:t>
            </a:r>
          </a:p>
        </p:txBody>
      </p:sp>
      <p:sp>
        <p:nvSpPr>
          <p:cNvPr id="11" name="Freeform: Shape 10">
            <a:extLst>
              <a:ext uri="{FF2B5EF4-FFF2-40B4-BE49-F238E27FC236}">
                <a16:creationId xmlns:a16="http://schemas.microsoft.com/office/drawing/2014/main" id="{B8874062-6084-413C-BAE7-C7D0580E553D}"/>
              </a:ext>
            </a:extLst>
          </p:cNvPr>
          <p:cNvSpPr/>
          <p:nvPr/>
        </p:nvSpPr>
        <p:spPr>
          <a:xfrm>
            <a:off x="5674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Build Query</a:t>
            </a:r>
          </a:p>
        </p:txBody>
      </p:sp>
      <p:sp>
        <p:nvSpPr>
          <p:cNvPr id="12" name="Freeform: Shape 11">
            <a:extLst>
              <a:ext uri="{FF2B5EF4-FFF2-40B4-BE49-F238E27FC236}">
                <a16:creationId xmlns:a16="http://schemas.microsoft.com/office/drawing/2014/main" id="{0F7D4B1B-D9A1-4E0F-B05F-E50342106EBE}"/>
              </a:ext>
            </a:extLst>
          </p:cNvPr>
          <p:cNvSpPr/>
          <p:nvPr/>
        </p:nvSpPr>
        <p:spPr>
          <a:xfrm>
            <a:off x="25313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Search Query</a:t>
            </a:r>
          </a:p>
        </p:txBody>
      </p:sp>
      <p:sp>
        <p:nvSpPr>
          <p:cNvPr id="13" name="Freeform: Shape 12">
            <a:extLst>
              <a:ext uri="{FF2B5EF4-FFF2-40B4-BE49-F238E27FC236}">
                <a16:creationId xmlns:a16="http://schemas.microsoft.com/office/drawing/2014/main" id="{AF2B505D-78D0-4E68-AEA7-66B2355B5BF5}"/>
              </a:ext>
            </a:extLst>
          </p:cNvPr>
          <p:cNvSpPr/>
          <p:nvPr/>
        </p:nvSpPr>
        <p:spPr>
          <a:xfrm>
            <a:off x="46268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Render Results</a:t>
            </a:r>
          </a:p>
        </p:txBody>
      </p:sp>
    </p:spTree>
    <p:extLst>
      <p:ext uri="{BB962C8B-B14F-4D97-AF65-F5344CB8AC3E}">
        <p14:creationId xmlns:p14="http://schemas.microsoft.com/office/powerpoint/2010/main" val="418148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2CA6C4-6B4E-4BCF-8892-3E738D554E3A}"/>
              </a:ext>
            </a:extLst>
          </p:cNvPr>
          <p:cNvSpPr>
            <a:spLocks noGrp="1"/>
          </p:cNvSpPr>
          <p:nvPr>
            <p:ph idx="1"/>
          </p:nvPr>
        </p:nvSpPr>
        <p:spPr>
          <a:xfrm>
            <a:off x="338361" y="1461890"/>
            <a:ext cx="8386537" cy="948801"/>
          </a:xfrm>
        </p:spPr>
        <p:txBody>
          <a:bodyPr/>
          <a:lstStyle/>
          <a:p>
            <a:pPr marL="0" indent="0" algn="just">
              <a:buNone/>
            </a:pPr>
            <a:r>
              <a:rPr lang="en-IN" b="0" i="0" dirty="0">
                <a:effectLst/>
              </a:rPr>
              <a:t>How Search Application works?</a:t>
            </a:r>
          </a:p>
        </p:txBody>
      </p:sp>
      <p:sp>
        <p:nvSpPr>
          <p:cNvPr id="3" name="Title 2">
            <a:extLst>
              <a:ext uri="{FF2B5EF4-FFF2-40B4-BE49-F238E27FC236}">
                <a16:creationId xmlns:a16="http://schemas.microsoft.com/office/drawing/2014/main" id="{B2E5A5EB-FF7D-40F9-8AA2-ED640221C762}"/>
              </a:ext>
            </a:extLst>
          </p:cNvPr>
          <p:cNvSpPr>
            <a:spLocks noGrp="1"/>
          </p:cNvSpPr>
          <p:nvPr>
            <p:ph type="title"/>
          </p:nvPr>
        </p:nvSpPr>
        <p:spPr/>
        <p:txBody>
          <a:bodyPr vert="horz" lIns="91440" tIns="45720" rIns="91440" bIns="45720" rtlCol="0" anchor="ctr">
            <a:normAutofit/>
          </a:bodyPr>
          <a:lstStyle/>
          <a:p>
            <a:r>
              <a:rPr lang="en-US" dirty="0"/>
              <a:t>Lucene(Java Based Text Search Engine)</a:t>
            </a:r>
            <a:endParaRPr lang="en-IN" dirty="0"/>
          </a:p>
        </p:txBody>
      </p:sp>
      <p:sp>
        <p:nvSpPr>
          <p:cNvPr id="6" name="Freeform: Shape 5">
            <a:extLst>
              <a:ext uri="{FF2B5EF4-FFF2-40B4-BE49-F238E27FC236}">
                <a16:creationId xmlns:a16="http://schemas.microsoft.com/office/drawing/2014/main" id="{EC91698D-08C1-4875-8D78-F4B0AD1CEF3F}"/>
              </a:ext>
            </a:extLst>
          </p:cNvPr>
          <p:cNvSpPr/>
          <p:nvPr/>
        </p:nvSpPr>
        <p:spPr>
          <a:xfrm>
            <a:off x="1483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Acquire Raw Content</a:t>
            </a:r>
          </a:p>
        </p:txBody>
      </p:sp>
      <p:sp>
        <p:nvSpPr>
          <p:cNvPr id="7" name="Freeform: Shape 6">
            <a:extLst>
              <a:ext uri="{FF2B5EF4-FFF2-40B4-BE49-F238E27FC236}">
                <a16:creationId xmlns:a16="http://schemas.microsoft.com/office/drawing/2014/main" id="{847B233C-BA4E-4101-81F8-8B03AF005292}"/>
              </a:ext>
            </a:extLst>
          </p:cNvPr>
          <p:cNvSpPr/>
          <p:nvPr/>
        </p:nvSpPr>
        <p:spPr>
          <a:xfrm>
            <a:off x="35791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Build the document</a:t>
            </a:r>
          </a:p>
        </p:txBody>
      </p:sp>
      <p:sp>
        <p:nvSpPr>
          <p:cNvPr id="8" name="Freeform: Shape 7">
            <a:extLst>
              <a:ext uri="{FF2B5EF4-FFF2-40B4-BE49-F238E27FC236}">
                <a16:creationId xmlns:a16="http://schemas.microsoft.com/office/drawing/2014/main" id="{9A5BA2D0-9DAD-4FA3-B9CD-6CC4C1C64935}"/>
              </a:ext>
            </a:extLst>
          </p:cNvPr>
          <p:cNvSpPr/>
          <p:nvPr/>
        </p:nvSpPr>
        <p:spPr>
          <a:xfrm>
            <a:off x="5674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err="1">
                <a:solidFill>
                  <a:schemeClr val="bg1"/>
                </a:solidFill>
                <a:latin typeface="Bahnschrift" panose="020B0502040204020203" pitchFamily="34" charset="0"/>
              </a:rPr>
              <a:t>Analyze</a:t>
            </a:r>
            <a:r>
              <a:rPr lang="en-IN" sz="2300" b="1" dirty="0">
                <a:solidFill>
                  <a:schemeClr val="bg1"/>
                </a:solidFill>
                <a:latin typeface="Bahnschrift" panose="020B0502040204020203" pitchFamily="34" charset="0"/>
              </a:rPr>
              <a:t> the document</a:t>
            </a:r>
          </a:p>
        </p:txBody>
      </p:sp>
      <p:sp>
        <p:nvSpPr>
          <p:cNvPr id="9" name="Freeform: Shape 8">
            <a:extLst>
              <a:ext uri="{FF2B5EF4-FFF2-40B4-BE49-F238E27FC236}">
                <a16:creationId xmlns:a16="http://schemas.microsoft.com/office/drawing/2014/main" id="{1228E374-744F-4788-B3BC-AB6CA7DBDAFF}"/>
              </a:ext>
            </a:extLst>
          </p:cNvPr>
          <p:cNvSpPr/>
          <p:nvPr/>
        </p:nvSpPr>
        <p:spPr>
          <a:xfrm>
            <a:off x="1483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Indexing the document</a:t>
            </a:r>
          </a:p>
        </p:txBody>
      </p:sp>
      <p:sp>
        <p:nvSpPr>
          <p:cNvPr id="10" name="Freeform: Shape 9">
            <a:extLst>
              <a:ext uri="{FF2B5EF4-FFF2-40B4-BE49-F238E27FC236}">
                <a16:creationId xmlns:a16="http://schemas.microsoft.com/office/drawing/2014/main" id="{A83EDCF2-2735-4131-8C77-50DBC07DF0B5}"/>
              </a:ext>
            </a:extLst>
          </p:cNvPr>
          <p:cNvSpPr/>
          <p:nvPr/>
        </p:nvSpPr>
        <p:spPr>
          <a:xfrm>
            <a:off x="35791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rgbClr val="44525A"/>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a:solidFill>
                  <a:schemeClr val="bg1"/>
                </a:solidFill>
                <a:effectLst/>
                <a:latin typeface="Bahnschrift" panose="020B0502040204020203" pitchFamily="34" charset="0"/>
              </a:rPr>
              <a:t>User Interface for Search</a:t>
            </a:r>
          </a:p>
        </p:txBody>
      </p:sp>
      <p:sp>
        <p:nvSpPr>
          <p:cNvPr id="11" name="Freeform: Shape 10">
            <a:extLst>
              <a:ext uri="{FF2B5EF4-FFF2-40B4-BE49-F238E27FC236}">
                <a16:creationId xmlns:a16="http://schemas.microsoft.com/office/drawing/2014/main" id="{B8874062-6084-413C-BAE7-C7D0580E553D}"/>
              </a:ext>
            </a:extLst>
          </p:cNvPr>
          <p:cNvSpPr/>
          <p:nvPr/>
        </p:nvSpPr>
        <p:spPr>
          <a:xfrm>
            <a:off x="5674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Build Query</a:t>
            </a:r>
          </a:p>
        </p:txBody>
      </p:sp>
      <p:sp>
        <p:nvSpPr>
          <p:cNvPr id="12" name="Freeform: Shape 11">
            <a:extLst>
              <a:ext uri="{FF2B5EF4-FFF2-40B4-BE49-F238E27FC236}">
                <a16:creationId xmlns:a16="http://schemas.microsoft.com/office/drawing/2014/main" id="{0F7D4B1B-D9A1-4E0F-B05F-E50342106EBE}"/>
              </a:ext>
            </a:extLst>
          </p:cNvPr>
          <p:cNvSpPr/>
          <p:nvPr/>
        </p:nvSpPr>
        <p:spPr>
          <a:xfrm>
            <a:off x="25313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Search Query</a:t>
            </a:r>
          </a:p>
        </p:txBody>
      </p:sp>
      <p:sp>
        <p:nvSpPr>
          <p:cNvPr id="13" name="Freeform: Shape 12">
            <a:extLst>
              <a:ext uri="{FF2B5EF4-FFF2-40B4-BE49-F238E27FC236}">
                <a16:creationId xmlns:a16="http://schemas.microsoft.com/office/drawing/2014/main" id="{AF2B505D-78D0-4E68-AEA7-66B2355B5BF5}"/>
              </a:ext>
            </a:extLst>
          </p:cNvPr>
          <p:cNvSpPr/>
          <p:nvPr/>
        </p:nvSpPr>
        <p:spPr>
          <a:xfrm>
            <a:off x="46268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Render Results</a:t>
            </a:r>
          </a:p>
        </p:txBody>
      </p:sp>
    </p:spTree>
    <p:extLst>
      <p:ext uri="{BB962C8B-B14F-4D97-AF65-F5344CB8AC3E}">
        <p14:creationId xmlns:p14="http://schemas.microsoft.com/office/powerpoint/2010/main" val="1017407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2CA6C4-6B4E-4BCF-8892-3E738D554E3A}"/>
              </a:ext>
            </a:extLst>
          </p:cNvPr>
          <p:cNvSpPr>
            <a:spLocks noGrp="1"/>
          </p:cNvSpPr>
          <p:nvPr>
            <p:ph idx="1"/>
          </p:nvPr>
        </p:nvSpPr>
        <p:spPr>
          <a:xfrm>
            <a:off x="338361" y="1461890"/>
            <a:ext cx="8386537" cy="948801"/>
          </a:xfrm>
        </p:spPr>
        <p:txBody>
          <a:bodyPr/>
          <a:lstStyle/>
          <a:p>
            <a:pPr marL="0" indent="0" algn="just">
              <a:buNone/>
            </a:pPr>
            <a:r>
              <a:rPr lang="en-IN" b="0" i="0" dirty="0">
                <a:effectLst/>
              </a:rPr>
              <a:t>How Search Application works?</a:t>
            </a:r>
          </a:p>
        </p:txBody>
      </p:sp>
      <p:sp>
        <p:nvSpPr>
          <p:cNvPr id="3" name="Title 2">
            <a:extLst>
              <a:ext uri="{FF2B5EF4-FFF2-40B4-BE49-F238E27FC236}">
                <a16:creationId xmlns:a16="http://schemas.microsoft.com/office/drawing/2014/main" id="{B2E5A5EB-FF7D-40F9-8AA2-ED640221C762}"/>
              </a:ext>
            </a:extLst>
          </p:cNvPr>
          <p:cNvSpPr>
            <a:spLocks noGrp="1"/>
          </p:cNvSpPr>
          <p:nvPr>
            <p:ph type="title"/>
          </p:nvPr>
        </p:nvSpPr>
        <p:spPr/>
        <p:txBody>
          <a:bodyPr vert="horz" lIns="91440" tIns="45720" rIns="91440" bIns="45720" rtlCol="0" anchor="ctr">
            <a:normAutofit/>
          </a:bodyPr>
          <a:lstStyle/>
          <a:p>
            <a:r>
              <a:rPr lang="en-US" dirty="0"/>
              <a:t>Lucene(Java Based Text Search Engine)</a:t>
            </a:r>
            <a:endParaRPr lang="en-IN" dirty="0"/>
          </a:p>
        </p:txBody>
      </p:sp>
      <p:sp>
        <p:nvSpPr>
          <p:cNvPr id="6" name="Freeform: Shape 5">
            <a:extLst>
              <a:ext uri="{FF2B5EF4-FFF2-40B4-BE49-F238E27FC236}">
                <a16:creationId xmlns:a16="http://schemas.microsoft.com/office/drawing/2014/main" id="{EC91698D-08C1-4875-8D78-F4B0AD1CEF3F}"/>
              </a:ext>
            </a:extLst>
          </p:cNvPr>
          <p:cNvSpPr/>
          <p:nvPr/>
        </p:nvSpPr>
        <p:spPr>
          <a:xfrm>
            <a:off x="1483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Acquire Raw Content</a:t>
            </a:r>
          </a:p>
        </p:txBody>
      </p:sp>
      <p:sp>
        <p:nvSpPr>
          <p:cNvPr id="7" name="Freeform: Shape 6">
            <a:extLst>
              <a:ext uri="{FF2B5EF4-FFF2-40B4-BE49-F238E27FC236}">
                <a16:creationId xmlns:a16="http://schemas.microsoft.com/office/drawing/2014/main" id="{847B233C-BA4E-4101-81F8-8B03AF005292}"/>
              </a:ext>
            </a:extLst>
          </p:cNvPr>
          <p:cNvSpPr/>
          <p:nvPr/>
        </p:nvSpPr>
        <p:spPr>
          <a:xfrm>
            <a:off x="35791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Build the document</a:t>
            </a:r>
          </a:p>
        </p:txBody>
      </p:sp>
      <p:sp>
        <p:nvSpPr>
          <p:cNvPr id="8" name="Freeform: Shape 7">
            <a:extLst>
              <a:ext uri="{FF2B5EF4-FFF2-40B4-BE49-F238E27FC236}">
                <a16:creationId xmlns:a16="http://schemas.microsoft.com/office/drawing/2014/main" id="{9A5BA2D0-9DAD-4FA3-B9CD-6CC4C1C64935}"/>
              </a:ext>
            </a:extLst>
          </p:cNvPr>
          <p:cNvSpPr/>
          <p:nvPr/>
        </p:nvSpPr>
        <p:spPr>
          <a:xfrm>
            <a:off x="5674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err="1">
                <a:solidFill>
                  <a:schemeClr val="bg1"/>
                </a:solidFill>
                <a:latin typeface="Bahnschrift" panose="020B0502040204020203" pitchFamily="34" charset="0"/>
              </a:rPr>
              <a:t>Analyze</a:t>
            </a:r>
            <a:r>
              <a:rPr lang="en-IN" sz="2300" b="1" dirty="0">
                <a:solidFill>
                  <a:schemeClr val="bg1"/>
                </a:solidFill>
                <a:latin typeface="Bahnschrift" panose="020B0502040204020203" pitchFamily="34" charset="0"/>
              </a:rPr>
              <a:t> the document</a:t>
            </a:r>
          </a:p>
        </p:txBody>
      </p:sp>
      <p:sp>
        <p:nvSpPr>
          <p:cNvPr id="9" name="Freeform: Shape 8">
            <a:extLst>
              <a:ext uri="{FF2B5EF4-FFF2-40B4-BE49-F238E27FC236}">
                <a16:creationId xmlns:a16="http://schemas.microsoft.com/office/drawing/2014/main" id="{1228E374-744F-4788-B3BC-AB6CA7DBDAFF}"/>
              </a:ext>
            </a:extLst>
          </p:cNvPr>
          <p:cNvSpPr/>
          <p:nvPr/>
        </p:nvSpPr>
        <p:spPr>
          <a:xfrm>
            <a:off x="1483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Indexing the document</a:t>
            </a:r>
          </a:p>
        </p:txBody>
      </p:sp>
      <p:sp>
        <p:nvSpPr>
          <p:cNvPr id="10" name="Freeform: Shape 9">
            <a:extLst>
              <a:ext uri="{FF2B5EF4-FFF2-40B4-BE49-F238E27FC236}">
                <a16:creationId xmlns:a16="http://schemas.microsoft.com/office/drawing/2014/main" id="{A83EDCF2-2735-4131-8C77-50DBC07DF0B5}"/>
              </a:ext>
            </a:extLst>
          </p:cNvPr>
          <p:cNvSpPr/>
          <p:nvPr/>
        </p:nvSpPr>
        <p:spPr>
          <a:xfrm>
            <a:off x="35791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User Interface for Search</a:t>
            </a:r>
          </a:p>
        </p:txBody>
      </p:sp>
      <p:sp>
        <p:nvSpPr>
          <p:cNvPr id="11" name="Freeform: Shape 10">
            <a:extLst>
              <a:ext uri="{FF2B5EF4-FFF2-40B4-BE49-F238E27FC236}">
                <a16:creationId xmlns:a16="http://schemas.microsoft.com/office/drawing/2014/main" id="{B8874062-6084-413C-BAE7-C7D0580E553D}"/>
              </a:ext>
            </a:extLst>
          </p:cNvPr>
          <p:cNvSpPr/>
          <p:nvPr/>
        </p:nvSpPr>
        <p:spPr>
          <a:xfrm>
            <a:off x="5674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rgbClr val="44525A"/>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a:solidFill>
                  <a:schemeClr val="bg1"/>
                </a:solidFill>
                <a:effectLst/>
                <a:latin typeface="Bahnschrift" panose="020B0502040204020203" pitchFamily="34" charset="0"/>
              </a:rPr>
              <a:t>Build Query</a:t>
            </a:r>
            <a:endParaRPr lang="en-IN" sz="2300" kern="1200" dirty="0">
              <a:solidFill>
                <a:schemeClr val="bg1"/>
              </a:solidFill>
              <a:latin typeface="Bahnschrift" panose="020B0502040204020203" pitchFamily="34" charset="0"/>
            </a:endParaRPr>
          </a:p>
        </p:txBody>
      </p:sp>
      <p:sp>
        <p:nvSpPr>
          <p:cNvPr id="12" name="Freeform: Shape 11">
            <a:extLst>
              <a:ext uri="{FF2B5EF4-FFF2-40B4-BE49-F238E27FC236}">
                <a16:creationId xmlns:a16="http://schemas.microsoft.com/office/drawing/2014/main" id="{0F7D4B1B-D9A1-4E0F-B05F-E50342106EBE}"/>
              </a:ext>
            </a:extLst>
          </p:cNvPr>
          <p:cNvSpPr/>
          <p:nvPr/>
        </p:nvSpPr>
        <p:spPr>
          <a:xfrm>
            <a:off x="25313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a:solidFill>
                  <a:schemeClr val="bg1"/>
                </a:solidFill>
                <a:latin typeface="Bahnschrift" panose="020B0502040204020203" pitchFamily="34" charset="0"/>
              </a:rPr>
              <a:t>Search Query</a:t>
            </a:r>
            <a:endParaRPr lang="en-IN" sz="2300" b="1" dirty="0">
              <a:solidFill>
                <a:schemeClr val="bg1"/>
              </a:solidFill>
              <a:latin typeface="Bahnschrift" panose="020B0502040204020203" pitchFamily="34" charset="0"/>
            </a:endParaRPr>
          </a:p>
        </p:txBody>
      </p:sp>
      <p:sp>
        <p:nvSpPr>
          <p:cNvPr id="13" name="Freeform: Shape 12">
            <a:extLst>
              <a:ext uri="{FF2B5EF4-FFF2-40B4-BE49-F238E27FC236}">
                <a16:creationId xmlns:a16="http://schemas.microsoft.com/office/drawing/2014/main" id="{AF2B505D-78D0-4E68-AEA7-66B2355B5BF5}"/>
              </a:ext>
            </a:extLst>
          </p:cNvPr>
          <p:cNvSpPr/>
          <p:nvPr/>
        </p:nvSpPr>
        <p:spPr>
          <a:xfrm>
            <a:off x="46268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Render Results</a:t>
            </a:r>
          </a:p>
        </p:txBody>
      </p:sp>
    </p:spTree>
    <p:extLst>
      <p:ext uri="{BB962C8B-B14F-4D97-AF65-F5344CB8AC3E}">
        <p14:creationId xmlns:p14="http://schemas.microsoft.com/office/powerpoint/2010/main" val="3762480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2CA6C4-6B4E-4BCF-8892-3E738D554E3A}"/>
              </a:ext>
            </a:extLst>
          </p:cNvPr>
          <p:cNvSpPr>
            <a:spLocks noGrp="1"/>
          </p:cNvSpPr>
          <p:nvPr>
            <p:ph idx="1"/>
          </p:nvPr>
        </p:nvSpPr>
        <p:spPr>
          <a:xfrm>
            <a:off x="338361" y="1461890"/>
            <a:ext cx="8386537" cy="948801"/>
          </a:xfrm>
        </p:spPr>
        <p:txBody>
          <a:bodyPr/>
          <a:lstStyle/>
          <a:p>
            <a:pPr marL="0" indent="0" algn="just">
              <a:buNone/>
            </a:pPr>
            <a:r>
              <a:rPr lang="en-IN" b="0" i="0" dirty="0">
                <a:effectLst/>
              </a:rPr>
              <a:t>How Search Application works?</a:t>
            </a:r>
          </a:p>
        </p:txBody>
      </p:sp>
      <p:sp>
        <p:nvSpPr>
          <p:cNvPr id="3" name="Title 2">
            <a:extLst>
              <a:ext uri="{FF2B5EF4-FFF2-40B4-BE49-F238E27FC236}">
                <a16:creationId xmlns:a16="http://schemas.microsoft.com/office/drawing/2014/main" id="{B2E5A5EB-FF7D-40F9-8AA2-ED640221C762}"/>
              </a:ext>
            </a:extLst>
          </p:cNvPr>
          <p:cNvSpPr>
            <a:spLocks noGrp="1"/>
          </p:cNvSpPr>
          <p:nvPr>
            <p:ph type="title"/>
          </p:nvPr>
        </p:nvSpPr>
        <p:spPr/>
        <p:txBody>
          <a:bodyPr vert="horz" lIns="91440" tIns="45720" rIns="91440" bIns="45720" rtlCol="0" anchor="ctr">
            <a:normAutofit/>
          </a:bodyPr>
          <a:lstStyle/>
          <a:p>
            <a:r>
              <a:rPr lang="en-US" dirty="0"/>
              <a:t>Lucene(Java Based Text Search Engine)</a:t>
            </a:r>
            <a:endParaRPr lang="en-IN" dirty="0"/>
          </a:p>
        </p:txBody>
      </p:sp>
      <p:sp>
        <p:nvSpPr>
          <p:cNvPr id="6" name="Freeform: Shape 5">
            <a:extLst>
              <a:ext uri="{FF2B5EF4-FFF2-40B4-BE49-F238E27FC236}">
                <a16:creationId xmlns:a16="http://schemas.microsoft.com/office/drawing/2014/main" id="{EC91698D-08C1-4875-8D78-F4B0AD1CEF3F}"/>
              </a:ext>
            </a:extLst>
          </p:cNvPr>
          <p:cNvSpPr/>
          <p:nvPr/>
        </p:nvSpPr>
        <p:spPr>
          <a:xfrm>
            <a:off x="1483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Acquire Raw Content</a:t>
            </a:r>
          </a:p>
        </p:txBody>
      </p:sp>
      <p:sp>
        <p:nvSpPr>
          <p:cNvPr id="7" name="Freeform: Shape 6">
            <a:extLst>
              <a:ext uri="{FF2B5EF4-FFF2-40B4-BE49-F238E27FC236}">
                <a16:creationId xmlns:a16="http://schemas.microsoft.com/office/drawing/2014/main" id="{847B233C-BA4E-4101-81F8-8B03AF005292}"/>
              </a:ext>
            </a:extLst>
          </p:cNvPr>
          <p:cNvSpPr/>
          <p:nvPr/>
        </p:nvSpPr>
        <p:spPr>
          <a:xfrm>
            <a:off x="35791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Build the document</a:t>
            </a:r>
          </a:p>
        </p:txBody>
      </p:sp>
      <p:sp>
        <p:nvSpPr>
          <p:cNvPr id="8" name="Freeform: Shape 7">
            <a:extLst>
              <a:ext uri="{FF2B5EF4-FFF2-40B4-BE49-F238E27FC236}">
                <a16:creationId xmlns:a16="http://schemas.microsoft.com/office/drawing/2014/main" id="{9A5BA2D0-9DAD-4FA3-B9CD-6CC4C1C64935}"/>
              </a:ext>
            </a:extLst>
          </p:cNvPr>
          <p:cNvSpPr/>
          <p:nvPr/>
        </p:nvSpPr>
        <p:spPr>
          <a:xfrm>
            <a:off x="5674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err="1">
                <a:solidFill>
                  <a:schemeClr val="bg1"/>
                </a:solidFill>
                <a:latin typeface="Bahnschrift" panose="020B0502040204020203" pitchFamily="34" charset="0"/>
              </a:rPr>
              <a:t>Analyze</a:t>
            </a:r>
            <a:r>
              <a:rPr lang="en-IN" sz="2300" b="1" dirty="0">
                <a:solidFill>
                  <a:schemeClr val="bg1"/>
                </a:solidFill>
                <a:latin typeface="Bahnschrift" panose="020B0502040204020203" pitchFamily="34" charset="0"/>
              </a:rPr>
              <a:t> the document</a:t>
            </a:r>
          </a:p>
        </p:txBody>
      </p:sp>
      <p:sp>
        <p:nvSpPr>
          <p:cNvPr id="9" name="Freeform: Shape 8">
            <a:extLst>
              <a:ext uri="{FF2B5EF4-FFF2-40B4-BE49-F238E27FC236}">
                <a16:creationId xmlns:a16="http://schemas.microsoft.com/office/drawing/2014/main" id="{1228E374-744F-4788-B3BC-AB6CA7DBDAFF}"/>
              </a:ext>
            </a:extLst>
          </p:cNvPr>
          <p:cNvSpPr/>
          <p:nvPr/>
        </p:nvSpPr>
        <p:spPr>
          <a:xfrm>
            <a:off x="1483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Indexing the document</a:t>
            </a:r>
          </a:p>
        </p:txBody>
      </p:sp>
      <p:sp>
        <p:nvSpPr>
          <p:cNvPr id="10" name="Freeform: Shape 9">
            <a:extLst>
              <a:ext uri="{FF2B5EF4-FFF2-40B4-BE49-F238E27FC236}">
                <a16:creationId xmlns:a16="http://schemas.microsoft.com/office/drawing/2014/main" id="{A83EDCF2-2735-4131-8C77-50DBC07DF0B5}"/>
              </a:ext>
            </a:extLst>
          </p:cNvPr>
          <p:cNvSpPr/>
          <p:nvPr/>
        </p:nvSpPr>
        <p:spPr>
          <a:xfrm>
            <a:off x="35791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User Interface for Search</a:t>
            </a:r>
          </a:p>
        </p:txBody>
      </p:sp>
      <p:sp>
        <p:nvSpPr>
          <p:cNvPr id="11" name="Freeform: Shape 10">
            <a:extLst>
              <a:ext uri="{FF2B5EF4-FFF2-40B4-BE49-F238E27FC236}">
                <a16:creationId xmlns:a16="http://schemas.microsoft.com/office/drawing/2014/main" id="{B8874062-6084-413C-BAE7-C7D0580E553D}"/>
              </a:ext>
            </a:extLst>
          </p:cNvPr>
          <p:cNvSpPr/>
          <p:nvPr/>
        </p:nvSpPr>
        <p:spPr>
          <a:xfrm>
            <a:off x="5674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Build Query</a:t>
            </a:r>
          </a:p>
        </p:txBody>
      </p:sp>
      <p:sp>
        <p:nvSpPr>
          <p:cNvPr id="12" name="Freeform: Shape 11">
            <a:extLst>
              <a:ext uri="{FF2B5EF4-FFF2-40B4-BE49-F238E27FC236}">
                <a16:creationId xmlns:a16="http://schemas.microsoft.com/office/drawing/2014/main" id="{0F7D4B1B-D9A1-4E0F-B05F-E50342106EBE}"/>
              </a:ext>
            </a:extLst>
          </p:cNvPr>
          <p:cNvSpPr/>
          <p:nvPr/>
        </p:nvSpPr>
        <p:spPr>
          <a:xfrm>
            <a:off x="25313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rgbClr val="44525A"/>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a:latin typeface="Bahnschrift" panose="020B0502040204020203" pitchFamily="34" charset="0"/>
              </a:rPr>
              <a:t>Search Query</a:t>
            </a:r>
            <a:endParaRPr lang="en-IN" sz="2300" kern="1200" dirty="0">
              <a:latin typeface="Bahnschrift" panose="020B0502040204020203" pitchFamily="34" charset="0"/>
            </a:endParaRPr>
          </a:p>
        </p:txBody>
      </p:sp>
      <p:sp>
        <p:nvSpPr>
          <p:cNvPr id="13" name="Freeform: Shape 12">
            <a:extLst>
              <a:ext uri="{FF2B5EF4-FFF2-40B4-BE49-F238E27FC236}">
                <a16:creationId xmlns:a16="http://schemas.microsoft.com/office/drawing/2014/main" id="{AF2B505D-78D0-4E68-AEA7-66B2355B5BF5}"/>
              </a:ext>
            </a:extLst>
          </p:cNvPr>
          <p:cNvSpPr/>
          <p:nvPr/>
        </p:nvSpPr>
        <p:spPr>
          <a:xfrm>
            <a:off x="46268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Render Results.</a:t>
            </a:r>
          </a:p>
        </p:txBody>
      </p:sp>
    </p:spTree>
    <p:extLst>
      <p:ext uri="{BB962C8B-B14F-4D97-AF65-F5344CB8AC3E}">
        <p14:creationId xmlns:p14="http://schemas.microsoft.com/office/powerpoint/2010/main" val="859272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2CA6C4-6B4E-4BCF-8892-3E738D554E3A}"/>
              </a:ext>
            </a:extLst>
          </p:cNvPr>
          <p:cNvSpPr>
            <a:spLocks noGrp="1"/>
          </p:cNvSpPr>
          <p:nvPr>
            <p:ph idx="1"/>
          </p:nvPr>
        </p:nvSpPr>
        <p:spPr>
          <a:xfrm>
            <a:off x="338361" y="1461890"/>
            <a:ext cx="8386537" cy="948801"/>
          </a:xfrm>
        </p:spPr>
        <p:txBody>
          <a:bodyPr/>
          <a:lstStyle/>
          <a:p>
            <a:pPr marL="0" indent="0" algn="just">
              <a:buNone/>
            </a:pPr>
            <a:r>
              <a:rPr lang="en-IN" b="0" i="0" dirty="0">
                <a:effectLst/>
              </a:rPr>
              <a:t>How Search Application works?</a:t>
            </a:r>
          </a:p>
        </p:txBody>
      </p:sp>
      <p:sp>
        <p:nvSpPr>
          <p:cNvPr id="3" name="Title 2">
            <a:extLst>
              <a:ext uri="{FF2B5EF4-FFF2-40B4-BE49-F238E27FC236}">
                <a16:creationId xmlns:a16="http://schemas.microsoft.com/office/drawing/2014/main" id="{B2E5A5EB-FF7D-40F9-8AA2-ED640221C762}"/>
              </a:ext>
            </a:extLst>
          </p:cNvPr>
          <p:cNvSpPr>
            <a:spLocks noGrp="1"/>
          </p:cNvSpPr>
          <p:nvPr>
            <p:ph type="title"/>
          </p:nvPr>
        </p:nvSpPr>
        <p:spPr/>
        <p:txBody>
          <a:bodyPr vert="horz" lIns="91440" tIns="45720" rIns="91440" bIns="45720" rtlCol="0" anchor="ctr">
            <a:normAutofit/>
          </a:bodyPr>
          <a:lstStyle/>
          <a:p>
            <a:r>
              <a:rPr lang="en-US" dirty="0"/>
              <a:t>Lucene(Java Based Text Search Engine)</a:t>
            </a:r>
            <a:endParaRPr lang="en-IN" dirty="0"/>
          </a:p>
        </p:txBody>
      </p:sp>
      <p:sp>
        <p:nvSpPr>
          <p:cNvPr id="6" name="Freeform: Shape 5">
            <a:extLst>
              <a:ext uri="{FF2B5EF4-FFF2-40B4-BE49-F238E27FC236}">
                <a16:creationId xmlns:a16="http://schemas.microsoft.com/office/drawing/2014/main" id="{EC91698D-08C1-4875-8D78-F4B0AD1CEF3F}"/>
              </a:ext>
            </a:extLst>
          </p:cNvPr>
          <p:cNvSpPr/>
          <p:nvPr/>
        </p:nvSpPr>
        <p:spPr>
          <a:xfrm>
            <a:off x="1483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Acquire Raw Content</a:t>
            </a:r>
          </a:p>
        </p:txBody>
      </p:sp>
      <p:sp>
        <p:nvSpPr>
          <p:cNvPr id="7" name="Freeform: Shape 6">
            <a:extLst>
              <a:ext uri="{FF2B5EF4-FFF2-40B4-BE49-F238E27FC236}">
                <a16:creationId xmlns:a16="http://schemas.microsoft.com/office/drawing/2014/main" id="{847B233C-BA4E-4101-81F8-8B03AF005292}"/>
              </a:ext>
            </a:extLst>
          </p:cNvPr>
          <p:cNvSpPr/>
          <p:nvPr/>
        </p:nvSpPr>
        <p:spPr>
          <a:xfrm>
            <a:off x="35791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Build the document</a:t>
            </a:r>
          </a:p>
        </p:txBody>
      </p:sp>
      <p:sp>
        <p:nvSpPr>
          <p:cNvPr id="8" name="Freeform: Shape 7">
            <a:extLst>
              <a:ext uri="{FF2B5EF4-FFF2-40B4-BE49-F238E27FC236}">
                <a16:creationId xmlns:a16="http://schemas.microsoft.com/office/drawing/2014/main" id="{9A5BA2D0-9DAD-4FA3-B9CD-6CC4C1C64935}"/>
              </a:ext>
            </a:extLst>
          </p:cNvPr>
          <p:cNvSpPr/>
          <p:nvPr/>
        </p:nvSpPr>
        <p:spPr>
          <a:xfrm>
            <a:off x="5674630" y="26499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err="1">
                <a:solidFill>
                  <a:schemeClr val="bg1"/>
                </a:solidFill>
                <a:latin typeface="Bahnschrift" panose="020B0502040204020203" pitchFamily="34" charset="0"/>
              </a:rPr>
              <a:t>Analyze</a:t>
            </a:r>
            <a:r>
              <a:rPr lang="en-IN" sz="2300" b="1" dirty="0">
                <a:solidFill>
                  <a:schemeClr val="bg1"/>
                </a:solidFill>
                <a:latin typeface="Bahnschrift" panose="020B0502040204020203" pitchFamily="34" charset="0"/>
              </a:rPr>
              <a:t> the document</a:t>
            </a:r>
          </a:p>
        </p:txBody>
      </p:sp>
      <p:sp>
        <p:nvSpPr>
          <p:cNvPr id="9" name="Freeform: Shape 8">
            <a:extLst>
              <a:ext uri="{FF2B5EF4-FFF2-40B4-BE49-F238E27FC236}">
                <a16:creationId xmlns:a16="http://schemas.microsoft.com/office/drawing/2014/main" id="{1228E374-744F-4788-B3BC-AB6CA7DBDAFF}"/>
              </a:ext>
            </a:extLst>
          </p:cNvPr>
          <p:cNvSpPr/>
          <p:nvPr/>
        </p:nvSpPr>
        <p:spPr>
          <a:xfrm>
            <a:off x="1483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Indexing the document</a:t>
            </a:r>
          </a:p>
        </p:txBody>
      </p:sp>
      <p:sp>
        <p:nvSpPr>
          <p:cNvPr id="10" name="Freeform: Shape 9">
            <a:extLst>
              <a:ext uri="{FF2B5EF4-FFF2-40B4-BE49-F238E27FC236}">
                <a16:creationId xmlns:a16="http://schemas.microsoft.com/office/drawing/2014/main" id="{A83EDCF2-2735-4131-8C77-50DBC07DF0B5}"/>
              </a:ext>
            </a:extLst>
          </p:cNvPr>
          <p:cNvSpPr/>
          <p:nvPr/>
        </p:nvSpPr>
        <p:spPr>
          <a:xfrm>
            <a:off x="35791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User Interface for Search</a:t>
            </a:r>
          </a:p>
        </p:txBody>
      </p:sp>
      <p:sp>
        <p:nvSpPr>
          <p:cNvPr id="11" name="Freeform: Shape 10">
            <a:extLst>
              <a:ext uri="{FF2B5EF4-FFF2-40B4-BE49-F238E27FC236}">
                <a16:creationId xmlns:a16="http://schemas.microsoft.com/office/drawing/2014/main" id="{B8874062-6084-413C-BAE7-C7D0580E553D}"/>
              </a:ext>
            </a:extLst>
          </p:cNvPr>
          <p:cNvSpPr/>
          <p:nvPr/>
        </p:nvSpPr>
        <p:spPr>
          <a:xfrm>
            <a:off x="5674630" y="3983492"/>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solidFill>
                  <a:schemeClr val="bg1"/>
                </a:solidFill>
                <a:latin typeface="Bahnschrift" panose="020B0502040204020203" pitchFamily="34" charset="0"/>
              </a:rPr>
              <a:t>Build Query</a:t>
            </a:r>
          </a:p>
        </p:txBody>
      </p:sp>
      <p:sp>
        <p:nvSpPr>
          <p:cNvPr id="12" name="Freeform: Shape 11">
            <a:extLst>
              <a:ext uri="{FF2B5EF4-FFF2-40B4-BE49-F238E27FC236}">
                <a16:creationId xmlns:a16="http://schemas.microsoft.com/office/drawing/2014/main" id="{0F7D4B1B-D9A1-4E0F-B05F-E50342106EBE}"/>
              </a:ext>
            </a:extLst>
          </p:cNvPr>
          <p:cNvSpPr/>
          <p:nvPr/>
        </p:nvSpPr>
        <p:spPr>
          <a:xfrm>
            <a:off x="25313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a:solidFill>
                  <a:schemeClr val="bg1"/>
                </a:solidFill>
                <a:latin typeface="Bahnschrift" panose="020B0502040204020203" pitchFamily="34" charset="0"/>
              </a:rPr>
              <a:t>Search Query</a:t>
            </a:r>
            <a:endParaRPr lang="en-IN" sz="2300" b="1" dirty="0">
              <a:solidFill>
                <a:schemeClr val="bg1"/>
              </a:solidFill>
              <a:latin typeface="Bahnschrift" panose="020B0502040204020203" pitchFamily="34" charset="0"/>
            </a:endParaRPr>
          </a:p>
        </p:txBody>
      </p:sp>
      <p:sp>
        <p:nvSpPr>
          <p:cNvPr id="13" name="Freeform: Shape 12">
            <a:extLst>
              <a:ext uri="{FF2B5EF4-FFF2-40B4-BE49-F238E27FC236}">
                <a16:creationId xmlns:a16="http://schemas.microsoft.com/office/drawing/2014/main" id="{AF2B505D-78D0-4E68-AEA7-66B2355B5BF5}"/>
              </a:ext>
            </a:extLst>
          </p:cNvPr>
          <p:cNvSpPr/>
          <p:nvPr/>
        </p:nvSpPr>
        <p:spPr>
          <a:xfrm>
            <a:off x="4626880" y="5316991"/>
            <a:ext cx="1904999" cy="1143000"/>
          </a:xfrm>
          <a:custGeom>
            <a:avLst/>
            <a:gdLst>
              <a:gd name="connsiteX0" fmla="*/ 0 w 1904999"/>
              <a:gd name="connsiteY0" fmla="*/ 0 h 1143000"/>
              <a:gd name="connsiteX1" fmla="*/ 1904999 w 1904999"/>
              <a:gd name="connsiteY1" fmla="*/ 0 h 1143000"/>
              <a:gd name="connsiteX2" fmla="*/ 1904999 w 1904999"/>
              <a:gd name="connsiteY2" fmla="*/ 1143000 h 1143000"/>
              <a:gd name="connsiteX3" fmla="*/ 0 w 1904999"/>
              <a:gd name="connsiteY3" fmla="*/ 1143000 h 1143000"/>
              <a:gd name="connsiteX4" fmla="*/ 0 w 1904999"/>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999" h="1143000">
                <a:moveTo>
                  <a:pt x="0" y="0"/>
                </a:moveTo>
                <a:lnTo>
                  <a:pt x="1904999" y="0"/>
                </a:lnTo>
                <a:lnTo>
                  <a:pt x="1904999" y="1143000"/>
                </a:lnTo>
                <a:lnTo>
                  <a:pt x="0" y="1143000"/>
                </a:lnTo>
                <a:lnTo>
                  <a:pt x="0" y="0"/>
                </a:lnTo>
                <a:close/>
              </a:path>
            </a:pathLst>
          </a:custGeom>
          <a:solidFill>
            <a:srgbClr val="44525A"/>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7630" tIns="87630" rIns="87630" bIns="87630" numCol="1" spcCol="1270" anchor="ctr" anchorCtr="0">
            <a:noAutofit/>
          </a:bodyPr>
          <a:lstStyle/>
          <a:p>
            <a:pPr algn="ctr" defTabSz="1022350">
              <a:lnSpc>
                <a:spcPct val="90000"/>
              </a:lnSpc>
              <a:spcBef>
                <a:spcPct val="0"/>
              </a:spcBef>
              <a:spcAft>
                <a:spcPct val="35000"/>
              </a:spcAft>
            </a:pPr>
            <a:r>
              <a:rPr lang="en-IN" sz="2300" b="1" dirty="0">
                <a:latin typeface="Bahnschrift" panose="020B0502040204020203" pitchFamily="34" charset="0"/>
              </a:rPr>
              <a:t>Render Results</a:t>
            </a:r>
          </a:p>
        </p:txBody>
      </p:sp>
    </p:spTree>
    <p:extLst>
      <p:ext uri="{BB962C8B-B14F-4D97-AF65-F5344CB8AC3E}">
        <p14:creationId xmlns:p14="http://schemas.microsoft.com/office/powerpoint/2010/main" val="329321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8FA2AB-BDE2-4224-8431-E5078A16501C}"/>
              </a:ext>
            </a:extLst>
          </p:cNvPr>
          <p:cNvSpPr>
            <a:spLocks noGrp="1"/>
          </p:cNvSpPr>
          <p:nvPr>
            <p:ph idx="1"/>
          </p:nvPr>
        </p:nvSpPr>
        <p:spPr>
          <a:xfrm>
            <a:off x="338362" y="1461890"/>
            <a:ext cx="8386537" cy="5004884"/>
          </a:xfrm>
        </p:spPr>
        <p:txBody>
          <a:bodyPr/>
          <a:lstStyle/>
          <a:p>
            <a:pPr marL="0" indent="0" algn="just">
              <a:buNone/>
            </a:pPr>
            <a:r>
              <a:rPr lang="en-US" b="0" i="0" dirty="0">
                <a:solidFill>
                  <a:srgbClr val="000000"/>
                </a:solidFill>
                <a:effectLst/>
              </a:rPr>
              <a:t>Apart from these basic operations, a search application can also provide </a:t>
            </a:r>
            <a:r>
              <a:rPr lang="en-US" b="1" i="0" dirty="0">
                <a:solidFill>
                  <a:srgbClr val="000000"/>
                </a:solidFill>
                <a:effectLst/>
              </a:rPr>
              <a:t>administration user interface</a:t>
            </a:r>
            <a:r>
              <a:rPr lang="en-US" b="0" i="0" dirty="0">
                <a:solidFill>
                  <a:srgbClr val="000000"/>
                </a:solidFill>
                <a:effectLst/>
              </a:rPr>
              <a:t> and help administrators of the application to control the level of search based on the user profiles. Analytics of search results is another important and advanced aspect of any search application.</a:t>
            </a:r>
            <a:endParaRPr lang="en-IN" dirty="0"/>
          </a:p>
        </p:txBody>
      </p:sp>
      <p:sp>
        <p:nvSpPr>
          <p:cNvPr id="3" name="Title 2">
            <a:extLst>
              <a:ext uri="{FF2B5EF4-FFF2-40B4-BE49-F238E27FC236}">
                <a16:creationId xmlns:a16="http://schemas.microsoft.com/office/drawing/2014/main" id="{0E246EF4-D940-45A4-864B-699336204445}"/>
              </a:ext>
            </a:extLst>
          </p:cNvPr>
          <p:cNvSpPr>
            <a:spLocks noGrp="1"/>
          </p:cNvSpPr>
          <p:nvPr>
            <p:ph type="title"/>
          </p:nvPr>
        </p:nvSpPr>
        <p:spPr/>
        <p:txBody>
          <a:bodyPr vert="horz" lIns="91440" tIns="45720" rIns="91440" bIns="45720" rtlCol="0" anchor="ctr">
            <a:normAutofit/>
          </a:bodyPr>
          <a:lstStyle/>
          <a:p>
            <a:r>
              <a:rPr lang="en-US" dirty="0"/>
              <a:t>Lucene(Java Based Text Search Engine)</a:t>
            </a:r>
            <a:endParaRPr lang="en-IN" dirty="0"/>
          </a:p>
        </p:txBody>
      </p:sp>
    </p:spTree>
    <p:extLst>
      <p:ext uri="{BB962C8B-B14F-4D97-AF65-F5344CB8AC3E}">
        <p14:creationId xmlns:p14="http://schemas.microsoft.com/office/powerpoint/2010/main" val="3128618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181493-A786-4980-ABC5-B3BCE7A4AD35}"/>
              </a:ext>
            </a:extLst>
          </p:cNvPr>
          <p:cNvSpPr>
            <a:spLocks noGrp="1"/>
          </p:cNvSpPr>
          <p:nvPr>
            <p:ph idx="1"/>
          </p:nvPr>
        </p:nvSpPr>
        <p:spPr>
          <a:xfrm>
            <a:off x="338362" y="1409936"/>
            <a:ext cx="8462738" cy="2632128"/>
          </a:xfrm>
        </p:spPr>
        <p:txBody>
          <a:bodyPr>
            <a:normAutofit/>
          </a:bodyPr>
          <a:lstStyle/>
          <a:p>
            <a:pPr marL="0" indent="0" algn="just">
              <a:lnSpc>
                <a:spcPct val="170000"/>
              </a:lnSpc>
              <a:buNone/>
            </a:pPr>
            <a:r>
              <a:rPr lang="en-US" sz="2400" b="0" i="0" dirty="0">
                <a:solidFill>
                  <a:srgbClr val="273239"/>
                </a:solidFill>
                <a:effectLst/>
              </a:rPr>
              <a:t>Eclipse is a Java IDE that is one of the 3 biggest and most popular IDE’s in the world. It was written mostly in Java but it can also be used to develop applications in other programming languages apart from Java using plug-ins</a:t>
            </a:r>
            <a:endParaRPr lang="en-IN" sz="2400" dirty="0"/>
          </a:p>
        </p:txBody>
      </p:sp>
      <p:sp>
        <p:nvSpPr>
          <p:cNvPr id="3" name="Title 2">
            <a:extLst>
              <a:ext uri="{FF2B5EF4-FFF2-40B4-BE49-F238E27FC236}">
                <a16:creationId xmlns:a16="http://schemas.microsoft.com/office/drawing/2014/main" id="{DA62D4AA-ED2F-48B5-A1CE-0A9F67D18CCF}"/>
              </a:ext>
            </a:extLst>
          </p:cNvPr>
          <p:cNvSpPr>
            <a:spLocks noGrp="1"/>
          </p:cNvSpPr>
          <p:nvPr>
            <p:ph type="title"/>
          </p:nvPr>
        </p:nvSpPr>
        <p:spPr/>
        <p:txBody>
          <a:bodyPr vert="horz" lIns="91440" tIns="45720" rIns="91440" bIns="45720" rtlCol="0" anchor="ctr">
            <a:normAutofit fontScale="90000"/>
          </a:bodyPr>
          <a:lstStyle/>
          <a:p>
            <a:br>
              <a:rPr lang="en-IN" dirty="0"/>
            </a:br>
            <a:r>
              <a:rPr lang="en-IN" dirty="0"/>
              <a:t>Eclipse [Popular IDE written in Java]</a:t>
            </a:r>
            <a:br>
              <a:rPr lang="en-IN" dirty="0"/>
            </a:br>
            <a:endParaRPr lang="en-IN" dirty="0"/>
          </a:p>
        </p:txBody>
      </p:sp>
      <p:pic>
        <p:nvPicPr>
          <p:cNvPr id="5" name="Picture 4">
            <a:extLst>
              <a:ext uri="{FF2B5EF4-FFF2-40B4-BE49-F238E27FC236}">
                <a16:creationId xmlns:a16="http://schemas.microsoft.com/office/drawing/2014/main" id="{4A4D41F8-F8D9-4F79-843E-E586106C0333}"/>
              </a:ext>
            </a:extLst>
          </p:cNvPr>
          <p:cNvPicPr>
            <a:picLocks noChangeAspect="1"/>
          </p:cNvPicPr>
          <p:nvPr/>
        </p:nvPicPr>
        <p:blipFill>
          <a:blip r:embed="rId2"/>
          <a:stretch>
            <a:fillRect/>
          </a:stretch>
        </p:blipFill>
        <p:spPr>
          <a:xfrm>
            <a:off x="2360795" y="4042064"/>
            <a:ext cx="4580331" cy="2579079"/>
          </a:xfrm>
          <a:prstGeom prst="rect">
            <a:avLst/>
          </a:prstGeom>
          <a:ln>
            <a:solidFill>
              <a:schemeClr val="tx1"/>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565134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181493-A786-4980-ABC5-B3BCE7A4AD35}"/>
              </a:ext>
            </a:extLst>
          </p:cNvPr>
          <p:cNvSpPr>
            <a:spLocks noGrp="1"/>
          </p:cNvSpPr>
          <p:nvPr>
            <p:ph idx="1"/>
          </p:nvPr>
        </p:nvSpPr>
        <p:spPr>
          <a:xfrm>
            <a:off x="338361" y="1435961"/>
            <a:ext cx="8660165" cy="5068747"/>
          </a:xfrm>
        </p:spPr>
        <p:txBody>
          <a:bodyPr>
            <a:normAutofit/>
          </a:bodyPr>
          <a:lstStyle/>
          <a:p>
            <a:pPr algn="just"/>
            <a:r>
              <a:rPr lang="en-IN" b="0" i="0" dirty="0">
                <a:solidFill>
                  <a:srgbClr val="273239"/>
                </a:solidFill>
                <a:effectLst/>
              </a:rPr>
              <a:t>PDE (Plugin Development Environment) </a:t>
            </a:r>
          </a:p>
          <a:p>
            <a:pPr algn="just"/>
            <a:r>
              <a:rPr lang="en-US" b="0" i="0" dirty="0">
                <a:solidFill>
                  <a:srgbClr val="273239"/>
                </a:solidFill>
                <a:effectLst/>
              </a:rPr>
              <a:t>Eclipse flaunts powerful tools for the various processes in application development </a:t>
            </a:r>
            <a:r>
              <a:rPr lang="en-IN" dirty="0">
                <a:solidFill>
                  <a:srgbClr val="273239"/>
                </a:solidFill>
              </a:rPr>
              <a:t>.</a:t>
            </a:r>
          </a:p>
          <a:p>
            <a:pPr algn="just"/>
            <a:r>
              <a:rPr lang="en-US" b="0" i="0" dirty="0">
                <a:solidFill>
                  <a:srgbClr val="273239"/>
                </a:solidFill>
                <a:effectLst/>
              </a:rPr>
              <a:t>Eclipse can also be used to create various mathematical documents with LaTeX </a:t>
            </a:r>
          </a:p>
          <a:p>
            <a:pPr algn="just"/>
            <a:r>
              <a:rPr lang="en-US" b="0" i="0" dirty="0">
                <a:solidFill>
                  <a:srgbClr val="273239"/>
                </a:solidFill>
                <a:effectLst/>
              </a:rPr>
              <a:t>Eclipse can be used on platforms like Linux, macOS, Solaris and Windows.</a:t>
            </a:r>
          </a:p>
          <a:p>
            <a:pPr algn="just"/>
            <a:endParaRPr lang="en-IN" b="0" i="0" dirty="0">
              <a:solidFill>
                <a:srgbClr val="273239"/>
              </a:solidFill>
              <a:effectLst/>
            </a:endParaRPr>
          </a:p>
          <a:p>
            <a:pPr algn="just"/>
            <a:endParaRPr lang="en-IN" dirty="0"/>
          </a:p>
        </p:txBody>
      </p:sp>
      <p:sp>
        <p:nvSpPr>
          <p:cNvPr id="3" name="Title 2">
            <a:extLst>
              <a:ext uri="{FF2B5EF4-FFF2-40B4-BE49-F238E27FC236}">
                <a16:creationId xmlns:a16="http://schemas.microsoft.com/office/drawing/2014/main" id="{DA62D4AA-ED2F-48B5-A1CE-0A9F67D18CCF}"/>
              </a:ext>
            </a:extLst>
          </p:cNvPr>
          <p:cNvSpPr>
            <a:spLocks noGrp="1"/>
          </p:cNvSpPr>
          <p:nvPr>
            <p:ph type="title"/>
          </p:nvPr>
        </p:nvSpPr>
        <p:spPr/>
        <p:txBody>
          <a:bodyPr vert="horz" lIns="91440" tIns="45720" rIns="91440" bIns="45720" rtlCol="0" anchor="ctr">
            <a:normAutofit fontScale="90000"/>
          </a:bodyPr>
          <a:lstStyle/>
          <a:p>
            <a:br>
              <a:rPr lang="en-IN" dirty="0"/>
            </a:br>
            <a:r>
              <a:rPr lang="en-IN" dirty="0"/>
              <a:t>Eclipse [Popular IDE written in Java]</a:t>
            </a:r>
            <a:br>
              <a:rPr lang="en-IN" dirty="0"/>
            </a:br>
            <a:endParaRPr lang="en-IN" dirty="0"/>
          </a:p>
        </p:txBody>
      </p:sp>
      <p:pic>
        <p:nvPicPr>
          <p:cNvPr id="5" name="Picture 4">
            <a:extLst>
              <a:ext uri="{FF2B5EF4-FFF2-40B4-BE49-F238E27FC236}">
                <a16:creationId xmlns:a16="http://schemas.microsoft.com/office/drawing/2014/main" id="{4A4D41F8-F8D9-4F79-843E-E586106C0333}"/>
              </a:ext>
            </a:extLst>
          </p:cNvPr>
          <p:cNvPicPr>
            <a:picLocks noChangeAspect="1"/>
          </p:cNvPicPr>
          <p:nvPr/>
        </p:nvPicPr>
        <p:blipFill>
          <a:blip r:embed="rId2"/>
          <a:stretch>
            <a:fillRect/>
          </a:stretch>
        </p:blipFill>
        <p:spPr>
          <a:xfrm>
            <a:off x="7181989" y="110399"/>
            <a:ext cx="1962011" cy="1104763"/>
          </a:xfrm>
          <a:prstGeom prst="rect">
            <a:avLst/>
          </a:prstGeom>
        </p:spPr>
      </p:pic>
    </p:spTree>
    <p:extLst>
      <p:ext uri="{BB962C8B-B14F-4D97-AF65-F5344CB8AC3E}">
        <p14:creationId xmlns:p14="http://schemas.microsoft.com/office/powerpoint/2010/main" val="574176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785A19-AA5A-4313-9859-589657B363EA}"/>
              </a:ext>
            </a:extLst>
          </p:cNvPr>
          <p:cNvSpPr>
            <a:spLocks noGrp="1"/>
          </p:cNvSpPr>
          <p:nvPr>
            <p:ph idx="1"/>
          </p:nvPr>
        </p:nvSpPr>
        <p:spPr>
          <a:xfrm>
            <a:off x="338362" y="1502209"/>
            <a:ext cx="8795246" cy="5004884"/>
          </a:xfrm>
        </p:spPr>
        <p:txBody>
          <a:bodyPr/>
          <a:lstStyle/>
          <a:p>
            <a:pPr marL="0" indent="0" algn="just">
              <a:buNone/>
            </a:pPr>
            <a:r>
              <a:rPr lang="en-US" b="0" i="0" dirty="0">
                <a:solidFill>
                  <a:srgbClr val="000000"/>
                </a:solidFill>
                <a:effectLst/>
              </a:rPr>
              <a:t>HBase is a data model that is similar to Google’s big table designed to provide quick random access to huge amounts of structured data.</a:t>
            </a:r>
            <a:endParaRPr lang="en-IN" dirty="0"/>
          </a:p>
        </p:txBody>
      </p:sp>
      <p:sp>
        <p:nvSpPr>
          <p:cNvPr id="3" name="Title 2">
            <a:extLst>
              <a:ext uri="{FF2B5EF4-FFF2-40B4-BE49-F238E27FC236}">
                <a16:creationId xmlns:a16="http://schemas.microsoft.com/office/drawing/2014/main" id="{700369EE-D107-4C0F-9E9D-5910733BF470}"/>
              </a:ext>
            </a:extLst>
          </p:cNvPr>
          <p:cNvSpPr>
            <a:spLocks noGrp="1"/>
          </p:cNvSpPr>
          <p:nvPr>
            <p:ph type="title"/>
          </p:nvPr>
        </p:nvSpPr>
        <p:spPr/>
        <p:txBody>
          <a:bodyPr vert="horz" lIns="91440" tIns="45720" rIns="91440" bIns="45720" rtlCol="0" anchor="ctr">
            <a:normAutofit fontScale="90000"/>
          </a:bodyPr>
          <a:lstStyle/>
          <a:p>
            <a:br>
              <a:rPr lang="en-IN" dirty="0"/>
            </a:br>
            <a:r>
              <a:rPr lang="en-IN" dirty="0"/>
              <a:t>HBase [Hadoop NoSQL Database]</a:t>
            </a:r>
            <a:br>
              <a:rPr lang="en-IN" dirty="0"/>
            </a:br>
            <a:endParaRPr lang="en-IN" dirty="0"/>
          </a:p>
        </p:txBody>
      </p:sp>
      <p:pic>
        <p:nvPicPr>
          <p:cNvPr id="4" name="Picture 3">
            <a:extLst>
              <a:ext uri="{FF2B5EF4-FFF2-40B4-BE49-F238E27FC236}">
                <a16:creationId xmlns:a16="http://schemas.microsoft.com/office/drawing/2014/main" id="{A4098F4B-C2C9-457E-BC5C-320D324E5580}"/>
              </a:ext>
            </a:extLst>
          </p:cNvPr>
          <p:cNvPicPr>
            <a:picLocks noChangeAspect="1"/>
          </p:cNvPicPr>
          <p:nvPr/>
        </p:nvPicPr>
        <p:blipFill>
          <a:blip r:embed="rId2"/>
          <a:stretch>
            <a:fillRect/>
          </a:stretch>
        </p:blipFill>
        <p:spPr>
          <a:xfrm>
            <a:off x="2186984" y="3609921"/>
            <a:ext cx="5170745" cy="3023108"/>
          </a:xfrm>
          <a:prstGeom prst="rect">
            <a:avLst/>
          </a:prstGeom>
        </p:spPr>
      </p:pic>
    </p:spTree>
    <p:extLst>
      <p:ext uri="{BB962C8B-B14F-4D97-AF65-F5344CB8AC3E}">
        <p14:creationId xmlns:p14="http://schemas.microsoft.com/office/powerpoint/2010/main" val="36570525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72235">
            <a:alpha val="6000"/>
          </a:srgbClr>
        </a:solidFill>
        <a:effectLst/>
      </p:bgPr>
    </p:bg>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58D54A-A4D3-43F8-B299-8865AF560AEA}"/>
              </a:ext>
            </a:extLst>
          </p:cNvPr>
          <p:cNvSpPr>
            <a:spLocks noGrp="1"/>
          </p:cNvSpPr>
          <p:nvPr>
            <p:ph idx="1"/>
          </p:nvPr>
        </p:nvSpPr>
        <p:spPr>
          <a:xfrm>
            <a:off x="338361" y="1493063"/>
            <a:ext cx="8386537" cy="5004884"/>
          </a:xfrm>
        </p:spPr>
        <p:txBody>
          <a:bodyPr/>
          <a:lstStyle/>
          <a:p>
            <a:pPr marL="0" indent="0" algn="just">
              <a:buNone/>
            </a:pPr>
            <a:r>
              <a:rPr lang="en-IN" dirty="0"/>
              <a:t>Storage Mechanism in HBase</a:t>
            </a:r>
          </a:p>
        </p:txBody>
      </p:sp>
      <p:sp>
        <p:nvSpPr>
          <p:cNvPr id="3" name="Title 2">
            <a:extLst>
              <a:ext uri="{FF2B5EF4-FFF2-40B4-BE49-F238E27FC236}">
                <a16:creationId xmlns:a16="http://schemas.microsoft.com/office/drawing/2014/main" id="{BBF0AEB0-EB17-465C-98A3-8916CE8AD432}"/>
              </a:ext>
            </a:extLst>
          </p:cNvPr>
          <p:cNvSpPr>
            <a:spLocks noGrp="1"/>
          </p:cNvSpPr>
          <p:nvPr>
            <p:ph type="title"/>
          </p:nvPr>
        </p:nvSpPr>
        <p:spPr/>
        <p:txBody>
          <a:bodyPr vert="horz" lIns="91440" tIns="45720" rIns="91440" bIns="45720" rtlCol="0" anchor="ctr">
            <a:normAutofit/>
          </a:bodyPr>
          <a:lstStyle/>
          <a:p>
            <a:r>
              <a:rPr lang="en-IN" dirty="0"/>
              <a:t>HBase</a:t>
            </a:r>
          </a:p>
        </p:txBody>
      </p:sp>
      <p:pic>
        <p:nvPicPr>
          <p:cNvPr id="5" name="Picture 4">
            <a:extLst>
              <a:ext uri="{FF2B5EF4-FFF2-40B4-BE49-F238E27FC236}">
                <a16:creationId xmlns:a16="http://schemas.microsoft.com/office/drawing/2014/main" id="{8047776A-8095-4FF4-99A9-82322E2CF5CB}"/>
              </a:ext>
            </a:extLst>
          </p:cNvPr>
          <p:cNvPicPr>
            <a:picLocks noChangeAspect="1"/>
          </p:cNvPicPr>
          <p:nvPr/>
        </p:nvPicPr>
        <p:blipFill>
          <a:blip r:embed="rId2"/>
          <a:stretch>
            <a:fillRect/>
          </a:stretch>
        </p:blipFill>
        <p:spPr>
          <a:xfrm>
            <a:off x="338362" y="2892417"/>
            <a:ext cx="8621328" cy="2753109"/>
          </a:xfrm>
          <a:prstGeom prst="rect">
            <a:avLst/>
          </a:prstGeom>
        </p:spPr>
      </p:pic>
    </p:spTree>
    <p:extLst>
      <p:ext uri="{BB962C8B-B14F-4D97-AF65-F5344CB8AC3E}">
        <p14:creationId xmlns:p14="http://schemas.microsoft.com/office/powerpoint/2010/main" val="1651067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605697-C42B-4491-A829-DB5ADD5E493D}"/>
              </a:ext>
            </a:extLst>
          </p:cNvPr>
          <p:cNvSpPr>
            <a:spLocks noGrp="1"/>
          </p:cNvSpPr>
          <p:nvPr>
            <p:ph idx="1"/>
          </p:nvPr>
        </p:nvSpPr>
        <p:spPr>
          <a:xfrm>
            <a:off x="338362" y="1493063"/>
            <a:ext cx="8670556" cy="5004884"/>
          </a:xfrm>
        </p:spPr>
        <p:txBody>
          <a:bodyPr/>
          <a:lstStyle/>
          <a:p>
            <a:pPr marL="0" indent="0" algn="just">
              <a:buNone/>
            </a:pPr>
            <a:r>
              <a:rPr lang="en-US" b="0" i="0" dirty="0">
                <a:solidFill>
                  <a:srgbClr val="000000"/>
                </a:solidFill>
                <a:effectLst/>
              </a:rPr>
              <a:t>Hive is a data warehouse infrastructure tool to process structured data in Hadoop. It resides on top of Hadoop to summarize Big Data, and makes querying and analyzing easy.</a:t>
            </a:r>
            <a:endParaRPr lang="en-IN" dirty="0"/>
          </a:p>
        </p:txBody>
      </p:sp>
      <p:sp>
        <p:nvSpPr>
          <p:cNvPr id="3" name="Title 2">
            <a:extLst>
              <a:ext uri="{FF2B5EF4-FFF2-40B4-BE49-F238E27FC236}">
                <a16:creationId xmlns:a16="http://schemas.microsoft.com/office/drawing/2014/main" id="{E2EDF634-1F29-4A37-8A82-9CFD3D7875A1}"/>
              </a:ext>
            </a:extLst>
          </p:cNvPr>
          <p:cNvSpPr>
            <a:spLocks noGrp="1"/>
          </p:cNvSpPr>
          <p:nvPr>
            <p:ph type="title"/>
          </p:nvPr>
        </p:nvSpPr>
        <p:spPr/>
        <p:txBody>
          <a:bodyPr vert="horz" lIns="91440" tIns="45720" rIns="91440" bIns="45720" rtlCol="0" anchor="ctr">
            <a:normAutofit/>
          </a:bodyPr>
          <a:lstStyle/>
          <a:p>
            <a:r>
              <a:rPr lang="en-IN" dirty="0"/>
              <a:t>Hive [Query data engine]</a:t>
            </a:r>
          </a:p>
        </p:txBody>
      </p:sp>
    </p:spTree>
    <p:extLst>
      <p:ext uri="{BB962C8B-B14F-4D97-AF65-F5344CB8AC3E}">
        <p14:creationId xmlns:p14="http://schemas.microsoft.com/office/powerpoint/2010/main" val="1759055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605697-C42B-4491-A829-DB5ADD5E493D}"/>
              </a:ext>
            </a:extLst>
          </p:cNvPr>
          <p:cNvSpPr>
            <a:spLocks noGrp="1"/>
          </p:cNvSpPr>
          <p:nvPr>
            <p:ph idx="1"/>
          </p:nvPr>
        </p:nvSpPr>
        <p:spPr>
          <a:xfrm>
            <a:off x="338362" y="1420325"/>
            <a:ext cx="8618602" cy="5004884"/>
          </a:xfrm>
        </p:spPr>
        <p:txBody>
          <a:bodyPr>
            <a:noAutofit/>
          </a:bodyPr>
          <a:lstStyle/>
          <a:p>
            <a:pPr marL="0" indent="0" algn="just">
              <a:lnSpc>
                <a:spcPct val="170000"/>
              </a:lnSpc>
              <a:buNone/>
            </a:pPr>
            <a:r>
              <a:rPr lang="en-US" b="0" i="0" dirty="0">
                <a:solidFill>
                  <a:srgbClr val="000000"/>
                </a:solidFill>
                <a:effectLst/>
              </a:rPr>
              <a:t>Hive is a data warehouse infrastructure tool to process structured data in Hadoop. It resides on top of Hadoop to summarize Big Data, and makes querying and analyzing easy.</a:t>
            </a:r>
          </a:p>
        </p:txBody>
      </p:sp>
      <p:sp>
        <p:nvSpPr>
          <p:cNvPr id="3" name="Title 2">
            <a:extLst>
              <a:ext uri="{FF2B5EF4-FFF2-40B4-BE49-F238E27FC236}">
                <a16:creationId xmlns:a16="http://schemas.microsoft.com/office/drawing/2014/main" id="{E2EDF634-1F29-4A37-8A82-9CFD3D7875A1}"/>
              </a:ext>
            </a:extLst>
          </p:cNvPr>
          <p:cNvSpPr>
            <a:spLocks noGrp="1"/>
          </p:cNvSpPr>
          <p:nvPr>
            <p:ph type="title"/>
          </p:nvPr>
        </p:nvSpPr>
        <p:spPr/>
        <p:txBody>
          <a:bodyPr vert="horz" lIns="91440" tIns="45720" rIns="91440" bIns="45720" rtlCol="0" anchor="ctr">
            <a:normAutofit/>
          </a:bodyPr>
          <a:lstStyle/>
          <a:p>
            <a:r>
              <a:rPr lang="en-IN" dirty="0"/>
              <a:t>Hive [Query data engine]</a:t>
            </a:r>
          </a:p>
        </p:txBody>
      </p:sp>
    </p:spTree>
    <p:extLst>
      <p:ext uri="{BB962C8B-B14F-4D97-AF65-F5344CB8AC3E}">
        <p14:creationId xmlns:p14="http://schemas.microsoft.com/office/powerpoint/2010/main" val="87145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605697-C42B-4491-A829-DB5ADD5E493D}"/>
              </a:ext>
            </a:extLst>
          </p:cNvPr>
          <p:cNvSpPr>
            <a:spLocks noGrp="1"/>
          </p:cNvSpPr>
          <p:nvPr>
            <p:ph idx="1"/>
          </p:nvPr>
        </p:nvSpPr>
        <p:spPr>
          <a:xfrm>
            <a:off x="338362" y="1420325"/>
            <a:ext cx="8618602" cy="5004884"/>
          </a:xfrm>
        </p:spPr>
        <p:txBody>
          <a:bodyPr>
            <a:noAutofit/>
          </a:bodyPr>
          <a:lstStyle/>
          <a:p>
            <a:pPr marL="0" indent="0" algn="just">
              <a:buNone/>
            </a:pPr>
            <a:r>
              <a:rPr lang="en-US" b="0" i="0" dirty="0">
                <a:solidFill>
                  <a:srgbClr val="000000"/>
                </a:solidFill>
                <a:effectLst/>
              </a:rPr>
              <a:t>Initially Hive was developed by Facebook, later the Apache Software Foundation took it up and developed it further as an open source under the name Apache Hive. It is used by different companies. For example, Amazon uses it in Amazon Elastic MapReduce.</a:t>
            </a:r>
          </a:p>
        </p:txBody>
      </p:sp>
      <p:sp>
        <p:nvSpPr>
          <p:cNvPr id="3" name="Title 2">
            <a:extLst>
              <a:ext uri="{FF2B5EF4-FFF2-40B4-BE49-F238E27FC236}">
                <a16:creationId xmlns:a16="http://schemas.microsoft.com/office/drawing/2014/main" id="{E2EDF634-1F29-4A37-8A82-9CFD3D7875A1}"/>
              </a:ext>
            </a:extLst>
          </p:cNvPr>
          <p:cNvSpPr>
            <a:spLocks noGrp="1"/>
          </p:cNvSpPr>
          <p:nvPr>
            <p:ph type="title"/>
          </p:nvPr>
        </p:nvSpPr>
        <p:spPr/>
        <p:txBody>
          <a:bodyPr vert="horz" lIns="91440" tIns="45720" rIns="91440" bIns="45720" rtlCol="0" anchor="ctr">
            <a:normAutofit/>
          </a:bodyPr>
          <a:lstStyle/>
          <a:p>
            <a:r>
              <a:rPr lang="en-IN" dirty="0"/>
              <a:t>Hive [Query data engine]</a:t>
            </a:r>
          </a:p>
        </p:txBody>
      </p:sp>
    </p:spTree>
    <p:extLst>
      <p:ext uri="{BB962C8B-B14F-4D97-AF65-F5344CB8AC3E}">
        <p14:creationId xmlns:p14="http://schemas.microsoft.com/office/powerpoint/2010/main" val="3912015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605697-C42B-4491-A829-DB5ADD5E493D}"/>
              </a:ext>
            </a:extLst>
          </p:cNvPr>
          <p:cNvSpPr>
            <a:spLocks noGrp="1"/>
          </p:cNvSpPr>
          <p:nvPr>
            <p:ph idx="1"/>
          </p:nvPr>
        </p:nvSpPr>
        <p:spPr>
          <a:xfrm>
            <a:off x="338362" y="1493063"/>
            <a:ext cx="8608211" cy="5004884"/>
          </a:xfrm>
        </p:spPr>
        <p:txBody>
          <a:bodyPr>
            <a:normAutofit/>
          </a:bodyPr>
          <a:lstStyle/>
          <a:p>
            <a:pPr marL="0" indent="0" algn="l">
              <a:buNone/>
            </a:pPr>
            <a:r>
              <a:rPr lang="en-US" b="0" i="0" dirty="0">
                <a:effectLst/>
              </a:rPr>
              <a:t>Hive is not</a:t>
            </a:r>
          </a:p>
          <a:p>
            <a:pPr lvl="1"/>
            <a:r>
              <a:rPr lang="en-US" sz="2800" b="0" i="0" dirty="0">
                <a:effectLst/>
              </a:rPr>
              <a:t>A relational database</a:t>
            </a:r>
          </a:p>
          <a:p>
            <a:pPr lvl="1"/>
            <a:r>
              <a:rPr lang="en-US" sz="2800" b="0" i="0" dirty="0">
                <a:effectLst/>
              </a:rPr>
              <a:t>A design for </a:t>
            </a:r>
            <a:r>
              <a:rPr lang="en-US" sz="2800" b="0" i="0" dirty="0" err="1">
                <a:effectLst/>
              </a:rPr>
              <a:t>OnLine</a:t>
            </a:r>
            <a:r>
              <a:rPr lang="en-US" sz="2800" b="0" i="0" dirty="0">
                <a:effectLst/>
              </a:rPr>
              <a:t> Transaction Processing (OLTP)</a:t>
            </a:r>
          </a:p>
          <a:p>
            <a:pPr lvl="1"/>
            <a:r>
              <a:rPr lang="en-US" sz="2800" b="0" i="0" dirty="0">
                <a:effectLst/>
              </a:rPr>
              <a:t>A language for real-time queries and row-level updates</a:t>
            </a:r>
          </a:p>
        </p:txBody>
      </p:sp>
      <p:sp>
        <p:nvSpPr>
          <p:cNvPr id="3" name="Title 2">
            <a:extLst>
              <a:ext uri="{FF2B5EF4-FFF2-40B4-BE49-F238E27FC236}">
                <a16:creationId xmlns:a16="http://schemas.microsoft.com/office/drawing/2014/main" id="{E2EDF634-1F29-4A37-8A82-9CFD3D7875A1}"/>
              </a:ext>
            </a:extLst>
          </p:cNvPr>
          <p:cNvSpPr>
            <a:spLocks noGrp="1"/>
          </p:cNvSpPr>
          <p:nvPr>
            <p:ph type="title"/>
          </p:nvPr>
        </p:nvSpPr>
        <p:spPr/>
        <p:txBody>
          <a:bodyPr vert="horz" lIns="91440" tIns="45720" rIns="91440" bIns="45720" rtlCol="0" anchor="ctr">
            <a:normAutofit/>
          </a:bodyPr>
          <a:lstStyle/>
          <a:p>
            <a:r>
              <a:rPr lang="en-IN" dirty="0"/>
              <a:t>Hive [Query data engine]</a:t>
            </a:r>
          </a:p>
        </p:txBody>
      </p:sp>
    </p:spTree>
    <p:extLst>
      <p:ext uri="{BB962C8B-B14F-4D97-AF65-F5344CB8AC3E}">
        <p14:creationId xmlns:p14="http://schemas.microsoft.com/office/powerpoint/2010/main" val="2063983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049800-0A6B-4A87-BDFC-E9004AA39E0F}"/>
              </a:ext>
            </a:extLst>
          </p:cNvPr>
          <p:cNvSpPr>
            <a:spLocks noGrp="1"/>
          </p:cNvSpPr>
          <p:nvPr>
            <p:ph idx="1"/>
          </p:nvPr>
        </p:nvSpPr>
        <p:spPr>
          <a:xfrm>
            <a:off x="338361" y="1524235"/>
            <a:ext cx="8386537" cy="5004884"/>
          </a:xfrm>
        </p:spPr>
        <p:txBody>
          <a:bodyPr/>
          <a:lstStyle/>
          <a:p>
            <a:pPr algn="just">
              <a:buFont typeface="Arial" panose="020B0604020202020204" pitchFamily="34" charset="0"/>
              <a:buChar char="•"/>
            </a:pPr>
            <a:r>
              <a:rPr lang="en-US" b="0" i="0" dirty="0">
                <a:effectLst/>
              </a:rPr>
              <a:t>It stores schema in a database and processed data into HDFS.</a:t>
            </a:r>
          </a:p>
          <a:p>
            <a:pPr algn="just">
              <a:buFont typeface="Arial" panose="020B0604020202020204" pitchFamily="34" charset="0"/>
              <a:buChar char="•"/>
            </a:pPr>
            <a:r>
              <a:rPr lang="en-US" b="0" i="0" dirty="0">
                <a:effectLst/>
              </a:rPr>
              <a:t>It is designed for OLAP.</a:t>
            </a:r>
          </a:p>
          <a:p>
            <a:pPr algn="just">
              <a:buFont typeface="Arial" panose="020B0604020202020204" pitchFamily="34" charset="0"/>
              <a:buChar char="•"/>
            </a:pPr>
            <a:r>
              <a:rPr lang="en-US" b="0" i="0" dirty="0">
                <a:effectLst/>
              </a:rPr>
              <a:t>It provides SQL type language for querying called HiveQL or HQL.</a:t>
            </a:r>
          </a:p>
          <a:p>
            <a:pPr algn="just">
              <a:buFont typeface="Arial" panose="020B0604020202020204" pitchFamily="34" charset="0"/>
              <a:buChar char="•"/>
            </a:pPr>
            <a:r>
              <a:rPr lang="en-US" b="0" i="0" dirty="0">
                <a:effectLst/>
              </a:rPr>
              <a:t>It is familiar, fast, scalable, and extensible.</a:t>
            </a:r>
          </a:p>
          <a:p>
            <a:pPr marL="0" indent="0" algn="just">
              <a:buNone/>
            </a:pPr>
            <a:endParaRPr lang="en-IN" dirty="0"/>
          </a:p>
        </p:txBody>
      </p:sp>
      <p:sp>
        <p:nvSpPr>
          <p:cNvPr id="3" name="Title 2">
            <a:extLst>
              <a:ext uri="{FF2B5EF4-FFF2-40B4-BE49-F238E27FC236}">
                <a16:creationId xmlns:a16="http://schemas.microsoft.com/office/drawing/2014/main" id="{71FA9B61-ECF7-496F-9920-C86C7AC211E0}"/>
              </a:ext>
            </a:extLst>
          </p:cNvPr>
          <p:cNvSpPr>
            <a:spLocks noGrp="1"/>
          </p:cNvSpPr>
          <p:nvPr>
            <p:ph type="title"/>
          </p:nvPr>
        </p:nvSpPr>
        <p:spPr/>
        <p:txBody>
          <a:bodyPr vert="horz" lIns="91440" tIns="45720" rIns="91440" bIns="45720" rtlCol="0" anchor="ctr">
            <a:normAutofit/>
          </a:bodyPr>
          <a:lstStyle/>
          <a:p>
            <a:r>
              <a:rPr lang="en-IN" dirty="0"/>
              <a:t>Features of Hive</a:t>
            </a:r>
          </a:p>
        </p:txBody>
      </p:sp>
    </p:spTree>
    <p:extLst>
      <p:ext uri="{BB962C8B-B14F-4D97-AF65-F5344CB8AC3E}">
        <p14:creationId xmlns:p14="http://schemas.microsoft.com/office/powerpoint/2010/main" val="4183157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573782B-8D91-4416-A140-746A7BF4C7BD}"/>
              </a:ext>
            </a:extLst>
          </p:cNvPr>
          <p:cNvPicPr>
            <a:picLocks noGrp="1" noChangeAspect="1"/>
          </p:cNvPicPr>
          <p:nvPr>
            <p:ph idx="1"/>
          </p:nvPr>
        </p:nvPicPr>
        <p:blipFill>
          <a:blip r:embed="rId2"/>
          <a:stretch>
            <a:fillRect/>
          </a:stretch>
        </p:blipFill>
        <p:spPr>
          <a:xfrm>
            <a:off x="587211" y="1786028"/>
            <a:ext cx="7969577" cy="4383267"/>
          </a:xfrm>
          <a:prstGeom prst="rect">
            <a:avLst/>
          </a:prstGeom>
        </p:spPr>
      </p:pic>
      <p:sp>
        <p:nvSpPr>
          <p:cNvPr id="3" name="Title 2">
            <a:extLst>
              <a:ext uri="{FF2B5EF4-FFF2-40B4-BE49-F238E27FC236}">
                <a16:creationId xmlns:a16="http://schemas.microsoft.com/office/drawing/2014/main" id="{45AECB74-DD2A-4177-9E60-4EB11E3C40D6}"/>
              </a:ext>
            </a:extLst>
          </p:cNvPr>
          <p:cNvSpPr>
            <a:spLocks noGrp="1"/>
          </p:cNvSpPr>
          <p:nvPr>
            <p:ph type="title"/>
          </p:nvPr>
        </p:nvSpPr>
        <p:spPr/>
        <p:txBody>
          <a:bodyPr vert="horz" lIns="91440" tIns="45720" rIns="91440" bIns="45720" rtlCol="0" anchor="ctr">
            <a:normAutofit/>
          </a:bodyPr>
          <a:lstStyle/>
          <a:p>
            <a:r>
              <a:rPr lang="en-IN" dirty="0"/>
              <a:t>Architecture of Hive</a:t>
            </a:r>
          </a:p>
        </p:txBody>
      </p:sp>
    </p:spTree>
    <p:extLst>
      <p:ext uri="{BB962C8B-B14F-4D97-AF65-F5344CB8AC3E}">
        <p14:creationId xmlns:p14="http://schemas.microsoft.com/office/powerpoint/2010/main" val="3879110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F21DFC-43D0-40F7-8A12-7716E0954F1A}"/>
              </a:ext>
            </a:extLst>
          </p:cNvPr>
          <p:cNvSpPr>
            <a:spLocks noGrp="1"/>
          </p:cNvSpPr>
          <p:nvPr>
            <p:ph idx="1"/>
          </p:nvPr>
        </p:nvSpPr>
        <p:spPr>
          <a:xfrm>
            <a:off x="338362" y="1493063"/>
            <a:ext cx="8386537" cy="5004884"/>
          </a:xfrm>
        </p:spPr>
        <p:txBody>
          <a:bodyPr>
            <a:normAutofit/>
          </a:bodyPr>
          <a:lstStyle/>
          <a:p>
            <a:pPr marL="0" indent="0" algn="just">
              <a:buNone/>
            </a:pPr>
            <a:r>
              <a:rPr lang="en-US" b="0" i="0" dirty="0">
                <a:effectLst/>
              </a:rPr>
              <a:t>JAQL is a query language for the JavaScript Object Notation (JSON) data interchange format. As its name implies, a primary use of JAQL is to handle data stored as JSON documents, but JAQL can work on various types of data. </a:t>
            </a:r>
          </a:p>
        </p:txBody>
      </p:sp>
      <p:sp>
        <p:nvSpPr>
          <p:cNvPr id="3" name="Title 2">
            <a:extLst>
              <a:ext uri="{FF2B5EF4-FFF2-40B4-BE49-F238E27FC236}">
                <a16:creationId xmlns:a16="http://schemas.microsoft.com/office/drawing/2014/main" id="{E662470D-6991-4F5A-A613-C6B7BF161909}"/>
              </a:ext>
            </a:extLst>
          </p:cNvPr>
          <p:cNvSpPr>
            <a:spLocks noGrp="1"/>
          </p:cNvSpPr>
          <p:nvPr>
            <p:ph type="title"/>
          </p:nvPr>
        </p:nvSpPr>
        <p:spPr/>
        <p:txBody>
          <a:bodyPr vert="horz" lIns="91440" tIns="45720" rIns="91440" bIns="45720" rtlCol="0" anchor="ctr">
            <a:normAutofit/>
          </a:bodyPr>
          <a:lstStyle/>
          <a:p>
            <a:r>
              <a:rPr lang="en-IN" dirty="0" err="1"/>
              <a:t>Jaql</a:t>
            </a:r>
            <a:r>
              <a:rPr lang="en-IN" dirty="0"/>
              <a:t> [Query language for JavaScript]</a:t>
            </a:r>
          </a:p>
        </p:txBody>
      </p:sp>
    </p:spTree>
    <p:extLst>
      <p:ext uri="{BB962C8B-B14F-4D97-AF65-F5344CB8AC3E}">
        <p14:creationId xmlns:p14="http://schemas.microsoft.com/office/powerpoint/2010/main" val="15703730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E3654DE-635E-4489-B2AD-F0603085BBD7}"/>
              </a:ext>
            </a:extLst>
          </p:cNvPr>
          <p:cNvPicPr>
            <a:picLocks noGrp="1" noChangeAspect="1"/>
          </p:cNvPicPr>
          <p:nvPr>
            <p:ph idx="1"/>
          </p:nvPr>
        </p:nvPicPr>
        <p:blipFill>
          <a:blip r:embed="rId2"/>
          <a:stretch>
            <a:fillRect/>
          </a:stretch>
        </p:blipFill>
        <p:spPr>
          <a:xfrm>
            <a:off x="830785" y="1616548"/>
            <a:ext cx="7482429" cy="4461651"/>
          </a:xfrm>
          <a:prstGeom prst="rect">
            <a:avLst/>
          </a:prstGeom>
        </p:spPr>
      </p:pic>
      <p:sp>
        <p:nvSpPr>
          <p:cNvPr id="3" name="Title 2">
            <a:extLst>
              <a:ext uri="{FF2B5EF4-FFF2-40B4-BE49-F238E27FC236}">
                <a16:creationId xmlns:a16="http://schemas.microsoft.com/office/drawing/2014/main" id="{E662470D-6991-4F5A-A613-C6B7BF161909}"/>
              </a:ext>
            </a:extLst>
          </p:cNvPr>
          <p:cNvSpPr>
            <a:spLocks noGrp="1"/>
          </p:cNvSpPr>
          <p:nvPr>
            <p:ph type="title"/>
          </p:nvPr>
        </p:nvSpPr>
        <p:spPr/>
        <p:txBody>
          <a:bodyPr vert="horz" lIns="91440" tIns="45720" rIns="91440" bIns="45720" rtlCol="0" anchor="ctr">
            <a:normAutofit/>
          </a:bodyPr>
          <a:lstStyle/>
          <a:p>
            <a:r>
              <a:rPr lang="en-IN" dirty="0" err="1"/>
              <a:t>Jaql</a:t>
            </a:r>
            <a:r>
              <a:rPr lang="en-IN" dirty="0"/>
              <a:t> [Query language for JavaScript]</a:t>
            </a:r>
          </a:p>
        </p:txBody>
      </p:sp>
      <p:sp>
        <p:nvSpPr>
          <p:cNvPr id="5" name="Rectangle 4">
            <a:extLst>
              <a:ext uri="{FF2B5EF4-FFF2-40B4-BE49-F238E27FC236}">
                <a16:creationId xmlns:a16="http://schemas.microsoft.com/office/drawing/2014/main" id="{7D5A9CF6-6490-45B5-9142-1CB110C28815}"/>
              </a:ext>
            </a:extLst>
          </p:cNvPr>
          <p:cNvSpPr/>
          <p:nvPr/>
        </p:nvSpPr>
        <p:spPr>
          <a:xfrm>
            <a:off x="3883043" y="6119319"/>
            <a:ext cx="1297173" cy="616689"/>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XML</a:t>
            </a:r>
            <a:endParaRPr lang="en-IN" sz="2400" dirty="0">
              <a:latin typeface="Bahnschrift" panose="020B0502040204020203" pitchFamily="34" charset="0"/>
            </a:endParaRPr>
          </a:p>
        </p:txBody>
      </p:sp>
    </p:spTree>
    <p:extLst>
      <p:ext uri="{BB962C8B-B14F-4D97-AF65-F5344CB8AC3E}">
        <p14:creationId xmlns:p14="http://schemas.microsoft.com/office/powerpoint/2010/main" val="30724849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62470D-6991-4F5A-A613-C6B7BF161909}"/>
              </a:ext>
            </a:extLst>
          </p:cNvPr>
          <p:cNvSpPr>
            <a:spLocks noGrp="1"/>
          </p:cNvSpPr>
          <p:nvPr>
            <p:ph type="title"/>
          </p:nvPr>
        </p:nvSpPr>
        <p:spPr/>
        <p:txBody>
          <a:bodyPr vert="horz" lIns="91440" tIns="45720" rIns="91440" bIns="45720" rtlCol="0" anchor="ctr">
            <a:normAutofit/>
          </a:bodyPr>
          <a:lstStyle/>
          <a:p>
            <a:r>
              <a:rPr lang="en-IN" dirty="0" err="1"/>
              <a:t>Jaql</a:t>
            </a:r>
            <a:r>
              <a:rPr lang="en-IN" dirty="0"/>
              <a:t> [Query language for JavaScript]</a:t>
            </a:r>
          </a:p>
        </p:txBody>
      </p:sp>
      <p:sp>
        <p:nvSpPr>
          <p:cNvPr id="5" name="Rectangle 4">
            <a:extLst>
              <a:ext uri="{FF2B5EF4-FFF2-40B4-BE49-F238E27FC236}">
                <a16:creationId xmlns:a16="http://schemas.microsoft.com/office/drawing/2014/main" id="{7D5A9CF6-6490-45B5-9142-1CB110C28815}"/>
              </a:ext>
            </a:extLst>
          </p:cNvPr>
          <p:cNvSpPr/>
          <p:nvPr/>
        </p:nvSpPr>
        <p:spPr>
          <a:xfrm>
            <a:off x="3413051" y="5922335"/>
            <a:ext cx="1297173" cy="616689"/>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CSV</a:t>
            </a:r>
            <a:endParaRPr lang="en-IN" sz="2400" dirty="0">
              <a:latin typeface="Bahnschrift" panose="020B0502040204020203" pitchFamily="34" charset="0"/>
            </a:endParaRPr>
          </a:p>
        </p:txBody>
      </p:sp>
      <p:pic>
        <p:nvPicPr>
          <p:cNvPr id="7" name="Content Placeholder 6">
            <a:extLst>
              <a:ext uri="{FF2B5EF4-FFF2-40B4-BE49-F238E27FC236}">
                <a16:creationId xmlns:a16="http://schemas.microsoft.com/office/drawing/2014/main" id="{C64BBD37-7BC8-40BC-A926-C8524FAAD86D}"/>
              </a:ext>
            </a:extLst>
          </p:cNvPr>
          <p:cNvPicPr>
            <a:picLocks noGrp="1" noChangeAspect="1"/>
          </p:cNvPicPr>
          <p:nvPr>
            <p:ph idx="1"/>
          </p:nvPr>
        </p:nvPicPr>
        <p:blipFill>
          <a:blip r:embed="rId2"/>
          <a:stretch>
            <a:fillRect/>
          </a:stretch>
        </p:blipFill>
        <p:spPr>
          <a:xfrm>
            <a:off x="1141505" y="1617035"/>
            <a:ext cx="6248400" cy="4305300"/>
          </a:xfrm>
          <a:prstGeom prst="rect">
            <a:avLst/>
          </a:prstGeom>
        </p:spPr>
      </p:pic>
    </p:spTree>
    <p:extLst>
      <p:ext uri="{BB962C8B-B14F-4D97-AF65-F5344CB8AC3E}">
        <p14:creationId xmlns:p14="http://schemas.microsoft.com/office/powerpoint/2010/main" val="26012225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62470D-6991-4F5A-A613-C6B7BF161909}"/>
              </a:ext>
            </a:extLst>
          </p:cNvPr>
          <p:cNvSpPr>
            <a:spLocks noGrp="1"/>
          </p:cNvSpPr>
          <p:nvPr>
            <p:ph type="title"/>
          </p:nvPr>
        </p:nvSpPr>
        <p:spPr/>
        <p:txBody>
          <a:bodyPr vert="horz" lIns="91440" tIns="45720" rIns="91440" bIns="45720" rtlCol="0" anchor="ctr">
            <a:normAutofit/>
          </a:bodyPr>
          <a:lstStyle/>
          <a:p>
            <a:r>
              <a:rPr lang="en-IN" dirty="0" err="1"/>
              <a:t>Jaql</a:t>
            </a:r>
            <a:r>
              <a:rPr lang="en-IN" dirty="0"/>
              <a:t> [Query language for JavaScript]</a:t>
            </a:r>
          </a:p>
        </p:txBody>
      </p:sp>
      <p:sp>
        <p:nvSpPr>
          <p:cNvPr id="5" name="Rectangle 4">
            <a:extLst>
              <a:ext uri="{FF2B5EF4-FFF2-40B4-BE49-F238E27FC236}">
                <a16:creationId xmlns:a16="http://schemas.microsoft.com/office/drawing/2014/main" id="{7D5A9CF6-6490-45B5-9142-1CB110C28815}"/>
              </a:ext>
            </a:extLst>
          </p:cNvPr>
          <p:cNvSpPr/>
          <p:nvPr/>
        </p:nvSpPr>
        <p:spPr>
          <a:xfrm>
            <a:off x="2806997" y="1967023"/>
            <a:ext cx="3423682" cy="988828"/>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Bahnschrift" panose="020B0502040204020203" pitchFamily="34" charset="0"/>
              </a:rPr>
              <a:t>Flat Files</a:t>
            </a:r>
            <a:endParaRPr lang="en-IN" sz="3600" dirty="0">
              <a:solidFill>
                <a:schemeClr val="bg1"/>
              </a:solidFill>
              <a:latin typeface="Bahnschrift" panose="020B0502040204020203" pitchFamily="34" charset="0"/>
            </a:endParaRPr>
          </a:p>
        </p:txBody>
      </p:sp>
      <p:sp>
        <p:nvSpPr>
          <p:cNvPr id="8" name="Rectangle 7">
            <a:extLst>
              <a:ext uri="{FF2B5EF4-FFF2-40B4-BE49-F238E27FC236}">
                <a16:creationId xmlns:a16="http://schemas.microsoft.com/office/drawing/2014/main" id="{5FC434AB-322A-474F-9643-29DEFF89C8E4}"/>
              </a:ext>
            </a:extLst>
          </p:cNvPr>
          <p:cNvSpPr/>
          <p:nvPr/>
        </p:nvSpPr>
        <p:spPr>
          <a:xfrm>
            <a:off x="2806997" y="3246474"/>
            <a:ext cx="3423682" cy="1325563"/>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0" i="0" dirty="0">
                <a:solidFill>
                  <a:schemeClr val="bg1"/>
                </a:solidFill>
                <a:effectLst/>
                <a:latin typeface="Bahnschrift" panose="020B0502040204020203" pitchFamily="34" charset="0"/>
              </a:rPr>
              <a:t>Structured SQL data</a:t>
            </a:r>
            <a:endParaRPr lang="en-IN" sz="24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4130257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F21DFC-43D0-40F7-8A12-7716E0954F1A}"/>
              </a:ext>
            </a:extLst>
          </p:cNvPr>
          <p:cNvSpPr>
            <a:spLocks noGrp="1"/>
          </p:cNvSpPr>
          <p:nvPr>
            <p:ph idx="1"/>
          </p:nvPr>
        </p:nvSpPr>
        <p:spPr>
          <a:xfrm>
            <a:off x="338362" y="1493063"/>
            <a:ext cx="8386537" cy="5004884"/>
          </a:xfrm>
        </p:spPr>
        <p:txBody>
          <a:bodyPr>
            <a:normAutofit lnSpcReduction="10000"/>
          </a:bodyPr>
          <a:lstStyle/>
          <a:p>
            <a:pPr algn="just"/>
            <a:r>
              <a:rPr lang="en-US" b="0" i="0" dirty="0">
                <a:effectLst/>
              </a:rPr>
              <a:t>JSON has found wide use in Web and mobile applications, including large-scale </a:t>
            </a:r>
            <a:r>
              <a:rPr lang="en-US" b="0" i="0" u="sng" dirty="0">
                <a:effectLst/>
                <a:hlinkClick r:id="rId2">
                  <a:extLst>
                    <a:ext uri="{A12FA001-AC4F-418D-AE19-62706E023703}">
                      <ahyp:hlinkClr xmlns:ahyp="http://schemas.microsoft.com/office/drawing/2018/hyperlinkcolor" val="tx"/>
                    </a:ext>
                  </a:extLst>
                </a:hlinkClick>
              </a:rPr>
              <a:t>big data</a:t>
            </a:r>
            <a:r>
              <a:rPr lang="en-US" b="0" i="0" dirty="0">
                <a:effectLst/>
              </a:rPr>
              <a:t> and enterprise data warehouse applications. </a:t>
            </a:r>
          </a:p>
          <a:p>
            <a:pPr algn="just"/>
            <a:r>
              <a:rPr lang="en-US" b="0" i="0" dirty="0">
                <a:effectLst/>
              </a:rPr>
              <a:t>JAQL can run in local mode on individual systems and in cluster mode, in the latter case supporting </a:t>
            </a:r>
            <a:r>
              <a:rPr lang="en-US" b="0" i="0" u="sng" dirty="0">
                <a:effectLst/>
                <a:hlinkClick r:id="rId3">
                  <a:extLst>
                    <a:ext uri="{A12FA001-AC4F-418D-AE19-62706E023703}">
                      <ahyp:hlinkClr xmlns:ahyp="http://schemas.microsoft.com/office/drawing/2018/hyperlinkcolor" val="tx"/>
                    </a:ext>
                  </a:extLst>
                </a:hlinkClick>
              </a:rPr>
              <a:t>Hadoop</a:t>
            </a:r>
            <a:r>
              <a:rPr lang="en-US" b="0" i="0" dirty="0">
                <a:effectLst/>
              </a:rPr>
              <a:t> applications. </a:t>
            </a:r>
            <a:br>
              <a:rPr lang="en-US" b="0" i="0" dirty="0">
                <a:effectLst/>
              </a:rPr>
            </a:br>
            <a:r>
              <a:rPr lang="en-US" b="0" i="0" dirty="0">
                <a:effectLst/>
              </a:rPr>
              <a:t>It automatically generates </a:t>
            </a:r>
            <a:r>
              <a:rPr lang="en-US" b="0" i="0" u="sng" dirty="0">
                <a:effectLst/>
                <a:hlinkClick r:id="rId4">
                  <a:extLst>
                    <a:ext uri="{A12FA001-AC4F-418D-AE19-62706E023703}">
                      <ahyp:hlinkClr xmlns:ahyp="http://schemas.microsoft.com/office/drawing/2018/hyperlinkcolor" val="tx"/>
                    </a:ext>
                  </a:extLst>
                </a:hlinkClick>
              </a:rPr>
              <a:t>MapReduce</a:t>
            </a:r>
            <a:r>
              <a:rPr lang="en-US" b="0" i="0" dirty="0">
                <a:effectLst/>
              </a:rPr>
              <a:t> jobs and parallel queries on Hadoop systems.</a:t>
            </a:r>
            <a:endParaRPr lang="en-IN" dirty="0"/>
          </a:p>
        </p:txBody>
      </p:sp>
      <p:sp>
        <p:nvSpPr>
          <p:cNvPr id="3" name="Title 2">
            <a:extLst>
              <a:ext uri="{FF2B5EF4-FFF2-40B4-BE49-F238E27FC236}">
                <a16:creationId xmlns:a16="http://schemas.microsoft.com/office/drawing/2014/main" id="{E662470D-6991-4F5A-A613-C6B7BF161909}"/>
              </a:ext>
            </a:extLst>
          </p:cNvPr>
          <p:cNvSpPr>
            <a:spLocks noGrp="1"/>
          </p:cNvSpPr>
          <p:nvPr>
            <p:ph type="title"/>
          </p:nvPr>
        </p:nvSpPr>
        <p:spPr/>
        <p:txBody>
          <a:bodyPr vert="horz" lIns="91440" tIns="45720" rIns="91440" bIns="45720" rtlCol="0" anchor="ctr">
            <a:normAutofit/>
          </a:bodyPr>
          <a:lstStyle/>
          <a:p>
            <a:r>
              <a:rPr lang="en-IN" dirty="0" err="1"/>
              <a:t>Jaql</a:t>
            </a:r>
            <a:r>
              <a:rPr lang="en-IN" dirty="0"/>
              <a:t> [Query language for JavaScript]</a:t>
            </a:r>
          </a:p>
        </p:txBody>
      </p:sp>
    </p:spTree>
    <p:extLst>
      <p:ext uri="{BB962C8B-B14F-4D97-AF65-F5344CB8AC3E}">
        <p14:creationId xmlns:p14="http://schemas.microsoft.com/office/powerpoint/2010/main" val="1632786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62470D-6991-4F5A-A613-C6B7BF161909}"/>
              </a:ext>
            </a:extLst>
          </p:cNvPr>
          <p:cNvSpPr>
            <a:spLocks noGrp="1"/>
          </p:cNvSpPr>
          <p:nvPr>
            <p:ph type="title"/>
          </p:nvPr>
        </p:nvSpPr>
        <p:spPr/>
        <p:txBody>
          <a:bodyPr vert="horz" lIns="91440" tIns="45720" rIns="91440" bIns="45720" rtlCol="0" anchor="ctr">
            <a:normAutofit/>
          </a:bodyPr>
          <a:lstStyle/>
          <a:p>
            <a:r>
              <a:rPr lang="en-IN" dirty="0" err="1"/>
              <a:t>Jaql</a:t>
            </a:r>
            <a:r>
              <a:rPr lang="en-IN" dirty="0"/>
              <a:t> [Query language for JavaScript]</a:t>
            </a:r>
          </a:p>
        </p:txBody>
      </p:sp>
      <p:pic>
        <p:nvPicPr>
          <p:cNvPr id="4" name="Picture 3">
            <a:extLst>
              <a:ext uri="{FF2B5EF4-FFF2-40B4-BE49-F238E27FC236}">
                <a16:creationId xmlns:a16="http://schemas.microsoft.com/office/drawing/2014/main" id="{37C422BE-F4D6-470F-8C8A-5B2041818CB9}"/>
              </a:ext>
            </a:extLst>
          </p:cNvPr>
          <p:cNvPicPr>
            <a:picLocks noChangeAspect="1"/>
          </p:cNvPicPr>
          <p:nvPr/>
        </p:nvPicPr>
        <p:blipFill>
          <a:blip r:embed="rId2"/>
          <a:stretch>
            <a:fillRect/>
          </a:stretch>
        </p:blipFill>
        <p:spPr>
          <a:xfrm>
            <a:off x="1612605" y="1739392"/>
            <a:ext cx="5309191" cy="3981893"/>
          </a:xfrm>
          <a:prstGeom prst="rect">
            <a:avLst/>
          </a:prstGeom>
          <a:ln>
            <a:solidFill>
              <a:schemeClr val="tx1"/>
            </a:solidFill>
          </a:ln>
          <a:effectLst>
            <a:outerShdw blurRad="63500" sx="102000" sy="102000" algn="ctr" rotWithShape="0">
              <a:prstClr val="black">
                <a:alpha val="40000"/>
              </a:prstClr>
            </a:outerShdw>
          </a:effectLst>
        </p:spPr>
      </p:pic>
      <p:sp>
        <p:nvSpPr>
          <p:cNvPr id="5" name="Rectangle 4">
            <a:extLst>
              <a:ext uri="{FF2B5EF4-FFF2-40B4-BE49-F238E27FC236}">
                <a16:creationId xmlns:a16="http://schemas.microsoft.com/office/drawing/2014/main" id="{B12F39DC-87F0-439C-9C42-02542B259CC7}"/>
              </a:ext>
            </a:extLst>
          </p:cNvPr>
          <p:cNvSpPr/>
          <p:nvPr/>
        </p:nvSpPr>
        <p:spPr>
          <a:xfrm>
            <a:off x="2796364" y="5894065"/>
            <a:ext cx="2711302" cy="531627"/>
          </a:xfrm>
          <a:prstGeom prst="rect">
            <a:avLst/>
          </a:prstGeom>
          <a:solidFill>
            <a:srgbClr val="44525A"/>
          </a:solidFill>
          <a:ln>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0" i="0" dirty="0">
                <a:solidFill>
                  <a:schemeClr val="bg1"/>
                </a:solidFill>
                <a:effectLst/>
                <a:latin typeface="Bahnschrift" panose="020B0502040204020203" pitchFamily="34" charset="0"/>
              </a:rPr>
              <a:t>IBM Research Labs</a:t>
            </a:r>
            <a:endParaRPr lang="en-IN" sz="20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22002948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62470D-6991-4F5A-A613-C6B7BF161909}"/>
              </a:ext>
            </a:extLst>
          </p:cNvPr>
          <p:cNvSpPr>
            <a:spLocks noGrp="1"/>
          </p:cNvSpPr>
          <p:nvPr>
            <p:ph type="title"/>
          </p:nvPr>
        </p:nvSpPr>
        <p:spPr/>
        <p:txBody>
          <a:bodyPr vert="horz" lIns="91440" tIns="45720" rIns="91440" bIns="45720" rtlCol="0" anchor="ctr">
            <a:normAutofit/>
          </a:bodyPr>
          <a:lstStyle/>
          <a:p>
            <a:r>
              <a:rPr lang="en-IN" dirty="0" err="1"/>
              <a:t>Jaql</a:t>
            </a:r>
            <a:r>
              <a:rPr lang="en-IN" dirty="0"/>
              <a:t> [Query language for JavaScript]</a:t>
            </a:r>
          </a:p>
        </p:txBody>
      </p:sp>
      <p:sp>
        <p:nvSpPr>
          <p:cNvPr id="5" name="Rectangle 4">
            <a:extLst>
              <a:ext uri="{FF2B5EF4-FFF2-40B4-BE49-F238E27FC236}">
                <a16:creationId xmlns:a16="http://schemas.microsoft.com/office/drawing/2014/main" id="{B12F39DC-87F0-439C-9C42-02542B259CC7}"/>
              </a:ext>
            </a:extLst>
          </p:cNvPr>
          <p:cNvSpPr/>
          <p:nvPr/>
        </p:nvSpPr>
        <p:spPr>
          <a:xfrm>
            <a:off x="501056" y="3421875"/>
            <a:ext cx="2711302" cy="531627"/>
          </a:xfrm>
          <a:prstGeom prst="rect">
            <a:avLst/>
          </a:prstGeom>
          <a:solidFill>
            <a:srgbClr val="44525A"/>
          </a:solidFill>
          <a:ln>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0" i="0" dirty="0">
                <a:solidFill>
                  <a:schemeClr val="bg1"/>
                </a:solidFill>
                <a:effectLst/>
                <a:latin typeface="Bahnschrift" panose="020B0502040204020203" pitchFamily="34" charset="0"/>
              </a:rPr>
              <a:t>Google Code</a:t>
            </a:r>
            <a:endParaRPr lang="en-IN" sz="2000" dirty="0">
              <a:solidFill>
                <a:schemeClr val="bg1"/>
              </a:solidFill>
              <a:latin typeface="Bahnschrift" panose="020B0502040204020203" pitchFamily="34" charset="0"/>
            </a:endParaRPr>
          </a:p>
        </p:txBody>
      </p:sp>
      <p:pic>
        <p:nvPicPr>
          <p:cNvPr id="2" name="Picture 1">
            <a:extLst>
              <a:ext uri="{FF2B5EF4-FFF2-40B4-BE49-F238E27FC236}">
                <a16:creationId xmlns:a16="http://schemas.microsoft.com/office/drawing/2014/main" id="{1051C08C-493F-4E4C-93ED-FF6C4661203A}"/>
              </a:ext>
            </a:extLst>
          </p:cNvPr>
          <p:cNvPicPr>
            <a:picLocks noChangeAspect="1"/>
          </p:cNvPicPr>
          <p:nvPr/>
        </p:nvPicPr>
        <p:blipFill>
          <a:blip r:embed="rId2"/>
          <a:stretch>
            <a:fillRect/>
          </a:stretch>
        </p:blipFill>
        <p:spPr>
          <a:xfrm>
            <a:off x="307016" y="1465633"/>
            <a:ext cx="3099383" cy="1617810"/>
          </a:xfrm>
          <a:prstGeom prst="rect">
            <a:avLst/>
          </a:prstGeom>
          <a:ln>
            <a:solidFill>
              <a:schemeClr val="tx1"/>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330159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62470D-6991-4F5A-A613-C6B7BF161909}"/>
              </a:ext>
            </a:extLst>
          </p:cNvPr>
          <p:cNvSpPr>
            <a:spLocks noGrp="1"/>
          </p:cNvSpPr>
          <p:nvPr>
            <p:ph type="title"/>
          </p:nvPr>
        </p:nvSpPr>
        <p:spPr/>
        <p:txBody>
          <a:bodyPr vert="horz" lIns="91440" tIns="45720" rIns="91440" bIns="45720" rtlCol="0" anchor="ctr">
            <a:normAutofit/>
          </a:bodyPr>
          <a:lstStyle/>
          <a:p>
            <a:r>
              <a:rPr lang="en-IN" dirty="0" err="1"/>
              <a:t>Jaql</a:t>
            </a:r>
            <a:r>
              <a:rPr lang="en-IN" dirty="0"/>
              <a:t> [Query language for JavaScript]</a:t>
            </a:r>
          </a:p>
        </p:txBody>
      </p:sp>
      <p:sp>
        <p:nvSpPr>
          <p:cNvPr id="5" name="Rectangle 4">
            <a:extLst>
              <a:ext uri="{FF2B5EF4-FFF2-40B4-BE49-F238E27FC236}">
                <a16:creationId xmlns:a16="http://schemas.microsoft.com/office/drawing/2014/main" id="{B12F39DC-87F0-439C-9C42-02542B259CC7}"/>
              </a:ext>
            </a:extLst>
          </p:cNvPr>
          <p:cNvSpPr/>
          <p:nvPr/>
        </p:nvSpPr>
        <p:spPr>
          <a:xfrm>
            <a:off x="501056" y="3421875"/>
            <a:ext cx="2711302" cy="531627"/>
          </a:xfrm>
          <a:prstGeom prst="rect">
            <a:avLst/>
          </a:prstGeom>
          <a:solidFill>
            <a:srgbClr val="44525A"/>
          </a:solidFill>
          <a:ln>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0" i="0" dirty="0">
                <a:solidFill>
                  <a:schemeClr val="bg1"/>
                </a:solidFill>
                <a:effectLst/>
                <a:latin typeface="Bahnschrift" panose="020B0502040204020203" pitchFamily="34" charset="0"/>
              </a:rPr>
              <a:t>Google Code</a:t>
            </a:r>
            <a:endParaRPr lang="en-IN" sz="2000" dirty="0">
              <a:solidFill>
                <a:schemeClr val="bg1"/>
              </a:solidFill>
              <a:latin typeface="Bahnschrift" panose="020B0502040204020203" pitchFamily="34" charset="0"/>
            </a:endParaRPr>
          </a:p>
        </p:txBody>
      </p:sp>
      <p:pic>
        <p:nvPicPr>
          <p:cNvPr id="2" name="Picture 1">
            <a:extLst>
              <a:ext uri="{FF2B5EF4-FFF2-40B4-BE49-F238E27FC236}">
                <a16:creationId xmlns:a16="http://schemas.microsoft.com/office/drawing/2014/main" id="{1051C08C-493F-4E4C-93ED-FF6C4661203A}"/>
              </a:ext>
            </a:extLst>
          </p:cNvPr>
          <p:cNvPicPr>
            <a:picLocks noChangeAspect="1"/>
          </p:cNvPicPr>
          <p:nvPr/>
        </p:nvPicPr>
        <p:blipFill>
          <a:blip r:embed="rId2"/>
          <a:stretch>
            <a:fillRect/>
          </a:stretch>
        </p:blipFill>
        <p:spPr>
          <a:xfrm>
            <a:off x="307016" y="1465633"/>
            <a:ext cx="3099383" cy="1617810"/>
          </a:xfrm>
          <a:prstGeom prst="rect">
            <a:avLst/>
          </a:prstGeom>
          <a:ln>
            <a:solidFill>
              <a:schemeClr val="tx1"/>
            </a:solidFill>
          </a:ln>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E33030FB-E113-4462-A33E-933DDDBC2311}"/>
              </a:ext>
            </a:extLst>
          </p:cNvPr>
          <p:cNvPicPr>
            <a:picLocks noChangeAspect="1"/>
          </p:cNvPicPr>
          <p:nvPr/>
        </p:nvPicPr>
        <p:blipFill>
          <a:blip r:embed="rId3"/>
          <a:stretch>
            <a:fillRect/>
          </a:stretch>
        </p:blipFill>
        <p:spPr>
          <a:xfrm>
            <a:off x="4162972" y="1465633"/>
            <a:ext cx="1628554" cy="1628554"/>
          </a:xfrm>
          <a:prstGeom prst="rect">
            <a:avLst/>
          </a:prstGeom>
          <a:ln>
            <a:solidFill>
              <a:schemeClr val="tx1"/>
            </a:solidFill>
          </a:ln>
          <a:effectLst>
            <a:outerShdw blurRad="63500" sx="102000" sy="102000" algn="ctr" rotWithShape="0">
              <a:prstClr val="black">
                <a:alpha val="40000"/>
              </a:prstClr>
            </a:outerShdw>
          </a:effectLst>
        </p:spPr>
      </p:pic>
      <p:sp>
        <p:nvSpPr>
          <p:cNvPr id="7" name="Rectangle 6">
            <a:extLst>
              <a:ext uri="{FF2B5EF4-FFF2-40B4-BE49-F238E27FC236}">
                <a16:creationId xmlns:a16="http://schemas.microsoft.com/office/drawing/2014/main" id="{80E89E6B-8232-4DF0-B916-D1955546D91B}"/>
              </a:ext>
            </a:extLst>
          </p:cNvPr>
          <p:cNvSpPr/>
          <p:nvPr/>
        </p:nvSpPr>
        <p:spPr>
          <a:xfrm>
            <a:off x="3757723" y="3429000"/>
            <a:ext cx="2711302" cy="531627"/>
          </a:xfrm>
          <a:prstGeom prst="rect">
            <a:avLst/>
          </a:prstGeom>
          <a:solidFill>
            <a:srgbClr val="44525A"/>
          </a:solidFill>
          <a:ln>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0" i="0" dirty="0">
                <a:solidFill>
                  <a:schemeClr val="bg1"/>
                </a:solidFill>
                <a:effectLst/>
                <a:latin typeface="Bahnschrift" panose="020B0502040204020203" pitchFamily="34" charset="0"/>
              </a:rPr>
              <a:t>Apache 2.0 version</a:t>
            </a:r>
            <a:endParaRPr lang="en-IN" sz="20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3365114667"/>
      </p:ext>
    </p:extLst>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62470D-6991-4F5A-A613-C6B7BF161909}"/>
              </a:ext>
            </a:extLst>
          </p:cNvPr>
          <p:cNvSpPr>
            <a:spLocks noGrp="1"/>
          </p:cNvSpPr>
          <p:nvPr>
            <p:ph type="title"/>
          </p:nvPr>
        </p:nvSpPr>
        <p:spPr/>
        <p:txBody>
          <a:bodyPr anchor="ctr" bIns="45720" lIns="91440" rIns="91440" rtlCol="0" tIns="45720" vert="horz">
            <a:normAutofit/>
          </a:bodyPr>
          <a:lstStyle/>
          <a:p>
            <a:r>
              <a:rPr dirty="0" err="1" lang="en-IN"/>
              <a:t>Jaql</a:t>
            </a:r>
            <a:r>
              <a:rPr dirty="0" lang="en-IN"/>
              <a:t> [Query language for JavaScript]</a:t>
            </a:r>
          </a:p>
        </p:txBody>
      </p:sp>
      <p:sp>
        <p:nvSpPr>
          <p:cNvPr id="5" name="Rectangle 4">
            <a:extLst>
              <a:ext uri="{FF2B5EF4-FFF2-40B4-BE49-F238E27FC236}">
                <a16:creationId xmlns:a16="http://schemas.microsoft.com/office/drawing/2014/main" id="{B12F39DC-87F0-439C-9C42-02542B259CC7}"/>
              </a:ext>
            </a:extLst>
          </p:cNvPr>
          <p:cNvSpPr/>
          <p:nvPr/>
        </p:nvSpPr>
        <p:spPr>
          <a:xfrm>
            <a:off x="501056" y="3421875"/>
            <a:ext cx="2711302" cy="531627"/>
          </a:xfrm>
          <a:prstGeom prst="rect">
            <a:avLst/>
          </a:prstGeom>
          <a:solidFill>
            <a:srgbClr val="44525A"/>
          </a:solidFill>
          <a:ln>
            <a:solidFill>
              <a:schemeClr val="tx1"/>
            </a:solidFill>
          </a:ln>
          <a:effectLst>
            <a:outerShdw algn="ctr" blurRad="63500" rotWithShape="0" sx="102000" sy="102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0" dirty="0" i="0" lang="en-US" sz="2000">
                <a:solidFill>
                  <a:schemeClr val="bg1"/>
                </a:solidFill>
                <a:effectLst/>
                <a:latin charset="0" panose="020B0502040204020203" pitchFamily="34" typeface="Bahnschrift"/>
              </a:rPr>
              <a:t>Google Code</a:t>
            </a:r>
            <a:endParaRPr dirty="0" lang="en-IN" sz="2000">
              <a:solidFill>
                <a:schemeClr val="bg1"/>
              </a:solidFill>
              <a:latin charset="0" panose="020B0502040204020203" pitchFamily="34" typeface="Bahnschrift"/>
            </a:endParaRPr>
          </a:p>
        </p:txBody>
      </p:sp>
      <p:pic>
        <p:nvPicPr>
          <p:cNvPr id="2" name="Picture 1">
            <a:extLst>
              <a:ext uri="{FF2B5EF4-FFF2-40B4-BE49-F238E27FC236}">
                <a16:creationId xmlns:a16="http://schemas.microsoft.com/office/drawing/2014/main" id="{1051C08C-493F-4E4C-93ED-FF6C4661203A}"/>
              </a:ext>
            </a:extLst>
          </p:cNvPr>
          <p:cNvPicPr>
            <a:picLocks noChangeAspect="1"/>
          </p:cNvPicPr>
          <p:nvPr/>
        </p:nvPicPr>
        <p:blipFill>
          <a:blip r:embed="rId2"/>
          <a:stretch>
            <a:fillRect/>
          </a:stretch>
        </p:blipFill>
        <p:spPr>
          <a:xfrm>
            <a:off x="307016" y="1465633"/>
            <a:ext cx="3099383" cy="1617810"/>
          </a:xfrm>
          <a:prstGeom prst="rect">
            <a:avLst/>
          </a:prstGeom>
          <a:ln>
            <a:solidFill>
              <a:schemeClr val="tx1"/>
            </a:solidFill>
          </a:ln>
          <a:effectLst>
            <a:outerShdw algn="ctr" blurRad="63500" rotWithShape="0" sx="102000" sy="102000">
              <a:prstClr val="black">
                <a:alpha val="40000"/>
              </a:prstClr>
            </a:outerShdw>
          </a:effectLst>
        </p:spPr>
      </p:pic>
      <p:pic>
        <p:nvPicPr>
          <p:cNvPr id="6" name="Picture 5">
            <a:extLst>
              <a:ext uri="{FF2B5EF4-FFF2-40B4-BE49-F238E27FC236}">
                <a16:creationId xmlns:a16="http://schemas.microsoft.com/office/drawing/2014/main" id="{E33030FB-E113-4462-A33E-933DDDBC2311}"/>
              </a:ext>
            </a:extLst>
          </p:cNvPr>
          <p:cNvPicPr>
            <a:picLocks noChangeAspect="1"/>
          </p:cNvPicPr>
          <p:nvPr/>
        </p:nvPicPr>
        <p:blipFill>
          <a:blip r:embed="rId3"/>
          <a:stretch>
            <a:fillRect/>
          </a:stretch>
        </p:blipFill>
        <p:spPr>
          <a:xfrm>
            <a:off x="4162972" y="1465633"/>
            <a:ext cx="1628554" cy="1628554"/>
          </a:xfrm>
          <a:prstGeom prst="rect">
            <a:avLst/>
          </a:prstGeom>
          <a:ln>
            <a:solidFill>
              <a:schemeClr val="tx1"/>
            </a:solidFill>
          </a:ln>
          <a:effectLst>
            <a:outerShdw algn="ctr" blurRad="63500" rotWithShape="0" sx="102000" sy="102000">
              <a:prstClr val="black">
                <a:alpha val="40000"/>
              </a:prstClr>
            </a:outerShdw>
          </a:effectLst>
        </p:spPr>
      </p:pic>
      <p:sp>
        <p:nvSpPr>
          <p:cNvPr id="7" name="Rectangle 6">
            <a:extLst>
              <a:ext uri="{FF2B5EF4-FFF2-40B4-BE49-F238E27FC236}">
                <a16:creationId xmlns:a16="http://schemas.microsoft.com/office/drawing/2014/main" id="{80E89E6B-8232-4DF0-B916-D1955546D91B}"/>
              </a:ext>
            </a:extLst>
          </p:cNvPr>
          <p:cNvSpPr/>
          <p:nvPr/>
        </p:nvSpPr>
        <p:spPr>
          <a:xfrm>
            <a:off x="3757723" y="3429000"/>
            <a:ext cx="2711302" cy="531627"/>
          </a:xfrm>
          <a:prstGeom prst="rect">
            <a:avLst/>
          </a:prstGeom>
          <a:solidFill>
            <a:srgbClr val="44525A"/>
          </a:solidFill>
          <a:ln>
            <a:solidFill>
              <a:schemeClr val="tx1"/>
            </a:solidFill>
          </a:ln>
          <a:effectLst>
            <a:outerShdw algn="ctr" blurRad="63500" rotWithShape="0" sx="102000" sy="102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0" dirty="0" i="0" lang="en-US" sz="2000">
                <a:solidFill>
                  <a:schemeClr val="bg1"/>
                </a:solidFill>
                <a:effectLst/>
                <a:latin charset="0" panose="020B0502040204020203" pitchFamily="34" typeface="Bahnschrift"/>
              </a:rPr>
              <a:t>Apache 2.0 version</a:t>
            </a:r>
            <a:endParaRPr dirty="0" lang="en-IN" sz="2000">
              <a:solidFill>
                <a:schemeClr val="bg1"/>
              </a:solidFill>
              <a:latin charset="0" panose="020B0502040204020203" pitchFamily="34" typeface="Bahnschrift"/>
            </a:endParaRPr>
          </a:p>
        </p:txBody>
      </p:sp>
      <p:pic>
        <p:nvPicPr>
          <p:cNvPr id="8" name="Picture 7">
            <a:extLst>
              <a:ext uri="{FF2B5EF4-FFF2-40B4-BE49-F238E27FC236}">
                <a16:creationId xmlns:a16="http://schemas.microsoft.com/office/drawing/2014/main" id="{5B27B437-A5C7-4010-9F04-D6DF9211BA00}"/>
              </a:ext>
            </a:extLst>
          </p:cNvPr>
          <p:cNvPicPr>
            <a:picLocks noChangeAspect="1"/>
          </p:cNvPicPr>
          <p:nvPr/>
        </p:nvPicPr>
        <p:blipFill rotWithShape="1">
          <a:blip r:embed="rId4"/>
          <a:srcRect b="-74" r="-76"/>
          <a:stretch/>
        </p:blipFill>
        <p:spPr>
          <a:xfrm>
            <a:off x="6859327" y="1408963"/>
            <a:ext cx="1710515" cy="1710514"/>
          </a:xfrm>
          <a:prstGeom prst="rect">
            <a:avLst/>
          </a:prstGeom>
          <a:ln>
            <a:solidFill>
              <a:schemeClr val="tx1"/>
            </a:solidFill>
          </a:ln>
          <a:effectLst>
            <a:outerShdw algn="ctr" blurRad="63500" rotWithShape="0" sx="102000" sy="102000">
              <a:prstClr val="black">
                <a:alpha val="40000"/>
              </a:prstClr>
            </a:outerShdw>
          </a:effectLst>
        </p:spPr>
      </p:pic>
      <p:sp>
        <p:nvSpPr>
          <p:cNvPr id="9" name="Rectangle 8">
            <a:extLst>
              <a:ext uri="{FF2B5EF4-FFF2-40B4-BE49-F238E27FC236}">
                <a16:creationId xmlns:a16="http://schemas.microsoft.com/office/drawing/2014/main" id="{DF8673ED-E045-4500-8BF1-1EF458066E3A}"/>
              </a:ext>
            </a:extLst>
          </p:cNvPr>
          <p:cNvSpPr/>
          <p:nvPr/>
        </p:nvSpPr>
        <p:spPr>
          <a:xfrm>
            <a:off x="6610792" y="3420103"/>
            <a:ext cx="2309924" cy="531627"/>
          </a:xfrm>
          <a:prstGeom prst="rect">
            <a:avLst/>
          </a:prstGeom>
          <a:solidFill>
            <a:srgbClr val="44525A"/>
          </a:solidFill>
          <a:ln>
            <a:solidFill>
              <a:schemeClr val="tx1"/>
            </a:solidFill>
          </a:ln>
          <a:effectLst>
            <a:outerShdw algn="ctr" blurRad="63500" rotWithShape="0" sx="102000" sy="102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0" dirty="0" err="1" i="0" lang="en-US" sz="2000">
                <a:solidFill>
                  <a:schemeClr val="bg1"/>
                </a:solidFill>
                <a:effectLst/>
                <a:latin charset="0" panose="020B0502040204020203" pitchFamily="34" typeface="Bahnschrift"/>
              </a:rPr>
              <a:t>InfoSphere</a:t>
            </a:r>
            <a:endParaRPr dirty="0" lang="en-IN" sz="2000">
              <a:solidFill>
                <a:schemeClr val="bg1"/>
              </a:solidFill>
              <a:latin charset="0" panose="020B0502040204020203" pitchFamily="34" typeface="Bahnschrift"/>
            </a:endParaRPr>
          </a:p>
        </p:txBody>
      </p:sp>
    </p:spTree>
    <p:extLst>
      <p:ext uri="{BB962C8B-B14F-4D97-AF65-F5344CB8AC3E}">
        <p14:creationId xmlns:p14="http://schemas.microsoft.com/office/powerpoint/2010/main" val="22200050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2720F3-BA1D-44C9-A1BC-CC122BD373A5}"/>
              </a:ext>
            </a:extLst>
          </p:cNvPr>
          <p:cNvPicPr>
            <a:picLocks noGrp="1" noChangeAspect="1"/>
          </p:cNvPicPr>
          <p:nvPr>
            <p:ph idx="1"/>
          </p:nvPr>
        </p:nvPicPr>
        <p:blipFill>
          <a:blip r:embed="rId2"/>
          <a:stretch>
            <a:fillRect/>
          </a:stretch>
        </p:blipFill>
        <p:spPr>
          <a:xfrm>
            <a:off x="1212112" y="1594626"/>
            <a:ext cx="6124519" cy="4679174"/>
          </a:xfrm>
          <a:prstGeom prst="rect">
            <a:avLst/>
          </a:prstGeom>
        </p:spPr>
      </p:pic>
      <p:sp>
        <p:nvSpPr>
          <p:cNvPr id="3" name="Title 2">
            <a:extLst>
              <a:ext uri="{FF2B5EF4-FFF2-40B4-BE49-F238E27FC236}">
                <a16:creationId xmlns:a16="http://schemas.microsoft.com/office/drawing/2014/main" id="{4CBF9EB6-7593-4806-83E7-1BCECEF81563}"/>
              </a:ext>
            </a:extLst>
          </p:cNvPr>
          <p:cNvSpPr>
            <a:spLocks noGrp="1"/>
          </p:cNvSpPr>
          <p:nvPr>
            <p:ph type="title"/>
          </p:nvPr>
        </p:nvSpPr>
        <p:spPr/>
        <p:txBody>
          <a:bodyPr vert="horz" lIns="91440" tIns="45720" rIns="91440" bIns="45720" rtlCol="0" anchor="ctr">
            <a:normAutofit/>
          </a:bodyPr>
          <a:lstStyle/>
          <a:p>
            <a:r>
              <a:rPr lang="en-IN" dirty="0"/>
              <a:t>Pig [Large datasets </a:t>
            </a:r>
            <a:r>
              <a:rPr lang="en-IN" dirty="0" err="1"/>
              <a:t>analyzing</a:t>
            </a:r>
            <a:r>
              <a:rPr lang="en-IN" dirty="0"/>
              <a:t> platform]</a:t>
            </a:r>
          </a:p>
        </p:txBody>
      </p:sp>
    </p:spTree>
    <p:extLst>
      <p:ext uri="{BB962C8B-B14F-4D97-AF65-F5344CB8AC3E}">
        <p14:creationId xmlns:p14="http://schemas.microsoft.com/office/powerpoint/2010/main" val="26166403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BF9EB6-7593-4806-83E7-1BCECEF81563}"/>
              </a:ext>
            </a:extLst>
          </p:cNvPr>
          <p:cNvSpPr>
            <a:spLocks noGrp="1"/>
          </p:cNvSpPr>
          <p:nvPr>
            <p:ph type="title"/>
          </p:nvPr>
        </p:nvSpPr>
        <p:spPr/>
        <p:txBody>
          <a:bodyPr vert="horz" lIns="91440" tIns="45720" rIns="91440" bIns="45720" rtlCol="0" anchor="ctr">
            <a:normAutofit/>
          </a:bodyPr>
          <a:lstStyle/>
          <a:p>
            <a:r>
              <a:rPr lang="en-IN" dirty="0"/>
              <a:t>Pig [Large datasets </a:t>
            </a:r>
            <a:r>
              <a:rPr lang="en-IN" dirty="0" err="1"/>
              <a:t>analyzing</a:t>
            </a:r>
            <a:r>
              <a:rPr lang="en-IN" dirty="0"/>
              <a:t> platform]</a:t>
            </a:r>
          </a:p>
        </p:txBody>
      </p:sp>
      <p:sp>
        <p:nvSpPr>
          <p:cNvPr id="5" name="Content Placeholder 4">
            <a:extLst>
              <a:ext uri="{FF2B5EF4-FFF2-40B4-BE49-F238E27FC236}">
                <a16:creationId xmlns:a16="http://schemas.microsoft.com/office/drawing/2014/main" id="{B9B7ED75-5A80-4909-A5F6-6F209EDB5DBE}"/>
              </a:ext>
            </a:extLst>
          </p:cNvPr>
          <p:cNvSpPr>
            <a:spLocks noGrp="1"/>
          </p:cNvSpPr>
          <p:nvPr>
            <p:ph idx="1"/>
          </p:nvPr>
        </p:nvSpPr>
        <p:spPr>
          <a:xfrm>
            <a:off x="338362" y="1451499"/>
            <a:ext cx="8386537" cy="5004884"/>
          </a:xfrm>
        </p:spPr>
        <p:txBody>
          <a:bodyPr>
            <a:normAutofit/>
          </a:bodyPr>
          <a:lstStyle/>
          <a:p>
            <a:pPr marL="0" indent="0" algn="just">
              <a:buNone/>
            </a:pPr>
            <a:r>
              <a:rPr lang="en-US" b="0" i="0" dirty="0">
                <a:effectLst/>
              </a:rPr>
              <a:t>Why Do We Need Apache Pig?</a:t>
            </a:r>
          </a:p>
          <a:p>
            <a:pPr lvl="1" algn="just"/>
            <a:r>
              <a:rPr lang="en-IN" i="0" dirty="0">
                <a:solidFill>
                  <a:srgbClr val="000000"/>
                </a:solidFill>
                <a:effectLst/>
              </a:rPr>
              <a:t>Pig Latin</a:t>
            </a:r>
          </a:p>
          <a:p>
            <a:pPr lvl="1" algn="just"/>
            <a:r>
              <a:rPr lang="en-IN" i="0" dirty="0">
                <a:solidFill>
                  <a:srgbClr val="000000"/>
                </a:solidFill>
                <a:effectLst/>
              </a:rPr>
              <a:t>multi-query approach,</a:t>
            </a:r>
          </a:p>
          <a:p>
            <a:pPr lvl="1" algn="just"/>
            <a:r>
              <a:rPr lang="en-IN" i="0" dirty="0">
                <a:solidFill>
                  <a:srgbClr val="000000"/>
                </a:solidFill>
                <a:effectLst/>
              </a:rPr>
              <a:t>SQL-like language</a:t>
            </a:r>
            <a:endParaRPr lang="en-IN" dirty="0">
              <a:solidFill>
                <a:srgbClr val="000000"/>
              </a:solidFill>
            </a:endParaRPr>
          </a:p>
          <a:p>
            <a:pPr lvl="1" algn="just"/>
            <a:r>
              <a:rPr lang="en-IN" dirty="0">
                <a:solidFill>
                  <a:srgbClr val="000000"/>
                </a:solidFill>
              </a:rPr>
              <a:t>B</a:t>
            </a:r>
            <a:r>
              <a:rPr lang="en-IN" i="0" dirty="0">
                <a:solidFill>
                  <a:srgbClr val="000000"/>
                </a:solidFill>
                <a:effectLst/>
              </a:rPr>
              <a:t>uilt-in operators </a:t>
            </a:r>
            <a:endParaRPr lang="en-IN" dirty="0"/>
          </a:p>
        </p:txBody>
      </p:sp>
    </p:spTree>
    <p:extLst>
      <p:ext uri="{BB962C8B-B14F-4D97-AF65-F5344CB8AC3E}">
        <p14:creationId xmlns:p14="http://schemas.microsoft.com/office/powerpoint/2010/main" val="40344222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BF9EB6-7593-4806-83E7-1BCECEF81563}"/>
              </a:ext>
            </a:extLst>
          </p:cNvPr>
          <p:cNvSpPr>
            <a:spLocks noGrp="1"/>
          </p:cNvSpPr>
          <p:nvPr>
            <p:ph type="title"/>
          </p:nvPr>
        </p:nvSpPr>
        <p:spPr/>
        <p:txBody>
          <a:bodyPr vert="horz" lIns="91440" tIns="45720" rIns="91440" bIns="45720" rtlCol="0" anchor="ctr">
            <a:normAutofit/>
          </a:bodyPr>
          <a:lstStyle/>
          <a:p>
            <a:r>
              <a:rPr lang="en-IN" dirty="0"/>
              <a:t>Pig [Large datasets </a:t>
            </a:r>
            <a:r>
              <a:rPr lang="en-IN" dirty="0" err="1"/>
              <a:t>analyzing</a:t>
            </a:r>
            <a:r>
              <a:rPr lang="en-IN" dirty="0"/>
              <a:t> platform]</a:t>
            </a:r>
          </a:p>
        </p:txBody>
      </p:sp>
      <p:sp>
        <p:nvSpPr>
          <p:cNvPr id="5" name="Content Placeholder 4">
            <a:extLst>
              <a:ext uri="{FF2B5EF4-FFF2-40B4-BE49-F238E27FC236}">
                <a16:creationId xmlns:a16="http://schemas.microsoft.com/office/drawing/2014/main" id="{B9B7ED75-5A80-4909-A5F6-6F209EDB5DBE}"/>
              </a:ext>
            </a:extLst>
          </p:cNvPr>
          <p:cNvSpPr>
            <a:spLocks noGrp="1"/>
          </p:cNvSpPr>
          <p:nvPr>
            <p:ph idx="1"/>
          </p:nvPr>
        </p:nvSpPr>
        <p:spPr>
          <a:xfrm>
            <a:off x="378731" y="1503454"/>
            <a:ext cx="8386537" cy="5004884"/>
          </a:xfrm>
        </p:spPr>
        <p:txBody>
          <a:bodyPr>
            <a:normAutofit/>
          </a:bodyPr>
          <a:lstStyle/>
          <a:p>
            <a:pPr marL="0" indent="0" algn="just">
              <a:buNone/>
            </a:pPr>
            <a:r>
              <a:rPr lang="en-IN" b="0" i="0" dirty="0">
                <a:effectLst/>
              </a:rPr>
              <a:t>Features of Pig</a:t>
            </a:r>
          </a:p>
          <a:p>
            <a:pPr lvl="1" algn="just"/>
            <a:r>
              <a:rPr lang="en-IN" i="0" dirty="0">
                <a:solidFill>
                  <a:srgbClr val="000000"/>
                </a:solidFill>
                <a:effectLst/>
              </a:rPr>
              <a:t>Rich set of operators</a:t>
            </a:r>
          </a:p>
          <a:p>
            <a:pPr lvl="1" algn="just"/>
            <a:r>
              <a:rPr lang="en-IN" i="0" dirty="0">
                <a:solidFill>
                  <a:srgbClr val="000000"/>
                </a:solidFill>
                <a:effectLst/>
              </a:rPr>
              <a:t>Ease of programming</a:t>
            </a:r>
            <a:endParaRPr lang="en-IN" dirty="0">
              <a:solidFill>
                <a:srgbClr val="000000"/>
              </a:solidFill>
            </a:endParaRPr>
          </a:p>
          <a:p>
            <a:pPr lvl="1" algn="just"/>
            <a:r>
              <a:rPr lang="en-IN" i="0" dirty="0">
                <a:solidFill>
                  <a:srgbClr val="000000"/>
                </a:solidFill>
                <a:effectLst/>
              </a:rPr>
              <a:t>Optimization opportunities </a:t>
            </a:r>
          </a:p>
          <a:p>
            <a:pPr lvl="1" algn="just"/>
            <a:r>
              <a:rPr lang="en-IN" i="0" dirty="0">
                <a:solidFill>
                  <a:srgbClr val="000000"/>
                </a:solidFill>
                <a:effectLst/>
              </a:rPr>
              <a:t>Extensibility</a:t>
            </a:r>
            <a:endParaRPr lang="en-IN" dirty="0">
              <a:solidFill>
                <a:srgbClr val="000000"/>
              </a:solidFill>
            </a:endParaRPr>
          </a:p>
          <a:p>
            <a:pPr lvl="1" algn="just"/>
            <a:r>
              <a:rPr lang="en-IN" i="0" dirty="0">
                <a:solidFill>
                  <a:srgbClr val="000000"/>
                </a:solidFill>
                <a:effectLst/>
              </a:rPr>
              <a:t>User-defined Functions</a:t>
            </a:r>
          </a:p>
          <a:p>
            <a:pPr lvl="1" algn="just"/>
            <a:r>
              <a:rPr lang="en-US" i="0" dirty="0">
                <a:solidFill>
                  <a:srgbClr val="000000"/>
                </a:solidFill>
                <a:effectLst/>
              </a:rPr>
              <a:t>Handles all kinds of data</a:t>
            </a:r>
            <a:endParaRPr lang="en-IN" dirty="0"/>
          </a:p>
        </p:txBody>
      </p:sp>
    </p:spTree>
    <p:extLst>
      <p:ext uri="{BB962C8B-B14F-4D97-AF65-F5344CB8AC3E}">
        <p14:creationId xmlns:p14="http://schemas.microsoft.com/office/powerpoint/2010/main" val="3830942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A7F0C0-421B-4EF6-8FEC-C105D40020BC}"/>
              </a:ext>
            </a:extLst>
          </p:cNvPr>
          <p:cNvSpPr>
            <a:spLocks noGrp="1"/>
          </p:cNvSpPr>
          <p:nvPr>
            <p:ph type="title"/>
          </p:nvPr>
        </p:nvSpPr>
        <p:spPr>
          <a:xfrm>
            <a:off x="338362" y="1"/>
            <a:ext cx="8667415" cy="1254642"/>
          </a:xfrm>
        </p:spPr>
        <p:txBody>
          <a:bodyPr vert="horz" lIns="91440" tIns="45720" rIns="91440" bIns="45720" rtlCol="0" anchor="ctr">
            <a:normAutofit/>
          </a:bodyPr>
          <a:lstStyle/>
          <a:p>
            <a:r>
              <a:rPr lang="en-IN" dirty="0"/>
              <a:t>Zookeeper [Centralized configuration service]</a:t>
            </a:r>
          </a:p>
        </p:txBody>
      </p:sp>
      <p:pic>
        <p:nvPicPr>
          <p:cNvPr id="4" name="Picture 3">
            <a:extLst>
              <a:ext uri="{FF2B5EF4-FFF2-40B4-BE49-F238E27FC236}">
                <a16:creationId xmlns:a16="http://schemas.microsoft.com/office/drawing/2014/main" id="{A716E1BC-AE5A-4DF1-9F66-607D468016FD}"/>
              </a:ext>
            </a:extLst>
          </p:cNvPr>
          <p:cNvPicPr>
            <a:picLocks noChangeAspect="1"/>
          </p:cNvPicPr>
          <p:nvPr/>
        </p:nvPicPr>
        <p:blipFill>
          <a:blip r:embed="rId2"/>
          <a:stretch>
            <a:fillRect/>
          </a:stretch>
        </p:blipFill>
        <p:spPr>
          <a:xfrm>
            <a:off x="524262" y="1783973"/>
            <a:ext cx="8095475" cy="4449421"/>
          </a:xfrm>
          <a:prstGeom prst="rect">
            <a:avLst/>
          </a:prstGeom>
        </p:spPr>
      </p:pic>
    </p:spTree>
    <p:extLst>
      <p:ext uri="{BB962C8B-B14F-4D97-AF65-F5344CB8AC3E}">
        <p14:creationId xmlns:p14="http://schemas.microsoft.com/office/powerpoint/2010/main" val="36310001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A7F0C0-421B-4EF6-8FEC-C105D40020BC}"/>
              </a:ext>
            </a:extLst>
          </p:cNvPr>
          <p:cNvSpPr>
            <a:spLocks noGrp="1"/>
          </p:cNvSpPr>
          <p:nvPr>
            <p:ph type="title"/>
          </p:nvPr>
        </p:nvSpPr>
        <p:spPr>
          <a:xfrm>
            <a:off x="338362" y="1"/>
            <a:ext cx="8667415" cy="1254642"/>
          </a:xfrm>
        </p:spPr>
        <p:txBody>
          <a:bodyPr vert="horz" lIns="91440" tIns="45720" rIns="91440" bIns="45720" rtlCol="0" anchor="ctr">
            <a:normAutofit/>
          </a:bodyPr>
          <a:lstStyle/>
          <a:p>
            <a:r>
              <a:rPr lang="en-IN" dirty="0"/>
              <a:t>Zookeeper [Centralized configuration service]</a:t>
            </a:r>
          </a:p>
        </p:txBody>
      </p:sp>
      <p:pic>
        <p:nvPicPr>
          <p:cNvPr id="2" name="Picture 1">
            <a:extLst>
              <a:ext uri="{FF2B5EF4-FFF2-40B4-BE49-F238E27FC236}">
                <a16:creationId xmlns:a16="http://schemas.microsoft.com/office/drawing/2014/main" id="{87C50C8B-AABB-4F8A-A5D0-4CA11805B57F}"/>
              </a:ext>
            </a:extLst>
          </p:cNvPr>
          <p:cNvPicPr>
            <a:picLocks noChangeAspect="1"/>
          </p:cNvPicPr>
          <p:nvPr/>
        </p:nvPicPr>
        <p:blipFill>
          <a:blip r:embed="rId2"/>
          <a:stretch>
            <a:fillRect/>
          </a:stretch>
        </p:blipFill>
        <p:spPr>
          <a:xfrm>
            <a:off x="1924495" y="1738312"/>
            <a:ext cx="4541762" cy="4774673"/>
          </a:xfrm>
          <a:prstGeom prst="rect">
            <a:avLst/>
          </a:prstGeom>
        </p:spPr>
      </p:pic>
    </p:spTree>
    <p:extLst>
      <p:ext uri="{BB962C8B-B14F-4D97-AF65-F5344CB8AC3E}">
        <p14:creationId xmlns:p14="http://schemas.microsoft.com/office/powerpoint/2010/main" val="27742021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17679E-35CC-4D0B-881D-59BA9BBB46CC}"/>
              </a:ext>
            </a:extLst>
          </p:cNvPr>
          <p:cNvSpPr>
            <a:spLocks noGrp="1"/>
          </p:cNvSpPr>
          <p:nvPr>
            <p:ph idx="1"/>
          </p:nvPr>
        </p:nvSpPr>
        <p:spPr>
          <a:xfrm>
            <a:off x="338362" y="1493062"/>
            <a:ext cx="8667415" cy="5004884"/>
          </a:xfrm>
        </p:spPr>
        <p:txBody>
          <a:bodyPr>
            <a:normAutofit fontScale="85000" lnSpcReduction="10000"/>
          </a:bodyPr>
          <a:lstStyle/>
          <a:p>
            <a:pPr algn="just"/>
            <a:r>
              <a:rPr lang="en-US" b="0" i="0" dirty="0">
                <a:effectLst/>
              </a:rPr>
              <a:t>This is a simplified version of how we are going to setup Zookeeper.</a:t>
            </a:r>
          </a:p>
          <a:p>
            <a:pPr algn="just"/>
            <a:r>
              <a:rPr lang="en-US" b="0" i="0" dirty="0">
                <a:effectLst/>
              </a:rPr>
              <a:t>Zookeeper stores data in a tree of </a:t>
            </a:r>
            <a:r>
              <a:rPr lang="en-US" b="0" i="0" u="none" strike="noStrike" dirty="0" err="1">
                <a:effectLst/>
                <a:hlinkClick r:id="rId2">
                  <a:extLst>
                    <a:ext uri="{A12FA001-AC4F-418D-AE19-62706E023703}">
                      <ahyp:hlinkClr xmlns:ahyp="http://schemas.microsoft.com/office/drawing/2018/hyperlinkcolor" val="tx"/>
                    </a:ext>
                  </a:extLst>
                </a:hlinkClick>
              </a:rPr>
              <a:t>ZNodes</a:t>
            </a:r>
            <a:r>
              <a:rPr lang="en-US" b="0" i="0" dirty="0">
                <a:effectLst/>
              </a:rPr>
              <a:t> similar to Linux file system structure, a </a:t>
            </a:r>
            <a:r>
              <a:rPr lang="en-US" b="0" i="0" dirty="0" err="1">
                <a:effectLst/>
              </a:rPr>
              <a:t>ZNode</a:t>
            </a:r>
            <a:r>
              <a:rPr lang="en-US" b="0" i="0" dirty="0">
                <a:effectLst/>
              </a:rPr>
              <a:t> may contain another </a:t>
            </a:r>
            <a:r>
              <a:rPr lang="en-US" b="0" i="0" dirty="0" err="1">
                <a:effectLst/>
              </a:rPr>
              <a:t>ZNodes</a:t>
            </a:r>
            <a:r>
              <a:rPr lang="en-US" b="0" i="0" dirty="0">
                <a:effectLst/>
              </a:rPr>
              <a:t> or may have a value.</a:t>
            </a:r>
          </a:p>
          <a:p>
            <a:pPr algn="just">
              <a:buFont typeface="Arial" panose="020B0604020202020204" pitchFamily="34" charset="0"/>
              <a:buChar char="•"/>
            </a:pPr>
            <a:r>
              <a:rPr lang="en-US" b="1" i="0" dirty="0">
                <a:effectLst/>
              </a:rPr>
              <a:t>App1</a:t>
            </a:r>
            <a:r>
              <a:rPr lang="en-US" b="0" i="0" dirty="0">
                <a:effectLst/>
              </a:rPr>
              <a:t> and </a:t>
            </a:r>
            <a:r>
              <a:rPr lang="en-US" b="1" i="0" dirty="0">
                <a:effectLst/>
              </a:rPr>
              <a:t>App2</a:t>
            </a:r>
            <a:r>
              <a:rPr lang="en-US" b="0" i="0" dirty="0">
                <a:effectLst/>
              </a:rPr>
              <a:t> are sharing data from</a:t>
            </a:r>
            <a:r>
              <a:rPr lang="en-US" b="1" i="0" dirty="0">
                <a:effectLst/>
              </a:rPr>
              <a:t> / </a:t>
            </a:r>
            <a:r>
              <a:rPr lang="en-US" b="0" i="0" dirty="0">
                <a:effectLst/>
              </a:rPr>
              <a:t>and </a:t>
            </a:r>
            <a:r>
              <a:rPr lang="en-US" b="1" i="0" dirty="0">
                <a:effectLst/>
              </a:rPr>
              <a:t>config </a:t>
            </a:r>
            <a:r>
              <a:rPr lang="en-US" b="0" i="0" dirty="0" err="1">
                <a:effectLst/>
              </a:rPr>
              <a:t>znodes</a:t>
            </a:r>
            <a:r>
              <a:rPr lang="en-US" b="0" i="0" dirty="0">
                <a:effectLst/>
              </a:rPr>
              <a:t>.</a:t>
            </a:r>
          </a:p>
          <a:p>
            <a:pPr algn="just">
              <a:buFont typeface="Arial" panose="020B0604020202020204" pitchFamily="34" charset="0"/>
              <a:buChar char="•"/>
            </a:pPr>
            <a:r>
              <a:rPr lang="en-US" b="0" i="0" dirty="0">
                <a:effectLst/>
              </a:rPr>
              <a:t>However </a:t>
            </a:r>
            <a:r>
              <a:rPr lang="en-US" b="1" i="0" dirty="0" err="1">
                <a:effectLst/>
              </a:rPr>
              <a:t>db.host</a:t>
            </a:r>
            <a:r>
              <a:rPr lang="en-US" b="0" i="0" dirty="0">
                <a:effectLst/>
              </a:rPr>
              <a:t>, </a:t>
            </a:r>
            <a:r>
              <a:rPr lang="en-US" b="1" i="0" dirty="0" err="1">
                <a:effectLst/>
              </a:rPr>
              <a:t>db.username</a:t>
            </a:r>
            <a:r>
              <a:rPr lang="en-US" b="0" i="0" dirty="0">
                <a:effectLst/>
              </a:rPr>
              <a:t> and </a:t>
            </a:r>
            <a:r>
              <a:rPr lang="en-US" b="1" i="0" dirty="0" err="1">
                <a:effectLst/>
              </a:rPr>
              <a:t>db.password</a:t>
            </a:r>
            <a:r>
              <a:rPr lang="en-US" b="0" i="0" dirty="0">
                <a:effectLst/>
              </a:rPr>
              <a:t> are specific to </a:t>
            </a:r>
            <a:r>
              <a:rPr lang="en-US" b="1" i="0" dirty="0">
                <a:effectLst/>
              </a:rPr>
              <a:t>App1</a:t>
            </a:r>
            <a:r>
              <a:rPr lang="en-US" b="0" i="0" dirty="0">
                <a:effectLst/>
              </a:rPr>
              <a:t>.</a:t>
            </a:r>
          </a:p>
          <a:p>
            <a:pPr algn="just"/>
            <a:endParaRPr lang="en-IN" dirty="0"/>
          </a:p>
        </p:txBody>
      </p:sp>
      <p:sp>
        <p:nvSpPr>
          <p:cNvPr id="3" name="Title 2">
            <a:extLst>
              <a:ext uri="{FF2B5EF4-FFF2-40B4-BE49-F238E27FC236}">
                <a16:creationId xmlns:a16="http://schemas.microsoft.com/office/drawing/2014/main" id="{1FA7F0C0-421B-4EF6-8FEC-C105D40020BC}"/>
              </a:ext>
            </a:extLst>
          </p:cNvPr>
          <p:cNvSpPr>
            <a:spLocks noGrp="1"/>
          </p:cNvSpPr>
          <p:nvPr>
            <p:ph type="title"/>
          </p:nvPr>
        </p:nvSpPr>
        <p:spPr>
          <a:xfrm>
            <a:off x="338362" y="1"/>
            <a:ext cx="8667415" cy="1254642"/>
          </a:xfrm>
        </p:spPr>
        <p:txBody>
          <a:bodyPr vert="horz" lIns="91440" tIns="45720" rIns="91440" bIns="45720" rtlCol="0" anchor="ctr">
            <a:normAutofit/>
          </a:bodyPr>
          <a:lstStyle/>
          <a:p>
            <a:r>
              <a:rPr lang="en-IN" dirty="0"/>
              <a:t>Zookeeper [Centralized configuration service]</a:t>
            </a:r>
          </a:p>
        </p:txBody>
      </p:sp>
    </p:spTree>
    <p:extLst>
      <p:ext uri="{BB962C8B-B14F-4D97-AF65-F5344CB8AC3E}">
        <p14:creationId xmlns:p14="http://schemas.microsoft.com/office/powerpoint/2010/main" val="21963964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2BA441-282B-4FAF-9E64-A6FEC6189851}"/>
              </a:ext>
            </a:extLst>
          </p:cNvPr>
          <p:cNvSpPr>
            <a:spLocks noGrp="1"/>
          </p:cNvSpPr>
          <p:nvPr>
            <p:ph type="title"/>
          </p:nvPr>
        </p:nvSpPr>
        <p:spPr/>
        <p:txBody>
          <a:bodyPr vert="horz" lIns="91440" tIns="45720" rIns="91440" bIns="45720" rtlCol="0" anchor="ctr">
            <a:normAutofit/>
          </a:bodyPr>
          <a:lstStyle/>
          <a:p>
            <a:r>
              <a:rPr lang="en-IN" dirty="0"/>
              <a:t>Avro [Data serialization system]</a:t>
            </a:r>
          </a:p>
        </p:txBody>
      </p:sp>
      <p:pic>
        <p:nvPicPr>
          <p:cNvPr id="8" name="Content Placeholder 7">
            <a:extLst>
              <a:ext uri="{FF2B5EF4-FFF2-40B4-BE49-F238E27FC236}">
                <a16:creationId xmlns:a16="http://schemas.microsoft.com/office/drawing/2014/main" id="{C99C253B-BB03-4041-B4E1-1F463FF85470}"/>
              </a:ext>
            </a:extLst>
          </p:cNvPr>
          <p:cNvPicPr>
            <a:picLocks noGrp="1" noChangeAspect="1"/>
          </p:cNvPicPr>
          <p:nvPr>
            <p:ph idx="1"/>
          </p:nvPr>
        </p:nvPicPr>
        <p:blipFill>
          <a:blip r:embed="rId2"/>
          <a:stretch>
            <a:fillRect/>
          </a:stretch>
        </p:blipFill>
        <p:spPr>
          <a:xfrm>
            <a:off x="2862772" y="1628775"/>
            <a:ext cx="2892138" cy="4336090"/>
          </a:xfrm>
          <a:prstGeom prst="rect">
            <a:avLst/>
          </a:prstGeom>
          <a:ln>
            <a:solidFill>
              <a:schemeClr val="tx1"/>
            </a:solidFill>
          </a:ln>
          <a:effectLst>
            <a:outerShdw blurRad="63500" sx="102000" sy="102000" algn="ctr" rotWithShape="0">
              <a:prstClr val="black">
                <a:alpha val="40000"/>
              </a:prstClr>
            </a:outerShdw>
          </a:effectLst>
        </p:spPr>
      </p:pic>
      <p:sp>
        <p:nvSpPr>
          <p:cNvPr id="10" name="TextBox 9">
            <a:extLst>
              <a:ext uri="{FF2B5EF4-FFF2-40B4-BE49-F238E27FC236}">
                <a16:creationId xmlns:a16="http://schemas.microsoft.com/office/drawing/2014/main" id="{4BFF8A10-33B2-465C-B130-B6FD7736609F}"/>
              </a:ext>
            </a:extLst>
          </p:cNvPr>
          <p:cNvSpPr txBox="1"/>
          <p:nvPr/>
        </p:nvSpPr>
        <p:spPr>
          <a:xfrm>
            <a:off x="3665076" y="6083411"/>
            <a:ext cx="1733107" cy="369332"/>
          </a:xfrm>
          <a:prstGeom prst="rect">
            <a:avLst/>
          </a:prstGeom>
          <a:noFill/>
        </p:spPr>
        <p:txBody>
          <a:bodyPr wrap="square">
            <a:spAutoFit/>
          </a:bodyPr>
          <a:lstStyle/>
          <a:p>
            <a:pPr algn="just"/>
            <a:r>
              <a:rPr lang="en-IN" b="0" i="0" dirty="0">
                <a:solidFill>
                  <a:srgbClr val="000000"/>
                </a:solidFill>
                <a:effectLst/>
                <a:latin typeface="Bahnschrift" panose="020B0502040204020203" pitchFamily="34" charset="0"/>
              </a:rPr>
              <a:t>Doug Cutting</a:t>
            </a:r>
            <a:endParaRPr lang="en-IN" dirty="0">
              <a:latin typeface="Bahnschrift" panose="020B0502040204020203" pitchFamily="34" charset="0"/>
            </a:endParaRPr>
          </a:p>
        </p:txBody>
      </p:sp>
    </p:spTree>
    <p:extLst>
      <p:ext uri="{BB962C8B-B14F-4D97-AF65-F5344CB8AC3E}">
        <p14:creationId xmlns:p14="http://schemas.microsoft.com/office/powerpoint/2010/main" val="19133195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0A8E69E-5E7C-4B37-9ADF-54D961442FF1}"/>
              </a:ext>
            </a:extLst>
          </p:cNvPr>
          <p:cNvPicPr>
            <a:picLocks noGrp="1" noChangeAspect="1"/>
          </p:cNvPicPr>
          <p:nvPr>
            <p:ph idx="1"/>
          </p:nvPr>
        </p:nvPicPr>
        <p:blipFill>
          <a:blip r:embed="rId2"/>
          <a:stretch>
            <a:fillRect/>
          </a:stretch>
        </p:blipFill>
        <p:spPr>
          <a:xfrm>
            <a:off x="378619" y="1879731"/>
            <a:ext cx="8386762" cy="4389072"/>
          </a:xfrm>
          <a:prstGeom prst="rect">
            <a:avLst/>
          </a:prstGeom>
        </p:spPr>
      </p:pic>
      <p:sp>
        <p:nvSpPr>
          <p:cNvPr id="3" name="Title 2">
            <a:extLst>
              <a:ext uri="{FF2B5EF4-FFF2-40B4-BE49-F238E27FC236}">
                <a16:creationId xmlns:a16="http://schemas.microsoft.com/office/drawing/2014/main" id="{3D2BA441-282B-4FAF-9E64-A6FEC6189851}"/>
              </a:ext>
            </a:extLst>
          </p:cNvPr>
          <p:cNvSpPr>
            <a:spLocks noGrp="1"/>
          </p:cNvSpPr>
          <p:nvPr>
            <p:ph type="title"/>
          </p:nvPr>
        </p:nvSpPr>
        <p:spPr/>
        <p:txBody>
          <a:bodyPr vert="horz" lIns="91440" tIns="45720" rIns="91440" bIns="45720" rtlCol="0" anchor="ctr">
            <a:normAutofit/>
          </a:bodyPr>
          <a:lstStyle/>
          <a:p>
            <a:r>
              <a:rPr lang="en-IN" dirty="0"/>
              <a:t>Avro [Data serialization system]</a:t>
            </a:r>
          </a:p>
        </p:txBody>
      </p:sp>
    </p:spTree>
    <p:extLst>
      <p:ext uri="{BB962C8B-B14F-4D97-AF65-F5344CB8AC3E}">
        <p14:creationId xmlns:p14="http://schemas.microsoft.com/office/powerpoint/2010/main" val="15978281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2BA441-282B-4FAF-9E64-A6FEC6189851}"/>
              </a:ext>
            </a:extLst>
          </p:cNvPr>
          <p:cNvSpPr>
            <a:spLocks noGrp="1"/>
          </p:cNvSpPr>
          <p:nvPr>
            <p:ph type="title"/>
          </p:nvPr>
        </p:nvSpPr>
        <p:spPr/>
        <p:txBody>
          <a:bodyPr vert="horz" lIns="91440" tIns="45720" rIns="91440" bIns="45720" rtlCol="0" anchor="ctr">
            <a:normAutofit/>
          </a:bodyPr>
          <a:lstStyle/>
          <a:p>
            <a:r>
              <a:rPr lang="en-IN" dirty="0"/>
              <a:t>Avro [Data serialization system]</a:t>
            </a:r>
          </a:p>
        </p:txBody>
      </p:sp>
      <p:sp>
        <p:nvSpPr>
          <p:cNvPr id="5" name="Content Placeholder 4">
            <a:extLst>
              <a:ext uri="{FF2B5EF4-FFF2-40B4-BE49-F238E27FC236}">
                <a16:creationId xmlns:a16="http://schemas.microsoft.com/office/drawing/2014/main" id="{B0BA5E40-73A3-4C2C-B628-5150A8CD1251}"/>
              </a:ext>
            </a:extLst>
          </p:cNvPr>
          <p:cNvSpPr>
            <a:spLocks noGrp="1"/>
          </p:cNvSpPr>
          <p:nvPr>
            <p:ph idx="1"/>
          </p:nvPr>
        </p:nvSpPr>
        <p:spPr>
          <a:xfrm>
            <a:off x="338361" y="1513845"/>
            <a:ext cx="8504303" cy="5004884"/>
          </a:xfrm>
        </p:spPr>
        <p:txBody>
          <a:bodyPr>
            <a:noAutofit/>
          </a:bodyPr>
          <a:lstStyle/>
          <a:p>
            <a:pPr marL="0" indent="0" algn="just">
              <a:buNone/>
            </a:pPr>
            <a:r>
              <a:rPr lang="en-US" dirty="0"/>
              <a:t>Apache Avro is a language-neutral data serialization system. It was developed by Doug Cutting, the father of Hadoop. Since Hadoop writable classes lack language portability, Avro becomes quite helpful, as it deals with data formats that can be processed by multiple languages. Avro is a preferred tool to serialize data in Hadoop.</a:t>
            </a:r>
          </a:p>
        </p:txBody>
      </p:sp>
    </p:spTree>
    <p:extLst>
      <p:ext uri="{BB962C8B-B14F-4D97-AF65-F5344CB8AC3E}">
        <p14:creationId xmlns:p14="http://schemas.microsoft.com/office/powerpoint/2010/main" val="35394169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2BA441-282B-4FAF-9E64-A6FEC6189851}"/>
              </a:ext>
            </a:extLst>
          </p:cNvPr>
          <p:cNvSpPr>
            <a:spLocks noGrp="1"/>
          </p:cNvSpPr>
          <p:nvPr>
            <p:ph type="title"/>
          </p:nvPr>
        </p:nvSpPr>
        <p:spPr/>
        <p:txBody>
          <a:bodyPr vert="horz" lIns="91440" tIns="45720" rIns="91440" bIns="45720" rtlCol="0" anchor="ctr">
            <a:normAutofit/>
          </a:bodyPr>
          <a:lstStyle/>
          <a:p>
            <a:r>
              <a:rPr lang="en-IN" dirty="0"/>
              <a:t>Avro [Data serialization system]</a:t>
            </a:r>
          </a:p>
        </p:txBody>
      </p:sp>
      <p:sp>
        <p:nvSpPr>
          <p:cNvPr id="5" name="Content Placeholder 4">
            <a:extLst>
              <a:ext uri="{FF2B5EF4-FFF2-40B4-BE49-F238E27FC236}">
                <a16:creationId xmlns:a16="http://schemas.microsoft.com/office/drawing/2014/main" id="{B0BA5E40-73A3-4C2C-B628-5150A8CD1251}"/>
              </a:ext>
            </a:extLst>
          </p:cNvPr>
          <p:cNvSpPr>
            <a:spLocks noGrp="1"/>
          </p:cNvSpPr>
          <p:nvPr>
            <p:ph idx="1"/>
          </p:nvPr>
        </p:nvSpPr>
        <p:spPr>
          <a:xfrm>
            <a:off x="338361" y="1513845"/>
            <a:ext cx="8504303" cy="5004884"/>
          </a:xfrm>
        </p:spPr>
        <p:txBody>
          <a:bodyPr>
            <a:noAutofit/>
          </a:bodyPr>
          <a:lstStyle/>
          <a:p>
            <a:pPr marL="0" indent="0" algn="just">
              <a:buNone/>
            </a:pPr>
            <a:r>
              <a:rPr lang="en-US" dirty="0"/>
              <a:t>Avro has a schema-based system. A language-independent schema is associated with its read and write operations. Avro serializes the data which has a built-in schema. Avro serializes the data into a compact binary format, which can be deserialized by any application.</a:t>
            </a:r>
          </a:p>
        </p:txBody>
      </p:sp>
    </p:spTree>
    <p:extLst>
      <p:ext uri="{BB962C8B-B14F-4D97-AF65-F5344CB8AC3E}">
        <p14:creationId xmlns:p14="http://schemas.microsoft.com/office/powerpoint/2010/main" val="34361983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2BA441-282B-4FAF-9E64-A6FEC6189851}"/>
              </a:ext>
            </a:extLst>
          </p:cNvPr>
          <p:cNvSpPr>
            <a:spLocks noGrp="1"/>
          </p:cNvSpPr>
          <p:nvPr>
            <p:ph type="title"/>
          </p:nvPr>
        </p:nvSpPr>
        <p:spPr/>
        <p:txBody>
          <a:bodyPr vert="horz" lIns="91440" tIns="45720" rIns="91440" bIns="45720" rtlCol="0" anchor="ctr">
            <a:normAutofit/>
          </a:bodyPr>
          <a:lstStyle/>
          <a:p>
            <a:r>
              <a:rPr lang="en-IN" dirty="0"/>
              <a:t>Avro [Data serialization system]</a:t>
            </a:r>
          </a:p>
        </p:txBody>
      </p:sp>
      <p:sp>
        <p:nvSpPr>
          <p:cNvPr id="5" name="Content Placeholder 4">
            <a:extLst>
              <a:ext uri="{FF2B5EF4-FFF2-40B4-BE49-F238E27FC236}">
                <a16:creationId xmlns:a16="http://schemas.microsoft.com/office/drawing/2014/main" id="{B0BA5E40-73A3-4C2C-B628-5150A8CD1251}"/>
              </a:ext>
            </a:extLst>
          </p:cNvPr>
          <p:cNvSpPr>
            <a:spLocks noGrp="1"/>
          </p:cNvSpPr>
          <p:nvPr>
            <p:ph idx="1"/>
          </p:nvPr>
        </p:nvSpPr>
        <p:spPr>
          <a:xfrm>
            <a:off x="338361" y="1513845"/>
            <a:ext cx="8504303" cy="5004884"/>
          </a:xfrm>
        </p:spPr>
        <p:txBody>
          <a:bodyPr>
            <a:noAutofit/>
          </a:bodyPr>
          <a:lstStyle/>
          <a:p>
            <a:pPr marL="0" indent="0" algn="just">
              <a:buNone/>
            </a:pPr>
            <a:r>
              <a:rPr lang="en-US" dirty="0"/>
              <a:t>Avro uses JSON format to declare the data structures. Presently, it supports languages such as Java, C, C++, C#, Python, and Ruby.</a:t>
            </a:r>
            <a:endParaRPr lang="en-IN" dirty="0"/>
          </a:p>
        </p:txBody>
      </p:sp>
    </p:spTree>
    <p:extLst>
      <p:ext uri="{BB962C8B-B14F-4D97-AF65-F5344CB8AC3E}">
        <p14:creationId xmlns:p14="http://schemas.microsoft.com/office/powerpoint/2010/main" val="28574882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2BA441-282B-4FAF-9E64-A6FEC6189851}"/>
              </a:ext>
            </a:extLst>
          </p:cNvPr>
          <p:cNvSpPr>
            <a:spLocks noGrp="1"/>
          </p:cNvSpPr>
          <p:nvPr>
            <p:ph type="title"/>
          </p:nvPr>
        </p:nvSpPr>
        <p:spPr/>
        <p:txBody>
          <a:bodyPr vert="horz" lIns="91440" tIns="45720" rIns="91440" bIns="45720" rtlCol="0" anchor="ctr">
            <a:normAutofit/>
          </a:bodyPr>
          <a:lstStyle/>
          <a:p>
            <a:r>
              <a:rPr lang="en-IN" dirty="0"/>
              <a:t>Avro [Data serialization system]</a:t>
            </a:r>
          </a:p>
        </p:txBody>
      </p:sp>
      <p:sp>
        <p:nvSpPr>
          <p:cNvPr id="5" name="Content Placeholder 4">
            <a:extLst>
              <a:ext uri="{FF2B5EF4-FFF2-40B4-BE49-F238E27FC236}">
                <a16:creationId xmlns:a16="http://schemas.microsoft.com/office/drawing/2014/main" id="{B0BA5E40-73A3-4C2C-B628-5150A8CD1251}"/>
              </a:ext>
            </a:extLst>
          </p:cNvPr>
          <p:cNvSpPr>
            <a:spLocks noGrp="1"/>
          </p:cNvSpPr>
          <p:nvPr>
            <p:ph idx="1"/>
          </p:nvPr>
        </p:nvSpPr>
        <p:spPr>
          <a:xfrm>
            <a:off x="338361" y="1534361"/>
            <a:ext cx="8386537" cy="5004884"/>
          </a:xfrm>
        </p:spPr>
        <p:txBody>
          <a:bodyPr>
            <a:normAutofit/>
          </a:bodyPr>
          <a:lstStyle/>
          <a:p>
            <a:pPr marL="0" indent="0">
              <a:buNone/>
            </a:pPr>
            <a:r>
              <a:rPr lang="en-US" dirty="0"/>
              <a:t>Features of AVRO</a:t>
            </a:r>
          </a:p>
          <a:p>
            <a:pPr lvl="1"/>
            <a:r>
              <a:rPr lang="en-IN" b="0" i="0" dirty="0">
                <a:solidFill>
                  <a:srgbClr val="000000"/>
                </a:solidFill>
                <a:effectLst/>
              </a:rPr>
              <a:t> </a:t>
            </a:r>
            <a:r>
              <a:rPr lang="en-IN" b="1" i="0" dirty="0">
                <a:solidFill>
                  <a:srgbClr val="000000"/>
                </a:solidFill>
                <a:effectLst/>
              </a:rPr>
              <a:t>language-neutral</a:t>
            </a:r>
            <a:endParaRPr lang="en-US" b="1" i="0" dirty="0">
              <a:solidFill>
                <a:srgbClr val="000000"/>
              </a:solidFill>
              <a:effectLst/>
            </a:endParaRPr>
          </a:p>
          <a:p>
            <a:pPr lvl="1"/>
            <a:r>
              <a:rPr lang="en-IN" b="0" i="0" dirty="0">
                <a:solidFill>
                  <a:srgbClr val="000000"/>
                </a:solidFill>
                <a:effectLst/>
              </a:rPr>
              <a:t>processed by many languages</a:t>
            </a:r>
            <a:endParaRPr lang="en-US" b="1" dirty="0">
              <a:solidFill>
                <a:srgbClr val="000000"/>
              </a:solidFill>
            </a:endParaRPr>
          </a:p>
          <a:p>
            <a:pPr lvl="1"/>
            <a:r>
              <a:rPr lang="en-IN" b="1" i="0" dirty="0">
                <a:solidFill>
                  <a:srgbClr val="000000"/>
                </a:solidFill>
                <a:effectLst/>
              </a:rPr>
              <a:t>compressible</a:t>
            </a:r>
            <a:r>
              <a:rPr lang="en-IN" b="0" i="0" dirty="0">
                <a:solidFill>
                  <a:srgbClr val="000000"/>
                </a:solidFill>
                <a:effectLst/>
              </a:rPr>
              <a:t> and </a:t>
            </a:r>
            <a:r>
              <a:rPr lang="en-IN" b="1" i="0" dirty="0" err="1">
                <a:solidFill>
                  <a:srgbClr val="000000"/>
                </a:solidFill>
                <a:effectLst/>
              </a:rPr>
              <a:t>splittable</a:t>
            </a:r>
            <a:r>
              <a:rPr lang="en-IN" b="0" i="0" dirty="0">
                <a:solidFill>
                  <a:srgbClr val="000000"/>
                </a:solidFill>
                <a:effectLst/>
              </a:rPr>
              <a:t>.</a:t>
            </a:r>
            <a:endParaRPr lang="en-US" b="1" i="0" dirty="0">
              <a:solidFill>
                <a:srgbClr val="000000"/>
              </a:solidFill>
              <a:effectLst/>
            </a:endParaRPr>
          </a:p>
          <a:p>
            <a:pPr lvl="1"/>
            <a:r>
              <a:rPr lang="en-IN" b="1" i="0" dirty="0">
                <a:solidFill>
                  <a:srgbClr val="000000"/>
                </a:solidFill>
                <a:effectLst/>
              </a:rPr>
              <a:t>rich data structures</a:t>
            </a:r>
            <a:endParaRPr lang="en-US" b="1" dirty="0">
              <a:solidFill>
                <a:srgbClr val="000000"/>
              </a:solidFill>
            </a:endParaRPr>
          </a:p>
          <a:p>
            <a:pPr lvl="1"/>
            <a:r>
              <a:rPr lang="en-US" b="0" i="0" dirty="0">
                <a:solidFill>
                  <a:srgbClr val="000000"/>
                </a:solidFill>
                <a:effectLst/>
              </a:rPr>
              <a:t>Avro </a:t>
            </a:r>
            <a:r>
              <a:rPr lang="en-US" b="1" i="0" dirty="0">
                <a:solidFill>
                  <a:srgbClr val="000000"/>
                </a:solidFill>
                <a:effectLst/>
              </a:rPr>
              <a:t>schemas</a:t>
            </a:r>
            <a:r>
              <a:rPr lang="en-US" b="0" i="0" dirty="0">
                <a:solidFill>
                  <a:srgbClr val="000000"/>
                </a:solidFill>
                <a:effectLst/>
              </a:rPr>
              <a:t> defined in </a:t>
            </a:r>
            <a:r>
              <a:rPr lang="en-US" b="1" i="0" dirty="0">
                <a:solidFill>
                  <a:srgbClr val="000000"/>
                </a:solidFill>
                <a:effectLst/>
              </a:rPr>
              <a:t>JSON</a:t>
            </a:r>
          </a:p>
          <a:p>
            <a:pPr lvl="1"/>
            <a:r>
              <a:rPr lang="en-IN" b="0" i="0" dirty="0">
                <a:solidFill>
                  <a:srgbClr val="000000"/>
                </a:solidFill>
                <a:effectLst/>
              </a:rPr>
              <a:t>self-describing file named </a:t>
            </a:r>
            <a:r>
              <a:rPr lang="en-IN" b="0" i="1" dirty="0">
                <a:solidFill>
                  <a:srgbClr val="000000"/>
                </a:solidFill>
                <a:effectLst/>
              </a:rPr>
              <a:t>Avro Data File</a:t>
            </a:r>
            <a:endParaRPr lang="en-US" b="1" dirty="0">
              <a:solidFill>
                <a:srgbClr val="000000"/>
              </a:solidFill>
            </a:endParaRPr>
          </a:p>
          <a:p>
            <a:pPr lvl="1"/>
            <a:r>
              <a:rPr lang="en-IN" b="0" i="0" dirty="0">
                <a:solidFill>
                  <a:srgbClr val="000000"/>
                </a:solidFill>
                <a:effectLst/>
              </a:rPr>
              <a:t>Remote Procedure Calls (RPCs).</a:t>
            </a:r>
            <a:endParaRPr lang="en-US" dirty="0"/>
          </a:p>
        </p:txBody>
      </p:sp>
    </p:spTree>
    <p:extLst>
      <p:ext uri="{BB962C8B-B14F-4D97-AF65-F5344CB8AC3E}">
        <p14:creationId xmlns:p14="http://schemas.microsoft.com/office/powerpoint/2010/main" val="29918677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8AF1685-24C5-4791-B6EE-F965B0262AB1}"/>
              </a:ext>
            </a:extLst>
          </p:cNvPr>
          <p:cNvPicPr>
            <a:picLocks noGrp="1" noChangeAspect="1"/>
          </p:cNvPicPr>
          <p:nvPr>
            <p:ph idx="1"/>
          </p:nvPr>
        </p:nvPicPr>
        <p:blipFill>
          <a:blip r:embed="rId2"/>
          <a:stretch>
            <a:fillRect/>
          </a:stretch>
        </p:blipFill>
        <p:spPr>
          <a:xfrm>
            <a:off x="2080382" y="1628775"/>
            <a:ext cx="4902273" cy="5003800"/>
          </a:xfrm>
          <a:prstGeom prst="rect">
            <a:avLst/>
          </a:prstGeom>
          <a:ln>
            <a:solidFill>
              <a:schemeClr val="tx1"/>
            </a:solidFill>
          </a:ln>
          <a:effectLst>
            <a:outerShdw blurRad="63500" sx="102000" sy="102000" algn="ctr" rotWithShape="0">
              <a:prstClr val="black">
                <a:alpha val="40000"/>
              </a:prstClr>
            </a:outerShdw>
          </a:effectLst>
        </p:spPr>
      </p:pic>
      <p:sp>
        <p:nvSpPr>
          <p:cNvPr id="3" name="Title 2">
            <a:extLst>
              <a:ext uri="{FF2B5EF4-FFF2-40B4-BE49-F238E27FC236}">
                <a16:creationId xmlns:a16="http://schemas.microsoft.com/office/drawing/2014/main" id="{3ED3E70D-6A8A-4C1E-B11C-C1513348DCCE}"/>
              </a:ext>
            </a:extLst>
          </p:cNvPr>
          <p:cNvSpPr>
            <a:spLocks noGrp="1"/>
          </p:cNvSpPr>
          <p:nvPr>
            <p:ph type="title"/>
          </p:nvPr>
        </p:nvSpPr>
        <p:spPr/>
        <p:txBody>
          <a:bodyPr vert="horz" lIns="91440" tIns="45720" rIns="91440" bIns="45720" rtlCol="0" anchor="ctr">
            <a:normAutofit/>
          </a:bodyPr>
          <a:lstStyle/>
          <a:p>
            <a:r>
              <a:rPr lang="en-IN" dirty="0"/>
              <a:t>UIMA [unstructured analytic framework]</a:t>
            </a:r>
          </a:p>
        </p:txBody>
      </p:sp>
    </p:spTree>
    <p:extLst>
      <p:ext uri="{BB962C8B-B14F-4D97-AF65-F5344CB8AC3E}">
        <p14:creationId xmlns:p14="http://schemas.microsoft.com/office/powerpoint/2010/main" val="6278363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D3E70D-6A8A-4C1E-B11C-C1513348DCCE}"/>
              </a:ext>
            </a:extLst>
          </p:cNvPr>
          <p:cNvSpPr>
            <a:spLocks noGrp="1"/>
          </p:cNvSpPr>
          <p:nvPr>
            <p:ph type="title"/>
          </p:nvPr>
        </p:nvSpPr>
        <p:spPr/>
        <p:txBody>
          <a:bodyPr vert="horz" lIns="91440" tIns="45720" rIns="91440" bIns="45720" rtlCol="0" anchor="ctr">
            <a:normAutofit/>
          </a:bodyPr>
          <a:lstStyle/>
          <a:p>
            <a:r>
              <a:rPr lang="en-IN" dirty="0"/>
              <a:t>UIMA [unstructured analytic framework]</a:t>
            </a:r>
          </a:p>
        </p:txBody>
      </p:sp>
      <p:sp>
        <p:nvSpPr>
          <p:cNvPr id="5" name="Content Placeholder 4">
            <a:extLst>
              <a:ext uri="{FF2B5EF4-FFF2-40B4-BE49-F238E27FC236}">
                <a16:creationId xmlns:a16="http://schemas.microsoft.com/office/drawing/2014/main" id="{968C8AA3-108D-4E47-AF43-4E96F30E2365}"/>
              </a:ext>
            </a:extLst>
          </p:cNvPr>
          <p:cNvSpPr>
            <a:spLocks noGrp="1"/>
          </p:cNvSpPr>
          <p:nvPr>
            <p:ph idx="1"/>
          </p:nvPr>
        </p:nvSpPr>
        <p:spPr/>
        <p:txBody>
          <a:bodyPr>
            <a:normAutofit lnSpcReduction="10000"/>
          </a:bodyPr>
          <a:lstStyle/>
          <a:p>
            <a:pPr marL="0" indent="0" algn="just">
              <a:buNone/>
            </a:pPr>
            <a:r>
              <a:rPr lang="en-US" b="0" i="0" dirty="0">
                <a:solidFill>
                  <a:srgbClr val="222222"/>
                </a:solidFill>
                <a:effectLst/>
              </a:rPr>
              <a:t>Unstructured Information Management applications are software systems that analyze large volumes of unstructured information in order to discover knowledge that is relevant to an end user. An example UIM application might ingest plain text and identify entities, such as persons, places, organizations; or relations, such as works-for or located-at.</a:t>
            </a:r>
          </a:p>
        </p:txBody>
      </p:sp>
    </p:spTree>
    <p:extLst>
      <p:ext uri="{BB962C8B-B14F-4D97-AF65-F5344CB8AC3E}">
        <p14:creationId xmlns:p14="http://schemas.microsoft.com/office/powerpoint/2010/main" val="39452380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DAECECF-1ED7-4372-9B88-C682224E505F}"/>
              </a:ext>
            </a:extLst>
          </p:cNvPr>
          <p:cNvPicPr>
            <a:picLocks noGrp="1" noChangeAspect="1"/>
          </p:cNvPicPr>
          <p:nvPr>
            <p:ph idx="1"/>
          </p:nvPr>
        </p:nvPicPr>
        <p:blipFill>
          <a:blip r:embed="rId2"/>
          <a:stretch>
            <a:fillRect/>
          </a:stretch>
        </p:blipFill>
        <p:spPr>
          <a:xfrm>
            <a:off x="2307671" y="3997324"/>
            <a:ext cx="4528657" cy="2079625"/>
          </a:xfrm>
          <a:prstGeom prst="rect">
            <a:avLst/>
          </a:prstGeom>
          <a:ln>
            <a:solidFill>
              <a:schemeClr val="tx1"/>
            </a:solidFill>
          </a:ln>
          <a:effectLst>
            <a:outerShdw blurRad="63500" sx="102000" sy="102000" algn="ctr" rotWithShape="0">
              <a:prstClr val="black">
                <a:alpha val="40000"/>
              </a:prstClr>
            </a:outerShdw>
          </a:effectLst>
        </p:spPr>
      </p:pic>
      <p:sp>
        <p:nvSpPr>
          <p:cNvPr id="3" name="Title 2">
            <a:extLst>
              <a:ext uri="{FF2B5EF4-FFF2-40B4-BE49-F238E27FC236}">
                <a16:creationId xmlns:a16="http://schemas.microsoft.com/office/drawing/2014/main" id="{19087038-548B-4F2E-8078-291A2D63CBE3}"/>
              </a:ext>
            </a:extLst>
          </p:cNvPr>
          <p:cNvSpPr>
            <a:spLocks noGrp="1"/>
          </p:cNvSpPr>
          <p:nvPr>
            <p:ph type="title"/>
          </p:nvPr>
        </p:nvSpPr>
        <p:spPr/>
        <p:txBody>
          <a:bodyPr vert="horz" lIns="91440" tIns="45720" rIns="91440" bIns="45720" rtlCol="0" anchor="ctr">
            <a:normAutofit/>
          </a:bodyPr>
          <a:lstStyle/>
          <a:p>
            <a:r>
              <a:rPr lang="en-IN" dirty="0"/>
              <a:t>Presto [Distributed SQL query solution]</a:t>
            </a:r>
          </a:p>
        </p:txBody>
      </p:sp>
      <p:sp>
        <p:nvSpPr>
          <p:cNvPr id="5" name="TextBox 4">
            <a:extLst>
              <a:ext uri="{FF2B5EF4-FFF2-40B4-BE49-F238E27FC236}">
                <a16:creationId xmlns:a16="http://schemas.microsoft.com/office/drawing/2014/main" id="{0F058B92-0589-4FE5-9891-9C5BE5124421}"/>
              </a:ext>
            </a:extLst>
          </p:cNvPr>
          <p:cNvSpPr txBox="1"/>
          <p:nvPr/>
        </p:nvSpPr>
        <p:spPr>
          <a:xfrm>
            <a:off x="338362" y="1520456"/>
            <a:ext cx="8386537" cy="1943737"/>
          </a:xfrm>
          <a:prstGeom prst="rect">
            <a:avLst/>
          </a:prstGeom>
          <a:noFill/>
        </p:spPr>
        <p:txBody>
          <a:bodyPr wrap="square" rtlCol="0">
            <a:spAutoFit/>
          </a:bodyPr>
          <a:lstStyle/>
          <a:p>
            <a:pPr algn="just">
              <a:lnSpc>
                <a:spcPct val="150000"/>
              </a:lnSpc>
            </a:pPr>
            <a:r>
              <a:rPr lang="en-US" sz="2800" b="0" i="0" dirty="0">
                <a:solidFill>
                  <a:srgbClr val="232F3E"/>
                </a:solidFill>
                <a:effectLst/>
                <a:latin typeface="Bahnschrift" panose="020B0502040204020203" pitchFamily="34" charset="0"/>
              </a:rPr>
              <a:t>Presto (or </a:t>
            </a:r>
            <a:r>
              <a:rPr lang="en-US" sz="2800" b="0" i="0" dirty="0" err="1">
                <a:solidFill>
                  <a:srgbClr val="232F3E"/>
                </a:solidFill>
                <a:effectLst/>
                <a:latin typeface="Bahnschrift" panose="020B0502040204020203" pitchFamily="34" charset="0"/>
              </a:rPr>
              <a:t>PrestoDB</a:t>
            </a:r>
            <a:r>
              <a:rPr lang="en-US" sz="2800" b="0" i="0" dirty="0">
                <a:solidFill>
                  <a:srgbClr val="232F3E"/>
                </a:solidFill>
                <a:effectLst/>
                <a:latin typeface="Bahnschrift" panose="020B0502040204020203" pitchFamily="34" charset="0"/>
              </a:rPr>
              <a:t>) is an open source, distributed SQL query engine, designed from the ground up for fast analytic queries against data of any size. </a:t>
            </a:r>
            <a:endParaRPr lang="en-IN" sz="2800" dirty="0">
              <a:latin typeface="Bahnschrift" panose="020B0502040204020203" pitchFamily="34" charset="0"/>
            </a:endParaRPr>
          </a:p>
        </p:txBody>
      </p:sp>
    </p:spTree>
    <p:extLst>
      <p:ext uri="{BB962C8B-B14F-4D97-AF65-F5344CB8AC3E}">
        <p14:creationId xmlns:p14="http://schemas.microsoft.com/office/powerpoint/2010/main" val="1807857983"/>
      </p:ext>
    </p:extLst>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C16AF7C-2C74-4C05-92D9-E5DCBAA69D79}"/>
              </a:ext>
            </a:extLst>
          </p:cNvPr>
          <p:cNvPicPr>
            <a:picLocks noChangeAspect="1" noGrp="1"/>
          </p:cNvPicPr>
          <p:nvPr>
            <p:ph idx="1"/>
          </p:nvPr>
        </p:nvPicPr>
        <p:blipFill rotWithShape="1">
          <a:blip r:embed="rId2"/>
          <a:srcRect b="67" r="-67"/>
          <a:stretch/>
        </p:blipFill>
        <p:spPr>
          <a:xfrm>
            <a:off x="531628" y="1765004"/>
            <a:ext cx="4449162" cy="1509824"/>
          </a:xfrm>
          <a:prstGeom prst="rect">
            <a:avLst/>
          </a:prstGeom>
        </p:spPr>
      </p:pic>
      <p:sp>
        <p:nvSpPr>
          <p:cNvPr id="3" name="Title 2">
            <a:extLst>
              <a:ext uri="{FF2B5EF4-FFF2-40B4-BE49-F238E27FC236}">
                <a16:creationId xmlns:a16="http://schemas.microsoft.com/office/drawing/2014/main" id="{D185FBD9-98CF-43FC-8E85-C53C0E186D49}"/>
              </a:ext>
            </a:extLst>
          </p:cNvPr>
          <p:cNvSpPr>
            <a:spLocks noGrp="1"/>
          </p:cNvSpPr>
          <p:nvPr>
            <p:ph type="title"/>
          </p:nvPr>
        </p:nvSpPr>
        <p:spPr/>
        <p:txBody>
          <a:bodyPr anchor="ctr" bIns="45720" lIns="91440" rIns="91440" rtlCol="0" tIns="45720" vert="horz">
            <a:normAutofit/>
          </a:bodyPr>
          <a:lstStyle/>
          <a:p>
            <a:r>
              <a:rPr dirty="0" lang="en-IN"/>
              <a:t>Presto [Distributed SQL query solution]</a:t>
            </a:r>
          </a:p>
        </p:txBody>
      </p:sp>
      <p:pic>
        <p:nvPicPr>
          <p:cNvPr id="5" name="Picture 4">
            <a:extLst>
              <a:ext uri="{FF2B5EF4-FFF2-40B4-BE49-F238E27FC236}">
                <a16:creationId xmlns:a16="http://schemas.microsoft.com/office/drawing/2014/main" id="{AB65A8D0-9D0F-42B5-8355-A581DAEA941A}"/>
              </a:ext>
            </a:extLst>
          </p:cNvPr>
          <p:cNvPicPr>
            <a:picLocks noChangeAspect="1"/>
          </p:cNvPicPr>
          <p:nvPr/>
        </p:nvPicPr>
        <p:blipFill rotWithShape="1">
          <a:blip r:embed="rId3"/>
          <a:srcRect r="65"/>
          <a:stretch/>
        </p:blipFill>
        <p:spPr>
          <a:xfrm>
            <a:off x="5560828" y="1765004"/>
            <a:ext cx="1690576" cy="1604741"/>
          </a:xfrm>
          <a:prstGeom prst="rect">
            <a:avLst/>
          </a:prstGeom>
        </p:spPr>
      </p:pic>
      <p:pic>
        <p:nvPicPr>
          <p:cNvPr id="6" name="Picture 5">
            <a:extLst>
              <a:ext uri="{FF2B5EF4-FFF2-40B4-BE49-F238E27FC236}">
                <a16:creationId xmlns:a16="http://schemas.microsoft.com/office/drawing/2014/main" id="{97EB11B4-036B-41A4-8DA8-EE2B776BAA22}"/>
              </a:ext>
            </a:extLst>
          </p:cNvPr>
          <p:cNvPicPr>
            <a:picLocks noChangeAspect="1"/>
          </p:cNvPicPr>
          <p:nvPr/>
        </p:nvPicPr>
        <p:blipFill rotWithShape="1">
          <a:blip r:embed="rId4"/>
          <a:srcRect b="-55" r="32"/>
          <a:stretch/>
        </p:blipFill>
        <p:spPr>
          <a:xfrm>
            <a:off x="531628" y="3620543"/>
            <a:ext cx="2923954" cy="2195780"/>
          </a:xfrm>
          <a:prstGeom prst="rect">
            <a:avLst/>
          </a:prstGeom>
        </p:spPr>
      </p:pic>
      <p:pic>
        <p:nvPicPr>
          <p:cNvPr id="7" name="Picture 6">
            <a:extLst>
              <a:ext uri="{FF2B5EF4-FFF2-40B4-BE49-F238E27FC236}">
                <a16:creationId xmlns:a16="http://schemas.microsoft.com/office/drawing/2014/main" id="{77331900-DEFE-4B6E-8A6D-80AEA4B6963D}"/>
              </a:ext>
            </a:extLst>
          </p:cNvPr>
          <p:cNvPicPr>
            <a:picLocks noChangeAspect="1"/>
          </p:cNvPicPr>
          <p:nvPr/>
        </p:nvPicPr>
        <p:blipFill>
          <a:blip r:embed="rId5"/>
          <a:stretch>
            <a:fillRect/>
          </a:stretch>
        </p:blipFill>
        <p:spPr>
          <a:xfrm>
            <a:off x="4023094" y="3714269"/>
            <a:ext cx="4156394" cy="1825294"/>
          </a:xfrm>
          <a:prstGeom prst="rect">
            <a:avLst/>
          </a:prstGeom>
        </p:spPr>
      </p:pic>
    </p:spTree>
    <p:extLst>
      <p:ext uri="{BB962C8B-B14F-4D97-AF65-F5344CB8AC3E}">
        <p14:creationId xmlns:p14="http://schemas.microsoft.com/office/powerpoint/2010/main" val="2574538301"/>
      </p:ext>
    </p:extLst>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D656329C-DCC7-4AC3-A0B4-E6F0BC922272}"/>
              </a:ext>
            </a:extLst>
          </p:cNvPr>
          <p:cNvPicPr>
            <a:picLocks noChangeAspect="1" noGrp="1"/>
          </p:cNvPicPr>
          <p:nvPr>
            <p:ph idx="1"/>
          </p:nvPr>
        </p:nvPicPr>
        <p:blipFill>
          <a:blip r:embed="rId2"/>
          <a:stretch>
            <a:fillRect/>
          </a:stretch>
        </p:blipFill>
        <p:spPr>
          <a:xfrm>
            <a:off x="206604" y="4081578"/>
            <a:ext cx="3742596" cy="1475739"/>
          </a:xfrm>
        </p:spPr>
      </p:pic>
      <p:sp>
        <p:nvSpPr>
          <p:cNvPr id="3" name="Title 2">
            <a:extLst>
              <a:ext uri="{FF2B5EF4-FFF2-40B4-BE49-F238E27FC236}">
                <a16:creationId xmlns:a16="http://schemas.microsoft.com/office/drawing/2014/main" id="{9A63ACED-1A00-4F6E-9D4A-ABF6C914FCA4}"/>
              </a:ext>
            </a:extLst>
          </p:cNvPr>
          <p:cNvSpPr>
            <a:spLocks noGrp="1"/>
          </p:cNvSpPr>
          <p:nvPr>
            <p:ph type="title"/>
          </p:nvPr>
        </p:nvSpPr>
        <p:spPr/>
        <p:txBody>
          <a:bodyPr anchor="ctr" bIns="45720" lIns="91440" rIns="91440" rtlCol="0" tIns="45720" vert="horz">
            <a:normAutofit/>
          </a:bodyPr>
          <a:lstStyle/>
          <a:p>
            <a:r>
              <a:rPr lang="en-IN"/>
              <a:t>Presto [Distributed SQL query solution]</a:t>
            </a:r>
          </a:p>
        </p:txBody>
      </p:sp>
      <p:pic>
        <p:nvPicPr>
          <p:cNvPr id="5" name="Picture 4">
            <a:extLst>
              <a:ext uri="{FF2B5EF4-FFF2-40B4-BE49-F238E27FC236}">
                <a16:creationId xmlns:a16="http://schemas.microsoft.com/office/drawing/2014/main" id="{67FF323C-54AE-4B22-96C8-B14A82F4A3E8}"/>
              </a:ext>
            </a:extLst>
          </p:cNvPr>
          <p:cNvPicPr>
            <a:picLocks noChangeAspect="1"/>
          </p:cNvPicPr>
          <p:nvPr/>
        </p:nvPicPr>
        <p:blipFill>
          <a:blip r:embed="rId3"/>
          <a:stretch>
            <a:fillRect/>
          </a:stretch>
        </p:blipFill>
        <p:spPr>
          <a:xfrm>
            <a:off x="219435" y="1745180"/>
            <a:ext cx="2772162" cy="1581371"/>
          </a:xfrm>
          <a:prstGeom prst="rect">
            <a:avLst/>
          </a:prstGeom>
        </p:spPr>
      </p:pic>
      <p:pic>
        <p:nvPicPr>
          <p:cNvPr id="7" name="Picture 6">
            <a:extLst>
              <a:ext uri="{FF2B5EF4-FFF2-40B4-BE49-F238E27FC236}">
                <a16:creationId xmlns:a16="http://schemas.microsoft.com/office/drawing/2014/main" id="{74CC97F6-4E09-42FE-B435-2806B690EAD9}"/>
              </a:ext>
            </a:extLst>
          </p:cNvPr>
          <p:cNvPicPr>
            <a:picLocks noChangeAspect="1"/>
          </p:cNvPicPr>
          <p:nvPr/>
        </p:nvPicPr>
        <p:blipFill rotWithShape="1">
          <a:blip r:embed="rId4"/>
          <a:srcRect b="118" r="13"/>
          <a:stretch/>
        </p:blipFill>
        <p:spPr>
          <a:xfrm>
            <a:off x="5116299" y="1745179"/>
            <a:ext cx="2848577" cy="2015987"/>
          </a:xfrm>
          <a:prstGeom prst="rect">
            <a:avLst/>
          </a:prstGeom>
        </p:spPr>
      </p:pic>
      <p:pic>
        <p:nvPicPr>
          <p:cNvPr id="11" name="Picture 10">
            <a:extLst>
              <a:ext uri="{FF2B5EF4-FFF2-40B4-BE49-F238E27FC236}">
                <a16:creationId xmlns:a16="http://schemas.microsoft.com/office/drawing/2014/main" id="{354BED3E-A02E-4207-962D-87AC9F2929CB}"/>
              </a:ext>
            </a:extLst>
          </p:cNvPr>
          <p:cNvPicPr>
            <a:picLocks noChangeAspect="1"/>
          </p:cNvPicPr>
          <p:nvPr/>
        </p:nvPicPr>
        <p:blipFill>
          <a:blip r:embed="rId5"/>
          <a:stretch>
            <a:fillRect/>
          </a:stretch>
        </p:blipFill>
        <p:spPr>
          <a:xfrm>
            <a:off x="5116299" y="4081578"/>
            <a:ext cx="2955924" cy="2313913"/>
          </a:xfrm>
          <a:prstGeom prst="rect">
            <a:avLst/>
          </a:prstGeom>
        </p:spPr>
      </p:pic>
      <p:pic>
        <p:nvPicPr>
          <p:cNvPr id="13" name="Picture 12">
            <a:extLst>
              <a:ext uri="{FF2B5EF4-FFF2-40B4-BE49-F238E27FC236}">
                <a16:creationId xmlns:a16="http://schemas.microsoft.com/office/drawing/2014/main" id="{C44250C4-DC9F-4AB3-A5B4-04DEF8A4789F}"/>
              </a:ext>
            </a:extLst>
          </p:cNvPr>
          <p:cNvPicPr>
            <a:picLocks noChangeAspect="1"/>
          </p:cNvPicPr>
          <p:nvPr/>
        </p:nvPicPr>
        <p:blipFill>
          <a:blip r:embed="rId6"/>
          <a:stretch>
            <a:fillRect/>
          </a:stretch>
        </p:blipFill>
        <p:spPr>
          <a:xfrm>
            <a:off x="1500933" y="5949542"/>
            <a:ext cx="2448267" cy="666843"/>
          </a:xfrm>
          <a:prstGeom prst="rect">
            <a:avLst/>
          </a:prstGeom>
        </p:spPr>
      </p:pic>
    </p:spTree>
    <p:extLst>
      <p:ext uri="{BB962C8B-B14F-4D97-AF65-F5344CB8AC3E}">
        <p14:creationId xmlns:p14="http://schemas.microsoft.com/office/powerpoint/2010/main" val="6200346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6144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1672</TotalTime>
  <Words>1593</Words>
  <Application>Microsoft Office PowerPoint</Application>
  <PresentationFormat>On-screen Show (4:3)</PresentationFormat>
  <Paragraphs>229</Paragraphs>
  <Slides>60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Arial</vt:lpstr>
      <vt:lpstr>Bahnschrift</vt:lpstr>
      <vt:lpstr>Bahnschrift SemiBold</vt:lpstr>
      <vt:lpstr>Calibri</vt:lpstr>
      <vt:lpstr>Calibri Light</vt:lpstr>
      <vt:lpstr>Office Theme</vt:lpstr>
      <vt:lpstr>PowerPoint Presentation</vt:lpstr>
      <vt:lpstr>PowerPoint Presentation</vt:lpstr>
      <vt:lpstr>Introduction</vt:lpstr>
      <vt:lpstr>Introduction</vt:lpstr>
      <vt:lpstr>Introduction</vt:lpstr>
      <vt:lpstr>Introduction</vt:lpstr>
      <vt:lpstr>Introduction</vt:lpstr>
      <vt:lpstr>Introduction</vt:lpstr>
      <vt:lpstr>Introduction</vt:lpstr>
      <vt:lpstr>Introduction</vt:lpstr>
      <vt:lpstr>Introduction</vt:lpstr>
      <vt:lpstr>Hadoop</vt:lpstr>
      <vt:lpstr>Top Hadoop Related Open-Source Tools</vt:lpstr>
      <vt:lpstr>Lucene(Java Based Text Search Engine)</vt:lpstr>
      <vt:lpstr>Lucene(Java Based Text Search Engine)</vt:lpstr>
      <vt:lpstr>Lucene(Java Based Text Search Engine)</vt:lpstr>
      <vt:lpstr>Lucene(Java Based Text Search Engine)</vt:lpstr>
      <vt:lpstr>Lucene(Java Based Text Search Engine)</vt:lpstr>
      <vt:lpstr>Lucene(Java Based Text Search Engine)</vt:lpstr>
      <vt:lpstr>Lucene(Java Based Text Search Engine)</vt:lpstr>
      <vt:lpstr>Lucene(Java Based Text Search Engine)</vt:lpstr>
      <vt:lpstr>Lucene(Java Based Text Search Engine)</vt:lpstr>
      <vt:lpstr>Lucene(Java Based Text Search Engine)</vt:lpstr>
      <vt:lpstr> Eclipse [Popular IDE written in Java] </vt:lpstr>
      <vt:lpstr> Eclipse [Popular IDE written in Java] </vt:lpstr>
      <vt:lpstr> HBase [Hadoop NoSQL Database] </vt:lpstr>
      <vt:lpstr>HBase</vt:lpstr>
      <vt:lpstr>Hive [Query data engine]</vt:lpstr>
      <vt:lpstr>Hive [Query data engine]</vt:lpstr>
      <vt:lpstr>Hive [Query data engine]</vt:lpstr>
      <vt:lpstr>Hive [Query data engine]</vt:lpstr>
      <vt:lpstr>Features of Hive</vt:lpstr>
      <vt:lpstr>Architecture of Hive</vt:lpstr>
      <vt:lpstr>Jaql [Query language for JavaScript]</vt:lpstr>
      <vt:lpstr>Jaql [Query language for JavaScript]</vt:lpstr>
      <vt:lpstr>Jaql [Query language for JavaScript]</vt:lpstr>
      <vt:lpstr>Jaql [Query language for JavaScript]</vt:lpstr>
      <vt:lpstr>Jaql [Query language for JavaScript]</vt:lpstr>
      <vt:lpstr>Jaql [Query language for JavaScript]</vt:lpstr>
      <vt:lpstr>Jaql [Query language for JavaScript]</vt:lpstr>
      <vt:lpstr>Jaql [Query language for JavaScript]</vt:lpstr>
      <vt:lpstr>Jaql [Query language for JavaScript]</vt:lpstr>
      <vt:lpstr>Pig [Large datasets analyzing platform]</vt:lpstr>
      <vt:lpstr>Pig [Large datasets analyzing platform]</vt:lpstr>
      <vt:lpstr>Pig [Large datasets analyzing platform]</vt:lpstr>
      <vt:lpstr>Zookeeper [Centralized configuration service]</vt:lpstr>
      <vt:lpstr>Zookeeper [Centralized configuration service]</vt:lpstr>
      <vt:lpstr>Zookeeper [Centralized configuration service]</vt:lpstr>
      <vt:lpstr>Avro [Data serialization system]</vt:lpstr>
      <vt:lpstr>Avro [Data serialization system]</vt:lpstr>
      <vt:lpstr>Avro [Data serialization system]</vt:lpstr>
      <vt:lpstr>Avro [Data serialization system]</vt:lpstr>
      <vt:lpstr>Avro [Data serialization system]</vt:lpstr>
      <vt:lpstr>Avro [Data serialization system]</vt:lpstr>
      <vt:lpstr>UIMA [unstructured analytic framework]</vt:lpstr>
      <vt:lpstr>UIMA [unstructured analytic framework]</vt:lpstr>
      <vt:lpstr>Presto [Distributed SQL query solution]</vt:lpstr>
      <vt:lpstr>Presto [Distributed SQL query solution]</vt:lpstr>
      <vt:lpstr>Presto [Distributed SQL query solution]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video recording 1</dc:creator>
  <cp:lastModifiedBy>video recording 1</cp:lastModifiedBy>
  <cp:revision>87</cp:revision>
  <dcterms:created xsi:type="dcterms:W3CDTF">2021-05-13T17:45:44Z</dcterms:created>
  <dcterms:modified xsi:type="dcterms:W3CDTF">2021-07-05T07:51:22Z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976827</vt:lpwstr>
  </property>
  <property fmtid="{D5CDD505-2E9C-101B-9397-08002B2CF9AE}" name="NXPowerLiteSettings" pid="3">
    <vt:lpwstr>E700052003A000</vt:lpwstr>
  </property>
  <property fmtid="{D5CDD505-2E9C-101B-9397-08002B2CF9AE}" name="NXPowerLiteVersion" pid="4">
    <vt:lpwstr>D9.1.4</vt:lpwstr>
  </property>
</Properties>
</file>