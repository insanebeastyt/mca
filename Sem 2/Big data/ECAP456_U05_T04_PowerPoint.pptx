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5"/>
  </p:handoutMasterIdLst>
  <p:sldIdLst>
    <p:sldId id="266" r:id="rId2"/>
    <p:sldId id="261" r:id="rId3"/>
    <p:sldId id="301" r:id="rId4"/>
    <p:sldId id="302" r:id="rId5"/>
    <p:sldId id="303" r:id="rId6"/>
    <p:sldId id="267" r:id="rId7"/>
    <p:sldId id="269" r:id="rId8"/>
    <p:sldId id="270" r:id="rId9"/>
    <p:sldId id="271" r:id="rId10"/>
    <p:sldId id="272" r:id="rId11"/>
    <p:sldId id="307" r:id="rId12"/>
    <p:sldId id="273" r:id="rId13"/>
    <p:sldId id="274" r:id="rId14"/>
    <p:sldId id="275" r:id="rId15"/>
    <p:sldId id="276" r:id="rId16"/>
    <p:sldId id="305" r:id="rId17"/>
    <p:sldId id="290" r:id="rId18"/>
    <p:sldId id="279" r:id="rId19"/>
    <p:sldId id="280" r:id="rId20"/>
    <p:sldId id="281" r:id="rId21"/>
    <p:sldId id="288" r:id="rId22"/>
    <p:sldId id="283" r:id="rId23"/>
    <p:sldId id="284" r:id="rId24"/>
    <p:sldId id="289" r:id="rId25"/>
    <p:sldId id="286" r:id="rId26"/>
    <p:sldId id="287" r:id="rId27"/>
    <p:sldId id="292" r:id="rId28"/>
    <p:sldId id="293" r:id="rId29"/>
    <p:sldId id="294" r:id="rId30"/>
    <p:sldId id="296" r:id="rId31"/>
    <p:sldId id="297" r:id="rId32"/>
    <p:sldId id="300" r:id="rId33"/>
    <p:sldId id="26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495"/>
    <a:srgbClr val="44525A"/>
    <a:srgbClr val="11110D"/>
    <a:srgbClr val="44525B"/>
    <a:srgbClr val="072235"/>
    <a:srgbClr val="453A38"/>
    <a:srgbClr val="B8B192"/>
    <a:srgbClr val="473B39"/>
    <a:srgbClr val="302C31"/>
    <a:srgbClr val="63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7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0EF5A3-C0EC-4C94-9F75-29A810F0D911}" type="doc">
      <dgm:prSet loTypeId="urn:microsoft.com/office/officeart/2005/8/layout/hierarchy2" loCatId="hierarchy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76321EE7-4E3A-4243-9501-85A308245B5A}">
      <dgm:prSet phldrT="[Text]" custT="1"/>
      <dgm:spPr/>
      <dgm:t>
        <a:bodyPr/>
        <a:lstStyle/>
        <a:p>
          <a:r>
            <a:rPr lang="en-IN" sz="2400">
              <a:latin typeface="Bahnschrift" panose="020B0502040204020203" pitchFamily="34" charset="0"/>
            </a:rPr>
            <a:t>T</a:t>
          </a:r>
          <a:r>
            <a:rPr lang="en-IN" sz="2400" b="0" i="0">
              <a:effectLst/>
              <a:latin typeface="Bahnschrift" panose="020B0502040204020203" pitchFamily="34" charset="0"/>
            </a:rPr>
            <a:t>wo classes of technology </a:t>
          </a:r>
          <a:endParaRPr lang="en-IN" sz="2400" dirty="0"/>
        </a:p>
      </dgm:t>
    </dgm:pt>
    <dgm:pt modelId="{D42C3503-0A9F-4526-A561-DFCEA89D4B96}" type="parTrans" cxnId="{67BFCA6F-F3D8-4B51-9E0D-BDC0919D1D08}">
      <dgm:prSet/>
      <dgm:spPr/>
      <dgm:t>
        <a:bodyPr/>
        <a:lstStyle/>
        <a:p>
          <a:endParaRPr lang="en-IN" sz="2400"/>
        </a:p>
      </dgm:t>
    </dgm:pt>
    <dgm:pt modelId="{6BBD5E9B-6C19-411D-9462-2B86AA955660}" type="sibTrans" cxnId="{67BFCA6F-F3D8-4B51-9E0D-BDC0919D1D08}">
      <dgm:prSet/>
      <dgm:spPr/>
      <dgm:t>
        <a:bodyPr/>
        <a:lstStyle/>
        <a:p>
          <a:endParaRPr lang="en-IN" sz="2400"/>
        </a:p>
      </dgm:t>
    </dgm:pt>
    <dgm:pt modelId="{8060E878-F8C9-4CE5-BA5F-A834CB4FA010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400" b="0" i="0" dirty="0">
              <a:effectLst/>
              <a:latin typeface="Bahnschrift" panose="020B0502040204020203" pitchFamily="34" charset="0"/>
            </a:rPr>
            <a:t>Analytical Big Data</a:t>
          </a:r>
          <a:endParaRPr lang="en-IN" sz="2400" dirty="0">
            <a:latin typeface="Bahnschrift" panose="020B0502040204020203" pitchFamily="34" charset="0"/>
          </a:endParaRPr>
        </a:p>
      </dgm:t>
    </dgm:pt>
    <dgm:pt modelId="{A832E9E1-55E3-45B9-A6CD-7E778980C4F5}" type="parTrans" cxnId="{4E49F8DD-76BB-42D7-A12C-705C20100B14}">
      <dgm:prSet custT="1"/>
      <dgm:spPr/>
      <dgm:t>
        <a:bodyPr/>
        <a:lstStyle/>
        <a:p>
          <a:endParaRPr lang="en-IN" sz="2400"/>
        </a:p>
      </dgm:t>
    </dgm:pt>
    <dgm:pt modelId="{249938BC-48EF-4416-8AB9-0DB7B035F868}" type="sibTrans" cxnId="{4E49F8DD-76BB-42D7-A12C-705C20100B14}">
      <dgm:prSet/>
      <dgm:spPr/>
      <dgm:t>
        <a:bodyPr/>
        <a:lstStyle/>
        <a:p>
          <a:endParaRPr lang="en-IN" sz="2400"/>
        </a:p>
      </dgm:t>
    </dgm:pt>
    <dgm:pt modelId="{9A1D8645-34E0-4C42-8F8D-C4D45B512E0A}">
      <dgm:prSet custT="1"/>
      <dgm:spPr/>
      <dgm:t>
        <a:bodyPr/>
        <a:lstStyle/>
        <a:p>
          <a:r>
            <a:rPr lang="en-IN" sz="2400" b="0" i="0" dirty="0">
              <a:effectLst/>
              <a:latin typeface="Bahnschrift" panose="020B0502040204020203" pitchFamily="34" charset="0"/>
            </a:rPr>
            <a:t>Operational Big Data</a:t>
          </a:r>
        </a:p>
      </dgm:t>
    </dgm:pt>
    <dgm:pt modelId="{DD868357-B55B-484E-97DD-6FFEF78E0B29}" type="parTrans" cxnId="{3454AAF6-120B-400F-A41E-23D42370492D}">
      <dgm:prSet custT="1"/>
      <dgm:spPr/>
      <dgm:t>
        <a:bodyPr/>
        <a:lstStyle/>
        <a:p>
          <a:endParaRPr lang="en-IN" sz="2400"/>
        </a:p>
      </dgm:t>
    </dgm:pt>
    <dgm:pt modelId="{F005A9FE-640F-46AA-AD9D-F2510AEF84F0}" type="sibTrans" cxnId="{3454AAF6-120B-400F-A41E-23D42370492D}">
      <dgm:prSet/>
      <dgm:spPr/>
      <dgm:t>
        <a:bodyPr/>
        <a:lstStyle/>
        <a:p>
          <a:endParaRPr lang="en-IN" sz="2400"/>
        </a:p>
      </dgm:t>
    </dgm:pt>
    <dgm:pt modelId="{47BE0F43-2C19-4CFD-9883-B2DE0D71BC95}" type="pres">
      <dgm:prSet presAssocID="{800EF5A3-C0EC-4C94-9F75-29A810F0D91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84C6ED7-7955-4E75-B4D6-ECDDD7CB0D8B}" type="pres">
      <dgm:prSet presAssocID="{76321EE7-4E3A-4243-9501-85A308245B5A}" presName="root1" presStyleCnt="0"/>
      <dgm:spPr/>
    </dgm:pt>
    <dgm:pt modelId="{D170BEBE-DC94-4A3B-BBCE-F93123319149}" type="pres">
      <dgm:prSet presAssocID="{76321EE7-4E3A-4243-9501-85A308245B5A}" presName="LevelOneTextNode" presStyleLbl="node0" presStyleIdx="0" presStyleCnt="1">
        <dgm:presLayoutVars>
          <dgm:chPref val="3"/>
        </dgm:presLayoutVars>
      </dgm:prSet>
      <dgm:spPr/>
    </dgm:pt>
    <dgm:pt modelId="{2D16CB6E-45FD-4B65-A176-5D6ABC3ECE91}" type="pres">
      <dgm:prSet presAssocID="{76321EE7-4E3A-4243-9501-85A308245B5A}" presName="level2hierChild" presStyleCnt="0"/>
      <dgm:spPr/>
    </dgm:pt>
    <dgm:pt modelId="{77C3CC96-D4E8-40D2-9459-D097E27103C2}" type="pres">
      <dgm:prSet presAssocID="{DD868357-B55B-484E-97DD-6FFEF78E0B29}" presName="conn2-1" presStyleLbl="parChTrans1D2" presStyleIdx="0" presStyleCnt="2"/>
      <dgm:spPr/>
    </dgm:pt>
    <dgm:pt modelId="{2BB8F260-5056-40F6-84EF-889CD724B1D4}" type="pres">
      <dgm:prSet presAssocID="{DD868357-B55B-484E-97DD-6FFEF78E0B29}" presName="connTx" presStyleLbl="parChTrans1D2" presStyleIdx="0" presStyleCnt="2"/>
      <dgm:spPr/>
    </dgm:pt>
    <dgm:pt modelId="{AE6FEE00-6EF5-439D-8010-A1C95090CDC4}" type="pres">
      <dgm:prSet presAssocID="{9A1D8645-34E0-4C42-8F8D-C4D45B512E0A}" presName="root2" presStyleCnt="0"/>
      <dgm:spPr/>
    </dgm:pt>
    <dgm:pt modelId="{DA856B6B-7D37-4680-9322-370D29C99778}" type="pres">
      <dgm:prSet presAssocID="{9A1D8645-34E0-4C42-8F8D-C4D45B512E0A}" presName="LevelTwoTextNode" presStyleLbl="node2" presStyleIdx="0" presStyleCnt="2">
        <dgm:presLayoutVars>
          <dgm:chPref val="3"/>
        </dgm:presLayoutVars>
      </dgm:prSet>
      <dgm:spPr/>
    </dgm:pt>
    <dgm:pt modelId="{2BE56E88-A617-4FB8-BF26-3D8AF2DAFF07}" type="pres">
      <dgm:prSet presAssocID="{9A1D8645-34E0-4C42-8F8D-C4D45B512E0A}" presName="level3hierChild" presStyleCnt="0"/>
      <dgm:spPr/>
    </dgm:pt>
    <dgm:pt modelId="{E03B1E7A-3EB3-45F2-98EE-9FF16560AEBE}" type="pres">
      <dgm:prSet presAssocID="{A832E9E1-55E3-45B9-A6CD-7E778980C4F5}" presName="conn2-1" presStyleLbl="parChTrans1D2" presStyleIdx="1" presStyleCnt="2"/>
      <dgm:spPr/>
    </dgm:pt>
    <dgm:pt modelId="{C097BB42-64CA-4A17-8279-6292962544ED}" type="pres">
      <dgm:prSet presAssocID="{A832E9E1-55E3-45B9-A6CD-7E778980C4F5}" presName="connTx" presStyleLbl="parChTrans1D2" presStyleIdx="1" presStyleCnt="2"/>
      <dgm:spPr/>
    </dgm:pt>
    <dgm:pt modelId="{585B8878-4454-41AB-A898-89F825ACC307}" type="pres">
      <dgm:prSet presAssocID="{8060E878-F8C9-4CE5-BA5F-A834CB4FA010}" presName="root2" presStyleCnt="0"/>
      <dgm:spPr/>
    </dgm:pt>
    <dgm:pt modelId="{D1AD736C-63D9-4CCD-BEAF-25BB42729AD7}" type="pres">
      <dgm:prSet presAssocID="{8060E878-F8C9-4CE5-BA5F-A834CB4FA010}" presName="LevelTwoTextNode" presStyleLbl="node2" presStyleIdx="1" presStyleCnt="2">
        <dgm:presLayoutVars>
          <dgm:chPref val="3"/>
        </dgm:presLayoutVars>
      </dgm:prSet>
      <dgm:spPr/>
    </dgm:pt>
    <dgm:pt modelId="{C66851D2-77F8-4B0A-A81B-0CDBF7019198}" type="pres">
      <dgm:prSet presAssocID="{8060E878-F8C9-4CE5-BA5F-A834CB4FA010}" presName="level3hierChild" presStyleCnt="0"/>
      <dgm:spPr/>
    </dgm:pt>
  </dgm:ptLst>
  <dgm:cxnLst>
    <dgm:cxn modelId="{9E1C9B3C-FD4C-4A8B-847F-98AF75E23A9D}" type="presOf" srcId="{DD868357-B55B-484E-97DD-6FFEF78E0B29}" destId="{77C3CC96-D4E8-40D2-9459-D097E27103C2}" srcOrd="0" destOrd="0" presId="urn:microsoft.com/office/officeart/2005/8/layout/hierarchy2"/>
    <dgm:cxn modelId="{67BFCA6F-F3D8-4B51-9E0D-BDC0919D1D08}" srcId="{800EF5A3-C0EC-4C94-9F75-29A810F0D911}" destId="{76321EE7-4E3A-4243-9501-85A308245B5A}" srcOrd="0" destOrd="0" parTransId="{D42C3503-0A9F-4526-A561-DFCEA89D4B96}" sibTransId="{6BBD5E9B-6C19-411D-9462-2B86AA955660}"/>
    <dgm:cxn modelId="{E5EB3871-FA58-408C-9B42-A48E34CE81D7}" type="presOf" srcId="{76321EE7-4E3A-4243-9501-85A308245B5A}" destId="{D170BEBE-DC94-4A3B-BBCE-F93123319149}" srcOrd="0" destOrd="0" presId="urn:microsoft.com/office/officeart/2005/8/layout/hierarchy2"/>
    <dgm:cxn modelId="{75A49E58-0608-42AF-A427-CA6FCFB274B1}" type="presOf" srcId="{8060E878-F8C9-4CE5-BA5F-A834CB4FA010}" destId="{D1AD736C-63D9-4CCD-BEAF-25BB42729AD7}" srcOrd="0" destOrd="0" presId="urn:microsoft.com/office/officeart/2005/8/layout/hierarchy2"/>
    <dgm:cxn modelId="{CDB9EEA8-E2D6-4B98-B07B-FA21CD484AA9}" type="presOf" srcId="{A832E9E1-55E3-45B9-A6CD-7E778980C4F5}" destId="{C097BB42-64CA-4A17-8279-6292962544ED}" srcOrd="1" destOrd="0" presId="urn:microsoft.com/office/officeart/2005/8/layout/hierarchy2"/>
    <dgm:cxn modelId="{54065EB5-F8CA-40C8-B943-30590FA12C5A}" type="presOf" srcId="{DD868357-B55B-484E-97DD-6FFEF78E0B29}" destId="{2BB8F260-5056-40F6-84EF-889CD724B1D4}" srcOrd="1" destOrd="0" presId="urn:microsoft.com/office/officeart/2005/8/layout/hierarchy2"/>
    <dgm:cxn modelId="{4E49F8DD-76BB-42D7-A12C-705C20100B14}" srcId="{76321EE7-4E3A-4243-9501-85A308245B5A}" destId="{8060E878-F8C9-4CE5-BA5F-A834CB4FA010}" srcOrd="1" destOrd="0" parTransId="{A832E9E1-55E3-45B9-A6CD-7E778980C4F5}" sibTransId="{249938BC-48EF-4416-8AB9-0DB7B035F868}"/>
    <dgm:cxn modelId="{91F218DF-11A7-45B6-83BE-8BB20B4B522C}" type="presOf" srcId="{9A1D8645-34E0-4C42-8F8D-C4D45B512E0A}" destId="{DA856B6B-7D37-4680-9322-370D29C99778}" srcOrd="0" destOrd="0" presId="urn:microsoft.com/office/officeart/2005/8/layout/hierarchy2"/>
    <dgm:cxn modelId="{19C690DF-FFF2-4D03-A5C2-E6E1232C422B}" type="presOf" srcId="{800EF5A3-C0EC-4C94-9F75-29A810F0D911}" destId="{47BE0F43-2C19-4CFD-9883-B2DE0D71BC95}" srcOrd="0" destOrd="0" presId="urn:microsoft.com/office/officeart/2005/8/layout/hierarchy2"/>
    <dgm:cxn modelId="{7271A0E5-C4AB-4523-BAB6-049ABB4C149A}" type="presOf" srcId="{A832E9E1-55E3-45B9-A6CD-7E778980C4F5}" destId="{E03B1E7A-3EB3-45F2-98EE-9FF16560AEBE}" srcOrd="0" destOrd="0" presId="urn:microsoft.com/office/officeart/2005/8/layout/hierarchy2"/>
    <dgm:cxn modelId="{3454AAF6-120B-400F-A41E-23D42370492D}" srcId="{76321EE7-4E3A-4243-9501-85A308245B5A}" destId="{9A1D8645-34E0-4C42-8F8D-C4D45B512E0A}" srcOrd="0" destOrd="0" parTransId="{DD868357-B55B-484E-97DD-6FFEF78E0B29}" sibTransId="{F005A9FE-640F-46AA-AD9D-F2510AEF84F0}"/>
    <dgm:cxn modelId="{18F3A618-521D-4FCE-A283-419E39423E0E}" type="presParOf" srcId="{47BE0F43-2C19-4CFD-9883-B2DE0D71BC95}" destId="{584C6ED7-7955-4E75-B4D6-ECDDD7CB0D8B}" srcOrd="0" destOrd="0" presId="urn:microsoft.com/office/officeart/2005/8/layout/hierarchy2"/>
    <dgm:cxn modelId="{481B4581-F6CB-42CB-A651-D23422606345}" type="presParOf" srcId="{584C6ED7-7955-4E75-B4D6-ECDDD7CB0D8B}" destId="{D170BEBE-DC94-4A3B-BBCE-F93123319149}" srcOrd="0" destOrd="0" presId="urn:microsoft.com/office/officeart/2005/8/layout/hierarchy2"/>
    <dgm:cxn modelId="{FE21BDF7-A872-49C3-8905-526FC32B3EE2}" type="presParOf" srcId="{584C6ED7-7955-4E75-B4D6-ECDDD7CB0D8B}" destId="{2D16CB6E-45FD-4B65-A176-5D6ABC3ECE91}" srcOrd="1" destOrd="0" presId="urn:microsoft.com/office/officeart/2005/8/layout/hierarchy2"/>
    <dgm:cxn modelId="{DA9AE700-E270-40CD-848F-7C76A1671469}" type="presParOf" srcId="{2D16CB6E-45FD-4B65-A176-5D6ABC3ECE91}" destId="{77C3CC96-D4E8-40D2-9459-D097E27103C2}" srcOrd="0" destOrd="0" presId="urn:microsoft.com/office/officeart/2005/8/layout/hierarchy2"/>
    <dgm:cxn modelId="{5A9993DE-72C0-443F-82C1-CB0F2F0D6F9A}" type="presParOf" srcId="{77C3CC96-D4E8-40D2-9459-D097E27103C2}" destId="{2BB8F260-5056-40F6-84EF-889CD724B1D4}" srcOrd="0" destOrd="0" presId="urn:microsoft.com/office/officeart/2005/8/layout/hierarchy2"/>
    <dgm:cxn modelId="{661DECAA-643F-48C2-BCE7-62D855D0BA48}" type="presParOf" srcId="{2D16CB6E-45FD-4B65-A176-5D6ABC3ECE91}" destId="{AE6FEE00-6EF5-439D-8010-A1C95090CDC4}" srcOrd="1" destOrd="0" presId="urn:microsoft.com/office/officeart/2005/8/layout/hierarchy2"/>
    <dgm:cxn modelId="{432415B8-D863-4518-B935-0DD88B6F5BC6}" type="presParOf" srcId="{AE6FEE00-6EF5-439D-8010-A1C95090CDC4}" destId="{DA856B6B-7D37-4680-9322-370D29C99778}" srcOrd="0" destOrd="0" presId="urn:microsoft.com/office/officeart/2005/8/layout/hierarchy2"/>
    <dgm:cxn modelId="{5AC3DAE7-7C7B-4B42-B647-B63A4A68BEDD}" type="presParOf" srcId="{AE6FEE00-6EF5-439D-8010-A1C95090CDC4}" destId="{2BE56E88-A617-4FB8-BF26-3D8AF2DAFF07}" srcOrd="1" destOrd="0" presId="urn:microsoft.com/office/officeart/2005/8/layout/hierarchy2"/>
    <dgm:cxn modelId="{EEEA0DE7-341B-440D-B53C-BABF516826AA}" type="presParOf" srcId="{2D16CB6E-45FD-4B65-A176-5D6ABC3ECE91}" destId="{E03B1E7A-3EB3-45F2-98EE-9FF16560AEBE}" srcOrd="2" destOrd="0" presId="urn:microsoft.com/office/officeart/2005/8/layout/hierarchy2"/>
    <dgm:cxn modelId="{7F812C1D-19EF-4D7F-A132-38408A987061}" type="presParOf" srcId="{E03B1E7A-3EB3-45F2-98EE-9FF16560AEBE}" destId="{C097BB42-64CA-4A17-8279-6292962544ED}" srcOrd="0" destOrd="0" presId="urn:microsoft.com/office/officeart/2005/8/layout/hierarchy2"/>
    <dgm:cxn modelId="{37226CE6-B68F-482D-AF35-1865E07C604B}" type="presParOf" srcId="{2D16CB6E-45FD-4B65-A176-5D6ABC3ECE91}" destId="{585B8878-4454-41AB-A898-89F825ACC307}" srcOrd="3" destOrd="0" presId="urn:microsoft.com/office/officeart/2005/8/layout/hierarchy2"/>
    <dgm:cxn modelId="{B6F70249-58B0-4A6E-891A-28234DD42E55}" type="presParOf" srcId="{585B8878-4454-41AB-A898-89F825ACC307}" destId="{D1AD736C-63D9-4CCD-BEAF-25BB42729AD7}" srcOrd="0" destOrd="0" presId="urn:microsoft.com/office/officeart/2005/8/layout/hierarchy2"/>
    <dgm:cxn modelId="{2DCD3933-6497-4D9F-9A69-8A93C5FFCB47}" type="presParOf" srcId="{585B8878-4454-41AB-A898-89F825ACC307}" destId="{C66851D2-77F8-4B0A-A81B-0CDBF701919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70BEBE-DC94-4A3B-BBCE-F93123319149}">
      <dsp:nvSpPr>
        <dsp:cNvPr id="0" name=""/>
        <dsp:cNvSpPr/>
      </dsp:nvSpPr>
      <dsp:spPr>
        <a:xfrm>
          <a:off x="1407" y="909153"/>
          <a:ext cx="2908013" cy="1454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Bahnschrift" panose="020B0502040204020203" pitchFamily="34" charset="0"/>
            </a:rPr>
            <a:t>T</a:t>
          </a:r>
          <a:r>
            <a:rPr lang="en-IN" sz="2400" b="0" i="0" kern="1200">
              <a:effectLst/>
              <a:latin typeface="Bahnschrift" panose="020B0502040204020203" pitchFamily="34" charset="0"/>
            </a:rPr>
            <a:t>wo classes of technology </a:t>
          </a:r>
          <a:endParaRPr lang="en-IN" sz="2400" kern="1200" dirty="0"/>
        </a:p>
      </dsp:txBody>
      <dsp:txXfrm>
        <a:off x="43993" y="951739"/>
        <a:ext cx="2822841" cy="1368834"/>
      </dsp:txXfrm>
    </dsp:sp>
    <dsp:sp modelId="{77C3CC96-D4E8-40D2-9459-D097E27103C2}">
      <dsp:nvSpPr>
        <dsp:cNvPr id="0" name=""/>
        <dsp:cNvSpPr/>
      </dsp:nvSpPr>
      <dsp:spPr>
        <a:xfrm rot="19457599">
          <a:off x="2774777" y="1178139"/>
          <a:ext cx="1432491" cy="79980"/>
        </a:xfrm>
        <a:custGeom>
          <a:avLst/>
          <a:gdLst/>
          <a:ahLst/>
          <a:cxnLst/>
          <a:rect l="0" t="0" r="0" b="0"/>
          <a:pathLst>
            <a:path>
              <a:moveTo>
                <a:pt x="0" y="39990"/>
              </a:moveTo>
              <a:lnTo>
                <a:pt x="1432491" y="3999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3455211" y="1182317"/>
        <a:ext cx="71624" cy="71624"/>
      </dsp:txXfrm>
    </dsp:sp>
    <dsp:sp modelId="{DA856B6B-7D37-4680-9322-370D29C99778}">
      <dsp:nvSpPr>
        <dsp:cNvPr id="0" name=""/>
        <dsp:cNvSpPr/>
      </dsp:nvSpPr>
      <dsp:spPr>
        <a:xfrm>
          <a:off x="4072626" y="73099"/>
          <a:ext cx="2908013" cy="1454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Operational Big Data</a:t>
          </a:r>
        </a:p>
      </dsp:txBody>
      <dsp:txXfrm>
        <a:off x="4115212" y="115685"/>
        <a:ext cx="2822841" cy="1368834"/>
      </dsp:txXfrm>
    </dsp:sp>
    <dsp:sp modelId="{E03B1E7A-3EB3-45F2-98EE-9FF16560AEBE}">
      <dsp:nvSpPr>
        <dsp:cNvPr id="0" name=""/>
        <dsp:cNvSpPr/>
      </dsp:nvSpPr>
      <dsp:spPr>
        <a:xfrm rot="2142401">
          <a:off x="2774777" y="2014193"/>
          <a:ext cx="1432491" cy="79980"/>
        </a:xfrm>
        <a:custGeom>
          <a:avLst/>
          <a:gdLst/>
          <a:ahLst/>
          <a:cxnLst/>
          <a:rect l="0" t="0" r="0" b="0"/>
          <a:pathLst>
            <a:path>
              <a:moveTo>
                <a:pt x="0" y="39990"/>
              </a:moveTo>
              <a:lnTo>
                <a:pt x="1432491" y="3999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400" kern="1200"/>
        </a:p>
      </dsp:txBody>
      <dsp:txXfrm>
        <a:off x="3455211" y="2018371"/>
        <a:ext cx="71624" cy="71624"/>
      </dsp:txXfrm>
    </dsp:sp>
    <dsp:sp modelId="{D1AD736C-63D9-4CCD-BEAF-25BB42729AD7}">
      <dsp:nvSpPr>
        <dsp:cNvPr id="0" name=""/>
        <dsp:cNvSpPr/>
      </dsp:nvSpPr>
      <dsp:spPr>
        <a:xfrm>
          <a:off x="4072626" y="1745207"/>
          <a:ext cx="2908013" cy="14540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Analytical Big Data</a:t>
          </a:r>
          <a:endParaRPr lang="en-IN" sz="2400" kern="1200" dirty="0">
            <a:latin typeface="Bahnschrift" panose="020B0502040204020203" pitchFamily="34" charset="0"/>
          </a:endParaRPr>
        </a:p>
      </dsp:txBody>
      <dsp:txXfrm>
        <a:off x="4115212" y="1787793"/>
        <a:ext cx="2822841" cy="1368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 ?><Relationships xmlns="http://schemas.openxmlformats.org/package/2006/relationships"><Relationship Id="rId3" Target="../media/image8.png" Type="http://schemas.openxmlformats.org/officeDocument/2006/relationships/image"/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3" Target="../media/image10.jpeg" Type="http://schemas.openxmlformats.org/officeDocument/2006/relationships/image"/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 ?><Relationships xmlns="http://schemas.openxmlformats.org/package/2006/relationships"><Relationship Id="rId3" Target="../media/image12.jpeg" Type="http://schemas.openxmlformats.org/officeDocument/2006/relationships/image"/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 ?><Relationships xmlns="http://schemas.openxmlformats.org/package/2006/relationships"><Relationship Id="rId2" Target="../media/image1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4.xml.rels><?xml version="1.0" encoding="UTF-8" standalone="yes" ?><Relationships xmlns="http://schemas.openxmlformats.org/package/2006/relationships"><Relationship Id="rId3" Target="../media/image16.png" Type="http://schemas.openxmlformats.org/officeDocument/2006/relationships/image"/><Relationship Id="rId2" Target="../media/image15.pn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17.jpeg" Type="http://schemas.openxmlformats.org/officeDocument/2006/relationships/image"/></Relationships>
</file>

<file path=ppt/slides/_rels/slide15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3" Target="../media/image20.jpeg" Type="http://schemas.openxmlformats.org/officeDocument/2006/relationships/image"/><Relationship Id="rId2" Target="../media/image19.png" Type="http://schemas.openxmlformats.org/officeDocument/2006/relationships/image"/><Relationship Id="rId1" Target="../slideLayouts/slideLayout3.xml" Type="http://schemas.openxmlformats.org/officeDocument/2006/relationships/slideLayout"/><Relationship Id="rId5" Target="../media/image22.jpe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 ?><Relationships xmlns="http://schemas.openxmlformats.org/package/2006/relationships"><Relationship Id="rId3" Target="../media/image28.jpeg" Type="http://schemas.openxmlformats.org/officeDocument/2006/relationships/image"/><Relationship Id="rId2" Target="../media/image27.pn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 ?><Relationships xmlns="http://schemas.openxmlformats.org/package/2006/relationships"><Relationship Id="rId2" Target="../media/image2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 ?><Relationships xmlns="http://schemas.openxmlformats.org/package/2006/relationships"><Relationship Id="rId2" Target="../media/image30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2" Target="../media/image3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 ?><Relationships xmlns="http://schemas.openxmlformats.org/package/2006/relationships"><Relationship Id="rId2" Target="../media/image33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 ?><Relationships xmlns="http://schemas.openxmlformats.org/package/2006/relationships"><Relationship Id="rId2" Target="../media/image34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2.xml.rels><?xml version="1.0" encoding="UTF-8" standalone="yes" ?><Relationships xmlns="http://schemas.openxmlformats.org/package/2006/relationships"><Relationship Id="rId2" Target="../media/image3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671" y="2928682"/>
            <a:ext cx="5421498" cy="1623221"/>
          </a:xfrm>
        </p:spPr>
        <p:txBody>
          <a:bodyPr/>
          <a:lstStyle/>
          <a:p>
            <a:pPr algn="just"/>
            <a:r>
              <a:rPr lang="en-US" dirty="0" err="1">
                <a:solidFill>
                  <a:srgbClr val="000000"/>
                </a:solidFill>
              </a:rPr>
              <a:t>h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adoop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- Big Data Overview</a:t>
            </a:r>
          </a:p>
          <a:p>
            <a:pPr algn="just"/>
            <a:r>
              <a:rPr lang="en-US" dirty="0" err="1">
                <a:solidFill>
                  <a:srgbClr val="000000"/>
                </a:solidFill>
              </a:rPr>
              <a:t>h</a:t>
            </a:r>
            <a:r>
              <a:rPr lang="en-US" b="0" i="0" dirty="0" err="1">
                <a:solidFill>
                  <a:srgbClr val="000000"/>
                </a:solidFill>
                <a:effectLst/>
              </a:rPr>
              <a:t>adoop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- Big Data Solutions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1 Social Networking Sites You Need To Know About In 2021 in 2021 - Make A  Website Hub">
            <a:extLst>
              <a:ext uri="{FF2B5EF4-FFF2-40B4-BE49-F238E27FC236}">
                <a16:creationId xmlns:a16="http://schemas.microsoft.com/office/drawing/2014/main" id="{8EF1B2F7-F352-49F9-818C-9C43EFF6A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715" y="1953830"/>
            <a:ext cx="5646570" cy="3770262"/>
          </a:xfrm>
          <a:prstGeom prst="rect">
            <a:avLst/>
          </a:prstGeom>
          <a:noFill/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7D633DC-0450-4DA0-8F05-18E71666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20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633DC-0450-4DA0-8F05-18E71666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575156-CCCB-4724-9A55-142551F9E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946" y="1756125"/>
            <a:ext cx="6506108" cy="377046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9FC2E1-623A-4596-A475-BDF53C07CDD1}"/>
              </a:ext>
            </a:extLst>
          </p:cNvPr>
          <p:cNvSpPr txBox="1"/>
          <p:nvPr/>
        </p:nvSpPr>
        <p:spPr>
          <a:xfrm>
            <a:off x="865916" y="5957155"/>
            <a:ext cx="7412167" cy="43088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Data produced by mankind is growing rapidly every year</a:t>
            </a:r>
            <a:endParaRPr lang="en-IN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5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E5C905-CA1D-47DD-AA1E-BD12EAC7D4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949" y="1809646"/>
            <a:ext cx="5938101" cy="445357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FF75CF7-4295-4930-852E-B95A767CE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73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99BAE9-3678-46D8-B023-2FA28A485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600" b="1" i="0" dirty="0">
                <a:solidFill>
                  <a:srgbClr val="000000"/>
                </a:solidFill>
                <a:effectLst/>
              </a:rPr>
              <a:t>Big data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 is a collection of large datasets that cannot be processed using traditional computing techniques.</a:t>
            </a:r>
          </a:p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It is not a single technique or a tool, rather it has become a complete subject, which involves various tools, techniques and frameworks.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E817-C021-4351-A22F-6128A819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b="0" i="0" dirty="0">
                <a:effectLst/>
              </a:rPr>
            </a:br>
            <a:r>
              <a:rPr lang="en-IN" b="0" i="0" dirty="0">
                <a:effectLst/>
              </a:rPr>
              <a:t>What is Big Data?</a:t>
            </a:r>
            <a:br>
              <a:rPr lang="en-IN" b="0" i="0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884247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99D3BD-33FA-4344-A9EE-F56F01E4CD92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71" r="10"/>
          <a:stretch/>
        </p:blipFill>
        <p:spPr>
          <a:xfrm>
            <a:off x="1674393" y="1616851"/>
            <a:ext cx="2009554" cy="217967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F3A7A96-72D3-47B9-A54E-FECF34A8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>
                <a:effectLst/>
              </a:rPr>
              <a:t>What Comes Under Big Data?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188FB-529F-4A31-804C-0D7A1180B8ED}"/>
              </a:ext>
            </a:extLst>
          </p:cNvPr>
          <p:cNvSpPr/>
          <p:nvPr/>
        </p:nvSpPr>
        <p:spPr>
          <a:xfrm>
            <a:off x="1612117" y="3959522"/>
            <a:ext cx="2071830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Black Box Data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FF91BA-78E3-476E-AFAF-29A147655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820" y="1616851"/>
            <a:ext cx="3508744" cy="2179676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F06F309-6640-4692-856E-4481B189C66A}"/>
              </a:ext>
            </a:extLst>
          </p:cNvPr>
          <p:cNvSpPr/>
          <p:nvPr/>
        </p:nvSpPr>
        <p:spPr>
          <a:xfrm>
            <a:off x="5007936" y="3959522"/>
            <a:ext cx="2126511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Social Media Data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FFE930-4D32-49EC-A4D6-CDD6D384AE58}"/>
              </a:ext>
            </a:extLst>
          </p:cNvPr>
          <p:cNvSpPr txBox="1"/>
          <p:nvPr/>
        </p:nvSpPr>
        <p:spPr>
          <a:xfrm>
            <a:off x="352268" y="4750540"/>
            <a:ext cx="8386537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0" dirty="0" i="0" lang="en-US" sz="2400">
                <a:solidFill>
                  <a:srgbClr val="000000"/>
                </a:solidFill>
                <a:effectLst/>
                <a:latin charset="0" panose="020B0502040204020203" pitchFamily="34" typeface="Bahnschrift"/>
              </a:rPr>
              <a:t>Big data involves the data produced by different devices and applications. Given below are some of the fields that come under the umbrella of Big Data.</a:t>
            </a:r>
            <a:endParaRPr dirty="0" lang="en-IN" sz="2400"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758116849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3A7A96-72D3-47B9-A54E-FECF34A8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dirty="0" i="0" lang="en-US">
                <a:effectLst/>
              </a:rPr>
              <a:t>What Comes Under Big Data?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188FB-529F-4A31-804C-0D7A1180B8ED}"/>
              </a:ext>
            </a:extLst>
          </p:cNvPr>
          <p:cNvSpPr/>
          <p:nvPr/>
        </p:nvSpPr>
        <p:spPr>
          <a:xfrm>
            <a:off x="962772" y="4327451"/>
            <a:ext cx="2524006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Stock Exchange Data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6F309-6640-4692-856E-4481B189C66A}"/>
              </a:ext>
            </a:extLst>
          </p:cNvPr>
          <p:cNvSpPr/>
          <p:nvPr/>
        </p:nvSpPr>
        <p:spPr>
          <a:xfrm>
            <a:off x="5288561" y="4327451"/>
            <a:ext cx="2126511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Power Grid Data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34F9F2-F4F7-4146-B8E4-18A4658A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165" y="2330135"/>
            <a:ext cx="4585305" cy="1837828"/>
          </a:xfrm>
          <a:prstGeom prst="rect">
            <a:avLst/>
          </a:prstGeom>
        </p:spPr>
      </p:pic>
      <p:pic>
        <p:nvPicPr>
          <p:cNvPr descr="Macrotrends | The Long Term Perspective on Markets" id="2050" name="Picture 2">
            <a:extLst>
              <a:ext uri="{FF2B5EF4-FFF2-40B4-BE49-F238E27FC236}">
                <a16:creationId xmlns:a16="http://schemas.microsoft.com/office/drawing/2014/main" id="{18A61449-CCE6-42F8-BCCE-1714ECB4EEDA}"/>
              </a:ext>
            </a:extLst>
          </p:cNvPr>
          <p:cNvPicPr>
            <a:picLocks noChangeArrowheads="1"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"/>
          <a:stretch/>
        </p:blipFill>
        <p:spPr bwMode="auto">
          <a:xfrm>
            <a:off x="700775" y="2330135"/>
            <a:ext cx="3048000" cy="183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148956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3A7A96-72D3-47B9-A54E-FECF34A82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0" dirty="0" i="0" lang="en-US">
                <a:effectLst/>
              </a:rPr>
              <a:t>What Comes Under Big Data?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188FB-529F-4A31-804C-0D7A1180B8ED}"/>
              </a:ext>
            </a:extLst>
          </p:cNvPr>
          <p:cNvSpPr/>
          <p:nvPr/>
        </p:nvSpPr>
        <p:spPr>
          <a:xfrm>
            <a:off x="1364592" y="4315527"/>
            <a:ext cx="2150423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Transport Data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6F309-6640-4692-856E-4481B189C66A}"/>
              </a:ext>
            </a:extLst>
          </p:cNvPr>
          <p:cNvSpPr/>
          <p:nvPr/>
        </p:nvSpPr>
        <p:spPr>
          <a:xfrm>
            <a:off x="5873556" y="3517029"/>
            <a:ext cx="2126511" cy="499730"/>
          </a:xfrm>
          <a:prstGeom prst="rect">
            <a:avLst/>
          </a:prstGeom>
          <a:solidFill>
            <a:srgbClr val="1111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Search Engine</a:t>
            </a:r>
            <a:endParaRPr dirty="0" lang="en-IN">
              <a:latin charset="0" panose="020B0502040204020203" pitchFamily="34" typeface="Bahnschrif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8B9388-BC4A-4300-AD7E-B646322B0D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40"/>
          <a:stretch/>
        </p:blipFill>
        <p:spPr>
          <a:xfrm>
            <a:off x="558818" y="1588314"/>
            <a:ext cx="3761973" cy="2541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928B6-B723-4499-BFD4-89EEF7486B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8"/>
          <a:stretch/>
        </p:blipFill>
        <p:spPr>
          <a:xfrm>
            <a:off x="5269689" y="4129426"/>
            <a:ext cx="3334246" cy="250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5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B5403A-98C7-4C24-8235-92AF534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57807"/>
            <a:ext cx="8222834" cy="5004884"/>
          </a:xfrm>
        </p:spPr>
        <p:txBody>
          <a:bodyPr>
            <a:normAutofit/>
          </a:bodyPr>
          <a:lstStyle/>
          <a:p>
            <a:pPr algn="just"/>
            <a:r>
              <a:rPr lang="en-US" sz="2600" b="0" i="0" dirty="0">
                <a:solidFill>
                  <a:srgbClr val="000000"/>
                </a:solidFill>
                <a:effectLst/>
              </a:rPr>
              <a:t>Thus, Big Data includes huge volume, high velocity, and extensible variety of data..</a:t>
            </a:r>
          </a:p>
          <a:p>
            <a:pPr lvl="1" algn="just"/>
            <a:r>
              <a:rPr lang="en-IN" sz="2600" b="1" i="0" dirty="0">
                <a:solidFill>
                  <a:srgbClr val="000000"/>
                </a:solidFill>
                <a:effectLst/>
              </a:rPr>
              <a:t>Structured data</a:t>
            </a:r>
            <a:r>
              <a:rPr lang="en-IN" sz="2600" b="0" i="0" dirty="0">
                <a:solidFill>
                  <a:srgbClr val="000000"/>
                </a:solidFill>
                <a:effectLst/>
              </a:rPr>
              <a:t> − Relational data.</a:t>
            </a:r>
          </a:p>
          <a:p>
            <a:pPr lvl="1" algn="just"/>
            <a:r>
              <a:rPr lang="en-IN" sz="2600" b="1" i="0" dirty="0">
                <a:solidFill>
                  <a:srgbClr val="000000"/>
                </a:solidFill>
                <a:effectLst/>
              </a:rPr>
              <a:t>Semi Structured data</a:t>
            </a:r>
            <a:r>
              <a:rPr lang="en-IN" sz="2600" b="0" i="0" dirty="0">
                <a:solidFill>
                  <a:srgbClr val="000000"/>
                </a:solidFill>
                <a:effectLst/>
              </a:rPr>
              <a:t> − XML data.</a:t>
            </a:r>
          </a:p>
          <a:p>
            <a:pPr lvl="1" algn="just"/>
            <a:r>
              <a:rPr lang="en-IN" sz="2600" b="1" i="0" dirty="0">
                <a:solidFill>
                  <a:srgbClr val="000000"/>
                </a:solidFill>
                <a:effectLst/>
              </a:rPr>
              <a:t>Unstructured data</a:t>
            </a:r>
            <a:r>
              <a:rPr lang="en-IN" sz="2600" b="0" i="0" dirty="0">
                <a:solidFill>
                  <a:srgbClr val="000000"/>
                </a:solidFill>
                <a:effectLst/>
              </a:rPr>
              <a:t> − Word, PDF, Text, Media Logs.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413D9-4240-440E-8947-12294343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</a:rPr>
              <a:t>What Comes Under Big Data?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3020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B5403A-98C7-4C24-8235-92AF53434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IN" sz="2800" i="0" dirty="0">
                <a:solidFill>
                  <a:srgbClr val="000000"/>
                </a:solidFill>
                <a:effectLst/>
              </a:rPr>
              <a:t>Structured data </a:t>
            </a:r>
          </a:p>
          <a:p>
            <a:pPr lvl="1" algn="just"/>
            <a:r>
              <a:rPr lang="en-IN" sz="2800" i="0" dirty="0">
                <a:solidFill>
                  <a:srgbClr val="000000"/>
                </a:solidFill>
                <a:effectLst/>
              </a:rPr>
              <a:t>Semi Structured data </a:t>
            </a:r>
          </a:p>
          <a:p>
            <a:pPr lvl="1" algn="just"/>
            <a:r>
              <a:rPr lang="en-IN" sz="2800" i="0" dirty="0">
                <a:solidFill>
                  <a:srgbClr val="000000"/>
                </a:solidFill>
                <a:effectLst/>
              </a:rPr>
              <a:t>Unstructured data </a:t>
            </a:r>
            <a:endParaRPr lang="en-IN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1413D9-4240-440E-8947-12294343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effectLst/>
              </a:rPr>
              <a:t>What Comes Under Big Data?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759571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FE9F5-2421-45B9-98EE-EBCF0F2C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209" y="1433815"/>
            <a:ext cx="4956944" cy="693024"/>
          </a:xfrm>
        </p:spPr>
        <p:txBody>
          <a:bodyPr>
            <a:normAutofit/>
          </a:bodyPr>
          <a:lstStyle/>
          <a:p>
            <a:pPr indent="0" marL="0">
              <a:buNone/>
            </a:pPr>
            <a:r>
              <a:rPr b="1" dirty="0" i="0" lang="en-IN" sz="2600">
                <a:solidFill>
                  <a:srgbClr val="000000"/>
                </a:solidFill>
                <a:effectLst/>
              </a:rPr>
              <a:t>Structured data</a:t>
            </a:r>
            <a:endParaRPr dirty="0" lang="en-IN" sz="26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967C5D-D157-44BA-B733-985F945B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 sz="3600">
                <a:effectLst/>
              </a:rPr>
              <a:t>The data in it will be of three types</a:t>
            </a:r>
            <a:endParaRPr dirty="0"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948E7-35E9-4B47-80E1-F2D65E2FA6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8" r="67"/>
          <a:stretch/>
        </p:blipFill>
        <p:spPr>
          <a:xfrm>
            <a:off x="827209" y="2414661"/>
            <a:ext cx="7489582" cy="314010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B19426-1D41-4DCF-BB27-D8784D92D880}"/>
              </a:ext>
            </a:extLst>
          </p:cNvPr>
          <p:cNvSpPr/>
          <p:nvPr/>
        </p:nvSpPr>
        <p:spPr>
          <a:xfrm>
            <a:off x="3370521" y="5842591"/>
            <a:ext cx="2402958" cy="447677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Relational data</a:t>
            </a:r>
          </a:p>
        </p:txBody>
      </p:sp>
    </p:spTree>
    <p:extLst>
      <p:ext uri="{BB962C8B-B14F-4D97-AF65-F5344CB8AC3E}">
        <p14:creationId xmlns:p14="http://schemas.microsoft.com/office/powerpoint/2010/main" val="131173662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FE9F5-2421-45B9-98EE-EBCF0F2C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1" y="1325563"/>
            <a:ext cx="4441371" cy="710964"/>
          </a:xfrm>
        </p:spPr>
        <p:txBody>
          <a:bodyPr>
            <a:normAutofit/>
          </a:bodyPr>
          <a:lstStyle/>
          <a:p>
            <a:pPr algn="just" indent="0" lvl="1" marL="457200">
              <a:buNone/>
            </a:pPr>
            <a:r>
              <a:rPr b="1" dirty="0" i="0" lang="en-IN" sz="2600">
                <a:solidFill>
                  <a:srgbClr val="000000"/>
                </a:solidFill>
                <a:effectLst/>
              </a:rPr>
              <a:t>Semi Structured data</a:t>
            </a:r>
            <a:r>
              <a:rPr b="0" dirty="0" i="0" lang="en-IN" sz="2600"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967C5D-D157-44BA-B733-985F945B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 sz="3600">
                <a:effectLst/>
              </a:rPr>
              <a:t>The data in it will be of three types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19426-1D41-4DCF-BB27-D8784D92D880}"/>
              </a:ext>
            </a:extLst>
          </p:cNvPr>
          <p:cNvSpPr/>
          <p:nvPr/>
        </p:nvSpPr>
        <p:spPr>
          <a:xfrm>
            <a:off x="3778267" y="6280114"/>
            <a:ext cx="1506723" cy="40204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XML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D06D7-EE05-4892-8D6B-2C3AE56ACD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74"/>
          <a:stretch/>
        </p:blipFill>
        <p:spPr>
          <a:xfrm>
            <a:off x="2245603" y="2036527"/>
            <a:ext cx="4572053" cy="414310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052245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FE9F5-2421-45B9-98EE-EBCF0F2C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49" y="1469721"/>
            <a:ext cx="5807947" cy="754446"/>
          </a:xfrm>
        </p:spPr>
        <p:txBody>
          <a:bodyPr>
            <a:normAutofit/>
          </a:bodyPr>
          <a:lstStyle/>
          <a:p>
            <a:pPr algn="just" indent="0" lvl="1" marL="457200">
              <a:buNone/>
            </a:pPr>
            <a:r>
              <a:rPr b="1" dirty="0" i="0" lang="en-IN" sz="2600">
                <a:solidFill>
                  <a:srgbClr val="000000"/>
                </a:solidFill>
                <a:effectLst/>
              </a:rPr>
              <a:t>Unstructured data</a:t>
            </a:r>
            <a:r>
              <a:rPr b="0" dirty="0" i="0" lang="en-IN" sz="2600"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967C5D-D157-44BA-B733-985F945B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 sz="3600">
                <a:effectLst/>
              </a:rPr>
              <a:t>The data in it will be of three types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19426-1D41-4DCF-BB27-D8784D92D880}"/>
              </a:ext>
            </a:extLst>
          </p:cNvPr>
          <p:cNvSpPr/>
          <p:nvPr/>
        </p:nvSpPr>
        <p:spPr>
          <a:xfrm>
            <a:off x="1108456" y="4990177"/>
            <a:ext cx="1506723" cy="3847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CFA14-A2A8-433A-9D5B-0A5B8462A0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" r="9"/>
          <a:stretch/>
        </p:blipFill>
        <p:spPr>
          <a:xfrm>
            <a:off x="609060" y="2651124"/>
            <a:ext cx="2505516" cy="225293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D287B5-90AC-4A10-8F80-BCF7E40D8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170" y="2651125"/>
            <a:ext cx="2252932" cy="225293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26F7F4-F1D5-46A0-9BAA-87DE2E9DDCDE}"/>
              </a:ext>
            </a:extLst>
          </p:cNvPr>
          <p:cNvSpPr/>
          <p:nvPr/>
        </p:nvSpPr>
        <p:spPr>
          <a:xfrm>
            <a:off x="3852274" y="4990177"/>
            <a:ext cx="1506723" cy="3847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PDF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E0C883-4280-423A-A384-110A417D57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6" r="-173"/>
          <a:stretch/>
        </p:blipFill>
        <p:spPr>
          <a:xfrm>
            <a:off x="6096696" y="2651124"/>
            <a:ext cx="2438244" cy="225293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6D28EC-90CB-49BD-A1DF-F838DAC74776}"/>
              </a:ext>
            </a:extLst>
          </p:cNvPr>
          <p:cNvSpPr/>
          <p:nvPr/>
        </p:nvSpPr>
        <p:spPr>
          <a:xfrm>
            <a:off x="6562456" y="4990177"/>
            <a:ext cx="1506723" cy="38475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45627114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FE9F5-2421-45B9-98EE-EBCF0F2C2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18" y="1325563"/>
            <a:ext cx="3888712" cy="637954"/>
          </a:xfrm>
        </p:spPr>
        <p:txBody>
          <a:bodyPr>
            <a:normAutofit/>
          </a:bodyPr>
          <a:lstStyle/>
          <a:p>
            <a:pPr algn="just" indent="0" lvl="1" marL="457200">
              <a:buNone/>
            </a:pPr>
            <a:r>
              <a:rPr b="1" dirty="0" i="0" lang="en-IN" sz="2600">
                <a:solidFill>
                  <a:srgbClr val="000000"/>
                </a:solidFill>
                <a:effectLst/>
              </a:rPr>
              <a:t>Unstructured data</a:t>
            </a:r>
            <a:r>
              <a:rPr b="0" dirty="0" i="0" lang="en-IN" sz="2600">
                <a:solidFill>
                  <a:srgbClr val="000000"/>
                </a:solidFill>
                <a:effectLst/>
              </a:rPr>
              <a:t>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967C5D-D157-44BA-B733-985F945B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 i="0" lang="en-US" sz="3600">
                <a:effectLst/>
              </a:rPr>
              <a:t>The data in it will be of three types</a:t>
            </a:r>
            <a:endParaRPr dirty="0"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B19426-1D41-4DCF-BB27-D8784D92D880}"/>
              </a:ext>
            </a:extLst>
          </p:cNvPr>
          <p:cNvSpPr/>
          <p:nvPr/>
        </p:nvSpPr>
        <p:spPr>
          <a:xfrm>
            <a:off x="3385881" y="6280223"/>
            <a:ext cx="2372236" cy="325118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IN" sz="22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Social Media Log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72A0E-2445-424C-8882-2A0230C084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9"/>
          <a:stretch/>
        </p:blipFill>
        <p:spPr>
          <a:xfrm>
            <a:off x="1422812" y="2114244"/>
            <a:ext cx="6298373" cy="401525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856055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algn="ctr" cap="flat" cmpd="sng" w="12700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algn="ctr" cap="flat" cmpd="sng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43EE7A-BDC1-409D-9189-B88AF96D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53" y="1651817"/>
            <a:ext cx="3288890" cy="1976284"/>
          </a:xfrm>
        </p:spPr>
        <p:txBody>
          <a:bodyPr anchor="b" bIns="45720" lIns="91440" rIns="91440" rtlCol="0" tIns="45720" vert="horz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dirty="0" i="0" lang="en-US" sz="3800">
                <a:solidFill>
                  <a:schemeClr val="tx1"/>
                </a:solidFill>
                <a:effectLst/>
                <a:ea typeface="+mj-ea"/>
                <a:cs typeface="+mj-cs"/>
              </a:rPr>
              <a:t>Benefits of Big Data</a:t>
            </a:r>
            <a:endParaRPr dirty="0" lang="en-US" sz="380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A99082C-DFB7-4A76-AEF9-CC7776D13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42446" y="1"/>
            <a:ext cx="5701553" cy="484093"/>
          </a:xfrm>
          <a:custGeom>
            <a:avLst/>
            <a:gdLst>
              <a:gd fmla="*/ 9683888 w 9683888" name="connsiteX0"/>
              <a:gd fmla="*/ 0 h 743457" name="connsiteY0"/>
              <a:gd fmla="*/ 0 w 9683888" name="connsiteX1"/>
              <a:gd fmla="*/ 0 h 743457" name="connsiteY1"/>
              <a:gd fmla="*/ 0 w 9683888" name="connsiteX2"/>
              <a:gd fmla="*/ 365878 h 743457" name="connsiteY2"/>
              <a:gd fmla="*/ 11844 w 9683888" name="connsiteX3"/>
              <a:gd fmla="*/ 367909 h 743457" name="connsiteY3"/>
              <a:gd fmla="*/ 106208 w 9683888" name="connsiteX4"/>
              <a:gd fmla="*/ 385974 h 743457" name="connsiteY4"/>
              <a:gd fmla="*/ 183667 w 9683888" name="connsiteX5"/>
              <a:gd fmla="*/ 399162 h 743457" name="connsiteY5"/>
              <a:gd fmla="*/ 292430 w 9683888" name="connsiteX6"/>
              <a:gd fmla="*/ 390408 h 743457" name="connsiteY6"/>
              <a:gd fmla="*/ 386942 w 9683888" name="connsiteX7"/>
              <a:gd fmla="*/ 395582 h 743457" name="connsiteY7"/>
              <a:gd fmla="*/ 485751 w 9683888" name="connsiteX8"/>
              <a:gd fmla="*/ 408404 h 743457" name="connsiteY8"/>
              <a:gd fmla="*/ 604107 w 9683888" name="connsiteX9"/>
              <a:gd fmla="*/ 418647 h 743457" name="connsiteY9"/>
              <a:gd fmla="*/ 694081 w 9683888" name="connsiteX10"/>
              <a:gd fmla="*/ 449524 h 743457" name="connsiteY10"/>
              <a:gd fmla="*/ 762452 w 9683888" name="connsiteX11"/>
              <a:gd fmla="*/ 456090 h 743457" name="connsiteY11"/>
              <a:gd fmla="*/ 987872 w 9683888" name="connsiteX12"/>
              <a:gd fmla="*/ 481862 h 743457" name="connsiteY12"/>
              <a:gd fmla="*/ 1077163 w 9683888" name="connsiteX13"/>
              <a:gd fmla="*/ 524467 h 743457" name="connsiteY13"/>
              <a:gd fmla="*/ 1258716 w 9683888" name="connsiteX14"/>
              <a:gd fmla="*/ 587975 h 743457" name="connsiteY14"/>
              <a:gd fmla="*/ 1298056 w 9683888" name="connsiteX15"/>
              <a:gd fmla="*/ 595413 h 743457" name="connsiteY15"/>
              <a:gd fmla="*/ 1327017 w 9683888" name="connsiteX16"/>
              <a:gd fmla="*/ 617412 h 743457" name="connsiteY16"/>
              <a:gd fmla="*/ 1347909 w 9683888" name="connsiteX17"/>
              <a:gd fmla="*/ 620209 h 743457" name="connsiteY17"/>
              <a:gd fmla="*/ 1421792 w 9683888" name="connsiteX18"/>
              <a:gd fmla="*/ 626139 h 743457" name="connsiteY18"/>
              <a:gd fmla="*/ 1519789 w 9683888" name="connsiteX19"/>
              <a:gd fmla="*/ 645011 h 743457" name="connsiteY19"/>
              <a:gd fmla="*/ 1620886 w 9683888" name="connsiteX20"/>
              <a:gd fmla="*/ 687715 h 743457" name="connsiteY20"/>
              <a:gd fmla="*/ 1676745 w 9683888" name="connsiteX21"/>
              <a:gd fmla="*/ 690130 h 743457" name="connsiteY21"/>
              <a:gd fmla="*/ 1832228 w 9683888" name="connsiteX22"/>
              <a:gd fmla="*/ 690860 h 743457" name="connsiteY22"/>
              <a:gd fmla="*/ 1980464 w 9683888" name="connsiteX23"/>
              <a:gd fmla="*/ 704858 h 743457" name="connsiteY23"/>
              <a:gd fmla="*/ 2051150 w 9683888" name="connsiteX24"/>
              <a:gd fmla="*/ 711187 h 743457" name="connsiteY24"/>
              <a:gd fmla="*/ 2162824 w 9683888" name="connsiteX25"/>
              <a:gd fmla="*/ 709178 h 743457" name="connsiteY25"/>
              <a:gd fmla="*/ 2259859 w 9683888" name="connsiteX26"/>
              <a:gd fmla="*/ 718188 h 743457" name="connsiteY26"/>
              <a:gd fmla="*/ 2378290 w 9683888" name="connsiteX27"/>
              <a:gd fmla="*/ 738748 h 743457" name="connsiteY27"/>
              <a:gd fmla="*/ 2407828 w 9683888" name="connsiteX28"/>
              <a:gd fmla="*/ 743457 h 743457" name="connsiteY28"/>
              <a:gd fmla="*/ 2428936 w 9683888" name="connsiteX29"/>
              <a:gd fmla="*/ 734697 h 743457" name="connsiteY29"/>
              <a:gd fmla="*/ 2646106 w 9683888" name="connsiteX30"/>
              <a:gd fmla="*/ 660204 h 743457" name="connsiteY30"/>
              <a:gd fmla="*/ 2799920 w 9683888" name="connsiteX31"/>
              <a:gd fmla="*/ 630451 h 743457" name="connsiteY31"/>
              <a:gd fmla="*/ 2953556 w 9683888" name="connsiteX32"/>
              <a:gd fmla="*/ 607173 h 743457" name="connsiteY32"/>
              <a:gd fmla="*/ 3009839 w 9683888" name="connsiteX33"/>
              <a:gd fmla="*/ 601743 h 743457" name="connsiteY33"/>
              <a:gd fmla="*/ 3115016 w 9683888" name="connsiteX34"/>
              <a:gd fmla="*/ 584982 h 743457" name="connsiteY34"/>
              <a:gd fmla="*/ 3185844 w 9683888" name="connsiteX35"/>
              <a:gd fmla="*/ 595356 h 743457" name="connsiteY35"/>
              <a:gd fmla="*/ 3246013 w 9683888" name="connsiteX36"/>
              <a:gd fmla="*/ 592418 h 743457" name="connsiteY36"/>
              <a:gd fmla="*/ 3313565 w 9683888" name="connsiteX37"/>
              <a:gd fmla="*/ 574138 h 743457" name="connsiteY37"/>
              <a:gd fmla="*/ 3414143 w 9683888" name="connsiteX38"/>
              <a:gd fmla="*/ 553730 h 743457" name="connsiteY38"/>
              <a:gd fmla="*/ 3552895 w 9683888" name="connsiteX39"/>
              <a:gd fmla="*/ 548563 h 743457" name="connsiteY39"/>
              <a:gd fmla="*/ 3753012 w 9683888" name="connsiteX40"/>
              <a:gd fmla="*/ 599520 h 743457" name="connsiteY40"/>
              <a:gd fmla="*/ 3804392 w 9683888" name="connsiteX41"/>
              <a:gd fmla="*/ 604131 h 743457" name="connsiteY41"/>
              <a:gd fmla="*/ 3916696 w 9683888" name="connsiteX42"/>
              <a:gd fmla="*/ 606540 h 743457" name="connsiteY42"/>
              <a:gd fmla="*/ 4063849 w 9683888" name="connsiteX43"/>
              <a:gd fmla="*/ 604058 h 743457" name="connsiteY43"/>
              <a:gd fmla="*/ 4172179 w 9683888" name="connsiteX44"/>
              <a:gd fmla="*/ 592355 h 743457" name="connsiteY44"/>
              <a:gd fmla="*/ 4276294 w 9683888" name="connsiteX45"/>
              <a:gd fmla="*/ 587119 h 743457" name="connsiteY45"/>
              <a:gd fmla="*/ 4411090 w 9683888" name="connsiteX46"/>
              <a:gd fmla="*/ 575600 h 743457" name="connsiteY46"/>
              <a:gd fmla="*/ 4540465 w 9683888" name="connsiteX47"/>
              <a:gd fmla="*/ 567464 h 743457" name="connsiteY47"/>
              <a:gd fmla="*/ 4545352 w 9683888" name="connsiteX48"/>
              <a:gd fmla="*/ 555554 h 743457" name="connsiteY48"/>
              <a:gd fmla="*/ 4564014 w 9683888" name="connsiteX49"/>
              <a:gd fmla="*/ 553660 h 743457" name="connsiteY49"/>
              <a:gd fmla="*/ 4568602 w 9683888" name="connsiteX50"/>
              <a:gd fmla="*/ 550913 h 743457" name="connsiteY50"/>
              <a:gd fmla="*/ 4595289 w 9683888" name="connsiteX51"/>
              <a:gd fmla="*/ 537407 h 743457" name="connsiteY51"/>
              <a:gd fmla="*/ 4739026 w 9683888" name="connsiteX52"/>
              <a:gd fmla="*/ 532483 h 743457" name="connsiteY52"/>
              <a:gd fmla="*/ 5061335 w 9683888" name="connsiteX53"/>
              <a:gd fmla="*/ 545635 h 743457" name="connsiteY53"/>
              <a:gd fmla="*/ 5338634 w 9683888" name="connsiteX54"/>
              <a:gd fmla="*/ 595754 h 743457" name="connsiteY54"/>
              <a:gd fmla="*/ 5529430 w 9683888" name="connsiteX55"/>
              <a:gd fmla="*/ 606335 h 743457" name="connsiteY55"/>
              <a:gd fmla="*/ 5604039 w 9683888" name="connsiteX56"/>
              <a:gd fmla="*/ 607676 h 743457" name="connsiteY56"/>
              <a:gd fmla="*/ 5625281 w 9683888" name="connsiteX57"/>
              <a:gd fmla="*/ 617253 h 743457" name="connsiteY57"/>
              <a:gd fmla="*/ 5628138 w 9683888" name="connsiteX58"/>
              <a:gd fmla="*/ 615483 h 743457" name="connsiteY58"/>
              <a:gd fmla="*/ 5653593 w 9683888" name="connsiteX59"/>
              <a:gd fmla="*/ 617873 h 743457" name="connsiteY59"/>
              <a:gd fmla="*/ 5658658 w 9683888" name="connsiteX60"/>
              <a:gd fmla="*/ 624279 h 743457" name="connsiteY60"/>
              <a:gd fmla="*/ 5675963 w 9683888" name="connsiteX61"/>
              <a:gd fmla="*/ 627762 h 743457" name="connsiteY61"/>
              <a:gd fmla="*/ 5709625 w 9683888" name="connsiteX62"/>
              <a:gd fmla="*/ 639593 h 743457" name="connsiteY62"/>
              <a:gd fmla="*/ 5716324 w 9683888" name="connsiteX63"/>
              <a:gd fmla="*/ 637148 h 743457" name="connsiteY63"/>
              <a:gd fmla="*/ 5767720 w 9683888" name="connsiteX64"/>
              <a:gd fmla="*/ 647737 h 743457" name="connsiteY64"/>
              <a:gd fmla="*/ 5768619 w 9683888" name="connsiteX65"/>
              <a:gd fmla="*/ 645671 h 743457" name="connsiteY65"/>
              <a:gd fmla="*/ 5858696 w 9683888" name="connsiteX66"/>
              <a:gd fmla="*/ 628099 h 743457" name="connsiteY66"/>
              <a:gd fmla="*/ 5935260 w 9683888" name="connsiteX67"/>
              <a:gd fmla="*/ 596904 h 743457" name="connsiteY67"/>
              <a:gd fmla="*/ 5946176 w 9683888" name="connsiteX68"/>
              <a:gd fmla="*/ 597874 h 743457" name="connsiteY68"/>
              <a:gd fmla="*/ 5946447 w 9683888" name="connsiteX69"/>
              <a:gd fmla="*/ 597396 h 743457" name="connsiteY69"/>
              <a:gd fmla="*/ 5958069 w 9683888" name="connsiteX70"/>
              <a:gd fmla="*/ 597432 h 743457" name="connsiteY70"/>
              <a:gd fmla="*/ 5966081 w 9683888" name="connsiteX71"/>
              <a:gd fmla="*/ 599643 h 743457" name="connsiteY71"/>
              <a:gd fmla="*/ 5987259 w 9683888" name="connsiteX72"/>
              <a:gd fmla="*/ 601523 h 743457" name="connsiteY72"/>
              <a:gd fmla="*/ 5994905 w 9683888" name="connsiteX73"/>
              <a:gd fmla="*/ 598873 h 743457" name="connsiteY73"/>
              <a:gd fmla="*/ 6054803 w 9683888" name="connsiteX74"/>
              <a:gd fmla="*/ 541202 h 743457" name="connsiteY74"/>
              <a:gd fmla="*/ 6188672 w 9683888" name="connsiteX75"/>
              <a:gd fmla="*/ 496389 h 743457" name="connsiteY75"/>
              <a:gd fmla="*/ 6323280 w 9683888" name="connsiteX76"/>
              <a:gd fmla="*/ 458013 h 743457" name="connsiteY76"/>
              <a:gd fmla="*/ 6457257 w 9683888" name="connsiteX77"/>
              <a:gd fmla="*/ 414621 h 743457" name="connsiteY77"/>
              <a:gd fmla="*/ 6530019 w 9683888" name="connsiteX78"/>
              <a:gd fmla="*/ 423168 h 743457" name="connsiteY78"/>
              <a:gd fmla="*/ 6626800 w 9683888" name="connsiteX79"/>
              <a:gd fmla="*/ 375078 h 743457" name="connsiteY79"/>
              <a:gd fmla="*/ 6689231 w 9683888" name="connsiteX80"/>
              <a:gd fmla="*/ 353501 h 743457" name="connsiteY80"/>
              <a:gd fmla="*/ 6726440 w 9683888" name="connsiteX81"/>
              <a:gd fmla="*/ 340276 h 743457" name="connsiteY81"/>
              <a:gd fmla="*/ 6835228 w 9683888" name="connsiteX82"/>
              <a:gd fmla="*/ 329393 h 743457" name="connsiteY82"/>
              <a:gd fmla="*/ 7039363 w 9683888" name="connsiteX83"/>
              <a:gd fmla="*/ 370823 h 743457" name="connsiteY83"/>
              <a:gd fmla="*/ 7095156 w 9683888" name="connsiteX84"/>
              <a:gd fmla="*/ 366075 h 743457" name="connsiteY84"/>
              <a:gd fmla="*/ 7187061 w 9683888" name="connsiteX85"/>
              <a:gd fmla="*/ 383876 h 743457" name="connsiteY85"/>
              <a:gd fmla="*/ 7295039 w 9683888" name="connsiteX86"/>
              <a:gd fmla="*/ 355046 h 743457" name="connsiteY86"/>
              <a:gd fmla="*/ 7373651 w 9683888" name="connsiteX87"/>
              <a:gd fmla="*/ 322299 h 743457" name="connsiteY87"/>
              <a:gd fmla="*/ 7418964 w 9683888" name="connsiteX88"/>
              <a:gd fmla="*/ 308685 h 743457" name="connsiteY88"/>
              <a:gd fmla="*/ 7450568 w 9683888" name="connsiteX89"/>
              <a:gd fmla="*/ 293511 h 743457" name="connsiteY89"/>
              <a:gd fmla="*/ 7538380 w 9683888" name="connsiteX90"/>
              <a:gd fmla="*/ 283235 h 743457" name="connsiteY90"/>
              <a:gd fmla="*/ 7786348 w 9683888" name="connsiteX91"/>
              <a:gd fmla="*/ 225377 h 743457" name="connsiteY91"/>
              <a:gd fmla="*/ 7849534 w 9683888" name="connsiteX92"/>
              <a:gd fmla="*/ 245434 h 743457" name="connsiteY92"/>
              <a:gd fmla="*/ 7981165 w 9683888" name="connsiteX93"/>
              <a:gd fmla="*/ 222252 h 743457" name="connsiteY93"/>
              <a:gd fmla="*/ 8171882 w 9683888" name="connsiteX94"/>
              <a:gd fmla="*/ 222497 h 743457" name="connsiteY94"/>
              <a:gd fmla="*/ 8242270 w 9683888" name="connsiteX95"/>
              <a:gd fmla="*/ 180535 h 743457" name="connsiteY95"/>
              <a:gd fmla="*/ 8490152 w 9683888" name="connsiteX96"/>
              <a:gd fmla="*/ 209193 h 743457" name="connsiteY96"/>
              <a:gd fmla="*/ 8622272 w 9683888" name="connsiteX97"/>
              <a:gd fmla="*/ 188859 h 743457" name="connsiteY97"/>
              <a:gd fmla="*/ 8738606 w 9683888" name="connsiteX98"/>
              <a:gd fmla="*/ 208945 h 743457" name="connsiteY98"/>
              <a:gd fmla="*/ 8831307 w 9683888" name="connsiteX99"/>
              <a:gd fmla="*/ 207738 h 743457" name="connsiteY99"/>
              <a:gd fmla="*/ 8891432 w 9683888" name="connsiteX100"/>
              <a:gd fmla="*/ 184510 h 743457" name="connsiteY100"/>
              <a:gd fmla="*/ 8946980 w 9683888" name="connsiteX101"/>
              <a:gd fmla="*/ 145578 h 743457" name="connsiteY101"/>
              <a:gd fmla="*/ 9107760 w 9683888" name="connsiteX102"/>
              <a:gd fmla="*/ 128052 h 743457" name="connsiteY102"/>
              <a:gd fmla="*/ 9195623 w 9683888" name="connsiteX103"/>
              <a:gd fmla="*/ 100212 h 743457" name="connsiteY103"/>
              <a:gd fmla="*/ 9256898 w 9683888" name="connsiteX104"/>
              <a:gd fmla="*/ 73900 h 743457" name="connsiteY104"/>
              <a:gd fmla="*/ 9351740 w 9683888" name="connsiteX105"/>
              <a:gd fmla="*/ 80439 h 743457" name="connsiteY105"/>
              <a:gd fmla="*/ 9539796 w 9683888" name="connsiteX106"/>
              <a:gd fmla="*/ 87069 h 743457" name="connsiteY106"/>
              <a:gd fmla="*/ 9619109 w 9683888" name="connsiteX107"/>
              <a:gd fmla="*/ 39994 h 743457" name="connsiteY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b="b" l="l" r="r" t="t"/>
            <a:pathLst>
              <a:path h="743457" w="9683888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E1CFC6-AF37-42EF-B66D-149FEE7F0024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2" r="-20"/>
          <a:stretch/>
        </p:blipFill>
        <p:spPr>
          <a:xfrm>
            <a:off x="4911213" y="1065153"/>
            <a:ext cx="1646391" cy="2192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31CB74-3909-4780-BBE7-8AFF0746E1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4" r="-16"/>
          <a:stretch/>
        </p:blipFill>
        <p:spPr>
          <a:xfrm>
            <a:off x="6797163" y="1081245"/>
            <a:ext cx="1646391" cy="2192538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35CD886-02A5-44BE-B07A-B120E39D7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04329"/>
            <a:ext cx="8010421" cy="1353672"/>
          </a:xfrm>
          <a:custGeom>
            <a:avLst/>
            <a:gdLst>
              <a:gd fmla="*/ 3617689 w 10680562" name="connsiteX0"/>
              <a:gd fmla="*/ 0 h 1605023" name="connsiteY0"/>
              <a:gd fmla="*/ 3635901 w 10680562" name="connsiteX1"/>
              <a:gd fmla="*/ 7738 h 1605023" name="connsiteY1"/>
              <a:gd fmla="*/ 3690891 w 10680562" name="connsiteX2"/>
              <a:gd fmla="*/ 7049 h 1605023" name="connsiteY2"/>
              <a:gd fmla="*/ 3832247 w 10680562" name="connsiteX3"/>
              <a:gd fmla="*/ 13937 h 1605023" name="connsiteY3"/>
              <a:gd fmla="*/ 3999111 w 10680562" name="connsiteX4"/>
              <a:gd fmla="*/ 44624 h 1605023" name="connsiteY4"/>
              <a:gd fmla="*/ 4034676 w 10680562" name="connsiteX5"/>
              <a:gd fmla="*/ 48775 h 1605023" name="connsiteY5"/>
              <a:gd fmla="*/ 4065394 w 10680562" name="connsiteX6"/>
              <a:gd fmla="*/ 42879 h 1605023" name="connsiteY6"/>
              <a:gd fmla="*/ 4072648 w 10680562" name="connsiteX7"/>
              <a:gd fmla="*/ 33262 h 1605023" name="connsiteY7"/>
              <a:gd fmla="*/ 4092232 w 10680562" name="connsiteX8"/>
              <a:gd fmla="*/ 34026 h 1605023" name="connsiteY8"/>
              <a:gd fmla="*/ 4097470 w 10680562" name="connsiteX9"/>
              <a:gd fmla="*/ 32252 h 1605023" name="connsiteY9"/>
              <a:gd fmla="*/ 4127488 w 10680562" name="connsiteX10"/>
              <a:gd fmla="*/ 24056 h 1605023" name="connsiteY10"/>
              <a:gd fmla="*/ 4190803 w 10680562" name="connsiteX11"/>
              <a:gd fmla="*/ 55685 h 1605023" name="connsiteY11"/>
              <a:gd fmla="*/ 4269333 w 10680562" name="connsiteX12"/>
              <a:gd fmla="*/ 54186 h 1605023" name="connsiteY12"/>
              <a:gd fmla="*/ 4481486 w 10680562" name="connsiteX13"/>
              <a:gd fmla="*/ 116915 h 1605023" name="connsiteY13"/>
              <a:gd fmla="*/ 4651418 w 10680562" name="connsiteX14"/>
              <a:gd fmla="*/ 150071 h 1605023" name="connsiteY14"/>
              <a:gd fmla="*/ 4863575 w 10680562" name="connsiteX15"/>
              <a:gd fmla="*/ 175458 h 1605023" name="connsiteY15"/>
              <a:gd fmla="*/ 5013635 w 10680562" name="connsiteX16"/>
              <a:gd fmla="*/ 213928 h 1605023" name="connsiteY16"/>
              <a:gd fmla="*/ 5203044 w 10680562" name="connsiteX17"/>
              <a:gd fmla="*/ 228946 h 1605023" name="connsiteY17"/>
              <a:gd fmla="*/ 5207070 w 10680562" name="connsiteX18"/>
              <a:gd fmla="*/ 235105 h 1605023" name="connsiteY18"/>
              <a:gd fmla="*/ 5224253 w 10680562" name="connsiteX19"/>
              <a:gd fmla="*/ 240320 h 1605023" name="connsiteY19"/>
              <a:gd fmla="*/ 5256736 w 10680562" name="connsiteX20"/>
              <a:gd fmla="*/ 254811 h 1605023" name="connsiteY20"/>
              <a:gd fmla="*/ 5264095 w 10680562" name="connsiteX21"/>
              <a:gd fmla="*/ 253567 h 1605023" name="connsiteY21"/>
              <a:gd fmla="*/ 5315084 w 10680562" name="connsiteX22"/>
              <a:gd fmla="*/ 269264 h 1605023" name="connsiteY22"/>
              <a:gd fmla="*/ 5316393 w 10680562" name="connsiteX23"/>
              <a:gd fmla="*/ 267603 h 1605023" name="connsiteY23"/>
              <a:gd fmla="*/ 5333427 w 10680562" name="connsiteX24"/>
              <a:gd fmla="*/ 263823 h 1605023" name="connsiteY24"/>
              <a:gd fmla="*/ 5364589 w 10680562" name="connsiteX25"/>
              <a:gd fmla="*/ 260882 h 1605023" name="connsiteY25"/>
              <a:gd fmla="*/ 5443973 w 10680562" name="connsiteX26"/>
              <a:gd fmla="*/ 230866 h 1605023" name="connsiteY26"/>
              <a:gd fmla="*/ 5497201 w 10680562" name="connsiteX27"/>
              <a:gd fmla="*/ 247023 h 1605023" name="connsiteY27"/>
              <a:gd fmla="*/ 5508269 w 10680562" name="connsiteX28"/>
              <a:gd fmla="*/ 249256 h 1605023" name="connsiteY28"/>
              <a:gd fmla="*/ 5508636 w 10680562" name="connsiteX29"/>
              <a:gd fmla="*/ 248880 h 1605023" name="connsiteY29"/>
              <a:gd fmla="*/ 5520606 w 10680562" name="connsiteX30"/>
              <a:gd fmla="*/ 250400 h 1605023" name="connsiteY30"/>
              <a:gd fmla="*/ 5528451 w 10680562" name="connsiteX31"/>
              <a:gd fmla="*/ 253330 h 1605023" name="connsiteY31"/>
              <a:gd fmla="*/ 5549923 w 10680562" name="connsiteX32"/>
              <a:gd fmla="*/ 257662 h 1605023" name="connsiteY32"/>
              <a:gd fmla="*/ 5558295 w 10680562" name="connsiteX33"/>
              <a:gd fmla="*/ 256364 h 1605023" name="connsiteY33"/>
              <a:gd fmla="*/ 5664799 w 10680562" name="connsiteX34"/>
              <a:gd fmla="*/ 278924 h 1605023" name="connsiteY34"/>
              <a:gd fmla="*/ 5796160 w 10680562" name="connsiteX35"/>
              <a:gd fmla="*/ 307979 h 1605023" name="connsiteY35"/>
              <a:gd fmla="*/ 5897647 w 10680562" name="connsiteX36"/>
              <a:gd fmla="*/ 339431 h 1605023" name="connsiteY36"/>
              <a:gd fmla="*/ 5978838 w 10680562" name="connsiteX37"/>
              <a:gd fmla="*/ 367970 h 1605023" name="connsiteY37"/>
              <a:gd fmla="*/ 6050367 w 10680562" name="connsiteX38"/>
              <a:gd fmla="*/ 386341 h 1605023" name="connsiteY38"/>
              <a:gd fmla="*/ 6140609 w 10680562" name="connsiteX39"/>
              <a:gd fmla="*/ 385135 h 1605023" name="connsiteY39"/>
              <a:gd fmla="*/ 6302950 w 10680562" name="connsiteX40"/>
              <a:gd fmla="*/ 448183 h 1605023" name="connsiteY40"/>
              <a:gd fmla="*/ 6308533 w 10680562" name="connsiteX41"/>
              <a:gd fmla="*/ 448551 h 1605023" name="connsiteY41"/>
              <a:gd fmla="*/ 6340278 w 10680562" name="connsiteX42"/>
              <a:gd fmla="*/ 468555 h 1605023" name="connsiteY42"/>
              <a:gd fmla="*/ 6341685 w 10680562" name="connsiteX43"/>
              <a:gd fmla="*/ 467587 h 1605023" name="connsiteY43"/>
              <a:gd fmla="*/ 6354862 w 10680562" name="connsiteX44"/>
              <a:gd fmla="*/ 467794 h 1605023" name="connsiteY44"/>
              <a:gd fmla="*/ 6377840 w 10680562" name="connsiteX45"/>
              <a:gd fmla="*/ 471024 h 1605023" name="connsiteY45"/>
              <a:gd fmla="*/ 6442804 w 10680562" name="connsiteX46"/>
              <a:gd fmla="*/ 463091 h 1605023" name="connsiteY46"/>
              <a:gd fmla="*/ 6476009 w 10680562" name="connsiteX47"/>
              <a:gd fmla="*/ 483807 h 1605023" name="connsiteY47"/>
              <a:gd fmla="*/ 6483237 w 10680562" name="connsiteX48"/>
              <a:gd fmla="*/ 487308 h 1605023" name="connsiteY48"/>
              <a:gd fmla="*/ 6483605 w 10680562" name="connsiteX49"/>
              <a:gd fmla="*/ 487102 h 1605023" name="connsiteY49"/>
              <a:gd fmla="*/ 6491673 w 10680562" name="connsiteX50"/>
              <a:gd fmla="*/ 490243 h 1605023" name="connsiteY50"/>
              <a:gd fmla="*/ 6496411 w 10680562" name="connsiteX51"/>
              <a:gd fmla="*/ 493689 h 1605023" name="connsiteY51"/>
              <a:gd fmla="*/ 6510429 w 10680562" name="connsiteX52"/>
              <a:gd fmla="*/ 500479 h 1605023" name="connsiteY52"/>
              <a:gd fmla="*/ 6516750 w 10680562" name="connsiteX53"/>
              <a:gd fmla="*/ 500983 h 1605023" name="connsiteY53"/>
              <a:gd fmla="*/ 6580199 w 10680562" name="connsiteX54"/>
              <a:gd fmla="*/ 483318 h 1605023" name="connsiteY54"/>
              <a:gd fmla="*/ 6690237 w 10680562" name="connsiteX55"/>
              <a:gd fmla="*/ 493051 h 1605023" name="connsiteY55"/>
              <a:gd fmla="*/ 6798356 w 10680562" name="connsiteX56"/>
              <a:gd fmla="*/ 506748 h 1605023" name="connsiteY56"/>
              <a:gd fmla="*/ 6837102 w 10680562" name="connsiteX57"/>
              <a:gd fmla="*/ 513677 h 1605023" name="connsiteY57"/>
              <a:gd fmla="*/ 6907934 w 10680562" name="connsiteX58"/>
              <a:gd fmla="*/ 517339 h 1605023" name="connsiteY58"/>
              <a:gd fmla="*/ 6941474 w 10680562" name="connsiteX59"/>
              <a:gd fmla="*/ 513632 h 1605023" name="connsiteY59"/>
              <a:gd fmla="*/ 6942754 w 10680562" name="connsiteX60"/>
              <a:gd fmla="*/ 514394 h 1605023" name="connsiteY60"/>
              <a:gd fmla="*/ 6946363 w 10680562" name="connsiteX61"/>
              <a:gd fmla="*/ 511066 h 1605023" name="connsiteY61"/>
              <a:gd fmla="*/ 6952592 w 10680562" name="connsiteX62"/>
              <a:gd fmla="*/ 510252 h 1605023" name="connsiteY62"/>
              <a:gd fmla="*/ 6968398 w 10680562" name="connsiteX63"/>
              <a:gd fmla="*/ 513946 h 1605023" name="connsiteY63"/>
              <a:gd fmla="*/ 6974142 w 10680562" name="connsiteX64"/>
              <a:gd fmla="*/ 516310 h 1605023" name="connsiteY64"/>
              <a:gd fmla="*/ 6982971 w 10680562" name="connsiteX65"/>
              <a:gd fmla="*/ 517694 h 1605023" name="connsiteY65"/>
              <a:gd fmla="*/ 6983252 w 10680562" name="connsiteX66"/>
              <a:gd fmla="*/ 517416 h 1605023" name="connsiteY66"/>
              <a:gd fmla="*/ 6991400 w 10680562" name="connsiteX67"/>
              <a:gd fmla="*/ 519321 h 1605023" name="connsiteY67"/>
              <a:gd fmla="*/ 7030460 w 10680562" name="connsiteX68"/>
              <a:gd fmla="*/ 532556 h 1605023" name="connsiteY68"/>
              <a:gd fmla="*/ 7089916 w 10680562" name="connsiteX69"/>
              <a:gd fmla="*/ 511503 h 1605023" name="connsiteY69"/>
              <a:gd fmla="*/ 7113059 w 10680562" name="connsiteX70"/>
              <a:gd fmla="*/ 509904 h 1605023" name="connsiteY70"/>
              <a:gd fmla="*/ 7125755 w 10680562" name="connsiteX71"/>
              <a:gd fmla="*/ 507393 h 1605023" name="connsiteY71"/>
              <a:gd fmla="*/ 7126765 w 10680562" name="connsiteX72"/>
              <a:gd fmla="*/ 506166 h 1605023" name="connsiteY72"/>
              <a:gd fmla="*/ 7164175 w 10680562" name="connsiteX73"/>
              <a:gd fmla="*/ 519011 h 1605023" name="connsiteY73"/>
              <a:gd fmla="*/ 7169654 w 10680562" name="connsiteX74"/>
              <a:gd fmla="*/ 518219 h 1605023" name="connsiteY74"/>
              <a:gd fmla="*/ 7193386 w 10680562" name="connsiteX75"/>
              <a:gd fmla="*/ 529788 h 1605023" name="connsiteY75"/>
              <a:gd fmla="*/ 7205997 w 10680562" name="connsiteX76"/>
              <a:gd fmla="*/ 534060 h 1605023" name="connsiteY76"/>
              <a:gd fmla="*/ 7208842 w 10680562" name="connsiteX77"/>
              <a:gd fmla="*/ 538783 h 1605023" name="connsiteY77"/>
              <a:gd fmla="*/ 7227817 w 10680562" name="connsiteX78"/>
              <a:gd fmla="*/ 543304 h 1605023" name="connsiteY78"/>
              <a:gd fmla="*/ 7230267 w 10680562" name="connsiteX79"/>
              <a:gd fmla="*/ 542497 h 1605023" name="connsiteY79"/>
              <a:gd fmla="*/ 7244913 w 10680562" name="connsiteX80"/>
              <a:gd fmla="*/ 551160 h 1605023" name="connsiteY80"/>
              <a:gd fmla="*/ 7255970 w 10680562" name="connsiteX81"/>
              <a:gd fmla="*/ 564383 h 1605023" name="connsiteY81"/>
              <a:gd fmla="*/ 7421156 w 10680562" name="connsiteX82"/>
              <a:gd fmla="*/ 584155 h 1605023" name="connsiteY82"/>
              <a:gd fmla="*/ 7553166 w 10680562" name="connsiteX83"/>
              <a:gd fmla="*/ 653085 h 1605023" name="connsiteY83"/>
              <a:gd fmla="*/ 7643092 w 10680562" name="connsiteX84"/>
              <a:gd fmla="*/ 662482 h 1605023" name="connsiteY84"/>
              <a:gd fmla="*/ 7896429 w 10680562" name="connsiteX85"/>
              <a:gd fmla="*/ 689054 h 1605023" name="connsiteY85"/>
              <a:gd fmla="*/ 7954620 w 10680562" name="connsiteX86"/>
              <a:gd fmla="*/ 689481 h 1605023" name="connsiteY86"/>
              <a:gd fmla="*/ 8000803 w 10680562" name="connsiteX87"/>
              <a:gd fmla="*/ 714583 h 1605023" name="connsiteY87"/>
              <a:gd fmla="*/ 8023216 w 10680562" name="connsiteX88"/>
              <a:gd fmla="*/ 709000 h 1605023" name="connsiteY88"/>
              <a:gd fmla="*/ 8027136 w 10680562" name="connsiteX89"/>
              <a:gd fmla="*/ 707765 h 1605023" name="connsiteY89"/>
              <a:gd fmla="*/ 8041622 w 10680562" name="connsiteX90"/>
              <a:gd fmla="*/ 708731 h 1605023" name="connsiteY90"/>
              <a:gd fmla="*/ 8047209 w 10680562" name="connsiteX91"/>
              <a:gd fmla="*/ 701624 h 1605023" name="connsiteY91"/>
              <a:gd fmla="*/ 8070088 w 10680562" name="connsiteX92"/>
              <a:gd fmla="*/ 697789 h 1605023" name="connsiteY92"/>
              <a:gd fmla="*/ 8096332 w 10680562" name="connsiteX93"/>
              <a:gd fmla="*/ 701624 h 1605023" name="connsiteY93"/>
              <a:gd fmla="*/ 8219225 w 10680562" name="connsiteX94"/>
              <a:gd fmla="*/ 728069 h 1605023" name="connsiteY94"/>
              <a:gd fmla="*/ 8293793 w 10680562" name="connsiteX95"/>
              <a:gd fmla="*/ 739200 h 1605023" name="connsiteY95"/>
              <a:gd fmla="*/ 8323753 w 10680562" name="connsiteX96"/>
              <a:gd fmla="*/ 736063 h 1605023" name="connsiteY96"/>
              <a:gd fmla="*/ 8364496 w 10680562" name="connsiteX97"/>
              <a:gd fmla="*/ 736635 h 1605023" name="connsiteY97"/>
              <a:gd fmla="*/ 8437662 w 10680562" name="connsiteX98"/>
              <a:gd fmla="*/ 731942 h 1605023" name="connsiteY98"/>
              <a:gd fmla="*/ 8533764 w 10680562" name="connsiteX99"/>
              <a:gd fmla="*/ 735554 h 1605023" name="connsiteY99"/>
              <a:gd fmla="*/ 8596769 w 10680562" name="connsiteX100"/>
              <a:gd fmla="*/ 769632 h 1605023" name="connsiteY100"/>
              <a:gd fmla="*/ 8604035 w 10680562" name="connsiteX101"/>
              <a:gd fmla="*/ 764982 h 1605023" name="connsiteY101"/>
              <a:gd fmla="*/ 8650929 w 10680562" name="connsiteX102"/>
              <a:gd fmla="*/ 773164 h 1605023" name="connsiteY102"/>
              <a:gd fmla="*/ 8806497 w 10680562" name="connsiteX103"/>
              <a:gd fmla="*/ 839707 h 1605023" name="connsiteY103"/>
              <a:gd fmla="*/ 8898377 w 10680562" name="connsiteX104"/>
              <a:gd fmla="*/ 854651 h 1605023" name="connsiteY104"/>
              <a:gd fmla="*/ 8932389 w 10680562" name="connsiteX105"/>
              <a:gd fmla="*/ 853846 h 1605023" name="connsiteY105"/>
              <a:gd fmla="*/ 8989288 w 10680562" name="connsiteX106"/>
              <a:gd fmla="*/ 852877 h 1605023" name="connsiteY106"/>
              <a:gd fmla="*/ 9035275 w 10680562" name="connsiteX107"/>
              <a:gd fmla="*/ 837110 h 1605023" name="connsiteY107"/>
              <a:gd fmla="*/ 9138626 w 10680562" name="connsiteX108"/>
              <a:gd fmla="*/ 862106 h 1605023" name="connsiteY108"/>
              <a:gd fmla="*/ 9216298 w 10680562" name="connsiteX109"/>
              <a:gd fmla="*/ 858754 h 1605023" name="connsiteY109"/>
              <a:gd fmla="*/ 9259941 w 10680562" name="connsiteX110"/>
              <a:gd fmla="*/ 861843 h 1605023" name="connsiteY110"/>
              <a:gd fmla="*/ 9380407 w 10680562" name="connsiteX111"/>
              <a:gd fmla="*/ 864825 h 1605023" name="connsiteY111"/>
              <a:gd fmla="*/ 9490772 w 10680562" name="connsiteX112"/>
              <a:gd fmla="*/ 901190 h 1605023" name="connsiteY112"/>
              <a:gd fmla="*/ 9584982 w 10680562" name="connsiteX113"/>
              <a:gd fmla="*/ 935980 h 1605023" name="connsiteY113"/>
              <a:gd fmla="*/ 9759797 w 10680562" name="connsiteX114"/>
              <a:gd fmla="*/ 1010923 h 1605023" name="connsiteY114"/>
              <a:gd fmla="*/ 9834455 w 10680562" name="connsiteX115"/>
              <a:gd fmla="*/ 1082908 h 1605023" name="connsiteY115"/>
              <a:gd fmla="*/ 9939504 w 10680562" name="connsiteX116"/>
              <a:gd fmla="*/ 1110614 h 1605023" name="connsiteY116"/>
              <a:gd fmla="*/ 10077001 w 10680562" name="connsiteX117"/>
              <a:gd fmla="*/ 1160906 h 1605023" name="connsiteY117"/>
              <a:gd fmla="*/ 10178431 w 10680562" name="connsiteX118"/>
              <a:gd fmla="*/ 1244920 h 1605023" name="connsiteY118"/>
              <a:gd fmla="*/ 10248658 w 10680562" name="connsiteX119"/>
              <a:gd fmla="*/ 1309335 h 1605023" name="connsiteY119"/>
              <a:gd fmla="*/ 10414709 w 10680562" name="connsiteX120"/>
              <a:gd fmla="*/ 1388645 h 1605023" name="connsiteY120"/>
              <a:gd fmla="*/ 10592469 w 10680562" name="connsiteX121"/>
              <a:gd fmla="*/ 1543828 h 1605023" name="connsiteY121"/>
              <a:gd fmla="*/ 10674941 w 10680562" name="connsiteX122"/>
              <a:gd fmla="*/ 1597388 h 1605023" name="connsiteY122"/>
              <a:gd fmla="*/ 10680562 w 10680562" name="connsiteX123"/>
              <a:gd fmla="*/ 1605023 h 1605023" name="connsiteY123"/>
              <a:gd fmla="*/ 0 w 10680562" name="connsiteX124"/>
              <a:gd fmla="*/ 1605023 h 1605023" name="connsiteY124"/>
              <a:gd fmla="*/ 0 w 10680562" name="connsiteX125"/>
              <a:gd fmla="*/ 415048 h 1605023" name="connsiteY125"/>
              <a:gd fmla="*/ 9656 w 10680562" name="connsiteX126"/>
              <a:gd fmla="*/ 416044 h 1605023" name="connsiteY126"/>
              <a:gd fmla="*/ 179196 w 10680562" name="connsiteX127"/>
              <a:gd fmla="*/ 423071 h 1605023" name="connsiteY127"/>
              <a:gd fmla="*/ 250912 w 10680562" name="connsiteX128"/>
              <a:gd fmla="*/ 408617 h 1605023" name="connsiteY128"/>
              <a:gd fmla="*/ 291375 w 10680562" name="connsiteX129"/>
              <a:gd fmla="*/ 403710 h 1605023" name="connsiteY129"/>
              <a:gd fmla="*/ 320542 w 10680562" name="connsiteX130"/>
              <a:gd fmla="*/ 396592 h 1605023" name="connsiteY130"/>
              <a:gd fmla="*/ 522426 w 10680562" name="connsiteX131"/>
              <a:gd fmla="*/ 407158 h 1605023" name="connsiteY131"/>
              <a:gd fmla="*/ 549068 w 10680562" name="connsiteX132"/>
              <a:gd fmla="*/ 407418 h 1605023" name="connsiteY132"/>
              <a:gd fmla="*/ 571100 w 10680562" name="connsiteX133"/>
              <a:gd fmla="*/ 400562 h 1605023" name="connsiteY133"/>
              <a:gd fmla="*/ 575457 w 10680562" name="connsiteX134"/>
              <a:gd fmla="*/ 392801 h 1605023" name="connsiteY134"/>
              <a:gd fmla="*/ 589968 w 10680562" name="connsiteX135"/>
              <a:gd fmla="*/ 391807 h 1605023" name="connsiteY135"/>
              <a:gd fmla="*/ 593649 w 10680562" name="connsiteX136"/>
              <a:gd fmla="*/ 390062 h 1605023" name="connsiteY136"/>
              <a:gd fmla="*/ 614928 w 10680562" name="connsiteX137"/>
              <a:gd fmla="*/ 381544 h 1605023" name="connsiteY137"/>
              <a:gd fmla="*/ 722580 w 10680562" name="connsiteX138"/>
              <a:gd fmla="*/ 392722 h 1605023" name="connsiteY138"/>
              <a:gd fmla="*/ 946884 w 10680562" name="connsiteX139"/>
              <a:gd fmla="*/ 411854 h 1605023" name="connsiteY139"/>
              <a:gd fmla="*/ 1210905 w 10680562" name="connsiteX140"/>
              <a:gd fmla="*/ 432414 h 1605023" name="connsiteY140"/>
              <a:gd fmla="*/ 1377854 w 10680562" name="connsiteX141"/>
              <a:gd fmla="*/ 429745 h 1605023" name="connsiteY141"/>
              <a:gd fmla="*/ 1391004 w 10680562" name="connsiteX142"/>
              <a:gd fmla="*/ 441307 h 1605023" name="connsiteY142"/>
              <a:gd fmla="*/ 1406953 w 10680562" name="connsiteX143"/>
              <a:gd fmla="*/ 447889 h 1605023" name="connsiteY143"/>
              <a:gd fmla="*/ 1409246 w 10680562" name="connsiteX144"/>
              <a:gd fmla="*/ 446765 h 1605023" name="connsiteY144"/>
              <a:gd fmla="*/ 1428800 w 10680562" name="connsiteX145"/>
              <a:gd fmla="*/ 448677 h 1605023" name="connsiteY145"/>
              <a:gd fmla="*/ 1432402 w 10680562" name="connsiteX146"/>
              <a:gd fmla="*/ 452956 h 1605023" name="connsiteY146"/>
              <a:gd fmla="*/ 1606578 w 10680562" name="connsiteX147"/>
              <a:gd fmla="*/ 430870 h 1605023" name="connsiteY147"/>
              <a:gd fmla="*/ 1647476 w 10680562" name="connsiteX148"/>
              <a:gd fmla="*/ 438687 h 1605023" name="connsiteY148"/>
              <a:gd fmla="*/ 1655866 w 10680562" name="connsiteX149"/>
              <a:gd fmla="*/ 439472 h 1605023" name="connsiteY149"/>
              <a:gd fmla="*/ 1656096 w 10680562" name="connsiteX150"/>
              <a:gd fmla="*/ 439162 h 1605023" name="connsiteY150"/>
              <a:gd fmla="*/ 1670708 w 10680562" name="connsiteX151"/>
              <a:gd fmla="*/ 412530 h 1605023" name="connsiteY151"/>
              <a:gd fmla="*/ 1737953 w 10680562" name="connsiteX152"/>
              <a:gd fmla="*/ 399496 h 1605023" name="connsiteY152"/>
              <a:gd fmla="*/ 1848192 w 10680562" name="connsiteX153"/>
              <a:gd fmla="*/ 376032 h 1605023" name="connsiteY153"/>
              <a:gd fmla="*/ 1954077 w 10680562" name="connsiteX154"/>
              <a:gd fmla="*/ 352621 h 1605023" name="connsiteY154"/>
              <a:gd fmla="*/ 1993047 w 10680562" name="connsiteX155"/>
              <a:gd fmla="*/ 346068 h 1605023" name="connsiteY155"/>
              <a:gd fmla="*/ 2059719 w 10680562" name="connsiteX156"/>
              <a:gd fmla="*/ 325903 h 1605023" name="connsiteY156"/>
              <a:gd fmla="*/ 2088528 w 10680562" name="connsiteX157"/>
              <a:gd fmla="*/ 311409 h 1605023" name="connsiteY157"/>
              <a:gd fmla="*/ 2090087 w 10680562" name="connsiteX158"/>
              <a:gd fmla="*/ 311676 h 1605023" name="connsiteY158"/>
              <a:gd fmla="*/ 2091700 w 10680562" name="connsiteX159"/>
              <a:gd fmla="*/ 307455 h 1605023" name="connsiteY159"/>
              <a:gd fmla="*/ 2096989 w 10680562" name="connsiteX160"/>
              <a:gd fmla="*/ 304649 h 1605023" name="connsiteY160"/>
              <a:gd fmla="*/ 2113325 w 10680562" name="connsiteX161"/>
              <a:gd fmla="*/ 302764 h 1605023" name="connsiteY161"/>
              <a:gd fmla="*/ 2119780 w 10680562" name="connsiteX162"/>
              <a:gd fmla="*/ 303007 h 1605023" name="connsiteY162"/>
              <a:gd fmla="*/ 2128562 w 10680562" name="connsiteX163"/>
              <a:gd fmla="*/ 301336 h 1605023" name="connsiteY163"/>
              <a:gd fmla="*/ 2128679 w 10680562" name="connsiteX164"/>
              <a:gd fmla="*/ 300991 h 1605023" name="connsiteY164"/>
              <a:gd fmla="*/ 2179558 w 10680562" name="connsiteX165"/>
              <a:gd fmla="*/ 299095 h 1605023" name="connsiteY165"/>
              <a:gd fmla="*/ 2223277 w 10680562" name="connsiteX166"/>
              <a:gd fmla="*/ 260239 h 1605023" name="connsiteY166"/>
              <a:gd fmla="*/ 2243644 w 10680562" name="connsiteX167"/>
              <a:gd fmla="*/ 251110 h 1605023" name="connsiteY167"/>
              <a:gd fmla="*/ 2253986 w 10680562" name="connsiteX168"/>
              <a:gd fmla="*/ 244616 h 1605023" name="connsiteY168"/>
              <a:gd fmla="*/ 2254285 w 10680562" name="connsiteX169"/>
              <a:gd fmla="*/ 243167 h 1605023" name="connsiteY169"/>
              <a:gd fmla="*/ 2295037 w 10680562" name="connsiteX170"/>
              <a:gd fmla="*/ 242433 h 1605023" name="connsiteY170"/>
              <a:gd fmla="*/ 2299648 w 10680562" name="connsiteX171"/>
              <a:gd fmla="*/ 239896 h 1605023" name="connsiteY171"/>
              <a:gd fmla="*/ 2327237 w 10680562" name="connsiteX172"/>
              <a:gd fmla="*/ 242539 h 1605023" name="connsiteY172"/>
              <a:gd fmla="*/ 2340943 w 10680562" name="connsiteX173"/>
              <a:gd fmla="*/ 242239 h 1605023" name="connsiteY173"/>
              <a:gd fmla="*/ 2345943 w 10680562" name="connsiteX174"/>
              <a:gd fmla="*/ 245589 h 1605023" name="connsiteY174"/>
              <a:gd fmla="*/ 2365602 w 10680562" name="connsiteX175"/>
              <a:gd fmla="*/ 243403 h 1605023" name="connsiteY175"/>
              <a:gd fmla="*/ 2367433 w 10680562" name="connsiteX176"/>
              <a:gd fmla="*/ 241858 h 1605023" name="connsiteY176"/>
              <a:gd fmla="*/ 2385231 w 10680562" name="connsiteX177"/>
              <a:gd fmla="*/ 244873 h 1605023" name="connsiteY177"/>
              <a:gd fmla="*/ 2402059 w 10680562" name="connsiteX178"/>
              <a:gd fmla="*/ 253223 h 1605023" name="connsiteY178"/>
              <a:gd fmla="*/ 2719020 w 10680562" name="connsiteX179"/>
              <a:gd fmla="*/ 235271 h 1605023" name="connsiteY179"/>
              <a:gd fmla="*/ 2877308 w 10680562" name="connsiteX180"/>
              <a:gd fmla="*/ 208630 h 1605023" name="connsiteY180"/>
              <a:gd fmla="*/ 3051375 w 10680562" name="connsiteX181"/>
              <a:gd fmla="*/ 154110 h 1605023" name="connsiteY181"/>
              <a:gd fmla="*/ 3104837 w 10680562" name="connsiteX182"/>
              <a:gd fmla="*/ 135199 h 1605023" name="connsiteY182"/>
              <a:gd fmla="*/ 3159836 w 10680562" name="connsiteX183"/>
              <a:gd fmla="*/ 142694 h 1605023" name="connsiteY183"/>
              <a:gd fmla="*/ 3177510 w 10680562" name="connsiteX184"/>
              <a:gd fmla="*/ 130186 h 1605023" name="connsiteY184"/>
              <a:gd fmla="*/ 3180470 w 10680562" name="connsiteX185"/>
              <a:gd fmla="*/ 127764 h 1605023" name="connsiteY185"/>
              <a:gd fmla="*/ 3194216 w 10680562" name="connsiteX186"/>
              <a:gd fmla="*/ 123837 h 1605023" name="connsiteY186"/>
              <a:gd fmla="*/ 3214710 w 10680562" name="connsiteX187"/>
              <a:gd fmla="*/ 104451 h 1605023" name="connsiteY187"/>
              <a:gd fmla="*/ 3240671 w 10680562" name="connsiteX188"/>
              <a:gd fmla="*/ 99232 h 1605023" name="connsiteY188"/>
              <a:gd fmla="*/ 3366544 w 10680562" name="connsiteX189"/>
              <a:gd fmla="*/ 82506 h 1605023" name="connsiteY189"/>
              <a:gd fmla="*/ 3440424 w 10680562" name="connsiteX190"/>
              <a:gd fmla="*/ 67891 h 1605023" name="connsiteY190"/>
              <a:gd fmla="*/ 3466248 w 10680562" name="connsiteX191"/>
              <a:gd fmla="*/ 55103 h 1605023" name="connsiteY191"/>
              <a:gd fmla="*/ 3503820 w 10680562" name="connsiteX192"/>
              <a:gd fmla="*/ 42110 h 1605023" name="connsiteY192"/>
              <a:gd fmla="*/ 3568389 w 10680562" name="connsiteX193"/>
              <a:gd fmla="*/ 13576 h 1605023" name="connsiteY193"/>
              <a:gd fmla="*/ 3604089 w 10680562" name="connsiteX194"/>
              <a:gd fmla="*/ 6980 h 1605023" name="connsiteY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b="b" l="l" r="r" t="t"/>
            <a:pathLst>
              <a:path h="1605023" w="10680562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algn="ctr" cap="flat" cmpd="sng" w="12700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2DE736-DAEC-4A4B-A682-513A380583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-2" r="25"/>
          <a:stretch/>
        </p:blipFill>
        <p:spPr>
          <a:xfrm>
            <a:off x="4911213" y="3588078"/>
            <a:ext cx="1646391" cy="1953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AEE782-76D9-4AB8-B481-B52FD769B8E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" r="-32"/>
          <a:stretch/>
        </p:blipFill>
        <p:spPr>
          <a:xfrm>
            <a:off x="6797163" y="3588078"/>
            <a:ext cx="1646391" cy="19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06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EF8ED-272B-4C8D-8792-A23B20359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Accurate analysis</a:t>
            </a:r>
          </a:p>
          <a:p>
            <a:r>
              <a:rPr lang="en-US" dirty="0">
                <a:solidFill>
                  <a:srgbClr val="000000"/>
                </a:solidFill>
              </a:rPr>
              <a:t>G</a:t>
            </a:r>
            <a:r>
              <a:rPr lang="en-US" b="0" i="0" dirty="0">
                <a:solidFill>
                  <a:srgbClr val="000000"/>
                </a:solidFill>
                <a:effectLst/>
              </a:rPr>
              <a:t>reater operational efficiencies,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cost reductions,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and reduced risks for the business.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9A52DE-4C34-4862-ACA7-255DAC3A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Big Data Technologies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948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A52DE-4C34-4862-ACA7-255DAC3A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Big Data Technologies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B6111A-F40A-4408-B7D2-E4589784D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7659"/>
          <a:stretch/>
        </p:blipFill>
        <p:spPr>
          <a:xfrm>
            <a:off x="923350" y="1900024"/>
            <a:ext cx="3166329" cy="3057952"/>
          </a:xfr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B2C0E3-3E61-4D42-B3F3-1AFB6B7136FA}"/>
              </a:ext>
            </a:extLst>
          </p:cNvPr>
          <p:cNvSpPr/>
          <p:nvPr/>
        </p:nvSpPr>
        <p:spPr>
          <a:xfrm>
            <a:off x="1283769" y="5192042"/>
            <a:ext cx="2445489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Structure</a:t>
            </a:r>
            <a:endParaRPr lang="en-IN" sz="2200" dirty="0">
              <a:latin typeface="Bahnschrift" panose="020B05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5FB174-177F-40F2-AB8F-51D0B5BC2CB4}"/>
              </a:ext>
            </a:extLst>
          </p:cNvPr>
          <p:cNvSpPr/>
          <p:nvPr/>
        </p:nvSpPr>
        <p:spPr>
          <a:xfrm>
            <a:off x="5434778" y="5192041"/>
            <a:ext cx="2264735" cy="58479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Bahnschrift" panose="020B0502040204020203" pitchFamily="34" charset="0"/>
              </a:rPr>
              <a:t>Unstructured</a:t>
            </a:r>
            <a:endParaRPr lang="en-IN" sz="2200" dirty="0">
              <a:latin typeface="Bahnschrift" panose="020B0502040204020203" pitchFamily="34" charset="0"/>
            </a:endParaRP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E85A7364-C2BD-46EB-B393-9432707C87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659"/>
          <a:stretch/>
        </p:blipFill>
        <p:spPr>
          <a:xfrm>
            <a:off x="4983982" y="1900024"/>
            <a:ext cx="3166329" cy="3057952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2951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F8AAABF-193E-4661-945E-C429586E1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5168390" cy="5546414"/>
          </a:xfrm>
          <a:prstGeom prst="rect">
            <a:avLst/>
          </a:prstGeom>
          <a:solidFill>
            <a:schemeClr val="bg1">
              <a:alpha val="20000"/>
            </a:schemeClr>
          </a:solidFill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FFF52B-3EF4-46AF-AB12-A6492AC09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1044575"/>
            <a:ext cx="4691063" cy="1444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A8FF28-96B5-47DA-9E1E-8CDDADA66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5" y="2546350"/>
            <a:ext cx="4691063" cy="2038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3C52D6-4D7F-41C2-8A74-924D2A393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25" y="4641850"/>
            <a:ext cx="4691063" cy="114776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89A52DE-4C34-4862-ACA7-255DAC3A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115" y="2334910"/>
            <a:ext cx="3054098" cy="2163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b="0" i="0" kern="1200">
                <a:solidFill>
                  <a:schemeClr val="tx1"/>
                </a:solidFill>
                <a:effectLst/>
                <a:ea typeface="+mj-ea"/>
                <a:cs typeface="+mj-cs"/>
              </a:rPr>
              <a:t>Big Data Technologies</a:t>
            </a:r>
            <a:endParaRPr lang="en-US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68349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9A52DE-4C34-4862-ACA7-255DAC3A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Big Data Technologies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30296B3-B46C-4D8D-8215-5BF2F0D17D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247682"/>
              </p:ext>
            </p:extLst>
          </p:nvPr>
        </p:nvGraphicFramePr>
        <p:xfrm>
          <a:off x="1040606" y="1933519"/>
          <a:ext cx="6982047" cy="3272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2048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97661" y="280374"/>
            <a:ext cx="8579095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72D30-468F-4DEB-BEE2-98025D71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763" y="433545"/>
            <a:ext cx="8354890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700" dirty="0">
                <a:solidFill>
                  <a:srgbClr val="FFFFFF"/>
                </a:solidFill>
                <a:ea typeface="+mj-ea"/>
                <a:cs typeface="+mj-cs"/>
              </a:rPr>
              <a:t>Operational Big 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72558" y="1522292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84016DE-35AD-45E9-B73F-5DF59D9B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75" y="3368323"/>
            <a:ext cx="4091938" cy="211462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8720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E59AEA-46EF-47D3-99B4-927945E64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33804" y="3781156"/>
            <a:ext cx="4091938" cy="128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06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972D30-468F-4DEB-BEE2-98025D71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65" y="0"/>
            <a:ext cx="8386537" cy="1325563"/>
          </a:xfrm>
        </p:spPr>
        <p:txBody>
          <a:bodyPr/>
          <a:lstStyle/>
          <a:p>
            <a:r>
              <a:rPr lang="en-US" dirty="0"/>
              <a:t>Operational Big Data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5C61B-F71E-408E-8BF0-FC9AA89A85FF}"/>
              </a:ext>
            </a:extLst>
          </p:cNvPr>
          <p:cNvSpPr/>
          <p:nvPr/>
        </p:nvSpPr>
        <p:spPr>
          <a:xfrm>
            <a:off x="3572929" y="2278135"/>
            <a:ext cx="1853608" cy="55485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Bahnschrift" panose="020B0502040204020203" pitchFamily="34" charset="0"/>
              </a:rPr>
              <a:t>Manage</a:t>
            </a:r>
            <a:endParaRPr lang="en-IN" sz="2500" dirty="0">
              <a:latin typeface="Bahnschrift" panose="020B0502040204020203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372ABA-DDB0-4722-968C-A2ECC3DF7E09}"/>
              </a:ext>
            </a:extLst>
          </p:cNvPr>
          <p:cNvSpPr/>
          <p:nvPr/>
        </p:nvSpPr>
        <p:spPr>
          <a:xfrm>
            <a:off x="3572929" y="4675966"/>
            <a:ext cx="1853608" cy="55485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Bahnschrift" panose="020B0502040204020203" pitchFamily="34" charset="0"/>
              </a:rPr>
              <a:t>Faster</a:t>
            </a:r>
            <a:endParaRPr lang="en-IN" sz="25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AA201E-5938-4755-B437-818F80A139C6}"/>
              </a:ext>
            </a:extLst>
          </p:cNvPr>
          <p:cNvSpPr/>
          <p:nvPr/>
        </p:nvSpPr>
        <p:spPr>
          <a:xfrm>
            <a:off x="3572929" y="3477050"/>
            <a:ext cx="1853608" cy="55485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Bahnschrift" panose="020B0502040204020203" pitchFamily="34" charset="0"/>
              </a:rPr>
              <a:t>Cheaper</a:t>
            </a:r>
            <a:endParaRPr lang="en-IN" sz="25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958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972D30-468F-4DEB-BEE2-98025D71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65" y="0"/>
            <a:ext cx="8386537" cy="1325563"/>
          </a:xfrm>
        </p:spPr>
        <p:txBody>
          <a:bodyPr/>
          <a:lstStyle/>
          <a:p>
            <a:r>
              <a:rPr lang="en-US" dirty="0"/>
              <a:t>Operational Big Data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7FDB0A-96A7-43EA-8DF1-483B84B63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51" y="1734331"/>
            <a:ext cx="8626298" cy="2646563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56F563D-D06E-4EF6-93DB-3EA18805116A}"/>
              </a:ext>
            </a:extLst>
          </p:cNvPr>
          <p:cNvSpPr/>
          <p:nvPr/>
        </p:nvSpPr>
        <p:spPr>
          <a:xfrm>
            <a:off x="2369289" y="4625993"/>
            <a:ext cx="4405422" cy="56900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Bahnschrift" panose="020B0502040204020203" pitchFamily="34" charset="0"/>
              </a:rPr>
              <a:t>Patterns and Trends</a:t>
            </a:r>
            <a:endParaRPr lang="en-IN" sz="25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23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972D30-468F-4DEB-BEE2-98025D71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65" y="0"/>
            <a:ext cx="8386537" cy="1325563"/>
          </a:xfrm>
        </p:spPr>
        <p:txBody>
          <a:bodyPr/>
          <a:lstStyle/>
          <a:p>
            <a:r>
              <a:rPr lang="en-US" dirty="0"/>
              <a:t>Analytical Big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E4AD2-50CA-49C4-B7F3-1403AEF66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799" y="1683599"/>
            <a:ext cx="5704402" cy="3486596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723B6E-3834-4BDF-BA02-9F8A124F8392}"/>
              </a:ext>
            </a:extLst>
          </p:cNvPr>
          <p:cNvSpPr/>
          <p:nvPr/>
        </p:nvSpPr>
        <p:spPr>
          <a:xfrm>
            <a:off x="2083972" y="5528232"/>
            <a:ext cx="4976056" cy="611311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Bahnschrift" panose="020B0502040204020203" pitchFamily="34" charset="0"/>
              </a:rPr>
              <a:t>Massively Parallel Processing</a:t>
            </a:r>
            <a:endParaRPr lang="en-IN" sz="25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952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972D30-468F-4DEB-BEE2-98025D71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65" y="0"/>
            <a:ext cx="8386537" cy="1325563"/>
          </a:xfrm>
        </p:spPr>
        <p:txBody>
          <a:bodyPr/>
          <a:lstStyle/>
          <a:p>
            <a:r>
              <a:rPr lang="en-US" dirty="0"/>
              <a:t>Analytical Big Data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C69577-407C-4A47-8D5A-488AC18E3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751" y="1608977"/>
            <a:ext cx="6232496" cy="2143979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F00462-686F-48CE-BBFC-6493CA813B02}"/>
              </a:ext>
            </a:extLst>
          </p:cNvPr>
          <p:cNvSpPr txBox="1"/>
          <p:nvPr/>
        </p:nvSpPr>
        <p:spPr>
          <a:xfrm>
            <a:off x="378731" y="3895692"/>
            <a:ext cx="8386537" cy="18566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ahnschrift" panose="020B0502040204020203" pitchFamily="34" charset="0"/>
              </a:rPr>
              <a:t>MapReduce provides a new method of analyzing data that is complementary to the capabilities provided by SQL, and a system based on MapReduce that can be scaled up from single servers to thousands of high- and low-end machines.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06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9FB08D8-6B8A-403E-A606-E6611CC080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60040"/>
              </p:ext>
            </p:extLst>
          </p:nvPr>
        </p:nvGraphicFramePr>
        <p:xfrm>
          <a:off x="338362" y="1638822"/>
          <a:ext cx="8518782" cy="4665698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15594">
                  <a:extLst>
                    <a:ext uri="{9D8B030D-6E8A-4147-A177-3AD203B41FA5}">
                      <a16:colId xmlns:a16="http://schemas.microsoft.com/office/drawing/2014/main" val="136664359"/>
                    </a:ext>
                  </a:extLst>
                </a:gridCol>
                <a:gridCol w="2903973">
                  <a:extLst>
                    <a:ext uri="{9D8B030D-6E8A-4147-A177-3AD203B41FA5}">
                      <a16:colId xmlns:a16="http://schemas.microsoft.com/office/drawing/2014/main" val="1194303101"/>
                    </a:ext>
                  </a:extLst>
                </a:gridCol>
                <a:gridCol w="3099215">
                  <a:extLst>
                    <a:ext uri="{9D8B030D-6E8A-4147-A177-3AD203B41FA5}">
                      <a16:colId xmlns:a16="http://schemas.microsoft.com/office/drawing/2014/main" val="2806386678"/>
                    </a:ext>
                  </a:extLst>
                </a:gridCol>
              </a:tblGrid>
              <a:tr h="520984">
                <a:tc>
                  <a:txBody>
                    <a:bodyPr/>
                    <a:lstStyle/>
                    <a:p>
                      <a:pPr algn="l"/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6184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Bahnschrift" panose="020B0502040204020203" pitchFamily="34" charset="0"/>
                        </a:rPr>
                        <a:t>Operational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6184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b="1" kern="1200" dirty="0">
                          <a:solidFill>
                            <a:schemeClr val="lt1"/>
                          </a:solidFill>
                          <a:effectLst/>
                          <a:latin typeface="Bahnschrift" panose="020B0502040204020203" pitchFamily="34" charset="0"/>
                        </a:rPr>
                        <a:t>Analytical</a:t>
                      </a:r>
                      <a:endParaRPr lang="en-IN" sz="2400" dirty="0">
                        <a:latin typeface="Bahnschrift" panose="020B0502040204020203" pitchFamily="34" charset="0"/>
                      </a:endParaRPr>
                    </a:p>
                  </a:txBody>
                  <a:tcPr>
                    <a:solidFill>
                      <a:srgbClr val="6184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825655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Latency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1 </a:t>
                      </a:r>
                      <a:r>
                        <a:rPr lang="en-IN" sz="2200" dirty="0" err="1">
                          <a:effectLst/>
                          <a:latin typeface="Bahnschrift" panose="020B0502040204020203" pitchFamily="34" charset="0"/>
                        </a:rPr>
                        <a:t>ms</a:t>
                      </a:r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 - 100 </a:t>
                      </a:r>
                      <a:r>
                        <a:rPr lang="en-IN" sz="2200" dirty="0" err="1">
                          <a:effectLst/>
                          <a:latin typeface="Bahnschrift" panose="020B0502040204020203" pitchFamily="34" charset="0"/>
                        </a:rPr>
                        <a:t>ms</a:t>
                      </a:r>
                      <a:endParaRPr lang="en-IN" sz="2200" dirty="0">
                        <a:effectLst/>
                        <a:latin typeface="Bahnschrift" panose="020B0502040204020203" pitchFamily="34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1 min - 100 min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34544926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Concurrency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1000 - 100,000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1 - 10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900066390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Access Pattern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Writes and Reads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Reads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149267501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Queries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Selective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Unselective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970800678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Data Scope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Operational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Retrospective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599266788"/>
                  </a:ext>
                </a:extLst>
              </a:tr>
              <a:tr h="532561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End User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Customer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Data Scientist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1852788289"/>
                  </a:ext>
                </a:extLst>
              </a:tr>
              <a:tr h="949348">
                <a:tc>
                  <a:txBody>
                    <a:bodyPr/>
                    <a:lstStyle/>
                    <a:p>
                      <a:r>
                        <a:rPr lang="en-IN" sz="2200" b="0" kern="1200" dirty="0">
                          <a:solidFill>
                            <a:schemeClr val="dk1"/>
                          </a:solidFill>
                          <a:effectLst/>
                          <a:latin typeface="Bahnschrift" panose="020B0502040204020203" pitchFamily="34" charset="0"/>
                        </a:rPr>
                        <a:t>Technology</a:t>
                      </a:r>
                      <a:endParaRPr lang="en-IN" sz="2200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NoSQL</a:t>
                      </a: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2200" dirty="0">
                          <a:effectLst/>
                          <a:latin typeface="Bahnschrift" panose="020B0502040204020203" pitchFamily="34" charset="0"/>
                        </a:rPr>
                        <a:t>MapReduce, MPP Database</a:t>
                      </a:r>
                    </a:p>
                  </a:txBody>
                  <a:tcPr marL="50800" marR="50800" marT="50800" marB="50800"/>
                </a:tc>
                <a:extLst>
                  <a:ext uri="{0D108BD9-81ED-4DB2-BD59-A6C34878D82A}">
                    <a16:rowId xmlns:a16="http://schemas.microsoft.com/office/drawing/2014/main" val="324339893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4A8A01A-A950-40F2-83F6-4021AB4D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i="0" dirty="0">
                <a:effectLst/>
                <a:latin typeface="Arial" panose="020B0604020202020204" pitchFamily="34" charset="0"/>
              </a:rPr>
            </a:br>
            <a:r>
              <a:rPr lang="en-IN" b="0" i="0" dirty="0">
                <a:effectLst/>
                <a:latin typeface="Arial" panose="020B0604020202020204" pitchFamily="34" charset="0"/>
              </a:rPr>
              <a:t>Operational vs. Analytical Systems</a:t>
            </a:r>
            <a:br>
              <a:rPr lang="en-IN" b="0" i="0" dirty="0"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037565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Abstract background of dark mesh" id="4" name="Picture 3">
            <a:extLst>
              <a:ext uri="{FF2B5EF4-FFF2-40B4-BE49-F238E27FC236}">
                <a16:creationId xmlns:a16="http://schemas.microsoft.com/office/drawing/2014/main" id="{979FE629-00D7-4FCC-9165-5B01B0D1A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46AE5-147E-492F-AFC3-ECAF162A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dirty="0" lang="en-US" sz="4500">
                <a:solidFill>
                  <a:srgbClr val="FFFFFF"/>
                </a:solidFill>
              </a:rPr>
              <a:t>BIG DATA SOLUTIONS</a:t>
            </a:r>
          </a:p>
        </p:txBody>
      </p:sp>
    </p:spTree>
    <p:extLst>
      <p:ext uri="{BB962C8B-B14F-4D97-AF65-F5344CB8AC3E}">
        <p14:creationId xmlns:p14="http://schemas.microsoft.com/office/powerpoint/2010/main" val="498562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68714-CC62-4EB0-B536-D0CB3AD73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954281"/>
          </a:xfrm>
        </p:spPr>
        <p:txBody>
          <a:bodyPr/>
          <a:lstStyle/>
          <a:p>
            <a:r>
              <a:rPr lang="en-IN" b="0" i="0" dirty="0">
                <a:effectLst/>
              </a:rPr>
              <a:t>Traditional Approach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0FB531-E477-489E-8354-D722BAC2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Traditional Approach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3433F-3C03-411F-B910-F44942CE8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38" y="2975444"/>
            <a:ext cx="5841583" cy="163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88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668714-CC62-4EB0-B536-D0CB3AD73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33658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solidFill>
                  <a:srgbClr val="C00000"/>
                </a:solidFill>
                <a:effectLst/>
              </a:rPr>
              <a:t>Limitation</a:t>
            </a:r>
          </a:p>
          <a:p>
            <a:pPr lvl="1" algn="just"/>
            <a:r>
              <a:rPr lang="en-US" sz="2600" dirty="0">
                <a:solidFill>
                  <a:srgbClr val="000000"/>
                </a:solidFill>
              </a:rPr>
              <a:t>P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rocess less voluminous data that can be accommodated by standard database servers</a:t>
            </a:r>
          </a:p>
          <a:p>
            <a:pPr lvl="1" algn="just"/>
            <a:r>
              <a:rPr lang="en-US" sz="2600" dirty="0">
                <a:solidFill>
                  <a:srgbClr val="000000"/>
                </a:solidFill>
              </a:rPr>
              <a:t>H</a:t>
            </a:r>
            <a:r>
              <a:rPr lang="en-US" sz="2600" b="0" i="0" dirty="0">
                <a:solidFill>
                  <a:srgbClr val="000000"/>
                </a:solidFill>
                <a:effectLst/>
              </a:rPr>
              <a:t>ectic task to process such data through a single database bottleneck.</a:t>
            </a:r>
            <a:endParaRPr lang="en-IN" sz="2600" b="0" i="0" dirty="0"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0FB531-E477-489E-8354-D722BAC2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effectLst/>
              </a:rPr>
              <a:t>Traditional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220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ABA572-FBC5-4F74-ABE0-F4357876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Google’s Solution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901EC-F103-47C0-9B4A-966FD9E6F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Google solved this problem using an algorithm called MapReduce. 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This algorithm divides the task into small parts and assigns them to many computers, and collects the results from them which when integrated, form the result dataset.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830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6CB036-E289-4080-90FA-6E08BE433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343" y="1879159"/>
            <a:ext cx="5459313" cy="4124517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4ABA572-FBC5-4F74-ABE0-F4357876D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Google’s Solution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4154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A98A8C-B368-4B1B-BF43-B37A3850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i="0" dirty="0">
                <a:effectLst/>
              </a:rPr>
              <a:t>Google’s Solution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B955A-DD74-4F1F-A2EF-CBB500F9F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50" y="1859066"/>
            <a:ext cx="6906500" cy="3838350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405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1326</TotalTime>
  <Words>490</Words>
  <Application>Microsoft Office PowerPoint</Application>
  <PresentationFormat>On-screen Show (4:3)</PresentationFormat>
  <Paragraphs>103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 What is Big Data? </vt:lpstr>
      <vt:lpstr>What Comes Under Big Data?</vt:lpstr>
      <vt:lpstr>What Comes Under Big Data?</vt:lpstr>
      <vt:lpstr>What Comes Under Big Data?</vt:lpstr>
      <vt:lpstr>What Comes Under Big Data?</vt:lpstr>
      <vt:lpstr>What Comes Under Big Data?</vt:lpstr>
      <vt:lpstr>The data in it will be of three types</vt:lpstr>
      <vt:lpstr>The data in it will be of three types</vt:lpstr>
      <vt:lpstr>The data in it will be of three types</vt:lpstr>
      <vt:lpstr>The data in it will be of three types</vt:lpstr>
      <vt:lpstr>Benefits of Big Data</vt:lpstr>
      <vt:lpstr>Big Data Technologies</vt:lpstr>
      <vt:lpstr>Big Data Technologies</vt:lpstr>
      <vt:lpstr>Big Data Technologies</vt:lpstr>
      <vt:lpstr>Big Data Technologies</vt:lpstr>
      <vt:lpstr>Operational Big Data</vt:lpstr>
      <vt:lpstr>Operational Big Data</vt:lpstr>
      <vt:lpstr>Operational Big Data</vt:lpstr>
      <vt:lpstr>Analytical Big Data</vt:lpstr>
      <vt:lpstr>Analytical Big Data</vt:lpstr>
      <vt:lpstr> Operational vs. Analytical Systems </vt:lpstr>
      <vt:lpstr>BIG DATA SOLUTIONS</vt:lpstr>
      <vt:lpstr>Traditional Approach</vt:lpstr>
      <vt:lpstr>Traditional Approach</vt:lpstr>
      <vt:lpstr>Google’s Solution</vt:lpstr>
      <vt:lpstr>Google’s Solution</vt:lpstr>
      <vt:lpstr>Google’s Solution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74</cp:revision>
  <dcterms:created xsi:type="dcterms:W3CDTF">2021-05-13T17:45:44Z</dcterms:created>
  <dcterms:modified xsi:type="dcterms:W3CDTF">2021-07-12T04:31:09Z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1011367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