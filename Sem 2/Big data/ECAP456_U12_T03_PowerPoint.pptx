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presentationml.notesSlide+xml" PartName="/ppt/notesSlides/notesSlide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66" r:id="rId2"/>
    <p:sldId id="261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76" r:id="rId26"/>
    <p:sldId id="26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3A38"/>
    <a:srgbClr val="072235"/>
    <a:srgbClr val="44525A"/>
    <a:srgbClr val="E4E7E9"/>
    <a:srgbClr val="FFFFFF"/>
    <a:srgbClr val="618495"/>
    <a:srgbClr val="44525B"/>
    <a:srgbClr val="B8B192"/>
    <a:srgbClr val="473B39"/>
    <a:srgbClr val="30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3FE222-2049-4D93-BDBE-D85B2FF01638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83B2D49-9815-4521-A88E-E1FA93BCC21F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Some types of factors used in customer targeting are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827B7D58-97BF-446A-BB65-8A8ED50D36ED}" type="parTrans" cxnId="{EF9137CE-99D5-44D0-8DC5-40F4FE7D23B0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8E19764-34E1-4424-AB05-C13206861DFF}" type="sibTrans" cxnId="{EF9137CE-99D5-44D0-8DC5-40F4FE7D23B0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A164F19E-AC98-42C4-A4D8-4A054573A4F1}">
      <dgm:prSet/>
      <dgm:spPr>
        <a:solidFill>
          <a:schemeClr val="accent2"/>
        </a:solidFill>
      </dgm:spPr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Socio-demographic factors</a:t>
          </a:r>
          <a:endParaRPr lang="en-US" dirty="0">
            <a:latin typeface="Bahnschrift" panose="020B0502040204020203" pitchFamily="34" charset="0"/>
          </a:endParaRPr>
        </a:p>
      </dgm:t>
    </dgm:pt>
    <dgm:pt modelId="{F1A4DAB6-6ED2-47F5-A9A6-9F6E0F131225}" type="parTrans" cxnId="{F22B51F1-F09D-4A3A-9911-B31669CEE306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D41F30E-1F24-40ED-9A53-CA9C6B10313F}" type="sibTrans" cxnId="{F22B51F1-F09D-4A3A-9911-B31669CEE306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9B5A264-CC8A-4B9D-8E60-DFD319FBB68C}">
      <dgm:prSet/>
      <dgm:spPr>
        <a:solidFill>
          <a:schemeClr val="accent5"/>
        </a:solidFill>
      </dgm:spPr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Engagement factors</a:t>
          </a:r>
          <a:r>
            <a:rPr lang="en-IN" b="0" i="0">
              <a:effectLst/>
              <a:latin typeface="Bahnschrift" panose="020B0502040204020203" pitchFamily="34" charset="0"/>
            </a:rPr>
            <a:t>: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DCC7458E-B93F-4460-BD40-AE52A08AF8E5}" type="parTrans" cxnId="{D1CEC270-A022-43F7-97A1-E6E2CDEC957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F197CADB-2886-4FEB-8976-2B5BF39A2D7A}" type="sibTrans" cxnId="{D1CEC270-A022-43F7-97A1-E6E2CDEC957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4878BDC5-5A55-410F-97CD-F77C00D72EBB}">
      <dgm:prSet/>
      <dgm:spPr>
        <a:solidFill>
          <a:schemeClr val="accent6"/>
        </a:solidFill>
      </dgm:spPr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Past campaign factors</a:t>
          </a:r>
          <a:endParaRPr lang="en-IN" dirty="0">
            <a:latin typeface="Bahnschrift" panose="020B0502040204020203" pitchFamily="34" charset="0"/>
          </a:endParaRPr>
        </a:p>
      </dgm:t>
    </dgm:pt>
    <dgm:pt modelId="{95B83608-2713-4478-B5CE-BB84E30BCDE1}" type="parTrans" cxnId="{2A50F016-3F50-4BA6-9EE9-4764D4351187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7715B16D-9B33-4746-B707-FC4ED0B0C19C}" type="sibTrans" cxnId="{2A50F016-3F50-4BA6-9EE9-4764D4351187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8CB0291-8331-4614-B802-E315738B9EA7}" type="pres">
      <dgm:prSet presAssocID="{4B3FE222-2049-4D93-BDBE-D85B2FF0163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47BC4A1-727F-496A-82DB-EB6BF834BCF9}" type="pres">
      <dgm:prSet presAssocID="{B83B2D49-9815-4521-A88E-E1FA93BCC21F}" presName="root1" presStyleCnt="0"/>
      <dgm:spPr/>
    </dgm:pt>
    <dgm:pt modelId="{88563A66-F8E2-4783-B37B-CD9ED0392DA4}" type="pres">
      <dgm:prSet presAssocID="{B83B2D49-9815-4521-A88E-E1FA93BCC21F}" presName="LevelOneTextNode" presStyleLbl="node0" presStyleIdx="0" presStyleCnt="1">
        <dgm:presLayoutVars>
          <dgm:chPref val="3"/>
        </dgm:presLayoutVars>
      </dgm:prSet>
      <dgm:spPr/>
    </dgm:pt>
    <dgm:pt modelId="{A88F110B-FF31-4BD3-9DD4-3E9ED2D012A6}" type="pres">
      <dgm:prSet presAssocID="{B83B2D49-9815-4521-A88E-E1FA93BCC21F}" presName="level2hierChild" presStyleCnt="0"/>
      <dgm:spPr/>
    </dgm:pt>
    <dgm:pt modelId="{DEA4349D-D6B9-4348-8D6A-DC62190D819F}" type="pres">
      <dgm:prSet presAssocID="{F1A4DAB6-6ED2-47F5-A9A6-9F6E0F131225}" presName="conn2-1" presStyleLbl="parChTrans1D2" presStyleIdx="0" presStyleCnt="3"/>
      <dgm:spPr/>
    </dgm:pt>
    <dgm:pt modelId="{66331A34-46A8-4776-AA8B-ED84EADCB2EF}" type="pres">
      <dgm:prSet presAssocID="{F1A4DAB6-6ED2-47F5-A9A6-9F6E0F131225}" presName="connTx" presStyleLbl="parChTrans1D2" presStyleIdx="0" presStyleCnt="3"/>
      <dgm:spPr/>
    </dgm:pt>
    <dgm:pt modelId="{5779B46C-DA67-42A4-9E69-D8A1EF0EB464}" type="pres">
      <dgm:prSet presAssocID="{A164F19E-AC98-42C4-A4D8-4A054573A4F1}" presName="root2" presStyleCnt="0"/>
      <dgm:spPr/>
    </dgm:pt>
    <dgm:pt modelId="{936CE9E0-3C74-41BB-8C08-6E3CAD98D86F}" type="pres">
      <dgm:prSet presAssocID="{A164F19E-AC98-42C4-A4D8-4A054573A4F1}" presName="LevelTwoTextNode" presStyleLbl="node2" presStyleIdx="0" presStyleCnt="3">
        <dgm:presLayoutVars>
          <dgm:chPref val="3"/>
        </dgm:presLayoutVars>
      </dgm:prSet>
      <dgm:spPr/>
    </dgm:pt>
    <dgm:pt modelId="{07962C1F-F443-4104-8FEB-4967A5DDA8B8}" type="pres">
      <dgm:prSet presAssocID="{A164F19E-AC98-42C4-A4D8-4A054573A4F1}" presName="level3hierChild" presStyleCnt="0"/>
      <dgm:spPr/>
    </dgm:pt>
    <dgm:pt modelId="{2FECBE10-4A11-4F8B-A617-BB40C9D438B4}" type="pres">
      <dgm:prSet presAssocID="{DCC7458E-B93F-4460-BD40-AE52A08AF8E5}" presName="conn2-1" presStyleLbl="parChTrans1D2" presStyleIdx="1" presStyleCnt="3"/>
      <dgm:spPr/>
    </dgm:pt>
    <dgm:pt modelId="{380A4DB7-6B44-4EE0-A71D-D0FE12D3C414}" type="pres">
      <dgm:prSet presAssocID="{DCC7458E-B93F-4460-BD40-AE52A08AF8E5}" presName="connTx" presStyleLbl="parChTrans1D2" presStyleIdx="1" presStyleCnt="3"/>
      <dgm:spPr/>
    </dgm:pt>
    <dgm:pt modelId="{089F5E38-7411-4236-9BA8-62953FBECF31}" type="pres">
      <dgm:prSet presAssocID="{D9B5A264-CC8A-4B9D-8E60-DFD319FBB68C}" presName="root2" presStyleCnt="0"/>
      <dgm:spPr/>
    </dgm:pt>
    <dgm:pt modelId="{12104434-2EAA-4D70-AC1B-3251A8DEDCCC}" type="pres">
      <dgm:prSet presAssocID="{D9B5A264-CC8A-4B9D-8E60-DFD319FBB68C}" presName="LevelTwoTextNode" presStyleLbl="node2" presStyleIdx="1" presStyleCnt="3">
        <dgm:presLayoutVars>
          <dgm:chPref val="3"/>
        </dgm:presLayoutVars>
      </dgm:prSet>
      <dgm:spPr/>
    </dgm:pt>
    <dgm:pt modelId="{4AD9E3BB-6830-47B9-9CAC-715C42569568}" type="pres">
      <dgm:prSet presAssocID="{D9B5A264-CC8A-4B9D-8E60-DFD319FBB68C}" presName="level3hierChild" presStyleCnt="0"/>
      <dgm:spPr/>
    </dgm:pt>
    <dgm:pt modelId="{24B95822-B5BA-4F88-B51B-A424E2056326}" type="pres">
      <dgm:prSet presAssocID="{95B83608-2713-4478-B5CE-BB84E30BCDE1}" presName="conn2-1" presStyleLbl="parChTrans1D2" presStyleIdx="2" presStyleCnt="3"/>
      <dgm:spPr/>
    </dgm:pt>
    <dgm:pt modelId="{8F514E1F-E6F0-47D1-92C6-CB6CDC2ADDA8}" type="pres">
      <dgm:prSet presAssocID="{95B83608-2713-4478-B5CE-BB84E30BCDE1}" presName="connTx" presStyleLbl="parChTrans1D2" presStyleIdx="2" presStyleCnt="3"/>
      <dgm:spPr/>
    </dgm:pt>
    <dgm:pt modelId="{5A6CA2DD-449E-4F49-A246-078EA15B8010}" type="pres">
      <dgm:prSet presAssocID="{4878BDC5-5A55-410F-97CD-F77C00D72EBB}" presName="root2" presStyleCnt="0"/>
      <dgm:spPr/>
    </dgm:pt>
    <dgm:pt modelId="{5DE10B34-F86D-4394-B734-7752AEC5E3B4}" type="pres">
      <dgm:prSet presAssocID="{4878BDC5-5A55-410F-97CD-F77C00D72EBB}" presName="LevelTwoTextNode" presStyleLbl="node2" presStyleIdx="2" presStyleCnt="3">
        <dgm:presLayoutVars>
          <dgm:chPref val="3"/>
        </dgm:presLayoutVars>
      </dgm:prSet>
      <dgm:spPr/>
    </dgm:pt>
    <dgm:pt modelId="{C7D8D886-7D79-4B5C-B628-8E5ED7A67DE0}" type="pres">
      <dgm:prSet presAssocID="{4878BDC5-5A55-410F-97CD-F77C00D72EBB}" presName="level3hierChild" presStyleCnt="0"/>
      <dgm:spPr/>
    </dgm:pt>
  </dgm:ptLst>
  <dgm:cxnLst>
    <dgm:cxn modelId="{6BDF0A00-6428-499A-B6ED-C1DD77F09C60}" type="presOf" srcId="{4B3FE222-2049-4D93-BDBE-D85B2FF01638}" destId="{98CB0291-8331-4614-B802-E315738B9EA7}" srcOrd="0" destOrd="0" presId="urn:microsoft.com/office/officeart/2005/8/layout/hierarchy2"/>
    <dgm:cxn modelId="{2A50F016-3F50-4BA6-9EE9-4764D4351187}" srcId="{B83B2D49-9815-4521-A88E-E1FA93BCC21F}" destId="{4878BDC5-5A55-410F-97CD-F77C00D72EBB}" srcOrd="2" destOrd="0" parTransId="{95B83608-2713-4478-B5CE-BB84E30BCDE1}" sibTransId="{7715B16D-9B33-4746-B707-FC4ED0B0C19C}"/>
    <dgm:cxn modelId="{9A0D6524-B852-4348-BAED-6B9A8B1EFE87}" type="presOf" srcId="{B83B2D49-9815-4521-A88E-E1FA93BCC21F}" destId="{88563A66-F8E2-4783-B37B-CD9ED0392DA4}" srcOrd="0" destOrd="0" presId="urn:microsoft.com/office/officeart/2005/8/layout/hierarchy2"/>
    <dgm:cxn modelId="{0F08A937-D489-4D62-8A37-5289471C3C8B}" type="presOf" srcId="{95B83608-2713-4478-B5CE-BB84E30BCDE1}" destId="{24B95822-B5BA-4F88-B51B-A424E2056326}" srcOrd="0" destOrd="0" presId="urn:microsoft.com/office/officeart/2005/8/layout/hierarchy2"/>
    <dgm:cxn modelId="{D1CEC270-A022-43F7-97A1-E6E2CDEC957F}" srcId="{B83B2D49-9815-4521-A88E-E1FA93BCC21F}" destId="{D9B5A264-CC8A-4B9D-8E60-DFD319FBB68C}" srcOrd="1" destOrd="0" parTransId="{DCC7458E-B93F-4460-BD40-AE52A08AF8E5}" sibTransId="{F197CADB-2886-4FEB-8976-2B5BF39A2D7A}"/>
    <dgm:cxn modelId="{429E8378-D6BC-4991-9541-97CB04330699}" type="presOf" srcId="{95B83608-2713-4478-B5CE-BB84E30BCDE1}" destId="{8F514E1F-E6F0-47D1-92C6-CB6CDC2ADDA8}" srcOrd="1" destOrd="0" presId="urn:microsoft.com/office/officeart/2005/8/layout/hierarchy2"/>
    <dgm:cxn modelId="{1FE4477E-D2BE-4B08-AEBF-249145DC097E}" type="presOf" srcId="{4878BDC5-5A55-410F-97CD-F77C00D72EBB}" destId="{5DE10B34-F86D-4394-B734-7752AEC5E3B4}" srcOrd="0" destOrd="0" presId="urn:microsoft.com/office/officeart/2005/8/layout/hierarchy2"/>
    <dgm:cxn modelId="{AD08E295-BD7B-42C5-8DFA-BCFAB5C5BC57}" type="presOf" srcId="{F1A4DAB6-6ED2-47F5-A9A6-9F6E0F131225}" destId="{66331A34-46A8-4776-AA8B-ED84EADCB2EF}" srcOrd="1" destOrd="0" presId="urn:microsoft.com/office/officeart/2005/8/layout/hierarchy2"/>
    <dgm:cxn modelId="{33068D9A-360D-4E3E-9297-2F0A5CB550F8}" type="presOf" srcId="{DCC7458E-B93F-4460-BD40-AE52A08AF8E5}" destId="{2FECBE10-4A11-4F8B-A617-BB40C9D438B4}" srcOrd="0" destOrd="0" presId="urn:microsoft.com/office/officeart/2005/8/layout/hierarchy2"/>
    <dgm:cxn modelId="{3BA3769F-542F-4DCA-AAA4-E6487A1D4888}" type="presOf" srcId="{DCC7458E-B93F-4460-BD40-AE52A08AF8E5}" destId="{380A4DB7-6B44-4EE0-A71D-D0FE12D3C414}" srcOrd="1" destOrd="0" presId="urn:microsoft.com/office/officeart/2005/8/layout/hierarchy2"/>
    <dgm:cxn modelId="{CFF9EFBA-9C49-4E3C-B1AC-59C2BC255248}" type="presOf" srcId="{F1A4DAB6-6ED2-47F5-A9A6-9F6E0F131225}" destId="{DEA4349D-D6B9-4348-8D6A-DC62190D819F}" srcOrd="0" destOrd="0" presId="urn:microsoft.com/office/officeart/2005/8/layout/hierarchy2"/>
    <dgm:cxn modelId="{7E2444BF-F0F3-4006-A19C-97F8594811DA}" type="presOf" srcId="{D9B5A264-CC8A-4B9D-8E60-DFD319FBB68C}" destId="{12104434-2EAA-4D70-AC1B-3251A8DEDCCC}" srcOrd="0" destOrd="0" presId="urn:microsoft.com/office/officeart/2005/8/layout/hierarchy2"/>
    <dgm:cxn modelId="{EF9137CE-99D5-44D0-8DC5-40F4FE7D23B0}" srcId="{4B3FE222-2049-4D93-BDBE-D85B2FF01638}" destId="{B83B2D49-9815-4521-A88E-E1FA93BCC21F}" srcOrd="0" destOrd="0" parTransId="{827B7D58-97BF-446A-BB65-8A8ED50D36ED}" sibTransId="{D8E19764-34E1-4424-AB05-C13206861DFF}"/>
    <dgm:cxn modelId="{707F1AEA-393E-4269-850B-8392367D1A3C}" type="presOf" srcId="{A164F19E-AC98-42C4-A4D8-4A054573A4F1}" destId="{936CE9E0-3C74-41BB-8C08-6E3CAD98D86F}" srcOrd="0" destOrd="0" presId="urn:microsoft.com/office/officeart/2005/8/layout/hierarchy2"/>
    <dgm:cxn modelId="{F22B51F1-F09D-4A3A-9911-B31669CEE306}" srcId="{B83B2D49-9815-4521-A88E-E1FA93BCC21F}" destId="{A164F19E-AC98-42C4-A4D8-4A054573A4F1}" srcOrd="0" destOrd="0" parTransId="{F1A4DAB6-6ED2-47F5-A9A6-9F6E0F131225}" sibTransId="{DD41F30E-1F24-40ED-9A53-CA9C6B10313F}"/>
    <dgm:cxn modelId="{A5DEE7D2-95FE-4BB1-B96C-E620EEFEA9FB}" type="presParOf" srcId="{98CB0291-8331-4614-B802-E315738B9EA7}" destId="{E47BC4A1-727F-496A-82DB-EB6BF834BCF9}" srcOrd="0" destOrd="0" presId="urn:microsoft.com/office/officeart/2005/8/layout/hierarchy2"/>
    <dgm:cxn modelId="{E7ACDFC8-E723-4D91-86DF-F6053D9A8FF0}" type="presParOf" srcId="{E47BC4A1-727F-496A-82DB-EB6BF834BCF9}" destId="{88563A66-F8E2-4783-B37B-CD9ED0392DA4}" srcOrd="0" destOrd="0" presId="urn:microsoft.com/office/officeart/2005/8/layout/hierarchy2"/>
    <dgm:cxn modelId="{30163D9C-6690-4D0B-BB5E-631A54251BCD}" type="presParOf" srcId="{E47BC4A1-727F-496A-82DB-EB6BF834BCF9}" destId="{A88F110B-FF31-4BD3-9DD4-3E9ED2D012A6}" srcOrd="1" destOrd="0" presId="urn:microsoft.com/office/officeart/2005/8/layout/hierarchy2"/>
    <dgm:cxn modelId="{60CAB4B1-E898-4D7C-8E77-07ECCFE38838}" type="presParOf" srcId="{A88F110B-FF31-4BD3-9DD4-3E9ED2D012A6}" destId="{DEA4349D-D6B9-4348-8D6A-DC62190D819F}" srcOrd="0" destOrd="0" presId="urn:microsoft.com/office/officeart/2005/8/layout/hierarchy2"/>
    <dgm:cxn modelId="{D255604F-B57E-468A-91BB-805576373B3C}" type="presParOf" srcId="{DEA4349D-D6B9-4348-8D6A-DC62190D819F}" destId="{66331A34-46A8-4776-AA8B-ED84EADCB2EF}" srcOrd="0" destOrd="0" presId="urn:microsoft.com/office/officeart/2005/8/layout/hierarchy2"/>
    <dgm:cxn modelId="{09C7E856-2A68-4E53-8A9D-91CCE68BEA94}" type="presParOf" srcId="{A88F110B-FF31-4BD3-9DD4-3E9ED2D012A6}" destId="{5779B46C-DA67-42A4-9E69-D8A1EF0EB464}" srcOrd="1" destOrd="0" presId="urn:microsoft.com/office/officeart/2005/8/layout/hierarchy2"/>
    <dgm:cxn modelId="{7D1A9A3F-2824-4A15-BA8C-3529D05BBC1D}" type="presParOf" srcId="{5779B46C-DA67-42A4-9E69-D8A1EF0EB464}" destId="{936CE9E0-3C74-41BB-8C08-6E3CAD98D86F}" srcOrd="0" destOrd="0" presId="urn:microsoft.com/office/officeart/2005/8/layout/hierarchy2"/>
    <dgm:cxn modelId="{B279A7B4-11DB-4320-90B7-15235A022DEA}" type="presParOf" srcId="{5779B46C-DA67-42A4-9E69-D8A1EF0EB464}" destId="{07962C1F-F443-4104-8FEB-4967A5DDA8B8}" srcOrd="1" destOrd="0" presId="urn:microsoft.com/office/officeart/2005/8/layout/hierarchy2"/>
    <dgm:cxn modelId="{7B638AC1-DE0E-44EA-894B-F0691429904F}" type="presParOf" srcId="{A88F110B-FF31-4BD3-9DD4-3E9ED2D012A6}" destId="{2FECBE10-4A11-4F8B-A617-BB40C9D438B4}" srcOrd="2" destOrd="0" presId="urn:microsoft.com/office/officeart/2005/8/layout/hierarchy2"/>
    <dgm:cxn modelId="{E5913E1E-78E9-4A9C-8C93-7011DD352502}" type="presParOf" srcId="{2FECBE10-4A11-4F8B-A617-BB40C9D438B4}" destId="{380A4DB7-6B44-4EE0-A71D-D0FE12D3C414}" srcOrd="0" destOrd="0" presId="urn:microsoft.com/office/officeart/2005/8/layout/hierarchy2"/>
    <dgm:cxn modelId="{1D4EBA91-C082-42D5-97E3-BE3DA1660B8B}" type="presParOf" srcId="{A88F110B-FF31-4BD3-9DD4-3E9ED2D012A6}" destId="{089F5E38-7411-4236-9BA8-62953FBECF31}" srcOrd="3" destOrd="0" presId="urn:microsoft.com/office/officeart/2005/8/layout/hierarchy2"/>
    <dgm:cxn modelId="{37ABB735-6B8B-4657-874B-8FB740D7BFAB}" type="presParOf" srcId="{089F5E38-7411-4236-9BA8-62953FBECF31}" destId="{12104434-2EAA-4D70-AC1B-3251A8DEDCCC}" srcOrd="0" destOrd="0" presId="urn:microsoft.com/office/officeart/2005/8/layout/hierarchy2"/>
    <dgm:cxn modelId="{DAFC8689-C583-4F03-91DD-D452D1084B58}" type="presParOf" srcId="{089F5E38-7411-4236-9BA8-62953FBECF31}" destId="{4AD9E3BB-6830-47B9-9CAC-715C42569568}" srcOrd="1" destOrd="0" presId="urn:microsoft.com/office/officeart/2005/8/layout/hierarchy2"/>
    <dgm:cxn modelId="{7D670DB0-236B-4CAB-B687-41B6889D0845}" type="presParOf" srcId="{A88F110B-FF31-4BD3-9DD4-3E9ED2D012A6}" destId="{24B95822-B5BA-4F88-B51B-A424E2056326}" srcOrd="4" destOrd="0" presId="urn:microsoft.com/office/officeart/2005/8/layout/hierarchy2"/>
    <dgm:cxn modelId="{5B24D3B5-E3A0-4B72-AEE9-6E8E2B0D1907}" type="presParOf" srcId="{24B95822-B5BA-4F88-B51B-A424E2056326}" destId="{8F514E1F-E6F0-47D1-92C6-CB6CDC2ADDA8}" srcOrd="0" destOrd="0" presId="urn:microsoft.com/office/officeart/2005/8/layout/hierarchy2"/>
    <dgm:cxn modelId="{37E65AAD-7FF1-4999-A8AE-9E958959935A}" type="presParOf" srcId="{A88F110B-FF31-4BD3-9DD4-3E9ED2D012A6}" destId="{5A6CA2DD-449E-4F49-A246-078EA15B8010}" srcOrd="5" destOrd="0" presId="urn:microsoft.com/office/officeart/2005/8/layout/hierarchy2"/>
    <dgm:cxn modelId="{490EF597-17C5-46FC-912F-8FD9D4886BEC}" type="presParOf" srcId="{5A6CA2DD-449E-4F49-A246-078EA15B8010}" destId="{5DE10B34-F86D-4394-B734-7752AEC5E3B4}" srcOrd="0" destOrd="0" presId="urn:microsoft.com/office/officeart/2005/8/layout/hierarchy2"/>
    <dgm:cxn modelId="{E6412C9C-6116-4373-9F38-CB2843936551}" type="presParOf" srcId="{5A6CA2DD-449E-4F49-A246-078EA15B8010}" destId="{C7D8D886-7D79-4B5C-B628-8E5ED7A67DE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925B95-9382-4FB5-8ED2-E27689E91D7D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E2E3079A-BBC4-4ED0-BEAD-411F5C8ED4C9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Some types of factors used in quality improvement are </a:t>
          </a:r>
        </a:p>
      </dgm:t>
    </dgm:pt>
    <dgm:pt modelId="{911D70C4-AC73-4DAD-AFBE-3F4F9F2B89EA}" type="parTrans" cxnId="{ABA642AD-AA69-4D3D-8160-255E96A559F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A5861784-24BF-41B3-B187-2FFEBFA817DC}" type="sibTrans" cxnId="{ABA642AD-AA69-4D3D-8160-255E96A559F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A6A1517-B9AB-4DA6-8702-AB3026295A52}">
      <dgm:prSet/>
      <dgm:spPr>
        <a:solidFill>
          <a:srgbClr val="7030A0"/>
        </a:solidFill>
      </dgm:spPr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Product characteristics</a:t>
          </a:r>
          <a:endParaRPr lang="en-US" dirty="0">
            <a:latin typeface="Bahnschrift" panose="020B0502040204020203" pitchFamily="34" charset="0"/>
          </a:endParaRPr>
        </a:p>
      </dgm:t>
    </dgm:pt>
    <dgm:pt modelId="{863450F4-50AB-490B-8CD8-C5EF8062005A}" type="parTrans" cxnId="{EFDFAD97-F530-4784-871F-41599BFFD3A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797DB36F-9987-4317-BB2B-E9EBF43C3A52}" type="sibTrans" cxnId="{EFDFAD97-F530-4784-871F-41599BFFD3A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4FDD334C-C3D6-4F26-A9BB-EF5A5B5C82AA}">
      <dgm:prSet/>
      <dgm:spPr>
        <a:solidFill>
          <a:srgbClr val="0070C0"/>
        </a:solidFill>
      </dgm:spPr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Customer characteristics</a:t>
          </a:r>
          <a:endParaRPr lang="en-US" b="1" i="0" dirty="0">
            <a:effectLst/>
            <a:latin typeface="Bahnschrift" panose="020B0502040204020203" pitchFamily="34" charset="0"/>
          </a:endParaRPr>
        </a:p>
      </dgm:t>
    </dgm:pt>
    <dgm:pt modelId="{296A4CA4-5101-4A8D-8B90-4863B3559871}" type="parTrans" cxnId="{1F47023C-556C-4337-860C-ADC8C0D0898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B0B09E6-397C-4A4A-BFA7-F587A4B96B77}" type="sibTrans" cxnId="{1F47023C-556C-4337-860C-ADC8C0D0898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E05E845-2083-45EF-AB61-1F4781392AF5}">
      <dgm:prSet/>
      <dgm:spPr>
        <a:solidFill>
          <a:srgbClr val="00B050"/>
        </a:solidFill>
      </dgm:spPr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Customer surveys</a:t>
          </a:r>
          <a:endParaRPr lang="en-IN" dirty="0">
            <a:latin typeface="Bahnschrift" panose="020B0502040204020203" pitchFamily="34" charset="0"/>
          </a:endParaRPr>
        </a:p>
      </dgm:t>
    </dgm:pt>
    <dgm:pt modelId="{9A230302-F8B2-47C9-BCD6-097AB3646F09}" type="parTrans" cxnId="{99F5A9A6-B1D8-4DE0-B4DB-EDF04AA726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6943294-892D-4FBE-AA30-4EDD2E125106}" type="sibTrans" cxnId="{99F5A9A6-B1D8-4DE0-B4DB-EDF04AA726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C034859-015C-4733-A6F6-1DF43B02F6A2}" type="pres">
      <dgm:prSet presAssocID="{6D925B95-9382-4FB5-8ED2-E27689E91D7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3D93C54-B50F-4241-9322-23FF8A47F66C}" type="pres">
      <dgm:prSet presAssocID="{E2E3079A-BBC4-4ED0-BEAD-411F5C8ED4C9}" presName="root1" presStyleCnt="0"/>
      <dgm:spPr/>
    </dgm:pt>
    <dgm:pt modelId="{98B458F9-F3BB-4BCC-B805-F95912C1B460}" type="pres">
      <dgm:prSet presAssocID="{E2E3079A-BBC4-4ED0-BEAD-411F5C8ED4C9}" presName="LevelOneTextNode" presStyleLbl="node0" presStyleIdx="0" presStyleCnt="1">
        <dgm:presLayoutVars>
          <dgm:chPref val="3"/>
        </dgm:presLayoutVars>
      </dgm:prSet>
      <dgm:spPr/>
    </dgm:pt>
    <dgm:pt modelId="{B758F7AB-9C8F-4146-8698-14C261BF0788}" type="pres">
      <dgm:prSet presAssocID="{E2E3079A-BBC4-4ED0-BEAD-411F5C8ED4C9}" presName="level2hierChild" presStyleCnt="0"/>
      <dgm:spPr/>
    </dgm:pt>
    <dgm:pt modelId="{7101AAD5-554D-45E7-9F31-E70015AE5EBD}" type="pres">
      <dgm:prSet presAssocID="{863450F4-50AB-490B-8CD8-C5EF8062005A}" presName="conn2-1" presStyleLbl="parChTrans1D2" presStyleIdx="0" presStyleCnt="3"/>
      <dgm:spPr/>
    </dgm:pt>
    <dgm:pt modelId="{38EFC7F8-58A2-4BA8-A3FB-48CEA18E18A4}" type="pres">
      <dgm:prSet presAssocID="{863450F4-50AB-490B-8CD8-C5EF8062005A}" presName="connTx" presStyleLbl="parChTrans1D2" presStyleIdx="0" presStyleCnt="3"/>
      <dgm:spPr/>
    </dgm:pt>
    <dgm:pt modelId="{E9FD4CD6-69A7-4ACA-AC5E-C5D4070EE78B}" type="pres">
      <dgm:prSet presAssocID="{6A6A1517-B9AB-4DA6-8702-AB3026295A52}" presName="root2" presStyleCnt="0"/>
      <dgm:spPr/>
    </dgm:pt>
    <dgm:pt modelId="{9A914191-E4EB-495C-B8FD-ED1470495336}" type="pres">
      <dgm:prSet presAssocID="{6A6A1517-B9AB-4DA6-8702-AB3026295A52}" presName="LevelTwoTextNode" presStyleLbl="node2" presStyleIdx="0" presStyleCnt="3">
        <dgm:presLayoutVars>
          <dgm:chPref val="3"/>
        </dgm:presLayoutVars>
      </dgm:prSet>
      <dgm:spPr/>
    </dgm:pt>
    <dgm:pt modelId="{3F51E6B3-1AAD-4F1F-A2C3-732EAA7A0DA3}" type="pres">
      <dgm:prSet presAssocID="{6A6A1517-B9AB-4DA6-8702-AB3026295A52}" presName="level3hierChild" presStyleCnt="0"/>
      <dgm:spPr/>
    </dgm:pt>
    <dgm:pt modelId="{2DEC78A8-83A4-4EFB-9AAB-D691344E8B5B}" type="pres">
      <dgm:prSet presAssocID="{296A4CA4-5101-4A8D-8B90-4863B3559871}" presName="conn2-1" presStyleLbl="parChTrans1D2" presStyleIdx="1" presStyleCnt="3"/>
      <dgm:spPr/>
    </dgm:pt>
    <dgm:pt modelId="{D2C1CDA6-4512-4FA7-BB55-1B8D912D1816}" type="pres">
      <dgm:prSet presAssocID="{296A4CA4-5101-4A8D-8B90-4863B3559871}" presName="connTx" presStyleLbl="parChTrans1D2" presStyleIdx="1" presStyleCnt="3"/>
      <dgm:spPr/>
    </dgm:pt>
    <dgm:pt modelId="{C9733E35-6785-40A6-8C08-BEA8E1BAC8B9}" type="pres">
      <dgm:prSet presAssocID="{4FDD334C-C3D6-4F26-A9BB-EF5A5B5C82AA}" presName="root2" presStyleCnt="0"/>
      <dgm:spPr/>
    </dgm:pt>
    <dgm:pt modelId="{B437AE08-E6AF-43B1-96EC-E61DD06FD942}" type="pres">
      <dgm:prSet presAssocID="{4FDD334C-C3D6-4F26-A9BB-EF5A5B5C82AA}" presName="LevelTwoTextNode" presStyleLbl="node2" presStyleIdx="1" presStyleCnt="3">
        <dgm:presLayoutVars>
          <dgm:chPref val="3"/>
        </dgm:presLayoutVars>
      </dgm:prSet>
      <dgm:spPr/>
    </dgm:pt>
    <dgm:pt modelId="{BCEE3564-1237-46EB-AD10-1BBDA61267E8}" type="pres">
      <dgm:prSet presAssocID="{4FDD334C-C3D6-4F26-A9BB-EF5A5B5C82AA}" presName="level3hierChild" presStyleCnt="0"/>
      <dgm:spPr/>
    </dgm:pt>
    <dgm:pt modelId="{057B7B78-D602-4C3C-BAA2-7A7639C7AC96}" type="pres">
      <dgm:prSet presAssocID="{9A230302-F8B2-47C9-BCD6-097AB3646F09}" presName="conn2-1" presStyleLbl="parChTrans1D2" presStyleIdx="2" presStyleCnt="3"/>
      <dgm:spPr/>
    </dgm:pt>
    <dgm:pt modelId="{457CB854-EBA8-4C11-AE31-3C9FA71E9DB5}" type="pres">
      <dgm:prSet presAssocID="{9A230302-F8B2-47C9-BCD6-097AB3646F09}" presName="connTx" presStyleLbl="parChTrans1D2" presStyleIdx="2" presStyleCnt="3"/>
      <dgm:spPr/>
    </dgm:pt>
    <dgm:pt modelId="{C34AC027-ED5A-41AF-8485-D17F48E18ED1}" type="pres">
      <dgm:prSet presAssocID="{5E05E845-2083-45EF-AB61-1F4781392AF5}" presName="root2" presStyleCnt="0"/>
      <dgm:spPr/>
    </dgm:pt>
    <dgm:pt modelId="{5DF86117-A3A8-4C22-B103-C8C3B14A0549}" type="pres">
      <dgm:prSet presAssocID="{5E05E845-2083-45EF-AB61-1F4781392AF5}" presName="LevelTwoTextNode" presStyleLbl="node2" presStyleIdx="2" presStyleCnt="3">
        <dgm:presLayoutVars>
          <dgm:chPref val="3"/>
        </dgm:presLayoutVars>
      </dgm:prSet>
      <dgm:spPr/>
    </dgm:pt>
    <dgm:pt modelId="{8DCC6B77-05E1-4A5C-9003-DDB47346EB7F}" type="pres">
      <dgm:prSet presAssocID="{5E05E845-2083-45EF-AB61-1F4781392AF5}" presName="level3hierChild" presStyleCnt="0"/>
      <dgm:spPr/>
    </dgm:pt>
  </dgm:ptLst>
  <dgm:cxnLst>
    <dgm:cxn modelId="{CE089010-24FE-4666-A2C2-B01565318F4E}" type="presOf" srcId="{4FDD334C-C3D6-4F26-A9BB-EF5A5B5C82AA}" destId="{B437AE08-E6AF-43B1-96EC-E61DD06FD942}" srcOrd="0" destOrd="0" presId="urn:microsoft.com/office/officeart/2005/8/layout/hierarchy2"/>
    <dgm:cxn modelId="{1F47023C-556C-4337-860C-ADC8C0D0898C}" srcId="{E2E3079A-BBC4-4ED0-BEAD-411F5C8ED4C9}" destId="{4FDD334C-C3D6-4F26-A9BB-EF5A5B5C82AA}" srcOrd="1" destOrd="0" parTransId="{296A4CA4-5101-4A8D-8B90-4863B3559871}" sibTransId="{DB0B09E6-397C-4A4A-BFA7-F587A4B96B77}"/>
    <dgm:cxn modelId="{35B4F24F-3219-42F5-8B92-080F691B767A}" type="presOf" srcId="{E2E3079A-BBC4-4ED0-BEAD-411F5C8ED4C9}" destId="{98B458F9-F3BB-4BCC-B805-F95912C1B460}" srcOrd="0" destOrd="0" presId="urn:microsoft.com/office/officeart/2005/8/layout/hierarchy2"/>
    <dgm:cxn modelId="{C9A64A53-A12E-413A-BB27-269A57FE1785}" type="presOf" srcId="{6D925B95-9382-4FB5-8ED2-E27689E91D7D}" destId="{9C034859-015C-4733-A6F6-1DF43B02F6A2}" srcOrd="0" destOrd="0" presId="urn:microsoft.com/office/officeart/2005/8/layout/hierarchy2"/>
    <dgm:cxn modelId="{C7EE0A55-0D63-40CA-AD87-73448F459A0B}" type="presOf" srcId="{863450F4-50AB-490B-8CD8-C5EF8062005A}" destId="{38EFC7F8-58A2-4BA8-A3FB-48CEA18E18A4}" srcOrd="1" destOrd="0" presId="urn:microsoft.com/office/officeart/2005/8/layout/hierarchy2"/>
    <dgm:cxn modelId="{645A2F57-C671-46E9-8483-0D2B2A9279FB}" type="presOf" srcId="{296A4CA4-5101-4A8D-8B90-4863B3559871}" destId="{D2C1CDA6-4512-4FA7-BB55-1B8D912D1816}" srcOrd="1" destOrd="0" presId="urn:microsoft.com/office/officeart/2005/8/layout/hierarchy2"/>
    <dgm:cxn modelId="{EFDFAD97-F530-4784-871F-41599BFFD3AF}" srcId="{E2E3079A-BBC4-4ED0-BEAD-411F5C8ED4C9}" destId="{6A6A1517-B9AB-4DA6-8702-AB3026295A52}" srcOrd="0" destOrd="0" parTransId="{863450F4-50AB-490B-8CD8-C5EF8062005A}" sibTransId="{797DB36F-9987-4317-BB2B-E9EBF43C3A52}"/>
    <dgm:cxn modelId="{3C264BA3-B9EE-4086-90A9-18EF65A99DE0}" type="presOf" srcId="{6A6A1517-B9AB-4DA6-8702-AB3026295A52}" destId="{9A914191-E4EB-495C-B8FD-ED1470495336}" srcOrd="0" destOrd="0" presId="urn:microsoft.com/office/officeart/2005/8/layout/hierarchy2"/>
    <dgm:cxn modelId="{99F5A9A6-B1D8-4DE0-B4DB-EDF04AA72681}" srcId="{E2E3079A-BBC4-4ED0-BEAD-411F5C8ED4C9}" destId="{5E05E845-2083-45EF-AB61-1F4781392AF5}" srcOrd="2" destOrd="0" parTransId="{9A230302-F8B2-47C9-BCD6-097AB3646F09}" sibTransId="{96943294-892D-4FBE-AA30-4EDD2E125106}"/>
    <dgm:cxn modelId="{F40E73AB-DBA0-481E-BFB4-7D593048937C}" type="presOf" srcId="{296A4CA4-5101-4A8D-8B90-4863B3559871}" destId="{2DEC78A8-83A4-4EFB-9AAB-D691344E8B5B}" srcOrd="0" destOrd="0" presId="urn:microsoft.com/office/officeart/2005/8/layout/hierarchy2"/>
    <dgm:cxn modelId="{ABA642AD-AA69-4D3D-8160-255E96A559FF}" srcId="{6D925B95-9382-4FB5-8ED2-E27689E91D7D}" destId="{E2E3079A-BBC4-4ED0-BEAD-411F5C8ED4C9}" srcOrd="0" destOrd="0" parTransId="{911D70C4-AC73-4DAD-AFBE-3F4F9F2B89EA}" sibTransId="{A5861784-24BF-41B3-B187-2FFEBFA817DC}"/>
    <dgm:cxn modelId="{BDB6B2B4-4E5E-4CEB-B1FC-ACA674BF08B2}" type="presOf" srcId="{9A230302-F8B2-47C9-BCD6-097AB3646F09}" destId="{057B7B78-D602-4C3C-BAA2-7A7639C7AC96}" srcOrd="0" destOrd="0" presId="urn:microsoft.com/office/officeart/2005/8/layout/hierarchy2"/>
    <dgm:cxn modelId="{FFDF2FB8-0FAC-47EF-93E0-D4674A2CC224}" type="presOf" srcId="{9A230302-F8B2-47C9-BCD6-097AB3646F09}" destId="{457CB854-EBA8-4C11-AE31-3C9FA71E9DB5}" srcOrd="1" destOrd="0" presId="urn:microsoft.com/office/officeart/2005/8/layout/hierarchy2"/>
    <dgm:cxn modelId="{C715E7D2-634E-4E00-8E75-30BB9E903998}" type="presOf" srcId="{863450F4-50AB-490B-8CD8-C5EF8062005A}" destId="{7101AAD5-554D-45E7-9F31-E70015AE5EBD}" srcOrd="0" destOrd="0" presId="urn:microsoft.com/office/officeart/2005/8/layout/hierarchy2"/>
    <dgm:cxn modelId="{AF8869DD-A3A0-4F1B-A777-1EEA6F233C57}" type="presOf" srcId="{5E05E845-2083-45EF-AB61-1F4781392AF5}" destId="{5DF86117-A3A8-4C22-B103-C8C3B14A0549}" srcOrd="0" destOrd="0" presId="urn:microsoft.com/office/officeart/2005/8/layout/hierarchy2"/>
    <dgm:cxn modelId="{FD05A57D-391C-4ED3-B4BD-DEDF0A2DEA20}" type="presParOf" srcId="{9C034859-015C-4733-A6F6-1DF43B02F6A2}" destId="{43D93C54-B50F-4241-9322-23FF8A47F66C}" srcOrd="0" destOrd="0" presId="urn:microsoft.com/office/officeart/2005/8/layout/hierarchy2"/>
    <dgm:cxn modelId="{5844CC8B-1CC6-4089-8CC5-82FB6F3B3D7C}" type="presParOf" srcId="{43D93C54-B50F-4241-9322-23FF8A47F66C}" destId="{98B458F9-F3BB-4BCC-B805-F95912C1B460}" srcOrd="0" destOrd="0" presId="urn:microsoft.com/office/officeart/2005/8/layout/hierarchy2"/>
    <dgm:cxn modelId="{3A005B12-EFE7-40BF-93AC-7577B51E0B27}" type="presParOf" srcId="{43D93C54-B50F-4241-9322-23FF8A47F66C}" destId="{B758F7AB-9C8F-4146-8698-14C261BF0788}" srcOrd="1" destOrd="0" presId="urn:microsoft.com/office/officeart/2005/8/layout/hierarchy2"/>
    <dgm:cxn modelId="{5FC6CBF2-36A4-4018-880C-C875F24DB39B}" type="presParOf" srcId="{B758F7AB-9C8F-4146-8698-14C261BF0788}" destId="{7101AAD5-554D-45E7-9F31-E70015AE5EBD}" srcOrd="0" destOrd="0" presId="urn:microsoft.com/office/officeart/2005/8/layout/hierarchy2"/>
    <dgm:cxn modelId="{E4C5936F-CE1F-4050-9E3E-7910E9B33974}" type="presParOf" srcId="{7101AAD5-554D-45E7-9F31-E70015AE5EBD}" destId="{38EFC7F8-58A2-4BA8-A3FB-48CEA18E18A4}" srcOrd="0" destOrd="0" presId="urn:microsoft.com/office/officeart/2005/8/layout/hierarchy2"/>
    <dgm:cxn modelId="{DB1F7934-A71A-40AA-8036-ACAB7FB309A5}" type="presParOf" srcId="{B758F7AB-9C8F-4146-8698-14C261BF0788}" destId="{E9FD4CD6-69A7-4ACA-AC5E-C5D4070EE78B}" srcOrd="1" destOrd="0" presId="urn:microsoft.com/office/officeart/2005/8/layout/hierarchy2"/>
    <dgm:cxn modelId="{2C8DB80E-34F8-45B1-8605-29325D5BD3A4}" type="presParOf" srcId="{E9FD4CD6-69A7-4ACA-AC5E-C5D4070EE78B}" destId="{9A914191-E4EB-495C-B8FD-ED1470495336}" srcOrd="0" destOrd="0" presId="urn:microsoft.com/office/officeart/2005/8/layout/hierarchy2"/>
    <dgm:cxn modelId="{785341B2-6DF5-4E62-BB94-DB9AE0054FB8}" type="presParOf" srcId="{E9FD4CD6-69A7-4ACA-AC5E-C5D4070EE78B}" destId="{3F51E6B3-1AAD-4F1F-A2C3-732EAA7A0DA3}" srcOrd="1" destOrd="0" presId="urn:microsoft.com/office/officeart/2005/8/layout/hierarchy2"/>
    <dgm:cxn modelId="{E52E0538-96B4-4BCC-8535-B5403A699369}" type="presParOf" srcId="{B758F7AB-9C8F-4146-8698-14C261BF0788}" destId="{2DEC78A8-83A4-4EFB-9AAB-D691344E8B5B}" srcOrd="2" destOrd="0" presId="urn:microsoft.com/office/officeart/2005/8/layout/hierarchy2"/>
    <dgm:cxn modelId="{AED882ED-9100-41D6-96A6-61F7C8FE4F93}" type="presParOf" srcId="{2DEC78A8-83A4-4EFB-9AAB-D691344E8B5B}" destId="{D2C1CDA6-4512-4FA7-BB55-1B8D912D1816}" srcOrd="0" destOrd="0" presId="urn:microsoft.com/office/officeart/2005/8/layout/hierarchy2"/>
    <dgm:cxn modelId="{94B57971-D174-4490-92A1-4565C0ECEB0C}" type="presParOf" srcId="{B758F7AB-9C8F-4146-8698-14C261BF0788}" destId="{C9733E35-6785-40A6-8C08-BEA8E1BAC8B9}" srcOrd="3" destOrd="0" presId="urn:microsoft.com/office/officeart/2005/8/layout/hierarchy2"/>
    <dgm:cxn modelId="{C8441A03-0AF6-4F27-8EF9-3EC9DF534EF0}" type="presParOf" srcId="{C9733E35-6785-40A6-8C08-BEA8E1BAC8B9}" destId="{B437AE08-E6AF-43B1-96EC-E61DD06FD942}" srcOrd="0" destOrd="0" presId="urn:microsoft.com/office/officeart/2005/8/layout/hierarchy2"/>
    <dgm:cxn modelId="{4AD4361D-92B2-4B00-801B-FEF5683B9AFE}" type="presParOf" srcId="{C9733E35-6785-40A6-8C08-BEA8E1BAC8B9}" destId="{BCEE3564-1237-46EB-AD10-1BBDA61267E8}" srcOrd="1" destOrd="0" presId="urn:microsoft.com/office/officeart/2005/8/layout/hierarchy2"/>
    <dgm:cxn modelId="{58F952C4-9A1F-487E-8BE8-1B27AF1EB971}" type="presParOf" srcId="{B758F7AB-9C8F-4146-8698-14C261BF0788}" destId="{057B7B78-D602-4C3C-BAA2-7A7639C7AC96}" srcOrd="4" destOrd="0" presId="urn:microsoft.com/office/officeart/2005/8/layout/hierarchy2"/>
    <dgm:cxn modelId="{7E447FC9-0406-41C3-A0C4-C1A900B353F7}" type="presParOf" srcId="{057B7B78-D602-4C3C-BAA2-7A7639C7AC96}" destId="{457CB854-EBA8-4C11-AE31-3C9FA71E9DB5}" srcOrd="0" destOrd="0" presId="urn:microsoft.com/office/officeart/2005/8/layout/hierarchy2"/>
    <dgm:cxn modelId="{05A8FB5A-8653-42F8-AD61-36CF1D71C4E8}" type="presParOf" srcId="{B758F7AB-9C8F-4146-8698-14C261BF0788}" destId="{C34AC027-ED5A-41AF-8485-D17F48E18ED1}" srcOrd="5" destOrd="0" presId="urn:microsoft.com/office/officeart/2005/8/layout/hierarchy2"/>
    <dgm:cxn modelId="{B3AF16E7-7076-4C4B-B6A8-4D9F2390D232}" type="presParOf" srcId="{C34AC027-ED5A-41AF-8485-D17F48E18ED1}" destId="{5DF86117-A3A8-4C22-B103-C8C3B14A0549}" srcOrd="0" destOrd="0" presId="urn:microsoft.com/office/officeart/2005/8/layout/hierarchy2"/>
    <dgm:cxn modelId="{F3515D2A-66C1-425D-93B8-D0278AC622CD}" type="presParOf" srcId="{C34AC027-ED5A-41AF-8485-D17F48E18ED1}" destId="{8DCC6B77-05E1-4A5C-9003-DDB47346EB7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63A66-F8E2-4783-B37B-CD9ED0392DA4}">
      <dsp:nvSpPr>
        <dsp:cNvPr id="0" name=""/>
        <dsp:cNvSpPr/>
      </dsp:nvSpPr>
      <dsp:spPr>
        <a:xfrm>
          <a:off x="557807" y="1744488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>
              <a:effectLst/>
              <a:latin typeface="Bahnschrift" panose="020B0502040204020203" pitchFamily="34" charset="0"/>
            </a:rPr>
            <a:t>Some types of factors used in customer targeting are</a:t>
          </a:r>
          <a:endParaRPr lang="en-US" sz="2500" b="0" i="0" kern="1200" dirty="0">
            <a:effectLst/>
            <a:latin typeface="Bahnschrift" panose="020B0502040204020203" pitchFamily="34" charset="0"/>
          </a:endParaRPr>
        </a:p>
      </dsp:txBody>
      <dsp:txXfrm>
        <a:off x="602175" y="1788856"/>
        <a:ext cx="2940908" cy="1426086"/>
      </dsp:txXfrm>
    </dsp:sp>
    <dsp:sp modelId="{DEA4349D-D6B9-4348-8D6A-DC62190D819F}">
      <dsp:nvSpPr>
        <dsp:cNvPr id="0" name=""/>
        <dsp:cNvSpPr/>
      </dsp:nvSpPr>
      <dsp:spPr>
        <a:xfrm rot="18289469">
          <a:off x="3132329" y="1603631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40328" y="1577824"/>
        <a:ext cx="106105" cy="106105"/>
      </dsp:txXfrm>
    </dsp:sp>
    <dsp:sp modelId="{936CE9E0-3C74-41BB-8C08-6E3CAD98D86F}">
      <dsp:nvSpPr>
        <dsp:cNvPr id="0" name=""/>
        <dsp:cNvSpPr/>
      </dsp:nvSpPr>
      <dsp:spPr>
        <a:xfrm>
          <a:off x="4799309" y="2443"/>
          <a:ext cx="3029644" cy="151482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effectLst/>
              <a:latin typeface="Bahnschrift" panose="020B0502040204020203" pitchFamily="34" charset="0"/>
            </a:rPr>
            <a:t>Socio-demographic factors</a:t>
          </a:r>
          <a:endParaRPr lang="en-US" sz="2500" kern="1200" dirty="0">
            <a:latin typeface="Bahnschrift" panose="020B0502040204020203" pitchFamily="34" charset="0"/>
          </a:endParaRPr>
        </a:p>
      </dsp:txBody>
      <dsp:txXfrm>
        <a:off x="4843677" y="46811"/>
        <a:ext cx="2940908" cy="1426086"/>
      </dsp:txXfrm>
    </dsp:sp>
    <dsp:sp modelId="{2FECBE10-4A11-4F8B-A617-BB40C9D438B4}">
      <dsp:nvSpPr>
        <dsp:cNvPr id="0" name=""/>
        <dsp:cNvSpPr/>
      </dsp:nvSpPr>
      <dsp:spPr>
        <a:xfrm>
          <a:off x="3587452" y="2474653"/>
          <a:ext cx="121185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11857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4163084" y="2471603"/>
        <a:ext cx="60592" cy="60592"/>
      </dsp:txXfrm>
    </dsp:sp>
    <dsp:sp modelId="{12104434-2EAA-4D70-AC1B-3251A8DEDCCC}">
      <dsp:nvSpPr>
        <dsp:cNvPr id="0" name=""/>
        <dsp:cNvSpPr/>
      </dsp:nvSpPr>
      <dsp:spPr>
        <a:xfrm>
          <a:off x="4799309" y="1744488"/>
          <a:ext cx="3029644" cy="1514822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effectLst/>
              <a:latin typeface="Bahnschrift" panose="020B0502040204020203" pitchFamily="34" charset="0"/>
            </a:rPr>
            <a:t>Engagement factors</a:t>
          </a:r>
          <a:r>
            <a:rPr lang="en-IN" sz="2500" b="0" i="0" kern="1200">
              <a:effectLst/>
              <a:latin typeface="Bahnschrift" panose="020B0502040204020203" pitchFamily="34" charset="0"/>
            </a:rPr>
            <a:t>:</a:t>
          </a:r>
          <a:endParaRPr lang="en-US" sz="2500" b="0" i="0" kern="1200" dirty="0">
            <a:effectLst/>
            <a:latin typeface="Bahnschrift" panose="020B0502040204020203" pitchFamily="34" charset="0"/>
          </a:endParaRPr>
        </a:p>
      </dsp:txBody>
      <dsp:txXfrm>
        <a:off x="4843677" y="1788856"/>
        <a:ext cx="2940908" cy="1426086"/>
      </dsp:txXfrm>
    </dsp:sp>
    <dsp:sp modelId="{24B95822-B5BA-4F88-B51B-A424E2056326}">
      <dsp:nvSpPr>
        <dsp:cNvPr id="0" name=""/>
        <dsp:cNvSpPr/>
      </dsp:nvSpPr>
      <dsp:spPr>
        <a:xfrm rot="3310531">
          <a:off x="3132329" y="3345676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40328" y="3319870"/>
        <a:ext cx="106105" cy="106105"/>
      </dsp:txXfrm>
    </dsp:sp>
    <dsp:sp modelId="{5DE10B34-F86D-4394-B734-7752AEC5E3B4}">
      <dsp:nvSpPr>
        <dsp:cNvPr id="0" name=""/>
        <dsp:cNvSpPr/>
      </dsp:nvSpPr>
      <dsp:spPr>
        <a:xfrm>
          <a:off x="4799309" y="3486534"/>
          <a:ext cx="3029644" cy="151482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effectLst/>
              <a:latin typeface="Bahnschrift" panose="020B0502040204020203" pitchFamily="34" charset="0"/>
            </a:rPr>
            <a:t>Past campaign factors</a:t>
          </a:r>
          <a:endParaRPr lang="en-IN" sz="2500" kern="1200" dirty="0">
            <a:latin typeface="Bahnschrift" panose="020B0502040204020203" pitchFamily="34" charset="0"/>
          </a:endParaRPr>
        </a:p>
      </dsp:txBody>
      <dsp:txXfrm>
        <a:off x="4843677" y="3530902"/>
        <a:ext cx="2940908" cy="1426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458F9-F3BB-4BCC-B805-F95912C1B460}">
      <dsp:nvSpPr>
        <dsp:cNvPr id="0" name=""/>
        <dsp:cNvSpPr/>
      </dsp:nvSpPr>
      <dsp:spPr>
        <a:xfrm>
          <a:off x="49917" y="1715800"/>
          <a:ext cx="2979821" cy="1489910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effectLst/>
              <a:latin typeface="Bahnschrift" panose="020B0502040204020203" pitchFamily="34" charset="0"/>
            </a:rPr>
            <a:t>Some types of factors used in quality improvement are </a:t>
          </a:r>
        </a:p>
      </dsp:txBody>
      <dsp:txXfrm>
        <a:off x="93555" y="1759438"/>
        <a:ext cx="2892545" cy="1402634"/>
      </dsp:txXfrm>
    </dsp:sp>
    <dsp:sp modelId="{7101AAD5-554D-45E7-9F31-E70015AE5EBD}">
      <dsp:nvSpPr>
        <dsp:cNvPr id="0" name=""/>
        <dsp:cNvSpPr/>
      </dsp:nvSpPr>
      <dsp:spPr>
        <a:xfrm rot="18289469">
          <a:off x="2582100" y="1576810"/>
          <a:ext cx="208720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87204" y="2724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3573522" y="1551876"/>
        <a:ext cx="104360" cy="104360"/>
      </dsp:txXfrm>
    </dsp:sp>
    <dsp:sp modelId="{9A914191-E4EB-495C-B8FD-ED1470495336}">
      <dsp:nvSpPr>
        <dsp:cNvPr id="0" name=""/>
        <dsp:cNvSpPr/>
      </dsp:nvSpPr>
      <dsp:spPr>
        <a:xfrm>
          <a:off x="4221666" y="2403"/>
          <a:ext cx="2979821" cy="1489910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i="0" kern="1200">
              <a:effectLst/>
              <a:latin typeface="Bahnschrift" panose="020B0502040204020203" pitchFamily="34" charset="0"/>
            </a:rPr>
            <a:t>Product characteristics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4265304" y="46041"/>
        <a:ext cx="2892545" cy="1402634"/>
      </dsp:txXfrm>
    </dsp:sp>
    <dsp:sp modelId="{2DEC78A8-83A4-4EFB-9AAB-D691344E8B5B}">
      <dsp:nvSpPr>
        <dsp:cNvPr id="0" name=""/>
        <dsp:cNvSpPr/>
      </dsp:nvSpPr>
      <dsp:spPr>
        <a:xfrm>
          <a:off x="3029738" y="2433509"/>
          <a:ext cx="1191928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191928" y="2724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3595904" y="2430957"/>
        <a:ext cx="59596" cy="59596"/>
      </dsp:txXfrm>
    </dsp:sp>
    <dsp:sp modelId="{B437AE08-E6AF-43B1-96EC-E61DD06FD942}">
      <dsp:nvSpPr>
        <dsp:cNvPr id="0" name=""/>
        <dsp:cNvSpPr/>
      </dsp:nvSpPr>
      <dsp:spPr>
        <a:xfrm>
          <a:off x="4221666" y="1715800"/>
          <a:ext cx="2979821" cy="1489910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i="0" kern="1200">
              <a:effectLst/>
              <a:latin typeface="Bahnschrift" panose="020B0502040204020203" pitchFamily="34" charset="0"/>
            </a:rPr>
            <a:t>Customer characteristics</a:t>
          </a:r>
          <a:endParaRPr lang="en-US" sz="2400" b="1" i="0" kern="1200" dirty="0">
            <a:effectLst/>
            <a:latin typeface="Bahnschrift" panose="020B0502040204020203" pitchFamily="34" charset="0"/>
          </a:endParaRPr>
        </a:p>
      </dsp:txBody>
      <dsp:txXfrm>
        <a:off x="4265304" y="1759438"/>
        <a:ext cx="2892545" cy="1402634"/>
      </dsp:txXfrm>
    </dsp:sp>
    <dsp:sp modelId="{057B7B78-D602-4C3C-BAA2-7A7639C7AC96}">
      <dsp:nvSpPr>
        <dsp:cNvPr id="0" name=""/>
        <dsp:cNvSpPr/>
      </dsp:nvSpPr>
      <dsp:spPr>
        <a:xfrm rot="3310531">
          <a:off x="2582100" y="3290207"/>
          <a:ext cx="208720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87204" y="2724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3573522" y="3265273"/>
        <a:ext cx="104360" cy="104360"/>
      </dsp:txXfrm>
    </dsp:sp>
    <dsp:sp modelId="{5DF86117-A3A8-4C22-B103-C8C3B14A0549}">
      <dsp:nvSpPr>
        <dsp:cNvPr id="0" name=""/>
        <dsp:cNvSpPr/>
      </dsp:nvSpPr>
      <dsp:spPr>
        <a:xfrm>
          <a:off x="4221666" y="3429197"/>
          <a:ext cx="2979821" cy="1489910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i="0" kern="1200">
              <a:effectLst/>
              <a:latin typeface="Bahnschrift" panose="020B0502040204020203" pitchFamily="34" charset="0"/>
            </a:rPr>
            <a:t>Customer surveys</a:t>
          </a:r>
          <a:endParaRPr lang="en-IN" sz="2400" kern="1200" dirty="0">
            <a:latin typeface="Bahnschrift" panose="020B0502040204020203" pitchFamily="34" charset="0"/>
          </a:endParaRPr>
        </a:p>
      </dsp:txBody>
      <dsp:txXfrm>
        <a:off x="4265304" y="3472835"/>
        <a:ext cx="2892545" cy="1402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6B414-6800-49C9-BF13-93FDD01F9243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AD9C3-09AC-484C-AF0E-2CEA10C9F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6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AD9C3-09AC-484C-AF0E-2CEA10C9F09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26395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734925" cy="3773150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</a:rPr>
              <a:t>learn interactive </a:t>
            </a:r>
            <a:r>
              <a:rPr lang="en-IN" dirty="0">
                <a:solidFill>
                  <a:srgbClr val="000000"/>
                </a:solidFill>
              </a:rPr>
              <a:t>data visualization</a:t>
            </a:r>
            <a:r>
              <a:rPr lang="en-IN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</a:rPr>
              <a:t>learn applications of business analytics.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8756F0-A127-45AB-96FA-A7B9A8D69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019" y="1954212"/>
            <a:ext cx="6477000" cy="43529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AD43AF9-E4CA-4E40-8F11-DD334A00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3033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43AF9-E4CA-4E40-8F11-DD334A00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57FA7B-3111-4AEB-91C4-A9360E496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2267895"/>
            <a:ext cx="8386762" cy="372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162112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06686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849735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47753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36980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43709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22FB7-2271-4EC1-85A7-70203E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IN" b="0" i="0" dirty="0">
                <a:effectLst/>
              </a:rPr>
              <a:t>nteractive </a:t>
            </a:r>
            <a:r>
              <a:rPr lang="en-IN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10689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262F65-B5F4-4448-AA06-B9F889AD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Applications of Predictive Analytics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D16CE74-F2B5-47F9-9A04-6825AAA2BC94}"/>
              </a:ext>
            </a:extLst>
          </p:cNvPr>
          <p:cNvSpPr/>
          <p:nvPr/>
        </p:nvSpPr>
        <p:spPr>
          <a:xfrm>
            <a:off x="2233535" y="1530356"/>
            <a:ext cx="4317168" cy="791575"/>
          </a:xfrm>
          <a:custGeom>
            <a:avLst/>
            <a:gdLst>
              <a:gd name="connsiteX0" fmla="*/ 0 w 2539849"/>
              <a:gd name="connsiteY0" fmla="*/ 131932 h 791575"/>
              <a:gd name="connsiteX1" fmla="*/ 131932 w 2539849"/>
              <a:gd name="connsiteY1" fmla="*/ 0 h 791575"/>
              <a:gd name="connsiteX2" fmla="*/ 2407917 w 2539849"/>
              <a:gd name="connsiteY2" fmla="*/ 0 h 791575"/>
              <a:gd name="connsiteX3" fmla="*/ 2539849 w 2539849"/>
              <a:gd name="connsiteY3" fmla="*/ 131932 h 791575"/>
              <a:gd name="connsiteX4" fmla="*/ 2539849 w 2539849"/>
              <a:gd name="connsiteY4" fmla="*/ 659643 h 791575"/>
              <a:gd name="connsiteX5" fmla="*/ 2407917 w 2539849"/>
              <a:gd name="connsiteY5" fmla="*/ 791575 h 791575"/>
              <a:gd name="connsiteX6" fmla="*/ 131932 w 2539849"/>
              <a:gd name="connsiteY6" fmla="*/ 791575 h 791575"/>
              <a:gd name="connsiteX7" fmla="*/ 0 w 2539849"/>
              <a:gd name="connsiteY7" fmla="*/ 659643 h 791575"/>
              <a:gd name="connsiteX8" fmla="*/ 0 w 2539849"/>
              <a:gd name="connsiteY8" fmla="*/ 131932 h 79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49" h="791575">
                <a:moveTo>
                  <a:pt x="0" y="131932"/>
                </a:moveTo>
                <a:cubicBezTo>
                  <a:pt x="0" y="59068"/>
                  <a:pt x="59068" y="0"/>
                  <a:pt x="131932" y="0"/>
                </a:cubicBezTo>
                <a:lnTo>
                  <a:pt x="2407917" y="0"/>
                </a:lnTo>
                <a:cubicBezTo>
                  <a:pt x="2480781" y="0"/>
                  <a:pt x="2539849" y="59068"/>
                  <a:pt x="2539849" y="131932"/>
                </a:cubicBezTo>
                <a:lnTo>
                  <a:pt x="2539849" y="659643"/>
                </a:lnTo>
                <a:cubicBezTo>
                  <a:pt x="2539849" y="732507"/>
                  <a:pt x="2480781" y="791575"/>
                  <a:pt x="2407917" y="791575"/>
                </a:cubicBezTo>
                <a:lnTo>
                  <a:pt x="131932" y="791575"/>
                </a:lnTo>
                <a:cubicBezTo>
                  <a:pt x="59068" y="791575"/>
                  <a:pt x="0" y="732507"/>
                  <a:pt x="0" y="659643"/>
                </a:cubicBezTo>
                <a:lnTo>
                  <a:pt x="0" y="131932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2462" tIns="80552" rIns="122462" bIns="8055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IN" sz="2200" b="0" i="0" kern="1200" dirty="0">
                <a:latin typeface="Bahnschrift" panose="020B0502040204020203" pitchFamily="34" charset="0"/>
              </a:rPr>
              <a:t>Customer targeting.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874573-43AA-48D2-8111-C11359A65163}"/>
              </a:ext>
            </a:extLst>
          </p:cNvPr>
          <p:cNvSpPr/>
          <p:nvPr/>
        </p:nvSpPr>
        <p:spPr>
          <a:xfrm>
            <a:off x="2233535" y="2382496"/>
            <a:ext cx="4317168" cy="791575"/>
          </a:xfrm>
          <a:custGeom>
            <a:avLst/>
            <a:gdLst>
              <a:gd name="connsiteX0" fmla="*/ 0 w 2539849"/>
              <a:gd name="connsiteY0" fmla="*/ 131932 h 791575"/>
              <a:gd name="connsiteX1" fmla="*/ 131932 w 2539849"/>
              <a:gd name="connsiteY1" fmla="*/ 0 h 791575"/>
              <a:gd name="connsiteX2" fmla="*/ 2407917 w 2539849"/>
              <a:gd name="connsiteY2" fmla="*/ 0 h 791575"/>
              <a:gd name="connsiteX3" fmla="*/ 2539849 w 2539849"/>
              <a:gd name="connsiteY3" fmla="*/ 131932 h 791575"/>
              <a:gd name="connsiteX4" fmla="*/ 2539849 w 2539849"/>
              <a:gd name="connsiteY4" fmla="*/ 659643 h 791575"/>
              <a:gd name="connsiteX5" fmla="*/ 2407917 w 2539849"/>
              <a:gd name="connsiteY5" fmla="*/ 791575 h 791575"/>
              <a:gd name="connsiteX6" fmla="*/ 131932 w 2539849"/>
              <a:gd name="connsiteY6" fmla="*/ 791575 h 791575"/>
              <a:gd name="connsiteX7" fmla="*/ 0 w 2539849"/>
              <a:gd name="connsiteY7" fmla="*/ 659643 h 791575"/>
              <a:gd name="connsiteX8" fmla="*/ 0 w 2539849"/>
              <a:gd name="connsiteY8" fmla="*/ 131932 h 79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49" h="791575">
                <a:moveTo>
                  <a:pt x="0" y="131932"/>
                </a:moveTo>
                <a:cubicBezTo>
                  <a:pt x="0" y="59068"/>
                  <a:pt x="59068" y="0"/>
                  <a:pt x="131932" y="0"/>
                </a:cubicBezTo>
                <a:lnTo>
                  <a:pt x="2407917" y="0"/>
                </a:lnTo>
                <a:cubicBezTo>
                  <a:pt x="2480781" y="0"/>
                  <a:pt x="2539849" y="59068"/>
                  <a:pt x="2539849" y="131932"/>
                </a:cubicBezTo>
                <a:lnTo>
                  <a:pt x="2539849" y="659643"/>
                </a:lnTo>
                <a:cubicBezTo>
                  <a:pt x="2539849" y="732507"/>
                  <a:pt x="2480781" y="791575"/>
                  <a:pt x="2407917" y="791575"/>
                </a:cubicBezTo>
                <a:lnTo>
                  <a:pt x="131932" y="791575"/>
                </a:lnTo>
                <a:cubicBezTo>
                  <a:pt x="59068" y="791575"/>
                  <a:pt x="0" y="732507"/>
                  <a:pt x="0" y="659643"/>
                </a:cubicBezTo>
                <a:lnTo>
                  <a:pt x="0" y="131932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2462" tIns="80552" rIns="122462" bIns="8055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IN" sz="2200" b="0" i="0" kern="1200" dirty="0">
                <a:latin typeface="Bahnschrift" panose="020B0502040204020203" pitchFamily="34" charset="0"/>
              </a:rPr>
              <a:t>Churn prevention.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013308-D457-4E8D-A4C0-9F763CD39B37}"/>
              </a:ext>
            </a:extLst>
          </p:cNvPr>
          <p:cNvSpPr/>
          <p:nvPr/>
        </p:nvSpPr>
        <p:spPr>
          <a:xfrm>
            <a:off x="2233535" y="3234636"/>
            <a:ext cx="4317168" cy="791575"/>
          </a:xfrm>
          <a:custGeom>
            <a:avLst/>
            <a:gdLst>
              <a:gd name="connsiteX0" fmla="*/ 0 w 2539849"/>
              <a:gd name="connsiteY0" fmla="*/ 131932 h 791575"/>
              <a:gd name="connsiteX1" fmla="*/ 131932 w 2539849"/>
              <a:gd name="connsiteY1" fmla="*/ 0 h 791575"/>
              <a:gd name="connsiteX2" fmla="*/ 2407917 w 2539849"/>
              <a:gd name="connsiteY2" fmla="*/ 0 h 791575"/>
              <a:gd name="connsiteX3" fmla="*/ 2539849 w 2539849"/>
              <a:gd name="connsiteY3" fmla="*/ 131932 h 791575"/>
              <a:gd name="connsiteX4" fmla="*/ 2539849 w 2539849"/>
              <a:gd name="connsiteY4" fmla="*/ 659643 h 791575"/>
              <a:gd name="connsiteX5" fmla="*/ 2407917 w 2539849"/>
              <a:gd name="connsiteY5" fmla="*/ 791575 h 791575"/>
              <a:gd name="connsiteX6" fmla="*/ 131932 w 2539849"/>
              <a:gd name="connsiteY6" fmla="*/ 791575 h 791575"/>
              <a:gd name="connsiteX7" fmla="*/ 0 w 2539849"/>
              <a:gd name="connsiteY7" fmla="*/ 659643 h 791575"/>
              <a:gd name="connsiteX8" fmla="*/ 0 w 2539849"/>
              <a:gd name="connsiteY8" fmla="*/ 131932 h 79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49" h="791575">
                <a:moveTo>
                  <a:pt x="0" y="131932"/>
                </a:moveTo>
                <a:cubicBezTo>
                  <a:pt x="0" y="59068"/>
                  <a:pt x="59068" y="0"/>
                  <a:pt x="131932" y="0"/>
                </a:cubicBezTo>
                <a:lnTo>
                  <a:pt x="2407917" y="0"/>
                </a:lnTo>
                <a:cubicBezTo>
                  <a:pt x="2480781" y="0"/>
                  <a:pt x="2539849" y="59068"/>
                  <a:pt x="2539849" y="131932"/>
                </a:cubicBezTo>
                <a:lnTo>
                  <a:pt x="2539849" y="659643"/>
                </a:lnTo>
                <a:cubicBezTo>
                  <a:pt x="2539849" y="732507"/>
                  <a:pt x="2480781" y="791575"/>
                  <a:pt x="2407917" y="791575"/>
                </a:cubicBezTo>
                <a:lnTo>
                  <a:pt x="131932" y="791575"/>
                </a:lnTo>
                <a:cubicBezTo>
                  <a:pt x="59068" y="791575"/>
                  <a:pt x="0" y="732507"/>
                  <a:pt x="0" y="659643"/>
                </a:cubicBezTo>
                <a:lnTo>
                  <a:pt x="0" y="131932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2462" tIns="80552" rIns="122462" bIns="8055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IN" sz="2200" b="0" i="0" kern="1200" dirty="0">
                <a:latin typeface="Bahnschrift" panose="020B0502040204020203" pitchFamily="34" charset="0"/>
              </a:rPr>
              <a:t>Sales forecasting.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2C7A557-1C2A-46EC-B3BC-31A38F42B5C3}"/>
              </a:ext>
            </a:extLst>
          </p:cNvPr>
          <p:cNvSpPr/>
          <p:nvPr/>
        </p:nvSpPr>
        <p:spPr>
          <a:xfrm>
            <a:off x="2233535" y="4086776"/>
            <a:ext cx="4317168" cy="791575"/>
          </a:xfrm>
          <a:custGeom>
            <a:avLst/>
            <a:gdLst>
              <a:gd name="connsiteX0" fmla="*/ 0 w 2539849"/>
              <a:gd name="connsiteY0" fmla="*/ 131932 h 791575"/>
              <a:gd name="connsiteX1" fmla="*/ 131932 w 2539849"/>
              <a:gd name="connsiteY1" fmla="*/ 0 h 791575"/>
              <a:gd name="connsiteX2" fmla="*/ 2407917 w 2539849"/>
              <a:gd name="connsiteY2" fmla="*/ 0 h 791575"/>
              <a:gd name="connsiteX3" fmla="*/ 2539849 w 2539849"/>
              <a:gd name="connsiteY3" fmla="*/ 131932 h 791575"/>
              <a:gd name="connsiteX4" fmla="*/ 2539849 w 2539849"/>
              <a:gd name="connsiteY4" fmla="*/ 659643 h 791575"/>
              <a:gd name="connsiteX5" fmla="*/ 2407917 w 2539849"/>
              <a:gd name="connsiteY5" fmla="*/ 791575 h 791575"/>
              <a:gd name="connsiteX6" fmla="*/ 131932 w 2539849"/>
              <a:gd name="connsiteY6" fmla="*/ 791575 h 791575"/>
              <a:gd name="connsiteX7" fmla="*/ 0 w 2539849"/>
              <a:gd name="connsiteY7" fmla="*/ 659643 h 791575"/>
              <a:gd name="connsiteX8" fmla="*/ 0 w 2539849"/>
              <a:gd name="connsiteY8" fmla="*/ 131932 h 79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49" h="791575">
                <a:moveTo>
                  <a:pt x="0" y="131932"/>
                </a:moveTo>
                <a:cubicBezTo>
                  <a:pt x="0" y="59068"/>
                  <a:pt x="59068" y="0"/>
                  <a:pt x="131932" y="0"/>
                </a:cubicBezTo>
                <a:lnTo>
                  <a:pt x="2407917" y="0"/>
                </a:lnTo>
                <a:cubicBezTo>
                  <a:pt x="2480781" y="0"/>
                  <a:pt x="2539849" y="59068"/>
                  <a:pt x="2539849" y="131932"/>
                </a:cubicBezTo>
                <a:lnTo>
                  <a:pt x="2539849" y="659643"/>
                </a:lnTo>
                <a:cubicBezTo>
                  <a:pt x="2539849" y="732507"/>
                  <a:pt x="2480781" y="791575"/>
                  <a:pt x="2407917" y="791575"/>
                </a:cubicBezTo>
                <a:lnTo>
                  <a:pt x="131932" y="791575"/>
                </a:lnTo>
                <a:cubicBezTo>
                  <a:pt x="59068" y="791575"/>
                  <a:pt x="0" y="732507"/>
                  <a:pt x="0" y="659643"/>
                </a:cubicBezTo>
                <a:lnTo>
                  <a:pt x="0" y="131932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2462" tIns="80552" rIns="122462" bIns="8055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IN" sz="2200" b="0" i="0" kern="1200" dirty="0">
                <a:latin typeface="Bahnschrift" panose="020B0502040204020203" pitchFamily="34" charset="0"/>
              </a:rPr>
              <a:t>Market analysis.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5951AC-E3C3-44A2-B7CC-60D15878AD8C}"/>
              </a:ext>
            </a:extLst>
          </p:cNvPr>
          <p:cNvSpPr/>
          <p:nvPr/>
        </p:nvSpPr>
        <p:spPr>
          <a:xfrm>
            <a:off x="2233535" y="4938916"/>
            <a:ext cx="4317168" cy="791575"/>
          </a:xfrm>
          <a:custGeom>
            <a:avLst/>
            <a:gdLst>
              <a:gd name="connsiteX0" fmla="*/ 0 w 2539849"/>
              <a:gd name="connsiteY0" fmla="*/ 131932 h 791575"/>
              <a:gd name="connsiteX1" fmla="*/ 131932 w 2539849"/>
              <a:gd name="connsiteY1" fmla="*/ 0 h 791575"/>
              <a:gd name="connsiteX2" fmla="*/ 2407917 w 2539849"/>
              <a:gd name="connsiteY2" fmla="*/ 0 h 791575"/>
              <a:gd name="connsiteX3" fmla="*/ 2539849 w 2539849"/>
              <a:gd name="connsiteY3" fmla="*/ 131932 h 791575"/>
              <a:gd name="connsiteX4" fmla="*/ 2539849 w 2539849"/>
              <a:gd name="connsiteY4" fmla="*/ 659643 h 791575"/>
              <a:gd name="connsiteX5" fmla="*/ 2407917 w 2539849"/>
              <a:gd name="connsiteY5" fmla="*/ 791575 h 791575"/>
              <a:gd name="connsiteX6" fmla="*/ 131932 w 2539849"/>
              <a:gd name="connsiteY6" fmla="*/ 791575 h 791575"/>
              <a:gd name="connsiteX7" fmla="*/ 0 w 2539849"/>
              <a:gd name="connsiteY7" fmla="*/ 659643 h 791575"/>
              <a:gd name="connsiteX8" fmla="*/ 0 w 2539849"/>
              <a:gd name="connsiteY8" fmla="*/ 131932 h 79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49" h="791575">
                <a:moveTo>
                  <a:pt x="0" y="131932"/>
                </a:moveTo>
                <a:cubicBezTo>
                  <a:pt x="0" y="59068"/>
                  <a:pt x="59068" y="0"/>
                  <a:pt x="131932" y="0"/>
                </a:cubicBezTo>
                <a:lnTo>
                  <a:pt x="2407917" y="0"/>
                </a:lnTo>
                <a:cubicBezTo>
                  <a:pt x="2480781" y="0"/>
                  <a:pt x="2539849" y="59068"/>
                  <a:pt x="2539849" y="131932"/>
                </a:cubicBezTo>
                <a:lnTo>
                  <a:pt x="2539849" y="659643"/>
                </a:lnTo>
                <a:cubicBezTo>
                  <a:pt x="2539849" y="732507"/>
                  <a:pt x="2480781" y="791575"/>
                  <a:pt x="2407917" y="791575"/>
                </a:cubicBezTo>
                <a:lnTo>
                  <a:pt x="131932" y="791575"/>
                </a:lnTo>
                <a:cubicBezTo>
                  <a:pt x="59068" y="791575"/>
                  <a:pt x="0" y="732507"/>
                  <a:pt x="0" y="659643"/>
                </a:cubicBezTo>
                <a:lnTo>
                  <a:pt x="0" y="131932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2462" tIns="80552" rIns="122462" bIns="8055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IN" sz="2200" b="0" i="0" kern="1200" dirty="0">
                <a:latin typeface="Bahnschrift" panose="020B0502040204020203" pitchFamily="34" charset="0"/>
              </a:rPr>
              <a:t>Risk assessment.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BE180A-D64C-491C-BBF7-E39705BD3F68}"/>
              </a:ext>
            </a:extLst>
          </p:cNvPr>
          <p:cNvSpPr/>
          <p:nvPr/>
        </p:nvSpPr>
        <p:spPr>
          <a:xfrm>
            <a:off x="2233535" y="5791057"/>
            <a:ext cx="4317168" cy="791575"/>
          </a:xfrm>
          <a:custGeom>
            <a:avLst/>
            <a:gdLst>
              <a:gd name="connsiteX0" fmla="*/ 0 w 2539849"/>
              <a:gd name="connsiteY0" fmla="*/ 131932 h 791575"/>
              <a:gd name="connsiteX1" fmla="*/ 131932 w 2539849"/>
              <a:gd name="connsiteY1" fmla="*/ 0 h 791575"/>
              <a:gd name="connsiteX2" fmla="*/ 2407917 w 2539849"/>
              <a:gd name="connsiteY2" fmla="*/ 0 h 791575"/>
              <a:gd name="connsiteX3" fmla="*/ 2539849 w 2539849"/>
              <a:gd name="connsiteY3" fmla="*/ 131932 h 791575"/>
              <a:gd name="connsiteX4" fmla="*/ 2539849 w 2539849"/>
              <a:gd name="connsiteY4" fmla="*/ 659643 h 791575"/>
              <a:gd name="connsiteX5" fmla="*/ 2407917 w 2539849"/>
              <a:gd name="connsiteY5" fmla="*/ 791575 h 791575"/>
              <a:gd name="connsiteX6" fmla="*/ 131932 w 2539849"/>
              <a:gd name="connsiteY6" fmla="*/ 791575 h 791575"/>
              <a:gd name="connsiteX7" fmla="*/ 0 w 2539849"/>
              <a:gd name="connsiteY7" fmla="*/ 659643 h 791575"/>
              <a:gd name="connsiteX8" fmla="*/ 0 w 2539849"/>
              <a:gd name="connsiteY8" fmla="*/ 131932 h 79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49" h="791575">
                <a:moveTo>
                  <a:pt x="0" y="131932"/>
                </a:moveTo>
                <a:cubicBezTo>
                  <a:pt x="0" y="59068"/>
                  <a:pt x="59068" y="0"/>
                  <a:pt x="131932" y="0"/>
                </a:cubicBezTo>
                <a:lnTo>
                  <a:pt x="2407917" y="0"/>
                </a:lnTo>
                <a:cubicBezTo>
                  <a:pt x="2480781" y="0"/>
                  <a:pt x="2539849" y="59068"/>
                  <a:pt x="2539849" y="131932"/>
                </a:cubicBezTo>
                <a:lnTo>
                  <a:pt x="2539849" y="659643"/>
                </a:lnTo>
                <a:cubicBezTo>
                  <a:pt x="2539849" y="732507"/>
                  <a:pt x="2480781" y="791575"/>
                  <a:pt x="2407917" y="791575"/>
                </a:cubicBezTo>
                <a:lnTo>
                  <a:pt x="131932" y="791575"/>
                </a:lnTo>
                <a:cubicBezTo>
                  <a:pt x="59068" y="791575"/>
                  <a:pt x="0" y="732507"/>
                  <a:pt x="0" y="659643"/>
                </a:cubicBezTo>
                <a:lnTo>
                  <a:pt x="0" y="131932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2462" tIns="80552" rIns="122462" bIns="8055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None/>
            </a:pPr>
            <a:r>
              <a:rPr lang="en-IN" sz="2200" b="0" i="0" kern="1200" dirty="0">
                <a:latin typeface="Bahnschrift" panose="020B0502040204020203" pitchFamily="34" charset="0"/>
              </a:rPr>
              <a:t>Financial </a:t>
            </a:r>
            <a:r>
              <a:rPr lang="en-IN" sz="2200" b="0" i="0" kern="1200" dirty="0" err="1">
                <a:latin typeface="Bahnschrift" panose="020B0502040204020203" pitchFamily="34" charset="0"/>
              </a:rPr>
              <a:t>modeling</a:t>
            </a:r>
            <a:r>
              <a:rPr lang="en-IN" sz="2200" b="0" i="0" kern="1200" dirty="0"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4490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ED6163-AC53-423B-BC08-662D90327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1936139"/>
            <a:ext cx="8386762" cy="438907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9CA357-4650-4CF0-BFB5-90D128E9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Customer Targeting</a:t>
            </a:r>
          </a:p>
        </p:txBody>
      </p:sp>
    </p:spTree>
    <p:extLst>
      <p:ext uri="{BB962C8B-B14F-4D97-AF65-F5344CB8AC3E}">
        <p14:creationId xmlns:p14="http://schemas.microsoft.com/office/powerpoint/2010/main" val="3524763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7B9038-A5CB-4A47-A9A9-D38D077C4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39097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1892392-4FDC-4310-BB48-788B43B0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Customer Targeting</a:t>
            </a:r>
          </a:p>
        </p:txBody>
      </p:sp>
    </p:spTree>
    <p:extLst>
      <p:ext uri="{BB962C8B-B14F-4D97-AF65-F5344CB8AC3E}">
        <p14:creationId xmlns:p14="http://schemas.microsoft.com/office/powerpoint/2010/main" val="2981605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F0DC7A-3419-414F-A164-89AEDC874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7" y="1876178"/>
            <a:ext cx="8386762" cy="43890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BC8CA4-7AF5-452A-831C-008FFDA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Churn Prevention</a:t>
            </a:r>
          </a:p>
        </p:txBody>
      </p:sp>
    </p:spTree>
    <p:extLst>
      <p:ext uri="{BB962C8B-B14F-4D97-AF65-F5344CB8AC3E}">
        <p14:creationId xmlns:p14="http://schemas.microsoft.com/office/powerpoint/2010/main" val="4149314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C8CA4-7AF5-452A-831C-008FFDA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Churn Prevention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8B675EE-2B3E-48DC-ACB3-15EBDA05FA6A}"/>
              </a:ext>
            </a:extLst>
          </p:cNvPr>
          <p:cNvSpPr/>
          <p:nvPr/>
        </p:nvSpPr>
        <p:spPr>
          <a:xfrm>
            <a:off x="478915" y="3458985"/>
            <a:ext cx="3228581" cy="102821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rgbClr val="07223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latin typeface="Bahnschrift" panose="020B0502040204020203" pitchFamily="34" charset="0"/>
              </a:rPr>
              <a:t>Some types of attributes used in churn prevention are</a:t>
            </a:r>
            <a:endParaRPr lang="en-US" kern="1200" dirty="0">
              <a:latin typeface="Bahnschrift" panose="020B0502040204020203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65E0DF4-EC0D-42BA-A7E8-907BDCCD3062}"/>
              </a:ext>
            </a:extLst>
          </p:cNvPr>
          <p:cNvSpPr/>
          <p:nvPr/>
        </p:nvSpPr>
        <p:spPr>
          <a:xfrm rot="16983315">
            <a:off x="2833362" y="2934642"/>
            <a:ext cx="2299141" cy="22763"/>
          </a:xfrm>
          <a:custGeom>
            <a:avLst/>
            <a:gdLst>
              <a:gd name="connsiteX0" fmla="*/ 0 w 2299141"/>
              <a:gd name="connsiteY0" fmla="*/ 11381 h 22763"/>
              <a:gd name="connsiteX1" fmla="*/ 2299141 w 2299141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99141" h="22763">
                <a:moveTo>
                  <a:pt x="0" y="11381"/>
                </a:moveTo>
                <a:lnTo>
                  <a:pt x="2299141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04790" tIns="-46097" rIns="1104793" bIns="-46098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800" kern="1200"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5AC0367-7FED-4DCA-8E8E-CC41A0A4FDA2}"/>
              </a:ext>
            </a:extLst>
          </p:cNvPr>
          <p:cNvSpPr/>
          <p:nvPr/>
        </p:nvSpPr>
        <p:spPr>
          <a:xfrm>
            <a:off x="4242610" y="1501571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 dirty="0">
                <a:latin typeface="Bahnschrift" panose="020B0502040204020203" pitchFamily="34" charset="0"/>
              </a:rPr>
              <a:t>Socio-demographic variables</a:t>
            </a:r>
            <a:endParaRPr lang="en-US" sz="2400" kern="1200" dirty="0">
              <a:latin typeface="Bahnschrift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C6F86E-F422-4872-8BB2-701FB14F501E}"/>
              </a:ext>
            </a:extLst>
          </p:cNvPr>
          <p:cNvSpPr/>
          <p:nvPr/>
        </p:nvSpPr>
        <p:spPr>
          <a:xfrm rot="17350740">
            <a:off x="3192489" y="3307928"/>
            <a:ext cx="1580887" cy="22763"/>
          </a:xfrm>
          <a:custGeom>
            <a:avLst/>
            <a:gdLst>
              <a:gd name="connsiteX0" fmla="*/ 0 w 1580887"/>
              <a:gd name="connsiteY0" fmla="*/ 11381 h 22763"/>
              <a:gd name="connsiteX1" fmla="*/ 1580887 w 1580887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80887" h="22763">
                <a:moveTo>
                  <a:pt x="0" y="11381"/>
                </a:moveTo>
                <a:lnTo>
                  <a:pt x="1580887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3620" tIns="-28140" rIns="763622" bIns="-28142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189B422-42FE-4670-8F8D-E81C4F34D88C}"/>
              </a:ext>
            </a:extLst>
          </p:cNvPr>
          <p:cNvSpPr/>
          <p:nvPr/>
        </p:nvSpPr>
        <p:spPr>
          <a:xfrm>
            <a:off x="4242610" y="2248142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>
                <a:latin typeface="Bahnschrift" panose="020B0502040204020203" pitchFamily="34" charset="0"/>
              </a:rPr>
              <a:t>Products contracted</a:t>
            </a:r>
            <a:endParaRPr lang="en-IN" sz="2400" kern="1200" dirty="0">
              <a:latin typeface="Bahnschrift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9E58F01-B141-4AEF-A263-06258A928C7F}"/>
              </a:ext>
            </a:extLst>
          </p:cNvPr>
          <p:cNvSpPr/>
          <p:nvPr/>
        </p:nvSpPr>
        <p:spPr>
          <a:xfrm rot="18289469">
            <a:off x="3528208" y="3681214"/>
            <a:ext cx="909449" cy="22763"/>
          </a:xfrm>
          <a:custGeom>
            <a:avLst/>
            <a:gdLst>
              <a:gd name="connsiteX0" fmla="*/ 0 w 909449"/>
              <a:gd name="connsiteY0" fmla="*/ 11381 h 22763"/>
              <a:gd name="connsiteX1" fmla="*/ 909449 w 909449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9449" h="22763">
                <a:moveTo>
                  <a:pt x="0" y="11381"/>
                </a:moveTo>
                <a:lnTo>
                  <a:pt x="909449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44687" tIns="-11354" rIns="444689" bIns="-11356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>
              <a:latin typeface="Bahnschrift" panose="020B050204020402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435AABF-D597-4918-A75C-C339238D38F4}"/>
              </a:ext>
            </a:extLst>
          </p:cNvPr>
          <p:cNvSpPr/>
          <p:nvPr/>
        </p:nvSpPr>
        <p:spPr>
          <a:xfrm>
            <a:off x="4242610" y="2994714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>
                <a:latin typeface="Bahnschrift" panose="020B0502040204020203" pitchFamily="34" charset="0"/>
              </a:rPr>
              <a:t>Engagement variables</a:t>
            </a:r>
            <a:endParaRPr lang="en-IN" sz="2400" kern="1200" dirty="0">
              <a:latin typeface="Bahnschrift" panose="020B050204020402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689EF6-E71D-44AE-90BE-71CC43C2A59D}"/>
              </a:ext>
            </a:extLst>
          </p:cNvPr>
          <p:cNvSpPr/>
          <p:nvPr/>
        </p:nvSpPr>
        <p:spPr>
          <a:xfrm>
            <a:off x="3723256" y="4054500"/>
            <a:ext cx="519354" cy="22763"/>
          </a:xfrm>
          <a:custGeom>
            <a:avLst/>
            <a:gdLst>
              <a:gd name="connsiteX0" fmla="*/ 0 w 519354"/>
              <a:gd name="connsiteY0" fmla="*/ 11381 h 22763"/>
              <a:gd name="connsiteX1" fmla="*/ 519354 w 519354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9354" h="22763">
                <a:moveTo>
                  <a:pt x="0" y="11381"/>
                </a:moveTo>
                <a:lnTo>
                  <a:pt x="519354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393" tIns="-1602" rIns="259394" bIns="-1602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>
              <a:latin typeface="Bahnschrift" panose="020B050204020402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9E46AC5-26DC-4E06-8AB6-B70AD1F7B9B3}"/>
              </a:ext>
            </a:extLst>
          </p:cNvPr>
          <p:cNvSpPr/>
          <p:nvPr/>
        </p:nvSpPr>
        <p:spPr>
          <a:xfrm>
            <a:off x="4242610" y="3741285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 dirty="0">
                <a:latin typeface="Bahnschrift" panose="020B0502040204020203" pitchFamily="34" charset="0"/>
              </a:rPr>
              <a:t>Product/service usage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4A511E-32D3-401E-A4EE-3D4268CD115B}"/>
              </a:ext>
            </a:extLst>
          </p:cNvPr>
          <p:cNvSpPr/>
          <p:nvPr/>
        </p:nvSpPr>
        <p:spPr>
          <a:xfrm rot="3310531">
            <a:off x="3528208" y="4427785"/>
            <a:ext cx="909449" cy="22763"/>
          </a:xfrm>
          <a:custGeom>
            <a:avLst/>
            <a:gdLst>
              <a:gd name="connsiteX0" fmla="*/ 0 w 909449"/>
              <a:gd name="connsiteY0" fmla="*/ 11381 h 22763"/>
              <a:gd name="connsiteX1" fmla="*/ 909449 w 909449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9449" h="22763">
                <a:moveTo>
                  <a:pt x="0" y="11381"/>
                </a:moveTo>
                <a:lnTo>
                  <a:pt x="909449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44689" tIns="-11356" rIns="444687" bIns="-11354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>
              <a:latin typeface="Bahnschrift" panose="020B0502040204020203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EDFBE40-A9F9-46A6-81FF-EC14475A80B8}"/>
              </a:ext>
            </a:extLst>
          </p:cNvPr>
          <p:cNvSpPr/>
          <p:nvPr/>
        </p:nvSpPr>
        <p:spPr>
          <a:xfrm>
            <a:off x="4242610" y="4487857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>
                <a:latin typeface="Bahnschrift" panose="020B0502040204020203" pitchFamily="34" charset="0"/>
              </a:rPr>
              <a:t>Technical incidents</a:t>
            </a:r>
            <a:endParaRPr lang="en-IN" sz="2400" kern="1200" dirty="0">
              <a:latin typeface="Bahnschrift" panose="020B0502040204020203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B35BB8-94ED-48B2-9EFA-FA83A4DFB4AC}"/>
              </a:ext>
            </a:extLst>
          </p:cNvPr>
          <p:cNvSpPr/>
          <p:nvPr/>
        </p:nvSpPr>
        <p:spPr>
          <a:xfrm rot="4249260">
            <a:off x="3192489" y="4801071"/>
            <a:ext cx="1580887" cy="22763"/>
          </a:xfrm>
          <a:custGeom>
            <a:avLst/>
            <a:gdLst>
              <a:gd name="connsiteX0" fmla="*/ 0 w 1580887"/>
              <a:gd name="connsiteY0" fmla="*/ 11381 h 22763"/>
              <a:gd name="connsiteX1" fmla="*/ 1580887 w 1580887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80887" h="22763">
                <a:moveTo>
                  <a:pt x="0" y="11381"/>
                </a:moveTo>
                <a:lnTo>
                  <a:pt x="1580887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3622" tIns="-28142" rIns="763620" bIns="-28140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>
              <a:latin typeface="Bahnschrift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41B7DC2-925D-4094-8FA0-21FFA55F8DF0}"/>
              </a:ext>
            </a:extLst>
          </p:cNvPr>
          <p:cNvSpPr/>
          <p:nvPr/>
        </p:nvSpPr>
        <p:spPr>
          <a:xfrm>
            <a:off x="4242610" y="5234428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rgbClr val="0070C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>
                <a:latin typeface="Bahnschrift" panose="020B0502040204020203" pitchFamily="34" charset="0"/>
              </a:rPr>
              <a:t>Stationary variables</a:t>
            </a:r>
            <a:endParaRPr lang="en-IN" sz="2400" kern="1200" dirty="0">
              <a:latin typeface="Bahnschrift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17527F6-0D25-46E0-B6BA-DF6C09F69CFE}"/>
              </a:ext>
            </a:extLst>
          </p:cNvPr>
          <p:cNvSpPr/>
          <p:nvPr/>
        </p:nvSpPr>
        <p:spPr>
          <a:xfrm rot="4616685">
            <a:off x="2833362" y="5174357"/>
            <a:ext cx="2299141" cy="22763"/>
          </a:xfrm>
          <a:custGeom>
            <a:avLst/>
            <a:gdLst>
              <a:gd name="connsiteX0" fmla="*/ 0 w 2299141"/>
              <a:gd name="connsiteY0" fmla="*/ 11381 h 22763"/>
              <a:gd name="connsiteX1" fmla="*/ 2299141 w 2299141"/>
              <a:gd name="connsiteY1" fmla="*/ 11381 h 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99141" h="22763">
                <a:moveTo>
                  <a:pt x="0" y="11381"/>
                </a:moveTo>
                <a:lnTo>
                  <a:pt x="2299141" y="11381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04792" tIns="-46098" rIns="1104791" bIns="-46097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800" kern="1200">
              <a:latin typeface="Bahnschrift" panose="020B0502040204020203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1DC6032-073E-4127-99F8-8A0AE9F9E71F}"/>
              </a:ext>
            </a:extLst>
          </p:cNvPr>
          <p:cNvSpPr/>
          <p:nvPr/>
        </p:nvSpPr>
        <p:spPr>
          <a:xfrm>
            <a:off x="4242610" y="5981000"/>
            <a:ext cx="3687187" cy="649192"/>
          </a:xfrm>
          <a:custGeom>
            <a:avLst/>
            <a:gdLst>
              <a:gd name="connsiteX0" fmla="*/ 0 w 1298385"/>
              <a:gd name="connsiteY0" fmla="*/ 64919 h 649192"/>
              <a:gd name="connsiteX1" fmla="*/ 64919 w 1298385"/>
              <a:gd name="connsiteY1" fmla="*/ 0 h 649192"/>
              <a:gd name="connsiteX2" fmla="*/ 1233466 w 1298385"/>
              <a:gd name="connsiteY2" fmla="*/ 0 h 649192"/>
              <a:gd name="connsiteX3" fmla="*/ 1298385 w 1298385"/>
              <a:gd name="connsiteY3" fmla="*/ 64919 h 649192"/>
              <a:gd name="connsiteX4" fmla="*/ 1298385 w 1298385"/>
              <a:gd name="connsiteY4" fmla="*/ 584273 h 649192"/>
              <a:gd name="connsiteX5" fmla="*/ 1233466 w 1298385"/>
              <a:gd name="connsiteY5" fmla="*/ 649192 h 649192"/>
              <a:gd name="connsiteX6" fmla="*/ 64919 w 1298385"/>
              <a:gd name="connsiteY6" fmla="*/ 649192 h 649192"/>
              <a:gd name="connsiteX7" fmla="*/ 0 w 1298385"/>
              <a:gd name="connsiteY7" fmla="*/ 584273 h 649192"/>
              <a:gd name="connsiteX8" fmla="*/ 0 w 1298385"/>
              <a:gd name="connsiteY8" fmla="*/ 64919 h 64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8385" h="649192">
                <a:moveTo>
                  <a:pt x="0" y="64919"/>
                </a:moveTo>
                <a:cubicBezTo>
                  <a:pt x="0" y="29065"/>
                  <a:pt x="29065" y="0"/>
                  <a:pt x="64919" y="0"/>
                </a:cubicBezTo>
                <a:lnTo>
                  <a:pt x="1233466" y="0"/>
                </a:lnTo>
                <a:cubicBezTo>
                  <a:pt x="1269320" y="0"/>
                  <a:pt x="1298385" y="29065"/>
                  <a:pt x="1298385" y="64919"/>
                </a:cubicBezTo>
                <a:lnTo>
                  <a:pt x="1298385" y="584273"/>
                </a:lnTo>
                <a:cubicBezTo>
                  <a:pt x="1298385" y="620127"/>
                  <a:pt x="1269320" y="649192"/>
                  <a:pt x="1233466" y="649192"/>
                </a:cubicBezTo>
                <a:lnTo>
                  <a:pt x="64919" y="649192"/>
                </a:lnTo>
                <a:cubicBezTo>
                  <a:pt x="29065" y="649192"/>
                  <a:pt x="0" y="620127"/>
                  <a:pt x="0" y="584273"/>
                </a:cubicBezTo>
                <a:lnTo>
                  <a:pt x="0" y="64919"/>
                </a:lnTo>
                <a:close/>
              </a:path>
            </a:pathLst>
          </a:custGeom>
          <a:solidFill>
            <a:srgbClr val="7030A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64" tIns="25364" rIns="25364" bIns="25364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>
                <a:latin typeface="Bahnschrift" panose="020B0502040204020203" pitchFamily="34" charset="0"/>
              </a:rPr>
              <a:t>Competitor variables</a:t>
            </a:r>
            <a:endParaRPr lang="en-US" sz="2400" kern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38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C8CA4-7AF5-452A-831C-008FFDA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Sales Forecasting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891298-EC30-41D5-8D2B-22C48E4DD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1936139"/>
            <a:ext cx="8386762" cy="43890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06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C8CA4-7AF5-452A-831C-008FFDA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Sales Forecasting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7EA7E-F580-4B72-B1F7-CD69540E3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343B5A-7A05-4B5A-B820-13410BEF6817}"/>
              </a:ext>
            </a:extLst>
          </p:cNvPr>
          <p:cNvSpPr/>
          <p:nvPr/>
        </p:nvSpPr>
        <p:spPr>
          <a:xfrm>
            <a:off x="600900" y="3352915"/>
            <a:ext cx="3266562" cy="1279048"/>
          </a:xfrm>
          <a:custGeom>
            <a:avLst/>
            <a:gdLst>
              <a:gd name="connsiteX0" fmla="*/ 0 w 1868915"/>
              <a:gd name="connsiteY0" fmla="*/ 93446 h 934457"/>
              <a:gd name="connsiteX1" fmla="*/ 93446 w 1868915"/>
              <a:gd name="connsiteY1" fmla="*/ 0 h 934457"/>
              <a:gd name="connsiteX2" fmla="*/ 1775469 w 1868915"/>
              <a:gd name="connsiteY2" fmla="*/ 0 h 934457"/>
              <a:gd name="connsiteX3" fmla="*/ 1868915 w 1868915"/>
              <a:gd name="connsiteY3" fmla="*/ 93446 h 934457"/>
              <a:gd name="connsiteX4" fmla="*/ 1868915 w 1868915"/>
              <a:gd name="connsiteY4" fmla="*/ 841011 h 934457"/>
              <a:gd name="connsiteX5" fmla="*/ 1775469 w 1868915"/>
              <a:gd name="connsiteY5" fmla="*/ 934457 h 934457"/>
              <a:gd name="connsiteX6" fmla="*/ 93446 w 1868915"/>
              <a:gd name="connsiteY6" fmla="*/ 934457 h 934457"/>
              <a:gd name="connsiteX7" fmla="*/ 0 w 1868915"/>
              <a:gd name="connsiteY7" fmla="*/ 841011 h 934457"/>
              <a:gd name="connsiteX8" fmla="*/ 0 w 1868915"/>
              <a:gd name="connsiteY8" fmla="*/ 93446 h 93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68915" h="934457">
                <a:moveTo>
                  <a:pt x="0" y="93446"/>
                </a:moveTo>
                <a:cubicBezTo>
                  <a:pt x="0" y="41837"/>
                  <a:pt x="41837" y="0"/>
                  <a:pt x="93446" y="0"/>
                </a:cubicBezTo>
                <a:lnTo>
                  <a:pt x="1775469" y="0"/>
                </a:lnTo>
                <a:cubicBezTo>
                  <a:pt x="1827078" y="0"/>
                  <a:pt x="1868915" y="41837"/>
                  <a:pt x="1868915" y="93446"/>
                </a:cubicBezTo>
                <a:lnTo>
                  <a:pt x="1868915" y="841011"/>
                </a:lnTo>
                <a:cubicBezTo>
                  <a:pt x="1868915" y="892620"/>
                  <a:pt x="1827078" y="934457"/>
                  <a:pt x="1775469" y="934457"/>
                </a:cubicBezTo>
                <a:lnTo>
                  <a:pt x="93446" y="934457"/>
                </a:lnTo>
                <a:cubicBezTo>
                  <a:pt x="41837" y="934457"/>
                  <a:pt x="0" y="892620"/>
                  <a:pt x="0" y="841011"/>
                </a:cubicBezTo>
                <a:lnTo>
                  <a:pt x="0" y="934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94" tIns="36894" rIns="36894" bIns="36894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0" i="0" kern="1200">
                <a:effectLst/>
                <a:latin typeface="Bahnschrift" panose="020B0502040204020203" pitchFamily="34" charset="0"/>
              </a:rPr>
              <a:t>Some types of variables used in sales forecasting are</a:t>
            </a:r>
            <a:endParaRPr lang="en-US" sz="2400" b="0" i="0" kern="12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D66946-1ACC-46FA-B864-690838C1E7D3}"/>
              </a:ext>
            </a:extLst>
          </p:cNvPr>
          <p:cNvSpPr/>
          <p:nvPr/>
        </p:nvSpPr>
        <p:spPr>
          <a:xfrm rot="17350740">
            <a:off x="3103469" y="2901751"/>
            <a:ext cx="2275552" cy="32124"/>
          </a:xfrm>
          <a:custGeom>
            <a:avLst/>
            <a:gdLst>
              <a:gd name="connsiteX0" fmla="*/ 0 w 2275552"/>
              <a:gd name="connsiteY0" fmla="*/ 16062 h 32124"/>
              <a:gd name="connsiteX1" fmla="*/ 2275552 w 2275552"/>
              <a:gd name="connsiteY1" fmla="*/ 16062 h 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75552" h="32124">
                <a:moveTo>
                  <a:pt x="0" y="16062"/>
                </a:moveTo>
                <a:lnTo>
                  <a:pt x="2275552" y="16062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93587" tIns="-40826" rIns="1093587" bIns="-40828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800" kern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148D145-F4E7-40EE-816C-B11E0E848382}"/>
              </a:ext>
            </a:extLst>
          </p:cNvPr>
          <p:cNvSpPr/>
          <p:nvPr/>
        </p:nvSpPr>
        <p:spPr>
          <a:xfrm>
            <a:off x="4615029" y="1459128"/>
            <a:ext cx="3529099" cy="775087"/>
          </a:xfrm>
          <a:custGeom>
            <a:avLst/>
            <a:gdLst>
              <a:gd name="connsiteX0" fmla="*/ 0 w 1868915"/>
              <a:gd name="connsiteY0" fmla="*/ 93446 h 934457"/>
              <a:gd name="connsiteX1" fmla="*/ 93446 w 1868915"/>
              <a:gd name="connsiteY1" fmla="*/ 0 h 934457"/>
              <a:gd name="connsiteX2" fmla="*/ 1775469 w 1868915"/>
              <a:gd name="connsiteY2" fmla="*/ 0 h 934457"/>
              <a:gd name="connsiteX3" fmla="*/ 1868915 w 1868915"/>
              <a:gd name="connsiteY3" fmla="*/ 93446 h 934457"/>
              <a:gd name="connsiteX4" fmla="*/ 1868915 w 1868915"/>
              <a:gd name="connsiteY4" fmla="*/ 841011 h 934457"/>
              <a:gd name="connsiteX5" fmla="*/ 1775469 w 1868915"/>
              <a:gd name="connsiteY5" fmla="*/ 934457 h 934457"/>
              <a:gd name="connsiteX6" fmla="*/ 93446 w 1868915"/>
              <a:gd name="connsiteY6" fmla="*/ 934457 h 934457"/>
              <a:gd name="connsiteX7" fmla="*/ 0 w 1868915"/>
              <a:gd name="connsiteY7" fmla="*/ 841011 h 934457"/>
              <a:gd name="connsiteX8" fmla="*/ 0 w 1868915"/>
              <a:gd name="connsiteY8" fmla="*/ 93446 h 93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68915" h="934457">
                <a:moveTo>
                  <a:pt x="0" y="93446"/>
                </a:moveTo>
                <a:cubicBezTo>
                  <a:pt x="0" y="41837"/>
                  <a:pt x="41837" y="0"/>
                  <a:pt x="93446" y="0"/>
                </a:cubicBezTo>
                <a:lnTo>
                  <a:pt x="1775469" y="0"/>
                </a:lnTo>
                <a:cubicBezTo>
                  <a:pt x="1827078" y="0"/>
                  <a:pt x="1868915" y="41837"/>
                  <a:pt x="1868915" y="93446"/>
                </a:cubicBezTo>
                <a:lnTo>
                  <a:pt x="1868915" y="841011"/>
                </a:lnTo>
                <a:cubicBezTo>
                  <a:pt x="1868915" y="892620"/>
                  <a:pt x="1827078" y="934457"/>
                  <a:pt x="1775469" y="934457"/>
                </a:cubicBezTo>
                <a:lnTo>
                  <a:pt x="93446" y="934457"/>
                </a:lnTo>
                <a:cubicBezTo>
                  <a:pt x="41837" y="934457"/>
                  <a:pt x="0" y="892620"/>
                  <a:pt x="0" y="841011"/>
                </a:cubicBezTo>
                <a:lnTo>
                  <a:pt x="0" y="93446"/>
                </a:lnTo>
                <a:close/>
              </a:path>
            </a:pathLst>
          </a:custGeom>
          <a:solidFill>
            <a:srgbClr val="453A3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94" tIns="36894" rIns="36894" bIns="36894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1" i="0" kern="1200" dirty="0">
                <a:effectLst/>
                <a:latin typeface="Bahnschrift" panose="020B0502040204020203" pitchFamily="34" charset="0"/>
              </a:rPr>
              <a:t>Calendar data</a:t>
            </a:r>
            <a:endParaRPr lang="en-US" sz="2800" kern="1200" dirty="0"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9AEF23-4252-431C-99ED-F37D4946C6CD}"/>
              </a:ext>
            </a:extLst>
          </p:cNvPr>
          <p:cNvSpPr/>
          <p:nvPr/>
        </p:nvSpPr>
        <p:spPr>
          <a:xfrm rot="18289469">
            <a:off x="3586708" y="3439064"/>
            <a:ext cx="1309074" cy="32124"/>
          </a:xfrm>
          <a:custGeom>
            <a:avLst/>
            <a:gdLst>
              <a:gd name="connsiteX0" fmla="*/ 0 w 1309074"/>
              <a:gd name="connsiteY0" fmla="*/ 16062 h 32124"/>
              <a:gd name="connsiteX1" fmla="*/ 1309074 w 1309074"/>
              <a:gd name="connsiteY1" fmla="*/ 16062 h 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09074" h="32124">
                <a:moveTo>
                  <a:pt x="0" y="16062"/>
                </a:moveTo>
                <a:lnTo>
                  <a:pt x="1309074" y="16062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34510" tIns="-16664" rIns="634510" bIns="-16666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B17D80-FBF2-444D-9657-BFF057A29D3D}"/>
              </a:ext>
            </a:extLst>
          </p:cNvPr>
          <p:cNvSpPr/>
          <p:nvPr/>
        </p:nvSpPr>
        <p:spPr>
          <a:xfrm>
            <a:off x="4615029" y="2533755"/>
            <a:ext cx="3529099" cy="775087"/>
          </a:xfrm>
          <a:custGeom>
            <a:avLst/>
            <a:gdLst>
              <a:gd name="connsiteX0" fmla="*/ 0 w 1868915"/>
              <a:gd name="connsiteY0" fmla="*/ 93446 h 934457"/>
              <a:gd name="connsiteX1" fmla="*/ 93446 w 1868915"/>
              <a:gd name="connsiteY1" fmla="*/ 0 h 934457"/>
              <a:gd name="connsiteX2" fmla="*/ 1775469 w 1868915"/>
              <a:gd name="connsiteY2" fmla="*/ 0 h 934457"/>
              <a:gd name="connsiteX3" fmla="*/ 1868915 w 1868915"/>
              <a:gd name="connsiteY3" fmla="*/ 93446 h 934457"/>
              <a:gd name="connsiteX4" fmla="*/ 1868915 w 1868915"/>
              <a:gd name="connsiteY4" fmla="*/ 841011 h 934457"/>
              <a:gd name="connsiteX5" fmla="*/ 1775469 w 1868915"/>
              <a:gd name="connsiteY5" fmla="*/ 934457 h 934457"/>
              <a:gd name="connsiteX6" fmla="*/ 93446 w 1868915"/>
              <a:gd name="connsiteY6" fmla="*/ 934457 h 934457"/>
              <a:gd name="connsiteX7" fmla="*/ 0 w 1868915"/>
              <a:gd name="connsiteY7" fmla="*/ 841011 h 934457"/>
              <a:gd name="connsiteX8" fmla="*/ 0 w 1868915"/>
              <a:gd name="connsiteY8" fmla="*/ 93446 h 93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68915" h="934457">
                <a:moveTo>
                  <a:pt x="0" y="93446"/>
                </a:moveTo>
                <a:cubicBezTo>
                  <a:pt x="0" y="41837"/>
                  <a:pt x="41837" y="0"/>
                  <a:pt x="93446" y="0"/>
                </a:cubicBezTo>
                <a:lnTo>
                  <a:pt x="1775469" y="0"/>
                </a:lnTo>
                <a:cubicBezTo>
                  <a:pt x="1827078" y="0"/>
                  <a:pt x="1868915" y="41837"/>
                  <a:pt x="1868915" y="93446"/>
                </a:cubicBezTo>
                <a:lnTo>
                  <a:pt x="1868915" y="841011"/>
                </a:lnTo>
                <a:cubicBezTo>
                  <a:pt x="1868915" y="892620"/>
                  <a:pt x="1827078" y="934457"/>
                  <a:pt x="1775469" y="934457"/>
                </a:cubicBezTo>
                <a:lnTo>
                  <a:pt x="93446" y="934457"/>
                </a:lnTo>
                <a:cubicBezTo>
                  <a:pt x="41837" y="934457"/>
                  <a:pt x="0" y="892620"/>
                  <a:pt x="0" y="841011"/>
                </a:cubicBezTo>
                <a:lnTo>
                  <a:pt x="0" y="93446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94" tIns="36894" rIns="36894" bIns="36894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1" i="0" kern="1200">
                <a:effectLst/>
                <a:latin typeface="Bahnschrift" panose="020B0502040204020203" pitchFamily="34" charset="0"/>
              </a:rPr>
              <a:t>Weather data</a:t>
            </a:r>
            <a:endParaRPr lang="en-IN" sz="2800" b="1" i="0" kern="12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3E0EF2-B1B3-43B9-966A-3118256BEE1D}"/>
              </a:ext>
            </a:extLst>
          </p:cNvPr>
          <p:cNvSpPr/>
          <p:nvPr/>
        </p:nvSpPr>
        <p:spPr>
          <a:xfrm>
            <a:off x="3867462" y="3976377"/>
            <a:ext cx="747566" cy="32124"/>
          </a:xfrm>
          <a:custGeom>
            <a:avLst/>
            <a:gdLst>
              <a:gd name="connsiteX0" fmla="*/ 0 w 747566"/>
              <a:gd name="connsiteY0" fmla="*/ 16062 h 32124"/>
              <a:gd name="connsiteX1" fmla="*/ 747566 w 747566"/>
              <a:gd name="connsiteY1" fmla="*/ 16062 h 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7566" h="32124">
                <a:moveTo>
                  <a:pt x="0" y="16062"/>
                </a:moveTo>
                <a:lnTo>
                  <a:pt x="747566" y="16062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7794" tIns="-2627" rIns="367794" bIns="-262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041BF9-9842-4258-A7F3-9CF4C5BAE9F8}"/>
              </a:ext>
            </a:extLst>
          </p:cNvPr>
          <p:cNvSpPr/>
          <p:nvPr/>
        </p:nvSpPr>
        <p:spPr>
          <a:xfrm>
            <a:off x="4615029" y="3608381"/>
            <a:ext cx="3529099" cy="775087"/>
          </a:xfrm>
          <a:custGeom>
            <a:avLst/>
            <a:gdLst>
              <a:gd name="connsiteX0" fmla="*/ 0 w 1868915"/>
              <a:gd name="connsiteY0" fmla="*/ 93446 h 934457"/>
              <a:gd name="connsiteX1" fmla="*/ 93446 w 1868915"/>
              <a:gd name="connsiteY1" fmla="*/ 0 h 934457"/>
              <a:gd name="connsiteX2" fmla="*/ 1775469 w 1868915"/>
              <a:gd name="connsiteY2" fmla="*/ 0 h 934457"/>
              <a:gd name="connsiteX3" fmla="*/ 1868915 w 1868915"/>
              <a:gd name="connsiteY3" fmla="*/ 93446 h 934457"/>
              <a:gd name="connsiteX4" fmla="*/ 1868915 w 1868915"/>
              <a:gd name="connsiteY4" fmla="*/ 841011 h 934457"/>
              <a:gd name="connsiteX5" fmla="*/ 1775469 w 1868915"/>
              <a:gd name="connsiteY5" fmla="*/ 934457 h 934457"/>
              <a:gd name="connsiteX6" fmla="*/ 93446 w 1868915"/>
              <a:gd name="connsiteY6" fmla="*/ 934457 h 934457"/>
              <a:gd name="connsiteX7" fmla="*/ 0 w 1868915"/>
              <a:gd name="connsiteY7" fmla="*/ 841011 h 934457"/>
              <a:gd name="connsiteX8" fmla="*/ 0 w 1868915"/>
              <a:gd name="connsiteY8" fmla="*/ 93446 h 93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68915" h="934457">
                <a:moveTo>
                  <a:pt x="0" y="93446"/>
                </a:moveTo>
                <a:cubicBezTo>
                  <a:pt x="0" y="41837"/>
                  <a:pt x="41837" y="0"/>
                  <a:pt x="93446" y="0"/>
                </a:cubicBezTo>
                <a:lnTo>
                  <a:pt x="1775469" y="0"/>
                </a:lnTo>
                <a:cubicBezTo>
                  <a:pt x="1827078" y="0"/>
                  <a:pt x="1868915" y="41837"/>
                  <a:pt x="1868915" y="93446"/>
                </a:cubicBezTo>
                <a:lnTo>
                  <a:pt x="1868915" y="841011"/>
                </a:lnTo>
                <a:cubicBezTo>
                  <a:pt x="1868915" y="892620"/>
                  <a:pt x="1827078" y="934457"/>
                  <a:pt x="1775469" y="934457"/>
                </a:cubicBezTo>
                <a:lnTo>
                  <a:pt x="93446" y="934457"/>
                </a:lnTo>
                <a:cubicBezTo>
                  <a:pt x="41837" y="934457"/>
                  <a:pt x="0" y="892620"/>
                  <a:pt x="0" y="841011"/>
                </a:cubicBezTo>
                <a:lnTo>
                  <a:pt x="0" y="93446"/>
                </a:lnTo>
                <a:close/>
              </a:path>
            </a:pathLst>
          </a:custGeom>
          <a:solidFill>
            <a:srgbClr val="0070C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94" tIns="36894" rIns="36894" bIns="36894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1" i="0" kern="1200">
                <a:effectLst/>
                <a:latin typeface="Bahnschrift" panose="020B0502040204020203" pitchFamily="34" charset="0"/>
              </a:rPr>
              <a:t>Company data</a:t>
            </a:r>
            <a:endParaRPr lang="en-IN" sz="2800" b="1" kern="1200" dirty="0">
              <a:latin typeface="Bahnschrift" panose="020B050204020402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E281DE-4482-48B1-9DA3-2263A263CA57}"/>
              </a:ext>
            </a:extLst>
          </p:cNvPr>
          <p:cNvSpPr/>
          <p:nvPr/>
        </p:nvSpPr>
        <p:spPr>
          <a:xfrm rot="3310531">
            <a:off x="3586708" y="4513691"/>
            <a:ext cx="1309074" cy="32124"/>
          </a:xfrm>
          <a:custGeom>
            <a:avLst/>
            <a:gdLst>
              <a:gd name="connsiteX0" fmla="*/ 0 w 1309074"/>
              <a:gd name="connsiteY0" fmla="*/ 16062 h 32124"/>
              <a:gd name="connsiteX1" fmla="*/ 1309074 w 1309074"/>
              <a:gd name="connsiteY1" fmla="*/ 16062 h 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09074" h="32124">
                <a:moveTo>
                  <a:pt x="0" y="16062"/>
                </a:moveTo>
                <a:lnTo>
                  <a:pt x="1309074" y="16062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34510" tIns="-16666" rIns="634510" bIns="-16664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" kern="1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410F7F-80C0-428D-8026-B05F2121B24B}"/>
              </a:ext>
            </a:extLst>
          </p:cNvPr>
          <p:cNvSpPr/>
          <p:nvPr/>
        </p:nvSpPr>
        <p:spPr>
          <a:xfrm>
            <a:off x="4615029" y="4683007"/>
            <a:ext cx="3529099" cy="775087"/>
          </a:xfrm>
          <a:custGeom>
            <a:avLst/>
            <a:gdLst>
              <a:gd name="connsiteX0" fmla="*/ 0 w 1868915"/>
              <a:gd name="connsiteY0" fmla="*/ 93446 h 934457"/>
              <a:gd name="connsiteX1" fmla="*/ 93446 w 1868915"/>
              <a:gd name="connsiteY1" fmla="*/ 0 h 934457"/>
              <a:gd name="connsiteX2" fmla="*/ 1775469 w 1868915"/>
              <a:gd name="connsiteY2" fmla="*/ 0 h 934457"/>
              <a:gd name="connsiteX3" fmla="*/ 1868915 w 1868915"/>
              <a:gd name="connsiteY3" fmla="*/ 93446 h 934457"/>
              <a:gd name="connsiteX4" fmla="*/ 1868915 w 1868915"/>
              <a:gd name="connsiteY4" fmla="*/ 841011 h 934457"/>
              <a:gd name="connsiteX5" fmla="*/ 1775469 w 1868915"/>
              <a:gd name="connsiteY5" fmla="*/ 934457 h 934457"/>
              <a:gd name="connsiteX6" fmla="*/ 93446 w 1868915"/>
              <a:gd name="connsiteY6" fmla="*/ 934457 h 934457"/>
              <a:gd name="connsiteX7" fmla="*/ 0 w 1868915"/>
              <a:gd name="connsiteY7" fmla="*/ 841011 h 934457"/>
              <a:gd name="connsiteX8" fmla="*/ 0 w 1868915"/>
              <a:gd name="connsiteY8" fmla="*/ 93446 h 93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68915" h="934457">
                <a:moveTo>
                  <a:pt x="0" y="93446"/>
                </a:moveTo>
                <a:cubicBezTo>
                  <a:pt x="0" y="41837"/>
                  <a:pt x="41837" y="0"/>
                  <a:pt x="93446" y="0"/>
                </a:cubicBezTo>
                <a:lnTo>
                  <a:pt x="1775469" y="0"/>
                </a:lnTo>
                <a:cubicBezTo>
                  <a:pt x="1827078" y="0"/>
                  <a:pt x="1868915" y="41837"/>
                  <a:pt x="1868915" y="93446"/>
                </a:cubicBezTo>
                <a:lnTo>
                  <a:pt x="1868915" y="841011"/>
                </a:lnTo>
                <a:cubicBezTo>
                  <a:pt x="1868915" y="892620"/>
                  <a:pt x="1827078" y="934457"/>
                  <a:pt x="1775469" y="934457"/>
                </a:cubicBezTo>
                <a:lnTo>
                  <a:pt x="93446" y="934457"/>
                </a:lnTo>
                <a:cubicBezTo>
                  <a:pt x="41837" y="934457"/>
                  <a:pt x="0" y="892620"/>
                  <a:pt x="0" y="841011"/>
                </a:cubicBezTo>
                <a:lnTo>
                  <a:pt x="0" y="93446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94" tIns="36894" rIns="36894" bIns="36894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1" i="0" kern="1200">
                <a:effectLst/>
                <a:latin typeface="Bahnschrift" panose="020B0502040204020203" pitchFamily="34" charset="0"/>
              </a:rPr>
              <a:t>Social data</a:t>
            </a:r>
            <a:endParaRPr lang="en-IN" sz="2800" b="1" i="0" kern="12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184BED-CF9E-4FD7-95C4-67A745E877FF}"/>
              </a:ext>
            </a:extLst>
          </p:cNvPr>
          <p:cNvSpPr/>
          <p:nvPr/>
        </p:nvSpPr>
        <p:spPr>
          <a:xfrm rot="4249260">
            <a:off x="3103469" y="5051004"/>
            <a:ext cx="2275552" cy="32124"/>
          </a:xfrm>
          <a:custGeom>
            <a:avLst/>
            <a:gdLst>
              <a:gd name="connsiteX0" fmla="*/ 0 w 2275552"/>
              <a:gd name="connsiteY0" fmla="*/ 16062 h 32124"/>
              <a:gd name="connsiteX1" fmla="*/ 2275552 w 2275552"/>
              <a:gd name="connsiteY1" fmla="*/ 16062 h 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75552" h="32124">
                <a:moveTo>
                  <a:pt x="0" y="16062"/>
                </a:moveTo>
                <a:lnTo>
                  <a:pt x="2275552" y="16062"/>
                </a:lnTo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93587" tIns="-40828" rIns="1093587" bIns="-40826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800" kern="12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9A7B1C6-F900-4595-977F-B214D18E78EF}"/>
              </a:ext>
            </a:extLst>
          </p:cNvPr>
          <p:cNvSpPr/>
          <p:nvPr/>
        </p:nvSpPr>
        <p:spPr>
          <a:xfrm>
            <a:off x="4615029" y="5757633"/>
            <a:ext cx="3529099" cy="775087"/>
          </a:xfrm>
          <a:custGeom>
            <a:avLst/>
            <a:gdLst>
              <a:gd name="connsiteX0" fmla="*/ 0 w 1868915"/>
              <a:gd name="connsiteY0" fmla="*/ 93446 h 934457"/>
              <a:gd name="connsiteX1" fmla="*/ 93446 w 1868915"/>
              <a:gd name="connsiteY1" fmla="*/ 0 h 934457"/>
              <a:gd name="connsiteX2" fmla="*/ 1775469 w 1868915"/>
              <a:gd name="connsiteY2" fmla="*/ 0 h 934457"/>
              <a:gd name="connsiteX3" fmla="*/ 1868915 w 1868915"/>
              <a:gd name="connsiteY3" fmla="*/ 93446 h 934457"/>
              <a:gd name="connsiteX4" fmla="*/ 1868915 w 1868915"/>
              <a:gd name="connsiteY4" fmla="*/ 841011 h 934457"/>
              <a:gd name="connsiteX5" fmla="*/ 1775469 w 1868915"/>
              <a:gd name="connsiteY5" fmla="*/ 934457 h 934457"/>
              <a:gd name="connsiteX6" fmla="*/ 93446 w 1868915"/>
              <a:gd name="connsiteY6" fmla="*/ 934457 h 934457"/>
              <a:gd name="connsiteX7" fmla="*/ 0 w 1868915"/>
              <a:gd name="connsiteY7" fmla="*/ 841011 h 934457"/>
              <a:gd name="connsiteX8" fmla="*/ 0 w 1868915"/>
              <a:gd name="connsiteY8" fmla="*/ 93446 h 93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68915" h="934457">
                <a:moveTo>
                  <a:pt x="0" y="93446"/>
                </a:moveTo>
                <a:cubicBezTo>
                  <a:pt x="0" y="41837"/>
                  <a:pt x="41837" y="0"/>
                  <a:pt x="93446" y="0"/>
                </a:cubicBezTo>
                <a:lnTo>
                  <a:pt x="1775469" y="0"/>
                </a:lnTo>
                <a:cubicBezTo>
                  <a:pt x="1827078" y="0"/>
                  <a:pt x="1868915" y="41837"/>
                  <a:pt x="1868915" y="93446"/>
                </a:cubicBezTo>
                <a:lnTo>
                  <a:pt x="1868915" y="841011"/>
                </a:lnTo>
                <a:cubicBezTo>
                  <a:pt x="1868915" y="892620"/>
                  <a:pt x="1827078" y="934457"/>
                  <a:pt x="1775469" y="934457"/>
                </a:cubicBezTo>
                <a:lnTo>
                  <a:pt x="93446" y="934457"/>
                </a:lnTo>
                <a:cubicBezTo>
                  <a:pt x="41837" y="934457"/>
                  <a:pt x="0" y="892620"/>
                  <a:pt x="0" y="841011"/>
                </a:cubicBezTo>
                <a:lnTo>
                  <a:pt x="0" y="93446"/>
                </a:lnTo>
                <a:close/>
              </a:path>
            </a:pathLst>
          </a:custGeom>
          <a:solidFill>
            <a:srgbClr val="7030A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94" tIns="36894" rIns="36894" bIns="36894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1" i="0" kern="1200">
                <a:effectLst/>
                <a:latin typeface="Bahnschrift" panose="020B0502040204020203" pitchFamily="34" charset="0"/>
              </a:rPr>
              <a:t>Demand data</a:t>
            </a:r>
            <a:endParaRPr lang="en-IN" sz="28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287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C8CA4-7AF5-452A-831C-008FFDA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Quality Improvement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7EA7E-F580-4B72-B1F7-CD69540E3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F1F4F3-744A-4D69-BB0A-239DFBC4E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8" y="2039697"/>
            <a:ext cx="7990663" cy="41817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1337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C8CA4-7AF5-452A-831C-008FFDA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Quality Improvement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7EA7E-F580-4B72-B1F7-CD69540E3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D3A3C66-F8CE-4445-BDD5-BBE1B7D906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426549"/>
              </p:ext>
            </p:extLst>
          </p:nvPr>
        </p:nvGraphicFramePr>
        <p:xfrm>
          <a:off x="531453" y="1624397"/>
          <a:ext cx="7251405" cy="4921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9382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07B4A1-36AE-448B-A9F3-52C94412D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1936139"/>
            <a:ext cx="8386762" cy="43890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8A4D3D-0DDD-4326-BA23-40C3B963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3672082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A4D3D-0DDD-4326-BA23-40C3B963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Risk Assessment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19FD6E7-95D2-4C95-9C6E-D681DEC02058}"/>
              </a:ext>
            </a:extLst>
          </p:cNvPr>
          <p:cNvSpPr/>
          <p:nvPr/>
        </p:nvSpPr>
        <p:spPr>
          <a:xfrm>
            <a:off x="470034" y="3087974"/>
            <a:ext cx="2247800" cy="1845290"/>
          </a:xfrm>
          <a:custGeom>
            <a:avLst/>
            <a:gdLst>
              <a:gd name="connsiteX0" fmla="*/ 0 w 2247800"/>
              <a:gd name="connsiteY0" fmla="*/ 112390 h 1123900"/>
              <a:gd name="connsiteX1" fmla="*/ 112390 w 2247800"/>
              <a:gd name="connsiteY1" fmla="*/ 0 h 1123900"/>
              <a:gd name="connsiteX2" fmla="*/ 2135410 w 2247800"/>
              <a:gd name="connsiteY2" fmla="*/ 0 h 1123900"/>
              <a:gd name="connsiteX3" fmla="*/ 2247800 w 2247800"/>
              <a:gd name="connsiteY3" fmla="*/ 112390 h 1123900"/>
              <a:gd name="connsiteX4" fmla="*/ 2247800 w 2247800"/>
              <a:gd name="connsiteY4" fmla="*/ 1011510 h 1123900"/>
              <a:gd name="connsiteX5" fmla="*/ 2135410 w 2247800"/>
              <a:gd name="connsiteY5" fmla="*/ 1123900 h 1123900"/>
              <a:gd name="connsiteX6" fmla="*/ 112390 w 2247800"/>
              <a:gd name="connsiteY6" fmla="*/ 1123900 h 1123900"/>
              <a:gd name="connsiteX7" fmla="*/ 0 w 2247800"/>
              <a:gd name="connsiteY7" fmla="*/ 1011510 h 1123900"/>
              <a:gd name="connsiteX8" fmla="*/ 0 w 2247800"/>
              <a:gd name="connsiteY8" fmla="*/ 112390 h 11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7800" h="1123900">
                <a:moveTo>
                  <a:pt x="0" y="112390"/>
                </a:moveTo>
                <a:cubicBezTo>
                  <a:pt x="0" y="50319"/>
                  <a:pt x="50319" y="0"/>
                  <a:pt x="112390" y="0"/>
                </a:cubicBezTo>
                <a:lnTo>
                  <a:pt x="2135410" y="0"/>
                </a:lnTo>
                <a:cubicBezTo>
                  <a:pt x="2197481" y="0"/>
                  <a:pt x="2247800" y="50319"/>
                  <a:pt x="2247800" y="112390"/>
                </a:cubicBezTo>
                <a:lnTo>
                  <a:pt x="2247800" y="1011510"/>
                </a:lnTo>
                <a:cubicBezTo>
                  <a:pt x="2247800" y="1073581"/>
                  <a:pt x="2197481" y="1123900"/>
                  <a:pt x="2135410" y="1123900"/>
                </a:cubicBezTo>
                <a:lnTo>
                  <a:pt x="112390" y="1123900"/>
                </a:lnTo>
                <a:cubicBezTo>
                  <a:pt x="50319" y="1123900"/>
                  <a:pt x="0" y="1073581"/>
                  <a:pt x="0" y="1011510"/>
                </a:cubicBezTo>
                <a:lnTo>
                  <a:pt x="0" y="11239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348" tIns="44348" rIns="44348" bIns="44348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0" i="0" kern="1200" dirty="0">
                <a:effectLst/>
                <a:latin typeface="Bahnschrift" panose="020B0502040204020203" pitchFamily="34" charset="0"/>
              </a:rPr>
              <a:t>Risk assessment can analyze the following types of data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FA68195-73D1-4DAA-8243-4F7C15C9F5EE}"/>
              </a:ext>
            </a:extLst>
          </p:cNvPr>
          <p:cNvSpPr/>
          <p:nvPr/>
        </p:nvSpPr>
        <p:spPr>
          <a:xfrm rot="19164969">
            <a:off x="2359411" y="3109199"/>
            <a:ext cx="2980090" cy="40429"/>
          </a:xfrm>
          <a:custGeom>
            <a:avLst/>
            <a:gdLst>
              <a:gd name="connsiteX0" fmla="*/ 0 w 2980090"/>
              <a:gd name="connsiteY0" fmla="*/ 20214 h 40429"/>
              <a:gd name="connsiteX1" fmla="*/ 2980090 w 2980090"/>
              <a:gd name="connsiteY1" fmla="*/ 20214 h 40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0090" h="40429">
                <a:moveTo>
                  <a:pt x="0" y="20214"/>
                </a:moveTo>
                <a:lnTo>
                  <a:pt x="2980090" y="20214"/>
                </a:lnTo>
              </a:path>
            </a:pathLst>
          </a:custGeom>
          <a:noFill/>
        </p:spPr>
        <p:style>
          <a:lnRef idx="2">
            <a:schemeClr val="dk2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8242" tIns="-54288" rIns="1428243" bIns="-54288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1000" kern="1200"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DF8E856-02E1-43A0-9D4F-06189DF7E924}"/>
              </a:ext>
            </a:extLst>
          </p:cNvPr>
          <p:cNvSpPr/>
          <p:nvPr/>
        </p:nvSpPr>
        <p:spPr>
          <a:xfrm>
            <a:off x="4981077" y="1598099"/>
            <a:ext cx="3743821" cy="1123900"/>
          </a:xfrm>
          <a:custGeom>
            <a:avLst/>
            <a:gdLst>
              <a:gd name="connsiteX0" fmla="*/ 0 w 2247800"/>
              <a:gd name="connsiteY0" fmla="*/ 112390 h 1123900"/>
              <a:gd name="connsiteX1" fmla="*/ 112390 w 2247800"/>
              <a:gd name="connsiteY1" fmla="*/ 0 h 1123900"/>
              <a:gd name="connsiteX2" fmla="*/ 2135410 w 2247800"/>
              <a:gd name="connsiteY2" fmla="*/ 0 h 1123900"/>
              <a:gd name="connsiteX3" fmla="*/ 2247800 w 2247800"/>
              <a:gd name="connsiteY3" fmla="*/ 112390 h 1123900"/>
              <a:gd name="connsiteX4" fmla="*/ 2247800 w 2247800"/>
              <a:gd name="connsiteY4" fmla="*/ 1011510 h 1123900"/>
              <a:gd name="connsiteX5" fmla="*/ 2135410 w 2247800"/>
              <a:gd name="connsiteY5" fmla="*/ 1123900 h 1123900"/>
              <a:gd name="connsiteX6" fmla="*/ 112390 w 2247800"/>
              <a:gd name="connsiteY6" fmla="*/ 1123900 h 1123900"/>
              <a:gd name="connsiteX7" fmla="*/ 0 w 2247800"/>
              <a:gd name="connsiteY7" fmla="*/ 1011510 h 1123900"/>
              <a:gd name="connsiteX8" fmla="*/ 0 w 2247800"/>
              <a:gd name="connsiteY8" fmla="*/ 112390 h 11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7800" h="1123900">
                <a:moveTo>
                  <a:pt x="0" y="112390"/>
                </a:moveTo>
                <a:cubicBezTo>
                  <a:pt x="0" y="50319"/>
                  <a:pt x="50319" y="0"/>
                  <a:pt x="112390" y="0"/>
                </a:cubicBezTo>
                <a:lnTo>
                  <a:pt x="2135410" y="0"/>
                </a:lnTo>
                <a:cubicBezTo>
                  <a:pt x="2197481" y="0"/>
                  <a:pt x="2247800" y="50319"/>
                  <a:pt x="2247800" y="112390"/>
                </a:cubicBezTo>
                <a:lnTo>
                  <a:pt x="2247800" y="1011510"/>
                </a:lnTo>
                <a:cubicBezTo>
                  <a:pt x="2247800" y="1073581"/>
                  <a:pt x="2197481" y="1123900"/>
                  <a:pt x="2135410" y="1123900"/>
                </a:cubicBezTo>
                <a:lnTo>
                  <a:pt x="112390" y="1123900"/>
                </a:lnTo>
                <a:cubicBezTo>
                  <a:pt x="50319" y="1123900"/>
                  <a:pt x="0" y="1073581"/>
                  <a:pt x="0" y="1011510"/>
                </a:cubicBezTo>
                <a:lnTo>
                  <a:pt x="0" y="11239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348" tIns="44348" rIns="44348" bIns="44348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>
                <a:effectLst/>
                <a:latin typeface="Bahnschrift" panose="020B0502040204020203" pitchFamily="34" charset="0"/>
              </a:rPr>
              <a:t>Socio-demographic factors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806A208-2D6E-42DF-B61E-A7719B3659D8}"/>
              </a:ext>
            </a:extLst>
          </p:cNvPr>
          <p:cNvSpPr/>
          <p:nvPr/>
        </p:nvSpPr>
        <p:spPr>
          <a:xfrm rot="20643835">
            <a:off x="2672607" y="3755441"/>
            <a:ext cx="2353699" cy="40429"/>
          </a:xfrm>
          <a:custGeom>
            <a:avLst/>
            <a:gdLst>
              <a:gd name="connsiteX0" fmla="*/ 0 w 2353699"/>
              <a:gd name="connsiteY0" fmla="*/ 20214 h 40429"/>
              <a:gd name="connsiteX1" fmla="*/ 2353699 w 2353699"/>
              <a:gd name="connsiteY1" fmla="*/ 20214 h 40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53699" h="40429">
                <a:moveTo>
                  <a:pt x="0" y="20214"/>
                </a:moveTo>
                <a:lnTo>
                  <a:pt x="2353699" y="20214"/>
                </a:lnTo>
              </a:path>
            </a:pathLst>
          </a:custGeom>
          <a:noFill/>
        </p:spPr>
        <p:style>
          <a:lnRef idx="2">
            <a:schemeClr val="dk2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0706" tIns="-38628" rIns="1130708" bIns="-38628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800" kern="1200"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5A5FE1B-6DAA-445B-BFC2-300651E9DF6F}"/>
              </a:ext>
            </a:extLst>
          </p:cNvPr>
          <p:cNvSpPr/>
          <p:nvPr/>
        </p:nvSpPr>
        <p:spPr>
          <a:xfrm>
            <a:off x="4981077" y="2890585"/>
            <a:ext cx="3743821" cy="1123900"/>
          </a:xfrm>
          <a:custGeom>
            <a:avLst/>
            <a:gdLst>
              <a:gd name="connsiteX0" fmla="*/ 0 w 2247800"/>
              <a:gd name="connsiteY0" fmla="*/ 112390 h 1123900"/>
              <a:gd name="connsiteX1" fmla="*/ 112390 w 2247800"/>
              <a:gd name="connsiteY1" fmla="*/ 0 h 1123900"/>
              <a:gd name="connsiteX2" fmla="*/ 2135410 w 2247800"/>
              <a:gd name="connsiteY2" fmla="*/ 0 h 1123900"/>
              <a:gd name="connsiteX3" fmla="*/ 2247800 w 2247800"/>
              <a:gd name="connsiteY3" fmla="*/ 112390 h 1123900"/>
              <a:gd name="connsiteX4" fmla="*/ 2247800 w 2247800"/>
              <a:gd name="connsiteY4" fmla="*/ 1011510 h 1123900"/>
              <a:gd name="connsiteX5" fmla="*/ 2135410 w 2247800"/>
              <a:gd name="connsiteY5" fmla="*/ 1123900 h 1123900"/>
              <a:gd name="connsiteX6" fmla="*/ 112390 w 2247800"/>
              <a:gd name="connsiteY6" fmla="*/ 1123900 h 1123900"/>
              <a:gd name="connsiteX7" fmla="*/ 0 w 2247800"/>
              <a:gd name="connsiteY7" fmla="*/ 1011510 h 1123900"/>
              <a:gd name="connsiteX8" fmla="*/ 0 w 2247800"/>
              <a:gd name="connsiteY8" fmla="*/ 112390 h 11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7800" h="1123900">
                <a:moveTo>
                  <a:pt x="0" y="112390"/>
                </a:moveTo>
                <a:cubicBezTo>
                  <a:pt x="0" y="50319"/>
                  <a:pt x="50319" y="0"/>
                  <a:pt x="112390" y="0"/>
                </a:cubicBezTo>
                <a:lnTo>
                  <a:pt x="2135410" y="0"/>
                </a:lnTo>
                <a:cubicBezTo>
                  <a:pt x="2197481" y="0"/>
                  <a:pt x="2247800" y="50319"/>
                  <a:pt x="2247800" y="112390"/>
                </a:cubicBezTo>
                <a:lnTo>
                  <a:pt x="2247800" y="1011510"/>
                </a:lnTo>
                <a:cubicBezTo>
                  <a:pt x="2247800" y="1073581"/>
                  <a:pt x="2197481" y="1123900"/>
                  <a:pt x="2135410" y="1123900"/>
                </a:cubicBezTo>
                <a:lnTo>
                  <a:pt x="112390" y="1123900"/>
                </a:lnTo>
                <a:cubicBezTo>
                  <a:pt x="50319" y="1123900"/>
                  <a:pt x="0" y="1073581"/>
                  <a:pt x="0" y="1011510"/>
                </a:cubicBezTo>
                <a:lnTo>
                  <a:pt x="0" y="11239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348" tIns="44348" rIns="44348" bIns="44348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0" i="0" kern="1200" dirty="0">
                <a:effectLst/>
                <a:latin typeface="Bahnschrift" panose="020B0502040204020203" pitchFamily="34" charset="0"/>
              </a:rPr>
              <a:t>Product details</a:t>
            </a:r>
            <a:endParaRPr lang="en-US" sz="2800" b="0" kern="1200" dirty="0">
              <a:latin typeface="Bahnschrift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FC7802A-760F-4D78-9DB5-5860D4B15AC4}"/>
              </a:ext>
            </a:extLst>
          </p:cNvPr>
          <p:cNvSpPr/>
          <p:nvPr/>
        </p:nvSpPr>
        <p:spPr>
          <a:xfrm rot="956165">
            <a:off x="2672607" y="4401684"/>
            <a:ext cx="2353699" cy="40429"/>
          </a:xfrm>
          <a:custGeom>
            <a:avLst/>
            <a:gdLst>
              <a:gd name="connsiteX0" fmla="*/ 0 w 2353699"/>
              <a:gd name="connsiteY0" fmla="*/ 20214 h 40429"/>
              <a:gd name="connsiteX1" fmla="*/ 2353699 w 2353699"/>
              <a:gd name="connsiteY1" fmla="*/ 20214 h 40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53699" h="40429">
                <a:moveTo>
                  <a:pt x="0" y="20214"/>
                </a:moveTo>
                <a:lnTo>
                  <a:pt x="2353699" y="20214"/>
                </a:lnTo>
              </a:path>
            </a:pathLst>
          </a:custGeom>
          <a:noFill/>
        </p:spPr>
        <p:style>
          <a:lnRef idx="2">
            <a:schemeClr val="dk2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0707" tIns="-38628" rIns="1130708" bIns="-38627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800" kern="1200">
              <a:latin typeface="Bahnschrift" panose="020B050204020402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9218346-EAFA-4129-B4FD-0ADD16864A0C}"/>
              </a:ext>
            </a:extLst>
          </p:cNvPr>
          <p:cNvSpPr/>
          <p:nvPr/>
        </p:nvSpPr>
        <p:spPr>
          <a:xfrm>
            <a:off x="4981077" y="4183070"/>
            <a:ext cx="3743821" cy="1123900"/>
          </a:xfrm>
          <a:custGeom>
            <a:avLst/>
            <a:gdLst>
              <a:gd name="connsiteX0" fmla="*/ 0 w 2247800"/>
              <a:gd name="connsiteY0" fmla="*/ 112390 h 1123900"/>
              <a:gd name="connsiteX1" fmla="*/ 112390 w 2247800"/>
              <a:gd name="connsiteY1" fmla="*/ 0 h 1123900"/>
              <a:gd name="connsiteX2" fmla="*/ 2135410 w 2247800"/>
              <a:gd name="connsiteY2" fmla="*/ 0 h 1123900"/>
              <a:gd name="connsiteX3" fmla="*/ 2247800 w 2247800"/>
              <a:gd name="connsiteY3" fmla="*/ 112390 h 1123900"/>
              <a:gd name="connsiteX4" fmla="*/ 2247800 w 2247800"/>
              <a:gd name="connsiteY4" fmla="*/ 1011510 h 1123900"/>
              <a:gd name="connsiteX5" fmla="*/ 2135410 w 2247800"/>
              <a:gd name="connsiteY5" fmla="*/ 1123900 h 1123900"/>
              <a:gd name="connsiteX6" fmla="*/ 112390 w 2247800"/>
              <a:gd name="connsiteY6" fmla="*/ 1123900 h 1123900"/>
              <a:gd name="connsiteX7" fmla="*/ 0 w 2247800"/>
              <a:gd name="connsiteY7" fmla="*/ 1011510 h 1123900"/>
              <a:gd name="connsiteX8" fmla="*/ 0 w 2247800"/>
              <a:gd name="connsiteY8" fmla="*/ 112390 h 11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7800" h="1123900">
                <a:moveTo>
                  <a:pt x="0" y="112390"/>
                </a:moveTo>
                <a:cubicBezTo>
                  <a:pt x="0" y="50319"/>
                  <a:pt x="50319" y="0"/>
                  <a:pt x="112390" y="0"/>
                </a:cubicBezTo>
                <a:lnTo>
                  <a:pt x="2135410" y="0"/>
                </a:lnTo>
                <a:cubicBezTo>
                  <a:pt x="2197481" y="0"/>
                  <a:pt x="2247800" y="50319"/>
                  <a:pt x="2247800" y="112390"/>
                </a:cubicBezTo>
                <a:lnTo>
                  <a:pt x="2247800" y="1011510"/>
                </a:lnTo>
                <a:cubicBezTo>
                  <a:pt x="2247800" y="1073581"/>
                  <a:pt x="2197481" y="1123900"/>
                  <a:pt x="2135410" y="1123900"/>
                </a:cubicBezTo>
                <a:lnTo>
                  <a:pt x="112390" y="1123900"/>
                </a:lnTo>
                <a:cubicBezTo>
                  <a:pt x="50319" y="1123900"/>
                  <a:pt x="0" y="1073581"/>
                  <a:pt x="0" y="1011510"/>
                </a:cubicBezTo>
                <a:lnTo>
                  <a:pt x="0" y="11239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348" tIns="44348" rIns="44348" bIns="44348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0" i="0" kern="1200" dirty="0">
                <a:effectLst/>
                <a:latin typeface="Bahnschrift" panose="020B0502040204020203" pitchFamily="34" charset="0"/>
              </a:rPr>
              <a:t>Customer </a:t>
            </a:r>
            <a:r>
              <a:rPr lang="en-IN" sz="2800" b="0" i="0" kern="1200" dirty="0" err="1">
                <a:effectLst/>
                <a:latin typeface="Bahnschrift" panose="020B0502040204020203" pitchFamily="34" charset="0"/>
              </a:rPr>
              <a:t>behavior</a:t>
            </a:r>
            <a:endParaRPr lang="en-US" sz="2800" b="0" i="0" kern="12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99D1AB4-776C-4A87-8F49-E4905A43B886}"/>
              </a:ext>
            </a:extLst>
          </p:cNvPr>
          <p:cNvSpPr/>
          <p:nvPr/>
        </p:nvSpPr>
        <p:spPr>
          <a:xfrm rot="2435031">
            <a:off x="2359411" y="5047927"/>
            <a:ext cx="2980090" cy="40429"/>
          </a:xfrm>
          <a:custGeom>
            <a:avLst/>
            <a:gdLst>
              <a:gd name="connsiteX0" fmla="*/ 0 w 2980090"/>
              <a:gd name="connsiteY0" fmla="*/ 20214 h 40429"/>
              <a:gd name="connsiteX1" fmla="*/ 2980090 w 2980090"/>
              <a:gd name="connsiteY1" fmla="*/ 20214 h 40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0090" h="40429">
                <a:moveTo>
                  <a:pt x="0" y="20214"/>
                </a:moveTo>
                <a:lnTo>
                  <a:pt x="2980090" y="20214"/>
                </a:lnTo>
              </a:path>
            </a:pathLst>
          </a:custGeom>
          <a:noFill/>
        </p:spPr>
        <p:style>
          <a:lnRef idx="2">
            <a:schemeClr val="dk2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8242" tIns="-54289" rIns="1428243" bIns="-54287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1000" kern="1200">
              <a:latin typeface="Bahnschrift" panose="020B050204020402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7F70C2-A7B6-4486-8FFC-0FFDD4073E30}"/>
              </a:ext>
            </a:extLst>
          </p:cNvPr>
          <p:cNvSpPr/>
          <p:nvPr/>
        </p:nvSpPr>
        <p:spPr>
          <a:xfrm>
            <a:off x="4981077" y="5475555"/>
            <a:ext cx="3743821" cy="1123900"/>
          </a:xfrm>
          <a:custGeom>
            <a:avLst/>
            <a:gdLst>
              <a:gd name="connsiteX0" fmla="*/ 0 w 2247800"/>
              <a:gd name="connsiteY0" fmla="*/ 112390 h 1123900"/>
              <a:gd name="connsiteX1" fmla="*/ 112390 w 2247800"/>
              <a:gd name="connsiteY1" fmla="*/ 0 h 1123900"/>
              <a:gd name="connsiteX2" fmla="*/ 2135410 w 2247800"/>
              <a:gd name="connsiteY2" fmla="*/ 0 h 1123900"/>
              <a:gd name="connsiteX3" fmla="*/ 2247800 w 2247800"/>
              <a:gd name="connsiteY3" fmla="*/ 112390 h 1123900"/>
              <a:gd name="connsiteX4" fmla="*/ 2247800 w 2247800"/>
              <a:gd name="connsiteY4" fmla="*/ 1011510 h 1123900"/>
              <a:gd name="connsiteX5" fmla="*/ 2135410 w 2247800"/>
              <a:gd name="connsiteY5" fmla="*/ 1123900 h 1123900"/>
              <a:gd name="connsiteX6" fmla="*/ 112390 w 2247800"/>
              <a:gd name="connsiteY6" fmla="*/ 1123900 h 1123900"/>
              <a:gd name="connsiteX7" fmla="*/ 0 w 2247800"/>
              <a:gd name="connsiteY7" fmla="*/ 1011510 h 1123900"/>
              <a:gd name="connsiteX8" fmla="*/ 0 w 2247800"/>
              <a:gd name="connsiteY8" fmla="*/ 112390 h 11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7800" h="1123900">
                <a:moveTo>
                  <a:pt x="0" y="112390"/>
                </a:moveTo>
                <a:cubicBezTo>
                  <a:pt x="0" y="50319"/>
                  <a:pt x="50319" y="0"/>
                  <a:pt x="112390" y="0"/>
                </a:cubicBezTo>
                <a:lnTo>
                  <a:pt x="2135410" y="0"/>
                </a:lnTo>
                <a:cubicBezTo>
                  <a:pt x="2197481" y="0"/>
                  <a:pt x="2247800" y="50319"/>
                  <a:pt x="2247800" y="112390"/>
                </a:cubicBezTo>
                <a:lnTo>
                  <a:pt x="2247800" y="1011510"/>
                </a:lnTo>
                <a:cubicBezTo>
                  <a:pt x="2247800" y="1073581"/>
                  <a:pt x="2197481" y="1123900"/>
                  <a:pt x="2135410" y="1123900"/>
                </a:cubicBezTo>
                <a:lnTo>
                  <a:pt x="112390" y="1123900"/>
                </a:lnTo>
                <a:cubicBezTo>
                  <a:pt x="50319" y="1123900"/>
                  <a:pt x="0" y="1073581"/>
                  <a:pt x="0" y="1011510"/>
                </a:cubicBezTo>
                <a:lnTo>
                  <a:pt x="0" y="11239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348" tIns="44348" rIns="44348" bIns="44348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0" i="0" kern="1200" dirty="0">
                <a:effectLst/>
                <a:latin typeface="Bahnschrift" panose="020B0502040204020203" pitchFamily="34" charset="0"/>
              </a:rPr>
              <a:t>Risk metrics</a:t>
            </a:r>
            <a:endParaRPr lang="en-US" sz="2800" b="0" i="0" kern="1200" dirty="0"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46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A4D3D-0DDD-4326-BA23-40C3B963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Financial </a:t>
            </a:r>
            <a:r>
              <a:rPr lang="en-IN" dirty="0" err="1"/>
              <a:t>Modeling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262C7-6B81-4EE2-9766-B8CCDC8AB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619" y="1861188"/>
            <a:ext cx="8386762" cy="43890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8276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8FCEF4-58C7-4DF4-8A3B-B57DE568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541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327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1243</TotalTime>
  <Words>175</Words>
  <Application>Microsoft Office PowerPoint</Application>
  <PresentationFormat>On-screen Show (4:3)</PresentationFormat>
  <Paragraphs>60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Bahnschrift</vt:lpstr>
      <vt:lpstr>Bahnschrift SemiBold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Introduction</vt:lpstr>
      <vt:lpstr>Introduction</vt:lpstr>
      <vt:lpstr>Interactive Data Visualization</vt:lpstr>
      <vt:lpstr>Interactive Data Visualization</vt:lpstr>
      <vt:lpstr>Interactive Data Visualization</vt:lpstr>
      <vt:lpstr>Interactive Data Visualization</vt:lpstr>
      <vt:lpstr>Interactive Data Visualization</vt:lpstr>
      <vt:lpstr>Interactive Data Visualization</vt:lpstr>
      <vt:lpstr>Interactive Data Visualization</vt:lpstr>
      <vt:lpstr>Applications of Predictive Analytics</vt:lpstr>
      <vt:lpstr>Customer Targeting</vt:lpstr>
      <vt:lpstr>Customer Targeting</vt:lpstr>
      <vt:lpstr>Churn Prevention</vt:lpstr>
      <vt:lpstr>Churn Prevention</vt:lpstr>
      <vt:lpstr>Sales Forecasting</vt:lpstr>
      <vt:lpstr>Sales Forecasting</vt:lpstr>
      <vt:lpstr>Quality Improvement</vt:lpstr>
      <vt:lpstr>Quality Improvement</vt:lpstr>
      <vt:lpstr>Risk Assessment</vt:lpstr>
      <vt:lpstr>Risk Assessment</vt:lpstr>
      <vt:lpstr>Financial Modeling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98</cp:revision>
  <dcterms:created xsi:type="dcterms:W3CDTF">2021-05-13T17:45:44Z</dcterms:created>
  <dcterms:modified xsi:type="dcterms:W3CDTF">2021-09-22T08:53:05Z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769980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