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9"/>
  </p:handoutMasterIdLst>
  <p:sldIdLst>
    <p:sldId id="266" r:id="rId2"/>
    <p:sldId id="261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6" r:id="rId11"/>
    <p:sldId id="277" r:id="rId12"/>
    <p:sldId id="278" r:id="rId13"/>
    <p:sldId id="279" r:id="rId14"/>
    <p:sldId id="280" r:id="rId15"/>
    <p:sldId id="282" r:id="rId16"/>
    <p:sldId id="283" r:id="rId17"/>
    <p:sldId id="281" r:id="rId18"/>
    <p:sldId id="284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63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525A"/>
    <a:srgbClr val="E4E7E9"/>
    <a:srgbClr val="E1E4E6"/>
    <a:srgbClr val="618495"/>
    <a:srgbClr val="44525B"/>
    <a:srgbClr val="072235"/>
    <a:srgbClr val="453A38"/>
    <a:srgbClr val="B8B192"/>
    <a:srgbClr val="473B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>
        <p:scale>
          <a:sx n="70" d="100"/>
          <a:sy n="70" d="100"/>
        </p:scale>
        <p:origin x="60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3" Target="../media/image7.jpeg" Type="http://schemas.openxmlformats.org/officeDocument/2006/relationships/image"/><Relationship Id="rId2" Target="../media/image6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 ?><Relationships xmlns="http://schemas.openxmlformats.org/package/2006/relationships"><Relationship Id="rId3" Target="../media/image14.jpeg" Type="http://schemas.openxmlformats.org/officeDocument/2006/relationships/image"/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 ?><Relationships xmlns="http://schemas.openxmlformats.org/package/2006/relationships"><Relationship Id="rId2" Target="../media/image1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2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3.xml.rels><?xml version="1.0" encoding="UTF-8" standalone="yes" ?><Relationships xmlns="http://schemas.openxmlformats.org/package/2006/relationships"><Relationship Id="rId2" Target="../media/image1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 ?><Relationships xmlns="http://schemas.openxmlformats.org/package/2006/relationships"><Relationship Id="rId2" Target="../media/image2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6.xml.rels><?xml version="1.0" encoding="UTF-8" standalone="yes" ?><Relationships xmlns="http://schemas.openxmlformats.org/package/2006/relationships"><Relationship Id="rId2" Target="../media/image22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746687" cy="3773150"/>
          </a:xfrm>
        </p:spPr>
        <p:txBody>
          <a:bodyPr/>
          <a:lstStyle/>
          <a:p>
            <a:pPr algn="just"/>
            <a:r>
              <a:rPr lang="en-US" dirty="0"/>
              <a:t>learn </a:t>
            </a:r>
            <a:r>
              <a:rPr lang="en-US" dirty="0">
                <a:solidFill>
                  <a:srgbClr val="000000"/>
                </a:solidFill>
              </a:rPr>
              <a:t>bi</a:t>
            </a:r>
            <a:r>
              <a:rPr lang="en-US" b="0" i="0" dirty="0">
                <a:solidFill>
                  <a:srgbClr val="000000"/>
                </a:solidFill>
                <a:effectLst/>
              </a:rPr>
              <a:t>g </a:t>
            </a:r>
            <a:r>
              <a:rPr lang="en-US" dirty="0">
                <a:solidFill>
                  <a:srgbClr val="000000"/>
                </a:solidFill>
              </a:rPr>
              <a:t>d</a:t>
            </a:r>
            <a:r>
              <a:rPr lang="en-US" b="0" i="0" dirty="0">
                <a:solidFill>
                  <a:srgbClr val="000000"/>
                </a:solidFill>
                <a:effectLst/>
              </a:rPr>
              <a:t>ata </a:t>
            </a:r>
            <a:r>
              <a:rPr lang="en-US" dirty="0">
                <a:solidFill>
                  <a:srgbClr val="000000"/>
                </a:solidFill>
              </a:rPr>
              <a:t>m</a:t>
            </a:r>
            <a:r>
              <a:rPr lang="en-US" b="0" i="0" dirty="0">
                <a:solidFill>
                  <a:srgbClr val="000000"/>
                </a:solidFill>
                <a:effectLst/>
              </a:rPr>
              <a:t>anagement and processing </a:t>
            </a:r>
            <a:r>
              <a:rPr lang="en-US" dirty="0">
                <a:solidFill>
                  <a:srgbClr val="000000"/>
                </a:solidFill>
              </a:rPr>
              <a:t>u</a:t>
            </a:r>
            <a:r>
              <a:rPr lang="en-US" b="0" i="0" dirty="0">
                <a:solidFill>
                  <a:srgbClr val="000000"/>
                </a:solidFill>
                <a:effectLst/>
              </a:rPr>
              <a:t>sing </a:t>
            </a:r>
            <a:r>
              <a:rPr lang="en-US" dirty="0" err="1">
                <a:solidFill>
                  <a:srgbClr val="000000"/>
                </a:solidFill>
              </a:rPr>
              <a:t>d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atameer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4390FE-80DA-4FED-89BD-4040FBCEF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1630" y="1628775"/>
            <a:ext cx="5559777" cy="50038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38B81D5-E6E8-4F94-AE63-A45E96E35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21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F0AF5E-11F0-4AEE-AAD6-2F2E6F88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229D9B8-2CBF-4461-BAEE-662273D33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888" y="1514902"/>
            <a:ext cx="4197043" cy="25174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2133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3FA416-430A-4A83-9286-AFDF5356F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588" y="1517262"/>
            <a:ext cx="4223323" cy="250882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2F0AF5E-11F0-4AEE-AAD6-2F2E6F88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5E1DB-1B02-4CA8-9296-301DF8CDB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076" y="4217159"/>
            <a:ext cx="4859934" cy="24907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791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40E30A-C19C-4B9F-BCEB-A3867C267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084" y="1578034"/>
            <a:ext cx="4738945" cy="45088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958B2FA-16DA-457D-958C-FCA6A56D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A3C75-9AB8-4DC4-8D41-4E1FC634055B}"/>
              </a:ext>
            </a:extLst>
          </p:cNvPr>
          <p:cNvSpPr txBox="1"/>
          <p:nvPr/>
        </p:nvSpPr>
        <p:spPr>
          <a:xfrm>
            <a:off x="1881067" y="6427113"/>
            <a:ext cx="59954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212529"/>
                </a:solidFill>
                <a:latin typeface="Bahnschrift" panose="020B0502040204020203" pitchFamily="34" charset="0"/>
              </a:rPr>
              <a:t>S</a:t>
            </a:r>
            <a:r>
              <a:rPr lang="en-US" sz="2200" b="0" i="0" dirty="0">
                <a:solidFill>
                  <a:srgbClr val="212529"/>
                </a:solidFill>
                <a:effectLst/>
                <a:latin typeface="Bahnschrift" panose="020B0502040204020203" pitchFamily="34" charset="0"/>
              </a:rPr>
              <a:t>plitting up workloads into smaller pieces. </a:t>
            </a:r>
            <a:endParaRPr lang="en-IN" sz="2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966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215DC2-278F-4070-8541-1619A7D11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404" y="1946322"/>
            <a:ext cx="6867525" cy="40957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7C62C22-F55F-456C-90EE-24880A272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272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E5AAB0-DECD-46E0-BCA8-77AAA9968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8B6A7-1924-4A79-9D16-DF1052671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141" y="1608399"/>
            <a:ext cx="5884856" cy="458185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0DD3D3-C205-45D1-AD2F-29352EAB9DDC}"/>
              </a:ext>
            </a:extLst>
          </p:cNvPr>
          <p:cNvSpPr txBox="1"/>
          <p:nvPr/>
        </p:nvSpPr>
        <p:spPr>
          <a:xfrm>
            <a:off x="1544569" y="6313235"/>
            <a:ext cx="58640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S</a:t>
            </a:r>
            <a:r>
              <a:rPr lang="en-US" sz="2200" b="0" i="0" u="none" strike="noStrike" dirty="0">
                <a:effectLst/>
                <a:latin typeface="Bahnschrift" panose="020B0502040204020203" pitchFamily="34" charset="0"/>
              </a:rPr>
              <a:t>cheduling settings and use resources</a:t>
            </a:r>
            <a:r>
              <a:rPr lang="en-US" sz="2200" b="0" i="0" dirty="0">
                <a:effectLst/>
                <a:latin typeface="Bahnschrift" panose="020B0502040204020203" pitchFamily="34" charset="0"/>
              </a:rPr>
              <a:t> </a:t>
            </a:r>
            <a:endParaRPr lang="en-IN" sz="22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799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75F635-7A85-4A8E-B500-96138A97B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347" y="1612165"/>
            <a:ext cx="4954230" cy="4633547"/>
          </a:xfr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95DD3D8-5A7A-4F06-A243-10FA5A68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06BEB-C108-4042-BA15-2E7EFFEEC15E}"/>
              </a:ext>
            </a:extLst>
          </p:cNvPr>
          <p:cNvSpPr txBox="1"/>
          <p:nvPr/>
        </p:nvSpPr>
        <p:spPr>
          <a:xfrm>
            <a:off x="684316" y="6370307"/>
            <a:ext cx="7989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dirty="0">
                <a:effectLst/>
                <a:latin typeface="Bahnschrift" panose="020B0502040204020203" pitchFamily="34" charset="0"/>
              </a:rPr>
              <a:t> Java program for distributed computing on the cluster backend</a:t>
            </a:r>
            <a:r>
              <a:rPr lang="en-US" b="0" i="0" dirty="0">
                <a:effectLst/>
                <a:latin typeface="Bahnschrift" panose="020B0502040204020203" pitchFamily="34" charset="0"/>
              </a:rPr>
              <a:t>. 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9226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98CD5A-20FA-4037-8D53-80B913DC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14B5C9-8CE6-4020-B416-53DF4862E1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8" r="7"/>
          <a:stretch/>
        </p:blipFill>
        <p:spPr>
          <a:xfrm>
            <a:off x="1316934" y="2684807"/>
            <a:ext cx="6867939" cy="14883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6501C6-51E1-444D-80DA-68C4BDCEF1B1}"/>
              </a:ext>
            </a:extLst>
          </p:cNvPr>
          <p:cNvSpPr txBox="1"/>
          <p:nvPr/>
        </p:nvSpPr>
        <p:spPr>
          <a:xfrm>
            <a:off x="2286000" y="4486725"/>
            <a:ext cx="4572000" cy="769441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b="0" dirty="0" err="1" i="0" lang="en-US" sz="22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Datameer</a:t>
            </a:r>
            <a:r>
              <a:rPr b="0" dirty="0" i="0" lang="en-US" sz="22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 such an outstanding technology.</a:t>
            </a:r>
            <a:endParaRPr dirty="0" lang="en-IN" sz="2200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4244164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821D023-4AB7-444B-AD69-7D21859CA1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901142"/>
              </p:ext>
            </p:extLst>
          </p:nvPr>
        </p:nvGraphicFramePr>
        <p:xfrm>
          <a:off x="2276062" y="2351916"/>
          <a:ext cx="4144617" cy="3200401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4144617">
                  <a:extLst>
                    <a:ext uri="{9D8B030D-6E8A-4147-A177-3AD203B41FA5}">
                      <a16:colId xmlns:a16="http://schemas.microsoft.com/office/drawing/2014/main" val="3953210415"/>
                    </a:ext>
                  </a:extLst>
                </a:gridCol>
              </a:tblGrid>
              <a:tr h="994693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212529"/>
                          </a:solidFill>
                          <a:effectLst/>
                        </a:rPr>
                        <a:t>data types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759387"/>
                  </a:ext>
                </a:extLst>
              </a:tr>
              <a:tr h="1102854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212529"/>
                          </a:solidFill>
                          <a:effectLst/>
                        </a:rPr>
                        <a:t>memory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225483"/>
                  </a:ext>
                </a:extLst>
              </a:tr>
              <a:tr h="1102854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>
                          <a:solidFill>
                            <a:srgbClr val="212529"/>
                          </a:solidFill>
                          <a:effectLst/>
                        </a:rPr>
                        <a:t>disk usage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46727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9436A73-A401-4E79-80D6-F968DABD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1150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DE9525-50AF-44C9-9F63-8DFE19916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2890" y="2023105"/>
            <a:ext cx="6470689" cy="38590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A7E5AF4-F0F1-4D5B-960D-05D4F712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3D6935-CCDD-4EE7-A37A-116685890876}"/>
              </a:ext>
            </a:extLst>
          </p:cNvPr>
          <p:cNvSpPr txBox="1"/>
          <p:nvPr/>
        </p:nvSpPr>
        <p:spPr>
          <a:xfrm>
            <a:off x="1432257" y="6128894"/>
            <a:ext cx="1962772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D</a:t>
            </a:r>
            <a:r>
              <a:rPr lang="en-IN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esign/edit time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7DFC9-2E71-40FC-B43D-B3788D530B59}"/>
              </a:ext>
            </a:extLst>
          </p:cNvPr>
          <p:cNvSpPr txBox="1"/>
          <p:nvPr/>
        </p:nvSpPr>
        <p:spPr>
          <a:xfrm>
            <a:off x="5524648" y="6115246"/>
            <a:ext cx="2118692" cy="3693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E</a:t>
            </a:r>
            <a:r>
              <a:rPr lang="en-IN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xecution/runtime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BCB87-82EB-40E4-ABEE-63AEF965B0EE}"/>
              </a:ext>
            </a:extLst>
          </p:cNvPr>
          <p:cNvSpPr txBox="1"/>
          <p:nvPr/>
        </p:nvSpPr>
        <p:spPr>
          <a:xfrm>
            <a:off x="2281402" y="1432849"/>
            <a:ext cx="4572000" cy="43088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A</a:t>
            </a:r>
            <a:r>
              <a:rPr lang="en-US" sz="22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nalytics work into two stages</a:t>
            </a:r>
            <a:endParaRPr lang="en-IN" sz="2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701321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2B62C8-52DD-43CB-B3BF-366EB149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IN">
                <a:effectLst/>
                <a:latin charset="0" panose="020B0502040204020203" pitchFamily="34" typeface="Bahnschrift"/>
              </a:rPr>
              <a:t>DESIGN/EDIT TIME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6D6862-59F8-4C64-B582-9CE6F7AAC5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50" r="-150"/>
          <a:stretch/>
        </p:blipFill>
        <p:spPr>
          <a:xfrm>
            <a:off x="580485" y="2362843"/>
            <a:ext cx="3917194" cy="14625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EEC0B9-AFF8-4A92-9B47-572EE9E010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-320" r="254"/>
          <a:stretch/>
        </p:blipFill>
        <p:spPr>
          <a:xfrm>
            <a:off x="5129287" y="2347414"/>
            <a:ext cx="3332325" cy="14876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0597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2B62C8-52DD-43CB-B3BF-366EB149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DESIGN/EDIT TIME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67EAE-5380-4D89-8660-05B50C529CDC}"/>
              </a:ext>
            </a:extLst>
          </p:cNvPr>
          <p:cNvSpPr txBox="1"/>
          <p:nvPr/>
        </p:nvSpPr>
        <p:spPr>
          <a:xfrm>
            <a:off x="149087" y="2932043"/>
            <a:ext cx="8895521" cy="1735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30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IN" sz="30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datameerServiceAccountUser</a:t>
            </a:r>
            <a:r>
              <a:rPr lang="en-IN" sz="30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&gt;@&lt;datameerHost&gt;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30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or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30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&lt;</a:t>
            </a:r>
            <a:r>
              <a:rPr lang="en-IN" sz="30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loggedinUser</a:t>
            </a:r>
            <a:r>
              <a:rPr lang="en-IN" sz="30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&gt;@&lt;datameerHost&gt;.</a:t>
            </a:r>
          </a:p>
        </p:txBody>
      </p:sp>
    </p:spTree>
    <p:extLst>
      <p:ext uri="{BB962C8B-B14F-4D97-AF65-F5344CB8AC3E}">
        <p14:creationId xmlns:p14="http://schemas.microsoft.com/office/powerpoint/2010/main" val="2242619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DE9525-50AF-44C9-9F63-8DFE19916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59" t="2932"/>
          <a:stretch/>
        </p:blipFill>
        <p:spPr>
          <a:xfrm>
            <a:off x="1232451" y="1759226"/>
            <a:ext cx="7187413" cy="42440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A7E5AF4-F0F1-4D5B-960D-05D4F712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EXECUTION/RUN TIME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6AF981-FB97-4D26-B933-0F6769FEF2AE}"/>
              </a:ext>
            </a:extLst>
          </p:cNvPr>
          <p:cNvSpPr/>
          <p:nvPr/>
        </p:nvSpPr>
        <p:spPr>
          <a:xfrm>
            <a:off x="6321288" y="3180522"/>
            <a:ext cx="1739348" cy="27133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7C517-2274-4A3E-930A-146F97EDE82F}"/>
              </a:ext>
            </a:extLst>
          </p:cNvPr>
          <p:cNvSpPr txBox="1"/>
          <p:nvPr/>
        </p:nvSpPr>
        <p:spPr>
          <a:xfrm>
            <a:off x="2469947" y="6139724"/>
            <a:ext cx="4820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solidFill>
                  <a:srgbClr val="212529"/>
                </a:solidFill>
                <a:effectLst/>
                <a:latin typeface="Bahnschrift" panose="020B0502040204020203" pitchFamily="34" charset="0"/>
              </a:rPr>
              <a:t>Random </a:t>
            </a:r>
            <a:r>
              <a:rPr lang="en-US" sz="2000" b="0" i="0" dirty="0" err="1">
                <a:solidFill>
                  <a:srgbClr val="212529"/>
                </a:solidFill>
                <a:effectLst/>
                <a:latin typeface="Bahnschrift" panose="020B0502040204020203" pitchFamily="34" charset="0"/>
              </a:rPr>
              <a:t>DataNodes</a:t>
            </a:r>
            <a:r>
              <a:rPr lang="en-US" sz="2000" b="0" i="0" dirty="0">
                <a:solidFill>
                  <a:srgbClr val="212529"/>
                </a:solidFill>
                <a:effectLst/>
                <a:latin typeface="Bahnschrift" panose="020B0502040204020203" pitchFamily="34" charset="0"/>
              </a:rPr>
              <a:t> (DN) in the cluster</a:t>
            </a:r>
            <a:endParaRPr lang="en-IN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38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DE9525-50AF-44C9-9F63-8DFE19916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59" t="2932"/>
          <a:stretch/>
        </p:blipFill>
        <p:spPr>
          <a:xfrm>
            <a:off x="1232451" y="1759226"/>
            <a:ext cx="7187413" cy="42440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A7E5AF4-F0F1-4D5B-960D-05D4F712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EXECUTION/RUN TIME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6AF981-FB97-4D26-B933-0F6769FEF2AE}"/>
              </a:ext>
            </a:extLst>
          </p:cNvPr>
          <p:cNvSpPr/>
          <p:nvPr/>
        </p:nvSpPr>
        <p:spPr>
          <a:xfrm>
            <a:off x="6321288" y="3180522"/>
            <a:ext cx="1739348" cy="27133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7C517-2274-4A3E-930A-146F97EDE82F}"/>
              </a:ext>
            </a:extLst>
          </p:cNvPr>
          <p:cNvSpPr txBox="1"/>
          <p:nvPr/>
        </p:nvSpPr>
        <p:spPr>
          <a:xfrm>
            <a:off x="2469947" y="6139725"/>
            <a:ext cx="4820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i="0" dirty="0">
                <a:solidFill>
                  <a:srgbClr val="212529"/>
                </a:solidFill>
                <a:effectLst/>
                <a:latin typeface="Bahnschrift" panose="020B0502040204020203" pitchFamily="34" charset="0"/>
              </a:rPr>
              <a:t>Random </a:t>
            </a:r>
            <a:r>
              <a:rPr lang="en-US" sz="2000" b="0" i="0" dirty="0" err="1">
                <a:solidFill>
                  <a:srgbClr val="212529"/>
                </a:solidFill>
                <a:effectLst/>
                <a:latin typeface="Bahnschrift" panose="020B0502040204020203" pitchFamily="34" charset="0"/>
              </a:rPr>
              <a:t>DataNodes</a:t>
            </a:r>
            <a:r>
              <a:rPr lang="en-US" sz="2000" b="0" i="0" dirty="0">
                <a:solidFill>
                  <a:srgbClr val="212529"/>
                </a:solidFill>
                <a:effectLst/>
                <a:latin typeface="Bahnschrift" panose="020B0502040204020203" pitchFamily="34" charset="0"/>
              </a:rPr>
              <a:t> (DN) in the cluster</a:t>
            </a:r>
            <a:endParaRPr lang="en-IN" sz="20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1503EA-CE1B-49CF-B9EC-FC7267DFBBE2}"/>
              </a:ext>
            </a:extLst>
          </p:cNvPr>
          <p:cNvSpPr/>
          <p:nvPr/>
        </p:nvSpPr>
        <p:spPr>
          <a:xfrm>
            <a:off x="5963478" y="2226365"/>
            <a:ext cx="2186609" cy="2286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246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31AE9D-AB1A-4C6C-A74E-12A893481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282" y="2812774"/>
            <a:ext cx="8287577" cy="2792896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&lt;</a:t>
            </a:r>
            <a:r>
              <a:rPr lang="en-US" dirty="0" err="1"/>
              <a:t>yarnServiceAccountUser</a:t>
            </a:r>
            <a:r>
              <a:rPr lang="en-US" dirty="0"/>
              <a:t>&gt;@&lt;dataNode&gt; </a:t>
            </a:r>
          </a:p>
          <a:p>
            <a:pPr marL="0" indent="0" algn="ctr">
              <a:buNone/>
            </a:pPr>
            <a:r>
              <a:rPr lang="en-US" dirty="0"/>
              <a:t>or </a:t>
            </a:r>
          </a:p>
          <a:p>
            <a:pPr marL="0" indent="0" algn="ctr">
              <a:buNone/>
            </a:pPr>
            <a:r>
              <a:rPr lang="en-US" dirty="0"/>
              <a:t>&lt;</a:t>
            </a:r>
            <a:r>
              <a:rPr lang="en-US" dirty="0" err="1"/>
              <a:t>impersonatedUser</a:t>
            </a:r>
            <a:r>
              <a:rPr lang="en-US" dirty="0"/>
              <a:t>&gt;@&lt;dataNode&gt;.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D564FE-F368-4A97-8DAE-43EAFEB8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EXECUTION/RUN TIME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92015"/>
      </p:ext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3983-2181-477A-9640-4F3D4265E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1163" y="2169994"/>
            <a:ext cx="3122459" cy="2524836"/>
          </a:xfrm>
        </p:spPr>
        <p:txBody>
          <a:bodyPr anchor="b" bIns="45720" lIns="91440" rIns="91440" rtlCol="0" tIns="45720" vert="horz">
            <a:normAutofit/>
          </a:bodyPr>
          <a:lstStyle/>
          <a:p>
            <a:pPr algn="ctr"/>
            <a:r>
              <a:rPr b="0" dirty="0" i="0" lang="en-US" sz="4000">
                <a:effectLst/>
                <a:latin charset="0" panose="020B0502040204020203" pitchFamily="34" typeface="Bahnschrift"/>
              </a:rPr>
              <a:t>What is Data Preparation and Feature Engineering</a:t>
            </a:r>
            <a:endParaRPr dirty="0" lang="en-US" sz="4000">
              <a:latin charset="0" panose="020B0502040204020203" pitchFamily="34" typeface="Bahnschrif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391039" cy="6858000"/>
          </a:xfrm>
          <a:custGeom>
            <a:avLst/>
            <a:gdLst>
              <a:gd fmla="*/ 7188051 w 7188051" name="connsiteX0"/>
              <a:gd fmla="*/ 6858000 h 6858000" name="connsiteY0"/>
              <a:gd fmla="*/ 108694 w 7188051" name="connsiteX1"/>
              <a:gd fmla="*/ 6858000 h 6858000" name="connsiteY1"/>
              <a:gd fmla="*/ 79127 w 7188051" name="connsiteX2"/>
              <a:gd fmla="*/ 6681235 h 6858000" name="connsiteY2"/>
              <a:gd fmla="*/ 0 w 7188051" name="connsiteX3"/>
              <a:gd fmla="*/ 5565888 h 6858000" name="connsiteY3"/>
              <a:gd fmla="*/ 2190696 w 7188051" name="connsiteX4"/>
              <a:gd fmla="*/ 145339 h 6858000" name="connsiteY4"/>
              <a:gd fmla="*/ 2339431 w 7188051" name="connsiteX5"/>
              <a:gd fmla="*/ 0 h 6858000" name="connsiteY5"/>
              <a:gd fmla="*/ 7188051 w 7188051" name="connsiteX6"/>
              <a:gd fmla="*/ 0 h 6858000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6858000" w="7188051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pic>
        <p:nvPicPr>
          <p:cNvPr descr="Electronic circuit board" id="4" name="Picture 3">
            <a:extLst>
              <a:ext uri="{FF2B5EF4-FFF2-40B4-BE49-F238E27FC236}">
                <a16:creationId xmlns:a16="http://schemas.microsoft.com/office/drawing/2014/main" id="{24D1B690-9212-4E67-8DF2-B7F7D60B54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1" r="20"/>
          <a:stretch/>
        </p:blipFill>
        <p:spPr>
          <a:xfrm>
            <a:off x="20" y="10"/>
            <a:ext cx="5271352" cy="6857990"/>
          </a:xfrm>
          <a:custGeom>
            <a:avLst/>
            <a:gdLst/>
            <a:ahLst/>
            <a:cxnLst/>
            <a:rect b="b" l="l" r="r" t="t"/>
            <a:pathLst>
              <a:path h="6858000" w="7028495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08075729"/>
      </p:ext>
    </p:extLst>
  </p:cSld>
  <p:clrMapOvr>
    <a:overrideClrMapping accent1="accent1" accent2="accent2" accent3="accent3" accent4="accent4" accent5="accent5" accent6="accent6" bg1="dk1" bg2="dk2" folHlink="folHlink" hlink="hlink" tx1="lt1" tx2="lt2"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E389C5-7ADB-44B9-8A45-C2B0FC47056F}"/>
              </a:ext>
            </a:extLst>
          </p:cNvPr>
          <p:cNvPicPr>
            <a:picLocks noChangeAspect="1" noGrp="1"/>
          </p:cNvPicPr>
          <p:nvPr>
            <p:ph idx="4294967295"/>
          </p:nvPr>
        </p:nvPicPr>
        <p:blipFill rotWithShape="1">
          <a:blip r:embed="rId2"/>
          <a:srcRect r="-114"/>
          <a:stretch/>
        </p:blipFill>
        <p:spPr>
          <a:xfrm>
            <a:off x="682387" y="1425053"/>
            <a:ext cx="3533775" cy="41640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059E554-4C8D-461E-B8BF-BABEFC22690D}"/>
              </a:ext>
            </a:extLst>
          </p:cNvPr>
          <p:cNvGrpSpPr/>
          <p:nvPr/>
        </p:nvGrpSpPr>
        <p:grpSpPr>
          <a:xfrm>
            <a:off x="4922390" y="1475101"/>
            <a:ext cx="3866769" cy="3833595"/>
            <a:chOff x="4826856" y="1406862"/>
            <a:chExt cx="3866769" cy="38335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C2EC214-9017-4E01-82BE-2200070EC6AD}"/>
                </a:ext>
              </a:extLst>
            </p:cNvPr>
            <p:cNvSpPr/>
            <p:nvPr/>
          </p:nvSpPr>
          <p:spPr>
            <a:xfrm>
              <a:off x="4826856" y="1406862"/>
              <a:ext cx="3825825" cy="647595"/>
            </a:xfrm>
            <a:custGeom>
              <a:avLst/>
              <a:gdLst>
                <a:gd fmla="*/ 0 w 3825825" name="connsiteX0"/>
                <a:gd fmla="*/ 107935 h 647595" name="connsiteY0"/>
                <a:gd fmla="*/ 107935 w 3825825" name="connsiteX1"/>
                <a:gd fmla="*/ 0 h 647595" name="connsiteY1"/>
                <a:gd fmla="*/ 3717890 w 3825825" name="connsiteX2"/>
                <a:gd fmla="*/ 0 h 647595" name="connsiteY2"/>
                <a:gd fmla="*/ 3825825 w 3825825" name="connsiteX3"/>
                <a:gd fmla="*/ 107935 h 647595" name="connsiteY3"/>
                <a:gd fmla="*/ 3825825 w 3825825" name="connsiteX4"/>
                <a:gd fmla="*/ 539660 h 647595" name="connsiteY4"/>
                <a:gd fmla="*/ 3717890 w 3825825" name="connsiteX5"/>
                <a:gd fmla="*/ 647595 h 647595" name="connsiteY5"/>
                <a:gd fmla="*/ 107935 w 3825825" name="connsiteX6"/>
                <a:gd fmla="*/ 647595 h 647595" name="connsiteY6"/>
                <a:gd fmla="*/ 0 w 3825825" name="connsiteX7"/>
                <a:gd fmla="*/ 539660 h 647595" name="connsiteY7"/>
                <a:gd fmla="*/ 0 w 3825825" name="connsiteX8"/>
                <a:gd fmla="*/ 107935 h 647595" name="connsiteY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b="b" l="l" r="r" t="t"/>
              <a:pathLst>
                <a:path h="647595" w="3825825">
                  <a:moveTo>
                    <a:pt x="0" y="107935"/>
                  </a:moveTo>
                  <a:cubicBezTo>
                    <a:pt x="0" y="48324"/>
                    <a:pt x="48324" y="0"/>
                    <a:pt x="107935" y="0"/>
                  </a:cubicBezTo>
                  <a:lnTo>
                    <a:pt x="3717890" y="0"/>
                  </a:lnTo>
                  <a:cubicBezTo>
                    <a:pt x="3777501" y="0"/>
                    <a:pt x="3825825" y="48324"/>
                    <a:pt x="3825825" y="107935"/>
                  </a:cubicBezTo>
                  <a:lnTo>
                    <a:pt x="3825825" y="539660"/>
                  </a:lnTo>
                  <a:cubicBezTo>
                    <a:pt x="3825825" y="599271"/>
                    <a:pt x="3777501" y="647595"/>
                    <a:pt x="3717890" y="647595"/>
                  </a:cubicBezTo>
                  <a:lnTo>
                    <a:pt x="107935" y="647595"/>
                  </a:lnTo>
                  <a:cubicBezTo>
                    <a:pt x="48324" y="647595"/>
                    <a:pt x="0" y="599271"/>
                    <a:pt x="0" y="539660"/>
                  </a:cubicBezTo>
                  <a:lnTo>
                    <a:pt x="0" y="107935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0" bIns="134483" lIns="134483" numCol="1" rIns="134483" spcCol="1270" spcFirstLastPara="0" tIns="134483" vert="horz" wrap="square">
              <a:noAutofit/>
            </a:bodyPr>
            <a:lstStyle/>
            <a:p>
              <a:pPr algn="ctr" defTabSz="1200150" indent="0" lvl="0" mar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dirty="0" i="0" kern="1200" lang="en-US" sz="2700"/>
                <a:t>cleaning, </a:t>
              </a:r>
              <a:endParaRPr dirty="0" kern="1200" lang="en-IN" sz="27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5861C2-7F19-4834-80C6-BA172C375538}"/>
                </a:ext>
              </a:extLst>
            </p:cNvPr>
            <p:cNvSpPr/>
            <p:nvPr/>
          </p:nvSpPr>
          <p:spPr>
            <a:xfrm>
              <a:off x="4840504" y="2487060"/>
              <a:ext cx="3825825" cy="647595"/>
            </a:xfrm>
            <a:custGeom>
              <a:avLst/>
              <a:gdLst>
                <a:gd fmla="*/ 0 w 3825825" name="connsiteX0"/>
                <a:gd fmla="*/ 107935 h 647595" name="connsiteY0"/>
                <a:gd fmla="*/ 107935 w 3825825" name="connsiteX1"/>
                <a:gd fmla="*/ 0 h 647595" name="connsiteY1"/>
                <a:gd fmla="*/ 3717890 w 3825825" name="connsiteX2"/>
                <a:gd fmla="*/ 0 h 647595" name="connsiteY2"/>
                <a:gd fmla="*/ 3825825 w 3825825" name="connsiteX3"/>
                <a:gd fmla="*/ 107935 h 647595" name="connsiteY3"/>
                <a:gd fmla="*/ 3825825 w 3825825" name="connsiteX4"/>
                <a:gd fmla="*/ 539660 h 647595" name="connsiteY4"/>
                <a:gd fmla="*/ 3717890 w 3825825" name="connsiteX5"/>
                <a:gd fmla="*/ 647595 h 647595" name="connsiteY5"/>
                <a:gd fmla="*/ 107935 w 3825825" name="connsiteX6"/>
                <a:gd fmla="*/ 647595 h 647595" name="connsiteY6"/>
                <a:gd fmla="*/ 0 w 3825825" name="connsiteX7"/>
                <a:gd fmla="*/ 539660 h 647595" name="connsiteY7"/>
                <a:gd fmla="*/ 0 w 3825825" name="connsiteX8"/>
                <a:gd fmla="*/ 107935 h 647595" name="connsiteY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b="b" l="l" r="r" t="t"/>
              <a:pathLst>
                <a:path h="647595" w="3825825">
                  <a:moveTo>
                    <a:pt x="0" y="107935"/>
                  </a:moveTo>
                  <a:cubicBezTo>
                    <a:pt x="0" y="48324"/>
                    <a:pt x="48324" y="0"/>
                    <a:pt x="107935" y="0"/>
                  </a:cubicBezTo>
                  <a:lnTo>
                    <a:pt x="3717890" y="0"/>
                  </a:lnTo>
                  <a:cubicBezTo>
                    <a:pt x="3777501" y="0"/>
                    <a:pt x="3825825" y="48324"/>
                    <a:pt x="3825825" y="107935"/>
                  </a:cubicBezTo>
                  <a:lnTo>
                    <a:pt x="3825825" y="539660"/>
                  </a:lnTo>
                  <a:cubicBezTo>
                    <a:pt x="3825825" y="599271"/>
                    <a:pt x="3777501" y="647595"/>
                    <a:pt x="3717890" y="647595"/>
                  </a:cubicBezTo>
                  <a:lnTo>
                    <a:pt x="107935" y="647595"/>
                  </a:lnTo>
                  <a:cubicBezTo>
                    <a:pt x="48324" y="647595"/>
                    <a:pt x="0" y="599271"/>
                    <a:pt x="0" y="539660"/>
                  </a:cubicBezTo>
                  <a:lnTo>
                    <a:pt x="0" y="107935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0" bIns="134483" lIns="134483" numCol="1" rIns="134483" spcCol="1270" spcFirstLastPara="0" tIns="134483" vert="horz" wrap="square">
              <a:noAutofit/>
            </a:bodyPr>
            <a:lstStyle/>
            <a:p>
              <a:pPr algn="ctr" defTabSz="1200150" indent="0" lvl="0" mar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dirty="0" i="0" kern="1200" lang="en-US" sz="2700"/>
                <a:t>structuring,</a:t>
              </a:r>
              <a:endParaRPr dirty="0" kern="1200" lang="en-IN" sz="27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974C5F-3030-46A8-80AB-C061589AEBD7}"/>
                </a:ext>
              </a:extLst>
            </p:cNvPr>
            <p:cNvSpPr/>
            <p:nvPr/>
          </p:nvSpPr>
          <p:spPr>
            <a:xfrm>
              <a:off x="4854152" y="3539960"/>
              <a:ext cx="3784882" cy="647595"/>
            </a:xfrm>
            <a:custGeom>
              <a:avLst/>
              <a:gdLst>
                <a:gd fmla="*/ 0 w 3825825" name="connsiteX0"/>
                <a:gd fmla="*/ 107935 h 647595" name="connsiteY0"/>
                <a:gd fmla="*/ 107935 w 3825825" name="connsiteX1"/>
                <a:gd fmla="*/ 0 h 647595" name="connsiteY1"/>
                <a:gd fmla="*/ 3717890 w 3825825" name="connsiteX2"/>
                <a:gd fmla="*/ 0 h 647595" name="connsiteY2"/>
                <a:gd fmla="*/ 3825825 w 3825825" name="connsiteX3"/>
                <a:gd fmla="*/ 107935 h 647595" name="connsiteY3"/>
                <a:gd fmla="*/ 3825825 w 3825825" name="connsiteX4"/>
                <a:gd fmla="*/ 539660 h 647595" name="connsiteY4"/>
                <a:gd fmla="*/ 3717890 w 3825825" name="connsiteX5"/>
                <a:gd fmla="*/ 647595 h 647595" name="connsiteY5"/>
                <a:gd fmla="*/ 107935 w 3825825" name="connsiteX6"/>
                <a:gd fmla="*/ 647595 h 647595" name="connsiteY6"/>
                <a:gd fmla="*/ 0 w 3825825" name="connsiteX7"/>
                <a:gd fmla="*/ 539660 h 647595" name="connsiteY7"/>
                <a:gd fmla="*/ 0 w 3825825" name="connsiteX8"/>
                <a:gd fmla="*/ 107935 h 647595" name="connsiteY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b="b" l="l" r="r" t="t"/>
              <a:pathLst>
                <a:path h="647595" w="3825825">
                  <a:moveTo>
                    <a:pt x="0" y="107935"/>
                  </a:moveTo>
                  <a:cubicBezTo>
                    <a:pt x="0" y="48324"/>
                    <a:pt x="48324" y="0"/>
                    <a:pt x="107935" y="0"/>
                  </a:cubicBezTo>
                  <a:lnTo>
                    <a:pt x="3717890" y="0"/>
                  </a:lnTo>
                  <a:cubicBezTo>
                    <a:pt x="3777501" y="0"/>
                    <a:pt x="3825825" y="48324"/>
                    <a:pt x="3825825" y="107935"/>
                  </a:cubicBezTo>
                  <a:lnTo>
                    <a:pt x="3825825" y="539660"/>
                  </a:lnTo>
                  <a:cubicBezTo>
                    <a:pt x="3825825" y="599271"/>
                    <a:pt x="3777501" y="647595"/>
                    <a:pt x="3717890" y="647595"/>
                  </a:cubicBezTo>
                  <a:lnTo>
                    <a:pt x="107935" y="647595"/>
                  </a:lnTo>
                  <a:cubicBezTo>
                    <a:pt x="48324" y="647595"/>
                    <a:pt x="0" y="599271"/>
                    <a:pt x="0" y="539660"/>
                  </a:cubicBezTo>
                  <a:lnTo>
                    <a:pt x="0" y="107935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0" bIns="134483" lIns="134483" numCol="1" rIns="134483" spcCol="1270" spcFirstLastPara="0" tIns="134483" vert="horz" wrap="square">
              <a:noAutofit/>
            </a:bodyPr>
            <a:lstStyle/>
            <a:p>
              <a:pPr algn="ctr" defTabSz="1200150" indent="0" lvl="0" mar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dirty="0" i="0" kern="1200" lang="en-US" sz="2700"/>
                <a:t>enriching raw data, </a:t>
              </a:r>
              <a:endParaRPr dirty="0" kern="1200" lang="en-IN" sz="27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91EDC9C-0B57-485B-9045-A58A72084CEC}"/>
                </a:ext>
              </a:extLst>
            </p:cNvPr>
            <p:cNvSpPr/>
            <p:nvPr/>
          </p:nvSpPr>
          <p:spPr>
            <a:xfrm>
              <a:off x="4867800" y="4592862"/>
              <a:ext cx="3825825" cy="647595"/>
            </a:xfrm>
            <a:custGeom>
              <a:avLst/>
              <a:gdLst>
                <a:gd fmla="*/ 0 w 3825825" name="connsiteX0"/>
                <a:gd fmla="*/ 107935 h 647595" name="connsiteY0"/>
                <a:gd fmla="*/ 107935 w 3825825" name="connsiteX1"/>
                <a:gd fmla="*/ 0 h 647595" name="connsiteY1"/>
                <a:gd fmla="*/ 3717890 w 3825825" name="connsiteX2"/>
                <a:gd fmla="*/ 0 h 647595" name="connsiteY2"/>
                <a:gd fmla="*/ 3825825 w 3825825" name="connsiteX3"/>
                <a:gd fmla="*/ 107935 h 647595" name="connsiteY3"/>
                <a:gd fmla="*/ 3825825 w 3825825" name="connsiteX4"/>
                <a:gd fmla="*/ 539660 h 647595" name="connsiteY4"/>
                <a:gd fmla="*/ 3717890 w 3825825" name="connsiteX5"/>
                <a:gd fmla="*/ 647595 h 647595" name="connsiteY5"/>
                <a:gd fmla="*/ 107935 w 3825825" name="connsiteX6"/>
                <a:gd fmla="*/ 647595 h 647595" name="connsiteY6"/>
                <a:gd fmla="*/ 0 w 3825825" name="connsiteX7"/>
                <a:gd fmla="*/ 539660 h 647595" name="connsiteY7"/>
                <a:gd fmla="*/ 0 w 3825825" name="connsiteX8"/>
                <a:gd fmla="*/ 107935 h 647595" name="connsiteY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b="b" l="l" r="r" t="t"/>
              <a:pathLst>
                <a:path h="647595" w="3825825">
                  <a:moveTo>
                    <a:pt x="0" y="107935"/>
                  </a:moveTo>
                  <a:cubicBezTo>
                    <a:pt x="0" y="48324"/>
                    <a:pt x="48324" y="0"/>
                    <a:pt x="107935" y="0"/>
                  </a:cubicBezTo>
                  <a:lnTo>
                    <a:pt x="3717890" y="0"/>
                  </a:lnTo>
                  <a:cubicBezTo>
                    <a:pt x="3777501" y="0"/>
                    <a:pt x="3825825" y="48324"/>
                    <a:pt x="3825825" y="107935"/>
                  </a:cubicBezTo>
                  <a:lnTo>
                    <a:pt x="3825825" y="539660"/>
                  </a:lnTo>
                  <a:cubicBezTo>
                    <a:pt x="3825825" y="599271"/>
                    <a:pt x="3777501" y="647595"/>
                    <a:pt x="3717890" y="647595"/>
                  </a:cubicBezTo>
                  <a:lnTo>
                    <a:pt x="107935" y="647595"/>
                  </a:lnTo>
                  <a:cubicBezTo>
                    <a:pt x="48324" y="647595"/>
                    <a:pt x="0" y="599271"/>
                    <a:pt x="0" y="539660"/>
                  </a:cubicBezTo>
                  <a:lnTo>
                    <a:pt x="0" y="107935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0" bIns="134483" lIns="134483" numCol="1" rIns="134483" spcCol="1270" spcFirstLastPara="0" tIns="134483" vert="horz" wrap="square">
              <a:noAutofit/>
            </a:bodyPr>
            <a:lstStyle/>
            <a:p>
              <a:pPr algn="ctr" defTabSz="1200150" indent="0" lvl="0" mar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dirty="0" i="0" kern="1200" lang="en-US" sz="2700"/>
                <a:t>unstructured or big data.</a:t>
              </a:r>
              <a:endParaRPr dirty="0" kern="1200" lang="en-IN" sz="2700"/>
            </a:p>
          </p:txBody>
        </p:sp>
      </p:grpSp>
    </p:spTree>
    <p:extLst>
      <p:ext uri="{BB962C8B-B14F-4D97-AF65-F5344CB8AC3E}">
        <p14:creationId xmlns:p14="http://schemas.microsoft.com/office/powerpoint/2010/main" val="2066364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C58A-3777-4572-9CF6-670F69B6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36" y="1245715"/>
            <a:ext cx="7886700" cy="2852737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Bahnschrift" panose="020B0502040204020203" pitchFamily="34" charset="0"/>
              </a:rPr>
              <a:t>Data Preparation in </a:t>
            </a:r>
            <a:r>
              <a:rPr lang="en-IN" sz="5400" dirty="0" err="1">
                <a:latin typeface="Bahnschrift" panose="020B0502040204020203" pitchFamily="34" charset="0"/>
              </a:rPr>
              <a:t>Datameer</a:t>
            </a:r>
            <a:endParaRPr lang="en-IN" sz="5400" dirty="0">
              <a:latin typeface="Bahnschrift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47341-8D77-4D4A-8519-55CA8E06E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026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B5C831-B798-44AE-A89B-E18BE3E13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905" y="1969779"/>
            <a:ext cx="5715000" cy="42672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A0FC865-D0FC-4028-A276-2312D637F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962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DE6CCC-17FC-464C-953C-0B56A9C76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515" y="2024685"/>
            <a:ext cx="7509325" cy="39423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383B115-67BE-4456-8553-6ABB580B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Blending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440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83B115-67BE-4456-8553-6ABB580B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DB95ED-07A7-42EC-8A9F-F4ED78824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159" y="2049061"/>
            <a:ext cx="7397087" cy="398826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3806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83B115-67BE-4456-8553-6ABB580B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enrichment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A2F9C6-887D-4071-83CE-1AA57EBFF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806" y="2022391"/>
            <a:ext cx="7219682" cy="40352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1316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83B115-67BE-4456-8553-6ABB580B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  <a:latin typeface="Bahnschrift" panose="020B0502040204020203" pitchFamily="34" charset="0"/>
              </a:rPr>
              <a:t>Data grouping and organization</a:t>
            </a:r>
            <a:endParaRPr lang="en-IN" dirty="0">
              <a:latin typeface="Bahnschrift" panose="020B05020402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AEAE24-1AE9-4C91-94D5-2141A3747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126" y="2176669"/>
            <a:ext cx="7654327" cy="37371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0598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B40B06-837C-4BB3-AAA3-5F0133489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3199" y="1860787"/>
            <a:ext cx="6051309" cy="45384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E86312A-F7C2-4B5C-9E88-DF008A84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science-specific</a:t>
            </a:r>
          </a:p>
        </p:txBody>
      </p:sp>
    </p:spTree>
    <p:extLst>
      <p:ext uri="{BB962C8B-B14F-4D97-AF65-F5344CB8AC3E}">
        <p14:creationId xmlns:p14="http://schemas.microsoft.com/office/powerpoint/2010/main" val="2934131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1977</TotalTime>
  <Words>162</Words>
  <Application>Microsoft Office PowerPoint</Application>
  <PresentationFormat>On-screen Show (4:3)</PresentationFormat>
  <Paragraphs>46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DESIGN/EDIT TIME</vt:lpstr>
      <vt:lpstr>DESIGN/EDIT TIME</vt:lpstr>
      <vt:lpstr>EXECUTION/RUN TIME</vt:lpstr>
      <vt:lpstr>EXECUTION/RUN TIME</vt:lpstr>
      <vt:lpstr>EXECUTION/RUN TIME</vt:lpstr>
      <vt:lpstr>What is Data Preparation and Feature Engineering</vt:lpstr>
      <vt:lpstr>PowerPoint Presentation</vt:lpstr>
      <vt:lpstr>Data Preparation in Datameer</vt:lpstr>
      <vt:lpstr>Data Cleansing</vt:lpstr>
      <vt:lpstr>Data Blending</vt:lpstr>
      <vt:lpstr>Data transformations</vt:lpstr>
      <vt:lpstr>Data enrichment</vt:lpstr>
      <vt:lpstr>Data grouping and organization</vt:lpstr>
      <vt:lpstr>Data science-specific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recording2</cp:lastModifiedBy>
  <cp:revision>164</cp:revision>
  <dcterms:created xsi:type="dcterms:W3CDTF">2021-05-13T17:45:44Z</dcterms:created>
  <dcterms:modified xsi:type="dcterms:W3CDTF">2021-10-11T07:25:21Z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856011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