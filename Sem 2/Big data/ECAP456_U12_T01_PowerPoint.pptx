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6"/>
  </p:handoutMasterIdLst>
  <p:sldIdLst>
    <p:sldId id="266" r:id="rId2"/>
    <p:sldId id="261" r:id="rId3"/>
    <p:sldId id="324" r:id="rId4"/>
    <p:sldId id="325" r:id="rId5"/>
    <p:sldId id="326" r:id="rId6"/>
    <p:sldId id="264" r:id="rId7"/>
    <p:sldId id="270" r:id="rId8"/>
    <p:sldId id="271" r:id="rId9"/>
    <p:sldId id="272" r:id="rId10"/>
    <p:sldId id="269" r:id="rId11"/>
    <p:sldId id="274" r:id="rId12"/>
    <p:sldId id="276" r:id="rId13"/>
    <p:sldId id="277" r:id="rId14"/>
    <p:sldId id="278" r:id="rId15"/>
    <p:sldId id="285" r:id="rId16"/>
    <p:sldId id="279" r:id="rId17"/>
    <p:sldId id="289" r:id="rId18"/>
    <p:sldId id="292" r:id="rId19"/>
    <p:sldId id="295" r:id="rId20"/>
    <p:sldId id="298" r:id="rId21"/>
    <p:sldId id="299" r:id="rId22"/>
    <p:sldId id="301" r:id="rId23"/>
    <p:sldId id="305" r:id="rId24"/>
    <p:sldId id="308" r:id="rId25"/>
    <p:sldId id="309" r:id="rId26"/>
    <p:sldId id="310" r:id="rId27"/>
    <p:sldId id="313" r:id="rId28"/>
    <p:sldId id="314" r:id="rId29"/>
    <p:sldId id="315" r:id="rId30"/>
    <p:sldId id="316" r:id="rId31"/>
    <p:sldId id="321" r:id="rId32"/>
    <p:sldId id="322" r:id="rId33"/>
    <p:sldId id="323" r:id="rId34"/>
    <p:sldId id="26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48799-FF34-475B-AA26-401F3C2BFCBF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51A46FF-C7D6-4C65-A926-35D33D46C3BF}">
      <dgm:prSet/>
      <dgm:spPr/>
      <dgm:t>
        <a:bodyPr/>
        <a:lstStyle/>
        <a:p>
          <a:r>
            <a:rPr lang="en-US" b="0" i="0">
              <a:effectLst/>
              <a:latin typeface="charter"/>
            </a:rPr>
            <a:t>In the context of Statistical learning, there are two types of data</a:t>
          </a:r>
          <a:endParaRPr lang="en-US" b="0" i="0" dirty="0">
            <a:effectLst/>
            <a:latin typeface="charter"/>
          </a:endParaRPr>
        </a:p>
      </dgm:t>
    </dgm:pt>
    <dgm:pt modelId="{BA1F414B-0070-45C6-B5F1-06DCB6FCD364}" type="parTrans" cxnId="{16B1B6FE-2E4A-4AE2-9B7C-9F8DA05F85A8}">
      <dgm:prSet/>
      <dgm:spPr/>
      <dgm:t>
        <a:bodyPr/>
        <a:lstStyle/>
        <a:p>
          <a:endParaRPr lang="en-IN"/>
        </a:p>
      </dgm:t>
    </dgm:pt>
    <dgm:pt modelId="{3F2B3A0C-7366-41C1-82FF-DA3ED85716B5}" type="sibTrans" cxnId="{16B1B6FE-2E4A-4AE2-9B7C-9F8DA05F85A8}">
      <dgm:prSet/>
      <dgm:spPr/>
      <dgm:t>
        <a:bodyPr/>
        <a:lstStyle/>
        <a:p>
          <a:endParaRPr lang="en-IN"/>
        </a:p>
      </dgm:t>
    </dgm:pt>
    <dgm:pt modelId="{6F50D268-5D57-477C-99F3-9B6EE00EFDED}">
      <dgm:prSet/>
      <dgm:spPr/>
      <dgm:t>
        <a:bodyPr/>
        <a:lstStyle/>
        <a:p>
          <a:r>
            <a:rPr lang="en-IN" b="0" i="0">
              <a:effectLst/>
              <a:latin typeface="charter"/>
            </a:rPr>
            <a:t>Independent variables</a:t>
          </a:r>
          <a:endParaRPr lang="en-US" dirty="0">
            <a:latin typeface="charter"/>
          </a:endParaRPr>
        </a:p>
      </dgm:t>
    </dgm:pt>
    <dgm:pt modelId="{3FADF0B7-89A2-438F-A36C-C6908BDBBD49}" type="parTrans" cxnId="{62688DB9-6037-4D5C-A67A-1B00B6291F06}">
      <dgm:prSet/>
      <dgm:spPr/>
      <dgm:t>
        <a:bodyPr/>
        <a:lstStyle/>
        <a:p>
          <a:endParaRPr lang="en-IN"/>
        </a:p>
      </dgm:t>
    </dgm:pt>
    <dgm:pt modelId="{1852092B-6266-4797-B437-0B846E6C1F7E}" type="sibTrans" cxnId="{62688DB9-6037-4D5C-A67A-1B00B6291F06}">
      <dgm:prSet/>
      <dgm:spPr/>
      <dgm:t>
        <a:bodyPr/>
        <a:lstStyle/>
        <a:p>
          <a:endParaRPr lang="en-IN"/>
        </a:p>
      </dgm:t>
    </dgm:pt>
    <dgm:pt modelId="{6D8975D1-F691-4040-B3AD-FCB6C8761667}">
      <dgm:prSet/>
      <dgm:spPr/>
      <dgm:t>
        <a:bodyPr/>
        <a:lstStyle/>
        <a:p>
          <a:r>
            <a:rPr lang="en-IN" b="0" i="0">
              <a:effectLst/>
              <a:latin typeface="charter"/>
            </a:rPr>
            <a:t>Dependent variables:</a:t>
          </a:r>
          <a:endParaRPr lang="en-IN" dirty="0"/>
        </a:p>
      </dgm:t>
    </dgm:pt>
    <dgm:pt modelId="{AAF261EF-F9F7-4745-BED0-ED198E105A4B}" type="parTrans" cxnId="{073D4E82-BC82-4FF6-AE3E-B48FF4EF0FF0}">
      <dgm:prSet/>
      <dgm:spPr/>
      <dgm:t>
        <a:bodyPr/>
        <a:lstStyle/>
        <a:p>
          <a:endParaRPr lang="en-IN"/>
        </a:p>
      </dgm:t>
    </dgm:pt>
    <dgm:pt modelId="{F8D100BB-2373-429B-8CB5-34448E9D826C}" type="sibTrans" cxnId="{073D4E82-BC82-4FF6-AE3E-B48FF4EF0FF0}">
      <dgm:prSet/>
      <dgm:spPr/>
      <dgm:t>
        <a:bodyPr/>
        <a:lstStyle/>
        <a:p>
          <a:endParaRPr lang="en-IN"/>
        </a:p>
      </dgm:t>
    </dgm:pt>
    <dgm:pt modelId="{EED3519C-4AFE-4B4E-82C6-C9F0C4ED0EC9}" type="pres">
      <dgm:prSet presAssocID="{27C48799-FF34-475B-AA26-401F3C2BFCB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A67DE4A-7B15-4553-B4C9-004C1A47C92A}" type="pres">
      <dgm:prSet presAssocID="{A51A46FF-C7D6-4C65-A926-35D33D46C3BF}" presName="root1" presStyleCnt="0"/>
      <dgm:spPr/>
    </dgm:pt>
    <dgm:pt modelId="{6E57E584-7C92-45B5-960B-5093375D29D8}" type="pres">
      <dgm:prSet presAssocID="{A51A46FF-C7D6-4C65-A926-35D33D46C3BF}" presName="LevelOneTextNode" presStyleLbl="node0" presStyleIdx="0" presStyleCnt="1">
        <dgm:presLayoutVars>
          <dgm:chPref val="3"/>
        </dgm:presLayoutVars>
      </dgm:prSet>
      <dgm:spPr/>
    </dgm:pt>
    <dgm:pt modelId="{3B362BA6-36F9-4BC1-8FD4-ACE3DB140B38}" type="pres">
      <dgm:prSet presAssocID="{A51A46FF-C7D6-4C65-A926-35D33D46C3BF}" presName="level2hierChild" presStyleCnt="0"/>
      <dgm:spPr/>
    </dgm:pt>
    <dgm:pt modelId="{BB535E63-C5AB-4653-842C-23DE9D2C5499}" type="pres">
      <dgm:prSet presAssocID="{3FADF0B7-89A2-438F-A36C-C6908BDBBD49}" presName="conn2-1" presStyleLbl="parChTrans1D2" presStyleIdx="0" presStyleCnt="2"/>
      <dgm:spPr/>
    </dgm:pt>
    <dgm:pt modelId="{19D8A034-CA77-4888-8E7A-DE8D93BFEF9E}" type="pres">
      <dgm:prSet presAssocID="{3FADF0B7-89A2-438F-A36C-C6908BDBBD49}" presName="connTx" presStyleLbl="parChTrans1D2" presStyleIdx="0" presStyleCnt="2"/>
      <dgm:spPr/>
    </dgm:pt>
    <dgm:pt modelId="{CA494D38-EDCD-497B-BAA8-F5A48AE8E65F}" type="pres">
      <dgm:prSet presAssocID="{6F50D268-5D57-477C-99F3-9B6EE00EFDED}" presName="root2" presStyleCnt="0"/>
      <dgm:spPr/>
    </dgm:pt>
    <dgm:pt modelId="{4FBC4133-47C1-4B96-8F8B-F64C1D58A1D8}" type="pres">
      <dgm:prSet presAssocID="{6F50D268-5D57-477C-99F3-9B6EE00EFDED}" presName="LevelTwoTextNode" presStyleLbl="node2" presStyleIdx="0" presStyleCnt="2">
        <dgm:presLayoutVars>
          <dgm:chPref val="3"/>
        </dgm:presLayoutVars>
      </dgm:prSet>
      <dgm:spPr/>
    </dgm:pt>
    <dgm:pt modelId="{DE2D81C4-42A1-4CAC-B3CB-F9A4E60929C2}" type="pres">
      <dgm:prSet presAssocID="{6F50D268-5D57-477C-99F3-9B6EE00EFDED}" presName="level3hierChild" presStyleCnt="0"/>
      <dgm:spPr/>
    </dgm:pt>
    <dgm:pt modelId="{1F169411-23A6-47DC-A04E-43910E2B9E03}" type="pres">
      <dgm:prSet presAssocID="{AAF261EF-F9F7-4745-BED0-ED198E105A4B}" presName="conn2-1" presStyleLbl="parChTrans1D2" presStyleIdx="1" presStyleCnt="2"/>
      <dgm:spPr/>
    </dgm:pt>
    <dgm:pt modelId="{D98B7B4F-3606-4192-9D12-36E957C6B8C3}" type="pres">
      <dgm:prSet presAssocID="{AAF261EF-F9F7-4745-BED0-ED198E105A4B}" presName="connTx" presStyleLbl="parChTrans1D2" presStyleIdx="1" presStyleCnt="2"/>
      <dgm:spPr/>
    </dgm:pt>
    <dgm:pt modelId="{8578C66F-3337-479F-9B8C-356F4A23CC11}" type="pres">
      <dgm:prSet presAssocID="{6D8975D1-F691-4040-B3AD-FCB6C8761667}" presName="root2" presStyleCnt="0"/>
      <dgm:spPr/>
    </dgm:pt>
    <dgm:pt modelId="{8B051C9F-C5FB-4F99-8C63-2EF5D5B87FA0}" type="pres">
      <dgm:prSet presAssocID="{6D8975D1-F691-4040-B3AD-FCB6C8761667}" presName="LevelTwoTextNode" presStyleLbl="node2" presStyleIdx="1" presStyleCnt="2">
        <dgm:presLayoutVars>
          <dgm:chPref val="3"/>
        </dgm:presLayoutVars>
      </dgm:prSet>
      <dgm:spPr/>
    </dgm:pt>
    <dgm:pt modelId="{F8F67C5D-D9F1-4CE0-B964-3BD9BB4D25BE}" type="pres">
      <dgm:prSet presAssocID="{6D8975D1-F691-4040-B3AD-FCB6C8761667}" presName="level3hierChild" presStyleCnt="0"/>
      <dgm:spPr/>
    </dgm:pt>
  </dgm:ptLst>
  <dgm:cxnLst>
    <dgm:cxn modelId="{661AA305-604C-45CD-A9C6-1398F5B55868}" type="presOf" srcId="{27C48799-FF34-475B-AA26-401F3C2BFCBF}" destId="{EED3519C-4AFE-4B4E-82C6-C9F0C4ED0EC9}" srcOrd="0" destOrd="0" presId="urn:microsoft.com/office/officeart/2005/8/layout/hierarchy2"/>
    <dgm:cxn modelId="{ACC2EC0C-AC8A-44F2-A729-66FC58C7EDD7}" type="presOf" srcId="{3FADF0B7-89A2-438F-A36C-C6908BDBBD49}" destId="{BB535E63-C5AB-4653-842C-23DE9D2C5499}" srcOrd="0" destOrd="0" presId="urn:microsoft.com/office/officeart/2005/8/layout/hierarchy2"/>
    <dgm:cxn modelId="{B95F7016-BD1D-44E5-8FE0-301268ADC6DC}" type="presOf" srcId="{6D8975D1-F691-4040-B3AD-FCB6C8761667}" destId="{8B051C9F-C5FB-4F99-8C63-2EF5D5B87FA0}" srcOrd="0" destOrd="0" presId="urn:microsoft.com/office/officeart/2005/8/layout/hierarchy2"/>
    <dgm:cxn modelId="{AF416043-6ACC-489A-9E12-56484A895D93}" type="presOf" srcId="{AAF261EF-F9F7-4745-BED0-ED198E105A4B}" destId="{D98B7B4F-3606-4192-9D12-36E957C6B8C3}" srcOrd="1" destOrd="0" presId="urn:microsoft.com/office/officeart/2005/8/layout/hierarchy2"/>
    <dgm:cxn modelId="{5CC7964E-09F9-4A15-8E77-53CC00B940FB}" type="presOf" srcId="{AAF261EF-F9F7-4745-BED0-ED198E105A4B}" destId="{1F169411-23A6-47DC-A04E-43910E2B9E03}" srcOrd="0" destOrd="0" presId="urn:microsoft.com/office/officeart/2005/8/layout/hierarchy2"/>
    <dgm:cxn modelId="{073D4E82-BC82-4FF6-AE3E-B48FF4EF0FF0}" srcId="{A51A46FF-C7D6-4C65-A926-35D33D46C3BF}" destId="{6D8975D1-F691-4040-B3AD-FCB6C8761667}" srcOrd="1" destOrd="0" parTransId="{AAF261EF-F9F7-4745-BED0-ED198E105A4B}" sibTransId="{F8D100BB-2373-429B-8CB5-34448E9D826C}"/>
    <dgm:cxn modelId="{2023FE83-CD57-48FA-BE53-311D77C68D81}" type="presOf" srcId="{6F50D268-5D57-477C-99F3-9B6EE00EFDED}" destId="{4FBC4133-47C1-4B96-8F8B-F64C1D58A1D8}" srcOrd="0" destOrd="0" presId="urn:microsoft.com/office/officeart/2005/8/layout/hierarchy2"/>
    <dgm:cxn modelId="{2F2E2E98-4E2B-42FF-975E-E3D5AD28C069}" type="presOf" srcId="{3FADF0B7-89A2-438F-A36C-C6908BDBBD49}" destId="{19D8A034-CA77-4888-8E7A-DE8D93BFEF9E}" srcOrd="1" destOrd="0" presId="urn:microsoft.com/office/officeart/2005/8/layout/hierarchy2"/>
    <dgm:cxn modelId="{62688DB9-6037-4D5C-A67A-1B00B6291F06}" srcId="{A51A46FF-C7D6-4C65-A926-35D33D46C3BF}" destId="{6F50D268-5D57-477C-99F3-9B6EE00EFDED}" srcOrd="0" destOrd="0" parTransId="{3FADF0B7-89A2-438F-A36C-C6908BDBBD49}" sibTransId="{1852092B-6266-4797-B437-0B846E6C1F7E}"/>
    <dgm:cxn modelId="{56CF4BE5-FF6A-4699-BA9D-6E9A26509FC6}" type="presOf" srcId="{A51A46FF-C7D6-4C65-A926-35D33D46C3BF}" destId="{6E57E584-7C92-45B5-960B-5093375D29D8}" srcOrd="0" destOrd="0" presId="urn:microsoft.com/office/officeart/2005/8/layout/hierarchy2"/>
    <dgm:cxn modelId="{16B1B6FE-2E4A-4AE2-9B7C-9F8DA05F85A8}" srcId="{27C48799-FF34-475B-AA26-401F3C2BFCBF}" destId="{A51A46FF-C7D6-4C65-A926-35D33D46C3BF}" srcOrd="0" destOrd="0" parTransId="{BA1F414B-0070-45C6-B5F1-06DCB6FCD364}" sibTransId="{3F2B3A0C-7366-41C1-82FF-DA3ED85716B5}"/>
    <dgm:cxn modelId="{492F31FA-C326-48EF-9ADD-479F512C46D3}" type="presParOf" srcId="{EED3519C-4AFE-4B4E-82C6-C9F0C4ED0EC9}" destId="{DA67DE4A-7B15-4553-B4C9-004C1A47C92A}" srcOrd="0" destOrd="0" presId="urn:microsoft.com/office/officeart/2005/8/layout/hierarchy2"/>
    <dgm:cxn modelId="{FBCB8F05-4D5A-4FD1-B2F0-434C6E8D1EEE}" type="presParOf" srcId="{DA67DE4A-7B15-4553-B4C9-004C1A47C92A}" destId="{6E57E584-7C92-45B5-960B-5093375D29D8}" srcOrd="0" destOrd="0" presId="urn:microsoft.com/office/officeart/2005/8/layout/hierarchy2"/>
    <dgm:cxn modelId="{4509EAA3-5BBE-4E35-8A55-27FFDE518F2E}" type="presParOf" srcId="{DA67DE4A-7B15-4553-B4C9-004C1A47C92A}" destId="{3B362BA6-36F9-4BC1-8FD4-ACE3DB140B38}" srcOrd="1" destOrd="0" presId="urn:microsoft.com/office/officeart/2005/8/layout/hierarchy2"/>
    <dgm:cxn modelId="{B2D4AB03-0FC0-4109-AFDF-DB895B3490C9}" type="presParOf" srcId="{3B362BA6-36F9-4BC1-8FD4-ACE3DB140B38}" destId="{BB535E63-C5AB-4653-842C-23DE9D2C5499}" srcOrd="0" destOrd="0" presId="urn:microsoft.com/office/officeart/2005/8/layout/hierarchy2"/>
    <dgm:cxn modelId="{72348425-4196-4BFF-AEA9-E0CCA9AC04FF}" type="presParOf" srcId="{BB535E63-C5AB-4653-842C-23DE9D2C5499}" destId="{19D8A034-CA77-4888-8E7A-DE8D93BFEF9E}" srcOrd="0" destOrd="0" presId="urn:microsoft.com/office/officeart/2005/8/layout/hierarchy2"/>
    <dgm:cxn modelId="{E1412532-9F25-49DB-A551-310692C0C60D}" type="presParOf" srcId="{3B362BA6-36F9-4BC1-8FD4-ACE3DB140B38}" destId="{CA494D38-EDCD-497B-BAA8-F5A48AE8E65F}" srcOrd="1" destOrd="0" presId="urn:microsoft.com/office/officeart/2005/8/layout/hierarchy2"/>
    <dgm:cxn modelId="{05D1638C-17CA-4FD0-BA0D-E0220DED0298}" type="presParOf" srcId="{CA494D38-EDCD-497B-BAA8-F5A48AE8E65F}" destId="{4FBC4133-47C1-4B96-8F8B-F64C1D58A1D8}" srcOrd="0" destOrd="0" presId="urn:microsoft.com/office/officeart/2005/8/layout/hierarchy2"/>
    <dgm:cxn modelId="{8A0AF303-0225-40F0-B504-B3B31AC1E892}" type="presParOf" srcId="{CA494D38-EDCD-497B-BAA8-F5A48AE8E65F}" destId="{DE2D81C4-42A1-4CAC-B3CB-F9A4E60929C2}" srcOrd="1" destOrd="0" presId="urn:microsoft.com/office/officeart/2005/8/layout/hierarchy2"/>
    <dgm:cxn modelId="{7D931E76-3739-4BDE-B5CB-EB2FCB8CD995}" type="presParOf" srcId="{3B362BA6-36F9-4BC1-8FD4-ACE3DB140B38}" destId="{1F169411-23A6-47DC-A04E-43910E2B9E03}" srcOrd="2" destOrd="0" presId="urn:microsoft.com/office/officeart/2005/8/layout/hierarchy2"/>
    <dgm:cxn modelId="{E8A283B8-EF37-4CF7-8FE1-BE802B138281}" type="presParOf" srcId="{1F169411-23A6-47DC-A04E-43910E2B9E03}" destId="{D98B7B4F-3606-4192-9D12-36E957C6B8C3}" srcOrd="0" destOrd="0" presId="urn:microsoft.com/office/officeart/2005/8/layout/hierarchy2"/>
    <dgm:cxn modelId="{AD028766-86C3-4F5F-8422-CB6D50A34681}" type="presParOf" srcId="{3B362BA6-36F9-4BC1-8FD4-ACE3DB140B38}" destId="{8578C66F-3337-479F-9B8C-356F4A23CC11}" srcOrd="3" destOrd="0" presId="urn:microsoft.com/office/officeart/2005/8/layout/hierarchy2"/>
    <dgm:cxn modelId="{EC85B35E-646D-4DC3-8095-ABD35AAD8F7C}" type="presParOf" srcId="{8578C66F-3337-479F-9B8C-356F4A23CC11}" destId="{8B051C9F-C5FB-4F99-8C63-2EF5D5B87FA0}" srcOrd="0" destOrd="0" presId="urn:microsoft.com/office/officeart/2005/8/layout/hierarchy2"/>
    <dgm:cxn modelId="{ABCCDF43-60BA-41F7-B42B-93CB1DD18CB6}" type="presParOf" srcId="{8578C66F-3337-479F-9B8C-356F4A23CC11}" destId="{F8F67C5D-D9F1-4CE0-B964-3BD9BB4D25B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7E584-7C92-45B5-960B-5093375D29D8}">
      <dsp:nvSpPr>
        <dsp:cNvPr id="0" name=""/>
        <dsp:cNvSpPr/>
      </dsp:nvSpPr>
      <dsp:spPr>
        <a:xfrm>
          <a:off x="743" y="1628433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effectLst/>
              <a:latin typeface="charter"/>
            </a:rPr>
            <a:t>In the context of Statistical learning, there are two types of data</a:t>
          </a:r>
          <a:endParaRPr lang="en-US" sz="2800" b="0" i="0" kern="1200" dirty="0">
            <a:effectLst/>
            <a:latin typeface="charter"/>
          </a:endParaRPr>
        </a:p>
      </dsp:txBody>
      <dsp:txXfrm>
        <a:off x="51909" y="1679599"/>
        <a:ext cx="3391532" cy="1644600"/>
      </dsp:txXfrm>
    </dsp:sp>
    <dsp:sp modelId="{BB535E63-C5AB-4653-842C-23DE9D2C5499}">
      <dsp:nvSpPr>
        <dsp:cNvPr id="0" name=""/>
        <dsp:cNvSpPr/>
      </dsp:nvSpPr>
      <dsp:spPr>
        <a:xfrm rot="19457599">
          <a:off x="3332839" y="1968236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4150353" y="1956629"/>
        <a:ext cx="86054" cy="86054"/>
      </dsp:txXfrm>
    </dsp:sp>
    <dsp:sp modelId="{4FBC4133-47C1-4B96-8F8B-F64C1D58A1D8}">
      <dsp:nvSpPr>
        <dsp:cNvPr id="0" name=""/>
        <dsp:cNvSpPr/>
      </dsp:nvSpPr>
      <dsp:spPr>
        <a:xfrm>
          <a:off x="4892153" y="623947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i="0" kern="1200">
              <a:effectLst/>
              <a:latin typeface="charter"/>
            </a:rPr>
            <a:t>Independent variables</a:t>
          </a:r>
          <a:endParaRPr lang="en-US" sz="2800" kern="1200" dirty="0">
            <a:latin typeface="charter"/>
          </a:endParaRPr>
        </a:p>
      </dsp:txBody>
      <dsp:txXfrm>
        <a:off x="4943319" y="675113"/>
        <a:ext cx="3391532" cy="1644600"/>
      </dsp:txXfrm>
    </dsp:sp>
    <dsp:sp modelId="{1F169411-23A6-47DC-A04E-43910E2B9E03}">
      <dsp:nvSpPr>
        <dsp:cNvPr id="0" name=""/>
        <dsp:cNvSpPr/>
      </dsp:nvSpPr>
      <dsp:spPr>
        <a:xfrm rot="2142401">
          <a:off x="3332839" y="2972722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>
        <a:off x="4150353" y="2961115"/>
        <a:ext cx="86054" cy="86054"/>
      </dsp:txXfrm>
    </dsp:sp>
    <dsp:sp modelId="{8B051C9F-C5FB-4F99-8C63-2EF5D5B87FA0}">
      <dsp:nvSpPr>
        <dsp:cNvPr id="0" name=""/>
        <dsp:cNvSpPr/>
      </dsp:nvSpPr>
      <dsp:spPr>
        <a:xfrm>
          <a:off x="4892153" y="2632919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0" i="0" kern="1200">
              <a:effectLst/>
              <a:latin typeface="charter"/>
            </a:rPr>
            <a:t>Dependent variables:</a:t>
          </a:r>
          <a:endParaRPr lang="en-IN" sz="2800" kern="1200" dirty="0"/>
        </a:p>
      </dsp:txBody>
      <dsp:txXfrm>
        <a:off x="4943319" y="2684085"/>
        <a:ext cx="3391532" cy="164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3.xml.rels><?xml version="1.0" encoding="UTF-8" standalone="yes" ?><Relationships xmlns="http://schemas.openxmlformats.org/package/2006/relationships"><Relationship Id="rId2" Target="../media/image1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 ?><Relationships xmlns="http://schemas.openxmlformats.org/package/2006/relationships"><Relationship Id="rId2" Target="../media/image1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830800" cy="3773150"/>
          </a:xfrm>
        </p:spPr>
        <p:txBody>
          <a:bodyPr/>
          <a:lstStyle/>
          <a:p>
            <a:pPr algn="just"/>
            <a:r>
              <a:rPr lang="en-US" dirty="0"/>
              <a:t>Learn simple linear regression and multiple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50775C-ED9F-4EFA-B738-64444655B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0C9FB5-4C1D-4B43-86EA-9B7ED7D7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70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0C9FB5-4C1D-4B43-86EA-9B7ED7D7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3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0C9FB5-4C1D-4B43-86EA-9B7ED7D7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Simple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227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5DC467-151F-451C-94D2-EF941D1965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7040" y="1628775"/>
            <a:ext cx="7981369" cy="50038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95C8FF-542F-4A8C-B92B-949EDEBA2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662" y="1726333"/>
            <a:ext cx="7686675" cy="4629150"/>
          </a:xfrm>
        </p:spPr>
      </p:pic>
    </p:spTree>
    <p:extLst>
      <p:ext uri="{BB962C8B-B14F-4D97-AF65-F5344CB8AC3E}">
        <p14:creationId xmlns:p14="http://schemas.microsoft.com/office/powerpoint/2010/main" val="339771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95C8FF-542F-4A8C-B92B-949EDEBA2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662" y="1741322"/>
            <a:ext cx="7686675" cy="46291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41C37E-5223-464A-8C07-B546BBB593CD}"/>
              </a:ext>
            </a:extLst>
          </p:cNvPr>
          <p:cNvSpPr txBox="1"/>
          <p:nvPr/>
        </p:nvSpPr>
        <p:spPr>
          <a:xfrm>
            <a:off x="5686369" y="5934280"/>
            <a:ext cx="26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predictor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explanatory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or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independent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variable.</a:t>
            </a:r>
          </a:p>
        </p:txBody>
      </p:sp>
    </p:spTree>
    <p:extLst>
      <p:ext uri="{BB962C8B-B14F-4D97-AF65-F5344CB8AC3E}">
        <p14:creationId xmlns:p14="http://schemas.microsoft.com/office/powerpoint/2010/main" val="1901947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95C8FF-542F-4A8C-B92B-949EDEBA2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662" y="1726333"/>
            <a:ext cx="7686675" cy="462915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41C37E-5223-464A-8C07-B546BBB593CD}"/>
              </a:ext>
            </a:extLst>
          </p:cNvPr>
          <p:cNvSpPr txBox="1"/>
          <p:nvPr/>
        </p:nvSpPr>
        <p:spPr>
          <a:xfrm>
            <a:off x="5686369" y="5919291"/>
            <a:ext cx="2604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predictor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explanatory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or 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independent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variable.</a:t>
            </a:r>
          </a:p>
        </p:txBody>
      </p:sp>
    </p:spTree>
    <p:extLst>
      <p:ext uri="{BB962C8B-B14F-4D97-AF65-F5344CB8AC3E}">
        <p14:creationId xmlns:p14="http://schemas.microsoft.com/office/powerpoint/2010/main" val="70577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063C6D-78E7-4C0E-8695-DD8D2775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41BE8-4571-4596-9F64-EF90220DB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86" y="1762678"/>
            <a:ext cx="7620000" cy="4714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08C805-AEB7-4C9F-811E-CD82EF12B856}"/>
              </a:ext>
            </a:extLst>
          </p:cNvPr>
          <p:cNvSpPr txBox="1"/>
          <p:nvPr/>
        </p:nvSpPr>
        <p:spPr>
          <a:xfrm>
            <a:off x="496186" y="5934094"/>
            <a:ext cx="35760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regarded as the 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response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, 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outcome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, or 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dependent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 variable.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33210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3FD6BC-6863-4D13-970C-78665F2CFAB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05671" y="1534886"/>
            <a:ext cx="6319293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Bahnschrift" panose="020B0502040204020203" pitchFamily="34" charset="0"/>
              </a:rPr>
              <a:t>What is the objective of Linear regression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Graphic 5" descr="Statistics">
            <a:extLst>
              <a:ext uri="{FF2B5EF4-FFF2-40B4-BE49-F238E27FC236}">
                <a16:creationId xmlns:a16="http://schemas.microsoft.com/office/drawing/2014/main" id="{561055A0-A8B0-4978-9FC8-14FBFCB4B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64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8D215B-2733-4B80-BB88-8FB600626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542" y="2039645"/>
            <a:ext cx="4143953" cy="418205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B43CFBE-37EF-484D-A503-999068AC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When to use regression ?</a:t>
            </a:r>
          </a:p>
        </p:txBody>
      </p:sp>
    </p:spTree>
    <p:extLst>
      <p:ext uri="{BB962C8B-B14F-4D97-AF65-F5344CB8AC3E}">
        <p14:creationId xmlns:p14="http://schemas.microsoft.com/office/powerpoint/2010/main" val="3067807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3CFBE-37EF-484D-A503-999068AC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IN" dirty="0"/>
            </a:br>
            <a:r>
              <a:rPr lang="en-IN" dirty="0"/>
              <a:t>When to use regression ?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09ABCB1-3A72-4481-93B3-7E1EDEAD8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2858" y="2039645"/>
            <a:ext cx="4277322" cy="4182059"/>
          </a:xfrm>
        </p:spPr>
      </p:pic>
    </p:spTree>
    <p:extLst>
      <p:ext uri="{BB962C8B-B14F-4D97-AF65-F5344CB8AC3E}">
        <p14:creationId xmlns:p14="http://schemas.microsoft.com/office/powerpoint/2010/main" val="380795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3CFBE-37EF-484D-A503-999068AC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When to use regression 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46E264-95EA-4228-9E99-72B30B77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641" y="2020505"/>
            <a:ext cx="4163006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38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C3AB5-99FE-4CFD-9B08-0D4546F03C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7507" y="2018180"/>
            <a:ext cx="3438978" cy="423376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7E142E-7442-4EF7-B441-94AA4F5E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regression ?</a:t>
            </a:r>
          </a:p>
        </p:txBody>
      </p:sp>
    </p:spTree>
    <p:extLst>
      <p:ext uri="{BB962C8B-B14F-4D97-AF65-F5344CB8AC3E}">
        <p14:creationId xmlns:p14="http://schemas.microsoft.com/office/powerpoint/2010/main" val="3192130259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3CFBE-37EF-484D-A503-999068AC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lang="en-IN"/>
              <a:t>When to use regression ?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A2CFA-F98B-497C-B5F1-42C1B46191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2"/>
          <a:stretch/>
        </p:blipFill>
        <p:spPr>
          <a:xfrm>
            <a:off x="2475348" y="2015742"/>
            <a:ext cx="3659638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0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E7B999-A331-4DF9-B199-72533E2DD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4813636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CE1108E-8DC2-4031-935A-44A2A44F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556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617E38-BC5B-4FDC-845D-99138816E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B618AE60-A0CC-4465-9E36-54EA29540593}"/>
              </a:ext>
            </a:extLst>
          </p:cNvPr>
          <p:cNvSpPr/>
          <p:nvPr/>
        </p:nvSpPr>
        <p:spPr>
          <a:xfrm>
            <a:off x="2869533" y="1325563"/>
            <a:ext cx="5936105" cy="3324069"/>
          </a:xfrm>
          <a:prstGeom prst="cloudCallout">
            <a:avLst>
              <a:gd name="adj1" fmla="val -73863"/>
              <a:gd name="adj2" fmla="val 237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49A36A-02EC-4FBF-832F-A29862ABF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452" y="1629648"/>
            <a:ext cx="4389725" cy="231341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400" b="0" i="0" dirty="0">
                <a:solidFill>
                  <a:schemeClr val="bg1"/>
                </a:solidFill>
                <a:effectLst/>
              </a:rPr>
              <a:t>What do we mean by linear?</a:t>
            </a:r>
            <a:endParaRPr lang="en-IN" sz="4400" dirty="0">
              <a:solidFill>
                <a:schemeClr val="bg1"/>
              </a:solidFill>
            </a:endParaRPr>
          </a:p>
        </p:txBody>
      </p:sp>
      <p:pic>
        <p:nvPicPr>
          <p:cNvPr id="8" name="Picture 7" descr="Young businessman thinking">
            <a:extLst>
              <a:ext uri="{FF2B5EF4-FFF2-40B4-BE49-F238E27FC236}">
                <a16:creationId xmlns:a16="http://schemas.microsoft.com/office/drawing/2014/main" id="{729DF1E3-DF76-412C-B9CE-7BF46AF58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9154" y="3312826"/>
            <a:ext cx="1565338" cy="354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21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0E2B6-9FA6-48EE-AB5E-482BAEF4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8244"/>
            <a:ext cx="8386537" cy="5004884"/>
          </a:xfrm>
        </p:spPr>
        <p:txBody>
          <a:bodyPr>
            <a:normAutofit/>
          </a:bodyPr>
          <a:lstStyle/>
          <a:p>
            <a:r>
              <a:rPr lang="en-US" dirty="0"/>
              <a:t>Linear Equation</a:t>
            </a:r>
          </a:p>
          <a:p>
            <a:pPr marL="0" indent="0" algn="ctr">
              <a:buNone/>
            </a:pPr>
            <a:r>
              <a:rPr lang="en-US" dirty="0"/>
              <a:t>y = </a:t>
            </a:r>
            <a:r>
              <a:rPr lang="en-US" dirty="0" err="1"/>
              <a:t>mx+c</a:t>
            </a:r>
            <a:endParaRPr lang="en-US" dirty="0"/>
          </a:p>
          <a:p>
            <a:pPr marL="0" indent="0" algn="ctr">
              <a:buNone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is the dependent variable.</a:t>
            </a:r>
          </a:p>
          <a:p>
            <a:pPr marL="0" indent="0" algn="ctr">
              <a:buNone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x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is the independent variable</a:t>
            </a:r>
          </a:p>
          <a:p>
            <a:pPr marL="0" indent="0" algn="ctr">
              <a:buNone/>
            </a:pPr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m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is the slope</a:t>
            </a:r>
          </a:p>
          <a:p>
            <a:pPr marL="0" indent="0" algn="ctr">
              <a:buNone/>
            </a:pPr>
            <a:r>
              <a:rPr lang="en-IN" b="1" i="0" dirty="0">
                <a:solidFill>
                  <a:srgbClr val="292929"/>
                </a:solidFill>
                <a:effectLst/>
                <a:latin typeface="charter"/>
              </a:rPr>
              <a:t>c</a:t>
            </a:r>
            <a:r>
              <a:rPr lang="en-IN" b="0" i="0" dirty="0">
                <a:solidFill>
                  <a:srgbClr val="292929"/>
                </a:solidFill>
                <a:effectLst/>
                <a:latin typeface="charter"/>
              </a:rPr>
              <a:t> is the intercept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98030A-2F02-4C08-996E-EE6C1EDA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690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0E2B6-9FA6-48EE-AB5E-482BAEF4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53194"/>
            <a:ext cx="8386537" cy="5004884"/>
          </a:xfrm>
        </p:spPr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models are not perfect.</a:t>
            </a:r>
          </a:p>
          <a:p>
            <a:r>
              <a:rPr lang="en-US" b="0" i="0" dirty="0">
                <a:effectLst/>
              </a:rPr>
              <a:t>approximate the relationship between dependent and independent variables </a:t>
            </a:r>
            <a:endParaRPr lang="en-IN" dirty="0"/>
          </a:p>
          <a:p>
            <a:r>
              <a:rPr lang="en-IN" b="0" i="0" dirty="0">
                <a:effectLst/>
              </a:rPr>
              <a:t>Approximation leads to errors. </a:t>
            </a:r>
          </a:p>
          <a:p>
            <a:r>
              <a:rPr lang="en-IN" b="0" i="0" dirty="0">
                <a:effectLst/>
              </a:rPr>
              <a:t> </a:t>
            </a:r>
            <a:r>
              <a:rPr lang="en-IN" b="1" i="0" dirty="0">
                <a:effectLst/>
              </a:rPr>
              <a:t>irreducible error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98030A-2F02-4C08-996E-EE6C1EDA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946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0E2B6-9FA6-48EE-AB5E-482BAEF4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98121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b="0" i="0" dirty="0">
                <a:effectLst/>
              </a:rPr>
              <a:t>The same equation of a line can be re-written as:	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98030A-2F02-4C08-996E-EE6C1EDA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2FA616-07D3-4DF9-93F1-C4ED98137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733" y="3425252"/>
            <a:ext cx="4534533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08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0E2B6-9FA6-48EE-AB5E-482BAEF40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20457"/>
            <a:ext cx="8750597" cy="8779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i="0" dirty="0">
                <a:solidFill>
                  <a:srgbClr val="292929"/>
                </a:solidFill>
                <a:effectLst/>
              </a:rPr>
              <a:t>Example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98030A-2F02-4C08-996E-EE6C1EDA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27997-0B21-4395-AECE-D3CDB7A6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57" y="2271557"/>
            <a:ext cx="6022886" cy="415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841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AB6B8-92B1-4EF5-8DCA-119BF84BA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8243"/>
            <a:ext cx="8386537" cy="5004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252525"/>
                </a:solidFill>
                <a:effectLst/>
              </a:rPr>
              <a:t>The following questions </a:t>
            </a:r>
            <a:r>
              <a:rPr lang="en-US" b="0" i="0" dirty="0">
                <a:solidFill>
                  <a:srgbClr val="E36B00"/>
                </a:solidFill>
                <a:effectLst/>
              </a:rPr>
              <a:t>are addressed </a:t>
            </a:r>
            <a:r>
              <a:rPr lang="en-US" b="0" i="0" dirty="0">
                <a:solidFill>
                  <a:srgbClr val="252525"/>
                </a:solidFill>
                <a:effectLst/>
              </a:rPr>
              <a:t>in the first </a:t>
            </a:r>
            <a:br>
              <a:rPr lang="en-US" b="0" i="0" dirty="0">
                <a:solidFill>
                  <a:srgbClr val="252525"/>
                </a:solidFill>
                <a:effectLst/>
              </a:rPr>
            </a:br>
            <a:r>
              <a:rPr lang="en-US" b="0" i="0" dirty="0">
                <a:solidFill>
                  <a:srgbClr val="252525"/>
                </a:solidFill>
                <a:effectLst/>
              </a:rPr>
              <a:t>set of </a:t>
            </a:r>
            <a:r>
              <a:rPr lang="en-US" b="0" i="0" dirty="0">
                <a:solidFill>
                  <a:srgbClr val="E36B00"/>
                </a:solidFill>
                <a:effectLst/>
              </a:rPr>
              <a:t>analyses: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</a:rPr>
              <a:t>Is price of car price related with engine size?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</a:rPr>
              <a:t>How strong is the relationship?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</a:rPr>
              <a:t>Is the relationship linear?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</a:rPr>
              <a:t>Can we predict/estimate car price based on engine size?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E41766-2B15-4726-BCBA-7692650B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AB6B8-92B1-4EF5-8DCA-119BF84BA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75011"/>
            <a:ext cx="8554778" cy="49530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/>
              <a:t>Fernando does a correlation study.</a:t>
            </a:r>
          </a:p>
          <a:p>
            <a:pPr algn="just"/>
            <a:r>
              <a:rPr lang="en-IN" dirty="0"/>
              <a:t>D</a:t>
            </a:r>
            <a:r>
              <a:rPr lang="en-US" dirty="0" err="1"/>
              <a:t>etermining</a:t>
            </a:r>
            <a:r>
              <a:rPr lang="en-US" dirty="0"/>
              <a:t> how closely two variables are linked. </a:t>
            </a:r>
          </a:p>
          <a:p>
            <a:pPr algn="just"/>
            <a:r>
              <a:rPr lang="en-US" dirty="0"/>
              <a:t>Its value ranges from 0 to 1.</a:t>
            </a:r>
          </a:p>
          <a:p>
            <a:pPr algn="just"/>
            <a:r>
              <a:rPr lang="en-US" dirty="0"/>
              <a:t>When the correlation coefficient is large (&gt; 0.7),__________</a:t>
            </a:r>
          </a:p>
          <a:p>
            <a:pPr algn="just"/>
            <a:r>
              <a:rPr lang="en-US" dirty="0"/>
              <a:t>The presence of a big -</a:t>
            </a:r>
            <a:r>
              <a:rPr lang="en-US" dirty="0" err="1"/>
              <a:t>ve</a:t>
            </a:r>
            <a:r>
              <a:rPr lang="en-US" dirty="0"/>
              <a:t> number ______________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E41766-2B15-4726-BCBA-7692650B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954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AB6B8-92B1-4EF5-8DCA-119BF84BA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15051"/>
            <a:ext cx="8554778" cy="4953085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He plots the relationship between price and engine size.</a:t>
            </a:r>
          </a:p>
          <a:p>
            <a:pPr algn="just"/>
            <a:r>
              <a:rPr lang="en-US" b="0" i="0" dirty="0">
                <a:effectLst/>
              </a:rPr>
              <a:t>He splits the data into training and test set.</a:t>
            </a:r>
          </a:p>
          <a:p>
            <a:pPr algn="just"/>
            <a:r>
              <a:rPr lang="en-US" b="0" i="0" dirty="0">
                <a:effectLst/>
              </a:rPr>
              <a:t> 75% of data is used for training. Remaining is used for the test.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E41766-2B15-4726-BCBA-7692650B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806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AAC4066-85BD-4489-9469-379C79E6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642" y="1526315"/>
            <a:ext cx="6709143" cy="51085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224C3CE-FC4F-4004-BEAC-900558210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832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7CE5F3-1FF5-4218-B69E-ECD9A9970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553194"/>
            <a:ext cx="8386537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dirty="0">
                <a:effectLst/>
              </a:rPr>
              <a:t>Following are the answers to the questions:</a:t>
            </a:r>
          </a:p>
          <a:p>
            <a:pPr algn="just"/>
            <a:r>
              <a:rPr lang="en-US" b="0" dirty="0">
                <a:effectLst/>
              </a:rPr>
              <a:t>Is price of car price related with engine size?</a:t>
            </a:r>
          </a:p>
          <a:p>
            <a:pPr algn="just"/>
            <a:r>
              <a:rPr lang="en-US" b="0" dirty="0">
                <a:effectLst/>
              </a:rPr>
              <a:t>Yes, there is a relationship.</a:t>
            </a:r>
          </a:p>
          <a:p>
            <a:pPr marL="0" indent="0" algn="just">
              <a:buNone/>
            </a:pPr>
            <a:endParaRPr lang="en-US" b="0" dirty="0">
              <a:effectLst/>
            </a:endParaRP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884D8A-DC6B-4993-AA9C-4BD66767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8418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7CE5F3-1FF5-4218-B69E-ECD9A9970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38204"/>
            <a:ext cx="8386537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dirty="0">
                <a:effectLst/>
              </a:rPr>
              <a:t>Following are the answers to the questions: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Is the relationship linear?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A straight line can fit =&gt; A decent prediction of price can be made using engine size.</a:t>
            </a:r>
          </a:p>
          <a:p>
            <a:pPr marL="0" indent="0" algn="just">
              <a:buNone/>
            </a:pPr>
            <a:endParaRPr lang="en-US" b="0" dirty="0">
              <a:effectLst/>
            </a:endParaRPr>
          </a:p>
          <a:p>
            <a:pPr marL="0" indent="0" algn="just">
              <a:buNone/>
            </a:pPr>
            <a:endParaRPr lang="en-US" b="0" dirty="0">
              <a:effectLst/>
            </a:endParaRP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884D8A-DC6B-4993-AA9C-4BD66767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135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7CE5F3-1FF5-4218-B69E-ECD9A9970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48263"/>
            <a:ext cx="8386537" cy="5004884"/>
          </a:xfrm>
        </p:spPr>
        <p:txBody>
          <a:bodyPr/>
          <a:lstStyle/>
          <a:p>
            <a:pPr marL="0" indent="0" algn="just">
              <a:buNone/>
            </a:pPr>
            <a:r>
              <a:rPr lang="en-US" b="0" dirty="0">
                <a:effectLst/>
              </a:rPr>
              <a:t>Following are the answers to the questions: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Can we predict/estimate the car price based on engine size?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dirty="0">
                <a:effectLst/>
              </a:rPr>
              <a:t>Yes, car price can be estimated based on engine size.</a:t>
            </a:r>
          </a:p>
          <a:p>
            <a:pPr marL="0" indent="0" algn="just">
              <a:buNone/>
            </a:pPr>
            <a:endParaRPr lang="en-US" b="0" dirty="0">
              <a:effectLst/>
            </a:endParaRPr>
          </a:p>
          <a:p>
            <a:pPr algn="just"/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884D8A-DC6B-4993-AA9C-4BD667675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267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794DA2-7953-4471-85FC-5BDC6E73F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93233"/>
            <a:ext cx="8386537" cy="5004884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effectLst/>
              </a:rPr>
              <a:t>Multiple linear regression</a:t>
            </a:r>
            <a:r>
              <a:rPr lang="en-US" sz="2400" b="0" i="0" dirty="0">
                <a:effectLst/>
              </a:rPr>
              <a:t> is used to estimate the relationship between </a:t>
            </a:r>
            <a:r>
              <a:rPr lang="en-US" sz="2400" b="1" i="0" dirty="0">
                <a:effectLst/>
              </a:rPr>
              <a:t>two or more independent variables </a:t>
            </a:r>
            <a:r>
              <a:rPr lang="en-US" sz="2400" b="0" i="0" dirty="0">
                <a:effectLst/>
              </a:rPr>
              <a:t>and</a:t>
            </a:r>
            <a:r>
              <a:rPr lang="en-US" sz="2400" b="1" i="0" dirty="0">
                <a:effectLst/>
              </a:rPr>
              <a:t> one dependent variable</a:t>
            </a:r>
            <a:r>
              <a:rPr lang="en-US" sz="2400" b="0" i="0" dirty="0">
                <a:effectLst/>
              </a:rPr>
              <a:t>. You can use multiple linear regression when you want to know:</a:t>
            </a:r>
          </a:p>
          <a:p>
            <a:pPr lvl="1" algn="just"/>
            <a:r>
              <a:rPr lang="en-US" b="0" i="0" dirty="0">
                <a:effectLst/>
              </a:rPr>
              <a:t>How strong the relationship is between two or more independent variables and one dependent variable</a:t>
            </a:r>
            <a:endParaRPr lang="en-US" dirty="0"/>
          </a:p>
          <a:p>
            <a:pPr lvl="1" algn="just"/>
            <a:r>
              <a:rPr lang="en-US" b="0" i="0" dirty="0">
                <a:effectLst/>
              </a:rPr>
              <a:t>The value of the dependent variable at a certain value of the independent variables 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D3738-121C-4422-9D0B-C996E229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041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D68F1A-BA66-4DC1-AC98-F01ACFE5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433273"/>
            <a:ext cx="8386537" cy="5004884"/>
          </a:xfrm>
        </p:spPr>
        <p:txBody>
          <a:bodyPr/>
          <a:lstStyle/>
          <a:p>
            <a:pPr marL="0" indent="0">
              <a:buNone/>
            </a:pPr>
            <a:r>
              <a:rPr lang="en-IN" i="0" dirty="0">
                <a:effectLst/>
              </a:rPr>
              <a:t>Homogeneity of variance (homoscedasticity):</a:t>
            </a:r>
          </a:p>
          <a:p>
            <a:pPr lvl="1"/>
            <a:r>
              <a:rPr lang="en-IN" sz="2800" i="0" dirty="0">
                <a:effectLst/>
              </a:rPr>
              <a:t>Independence of observations</a:t>
            </a:r>
            <a:endParaRPr lang="en-IN" sz="2800" dirty="0"/>
          </a:p>
          <a:p>
            <a:pPr lvl="1"/>
            <a:r>
              <a:rPr lang="en-IN" sz="2800" i="0" dirty="0">
                <a:effectLst/>
              </a:rPr>
              <a:t>Normality</a:t>
            </a:r>
          </a:p>
          <a:p>
            <a:pPr lvl="1"/>
            <a:r>
              <a:rPr lang="en-IN" sz="2800" i="0" dirty="0">
                <a:effectLst/>
              </a:rPr>
              <a:t>Linearity</a:t>
            </a:r>
            <a:endParaRPr lang="en-IN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2914AB-79A6-4AF7-B1FA-27F4B74A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Assumptions of multiple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682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5F873D-AC5B-4F61-9489-6C54DF9C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How to perform a multiple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4439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5F873D-AC5B-4F61-9489-6C54DF9C9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How to perform a multiple linear regression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417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1131</TotalTime>
  <Words>503</Words>
  <Application>Microsoft Office PowerPoint</Application>
  <PresentationFormat>On-screen Show (4:3)</PresentationFormat>
  <Paragraphs>81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Bahnschrift</vt:lpstr>
      <vt:lpstr>Bahnschrift SemiBold</vt:lpstr>
      <vt:lpstr>Calibri</vt:lpstr>
      <vt:lpstr>Calibri Light</vt:lpstr>
      <vt:lpstr>charter</vt:lpstr>
      <vt:lpstr>times new roman</vt:lpstr>
      <vt:lpstr>Office Theme</vt:lpstr>
      <vt:lpstr>PowerPoint Presentation</vt:lpstr>
      <vt:lpstr>PowerPoint Presentation</vt:lpstr>
      <vt:lpstr>Simple Linear Regression</vt:lpstr>
      <vt:lpstr>Simple Linear Regression</vt:lpstr>
      <vt:lpstr>Simple Linear Regression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When to use regression ?</vt:lpstr>
      <vt:lpstr> When to use regression ? </vt:lpstr>
      <vt:lpstr>When to use regression ?</vt:lpstr>
      <vt:lpstr>When to use regression ?</vt:lpstr>
      <vt:lpstr>When to use regression ?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Multiple linear regression </vt:lpstr>
      <vt:lpstr>Assumptions of multiple linear regression</vt:lpstr>
      <vt:lpstr>How to perform a multiple linear regression</vt:lpstr>
      <vt:lpstr>How to perform a multiple linear regression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59</cp:revision>
  <dcterms:created xsi:type="dcterms:W3CDTF">2021-05-13T17:45:44Z</dcterms:created>
  <dcterms:modified xsi:type="dcterms:W3CDTF">2021-09-20T08:10:01Z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1197013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