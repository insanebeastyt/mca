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image/vnd.ms-photo" Extension="wdp"/>
  <Default ContentType="application/xml" Extension="xml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slide+xml" PartName="/ppt/slides/slide39.xml"/>
  <Override ContentType="application/vnd.openxmlformats-officedocument.presentationml.slide+xml" PartName="/ppt/slides/slide40.xml"/>
  <Override ContentType="application/vnd.openxmlformats-officedocument.presentationml.slide+xml" PartName="/ppt/slides/slide41.xml"/>
  <Override ContentType="application/vnd.openxmlformats-officedocument.presentationml.slide+xml" PartName="/ppt/slides/slide42.xml"/>
  <Override ContentType="application/vnd.openxmlformats-officedocument.presentationml.slide+xml" PartName="/ppt/slides/slide43.xml"/>
  <Override ContentType="application/vnd.openxmlformats-officedocument.presentationml.slide+xml" PartName="/ppt/slides/slide44.xml"/>
  <Override ContentType="application/vnd.openxmlformats-officedocument.presentationml.slide+xml" PartName="/ppt/slides/slide45.xml"/>
  <Override ContentType="application/vnd.openxmlformats-officedocument.presentationml.slide+xml" PartName="/ppt/slides/slide46.xml"/>
  <Override ContentType="application/vnd.openxmlformats-officedocument.presentationml.slide+xml" PartName="/ppt/slides/slide47.xml"/>
  <Override ContentType="application/vnd.openxmlformats-officedocument.presentationml.slide+xml" PartName="/ppt/slides/slide48.xml"/>
  <Override ContentType="application/vnd.openxmlformats-officedocument.presentationml.slide+xml" PartName="/ppt/slides/slide49.xml"/>
  <Override ContentType="application/vnd.openxmlformats-officedocument.presentationml.slide+xml" PartName="/ppt/slides/slide50.xml"/>
  <Override ContentType="application/vnd.openxmlformats-officedocument.presentationml.slide+xml" PartName="/ppt/slides/slide51.xml"/>
  <Override ContentType="application/vnd.openxmlformats-officedocument.presentationml.slide+xml" PartName="/ppt/slides/slide52.xml"/>
  <Override ContentType="application/vnd.openxmlformats-officedocument.presentationml.handoutMaster+xml" PartName="/ppt/handoutMasters/handout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3.xml"/>
  <Override ContentType="application/vnd.openxmlformats-officedocument.theme+xml" PartName="/ppt/theme/theme2.xml"/>
  <Override ContentType="application/vnd.openxmlformats-officedocument.drawingml.diagramData+xml" PartName="/ppt/diagrams/data1.xml"/>
  <Override ContentType="application/vnd.openxmlformats-officedocument.drawingml.diagramLayout+xml" PartName="/ppt/diagrams/layout1.xml"/>
  <Override ContentType="application/vnd.openxmlformats-officedocument.drawingml.diagramStyle+xml" PartName="/ppt/diagrams/quickStyle1.xml"/>
  <Override ContentType="application/vnd.openxmlformats-officedocument.drawingml.diagramColors+xml" PartName="/ppt/diagrams/colors1.xml"/>
  <Override ContentType="application/vnd.ms-office.drawingml.diagramDrawing+xml" PartName="/ppt/diagrams/drawing1.xml"/>
  <Override ContentType="application/vnd.openxmlformats-officedocument.drawingml.diagramData+xml" PartName="/ppt/diagrams/data2.xml"/>
  <Override ContentType="application/vnd.openxmlformats-officedocument.drawingml.diagramLayout+xml" PartName="/ppt/diagrams/layout2.xml"/>
  <Override ContentType="application/vnd.openxmlformats-officedocument.drawingml.diagramStyle+xml" PartName="/ppt/diagrams/quickStyle2.xml"/>
  <Override ContentType="application/vnd.openxmlformats-officedocument.drawingml.diagramColors+xml" PartName="/ppt/diagrams/colors2.xml"/>
  <Override ContentType="application/vnd.ms-office.drawingml.diagramDrawing+xml" PartName="/ppt/diagrams/drawing2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custom-properties+xml" PartName="/docProps/custom.xml"/>
</Types>
</file>

<file path=_rels/.rels><?xml version="1.0" encoding="UTF-8" standalone="yes" ?><Relationships xmlns="http://schemas.openxmlformats.org/package/2006/relationships"><Relationship Id="rId3" Target="docProps/core.xml" Type="http://schemas.openxmlformats.org/package/2006/relationships/metadata/core-properties"/><Relationship Id="rId2" Target="docProps/thumbnail.jpeg" Type="http://schemas.openxmlformats.org/package/2006/relationships/metadata/thumbnail"/><Relationship Id="rId1" Target="ppt/presentation.xml" Type="http://schemas.openxmlformats.org/officeDocument/2006/relationships/officeDocument"/><Relationship Id="rId4" Target="docProps/app.xml" Type="http://schemas.openxmlformats.org/officeDocument/2006/relationships/extended-properties"/><Relationship Id="rId5" Target="docProps/custom.xml" Type="http://schemas.openxmlformats.org/officeDocument/2006/relationships/custom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handoutMasterIdLst>
    <p:handoutMasterId r:id="rId54"/>
  </p:handoutMasterIdLst>
  <p:sldIdLst>
    <p:sldId id="266" r:id="rId2"/>
    <p:sldId id="261" r:id="rId3"/>
    <p:sldId id="288" r:id="rId4"/>
    <p:sldId id="289" r:id="rId5"/>
    <p:sldId id="268" r:id="rId6"/>
    <p:sldId id="269" r:id="rId7"/>
    <p:sldId id="292" r:id="rId8"/>
    <p:sldId id="294" r:id="rId9"/>
    <p:sldId id="272" r:id="rId10"/>
    <p:sldId id="295" r:id="rId11"/>
    <p:sldId id="296" r:id="rId12"/>
    <p:sldId id="298" r:id="rId13"/>
    <p:sldId id="303" r:id="rId14"/>
    <p:sldId id="299" r:id="rId15"/>
    <p:sldId id="300" r:id="rId16"/>
    <p:sldId id="337" r:id="rId17"/>
    <p:sldId id="302" r:id="rId18"/>
    <p:sldId id="276" r:id="rId19"/>
    <p:sldId id="305" r:id="rId20"/>
    <p:sldId id="278" r:id="rId21"/>
    <p:sldId id="306" r:id="rId22"/>
    <p:sldId id="307" r:id="rId23"/>
    <p:sldId id="308" r:id="rId24"/>
    <p:sldId id="309" r:id="rId25"/>
    <p:sldId id="280" r:id="rId26"/>
    <p:sldId id="310" r:id="rId27"/>
    <p:sldId id="311" r:id="rId28"/>
    <p:sldId id="312" r:id="rId29"/>
    <p:sldId id="313" r:id="rId30"/>
    <p:sldId id="314" r:id="rId31"/>
    <p:sldId id="315" r:id="rId32"/>
    <p:sldId id="316" r:id="rId33"/>
    <p:sldId id="317" r:id="rId34"/>
    <p:sldId id="318" r:id="rId35"/>
    <p:sldId id="319" r:id="rId36"/>
    <p:sldId id="320" r:id="rId37"/>
    <p:sldId id="321" r:id="rId38"/>
    <p:sldId id="322" r:id="rId39"/>
    <p:sldId id="326" r:id="rId40"/>
    <p:sldId id="338" r:id="rId41"/>
    <p:sldId id="339" r:id="rId42"/>
    <p:sldId id="327" r:id="rId43"/>
    <p:sldId id="328" r:id="rId44"/>
    <p:sldId id="329" r:id="rId45"/>
    <p:sldId id="330" r:id="rId46"/>
    <p:sldId id="331" r:id="rId47"/>
    <p:sldId id="332" r:id="rId48"/>
    <p:sldId id="333" r:id="rId49"/>
    <p:sldId id="334" r:id="rId50"/>
    <p:sldId id="335" r:id="rId51"/>
    <p:sldId id="336" r:id="rId52"/>
    <p:sldId id="263" r:id="rId5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525A"/>
    <a:srgbClr val="000000"/>
    <a:srgbClr val="618495"/>
    <a:srgbClr val="44525B"/>
    <a:srgbClr val="072235"/>
    <a:srgbClr val="453A38"/>
    <a:srgbClr val="B8B192"/>
    <a:srgbClr val="473B39"/>
    <a:srgbClr val="302C31"/>
    <a:srgbClr val="6350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27" autoAdjust="0"/>
    <p:restoredTop sz="94660"/>
  </p:normalViewPr>
  <p:slideViewPr>
    <p:cSldViewPr snapToGrid="0">
      <p:cViewPr>
        <p:scale>
          <a:sx n="50" d="100"/>
          <a:sy n="50" d="100"/>
        </p:scale>
        <p:origin x="2573" y="58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49" d="100"/>
          <a:sy n="49" d="100"/>
        </p:scale>
        <p:origin x="2910" y="3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101C362-5735-4212-BB01-4AABD49F86B9}" type="doc">
      <dgm:prSet loTypeId="urn:microsoft.com/office/officeart/2005/8/layout/matrix3" loCatId="matrix" qsTypeId="urn:microsoft.com/office/officeart/2005/8/quickstyle/3d5" qsCatId="3D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3BBE2C4D-2090-4C7E-93FD-D37ADF7B79D4}">
      <dgm:prSet/>
      <dgm:spPr>
        <a:solidFill>
          <a:srgbClr val="44525A"/>
        </a:solidFill>
      </dgm:spPr>
      <dgm:t>
        <a:bodyPr/>
        <a:lstStyle/>
        <a:p>
          <a:r>
            <a:rPr lang="en-US" b="0"/>
            <a:t>Volume</a:t>
          </a:r>
          <a:endParaRPr lang="en-IN"/>
        </a:p>
      </dgm:t>
    </dgm:pt>
    <dgm:pt modelId="{81CF0139-8994-432B-A070-B0D4E3ABBA33}" type="parTrans" cxnId="{CC723D51-86CB-42F3-B88B-F74D81003D95}">
      <dgm:prSet/>
      <dgm:spPr/>
      <dgm:t>
        <a:bodyPr/>
        <a:lstStyle/>
        <a:p>
          <a:endParaRPr lang="en-IN"/>
        </a:p>
      </dgm:t>
    </dgm:pt>
    <dgm:pt modelId="{8055F4F2-C793-44A0-B750-794B316B8525}" type="sibTrans" cxnId="{CC723D51-86CB-42F3-B88B-F74D81003D95}">
      <dgm:prSet/>
      <dgm:spPr/>
      <dgm:t>
        <a:bodyPr/>
        <a:lstStyle/>
        <a:p>
          <a:endParaRPr lang="en-IN"/>
        </a:p>
      </dgm:t>
    </dgm:pt>
    <dgm:pt modelId="{99338C85-0CB4-43A7-A64E-F0E9C176A9E8}">
      <dgm:prSet/>
      <dgm:spPr>
        <a:solidFill>
          <a:srgbClr val="44525A"/>
        </a:solidFill>
      </dgm:spPr>
      <dgm:t>
        <a:bodyPr/>
        <a:lstStyle/>
        <a:p>
          <a:r>
            <a:rPr lang="en-US" b="0"/>
            <a:t>Velocity.</a:t>
          </a:r>
          <a:endParaRPr lang="en-IN"/>
        </a:p>
      </dgm:t>
    </dgm:pt>
    <dgm:pt modelId="{DDE758BE-420D-470B-9657-F4154D85D7F0}" type="parTrans" cxnId="{89635CE6-0004-4E04-A6D1-E40B5E1F87B4}">
      <dgm:prSet/>
      <dgm:spPr/>
      <dgm:t>
        <a:bodyPr/>
        <a:lstStyle/>
        <a:p>
          <a:endParaRPr lang="en-IN"/>
        </a:p>
      </dgm:t>
    </dgm:pt>
    <dgm:pt modelId="{C05E15F4-41A3-4A77-84E9-FC6E92FD80B7}" type="sibTrans" cxnId="{89635CE6-0004-4E04-A6D1-E40B5E1F87B4}">
      <dgm:prSet/>
      <dgm:spPr/>
      <dgm:t>
        <a:bodyPr/>
        <a:lstStyle/>
        <a:p>
          <a:endParaRPr lang="en-IN"/>
        </a:p>
      </dgm:t>
    </dgm:pt>
    <dgm:pt modelId="{6BE13D50-1D66-496B-AD6A-6F85268EF5C8}">
      <dgm:prSet/>
      <dgm:spPr>
        <a:solidFill>
          <a:srgbClr val="44525A"/>
        </a:solidFill>
      </dgm:spPr>
      <dgm:t>
        <a:bodyPr/>
        <a:lstStyle/>
        <a:p>
          <a:r>
            <a:rPr lang="en-US" b="0"/>
            <a:t>Variety. </a:t>
          </a:r>
          <a:endParaRPr lang="en-IN"/>
        </a:p>
      </dgm:t>
    </dgm:pt>
    <dgm:pt modelId="{8D535F84-951F-4228-9D41-34EF6DD03A50}" type="parTrans" cxnId="{8D45B40B-8ADA-4006-B332-959AE34A97E3}">
      <dgm:prSet/>
      <dgm:spPr/>
      <dgm:t>
        <a:bodyPr/>
        <a:lstStyle/>
        <a:p>
          <a:endParaRPr lang="en-IN"/>
        </a:p>
      </dgm:t>
    </dgm:pt>
    <dgm:pt modelId="{75291309-D1A4-44F8-9F4F-3F49FF4E0771}" type="sibTrans" cxnId="{8D45B40B-8ADA-4006-B332-959AE34A97E3}">
      <dgm:prSet/>
      <dgm:spPr/>
      <dgm:t>
        <a:bodyPr/>
        <a:lstStyle/>
        <a:p>
          <a:endParaRPr lang="en-IN"/>
        </a:p>
      </dgm:t>
    </dgm:pt>
    <dgm:pt modelId="{AD423390-9B97-4D23-955D-A0DE363E6AC3}">
      <dgm:prSet/>
      <dgm:spPr>
        <a:solidFill>
          <a:srgbClr val="44525A"/>
        </a:solidFill>
      </dgm:spPr>
      <dgm:t>
        <a:bodyPr/>
        <a:lstStyle/>
        <a:p>
          <a:r>
            <a:rPr lang="en-US" b="0"/>
            <a:t>Veracity. </a:t>
          </a:r>
          <a:endParaRPr lang="en-IN"/>
        </a:p>
      </dgm:t>
    </dgm:pt>
    <dgm:pt modelId="{9401054E-970B-4DD5-A5A9-068F309C97C3}" type="parTrans" cxnId="{8CC69862-FAC9-45DB-BEDD-91BEF4AFB3D5}">
      <dgm:prSet/>
      <dgm:spPr/>
      <dgm:t>
        <a:bodyPr/>
        <a:lstStyle/>
        <a:p>
          <a:endParaRPr lang="en-IN"/>
        </a:p>
      </dgm:t>
    </dgm:pt>
    <dgm:pt modelId="{E45C1C49-F698-451C-A9B8-B28189CB6761}" type="sibTrans" cxnId="{8CC69862-FAC9-45DB-BEDD-91BEF4AFB3D5}">
      <dgm:prSet/>
      <dgm:spPr/>
      <dgm:t>
        <a:bodyPr/>
        <a:lstStyle/>
        <a:p>
          <a:endParaRPr lang="en-IN"/>
        </a:p>
      </dgm:t>
    </dgm:pt>
    <dgm:pt modelId="{E65BF514-04B5-4354-91CE-BA9794530505}" type="pres">
      <dgm:prSet presAssocID="{9101C362-5735-4212-BB01-4AABD49F86B9}" presName="matrix" presStyleCnt="0">
        <dgm:presLayoutVars>
          <dgm:chMax val="1"/>
          <dgm:dir/>
          <dgm:resizeHandles val="exact"/>
        </dgm:presLayoutVars>
      </dgm:prSet>
      <dgm:spPr/>
    </dgm:pt>
    <dgm:pt modelId="{251ED0C6-F4D7-41E2-9E1F-4A445718E8F1}" type="pres">
      <dgm:prSet presAssocID="{9101C362-5735-4212-BB01-4AABD49F86B9}" presName="diamond" presStyleLbl="bgShp" presStyleIdx="0" presStyleCnt="1">
        <dgm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dgm:style>
      </dgm:prSet>
      <dgm:spPr/>
    </dgm:pt>
    <dgm:pt modelId="{B5FB6BF5-0514-43D4-A2FB-3316AA9997D6}" type="pres">
      <dgm:prSet presAssocID="{9101C362-5735-4212-BB01-4AABD49F86B9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5E2D3C11-50E0-4CAA-AA78-9A100F8E9075}" type="pres">
      <dgm:prSet presAssocID="{9101C362-5735-4212-BB01-4AABD49F86B9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8A5ED17C-09A8-4F3F-A8BD-4DDF0020BD8B}" type="pres">
      <dgm:prSet presAssocID="{9101C362-5735-4212-BB01-4AABD49F86B9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58C91139-C8F0-4A98-93EE-C3EA31E7D1C4}" type="pres">
      <dgm:prSet presAssocID="{9101C362-5735-4212-BB01-4AABD49F86B9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8D45B40B-8ADA-4006-B332-959AE34A97E3}" srcId="{9101C362-5735-4212-BB01-4AABD49F86B9}" destId="{6BE13D50-1D66-496B-AD6A-6F85268EF5C8}" srcOrd="2" destOrd="0" parTransId="{8D535F84-951F-4228-9D41-34EF6DD03A50}" sibTransId="{75291309-D1A4-44F8-9F4F-3F49FF4E0771}"/>
    <dgm:cxn modelId="{F7D08F29-B3EC-4B55-982F-E7397B0AC97F}" type="presOf" srcId="{6BE13D50-1D66-496B-AD6A-6F85268EF5C8}" destId="{8A5ED17C-09A8-4F3F-A8BD-4DDF0020BD8B}" srcOrd="0" destOrd="0" presId="urn:microsoft.com/office/officeart/2005/8/layout/matrix3"/>
    <dgm:cxn modelId="{8CC69862-FAC9-45DB-BEDD-91BEF4AFB3D5}" srcId="{9101C362-5735-4212-BB01-4AABD49F86B9}" destId="{AD423390-9B97-4D23-955D-A0DE363E6AC3}" srcOrd="3" destOrd="0" parTransId="{9401054E-970B-4DD5-A5A9-068F309C97C3}" sibTransId="{E45C1C49-F698-451C-A9B8-B28189CB6761}"/>
    <dgm:cxn modelId="{8F90086B-B9F5-4C13-88B0-5B4FD929FEEC}" type="presOf" srcId="{9101C362-5735-4212-BB01-4AABD49F86B9}" destId="{E65BF514-04B5-4354-91CE-BA9794530505}" srcOrd="0" destOrd="0" presId="urn:microsoft.com/office/officeart/2005/8/layout/matrix3"/>
    <dgm:cxn modelId="{CC723D51-86CB-42F3-B88B-F74D81003D95}" srcId="{9101C362-5735-4212-BB01-4AABD49F86B9}" destId="{3BBE2C4D-2090-4C7E-93FD-D37ADF7B79D4}" srcOrd="0" destOrd="0" parTransId="{81CF0139-8994-432B-A070-B0D4E3ABBA33}" sibTransId="{8055F4F2-C793-44A0-B750-794B316B8525}"/>
    <dgm:cxn modelId="{405F7181-A6A5-4DEB-8077-0BC0A47E83E1}" type="presOf" srcId="{3BBE2C4D-2090-4C7E-93FD-D37ADF7B79D4}" destId="{B5FB6BF5-0514-43D4-A2FB-3316AA9997D6}" srcOrd="0" destOrd="0" presId="urn:microsoft.com/office/officeart/2005/8/layout/matrix3"/>
    <dgm:cxn modelId="{E0B7F193-A9F4-485C-A5AC-FD94FB6D3691}" type="presOf" srcId="{99338C85-0CB4-43A7-A64E-F0E9C176A9E8}" destId="{5E2D3C11-50E0-4CAA-AA78-9A100F8E9075}" srcOrd="0" destOrd="0" presId="urn:microsoft.com/office/officeart/2005/8/layout/matrix3"/>
    <dgm:cxn modelId="{1692B1DF-9FD3-4E48-BEE8-99F296F67E97}" type="presOf" srcId="{AD423390-9B97-4D23-955D-A0DE363E6AC3}" destId="{58C91139-C8F0-4A98-93EE-C3EA31E7D1C4}" srcOrd="0" destOrd="0" presId="urn:microsoft.com/office/officeart/2005/8/layout/matrix3"/>
    <dgm:cxn modelId="{89635CE6-0004-4E04-A6D1-E40B5E1F87B4}" srcId="{9101C362-5735-4212-BB01-4AABD49F86B9}" destId="{99338C85-0CB4-43A7-A64E-F0E9C176A9E8}" srcOrd="1" destOrd="0" parTransId="{DDE758BE-420D-470B-9657-F4154D85D7F0}" sibTransId="{C05E15F4-41A3-4A77-84E9-FC6E92FD80B7}"/>
    <dgm:cxn modelId="{2B976023-BE5F-4311-BF8B-F04C0DB8C69D}" type="presParOf" srcId="{E65BF514-04B5-4354-91CE-BA9794530505}" destId="{251ED0C6-F4D7-41E2-9E1F-4A445718E8F1}" srcOrd="0" destOrd="0" presId="urn:microsoft.com/office/officeart/2005/8/layout/matrix3"/>
    <dgm:cxn modelId="{F4AA26B0-22F2-44CC-BB2C-EE24D7A8B30E}" type="presParOf" srcId="{E65BF514-04B5-4354-91CE-BA9794530505}" destId="{B5FB6BF5-0514-43D4-A2FB-3316AA9997D6}" srcOrd="1" destOrd="0" presId="urn:microsoft.com/office/officeart/2005/8/layout/matrix3"/>
    <dgm:cxn modelId="{D66CF19C-36B1-4409-A7AE-C5D8EDB4AC68}" type="presParOf" srcId="{E65BF514-04B5-4354-91CE-BA9794530505}" destId="{5E2D3C11-50E0-4CAA-AA78-9A100F8E9075}" srcOrd="2" destOrd="0" presId="urn:microsoft.com/office/officeart/2005/8/layout/matrix3"/>
    <dgm:cxn modelId="{108C6B72-96DD-4EDE-8A58-A5F9E0082547}" type="presParOf" srcId="{E65BF514-04B5-4354-91CE-BA9794530505}" destId="{8A5ED17C-09A8-4F3F-A8BD-4DDF0020BD8B}" srcOrd="3" destOrd="0" presId="urn:microsoft.com/office/officeart/2005/8/layout/matrix3"/>
    <dgm:cxn modelId="{97B1FFD6-7DAE-44BA-A02F-728734FBA07A}" type="presParOf" srcId="{E65BF514-04B5-4354-91CE-BA9794530505}" destId="{58C91139-C8F0-4A98-93EE-C3EA31E7D1C4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7EAB759-B614-4C13-A8ED-51AABBF53F4B}" type="doc">
      <dgm:prSet loTypeId="urn:microsoft.com/office/officeart/2005/8/layout/hierarchy2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E1C190F5-C50C-45E4-9CAD-28CA0E61E18E}">
      <dgm:prSet/>
      <dgm:spPr>
        <a:solidFill>
          <a:srgbClr val="44525A"/>
        </a:solidFill>
        <a:effectLst>
          <a:outerShdw blurRad="63500" sx="102000" sy="102000" algn="ctr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b="0" i="0" dirty="0">
              <a:effectLst/>
            </a:rPr>
            <a:t>Cost reduction</a:t>
          </a:r>
        </a:p>
      </dgm:t>
    </dgm:pt>
    <dgm:pt modelId="{843E972A-0DF0-47FD-9A0C-CD271530D319}" type="parTrans" cxnId="{048D3340-5033-4C8A-9584-86E39772649F}">
      <dgm:prSet/>
      <dgm:spPr/>
      <dgm:t>
        <a:bodyPr/>
        <a:lstStyle/>
        <a:p>
          <a:endParaRPr lang="en-IN"/>
        </a:p>
      </dgm:t>
    </dgm:pt>
    <dgm:pt modelId="{6E80FC04-D383-442C-AA67-3FA20F5B9F85}" type="sibTrans" cxnId="{048D3340-5033-4C8A-9584-86E39772649F}">
      <dgm:prSet/>
      <dgm:spPr/>
      <dgm:t>
        <a:bodyPr/>
        <a:lstStyle/>
        <a:p>
          <a:endParaRPr lang="en-IN"/>
        </a:p>
      </dgm:t>
    </dgm:pt>
    <dgm:pt modelId="{A1118E87-2F9A-44F4-9845-D9E07110A0EA}">
      <dgm:prSet/>
      <dgm:spPr>
        <a:solidFill>
          <a:srgbClr val="44525A"/>
        </a:solidFill>
        <a:effectLst>
          <a:outerShdw blurRad="63500" sx="102000" sy="102000" algn="ctr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b="0" i="0" dirty="0">
              <a:effectLst/>
            </a:rPr>
            <a:t>Revenue growth</a:t>
          </a:r>
        </a:p>
      </dgm:t>
    </dgm:pt>
    <dgm:pt modelId="{7FAF0395-BA7D-4329-B826-7D2A6B25BC36}" type="parTrans" cxnId="{8B1242CC-A7F3-4ACB-B14A-15B9C1EDB171}">
      <dgm:prSet/>
      <dgm:spPr/>
      <dgm:t>
        <a:bodyPr/>
        <a:lstStyle/>
        <a:p>
          <a:endParaRPr lang="en-IN"/>
        </a:p>
      </dgm:t>
    </dgm:pt>
    <dgm:pt modelId="{8DF3E0C1-7EB2-4460-B124-A81A4488A479}" type="sibTrans" cxnId="{8B1242CC-A7F3-4ACB-B14A-15B9C1EDB171}">
      <dgm:prSet/>
      <dgm:spPr/>
      <dgm:t>
        <a:bodyPr/>
        <a:lstStyle/>
        <a:p>
          <a:endParaRPr lang="en-IN"/>
        </a:p>
      </dgm:t>
    </dgm:pt>
    <dgm:pt modelId="{F377C558-49CE-404F-AB9E-34443F0B5B0F}">
      <dgm:prSet/>
      <dgm:spPr>
        <a:solidFill>
          <a:srgbClr val="44525A"/>
        </a:solidFill>
        <a:effectLst>
          <a:outerShdw blurRad="63500" sx="102000" sy="102000" algn="ctr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b="0" i="0" dirty="0">
              <a:effectLst/>
            </a:rPr>
            <a:t>and Strategic investments</a:t>
          </a:r>
          <a:endParaRPr lang="en-IN" dirty="0"/>
        </a:p>
      </dgm:t>
    </dgm:pt>
    <dgm:pt modelId="{A015214C-EBD1-4F3C-8114-012FD6593FD1}" type="parTrans" cxnId="{26C47E9C-7CA0-4149-AA73-75FC60741799}">
      <dgm:prSet/>
      <dgm:spPr/>
      <dgm:t>
        <a:bodyPr/>
        <a:lstStyle/>
        <a:p>
          <a:endParaRPr lang="en-IN"/>
        </a:p>
      </dgm:t>
    </dgm:pt>
    <dgm:pt modelId="{2E7A3838-F5A2-46AC-B795-030B0B1BE5AE}" type="sibTrans" cxnId="{26C47E9C-7CA0-4149-AA73-75FC60741799}">
      <dgm:prSet/>
      <dgm:spPr/>
      <dgm:t>
        <a:bodyPr/>
        <a:lstStyle/>
        <a:p>
          <a:endParaRPr lang="en-IN"/>
        </a:p>
      </dgm:t>
    </dgm:pt>
    <dgm:pt modelId="{B3C4A762-5B69-4798-9A94-1754B6FE5A8F}">
      <dgm:prSet/>
      <dgm:spPr>
        <a:solidFill>
          <a:srgbClr val="44525A"/>
        </a:solidFill>
        <a:effectLst>
          <a:outerShdw blurRad="63500" sx="102000" sy="102000" algn="ctr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b="0" i="0" dirty="0">
              <a:effectLst/>
            </a:rPr>
            <a:t>CFO seeking new opportunities</a:t>
          </a:r>
        </a:p>
      </dgm:t>
    </dgm:pt>
    <dgm:pt modelId="{6C529B64-A734-47AB-A549-BED0D30759C1}" type="sibTrans" cxnId="{EE17EB16-E78E-4990-8EB1-77811B44C2B4}">
      <dgm:prSet/>
      <dgm:spPr/>
      <dgm:t>
        <a:bodyPr/>
        <a:lstStyle/>
        <a:p>
          <a:endParaRPr lang="en-IN"/>
        </a:p>
      </dgm:t>
    </dgm:pt>
    <dgm:pt modelId="{15E98660-FF05-4B20-BECF-7A06728C2619}" type="parTrans" cxnId="{EE17EB16-E78E-4990-8EB1-77811B44C2B4}">
      <dgm:prSet/>
      <dgm:spPr/>
      <dgm:t>
        <a:bodyPr/>
        <a:lstStyle/>
        <a:p>
          <a:endParaRPr lang="en-IN"/>
        </a:p>
      </dgm:t>
    </dgm:pt>
    <dgm:pt modelId="{BFDE0383-0AFA-4C8C-91DC-01BB06A80B96}" type="pres">
      <dgm:prSet presAssocID="{87EAB759-B614-4C13-A8ED-51AABBF53F4B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98410BEB-F766-465E-A50F-730150CC1A46}" type="pres">
      <dgm:prSet presAssocID="{B3C4A762-5B69-4798-9A94-1754B6FE5A8F}" presName="root1" presStyleCnt="0"/>
      <dgm:spPr/>
    </dgm:pt>
    <dgm:pt modelId="{2026DCE4-B8A9-4977-9449-CDF8863ECB7B}" type="pres">
      <dgm:prSet presAssocID="{B3C4A762-5B69-4798-9A94-1754B6FE5A8F}" presName="LevelOneTextNode" presStyleLbl="node0" presStyleIdx="0" presStyleCnt="1">
        <dgm:presLayoutVars>
          <dgm:chPref val="3"/>
        </dgm:presLayoutVars>
      </dgm:prSet>
      <dgm:spPr/>
    </dgm:pt>
    <dgm:pt modelId="{788A20CA-5F40-4DF5-9592-330C2033A9EC}" type="pres">
      <dgm:prSet presAssocID="{B3C4A762-5B69-4798-9A94-1754B6FE5A8F}" presName="level2hierChild" presStyleCnt="0"/>
      <dgm:spPr/>
    </dgm:pt>
    <dgm:pt modelId="{0B6F61A1-59CA-49EA-8F06-C11F1732C720}" type="pres">
      <dgm:prSet presAssocID="{843E972A-0DF0-47FD-9A0C-CD271530D319}" presName="conn2-1" presStyleLbl="parChTrans1D2" presStyleIdx="0" presStyleCnt="3"/>
      <dgm:spPr/>
    </dgm:pt>
    <dgm:pt modelId="{19F57F93-661B-42DE-8321-F5FF23ABE923}" type="pres">
      <dgm:prSet presAssocID="{843E972A-0DF0-47FD-9A0C-CD271530D319}" presName="connTx" presStyleLbl="parChTrans1D2" presStyleIdx="0" presStyleCnt="3"/>
      <dgm:spPr/>
    </dgm:pt>
    <dgm:pt modelId="{BBC2FD1C-8F9A-4D1D-952C-CD7C5DD3C1B9}" type="pres">
      <dgm:prSet presAssocID="{E1C190F5-C50C-45E4-9CAD-28CA0E61E18E}" presName="root2" presStyleCnt="0"/>
      <dgm:spPr/>
    </dgm:pt>
    <dgm:pt modelId="{188681C7-5C0B-4F8A-ABA6-10434E2D6E1E}" type="pres">
      <dgm:prSet presAssocID="{E1C190F5-C50C-45E4-9CAD-28CA0E61E18E}" presName="LevelTwoTextNode" presStyleLbl="node2" presStyleIdx="0" presStyleCnt="3">
        <dgm:presLayoutVars>
          <dgm:chPref val="3"/>
        </dgm:presLayoutVars>
      </dgm:prSet>
      <dgm:spPr/>
    </dgm:pt>
    <dgm:pt modelId="{5A35752D-0911-41B9-AF5D-06BB6F9B961A}" type="pres">
      <dgm:prSet presAssocID="{E1C190F5-C50C-45E4-9CAD-28CA0E61E18E}" presName="level3hierChild" presStyleCnt="0"/>
      <dgm:spPr/>
    </dgm:pt>
    <dgm:pt modelId="{BDA311AE-1271-4009-AB3C-1A1829B9175C}" type="pres">
      <dgm:prSet presAssocID="{7FAF0395-BA7D-4329-B826-7D2A6B25BC36}" presName="conn2-1" presStyleLbl="parChTrans1D2" presStyleIdx="1" presStyleCnt="3"/>
      <dgm:spPr/>
    </dgm:pt>
    <dgm:pt modelId="{F3207790-FC60-4855-80B0-88A4A46ED571}" type="pres">
      <dgm:prSet presAssocID="{7FAF0395-BA7D-4329-B826-7D2A6B25BC36}" presName="connTx" presStyleLbl="parChTrans1D2" presStyleIdx="1" presStyleCnt="3"/>
      <dgm:spPr/>
    </dgm:pt>
    <dgm:pt modelId="{E845E378-D20B-4320-BEE3-326EB5C61953}" type="pres">
      <dgm:prSet presAssocID="{A1118E87-2F9A-44F4-9845-D9E07110A0EA}" presName="root2" presStyleCnt="0"/>
      <dgm:spPr/>
    </dgm:pt>
    <dgm:pt modelId="{B29991AD-75FE-4EDB-857F-61FF548F06DB}" type="pres">
      <dgm:prSet presAssocID="{A1118E87-2F9A-44F4-9845-D9E07110A0EA}" presName="LevelTwoTextNode" presStyleLbl="node2" presStyleIdx="1" presStyleCnt="3">
        <dgm:presLayoutVars>
          <dgm:chPref val="3"/>
        </dgm:presLayoutVars>
      </dgm:prSet>
      <dgm:spPr/>
    </dgm:pt>
    <dgm:pt modelId="{5C94FE96-F96E-4A68-BD9E-389A67FA4AA1}" type="pres">
      <dgm:prSet presAssocID="{A1118E87-2F9A-44F4-9845-D9E07110A0EA}" presName="level3hierChild" presStyleCnt="0"/>
      <dgm:spPr/>
    </dgm:pt>
    <dgm:pt modelId="{5C1A9576-9A3A-40CE-8418-EA53E045CA56}" type="pres">
      <dgm:prSet presAssocID="{A015214C-EBD1-4F3C-8114-012FD6593FD1}" presName="conn2-1" presStyleLbl="parChTrans1D2" presStyleIdx="2" presStyleCnt="3"/>
      <dgm:spPr/>
    </dgm:pt>
    <dgm:pt modelId="{CF5DB3BE-2919-4FB0-8167-CC5D16F487FB}" type="pres">
      <dgm:prSet presAssocID="{A015214C-EBD1-4F3C-8114-012FD6593FD1}" presName="connTx" presStyleLbl="parChTrans1D2" presStyleIdx="2" presStyleCnt="3"/>
      <dgm:spPr/>
    </dgm:pt>
    <dgm:pt modelId="{7E73AD2A-2C31-45E2-B96A-DBA81547E0D0}" type="pres">
      <dgm:prSet presAssocID="{F377C558-49CE-404F-AB9E-34443F0B5B0F}" presName="root2" presStyleCnt="0"/>
      <dgm:spPr/>
    </dgm:pt>
    <dgm:pt modelId="{C7FF8492-68DF-4A25-8354-9F36A0F25AAC}" type="pres">
      <dgm:prSet presAssocID="{F377C558-49CE-404F-AB9E-34443F0B5B0F}" presName="LevelTwoTextNode" presStyleLbl="node2" presStyleIdx="2" presStyleCnt="3">
        <dgm:presLayoutVars>
          <dgm:chPref val="3"/>
        </dgm:presLayoutVars>
      </dgm:prSet>
      <dgm:spPr/>
    </dgm:pt>
    <dgm:pt modelId="{C7547B98-37C7-4D91-95E7-94D64DBC5BAC}" type="pres">
      <dgm:prSet presAssocID="{F377C558-49CE-404F-AB9E-34443F0B5B0F}" presName="level3hierChild" presStyleCnt="0"/>
      <dgm:spPr/>
    </dgm:pt>
  </dgm:ptLst>
  <dgm:cxnLst>
    <dgm:cxn modelId="{EE17EB16-E78E-4990-8EB1-77811B44C2B4}" srcId="{87EAB759-B614-4C13-A8ED-51AABBF53F4B}" destId="{B3C4A762-5B69-4798-9A94-1754B6FE5A8F}" srcOrd="0" destOrd="0" parTransId="{15E98660-FF05-4B20-BECF-7A06728C2619}" sibTransId="{6C529B64-A734-47AB-A549-BED0D30759C1}"/>
    <dgm:cxn modelId="{5F2AAA24-FCF9-4999-98F8-E7A7E70E2FC0}" type="presOf" srcId="{A015214C-EBD1-4F3C-8114-012FD6593FD1}" destId="{CF5DB3BE-2919-4FB0-8167-CC5D16F487FB}" srcOrd="1" destOrd="0" presId="urn:microsoft.com/office/officeart/2005/8/layout/hierarchy2"/>
    <dgm:cxn modelId="{4CC75F26-C725-4B8D-B9C2-246909DF3878}" type="presOf" srcId="{B3C4A762-5B69-4798-9A94-1754B6FE5A8F}" destId="{2026DCE4-B8A9-4977-9449-CDF8863ECB7B}" srcOrd="0" destOrd="0" presId="urn:microsoft.com/office/officeart/2005/8/layout/hierarchy2"/>
    <dgm:cxn modelId="{34CF5631-BF35-4382-983C-62DB9FA0A128}" type="presOf" srcId="{A1118E87-2F9A-44F4-9845-D9E07110A0EA}" destId="{B29991AD-75FE-4EDB-857F-61FF548F06DB}" srcOrd="0" destOrd="0" presId="urn:microsoft.com/office/officeart/2005/8/layout/hierarchy2"/>
    <dgm:cxn modelId="{17F3643A-6FFF-48CA-873D-4CBD47B706D5}" type="presOf" srcId="{87EAB759-B614-4C13-A8ED-51AABBF53F4B}" destId="{BFDE0383-0AFA-4C8C-91DC-01BB06A80B96}" srcOrd="0" destOrd="0" presId="urn:microsoft.com/office/officeart/2005/8/layout/hierarchy2"/>
    <dgm:cxn modelId="{048D3340-5033-4C8A-9584-86E39772649F}" srcId="{B3C4A762-5B69-4798-9A94-1754B6FE5A8F}" destId="{E1C190F5-C50C-45E4-9CAD-28CA0E61E18E}" srcOrd="0" destOrd="0" parTransId="{843E972A-0DF0-47FD-9A0C-CD271530D319}" sibTransId="{6E80FC04-D383-442C-AA67-3FA20F5B9F85}"/>
    <dgm:cxn modelId="{D2F77E93-4548-4FAF-85F9-77327A6401BE}" type="presOf" srcId="{E1C190F5-C50C-45E4-9CAD-28CA0E61E18E}" destId="{188681C7-5C0B-4F8A-ABA6-10434E2D6E1E}" srcOrd="0" destOrd="0" presId="urn:microsoft.com/office/officeart/2005/8/layout/hierarchy2"/>
    <dgm:cxn modelId="{26C47E9C-7CA0-4149-AA73-75FC60741799}" srcId="{B3C4A762-5B69-4798-9A94-1754B6FE5A8F}" destId="{F377C558-49CE-404F-AB9E-34443F0B5B0F}" srcOrd="2" destOrd="0" parTransId="{A015214C-EBD1-4F3C-8114-012FD6593FD1}" sibTransId="{2E7A3838-F5A2-46AC-B795-030B0B1BE5AE}"/>
    <dgm:cxn modelId="{ABAFEF9D-C2DF-4E80-A9C8-80EDB040078D}" type="presOf" srcId="{F377C558-49CE-404F-AB9E-34443F0B5B0F}" destId="{C7FF8492-68DF-4A25-8354-9F36A0F25AAC}" srcOrd="0" destOrd="0" presId="urn:microsoft.com/office/officeart/2005/8/layout/hierarchy2"/>
    <dgm:cxn modelId="{16B42CA8-5D18-42EF-AC2D-2D46CA79B33E}" type="presOf" srcId="{7FAF0395-BA7D-4329-B826-7D2A6B25BC36}" destId="{BDA311AE-1271-4009-AB3C-1A1829B9175C}" srcOrd="0" destOrd="0" presId="urn:microsoft.com/office/officeart/2005/8/layout/hierarchy2"/>
    <dgm:cxn modelId="{8B1242CC-A7F3-4ACB-B14A-15B9C1EDB171}" srcId="{B3C4A762-5B69-4798-9A94-1754B6FE5A8F}" destId="{A1118E87-2F9A-44F4-9845-D9E07110A0EA}" srcOrd="1" destOrd="0" parTransId="{7FAF0395-BA7D-4329-B826-7D2A6B25BC36}" sibTransId="{8DF3E0C1-7EB2-4460-B124-A81A4488A479}"/>
    <dgm:cxn modelId="{834712D6-81EA-4851-9396-F569C52FA24D}" type="presOf" srcId="{843E972A-0DF0-47FD-9A0C-CD271530D319}" destId="{19F57F93-661B-42DE-8321-F5FF23ABE923}" srcOrd="1" destOrd="0" presId="urn:microsoft.com/office/officeart/2005/8/layout/hierarchy2"/>
    <dgm:cxn modelId="{97D716E9-6558-44DD-B11E-859C0E0FB71E}" type="presOf" srcId="{A015214C-EBD1-4F3C-8114-012FD6593FD1}" destId="{5C1A9576-9A3A-40CE-8418-EA53E045CA56}" srcOrd="0" destOrd="0" presId="urn:microsoft.com/office/officeart/2005/8/layout/hierarchy2"/>
    <dgm:cxn modelId="{F2D00CFA-1C70-4E88-ACF5-EB169E7780BA}" type="presOf" srcId="{7FAF0395-BA7D-4329-B826-7D2A6B25BC36}" destId="{F3207790-FC60-4855-80B0-88A4A46ED571}" srcOrd="1" destOrd="0" presId="urn:microsoft.com/office/officeart/2005/8/layout/hierarchy2"/>
    <dgm:cxn modelId="{8E53F9FB-88EE-4E24-8ABC-D40ABA14442C}" type="presOf" srcId="{843E972A-0DF0-47FD-9A0C-CD271530D319}" destId="{0B6F61A1-59CA-49EA-8F06-C11F1732C720}" srcOrd="0" destOrd="0" presId="urn:microsoft.com/office/officeart/2005/8/layout/hierarchy2"/>
    <dgm:cxn modelId="{E500F1A6-B4D6-4114-9928-01EE9D29DE11}" type="presParOf" srcId="{BFDE0383-0AFA-4C8C-91DC-01BB06A80B96}" destId="{98410BEB-F766-465E-A50F-730150CC1A46}" srcOrd="0" destOrd="0" presId="urn:microsoft.com/office/officeart/2005/8/layout/hierarchy2"/>
    <dgm:cxn modelId="{474D5DAF-94B2-4583-8E22-1B9A9216B096}" type="presParOf" srcId="{98410BEB-F766-465E-A50F-730150CC1A46}" destId="{2026DCE4-B8A9-4977-9449-CDF8863ECB7B}" srcOrd="0" destOrd="0" presId="urn:microsoft.com/office/officeart/2005/8/layout/hierarchy2"/>
    <dgm:cxn modelId="{DD389ED8-3697-4327-8F0A-B62911BD030F}" type="presParOf" srcId="{98410BEB-F766-465E-A50F-730150CC1A46}" destId="{788A20CA-5F40-4DF5-9592-330C2033A9EC}" srcOrd="1" destOrd="0" presId="urn:microsoft.com/office/officeart/2005/8/layout/hierarchy2"/>
    <dgm:cxn modelId="{B7177A7F-DF13-49A8-93FE-4026740E5233}" type="presParOf" srcId="{788A20CA-5F40-4DF5-9592-330C2033A9EC}" destId="{0B6F61A1-59CA-49EA-8F06-C11F1732C720}" srcOrd="0" destOrd="0" presId="urn:microsoft.com/office/officeart/2005/8/layout/hierarchy2"/>
    <dgm:cxn modelId="{B72EDD75-C1DD-452E-A053-E4FC2D3AA1F1}" type="presParOf" srcId="{0B6F61A1-59CA-49EA-8F06-C11F1732C720}" destId="{19F57F93-661B-42DE-8321-F5FF23ABE923}" srcOrd="0" destOrd="0" presId="urn:microsoft.com/office/officeart/2005/8/layout/hierarchy2"/>
    <dgm:cxn modelId="{8BFC8234-04CB-4D54-988C-526A5D8240A5}" type="presParOf" srcId="{788A20CA-5F40-4DF5-9592-330C2033A9EC}" destId="{BBC2FD1C-8F9A-4D1D-952C-CD7C5DD3C1B9}" srcOrd="1" destOrd="0" presId="urn:microsoft.com/office/officeart/2005/8/layout/hierarchy2"/>
    <dgm:cxn modelId="{92753297-9927-4E4E-B9F2-27CC12E36D72}" type="presParOf" srcId="{BBC2FD1C-8F9A-4D1D-952C-CD7C5DD3C1B9}" destId="{188681C7-5C0B-4F8A-ABA6-10434E2D6E1E}" srcOrd="0" destOrd="0" presId="urn:microsoft.com/office/officeart/2005/8/layout/hierarchy2"/>
    <dgm:cxn modelId="{CD13BF4E-705A-48DB-8485-484048AF4417}" type="presParOf" srcId="{BBC2FD1C-8F9A-4D1D-952C-CD7C5DD3C1B9}" destId="{5A35752D-0911-41B9-AF5D-06BB6F9B961A}" srcOrd="1" destOrd="0" presId="urn:microsoft.com/office/officeart/2005/8/layout/hierarchy2"/>
    <dgm:cxn modelId="{97B5ECCA-0DF8-46FA-8305-31FE5B967F7F}" type="presParOf" srcId="{788A20CA-5F40-4DF5-9592-330C2033A9EC}" destId="{BDA311AE-1271-4009-AB3C-1A1829B9175C}" srcOrd="2" destOrd="0" presId="urn:microsoft.com/office/officeart/2005/8/layout/hierarchy2"/>
    <dgm:cxn modelId="{DA3129F8-4199-488E-9000-A50C9BB278DD}" type="presParOf" srcId="{BDA311AE-1271-4009-AB3C-1A1829B9175C}" destId="{F3207790-FC60-4855-80B0-88A4A46ED571}" srcOrd="0" destOrd="0" presId="urn:microsoft.com/office/officeart/2005/8/layout/hierarchy2"/>
    <dgm:cxn modelId="{4EC9E30E-9C8D-448D-AEBE-6EA446F1251D}" type="presParOf" srcId="{788A20CA-5F40-4DF5-9592-330C2033A9EC}" destId="{E845E378-D20B-4320-BEE3-326EB5C61953}" srcOrd="3" destOrd="0" presId="urn:microsoft.com/office/officeart/2005/8/layout/hierarchy2"/>
    <dgm:cxn modelId="{F4B18662-7C47-404F-832C-F17351D08D73}" type="presParOf" srcId="{E845E378-D20B-4320-BEE3-326EB5C61953}" destId="{B29991AD-75FE-4EDB-857F-61FF548F06DB}" srcOrd="0" destOrd="0" presId="urn:microsoft.com/office/officeart/2005/8/layout/hierarchy2"/>
    <dgm:cxn modelId="{CF8986FE-9465-447C-9585-E438CC0AAE0B}" type="presParOf" srcId="{E845E378-D20B-4320-BEE3-326EB5C61953}" destId="{5C94FE96-F96E-4A68-BD9E-389A67FA4AA1}" srcOrd="1" destOrd="0" presId="urn:microsoft.com/office/officeart/2005/8/layout/hierarchy2"/>
    <dgm:cxn modelId="{FE9875B9-2667-4BA6-B748-B034FAD66965}" type="presParOf" srcId="{788A20CA-5F40-4DF5-9592-330C2033A9EC}" destId="{5C1A9576-9A3A-40CE-8418-EA53E045CA56}" srcOrd="4" destOrd="0" presId="urn:microsoft.com/office/officeart/2005/8/layout/hierarchy2"/>
    <dgm:cxn modelId="{B584C61E-DD6B-4BF8-A0AA-4D486C580162}" type="presParOf" srcId="{5C1A9576-9A3A-40CE-8418-EA53E045CA56}" destId="{CF5DB3BE-2919-4FB0-8167-CC5D16F487FB}" srcOrd="0" destOrd="0" presId="urn:microsoft.com/office/officeart/2005/8/layout/hierarchy2"/>
    <dgm:cxn modelId="{87939AF4-06A4-4CF1-A1D6-7AD717FA8B25}" type="presParOf" srcId="{788A20CA-5F40-4DF5-9592-330C2033A9EC}" destId="{7E73AD2A-2C31-45E2-B96A-DBA81547E0D0}" srcOrd="5" destOrd="0" presId="urn:microsoft.com/office/officeart/2005/8/layout/hierarchy2"/>
    <dgm:cxn modelId="{895825E5-C697-4887-AD56-553316483BEC}" type="presParOf" srcId="{7E73AD2A-2C31-45E2-B96A-DBA81547E0D0}" destId="{C7FF8492-68DF-4A25-8354-9F36A0F25AAC}" srcOrd="0" destOrd="0" presId="urn:microsoft.com/office/officeart/2005/8/layout/hierarchy2"/>
    <dgm:cxn modelId="{52CBB7FE-8805-4CB3-A2CC-51CB3CC2A654}" type="presParOf" srcId="{7E73AD2A-2C31-45E2-B96A-DBA81547E0D0}" destId="{C7547B98-37C7-4D91-95E7-94D64DBC5BAC}" srcOrd="1" destOrd="0" presId="urn:microsoft.com/office/officeart/2005/8/layout/hierarchy2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1ED0C6-F4D7-41E2-9E1F-4A445718E8F1}">
      <dsp:nvSpPr>
        <dsp:cNvPr id="0" name=""/>
        <dsp:cNvSpPr/>
      </dsp:nvSpPr>
      <dsp:spPr>
        <a:xfrm>
          <a:off x="1758097" y="0"/>
          <a:ext cx="5389512" cy="5389512"/>
        </a:xfrm>
        <a:prstGeom prst="diamond">
          <a:avLst/>
        </a:prstGeom>
        <a:gradFill rotWithShape="1">
          <a:gsLst>
            <a:gs pos="0">
              <a:schemeClr val="accent2">
                <a:lumMod val="110000"/>
                <a:satMod val="105000"/>
                <a:tint val="67000"/>
              </a:schemeClr>
            </a:gs>
            <a:gs pos="50000">
              <a:schemeClr val="accent2">
                <a:lumMod val="105000"/>
                <a:satMod val="103000"/>
                <a:tint val="73000"/>
              </a:schemeClr>
            </a:gs>
            <a:gs pos="100000">
              <a:schemeClr val="accent2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2"/>
          </a:solidFill>
          <a:prstDash val="solid"/>
          <a:miter lim="800000"/>
        </a:ln>
        <a:effectLst/>
        <a:sp3d z="-400500" extrusionH="63500"/>
      </dsp:spPr>
      <dsp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dsp:style>
    </dsp:sp>
    <dsp:sp modelId="{B5FB6BF5-0514-43D4-A2FB-3316AA9997D6}">
      <dsp:nvSpPr>
        <dsp:cNvPr id="0" name=""/>
        <dsp:cNvSpPr/>
      </dsp:nvSpPr>
      <dsp:spPr>
        <a:xfrm>
          <a:off x="2270101" y="512003"/>
          <a:ext cx="2101910" cy="2101910"/>
        </a:xfrm>
        <a:prstGeom prst="roundRect">
          <a:avLst/>
        </a:prstGeom>
        <a:solidFill>
          <a:srgbClr val="44525A"/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0" kern="1200"/>
            <a:t>Volume</a:t>
          </a:r>
          <a:endParaRPr lang="en-IN" sz="3600" kern="1200"/>
        </a:p>
      </dsp:txBody>
      <dsp:txXfrm>
        <a:off x="2372708" y="614610"/>
        <a:ext cx="1896696" cy="1896696"/>
      </dsp:txXfrm>
    </dsp:sp>
    <dsp:sp modelId="{5E2D3C11-50E0-4CAA-AA78-9A100F8E9075}">
      <dsp:nvSpPr>
        <dsp:cNvPr id="0" name=""/>
        <dsp:cNvSpPr/>
      </dsp:nvSpPr>
      <dsp:spPr>
        <a:xfrm>
          <a:off x="4533696" y="512003"/>
          <a:ext cx="2101910" cy="2101910"/>
        </a:xfrm>
        <a:prstGeom prst="roundRect">
          <a:avLst/>
        </a:prstGeom>
        <a:solidFill>
          <a:srgbClr val="44525A"/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0" kern="1200"/>
            <a:t>Velocity.</a:t>
          </a:r>
          <a:endParaRPr lang="en-IN" sz="3600" kern="1200"/>
        </a:p>
      </dsp:txBody>
      <dsp:txXfrm>
        <a:off x="4636303" y="614610"/>
        <a:ext cx="1896696" cy="1896696"/>
      </dsp:txXfrm>
    </dsp:sp>
    <dsp:sp modelId="{8A5ED17C-09A8-4F3F-A8BD-4DDF0020BD8B}">
      <dsp:nvSpPr>
        <dsp:cNvPr id="0" name=""/>
        <dsp:cNvSpPr/>
      </dsp:nvSpPr>
      <dsp:spPr>
        <a:xfrm>
          <a:off x="2270101" y="2775599"/>
          <a:ext cx="2101910" cy="2101910"/>
        </a:xfrm>
        <a:prstGeom prst="roundRect">
          <a:avLst/>
        </a:prstGeom>
        <a:solidFill>
          <a:srgbClr val="44525A"/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0" kern="1200"/>
            <a:t>Variety. </a:t>
          </a:r>
          <a:endParaRPr lang="en-IN" sz="3600" kern="1200"/>
        </a:p>
      </dsp:txBody>
      <dsp:txXfrm>
        <a:off x="2372708" y="2878206"/>
        <a:ext cx="1896696" cy="1896696"/>
      </dsp:txXfrm>
    </dsp:sp>
    <dsp:sp modelId="{58C91139-C8F0-4A98-93EE-C3EA31E7D1C4}">
      <dsp:nvSpPr>
        <dsp:cNvPr id="0" name=""/>
        <dsp:cNvSpPr/>
      </dsp:nvSpPr>
      <dsp:spPr>
        <a:xfrm>
          <a:off x="4533696" y="2775599"/>
          <a:ext cx="2101910" cy="2101910"/>
        </a:xfrm>
        <a:prstGeom prst="roundRect">
          <a:avLst/>
        </a:prstGeom>
        <a:solidFill>
          <a:srgbClr val="44525A"/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0" kern="1200"/>
            <a:t>Veracity. </a:t>
          </a:r>
          <a:endParaRPr lang="en-IN" sz="3600" kern="1200"/>
        </a:p>
      </dsp:txBody>
      <dsp:txXfrm>
        <a:off x="4636303" y="2878206"/>
        <a:ext cx="1896696" cy="189669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026DCE4-B8A9-4977-9449-CDF8863ECB7B}">
      <dsp:nvSpPr>
        <dsp:cNvPr id="0" name=""/>
        <dsp:cNvSpPr/>
      </dsp:nvSpPr>
      <dsp:spPr>
        <a:xfrm>
          <a:off x="569234" y="1774596"/>
          <a:ext cx="3081932" cy="1540966"/>
        </a:xfrm>
        <a:prstGeom prst="roundRect">
          <a:avLst>
            <a:gd name="adj" fmla="val 10000"/>
          </a:avLst>
        </a:prstGeom>
        <a:solidFill>
          <a:srgbClr val="44525A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63500" sx="102000" sy="102000" algn="ctr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" tIns="20955" rIns="20955" bIns="20955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b="0" i="0" kern="1200" dirty="0">
              <a:effectLst/>
            </a:rPr>
            <a:t>CFO seeking new opportunities</a:t>
          </a:r>
        </a:p>
      </dsp:txBody>
      <dsp:txXfrm>
        <a:off x="614367" y="1819729"/>
        <a:ext cx="2991666" cy="1450700"/>
      </dsp:txXfrm>
    </dsp:sp>
    <dsp:sp modelId="{0B6F61A1-59CA-49EA-8F06-C11F1732C720}">
      <dsp:nvSpPr>
        <dsp:cNvPr id="0" name=""/>
        <dsp:cNvSpPr/>
      </dsp:nvSpPr>
      <dsp:spPr>
        <a:xfrm rot="18289469">
          <a:off x="3188189" y="1631778"/>
          <a:ext cx="2158728" cy="54492"/>
        </a:xfrm>
        <a:custGeom>
          <a:avLst/>
          <a:gdLst/>
          <a:ahLst/>
          <a:cxnLst/>
          <a:rect l="0" t="0" r="0" b="0"/>
          <a:pathLst>
            <a:path>
              <a:moveTo>
                <a:pt x="0" y="27246"/>
              </a:moveTo>
              <a:lnTo>
                <a:pt x="2158728" y="2724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700" kern="1200"/>
        </a:p>
      </dsp:txBody>
      <dsp:txXfrm>
        <a:off x="4213585" y="1605056"/>
        <a:ext cx="107936" cy="107936"/>
      </dsp:txXfrm>
    </dsp:sp>
    <dsp:sp modelId="{188681C7-5C0B-4F8A-ABA6-10434E2D6E1E}">
      <dsp:nvSpPr>
        <dsp:cNvPr id="0" name=""/>
        <dsp:cNvSpPr/>
      </dsp:nvSpPr>
      <dsp:spPr>
        <a:xfrm>
          <a:off x="4883940" y="2485"/>
          <a:ext cx="3081932" cy="1540966"/>
        </a:xfrm>
        <a:prstGeom prst="roundRect">
          <a:avLst>
            <a:gd name="adj" fmla="val 10000"/>
          </a:avLst>
        </a:prstGeom>
        <a:solidFill>
          <a:srgbClr val="44525A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63500" sx="102000" sy="102000" algn="ctr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" tIns="20955" rIns="20955" bIns="20955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b="0" i="0" kern="1200" dirty="0">
              <a:effectLst/>
            </a:rPr>
            <a:t>Cost reduction</a:t>
          </a:r>
        </a:p>
      </dsp:txBody>
      <dsp:txXfrm>
        <a:off x="4929073" y="47618"/>
        <a:ext cx="2991666" cy="1450700"/>
      </dsp:txXfrm>
    </dsp:sp>
    <dsp:sp modelId="{BDA311AE-1271-4009-AB3C-1A1829B9175C}">
      <dsp:nvSpPr>
        <dsp:cNvPr id="0" name=""/>
        <dsp:cNvSpPr/>
      </dsp:nvSpPr>
      <dsp:spPr>
        <a:xfrm>
          <a:off x="3651167" y="2517833"/>
          <a:ext cx="1232773" cy="54492"/>
        </a:xfrm>
        <a:custGeom>
          <a:avLst/>
          <a:gdLst/>
          <a:ahLst/>
          <a:cxnLst/>
          <a:rect l="0" t="0" r="0" b="0"/>
          <a:pathLst>
            <a:path>
              <a:moveTo>
                <a:pt x="0" y="27246"/>
              </a:moveTo>
              <a:lnTo>
                <a:pt x="1232773" y="2724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4236734" y="2514260"/>
        <a:ext cx="61638" cy="61638"/>
      </dsp:txXfrm>
    </dsp:sp>
    <dsp:sp modelId="{B29991AD-75FE-4EDB-857F-61FF548F06DB}">
      <dsp:nvSpPr>
        <dsp:cNvPr id="0" name=""/>
        <dsp:cNvSpPr/>
      </dsp:nvSpPr>
      <dsp:spPr>
        <a:xfrm>
          <a:off x="4883940" y="1774596"/>
          <a:ext cx="3081932" cy="1540966"/>
        </a:xfrm>
        <a:prstGeom prst="roundRect">
          <a:avLst>
            <a:gd name="adj" fmla="val 10000"/>
          </a:avLst>
        </a:prstGeom>
        <a:solidFill>
          <a:srgbClr val="44525A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63500" sx="102000" sy="102000" algn="ctr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" tIns="20955" rIns="20955" bIns="20955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b="0" i="0" kern="1200" dirty="0">
              <a:effectLst/>
            </a:rPr>
            <a:t>Revenue growth</a:t>
          </a:r>
        </a:p>
      </dsp:txBody>
      <dsp:txXfrm>
        <a:off x="4929073" y="1819729"/>
        <a:ext cx="2991666" cy="1450700"/>
      </dsp:txXfrm>
    </dsp:sp>
    <dsp:sp modelId="{5C1A9576-9A3A-40CE-8418-EA53E045CA56}">
      <dsp:nvSpPr>
        <dsp:cNvPr id="0" name=""/>
        <dsp:cNvSpPr/>
      </dsp:nvSpPr>
      <dsp:spPr>
        <a:xfrm rot="3310531">
          <a:off x="3188189" y="3403889"/>
          <a:ext cx="2158728" cy="54492"/>
        </a:xfrm>
        <a:custGeom>
          <a:avLst/>
          <a:gdLst/>
          <a:ahLst/>
          <a:cxnLst/>
          <a:rect l="0" t="0" r="0" b="0"/>
          <a:pathLst>
            <a:path>
              <a:moveTo>
                <a:pt x="0" y="27246"/>
              </a:moveTo>
              <a:lnTo>
                <a:pt x="2158728" y="2724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700" kern="1200"/>
        </a:p>
      </dsp:txBody>
      <dsp:txXfrm>
        <a:off x="4213585" y="3377167"/>
        <a:ext cx="107936" cy="107936"/>
      </dsp:txXfrm>
    </dsp:sp>
    <dsp:sp modelId="{C7FF8492-68DF-4A25-8354-9F36A0F25AAC}">
      <dsp:nvSpPr>
        <dsp:cNvPr id="0" name=""/>
        <dsp:cNvSpPr/>
      </dsp:nvSpPr>
      <dsp:spPr>
        <a:xfrm>
          <a:off x="4883940" y="3546708"/>
          <a:ext cx="3081932" cy="1540966"/>
        </a:xfrm>
        <a:prstGeom prst="roundRect">
          <a:avLst>
            <a:gd name="adj" fmla="val 10000"/>
          </a:avLst>
        </a:prstGeom>
        <a:solidFill>
          <a:srgbClr val="44525A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63500" sx="102000" sy="102000" algn="ctr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" tIns="20955" rIns="20955" bIns="20955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b="0" i="0" kern="1200" dirty="0">
              <a:effectLst/>
            </a:rPr>
            <a:t>and Strategic investments</a:t>
          </a:r>
          <a:endParaRPr lang="en-IN" sz="3300" kern="1200" dirty="0"/>
        </a:p>
      </dsp:txBody>
      <dsp:txXfrm>
        <a:off x="4929073" y="3591841"/>
        <a:ext cx="2991666" cy="14507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5">
  <dgm:title val=""/>
  <dgm:desc val=""/>
  <dgm:catLst>
    <dgm:cat type="3D" pri="11500"/>
  </dgm:catLst>
  <dgm:scene3d>
    <a:camera prst="isometricOffAxis2Left" zoom="95000"/>
    <a:lightRig rig="flat" dir="t"/>
  </dgm:scene3d>
  <dgm:styleLbl name="node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5715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381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52400" extrusionH="1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38100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3810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400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150"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63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4005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40050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4005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15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22CA918-4CC9-454A-A0CC-18E4AB14716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B17E60-0D58-4E11-A0B3-7C89A952127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1E31DF-E085-4560-B70C-2BE0282116AF}" type="datetimeFigureOut">
              <a:rPr lang="en-US" smtClean="0"/>
              <a:t>7/13/2021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826CD9-44E6-4934-88CC-7B6414A4080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126C7B-3E85-4BB4-8FD9-8DF00D10313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2DE278-E6FC-4BDC-BC08-49EFF8121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9040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 ?><Relationships xmlns="http://schemas.openxmlformats.org/package/2006/relationships"><Relationship Id="rId3" Target="../media/image2.jpeg" Type="http://schemas.openxmlformats.org/officeDocument/2006/relationships/image"/><Relationship Id="rId2" Target="../media/image1.jpeg" Type="http://schemas.openxmlformats.org/officeDocument/2006/relationships/image"/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FB821A54-EBB6-44D6-B654-A7206FCE625D}"/>
              </a:ext>
            </a:extLst>
          </p:cNvPr>
          <p:cNvSpPr/>
          <p:nvPr userDrawn="1"/>
        </p:nvSpPr>
        <p:spPr>
          <a:xfrm>
            <a:off x="51361" y="222575"/>
            <a:ext cx="4711139" cy="712652"/>
          </a:xfrm>
          <a:prstGeom prst="roundRect">
            <a:avLst>
              <a:gd fmla="val 10415" name="adj"/>
            </a:avLst>
          </a:prstGeom>
          <a:solidFill>
            <a:srgbClr val="44525B"/>
          </a:solidFill>
          <a:ln>
            <a:solidFill>
              <a:srgbClr val="44525A"/>
            </a:solidFill>
          </a:ln>
          <a:effectLst>
            <a:outerShdw algn="ctr" blurRad="63500" rotWithShape="0" sx="102000" sy="102000">
              <a:prstClr val="black">
                <a:alpha val="40000"/>
              </a:prstClr>
            </a:outerShdw>
          </a:effectLst>
          <a:scene3d>
            <a:camera prst="orthographicFront"/>
            <a:lightRig dir="t" rig="threeP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lvl="0"/>
            <a:r>
              <a:rPr baseline="0" cap="small" dirty="0" lang="en-US" sz="3200" u="none">
                <a:solidFill>
                  <a:schemeClr val="bg1"/>
                </a:solidFill>
                <a:latin charset="0" panose="020B0502040204020203" pitchFamily="34" typeface="Bahnschrift SemiBold"/>
              </a:rPr>
              <a:t>Introduction to Big Data</a:t>
            </a:r>
          </a:p>
        </p:txBody>
      </p:sp>
      <p:grpSp>
        <p:nvGrpSpPr>
          <p:cNvPr hidden="1" id="18" name="Group 45">
            <a:extLst>
              <a:ext uri="{FF2B5EF4-FFF2-40B4-BE49-F238E27FC236}">
                <a16:creationId xmlns:a16="http://schemas.microsoft.com/office/drawing/2014/main" id="{850EC89B-90C3-44BB-9D08-4AA2F18B76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562810" y="545"/>
            <a:ext cx="656040" cy="6857455"/>
            <a:chOff x="5632355" y="0"/>
            <a:chExt cx="874719" cy="6857455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E7AE735-969F-4B48-90BB-9C0B68FF30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rot="5400000">
              <a:off x="2640985" y="2991370"/>
              <a:ext cx="6857455" cy="874715"/>
            </a:xfrm>
            <a:custGeom>
              <a:avLst/>
              <a:gdLst>
                <a:gd fmla="*/ 6857455 w 6857455" name="connsiteX0"/>
                <a:gd fmla="*/ 804643 h 874716" name="connsiteY0"/>
                <a:gd fmla="*/ 6857455 w 6857455" name="connsiteX1"/>
                <a:gd fmla="*/ 562246 h 874716" name="connsiteY1"/>
                <a:gd fmla="*/ 6829178 w 6857455" name="connsiteX2"/>
                <a:gd fmla="*/ 551284 h 874716" name="connsiteY2"/>
                <a:gd fmla="*/ 6766024 w 6857455" name="connsiteX3"/>
                <a:gd fmla="*/ 500372 h 874716" name="connsiteY3"/>
                <a:gd fmla="*/ 6734971 w 6857455" name="connsiteX4"/>
                <a:gd fmla="*/ 500944 h 874716" name="connsiteY4"/>
                <a:gd fmla="*/ 6683915 w 6857455" name="connsiteX5"/>
                <a:gd fmla="*/ 507040 h 874716" name="connsiteY5"/>
                <a:gd fmla="*/ 6628860 w 6857455" name="connsiteX6"/>
                <a:gd fmla="*/ 495418 h 874716" name="connsiteY6"/>
                <a:gd fmla="*/ 6588662 w 6857455" name="connsiteX7"/>
                <a:gd fmla="*/ 487227 h 874716" name="connsiteY7"/>
                <a:gd fmla="*/ 6476074 w 6857455" name="connsiteX8"/>
                <a:gd fmla="*/ 511230 h 874716" name="connsiteY8"/>
                <a:gd fmla="*/ 6382345 w 6857455" name="connsiteX9"/>
                <a:gd fmla="*/ 534853 h 874716" name="connsiteY9"/>
                <a:gd fmla="*/ 6369391 w 6857455" name="connsiteX10"/>
                <a:gd fmla="*/ 531615 h 874716" name="connsiteY10"/>
                <a:gd fmla="*/ 6244799 w 6857455" name="connsiteX11"/>
                <a:gd fmla="*/ 512182 h 874716" name="connsiteY11"/>
                <a:gd fmla="*/ 6190315 w 6857455" name="connsiteX12"/>
                <a:gd fmla="*/ 485703 h 874716" name="connsiteY12"/>
                <a:gd fmla="*/ 6115446 w 6857455" name="connsiteX13"/>
                <a:gd fmla="*/ 462270 h 874716" name="connsiteY13"/>
                <a:gd fmla="*/ 6032194 w 6857455" name="connsiteX14"/>
                <a:gd fmla="*/ 434266 h 874716" name="connsiteY14"/>
                <a:gd fmla="*/ 5971042 w 6857455" name="connsiteX15"/>
                <a:gd fmla="*/ 420738 h 874716" name="connsiteY15"/>
                <a:gd fmla="*/ 5880933 w 6857455" name="connsiteX16"/>
                <a:gd fmla="*/ 430646 h 874716" name="connsiteY16"/>
                <a:gd fmla="*/ 5862452 w 6857455" name="connsiteX17"/>
                <a:gd fmla="*/ 438648 h 874716" name="connsiteY17"/>
                <a:gd fmla="*/ 5685283 w 6857455" name="connsiteX18"/>
                <a:gd fmla="*/ 498658 h 874716" name="connsiteY18"/>
                <a:gd fmla="*/ 5567169 w 6857455" name="connsiteX19"/>
                <a:gd fmla="*/ 499420 h 874716" name="connsiteY19"/>
                <a:gd fmla="*/ 5527923 w 6857455" name="connsiteX20"/>
                <a:gd fmla="*/ 490466 h 874716" name="connsiteY20"/>
                <a:gd fmla="*/ 5456292 w 6857455" name="connsiteX21"/>
                <a:gd fmla="*/ 450650 h 874716" name="connsiteY21"/>
                <a:gd fmla="*/ 5424670 w 6857455" name="connsiteX22"/>
                <a:gd fmla="*/ 444934 h 874716" name="connsiteY22"/>
                <a:gd fmla="*/ 5368662 w 6857455" name="connsiteX23"/>
                <a:gd fmla="*/ 441124 h 874716" name="connsiteY23"/>
                <a:gd fmla="*/ 5247118 w 6857455" name="connsiteX24"/>
                <a:gd fmla="*/ 444934 h 874716" name="connsiteY24"/>
                <a:gd fmla="*/ 5088617 w 6857455" name="connsiteX25"/>
                <a:gd fmla="*/ 428742 h 874716" name="connsiteY25"/>
                <a:gd fmla="*/ 5025750 w 6857455" name="connsiteX26"/>
                <a:gd fmla="*/ 433694 h 874716" name="connsiteY26"/>
                <a:gd fmla="*/ 4957930 w 6857455" name="connsiteX27"/>
                <a:gd fmla="*/ 442268 h 874716" name="connsiteY27"/>
                <a:gd fmla="*/ 4938116 w 6857455" name="connsiteX28"/>
                <a:gd fmla="*/ 441886 h 874716" name="connsiteY28"/>
                <a:gd fmla="*/ 4833910 w 6857455" name="connsiteX29"/>
                <a:gd fmla="*/ 421693 h 874716" name="connsiteY29"/>
                <a:gd fmla="*/ 4810095 w 6857455" name="connsiteX30"/>
                <a:gd fmla="*/ 408167 h 874716" name="connsiteY30"/>
                <a:gd fmla="*/ 4747991 w 6857455" name="connsiteX31"/>
                <a:gd fmla="*/ 413691 h 874716" name="connsiteY31"/>
                <a:gd fmla="*/ 4692745 w 6857455" name="connsiteX32"/>
                <a:gd fmla="*/ 435790 h 874716" name="connsiteY32"/>
                <a:gd fmla="*/ 4375933 w 6857455" name="connsiteX33"/>
                <a:gd fmla="*/ 483417 h 874716" name="connsiteY33"/>
                <a:gd fmla="*/ 4185426 w 6857455" name="connsiteX34"/>
                <a:gd fmla="*/ 484179 h 874716" name="connsiteY34"/>
                <a:gd fmla="*/ 4052072 w 6857455" name="connsiteX35"/>
                <a:gd fmla="*/ 505134 h 874716" name="connsiteY35"/>
                <a:gd fmla="*/ 4029973 w 6857455" name="connsiteX36"/>
                <a:gd fmla="*/ 527233 h 874716" name="connsiteY36"/>
                <a:gd fmla="*/ 3948626 w 6857455" name="connsiteX37"/>
                <a:gd fmla="*/ 550666 h 874716" name="connsiteY37"/>
                <a:gd fmla="*/ 3871280 w 6857455" name="connsiteX38"/>
                <a:gd fmla="*/ 502275 h 874716" name="connsiteY38"/>
                <a:gd fmla="*/ 3774312 w 6857455" name="connsiteX39"/>
                <a:gd fmla="*/ 429122 h 874716" name="connsiteY39"/>
                <a:gd fmla="*/ 3721543 w 6857455" name="connsiteX40"/>
                <a:gd fmla="*/ 428552 h 874716" name="connsiteY40"/>
                <a:gd fmla="*/ 3612763 w 6857455" name="connsiteX41"/>
                <a:gd fmla="*/ 414263 h 874716" name="connsiteY41"/>
                <a:gd fmla="*/ 3537323 w 6857455" name="connsiteX42"/>
                <a:gd fmla="*/ 389878 h 874716" name="connsiteY42"/>
                <a:gd fmla="*/ 3431593 w 6857455" name="connsiteX43"/>
                <a:gd fmla="*/ 360921 h 874716" name="connsiteY43"/>
                <a:gd fmla="*/ 3392158 w 6857455" name="connsiteX44"/>
                <a:gd fmla="*/ 345681 h 874716" name="connsiteY44"/>
                <a:gd fmla="*/ 3297856 w 6857455" name="connsiteX45"/>
                <a:gd fmla="*/ 323010 h 874716" name="connsiteY45"/>
                <a:gd fmla="*/ 3219748 w 6857455" name="connsiteX46"/>
                <a:gd fmla="*/ 308151 h 874716" name="connsiteY46"/>
                <a:gd fmla="*/ 3156692 w 6857455" name="connsiteX47"/>
                <a:gd fmla="*/ 261668 h 874716" name="connsiteY47"/>
                <a:gd fmla="*/ 3136497 w 6857455" name="connsiteX48"/>
                <a:gd fmla="*/ 237663 h 874716" name="connsiteY48"/>
                <a:gd fmla="*/ 3119733 w 6857455" name="connsiteX49"/>
                <a:gd fmla="*/ 222233 h 874716" name="connsiteY49"/>
                <a:gd fmla="*/ 3045436 w 6857455" name="connsiteX50"/>
                <a:gd fmla="*/ 131742 h 874716" name="connsiteY50"/>
                <a:gd fmla="*/ 3037054 w 6857455" name="connsiteX51"/>
                <a:gd fmla="*/ 124121 h 874716" name="connsiteY51"/>
                <a:gd fmla="*/ 2936466 w 6857455" name="connsiteX52"/>
                <a:gd fmla="*/ 82400 h 874716" name="connsiteY52"/>
                <a:gd fmla="*/ 2901031 w 6857455" name="connsiteX53"/>
                <a:gd fmla="*/ 59731 h 874716" name="connsiteY53"/>
                <a:gd fmla="*/ 2828259 w 6857455" name="connsiteX54"/>
                <a:gd fmla="*/ 3149 h 874716" name="connsiteY54"/>
                <a:gd fmla="*/ 2799492 w 6857455" name="connsiteX55"/>
                <a:gd fmla="*/ 1245 h 874716" name="connsiteY55"/>
                <a:gd fmla="*/ 2693570 w 6857455" name="connsiteX56"/>
                <a:gd fmla="*/ 35154 h 874716" name="connsiteY56"/>
                <a:gd fmla="*/ 2639847 w 6857455" name="connsiteX57"/>
                <a:gd fmla="*/ 73448 h 874716" name="connsiteY57"/>
                <a:gd fmla="*/ 2621178 w 6857455" name="connsiteX58"/>
                <a:gd fmla="*/ 88688 h 874716" name="connsiteY58"/>
                <a:gd fmla="*/ 2489348 w 6857455" name="connsiteX59"/>
                <a:gd fmla="*/ 72304 h 874716" name="connsiteY59"/>
                <a:gd fmla="*/ 2452580 w 6857455" name="connsiteX60"/>
                <a:gd fmla="*/ 68683 h 874716" name="connsiteY60"/>
                <a:gd fmla="*/ 2326464 w 6857455" name="connsiteX61"/>
                <a:gd fmla="*/ 50395 h 874716" name="connsiteY61"/>
                <a:gd fmla="*/ 2300365 w 6857455" name="connsiteX62"/>
                <a:gd fmla="*/ 54777 h 874716" name="connsiteY62"/>
                <a:gd fmla="*/ 2130434 w 6857455" name="connsiteX63"/>
                <a:gd fmla="*/ 58397 h 874716" name="connsiteY63"/>
                <a:gd fmla="*/ 2118621 w 6857455" name="connsiteX64"/>
                <a:gd fmla="*/ 47919 h 874716" name="connsiteY64"/>
                <a:gd fmla="*/ 2057659 w 6857455" name="connsiteX65"/>
                <a:gd fmla="*/ 16866 h 874716" name="connsiteY65"/>
                <a:gd fmla="*/ 1976314 w 6857455" name="connsiteX66"/>
                <a:gd fmla="*/ 8865 h 874716" name="connsiteY66"/>
                <a:gd fmla="*/ 1961454 w 6857455" name="connsiteX67"/>
                <a:gd fmla="*/ 11724 h 874716" name="connsiteY67"/>
                <a:gd fmla="*/ 1906588 w 6857455" name="connsiteX68"/>
                <a:gd fmla="*/ 30964 h 874716" name="connsiteY68"/>
                <a:gd fmla="*/ 1783330 w 6857455" name="connsiteX69"/>
                <a:gd fmla="*/ 48871 h 874716" name="connsiteY69"/>
                <a:gd fmla="*/ 1759327 w 6857455" name="connsiteX70"/>
                <a:gd fmla="*/ 55349 h 874716" name="connsiteY70"/>
                <a:gd fmla="*/ 1716082 w 6857455" name="connsiteX71"/>
                <a:gd fmla="*/ 65445 h 874716" name="connsiteY71"/>
                <a:gd fmla="*/ 1598920 w 6857455" name="connsiteX72"/>
                <a:gd fmla="*/ 72114 h 874716" name="connsiteY72"/>
                <a:gd fmla="*/ 1542150 w 6857455" name="connsiteX73"/>
                <a:gd fmla="*/ 62207 h 874716" name="connsiteY73"/>
                <a:gd fmla="*/ 1516813 w 6857455" name="connsiteX74"/>
                <a:gd fmla="*/ 62779 h 874716" name="connsiteY74"/>
                <a:gd fmla="*/ 1432228 w 6857455" name="connsiteX75"/>
                <a:gd fmla="*/ 88116 h 874716" name="connsiteY75"/>
                <a:gd fmla="*/ 1224765 w 6857455" name="connsiteX76"/>
                <a:gd fmla="*/ 71924 h 874716" name="connsiteY76"/>
                <a:gd fmla="*/ 1159231 w 6857455" name="connsiteX77"/>
                <a:gd fmla="*/ 58207 h 874716" name="connsiteY77"/>
                <a:gd fmla="*/ 1124370 w 6857455" name="connsiteX78"/>
                <a:gd fmla="*/ 56301 h 874716" name="connsiteY78"/>
                <a:gd fmla="*/ 1075600 w 6857455" name="connsiteX79"/>
                <a:gd fmla="*/ 75542 h 874716" name="connsiteY79"/>
                <a:gd fmla="*/ 986633 w 6857455" name="connsiteX80"/>
                <a:gd fmla="*/ 79162 h 874716" name="connsiteY80"/>
                <a:gd fmla="*/ 861089 w 6857455" name="connsiteX81"/>
                <a:gd fmla="*/ 76304 h 874716" name="connsiteY81"/>
                <a:gd fmla="*/ 759168 w 6857455" name="connsiteX82"/>
                <a:gd fmla="*/ 104689 h 874716" name="connsiteY82"/>
                <a:gd fmla="*/ 723735 w 6857455" name="connsiteX83"/>
                <a:gd fmla="*/ 140696 h 874716" name="connsiteY83"/>
                <a:gd fmla="*/ 647532 w 6857455" name="connsiteX84"/>
                <a:gd fmla="*/ 147934 h 874716" name="connsiteY84"/>
                <a:gd fmla="*/ 552659 w 6857455" name="connsiteX85"/>
                <a:gd fmla="*/ 95926 h 874716" name="connsiteY85"/>
                <a:gd fmla="*/ 541800 w 6857455" name="connsiteX86"/>
                <a:gd fmla="*/ 97640 h 874716" name="connsiteY86"/>
                <a:gd fmla="*/ 375107 w 6857455" name="connsiteX87"/>
                <a:gd fmla="*/ 123169 h 874716" name="connsiteY87"/>
                <a:gd fmla="*/ 273567 w 6857455" name="connsiteX88"/>
                <a:gd fmla="*/ 145458 h 874716" name="connsiteY88"/>
                <a:gd fmla="*/ 264043 w 6857455" name="connsiteX89"/>
                <a:gd fmla="*/ 154792 h 874716" name="connsiteY89"/>
                <a:gd fmla="*/ 169360 w 6857455" name="connsiteX90"/>
                <a:gd fmla="*/ 177273 h 874716" name="connsiteY90"/>
                <a:gd fmla="*/ 89347 w 6857455" name="connsiteX91"/>
                <a:gd fmla="*/ 157460 h 874716" name="connsiteY91"/>
                <a:gd fmla="*/ 34291 w 6857455" name="connsiteX92"/>
                <a:gd fmla="*/ 145268 h 874716" name="connsiteY92"/>
                <a:gd fmla="*/ 0 w 6857455" name="connsiteX93"/>
                <a:gd fmla="*/ 142056 h 874716" name="connsiteY93"/>
                <a:gd fmla="*/ 0 w 6857455" name="connsiteX94"/>
                <a:gd fmla="*/ 849556 h 874716" name="connsiteY94"/>
                <a:gd fmla="*/ 60652 w 6857455" name="connsiteX95"/>
                <a:gd fmla="*/ 844783 h 874716" name="connsiteY95"/>
                <a:gd fmla="*/ 119068 w 6857455" name="connsiteX96"/>
                <a:gd fmla="*/ 827281 h 874716" name="connsiteY96"/>
                <a:gd fmla="*/ 171840 w 6857455" name="connsiteX97"/>
                <a:gd fmla="*/ 804420 h 874716" name="connsiteY97"/>
                <a:gd fmla="*/ 274329 w 6857455" name="connsiteX98"/>
                <a:gd fmla="*/ 794324 h 874716" name="connsiteY98"/>
                <a:gd fmla="*/ 306715 w 6857455" name="connsiteX99"/>
                <a:gd fmla="*/ 788798 h 874716" name="connsiteY99"/>
                <a:gd fmla="*/ 393967 w 6857455" name="connsiteX100"/>
                <a:gd fmla="*/ 765937 h 874716" name="connsiteY100"/>
                <a:gd fmla="*/ 493793 w 6857455" name="connsiteX101"/>
                <a:gd fmla="*/ 725549 h 874716" name="connsiteY101"/>
                <a:gd fmla="*/ 546373 w 6857455" name="connsiteX102"/>
                <a:gd fmla="*/ 740600 h 874716" name="connsiteY102"/>
                <a:gd fmla="*/ 730211 w 6857455" name="connsiteX103"/>
                <a:gd fmla="*/ 698116 h 874716" name="connsiteY103"/>
                <a:gd fmla="*/ 784889 w 6857455" name="connsiteX104"/>
                <a:gd fmla="*/ 676018 h 874716" name="connsiteY104"/>
                <a:gd fmla="*/ 800509 w 6857455" name="connsiteX105"/>
                <a:gd fmla="*/ 661349 h 874716" name="connsiteY105"/>
                <a:gd fmla="*/ 857661 w 6857455" name="connsiteX106"/>
                <a:gd fmla="*/ 626868 h 874716" name="connsiteY106"/>
                <a:gd fmla="*/ 949102 w 6857455" name="connsiteX107"/>
                <a:gd fmla="*/ 614676 h 874716" name="connsiteY107"/>
                <a:gd fmla="*/ 960342 w 6857455" name="connsiteX108"/>
                <a:gd fmla="*/ 607435 h 874716" name="connsiteY108"/>
                <a:gd fmla="*/ 977109 w 6857455" name="connsiteX109"/>
                <a:gd fmla="*/ 595815 h 874716" name="connsiteY109"/>
                <a:gd fmla="*/ 1071218 w 6857455" name="connsiteX110"/>
                <a:gd fmla="*/ 575240 h 874716" name="connsiteY110"/>
                <a:gd fmla="*/ 1091983 w 6857455" name="connsiteX111"/>
                <a:gd fmla="*/ 568764 h 874716" name="connsiteY111"/>
                <a:gd fmla="*/ 1109321 w 6857455" name="connsiteX112"/>
                <a:gd fmla="*/ 557904 h 874716" name="connsiteY112"/>
                <a:gd fmla="*/ 1162279 w 6857455" name="connsiteX113"/>
                <a:gd fmla="*/ 532949 h 874716" name="connsiteY113"/>
                <a:gd fmla="*/ 1206097 w 6857455" name="connsiteX114"/>
                <a:gd fmla="*/ 532187 h 874716" name="connsiteY114"/>
                <a:gd fmla="*/ 1266867 w 6857455" name="connsiteX115"/>
                <a:gd fmla="*/ 518088 h 874716" name="connsiteY115"/>
                <a:gd fmla="*/ 1380219 w 6857455" name="connsiteX116"/>
                <a:gd fmla="*/ 504182 h 874716" name="connsiteY116"/>
                <a:gd fmla="*/ 1403461 w 6857455" name="connsiteX117"/>
                <a:gd fmla="*/ 496180 h 874716" name="connsiteY117"/>
                <a:gd fmla="*/ 1544054 w 6857455" name="connsiteX118"/>
                <a:gd fmla="*/ 458268 h 874716" name="connsiteY118"/>
                <a:gd fmla="*/ 1656644 w 6857455" name="connsiteX119"/>
                <a:gd fmla="*/ 459032 h 874716" name="connsiteY119"/>
                <a:gd fmla="*/ 1665406 w 6857455" name="connsiteX120"/>
                <a:gd fmla="*/ 460747 h 874716" name="connsiteY120"/>
                <a:gd fmla="*/ 1708461 w 6857455" name="connsiteX121"/>
                <a:gd fmla="*/ 473318 h 874716" name="connsiteY121"/>
                <a:gd fmla="*/ 1775140 w 6857455" name="connsiteX122"/>
                <a:gd fmla="*/ 469891 h 874716" name="connsiteY122"/>
                <a:gd fmla="*/ 1821051 w 6857455" name="connsiteX123"/>
                <a:gd fmla="*/ 452554 h 874716" name="connsiteY123"/>
                <a:gd fmla="*/ 1878203 w 6857455" name="connsiteX124"/>
                <a:gd fmla="*/ 451792 h 874716" name="connsiteY124"/>
                <a:gd fmla="*/ 1943547 w 6857455" name="connsiteX125"/>
                <a:gd fmla="*/ 462651 h 874716" name="connsiteY125"/>
                <a:gd fmla="*/ 1972884 w 6857455" name="connsiteX126"/>
                <a:gd fmla="*/ 464937 h 874716" name="connsiteY126"/>
                <a:gd fmla="*/ 2053469 w 6857455" name="connsiteX127"/>
                <a:gd fmla="*/ 487417 h 874716" name="connsiteY127"/>
                <a:gd fmla="*/ 2101477 w 6857455" name="connsiteX128"/>
                <a:gd fmla="*/ 481893 h 874716" name="connsiteY128"/>
                <a:gd fmla="*/ 2148722 w 6857455" name="connsiteX129"/>
                <a:gd fmla="*/ 467033 h 874716" name="connsiteY129"/>
                <a:gd fmla="*/ 2179011 w 6857455" name="connsiteX130"/>
                <a:gd fmla="*/ 452744 h 874716" name="connsiteY130"/>
                <a:gd fmla="*/ 2240165 w 6857455" name="connsiteX131"/>
                <a:gd fmla="*/ 442648 h 874716" name="connsiteY131"/>
                <a:gd fmla="*/ 2251404 w 6857455" name="connsiteX132"/>
                <a:gd fmla="*/ 444172 h 874716" name="connsiteY132"/>
                <a:gd fmla="*/ 2433912 w 6857455" name="connsiteX133"/>
                <a:gd fmla="*/ 456746 h 874716" name="connsiteY133"/>
                <a:gd fmla="*/ 2506302 w 6857455" name="connsiteX134"/>
                <a:gd fmla="*/ 476939 h 874716" name="connsiteY134"/>
                <a:gd fmla="*/ 2521735 w 6857455" name="connsiteX135"/>
                <a:gd fmla="*/ 479415 h 874716" name="connsiteY135"/>
                <a:gd fmla="*/ 2675854 w 6857455" name="connsiteX136"/>
                <a:gd fmla="*/ 502086 h 874716" name="connsiteY136"/>
                <a:gd fmla="*/ 2692998 w 6857455" name="connsiteX137"/>
                <a:gd fmla="*/ 503038 h 874716" name="connsiteY137"/>
                <a:gd fmla="*/ 2740816 w 6857455" name="connsiteX138"/>
                <a:gd fmla="*/ 499037 h 874716" name="connsiteY138"/>
                <a:gd fmla="*/ 2853596 w 6857455" name="connsiteX139"/>
                <a:gd fmla="*/ 540187 h 874716" name="connsiteY139"/>
                <a:gd fmla="*/ 2966565 w 6857455" name="connsiteX140"/>
                <a:gd fmla="*/ 554286 h 874716" name="connsiteY140"/>
                <a:gd fmla="*/ 3028671 w 6857455" name="connsiteX141"/>
                <a:gd fmla="*/ 554094 h 874716" name="connsiteY141"/>
                <a:gd fmla="*/ 3073059 w 6857455" name="connsiteX142"/>
                <a:gd fmla="*/ 564192 h 874716" name="connsiteY142"/>
                <a:gd fmla="*/ 3182219 w 6857455" name="connsiteX143"/>
                <a:gd fmla="*/ 594862 h 874716" name="connsiteY143"/>
                <a:gd fmla="*/ 3233656 w 6857455" name="connsiteX144"/>
                <a:gd fmla="*/ 599625 h 874716" name="connsiteY144"/>
                <a:gd fmla="*/ 3288332 w 6857455" name="connsiteX145"/>
                <a:gd fmla="*/ 609914 h 874716" name="connsiteY145"/>
                <a:gd fmla="*/ 3423591 w 6857455" name="connsiteX146"/>
                <a:gd fmla="*/ 656015 h 874716" name="connsiteY146"/>
                <a:gd fmla="*/ 3534084 w 6857455" name="connsiteX147"/>
                <a:gd fmla="*/ 653349 h 874716" name="connsiteY147"/>
                <a:gd fmla="*/ 3604571 w 6857455" name="connsiteX148"/>
                <a:gd fmla="*/ 653918 h 874716" name="connsiteY148"/>
                <a:gd fmla="*/ 3688586 w 6857455" name="connsiteX149"/>
                <a:gd fmla="*/ 669160 h 874716" name="connsiteY149"/>
                <a:gd fmla="*/ 3757358 w 6857455" name="connsiteX150"/>
                <a:gd fmla="*/ 691450 h 874716" name="connsiteY150"/>
                <a:gd fmla="*/ 3852421 w 6857455" name="connsiteX151"/>
                <a:gd fmla="*/ 709167 h 874716" name="connsiteY151"/>
                <a:gd fmla="*/ 3947104 w 6857455" name="connsiteX152"/>
                <a:gd fmla="*/ 743267 h 874716" name="connsiteY152"/>
                <a:gd fmla="*/ 4013208 w 6857455" name="connsiteX153"/>
                <a:gd fmla="*/ 769367 h 874716" name="connsiteY153"/>
                <a:gd fmla="*/ 4105222 w 6857455" name="connsiteX154"/>
                <a:gd fmla="*/ 792418 h 874716" name="connsiteY154"/>
                <a:gd fmla="*/ 4246006 w 6857455" name="connsiteX155"/>
                <a:gd fmla="*/ 808610 h 874716" name="connsiteY155"/>
                <a:gd fmla="*/ 4310779 w 6857455" name="connsiteX156"/>
                <a:gd fmla="*/ 810326 h 874716" name="connsiteY156"/>
                <a:gd fmla="*/ 4413272 w 6857455" name="connsiteX157"/>
                <a:gd fmla="*/ 848235 h 874716" name="connsiteY157"/>
                <a:gd fmla="*/ 4457087 w 6857455" name="connsiteX158"/>
                <a:gd fmla="*/ 866524 h 874716" name="connsiteY158"/>
                <a:gd fmla="*/ 4496523 w 6857455" name="connsiteX159"/>
                <a:gd fmla="*/ 851284 h 874716" name="connsiteY159"/>
                <a:gd fmla="*/ 4522050 w 6857455" name="connsiteX160"/>
                <a:gd fmla="*/ 833757 h 874716" name="connsiteY160"/>
                <a:gd fmla="*/ 4602824 w 6857455" name="connsiteX161"/>
                <a:gd fmla="*/ 848618 h 874716" name="connsiteY161"/>
                <a:gd fmla="*/ 4688553 w 6857455" name="connsiteX162"/>
                <a:gd fmla="*/ 864238 h 874716" name="connsiteY162"/>
                <a:gd fmla="*/ 4749895 w 6857455" name="connsiteX163"/>
                <a:gd fmla="*/ 874716 h 874716" name="connsiteY163"/>
                <a:gd fmla="*/ 4826480 w 6857455" name="connsiteX164"/>
                <a:gd fmla="*/ 866334 h 874716" name="connsiteY164"/>
                <a:gd fmla="*/ 4886870 w 6857455" name="connsiteX165"/>
                <a:gd fmla="*/ 862906 h 874716" name="connsiteY165"/>
                <a:gd fmla="*/ 4935639 w 6857455" name="connsiteX166"/>
                <a:gd fmla="*/ 853190 h 874716" name="connsiteY166"/>
                <a:gd fmla="*/ 4952784 w 6857455" name="connsiteX167"/>
                <a:gd fmla="*/ 847473 h 874716" name="connsiteY167"/>
                <a:gd fmla="*/ 5088617 w 6857455" name="connsiteX168"/>
                <a:gd fmla="*/ 802896 h 874716" name="connsiteY168"/>
                <a:gd fmla="*/ 5233781 w 6857455" name="connsiteX169"/>
                <a:gd fmla="*/ 767271 h 874716" name="connsiteY169"/>
                <a:gd fmla="*/ 5327893 w 6857455" name="connsiteX170"/>
                <a:gd fmla="*/ 789752 h 874716" name="connsiteY170"/>
                <a:gd fmla="*/ 5362946 w 6857455" name="connsiteX171"/>
                <a:gd fmla="*/ 789370 h 874716" name="connsiteY171"/>
                <a:gd fmla="*/ 5524115 w 6857455" name="connsiteX172"/>
                <a:gd fmla="*/ 794514 h 874716" name="connsiteY172"/>
                <a:gd fmla="*/ 5552500 w 6857455" name="connsiteX173"/>
                <a:gd fmla="*/ 800038 h 874716" name="connsiteY173"/>
                <a:gd fmla="*/ 5705857 w 6857455" name="connsiteX174"/>
                <a:gd fmla="*/ 777367 h 874716" name="connsiteY174"/>
                <a:gd fmla="*/ 5761485 w 6857455" name="connsiteX175"/>
                <a:gd fmla="*/ 773557 h 874716" name="connsiteY175"/>
                <a:gd fmla="*/ 5812731 w 6857455" name="connsiteX176"/>
                <a:gd fmla="*/ 767271 h 874716" name="connsiteY176"/>
                <a:gd fmla="*/ 5884361 w 6857455" name="connsiteX177"/>
                <a:gd fmla="*/ 765747 h 874716" name="connsiteY177"/>
                <a:gd fmla="*/ 5958660 w 6857455" name="connsiteX178"/>
                <a:gd fmla="*/ 768605 h 874716" name="connsiteY178"/>
                <a:gd fmla="*/ 6041528 w 6857455" name="connsiteX179"/>
                <a:gd fmla="*/ 768033 h 874716" name="connsiteY179"/>
                <a:gd fmla="*/ 6074297 w 6857455" name="connsiteX180"/>
                <a:gd fmla="*/ 763081 h 874716" name="connsiteY180"/>
                <a:gd fmla="*/ 6162880 w 6857455" name="connsiteX181"/>
                <a:gd fmla="*/ 766509 h 874716" name="connsiteY181"/>
                <a:gd fmla="*/ 6209364 w 6857455" name="connsiteX182"/>
                <a:gd fmla="*/ 760795 h 874716" name="connsiteY182"/>
                <a:gd fmla="*/ 6285948 w 6857455" name="connsiteX183"/>
                <a:gd fmla="*/ 759651 h 874716" name="connsiteY183"/>
                <a:gd fmla="*/ 6310905 w 6857455" name="connsiteX184"/>
                <a:gd fmla="*/ 758316 h 874716" name="connsiteY184"/>
                <a:gd fmla="*/ 6333194 w 6857455" name="connsiteX185"/>
                <a:gd fmla="*/ 757554 h 874716" name="connsiteY185"/>
                <a:gd fmla="*/ 6409586 w 6857455" name="connsiteX186"/>
                <a:gd fmla="*/ 773177 h 874716" name="connsiteY186"/>
                <a:gd fmla="*/ 6477407 w 6857455" name="connsiteX187"/>
                <a:gd fmla="*/ 774129 h 874716" name="connsiteY187"/>
                <a:gd fmla="*/ 6596283 w 6857455" name="connsiteX188"/>
                <a:gd fmla="*/ 786703 h 874716" name="connsiteY188"/>
                <a:gd fmla="*/ 6622573 w 6857455" name="connsiteX189"/>
                <a:gd fmla="*/ 782321 h 874716" name="connsiteY189"/>
                <a:gd fmla="*/ 6704872 w 6857455" name="connsiteX190"/>
                <a:gd fmla="*/ 780607 h 874716" name="connsiteY190"/>
                <a:gd fmla="*/ 6751738 w 6857455" name="connsiteX191"/>
                <a:gd fmla="*/ 779273 h 874716" name="connsiteY191"/>
                <a:gd fmla="*/ 6809650 w 6857455" name="connsiteX192"/>
                <a:gd fmla="*/ 788417 h 874716" name="connsiteY192"/>
                <a:gd fmla="*/ 6832976 w 6857455" name="connsiteX193"/>
                <a:gd fmla="*/ 800428 h 874716" name="connsiteY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b="b" l="l" r="r" t="t"/>
              <a:pathLst>
                <a:path h="874716" w="6857455">
                  <a:moveTo>
                    <a:pt x="6857455" y="804643"/>
                  </a:moveTo>
                  <a:lnTo>
                    <a:pt x="6857455" y="562246"/>
                  </a:lnTo>
                  <a:lnTo>
                    <a:pt x="6829178" y="551284"/>
                  </a:lnTo>
                  <a:cubicBezTo>
                    <a:pt x="6805745" y="539044"/>
                    <a:pt x="6784885" y="521708"/>
                    <a:pt x="6766024" y="500372"/>
                  </a:cubicBezTo>
                  <a:cubicBezTo>
                    <a:pt x="6755166" y="488179"/>
                    <a:pt x="6746784" y="486845"/>
                    <a:pt x="6734971" y="500944"/>
                  </a:cubicBezTo>
                  <a:cubicBezTo>
                    <a:pt x="6721257" y="517326"/>
                    <a:pt x="6701634" y="510850"/>
                    <a:pt x="6683915" y="507040"/>
                  </a:cubicBezTo>
                  <a:cubicBezTo>
                    <a:pt x="6665629" y="503230"/>
                    <a:pt x="6647148" y="499228"/>
                    <a:pt x="6628860" y="495418"/>
                  </a:cubicBezTo>
                  <a:cubicBezTo>
                    <a:pt x="6615335" y="492752"/>
                    <a:pt x="6601999" y="490466"/>
                    <a:pt x="6588662" y="487227"/>
                  </a:cubicBezTo>
                  <a:cubicBezTo>
                    <a:pt x="6547133" y="477129"/>
                    <a:pt x="6509794" y="480177"/>
                    <a:pt x="6476074" y="511230"/>
                  </a:cubicBezTo>
                  <a:cubicBezTo>
                    <a:pt x="6450356" y="535043"/>
                    <a:pt x="6417399" y="542093"/>
                    <a:pt x="6382345" y="534853"/>
                  </a:cubicBezTo>
                  <a:cubicBezTo>
                    <a:pt x="6377963" y="533901"/>
                    <a:pt x="6372439" y="530091"/>
                    <a:pt x="6369391" y="531615"/>
                  </a:cubicBezTo>
                  <a:cubicBezTo>
                    <a:pt x="6323479" y="553904"/>
                    <a:pt x="6287092" y="514658"/>
                    <a:pt x="6244799" y="512182"/>
                  </a:cubicBezTo>
                  <a:cubicBezTo>
                    <a:pt x="6226130" y="511040"/>
                    <a:pt x="6207079" y="496942"/>
                    <a:pt x="6190315" y="485703"/>
                  </a:cubicBezTo>
                  <a:cubicBezTo>
                    <a:pt x="6167262" y="470271"/>
                    <a:pt x="6146687" y="455412"/>
                    <a:pt x="6115446" y="462270"/>
                  </a:cubicBezTo>
                  <a:cubicBezTo>
                    <a:pt x="6084203" y="469319"/>
                    <a:pt x="6055627" y="456364"/>
                    <a:pt x="6032194" y="434266"/>
                  </a:cubicBezTo>
                  <a:cubicBezTo>
                    <a:pt x="6014287" y="417501"/>
                    <a:pt x="5994665" y="415977"/>
                    <a:pt x="5971042" y="420738"/>
                  </a:cubicBezTo>
                  <a:cubicBezTo>
                    <a:pt x="5941513" y="426645"/>
                    <a:pt x="5910842" y="427027"/>
                    <a:pt x="5880933" y="430646"/>
                  </a:cubicBezTo>
                  <a:cubicBezTo>
                    <a:pt x="5874454" y="431408"/>
                    <a:pt x="5866265" y="434076"/>
                    <a:pt x="5862452" y="438648"/>
                  </a:cubicBezTo>
                  <a:cubicBezTo>
                    <a:pt x="5815779" y="495418"/>
                    <a:pt x="5750055" y="495990"/>
                    <a:pt x="5685283" y="498658"/>
                  </a:cubicBezTo>
                  <a:cubicBezTo>
                    <a:pt x="5646039" y="500372"/>
                    <a:pt x="5606604" y="500372"/>
                    <a:pt x="5567169" y="499420"/>
                  </a:cubicBezTo>
                  <a:cubicBezTo>
                    <a:pt x="5553832" y="499228"/>
                    <a:pt x="5539736" y="496180"/>
                    <a:pt x="5527923" y="490466"/>
                  </a:cubicBezTo>
                  <a:cubicBezTo>
                    <a:pt x="5503348" y="478463"/>
                    <a:pt x="5480680" y="462843"/>
                    <a:pt x="5456292" y="450650"/>
                  </a:cubicBezTo>
                  <a:cubicBezTo>
                    <a:pt x="5447151" y="445886"/>
                    <a:pt x="5435338" y="445696"/>
                    <a:pt x="5424670" y="444934"/>
                  </a:cubicBezTo>
                  <a:cubicBezTo>
                    <a:pt x="5405809" y="443410"/>
                    <a:pt x="5384854" y="447982"/>
                    <a:pt x="5368662" y="441124"/>
                  </a:cubicBezTo>
                  <a:cubicBezTo>
                    <a:pt x="5326559" y="423407"/>
                    <a:pt x="5287123" y="427407"/>
                    <a:pt x="5247118" y="444934"/>
                  </a:cubicBezTo>
                  <a:cubicBezTo>
                    <a:pt x="5191108" y="469509"/>
                    <a:pt x="5138148" y="467605"/>
                    <a:pt x="5088617" y="428742"/>
                  </a:cubicBezTo>
                  <a:cubicBezTo>
                    <a:pt x="5066328" y="411215"/>
                    <a:pt x="5044609" y="419596"/>
                    <a:pt x="5025750" y="433694"/>
                  </a:cubicBezTo>
                  <a:cubicBezTo>
                    <a:pt x="5004032" y="450078"/>
                    <a:pt x="4982885" y="454268"/>
                    <a:pt x="4957930" y="442268"/>
                  </a:cubicBezTo>
                  <a:cubicBezTo>
                    <a:pt x="4952404" y="439600"/>
                    <a:pt x="4944594" y="440933"/>
                    <a:pt x="4938116" y="441886"/>
                  </a:cubicBezTo>
                  <a:cubicBezTo>
                    <a:pt x="4901158" y="446648"/>
                    <a:pt x="4864009" y="454650"/>
                    <a:pt x="4833910" y="421693"/>
                  </a:cubicBezTo>
                  <a:cubicBezTo>
                    <a:pt x="4828004" y="415214"/>
                    <a:pt x="4818097" y="412549"/>
                    <a:pt x="4810095" y="408167"/>
                  </a:cubicBezTo>
                  <a:cubicBezTo>
                    <a:pt x="4776566" y="390258"/>
                    <a:pt x="4777900" y="391974"/>
                    <a:pt x="4747991" y="413691"/>
                  </a:cubicBezTo>
                  <a:cubicBezTo>
                    <a:pt x="4732369" y="425121"/>
                    <a:pt x="4710842" y="436742"/>
                    <a:pt x="4692745" y="435790"/>
                  </a:cubicBezTo>
                  <a:cubicBezTo>
                    <a:pt x="4583584" y="430075"/>
                    <a:pt x="4479758" y="457508"/>
                    <a:pt x="4375933" y="483417"/>
                  </a:cubicBezTo>
                  <a:cubicBezTo>
                    <a:pt x="4311923" y="499420"/>
                    <a:pt x="4249436" y="500372"/>
                    <a:pt x="4185426" y="484179"/>
                  </a:cubicBezTo>
                  <a:cubicBezTo>
                    <a:pt x="4139133" y="472367"/>
                    <a:pt x="4095315" y="491800"/>
                    <a:pt x="4052072" y="505134"/>
                  </a:cubicBezTo>
                  <a:cubicBezTo>
                    <a:pt x="4043117" y="507799"/>
                    <a:pt x="4034735" y="518278"/>
                    <a:pt x="4029973" y="527233"/>
                  </a:cubicBezTo>
                  <a:cubicBezTo>
                    <a:pt x="4012826" y="558858"/>
                    <a:pt x="3984441" y="563810"/>
                    <a:pt x="3948626" y="550666"/>
                  </a:cubicBezTo>
                  <a:cubicBezTo>
                    <a:pt x="3920241" y="540377"/>
                    <a:pt x="3894332" y="526661"/>
                    <a:pt x="3871280" y="502275"/>
                  </a:cubicBezTo>
                  <a:cubicBezTo>
                    <a:pt x="3844229" y="473701"/>
                    <a:pt x="3816224" y="441124"/>
                    <a:pt x="3774312" y="429122"/>
                  </a:cubicBezTo>
                  <a:cubicBezTo>
                    <a:pt x="3756214" y="423979"/>
                    <a:pt x="3740593" y="423217"/>
                    <a:pt x="3721543" y="428552"/>
                  </a:cubicBezTo>
                  <a:cubicBezTo>
                    <a:pt x="3684583" y="438837"/>
                    <a:pt x="3647436" y="446078"/>
                    <a:pt x="3612763" y="414263"/>
                  </a:cubicBezTo>
                  <a:cubicBezTo>
                    <a:pt x="3593712" y="396736"/>
                    <a:pt x="3567994" y="385496"/>
                    <a:pt x="3537323" y="389878"/>
                  </a:cubicBezTo>
                  <a:cubicBezTo>
                    <a:pt x="3499031" y="395402"/>
                    <a:pt x="3464168" y="381496"/>
                    <a:pt x="3431593" y="360921"/>
                  </a:cubicBezTo>
                  <a:cubicBezTo>
                    <a:pt x="3419971" y="353491"/>
                    <a:pt x="3405682" y="349301"/>
                    <a:pt x="3392158" y="345681"/>
                  </a:cubicBezTo>
                  <a:cubicBezTo>
                    <a:pt x="3360915" y="337298"/>
                    <a:pt x="3329480" y="329868"/>
                    <a:pt x="3297856" y="323010"/>
                  </a:cubicBezTo>
                  <a:cubicBezTo>
                    <a:pt x="3271948" y="317296"/>
                    <a:pt x="3245849" y="313104"/>
                    <a:pt x="3219748" y="308151"/>
                  </a:cubicBezTo>
                  <a:cubicBezTo>
                    <a:pt x="3191173" y="302817"/>
                    <a:pt x="3168502" y="290433"/>
                    <a:pt x="3156692" y="261668"/>
                  </a:cubicBezTo>
                  <a:cubicBezTo>
                    <a:pt x="3152882" y="252524"/>
                    <a:pt x="3143737" y="245283"/>
                    <a:pt x="3136497" y="237663"/>
                  </a:cubicBezTo>
                  <a:cubicBezTo>
                    <a:pt x="3131355" y="232139"/>
                    <a:pt x="3124495" y="227947"/>
                    <a:pt x="3119733" y="222233"/>
                  </a:cubicBezTo>
                  <a:cubicBezTo>
                    <a:pt x="3094776" y="192132"/>
                    <a:pt x="3070201" y="161843"/>
                    <a:pt x="3045436" y="131742"/>
                  </a:cubicBezTo>
                  <a:cubicBezTo>
                    <a:pt x="3042958" y="128884"/>
                    <a:pt x="3040292" y="125455"/>
                    <a:pt x="3037054" y="124121"/>
                  </a:cubicBezTo>
                  <a:cubicBezTo>
                    <a:pt x="3003525" y="110215"/>
                    <a:pt x="2969614" y="97070"/>
                    <a:pt x="2936466" y="82400"/>
                  </a:cubicBezTo>
                  <a:cubicBezTo>
                    <a:pt x="2923702" y="76686"/>
                    <a:pt x="2910558" y="69637"/>
                    <a:pt x="2901031" y="59731"/>
                  </a:cubicBezTo>
                  <a:cubicBezTo>
                    <a:pt x="2879314" y="37250"/>
                    <a:pt x="2859502" y="12866"/>
                    <a:pt x="2828259" y="3149"/>
                  </a:cubicBezTo>
                  <a:cubicBezTo>
                    <a:pt x="2819114" y="293"/>
                    <a:pt x="2808256" y="-1231"/>
                    <a:pt x="2799492" y="1245"/>
                  </a:cubicBezTo>
                  <a:cubicBezTo>
                    <a:pt x="2763867" y="11532"/>
                    <a:pt x="2729005" y="24296"/>
                    <a:pt x="2693570" y="35154"/>
                  </a:cubicBezTo>
                  <a:cubicBezTo>
                    <a:pt x="2671092" y="41823"/>
                    <a:pt x="2650707" y="49825"/>
                    <a:pt x="2639847" y="73448"/>
                  </a:cubicBezTo>
                  <a:cubicBezTo>
                    <a:pt x="2636801" y="80114"/>
                    <a:pt x="2628226" y="87354"/>
                    <a:pt x="2621178" y="88688"/>
                  </a:cubicBezTo>
                  <a:cubicBezTo>
                    <a:pt x="2575839" y="97260"/>
                    <a:pt x="2531069" y="101451"/>
                    <a:pt x="2489348" y="72304"/>
                  </a:cubicBezTo>
                  <a:cubicBezTo>
                    <a:pt x="2480585" y="66017"/>
                    <a:pt x="2464201" y="66017"/>
                    <a:pt x="2452580" y="68683"/>
                  </a:cubicBezTo>
                  <a:cubicBezTo>
                    <a:pt x="2407811" y="78590"/>
                    <a:pt x="2365328" y="82020"/>
                    <a:pt x="2326464" y="50395"/>
                  </a:cubicBezTo>
                  <a:cubicBezTo>
                    <a:pt x="2321892" y="46585"/>
                    <a:pt x="2307224" y="50015"/>
                    <a:pt x="2300365" y="54777"/>
                  </a:cubicBezTo>
                  <a:cubicBezTo>
                    <a:pt x="2234259" y="101261"/>
                    <a:pt x="2198064" y="102405"/>
                    <a:pt x="2130434" y="58397"/>
                  </a:cubicBezTo>
                  <a:cubicBezTo>
                    <a:pt x="2126052" y="55539"/>
                    <a:pt x="2120337" y="52301"/>
                    <a:pt x="2118621" y="47919"/>
                  </a:cubicBezTo>
                  <a:cubicBezTo>
                    <a:pt x="2107001" y="19914"/>
                    <a:pt x="2082236" y="19152"/>
                    <a:pt x="2057659" y="16866"/>
                  </a:cubicBezTo>
                  <a:cubicBezTo>
                    <a:pt x="2030608" y="14390"/>
                    <a:pt x="2003555" y="11152"/>
                    <a:pt x="1976314" y="8865"/>
                  </a:cubicBezTo>
                  <a:cubicBezTo>
                    <a:pt x="1971550" y="8483"/>
                    <a:pt x="1966216" y="10007"/>
                    <a:pt x="1961454" y="11724"/>
                  </a:cubicBezTo>
                  <a:cubicBezTo>
                    <a:pt x="1943165" y="18010"/>
                    <a:pt x="1925449" y="27154"/>
                    <a:pt x="1906588" y="30964"/>
                  </a:cubicBezTo>
                  <a:cubicBezTo>
                    <a:pt x="1865821" y="39156"/>
                    <a:pt x="1826385" y="55539"/>
                    <a:pt x="1783330" y="48871"/>
                  </a:cubicBezTo>
                  <a:cubicBezTo>
                    <a:pt x="1775902" y="47729"/>
                    <a:pt x="1767327" y="53253"/>
                    <a:pt x="1759327" y="55349"/>
                  </a:cubicBezTo>
                  <a:cubicBezTo>
                    <a:pt x="1744849" y="58969"/>
                    <a:pt x="1730750" y="64111"/>
                    <a:pt x="1716082" y="65445"/>
                  </a:cubicBezTo>
                  <a:cubicBezTo>
                    <a:pt x="1677218" y="68875"/>
                    <a:pt x="1637975" y="71924"/>
                    <a:pt x="1598920" y="72114"/>
                  </a:cubicBezTo>
                  <a:cubicBezTo>
                    <a:pt x="1580061" y="72304"/>
                    <a:pt x="1561201" y="65065"/>
                    <a:pt x="1542150" y="62207"/>
                  </a:cubicBezTo>
                  <a:cubicBezTo>
                    <a:pt x="1533578" y="60873"/>
                    <a:pt x="1519669" y="58587"/>
                    <a:pt x="1516813" y="62779"/>
                  </a:cubicBezTo>
                  <a:cubicBezTo>
                    <a:pt x="1494714" y="94592"/>
                    <a:pt x="1463661" y="88496"/>
                    <a:pt x="1432228" y="88116"/>
                  </a:cubicBezTo>
                  <a:cubicBezTo>
                    <a:pt x="1362884" y="87354"/>
                    <a:pt x="1295826" y="60493"/>
                    <a:pt x="1224765" y="71924"/>
                  </a:cubicBezTo>
                  <a:cubicBezTo>
                    <a:pt x="1204191" y="75162"/>
                    <a:pt x="1181330" y="62397"/>
                    <a:pt x="1159231" y="58207"/>
                  </a:cubicBezTo>
                  <a:cubicBezTo>
                    <a:pt x="1147801" y="56111"/>
                    <a:pt x="1135228" y="53633"/>
                    <a:pt x="1124370" y="56301"/>
                  </a:cubicBezTo>
                  <a:cubicBezTo>
                    <a:pt x="1107605" y="60493"/>
                    <a:pt x="1091411" y="68113"/>
                    <a:pt x="1075600" y="75542"/>
                  </a:cubicBezTo>
                  <a:cubicBezTo>
                    <a:pt x="1046261" y="89258"/>
                    <a:pt x="1016162" y="89258"/>
                    <a:pt x="986633" y="79162"/>
                  </a:cubicBezTo>
                  <a:cubicBezTo>
                    <a:pt x="944722" y="64873"/>
                    <a:pt x="903193" y="64873"/>
                    <a:pt x="861089" y="76304"/>
                  </a:cubicBezTo>
                  <a:cubicBezTo>
                    <a:pt x="826990" y="85638"/>
                    <a:pt x="791935" y="92116"/>
                    <a:pt x="759168" y="104689"/>
                  </a:cubicBezTo>
                  <a:cubicBezTo>
                    <a:pt x="744689" y="110215"/>
                    <a:pt x="732497" y="126597"/>
                    <a:pt x="723735" y="140696"/>
                  </a:cubicBezTo>
                  <a:cubicBezTo>
                    <a:pt x="706018" y="169271"/>
                    <a:pt x="674013" y="169081"/>
                    <a:pt x="647532" y="147934"/>
                  </a:cubicBezTo>
                  <a:cubicBezTo>
                    <a:pt x="619717" y="125645"/>
                    <a:pt x="584664" y="112501"/>
                    <a:pt x="552659" y="95926"/>
                  </a:cubicBezTo>
                  <a:cubicBezTo>
                    <a:pt x="549993" y="94592"/>
                    <a:pt x="545039" y="96116"/>
                    <a:pt x="541800" y="97640"/>
                  </a:cubicBezTo>
                  <a:cubicBezTo>
                    <a:pt x="488649" y="122407"/>
                    <a:pt x="433593" y="126979"/>
                    <a:pt x="375107" y="123169"/>
                  </a:cubicBezTo>
                  <a:cubicBezTo>
                    <a:pt x="341960" y="121073"/>
                    <a:pt x="307289" y="137076"/>
                    <a:pt x="273567" y="145458"/>
                  </a:cubicBezTo>
                  <a:cubicBezTo>
                    <a:pt x="269757" y="146410"/>
                    <a:pt x="266519" y="151174"/>
                    <a:pt x="264043" y="154792"/>
                  </a:cubicBezTo>
                  <a:cubicBezTo>
                    <a:pt x="240228" y="190800"/>
                    <a:pt x="208223" y="200706"/>
                    <a:pt x="169360" y="177273"/>
                  </a:cubicBezTo>
                  <a:cubicBezTo>
                    <a:pt x="143643" y="161651"/>
                    <a:pt x="118114" y="158032"/>
                    <a:pt x="89347" y="157460"/>
                  </a:cubicBezTo>
                  <a:cubicBezTo>
                    <a:pt x="71059" y="157078"/>
                    <a:pt x="52962" y="147934"/>
                    <a:pt x="34291" y="145268"/>
                  </a:cubicBezTo>
                  <a:lnTo>
                    <a:pt x="0" y="142056"/>
                  </a:lnTo>
                  <a:lnTo>
                    <a:pt x="0" y="849556"/>
                  </a:lnTo>
                  <a:lnTo>
                    <a:pt x="60652" y="844783"/>
                  </a:lnTo>
                  <a:cubicBezTo>
                    <a:pt x="80251" y="839473"/>
                    <a:pt x="99446" y="832043"/>
                    <a:pt x="119068" y="827281"/>
                  </a:cubicBezTo>
                  <a:cubicBezTo>
                    <a:pt x="137355" y="822899"/>
                    <a:pt x="154501" y="812802"/>
                    <a:pt x="171840" y="804420"/>
                  </a:cubicBezTo>
                  <a:cubicBezTo>
                    <a:pt x="204985" y="788417"/>
                    <a:pt x="240420" y="798514"/>
                    <a:pt x="274329" y="794324"/>
                  </a:cubicBezTo>
                  <a:cubicBezTo>
                    <a:pt x="285188" y="792990"/>
                    <a:pt x="296046" y="791466"/>
                    <a:pt x="306715" y="788798"/>
                  </a:cubicBezTo>
                  <a:cubicBezTo>
                    <a:pt x="335864" y="781749"/>
                    <a:pt x="365583" y="775653"/>
                    <a:pt x="393967" y="765937"/>
                  </a:cubicBezTo>
                  <a:cubicBezTo>
                    <a:pt x="426165" y="755078"/>
                    <a:pt x="457028" y="740600"/>
                    <a:pt x="493793" y="725549"/>
                  </a:cubicBezTo>
                  <a:cubicBezTo>
                    <a:pt x="506557" y="729360"/>
                    <a:pt x="526180" y="739648"/>
                    <a:pt x="546373" y="740600"/>
                  </a:cubicBezTo>
                  <a:cubicBezTo>
                    <a:pt x="611337" y="743838"/>
                    <a:pt x="672107" y="726121"/>
                    <a:pt x="730211" y="698116"/>
                  </a:cubicBezTo>
                  <a:cubicBezTo>
                    <a:pt x="747927" y="689734"/>
                    <a:pt x="766980" y="684210"/>
                    <a:pt x="784889" y="676018"/>
                  </a:cubicBezTo>
                  <a:cubicBezTo>
                    <a:pt x="791173" y="673161"/>
                    <a:pt x="799365" y="667065"/>
                    <a:pt x="800509" y="661349"/>
                  </a:cubicBezTo>
                  <a:cubicBezTo>
                    <a:pt x="807175" y="628201"/>
                    <a:pt x="831942" y="628772"/>
                    <a:pt x="857661" y="626868"/>
                  </a:cubicBezTo>
                  <a:cubicBezTo>
                    <a:pt x="888332" y="624582"/>
                    <a:pt x="918621" y="619248"/>
                    <a:pt x="949102" y="614676"/>
                  </a:cubicBezTo>
                  <a:cubicBezTo>
                    <a:pt x="953104" y="614104"/>
                    <a:pt x="956722" y="610104"/>
                    <a:pt x="960342" y="607435"/>
                  </a:cubicBezTo>
                  <a:cubicBezTo>
                    <a:pt x="965867" y="603435"/>
                    <a:pt x="971011" y="597339"/>
                    <a:pt x="977109" y="595815"/>
                  </a:cubicBezTo>
                  <a:cubicBezTo>
                    <a:pt x="1008350" y="588385"/>
                    <a:pt x="1039783" y="582099"/>
                    <a:pt x="1071218" y="575240"/>
                  </a:cubicBezTo>
                  <a:cubicBezTo>
                    <a:pt x="1078266" y="573716"/>
                    <a:pt x="1085505" y="571812"/>
                    <a:pt x="1091983" y="568764"/>
                  </a:cubicBezTo>
                  <a:cubicBezTo>
                    <a:pt x="1098079" y="565906"/>
                    <a:pt x="1103223" y="560952"/>
                    <a:pt x="1109321" y="557904"/>
                  </a:cubicBezTo>
                  <a:cubicBezTo>
                    <a:pt x="1125892" y="549714"/>
                    <a:pt x="1142851" y="542093"/>
                    <a:pt x="1162279" y="532949"/>
                  </a:cubicBezTo>
                  <a:cubicBezTo>
                    <a:pt x="1173138" y="550094"/>
                    <a:pt x="1187810" y="540377"/>
                    <a:pt x="1206097" y="532187"/>
                  </a:cubicBezTo>
                  <a:cubicBezTo>
                    <a:pt x="1224765" y="523805"/>
                    <a:pt x="1246292" y="521137"/>
                    <a:pt x="1266867" y="518088"/>
                  </a:cubicBezTo>
                  <a:cubicBezTo>
                    <a:pt x="1304588" y="512564"/>
                    <a:pt x="1342499" y="509134"/>
                    <a:pt x="1380219" y="504182"/>
                  </a:cubicBezTo>
                  <a:cubicBezTo>
                    <a:pt x="1388221" y="503038"/>
                    <a:pt x="1397365" y="500944"/>
                    <a:pt x="1403461" y="496180"/>
                  </a:cubicBezTo>
                  <a:cubicBezTo>
                    <a:pt x="1445181" y="464175"/>
                    <a:pt x="1495858" y="455222"/>
                    <a:pt x="1544054" y="458268"/>
                  </a:cubicBezTo>
                  <a:cubicBezTo>
                    <a:pt x="1581965" y="460557"/>
                    <a:pt x="1619114" y="462270"/>
                    <a:pt x="1656644" y="459032"/>
                  </a:cubicBezTo>
                  <a:cubicBezTo>
                    <a:pt x="1659502" y="458841"/>
                    <a:pt x="1663312" y="459223"/>
                    <a:pt x="1665406" y="460747"/>
                  </a:cubicBezTo>
                  <a:cubicBezTo>
                    <a:pt x="1678360" y="470843"/>
                    <a:pt x="1691887" y="471605"/>
                    <a:pt x="1708461" y="473318"/>
                  </a:cubicBezTo>
                  <a:cubicBezTo>
                    <a:pt x="1731894" y="475797"/>
                    <a:pt x="1753421" y="474081"/>
                    <a:pt x="1775140" y="469891"/>
                  </a:cubicBezTo>
                  <a:cubicBezTo>
                    <a:pt x="1790952" y="466843"/>
                    <a:pt x="1806953" y="460557"/>
                    <a:pt x="1821051" y="452554"/>
                  </a:cubicBezTo>
                  <a:cubicBezTo>
                    <a:pt x="1840672" y="441314"/>
                    <a:pt x="1859535" y="436934"/>
                    <a:pt x="1878203" y="451792"/>
                  </a:cubicBezTo>
                  <a:cubicBezTo>
                    <a:pt x="1898396" y="467605"/>
                    <a:pt x="1921257" y="462081"/>
                    <a:pt x="1943547" y="462651"/>
                  </a:cubicBezTo>
                  <a:cubicBezTo>
                    <a:pt x="1953262" y="462843"/>
                    <a:pt x="1963550" y="462461"/>
                    <a:pt x="1972884" y="464937"/>
                  </a:cubicBezTo>
                  <a:cubicBezTo>
                    <a:pt x="1999935" y="471987"/>
                    <a:pt x="2026036" y="482655"/>
                    <a:pt x="2053469" y="487417"/>
                  </a:cubicBezTo>
                  <a:cubicBezTo>
                    <a:pt x="2068710" y="490084"/>
                    <a:pt x="2085664" y="485321"/>
                    <a:pt x="2101477" y="481893"/>
                  </a:cubicBezTo>
                  <a:cubicBezTo>
                    <a:pt x="2117479" y="478273"/>
                    <a:pt x="2133290" y="472749"/>
                    <a:pt x="2148722" y="467033"/>
                  </a:cubicBezTo>
                  <a:cubicBezTo>
                    <a:pt x="2159199" y="463223"/>
                    <a:pt x="2170629" y="459603"/>
                    <a:pt x="2179011" y="452744"/>
                  </a:cubicBezTo>
                  <a:cubicBezTo>
                    <a:pt x="2198064" y="437124"/>
                    <a:pt x="2217685" y="434455"/>
                    <a:pt x="2240165" y="442648"/>
                  </a:cubicBezTo>
                  <a:cubicBezTo>
                    <a:pt x="2243593" y="443982"/>
                    <a:pt x="2247594" y="443982"/>
                    <a:pt x="2251404" y="444172"/>
                  </a:cubicBezTo>
                  <a:cubicBezTo>
                    <a:pt x="2312370" y="448172"/>
                    <a:pt x="2373330" y="450650"/>
                    <a:pt x="2433912" y="456746"/>
                  </a:cubicBezTo>
                  <a:cubicBezTo>
                    <a:pt x="2458485" y="459223"/>
                    <a:pt x="2482107" y="470081"/>
                    <a:pt x="2506302" y="476939"/>
                  </a:cubicBezTo>
                  <a:cubicBezTo>
                    <a:pt x="2511256" y="478273"/>
                    <a:pt x="2516783" y="480369"/>
                    <a:pt x="2521735" y="479415"/>
                  </a:cubicBezTo>
                  <a:cubicBezTo>
                    <a:pt x="2575647" y="469891"/>
                    <a:pt x="2626132" y="483797"/>
                    <a:pt x="2675854" y="502086"/>
                  </a:cubicBezTo>
                  <a:cubicBezTo>
                    <a:pt x="2680996" y="503992"/>
                    <a:pt x="2687282" y="503419"/>
                    <a:pt x="2692998" y="503038"/>
                  </a:cubicBezTo>
                  <a:cubicBezTo>
                    <a:pt x="2709003" y="501706"/>
                    <a:pt x="2726337" y="495038"/>
                    <a:pt x="2740816" y="499037"/>
                  </a:cubicBezTo>
                  <a:cubicBezTo>
                    <a:pt x="2779297" y="510088"/>
                    <a:pt x="2817398" y="523423"/>
                    <a:pt x="2853596" y="540187"/>
                  </a:cubicBezTo>
                  <a:cubicBezTo>
                    <a:pt x="2890365" y="557142"/>
                    <a:pt x="2924464" y="571430"/>
                    <a:pt x="2966565" y="554286"/>
                  </a:cubicBezTo>
                  <a:cubicBezTo>
                    <a:pt x="2984472" y="547045"/>
                    <a:pt x="3008095" y="552190"/>
                    <a:pt x="3028671" y="554094"/>
                  </a:cubicBezTo>
                  <a:cubicBezTo>
                    <a:pt x="3043720" y="555618"/>
                    <a:pt x="3058198" y="564192"/>
                    <a:pt x="3073059" y="564192"/>
                  </a:cubicBezTo>
                  <a:cubicBezTo>
                    <a:pt x="3112686" y="564192"/>
                    <a:pt x="3147927" y="574288"/>
                    <a:pt x="3182219" y="594862"/>
                  </a:cubicBezTo>
                  <a:cubicBezTo>
                    <a:pt x="3195557" y="602863"/>
                    <a:pt x="3216322" y="597529"/>
                    <a:pt x="3233656" y="599625"/>
                  </a:cubicBezTo>
                  <a:cubicBezTo>
                    <a:pt x="3251947" y="602101"/>
                    <a:pt x="3270804" y="604387"/>
                    <a:pt x="3288332" y="609914"/>
                  </a:cubicBezTo>
                  <a:cubicBezTo>
                    <a:pt x="3333672" y="624392"/>
                    <a:pt x="3378441" y="640774"/>
                    <a:pt x="3423591" y="656015"/>
                  </a:cubicBezTo>
                  <a:cubicBezTo>
                    <a:pt x="3460738" y="668590"/>
                    <a:pt x="3497317" y="658683"/>
                    <a:pt x="3534084" y="653349"/>
                  </a:cubicBezTo>
                  <a:cubicBezTo>
                    <a:pt x="3557137" y="649919"/>
                    <a:pt x="3578662" y="641727"/>
                    <a:pt x="3604571" y="653918"/>
                  </a:cubicBezTo>
                  <a:cubicBezTo>
                    <a:pt x="3629338" y="665541"/>
                    <a:pt x="3660771" y="662873"/>
                    <a:pt x="3688586" y="669160"/>
                  </a:cubicBezTo>
                  <a:cubicBezTo>
                    <a:pt x="3712020" y="674494"/>
                    <a:pt x="3734687" y="683068"/>
                    <a:pt x="3757358" y="691450"/>
                  </a:cubicBezTo>
                  <a:cubicBezTo>
                    <a:pt x="3788221" y="702881"/>
                    <a:pt x="3818700" y="714881"/>
                    <a:pt x="3852421" y="709167"/>
                  </a:cubicBezTo>
                  <a:cubicBezTo>
                    <a:pt x="3890714" y="702689"/>
                    <a:pt x="3917001" y="727073"/>
                    <a:pt x="3947104" y="743267"/>
                  </a:cubicBezTo>
                  <a:cubicBezTo>
                    <a:pt x="3967869" y="754316"/>
                    <a:pt x="3990538" y="762509"/>
                    <a:pt x="4013208" y="769367"/>
                  </a:cubicBezTo>
                  <a:cubicBezTo>
                    <a:pt x="4043497" y="778321"/>
                    <a:pt x="4074740" y="783655"/>
                    <a:pt x="4105222" y="792418"/>
                  </a:cubicBezTo>
                  <a:cubicBezTo>
                    <a:pt x="4151325" y="805561"/>
                    <a:pt x="4198001" y="815850"/>
                    <a:pt x="4246006" y="808610"/>
                  </a:cubicBezTo>
                  <a:cubicBezTo>
                    <a:pt x="4268105" y="805372"/>
                    <a:pt x="4288682" y="805561"/>
                    <a:pt x="4310779" y="810326"/>
                  </a:cubicBezTo>
                  <a:cubicBezTo>
                    <a:pt x="4346974" y="818136"/>
                    <a:pt x="4384123" y="819089"/>
                    <a:pt x="4413272" y="848235"/>
                  </a:cubicBezTo>
                  <a:cubicBezTo>
                    <a:pt x="4423558" y="858524"/>
                    <a:pt x="4442037" y="861190"/>
                    <a:pt x="4457087" y="866524"/>
                  </a:cubicBezTo>
                  <a:cubicBezTo>
                    <a:pt x="4474424" y="872812"/>
                    <a:pt x="4487186" y="869572"/>
                    <a:pt x="4496523" y="851284"/>
                  </a:cubicBezTo>
                  <a:cubicBezTo>
                    <a:pt x="4500713" y="843093"/>
                    <a:pt x="4512715" y="835091"/>
                    <a:pt x="4522050" y="833757"/>
                  </a:cubicBezTo>
                  <a:cubicBezTo>
                    <a:pt x="4550055" y="829757"/>
                    <a:pt x="4575773" y="835663"/>
                    <a:pt x="4602824" y="848618"/>
                  </a:cubicBezTo>
                  <a:cubicBezTo>
                    <a:pt x="4628161" y="860810"/>
                    <a:pt x="4659786" y="859476"/>
                    <a:pt x="4688553" y="864238"/>
                  </a:cubicBezTo>
                  <a:cubicBezTo>
                    <a:pt x="4708936" y="867668"/>
                    <a:pt x="4729321" y="874716"/>
                    <a:pt x="4749895" y="874716"/>
                  </a:cubicBezTo>
                  <a:cubicBezTo>
                    <a:pt x="4775424" y="874716"/>
                    <a:pt x="4800761" y="868620"/>
                    <a:pt x="4826480" y="866334"/>
                  </a:cubicBezTo>
                  <a:cubicBezTo>
                    <a:pt x="4846482" y="864430"/>
                    <a:pt x="4866867" y="865192"/>
                    <a:pt x="4886870" y="862906"/>
                  </a:cubicBezTo>
                  <a:cubicBezTo>
                    <a:pt x="4903254" y="861190"/>
                    <a:pt x="4919447" y="856810"/>
                    <a:pt x="4935639" y="853190"/>
                  </a:cubicBezTo>
                  <a:cubicBezTo>
                    <a:pt x="4941546" y="851856"/>
                    <a:pt x="4947452" y="846711"/>
                    <a:pt x="4952784" y="847473"/>
                  </a:cubicBezTo>
                  <a:cubicBezTo>
                    <a:pt x="5005745" y="855666"/>
                    <a:pt x="5043847" y="819089"/>
                    <a:pt x="5088617" y="802896"/>
                  </a:cubicBezTo>
                  <a:cubicBezTo>
                    <a:pt x="5135672" y="785749"/>
                    <a:pt x="5181204" y="759461"/>
                    <a:pt x="5233781" y="767271"/>
                  </a:cubicBezTo>
                  <a:cubicBezTo>
                    <a:pt x="5265596" y="772033"/>
                    <a:pt x="5296267" y="783083"/>
                    <a:pt x="5327893" y="789752"/>
                  </a:cubicBezTo>
                  <a:cubicBezTo>
                    <a:pt x="5339132" y="792038"/>
                    <a:pt x="5351705" y="791656"/>
                    <a:pt x="5362946" y="789370"/>
                  </a:cubicBezTo>
                  <a:cubicBezTo>
                    <a:pt x="5417240" y="778891"/>
                    <a:pt x="5470771" y="777367"/>
                    <a:pt x="5524115" y="794514"/>
                  </a:cubicBezTo>
                  <a:cubicBezTo>
                    <a:pt x="5533257" y="797372"/>
                    <a:pt x="5542974" y="800038"/>
                    <a:pt x="5552500" y="800038"/>
                  </a:cubicBezTo>
                  <a:cubicBezTo>
                    <a:pt x="5604697" y="800038"/>
                    <a:pt x="5655944" y="796038"/>
                    <a:pt x="5705857" y="777367"/>
                  </a:cubicBezTo>
                  <a:cubicBezTo>
                    <a:pt x="5722622" y="771080"/>
                    <a:pt x="5743006" y="775081"/>
                    <a:pt x="5761485" y="773557"/>
                  </a:cubicBezTo>
                  <a:cubicBezTo>
                    <a:pt x="5778629" y="772224"/>
                    <a:pt x="5796156" y="771653"/>
                    <a:pt x="5812731" y="767271"/>
                  </a:cubicBezTo>
                  <a:cubicBezTo>
                    <a:pt x="5836925" y="760795"/>
                    <a:pt x="5859404" y="760033"/>
                    <a:pt x="5884361" y="765747"/>
                  </a:cubicBezTo>
                  <a:cubicBezTo>
                    <a:pt x="5908174" y="771080"/>
                    <a:pt x="5933892" y="768415"/>
                    <a:pt x="5958660" y="768605"/>
                  </a:cubicBezTo>
                  <a:cubicBezTo>
                    <a:pt x="5986282" y="768795"/>
                    <a:pt x="6013906" y="768984"/>
                    <a:pt x="6041528" y="768033"/>
                  </a:cubicBezTo>
                  <a:cubicBezTo>
                    <a:pt x="6052579" y="767653"/>
                    <a:pt x="6065151" y="760033"/>
                    <a:pt x="6074297" y="763081"/>
                  </a:cubicBezTo>
                  <a:cubicBezTo>
                    <a:pt x="6103824" y="773366"/>
                    <a:pt x="6133353" y="760985"/>
                    <a:pt x="6162880" y="766509"/>
                  </a:cubicBezTo>
                  <a:cubicBezTo>
                    <a:pt x="6177360" y="769367"/>
                    <a:pt x="6193743" y="761557"/>
                    <a:pt x="6209364" y="760795"/>
                  </a:cubicBezTo>
                  <a:cubicBezTo>
                    <a:pt x="6234892" y="759461"/>
                    <a:pt x="6260419" y="760033"/>
                    <a:pt x="6285948" y="759651"/>
                  </a:cubicBezTo>
                  <a:cubicBezTo>
                    <a:pt x="6294330" y="759461"/>
                    <a:pt x="6302523" y="758699"/>
                    <a:pt x="6310905" y="758316"/>
                  </a:cubicBezTo>
                  <a:cubicBezTo>
                    <a:pt x="6318335" y="757936"/>
                    <a:pt x="6326145" y="756222"/>
                    <a:pt x="6333194" y="757554"/>
                  </a:cubicBezTo>
                  <a:cubicBezTo>
                    <a:pt x="6358723" y="762318"/>
                    <a:pt x="6383869" y="770129"/>
                    <a:pt x="6409586" y="773177"/>
                  </a:cubicBezTo>
                  <a:cubicBezTo>
                    <a:pt x="6431875" y="775843"/>
                    <a:pt x="6454928" y="772224"/>
                    <a:pt x="6477407" y="774129"/>
                  </a:cubicBezTo>
                  <a:cubicBezTo>
                    <a:pt x="6517032" y="777367"/>
                    <a:pt x="6556657" y="783083"/>
                    <a:pt x="6596283" y="786703"/>
                  </a:cubicBezTo>
                  <a:cubicBezTo>
                    <a:pt x="6604857" y="787465"/>
                    <a:pt x="6613809" y="782701"/>
                    <a:pt x="6622573" y="782321"/>
                  </a:cubicBezTo>
                  <a:cubicBezTo>
                    <a:pt x="6650006" y="781369"/>
                    <a:pt x="6677439" y="781177"/>
                    <a:pt x="6704872" y="780607"/>
                  </a:cubicBezTo>
                  <a:cubicBezTo>
                    <a:pt x="6720493" y="780415"/>
                    <a:pt x="6736305" y="780987"/>
                    <a:pt x="6751738" y="779273"/>
                  </a:cubicBezTo>
                  <a:cubicBezTo>
                    <a:pt x="6772120" y="776987"/>
                    <a:pt x="6790599" y="773557"/>
                    <a:pt x="6809650" y="788417"/>
                  </a:cubicBezTo>
                  <a:cubicBezTo>
                    <a:pt x="6816984" y="794180"/>
                    <a:pt x="6824819" y="797942"/>
                    <a:pt x="6832976" y="80042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 wrap="square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: Shape 47">
              <a:extLst>
                <a:ext uri="{FF2B5EF4-FFF2-40B4-BE49-F238E27FC236}">
                  <a16:creationId xmlns:a16="http://schemas.microsoft.com/office/drawing/2014/main" id="{1E3EFCBE-34EF-4B4E-BB43-0CC49CCDD1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rot="5400000">
              <a:off x="2640988" y="2991370"/>
              <a:ext cx="6857455" cy="874716"/>
            </a:xfrm>
            <a:custGeom>
              <a:avLst/>
              <a:gdLst>
                <a:gd fmla="*/ 6857455 w 6857455" name="connsiteX0"/>
                <a:gd fmla="*/ 804643 h 874716" name="connsiteY0"/>
                <a:gd fmla="*/ 6857455 w 6857455" name="connsiteX1"/>
                <a:gd fmla="*/ 562246 h 874716" name="connsiteY1"/>
                <a:gd fmla="*/ 6829178 w 6857455" name="connsiteX2"/>
                <a:gd fmla="*/ 551284 h 874716" name="connsiteY2"/>
                <a:gd fmla="*/ 6766024 w 6857455" name="connsiteX3"/>
                <a:gd fmla="*/ 500372 h 874716" name="connsiteY3"/>
                <a:gd fmla="*/ 6734971 w 6857455" name="connsiteX4"/>
                <a:gd fmla="*/ 500944 h 874716" name="connsiteY4"/>
                <a:gd fmla="*/ 6683915 w 6857455" name="connsiteX5"/>
                <a:gd fmla="*/ 507040 h 874716" name="connsiteY5"/>
                <a:gd fmla="*/ 6628860 w 6857455" name="connsiteX6"/>
                <a:gd fmla="*/ 495418 h 874716" name="connsiteY6"/>
                <a:gd fmla="*/ 6588662 w 6857455" name="connsiteX7"/>
                <a:gd fmla="*/ 487227 h 874716" name="connsiteY7"/>
                <a:gd fmla="*/ 6476074 w 6857455" name="connsiteX8"/>
                <a:gd fmla="*/ 511230 h 874716" name="connsiteY8"/>
                <a:gd fmla="*/ 6382345 w 6857455" name="connsiteX9"/>
                <a:gd fmla="*/ 534853 h 874716" name="connsiteY9"/>
                <a:gd fmla="*/ 6369391 w 6857455" name="connsiteX10"/>
                <a:gd fmla="*/ 531615 h 874716" name="connsiteY10"/>
                <a:gd fmla="*/ 6244799 w 6857455" name="connsiteX11"/>
                <a:gd fmla="*/ 512182 h 874716" name="connsiteY11"/>
                <a:gd fmla="*/ 6190315 w 6857455" name="connsiteX12"/>
                <a:gd fmla="*/ 485703 h 874716" name="connsiteY12"/>
                <a:gd fmla="*/ 6115446 w 6857455" name="connsiteX13"/>
                <a:gd fmla="*/ 462270 h 874716" name="connsiteY13"/>
                <a:gd fmla="*/ 6032194 w 6857455" name="connsiteX14"/>
                <a:gd fmla="*/ 434266 h 874716" name="connsiteY14"/>
                <a:gd fmla="*/ 5971042 w 6857455" name="connsiteX15"/>
                <a:gd fmla="*/ 420738 h 874716" name="connsiteY15"/>
                <a:gd fmla="*/ 5880933 w 6857455" name="connsiteX16"/>
                <a:gd fmla="*/ 430646 h 874716" name="connsiteY16"/>
                <a:gd fmla="*/ 5862452 w 6857455" name="connsiteX17"/>
                <a:gd fmla="*/ 438648 h 874716" name="connsiteY17"/>
                <a:gd fmla="*/ 5685283 w 6857455" name="connsiteX18"/>
                <a:gd fmla="*/ 498658 h 874716" name="connsiteY18"/>
                <a:gd fmla="*/ 5567169 w 6857455" name="connsiteX19"/>
                <a:gd fmla="*/ 499420 h 874716" name="connsiteY19"/>
                <a:gd fmla="*/ 5527923 w 6857455" name="connsiteX20"/>
                <a:gd fmla="*/ 490466 h 874716" name="connsiteY20"/>
                <a:gd fmla="*/ 5456292 w 6857455" name="connsiteX21"/>
                <a:gd fmla="*/ 450650 h 874716" name="connsiteY21"/>
                <a:gd fmla="*/ 5424670 w 6857455" name="connsiteX22"/>
                <a:gd fmla="*/ 444934 h 874716" name="connsiteY22"/>
                <a:gd fmla="*/ 5368662 w 6857455" name="connsiteX23"/>
                <a:gd fmla="*/ 441124 h 874716" name="connsiteY23"/>
                <a:gd fmla="*/ 5247118 w 6857455" name="connsiteX24"/>
                <a:gd fmla="*/ 444934 h 874716" name="connsiteY24"/>
                <a:gd fmla="*/ 5088617 w 6857455" name="connsiteX25"/>
                <a:gd fmla="*/ 428742 h 874716" name="connsiteY25"/>
                <a:gd fmla="*/ 5025750 w 6857455" name="connsiteX26"/>
                <a:gd fmla="*/ 433694 h 874716" name="connsiteY26"/>
                <a:gd fmla="*/ 4957930 w 6857455" name="connsiteX27"/>
                <a:gd fmla="*/ 442268 h 874716" name="connsiteY27"/>
                <a:gd fmla="*/ 4938116 w 6857455" name="connsiteX28"/>
                <a:gd fmla="*/ 441886 h 874716" name="connsiteY28"/>
                <a:gd fmla="*/ 4833910 w 6857455" name="connsiteX29"/>
                <a:gd fmla="*/ 421693 h 874716" name="connsiteY29"/>
                <a:gd fmla="*/ 4810095 w 6857455" name="connsiteX30"/>
                <a:gd fmla="*/ 408167 h 874716" name="connsiteY30"/>
                <a:gd fmla="*/ 4747991 w 6857455" name="connsiteX31"/>
                <a:gd fmla="*/ 413691 h 874716" name="connsiteY31"/>
                <a:gd fmla="*/ 4692745 w 6857455" name="connsiteX32"/>
                <a:gd fmla="*/ 435790 h 874716" name="connsiteY32"/>
                <a:gd fmla="*/ 4375933 w 6857455" name="connsiteX33"/>
                <a:gd fmla="*/ 483417 h 874716" name="connsiteY33"/>
                <a:gd fmla="*/ 4185426 w 6857455" name="connsiteX34"/>
                <a:gd fmla="*/ 484179 h 874716" name="connsiteY34"/>
                <a:gd fmla="*/ 4052072 w 6857455" name="connsiteX35"/>
                <a:gd fmla="*/ 505134 h 874716" name="connsiteY35"/>
                <a:gd fmla="*/ 4029973 w 6857455" name="connsiteX36"/>
                <a:gd fmla="*/ 527233 h 874716" name="connsiteY36"/>
                <a:gd fmla="*/ 3948626 w 6857455" name="connsiteX37"/>
                <a:gd fmla="*/ 550666 h 874716" name="connsiteY37"/>
                <a:gd fmla="*/ 3871280 w 6857455" name="connsiteX38"/>
                <a:gd fmla="*/ 502275 h 874716" name="connsiteY38"/>
                <a:gd fmla="*/ 3774312 w 6857455" name="connsiteX39"/>
                <a:gd fmla="*/ 429122 h 874716" name="connsiteY39"/>
                <a:gd fmla="*/ 3721543 w 6857455" name="connsiteX40"/>
                <a:gd fmla="*/ 428552 h 874716" name="connsiteY40"/>
                <a:gd fmla="*/ 3612763 w 6857455" name="connsiteX41"/>
                <a:gd fmla="*/ 414263 h 874716" name="connsiteY41"/>
                <a:gd fmla="*/ 3537323 w 6857455" name="connsiteX42"/>
                <a:gd fmla="*/ 389878 h 874716" name="connsiteY42"/>
                <a:gd fmla="*/ 3431593 w 6857455" name="connsiteX43"/>
                <a:gd fmla="*/ 360921 h 874716" name="connsiteY43"/>
                <a:gd fmla="*/ 3392158 w 6857455" name="connsiteX44"/>
                <a:gd fmla="*/ 345681 h 874716" name="connsiteY44"/>
                <a:gd fmla="*/ 3297856 w 6857455" name="connsiteX45"/>
                <a:gd fmla="*/ 323010 h 874716" name="connsiteY45"/>
                <a:gd fmla="*/ 3219748 w 6857455" name="connsiteX46"/>
                <a:gd fmla="*/ 308151 h 874716" name="connsiteY46"/>
                <a:gd fmla="*/ 3156692 w 6857455" name="connsiteX47"/>
                <a:gd fmla="*/ 261668 h 874716" name="connsiteY47"/>
                <a:gd fmla="*/ 3136497 w 6857455" name="connsiteX48"/>
                <a:gd fmla="*/ 237663 h 874716" name="connsiteY48"/>
                <a:gd fmla="*/ 3119733 w 6857455" name="connsiteX49"/>
                <a:gd fmla="*/ 222233 h 874716" name="connsiteY49"/>
                <a:gd fmla="*/ 3045436 w 6857455" name="connsiteX50"/>
                <a:gd fmla="*/ 131742 h 874716" name="connsiteY50"/>
                <a:gd fmla="*/ 3037054 w 6857455" name="connsiteX51"/>
                <a:gd fmla="*/ 124121 h 874716" name="connsiteY51"/>
                <a:gd fmla="*/ 2936466 w 6857455" name="connsiteX52"/>
                <a:gd fmla="*/ 82400 h 874716" name="connsiteY52"/>
                <a:gd fmla="*/ 2901031 w 6857455" name="connsiteX53"/>
                <a:gd fmla="*/ 59731 h 874716" name="connsiteY53"/>
                <a:gd fmla="*/ 2828259 w 6857455" name="connsiteX54"/>
                <a:gd fmla="*/ 3149 h 874716" name="connsiteY54"/>
                <a:gd fmla="*/ 2799492 w 6857455" name="connsiteX55"/>
                <a:gd fmla="*/ 1245 h 874716" name="connsiteY55"/>
                <a:gd fmla="*/ 2693570 w 6857455" name="connsiteX56"/>
                <a:gd fmla="*/ 35154 h 874716" name="connsiteY56"/>
                <a:gd fmla="*/ 2639847 w 6857455" name="connsiteX57"/>
                <a:gd fmla="*/ 73448 h 874716" name="connsiteY57"/>
                <a:gd fmla="*/ 2621178 w 6857455" name="connsiteX58"/>
                <a:gd fmla="*/ 88688 h 874716" name="connsiteY58"/>
                <a:gd fmla="*/ 2489348 w 6857455" name="connsiteX59"/>
                <a:gd fmla="*/ 72304 h 874716" name="connsiteY59"/>
                <a:gd fmla="*/ 2452580 w 6857455" name="connsiteX60"/>
                <a:gd fmla="*/ 68683 h 874716" name="connsiteY60"/>
                <a:gd fmla="*/ 2326464 w 6857455" name="connsiteX61"/>
                <a:gd fmla="*/ 50395 h 874716" name="connsiteY61"/>
                <a:gd fmla="*/ 2300365 w 6857455" name="connsiteX62"/>
                <a:gd fmla="*/ 54777 h 874716" name="connsiteY62"/>
                <a:gd fmla="*/ 2130434 w 6857455" name="connsiteX63"/>
                <a:gd fmla="*/ 58397 h 874716" name="connsiteY63"/>
                <a:gd fmla="*/ 2118621 w 6857455" name="connsiteX64"/>
                <a:gd fmla="*/ 47919 h 874716" name="connsiteY64"/>
                <a:gd fmla="*/ 2057659 w 6857455" name="connsiteX65"/>
                <a:gd fmla="*/ 16866 h 874716" name="connsiteY65"/>
                <a:gd fmla="*/ 1976314 w 6857455" name="connsiteX66"/>
                <a:gd fmla="*/ 8865 h 874716" name="connsiteY66"/>
                <a:gd fmla="*/ 1961454 w 6857455" name="connsiteX67"/>
                <a:gd fmla="*/ 11724 h 874716" name="connsiteY67"/>
                <a:gd fmla="*/ 1906588 w 6857455" name="connsiteX68"/>
                <a:gd fmla="*/ 30964 h 874716" name="connsiteY68"/>
                <a:gd fmla="*/ 1783330 w 6857455" name="connsiteX69"/>
                <a:gd fmla="*/ 48871 h 874716" name="connsiteY69"/>
                <a:gd fmla="*/ 1759327 w 6857455" name="connsiteX70"/>
                <a:gd fmla="*/ 55349 h 874716" name="connsiteY70"/>
                <a:gd fmla="*/ 1716082 w 6857455" name="connsiteX71"/>
                <a:gd fmla="*/ 65445 h 874716" name="connsiteY71"/>
                <a:gd fmla="*/ 1598920 w 6857455" name="connsiteX72"/>
                <a:gd fmla="*/ 72114 h 874716" name="connsiteY72"/>
                <a:gd fmla="*/ 1542150 w 6857455" name="connsiteX73"/>
                <a:gd fmla="*/ 62207 h 874716" name="connsiteY73"/>
                <a:gd fmla="*/ 1516813 w 6857455" name="connsiteX74"/>
                <a:gd fmla="*/ 62779 h 874716" name="connsiteY74"/>
                <a:gd fmla="*/ 1432228 w 6857455" name="connsiteX75"/>
                <a:gd fmla="*/ 88116 h 874716" name="connsiteY75"/>
                <a:gd fmla="*/ 1224765 w 6857455" name="connsiteX76"/>
                <a:gd fmla="*/ 71924 h 874716" name="connsiteY76"/>
                <a:gd fmla="*/ 1159231 w 6857455" name="connsiteX77"/>
                <a:gd fmla="*/ 58207 h 874716" name="connsiteY77"/>
                <a:gd fmla="*/ 1124370 w 6857455" name="connsiteX78"/>
                <a:gd fmla="*/ 56301 h 874716" name="connsiteY78"/>
                <a:gd fmla="*/ 1075600 w 6857455" name="connsiteX79"/>
                <a:gd fmla="*/ 75542 h 874716" name="connsiteY79"/>
                <a:gd fmla="*/ 986633 w 6857455" name="connsiteX80"/>
                <a:gd fmla="*/ 79162 h 874716" name="connsiteY80"/>
                <a:gd fmla="*/ 861089 w 6857455" name="connsiteX81"/>
                <a:gd fmla="*/ 76304 h 874716" name="connsiteY81"/>
                <a:gd fmla="*/ 759168 w 6857455" name="connsiteX82"/>
                <a:gd fmla="*/ 104689 h 874716" name="connsiteY82"/>
                <a:gd fmla="*/ 723735 w 6857455" name="connsiteX83"/>
                <a:gd fmla="*/ 140696 h 874716" name="connsiteY83"/>
                <a:gd fmla="*/ 647532 w 6857455" name="connsiteX84"/>
                <a:gd fmla="*/ 147934 h 874716" name="connsiteY84"/>
                <a:gd fmla="*/ 552659 w 6857455" name="connsiteX85"/>
                <a:gd fmla="*/ 95926 h 874716" name="connsiteY85"/>
                <a:gd fmla="*/ 541800 w 6857455" name="connsiteX86"/>
                <a:gd fmla="*/ 97640 h 874716" name="connsiteY86"/>
                <a:gd fmla="*/ 375107 w 6857455" name="connsiteX87"/>
                <a:gd fmla="*/ 123169 h 874716" name="connsiteY87"/>
                <a:gd fmla="*/ 273567 w 6857455" name="connsiteX88"/>
                <a:gd fmla="*/ 145458 h 874716" name="connsiteY88"/>
                <a:gd fmla="*/ 264043 w 6857455" name="connsiteX89"/>
                <a:gd fmla="*/ 154792 h 874716" name="connsiteY89"/>
                <a:gd fmla="*/ 169360 w 6857455" name="connsiteX90"/>
                <a:gd fmla="*/ 177273 h 874716" name="connsiteY90"/>
                <a:gd fmla="*/ 89347 w 6857455" name="connsiteX91"/>
                <a:gd fmla="*/ 157460 h 874716" name="connsiteY91"/>
                <a:gd fmla="*/ 34291 w 6857455" name="connsiteX92"/>
                <a:gd fmla="*/ 145268 h 874716" name="connsiteY92"/>
                <a:gd fmla="*/ 0 w 6857455" name="connsiteX93"/>
                <a:gd fmla="*/ 142056 h 874716" name="connsiteY93"/>
                <a:gd fmla="*/ 0 w 6857455" name="connsiteX94"/>
                <a:gd fmla="*/ 849556 h 874716" name="connsiteY94"/>
                <a:gd fmla="*/ 60652 w 6857455" name="connsiteX95"/>
                <a:gd fmla="*/ 844783 h 874716" name="connsiteY95"/>
                <a:gd fmla="*/ 119068 w 6857455" name="connsiteX96"/>
                <a:gd fmla="*/ 827281 h 874716" name="connsiteY96"/>
                <a:gd fmla="*/ 171840 w 6857455" name="connsiteX97"/>
                <a:gd fmla="*/ 804420 h 874716" name="connsiteY97"/>
                <a:gd fmla="*/ 274329 w 6857455" name="connsiteX98"/>
                <a:gd fmla="*/ 794324 h 874716" name="connsiteY98"/>
                <a:gd fmla="*/ 306715 w 6857455" name="connsiteX99"/>
                <a:gd fmla="*/ 788798 h 874716" name="connsiteY99"/>
                <a:gd fmla="*/ 393967 w 6857455" name="connsiteX100"/>
                <a:gd fmla="*/ 765937 h 874716" name="connsiteY100"/>
                <a:gd fmla="*/ 493793 w 6857455" name="connsiteX101"/>
                <a:gd fmla="*/ 725549 h 874716" name="connsiteY101"/>
                <a:gd fmla="*/ 546373 w 6857455" name="connsiteX102"/>
                <a:gd fmla="*/ 740600 h 874716" name="connsiteY102"/>
                <a:gd fmla="*/ 730211 w 6857455" name="connsiteX103"/>
                <a:gd fmla="*/ 698116 h 874716" name="connsiteY103"/>
                <a:gd fmla="*/ 784889 w 6857455" name="connsiteX104"/>
                <a:gd fmla="*/ 676018 h 874716" name="connsiteY104"/>
                <a:gd fmla="*/ 800509 w 6857455" name="connsiteX105"/>
                <a:gd fmla="*/ 661349 h 874716" name="connsiteY105"/>
                <a:gd fmla="*/ 857661 w 6857455" name="connsiteX106"/>
                <a:gd fmla="*/ 626868 h 874716" name="connsiteY106"/>
                <a:gd fmla="*/ 949102 w 6857455" name="connsiteX107"/>
                <a:gd fmla="*/ 614676 h 874716" name="connsiteY107"/>
                <a:gd fmla="*/ 960342 w 6857455" name="connsiteX108"/>
                <a:gd fmla="*/ 607435 h 874716" name="connsiteY108"/>
                <a:gd fmla="*/ 977109 w 6857455" name="connsiteX109"/>
                <a:gd fmla="*/ 595815 h 874716" name="connsiteY109"/>
                <a:gd fmla="*/ 1071218 w 6857455" name="connsiteX110"/>
                <a:gd fmla="*/ 575240 h 874716" name="connsiteY110"/>
                <a:gd fmla="*/ 1091983 w 6857455" name="connsiteX111"/>
                <a:gd fmla="*/ 568764 h 874716" name="connsiteY111"/>
                <a:gd fmla="*/ 1109321 w 6857455" name="connsiteX112"/>
                <a:gd fmla="*/ 557904 h 874716" name="connsiteY112"/>
                <a:gd fmla="*/ 1162279 w 6857455" name="connsiteX113"/>
                <a:gd fmla="*/ 532949 h 874716" name="connsiteY113"/>
                <a:gd fmla="*/ 1206097 w 6857455" name="connsiteX114"/>
                <a:gd fmla="*/ 532187 h 874716" name="connsiteY114"/>
                <a:gd fmla="*/ 1266867 w 6857455" name="connsiteX115"/>
                <a:gd fmla="*/ 518088 h 874716" name="connsiteY115"/>
                <a:gd fmla="*/ 1380219 w 6857455" name="connsiteX116"/>
                <a:gd fmla="*/ 504182 h 874716" name="connsiteY116"/>
                <a:gd fmla="*/ 1403461 w 6857455" name="connsiteX117"/>
                <a:gd fmla="*/ 496180 h 874716" name="connsiteY117"/>
                <a:gd fmla="*/ 1544054 w 6857455" name="connsiteX118"/>
                <a:gd fmla="*/ 458268 h 874716" name="connsiteY118"/>
                <a:gd fmla="*/ 1656644 w 6857455" name="connsiteX119"/>
                <a:gd fmla="*/ 459032 h 874716" name="connsiteY119"/>
                <a:gd fmla="*/ 1665406 w 6857455" name="connsiteX120"/>
                <a:gd fmla="*/ 460747 h 874716" name="connsiteY120"/>
                <a:gd fmla="*/ 1708461 w 6857455" name="connsiteX121"/>
                <a:gd fmla="*/ 473318 h 874716" name="connsiteY121"/>
                <a:gd fmla="*/ 1775140 w 6857455" name="connsiteX122"/>
                <a:gd fmla="*/ 469891 h 874716" name="connsiteY122"/>
                <a:gd fmla="*/ 1821051 w 6857455" name="connsiteX123"/>
                <a:gd fmla="*/ 452554 h 874716" name="connsiteY123"/>
                <a:gd fmla="*/ 1878203 w 6857455" name="connsiteX124"/>
                <a:gd fmla="*/ 451792 h 874716" name="connsiteY124"/>
                <a:gd fmla="*/ 1943547 w 6857455" name="connsiteX125"/>
                <a:gd fmla="*/ 462651 h 874716" name="connsiteY125"/>
                <a:gd fmla="*/ 1972884 w 6857455" name="connsiteX126"/>
                <a:gd fmla="*/ 464937 h 874716" name="connsiteY126"/>
                <a:gd fmla="*/ 2053469 w 6857455" name="connsiteX127"/>
                <a:gd fmla="*/ 487417 h 874716" name="connsiteY127"/>
                <a:gd fmla="*/ 2101477 w 6857455" name="connsiteX128"/>
                <a:gd fmla="*/ 481893 h 874716" name="connsiteY128"/>
                <a:gd fmla="*/ 2148722 w 6857455" name="connsiteX129"/>
                <a:gd fmla="*/ 467033 h 874716" name="connsiteY129"/>
                <a:gd fmla="*/ 2179011 w 6857455" name="connsiteX130"/>
                <a:gd fmla="*/ 452744 h 874716" name="connsiteY130"/>
                <a:gd fmla="*/ 2240165 w 6857455" name="connsiteX131"/>
                <a:gd fmla="*/ 442648 h 874716" name="connsiteY131"/>
                <a:gd fmla="*/ 2251404 w 6857455" name="connsiteX132"/>
                <a:gd fmla="*/ 444172 h 874716" name="connsiteY132"/>
                <a:gd fmla="*/ 2433912 w 6857455" name="connsiteX133"/>
                <a:gd fmla="*/ 456746 h 874716" name="connsiteY133"/>
                <a:gd fmla="*/ 2506302 w 6857455" name="connsiteX134"/>
                <a:gd fmla="*/ 476939 h 874716" name="connsiteY134"/>
                <a:gd fmla="*/ 2521735 w 6857455" name="connsiteX135"/>
                <a:gd fmla="*/ 479415 h 874716" name="connsiteY135"/>
                <a:gd fmla="*/ 2675854 w 6857455" name="connsiteX136"/>
                <a:gd fmla="*/ 502086 h 874716" name="connsiteY136"/>
                <a:gd fmla="*/ 2692998 w 6857455" name="connsiteX137"/>
                <a:gd fmla="*/ 503038 h 874716" name="connsiteY137"/>
                <a:gd fmla="*/ 2740816 w 6857455" name="connsiteX138"/>
                <a:gd fmla="*/ 499037 h 874716" name="connsiteY138"/>
                <a:gd fmla="*/ 2853596 w 6857455" name="connsiteX139"/>
                <a:gd fmla="*/ 540187 h 874716" name="connsiteY139"/>
                <a:gd fmla="*/ 2966565 w 6857455" name="connsiteX140"/>
                <a:gd fmla="*/ 554286 h 874716" name="connsiteY140"/>
                <a:gd fmla="*/ 3028671 w 6857455" name="connsiteX141"/>
                <a:gd fmla="*/ 554094 h 874716" name="connsiteY141"/>
                <a:gd fmla="*/ 3073059 w 6857455" name="connsiteX142"/>
                <a:gd fmla="*/ 564192 h 874716" name="connsiteY142"/>
                <a:gd fmla="*/ 3182219 w 6857455" name="connsiteX143"/>
                <a:gd fmla="*/ 594862 h 874716" name="connsiteY143"/>
                <a:gd fmla="*/ 3233656 w 6857455" name="connsiteX144"/>
                <a:gd fmla="*/ 599625 h 874716" name="connsiteY144"/>
                <a:gd fmla="*/ 3288332 w 6857455" name="connsiteX145"/>
                <a:gd fmla="*/ 609914 h 874716" name="connsiteY145"/>
                <a:gd fmla="*/ 3423591 w 6857455" name="connsiteX146"/>
                <a:gd fmla="*/ 656015 h 874716" name="connsiteY146"/>
                <a:gd fmla="*/ 3534084 w 6857455" name="connsiteX147"/>
                <a:gd fmla="*/ 653349 h 874716" name="connsiteY147"/>
                <a:gd fmla="*/ 3604571 w 6857455" name="connsiteX148"/>
                <a:gd fmla="*/ 653918 h 874716" name="connsiteY148"/>
                <a:gd fmla="*/ 3688586 w 6857455" name="connsiteX149"/>
                <a:gd fmla="*/ 669160 h 874716" name="connsiteY149"/>
                <a:gd fmla="*/ 3757358 w 6857455" name="connsiteX150"/>
                <a:gd fmla="*/ 691450 h 874716" name="connsiteY150"/>
                <a:gd fmla="*/ 3852421 w 6857455" name="connsiteX151"/>
                <a:gd fmla="*/ 709167 h 874716" name="connsiteY151"/>
                <a:gd fmla="*/ 3947104 w 6857455" name="connsiteX152"/>
                <a:gd fmla="*/ 743267 h 874716" name="connsiteY152"/>
                <a:gd fmla="*/ 4013208 w 6857455" name="connsiteX153"/>
                <a:gd fmla="*/ 769367 h 874716" name="connsiteY153"/>
                <a:gd fmla="*/ 4105222 w 6857455" name="connsiteX154"/>
                <a:gd fmla="*/ 792417 h 874716" name="connsiteY154"/>
                <a:gd fmla="*/ 4246006 w 6857455" name="connsiteX155"/>
                <a:gd fmla="*/ 808610 h 874716" name="connsiteY155"/>
                <a:gd fmla="*/ 4310779 w 6857455" name="connsiteX156"/>
                <a:gd fmla="*/ 810326 h 874716" name="connsiteY156"/>
                <a:gd fmla="*/ 4413272 w 6857455" name="connsiteX157"/>
                <a:gd fmla="*/ 848235 h 874716" name="connsiteY157"/>
                <a:gd fmla="*/ 4457087 w 6857455" name="connsiteX158"/>
                <a:gd fmla="*/ 866524 h 874716" name="connsiteY158"/>
                <a:gd fmla="*/ 4496523 w 6857455" name="connsiteX159"/>
                <a:gd fmla="*/ 851284 h 874716" name="connsiteY159"/>
                <a:gd fmla="*/ 4522050 w 6857455" name="connsiteX160"/>
                <a:gd fmla="*/ 833757 h 874716" name="connsiteY160"/>
                <a:gd fmla="*/ 4602824 w 6857455" name="connsiteX161"/>
                <a:gd fmla="*/ 848618 h 874716" name="connsiteY161"/>
                <a:gd fmla="*/ 4688553 w 6857455" name="connsiteX162"/>
                <a:gd fmla="*/ 864238 h 874716" name="connsiteY162"/>
                <a:gd fmla="*/ 4749895 w 6857455" name="connsiteX163"/>
                <a:gd fmla="*/ 874716 h 874716" name="connsiteY163"/>
                <a:gd fmla="*/ 4826480 w 6857455" name="connsiteX164"/>
                <a:gd fmla="*/ 866334 h 874716" name="connsiteY164"/>
                <a:gd fmla="*/ 4886870 w 6857455" name="connsiteX165"/>
                <a:gd fmla="*/ 862906 h 874716" name="connsiteY165"/>
                <a:gd fmla="*/ 4935639 w 6857455" name="connsiteX166"/>
                <a:gd fmla="*/ 853190 h 874716" name="connsiteY166"/>
                <a:gd fmla="*/ 4952784 w 6857455" name="connsiteX167"/>
                <a:gd fmla="*/ 847473 h 874716" name="connsiteY167"/>
                <a:gd fmla="*/ 5088617 w 6857455" name="connsiteX168"/>
                <a:gd fmla="*/ 802896 h 874716" name="connsiteY168"/>
                <a:gd fmla="*/ 5233781 w 6857455" name="connsiteX169"/>
                <a:gd fmla="*/ 767271 h 874716" name="connsiteY169"/>
                <a:gd fmla="*/ 5327893 w 6857455" name="connsiteX170"/>
                <a:gd fmla="*/ 789752 h 874716" name="connsiteY170"/>
                <a:gd fmla="*/ 5362946 w 6857455" name="connsiteX171"/>
                <a:gd fmla="*/ 789370 h 874716" name="connsiteY171"/>
                <a:gd fmla="*/ 5524115 w 6857455" name="connsiteX172"/>
                <a:gd fmla="*/ 794514 h 874716" name="connsiteY172"/>
                <a:gd fmla="*/ 5552500 w 6857455" name="connsiteX173"/>
                <a:gd fmla="*/ 800038 h 874716" name="connsiteY173"/>
                <a:gd fmla="*/ 5705857 w 6857455" name="connsiteX174"/>
                <a:gd fmla="*/ 777367 h 874716" name="connsiteY174"/>
                <a:gd fmla="*/ 5761485 w 6857455" name="connsiteX175"/>
                <a:gd fmla="*/ 773557 h 874716" name="connsiteY175"/>
                <a:gd fmla="*/ 5812731 w 6857455" name="connsiteX176"/>
                <a:gd fmla="*/ 767271 h 874716" name="connsiteY176"/>
                <a:gd fmla="*/ 5884361 w 6857455" name="connsiteX177"/>
                <a:gd fmla="*/ 765747 h 874716" name="connsiteY177"/>
                <a:gd fmla="*/ 5958660 w 6857455" name="connsiteX178"/>
                <a:gd fmla="*/ 768605 h 874716" name="connsiteY178"/>
                <a:gd fmla="*/ 6041528 w 6857455" name="connsiteX179"/>
                <a:gd fmla="*/ 768033 h 874716" name="connsiteY179"/>
                <a:gd fmla="*/ 6074297 w 6857455" name="connsiteX180"/>
                <a:gd fmla="*/ 763081 h 874716" name="connsiteY180"/>
                <a:gd fmla="*/ 6162880 w 6857455" name="connsiteX181"/>
                <a:gd fmla="*/ 766509 h 874716" name="connsiteY181"/>
                <a:gd fmla="*/ 6209364 w 6857455" name="connsiteX182"/>
                <a:gd fmla="*/ 760795 h 874716" name="connsiteY182"/>
                <a:gd fmla="*/ 6285948 w 6857455" name="connsiteX183"/>
                <a:gd fmla="*/ 759651 h 874716" name="connsiteY183"/>
                <a:gd fmla="*/ 6310905 w 6857455" name="connsiteX184"/>
                <a:gd fmla="*/ 758316 h 874716" name="connsiteY184"/>
                <a:gd fmla="*/ 6333194 w 6857455" name="connsiteX185"/>
                <a:gd fmla="*/ 757554 h 874716" name="connsiteY185"/>
                <a:gd fmla="*/ 6409586 w 6857455" name="connsiteX186"/>
                <a:gd fmla="*/ 773177 h 874716" name="connsiteY186"/>
                <a:gd fmla="*/ 6477407 w 6857455" name="connsiteX187"/>
                <a:gd fmla="*/ 774129 h 874716" name="connsiteY187"/>
                <a:gd fmla="*/ 6596283 w 6857455" name="connsiteX188"/>
                <a:gd fmla="*/ 786703 h 874716" name="connsiteY188"/>
                <a:gd fmla="*/ 6622573 w 6857455" name="connsiteX189"/>
                <a:gd fmla="*/ 782321 h 874716" name="connsiteY189"/>
                <a:gd fmla="*/ 6704872 w 6857455" name="connsiteX190"/>
                <a:gd fmla="*/ 780607 h 874716" name="connsiteY190"/>
                <a:gd fmla="*/ 6751738 w 6857455" name="connsiteX191"/>
                <a:gd fmla="*/ 779273 h 874716" name="connsiteY191"/>
                <a:gd fmla="*/ 6809650 w 6857455" name="connsiteX192"/>
                <a:gd fmla="*/ 788417 h 874716" name="connsiteY192"/>
                <a:gd fmla="*/ 6832976 w 6857455" name="connsiteX193"/>
                <a:gd fmla="*/ 800428 h 874716" name="connsiteY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b="b" l="l" r="r" t="t"/>
              <a:pathLst>
                <a:path h="874716" w="6857455">
                  <a:moveTo>
                    <a:pt x="6857455" y="804643"/>
                  </a:moveTo>
                  <a:lnTo>
                    <a:pt x="6857455" y="562246"/>
                  </a:lnTo>
                  <a:lnTo>
                    <a:pt x="6829178" y="551284"/>
                  </a:lnTo>
                  <a:cubicBezTo>
                    <a:pt x="6805745" y="539044"/>
                    <a:pt x="6784885" y="521708"/>
                    <a:pt x="6766024" y="500372"/>
                  </a:cubicBezTo>
                  <a:cubicBezTo>
                    <a:pt x="6755166" y="488179"/>
                    <a:pt x="6746784" y="486845"/>
                    <a:pt x="6734971" y="500944"/>
                  </a:cubicBezTo>
                  <a:cubicBezTo>
                    <a:pt x="6721257" y="517326"/>
                    <a:pt x="6701634" y="510850"/>
                    <a:pt x="6683915" y="507040"/>
                  </a:cubicBezTo>
                  <a:cubicBezTo>
                    <a:pt x="6665629" y="503230"/>
                    <a:pt x="6647148" y="499228"/>
                    <a:pt x="6628860" y="495418"/>
                  </a:cubicBezTo>
                  <a:cubicBezTo>
                    <a:pt x="6615335" y="492752"/>
                    <a:pt x="6601999" y="490466"/>
                    <a:pt x="6588662" y="487227"/>
                  </a:cubicBezTo>
                  <a:cubicBezTo>
                    <a:pt x="6547133" y="477129"/>
                    <a:pt x="6509794" y="480177"/>
                    <a:pt x="6476074" y="511230"/>
                  </a:cubicBezTo>
                  <a:cubicBezTo>
                    <a:pt x="6450356" y="535043"/>
                    <a:pt x="6417399" y="542093"/>
                    <a:pt x="6382345" y="534853"/>
                  </a:cubicBezTo>
                  <a:cubicBezTo>
                    <a:pt x="6377963" y="533901"/>
                    <a:pt x="6372439" y="530091"/>
                    <a:pt x="6369391" y="531615"/>
                  </a:cubicBezTo>
                  <a:cubicBezTo>
                    <a:pt x="6323479" y="553904"/>
                    <a:pt x="6287092" y="514658"/>
                    <a:pt x="6244799" y="512182"/>
                  </a:cubicBezTo>
                  <a:cubicBezTo>
                    <a:pt x="6226130" y="511040"/>
                    <a:pt x="6207079" y="496942"/>
                    <a:pt x="6190315" y="485703"/>
                  </a:cubicBezTo>
                  <a:cubicBezTo>
                    <a:pt x="6167262" y="470271"/>
                    <a:pt x="6146687" y="455412"/>
                    <a:pt x="6115446" y="462270"/>
                  </a:cubicBezTo>
                  <a:cubicBezTo>
                    <a:pt x="6084203" y="469319"/>
                    <a:pt x="6055627" y="456364"/>
                    <a:pt x="6032194" y="434266"/>
                  </a:cubicBezTo>
                  <a:cubicBezTo>
                    <a:pt x="6014287" y="417501"/>
                    <a:pt x="5994665" y="415977"/>
                    <a:pt x="5971042" y="420738"/>
                  </a:cubicBezTo>
                  <a:cubicBezTo>
                    <a:pt x="5941513" y="426645"/>
                    <a:pt x="5910842" y="427027"/>
                    <a:pt x="5880933" y="430646"/>
                  </a:cubicBezTo>
                  <a:cubicBezTo>
                    <a:pt x="5874454" y="431408"/>
                    <a:pt x="5866265" y="434076"/>
                    <a:pt x="5862452" y="438648"/>
                  </a:cubicBezTo>
                  <a:cubicBezTo>
                    <a:pt x="5815779" y="495418"/>
                    <a:pt x="5750055" y="495990"/>
                    <a:pt x="5685283" y="498658"/>
                  </a:cubicBezTo>
                  <a:cubicBezTo>
                    <a:pt x="5646039" y="500372"/>
                    <a:pt x="5606604" y="500372"/>
                    <a:pt x="5567169" y="499420"/>
                  </a:cubicBezTo>
                  <a:cubicBezTo>
                    <a:pt x="5553832" y="499228"/>
                    <a:pt x="5539736" y="496180"/>
                    <a:pt x="5527923" y="490466"/>
                  </a:cubicBezTo>
                  <a:cubicBezTo>
                    <a:pt x="5503348" y="478463"/>
                    <a:pt x="5480680" y="462843"/>
                    <a:pt x="5456292" y="450650"/>
                  </a:cubicBezTo>
                  <a:cubicBezTo>
                    <a:pt x="5447151" y="445886"/>
                    <a:pt x="5435338" y="445696"/>
                    <a:pt x="5424670" y="444934"/>
                  </a:cubicBezTo>
                  <a:cubicBezTo>
                    <a:pt x="5405809" y="443410"/>
                    <a:pt x="5384854" y="447982"/>
                    <a:pt x="5368662" y="441124"/>
                  </a:cubicBezTo>
                  <a:cubicBezTo>
                    <a:pt x="5326559" y="423407"/>
                    <a:pt x="5287123" y="427407"/>
                    <a:pt x="5247118" y="444934"/>
                  </a:cubicBezTo>
                  <a:cubicBezTo>
                    <a:pt x="5191108" y="469509"/>
                    <a:pt x="5138148" y="467605"/>
                    <a:pt x="5088617" y="428742"/>
                  </a:cubicBezTo>
                  <a:cubicBezTo>
                    <a:pt x="5066328" y="411215"/>
                    <a:pt x="5044609" y="419596"/>
                    <a:pt x="5025750" y="433694"/>
                  </a:cubicBezTo>
                  <a:cubicBezTo>
                    <a:pt x="5004032" y="450078"/>
                    <a:pt x="4982885" y="454268"/>
                    <a:pt x="4957930" y="442268"/>
                  </a:cubicBezTo>
                  <a:cubicBezTo>
                    <a:pt x="4952404" y="439600"/>
                    <a:pt x="4944594" y="440933"/>
                    <a:pt x="4938116" y="441886"/>
                  </a:cubicBezTo>
                  <a:cubicBezTo>
                    <a:pt x="4901158" y="446648"/>
                    <a:pt x="4864009" y="454650"/>
                    <a:pt x="4833910" y="421693"/>
                  </a:cubicBezTo>
                  <a:cubicBezTo>
                    <a:pt x="4828004" y="415214"/>
                    <a:pt x="4818097" y="412549"/>
                    <a:pt x="4810095" y="408167"/>
                  </a:cubicBezTo>
                  <a:cubicBezTo>
                    <a:pt x="4776566" y="390258"/>
                    <a:pt x="4777900" y="391974"/>
                    <a:pt x="4747991" y="413691"/>
                  </a:cubicBezTo>
                  <a:cubicBezTo>
                    <a:pt x="4732369" y="425121"/>
                    <a:pt x="4710842" y="436742"/>
                    <a:pt x="4692745" y="435790"/>
                  </a:cubicBezTo>
                  <a:cubicBezTo>
                    <a:pt x="4583584" y="430075"/>
                    <a:pt x="4479758" y="457508"/>
                    <a:pt x="4375933" y="483417"/>
                  </a:cubicBezTo>
                  <a:cubicBezTo>
                    <a:pt x="4311923" y="499420"/>
                    <a:pt x="4249436" y="500372"/>
                    <a:pt x="4185426" y="484179"/>
                  </a:cubicBezTo>
                  <a:cubicBezTo>
                    <a:pt x="4139133" y="472367"/>
                    <a:pt x="4095315" y="491800"/>
                    <a:pt x="4052072" y="505134"/>
                  </a:cubicBezTo>
                  <a:cubicBezTo>
                    <a:pt x="4043117" y="507799"/>
                    <a:pt x="4034735" y="518278"/>
                    <a:pt x="4029973" y="527233"/>
                  </a:cubicBezTo>
                  <a:cubicBezTo>
                    <a:pt x="4012826" y="558858"/>
                    <a:pt x="3984441" y="563810"/>
                    <a:pt x="3948626" y="550666"/>
                  </a:cubicBezTo>
                  <a:cubicBezTo>
                    <a:pt x="3920241" y="540377"/>
                    <a:pt x="3894332" y="526661"/>
                    <a:pt x="3871280" y="502275"/>
                  </a:cubicBezTo>
                  <a:cubicBezTo>
                    <a:pt x="3844229" y="473701"/>
                    <a:pt x="3816224" y="441124"/>
                    <a:pt x="3774312" y="429122"/>
                  </a:cubicBezTo>
                  <a:cubicBezTo>
                    <a:pt x="3756214" y="423979"/>
                    <a:pt x="3740593" y="423217"/>
                    <a:pt x="3721543" y="428552"/>
                  </a:cubicBezTo>
                  <a:cubicBezTo>
                    <a:pt x="3684583" y="438837"/>
                    <a:pt x="3647436" y="446078"/>
                    <a:pt x="3612763" y="414263"/>
                  </a:cubicBezTo>
                  <a:cubicBezTo>
                    <a:pt x="3593712" y="396736"/>
                    <a:pt x="3567994" y="385496"/>
                    <a:pt x="3537323" y="389878"/>
                  </a:cubicBezTo>
                  <a:cubicBezTo>
                    <a:pt x="3499031" y="395402"/>
                    <a:pt x="3464168" y="381496"/>
                    <a:pt x="3431593" y="360921"/>
                  </a:cubicBezTo>
                  <a:cubicBezTo>
                    <a:pt x="3419971" y="353491"/>
                    <a:pt x="3405682" y="349301"/>
                    <a:pt x="3392158" y="345681"/>
                  </a:cubicBezTo>
                  <a:cubicBezTo>
                    <a:pt x="3360915" y="337298"/>
                    <a:pt x="3329480" y="329868"/>
                    <a:pt x="3297856" y="323010"/>
                  </a:cubicBezTo>
                  <a:cubicBezTo>
                    <a:pt x="3271948" y="317296"/>
                    <a:pt x="3245849" y="313104"/>
                    <a:pt x="3219748" y="308151"/>
                  </a:cubicBezTo>
                  <a:cubicBezTo>
                    <a:pt x="3191173" y="302817"/>
                    <a:pt x="3168502" y="290433"/>
                    <a:pt x="3156692" y="261668"/>
                  </a:cubicBezTo>
                  <a:cubicBezTo>
                    <a:pt x="3152882" y="252524"/>
                    <a:pt x="3143737" y="245283"/>
                    <a:pt x="3136497" y="237663"/>
                  </a:cubicBezTo>
                  <a:cubicBezTo>
                    <a:pt x="3131355" y="232139"/>
                    <a:pt x="3124495" y="227947"/>
                    <a:pt x="3119733" y="222233"/>
                  </a:cubicBezTo>
                  <a:cubicBezTo>
                    <a:pt x="3094776" y="192132"/>
                    <a:pt x="3070201" y="161843"/>
                    <a:pt x="3045436" y="131742"/>
                  </a:cubicBezTo>
                  <a:cubicBezTo>
                    <a:pt x="3042958" y="128884"/>
                    <a:pt x="3040292" y="125455"/>
                    <a:pt x="3037054" y="124121"/>
                  </a:cubicBezTo>
                  <a:cubicBezTo>
                    <a:pt x="3003525" y="110215"/>
                    <a:pt x="2969614" y="97070"/>
                    <a:pt x="2936466" y="82400"/>
                  </a:cubicBezTo>
                  <a:cubicBezTo>
                    <a:pt x="2923702" y="76686"/>
                    <a:pt x="2910558" y="69637"/>
                    <a:pt x="2901031" y="59731"/>
                  </a:cubicBezTo>
                  <a:cubicBezTo>
                    <a:pt x="2879314" y="37250"/>
                    <a:pt x="2859502" y="12866"/>
                    <a:pt x="2828259" y="3149"/>
                  </a:cubicBezTo>
                  <a:cubicBezTo>
                    <a:pt x="2819114" y="293"/>
                    <a:pt x="2808256" y="-1231"/>
                    <a:pt x="2799492" y="1245"/>
                  </a:cubicBezTo>
                  <a:cubicBezTo>
                    <a:pt x="2763867" y="11532"/>
                    <a:pt x="2729005" y="24296"/>
                    <a:pt x="2693570" y="35154"/>
                  </a:cubicBezTo>
                  <a:cubicBezTo>
                    <a:pt x="2671092" y="41823"/>
                    <a:pt x="2650707" y="49825"/>
                    <a:pt x="2639847" y="73448"/>
                  </a:cubicBezTo>
                  <a:cubicBezTo>
                    <a:pt x="2636801" y="80114"/>
                    <a:pt x="2628226" y="87354"/>
                    <a:pt x="2621178" y="88688"/>
                  </a:cubicBezTo>
                  <a:cubicBezTo>
                    <a:pt x="2575839" y="97260"/>
                    <a:pt x="2531069" y="101451"/>
                    <a:pt x="2489348" y="72304"/>
                  </a:cubicBezTo>
                  <a:cubicBezTo>
                    <a:pt x="2480585" y="66017"/>
                    <a:pt x="2464201" y="66017"/>
                    <a:pt x="2452580" y="68683"/>
                  </a:cubicBezTo>
                  <a:cubicBezTo>
                    <a:pt x="2407811" y="78590"/>
                    <a:pt x="2365328" y="82020"/>
                    <a:pt x="2326464" y="50395"/>
                  </a:cubicBezTo>
                  <a:cubicBezTo>
                    <a:pt x="2321892" y="46585"/>
                    <a:pt x="2307224" y="50015"/>
                    <a:pt x="2300365" y="54777"/>
                  </a:cubicBezTo>
                  <a:cubicBezTo>
                    <a:pt x="2234259" y="101261"/>
                    <a:pt x="2198064" y="102405"/>
                    <a:pt x="2130434" y="58397"/>
                  </a:cubicBezTo>
                  <a:cubicBezTo>
                    <a:pt x="2126052" y="55539"/>
                    <a:pt x="2120337" y="52301"/>
                    <a:pt x="2118621" y="47919"/>
                  </a:cubicBezTo>
                  <a:cubicBezTo>
                    <a:pt x="2107001" y="19914"/>
                    <a:pt x="2082236" y="19152"/>
                    <a:pt x="2057659" y="16866"/>
                  </a:cubicBezTo>
                  <a:cubicBezTo>
                    <a:pt x="2030608" y="14390"/>
                    <a:pt x="2003555" y="11152"/>
                    <a:pt x="1976314" y="8865"/>
                  </a:cubicBezTo>
                  <a:cubicBezTo>
                    <a:pt x="1971550" y="8483"/>
                    <a:pt x="1966216" y="10007"/>
                    <a:pt x="1961454" y="11724"/>
                  </a:cubicBezTo>
                  <a:cubicBezTo>
                    <a:pt x="1943165" y="18010"/>
                    <a:pt x="1925449" y="27154"/>
                    <a:pt x="1906588" y="30964"/>
                  </a:cubicBezTo>
                  <a:cubicBezTo>
                    <a:pt x="1865821" y="39156"/>
                    <a:pt x="1826385" y="55539"/>
                    <a:pt x="1783330" y="48871"/>
                  </a:cubicBezTo>
                  <a:cubicBezTo>
                    <a:pt x="1775902" y="47729"/>
                    <a:pt x="1767327" y="53253"/>
                    <a:pt x="1759327" y="55349"/>
                  </a:cubicBezTo>
                  <a:cubicBezTo>
                    <a:pt x="1744849" y="58969"/>
                    <a:pt x="1730750" y="64111"/>
                    <a:pt x="1716082" y="65445"/>
                  </a:cubicBezTo>
                  <a:cubicBezTo>
                    <a:pt x="1677218" y="68875"/>
                    <a:pt x="1637975" y="71924"/>
                    <a:pt x="1598920" y="72114"/>
                  </a:cubicBezTo>
                  <a:cubicBezTo>
                    <a:pt x="1580061" y="72304"/>
                    <a:pt x="1561201" y="65065"/>
                    <a:pt x="1542150" y="62207"/>
                  </a:cubicBezTo>
                  <a:cubicBezTo>
                    <a:pt x="1533578" y="60873"/>
                    <a:pt x="1519669" y="58587"/>
                    <a:pt x="1516813" y="62779"/>
                  </a:cubicBezTo>
                  <a:cubicBezTo>
                    <a:pt x="1494714" y="94592"/>
                    <a:pt x="1463661" y="88496"/>
                    <a:pt x="1432228" y="88116"/>
                  </a:cubicBezTo>
                  <a:cubicBezTo>
                    <a:pt x="1362884" y="87354"/>
                    <a:pt x="1295826" y="60493"/>
                    <a:pt x="1224765" y="71924"/>
                  </a:cubicBezTo>
                  <a:cubicBezTo>
                    <a:pt x="1204191" y="75162"/>
                    <a:pt x="1181330" y="62397"/>
                    <a:pt x="1159231" y="58207"/>
                  </a:cubicBezTo>
                  <a:cubicBezTo>
                    <a:pt x="1147801" y="56111"/>
                    <a:pt x="1135228" y="53633"/>
                    <a:pt x="1124370" y="56301"/>
                  </a:cubicBezTo>
                  <a:cubicBezTo>
                    <a:pt x="1107605" y="60493"/>
                    <a:pt x="1091411" y="68113"/>
                    <a:pt x="1075600" y="75542"/>
                  </a:cubicBezTo>
                  <a:cubicBezTo>
                    <a:pt x="1046261" y="89258"/>
                    <a:pt x="1016162" y="89258"/>
                    <a:pt x="986633" y="79162"/>
                  </a:cubicBezTo>
                  <a:cubicBezTo>
                    <a:pt x="944722" y="64873"/>
                    <a:pt x="903193" y="64873"/>
                    <a:pt x="861089" y="76304"/>
                  </a:cubicBezTo>
                  <a:cubicBezTo>
                    <a:pt x="826990" y="85638"/>
                    <a:pt x="791935" y="92116"/>
                    <a:pt x="759168" y="104689"/>
                  </a:cubicBezTo>
                  <a:cubicBezTo>
                    <a:pt x="744689" y="110215"/>
                    <a:pt x="732497" y="126597"/>
                    <a:pt x="723735" y="140696"/>
                  </a:cubicBezTo>
                  <a:cubicBezTo>
                    <a:pt x="706018" y="169271"/>
                    <a:pt x="674013" y="169081"/>
                    <a:pt x="647532" y="147934"/>
                  </a:cubicBezTo>
                  <a:cubicBezTo>
                    <a:pt x="619717" y="125645"/>
                    <a:pt x="584664" y="112501"/>
                    <a:pt x="552659" y="95926"/>
                  </a:cubicBezTo>
                  <a:cubicBezTo>
                    <a:pt x="549993" y="94592"/>
                    <a:pt x="545039" y="96116"/>
                    <a:pt x="541800" y="97640"/>
                  </a:cubicBezTo>
                  <a:cubicBezTo>
                    <a:pt x="488649" y="122407"/>
                    <a:pt x="433593" y="126979"/>
                    <a:pt x="375107" y="123169"/>
                  </a:cubicBezTo>
                  <a:cubicBezTo>
                    <a:pt x="341960" y="121073"/>
                    <a:pt x="307289" y="137076"/>
                    <a:pt x="273567" y="145458"/>
                  </a:cubicBezTo>
                  <a:cubicBezTo>
                    <a:pt x="269757" y="146410"/>
                    <a:pt x="266519" y="151174"/>
                    <a:pt x="264043" y="154792"/>
                  </a:cubicBezTo>
                  <a:cubicBezTo>
                    <a:pt x="240228" y="190800"/>
                    <a:pt x="208223" y="200706"/>
                    <a:pt x="169360" y="177273"/>
                  </a:cubicBezTo>
                  <a:cubicBezTo>
                    <a:pt x="143643" y="161651"/>
                    <a:pt x="118114" y="158032"/>
                    <a:pt x="89347" y="157460"/>
                  </a:cubicBezTo>
                  <a:cubicBezTo>
                    <a:pt x="71059" y="157078"/>
                    <a:pt x="52962" y="147934"/>
                    <a:pt x="34291" y="145268"/>
                  </a:cubicBezTo>
                  <a:lnTo>
                    <a:pt x="0" y="142056"/>
                  </a:lnTo>
                  <a:lnTo>
                    <a:pt x="0" y="849556"/>
                  </a:lnTo>
                  <a:lnTo>
                    <a:pt x="60652" y="844783"/>
                  </a:lnTo>
                  <a:cubicBezTo>
                    <a:pt x="80251" y="839473"/>
                    <a:pt x="99446" y="832043"/>
                    <a:pt x="119068" y="827281"/>
                  </a:cubicBezTo>
                  <a:cubicBezTo>
                    <a:pt x="137355" y="822899"/>
                    <a:pt x="154501" y="812802"/>
                    <a:pt x="171840" y="804420"/>
                  </a:cubicBezTo>
                  <a:cubicBezTo>
                    <a:pt x="204985" y="788417"/>
                    <a:pt x="240420" y="798514"/>
                    <a:pt x="274329" y="794324"/>
                  </a:cubicBezTo>
                  <a:cubicBezTo>
                    <a:pt x="285188" y="792990"/>
                    <a:pt x="296046" y="791466"/>
                    <a:pt x="306715" y="788798"/>
                  </a:cubicBezTo>
                  <a:cubicBezTo>
                    <a:pt x="335864" y="781749"/>
                    <a:pt x="365583" y="775653"/>
                    <a:pt x="393967" y="765937"/>
                  </a:cubicBezTo>
                  <a:cubicBezTo>
                    <a:pt x="426165" y="755078"/>
                    <a:pt x="457028" y="740600"/>
                    <a:pt x="493793" y="725549"/>
                  </a:cubicBezTo>
                  <a:cubicBezTo>
                    <a:pt x="506557" y="729360"/>
                    <a:pt x="526180" y="739648"/>
                    <a:pt x="546373" y="740600"/>
                  </a:cubicBezTo>
                  <a:cubicBezTo>
                    <a:pt x="611337" y="743838"/>
                    <a:pt x="672107" y="726121"/>
                    <a:pt x="730211" y="698116"/>
                  </a:cubicBezTo>
                  <a:cubicBezTo>
                    <a:pt x="747927" y="689734"/>
                    <a:pt x="766980" y="684210"/>
                    <a:pt x="784889" y="676018"/>
                  </a:cubicBezTo>
                  <a:cubicBezTo>
                    <a:pt x="791173" y="673161"/>
                    <a:pt x="799365" y="667065"/>
                    <a:pt x="800509" y="661349"/>
                  </a:cubicBezTo>
                  <a:cubicBezTo>
                    <a:pt x="807175" y="628201"/>
                    <a:pt x="831942" y="628772"/>
                    <a:pt x="857661" y="626868"/>
                  </a:cubicBezTo>
                  <a:cubicBezTo>
                    <a:pt x="888332" y="624582"/>
                    <a:pt x="918621" y="619248"/>
                    <a:pt x="949102" y="614676"/>
                  </a:cubicBezTo>
                  <a:cubicBezTo>
                    <a:pt x="953104" y="614104"/>
                    <a:pt x="956722" y="610104"/>
                    <a:pt x="960342" y="607435"/>
                  </a:cubicBezTo>
                  <a:cubicBezTo>
                    <a:pt x="965867" y="603435"/>
                    <a:pt x="971011" y="597339"/>
                    <a:pt x="977109" y="595815"/>
                  </a:cubicBezTo>
                  <a:cubicBezTo>
                    <a:pt x="1008350" y="588385"/>
                    <a:pt x="1039783" y="582099"/>
                    <a:pt x="1071218" y="575240"/>
                  </a:cubicBezTo>
                  <a:cubicBezTo>
                    <a:pt x="1078266" y="573716"/>
                    <a:pt x="1085505" y="571812"/>
                    <a:pt x="1091983" y="568764"/>
                  </a:cubicBezTo>
                  <a:cubicBezTo>
                    <a:pt x="1098079" y="565906"/>
                    <a:pt x="1103223" y="560952"/>
                    <a:pt x="1109321" y="557904"/>
                  </a:cubicBezTo>
                  <a:cubicBezTo>
                    <a:pt x="1125892" y="549714"/>
                    <a:pt x="1142851" y="542093"/>
                    <a:pt x="1162279" y="532949"/>
                  </a:cubicBezTo>
                  <a:cubicBezTo>
                    <a:pt x="1173138" y="550094"/>
                    <a:pt x="1187810" y="540377"/>
                    <a:pt x="1206097" y="532187"/>
                  </a:cubicBezTo>
                  <a:cubicBezTo>
                    <a:pt x="1224765" y="523805"/>
                    <a:pt x="1246292" y="521137"/>
                    <a:pt x="1266867" y="518088"/>
                  </a:cubicBezTo>
                  <a:cubicBezTo>
                    <a:pt x="1304588" y="512564"/>
                    <a:pt x="1342499" y="509134"/>
                    <a:pt x="1380219" y="504182"/>
                  </a:cubicBezTo>
                  <a:cubicBezTo>
                    <a:pt x="1388221" y="503038"/>
                    <a:pt x="1397365" y="500944"/>
                    <a:pt x="1403461" y="496180"/>
                  </a:cubicBezTo>
                  <a:cubicBezTo>
                    <a:pt x="1445181" y="464175"/>
                    <a:pt x="1495858" y="455222"/>
                    <a:pt x="1544054" y="458268"/>
                  </a:cubicBezTo>
                  <a:cubicBezTo>
                    <a:pt x="1581965" y="460557"/>
                    <a:pt x="1619114" y="462270"/>
                    <a:pt x="1656644" y="459032"/>
                  </a:cubicBezTo>
                  <a:cubicBezTo>
                    <a:pt x="1659502" y="458841"/>
                    <a:pt x="1663312" y="459223"/>
                    <a:pt x="1665406" y="460747"/>
                  </a:cubicBezTo>
                  <a:cubicBezTo>
                    <a:pt x="1678360" y="470843"/>
                    <a:pt x="1691887" y="471605"/>
                    <a:pt x="1708461" y="473318"/>
                  </a:cubicBezTo>
                  <a:cubicBezTo>
                    <a:pt x="1731894" y="475797"/>
                    <a:pt x="1753421" y="474081"/>
                    <a:pt x="1775140" y="469891"/>
                  </a:cubicBezTo>
                  <a:cubicBezTo>
                    <a:pt x="1790952" y="466843"/>
                    <a:pt x="1806953" y="460557"/>
                    <a:pt x="1821051" y="452554"/>
                  </a:cubicBezTo>
                  <a:cubicBezTo>
                    <a:pt x="1840672" y="441314"/>
                    <a:pt x="1859535" y="436934"/>
                    <a:pt x="1878203" y="451792"/>
                  </a:cubicBezTo>
                  <a:cubicBezTo>
                    <a:pt x="1898396" y="467605"/>
                    <a:pt x="1921257" y="462081"/>
                    <a:pt x="1943547" y="462651"/>
                  </a:cubicBezTo>
                  <a:cubicBezTo>
                    <a:pt x="1953262" y="462843"/>
                    <a:pt x="1963550" y="462461"/>
                    <a:pt x="1972884" y="464937"/>
                  </a:cubicBezTo>
                  <a:cubicBezTo>
                    <a:pt x="1999935" y="471987"/>
                    <a:pt x="2026036" y="482655"/>
                    <a:pt x="2053469" y="487417"/>
                  </a:cubicBezTo>
                  <a:cubicBezTo>
                    <a:pt x="2068710" y="490084"/>
                    <a:pt x="2085664" y="485321"/>
                    <a:pt x="2101477" y="481893"/>
                  </a:cubicBezTo>
                  <a:cubicBezTo>
                    <a:pt x="2117479" y="478273"/>
                    <a:pt x="2133290" y="472749"/>
                    <a:pt x="2148722" y="467033"/>
                  </a:cubicBezTo>
                  <a:cubicBezTo>
                    <a:pt x="2159199" y="463223"/>
                    <a:pt x="2170629" y="459603"/>
                    <a:pt x="2179011" y="452744"/>
                  </a:cubicBezTo>
                  <a:cubicBezTo>
                    <a:pt x="2198064" y="437124"/>
                    <a:pt x="2217685" y="434455"/>
                    <a:pt x="2240165" y="442648"/>
                  </a:cubicBezTo>
                  <a:cubicBezTo>
                    <a:pt x="2243593" y="443982"/>
                    <a:pt x="2247594" y="443982"/>
                    <a:pt x="2251404" y="444172"/>
                  </a:cubicBezTo>
                  <a:cubicBezTo>
                    <a:pt x="2312370" y="448172"/>
                    <a:pt x="2373330" y="450650"/>
                    <a:pt x="2433912" y="456746"/>
                  </a:cubicBezTo>
                  <a:cubicBezTo>
                    <a:pt x="2458485" y="459223"/>
                    <a:pt x="2482107" y="470081"/>
                    <a:pt x="2506302" y="476939"/>
                  </a:cubicBezTo>
                  <a:cubicBezTo>
                    <a:pt x="2511256" y="478273"/>
                    <a:pt x="2516783" y="480369"/>
                    <a:pt x="2521735" y="479415"/>
                  </a:cubicBezTo>
                  <a:cubicBezTo>
                    <a:pt x="2575647" y="469891"/>
                    <a:pt x="2626132" y="483797"/>
                    <a:pt x="2675854" y="502086"/>
                  </a:cubicBezTo>
                  <a:cubicBezTo>
                    <a:pt x="2680996" y="503992"/>
                    <a:pt x="2687282" y="503419"/>
                    <a:pt x="2692998" y="503038"/>
                  </a:cubicBezTo>
                  <a:cubicBezTo>
                    <a:pt x="2709003" y="501706"/>
                    <a:pt x="2726337" y="495038"/>
                    <a:pt x="2740816" y="499037"/>
                  </a:cubicBezTo>
                  <a:cubicBezTo>
                    <a:pt x="2779297" y="510088"/>
                    <a:pt x="2817398" y="523423"/>
                    <a:pt x="2853596" y="540187"/>
                  </a:cubicBezTo>
                  <a:cubicBezTo>
                    <a:pt x="2890365" y="557142"/>
                    <a:pt x="2924464" y="571430"/>
                    <a:pt x="2966565" y="554286"/>
                  </a:cubicBezTo>
                  <a:cubicBezTo>
                    <a:pt x="2984472" y="547045"/>
                    <a:pt x="3008095" y="552190"/>
                    <a:pt x="3028671" y="554094"/>
                  </a:cubicBezTo>
                  <a:cubicBezTo>
                    <a:pt x="3043720" y="555618"/>
                    <a:pt x="3058198" y="564192"/>
                    <a:pt x="3073059" y="564192"/>
                  </a:cubicBezTo>
                  <a:cubicBezTo>
                    <a:pt x="3112686" y="564192"/>
                    <a:pt x="3147927" y="574288"/>
                    <a:pt x="3182219" y="594862"/>
                  </a:cubicBezTo>
                  <a:cubicBezTo>
                    <a:pt x="3195557" y="602863"/>
                    <a:pt x="3216322" y="597529"/>
                    <a:pt x="3233656" y="599625"/>
                  </a:cubicBezTo>
                  <a:cubicBezTo>
                    <a:pt x="3251947" y="602101"/>
                    <a:pt x="3270804" y="604387"/>
                    <a:pt x="3288332" y="609914"/>
                  </a:cubicBezTo>
                  <a:cubicBezTo>
                    <a:pt x="3333672" y="624392"/>
                    <a:pt x="3378441" y="640774"/>
                    <a:pt x="3423591" y="656015"/>
                  </a:cubicBezTo>
                  <a:cubicBezTo>
                    <a:pt x="3460738" y="668590"/>
                    <a:pt x="3497317" y="658683"/>
                    <a:pt x="3534084" y="653349"/>
                  </a:cubicBezTo>
                  <a:cubicBezTo>
                    <a:pt x="3557137" y="649919"/>
                    <a:pt x="3578662" y="641727"/>
                    <a:pt x="3604571" y="653918"/>
                  </a:cubicBezTo>
                  <a:cubicBezTo>
                    <a:pt x="3629338" y="665541"/>
                    <a:pt x="3660771" y="662873"/>
                    <a:pt x="3688586" y="669160"/>
                  </a:cubicBezTo>
                  <a:cubicBezTo>
                    <a:pt x="3712020" y="674494"/>
                    <a:pt x="3734687" y="683068"/>
                    <a:pt x="3757358" y="691450"/>
                  </a:cubicBezTo>
                  <a:cubicBezTo>
                    <a:pt x="3788221" y="702881"/>
                    <a:pt x="3818700" y="714881"/>
                    <a:pt x="3852421" y="709167"/>
                  </a:cubicBezTo>
                  <a:cubicBezTo>
                    <a:pt x="3890714" y="702689"/>
                    <a:pt x="3917001" y="727073"/>
                    <a:pt x="3947104" y="743267"/>
                  </a:cubicBezTo>
                  <a:cubicBezTo>
                    <a:pt x="3967869" y="754316"/>
                    <a:pt x="3990538" y="762509"/>
                    <a:pt x="4013208" y="769367"/>
                  </a:cubicBezTo>
                  <a:cubicBezTo>
                    <a:pt x="4043497" y="778321"/>
                    <a:pt x="4074740" y="783655"/>
                    <a:pt x="4105222" y="792417"/>
                  </a:cubicBezTo>
                  <a:cubicBezTo>
                    <a:pt x="4151325" y="805561"/>
                    <a:pt x="4198001" y="815850"/>
                    <a:pt x="4246006" y="808610"/>
                  </a:cubicBezTo>
                  <a:cubicBezTo>
                    <a:pt x="4268105" y="805372"/>
                    <a:pt x="4288682" y="805561"/>
                    <a:pt x="4310779" y="810326"/>
                  </a:cubicBezTo>
                  <a:cubicBezTo>
                    <a:pt x="4346974" y="818136"/>
                    <a:pt x="4384123" y="819089"/>
                    <a:pt x="4413272" y="848235"/>
                  </a:cubicBezTo>
                  <a:cubicBezTo>
                    <a:pt x="4423558" y="858524"/>
                    <a:pt x="4442037" y="861190"/>
                    <a:pt x="4457087" y="866524"/>
                  </a:cubicBezTo>
                  <a:cubicBezTo>
                    <a:pt x="4474424" y="872812"/>
                    <a:pt x="4487186" y="869572"/>
                    <a:pt x="4496523" y="851284"/>
                  </a:cubicBezTo>
                  <a:cubicBezTo>
                    <a:pt x="4500713" y="843093"/>
                    <a:pt x="4512715" y="835091"/>
                    <a:pt x="4522050" y="833757"/>
                  </a:cubicBezTo>
                  <a:cubicBezTo>
                    <a:pt x="4550055" y="829757"/>
                    <a:pt x="4575773" y="835663"/>
                    <a:pt x="4602824" y="848618"/>
                  </a:cubicBezTo>
                  <a:cubicBezTo>
                    <a:pt x="4628161" y="860810"/>
                    <a:pt x="4659786" y="859476"/>
                    <a:pt x="4688553" y="864238"/>
                  </a:cubicBezTo>
                  <a:cubicBezTo>
                    <a:pt x="4708936" y="867668"/>
                    <a:pt x="4729321" y="874716"/>
                    <a:pt x="4749895" y="874716"/>
                  </a:cubicBezTo>
                  <a:cubicBezTo>
                    <a:pt x="4775424" y="874716"/>
                    <a:pt x="4800761" y="868620"/>
                    <a:pt x="4826480" y="866334"/>
                  </a:cubicBezTo>
                  <a:cubicBezTo>
                    <a:pt x="4846482" y="864430"/>
                    <a:pt x="4866867" y="865192"/>
                    <a:pt x="4886870" y="862906"/>
                  </a:cubicBezTo>
                  <a:cubicBezTo>
                    <a:pt x="4903254" y="861190"/>
                    <a:pt x="4919447" y="856810"/>
                    <a:pt x="4935639" y="853190"/>
                  </a:cubicBezTo>
                  <a:cubicBezTo>
                    <a:pt x="4941546" y="851856"/>
                    <a:pt x="4947452" y="846711"/>
                    <a:pt x="4952784" y="847473"/>
                  </a:cubicBezTo>
                  <a:cubicBezTo>
                    <a:pt x="5005745" y="855666"/>
                    <a:pt x="5043847" y="819089"/>
                    <a:pt x="5088617" y="802896"/>
                  </a:cubicBezTo>
                  <a:cubicBezTo>
                    <a:pt x="5135672" y="785749"/>
                    <a:pt x="5181204" y="759461"/>
                    <a:pt x="5233781" y="767271"/>
                  </a:cubicBezTo>
                  <a:cubicBezTo>
                    <a:pt x="5265596" y="772033"/>
                    <a:pt x="5296267" y="783083"/>
                    <a:pt x="5327893" y="789752"/>
                  </a:cubicBezTo>
                  <a:cubicBezTo>
                    <a:pt x="5339132" y="792038"/>
                    <a:pt x="5351705" y="791656"/>
                    <a:pt x="5362946" y="789370"/>
                  </a:cubicBezTo>
                  <a:cubicBezTo>
                    <a:pt x="5417240" y="778891"/>
                    <a:pt x="5470771" y="777367"/>
                    <a:pt x="5524115" y="794514"/>
                  </a:cubicBezTo>
                  <a:cubicBezTo>
                    <a:pt x="5533257" y="797372"/>
                    <a:pt x="5542974" y="800038"/>
                    <a:pt x="5552500" y="800038"/>
                  </a:cubicBezTo>
                  <a:cubicBezTo>
                    <a:pt x="5604697" y="800038"/>
                    <a:pt x="5655944" y="796038"/>
                    <a:pt x="5705857" y="777367"/>
                  </a:cubicBezTo>
                  <a:cubicBezTo>
                    <a:pt x="5722622" y="771080"/>
                    <a:pt x="5743006" y="775081"/>
                    <a:pt x="5761485" y="773557"/>
                  </a:cubicBezTo>
                  <a:cubicBezTo>
                    <a:pt x="5778629" y="772224"/>
                    <a:pt x="5796156" y="771653"/>
                    <a:pt x="5812731" y="767271"/>
                  </a:cubicBezTo>
                  <a:cubicBezTo>
                    <a:pt x="5836925" y="760795"/>
                    <a:pt x="5859404" y="760033"/>
                    <a:pt x="5884361" y="765747"/>
                  </a:cubicBezTo>
                  <a:cubicBezTo>
                    <a:pt x="5908174" y="771080"/>
                    <a:pt x="5933892" y="768415"/>
                    <a:pt x="5958660" y="768605"/>
                  </a:cubicBezTo>
                  <a:cubicBezTo>
                    <a:pt x="5986282" y="768795"/>
                    <a:pt x="6013906" y="768984"/>
                    <a:pt x="6041528" y="768033"/>
                  </a:cubicBezTo>
                  <a:cubicBezTo>
                    <a:pt x="6052579" y="767653"/>
                    <a:pt x="6065151" y="760033"/>
                    <a:pt x="6074297" y="763081"/>
                  </a:cubicBezTo>
                  <a:cubicBezTo>
                    <a:pt x="6103824" y="773366"/>
                    <a:pt x="6133353" y="760985"/>
                    <a:pt x="6162880" y="766509"/>
                  </a:cubicBezTo>
                  <a:cubicBezTo>
                    <a:pt x="6177360" y="769367"/>
                    <a:pt x="6193743" y="761557"/>
                    <a:pt x="6209364" y="760795"/>
                  </a:cubicBezTo>
                  <a:cubicBezTo>
                    <a:pt x="6234892" y="759461"/>
                    <a:pt x="6260419" y="760033"/>
                    <a:pt x="6285948" y="759651"/>
                  </a:cubicBezTo>
                  <a:cubicBezTo>
                    <a:pt x="6294330" y="759461"/>
                    <a:pt x="6302523" y="758699"/>
                    <a:pt x="6310905" y="758316"/>
                  </a:cubicBezTo>
                  <a:cubicBezTo>
                    <a:pt x="6318335" y="757936"/>
                    <a:pt x="6326145" y="756222"/>
                    <a:pt x="6333194" y="757554"/>
                  </a:cubicBezTo>
                  <a:cubicBezTo>
                    <a:pt x="6358723" y="762318"/>
                    <a:pt x="6383869" y="770129"/>
                    <a:pt x="6409586" y="773177"/>
                  </a:cubicBezTo>
                  <a:cubicBezTo>
                    <a:pt x="6431875" y="775843"/>
                    <a:pt x="6454928" y="772224"/>
                    <a:pt x="6477407" y="774129"/>
                  </a:cubicBezTo>
                  <a:cubicBezTo>
                    <a:pt x="6517032" y="777367"/>
                    <a:pt x="6556657" y="783083"/>
                    <a:pt x="6596283" y="786703"/>
                  </a:cubicBezTo>
                  <a:cubicBezTo>
                    <a:pt x="6604857" y="787465"/>
                    <a:pt x="6613809" y="782701"/>
                    <a:pt x="6622573" y="782321"/>
                  </a:cubicBezTo>
                  <a:cubicBezTo>
                    <a:pt x="6650006" y="781369"/>
                    <a:pt x="6677439" y="781177"/>
                    <a:pt x="6704872" y="780607"/>
                  </a:cubicBezTo>
                  <a:cubicBezTo>
                    <a:pt x="6720493" y="780415"/>
                    <a:pt x="6736305" y="780987"/>
                    <a:pt x="6751738" y="779273"/>
                  </a:cubicBezTo>
                  <a:cubicBezTo>
                    <a:pt x="6772120" y="776987"/>
                    <a:pt x="6790599" y="773557"/>
                    <a:pt x="6809650" y="788417"/>
                  </a:cubicBezTo>
                  <a:cubicBezTo>
                    <a:pt x="6816984" y="794180"/>
                    <a:pt x="6824819" y="797942"/>
                    <a:pt x="6832976" y="800428"/>
                  </a:cubicBezTo>
                  <a:close/>
                </a:path>
              </a:pathLst>
            </a:custGeom>
            <a:blipFill dpi="0" rotWithShape="1">
              <a:blip r:embed="rId2">
                <a:alphaModFix amt="57000"/>
              </a:blip>
              <a:srcRect/>
              <a:tile algn="tl" flip="none" sx="100000" sy="100000" tx="0" ty="0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 wrap="square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98" name="Picture 97">
            <a:extLst>
              <a:ext uri="{FF2B5EF4-FFF2-40B4-BE49-F238E27FC236}">
                <a16:creationId xmlns:a16="http://schemas.microsoft.com/office/drawing/2014/main" id="{178902E1-D29E-4408-BD1A-7961DCC69A4E}"/>
              </a:ext>
            </a:extLst>
          </p:cNvPr>
          <p:cNvPicPr>
            <a:picLocks noChangeArrowheads="1"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57" r="80"/>
          <a:stretch/>
        </p:blipFill>
        <p:spPr bwMode="auto">
          <a:xfrm>
            <a:off x="-9948" y="3838"/>
            <a:ext cx="9153948" cy="6850324"/>
          </a:xfrm>
          <a:custGeom>
            <a:avLst/>
            <a:gdLst>
              <a:gd fmla="*/ 5282861 w 9153948" name="connsiteX0"/>
              <a:gd fmla="*/ 0 h 6850324" name="connsiteY0"/>
              <a:gd fmla="*/ 9153948 w 9153948" name="connsiteX1"/>
              <a:gd fmla="*/ 0 h 6850324" name="connsiteY1"/>
              <a:gd fmla="*/ 9153948 w 9153948" name="connsiteX2"/>
              <a:gd fmla="*/ 3977971 h 6850324" name="connsiteY2"/>
              <a:gd fmla="*/ 9004662 w 9153948" name="connsiteX3"/>
              <a:gd fmla="*/ 4052945 h 6850324" name="connsiteY3"/>
              <a:gd fmla="*/ 6158650 w 9153948" name="connsiteX4"/>
              <a:gd fmla="*/ 6710840 h 6850324" name="connsiteY4"/>
              <a:gd fmla="*/ 6089071 w 9153948" name="connsiteX5"/>
              <a:gd fmla="*/ 6850324 h 6850324" name="connsiteY5"/>
              <a:gd fmla="*/ 0 w 9153948" name="connsiteX6"/>
              <a:gd fmla="*/ 6850324 h 6850324" name="connsiteY6"/>
              <a:gd fmla="*/ 0 w 9153948" name="connsiteX7"/>
              <a:gd fmla="*/ 4281319 h 6850324" name="connsiteY7"/>
              <a:gd fmla="*/ 169673 w 9153948" name="connsiteX8"/>
              <a:gd fmla="*/ 4239758 h 6850324" name="connsiteY8"/>
              <a:gd fmla="*/ 1253697 w 9153948" name="connsiteX9"/>
              <a:gd fmla="*/ 3877347 h 6850324" name="connsiteY9"/>
              <a:gd fmla="*/ 5263701 w 9153948" name="connsiteX10"/>
              <a:gd fmla="*/ 75693 h 6850324" name="connsiteY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b="b" l="l" r="r" t="t"/>
            <a:pathLst>
              <a:path h="6850324" w="9153948">
                <a:moveTo>
                  <a:pt x="5282861" y="0"/>
                </a:moveTo>
                <a:lnTo>
                  <a:pt x="9153948" y="0"/>
                </a:lnTo>
                <a:lnTo>
                  <a:pt x="9153948" y="3977971"/>
                </a:lnTo>
                <a:lnTo>
                  <a:pt x="9004662" y="4052945"/>
                </a:lnTo>
                <a:cubicBezTo>
                  <a:pt x="7703988" y="4749593"/>
                  <a:pt x="6701910" y="5709432"/>
                  <a:pt x="6158650" y="6710840"/>
                </a:cubicBezTo>
                <a:lnTo>
                  <a:pt x="6089071" y="6850324"/>
                </a:lnTo>
                <a:lnTo>
                  <a:pt x="0" y="6850324"/>
                </a:lnTo>
                <a:lnTo>
                  <a:pt x="0" y="4281319"/>
                </a:lnTo>
                <a:lnTo>
                  <a:pt x="169673" y="4239758"/>
                </a:lnTo>
                <a:cubicBezTo>
                  <a:pt x="528296" y="4145614"/>
                  <a:pt x="891090" y="4025089"/>
                  <a:pt x="1253697" y="3877347"/>
                </a:cubicBezTo>
                <a:cubicBezTo>
                  <a:pt x="3316023" y="3037055"/>
                  <a:pt x="4817044" y="1542499"/>
                  <a:pt x="5263701" y="75693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7" name="Freeform: Shape 96">
            <a:extLst>
              <a:ext uri="{FF2B5EF4-FFF2-40B4-BE49-F238E27FC236}">
                <a16:creationId xmlns:a16="http://schemas.microsoft.com/office/drawing/2014/main" id="{8B6C1D65-4ABB-4690-93DF-7DFB2A98622A}"/>
              </a:ext>
            </a:extLst>
          </p:cNvPr>
          <p:cNvSpPr/>
          <p:nvPr userDrawn="1"/>
        </p:nvSpPr>
        <p:spPr>
          <a:xfrm>
            <a:off x="-9948" y="3838"/>
            <a:ext cx="9153948" cy="6850324"/>
          </a:xfrm>
          <a:custGeom>
            <a:avLst/>
            <a:gdLst>
              <a:gd fmla="*/ 5282862 w 9153948" name="connsiteX0"/>
              <a:gd fmla="*/ 0 h 6850324" name="connsiteY0"/>
              <a:gd fmla="*/ 9153948 w 9153948" name="connsiteX1"/>
              <a:gd fmla="*/ 0 h 6850324" name="connsiteY1"/>
              <a:gd fmla="*/ 9153948 w 9153948" name="connsiteX2"/>
              <a:gd fmla="*/ 3977971 h 6850324" name="connsiteY2"/>
              <a:gd fmla="*/ 9004662 w 9153948" name="connsiteX3"/>
              <a:gd fmla="*/ 4052945 h 6850324" name="connsiteY3"/>
              <a:gd fmla="*/ 6158650 w 9153948" name="connsiteX4"/>
              <a:gd fmla="*/ 6710840 h 6850324" name="connsiteY4"/>
              <a:gd fmla="*/ 6089071 w 9153948" name="connsiteX5"/>
              <a:gd fmla="*/ 6850324 h 6850324" name="connsiteY5"/>
              <a:gd fmla="*/ 0 w 9153948" name="connsiteX6"/>
              <a:gd fmla="*/ 6850324 h 6850324" name="connsiteY6"/>
              <a:gd fmla="*/ 0 w 9153948" name="connsiteX7"/>
              <a:gd fmla="*/ 4281319 h 6850324" name="connsiteY7"/>
              <a:gd fmla="*/ 169673 w 9153948" name="connsiteX8"/>
              <a:gd fmla="*/ 4239758 h 6850324" name="connsiteY8"/>
              <a:gd fmla="*/ 1253697 w 9153948" name="connsiteX9"/>
              <a:gd fmla="*/ 3877347 h 6850324" name="connsiteY9"/>
              <a:gd fmla="*/ 5263701 w 9153948" name="connsiteX10"/>
              <a:gd fmla="*/ 75694 h 6850324" name="connsiteY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b="b" l="l" r="r" t="t"/>
            <a:pathLst>
              <a:path h="6850324" w="9153948">
                <a:moveTo>
                  <a:pt x="5282862" y="0"/>
                </a:moveTo>
                <a:lnTo>
                  <a:pt x="9153948" y="0"/>
                </a:lnTo>
                <a:lnTo>
                  <a:pt x="9153948" y="3977971"/>
                </a:lnTo>
                <a:lnTo>
                  <a:pt x="9004662" y="4052945"/>
                </a:lnTo>
                <a:cubicBezTo>
                  <a:pt x="7703988" y="4749593"/>
                  <a:pt x="6701910" y="5709433"/>
                  <a:pt x="6158650" y="6710840"/>
                </a:cubicBezTo>
                <a:lnTo>
                  <a:pt x="6089071" y="6850324"/>
                </a:lnTo>
                <a:lnTo>
                  <a:pt x="0" y="6850324"/>
                </a:lnTo>
                <a:lnTo>
                  <a:pt x="0" y="4281319"/>
                </a:lnTo>
                <a:lnTo>
                  <a:pt x="169673" y="4239758"/>
                </a:lnTo>
                <a:cubicBezTo>
                  <a:pt x="528296" y="4145614"/>
                  <a:pt x="891090" y="4025089"/>
                  <a:pt x="1253697" y="3877347"/>
                </a:cubicBezTo>
                <a:cubicBezTo>
                  <a:pt x="3316023" y="3037055"/>
                  <a:pt x="4817044" y="1542499"/>
                  <a:pt x="5263701" y="75694"/>
                </a:cubicBezTo>
                <a:close/>
              </a:path>
            </a:pathLst>
          </a:custGeom>
          <a:solidFill>
            <a:schemeClr val="bg1">
              <a:lumMod val="50000"/>
              <a:alpha val="50000"/>
            </a:schemeClr>
          </a:solidFill>
          <a:ln>
            <a:noFill/>
          </a:ln>
          <a:effectLst>
            <a:outerShdw algn="ctr" blurRad="63500" rotWithShape="0" sx="102000" sy="10200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lstStyle/>
          <a:p>
            <a:pPr algn="ctr"/>
            <a:endParaRPr dirty="0" lang="en-US"/>
          </a:p>
        </p:txBody>
      </p:sp>
      <p:sp>
        <p:nvSpPr>
          <p:cNvPr id="75" name="Freeform: Shape 74">
            <a:extLst>
              <a:ext uri="{FF2B5EF4-FFF2-40B4-BE49-F238E27FC236}">
                <a16:creationId xmlns:a16="http://schemas.microsoft.com/office/drawing/2014/main" id="{3D86ACB6-5BFD-4C67-B168-1E477676C765}"/>
              </a:ext>
            </a:extLst>
          </p:cNvPr>
          <p:cNvSpPr/>
          <p:nvPr userDrawn="1"/>
        </p:nvSpPr>
        <p:spPr>
          <a:xfrm>
            <a:off x="-133350" y="-751246"/>
            <a:ext cx="11106409" cy="4858109"/>
          </a:xfrm>
          <a:custGeom>
            <a:avLst/>
            <a:gdLst>
              <a:gd fmla="*/ 3909888 w 9144000" name="connsiteX0"/>
              <a:gd fmla="*/ 1376794 h 3809635" name="connsiteY0"/>
              <a:gd fmla="*/ 3815327 w 9144000" name="connsiteX1"/>
              <a:gd fmla="*/ 1514144 h 3809635" name="connsiteY1"/>
              <a:gd fmla="*/ 1032179 w 9144000" name="connsiteX2"/>
              <a:gd fmla="*/ 3516551 h 3809635" name="connsiteY2"/>
              <a:gd fmla="*/ 139693 w 9144000" name="connsiteX3"/>
              <a:gd fmla="*/ 3800747 h 3809635" name="connsiteY3"/>
              <a:gd fmla="*/ 101598 w 9144000" name="connsiteX4"/>
              <a:gd fmla="*/ 3809635 h 3809635" name="connsiteY4"/>
              <a:gd fmla="*/ 101598 w 9144000" name="connsiteX5"/>
              <a:gd fmla="*/ 3477088 h 3809635" name="connsiteY5"/>
              <a:gd fmla="*/ 181491 w 9144000" name="connsiteX6"/>
              <a:gd fmla="*/ 3460712 h 3809635" name="connsiteY6"/>
              <a:gd fmla="*/ 897358 w 9144000" name="connsiteX7"/>
              <a:gd fmla="*/ 3266910 h 3809635" name="connsiteY7"/>
              <a:gd fmla="*/ 3800595 w 9144000" name="connsiteX8"/>
              <a:gd fmla="*/ 1503680 h 3809635" name="connsiteY8"/>
              <a:gd fmla="*/ 4639132 w 9144000" name="connsiteX9"/>
              <a:gd fmla="*/ 0 h 3809635" name="connsiteY9"/>
              <a:gd fmla="*/ 9144000 w 9144000" name="connsiteX10"/>
              <a:gd fmla="*/ 0 h 3809635" name="connsiteY10"/>
              <a:gd fmla="*/ 9144000 w 9144000" name="connsiteX11"/>
              <a:gd fmla="*/ 545 h 3809635" name="connsiteY11"/>
              <a:gd fmla="*/ 4639015 w 9144000" name="connsiteX12"/>
              <a:gd fmla="*/ 545 h 3809635" name="connsiteY12"/>
              <a:gd fmla="*/ 0 w 9144000" name="connsiteX13"/>
              <a:gd fmla="*/ 0 h 3809635" name="connsiteY13"/>
              <a:gd fmla="*/ 2434 w 9144000" name="connsiteX14"/>
              <a:gd fmla="*/ 0 h 3809635" name="connsiteY14"/>
              <a:gd fmla="*/ 2434 w 9144000" name="connsiteX15"/>
              <a:gd fmla="*/ 116112 h 3809635" name="connsiteY15"/>
              <a:gd fmla="*/ 0 w 9144000" name="connsiteX16"/>
              <a:gd fmla="*/ 116112 h 3809635" name="connsiteY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b="b" l="l" r="r" t="t"/>
            <a:pathLst>
              <a:path h="3809635" w="9144000">
                <a:moveTo>
                  <a:pt x="3909888" y="1376794"/>
                </a:moveTo>
                <a:lnTo>
                  <a:pt x="3815327" y="1514144"/>
                </a:lnTo>
                <a:cubicBezTo>
                  <a:pt x="3222015" y="2313441"/>
                  <a:pt x="2244987" y="3045879"/>
                  <a:pt x="1032179" y="3516551"/>
                </a:cubicBezTo>
                <a:cubicBezTo>
                  <a:pt x="733642" y="3632408"/>
                  <a:pt x="434950" y="3726921"/>
                  <a:pt x="139693" y="3800747"/>
                </a:cubicBezTo>
                <a:lnTo>
                  <a:pt x="101598" y="3809635"/>
                </a:lnTo>
                <a:lnTo>
                  <a:pt x="101598" y="3477088"/>
                </a:lnTo>
                <a:lnTo>
                  <a:pt x="181491" y="3460712"/>
                </a:lnTo>
                <a:cubicBezTo>
                  <a:pt x="418466" y="3408295"/>
                  <a:pt x="657613" y="3343819"/>
                  <a:pt x="897358" y="3266910"/>
                </a:cubicBezTo>
                <a:cubicBezTo>
                  <a:pt x="2114817" y="2876352"/>
                  <a:pt x="3128242" y="2235559"/>
                  <a:pt x="3800595" y="1503680"/>
                </a:cubicBezTo>
                <a:close/>
                <a:moveTo>
                  <a:pt x="4639132" y="0"/>
                </a:moveTo>
                <a:lnTo>
                  <a:pt x="9144000" y="0"/>
                </a:lnTo>
                <a:lnTo>
                  <a:pt x="9144000" y="545"/>
                </a:lnTo>
                <a:lnTo>
                  <a:pt x="4639015" y="545"/>
                </a:lnTo>
                <a:close/>
                <a:moveTo>
                  <a:pt x="0" y="0"/>
                </a:moveTo>
                <a:lnTo>
                  <a:pt x="2434" y="0"/>
                </a:lnTo>
                <a:lnTo>
                  <a:pt x="2434" y="116112"/>
                </a:lnTo>
                <a:lnTo>
                  <a:pt x="0" y="116112"/>
                </a:lnTo>
                <a:close/>
              </a:path>
            </a:pathLst>
          </a:custGeom>
          <a:solidFill>
            <a:srgbClr val="44525B"/>
          </a:solidFill>
          <a:ln>
            <a:noFill/>
          </a:ln>
          <a:effectLst>
            <a:outerShdw algn="ctr" blurRad="63500" rotWithShape="0" sx="102000" sy="10200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lstStyle/>
          <a:p>
            <a:pPr algn="ctr"/>
            <a:endParaRPr dirty="0" lang="en-US"/>
          </a:p>
        </p:txBody>
      </p:sp>
      <p:sp>
        <p:nvSpPr>
          <p:cNvPr id="89" name="Freeform: Shape 88">
            <a:extLst>
              <a:ext uri="{FF2B5EF4-FFF2-40B4-BE49-F238E27FC236}">
                <a16:creationId xmlns:a16="http://schemas.microsoft.com/office/drawing/2014/main" id="{B33DEB17-D024-478D-B70D-E045AB878E9A}"/>
              </a:ext>
            </a:extLst>
          </p:cNvPr>
          <p:cNvSpPr/>
          <p:nvPr userDrawn="1"/>
        </p:nvSpPr>
        <p:spPr>
          <a:xfrm rot="10800000">
            <a:off x="99294" y="4154791"/>
            <a:ext cx="11106409" cy="4102154"/>
          </a:xfrm>
          <a:custGeom>
            <a:avLst/>
            <a:gdLst>
              <a:gd fmla="*/ 11106409 w 11106409" name="connsiteX0"/>
              <a:gd fmla="*/ 695 h 4102154" name="connsiteY0"/>
              <a:gd fmla="*/ 5634601 w 11106409" name="connsiteX1"/>
              <a:gd fmla="*/ 695 h 4102154" name="connsiteY1"/>
              <a:gd fmla="*/ 5634744 w 11106409" name="connsiteX2"/>
              <a:gd fmla="*/ 0 h 4102154" name="connsiteY2"/>
              <a:gd fmla="*/ 11106409 w 11106409" name="connsiteX3"/>
              <a:gd fmla="*/ 0 h 4102154" name="connsiteY3"/>
              <a:gd fmla="*/ 2956 w 11106409" name="connsiteX4"/>
              <a:gd fmla="*/ 148068 h 4102154" name="connsiteY4"/>
              <a:gd fmla="*/ 0 w 11106409" name="connsiteX5"/>
              <a:gd fmla="*/ 148068 h 4102154" name="connsiteY5"/>
              <a:gd fmla="*/ 0 w 11106409" name="connsiteX6"/>
              <a:gd fmla="*/ 0 h 4102154" name="connsiteY6"/>
              <a:gd fmla="*/ 2956 w 11106409" name="connsiteX7"/>
              <a:gd fmla="*/ 0 h 4102154" name="connsiteY7"/>
              <a:gd fmla="*/ 2061703 w 11106409" name="connsiteX8"/>
              <a:gd fmla="*/ 4102154 h 4102154" name="connsiteY8"/>
              <a:gd fmla="*/ 2061703 w 11106409" name="connsiteX9"/>
              <a:gd fmla="*/ 3774848 h 4102154" name="connsiteY9"/>
              <a:gd fmla="*/ 2149929 w 11106409" name="connsiteX10"/>
              <a:gd fmla="*/ 3735822 h 4102154" name="connsiteY10"/>
              <a:gd fmla="*/ 4616246 w 11106409" name="connsiteX11"/>
              <a:gd fmla="*/ 1917518 h 4102154" name="connsiteY11"/>
              <a:gd fmla="*/ 4748995 w 11106409" name="connsiteX12"/>
              <a:gd fmla="*/ 1755710 h 4102154" name="connsiteY12"/>
              <a:gd fmla="*/ 4634140 w 11106409" name="connsiteX13"/>
              <a:gd fmla="*/ 1930861 h 4102154" name="connsiteY13"/>
              <a:gd fmla="*/ 2302010 w 11106409" name="connsiteX14"/>
              <a:gd fmla="*/ 3975502 h 4102154" name="connsiteY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b="b" l="l" r="r" t="t"/>
            <a:pathLst>
              <a:path h="4102154" w="11106409">
                <a:moveTo>
                  <a:pt x="11106409" y="695"/>
                </a:moveTo>
                <a:lnTo>
                  <a:pt x="5634601" y="695"/>
                </a:lnTo>
                <a:lnTo>
                  <a:pt x="5634744" y="0"/>
                </a:lnTo>
                <a:lnTo>
                  <a:pt x="11106409" y="0"/>
                </a:lnTo>
                <a:close/>
                <a:moveTo>
                  <a:pt x="2956" y="148068"/>
                </a:moveTo>
                <a:lnTo>
                  <a:pt x="0" y="148068"/>
                </a:lnTo>
                <a:lnTo>
                  <a:pt x="0" y="0"/>
                </a:lnTo>
                <a:lnTo>
                  <a:pt x="2956" y="0"/>
                </a:lnTo>
                <a:close/>
                <a:moveTo>
                  <a:pt x="2061703" y="4102154"/>
                </a:moveTo>
                <a:lnTo>
                  <a:pt x="2061703" y="3774848"/>
                </a:lnTo>
                <a:lnTo>
                  <a:pt x="2149929" y="3735822"/>
                </a:lnTo>
                <a:cubicBezTo>
                  <a:pt x="3158248" y="3252137"/>
                  <a:pt x="4003761" y="2617496"/>
                  <a:pt x="4616246" y="1917518"/>
                </a:cubicBezTo>
                <a:lnTo>
                  <a:pt x="4748995" y="1755710"/>
                </a:lnTo>
                <a:lnTo>
                  <a:pt x="4634140" y="1930861"/>
                </a:lnTo>
                <a:cubicBezTo>
                  <a:pt x="4093657" y="2695319"/>
                  <a:pt x="3291012" y="3411818"/>
                  <a:pt x="2302010" y="3975502"/>
                </a:cubicBezTo>
                <a:close/>
              </a:path>
            </a:pathLst>
          </a:custGeom>
          <a:solidFill>
            <a:srgbClr val="44525B"/>
          </a:solidFill>
          <a:ln>
            <a:noFill/>
          </a:ln>
          <a:effectLst>
            <a:outerShdw algn="ctr" blurRad="63500" rotWithShape="0" sx="102000" sy="10200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lstStyle/>
          <a:p>
            <a:pPr algn="ctr"/>
            <a:endParaRPr dirty="0" lang="en-US"/>
          </a:p>
        </p:txBody>
      </p:sp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FFE54959-DEE0-47EE-AF9E-5321D7B257EA}"/>
              </a:ext>
            </a:extLst>
          </p:cNvPr>
          <p:cNvSpPr/>
          <p:nvPr userDrawn="1"/>
        </p:nvSpPr>
        <p:spPr>
          <a:xfrm>
            <a:off x="51361" y="1070314"/>
            <a:ext cx="2310839" cy="712652"/>
          </a:xfrm>
          <a:prstGeom prst="roundRect">
            <a:avLst>
              <a:gd fmla="val 7564" name="adj"/>
            </a:avLst>
          </a:prstGeom>
          <a:solidFill>
            <a:srgbClr val="44525B">
              <a:alpha val="4000"/>
            </a:srgbClr>
          </a:solidFill>
          <a:ln>
            <a:solidFill>
              <a:srgbClr val="44525A"/>
            </a:solidFill>
          </a:ln>
          <a:effectLst>
            <a:outerShdw algn="ctr" blurRad="63500" rotWithShape="0" sx="102000" sy="102000">
              <a:prstClr val="black">
                <a:alpha val="40000"/>
              </a:prstClr>
            </a:outerShdw>
          </a:effectLst>
          <a:scene3d>
            <a:camera prst="orthographicFront"/>
            <a:lightRig dir="t" rig="threeP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lvl="0"/>
            <a:r>
              <a:rPr baseline="0" cap="small" dirty="0" lang="en-US" sz="4000" u="none">
                <a:solidFill>
                  <a:srgbClr val="44525A"/>
                </a:solidFill>
                <a:latin charset="0" panose="020B0502040204020203" pitchFamily="34" typeface="Bahnschrift SemiBold"/>
              </a:rPr>
              <a:t>ECAP456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D618CB88-4007-40A9-B126-AE157A2EA3D6}"/>
              </a:ext>
            </a:extLst>
          </p:cNvPr>
          <p:cNvSpPr txBox="1"/>
          <p:nvPr userDrawn="1"/>
        </p:nvSpPr>
        <p:spPr>
          <a:xfrm>
            <a:off x="6817722" y="5891971"/>
            <a:ext cx="2326278" cy="461665"/>
          </a:xfrm>
          <a:prstGeom prst="rect">
            <a:avLst/>
          </a:prstGeom>
          <a:noFill/>
        </p:spPr>
        <p:txBody>
          <a:bodyPr rtlCol="0" wrap="none">
            <a:spAutoFit/>
          </a:bodyPr>
          <a:lstStyle/>
          <a:p>
            <a:r>
              <a:rPr dirty="0" lang="en-US" sz="2400">
                <a:latin charset="0" panose="020B0502040204020203" pitchFamily="34" typeface="Bahnschrift SemiBold"/>
              </a:rPr>
              <a:t>Dr. Rajni Bhalla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50CF1EBC-DA85-4E58-B8EC-90839B52F650}"/>
              </a:ext>
            </a:extLst>
          </p:cNvPr>
          <p:cNvSpPr txBox="1"/>
          <p:nvPr userDrawn="1"/>
        </p:nvSpPr>
        <p:spPr>
          <a:xfrm>
            <a:off x="6667805" y="6332318"/>
            <a:ext cx="2518638" cy="400110"/>
          </a:xfrm>
          <a:prstGeom prst="rect">
            <a:avLst/>
          </a:prstGeom>
          <a:noFill/>
        </p:spPr>
        <p:txBody>
          <a:bodyPr rtlCol="0" wrap="none">
            <a:spAutoFit/>
          </a:bodyPr>
          <a:lstStyle/>
          <a:p>
            <a:r>
              <a:rPr dirty="0" lang="en-US" sz="2000">
                <a:latin charset="0" panose="020B0502040204020203" pitchFamily="34" typeface="Bahnschrift SemiBold"/>
              </a:rPr>
              <a:t>Associate Professor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28AA0A77-4443-4511-81DB-6D4919D92960}"/>
              </a:ext>
            </a:extLst>
          </p:cNvPr>
          <p:cNvSpPr/>
          <p:nvPr userDrawn="1"/>
        </p:nvSpPr>
        <p:spPr>
          <a:xfrm>
            <a:off x="6734323" y="6696075"/>
            <a:ext cx="2409677" cy="50253"/>
          </a:xfrm>
          <a:prstGeom prst="rect">
            <a:avLst/>
          </a:prstGeom>
          <a:gradFill>
            <a:gsLst>
              <a:gs pos="100000">
                <a:schemeClr val="accent1">
                  <a:lumMod val="5000"/>
                  <a:lumOff val="95000"/>
                </a:schemeClr>
              </a:gs>
              <a:gs pos="0">
                <a:srgbClr val="072235"/>
              </a:gs>
            </a:gsLst>
            <a:path path="circle">
              <a:fillToRect b="50000" l="50000" r="50000" t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lang="en-US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EA4B1C0C-45EB-4524-B766-E8F5A3D56091}"/>
              </a:ext>
            </a:extLst>
          </p:cNvPr>
          <p:cNvSpPr/>
          <p:nvPr userDrawn="1"/>
        </p:nvSpPr>
        <p:spPr>
          <a:xfrm>
            <a:off x="6734323" y="6353636"/>
            <a:ext cx="2409677" cy="50253"/>
          </a:xfrm>
          <a:prstGeom prst="rect">
            <a:avLst/>
          </a:prstGeom>
          <a:gradFill>
            <a:gsLst>
              <a:gs pos="100000">
                <a:schemeClr val="accent1">
                  <a:lumMod val="5000"/>
                  <a:lumOff val="95000"/>
                </a:schemeClr>
              </a:gs>
              <a:gs pos="0">
                <a:srgbClr val="072235"/>
              </a:gs>
            </a:gsLst>
            <a:path path="circle">
              <a:fillToRect b="50000" l="50000" r="50000" t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74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3A4C81D-18A7-452F-9BBC-C8DF7C8B815D}"/>
              </a:ext>
            </a:extLst>
          </p:cNvPr>
          <p:cNvSpPr/>
          <p:nvPr userDrawn="1"/>
        </p:nvSpPr>
        <p:spPr>
          <a:xfrm>
            <a:off x="0" y="0"/>
            <a:ext cx="9144000" cy="1959429"/>
          </a:xfrm>
          <a:prstGeom prst="rect">
            <a:avLst/>
          </a:prstGeom>
          <a:gradFill flip="none" rotWithShape="1">
            <a:gsLst>
              <a:gs pos="69000">
                <a:srgbClr val="818A8F"/>
              </a:gs>
              <a:gs pos="0">
                <a:srgbClr val="44525A"/>
              </a:gs>
              <a:gs pos="100000">
                <a:srgbClr val="F4F4F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921639" y="2700396"/>
            <a:ext cx="7525999" cy="3698763"/>
          </a:xfrm>
        </p:spPr>
        <p:txBody>
          <a:bodyPr/>
          <a:lstStyle>
            <a:lvl1pPr>
              <a:lnSpc>
                <a:spcPct val="150000"/>
              </a:lnSpc>
              <a:defRPr sz="2600">
                <a:latin typeface="Bahnschrift" panose="020B0502040204020203" pitchFamily="34" charset="0"/>
              </a:defRPr>
            </a:lvl1pPr>
            <a:lvl2pPr>
              <a:lnSpc>
                <a:spcPct val="150000"/>
              </a:lnSpc>
              <a:defRPr>
                <a:latin typeface="Bahnschrift" panose="020B0502040204020203" pitchFamily="34" charset="0"/>
              </a:defRPr>
            </a:lvl2pPr>
            <a:lvl3pPr>
              <a:lnSpc>
                <a:spcPct val="150000"/>
              </a:lnSpc>
              <a:defRPr>
                <a:latin typeface="Bahnschrift" panose="020B0502040204020203" pitchFamily="34" charset="0"/>
              </a:defRPr>
            </a:lvl3pPr>
            <a:lvl4pPr>
              <a:lnSpc>
                <a:spcPct val="150000"/>
              </a:lnSpc>
              <a:defRPr>
                <a:latin typeface="Bahnschrift" panose="020B0502040204020203" pitchFamily="34" charset="0"/>
              </a:defRPr>
            </a:lvl4pPr>
            <a:lvl5pPr>
              <a:lnSpc>
                <a:spcPct val="150000"/>
              </a:lnSpc>
              <a:defRPr>
                <a:latin typeface="Bahnschrift" panose="020B0502040204020203" pitchFamily="34" charset="0"/>
              </a:defRPr>
            </a:lvl5pPr>
          </a:lstStyle>
          <a:p>
            <a:pPr lvl="0"/>
            <a:r>
              <a:rPr lang="en-US" dirty="0"/>
              <a:t>Outcome 1</a:t>
            </a:r>
          </a:p>
          <a:p>
            <a:pPr lvl="0"/>
            <a:r>
              <a:rPr lang="en-US" dirty="0"/>
              <a:t>Outcome 2</a:t>
            </a:r>
          </a:p>
          <a:p>
            <a:pPr lvl="0"/>
            <a:r>
              <a:rPr lang="en-US" dirty="0"/>
              <a:t>Outcome 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6F90CB2-A495-4AF3-BC7C-1B34E1164439}"/>
              </a:ext>
            </a:extLst>
          </p:cNvPr>
          <p:cNvSpPr txBox="1"/>
          <p:nvPr userDrawn="1"/>
        </p:nvSpPr>
        <p:spPr>
          <a:xfrm>
            <a:off x="628650" y="235182"/>
            <a:ext cx="34290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sz="4400" kern="1200" dirty="0">
                <a:solidFill>
                  <a:schemeClr val="bg1"/>
                </a:solidFill>
                <a:latin typeface="Bahnschrift SemiBold" panose="020B0502040204020203" pitchFamily="34" charset="0"/>
                <a:ea typeface="+mn-ea"/>
                <a:cs typeface="+mn-cs"/>
              </a:rPr>
              <a:t>Learning Outcomes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0BD9AB8-BE8B-4AD4-8989-7D5BB1CBD5C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02" b="98622" l="9753" r="89973">
                        <a14:foregroundMark x1="62637" y1="39764" x2="62637" y2="39764"/>
                        <a14:foregroundMark x1="40797" y1="53346" x2="40797" y2="53346"/>
                        <a14:foregroundMark x1="27198" y1="59055" x2="27198" y2="59055"/>
                        <a14:foregroundMark x1="25687" y1="41929" x2="25687" y2="41929"/>
                        <a14:foregroundMark x1="28434" y1="22835" x2="28434" y2="22835"/>
                        <a14:foregroundMark x1="37225" y1="10433" x2="37225" y2="10433"/>
                        <a14:foregroundMark x1="49863" y1="6496" x2="49863" y2="6496"/>
                        <a14:foregroundMark x1="61538" y1="13583" x2="61538" y2="13583"/>
                        <a14:foregroundMark x1="71016" y1="24803" x2="71016" y2="24803"/>
                        <a14:foregroundMark x1="73626" y1="40945" x2="73626" y2="40945"/>
                        <a14:foregroundMark x1="72115" y1="60039" x2="72115" y2="60039"/>
                        <a14:foregroundMark x1="55345" y1="90060" x2="55907" y2="90157"/>
                        <a14:foregroundMark x1="48764" y1="98622" x2="50275" y2="97835"/>
                        <a14:foregroundMark x1="53709" y1="89764" x2="53709" y2="89764"/>
                        <a14:foregroundMark x1="53434" y1="90354" x2="51511" y2="89370"/>
                        <a14:foregroundMark x1="44780" y1="88189" x2="51236" y2="89567"/>
                        <a14:backgroundMark x1="55769" y1="85433" x2="49950" y2="86267"/>
                        <a14:backgroundMark x1="52194" y1="91242" x2="50589" y2="90886"/>
                        <a14:backgroundMark x1="56181" y1="92126" x2="53895" y2="91619"/>
                        <a14:backgroundMark x1="55495" y1="86024" x2="54258" y2="85827"/>
                        <a14:backgroundMark x1="54396" y1="86024" x2="55632" y2="86614"/>
                        <a14:backgroundMark x1="49176" y1="96654" x2="47940" y2="9507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9619398">
            <a:off x="7045240" y="145893"/>
            <a:ext cx="2389846" cy="166764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FCCDEB3-12E7-45AF-A8F2-BC0F9E2254EE}"/>
              </a:ext>
            </a:extLst>
          </p:cNvPr>
          <p:cNvSpPr/>
          <p:nvPr userDrawn="1"/>
        </p:nvSpPr>
        <p:spPr>
          <a:xfrm>
            <a:off x="455696" y="1959429"/>
            <a:ext cx="7915742" cy="7409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lvl="0" indent="0" defTabSz="914400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sz="2800" dirty="0">
                <a:solidFill>
                  <a:schemeClr val="tx1"/>
                </a:solidFill>
                <a:latin typeface="Bahnschrift" panose="020B0502040204020203" pitchFamily="34" charset="0"/>
              </a:rPr>
              <a:t>After this lecture, you will be able to</a:t>
            </a:r>
          </a:p>
        </p:txBody>
      </p:sp>
    </p:spTree>
    <p:extLst>
      <p:ext uri="{BB962C8B-B14F-4D97-AF65-F5344CB8AC3E}">
        <p14:creationId xmlns:p14="http://schemas.microsoft.com/office/powerpoint/2010/main" val="2209906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3A4C81D-18A7-452F-9BBC-C8DF7C8B815D}"/>
              </a:ext>
            </a:extLst>
          </p:cNvPr>
          <p:cNvSpPr/>
          <p:nvPr userDrawn="1"/>
        </p:nvSpPr>
        <p:spPr>
          <a:xfrm>
            <a:off x="0" y="0"/>
            <a:ext cx="9144000" cy="1325563"/>
          </a:xfrm>
          <a:prstGeom prst="rect">
            <a:avLst/>
          </a:prstGeom>
          <a:solidFill>
            <a:srgbClr val="4452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8362" y="1628145"/>
            <a:ext cx="8386537" cy="5004884"/>
          </a:xfrm>
        </p:spPr>
        <p:txBody>
          <a:bodyPr/>
          <a:lstStyle>
            <a:lvl1pPr>
              <a:lnSpc>
                <a:spcPct val="150000"/>
              </a:lnSpc>
              <a:defRPr>
                <a:latin typeface="Bahnschrift" panose="020B0502040204020203" pitchFamily="34" charset="0"/>
              </a:defRPr>
            </a:lvl1pPr>
            <a:lvl2pPr>
              <a:lnSpc>
                <a:spcPct val="150000"/>
              </a:lnSpc>
              <a:defRPr>
                <a:latin typeface="Bahnschrift" panose="020B0502040204020203" pitchFamily="34" charset="0"/>
              </a:defRPr>
            </a:lvl2pPr>
            <a:lvl3pPr>
              <a:lnSpc>
                <a:spcPct val="150000"/>
              </a:lnSpc>
              <a:defRPr>
                <a:latin typeface="Bahnschrift" panose="020B0502040204020203" pitchFamily="34" charset="0"/>
              </a:defRPr>
            </a:lvl3pPr>
            <a:lvl4pPr>
              <a:lnSpc>
                <a:spcPct val="150000"/>
              </a:lnSpc>
              <a:defRPr>
                <a:latin typeface="Bahnschrift" panose="020B0502040204020203" pitchFamily="34" charset="0"/>
              </a:defRPr>
            </a:lvl4pPr>
            <a:lvl5pPr>
              <a:lnSpc>
                <a:spcPct val="150000"/>
              </a:lnSpc>
              <a:defRPr>
                <a:latin typeface="Bahnschrift" panose="020B050204020402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674DD10-9343-40FC-87DE-8A1F63FF1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362" y="0"/>
            <a:ext cx="8386537" cy="1325563"/>
          </a:xfrm>
        </p:spPr>
        <p:txBody>
          <a:bodyPr>
            <a:normAutofit/>
          </a:bodyPr>
          <a:lstStyle>
            <a:lvl1pPr marL="0" algn="l" defTabSz="457200" rtl="0" eaLnBrk="1" latinLnBrk="0" hangingPunct="1">
              <a:lnSpc>
                <a:spcPct val="100000"/>
              </a:lnSpc>
              <a:defRPr lang="en-US" sz="3600" kern="1200" dirty="0">
                <a:solidFill>
                  <a:schemeClr val="bg1"/>
                </a:solidFill>
                <a:latin typeface="Bahnschrift SemiBold" panose="020B0502040204020203" pitchFamily="34" charset="0"/>
                <a:ea typeface="+mn-ea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921531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8928101"/>
            <a:ext cx="2057400" cy="365125"/>
          </a:xfrm>
        </p:spPr>
        <p:txBody>
          <a:bodyPr/>
          <a:lstStyle/>
          <a:p>
            <a:fld id="{71BC5188-02C1-4612-A2C7-F501CF181F2E}" type="datetimeFigureOut">
              <a:rPr lang="en-US" smtClean="0"/>
              <a:t>7/13/2021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8928101"/>
            <a:ext cx="30861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8928101"/>
            <a:ext cx="2057400" cy="365125"/>
          </a:xfrm>
        </p:spPr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9D0141E-891B-4C49-A1C4-D9497F151474}"/>
              </a:ext>
            </a:extLst>
          </p:cNvPr>
          <p:cNvSpPr/>
          <p:nvPr userDrawn="1"/>
        </p:nvSpPr>
        <p:spPr>
          <a:xfrm>
            <a:off x="1562553" y="2584505"/>
            <a:ext cx="6037944" cy="1756230"/>
          </a:xfrm>
          <a:custGeom>
            <a:avLst/>
            <a:gdLst>
              <a:gd name="connsiteX0" fmla="*/ 3018972 w 6037944"/>
              <a:gd name="connsiteY0" fmla="*/ 0 h 1451430"/>
              <a:gd name="connsiteX1" fmla="*/ 6037944 w 6037944"/>
              <a:gd name="connsiteY1" fmla="*/ 725715 h 1451430"/>
              <a:gd name="connsiteX2" fmla="*/ 3018972 w 6037944"/>
              <a:gd name="connsiteY2" fmla="*/ 1451430 h 1451430"/>
              <a:gd name="connsiteX3" fmla="*/ 0 w 6037944"/>
              <a:gd name="connsiteY3" fmla="*/ 725715 h 1451430"/>
              <a:gd name="connsiteX4" fmla="*/ 3018972 w 6037944"/>
              <a:gd name="connsiteY4" fmla="*/ 0 h 14514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37944" h="1451430">
                <a:moveTo>
                  <a:pt x="3018972" y="0"/>
                </a:moveTo>
                <a:cubicBezTo>
                  <a:pt x="4686304" y="0"/>
                  <a:pt x="6037944" y="324914"/>
                  <a:pt x="6037944" y="725715"/>
                </a:cubicBezTo>
                <a:cubicBezTo>
                  <a:pt x="6037944" y="1126516"/>
                  <a:pt x="4686304" y="1451430"/>
                  <a:pt x="3018972" y="1451430"/>
                </a:cubicBezTo>
                <a:cubicBezTo>
                  <a:pt x="1351640" y="1451430"/>
                  <a:pt x="0" y="1126516"/>
                  <a:pt x="0" y="725715"/>
                </a:cubicBezTo>
                <a:cubicBezTo>
                  <a:pt x="0" y="324914"/>
                  <a:pt x="1351640" y="0"/>
                  <a:pt x="3018972" y="0"/>
                </a:cubicBezTo>
                <a:close/>
              </a:path>
            </a:pathLst>
          </a:custGeom>
          <a:gradFill>
            <a:gsLst>
              <a:gs pos="54000">
                <a:schemeClr val="bg1"/>
              </a:gs>
              <a:gs pos="0">
                <a:srgbClr val="44525A"/>
              </a:gs>
              <a:gs pos="100000">
                <a:srgbClr val="44525A"/>
              </a:gs>
            </a:gsLst>
            <a:lin ang="5400000" scaled="1"/>
          </a:gradFill>
          <a:ln>
            <a:solidFill>
              <a:srgbClr val="81908F"/>
            </a:solidFill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731520" rtlCol="0" anchor="ctr">
            <a:noAutofit/>
          </a:bodyPr>
          <a:lstStyle/>
          <a:p>
            <a:pPr lvl="0"/>
            <a:endParaRPr lang="en-US" sz="3600" dirty="0">
              <a:solidFill>
                <a:srgbClr val="4B8985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8AD4718-0501-403B-AFBC-33331BEC043B}"/>
              </a:ext>
            </a:extLst>
          </p:cNvPr>
          <p:cNvSpPr/>
          <p:nvPr userDrawn="1"/>
        </p:nvSpPr>
        <p:spPr>
          <a:xfrm>
            <a:off x="1562553" y="1895077"/>
            <a:ext cx="6037944" cy="1146629"/>
          </a:xfrm>
          <a:custGeom>
            <a:avLst/>
            <a:gdLst>
              <a:gd name="connsiteX0" fmla="*/ 3018972 w 6037944"/>
              <a:gd name="connsiteY0" fmla="*/ 0 h 1146629"/>
              <a:gd name="connsiteX1" fmla="*/ 6037944 w 6037944"/>
              <a:gd name="connsiteY1" fmla="*/ 1146629 h 1146629"/>
              <a:gd name="connsiteX2" fmla="*/ 3018972 w 6037944"/>
              <a:gd name="connsiteY2" fmla="*/ 420914 h 1146629"/>
              <a:gd name="connsiteX3" fmla="*/ 0 w 6037944"/>
              <a:gd name="connsiteY3" fmla="*/ 1146629 h 1146629"/>
              <a:gd name="connsiteX4" fmla="*/ 3018972 w 6037944"/>
              <a:gd name="connsiteY4" fmla="*/ 0 h 1146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37944" h="1146629">
                <a:moveTo>
                  <a:pt x="3018972" y="0"/>
                </a:moveTo>
                <a:cubicBezTo>
                  <a:pt x="4686304" y="0"/>
                  <a:pt x="6037944" y="513363"/>
                  <a:pt x="6037944" y="1146629"/>
                </a:cubicBezTo>
                <a:cubicBezTo>
                  <a:pt x="6037944" y="745828"/>
                  <a:pt x="4686304" y="420914"/>
                  <a:pt x="3018972" y="420914"/>
                </a:cubicBezTo>
                <a:cubicBezTo>
                  <a:pt x="1351640" y="420914"/>
                  <a:pt x="0" y="745828"/>
                  <a:pt x="0" y="1146629"/>
                </a:cubicBezTo>
                <a:cubicBezTo>
                  <a:pt x="0" y="513363"/>
                  <a:pt x="1351640" y="0"/>
                  <a:pt x="3018972" y="0"/>
                </a:cubicBezTo>
                <a:close/>
              </a:path>
            </a:pathLst>
          </a:custGeom>
          <a:gradFill>
            <a:gsLst>
              <a:gs pos="0">
                <a:schemeClr val="bg1"/>
              </a:gs>
              <a:gs pos="74000">
                <a:srgbClr val="44525A"/>
              </a:gs>
              <a:gs pos="83000">
                <a:srgbClr val="44525A"/>
              </a:gs>
              <a:gs pos="100000">
                <a:srgbClr val="44525A"/>
              </a:gs>
            </a:gsLst>
            <a:lin ang="5400000" scaled="1"/>
          </a:gradFill>
          <a:ln>
            <a:solidFill>
              <a:srgbClr val="81908F"/>
            </a:solidFill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731520" rtlCol="0" anchor="ctr">
            <a:noAutofit/>
          </a:bodyPr>
          <a:lstStyle/>
          <a:p>
            <a:pPr lvl="0"/>
            <a:endParaRPr lang="en-US" sz="3600" dirty="0">
              <a:solidFill>
                <a:srgbClr val="4B8985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38861B3F-8E45-4BA3-97F7-23CB90BE0433}"/>
              </a:ext>
            </a:extLst>
          </p:cNvPr>
          <p:cNvSpPr/>
          <p:nvPr userDrawn="1"/>
        </p:nvSpPr>
        <p:spPr>
          <a:xfrm>
            <a:off x="1543503" y="3816295"/>
            <a:ext cx="6037944" cy="1146629"/>
          </a:xfrm>
          <a:custGeom>
            <a:avLst/>
            <a:gdLst>
              <a:gd name="connsiteX0" fmla="*/ 0 w 6037944"/>
              <a:gd name="connsiteY0" fmla="*/ 0 h 1146629"/>
              <a:gd name="connsiteX1" fmla="*/ 3018972 w 6037944"/>
              <a:gd name="connsiteY1" fmla="*/ 725715 h 1146629"/>
              <a:gd name="connsiteX2" fmla="*/ 6037944 w 6037944"/>
              <a:gd name="connsiteY2" fmla="*/ 0 h 1146629"/>
              <a:gd name="connsiteX3" fmla="*/ 3018972 w 6037944"/>
              <a:gd name="connsiteY3" fmla="*/ 1146629 h 1146629"/>
              <a:gd name="connsiteX4" fmla="*/ 0 w 6037944"/>
              <a:gd name="connsiteY4" fmla="*/ 0 h 1146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37944" h="1146629">
                <a:moveTo>
                  <a:pt x="0" y="0"/>
                </a:moveTo>
                <a:cubicBezTo>
                  <a:pt x="0" y="400801"/>
                  <a:pt x="1351640" y="725715"/>
                  <a:pt x="3018972" y="725715"/>
                </a:cubicBezTo>
                <a:cubicBezTo>
                  <a:pt x="4686304" y="725715"/>
                  <a:pt x="6037944" y="400801"/>
                  <a:pt x="6037944" y="0"/>
                </a:cubicBezTo>
                <a:cubicBezTo>
                  <a:pt x="6037944" y="633266"/>
                  <a:pt x="4686304" y="1146629"/>
                  <a:pt x="3018972" y="1146629"/>
                </a:cubicBezTo>
                <a:cubicBezTo>
                  <a:pt x="1351640" y="1146629"/>
                  <a:pt x="0" y="633266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bg1"/>
              </a:gs>
              <a:gs pos="74000">
                <a:srgbClr val="44525A"/>
              </a:gs>
              <a:gs pos="83000">
                <a:srgbClr val="44525A"/>
              </a:gs>
              <a:gs pos="100000">
                <a:srgbClr val="44525A"/>
              </a:gs>
            </a:gsLst>
            <a:lin ang="5400000" scaled="1"/>
          </a:gradFill>
          <a:ln>
            <a:solidFill>
              <a:srgbClr val="81908F"/>
            </a:solidFill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731520" rtlCol="0" anchor="ctr">
            <a:noAutofit/>
          </a:bodyPr>
          <a:lstStyle/>
          <a:p>
            <a:pPr lvl="0"/>
            <a:endParaRPr lang="en-US" sz="3600" dirty="0">
              <a:solidFill>
                <a:srgbClr val="4B8985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13C37F6-66F0-4125-B2E0-B93F212BA9B3}"/>
              </a:ext>
            </a:extLst>
          </p:cNvPr>
          <p:cNvSpPr txBox="1"/>
          <p:nvPr userDrawn="1"/>
        </p:nvSpPr>
        <p:spPr>
          <a:xfrm>
            <a:off x="2147298" y="3044280"/>
            <a:ext cx="484940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rgbClr val="453A38"/>
                </a:solidFill>
                <a:latin typeface="Bahnschrift SemiBold" panose="020B0502040204020203" pitchFamily="34" charset="0"/>
              </a:rPr>
              <a:t>That’s all for now…</a:t>
            </a:r>
          </a:p>
        </p:txBody>
      </p:sp>
    </p:spTree>
    <p:extLst>
      <p:ext uri="{BB962C8B-B14F-4D97-AF65-F5344CB8AC3E}">
        <p14:creationId xmlns:p14="http://schemas.microsoft.com/office/powerpoint/2010/main" val="7809602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7/13/2021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5097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7/13/2021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003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7/13/2021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19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7/13/2021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2152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7/13/2021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252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7/13/2021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8095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7/13/2021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8827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7/13/2021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2609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7/13/2021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408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235">
            <a:alpha val="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BC5188-02C1-4612-A2C7-F501CF181F2E}" type="datetimeFigureOut">
              <a:rPr lang="en-US" smtClean="0"/>
              <a:t>7/13/2021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957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3" r:id="rId2"/>
    <p:sldLayoutId id="2147483674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 ?><Relationships xmlns="http://schemas.openxmlformats.org/package/2006/relationships"><Relationship Id="rId2" Target="../media/image4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 ?><Relationships xmlns="http://schemas.openxmlformats.org/package/2006/relationships"><Relationship Id="rId2" Target="../media/image5.jpeg" Type="http://schemas.openxmlformats.org/officeDocument/2006/relationships/image"/><Relationship Id="rId1" Target="../slideLayouts/slideLayout6.xml" Type="http://schemas.openxmlformats.org/officeDocument/2006/relationships/slideLayout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 ?><Relationships xmlns="http://schemas.openxmlformats.org/package/2006/relationships"><Relationship Id="rId2" Target="../media/image7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 ?><Relationships xmlns="http://schemas.openxmlformats.org/package/2006/relationships"><Relationship Id="rId2" Target="../media/image10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7.xml.rels><?xml version="1.0" encoding="UTF-8" standalone="yes" ?><Relationships xmlns="http://schemas.openxmlformats.org/package/2006/relationships"><Relationship Id="rId2" Target="../media/image11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 ?><Relationships xmlns="http://schemas.openxmlformats.org/package/2006/relationships"><Relationship Id="rId2" Target="../media/image14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 ?><Relationships xmlns="http://schemas.openxmlformats.org/package/2006/relationships"><Relationship Id="rId2" Target="../media/image18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 ?><Relationships xmlns="http://schemas.openxmlformats.org/package/2006/relationships"><Relationship Id="rId2" Target="../media/image19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 ?><Relationships xmlns="http://schemas.openxmlformats.org/package/2006/relationships"><Relationship Id="rId2" Target="../media/image20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30.xml.rels><?xml version="1.0" encoding="UTF-8" standalone="yes" ?><Relationships xmlns="http://schemas.openxmlformats.org/package/2006/relationships"><Relationship Id="rId2" Target="../media/image21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 ?><Relationships xmlns="http://schemas.openxmlformats.org/package/2006/relationships"><Relationship Id="rId2" Target="../media/image23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33.xml.rels><?xml version="1.0" encoding="UTF-8" standalone="yes" ?><Relationships xmlns="http://schemas.openxmlformats.org/package/2006/relationships"><Relationship Id="rId2" Target="../media/image24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"1.0" encoding="UTF-8" standalone="yes" ?><Relationships xmlns="http://schemas.openxmlformats.org/package/2006/relationships"><Relationship Id="rId2" Target="../media/image25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36.xml.rels><?xml version="1.0" encoding="UTF-8" standalone="yes" ?><Relationships xmlns="http://schemas.openxmlformats.org/package/2006/relationships"><Relationship Id="rId2" Target="../media/image26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 ?><Relationships xmlns="http://schemas.openxmlformats.org/package/2006/relationships"><Relationship Id="rId2" Target="../media/image28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 ?><Relationships xmlns="http://schemas.openxmlformats.org/package/2006/relationships"><Relationship Id="rId2" Target="../media/image29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43.xml.rels><?xml version="1.0" encoding="UTF-8" standalone="yes" ?><Relationships xmlns="http://schemas.openxmlformats.org/package/2006/relationships"><Relationship Id="rId2" Target="../media/image30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44.xml.rels><?xml version="1.0" encoding="UTF-8" standalone="yes" ?><Relationships xmlns="http://schemas.openxmlformats.org/package/2006/relationships"><Relationship Id="rId2" Target="../media/image31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45.xml.rels><?xml version="1.0" encoding="UTF-8" standalone="yes" ?><Relationships xmlns="http://schemas.openxmlformats.org/package/2006/relationships"><Relationship Id="rId2" Target="../media/image32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46.xml.rels><?xml version="1.0" encoding="UTF-8" standalone="yes" ?><Relationships xmlns="http://schemas.openxmlformats.org/package/2006/relationships"><Relationship Id="rId2" Target="../media/image33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47.xml.rels><?xml version="1.0" encoding="UTF-8" standalone="yes" ?><Relationships xmlns="http://schemas.openxmlformats.org/package/2006/relationships"><Relationship Id="rId2" Target="../media/image34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4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76091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D1D9C0B-6FD1-4FB9-A1DD-A4626C9E7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9350" y="2818150"/>
            <a:ext cx="7830800" cy="3773150"/>
          </a:xfrm>
        </p:spPr>
        <p:txBody>
          <a:bodyPr>
            <a:normAutofit fontScale="92500"/>
          </a:bodyPr>
          <a:lstStyle/>
          <a:p>
            <a:pPr algn="just"/>
            <a:r>
              <a:rPr lang="en-US" dirty="0"/>
              <a:t>Learn what is big data</a:t>
            </a:r>
          </a:p>
          <a:p>
            <a:pPr algn="just"/>
            <a:r>
              <a:rPr lang="en-US" b="0" i="0" dirty="0">
                <a:effectLst/>
              </a:rPr>
              <a:t>Learn why should big data matter to you?</a:t>
            </a:r>
          </a:p>
          <a:p>
            <a:pPr algn="just"/>
            <a:r>
              <a:rPr lang="en-US" dirty="0"/>
              <a:t>Learn about </a:t>
            </a:r>
            <a:r>
              <a:rPr lang="en-US" b="0" i="0" dirty="0">
                <a:effectLst/>
              </a:rPr>
              <a:t>Big data and the cloud</a:t>
            </a:r>
          </a:p>
          <a:p>
            <a:pPr algn="just"/>
            <a:r>
              <a:rPr lang="en-US" b="0" i="0" dirty="0">
                <a:effectLst/>
              </a:rPr>
              <a:t>Learn why big data in the cloud makes perfect sense</a:t>
            </a:r>
          </a:p>
          <a:p>
            <a:pPr algn="just"/>
            <a:r>
              <a:rPr lang="en-US" dirty="0"/>
              <a:t>Learn </a:t>
            </a:r>
            <a:r>
              <a:rPr lang="en-IN" b="0" i="0" dirty="0">
                <a:effectLst/>
              </a:rPr>
              <a:t>Big opportunities, big challenges</a:t>
            </a:r>
            <a:endParaRPr lang="en-US" b="0" i="0" dirty="0">
              <a:solidFill>
                <a:srgbClr val="333333"/>
              </a:solidFill>
              <a:effectLst/>
              <a:latin typeface="Arvo"/>
            </a:endParaRPr>
          </a:p>
          <a:p>
            <a:pPr algn="just"/>
            <a:endParaRPr lang="en-US" b="0" i="0" dirty="0">
              <a:solidFill>
                <a:srgbClr val="333333"/>
              </a:solidFill>
              <a:effectLst/>
              <a:latin typeface="Arvo"/>
            </a:endParaRP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73998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2BF01CB-CA12-48D7-8F45-E0895BC7B1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55050" y="2015677"/>
            <a:ext cx="6950113" cy="4691326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9C27E1D6-E295-4037-ADAB-F9B050F2C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401050" cy="1276351"/>
          </a:xfrm>
        </p:spPr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0E1951-5CDB-4D18-B0BC-7122990758A6}"/>
              </a:ext>
            </a:extLst>
          </p:cNvPr>
          <p:cNvSpPr txBox="1"/>
          <p:nvPr/>
        </p:nvSpPr>
        <p:spPr>
          <a:xfrm>
            <a:off x="0" y="1369346"/>
            <a:ext cx="89845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 dirty="0">
                <a:solidFill>
                  <a:srgbClr val="333333"/>
                </a:solidFill>
                <a:effectLst/>
                <a:latin typeface="Bahnschrift" panose="020B0502040204020203" pitchFamily="34" charset="0"/>
              </a:rPr>
              <a:t>Why Cloud Computing is the Answer to Your Big Data Initiatives</a:t>
            </a:r>
          </a:p>
        </p:txBody>
      </p:sp>
    </p:spTree>
    <p:extLst>
      <p:ext uri="{BB962C8B-B14F-4D97-AF65-F5344CB8AC3E}">
        <p14:creationId xmlns:p14="http://schemas.microsoft.com/office/powerpoint/2010/main" val="29785045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32BDBA6-01F3-473F-B90B-40F5BC9DA0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362" y="1460505"/>
            <a:ext cx="8668478" cy="5004884"/>
          </a:xfrm>
        </p:spPr>
        <p:txBody>
          <a:bodyPr>
            <a:normAutofit fontScale="85000" lnSpcReduction="10000"/>
          </a:bodyPr>
          <a:lstStyle/>
          <a:p>
            <a:pPr marL="0" indent="0" algn="just">
              <a:lnSpc>
                <a:spcPct val="170000"/>
              </a:lnSpc>
              <a:buNone/>
            </a:pPr>
            <a:r>
              <a:rPr lang="en-US" dirty="0"/>
              <a:t>What are the benefits to companies from advancement of technology?</a:t>
            </a:r>
          </a:p>
          <a:p>
            <a:pPr algn="just">
              <a:lnSpc>
                <a:spcPct val="170000"/>
              </a:lnSpc>
            </a:pPr>
            <a:r>
              <a:rPr lang="en-US" b="0" i="0" dirty="0">
                <a:effectLst/>
              </a:rPr>
              <a:t> Streamlined processes and cost-efficient operations</a:t>
            </a:r>
          </a:p>
          <a:p>
            <a:pPr algn="just">
              <a:lnSpc>
                <a:spcPct val="170000"/>
              </a:lnSpc>
            </a:pPr>
            <a:r>
              <a:rPr lang="en-US" b="0" i="0" dirty="0">
                <a:effectLst/>
              </a:rPr>
              <a:t>Availability of data from every source imaginable - social media, sensors, business applications, and many more.</a:t>
            </a:r>
          </a:p>
          <a:p>
            <a:pPr algn="just">
              <a:lnSpc>
                <a:spcPct val="170000"/>
              </a:lnSpc>
            </a:pPr>
            <a:r>
              <a:rPr lang="en-US" b="0" i="0" dirty="0">
                <a:effectLst/>
              </a:rPr>
              <a:t>Adopted cloud computing to improve their IT operations</a:t>
            </a:r>
          </a:p>
          <a:p>
            <a:pPr algn="just">
              <a:lnSpc>
                <a:spcPct val="170000"/>
              </a:lnSpc>
            </a:pPr>
            <a:r>
              <a:rPr lang="en-US" b="0" i="0" dirty="0">
                <a:effectLst/>
              </a:rPr>
              <a:t>Merging big data with cloud computing</a:t>
            </a:r>
          </a:p>
          <a:p>
            <a:pPr algn="just">
              <a:lnSpc>
                <a:spcPct val="170000"/>
              </a:lnSpc>
            </a:pPr>
            <a:endParaRPr lang="en-US" dirty="0"/>
          </a:p>
          <a:p>
            <a:pPr marL="0" indent="0" algn="just">
              <a:lnSpc>
                <a:spcPct val="170000"/>
              </a:lnSpc>
              <a:buNone/>
            </a:pPr>
            <a:endParaRPr lang="en-US" dirty="0"/>
          </a:p>
          <a:p>
            <a:pPr algn="just">
              <a:lnSpc>
                <a:spcPct val="170000"/>
              </a:lnSpc>
            </a:pP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55345C2-2694-4D02-B98A-FF73F237C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Introduction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918789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7AD7294-E5B8-4DE4-9DC5-4259C535A4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362" y="1579998"/>
            <a:ext cx="8637998" cy="3253564"/>
          </a:xfrm>
        </p:spPr>
        <p:txBody>
          <a:bodyPr>
            <a:normAutofit fontScale="92500"/>
          </a:bodyPr>
          <a:lstStyle/>
          <a:p>
            <a:pPr marL="0" indent="0" algn="just">
              <a:buNone/>
            </a:pPr>
            <a:r>
              <a:rPr lang="en-US" sz="2800" i="0" dirty="0">
                <a:solidFill>
                  <a:srgbClr val="FF0000"/>
                </a:solidFill>
                <a:effectLst/>
              </a:rPr>
              <a:t>Big Data </a:t>
            </a:r>
            <a:r>
              <a:rPr lang="en-US" sz="2800" b="0" i="0" dirty="0">
                <a:solidFill>
                  <a:srgbClr val="222222"/>
                </a:solidFill>
                <a:effectLst/>
              </a:rPr>
              <a:t>is a collection of data that is huge in volume, yet growing exponentially with time. It is a data with so large size and complexity that none of traditional data management tools can store it or process it efficiently. Big data is also a data but with huge size.</a:t>
            </a:r>
            <a:endParaRPr lang="en-IN" sz="28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26C3855-9762-4F49-AFA4-F62079FCB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IN" dirty="0"/>
              <a:t>What is big data?</a:t>
            </a:r>
          </a:p>
        </p:txBody>
      </p:sp>
    </p:spTree>
    <p:extLst>
      <p:ext uri="{BB962C8B-B14F-4D97-AF65-F5344CB8AC3E}">
        <p14:creationId xmlns:p14="http://schemas.microsoft.com/office/powerpoint/2010/main" val="40050080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219AEE4-5CA3-4572-8561-6DF8F0D0798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89678164"/>
              </p:ext>
            </p:extLst>
          </p:nvPr>
        </p:nvGraphicFramePr>
        <p:xfrm>
          <a:off x="238292" y="1460504"/>
          <a:ext cx="8905708" cy="53895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250ED34B-ED05-4F60-ADDC-C0DA7DD4F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292" y="7982"/>
            <a:ext cx="8586676" cy="1302658"/>
          </a:xfrm>
        </p:spPr>
        <p:txBody>
          <a:bodyPr>
            <a:noAutofit/>
          </a:bodyPr>
          <a:lstStyle/>
          <a:p>
            <a:r>
              <a:rPr lang="en-US" sz="2800" b="0" i="0" dirty="0">
                <a:effectLst/>
                <a:latin typeface="Bahnschrift" panose="020B0502040204020203" pitchFamily="34" charset="0"/>
              </a:rPr>
              <a:t>The concept of big data and what it encompasses can be better understood with four Vs:</a:t>
            </a:r>
            <a:endParaRPr lang="en-IN" sz="2800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1359806"/>
      </p:ext>
    </p:extLst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FA6E2-A02C-4F69-9F19-B07F4BA2E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758" y="3752849"/>
            <a:ext cx="2807227" cy="2452687"/>
          </a:xfrm>
        </p:spPr>
        <p:txBody>
          <a:bodyPr anchor="ctr" bIns="45720" lIns="91440" rIns="91440" rtlCol="0" tIns="45720" vert="horz">
            <a:normAutofit/>
          </a:bodyPr>
          <a:lstStyle/>
          <a:p>
            <a:pPr algn="just">
              <a:lnSpc>
                <a:spcPct val="150000"/>
              </a:lnSpc>
            </a:pPr>
            <a:r>
              <a:rPr b="0" dirty="0" i="0" lang="en-US" sz="3100">
                <a:effectLst/>
                <a:latin charset="0" panose="020B0502040204020203" pitchFamily="34" typeface="Bahnschrift SemiBold"/>
              </a:rPr>
              <a:t>Technology leaders also name a fifth V</a:t>
            </a:r>
            <a:endParaRPr dirty="0" lang="en-US" sz="3100">
              <a:latin charset="0" panose="020B0502040204020203" pitchFamily="34" typeface="Bahnschrift SemiBold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9E6CD5B-EDA9-491F-91F3-498901565C74}"/>
              </a:ext>
            </a:extLst>
          </p:cNvPr>
          <p:cNvPicPr>
            <a:picLocks noChangeAspect="1" noGrp="1"/>
          </p:cNvPicPr>
          <p:nvPr>
            <p:ph idx="1" sz="half"/>
          </p:nvPr>
        </p:nvPicPr>
        <p:blipFill rotWithShape="1">
          <a:blip r:embed="rId2"/>
          <a:srcRect b="-8"/>
          <a:stretch/>
        </p:blipFill>
        <p:spPr>
          <a:xfrm>
            <a:off x="20" y="10"/>
            <a:ext cx="9143980" cy="3710603"/>
          </a:xfrm>
          <a:custGeom>
            <a:avLst/>
            <a:gdLst/>
            <a:ahLst/>
            <a:cxnLst/>
            <a:rect b="b" l="l" r="r" t="t"/>
            <a:pathLst>
              <a:path h="3692092" w="12192000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E48B5D-5F42-444E-9E4C-9993CB76FFD6}"/>
              </a:ext>
            </a:extLst>
          </p:cNvPr>
          <p:cNvSpPr>
            <a:spLocks noGrp="1"/>
          </p:cNvSpPr>
          <p:nvPr>
            <p:ph idx="2" sz="half"/>
          </p:nvPr>
        </p:nvSpPr>
        <p:spPr>
          <a:xfrm>
            <a:off x="3529940" y="3874770"/>
            <a:ext cx="5415940" cy="2452687"/>
          </a:xfrm>
        </p:spPr>
        <p:txBody>
          <a:bodyPr anchor="ctr" bIns="45720" lIns="91440" rIns="91440" rtlCol="0" tIns="45720" vert="horz">
            <a:noAutofit/>
          </a:bodyPr>
          <a:lstStyle/>
          <a:p>
            <a:pPr algn="just" marL="0">
              <a:lnSpc>
                <a:spcPct val="150000"/>
              </a:lnSpc>
            </a:pPr>
            <a:r>
              <a:rPr b="0" dirty="0" i="0" lang="en-US" sz="2400">
                <a:effectLst/>
                <a:latin charset="0" panose="020B0502040204020203" pitchFamily="34" typeface="Bahnschrift"/>
              </a:rPr>
              <a:t>V – value</a:t>
            </a:r>
          </a:p>
          <a:p>
            <a:pPr algn="just">
              <a:lnSpc>
                <a:spcPct val="150000"/>
              </a:lnSpc>
            </a:pPr>
            <a:r>
              <a:rPr b="0" dirty="0" i="0" lang="en-US" sz="2400">
                <a:effectLst/>
                <a:latin charset="0" panose="020B0502040204020203" pitchFamily="34" typeface="Bahnschrift"/>
              </a:rPr>
              <a:t>The true value of big data can only be realized when the right information is captured and analyzed to gain actionable insights.</a:t>
            </a:r>
            <a:endParaRPr dirty="0" lang="en-US" sz="2400">
              <a:latin charset="0" panose="020B0502040204020203" pitchFamily="34" typeface="Bahnschrift"/>
            </a:endParaRPr>
          </a:p>
        </p:txBody>
      </p:sp>
    </p:spTree>
    <p:extLst>
      <p:ext uri="{BB962C8B-B14F-4D97-AF65-F5344CB8AC3E}">
        <p14:creationId xmlns:p14="http://schemas.microsoft.com/office/powerpoint/2010/main" val="7559936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6668D15-DF4C-43ED-A499-721067BBCA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362" y="1478280"/>
            <a:ext cx="8465340" cy="5154749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An</a:t>
            </a:r>
            <a:r>
              <a:rPr lang="en-US" b="0" dirty="0">
                <a:effectLst/>
              </a:rPr>
              <a:t> </a:t>
            </a:r>
            <a:r>
              <a:rPr lang="en-US" b="0" u="none" strike="noStrike" dirty="0">
                <a:solidFill>
                  <a:srgbClr val="FF0000"/>
                </a:solidFill>
                <a:effectLst/>
              </a:rPr>
              <a:t>Accenture study</a:t>
            </a:r>
            <a:r>
              <a:rPr lang="en-US" b="0" dirty="0">
                <a:solidFill>
                  <a:srgbClr val="FF0000"/>
                </a:solidFill>
                <a:effectLst/>
              </a:rPr>
              <a:t> (PDF) </a:t>
            </a:r>
            <a:r>
              <a:rPr lang="en-US" b="0" dirty="0">
                <a:effectLst/>
              </a:rPr>
              <a:t>reveals that 79 percent of corporate executives surveyed believe that ‘companies that do not embrace big data will lose their competitive position and may even face extinction’.</a:t>
            </a:r>
          </a:p>
          <a:p>
            <a:pPr marL="0" indent="0" algn="just">
              <a:buNone/>
            </a:pPr>
            <a:endParaRPr lang="en-US" b="0" dirty="0">
              <a:effectLst/>
            </a:endParaRPr>
          </a:p>
          <a:p>
            <a:pPr marL="0" indent="0" algn="just">
              <a:buNone/>
            </a:pP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8273C48-C521-4D36-B4F9-27CD57334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361" y="0"/>
            <a:ext cx="8465341" cy="1310640"/>
          </a:xfrm>
        </p:spPr>
        <p:txBody>
          <a:bodyPr>
            <a:normAutofit/>
          </a:bodyPr>
          <a:lstStyle/>
          <a:p>
            <a:r>
              <a:rPr lang="en-US" b="0" i="0" dirty="0">
                <a:effectLst/>
                <a:latin typeface="Bahnschrift" panose="020B0502040204020203" pitchFamily="34" charset="0"/>
              </a:rPr>
              <a:t>Why should big data matter to you?</a:t>
            </a:r>
            <a:endParaRPr lang="en-IN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57204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235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134C070-C77C-444F-9ED2-4A8DA82748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8362" y="1637768"/>
            <a:ext cx="8318382" cy="4827182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D281A273-6D15-491F-BFA9-C53351637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0" i="0" dirty="0">
                <a:effectLst/>
                <a:latin typeface="Bahnschrift" panose="020B0502040204020203" pitchFamily="34" charset="0"/>
              </a:rPr>
              <a:t>Why should big data matter to you?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06432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82682D6-556A-4510-A74A-B710B6DCC8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362" y="1460505"/>
            <a:ext cx="8386537" cy="5004884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0" i="0" dirty="0">
                <a:effectLst/>
                <a:latin typeface="Ubuntu"/>
              </a:rPr>
              <a:t>When your big data goes to the cloud?</a:t>
            </a:r>
          </a:p>
          <a:p>
            <a:pPr algn="just"/>
            <a:r>
              <a:rPr lang="en-US" dirty="0">
                <a:latin typeface="Ubuntu"/>
              </a:rPr>
              <a:t>D</a:t>
            </a:r>
            <a:r>
              <a:rPr lang="en-US" b="0" i="0" dirty="0">
                <a:effectLst/>
                <a:latin typeface="Ubuntu"/>
              </a:rPr>
              <a:t>ata storage</a:t>
            </a:r>
          </a:p>
          <a:p>
            <a:pPr algn="just"/>
            <a:r>
              <a:rPr lang="en-US" b="0" i="0" dirty="0">
                <a:effectLst/>
                <a:latin typeface="Ubuntu"/>
              </a:rPr>
              <a:t>Application of basic analytics modules</a:t>
            </a:r>
          </a:p>
          <a:p>
            <a:pPr algn="just"/>
            <a:r>
              <a:rPr lang="en-US" dirty="0">
                <a:latin typeface="Ubuntu"/>
              </a:rPr>
              <a:t>E</a:t>
            </a:r>
            <a:r>
              <a:rPr lang="en-US" b="0" i="0" dirty="0">
                <a:effectLst/>
                <a:latin typeface="Ubuntu"/>
              </a:rPr>
              <a:t>xtract data at a much larger scale</a:t>
            </a:r>
          </a:p>
          <a:p>
            <a:pPr algn="just"/>
            <a:r>
              <a:rPr lang="en-US" dirty="0">
                <a:latin typeface="Ubuntu"/>
              </a:rPr>
              <a:t>A</a:t>
            </a:r>
            <a:r>
              <a:rPr lang="en-US" b="0" i="0" dirty="0">
                <a:effectLst/>
                <a:latin typeface="Ubuntu"/>
              </a:rPr>
              <a:t>dd more capacity to your in-house data warehouse or power up more servers</a:t>
            </a:r>
          </a:p>
          <a:p>
            <a:pPr algn="just"/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C7DF436-CAA2-4FEB-8454-0C77546B4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0" i="0" dirty="0">
                <a:effectLst/>
                <a:latin typeface="Bahnschrift" panose="020B0502040204020203" pitchFamily="34" charset="0"/>
              </a:rPr>
              <a:t>Big data and the cloud</a:t>
            </a:r>
            <a:endParaRPr lang="en-IN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47937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FB66AA9-C28C-4241-91A8-0BE7AD5E1B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361" y="1567185"/>
            <a:ext cx="8386537" cy="5004884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T</a:t>
            </a:r>
            <a:r>
              <a:rPr lang="en-US" b="0" i="0" dirty="0">
                <a:effectLst/>
              </a:rPr>
              <a:t>he cloud’s scalable environment makes it possible to deploy data-intensive applications that power business analytics.</a:t>
            </a:r>
          </a:p>
          <a:p>
            <a:pPr algn="just"/>
            <a:r>
              <a:rPr lang="en-US" dirty="0"/>
              <a:t>S</a:t>
            </a:r>
            <a:r>
              <a:rPr lang="en-US" b="0" i="0" dirty="0">
                <a:effectLst/>
              </a:rPr>
              <a:t>implifies connectivity and collaboration within an organization</a:t>
            </a:r>
          </a:p>
          <a:p>
            <a:pPr algn="just"/>
            <a:r>
              <a:rPr lang="en-US" dirty="0"/>
              <a:t>I</a:t>
            </a:r>
            <a:r>
              <a:rPr lang="en-US" b="0" i="0" dirty="0">
                <a:effectLst/>
              </a:rPr>
              <a:t>t gives executives a better view of the business and boosts data-driven decision making.</a:t>
            </a:r>
          </a:p>
          <a:p>
            <a:pPr algn="just"/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B9409D8-2082-4249-B61D-8B50BB37A3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Why big data in the cloud makes perfect sense</a:t>
            </a:r>
            <a:endParaRPr lang="en-IN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65684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235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B9409D8-2082-4249-B61D-8B50BB37A3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Why big data in the cloud makes perfect sense</a:t>
            </a:r>
            <a:endParaRPr lang="en-IN" dirty="0">
              <a:latin typeface="Bahnschrift" panose="020B05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D0CB516-32F8-434C-819F-FF0609A132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6187" y="1490360"/>
            <a:ext cx="5711626" cy="440467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891C95E-A717-4FC5-8E19-12334057CC47}"/>
              </a:ext>
            </a:extLst>
          </p:cNvPr>
          <p:cNvSpPr/>
          <p:nvPr/>
        </p:nvSpPr>
        <p:spPr>
          <a:xfrm>
            <a:off x="3146651" y="5895037"/>
            <a:ext cx="2632499" cy="519632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Bahnschrift" panose="020B0502040204020203" pitchFamily="34" charset="0"/>
              </a:rPr>
              <a:t>Supply Chain</a:t>
            </a:r>
            <a:endParaRPr lang="en-IN" sz="2800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22189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235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B9409D8-2082-4249-B61D-8B50BB37A3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Why big data in the cloud makes perfect sense</a:t>
            </a:r>
            <a:endParaRPr lang="en-IN" dirty="0"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891C95E-A717-4FC5-8E19-12334057CC47}"/>
              </a:ext>
            </a:extLst>
          </p:cNvPr>
          <p:cNvSpPr/>
          <p:nvPr/>
        </p:nvSpPr>
        <p:spPr>
          <a:xfrm>
            <a:off x="2531258" y="5902442"/>
            <a:ext cx="4616302" cy="525649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Bahnschrift" panose="020B0502040204020203" pitchFamily="34" charset="0"/>
              </a:rPr>
              <a:t>E</a:t>
            </a:r>
            <a:r>
              <a:rPr lang="en-US" sz="2800" b="0" i="0" dirty="0">
                <a:effectLst/>
                <a:latin typeface="Bahnschrift" panose="020B0502040204020203" pitchFamily="34" charset="0"/>
              </a:rPr>
              <a:t>fficient tracking of defects</a:t>
            </a:r>
            <a:endParaRPr lang="en-IN" sz="2800" dirty="0">
              <a:latin typeface="Bahnschrift" panose="020B0502040204020203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F754519-0E3E-4771-836D-3F54BF812A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1477" y="1580307"/>
            <a:ext cx="6957163" cy="4067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58060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B9409D8-2082-4249-B61D-8B50BB37A3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0" i="0" dirty="0">
                <a:effectLst/>
                <a:latin typeface="Bahnschrift" panose="020B0502040204020203" pitchFamily="34" charset="0"/>
              </a:rPr>
              <a:t>Why big data in the cloud makes perfect sense</a:t>
            </a:r>
            <a:endParaRPr lang="en-IN" dirty="0"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891C95E-A717-4FC5-8E19-12334057CC47}"/>
              </a:ext>
            </a:extLst>
          </p:cNvPr>
          <p:cNvSpPr/>
          <p:nvPr/>
        </p:nvSpPr>
        <p:spPr>
          <a:xfrm>
            <a:off x="1168421" y="6068990"/>
            <a:ext cx="7081478" cy="490943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Bahnschrift" panose="020B0502040204020203" pitchFamily="34" charset="0"/>
              </a:rPr>
              <a:t>I</a:t>
            </a:r>
            <a:r>
              <a:rPr lang="en-US" sz="2800" b="0" i="0" dirty="0">
                <a:effectLst/>
                <a:latin typeface="Bahnschrift" panose="020B0502040204020203" pitchFamily="34" charset="0"/>
              </a:rPr>
              <a:t>ncrease customer engagement and loyalty</a:t>
            </a:r>
            <a:endParaRPr lang="en-IN" sz="2800" dirty="0">
              <a:latin typeface="Bahnschrift" panose="020B0502040204020203" pitchFamily="34" charset="0"/>
            </a:endParaRPr>
          </a:p>
        </p:txBody>
      </p:sp>
      <p:pic>
        <p:nvPicPr>
          <p:cNvPr id="1026" name="Picture 2" descr="Increase Customer Loyalty with a Customer Engagement Program - Increase  Customer Loyalty with a Customer Engagement Program">
            <a:extLst>
              <a:ext uri="{FF2B5EF4-FFF2-40B4-BE49-F238E27FC236}">
                <a16:creationId xmlns:a16="http://schemas.microsoft.com/office/drawing/2014/main" id="{01137E51-A5D4-42EA-80BB-584C4D1E27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1987" y="1844535"/>
            <a:ext cx="7081479" cy="3705482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911004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B9409D8-2082-4249-B61D-8B50BB37A3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0" i="0" dirty="0">
                <a:effectLst/>
                <a:latin typeface="Bahnschrift" panose="020B0502040204020203" pitchFamily="34" charset="0"/>
              </a:rPr>
              <a:t>Why big data in the cloud makes perfect sense</a:t>
            </a:r>
            <a:endParaRPr lang="en-IN" dirty="0">
              <a:latin typeface="Bahnschrift" panose="020B0502040204020203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0D66C8B-0184-4784-BC3F-18CD951C2C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315" y="1950402"/>
            <a:ext cx="8125370" cy="4252277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420379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B9409D8-2082-4249-B61D-8B50BB37A3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0" i="0" dirty="0">
                <a:effectLst/>
                <a:latin typeface="Bahnschrift" panose="020B0502040204020203" pitchFamily="34" charset="0"/>
              </a:rPr>
              <a:t>Why big data in the cloud makes perfect sense</a:t>
            </a:r>
            <a:endParaRPr lang="en-IN" dirty="0">
              <a:latin typeface="Bahnschrift" panose="020B0502040204020203" pitchFamily="34" charset="0"/>
            </a:endParaRP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299E43B8-BA15-4EA8-9BBC-1E9341C88FD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3562354"/>
              </p:ext>
            </p:extLst>
          </p:nvPr>
        </p:nvGraphicFramePr>
        <p:xfrm>
          <a:off x="264076" y="1630680"/>
          <a:ext cx="8535108" cy="50901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028723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8234EEF-9ADD-42FB-A699-516C7C4776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96331" y="1426755"/>
            <a:ext cx="4269379" cy="4269379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0EFBEF40-6442-4F09-810B-9DB2958F8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0" i="0" dirty="0">
                <a:effectLst/>
                <a:latin typeface="Bahnschrift" panose="020B0502040204020203" pitchFamily="34" charset="0"/>
              </a:rPr>
            </a:br>
            <a:r>
              <a:rPr lang="en-US" b="0" i="0" dirty="0">
                <a:effectLst/>
                <a:latin typeface="Bahnschrift" panose="020B0502040204020203" pitchFamily="34" charset="0"/>
              </a:rPr>
              <a:t>Why big data in the cloud makes perfect sense</a:t>
            </a:r>
            <a:br>
              <a:rPr lang="en-US" b="0" i="0" dirty="0">
                <a:effectLst/>
                <a:latin typeface="Bahnschrift" panose="020B0502040204020203" pitchFamily="34" charset="0"/>
              </a:rPr>
            </a:br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DD921F2-112E-42D0-A83F-3D93F002F1ED}"/>
              </a:ext>
            </a:extLst>
          </p:cNvPr>
          <p:cNvSpPr/>
          <p:nvPr/>
        </p:nvSpPr>
        <p:spPr>
          <a:xfrm>
            <a:off x="1644529" y="5797326"/>
            <a:ext cx="5403140" cy="869288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Bahnschrift" panose="020B0502040204020203" pitchFamily="34" charset="0"/>
              </a:rPr>
              <a:t>B</a:t>
            </a:r>
            <a:r>
              <a:rPr lang="en-US" sz="2400" b="0" i="0" dirty="0">
                <a:effectLst/>
                <a:latin typeface="Bahnschrift" panose="020B0502040204020203" pitchFamily="34" charset="0"/>
              </a:rPr>
              <a:t>ig data complemented with an agile cloud platform</a:t>
            </a:r>
            <a:endParaRPr lang="en-IN" sz="2400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08069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F1FDE37-3AC7-47FD-8A66-BB384681F9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260" t="6599" r="12763" b="5852"/>
          <a:stretch/>
        </p:blipFill>
        <p:spPr>
          <a:xfrm>
            <a:off x="338362" y="1605516"/>
            <a:ext cx="8317306" cy="4827181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63D9F1A5-969E-47A7-8D6D-A7B0B4B9E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0" i="0" dirty="0">
                <a:effectLst/>
                <a:latin typeface="Bahnschrift" panose="020B0502040204020203" pitchFamily="34" charset="0"/>
              </a:rPr>
              <a:t>Why big data in the cloud makes perfect sense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37067706"/>
      </p:ext>
    </p:extLst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AdjustHandles="1" noChangeArrowheads="1" noChangeAspect="1" noChangeShapeType="1" noEditPoints="1" noGrp="1" noMove="1" noResize="1" noRot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lang="en-US"/>
          </a:p>
        </p:txBody>
      </p:sp>
      <p:pic>
        <p:nvPicPr>
          <p:cNvPr descr="Low angle view of modern skyscrapers rising straight up against a dramatic sky" id="4" name="Picture 3">
            <a:extLst>
              <a:ext uri="{FF2B5EF4-FFF2-40B4-BE49-F238E27FC236}">
                <a16:creationId xmlns:a16="http://schemas.microsoft.com/office/drawing/2014/main" id="{B85F7774-D2A7-4543-B3D6-119FB9BB0B5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-1" r="13"/>
          <a:stretch/>
        </p:blipFill>
        <p:spPr>
          <a:xfrm>
            <a:off x="20" y="1"/>
            <a:ext cx="9143980" cy="6857999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AdjustHandles="1" noChangeArrowheads="1" noChangeAspect="1" noChangeShapeType="1" noEditPoints="1" noGrp="1" noMove="1" noResize="1" noRot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9143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85060E-B2E7-415C-80FE-A00559AA32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956" y="699953"/>
            <a:ext cx="7543800" cy="1507648"/>
          </a:xfrm>
          <a:effectLst>
            <a:outerShdw algn="tl" blurRad="50800" dir="2700000" dist="38100" rotWithShape="0">
              <a:prstClr val="black">
                <a:alpha val="40000"/>
              </a:prstClr>
            </a:outerShdw>
          </a:effectLst>
        </p:spPr>
        <p:txBody>
          <a:bodyPr anchor="b" bIns="45720" lIns="91440" rIns="91440" rtlCol="0" tIns="45720" vert="horz">
            <a:normAutofit/>
          </a:bodyPr>
          <a:lstStyle/>
          <a:p>
            <a:pPr algn="ctr"/>
            <a:r>
              <a:rPr b="1" dirty="0" lang="en-US" sz="4500">
                <a:ln w="22225">
                  <a:solidFill>
                    <a:schemeClr val="accent2"/>
                  </a:solidFill>
                  <a:prstDash val="solid"/>
                </a:ln>
                <a:solidFill>
                  <a:sysClr lastClr="000000" val="windowText"/>
                </a:solidFill>
                <a:latin charset="0" panose="020B0502040204020203" pitchFamily="34" typeface="Bahnschrift"/>
              </a:rPr>
              <a:t>Big Opportunities, Big Challenges</a:t>
            </a:r>
          </a:p>
        </p:txBody>
      </p:sp>
    </p:spTree>
    <p:extLst>
      <p:ext uri="{BB962C8B-B14F-4D97-AF65-F5344CB8AC3E}">
        <p14:creationId xmlns:p14="http://schemas.microsoft.com/office/powerpoint/2010/main" val="31524338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BDD2B4E-DE95-4CCE-8C24-3F2206F71C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0291" y="1478966"/>
            <a:ext cx="8736549" cy="1325563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n-US" b="0" i="0" dirty="0">
                <a:effectLst/>
              </a:rPr>
              <a:t>The cloud has fundamentally changed IT spending as organizations know it—and in a good way.</a:t>
            </a:r>
          </a:p>
          <a:p>
            <a:pPr marL="0" indent="0" algn="just" fontAlgn="base">
              <a:buNone/>
            </a:pPr>
            <a:endParaRPr lang="en-US" b="0" i="0" dirty="0">
              <a:effectLst/>
            </a:endParaRPr>
          </a:p>
          <a:p>
            <a:pPr marL="0" indent="0" algn="just">
              <a:buNone/>
            </a:pP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578A0D7-8E5B-4B78-8E6F-2D1A3E2CE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b="0" i="0" dirty="0">
                <a:effectLst/>
                <a:latin typeface="Bahnschrift" panose="020B0502040204020203" pitchFamily="34" charset="0"/>
              </a:rPr>
              <a:t>Requires zero CAPEX</a:t>
            </a:r>
            <a:endParaRPr lang="en-IN" dirty="0">
              <a:latin typeface="Bahnschrift" panose="020B05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18D1D3-2355-48D7-B217-45BCD02D64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030" y="2804529"/>
            <a:ext cx="7867869" cy="298886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FA49DB3-4031-43C3-9BF5-2E77F0275A87}"/>
              </a:ext>
            </a:extLst>
          </p:cNvPr>
          <p:cNvSpPr txBox="1"/>
          <p:nvPr/>
        </p:nvSpPr>
        <p:spPr>
          <a:xfrm>
            <a:off x="725694" y="5842097"/>
            <a:ext cx="8130539" cy="954107"/>
          </a:xfrm>
          <a:prstGeom prst="rect">
            <a:avLst/>
          </a:prstGeom>
          <a:solidFill>
            <a:srgbClr val="000000"/>
          </a:solidFill>
        </p:spPr>
        <p:txBody>
          <a:bodyPr wrap="square">
            <a:spAutoFit/>
          </a:bodyPr>
          <a:lstStyle/>
          <a:p>
            <a:pPr algn="ctr"/>
            <a:r>
              <a:rPr lang="en-IN" sz="2800" dirty="0">
                <a:solidFill>
                  <a:schemeClr val="bg1"/>
                </a:solidFill>
                <a:latin typeface="Bahnschrift" panose="020B0502040204020203" pitchFamily="34" charset="0"/>
              </a:rPr>
              <a:t>O</a:t>
            </a:r>
            <a:r>
              <a:rPr lang="en-IN" sz="2800" b="0" i="0" dirty="0"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n-premise capital expenditure (CAPEX) investments</a:t>
            </a:r>
            <a:endParaRPr lang="en-IN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03726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235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578A0D7-8E5B-4B78-8E6F-2D1A3E2CE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b="0" i="0" dirty="0">
                <a:effectLst/>
                <a:latin typeface="Bahnschrift" panose="020B0502040204020203" pitchFamily="34" charset="0"/>
              </a:rPr>
              <a:t>Requires zero CAPEX</a:t>
            </a:r>
            <a:endParaRPr lang="en-IN" dirty="0">
              <a:latin typeface="Bahnschrift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A49DB3-4031-43C3-9BF5-2E77F0275A87}"/>
              </a:ext>
            </a:extLst>
          </p:cNvPr>
          <p:cNvSpPr txBox="1"/>
          <p:nvPr/>
        </p:nvSpPr>
        <p:spPr>
          <a:xfrm>
            <a:off x="1302488" y="5189899"/>
            <a:ext cx="6539023" cy="954107"/>
          </a:xfrm>
          <a:prstGeom prst="rect">
            <a:avLst/>
          </a:prstGeom>
          <a:solidFill>
            <a:srgbClr val="000000"/>
          </a:solidFill>
        </p:spPr>
        <p:txBody>
          <a:bodyPr wrap="square">
            <a:spAutoFit/>
          </a:bodyPr>
          <a:lstStyle/>
          <a:p>
            <a:pPr algn="ctr"/>
            <a:r>
              <a:rPr lang="en-IN" sz="2800" dirty="0">
                <a:solidFill>
                  <a:schemeClr val="bg1"/>
                </a:solidFill>
                <a:latin typeface="Bahnschrift" panose="020B0502040204020203" pitchFamily="34" charset="0"/>
              </a:rPr>
              <a:t>C</a:t>
            </a:r>
            <a:r>
              <a:rPr lang="en-IN" sz="2800" b="0" i="0" dirty="0"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loud’s Infrastructure-as-a-Service models </a:t>
            </a:r>
            <a:endParaRPr lang="en-IN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48FFC2E-50B1-4A29-8C4C-5B15A70645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8072" y="1532211"/>
            <a:ext cx="5319559" cy="3451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41967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235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578A0D7-8E5B-4B78-8E6F-2D1A3E2CE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b="0" i="0" dirty="0">
                <a:effectLst/>
                <a:latin typeface="Bahnschrift" panose="020B0502040204020203" pitchFamily="34" charset="0"/>
              </a:rPr>
              <a:t>Requires zero CAPEX</a:t>
            </a:r>
            <a:endParaRPr lang="en-IN" dirty="0">
              <a:latin typeface="Bahnschrift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A49DB3-4031-43C3-9BF5-2E77F0275A87}"/>
              </a:ext>
            </a:extLst>
          </p:cNvPr>
          <p:cNvSpPr txBox="1"/>
          <p:nvPr/>
        </p:nvSpPr>
        <p:spPr>
          <a:xfrm>
            <a:off x="787519" y="5603198"/>
            <a:ext cx="7568962" cy="533421"/>
          </a:xfrm>
          <a:prstGeom prst="rect">
            <a:avLst/>
          </a:prstGeom>
          <a:solidFill>
            <a:srgbClr val="000000"/>
          </a:solidFill>
        </p:spPr>
        <p:txBody>
          <a:bodyPr wrap="square">
            <a:spAutoFit/>
          </a:bodyPr>
          <a:lstStyle/>
          <a:p>
            <a:pPr algn="ctr"/>
            <a:r>
              <a:rPr lang="en-IN" sz="2800" b="0" i="0" dirty="0"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Operating expenditure (OPEX) column.</a:t>
            </a:r>
            <a:endParaRPr lang="en-IN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38D572-69D3-4C0F-9D3D-A50A54A744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550" y="2303432"/>
            <a:ext cx="8598900" cy="2862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1521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235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62DE25F-522F-415C-AABB-6A9CEA882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b="0" i="0" dirty="0">
                <a:effectLst/>
                <a:latin typeface="Bahnschrift" panose="020B0502040204020203" pitchFamily="34" charset="0"/>
              </a:rPr>
              <a:t>Enables faster scalability</a:t>
            </a:r>
            <a:endParaRPr lang="en-IN" dirty="0">
              <a:latin typeface="Bahnschrift" panose="020B05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2CBD43-2F65-4AD1-A11C-EA87D9A91C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057" y="1847850"/>
            <a:ext cx="8557260" cy="4278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3501039"/>
      </p:ext>
    </p:extLst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99B9449-3357-4C74-B929-B3204608E6BD}"/>
              </a:ext>
            </a:extLst>
          </p:cNvPr>
          <p:cNvPicPr>
            <a:picLocks noChangeAspect="1" noGrp="1"/>
          </p:cNvPicPr>
          <p:nvPr>
            <p:ph idx="1"/>
          </p:nvPr>
        </p:nvPicPr>
        <p:blipFill rotWithShape="1">
          <a:blip r:embed="rId2"/>
          <a:srcRect b="13" r="-23"/>
          <a:stretch/>
        </p:blipFill>
        <p:spPr>
          <a:xfrm>
            <a:off x="770860" y="1807535"/>
            <a:ext cx="7602280" cy="3242930"/>
          </a:xfrm>
          <a:prstGeom prst="rect">
            <a:avLst/>
          </a:prstGeom>
          <a:effectLst>
            <a:outerShdw algn="ctr" blurRad="63500" rotWithShape="0" sx="102000" sy="102000">
              <a:prstClr val="black">
                <a:alpha val="40000"/>
              </a:prstClr>
            </a:outerShdw>
          </a:effectLst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662DE25F-522F-415C-AABB-6A9CEA882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b="0" dirty="0" i="0" lang="en-IN">
                <a:effectLst/>
                <a:latin charset="0" panose="020B0502040204020203" pitchFamily="34" typeface="Bahnschrift"/>
              </a:rPr>
              <a:t>Enables faster scalability</a:t>
            </a:r>
            <a:endParaRPr dirty="0" lang="en-IN">
              <a:latin charset="0" panose="020B0502040204020203" pitchFamily="34" typeface="Bahnschrif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8D1CAB-EAE3-4F6F-817C-7195E4F97405}"/>
              </a:ext>
            </a:extLst>
          </p:cNvPr>
          <p:cNvSpPr txBox="1"/>
          <p:nvPr/>
        </p:nvSpPr>
        <p:spPr>
          <a:xfrm>
            <a:off x="770860" y="5743916"/>
            <a:ext cx="7602280" cy="523220"/>
          </a:xfrm>
          <a:prstGeom prst="rect">
            <a:avLst/>
          </a:prstGeom>
          <a:solidFill>
            <a:srgbClr val="000000"/>
          </a:solidFill>
        </p:spPr>
        <p:txBody>
          <a:bodyPr wrap="square">
            <a:spAutoFit/>
          </a:bodyPr>
          <a:lstStyle/>
          <a:p>
            <a:pPr algn="ctr"/>
            <a:r>
              <a:rPr b="0" dirty="0" i="0" lang="en-US" sz="2800">
                <a:solidFill>
                  <a:schemeClr val="bg1"/>
                </a:solidFill>
                <a:effectLst/>
                <a:latin charset="0" panose="020B0502040204020203" pitchFamily="34" typeface="Bahnschrift"/>
              </a:rPr>
              <a:t>Manage large spikes in traffic or usage</a:t>
            </a:r>
            <a:endParaRPr dirty="0" lang="en-IN" sz="2800">
              <a:solidFill>
                <a:schemeClr val="bg1"/>
              </a:solidFill>
              <a:latin charset="0" panose="020B0502040204020203" pitchFamily="34" typeface="Bahnschrift"/>
            </a:endParaRPr>
          </a:p>
        </p:txBody>
      </p:sp>
    </p:spTree>
    <p:extLst>
      <p:ext uri="{BB962C8B-B14F-4D97-AF65-F5344CB8AC3E}">
        <p14:creationId xmlns:p14="http://schemas.microsoft.com/office/powerpoint/2010/main" val="9015235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B885009-0D1C-41B5-9D81-0E0BBB776A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362" y="1506225"/>
            <a:ext cx="8386537" cy="5004884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n-US" b="0" i="0" dirty="0">
                <a:effectLst/>
              </a:rPr>
              <a:t>Mining big data in the cloud has made the analytics process less costly. In addition to the reduction of on-premise infrastructure, you can also save on costs related to system maintenance and upgrades, energy consumption, facility management, and more. You can also worry less about the technical aspects of </a:t>
            </a:r>
            <a:r>
              <a:rPr lang="en-US" b="0" i="0" u="none" strike="noStrike" dirty="0">
                <a:effectLst/>
              </a:rPr>
              <a:t>processing big data</a:t>
            </a:r>
            <a:r>
              <a:rPr lang="en-US" b="0" i="0" dirty="0">
                <a:effectLst/>
              </a:rPr>
              <a:t> and focus more on creating insights. Even better, the cloud’s pay-as-you-go model is more cost-efficient, with little waste of resources.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4B96C1F-94D6-4426-B8E1-B63465EEE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b="0" i="0" dirty="0">
                <a:effectLst/>
                <a:latin typeface="Bahnschrift" panose="020B0502040204020203" pitchFamily="34" charset="0"/>
              </a:rPr>
              <a:t>Lowers the cost of analytics</a:t>
            </a:r>
            <a:endParaRPr lang="en-IN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58313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B885009-0D1C-41B5-9D81-0E0BBB776A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361" y="1460505"/>
            <a:ext cx="8386537" cy="5004884"/>
          </a:xfrm>
        </p:spPr>
        <p:txBody>
          <a:bodyPr>
            <a:normAutofit/>
          </a:bodyPr>
          <a:lstStyle/>
          <a:p>
            <a:r>
              <a:rPr lang="en-US" b="0" i="0" dirty="0">
                <a:effectLst/>
              </a:rPr>
              <a:t>Analytics process less costly. </a:t>
            </a:r>
          </a:p>
          <a:p>
            <a:r>
              <a:rPr lang="en-US" b="0" i="0" dirty="0">
                <a:effectLst/>
              </a:rPr>
              <a:t>Can also save on costs</a:t>
            </a:r>
          </a:p>
          <a:p>
            <a:r>
              <a:rPr lang="en-US" b="0" i="0" dirty="0">
                <a:effectLst/>
              </a:rPr>
              <a:t>worry less about the technical aspects of </a:t>
            </a:r>
            <a:r>
              <a:rPr lang="en-US" b="0" i="0" u="none" strike="noStrike" dirty="0">
                <a:effectLst/>
              </a:rPr>
              <a:t>processing big data</a:t>
            </a:r>
            <a:r>
              <a:rPr lang="en-US" b="0" i="0" dirty="0">
                <a:effectLst/>
              </a:rPr>
              <a:t> </a:t>
            </a:r>
          </a:p>
          <a:p>
            <a:r>
              <a:rPr lang="en-US" b="0" i="0" dirty="0">
                <a:effectLst/>
              </a:rPr>
              <a:t>focus more on creating insights</a:t>
            </a:r>
          </a:p>
          <a:p>
            <a:r>
              <a:rPr lang="en-US" b="0" i="0" dirty="0">
                <a:effectLst/>
              </a:rPr>
              <a:t> Even better, the cloud’s pay-as-you-go model is more cost-efficient, with little waste of resources.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4B96C1F-94D6-4426-B8E1-B63465EEE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0" i="0" dirty="0">
                <a:effectLst/>
                <a:latin typeface="Bahnschrift" panose="020B0502040204020203" pitchFamily="34" charset="0"/>
              </a:rPr>
              <a:t>Lowers the cost of analytics</a:t>
            </a:r>
            <a:endParaRPr lang="en-IN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91648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8AB52D3-8E96-4B10-A4B8-C730AC5182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50872" y="1654595"/>
            <a:ext cx="5161515" cy="393515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D4B96C1F-94D6-4426-B8E1-B63465EEE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b="0" i="0" dirty="0">
                <a:effectLst/>
                <a:latin typeface="Bahnschrift" panose="020B0502040204020203" pitchFamily="34" charset="0"/>
              </a:rPr>
              <a:t>Lowers the cost of analytics</a:t>
            </a:r>
            <a:endParaRPr lang="en-IN" dirty="0">
              <a:latin typeface="Bahnschrif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B62149-8885-49EA-B839-FA3DCE6DC87C}"/>
              </a:ext>
            </a:extLst>
          </p:cNvPr>
          <p:cNvSpPr txBox="1"/>
          <p:nvPr/>
        </p:nvSpPr>
        <p:spPr>
          <a:xfrm>
            <a:off x="2690037" y="5918777"/>
            <a:ext cx="4122243" cy="523220"/>
          </a:xfrm>
          <a:prstGeom prst="rect">
            <a:avLst/>
          </a:prstGeom>
          <a:solidFill>
            <a:srgbClr val="44525A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IN" sz="2800" dirty="0">
                <a:solidFill>
                  <a:schemeClr val="bg1"/>
                </a:solidFill>
                <a:latin typeface="Bahnschrift" panose="020B0502040204020203" pitchFamily="34" charset="0"/>
              </a:rPr>
              <a:t>Pay-as-you-go model </a:t>
            </a:r>
          </a:p>
        </p:txBody>
      </p:sp>
    </p:spTree>
    <p:extLst>
      <p:ext uri="{BB962C8B-B14F-4D97-AF65-F5344CB8AC3E}">
        <p14:creationId xmlns:p14="http://schemas.microsoft.com/office/powerpoint/2010/main" val="21048693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58B0E69-AB58-4611-997D-C68830237F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362" y="1506225"/>
            <a:ext cx="8577038" cy="5004884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C</a:t>
            </a:r>
            <a:r>
              <a:rPr lang="en-US" b="0" i="0" dirty="0">
                <a:effectLst/>
              </a:rPr>
              <a:t>ultivated within any enterprise</a:t>
            </a:r>
          </a:p>
          <a:p>
            <a:pPr algn="just"/>
            <a:r>
              <a:rPr lang="en-US" dirty="0"/>
              <a:t>C</a:t>
            </a:r>
            <a:r>
              <a:rPr lang="en-US" b="0" i="0" dirty="0">
                <a:effectLst/>
              </a:rPr>
              <a:t>reative ways of using big data to gain a competitive advantage</a:t>
            </a:r>
          </a:p>
          <a:p>
            <a:pPr algn="just"/>
            <a:r>
              <a:rPr lang="en-US" dirty="0"/>
              <a:t>F</a:t>
            </a:r>
            <a:r>
              <a:rPr lang="en-US" b="0" i="0" dirty="0">
                <a:effectLst/>
              </a:rPr>
              <a:t>ocuses on analyzing data instead of managing servers and databases, you can more easily and quickly unearth insights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5EDD3E1-8EC6-4BC0-BB59-D81A41BE9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br>
              <a:rPr lang="en-IN" b="0" i="0" dirty="0">
                <a:effectLst/>
                <a:latin typeface="Bahnschrift" panose="020B0502040204020203" pitchFamily="34" charset="0"/>
              </a:rPr>
            </a:br>
            <a:r>
              <a:rPr lang="en-IN" b="0" i="0" dirty="0">
                <a:effectLst/>
                <a:latin typeface="Bahnschrift" panose="020B0502040204020203" pitchFamily="34" charset="0"/>
              </a:rPr>
              <a:t>Encourages an agile and innovative culture</a:t>
            </a:r>
            <a:br>
              <a:rPr lang="en-IN" b="0" i="0" dirty="0">
                <a:effectLst/>
                <a:latin typeface="Bahnschrift" panose="020B0502040204020203" pitchFamily="34" charset="0"/>
              </a:rPr>
            </a:br>
            <a:endParaRPr lang="en-IN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170456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EAA4F4B-16E2-491F-996B-5FF8A2EEA1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78669" y="1628775"/>
            <a:ext cx="7505700" cy="500380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6EC3785A-AFBF-41A1-BCB6-B4BD4641CA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250" y="27304"/>
            <a:ext cx="8386537" cy="1298575"/>
          </a:xfrm>
        </p:spPr>
        <p:txBody>
          <a:bodyPr>
            <a:noAutofit/>
          </a:bodyPr>
          <a:lstStyle/>
          <a:p>
            <a:r>
              <a:rPr lang="en-US" b="0" i="0" dirty="0">
                <a:effectLst/>
                <a:latin typeface="Bahnschrift" panose="020B0502040204020203" pitchFamily="34" charset="0"/>
              </a:rPr>
              <a:t>Enables better business continuity and disaster recovery</a:t>
            </a:r>
            <a:endParaRPr lang="en-IN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754064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EC3785A-AFBF-41A1-BCB6-B4BD4641CA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980" y="0"/>
            <a:ext cx="8542020" cy="1264603"/>
          </a:xfrm>
        </p:spPr>
        <p:txBody>
          <a:bodyPr>
            <a:normAutofit/>
          </a:bodyPr>
          <a:lstStyle/>
          <a:p>
            <a:r>
              <a:rPr lang="en-US" b="0" i="0" dirty="0">
                <a:effectLst/>
                <a:latin typeface="Bahnschrift" panose="020B0502040204020203" pitchFamily="34" charset="0"/>
              </a:rPr>
              <a:t>Enables better business continuity and disaster recovery</a:t>
            </a:r>
            <a:endParaRPr lang="en-IN" dirty="0">
              <a:latin typeface="Bahnschrift" panose="020B0502040204020203" pitchFamily="34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B26D832-F689-4EAC-A09D-729112DDBE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8619" y="1706563"/>
            <a:ext cx="8386762" cy="4717553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1447266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EC3785A-AFBF-41A1-BCB6-B4BD4641CA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362" y="11611"/>
            <a:ext cx="8805638" cy="1299030"/>
          </a:xfrm>
        </p:spPr>
        <p:txBody>
          <a:bodyPr>
            <a:noAutofit/>
          </a:bodyPr>
          <a:lstStyle/>
          <a:p>
            <a:r>
              <a:rPr lang="en-US" b="0" i="0" dirty="0">
                <a:effectLst/>
                <a:latin typeface="Bahnschrift" panose="020B0502040204020203" pitchFamily="34" charset="0"/>
              </a:rPr>
              <a:t>Enables better business continuity and disaster recovery</a:t>
            </a:r>
            <a:endParaRPr lang="en-IN" dirty="0">
              <a:latin typeface="Bahnschrift" panose="020B0502040204020203" pitchFamily="34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8CCAFEA-C67F-464A-A7C8-003EF7F309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91397" y="1375022"/>
            <a:ext cx="6161206" cy="352530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F5B2297-1A98-436A-9940-F46D0F15D072}"/>
              </a:ext>
            </a:extLst>
          </p:cNvPr>
          <p:cNvSpPr txBox="1"/>
          <p:nvPr/>
        </p:nvSpPr>
        <p:spPr>
          <a:xfrm>
            <a:off x="211711" y="5097025"/>
            <a:ext cx="8720578" cy="16792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400" b="0" i="0" dirty="0">
                <a:effectLst/>
                <a:latin typeface="Bahnschrift" panose="020B0502040204020203" pitchFamily="34" charset="0"/>
              </a:rPr>
              <a:t>The task of replicating a data center – with duplicate storage, servers, networking equipment, and other infrastructure – in preparation for a disaster is tedious, difficult, and expensive</a:t>
            </a:r>
            <a:endParaRPr lang="en-IN" sz="2400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358666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235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EC3785A-AFBF-41A1-BCB6-B4BD4641CA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362" y="11610"/>
            <a:ext cx="8386537" cy="1329509"/>
          </a:xfrm>
        </p:spPr>
        <p:txBody>
          <a:bodyPr>
            <a:noAutofit/>
          </a:bodyPr>
          <a:lstStyle/>
          <a:p>
            <a:r>
              <a:rPr lang="en-US" b="0" i="0" dirty="0">
                <a:effectLst/>
                <a:latin typeface="Bahnschrift" panose="020B0502040204020203" pitchFamily="34" charset="0"/>
              </a:rPr>
              <a:t>Enables better business continuity and disaster recovery</a:t>
            </a:r>
            <a:endParaRPr lang="en-IN" dirty="0">
              <a:latin typeface="Bahnschrif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F5B2297-1A98-436A-9940-F46D0F15D072}"/>
              </a:ext>
            </a:extLst>
          </p:cNvPr>
          <p:cNvSpPr txBox="1"/>
          <p:nvPr/>
        </p:nvSpPr>
        <p:spPr>
          <a:xfrm>
            <a:off x="125711" y="5081785"/>
            <a:ext cx="8720578" cy="16792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400" dirty="0">
                <a:latin typeface="Bahnschrift" panose="020B0502040204020203" pitchFamily="34" charset="0"/>
              </a:rPr>
              <a:t>L</a:t>
            </a:r>
            <a:r>
              <a:rPr lang="en-US" sz="2400" b="0" i="0" dirty="0">
                <a:effectLst/>
                <a:latin typeface="Bahnschrift" panose="020B0502040204020203" pitchFamily="34" charset="0"/>
              </a:rPr>
              <a:t>egacy systems often take very long to back up and restore. This is especially true in the era of big data, when data stores are so immense and expansive.</a:t>
            </a:r>
            <a:endParaRPr lang="en-IN" sz="2400" dirty="0">
              <a:latin typeface="Bahnschrift" panose="020B0502040204020203" pitchFamily="34" charset="0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C985D13-DF5C-441C-9132-F1288EC7AC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47118" y="1432559"/>
            <a:ext cx="4049764" cy="3508593"/>
          </a:xfrm>
        </p:spPr>
      </p:pic>
    </p:spTree>
    <p:extLst>
      <p:ext uri="{BB962C8B-B14F-4D97-AF65-F5344CB8AC3E}">
        <p14:creationId xmlns:p14="http://schemas.microsoft.com/office/powerpoint/2010/main" val="356195554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235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EC3785A-AFBF-41A1-BCB6-B4BD4641CA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362" y="11610"/>
            <a:ext cx="8386537" cy="1268549"/>
          </a:xfrm>
        </p:spPr>
        <p:txBody>
          <a:bodyPr>
            <a:normAutofit/>
          </a:bodyPr>
          <a:lstStyle/>
          <a:p>
            <a:r>
              <a:rPr lang="en-US" b="0" i="0" dirty="0">
                <a:effectLst/>
                <a:latin typeface="Bahnschrift" panose="020B0502040204020203" pitchFamily="34" charset="0"/>
              </a:rPr>
              <a:t>Enables better business continuity and disaster recovery</a:t>
            </a:r>
            <a:endParaRPr lang="en-IN" dirty="0">
              <a:latin typeface="Bahnschrift" panose="020B0502040204020203" pitchFamily="34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6B419DB-F78E-4E3F-B211-24A3B77BD0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90687" y="1688465"/>
            <a:ext cx="6188393" cy="4950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194429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4522B21E-B2B9-4C72-9A71-C87EFD137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9144000" cy="44125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7348" y="551962"/>
            <a:ext cx="8249304" cy="461854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7A1077-AEDE-441D-A240-F84091250E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1293338"/>
            <a:ext cx="6858000" cy="3274592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/>
            <a:br>
              <a:rPr lang="en-US" sz="5800" b="0" i="0" kern="1200" dirty="0"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</a:br>
            <a:r>
              <a:rPr lang="en-US" sz="5800" b="0" i="0" kern="1200" dirty="0"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Potential challenges of big data in the cloud</a:t>
            </a:r>
            <a:br>
              <a:rPr lang="en-US" sz="5800" b="0" i="0" kern="1200" dirty="0"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</a:br>
            <a:endParaRPr lang="en-US" sz="5800" kern="12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447348" y="6354708"/>
            <a:ext cx="8250174" cy="0"/>
          </a:xfrm>
          <a:prstGeom prst="line">
            <a:avLst/>
          </a:prstGeom>
          <a:ln w="1016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699965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2621507-9BDC-44C1-9D2D-7C731E0D16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27810" y="1858962"/>
            <a:ext cx="6534150" cy="4352587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B204D527-EF6D-48EA-B5CA-D9366089C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0" i="0" dirty="0">
                <a:effectLst/>
                <a:latin typeface="Bahnschrift" panose="020B0502040204020203" pitchFamily="34" charset="0"/>
              </a:rPr>
              <a:t>Potential challenges of big data in the cloud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48910714"/>
      </p:ext>
    </p:extLst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2235">
            <a:alpha val="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204D527-EF6D-48EA-B5CA-D9366089C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0" dirty="0" i="0" lang="en-US">
                <a:effectLst/>
                <a:latin charset="0" panose="020B0502040204020203" pitchFamily="34" typeface="Bahnschrift"/>
              </a:rPr>
              <a:t>Potential challenges of big data in the cloud</a:t>
            </a:r>
            <a:endParaRPr dirty="0" lang="en-IN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F3FA96E-52B8-4AD2-8734-10EAC3AB1015}"/>
              </a:ext>
            </a:extLst>
          </p:cNvPr>
          <p:cNvPicPr>
            <a:picLocks noChangeAspect="1" noGrp="1"/>
          </p:cNvPicPr>
          <p:nvPr>
            <p:ph idx="1"/>
          </p:nvPr>
        </p:nvPicPr>
        <p:blipFill rotWithShape="1">
          <a:blip r:embed="rId2"/>
          <a:srcRect b="31" r="-32"/>
          <a:stretch/>
        </p:blipFill>
        <p:spPr>
          <a:xfrm>
            <a:off x="338362" y="1695698"/>
            <a:ext cx="7837718" cy="4416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9837509"/>
      </p:ext>
    </p:extLst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204D527-EF6D-48EA-B5CA-D9366089C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0" dirty="0" i="0" lang="en-US">
                <a:effectLst/>
                <a:latin charset="0" panose="020B0502040204020203" pitchFamily="34" typeface="Bahnschrift"/>
              </a:rPr>
              <a:t>Potential challenges of big data in the cloud</a:t>
            </a:r>
            <a:endParaRPr dirty="0"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6DECAAD-548E-4A32-B8E7-7F77738A4239}"/>
              </a:ext>
            </a:extLst>
          </p:cNvPr>
          <p:cNvPicPr>
            <a:picLocks noChangeAspect="1" noGrp="1"/>
          </p:cNvPicPr>
          <p:nvPr>
            <p:ph idx="1"/>
          </p:nvPr>
        </p:nvPicPr>
        <p:blipFill rotWithShape="1">
          <a:blip r:embed="rId2"/>
          <a:srcRect b="28" r="43"/>
          <a:stretch/>
        </p:blipFill>
        <p:spPr>
          <a:xfrm>
            <a:off x="1770320" y="1562229"/>
            <a:ext cx="5688419" cy="4442416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algn="ctr" blurRad="63500" rotWithShape="0" sx="102000" sy="102000">
              <a:prstClr val="black">
                <a:alpha val="40000"/>
              </a:prstClr>
            </a:outerShdw>
          </a:effec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967029D-5B2A-4E37-A402-83063EE5BBD7}"/>
              </a:ext>
            </a:extLst>
          </p:cNvPr>
          <p:cNvSpPr/>
          <p:nvPr/>
        </p:nvSpPr>
        <p:spPr>
          <a:xfrm>
            <a:off x="1541720" y="6134630"/>
            <a:ext cx="6276400" cy="510010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r>
              <a:rPr dirty="0" lang="en-US" sz="2800">
                <a:latin charset="0" panose="020B0502040204020203" pitchFamily="34" typeface="Bahnschrift"/>
              </a:rPr>
              <a:t>Business Stakeholders</a:t>
            </a:r>
            <a:endParaRPr dirty="0" lang="en-IN" sz="2800">
              <a:latin charset="0" panose="020B0502040204020203" pitchFamily="34" typeface="Bahnschrift"/>
            </a:endParaRPr>
          </a:p>
        </p:txBody>
      </p:sp>
    </p:spTree>
    <p:extLst>
      <p:ext uri="{BB962C8B-B14F-4D97-AF65-F5344CB8AC3E}">
        <p14:creationId xmlns:p14="http://schemas.microsoft.com/office/powerpoint/2010/main" val="1194701118"/>
      </p:ext>
    </p:extLst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DFC611A-F641-4609-9873-CB670D1F5595}"/>
              </a:ext>
            </a:extLst>
          </p:cNvPr>
          <p:cNvPicPr>
            <a:picLocks noChangeAspect="1" noGrp="1"/>
          </p:cNvPicPr>
          <p:nvPr>
            <p:ph idx="1"/>
          </p:nvPr>
        </p:nvPicPr>
        <p:blipFill rotWithShape="1">
          <a:blip r:embed="rId2"/>
          <a:srcRect b="-345" r="27"/>
          <a:stretch/>
        </p:blipFill>
        <p:spPr>
          <a:xfrm>
            <a:off x="3035595" y="1596656"/>
            <a:ext cx="3072810" cy="4233287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algn="ctr" blurRad="63500" rotWithShape="0" sx="102000" sy="102000">
              <a:prstClr val="black">
                <a:alpha val="40000"/>
              </a:prstClr>
            </a:outerShdw>
          </a:effectLst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70158BC4-CBDD-4547-8CC3-A059BBB92C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0" dirty="0" i="0" lang="en-IN">
                <a:effectLst/>
                <a:latin charset="0" panose="020B0502040204020203" pitchFamily="34" typeface="Bahnschrift"/>
              </a:rPr>
              <a:t>Less control over security</a:t>
            </a:r>
            <a:endParaRPr dirty="0" lang="en-IN">
              <a:latin charset="0" panose="020B0502040204020203" pitchFamily="34" typeface="Bahnschrif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C3E3ACC-FBE6-4B2B-9681-48F86EB61CCE}"/>
              </a:ext>
            </a:extLst>
          </p:cNvPr>
          <p:cNvSpPr/>
          <p:nvPr/>
        </p:nvSpPr>
        <p:spPr>
          <a:xfrm>
            <a:off x="2674797" y="6061266"/>
            <a:ext cx="3794405" cy="476693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r>
              <a:rPr dirty="0" lang="en-US" sz="2800">
                <a:latin charset="0" panose="020B0502040204020203" pitchFamily="34" typeface="Bahnschrift"/>
              </a:rPr>
              <a:t>Sensitive information</a:t>
            </a:r>
            <a:endParaRPr dirty="0" lang="en-IN" sz="2800">
              <a:latin charset="0" panose="020B0502040204020203" pitchFamily="34" typeface="Bahnschrift"/>
            </a:endParaRPr>
          </a:p>
        </p:txBody>
      </p:sp>
    </p:spTree>
    <p:extLst>
      <p:ext uri="{BB962C8B-B14F-4D97-AF65-F5344CB8AC3E}">
        <p14:creationId xmlns:p14="http://schemas.microsoft.com/office/powerpoint/2010/main" val="81575118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0158BC4-CBDD-4547-8CC3-A059BBB92C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0" i="0" dirty="0">
                <a:effectLst/>
                <a:latin typeface="Bahnschrift" panose="020B0502040204020203" pitchFamily="34" charset="0"/>
              </a:rPr>
              <a:t>Less control over security</a:t>
            </a:r>
            <a:endParaRPr lang="en-IN" dirty="0">
              <a:latin typeface="Bahnschrift" panose="020B0502040204020203" pitchFamily="34" charset="0"/>
            </a:endParaRPr>
          </a:p>
        </p:txBody>
      </p:sp>
      <p:sp>
        <p:nvSpPr>
          <p:cNvPr id="6" name="Flowchart: Alternate Process 5">
            <a:extLst>
              <a:ext uri="{FF2B5EF4-FFF2-40B4-BE49-F238E27FC236}">
                <a16:creationId xmlns:a16="http://schemas.microsoft.com/office/drawing/2014/main" id="{24FE6F80-B78D-43C4-BE9E-C965E2E195D8}"/>
              </a:ext>
            </a:extLst>
          </p:cNvPr>
          <p:cNvSpPr/>
          <p:nvPr/>
        </p:nvSpPr>
        <p:spPr>
          <a:xfrm>
            <a:off x="3023900" y="1568846"/>
            <a:ext cx="3349255" cy="1189078"/>
          </a:xfrm>
          <a:prstGeom prst="flowChartAlternateProcess">
            <a:avLst/>
          </a:prstGeom>
          <a:solidFill>
            <a:srgbClr val="44525A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</a:t>
            </a:r>
            <a:r>
              <a:rPr lang="en-US" sz="2800" b="0" i="0" dirty="0"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ndividuals’ addresses</a:t>
            </a:r>
            <a:endParaRPr lang="en-IN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207199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0158BC4-CBDD-4547-8CC3-A059BBB92C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0" i="0" dirty="0">
                <a:effectLst/>
                <a:latin typeface="Bahnschrift" panose="020B0502040204020203" pitchFamily="34" charset="0"/>
              </a:rPr>
              <a:t>Less control over security</a:t>
            </a:r>
            <a:endParaRPr lang="en-IN" dirty="0">
              <a:latin typeface="Bahnschrift" panose="020B0502040204020203" pitchFamily="34" charset="0"/>
            </a:endParaRPr>
          </a:p>
        </p:txBody>
      </p:sp>
      <p:sp>
        <p:nvSpPr>
          <p:cNvPr id="7" name="Flowchart: Alternate Process 6">
            <a:extLst>
              <a:ext uri="{FF2B5EF4-FFF2-40B4-BE49-F238E27FC236}">
                <a16:creationId xmlns:a16="http://schemas.microsoft.com/office/drawing/2014/main" id="{953C55B2-AC44-4FDA-BBDE-5265C945B371}"/>
              </a:ext>
            </a:extLst>
          </p:cNvPr>
          <p:cNvSpPr/>
          <p:nvPr/>
        </p:nvSpPr>
        <p:spPr>
          <a:xfrm>
            <a:off x="3023900" y="3345566"/>
            <a:ext cx="3349255" cy="1189076"/>
          </a:xfrm>
          <a:prstGeom prst="flowChartAlternateProcess">
            <a:avLst/>
          </a:prstGeom>
          <a:solidFill>
            <a:srgbClr val="44525A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>
                <a:solidFill>
                  <a:schemeClr val="bg1"/>
                </a:solidFill>
                <a:latin typeface="Bahnschrift" panose="020B0502040204020203" pitchFamily="34" charset="0"/>
              </a:rPr>
              <a:t>C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redit card details</a:t>
            </a:r>
            <a:endParaRPr lang="en-IN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6" name="Flowchart: Alternate Process 5">
            <a:extLst>
              <a:ext uri="{FF2B5EF4-FFF2-40B4-BE49-F238E27FC236}">
                <a16:creationId xmlns:a16="http://schemas.microsoft.com/office/drawing/2014/main" id="{24FE6F80-B78D-43C4-BE9E-C965E2E195D8}"/>
              </a:ext>
            </a:extLst>
          </p:cNvPr>
          <p:cNvSpPr/>
          <p:nvPr/>
        </p:nvSpPr>
        <p:spPr>
          <a:xfrm>
            <a:off x="3023900" y="1568846"/>
            <a:ext cx="3349255" cy="1189078"/>
          </a:xfrm>
          <a:prstGeom prst="flowChartAlternateProcess">
            <a:avLst/>
          </a:prstGeom>
          <a:solidFill>
            <a:srgbClr val="44525A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>
                <a:solidFill>
                  <a:schemeClr val="bg1"/>
                </a:solidFill>
                <a:latin typeface="Bahnschrift" panose="020B0502040204020203" pitchFamily="34" charset="0"/>
              </a:rPr>
              <a:t>I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ndividuals’ addresses</a:t>
            </a:r>
            <a:endParaRPr lang="en-IN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747121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0158BC4-CBDD-4547-8CC3-A059BBB92C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0" i="0" dirty="0">
                <a:effectLst/>
                <a:latin typeface="Bahnschrift" panose="020B0502040204020203" pitchFamily="34" charset="0"/>
              </a:rPr>
              <a:t>Less control over security</a:t>
            </a:r>
            <a:endParaRPr lang="en-IN" dirty="0">
              <a:latin typeface="Bahnschrift" panose="020B0502040204020203" pitchFamily="34" charset="0"/>
            </a:endParaRPr>
          </a:p>
        </p:txBody>
      </p:sp>
      <p:sp>
        <p:nvSpPr>
          <p:cNvPr id="7" name="Flowchart: Alternate Process 6">
            <a:extLst>
              <a:ext uri="{FF2B5EF4-FFF2-40B4-BE49-F238E27FC236}">
                <a16:creationId xmlns:a16="http://schemas.microsoft.com/office/drawing/2014/main" id="{953C55B2-AC44-4FDA-BBDE-5265C945B371}"/>
              </a:ext>
            </a:extLst>
          </p:cNvPr>
          <p:cNvSpPr/>
          <p:nvPr/>
        </p:nvSpPr>
        <p:spPr>
          <a:xfrm>
            <a:off x="3023900" y="3345566"/>
            <a:ext cx="3349255" cy="1189076"/>
          </a:xfrm>
          <a:prstGeom prst="flowChartAlternateProcess">
            <a:avLst/>
          </a:prstGeom>
          <a:solidFill>
            <a:srgbClr val="44525A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>
                <a:solidFill>
                  <a:schemeClr val="bg1"/>
                </a:solidFill>
                <a:latin typeface="Bahnschrift" panose="020B0502040204020203" pitchFamily="34" charset="0"/>
              </a:rPr>
              <a:t>C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redit card details</a:t>
            </a:r>
            <a:endParaRPr lang="en-IN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6" name="Flowchart: Alternate Process 5">
            <a:extLst>
              <a:ext uri="{FF2B5EF4-FFF2-40B4-BE49-F238E27FC236}">
                <a16:creationId xmlns:a16="http://schemas.microsoft.com/office/drawing/2014/main" id="{24FE6F80-B78D-43C4-BE9E-C965E2E195D8}"/>
              </a:ext>
            </a:extLst>
          </p:cNvPr>
          <p:cNvSpPr/>
          <p:nvPr/>
        </p:nvSpPr>
        <p:spPr>
          <a:xfrm>
            <a:off x="3023900" y="1568846"/>
            <a:ext cx="3349255" cy="1189078"/>
          </a:xfrm>
          <a:prstGeom prst="flowChartAlternateProcess">
            <a:avLst/>
          </a:prstGeom>
          <a:solidFill>
            <a:srgbClr val="44525A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>
                <a:solidFill>
                  <a:schemeClr val="bg1"/>
                </a:solidFill>
                <a:latin typeface="Bahnschrift" panose="020B0502040204020203" pitchFamily="34" charset="0"/>
              </a:rPr>
              <a:t>I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ndividuals’ addresses</a:t>
            </a:r>
            <a:endParaRPr lang="en-IN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Flowchart: Alternate Process 4">
            <a:extLst>
              <a:ext uri="{FF2B5EF4-FFF2-40B4-BE49-F238E27FC236}">
                <a16:creationId xmlns:a16="http://schemas.microsoft.com/office/drawing/2014/main" id="{769E61C7-0444-4ADE-8E18-1F79352E24F5}"/>
              </a:ext>
            </a:extLst>
          </p:cNvPr>
          <p:cNvSpPr/>
          <p:nvPr/>
        </p:nvSpPr>
        <p:spPr>
          <a:xfrm>
            <a:off x="3023900" y="5303164"/>
            <a:ext cx="3349255" cy="1189076"/>
          </a:xfrm>
          <a:prstGeom prst="flowChartAlternateProcess">
            <a:avLst/>
          </a:prstGeom>
          <a:solidFill>
            <a:srgbClr val="44525A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>
                <a:solidFill>
                  <a:schemeClr val="bg1"/>
                </a:solidFill>
                <a:latin typeface="Bahnschrift" panose="020B0502040204020203" pitchFamily="34" charset="0"/>
              </a:rPr>
              <a:t>S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ocial security numbers</a:t>
            </a:r>
            <a:endParaRPr lang="en-IN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098073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0158BC4-CBDD-4547-8CC3-A059BBB92C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0" i="0" dirty="0">
                <a:effectLst/>
                <a:latin typeface="Bahnschrift" panose="020B0502040204020203" pitchFamily="34" charset="0"/>
              </a:rPr>
              <a:t>Less control over security</a:t>
            </a:r>
            <a:endParaRPr lang="en-IN" dirty="0">
              <a:latin typeface="Bahnschrift" panose="020B0502040204020203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5EA1B53-0C85-470A-94E7-2AC467F920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6818" y="1600200"/>
            <a:ext cx="5090364" cy="3393576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DAC003E-4714-4475-8BE0-1B7A049185FF}"/>
              </a:ext>
            </a:extLst>
          </p:cNvPr>
          <p:cNvSpPr/>
          <p:nvPr/>
        </p:nvSpPr>
        <p:spPr>
          <a:xfrm>
            <a:off x="2174307" y="5436053"/>
            <a:ext cx="4795385" cy="969690"/>
          </a:xfrm>
          <a:prstGeom prst="rect">
            <a:avLst/>
          </a:prstGeom>
          <a:solidFill>
            <a:srgbClr val="44525A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Data breaches</a:t>
            </a:r>
            <a:endParaRPr lang="en-IN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125516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0158BC4-CBDD-4547-8CC3-A059BBB92C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0" i="0" dirty="0">
                <a:effectLst/>
                <a:latin typeface="Bahnschrift" panose="020B0502040204020203" pitchFamily="34" charset="0"/>
              </a:rPr>
              <a:t>Less control over security</a:t>
            </a:r>
            <a:endParaRPr lang="en-IN" dirty="0">
              <a:latin typeface="Bahnschrift" panose="020B0502040204020203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AC003E-4714-4475-8BE0-1B7A049185FF}"/>
              </a:ext>
            </a:extLst>
          </p:cNvPr>
          <p:cNvSpPr/>
          <p:nvPr/>
        </p:nvSpPr>
        <p:spPr>
          <a:xfrm>
            <a:off x="2220078" y="5532437"/>
            <a:ext cx="4703843" cy="809493"/>
          </a:xfrm>
          <a:prstGeom prst="rect">
            <a:avLst/>
          </a:prstGeom>
          <a:solidFill>
            <a:srgbClr val="44525A"/>
          </a:solidFill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chemeClr val="bg1"/>
                </a:solidFill>
                <a:latin typeface="Bahnschrift" panose="020B0502040204020203" pitchFamily="34" charset="0"/>
              </a:rPr>
              <a:t>L</a:t>
            </a:r>
            <a:r>
              <a:rPr lang="en-IN" sz="2800" b="0" i="0" dirty="0"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oss customers and revenue</a:t>
            </a:r>
            <a:endParaRPr lang="en-IN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B8E65F8-0BA4-4FEB-BF83-F70E7FE390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642" y="1776842"/>
            <a:ext cx="7710071" cy="3304316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66522995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0158BC4-CBDD-4547-8CC3-A059BBB92C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b="0" i="0" dirty="0">
                <a:effectLst/>
                <a:latin typeface="Bahnschrift" panose="020B0502040204020203" pitchFamily="34" charset="0"/>
              </a:rPr>
              <a:t>Less control over security</a:t>
            </a:r>
            <a:endParaRPr lang="en-IN" dirty="0">
              <a:latin typeface="Bahnschrift" panose="020B0502040204020203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AC003E-4714-4475-8BE0-1B7A049185FF}"/>
              </a:ext>
            </a:extLst>
          </p:cNvPr>
          <p:cNvSpPr/>
          <p:nvPr/>
        </p:nvSpPr>
        <p:spPr>
          <a:xfrm>
            <a:off x="2308362" y="5532436"/>
            <a:ext cx="5189718" cy="1078851"/>
          </a:xfrm>
          <a:prstGeom prst="rect">
            <a:avLst/>
          </a:prstGeom>
          <a:solidFill>
            <a:srgbClr val="44525A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0" i="0" dirty="0"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 less direct control over your data,</a:t>
            </a:r>
            <a:endParaRPr lang="en-IN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54CF0A4-6F98-45A5-B323-4FEF2BE15F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7880" y="1552575"/>
            <a:ext cx="6667500" cy="375285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548612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0158BC4-CBDD-4547-8CC3-A059BBB92C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0" i="0" dirty="0">
                <a:effectLst/>
                <a:latin typeface="Bahnschrift" panose="020B0502040204020203" pitchFamily="34" charset="0"/>
              </a:rPr>
              <a:t>Less control over security</a:t>
            </a:r>
            <a:endParaRPr lang="en-IN" dirty="0">
              <a:latin typeface="Bahnschrift" panose="020B0502040204020203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AC003E-4714-4475-8BE0-1B7A049185FF}"/>
              </a:ext>
            </a:extLst>
          </p:cNvPr>
          <p:cNvSpPr/>
          <p:nvPr/>
        </p:nvSpPr>
        <p:spPr>
          <a:xfrm>
            <a:off x="2067334" y="5767104"/>
            <a:ext cx="4928591" cy="831816"/>
          </a:xfrm>
          <a:prstGeom prst="rect">
            <a:avLst/>
          </a:prstGeom>
          <a:solidFill>
            <a:srgbClr val="44525A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0" i="0" dirty="0"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 </a:t>
            </a: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S</a:t>
            </a:r>
            <a:r>
              <a:rPr lang="en-US" sz="2400" b="0" i="0" u="none" strike="noStrike" dirty="0"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ecurity should not be a hindrance</a:t>
            </a:r>
            <a:endParaRPr lang="en-IN" sz="24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EB05147-082C-452C-8577-1BB598A470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8813" y="1607620"/>
            <a:ext cx="5960878" cy="3642759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9487875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E330749-6733-4C70-B2E0-73FFE14AFD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91015" y="1628775"/>
            <a:ext cx="7081007" cy="50038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358344B3-B1D9-4814-B7E1-63938BA5D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0" i="0" dirty="0">
                <a:effectLst/>
                <a:latin typeface="Bahnschrift" panose="020B0502040204020203" pitchFamily="34" charset="0"/>
              </a:rPr>
              <a:t>Less control over compliance</a:t>
            </a:r>
            <a:endParaRPr lang="en-IN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54705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58344B3-B1D9-4814-B7E1-63938BA5D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0" i="0" dirty="0">
                <a:effectLst/>
                <a:latin typeface="Bahnschrift" panose="020B0502040204020203" pitchFamily="34" charset="0"/>
              </a:rPr>
              <a:t>Less control over compliance</a:t>
            </a:r>
            <a:endParaRPr lang="en-IN" dirty="0">
              <a:latin typeface="Bahnschrift" panose="020B0502040204020203" pitchFamily="34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137FFCB-9A78-4002-B4C5-BA34B9B351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3412" y="2126932"/>
            <a:ext cx="7877176" cy="3938588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6593777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58344B3-B1D9-4814-B7E1-63938BA5D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0" i="0" dirty="0">
                <a:effectLst/>
                <a:latin typeface="Bahnschrift" panose="020B0502040204020203" pitchFamily="34" charset="0"/>
              </a:rPr>
              <a:t>Less control over compliance</a:t>
            </a:r>
            <a:endParaRPr lang="en-IN" dirty="0">
              <a:latin typeface="Bahnschrift" panose="020B0502040204020203" pitchFamily="34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A2426E4-BF91-4392-BA9E-2E4EDAEF34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62" b="91188" l="9991" r="89963">
                        <a14:foregroundMark x1="37168" y1="10153" x2="42117" y2="10632"/>
                        <a14:foregroundMark x1="42117" y1="10632" x2="42117" y2="10632"/>
                        <a14:foregroundMark x1="25252" y1="91188" x2="26902" y2="90900"/>
                        <a14:foregroundMark x1="26902" y1="90900" x2="26902" y2="9090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38138" y="2124309"/>
            <a:ext cx="8386762" cy="4012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867174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58344B3-B1D9-4814-B7E1-63938BA5D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0" i="0" dirty="0">
                <a:effectLst/>
                <a:latin typeface="Bahnschrift" panose="020B0502040204020203" pitchFamily="34" charset="0"/>
              </a:rPr>
              <a:t>Less control over compliance</a:t>
            </a:r>
            <a:endParaRPr lang="en-IN" dirty="0">
              <a:latin typeface="Bahnschrift" panose="020B0502040204020203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6F178B-6EAF-4E11-8626-2BC7412C3C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361" y="1475745"/>
            <a:ext cx="8386537" cy="5004884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700" b="0" i="0" dirty="0">
                <a:effectLst/>
              </a:rPr>
              <a:t>Even if your CSP is managing a good chunk of your compliance, you should make sure you know the answers to the following questions:</a:t>
            </a:r>
          </a:p>
          <a:p>
            <a:pPr lvl="1" algn="just" fontAlgn="base"/>
            <a:r>
              <a:rPr lang="en-US" sz="2700" b="0" i="0" dirty="0">
                <a:effectLst/>
              </a:rPr>
              <a:t>Where is the data going to reside?</a:t>
            </a:r>
          </a:p>
          <a:p>
            <a:pPr lvl="1" algn="just" fontAlgn="base"/>
            <a:r>
              <a:rPr lang="en-US" sz="2700" b="0" i="0" dirty="0">
                <a:effectLst/>
              </a:rPr>
              <a:t>Who is going to manage it, and who can access it?</a:t>
            </a:r>
          </a:p>
          <a:p>
            <a:pPr lvl="1" algn="just" fontAlgn="base"/>
            <a:r>
              <a:rPr lang="en-US" sz="2700" b="0" i="0" dirty="0">
                <a:effectLst/>
              </a:rPr>
              <a:t>What local data regulations do I need to comply with?</a:t>
            </a:r>
          </a:p>
          <a:p>
            <a:pPr marL="457200" lvl="1" indent="0" algn="just">
              <a:buNone/>
            </a:pPr>
            <a:endParaRPr lang="en-IN" sz="2700" dirty="0"/>
          </a:p>
        </p:txBody>
      </p:sp>
    </p:spTree>
    <p:extLst>
      <p:ext uri="{BB962C8B-B14F-4D97-AF65-F5344CB8AC3E}">
        <p14:creationId xmlns:p14="http://schemas.microsoft.com/office/powerpoint/2010/main" val="215711569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58344B3-B1D9-4814-B7E1-63938BA5D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0" i="0" dirty="0">
                <a:effectLst/>
                <a:latin typeface="Bahnschrift" panose="020B0502040204020203" pitchFamily="34" charset="0"/>
              </a:rPr>
              <a:t>Less control over compliance</a:t>
            </a:r>
            <a:endParaRPr lang="en-IN" dirty="0">
              <a:latin typeface="Bahnschrift" panose="020B0502040204020203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6F178B-6EAF-4E11-8626-2BC7412C3C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731" y="1460505"/>
            <a:ext cx="8386537" cy="5004884"/>
          </a:xfrm>
        </p:spPr>
        <p:txBody>
          <a:bodyPr>
            <a:normAutofit/>
          </a:bodyPr>
          <a:lstStyle/>
          <a:p>
            <a:pPr marL="0" indent="0" algn="just" fontAlgn="base">
              <a:buNone/>
            </a:pPr>
            <a:r>
              <a:rPr lang="en-US" b="0" i="0" dirty="0">
                <a:effectLst/>
              </a:rPr>
              <a:t>Make sure you know exactly </a:t>
            </a:r>
          </a:p>
          <a:p>
            <a:pPr lvl="1" algn="just" fontAlgn="base"/>
            <a:r>
              <a:rPr lang="en-US" sz="2800" b="0" i="0" dirty="0">
                <a:effectLst/>
              </a:rPr>
              <a:t>what data is stored where, </a:t>
            </a:r>
          </a:p>
          <a:p>
            <a:pPr lvl="1" algn="just" fontAlgn="base"/>
            <a:r>
              <a:rPr lang="en-US" sz="2800" b="0" i="0" dirty="0">
                <a:effectLst/>
              </a:rPr>
              <a:t>ensure that your CSP has robust compliance policies, </a:t>
            </a:r>
          </a:p>
          <a:p>
            <a:pPr lvl="1" algn="just" fontAlgn="base"/>
            <a:r>
              <a:rPr lang="en-US" sz="2800" b="0" i="0" dirty="0">
                <a:effectLst/>
              </a:rPr>
              <a:t>understand the shared responsibility model, </a:t>
            </a:r>
          </a:p>
          <a:p>
            <a:pPr lvl="1" algn="just" fontAlgn="base"/>
            <a:r>
              <a:rPr lang="en-US" sz="2800" b="0" i="0" dirty="0">
                <a:effectLst/>
              </a:rPr>
              <a:t>potentially create Service Level Agreements (SLAs) for compliance.</a:t>
            </a:r>
          </a:p>
        </p:txBody>
      </p:sp>
    </p:spTree>
    <p:extLst>
      <p:ext uri="{BB962C8B-B14F-4D97-AF65-F5344CB8AC3E}">
        <p14:creationId xmlns:p14="http://schemas.microsoft.com/office/powerpoint/2010/main" val="112339132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96FC8D8-7362-4590-A290-E41E39ADEA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362" y="1490985"/>
            <a:ext cx="8607518" cy="5004884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A</a:t>
            </a:r>
            <a:r>
              <a:rPr lang="en-US" b="0" i="0" dirty="0">
                <a:effectLst/>
              </a:rPr>
              <a:t>vailability of the data is highly reliant on network connection</a:t>
            </a:r>
          </a:p>
          <a:p>
            <a:pPr algn="just"/>
            <a:r>
              <a:rPr lang="en-US" dirty="0"/>
              <a:t>S</a:t>
            </a:r>
            <a:r>
              <a:rPr lang="en-US" b="0" i="0" dirty="0">
                <a:effectLst/>
              </a:rPr>
              <a:t>ystem could be prone to service interruptions.</a:t>
            </a:r>
          </a:p>
          <a:p>
            <a:pPr algn="just"/>
            <a:r>
              <a:rPr lang="en-US" dirty="0"/>
              <a:t>V</a:t>
            </a:r>
            <a:r>
              <a:rPr lang="en-US" b="0" i="0" dirty="0">
                <a:effectLst/>
              </a:rPr>
              <a:t>olume of data that’s being transferred, analyzed, and processed at any given time.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76895B0-1612-4815-B793-CC65FB805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0" i="0" dirty="0">
                <a:effectLst/>
                <a:latin typeface="Bahnschrift" panose="020B0502040204020203" pitchFamily="34" charset="0"/>
              </a:rPr>
            </a:br>
            <a:r>
              <a:rPr lang="en-US" b="0" i="0" dirty="0">
                <a:effectLst/>
                <a:latin typeface="Bahnschrift" panose="020B0502040204020203" pitchFamily="34" charset="0"/>
              </a:rPr>
              <a:t>Network dependency and latency issues</a:t>
            </a:r>
            <a:br>
              <a:rPr lang="en-US" b="0" i="0" dirty="0">
                <a:effectLst/>
                <a:latin typeface="Bahnschrift" panose="020B0502040204020203" pitchFamily="34" charset="0"/>
              </a:rPr>
            </a:br>
            <a:endParaRPr lang="en-IN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59160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36144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1183</TotalTime>
  <Words>1063</Words>
  <Application>Microsoft Office PowerPoint</Application>
  <PresentationFormat>On-screen Show (4:3)</PresentationFormat>
  <Paragraphs>126</Paragraphs>
  <Slides>52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60" baseType="lpstr">
      <vt:lpstr>Arial</vt:lpstr>
      <vt:lpstr>Arvo</vt:lpstr>
      <vt:lpstr>Bahnschrift</vt:lpstr>
      <vt:lpstr>Bahnschrift SemiBold</vt:lpstr>
      <vt:lpstr>Calibri</vt:lpstr>
      <vt:lpstr>Calibri Light</vt:lpstr>
      <vt:lpstr>Ubuntu</vt:lpstr>
      <vt:lpstr>Office Theme</vt:lpstr>
      <vt:lpstr>PowerPoint Presentation</vt:lpstr>
      <vt:lpstr>PowerPoint Presentation</vt:lpstr>
      <vt:lpstr>Introduction</vt:lpstr>
      <vt:lpstr>Introduction</vt:lpstr>
      <vt:lpstr>What is big data?</vt:lpstr>
      <vt:lpstr>The concept of big data and what it encompasses can be better understood with four Vs:</vt:lpstr>
      <vt:lpstr>Technology leaders also name a fifth V</vt:lpstr>
      <vt:lpstr>Why should big data matter to you?</vt:lpstr>
      <vt:lpstr>Why should big data matter to you?</vt:lpstr>
      <vt:lpstr>Big data and the cloud</vt:lpstr>
      <vt:lpstr>Why big data in the cloud makes perfect sense</vt:lpstr>
      <vt:lpstr>Why big data in the cloud makes perfect sense</vt:lpstr>
      <vt:lpstr>Why big data in the cloud makes perfect sense</vt:lpstr>
      <vt:lpstr>Why big data in the cloud makes perfect sense</vt:lpstr>
      <vt:lpstr>Why big data in the cloud makes perfect sense</vt:lpstr>
      <vt:lpstr>Why big data in the cloud makes perfect sense</vt:lpstr>
      <vt:lpstr> Why big data in the cloud makes perfect sense </vt:lpstr>
      <vt:lpstr>Why big data in the cloud makes perfect sense</vt:lpstr>
      <vt:lpstr>Big Opportunities, Big Challenges</vt:lpstr>
      <vt:lpstr>Requires zero CAPEX</vt:lpstr>
      <vt:lpstr>Requires zero CAPEX</vt:lpstr>
      <vt:lpstr>Requires zero CAPEX</vt:lpstr>
      <vt:lpstr>Enables faster scalability</vt:lpstr>
      <vt:lpstr>Enables faster scalability</vt:lpstr>
      <vt:lpstr>Lowers the cost of analytics</vt:lpstr>
      <vt:lpstr>Lowers the cost of analytics</vt:lpstr>
      <vt:lpstr>Lowers the cost of analytics</vt:lpstr>
      <vt:lpstr> Encourages an agile and innovative culture </vt:lpstr>
      <vt:lpstr>Enables better business continuity and disaster recovery</vt:lpstr>
      <vt:lpstr>Enables better business continuity and disaster recovery</vt:lpstr>
      <vt:lpstr>Enables better business continuity and disaster recovery</vt:lpstr>
      <vt:lpstr>Enables better business continuity and disaster recovery</vt:lpstr>
      <vt:lpstr>Enables better business continuity and disaster recovery</vt:lpstr>
      <vt:lpstr> Potential challenges of big data in the cloud </vt:lpstr>
      <vt:lpstr>Potential challenges of big data in the cloud</vt:lpstr>
      <vt:lpstr>Potential challenges of big data in the cloud</vt:lpstr>
      <vt:lpstr>Potential challenges of big data in the cloud</vt:lpstr>
      <vt:lpstr>Less control over security</vt:lpstr>
      <vt:lpstr>Less control over security</vt:lpstr>
      <vt:lpstr>Less control over security</vt:lpstr>
      <vt:lpstr>Less control over security</vt:lpstr>
      <vt:lpstr>Less control over security</vt:lpstr>
      <vt:lpstr>Less control over security</vt:lpstr>
      <vt:lpstr>Less control over security</vt:lpstr>
      <vt:lpstr>Less control over security</vt:lpstr>
      <vt:lpstr>Less control over compliance</vt:lpstr>
      <vt:lpstr>Less control over compliance</vt:lpstr>
      <vt:lpstr>Less control over compliance</vt:lpstr>
      <vt:lpstr>Less control over compliance</vt:lpstr>
      <vt:lpstr>Less control over compliance</vt:lpstr>
      <vt:lpstr> Network dependency and latency issues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video recording 1</dc:creator>
  <cp:lastModifiedBy>video recording 1</cp:lastModifiedBy>
  <cp:revision>84</cp:revision>
  <dcterms:created xsi:type="dcterms:W3CDTF">2021-05-13T17:45:44Z</dcterms:created>
  <dcterms:modified xsi:type="dcterms:W3CDTF">2021-07-13T04:37:23Z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name="NXPowerLiteLastOptimized" pid="2">
    <vt:lpwstr>1776324</vt:lpwstr>
  </property>
  <property fmtid="{D5CDD505-2E9C-101B-9397-08002B2CF9AE}" name="NXPowerLiteSettings" pid="3">
    <vt:lpwstr>E700052003A000</vt:lpwstr>
  </property>
  <property fmtid="{D5CDD505-2E9C-101B-9397-08002B2CF9AE}" name="NXPowerLiteVersion" pid="4">
    <vt:lpwstr>D9.1.4</vt:lpwstr>
  </property>
</Properties>
</file>