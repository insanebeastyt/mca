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40"/>
  </p:handoutMasterIdLst>
  <p:sldIdLst>
    <p:sldId id="266" r:id="rId2"/>
    <p:sldId id="261" r:id="rId3"/>
    <p:sldId id="281" r:id="rId4"/>
    <p:sldId id="264" r:id="rId5"/>
    <p:sldId id="283" r:id="rId6"/>
    <p:sldId id="284" r:id="rId7"/>
    <p:sldId id="285" r:id="rId8"/>
    <p:sldId id="286" r:id="rId9"/>
    <p:sldId id="294" r:id="rId10"/>
    <p:sldId id="295" r:id="rId11"/>
    <p:sldId id="296" r:id="rId12"/>
    <p:sldId id="297" r:id="rId13"/>
    <p:sldId id="299" r:id="rId14"/>
    <p:sldId id="300" r:id="rId15"/>
    <p:sldId id="301" r:id="rId16"/>
    <p:sldId id="287" r:id="rId17"/>
    <p:sldId id="288" r:id="rId18"/>
    <p:sldId id="289" r:id="rId19"/>
    <p:sldId id="290" r:id="rId20"/>
    <p:sldId id="340" r:id="rId21"/>
    <p:sldId id="341" r:id="rId22"/>
    <p:sldId id="339" r:id="rId23"/>
    <p:sldId id="337" r:id="rId24"/>
    <p:sldId id="268" r:id="rId25"/>
    <p:sldId id="273" r:id="rId26"/>
    <p:sldId id="338" r:id="rId27"/>
    <p:sldId id="274" r:id="rId28"/>
    <p:sldId id="304" r:id="rId29"/>
    <p:sldId id="305" r:id="rId30"/>
    <p:sldId id="306" r:id="rId31"/>
    <p:sldId id="307" r:id="rId32"/>
    <p:sldId id="275" r:id="rId33"/>
    <p:sldId id="276" r:id="rId34"/>
    <p:sldId id="277" r:id="rId35"/>
    <p:sldId id="278" r:id="rId36"/>
    <p:sldId id="279" r:id="rId37"/>
    <p:sldId id="280" r:id="rId38"/>
    <p:sldId id="263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CC"/>
    <a:srgbClr val="FEFEFE"/>
    <a:srgbClr val="44525A"/>
    <a:srgbClr val="618495"/>
    <a:srgbClr val="44525B"/>
    <a:srgbClr val="072235"/>
    <a:srgbClr val="453A38"/>
    <a:srgbClr val="B8B192"/>
    <a:srgbClr val="473B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53" autoAdjust="0"/>
    <p:restoredTop sz="94660"/>
  </p:normalViewPr>
  <p:slideViewPr>
    <p:cSldViewPr snapToGrid="0">
      <p:cViewPr>
        <p:scale>
          <a:sx n="50" d="100"/>
          <a:sy n="50" d="100"/>
        </p:scale>
        <p:origin x="2203" y="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 ?><Relationships xmlns="http://schemas.openxmlformats.org/package/2006/relationships"><Relationship Id="rId2" Target="../media/image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6.xml.rels><?xml version="1.0" encoding="UTF-8" standalone="yes" ?><Relationships xmlns="http://schemas.openxmlformats.org/package/2006/relationships"><Relationship Id="rId2" Target="../media/image7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7.xml.rels><?xml version="1.0" encoding="UTF-8" standalone="yes" ?><Relationships xmlns="http://schemas.openxmlformats.org/package/2006/relationships"><Relationship Id="rId2" Target="../media/image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 ?><Relationships xmlns="http://schemas.openxmlformats.org/package/2006/relationships"><Relationship Id="rId2" Target="../media/image9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 ?><Relationships xmlns="http://schemas.openxmlformats.org/package/2006/relationships"><Relationship Id="rId3" Target="../media/image11.jpeg" Type="http://schemas.openxmlformats.org/officeDocument/2006/relationships/image"/><Relationship Id="rId2" Target="../media/image10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9.xml.rels><?xml version="1.0" encoding="UTF-8" standalone="yes" ?><Relationships xmlns="http://schemas.openxmlformats.org/package/2006/relationships"><Relationship Id="rId2" Target="../media/image12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0.xml.rels><?xml version="1.0" encoding="UTF-8" standalone="yes" ?><Relationships xmlns="http://schemas.openxmlformats.org/package/2006/relationships"><Relationship Id="rId3" Target="../media/image14.png" Type="http://schemas.openxmlformats.org/officeDocument/2006/relationships/image"/><Relationship Id="rId2" Target="../media/image1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1.xml.rels><?xml version="1.0" encoding="UTF-8" standalone="yes" ?><Relationships xmlns="http://schemas.openxmlformats.org/package/2006/relationships"><Relationship Id="rId3" Target="../media/image14.png" Type="http://schemas.openxmlformats.org/officeDocument/2006/relationships/image"/><Relationship Id="rId2" Target="../media/image1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2.xml.rels><?xml version="1.0" encoding="UTF-8" standalone="yes" ?><Relationships xmlns="http://schemas.openxmlformats.org/package/2006/relationships"><Relationship Id="rId3" Target="../media/image14.png" Type="http://schemas.openxmlformats.org/officeDocument/2006/relationships/image"/><Relationship Id="rId2" Target="../media/image1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3.xml.rels><?xml version="1.0" encoding="UTF-8" standalone="yes" ?><Relationships xmlns="http://schemas.openxmlformats.org/package/2006/relationships"><Relationship Id="rId3" Target="../media/image14.png" Type="http://schemas.openxmlformats.org/officeDocument/2006/relationships/image"/><Relationship Id="rId2" Target="../media/image1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 ?><Relationships xmlns="http://schemas.openxmlformats.org/package/2006/relationships"><Relationship Id="rId2" Target="../media/image1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830800" cy="3773150"/>
          </a:xfrm>
        </p:spPr>
        <p:txBody>
          <a:bodyPr/>
          <a:lstStyle/>
          <a:p>
            <a:pPr algn="just"/>
            <a:r>
              <a:rPr lang="en-US" dirty="0"/>
              <a:t>learn a</a:t>
            </a:r>
            <a:r>
              <a:rPr lang="en-US" i="0" dirty="0">
                <a:effectLst/>
              </a:rPr>
              <a:t>natomy of a MapReduce Job Run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62F8CD-BA08-41C5-9B83-8F3D31505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486" y="2285314"/>
            <a:ext cx="8042287" cy="33598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52763D6-A71F-44EB-9BA7-875E1C3AF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3391281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C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8FD5B79-140F-4CDE-B126-C64F12AC8C52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b="29"/>
          <a:stretch/>
        </p:blipFill>
        <p:spPr>
          <a:xfrm>
            <a:off x="390091" y="1873233"/>
            <a:ext cx="8363817" cy="45406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E7FAF4B-0A46-4321-A5FE-67BF4846A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Introduction</a:t>
            </a:r>
            <a:endParaRPr dirty="0" lang="en-IN"/>
          </a:p>
        </p:txBody>
      </p:sp>
    </p:spTree>
    <p:extLst>
      <p:ext uri="{BB962C8B-B14F-4D97-AF65-F5344CB8AC3E}">
        <p14:creationId xmlns:p14="http://schemas.microsoft.com/office/powerpoint/2010/main" val="3613012667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FD4B82-6EE4-4311-A8C6-E64C87EBB3EA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142" r="31"/>
          <a:stretch/>
        </p:blipFill>
        <p:spPr>
          <a:xfrm>
            <a:off x="114086" y="1913859"/>
            <a:ext cx="8404223" cy="299838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B4D78C3-5C62-41A6-A4A2-A3A10F6A6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Introduction</a:t>
            </a:r>
            <a:endParaRPr dirty="0"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AA8E5B-D3C7-4694-8686-227A47CA55B7}"/>
              </a:ext>
            </a:extLst>
          </p:cNvPr>
          <p:cNvSpPr/>
          <p:nvPr/>
        </p:nvSpPr>
        <p:spPr>
          <a:xfrm>
            <a:off x="2179053" y="5603358"/>
            <a:ext cx="4324985" cy="75319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 sz="2200">
                <a:latin charset="0" panose="020B0502040204020203" pitchFamily="34" typeface="Bahnschrift"/>
              </a:rPr>
              <a:t>Job Execution and job Completion</a:t>
            </a:r>
            <a:endParaRPr dirty="0" lang="en-IN" sz="2200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1831017690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03B8BD-EAA2-4CD0-9CF2-67F913DE6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Introduction</a:t>
            </a:r>
            <a:endParaRPr dirty="0"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0472E2A-1AC0-424C-95E4-333850D39360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26" r="32"/>
          <a:stretch/>
        </p:blipFill>
        <p:spPr>
          <a:xfrm>
            <a:off x="1830960" y="1533140"/>
            <a:ext cx="5401340" cy="4234780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5ED09F5-655F-4E07-B99A-63E6455DB896}"/>
              </a:ext>
            </a:extLst>
          </p:cNvPr>
          <p:cNvSpPr/>
          <p:nvPr/>
        </p:nvSpPr>
        <p:spPr>
          <a:xfrm>
            <a:off x="2170756" y="5975497"/>
            <a:ext cx="4125433" cy="637953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 sz="2000">
                <a:latin charset="0" panose="020B0502040204020203" pitchFamily="34" typeface="Bahnschrift"/>
              </a:rPr>
              <a:t>Last statement in run method</a:t>
            </a:r>
            <a:endParaRPr dirty="0" lang="en-IN" sz="2000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2828761432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03B8BD-EAA2-4CD0-9CF2-67F913DE6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Introduction</a:t>
            </a:r>
            <a:endParaRPr dirty="0"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ED09F5-655F-4E07-B99A-63E6455DB896}"/>
              </a:ext>
            </a:extLst>
          </p:cNvPr>
          <p:cNvSpPr/>
          <p:nvPr/>
        </p:nvSpPr>
        <p:spPr>
          <a:xfrm>
            <a:off x="2392326" y="6056346"/>
            <a:ext cx="4125433" cy="637953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>
                <a:latin charset="0" panose="020B0502040204020203" pitchFamily="34" typeface="Bahnschrift"/>
              </a:rPr>
              <a:t>Last line in main method</a:t>
            </a:r>
            <a:endParaRPr dirty="0" lang="en-IN">
              <a:latin charset="0" panose="020B0502040204020203" pitchFamily="34" typeface="Bahnschrift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8B9A4D-9078-41EF-BFC6-DD8CDBDF6402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40" r="7"/>
          <a:stretch/>
        </p:blipFill>
        <p:spPr>
          <a:xfrm>
            <a:off x="1892596" y="1421207"/>
            <a:ext cx="5656520" cy="4539495"/>
          </a:xfrm>
        </p:spPr>
      </p:pic>
    </p:spTree>
    <p:extLst>
      <p:ext uri="{BB962C8B-B14F-4D97-AF65-F5344CB8AC3E}">
        <p14:creationId xmlns:p14="http://schemas.microsoft.com/office/powerpoint/2010/main" val="3987989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E462A6-76BB-45AE-911E-4C46B9E45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Jobs gets submitted by </a:t>
            </a:r>
            <a:r>
              <a:rPr lang="en-US" dirty="0" err="1"/>
              <a:t>WaitforCompletion</a:t>
            </a:r>
            <a:r>
              <a:rPr lang="en-US" dirty="0"/>
              <a:t>().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Properties that decide the job run: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“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mapred.job.tracker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”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(for 0.22 release)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This is set in mapred-site.xml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Default is local.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Set as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host:part</a:t>
            </a:r>
            <a:endParaRPr lang="en-US" dirty="0">
              <a:solidFill>
                <a:schemeClr val="bg1">
                  <a:lumMod val="85000"/>
                </a:schemeClr>
              </a:solidFill>
              <a:sym typeface="Wingdings" panose="05000000000000000000" pitchFamily="2" charset="2"/>
            </a:endParaRP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“mapreduce.framework.name” (for .23 and later(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eg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1.X.X)):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Can be set to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local,classic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or yarn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B71DF1-680E-4925-A129-B91FD24E2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happened behind the scene?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057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E462A6-76BB-45AE-911E-4C46B9E45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Jobs gets submitted by </a:t>
            </a:r>
            <a:r>
              <a:rPr lang="en-US" dirty="0" err="1"/>
              <a:t>WaitforCompletion</a:t>
            </a:r>
            <a:r>
              <a:rPr lang="en-US" dirty="0"/>
              <a:t>().</a:t>
            </a:r>
          </a:p>
          <a:p>
            <a:r>
              <a:rPr lang="en-US" dirty="0"/>
              <a:t>Properties that decide the job run: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“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mapred.job.tracker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”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(for 0.22 release)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This is set in mapred-site.xml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Default is local.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Set as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host:part</a:t>
            </a:r>
            <a:endParaRPr lang="en-US" dirty="0">
              <a:solidFill>
                <a:schemeClr val="bg1">
                  <a:lumMod val="85000"/>
                </a:schemeClr>
              </a:solidFill>
              <a:sym typeface="Wingdings" panose="05000000000000000000" pitchFamily="2" charset="2"/>
            </a:endParaRP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“mapreduce.framework.name” (for .23 and later(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eg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1.X.X)):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Can be set to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local,classic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or yarn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B71DF1-680E-4925-A129-B91FD24E2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happened behind the scene?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1680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E462A6-76BB-45AE-911E-4C46B9E45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Jobs gets submitted by </a:t>
            </a:r>
            <a:r>
              <a:rPr lang="en-US" dirty="0" err="1"/>
              <a:t>WaitforCompletion</a:t>
            </a:r>
            <a:r>
              <a:rPr lang="en-US" dirty="0"/>
              <a:t>().</a:t>
            </a:r>
          </a:p>
          <a:p>
            <a:r>
              <a:rPr lang="en-US" dirty="0"/>
              <a:t>Properties that decide the job run: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mapred.job.tracker</a:t>
            </a:r>
            <a:r>
              <a:rPr lang="en-US" dirty="0"/>
              <a:t>”</a:t>
            </a:r>
            <a:r>
              <a:rPr lang="en-US" dirty="0">
                <a:sym typeface="Wingdings" panose="05000000000000000000" pitchFamily="2" charset="2"/>
              </a:rPr>
              <a:t> (for 0.22 release)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This is set in mapred-site.xml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Default is local.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Set as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host:part</a:t>
            </a:r>
            <a:endParaRPr lang="en-US" dirty="0">
              <a:solidFill>
                <a:schemeClr val="bg1">
                  <a:lumMod val="85000"/>
                </a:schemeClr>
              </a:solidFill>
              <a:sym typeface="Wingdings" panose="05000000000000000000" pitchFamily="2" charset="2"/>
            </a:endParaRP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“mapreduce.framework.name” (for .23 and later(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eg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1.X.X)):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Can be set to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local,classic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or yarn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B71DF1-680E-4925-A129-B91FD24E2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happened behind the scene?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262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E462A6-76BB-45AE-911E-4C46B9E45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Jobs gets submitted by </a:t>
            </a:r>
            <a:r>
              <a:rPr lang="en-US" dirty="0" err="1"/>
              <a:t>WaitforCompletion</a:t>
            </a:r>
            <a:r>
              <a:rPr lang="en-US" dirty="0"/>
              <a:t>().</a:t>
            </a:r>
          </a:p>
          <a:p>
            <a:r>
              <a:rPr lang="en-US" dirty="0"/>
              <a:t>Properties that decide the job run: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mapred.job.tracker</a:t>
            </a:r>
            <a:r>
              <a:rPr lang="en-US" dirty="0"/>
              <a:t>”</a:t>
            </a:r>
            <a:r>
              <a:rPr lang="en-US" dirty="0">
                <a:sym typeface="Wingdings" panose="05000000000000000000" pitchFamily="2" charset="2"/>
              </a:rPr>
              <a:t> (for 0.22 release)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This is set in mapred-site.xml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Default is local.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Set as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host:part</a:t>
            </a:r>
            <a:endParaRPr lang="en-US" dirty="0">
              <a:solidFill>
                <a:schemeClr val="bg1">
                  <a:lumMod val="85000"/>
                </a:schemeClr>
              </a:solidFill>
              <a:sym typeface="Wingdings" panose="05000000000000000000" pitchFamily="2" charset="2"/>
            </a:endParaRP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“mapreduce.framework.name” (for .23 and later(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eg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1.X.X)):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Can be set to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local,classic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or yarn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B71DF1-680E-4925-A129-B91FD24E2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happened behind the scene?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986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E462A6-76BB-45AE-911E-4C46B9E45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Jobs gets submitted by </a:t>
            </a:r>
            <a:r>
              <a:rPr lang="en-US" dirty="0" err="1"/>
              <a:t>WaitforCompletion</a:t>
            </a:r>
            <a:r>
              <a:rPr lang="en-US" dirty="0"/>
              <a:t>().</a:t>
            </a:r>
          </a:p>
          <a:p>
            <a:r>
              <a:rPr lang="en-US" dirty="0"/>
              <a:t>Properties that decide the job run: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mapred.job.tracker</a:t>
            </a:r>
            <a:r>
              <a:rPr lang="en-US" dirty="0"/>
              <a:t>”</a:t>
            </a:r>
            <a:r>
              <a:rPr lang="en-US" dirty="0">
                <a:sym typeface="Wingdings" panose="05000000000000000000" pitchFamily="2" charset="2"/>
              </a:rPr>
              <a:t> (for 0.22 release)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This is set in mapred-site.xml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Default is local.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Set as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host:part</a:t>
            </a:r>
            <a:endParaRPr lang="en-US" dirty="0">
              <a:solidFill>
                <a:schemeClr val="bg1">
                  <a:lumMod val="85000"/>
                </a:schemeClr>
              </a:solidFill>
              <a:sym typeface="Wingdings" panose="05000000000000000000" pitchFamily="2" charset="2"/>
            </a:endParaRP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“mapreduce.framework.name” (for .23 and later(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eg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1.X.X)):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Can be set to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local,classic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or yarn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B71DF1-680E-4925-A129-B91FD24E2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happened behind the scene?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2516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E462A6-76BB-45AE-911E-4C46B9E45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Jobs gets submitted by </a:t>
            </a:r>
            <a:r>
              <a:rPr lang="en-US" dirty="0" err="1"/>
              <a:t>WaitforCompletion</a:t>
            </a:r>
            <a:r>
              <a:rPr lang="en-US" dirty="0"/>
              <a:t>().</a:t>
            </a:r>
          </a:p>
          <a:p>
            <a:r>
              <a:rPr lang="en-US" dirty="0"/>
              <a:t>Properties that decide the job run: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mapred.job.tracker</a:t>
            </a:r>
            <a:r>
              <a:rPr lang="en-US" dirty="0"/>
              <a:t>”</a:t>
            </a:r>
            <a:r>
              <a:rPr lang="en-US" dirty="0">
                <a:sym typeface="Wingdings" panose="05000000000000000000" pitchFamily="2" charset="2"/>
              </a:rPr>
              <a:t> (for 0.22 release)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This is set in mapred-site.xml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Default is local.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Set as </a:t>
            </a:r>
            <a:r>
              <a:rPr lang="en-US" dirty="0" err="1">
                <a:sym typeface="Wingdings" panose="05000000000000000000" pitchFamily="2" charset="2"/>
              </a:rPr>
              <a:t>host:part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“mapreduce.framework.name” (for .23 and later(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eg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1.X.X)):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Can be set to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local,classic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or yarn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B71DF1-680E-4925-A129-B91FD24E2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happened behind the scene?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7173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E462A6-76BB-45AE-911E-4C46B9E45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Jobs gets submitted by </a:t>
            </a:r>
            <a:r>
              <a:rPr lang="en-US" dirty="0" err="1"/>
              <a:t>WaitforCompletion</a:t>
            </a:r>
            <a:r>
              <a:rPr lang="en-US" dirty="0"/>
              <a:t>().</a:t>
            </a:r>
          </a:p>
          <a:p>
            <a:r>
              <a:rPr lang="en-US" dirty="0"/>
              <a:t>Properties that decide the job run: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mapred.job.tracker</a:t>
            </a:r>
            <a:r>
              <a:rPr lang="en-US" dirty="0"/>
              <a:t>”</a:t>
            </a:r>
            <a:r>
              <a:rPr lang="en-US" dirty="0">
                <a:sym typeface="Wingdings" panose="05000000000000000000" pitchFamily="2" charset="2"/>
              </a:rPr>
              <a:t> (for 0.22 release)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This is set in mapred-site.xml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Default is local.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Set as </a:t>
            </a:r>
            <a:r>
              <a:rPr lang="en-US" dirty="0" err="1">
                <a:sym typeface="Wingdings" panose="05000000000000000000" pitchFamily="2" charset="2"/>
              </a:rPr>
              <a:t>host:part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“mapreduce.framework.name” (for .23 and later(</a:t>
            </a:r>
            <a:r>
              <a:rPr lang="en-US" dirty="0" err="1">
                <a:sym typeface="Wingdings" panose="05000000000000000000" pitchFamily="2" charset="2"/>
              </a:rPr>
              <a:t>eg</a:t>
            </a:r>
            <a:r>
              <a:rPr lang="en-US" dirty="0">
                <a:sym typeface="Wingdings" panose="05000000000000000000" pitchFamily="2" charset="2"/>
              </a:rPr>
              <a:t> 1.X.X)):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Can be set to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local,classic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sym typeface="Wingdings" panose="05000000000000000000" pitchFamily="2" charset="2"/>
              </a:rPr>
              <a:t> or yarn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B71DF1-680E-4925-A129-B91FD24E2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happened behind the scene?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8597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E462A6-76BB-45AE-911E-4C46B9E45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Jobs gets submitted by </a:t>
            </a:r>
            <a:r>
              <a:rPr lang="en-US" dirty="0" err="1"/>
              <a:t>WaitforCompletion</a:t>
            </a:r>
            <a:r>
              <a:rPr lang="en-US" dirty="0"/>
              <a:t>().</a:t>
            </a:r>
          </a:p>
          <a:p>
            <a:r>
              <a:rPr lang="en-US" dirty="0"/>
              <a:t>Properties that decide the job run: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mapred.job.tracker</a:t>
            </a:r>
            <a:r>
              <a:rPr lang="en-US" dirty="0"/>
              <a:t>”</a:t>
            </a:r>
            <a:r>
              <a:rPr lang="en-US" dirty="0">
                <a:sym typeface="Wingdings" panose="05000000000000000000" pitchFamily="2" charset="2"/>
              </a:rPr>
              <a:t> (for 0.22 release)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This is set in mapred-site.xml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Default is local.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Set as </a:t>
            </a:r>
            <a:r>
              <a:rPr lang="en-US" dirty="0" err="1">
                <a:sym typeface="Wingdings" panose="05000000000000000000" pitchFamily="2" charset="2"/>
              </a:rPr>
              <a:t>host:part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“mapreduce.framework.name” (for .23 and later(</a:t>
            </a:r>
            <a:r>
              <a:rPr lang="en-US" dirty="0" err="1">
                <a:sym typeface="Wingdings" panose="05000000000000000000" pitchFamily="2" charset="2"/>
              </a:rPr>
              <a:t>eg</a:t>
            </a:r>
            <a:r>
              <a:rPr lang="en-US" dirty="0">
                <a:sym typeface="Wingdings" panose="05000000000000000000" pitchFamily="2" charset="2"/>
              </a:rPr>
              <a:t> 1.X.X)):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Can be set to </a:t>
            </a:r>
            <a:r>
              <a:rPr lang="en-US" dirty="0" err="1">
                <a:sym typeface="Wingdings" panose="05000000000000000000" pitchFamily="2" charset="2"/>
              </a:rPr>
              <a:t>local,classic</a:t>
            </a:r>
            <a:r>
              <a:rPr lang="en-US" dirty="0">
                <a:sym typeface="Wingdings" panose="05000000000000000000" pitchFamily="2" charset="2"/>
              </a:rPr>
              <a:t> or yarn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B71DF1-680E-4925-A129-B91FD24E2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happened behind the scene?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9495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D4DD3C-D501-4B71-AFDC-353882BD0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3745" y="2306251"/>
            <a:ext cx="5096509" cy="190001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C4AC51E-0823-43D9-93C2-4E31FB5B5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MapReduce - Overview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1596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4AC51E-0823-43D9-93C2-4E31FB5B5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MapReduce - Overview</a:t>
            </a:r>
            <a:endParaRPr lang="en-IN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03CDB17-D589-4EE1-AD01-966A4DC0A869}"/>
              </a:ext>
            </a:extLst>
          </p:cNvPr>
          <p:cNvGrpSpPr/>
          <p:nvPr/>
        </p:nvGrpSpPr>
        <p:grpSpPr>
          <a:xfrm>
            <a:off x="1511455" y="2610464"/>
            <a:ext cx="6121090" cy="2698955"/>
            <a:chOff x="1961196" y="2168013"/>
            <a:chExt cx="5546412" cy="244853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C4FCF28-3C6F-441C-BAB8-AF0186E814A2}"/>
                </a:ext>
              </a:extLst>
            </p:cNvPr>
            <p:cNvSpPr/>
            <p:nvPr/>
          </p:nvSpPr>
          <p:spPr>
            <a:xfrm>
              <a:off x="1961196" y="2168013"/>
              <a:ext cx="5546412" cy="243881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FE6CCA7-D342-4E1F-8D17-741AD80AD793}"/>
                </a:ext>
              </a:extLst>
            </p:cNvPr>
            <p:cNvSpPr/>
            <p:nvPr/>
          </p:nvSpPr>
          <p:spPr>
            <a:xfrm>
              <a:off x="2330244" y="2492477"/>
              <a:ext cx="4734233" cy="172556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489AC98-8ABE-487C-BD92-1265384E6A12}"/>
                </a:ext>
              </a:extLst>
            </p:cNvPr>
            <p:cNvSpPr/>
            <p:nvPr/>
          </p:nvSpPr>
          <p:spPr>
            <a:xfrm>
              <a:off x="2654710" y="2743201"/>
              <a:ext cx="1519084" cy="113562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Job Tracker</a:t>
              </a:r>
              <a:endParaRPr lang="en-IN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C57356-C917-45CE-A445-E467919F0D8A}"/>
                </a:ext>
              </a:extLst>
            </p:cNvPr>
            <p:cNvSpPr txBox="1"/>
            <p:nvPr/>
          </p:nvSpPr>
          <p:spPr>
            <a:xfrm>
              <a:off x="3547225" y="4247218"/>
              <a:ext cx="19688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ahnschrift" panose="020B0502040204020203" pitchFamily="34" charset="0"/>
                </a:rPr>
                <a:t>Job Tracker node</a:t>
              </a:r>
              <a:endParaRPr lang="en-IN" dirty="0">
                <a:latin typeface="Bahnschrift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0644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4AC51E-0823-43D9-93C2-4E31FB5B5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MapReduce - Overview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A32C2A6-3072-4C0B-BC93-C8DDC45693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0649" y="1498728"/>
            <a:ext cx="4876477" cy="1930271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361831-7FF5-4997-8334-2880C6A67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735" y="3429000"/>
            <a:ext cx="1824513" cy="329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878579"/>
      </p:ext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4AC51E-0823-43D9-93C2-4E31FB5B5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Classic MapReduce - Overview</a:t>
            </a:r>
            <a:endParaRPr dirty="0"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A1F9607-7A37-4059-A035-577EB1CD1A55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1157" r="32"/>
          <a:stretch/>
        </p:blipFill>
        <p:spPr>
          <a:xfrm>
            <a:off x="338361" y="1839848"/>
            <a:ext cx="8386537" cy="1463791"/>
          </a:xfrm>
        </p:spPr>
      </p:pic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9EB72954-E3D7-47AE-ADBA-166BE447C0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046703"/>
              </p:ext>
            </p:extLst>
          </p:nvPr>
        </p:nvGraphicFramePr>
        <p:xfrm>
          <a:off x="3062177" y="3674142"/>
          <a:ext cx="3019646" cy="900519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3019646">
                  <a:extLst>
                    <a:ext uri="{9D8B030D-6E8A-4147-A177-3AD203B41FA5}">
                      <a16:colId xmlns:a16="http://schemas.microsoft.com/office/drawing/2014/main" val="1542022772"/>
                    </a:ext>
                  </a:extLst>
                </a:gridCol>
              </a:tblGrid>
              <a:tr h="900519">
                <a:tc>
                  <a:txBody>
                    <a:bodyPr/>
                    <a:lstStyle/>
                    <a:p>
                      <a:pPr algn="ctr"/>
                      <a:r>
                        <a:rPr dirty="0" lang="en-US" sz="1800">
                          <a:solidFill>
                            <a:schemeClr val="bg1"/>
                          </a:solidFill>
                          <a:latin charset="0" panose="020B0502040204020203" pitchFamily="34" typeface="Bahnschrift"/>
                        </a:rPr>
                        <a:t>1. Client submits the MapReduce job.</a:t>
                      </a:r>
                      <a:endParaRPr dirty="0" lang="en-IN" sz="1800">
                        <a:solidFill>
                          <a:schemeClr val="bg1"/>
                        </a:solidFill>
                        <a:latin charset="0" panose="020B0502040204020203" pitchFamily="34" typeface="Bahnschrift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391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0033128"/>
      </p:ext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4AC51E-0823-43D9-93C2-4E31FB5B5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Classic MapReduce - Overview</a:t>
            </a:r>
            <a:endParaRPr dirty="0"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47D59E-2465-46BD-8349-B3E0BA305CF7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109" r="-49"/>
          <a:stretch/>
        </p:blipFill>
        <p:spPr>
          <a:xfrm>
            <a:off x="5730" y="1625221"/>
            <a:ext cx="6109455" cy="3999402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D3F707-D305-4540-A29B-3868856BE1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3292" l="1" r="1034" t="-1"/>
          <a:stretch/>
        </p:blipFill>
        <p:spPr>
          <a:xfrm>
            <a:off x="6115185" y="1625221"/>
            <a:ext cx="3028815" cy="180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161360"/>
      </p:ext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4AC51E-0823-43D9-93C2-4E31FB5B5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Classic MapReduce - Overview</a:t>
            </a:r>
            <a:endParaRPr dirty="0"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47D59E-2465-46BD-8349-B3E0BA305CF7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109" r="-49"/>
          <a:stretch/>
        </p:blipFill>
        <p:spPr>
          <a:xfrm>
            <a:off x="5730" y="1625221"/>
            <a:ext cx="6109455" cy="3999402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D3F707-D305-4540-A29B-3868856BE1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4533" l="1" r="1034"/>
          <a:stretch/>
        </p:blipFill>
        <p:spPr>
          <a:xfrm>
            <a:off x="6115185" y="1625221"/>
            <a:ext cx="3028815" cy="272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67475"/>
      </p:ext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4AC51E-0823-43D9-93C2-4E31FB5B5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Classic MapReduce - Overview</a:t>
            </a:r>
            <a:endParaRPr dirty="0"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47D59E-2465-46BD-8349-B3E0BA305CF7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109" r="-49"/>
          <a:stretch/>
        </p:blipFill>
        <p:spPr>
          <a:xfrm>
            <a:off x="5730" y="1625221"/>
            <a:ext cx="6109455" cy="3999402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D3F707-D305-4540-A29B-3868856BE1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6583"/>
          <a:stretch/>
        </p:blipFill>
        <p:spPr>
          <a:xfrm>
            <a:off x="6115185" y="1625221"/>
            <a:ext cx="3060457" cy="360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33021"/>
      </p:ext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4AC51E-0823-43D9-93C2-4E31FB5B5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Classic MapReduce - Overview</a:t>
            </a:r>
            <a:endParaRPr dirty="0"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47D59E-2465-46BD-8349-B3E0BA305CF7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109" r="-49"/>
          <a:stretch/>
        </p:blipFill>
        <p:spPr>
          <a:xfrm>
            <a:off x="5730" y="1625221"/>
            <a:ext cx="6109455" cy="3999402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D3F707-D305-4540-A29B-3868856BE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185" y="1625221"/>
            <a:ext cx="3060457" cy="491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921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5D1933-7E59-431E-BBF7-A6FC6B2F9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352" y="0"/>
            <a:ext cx="69412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087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1ECDFC-A114-4908-AD16-567A57AE0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194" y="1607573"/>
            <a:ext cx="8208705" cy="5025455"/>
          </a:xfrm>
        </p:spPr>
        <p:txBody>
          <a:bodyPr>
            <a:normAutofit/>
          </a:bodyPr>
          <a:lstStyle/>
          <a:p>
            <a:pPr algn="l" fontAlgn="base">
              <a:buFont typeface="+mj-lt"/>
              <a:buAutoNum type="arabicPeriod"/>
            </a:pPr>
            <a:r>
              <a:rPr lang="en-US" sz="2600" i="0" dirty="0">
                <a:effectLst/>
              </a:rPr>
              <a:t> Client  </a:t>
            </a:r>
          </a:p>
          <a:p>
            <a:pPr algn="l" fontAlgn="base">
              <a:buFont typeface="+mj-lt"/>
              <a:buAutoNum type="arabicPeriod"/>
            </a:pPr>
            <a:r>
              <a:rPr lang="en-US" sz="2600" i="0" dirty="0">
                <a:effectLst/>
              </a:rPr>
              <a:t> Yarn node manager </a:t>
            </a:r>
          </a:p>
          <a:p>
            <a:pPr algn="l" fontAlgn="base">
              <a:buFont typeface="+mj-lt"/>
              <a:buAutoNum type="arabicPeriod"/>
            </a:pPr>
            <a:r>
              <a:rPr lang="en-US" sz="2600" i="0" dirty="0">
                <a:effectLst/>
              </a:rPr>
              <a:t> Yarn resource manager  </a:t>
            </a:r>
          </a:p>
          <a:p>
            <a:pPr algn="l" fontAlgn="base">
              <a:buFont typeface="+mj-lt"/>
              <a:buAutoNum type="arabicPeriod"/>
            </a:pPr>
            <a:r>
              <a:rPr lang="en-US" sz="2600" i="0" dirty="0">
                <a:effectLst/>
              </a:rPr>
              <a:t> MapReduce application master</a:t>
            </a:r>
          </a:p>
          <a:p>
            <a:pPr algn="l" fontAlgn="base">
              <a:buFont typeface="+mj-lt"/>
              <a:buAutoNum type="arabicPeriod"/>
            </a:pPr>
            <a:r>
              <a:rPr lang="en-US" sz="2600" dirty="0"/>
              <a:t> </a:t>
            </a:r>
            <a:r>
              <a:rPr lang="en-US" sz="2600" i="0" dirty="0">
                <a:effectLst/>
              </a:rPr>
              <a:t>Distributed Filesystem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BAD789-26C1-40E2-9149-1018C7347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MapReduce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98747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1ECDFC-A114-4908-AD16-567A57AE0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24763"/>
            <a:ext cx="8386537" cy="5208266"/>
          </a:xfrm>
        </p:spPr>
        <p:txBody>
          <a:bodyPr>
            <a:normAutofit/>
          </a:bodyPr>
          <a:lstStyle/>
          <a:p>
            <a:pPr algn="l" fontAlgn="base">
              <a:buFont typeface="+mj-lt"/>
              <a:buAutoNum type="arabicPeriod"/>
            </a:pPr>
            <a:r>
              <a:rPr lang="en-US" sz="2200" i="0" dirty="0">
                <a:effectLst/>
              </a:rPr>
              <a:t>Client  2. Yarn node manager  3. Yarn resource manager  </a:t>
            </a:r>
          </a:p>
          <a:p>
            <a:pPr marL="0" indent="0" algn="l" fontAlgn="base">
              <a:buNone/>
            </a:pPr>
            <a:r>
              <a:rPr lang="en-US" sz="2200" i="0" dirty="0">
                <a:effectLst/>
              </a:rPr>
              <a:t>4. MapReduce application master </a:t>
            </a:r>
            <a:r>
              <a:rPr lang="en-US" sz="2200" dirty="0"/>
              <a:t>5. </a:t>
            </a:r>
            <a:r>
              <a:rPr lang="en-US" sz="2200" i="0" dirty="0">
                <a:effectLst/>
              </a:rPr>
              <a:t>Distributed Filesystem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BAD789-26C1-40E2-9149-1018C7347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MapReduce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8E8882-DD29-4D94-8BE9-12F9A8C1E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61" y="2854223"/>
            <a:ext cx="7888137" cy="400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16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49C1CE-2845-4124-87AD-2B785CC49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0" dirty="0">
                <a:effectLst/>
              </a:rPr>
              <a:t>use the submit()</a:t>
            </a:r>
          </a:p>
          <a:p>
            <a:r>
              <a:rPr lang="en-IN" i="0" dirty="0" err="1">
                <a:solidFill>
                  <a:schemeClr val="bg1">
                    <a:lumMod val="85000"/>
                  </a:schemeClr>
                </a:solidFill>
                <a:effectLst/>
              </a:rPr>
              <a:t>submitJobInternal</a:t>
            </a:r>
            <a:r>
              <a:rPr lang="en-IN" i="0" dirty="0">
                <a:solidFill>
                  <a:schemeClr val="bg1">
                    <a:lumMod val="85000"/>
                  </a:schemeClr>
                </a:solidFill>
                <a:effectLst/>
              </a:rPr>
              <a:t>() 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IN" i="0" dirty="0" err="1">
                <a:solidFill>
                  <a:schemeClr val="bg1">
                    <a:lumMod val="85000"/>
                  </a:schemeClr>
                </a:solidFill>
                <a:effectLst/>
              </a:rPr>
              <a:t>waitForCompletion</a:t>
            </a:r>
            <a:r>
              <a:rPr lang="en-IN" i="0" dirty="0">
                <a:solidFill>
                  <a:schemeClr val="bg1">
                    <a:lumMod val="85000"/>
                  </a:schemeClr>
                </a:solidFill>
                <a:effectLst/>
              </a:rPr>
              <a:t>()</a:t>
            </a:r>
          </a:p>
          <a:p>
            <a:r>
              <a:rPr lang="en-US" i="0" dirty="0">
                <a:solidFill>
                  <a:schemeClr val="bg1">
                    <a:lumMod val="85000"/>
                  </a:schemeClr>
                </a:solidFill>
                <a:effectLst/>
              </a:rPr>
              <a:t> reports the progress to the console.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IN" i="0" dirty="0">
                <a:solidFill>
                  <a:schemeClr val="bg1">
                    <a:lumMod val="85000"/>
                  </a:schemeClr>
                </a:solidFill>
                <a:effectLst/>
              </a:rPr>
              <a:t>job counters are displayed 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C6788F-8F21-44A6-87E3-16CC19526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effectLst/>
                <a:latin typeface="Bahnschrift" panose="020B0502040204020203" pitchFamily="34" charset="0"/>
              </a:rPr>
              <a:t>How to submit Job?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328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49C1CE-2845-4124-87AD-2B785CC49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0" dirty="0">
                <a:effectLst/>
              </a:rPr>
              <a:t>use the submit()</a:t>
            </a:r>
          </a:p>
          <a:p>
            <a:r>
              <a:rPr lang="en-IN" i="0" dirty="0" err="1">
                <a:effectLst/>
              </a:rPr>
              <a:t>submitJobInternal</a:t>
            </a:r>
            <a:r>
              <a:rPr lang="en-IN" i="0" dirty="0">
                <a:effectLst/>
              </a:rPr>
              <a:t>() </a:t>
            </a:r>
            <a:endParaRPr lang="en-IN" dirty="0"/>
          </a:p>
          <a:p>
            <a:r>
              <a:rPr lang="en-IN" i="0" dirty="0" err="1">
                <a:solidFill>
                  <a:schemeClr val="bg1">
                    <a:lumMod val="85000"/>
                  </a:schemeClr>
                </a:solidFill>
                <a:effectLst/>
              </a:rPr>
              <a:t>waitForCompletion</a:t>
            </a:r>
            <a:r>
              <a:rPr lang="en-IN" i="0" dirty="0">
                <a:solidFill>
                  <a:schemeClr val="bg1">
                    <a:lumMod val="85000"/>
                  </a:schemeClr>
                </a:solidFill>
                <a:effectLst/>
              </a:rPr>
              <a:t>()</a:t>
            </a:r>
          </a:p>
          <a:p>
            <a:r>
              <a:rPr lang="en-US" i="0" dirty="0">
                <a:solidFill>
                  <a:schemeClr val="bg1">
                    <a:lumMod val="85000"/>
                  </a:schemeClr>
                </a:solidFill>
                <a:effectLst/>
              </a:rPr>
              <a:t> reports the progress to the console.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IN" i="0" dirty="0">
                <a:solidFill>
                  <a:schemeClr val="bg1">
                    <a:lumMod val="85000"/>
                  </a:schemeClr>
                </a:solidFill>
                <a:effectLst/>
              </a:rPr>
              <a:t>job counters are displayed 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C6788F-8F21-44A6-87E3-16CC19526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effectLst/>
                <a:latin typeface="Bahnschrift" panose="020B0502040204020203" pitchFamily="34" charset="0"/>
              </a:rPr>
              <a:t>How to submit Job?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620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49C1CE-2845-4124-87AD-2B785CC49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dirty="0">
                <a:effectLst/>
              </a:rPr>
              <a:t>use the </a:t>
            </a:r>
            <a:r>
              <a:rPr lang="en-IN" i="0" dirty="0">
                <a:effectLst/>
              </a:rPr>
              <a:t>submit()</a:t>
            </a:r>
          </a:p>
          <a:p>
            <a:r>
              <a:rPr lang="en-IN" i="0" dirty="0" err="1">
                <a:effectLst/>
              </a:rPr>
              <a:t>submitJobInternal</a:t>
            </a:r>
            <a:r>
              <a:rPr lang="en-IN" i="0" dirty="0">
                <a:effectLst/>
              </a:rPr>
              <a:t>() </a:t>
            </a:r>
            <a:endParaRPr lang="en-IN" dirty="0"/>
          </a:p>
          <a:p>
            <a:r>
              <a:rPr lang="en-IN" i="0" dirty="0" err="1">
                <a:effectLst/>
              </a:rPr>
              <a:t>waitForCompletion</a:t>
            </a:r>
            <a:r>
              <a:rPr lang="en-IN" i="0" dirty="0">
                <a:effectLst/>
              </a:rPr>
              <a:t>()</a:t>
            </a:r>
          </a:p>
          <a:p>
            <a:r>
              <a:rPr lang="en-US" i="0" dirty="0">
                <a:solidFill>
                  <a:schemeClr val="bg1">
                    <a:lumMod val="85000"/>
                  </a:schemeClr>
                </a:solidFill>
                <a:effectLst/>
              </a:rPr>
              <a:t> reports the progress to the</a:t>
            </a:r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</a:rPr>
              <a:t> console.</a:t>
            </a:r>
            <a:endParaRPr lang="en-IN" b="1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IN" b="0" i="0" dirty="0">
                <a:solidFill>
                  <a:schemeClr val="bg1">
                    <a:lumMod val="85000"/>
                  </a:schemeClr>
                </a:solidFill>
                <a:effectLst/>
              </a:rPr>
              <a:t>job counters are displayed 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C6788F-8F21-44A6-87E3-16CC19526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effectLst/>
                <a:latin typeface="Bahnschrift" panose="020B0502040204020203" pitchFamily="34" charset="0"/>
              </a:rPr>
              <a:t>How to submit Job?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6439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49C1CE-2845-4124-87AD-2B785CC49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0" dirty="0">
                <a:effectLst/>
              </a:rPr>
              <a:t>use the submit()</a:t>
            </a:r>
          </a:p>
          <a:p>
            <a:r>
              <a:rPr lang="en-IN" i="0" dirty="0" err="1">
                <a:effectLst/>
              </a:rPr>
              <a:t>submitJobInternal</a:t>
            </a:r>
            <a:r>
              <a:rPr lang="en-IN" i="0" dirty="0">
                <a:effectLst/>
              </a:rPr>
              <a:t>() </a:t>
            </a:r>
            <a:endParaRPr lang="en-IN" dirty="0"/>
          </a:p>
          <a:p>
            <a:r>
              <a:rPr lang="en-IN" i="0" dirty="0" err="1">
                <a:effectLst/>
              </a:rPr>
              <a:t>waitForCompletion</a:t>
            </a:r>
            <a:r>
              <a:rPr lang="en-IN" i="0" dirty="0">
                <a:effectLst/>
              </a:rPr>
              <a:t>()</a:t>
            </a:r>
          </a:p>
          <a:p>
            <a:r>
              <a:rPr lang="en-US" i="0" dirty="0">
                <a:effectLst/>
              </a:rPr>
              <a:t>reports the progress to the console.</a:t>
            </a:r>
            <a:endParaRPr lang="en-IN" dirty="0"/>
          </a:p>
          <a:p>
            <a:r>
              <a:rPr lang="en-IN" i="0" dirty="0">
                <a:solidFill>
                  <a:schemeClr val="bg1">
                    <a:lumMod val="85000"/>
                  </a:schemeClr>
                </a:solidFill>
                <a:effectLst/>
              </a:rPr>
              <a:t>job counters are displayed 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C6788F-8F21-44A6-87E3-16CC19526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effectLst/>
                <a:latin typeface="Bahnschrift" panose="020B0502040204020203" pitchFamily="34" charset="0"/>
              </a:rPr>
              <a:t>How to submit Job?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9849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49C1CE-2845-4124-87AD-2B785CC49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0" dirty="0">
                <a:effectLst/>
              </a:rPr>
              <a:t>use the submit()</a:t>
            </a:r>
          </a:p>
          <a:p>
            <a:r>
              <a:rPr lang="en-IN" i="0" dirty="0" err="1">
                <a:effectLst/>
              </a:rPr>
              <a:t>submitJobInternal</a:t>
            </a:r>
            <a:r>
              <a:rPr lang="en-IN" i="0" dirty="0">
                <a:effectLst/>
              </a:rPr>
              <a:t>() </a:t>
            </a:r>
            <a:endParaRPr lang="en-IN" dirty="0"/>
          </a:p>
          <a:p>
            <a:r>
              <a:rPr lang="en-IN" i="0" dirty="0" err="1">
                <a:effectLst/>
              </a:rPr>
              <a:t>waitForCompletion</a:t>
            </a:r>
            <a:r>
              <a:rPr lang="en-IN" i="0" dirty="0">
                <a:effectLst/>
              </a:rPr>
              <a:t>()</a:t>
            </a:r>
          </a:p>
          <a:p>
            <a:r>
              <a:rPr lang="en-US" i="0" dirty="0">
                <a:effectLst/>
              </a:rPr>
              <a:t>reports the progress to the console.</a:t>
            </a:r>
            <a:endParaRPr lang="en-IN" dirty="0"/>
          </a:p>
          <a:p>
            <a:r>
              <a:rPr lang="en-IN" i="0" dirty="0">
                <a:effectLst/>
              </a:rPr>
              <a:t>job counters are displayed 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C6788F-8F21-44A6-87E3-16CC19526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effectLst/>
                <a:latin typeface="Bahnschrift" panose="020B0502040204020203" pitchFamily="34" charset="0"/>
              </a:rPr>
              <a:t>How to submit Job?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350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647B9F-48FE-448C-96E7-20DCEE47C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325563"/>
            <a:ext cx="8386537" cy="5307466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sz="3600" b="0" i="0" dirty="0">
                <a:solidFill>
                  <a:srgbClr val="273239"/>
                </a:solidFill>
                <a:effectLst/>
              </a:rPr>
              <a:t>Processes implemented by </a:t>
            </a:r>
            <a:r>
              <a:rPr lang="en-US" sz="3600" i="0" dirty="0" err="1">
                <a:solidFill>
                  <a:srgbClr val="C00000"/>
                </a:solidFill>
                <a:effectLst/>
              </a:rPr>
              <a:t>JobSubmitter</a:t>
            </a:r>
            <a:r>
              <a:rPr lang="en-US" sz="3600" b="0" i="0" dirty="0">
                <a:solidFill>
                  <a:srgbClr val="273239"/>
                </a:solidFill>
                <a:effectLst/>
              </a:rPr>
              <a:t> for submitting the Job 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800" b="0" i="0" dirty="0">
                <a:solidFill>
                  <a:srgbClr val="273239"/>
                </a:solidFill>
                <a:effectLst/>
              </a:rPr>
              <a:t>The resource manager askes for a new application ID that is used for MapReduce Job ID.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</a:rPr>
              <a:t>Output specification of the job is checked. 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</a:rPr>
              <a:t>If the splits cannot be computed, it computes the input splits for the job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</a:rPr>
              <a:t>Resources needed to run the job is copied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921B5A-59F3-4237-86F7-A8CB03783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urw-din"/>
              </a:rPr>
              <a:t>Processes implemented by </a:t>
            </a:r>
            <a:r>
              <a:rPr lang="en-US" i="0" dirty="0" err="1">
                <a:solidFill>
                  <a:schemeClr val="bg1">
                    <a:lumMod val="85000"/>
                  </a:schemeClr>
                </a:solidFill>
                <a:effectLst/>
                <a:latin typeface="urw-din"/>
              </a:rPr>
              <a:t>JobSubmitter</a:t>
            </a:r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urw-din"/>
              </a:rPr>
              <a:t> for submitting the Job :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987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647B9F-48FE-448C-96E7-20DCEE47C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325563"/>
            <a:ext cx="8386537" cy="5307466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sz="4400" b="0" i="0" dirty="0">
                <a:solidFill>
                  <a:srgbClr val="273239"/>
                </a:solidFill>
                <a:effectLst/>
              </a:rPr>
              <a:t>Processes implemented by </a:t>
            </a:r>
            <a:r>
              <a:rPr lang="en-US" sz="4400" i="0" dirty="0" err="1">
                <a:solidFill>
                  <a:srgbClr val="C00000"/>
                </a:solidFill>
                <a:effectLst/>
              </a:rPr>
              <a:t>JobSubmitter</a:t>
            </a:r>
            <a:r>
              <a:rPr lang="en-US" sz="4400" b="0" i="0" dirty="0">
                <a:solidFill>
                  <a:srgbClr val="273239"/>
                </a:solidFill>
                <a:effectLst/>
              </a:rPr>
              <a:t> for submitting the Job 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4300" b="0" i="0" dirty="0">
                <a:solidFill>
                  <a:srgbClr val="273239"/>
                </a:solidFill>
                <a:effectLst/>
              </a:rPr>
              <a:t>The resource manager askes for a new application ID that is used for MapReduce Job ID.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4300" b="0" i="0" dirty="0">
                <a:solidFill>
                  <a:srgbClr val="273239"/>
                </a:solidFill>
                <a:effectLst/>
              </a:rPr>
              <a:t>Output specification of the job is checked. </a:t>
            </a:r>
            <a:endParaRPr lang="en-US" sz="4300" dirty="0">
              <a:solidFill>
                <a:srgbClr val="273239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43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If the splits cannot be computed, it computes the input splits for the job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43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Resources needed to run the job is copied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7B66458-D5D7-403C-BF1F-9EF7FF844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urw-din"/>
              </a:rPr>
              <a:t>Processes implemented by </a:t>
            </a:r>
            <a:r>
              <a:rPr lang="en-US" i="0" dirty="0" err="1">
                <a:solidFill>
                  <a:schemeClr val="bg1">
                    <a:lumMod val="85000"/>
                  </a:schemeClr>
                </a:solidFill>
                <a:effectLst/>
                <a:latin typeface="urw-din"/>
              </a:rPr>
              <a:t>JobSubmitter</a:t>
            </a:r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urw-din"/>
              </a:rPr>
              <a:t> for submitting the Job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83923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647B9F-48FE-448C-96E7-20DCEE47C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325564"/>
            <a:ext cx="8386537" cy="5307466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sz="3800" b="0" i="0" dirty="0">
                <a:solidFill>
                  <a:srgbClr val="273239"/>
                </a:solidFill>
                <a:effectLst/>
              </a:rPr>
              <a:t>Processes implemented by </a:t>
            </a:r>
            <a:r>
              <a:rPr lang="en-US" sz="3800" i="0" dirty="0" err="1">
                <a:solidFill>
                  <a:srgbClr val="C00000"/>
                </a:solidFill>
                <a:effectLst/>
              </a:rPr>
              <a:t>JobSubmitter</a:t>
            </a:r>
            <a:r>
              <a:rPr lang="en-US" sz="3800" b="0" i="0" dirty="0">
                <a:solidFill>
                  <a:srgbClr val="273239"/>
                </a:solidFill>
                <a:effectLst/>
              </a:rPr>
              <a:t> for submitting the Job 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900" b="0" i="0" dirty="0">
                <a:solidFill>
                  <a:srgbClr val="273239"/>
                </a:solidFill>
                <a:effectLst/>
              </a:rPr>
              <a:t>The resource manager askes for a new application ID that is used for MapReduce Job ID.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900" b="0" i="0" dirty="0">
                <a:solidFill>
                  <a:srgbClr val="273239"/>
                </a:solidFill>
                <a:effectLst/>
              </a:rPr>
              <a:t>Output specification of the job is checked. </a:t>
            </a:r>
            <a:endParaRPr lang="en-US" sz="3900" dirty="0">
              <a:solidFill>
                <a:srgbClr val="273239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3900" b="0" i="0" dirty="0">
                <a:solidFill>
                  <a:srgbClr val="273239"/>
                </a:solidFill>
                <a:effectLst/>
              </a:rPr>
              <a:t>If the splits cannot be computed, it computes the input splits for the job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9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Resources needed to run the job is copied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7524017-6E54-4485-8F86-A4D2B0461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urw-din"/>
              </a:rPr>
              <a:t>Processes implemented by </a:t>
            </a:r>
            <a:r>
              <a:rPr lang="en-US" i="0" dirty="0" err="1">
                <a:solidFill>
                  <a:schemeClr val="bg1">
                    <a:lumMod val="85000"/>
                  </a:schemeClr>
                </a:solidFill>
                <a:effectLst/>
                <a:latin typeface="urw-din"/>
              </a:rPr>
              <a:t>JobSubmitter</a:t>
            </a:r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urw-din"/>
              </a:rPr>
              <a:t> for submitting the Job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74162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647B9F-48FE-448C-96E7-20DCEE47C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325564"/>
            <a:ext cx="8386537" cy="5307466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900" b="0" i="0" dirty="0">
                <a:solidFill>
                  <a:srgbClr val="273239"/>
                </a:solidFill>
                <a:effectLst/>
              </a:rPr>
              <a:t>Processes implemented by </a:t>
            </a:r>
            <a:r>
              <a:rPr lang="en-US" sz="2900" i="0" dirty="0" err="1">
                <a:solidFill>
                  <a:srgbClr val="C00000"/>
                </a:solidFill>
                <a:effectLst/>
              </a:rPr>
              <a:t>JobSubmitter</a:t>
            </a:r>
            <a:r>
              <a:rPr lang="en-US" sz="2900" b="0" i="0" dirty="0">
                <a:solidFill>
                  <a:srgbClr val="273239"/>
                </a:solidFill>
                <a:effectLst/>
              </a:rPr>
              <a:t> for submitting the Job 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900" b="0" i="0" dirty="0">
                <a:solidFill>
                  <a:srgbClr val="273239"/>
                </a:solidFill>
                <a:effectLst/>
              </a:rPr>
              <a:t>The resource manager askes for a new application ID that is used for MapReduce Job ID.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900" b="0" i="0" dirty="0">
                <a:solidFill>
                  <a:srgbClr val="273239"/>
                </a:solidFill>
                <a:effectLst/>
              </a:rPr>
              <a:t>Output specification of the job is checked. </a:t>
            </a:r>
            <a:endParaRPr lang="en-US" sz="2900" dirty="0">
              <a:solidFill>
                <a:srgbClr val="273239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900" b="0" i="0" dirty="0">
                <a:solidFill>
                  <a:srgbClr val="273239"/>
                </a:solidFill>
                <a:effectLst/>
              </a:rPr>
              <a:t>If the splits cannot be computed, it computes the input splits for the job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900" b="0" i="0" dirty="0">
                <a:solidFill>
                  <a:srgbClr val="273239"/>
                </a:solidFill>
                <a:effectLst/>
              </a:rPr>
              <a:t>Resources needed to run the job is copied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75C39F-E037-4C83-A11F-D4A877F60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urw-din"/>
              </a:rPr>
              <a:t>Processes implemented by </a:t>
            </a:r>
            <a:r>
              <a:rPr lang="en-US" i="0" dirty="0" err="1">
                <a:solidFill>
                  <a:schemeClr val="bg1">
                    <a:lumMod val="85000"/>
                  </a:schemeClr>
                </a:solidFill>
                <a:effectLst/>
                <a:latin typeface="urw-din"/>
              </a:rPr>
              <a:t>JobSubmitter</a:t>
            </a:r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urw-din"/>
              </a:rPr>
              <a:t> for submitting the Job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19886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647B9F-48FE-448C-96E7-20DCEE47C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325563"/>
            <a:ext cx="8386537" cy="530746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900" b="0" i="0" dirty="0">
                <a:solidFill>
                  <a:srgbClr val="273239"/>
                </a:solidFill>
                <a:effectLst/>
              </a:rPr>
              <a:t>Processes implemented by </a:t>
            </a:r>
            <a:r>
              <a:rPr lang="en-US" sz="2900" i="0" dirty="0" err="1">
                <a:solidFill>
                  <a:srgbClr val="C00000"/>
                </a:solidFill>
                <a:effectLst/>
              </a:rPr>
              <a:t>JobSubmitter</a:t>
            </a:r>
            <a:r>
              <a:rPr lang="en-US" sz="2900" b="0" i="0" dirty="0">
                <a:solidFill>
                  <a:srgbClr val="273239"/>
                </a:solidFill>
                <a:effectLst/>
              </a:rPr>
              <a:t> for submitting the Job :</a:t>
            </a:r>
          </a:p>
          <a:p>
            <a:pPr marL="514350" indent="-514350" algn="just">
              <a:buFont typeface="+mj-lt"/>
              <a:buAutoNum type="arabicPeriod" startAt="5"/>
            </a:pPr>
            <a:r>
              <a:rPr lang="en-US" sz="2700" b="0" i="0" dirty="0">
                <a:solidFill>
                  <a:srgbClr val="273239"/>
                </a:solidFill>
                <a:effectLst/>
              </a:rPr>
              <a:t>It copies job </a:t>
            </a:r>
            <a:r>
              <a:rPr lang="en-US" sz="2700" i="0" dirty="0">
                <a:solidFill>
                  <a:srgbClr val="C00000"/>
                </a:solidFill>
                <a:effectLst/>
              </a:rPr>
              <a:t>JAR</a:t>
            </a:r>
            <a:r>
              <a:rPr lang="en-US" sz="2700" b="0" i="0" dirty="0">
                <a:solidFill>
                  <a:srgbClr val="273239"/>
                </a:solidFill>
                <a:effectLst/>
              </a:rPr>
              <a:t> with a high replication factor, which is controlled by </a:t>
            </a:r>
            <a:r>
              <a:rPr lang="en-US" sz="2700" i="0" dirty="0" err="1">
                <a:solidFill>
                  <a:srgbClr val="C00000"/>
                </a:solidFill>
                <a:effectLst/>
              </a:rPr>
              <a:t>mapreduce.client.submit.file.replication</a:t>
            </a:r>
            <a:r>
              <a:rPr lang="en-US" sz="2700" i="0" dirty="0">
                <a:solidFill>
                  <a:srgbClr val="C00000"/>
                </a:solidFill>
                <a:effectLst/>
              </a:rPr>
              <a:t> property.</a:t>
            </a:r>
          </a:p>
          <a:p>
            <a:pPr marL="514350" indent="-514350" algn="just">
              <a:buFont typeface="+mj-lt"/>
              <a:buAutoNum type="arabicPeriod" startAt="5"/>
            </a:pPr>
            <a:r>
              <a:rPr lang="en-US" sz="27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By calling </a:t>
            </a:r>
            <a:r>
              <a:rPr lang="en-US" sz="2700" b="1" i="0" dirty="0" err="1">
                <a:solidFill>
                  <a:schemeClr val="bg1">
                    <a:lumMod val="85000"/>
                  </a:schemeClr>
                </a:solidFill>
                <a:effectLst/>
              </a:rPr>
              <a:t>submitApplication</a:t>
            </a:r>
            <a:r>
              <a:rPr lang="en-US" sz="2700" b="1" i="0" dirty="0">
                <a:solidFill>
                  <a:schemeClr val="bg1">
                    <a:lumMod val="85000"/>
                  </a:schemeClr>
                </a:solidFill>
                <a:effectLst/>
              </a:rPr>
              <a:t>()</a:t>
            </a:r>
            <a:r>
              <a:rPr lang="en-US" sz="2700" b="0" i="0" dirty="0">
                <a:solidFill>
                  <a:schemeClr val="bg1">
                    <a:lumMod val="85000"/>
                  </a:schemeClr>
                </a:solidFill>
                <a:effectLst/>
              </a:rPr>
              <a:t>, submits the job on the resource manager.</a:t>
            </a:r>
          </a:p>
          <a:p>
            <a:pPr marL="0" indent="0" algn="just">
              <a:buNone/>
            </a:pPr>
            <a:endParaRPr lang="en-IN" sz="24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44E01D9-AABA-454D-939E-648835FC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urw-din"/>
              </a:rPr>
              <a:t>Processes implemented by </a:t>
            </a:r>
            <a:r>
              <a:rPr lang="en-US" i="0" dirty="0" err="1">
                <a:solidFill>
                  <a:schemeClr val="bg1">
                    <a:lumMod val="85000"/>
                  </a:schemeClr>
                </a:solidFill>
                <a:effectLst/>
                <a:latin typeface="urw-din"/>
              </a:rPr>
              <a:t>JobSubmitter</a:t>
            </a:r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urw-din"/>
              </a:rPr>
              <a:t> for submitting the Job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51492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647B9F-48FE-448C-96E7-20DCEE47C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325563"/>
            <a:ext cx="8386537" cy="530746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900" b="0" i="0" dirty="0">
                <a:solidFill>
                  <a:srgbClr val="273239"/>
                </a:solidFill>
                <a:effectLst/>
              </a:rPr>
              <a:t>Processes implemented by </a:t>
            </a:r>
            <a:r>
              <a:rPr lang="en-US" sz="2900" i="0" dirty="0" err="1">
                <a:solidFill>
                  <a:srgbClr val="C00000"/>
                </a:solidFill>
                <a:effectLst/>
              </a:rPr>
              <a:t>JobSubmitter</a:t>
            </a:r>
            <a:r>
              <a:rPr lang="en-US" sz="2900" b="0" i="0" dirty="0">
                <a:solidFill>
                  <a:srgbClr val="273239"/>
                </a:solidFill>
                <a:effectLst/>
              </a:rPr>
              <a:t> for submitting the Job :</a:t>
            </a:r>
          </a:p>
          <a:p>
            <a:pPr marL="514350" indent="-514350" algn="just">
              <a:buFont typeface="+mj-lt"/>
              <a:buAutoNum type="arabicPeriod" startAt="5"/>
            </a:pPr>
            <a:r>
              <a:rPr lang="en-US" sz="2700" b="0" i="0" dirty="0">
                <a:solidFill>
                  <a:srgbClr val="273239"/>
                </a:solidFill>
                <a:effectLst/>
              </a:rPr>
              <a:t>It copies job </a:t>
            </a:r>
            <a:r>
              <a:rPr lang="en-US" sz="2700" i="0" dirty="0">
                <a:solidFill>
                  <a:srgbClr val="C00000"/>
                </a:solidFill>
                <a:effectLst/>
              </a:rPr>
              <a:t>JAR</a:t>
            </a:r>
            <a:r>
              <a:rPr lang="en-US" sz="2700" b="0" i="0" dirty="0">
                <a:solidFill>
                  <a:srgbClr val="273239"/>
                </a:solidFill>
                <a:effectLst/>
              </a:rPr>
              <a:t> with a high replication factor, which is controlled by </a:t>
            </a:r>
            <a:r>
              <a:rPr lang="en-US" sz="2700" i="0" dirty="0" err="1">
                <a:solidFill>
                  <a:srgbClr val="C00000"/>
                </a:solidFill>
                <a:effectLst/>
              </a:rPr>
              <a:t>mapreduce.client.submit.file.replication</a:t>
            </a:r>
            <a:r>
              <a:rPr lang="en-US" sz="2700" i="0" dirty="0">
                <a:solidFill>
                  <a:srgbClr val="C00000"/>
                </a:solidFill>
                <a:effectLst/>
              </a:rPr>
              <a:t> property.</a:t>
            </a:r>
          </a:p>
          <a:p>
            <a:pPr marL="514350" indent="-514350" algn="just">
              <a:buFont typeface="+mj-lt"/>
              <a:buAutoNum type="arabicPeriod" startAt="5"/>
            </a:pPr>
            <a:r>
              <a:rPr lang="en-US" sz="2700" b="0" i="0" dirty="0">
                <a:solidFill>
                  <a:srgbClr val="273239"/>
                </a:solidFill>
                <a:effectLst/>
              </a:rPr>
              <a:t>By calling </a:t>
            </a:r>
            <a:r>
              <a:rPr lang="en-US" sz="2700" i="0" dirty="0" err="1">
                <a:solidFill>
                  <a:srgbClr val="C00000"/>
                </a:solidFill>
                <a:effectLst/>
              </a:rPr>
              <a:t>submitApplication</a:t>
            </a:r>
            <a:r>
              <a:rPr lang="en-US" sz="2700" i="0" dirty="0">
                <a:solidFill>
                  <a:srgbClr val="C00000"/>
                </a:solidFill>
                <a:effectLst/>
              </a:rPr>
              <a:t>(), </a:t>
            </a:r>
            <a:r>
              <a:rPr lang="en-US" sz="2700" b="0" i="0" dirty="0">
                <a:solidFill>
                  <a:srgbClr val="273239"/>
                </a:solidFill>
                <a:effectLst/>
              </a:rPr>
              <a:t>submits the job on the resource manager.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6174C1-B1D8-43C9-8B40-5A65E2E61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urw-din"/>
              </a:rPr>
              <a:t>Processes implemented by </a:t>
            </a:r>
            <a:r>
              <a:rPr lang="en-US" i="0" dirty="0" err="1">
                <a:solidFill>
                  <a:schemeClr val="bg1">
                    <a:lumMod val="85000"/>
                  </a:schemeClr>
                </a:solidFill>
                <a:effectLst/>
                <a:latin typeface="urw-din"/>
              </a:rPr>
              <a:t>JobSubmitter</a:t>
            </a:r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urw-din"/>
              </a:rPr>
              <a:t> for submitting the Job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15549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1182</TotalTime>
  <Words>1228</Words>
  <Application>Microsoft Office PowerPoint</Application>
  <PresentationFormat>On-screen Show (4:3)</PresentationFormat>
  <Paragraphs>163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Bahnschrift</vt:lpstr>
      <vt:lpstr>Bahnschrift SemiBold</vt:lpstr>
      <vt:lpstr>Calibri</vt:lpstr>
      <vt:lpstr>Calibri Light</vt:lpstr>
      <vt:lpstr>urw-din</vt:lpstr>
      <vt:lpstr>Office Theme</vt:lpstr>
      <vt:lpstr>PowerPoint Presentation</vt:lpstr>
      <vt:lpstr>PowerPoint Presentation</vt:lpstr>
      <vt:lpstr>Introduction</vt:lpstr>
      <vt:lpstr>Introduction</vt:lpstr>
      <vt:lpstr>Introduction</vt:lpstr>
      <vt:lpstr>Introduction</vt:lpstr>
      <vt:lpstr>Introduction</vt:lpstr>
      <vt:lpstr>What happened behind the scene?</vt:lpstr>
      <vt:lpstr>What happened behind the scene?</vt:lpstr>
      <vt:lpstr>What happened behind the scene?</vt:lpstr>
      <vt:lpstr>What happened behind the scene?</vt:lpstr>
      <vt:lpstr>What happened behind the scene?</vt:lpstr>
      <vt:lpstr>What happened behind the scene?</vt:lpstr>
      <vt:lpstr>What happened behind the scene?</vt:lpstr>
      <vt:lpstr>What happened behind the scene?</vt:lpstr>
      <vt:lpstr>Classic MapReduce - Overview</vt:lpstr>
      <vt:lpstr>Classic MapReduce - Overview</vt:lpstr>
      <vt:lpstr>Classic MapReduce - Overview</vt:lpstr>
      <vt:lpstr>Classic MapReduce - Overview</vt:lpstr>
      <vt:lpstr>Classic MapReduce - Overview</vt:lpstr>
      <vt:lpstr>Classic MapReduce - Overview</vt:lpstr>
      <vt:lpstr>Classic MapReduce - Overview</vt:lpstr>
      <vt:lpstr>Classic MapReduce - Overview</vt:lpstr>
      <vt:lpstr>PowerPoint Presentation</vt:lpstr>
      <vt:lpstr>Components of MapReduce</vt:lpstr>
      <vt:lpstr>Components of MapReduce</vt:lpstr>
      <vt:lpstr>How to submit Job?</vt:lpstr>
      <vt:lpstr>How to submit Job?</vt:lpstr>
      <vt:lpstr>How to submit Job?</vt:lpstr>
      <vt:lpstr>How to submit Job?</vt:lpstr>
      <vt:lpstr>How to submit Job?</vt:lpstr>
      <vt:lpstr>Processes implemented by JobSubmitter for submitting the Job :</vt:lpstr>
      <vt:lpstr>Processes implemented by JobSubmitter for submitting the Job :</vt:lpstr>
      <vt:lpstr>Processes implemented by JobSubmitter for submitting the Job :</vt:lpstr>
      <vt:lpstr>Processes implemented by JobSubmitter for submitting the Job :</vt:lpstr>
      <vt:lpstr>Processes implemented by JobSubmitter for submitting the Job :</vt:lpstr>
      <vt:lpstr>Processes implemented by JobSubmitter for submitting the Job 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86</cp:revision>
  <dcterms:created xsi:type="dcterms:W3CDTF">2021-05-13T17:45:44Z</dcterms:created>
  <dcterms:modified xsi:type="dcterms:W3CDTF">2021-09-04T07:12:46Z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663113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