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binary" PartName="/ppt/metadata"/>
  <Default ContentType="image/jpeg" Extension="jpeg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app.xml" Type="http://schemas.openxmlformats.org/officeDocument/2006/relationships/extended-properties"/><Relationship Id="rId2" Target="docProps/core.xml" Type="http://schemas.openxmlformats.org/package/2006/relationships/metadata/core-properties"/><Relationship Id="rId1" Target="ppt/presentation.xml" Type="http://schemas.openxmlformats.org/officeDocument/2006/relationships/officeDocument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70" r:id="rId16"/>
    <p:sldId id="298" r:id="rId17"/>
    <p:sldId id="299" r:id="rId18"/>
    <p:sldId id="272" r:id="rId19"/>
    <p:sldId id="300" r:id="rId20"/>
    <p:sldId id="301" r:id="rId21"/>
    <p:sldId id="302" r:id="rId22"/>
    <p:sldId id="276" r:id="rId23"/>
    <p:sldId id="277" r:id="rId24"/>
    <p:sldId id="303" r:id="rId25"/>
    <p:sldId id="304" r:id="rId26"/>
    <p:sldId id="305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gavHdKsJ8+9QDzrtbVv8TGv6Qp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B9637B-C933-47B9-9068-1F2D9C3954CE}">
  <a:tblStyle styleId="{93B9637B-C933-47B9-9068-1F2D9C3954C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38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96816-33C6-421E-B1D3-BE54F6FF0B57}" type="doc">
      <dgm:prSet loTypeId="urn:microsoft.com/office/officeart/2005/8/layout/hProcess9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7B1A19A-9B64-4AF7-886B-C00A07B5A771}">
      <dgm:prSet custT="1"/>
      <dgm:spPr>
        <a:solidFill>
          <a:srgbClr val="44525A"/>
        </a:solidFill>
      </dgm:spPr>
      <dgm:t>
        <a:bodyPr/>
        <a:lstStyle/>
        <a:p>
          <a:r>
            <a:rPr lang="en-IN" sz="2200" b="0" i="0">
              <a:latin typeface="Bahnschrift" panose="020B0502040204020203" pitchFamily="34" charset="0"/>
            </a:rPr>
            <a:t>For Maptasks, the percentage is simple to calculate.</a:t>
          </a:r>
          <a:endParaRPr lang="en-IN" sz="2200">
            <a:latin typeface="Bahnschrift" panose="020B0502040204020203" pitchFamily="34" charset="0"/>
          </a:endParaRPr>
        </a:p>
      </dgm:t>
    </dgm:pt>
    <dgm:pt modelId="{B6CD97C8-2AB5-46E9-8A27-1DDD389E28BB}" type="parTrans" cxnId="{8CB13F00-295E-49EE-A952-F819795294E2}">
      <dgm:prSet/>
      <dgm:spPr/>
      <dgm:t>
        <a:bodyPr/>
        <a:lstStyle/>
        <a:p>
          <a:endParaRPr lang="en-IN"/>
        </a:p>
      </dgm:t>
    </dgm:pt>
    <dgm:pt modelId="{C6EE8CA6-E6EC-4B50-B7CB-F8CEC7F8AB68}" type="sibTrans" cxnId="{8CB13F00-295E-49EE-A952-F819795294E2}">
      <dgm:prSet/>
      <dgm:spPr/>
      <dgm:t>
        <a:bodyPr/>
        <a:lstStyle/>
        <a:p>
          <a:endParaRPr lang="en-IN"/>
        </a:p>
      </dgm:t>
    </dgm:pt>
    <dgm:pt modelId="{6F25D6D4-A667-49FC-B4B3-1BDB31292826}">
      <dgm:prSet custT="1"/>
      <dgm:spPr>
        <a:solidFill>
          <a:srgbClr val="44525A"/>
        </a:solidFill>
      </dgm:spPr>
      <dgm:t>
        <a:bodyPr/>
        <a:lstStyle/>
        <a:p>
          <a:r>
            <a:rPr lang="en-IN" sz="2200" b="0" i="0">
              <a:latin typeface="Bahnschrift" panose="020B0502040204020203" pitchFamily="34" charset="0"/>
            </a:rPr>
            <a:t>As input split size and the amount of data processed is known at any given time.</a:t>
          </a:r>
          <a:endParaRPr lang="en-IN" sz="2200">
            <a:latin typeface="Bahnschrift" panose="020B0502040204020203" pitchFamily="34" charset="0"/>
          </a:endParaRPr>
        </a:p>
      </dgm:t>
    </dgm:pt>
    <dgm:pt modelId="{BBC75D6A-6C7B-4254-8BF2-78B6D30E0669}" type="parTrans" cxnId="{C9F8781F-F9A6-4BF3-9D3E-E944B1E42197}">
      <dgm:prSet/>
      <dgm:spPr/>
      <dgm:t>
        <a:bodyPr/>
        <a:lstStyle/>
        <a:p>
          <a:endParaRPr lang="en-IN"/>
        </a:p>
      </dgm:t>
    </dgm:pt>
    <dgm:pt modelId="{07D6F04A-7391-461F-98D5-4C23FD5F1ADB}" type="sibTrans" cxnId="{C9F8781F-F9A6-4BF3-9D3E-E944B1E42197}">
      <dgm:prSet/>
      <dgm:spPr/>
      <dgm:t>
        <a:bodyPr/>
        <a:lstStyle/>
        <a:p>
          <a:endParaRPr lang="en-IN"/>
        </a:p>
      </dgm:t>
    </dgm:pt>
    <dgm:pt modelId="{7BAB9BD5-8E0B-41BF-B7F2-8FA70EC541C4}">
      <dgm:prSet custT="1"/>
      <dgm:spPr>
        <a:solidFill>
          <a:srgbClr val="44525A"/>
        </a:solidFill>
      </dgm:spPr>
      <dgm:t>
        <a:bodyPr/>
        <a:lstStyle/>
        <a:p>
          <a:r>
            <a:rPr lang="en-IN" sz="2200" b="0" i="0">
              <a:latin typeface="Bahnschrift" panose="020B0502040204020203" pitchFamily="34" charset="0"/>
            </a:rPr>
            <a:t>For reduce, it’s a little tricky.</a:t>
          </a:r>
          <a:endParaRPr lang="en-IN" sz="2200">
            <a:latin typeface="Bahnschrift" panose="020B0502040204020203" pitchFamily="34" charset="0"/>
          </a:endParaRPr>
        </a:p>
      </dgm:t>
    </dgm:pt>
    <dgm:pt modelId="{00678A22-2DE4-48A7-A450-85772A632BF5}" type="parTrans" cxnId="{B8DAEFFF-14F0-4B6C-B07F-ADF40704CBE3}">
      <dgm:prSet/>
      <dgm:spPr/>
      <dgm:t>
        <a:bodyPr/>
        <a:lstStyle/>
        <a:p>
          <a:endParaRPr lang="en-IN"/>
        </a:p>
      </dgm:t>
    </dgm:pt>
    <dgm:pt modelId="{F7E57D10-888D-484B-85AC-4C9B265D6CF6}" type="sibTrans" cxnId="{B8DAEFFF-14F0-4B6C-B07F-ADF40704CBE3}">
      <dgm:prSet/>
      <dgm:spPr/>
      <dgm:t>
        <a:bodyPr/>
        <a:lstStyle/>
        <a:p>
          <a:endParaRPr lang="en-IN"/>
        </a:p>
      </dgm:t>
    </dgm:pt>
    <dgm:pt modelId="{81124757-1088-45C7-A98C-1DEB17080E49}" type="pres">
      <dgm:prSet presAssocID="{2E096816-33C6-421E-B1D3-BE54F6FF0B57}" presName="CompostProcess" presStyleCnt="0">
        <dgm:presLayoutVars>
          <dgm:dir/>
          <dgm:resizeHandles val="exact"/>
        </dgm:presLayoutVars>
      </dgm:prSet>
      <dgm:spPr/>
    </dgm:pt>
    <dgm:pt modelId="{3728FFA7-E8DE-47E5-92CD-D140CB4EE407}" type="pres">
      <dgm:prSet presAssocID="{2E096816-33C6-421E-B1D3-BE54F6FF0B57}" presName="arrow" presStyleLbl="bgShp" presStyleIdx="0" presStyleCn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</dgm:pt>
    <dgm:pt modelId="{882E6435-4D5A-4DCC-AB57-10CA02D3A304}" type="pres">
      <dgm:prSet presAssocID="{2E096816-33C6-421E-B1D3-BE54F6FF0B57}" presName="linearProcess" presStyleCnt="0"/>
      <dgm:spPr/>
    </dgm:pt>
    <dgm:pt modelId="{99F0E5D0-1C10-4311-B6D2-EE6B0A23F089}" type="pres">
      <dgm:prSet presAssocID="{B7B1A19A-9B64-4AF7-886B-C00A07B5A771}" presName="textNode" presStyleLbl="node1" presStyleIdx="0" presStyleCnt="3">
        <dgm:presLayoutVars>
          <dgm:bulletEnabled val="1"/>
        </dgm:presLayoutVars>
      </dgm:prSet>
      <dgm:spPr/>
    </dgm:pt>
    <dgm:pt modelId="{FE7F8CE7-5016-4473-86F4-8E528532CB65}" type="pres">
      <dgm:prSet presAssocID="{C6EE8CA6-E6EC-4B50-B7CB-F8CEC7F8AB68}" presName="sibTrans" presStyleCnt="0"/>
      <dgm:spPr/>
    </dgm:pt>
    <dgm:pt modelId="{298B907C-7B9B-4224-9939-9FCCF2BA77AA}" type="pres">
      <dgm:prSet presAssocID="{6F25D6D4-A667-49FC-B4B3-1BDB31292826}" presName="textNode" presStyleLbl="node1" presStyleIdx="1" presStyleCnt="3">
        <dgm:presLayoutVars>
          <dgm:bulletEnabled val="1"/>
        </dgm:presLayoutVars>
      </dgm:prSet>
      <dgm:spPr/>
    </dgm:pt>
    <dgm:pt modelId="{AD9BEC6E-72B5-4DD1-B69B-A65223DE2820}" type="pres">
      <dgm:prSet presAssocID="{07D6F04A-7391-461F-98D5-4C23FD5F1ADB}" presName="sibTrans" presStyleCnt="0"/>
      <dgm:spPr/>
    </dgm:pt>
    <dgm:pt modelId="{838FCE60-3228-4246-BC7B-31F879152E73}" type="pres">
      <dgm:prSet presAssocID="{7BAB9BD5-8E0B-41BF-B7F2-8FA70EC541C4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8CB13F00-295E-49EE-A952-F819795294E2}" srcId="{2E096816-33C6-421E-B1D3-BE54F6FF0B57}" destId="{B7B1A19A-9B64-4AF7-886B-C00A07B5A771}" srcOrd="0" destOrd="0" parTransId="{B6CD97C8-2AB5-46E9-8A27-1DDD389E28BB}" sibTransId="{C6EE8CA6-E6EC-4B50-B7CB-F8CEC7F8AB68}"/>
    <dgm:cxn modelId="{15EE310D-04E5-4B76-8895-6407BF6328DA}" type="presOf" srcId="{2E096816-33C6-421E-B1D3-BE54F6FF0B57}" destId="{81124757-1088-45C7-A98C-1DEB17080E49}" srcOrd="0" destOrd="0" presId="urn:microsoft.com/office/officeart/2005/8/layout/hProcess9"/>
    <dgm:cxn modelId="{C9F8781F-F9A6-4BF3-9D3E-E944B1E42197}" srcId="{2E096816-33C6-421E-B1D3-BE54F6FF0B57}" destId="{6F25D6D4-A667-49FC-B4B3-1BDB31292826}" srcOrd="1" destOrd="0" parTransId="{BBC75D6A-6C7B-4254-8BF2-78B6D30E0669}" sibTransId="{07D6F04A-7391-461F-98D5-4C23FD5F1ADB}"/>
    <dgm:cxn modelId="{599E8D3C-4171-4866-B2A7-8338107B7E8D}" type="presOf" srcId="{6F25D6D4-A667-49FC-B4B3-1BDB31292826}" destId="{298B907C-7B9B-4224-9939-9FCCF2BA77AA}" srcOrd="0" destOrd="0" presId="urn:microsoft.com/office/officeart/2005/8/layout/hProcess9"/>
    <dgm:cxn modelId="{F9FE277E-355A-449A-B54A-4AE7CFDDCC57}" type="presOf" srcId="{B7B1A19A-9B64-4AF7-886B-C00A07B5A771}" destId="{99F0E5D0-1C10-4311-B6D2-EE6B0A23F089}" srcOrd="0" destOrd="0" presId="urn:microsoft.com/office/officeart/2005/8/layout/hProcess9"/>
    <dgm:cxn modelId="{0D3AF88A-D967-413D-8165-C0983A9FB67F}" type="presOf" srcId="{7BAB9BD5-8E0B-41BF-B7F2-8FA70EC541C4}" destId="{838FCE60-3228-4246-BC7B-31F879152E73}" srcOrd="0" destOrd="0" presId="urn:microsoft.com/office/officeart/2005/8/layout/hProcess9"/>
    <dgm:cxn modelId="{B8DAEFFF-14F0-4B6C-B07F-ADF40704CBE3}" srcId="{2E096816-33C6-421E-B1D3-BE54F6FF0B57}" destId="{7BAB9BD5-8E0B-41BF-B7F2-8FA70EC541C4}" srcOrd="2" destOrd="0" parTransId="{00678A22-2DE4-48A7-A450-85772A632BF5}" sibTransId="{F7E57D10-888D-484B-85AC-4C9B265D6CF6}"/>
    <dgm:cxn modelId="{613B8351-CF94-43F0-886E-E2AF6ED19840}" type="presParOf" srcId="{81124757-1088-45C7-A98C-1DEB17080E49}" destId="{3728FFA7-E8DE-47E5-92CD-D140CB4EE407}" srcOrd="0" destOrd="0" presId="urn:microsoft.com/office/officeart/2005/8/layout/hProcess9"/>
    <dgm:cxn modelId="{8FE2BC07-7072-4736-96AE-48E5E347F9A0}" type="presParOf" srcId="{81124757-1088-45C7-A98C-1DEB17080E49}" destId="{882E6435-4D5A-4DCC-AB57-10CA02D3A304}" srcOrd="1" destOrd="0" presId="urn:microsoft.com/office/officeart/2005/8/layout/hProcess9"/>
    <dgm:cxn modelId="{10B74C30-15CA-4E75-AA22-5D4EDED5E4D9}" type="presParOf" srcId="{882E6435-4D5A-4DCC-AB57-10CA02D3A304}" destId="{99F0E5D0-1C10-4311-B6D2-EE6B0A23F089}" srcOrd="0" destOrd="0" presId="urn:microsoft.com/office/officeart/2005/8/layout/hProcess9"/>
    <dgm:cxn modelId="{479CEC0A-F745-4C64-B7B2-6DCBE9314D51}" type="presParOf" srcId="{882E6435-4D5A-4DCC-AB57-10CA02D3A304}" destId="{FE7F8CE7-5016-4473-86F4-8E528532CB65}" srcOrd="1" destOrd="0" presId="urn:microsoft.com/office/officeart/2005/8/layout/hProcess9"/>
    <dgm:cxn modelId="{0A4F250D-0AE1-4EF8-80BD-CDBA409AD8F8}" type="presParOf" srcId="{882E6435-4D5A-4DCC-AB57-10CA02D3A304}" destId="{298B907C-7B9B-4224-9939-9FCCF2BA77AA}" srcOrd="2" destOrd="0" presId="urn:microsoft.com/office/officeart/2005/8/layout/hProcess9"/>
    <dgm:cxn modelId="{300BE97C-547A-4D9F-8263-B2220019E94D}" type="presParOf" srcId="{882E6435-4D5A-4DCC-AB57-10CA02D3A304}" destId="{AD9BEC6E-72B5-4DD1-B69B-A65223DE2820}" srcOrd="3" destOrd="0" presId="urn:microsoft.com/office/officeart/2005/8/layout/hProcess9"/>
    <dgm:cxn modelId="{1C193346-E2E6-43B7-9F27-7B01150029C1}" type="presParOf" srcId="{882E6435-4D5A-4DCC-AB57-10CA02D3A304}" destId="{838FCE60-3228-4246-BC7B-31F879152E73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8FFA7-E8DE-47E5-92CD-D140CB4EE407}">
      <dsp:nvSpPr>
        <dsp:cNvPr id="0" name=""/>
        <dsp:cNvSpPr/>
      </dsp:nvSpPr>
      <dsp:spPr>
        <a:xfrm>
          <a:off x="628990" y="0"/>
          <a:ext cx="7128556" cy="5004884"/>
        </a:xfrm>
        <a:prstGeom prst="rightArrow">
          <a:avLst/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</dsp:sp>
    <dsp:sp modelId="{99F0E5D0-1C10-4311-B6D2-EE6B0A23F089}">
      <dsp:nvSpPr>
        <dsp:cNvPr id="0" name=""/>
        <dsp:cNvSpPr/>
      </dsp:nvSpPr>
      <dsp:spPr>
        <a:xfrm>
          <a:off x="4094" y="1501465"/>
          <a:ext cx="2530703" cy="2001953"/>
        </a:xfrm>
        <a:prstGeom prst="roundRect">
          <a:avLst/>
        </a:prstGeom>
        <a:solidFill>
          <a:srgbClr val="44525A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>
              <a:latin typeface="Bahnschrift" panose="020B0502040204020203" pitchFamily="34" charset="0"/>
            </a:rPr>
            <a:t>For Maptasks, the percentage is simple to calculate.</a:t>
          </a:r>
          <a:endParaRPr lang="en-IN" sz="2200" kern="1200">
            <a:latin typeface="Bahnschrift" panose="020B0502040204020203" pitchFamily="34" charset="0"/>
          </a:endParaRPr>
        </a:p>
      </dsp:txBody>
      <dsp:txXfrm>
        <a:off x="101821" y="1599192"/>
        <a:ext cx="2335249" cy="1806499"/>
      </dsp:txXfrm>
    </dsp:sp>
    <dsp:sp modelId="{298B907C-7B9B-4224-9939-9FCCF2BA77AA}">
      <dsp:nvSpPr>
        <dsp:cNvPr id="0" name=""/>
        <dsp:cNvSpPr/>
      </dsp:nvSpPr>
      <dsp:spPr>
        <a:xfrm>
          <a:off x="2927916" y="1501465"/>
          <a:ext cx="2530703" cy="2001953"/>
        </a:xfrm>
        <a:prstGeom prst="roundRect">
          <a:avLst/>
        </a:prstGeom>
        <a:solidFill>
          <a:srgbClr val="44525A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>
              <a:latin typeface="Bahnschrift" panose="020B0502040204020203" pitchFamily="34" charset="0"/>
            </a:rPr>
            <a:t>As input split size and the amount of data processed is known at any given time.</a:t>
          </a:r>
          <a:endParaRPr lang="en-IN" sz="2200" kern="1200">
            <a:latin typeface="Bahnschrift" panose="020B0502040204020203" pitchFamily="34" charset="0"/>
          </a:endParaRPr>
        </a:p>
      </dsp:txBody>
      <dsp:txXfrm>
        <a:off x="3025643" y="1599192"/>
        <a:ext cx="2335249" cy="1806499"/>
      </dsp:txXfrm>
    </dsp:sp>
    <dsp:sp modelId="{838FCE60-3228-4246-BC7B-31F879152E73}">
      <dsp:nvSpPr>
        <dsp:cNvPr id="0" name=""/>
        <dsp:cNvSpPr/>
      </dsp:nvSpPr>
      <dsp:spPr>
        <a:xfrm>
          <a:off x="5851738" y="1501465"/>
          <a:ext cx="2530703" cy="2001953"/>
        </a:xfrm>
        <a:prstGeom prst="roundRect">
          <a:avLst/>
        </a:prstGeom>
        <a:solidFill>
          <a:srgbClr val="44525A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0" i="0" kern="1200">
              <a:latin typeface="Bahnschrift" panose="020B0502040204020203" pitchFamily="34" charset="0"/>
            </a:rPr>
            <a:t>For reduce, it’s a little tricky.</a:t>
          </a:r>
          <a:endParaRPr lang="en-IN" sz="2200" kern="1200">
            <a:latin typeface="Bahnschrift" panose="020B0502040204020203" pitchFamily="34" charset="0"/>
          </a:endParaRPr>
        </a:p>
      </dsp:txBody>
      <dsp:txXfrm>
        <a:off x="5949465" y="1599192"/>
        <a:ext cx="2335249" cy="1806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B92AF2-44E1-4DA5-A806-2190FD2533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8896-7364-4F72-B415-0841173084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086E3-6BE0-4FFB-8C2A-AB2AFA50E04D}" type="datetimeFigureOut">
              <a:rPr lang="en-IN" smtClean="0"/>
              <a:t>31-08-2021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CF6DB-F0C4-46F9-85C8-49E76D3BA1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1123C-DB99-4A1B-8106-8C0CC5AF1B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7EE35-299D-48EE-9F85-56BA7B43F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143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1625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3230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9135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3021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4814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2860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702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360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1603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2411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5219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10600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02021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20284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6183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78462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6826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4512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matchingName="1_Title Slide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/>
          <p:nvPr/>
        </p:nvSpPr>
        <p:spPr>
          <a:xfrm>
            <a:off x="51361" y="222575"/>
            <a:ext cx="5074821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 cap="flat" cmpd="sng" w="12700">
            <a:solidFill>
              <a:srgbClr val="44525A"/>
            </a:solidFill>
            <a:prstDash val="solid"/>
            <a:miter lim="800000"/>
            <a:headEnd len="sm" type="none" w="sm"/>
            <a:tailEnd len="sm" type="none" w="sm"/>
          </a:ln>
          <a:effectLst>
            <a:outerShdw algn="ctr" blurRad="63500" rotWithShape="0" sx="102000" sy="102000">
              <a:srgbClr val="000000">
                <a:alpha val="40000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small" dirty="0" i="0" lang="en-IN" strike="noStrike" sz="3200" u="none">
                <a:solidFill>
                  <a:schemeClr val="lt1"/>
                </a:solidFill>
                <a:latin charset="0" panose="020B0502040204020203" pitchFamily="34" typeface="Bahnschrift"/>
                <a:ea typeface="Arial"/>
                <a:cs typeface="Arial"/>
                <a:sym typeface="Arial"/>
              </a:rPr>
              <a:t>Introduction to Big Data</a:t>
            </a:r>
            <a:endParaRPr dirty="0">
              <a:latin charset="0" panose="020B0502040204020203" pitchFamily="34" typeface="Bahnschrift"/>
            </a:endParaRPr>
          </a:p>
        </p:txBody>
      </p:sp>
      <p:pic>
        <p:nvPicPr>
          <p:cNvPr id="13" name="Google Shape;13;p34"/>
          <p:cNvPicPr preferRelativeResize="0"/>
          <p:nvPr/>
        </p:nvPicPr>
        <p:blipFill rotWithShape="1">
          <a:blip r:embed="rId2">
            <a:alphaModFix/>
          </a:blip>
          <a:srcRect b="-58" r="80"/>
          <a:stretch/>
        </p:blipFill>
        <p:spPr>
          <a:xfrm>
            <a:off x="-9948" y="3838"/>
            <a:ext cx="9153948" cy="6850324"/>
          </a:xfrm>
          <a:custGeom>
            <a:avLst/>
            <a:gdLst/>
            <a:ahLst/>
            <a:cxnLst/>
            <a:rect b="b" l="l" r="r" t="t"/>
            <a:pathLst>
              <a:path extrusionOk="0"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4" name="Google Shape;14;p34"/>
          <p:cNvSpPr/>
          <p:nvPr/>
        </p:nvSpPr>
        <p:spPr>
          <a:xfrm>
            <a:off x="-9948" y="3838"/>
            <a:ext cx="9153948" cy="6850324"/>
          </a:xfrm>
          <a:custGeom>
            <a:avLst/>
            <a:gdLst/>
            <a:ahLst/>
            <a:cxnLst/>
            <a:rect b="b" l="l" r="r" t="t"/>
            <a:pathLst>
              <a:path extrusionOk="0"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rgbClr val="7F7F7F">
              <a:alpha val="49803"/>
            </a:srgbClr>
          </a:solidFill>
          <a:ln>
            <a:noFill/>
          </a:ln>
          <a:effectLst>
            <a:outerShdw algn="ctr" blurRad="63500" rotWithShape="0" sx="102000" sy="102000">
              <a:srgbClr val="000000">
                <a:alpha val="60000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i="0" strike="noStrike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4"/>
          <p:cNvSpPr/>
          <p:nvPr/>
        </p:nvSpPr>
        <p:spPr>
          <a:xfrm>
            <a:off x="-133350" y="-751246"/>
            <a:ext cx="11106409" cy="4858109"/>
          </a:xfrm>
          <a:custGeom>
            <a:avLst/>
            <a:gdLst/>
            <a:ahLst/>
            <a:cxnLst/>
            <a:rect b="b" l="l" r="r" t="t"/>
            <a:pathLst>
              <a:path extrusionOk="0"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srgbClr val="000000">
                <a:alpha val="60000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i="0" strike="noStrike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4"/>
          <p:cNvSpPr/>
          <p:nvPr/>
        </p:nvSpPr>
        <p:spPr>
          <a:xfrm rot="10800000">
            <a:off x="99294" y="4154791"/>
            <a:ext cx="11106409" cy="4102154"/>
          </a:xfrm>
          <a:custGeom>
            <a:avLst/>
            <a:gdLst/>
            <a:ahLst/>
            <a:cxnLst/>
            <a:rect b="b" l="l" r="r" t="t"/>
            <a:pathLst>
              <a:path extrusionOk="0"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srgbClr val="000000">
                <a:alpha val="60000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i="0" strike="noStrike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4"/>
          <p:cNvSpPr/>
          <p:nvPr/>
        </p:nvSpPr>
        <p:spPr>
          <a:xfrm>
            <a:off x="51361" y="1070314"/>
            <a:ext cx="2511730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3921"/>
            </a:srgbClr>
          </a:solidFill>
          <a:ln cap="flat" cmpd="sng" w="12700">
            <a:solidFill>
              <a:srgbClr val="44525A"/>
            </a:solidFill>
            <a:prstDash val="solid"/>
            <a:miter lim="800000"/>
            <a:headEnd len="sm" type="none" w="sm"/>
            <a:tailEnd len="sm" type="none" w="sm"/>
          </a:ln>
          <a:effectLst>
            <a:outerShdw algn="ctr" blurRad="63500" rotWithShape="0" sx="102000" sy="102000">
              <a:srgbClr val="000000">
                <a:alpha val="40000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small" dirty="0" i="0" lang="en-IN" strike="noStrike" sz="4000" u="none">
                <a:solidFill>
                  <a:srgbClr val="44525A"/>
                </a:solidFill>
                <a:latin charset="0" panose="020B0502040204020203" pitchFamily="34" typeface="Bahnschrift"/>
                <a:ea typeface="Arial"/>
                <a:cs typeface="Arial"/>
                <a:sym typeface="Arial"/>
              </a:rPr>
              <a:t>ECAP456</a:t>
            </a:r>
            <a:endParaRPr dirty="0">
              <a:latin charset="0" panose="020B0502040204020203" pitchFamily="34" typeface="Bahnschrift"/>
            </a:endParaRPr>
          </a:p>
        </p:txBody>
      </p:sp>
      <p:sp>
        <p:nvSpPr>
          <p:cNvPr id="18" name="Google Shape;18;p34"/>
          <p:cNvSpPr txBox="1"/>
          <p:nvPr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IN" strike="noStrike" sz="2400" u="none">
                <a:solidFill>
                  <a:schemeClr val="dk1"/>
                </a:solidFill>
                <a:latin charset="0" panose="020B0502040204020203" pitchFamily="34" typeface="Bahnschrift"/>
                <a:ea typeface="Arial"/>
                <a:cs typeface="Arial"/>
                <a:sym typeface="Arial"/>
              </a:rPr>
              <a:t>Dr. Rajni Bhalla</a:t>
            </a:r>
            <a:endParaRPr>
              <a:latin charset="0" panose="020B0502040204020203" pitchFamily="34" typeface="Bahnschrift"/>
            </a:endParaRPr>
          </a:p>
        </p:txBody>
      </p:sp>
      <p:sp>
        <p:nvSpPr>
          <p:cNvPr id="19" name="Google Shape;19;p34"/>
          <p:cNvSpPr txBox="1"/>
          <p:nvPr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charset="0" panose="020B0502040204020203" pitchFamily="34" typeface="Bahnschrift"/>
                <a:ea typeface="Arial"/>
                <a:cs typeface="Arial"/>
                <a:sym typeface="Arial"/>
              </a:rPr>
              <a:t>Associate Professor</a:t>
            </a:r>
            <a:endParaRPr>
              <a:latin charset="0" panose="020B0502040204020203" pitchFamily="34" typeface="Bahnschrift"/>
            </a:endParaRPr>
          </a:p>
        </p:txBody>
      </p:sp>
      <p:sp>
        <p:nvSpPr>
          <p:cNvPr id="20" name="Google Shape;20;p34"/>
          <p:cNvSpPr/>
          <p:nvPr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0">
                <a:srgbClr val="072235"/>
              </a:gs>
              <a:gs pos="100000">
                <a:srgbClr val="F5F7F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4"/>
          <p:cNvSpPr/>
          <p:nvPr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0">
                <a:srgbClr val="072235"/>
              </a:gs>
              <a:gs pos="100000">
                <a:srgbClr val="F5F7F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/>
          <p:nvPr/>
        </p:nvSpPr>
        <p:spPr>
          <a:xfrm>
            <a:off x="0" y="0"/>
            <a:ext cx="9144000" cy="1959429"/>
          </a:xfrm>
          <a:prstGeom prst="rect">
            <a:avLst/>
          </a:prstGeom>
          <a:gradFill>
            <a:gsLst>
              <a:gs pos="0">
                <a:srgbClr val="44525A"/>
              </a:gs>
              <a:gs pos="69000">
                <a:srgbClr val="818A8F"/>
              </a:gs>
              <a:gs pos="100000">
                <a:srgbClr val="F4F4F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5"/>
          <p:cNvSpPr txBox="1">
            <a:spLocks noGrp="1"/>
          </p:cNvSpPr>
          <p:nvPr>
            <p:ph type="body" idx="1"/>
          </p:nvPr>
        </p:nvSpPr>
        <p:spPr>
          <a:xfrm>
            <a:off x="921639" y="2700396"/>
            <a:ext cx="7525999" cy="3698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37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/>
          <p:nvPr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IN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/>
          </a:p>
        </p:txBody>
      </p:sp>
      <p:pic>
        <p:nvPicPr>
          <p:cNvPr id="26" name="Google Shape;2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1980602">
            <a:off x="7045240" y="145893"/>
            <a:ext cx="2389846" cy="166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5"/>
          <p:cNvSpPr/>
          <p:nvPr/>
        </p:nvSpPr>
        <p:spPr>
          <a:xfrm>
            <a:off x="455696" y="1959429"/>
            <a:ext cx="7915742" cy="74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this lecture, you will be able to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/>
          <p:nvPr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7"/>
          <p:cNvSpPr txBox="1">
            <a:spLocks noGrp="1"/>
          </p:cNvSpPr>
          <p:nvPr>
            <p:ph type="body" idx="1"/>
          </p:nvPr>
        </p:nvSpPr>
        <p:spPr>
          <a:xfrm>
            <a:off x="338362" y="1628145"/>
            <a:ext cx="8386537" cy="5004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>
            <a:spLocks noGrp="1"/>
          </p:cNvSpPr>
          <p:nvPr>
            <p:ph type="dt" idx="10"/>
          </p:nvPr>
        </p:nvSpPr>
        <p:spPr>
          <a:xfrm>
            <a:off x="628650" y="892810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9"/>
          <p:cNvSpPr txBox="1">
            <a:spLocks noGrp="1"/>
          </p:cNvSpPr>
          <p:nvPr>
            <p:ph type="ftr" idx="11"/>
          </p:nvPr>
        </p:nvSpPr>
        <p:spPr>
          <a:xfrm>
            <a:off x="3028950" y="892810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9"/>
          <p:cNvSpPr txBox="1">
            <a:spLocks noGrp="1"/>
          </p:cNvSpPr>
          <p:nvPr>
            <p:ph type="sldNum" idx="12"/>
          </p:nvPr>
        </p:nvSpPr>
        <p:spPr>
          <a:xfrm>
            <a:off x="6457950" y="892810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5" name="Google Shape;45;p39"/>
          <p:cNvSpPr/>
          <p:nvPr/>
        </p:nvSpPr>
        <p:spPr>
          <a:xfrm>
            <a:off x="1562553" y="2584505"/>
            <a:ext cx="6037944" cy="1756230"/>
          </a:xfrm>
          <a:custGeom>
            <a:avLst/>
            <a:gdLst/>
            <a:ahLst/>
            <a:cxnLst/>
            <a:rect l="l" t="t" r="r" b="b"/>
            <a:pathLst>
              <a:path w="6037944" h="1451430" extrusionOk="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rgbClr val="44525A"/>
              </a:gs>
              <a:gs pos="54000">
                <a:schemeClr val="lt1"/>
              </a:gs>
              <a:gs pos="100000">
                <a:srgbClr val="44525A"/>
              </a:gs>
            </a:gsLst>
            <a:lin ang="5400000" scaled="0"/>
          </a:gradFill>
          <a:ln w="12700" cap="flat" cmpd="sng">
            <a:solidFill>
              <a:srgbClr val="8190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7315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4B89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9"/>
          <p:cNvSpPr/>
          <p:nvPr/>
        </p:nvSpPr>
        <p:spPr>
          <a:xfrm>
            <a:off x="1562553" y="1895077"/>
            <a:ext cx="6037944" cy="1146629"/>
          </a:xfrm>
          <a:custGeom>
            <a:avLst/>
            <a:gdLst/>
            <a:ahLst/>
            <a:cxnLst/>
            <a:rect l="l" t="t" r="r" b="b"/>
            <a:pathLst>
              <a:path w="6037944" h="1146629" extrusionOk="0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0"/>
          </a:gradFill>
          <a:ln w="12700" cap="flat" cmpd="sng">
            <a:solidFill>
              <a:srgbClr val="8190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7315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4B89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9"/>
          <p:cNvSpPr/>
          <p:nvPr/>
        </p:nvSpPr>
        <p:spPr>
          <a:xfrm>
            <a:off x="1543503" y="3816295"/>
            <a:ext cx="6037944" cy="1146629"/>
          </a:xfrm>
          <a:custGeom>
            <a:avLst/>
            <a:gdLst/>
            <a:ahLst/>
            <a:cxnLst/>
            <a:rect l="l" t="t" r="r" b="b"/>
            <a:pathLst>
              <a:path w="6037944" h="1146629" extrusionOk="0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0"/>
          </a:gradFill>
          <a:ln w="12700" cap="flat" cmpd="sng">
            <a:solidFill>
              <a:srgbClr val="8190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7315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4B89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9"/>
          <p:cNvSpPr txBox="1"/>
          <p:nvPr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rgbClr val="453A38"/>
                </a:solidFill>
                <a:latin typeface="Bahnschrift" panose="020B0502040204020203" pitchFamily="34" charset="0"/>
                <a:ea typeface="Arial"/>
                <a:cs typeface="Arial"/>
                <a:sym typeface="Arial"/>
              </a:rPr>
              <a:t>That’s all for now…</a:t>
            </a:r>
            <a:endParaRPr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41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2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42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2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42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3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44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6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4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098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notesSlides/notesSlide3.xml" Type="http://schemas.openxmlformats.org/officeDocument/2006/relationships/notesSlid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3" Target="../media/image4.jpeg" Type="http://schemas.openxmlformats.org/officeDocument/2006/relationships/image"/><Relationship Id="rId2" Target="../notesSlides/notesSlide4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3" Target="../media/image4.jpeg" Type="http://schemas.openxmlformats.org/officeDocument/2006/relationships/image"/><Relationship Id="rId2" Target="../notesSlides/notesSlide5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6.xml.rels><?xml version="1.0" encoding="UTF-8" standalone="yes" ?><Relationships xmlns="http://schemas.openxmlformats.org/package/2006/relationships"><Relationship Id="rId3" Target="../media/image4.jpeg" Type="http://schemas.openxmlformats.org/officeDocument/2006/relationships/image"/><Relationship Id="rId2" Target="../notesSlides/notesSlide6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7.xml.rels><?xml version="1.0" encoding="UTF-8" standalone="yes" ?><Relationships xmlns="http://schemas.openxmlformats.org/package/2006/relationships"><Relationship Id="rId3" Target="../media/image4.jpeg" Type="http://schemas.openxmlformats.org/officeDocument/2006/relationships/image"/><Relationship Id="rId2" Target="../notesSlides/notesSlide7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3" Target="../media/image4.jpeg" Type="http://schemas.openxmlformats.org/officeDocument/2006/relationships/image"/><Relationship Id="rId2" Target="../notesSlides/notesSlide8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9.xml.rels><?xml version="1.0" encoding="UTF-8" standalone="yes" ?><Relationships xmlns="http://schemas.openxmlformats.org/package/2006/relationships"><Relationship Id="rId3" Target="../media/image4.jpeg" Type="http://schemas.openxmlformats.org/officeDocument/2006/relationships/image"/><Relationship Id="rId2" Target="../notesSlides/notesSlide9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0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notesSlides/notesSlide10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1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notesSlides/notesSlide11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2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notesSlides/notesSlide12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3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notesSlides/notesSlide13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4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notesSlides/notesSlide14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5.xml.rels><?xml version="1.0" encoding="UTF-8" standalone="yes" ?><Relationships xmlns="http://schemas.openxmlformats.org/package/2006/relationships"><Relationship Id="rId3" Target="../media/image6.jpeg" Type="http://schemas.openxmlformats.org/officeDocument/2006/relationships/image"/><Relationship Id="rId2" Target="../notesSlides/notesSlide15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6.xml.rels><?xml version="1.0" encoding="UTF-8" standalone="yes" ?><Relationships xmlns="http://schemas.openxmlformats.org/package/2006/relationships"><Relationship Id="rId3" Target="../media/image6.jpeg" Type="http://schemas.openxmlformats.org/officeDocument/2006/relationships/image"/><Relationship Id="rId2" Target="../notesSlides/notesSlide16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7.xml.rels><?xml version="1.0" encoding="UTF-8" standalone="yes" ?><Relationships xmlns="http://schemas.openxmlformats.org/package/2006/relationships"><Relationship Id="rId3" Target="../media/image6.jpeg" Type="http://schemas.openxmlformats.org/officeDocument/2006/relationships/image"/><Relationship Id="rId2" Target="../notesSlides/notesSlide17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8.xml.rels><?xml version="1.0" encoding="UTF-8" standalone="yes" ?><Relationships xmlns="http://schemas.openxmlformats.org/package/2006/relationships"><Relationship Id="rId3" Target="../media/image7.jpeg" Type="http://schemas.openxmlformats.org/officeDocument/2006/relationships/image"/><Relationship Id="rId2" Target="../notesSlides/notesSlide18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19.xml.rels><?xml version="1.0" encoding="UTF-8" standalone="yes" ?><Relationships xmlns="http://schemas.openxmlformats.org/package/2006/relationships"><Relationship Id="rId3" Target="../media/image7.jpeg" Type="http://schemas.openxmlformats.org/officeDocument/2006/relationships/image"/><Relationship Id="rId2" Target="../notesSlides/notesSlide19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20.xml.rels><?xml version="1.0" encoding="UTF-8" standalone="yes" ?><Relationships xmlns="http://schemas.openxmlformats.org/package/2006/relationships"><Relationship Id="rId3" Target="../media/image7.jpeg" Type="http://schemas.openxmlformats.org/officeDocument/2006/relationships/image"/><Relationship Id="rId2" Target="../notesSlides/notesSlide20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21.xml.rels><?xml version="1.0" encoding="UTF-8" standalone="yes" ?><Relationships xmlns="http://schemas.openxmlformats.org/package/2006/relationships"><Relationship Id="rId3" Target="../media/image7.jpeg" Type="http://schemas.openxmlformats.org/officeDocument/2006/relationships/image"/><Relationship Id="rId2" Target="../notesSlides/notesSlide21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 ?><Relationships xmlns="http://schemas.openxmlformats.org/package/2006/relationships"><Relationship Id="rId3" Target="../media/image8.jpeg" Type="http://schemas.openxmlformats.org/officeDocument/2006/relationships/image"/><Relationship Id="rId2" Target="../notesSlides/notesSlide23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24.xml.rels><?xml version="1.0" encoding="UTF-8" standalone="yes" ?><Relationships xmlns="http://schemas.openxmlformats.org/package/2006/relationships"><Relationship Id="rId3" Target="../media/image8.jpeg" Type="http://schemas.openxmlformats.org/officeDocument/2006/relationships/image"/><Relationship Id="rId2" Target="../notesSlides/notesSlide24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25.xml.rels><?xml version="1.0" encoding="UTF-8" standalone="yes" ?><Relationships xmlns="http://schemas.openxmlformats.org/package/2006/relationships"><Relationship Id="rId3" Target="../media/image8.jpeg" Type="http://schemas.openxmlformats.org/officeDocument/2006/relationships/image"/><Relationship Id="rId2" Target="../notesSlides/notesSlide25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26.xml.rels><?xml version="1.0" encoding="UTF-8" standalone="yes" ?><Relationships xmlns="http://schemas.openxmlformats.org/package/2006/relationships"><Relationship Id="rId3" Target="../media/image8.jpeg" Type="http://schemas.openxmlformats.org/officeDocument/2006/relationships/image"/><Relationship Id="rId2" Target="../notesSlides/notesSlide26.xml" Type="http://schemas.openxmlformats.org/officeDocument/2006/relationships/notesSlide"/><Relationship Id="rId1" Target="../slideLayouts/slideLayout4.xml" Type="http://schemas.openxmlformats.org/officeDocument/2006/relationships/slideLayout"/></Relationships>
</file>

<file path=ppt/slides/_rels/slide27.xml.rels><?xml version="1.0" encoding="UTF-8" standalone="yes" ?><Relationships xmlns="http://schemas.openxmlformats.org/package/2006/relationships"><Relationship Id="rId3" Target="../media/image9.jpeg" Type="http://schemas.openxmlformats.org/officeDocument/2006/relationships/image"/><Relationship Id="rId2" Target="../notesSlides/notesSlide27.xml" Type="http://schemas.openxmlformats.org/officeDocument/2006/relationships/notesSlide"/><Relationship Id="rId1" Target="../slideLayouts/slideLayout3.xml" Type="http://schemas.openxmlformats.org/officeDocument/2006/relationships/slideLayout"/></Relationships>
</file>

<file path=ppt/slides/_rels/slide28.xml.rels><?xml version="1.0" encoding="UTF-8" standalone="yes" ?><Relationships xmlns="http://schemas.openxmlformats.org/package/2006/relationships"><Relationship Id="rId3" Target="../media/image10.jpeg" Type="http://schemas.openxmlformats.org/officeDocument/2006/relationships/image"/><Relationship Id="rId2" Target="../notesSlides/notesSlide28.xml" Type="http://schemas.openxmlformats.org/officeDocument/2006/relationships/notesSlide"/><Relationship Id="rId1" Target="../slideLayouts/slideLayout3.xml" Type="http://schemas.openxmlformats.org/officeDocument/2006/relationships/slideLayout"/></Relationships>
</file>

<file path=ppt/slides/_rels/slide29.xml.rels><?xml version="1.0" encoding="UTF-8" standalone="yes" ?><Relationships xmlns="http://schemas.openxmlformats.org/package/2006/relationships"><Relationship Id="rId3" Target="../media/image11.jpeg" Type="http://schemas.openxmlformats.org/officeDocument/2006/relationships/image"/><Relationship Id="rId2" Target="../notesSlides/notesSlide29.xml" Type="http://schemas.openxmlformats.org/officeDocument/2006/relationships/notesSlide"/><Relationship Id="rId1" Target="../slideLayouts/slideLayout5.xml" Type="http://schemas.openxmlformats.org/officeDocument/2006/relationships/slideLayout"/></Relationships>
</file>

<file path=ppt/slides/_rels/slide30.xml.rels><?xml version="1.0" encoding="UTF-8" standalone="yes" ?><Relationships xmlns="http://schemas.openxmlformats.org/package/2006/relationships"><Relationship Id="rId3" Target="../media/image12.jpeg" Type="http://schemas.openxmlformats.org/officeDocument/2006/relationships/image"/><Relationship Id="rId2" Target="../notesSlides/notesSlide30.xml" Type="http://schemas.openxmlformats.org/officeDocument/2006/relationships/notesSlide"/><Relationship Id="rId1" Target="../slideLayouts/slideLayout5.xml" Type="http://schemas.openxmlformats.org/officeDocument/2006/relationships/slideLayout"/></Relationships>
</file>

<file path=ppt/slides/_rels/slide31.xml.rels><?xml version="1.0" encoding="UTF-8" standalone="yes" ?><Relationships xmlns="http://schemas.openxmlformats.org/package/2006/relationships"><Relationship Id="rId3" Target="../media/image13.jpeg" Type="http://schemas.openxmlformats.org/officeDocument/2006/relationships/image"/><Relationship Id="rId2" Target="../notesSlides/notesSlide31.xml" Type="http://schemas.openxmlformats.org/officeDocument/2006/relationships/notesSlide"/><Relationship Id="rId1" Target="../slideLayouts/slideLayout5.xml" Type="http://schemas.openxmlformats.org/officeDocument/2006/relationships/slideLayout"/></Relationships>
</file>

<file path=ppt/slides/_rels/slide32.xml.rels><?xml version="1.0" encoding="UTF-8" standalone="yes" ?><Relationships xmlns="http://schemas.openxmlformats.org/package/2006/relationships"><Relationship Id="rId3" Target="../media/image14.jpeg" Type="http://schemas.openxmlformats.org/officeDocument/2006/relationships/image"/><Relationship Id="rId2" Target="../notesSlides/notesSlide32.xml" Type="http://schemas.openxmlformats.org/officeDocument/2006/relationships/notesSlide"/><Relationship Id="rId1" Target="../slideLayouts/slideLayout5.xml" Type="http://schemas.openxmlformats.org/officeDocument/2006/relationships/slideLayout"/></Relationships>
</file>

<file path=ppt/slides/_rels/slide33.xml.rels><?xml version="1.0" encoding="UTF-8" standalone="yes" ?><Relationships xmlns="http://schemas.openxmlformats.org/package/2006/relationships"><Relationship Id="rId3" Target="../media/image15.jpeg" Type="http://schemas.openxmlformats.org/officeDocument/2006/relationships/image"/><Relationship Id="rId2" Target="../notesSlides/notesSlide33.xml" Type="http://schemas.openxmlformats.org/officeDocument/2006/relationships/notesSlide"/><Relationship Id="rId1" Target="../slideLayouts/slideLayout5.xml" Type="http://schemas.openxmlformats.org/officeDocument/2006/relationships/slideLayout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989350" y="2818150"/>
            <a:ext cx="7830800" cy="377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0363" indent="-195263" algn="just"/>
            <a:r>
              <a:rPr lang="en-IN" dirty="0"/>
              <a:t>Learn how job execution is carried out in classic MapReduce.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448" y="791690"/>
            <a:ext cx="8567104" cy="552893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Submission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116" name="Google Shape;116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5489" y="2400948"/>
            <a:ext cx="4981168" cy="365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5396459" y="1454046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JobClient get new job 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Submission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116" name="Google Shape;116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5489" y="2400948"/>
            <a:ext cx="4981168" cy="365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5396459" y="1454046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JobClient get new job ID.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22FD9-3BD2-4551-A4B8-7379F38CF7E7}"/>
              </a:ext>
            </a:extLst>
          </p:cNvPr>
          <p:cNvSpPr/>
          <p:nvPr/>
        </p:nvSpPr>
        <p:spPr>
          <a:xfrm>
            <a:off x="5396459" y="2353768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Output has been created or not</a:t>
            </a:r>
          </a:p>
        </p:txBody>
      </p:sp>
    </p:spTree>
    <p:extLst>
      <p:ext uri="{BB962C8B-B14F-4D97-AF65-F5344CB8AC3E}">
        <p14:creationId xmlns:p14="http://schemas.microsoft.com/office/powerpoint/2010/main" val="281553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Submission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116" name="Google Shape;116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5489" y="2400948"/>
            <a:ext cx="4981168" cy="365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5396459" y="1454046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JobClient get new job ID.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22FD9-3BD2-4551-A4B8-7379F38CF7E7}"/>
              </a:ext>
            </a:extLst>
          </p:cNvPr>
          <p:cNvSpPr/>
          <p:nvPr/>
        </p:nvSpPr>
        <p:spPr>
          <a:xfrm>
            <a:off x="5396459" y="2353768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Output has been created or not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DBB7B-526A-4E59-ACBA-2AEB1F93E3D4}"/>
              </a:ext>
            </a:extLst>
          </p:cNvPr>
          <p:cNvSpPr/>
          <p:nvPr/>
        </p:nvSpPr>
        <p:spPr>
          <a:xfrm>
            <a:off x="5396459" y="3253490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Calculate the splits</a:t>
            </a:r>
          </a:p>
        </p:txBody>
      </p:sp>
    </p:spTree>
    <p:extLst>
      <p:ext uri="{BB962C8B-B14F-4D97-AF65-F5344CB8AC3E}">
        <p14:creationId xmlns:p14="http://schemas.microsoft.com/office/powerpoint/2010/main" val="105882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Submission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116" name="Google Shape;116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5489" y="2400948"/>
            <a:ext cx="4981168" cy="365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5396459" y="1454046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JobClient get new job ID.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22FD9-3BD2-4551-A4B8-7379F38CF7E7}"/>
              </a:ext>
            </a:extLst>
          </p:cNvPr>
          <p:cNvSpPr/>
          <p:nvPr/>
        </p:nvSpPr>
        <p:spPr>
          <a:xfrm>
            <a:off x="5396459" y="2353768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Output has been created or not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DBB7B-526A-4E59-ACBA-2AEB1F93E3D4}"/>
              </a:ext>
            </a:extLst>
          </p:cNvPr>
          <p:cNvSpPr/>
          <p:nvPr/>
        </p:nvSpPr>
        <p:spPr>
          <a:xfrm>
            <a:off x="5396459" y="3253490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Calculate the splits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92433-0DDD-4CFF-BFEE-0E13BB677280}"/>
              </a:ext>
            </a:extLst>
          </p:cNvPr>
          <p:cNvSpPr/>
          <p:nvPr/>
        </p:nvSpPr>
        <p:spPr>
          <a:xfrm>
            <a:off x="5396459" y="4153212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Copies the resources to HDFS</a:t>
            </a:r>
          </a:p>
        </p:txBody>
      </p:sp>
    </p:spTree>
    <p:extLst>
      <p:ext uri="{BB962C8B-B14F-4D97-AF65-F5344CB8AC3E}">
        <p14:creationId xmlns:p14="http://schemas.microsoft.com/office/powerpoint/2010/main" val="152559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Submission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116" name="Google Shape;116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5489" y="2400948"/>
            <a:ext cx="4981168" cy="365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5396459" y="1454046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JobClient get new job ID.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22FD9-3BD2-4551-A4B8-7379F38CF7E7}"/>
              </a:ext>
            </a:extLst>
          </p:cNvPr>
          <p:cNvSpPr/>
          <p:nvPr/>
        </p:nvSpPr>
        <p:spPr>
          <a:xfrm>
            <a:off x="5396459" y="2353768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Output has been created or not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DBB7B-526A-4E59-ACBA-2AEB1F93E3D4}"/>
              </a:ext>
            </a:extLst>
          </p:cNvPr>
          <p:cNvSpPr/>
          <p:nvPr/>
        </p:nvSpPr>
        <p:spPr>
          <a:xfrm>
            <a:off x="5396459" y="3253490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Calculate the splits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92433-0DDD-4CFF-BFEE-0E13BB677280}"/>
              </a:ext>
            </a:extLst>
          </p:cNvPr>
          <p:cNvSpPr/>
          <p:nvPr/>
        </p:nvSpPr>
        <p:spPr>
          <a:xfrm>
            <a:off x="5396459" y="4153212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Copies the resources to HDFS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41EB5-4BC9-41A1-AA75-0AD615F46B18}"/>
              </a:ext>
            </a:extLst>
          </p:cNvPr>
          <p:cNvSpPr/>
          <p:nvPr/>
        </p:nvSpPr>
        <p:spPr>
          <a:xfrm>
            <a:off x="5396459" y="5052934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Submits the job</a:t>
            </a:r>
          </a:p>
        </p:txBody>
      </p:sp>
    </p:spTree>
    <p:extLst>
      <p:ext uri="{BB962C8B-B14F-4D97-AF65-F5344CB8AC3E}">
        <p14:creationId xmlns:p14="http://schemas.microsoft.com/office/powerpoint/2010/main" val="2729883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Submission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116" name="Google Shape;116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5489" y="2400948"/>
            <a:ext cx="4981168" cy="365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5396459" y="1454046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JobClient get new job ID.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22FD9-3BD2-4551-A4B8-7379F38CF7E7}"/>
              </a:ext>
            </a:extLst>
          </p:cNvPr>
          <p:cNvSpPr/>
          <p:nvPr/>
        </p:nvSpPr>
        <p:spPr>
          <a:xfrm>
            <a:off x="5396459" y="2353768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Output has been created or not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DBB7B-526A-4E59-ACBA-2AEB1F93E3D4}"/>
              </a:ext>
            </a:extLst>
          </p:cNvPr>
          <p:cNvSpPr/>
          <p:nvPr/>
        </p:nvSpPr>
        <p:spPr>
          <a:xfrm>
            <a:off x="5396459" y="3253490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Calculate the splits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92433-0DDD-4CFF-BFEE-0E13BB677280}"/>
              </a:ext>
            </a:extLst>
          </p:cNvPr>
          <p:cNvSpPr/>
          <p:nvPr/>
        </p:nvSpPr>
        <p:spPr>
          <a:xfrm>
            <a:off x="5396459" y="4153212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Copies the resources to HDFS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41EB5-4BC9-41A1-AA75-0AD615F46B18}"/>
              </a:ext>
            </a:extLst>
          </p:cNvPr>
          <p:cNvSpPr/>
          <p:nvPr/>
        </p:nvSpPr>
        <p:spPr>
          <a:xfrm>
            <a:off x="5396459" y="5052934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Submits the job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589E7E-A110-47D7-8C27-F0E22AA04FB9}"/>
              </a:ext>
            </a:extLst>
          </p:cNvPr>
          <p:cNvSpPr/>
          <p:nvPr/>
        </p:nvSpPr>
        <p:spPr>
          <a:xfrm>
            <a:off x="5396459" y="5952657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JobClient creates an instance of </a:t>
            </a:r>
            <a:r>
              <a:rPr lang="en-US" sz="2400" dirty="0" err="1">
                <a:latin typeface="Bahnschrift" panose="020B0502040204020203" pitchFamily="34" charset="0"/>
              </a:rPr>
              <a:t>JobSubmitter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588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Initialization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4766871" y="1424824"/>
            <a:ext cx="4257207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Scheduler picks the job from the queue.</a:t>
            </a:r>
          </a:p>
        </p:txBody>
      </p:sp>
      <p:pic>
        <p:nvPicPr>
          <p:cNvPr id="12" name="Google Shape;159;p10">
            <a:extLst>
              <a:ext uri="{FF2B5EF4-FFF2-40B4-BE49-F238E27FC236}">
                <a16:creationId xmlns:a16="http://schemas.microsoft.com/office/drawing/2014/main" id="{59DA7708-2A7E-4DC6-8ADB-9F964C3D1BE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9921" y="2408084"/>
            <a:ext cx="4646951" cy="3619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0909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Initialization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4766871" y="1424824"/>
            <a:ext cx="4257207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Scheduler picks the job from the queue.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22FD9-3BD2-4551-A4B8-7379F38CF7E7}"/>
              </a:ext>
            </a:extLst>
          </p:cNvPr>
          <p:cNvSpPr/>
          <p:nvPr/>
        </p:nvSpPr>
        <p:spPr>
          <a:xfrm>
            <a:off x="4766871" y="2193093"/>
            <a:ext cx="4257207" cy="109814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Creates an object which encapsulates its tasks and does book keeping</a:t>
            </a:r>
          </a:p>
        </p:txBody>
      </p:sp>
      <p:pic>
        <p:nvPicPr>
          <p:cNvPr id="12" name="Google Shape;159;p10">
            <a:extLst>
              <a:ext uri="{FF2B5EF4-FFF2-40B4-BE49-F238E27FC236}">
                <a16:creationId xmlns:a16="http://schemas.microsoft.com/office/drawing/2014/main" id="{59DA7708-2A7E-4DC6-8ADB-9F964C3D1BE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9921" y="2408084"/>
            <a:ext cx="4646951" cy="3619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2410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Initialization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4766871" y="1424824"/>
            <a:ext cx="4257207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Scheduler picks the job from the queue.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22FD9-3BD2-4551-A4B8-7379F38CF7E7}"/>
              </a:ext>
            </a:extLst>
          </p:cNvPr>
          <p:cNvSpPr/>
          <p:nvPr/>
        </p:nvSpPr>
        <p:spPr>
          <a:xfrm>
            <a:off x="4766871" y="2193093"/>
            <a:ext cx="4257207" cy="109814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Creates an object which encapsulates its tasks and does book keeping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DBB7B-526A-4E59-ACBA-2AEB1F93E3D4}"/>
              </a:ext>
            </a:extLst>
          </p:cNvPr>
          <p:cNvSpPr/>
          <p:nvPr/>
        </p:nvSpPr>
        <p:spPr>
          <a:xfrm>
            <a:off x="4766871" y="3363750"/>
            <a:ext cx="4257207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Creates 1 Map task per split.</a:t>
            </a:r>
          </a:p>
        </p:txBody>
      </p:sp>
      <p:pic>
        <p:nvPicPr>
          <p:cNvPr id="12" name="Google Shape;159;p10">
            <a:extLst>
              <a:ext uri="{FF2B5EF4-FFF2-40B4-BE49-F238E27FC236}">
                <a16:creationId xmlns:a16="http://schemas.microsoft.com/office/drawing/2014/main" id="{59DA7708-2A7E-4DC6-8ADB-9F964C3D1BE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9921" y="2408084"/>
            <a:ext cx="4646951" cy="3619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9474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Initialization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4766871" y="1424824"/>
            <a:ext cx="4257207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Scheduler picks the job from the queue.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22FD9-3BD2-4551-A4B8-7379F38CF7E7}"/>
              </a:ext>
            </a:extLst>
          </p:cNvPr>
          <p:cNvSpPr/>
          <p:nvPr/>
        </p:nvSpPr>
        <p:spPr>
          <a:xfrm>
            <a:off x="4766871" y="2193093"/>
            <a:ext cx="4257207" cy="109814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Creates an object which encapsulates its tasks and does book keeping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DBB7B-526A-4E59-ACBA-2AEB1F93E3D4}"/>
              </a:ext>
            </a:extLst>
          </p:cNvPr>
          <p:cNvSpPr/>
          <p:nvPr/>
        </p:nvSpPr>
        <p:spPr>
          <a:xfrm>
            <a:off x="4766871" y="3363750"/>
            <a:ext cx="4257207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Creates 1 Map task per split.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92433-0DDD-4CFF-BFEE-0E13BB677280}"/>
              </a:ext>
            </a:extLst>
          </p:cNvPr>
          <p:cNvSpPr/>
          <p:nvPr/>
        </p:nvSpPr>
        <p:spPr>
          <a:xfrm>
            <a:off x="4766871" y="4142535"/>
            <a:ext cx="4257207" cy="187439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Number of reducers are decided by </a:t>
            </a:r>
          </a:p>
          <a:p>
            <a:pPr algn="ctr"/>
            <a:r>
              <a:rPr lang="en-US" sz="2200" dirty="0">
                <a:latin typeface="Bahnschrift" panose="020B0502040204020203" pitchFamily="34" charset="0"/>
              </a:rPr>
              <a:t>“</a:t>
            </a:r>
            <a:r>
              <a:rPr lang="en-US" sz="2200" dirty="0" err="1">
                <a:latin typeface="Bahnschrift" panose="020B0502040204020203" pitchFamily="34" charset="0"/>
              </a:rPr>
              <a:t>Mapred.reduce.tasks</a:t>
            </a:r>
            <a:r>
              <a:rPr lang="en-US" sz="2200" dirty="0">
                <a:latin typeface="Bahnschrift" panose="020B0502040204020203" pitchFamily="34" charset="0"/>
              </a:rPr>
              <a:t>”</a:t>
            </a:r>
          </a:p>
          <a:p>
            <a:pPr algn="ctr"/>
            <a:r>
              <a:rPr lang="en-US" sz="2200" dirty="0">
                <a:latin typeface="Bahnschrift" panose="020B0502040204020203" pitchFamily="34" charset="0"/>
              </a:rPr>
              <a:t>“</a:t>
            </a:r>
            <a:r>
              <a:rPr lang="en-US" sz="2200" dirty="0" err="1">
                <a:latin typeface="Bahnschrift" panose="020B0502040204020203" pitchFamily="34" charset="0"/>
              </a:rPr>
              <a:t>job.setNumReduceTasks</a:t>
            </a:r>
            <a:r>
              <a:rPr lang="en-US" sz="2200" dirty="0">
                <a:latin typeface="Bahnschrift" panose="020B0502040204020203" pitchFamily="34" charset="0"/>
              </a:rPr>
              <a:t>()”</a:t>
            </a:r>
          </a:p>
        </p:txBody>
      </p:sp>
      <p:pic>
        <p:nvPicPr>
          <p:cNvPr id="12" name="Google Shape;159;p10">
            <a:extLst>
              <a:ext uri="{FF2B5EF4-FFF2-40B4-BE49-F238E27FC236}">
                <a16:creationId xmlns:a16="http://schemas.microsoft.com/office/drawing/2014/main" id="{59DA7708-2A7E-4DC6-8ADB-9F964C3D1BE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9921" y="2408084"/>
            <a:ext cx="4646951" cy="3619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7581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Job Initialization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9C50A2-08AF-4B46-A866-6FBE5F8889F9}"/>
              </a:ext>
            </a:extLst>
          </p:cNvPr>
          <p:cNvSpPr/>
          <p:nvPr/>
        </p:nvSpPr>
        <p:spPr>
          <a:xfrm>
            <a:off x="4766871" y="1424824"/>
            <a:ext cx="4257207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Scheduler picks the job from the queue.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22FD9-3BD2-4551-A4B8-7379F38CF7E7}"/>
              </a:ext>
            </a:extLst>
          </p:cNvPr>
          <p:cNvSpPr/>
          <p:nvPr/>
        </p:nvSpPr>
        <p:spPr>
          <a:xfrm>
            <a:off x="4766871" y="2193093"/>
            <a:ext cx="4257207" cy="109814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Creates an object which encapsulates its tasks and does book keeping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DBB7B-526A-4E59-ACBA-2AEB1F93E3D4}"/>
              </a:ext>
            </a:extLst>
          </p:cNvPr>
          <p:cNvSpPr/>
          <p:nvPr/>
        </p:nvSpPr>
        <p:spPr>
          <a:xfrm>
            <a:off x="4766871" y="3363750"/>
            <a:ext cx="4257207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Creates 1 Map task per split.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92433-0DDD-4CFF-BFEE-0E13BB677280}"/>
              </a:ext>
            </a:extLst>
          </p:cNvPr>
          <p:cNvSpPr/>
          <p:nvPr/>
        </p:nvSpPr>
        <p:spPr>
          <a:xfrm>
            <a:off x="4766871" y="4142535"/>
            <a:ext cx="4257207" cy="187439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Number of reducers are decided by </a:t>
            </a:r>
          </a:p>
          <a:p>
            <a:pPr algn="ctr"/>
            <a:r>
              <a:rPr lang="en-US" sz="2200" dirty="0">
                <a:latin typeface="Bahnschrift" panose="020B0502040204020203" pitchFamily="34" charset="0"/>
              </a:rPr>
              <a:t>“</a:t>
            </a:r>
            <a:r>
              <a:rPr lang="en-US" sz="2200" dirty="0" err="1">
                <a:latin typeface="Bahnschrift" panose="020B0502040204020203" pitchFamily="34" charset="0"/>
              </a:rPr>
              <a:t>Mapred.reduce.tasks</a:t>
            </a:r>
            <a:r>
              <a:rPr lang="en-US" sz="2200" dirty="0">
                <a:latin typeface="Bahnschrift" panose="020B0502040204020203" pitchFamily="34" charset="0"/>
              </a:rPr>
              <a:t>”</a:t>
            </a:r>
          </a:p>
          <a:p>
            <a:pPr algn="ctr"/>
            <a:r>
              <a:rPr lang="en-US" sz="2200" dirty="0">
                <a:latin typeface="Bahnschrift" panose="020B0502040204020203" pitchFamily="34" charset="0"/>
              </a:rPr>
              <a:t>“</a:t>
            </a:r>
            <a:r>
              <a:rPr lang="en-US" sz="2200" dirty="0" err="1">
                <a:latin typeface="Bahnschrift" panose="020B0502040204020203" pitchFamily="34" charset="0"/>
              </a:rPr>
              <a:t>job.setNumReduceTasks</a:t>
            </a:r>
            <a:r>
              <a:rPr lang="en-US" sz="2200" dirty="0">
                <a:latin typeface="Bahnschrift" panose="020B0502040204020203" pitchFamily="34" charset="0"/>
              </a:rPr>
              <a:t>()”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41EB5-4BC9-41A1-AA75-0AD615F46B18}"/>
              </a:ext>
            </a:extLst>
          </p:cNvPr>
          <p:cNvSpPr/>
          <p:nvPr/>
        </p:nvSpPr>
        <p:spPr>
          <a:xfrm>
            <a:off x="4766871" y="6106711"/>
            <a:ext cx="4257207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Creates setup and cleanup jobs on task trackers.</a:t>
            </a:r>
          </a:p>
        </p:txBody>
      </p:sp>
      <p:pic>
        <p:nvPicPr>
          <p:cNvPr id="12" name="Google Shape;159;p10">
            <a:extLst>
              <a:ext uri="{FF2B5EF4-FFF2-40B4-BE49-F238E27FC236}">
                <a16:creationId xmlns:a16="http://schemas.microsoft.com/office/drawing/2014/main" id="{59DA7708-2A7E-4DC6-8ADB-9F964C3D1BE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9921" y="2408084"/>
            <a:ext cx="4646951" cy="3619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0038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Task Assignment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194" name="Google Shape;194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903" y="2260392"/>
            <a:ext cx="4813984" cy="37775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D76780-27EE-4F07-8D07-0CFC69C62383}"/>
              </a:ext>
            </a:extLst>
          </p:cNvPr>
          <p:cNvSpPr/>
          <p:nvPr/>
        </p:nvSpPr>
        <p:spPr>
          <a:xfrm>
            <a:off x="5202212" y="1440326"/>
            <a:ext cx="3716935" cy="16548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TaskTracker runs a simple loop that periodically sends heartbeat.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Task Assignment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194" name="Google Shape;194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903" y="2260392"/>
            <a:ext cx="4813984" cy="37775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D76780-27EE-4F07-8D07-0CFC69C62383}"/>
              </a:ext>
            </a:extLst>
          </p:cNvPr>
          <p:cNvSpPr/>
          <p:nvPr/>
        </p:nvSpPr>
        <p:spPr>
          <a:xfrm>
            <a:off x="5202212" y="1440326"/>
            <a:ext cx="3716935" cy="16548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TaskTracker runs a simple loop that periodically sends heartbeat.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86F53E-8B8F-4C35-84A8-0D3FD98C5562}"/>
              </a:ext>
            </a:extLst>
          </p:cNvPr>
          <p:cNvSpPr/>
          <p:nvPr/>
        </p:nvSpPr>
        <p:spPr>
          <a:xfrm>
            <a:off x="5187220" y="3248973"/>
            <a:ext cx="3716935" cy="16548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TaskTracker have fixed number of slots to run Map and Reduce Tasks</a:t>
            </a:r>
          </a:p>
        </p:txBody>
      </p:sp>
    </p:spTree>
    <p:extLst>
      <p:ext uri="{BB962C8B-B14F-4D97-AF65-F5344CB8AC3E}">
        <p14:creationId xmlns:p14="http://schemas.microsoft.com/office/powerpoint/2010/main" val="2995052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Task Assignment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194" name="Google Shape;194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903" y="2260392"/>
            <a:ext cx="4813984" cy="37775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D76780-27EE-4F07-8D07-0CFC69C62383}"/>
              </a:ext>
            </a:extLst>
          </p:cNvPr>
          <p:cNvSpPr/>
          <p:nvPr/>
        </p:nvSpPr>
        <p:spPr>
          <a:xfrm>
            <a:off x="5202212" y="1440326"/>
            <a:ext cx="3716935" cy="16548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TaskTracker runs a simple loop that periodically sends heartbeat.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86F53E-8B8F-4C35-84A8-0D3FD98C5562}"/>
              </a:ext>
            </a:extLst>
          </p:cNvPr>
          <p:cNvSpPr/>
          <p:nvPr/>
        </p:nvSpPr>
        <p:spPr>
          <a:xfrm>
            <a:off x="5187220" y="3248973"/>
            <a:ext cx="3716935" cy="16548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TaskTracker have fixed number of slots to run Map and Reduce Tasks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BA4EE-0D1C-4B81-91D9-3B4942C604E5}"/>
              </a:ext>
            </a:extLst>
          </p:cNvPr>
          <p:cNvSpPr/>
          <p:nvPr/>
        </p:nvSpPr>
        <p:spPr>
          <a:xfrm>
            <a:off x="5187220" y="5057621"/>
            <a:ext cx="3716935" cy="165484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The number of tasks that can run be modified considering memory an cores of the processing node. </a:t>
            </a:r>
          </a:p>
        </p:txBody>
      </p:sp>
    </p:spTree>
    <p:extLst>
      <p:ext uri="{BB962C8B-B14F-4D97-AF65-F5344CB8AC3E}">
        <p14:creationId xmlns:p14="http://schemas.microsoft.com/office/powerpoint/2010/main" val="2593340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Task Execution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208" name="Google Shape;208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900" y="2044605"/>
            <a:ext cx="4557011" cy="38465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3216BF-E93B-43B6-8C66-BD5E456A07C1}"/>
              </a:ext>
            </a:extLst>
          </p:cNvPr>
          <p:cNvSpPr/>
          <p:nvPr/>
        </p:nvSpPr>
        <p:spPr>
          <a:xfrm>
            <a:off x="5156619" y="1454046"/>
            <a:ext cx="3627620" cy="89941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Retrieve the JAR file from the HDFS.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Task Execution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208" name="Google Shape;208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900" y="2044605"/>
            <a:ext cx="4557011" cy="38465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3216BF-E93B-43B6-8C66-BD5E456A07C1}"/>
              </a:ext>
            </a:extLst>
          </p:cNvPr>
          <p:cNvSpPr/>
          <p:nvPr/>
        </p:nvSpPr>
        <p:spPr>
          <a:xfrm>
            <a:off x="5156619" y="1454046"/>
            <a:ext cx="3627620" cy="89941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Retrieve the JAR file from the HDFS.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852BDC-E21C-4A18-BB00-F344814103F1}"/>
              </a:ext>
            </a:extLst>
          </p:cNvPr>
          <p:cNvSpPr/>
          <p:nvPr/>
        </p:nvSpPr>
        <p:spPr>
          <a:xfrm>
            <a:off x="5156619" y="2605841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Launches JVM to run </a:t>
            </a:r>
          </a:p>
        </p:txBody>
      </p:sp>
    </p:spTree>
    <p:extLst>
      <p:ext uri="{BB962C8B-B14F-4D97-AF65-F5344CB8AC3E}">
        <p14:creationId xmlns:p14="http://schemas.microsoft.com/office/powerpoint/2010/main" val="1979041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Task Execution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208" name="Google Shape;208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900" y="2044605"/>
            <a:ext cx="4557011" cy="38465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3216BF-E93B-43B6-8C66-BD5E456A07C1}"/>
              </a:ext>
            </a:extLst>
          </p:cNvPr>
          <p:cNvSpPr/>
          <p:nvPr/>
        </p:nvSpPr>
        <p:spPr>
          <a:xfrm>
            <a:off x="5156619" y="1454046"/>
            <a:ext cx="3627620" cy="89941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Retrieve the JAR file from the HDFS.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852BDC-E21C-4A18-BB00-F344814103F1}"/>
              </a:ext>
            </a:extLst>
          </p:cNvPr>
          <p:cNvSpPr/>
          <p:nvPr/>
        </p:nvSpPr>
        <p:spPr>
          <a:xfrm>
            <a:off x="5156619" y="2605841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Launches JVM to run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790C2-1FDC-4E1A-B3BD-5F5379B00998}"/>
              </a:ext>
            </a:extLst>
          </p:cNvPr>
          <p:cNvSpPr/>
          <p:nvPr/>
        </p:nvSpPr>
        <p:spPr>
          <a:xfrm>
            <a:off x="5156619" y="3578226"/>
            <a:ext cx="3627620" cy="157334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TaskTracker sends regular updates to </a:t>
            </a:r>
            <a:r>
              <a:rPr lang="en-US" sz="2400" dirty="0" err="1">
                <a:latin typeface="Bahnschrift" panose="020B0502040204020203" pitchFamily="34" charset="0"/>
              </a:rPr>
              <a:t>JobTracker</a:t>
            </a:r>
            <a:r>
              <a:rPr lang="en-US" sz="2400" dirty="0">
                <a:latin typeface="Bahnschrift" panose="020B0502040204020203" pitchFamily="34" charset="0"/>
              </a:rPr>
              <a:t> about the statuses.</a:t>
            </a:r>
          </a:p>
        </p:txBody>
      </p:sp>
    </p:spTree>
    <p:extLst>
      <p:ext uri="{BB962C8B-B14F-4D97-AF65-F5344CB8AC3E}">
        <p14:creationId xmlns:p14="http://schemas.microsoft.com/office/powerpoint/2010/main" val="2017548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Task Execution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208" name="Google Shape;208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900" y="2044605"/>
            <a:ext cx="4557011" cy="38465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3216BF-E93B-43B6-8C66-BD5E456A07C1}"/>
              </a:ext>
            </a:extLst>
          </p:cNvPr>
          <p:cNvSpPr/>
          <p:nvPr/>
        </p:nvSpPr>
        <p:spPr>
          <a:xfrm>
            <a:off x="5156619" y="1454046"/>
            <a:ext cx="3627620" cy="89941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Retrieve the JAR file from the HDFS.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852BDC-E21C-4A18-BB00-F344814103F1}"/>
              </a:ext>
            </a:extLst>
          </p:cNvPr>
          <p:cNvSpPr/>
          <p:nvPr/>
        </p:nvSpPr>
        <p:spPr>
          <a:xfrm>
            <a:off x="5156619" y="2605841"/>
            <a:ext cx="3627620" cy="72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Launches JVM to run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790C2-1FDC-4E1A-B3BD-5F5379B00998}"/>
              </a:ext>
            </a:extLst>
          </p:cNvPr>
          <p:cNvSpPr/>
          <p:nvPr/>
        </p:nvSpPr>
        <p:spPr>
          <a:xfrm>
            <a:off x="5156619" y="3578226"/>
            <a:ext cx="3627620" cy="157334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TaskTracker sends regular updates to </a:t>
            </a:r>
            <a:r>
              <a:rPr lang="en-US" sz="2400" dirty="0" err="1">
                <a:latin typeface="Bahnschrift" panose="020B0502040204020203" pitchFamily="34" charset="0"/>
              </a:rPr>
              <a:t>JobTracker</a:t>
            </a:r>
            <a:r>
              <a:rPr lang="en-US" sz="2400" dirty="0">
                <a:latin typeface="Bahnschrift" panose="020B0502040204020203" pitchFamily="34" charset="0"/>
              </a:rPr>
              <a:t> about the statuses.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664280-0ECC-4467-9BB6-CEB0B8D6A8FC}"/>
              </a:ext>
            </a:extLst>
          </p:cNvPr>
          <p:cNvSpPr/>
          <p:nvPr/>
        </p:nvSpPr>
        <p:spPr>
          <a:xfrm>
            <a:off x="5156619" y="5403954"/>
            <a:ext cx="3627620" cy="122826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Cleanup job run after completion of reduce tasks</a:t>
            </a:r>
          </a:p>
        </p:txBody>
      </p:sp>
    </p:spTree>
    <p:extLst>
      <p:ext uri="{BB962C8B-B14F-4D97-AF65-F5344CB8AC3E}">
        <p14:creationId xmlns:p14="http://schemas.microsoft.com/office/powerpoint/2010/main" val="3708078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F38E27C-7DE2-4487-A102-E0F247A83D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1932658"/>
              </p:ext>
            </p:extLst>
          </p:nvPr>
        </p:nvGraphicFramePr>
        <p:xfrm>
          <a:off x="338361" y="1493233"/>
          <a:ext cx="8386537" cy="5004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5" name="Google Shape;235;p21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Progress and Update Calculation</a:t>
            </a:r>
            <a:endParaRPr dirty="0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8362" y="2692809"/>
            <a:ext cx="3843894" cy="280858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Progress and Update Calculation</a:t>
            </a:r>
            <a:endParaRPr dirty="0">
              <a:latin typeface="Bahnschrift SemiBold" panose="020B0502040204020203" pitchFamily="34" charset="0"/>
            </a:endParaRPr>
          </a:p>
        </p:txBody>
      </p:sp>
      <p:graphicFrame>
        <p:nvGraphicFramePr>
          <p:cNvPr id="242" name="Google Shape;242;p22"/>
          <p:cNvGraphicFramePr/>
          <p:nvPr>
            <p:extLst>
              <p:ext uri="{D42A27DB-BD31-4B8C-83A1-F6EECF244321}">
                <p14:modId xmlns:p14="http://schemas.microsoft.com/office/powerpoint/2010/main" val="115102937"/>
              </p:ext>
            </p:extLst>
          </p:nvPr>
        </p:nvGraphicFramePr>
        <p:xfrm>
          <a:off x="4515313" y="2534899"/>
          <a:ext cx="4127422" cy="894102"/>
        </p:xfrm>
        <a:graphic>
          <a:graphicData uri="http://schemas.openxmlformats.org/drawingml/2006/table">
            <a:tbl>
              <a:tblPr firstRow="1" bandRow="1">
                <a:noFill/>
                <a:tableStyleId>{93B9637B-C933-47B9-9068-1F2D9C3954CE}</a:tableStyleId>
              </a:tblPr>
              <a:tblGrid>
                <a:gridCol w="4127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410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Bahnschrift" panose="020B0502040204020203" pitchFamily="34" charset="0"/>
                        </a:rPr>
                        <a:t>If just  started with reduce phase, completion would be:</a:t>
                      </a:r>
                      <a:endParaRPr sz="1800" dirty="0">
                        <a:latin typeface="Bahnschrift" panose="020B0502040204020203" pitchFamily="34" charset="0"/>
                      </a:endParaRPr>
                    </a:p>
                  </a:txBody>
                  <a:tcPr marL="91450" marR="91450" marT="45725" marB="45725"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8362" y="2692809"/>
            <a:ext cx="3843894" cy="280858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Progress and Update Calculation</a:t>
            </a:r>
            <a:endParaRPr dirty="0">
              <a:latin typeface="Bahnschrift SemiBold" panose="020B0502040204020203" pitchFamily="34" charset="0"/>
            </a:endParaRPr>
          </a:p>
        </p:txBody>
      </p:sp>
      <p:graphicFrame>
        <p:nvGraphicFramePr>
          <p:cNvPr id="242" name="Google Shape;242;p22"/>
          <p:cNvGraphicFramePr/>
          <p:nvPr>
            <p:extLst>
              <p:ext uri="{D42A27DB-BD31-4B8C-83A1-F6EECF244321}">
                <p14:modId xmlns:p14="http://schemas.microsoft.com/office/powerpoint/2010/main" val="3840968060"/>
              </p:ext>
            </p:extLst>
          </p:nvPr>
        </p:nvGraphicFramePr>
        <p:xfrm>
          <a:off x="4515313" y="2534899"/>
          <a:ext cx="4127422" cy="894102"/>
        </p:xfrm>
        <a:graphic>
          <a:graphicData uri="http://schemas.openxmlformats.org/drawingml/2006/table">
            <a:tbl>
              <a:tblPr firstRow="1" bandRow="1">
                <a:noFill/>
                <a:tableStyleId>{93B9637B-C933-47B9-9068-1F2D9C3954CE}</a:tableStyleId>
              </a:tblPr>
              <a:tblGrid>
                <a:gridCol w="4127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410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Bahnschrift" panose="020B0502040204020203" pitchFamily="34" charset="0"/>
                        </a:rPr>
                        <a:t>If just  started with reduce phase, completion would be:</a:t>
                      </a:r>
                      <a:endParaRPr sz="1800" dirty="0">
                        <a:latin typeface="Bahnschrift" panose="020B0502040204020203" pitchFamily="34" charset="0"/>
                      </a:endParaRPr>
                    </a:p>
                  </a:txBody>
                  <a:tcPr marL="91450" marR="91450" marT="45725" marB="45725"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406D9E5-5928-4EE3-BB11-DBFBC52713D0}"/>
              </a:ext>
            </a:extLst>
          </p:cNvPr>
          <p:cNvSpPr/>
          <p:nvPr/>
        </p:nvSpPr>
        <p:spPr>
          <a:xfrm>
            <a:off x="4352411" y="4316387"/>
            <a:ext cx="4453227" cy="1397540"/>
          </a:xfrm>
          <a:custGeom>
            <a:avLst/>
            <a:gdLst>
              <a:gd name="connsiteX0" fmla="*/ 0 w 3828177"/>
              <a:gd name="connsiteY0" fmla="*/ 139754 h 1397540"/>
              <a:gd name="connsiteX1" fmla="*/ 139754 w 3828177"/>
              <a:gd name="connsiteY1" fmla="*/ 0 h 1397540"/>
              <a:gd name="connsiteX2" fmla="*/ 3688423 w 3828177"/>
              <a:gd name="connsiteY2" fmla="*/ 0 h 1397540"/>
              <a:gd name="connsiteX3" fmla="*/ 3828177 w 3828177"/>
              <a:gd name="connsiteY3" fmla="*/ 139754 h 1397540"/>
              <a:gd name="connsiteX4" fmla="*/ 3828177 w 3828177"/>
              <a:gd name="connsiteY4" fmla="*/ 1257786 h 1397540"/>
              <a:gd name="connsiteX5" fmla="*/ 3688423 w 3828177"/>
              <a:gd name="connsiteY5" fmla="*/ 1397540 h 1397540"/>
              <a:gd name="connsiteX6" fmla="*/ 139754 w 3828177"/>
              <a:gd name="connsiteY6" fmla="*/ 1397540 h 1397540"/>
              <a:gd name="connsiteX7" fmla="*/ 0 w 3828177"/>
              <a:gd name="connsiteY7" fmla="*/ 1257786 h 1397540"/>
              <a:gd name="connsiteX8" fmla="*/ 0 w 3828177"/>
              <a:gd name="connsiteY8" fmla="*/ 139754 h 139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8177" h="1397540">
                <a:moveTo>
                  <a:pt x="0" y="139754"/>
                </a:moveTo>
                <a:cubicBezTo>
                  <a:pt x="0" y="62570"/>
                  <a:pt x="62570" y="0"/>
                  <a:pt x="139754" y="0"/>
                </a:cubicBezTo>
                <a:lnTo>
                  <a:pt x="3688423" y="0"/>
                </a:lnTo>
                <a:cubicBezTo>
                  <a:pt x="3765607" y="0"/>
                  <a:pt x="3828177" y="62570"/>
                  <a:pt x="3828177" y="139754"/>
                </a:cubicBezTo>
                <a:lnTo>
                  <a:pt x="3828177" y="1257786"/>
                </a:lnTo>
                <a:cubicBezTo>
                  <a:pt x="3828177" y="1334970"/>
                  <a:pt x="3765607" y="1397540"/>
                  <a:pt x="3688423" y="1397540"/>
                </a:cubicBezTo>
                <a:lnTo>
                  <a:pt x="139754" y="1397540"/>
                </a:lnTo>
                <a:cubicBezTo>
                  <a:pt x="62570" y="1397540"/>
                  <a:pt x="0" y="1334970"/>
                  <a:pt x="0" y="1257786"/>
                </a:cubicBezTo>
                <a:lnTo>
                  <a:pt x="0" y="139754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413" tIns="61253" rIns="71413" bIns="61253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0" i="0" kern="1200">
                <a:latin typeface="Bahnschrift" panose="020B0502040204020203" pitchFamily="34" charset="0"/>
              </a:rPr>
              <a:t>1/3 (Sort) + 1/3 (Shuffle) = 2/3 or 67%</a:t>
            </a:r>
            <a:endParaRPr lang="en-IN" sz="2000" kern="120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344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8362" y="2692809"/>
            <a:ext cx="3843894" cy="280858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Progress and Update Calculation</a:t>
            </a:r>
            <a:endParaRPr dirty="0">
              <a:latin typeface="Bahnschrift SemiBold" panose="020B0502040204020203" pitchFamily="34" charset="0"/>
            </a:endParaRPr>
          </a:p>
        </p:txBody>
      </p:sp>
      <p:graphicFrame>
        <p:nvGraphicFramePr>
          <p:cNvPr id="242" name="Google Shape;242;p22"/>
          <p:cNvGraphicFramePr/>
          <p:nvPr>
            <p:extLst>
              <p:ext uri="{D42A27DB-BD31-4B8C-83A1-F6EECF244321}">
                <p14:modId xmlns:p14="http://schemas.microsoft.com/office/powerpoint/2010/main" val="924428769"/>
              </p:ext>
            </p:extLst>
          </p:nvPr>
        </p:nvGraphicFramePr>
        <p:xfrm>
          <a:off x="4515313" y="2534898"/>
          <a:ext cx="4127422" cy="1188730"/>
        </p:xfrm>
        <a:graphic>
          <a:graphicData uri="http://schemas.openxmlformats.org/drawingml/2006/table">
            <a:tbl>
              <a:tblPr firstRow="1" bandRow="1">
                <a:noFill/>
                <a:tableStyleId>{93B9637B-C933-47B9-9068-1F2D9C3954CE}</a:tableStyleId>
              </a:tblPr>
              <a:tblGrid>
                <a:gridCol w="4127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442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Bahnschrift" panose="020B0502040204020203" pitchFamily="34" charset="0"/>
                        </a:rPr>
                        <a:t>If just half of reduce phase is done, then completion would be:</a:t>
                      </a:r>
                    </a:p>
                  </a:txBody>
                  <a:tcPr marL="91450" marR="91450" marT="45725" marB="45725"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465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8362" y="2692809"/>
            <a:ext cx="3843894" cy="280858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dirty="0">
                <a:latin typeface="Bahnschrift SemiBold" panose="020B0502040204020203" pitchFamily="34" charset="0"/>
              </a:rPr>
              <a:t>Progress and Update Calculation</a:t>
            </a:r>
            <a:endParaRPr dirty="0">
              <a:latin typeface="Bahnschrift SemiBold" panose="020B0502040204020203" pitchFamily="34" charset="0"/>
            </a:endParaRPr>
          </a:p>
        </p:txBody>
      </p:sp>
      <p:graphicFrame>
        <p:nvGraphicFramePr>
          <p:cNvPr id="242" name="Google Shape;242;p22"/>
          <p:cNvGraphicFramePr/>
          <p:nvPr/>
        </p:nvGraphicFramePr>
        <p:xfrm>
          <a:off x="4515313" y="2534898"/>
          <a:ext cx="4127422" cy="1188730"/>
        </p:xfrm>
        <a:graphic>
          <a:graphicData uri="http://schemas.openxmlformats.org/drawingml/2006/table">
            <a:tbl>
              <a:tblPr firstRow="1" bandRow="1">
                <a:noFill/>
                <a:tableStyleId>{93B9637B-C933-47B9-9068-1F2D9C3954CE}</a:tableStyleId>
              </a:tblPr>
              <a:tblGrid>
                <a:gridCol w="4127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442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Bahnschrift" panose="020B0502040204020203" pitchFamily="34" charset="0"/>
                        </a:rPr>
                        <a:t>If just half of reduce phase is done, then completion would be:</a:t>
                      </a:r>
                    </a:p>
                  </a:txBody>
                  <a:tcPr marL="91450" marR="91450" marT="45725" marB="45725"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406D9E5-5928-4EE3-BB11-DBFBC52713D0}"/>
              </a:ext>
            </a:extLst>
          </p:cNvPr>
          <p:cNvSpPr/>
          <p:nvPr/>
        </p:nvSpPr>
        <p:spPr>
          <a:xfrm>
            <a:off x="4352411" y="4316387"/>
            <a:ext cx="4453227" cy="1397540"/>
          </a:xfrm>
          <a:custGeom>
            <a:avLst/>
            <a:gdLst>
              <a:gd name="connsiteX0" fmla="*/ 0 w 3828177"/>
              <a:gd name="connsiteY0" fmla="*/ 139754 h 1397540"/>
              <a:gd name="connsiteX1" fmla="*/ 139754 w 3828177"/>
              <a:gd name="connsiteY1" fmla="*/ 0 h 1397540"/>
              <a:gd name="connsiteX2" fmla="*/ 3688423 w 3828177"/>
              <a:gd name="connsiteY2" fmla="*/ 0 h 1397540"/>
              <a:gd name="connsiteX3" fmla="*/ 3828177 w 3828177"/>
              <a:gd name="connsiteY3" fmla="*/ 139754 h 1397540"/>
              <a:gd name="connsiteX4" fmla="*/ 3828177 w 3828177"/>
              <a:gd name="connsiteY4" fmla="*/ 1257786 h 1397540"/>
              <a:gd name="connsiteX5" fmla="*/ 3688423 w 3828177"/>
              <a:gd name="connsiteY5" fmla="*/ 1397540 h 1397540"/>
              <a:gd name="connsiteX6" fmla="*/ 139754 w 3828177"/>
              <a:gd name="connsiteY6" fmla="*/ 1397540 h 1397540"/>
              <a:gd name="connsiteX7" fmla="*/ 0 w 3828177"/>
              <a:gd name="connsiteY7" fmla="*/ 1257786 h 1397540"/>
              <a:gd name="connsiteX8" fmla="*/ 0 w 3828177"/>
              <a:gd name="connsiteY8" fmla="*/ 139754 h 139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8177" h="1397540">
                <a:moveTo>
                  <a:pt x="0" y="139754"/>
                </a:moveTo>
                <a:cubicBezTo>
                  <a:pt x="0" y="62570"/>
                  <a:pt x="62570" y="0"/>
                  <a:pt x="139754" y="0"/>
                </a:cubicBezTo>
                <a:lnTo>
                  <a:pt x="3688423" y="0"/>
                </a:lnTo>
                <a:cubicBezTo>
                  <a:pt x="3765607" y="0"/>
                  <a:pt x="3828177" y="62570"/>
                  <a:pt x="3828177" y="139754"/>
                </a:cubicBezTo>
                <a:lnTo>
                  <a:pt x="3828177" y="1257786"/>
                </a:lnTo>
                <a:cubicBezTo>
                  <a:pt x="3828177" y="1334970"/>
                  <a:pt x="3765607" y="1397540"/>
                  <a:pt x="3688423" y="1397540"/>
                </a:cubicBezTo>
                <a:lnTo>
                  <a:pt x="139754" y="1397540"/>
                </a:lnTo>
                <a:cubicBezTo>
                  <a:pt x="62570" y="1397540"/>
                  <a:pt x="0" y="1334970"/>
                  <a:pt x="0" y="1257786"/>
                </a:cubicBezTo>
                <a:lnTo>
                  <a:pt x="0" y="139754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1413" tIns="61253" rIns="71413" bIns="61253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0" i="0" kern="1200" dirty="0">
                <a:latin typeface="Bahnschrift" panose="020B0502040204020203" pitchFamily="34" charset="0"/>
              </a:rPr>
              <a:t>1/3 (Sort) + 1/3 (Shuffle) +1/6 (Reduce) = 5/6 or 83%</a:t>
            </a:r>
          </a:p>
        </p:txBody>
      </p:sp>
    </p:spTree>
    <p:extLst>
      <p:ext uri="{BB962C8B-B14F-4D97-AF65-F5344CB8AC3E}">
        <p14:creationId xmlns:p14="http://schemas.microsoft.com/office/powerpoint/2010/main" val="1137943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465" y="773662"/>
            <a:ext cx="7695096" cy="53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" name="Google Shape;266;p26"/>
          <p:cNvGraphicFramePr/>
          <p:nvPr>
            <p:extLst>
              <p:ext uri="{D42A27DB-BD31-4B8C-83A1-F6EECF244321}">
                <p14:modId xmlns:p14="http://schemas.microsoft.com/office/powerpoint/2010/main" val="3968915756"/>
              </p:ext>
            </p:extLst>
          </p:nvPr>
        </p:nvGraphicFramePr>
        <p:xfrm>
          <a:off x="2934586" y="4631961"/>
          <a:ext cx="3530000" cy="2194112"/>
        </p:xfrm>
        <a:graphic>
          <a:graphicData uri="http://schemas.openxmlformats.org/drawingml/2006/table">
            <a:tbl>
              <a:tblPr firstRow="1" bandRow="1">
                <a:noFill/>
                <a:tableStyleId>{93B9637B-C933-47B9-9068-1F2D9C3954CE}</a:tableStyleId>
              </a:tblPr>
              <a:tblGrid>
                <a:gridCol w="35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85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Bahnschrift" panose="020B0502040204020203" pitchFamily="34" charset="0"/>
                        </a:rPr>
                        <a:t>Job Submission</a:t>
                      </a:r>
                      <a:endParaRPr dirty="0">
                        <a:latin typeface="Bahnschrift" panose="020B0502040204020203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5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5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5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67" name="Google Shape;26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7048" y="0"/>
            <a:ext cx="6380292" cy="4267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3118" y="1381328"/>
            <a:ext cx="5657764" cy="4389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/>
          <p:nvPr/>
        </p:nvSpPr>
        <p:spPr>
          <a:xfrm>
            <a:off x="3423683" y="4827181"/>
            <a:ext cx="3561907" cy="606056"/>
          </a:xfrm>
          <a:prstGeom prst="rect">
            <a:avLst/>
          </a:prstGeom>
          <a:solidFill>
            <a:srgbClr val="44525A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Task </a:t>
            </a:r>
            <a:r>
              <a:rPr lang="en-IN" sz="2400" dirty="0" err="1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Intialization</a:t>
            </a:r>
            <a:endParaRPr sz="2400" dirty="0">
              <a:solidFill>
                <a:schemeClr val="lt1"/>
              </a:solidFill>
              <a:latin typeface="Bahnschrift" panose="020B0502040204020203" pitchFamily="34" charset="0"/>
              <a:sym typeface="Arial"/>
            </a:endParaRPr>
          </a:p>
        </p:txBody>
      </p:sp>
      <p:pic>
        <p:nvPicPr>
          <p:cNvPr id="278" name="Google Shape;27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960" y="925033"/>
            <a:ext cx="8845040" cy="3456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/>
          <p:nvPr/>
        </p:nvSpPr>
        <p:spPr>
          <a:xfrm>
            <a:off x="3315520" y="5550195"/>
            <a:ext cx="3561907" cy="606056"/>
          </a:xfrm>
          <a:prstGeom prst="rect">
            <a:avLst/>
          </a:prstGeom>
          <a:solidFill>
            <a:srgbClr val="44525A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Task Assignment</a:t>
            </a:r>
            <a:endParaRPr sz="1800" dirty="0">
              <a:latin typeface="Bahnschrift" panose="020B0502040204020203" pitchFamily="34" charset="0"/>
            </a:endParaRPr>
          </a:p>
        </p:txBody>
      </p:sp>
      <p:pic>
        <p:nvPicPr>
          <p:cNvPr id="284" name="Google Shape;28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1185" y="287349"/>
            <a:ext cx="5910579" cy="5262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/>
          <p:nvPr/>
        </p:nvSpPr>
        <p:spPr>
          <a:xfrm>
            <a:off x="2934584" y="5784112"/>
            <a:ext cx="3561907" cy="606056"/>
          </a:xfrm>
          <a:prstGeom prst="rect">
            <a:avLst/>
          </a:prstGeom>
          <a:solidFill>
            <a:srgbClr val="44525A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Task Execution</a:t>
            </a:r>
            <a:endParaRPr sz="2000" dirty="0">
              <a:latin typeface="Bahnschrift" panose="020B0502040204020203" pitchFamily="34" charset="0"/>
            </a:endParaRPr>
          </a:p>
        </p:txBody>
      </p:sp>
      <p:pic>
        <p:nvPicPr>
          <p:cNvPr id="290" name="Google Shape;29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8777" y="416412"/>
            <a:ext cx="7166445" cy="5041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/>
          <p:nvPr/>
        </p:nvSpPr>
        <p:spPr>
          <a:xfrm>
            <a:off x="2934584" y="5784112"/>
            <a:ext cx="3561907" cy="606056"/>
          </a:xfrm>
          <a:prstGeom prst="rect">
            <a:avLst/>
          </a:prstGeom>
          <a:solidFill>
            <a:srgbClr val="44525A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Bahnschrift" panose="020B0502040204020203" pitchFamily="34" charset="0"/>
                <a:sym typeface="Arial"/>
              </a:rPr>
              <a:t>Job Completion</a:t>
            </a:r>
            <a:endParaRPr sz="1800" dirty="0">
              <a:latin typeface="Bahnschrift" panose="020B0502040204020203" pitchFamily="34" charset="0"/>
            </a:endParaRPr>
          </a:p>
        </p:txBody>
      </p:sp>
      <p:pic>
        <p:nvPicPr>
          <p:cNvPr id="296" name="Google Shape;29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165" y="244549"/>
            <a:ext cx="7304961" cy="499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594</Words>
  <Application>Microsoft Office PowerPoint</Application>
  <PresentationFormat>On-screen Show (4:3)</PresentationFormat>
  <Paragraphs>94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Bahnschrift</vt:lpstr>
      <vt:lpstr>Bahnschrift SemiBold</vt:lpstr>
      <vt:lpstr>Calibri</vt:lpstr>
      <vt:lpstr>Office Theme</vt:lpstr>
      <vt:lpstr>PowerPoint Presentation</vt:lpstr>
      <vt:lpstr>PowerPoint Presentation</vt:lpstr>
      <vt:lpstr>PowerPoint Presentation</vt:lpstr>
      <vt:lpstr>Job Submission</vt:lpstr>
      <vt:lpstr>Job Submission</vt:lpstr>
      <vt:lpstr>Job Submission</vt:lpstr>
      <vt:lpstr>Job Submission</vt:lpstr>
      <vt:lpstr>Job Submission</vt:lpstr>
      <vt:lpstr>Job Submission</vt:lpstr>
      <vt:lpstr>Job Initialization</vt:lpstr>
      <vt:lpstr>Job Initialization</vt:lpstr>
      <vt:lpstr>Job Initialization</vt:lpstr>
      <vt:lpstr>Job Initialization</vt:lpstr>
      <vt:lpstr>Job Initialization</vt:lpstr>
      <vt:lpstr>Task Assignment</vt:lpstr>
      <vt:lpstr>Task Assignment</vt:lpstr>
      <vt:lpstr>Task Assignment</vt:lpstr>
      <vt:lpstr>Task Execution</vt:lpstr>
      <vt:lpstr>Task Execution</vt:lpstr>
      <vt:lpstr>Task Execution</vt:lpstr>
      <vt:lpstr>Task Execution</vt:lpstr>
      <vt:lpstr>Progress and Update Calculation</vt:lpstr>
      <vt:lpstr>Progress and Update Calculation</vt:lpstr>
      <vt:lpstr>Progress and Update Calculation</vt:lpstr>
      <vt:lpstr>Progress and Update Calculation</vt:lpstr>
      <vt:lpstr>Progress and Update Calculation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4</cp:revision>
  <dcterms:created xsi:type="dcterms:W3CDTF">2021-05-13T17:45:44Z</dcterms:created>
  <dcterms:modified xsi:type="dcterms:W3CDTF">2021-08-31T05:50:06Z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426190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