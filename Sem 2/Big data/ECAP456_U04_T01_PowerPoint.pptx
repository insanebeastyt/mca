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54"/>
  </p:handoutMasterIdLst>
  <p:sldIdLst>
    <p:sldId id="266" r:id="rId2"/>
    <p:sldId id="261" r:id="rId3"/>
    <p:sldId id="280" r:id="rId4"/>
    <p:sldId id="317" r:id="rId5"/>
    <p:sldId id="318" r:id="rId6"/>
    <p:sldId id="319" r:id="rId7"/>
    <p:sldId id="320" r:id="rId8"/>
    <p:sldId id="269" r:id="rId9"/>
    <p:sldId id="321" r:id="rId10"/>
    <p:sldId id="322" r:id="rId11"/>
    <p:sldId id="270" r:id="rId12"/>
    <p:sldId id="272" r:id="rId13"/>
    <p:sldId id="273" r:id="rId14"/>
    <p:sldId id="274" r:id="rId15"/>
    <p:sldId id="271" r:id="rId16"/>
    <p:sldId id="276" r:id="rId17"/>
    <p:sldId id="277" r:id="rId18"/>
    <p:sldId id="279" r:id="rId19"/>
    <p:sldId id="281" r:id="rId20"/>
    <p:sldId id="284" r:id="rId21"/>
    <p:sldId id="285" r:id="rId22"/>
    <p:sldId id="286" r:id="rId23"/>
    <p:sldId id="283" r:id="rId24"/>
    <p:sldId id="288" r:id="rId25"/>
    <p:sldId id="323" r:id="rId26"/>
    <p:sldId id="289" r:id="rId27"/>
    <p:sldId id="324" r:id="rId28"/>
    <p:sldId id="291" r:id="rId29"/>
    <p:sldId id="292" r:id="rId30"/>
    <p:sldId id="325" r:id="rId31"/>
    <p:sldId id="326" r:id="rId32"/>
    <p:sldId id="327" r:id="rId33"/>
    <p:sldId id="328" r:id="rId34"/>
    <p:sldId id="295" r:id="rId35"/>
    <p:sldId id="296" r:id="rId36"/>
    <p:sldId id="297" r:id="rId37"/>
    <p:sldId id="298" r:id="rId38"/>
    <p:sldId id="301" r:id="rId39"/>
    <p:sldId id="302" r:id="rId40"/>
    <p:sldId id="304" r:id="rId41"/>
    <p:sldId id="305" r:id="rId42"/>
    <p:sldId id="308" r:id="rId43"/>
    <p:sldId id="309" r:id="rId44"/>
    <p:sldId id="310" r:id="rId45"/>
    <p:sldId id="311" r:id="rId46"/>
    <p:sldId id="307" r:id="rId47"/>
    <p:sldId id="303" r:id="rId48"/>
    <p:sldId id="312" r:id="rId49"/>
    <p:sldId id="313" r:id="rId50"/>
    <p:sldId id="314" r:id="rId51"/>
    <p:sldId id="315" r:id="rId52"/>
    <p:sldId id="263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64AFDF"/>
    <a:srgbClr val="E4E7E9"/>
    <a:srgbClr val="618495"/>
    <a:srgbClr val="44525B"/>
    <a:srgbClr val="072235"/>
    <a:srgbClr val="453A38"/>
    <a:srgbClr val="B8B192"/>
    <a:srgbClr val="473B39"/>
    <a:srgbClr val="30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>
        <p:scale>
          <a:sx n="50" d="100"/>
          <a:sy n="50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2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4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9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 ?><Relationships xmlns="http://schemas.openxmlformats.org/package/2006/relationships"><Relationship Id="rId3" Target="../media/image13.jpeg" Type="http://schemas.openxmlformats.org/officeDocument/2006/relationships/image"/><Relationship Id="rId2" Target="../media/image12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3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4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5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 ?><Relationships xmlns="http://schemas.openxmlformats.org/package/2006/relationships"><Relationship Id="rId2" Target="../media/image2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b="0" i="0" u="none" strike="noStrike" baseline="0" dirty="0">
                <a:solidFill>
                  <a:srgbClr val="000000"/>
                </a:solidFill>
              </a:rPr>
              <a:t>Identify key differences between NoSQL and relational databases.</a:t>
            </a:r>
          </a:p>
          <a:p>
            <a:pPr algn="just"/>
            <a:r>
              <a:rPr lang="en-US" sz="2800" b="0" i="0" u="none" strike="noStrike" baseline="0" dirty="0">
                <a:solidFill>
                  <a:srgbClr val="000000"/>
                </a:solidFill>
              </a:rPr>
              <a:t>Appreciate the architecture of NoSQL databases.</a:t>
            </a:r>
          </a:p>
          <a:p>
            <a:pPr algn="just"/>
            <a:r>
              <a:rPr lang="en-US" sz="2800" b="0" i="0" u="none" strike="noStrike" baseline="0" dirty="0">
                <a:solidFill>
                  <a:srgbClr val="000000"/>
                </a:solidFill>
              </a:rPr>
              <a:t>Describe the major types of NoSQL databases and their features.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448531"/>
            <a:ext cx="8486775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Organizing large amounts of heterogeneous data.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ompletely aligned with the nature of the problems being solved.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uperfast in accomplishing that task.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R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elaxing many of the integrity.</a:t>
            </a:r>
          </a:p>
          <a:p>
            <a:pPr algn="just"/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Redundancy constraints of storing data in relational databases.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34572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448531"/>
            <a:ext cx="8486775" cy="500488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O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rganizing large amounts of heterogeneous data.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Completely aligned with the nature of the problems being solved.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uperfast in accomplishing that task.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R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elaxing many of the integrity.</a:t>
            </a:r>
          </a:p>
          <a:p>
            <a:pPr algn="just"/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Redundancy constraints of storing data in relational databases.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57114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448531"/>
            <a:ext cx="8486775" cy="500488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O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rganizing large amounts of heterogeneous data.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ompletely aligned with the nature of the problems being solved.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Superfast in accomplishing that task.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R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elaxing many of the integrity.</a:t>
            </a:r>
          </a:p>
          <a:p>
            <a:pPr algn="just"/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Redundancy constraints of storing data in relational databases.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71005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448531"/>
            <a:ext cx="8486775" cy="500488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O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rganizing large amounts of heterogeneous data.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ompletely aligned with the nature of the problems being solved.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uperfast in accomplishing that task.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Relaxing many of the integrity.</a:t>
            </a:r>
          </a:p>
          <a:p>
            <a:pPr algn="just"/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Redundancy constraints of storing data in relational databases.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2132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448531"/>
            <a:ext cx="8486775" cy="500488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O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rganizing large amounts of heterogeneous data.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ompletely aligned with the nature of the problems being solved.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uperfast in accomplishing that task.</a:t>
            </a:r>
          </a:p>
          <a:p>
            <a:pPr algn="just"/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R</a:t>
            </a:r>
            <a:r>
              <a:rPr lang="en-US" sz="2400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elaxing many of the integrity.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Redundancy constraints of storing data in relational databases.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406575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57615-AA2F-41E1-B4A3-A26172363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Powerful and universally used database technology.</a:t>
            </a:r>
          </a:p>
          <a:p>
            <a:pPr algn="just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tructured and optimized to ensure accuracy and consistency of data.</a:t>
            </a:r>
          </a:p>
          <a:p>
            <a:pPr algn="just"/>
            <a:r>
              <a:rPr lang="en-US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Stored on the largest and most reliable of computers.</a:t>
            </a:r>
            <a:endParaRPr lang="en-IN" sz="4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E9DEB5-775C-4CBE-BE52-459E9A1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Relational 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248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57615-AA2F-41E1-B4A3-A26172363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Powerful and universally used database technology.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Structured and optimized to ensure accuracy and consistency of data.</a:t>
            </a:r>
          </a:p>
          <a:p>
            <a:pPr algn="just"/>
            <a:r>
              <a:rPr lang="en-US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Stored on the largest and most reliable of computers.</a:t>
            </a:r>
            <a:endParaRPr lang="en-IN" sz="4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E9DEB5-775C-4CBE-BE52-459E9A1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Relational 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62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57615-AA2F-41E1-B4A3-A26172363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Powerful and universally used database technology.</a:t>
            </a:r>
          </a:p>
          <a:p>
            <a:pPr algn="just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b="0" i="0" u="none" strike="noStrike" baseline="0" dirty="0">
                <a:solidFill>
                  <a:schemeClr val="bg1">
                    <a:lumMod val="65000"/>
                  </a:schemeClr>
                </a:solidFill>
              </a:rPr>
              <a:t>tructured and optimized to ensure accuracy and consistency of data.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Stored on the largest and most reliable of computers.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E9DEB5-775C-4CBE-BE52-459E9A1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Relational 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043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E9DEB5-775C-4CBE-BE52-459E9A1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NOSQL database emerge?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30F48-96D9-4382-941B-A5F7147E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318" y="1718407"/>
            <a:ext cx="5023364" cy="34577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760940-C9E1-4D37-AD98-438A7CCC7EEB}"/>
              </a:ext>
            </a:extLst>
          </p:cNvPr>
          <p:cNvSpPr/>
          <p:nvPr/>
        </p:nvSpPr>
        <p:spPr>
          <a:xfrm>
            <a:off x="3274828" y="5255340"/>
            <a:ext cx="2594344" cy="75357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U</a:t>
            </a:r>
            <a:r>
              <a:rPr lang="en-US" sz="2400" b="0" i="0" u="none" strike="noStrike" baseline="0" dirty="0">
                <a:latin typeface="Bahnschrift" panose="020B0502040204020203" pitchFamily="34" charset="0"/>
              </a:rPr>
              <a:t>npredictable stream of data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74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E9DEB5-775C-4CBE-BE52-459E9A1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NOSQL database emerge?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30F48-96D9-4382-941B-A5F7147E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62" y="1440823"/>
            <a:ext cx="3606671" cy="248259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2D53AA9-F5FA-4F16-A97C-F1C307DEC0FD}"/>
              </a:ext>
            </a:extLst>
          </p:cNvPr>
          <p:cNvGrpSpPr/>
          <p:nvPr/>
        </p:nvGrpSpPr>
        <p:grpSpPr>
          <a:xfrm>
            <a:off x="4173160" y="2190192"/>
            <a:ext cx="4790086" cy="1737195"/>
            <a:chOff x="1621345" y="2340014"/>
            <a:chExt cx="7556200" cy="9233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00EDCC-89A7-4941-B8F7-6778F4FF53EF}"/>
                </a:ext>
              </a:extLst>
            </p:cNvPr>
            <p:cNvSpPr/>
            <p:nvPr/>
          </p:nvSpPr>
          <p:spPr>
            <a:xfrm>
              <a:off x="1621345" y="2340014"/>
              <a:ext cx="6470032" cy="923330"/>
            </a:xfrm>
            <a:prstGeom prst="rect">
              <a:avLst/>
            </a:prstGeom>
            <a:solidFill>
              <a:srgbClr val="44525A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bg1"/>
                  </a:solidFill>
                  <a:effectLst/>
                </a:rPr>
                <a:t>Relational Database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B6C516-4790-4D90-9201-68E6E437A436}"/>
                </a:ext>
              </a:extLst>
            </p:cNvPr>
            <p:cNvSpPr/>
            <p:nvPr/>
          </p:nvSpPr>
          <p:spPr>
            <a:xfrm>
              <a:off x="2002437" y="2340014"/>
              <a:ext cx="7175108" cy="768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8800" b="1" cap="none" spc="0" dirty="0">
                  <a:ln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Bahnschrift" panose="020B0502040204020203" pitchFamily="34" charset="0"/>
                </a:rPr>
                <a:t>X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F2A8D1E-0383-4CF7-A97F-301FAB6768FB}"/>
              </a:ext>
            </a:extLst>
          </p:cNvPr>
          <p:cNvSpPr/>
          <p:nvPr/>
        </p:nvSpPr>
        <p:spPr>
          <a:xfrm>
            <a:off x="786809" y="3968385"/>
            <a:ext cx="2594344" cy="62732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U</a:t>
            </a:r>
            <a:r>
              <a:rPr lang="en-US" sz="1800" b="0" i="0" u="none" strike="noStrike" baseline="0" dirty="0">
                <a:latin typeface="Bahnschrift" panose="020B0502040204020203" pitchFamily="34" charset="0"/>
              </a:rPr>
              <a:t>npredictable stream of data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56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E9DEB5-775C-4CBE-BE52-459E9A1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NOSQL database emerge?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30F48-96D9-4382-941B-A5F7147E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62" y="1440823"/>
            <a:ext cx="3606671" cy="24825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760940-C9E1-4D37-AD98-438A7CCC7EEB}"/>
              </a:ext>
            </a:extLst>
          </p:cNvPr>
          <p:cNvSpPr/>
          <p:nvPr/>
        </p:nvSpPr>
        <p:spPr>
          <a:xfrm>
            <a:off x="786809" y="3968385"/>
            <a:ext cx="2594344" cy="62732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U</a:t>
            </a:r>
            <a:r>
              <a:rPr lang="en-US" sz="1800" b="0" i="0" u="none" strike="noStrike" baseline="0" dirty="0">
                <a:latin typeface="Bahnschrift" panose="020B0502040204020203" pitchFamily="34" charset="0"/>
              </a:rPr>
              <a:t>npredictable stream of data</a:t>
            </a:r>
            <a:endParaRPr lang="en-IN" dirty="0">
              <a:latin typeface="Bahnschrift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D53AA9-F5FA-4F16-A97C-F1C307DEC0FD}"/>
              </a:ext>
            </a:extLst>
          </p:cNvPr>
          <p:cNvGrpSpPr/>
          <p:nvPr/>
        </p:nvGrpSpPr>
        <p:grpSpPr>
          <a:xfrm>
            <a:off x="4173160" y="2190192"/>
            <a:ext cx="4790086" cy="1737195"/>
            <a:chOff x="1621345" y="2340014"/>
            <a:chExt cx="7556200" cy="9233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00EDCC-89A7-4941-B8F7-6778F4FF53EF}"/>
                </a:ext>
              </a:extLst>
            </p:cNvPr>
            <p:cNvSpPr/>
            <p:nvPr/>
          </p:nvSpPr>
          <p:spPr>
            <a:xfrm>
              <a:off x="1621345" y="2340014"/>
              <a:ext cx="6470032" cy="923330"/>
            </a:xfrm>
            <a:prstGeom prst="rect">
              <a:avLst/>
            </a:prstGeom>
            <a:solidFill>
              <a:srgbClr val="44525A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bg1"/>
                  </a:solidFill>
                  <a:effectLst/>
                </a:rPr>
                <a:t>Relational Database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B6C516-4790-4D90-9201-68E6E437A436}"/>
                </a:ext>
              </a:extLst>
            </p:cNvPr>
            <p:cNvSpPr/>
            <p:nvPr/>
          </p:nvSpPr>
          <p:spPr>
            <a:xfrm>
              <a:off x="2002437" y="2340014"/>
              <a:ext cx="7175108" cy="768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8800" b="1" cap="none" spc="0" dirty="0">
                  <a:ln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Bahnschrift" panose="020B0502040204020203" pitchFamily="34" charset="0"/>
                </a:rPr>
                <a:t>X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4D0CFFF-3FC5-4467-8CA3-316C7CD13ADD}"/>
              </a:ext>
            </a:extLst>
          </p:cNvPr>
          <p:cNvSpPr/>
          <p:nvPr/>
        </p:nvSpPr>
        <p:spPr>
          <a:xfrm>
            <a:off x="1205023" y="5344634"/>
            <a:ext cx="1325526" cy="62732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Cost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839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E9DEB5-775C-4CBE-BE52-459E9A1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NOSQL database emerge?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30F48-96D9-4382-941B-A5F7147E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62" y="1440823"/>
            <a:ext cx="3606671" cy="24825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760940-C9E1-4D37-AD98-438A7CCC7EEB}"/>
              </a:ext>
            </a:extLst>
          </p:cNvPr>
          <p:cNvSpPr/>
          <p:nvPr/>
        </p:nvSpPr>
        <p:spPr>
          <a:xfrm>
            <a:off x="786809" y="3968385"/>
            <a:ext cx="2594344" cy="62732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U</a:t>
            </a:r>
            <a:r>
              <a:rPr lang="en-US" sz="1800" b="0" i="0" u="none" strike="noStrike" baseline="0" dirty="0">
                <a:latin typeface="Bahnschrift" panose="020B0502040204020203" pitchFamily="34" charset="0"/>
              </a:rPr>
              <a:t>npredictable stream of data</a:t>
            </a:r>
            <a:endParaRPr lang="en-IN" dirty="0">
              <a:latin typeface="Bahnschrift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D53AA9-F5FA-4F16-A97C-F1C307DEC0FD}"/>
              </a:ext>
            </a:extLst>
          </p:cNvPr>
          <p:cNvGrpSpPr/>
          <p:nvPr/>
        </p:nvGrpSpPr>
        <p:grpSpPr>
          <a:xfrm>
            <a:off x="4173160" y="2190192"/>
            <a:ext cx="4790086" cy="1737195"/>
            <a:chOff x="1621345" y="2340014"/>
            <a:chExt cx="7556200" cy="9233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00EDCC-89A7-4941-B8F7-6778F4FF53EF}"/>
                </a:ext>
              </a:extLst>
            </p:cNvPr>
            <p:cNvSpPr/>
            <p:nvPr/>
          </p:nvSpPr>
          <p:spPr>
            <a:xfrm>
              <a:off x="1621345" y="2340014"/>
              <a:ext cx="6470032" cy="923330"/>
            </a:xfrm>
            <a:prstGeom prst="rect">
              <a:avLst/>
            </a:prstGeom>
            <a:solidFill>
              <a:srgbClr val="44525A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bg1"/>
                  </a:solidFill>
                  <a:effectLst/>
                </a:rPr>
                <a:t>Relational Database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B6C516-4790-4D90-9201-68E6E437A436}"/>
                </a:ext>
              </a:extLst>
            </p:cNvPr>
            <p:cNvSpPr/>
            <p:nvPr/>
          </p:nvSpPr>
          <p:spPr>
            <a:xfrm>
              <a:off x="2002437" y="2340014"/>
              <a:ext cx="7175108" cy="768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8800" b="1" cap="none" spc="0" dirty="0">
                  <a:ln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Bahnschrift" panose="020B0502040204020203" pitchFamily="34" charset="0"/>
                </a:rPr>
                <a:t>X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4D0CFFF-3FC5-4467-8CA3-316C7CD13ADD}"/>
              </a:ext>
            </a:extLst>
          </p:cNvPr>
          <p:cNvSpPr/>
          <p:nvPr/>
        </p:nvSpPr>
        <p:spPr>
          <a:xfrm>
            <a:off x="1205023" y="5344634"/>
            <a:ext cx="1325526" cy="62732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Cost</a:t>
            </a:r>
            <a:endParaRPr lang="en-IN" sz="24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D69E14-6CF5-422E-A57A-2EF45AE5475E}"/>
              </a:ext>
            </a:extLst>
          </p:cNvPr>
          <p:cNvSpPr/>
          <p:nvPr/>
        </p:nvSpPr>
        <p:spPr>
          <a:xfrm>
            <a:off x="5941709" y="5319824"/>
            <a:ext cx="1171473" cy="62732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Speed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974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E9DEB5-775C-4CBE-BE52-459E9A1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NOSQL database emerge?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AB259-4A17-413C-8A9A-2B9A645EEAEA}"/>
              </a:ext>
            </a:extLst>
          </p:cNvPr>
          <p:cNvSpPr txBox="1"/>
          <p:nvPr/>
        </p:nvSpPr>
        <p:spPr>
          <a:xfrm>
            <a:off x="378731" y="2457131"/>
            <a:ext cx="8386538" cy="19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0" i="0" u="none" strike="noStrike" baseline="0" dirty="0">
                <a:latin typeface="Bahnschrift" panose="020B0502040204020203" pitchFamily="34" charset="0"/>
              </a:rPr>
              <a:t>Depending upon which constraint(s) are relaxed, a different kind of database structure will emerge. These are called </a:t>
            </a:r>
            <a:r>
              <a:rPr lang="en-US" sz="2800" b="0" i="0" u="sng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NoSQL databases</a:t>
            </a:r>
            <a:endParaRPr lang="en-IN" sz="2800" u="sng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4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2612BF-4DB6-4F5E-8D9D-67962F9F7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N</a:t>
            </a:r>
            <a:r>
              <a:rPr lang="en-US" sz="2800" b="0" i="0" u="none" strike="noStrike" baseline="0" dirty="0"/>
              <a:t>ext-generation databases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sz="2800" b="0" u="none" strike="noStrike" baseline="0" dirty="0">
                <a:solidFill>
                  <a:srgbClr val="FF0000"/>
                </a:solidFill>
              </a:rPr>
              <a:t>ifferentiate it from antiquated, ‘pre-relational’ databases</a:t>
            </a:r>
          </a:p>
          <a:p>
            <a:pPr algn="just"/>
            <a:r>
              <a:rPr lang="en-US" dirty="0"/>
              <a:t>Organization uses NOSQL Database</a:t>
            </a:r>
          </a:p>
          <a:p>
            <a:pPr algn="just"/>
            <a:endParaRPr lang="en-US" sz="2800" b="0" i="0" u="none" strike="noStrike" baseline="0" dirty="0"/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3E91C5-A5CF-439E-90A1-C72CD589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051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2612BF-4DB6-4F5E-8D9D-67962F9F7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020" y="1414131"/>
            <a:ext cx="8522880" cy="1057246"/>
          </a:xfrm>
        </p:spPr>
        <p:txBody>
          <a:bodyPr/>
          <a:lstStyle/>
          <a:p>
            <a:pPr algn="l"/>
            <a:r>
              <a:rPr lang="en-US" dirty="0"/>
              <a:t>NoSQL database is useful when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3E91C5-A5CF-439E-90A1-C72CD589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Database</a:t>
            </a:r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281090-D90C-45B4-AD5F-C7E26ECE238A}"/>
              </a:ext>
            </a:extLst>
          </p:cNvPr>
          <p:cNvGrpSpPr/>
          <p:nvPr/>
        </p:nvGrpSpPr>
        <p:grpSpPr>
          <a:xfrm>
            <a:off x="1274297" y="2384381"/>
            <a:ext cx="6595406" cy="4091569"/>
            <a:chOff x="1883703" y="2415508"/>
            <a:chExt cx="6595406" cy="409156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EEDF056-199A-4475-A349-0F37A258FD2F}"/>
                </a:ext>
              </a:extLst>
            </p:cNvPr>
            <p:cNvGrpSpPr/>
            <p:nvPr/>
          </p:nvGrpSpPr>
          <p:grpSpPr>
            <a:xfrm>
              <a:off x="2296154" y="3280251"/>
              <a:ext cx="2340000" cy="2340000"/>
              <a:chOff x="2296154" y="3280251"/>
              <a:chExt cx="2340000" cy="2340000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EF8C023-0ACF-4488-A248-9B2B3843DAB3}"/>
                  </a:ext>
                </a:extLst>
              </p:cNvPr>
              <p:cNvSpPr/>
              <p:nvPr/>
            </p:nvSpPr>
            <p:spPr>
              <a:xfrm>
                <a:off x="2296154" y="3280251"/>
                <a:ext cx="2340000" cy="2340000"/>
              </a:xfrm>
              <a:custGeom>
                <a:avLst/>
                <a:gdLst>
                  <a:gd name="connsiteX0" fmla="*/ 0 w 1883176"/>
                  <a:gd name="connsiteY0" fmla="*/ 941504 h 1883007"/>
                  <a:gd name="connsiteX1" fmla="*/ 941588 w 1883176"/>
                  <a:gd name="connsiteY1" fmla="*/ 0 h 1883007"/>
                  <a:gd name="connsiteX2" fmla="*/ 1883176 w 1883176"/>
                  <a:gd name="connsiteY2" fmla="*/ 941504 h 1883007"/>
                  <a:gd name="connsiteX3" fmla="*/ 941588 w 1883176"/>
                  <a:gd name="connsiteY3" fmla="*/ 1883008 h 1883007"/>
                  <a:gd name="connsiteX4" fmla="*/ 0 w 1883176"/>
                  <a:gd name="connsiteY4" fmla="*/ 941504 h 1883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83176" h="1883007">
                    <a:moveTo>
                      <a:pt x="0" y="941504"/>
                    </a:moveTo>
                    <a:cubicBezTo>
                      <a:pt x="0" y="421526"/>
                      <a:pt x="421563" y="0"/>
                      <a:pt x="941588" y="0"/>
                    </a:cubicBezTo>
                    <a:cubicBezTo>
                      <a:pt x="1461613" y="0"/>
                      <a:pt x="1883176" y="421526"/>
                      <a:pt x="1883176" y="941504"/>
                    </a:cubicBezTo>
                    <a:cubicBezTo>
                      <a:pt x="1883176" y="1461482"/>
                      <a:pt x="1461613" y="1883008"/>
                      <a:pt x="941588" y="1883008"/>
                    </a:cubicBezTo>
                    <a:cubicBezTo>
                      <a:pt x="421563" y="1883008"/>
                      <a:pt x="0" y="1461482"/>
                      <a:pt x="0" y="941504"/>
                    </a:cubicBezTo>
                    <a:close/>
                  </a:path>
                </a:pathLst>
              </a:custGeom>
              <a:solidFill>
                <a:schemeClr val="bg1"/>
              </a:solidFill>
              <a:effectLst>
                <a:outerShdw blurRad="50800" dist="38100" dir="13500000" sx="102000" sy="102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04995" tIns="304970" rIns="304995" bIns="304970" numCol="1" spcCol="1270" anchor="ctr" anchorCtr="0">
                <a:noAutofit/>
              </a:bodyPr>
              <a:lstStyle/>
              <a:p>
                <a:pPr marL="0" lvl="0" indent="0" algn="ctr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2300" kern="1200" dirty="0">
                  <a:latin typeface="Bahnschrift" panose="020B0502040204020203" pitchFamily="34" charset="0"/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6F435A15-2D62-4606-B82F-2AAE5D95DFFA}"/>
                  </a:ext>
                </a:extLst>
              </p:cNvPr>
              <p:cNvSpPr/>
              <p:nvPr/>
            </p:nvSpPr>
            <p:spPr>
              <a:xfrm>
                <a:off x="2422154" y="3406251"/>
                <a:ext cx="2088000" cy="2088000"/>
              </a:xfrm>
              <a:custGeom>
                <a:avLst/>
                <a:gdLst>
                  <a:gd name="connsiteX0" fmla="*/ 0 w 1883176"/>
                  <a:gd name="connsiteY0" fmla="*/ 941504 h 1883007"/>
                  <a:gd name="connsiteX1" fmla="*/ 941588 w 1883176"/>
                  <a:gd name="connsiteY1" fmla="*/ 0 h 1883007"/>
                  <a:gd name="connsiteX2" fmla="*/ 1883176 w 1883176"/>
                  <a:gd name="connsiteY2" fmla="*/ 941504 h 1883007"/>
                  <a:gd name="connsiteX3" fmla="*/ 941588 w 1883176"/>
                  <a:gd name="connsiteY3" fmla="*/ 1883008 h 1883007"/>
                  <a:gd name="connsiteX4" fmla="*/ 0 w 1883176"/>
                  <a:gd name="connsiteY4" fmla="*/ 941504 h 1883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83176" h="1883007">
                    <a:moveTo>
                      <a:pt x="0" y="941504"/>
                    </a:moveTo>
                    <a:cubicBezTo>
                      <a:pt x="0" y="421526"/>
                      <a:pt x="421563" y="0"/>
                      <a:pt x="941588" y="0"/>
                    </a:cubicBezTo>
                    <a:cubicBezTo>
                      <a:pt x="1461613" y="0"/>
                      <a:pt x="1883176" y="421526"/>
                      <a:pt x="1883176" y="941504"/>
                    </a:cubicBezTo>
                    <a:cubicBezTo>
                      <a:pt x="1883176" y="1461482"/>
                      <a:pt x="1461613" y="1883008"/>
                      <a:pt x="941588" y="1883008"/>
                    </a:cubicBezTo>
                    <a:cubicBezTo>
                      <a:pt x="421563" y="1883008"/>
                      <a:pt x="0" y="1461482"/>
                      <a:pt x="0" y="941504"/>
                    </a:cubicBezTo>
                    <a:close/>
                  </a:path>
                </a:pathLst>
              </a:custGeom>
              <a:solidFill>
                <a:srgbClr val="44525A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04995" tIns="304970" rIns="304995" bIns="304970" numCol="1" spcCol="1270" anchor="ctr" anchorCtr="0">
                <a:noAutofit/>
              </a:bodyPr>
              <a:lstStyle/>
              <a:p>
                <a:pPr marL="0" lvl="0" indent="0" algn="ctr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2300" kern="1200" dirty="0">
                    <a:latin typeface="Bahnschrift" panose="020B0502040204020203" pitchFamily="34" charset="0"/>
                  </a:rPr>
                  <a:t>enterprise needs</a:t>
                </a:r>
              </a:p>
            </p:txBody>
          </p:sp>
        </p:grpSp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608EECD3-75E0-4F09-97CD-38FDF502913D}"/>
                </a:ext>
              </a:extLst>
            </p:cNvPr>
            <p:cNvSpPr/>
            <p:nvPr/>
          </p:nvSpPr>
          <p:spPr>
            <a:xfrm>
              <a:off x="1883703" y="2533807"/>
              <a:ext cx="3795655" cy="3956596"/>
            </a:xfrm>
            <a:prstGeom prst="blockArc">
              <a:avLst>
                <a:gd name="adj1" fmla="val 16438107"/>
                <a:gd name="adj2" fmla="val 5074057"/>
                <a:gd name="adj3" fmla="val 1945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44525A"/>
                </a:gs>
                <a:gs pos="83000">
                  <a:srgbClr val="44525A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38AF542-808F-449C-BD1F-29D51EFEFFC8}"/>
                </a:ext>
              </a:extLst>
            </p:cNvPr>
            <p:cNvSpPr/>
            <p:nvPr/>
          </p:nvSpPr>
          <p:spPr>
            <a:xfrm>
              <a:off x="4471650" y="2618255"/>
              <a:ext cx="432000" cy="432000"/>
            </a:xfrm>
            <a:prstGeom prst="ellipse">
              <a:avLst/>
            </a:prstGeom>
            <a:solidFill>
              <a:srgbClr val="44525A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B108025-5703-43D4-A23D-2BD6DF3A8D86}"/>
                </a:ext>
              </a:extLst>
            </p:cNvPr>
            <p:cNvSpPr/>
            <p:nvPr/>
          </p:nvSpPr>
          <p:spPr>
            <a:xfrm>
              <a:off x="5275015" y="2415508"/>
              <a:ext cx="2461550" cy="790606"/>
            </a:xfrm>
            <a:custGeom>
              <a:avLst/>
              <a:gdLst>
                <a:gd name="connsiteX0" fmla="*/ 0 w 1350733"/>
                <a:gd name="connsiteY0" fmla="*/ 0 h 976565"/>
                <a:gd name="connsiteX1" fmla="*/ 1350733 w 1350733"/>
                <a:gd name="connsiteY1" fmla="*/ 0 h 976565"/>
                <a:gd name="connsiteX2" fmla="*/ 1350733 w 1350733"/>
                <a:gd name="connsiteY2" fmla="*/ 976565 h 976565"/>
                <a:gd name="connsiteX3" fmla="*/ 0 w 1350733"/>
                <a:gd name="connsiteY3" fmla="*/ 976565 h 976565"/>
                <a:gd name="connsiteX4" fmla="*/ 0 w 1350733"/>
                <a:gd name="connsiteY4" fmla="*/ 0 h 976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733" h="976565">
                  <a:moveTo>
                    <a:pt x="0" y="0"/>
                  </a:moveTo>
                  <a:lnTo>
                    <a:pt x="1350733" y="0"/>
                  </a:lnTo>
                  <a:lnTo>
                    <a:pt x="1350733" y="976565"/>
                  </a:lnTo>
                  <a:lnTo>
                    <a:pt x="0" y="9765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24130" rIns="24130" bIns="2413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en-IN" sz="2400" kern="1200" dirty="0">
                  <a:latin typeface="Bahnschrift" panose="020B0502040204020203" pitchFamily="34" charset="0"/>
                </a:rPr>
                <a:t>access,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EE8C33B-A4F5-4DDD-B9CA-81862F92DD81}"/>
                </a:ext>
              </a:extLst>
            </p:cNvPr>
            <p:cNvSpPr/>
            <p:nvPr/>
          </p:nvSpPr>
          <p:spPr>
            <a:xfrm>
              <a:off x="5275015" y="3572336"/>
              <a:ext cx="432000" cy="432000"/>
            </a:xfrm>
            <a:prstGeom prst="ellipse">
              <a:avLst/>
            </a:prstGeom>
            <a:solidFill>
              <a:srgbClr val="44525A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995968B-252B-4296-80EB-9A73D318EED4}"/>
                </a:ext>
              </a:extLst>
            </p:cNvPr>
            <p:cNvSpPr/>
            <p:nvPr/>
          </p:nvSpPr>
          <p:spPr>
            <a:xfrm>
              <a:off x="6017559" y="3359808"/>
              <a:ext cx="2461550" cy="790606"/>
            </a:xfrm>
            <a:custGeom>
              <a:avLst/>
              <a:gdLst>
                <a:gd name="connsiteX0" fmla="*/ 0 w 1350733"/>
                <a:gd name="connsiteY0" fmla="*/ 0 h 976565"/>
                <a:gd name="connsiteX1" fmla="*/ 1350733 w 1350733"/>
                <a:gd name="connsiteY1" fmla="*/ 0 h 976565"/>
                <a:gd name="connsiteX2" fmla="*/ 1350733 w 1350733"/>
                <a:gd name="connsiteY2" fmla="*/ 976565 h 976565"/>
                <a:gd name="connsiteX3" fmla="*/ 0 w 1350733"/>
                <a:gd name="connsiteY3" fmla="*/ 976565 h 976565"/>
                <a:gd name="connsiteX4" fmla="*/ 0 w 1350733"/>
                <a:gd name="connsiteY4" fmla="*/ 0 h 976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733" h="976565">
                  <a:moveTo>
                    <a:pt x="0" y="0"/>
                  </a:moveTo>
                  <a:lnTo>
                    <a:pt x="1350733" y="0"/>
                  </a:lnTo>
                  <a:lnTo>
                    <a:pt x="1350733" y="976565"/>
                  </a:lnTo>
                  <a:lnTo>
                    <a:pt x="0" y="9765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24130" rIns="24130" bIns="2413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en-IN" sz="2400" kern="1200" dirty="0" err="1">
                  <a:latin typeface="Bahnschrift" panose="020B0502040204020203" pitchFamily="34" charset="0"/>
                </a:rPr>
                <a:t>analyze</a:t>
              </a:r>
              <a:endParaRPr lang="en-IN" sz="24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D90099-35AD-4AFE-A890-4D884E54FEA2}"/>
                </a:ext>
              </a:extLst>
            </p:cNvPr>
            <p:cNvSpPr/>
            <p:nvPr/>
          </p:nvSpPr>
          <p:spPr>
            <a:xfrm>
              <a:off x="5300173" y="4939211"/>
              <a:ext cx="432000" cy="432000"/>
            </a:xfrm>
            <a:prstGeom prst="ellipse">
              <a:avLst/>
            </a:prstGeom>
            <a:solidFill>
              <a:srgbClr val="44525A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08D987A-FFEA-4DD1-8E94-E27E618FAB44}"/>
                </a:ext>
              </a:extLst>
            </p:cNvPr>
            <p:cNvSpPr/>
            <p:nvPr/>
          </p:nvSpPr>
          <p:spPr>
            <a:xfrm>
              <a:off x="6017559" y="4739906"/>
              <a:ext cx="2461550" cy="790606"/>
            </a:xfrm>
            <a:custGeom>
              <a:avLst/>
              <a:gdLst>
                <a:gd name="connsiteX0" fmla="*/ 0 w 1350733"/>
                <a:gd name="connsiteY0" fmla="*/ 0 h 976565"/>
                <a:gd name="connsiteX1" fmla="*/ 1350733 w 1350733"/>
                <a:gd name="connsiteY1" fmla="*/ 0 h 976565"/>
                <a:gd name="connsiteX2" fmla="*/ 1350733 w 1350733"/>
                <a:gd name="connsiteY2" fmla="*/ 976565 h 976565"/>
                <a:gd name="connsiteX3" fmla="*/ 0 w 1350733"/>
                <a:gd name="connsiteY3" fmla="*/ 976565 h 976565"/>
                <a:gd name="connsiteX4" fmla="*/ 0 w 1350733"/>
                <a:gd name="connsiteY4" fmla="*/ 0 h 976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733" h="976565">
                  <a:moveTo>
                    <a:pt x="0" y="0"/>
                  </a:moveTo>
                  <a:lnTo>
                    <a:pt x="1350733" y="0"/>
                  </a:lnTo>
                  <a:lnTo>
                    <a:pt x="1350733" y="976565"/>
                  </a:lnTo>
                  <a:lnTo>
                    <a:pt x="0" y="9765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24130" rIns="24130" bIns="2413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en-IN" sz="2400" kern="1200" dirty="0">
                  <a:latin typeface="Bahnschrift" panose="020B0502040204020203" pitchFamily="34" charset="0"/>
                </a:rPr>
                <a:t>unstructured data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A0B97A8-DCA3-44EF-A3F6-2AF4E7021AD7}"/>
                </a:ext>
              </a:extLst>
            </p:cNvPr>
            <p:cNvSpPr/>
            <p:nvPr/>
          </p:nvSpPr>
          <p:spPr>
            <a:xfrm>
              <a:off x="4529706" y="5955017"/>
              <a:ext cx="432000" cy="432000"/>
            </a:xfrm>
            <a:prstGeom prst="ellipse">
              <a:avLst/>
            </a:prstGeom>
            <a:solidFill>
              <a:srgbClr val="44525A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7C09BF7-F8A8-414C-9083-D3E3AA0BB161}"/>
                </a:ext>
              </a:extLst>
            </p:cNvPr>
            <p:cNvSpPr/>
            <p:nvPr/>
          </p:nvSpPr>
          <p:spPr>
            <a:xfrm>
              <a:off x="5275015" y="5716471"/>
              <a:ext cx="2461550" cy="790606"/>
            </a:xfrm>
            <a:custGeom>
              <a:avLst/>
              <a:gdLst>
                <a:gd name="connsiteX0" fmla="*/ 0 w 1350733"/>
                <a:gd name="connsiteY0" fmla="*/ 0 h 976565"/>
                <a:gd name="connsiteX1" fmla="*/ 1350733 w 1350733"/>
                <a:gd name="connsiteY1" fmla="*/ 0 h 976565"/>
                <a:gd name="connsiteX2" fmla="*/ 1350733 w 1350733"/>
                <a:gd name="connsiteY2" fmla="*/ 976565 h 976565"/>
                <a:gd name="connsiteX3" fmla="*/ 0 w 1350733"/>
                <a:gd name="connsiteY3" fmla="*/ 976565 h 976565"/>
                <a:gd name="connsiteX4" fmla="*/ 0 w 1350733"/>
                <a:gd name="connsiteY4" fmla="*/ 0 h 976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733" h="976565">
                  <a:moveTo>
                    <a:pt x="0" y="0"/>
                  </a:moveTo>
                  <a:lnTo>
                    <a:pt x="1350733" y="0"/>
                  </a:lnTo>
                  <a:lnTo>
                    <a:pt x="1350733" y="976565"/>
                  </a:lnTo>
                  <a:lnTo>
                    <a:pt x="0" y="9765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24130" rIns="24130" bIns="2413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en-IN" sz="2400" kern="1200" dirty="0">
                  <a:latin typeface="Bahnschrift" panose="020B0502040204020203" pitchFamily="34" charset="0"/>
                </a:rPr>
                <a:t>structured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730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2612BF-4DB6-4F5E-8D9D-67962F9F7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020" y="1414130"/>
            <a:ext cx="8522880" cy="5218899"/>
          </a:xfrm>
        </p:spPr>
        <p:txBody>
          <a:bodyPr/>
          <a:lstStyle/>
          <a:p>
            <a:pPr algn="just"/>
            <a:r>
              <a:rPr lang="en-US" dirty="0"/>
              <a:t>Relational database require</a:t>
            </a:r>
          </a:p>
          <a:p>
            <a:pPr lvl="1" algn="just"/>
            <a:r>
              <a:rPr lang="en-US" b="0" i="0" u="none" strike="noStrike" baseline="0" dirty="0"/>
              <a:t>any data element could be randomly accessed</a:t>
            </a:r>
          </a:p>
          <a:p>
            <a:pPr lvl="1" algn="just"/>
            <a:r>
              <a:rPr lang="en-US" b="0" i="0" u="none" strike="noStrike" baseline="0" dirty="0"/>
              <a:t>value could be updated in that same physical location</a:t>
            </a:r>
            <a:endParaRPr lang="en-US" dirty="0"/>
          </a:p>
          <a:p>
            <a:pPr algn="just"/>
            <a:r>
              <a:rPr lang="en-US" dirty="0"/>
              <a:t>NOSQL databases files</a:t>
            </a:r>
          </a:p>
          <a:p>
            <a:pPr lvl="1" algn="just"/>
            <a:r>
              <a:rPr lang="en-US" b="0" i="0" u="none" strike="noStrike" baseline="0" dirty="0"/>
              <a:t>written once and almost never </a:t>
            </a:r>
            <a:r>
              <a:rPr lang="en-IN" b="0" i="0" u="none" strike="noStrike" baseline="0" dirty="0"/>
              <a:t>updated in place</a:t>
            </a:r>
            <a:endParaRPr lang="en-US" dirty="0"/>
          </a:p>
          <a:p>
            <a:pPr lvl="1" algn="just"/>
            <a:r>
              <a:rPr lang="en-IN" b="0" i="0" u="none" strike="noStrike" baseline="0" dirty="0"/>
              <a:t>to link the </a:t>
            </a:r>
            <a:r>
              <a:rPr lang="en-US" b="0" i="0" u="none" strike="noStrike" baseline="0" dirty="0"/>
              <a:t>appended data to the original file.</a:t>
            </a:r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3E91C5-A5CF-439E-90A1-C72CD589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041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90B27D-1C67-48D6-97B0-E0EED2780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875" y="1425667"/>
            <a:ext cx="8966249" cy="422313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50BC781-A4BB-40B2-A238-A3B6B6C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RDBMS vs NOSQL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8A6D3-3544-440F-A3D4-53806AA00538}"/>
              </a:ext>
            </a:extLst>
          </p:cNvPr>
          <p:cNvSpPr/>
          <p:nvPr/>
        </p:nvSpPr>
        <p:spPr>
          <a:xfrm>
            <a:off x="2569923" y="5850503"/>
            <a:ext cx="3923414" cy="71238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Do not Support Relational Schema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023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0BC781-A4BB-40B2-A238-A3B6B6C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RDBMS vs NOSQL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89F04-4E6F-419D-B099-667A602EA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70089"/>
            <a:ext cx="8515351" cy="4120758"/>
          </a:xfrm>
        </p:spPr>
        <p:txBody>
          <a:bodyPr>
            <a:normAutofit/>
          </a:bodyPr>
          <a:lstStyle/>
          <a:p>
            <a:pPr algn="just"/>
            <a:r>
              <a:rPr lang="en-US" b="0" i="0" u="none" strike="noStrike" baseline="0" dirty="0"/>
              <a:t>NoSQL stands mostly for “Not only </a:t>
            </a:r>
            <a:r>
              <a:rPr lang="en-IN" b="0" i="0" u="none" strike="noStrike" baseline="0" dirty="0"/>
              <a:t>SQL”.</a:t>
            </a:r>
          </a:p>
          <a:p>
            <a:pPr algn="just"/>
            <a:r>
              <a:rPr lang="en-US" b="0" i="0" u="none" strike="noStrike" baseline="0" dirty="0"/>
              <a:t>transaction processing capabilities are fast but weak</a:t>
            </a:r>
            <a:endParaRPr lang="en-IN" dirty="0"/>
          </a:p>
          <a:p>
            <a:pPr algn="just"/>
            <a:r>
              <a:rPr lang="en-US" b="0" i="0" u="none" strike="noStrike" baseline="0" dirty="0"/>
              <a:t>do not support the ACID (Atomicity, Consistency, Isolation, Durability) properties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996887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0BC781-A4BB-40B2-A238-A3B6B6C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RDBMS vs NOSQL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0774E5-9379-49CD-91FD-7EE0AE97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79" y="1751336"/>
            <a:ext cx="6533041" cy="469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77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0BC781-A4BB-40B2-A238-A3B6B6C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RDBMS vs NOSQL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89F04-4E6F-419D-B099-667A602EA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628145"/>
            <a:ext cx="8386536" cy="412075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0" i="0" u="none" strike="noStrike" baseline="0" dirty="0"/>
              <a:t>NoSQL stands mostly for “Not only </a:t>
            </a:r>
            <a:r>
              <a:rPr lang="en-IN" b="0" i="0" u="none" strike="noStrike" baseline="0" dirty="0"/>
              <a:t>SQL”.</a:t>
            </a:r>
          </a:p>
          <a:p>
            <a:pPr algn="just"/>
            <a:r>
              <a:rPr lang="en-US" b="0" i="0" u="none" strike="noStrike" baseline="0" dirty="0"/>
              <a:t>transaction processing capabilities are fast but weak</a:t>
            </a:r>
            <a:endParaRPr lang="en-IN" dirty="0"/>
          </a:p>
          <a:p>
            <a:pPr algn="just"/>
            <a:r>
              <a:rPr lang="en-US" b="0" i="0" u="none" strike="noStrike" baseline="0" dirty="0"/>
              <a:t>do not support the ACID (Atomicity, Consistency, Isolation, Durability) properties</a:t>
            </a:r>
          </a:p>
          <a:p>
            <a:pPr algn="just"/>
            <a:r>
              <a:rPr lang="en-US" b="0" i="0" u="none" strike="noStrike" baseline="0" dirty="0"/>
              <a:t>approximately accurate at any point in time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33702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BE72E9-614E-4F9C-ACDC-CC5FA42F6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02310"/>
            <a:ext cx="8386537" cy="4217919"/>
          </a:xfrm>
        </p:spPr>
        <p:txBody>
          <a:bodyPr>
            <a:normAutofit/>
          </a:bodyPr>
          <a:lstStyle/>
          <a:p>
            <a:pPr algn="just"/>
            <a:r>
              <a:rPr lang="en-US" b="0" i="0" u="none" strike="noStrike" baseline="0" dirty="0"/>
              <a:t>Third, these databases are also distributed and horizontally scalable to manage web-scale databases using Hadoop clusters of storage. </a:t>
            </a:r>
          </a:p>
          <a:p>
            <a:pPr algn="just"/>
            <a:r>
              <a:rPr lang="en-US" b="0" i="0" u="none" strike="noStrike" baseline="0" dirty="0"/>
              <a:t>Thus, they work well with the write-once and read-many storage mechanism of Hadoop clusters.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469137-C799-400D-8816-CFAA3E9BC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RDBMS vs NOSQL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272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A56422-962A-4652-A7B7-8AA62AD9C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74048"/>
              </p:ext>
            </p:extLst>
          </p:nvPr>
        </p:nvGraphicFramePr>
        <p:xfrm>
          <a:off x="378619" y="1557928"/>
          <a:ext cx="8386761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587">
                  <a:extLst>
                    <a:ext uri="{9D8B030D-6E8A-4147-A177-3AD203B41FA5}">
                      <a16:colId xmlns:a16="http://schemas.microsoft.com/office/drawing/2014/main" val="1019999480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3313432839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2108880106"/>
                    </a:ext>
                  </a:extLst>
                </a:gridCol>
              </a:tblGrid>
              <a:tr h="333591">
                <a:tc>
                  <a:txBody>
                    <a:bodyPr/>
                    <a:lstStyle/>
                    <a:p>
                      <a:r>
                        <a:rPr lang="en-US" sz="2200" b="0" dirty="0">
                          <a:latin typeface="Bahnschrift" panose="020B0502040204020203" pitchFamily="34" charset="0"/>
                        </a:rPr>
                        <a:t>Feature</a:t>
                      </a:r>
                      <a:endParaRPr lang="en-IN" sz="22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>
                          <a:latin typeface="Bahnschrift" panose="020B0502040204020203" pitchFamily="34" charset="0"/>
                        </a:rPr>
                        <a:t>RDBMS</a:t>
                      </a:r>
                      <a:endParaRPr lang="en-IN" sz="22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>
                          <a:latin typeface="Bahnschrift" panose="020B0502040204020203" pitchFamily="34" charset="0"/>
                        </a:rPr>
                        <a:t>NOSQL</a:t>
                      </a:r>
                      <a:endParaRPr lang="en-IN" sz="22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439179"/>
                  </a:ext>
                </a:extLst>
              </a:tr>
              <a:tr h="1316085"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Applications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Mostly centralized Applications (e.g.</a:t>
                      </a:r>
                    </a:p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ERP)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Mostly designed for the decentralized applications</a:t>
                      </a:r>
                    </a:p>
                    <a:p>
                      <a:r>
                        <a:rPr lang="it-IT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(e.g. Web, mobile, sensors)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592630"/>
                  </a:ext>
                </a:extLst>
              </a:tr>
              <a:tr h="822553"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Rigor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Support ACID properties for Transaction</a:t>
                      </a:r>
                    </a:p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Processing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Support BASE properties for approximate</a:t>
                      </a:r>
                    </a:p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reporting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00653"/>
                  </a:ext>
                </a:extLst>
              </a:tr>
              <a:tr h="822553"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Availability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Moderate to high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Continuous availability to receive and serve</a:t>
                      </a:r>
                    </a:p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data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96056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38ABF06-00EB-40DD-AAE0-C4140AB1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features of RDBMS and NoSQL.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6682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A56422-962A-4652-A7B7-8AA62AD9C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29583"/>
              </p:ext>
            </p:extLst>
          </p:nvPr>
        </p:nvGraphicFramePr>
        <p:xfrm>
          <a:off x="378619" y="1557928"/>
          <a:ext cx="8386761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587">
                  <a:extLst>
                    <a:ext uri="{9D8B030D-6E8A-4147-A177-3AD203B41FA5}">
                      <a16:colId xmlns:a16="http://schemas.microsoft.com/office/drawing/2014/main" val="1019999480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3313432839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2108880106"/>
                    </a:ext>
                  </a:extLst>
                </a:gridCol>
              </a:tblGrid>
              <a:tr h="333591">
                <a:tc>
                  <a:txBody>
                    <a:bodyPr/>
                    <a:lstStyle/>
                    <a:p>
                      <a:r>
                        <a:rPr lang="en-US" sz="2200" b="0" dirty="0">
                          <a:latin typeface="Bahnschrift" panose="020B0502040204020203" pitchFamily="34" charset="0"/>
                        </a:rPr>
                        <a:t>Feature</a:t>
                      </a:r>
                      <a:endParaRPr lang="en-IN" sz="22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>
                          <a:latin typeface="Bahnschrift" panose="020B0502040204020203" pitchFamily="34" charset="0"/>
                        </a:rPr>
                        <a:t>RDBMS</a:t>
                      </a:r>
                      <a:endParaRPr lang="en-IN" sz="22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>
                          <a:latin typeface="Bahnschrift" panose="020B0502040204020203" pitchFamily="34" charset="0"/>
                        </a:rPr>
                        <a:t>NOSQL</a:t>
                      </a:r>
                      <a:endParaRPr lang="en-IN" sz="22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439179"/>
                  </a:ext>
                </a:extLst>
              </a:tr>
              <a:tr h="1069319"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Velocity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Moderate velocity of data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High velocity of data (devices, sensors, social</a:t>
                      </a:r>
                    </a:p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media, etc.). Low latency of access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80767"/>
                  </a:ext>
                </a:extLst>
              </a:tr>
              <a:tr h="1069319"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Data Volume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Moderate size; archived after for a certain</a:t>
                      </a:r>
                    </a:p>
                    <a:p>
                      <a:r>
                        <a:rPr lang="en-IN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period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Huge volume of data, stored mostly for a</a:t>
                      </a:r>
                    </a:p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long time or forever; Linearly scalable DB.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1169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38ABF06-00EB-40DD-AAE0-C4140AB1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features of RDBMS and NoSQL.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5433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A56422-962A-4652-A7B7-8AA62AD9C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769639"/>
              </p:ext>
            </p:extLst>
          </p:nvPr>
        </p:nvGraphicFramePr>
        <p:xfrm>
          <a:off x="275340" y="1801814"/>
          <a:ext cx="859332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440">
                  <a:extLst>
                    <a:ext uri="{9D8B030D-6E8A-4147-A177-3AD203B41FA5}">
                      <a16:colId xmlns:a16="http://schemas.microsoft.com/office/drawing/2014/main" val="1019999480"/>
                    </a:ext>
                  </a:extLst>
                </a:gridCol>
                <a:gridCol w="2864440">
                  <a:extLst>
                    <a:ext uri="{9D8B030D-6E8A-4147-A177-3AD203B41FA5}">
                      <a16:colId xmlns:a16="http://schemas.microsoft.com/office/drawing/2014/main" val="3313432839"/>
                    </a:ext>
                  </a:extLst>
                </a:gridCol>
                <a:gridCol w="2864440">
                  <a:extLst>
                    <a:ext uri="{9D8B030D-6E8A-4147-A177-3AD203B41FA5}">
                      <a16:colId xmlns:a16="http://schemas.microsoft.com/office/drawing/2014/main" val="2108880106"/>
                    </a:ext>
                  </a:extLst>
                </a:gridCol>
              </a:tblGrid>
              <a:tr h="380562"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Bahnschrift" panose="020B0502040204020203" pitchFamily="34" charset="0"/>
                        </a:rPr>
                        <a:t>Feature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Bahnschrift" panose="020B0502040204020203" pitchFamily="34" charset="0"/>
                        </a:rPr>
                        <a:t>RDBMS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Bahnschrift" panose="020B0502040204020203" pitchFamily="34" charset="0"/>
                        </a:rPr>
                        <a:t>NOSQL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439179"/>
                  </a:ext>
                </a:extLst>
              </a:tr>
              <a:tr h="1449025"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Data Sources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Data arrives from one or few, mostly</a:t>
                      </a:r>
                    </a:p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predictable sources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Data arrives from multiple locations and are</a:t>
                      </a:r>
                    </a:p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of unpredictable nature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592630"/>
                  </a:ext>
                </a:extLst>
              </a:tr>
              <a:tr h="673303"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Data type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Data are mostly structured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Structured or unstructured data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00653"/>
                  </a:ext>
                </a:extLst>
              </a:tr>
              <a:tr h="673303"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Data Access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Primary concern is reading the data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Concern is both read and write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96056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38ABF06-00EB-40DD-AAE0-C4140AB1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features of RDBMS and NoSQL.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2076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A56422-962A-4652-A7B7-8AA62AD9C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8740683"/>
              </p:ext>
            </p:extLst>
          </p:nvPr>
        </p:nvGraphicFramePr>
        <p:xfrm>
          <a:off x="253771" y="1889760"/>
          <a:ext cx="8636457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819">
                  <a:extLst>
                    <a:ext uri="{9D8B030D-6E8A-4147-A177-3AD203B41FA5}">
                      <a16:colId xmlns:a16="http://schemas.microsoft.com/office/drawing/2014/main" val="1019999480"/>
                    </a:ext>
                  </a:extLst>
                </a:gridCol>
                <a:gridCol w="2878819">
                  <a:extLst>
                    <a:ext uri="{9D8B030D-6E8A-4147-A177-3AD203B41FA5}">
                      <a16:colId xmlns:a16="http://schemas.microsoft.com/office/drawing/2014/main" val="3313432839"/>
                    </a:ext>
                  </a:extLst>
                </a:gridCol>
                <a:gridCol w="2878819">
                  <a:extLst>
                    <a:ext uri="{9D8B030D-6E8A-4147-A177-3AD203B41FA5}">
                      <a16:colId xmlns:a16="http://schemas.microsoft.com/office/drawing/2014/main" val="2108880106"/>
                    </a:ext>
                  </a:extLst>
                </a:gridCol>
              </a:tblGrid>
              <a:tr h="308172"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Bahnschrift" panose="020B0502040204020203" pitchFamily="34" charset="0"/>
                        </a:rPr>
                        <a:t>Feature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Bahnschrift" panose="020B0502040204020203" pitchFamily="34" charset="0"/>
                        </a:rPr>
                        <a:t>RDBMS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Bahnschrift" panose="020B0502040204020203" pitchFamily="34" charset="0"/>
                        </a:rPr>
                        <a:t>NOSQL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439179"/>
                  </a:ext>
                </a:extLst>
              </a:tr>
              <a:tr h="1449025"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Technology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Standardized relational schemas; SQL</a:t>
                      </a:r>
                    </a:p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language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Many designs with many implementations of</a:t>
                      </a:r>
                    </a:p>
                    <a:p>
                      <a:r>
                        <a:rPr lang="en-US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data structures and access languages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80767"/>
                  </a:ext>
                </a:extLst>
              </a:tr>
              <a:tr h="673303"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Cost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Expensive; commercial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300" b="0" i="0" u="none" strike="noStrike" kern="1200" baseline="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Low; open-source software</a:t>
                      </a:r>
                      <a:endParaRPr lang="en-IN" sz="23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1169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38ABF06-00EB-40DD-AAE0-C4140AB1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features of RDBMS and NoSQL.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8592269"/>
      </p:ext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8F983B-6ECB-408D-9720-C4FB4F560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506" y="1339736"/>
            <a:ext cx="8386537" cy="946263"/>
          </a:xfrm>
        </p:spPr>
        <p:txBody>
          <a:bodyPr>
            <a:normAutofit/>
          </a:bodyPr>
          <a:lstStyle/>
          <a:p>
            <a:pPr algn="ctr" indent="0" marL="0">
              <a:buNone/>
            </a:pPr>
            <a:r>
              <a:rPr b="0" baseline="0" dirty="0" i="0" lang="en-US" strike="noStrike" sz="2400" u="none"/>
              <a:t>File size and types will vary enormously.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3D18A3-58EB-4758-A271-CEFCAA9B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BE36AE-4426-411A-9A8F-3D2E6F6204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" r="-47"/>
          <a:stretch/>
        </p:blipFill>
        <p:spPr>
          <a:xfrm>
            <a:off x="2575239" y="2073350"/>
            <a:ext cx="3912782" cy="37135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5029DF-7325-4C82-9034-E9E0ADD9A2C7}"/>
              </a:ext>
            </a:extLst>
          </p:cNvPr>
          <p:cNvSpPr/>
          <p:nvPr/>
        </p:nvSpPr>
        <p:spPr>
          <a:xfrm>
            <a:off x="3152553" y="5932968"/>
            <a:ext cx="2838893" cy="58479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solidFill>
                  <a:schemeClr val="bg1"/>
                </a:solidFill>
                <a:latin charset="0" panose="020B0502040204020203" pitchFamily="34" typeface="Bahnschrift"/>
              </a:rPr>
              <a:t>U</a:t>
            </a:r>
            <a:r>
              <a:rPr b="0" dirty="0" lang="en-US" sz="18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ses no structured query language</a:t>
            </a:r>
            <a:endParaRPr dirty="0" lang="en-IN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475834473"/>
      </p:ext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C71C9A-D198-40EB-9878-11E22AA54C0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36"/>
          <a:stretch/>
        </p:blipFill>
        <p:spPr>
          <a:xfrm>
            <a:off x="502812" y="1875095"/>
            <a:ext cx="8138376" cy="35889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03D18A3-58EB-4758-A271-CEFCAA9B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42F9DB-CA67-43F7-BB9B-7498705F3098}"/>
              </a:ext>
            </a:extLst>
          </p:cNvPr>
          <p:cNvSpPr/>
          <p:nvPr/>
        </p:nvSpPr>
        <p:spPr>
          <a:xfrm>
            <a:off x="3261039" y="5699898"/>
            <a:ext cx="2541182" cy="62732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400">
                <a:latin charset="0" panose="020B0502040204020203" pitchFamily="34" typeface="Bahnschrift"/>
              </a:rPr>
              <a:t>Key value/Pair</a:t>
            </a:r>
            <a:endParaRPr dirty="0" lang="en-IN" sz="24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889749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3D18A3-58EB-4758-A271-CEFCAA9B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9E189F-40A3-4781-925D-16A6CD2B58C2}"/>
              </a:ext>
            </a:extLst>
          </p:cNvPr>
          <p:cNvGrpSpPr/>
          <p:nvPr/>
        </p:nvGrpSpPr>
        <p:grpSpPr>
          <a:xfrm>
            <a:off x="149615" y="1446484"/>
            <a:ext cx="3011593" cy="5186091"/>
            <a:chOff x="3102365" y="1446255"/>
            <a:chExt cx="3011593" cy="518609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ADC75EE-89BB-4092-BEDF-0D2727158C42}"/>
                </a:ext>
              </a:extLst>
            </p:cNvPr>
            <p:cNvSpPr/>
            <p:nvPr/>
          </p:nvSpPr>
          <p:spPr>
            <a:xfrm>
              <a:off x="3712493" y="4039301"/>
              <a:ext cx="400244" cy="2287981"/>
            </a:xfrm>
            <a:custGeom>
              <a:avLst/>
              <a:gdLst>
                <a:gd name="connsiteX0" fmla="*/ 0 w 400244"/>
                <a:gd name="connsiteY0" fmla="*/ 0 h 2287981"/>
                <a:gd name="connsiteX1" fmla="*/ 200122 w 400244"/>
                <a:gd name="connsiteY1" fmla="*/ 0 h 2287981"/>
                <a:gd name="connsiteX2" fmla="*/ 200122 w 400244"/>
                <a:gd name="connsiteY2" fmla="*/ 2287981 h 2287981"/>
                <a:gd name="connsiteX3" fmla="*/ 400244 w 400244"/>
                <a:gd name="connsiteY3" fmla="*/ 2287981 h 2287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244" h="2287981">
                  <a:moveTo>
                    <a:pt x="0" y="0"/>
                  </a:moveTo>
                  <a:lnTo>
                    <a:pt x="200122" y="0"/>
                  </a:lnTo>
                  <a:lnTo>
                    <a:pt x="200122" y="2287981"/>
                  </a:lnTo>
                  <a:lnTo>
                    <a:pt x="400244" y="2287981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4754" tIns="1085923" rIns="154754" bIns="1085922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800" kern="1200">
                <a:latin typeface="Bahnschrift" panose="020B050204020402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46B2323-1418-4B59-A0BF-E48F4243C384}"/>
                </a:ext>
              </a:extLst>
            </p:cNvPr>
            <p:cNvSpPr/>
            <p:nvPr/>
          </p:nvSpPr>
          <p:spPr>
            <a:xfrm>
              <a:off x="3712493" y="4039301"/>
              <a:ext cx="400244" cy="1525320"/>
            </a:xfrm>
            <a:custGeom>
              <a:avLst/>
              <a:gdLst>
                <a:gd name="connsiteX0" fmla="*/ 0 w 400244"/>
                <a:gd name="connsiteY0" fmla="*/ 0 h 1525320"/>
                <a:gd name="connsiteX1" fmla="*/ 200122 w 400244"/>
                <a:gd name="connsiteY1" fmla="*/ 0 h 1525320"/>
                <a:gd name="connsiteX2" fmla="*/ 200122 w 400244"/>
                <a:gd name="connsiteY2" fmla="*/ 1525320 h 1525320"/>
                <a:gd name="connsiteX3" fmla="*/ 400244 w 400244"/>
                <a:gd name="connsiteY3" fmla="*/ 1525320 h 152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244" h="1525320">
                  <a:moveTo>
                    <a:pt x="0" y="0"/>
                  </a:moveTo>
                  <a:lnTo>
                    <a:pt x="200122" y="0"/>
                  </a:lnTo>
                  <a:lnTo>
                    <a:pt x="200122" y="1525320"/>
                  </a:lnTo>
                  <a:lnTo>
                    <a:pt x="400244" y="152532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3398" tIns="723236" rIns="173399" bIns="723237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D7290E4-928E-411F-B89B-FD029EF9DCDD}"/>
                </a:ext>
              </a:extLst>
            </p:cNvPr>
            <p:cNvSpPr/>
            <p:nvPr/>
          </p:nvSpPr>
          <p:spPr>
            <a:xfrm>
              <a:off x="3712493" y="4039301"/>
              <a:ext cx="400244" cy="762660"/>
            </a:xfrm>
            <a:custGeom>
              <a:avLst/>
              <a:gdLst>
                <a:gd name="connsiteX0" fmla="*/ 0 w 400244"/>
                <a:gd name="connsiteY0" fmla="*/ 0 h 762660"/>
                <a:gd name="connsiteX1" fmla="*/ 200122 w 400244"/>
                <a:gd name="connsiteY1" fmla="*/ 0 h 762660"/>
                <a:gd name="connsiteX2" fmla="*/ 200122 w 400244"/>
                <a:gd name="connsiteY2" fmla="*/ 762660 h 762660"/>
                <a:gd name="connsiteX3" fmla="*/ 400244 w 400244"/>
                <a:gd name="connsiteY3" fmla="*/ 762660 h 762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244" h="762660">
                  <a:moveTo>
                    <a:pt x="0" y="0"/>
                  </a:moveTo>
                  <a:lnTo>
                    <a:pt x="200122" y="0"/>
                  </a:lnTo>
                  <a:lnTo>
                    <a:pt x="200122" y="762660"/>
                  </a:lnTo>
                  <a:lnTo>
                    <a:pt x="400244" y="76266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1290" tIns="359798" rIns="191289" bIns="359797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D93E4D4-DD81-439A-83CC-BE625E15DDB6}"/>
                </a:ext>
              </a:extLst>
            </p:cNvPr>
            <p:cNvSpPr/>
            <p:nvPr/>
          </p:nvSpPr>
          <p:spPr>
            <a:xfrm>
              <a:off x="3712493" y="3993581"/>
              <a:ext cx="400244" cy="91440"/>
            </a:xfrm>
            <a:custGeom>
              <a:avLst/>
              <a:gdLst>
                <a:gd name="connsiteX0" fmla="*/ 0 w 400244"/>
                <a:gd name="connsiteY0" fmla="*/ 45720 h 91440"/>
                <a:gd name="connsiteX1" fmla="*/ 400244 w 400244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0244" h="91440">
                  <a:moveTo>
                    <a:pt x="0" y="45720"/>
                  </a:moveTo>
                  <a:lnTo>
                    <a:pt x="400244" y="45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2816" tIns="35714" rIns="202816" bIns="3571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C3F8F79-B61E-4503-AD71-356A18A7A53D}"/>
                </a:ext>
              </a:extLst>
            </p:cNvPr>
            <p:cNvSpPr/>
            <p:nvPr/>
          </p:nvSpPr>
          <p:spPr>
            <a:xfrm>
              <a:off x="3712493" y="3276641"/>
              <a:ext cx="400244" cy="762660"/>
            </a:xfrm>
            <a:custGeom>
              <a:avLst/>
              <a:gdLst>
                <a:gd name="connsiteX0" fmla="*/ 0 w 400244"/>
                <a:gd name="connsiteY0" fmla="*/ 762660 h 762660"/>
                <a:gd name="connsiteX1" fmla="*/ 200122 w 400244"/>
                <a:gd name="connsiteY1" fmla="*/ 762660 h 762660"/>
                <a:gd name="connsiteX2" fmla="*/ 200122 w 400244"/>
                <a:gd name="connsiteY2" fmla="*/ 0 h 762660"/>
                <a:gd name="connsiteX3" fmla="*/ 400244 w 400244"/>
                <a:gd name="connsiteY3" fmla="*/ 0 h 762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244" h="762660">
                  <a:moveTo>
                    <a:pt x="0" y="762660"/>
                  </a:moveTo>
                  <a:lnTo>
                    <a:pt x="200122" y="762660"/>
                  </a:lnTo>
                  <a:lnTo>
                    <a:pt x="200122" y="0"/>
                  </a:lnTo>
                  <a:lnTo>
                    <a:pt x="40024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1290" tIns="359797" rIns="191289" bIns="359798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345A0B1-7010-4062-9B34-5170C5B215B4}"/>
                </a:ext>
              </a:extLst>
            </p:cNvPr>
            <p:cNvSpPr/>
            <p:nvPr/>
          </p:nvSpPr>
          <p:spPr>
            <a:xfrm>
              <a:off x="3712493" y="2513980"/>
              <a:ext cx="400244" cy="1525320"/>
            </a:xfrm>
            <a:custGeom>
              <a:avLst/>
              <a:gdLst>
                <a:gd name="connsiteX0" fmla="*/ 0 w 400244"/>
                <a:gd name="connsiteY0" fmla="*/ 1525320 h 1525320"/>
                <a:gd name="connsiteX1" fmla="*/ 200122 w 400244"/>
                <a:gd name="connsiteY1" fmla="*/ 1525320 h 1525320"/>
                <a:gd name="connsiteX2" fmla="*/ 200122 w 400244"/>
                <a:gd name="connsiteY2" fmla="*/ 0 h 1525320"/>
                <a:gd name="connsiteX3" fmla="*/ 400244 w 400244"/>
                <a:gd name="connsiteY3" fmla="*/ 0 h 152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244" h="1525320">
                  <a:moveTo>
                    <a:pt x="0" y="1525320"/>
                  </a:moveTo>
                  <a:lnTo>
                    <a:pt x="200122" y="1525320"/>
                  </a:lnTo>
                  <a:lnTo>
                    <a:pt x="200122" y="0"/>
                  </a:lnTo>
                  <a:lnTo>
                    <a:pt x="40024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3398" tIns="723237" rIns="173399" bIns="723236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982CC88-0ABD-43F3-82BD-9689CAF80D09}"/>
                </a:ext>
              </a:extLst>
            </p:cNvPr>
            <p:cNvSpPr/>
            <p:nvPr/>
          </p:nvSpPr>
          <p:spPr>
            <a:xfrm>
              <a:off x="3712493" y="1751320"/>
              <a:ext cx="400244" cy="2287981"/>
            </a:xfrm>
            <a:custGeom>
              <a:avLst/>
              <a:gdLst>
                <a:gd name="connsiteX0" fmla="*/ 0 w 400244"/>
                <a:gd name="connsiteY0" fmla="*/ 2287981 h 2287981"/>
                <a:gd name="connsiteX1" fmla="*/ 200122 w 400244"/>
                <a:gd name="connsiteY1" fmla="*/ 2287981 h 2287981"/>
                <a:gd name="connsiteX2" fmla="*/ 200122 w 400244"/>
                <a:gd name="connsiteY2" fmla="*/ 0 h 2287981"/>
                <a:gd name="connsiteX3" fmla="*/ 400244 w 400244"/>
                <a:gd name="connsiteY3" fmla="*/ 0 h 2287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244" h="2287981">
                  <a:moveTo>
                    <a:pt x="0" y="2287981"/>
                  </a:moveTo>
                  <a:lnTo>
                    <a:pt x="200122" y="2287981"/>
                  </a:lnTo>
                  <a:lnTo>
                    <a:pt x="200122" y="0"/>
                  </a:lnTo>
                  <a:lnTo>
                    <a:pt x="40024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4754" tIns="1085922" rIns="154754" bIns="1085923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800" kern="1200">
                <a:latin typeface="Bahnschrift" panose="020B0502040204020203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A32DAB4-2722-460F-B892-3A4A0B9DB57D}"/>
                </a:ext>
              </a:extLst>
            </p:cNvPr>
            <p:cNvSpPr/>
            <p:nvPr/>
          </p:nvSpPr>
          <p:spPr>
            <a:xfrm rot="16200000">
              <a:off x="1801828" y="3734237"/>
              <a:ext cx="3211201" cy="610128"/>
            </a:xfrm>
            <a:custGeom>
              <a:avLst/>
              <a:gdLst>
                <a:gd name="connsiteX0" fmla="*/ 0 w 3211201"/>
                <a:gd name="connsiteY0" fmla="*/ 0 h 610128"/>
                <a:gd name="connsiteX1" fmla="*/ 3211201 w 3211201"/>
                <a:gd name="connsiteY1" fmla="*/ 0 h 610128"/>
                <a:gd name="connsiteX2" fmla="*/ 3211201 w 3211201"/>
                <a:gd name="connsiteY2" fmla="*/ 610128 h 610128"/>
                <a:gd name="connsiteX3" fmla="*/ 0 w 3211201"/>
                <a:gd name="connsiteY3" fmla="*/ 610128 h 610128"/>
                <a:gd name="connsiteX4" fmla="*/ 0 w 3211201"/>
                <a:gd name="connsiteY4" fmla="*/ 0 h 6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1201" h="610128">
                  <a:moveTo>
                    <a:pt x="0" y="0"/>
                  </a:moveTo>
                  <a:lnTo>
                    <a:pt x="3211201" y="0"/>
                  </a:lnTo>
                  <a:lnTo>
                    <a:pt x="3211201" y="610128"/>
                  </a:lnTo>
                  <a:lnTo>
                    <a:pt x="0" y="610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589" tIns="21590" rIns="21590" bIns="21589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>
                  <a:latin typeface="Bahnschrift" panose="020B0502040204020203" pitchFamily="34" charset="0"/>
                </a:rPr>
                <a:t>Key/Value Store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5F36B4-DC39-4A76-81A1-6137BBB66A6D}"/>
                </a:ext>
              </a:extLst>
            </p:cNvPr>
            <p:cNvSpPr/>
            <p:nvPr/>
          </p:nvSpPr>
          <p:spPr>
            <a:xfrm>
              <a:off x="4112737" y="1446255"/>
              <a:ext cx="2001221" cy="610128"/>
            </a:xfrm>
            <a:custGeom>
              <a:avLst/>
              <a:gdLst>
                <a:gd name="connsiteX0" fmla="*/ 0 w 2001221"/>
                <a:gd name="connsiteY0" fmla="*/ 0 h 610128"/>
                <a:gd name="connsiteX1" fmla="*/ 2001221 w 2001221"/>
                <a:gd name="connsiteY1" fmla="*/ 0 h 610128"/>
                <a:gd name="connsiteX2" fmla="*/ 2001221 w 2001221"/>
                <a:gd name="connsiteY2" fmla="*/ 610128 h 610128"/>
                <a:gd name="connsiteX3" fmla="*/ 0 w 2001221"/>
                <a:gd name="connsiteY3" fmla="*/ 610128 h 610128"/>
                <a:gd name="connsiteX4" fmla="*/ 0 w 2001221"/>
                <a:gd name="connsiteY4" fmla="*/ 0 h 6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221" h="610128">
                  <a:moveTo>
                    <a:pt x="0" y="0"/>
                  </a:moveTo>
                  <a:lnTo>
                    <a:pt x="2001221" y="0"/>
                  </a:lnTo>
                  <a:lnTo>
                    <a:pt x="2001221" y="610128"/>
                  </a:lnTo>
                  <a:lnTo>
                    <a:pt x="0" y="61012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100" kern="1200" dirty="0">
                  <a:latin typeface="Bahnschrift" panose="020B0502040204020203" pitchFamily="34" charset="0"/>
                </a:rPr>
                <a:t>Memcached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D86ABA-6935-4A2C-81F7-5FBE37EA270B}"/>
                </a:ext>
              </a:extLst>
            </p:cNvPr>
            <p:cNvSpPr/>
            <p:nvPr/>
          </p:nvSpPr>
          <p:spPr>
            <a:xfrm>
              <a:off x="4112737" y="2208916"/>
              <a:ext cx="2001221" cy="610128"/>
            </a:xfrm>
            <a:custGeom>
              <a:avLst/>
              <a:gdLst>
                <a:gd name="connsiteX0" fmla="*/ 0 w 2001221"/>
                <a:gd name="connsiteY0" fmla="*/ 0 h 610128"/>
                <a:gd name="connsiteX1" fmla="*/ 2001221 w 2001221"/>
                <a:gd name="connsiteY1" fmla="*/ 0 h 610128"/>
                <a:gd name="connsiteX2" fmla="*/ 2001221 w 2001221"/>
                <a:gd name="connsiteY2" fmla="*/ 610128 h 610128"/>
                <a:gd name="connsiteX3" fmla="*/ 0 w 2001221"/>
                <a:gd name="connsiteY3" fmla="*/ 610128 h 610128"/>
                <a:gd name="connsiteX4" fmla="*/ 0 w 2001221"/>
                <a:gd name="connsiteY4" fmla="*/ 0 h 6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221" h="610128">
                  <a:moveTo>
                    <a:pt x="0" y="0"/>
                  </a:moveTo>
                  <a:lnTo>
                    <a:pt x="2001221" y="0"/>
                  </a:lnTo>
                  <a:lnTo>
                    <a:pt x="2001221" y="610128"/>
                  </a:lnTo>
                  <a:lnTo>
                    <a:pt x="0" y="61012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100" kern="1200" dirty="0">
                  <a:latin typeface="Bahnschrift" panose="020B0502040204020203" pitchFamily="34" charset="0"/>
                </a:rPr>
                <a:t>Redis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D292326-2F45-4DCA-A48E-D9B300C62BED}"/>
                </a:ext>
              </a:extLst>
            </p:cNvPr>
            <p:cNvSpPr/>
            <p:nvPr/>
          </p:nvSpPr>
          <p:spPr>
            <a:xfrm>
              <a:off x="4112737" y="2971576"/>
              <a:ext cx="2001221" cy="610128"/>
            </a:xfrm>
            <a:custGeom>
              <a:avLst/>
              <a:gdLst>
                <a:gd name="connsiteX0" fmla="*/ 0 w 2001221"/>
                <a:gd name="connsiteY0" fmla="*/ 0 h 610128"/>
                <a:gd name="connsiteX1" fmla="*/ 2001221 w 2001221"/>
                <a:gd name="connsiteY1" fmla="*/ 0 h 610128"/>
                <a:gd name="connsiteX2" fmla="*/ 2001221 w 2001221"/>
                <a:gd name="connsiteY2" fmla="*/ 610128 h 610128"/>
                <a:gd name="connsiteX3" fmla="*/ 0 w 2001221"/>
                <a:gd name="connsiteY3" fmla="*/ 610128 h 610128"/>
                <a:gd name="connsiteX4" fmla="*/ 0 w 2001221"/>
                <a:gd name="connsiteY4" fmla="*/ 0 h 6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221" h="610128">
                  <a:moveTo>
                    <a:pt x="0" y="0"/>
                  </a:moveTo>
                  <a:lnTo>
                    <a:pt x="2001221" y="0"/>
                  </a:lnTo>
                  <a:lnTo>
                    <a:pt x="2001221" y="610128"/>
                  </a:lnTo>
                  <a:lnTo>
                    <a:pt x="0" y="61012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100" kern="1200" dirty="0">
                  <a:latin typeface="Bahnschrift" panose="020B0502040204020203" pitchFamily="34" charset="0"/>
                </a:rPr>
                <a:t>Tokyo Cabinet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F9E9282-3024-4980-9B17-CBAB1E9B891B}"/>
                </a:ext>
              </a:extLst>
            </p:cNvPr>
            <p:cNvSpPr/>
            <p:nvPr/>
          </p:nvSpPr>
          <p:spPr>
            <a:xfrm>
              <a:off x="4112737" y="3734237"/>
              <a:ext cx="2001221" cy="610128"/>
            </a:xfrm>
            <a:custGeom>
              <a:avLst/>
              <a:gdLst>
                <a:gd name="connsiteX0" fmla="*/ 0 w 2001221"/>
                <a:gd name="connsiteY0" fmla="*/ 0 h 610128"/>
                <a:gd name="connsiteX1" fmla="*/ 2001221 w 2001221"/>
                <a:gd name="connsiteY1" fmla="*/ 0 h 610128"/>
                <a:gd name="connsiteX2" fmla="*/ 2001221 w 2001221"/>
                <a:gd name="connsiteY2" fmla="*/ 610128 h 610128"/>
                <a:gd name="connsiteX3" fmla="*/ 0 w 2001221"/>
                <a:gd name="connsiteY3" fmla="*/ 610128 h 610128"/>
                <a:gd name="connsiteX4" fmla="*/ 0 w 2001221"/>
                <a:gd name="connsiteY4" fmla="*/ 0 h 6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221" h="610128">
                  <a:moveTo>
                    <a:pt x="0" y="0"/>
                  </a:moveTo>
                  <a:lnTo>
                    <a:pt x="2001221" y="0"/>
                  </a:lnTo>
                  <a:lnTo>
                    <a:pt x="2001221" y="610128"/>
                  </a:lnTo>
                  <a:lnTo>
                    <a:pt x="0" y="61012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100" kern="1200" dirty="0" err="1">
                  <a:latin typeface="Bahnschrift" panose="020B0502040204020203" pitchFamily="34" charset="0"/>
                </a:rPr>
                <a:t>Dyanamo</a:t>
              </a:r>
              <a:endParaRPr lang="en-IN" sz="21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64134D7-1734-4AA8-BCB2-3044DF776214}"/>
                </a:ext>
              </a:extLst>
            </p:cNvPr>
            <p:cNvSpPr/>
            <p:nvPr/>
          </p:nvSpPr>
          <p:spPr>
            <a:xfrm>
              <a:off x="4112737" y="4496897"/>
              <a:ext cx="2001221" cy="610128"/>
            </a:xfrm>
            <a:custGeom>
              <a:avLst/>
              <a:gdLst>
                <a:gd name="connsiteX0" fmla="*/ 0 w 2001221"/>
                <a:gd name="connsiteY0" fmla="*/ 0 h 610128"/>
                <a:gd name="connsiteX1" fmla="*/ 2001221 w 2001221"/>
                <a:gd name="connsiteY1" fmla="*/ 0 h 610128"/>
                <a:gd name="connsiteX2" fmla="*/ 2001221 w 2001221"/>
                <a:gd name="connsiteY2" fmla="*/ 610128 h 610128"/>
                <a:gd name="connsiteX3" fmla="*/ 0 w 2001221"/>
                <a:gd name="connsiteY3" fmla="*/ 610128 h 610128"/>
                <a:gd name="connsiteX4" fmla="*/ 0 w 2001221"/>
                <a:gd name="connsiteY4" fmla="*/ 0 h 6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221" h="610128">
                  <a:moveTo>
                    <a:pt x="0" y="0"/>
                  </a:moveTo>
                  <a:lnTo>
                    <a:pt x="2001221" y="0"/>
                  </a:lnTo>
                  <a:lnTo>
                    <a:pt x="2001221" y="610128"/>
                  </a:lnTo>
                  <a:lnTo>
                    <a:pt x="0" y="61012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100" kern="1200">
                  <a:latin typeface="Bahnschrift" panose="020B0502040204020203" pitchFamily="34" charset="0"/>
                </a:rPr>
                <a:t>Dynomite</a:t>
              </a:r>
              <a:endParaRPr lang="en-IN" sz="21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9F4B87-2B47-475A-B43C-B5BFA6532535}"/>
                </a:ext>
              </a:extLst>
            </p:cNvPr>
            <p:cNvSpPr/>
            <p:nvPr/>
          </p:nvSpPr>
          <p:spPr>
            <a:xfrm>
              <a:off x="4112737" y="5259558"/>
              <a:ext cx="2001221" cy="610128"/>
            </a:xfrm>
            <a:custGeom>
              <a:avLst/>
              <a:gdLst>
                <a:gd name="connsiteX0" fmla="*/ 0 w 2001221"/>
                <a:gd name="connsiteY0" fmla="*/ 0 h 610128"/>
                <a:gd name="connsiteX1" fmla="*/ 2001221 w 2001221"/>
                <a:gd name="connsiteY1" fmla="*/ 0 h 610128"/>
                <a:gd name="connsiteX2" fmla="*/ 2001221 w 2001221"/>
                <a:gd name="connsiteY2" fmla="*/ 610128 h 610128"/>
                <a:gd name="connsiteX3" fmla="*/ 0 w 2001221"/>
                <a:gd name="connsiteY3" fmla="*/ 610128 h 610128"/>
                <a:gd name="connsiteX4" fmla="*/ 0 w 2001221"/>
                <a:gd name="connsiteY4" fmla="*/ 0 h 6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221" h="610128">
                  <a:moveTo>
                    <a:pt x="0" y="0"/>
                  </a:moveTo>
                  <a:lnTo>
                    <a:pt x="2001221" y="0"/>
                  </a:lnTo>
                  <a:lnTo>
                    <a:pt x="2001221" y="610128"/>
                  </a:lnTo>
                  <a:lnTo>
                    <a:pt x="0" y="61012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100" kern="1200">
                  <a:latin typeface="Bahnschrift" panose="020B0502040204020203" pitchFamily="34" charset="0"/>
                </a:rPr>
                <a:t>Risk</a:t>
              </a:r>
              <a:endParaRPr lang="en-IN" sz="21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B34F1A1-42D9-419A-B2B6-9F18AA7F8D70}"/>
                </a:ext>
              </a:extLst>
            </p:cNvPr>
            <p:cNvSpPr/>
            <p:nvPr/>
          </p:nvSpPr>
          <p:spPr>
            <a:xfrm>
              <a:off x="4112737" y="6022218"/>
              <a:ext cx="2001221" cy="610128"/>
            </a:xfrm>
            <a:custGeom>
              <a:avLst/>
              <a:gdLst>
                <a:gd name="connsiteX0" fmla="*/ 0 w 2001221"/>
                <a:gd name="connsiteY0" fmla="*/ 0 h 610128"/>
                <a:gd name="connsiteX1" fmla="*/ 2001221 w 2001221"/>
                <a:gd name="connsiteY1" fmla="*/ 0 h 610128"/>
                <a:gd name="connsiteX2" fmla="*/ 2001221 w 2001221"/>
                <a:gd name="connsiteY2" fmla="*/ 610128 h 610128"/>
                <a:gd name="connsiteX3" fmla="*/ 0 w 2001221"/>
                <a:gd name="connsiteY3" fmla="*/ 610128 h 610128"/>
                <a:gd name="connsiteX4" fmla="*/ 0 w 2001221"/>
                <a:gd name="connsiteY4" fmla="*/ 0 h 61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1221" h="610128">
                  <a:moveTo>
                    <a:pt x="0" y="0"/>
                  </a:moveTo>
                  <a:lnTo>
                    <a:pt x="2001221" y="0"/>
                  </a:lnTo>
                  <a:lnTo>
                    <a:pt x="2001221" y="610128"/>
                  </a:lnTo>
                  <a:lnTo>
                    <a:pt x="0" y="61012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100" kern="1200" dirty="0">
                  <a:latin typeface="Bahnschrift" panose="020B0502040204020203" pitchFamily="34" charset="0"/>
                </a:rPr>
                <a:t>Project Voldemort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26FF61E-BED8-46D1-86A8-3743AB31E6FD}"/>
              </a:ext>
            </a:extLst>
          </p:cNvPr>
          <p:cNvSpPr txBox="1"/>
          <p:nvPr/>
        </p:nvSpPr>
        <p:spPr>
          <a:xfrm>
            <a:off x="5614935" y="3500622"/>
            <a:ext cx="3190704" cy="830997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b="0" i="0" u="none" strike="noStrike" baseline="0" dirty="0">
                <a:solidFill>
                  <a:schemeClr val="bg1"/>
                </a:solidFill>
                <a:latin typeface="Bahnschrift" panose="020B0502040204020203" pitchFamily="34" charset="0"/>
              </a:rPr>
              <a:t>Offerings in NoSQL databases</a:t>
            </a: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486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3D18A3-58EB-4758-A271-CEFCAA9B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E707AE-CD6B-4444-815D-A4BD74598A17}"/>
              </a:ext>
            </a:extLst>
          </p:cNvPr>
          <p:cNvGrpSpPr/>
          <p:nvPr/>
        </p:nvGrpSpPr>
        <p:grpSpPr>
          <a:xfrm>
            <a:off x="338362" y="1446028"/>
            <a:ext cx="4864150" cy="5186547"/>
            <a:chOff x="2176087" y="1446027"/>
            <a:chExt cx="4864150" cy="518654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AB00880-2D95-464D-8FCE-055E1158EA82}"/>
                </a:ext>
              </a:extLst>
            </p:cNvPr>
            <p:cNvSpPr/>
            <p:nvPr/>
          </p:nvSpPr>
          <p:spPr>
            <a:xfrm>
              <a:off x="3161530" y="4039301"/>
              <a:ext cx="646451" cy="1847707"/>
            </a:xfrm>
            <a:custGeom>
              <a:avLst/>
              <a:gdLst>
                <a:gd name="connsiteX0" fmla="*/ 0 w 646451"/>
                <a:gd name="connsiteY0" fmla="*/ 0 h 1847707"/>
                <a:gd name="connsiteX1" fmla="*/ 323225 w 646451"/>
                <a:gd name="connsiteY1" fmla="*/ 0 h 1847707"/>
                <a:gd name="connsiteX2" fmla="*/ 323225 w 646451"/>
                <a:gd name="connsiteY2" fmla="*/ 1847707 h 1847707"/>
                <a:gd name="connsiteX3" fmla="*/ 646451 w 646451"/>
                <a:gd name="connsiteY3" fmla="*/ 1847707 h 1847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6451" h="1847707">
                  <a:moveTo>
                    <a:pt x="0" y="0"/>
                  </a:moveTo>
                  <a:lnTo>
                    <a:pt x="323225" y="0"/>
                  </a:lnTo>
                  <a:lnTo>
                    <a:pt x="323225" y="1847707"/>
                  </a:lnTo>
                  <a:lnTo>
                    <a:pt x="646451" y="1847707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6987" tIns="874915" rIns="286988" bIns="874916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kern="1200">
                <a:latin typeface="Bahnschrift" panose="020B050204020402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2CA4477-4E84-44DC-B28A-FBF9FEF4BEDD}"/>
                </a:ext>
              </a:extLst>
            </p:cNvPr>
            <p:cNvSpPr/>
            <p:nvPr/>
          </p:nvSpPr>
          <p:spPr>
            <a:xfrm>
              <a:off x="3161530" y="4039301"/>
              <a:ext cx="646451" cy="615902"/>
            </a:xfrm>
            <a:custGeom>
              <a:avLst/>
              <a:gdLst>
                <a:gd name="connsiteX0" fmla="*/ 0 w 646451"/>
                <a:gd name="connsiteY0" fmla="*/ 0 h 615902"/>
                <a:gd name="connsiteX1" fmla="*/ 323225 w 646451"/>
                <a:gd name="connsiteY1" fmla="*/ 0 h 615902"/>
                <a:gd name="connsiteX2" fmla="*/ 323225 w 646451"/>
                <a:gd name="connsiteY2" fmla="*/ 615902 h 615902"/>
                <a:gd name="connsiteX3" fmla="*/ 646451 w 646451"/>
                <a:gd name="connsiteY3" fmla="*/ 615902 h 615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6451" h="615902">
                  <a:moveTo>
                    <a:pt x="0" y="0"/>
                  </a:moveTo>
                  <a:lnTo>
                    <a:pt x="323225" y="0"/>
                  </a:lnTo>
                  <a:lnTo>
                    <a:pt x="323225" y="615902"/>
                  </a:lnTo>
                  <a:lnTo>
                    <a:pt x="646451" y="61590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13603" tIns="285629" rIns="313604" bIns="285629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B2338CB-A9D0-4F85-8724-D714595F3A57}"/>
                </a:ext>
              </a:extLst>
            </p:cNvPr>
            <p:cNvSpPr/>
            <p:nvPr/>
          </p:nvSpPr>
          <p:spPr>
            <a:xfrm>
              <a:off x="3161530" y="3423399"/>
              <a:ext cx="646451" cy="615902"/>
            </a:xfrm>
            <a:custGeom>
              <a:avLst/>
              <a:gdLst>
                <a:gd name="connsiteX0" fmla="*/ 0 w 646451"/>
                <a:gd name="connsiteY0" fmla="*/ 615902 h 615902"/>
                <a:gd name="connsiteX1" fmla="*/ 323225 w 646451"/>
                <a:gd name="connsiteY1" fmla="*/ 615902 h 615902"/>
                <a:gd name="connsiteX2" fmla="*/ 323225 w 646451"/>
                <a:gd name="connsiteY2" fmla="*/ 0 h 615902"/>
                <a:gd name="connsiteX3" fmla="*/ 646451 w 646451"/>
                <a:gd name="connsiteY3" fmla="*/ 0 h 615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6451" h="615902">
                  <a:moveTo>
                    <a:pt x="0" y="615902"/>
                  </a:moveTo>
                  <a:lnTo>
                    <a:pt x="323225" y="615902"/>
                  </a:lnTo>
                  <a:lnTo>
                    <a:pt x="323225" y="0"/>
                  </a:lnTo>
                  <a:lnTo>
                    <a:pt x="64645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13603" tIns="285629" rIns="313604" bIns="285629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FD0A83E-6747-4D51-980E-20B6217A5217}"/>
                </a:ext>
              </a:extLst>
            </p:cNvPr>
            <p:cNvSpPr/>
            <p:nvPr/>
          </p:nvSpPr>
          <p:spPr>
            <a:xfrm>
              <a:off x="3161530" y="2191594"/>
              <a:ext cx="646451" cy="1847707"/>
            </a:xfrm>
            <a:custGeom>
              <a:avLst/>
              <a:gdLst>
                <a:gd name="connsiteX0" fmla="*/ 0 w 646451"/>
                <a:gd name="connsiteY0" fmla="*/ 1847707 h 1847707"/>
                <a:gd name="connsiteX1" fmla="*/ 323225 w 646451"/>
                <a:gd name="connsiteY1" fmla="*/ 1847707 h 1847707"/>
                <a:gd name="connsiteX2" fmla="*/ 323225 w 646451"/>
                <a:gd name="connsiteY2" fmla="*/ 0 h 1847707"/>
                <a:gd name="connsiteX3" fmla="*/ 646451 w 646451"/>
                <a:gd name="connsiteY3" fmla="*/ 0 h 1847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6451" h="1847707">
                  <a:moveTo>
                    <a:pt x="0" y="1847707"/>
                  </a:moveTo>
                  <a:lnTo>
                    <a:pt x="323225" y="1847707"/>
                  </a:lnTo>
                  <a:lnTo>
                    <a:pt x="323225" y="0"/>
                  </a:lnTo>
                  <a:lnTo>
                    <a:pt x="64645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6987" tIns="874915" rIns="286988" bIns="874916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kern="1200">
                <a:latin typeface="Bahnschrift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378346C-09FC-4C61-B164-92F4AEE93F1E}"/>
                </a:ext>
              </a:extLst>
            </p:cNvPr>
            <p:cNvSpPr/>
            <p:nvPr/>
          </p:nvSpPr>
          <p:spPr>
            <a:xfrm rot="16200000">
              <a:off x="75535" y="3546579"/>
              <a:ext cx="5186547" cy="985443"/>
            </a:xfrm>
            <a:custGeom>
              <a:avLst/>
              <a:gdLst>
                <a:gd name="connsiteX0" fmla="*/ 0 w 5186547"/>
                <a:gd name="connsiteY0" fmla="*/ 0 h 985443"/>
                <a:gd name="connsiteX1" fmla="*/ 5186547 w 5186547"/>
                <a:gd name="connsiteY1" fmla="*/ 0 h 985443"/>
                <a:gd name="connsiteX2" fmla="*/ 5186547 w 5186547"/>
                <a:gd name="connsiteY2" fmla="*/ 985443 h 985443"/>
                <a:gd name="connsiteX3" fmla="*/ 0 w 5186547"/>
                <a:gd name="connsiteY3" fmla="*/ 985443 h 985443"/>
                <a:gd name="connsiteX4" fmla="*/ 0 w 5186547"/>
                <a:gd name="connsiteY4" fmla="*/ 0 h 98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86547" h="985443">
                  <a:moveTo>
                    <a:pt x="0" y="0"/>
                  </a:moveTo>
                  <a:lnTo>
                    <a:pt x="5186547" y="0"/>
                  </a:lnTo>
                  <a:lnTo>
                    <a:pt x="5186547" y="985443"/>
                  </a:lnTo>
                  <a:lnTo>
                    <a:pt x="0" y="985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79" tIns="17780" rIns="17781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>
                  <a:latin typeface="Bahnschrift" panose="020B0502040204020203" pitchFamily="34" charset="0"/>
                </a:rPr>
                <a:t>Columnar or</a:t>
              </a:r>
            </a:p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>
                  <a:latin typeface="Bahnschrift" panose="020B0502040204020203" pitchFamily="34" charset="0"/>
                </a:rPr>
                <a:t>Extensible record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BFE542F-0A37-4E73-B42D-DE705BCFE63B}"/>
                </a:ext>
              </a:extLst>
            </p:cNvPr>
            <p:cNvSpPr/>
            <p:nvPr/>
          </p:nvSpPr>
          <p:spPr>
            <a:xfrm>
              <a:off x="3807981" y="1698872"/>
              <a:ext cx="3232256" cy="985443"/>
            </a:xfrm>
            <a:custGeom>
              <a:avLst/>
              <a:gdLst>
                <a:gd name="connsiteX0" fmla="*/ 0 w 3232256"/>
                <a:gd name="connsiteY0" fmla="*/ 0 h 985443"/>
                <a:gd name="connsiteX1" fmla="*/ 3232256 w 3232256"/>
                <a:gd name="connsiteY1" fmla="*/ 0 h 985443"/>
                <a:gd name="connsiteX2" fmla="*/ 3232256 w 3232256"/>
                <a:gd name="connsiteY2" fmla="*/ 985443 h 985443"/>
                <a:gd name="connsiteX3" fmla="*/ 0 w 3232256"/>
                <a:gd name="connsiteY3" fmla="*/ 985443 h 985443"/>
                <a:gd name="connsiteX4" fmla="*/ 0 w 3232256"/>
                <a:gd name="connsiteY4" fmla="*/ 0 h 98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2256" h="985443">
                  <a:moveTo>
                    <a:pt x="0" y="0"/>
                  </a:moveTo>
                  <a:lnTo>
                    <a:pt x="3232256" y="0"/>
                  </a:lnTo>
                  <a:lnTo>
                    <a:pt x="3232256" y="985443"/>
                  </a:lnTo>
                  <a:lnTo>
                    <a:pt x="0" y="9854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>
                  <a:latin typeface="Bahnschrift" panose="020B0502040204020203" pitchFamily="34" charset="0"/>
                </a:rPr>
                <a:t>Google</a:t>
              </a:r>
            </a:p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>
                  <a:latin typeface="Bahnschrift" panose="020B0502040204020203" pitchFamily="34" charset="0"/>
                </a:rPr>
                <a:t>Big Table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2151E9E-D865-4E27-9560-0DFE7B3504C6}"/>
                </a:ext>
              </a:extLst>
            </p:cNvPr>
            <p:cNvSpPr/>
            <p:nvPr/>
          </p:nvSpPr>
          <p:spPr>
            <a:xfrm>
              <a:off x="3807981" y="2930677"/>
              <a:ext cx="3232256" cy="985443"/>
            </a:xfrm>
            <a:custGeom>
              <a:avLst/>
              <a:gdLst>
                <a:gd name="connsiteX0" fmla="*/ 0 w 3232256"/>
                <a:gd name="connsiteY0" fmla="*/ 0 h 985443"/>
                <a:gd name="connsiteX1" fmla="*/ 3232256 w 3232256"/>
                <a:gd name="connsiteY1" fmla="*/ 0 h 985443"/>
                <a:gd name="connsiteX2" fmla="*/ 3232256 w 3232256"/>
                <a:gd name="connsiteY2" fmla="*/ 985443 h 985443"/>
                <a:gd name="connsiteX3" fmla="*/ 0 w 3232256"/>
                <a:gd name="connsiteY3" fmla="*/ 985443 h 985443"/>
                <a:gd name="connsiteX4" fmla="*/ 0 w 3232256"/>
                <a:gd name="connsiteY4" fmla="*/ 0 h 98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2256" h="985443">
                  <a:moveTo>
                    <a:pt x="0" y="0"/>
                  </a:moveTo>
                  <a:lnTo>
                    <a:pt x="3232256" y="0"/>
                  </a:lnTo>
                  <a:lnTo>
                    <a:pt x="3232256" y="985443"/>
                  </a:lnTo>
                  <a:lnTo>
                    <a:pt x="0" y="9854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 err="1">
                  <a:latin typeface="Bahnschrift" panose="020B0502040204020203" pitchFamily="34" charset="0"/>
                </a:rPr>
                <a:t>Hbase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15863FE-1317-4C75-9E3F-C2F8FFFC8C09}"/>
                </a:ext>
              </a:extLst>
            </p:cNvPr>
            <p:cNvSpPr/>
            <p:nvPr/>
          </p:nvSpPr>
          <p:spPr>
            <a:xfrm>
              <a:off x="3807981" y="4162481"/>
              <a:ext cx="3232256" cy="985443"/>
            </a:xfrm>
            <a:custGeom>
              <a:avLst/>
              <a:gdLst>
                <a:gd name="connsiteX0" fmla="*/ 0 w 3232256"/>
                <a:gd name="connsiteY0" fmla="*/ 0 h 985443"/>
                <a:gd name="connsiteX1" fmla="*/ 3232256 w 3232256"/>
                <a:gd name="connsiteY1" fmla="*/ 0 h 985443"/>
                <a:gd name="connsiteX2" fmla="*/ 3232256 w 3232256"/>
                <a:gd name="connsiteY2" fmla="*/ 985443 h 985443"/>
                <a:gd name="connsiteX3" fmla="*/ 0 w 3232256"/>
                <a:gd name="connsiteY3" fmla="*/ 985443 h 985443"/>
                <a:gd name="connsiteX4" fmla="*/ 0 w 3232256"/>
                <a:gd name="connsiteY4" fmla="*/ 0 h 98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2256" h="985443">
                  <a:moveTo>
                    <a:pt x="0" y="0"/>
                  </a:moveTo>
                  <a:lnTo>
                    <a:pt x="3232256" y="0"/>
                  </a:lnTo>
                  <a:lnTo>
                    <a:pt x="3232256" y="985443"/>
                  </a:lnTo>
                  <a:lnTo>
                    <a:pt x="0" y="9854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>
                  <a:latin typeface="Bahnschrift" panose="020B0502040204020203" pitchFamily="34" charset="0"/>
                </a:rPr>
                <a:t>Cassandra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032D681-D8BB-4A97-90C7-B0070A355713}"/>
                </a:ext>
              </a:extLst>
            </p:cNvPr>
            <p:cNvSpPr/>
            <p:nvPr/>
          </p:nvSpPr>
          <p:spPr>
            <a:xfrm>
              <a:off x="3807981" y="5394286"/>
              <a:ext cx="3232256" cy="985443"/>
            </a:xfrm>
            <a:custGeom>
              <a:avLst/>
              <a:gdLst>
                <a:gd name="connsiteX0" fmla="*/ 0 w 3232256"/>
                <a:gd name="connsiteY0" fmla="*/ 0 h 985443"/>
                <a:gd name="connsiteX1" fmla="*/ 3232256 w 3232256"/>
                <a:gd name="connsiteY1" fmla="*/ 0 h 985443"/>
                <a:gd name="connsiteX2" fmla="*/ 3232256 w 3232256"/>
                <a:gd name="connsiteY2" fmla="*/ 985443 h 985443"/>
                <a:gd name="connsiteX3" fmla="*/ 0 w 3232256"/>
                <a:gd name="connsiteY3" fmla="*/ 985443 h 985443"/>
                <a:gd name="connsiteX4" fmla="*/ 0 w 3232256"/>
                <a:gd name="connsiteY4" fmla="*/ 0 h 98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2256" h="985443">
                  <a:moveTo>
                    <a:pt x="0" y="0"/>
                  </a:moveTo>
                  <a:lnTo>
                    <a:pt x="3232256" y="0"/>
                  </a:lnTo>
                  <a:lnTo>
                    <a:pt x="3232256" y="985443"/>
                  </a:lnTo>
                  <a:lnTo>
                    <a:pt x="0" y="9854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>
                  <a:latin typeface="Bahnschrift" panose="020B0502040204020203" pitchFamily="34" charset="0"/>
                </a:rPr>
                <a:t>Hyper Table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057F79C-CDA2-475D-9015-9633AE4F35A7}"/>
              </a:ext>
            </a:extLst>
          </p:cNvPr>
          <p:cNvSpPr txBox="1"/>
          <p:nvPr/>
        </p:nvSpPr>
        <p:spPr>
          <a:xfrm>
            <a:off x="5614935" y="3500622"/>
            <a:ext cx="3190704" cy="830997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b="0" i="0" u="none" strike="noStrike" baseline="0" dirty="0">
                <a:solidFill>
                  <a:schemeClr val="bg1"/>
                </a:solidFill>
                <a:latin typeface="Bahnschrift" panose="020B0502040204020203" pitchFamily="34" charset="0"/>
              </a:rPr>
              <a:t>Offerings in NoSQL databases</a:t>
            </a: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390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3D18A3-58EB-4758-A271-CEFCAA9B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9A0D67-E0D6-4B1E-B8D1-DB6A6CC6BA67}"/>
              </a:ext>
            </a:extLst>
          </p:cNvPr>
          <p:cNvGrpSpPr/>
          <p:nvPr/>
        </p:nvGrpSpPr>
        <p:grpSpPr>
          <a:xfrm>
            <a:off x="265997" y="1447447"/>
            <a:ext cx="4265633" cy="5185128"/>
            <a:chOff x="2475345" y="1446737"/>
            <a:chExt cx="4265633" cy="518512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ABCF7FD-6B4C-4F35-ABDA-76797345AC28}"/>
                </a:ext>
              </a:extLst>
            </p:cNvPr>
            <p:cNvSpPr/>
            <p:nvPr/>
          </p:nvSpPr>
          <p:spPr>
            <a:xfrm>
              <a:off x="3339533" y="4039301"/>
              <a:ext cx="566907" cy="2160470"/>
            </a:xfrm>
            <a:custGeom>
              <a:avLst/>
              <a:gdLst>
                <a:gd name="connsiteX0" fmla="*/ 0 w 566907"/>
                <a:gd name="connsiteY0" fmla="*/ 0 h 2160470"/>
                <a:gd name="connsiteX1" fmla="*/ 283453 w 566907"/>
                <a:gd name="connsiteY1" fmla="*/ 0 h 2160470"/>
                <a:gd name="connsiteX2" fmla="*/ 283453 w 566907"/>
                <a:gd name="connsiteY2" fmla="*/ 2160470 h 2160470"/>
                <a:gd name="connsiteX3" fmla="*/ 566907 w 566907"/>
                <a:gd name="connsiteY3" fmla="*/ 2160470 h 216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907" h="2160470">
                  <a:moveTo>
                    <a:pt x="0" y="0"/>
                  </a:moveTo>
                  <a:lnTo>
                    <a:pt x="283453" y="0"/>
                  </a:lnTo>
                  <a:lnTo>
                    <a:pt x="283453" y="2160470"/>
                  </a:lnTo>
                  <a:lnTo>
                    <a:pt x="566907" y="216047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0314" tIns="1024395" rIns="240313" bIns="1024395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800" kern="1200">
                <a:latin typeface="Bahnschrift" panose="020B050204020402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66F72B2-050C-4DFE-864A-FBA1E842F242}"/>
                </a:ext>
              </a:extLst>
            </p:cNvPr>
            <p:cNvSpPr/>
            <p:nvPr/>
          </p:nvSpPr>
          <p:spPr>
            <a:xfrm>
              <a:off x="3339533" y="4039301"/>
              <a:ext cx="566907" cy="1080235"/>
            </a:xfrm>
            <a:custGeom>
              <a:avLst/>
              <a:gdLst>
                <a:gd name="connsiteX0" fmla="*/ 0 w 566907"/>
                <a:gd name="connsiteY0" fmla="*/ 0 h 1080235"/>
                <a:gd name="connsiteX1" fmla="*/ 283453 w 566907"/>
                <a:gd name="connsiteY1" fmla="*/ 0 h 1080235"/>
                <a:gd name="connsiteX2" fmla="*/ 283453 w 566907"/>
                <a:gd name="connsiteY2" fmla="*/ 1080235 h 1080235"/>
                <a:gd name="connsiteX3" fmla="*/ 566907 w 566907"/>
                <a:gd name="connsiteY3" fmla="*/ 1080235 h 108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907" h="1080235">
                  <a:moveTo>
                    <a:pt x="0" y="0"/>
                  </a:moveTo>
                  <a:lnTo>
                    <a:pt x="283453" y="0"/>
                  </a:lnTo>
                  <a:lnTo>
                    <a:pt x="283453" y="1080235"/>
                  </a:lnTo>
                  <a:lnTo>
                    <a:pt x="566907" y="1080235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5655" tIns="509619" rIns="265655" bIns="509619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3144A7A-D061-405E-B4F7-19A19497F523}"/>
                </a:ext>
              </a:extLst>
            </p:cNvPr>
            <p:cNvSpPr/>
            <p:nvPr/>
          </p:nvSpPr>
          <p:spPr>
            <a:xfrm>
              <a:off x="3339533" y="3993581"/>
              <a:ext cx="566907" cy="91440"/>
            </a:xfrm>
            <a:custGeom>
              <a:avLst/>
              <a:gdLst>
                <a:gd name="connsiteX0" fmla="*/ 0 w 566907"/>
                <a:gd name="connsiteY0" fmla="*/ 45720 h 91440"/>
                <a:gd name="connsiteX1" fmla="*/ 566907 w 56690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6907" h="91440">
                  <a:moveTo>
                    <a:pt x="0" y="45720"/>
                  </a:moveTo>
                  <a:lnTo>
                    <a:pt x="566907" y="45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1981" tIns="31547" rIns="281981" bIns="31548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A69011D-92C2-4B71-A48C-CB251CC9F320}"/>
                </a:ext>
              </a:extLst>
            </p:cNvPr>
            <p:cNvSpPr/>
            <p:nvPr/>
          </p:nvSpPr>
          <p:spPr>
            <a:xfrm>
              <a:off x="3339533" y="2959066"/>
              <a:ext cx="566907" cy="1080235"/>
            </a:xfrm>
            <a:custGeom>
              <a:avLst/>
              <a:gdLst>
                <a:gd name="connsiteX0" fmla="*/ 0 w 566907"/>
                <a:gd name="connsiteY0" fmla="*/ 1080235 h 1080235"/>
                <a:gd name="connsiteX1" fmla="*/ 283453 w 566907"/>
                <a:gd name="connsiteY1" fmla="*/ 1080235 h 1080235"/>
                <a:gd name="connsiteX2" fmla="*/ 283453 w 566907"/>
                <a:gd name="connsiteY2" fmla="*/ 0 h 1080235"/>
                <a:gd name="connsiteX3" fmla="*/ 566907 w 566907"/>
                <a:gd name="connsiteY3" fmla="*/ 0 h 108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907" h="1080235">
                  <a:moveTo>
                    <a:pt x="0" y="1080235"/>
                  </a:moveTo>
                  <a:lnTo>
                    <a:pt x="283453" y="1080235"/>
                  </a:lnTo>
                  <a:lnTo>
                    <a:pt x="283453" y="0"/>
                  </a:lnTo>
                  <a:lnTo>
                    <a:pt x="566907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5655" tIns="509619" rIns="265655" bIns="509619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398A7F-BE37-4CB3-B47B-C57A122E1DC3}"/>
                </a:ext>
              </a:extLst>
            </p:cNvPr>
            <p:cNvSpPr/>
            <p:nvPr/>
          </p:nvSpPr>
          <p:spPr>
            <a:xfrm>
              <a:off x="3339533" y="1878831"/>
              <a:ext cx="566907" cy="2160470"/>
            </a:xfrm>
            <a:custGeom>
              <a:avLst/>
              <a:gdLst>
                <a:gd name="connsiteX0" fmla="*/ 0 w 566907"/>
                <a:gd name="connsiteY0" fmla="*/ 2160470 h 2160470"/>
                <a:gd name="connsiteX1" fmla="*/ 283453 w 566907"/>
                <a:gd name="connsiteY1" fmla="*/ 2160470 h 2160470"/>
                <a:gd name="connsiteX2" fmla="*/ 283453 w 566907"/>
                <a:gd name="connsiteY2" fmla="*/ 0 h 2160470"/>
                <a:gd name="connsiteX3" fmla="*/ 566907 w 566907"/>
                <a:gd name="connsiteY3" fmla="*/ 0 h 216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907" h="2160470">
                  <a:moveTo>
                    <a:pt x="0" y="2160470"/>
                  </a:moveTo>
                  <a:lnTo>
                    <a:pt x="283453" y="2160470"/>
                  </a:lnTo>
                  <a:lnTo>
                    <a:pt x="283453" y="0"/>
                  </a:lnTo>
                  <a:lnTo>
                    <a:pt x="566907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0314" tIns="1024395" rIns="240313" bIns="1024395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800" kern="1200">
                <a:latin typeface="Bahnschrift" panose="020B0502040204020203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5322DF-A61B-4634-A6DD-39E7440F80E3}"/>
                </a:ext>
              </a:extLst>
            </p:cNvPr>
            <p:cNvSpPr/>
            <p:nvPr/>
          </p:nvSpPr>
          <p:spPr>
            <a:xfrm rot="16200000">
              <a:off x="633260" y="3607207"/>
              <a:ext cx="4548358" cy="864188"/>
            </a:xfrm>
            <a:custGeom>
              <a:avLst/>
              <a:gdLst>
                <a:gd name="connsiteX0" fmla="*/ 0 w 4548358"/>
                <a:gd name="connsiteY0" fmla="*/ 0 h 864188"/>
                <a:gd name="connsiteX1" fmla="*/ 4548358 w 4548358"/>
                <a:gd name="connsiteY1" fmla="*/ 0 h 864188"/>
                <a:gd name="connsiteX2" fmla="*/ 4548358 w 4548358"/>
                <a:gd name="connsiteY2" fmla="*/ 864188 h 864188"/>
                <a:gd name="connsiteX3" fmla="*/ 0 w 4548358"/>
                <a:gd name="connsiteY3" fmla="*/ 864188 h 864188"/>
                <a:gd name="connsiteX4" fmla="*/ 0 w 4548358"/>
                <a:gd name="connsiteY4" fmla="*/ 0 h 86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8358" h="864188">
                  <a:moveTo>
                    <a:pt x="0" y="0"/>
                  </a:moveTo>
                  <a:lnTo>
                    <a:pt x="4548358" y="0"/>
                  </a:lnTo>
                  <a:lnTo>
                    <a:pt x="4548358" y="864188"/>
                  </a:lnTo>
                  <a:lnTo>
                    <a:pt x="0" y="864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600" kern="1200" dirty="0">
                  <a:latin typeface="Bahnschrift" panose="020B0502040204020203" pitchFamily="34" charset="0"/>
                </a:rPr>
                <a:t>Document Store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5118061-A15A-4E40-8A93-8DD2814C4B90}"/>
                </a:ext>
              </a:extLst>
            </p:cNvPr>
            <p:cNvSpPr/>
            <p:nvPr/>
          </p:nvSpPr>
          <p:spPr>
            <a:xfrm>
              <a:off x="3906441" y="1446737"/>
              <a:ext cx="2834537" cy="864188"/>
            </a:xfrm>
            <a:custGeom>
              <a:avLst/>
              <a:gdLst>
                <a:gd name="connsiteX0" fmla="*/ 0 w 2834537"/>
                <a:gd name="connsiteY0" fmla="*/ 0 h 864188"/>
                <a:gd name="connsiteX1" fmla="*/ 2834537 w 2834537"/>
                <a:gd name="connsiteY1" fmla="*/ 0 h 864188"/>
                <a:gd name="connsiteX2" fmla="*/ 2834537 w 2834537"/>
                <a:gd name="connsiteY2" fmla="*/ 864188 h 864188"/>
                <a:gd name="connsiteX3" fmla="*/ 0 w 2834537"/>
                <a:gd name="connsiteY3" fmla="*/ 864188 h 864188"/>
                <a:gd name="connsiteX4" fmla="*/ 0 w 2834537"/>
                <a:gd name="connsiteY4" fmla="*/ 0 h 86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4537" h="864188">
                  <a:moveTo>
                    <a:pt x="0" y="0"/>
                  </a:moveTo>
                  <a:lnTo>
                    <a:pt x="2834537" y="0"/>
                  </a:lnTo>
                  <a:lnTo>
                    <a:pt x="2834537" y="864188"/>
                  </a:lnTo>
                  <a:lnTo>
                    <a:pt x="0" y="86418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225" tIns="22225" rIns="22225" bIns="22225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500" kern="1200" dirty="0">
                  <a:latin typeface="Bahnschrift" panose="020B0502040204020203" pitchFamily="34" charset="0"/>
                </a:rPr>
                <a:t>Couch DB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1E61F4D-A334-4944-B2D1-18C8B2DD4D5F}"/>
                </a:ext>
              </a:extLst>
            </p:cNvPr>
            <p:cNvSpPr/>
            <p:nvPr/>
          </p:nvSpPr>
          <p:spPr>
            <a:xfrm>
              <a:off x="3906441" y="2526972"/>
              <a:ext cx="2834537" cy="864188"/>
            </a:xfrm>
            <a:custGeom>
              <a:avLst/>
              <a:gdLst>
                <a:gd name="connsiteX0" fmla="*/ 0 w 2834537"/>
                <a:gd name="connsiteY0" fmla="*/ 0 h 864188"/>
                <a:gd name="connsiteX1" fmla="*/ 2834537 w 2834537"/>
                <a:gd name="connsiteY1" fmla="*/ 0 h 864188"/>
                <a:gd name="connsiteX2" fmla="*/ 2834537 w 2834537"/>
                <a:gd name="connsiteY2" fmla="*/ 864188 h 864188"/>
                <a:gd name="connsiteX3" fmla="*/ 0 w 2834537"/>
                <a:gd name="connsiteY3" fmla="*/ 864188 h 864188"/>
                <a:gd name="connsiteX4" fmla="*/ 0 w 2834537"/>
                <a:gd name="connsiteY4" fmla="*/ 0 h 86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4537" h="864188">
                  <a:moveTo>
                    <a:pt x="0" y="0"/>
                  </a:moveTo>
                  <a:lnTo>
                    <a:pt x="2834537" y="0"/>
                  </a:lnTo>
                  <a:lnTo>
                    <a:pt x="2834537" y="864188"/>
                  </a:lnTo>
                  <a:lnTo>
                    <a:pt x="0" y="86418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225" tIns="22225" rIns="22225" bIns="22225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500" kern="1200">
                  <a:latin typeface="Bahnschrift" panose="020B0502040204020203" pitchFamily="34" charset="0"/>
                </a:rPr>
                <a:t>Mongo DB</a:t>
              </a:r>
              <a:endParaRPr lang="en-IN" sz="35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A197D0-2E15-418E-8B1F-BD9606993BC5}"/>
                </a:ext>
              </a:extLst>
            </p:cNvPr>
            <p:cNvSpPr/>
            <p:nvPr/>
          </p:nvSpPr>
          <p:spPr>
            <a:xfrm>
              <a:off x="3906441" y="3607207"/>
              <a:ext cx="2834537" cy="864188"/>
            </a:xfrm>
            <a:custGeom>
              <a:avLst/>
              <a:gdLst>
                <a:gd name="connsiteX0" fmla="*/ 0 w 2834537"/>
                <a:gd name="connsiteY0" fmla="*/ 0 h 864188"/>
                <a:gd name="connsiteX1" fmla="*/ 2834537 w 2834537"/>
                <a:gd name="connsiteY1" fmla="*/ 0 h 864188"/>
                <a:gd name="connsiteX2" fmla="*/ 2834537 w 2834537"/>
                <a:gd name="connsiteY2" fmla="*/ 864188 h 864188"/>
                <a:gd name="connsiteX3" fmla="*/ 0 w 2834537"/>
                <a:gd name="connsiteY3" fmla="*/ 864188 h 864188"/>
                <a:gd name="connsiteX4" fmla="*/ 0 w 2834537"/>
                <a:gd name="connsiteY4" fmla="*/ 0 h 86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4537" h="864188">
                  <a:moveTo>
                    <a:pt x="0" y="0"/>
                  </a:moveTo>
                  <a:lnTo>
                    <a:pt x="2834537" y="0"/>
                  </a:lnTo>
                  <a:lnTo>
                    <a:pt x="2834537" y="864188"/>
                  </a:lnTo>
                  <a:lnTo>
                    <a:pt x="0" y="86418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225" tIns="22225" rIns="22225" bIns="22225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500" kern="1200" dirty="0">
                  <a:latin typeface="Bahnschrift" panose="020B0502040204020203" pitchFamily="34" charset="0"/>
                </a:rPr>
                <a:t>Simple DB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20ECCE6-858E-40F0-87FC-E1EF9BB3C68F}"/>
                </a:ext>
              </a:extLst>
            </p:cNvPr>
            <p:cNvSpPr/>
            <p:nvPr/>
          </p:nvSpPr>
          <p:spPr>
            <a:xfrm>
              <a:off x="3906441" y="4687442"/>
              <a:ext cx="2834537" cy="864188"/>
            </a:xfrm>
            <a:custGeom>
              <a:avLst/>
              <a:gdLst>
                <a:gd name="connsiteX0" fmla="*/ 0 w 2834537"/>
                <a:gd name="connsiteY0" fmla="*/ 0 h 864188"/>
                <a:gd name="connsiteX1" fmla="*/ 2834537 w 2834537"/>
                <a:gd name="connsiteY1" fmla="*/ 0 h 864188"/>
                <a:gd name="connsiteX2" fmla="*/ 2834537 w 2834537"/>
                <a:gd name="connsiteY2" fmla="*/ 864188 h 864188"/>
                <a:gd name="connsiteX3" fmla="*/ 0 w 2834537"/>
                <a:gd name="connsiteY3" fmla="*/ 864188 h 864188"/>
                <a:gd name="connsiteX4" fmla="*/ 0 w 2834537"/>
                <a:gd name="connsiteY4" fmla="*/ 0 h 86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4537" h="864188">
                  <a:moveTo>
                    <a:pt x="0" y="0"/>
                  </a:moveTo>
                  <a:lnTo>
                    <a:pt x="2834537" y="0"/>
                  </a:lnTo>
                  <a:lnTo>
                    <a:pt x="2834537" y="864188"/>
                  </a:lnTo>
                  <a:lnTo>
                    <a:pt x="0" y="86418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225" tIns="22225" rIns="22225" bIns="22225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500" kern="1200" dirty="0">
                  <a:latin typeface="Bahnschrift" panose="020B0502040204020203" pitchFamily="34" charset="0"/>
                </a:rPr>
                <a:t>Lotus Domino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783225-637F-4C18-81D0-069E2DF307F3}"/>
                </a:ext>
              </a:extLst>
            </p:cNvPr>
            <p:cNvSpPr/>
            <p:nvPr/>
          </p:nvSpPr>
          <p:spPr>
            <a:xfrm>
              <a:off x="3906441" y="5767677"/>
              <a:ext cx="2834537" cy="864188"/>
            </a:xfrm>
            <a:custGeom>
              <a:avLst/>
              <a:gdLst>
                <a:gd name="connsiteX0" fmla="*/ 0 w 2834537"/>
                <a:gd name="connsiteY0" fmla="*/ 0 h 864188"/>
                <a:gd name="connsiteX1" fmla="*/ 2834537 w 2834537"/>
                <a:gd name="connsiteY1" fmla="*/ 0 h 864188"/>
                <a:gd name="connsiteX2" fmla="*/ 2834537 w 2834537"/>
                <a:gd name="connsiteY2" fmla="*/ 864188 h 864188"/>
                <a:gd name="connsiteX3" fmla="*/ 0 w 2834537"/>
                <a:gd name="connsiteY3" fmla="*/ 864188 h 864188"/>
                <a:gd name="connsiteX4" fmla="*/ 0 w 2834537"/>
                <a:gd name="connsiteY4" fmla="*/ 0 h 86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4537" h="864188">
                  <a:moveTo>
                    <a:pt x="0" y="0"/>
                  </a:moveTo>
                  <a:lnTo>
                    <a:pt x="2834537" y="0"/>
                  </a:lnTo>
                  <a:lnTo>
                    <a:pt x="2834537" y="864188"/>
                  </a:lnTo>
                  <a:lnTo>
                    <a:pt x="0" y="86418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225" tIns="22225" rIns="22225" bIns="22225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500" kern="1200">
                  <a:latin typeface="Bahnschrift" panose="020B0502040204020203" pitchFamily="34" charset="0"/>
                </a:rPr>
                <a:t>Mnesia</a:t>
              </a:r>
              <a:endParaRPr lang="en-IN" sz="3500" kern="1200" dirty="0">
                <a:latin typeface="Bahnschrift" panose="020B0502040204020203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52FF473-7F82-47E7-A9CA-A5A98ECF42BA}"/>
              </a:ext>
            </a:extLst>
          </p:cNvPr>
          <p:cNvSpPr txBox="1"/>
          <p:nvPr/>
        </p:nvSpPr>
        <p:spPr>
          <a:xfrm>
            <a:off x="5614935" y="3500622"/>
            <a:ext cx="3190704" cy="830997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b="0" i="0" u="none" strike="noStrike" baseline="0" dirty="0">
                <a:solidFill>
                  <a:schemeClr val="bg1"/>
                </a:solidFill>
                <a:latin typeface="Bahnschrift" panose="020B0502040204020203" pitchFamily="34" charset="0"/>
              </a:rPr>
              <a:t>Offerings in NoSQL databases</a:t>
            </a: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384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3D18A3-58EB-4758-A271-CEFCAA9B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D5B07-3134-45ED-8C5D-D7258D91EFB6}"/>
              </a:ext>
            </a:extLst>
          </p:cNvPr>
          <p:cNvGrpSpPr/>
          <p:nvPr/>
        </p:nvGrpSpPr>
        <p:grpSpPr>
          <a:xfrm>
            <a:off x="185962" y="1895674"/>
            <a:ext cx="4864150" cy="4317800"/>
            <a:chOff x="2176087" y="1895673"/>
            <a:chExt cx="4864150" cy="431780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CDE7832-C639-4310-97AB-CB17D4411BCC}"/>
                </a:ext>
              </a:extLst>
            </p:cNvPr>
            <p:cNvSpPr/>
            <p:nvPr/>
          </p:nvSpPr>
          <p:spPr>
            <a:xfrm>
              <a:off x="3161530" y="4039301"/>
              <a:ext cx="646451" cy="1231804"/>
            </a:xfrm>
            <a:custGeom>
              <a:avLst/>
              <a:gdLst>
                <a:gd name="connsiteX0" fmla="*/ 0 w 646451"/>
                <a:gd name="connsiteY0" fmla="*/ 0 h 1231804"/>
                <a:gd name="connsiteX1" fmla="*/ 323225 w 646451"/>
                <a:gd name="connsiteY1" fmla="*/ 0 h 1231804"/>
                <a:gd name="connsiteX2" fmla="*/ 323225 w 646451"/>
                <a:gd name="connsiteY2" fmla="*/ 1231804 h 1231804"/>
                <a:gd name="connsiteX3" fmla="*/ 646451 w 646451"/>
                <a:gd name="connsiteY3" fmla="*/ 1231804 h 1231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6451" h="1231804">
                  <a:moveTo>
                    <a:pt x="0" y="0"/>
                  </a:moveTo>
                  <a:lnTo>
                    <a:pt x="323225" y="0"/>
                  </a:lnTo>
                  <a:lnTo>
                    <a:pt x="323225" y="1231804"/>
                  </a:lnTo>
                  <a:lnTo>
                    <a:pt x="646451" y="1231804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1147" tIns="581124" rIns="301148" bIns="58112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5C4A028-5558-439D-A0FC-A89A378640D8}"/>
                </a:ext>
              </a:extLst>
            </p:cNvPr>
            <p:cNvSpPr/>
            <p:nvPr/>
          </p:nvSpPr>
          <p:spPr>
            <a:xfrm>
              <a:off x="3161530" y="3993581"/>
              <a:ext cx="646451" cy="91440"/>
            </a:xfrm>
            <a:custGeom>
              <a:avLst/>
              <a:gdLst>
                <a:gd name="connsiteX0" fmla="*/ 0 w 646451"/>
                <a:gd name="connsiteY0" fmla="*/ 45720 h 91440"/>
                <a:gd name="connsiteX1" fmla="*/ 646451 w 646451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6451" h="91440">
                  <a:moveTo>
                    <a:pt x="0" y="45720"/>
                  </a:moveTo>
                  <a:lnTo>
                    <a:pt x="646451" y="45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19764" tIns="29559" rIns="319765" bIns="29559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06C1265-E4ED-4364-A82A-0A1EC2E45B6D}"/>
                </a:ext>
              </a:extLst>
            </p:cNvPr>
            <p:cNvSpPr/>
            <p:nvPr/>
          </p:nvSpPr>
          <p:spPr>
            <a:xfrm>
              <a:off x="3161530" y="2807496"/>
              <a:ext cx="646451" cy="1231804"/>
            </a:xfrm>
            <a:custGeom>
              <a:avLst/>
              <a:gdLst>
                <a:gd name="connsiteX0" fmla="*/ 0 w 646451"/>
                <a:gd name="connsiteY0" fmla="*/ 1231804 h 1231804"/>
                <a:gd name="connsiteX1" fmla="*/ 323225 w 646451"/>
                <a:gd name="connsiteY1" fmla="*/ 1231804 h 1231804"/>
                <a:gd name="connsiteX2" fmla="*/ 323225 w 646451"/>
                <a:gd name="connsiteY2" fmla="*/ 0 h 1231804"/>
                <a:gd name="connsiteX3" fmla="*/ 646451 w 646451"/>
                <a:gd name="connsiteY3" fmla="*/ 0 h 1231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6451" h="1231804">
                  <a:moveTo>
                    <a:pt x="0" y="1231804"/>
                  </a:moveTo>
                  <a:lnTo>
                    <a:pt x="323225" y="1231804"/>
                  </a:lnTo>
                  <a:lnTo>
                    <a:pt x="323225" y="0"/>
                  </a:lnTo>
                  <a:lnTo>
                    <a:pt x="64645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1147" tIns="581124" rIns="301148" bIns="58112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kern="120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58E078-155B-4EE5-8AF1-F660EE585C52}"/>
                </a:ext>
              </a:extLst>
            </p:cNvPr>
            <p:cNvSpPr/>
            <p:nvPr/>
          </p:nvSpPr>
          <p:spPr>
            <a:xfrm rot="16200000">
              <a:off x="509909" y="3561851"/>
              <a:ext cx="4317800" cy="985443"/>
            </a:xfrm>
            <a:custGeom>
              <a:avLst/>
              <a:gdLst>
                <a:gd name="connsiteX0" fmla="*/ 0 w 5186547"/>
                <a:gd name="connsiteY0" fmla="*/ 0 h 985443"/>
                <a:gd name="connsiteX1" fmla="*/ 5186547 w 5186547"/>
                <a:gd name="connsiteY1" fmla="*/ 0 h 985443"/>
                <a:gd name="connsiteX2" fmla="*/ 5186547 w 5186547"/>
                <a:gd name="connsiteY2" fmla="*/ 985443 h 985443"/>
                <a:gd name="connsiteX3" fmla="*/ 0 w 5186547"/>
                <a:gd name="connsiteY3" fmla="*/ 985443 h 985443"/>
                <a:gd name="connsiteX4" fmla="*/ 0 w 5186547"/>
                <a:gd name="connsiteY4" fmla="*/ 0 h 98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86547" h="985443">
                  <a:moveTo>
                    <a:pt x="0" y="0"/>
                  </a:moveTo>
                  <a:lnTo>
                    <a:pt x="5186547" y="0"/>
                  </a:lnTo>
                  <a:lnTo>
                    <a:pt x="5186547" y="985443"/>
                  </a:lnTo>
                  <a:lnTo>
                    <a:pt x="0" y="985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74" tIns="41275" rIns="41276" bIns="41275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4400" kern="1200" dirty="0">
                  <a:latin typeface="Bahnschrift" panose="020B0502040204020203" pitchFamily="34" charset="0"/>
                </a:rPr>
                <a:t>Graph DB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0EA9163-797A-47FB-86EA-DE982E59263D}"/>
                </a:ext>
              </a:extLst>
            </p:cNvPr>
            <p:cNvSpPr/>
            <p:nvPr/>
          </p:nvSpPr>
          <p:spPr>
            <a:xfrm>
              <a:off x="3807981" y="2314774"/>
              <a:ext cx="3232256" cy="985443"/>
            </a:xfrm>
            <a:custGeom>
              <a:avLst/>
              <a:gdLst>
                <a:gd name="connsiteX0" fmla="*/ 0 w 3232256"/>
                <a:gd name="connsiteY0" fmla="*/ 0 h 985443"/>
                <a:gd name="connsiteX1" fmla="*/ 3232256 w 3232256"/>
                <a:gd name="connsiteY1" fmla="*/ 0 h 985443"/>
                <a:gd name="connsiteX2" fmla="*/ 3232256 w 3232256"/>
                <a:gd name="connsiteY2" fmla="*/ 985443 h 985443"/>
                <a:gd name="connsiteX3" fmla="*/ 0 w 3232256"/>
                <a:gd name="connsiteY3" fmla="*/ 985443 h 985443"/>
                <a:gd name="connsiteX4" fmla="*/ 0 w 3232256"/>
                <a:gd name="connsiteY4" fmla="*/ 0 h 98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2256" h="985443">
                  <a:moveTo>
                    <a:pt x="0" y="0"/>
                  </a:moveTo>
                  <a:lnTo>
                    <a:pt x="3232256" y="0"/>
                  </a:lnTo>
                  <a:lnTo>
                    <a:pt x="3232256" y="985443"/>
                  </a:lnTo>
                  <a:lnTo>
                    <a:pt x="0" y="9854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6035" tIns="26035" rIns="26035" bIns="26035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4100" kern="1200" dirty="0">
                  <a:latin typeface="Bahnschrift" panose="020B0502040204020203" pitchFamily="34" charset="0"/>
                </a:rPr>
                <a:t>Neo4j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BE347E0-E6D8-4C8D-9D5D-E01BD093C0D4}"/>
                </a:ext>
              </a:extLst>
            </p:cNvPr>
            <p:cNvSpPr/>
            <p:nvPr/>
          </p:nvSpPr>
          <p:spPr>
            <a:xfrm>
              <a:off x="3807981" y="3546579"/>
              <a:ext cx="3232256" cy="985443"/>
            </a:xfrm>
            <a:custGeom>
              <a:avLst/>
              <a:gdLst>
                <a:gd name="connsiteX0" fmla="*/ 0 w 3232256"/>
                <a:gd name="connsiteY0" fmla="*/ 0 h 985443"/>
                <a:gd name="connsiteX1" fmla="*/ 3232256 w 3232256"/>
                <a:gd name="connsiteY1" fmla="*/ 0 h 985443"/>
                <a:gd name="connsiteX2" fmla="*/ 3232256 w 3232256"/>
                <a:gd name="connsiteY2" fmla="*/ 985443 h 985443"/>
                <a:gd name="connsiteX3" fmla="*/ 0 w 3232256"/>
                <a:gd name="connsiteY3" fmla="*/ 985443 h 985443"/>
                <a:gd name="connsiteX4" fmla="*/ 0 w 3232256"/>
                <a:gd name="connsiteY4" fmla="*/ 0 h 98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2256" h="985443">
                  <a:moveTo>
                    <a:pt x="0" y="0"/>
                  </a:moveTo>
                  <a:lnTo>
                    <a:pt x="3232256" y="0"/>
                  </a:lnTo>
                  <a:lnTo>
                    <a:pt x="3232256" y="985443"/>
                  </a:lnTo>
                  <a:lnTo>
                    <a:pt x="0" y="9854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6035" tIns="26035" rIns="26035" bIns="26035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4100" kern="1200" dirty="0">
                  <a:latin typeface="Bahnschrift" panose="020B0502040204020203" pitchFamily="34" charset="0"/>
                </a:rPr>
                <a:t>Flock DB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22E2529-57DF-4786-9B6B-8336341F990D}"/>
                </a:ext>
              </a:extLst>
            </p:cNvPr>
            <p:cNvSpPr/>
            <p:nvPr/>
          </p:nvSpPr>
          <p:spPr>
            <a:xfrm>
              <a:off x="3807981" y="4778384"/>
              <a:ext cx="3232256" cy="985443"/>
            </a:xfrm>
            <a:custGeom>
              <a:avLst/>
              <a:gdLst>
                <a:gd name="connsiteX0" fmla="*/ 0 w 3232256"/>
                <a:gd name="connsiteY0" fmla="*/ 0 h 985443"/>
                <a:gd name="connsiteX1" fmla="*/ 3232256 w 3232256"/>
                <a:gd name="connsiteY1" fmla="*/ 0 h 985443"/>
                <a:gd name="connsiteX2" fmla="*/ 3232256 w 3232256"/>
                <a:gd name="connsiteY2" fmla="*/ 985443 h 985443"/>
                <a:gd name="connsiteX3" fmla="*/ 0 w 3232256"/>
                <a:gd name="connsiteY3" fmla="*/ 985443 h 985443"/>
                <a:gd name="connsiteX4" fmla="*/ 0 w 3232256"/>
                <a:gd name="connsiteY4" fmla="*/ 0 h 98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2256" h="985443">
                  <a:moveTo>
                    <a:pt x="0" y="0"/>
                  </a:moveTo>
                  <a:lnTo>
                    <a:pt x="3232256" y="0"/>
                  </a:lnTo>
                  <a:lnTo>
                    <a:pt x="3232256" y="985443"/>
                  </a:lnTo>
                  <a:lnTo>
                    <a:pt x="0" y="9854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6035" tIns="26035" rIns="26035" bIns="26035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4100" kern="1200" dirty="0">
                  <a:latin typeface="Bahnschrift" panose="020B0502040204020203" pitchFamily="34" charset="0"/>
                </a:rPr>
                <a:t>Infinite Graph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CE0AE7-C9FD-4444-8E8F-988AFC6F0AA2}"/>
              </a:ext>
            </a:extLst>
          </p:cNvPr>
          <p:cNvSpPr txBox="1"/>
          <p:nvPr/>
        </p:nvSpPr>
        <p:spPr>
          <a:xfrm>
            <a:off x="5614935" y="3500622"/>
            <a:ext cx="3190704" cy="830997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b="0" i="0" u="none" strike="noStrike" baseline="0" dirty="0">
                <a:solidFill>
                  <a:schemeClr val="bg1"/>
                </a:solidFill>
                <a:latin typeface="Bahnschrift" panose="020B0502040204020203" pitchFamily="34" charset="0"/>
              </a:rPr>
              <a:t>Offerings in NoSQL databases</a:t>
            </a: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344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2F89-B6B4-4286-A2FF-98F31158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 i="0" u="none" strike="noStrike" baseline="0" dirty="0"/>
              <a:t>1. Columnar Databases: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93F09-6BCC-4B57-BDB3-1F3865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CF3D11-5DF1-4385-A298-CD03018F4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5" y="2715942"/>
            <a:ext cx="8826930" cy="223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67617"/>
      </p:ext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2F89-B6B4-4286-A2FF-98F31158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marL="0">
              <a:buNone/>
            </a:pPr>
            <a:r>
              <a:rPr b="0" baseline="0" dirty="0" i="0" lang="en-IN" strike="noStrike" sz="2400" u="none"/>
              <a:t>1. Columnar Databases:</a:t>
            </a:r>
            <a:endParaRPr dirty="0" lang="en-IN"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93F09-6BCC-4B57-BDB3-1F3865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F1F8C-667D-46A3-8106-15E5257011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" r="72"/>
          <a:stretch/>
        </p:blipFill>
        <p:spPr>
          <a:xfrm>
            <a:off x="1395498" y="2397935"/>
            <a:ext cx="2923953" cy="28098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C56456F-B724-4995-88C2-AE83EBA36007}"/>
              </a:ext>
            </a:extLst>
          </p:cNvPr>
          <p:cNvSpPr/>
          <p:nvPr/>
        </p:nvSpPr>
        <p:spPr>
          <a:xfrm>
            <a:off x="1650679" y="5289081"/>
            <a:ext cx="2286000" cy="574158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>Content Management System</a:t>
            </a:r>
            <a:endParaRPr dirty="0"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98DF8-7604-408C-9192-B11FDCBFDE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1" r="-67"/>
          <a:stretch/>
        </p:blipFill>
        <p:spPr>
          <a:xfrm>
            <a:off x="4542737" y="2397935"/>
            <a:ext cx="3205765" cy="28098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FC8BEE-D1F9-40B3-A45A-4F63297D884A}"/>
              </a:ext>
            </a:extLst>
          </p:cNvPr>
          <p:cNvSpPr/>
          <p:nvPr/>
        </p:nvSpPr>
        <p:spPr>
          <a:xfrm>
            <a:off x="4865256" y="5289081"/>
            <a:ext cx="2286000" cy="574158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>Blogging Platform</a:t>
            </a:r>
            <a:endParaRPr dirty="0" lang="en-IN"/>
          </a:p>
        </p:txBody>
      </p:sp>
    </p:spTree>
    <p:extLst>
      <p:ext uri="{BB962C8B-B14F-4D97-AF65-F5344CB8AC3E}">
        <p14:creationId xmlns:p14="http://schemas.microsoft.com/office/powerpoint/2010/main" val="527373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2F89-B6B4-4286-A2FF-98F31158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 i="0" u="none" strike="noStrike" baseline="0" dirty="0"/>
              <a:t>1. Columnar Databases: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93F09-6BCC-4B57-BDB3-1F3865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06C1F3-7D3D-4FA0-BD36-3D69061838F5}"/>
              </a:ext>
            </a:extLst>
          </p:cNvPr>
          <p:cNvSpPr/>
          <p:nvPr/>
        </p:nvSpPr>
        <p:spPr>
          <a:xfrm>
            <a:off x="3147237" y="2583712"/>
            <a:ext cx="2286000" cy="574158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Maintaining counter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FE928D-A48C-4C6D-8369-EA142FC6F5ED}"/>
              </a:ext>
            </a:extLst>
          </p:cNvPr>
          <p:cNvSpPr/>
          <p:nvPr/>
        </p:nvSpPr>
        <p:spPr>
          <a:xfrm>
            <a:off x="3147237" y="3460452"/>
            <a:ext cx="2286000" cy="574158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Generic2-Regular"/>
              </a:rPr>
              <a:t>E</a:t>
            </a:r>
            <a:r>
              <a:rPr lang="en-IN" sz="1800" b="0" i="0" u="none" strike="noStrike" baseline="0" dirty="0">
                <a:latin typeface="Generic2-Regular"/>
              </a:rPr>
              <a:t>xpiring usage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CD08A7-B122-46A6-BF71-9331E2407C00}"/>
              </a:ext>
            </a:extLst>
          </p:cNvPr>
          <p:cNvSpPr/>
          <p:nvPr/>
        </p:nvSpPr>
        <p:spPr>
          <a:xfrm>
            <a:off x="3147237" y="4337192"/>
            <a:ext cx="2286000" cy="98972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eneric2-Regular"/>
              </a:rPr>
              <a:t>H</a:t>
            </a:r>
            <a:r>
              <a:rPr lang="en-US" sz="1800" b="0" i="0" u="none" strike="noStrike" baseline="0" dirty="0">
                <a:latin typeface="Generic2-Regular"/>
              </a:rPr>
              <a:t>eavy write volume such as log aggregation.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58210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2F89-B6B4-4286-A2FF-98F31158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 i="0" u="none" strike="noStrike" baseline="0" dirty="0"/>
              <a:t>1. Columnar Databases: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93F09-6BCC-4B57-BDB3-1F3865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10260-0A41-404D-BDAE-730AE15CD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5" y="2822722"/>
            <a:ext cx="2876992" cy="20914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4AFD25-E328-407F-84B6-5E49BBB78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041" y="2822722"/>
            <a:ext cx="4139658" cy="209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65124"/>
      </p:ext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2F89-B6B4-4286-A2FF-98F31158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marL="0">
              <a:buNone/>
            </a:pPr>
            <a:r>
              <a:rPr b="0" baseline="0" dirty="0" i="0" lang="en-IN" strike="noStrike" sz="2400" u="none"/>
              <a:t>2. Key-Value Pair Databases</a:t>
            </a:r>
            <a:endParaRPr dirty="0" lang="en-IN"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93F09-6BCC-4B57-BDB3-1F3865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E64001-D775-4C32-B56E-B96A09F4CA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" r="31"/>
          <a:stretch/>
        </p:blipFill>
        <p:spPr>
          <a:xfrm>
            <a:off x="700166" y="2243469"/>
            <a:ext cx="7514071" cy="438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85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2F89-B6B4-4286-A2FF-98F31158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 i="0" u="none" strike="noStrike" baseline="0" dirty="0"/>
              <a:t>2. Key-Value Pair Databases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93F09-6BCC-4B57-BDB3-1F3865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3815B-2B81-4BF9-BAC8-64F5BEE7E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2372355"/>
            <a:ext cx="54102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73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2F89-B6B4-4286-A2FF-98F31158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8" y="1325564"/>
            <a:ext cx="8607941" cy="5307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 i="0" u="none" strike="noStrike" baseline="0" dirty="0"/>
              <a:t>3. Document Database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93F09-6BCC-4B57-BDB3-1F3865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F4E94-4DF3-446F-84F7-395842791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98" y="1985146"/>
            <a:ext cx="7485321" cy="481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832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2F89-B6B4-4286-A2FF-98F31158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8" y="1325564"/>
            <a:ext cx="8607941" cy="5307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 i="0" u="none" strike="noStrike" baseline="0" dirty="0"/>
              <a:t>3. Document Database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93F09-6BCC-4B57-BDB3-1F3865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4083C-14E7-4959-AF07-33218A7DE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886" y="2221428"/>
            <a:ext cx="6126083" cy="269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50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20CAB4-EBB8-42F2-AB4E-D5F438BA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4. Graph Database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DE88E-9071-4BEF-B5C9-774012A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0" i="0" u="none" strike="noStrike" baseline="0" dirty="0">
                <a:latin typeface="Bahnschrift" panose="020B0502040204020203" pitchFamily="34" charset="0"/>
              </a:rPr>
              <a:t>TYPES OF NOSQL DATABASES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A7D22-F6AD-44B6-B663-61B4F3E01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1" y="2583712"/>
            <a:ext cx="2341096" cy="15629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42269A-92F8-4225-A3B7-C4D3D04CECDA}"/>
              </a:ext>
            </a:extLst>
          </p:cNvPr>
          <p:cNvSpPr/>
          <p:nvPr/>
        </p:nvSpPr>
        <p:spPr>
          <a:xfrm>
            <a:off x="988829" y="4369981"/>
            <a:ext cx="1265274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Social networks</a:t>
            </a:r>
          </a:p>
        </p:txBody>
      </p:sp>
    </p:spTree>
    <p:extLst>
      <p:ext uri="{BB962C8B-B14F-4D97-AF65-F5344CB8AC3E}">
        <p14:creationId xmlns:p14="http://schemas.microsoft.com/office/powerpoint/2010/main" val="28165324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20CAB4-EBB8-42F2-AB4E-D5F438BA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4. Graph Database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DE88E-9071-4BEF-B5C9-774012A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0" i="0" u="none" strike="noStrike" baseline="0" dirty="0">
                <a:latin typeface="Bahnschrift" panose="020B0502040204020203" pitchFamily="34" charset="0"/>
              </a:rPr>
              <a:t>TYPES OF NOSQL DATABASES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A7D22-F6AD-44B6-B663-61B4F3E01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1" y="2583712"/>
            <a:ext cx="2341096" cy="15629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42269A-92F8-4225-A3B7-C4D3D04CECDA}"/>
              </a:ext>
            </a:extLst>
          </p:cNvPr>
          <p:cNvSpPr/>
          <p:nvPr/>
        </p:nvSpPr>
        <p:spPr>
          <a:xfrm>
            <a:off x="988829" y="4369981"/>
            <a:ext cx="1265274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Social networks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601F4-77B6-49AC-AB57-87B0442A8229}"/>
              </a:ext>
            </a:extLst>
          </p:cNvPr>
          <p:cNvSpPr/>
          <p:nvPr/>
        </p:nvSpPr>
        <p:spPr>
          <a:xfrm>
            <a:off x="4299099" y="2583712"/>
            <a:ext cx="1265274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Spatial data</a:t>
            </a:r>
          </a:p>
        </p:txBody>
      </p:sp>
    </p:spTree>
    <p:extLst>
      <p:ext uri="{BB962C8B-B14F-4D97-AF65-F5344CB8AC3E}">
        <p14:creationId xmlns:p14="http://schemas.microsoft.com/office/powerpoint/2010/main" val="26222138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20CAB4-EBB8-42F2-AB4E-D5F438BA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4. Graph Database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DE88E-9071-4BEF-B5C9-774012A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0" i="0" u="none" strike="noStrike" baseline="0" dirty="0">
                <a:latin typeface="Bahnschrift" panose="020B0502040204020203" pitchFamily="34" charset="0"/>
              </a:rPr>
              <a:t>TYPES OF NOSQL DATABASES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A7D22-F6AD-44B6-B663-61B4F3E01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1" y="2583712"/>
            <a:ext cx="2341096" cy="15629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42269A-92F8-4225-A3B7-C4D3D04CECDA}"/>
              </a:ext>
            </a:extLst>
          </p:cNvPr>
          <p:cNvSpPr/>
          <p:nvPr/>
        </p:nvSpPr>
        <p:spPr>
          <a:xfrm>
            <a:off x="988829" y="4369981"/>
            <a:ext cx="1265274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Social networks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601F4-77B6-49AC-AB57-87B0442A8229}"/>
              </a:ext>
            </a:extLst>
          </p:cNvPr>
          <p:cNvSpPr/>
          <p:nvPr/>
        </p:nvSpPr>
        <p:spPr>
          <a:xfrm>
            <a:off x="4299099" y="2583712"/>
            <a:ext cx="1265274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Spatial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3C8BE7-3DB6-4068-8EFE-D0FB7D8133CD}"/>
              </a:ext>
            </a:extLst>
          </p:cNvPr>
          <p:cNvSpPr/>
          <p:nvPr/>
        </p:nvSpPr>
        <p:spPr>
          <a:xfrm>
            <a:off x="4299098" y="3429000"/>
            <a:ext cx="1378687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dirty="0">
                <a:latin typeface="Generic2-Regular"/>
              </a:rPr>
              <a:t>R</a:t>
            </a:r>
            <a:r>
              <a:rPr lang="en-IN" sz="1800" b="0" i="0" u="none" strike="noStrike" baseline="0" dirty="0">
                <a:latin typeface="Generic2-Regular"/>
              </a:rPr>
              <a:t>outing</a:t>
            </a:r>
          </a:p>
          <a:p>
            <a:pPr algn="l"/>
            <a:r>
              <a:rPr lang="en-IN" sz="1800" b="0" i="0" u="none" strike="noStrike" baseline="0" dirty="0">
                <a:latin typeface="Generic2-Regular"/>
              </a:rPr>
              <a:t>information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304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20CAB4-EBB8-42F2-AB4E-D5F438BA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4. Graph Database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DE88E-9071-4BEF-B5C9-774012A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0" i="0" u="none" strike="noStrike" baseline="0" dirty="0">
                <a:latin typeface="Bahnschrift" panose="020B0502040204020203" pitchFamily="34" charset="0"/>
              </a:rPr>
              <a:t>TYPES OF NOSQL DATABASES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A7D22-F6AD-44B6-B663-61B4F3E01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1" y="2583712"/>
            <a:ext cx="2341096" cy="15629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42269A-92F8-4225-A3B7-C4D3D04CECDA}"/>
              </a:ext>
            </a:extLst>
          </p:cNvPr>
          <p:cNvSpPr/>
          <p:nvPr/>
        </p:nvSpPr>
        <p:spPr>
          <a:xfrm>
            <a:off x="988829" y="4369981"/>
            <a:ext cx="1265274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Social networks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601F4-77B6-49AC-AB57-87B0442A8229}"/>
              </a:ext>
            </a:extLst>
          </p:cNvPr>
          <p:cNvSpPr/>
          <p:nvPr/>
        </p:nvSpPr>
        <p:spPr>
          <a:xfrm>
            <a:off x="4299099" y="2583712"/>
            <a:ext cx="1265274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Spatial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3C8BE7-3DB6-4068-8EFE-D0FB7D8133CD}"/>
              </a:ext>
            </a:extLst>
          </p:cNvPr>
          <p:cNvSpPr/>
          <p:nvPr/>
        </p:nvSpPr>
        <p:spPr>
          <a:xfrm>
            <a:off x="4299098" y="3429000"/>
            <a:ext cx="1378687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dirty="0">
                <a:latin typeface="Generic2-Regular"/>
              </a:rPr>
              <a:t>R</a:t>
            </a:r>
            <a:r>
              <a:rPr lang="en-IN" sz="1800" b="0" i="0" u="none" strike="noStrike" baseline="0" dirty="0">
                <a:latin typeface="Generic2-Regular"/>
              </a:rPr>
              <a:t>outing</a:t>
            </a:r>
          </a:p>
          <a:p>
            <a:pPr algn="l"/>
            <a:r>
              <a:rPr lang="en-IN" sz="1800" b="0" i="0" u="none" strike="noStrike" baseline="0" dirty="0">
                <a:latin typeface="Generic2-Regular"/>
              </a:rPr>
              <a:t>information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62D567-8F6D-4E89-9B9E-BD2796A9F702}"/>
              </a:ext>
            </a:extLst>
          </p:cNvPr>
          <p:cNvSpPr/>
          <p:nvPr/>
        </p:nvSpPr>
        <p:spPr>
          <a:xfrm>
            <a:off x="4299097" y="4283148"/>
            <a:ext cx="1920949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dirty="0">
                <a:latin typeface="Generic2-Regular"/>
              </a:rPr>
              <a:t>R</a:t>
            </a:r>
            <a:r>
              <a:rPr lang="en-IN" sz="1800" b="0" i="0" u="none" strike="noStrike" baseline="0" dirty="0">
                <a:latin typeface="Generic2-Regular"/>
              </a:rPr>
              <a:t>ecommendation engines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298526"/>
      </p:ext>
    </p:extLst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E93F09-6BCC-4B57-BDB3-1F3865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79311A-1412-484F-951A-DC89B9EE8F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42" r="96"/>
          <a:stretch/>
        </p:blipFill>
        <p:spPr>
          <a:xfrm>
            <a:off x="2296631" y="1765004"/>
            <a:ext cx="4786335" cy="462516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2F89-B6B4-4286-A2FF-98F31158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24000"/>
            <a:ext cx="8386537" cy="5109030"/>
          </a:xfrm>
        </p:spPr>
        <p:txBody>
          <a:bodyPr>
            <a:normAutofit/>
          </a:bodyPr>
          <a:lstStyle/>
          <a:p>
            <a:pPr indent="0" marL="0">
              <a:buNone/>
            </a:pPr>
            <a:r>
              <a:rPr b="0" baseline="0" dirty="0" i="0" lang="en-IN" strike="noStrike" sz="2400" u="none"/>
              <a:t>4. Graph Databases</a:t>
            </a:r>
            <a:endParaRPr dirty="0" lang="en-IN" sz="2400"/>
          </a:p>
        </p:txBody>
      </p:sp>
    </p:spTree>
    <p:extLst>
      <p:ext uri="{BB962C8B-B14F-4D97-AF65-F5344CB8AC3E}">
        <p14:creationId xmlns:p14="http://schemas.microsoft.com/office/powerpoint/2010/main" val="41409529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F074D-1B39-4F11-A92D-AC50B91C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32AA11-1F98-47A5-BF6B-4DF318939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637" y="1974441"/>
            <a:ext cx="7829986" cy="44295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E0EEAA-8D96-41EA-ADB3-E80E1ADC1FF6}"/>
              </a:ext>
            </a:extLst>
          </p:cNvPr>
          <p:cNvSpPr txBox="1"/>
          <p:nvPr/>
        </p:nvSpPr>
        <p:spPr>
          <a:xfrm>
            <a:off x="3040911" y="6396335"/>
            <a:ext cx="3434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latin typeface="Bahnschrift" panose="020B0502040204020203" pitchFamily="34" charset="0"/>
              </a:rPr>
              <a:t>G</a:t>
            </a:r>
            <a:r>
              <a:rPr lang="en-IN" sz="2400" b="0" i="0" u="none" strike="noStrike" baseline="0" dirty="0">
                <a:latin typeface="Bahnschrift" panose="020B0502040204020203" pitchFamily="34" charset="0"/>
              </a:rPr>
              <a:t>eographic map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42B3C-A4E4-4463-8E32-61DCB059448C}"/>
              </a:ext>
            </a:extLst>
          </p:cNvPr>
          <p:cNvSpPr txBox="1"/>
          <p:nvPr/>
        </p:nvSpPr>
        <p:spPr>
          <a:xfrm>
            <a:off x="238681" y="141916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0" i="0" u="none" strike="noStrike" baseline="0" dirty="0">
                <a:latin typeface="Bahnschrift" panose="020B0502040204020203" pitchFamily="34" charset="0"/>
              </a:rPr>
              <a:t>4. Graph Databases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52316"/>
      </p:ext>
    </p:extLst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F074D-1B39-4F11-A92D-AC50B91C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42B3C-A4E4-4463-8E32-61DCB059448C}"/>
              </a:ext>
            </a:extLst>
          </p:cNvPr>
          <p:cNvSpPr txBox="1"/>
          <p:nvPr/>
        </p:nvSpPr>
        <p:spPr>
          <a:xfrm>
            <a:off x="338362" y="145834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>
              <a:buNone/>
            </a:pPr>
            <a:r>
              <a:rPr b="0" baseline="0" dirty="0" i="0" lang="en-IN" strike="noStrike" sz="2400" u="none">
                <a:latin charset="0" panose="020B0502040204020203" pitchFamily="34" typeface="Bahnschrift"/>
              </a:rPr>
              <a:t>4. Graph Databases</a:t>
            </a:r>
            <a:endParaRPr dirty="0" lang="en-IN" sz="2400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44A4A-4E22-4DE3-ABCA-F642139EF3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" r="-31"/>
          <a:stretch/>
        </p:blipFill>
        <p:spPr>
          <a:xfrm>
            <a:off x="2913903" y="2333827"/>
            <a:ext cx="3235454" cy="109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58656"/>
      </p:ext>
    </p:extLst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F074D-1B39-4F11-A92D-AC50B91C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42B3C-A4E4-4463-8E32-61DCB059448C}"/>
              </a:ext>
            </a:extLst>
          </p:cNvPr>
          <p:cNvSpPr txBox="1"/>
          <p:nvPr/>
        </p:nvSpPr>
        <p:spPr>
          <a:xfrm>
            <a:off x="198863" y="139245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>
              <a:buNone/>
            </a:pPr>
            <a:r>
              <a:rPr b="0" baseline="0" dirty="0" i="0" lang="en-IN" strike="noStrike" sz="2400" u="none">
                <a:latin charset="0" panose="020B0502040204020203" pitchFamily="34" typeface="Bahnschrift"/>
              </a:rPr>
              <a:t>4. Graph Databases</a:t>
            </a:r>
            <a:endParaRPr dirty="0" lang="en-IN" sz="2400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44A4A-4E22-4DE3-ABCA-F642139EF3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" r="-31"/>
          <a:stretch/>
        </p:blipFill>
        <p:spPr>
          <a:xfrm>
            <a:off x="2484863" y="1920009"/>
            <a:ext cx="3235454" cy="1095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206585-E4C4-4793-AC8A-4596D47F7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99" y="3210377"/>
            <a:ext cx="2815156" cy="158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62048"/>
      </p:ext>
    </p:extLst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F074D-1B39-4F11-A92D-AC50B91C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42B3C-A4E4-4463-8E32-61DCB059448C}"/>
              </a:ext>
            </a:extLst>
          </p:cNvPr>
          <p:cNvSpPr txBox="1"/>
          <p:nvPr/>
        </p:nvSpPr>
        <p:spPr>
          <a:xfrm>
            <a:off x="338362" y="143165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>
              <a:buNone/>
            </a:pPr>
            <a:r>
              <a:rPr b="0" baseline="0" dirty="0" i="0" lang="en-IN" strike="noStrike" sz="2400" u="none">
                <a:latin charset="0" panose="020B0502040204020203" pitchFamily="34" typeface="Bahnschrift"/>
              </a:rPr>
              <a:t>4. Graph Databases</a:t>
            </a:r>
            <a:endParaRPr dirty="0" lang="en-IN" sz="2400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44A4A-4E22-4DE3-ABCA-F642139EF3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" r="-31"/>
          <a:stretch/>
        </p:blipFill>
        <p:spPr>
          <a:xfrm>
            <a:off x="2484863" y="1920009"/>
            <a:ext cx="3235454" cy="1095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206585-E4C4-4793-AC8A-4596D47F7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99" y="3210377"/>
            <a:ext cx="2815156" cy="1583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B16D28-412C-4870-A75C-9865EE84F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189" y="4899996"/>
            <a:ext cx="2703576" cy="180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51256"/>
      </p:ext>
    </p:extLst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F074D-1B39-4F11-A92D-AC50B91C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TYPES OF NOSQL DATABASES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42B3C-A4E4-4463-8E32-61DCB059448C}"/>
              </a:ext>
            </a:extLst>
          </p:cNvPr>
          <p:cNvSpPr txBox="1"/>
          <p:nvPr/>
        </p:nvSpPr>
        <p:spPr>
          <a:xfrm>
            <a:off x="338362" y="14189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>
              <a:buNone/>
            </a:pPr>
            <a:r>
              <a:rPr b="0" baseline="0" dirty="0" i="0" lang="en-IN" strike="noStrike" sz="2400" u="none">
                <a:latin charset="0" panose="020B0502040204020203" pitchFamily="34" typeface="Bahnschrift"/>
              </a:rPr>
              <a:t>4. Graph Databases</a:t>
            </a:r>
            <a:endParaRPr dirty="0" lang="en-IN" sz="2400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44A4A-4E22-4DE3-ABCA-F642139EF3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" r="-31"/>
          <a:stretch/>
        </p:blipFill>
        <p:spPr>
          <a:xfrm>
            <a:off x="422147" y="2017618"/>
            <a:ext cx="3235454" cy="1095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206585-E4C4-4793-AC8A-4596D47F7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331" y="1973953"/>
            <a:ext cx="2815156" cy="1583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B16D28-412C-4870-A75C-9865EE84F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77" y="4150677"/>
            <a:ext cx="2703576" cy="1802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468A64-33EC-41A6-BC8B-958A6E5575A7}"/>
              </a:ext>
            </a:extLst>
          </p:cNvPr>
          <p:cNvSpPr txBox="1"/>
          <p:nvPr/>
        </p:nvSpPr>
        <p:spPr>
          <a:xfrm>
            <a:off x="4829840" y="4552139"/>
            <a:ext cx="2985090" cy="1107996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r>
              <a:rPr b="0" baseline="0" dirty="0" i="0" lang="en-IN" strike="noStrike" sz="6600" u="none">
                <a:solidFill>
                  <a:schemeClr val="bg1"/>
                </a:solidFill>
                <a:latin charset="0" panose="020B0502040204020203" pitchFamily="34" typeface="Bahnschrift"/>
              </a:rPr>
              <a:t>Neo4j</a:t>
            </a:r>
            <a:endParaRPr dirty="0" lang="en-IN" sz="66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4672289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1155</TotalTime>
  <Words>1113</Words>
  <Application>Microsoft Office PowerPoint</Application>
  <PresentationFormat>On-screen Show (4:3)</PresentationFormat>
  <Paragraphs>248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Bahnschrift</vt:lpstr>
      <vt:lpstr>Bahnschrift SemiBold</vt:lpstr>
      <vt:lpstr>Calibri</vt:lpstr>
      <vt:lpstr>Calibri Light</vt:lpstr>
      <vt:lpstr>Generic2-Regular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What is Relational Database</vt:lpstr>
      <vt:lpstr>What is Relational Database</vt:lpstr>
      <vt:lpstr>What is Relational Database</vt:lpstr>
      <vt:lpstr>Why NOSQL database emerge?</vt:lpstr>
      <vt:lpstr>Why NOSQL database emerge?</vt:lpstr>
      <vt:lpstr>Why NOSQL database emerge?</vt:lpstr>
      <vt:lpstr>Why NOSQL database emerge?</vt:lpstr>
      <vt:lpstr>Why NOSQL database emerge?</vt:lpstr>
      <vt:lpstr>NOSQL Database</vt:lpstr>
      <vt:lpstr>NOSQL Database</vt:lpstr>
      <vt:lpstr>NOSQL Database</vt:lpstr>
      <vt:lpstr>RDBMS vs NOSQL</vt:lpstr>
      <vt:lpstr>RDBMS vs NOSQL</vt:lpstr>
      <vt:lpstr>RDBMS vs NOSQL</vt:lpstr>
      <vt:lpstr>RDBMS vs NOSQL</vt:lpstr>
      <vt:lpstr>RDBMS vs NOSQL</vt:lpstr>
      <vt:lpstr> Comparative features of RDBMS and NoSQL. </vt:lpstr>
      <vt:lpstr> Comparative features of RDBMS and NoSQL. </vt:lpstr>
      <vt:lpstr> Comparative features of RDBMS and NoSQL. </vt:lpstr>
      <vt:lpstr> Comparative features of RDBMS and NoSQL. 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TYPES OF NOSQL DATABASES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Arpit Thakur</cp:lastModifiedBy>
  <cp:revision>98</cp:revision>
  <dcterms:created xsi:type="dcterms:W3CDTF">2021-05-13T17:45:44Z</dcterms:created>
  <dcterms:modified xsi:type="dcterms:W3CDTF">2021-06-30T07:34:41Z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873885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