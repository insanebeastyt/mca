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40"/>
  </p:handoutMasterIdLst>
  <p:sldIdLst>
    <p:sldId id="266" r:id="rId2"/>
    <p:sldId id="261" r:id="rId3"/>
    <p:sldId id="326" r:id="rId4"/>
    <p:sldId id="269" r:id="rId5"/>
    <p:sldId id="333" r:id="rId6"/>
    <p:sldId id="334" r:id="rId7"/>
    <p:sldId id="335" r:id="rId8"/>
    <p:sldId id="336" r:id="rId9"/>
    <p:sldId id="273" r:id="rId10"/>
    <p:sldId id="272" r:id="rId11"/>
    <p:sldId id="276" r:id="rId12"/>
    <p:sldId id="277" r:id="rId13"/>
    <p:sldId id="280" r:id="rId14"/>
    <p:sldId id="281" r:id="rId15"/>
    <p:sldId id="282" r:id="rId16"/>
    <p:sldId id="283" r:id="rId17"/>
    <p:sldId id="285" r:id="rId18"/>
    <p:sldId id="287" r:id="rId19"/>
    <p:sldId id="288" r:id="rId20"/>
    <p:sldId id="290" r:id="rId21"/>
    <p:sldId id="291" r:id="rId22"/>
    <p:sldId id="292" r:id="rId23"/>
    <p:sldId id="294" r:id="rId24"/>
    <p:sldId id="299" r:id="rId25"/>
    <p:sldId id="301" r:id="rId26"/>
    <p:sldId id="309" r:id="rId27"/>
    <p:sldId id="304" r:id="rId28"/>
    <p:sldId id="337" r:id="rId29"/>
    <p:sldId id="306" r:id="rId30"/>
    <p:sldId id="307" r:id="rId31"/>
    <p:sldId id="311" r:id="rId32"/>
    <p:sldId id="313" r:id="rId33"/>
    <p:sldId id="314" r:id="rId34"/>
    <p:sldId id="317" r:id="rId35"/>
    <p:sldId id="318" r:id="rId36"/>
    <p:sldId id="319" r:id="rId37"/>
    <p:sldId id="332" r:id="rId38"/>
    <p:sldId id="26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44"/>
    <a:srgbClr val="44525A"/>
    <a:srgbClr val="618495"/>
    <a:srgbClr val="44525B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2905" autoAdjust="0"/>
  </p:normalViewPr>
  <p:slideViewPr>
    <p:cSldViewPr snapToGrid="0">
      <p:cViewPr>
        <p:scale>
          <a:sx n="66" d="100"/>
          <a:sy n="66" d="100"/>
        </p:scale>
        <p:origin x="1747" y="3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13FF28-CDF2-44BB-B38B-F55FB22DCE29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54DD65B2-B097-4CE1-AD32-E759FA3364FF}">
      <dgm:prSet custT="1"/>
      <dgm:spPr/>
      <dgm:t>
        <a:bodyPr/>
        <a:lstStyle/>
        <a:p>
          <a:r>
            <a:rPr lang="en-US" sz="2800" b="0" i="0" dirty="0">
              <a:effectLst/>
              <a:latin typeface="Bahnschrift "/>
            </a:rPr>
            <a:t>The key appearing more number of times will be sent to one partition.</a:t>
          </a:r>
        </a:p>
      </dgm:t>
    </dgm:pt>
    <dgm:pt modelId="{994253A6-D7F9-43EC-B02F-706BE7BBCD49}" type="parTrans" cxnId="{55544720-A58B-4037-9487-652EE3920682}">
      <dgm:prSet/>
      <dgm:spPr/>
      <dgm:t>
        <a:bodyPr/>
        <a:lstStyle/>
        <a:p>
          <a:endParaRPr lang="en-IN"/>
        </a:p>
      </dgm:t>
    </dgm:pt>
    <dgm:pt modelId="{FB18DA7B-FF18-4C32-B68E-E5581259B334}" type="sibTrans" cxnId="{55544720-A58B-4037-9487-652EE3920682}">
      <dgm:prSet/>
      <dgm:spPr/>
      <dgm:t>
        <a:bodyPr/>
        <a:lstStyle/>
        <a:p>
          <a:endParaRPr lang="en-IN"/>
        </a:p>
      </dgm:t>
    </dgm:pt>
    <dgm:pt modelId="{C0EB6B84-4E4F-4347-AD37-4A9A495B4A66}" type="pres">
      <dgm:prSet presAssocID="{4813FF28-CDF2-44BB-B38B-F55FB22DCE29}" presName="diagram" presStyleCnt="0">
        <dgm:presLayoutVars>
          <dgm:dir/>
          <dgm:resizeHandles val="exact"/>
        </dgm:presLayoutVars>
      </dgm:prSet>
      <dgm:spPr/>
    </dgm:pt>
    <dgm:pt modelId="{9FBB7D5E-506E-4268-BD9D-89383F3A27E9}" type="pres">
      <dgm:prSet presAssocID="{54DD65B2-B097-4CE1-AD32-E759FA3364FF}" presName="node" presStyleLbl="node1" presStyleIdx="0" presStyleCnt="1">
        <dgm:presLayoutVars>
          <dgm:bulletEnabled val="1"/>
        </dgm:presLayoutVars>
      </dgm:prSet>
      <dgm:spPr/>
    </dgm:pt>
  </dgm:ptLst>
  <dgm:cxnLst>
    <dgm:cxn modelId="{55544720-A58B-4037-9487-652EE3920682}" srcId="{4813FF28-CDF2-44BB-B38B-F55FB22DCE29}" destId="{54DD65B2-B097-4CE1-AD32-E759FA3364FF}" srcOrd="0" destOrd="0" parTransId="{994253A6-D7F9-43EC-B02F-706BE7BBCD49}" sibTransId="{FB18DA7B-FF18-4C32-B68E-E5581259B334}"/>
    <dgm:cxn modelId="{73E57135-31DE-4868-8C1D-C5084A56DAB2}" type="presOf" srcId="{4813FF28-CDF2-44BB-B38B-F55FB22DCE29}" destId="{C0EB6B84-4E4F-4347-AD37-4A9A495B4A66}" srcOrd="0" destOrd="0" presId="urn:microsoft.com/office/officeart/2005/8/layout/default"/>
    <dgm:cxn modelId="{4FCAA589-B901-47E9-A5E7-D1101937DD82}" type="presOf" srcId="{54DD65B2-B097-4CE1-AD32-E759FA3364FF}" destId="{9FBB7D5E-506E-4268-BD9D-89383F3A27E9}" srcOrd="0" destOrd="0" presId="urn:microsoft.com/office/officeart/2005/8/layout/default"/>
    <dgm:cxn modelId="{550CC921-6518-4BC2-A42C-5E8C15F95DF3}" type="presParOf" srcId="{C0EB6B84-4E4F-4347-AD37-4A9A495B4A66}" destId="{9FBB7D5E-506E-4268-BD9D-89383F3A27E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13FF28-CDF2-44BB-B38B-F55FB22DCE29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54DD65B2-B097-4CE1-AD32-E759FA3364FF}">
      <dgm:prSet/>
      <dgm:spPr/>
      <dgm:t>
        <a:bodyPr/>
        <a:lstStyle/>
        <a:p>
          <a:r>
            <a:rPr lang="en-US" b="0" i="0" dirty="0">
              <a:effectLst/>
              <a:latin typeface="Bahnschrift "/>
            </a:rPr>
            <a:t>The key appearing more number of times will be sent to one partition.</a:t>
          </a:r>
        </a:p>
      </dgm:t>
    </dgm:pt>
    <dgm:pt modelId="{994253A6-D7F9-43EC-B02F-706BE7BBCD49}" type="parTrans" cxnId="{55544720-A58B-4037-9487-652EE3920682}">
      <dgm:prSet/>
      <dgm:spPr/>
      <dgm:t>
        <a:bodyPr/>
        <a:lstStyle/>
        <a:p>
          <a:endParaRPr lang="en-IN"/>
        </a:p>
      </dgm:t>
    </dgm:pt>
    <dgm:pt modelId="{FB18DA7B-FF18-4C32-B68E-E5581259B334}" type="sibTrans" cxnId="{55544720-A58B-4037-9487-652EE3920682}">
      <dgm:prSet/>
      <dgm:spPr/>
      <dgm:t>
        <a:bodyPr/>
        <a:lstStyle/>
        <a:p>
          <a:endParaRPr lang="en-IN"/>
        </a:p>
      </dgm:t>
    </dgm:pt>
    <dgm:pt modelId="{6E45344F-3EA2-4832-BF74-9717984DA242}">
      <dgm:prSet/>
      <dgm:spPr/>
      <dgm:t>
        <a:bodyPr/>
        <a:lstStyle/>
        <a:p>
          <a:r>
            <a:rPr lang="en-US" b="0" i="0" dirty="0">
              <a:effectLst/>
              <a:latin typeface="Bahnschrift "/>
            </a:rPr>
            <a:t>All the other key will be sent to partitions on the basis of their</a:t>
          </a:r>
          <a:r>
            <a:rPr lang="en-US" b="1" i="0" dirty="0">
              <a:effectLst/>
              <a:latin typeface="Bahnschrift "/>
            </a:rPr>
            <a:t> </a:t>
          </a:r>
          <a:r>
            <a:rPr lang="en-US" b="1" i="0" dirty="0" err="1">
              <a:effectLst/>
              <a:latin typeface="Bahnschrift "/>
            </a:rPr>
            <a:t>hashCode</a:t>
          </a:r>
          <a:r>
            <a:rPr lang="en-US" b="1" i="0" dirty="0">
              <a:effectLst/>
              <a:latin typeface="Bahnschrift "/>
            </a:rPr>
            <a:t>()</a:t>
          </a:r>
          <a:r>
            <a:rPr lang="en-US" b="0" i="0" dirty="0">
              <a:effectLst/>
              <a:latin typeface="Bahnschrift "/>
            </a:rPr>
            <a:t>.</a:t>
          </a:r>
        </a:p>
      </dgm:t>
    </dgm:pt>
    <dgm:pt modelId="{F2BEDBEE-090E-43BC-9279-B581B14AB366}" type="parTrans" cxnId="{639ADE7F-64B4-4828-95ED-D5BF08C00137}">
      <dgm:prSet/>
      <dgm:spPr/>
      <dgm:t>
        <a:bodyPr/>
        <a:lstStyle/>
        <a:p>
          <a:endParaRPr lang="en-IN"/>
        </a:p>
      </dgm:t>
    </dgm:pt>
    <dgm:pt modelId="{2D6AB3CF-17E5-479E-B417-EADE9E131BE9}" type="sibTrans" cxnId="{639ADE7F-64B4-4828-95ED-D5BF08C00137}">
      <dgm:prSet/>
      <dgm:spPr/>
      <dgm:t>
        <a:bodyPr/>
        <a:lstStyle/>
        <a:p>
          <a:endParaRPr lang="en-IN"/>
        </a:p>
      </dgm:t>
    </dgm:pt>
    <dgm:pt modelId="{C0EB6B84-4E4F-4347-AD37-4A9A495B4A66}" type="pres">
      <dgm:prSet presAssocID="{4813FF28-CDF2-44BB-B38B-F55FB22DCE29}" presName="diagram" presStyleCnt="0">
        <dgm:presLayoutVars>
          <dgm:dir/>
          <dgm:resizeHandles val="exact"/>
        </dgm:presLayoutVars>
      </dgm:prSet>
      <dgm:spPr/>
    </dgm:pt>
    <dgm:pt modelId="{9FBB7D5E-506E-4268-BD9D-89383F3A27E9}" type="pres">
      <dgm:prSet presAssocID="{54DD65B2-B097-4CE1-AD32-E759FA3364FF}" presName="node" presStyleLbl="node1" presStyleIdx="0" presStyleCnt="2">
        <dgm:presLayoutVars>
          <dgm:bulletEnabled val="1"/>
        </dgm:presLayoutVars>
      </dgm:prSet>
      <dgm:spPr/>
    </dgm:pt>
    <dgm:pt modelId="{08E8689C-2947-4D40-ACE1-2D890C3BA296}" type="pres">
      <dgm:prSet presAssocID="{FB18DA7B-FF18-4C32-B68E-E5581259B334}" presName="sibTrans" presStyleCnt="0"/>
      <dgm:spPr/>
    </dgm:pt>
    <dgm:pt modelId="{01D6A445-6E53-4CD2-9E0E-276BE65FF686}" type="pres">
      <dgm:prSet presAssocID="{6E45344F-3EA2-4832-BF74-9717984DA242}" presName="node" presStyleLbl="node1" presStyleIdx="1" presStyleCnt="2">
        <dgm:presLayoutVars>
          <dgm:bulletEnabled val="1"/>
        </dgm:presLayoutVars>
      </dgm:prSet>
      <dgm:spPr/>
    </dgm:pt>
  </dgm:ptLst>
  <dgm:cxnLst>
    <dgm:cxn modelId="{55544720-A58B-4037-9487-652EE3920682}" srcId="{4813FF28-CDF2-44BB-B38B-F55FB22DCE29}" destId="{54DD65B2-B097-4CE1-AD32-E759FA3364FF}" srcOrd="0" destOrd="0" parTransId="{994253A6-D7F9-43EC-B02F-706BE7BBCD49}" sibTransId="{FB18DA7B-FF18-4C32-B68E-E5581259B334}"/>
    <dgm:cxn modelId="{73E57135-31DE-4868-8C1D-C5084A56DAB2}" type="presOf" srcId="{4813FF28-CDF2-44BB-B38B-F55FB22DCE29}" destId="{C0EB6B84-4E4F-4347-AD37-4A9A495B4A66}" srcOrd="0" destOrd="0" presId="urn:microsoft.com/office/officeart/2005/8/layout/default"/>
    <dgm:cxn modelId="{EB99487C-92F5-40ED-8EBF-4372CBC85DE4}" type="presOf" srcId="{6E45344F-3EA2-4832-BF74-9717984DA242}" destId="{01D6A445-6E53-4CD2-9E0E-276BE65FF686}" srcOrd="0" destOrd="0" presId="urn:microsoft.com/office/officeart/2005/8/layout/default"/>
    <dgm:cxn modelId="{639ADE7F-64B4-4828-95ED-D5BF08C00137}" srcId="{4813FF28-CDF2-44BB-B38B-F55FB22DCE29}" destId="{6E45344F-3EA2-4832-BF74-9717984DA242}" srcOrd="1" destOrd="0" parTransId="{F2BEDBEE-090E-43BC-9279-B581B14AB366}" sibTransId="{2D6AB3CF-17E5-479E-B417-EADE9E131BE9}"/>
    <dgm:cxn modelId="{4FCAA589-B901-47E9-A5E7-D1101937DD82}" type="presOf" srcId="{54DD65B2-B097-4CE1-AD32-E759FA3364FF}" destId="{9FBB7D5E-506E-4268-BD9D-89383F3A27E9}" srcOrd="0" destOrd="0" presId="urn:microsoft.com/office/officeart/2005/8/layout/default"/>
    <dgm:cxn modelId="{550CC921-6518-4BC2-A42C-5E8C15F95DF3}" type="presParOf" srcId="{C0EB6B84-4E4F-4347-AD37-4A9A495B4A66}" destId="{9FBB7D5E-506E-4268-BD9D-89383F3A27E9}" srcOrd="0" destOrd="0" presId="urn:microsoft.com/office/officeart/2005/8/layout/default"/>
    <dgm:cxn modelId="{444290AE-BAB9-4097-8032-5165D4F8ABC0}" type="presParOf" srcId="{C0EB6B84-4E4F-4347-AD37-4A9A495B4A66}" destId="{08E8689C-2947-4D40-ACE1-2D890C3BA296}" srcOrd="1" destOrd="0" presId="urn:microsoft.com/office/officeart/2005/8/layout/default"/>
    <dgm:cxn modelId="{BB709300-BEAA-4E43-8C23-EF4A481D9F43}" type="presParOf" srcId="{C0EB6B84-4E4F-4347-AD37-4A9A495B4A66}" destId="{01D6A445-6E53-4CD2-9E0E-276BE65FF68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13FF28-CDF2-44BB-B38B-F55FB22DCE29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54DD65B2-B097-4CE1-AD32-E759FA3364FF}">
      <dgm:prSet custT="1"/>
      <dgm:spPr/>
      <dgm:t>
        <a:bodyPr/>
        <a:lstStyle/>
        <a:p>
          <a:r>
            <a:rPr lang="en-US" sz="3600" b="0" i="0" dirty="0">
              <a:solidFill>
                <a:schemeClr val="bg1"/>
              </a:solidFill>
              <a:effectLst/>
              <a:latin typeface="Bahnschrift "/>
            </a:rPr>
            <a:t>Data will not be sent to the reducers.</a:t>
          </a:r>
        </a:p>
      </dgm:t>
    </dgm:pt>
    <dgm:pt modelId="{994253A6-D7F9-43EC-B02F-706BE7BBCD49}" type="parTrans" cxnId="{55544720-A58B-4037-9487-652EE3920682}">
      <dgm:prSet/>
      <dgm:spPr/>
      <dgm:t>
        <a:bodyPr/>
        <a:lstStyle/>
        <a:p>
          <a:endParaRPr lang="en-IN"/>
        </a:p>
      </dgm:t>
    </dgm:pt>
    <dgm:pt modelId="{FB18DA7B-FF18-4C32-B68E-E5581259B334}" type="sibTrans" cxnId="{55544720-A58B-4037-9487-652EE3920682}">
      <dgm:prSet/>
      <dgm:spPr/>
      <dgm:t>
        <a:bodyPr/>
        <a:lstStyle/>
        <a:p>
          <a:endParaRPr lang="en-IN"/>
        </a:p>
      </dgm:t>
    </dgm:pt>
    <dgm:pt modelId="{C0EB6B84-4E4F-4347-AD37-4A9A495B4A66}" type="pres">
      <dgm:prSet presAssocID="{4813FF28-CDF2-44BB-B38B-F55FB22DCE29}" presName="diagram" presStyleCnt="0">
        <dgm:presLayoutVars>
          <dgm:dir/>
          <dgm:resizeHandles val="exact"/>
        </dgm:presLayoutVars>
      </dgm:prSet>
      <dgm:spPr/>
    </dgm:pt>
    <dgm:pt modelId="{9FBB7D5E-506E-4268-BD9D-89383F3A27E9}" type="pres">
      <dgm:prSet presAssocID="{54DD65B2-B097-4CE1-AD32-E759FA3364FF}" presName="node" presStyleLbl="node1" presStyleIdx="0" presStyleCnt="1">
        <dgm:presLayoutVars>
          <dgm:bulletEnabled val="1"/>
        </dgm:presLayoutVars>
      </dgm:prSet>
      <dgm:spPr/>
    </dgm:pt>
  </dgm:ptLst>
  <dgm:cxnLst>
    <dgm:cxn modelId="{55544720-A58B-4037-9487-652EE3920682}" srcId="{4813FF28-CDF2-44BB-B38B-F55FB22DCE29}" destId="{54DD65B2-B097-4CE1-AD32-E759FA3364FF}" srcOrd="0" destOrd="0" parTransId="{994253A6-D7F9-43EC-B02F-706BE7BBCD49}" sibTransId="{FB18DA7B-FF18-4C32-B68E-E5581259B334}"/>
    <dgm:cxn modelId="{73E57135-31DE-4868-8C1D-C5084A56DAB2}" type="presOf" srcId="{4813FF28-CDF2-44BB-B38B-F55FB22DCE29}" destId="{C0EB6B84-4E4F-4347-AD37-4A9A495B4A66}" srcOrd="0" destOrd="0" presId="urn:microsoft.com/office/officeart/2005/8/layout/default"/>
    <dgm:cxn modelId="{4FCAA589-B901-47E9-A5E7-D1101937DD82}" type="presOf" srcId="{54DD65B2-B097-4CE1-AD32-E759FA3364FF}" destId="{9FBB7D5E-506E-4268-BD9D-89383F3A27E9}" srcOrd="0" destOrd="0" presId="urn:microsoft.com/office/officeart/2005/8/layout/default"/>
    <dgm:cxn modelId="{550CC921-6518-4BC2-A42C-5E8C15F95DF3}" type="presParOf" srcId="{C0EB6B84-4E4F-4347-AD37-4A9A495B4A66}" destId="{9FBB7D5E-506E-4268-BD9D-89383F3A27E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B7D5E-506E-4268-BD9D-89383F3A27E9}">
      <dsp:nvSpPr>
        <dsp:cNvPr id="0" name=""/>
        <dsp:cNvSpPr/>
      </dsp:nvSpPr>
      <dsp:spPr>
        <a:xfrm>
          <a:off x="579727" y="219"/>
          <a:ext cx="3706457" cy="222387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effectLst/>
              <a:latin typeface="Bahnschrift "/>
            </a:rPr>
            <a:t>The key appearing more number of times will be sent to one partition.</a:t>
          </a:r>
        </a:p>
      </dsp:txBody>
      <dsp:txXfrm>
        <a:off x="579727" y="219"/>
        <a:ext cx="3706457" cy="2223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B7D5E-506E-4268-BD9D-89383F3A27E9}">
      <dsp:nvSpPr>
        <dsp:cNvPr id="0" name=""/>
        <dsp:cNvSpPr/>
      </dsp:nvSpPr>
      <dsp:spPr>
        <a:xfrm>
          <a:off x="687" y="830880"/>
          <a:ext cx="2679304" cy="160758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effectLst/>
              <a:latin typeface="Bahnschrift "/>
            </a:rPr>
            <a:t>The key appearing more number of times will be sent to one partition.</a:t>
          </a:r>
        </a:p>
      </dsp:txBody>
      <dsp:txXfrm>
        <a:off x="687" y="830880"/>
        <a:ext cx="2679304" cy="1607582"/>
      </dsp:txXfrm>
    </dsp:sp>
    <dsp:sp modelId="{01D6A445-6E53-4CD2-9E0E-276BE65FF686}">
      <dsp:nvSpPr>
        <dsp:cNvPr id="0" name=""/>
        <dsp:cNvSpPr/>
      </dsp:nvSpPr>
      <dsp:spPr>
        <a:xfrm>
          <a:off x="2947922" y="830880"/>
          <a:ext cx="2679304" cy="160758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effectLst/>
              <a:latin typeface="Bahnschrift "/>
            </a:rPr>
            <a:t>All the other key will be sent to partitions on the basis of their</a:t>
          </a:r>
          <a:r>
            <a:rPr lang="en-US" sz="2100" b="1" i="0" kern="1200" dirty="0">
              <a:effectLst/>
              <a:latin typeface="Bahnschrift "/>
            </a:rPr>
            <a:t> </a:t>
          </a:r>
          <a:r>
            <a:rPr lang="en-US" sz="2100" b="1" i="0" kern="1200" dirty="0" err="1">
              <a:effectLst/>
              <a:latin typeface="Bahnschrift "/>
            </a:rPr>
            <a:t>hashCode</a:t>
          </a:r>
          <a:r>
            <a:rPr lang="en-US" sz="2100" b="1" i="0" kern="1200" dirty="0">
              <a:effectLst/>
              <a:latin typeface="Bahnschrift "/>
            </a:rPr>
            <a:t>()</a:t>
          </a:r>
          <a:r>
            <a:rPr lang="en-US" sz="2100" b="0" i="0" kern="1200" dirty="0">
              <a:effectLst/>
              <a:latin typeface="Bahnschrift "/>
            </a:rPr>
            <a:t>.</a:t>
          </a:r>
        </a:p>
      </dsp:txBody>
      <dsp:txXfrm>
        <a:off x="2947922" y="830880"/>
        <a:ext cx="2679304" cy="16075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B7D5E-506E-4268-BD9D-89383F3A27E9}">
      <dsp:nvSpPr>
        <dsp:cNvPr id="0" name=""/>
        <dsp:cNvSpPr/>
      </dsp:nvSpPr>
      <dsp:spPr>
        <a:xfrm>
          <a:off x="579727" y="219"/>
          <a:ext cx="3706457" cy="222387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>
              <a:solidFill>
                <a:schemeClr val="bg1"/>
              </a:solidFill>
              <a:effectLst/>
              <a:latin typeface="Bahnschrift "/>
            </a:rPr>
            <a:t>Data will not be sent to the reducers.</a:t>
          </a:r>
        </a:p>
      </dsp:txBody>
      <dsp:txXfrm>
        <a:off x="579727" y="219"/>
        <a:ext cx="3706457" cy="2223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8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8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9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0.xml.rels><?xml version="1.0" encoding="UTF-8" standalone="yes" ?><Relationships xmlns="http://schemas.openxmlformats.org/package/2006/relationships"><Relationship Id="rId2" Target="../media/image1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1.xml.rels><?xml version="1.0" encoding="UTF-8" standalone="yes" ?><Relationships xmlns="http://schemas.openxmlformats.org/package/2006/relationships"><Relationship Id="rId2" Target="../media/image1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2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 ?>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learn </a:t>
            </a:r>
            <a:r>
              <a:rPr lang="en-IN" b="0" i="0" dirty="0">
                <a:solidFill>
                  <a:srgbClr val="444444"/>
                </a:solidFill>
                <a:effectLst/>
              </a:rPr>
              <a:t>what is </a:t>
            </a:r>
            <a:r>
              <a:rPr lang="en-IN" b="0" i="0" dirty="0" err="1">
                <a:solidFill>
                  <a:srgbClr val="444444"/>
                </a:solidFill>
                <a:effectLst/>
              </a:rPr>
              <a:t>hadoop</a:t>
            </a:r>
            <a:r>
              <a:rPr lang="en-IN" b="0" i="0" dirty="0">
                <a:solidFill>
                  <a:srgbClr val="444444"/>
                </a:solidFill>
                <a:effectLst/>
              </a:rPr>
              <a:t> partitioner.</a:t>
            </a:r>
          </a:p>
          <a:p>
            <a:pPr algn="just"/>
            <a:r>
              <a:rPr lang="en-US" b="0" i="0" dirty="0">
                <a:solidFill>
                  <a:srgbClr val="444444"/>
                </a:solidFill>
                <a:effectLst/>
              </a:rPr>
              <a:t>learn what is the need of partitioner in </a:t>
            </a:r>
            <a:r>
              <a:rPr lang="en-US" b="0" i="0" dirty="0" err="1">
                <a:solidFill>
                  <a:srgbClr val="444444"/>
                </a:solidFill>
                <a:effectLst/>
              </a:rPr>
              <a:t>hadoop</a:t>
            </a:r>
            <a:endParaRPr lang="en-IN" dirty="0">
              <a:solidFill>
                <a:srgbClr val="444444"/>
              </a:solidFill>
            </a:endParaRPr>
          </a:p>
          <a:p>
            <a:pPr algn="just"/>
            <a:r>
              <a:rPr lang="en-US" b="0" i="0" dirty="0">
                <a:solidFill>
                  <a:srgbClr val="444444"/>
                </a:solidFill>
                <a:effectLst/>
              </a:rPr>
              <a:t>learn what is the default partitioner in </a:t>
            </a:r>
            <a:r>
              <a:rPr lang="en-US" b="0" i="0" dirty="0" err="1">
                <a:solidFill>
                  <a:srgbClr val="444444"/>
                </a:solidFill>
                <a:effectLst/>
              </a:rPr>
              <a:t>mapreduce</a:t>
            </a:r>
            <a:r>
              <a:rPr lang="en-US" b="0" i="0" dirty="0">
                <a:solidFill>
                  <a:srgbClr val="444444"/>
                </a:solidFill>
                <a:effectLst/>
              </a:rPr>
              <a:t>,</a:t>
            </a:r>
            <a:endParaRPr lang="en-IN" b="0" i="0" dirty="0">
              <a:solidFill>
                <a:srgbClr val="444444"/>
              </a:solidFill>
              <a:effectLst/>
            </a:endParaRPr>
          </a:p>
          <a:p>
            <a:pPr algn="just"/>
            <a:r>
              <a:rPr lang="en-US" b="0" i="0" dirty="0">
                <a:solidFill>
                  <a:srgbClr val="444444"/>
                </a:solidFill>
                <a:effectLst/>
              </a:rPr>
              <a:t>learn how many </a:t>
            </a:r>
            <a:r>
              <a:rPr lang="en-US" b="0" i="0" dirty="0" err="1">
                <a:solidFill>
                  <a:srgbClr val="444444"/>
                </a:solidFill>
                <a:effectLst/>
              </a:rPr>
              <a:t>mapreduce</a:t>
            </a:r>
            <a:r>
              <a:rPr lang="en-US" b="0" i="0" dirty="0">
                <a:solidFill>
                  <a:srgbClr val="444444"/>
                </a:solidFill>
                <a:effectLst/>
              </a:rPr>
              <a:t> partitioner are used in </a:t>
            </a:r>
            <a:r>
              <a:rPr lang="en-US" b="0" i="0" dirty="0" err="1">
                <a:solidFill>
                  <a:srgbClr val="444444"/>
                </a:solidFill>
                <a:effectLst/>
              </a:rPr>
              <a:t>hadoop</a:t>
            </a:r>
            <a:r>
              <a:rPr lang="en-US" b="0" i="0" dirty="0">
                <a:solidFill>
                  <a:srgbClr val="444444"/>
                </a:solidFill>
                <a:effectLst/>
              </a:rPr>
              <a:t>?</a:t>
            </a:r>
          </a:p>
          <a:p>
            <a:pPr algn="just"/>
            <a:r>
              <a:rPr lang="en-IN" b="0" i="0" dirty="0">
                <a:solidFill>
                  <a:srgbClr val="444444"/>
                </a:solidFill>
                <a:effectLst/>
              </a:rPr>
              <a:t>learn what is </a:t>
            </a:r>
            <a:r>
              <a:rPr lang="en-IN" b="0" i="0" dirty="0" err="1">
                <a:solidFill>
                  <a:srgbClr val="444444"/>
                </a:solidFill>
                <a:effectLst/>
              </a:rPr>
              <a:t>mapreduce</a:t>
            </a:r>
            <a:r>
              <a:rPr lang="en-IN" b="0" i="0" dirty="0">
                <a:solidFill>
                  <a:srgbClr val="444444"/>
                </a:solidFill>
                <a:effectLst/>
              </a:rPr>
              <a:t> combiner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CEF754-F045-46CF-B33E-C6FB47DC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7211E3-B0EE-4EAF-88C0-9EE7949CE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6050" y="2364078"/>
            <a:ext cx="5891900" cy="312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89438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AEA158-76E5-4972-A6CE-8BFCCC1A483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0" r="-13"/>
          <a:stretch/>
        </p:blipFill>
        <p:spPr>
          <a:xfrm>
            <a:off x="4531630" y="2718427"/>
            <a:ext cx="4409984" cy="27049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BB3160-D452-445C-B822-0FF36F1D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What is Hadoop Partitioner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FC73F-8E44-4F2A-9243-CE9588D855DB}"/>
              </a:ext>
            </a:extLst>
          </p:cNvPr>
          <p:cNvSpPr txBox="1"/>
          <p:nvPr/>
        </p:nvSpPr>
        <p:spPr>
          <a:xfrm>
            <a:off x="338362" y="1434661"/>
            <a:ext cx="4045252" cy="5156861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latin charset="0" panose="020B0502040204020203" pitchFamily="34" typeface="Bahnschrift"/>
              </a:rPr>
              <a:t>Controls the partitioning of the keys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Keys derive the partition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Total number of partitions == Number of reduce tasks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It runs on the same machine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Entire mapper output sent to partitioner.</a:t>
            </a:r>
          </a:p>
        </p:txBody>
      </p:sp>
    </p:spTree>
    <p:extLst>
      <p:ext uri="{BB962C8B-B14F-4D97-AF65-F5344CB8AC3E}">
        <p14:creationId xmlns:p14="http://schemas.microsoft.com/office/powerpoint/2010/main" val="161751061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AEA158-76E5-4972-A6CE-8BFCCC1A483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0" r="-13"/>
          <a:stretch/>
        </p:blipFill>
        <p:spPr>
          <a:xfrm>
            <a:off x="4531630" y="2718427"/>
            <a:ext cx="4409984" cy="27049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BB3160-D452-445C-B822-0FF36F1D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What is Hadoop Partitioner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FC73F-8E44-4F2A-9243-CE9588D855DB}"/>
              </a:ext>
            </a:extLst>
          </p:cNvPr>
          <p:cNvSpPr txBox="1"/>
          <p:nvPr/>
        </p:nvSpPr>
        <p:spPr>
          <a:xfrm>
            <a:off x="338362" y="1434661"/>
            <a:ext cx="4045252" cy="5156861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Controls the partitioning of the keys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latin charset="0" panose="020B0502040204020203" pitchFamily="34" typeface="Bahnschrift"/>
              </a:rPr>
              <a:t>Keys derive the partition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Total number of partitions == Number of reduce tasks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It runs on the same machine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Entire mapper output sent to partitioner.</a:t>
            </a:r>
          </a:p>
        </p:txBody>
      </p:sp>
    </p:spTree>
    <p:extLst>
      <p:ext uri="{BB962C8B-B14F-4D97-AF65-F5344CB8AC3E}">
        <p14:creationId xmlns:p14="http://schemas.microsoft.com/office/powerpoint/2010/main" val="2636865366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AEA158-76E5-4972-A6CE-8BFCCC1A483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0" r="-13"/>
          <a:stretch/>
        </p:blipFill>
        <p:spPr>
          <a:xfrm>
            <a:off x="4531630" y="2718427"/>
            <a:ext cx="4409984" cy="27049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BB3160-D452-445C-B822-0FF36F1D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What is Hadoop Partitioner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FC73F-8E44-4F2A-9243-CE9588D855DB}"/>
              </a:ext>
            </a:extLst>
          </p:cNvPr>
          <p:cNvSpPr txBox="1"/>
          <p:nvPr/>
        </p:nvSpPr>
        <p:spPr>
          <a:xfrm>
            <a:off x="338362" y="1434661"/>
            <a:ext cx="4045252" cy="5156861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Controls the partitioning of the keys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Keys derive the partition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latin charset="0" panose="020B0502040204020203" pitchFamily="34" typeface="Bahnschrift"/>
              </a:rPr>
              <a:t>Total number of partitions == Number of reduce tasks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It runs on the same machine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Entire mapper output sent to partitioner.</a:t>
            </a:r>
          </a:p>
        </p:txBody>
      </p:sp>
    </p:spTree>
    <p:extLst>
      <p:ext uri="{BB962C8B-B14F-4D97-AF65-F5344CB8AC3E}">
        <p14:creationId xmlns:p14="http://schemas.microsoft.com/office/powerpoint/2010/main" val="2002686720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AEA158-76E5-4972-A6CE-8BFCCC1A483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0" r="-13"/>
          <a:stretch/>
        </p:blipFill>
        <p:spPr>
          <a:xfrm>
            <a:off x="4531630" y="2718427"/>
            <a:ext cx="4409984" cy="27049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BB3160-D452-445C-B822-0FF36F1D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What is Hadoop Partitioner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FC73F-8E44-4F2A-9243-CE9588D855DB}"/>
              </a:ext>
            </a:extLst>
          </p:cNvPr>
          <p:cNvSpPr txBox="1"/>
          <p:nvPr/>
        </p:nvSpPr>
        <p:spPr>
          <a:xfrm>
            <a:off x="338362" y="1434661"/>
            <a:ext cx="4045252" cy="5156861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Controls the partitioning of the keys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Keys derive the partition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Total number of partitions == Number of reduce tasks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latin charset="0" panose="020B0502040204020203" pitchFamily="34" typeface="Bahnschrift"/>
              </a:rPr>
              <a:t>It runs on the same machine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Entire mapper output sent to partitioner.</a:t>
            </a:r>
          </a:p>
        </p:txBody>
      </p:sp>
    </p:spTree>
    <p:extLst>
      <p:ext uri="{BB962C8B-B14F-4D97-AF65-F5344CB8AC3E}">
        <p14:creationId xmlns:p14="http://schemas.microsoft.com/office/powerpoint/2010/main" val="1751617806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AEA158-76E5-4972-A6CE-8BFCCC1A483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0" r="-13"/>
          <a:stretch/>
        </p:blipFill>
        <p:spPr>
          <a:xfrm>
            <a:off x="4531630" y="2718427"/>
            <a:ext cx="4409984" cy="27049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BB3160-D452-445C-B822-0FF36F1D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What is Hadoop Partitioner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FC73F-8E44-4F2A-9243-CE9588D855DB}"/>
              </a:ext>
            </a:extLst>
          </p:cNvPr>
          <p:cNvSpPr txBox="1"/>
          <p:nvPr/>
        </p:nvSpPr>
        <p:spPr>
          <a:xfrm>
            <a:off x="338362" y="1434661"/>
            <a:ext cx="4045252" cy="5156861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Controls the partitioning of the keys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Keys derive the partition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Total number of partitions == Number of reduce tasks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solidFill>
                  <a:schemeClr val="bg1">
                    <a:lumMod val="85000"/>
                  </a:schemeClr>
                </a:solidFill>
                <a:latin charset="0" panose="020B0502040204020203" pitchFamily="34" typeface="Bahnschrift"/>
              </a:rPr>
              <a:t>It runs on the same machine</a:t>
            </a:r>
          </a:p>
          <a:p>
            <a:pPr algn="just" indent="-285750" marL="285750">
              <a:lnSpc>
                <a:spcPct val="200000"/>
              </a:lnSpc>
              <a:buFont charset="0" panose="020B0604020202020204" pitchFamily="34" typeface="Arial"/>
              <a:buChar char="•"/>
            </a:pPr>
            <a:r>
              <a:rPr dirty="0" lang="en-US" sz="2100">
                <a:latin charset="0" panose="020B0502040204020203" pitchFamily="34" typeface="Bahnschrift"/>
              </a:rPr>
              <a:t>Entire mapper output sent to partitioner.</a:t>
            </a:r>
          </a:p>
        </p:txBody>
      </p:sp>
    </p:spTree>
    <p:extLst>
      <p:ext uri="{BB962C8B-B14F-4D97-AF65-F5344CB8AC3E}">
        <p14:creationId xmlns:p14="http://schemas.microsoft.com/office/powerpoint/2010/main" val="57287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79B788-5810-422A-9675-D80D53DC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89249"/>
            <a:ext cx="8386537" cy="5004884"/>
          </a:xfrm>
        </p:spPr>
        <p:txBody>
          <a:bodyPr/>
          <a:lstStyle/>
          <a:p>
            <a:pPr algn="just"/>
            <a:r>
              <a:rPr lang="en-US" dirty="0"/>
              <a:t>By default. Hadoop framework is hash based partitioner.</a:t>
            </a:r>
          </a:p>
          <a:p>
            <a:pPr algn="just"/>
            <a:r>
              <a:rPr lang="en-US" dirty="0"/>
              <a:t>Hash partitioner partitions the key space by using the hash code.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BF7C81-B33F-40A1-81F7-4B599845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What is Hadoop Partitioner.</a:t>
            </a:r>
          </a:p>
        </p:txBody>
      </p:sp>
    </p:spTree>
    <p:extLst>
      <p:ext uri="{BB962C8B-B14F-4D97-AF65-F5344CB8AC3E}">
        <p14:creationId xmlns:p14="http://schemas.microsoft.com/office/powerpoint/2010/main" val="284119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24EAAB-88FF-4BAC-8A15-374E79DA8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473" y="2033837"/>
            <a:ext cx="8140313" cy="409869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69EEA6-6A87-42E8-BFCC-1077CCB0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What is Hadoop Partitioner.</a:t>
            </a:r>
          </a:p>
        </p:txBody>
      </p:sp>
    </p:spTree>
    <p:extLst>
      <p:ext uri="{BB962C8B-B14F-4D97-AF65-F5344CB8AC3E}">
        <p14:creationId xmlns:p14="http://schemas.microsoft.com/office/powerpoint/2010/main" val="1165379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24EAAB-88FF-4BAC-8A15-374E79DA8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2430" y="1951128"/>
            <a:ext cx="7367222" cy="37094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69EEA6-6A87-42E8-BFCC-1077CCB0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What is Hadoop Partitioner.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FCBBE2-6960-48C2-901D-CDDD9A48B49B}"/>
              </a:ext>
            </a:extLst>
          </p:cNvPr>
          <p:cNvSpPr txBox="1"/>
          <p:nvPr/>
        </p:nvSpPr>
        <p:spPr>
          <a:xfrm>
            <a:off x="1360713" y="5660571"/>
            <a:ext cx="6890657" cy="830997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Key,value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pair</a:t>
            </a:r>
            <a:b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 (u1,US) (u2,GB) (u3,CA) (u4,CA)……….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A43EE-B076-4F1E-9A17-366FEA5361E6}"/>
              </a:ext>
            </a:extLst>
          </p:cNvPr>
          <p:cNvSpPr txBox="1"/>
          <p:nvPr/>
        </p:nvSpPr>
        <p:spPr>
          <a:xfrm>
            <a:off x="0" y="1366613"/>
            <a:ext cx="9144000" cy="461665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hich partition a given (key, value) pair will go ?</a:t>
            </a:r>
          </a:p>
        </p:txBody>
      </p:sp>
    </p:spTree>
    <p:extLst>
      <p:ext uri="{BB962C8B-B14F-4D97-AF65-F5344CB8AC3E}">
        <p14:creationId xmlns:p14="http://schemas.microsoft.com/office/powerpoint/2010/main" val="2902063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E99FC9-974F-4488-8BFE-0A5AC8152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2476" y="2253408"/>
            <a:ext cx="4372409" cy="208126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8074DD9-65C1-4A6D-BBE3-26E0AA99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What is Hadoop Partitioner.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77366-C476-4DA6-866A-BFE3C8157619}"/>
              </a:ext>
            </a:extLst>
          </p:cNvPr>
          <p:cNvSpPr txBox="1"/>
          <p:nvPr/>
        </p:nvSpPr>
        <p:spPr>
          <a:xfrm>
            <a:off x="2232476" y="4765326"/>
            <a:ext cx="4372409" cy="861774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Bahnschrift" panose="020B0502040204020203" pitchFamily="34" charset="0"/>
              </a:rPr>
              <a:t>D</a:t>
            </a:r>
            <a:r>
              <a:rPr lang="en-US" sz="25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ata flow takes place after map phase </a:t>
            </a:r>
            <a:endParaRPr lang="en-IN" sz="25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93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7175A-2CDD-4B8D-B044-DBD6435BF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68655"/>
          <a:stretch/>
        </p:blipFill>
        <p:spPr>
          <a:xfrm>
            <a:off x="1634832" y="1628775"/>
            <a:ext cx="1815939" cy="5003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61F143-ADC4-4A37-8276-97320F0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Need of MapReduce Partitioner in Hadoop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A524C0-C614-43BB-BD34-38CEFFED9E4E}"/>
              </a:ext>
            </a:extLst>
          </p:cNvPr>
          <p:cNvSpPr/>
          <p:nvPr/>
        </p:nvSpPr>
        <p:spPr>
          <a:xfrm>
            <a:off x="3113314" y="3526971"/>
            <a:ext cx="555172" cy="2830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060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7175A-2CDD-4B8D-B044-DBD6435BF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8820"/>
          <a:stretch/>
        </p:blipFill>
        <p:spPr>
          <a:xfrm>
            <a:off x="1634832" y="1628775"/>
            <a:ext cx="4123711" cy="5003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61F143-ADC4-4A37-8276-97320F0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Need of MapReduce Partitioner in Hadoop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6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7175A-2CDD-4B8D-B044-DBD6435BF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32" y="1628775"/>
            <a:ext cx="5793373" cy="5003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61F143-ADC4-4A37-8276-97320F0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Need of MapReduce Partitioner in Hadoop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C9F40-DAA5-4023-ADA9-FC2CBDC74671}"/>
              </a:ext>
            </a:extLst>
          </p:cNvPr>
          <p:cNvSpPr/>
          <p:nvPr/>
        </p:nvSpPr>
        <p:spPr>
          <a:xfrm>
            <a:off x="7225523" y="2595789"/>
            <a:ext cx="370115" cy="3069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680882-6564-42DE-A2EA-15CDC8CAFD01}"/>
              </a:ext>
            </a:extLst>
          </p:cNvPr>
          <p:cNvSpPr/>
          <p:nvPr/>
        </p:nvSpPr>
        <p:spPr>
          <a:xfrm>
            <a:off x="7058090" y="354874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B156B4-C463-4E2F-9C09-1A6D177BC8CE}"/>
              </a:ext>
            </a:extLst>
          </p:cNvPr>
          <p:cNvSpPr/>
          <p:nvPr/>
        </p:nvSpPr>
        <p:spPr>
          <a:xfrm>
            <a:off x="7210490" y="370114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2A8D77-3E16-4A38-B821-1460F19B4C6F}"/>
              </a:ext>
            </a:extLst>
          </p:cNvPr>
          <p:cNvSpPr/>
          <p:nvPr/>
        </p:nvSpPr>
        <p:spPr>
          <a:xfrm>
            <a:off x="6955972" y="479561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51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61F143-ADC4-4A37-8276-97320F0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Need of MapReduce Partitioner in Hadoop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C9F40-DAA5-4023-ADA9-FC2CBDC74671}"/>
              </a:ext>
            </a:extLst>
          </p:cNvPr>
          <p:cNvSpPr/>
          <p:nvPr/>
        </p:nvSpPr>
        <p:spPr>
          <a:xfrm>
            <a:off x="7225523" y="2595789"/>
            <a:ext cx="370115" cy="3069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680882-6564-42DE-A2EA-15CDC8CAFD01}"/>
              </a:ext>
            </a:extLst>
          </p:cNvPr>
          <p:cNvSpPr/>
          <p:nvPr/>
        </p:nvSpPr>
        <p:spPr>
          <a:xfrm>
            <a:off x="7058090" y="354874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B156B4-C463-4E2F-9C09-1A6D177BC8CE}"/>
              </a:ext>
            </a:extLst>
          </p:cNvPr>
          <p:cNvSpPr/>
          <p:nvPr/>
        </p:nvSpPr>
        <p:spPr>
          <a:xfrm>
            <a:off x="7210490" y="370114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2A8D77-3E16-4A38-B821-1460F19B4C6F}"/>
              </a:ext>
            </a:extLst>
          </p:cNvPr>
          <p:cNvSpPr/>
          <p:nvPr/>
        </p:nvSpPr>
        <p:spPr>
          <a:xfrm>
            <a:off x="6955972" y="479561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1C0CE8E-3C98-4C10-9EF3-BB8BAF919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489" y="1523101"/>
            <a:ext cx="6329091" cy="4356086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090FE9D-2EAE-4178-9F9C-0EEFAD64A1C9}"/>
              </a:ext>
            </a:extLst>
          </p:cNvPr>
          <p:cNvSpPr/>
          <p:nvPr/>
        </p:nvSpPr>
        <p:spPr>
          <a:xfrm>
            <a:off x="5203384" y="5595360"/>
            <a:ext cx="2569015" cy="107360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Map Output in a list of (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key,value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) in the intermediate file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8193D8-1200-4AF4-BDA4-C19557B895FD}"/>
              </a:ext>
            </a:extLst>
          </p:cNvPr>
          <p:cNvCxnSpPr/>
          <p:nvPr/>
        </p:nvCxnSpPr>
        <p:spPr>
          <a:xfrm flipV="1">
            <a:off x="5954486" y="4795614"/>
            <a:ext cx="0" cy="869946"/>
          </a:xfrm>
          <a:prstGeom prst="straightConnector1">
            <a:avLst/>
          </a:prstGeom>
          <a:ln w="38100">
            <a:solidFill>
              <a:srgbClr val="4452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619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61F143-ADC4-4A37-8276-97320F0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Need of MapReduce Partitioner in Hadoop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C9F40-DAA5-4023-ADA9-FC2CBDC74671}"/>
              </a:ext>
            </a:extLst>
          </p:cNvPr>
          <p:cNvSpPr/>
          <p:nvPr/>
        </p:nvSpPr>
        <p:spPr>
          <a:xfrm>
            <a:off x="7225523" y="2595789"/>
            <a:ext cx="370115" cy="3069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680882-6564-42DE-A2EA-15CDC8CAFD01}"/>
              </a:ext>
            </a:extLst>
          </p:cNvPr>
          <p:cNvSpPr/>
          <p:nvPr/>
        </p:nvSpPr>
        <p:spPr>
          <a:xfrm>
            <a:off x="7058090" y="354874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B156B4-C463-4E2F-9C09-1A6D177BC8CE}"/>
              </a:ext>
            </a:extLst>
          </p:cNvPr>
          <p:cNvSpPr/>
          <p:nvPr/>
        </p:nvSpPr>
        <p:spPr>
          <a:xfrm>
            <a:off x="7210490" y="370114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2A8D77-3E16-4A38-B821-1460F19B4C6F}"/>
              </a:ext>
            </a:extLst>
          </p:cNvPr>
          <p:cNvSpPr/>
          <p:nvPr/>
        </p:nvSpPr>
        <p:spPr>
          <a:xfrm>
            <a:off x="6955972" y="4795614"/>
            <a:ext cx="472233" cy="3265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90FE9D-2EAE-4178-9F9C-0EEFAD64A1C9}"/>
              </a:ext>
            </a:extLst>
          </p:cNvPr>
          <p:cNvSpPr/>
          <p:nvPr/>
        </p:nvSpPr>
        <p:spPr>
          <a:xfrm>
            <a:off x="4985663" y="5951141"/>
            <a:ext cx="3385451" cy="7786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Bahnschrift" panose="020B0502040204020203" pitchFamily="34" charset="0"/>
              </a:rPr>
              <a:t>Ouput</a:t>
            </a:r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</a:rPr>
              <a:t> in a list of (Key, List of Values) in the intermediate file</a:t>
            </a:r>
            <a:endParaRPr lang="en-IN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8193D8-1200-4AF4-BDA4-C19557B895FD}"/>
              </a:ext>
            </a:extLst>
          </p:cNvPr>
          <p:cNvCxnSpPr/>
          <p:nvPr/>
        </p:nvCxnSpPr>
        <p:spPr>
          <a:xfrm flipV="1">
            <a:off x="5954486" y="4795614"/>
            <a:ext cx="0" cy="869946"/>
          </a:xfrm>
          <a:prstGeom prst="straightConnector1">
            <a:avLst/>
          </a:prstGeom>
          <a:ln w="38100">
            <a:solidFill>
              <a:srgbClr val="4452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BBDD2D9-8621-41F3-AF40-30CD68329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675" y="2384814"/>
            <a:ext cx="8219224" cy="3698651"/>
          </a:xfr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80D885-B7D5-43AC-92F9-2348711C010F}"/>
              </a:ext>
            </a:extLst>
          </p:cNvPr>
          <p:cNvCxnSpPr>
            <a:cxnSpLocks/>
          </p:cNvCxnSpPr>
          <p:nvPr/>
        </p:nvCxnSpPr>
        <p:spPr>
          <a:xfrm flipV="1">
            <a:off x="6270171" y="5583065"/>
            <a:ext cx="0" cy="434973"/>
          </a:xfrm>
          <a:prstGeom prst="straightConnector1">
            <a:avLst/>
          </a:prstGeom>
          <a:ln w="38100">
            <a:solidFill>
              <a:srgbClr val="4452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AB716F-AD62-4FE4-B03D-3233942CCFFC}"/>
              </a:ext>
            </a:extLst>
          </p:cNvPr>
          <p:cNvSpPr txBox="1"/>
          <p:nvPr/>
        </p:nvSpPr>
        <p:spPr>
          <a:xfrm>
            <a:off x="505675" y="1379658"/>
            <a:ext cx="8386536" cy="129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" panose="020B0502040204020203" pitchFamily="34" charset="0"/>
              </a:rPr>
              <a:t>It also makes sure that all the values of a single key go to the same reducer.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251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78B224-C7D0-443E-B0A8-98ABD72DE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4728" y="2769986"/>
            <a:ext cx="3510642" cy="188612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apple-system"/>
              </a:rPr>
              <a:t>Partitioner makes sure that same key goes to the same reducer!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2131F-134F-4EA4-B331-292A3743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Need of MapReduce Partitioner in Hadoop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967D0-3F31-49AA-A86B-6DD94D8AD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04" y="2155371"/>
            <a:ext cx="4675953" cy="311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67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79442F-CC01-4FD4-9D6D-045D6993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54525"/>
            <a:ext cx="8386537" cy="5004884"/>
          </a:xfrm>
        </p:spPr>
        <p:txBody>
          <a:bodyPr/>
          <a:lstStyle/>
          <a:p>
            <a:pPr algn="just"/>
            <a:r>
              <a:rPr lang="en-US" i="0" dirty="0">
                <a:effectLst/>
                <a:latin typeface="Bahnschrift "/>
              </a:rPr>
              <a:t>Hash Partitioner </a:t>
            </a:r>
            <a:r>
              <a:rPr lang="en-US" b="0" i="0" dirty="0">
                <a:effectLst/>
                <a:latin typeface="Bahnschrift "/>
              </a:rPr>
              <a:t>is the default Partitioner.</a:t>
            </a:r>
          </a:p>
          <a:p>
            <a:pPr algn="just"/>
            <a:r>
              <a:rPr lang="en-US" b="0" i="0" dirty="0">
                <a:effectLst/>
                <a:latin typeface="Bahnschrift "/>
              </a:rPr>
              <a:t> It computes a hash value for the key. </a:t>
            </a:r>
          </a:p>
          <a:p>
            <a:pPr algn="just"/>
            <a:r>
              <a:rPr lang="en-US" b="0" i="0" dirty="0">
                <a:effectLst/>
                <a:latin typeface="Bahnschrift "/>
              </a:rPr>
              <a:t>It also assigns the partition based on this result.</a:t>
            </a:r>
            <a:endParaRPr lang="en-IN" dirty="0">
              <a:latin typeface="Bahnschrift 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EAEA7C-3C22-49D5-9B7C-8D0A6854E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Hadoop Default Partitioner</a:t>
            </a:r>
          </a:p>
        </p:txBody>
      </p:sp>
    </p:spTree>
    <p:extLst>
      <p:ext uri="{BB962C8B-B14F-4D97-AF65-F5344CB8AC3E}">
        <p14:creationId xmlns:p14="http://schemas.microsoft.com/office/powerpoint/2010/main" val="1040603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986CE3-5E02-40D3-B3D3-35244CDA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42950"/>
            <a:ext cx="8386537" cy="5004884"/>
          </a:xfrm>
        </p:spPr>
        <p:txBody>
          <a:bodyPr>
            <a:noAutofit/>
          </a:bodyPr>
          <a:lstStyle/>
          <a:p>
            <a:pPr algn="just"/>
            <a:r>
              <a:rPr lang="en-US" sz="2600" b="0" i="0" dirty="0">
                <a:effectLst/>
              </a:rPr>
              <a:t>Depends on the number of reducers.</a:t>
            </a:r>
          </a:p>
          <a:p>
            <a:pPr algn="just"/>
            <a:r>
              <a:rPr lang="en-US" sz="2600" b="0" i="0" dirty="0">
                <a:effectLst/>
              </a:rPr>
              <a:t>Partitioner divides the data.</a:t>
            </a:r>
          </a:p>
          <a:p>
            <a:pPr algn="just"/>
            <a:r>
              <a:rPr lang="en-US" sz="2600" b="0" i="0" dirty="0">
                <a:effectLst/>
              </a:rPr>
              <a:t>It is set by </a:t>
            </a:r>
            <a:r>
              <a:rPr lang="en-US" sz="2600" b="1" i="0" dirty="0" err="1">
                <a:effectLst/>
              </a:rPr>
              <a:t>JobConf.setNumReduceTasks</a:t>
            </a:r>
            <a:r>
              <a:rPr lang="en-US" sz="2600" b="1" i="0" dirty="0">
                <a:effectLst/>
              </a:rPr>
              <a:t>()</a:t>
            </a:r>
            <a:r>
              <a:rPr lang="en-US" sz="2600" b="0" i="0" dirty="0">
                <a:effectLst/>
              </a:rPr>
              <a:t> method.</a:t>
            </a:r>
          </a:p>
          <a:p>
            <a:pPr algn="just"/>
            <a:r>
              <a:rPr lang="en-US" sz="2600" b="0" i="0" dirty="0">
                <a:effectLst/>
              </a:rPr>
              <a:t>Single reducer processes the data.</a:t>
            </a:r>
          </a:p>
          <a:p>
            <a:pPr algn="just"/>
            <a:r>
              <a:rPr lang="en-US" sz="2600" b="0" i="0" dirty="0">
                <a:effectLst/>
              </a:rPr>
              <a:t>Framework creates partitioner only when there are many reducers.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80FED-C73D-47B3-A5AC-B93F256A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How many Partitioner in Hadoop?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230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986CE3-5E02-40D3-B3D3-35244CDA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66099"/>
            <a:ext cx="8386537" cy="500488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If in data input in MapReduce job one key appears more than any other key.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80FED-C73D-47B3-A5AC-B93F256A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Poor Partitioning in Hadoop MapReduce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CC1C21D-2D9B-4A3E-A080-C583A8738B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4254047"/>
              </p:ext>
            </p:extLst>
          </p:nvPr>
        </p:nvGraphicFramePr>
        <p:xfrm>
          <a:off x="2046515" y="3429000"/>
          <a:ext cx="4865913" cy="222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9378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986CE3-5E02-40D3-B3D3-35244CDA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7674"/>
            <a:ext cx="8386537" cy="500488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If in data input in MapReduce job one key appears more than any other key.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80FED-C73D-47B3-A5AC-B93F256A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Poor Partitioning in Hadoop MapReduce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CC1C21D-2D9B-4A3E-A080-C583A8738B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9496958"/>
              </p:ext>
            </p:extLst>
          </p:nvPr>
        </p:nvGraphicFramePr>
        <p:xfrm>
          <a:off x="1861458" y="2884713"/>
          <a:ext cx="5627914" cy="3269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3399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986CE3-5E02-40D3-B3D3-35244CDAD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19801"/>
            <a:ext cx="8386537" cy="141599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If </a:t>
            </a:r>
            <a:r>
              <a:rPr lang="en-US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hashCode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()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 method does not distribute other key data over the partition range.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80FED-C73D-47B3-A5AC-B93F256A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Poor Partitioning in Hadoop MapReduce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CC1C21D-2D9B-4A3E-A080-C583A8738B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5676951"/>
              </p:ext>
            </p:extLst>
          </p:nvPr>
        </p:nvGraphicFramePr>
        <p:xfrm>
          <a:off x="2046515" y="3429000"/>
          <a:ext cx="4865913" cy="222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7588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59811D-6EBE-4124-9407-BEA7D010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695" y="2475355"/>
            <a:ext cx="7117202" cy="28153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C780FED-C73D-47B3-A5AC-B93F256A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How to overcome poor partitioning in MapReduce?</a:t>
            </a:r>
          </a:p>
        </p:txBody>
      </p:sp>
    </p:spTree>
    <p:extLst>
      <p:ext uri="{BB962C8B-B14F-4D97-AF65-F5344CB8AC3E}">
        <p14:creationId xmlns:p14="http://schemas.microsoft.com/office/powerpoint/2010/main" val="1946822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D019-B5A4-4086-ADD7-1347AB4B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18079"/>
            <a:ext cx="9144000" cy="2852737"/>
          </a:xfrm>
          <a:solidFill>
            <a:srgbClr val="44525A"/>
          </a:solidFill>
        </p:spPr>
        <p:txBody>
          <a:bodyPr/>
          <a:lstStyle/>
          <a:p>
            <a:pPr algn="ctr"/>
            <a:r>
              <a:rPr lang="en-IN" b="0" i="0" dirty="0">
                <a:solidFill>
                  <a:schemeClr val="bg1"/>
                </a:solidFill>
                <a:effectLst/>
                <a:latin typeface="Bahnschrift "/>
              </a:rPr>
              <a:t>Hadoop Combiner </a:t>
            </a:r>
            <a:br>
              <a:rPr lang="en-IN" b="0" i="0" dirty="0">
                <a:solidFill>
                  <a:schemeClr val="bg1"/>
                </a:solidFill>
                <a:effectLst/>
                <a:latin typeface="Bahnschrift "/>
              </a:rPr>
            </a:br>
            <a:endParaRPr lang="en-IN" dirty="0">
              <a:solidFill>
                <a:schemeClr val="bg1"/>
              </a:solidFill>
              <a:latin typeface="Bahnschrift 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C111B-E5FA-4DC4-BCA4-76CEA40DCE49}"/>
              </a:ext>
            </a:extLst>
          </p:cNvPr>
          <p:cNvSpPr/>
          <p:nvPr/>
        </p:nvSpPr>
        <p:spPr>
          <a:xfrm>
            <a:off x="0" y="2066077"/>
            <a:ext cx="9144000" cy="121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B70A9-9FD3-4B7F-A31A-370B12D72DB5}"/>
              </a:ext>
            </a:extLst>
          </p:cNvPr>
          <p:cNvSpPr/>
          <p:nvPr/>
        </p:nvSpPr>
        <p:spPr>
          <a:xfrm>
            <a:off x="0" y="4543060"/>
            <a:ext cx="9144000" cy="121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780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2D5E8-FF81-4F83-B30D-DB6F010B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Introduction</a:t>
            </a:r>
          </a:p>
        </p:txBody>
      </p:sp>
      <p:pic>
        <p:nvPicPr>
          <p:cNvPr id="4" name="Picture 2" descr="Hadoop Combiner">
            <a:extLst>
              <a:ext uri="{FF2B5EF4-FFF2-40B4-BE49-F238E27FC236}">
                <a16:creationId xmlns:a16="http://schemas.microsoft.com/office/drawing/2014/main" id="{846D82F7-5862-4053-B2FF-DAE3FE6459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52" y="2133600"/>
            <a:ext cx="7601234" cy="3977979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347447"/>
      </p:ext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D26053-3D18-421B-B065-F761923191F3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32501" r="-46"/>
          <a:stretch/>
        </p:blipFill>
        <p:spPr>
          <a:xfrm>
            <a:off x="692424" y="3066601"/>
            <a:ext cx="7759151" cy="330925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6517831-2640-4C2D-928D-7944EBDE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Hadoop Combiner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3AC25-1873-461D-B136-152A5B4C47E5}"/>
              </a:ext>
            </a:extLst>
          </p:cNvPr>
          <p:cNvSpPr txBox="1"/>
          <p:nvPr/>
        </p:nvSpPr>
        <p:spPr>
          <a:xfrm>
            <a:off x="338362" y="1459355"/>
            <a:ext cx="8386536" cy="129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b="1" dirty="0" i="0" lang="en-US" sz="2800">
                <a:solidFill>
                  <a:srgbClr val="C00000"/>
                </a:solidFill>
                <a:effectLst/>
                <a:latin typeface="Bahnschrift "/>
              </a:rPr>
              <a:t>So Mapper generates large chunks of intermediate data.</a:t>
            </a:r>
            <a:r>
              <a:rPr b="0" dirty="0" i="0" lang="en-US" sz="2800">
                <a:solidFill>
                  <a:srgbClr val="444444"/>
                </a:solidFill>
                <a:effectLst/>
                <a:latin typeface="Bahnschrift "/>
              </a:rPr>
              <a:t> </a:t>
            </a:r>
            <a:endParaRPr dirty="0" lang="en-IN" sz="2800"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948487366"/>
      </p:ext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517831-2640-4C2D-928D-7944EBDE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Hadoop Combiner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3AC25-1873-461D-B136-152A5B4C47E5}"/>
              </a:ext>
            </a:extLst>
          </p:cNvPr>
          <p:cNvSpPr txBox="1"/>
          <p:nvPr/>
        </p:nvSpPr>
        <p:spPr>
          <a:xfrm>
            <a:off x="338362" y="1459355"/>
            <a:ext cx="8386536" cy="129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b="1" dirty="0" i="0" lang="en-US" sz="2800">
                <a:solidFill>
                  <a:srgbClr val="C00000"/>
                </a:solidFill>
                <a:effectLst/>
                <a:latin typeface="Bahnschrift "/>
              </a:rPr>
              <a:t>So Mapper generates large chunks of intermediate data.</a:t>
            </a:r>
            <a:r>
              <a:rPr b="0" dirty="0" i="0" lang="en-US" sz="2800">
                <a:solidFill>
                  <a:srgbClr val="444444"/>
                </a:solidFill>
                <a:effectLst/>
                <a:latin typeface="Bahnschrift "/>
              </a:rPr>
              <a:t> </a:t>
            </a:r>
            <a:endParaRPr dirty="0" lang="en-IN" sz="2800">
              <a:latin typeface="Bahnschrift "/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D172856-ECA9-45C2-84A2-F5528D77535B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39" r="-46"/>
          <a:stretch/>
        </p:blipFill>
        <p:spPr>
          <a:xfrm>
            <a:off x="1572985" y="2890553"/>
            <a:ext cx="5998029" cy="379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02941"/>
      </p:ext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A180FA-15BA-4931-BF8B-68DBE42E5AFB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04"/>
          <a:stretch/>
        </p:blipFill>
        <p:spPr>
          <a:xfrm>
            <a:off x="1055005" y="2882647"/>
            <a:ext cx="6953250" cy="3499304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EC234D4-A206-4631-BAB0-D80FC08D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Hadoop Combiner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7306A1-77AD-416F-94E3-6BB86F1ACE59}"/>
              </a:ext>
            </a:extLst>
          </p:cNvPr>
          <p:cNvSpPr/>
          <p:nvPr/>
        </p:nvSpPr>
        <p:spPr>
          <a:xfrm>
            <a:off x="2612571" y="1545771"/>
            <a:ext cx="3222172" cy="91440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400">
                <a:latin typeface="Bahnschrift "/>
              </a:rPr>
              <a:t>Network Congestion</a:t>
            </a:r>
          </a:p>
        </p:txBody>
      </p:sp>
    </p:spTree>
    <p:extLst>
      <p:ext uri="{BB962C8B-B14F-4D97-AF65-F5344CB8AC3E}">
        <p14:creationId xmlns:p14="http://schemas.microsoft.com/office/powerpoint/2010/main" val="1143902525"/>
      </p:ext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440D16-5A67-4674-BF65-0E8C707DCBE3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" r="-12"/>
          <a:stretch/>
        </p:blipFill>
        <p:spPr>
          <a:xfrm>
            <a:off x="1666196" y="1762930"/>
            <a:ext cx="5246233" cy="4790269"/>
          </a:xfrm>
          <a:prstGeom prst="ellipse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F5D6C98-52F0-4331-80AF-1559A066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Hadoop Combiner</a:t>
            </a:r>
          </a:p>
        </p:txBody>
      </p:sp>
    </p:spTree>
    <p:extLst>
      <p:ext uri="{BB962C8B-B14F-4D97-AF65-F5344CB8AC3E}">
        <p14:creationId xmlns:p14="http://schemas.microsoft.com/office/powerpoint/2010/main" val="2055757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78DA89-572F-4737-8939-F285EC559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3263" y="1523999"/>
            <a:ext cx="5032375" cy="50323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115EF69-C8D9-4E3E-B980-1234161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Hadoop Combiner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CCC64-B16C-4304-9E97-6FFB9ABF9920}"/>
              </a:ext>
            </a:extLst>
          </p:cNvPr>
          <p:cNvSpPr txBox="1"/>
          <p:nvPr/>
        </p:nvSpPr>
        <p:spPr>
          <a:xfrm>
            <a:off x="1021268" y="2658090"/>
            <a:ext cx="2154467" cy="259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en-IN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MapReduce program without Combiner</a:t>
            </a:r>
            <a:r>
              <a:rPr lang="en-IN" sz="28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 </a:t>
            </a:r>
            <a:endParaRPr lang="en-IN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1724629184"/>
      </p:ext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7DE4A2-C3F4-4B98-86D9-0503285F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20" y="2123918"/>
            <a:ext cx="2775228" cy="3900744"/>
          </a:xfrm>
        </p:spPr>
        <p:txBody>
          <a:bodyPr>
            <a:normAutofit/>
          </a:bodyPr>
          <a:lstStyle/>
          <a:p>
            <a:pPr algn="ctr" indent="0" marL="0">
              <a:buNone/>
            </a:pPr>
            <a:r>
              <a:rPr b="0" dirty="0" i="0" lang="en-US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MapReduce program with Combiner in between Mapper and Reducer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8DF603-B27B-4EF5-A185-7007BB26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Hadoop Combiner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069F6-45F9-4F13-9733-F82B69A25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"/>
          <a:stretch/>
        </p:blipFill>
        <p:spPr>
          <a:xfrm>
            <a:off x="4213982" y="2123917"/>
            <a:ext cx="4634898" cy="39007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8022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E1F2C-1E40-4471-8E1E-CA0FA2403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620443" cy="5004884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https://data-flair.training/blogs/hadoop-combiner-tutorial/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314255-DEDF-4C94-B840-A0FC0864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83528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1719C0-4D27-44D6-B0C4-8058B2AB6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Reduces the time taken for data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Decreases the amount of data.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Improves the overall performance of the reducer.</a:t>
            </a:r>
          </a:p>
          <a:p>
            <a:pPr algn="just"/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Bahnschrift 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C92AB4-EC5E-4B54-8757-156FF7BC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Advantages of MapReduce Combiner</a:t>
            </a:r>
          </a:p>
        </p:txBody>
      </p:sp>
    </p:spTree>
    <p:extLst>
      <p:ext uri="{BB962C8B-B14F-4D97-AF65-F5344CB8AC3E}">
        <p14:creationId xmlns:p14="http://schemas.microsoft.com/office/powerpoint/2010/main" val="1490037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FBAED2-A8DD-4982-9B54-C6AF853B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489249"/>
            <a:ext cx="8418028" cy="5004884"/>
          </a:xfrm>
        </p:spPr>
        <p:txBody>
          <a:bodyPr>
            <a:normAutofit fontScale="92500" lnSpcReduction="10000"/>
          </a:bodyPr>
          <a:lstStyle/>
          <a:p>
            <a:pPr algn="just" fontAlgn="base"/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There are also some disadvantages of </a:t>
            </a:r>
            <a:r>
              <a:rPr lang="en-US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hadoop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Combiner. Let’s discuss them one by one-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MapReduce jobs cannot depend on the Hadoop combiner execution because there is no guarantee in its execution.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In the local filesystem, the key-value pairs are stored in the Hadoop and run the combiner later which will cause expensive disk IO</a:t>
            </a:r>
          </a:p>
          <a:p>
            <a:pPr algn="just"/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44BBE1-0696-42DB-81DC-791D461E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Disadvantages of Hadoop combiner in MapReduce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962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FBAED2-A8DD-4982-9B54-C6AF853B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12398"/>
            <a:ext cx="8643592" cy="5004884"/>
          </a:xfrm>
        </p:spPr>
        <p:txBody>
          <a:bodyPr>
            <a:norm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MapReduce jobs cannot depend on the Hadoop combiner execution.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ahnschrift "/>
              </a:rPr>
              <a:t>Expensive disk IO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44BBE1-0696-42DB-81DC-791D461E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Disadvantages of Hadoop combiner in MapReduce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833297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861ADC-0ECE-468B-90D6-B65742CB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Shuffle and Sort in MapReduce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EA378E-581E-425F-B9B4-738DAA1A286B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39"/>
          <a:stretch/>
        </p:blipFill>
        <p:spPr>
          <a:xfrm>
            <a:off x="338138" y="2098383"/>
            <a:ext cx="8386762" cy="406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382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1446</TotalTime>
  <Words>773</Words>
  <Application>Microsoft Office PowerPoint</Application>
  <PresentationFormat>On-screen Show (4:3)</PresentationFormat>
  <Paragraphs>103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-apple-system</vt:lpstr>
      <vt:lpstr>Arial</vt:lpstr>
      <vt:lpstr>Bahnschrift</vt:lpstr>
      <vt:lpstr>Bahnschrift 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What is Hadoop Partitioner</vt:lpstr>
      <vt:lpstr>What is Hadoop Partitioner</vt:lpstr>
      <vt:lpstr>What is Hadoop Partitioner</vt:lpstr>
      <vt:lpstr>What is Hadoop Partitioner</vt:lpstr>
      <vt:lpstr>What is Hadoop Partitioner</vt:lpstr>
      <vt:lpstr>What is Hadoop Partitioner.</vt:lpstr>
      <vt:lpstr>What is Hadoop Partitioner.</vt:lpstr>
      <vt:lpstr>What is Hadoop Partitioner.</vt:lpstr>
      <vt:lpstr>What is Hadoop Partitioner.</vt:lpstr>
      <vt:lpstr>Need of MapReduce Partitioner in Hadoop</vt:lpstr>
      <vt:lpstr>Need of MapReduce Partitioner in Hadoop</vt:lpstr>
      <vt:lpstr>Need of MapReduce Partitioner in Hadoop</vt:lpstr>
      <vt:lpstr>Need of MapReduce Partitioner in Hadoop</vt:lpstr>
      <vt:lpstr>Need of MapReduce Partitioner in Hadoop</vt:lpstr>
      <vt:lpstr>Need of MapReduce Partitioner in Hadoop</vt:lpstr>
      <vt:lpstr>Hadoop Default Partitioner</vt:lpstr>
      <vt:lpstr>How many Partitioner in Hadoop?</vt:lpstr>
      <vt:lpstr>Poor Partitioning in Hadoop MapReduce</vt:lpstr>
      <vt:lpstr>Poor Partitioning in Hadoop MapReduce</vt:lpstr>
      <vt:lpstr>Poor Partitioning in Hadoop MapReduce</vt:lpstr>
      <vt:lpstr>How to overcome poor partitioning in MapReduce?</vt:lpstr>
      <vt:lpstr>Hadoop Combiner  </vt:lpstr>
      <vt:lpstr>Introduction</vt:lpstr>
      <vt:lpstr>Hadoop Combiner</vt:lpstr>
      <vt:lpstr>Hadoop Combiner</vt:lpstr>
      <vt:lpstr>Hadoop Combiner</vt:lpstr>
      <vt:lpstr>Hadoop Combiner</vt:lpstr>
      <vt:lpstr>Hadoop Combiner</vt:lpstr>
      <vt:lpstr>Hadoop Combiner</vt:lpstr>
      <vt:lpstr>References</vt:lpstr>
      <vt:lpstr>Advantages of MapReduce Combiner</vt:lpstr>
      <vt:lpstr>Disadvantages of Hadoop combiner in MapReduce</vt:lpstr>
      <vt:lpstr>Disadvantages of Hadoop combiner in MapReduce</vt:lpstr>
      <vt:lpstr>Shuffle and Sort in MapReduce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122</cp:revision>
  <dcterms:created xsi:type="dcterms:W3CDTF">2021-05-13T17:45:44Z</dcterms:created>
  <dcterms:modified xsi:type="dcterms:W3CDTF">2021-08-17T09:54:10Z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822933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