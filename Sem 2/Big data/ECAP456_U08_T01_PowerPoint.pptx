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1"/>
  </p:handoutMasterIdLst>
  <p:sldIdLst>
    <p:sldId id="266" r:id="rId2"/>
    <p:sldId id="261" r:id="rId3"/>
    <p:sldId id="267" r:id="rId4"/>
    <p:sldId id="268" r:id="rId5"/>
    <p:sldId id="271" r:id="rId6"/>
    <p:sldId id="275" r:id="rId7"/>
    <p:sldId id="276" r:id="rId8"/>
    <p:sldId id="277" r:id="rId9"/>
    <p:sldId id="278" r:id="rId10"/>
    <p:sldId id="280" r:id="rId11"/>
    <p:sldId id="281" r:id="rId12"/>
    <p:sldId id="306" r:id="rId13"/>
    <p:sldId id="284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7" r:id="rId22"/>
    <p:sldId id="305" r:id="rId23"/>
    <p:sldId id="300" r:id="rId24"/>
    <p:sldId id="303" r:id="rId25"/>
    <p:sldId id="316" r:id="rId26"/>
    <p:sldId id="314" r:id="rId27"/>
    <p:sldId id="313" r:id="rId28"/>
    <p:sldId id="315" r:id="rId29"/>
    <p:sldId id="26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525A"/>
    <a:srgbClr val="4472C4"/>
    <a:srgbClr val="618495"/>
    <a:srgbClr val="44525B"/>
    <a:srgbClr val="072235"/>
    <a:srgbClr val="453A38"/>
    <a:srgbClr val="B8B192"/>
    <a:srgbClr val="473B39"/>
    <a:srgbClr val="30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 varScale="1">
        <p:scale>
          <a:sx n="76" d="100"/>
          <a:sy n="76" d="100"/>
        </p:scale>
        <p:origin x="7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FD1702-5D89-44D3-A2AA-0E935BD63007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A93678B-356B-4028-8AC6-69CE107B3520}">
      <dgm:prSet/>
      <dgm:spPr/>
      <dgm:t>
        <a:bodyPr/>
        <a:lstStyle/>
        <a:p>
          <a:r>
            <a:rPr lang="en-US" b="0" i="0" u="none" strike="noStrike" baseline="0" dirty="0">
              <a:latin typeface="Bahnschrift" panose="020B0502040204020203" pitchFamily="34" charset="0"/>
            </a:rPr>
            <a:t>There are two major pre-requisites for MapReduce programming. </a:t>
          </a:r>
        </a:p>
      </dgm:t>
    </dgm:pt>
    <dgm:pt modelId="{EEB0A519-75D0-415E-ACC0-7710C8B5809D}" type="parTrans" cxnId="{19AEE207-AFF5-4A55-B89E-032B94893FD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1A434B8-D3B0-49D3-B77B-6B050E51FDAB}" type="sibTrans" cxnId="{19AEE207-AFF5-4A55-B89E-032B94893FD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E440F111-937C-455D-8217-B8986145A81E}">
      <dgm:prSet/>
      <dgm:spPr/>
      <dgm:t>
        <a:bodyPr/>
        <a:lstStyle/>
        <a:p>
          <a:r>
            <a:rPr lang="en-US" b="0" i="0" u="none" strike="noStrike" baseline="0" dirty="0">
              <a:latin typeface="Bahnschrift" panose="020B0502040204020203" pitchFamily="34" charset="0"/>
            </a:rPr>
            <a:t>The application must lend itself to parallel programming. </a:t>
          </a:r>
        </a:p>
      </dgm:t>
    </dgm:pt>
    <dgm:pt modelId="{CE47EF29-D2D4-4D90-9B10-64A112FD3818}" type="parTrans" cxnId="{F9F92186-C96B-4961-9EEC-BD94658A165A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86393325-E379-49FF-9362-FDAD02774BCA}" type="sibTrans" cxnId="{F9F92186-C96B-4961-9EEC-BD94658A165A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3BAA2B5-C20B-4572-A19D-DFFAA991F6F8}">
      <dgm:prSet/>
      <dgm:spPr/>
      <dgm:t>
        <a:bodyPr/>
        <a:lstStyle/>
        <a:p>
          <a:r>
            <a:rPr lang="en-US" b="0" i="0" u="none" strike="noStrike" baseline="0" dirty="0">
              <a:latin typeface="Bahnschrift" panose="020B0502040204020203" pitchFamily="34" charset="0"/>
            </a:rPr>
            <a:t>The data for the applications can be </a:t>
          </a:r>
          <a:r>
            <a:rPr lang="en-IN" b="0" i="0" u="none" strike="noStrike" baseline="0" dirty="0">
              <a:latin typeface="Bahnschrift" panose="020B0502040204020203" pitchFamily="34" charset="0"/>
            </a:rPr>
            <a:t>expressed in key-value pairs</a:t>
          </a:r>
          <a:endParaRPr lang="en-IN" dirty="0">
            <a:latin typeface="Bahnschrift" panose="020B0502040204020203" pitchFamily="34" charset="0"/>
          </a:endParaRPr>
        </a:p>
      </dgm:t>
    </dgm:pt>
    <dgm:pt modelId="{7FB450EF-A11E-4D2F-B40C-8B0632EB8C26}" type="parTrans" cxnId="{4B292A0A-662A-4FE6-9307-14BC2F9580CD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55E12BE-949E-4362-BF2E-C514967E092B}" type="sibTrans" cxnId="{4B292A0A-662A-4FE6-9307-14BC2F9580CD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3CD209D5-F83B-4B04-975C-748BBB370D4A}" type="pres">
      <dgm:prSet presAssocID="{B9FD1702-5D89-44D3-A2AA-0E935BD6300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D4149FC-1BED-48D7-ACB9-EC624041FD08}" type="pres">
      <dgm:prSet presAssocID="{6A93678B-356B-4028-8AC6-69CE107B3520}" presName="root1" presStyleCnt="0"/>
      <dgm:spPr/>
    </dgm:pt>
    <dgm:pt modelId="{E7984D26-FDC7-48B8-8529-CFD998159EB3}" type="pres">
      <dgm:prSet presAssocID="{6A93678B-356B-4028-8AC6-69CE107B3520}" presName="LevelOneTextNode" presStyleLbl="node0" presStyleIdx="0" presStyleCnt="1">
        <dgm:presLayoutVars>
          <dgm:chPref val="3"/>
        </dgm:presLayoutVars>
      </dgm:prSet>
      <dgm:spPr/>
    </dgm:pt>
    <dgm:pt modelId="{8F4DC452-6672-4848-BD0C-241DE2DFED60}" type="pres">
      <dgm:prSet presAssocID="{6A93678B-356B-4028-8AC6-69CE107B3520}" presName="level2hierChild" presStyleCnt="0"/>
      <dgm:spPr/>
    </dgm:pt>
    <dgm:pt modelId="{8EC33A21-1C78-42BD-AC7A-83E9FB176CD1}" type="pres">
      <dgm:prSet presAssocID="{CE47EF29-D2D4-4D90-9B10-64A112FD3818}" presName="conn2-1" presStyleLbl="parChTrans1D2" presStyleIdx="0" presStyleCnt="2"/>
      <dgm:spPr/>
    </dgm:pt>
    <dgm:pt modelId="{D079BA30-9F40-4751-BAAD-D5956B533210}" type="pres">
      <dgm:prSet presAssocID="{CE47EF29-D2D4-4D90-9B10-64A112FD3818}" presName="connTx" presStyleLbl="parChTrans1D2" presStyleIdx="0" presStyleCnt="2"/>
      <dgm:spPr/>
    </dgm:pt>
    <dgm:pt modelId="{F8278496-3BFC-478F-B2A6-8ED2590C6A2A}" type="pres">
      <dgm:prSet presAssocID="{E440F111-937C-455D-8217-B8986145A81E}" presName="root2" presStyleCnt="0"/>
      <dgm:spPr/>
    </dgm:pt>
    <dgm:pt modelId="{99F548BF-2456-45D6-91E9-387B3566DDE9}" type="pres">
      <dgm:prSet presAssocID="{E440F111-937C-455D-8217-B8986145A81E}" presName="LevelTwoTextNode" presStyleLbl="node2" presStyleIdx="0" presStyleCnt="2" custScaleX="119922">
        <dgm:presLayoutVars>
          <dgm:chPref val="3"/>
        </dgm:presLayoutVars>
      </dgm:prSet>
      <dgm:spPr/>
    </dgm:pt>
    <dgm:pt modelId="{DBC1C64A-69D9-4ECC-8898-5F907972B86B}" type="pres">
      <dgm:prSet presAssocID="{E440F111-937C-455D-8217-B8986145A81E}" presName="level3hierChild" presStyleCnt="0"/>
      <dgm:spPr/>
    </dgm:pt>
    <dgm:pt modelId="{F50DD0FC-BC25-4DE2-867F-DCF649EB38A1}" type="pres">
      <dgm:prSet presAssocID="{7FB450EF-A11E-4D2F-B40C-8B0632EB8C26}" presName="conn2-1" presStyleLbl="parChTrans1D2" presStyleIdx="1" presStyleCnt="2"/>
      <dgm:spPr/>
    </dgm:pt>
    <dgm:pt modelId="{835EFA66-354A-4418-86AC-459066C3AEA2}" type="pres">
      <dgm:prSet presAssocID="{7FB450EF-A11E-4D2F-B40C-8B0632EB8C26}" presName="connTx" presStyleLbl="parChTrans1D2" presStyleIdx="1" presStyleCnt="2"/>
      <dgm:spPr/>
    </dgm:pt>
    <dgm:pt modelId="{868324A9-C9F1-4AEA-90E3-C686ACC28368}" type="pres">
      <dgm:prSet presAssocID="{93BAA2B5-C20B-4572-A19D-DFFAA991F6F8}" presName="root2" presStyleCnt="0"/>
      <dgm:spPr/>
    </dgm:pt>
    <dgm:pt modelId="{D8F7D974-D745-498F-9EC1-460A4FB1FC3C}" type="pres">
      <dgm:prSet presAssocID="{93BAA2B5-C20B-4572-A19D-DFFAA991F6F8}" presName="LevelTwoTextNode" presStyleLbl="node2" presStyleIdx="1" presStyleCnt="2" custScaleX="119922">
        <dgm:presLayoutVars>
          <dgm:chPref val="3"/>
        </dgm:presLayoutVars>
      </dgm:prSet>
      <dgm:spPr/>
    </dgm:pt>
    <dgm:pt modelId="{A6DCAD1A-81CB-4098-A5E9-758837EFC416}" type="pres">
      <dgm:prSet presAssocID="{93BAA2B5-C20B-4572-A19D-DFFAA991F6F8}" presName="level3hierChild" presStyleCnt="0"/>
      <dgm:spPr/>
    </dgm:pt>
  </dgm:ptLst>
  <dgm:cxnLst>
    <dgm:cxn modelId="{19AEE207-AFF5-4A55-B89E-032B94893FDF}" srcId="{B9FD1702-5D89-44D3-A2AA-0E935BD63007}" destId="{6A93678B-356B-4028-8AC6-69CE107B3520}" srcOrd="0" destOrd="0" parTransId="{EEB0A519-75D0-415E-ACC0-7710C8B5809D}" sibTransId="{D1A434B8-D3B0-49D3-B77B-6B050E51FDAB}"/>
    <dgm:cxn modelId="{4B292A0A-662A-4FE6-9307-14BC2F9580CD}" srcId="{6A93678B-356B-4028-8AC6-69CE107B3520}" destId="{93BAA2B5-C20B-4572-A19D-DFFAA991F6F8}" srcOrd="1" destOrd="0" parTransId="{7FB450EF-A11E-4D2F-B40C-8B0632EB8C26}" sibTransId="{D55E12BE-949E-4362-BF2E-C514967E092B}"/>
    <dgm:cxn modelId="{8F833C17-142D-405B-9BE4-8E39098510EE}" type="presOf" srcId="{E440F111-937C-455D-8217-B8986145A81E}" destId="{99F548BF-2456-45D6-91E9-387B3566DDE9}" srcOrd="0" destOrd="0" presId="urn:microsoft.com/office/officeart/2008/layout/HorizontalMultiLevelHierarchy"/>
    <dgm:cxn modelId="{41289B62-59A5-4AE5-97FE-E23687D919C4}" type="presOf" srcId="{7FB450EF-A11E-4D2F-B40C-8B0632EB8C26}" destId="{835EFA66-354A-4418-86AC-459066C3AEA2}" srcOrd="1" destOrd="0" presId="urn:microsoft.com/office/officeart/2008/layout/HorizontalMultiLevelHierarchy"/>
    <dgm:cxn modelId="{6E1E4A51-D7AA-4148-A7E4-D7243231B24D}" type="presOf" srcId="{7FB450EF-A11E-4D2F-B40C-8B0632EB8C26}" destId="{F50DD0FC-BC25-4DE2-867F-DCF649EB38A1}" srcOrd="0" destOrd="0" presId="urn:microsoft.com/office/officeart/2008/layout/HorizontalMultiLevelHierarchy"/>
    <dgm:cxn modelId="{11BAB553-3AD7-4EF9-9A30-D278D54E2683}" type="presOf" srcId="{93BAA2B5-C20B-4572-A19D-DFFAA991F6F8}" destId="{D8F7D974-D745-498F-9EC1-460A4FB1FC3C}" srcOrd="0" destOrd="0" presId="urn:microsoft.com/office/officeart/2008/layout/HorizontalMultiLevelHierarchy"/>
    <dgm:cxn modelId="{F9F92186-C96B-4961-9EEC-BD94658A165A}" srcId="{6A93678B-356B-4028-8AC6-69CE107B3520}" destId="{E440F111-937C-455D-8217-B8986145A81E}" srcOrd="0" destOrd="0" parTransId="{CE47EF29-D2D4-4D90-9B10-64A112FD3818}" sibTransId="{86393325-E379-49FF-9362-FDAD02774BCA}"/>
    <dgm:cxn modelId="{4A85CF93-B699-4DB7-A096-CF6BB8C9D3F2}" type="presOf" srcId="{6A93678B-356B-4028-8AC6-69CE107B3520}" destId="{E7984D26-FDC7-48B8-8529-CFD998159EB3}" srcOrd="0" destOrd="0" presId="urn:microsoft.com/office/officeart/2008/layout/HorizontalMultiLevelHierarchy"/>
    <dgm:cxn modelId="{AB716998-C832-4966-923A-97375E0A3A87}" type="presOf" srcId="{CE47EF29-D2D4-4D90-9B10-64A112FD3818}" destId="{D079BA30-9F40-4751-BAAD-D5956B533210}" srcOrd="1" destOrd="0" presId="urn:microsoft.com/office/officeart/2008/layout/HorizontalMultiLevelHierarchy"/>
    <dgm:cxn modelId="{1CCF2DCC-18AF-4352-BB9E-5935CC5743E8}" type="presOf" srcId="{B9FD1702-5D89-44D3-A2AA-0E935BD63007}" destId="{3CD209D5-F83B-4B04-975C-748BBB370D4A}" srcOrd="0" destOrd="0" presId="urn:microsoft.com/office/officeart/2008/layout/HorizontalMultiLevelHierarchy"/>
    <dgm:cxn modelId="{34478FEB-EDF0-4EEB-917A-FF5117A38023}" type="presOf" srcId="{CE47EF29-D2D4-4D90-9B10-64A112FD3818}" destId="{8EC33A21-1C78-42BD-AC7A-83E9FB176CD1}" srcOrd="0" destOrd="0" presId="urn:microsoft.com/office/officeart/2008/layout/HorizontalMultiLevelHierarchy"/>
    <dgm:cxn modelId="{30177B57-28D8-4B3A-B9E8-F6861D29A110}" type="presParOf" srcId="{3CD209D5-F83B-4B04-975C-748BBB370D4A}" destId="{AD4149FC-1BED-48D7-ACB9-EC624041FD08}" srcOrd="0" destOrd="0" presId="urn:microsoft.com/office/officeart/2008/layout/HorizontalMultiLevelHierarchy"/>
    <dgm:cxn modelId="{9E5EAB72-A07A-4C49-8933-7F1089813414}" type="presParOf" srcId="{AD4149FC-1BED-48D7-ACB9-EC624041FD08}" destId="{E7984D26-FDC7-48B8-8529-CFD998159EB3}" srcOrd="0" destOrd="0" presId="urn:microsoft.com/office/officeart/2008/layout/HorizontalMultiLevelHierarchy"/>
    <dgm:cxn modelId="{D1EA05BE-437F-4B16-A47C-9376172BE8CB}" type="presParOf" srcId="{AD4149FC-1BED-48D7-ACB9-EC624041FD08}" destId="{8F4DC452-6672-4848-BD0C-241DE2DFED60}" srcOrd="1" destOrd="0" presId="urn:microsoft.com/office/officeart/2008/layout/HorizontalMultiLevelHierarchy"/>
    <dgm:cxn modelId="{EA060930-2EE3-4047-A210-0F3507A17CAA}" type="presParOf" srcId="{8F4DC452-6672-4848-BD0C-241DE2DFED60}" destId="{8EC33A21-1C78-42BD-AC7A-83E9FB176CD1}" srcOrd="0" destOrd="0" presId="urn:microsoft.com/office/officeart/2008/layout/HorizontalMultiLevelHierarchy"/>
    <dgm:cxn modelId="{703AB249-0A0B-40F2-B07B-7527BCAE8152}" type="presParOf" srcId="{8EC33A21-1C78-42BD-AC7A-83E9FB176CD1}" destId="{D079BA30-9F40-4751-BAAD-D5956B533210}" srcOrd="0" destOrd="0" presId="urn:microsoft.com/office/officeart/2008/layout/HorizontalMultiLevelHierarchy"/>
    <dgm:cxn modelId="{D4401C08-57DB-4B94-B6F6-7263D159B3D1}" type="presParOf" srcId="{8F4DC452-6672-4848-BD0C-241DE2DFED60}" destId="{F8278496-3BFC-478F-B2A6-8ED2590C6A2A}" srcOrd="1" destOrd="0" presId="urn:microsoft.com/office/officeart/2008/layout/HorizontalMultiLevelHierarchy"/>
    <dgm:cxn modelId="{825FCCD4-A359-486F-8770-15FE749215FF}" type="presParOf" srcId="{F8278496-3BFC-478F-B2A6-8ED2590C6A2A}" destId="{99F548BF-2456-45D6-91E9-387B3566DDE9}" srcOrd="0" destOrd="0" presId="urn:microsoft.com/office/officeart/2008/layout/HorizontalMultiLevelHierarchy"/>
    <dgm:cxn modelId="{03D5C65F-39B7-491E-BD27-45F4A11214A0}" type="presParOf" srcId="{F8278496-3BFC-478F-B2A6-8ED2590C6A2A}" destId="{DBC1C64A-69D9-4ECC-8898-5F907972B86B}" srcOrd="1" destOrd="0" presId="urn:microsoft.com/office/officeart/2008/layout/HorizontalMultiLevelHierarchy"/>
    <dgm:cxn modelId="{D9C99490-50BA-4A23-A185-11B4021A158D}" type="presParOf" srcId="{8F4DC452-6672-4848-BD0C-241DE2DFED60}" destId="{F50DD0FC-BC25-4DE2-867F-DCF649EB38A1}" srcOrd="2" destOrd="0" presId="urn:microsoft.com/office/officeart/2008/layout/HorizontalMultiLevelHierarchy"/>
    <dgm:cxn modelId="{BDADCB42-6036-449C-ADCB-EB1172184670}" type="presParOf" srcId="{F50DD0FC-BC25-4DE2-867F-DCF649EB38A1}" destId="{835EFA66-354A-4418-86AC-459066C3AEA2}" srcOrd="0" destOrd="0" presId="urn:microsoft.com/office/officeart/2008/layout/HorizontalMultiLevelHierarchy"/>
    <dgm:cxn modelId="{D1BB2788-FB0E-414E-853B-56CAD6288324}" type="presParOf" srcId="{8F4DC452-6672-4848-BD0C-241DE2DFED60}" destId="{868324A9-C9F1-4AEA-90E3-C686ACC28368}" srcOrd="3" destOrd="0" presId="urn:microsoft.com/office/officeart/2008/layout/HorizontalMultiLevelHierarchy"/>
    <dgm:cxn modelId="{3C3328EC-69DF-4EF0-8410-16DF06138F6A}" type="presParOf" srcId="{868324A9-C9F1-4AEA-90E3-C686ACC28368}" destId="{D8F7D974-D745-498F-9EC1-460A4FB1FC3C}" srcOrd="0" destOrd="0" presId="urn:microsoft.com/office/officeart/2008/layout/HorizontalMultiLevelHierarchy"/>
    <dgm:cxn modelId="{C80E49D9-3035-4459-919E-72FEB09EC9A6}" type="presParOf" srcId="{868324A9-C9F1-4AEA-90E3-C686ACC28368}" destId="{A6DCAD1A-81CB-4098-A5E9-758837EFC41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0DD0FC-BC25-4DE2-867F-DCF649EB38A1}">
      <dsp:nvSpPr>
        <dsp:cNvPr id="0" name=""/>
        <dsp:cNvSpPr/>
      </dsp:nvSpPr>
      <dsp:spPr>
        <a:xfrm>
          <a:off x="2072569" y="2634807"/>
          <a:ext cx="656804" cy="6257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8402" y="0"/>
              </a:lnTo>
              <a:lnTo>
                <a:pt x="328402" y="625766"/>
              </a:lnTo>
              <a:lnTo>
                <a:pt x="656804" y="62576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2378292" y="2925010"/>
        <a:ext cx="45359" cy="45359"/>
      </dsp:txXfrm>
    </dsp:sp>
    <dsp:sp modelId="{8EC33A21-1C78-42BD-AC7A-83E9FB176CD1}">
      <dsp:nvSpPr>
        <dsp:cNvPr id="0" name=""/>
        <dsp:cNvSpPr/>
      </dsp:nvSpPr>
      <dsp:spPr>
        <a:xfrm>
          <a:off x="2072569" y="2009040"/>
          <a:ext cx="656804" cy="625766"/>
        </a:xfrm>
        <a:custGeom>
          <a:avLst/>
          <a:gdLst/>
          <a:ahLst/>
          <a:cxnLst/>
          <a:rect l="0" t="0" r="0" b="0"/>
          <a:pathLst>
            <a:path>
              <a:moveTo>
                <a:pt x="0" y="625766"/>
              </a:moveTo>
              <a:lnTo>
                <a:pt x="328402" y="625766"/>
              </a:lnTo>
              <a:lnTo>
                <a:pt x="328402" y="0"/>
              </a:lnTo>
              <a:lnTo>
                <a:pt x="656804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2378292" y="2299244"/>
        <a:ext cx="45359" cy="45359"/>
      </dsp:txXfrm>
    </dsp:sp>
    <dsp:sp modelId="{E7984D26-FDC7-48B8-8529-CFD998159EB3}">
      <dsp:nvSpPr>
        <dsp:cNvPr id="0" name=""/>
        <dsp:cNvSpPr/>
      </dsp:nvSpPr>
      <dsp:spPr>
        <a:xfrm rot="16200000">
          <a:off x="-1062850" y="2134193"/>
          <a:ext cx="5269614" cy="100122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u="none" strike="noStrike" kern="1200" baseline="0" dirty="0">
              <a:latin typeface="Bahnschrift" panose="020B0502040204020203" pitchFamily="34" charset="0"/>
            </a:rPr>
            <a:t>There are two major pre-requisites for MapReduce programming. </a:t>
          </a:r>
        </a:p>
      </dsp:txBody>
      <dsp:txXfrm>
        <a:off x="-1062850" y="2134193"/>
        <a:ext cx="5269614" cy="1001226"/>
      </dsp:txXfrm>
    </dsp:sp>
    <dsp:sp modelId="{99F548BF-2456-45D6-91E9-387B3566DDE9}">
      <dsp:nvSpPr>
        <dsp:cNvPr id="0" name=""/>
        <dsp:cNvSpPr/>
      </dsp:nvSpPr>
      <dsp:spPr>
        <a:xfrm>
          <a:off x="2729374" y="1508427"/>
          <a:ext cx="3938266" cy="100122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u="none" strike="noStrike" kern="1200" baseline="0" dirty="0">
              <a:latin typeface="Bahnschrift" panose="020B0502040204020203" pitchFamily="34" charset="0"/>
            </a:rPr>
            <a:t>The application must lend itself to parallel programming. </a:t>
          </a:r>
        </a:p>
      </dsp:txBody>
      <dsp:txXfrm>
        <a:off x="2729374" y="1508427"/>
        <a:ext cx="3938266" cy="1001226"/>
      </dsp:txXfrm>
    </dsp:sp>
    <dsp:sp modelId="{D8F7D974-D745-498F-9EC1-460A4FB1FC3C}">
      <dsp:nvSpPr>
        <dsp:cNvPr id="0" name=""/>
        <dsp:cNvSpPr/>
      </dsp:nvSpPr>
      <dsp:spPr>
        <a:xfrm>
          <a:off x="2729374" y="2759960"/>
          <a:ext cx="3938266" cy="100122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u="none" strike="noStrike" kern="1200" baseline="0" dirty="0">
              <a:latin typeface="Bahnschrift" panose="020B0502040204020203" pitchFamily="34" charset="0"/>
            </a:rPr>
            <a:t>The data for the applications can be </a:t>
          </a:r>
          <a:r>
            <a:rPr lang="en-IN" sz="2200" b="0" i="0" u="none" strike="noStrike" kern="1200" baseline="0" dirty="0">
              <a:latin typeface="Bahnschrift" panose="020B0502040204020203" pitchFamily="34" charset="0"/>
            </a:rPr>
            <a:t>expressed in key-value pairs</a:t>
          </a:r>
          <a:endParaRPr lang="en-IN" sz="2200" kern="1200" dirty="0">
            <a:latin typeface="Bahnschrift" panose="020B0502040204020203" pitchFamily="34" charset="0"/>
          </a:endParaRPr>
        </a:p>
      </dsp:txBody>
      <dsp:txXfrm>
        <a:off x="2729374" y="2759960"/>
        <a:ext cx="3938266" cy="1001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6" y="2848295"/>
            <a:ext cx="6476575" cy="3773150"/>
          </a:xfrm>
        </p:spPr>
        <p:txBody>
          <a:bodyPr/>
          <a:lstStyle/>
          <a:p>
            <a:pPr algn="just"/>
            <a:r>
              <a:rPr lang="en-US" dirty="0"/>
              <a:t>learn Hadoop-MapReduce</a:t>
            </a:r>
          </a:p>
          <a:p>
            <a:pPr algn="just"/>
            <a:r>
              <a:rPr lang="en-IN" dirty="0">
                <a:solidFill>
                  <a:srgbClr val="000000"/>
                </a:solidFill>
              </a:rPr>
              <a:t>l</a:t>
            </a:r>
            <a:r>
              <a:rPr lang="en-IN" b="0" i="0" dirty="0">
                <a:solidFill>
                  <a:srgbClr val="000000"/>
                </a:solidFill>
                <a:effectLst/>
              </a:rPr>
              <a:t>earn Hadoop – Streaming</a:t>
            </a:r>
            <a:endParaRPr lang="en-US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4D9F4A-A7CD-40C4-8B50-5DC1F6C1F66F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r="63"/>
          <a:stretch/>
        </p:blipFill>
        <p:spPr>
          <a:xfrm>
            <a:off x="1640184" y="1884660"/>
            <a:ext cx="6035082" cy="34671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dirty="0"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14579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9E4A8D2-2A17-4EA2-818B-BCCDCC9663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6606308"/>
              </p:ext>
            </p:extLst>
          </p:nvPr>
        </p:nvGraphicFramePr>
        <p:xfrm>
          <a:off x="788233" y="1482060"/>
          <a:ext cx="7738984" cy="5269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5196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7D8A66-1222-4493-88B1-8ABCBEC96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b="0" i="0" u="none" strike="noStrike" baseline="0" dirty="0"/>
              <a:t>MapReduce processing is similar to UNIX sequence (also called pipe) structure</a:t>
            </a:r>
          </a:p>
          <a:p>
            <a:pPr marL="0" indent="0" algn="just">
              <a:buNone/>
            </a:pPr>
            <a:r>
              <a:rPr lang="en-US" sz="2600" b="0" i="0" u="none" strike="noStrike" baseline="0" dirty="0"/>
              <a:t>e.g. the UNIX command:</a:t>
            </a:r>
          </a:p>
          <a:p>
            <a:pPr marL="0" indent="0" algn="ctr">
              <a:buNone/>
            </a:pPr>
            <a:r>
              <a:rPr lang="en-US" sz="2600" b="0" i="0" u="none" strike="noStrike" baseline="0" dirty="0"/>
              <a:t>grep | sort | count myfile.txt</a:t>
            </a:r>
          </a:p>
          <a:p>
            <a:pPr marL="0" indent="0" algn="ctr">
              <a:buNone/>
            </a:pPr>
            <a:r>
              <a:rPr lang="en-US" sz="2600" b="0" i="0" u="none" strike="noStrike" baseline="0" dirty="0"/>
              <a:t>will produce a wordcount in the text document called file1.txt.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0A8D43-3424-401D-9409-23447DEF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7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A7FEE1-9BEE-49E2-83AE-E37EEEFAF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600" b="0" i="0" u="none" strike="noStrike" baseline="0" dirty="0"/>
              <a:t>For example: Suppose file1.txt contains the following text:</a:t>
            </a:r>
          </a:p>
          <a:p>
            <a:pPr marL="0" indent="0" algn="l">
              <a:buNone/>
            </a:pPr>
            <a:r>
              <a:rPr lang="en-US" sz="2600" b="0" i="0" u="none" strike="noStrike" baseline="0" dirty="0"/>
              <a:t>file1: We are going to a picnic near our house. Many of our friends are coming.</a:t>
            </a:r>
          </a:p>
          <a:p>
            <a:pPr marL="0" indent="0" algn="l">
              <a:buNone/>
            </a:pPr>
            <a:r>
              <a:rPr lang="en-US" sz="2600" b="0" i="0" u="none" strike="noStrike" baseline="0" dirty="0"/>
              <a:t>You are welcome to join us. We will have fun.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36D9B-32F7-4EAF-9848-7C92C0D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60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A7FEE1-9BEE-49E2-83AE-E37EEEFAF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2" y="1325563"/>
            <a:ext cx="8554778" cy="530746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u="none" strike="noStrike" baseline="0" dirty="0"/>
              <a:t>The outputs of Grep, Sort and Wordcount will be as follows:</a:t>
            </a: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36D9B-32F7-4EAF-9848-7C92C0D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75A022-00DF-4365-9763-864111738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17758"/>
              </p:ext>
            </p:extLst>
          </p:nvPr>
        </p:nvGraphicFramePr>
        <p:xfrm>
          <a:off x="419101" y="2016833"/>
          <a:ext cx="1213990" cy="46161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3990">
                  <a:extLst>
                    <a:ext uri="{9D8B030D-6E8A-4147-A177-3AD203B41FA5}">
                      <a16:colId xmlns:a16="http://schemas.microsoft.com/office/drawing/2014/main" val="3604762987"/>
                    </a:ext>
                  </a:extLst>
                </a:gridCol>
              </a:tblGrid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Grep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61248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We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828885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Are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801380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Going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274092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To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139177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74115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Picnic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598993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Near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38783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Our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196561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House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44991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Many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31319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Of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08357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Our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3060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C724FC-2617-484B-911F-CA2AF4AD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420570"/>
              </p:ext>
            </p:extLst>
          </p:nvPr>
        </p:nvGraphicFramePr>
        <p:xfrm>
          <a:off x="2996021" y="2273050"/>
          <a:ext cx="1373478" cy="448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3478">
                  <a:extLst>
                    <a:ext uri="{9D8B030D-6E8A-4147-A177-3AD203B41FA5}">
                      <a16:colId xmlns:a16="http://schemas.microsoft.com/office/drawing/2014/main" val="1233872056"/>
                    </a:ext>
                  </a:extLst>
                </a:gridCol>
              </a:tblGrid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Grep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846900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Friends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086458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Are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09545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Coming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69852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You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24422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Are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71784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Welcome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148610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To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37721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Join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1019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Us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55484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We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44083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Will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7207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Have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632227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fun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57267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0F64DC21-1207-4254-A87E-63E05E1FD490}"/>
              </a:ext>
            </a:extLst>
          </p:cNvPr>
          <p:cNvGrpSpPr/>
          <p:nvPr/>
        </p:nvGrpSpPr>
        <p:grpSpPr>
          <a:xfrm>
            <a:off x="1633091" y="2016833"/>
            <a:ext cx="2049669" cy="4445374"/>
            <a:chOff x="1633091" y="2016833"/>
            <a:chExt cx="2049669" cy="4445374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873E574-D1BD-4F2E-BB52-41EC961551A4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682760" y="2016833"/>
              <a:ext cx="0" cy="2562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AA7DE90-6865-4C56-B8D8-F580B89584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7510" y="2016833"/>
              <a:ext cx="1295250" cy="0"/>
            </a:xfrm>
            <a:prstGeom prst="line">
              <a:avLst/>
            </a:prstGeom>
            <a:ln w="28575">
              <a:solidFill>
                <a:srgbClr val="44525A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45B1C88-F08A-4237-B70B-855214B4DFD7}"/>
                </a:ext>
              </a:extLst>
            </p:cNvPr>
            <p:cNvCxnSpPr>
              <a:cxnSpLocks/>
            </p:cNvCxnSpPr>
            <p:nvPr/>
          </p:nvCxnSpPr>
          <p:spPr>
            <a:xfrm>
              <a:off x="2387509" y="2016834"/>
              <a:ext cx="24903" cy="4445373"/>
            </a:xfrm>
            <a:prstGeom prst="line">
              <a:avLst/>
            </a:prstGeom>
            <a:ln w="28575">
              <a:solidFill>
                <a:srgbClr val="44525A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2E5694E-8596-4E7D-B1C7-6E9142E531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3091" y="6462207"/>
              <a:ext cx="804223" cy="0"/>
            </a:xfrm>
            <a:prstGeom prst="line">
              <a:avLst/>
            </a:prstGeom>
            <a:ln w="28575">
              <a:solidFill>
                <a:srgbClr val="4452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251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A7FEE1-9BEE-49E2-83AE-E37EEEFAF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2" y="1325563"/>
            <a:ext cx="8554778" cy="530746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u="none" strike="noStrike" baseline="0" dirty="0"/>
              <a:t>The outputs of Grep, Sort and Wordcount will be as follows:</a:t>
            </a: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36D9B-32F7-4EAF-9848-7C92C0D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75A022-00DF-4365-9763-864111738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422722"/>
              </p:ext>
            </p:extLst>
          </p:nvPr>
        </p:nvGraphicFramePr>
        <p:xfrm>
          <a:off x="419101" y="2016833"/>
          <a:ext cx="1213990" cy="46161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3990">
                  <a:extLst>
                    <a:ext uri="{9D8B030D-6E8A-4147-A177-3AD203B41FA5}">
                      <a16:colId xmlns:a16="http://schemas.microsoft.com/office/drawing/2014/main" val="3604762987"/>
                    </a:ext>
                  </a:extLst>
                </a:gridCol>
              </a:tblGrid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Sort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61248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828885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Are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801380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Are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274092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Are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139177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Coming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74115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Friends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598993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Fun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38783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Going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196561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Have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44991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House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31319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Join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08357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Many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3060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C724FC-2617-484B-911F-CA2AF4AD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02074"/>
              </p:ext>
            </p:extLst>
          </p:nvPr>
        </p:nvGraphicFramePr>
        <p:xfrm>
          <a:off x="2996021" y="2255457"/>
          <a:ext cx="1373478" cy="448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3478">
                  <a:extLst>
                    <a:ext uri="{9D8B030D-6E8A-4147-A177-3AD203B41FA5}">
                      <a16:colId xmlns:a16="http://schemas.microsoft.com/office/drawing/2014/main" val="1233872056"/>
                    </a:ext>
                  </a:extLst>
                </a:gridCol>
              </a:tblGrid>
              <a:tr h="27412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Sort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846900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Near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09545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Of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69852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Our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24422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Our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71784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Picnic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148610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To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37721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To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1019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Us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55484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We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44083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7207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Welcome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632227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Will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572672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You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77352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402ACDC-54BA-4BFF-A5F5-2216F8CB4F5D}"/>
              </a:ext>
            </a:extLst>
          </p:cNvPr>
          <p:cNvGrpSpPr/>
          <p:nvPr/>
        </p:nvGrpSpPr>
        <p:grpSpPr>
          <a:xfrm>
            <a:off x="1633091" y="2016833"/>
            <a:ext cx="2049669" cy="4445374"/>
            <a:chOff x="1633091" y="2016833"/>
            <a:chExt cx="2049669" cy="444537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D016C92-6E0B-45DF-AD97-E6BDAFCBF17E}"/>
                </a:ext>
              </a:extLst>
            </p:cNvPr>
            <p:cNvCxnSpPr>
              <a:cxnSpLocks/>
            </p:cNvCxnSpPr>
            <p:nvPr/>
          </p:nvCxnSpPr>
          <p:spPr>
            <a:xfrm>
              <a:off x="3682760" y="2016833"/>
              <a:ext cx="0" cy="2562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00556B-7502-4CF4-B418-2CF0813FD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7510" y="2016833"/>
              <a:ext cx="1295250" cy="0"/>
            </a:xfrm>
            <a:prstGeom prst="line">
              <a:avLst/>
            </a:prstGeom>
            <a:ln w="28575">
              <a:solidFill>
                <a:srgbClr val="44525A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54CD1F-F933-46EB-BCC6-11B83B63D55A}"/>
                </a:ext>
              </a:extLst>
            </p:cNvPr>
            <p:cNvCxnSpPr>
              <a:cxnSpLocks/>
            </p:cNvCxnSpPr>
            <p:nvPr/>
          </p:nvCxnSpPr>
          <p:spPr>
            <a:xfrm>
              <a:off x="2387509" y="2016834"/>
              <a:ext cx="24903" cy="4445373"/>
            </a:xfrm>
            <a:prstGeom prst="line">
              <a:avLst/>
            </a:prstGeom>
            <a:ln w="28575">
              <a:solidFill>
                <a:srgbClr val="44525A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CF6F42-A7D8-4442-98AF-C33AA4DD6A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3091" y="6462207"/>
              <a:ext cx="804223" cy="0"/>
            </a:xfrm>
            <a:prstGeom prst="line">
              <a:avLst/>
            </a:prstGeom>
            <a:ln w="28575">
              <a:solidFill>
                <a:srgbClr val="4452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06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A7FEE1-9BEE-49E2-83AE-E37EEEFAF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22" y="1325563"/>
            <a:ext cx="8554778" cy="530746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u="none" strike="noStrike" baseline="0" dirty="0"/>
              <a:t>The outputs of Grep, Sort and Wordcount will be as follows:</a:t>
            </a: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36D9B-32F7-4EAF-9848-7C92C0D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75A022-00DF-4365-9763-864111738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784600"/>
              </p:ext>
            </p:extLst>
          </p:nvPr>
        </p:nvGraphicFramePr>
        <p:xfrm>
          <a:off x="419100" y="2016833"/>
          <a:ext cx="1745714" cy="46161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2857">
                  <a:extLst>
                    <a:ext uri="{9D8B030D-6E8A-4147-A177-3AD203B41FA5}">
                      <a16:colId xmlns:a16="http://schemas.microsoft.com/office/drawing/2014/main" val="3604762987"/>
                    </a:ext>
                  </a:extLst>
                </a:gridCol>
                <a:gridCol w="872857">
                  <a:extLst>
                    <a:ext uri="{9D8B030D-6E8A-4147-A177-3AD203B41FA5}">
                      <a16:colId xmlns:a16="http://schemas.microsoft.com/office/drawing/2014/main" val="3289813995"/>
                    </a:ext>
                  </a:extLst>
                </a:gridCol>
              </a:tblGrid>
              <a:tr h="52656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Bahnschrift" panose="020B0502040204020203" pitchFamily="34" charset="0"/>
                        </a:rPr>
                        <a:t>Word Count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61248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A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828885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Are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3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801380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Coming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274092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Friends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139177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Fun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74115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Going 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598993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Have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38783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House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196561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Join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44991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Many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31319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Near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208357"/>
                  </a:ext>
                </a:extLst>
              </a:tr>
              <a:tr h="340803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Of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3060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C724FC-2617-484B-911F-CA2AF4AD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379438"/>
              </p:ext>
            </p:extLst>
          </p:nvPr>
        </p:nvGraphicFramePr>
        <p:xfrm>
          <a:off x="3221665" y="1851053"/>
          <a:ext cx="1828800" cy="31189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0093">
                  <a:extLst>
                    <a:ext uri="{9D8B030D-6E8A-4147-A177-3AD203B41FA5}">
                      <a16:colId xmlns:a16="http://schemas.microsoft.com/office/drawing/2014/main" val="1233872056"/>
                    </a:ext>
                  </a:extLst>
                </a:gridCol>
                <a:gridCol w="818707">
                  <a:extLst>
                    <a:ext uri="{9D8B030D-6E8A-4147-A177-3AD203B41FA5}">
                      <a16:colId xmlns:a16="http://schemas.microsoft.com/office/drawing/2014/main" val="1361563313"/>
                    </a:ext>
                  </a:extLst>
                </a:gridCol>
              </a:tblGrid>
              <a:tr h="43933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latin typeface="Bahnschrift" panose="020B0502040204020203" pitchFamily="34" charset="0"/>
                        </a:rPr>
                        <a:t>WordCount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846900"/>
                  </a:ext>
                </a:extLst>
              </a:tr>
              <a:tr h="295699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Our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2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09545"/>
                  </a:ext>
                </a:extLst>
              </a:tr>
              <a:tr h="295699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Picnic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69852"/>
                  </a:ext>
                </a:extLst>
              </a:tr>
              <a:tr h="295699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To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2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24422"/>
                  </a:ext>
                </a:extLst>
              </a:tr>
              <a:tr h="295699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Us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71784"/>
                  </a:ext>
                </a:extLst>
              </a:tr>
              <a:tr h="439338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We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2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148610"/>
                  </a:ext>
                </a:extLst>
              </a:tr>
              <a:tr h="295699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Welcome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37721"/>
                  </a:ext>
                </a:extLst>
              </a:tr>
              <a:tr h="295699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Will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31019"/>
                  </a:ext>
                </a:extLst>
              </a:tr>
              <a:tr h="295699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you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Bahnschrift" panose="020B0502040204020203" pitchFamily="34" charset="0"/>
                        </a:rPr>
                        <a:t>1</a:t>
                      </a:r>
                      <a:endParaRPr lang="en-IN" sz="15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5548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73E574-D1BD-4F2E-BB52-41EC961551A4}"/>
              </a:ext>
            </a:extLst>
          </p:cNvPr>
          <p:cNvCxnSpPr>
            <a:cxnSpLocks/>
          </p:cNvCxnSpPr>
          <p:nvPr/>
        </p:nvCxnSpPr>
        <p:spPr>
          <a:xfrm>
            <a:off x="2657818" y="2016833"/>
            <a:ext cx="5851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5B1C88-F08A-4237-B70B-855214B4DFD7}"/>
              </a:ext>
            </a:extLst>
          </p:cNvPr>
          <p:cNvCxnSpPr>
            <a:cxnSpLocks/>
          </p:cNvCxnSpPr>
          <p:nvPr/>
        </p:nvCxnSpPr>
        <p:spPr>
          <a:xfrm>
            <a:off x="2657818" y="2005794"/>
            <a:ext cx="10775" cy="4485441"/>
          </a:xfrm>
          <a:prstGeom prst="line">
            <a:avLst/>
          </a:prstGeom>
          <a:ln w="28575">
            <a:solidFill>
              <a:srgbClr val="44525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E5694E-8596-4E7D-B1C7-6E9142E53157}"/>
              </a:ext>
            </a:extLst>
          </p:cNvPr>
          <p:cNvCxnSpPr>
            <a:cxnSpLocks/>
          </p:cNvCxnSpPr>
          <p:nvPr/>
        </p:nvCxnSpPr>
        <p:spPr>
          <a:xfrm flipH="1">
            <a:off x="2164814" y="6491235"/>
            <a:ext cx="503779" cy="1"/>
          </a:xfrm>
          <a:prstGeom prst="line">
            <a:avLst/>
          </a:prstGeom>
          <a:ln w="28575">
            <a:solidFill>
              <a:srgbClr val="4452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024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72A809-2594-4737-A902-8A935AB5D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456660"/>
            <a:ext cx="8501615" cy="5176369"/>
          </a:xfrm>
        </p:spPr>
        <p:txBody>
          <a:bodyPr>
            <a:noAutofit/>
          </a:bodyPr>
          <a:lstStyle/>
          <a:p>
            <a:r>
              <a:rPr lang="en-US" sz="2400" b="0" i="0" u="none" strike="noStrike" baseline="0" dirty="0"/>
              <a:t>If the file is very large, then ________________</a:t>
            </a:r>
          </a:p>
          <a:p>
            <a:r>
              <a:rPr lang="en-US" sz="2400" b="0" i="0" u="none" strike="noStrike" baseline="0" dirty="0"/>
              <a:t> __________   can help here. </a:t>
            </a:r>
          </a:p>
          <a:p>
            <a:r>
              <a:rPr lang="en-US" sz="2400" dirty="0"/>
              <a:t>S</a:t>
            </a:r>
            <a:r>
              <a:rPr lang="en-US" sz="2400" b="0" i="0" u="none" strike="noStrike" baseline="0" dirty="0"/>
              <a:t>peeds up the computation. </a:t>
            </a:r>
          </a:p>
          <a:p>
            <a:pPr marL="0" indent="0" algn="l">
              <a:buNone/>
            </a:pPr>
            <a:r>
              <a:rPr lang="en-US" sz="2400" dirty="0"/>
              <a:t> </a:t>
            </a:r>
            <a:r>
              <a:rPr lang="en-US" sz="2400" b="1" u="sng" dirty="0"/>
              <a:t>Example:</a:t>
            </a:r>
            <a:r>
              <a:rPr lang="en-US" sz="2400" dirty="0"/>
              <a:t> </a:t>
            </a:r>
            <a:r>
              <a:rPr lang="en-US" sz="2400" b="0" i="0" u="none" strike="noStrike" baseline="0" dirty="0"/>
              <a:t>Thus if a file can be broken down into 100 small chunks.</a:t>
            </a:r>
          </a:p>
          <a:p>
            <a:pPr marL="0" indent="0" algn="ctr">
              <a:buNone/>
            </a:pPr>
            <a:r>
              <a:rPr lang="en-US" sz="2400" b="0" i="0" u="none" strike="noStrike" baseline="0" dirty="0"/>
              <a:t>The total time taken = 1/100 </a:t>
            </a:r>
          </a:p>
          <a:p>
            <a:pPr marL="0" indent="0" algn="l">
              <a:buNone/>
            </a:pPr>
            <a:r>
              <a:rPr lang="en-US" sz="2400" b="0" i="0" u="none" strike="noStrike" baseline="0" dirty="0"/>
              <a:t>Results of the computation on small chunks are residing in a 100 different places. 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911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84F62-566C-406B-85EF-C8F3504E193D}"/>
              </a:ext>
            </a:extLst>
          </p:cNvPr>
          <p:cNvSpPr/>
          <p:nvPr/>
        </p:nvSpPr>
        <p:spPr>
          <a:xfrm>
            <a:off x="978195" y="3253563"/>
            <a:ext cx="1903228" cy="15204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Combine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81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6C3DCD9-6655-4274-ACE2-E02A373892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47152" y="3419365"/>
          <a:ext cx="2139248" cy="118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248">
                  <a:extLst>
                    <a:ext uri="{9D8B030D-6E8A-4147-A177-3AD203B41FA5}">
                      <a16:colId xmlns:a16="http://schemas.microsoft.com/office/drawing/2014/main" val="954897939"/>
                    </a:ext>
                  </a:extLst>
                </a:gridCol>
              </a:tblGrid>
              <a:tr h="39628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Shuffle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198219"/>
                  </a:ext>
                </a:extLst>
              </a:tr>
              <a:tr h="39628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And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464003"/>
                  </a:ext>
                </a:extLst>
              </a:tr>
              <a:tr h="39628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Sort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96109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0484F62-566C-406B-85EF-C8F3504E193D}"/>
              </a:ext>
            </a:extLst>
          </p:cNvPr>
          <p:cNvSpPr/>
          <p:nvPr/>
        </p:nvSpPr>
        <p:spPr>
          <a:xfrm>
            <a:off x="978195" y="3253563"/>
            <a:ext cx="1903228" cy="15204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Combine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217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6C3DCD9-6655-4274-ACE2-E02A373892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47152" y="3419365"/>
          <a:ext cx="2139248" cy="118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248">
                  <a:extLst>
                    <a:ext uri="{9D8B030D-6E8A-4147-A177-3AD203B41FA5}">
                      <a16:colId xmlns:a16="http://schemas.microsoft.com/office/drawing/2014/main" val="954897939"/>
                    </a:ext>
                  </a:extLst>
                </a:gridCol>
              </a:tblGrid>
              <a:tr h="39628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Shuffle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198219"/>
                  </a:ext>
                </a:extLst>
              </a:tr>
              <a:tr h="39628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And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464003"/>
                  </a:ext>
                </a:extLst>
              </a:tr>
              <a:tr h="39628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Sort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96109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0484F62-566C-406B-85EF-C8F3504E193D}"/>
              </a:ext>
            </a:extLst>
          </p:cNvPr>
          <p:cNvSpPr/>
          <p:nvPr/>
        </p:nvSpPr>
        <p:spPr>
          <a:xfrm>
            <a:off x="978195" y="3253563"/>
            <a:ext cx="1903228" cy="15204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Combine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C1454-A657-4AC9-B736-CF5A32823C8D}"/>
              </a:ext>
            </a:extLst>
          </p:cNvPr>
          <p:cNvSpPr/>
          <p:nvPr/>
        </p:nvSpPr>
        <p:spPr>
          <a:xfrm>
            <a:off x="6383078" y="3253563"/>
            <a:ext cx="1903228" cy="15204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Reduce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07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84F62-566C-406B-85EF-C8F3504E193D}"/>
              </a:ext>
            </a:extLst>
          </p:cNvPr>
          <p:cNvSpPr/>
          <p:nvPr/>
        </p:nvSpPr>
        <p:spPr>
          <a:xfrm>
            <a:off x="435935" y="3253563"/>
            <a:ext cx="2445488" cy="15204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 bear river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Car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 Car Bear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B81C3-348D-4962-B7D7-D5FBFB9133F8}"/>
              </a:ext>
            </a:extLst>
          </p:cNvPr>
          <p:cNvSpPr txBox="1"/>
          <p:nvPr/>
        </p:nvSpPr>
        <p:spPr>
          <a:xfrm>
            <a:off x="669851" y="1807535"/>
            <a:ext cx="1892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Input</a:t>
            </a:r>
            <a:endParaRPr lang="en-IN" sz="2000" dirty="0"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AEED4-F2C0-4803-8EF1-C07F4D10A1DD}"/>
              </a:ext>
            </a:extLst>
          </p:cNvPr>
          <p:cNvSpPr/>
          <p:nvPr/>
        </p:nvSpPr>
        <p:spPr>
          <a:xfrm>
            <a:off x="0" y="6379535"/>
            <a:ext cx="9037674" cy="32248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References: https://www.edupristine.com/blog/hadoop-mapreduce-framework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11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84F62-566C-406B-85EF-C8F3504E193D}"/>
              </a:ext>
            </a:extLst>
          </p:cNvPr>
          <p:cNvSpPr/>
          <p:nvPr/>
        </p:nvSpPr>
        <p:spPr>
          <a:xfrm>
            <a:off x="255182" y="3160678"/>
            <a:ext cx="2030818" cy="1325563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 bear river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Car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 Car Bear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B81C3-348D-4962-B7D7-D5FBFB9133F8}"/>
              </a:ext>
            </a:extLst>
          </p:cNvPr>
          <p:cNvSpPr txBox="1"/>
          <p:nvPr/>
        </p:nvSpPr>
        <p:spPr>
          <a:xfrm>
            <a:off x="669851" y="1807535"/>
            <a:ext cx="1041991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Input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3BDB9-2102-44E0-AE7D-5C627DBCDEFA}"/>
              </a:ext>
            </a:extLst>
          </p:cNvPr>
          <p:cNvSpPr txBox="1"/>
          <p:nvPr/>
        </p:nvSpPr>
        <p:spPr>
          <a:xfrm>
            <a:off x="3374065" y="1807535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Splitting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933F6A-2D57-4101-A4DF-1C7DC6CD05D6}"/>
              </a:ext>
            </a:extLst>
          </p:cNvPr>
          <p:cNvSpPr/>
          <p:nvPr/>
        </p:nvSpPr>
        <p:spPr>
          <a:xfrm>
            <a:off x="3037368" y="2894712"/>
            <a:ext cx="2509284" cy="43874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Dear Bear River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77A50-9177-49DF-A5CD-92DA5C0B3099}"/>
              </a:ext>
            </a:extLst>
          </p:cNvPr>
          <p:cNvSpPr/>
          <p:nvPr/>
        </p:nvSpPr>
        <p:spPr>
          <a:xfrm>
            <a:off x="3037368" y="3611857"/>
            <a:ext cx="2509284" cy="43874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Car </a:t>
            </a:r>
            <a:r>
              <a:rPr lang="en-US" dirty="0" err="1">
                <a:latin typeface="Bahnschrift" panose="020B0502040204020203" pitchFamily="34" charset="0"/>
              </a:rPr>
              <a:t>Car</a:t>
            </a:r>
            <a:r>
              <a:rPr lang="en-US" dirty="0">
                <a:latin typeface="Bahnschrift" panose="020B0502040204020203" pitchFamily="34" charset="0"/>
              </a:rPr>
              <a:t> River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946C61-51FC-4A95-BF9C-7FC4DD5BA955}"/>
              </a:ext>
            </a:extLst>
          </p:cNvPr>
          <p:cNvSpPr/>
          <p:nvPr/>
        </p:nvSpPr>
        <p:spPr>
          <a:xfrm>
            <a:off x="3037368" y="4245898"/>
            <a:ext cx="2509284" cy="43874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Dear Car Bear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4749E-59BF-4653-9106-9C2BC54C4305}"/>
              </a:ext>
            </a:extLst>
          </p:cNvPr>
          <p:cNvSpPr/>
          <p:nvPr/>
        </p:nvSpPr>
        <p:spPr>
          <a:xfrm>
            <a:off x="3374065" y="2402958"/>
            <a:ext cx="1346791" cy="2964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K1, V1</a:t>
            </a:r>
            <a:endParaRPr lang="en-IN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937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84F62-566C-406B-85EF-C8F3504E193D}"/>
              </a:ext>
            </a:extLst>
          </p:cNvPr>
          <p:cNvSpPr/>
          <p:nvPr/>
        </p:nvSpPr>
        <p:spPr>
          <a:xfrm>
            <a:off x="255182" y="3160678"/>
            <a:ext cx="2030818" cy="1325563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 bear river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Car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 Car Bear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B81C3-348D-4962-B7D7-D5FBFB9133F8}"/>
              </a:ext>
            </a:extLst>
          </p:cNvPr>
          <p:cNvSpPr txBox="1"/>
          <p:nvPr/>
        </p:nvSpPr>
        <p:spPr>
          <a:xfrm>
            <a:off x="669851" y="1807535"/>
            <a:ext cx="1041991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Input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3BDB9-2102-44E0-AE7D-5C627DBCDEFA}"/>
              </a:ext>
            </a:extLst>
          </p:cNvPr>
          <p:cNvSpPr txBox="1"/>
          <p:nvPr/>
        </p:nvSpPr>
        <p:spPr>
          <a:xfrm>
            <a:off x="3374065" y="1828800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Splitting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933F6A-2D57-4101-A4DF-1C7DC6CD05D6}"/>
              </a:ext>
            </a:extLst>
          </p:cNvPr>
          <p:cNvSpPr/>
          <p:nvPr/>
        </p:nvSpPr>
        <p:spPr>
          <a:xfrm>
            <a:off x="3037368" y="2894712"/>
            <a:ext cx="2509284" cy="43874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Dear Bear River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77A50-9177-49DF-A5CD-92DA5C0B3099}"/>
              </a:ext>
            </a:extLst>
          </p:cNvPr>
          <p:cNvSpPr/>
          <p:nvPr/>
        </p:nvSpPr>
        <p:spPr>
          <a:xfrm>
            <a:off x="3037368" y="3611857"/>
            <a:ext cx="2509284" cy="43874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Car </a:t>
            </a:r>
            <a:r>
              <a:rPr lang="en-US" dirty="0" err="1">
                <a:latin typeface="Bahnschrift" panose="020B0502040204020203" pitchFamily="34" charset="0"/>
              </a:rPr>
              <a:t>Car</a:t>
            </a:r>
            <a:r>
              <a:rPr lang="en-US" dirty="0">
                <a:latin typeface="Bahnschrift" panose="020B0502040204020203" pitchFamily="34" charset="0"/>
              </a:rPr>
              <a:t> River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946C61-51FC-4A95-BF9C-7FC4DD5BA955}"/>
              </a:ext>
            </a:extLst>
          </p:cNvPr>
          <p:cNvSpPr/>
          <p:nvPr/>
        </p:nvSpPr>
        <p:spPr>
          <a:xfrm>
            <a:off x="3037368" y="4245898"/>
            <a:ext cx="2509284" cy="43874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Dear Car Bear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2F646-347B-49CC-AE7C-DE5EFA093360}"/>
              </a:ext>
            </a:extLst>
          </p:cNvPr>
          <p:cNvSpPr txBox="1"/>
          <p:nvPr/>
        </p:nvSpPr>
        <p:spPr>
          <a:xfrm>
            <a:off x="6404343" y="1556139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Mapping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C4251-9D77-423B-A35E-8967DD7D00E5}"/>
              </a:ext>
            </a:extLst>
          </p:cNvPr>
          <p:cNvSpPr/>
          <p:nvPr/>
        </p:nvSpPr>
        <p:spPr>
          <a:xfrm>
            <a:off x="6064103" y="2451302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703E71-75DE-4421-B472-2ADDCF6D2FBA}"/>
              </a:ext>
            </a:extLst>
          </p:cNvPr>
          <p:cNvSpPr/>
          <p:nvPr/>
        </p:nvSpPr>
        <p:spPr>
          <a:xfrm>
            <a:off x="6064103" y="3838705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67724-694E-4AC6-A26C-B056029760FC}"/>
              </a:ext>
            </a:extLst>
          </p:cNvPr>
          <p:cNvSpPr/>
          <p:nvPr/>
        </p:nvSpPr>
        <p:spPr>
          <a:xfrm>
            <a:off x="6064103" y="5226108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A3018-D62D-4173-B1A2-CF10C21B274F}"/>
              </a:ext>
            </a:extLst>
          </p:cNvPr>
          <p:cNvSpPr/>
          <p:nvPr/>
        </p:nvSpPr>
        <p:spPr>
          <a:xfrm>
            <a:off x="6329916" y="2049904"/>
            <a:ext cx="1346791" cy="2964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K2, V2</a:t>
            </a:r>
            <a:endParaRPr lang="en-IN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264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2F646-347B-49CC-AE7C-DE5EFA093360}"/>
              </a:ext>
            </a:extLst>
          </p:cNvPr>
          <p:cNvSpPr txBox="1"/>
          <p:nvPr/>
        </p:nvSpPr>
        <p:spPr>
          <a:xfrm>
            <a:off x="508482" y="1660636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Mapping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C4251-9D77-423B-A35E-8967DD7D00E5}"/>
              </a:ext>
            </a:extLst>
          </p:cNvPr>
          <p:cNvSpPr/>
          <p:nvPr/>
        </p:nvSpPr>
        <p:spPr>
          <a:xfrm>
            <a:off x="338362" y="2302446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703E71-75DE-4421-B472-2ADDCF6D2FBA}"/>
              </a:ext>
            </a:extLst>
          </p:cNvPr>
          <p:cNvSpPr/>
          <p:nvPr/>
        </p:nvSpPr>
        <p:spPr>
          <a:xfrm>
            <a:off x="338362" y="3689849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67724-694E-4AC6-A26C-B056029760FC}"/>
              </a:ext>
            </a:extLst>
          </p:cNvPr>
          <p:cNvSpPr/>
          <p:nvPr/>
        </p:nvSpPr>
        <p:spPr>
          <a:xfrm>
            <a:off x="338362" y="5077252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DC4B34-FC5E-44A5-95A2-F464BF2C82AA}"/>
              </a:ext>
            </a:extLst>
          </p:cNvPr>
          <p:cNvSpPr txBox="1"/>
          <p:nvPr/>
        </p:nvSpPr>
        <p:spPr>
          <a:xfrm>
            <a:off x="3176422" y="1412576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Shuffling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38424-B055-4EC8-92A0-88A2594FCFE2}"/>
              </a:ext>
            </a:extLst>
          </p:cNvPr>
          <p:cNvSpPr/>
          <p:nvPr/>
        </p:nvSpPr>
        <p:spPr>
          <a:xfrm>
            <a:off x="2829924" y="2302446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Bear, (1,1)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AB1BFE-6D77-4D50-8380-D5DF956D8F55}"/>
              </a:ext>
            </a:extLst>
          </p:cNvPr>
          <p:cNvSpPr/>
          <p:nvPr/>
        </p:nvSpPr>
        <p:spPr>
          <a:xfrm>
            <a:off x="2829924" y="3244334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Car, (1,1,1)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6A7113-50AA-44E1-B672-11786C19ECBA}"/>
              </a:ext>
            </a:extLst>
          </p:cNvPr>
          <p:cNvSpPr/>
          <p:nvPr/>
        </p:nvSpPr>
        <p:spPr>
          <a:xfrm>
            <a:off x="2829924" y="4186222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Deer, (1,1)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342B3C-0BF0-41A3-8EB4-5C13DD88EFEA}"/>
              </a:ext>
            </a:extLst>
          </p:cNvPr>
          <p:cNvSpPr/>
          <p:nvPr/>
        </p:nvSpPr>
        <p:spPr>
          <a:xfrm>
            <a:off x="2829924" y="5299737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River, (1,1)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E601E4-2FC8-4918-BBDF-7F704DB96FC9}"/>
              </a:ext>
            </a:extLst>
          </p:cNvPr>
          <p:cNvSpPr txBox="1"/>
          <p:nvPr/>
        </p:nvSpPr>
        <p:spPr>
          <a:xfrm>
            <a:off x="5470342" y="1684458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Reducing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96D2F5-302B-4843-8552-F5D982DA1045}"/>
              </a:ext>
            </a:extLst>
          </p:cNvPr>
          <p:cNvSpPr/>
          <p:nvPr/>
        </p:nvSpPr>
        <p:spPr>
          <a:xfrm>
            <a:off x="5172017" y="2323040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Bear, 2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859A27-9414-49E1-BB16-D6051FEF8C13}"/>
              </a:ext>
            </a:extLst>
          </p:cNvPr>
          <p:cNvSpPr/>
          <p:nvPr/>
        </p:nvSpPr>
        <p:spPr>
          <a:xfrm>
            <a:off x="5172017" y="3244334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Car, 3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0FE5E2-EFCB-41D1-AFD4-36FD8CDB5550}"/>
              </a:ext>
            </a:extLst>
          </p:cNvPr>
          <p:cNvSpPr/>
          <p:nvPr/>
        </p:nvSpPr>
        <p:spPr>
          <a:xfrm>
            <a:off x="5172017" y="4155990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Deer, 2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EACEA7-6321-45E9-96CE-4DC9DB66BD45}"/>
              </a:ext>
            </a:extLst>
          </p:cNvPr>
          <p:cNvSpPr/>
          <p:nvPr/>
        </p:nvSpPr>
        <p:spPr>
          <a:xfrm>
            <a:off x="5172017" y="5299737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River, 2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E34841-A2F3-496F-9056-6BF7F07B2B5C}"/>
              </a:ext>
            </a:extLst>
          </p:cNvPr>
          <p:cNvSpPr/>
          <p:nvPr/>
        </p:nvSpPr>
        <p:spPr>
          <a:xfrm>
            <a:off x="3027566" y="1905562"/>
            <a:ext cx="1544434" cy="2634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K2, List(V2</a:t>
            </a:r>
            <a:r>
              <a:rPr lang="en-IN" b="1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0F2C7-71D3-4E53-9292-FCD2ECA4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2F646-347B-49CC-AE7C-DE5EFA093360}"/>
              </a:ext>
            </a:extLst>
          </p:cNvPr>
          <p:cNvSpPr txBox="1"/>
          <p:nvPr/>
        </p:nvSpPr>
        <p:spPr>
          <a:xfrm>
            <a:off x="508482" y="1660636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Mapping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C4251-9D77-423B-A35E-8967DD7D00E5}"/>
              </a:ext>
            </a:extLst>
          </p:cNvPr>
          <p:cNvSpPr/>
          <p:nvPr/>
        </p:nvSpPr>
        <p:spPr>
          <a:xfrm>
            <a:off x="338362" y="2302446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703E71-75DE-4421-B472-2ADDCF6D2FBA}"/>
              </a:ext>
            </a:extLst>
          </p:cNvPr>
          <p:cNvSpPr/>
          <p:nvPr/>
        </p:nvSpPr>
        <p:spPr>
          <a:xfrm>
            <a:off x="338362" y="3689849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67724-694E-4AC6-A26C-B056029760FC}"/>
              </a:ext>
            </a:extLst>
          </p:cNvPr>
          <p:cNvSpPr/>
          <p:nvPr/>
        </p:nvSpPr>
        <p:spPr>
          <a:xfrm>
            <a:off x="338362" y="5077252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DC4B34-FC5E-44A5-95A2-F464BF2C82AA}"/>
              </a:ext>
            </a:extLst>
          </p:cNvPr>
          <p:cNvSpPr txBox="1"/>
          <p:nvPr/>
        </p:nvSpPr>
        <p:spPr>
          <a:xfrm>
            <a:off x="2829924" y="1660636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Shuffling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38424-B055-4EC8-92A0-88A2594FCFE2}"/>
              </a:ext>
            </a:extLst>
          </p:cNvPr>
          <p:cNvSpPr/>
          <p:nvPr/>
        </p:nvSpPr>
        <p:spPr>
          <a:xfrm>
            <a:off x="2829924" y="2302446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Bear, (1,1)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AB1BFE-6D77-4D50-8380-D5DF956D8F55}"/>
              </a:ext>
            </a:extLst>
          </p:cNvPr>
          <p:cNvSpPr/>
          <p:nvPr/>
        </p:nvSpPr>
        <p:spPr>
          <a:xfrm>
            <a:off x="2829924" y="3244334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Car, (1,1,1)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6A7113-50AA-44E1-B672-11786C19ECBA}"/>
              </a:ext>
            </a:extLst>
          </p:cNvPr>
          <p:cNvSpPr/>
          <p:nvPr/>
        </p:nvSpPr>
        <p:spPr>
          <a:xfrm>
            <a:off x="2829924" y="4186222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Deer, (1,1)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342B3C-0BF0-41A3-8EB4-5C13DD88EFEA}"/>
              </a:ext>
            </a:extLst>
          </p:cNvPr>
          <p:cNvSpPr/>
          <p:nvPr/>
        </p:nvSpPr>
        <p:spPr>
          <a:xfrm>
            <a:off x="2829924" y="5299737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River, (1,1)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E601E4-2FC8-4918-BBDF-7F704DB96FC9}"/>
              </a:ext>
            </a:extLst>
          </p:cNvPr>
          <p:cNvSpPr txBox="1"/>
          <p:nvPr/>
        </p:nvSpPr>
        <p:spPr>
          <a:xfrm>
            <a:off x="5470342" y="1684458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Reducing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96D2F5-302B-4843-8552-F5D982DA1045}"/>
              </a:ext>
            </a:extLst>
          </p:cNvPr>
          <p:cNvSpPr/>
          <p:nvPr/>
        </p:nvSpPr>
        <p:spPr>
          <a:xfrm>
            <a:off x="5172017" y="2323040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Bear, 2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859A27-9414-49E1-BB16-D6051FEF8C13}"/>
              </a:ext>
            </a:extLst>
          </p:cNvPr>
          <p:cNvSpPr/>
          <p:nvPr/>
        </p:nvSpPr>
        <p:spPr>
          <a:xfrm>
            <a:off x="5172017" y="3244334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Car, 3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0FE5E2-EFCB-41D1-AFD4-36FD8CDB5550}"/>
              </a:ext>
            </a:extLst>
          </p:cNvPr>
          <p:cNvSpPr/>
          <p:nvPr/>
        </p:nvSpPr>
        <p:spPr>
          <a:xfrm>
            <a:off x="5172017" y="4155990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Deer, 2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EACEA7-6321-45E9-96CE-4DC9DB66BD45}"/>
              </a:ext>
            </a:extLst>
          </p:cNvPr>
          <p:cNvSpPr/>
          <p:nvPr/>
        </p:nvSpPr>
        <p:spPr>
          <a:xfrm>
            <a:off x="5172017" y="5299737"/>
            <a:ext cx="1742076" cy="3693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River, 2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1CC302-C3C6-4A2D-8C2D-4F95508421BE}"/>
              </a:ext>
            </a:extLst>
          </p:cNvPr>
          <p:cNvSpPr txBox="1"/>
          <p:nvPr/>
        </p:nvSpPr>
        <p:spPr>
          <a:xfrm>
            <a:off x="7527237" y="2302446"/>
            <a:ext cx="1197935" cy="646331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Final Result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6F3959-F2C5-429B-AC4A-8E71065B2F17}"/>
              </a:ext>
            </a:extLst>
          </p:cNvPr>
          <p:cNvSpPr/>
          <p:nvPr/>
        </p:nvSpPr>
        <p:spPr>
          <a:xfrm>
            <a:off x="7186995" y="3483361"/>
            <a:ext cx="1878418" cy="1367044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Bear, 2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3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Deer, 2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River,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36B2DC-36F7-4108-A900-E7AB365C0BEF}"/>
              </a:ext>
            </a:extLst>
          </p:cNvPr>
          <p:cNvSpPr/>
          <p:nvPr/>
        </p:nvSpPr>
        <p:spPr>
          <a:xfrm>
            <a:off x="7389629" y="3067840"/>
            <a:ext cx="1416010" cy="3611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List(K3, V3)</a:t>
            </a:r>
            <a:endParaRPr lang="en-IN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683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A819FB-052F-472D-9A21-8D95B621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Stage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3909B-6EF6-403A-AF7D-3E77F4D717F6}"/>
              </a:ext>
            </a:extLst>
          </p:cNvPr>
          <p:cNvSpPr txBox="1"/>
          <p:nvPr/>
        </p:nvSpPr>
        <p:spPr>
          <a:xfrm>
            <a:off x="3549394" y="1628145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Mapping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E156DC-1DB5-40BA-828C-E72B9AFAF996}"/>
              </a:ext>
            </a:extLst>
          </p:cNvPr>
          <p:cNvSpPr/>
          <p:nvPr/>
        </p:nvSpPr>
        <p:spPr>
          <a:xfrm>
            <a:off x="3379274" y="2269955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A594DA-31A1-4689-A4C7-21880D880EC0}"/>
              </a:ext>
            </a:extLst>
          </p:cNvPr>
          <p:cNvSpPr/>
          <p:nvPr/>
        </p:nvSpPr>
        <p:spPr>
          <a:xfrm>
            <a:off x="3379274" y="3657358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2539B-0C6A-4635-9107-55549199E90A}"/>
              </a:ext>
            </a:extLst>
          </p:cNvPr>
          <p:cNvSpPr/>
          <p:nvPr/>
        </p:nvSpPr>
        <p:spPr>
          <a:xfrm>
            <a:off x="3379274" y="5044761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</p:txBody>
      </p:sp>
    </p:spTree>
    <p:extLst>
      <p:ext uri="{BB962C8B-B14F-4D97-AF65-F5344CB8AC3E}">
        <p14:creationId xmlns:p14="http://schemas.microsoft.com/office/powerpoint/2010/main" val="488303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A819FB-052F-472D-9A21-8D95B621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Stage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3909B-6EF6-403A-AF7D-3E77F4D717F6}"/>
              </a:ext>
            </a:extLst>
          </p:cNvPr>
          <p:cNvSpPr txBox="1"/>
          <p:nvPr/>
        </p:nvSpPr>
        <p:spPr>
          <a:xfrm>
            <a:off x="3549394" y="1628145"/>
            <a:ext cx="1197935" cy="369332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Mapping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E156DC-1DB5-40BA-828C-E72B9AFAF996}"/>
              </a:ext>
            </a:extLst>
          </p:cNvPr>
          <p:cNvSpPr/>
          <p:nvPr/>
        </p:nvSpPr>
        <p:spPr>
          <a:xfrm>
            <a:off x="3379274" y="2269955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A594DA-31A1-4689-A4C7-21880D880EC0}"/>
              </a:ext>
            </a:extLst>
          </p:cNvPr>
          <p:cNvSpPr/>
          <p:nvPr/>
        </p:nvSpPr>
        <p:spPr>
          <a:xfrm>
            <a:off x="3379274" y="3657358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river,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2539B-0C6A-4635-9107-55549199E90A}"/>
              </a:ext>
            </a:extLst>
          </p:cNvPr>
          <p:cNvSpPr/>
          <p:nvPr/>
        </p:nvSpPr>
        <p:spPr>
          <a:xfrm>
            <a:off x="3379274" y="5044761"/>
            <a:ext cx="1878418" cy="116055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bear,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B6C215-DE81-49EC-AF5B-39B578DE57AE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74628" y="2551814"/>
            <a:ext cx="2291316" cy="7765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267D39D-25D5-4CC0-BB0D-21A11826B8AB}"/>
              </a:ext>
            </a:extLst>
          </p:cNvPr>
          <p:cNvSpPr/>
          <p:nvPr/>
        </p:nvSpPr>
        <p:spPr>
          <a:xfrm>
            <a:off x="1360968" y="3328329"/>
            <a:ext cx="627320" cy="42506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251B3-76B3-41DE-9D2E-D7C8E1457DC6}"/>
              </a:ext>
            </a:extLst>
          </p:cNvPr>
          <p:cNvSpPr/>
          <p:nvPr/>
        </p:nvSpPr>
        <p:spPr>
          <a:xfrm>
            <a:off x="6021358" y="3328329"/>
            <a:ext cx="719684" cy="32902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9B3EB5-7843-4A0D-9F9B-4E3E9B0BA93E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729610" y="2551814"/>
            <a:ext cx="1651590" cy="7765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119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882038-4111-4A2C-9ADE-EE236525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Stage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7C132-1D61-4C3A-96EE-9076D3CD1412}"/>
              </a:ext>
            </a:extLst>
          </p:cNvPr>
          <p:cNvSpPr txBox="1"/>
          <p:nvPr/>
        </p:nvSpPr>
        <p:spPr>
          <a:xfrm>
            <a:off x="2320984" y="1420199"/>
            <a:ext cx="1680518" cy="923330"/>
          </a:xfrm>
          <a:prstGeom prst="rect">
            <a:avLst/>
          </a:prstGeom>
          <a:solidFill>
            <a:srgbClr val="44525A"/>
          </a:solidFill>
        </p:spPr>
        <p:txBody>
          <a:bodyPr wrap="square" rtlCol="0" anchor="ctr">
            <a:spAutoFit/>
          </a:bodyPr>
          <a:lstStyle/>
          <a:p>
            <a:pPr algn="ctr"/>
            <a:b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Reducing</a:t>
            </a:r>
          </a:p>
          <a:p>
            <a:pPr algn="ctr"/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F3F570-5DC5-4F12-85FF-8D54691BCF0C}"/>
              </a:ext>
            </a:extLst>
          </p:cNvPr>
          <p:cNvSpPr/>
          <p:nvPr/>
        </p:nvSpPr>
        <p:spPr>
          <a:xfrm>
            <a:off x="2258695" y="2628698"/>
            <a:ext cx="1805099" cy="3581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Bear, 2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B2A5C3-F68D-435A-87B8-BF19DBB371EA}"/>
              </a:ext>
            </a:extLst>
          </p:cNvPr>
          <p:cNvSpPr/>
          <p:nvPr/>
        </p:nvSpPr>
        <p:spPr>
          <a:xfrm>
            <a:off x="2258694" y="3157991"/>
            <a:ext cx="1805099" cy="3581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Car, 3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B3E9FC-7E0A-4D58-AB55-C2ED52FF8169}"/>
              </a:ext>
            </a:extLst>
          </p:cNvPr>
          <p:cNvSpPr/>
          <p:nvPr/>
        </p:nvSpPr>
        <p:spPr>
          <a:xfrm>
            <a:off x="2258694" y="3669830"/>
            <a:ext cx="1805099" cy="3581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Deer, 2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A8C93-8FE6-42A6-805E-2091FAF7871A}"/>
              </a:ext>
            </a:extLst>
          </p:cNvPr>
          <p:cNvSpPr/>
          <p:nvPr/>
        </p:nvSpPr>
        <p:spPr>
          <a:xfrm>
            <a:off x="2258694" y="4173895"/>
            <a:ext cx="1805099" cy="35812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River, 2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A2AB8-8CDF-43CD-9146-C09655E9180D}"/>
              </a:ext>
            </a:extLst>
          </p:cNvPr>
          <p:cNvSpPr txBox="1"/>
          <p:nvPr/>
        </p:nvSpPr>
        <p:spPr>
          <a:xfrm>
            <a:off x="5599407" y="1545966"/>
            <a:ext cx="1680518" cy="489089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Final Result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B76AA-0757-44FD-AB5B-26FC0516C1DB}"/>
              </a:ext>
            </a:extLst>
          </p:cNvPr>
          <p:cNvSpPr/>
          <p:nvPr/>
        </p:nvSpPr>
        <p:spPr>
          <a:xfrm>
            <a:off x="5466479" y="2620862"/>
            <a:ext cx="1946373" cy="1325563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Bear, 2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Car, 3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Deer, 2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River,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CF3838-3CEB-4FA1-86EB-632018A2FE67}"/>
              </a:ext>
            </a:extLst>
          </p:cNvPr>
          <p:cNvSpPr txBox="1"/>
          <p:nvPr/>
        </p:nvSpPr>
        <p:spPr>
          <a:xfrm>
            <a:off x="383475" y="4532233"/>
            <a:ext cx="8386537" cy="1876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292929"/>
                </a:solidFill>
                <a:effectLst/>
                <a:latin typeface="Bahnschrift" panose="020B0502040204020203" pitchFamily="34" charset="0"/>
              </a:rPr>
              <a:t>The Reducer will take all the key-value pairs from the mapper and check the association of all keys with value. All the values associated with a single key will be taken and it will provide an output of any number of key-value pairs.</a:t>
            </a:r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725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C7FFA2-5320-49BD-AEC9-556655A8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Architecture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D34A80-9541-4CE2-B538-B9ED2B47D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2538"/>
            <a:ext cx="9144000" cy="290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60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823184-3ECB-433C-BB5F-8F3D9E58C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b="0" i="0" dirty="0">
                <a:solidFill>
                  <a:srgbClr val="292929"/>
                </a:solidFill>
                <a:effectLst/>
              </a:rPr>
              <a:t>MapReduce is a sequential computation. </a:t>
            </a:r>
          </a:p>
          <a:p>
            <a:pPr algn="just"/>
            <a:r>
              <a:rPr lang="en-US" sz="2600" b="0" i="0" dirty="0">
                <a:solidFill>
                  <a:srgbClr val="292929"/>
                </a:solidFill>
                <a:effectLst/>
              </a:rPr>
              <a:t>Mapper must have completed the execution</a:t>
            </a:r>
          </a:p>
          <a:p>
            <a:pPr algn="just"/>
            <a:r>
              <a:rPr lang="en-US" sz="2600" b="0" i="0" dirty="0">
                <a:solidFill>
                  <a:srgbClr val="292929"/>
                </a:solidFill>
                <a:effectLst/>
              </a:rPr>
              <a:t>Reducer will have access to all the values</a:t>
            </a:r>
          </a:p>
          <a:p>
            <a:pPr algn="just"/>
            <a:r>
              <a:rPr lang="en-US" sz="2600" dirty="0">
                <a:solidFill>
                  <a:srgbClr val="292929"/>
                </a:solidFill>
              </a:rPr>
              <a:t>R</a:t>
            </a:r>
            <a:r>
              <a:rPr lang="en-US" sz="2600" b="0" i="0" dirty="0">
                <a:solidFill>
                  <a:srgbClr val="292929"/>
                </a:solidFill>
                <a:effectLst/>
              </a:rPr>
              <a:t>educers are working on different keys</a:t>
            </a:r>
          </a:p>
          <a:p>
            <a:pPr algn="just"/>
            <a:r>
              <a:rPr lang="en-US" sz="2600" dirty="0">
                <a:solidFill>
                  <a:srgbClr val="292929"/>
                </a:solidFill>
              </a:rPr>
              <a:t>W</a:t>
            </a:r>
            <a:r>
              <a:rPr lang="en-US" sz="2600" b="0" i="0" dirty="0">
                <a:solidFill>
                  <a:srgbClr val="292929"/>
                </a:solidFill>
                <a:effectLst/>
              </a:rPr>
              <a:t>ork simultaneously and parallelism is achieved.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B6F476-DAE6-43E4-A6AF-EDC485EDB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 STAGE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21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6B95F1-288E-45DA-B23C-1881433A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50" y="1457323"/>
            <a:ext cx="856447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How to manage variety of data structures in the file system?</a:t>
            </a:r>
          </a:p>
          <a:p>
            <a:pPr algn="just"/>
            <a:r>
              <a:rPr lang="en-IN" sz="2400" dirty="0"/>
              <a:t>D</a:t>
            </a:r>
            <a:r>
              <a:rPr lang="en-IN" sz="2400" b="0" i="0" u="none" strike="noStrike" baseline="0" dirty="0"/>
              <a:t>ata is </a:t>
            </a:r>
            <a:r>
              <a:rPr lang="en-US" sz="2400" b="0" i="0" u="none" strike="noStrike" baseline="0" dirty="0"/>
              <a:t>stored as one key and one non-key attribute value.</a:t>
            </a:r>
          </a:p>
          <a:p>
            <a:pPr algn="just"/>
            <a:r>
              <a:rPr lang="en-US" sz="2400" b="0" i="0" u="none" strike="noStrike" baseline="0" dirty="0"/>
              <a:t>Thus the data is represented as a key-value pair. 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C4E5A8-FD58-443A-8431-688DE9CA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25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6B95F1-288E-45DA-B23C-1881433A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50" y="1457323"/>
            <a:ext cx="856447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How to manage variety of data structures in the file system?</a:t>
            </a:r>
          </a:p>
          <a:p>
            <a:pPr algn="just"/>
            <a:r>
              <a:rPr lang="en-US" sz="2400" b="0" i="0" u="none" strike="noStrike" baseline="0" dirty="0"/>
              <a:t>The intermediate results, and the results all will also be in key-pair format. </a:t>
            </a:r>
          </a:p>
          <a:p>
            <a:pPr algn="just"/>
            <a:r>
              <a:rPr lang="en-US" sz="2400" b="0" i="0" u="none" strike="noStrike" baseline="0" dirty="0"/>
              <a:t>Thus a key requirement for the use of MapReduce parallel processing system is that the input data and output data must both be represented in key-values formats</a:t>
            </a:r>
            <a:endParaRPr lang="en-US" sz="2400" dirty="0"/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C4E5A8-FD58-443A-8431-688DE9CA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019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8FDE81-4F56-4065-87B8-F7A7CC83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0EB4DC-9FFF-47C6-9DDA-A909DC6D92B3}"/>
              </a:ext>
            </a:extLst>
          </p:cNvPr>
          <p:cNvSpPr/>
          <p:nvPr/>
        </p:nvSpPr>
        <p:spPr>
          <a:xfrm>
            <a:off x="333985" y="2935436"/>
            <a:ext cx="84760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Bahnschrift" panose="020B0502040204020203" pitchFamily="34" charset="0"/>
              </a:rPr>
              <a:t>Why MapReduce for Big DATA?</a:t>
            </a:r>
            <a:endParaRPr lang="en-IN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3133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D58DEF-E5ED-4430-996A-204BED547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27662"/>
            <a:ext cx="8386537" cy="500488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U</a:t>
            </a:r>
            <a:r>
              <a:rPr lang="en-US" sz="2600" b="0" i="0" u="none" strike="noStrike" baseline="0" dirty="0"/>
              <a:t>ses standard Unix streams </a:t>
            </a:r>
          </a:p>
          <a:p>
            <a:pPr algn="just"/>
            <a:r>
              <a:rPr lang="en-US" sz="2600" b="0" i="0" u="none" strike="noStrike" baseline="0" dirty="0"/>
              <a:t>It is an ideal application for text processing. </a:t>
            </a:r>
          </a:p>
          <a:p>
            <a:pPr algn="just"/>
            <a:r>
              <a:rPr lang="en-US" sz="2600" b="0" i="0" u="none" strike="noStrike" baseline="0" dirty="0"/>
              <a:t>Map input data is passed over standard input to your map function</a:t>
            </a:r>
          </a:p>
          <a:p>
            <a:pPr algn="just"/>
            <a:r>
              <a:rPr lang="en-US" sz="2600" b="0" i="0" u="none" strike="noStrike" baseline="0" dirty="0"/>
              <a:t>Key-value pair is written as a single tab-delimited line.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3432D-7D75-492D-9191-2E4C730C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Hadoop-Streaming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192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D58DEF-E5ED-4430-996A-204BED547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27662"/>
            <a:ext cx="8386537" cy="5004884"/>
          </a:xfrm>
        </p:spPr>
        <p:txBody>
          <a:bodyPr>
            <a:noAutofit/>
          </a:bodyPr>
          <a:lstStyle/>
          <a:p>
            <a:pPr algn="just"/>
            <a:r>
              <a:rPr lang="en-US" sz="2600" b="0" i="0" u="none" strike="noStrike" baseline="0" dirty="0"/>
              <a:t>A tab-separated key-value pair—passed over standard input.</a:t>
            </a:r>
          </a:p>
          <a:p>
            <a:pPr algn="just"/>
            <a:r>
              <a:rPr lang="en-US" sz="2600" b="0" i="0" u="none" strike="noStrike" baseline="0" dirty="0"/>
              <a:t>The Reduce function reads lines from standard input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3432D-7D75-492D-9191-2E4C730C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Hadoop-Streaming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8880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1105</TotalTime>
  <Words>946</Words>
  <Application>Microsoft Office PowerPoint</Application>
  <PresentationFormat>On-screen Show (4:3)</PresentationFormat>
  <Paragraphs>284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Example</vt:lpstr>
      <vt:lpstr>Example</vt:lpstr>
      <vt:lpstr>Example</vt:lpstr>
      <vt:lpstr>Example</vt:lpstr>
      <vt:lpstr>MAPREDUCE</vt:lpstr>
      <vt:lpstr>MAPREDUCE</vt:lpstr>
      <vt:lpstr>MAPREDUCE</vt:lpstr>
      <vt:lpstr>MAPREDUCE</vt:lpstr>
      <vt:lpstr>MAPREDUCE</vt:lpstr>
      <vt:lpstr>MAPREDUCE</vt:lpstr>
      <vt:lpstr>MAPREDUCE</vt:lpstr>
      <vt:lpstr>MAPREDUCE</vt:lpstr>
      <vt:lpstr>MAPREDUCE</vt:lpstr>
      <vt:lpstr>MAP Stage</vt:lpstr>
      <vt:lpstr>MAP Stage</vt:lpstr>
      <vt:lpstr>Reduce Stage</vt:lpstr>
      <vt:lpstr>MapReduce Architecture</vt:lpstr>
      <vt:lpstr>MAP-REDUCE STAGE</vt:lpstr>
      <vt:lpstr>MAPREDUCE</vt:lpstr>
      <vt:lpstr>MAPREDUCE</vt:lpstr>
      <vt:lpstr>MAPREDUCE</vt:lpstr>
      <vt:lpstr>Hadoop-Streaming</vt:lpstr>
      <vt:lpstr>Hadoop-Streaming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77</cp:revision>
  <dcterms:created xsi:type="dcterms:W3CDTF">2021-05-13T17:45:44Z</dcterms:created>
  <dcterms:modified xsi:type="dcterms:W3CDTF">2021-07-30T10:34:40Z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328695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