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66" r:id="rId2"/>
    <p:sldId id="261" r:id="rId3"/>
    <p:sldId id="268" r:id="rId4"/>
    <p:sldId id="269" r:id="rId5"/>
    <p:sldId id="270" r:id="rId6"/>
    <p:sldId id="272" r:id="rId7"/>
    <p:sldId id="274" r:id="rId8"/>
    <p:sldId id="275" r:id="rId9"/>
    <p:sldId id="276" r:id="rId10"/>
    <p:sldId id="277" r:id="rId11"/>
    <p:sldId id="280" r:id="rId12"/>
    <p:sldId id="279" r:id="rId13"/>
    <p:sldId id="278" r:id="rId14"/>
    <p:sldId id="327" r:id="rId15"/>
    <p:sldId id="281" r:id="rId16"/>
    <p:sldId id="284" r:id="rId17"/>
    <p:sldId id="282" r:id="rId18"/>
    <p:sldId id="285" r:id="rId19"/>
    <p:sldId id="286" r:id="rId20"/>
    <p:sldId id="287" r:id="rId21"/>
    <p:sldId id="290" r:id="rId22"/>
    <p:sldId id="292" r:id="rId23"/>
    <p:sldId id="293" r:id="rId24"/>
    <p:sldId id="295" r:id="rId25"/>
    <p:sldId id="297" r:id="rId26"/>
    <p:sldId id="296" r:id="rId27"/>
    <p:sldId id="299" r:id="rId28"/>
    <p:sldId id="300" r:id="rId29"/>
    <p:sldId id="303" r:id="rId30"/>
    <p:sldId id="267" r:id="rId31"/>
    <p:sldId id="304" r:id="rId32"/>
    <p:sldId id="306" r:id="rId33"/>
    <p:sldId id="307" r:id="rId34"/>
    <p:sldId id="312" r:id="rId35"/>
    <p:sldId id="26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618495"/>
    <a:srgbClr val="44525B"/>
    <a:srgbClr val="072235"/>
    <a:srgbClr val="453A38"/>
    <a:srgbClr val="B8B192"/>
    <a:srgbClr val="473B39"/>
    <a:srgbClr val="302C31"/>
    <a:srgbClr val="63504D"/>
    <a:srgbClr val="9478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5A29B-2FF8-4855-85FA-5DC24F23A966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2DC56-AE71-4A14-8704-85236CB162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85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DC56-AE71-4A14-8704-85236CB1622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5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DC56-AE71-4A14-8704-85236CB1622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721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DC56-AE71-4A14-8704-85236CB1622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571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DC56-AE71-4A14-8704-85236CB1622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74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B2DC56-AE71-4A14-8704-85236CB1622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795418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683239"/>
            <a:ext cx="7830800" cy="173885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explore and learn the concepts of Shuffle and Sort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B931B-3BA4-4E5A-950A-FCF2D35E2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779736"/>
            <a:ext cx="87630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43326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AF64CF-8F3D-4B67-B74C-63F6993E1D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" r="5"/>
          <a:stretch/>
        </p:blipFill>
        <p:spPr>
          <a:xfrm>
            <a:off x="276446" y="2541182"/>
            <a:ext cx="8591108" cy="33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80140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Cardboard boxes on conveyor belt" id="4" name="Picture 3">
            <a:extLst>
              <a:ext uri="{FF2B5EF4-FFF2-40B4-BE49-F238E27FC236}">
                <a16:creationId xmlns:a16="http://schemas.microsoft.com/office/drawing/2014/main" id="{BFC39451-463B-49E4-81A1-3E5246A09D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-2" r="13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1B8FE9-DF88-4DFD-ABFC-4E740B51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862" y="1422166"/>
            <a:ext cx="6858000" cy="2900518"/>
          </a:xfrm>
        </p:spPr>
        <p:txBody>
          <a:bodyPr anchor="b" bIns="45720" lIns="91440" rIns="91440" rtlCol="0" tIns="45720" vert="horz">
            <a:noAutofit/>
          </a:bodyPr>
          <a:lstStyle/>
          <a:p>
            <a:pPr algn="ctr"/>
            <a:r>
              <a:rPr b="0" dirty="0" i="0" lang="en-US">
                <a:solidFill>
                  <a:srgbClr val="FFFFFF"/>
                </a:solidFill>
                <a:effectLst/>
                <a:latin charset="0" panose="020B0502040204020203" pitchFamily="34" typeface="Bahnschrift"/>
              </a:rPr>
              <a:t>What is Shuffling and Sorting in Hadoop MapReduce?</a:t>
            </a:r>
            <a:endParaRPr dirty="0" lang="en-US">
              <a:solidFill>
                <a:srgbClr val="FFFFFF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94123144"/>
      </p:ext>
    </p:extLst>
  </p:cSld>
  <p:clrMapOvr>
    <a:overrideClrMapping accent1="accent1" accent2="accent2" accent3="accent3" accent4="accent4" accent5="accent5" accent6="accent6" bg1="dk1" bg2="dk2" folHlink="folHlink" hlink="hlink" tx1="lt1" tx2="lt2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E8E00B-513C-410C-ABD1-7BBA6903D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Phases of MapReduce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1D2119C6-067C-4BE9-8113-C0CC1ECCB218}"/>
              </a:ext>
            </a:extLst>
          </p:cNvPr>
          <p:cNvSpPr/>
          <p:nvPr/>
        </p:nvSpPr>
        <p:spPr>
          <a:xfrm>
            <a:off x="2338465" y="1513508"/>
            <a:ext cx="4212236" cy="720000"/>
          </a:xfrm>
          <a:prstGeom prst="flowChartAlternateProcess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Mapper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131EB45-5C49-4B18-BD5D-31029F5CE7AE}"/>
              </a:ext>
            </a:extLst>
          </p:cNvPr>
          <p:cNvSpPr/>
          <p:nvPr/>
        </p:nvSpPr>
        <p:spPr>
          <a:xfrm>
            <a:off x="2338465" y="2600154"/>
            <a:ext cx="4212236" cy="720000"/>
          </a:xfrm>
          <a:prstGeom prst="flowChartAlternateProcess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Reducer in MapReduce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81DDFFC-16D9-494E-B63F-A879D6CB1640}"/>
              </a:ext>
            </a:extLst>
          </p:cNvPr>
          <p:cNvSpPr/>
          <p:nvPr/>
        </p:nvSpPr>
        <p:spPr>
          <a:xfrm>
            <a:off x="2338465" y="3686800"/>
            <a:ext cx="4212236" cy="720000"/>
          </a:xfrm>
          <a:prstGeom prst="flowChartAlternateProcess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Combiner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FAE7F2F-9136-4378-B4CD-7B1B69AB3532}"/>
              </a:ext>
            </a:extLst>
          </p:cNvPr>
          <p:cNvSpPr/>
          <p:nvPr/>
        </p:nvSpPr>
        <p:spPr>
          <a:xfrm>
            <a:off x="2338465" y="4773446"/>
            <a:ext cx="4212236" cy="720000"/>
          </a:xfrm>
          <a:prstGeom prst="flowChartAlternateProcess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Bahnschrift" panose="020B0502040204020203" pitchFamily="34" charset="0"/>
              </a:rPr>
              <a:t>Partitioner in MapReduce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B2B7DB6-05BB-4D56-A9A5-5B16CC83EF6A}"/>
              </a:ext>
            </a:extLst>
          </p:cNvPr>
          <p:cNvSpPr/>
          <p:nvPr/>
        </p:nvSpPr>
        <p:spPr>
          <a:xfrm>
            <a:off x="2338465" y="5860090"/>
            <a:ext cx="4212236" cy="720000"/>
          </a:xfrm>
          <a:prstGeom prst="flowChartAlternateProcess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err="1">
                <a:latin typeface="Bahnschrift" panose="020B0502040204020203" pitchFamily="34" charset="0"/>
              </a:rPr>
              <a:t>inputFormat</a:t>
            </a:r>
            <a:r>
              <a:rPr lang="en-IN" sz="2400" dirty="0">
                <a:latin typeface="Bahnschrift" panose="020B0502040204020203" pitchFamily="34" charset="0"/>
              </a:rPr>
              <a:t> </a:t>
            </a:r>
            <a:br>
              <a:rPr lang="en-IN" sz="2400" dirty="0">
                <a:latin typeface="Bahnschrift" panose="020B0502040204020203" pitchFamily="34" charset="0"/>
              </a:rPr>
            </a:br>
            <a:r>
              <a:rPr lang="en-IN" sz="2400" dirty="0">
                <a:latin typeface="Bahnschrift" panose="020B0502040204020203" pitchFamily="34" charset="0"/>
              </a:rPr>
              <a:t> in MapReduce</a:t>
            </a:r>
          </a:p>
        </p:txBody>
      </p:sp>
    </p:spTree>
    <p:extLst>
      <p:ext uri="{BB962C8B-B14F-4D97-AF65-F5344CB8AC3E}">
        <p14:creationId xmlns:p14="http://schemas.microsoft.com/office/powerpoint/2010/main" val="220646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633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2AC97362-B8C9-4109-94BE-4B01E1FDB87B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Task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187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7377C3B-DC13-44BA-8671-9A332DDA10C3}"/>
              </a:ext>
            </a:extLst>
          </p:cNvPr>
          <p:cNvSpPr/>
          <p:nvPr/>
        </p:nvSpPr>
        <p:spPr>
          <a:xfrm>
            <a:off x="2594345" y="3317358"/>
            <a:ext cx="1541720" cy="643269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77BC9C3-25A7-41A4-984C-19B0562486E8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Task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623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7377C3B-DC13-44BA-8671-9A332DDA10C3}"/>
              </a:ext>
            </a:extLst>
          </p:cNvPr>
          <p:cNvSpPr/>
          <p:nvPr/>
        </p:nvSpPr>
        <p:spPr>
          <a:xfrm>
            <a:off x="2594345" y="3317358"/>
            <a:ext cx="1541720" cy="643269"/>
          </a:xfrm>
          <a:prstGeom prst="flowChartAlternate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429994-6A01-4FD7-8255-40545AACD7F8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 Task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953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44EAB782-4BF1-4300-A498-182A7FEE9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807532"/>
              </p:ext>
            </p:extLst>
          </p:nvPr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C49397-0FD6-46BD-A87C-C1125368FCE7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9600BC-8217-4CFD-B204-016314F8775C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7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61861"/>
              </p:ext>
            </p:extLst>
          </p:nvPr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265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21265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733647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1F7735-12C9-42BC-876C-9061178D809A}"/>
              </a:ext>
            </a:extLst>
          </p:cNvPr>
          <p:cNvCxnSpPr>
            <a:cxnSpLocks/>
          </p:cNvCxnSpPr>
          <p:nvPr/>
        </p:nvCxnSpPr>
        <p:spPr>
          <a:xfrm>
            <a:off x="4136065" y="3638993"/>
            <a:ext cx="184298" cy="49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5CFDFAED-A469-4988-9E86-94EF80100D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46454"/>
              </p:ext>
            </p:extLst>
          </p:nvPr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32887C82-65D5-4A4A-815C-EF7747D0C4AB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711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4B34A64-0A25-4C86-8926-1123EF3EA964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360082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D5E902-8CE7-48AC-8AEF-D4E9DBBE0F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6065" y="2542962"/>
            <a:ext cx="184298" cy="109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4466A65C-98AD-40A8-8D0C-49F5EAD4F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46454"/>
              </p:ext>
            </p:extLst>
          </p:nvPr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D9DC249-9FAE-47ED-8BB6-20CE01FB6E25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8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4B34A64-0A25-4C86-8926-1123EF3EA964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360082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D5E902-8CE7-48AC-8AEF-D4E9DBBE0F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6065" y="2542962"/>
            <a:ext cx="184298" cy="109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028FD6FD-62D2-4475-B88F-3CA81D9A9305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3949279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1F7735-12C9-42BC-876C-9061178D809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136065" y="3638993"/>
            <a:ext cx="184298" cy="49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997D65F-8F76-4504-85C7-B86ECBE0B902}"/>
              </a:ext>
            </a:extLst>
          </p:cNvPr>
          <p:cNvSpPr/>
          <p:nvPr/>
        </p:nvSpPr>
        <p:spPr>
          <a:xfrm rot="5340000">
            <a:off x="5008612" y="3704431"/>
            <a:ext cx="359336" cy="1729826"/>
          </a:xfrm>
          <a:prstGeom prst="rightBrace">
            <a:avLst>
              <a:gd name="adj1" fmla="val 33105"/>
              <a:gd name="adj2" fmla="val 5343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EDF78-BE74-4A2E-AE0D-0B75B0CA2C96}"/>
              </a:ext>
            </a:extLst>
          </p:cNvPr>
          <p:cNvSpPr txBox="1"/>
          <p:nvPr/>
        </p:nvSpPr>
        <p:spPr>
          <a:xfrm>
            <a:off x="4579088" y="4608107"/>
            <a:ext cx="12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Partitions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6D4AC1-532E-486C-BD3B-F03BB2BF744F}"/>
              </a:ext>
            </a:extLst>
          </p:cNvPr>
          <p:cNvSpPr txBox="1"/>
          <p:nvPr/>
        </p:nvSpPr>
        <p:spPr>
          <a:xfrm>
            <a:off x="4136065" y="5103720"/>
            <a:ext cx="1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Bahnschrift" panose="020B0502040204020203" pitchFamily="34" charset="0"/>
              </a:rPr>
              <a:t>mapred.local.dir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4466A65C-98AD-40A8-8D0C-49F5EAD4FEFC}"/>
              </a:ext>
            </a:extLst>
          </p:cNvPr>
          <p:cNvGraphicFramePr>
            <a:graphicFrameLocks noGrp="1"/>
          </p:cNvGraphicFramePr>
          <p:nvPr/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C0C1868C-60F4-4FB6-8F8B-87EF1EFC4F2F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95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4B34A64-0A25-4C86-8926-1123EF3EA964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360082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D5E902-8CE7-48AC-8AEF-D4E9DBBE0F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6065" y="2542962"/>
            <a:ext cx="184298" cy="109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028FD6FD-62D2-4475-B88F-3CA81D9A9305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3949279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1F7735-12C9-42BC-876C-9061178D809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136065" y="3638993"/>
            <a:ext cx="184298" cy="49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6695853" y="29515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E51DDA-95D8-40A6-8508-D875DA99B3F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049926" y="2542962"/>
            <a:ext cx="645927" cy="591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72BA4-06A3-4B42-A215-DFBFBCB205F3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6049926" y="3134478"/>
            <a:ext cx="6459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24292C-D190-4BB4-94FE-4101F89C254C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6049926" y="3134478"/>
            <a:ext cx="645927" cy="9976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997D65F-8F76-4504-85C7-B86ECBE0B902}"/>
              </a:ext>
            </a:extLst>
          </p:cNvPr>
          <p:cNvSpPr/>
          <p:nvPr/>
        </p:nvSpPr>
        <p:spPr>
          <a:xfrm rot="5340000">
            <a:off x="5008612" y="3704431"/>
            <a:ext cx="359336" cy="1729826"/>
          </a:xfrm>
          <a:prstGeom prst="rightBrace">
            <a:avLst>
              <a:gd name="adj1" fmla="val 33105"/>
              <a:gd name="adj2" fmla="val 5343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EDF78-BE74-4A2E-AE0D-0B75B0CA2C96}"/>
              </a:ext>
            </a:extLst>
          </p:cNvPr>
          <p:cNvSpPr txBox="1"/>
          <p:nvPr/>
        </p:nvSpPr>
        <p:spPr>
          <a:xfrm>
            <a:off x="4579088" y="4608107"/>
            <a:ext cx="12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Partitions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6D4AC1-532E-486C-BD3B-F03BB2BF744F}"/>
              </a:ext>
            </a:extLst>
          </p:cNvPr>
          <p:cNvSpPr txBox="1"/>
          <p:nvPr/>
        </p:nvSpPr>
        <p:spPr>
          <a:xfrm>
            <a:off x="4136065" y="5103720"/>
            <a:ext cx="1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Bahnschrift" panose="020B0502040204020203" pitchFamily="34" charset="0"/>
              </a:rPr>
              <a:t>mapred.local.dir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4466A65C-98AD-40A8-8D0C-49F5EAD4FEFC}"/>
              </a:ext>
            </a:extLst>
          </p:cNvPr>
          <p:cNvGraphicFramePr>
            <a:graphicFrameLocks noGrp="1"/>
          </p:cNvGraphicFramePr>
          <p:nvPr/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43863F8-65E8-4192-B934-C01E8EE8C8B7}"/>
              </a:ext>
            </a:extLst>
          </p:cNvPr>
          <p:cNvSpPr/>
          <p:nvPr/>
        </p:nvSpPr>
        <p:spPr>
          <a:xfrm>
            <a:off x="6234223" y="3446782"/>
            <a:ext cx="1822597" cy="3215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ahnschrift" panose="020B0502040204020203" pitchFamily="34" charset="0"/>
              </a:rPr>
              <a:t>Merge on disk</a:t>
            </a:r>
            <a:endParaRPr lang="en-IN" b="1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C47230-F4F5-40BC-8749-F5254936487D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EBAE04-B6A7-4F00-9856-0A4D26B670B6}"/>
              </a:ext>
            </a:extLst>
          </p:cNvPr>
          <p:cNvSpPr/>
          <p:nvPr/>
        </p:nvSpPr>
        <p:spPr>
          <a:xfrm>
            <a:off x="7275327" y="1616569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Copy Phase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425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060310" y="1735813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4B34A64-0A25-4C86-8926-1123EF3EA964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360082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D5E902-8CE7-48AC-8AEF-D4E9DBBE0F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6065" y="2542962"/>
            <a:ext cx="184298" cy="109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028FD6FD-62D2-4475-B88F-3CA81D9A9305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3949279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1F7735-12C9-42BC-876C-9061178D809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136065" y="3638993"/>
            <a:ext cx="184298" cy="49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6695853" y="29515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E51DDA-95D8-40A6-8508-D875DA99B3F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049926" y="2542962"/>
            <a:ext cx="645927" cy="591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72BA4-06A3-4B42-A215-DFBFBCB205F3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6049926" y="3134478"/>
            <a:ext cx="6459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24292C-D190-4BB4-94FE-4101F89C254C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6049926" y="3134478"/>
            <a:ext cx="645927" cy="9976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997D65F-8F76-4504-85C7-B86ECBE0B902}"/>
              </a:ext>
            </a:extLst>
          </p:cNvPr>
          <p:cNvSpPr/>
          <p:nvPr/>
        </p:nvSpPr>
        <p:spPr>
          <a:xfrm rot="5340000">
            <a:off x="5008612" y="3704431"/>
            <a:ext cx="359336" cy="1729826"/>
          </a:xfrm>
          <a:prstGeom prst="rightBrace">
            <a:avLst>
              <a:gd name="adj1" fmla="val 33105"/>
              <a:gd name="adj2" fmla="val 5343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EDF78-BE74-4A2E-AE0D-0B75B0CA2C96}"/>
              </a:ext>
            </a:extLst>
          </p:cNvPr>
          <p:cNvSpPr txBox="1"/>
          <p:nvPr/>
        </p:nvSpPr>
        <p:spPr>
          <a:xfrm>
            <a:off x="4579088" y="4608107"/>
            <a:ext cx="12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Partitions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6D4AC1-532E-486C-BD3B-F03BB2BF744F}"/>
              </a:ext>
            </a:extLst>
          </p:cNvPr>
          <p:cNvSpPr txBox="1"/>
          <p:nvPr/>
        </p:nvSpPr>
        <p:spPr>
          <a:xfrm>
            <a:off x="4136065" y="5103720"/>
            <a:ext cx="1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Bahnschrift" panose="020B0502040204020203" pitchFamily="34" charset="0"/>
              </a:rPr>
              <a:t>mapred.local.dir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1946198" y="4928510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4466A65C-98AD-40A8-8D0C-49F5EAD4FEFC}"/>
              </a:ext>
            </a:extLst>
          </p:cNvPr>
          <p:cNvGraphicFramePr>
            <a:graphicFrameLocks noGrp="1"/>
          </p:cNvGraphicFramePr>
          <p:nvPr/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292C13B7-99A1-490E-95C4-D6E157329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666233"/>
              </p:ext>
            </p:extLst>
          </p:nvPr>
        </p:nvGraphicFramePr>
        <p:xfrm>
          <a:off x="5699051" y="1443928"/>
          <a:ext cx="3306728" cy="789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6728">
                  <a:extLst>
                    <a:ext uri="{9D8B030D-6E8A-4147-A177-3AD203B41FA5}">
                      <a16:colId xmlns:a16="http://schemas.microsoft.com/office/drawing/2014/main" val="2719990434"/>
                    </a:ext>
                  </a:extLst>
                </a:gridCol>
              </a:tblGrid>
              <a:tr h="320355">
                <a:tc>
                  <a:txBody>
                    <a:bodyPr/>
                    <a:lstStyle/>
                    <a:p>
                      <a:r>
                        <a:rPr lang="en-IN" sz="140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mapred.compress.map.output</a:t>
                      </a:r>
                      <a:endParaRPr lang="en-IN" sz="1400" dirty="0">
                        <a:solidFill>
                          <a:schemeClr val="tx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662395"/>
                  </a:ext>
                </a:extLst>
              </a:tr>
              <a:tr h="469519">
                <a:tc>
                  <a:txBody>
                    <a:bodyPr/>
                    <a:lstStyle/>
                    <a:p>
                      <a:r>
                        <a:rPr lang="en-IN" sz="1400" dirty="0" err="1">
                          <a:latin typeface="Bahnschrift" panose="020B0502040204020203" pitchFamily="34" charset="0"/>
                        </a:rPr>
                        <a:t>mapred.map.output.compression.codec</a:t>
                      </a:r>
                      <a:endParaRPr lang="en-IN" sz="1400" dirty="0">
                        <a:latin typeface="Bahnschrift" panose="020B050204020402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99444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6011C630-DF35-464B-BD87-8F51AE87EE37}"/>
              </a:ext>
            </a:extLst>
          </p:cNvPr>
          <p:cNvSpPr/>
          <p:nvPr/>
        </p:nvSpPr>
        <p:spPr>
          <a:xfrm>
            <a:off x="233916" y="163741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Map Task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3A13E9-6364-4AA6-8E32-E8561BA59827}"/>
              </a:ext>
            </a:extLst>
          </p:cNvPr>
          <p:cNvSpPr/>
          <p:nvPr/>
        </p:nvSpPr>
        <p:spPr>
          <a:xfrm>
            <a:off x="568843" y="2822944"/>
            <a:ext cx="313659" cy="16417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INPUT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91CEBF-C197-4784-A43B-E3F144A89BE0}"/>
              </a:ext>
            </a:extLst>
          </p:cNvPr>
          <p:cNvSpPr/>
          <p:nvPr/>
        </p:nvSpPr>
        <p:spPr>
          <a:xfrm>
            <a:off x="1254642" y="2551814"/>
            <a:ext cx="967563" cy="214777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MAP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4CBA7B8-1819-4F9A-9833-1902AE245748}"/>
              </a:ext>
            </a:extLst>
          </p:cNvPr>
          <p:cNvSpPr/>
          <p:nvPr/>
        </p:nvSpPr>
        <p:spPr>
          <a:xfrm rot="-5460000">
            <a:off x="3112402" y="2178960"/>
            <a:ext cx="456017" cy="1308905"/>
          </a:xfrm>
          <a:prstGeom prst="rightBrace">
            <a:avLst>
              <a:gd name="adj1" fmla="val 6384"/>
              <a:gd name="adj2" fmla="val 4860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C6DE-737B-45F8-8D2E-5A75DDEC22CF}"/>
              </a:ext>
            </a:extLst>
          </p:cNvPr>
          <p:cNvSpPr txBox="1"/>
          <p:nvPr/>
        </p:nvSpPr>
        <p:spPr>
          <a:xfrm>
            <a:off x="2594345" y="2158409"/>
            <a:ext cx="154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Bahnschrift" panose="020B0502040204020203" pitchFamily="34" charset="0"/>
              </a:rPr>
              <a:t>In memory buffer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72A515-E1A5-480E-939D-13C57C1315F9}"/>
              </a:ext>
            </a:extLst>
          </p:cNvPr>
          <p:cNvSpPr txBox="1"/>
          <p:nvPr/>
        </p:nvSpPr>
        <p:spPr>
          <a:xfrm>
            <a:off x="4320363" y="1492249"/>
            <a:ext cx="15417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 err="1">
                <a:latin typeface="Bahnschrift" panose="020B0502040204020203" pitchFamily="34" charset="0"/>
              </a:rPr>
              <a:t>Partition,sort</a:t>
            </a:r>
            <a:r>
              <a:rPr lang="en-IN" dirty="0">
                <a:latin typeface="Bahnschrift" panose="020B0502040204020203" pitchFamily="34" charset="0"/>
              </a:rPr>
              <a:t> and Spill on local disk</a:t>
            </a:r>
          </a:p>
        </p:txBody>
      </p:sp>
      <p:graphicFrame>
        <p:nvGraphicFramePr>
          <p:cNvPr id="11" name="Table 9">
            <a:extLst>
              <a:ext uri="{FF2B5EF4-FFF2-40B4-BE49-F238E27FC236}">
                <a16:creationId xmlns:a16="http://schemas.microsoft.com/office/drawing/2014/main" id="{E79EC64F-85B4-4B8B-9FCC-6B5D184FDBCB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951598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4B34A64-0A25-4C86-8926-1123EF3EA964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2360082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C816A6-1A45-4D17-97B8-2F85035AEB33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882502" y="3625703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867500-5F11-4224-9F9F-21A1B561500E}"/>
              </a:ext>
            </a:extLst>
          </p:cNvPr>
          <p:cNvCxnSpPr/>
          <p:nvPr/>
        </p:nvCxnSpPr>
        <p:spPr>
          <a:xfrm flipV="1">
            <a:off x="2223977" y="3607579"/>
            <a:ext cx="372140" cy="18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E208EE6-2AEB-417D-BFAA-34359CD4943A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136065" y="3134478"/>
            <a:ext cx="184298" cy="504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D5E902-8CE7-48AC-8AEF-D4E9DBBE0FB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136065" y="2542962"/>
            <a:ext cx="184298" cy="109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3" name="Table 9">
            <a:extLst>
              <a:ext uri="{FF2B5EF4-FFF2-40B4-BE49-F238E27FC236}">
                <a16:creationId xmlns:a16="http://schemas.microsoft.com/office/drawing/2014/main" id="{028FD6FD-62D2-4475-B88F-3CA81D9A9305}"/>
              </a:ext>
            </a:extLst>
          </p:cNvPr>
          <p:cNvGraphicFramePr>
            <a:graphicFrameLocks noGrp="1"/>
          </p:cNvGraphicFramePr>
          <p:nvPr/>
        </p:nvGraphicFramePr>
        <p:xfrm>
          <a:off x="4320363" y="3949279"/>
          <a:ext cx="172956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521">
                  <a:extLst>
                    <a:ext uri="{9D8B030D-6E8A-4147-A177-3AD203B41FA5}">
                      <a16:colId xmlns:a16="http://schemas.microsoft.com/office/drawing/2014/main" val="1792558081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1894167360"/>
                    </a:ext>
                  </a:extLst>
                </a:gridCol>
                <a:gridCol w="576521">
                  <a:extLst>
                    <a:ext uri="{9D8B030D-6E8A-4147-A177-3AD203B41FA5}">
                      <a16:colId xmlns:a16="http://schemas.microsoft.com/office/drawing/2014/main" val="843195771"/>
                    </a:ext>
                  </a:extLst>
                </a:gridCol>
              </a:tblGrid>
              <a:tr h="36417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611547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1F7735-12C9-42BC-876C-9061178D809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4136065" y="3638993"/>
            <a:ext cx="184298" cy="493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6695853" y="29515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FE51DDA-95D8-40A6-8508-D875DA99B3F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6049926" y="2542962"/>
            <a:ext cx="645927" cy="591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72BA4-06A3-4B42-A215-DFBFBCB205F3}"/>
              </a:ext>
            </a:extLst>
          </p:cNvPr>
          <p:cNvCxnSpPr>
            <a:cxnSpLocks/>
            <a:stCxn id="11" idx="3"/>
            <a:endCxn id="27" idx="1"/>
          </p:cNvCxnSpPr>
          <p:nvPr/>
        </p:nvCxnSpPr>
        <p:spPr>
          <a:xfrm>
            <a:off x="6049926" y="3134478"/>
            <a:ext cx="6459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824292C-D190-4BB4-94FE-4101F89C254C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6049926" y="3134478"/>
            <a:ext cx="645927" cy="9976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629FF395-00F1-4EF4-BC1E-0E3FCCD0A70D}"/>
              </a:ext>
            </a:extLst>
          </p:cNvPr>
          <p:cNvGraphicFramePr>
            <a:graphicFrameLocks noGrp="1"/>
          </p:cNvGraphicFramePr>
          <p:nvPr/>
        </p:nvGraphicFramePr>
        <p:xfrm>
          <a:off x="6372888" y="5282963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470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9D9D004-9F06-488C-AF36-1AF1FB713EEF}"/>
              </a:ext>
            </a:extLst>
          </p:cNvPr>
          <p:cNvGraphicFramePr>
            <a:graphicFrameLocks noGrp="1"/>
          </p:cNvGraphicFramePr>
          <p:nvPr/>
        </p:nvGraphicFramePr>
        <p:xfrm>
          <a:off x="6372888" y="6020152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288149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0A4974-20D3-4F4C-9F91-C384D5DC91F1}"/>
              </a:ext>
            </a:extLst>
          </p:cNvPr>
          <p:cNvSpPr txBox="1"/>
          <p:nvPr/>
        </p:nvSpPr>
        <p:spPr>
          <a:xfrm>
            <a:off x="503054" y="5265373"/>
            <a:ext cx="57243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-------------------------------------------------------------------------------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8FC53-2A82-4242-AE01-F8B082B2C40F}"/>
              </a:ext>
            </a:extLst>
          </p:cNvPr>
          <p:cNvSpPr txBox="1"/>
          <p:nvPr/>
        </p:nvSpPr>
        <p:spPr>
          <a:xfrm>
            <a:off x="568843" y="5983820"/>
            <a:ext cx="57243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-------------------------------------------------------------------------------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3997D65F-8F76-4504-85C7-B86ECBE0B902}"/>
              </a:ext>
            </a:extLst>
          </p:cNvPr>
          <p:cNvSpPr/>
          <p:nvPr/>
        </p:nvSpPr>
        <p:spPr>
          <a:xfrm rot="5340000">
            <a:off x="5008612" y="3704431"/>
            <a:ext cx="359336" cy="1729826"/>
          </a:xfrm>
          <a:prstGeom prst="rightBrace">
            <a:avLst>
              <a:gd name="adj1" fmla="val 33105"/>
              <a:gd name="adj2" fmla="val 5343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EDF78-BE74-4A2E-AE0D-0B75B0CA2C96}"/>
              </a:ext>
            </a:extLst>
          </p:cNvPr>
          <p:cNvSpPr txBox="1"/>
          <p:nvPr/>
        </p:nvSpPr>
        <p:spPr>
          <a:xfrm>
            <a:off x="4579088" y="4608107"/>
            <a:ext cx="121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Partitions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C6D4AC1-532E-486C-BD3B-F03BB2BF744F}"/>
              </a:ext>
            </a:extLst>
          </p:cNvPr>
          <p:cNvSpPr txBox="1"/>
          <p:nvPr/>
        </p:nvSpPr>
        <p:spPr>
          <a:xfrm>
            <a:off x="4136065" y="4841606"/>
            <a:ext cx="199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Bahnschrift" panose="020B0502040204020203" pitchFamily="34" charset="0"/>
              </a:rPr>
              <a:t>mapred.local.dir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F5C310-48E8-40B7-97AC-17368427C3C0}"/>
              </a:ext>
            </a:extLst>
          </p:cNvPr>
          <p:cNvSpPr txBox="1"/>
          <p:nvPr/>
        </p:nvSpPr>
        <p:spPr>
          <a:xfrm>
            <a:off x="2202261" y="4706332"/>
            <a:ext cx="2109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Bahnschrift" panose="020B0502040204020203" pitchFamily="34" charset="0"/>
              </a:rPr>
              <a:t>io.sort.mb</a:t>
            </a:r>
            <a:br>
              <a:rPr lang="en-IN" sz="1600" dirty="0">
                <a:latin typeface="Bahnschrift" panose="020B0502040204020203" pitchFamily="34" charset="0"/>
              </a:rPr>
            </a:br>
            <a:r>
              <a:rPr lang="en-IN" sz="1600" dirty="0">
                <a:latin typeface="Bahnschrift" panose="020B0502040204020203" pitchFamily="34" charset="0"/>
              </a:rPr>
              <a:t>100Mb(default)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A1E0CE-CC26-400C-B393-EC4DD53CFADA}"/>
              </a:ext>
            </a:extLst>
          </p:cNvPr>
          <p:cNvSpPr txBox="1"/>
          <p:nvPr/>
        </p:nvSpPr>
        <p:spPr>
          <a:xfrm>
            <a:off x="2319532" y="3960586"/>
            <a:ext cx="19918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Bahnschrift" panose="020B0502040204020203" pitchFamily="34" charset="0"/>
              </a:rPr>
              <a:t>80%</a:t>
            </a:r>
          </a:p>
          <a:p>
            <a:r>
              <a:rPr lang="en-IN" sz="1600" dirty="0" err="1">
                <a:latin typeface="Bahnschrift" panose="020B0502040204020203" pitchFamily="34" charset="0"/>
              </a:rPr>
              <a:t>io.sort.spill.percent</a:t>
            </a:r>
            <a:endParaRPr lang="en-IN" sz="1600" dirty="0">
              <a:latin typeface="Bahnschrift" panose="020B0502040204020203" pitchFamily="34" charset="0"/>
            </a:endParaRPr>
          </a:p>
        </p:txBody>
      </p:sp>
      <p:graphicFrame>
        <p:nvGraphicFramePr>
          <p:cNvPr id="31" name="Table 8">
            <a:extLst>
              <a:ext uri="{FF2B5EF4-FFF2-40B4-BE49-F238E27FC236}">
                <a16:creationId xmlns:a16="http://schemas.microsoft.com/office/drawing/2014/main" id="{4466A65C-98AD-40A8-8D0C-49F5EAD4FEFC}"/>
              </a:ext>
            </a:extLst>
          </p:cNvPr>
          <p:cNvGraphicFramePr>
            <a:graphicFrameLocks noGrp="1"/>
          </p:cNvGraphicFramePr>
          <p:nvPr/>
        </p:nvGraphicFramePr>
        <p:xfrm>
          <a:off x="2594345" y="3334797"/>
          <a:ext cx="1541720" cy="584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846">
                  <a:extLst>
                    <a:ext uri="{9D8B030D-6E8A-4147-A177-3AD203B41FA5}">
                      <a16:colId xmlns:a16="http://schemas.microsoft.com/office/drawing/2014/main" val="3547686976"/>
                    </a:ext>
                  </a:extLst>
                </a:gridCol>
                <a:gridCol w="350874">
                  <a:extLst>
                    <a:ext uri="{9D8B030D-6E8A-4147-A177-3AD203B41FA5}">
                      <a16:colId xmlns:a16="http://schemas.microsoft.com/office/drawing/2014/main" val="294979359"/>
                    </a:ext>
                  </a:extLst>
                </a:gridCol>
              </a:tblGrid>
              <a:tr h="5847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088151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FF1DC36C-4998-4F86-ADC7-428FCEDD41D0}"/>
              </a:ext>
            </a:extLst>
          </p:cNvPr>
          <p:cNvSpPr/>
          <p:nvPr/>
        </p:nvSpPr>
        <p:spPr>
          <a:xfrm>
            <a:off x="6907840" y="1526194"/>
            <a:ext cx="1562986" cy="5666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Copy Phase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081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275093"/>
              </p:ext>
            </p:extLst>
          </p:nvPr>
        </p:nvGraphicFramePr>
        <p:xfrm>
          <a:off x="3022520" y="32891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629FF395-00F1-4EF4-BC1E-0E3FCCD0A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50607"/>
              </p:ext>
            </p:extLst>
          </p:nvPr>
        </p:nvGraphicFramePr>
        <p:xfrm>
          <a:off x="2991731" y="5421980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470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9D9D004-9F06-488C-AF36-1AF1FB713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08929"/>
              </p:ext>
            </p:extLst>
          </p:nvPr>
        </p:nvGraphicFramePr>
        <p:xfrm>
          <a:off x="2991731" y="6183022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28814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0A4974-20D3-4F4C-9F91-C384D5DC91F1}"/>
              </a:ext>
            </a:extLst>
          </p:cNvPr>
          <p:cNvSpPr txBox="1"/>
          <p:nvPr/>
        </p:nvSpPr>
        <p:spPr>
          <a:xfrm>
            <a:off x="88385" y="5464575"/>
            <a:ext cx="26328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8FC53-2A82-4242-AE01-F8B082B2C40F}"/>
              </a:ext>
            </a:extLst>
          </p:cNvPr>
          <p:cNvSpPr txBox="1"/>
          <p:nvPr/>
        </p:nvSpPr>
        <p:spPr>
          <a:xfrm>
            <a:off x="154173" y="6183022"/>
            <a:ext cx="25671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5AACC-028D-4F33-AAEC-D707FB99F0EB}"/>
              </a:ext>
            </a:extLst>
          </p:cNvPr>
          <p:cNvSpPr/>
          <p:nvPr/>
        </p:nvSpPr>
        <p:spPr>
          <a:xfrm>
            <a:off x="3249349" y="2542919"/>
            <a:ext cx="1856266" cy="365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Copy 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DA6D-7BD3-496B-BEC9-0D000C1AD0CA}"/>
              </a:ext>
            </a:extLst>
          </p:cNvPr>
          <p:cNvSpPr/>
          <p:nvPr/>
        </p:nvSpPr>
        <p:spPr>
          <a:xfrm>
            <a:off x="5890437" y="1818167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0A831-A692-474A-B644-D852436A058C}"/>
              </a:ext>
            </a:extLst>
          </p:cNvPr>
          <p:cNvSpPr/>
          <p:nvPr/>
        </p:nvSpPr>
        <p:spPr>
          <a:xfrm>
            <a:off x="5890437" y="3242025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C866C6-2AB4-4645-836D-CC5C3FA2B947}"/>
              </a:ext>
            </a:extLst>
          </p:cNvPr>
          <p:cNvSpPr/>
          <p:nvPr/>
        </p:nvSpPr>
        <p:spPr>
          <a:xfrm>
            <a:off x="5890437" y="4759198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2495EC-2EEB-438D-A8ED-F51FC9B33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838746"/>
              </p:ext>
            </p:extLst>
          </p:nvPr>
        </p:nvGraphicFramePr>
        <p:xfrm>
          <a:off x="5999636" y="191803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53232ECE-DC9F-4626-9832-EC8A4E4B2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29477"/>
              </p:ext>
            </p:extLst>
          </p:nvPr>
        </p:nvGraphicFramePr>
        <p:xfrm>
          <a:off x="5999636" y="232703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6" name="Table 12">
            <a:extLst>
              <a:ext uri="{FF2B5EF4-FFF2-40B4-BE49-F238E27FC236}">
                <a16:creationId xmlns:a16="http://schemas.microsoft.com/office/drawing/2014/main" id="{7735DFAB-E431-458B-8679-74A5E822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29646"/>
              </p:ext>
            </p:extLst>
          </p:nvPr>
        </p:nvGraphicFramePr>
        <p:xfrm>
          <a:off x="6001837" y="272579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CC86A-2F30-4061-A45A-9F541C514BDA}"/>
              </a:ext>
            </a:extLst>
          </p:cNvPr>
          <p:cNvCxnSpPr>
            <a:endCxn id="9" idx="1"/>
          </p:cNvCxnSpPr>
          <p:nvPr/>
        </p:nvCxnSpPr>
        <p:spPr>
          <a:xfrm flipV="1">
            <a:off x="3444949" y="2100914"/>
            <a:ext cx="2554687" cy="1328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2587DB-98C1-478D-AB2B-739FD32FEFA5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583172" y="2509918"/>
            <a:ext cx="2416464" cy="2954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1AC464-DF65-49CC-8F6D-7257F291EF29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3279267" y="2908678"/>
            <a:ext cx="2722570" cy="3367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2976733-7895-4DF6-977F-9B99C1D95D43}"/>
              </a:ext>
            </a:extLst>
          </p:cNvPr>
          <p:cNvSpPr/>
          <p:nvPr/>
        </p:nvSpPr>
        <p:spPr>
          <a:xfrm>
            <a:off x="338362" y="1711842"/>
            <a:ext cx="3755173" cy="725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Partitions are copied by the reducer from the network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5F1C92-B806-48C8-9497-9ADFE7FD6EC5}"/>
              </a:ext>
            </a:extLst>
          </p:cNvPr>
          <p:cNvSpPr/>
          <p:nvPr/>
        </p:nvSpPr>
        <p:spPr>
          <a:xfrm>
            <a:off x="6464595" y="1325563"/>
            <a:ext cx="1605516" cy="4506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Sort Phase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291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3022520" y="32891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629FF395-00F1-4EF4-BC1E-0E3FCCD0A70D}"/>
              </a:ext>
            </a:extLst>
          </p:cNvPr>
          <p:cNvGraphicFramePr>
            <a:graphicFrameLocks noGrp="1"/>
          </p:cNvGraphicFramePr>
          <p:nvPr/>
        </p:nvGraphicFramePr>
        <p:xfrm>
          <a:off x="2991731" y="5421980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470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9D9D004-9F06-488C-AF36-1AF1FB713EEF}"/>
              </a:ext>
            </a:extLst>
          </p:cNvPr>
          <p:cNvGraphicFramePr>
            <a:graphicFrameLocks noGrp="1"/>
          </p:cNvGraphicFramePr>
          <p:nvPr/>
        </p:nvGraphicFramePr>
        <p:xfrm>
          <a:off x="2991731" y="6183022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28814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0A4974-20D3-4F4C-9F91-C384D5DC91F1}"/>
              </a:ext>
            </a:extLst>
          </p:cNvPr>
          <p:cNvSpPr txBox="1"/>
          <p:nvPr/>
        </p:nvSpPr>
        <p:spPr>
          <a:xfrm>
            <a:off x="88385" y="5464575"/>
            <a:ext cx="26328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8FC53-2A82-4242-AE01-F8B082B2C40F}"/>
              </a:ext>
            </a:extLst>
          </p:cNvPr>
          <p:cNvSpPr txBox="1"/>
          <p:nvPr/>
        </p:nvSpPr>
        <p:spPr>
          <a:xfrm>
            <a:off x="154173" y="6183022"/>
            <a:ext cx="25671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5AACC-028D-4F33-AAEC-D707FB99F0EB}"/>
              </a:ext>
            </a:extLst>
          </p:cNvPr>
          <p:cNvSpPr/>
          <p:nvPr/>
        </p:nvSpPr>
        <p:spPr>
          <a:xfrm>
            <a:off x="3249349" y="2542919"/>
            <a:ext cx="1856266" cy="365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Copy 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DA6D-7BD3-496B-BEC9-0D000C1AD0CA}"/>
              </a:ext>
            </a:extLst>
          </p:cNvPr>
          <p:cNvSpPr/>
          <p:nvPr/>
        </p:nvSpPr>
        <p:spPr>
          <a:xfrm>
            <a:off x="5890437" y="1818167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0A831-A692-474A-B644-D852436A058C}"/>
              </a:ext>
            </a:extLst>
          </p:cNvPr>
          <p:cNvSpPr/>
          <p:nvPr/>
        </p:nvSpPr>
        <p:spPr>
          <a:xfrm>
            <a:off x="5890437" y="3242025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C866C6-2AB4-4645-836D-CC5C3FA2B947}"/>
              </a:ext>
            </a:extLst>
          </p:cNvPr>
          <p:cNvSpPr/>
          <p:nvPr/>
        </p:nvSpPr>
        <p:spPr>
          <a:xfrm>
            <a:off x="5890437" y="4759198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2495EC-2EEB-438D-A8ED-F51FC9B33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67526"/>
              </p:ext>
            </p:extLst>
          </p:nvPr>
        </p:nvGraphicFramePr>
        <p:xfrm>
          <a:off x="5999636" y="191803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53232ECE-DC9F-4626-9832-EC8A4E4B2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53977"/>
              </p:ext>
            </p:extLst>
          </p:nvPr>
        </p:nvGraphicFramePr>
        <p:xfrm>
          <a:off x="5999636" y="232703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6" name="Table 12">
            <a:extLst>
              <a:ext uri="{FF2B5EF4-FFF2-40B4-BE49-F238E27FC236}">
                <a16:creationId xmlns:a16="http://schemas.microsoft.com/office/drawing/2014/main" id="{7735DFAB-E431-458B-8679-74A5E822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759879"/>
              </p:ext>
            </p:extLst>
          </p:nvPr>
        </p:nvGraphicFramePr>
        <p:xfrm>
          <a:off x="6001837" y="272579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CC86A-2F30-4061-A45A-9F541C514BD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124768" y="3266481"/>
            <a:ext cx="1906987" cy="2517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2587DB-98C1-478D-AB2B-739FD32FEFA5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4308176" y="3871434"/>
            <a:ext cx="1691460" cy="15505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1AC464-DF65-49CC-8F6D-7257F291EF29}"/>
              </a:ext>
            </a:extLst>
          </p:cNvPr>
          <p:cNvCxnSpPr>
            <a:cxnSpLocks/>
            <a:stCxn id="39" idx="0"/>
            <a:endCxn id="20" idx="1"/>
          </p:cNvCxnSpPr>
          <p:nvPr/>
        </p:nvCxnSpPr>
        <p:spPr>
          <a:xfrm flipV="1">
            <a:off x="4308176" y="4325984"/>
            <a:ext cx="1725780" cy="18570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B02A5FE0-16DB-40A8-A320-3460F5D8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76964"/>
              </p:ext>
            </p:extLst>
          </p:nvPr>
        </p:nvGraphicFramePr>
        <p:xfrm>
          <a:off x="6031755" y="3335340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19" name="Table 12">
            <a:extLst>
              <a:ext uri="{FF2B5EF4-FFF2-40B4-BE49-F238E27FC236}">
                <a16:creationId xmlns:a16="http://schemas.microsoft.com/office/drawing/2014/main" id="{7A783DE7-7753-414E-B25A-376233F13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769813"/>
              </p:ext>
            </p:extLst>
          </p:nvPr>
        </p:nvGraphicFramePr>
        <p:xfrm>
          <a:off x="6031755" y="374434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F2720B0-BE68-4349-BE91-DE98D9086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554494"/>
              </p:ext>
            </p:extLst>
          </p:nvPr>
        </p:nvGraphicFramePr>
        <p:xfrm>
          <a:off x="6033956" y="414310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FB580F83-B4A3-49F0-B8C3-C84B72B647E2}"/>
              </a:ext>
            </a:extLst>
          </p:cNvPr>
          <p:cNvSpPr/>
          <p:nvPr/>
        </p:nvSpPr>
        <p:spPr>
          <a:xfrm>
            <a:off x="338362" y="1711842"/>
            <a:ext cx="3755173" cy="725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Partitions are copied by the reducer from the network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1101A6-92A1-4CD3-9526-8DEC2D17F638}"/>
              </a:ext>
            </a:extLst>
          </p:cNvPr>
          <p:cNvSpPr/>
          <p:nvPr/>
        </p:nvSpPr>
        <p:spPr>
          <a:xfrm>
            <a:off x="6464595" y="1325563"/>
            <a:ext cx="1605516" cy="4506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Sort Phase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90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3022520" y="32891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629FF395-00F1-4EF4-BC1E-0E3FCCD0A70D}"/>
              </a:ext>
            </a:extLst>
          </p:cNvPr>
          <p:cNvGraphicFramePr>
            <a:graphicFrameLocks noGrp="1"/>
          </p:cNvGraphicFramePr>
          <p:nvPr/>
        </p:nvGraphicFramePr>
        <p:xfrm>
          <a:off x="2991731" y="5421980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4702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9D9D004-9F06-488C-AF36-1AF1FB713EEF}"/>
              </a:ext>
            </a:extLst>
          </p:cNvPr>
          <p:cNvGraphicFramePr>
            <a:graphicFrameLocks noGrp="1"/>
          </p:cNvGraphicFramePr>
          <p:nvPr/>
        </p:nvGraphicFramePr>
        <p:xfrm>
          <a:off x="2991731" y="6183022"/>
          <a:ext cx="263289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630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77630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28814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0A4974-20D3-4F4C-9F91-C384D5DC91F1}"/>
              </a:ext>
            </a:extLst>
          </p:cNvPr>
          <p:cNvSpPr txBox="1"/>
          <p:nvPr/>
        </p:nvSpPr>
        <p:spPr>
          <a:xfrm>
            <a:off x="88385" y="5464575"/>
            <a:ext cx="26328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8FC53-2A82-4242-AE01-F8B082B2C40F}"/>
              </a:ext>
            </a:extLst>
          </p:cNvPr>
          <p:cNvSpPr txBox="1"/>
          <p:nvPr/>
        </p:nvSpPr>
        <p:spPr>
          <a:xfrm>
            <a:off x="154173" y="6183022"/>
            <a:ext cx="25671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5AACC-028D-4F33-AAEC-D707FB99F0EB}"/>
              </a:ext>
            </a:extLst>
          </p:cNvPr>
          <p:cNvSpPr/>
          <p:nvPr/>
        </p:nvSpPr>
        <p:spPr>
          <a:xfrm>
            <a:off x="3249349" y="2542919"/>
            <a:ext cx="1856266" cy="365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Copy 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DA6D-7BD3-496B-BEC9-0D000C1AD0CA}"/>
              </a:ext>
            </a:extLst>
          </p:cNvPr>
          <p:cNvSpPr/>
          <p:nvPr/>
        </p:nvSpPr>
        <p:spPr>
          <a:xfrm>
            <a:off x="5890437" y="1818167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0A831-A692-474A-B644-D852436A058C}"/>
              </a:ext>
            </a:extLst>
          </p:cNvPr>
          <p:cNvSpPr/>
          <p:nvPr/>
        </p:nvSpPr>
        <p:spPr>
          <a:xfrm>
            <a:off x="5890437" y="3242025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C866C6-2AB4-4645-836D-CC5C3FA2B947}"/>
              </a:ext>
            </a:extLst>
          </p:cNvPr>
          <p:cNvSpPr/>
          <p:nvPr/>
        </p:nvSpPr>
        <p:spPr>
          <a:xfrm>
            <a:off x="5890437" y="4759198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2495EC-2EEB-438D-A8ED-F51FC9B33B42}"/>
              </a:ext>
            </a:extLst>
          </p:cNvPr>
          <p:cNvGraphicFramePr>
            <a:graphicFrameLocks noGrp="1"/>
          </p:cNvGraphicFramePr>
          <p:nvPr/>
        </p:nvGraphicFramePr>
        <p:xfrm>
          <a:off x="5999636" y="191803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53232ECE-DC9F-4626-9832-EC8A4E4B2976}"/>
              </a:ext>
            </a:extLst>
          </p:cNvPr>
          <p:cNvGraphicFramePr>
            <a:graphicFrameLocks noGrp="1"/>
          </p:cNvGraphicFramePr>
          <p:nvPr/>
        </p:nvGraphicFramePr>
        <p:xfrm>
          <a:off x="5999636" y="232703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6" name="Table 12">
            <a:extLst>
              <a:ext uri="{FF2B5EF4-FFF2-40B4-BE49-F238E27FC236}">
                <a16:creationId xmlns:a16="http://schemas.microsoft.com/office/drawing/2014/main" id="{7735DFAB-E431-458B-8679-74A5E82291C0}"/>
              </a:ext>
            </a:extLst>
          </p:cNvPr>
          <p:cNvGraphicFramePr>
            <a:graphicFrameLocks noGrp="1"/>
          </p:cNvGraphicFramePr>
          <p:nvPr/>
        </p:nvGraphicFramePr>
        <p:xfrm>
          <a:off x="6001837" y="272579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CC86A-2F30-4061-A45A-9F541C514BDA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>
            <a:off x="5332445" y="3472078"/>
            <a:ext cx="699310" cy="1560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2587DB-98C1-478D-AB2B-739FD32FEFA5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5332445" y="5441480"/>
            <a:ext cx="699310" cy="1336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1AC464-DF65-49CC-8F6D-7257F291EF29}"/>
              </a:ext>
            </a:extLst>
          </p:cNvPr>
          <p:cNvCxnSpPr>
            <a:cxnSpLocks/>
            <a:stCxn id="39" idx="3"/>
            <a:endCxn id="23" idx="1"/>
          </p:cNvCxnSpPr>
          <p:nvPr/>
        </p:nvCxnSpPr>
        <p:spPr>
          <a:xfrm flipV="1">
            <a:off x="5624621" y="5840240"/>
            <a:ext cx="409335" cy="525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B02A5FE0-16DB-40A8-A320-3460F5D8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724757"/>
              </p:ext>
            </p:extLst>
          </p:nvPr>
        </p:nvGraphicFramePr>
        <p:xfrm>
          <a:off x="6031755" y="3335340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19" name="Table 12">
            <a:extLst>
              <a:ext uri="{FF2B5EF4-FFF2-40B4-BE49-F238E27FC236}">
                <a16:creationId xmlns:a16="http://schemas.microsoft.com/office/drawing/2014/main" id="{7A783DE7-7753-414E-B25A-376233F13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618495"/>
              </p:ext>
            </p:extLst>
          </p:nvPr>
        </p:nvGraphicFramePr>
        <p:xfrm>
          <a:off x="6031755" y="374434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F2720B0-BE68-4349-BE91-DE98D9086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209622"/>
              </p:ext>
            </p:extLst>
          </p:nvPr>
        </p:nvGraphicFramePr>
        <p:xfrm>
          <a:off x="6033956" y="4143104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1" name="Table 12">
            <a:extLst>
              <a:ext uri="{FF2B5EF4-FFF2-40B4-BE49-F238E27FC236}">
                <a16:creationId xmlns:a16="http://schemas.microsoft.com/office/drawing/2014/main" id="{44062A0C-7895-4DBA-9525-216569563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206379"/>
              </p:ext>
            </p:extLst>
          </p:nvPr>
        </p:nvGraphicFramePr>
        <p:xfrm>
          <a:off x="6031755" y="4849596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2" name="Table 12">
            <a:extLst>
              <a:ext uri="{FF2B5EF4-FFF2-40B4-BE49-F238E27FC236}">
                <a16:creationId xmlns:a16="http://schemas.microsoft.com/office/drawing/2014/main" id="{536DD1A7-77A5-4A69-BF37-5D694E880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34212"/>
              </p:ext>
            </p:extLst>
          </p:nvPr>
        </p:nvGraphicFramePr>
        <p:xfrm>
          <a:off x="6031755" y="5258600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3" name="Table 12">
            <a:extLst>
              <a:ext uri="{FF2B5EF4-FFF2-40B4-BE49-F238E27FC236}">
                <a16:creationId xmlns:a16="http://schemas.microsoft.com/office/drawing/2014/main" id="{E2E9B613-3AA0-4066-BA12-3744D6ED4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66451"/>
              </p:ext>
            </p:extLst>
          </p:nvPr>
        </p:nvGraphicFramePr>
        <p:xfrm>
          <a:off x="6033956" y="5657360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F3143F19-A9B3-4DE9-81EA-49F89339E2EA}"/>
              </a:ext>
            </a:extLst>
          </p:cNvPr>
          <p:cNvSpPr/>
          <p:nvPr/>
        </p:nvSpPr>
        <p:spPr>
          <a:xfrm>
            <a:off x="338362" y="1711842"/>
            <a:ext cx="3755173" cy="725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Partitions are copied by the reducer from the network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0BC7CA1-7E14-418F-8E11-581F5BAC5742}"/>
              </a:ext>
            </a:extLst>
          </p:cNvPr>
          <p:cNvSpPr/>
          <p:nvPr/>
        </p:nvSpPr>
        <p:spPr>
          <a:xfrm>
            <a:off x="6464595" y="1325563"/>
            <a:ext cx="1605516" cy="4506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Sort Phase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088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BD7B73-A134-4BBE-A6E6-12C706B5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9353F84E-4D2B-4B7E-ACEE-526B164F9956}"/>
              </a:ext>
            </a:extLst>
          </p:cNvPr>
          <p:cNvGraphicFramePr>
            <a:graphicFrameLocks noGrp="1"/>
          </p:cNvGraphicFramePr>
          <p:nvPr/>
        </p:nvGraphicFramePr>
        <p:xfrm>
          <a:off x="3022520" y="3289198"/>
          <a:ext cx="230992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975">
                  <a:extLst>
                    <a:ext uri="{9D8B030D-6E8A-4147-A177-3AD203B41FA5}">
                      <a16:colId xmlns:a16="http://schemas.microsoft.com/office/drawing/2014/main" val="2978623726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3711665985"/>
                    </a:ext>
                  </a:extLst>
                </a:gridCol>
                <a:gridCol w="769975">
                  <a:extLst>
                    <a:ext uri="{9D8B030D-6E8A-4147-A177-3AD203B41FA5}">
                      <a16:colId xmlns:a16="http://schemas.microsoft.com/office/drawing/2014/main" val="1490026152"/>
                    </a:ext>
                  </a:extLst>
                </a:gridCol>
              </a:tblGrid>
              <a:tr h="34369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823160"/>
                  </a:ext>
                </a:extLst>
              </a:tr>
            </a:tbl>
          </a:graphicData>
        </a:graphic>
      </p:graphicFrame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629FF395-00F1-4EF4-BC1E-0E3FCCD0A7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16714"/>
              </p:ext>
            </p:extLst>
          </p:nvPr>
        </p:nvGraphicFramePr>
        <p:xfrm>
          <a:off x="2991731" y="5421979"/>
          <a:ext cx="2510547" cy="379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849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836849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836849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79493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9D9D004-9F06-488C-AF36-1AF1FB713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951807"/>
              </p:ext>
            </p:extLst>
          </p:nvPr>
        </p:nvGraphicFramePr>
        <p:xfrm>
          <a:off x="2991731" y="6183021"/>
          <a:ext cx="2340714" cy="379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238">
                  <a:extLst>
                    <a:ext uri="{9D8B030D-6E8A-4147-A177-3AD203B41FA5}">
                      <a16:colId xmlns:a16="http://schemas.microsoft.com/office/drawing/2014/main" val="1159291251"/>
                    </a:ext>
                  </a:extLst>
                </a:gridCol>
                <a:gridCol w="780238">
                  <a:extLst>
                    <a:ext uri="{9D8B030D-6E8A-4147-A177-3AD203B41FA5}">
                      <a16:colId xmlns:a16="http://schemas.microsoft.com/office/drawing/2014/main" val="2829072838"/>
                    </a:ext>
                  </a:extLst>
                </a:gridCol>
                <a:gridCol w="780238">
                  <a:extLst>
                    <a:ext uri="{9D8B030D-6E8A-4147-A177-3AD203B41FA5}">
                      <a16:colId xmlns:a16="http://schemas.microsoft.com/office/drawing/2014/main" val="746852626"/>
                    </a:ext>
                  </a:extLst>
                </a:gridCol>
              </a:tblGrid>
              <a:tr h="37949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22543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090A4974-20D3-4F4C-9F91-C384D5DC91F1}"/>
              </a:ext>
            </a:extLst>
          </p:cNvPr>
          <p:cNvSpPr txBox="1"/>
          <p:nvPr/>
        </p:nvSpPr>
        <p:spPr>
          <a:xfrm>
            <a:off x="88385" y="5464575"/>
            <a:ext cx="263289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------------------------------------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18FC53-2A82-4242-AE01-F8B082B2C40F}"/>
              </a:ext>
            </a:extLst>
          </p:cNvPr>
          <p:cNvSpPr txBox="1"/>
          <p:nvPr/>
        </p:nvSpPr>
        <p:spPr>
          <a:xfrm>
            <a:off x="154173" y="6183022"/>
            <a:ext cx="25671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atin typeface="Bahnschrift" panose="020B0502040204020203" pitchFamily="34" charset="0"/>
              </a:rPr>
              <a:t>-----------------------------------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5AACC-028D-4F33-AAEC-D707FB99F0EB}"/>
              </a:ext>
            </a:extLst>
          </p:cNvPr>
          <p:cNvSpPr/>
          <p:nvPr/>
        </p:nvSpPr>
        <p:spPr>
          <a:xfrm>
            <a:off x="3249349" y="2542919"/>
            <a:ext cx="1856266" cy="36575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dirty="0">
                <a:solidFill>
                  <a:schemeClr val="tx1"/>
                </a:solidFill>
                <a:latin typeface="Bahnschrift" panose="020B0502040204020203" pitchFamily="34" charset="0"/>
              </a:rPr>
              <a:t>Copy Phase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B7DA6D-7BD3-496B-BEC9-0D000C1AD0CA}"/>
              </a:ext>
            </a:extLst>
          </p:cNvPr>
          <p:cNvSpPr/>
          <p:nvPr/>
        </p:nvSpPr>
        <p:spPr>
          <a:xfrm>
            <a:off x="5609559" y="1819066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ED0A831-A692-474A-B644-D852436A058C}"/>
              </a:ext>
            </a:extLst>
          </p:cNvPr>
          <p:cNvSpPr/>
          <p:nvPr/>
        </p:nvSpPr>
        <p:spPr>
          <a:xfrm>
            <a:off x="5624621" y="3242607"/>
            <a:ext cx="3115340" cy="13255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DC866C6-2AB4-4645-836D-CC5C3FA2B947}"/>
              </a:ext>
            </a:extLst>
          </p:cNvPr>
          <p:cNvSpPr/>
          <p:nvPr/>
        </p:nvSpPr>
        <p:spPr>
          <a:xfrm>
            <a:off x="5609559" y="4759198"/>
            <a:ext cx="3056244" cy="15352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9" name="Table 12">
            <a:extLst>
              <a:ext uri="{FF2B5EF4-FFF2-40B4-BE49-F238E27FC236}">
                <a16:creationId xmlns:a16="http://schemas.microsoft.com/office/drawing/2014/main" id="{EF2495EC-2EEB-438D-A8ED-F51FC9B33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590806"/>
              </p:ext>
            </p:extLst>
          </p:nvPr>
        </p:nvGraphicFramePr>
        <p:xfrm>
          <a:off x="5734495" y="1871253"/>
          <a:ext cx="700656" cy="37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656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729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5" name="Table 12">
            <a:extLst>
              <a:ext uri="{FF2B5EF4-FFF2-40B4-BE49-F238E27FC236}">
                <a16:creationId xmlns:a16="http://schemas.microsoft.com/office/drawing/2014/main" id="{53232ECE-DC9F-4626-9832-EC8A4E4B2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46911"/>
              </p:ext>
            </p:extLst>
          </p:nvPr>
        </p:nvGraphicFramePr>
        <p:xfrm>
          <a:off x="5734495" y="2280257"/>
          <a:ext cx="700656" cy="37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656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729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36" name="Table 12">
            <a:extLst>
              <a:ext uri="{FF2B5EF4-FFF2-40B4-BE49-F238E27FC236}">
                <a16:creationId xmlns:a16="http://schemas.microsoft.com/office/drawing/2014/main" id="{7735DFAB-E431-458B-8679-74A5E8229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289964"/>
              </p:ext>
            </p:extLst>
          </p:nvPr>
        </p:nvGraphicFramePr>
        <p:xfrm>
          <a:off x="5736696" y="2679017"/>
          <a:ext cx="700656" cy="37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656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7291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BCC86A-2F30-4061-A45A-9F541C514BDA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332445" y="3472078"/>
            <a:ext cx="402049" cy="1396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62587DB-98C1-478D-AB2B-739FD32FEFA5}"/>
              </a:ext>
            </a:extLst>
          </p:cNvPr>
          <p:cNvCxnSpPr>
            <a:cxnSpLocks/>
          </p:cNvCxnSpPr>
          <p:nvPr/>
        </p:nvCxnSpPr>
        <p:spPr>
          <a:xfrm flipV="1">
            <a:off x="5332445" y="5474480"/>
            <a:ext cx="413124" cy="1006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1AC464-DF65-49CC-8F6D-7257F291EF29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5332445" y="5928241"/>
            <a:ext cx="402049" cy="4445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2">
            <a:extLst>
              <a:ext uri="{FF2B5EF4-FFF2-40B4-BE49-F238E27FC236}">
                <a16:creationId xmlns:a16="http://schemas.microsoft.com/office/drawing/2014/main" id="{B02A5FE0-16DB-40A8-A320-3460F5D8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491879"/>
              </p:ext>
            </p:extLst>
          </p:nvPr>
        </p:nvGraphicFramePr>
        <p:xfrm>
          <a:off x="5734494" y="3347215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19" name="Table 12">
            <a:extLst>
              <a:ext uri="{FF2B5EF4-FFF2-40B4-BE49-F238E27FC236}">
                <a16:creationId xmlns:a16="http://schemas.microsoft.com/office/drawing/2014/main" id="{7A783DE7-7753-414E-B25A-376233F13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543081"/>
              </p:ext>
            </p:extLst>
          </p:nvPr>
        </p:nvGraphicFramePr>
        <p:xfrm>
          <a:off x="5734494" y="3756219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0" name="Table 12">
            <a:extLst>
              <a:ext uri="{FF2B5EF4-FFF2-40B4-BE49-F238E27FC236}">
                <a16:creationId xmlns:a16="http://schemas.microsoft.com/office/drawing/2014/main" id="{AF2720B0-BE68-4349-BE91-DE98D9086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771924"/>
              </p:ext>
            </p:extLst>
          </p:nvPr>
        </p:nvGraphicFramePr>
        <p:xfrm>
          <a:off x="5736695" y="4154979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1" name="Table 12">
            <a:extLst>
              <a:ext uri="{FF2B5EF4-FFF2-40B4-BE49-F238E27FC236}">
                <a16:creationId xmlns:a16="http://schemas.microsoft.com/office/drawing/2014/main" id="{44062A0C-7895-4DBA-9525-216569563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822816"/>
              </p:ext>
            </p:extLst>
          </p:nvPr>
        </p:nvGraphicFramePr>
        <p:xfrm>
          <a:off x="5745569" y="482876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2" name="Table 12">
            <a:extLst>
              <a:ext uri="{FF2B5EF4-FFF2-40B4-BE49-F238E27FC236}">
                <a16:creationId xmlns:a16="http://schemas.microsoft.com/office/drawing/2014/main" id="{536DD1A7-77A5-4A69-BF37-5D694E880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243308"/>
              </p:ext>
            </p:extLst>
          </p:nvPr>
        </p:nvGraphicFramePr>
        <p:xfrm>
          <a:off x="5745569" y="5264098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graphicFrame>
        <p:nvGraphicFramePr>
          <p:cNvPr id="23" name="Table 12">
            <a:extLst>
              <a:ext uri="{FF2B5EF4-FFF2-40B4-BE49-F238E27FC236}">
                <a16:creationId xmlns:a16="http://schemas.microsoft.com/office/drawing/2014/main" id="{E2E9B613-3AA0-4066-BA12-3744D6ED4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195603"/>
              </p:ext>
            </p:extLst>
          </p:nvPr>
        </p:nvGraphicFramePr>
        <p:xfrm>
          <a:off x="5750170" y="5679665"/>
          <a:ext cx="761999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99">
                  <a:extLst>
                    <a:ext uri="{9D8B030D-6E8A-4147-A177-3AD203B41FA5}">
                      <a16:colId xmlns:a16="http://schemas.microsoft.com/office/drawing/2014/main" val="3596916318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483340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F3143F19-A9B3-4DE9-81EA-49F89339E2EA}"/>
              </a:ext>
            </a:extLst>
          </p:cNvPr>
          <p:cNvSpPr/>
          <p:nvPr/>
        </p:nvSpPr>
        <p:spPr>
          <a:xfrm>
            <a:off x="338362" y="1711842"/>
            <a:ext cx="3755173" cy="7259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Partitions are copied by the reducer from the network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1F9CF49E-0414-44FB-8DD0-E53DE11B9A52}"/>
              </a:ext>
            </a:extLst>
          </p:cNvPr>
          <p:cNvSpPr/>
          <p:nvPr/>
        </p:nvSpPr>
        <p:spPr>
          <a:xfrm>
            <a:off x="6528612" y="1901354"/>
            <a:ext cx="264384" cy="11657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BFFDE2-9F5C-4BE0-940F-D703150623F1}"/>
              </a:ext>
            </a:extLst>
          </p:cNvPr>
          <p:cNvSpPr/>
          <p:nvPr/>
        </p:nvSpPr>
        <p:spPr>
          <a:xfrm>
            <a:off x="6816143" y="2251305"/>
            <a:ext cx="767862" cy="4992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0554C96-9AB0-437F-9E4D-577458D13554}"/>
              </a:ext>
            </a:extLst>
          </p:cNvPr>
          <p:cNvSpPr/>
          <p:nvPr/>
        </p:nvSpPr>
        <p:spPr>
          <a:xfrm>
            <a:off x="7691286" y="1980563"/>
            <a:ext cx="602852" cy="10374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Reduce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1627CF-3457-41A2-9AFC-C1903A3CF5B5}"/>
              </a:ext>
            </a:extLst>
          </p:cNvPr>
          <p:cNvSpPr/>
          <p:nvPr/>
        </p:nvSpPr>
        <p:spPr>
          <a:xfrm>
            <a:off x="8401419" y="1950277"/>
            <a:ext cx="264384" cy="10631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Result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A191E3F-809D-4BE3-BD2B-A8192A24D326}"/>
              </a:ext>
            </a:extLst>
          </p:cNvPr>
          <p:cNvCxnSpPr>
            <a:stCxn id="5" idx="3"/>
            <a:endCxn id="28" idx="1"/>
          </p:cNvCxnSpPr>
          <p:nvPr/>
        </p:nvCxnSpPr>
        <p:spPr>
          <a:xfrm flipV="1">
            <a:off x="7584005" y="2499276"/>
            <a:ext cx="107281" cy="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1FB62C-2ED3-403F-874B-7F87F38C8977}"/>
              </a:ext>
            </a:extLst>
          </p:cNvPr>
          <p:cNvCxnSpPr/>
          <p:nvPr/>
        </p:nvCxnSpPr>
        <p:spPr>
          <a:xfrm flipV="1">
            <a:off x="8309020" y="2481846"/>
            <a:ext cx="107281" cy="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ight Brace 41">
            <a:extLst>
              <a:ext uri="{FF2B5EF4-FFF2-40B4-BE49-F238E27FC236}">
                <a16:creationId xmlns:a16="http://schemas.microsoft.com/office/drawing/2014/main" id="{AB9513DC-C6FF-4C9A-8B24-F17155B13401}"/>
              </a:ext>
            </a:extLst>
          </p:cNvPr>
          <p:cNvSpPr/>
          <p:nvPr/>
        </p:nvSpPr>
        <p:spPr>
          <a:xfrm>
            <a:off x="6528612" y="3349791"/>
            <a:ext cx="264384" cy="11657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485C1ED-29E9-4787-BF40-91A0432145E3}"/>
              </a:ext>
            </a:extLst>
          </p:cNvPr>
          <p:cNvSpPr/>
          <p:nvPr/>
        </p:nvSpPr>
        <p:spPr>
          <a:xfrm>
            <a:off x="6816143" y="3699742"/>
            <a:ext cx="767862" cy="4992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DA8CF26-E2D1-4C3C-9252-96B4A5ECE81B}"/>
              </a:ext>
            </a:extLst>
          </p:cNvPr>
          <p:cNvSpPr/>
          <p:nvPr/>
        </p:nvSpPr>
        <p:spPr>
          <a:xfrm>
            <a:off x="7691286" y="3429000"/>
            <a:ext cx="602852" cy="10374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Reduce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657CA28-2ADD-475A-BDAF-0733CC7B564D}"/>
              </a:ext>
            </a:extLst>
          </p:cNvPr>
          <p:cNvSpPr/>
          <p:nvPr/>
        </p:nvSpPr>
        <p:spPr>
          <a:xfrm>
            <a:off x="8401419" y="3398714"/>
            <a:ext cx="264384" cy="10631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Result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D93A1E8D-46C7-426B-B67F-1BFB063368D7}"/>
              </a:ext>
            </a:extLst>
          </p:cNvPr>
          <p:cNvSpPr/>
          <p:nvPr/>
        </p:nvSpPr>
        <p:spPr>
          <a:xfrm>
            <a:off x="6528612" y="4798228"/>
            <a:ext cx="264384" cy="116577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Bahnschrift" panose="020B0502040204020203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19E40F5-A297-4A5C-A8ED-C48228E10659}"/>
              </a:ext>
            </a:extLst>
          </p:cNvPr>
          <p:cNvSpPr/>
          <p:nvPr/>
        </p:nvSpPr>
        <p:spPr>
          <a:xfrm>
            <a:off x="6816143" y="5148179"/>
            <a:ext cx="767862" cy="49923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10E5E3B-26A1-4CE8-A70A-E4A59049A20D}"/>
              </a:ext>
            </a:extLst>
          </p:cNvPr>
          <p:cNvSpPr/>
          <p:nvPr/>
        </p:nvSpPr>
        <p:spPr>
          <a:xfrm>
            <a:off x="7691286" y="4877437"/>
            <a:ext cx="602852" cy="103742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Reduce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E792F36-CD5B-4ECF-9300-FD7D6C112F15}"/>
              </a:ext>
            </a:extLst>
          </p:cNvPr>
          <p:cNvSpPr/>
          <p:nvPr/>
        </p:nvSpPr>
        <p:spPr>
          <a:xfrm>
            <a:off x="8401419" y="4847151"/>
            <a:ext cx="264384" cy="106313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  <a:latin typeface="Bahnschrift" panose="020B0502040204020203" pitchFamily="34" charset="0"/>
              </a:rPr>
              <a:t>Result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E32FBD8-CDA0-4C24-9518-82C6EEB71807}"/>
              </a:ext>
            </a:extLst>
          </p:cNvPr>
          <p:cNvCxnSpPr>
            <a:cxnSpLocks/>
          </p:cNvCxnSpPr>
          <p:nvPr/>
        </p:nvCxnSpPr>
        <p:spPr>
          <a:xfrm flipV="1">
            <a:off x="7584004" y="3981360"/>
            <a:ext cx="107281" cy="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41E555F-E80F-4DF6-9A90-05D76072C4F8}"/>
              </a:ext>
            </a:extLst>
          </p:cNvPr>
          <p:cNvCxnSpPr>
            <a:cxnSpLocks/>
            <a:stCxn id="44" idx="3"/>
            <a:endCxn id="45" idx="1"/>
          </p:cNvCxnSpPr>
          <p:nvPr/>
        </p:nvCxnSpPr>
        <p:spPr>
          <a:xfrm flipV="1">
            <a:off x="8294138" y="3930284"/>
            <a:ext cx="107281" cy="17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C081DE3-FC8E-472A-8225-333CD5F61D3E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7584005" y="5396150"/>
            <a:ext cx="107281" cy="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1107CCB-137E-4E92-A628-0A31C7861F66}"/>
              </a:ext>
            </a:extLst>
          </p:cNvPr>
          <p:cNvCxnSpPr>
            <a:cxnSpLocks/>
            <a:endCxn id="51" idx="1"/>
          </p:cNvCxnSpPr>
          <p:nvPr/>
        </p:nvCxnSpPr>
        <p:spPr>
          <a:xfrm flipV="1">
            <a:off x="8309020" y="5378721"/>
            <a:ext cx="92399" cy="17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1045440C-093D-4B35-B77D-3660371F7DCF}"/>
              </a:ext>
            </a:extLst>
          </p:cNvPr>
          <p:cNvSpPr/>
          <p:nvPr/>
        </p:nvSpPr>
        <p:spPr>
          <a:xfrm>
            <a:off x="5745569" y="1325167"/>
            <a:ext cx="1070574" cy="4834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Sort Phase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4E7DA6-5BC2-467B-9647-9DEF98E3B929}"/>
              </a:ext>
            </a:extLst>
          </p:cNvPr>
          <p:cNvSpPr/>
          <p:nvPr/>
        </p:nvSpPr>
        <p:spPr>
          <a:xfrm>
            <a:off x="7397603" y="1317967"/>
            <a:ext cx="1070574" cy="4834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Reduce Phase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3E70F-6388-402E-BB4E-D405B16C592E}"/>
              </a:ext>
            </a:extLst>
          </p:cNvPr>
          <p:cNvSpPr txBox="1"/>
          <p:nvPr/>
        </p:nvSpPr>
        <p:spPr>
          <a:xfrm>
            <a:off x="5734494" y="6045425"/>
            <a:ext cx="29904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Bahnschrift" panose="020B0502040204020203" pitchFamily="34" charset="0"/>
              </a:rPr>
              <a:t>Mixture of in-memory and on-disk data</a:t>
            </a:r>
            <a:endParaRPr lang="en-IN" sz="10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7528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C979B3-4469-4AF8-9DE4-90B6F2A98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Merge factor =&gt; </a:t>
            </a:r>
            <a:r>
              <a:rPr lang="en-IN" dirty="0" err="1"/>
              <a:t>io.sort.factor</a:t>
            </a:r>
            <a:endParaRPr lang="en-IN" dirty="0"/>
          </a:p>
          <a:p>
            <a:r>
              <a:rPr lang="en-IN" dirty="0"/>
              <a:t>Its default value is 10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</p:spTree>
    <p:extLst>
      <p:ext uri="{BB962C8B-B14F-4D97-AF65-F5344CB8AC3E}">
        <p14:creationId xmlns:p14="http://schemas.microsoft.com/office/powerpoint/2010/main" val="776982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797153"/>
              </p:ext>
            </p:extLst>
          </p:nvPr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0054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84036"/>
              </p:ext>
            </p:extLst>
          </p:nvPr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2BEA1B-EE53-42B6-A57B-271B0A3C8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031040"/>
              </p:ext>
            </p:extLst>
          </p:nvPr>
        </p:nvGraphicFramePr>
        <p:xfrm>
          <a:off x="2672316" y="1907361"/>
          <a:ext cx="1559442" cy="448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42">
                  <a:extLst>
                    <a:ext uri="{9D8B030D-6E8A-4147-A177-3AD203B41FA5}">
                      <a16:colId xmlns:a16="http://schemas.microsoft.com/office/drawing/2014/main" val="1301587209"/>
                    </a:ext>
                  </a:extLst>
                </a:gridCol>
              </a:tblGrid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27559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3727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624252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9E716F3-9D8D-4578-A974-594D18E20DB4}"/>
              </a:ext>
            </a:extLst>
          </p:cNvPr>
          <p:cNvSpPr/>
          <p:nvPr/>
        </p:nvSpPr>
        <p:spPr>
          <a:xfrm>
            <a:off x="4348716" y="1907361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1C714A-4BE7-4A05-8035-856633CA4B9A}"/>
              </a:ext>
            </a:extLst>
          </p:cNvPr>
          <p:cNvSpPr/>
          <p:nvPr/>
        </p:nvSpPr>
        <p:spPr>
          <a:xfrm>
            <a:off x="4339748" y="3427816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36A1C9C-EA65-4F77-B17E-BC8E49ED62D5}"/>
              </a:ext>
            </a:extLst>
          </p:cNvPr>
          <p:cNvSpPr/>
          <p:nvPr/>
        </p:nvSpPr>
        <p:spPr>
          <a:xfrm>
            <a:off x="4362892" y="4948272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255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/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2BEA1B-EE53-42B6-A57B-271B0A3C8000}"/>
              </a:ext>
            </a:extLst>
          </p:cNvPr>
          <p:cNvGraphicFramePr>
            <a:graphicFrameLocks noGrp="1"/>
          </p:cNvGraphicFramePr>
          <p:nvPr/>
        </p:nvGraphicFramePr>
        <p:xfrm>
          <a:off x="2672316" y="1907361"/>
          <a:ext cx="1559442" cy="448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42">
                  <a:extLst>
                    <a:ext uri="{9D8B030D-6E8A-4147-A177-3AD203B41FA5}">
                      <a16:colId xmlns:a16="http://schemas.microsoft.com/office/drawing/2014/main" val="1301587209"/>
                    </a:ext>
                  </a:extLst>
                </a:gridCol>
              </a:tblGrid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27559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3727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624252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9E716F3-9D8D-4578-A974-594D18E20DB4}"/>
              </a:ext>
            </a:extLst>
          </p:cNvPr>
          <p:cNvSpPr/>
          <p:nvPr/>
        </p:nvSpPr>
        <p:spPr>
          <a:xfrm>
            <a:off x="4348716" y="1907361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1C714A-4BE7-4A05-8035-856633CA4B9A}"/>
              </a:ext>
            </a:extLst>
          </p:cNvPr>
          <p:cNvSpPr/>
          <p:nvPr/>
        </p:nvSpPr>
        <p:spPr>
          <a:xfrm>
            <a:off x="4339748" y="3427816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36A1C9C-EA65-4F77-B17E-BC8E49ED62D5}"/>
              </a:ext>
            </a:extLst>
          </p:cNvPr>
          <p:cNvSpPr/>
          <p:nvPr/>
        </p:nvSpPr>
        <p:spPr>
          <a:xfrm>
            <a:off x="4362892" y="4948272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9979D-2543-4ACC-9874-46A1DEC1F01E}"/>
              </a:ext>
            </a:extLst>
          </p:cNvPr>
          <p:cNvSpPr/>
          <p:nvPr/>
        </p:nvSpPr>
        <p:spPr>
          <a:xfrm>
            <a:off x="4595144" y="2339163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549E5-399F-4B03-8EA1-ECD24C038BFD}"/>
              </a:ext>
            </a:extLst>
          </p:cNvPr>
          <p:cNvSpPr/>
          <p:nvPr/>
        </p:nvSpPr>
        <p:spPr>
          <a:xfrm>
            <a:off x="4605776" y="3857837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BD371-0744-4771-8698-1169B1399A5A}"/>
              </a:ext>
            </a:extLst>
          </p:cNvPr>
          <p:cNvSpPr/>
          <p:nvPr/>
        </p:nvSpPr>
        <p:spPr>
          <a:xfrm>
            <a:off x="4595144" y="5376511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</p:spTree>
    <p:extLst>
      <p:ext uri="{BB962C8B-B14F-4D97-AF65-F5344CB8AC3E}">
        <p14:creationId xmlns:p14="http://schemas.microsoft.com/office/powerpoint/2010/main" val="540560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/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2BEA1B-EE53-42B6-A57B-271B0A3C8000}"/>
              </a:ext>
            </a:extLst>
          </p:cNvPr>
          <p:cNvGraphicFramePr>
            <a:graphicFrameLocks noGrp="1"/>
          </p:cNvGraphicFramePr>
          <p:nvPr/>
        </p:nvGraphicFramePr>
        <p:xfrm>
          <a:off x="2672316" y="1907361"/>
          <a:ext cx="1559442" cy="4482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42">
                  <a:extLst>
                    <a:ext uri="{9D8B030D-6E8A-4147-A177-3AD203B41FA5}">
                      <a16:colId xmlns:a16="http://schemas.microsoft.com/office/drawing/2014/main" val="1301587209"/>
                    </a:ext>
                  </a:extLst>
                </a:gridCol>
              </a:tblGrid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27559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3727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624252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9E716F3-9D8D-4578-A974-594D18E20DB4}"/>
              </a:ext>
            </a:extLst>
          </p:cNvPr>
          <p:cNvSpPr/>
          <p:nvPr/>
        </p:nvSpPr>
        <p:spPr>
          <a:xfrm>
            <a:off x="4348716" y="1907361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1C714A-4BE7-4A05-8035-856633CA4B9A}"/>
              </a:ext>
            </a:extLst>
          </p:cNvPr>
          <p:cNvSpPr/>
          <p:nvPr/>
        </p:nvSpPr>
        <p:spPr>
          <a:xfrm>
            <a:off x="4339748" y="3427816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36A1C9C-EA65-4F77-B17E-BC8E49ED62D5}"/>
              </a:ext>
            </a:extLst>
          </p:cNvPr>
          <p:cNvSpPr/>
          <p:nvPr/>
        </p:nvSpPr>
        <p:spPr>
          <a:xfrm>
            <a:off x="4362892" y="4948272"/>
            <a:ext cx="232252" cy="144189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9979D-2543-4ACC-9874-46A1DEC1F01E}"/>
              </a:ext>
            </a:extLst>
          </p:cNvPr>
          <p:cNvSpPr/>
          <p:nvPr/>
        </p:nvSpPr>
        <p:spPr>
          <a:xfrm>
            <a:off x="4595144" y="2339163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549E5-399F-4B03-8EA1-ECD24C038BFD}"/>
              </a:ext>
            </a:extLst>
          </p:cNvPr>
          <p:cNvSpPr/>
          <p:nvPr/>
        </p:nvSpPr>
        <p:spPr>
          <a:xfrm>
            <a:off x="4605776" y="3857837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BD371-0744-4771-8698-1169B1399A5A}"/>
              </a:ext>
            </a:extLst>
          </p:cNvPr>
          <p:cNvSpPr/>
          <p:nvPr/>
        </p:nvSpPr>
        <p:spPr>
          <a:xfrm>
            <a:off x="4595144" y="5376511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A0EDF5E-956E-486B-A29A-B56628684118}"/>
              </a:ext>
            </a:extLst>
          </p:cNvPr>
          <p:cNvSpPr/>
          <p:nvPr/>
        </p:nvSpPr>
        <p:spPr>
          <a:xfrm>
            <a:off x="5879805" y="2339163"/>
            <a:ext cx="606055" cy="36227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956722-AE62-4B5A-BD3C-2FBEEF653781}"/>
              </a:ext>
            </a:extLst>
          </p:cNvPr>
          <p:cNvSpPr/>
          <p:nvPr/>
        </p:nvSpPr>
        <p:spPr>
          <a:xfrm>
            <a:off x="6687879" y="2445488"/>
            <a:ext cx="1765005" cy="343431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Reduce</a:t>
            </a:r>
          </a:p>
        </p:txBody>
      </p:sp>
    </p:spTree>
    <p:extLst>
      <p:ext uri="{BB962C8B-B14F-4D97-AF65-F5344CB8AC3E}">
        <p14:creationId xmlns:p14="http://schemas.microsoft.com/office/powerpoint/2010/main" val="752630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257050"/>
              </p:ext>
            </p:extLst>
          </p:nvPr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2BEA1B-EE53-42B6-A57B-271B0A3C8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04607"/>
              </p:ext>
            </p:extLst>
          </p:nvPr>
        </p:nvGraphicFramePr>
        <p:xfrm>
          <a:off x="4075437" y="1985921"/>
          <a:ext cx="1559442" cy="4594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42">
                  <a:extLst>
                    <a:ext uri="{9D8B030D-6E8A-4147-A177-3AD203B41FA5}">
                      <a16:colId xmlns:a16="http://schemas.microsoft.com/office/drawing/2014/main" val="1301587209"/>
                    </a:ext>
                  </a:extLst>
                </a:gridCol>
              </a:tblGrid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27559"/>
                  </a:ext>
                </a:extLst>
              </a:tr>
              <a:tr h="8931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3727"/>
                  </a:ext>
                </a:extLst>
              </a:tr>
              <a:tr h="120147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624252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6(left)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73329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9E716F3-9D8D-4578-A974-594D18E20DB4}"/>
              </a:ext>
            </a:extLst>
          </p:cNvPr>
          <p:cNvSpPr/>
          <p:nvPr/>
        </p:nvSpPr>
        <p:spPr>
          <a:xfrm>
            <a:off x="2525125" y="1985921"/>
            <a:ext cx="197534" cy="8317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1C714A-4BE7-4A05-8035-856633CA4B9A}"/>
              </a:ext>
            </a:extLst>
          </p:cNvPr>
          <p:cNvSpPr/>
          <p:nvPr/>
        </p:nvSpPr>
        <p:spPr>
          <a:xfrm>
            <a:off x="2323106" y="2886739"/>
            <a:ext cx="409030" cy="8317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36A1C9C-EA65-4F77-B17E-BC8E49ED62D5}"/>
              </a:ext>
            </a:extLst>
          </p:cNvPr>
          <p:cNvSpPr/>
          <p:nvPr/>
        </p:nvSpPr>
        <p:spPr>
          <a:xfrm>
            <a:off x="2307990" y="3787557"/>
            <a:ext cx="333984" cy="12847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9979D-2543-4ACC-9874-46A1DEC1F01E}"/>
              </a:ext>
            </a:extLst>
          </p:cNvPr>
          <p:cNvSpPr/>
          <p:nvPr/>
        </p:nvSpPr>
        <p:spPr>
          <a:xfrm>
            <a:off x="2710147" y="2109066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549E5-399F-4B03-8EA1-ECD24C038BFD}"/>
              </a:ext>
            </a:extLst>
          </p:cNvPr>
          <p:cNvSpPr/>
          <p:nvPr/>
        </p:nvSpPr>
        <p:spPr>
          <a:xfrm>
            <a:off x="2743555" y="3009884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BD371-0744-4771-8698-1169B1399A5A}"/>
              </a:ext>
            </a:extLst>
          </p:cNvPr>
          <p:cNvSpPr/>
          <p:nvPr/>
        </p:nvSpPr>
        <p:spPr>
          <a:xfrm>
            <a:off x="2641974" y="4033848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AB3ED29-567F-4D49-96E5-C003221615C6}"/>
              </a:ext>
            </a:extLst>
          </p:cNvPr>
          <p:cNvSpPr/>
          <p:nvPr/>
        </p:nvSpPr>
        <p:spPr>
          <a:xfrm>
            <a:off x="2307990" y="5141382"/>
            <a:ext cx="333984" cy="116372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97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D13FCB-82E5-47CA-8971-1927B4636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6DCC53-504D-4847-9D04-54D094CB7CE9}"/>
              </a:ext>
            </a:extLst>
          </p:cNvPr>
          <p:cNvGraphicFramePr>
            <a:graphicFrameLocks noGrp="1"/>
          </p:cNvGraphicFramePr>
          <p:nvPr/>
        </p:nvGraphicFramePr>
        <p:xfrm>
          <a:off x="338362" y="1907361"/>
          <a:ext cx="1984744" cy="4482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744">
                  <a:extLst>
                    <a:ext uri="{9D8B030D-6E8A-4147-A177-3AD203B41FA5}">
                      <a16:colId xmlns:a16="http://schemas.microsoft.com/office/drawing/2014/main" val="1920833582"/>
                    </a:ext>
                  </a:extLst>
                </a:gridCol>
              </a:tblGrid>
              <a:tr h="4482806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30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874233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2BEA1B-EE53-42B6-A57B-271B0A3C8000}"/>
              </a:ext>
            </a:extLst>
          </p:cNvPr>
          <p:cNvGraphicFramePr>
            <a:graphicFrameLocks noGrp="1"/>
          </p:cNvGraphicFramePr>
          <p:nvPr/>
        </p:nvGraphicFramePr>
        <p:xfrm>
          <a:off x="4075437" y="1985921"/>
          <a:ext cx="1559442" cy="4594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442">
                  <a:extLst>
                    <a:ext uri="{9D8B030D-6E8A-4147-A177-3AD203B41FA5}">
                      <a16:colId xmlns:a16="http://schemas.microsoft.com/office/drawing/2014/main" val="1301587209"/>
                    </a:ext>
                  </a:extLst>
                </a:gridCol>
              </a:tblGrid>
              <a:tr h="100596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127559"/>
                  </a:ext>
                </a:extLst>
              </a:tr>
              <a:tr h="89313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4763727"/>
                  </a:ext>
                </a:extLst>
              </a:tr>
              <a:tr h="120147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624252"/>
                  </a:ext>
                </a:extLst>
              </a:tr>
              <a:tr h="1494269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6(left)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973329"/>
                  </a:ext>
                </a:extLst>
              </a:tr>
            </a:tbl>
          </a:graphicData>
        </a:graphic>
      </p:graphicFrame>
      <p:sp>
        <p:nvSpPr>
          <p:cNvPr id="5" name="Right Brace 4">
            <a:extLst>
              <a:ext uri="{FF2B5EF4-FFF2-40B4-BE49-F238E27FC236}">
                <a16:creationId xmlns:a16="http://schemas.microsoft.com/office/drawing/2014/main" id="{C9E716F3-9D8D-4578-A974-594D18E20DB4}"/>
              </a:ext>
            </a:extLst>
          </p:cNvPr>
          <p:cNvSpPr/>
          <p:nvPr/>
        </p:nvSpPr>
        <p:spPr>
          <a:xfrm>
            <a:off x="2525125" y="1985921"/>
            <a:ext cx="197534" cy="8317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51C714A-4BE7-4A05-8035-856633CA4B9A}"/>
              </a:ext>
            </a:extLst>
          </p:cNvPr>
          <p:cNvSpPr/>
          <p:nvPr/>
        </p:nvSpPr>
        <p:spPr>
          <a:xfrm>
            <a:off x="2323106" y="2886739"/>
            <a:ext cx="409030" cy="83170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36A1C9C-EA65-4F77-B17E-BC8E49ED62D5}"/>
              </a:ext>
            </a:extLst>
          </p:cNvPr>
          <p:cNvSpPr/>
          <p:nvPr/>
        </p:nvSpPr>
        <p:spPr>
          <a:xfrm>
            <a:off x="2307990" y="3787557"/>
            <a:ext cx="333984" cy="12847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09979D-2543-4ACC-9874-46A1DEC1F01E}"/>
              </a:ext>
            </a:extLst>
          </p:cNvPr>
          <p:cNvSpPr/>
          <p:nvPr/>
        </p:nvSpPr>
        <p:spPr>
          <a:xfrm>
            <a:off x="2710147" y="2109066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549E5-399F-4B03-8EA1-ECD24C038BFD}"/>
              </a:ext>
            </a:extLst>
          </p:cNvPr>
          <p:cNvSpPr/>
          <p:nvPr/>
        </p:nvSpPr>
        <p:spPr>
          <a:xfrm>
            <a:off x="2743555" y="3009884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8BD371-0744-4771-8698-1169B1399A5A}"/>
              </a:ext>
            </a:extLst>
          </p:cNvPr>
          <p:cNvSpPr/>
          <p:nvPr/>
        </p:nvSpPr>
        <p:spPr>
          <a:xfrm>
            <a:off x="2641974" y="4033848"/>
            <a:ext cx="1199600" cy="58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Bahnschrift" panose="020B0502040204020203" pitchFamily="34" charset="0"/>
              </a:rPr>
              <a:t>Merged File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A0EDF5E-956E-486B-A29A-B56628684118}"/>
              </a:ext>
            </a:extLst>
          </p:cNvPr>
          <p:cNvSpPr/>
          <p:nvPr/>
        </p:nvSpPr>
        <p:spPr>
          <a:xfrm>
            <a:off x="5879805" y="2339163"/>
            <a:ext cx="606055" cy="362276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956722-AE62-4B5A-BD3C-2FBEEF653781}"/>
              </a:ext>
            </a:extLst>
          </p:cNvPr>
          <p:cNvSpPr/>
          <p:nvPr/>
        </p:nvSpPr>
        <p:spPr>
          <a:xfrm>
            <a:off x="6687879" y="2445488"/>
            <a:ext cx="1765005" cy="343431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Bahnschrift" panose="020B0502040204020203" pitchFamily="34" charset="0"/>
              </a:rPr>
              <a:t>Reduce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2AB3ED29-567F-4D49-96E5-C003221615C6}"/>
              </a:ext>
            </a:extLst>
          </p:cNvPr>
          <p:cNvSpPr/>
          <p:nvPr/>
        </p:nvSpPr>
        <p:spPr>
          <a:xfrm>
            <a:off x="2307990" y="5141382"/>
            <a:ext cx="333984" cy="116372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662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97E556-1F48-4D0F-A377-4E944FC7F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0" i="0" dirty="0">
                <a:effectLst/>
              </a:rPr>
              <a:t>Objective</a:t>
            </a:r>
          </a:p>
          <a:p>
            <a:pPr algn="just"/>
            <a:r>
              <a:rPr lang="en-US" b="0" i="0" dirty="0">
                <a:effectLst/>
              </a:rPr>
              <a:t>Intermediate output from </a:t>
            </a:r>
            <a:r>
              <a:rPr lang="en-US" b="1" i="0" dirty="0">
                <a:effectLst/>
              </a:rPr>
              <a:t>mappers</a:t>
            </a:r>
            <a:r>
              <a:rPr lang="en-US" b="0" i="0" dirty="0">
                <a:effectLst/>
              </a:rPr>
              <a:t> is transferred to the </a:t>
            </a:r>
            <a:r>
              <a:rPr lang="en-US" b="1" i="0" dirty="0">
                <a:effectLst/>
              </a:rPr>
              <a:t>reducer</a:t>
            </a:r>
            <a:r>
              <a:rPr lang="en-US" b="0" i="0" dirty="0">
                <a:effectLst/>
              </a:rPr>
              <a:t> is called Shuffling.</a:t>
            </a:r>
          </a:p>
          <a:p>
            <a:pPr algn="just"/>
            <a:r>
              <a:rPr lang="en-US" b="0" i="0" dirty="0">
                <a:effectLst/>
              </a:rPr>
              <a:t>Intermediated </a:t>
            </a:r>
            <a:r>
              <a:rPr lang="en-US" b="1" i="0" dirty="0">
                <a:effectLst/>
              </a:rPr>
              <a:t>key-value</a:t>
            </a:r>
            <a:r>
              <a:rPr lang="en-US" b="0" i="0" dirty="0">
                <a:effectLst/>
              </a:rPr>
              <a:t> generated by mapper is sorted automatically by key.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B4F49B-0469-4855-B1BB-449716C45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</p:spTree>
    <p:extLst>
      <p:ext uri="{BB962C8B-B14F-4D97-AF65-F5344CB8AC3E}">
        <p14:creationId xmlns:p14="http://schemas.microsoft.com/office/powerpoint/2010/main" val="3235223163"/>
      </p:ext>
    </p:extLst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5B66E3-AAF8-4F74-9829-F4D46B77E63D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102" r="-152" t="61037"/>
          <a:stretch/>
        </p:blipFill>
        <p:spPr>
          <a:xfrm>
            <a:off x="5212612" y="4280575"/>
            <a:ext cx="3154914" cy="1492284"/>
          </a:xfrm>
          <a:prstGeom prst="flowChartAlternateProcess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CE4DD00-4FC2-4A4A-A747-2B2B35C5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IN"/>
              <a:t>Shuffle and Sort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CF35F9-2883-4A8F-AB12-E4D4B6DA188D}"/>
              </a:ext>
            </a:extLst>
          </p:cNvPr>
          <p:cNvSpPr/>
          <p:nvPr/>
        </p:nvSpPr>
        <p:spPr>
          <a:xfrm>
            <a:off x="531628" y="1825687"/>
            <a:ext cx="2339162" cy="692801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err="1" lang="en-IN">
                <a:latin charset="0" panose="020B0502040204020203" pitchFamily="34" typeface="Bahnschrift"/>
              </a:rPr>
              <a:t>Ayush</a:t>
            </a:r>
            <a:r>
              <a:rPr dirty="0" lang="en-IN">
                <a:latin charset="0" panose="020B0502040204020203" pitchFamily="34" typeface="Bahnschrift"/>
              </a:rPr>
              <a:t>              432</a:t>
            </a:r>
          </a:p>
          <a:p>
            <a:pPr algn="ctr"/>
            <a:r>
              <a:rPr dirty="0" lang="en-IN">
                <a:latin charset="0" panose="020B0502040204020203" pitchFamily="34" typeface="Bahnschrift"/>
              </a:rPr>
              <a:t>Mona              467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1ACBB8-5DAF-4DFD-800B-472DC530FC61}"/>
              </a:ext>
            </a:extLst>
          </p:cNvPr>
          <p:cNvSpPr/>
          <p:nvPr/>
        </p:nvSpPr>
        <p:spPr>
          <a:xfrm>
            <a:off x="531628" y="2829691"/>
            <a:ext cx="2339162" cy="638345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err="1" lang="en-IN">
                <a:latin charset="0" panose="020B0502040204020203" pitchFamily="34" typeface="Bahnschrift"/>
              </a:rPr>
              <a:t>Bittu</a:t>
            </a:r>
            <a:r>
              <a:rPr dirty="0" lang="en-IN">
                <a:latin charset="0" panose="020B0502040204020203" pitchFamily="34" typeface="Bahnschrift"/>
              </a:rPr>
              <a:t>              898</a:t>
            </a:r>
          </a:p>
          <a:p>
            <a:pPr algn="ctr"/>
            <a:r>
              <a:rPr dirty="0" lang="en-IN">
                <a:latin charset="0" panose="020B0502040204020203" pitchFamily="34" typeface="Bahnschrift"/>
              </a:rPr>
              <a:t>Disha             436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BBE274-5C70-472E-9331-D5A8DFFABE05}"/>
              </a:ext>
            </a:extLst>
          </p:cNvPr>
          <p:cNvSpPr/>
          <p:nvPr/>
        </p:nvSpPr>
        <p:spPr>
          <a:xfrm>
            <a:off x="531628" y="4140371"/>
            <a:ext cx="2339162" cy="6244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>
                <a:latin charset="0" panose="020B0502040204020203" pitchFamily="34" typeface="Bahnschrift"/>
              </a:rPr>
              <a:t>Disha             898</a:t>
            </a:r>
          </a:p>
          <a:p>
            <a:pPr algn="ctr"/>
            <a:r>
              <a:rPr dirty="0" err="1" lang="en-IN">
                <a:latin charset="0" panose="020B0502040204020203" pitchFamily="34" typeface="Bahnschrift"/>
              </a:rPr>
              <a:t>Ayush</a:t>
            </a:r>
            <a:r>
              <a:rPr dirty="0" lang="en-IN">
                <a:latin charset="0" panose="020B0502040204020203" pitchFamily="34" typeface="Bahnschrift"/>
              </a:rPr>
              <a:t>          345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11454E-CEDB-48EB-9C15-217A73BCDC7C}"/>
              </a:ext>
            </a:extLst>
          </p:cNvPr>
          <p:cNvSpPr/>
          <p:nvPr/>
        </p:nvSpPr>
        <p:spPr>
          <a:xfrm>
            <a:off x="531627" y="5113362"/>
            <a:ext cx="2339161" cy="69279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err="1" lang="en-IN">
                <a:latin charset="0" panose="020B0502040204020203" pitchFamily="34" typeface="Bahnschrift"/>
              </a:rPr>
              <a:t>Bretty</a:t>
            </a:r>
            <a:r>
              <a:rPr dirty="0" lang="en-IN">
                <a:latin charset="0" panose="020B0502040204020203" pitchFamily="34" typeface="Bahnschrift"/>
              </a:rPr>
              <a:t>             456</a:t>
            </a:r>
          </a:p>
          <a:p>
            <a:pPr algn="ctr"/>
            <a:r>
              <a:rPr dirty="0" lang="en-IN">
                <a:latin charset="0" panose="020B0502040204020203" pitchFamily="34" typeface="Bahnschrift"/>
              </a:rPr>
              <a:t>Mayank          967</a:t>
            </a:r>
          </a:p>
        </p:txBody>
      </p:sp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15B7F367-3003-4BBB-9246-6298A6E9BA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953" l="1630" r="1272"/>
          <a:stretch/>
        </p:blipFill>
        <p:spPr>
          <a:xfrm>
            <a:off x="5007933" y="1825688"/>
            <a:ext cx="2870792" cy="1407440"/>
          </a:xfrm>
          <a:prstGeom prst="flowChartAlternateProcess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AD67CA-4764-4F87-9210-2A81DA94A4D7}"/>
              </a:ext>
            </a:extLst>
          </p:cNvPr>
          <p:cNvCxnSpPr>
            <a:cxnSpLocks/>
          </p:cNvCxnSpPr>
          <p:nvPr/>
        </p:nvCxnSpPr>
        <p:spPr>
          <a:xfrm>
            <a:off x="2870790" y="1981335"/>
            <a:ext cx="21996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188F40-BC61-4B66-A95D-B456F115B99A}"/>
              </a:ext>
            </a:extLst>
          </p:cNvPr>
          <p:cNvCxnSpPr>
            <a:cxnSpLocks/>
          </p:cNvCxnSpPr>
          <p:nvPr/>
        </p:nvCxnSpPr>
        <p:spPr>
          <a:xfrm>
            <a:off x="2878762" y="5709061"/>
            <a:ext cx="230195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862AFA67-DD33-49A7-922B-4233279B94D0}"/>
              </a:ext>
            </a:extLst>
          </p:cNvPr>
          <p:cNvCxnSpPr>
            <a:cxnSpLocks/>
          </p:cNvCxnSpPr>
          <p:nvPr/>
        </p:nvCxnSpPr>
        <p:spPr>
          <a:xfrm>
            <a:off x="2870790" y="2292537"/>
            <a:ext cx="2341822" cy="220751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9ECDCC-814B-4728-9054-EB3F47867A63}"/>
              </a:ext>
            </a:extLst>
          </p:cNvPr>
          <p:cNvCxnSpPr/>
          <p:nvPr/>
        </p:nvCxnSpPr>
        <p:spPr>
          <a:xfrm>
            <a:off x="2870790" y="2890077"/>
            <a:ext cx="20095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A34626F-CFDA-4B4A-813A-6BCFBE2D48FB}"/>
              </a:ext>
            </a:extLst>
          </p:cNvPr>
          <p:cNvCxnSpPr>
            <a:cxnSpLocks/>
          </p:cNvCxnSpPr>
          <p:nvPr/>
        </p:nvCxnSpPr>
        <p:spPr>
          <a:xfrm>
            <a:off x="2870790" y="3274123"/>
            <a:ext cx="2341822" cy="2207518"/>
          </a:xfrm>
          <a:prstGeom prst="bentConnector3">
            <a:avLst>
              <a:gd fmla="val 43644" name="adj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F9C2A05-71FE-49C8-AEB1-EC80A01624BD}"/>
              </a:ext>
            </a:extLst>
          </p:cNvPr>
          <p:cNvCxnSpPr>
            <a:cxnSpLocks/>
          </p:cNvCxnSpPr>
          <p:nvPr/>
        </p:nvCxnSpPr>
        <p:spPr>
          <a:xfrm flipV="1">
            <a:off x="2863072" y="2583341"/>
            <a:ext cx="2199609" cy="1691318"/>
          </a:xfrm>
          <a:prstGeom prst="bentConnector3">
            <a:avLst>
              <a:gd fmla="val 50000" name="adj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2D0325A-8E98-47DC-B87C-F6165C7312E0}"/>
              </a:ext>
            </a:extLst>
          </p:cNvPr>
          <p:cNvCxnSpPr>
            <a:cxnSpLocks/>
          </p:cNvCxnSpPr>
          <p:nvPr/>
        </p:nvCxnSpPr>
        <p:spPr>
          <a:xfrm>
            <a:off x="2878762" y="4635795"/>
            <a:ext cx="23338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4AD232A-B0B9-4242-8C54-1024B56D8492}"/>
              </a:ext>
            </a:extLst>
          </p:cNvPr>
          <p:cNvCxnSpPr>
            <a:cxnSpLocks/>
          </p:cNvCxnSpPr>
          <p:nvPr/>
        </p:nvCxnSpPr>
        <p:spPr>
          <a:xfrm flipV="1">
            <a:off x="2855356" y="3148863"/>
            <a:ext cx="2215043" cy="2146418"/>
          </a:xfrm>
          <a:prstGeom prst="bentConnector3">
            <a:avLst>
              <a:gd fmla="val 50000" name="adj1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CE9F9EF-971D-443B-B899-1FA6D7E4083B}"/>
              </a:ext>
            </a:extLst>
          </p:cNvPr>
          <p:cNvSpPr/>
          <p:nvPr/>
        </p:nvSpPr>
        <p:spPr>
          <a:xfrm>
            <a:off x="1701207" y="6209414"/>
            <a:ext cx="4944142" cy="569895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dirty="0" lang="en-IN"/>
              <a:t>Shuffling and Sorting in Hadoop MapReduce</a:t>
            </a:r>
          </a:p>
        </p:txBody>
      </p:sp>
    </p:spTree>
    <p:extLst>
      <p:ext uri="{BB962C8B-B14F-4D97-AF65-F5344CB8AC3E}">
        <p14:creationId xmlns:p14="http://schemas.microsoft.com/office/powerpoint/2010/main" val="3712621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5C5D35-EC46-46F0-B3FE-16D13F81B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i="0" dirty="0">
                <a:effectLst/>
              </a:rPr>
              <a:t>Shuffle</a:t>
            </a:r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phase</a:t>
            </a:r>
            <a:r>
              <a:rPr lang="en-US" b="0" i="0" dirty="0">
                <a:effectLst/>
              </a:rPr>
              <a:t>.</a:t>
            </a:r>
          </a:p>
          <a:p>
            <a:pPr algn="just"/>
            <a:r>
              <a:rPr lang="en-US" b="0" i="0" dirty="0">
                <a:effectLst/>
              </a:rPr>
              <a:t> </a:t>
            </a:r>
            <a:r>
              <a:rPr lang="en-US" b="1" i="0" dirty="0">
                <a:effectLst/>
              </a:rPr>
              <a:t>Sort phase</a:t>
            </a:r>
            <a:r>
              <a:rPr lang="en-US" b="0" i="0" dirty="0">
                <a:effectLst/>
              </a:rPr>
              <a:t> </a:t>
            </a:r>
          </a:p>
          <a:p>
            <a:pPr algn="just"/>
            <a:r>
              <a:rPr lang="en-US" b="0" i="0" dirty="0">
                <a:effectLst/>
              </a:rPr>
              <a:t> Data from the mapper are grouped by the key, split among reducers and sorted by the key.</a:t>
            </a:r>
          </a:p>
          <a:p>
            <a:pPr algn="just"/>
            <a:r>
              <a:rPr lang="en-US" b="0" i="0" dirty="0">
                <a:effectLst/>
              </a:rPr>
              <a:t>All values associated with the same key.</a:t>
            </a:r>
          </a:p>
          <a:p>
            <a:pPr algn="just"/>
            <a:r>
              <a:rPr lang="en-US" b="0" i="0" dirty="0">
                <a:effectLst/>
              </a:rPr>
              <a:t> Shuffle and sort phase in Hadoop occur simultaneously and are done by the MapReduce framework.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869454-F106-4F63-AE87-AE827AE6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Shuffle and Sort</a:t>
            </a:r>
          </a:p>
        </p:txBody>
      </p:sp>
    </p:spTree>
    <p:extLst>
      <p:ext uri="{BB962C8B-B14F-4D97-AF65-F5344CB8AC3E}">
        <p14:creationId xmlns:p14="http://schemas.microsoft.com/office/powerpoint/2010/main" val="1831704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cil Crayons on a blue background">
            <a:extLst>
              <a:ext uri="{FF2B5EF4-FFF2-40B4-BE49-F238E27FC236}">
                <a16:creationId xmlns:a16="http://schemas.microsoft.com/office/drawing/2014/main" id="{DFA0A307-1366-46FF-8AC5-2567126FA6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A7CAD9-440E-47FF-8325-91379849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lang="en-US" sz="4800" dirty="0">
                <a:solidFill>
                  <a:srgbClr val="FFFFFF"/>
                </a:solidFill>
                <a:latin typeface="Bahnschrift" panose="020B0502040204020203" pitchFamily="34" charset="0"/>
                <a:ea typeface="+mj-ea"/>
                <a:cs typeface="+mj-cs"/>
              </a:rPr>
              <a:t>Shuffle and Sort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B2893B-BF64-4BF9-BB16-4AAC79E8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38" y="4072043"/>
            <a:ext cx="75438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4000" b="0" i="0" dirty="0">
                <a:solidFill>
                  <a:srgbClr val="FFFFFF"/>
                </a:solidFill>
                <a:effectLst/>
              </a:rPr>
              <a:t>Shuffling in MapReduce</a:t>
            </a:r>
          </a:p>
        </p:txBody>
      </p:sp>
    </p:spTree>
    <p:extLst>
      <p:ext uri="{BB962C8B-B14F-4D97-AF65-F5344CB8AC3E}">
        <p14:creationId xmlns:p14="http://schemas.microsoft.com/office/powerpoint/2010/main" val="2926702302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Empty speech bubbles" id="5" name="Picture 4">
            <a:extLst>
              <a:ext uri="{FF2B5EF4-FFF2-40B4-BE49-F238E27FC236}">
                <a16:creationId xmlns:a16="http://schemas.microsoft.com/office/drawing/2014/main" id="{C06C190C-CA85-4C0B-BB5E-E3C7D4280A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1" r="14"/>
          <a:stretch/>
        </p:blipFill>
        <p:spPr>
          <a:xfrm>
            <a:off x="-2285" y="10"/>
            <a:ext cx="9143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A7CAD9-440E-47FF-8325-91379849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325550"/>
            <a:ext cx="7543800" cy="3574778"/>
          </a:xfrm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txBody>
          <a:bodyPr anchor="b" bIns="45720" lIns="91440" rIns="91440" rtlCol="0" tIns="45720" vert="horz">
            <a:normAutofit/>
          </a:bodyPr>
          <a:lstStyle/>
          <a:p>
            <a:pPr algn="ctr" defTabSz="914400">
              <a:lnSpc>
                <a:spcPct val="90000"/>
              </a:lnSpc>
            </a:pPr>
            <a:r>
              <a:rPr dirty="0" lang="en-US" sz="5400">
                <a:solidFill>
                  <a:srgbClr val="FFFFFF"/>
                </a:solidFill>
                <a:latin charset="0" panose="020B0502040204020203" pitchFamily="34" typeface="Bahnschrift"/>
                <a:ea typeface="+mj-ea"/>
                <a:cs typeface="+mj-cs"/>
              </a:rPr>
              <a:t>Shuffle and Sort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B2893B-BF64-4BF9-BB16-4AAC79E8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038" y="4072043"/>
            <a:ext cx="7543800" cy="1282707"/>
          </a:xfrm>
          <a:effectLst>
            <a:outerShdw algn="tl" blurRad="50800" dir="2700000" dist="38100" rotWithShape="0">
              <a:prstClr val="black">
                <a:alpha val="40000"/>
              </a:prstClr>
            </a:outerShdw>
          </a:effectLst>
        </p:spPr>
        <p:txBody>
          <a:bodyPr bIns="45720" lIns="91440" rIns="91440" rtlCol="0" tIns="45720" vert="horz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b="0" dirty="0" i="0" lang="en-US" sz="3200">
                <a:solidFill>
                  <a:srgbClr val="FFFFFF"/>
                </a:solidFill>
                <a:effectLst/>
              </a:rPr>
              <a:t>Sorting in MapReduce</a:t>
            </a:r>
          </a:p>
        </p:txBody>
      </p:sp>
    </p:spTree>
    <p:extLst>
      <p:ext uri="{BB962C8B-B14F-4D97-AF65-F5344CB8AC3E}">
        <p14:creationId xmlns:p14="http://schemas.microsoft.com/office/powerpoint/2010/main" val="3783665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9144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9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2A7CAD9-440E-47FF-8325-91379849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20676"/>
            <a:ext cx="5266135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300" kern="1200" dirty="0">
                <a:latin typeface="Bahnschrift" panose="020B0502040204020203" pitchFamily="34" charset="0"/>
                <a:ea typeface="+mj-ea"/>
                <a:cs typeface="+mj-cs"/>
              </a:rPr>
              <a:t>Shuffle and Sort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B2893B-BF64-4BF9-BB16-4AAC79E8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268" y="3809999"/>
            <a:ext cx="7374732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fontAlgn="base">
              <a:lnSpc>
                <a:spcPct val="90000"/>
              </a:lnSpc>
              <a:buNone/>
            </a:pPr>
            <a:r>
              <a:rPr lang="en-US" sz="3600" b="0" i="0" kern="1200" dirty="0">
                <a:solidFill>
                  <a:schemeClr val="bg1"/>
                </a:solidFill>
                <a:effectLst/>
              </a:rPr>
              <a:t>Secondary Sorting in MapReduce</a:t>
            </a:r>
          </a:p>
        </p:txBody>
      </p:sp>
    </p:spTree>
    <p:extLst>
      <p:ext uri="{BB962C8B-B14F-4D97-AF65-F5344CB8AC3E}">
        <p14:creationId xmlns:p14="http://schemas.microsoft.com/office/powerpoint/2010/main" val="34961637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1337</TotalTime>
  <Words>717</Words>
  <Application>Microsoft Office PowerPoint</Application>
  <PresentationFormat>On-screen Show (4:3)</PresentationFormat>
  <Paragraphs>218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What is Shuffling and Sorting in Hadoop MapReduce?</vt:lpstr>
      <vt:lpstr>Phases of MapReduce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Shuffle and Sort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122</cp:revision>
  <dcterms:created xsi:type="dcterms:W3CDTF">2021-05-13T17:45:44Z</dcterms:created>
  <dcterms:modified xsi:type="dcterms:W3CDTF">2021-09-02T06:32:51Z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671880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