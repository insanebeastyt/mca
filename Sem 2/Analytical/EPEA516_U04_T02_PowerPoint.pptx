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78" r:id="rId2"/>
    <p:sldId id="674" r:id="rId3"/>
    <p:sldId id="633" r:id="rId4"/>
    <p:sldId id="704" r:id="rId5"/>
    <p:sldId id="703" r:id="rId6"/>
    <p:sldId id="675" r:id="rId7"/>
    <p:sldId id="687" r:id="rId8"/>
    <p:sldId id="688" r:id="rId9"/>
    <p:sldId id="689" r:id="rId10"/>
    <p:sldId id="655" r:id="rId11"/>
    <p:sldId id="690" r:id="rId12"/>
    <p:sldId id="691" r:id="rId13"/>
    <p:sldId id="692" r:id="rId14"/>
    <p:sldId id="632" r:id="rId15"/>
    <p:sldId id="693" r:id="rId16"/>
    <p:sldId id="695" r:id="rId17"/>
    <p:sldId id="696" r:id="rId18"/>
    <p:sldId id="630" r:id="rId19"/>
    <p:sldId id="697" r:id="rId20"/>
    <p:sldId id="666" r:id="rId21"/>
    <p:sldId id="698" r:id="rId22"/>
    <p:sldId id="700" r:id="rId23"/>
    <p:sldId id="672" r:id="rId24"/>
    <p:sldId id="702" r:id="rId25"/>
    <p:sldId id="660" r:id="rId26"/>
    <p:sldId id="635" r:id="rId27"/>
    <p:sldId id="664" r:id="rId28"/>
    <p:sldId id="631" r:id="rId29"/>
    <p:sldId id="701" r:id="rId30"/>
    <p:sldId id="677" r:id="rId31"/>
    <p:sldId id="679" r:id="rId32"/>
    <p:sldId id="681" r:id="rId33"/>
    <p:sldId id="676" r:id="rId34"/>
    <p:sldId id="682" r:id="rId35"/>
    <p:sldId id="684" r:id="rId36"/>
    <p:sldId id="343" r:id="rId37"/>
    <p:sldId id="346"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1013"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5/22/2022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5/22/2022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5/22/2022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5/22/2022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5/22/2022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a:bodyPr>
          <a:lstStyle/>
          <a:p>
            <a:pPr lvl="0" algn="just"/>
            <a:r>
              <a:rPr lang="en-US" dirty="0"/>
              <a:t>solve various problems relating to </a:t>
            </a:r>
            <a:r>
              <a:rPr lang="en-IN" dirty="0"/>
              <a:t>trains</a:t>
            </a:r>
            <a:r>
              <a:rPr lang="en-US" dirty="0"/>
              <a:t>.</a:t>
            </a:r>
          </a:p>
        </p:txBody>
      </p:sp>
    </p:spTree>
    <p:extLst>
      <p:ext uri="{BB962C8B-B14F-4D97-AF65-F5344CB8AC3E}">
        <p14:creationId xmlns:p14="http://schemas.microsoft.com/office/powerpoint/2010/main" val="122843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A train 230 m long passes a bridge of length 600 m. What is the distance covered by train in passing the bridge? </a:t>
            </a:r>
          </a:p>
          <a:p>
            <a:pPr algn="just"/>
            <a:r>
              <a:rPr lang="en-US" dirty="0"/>
              <a:t>Length of Train = 230 m</a:t>
            </a:r>
          </a:p>
          <a:p>
            <a:pPr algn="just"/>
            <a:r>
              <a:rPr lang="en-US" dirty="0"/>
              <a:t>Length of Bridge = 600 m</a:t>
            </a:r>
          </a:p>
          <a:p>
            <a:pPr algn="just"/>
            <a:r>
              <a:rPr lang="en-US" dirty="0"/>
              <a:t>Distance covered by train in passing the bridge </a:t>
            </a:r>
          </a:p>
          <a:p>
            <a:pPr marL="0" indent="0" algn="just">
              <a:buNone/>
            </a:pPr>
            <a:r>
              <a:rPr lang="en-US" dirty="0"/>
              <a:t>	= Length of Train  + Length of Bridge </a:t>
            </a:r>
            <a:r>
              <a:rPr lang="en-IN" dirty="0"/>
              <a:t>	</a:t>
            </a:r>
          </a:p>
          <a:p>
            <a:pPr marL="0" indent="0" algn="just">
              <a:buNone/>
            </a:pPr>
            <a:r>
              <a:rPr lang="en-US" dirty="0"/>
              <a:t>	= (230 + 600) m</a:t>
            </a:r>
            <a:r>
              <a:rPr lang="en-IN" dirty="0"/>
              <a:t> </a:t>
            </a:r>
          </a:p>
          <a:p>
            <a:pPr marL="0" indent="0" algn="just">
              <a:buNone/>
            </a:pPr>
            <a:r>
              <a:rPr lang="en-US" dirty="0"/>
              <a:t>	= 830 m</a:t>
            </a:r>
          </a:p>
        </p:txBody>
      </p:sp>
    </p:spTree>
    <p:extLst>
      <p:ext uri="{BB962C8B-B14F-4D97-AF65-F5344CB8AC3E}">
        <p14:creationId xmlns:p14="http://schemas.microsoft.com/office/powerpoint/2010/main" val="977141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Two trains are running with a speed of 75 Km/h and 58 Km/h, respectively. Compute their relative speed. </a:t>
                </a:r>
              </a:p>
              <a:p>
                <a:pPr algn="just"/>
                <a:r>
                  <a:rPr lang="en-US" dirty="0"/>
                  <a:t>Relative Speed  = </a:t>
                </a:r>
                <a14:m>
                  <m:oMath xmlns:m="http://schemas.openxmlformats.org/officeDocument/2006/math">
                    <m:r>
                      <m:rPr>
                        <m:nor/>
                      </m:rPr>
                      <a:rPr lang="en-US" dirty="0"/>
                      <m:t>a</m:t>
                    </m:r>
                    <m:r>
                      <m:rPr>
                        <m:nor/>
                      </m:rPr>
                      <a:rPr lang="en-US" dirty="0"/>
                      <m:t> − </m:t>
                    </m:r>
                    <m:r>
                      <m:rPr>
                        <m:nor/>
                      </m:rPr>
                      <a:rPr lang="en-US" dirty="0"/>
                      <m:t>b</m:t>
                    </m:r>
                    <m:r>
                      <a:rPr lang="en-US" i="1" dirty="0">
                        <a:latin typeface="Cambria Math" panose="02040503050406030204" pitchFamily="18" charset="0"/>
                      </a:rPr>
                      <m:t> </m:t>
                    </m:r>
                  </m:oMath>
                </a14:m>
                <a:r>
                  <a:rPr lang="en-US" sz="2600" dirty="0"/>
                  <a:t>	 </a:t>
                </a:r>
                <a:r>
                  <a:rPr lang="en-IN" dirty="0"/>
                  <a:t>(</a:t>
                </a:r>
                <a:r>
                  <a:rPr lang="en-IN" sz="2600" dirty="0"/>
                  <a:t>where </a:t>
                </a:r>
                <a:r>
                  <a:rPr lang="en-US" dirty="0"/>
                  <a:t>a &gt; b) </a:t>
                </a:r>
                <a:endParaRPr lang="en-IN" sz="2600" dirty="0"/>
              </a:p>
              <a:p>
                <a:pPr algn="just"/>
                <a:r>
                  <a:rPr lang="en-US" dirty="0"/>
                  <a:t>a = 75 Km/h, b = 58 Km/h</a:t>
                </a:r>
              </a:p>
              <a:p>
                <a:pPr algn="just"/>
                <a:r>
                  <a:rPr lang="en-US" dirty="0"/>
                  <a:t>Relative Speed  = (</a:t>
                </a:r>
                <a14:m>
                  <m:oMath xmlns:m="http://schemas.openxmlformats.org/officeDocument/2006/math">
                    <m:r>
                      <m:rPr>
                        <m:nor/>
                      </m:rPr>
                      <a:rPr lang="en-US" dirty="0"/>
                      <m:t>75 − 58</m:t>
                    </m:r>
                  </m:oMath>
                </a14:m>
                <a:r>
                  <a:rPr lang="en-US" dirty="0"/>
                  <a:t>) Km/h</a:t>
                </a:r>
              </a:p>
              <a:p>
                <a:pPr algn="just"/>
                <a:r>
                  <a:rPr lang="en-US" dirty="0"/>
                  <a:t>Relative Speed  = 1</a:t>
                </a:r>
                <a14:m>
                  <m:oMath xmlns:m="http://schemas.openxmlformats.org/officeDocument/2006/math">
                    <m:r>
                      <m:rPr>
                        <m:nor/>
                      </m:rPr>
                      <a:rPr lang="en-US" b="0" i="0" dirty="0" smtClean="0"/>
                      <m:t>7</m:t>
                    </m:r>
                  </m:oMath>
                </a14:m>
                <a:r>
                  <a:rPr lang="en-US" dirty="0"/>
                  <a:t> Km/h</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408827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train 500 m long crosses a pole in 20 seconds. What is the speed of the train in Km/h? </a:t>
                </a:r>
              </a:p>
              <a:p>
                <a:pPr algn="just"/>
                <a:r>
                  <a:rPr lang="en-US" dirty="0"/>
                  <a:t>D = Length of the Train = 500 m</a:t>
                </a:r>
              </a:p>
              <a:p>
                <a:pPr algn="just"/>
                <a:r>
                  <a:rPr lang="en-US" dirty="0"/>
                  <a:t>T = 20 seconds</a:t>
                </a:r>
              </a:p>
              <a:p>
                <a:pPr algn="just"/>
                <a:r>
                  <a:rPr lang="en-US" dirty="0"/>
                  <a:t>S = ?</a:t>
                </a:r>
              </a:p>
              <a:p>
                <a:pPr marL="0" indent="0" algn="just">
                  <a:lnSpc>
                    <a:spcPct val="120000"/>
                  </a:lnSpc>
                  <a:buNone/>
                </a:pPr>
                <a:r>
                  <a:rPr lang="en-IN" dirty="0"/>
                  <a:t>			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D</m:t>
                        </m:r>
                      </m:num>
                      <m:den>
                        <m:r>
                          <m:rPr>
                            <m:nor/>
                          </m:rPr>
                          <a:rPr lang="en-IN" dirty="0"/>
                          <m:t>T</m:t>
                        </m:r>
                      </m:den>
                    </m:f>
                  </m:oMath>
                </a14:m>
                <a:endParaRPr lang="en-US" dirty="0"/>
              </a:p>
              <a:p>
                <a:pPr marL="0" indent="0" algn="just">
                  <a:lnSpc>
                    <a:spcPct val="120000"/>
                  </a:lnSpc>
                  <a:buNone/>
                </a:pPr>
                <a:r>
                  <a:rPr lang="en-IN" dirty="0"/>
                  <a:t>			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50</m:t>
                        </m:r>
                        <m:r>
                          <m:rPr>
                            <m:nor/>
                          </m:rPr>
                          <a:rPr lang="en-US" dirty="0"/>
                          <m:t>0</m:t>
                        </m:r>
                      </m:num>
                      <m:den>
                        <m:r>
                          <m:rPr>
                            <m:nor/>
                          </m:rPr>
                          <a:rPr lang="en-US" b="0" i="0" dirty="0" smtClean="0"/>
                          <m:t>20</m:t>
                        </m:r>
                      </m:den>
                    </m:f>
                  </m:oMath>
                </a14:m>
                <a:endParaRPr lang="en-US" dirty="0"/>
              </a:p>
              <a:p>
                <a:pPr marL="0" indent="0" algn="just">
                  <a:lnSpc>
                    <a:spcPct val="120000"/>
                  </a:lnSpc>
                  <a:buNone/>
                </a:pPr>
                <a:r>
                  <a:rPr lang="en-IN" dirty="0"/>
                  <a:t>			S = </a:t>
                </a:r>
                <a14:m>
                  <m:oMath xmlns:m="http://schemas.openxmlformats.org/officeDocument/2006/math">
                    <m:r>
                      <m:rPr>
                        <m:nor/>
                      </m:rPr>
                      <a:rPr lang="en-US" dirty="0"/>
                      <m:t>2</m:t>
                    </m:r>
                    <m:r>
                      <m:rPr>
                        <m:nor/>
                      </m:rPr>
                      <a:rPr lang="en-US" b="0" i="0" dirty="0" smtClean="0"/>
                      <m:t>5</m:t>
                    </m:r>
                    <m:r>
                      <m:rPr>
                        <m:nor/>
                      </m:rPr>
                      <a:rPr lang="en-US" dirty="0"/>
                      <m:t> </m:t>
                    </m:r>
                    <m:r>
                      <m:rPr>
                        <m:nor/>
                      </m:rPr>
                      <a:rPr lang="en-US" dirty="0"/>
                      <m:t>m</m:t>
                    </m:r>
                    <m:r>
                      <m:rPr>
                        <m:nor/>
                      </m:rPr>
                      <a:rPr lang="en-US" dirty="0"/>
                      <m:t>/</m:t>
                    </m:r>
                    <m:r>
                      <m:rPr>
                        <m:nor/>
                      </m:rPr>
                      <a:rPr lang="en-US" b="0" i="0" dirty="0" smtClean="0"/>
                      <m:t>s</m:t>
                    </m:r>
                  </m:oMath>
                </a14:m>
                <a:r>
                  <a:rPr lang="en-US" dirty="0"/>
                  <a:t> </a:t>
                </a:r>
                <a:r>
                  <a:rPr lang="en-IN" dirty="0"/>
                  <a:t>= </a:t>
                </a:r>
                <a14:m>
                  <m:oMath xmlns:m="http://schemas.openxmlformats.org/officeDocument/2006/math">
                    <m:r>
                      <m:rPr>
                        <m:nor/>
                      </m:rPr>
                      <a:rPr lang="en-US" dirty="0"/>
                      <m:t>25</m:t>
                    </m:r>
                    <m:r>
                      <m:rPr>
                        <m:nor/>
                      </m:rPr>
                      <a:rPr lang="en-US" b="0" i="0" dirty="0" smtClean="0"/>
                      <m:t> </m:t>
                    </m:r>
                    <m:r>
                      <m:rPr>
                        <m:nor/>
                      </m:rPr>
                      <a:rPr lang="en-US" b="0" i="0" dirty="0" smtClean="0"/>
                      <m:t>x</m:t>
                    </m:r>
                    <m:f>
                      <m:fPr>
                        <m:ctrlPr>
                          <a:rPr lang="en-US" i="1">
                            <a:solidFill>
                              <a:srgbClr val="836967"/>
                            </a:solidFill>
                            <a:latin typeface="Cambria Math" panose="02040503050406030204" pitchFamily="18" charset="0"/>
                          </a:rPr>
                        </m:ctrlPr>
                      </m:fPr>
                      <m:num>
                        <m:r>
                          <m:rPr>
                            <m:nor/>
                          </m:rPr>
                          <a:rPr lang="en-US" b="0" i="0" dirty="0" smtClean="0"/>
                          <m:t>18</m:t>
                        </m:r>
                      </m:num>
                      <m:den>
                        <m:r>
                          <m:rPr>
                            <m:nor/>
                          </m:rPr>
                          <a:rPr lang="en-US" b="0" i="0" dirty="0" smtClean="0"/>
                          <m:t>5</m:t>
                        </m:r>
                      </m:den>
                    </m:f>
                    <m:r>
                      <m:rPr>
                        <m:nor/>
                      </m:rPr>
                      <a:rPr lang="en-US" b="0" i="0" dirty="0" smtClean="0">
                        <a:latin typeface="Cambria Math" panose="02040503050406030204" pitchFamily="18" charset="0"/>
                      </a:rPr>
                      <m:t>   </m:t>
                    </m:r>
                    <m:r>
                      <m:rPr>
                        <m:nor/>
                      </m:rPr>
                      <a:rPr lang="en-US" b="0" i="0" dirty="0" smtClean="0"/>
                      <m:t>Km</m:t>
                    </m:r>
                    <m:r>
                      <m:rPr>
                        <m:nor/>
                      </m:rPr>
                      <a:rPr lang="en-US" dirty="0"/>
                      <m:t>/</m:t>
                    </m:r>
                    <m:r>
                      <m:rPr>
                        <m:nor/>
                      </m:rPr>
                      <a:rPr lang="en-US" b="0" i="0" dirty="0" smtClean="0"/>
                      <m:t>h</m:t>
                    </m:r>
                    <m:r>
                      <m:rPr>
                        <m:nor/>
                      </m:rPr>
                      <a:rPr lang="en-US" b="0" i="0" dirty="0" smtClean="0"/>
                      <m:t> = 90</m:t>
                    </m:r>
                  </m:oMath>
                </a14:m>
                <a:r>
                  <a:rPr lang="en-US" dirty="0"/>
                  <a:t> </a:t>
                </a:r>
                <a14:m>
                  <m:oMath xmlns:m="http://schemas.openxmlformats.org/officeDocument/2006/math">
                    <m:r>
                      <m:rPr>
                        <m:nor/>
                      </m:rPr>
                      <a:rPr lang="en-US" dirty="0"/>
                      <m:t>Km</m:t>
                    </m:r>
                    <m:r>
                      <m:rPr>
                        <m:nor/>
                      </m:rPr>
                      <a:rPr lang="en-US" dirty="0"/>
                      <m:t>/</m:t>
                    </m:r>
                    <m:r>
                      <m:rPr>
                        <m:nor/>
                      </m:rPr>
                      <a:rPr lang="en-US" dirty="0"/>
                      <m:t>h</m:t>
                    </m:r>
                  </m:oMath>
                </a14:m>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452"/>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F21F3B5E-A229-487D-0DF0-403151A0D764}"/>
              </a:ext>
            </a:extLst>
          </p:cNvPr>
          <p:cNvCxnSpPr/>
          <p:nvPr/>
        </p:nvCxnSpPr>
        <p:spPr>
          <a:xfrm flipV="1">
            <a:off x="3766105" y="532081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E480989-2032-35D3-7F11-863B483B1635}"/>
              </a:ext>
            </a:extLst>
          </p:cNvPr>
          <p:cNvCxnSpPr/>
          <p:nvPr/>
        </p:nvCxnSpPr>
        <p:spPr>
          <a:xfrm flipV="1">
            <a:off x="3776044" y="566250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6AF1AC3-C194-2331-D201-DA54232D7BEB}"/>
              </a:ext>
            </a:extLst>
          </p:cNvPr>
          <p:cNvSpPr txBox="1"/>
          <p:nvPr/>
        </p:nvSpPr>
        <p:spPr>
          <a:xfrm>
            <a:off x="4357839" y="4977125"/>
            <a:ext cx="428322" cy="369332"/>
          </a:xfrm>
          <a:prstGeom prst="rect">
            <a:avLst/>
          </a:prstGeom>
          <a:noFill/>
        </p:spPr>
        <p:txBody>
          <a:bodyPr wrap="none" rtlCol="0">
            <a:spAutoFit/>
          </a:bodyPr>
          <a:lstStyle/>
          <a:p>
            <a:r>
              <a:rPr lang="en-US" dirty="0"/>
              <a:t>25</a:t>
            </a:r>
            <a:endParaRPr lang="en-IN" dirty="0"/>
          </a:p>
        </p:txBody>
      </p:sp>
      <p:cxnSp>
        <p:nvCxnSpPr>
          <p:cNvPr id="7" name="Straight Connector 6">
            <a:extLst>
              <a:ext uri="{FF2B5EF4-FFF2-40B4-BE49-F238E27FC236}">
                <a16:creationId xmlns:a16="http://schemas.microsoft.com/office/drawing/2014/main" id="{A7559A3C-279E-64D2-2A00-014F5E716BAC}"/>
              </a:ext>
            </a:extLst>
          </p:cNvPr>
          <p:cNvCxnSpPr/>
          <p:nvPr/>
        </p:nvCxnSpPr>
        <p:spPr>
          <a:xfrm flipV="1">
            <a:off x="4882601" y="625588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9FCC94-4063-15CC-3A83-E98270E46A74}"/>
              </a:ext>
            </a:extLst>
          </p:cNvPr>
          <p:cNvCxnSpPr/>
          <p:nvPr/>
        </p:nvCxnSpPr>
        <p:spPr>
          <a:xfrm flipV="1">
            <a:off x="5449133" y="642612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1AF41C-66DC-E2F3-0857-0C4A28D6CECE}"/>
              </a:ext>
            </a:extLst>
          </p:cNvPr>
          <p:cNvSpPr txBox="1"/>
          <p:nvPr/>
        </p:nvSpPr>
        <p:spPr>
          <a:xfrm>
            <a:off x="4921888" y="5819873"/>
            <a:ext cx="309700" cy="369332"/>
          </a:xfrm>
          <a:prstGeom prst="rect">
            <a:avLst/>
          </a:prstGeom>
          <a:noFill/>
        </p:spPr>
        <p:txBody>
          <a:bodyPr wrap="none" rtlCol="0">
            <a:spAutoFit/>
          </a:bodyPr>
          <a:lstStyle/>
          <a:p>
            <a:r>
              <a:rPr lang="en-US" dirty="0"/>
              <a:t>5</a:t>
            </a:r>
            <a:endParaRPr lang="en-IN" dirty="0"/>
          </a:p>
        </p:txBody>
      </p:sp>
    </p:spTree>
    <p:extLst>
      <p:ext uri="{BB962C8B-B14F-4D97-AF65-F5344CB8AC3E}">
        <p14:creationId xmlns:p14="http://schemas.microsoft.com/office/powerpoint/2010/main" val="2553853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4</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A train 200 m long passes a tunnel in 30 seconds moving at a speed of 25 m/s. Find out the length of the tunnel.</a:t>
            </a:r>
          </a:p>
          <a:p>
            <a:pPr algn="just"/>
            <a:r>
              <a:rPr lang="en-US" dirty="0"/>
              <a:t>Length of Train = 200 m</a:t>
            </a:r>
          </a:p>
          <a:p>
            <a:pPr algn="just"/>
            <a:r>
              <a:rPr lang="en-US" dirty="0"/>
              <a:t>D 	= Length of Train + Length of Tunnel </a:t>
            </a:r>
          </a:p>
          <a:p>
            <a:pPr marL="0" indent="0" algn="just">
              <a:buNone/>
            </a:pPr>
            <a:r>
              <a:rPr lang="en-US" dirty="0"/>
              <a:t>	= (200 + Length of Tunnel) m </a:t>
            </a:r>
          </a:p>
          <a:p>
            <a:pPr algn="just"/>
            <a:r>
              <a:rPr lang="en-US" dirty="0"/>
              <a:t>T = 30 seconds</a:t>
            </a:r>
          </a:p>
          <a:p>
            <a:pPr algn="just"/>
            <a:r>
              <a:rPr lang="en-US" dirty="0"/>
              <a:t>S = 25 m/s </a:t>
            </a:r>
          </a:p>
          <a:p>
            <a:pPr algn="just"/>
            <a:r>
              <a:rPr lang="en-US" dirty="0"/>
              <a:t>Length of Tunnel = ?</a:t>
            </a:r>
          </a:p>
        </p:txBody>
      </p:sp>
    </p:spTree>
    <p:extLst>
      <p:ext uri="{BB962C8B-B14F-4D97-AF65-F5344CB8AC3E}">
        <p14:creationId xmlns:p14="http://schemas.microsoft.com/office/powerpoint/2010/main" val="3575340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 = (200 + Length of Tunnel) m; T = 30 s; &amp; S = 25 m/s</a:t>
                </a:r>
              </a:p>
              <a:p>
                <a:pPr marL="0" indent="0" algn="just">
                  <a:buNone/>
                </a:pPr>
                <a:r>
                  <a:rPr lang="en-IN" dirty="0"/>
                  <a:t>		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D</m:t>
                        </m:r>
                      </m:num>
                      <m:den>
                        <m:r>
                          <m:rPr>
                            <m:nor/>
                          </m:rPr>
                          <a:rPr lang="en-IN" dirty="0"/>
                          <m:t>T</m:t>
                        </m:r>
                      </m:den>
                    </m:f>
                    <m:r>
                      <a:rPr lang="en-IN" i="1" dirty="0">
                        <a:latin typeface="Cambria Math" panose="02040503050406030204" pitchFamily="18" charset="0"/>
                      </a:rPr>
                      <m:t> </m:t>
                    </m:r>
                  </m:oMath>
                </a14:m>
                <a:endParaRPr lang="en-US" dirty="0"/>
              </a:p>
              <a:p>
                <a:pPr marL="0" indent="0" algn="just">
                  <a:buNone/>
                </a:pPr>
                <a:r>
                  <a:rPr lang="en-US" dirty="0"/>
                  <a:t>		25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200 + </m:t>
                        </m:r>
                        <m:r>
                          <m:rPr>
                            <m:nor/>
                          </m:rPr>
                          <a:rPr lang="en-US" dirty="0"/>
                          <m:t>Length</m:t>
                        </m:r>
                        <m:r>
                          <m:rPr>
                            <m:nor/>
                          </m:rPr>
                          <a:rPr lang="en-US" dirty="0"/>
                          <m:t> </m:t>
                        </m:r>
                        <m:r>
                          <m:rPr>
                            <m:nor/>
                          </m:rPr>
                          <a:rPr lang="en-US" dirty="0"/>
                          <m:t>of</m:t>
                        </m:r>
                        <m:r>
                          <m:rPr>
                            <m:nor/>
                          </m:rPr>
                          <a:rPr lang="en-US" dirty="0"/>
                          <m:t> </m:t>
                        </m:r>
                        <m:r>
                          <m:rPr>
                            <m:nor/>
                          </m:rPr>
                          <a:rPr lang="en-US" dirty="0"/>
                          <m:t>Tunnel</m:t>
                        </m:r>
                      </m:num>
                      <m:den>
                        <m:r>
                          <m:rPr>
                            <m:nor/>
                          </m:rPr>
                          <a:rPr lang="en-US" b="0" i="0" dirty="0" smtClean="0"/>
                          <m:t>30</m:t>
                        </m:r>
                      </m:den>
                    </m:f>
                    <m:r>
                      <a:rPr lang="en-IN" i="1" dirty="0">
                        <a:latin typeface="Cambria Math" panose="02040503050406030204" pitchFamily="18" charset="0"/>
                      </a:rPr>
                      <m:t> </m:t>
                    </m:r>
                  </m:oMath>
                </a14:m>
                <a:endParaRPr lang="en-US" dirty="0"/>
              </a:p>
              <a:p>
                <a:pPr marL="0" indent="0" algn="just">
                  <a:buNone/>
                </a:pPr>
                <a:r>
                  <a:rPr lang="en-US" dirty="0"/>
                  <a:t>		25 x 30 = </a:t>
                </a:r>
                <a14:m>
                  <m:oMath xmlns:m="http://schemas.openxmlformats.org/officeDocument/2006/math">
                    <m:r>
                      <m:rPr>
                        <m:nor/>
                      </m:rPr>
                      <a:rPr lang="en-US" dirty="0"/>
                      <m:t>200 + </m:t>
                    </m:r>
                    <m:r>
                      <m:rPr>
                        <m:nor/>
                      </m:rPr>
                      <a:rPr lang="en-US" dirty="0"/>
                      <m:t>Length</m:t>
                    </m:r>
                    <m:r>
                      <m:rPr>
                        <m:nor/>
                      </m:rPr>
                      <a:rPr lang="en-US" dirty="0"/>
                      <m:t> </m:t>
                    </m:r>
                    <m:r>
                      <m:rPr>
                        <m:nor/>
                      </m:rPr>
                      <a:rPr lang="en-US" dirty="0"/>
                      <m:t>of</m:t>
                    </m:r>
                    <m:r>
                      <m:rPr>
                        <m:nor/>
                      </m:rPr>
                      <a:rPr lang="en-US" dirty="0"/>
                      <m:t> </m:t>
                    </m:r>
                    <m:r>
                      <m:rPr>
                        <m:nor/>
                      </m:rPr>
                      <a:rPr lang="en-US" dirty="0"/>
                      <m:t>Tunnel</m:t>
                    </m:r>
                  </m:oMath>
                </a14:m>
                <a:endParaRPr lang="en-US" dirty="0"/>
              </a:p>
              <a:p>
                <a:pPr marL="0" indent="0" algn="just">
                  <a:buNone/>
                </a:pPr>
                <a:r>
                  <a:rPr lang="en-US" dirty="0"/>
                  <a:t>		</a:t>
                </a:r>
                <a14:m>
                  <m:oMath xmlns:m="http://schemas.openxmlformats.org/officeDocument/2006/math">
                    <m:r>
                      <m:rPr>
                        <m:nor/>
                      </m:rPr>
                      <a:rPr lang="en-US" dirty="0"/>
                      <m:t>Length</m:t>
                    </m:r>
                    <m:r>
                      <m:rPr>
                        <m:nor/>
                      </m:rPr>
                      <a:rPr lang="en-US" dirty="0"/>
                      <m:t> </m:t>
                    </m:r>
                    <m:r>
                      <m:rPr>
                        <m:nor/>
                      </m:rPr>
                      <a:rPr lang="en-US" dirty="0"/>
                      <m:t>of</m:t>
                    </m:r>
                    <m:r>
                      <m:rPr>
                        <m:nor/>
                      </m:rPr>
                      <a:rPr lang="en-US" dirty="0"/>
                      <m:t> </m:t>
                    </m:r>
                    <m:r>
                      <m:rPr>
                        <m:nor/>
                      </m:rPr>
                      <a:rPr lang="en-US" dirty="0"/>
                      <m:t>Tunnel</m:t>
                    </m:r>
                  </m:oMath>
                </a14:m>
                <a:r>
                  <a:rPr lang="en-US" dirty="0"/>
                  <a:t> = (750 – </a:t>
                </a:r>
                <a14:m>
                  <m:oMath xmlns:m="http://schemas.openxmlformats.org/officeDocument/2006/math">
                    <m:r>
                      <m:rPr>
                        <m:nor/>
                      </m:rPr>
                      <a:rPr lang="en-US" dirty="0"/>
                      <m:t>200</m:t>
                    </m:r>
                  </m:oMath>
                </a14:m>
                <a:r>
                  <a:rPr lang="en-US" dirty="0"/>
                  <a:t>) m</a:t>
                </a:r>
              </a:p>
              <a:p>
                <a:pPr marL="0" indent="0" algn="just">
                  <a:buNone/>
                </a:pPr>
                <a:r>
                  <a:rPr lang="en-US" dirty="0"/>
                  <a:t>		</a:t>
                </a:r>
                <a14:m>
                  <m:oMath xmlns:m="http://schemas.openxmlformats.org/officeDocument/2006/math">
                    <m:r>
                      <m:rPr>
                        <m:nor/>
                      </m:rPr>
                      <a:rPr lang="en-US" dirty="0"/>
                      <m:t>Length</m:t>
                    </m:r>
                    <m:r>
                      <m:rPr>
                        <m:nor/>
                      </m:rPr>
                      <a:rPr lang="en-US" dirty="0"/>
                      <m:t> </m:t>
                    </m:r>
                    <m:r>
                      <m:rPr>
                        <m:nor/>
                      </m:rPr>
                      <a:rPr lang="en-US" dirty="0"/>
                      <m:t>of</m:t>
                    </m:r>
                    <m:r>
                      <m:rPr>
                        <m:nor/>
                      </m:rPr>
                      <a:rPr lang="en-US" dirty="0"/>
                      <m:t> </m:t>
                    </m:r>
                    <m:r>
                      <m:rPr>
                        <m:nor/>
                      </m:rPr>
                      <a:rPr lang="en-US" dirty="0"/>
                      <m:t>Tunnel</m:t>
                    </m:r>
                  </m:oMath>
                </a14:m>
                <a:r>
                  <a:rPr lang="en-US" dirty="0"/>
                  <a:t> = 550m</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Arrow Connector 3">
            <a:extLst>
              <a:ext uri="{FF2B5EF4-FFF2-40B4-BE49-F238E27FC236}">
                <a16:creationId xmlns:a16="http://schemas.microsoft.com/office/drawing/2014/main" id="{9234A676-DD73-FF8A-ADE2-B84EE4E59B08}"/>
              </a:ext>
            </a:extLst>
          </p:cNvPr>
          <p:cNvCxnSpPr>
            <a:cxnSpLocks/>
          </p:cNvCxnSpPr>
          <p:nvPr/>
        </p:nvCxnSpPr>
        <p:spPr>
          <a:xfrm flipH="1" flipV="1">
            <a:off x="2643809" y="3816626"/>
            <a:ext cx="1689654" cy="11927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0A11CA93-4199-A5D0-8574-BEAAC207148F}"/>
              </a:ext>
            </a:extLst>
          </p:cNvPr>
          <p:cNvSpPr/>
          <p:nvPr/>
        </p:nvSpPr>
        <p:spPr>
          <a:xfrm>
            <a:off x="4333463" y="3717236"/>
            <a:ext cx="576470"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Curved Down 11">
            <a:extLst>
              <a:ext uri="{FF2B5EF4-FFF2-40B4-BE49-F238E27FC236}">
                <a16:creationId xmlns:a16="http://schemas.microsoft.com/office/drawing/2014/main" id="{B5E8AA87-60A9-25C6-471C-4134C49BED38}"/>
              </a:ext>
            </a:extLst>
          </p:cNvPr>
          <p:cNvSpPr/>
          <p:nvPr/>
        </p:nvSpPr>
        <p:spPr>
          <a:xfrm rot="10800000" flipV="1">
            <a:off x="3203183" y="4031404"/>
            <a:ext cx="895996" cy="375916"/>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Oval 12">
            <a:extLst>
              <a:ext uri="{FF2B5EF4-FFF2-40B4-BE49-F238E27FC236}">
                <a16:creationId xmlns:a16="http://schemas.microsoft.com/office/drawing/2014/main" id="{69FE0FB0-0333-F5D3-D66F-88401578B3A5}"/>
              </a:ext>
            </a:extLst>
          </p:cNvPr>
          <p:cNvSpPr/>
          <p:nvPr/>
        </p:nvSpPr>
        <p:spPr>
          <a:xfrm>
            <a:off x="3588026" y="4374598"/>
            <a:ext cx="735497"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7892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5</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 train 200 m long passes a tunnel of length 500 m at a speed of 25 m/s. Find out the time taken by train to cross/pass the tunnel.</a:t>
            </a:r>
          </a:p>
          <a:p>
            <a:pPr algn="just"/>
            <a:r>
              <a:rPr lang="en-US" dirty="0"/>
              <a:t>Length of Train = 200 m</a:t>
            </a:r>
          </a:p>
          <a:p>
            <a:pPr algn="just"/>
            <a:r>
              <a:rPr lang="en-US" dirty="0"/>
              <a:t>Length of Tunnel = 500 m</a:t>
            </a:r>
          </a:p>
          <a:p>
            <a:pPr algn="just"/>
            <a:r>
              <a:rPr lang="en-US" dirty="0"/>
              <a:t>D 	= Length of Train + Length of Tunnel </a:t>
            </a:r>
          </a:p>
          <a:p>
            <a:pPr marL="0" indent="0" algn="just">
              <a:buNone/>
            </a:pPr>
            <a:r>
              <a:rPr lang="en-US" dirty="0"/>
              <a:t>	= (200 + 500) m = 700 m</a:t>
            </a:r>
          </a:p>
          <a:p>
            <a:pPr algn="just"/>
            <a:r>
              <a:rPr lang="en-US" dirty="0"/>
              <a:t>S = 25 m/s  </a:t>
            </a:r>
          </a:p>
          <a:p>
            <a:pPr algn="just"/>
            <a:r>
              <a:rPr lang="en-US" dirty="0"/>
              <a:t>T = ?</a:t>
            </a:r>
          </a:p>
        </p:txBody>
      </p:sp>
    </p:spTree>
    <p:extLst>
      <p:ext uri="{BB962C8B-B14F-4D97-AF65-F5344CB8AC3E}">
        <p14:creationId xmlns:p14="http://schemas.microsoft.com/office/powerpoint/2010/main" val="1858715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 = 700 m; S = 25 m/s; and T = ? </a:t>
                </a:r>
                <a:r>
                  <a:rPr lang="en-IN" dirty="0"/>
                  <a:t>		</a:t>
                </a:r>
              </a:p>
              <a:p>
                <a:pPr marL="0" indent="0" algn="just">
                  <a:lnSpc>
                    <a:spcPct val="100000"/>
                  </a:lnSpc>
                  <a:buNone/>
                </a:pPr>
                <a:r>
                  <a:rPr lang="en-IN" dirty="0"/>
                  <a:t>			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D</m:t>
                        </m:r>
                      </m:num>
                      <m:den>
                        <m:r>
                          <m:rPr>
                            <m:nor/>
                          </m:rPr>
                          <a:rPr lang="en-IN" dirty="0"/>
                          <m:t>T</m:t>
                        </m:r>
                      </m:den>
                    </m:f>
                    <m:r>
                      <a:rPr lang="en-IN" i="1" dirty="0">
                        <a:latin typeface="Cambria Math" panose="02040503050406030204" pitchFamily="18" charset="0"/>
                      </a:rPr>
                      <m:t> </m:t>
                    </m:r>
                  </m:oMath>
                </a14:m>
                <a:endParaRPr lang="en-US" dirty="0"/>
              </a:p>
              <a:p>
                <a:pPr marL="0" indent="0" algn="just">
                  <a:buNone/>
                </a:pPr>
                <a:r>
                  <a:rPr lang="en-US" dirty="0"/>
                  <a:t>		       25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700</m:t>
                        </m:r>
                      </m:num>
                      <m:den>
                        <m:r>
                          <m:rPr>
                            <m:nor/>
                          </m:rPr>
                          <a:rPr lang="en-US" b="0" i="0" dirty="0" smtClean="0"/>
                          <m:t>T</m:t>
                        </m:r>
                      </m:den>
                    </m:f>
                    <m:r>
                      <a:rPr lang="en-IN" i="1" dirty="0">
                        <a:latin typeface="Cambria Math" panose="02040503050406030204" pitchFamily="18" charset="0"/>
                      </a:rPr>
                      <m:t> </m:t>
                    </m:r>
                  </m:oMath>
                </a14:m>
                <a:endParaRPr lang="en-US" dirty="0"/>
              </a:p>
              <a:p>
                <a:pPr marL="0" indent="0" algn="just">
                  <a:buNone/>
                </a:pPr>
                <a:r>
                  <a:rPr lang="en-US" dirty="0"/>
                  <a:t>		 	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700</m:t>
                        </m:r>
                      </m:num>
                      <m:den>
                        <m:r>
                          <m:rPr>
                            <m:nor/>
                          </m:rPr>
                          <a:rPr lang="en-US" b="0" i="0" dirty="0" smtClean="0"/>
                          <m:t>25</m:t>
                        </m:r>
                      </m:den>
                    </m:f>
                    <m:r>
                      <a:rPr lang="en-IN" i="1" dirty="0">
                        <a:latin typeface="Cambria Math" panose="02040503050406030204" pitchFamily="18" charset="0"/>
                      </a:rPr>
                      <m:t> </m:t>
                    </m:r>
                  </m:oMath>
                </a14:m>
                <a:endParaRPr lang="en-US" dirty="0"/>
              </a:p>
              <a:p>
                <a:pPr marL="0" indent="0" algn="just">
                  <a:buNone/>
                </a:pPr>
                <a:r>
                  <a:rPr lang="en-US" dirty="0"/>
                  <a:t>			 T    =	</a:t>
                </a:r>
                <a14:m>
                  <m:oMath xmlns:m="http://schemas.openxmlformats.org/officeDocument/2006/math">
                    <m:r>
                      <m:rPr>
                        <m:nor/>
                      </m:rPr>
                      <a:rPr lang="en-US" dirty="0"/>
                      <m:t>2</m:t>
                    </m:r>
                    <m:r>
                      <m:rPr>
                        <m:nor/>
                      </m:rPr>
                      <a:rPr lang="en-US" b="0" i="0" dirty="0" smtClean="0"/>
                      <m:t>8</m:t>
                    </m:r>
                  </m:oMath>
                </a14:m>
                <a:r>
                  <a:rPr lang="en-US" dirty="0"/>
                  <a:t> seconds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Arrow Connector 3">
            <a:extLst>
              <a:ext uri="{FF2B5EF4-FFF2-40B4-BE49-F238E27FC236}">
                <a16:creationId xmlns:a16="http://schemas.microsoft.com/office/drawing/2014/main" id="{9234A676-DD73-FF8A-ADE2-B84EE4E59B08}"/>
              </a:ext>
            </a:extLst>
          </p:cNvPr>
          <p:cNvCxnSpPr>
            <a:cxnSpLocks/>
          </p:cNvCxnSpPr>
          <p:nvPr/>
        </p:nvCxnSpPr>
        <p:spPr>
          <a:xfrm flipH="1" flipV="1">
            <a:off x="3260036" y="3538334"/>
            <a:ext cx="566533" cy="1093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0A11CA93-4199-A5D0-8574-BEAAC207148F}"/>
              </a:ext>
            </a:extLst>
          </p:cNvPr>
          <p:cNvSpPr/>
          <p:nvPr/>
        </p:nvSpPr>
        <p:spPr>
          <a:xfrm>
            <a:off x="3826569" y="3429005"/>
            <a:ext cx="576470" cy="47707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6E594747-59C0-8282-35C2-2C89C113BE36}"/>
              </a:ext>
            </a:extLst>
          </p:cNvPr>
          <p:cNvCxnSpPr>
            <a:cxnSpLocks/>
          </p:cNvCxnSpPr>
          <p:nvPr/>
        </p:nvCxnSpPr>
        <p:spPr>
          <a:xfrm>
            <a:off x="3260036" y="3442828"/>
            <a:ext cx="770899" cy="145197"/>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50153D2-B02A-DBDA-7FDA-16CDB24E6E93}"/>
              </a:ext>
            </a:extLst>
          </p:cNvPr>
          <p:cNvCxnSpPr/>
          <p:nvPr/>
        </p:nvCxnSpPr>
        <p:spPr>
          <a:xfrm flipV="1">
            <a:off x="4001114" y="427420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E9D1506-A040-0148-EB71-7510408E9554}"/>
              </a:ext>
            </a:extLst>
          </p:cNvPr>
          <p:cNvCxnSpPr/>
          <p:nvPr/>
        </p:nvCxnSpPr>
        <p:spPr>
          <a:xfrm flipV="1">
            <a:off x="3941480" y="4672563"/>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19DA4B2-FB60-D8CF-B3DE-1639C363C3B5}"/>
              </a:ext>
            </a:extLst>
          </p:cNvPr>
          <p:cNvSpPr txBox="1"/>
          <p:nvPr/>
        </p:nvSpPr>
        <p:spPr>
          <a:xfrm>
            <a:off x="4030935" y="3906081"/>
            <a:ext cx="433132" cy="369332"/>
          </a:xfrm>
          <a:prstGeom prst="rect">
            <a:avLst/>
          </a:prstGeom>
          <a:noFill/>
        </p:spPr>
        <p:txBody>
          <a:bodyPr wrap="none" rtlCol="0">
            <a:spAutoFit/>
          </a:bodyPr>
          <a:lstStyle/>
          <a:p>
            <a:r>
              <a:rPr lang="en-US" dirty="0"/>
              <a:t>28</a:t>
            </a:r>
            <a:endParaRPr lang="en-IN" dirty="0"/>
          </a:p>
        </p:txBody>
      </p:sp>
    </p:spTree>
    <p:extLst>
      <p:ext uri="{BB962C8B-B14F-4D97-AF65-F5344CB8AC3E}">
        <p14:creationId xmlns:p14="http://schemas.microsoft.com/office/powerpoint/2010/main" val="3229886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6</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Two trains of length 120 m and 100 m are running on parallel lines in the same direction with a speed of 44 Km/h and 80 Km/h, respectively. In what time faster train will cross the slower train? </a:t>
                </a:r>
              </a:p>
              <a:p>
                <a:pPr algn="just"/>
                <a:r>
                  <a:rPr lang="en-US" sz="2600" dirty="0"/>
                  <a:t>Time taken by Faster Train to cross Slower Train </a:t>
                </a:r>
              </a:p>
              <a:p>
                <a:pPr marL="0" indent="0" algn="just">
                  <a:lnSpc>
                    <a:spcPct val="110000"/>
                  </a:lnSpc>
                  <a:buNone/>
                </a:pPr>
                <a:r>
                  <a:rPr lang="en-US" sz="2600" dirty="0"/>
                  <a:t>			=</a:t>
                </a:r>
                <a14:m>
                  <m:oMath xmlns:m="http://schemas.openxmlformats.org/officeDocument/2006/math">
                    <m:r>
                      <a:rPr lang="en-US" sz="2600" dirty="0">
                        <a:latin typeface="Cambria Math" panose="02040503050406030204" pitchFamily="18" charset="0"/>
                      </a:rPr>
                      <m:t> </m:t>
                    </m:r>
                    <m:r>
                      <m:rPr>
                        <m:nor/>
                      </m:rPr>
                      <a:rPr lang="en-US" sz="2600" dirty="0"/>
                      <m:t>{</m:t>
                    </m:r>
                    <m:f>
                      <m:fPr>
                        <m:ctrlPr>
                          <a:rPr lang="en-US" sz="2600" i="1">
                            <a:solidFill>
                              <a:srgbClr val="836967"/>
                            </a:solidFill>
                            <a:latin typeface="Cambria Math" panose="02040503050406030204" pitchFamily="18" charset="0"/>
                          </a:rPr>
                        </m:ctrlPr>
                      </m:fPr>
                      <m:num>
                        <m:r>
                          <m:rPr>
                            <m:nor/>
                          </m:rPr>
                          <a:rPr lang="en-US" sz="2600" dirty="0"/>
                          <m:t>x</m:t>
                        </m:r>
                        <m:r>
                          <m:rPr>
                            <m:nor/>
                          </m:rPr>
                          <a:rPr lang="en-US" sz="2600" dirty="0"/>
                          <m:t> + </m:t>
                        </m:r>
                        <m:r>
                          <m:rPr>
                            <m:nor/>
                          </m:rPr>
                          <a:rPr lang="en-US" sz="2600" dirty="0"/>
                          <m:t>y</m:t>
                        </m:r>
                      </m:num>
                      <m:den>
                        <m:r>
                          <m:rPr>
                            <m:nor/>
                          </m:rPr>
                          <a:rPr lang="en-US" sz="2600" dirty="0"/>
                          <m:t>a</m:t>
                        </m:r>
                        <m:r>
                          <m:rPr>
                            <m:nor/>
                          </m:rPr>
                          <a:rPr lang="en-US" sz="2600" dirty="0"/>
                          <m:t> − </m:t>
                        </m:r>
                        <m:r>
                          <m:rPr>
                            <m:nor/>
                          </m:rPr>
                          <a:rPr lang="en-US" sz="2600" dirty="0"/>
                          <m:t>b</m:t>
                        </m:r>
                      </m:den>
                    </m:f>
                  </m:oMath>
                </a14:m>
                <a:r>
                  <a:rPr lang="en-US" sz="2600" dirty="0"/>
                  <a:t> }</a:t>
                </a:r>
                <a:r>
                  <a:rPr lang="en-US" sz="2600" dirty="0">
                    <a:solidFill>
                      <a:srgbClr val="836967"/>
                    </a:solidFill>
                  </a:rPr>
                  <a:t> </a:t>
                </a:r>
                <a:r>
                  <a:rPr lang="en-IN" dirty="0"/>
                  <a:t>hours or seconds (</a:t>
                </a:r>
                <a:r>
                  <a:rPr lang="en-IN" sz="2600" dirty="0"/>
                  <a:t>where </a:t>
                </a:r>
                <a:r>
                  <a:rPr lang="en-US" dirty="0"/>
                  <a:t>a &gt; b) </a:t>
                </a:r>
                <a:endParaRPr lang="en-IN" sz="2600" dirty="0"/>
              </a:p>
              <a:p>
                <a:pPr algn="just"/>
                <a:r>
                  <a:rPr lang="en-US" dirty="0"/>
                  <a:t>x = 120 m, y = 100 m, a = 80 Km/h, b = 44 Km/h</a:t>
                </a:r>
              </a:p>
              <a:p>
                <a:pPr algn="just"/>
                <a:r>
                  <a:rPr lang="en-US" dirty="0"/>
                  <a:t>a - b = (80 – 44) = 36 Km/h = 36 x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5</m:t>
                        </m:r>
                      </m:num>
                      <m:den>
                        <m:r>
                          <m:rPr>
                            <m:nor/>
                          </m:rPr>
                          <a:rPr lang="en-US" b="0" i="0" dirty="0" smtClean="0"/>
                          <m:t>18</m:t>
                        </m:r>
                      </m:den>
                    </m:f>
                    <m:r>
                      <a:rPr lang="en-IN" i="1" dirty="0">
                        <a:latin typeface="Cambria Math" panose="02040503050406030204" pitchFamily="18" charset="0"/>
                      </a:rPr>
                      <m:t> </m:t>
                    </m:r>
                  </m:oMath>
                </a14:m>
                <a:r>
                  <a:rPr lang="en-US" dirty="0"/>
                  <a:t> m/s</a:t>
                </a:r>
              </a:p>
              <a:p>
                <a:pPr algn="just"/>
                <a:r>
                  <a:rPr lang="en-US" dirty="0"/>
                  <a:t>a - b = 10 m/s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226"/>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C2301983-EF7F-BCFC-F327-145A503F96CB}"/>
              </a:ext>
            </a:extLst>
          </p:cNvPr>
          <p:cNvCxnSpPr/>
          <p:nvPr/>
        </p:nvCxnSpPr>
        <p:spPr>
          <a:xfrm flipV="1">
            <a:off x="4499527" y="5552661"/>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DEE610-D7CA-2334-C6EC-ACD62113918F}"/>
              </a:ext>
            </a:extLst>
          </p:cNvPr>
          <p:cNvCxnSpPr/>
          <p:nvPr/>
        </p:nvCxnSpPr>
        <p:spPr>
          <a:xfrm flipV="1">
            <a:off x="5154054" y="571617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4BFE14E-2EDD-D357-A8DD-332AA6461958}"/>
              </a:ext>
            </a:extLst>
          </p:cNvPr>
          <p:cNvSpPr txBox="1"/>
          <p:nvPr/>
        </p:nvSpPr>
        <p:spPr>
          <a:xfrm>
            <a:off x="4499527" y="5121417"/>
            <a:ext cx="303288" cy="369332"/>
          </a:xfrm>
          <a:prstGeom prst="rect">
            <a:avLst/>
          </a:prstGeom>
          <a:noFill/>
        </p:spPr>
        <p:txBody>
          <a:bodyPr wrap="none" rtlCol="0">
            <a:spAutoFit/>
          </a:bodyPr>
          <a:lstStyle/>
          <a:p>
            <a:r>
              <a:rPr lang="en-US" dirty="0"/>
              <a:t>2</a:t>
            </a:r>
            <a:endParaRPr lang="en-IN" dirty="0"/>
          </a:p>
        </p:txBody>
      </p:sp>
    </p:spTree>
    <p:extLst>
      <p:ext uri="{BB962C8B-B14F-4D97-AF65-F5344CB8AC3E}">
        <p14:creationId xmlns:p14="http://schemas.microsoft.com/office/powerpoint/2010/main" val="3929452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6</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sz="2600" dirty="0"/>
                  <a:t>Time taken by Faster Train to cross Slower Train </a:t>
                </a:r>
              </a:p>
              <a:p>
                <a:pPr marL="0" indent="0" algn="just">
                  <a:buNone/>
                </a:pPr>
                <a:r>
                  <a:rPr lang="en-US" sz="2600" dirty="0"/>
                  <a:t>		=</a:t>
                </a:r>
                <a14:m>
                  <m:oMath xmlns:m="http://schemas.openxmlformats.org/officeDocument/2006/math">
                    <m:r>
                      <a:rPr lang="en-US" sz="2600" dirty="0">
                        <a:latin typeface="Cambria Math" panose="02040503050406030204" pitchFamily="18" charset="0"/>
                      </a:rPr>
                      <m:t> </m:t>
                    </m:r>
                    <m:r>
                      <m:rPr>
                        <m:nor/>
                      </m:rPr>
                      <a:rPr lang="en-US" sz="2600" dirty="0"/>
                      <m:t>{</m:t>
                    </m:r>
                    <m:f>
                      <m:fPr>
                        <m:ctrlPr>
                          <a:rPr lang="en-US" sz="2600" i="1">
                            <a:solidFill>
                              <a:srgbClr val="836967"/>
                            </a:solidFill>
                            <a:latin typeface="Cambria Math" panose="02040503050406030204" pitchFamily="18" charset="0"/>
                          </a:rPr>
                        </m:ctrlPr>
                      </m:fPr>
                      <m:num>
                        <m:r>
                          <m:rPr>
                            <m:nor/>
                          </m:rPr>
                          <a:rPr lang="en-US" sz="2600" dirty="0"/>
                          <m:t>x</m:t>
                        </m:r>
                        <m:r>
                          <m:rPr>
                            <m:nor/>
                          </m:rPr>
                          <a:rPr lang="en-US" sz="2600" dirty="0"/>
                          <m:t> + </m:t>
                        </m:r>
                        <m:r>
                          <m:rPr>
                            <m:nor/>
                          </m:rPr>
                          <a:rPr lang="en-US" sz="2600" dirty="0"/>
                          <m:t>y</m:t>
                        </m:r>
                      </m:num>
                      <m:den>
                        <m:r>
                          <m:rPr>
                            <m:nor/>
                          </m:rPr>
                          <a:rPr lang="en-US" sz="2600" dirty="0"/>
                          <m:t>a</m:t>
                        </m:r>
                        <m:r>
                          <m:rPr>
                            <m:nor/>
                          </m:rPr>
                          <a:rPr lang="en-US" sz="2600" dirty="0"/>
                          <m:t> − </m:t>
                        </m:r>
                        <m:r>
                          <m:rPr>
                            <m:nor/>
                          </m:rPr>
                          <a:rPr lang="en-US" sz="2600" dirty="0"/>
                          <m:t>b</m:t>
                        </m:r>
                      </m:den>
                    </m:f>
                  </m:oMath>
                </a14:m>
                <a:r>
                  <a:rPr lang="en-US" sz="2600" dirty="0"/>
                  <a:t> }</a:t>
                </a:r>
                <a:r>
                  <a:rPr lang="en-US" sz="2600" dirty="0">
                    <a:solidFill>
                      <a:srgbClr val="836967"/>
                    </a:solidFill>
                  </a:rPr>
                  <a:t> </a:t>
                </a:r>
                <a:r>
                  <a:rPr lang="en-IN" sz="2600" dirty="0"/>
                  <a:t>hours or seconds </a:t>
                </a:r>
                <a:r>
                  <a:rPr lang="en-IN" dirty="0"/>
                  <a:t>(</a:t>
                </a:r>
                <a:r>
                  <a:rPr lang="en-IN" sz="2600" dirty="0"/>
                  <a:t>where </a:t>
                </a:r>
                <a:r>
                  <a:rPr lang="en-US" dirty="0"/>
                  <a:t>a &gt; b) </a:t>
                </a:r>
                <a:endParaRPr lang="en-IN" sz="2600" dirty="0"/>
              </a:p>
              <a:p>
                <a:pPr algn="just"/>
                <a:r>
                  <a:rPr lang="en-US" dirty="0"/>
                  <a:t>x = 120 m, y = 100 m, a = 80 Km/h, b = 44 Km/h</a:t>
                </a:r>
              </a:p>
              <a:p>
                <a:pPr algn="just"/>
                <a:r>
                  <a:rPr lang="en-US" dirty="0"/>
                  <a:t>a - b = 10 m/s and x + y = 120 + 100 = 220 m</a:t>
                </a:r>
              </a:p>
              <a:p>
                <a:pPr algn="just"/>
                <a:r>
                  <a:rPr lang="en-US" dirty="0"/>
                  <a:t>Time taken by Faster Train to cross Slower Train =</a:t>
                </a:r>
                <a14:m>
                  <m:oMath xmlns:m="http://schemas.openxmlformats.org/officeDocument/2006/math">
                    <m:r>
                      <a:rPr lang="en-US" dirty="0">
                        <a:latin typeface="Cambria Math" panose="02040503050406030204" pitchFamily="18" charset="0"/>
                      </a:rPr>
                      <m:t> </m:t>
                    </m:r>
                    <m:f>
                      <m:fPr>
                        <m:ctrlPr>
                          <a:rPr lang="en-US" i="1">
                            <a:solidFill>
                              <a:srgbClr val="836967"/>
                            </a:solidFill>
                            <a:latin typeface="Cambria Math" panose="02040503050406030204" pitchFamily="18" charset="0"/>
                          </a:rPr>
                        </m:ctrlPr>
                      </m:fPr>
                      <m:num>
                        <m:r>
                          <m:rPr>
                            <m:nor/>
                          </m:rPr>
                          <a:rPr lang="en-US" b="0" i="0" dirty="0" smtClean="0"/>
                          <m:t>220</m:t>
                        </m:r>
                      </m:num>
                      <m:den>
                        <m:r>
                          <m:rPr>
                            <m:nor/>
                          </m:rPr>
                          <a:rPr lang="en-US" b="0" i="0" dirty="0" smtClean="0"/>
                          <m:t>10</m:t>
                        </m:r>
                      </m:den>
                    </m:f>
                  </m:oMath>
                </a14:m>
                <a:endParaRPr lang="en-US" dirty="0"/>
              </a:p>
              <a:p>
                <a:pPr marL="0" indent="0" algn="just">
                  <a:buNone/>
                </a:pPr>
                <a:r>
                  <a:rPr lang="en-US" dirty="0"/>
                  <a:t>				= </a:t>
                </a:r>
                <a14:m>
                  <m:oMath xmlns:m="http://schemas.openxmlformats.org/officeDocument/2006/math">
                    <m:r>
                      <m:rPr>
                        <m:nor/>
                      </m:rPr>
                      <a:rPr lang="en-US" dirty="0"/>
                      <m:t>22</m:t>
                    </m:r>
                  </m:oMath>
                </a14:m>
                <a:r>
                  <a:rPr lang="en-US" dirty="0"/>
                  <a:t> seconds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C8AA904A-B733-517D-1950-99B52FDA9B58}"/>
              </a:ext>
            </a:extLst>
          </p:cNvPr>
          <p:cNvCxnSpPr>
            <a:cxnSpLocks/>
          </p:cNvCxnSpPr>
          <p:nvPr/>
        </p:nvCxnSpPr>
        <p:spPr>
          <a:xfrm flipV="1">
            <a:off x="8519278" y="4701208"/>
            <a:ext cx="203138" cy="3941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E9819B-1DC4-FABF-2D51-2AF1D21C539B}"/>
              </a:ext>
            </a:extLst>
          </p:cNvPr>
          <p:cNvCxnSpPr>
            <a:cxnSpLocks/>
          </p:cNvCxnSpPr>
          <p:nvPr/>
        </p:nvCxnSpPr>
        <p:spPr>
          <a:xfrm flipV="1">
            <a:off x="8375774" y="5173802"/>
            <a:ext cx="203138" cy="3887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3910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Two trains of length 180 m and 135 m are running in the opposite directions at 48 Km/h and 78 Km/h, respectively. In what time will they cross each other? </a:t>
                </a:r>
              </a:p>
              <a:p>
                <a:pPr algn="just"/>
                <a:r>
                  <a:rPr lang="en-US" dirty="0"/>
                  <a:t>Time taken by Trains to cross each other </a:t>
                </a:r>
                <a:r>
                  <a:rPr lang="en-US" sz="2600" dirty="0"/>
                  <a:t>=</a:t>
                </a:r>
                <a14:m>
                  <m:oMath xmlns:m="http://schemas.openxmlformats.org/officeDocument/2006/math">
                    <m:r>
                      <a:rPr lang="en-US" sz="2600" dirty="0">
                        <a:latin typeface="Cambria Math" panose="02040503050406030204" pitchFamily="18" charset="0"/>
                      </a:rPr>
                      <m:t> </m:t>
                    </m:r>
                    <m:r>
                      <m:rPr>
                        <m:nor/>
                      </m:rPr>
                      <a:rPr lang="en-US" sz="2600" dirty="0"/>
                      <m:t>{</m:t>
                    </m:r>
                    <m:f>
                      <m:fPr>
                        <m:ctrlPr>
                          <a:rPr lang="en-US" sz="2600" i="1">
                            <a:solidFill>
                              <a:srgbClr val="836967"/>
                            </a:solidFill>
                            <a:latin typeface="Cambria Math" panose="02040503050406030204" pitchFamily="18" charset="0"/>
                          </a:rPr>
                        </m:ctrlPr>
                      </m:fPr>
                      <m:num>
                        <m:r>
                          <m:rPr>
                            <m:nor/>
                          </m:rPr>
                          <a:rPr lang="en-US" sz="2600" dirty="0"/>
                          <m:t>x</m:t>
                        </m:r>
                        <m:r>
                          <m:rPr>
                            <m:nor/>
                          </m:rPr>
                          <a:rPr lang="en-US" sz="2600" dirty="0"/>
                          <m:t> + </m:t>
                        </m:r>
                        <m:r>
                          <m:rPr>
                            <m:nor/>
                          </m:rPr>
                          <a:rPr lang="en-US" sz="2600" dirty="0"/>
                          <m:t>y</m:t>
                        </m:r>
                      </m:num>
                      <m:den>
                        <m:r>
                          <m:rPr>
                            <m:nor/>
                          </m:rPr>
                          <a:rPr lang="en-US" sz="2600" dirty="0"/>
                          <m:t>a</m:t>
                        </m:r>
                        <m:r>
                          <m:rPr>
                            <m:nor/>
                          </m:rPr>
                          <a:rPr lang="en-US" sz="2600" dirty="0"/>
                          <m:t> + </m:t>
                        </m:r>
                        <m:r>
                          <m:rPr>
                            <m:nor/>
                          </m:rPr>
                          <a:rPr lang="en-US" sz="2600" dirty="0"/>
                          <m:t>b</m:t>
                        </m:r>
                      </m:den>
                    </m:f>
                  </m:oMath>
                </a14:m>
                <a:r>
                  <a:rPr lang="en-US" sz="2600" dirty="0"/>
                  <a:t> }</a:t>
                </a:r>
                <a:r>
                  <a:rPr lang="en-US" sz="2600" dirty="0">
                    <a:solidFill>
                      <a:srgbClr val="836967"/>
                    </a:solidFill>
                  </a:rPr>
                  <a:t> </a:t>
                </a:r>
                <a:r>
                  <a:rPr lang="en-IN" sz="2600" dirty="0"/>
                  <a:t>hours </a:t>
                </a:r>
              </a:p>
              <a:p>
                <a:pPr algn="just"/>
                <a:r>
                  <a:rPr lang="en-US" dirty="0"/>
                  <a:t>x = 180 m, y = 135 m, a = 48 Km/h, b = 78 Km/h</a:t>
                </a:r>
              </a:p>
              <a:p>
                <a:pPr algn="just"/>
                <a:r>
                  <a:rPr lang="en-US" dirty="0"/>
                  <a:t>a + b = (48 + 78) = 126 Km/h = 126 x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5</m:t>
                        </m:r>
                      </m:num>
                      <m:den>
                        <m:r>
                          <m:rPr>
                            <m:nor/>
                          </m:rPr>
                          <a:rPr lang="en-US" b="0" i="0" dirty="0" smtClean="0"/>
                          <m:t>18</m:t>
                        </m:r>
                      </m:den>
                    </m:f>
                    <m:r>
                      <a:rPr lang="en-IN" i="1" dirty="0">
                        <a:latin typeface="Cambria Math" panose="02040503050406030204" pitchFamily="18" charset="0"/>
                      </a:rPr>
                      <m:t> </m:t>
                    </m:r>
                  </m:oMath>
                </a14:m>
                <a:r>
                  <a:rPr lang="en-US" dirty="0"/>
                  <a:t> m/s</a:t>
                </a:r>
              </a:p>
              <a:p>
                <a:pPr algn="just"/>
                <a:r>
                  <a:rPr lang="en-US" dirty="0"/>
                  <a:t>a + b = 35 m/s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C2301983-EF7F-BCFC-F327-145A503F96CB}"/>
              </a:ext>
            </a:extLst>
          </p:cNvPr>
          <p:cNvCxnSpPr/>
          <p:nvPr/>
        </p:nvCxnSpPr>
        <p:spPr>
          <a:xfrm flipV="1">
            <a:off x="4623145" y="520392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DEE610-D7CA-2334-C6EC-ACD62113918F}"/>
              </a:ext>
            </a:extLst>
          </p:cNvPr>
          <p:cNvCxnSpPr/>
          <p:nvPr/>
        </p:nvCxnSpPr>
        <p:spPr>
          <a:xfrm flipV="1">
            <a:off x="5273324" y="536540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4BFE14E-2EDD-D357-A8DD-332AA6461958}"/>
              </a:ext>
            </a:extLst>
          </p:cNvPr>
          <p:cNvSpPr txBox="1"/>
          <p:nvPr/>
        </p:nvSpPr>
        <p:spPr>
          <a:xfrm>
            <a:off x="4752975" y="4710768"/>
            <a:ext cx="303288" cy="369332"/>
          </a:xfrm>
          <a:prstGeom prst="rect">
            <a:avLst/>
          </a:prstGeom>
          <a:noFill/>
        </p:spPr>
        <p:txBody>
          <a:bodyPr wrap="none" rtlCol="0">
            <a:spAutoFit/>
          </a:bodyPr>
          <a:lstStyle/>
          <a:p>
            <a:r>
              <a:rPr lang="en-US" dirty="0"/>
              <a:t>7</a:t>
            </a:r>
            <a:endParaRPr lang="en-IN" dirty="0"/>
          </a:p>
        </p:txBody>
      </p:sp>
    </p:spTree>
    <p:extLst>
      <p:ext uri="{BB962C8B-B14F-4D97-AF65-F5344CB8AC3E}">
        <p14:creationId xmlns:p14="http://schemas.microsoft.com/office/powerpoint/2010/main" val="2953474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sz="2600" dirty="0"/>
                  <a:t>Time taken by Trains to </a:t>
                </a:r>
                <a:r>
                  <a:rPr lang="en-US" dirty="0"/>
                  <a:t>cross each other</a:t>
                </a:r>
                <a:r>
                  <a:rPr lang="en-US" sz="2600" dirty="0"/>
                  <a:t> </a:t>
                </a:r>
              </a:p>
              <a:p>
                <a:pPr marL="0" indent="0" algn="just">
                  <a:buNone/>
                </a:pPr>
                <a:r>
                  <a:rPr lang="en-US" sz="2600" dirty="0"/>
                  <a:t>			=</a:t>
                </a:r>
                <a14:m>
                  <m:oMath xmlns:m="http://schemas.openxmlformats.org/officeDocument/2006/math">
                    <m:r>
                      <a:rPr lang="en-US" sz="2600" dirty="0">
                        <a:latin typeface="Cambria Math" panose="02040503050406030204" pitchFamily="18" charset="0"/>
                      </a:rPr>
                      <m:t> </m:t>
                    </m:r>
                    <m:r>
                      <m:rPr>
                        <m:nor/>
                      </m:rPr>
                      <a:rPr lang="en-US" sz="2600" dirty="0"/>
                      <m:t>{</m:t>
                    </m:r>
                    <m:f>
                      <m:fPr>
                        <m:ctrlPr>
                          <a:rPr lang="en-US" sz="2600" i="1">
                            <a:solidFill>
                              <a:srgbClr val="836967"/>
                            </a:solidFill>
                            <a:latin typeface="Cambria Math" panose="02040503050406030204" pitchFamily="18" charset="0"/>
                          </a:rPr>
                        </m:ctrlPr>
                      </m:fPr>
                      <m:num>
                        <m:r>
                          <m:rPr>
                            <m:nor/>
                          </m:rPr>
                          <a:rPr lang="en-US" sz="2600" dirty="0"/>
                          <m:t>x</m:t>
                        </m:r>
                        <m:r>
                          <m:rPr>
                            <m:nor/>
                          </m:rPr>
                          <a:rPr lang="en-US" sz="2600" dirty="0"/>
                          <m:t> + </m:t>
                        </m:r>
                        <m:r>
                          <m:rPr>
                            <m:nor/>
                          </m:rPr>
                          <a:rPr lang="en-US" sz="2600" dirty="0"/>
                          <m:t>y</m:t>
                        </m:r>
                      </m:num>
                      <m:den>
                        <m:r>
                          <m:rPr>
                            <m:nor/>
                          </m:rPr>
                          <a:rPr lang="en-US" sz="2600" dirty="0"/>
                          <m:t>a</m:t>
                        </m:r>
                        <m:r>
                          <m:rPr>
                            <m:nor/>
                          </m:rPr>
                          <a:rPr lang="en-US" sz="2600" dirty="0"/>
                          <m:t> + </m:t>
                        </m:r>
                        <m:r>
                          <m:rPr>
                            <m:nor/>
                          </m:rPr>
                          <a:rPr lang="en-US" sz="2600" dirty="0"/>
                          <m:t>b</m:t>
                        </m:r>
                      </m:den>
                    </m:f>
                  </m:oMath>
                </a14:m>
                <a:r>
                  <a:rPr lang="en-US" sz="2600" dirty="0"/>
                  <a:t> }</a:t>
                </a:r>
                <a:r>
                  <a:rPr lang="en-US" sz="2600" dirty="0">
                    <a:solidFill>
                      <a:srgbClr val="836967"/>
                    </a:solidFill>
                  </a:rPr>
                  <a:t> </a:t>
                </a:r>
                <a:r>
                  <a:rPr lang="en-IN" sz="2600" dirty="0"/>
                  <a:t>hours </a:t>
                </a:r>
                <a:r>
                  <a:rPr lang="en-US" dirty="0"/>
                  <a:t> </a:t>
                </a:r>
                <a:endParaRPr lang="en-IN" sz="2600" dirty="0"/>
              </a:p>
              <a:p>
                <a:pPr algn="just"/>
                <a:r>
                  <a:rPr lang="en-US" dirty="0"/>
                  <a:t>x = 180 m, y = 135 m, a = 48 Km/h, b = 78 Km/h</a:t>
                </a:r>
              </a:p>
              <a:p>
                <a:pPr algn="just"/>
                <a:r>
                  <a:rPr lang="en-US" dirty="0"/>
                  <a:t>a + b = 35 m/s and x + y = 180 + 135 = 315 m</a:t>
                </a:r>
              </a:p>
              <a:p>
                <a:pPr algn="just"/>
                <a:r>
                  <a:rPr lang="en-US" dirty="0"/>
                  <a:t>Time taken by Trains to cross each other =</a:t>
                </a:r>
                <a14:m>
                  <m:oMath xmlns:m="http://schemas.openxmlformats.org/officeDocument/2006/math">
                    <m:r>
                      <a:rPr lang="en-US" dirty="0">
                        <a:latin typeface="Cambria Math" panose="02040503050406030204" pitchFamily="18" charset="0"/>
                      </a:rPr>
                      <m:t> </m:t>
                    </m:r>
                    <m:f>
                      <m:fPr>
                        <m:ctrlPr>
                          <a:rPr lang="en-US" i="1">
                            <a:solidFill>
                              <a:srgbClr val="836967"/>
                            </a:solidFill>
                            <a:latin typeface="Cambria Math" panose="02040503050406030204" pitchFamily="18" charset="0"/>
                          </a:rPr>
                        </m:ctrlPr>
                      </m:fPr>
                      <m:num>
                        <m:r>
                          <m:rPr>
                            <m:nor/>
                          </m:rPr>
                          <a:rPr lang="en-US" b="0" i="0" dirty="0" smtClean="0"/>
                          <m:t>315</m:t>
                        </m:r>
                      </m:num>
                      <m:den>
                        <m:r>
                          <m:rPr>
                            <m:nor/>
                          </m:rPr>
                          <a:rPr lang="en-US" b="0" i="0" dirty="0" smtClean="0"/>
                          <m:t>35</m:t>
                        </m:r>
                      </m:den>
                    </m:f>
                  </m:oMath>
                </a14:m>
                <a:endParaRPr lang="en-US" dirty="0"/>
              </a:p>
              <a:p>
                <a:pPr marL="0" indent="0" algn="just">
                  <a:buNone/>
                </a:pPr>
                <a:r>
                  <a:rPr lang="en-US" dirty="0"/>
                  <a:t>				= </a:t>
                </a:r>
                <a14:m>
                  <m:oMath xmlns:m="http://schemas.openxmlformats.org/officeDocument/2006/math">
                    <m:r>
                      <m:rPr>
                        <m:nor/>
                      </m:rPr>
                      <a:rPr lang="en-US" b="0" i="0" dirty="0" smtClean="0"/>
                      <m:t>9</m:t>
                    </m:r>
                  </m:oMath>
                </a14:m>
                <a:r>
                  <a:rPr lang="en-US" dirty="0"/>
                  <a:t> seconds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C8AA904A-B733-517D-1950-99B52FDA9B58}"/>
              </a:ext>
            </a:extLst>
          </p:cNvPr>
          <p:cNvCxnSpPr>
            <a:cxnSpLocks/>
          </p:cNvCxnSpPr>
          <p:nvPr/>
        </p:nvCxnSpPr>
        <p:spPr>
          <a:xfrm flipV="1">
            <a:off x="6947453" y="4860234"/>
            <a:ext cx="592207" cy="149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E9819B-1DC4-FABF-2D51-2AF1D21C539B}"/>
              </a:ext>
            </a:extLst>
          </p:cNvPr>
          <p:cNvCxnSpPr>
            <a:cxnSpLocks/>
          </p:cNvCxnSpPr>
          <p:nvPr/>
        </p:nvCxnSpPr>
        <p:spPr>
          <a:xfrm flipV="1">
            <a:off x="6947452" y="5227983"/>
            <a:ext cx="592208" cy="1590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AC65581-E0CB-804A-31EE-0195EE3C23C5}"/>
              </a:ext>
            </a:extLst>
          </p:cNvPr>
          <p:cNvSpPr txBox="1"/>
          <p:nvPr/>
        </p:nvSpPr>
        <p:spPr>
          <a:xfrm>
            <a:off x="7091912" y="4367077"/>
            <a:ext cx="303288" cy="369332"/>
          </a:xfrm>
          <a:prstGeom prst="rect">
            <a:avLst/>
          </a:prstGeom>
          <a:noFill/>
        </p:spPr>
        <p:txBody>
          <a:bodyPr wrap="none" rtlCol="0">
            <a:spAutoFit/>
          </a:bodyPr>
          <a:lstStyle/>
          <a:p>
            <a:r>
              <a:rPr lang="en-US" dirty="0"/>
              <a:t>9</a:t>
            </a:r>
            <a:endParaRPr lang="en-IN" dirty="0"/>
          </a:p>
        </p:txBody>
      </p:sp>
    </p:spTree>
    <p:extLst>
      <p:ext uri="{BB962C8B-B14F-4D97-AF65-F5344CB8AC3E}">
        <p14:creationId xmlns:p14="http://schemas.microsoft.com/office/powerpoint/2010/main" val="3542350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8</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Two trains of lengths 280 m and 320 m run on parallel tracks. When running in the same direction the faster train crosses the slower one in 30 seconds. When running in opposite directions at speeds same as their earlier speeds, they pass each other completely in 10 seconds. Find out the speed of each train. </a:t>
                </a:r>
              </a:p>
              <a:p>
                <a:pPr algn="just"/>
                <a:r>
                  <a:rPr lang="en-US" dirty="0"/>
                  <a:t>Speed of Faster Train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 </a:t>
                </a:r>
                <a14:m>
                  <m:oMath xmlns:m="http://schemas.openxmlformats.org/officeDocument/2006/math">
                    <m:r>
                      <m:rPr>
                        <m:nor/>
                      </m:rPr>
                      <a:rPr lang="en-US" dirty="0"/>
                      <m:t>{</m:t>
                    </m:r>
                    <m:r>
                      <m:rPr>
                        <m:nor/>
                      </m:rPr>
                      <a:rPr lang="en-IN" dirty="0"/>
                      <m:t> </m:t>
                    </m:r>
                    <m:f>
                      <m:fPr>
                        <m:ctrlPr>
                          <a:rPr lang="en-US" i="1">
                            <a:solidFill>
                              <a:srgbClr val="836967"/>
                            </a:solidFill>
                            <a:latin typeface="Cambria Math" panose="02040503050406030204" pitchFamily="18" charset="0"/>
                          </a:rPr>
                        </m:ctrlPr>
                      </m:fPr>
                      <m:num>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2</m:t>
                            </m:r>
                          </m:sub>
                        </m:sSub>
                      </m:num>
                      <m:den>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den>
                    </m:f>
                  </m:oMath>
                </a14:m>
                <a:r>
                  <a:rPr lang="en-US" dirty="0"/>
                  <a:t> }</a:t>
                </a:r>
                <a:r>
                  <a:rPr lang="en-US" dirty="0">
                    <a:solidFill>
                      <a:srgbClr val="836967"/>
                    </a:solidFill>
                  </a:rPr>
                  <a:t> </a:t>
                </a:r>
                <a:r>
                  <a:rPr lang="en-IN" dirty="0"/>
                  <a:t>m/s </a:t>
                </a:r>
                <a:endParaRPr lang="en-US" dirty="0"/>
              </a:p>
              <a:p>
                <a:pPr algn="just"/>
                <a:r>
                  <a:rPr lang="en-US" dirty="0"/>
                  <a:t>Speed of Slower Train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 </a:t>
                </a:r>
                <a14:m>
                  <m:oMath xmlns:m="http://schemas.openxmlformats.org/officeDocument/2006/math">
                    <m:r>
                      <m:rPr>
                        <m:nor/>
                      </m:rPr>
                      <a:rPr lang="en-US" dirty="0">
                        <a:latin typeface="Cambria Math" panose="02040503050406030204" pitchFamily="18" charset="0"/>
                      </a:rPr>
                      <m:t>	</m:t>
                    </m:r>
                    <m:r>
                      <m:rPr>
                        <m:nor/>
                      </m:rPr>
                      <a:rPr lang="en-US" dirty="0"/>
                      <m:t>{ </m:t>
                    </m:r>
                    <m:f>
                      <m:fPr>
                        <m:ctrlPr>
                          <a:rPr lang="en-US" i="1">
                            <a:solidFill>
                              <a:srgbClr val="836967"/>
                            </a:solidFill>
                            <a:latin typeface="Cambria Math" panose="02040503050406030204" pitchFamily="18" charset="0"/>
                          </a:rPr>
                        </m:ctrlPr>
                      </m:fPr>
                      <m:num>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2</m:t>
                            </m:r>
                          </m:sub>
                        </m:sSub>
                      </m:num>
                      <m:den>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den>
                    </m:f>
                  </m:oMath>
                </a14:m>
                <a:r>
                  <a:rPr lang="en-US" dirty="0"/>
                  <a:t> }</a:t>
                </a:r>
                <a:r>
                  <a:rPr lang="en-US" dirty="0">
                    <a:solidFill>
                      <a:srgbClr val="836967"/>
                    </a:solidFill>
                  </a:rPr>
                  <a:t> </a:t>
                </a:r>
                <a:r>
                  <a:rPr lang="en-IN" dirty="0"/>
                  <a:t>m/s</a:t>
                </a:r>
                <a:endParaRPr lang="en-US" dirty="0"/>
              </a:p>
              <a:p>
                <a:pPr algn="just"/>
                <a:r>
                  <a:rPr lang="en-US" dirty="0"/>
                  <a:t>x = 280 m and y = 320 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dirty="0">
                            <a:latin typeface="Cambria Math" panose="02040503050406030204" pitchFamily="18" charset="0"/>
                          </a:rPr>
                          <m:t>1</m:t>
                        </m:r>
                      </m:sub>
                    </m:sSub>
                    <m:r>
                      <a:rPr lang="en-US" i="1" dirty="0">
                        <a:latin typeface="Cambria Math" panose="02040503050406030204" pitchFamily="18" charset="0"/>
                      </a:rPr>
                      <m:t> </m:t>
                    </m:r>
                  </m:oMath>
                </a14:m>
                <a:r>
                  <a:rPr lang="en-US" dirty="0"/>
                  <a:t>= 30 seconds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b="0" i="0" dirty="0" smtClean="0">
                            <a:latin typeface="Cambria Math" panose="02040503050406030204" pitchFamily="18" charset="0"/>
                          </a:rPr>
                          <m:t>2</m:t>
                        </m:r>
                      </m:sub>
                    </m:sSub>
                  </m:oMath>
                </a14:m>
                <a:r>
                  <a:rPr lang="en-US" dirty="0"/>
                  <a:t> = 10 seconds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1808"/>
                </a:stretch>
              </a:blipFill>
            </p:spPr>
            <p:txBody>
              <a:bodyPr/>
              <a:lstStyle/>
              <a:p>
                <a:r>
                  <a:rPr lang="en-IN">
                    <a:noFill/>
                  </a:rPr>
                  <a:t> </a:t>
                </a:r>
              </a:p>
            </p:txBody>
          </p:sp>
        </mc:Fallback>
      </mc:AlternateContent>
    </p:spTree>
    <p:extLst>
      <p:ext uri="{BB962C8B-B14F-4D97-AF65-F5344CB8AC3E}">
        <p14:creationId xmlns:p14="http://schemas.microsoft.com/office/powerpoint/2010/main" val="2153469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8</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x = 280 m &amp; y = 320 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dirty="0">
                            <a:latin typeface="Cambria Math" panose="02040503050406030204" pitchFamily="18" charset="0"/>
                          </a:rPr>
                          <m:t>1</m:t>
                        </m:r>
                      </m:sub>
                    </m:sSub>
                    <m:r>
                      <a:rPr lang="en-US" i="1" dirty="0">
                        <a:latin typeface="Cambria Math" panose="02040503050406030204" pitchFamily="18" charset="0"/>
                      </a:rPr>
                      <m:t> </m:t>
                    </m:r>
                  </m:oMath>
                </a14:m>
                <a:r>
                  <a:rPr lang="en-US" dirty="0"/>
                  <a:t>= 30 s &amp;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b="0" i="0" dirty="0" smtClean="0">
                            <a:latin typeface="Cambria Math" panose="02040503050406030204" pitchFamily="18" charset="0"/>
                          </a:rPr>
                          <m:t>2</m:t>
                        </m:r>
                      </m:sub>
                    </m:sSub>
                  </m:oMath>
                </a14:m>
                <a:r>
                  <a:rPr lang="en-US" dirty="0"/>
                  <a:t> = 10 s </a:t>
                </a:r>
              </a:p>
              <a:p>
                <a:pPr algn="just"/>
                <a:r>
                  <a:rPr lang="en-US" dirty="0"/>
                  <a:t>Speed of Faster Train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 </a:t>
                </a:r>
                <a14:m>
                  <m:oMath xmlns:m="http://schemas.openxmlformats.org/officeDocument/2006/math">
                    <m:r>
                      <m:rPr>
                        <m:nor/>
                      </m:rPr>
                      <a:rPr lang="en-US" dirty="0"/>
                      <m:t>{</m:t>
                    </m:r>
                    <m:r>
                      <m:rPr>
                        <m:nor/>
                      </m:rPr>
                      <a:rPr lang="en-IN" dirty="0"/>
                      <m:t> </m:t>
                    </m:r>
                    <m:f>
                      <m:fPr>
                        <m:ctrlPr>
                          <a:rPr lang="en-US" i="1">
                            <a:solidFill>
                              <a:srgbClr val="836967"/>
                            </a:solidFill>
                            <a:latin typeface="Cambria Math" panose="02040503050406030204" pitchFamily="18" charset="0"/>
                          </a:rPr>
                        </m:ctrlPr>
                      </m:fPr>
                      <m:num>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2</m:t>
                            </m:r>
                          </m:sub>
                        </m:sSub>
                      </m:num>
                      <m:den>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den>
                    </m:f>
                  </m:oMath>
                </a14:m>
                <a:r>
                  <a:rPr lang="en-US" dirty="0"/>
                  <a:t> }</a:t>
                </a:r>
                <a:r>
                  <a:rPr lang="en-US" dirty="0">
                    <a:solidFill>
                      <a:srgbClr val="836967"/>
                    </a:solidFill>
                  </a:rPr>
                  <a:t> </a:t>
                </a:r>
                <a:r>
                  <a:rPr lang="en-IN" dirty="0"/>
                  <a:t>m/s </a:t>
                </a:r>
              </a:p>
              <a:p>
                <a:pPr marL="0" indent="0" algn="just">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280</m:t>
                        </m:r>
                        <m:r>
                          <m:rPr>
                            <m:nor/>
                          </m:rPr>
                          <a:rPr lang="en-US" dirty="0"/>
                          <m:t> + </m:t>
                        </m:r>
                        <m:r>
                          <m:rPr>
                            <m:nor/>
                          </m:rPr>
                          <a:rPr lang="en-US" b="0" i="0" dirty="0" smtClean="0"/>
                          <m:t>320</m:t>
                        </m:r>
                      </m:num>
                      <m:den>
                        <m:r>
                          <m:rPr>
                            <m:nor/>
                          </m:rPr>
                          <a:rPr lang="en-US" dirty="0"/>
                          <m:t>2</m:t>
                        </m:r>
                      </m:den>
                    </m:f>
                  </m:oMath>
                </a14:m>
                <a:r>
                  <a:rPr lang="en-US" dirty="0"/>
                  <a:t> } . </a:t>
                </a:r>
                <a14:m>
                  <m:oMath xmlns:m="http://schemas.openxmlformats.org/officeDocument/2006/math">
                    <m:r>
                      <m:rPr>
                        <m:nor/>
                      </m:rPr>
                      <a:rPr lang="en-US" sz="2400" dirty="0"/>
                      <m:t>{</m:t>
                    </m:r>
                    <m:f>
                      <m:fPr>
                        <m:ctrlPr>
                          <a:rPr lang="en-US" sz="2400" i="1">
                            <a:solidFill>
                              <a:srgbClr val="836967"/>
                            </a:solidFill>
                            <a:latin typeface="Cambria Math" panose="02040503050406030204" pitchFamily="18" charset="0"/>
                          </a:rPr>
                        </m:ctrlPr>
                      </m:fPr>
                      <m:num>
                        <m:r>
                          <m:rPr>
                            <m:nor/>
                          </m:rPr>
                          <a:rPr lang="en-US" sz="2400" b="0" i="0" dirty="0" smtClean="0"/>
                          <m:t>30</m:t>
                        </m:r>
                        <m:r>
                          <m:rPr>
                            <m:nor/>
                          </m:rPr>
                          <a:rPr lang="en-US" sz="2400" dirty="0"/>
                          <m:t> + </m:t>
                        </m:r>
                        <m:r>
                          <m:rPr>
                            <m:nor/>
                          </m:rPr>
                          <a:rPr lang="en-US" sz="2400" b="0" i="0" dirty="0" smtClean="0"/>
                          <m:t>10</m:t>
                        </m:r>
                      </m:num>
                      <m:den>
                        <m:r>
                          <m:rPr>
                            <m:nor/>
                          </m:rPr>
                          <a:rPr lang="en-US" sz="2400" dirty="0"/>
                          <m:t>3</m:t>
                        </m:r>
                        <m:r>
                          <m:rPr>
                            <m:nor/>
                          </m:rPr>
                          <a:rPr lang="en-US" sz="2400" b="0" i="0" dirty="0" smtClean="0"/>
                          <m:t>0 </m:t>
                        </m:r>
                        <m:r>
                          <m:rPr>
                            <m:sty m:val="p"/>
                          </m:rPr>
                          <a:rPr lang="en-US" sz="2400" b="0" i="0" dirty="0" smtClean="0">
                            <a:latin typeface="Cambria Math" panose="02040503050406030204" pitchFamily="18" charset="0"/>
                          </a:rPr>
                          <m:t>x</m:t>
                        </m:r>
                        <m:r>
                          <m:rPr>
                            <m:nor/>
                          </m:rPr>
                          <a:rPr lang="en-US" sz="2400" b="0" i="0" dirty="0" smtClean="0">
                            <a:latin typeface="Cambria Math" panose="02040503050406030204" pitchFamily="18" charset="0"/>
                          </a:rPr>
                          <m:t> </m:t>
                        </m:r>
                        <m:r>
                          <m:rPr>
                            <m:nor/>
                          </m:rPr>
                          <a:rPr lang="en-US" sz="2400" dirty="0"/>
                          <m:t>1</m:t>
                        </m:r>
                        <m:r>
                          <m:rPr>
                            <m:nor/>
                          </m:rPr>
                          <a:rPr lang="en-US" sz="2400" b="0" i="0" dirty="0" smtClean="0"/>
                          <m:t>0</m:t>
                        </m:r>
                      </m:den>
                    </m:f>
                  </m:oMath>
                </a14:m>
                <a:r>
                  <a:rPr lang="en-US" dirty="0"/>
                  <a:t>}</a:t>
                </a:r>
                <a:r>
                  <a:rPr lang="en-US" dirty="0">
                    <a:solidFill>
                      <a:srgbClr val="836967"/>
                    </a:solidFill>
                  </a:rPr>
                  <a:t> </a:t>
                </a:r>
                <a:r>
                  <a:rPr lang="en-IN" dirty="0"/>
                  <a:t>m/s</a:t>
                </a:r>
              </a:p>
              <a:p>
                <a:pPr marL="0" indent="0" algn="just">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600</m:t>
                        </m:r>
                      </m:num>
                      <m:den>
                        <m:r>
                          <m:rPr>
                            <m:nor/>
                          </m:rPr>
                          <a:rPr lang="en-US" dirty="0"/>
                          <m:t>2</m:t>
                        </m:r>
                      </m:den>
                    </m:f>
                  </m:oMath>
                </a14:m>
                <a:r>
                  <a:rPr lang="en-US" dirty="0"/>
                  <a:t> }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40</m:t>
                        </m:r>
                      </m:num>
                      <m:den>
                        <m:r>
                          <m:rPr>
                            <m:nor/>
                          </m:rPr>
                          <a:rPr lang="en-US" b="0" i="0" dirty="0" smtClean="0"/>
                          <m:t>300</m:t>
                        </m:r>
                      </m:den>
                    </m:f>
                  </m:oMath>
                </a14:m>
                <a:r>
                  <a:rPr lang="en-US" dirty="0"/>
                  <a:t>}</a:t>
                </a:r>
                <a:r>
                  <a:rPr lang="en-US" dirty="0">
                    <a:solidFill>
                      <a:srgbClr val="836967"/>
                    </a:solidFill>
                  </a:rPr>
                  <a:t> </a:t>
                </a:r>
                <a:r>
                  <a:rPr lang="en-IN" dirty="0"/>
                  <a:t>m/s</a:t>
                </a:r>
                <a:endParaRPr lang="en-US" dirty="0"/>
              </a:p>
              <a:p>
                <a:pPr marL="0" indent="0" algn="just">
                  <a:buNone/>
                </a:pPr>
                <a:r>
                  <a:rPr lang="en-US" dirty="0"/>
                  <a:t>				= 40 </a:t>
                </a:r>
                <a:r>
                  <a:rPr lang="en-IN" dirty="0"/>
                  <a:t>m/s or 144 Km/h</a:t>
                </a:r>
                <a:endParaRPr lang="en-US" dirty="0"/>
              </a:p>
              <a:p>
                <a:pPr marL="0" indent="0" algn="just">
                  <a:buNone/>
                </a:pPr>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D7C51522-9F7B-A719-D0C9-7F94E926CF46}"/>
              </a:ext>
            </a:extLst>
          </p:cNvPr>
          <p:cNvCxnSpPr>
            <a:cxnSpLocks/>
          </p:cNvCxnSpPr>
          <p:nvPr/>
        </p:nvCxnSpPr>
        <p:spPr>
          <a:xfrm flipV="1">
            <a:off x="5625547" y="4651511"/>
            <a:ext cx="592207" cy="149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52483A0-AE11-00E5-6C0F-E1837DC310CA}"/>
              </a:ext>
            </a:extLst>
          </p:cNvPr>
          <p:cNvCxnSpPr>
            <a:cxnSpLocks/>
          </p:cNvCxnSpPr>
          <p:nvPr/>
        </p:nvCxnSpPr>
        <p:spPr>
          <a:xfrm flipV="1">
            <a:off x="5665302" y="5009321"/>
            <a:ext cx="592208" cy="159026"/>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DCF05E-AE32-C7BC-90FF-739D92F31EF5}"/>
              </a:ext>
            </a:extLst>
          </p:cNvPr>
          <p:cNvSpPr txBox="1"/>
          <p:nvPr/>
        </p:nvSpPr>
        <p:spPr>
          <a:xfrm>
            <a:off x="5710372" y="4217988"/>
            <a:ext cx="429926" cy="369332"/>
          </a:xfrm>
          <a:prstGeom prst="rect">
            <a:avLst/>
          </a:prstGeom>
          <a:noFill/>
        </p:spPr>
        <p:txBody>
          <a:bodyPr wrap="none" rtlCol="0">
            <a:spAutoFit/>
          </a:bodyPr>
          <a:lstStyle/>
          <a:p>
            <a:r>
              <a:rPr lang="en-US" dirty="0"/>
              <a:t>20</a:t>
            </a:r>
            <a:endParaRPr lang="en-IN" dirty="0"/>
          </a:p>
        </p:txBody>
      </p:sp>
      <p:cxnSp>
        <p:nvCxnSpPr>
          <p:cNvPr id="7" name="Straight Connector 6">
            <a:extLst>
              <a:ext uri="{FF2B5EF4-FFF2-40B4-BE49-F238E27FC236}">
                <a16:creationId xmlns:a16="http://schemas.microsoft.com/office/drawing/2014/main" id="{72A10A96-346D-3AA9-0F09-282CDCF77C0F}"/>
              </a:ext>
            </a:extLst>
          </p:cNvPr>
          <p:cNvCxnSpPr>
            <a:cxnSpLocks/>
          </p:cNvCxnSpPr>
          <p:nvPr/>
        </p:nvCxnSpPr>
        <p:spPr>
          <a:xfrm flipV="1">
            <a:off x="4488348" y="4641575"/>
            <a:ext cx="592207" cy="1490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3B0A65-E14F-DCB4-B9EF-172F996A34DE}"/>
              </a:ext>
            </a:extLst>
          </p:cNvPr>
          <p:cNvCxnSpPr>
            <a:cxnSpLocks/>
          </p:cNvCxnSpPr>
          <p:nvPr/>
        </p:nvCxnSpPr>
        <p:spPr>
          <a:xfrm flipV="1">
            <a:off x="4488347" y="5009324"/>
            <a:ext cx="592208" cy="1590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A7D0D0-75FD-5301-7311-3EB2CC9C5DE1}"/>
              </a:ext>
            </a:extLst>
          </p:cNvPr>
          <p:cNvSpPr txBox="1"/>
          <p:nvPr/>
        </p:nvSpPr>
        <p:spPr>
          <a:xfrm>
            <a:off x="4632807" y="4148418"/>
            <a:ext cx="306494" cy="369332"/>
          </a:xfrm>
          <a:prstGeom prst="rect">
            <a:avLst/>
          </a:prstGeom>
          <a:noFill/>
        </p:spPr>
        <p:txBody>
          <a:bodyPr wrap="none" rtlCol="0">
            <a:spAutoFit/>
          </a:bodyPr>
          <a:lstStyle/>
          <a:p>
            <a:r>
              <a:rPr lang="en-US" dirty="0"/>
              <a:t>2</a:t>
            </a:r>
            <a:endParaRPr lang="en-IN" dirty="0"/>
          </a:p>
        </p:txBody>
      </p:sp>
    </p:spTree>
    <p:extLst>
      <p:ext uri="{BB962C8B-B14F-4D97-AF65-F5344CB8AC3E}">
        <p14:creationId xmlns:p14="http://schemas.microsoft.com/office/powerpoint/2010/main" val="2091883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8</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x = 280 m and y = 320 m,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dirty="0">
                            <a:latin typeface="Cambria Math" panose="02040503050406030204" pitchFamily="18" charset="0"/>
                          </a:rPr>
                          <m:t>1</m:t>
                        </m:r>
                      </m:sub>
                    </m:sSub>
                    <m:r>
                      <a:rPr lang="en-US" i="1" dirty="0">
                        <a:latin typeface="Cambria Math" panose="02040503050406030204" pitchFamily="18" charset="0"/>
                      </a:rPr>
                      <m:t> </m:t>
                    </m:r>
                  </m:oMath>
                </a14:m>
                <a:r>
                  <a:rPr lang="en-US" dirty="0"/>
                  <a:t>= 30 s and </a:t>
                </a:r>
                <a14:m>
                  <m:oMath xmlns:m="http://schemas.openxmlformats.org/officeDocument/2006/math">
                    <m:sSub>
                      <m:sSubPr>
                        <m:ctrlPr>
                          <a:rPr lang="en-US" i="1" dirty="0">
                            <a:solidFill>
                              <a:srgbClr val="836967"/>
                            </a:solidFill>
                            <a:latin typeface="Cambria Math" panose="02040503050406030204" pitchFamily="18" charset="0"/>
                          </a:rPr>
                        </m:ctrlPr>
                      </m:sSubPr>
                      <m:e>
                        <m:r>
                          <m:rPr>
                            <m:nor/>
                          </m:rPr>
                          <a:rPr lang="en-US" b="0" i="0" dirty="0" smtClean="0"/>
                          <m:t>t</m:t>
                        </m:r>
                      </m:e>
                      <m:sub>
                        <m:r>
                          <a:rPr lang="en-US" b="0" i="0" dirty="0" smtClean="0">
                            <a:latin typeface="Cambria Math" panose="02040503050406030204" pitchFamily="18" charset="0"/>
                          </a:rPr>
                          <m:t>2</m:t>
                        </m:r>
                      </m:sub>
                    </m:sSub>
                  </m:oMath>
                </a14:m>
                <a:r>
                  <a:rPr lang="en-US" dirty="0"/>
                  <a:t> = 10 s</a:t>
                </a:r>
              </a:p>
              <a:p>
                <a:pPr algn="just"/>
                <a:r>
                  <a:rPr lang="en-US" dirty="0"/>
                  <a:t>Speed of Slower Train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 </a:t>
                </a:r>
                <a14:m>
                  <m:oMath xmlns:m="http://schemas.openxmlformats.org/officeDocument/2006/math">
                    <m:r>
                      <m:rPr>
                        <m:nor/>
                      </m:rPr>
                      <a:rPr lang="en-US" dirty="0"/>
                      <m:t>{</m:t>
                    </m:r>
                    <m:r>
                      <m:rPr>
                        <m:nor/>
                      </m:rPr>
                      <a:rPr lang="en-IN" dirty="0"/>
                      <m:t> </m:t>
                    </m:r>
                    <m:f>
                      <m:fPr>
                        <m:ctrlPr>
                          <a:rPr lang="en-US" i="1">
                            <a:solidFill>
                              <a:srgbClr val="836967"/>
                            </a:solidFill>
                            <a:latin typeface="Cambria Math" panose="02040503050406030204" pitchFamily="18" charset="0"/>
                          </a:rPr>
                        </m:ctrlPr>
                      </m:fPr>
                      <m:num>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dirty="0">
                                <a:latin typeface="Cambria Math" panose="02040503050406030204" pitchFamily="18" charset="0"/>
                              </a:rPr>
                              <m:t> </m:t>
                            </m:r>
                            <m:r>
                              <m:rPr>
                                <m:nor/>
                              </m:rPr>
                              <a:rPr lang="en-US" b="0" i="0" dirty="0" smtClean="0"/>
                              <m:t>−</m:t>
                            </m:r>
                            <m:r>
                              <m:rPr>
                                <m:nor/>
                              </m:rPr>
                              <a:rPr lang="en-US" dirty="0"/>
                              <m:t> </m:t>
                            </m:r>
                            <m:r>
                              <m:rPr>
                                <m:nor/>
                              </m:rPr>
                              <a:rPr lang="en-US" dirty="0"/>
                              <m:t>t</m:t>
                            </m:r>
                          </m:e>
                          <m:sub>
                            <m:r>
                              <a:rPr lang="en-US" dirty="0">
                                <a:latin typeface="Cambria Math" panose="02040503050406030204" pitchFamily="18" charset="0"/>
                              </a:rPr>
                              <m:t>2</m:t>
                            </m:r>
                          </m:sub>
                        </m:sSub>
                      </m:num>
                      <m:den>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den>
                    </m:f>
                  </m:oMath>
                </a14:m>
                <a:r>
                  <a:rPr lang="en-US" dirty="0"/>
                  <a:t> }</a:t>
                </a:r>
                <a:r>
                  <a:rPr lang="en-US" dirty="0">
                    <a:solidFill>
                      <a:srgbClr val="836967"/>
                    </a:solidFill>
                  </a:rPr>
                  <a:t> </a:t>
                </a:r>
                <a:r>
                  <a:rPr lang="en-IN" dirty="0"/>
                  <a:t>m/s </a:t>
                </a:r>
              </a:p>
              <a:p>
                <a:pPr marL="0" indent="0" algn="just">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280</m:t>
                        </m:r>
                        <m:r>
                          <m:rPr>
                            <m:nor/>
                          </m:rPr>
                          <a:rPr lang="en-US" dirty="0"/>
                          <m:t> + </m:t>
                        </m:r>
                        <m:r>
                          <m:rPr>
                            <m:nor/>
                          </m:rPr>
                          <a:rPr lang="en-US" b="0" i="0" dirty="0" smtClean="0"/>
                          <m:t>320</m:t>
                        </m:r>
                      </m:num>
                      <m:den>
                        <m:r>
                          <m:rPr>
                            <m:nor/>
                          </m:rPr>
                          <a:rPr lang="en-US" dirty="0"/>
                          <m:t>2</m:t>
                        </m:r>
                      </m:den>
                    </m:f>
                  </m:oMath>
                </a14:m>
                <a:r>
                  <a:rPr lang="en-US" dirty="0"/>
                  <a:t> } . </a:t>
                </a:r>
                <a14:m>
                  <m:oMath xmlns:m="http://schemas.openxmlformats.org/officeDocument/2006/math">
                    <m:r>
                      <m:rPr>
                        <m:nor/>
                      </m:rPr>
                      <a:rPr lang="en-US" sz="2400" dirty="0"/>
                      <m:t>{</m:t>
                    </m:r>
                    <m:f>
                      <m:fPr>
                        <m:ctrlPr>
                          <a:rPr lang="en-US" sz="2400" i="1">
                            <a:solidFill>
                              <a:srgbClr val="836967"/>
                            </a:solidFill>
                            <a:latin typeface="Cambria Math" panose="02040503050406030204" pitchFamily="18" charset="0"/>
                          </a:rPr>
                        </m:ctrlPr>
                      </m:fPr>
                      <m:num>
                        <m:r>
                          <m:rPr>
                            <m:nor/>
                          </m:rPr>
                          <a:rPr lang="en-US" sz="2400" b="0" i="0" dirty="0" smtClean="0"/>
                          <m:t>30</m:t>
                        </m:r>
                        <m:r>
                          <m:rPr>
                            <m:nor/>
                          </m:rPr>
                          <a:rPr lang="en-US" sz="2400" dirty="0"/>
                          <m:t> </m:t>
                        </m:r>
                        <m:r>
                          <m:rPr>
                            <m:nor/>
                          </m:rPr>
                          <a:rPr lang="en-US" sz="2400" b="0" i="0" dirty="0" smtClean="0"/>
                          <m:t>−</m:t>
                        </m:r>
                        <m:r>
                          <m:rPr>
                            <m:nor/>
                          </m:rPr>
                          <a:rPr lang="en-US" sz="2400" dirty="0"/>
                          <m:t> </m:t>
                        </m:r>
                        <m:r>
                          <m:rPr>
                            <m:nor/>
                          </m:rPr>
                          <a:rPr lang="en-US" sz="2400" b="0" i="0" dirty="0" smtClean="0"/>
                          <m:t>10</m:t>
                        </m:r>
                      </m:num>
                      <m:den>
                        <m:r>
                          <m:rPr>
                            <m:nor/>
                          </m:rPr>
                          <a:rPr lang="en-US" sz="2400" dirty="0"/>
                          <m:t>3</m:t>
                        </m:r>
                        <m:r>
                          <m:rPr>
                            <m:nor/>
                          </m:rPr>
                          <a:rPr lang="en-US" sz="2400" b="0" i="0" dirty="0" smtClean="0"/>
                          <m:t>0 </m:t>
                        </m:r>
                        <m:r>
                          <m:rPr>
                            <m:sty m:val="p"/>
                          </m:rPr>
                          <a:rPr lang="en-US" sz="2400" b="0" i="0" dirty="0" smtClean="0">
                            <a:latin typeface="Cambria Math" panose="02040503050406030204" pitchFamily="18" charset="0"/>
                          </a:rPr>
                          <m:t>x</m:t>
                        </m:r>
                        <m:r>
                          <m:rPr>
                            <m:nor/>
                          </m:rPr>
                          <a:rPr lang="en-US" sz="2400" b="0" i="0" dirty="0" smtClean="0">
                            <a:latin typeface="Cambria Math" panose="02040503050406030204" pitchFamily="18" charset="0"/>
                          </a:rPr>
                          <m:t> </m:t>
                        </m:r>
                        <m:r>
                          <m:rPr>
                            <m:nor/>
                          </m:rPr>
                          <a:rPr lang="en-US" sz="2400" dirty="0"/>
                          <m:t>1</m:t>
                        </m:r>
                        <m:r>
                          <m:rPr>
                            <m:nor/>
                          </m:rPr>
                          <a:rPr lang="en-US" sz="2400" b="0" i="0" dirty="0" smtClean="0"/>
                          <m:t>0</m:t>
                        </m:r>
                      </m:den>
                    </m:f>
                  </m:oMath>
                </a14:m>
                <a:r>
                  <a:rPr lang="en-US" dirty="0"/>
                  <a:t>}</a:t>
                </a:r>
                <a:r>
                  <a:rPr lang="en-US" dirty="0">
                    <a:solidFill>
                      <a:srgbClr val="836967"/>
                    </a:solidFill>
                  </a:rPr>
                  <a:t> </a:t>
                </a:r>
                <a:r>
                  <a:rPr lang="en-IN" dirty="0"/>
                  <a:t>m/s</a:t>
                </a:r>
              </a:p>
              <a:p>
                <a:pPr marL="0" indent="0" algn="just">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600</m:t>
                        </m:r>
                      </m:num>
                      <m:den>
                        <m:r>
                          <m:rPr>
                            <m:nor/>
                          </m:rPr>
                          <a:rPr lang="en-US" dirty="0"/>
                          <m:t>2</m:t>
                        </m:r>
                      </m:den>
                    </m:f>
                  </m:oMath>
                </a14:m>
                <a:r>
                  <a:rPr lang="en-US" dirty="0"/>
                  <a:t> }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20</m:t>
                        </m:r>
                      </m:num>
                      <m:den>
                        <m:r>
                          <m:rPr>
                            <m:nor/>
                          </m:rPr>
                          <a:rPr lang="en-US" b="0" i="0" dirty="0" smtClean="0"/>
                          <m:t>300</m:t>
                        </m:r>
                      </m:den>
                    </m:f>
                  </m:oMath>
                </a14:m>
                <a:r>
                  <a:rPr lang="en-US" dirty="0"/>
                  <a:t>}</a:t>
                </a:r>
                <a:r>
                  <a:rPr lang="en-US" dirty="0">
                    <a:solidFill>
                      <a:srgbClr val="836967"/>
                    </a:solidFill>
                  </a:rPr>
                  <a:t> </a:t>
                </a:r>
                <a:r>
                  <a:rPr lang="en-IN" dirty="0"/>
                  <a:t>m/s</a:t>
                </a:r>
                <a:endParaRPr lang="en-US" dirty="0"/>
              </a:p>
              <a:p>
                <a:pPr marL="0" indent="0" algn="just">
                  <a:buNone/>
                </a:pPr>
                <a:r>
                  <a:rPr lang="en-US" dirty="0"/>
                  <a:t>				= 20 </a:t>
                </a:r>
                <a:r>
                  <a:rPr lang="en-IN" dirty="0"/>
                  <a:t>m/s or 72 Km/h</a:t>
                </a:r>
                <a:endParaRPr lang="en-US" dirty="0"/>
              </a:p>
              <a:p>
                <a:pPr marL="0" indent="0" algn="just">
                  <a:buNone/>
                </a:pPr>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D7C51522-9F7B-A719-D0C9-7F94E926CF46}"/>
              </a:ext>
            </a:extLst>
          </p:cNvPr>
          <p:cNvCxnSpPr>
            <a:cxnSpLocks/>
          </p:cNvCxnSpPr>
          <p:nvPr/>
        </p:nvCxnSpPr>
        <p:spPr>
          <a:xfrm flipV="1">
            <a:off x="5625547" y="4661453"/>
            <a:ext cx="592207" cy="1490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52483A0-AE11-00E5-6C0F-E1837DC310CA}"/>
              </a:ext>
            </a:extLst>
          </p:cNvPr>
          <p:cNvCxnSpPr>
            <a:cxnSpLocks/>
          </p:cNvCxnSpPr>
          <p:nvPr/>
        </p:nvCxnSpPr>
        <p:spPr>
          <a:xfrm flipV="1">
            <a:off x="5665302" y="5019263"/>
            <a:ext cx="592208" cy="1590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DCF05E-AE32-C7BC-90FF-739D92F31EF5}"/>
              </a:ext>
            </a:extLst>
          </p:cNvPr>
          <p:cNvSpPr txBox="1"/>
          <p:nvPr/>
        </p:nvSpPr>
        <p:spPr>
          <a:xfrm>
            <a:off x="5710372" y="4148418"/>
            <a:ext cx="388248" cy="369332"/>
          </a:xfrm>
          <a:prstGeom prst="rect">
            <a:avLst/>
          </a:prstGeom>
          <a:noFill/>
        </p:spPr>
        <p:txBody>
          <a:bodyPr wrap="none" rtlCol="0">
            <a:spAutoFit/>
          </a:bodyPr>
          <a:lstStyle/>
          <a:p>
            <a:r>
              <a:rPr lang="en-US" dirty="0"/>
              <a:t>10</a:t>
            </a:r>
            <a:endParaRPr lang="en-IN" dirty="0"/>
          </a:p>
        </p:txBody>
      </p:sp>
      <p:cxnSp>
        <p:nvCxnSpPr>
          <p:cNvPr id="7" name="Straight Connector 6">
            <a:extLst>
              <a:ext uri="{FF2B5EF4-FFF2-40B4-BE49-F238E27FC236}">
                <a16:creationId xmlns:a16="http://schemas.microsoft.com/office/drawing/2014/main" id="{72A10A96-346D-3AA9-0F09-282CDCF77C0F}"/>
              </a:ext>
            </a:extLst>
          </p:cNvPr>
          <p:cNvCxnSpPr>
            <a:cxnSpLocks/>
          </p:cNvCxnSpPr>
          <p:nvPr/>
        </p:nvCxnSpPr>
        <p:spPr>
          <a:xfrm flipV="1">
            <a:off x="4488348" y="4641575"/>
            <a:ext cx="592207" cy="149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3B0A65-E14F-DCB4-B9EF-172F996A34DE}"/>
              </a:ext>
            </a:extLst>
          </p:cNvPr>
          <p:cNvCxnSpPr>
            <a:cxnSpLocks/>
          </p:cNvCxnSpPr>
          <p:nvPr/>
        </p:nvCxnSpPr>
        <p:spPr>
          <a:xfrm flipV="1">
            <a:off x="4488347" y="5009324"/>
            <a:ext cx="592208" cy="159026"/>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A7D0D0-75FD-5301-7311-3EB2CC9C5DE1}"/>
              </a:ext>
            </a:extLst>
          </p:cNvPr>
          <p:cNvSpPr txBox="1"/>
          <p:nvPr/>
        </p:nvSpPr>
        <p:spPr>
          <a:xfrm>
            <a:off x="4632807" y="4148418"/>
            <a:ext cx="303288" cy="369332"/>
          </a:xfrm>
          <a:prstGeom prst="rect">
            <a:avLst/>
          </a:prstGeom>
          <a:noFill/>
        </p:spPr>
        <p:txBody>
          <a:bodyPr wrap="none" rtlCol="0">
            <a:spAutoFit/>
          </a:bodyPr>
          <a:lstStyle/>
          <a:p>
            <a:r>
              <a:rPr lang="en-US" dirty="0"/>
              <a:t>2</a:t>
            </a:r>
            <a:endParaRPr lang="en-IN" dirty="0"/>
          </a:p>
        </p:txBody>
      </p:sp>
    </p:spTree>
    <p:extLst>
      <p:ext uri="{BB962C8B-B14F-4D97-AF65-F5344CB8AC3E}">
        <p14:creationId xmlns:p14="http://schemas.microsoft.com/office/powerpoint/2010/main" val="2188888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A train starts from city A at 8 am with a speed of 30 Km/h and another train starts from there on the same day at 11 am in the same direction with a speed of 40 Km/h. Find out at what distance from city A and after what time both the trains will meet.</a:t>
                </a:r>
              </a:p>
              <a:p>
                <a:pPr algn="just"/>
                <a:r>
                  <a:rPr lang="en-US" dirty="0"/>
                  <a:t>The distance from the starting place at which both the trains will meet 				     </a:t>
                </a:r>
                <a14:m>
                  <m:oMath xmlns:m="http://schemas.openxmlformats.org/officeDocument/2006/math">
                    <m:r>
                      <m:rPr>
                        <m:nor/>
                      </m:rPr>
                      <a:rPr lang="en-US" dirty="0"/>
                      <m:t>= {</m:t>
                    </m:r>
                    <m:f>
                      <m:fPr>
                        <m:ctrlPr>
                          <a:rPr lang="en-US" i="1">
                            <a:solidFill>
                              <a:srgbClr val="836967"/>
                            </a:solidFill>
                            <a:latin typeface="Cambria Math" panose="02040503050406030204" pitchFamily="18" charset="0"/>
                          </a:rPr>
                        </m:ctrlPr>
                      </m:fPr>
                      <m:num>
                        <m:r>
                          <m:rPr>
                            <m:nor/>
                          </m:rPr>
                          <a:rPr lang="en-US" dirty="0"/>
                          <m:t>abT</m:t>
                        </m:r>
                      </m:num>
                      <m:den>
                        <m:r>
                          <m:rPr>
                            <m:nor/>
                          </m:rPr>
                          <a:rPr lang="en-US" dirty="0"/>
                          <m:t>b</m:t>
                        </m:r>
                        <m:r>
                          <m:rPr>
                            <m:nor/>
                          </m:rPr>
                          <a:rPr lang="en-US" dirty="0"/>
                          <m:t> − </m:t>
                        </m:r>
                        <m:r>
                          <m:rPr>
                            <m:nor/>
                          </m:rPr>
                          <a:rPr lang="en-US" dirty="0"/>
                          <m:t>a</m:t>
                        </m:r>
                      </m:den>
                    </m:f>
                  </m:oMath>
                </a14:m>
                <a:r>
                  <a:rPr lang="en-US" dirty="0"/>
                  <a:t> }</a:t>
                </a:r>
                <a:r>
                  <a:rPr lang="en-US" dirty="0">
                    <a:solidFill>
                      <a:srgbClr val="836967"/>
                    </a:solidFill>
                  </a:rPr>
                  <a:t> </a:t>
                </a:r>
                <a:r>
                  <a:rPr lang="en-IN" dirty="0"/>
                  <a:t>Km</a:t>
                </a:r>
                <a:endParaRPr lang="en-US" dirty="0"/>
              </a:p>
              <a:p>
                <a:pPr algn="just"/>
                <a:r>
                  <a:rPr lang="en-US" dirty="0"/>
                  <a:t>Time after which the two trains will meet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aT</m:t>
                        </m:r>
                      </m:num>
                      <m:den>
                        <m:r>
                          <m:rPr>
                            <m:nor/>
                          </m:rPr>
                          <a:rPr lang="en-US" dirty="0"/>
                          <m:t>b</m:t>
                        </m:r>
                        <m:r>
                          <m:rPr>
                            <m:nor/>
                          </m:rPr>
                          <a:rPr lang="en-US" dirty="0"/>
                          <m:t> − </m:t>
                        </m:r>
                        <m:r>
                          <m:rPr>
                            <m:nor/>
                          </m:rPr>
                          <a:rPr lang="en-US" dirty="0"/>
                          <m:t>a</m:t>
                        </m:r>
                      </m:den>
                    </m:f>
                  </m:oMath>
                </a14:m>
                <a:r>
                  <a:rPr lang="en-US" dirty="0"/>
                  <a:t> }</a:t>
                </a:r>
                <a:r>
                  <a:rPr lang="en-US" dirty="0">
                    <a:solidFill>
                      <a:srgbClr val="836967"/>
                    </a:solidFill>
                  </a:rPr>
                  <a:t> </a:t>
                </a:r>
                <a:r>
                  <a:rPr lang="en-IN" dirty="0"/>
                  <a:t>hours</a:t>
                </a:r>
              </a:p>
              <a:p>
                <a:pPr algn="just"/>
                <a:r>
                  <a:rPr lang="en-US" dirty="0"/>
                  <a:t>a = 30 Km/h, b = 40 Km/h, and T  = (11 – 8) =3hours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791"/>
                </a:stretch>
              </a:blipFill>
            </p:spPr>
            <p:txBody>
              <a:bodyPr/>
              <a:lstStyle/>
              <a:p>
                <a:r>
                  <a:rPr lang="en-IN">
                    <a:noFill/>
                  </a:rPr>
                  <a:t> </a:t>
                </a:r>
              </a:p>
            </p:txBody>
          </p:sp>
        </mc:Fallback>
      </mc:AlternateContent>
    </p:spTree>
    <p:extLst>
      <p:ext uri="{BB962C8B-B14F-4D97-AF65-F5344CB8AC3E}">
        <p14:creationId xmlns:p14="http://schemas.microsoft.com/office/powerpoint/2010/main" val="3051213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 = 30 Km/h, b = 40 Km/h, and T  = 3 hours </a:t>
                </a:r>
              </a:p>
              <a:p>
                <a:pPr algn="just"/>
                <a:r>
                  <a:rPr lang="en-US" dirty="0"/>
                  <a:t>Distance from the starting place at which both the trains will meet 	</a:t>
                </a:r>
                <a:r>
                  <a:rPr lang="en-US" b="0" dirty="0"/>
                  <a:t>	</a:t>
                </a:r>
                <a14:m>
                  <m:oMath xmlns:m="http://schemas.openxmlformats.org/officeDocument/2006/math">
                    <m:r>
                      <m:rPr>
                        <m:nor/>
                      </m:rPr>
                      <a:rPr lang="en-US" b="0" i="0" dirty="0" smtClean="0"/>
                      <m:t>= </m:t>
                    </m:r>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abT</m:t>
                        </m:r>
                      </m:num>
                      <m:den>
                        <m:r>
                          <m:rPr>
                            <m:nor/>
                          </m:rPr>
                          <a:rPr lang="en-US" b="0" i="0" dirty="0" smtClean="0"/>
                          <m:t>b</m:t>
                        </m:r>
                        <m:r>
                          <m:rPr>
                            <m:nor/>
                          </m:rPr>
                          <a:rPr lang="en-US" b="0" i="0" dirty="0" smtClean="0"/>
                          <m:t> − </m:t>
                        </m:r>
                        <m:r>
                          <m:rPr>
                            <m:nor/>
                          </m:rPr>
                          <a:rPr lang="en-US" b="0" i="0" dirty="0" smtClean="0"/>
                          <m:t>a</m:t>
                        </m:r>
                      </m:den>
                    </m:f>
                  </m:oMath>
                </a14:m>
                <a:r>
                  <a:rPr lang="en-US" dirty="0"/>
                  <a:t> }</a:t>
                </a:r>
                <a:r>
                  <a:rPr lang="en-US" dirty="0">
                    <a:solidFill>
                      <a:srgbClr val="836967"/>
                    </a:solidFill>
                  </a:rPr>
                  <a:t> </a:t>
                </a:r>
                <a:r>
                  <a:rPr lang="en-IN" dirty="0"/>
                  <a:t>Km</a:t>
                </a:r>
              </a:p>
              <a:p>
                <a:pPr marL="0" indent="0" algn="just">
                  <a:buNone/>
                </a:pPr>
                <a:r>
                  <a:rPr lang="en-US" dirty="0"/>
                  <a:t>				</a:t>
                </a:r>
                <a14:m>
                  <m:oMath xmlns:m="http://schemas.openxmlformats.org/officeDocument/2006/math">
                    <m:r>
                      <m:rPr>
                        <m:nor/>
                      </m:rPr>
                      <a:rPr lang="en-US" dirty="0"/>
                      <m:t>= {</m:t>
                    </m:r>
                    <m:f>
                      <m:fPr>
                        <m:ctrlPr>
                          <a:rPr lang="en-US" i="1">
                            <a:solidFill>
                              <a:srgbClr val="836967"/>
                            </a:solidFill>
                            <a:latin typeface="Cambria Math" panose="02040503050406030204" pitchFamily="18" charset="0"/>
                          </a:rPr>
                        </m:ctrlPr>
                      </m:fPr>
                      <m:num>
                        <m:r>
                          <m:rPr>
                            <m:nor/>
                          </m:rPr>
                          <a:rPr lang="en-US" b="0" i="0" dirty="0" smtClean="0"/>
                          <m:t>(30)(40)(3)</m:t>
                        </m:r>
                      </m:num>
                      <m:den>
                        <m:r>
                          <m:rPr>
                            <m:nor/>
                          </m:rPr>
                          <a:rPr lang="en-US" b="0" i="0" dirty="0" smtClean="0"/>
                          <m:t>40</m:t>
                        </m:r>
                        <m:r>
                          <m:rPr>
                            <m:nor/>
                          </m:rPr>
                          <a:rPr lang="en-US" dirty="0"/>
                          <m:t> − </m:t>
                        </m:r>
                        <m:r>
                          <m:rPr>
                            <m:nor/>
                          </m:rPr>
                          <a:rPr lang="en-US" b="0" i="0" dirty="0" smtClean="0"/>
                          <m:t>30</m:t>
                        </m:r>
                      </m:den>
                    </m:f>
                  </m:oMath>
                </a14:m>
                <a:r>
                  <a:rPr lang="en-US" dirty="0"/>
                  <a:t> }</a:t>
                </a:r>
                <a:r>
                  <a:rPr lang="en-US" dirty="0">
                    <a:solidFill>
                      <a:srgbClr val="836967"/>
                    </a:solidFill>
                  </a:rPr>
                  <a:t> </a:t>
                </a:r>
                <a:r>
                  <a:rPr lang="en-IN" dirty="0"/>
                  <a:t>Km</a:t>
                </a:r>
              </a:p>
              <a:p>
                <a:pPr marL="0" indent="0" algn="just">
                  <a:buNone/>
                </a:pPr>
                <a:r>
                  <a:rPr lang="en-US" dirty="0"/>
                  <a:t>				</a:t>
                </a:r>
                <a14:m>
                  <m:oMath xmlns:m="http://schemas.openxmlformats.org/officeDocument/2006/math">
                    <m:r>
                      <m:rPr>
                        <m:nor/>
                      </m:rPr>
                      <a:rPr lang="en-US" dirty="0"/>
                      <m:t>= {</m:t>
                    </m:r>
                    <m:f>
                      <m:fPr>
                        <m:ctrlPr>
                          <a:rPr lang="en-US" i="1">
                            <a:solidFill>
                              <a:srgbClr val="836967"/>
                            </a:solidFill>
                            <a:latin typeface="Cambria Math" panose="02040503050406030204" pitchFamily="18" charset="0"/>
                          </a:rPr>
                        </m:ctrlPr>
                      </m:fPr>
                      <m:num>
                        <m:r>
                          <m:rPr>
                            <m:nor/>
                          </m:rPr>
                          <a:rPr lang="en-US" b="0" i="0" dirty="0" smtClean="0"/>
                          <m:t>3600</m:t>
                        </m:r>
                      </m:num>
                      <m:den>
                        <m:r>
                          <m:rPr>
                            <m:nor/>
                          </m:rPr>
                          <a:rPr lang="en-US" b="0" i="0" dirty="0" smtClean="0"/>
                          <m:t>10</m:t>
                        </m:r>
                      </m:den>
                    </m:f>
                  </m:oMath>
                </a14:m>
                <a:r>
                  <a:rPr lang="en-US" dirty="0"/>
                  <a:t> }</a:t>
                </a:r>
                <a:r>
                  <a:rPr lang="en-US" dirty="0">
                    <a:solidFill>
                      <a:srgbClr val="836967"/>
                    </a:solidFill>
                  </a:rPr>
                  <a:t> </a:t>
                </a:r>
                <a:r>
                  <a:rPr lang="en-IN" dirty="0"/>
                  <a:t>Km</a:t>
                </a:r>
              </a:p>
              <a:p>
                <a:pPr marL="0" indent="0" algn="just">
                  <a:buNone/>
                </a:pPr>
                <a:r>
                  <a:rPr lang="en-US" dirty="0"/>
                  <a:t>				</a:t>
                </a:r>
                <a14:m>
                  <m:oMath xmlns:m="http://schemas.openxmlformats.org/officeDocument/2006/math">
                    <m:r>
                      <m:rPr>
                        <m:nor/>
                      </m:rPr>
                      <a:rPr lang="en-US" dirty="0"/>
                      <m:t>= 360</m:t>
                    </m:r>
                  </m:oMath>
                </a14:m>
                <a:r>
                  <a:rPr lang="en-IN" dirty="0"/>
                  <a:t> Km</a:t>
                </a: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b="-678"/>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FE7D260B-2355-F817-804B-E5A8A6A83AF4}"/>
              </a:ext>
            </a:extLst>
          </p:cNvPr>
          <p:cNvCxnSpPr>
            <a:cxnSpLocks/>
          </p:cNvCxnSpPr>
          <p:nvPr/>
        </p:nvCxnSpPr>
        <p:spPr>
          <a:xfrm flipV="1">
            <a:off x="5050521" y="5088940"/>
            <a:ext cx="203138" cy="3941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D1470D-EA58-3216-9BA5-7116C60961C8}"/>
              </a:ext>
            </a:extLst>
          </p:cNvPr>
          <p:cNvCxnSpPr>
            <a:cxnSpLocks/>
          </p:cNvCxnSpPr>
          <p:nvPr/>
        </p:nvCxnSpPr>
        <p:spPr>
          <a:xfrm flipV="1">
            <a:off x="4817566" y="5521778"/>
            <a:ext cx="203138" cy="3887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70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a = 30 Km/h, b = 40 Km/h, and T  = 3 hours </a:t>
                </a:r>
              </a:p>
              <a:p>
                <a:pPr algn="just"/>
                <a:r>
                  <a:rPr lang="en-US" dirty="0"/>
                  <a:t>Time after which the two trains will meet </a:t>
                </a:r>
              </a:p>
              <a:p>
                <a:pPr marL="0" indent="0" algn="just">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aT</m:t>
                        </m:r>
                      </m:num>
                      <m:den>
                        <m:r>
                          <m:rPr>
                            <m:nor/>
                          </m:rPr>
                          <a:rPr lang="en-US" dirty="0"/>
                          <m:t>b</m:t>
                        </m:r>
                        <m:r>
                          <m:rPr>
                            <m:nor/>
                          </m:rPr>
                          <a:rPr lang="en-US" dirty="0"/>
                          <m:t> − </m:t>
                        </m:r>
                        <m:r>
                          <m:rPr>
                            <m:nor/>
                          </m:rPr>
                          <a:rPr lang="en-US" dirty="0"/>
                          <m:t>a</m:t>
                        </m:r>
                      </m:den>
                    </m:f>
                  </m:oMath>
                </a14:m>
                <a:r>
                  <a:rPr lang="en-US" dirty="0"/>
                  <a:t> }</a:t>
                </a:r>
                <a:r>
                  <a:rPr lang="en-US" dirty="0">
                    <a:solidFill>
                      <a:srgbClr val="836967"/>
                    </a:solidFill>
                  </a:rPr>
                  <a:t> </a:t>
                </a:r>
                <a:r>
                  <a:rPr lang="en-IN" dirty="0"/>
                  <a:t>hours</a:t>
                </a:r>
              </a:p>
              <a:p>
                <a:pPr marL="0" indent="0" algn="just">
                  <a:buNone/>
                </a:pPr>
                <a:r>
                  <a:rPr lang="en-US" dirty="0"/>
                  <a:t>				</a:t>
                </a:r>
                <a14:m>
                  <m:oMath xmlns:m="http://schemas.openxmlformats.org/officeDocument/2006/math">
                    <m:r>
                      <m:rPr>
                        <m:nor/>
                      </m:rPr>
                      <a:rPr lang="en-US" dirty="0"/>
                      <m:t>= {</m:t>
                    </m:r>
                    <m:f>
                      <m:fPr>
                        <m:ctrlPr>
                          <a:rPr lang="en-US" i="1">
                            <a:solidFill>
                              <a:srgbClr val="836967"/>
                            </a:solidFill>
                            <a:latin typeface="Cambria Math" panose="02040503050406030204" pitchFamily="18" charset="0"/>
                          </a:rPr>
                        </m:ctrlPr>
                      </m:fPr>
                      <m:num>
                        <m:r>
                          <m:rPr>
                            <m:nor/>
                          </m:rPr>
                          <a:rPr lang="en-US" dirty="0"/>
                          <m:t>(30)(3)</m:t>
                        </m:r>
                      </m:num>
                      <m:den>
                        <m:r>
                          <m:rPr>
                            <m:nor/>
                          </m:rPr>
                          <a:rPr lang="en-US" dirty="0"/>
                          <m:t>40 − 30</m:t>
                        </m:r>
                      </m:den>
                    </m:f>
                  </m:oMath>
                </a14:m>
                <a:r>
                  <a:rPr lang="en-US" dirty="0"/>
                  <a:t> }</a:t>
                </a:r>
                <a:r>
                  <a:rPr lang="en-US" dirty="0">
                    <a:solidFill>
                      <a:srgbClr val="836967"/>
                    </a:solidFill>
                  </a:rPr>
                  <a:t> </a:t>
                </a:r>
                <a:r>
                  <a:rPr lang="en-IN" dirty="0"/>
                  <a:t>hours</a:t>
                </a:r>
              </a:p>
              <a:p>
                <a:pPr marL="0" indent="0" algn="just">
                  <a:buNone/>
                </a:pPr>
                <a:r>
                  <a:rPr lang="en-US" dirty="0"/>
                  <a:t>				</a:t>
                </a:r>
                <a14:m>
                  <m:oMath xmlns:m="http://schemas.openxmlformats.org/officeDocument/2006/math">
                    <m:r>
                      <m:rPr>
                        <m:nor/>
                      </m:rPr>
                      <a:rPr lang="en-US" dirty="0"/>
                      <m:t>= {</m:t>
                    </m:r>
                    <m:f>
                      <m:fPr>
                        <m:ctrlPr>
                          <a:rPr lang="en-US" i="1">
                            <a:solidFill>
                              <a:srgbClr val="836967"/>
                            </a:solidFill>
                            <a:latin typeface="Cambria Math" panose="02040503050406030204" pitchFamily="18" charset="0"/>
                          </a:rPr>
                        </m:ctrlPr>
                      </m:fPr>
                      <m:num>
                        <m:r>
                          <m:rPr>
                            <m:nor/>
                          </m:rPr>
                          <a:rPr lang="en-US" dirty="0"/>
                          <m:t>90</m:t>
                        </m:r>
                      </m:num>
                      <m:den>
                        <m:r>
                          <m:rPr>
                            <m:nor/>
                          </m:rPr>
                          <a:rPr lang="en-US" dirty="0"/>
                          <m:t>10</m:t>
                        </m:r>
                      </m:den>
                    </m:f>
                  </m:oMath>
                </a14:m>
                <a:r>
                  <a:rPr lang="en-US" dirty="0"/>
                  <a:t> }</a:t>
                </a:r>
                <a:r>
                  <a:rPr lang="en-US" dirty="0">
                    <a:solidFill>
                      <a:srgbClr val="836967"/>
                    </a:solidFill>
                  </a:rPr>
                  <a:t> </a:t>
                </a:r>
                <a:r>
                  <a:rPr lang="en-IN" dirty="0"/>
                  <a:t>hours</a:t>
                </a:r>
              </a:p>
              <a:p>
                <a:pPr marL="0" indent="0" algn="just">
                  <a:buNone/>
                </a:pPr>
                <a:r>
                  <a:rPr lang="en-US" dirty="0"/>
                  <a:t>				</a:t>
                </a:r>
                <a14:m>
                  <m:oMath xmlns:m="http://schemas.openxmlformats.org/officeDocument/2006/math">
                    <m:r>
                      <m:rPr>
                        <m:nor/>
                      </m:rPr>
                      <a:rPr lang="en-US" dirty="0"/>
                      <m:t>= 9</m:t>
                    </m:r>
                  </m:oMath>
                </a14:m>
                <a:r>
                  <a:rPr lang="en-IN" dirty="0"/>
                  <a:t> hours after 11 am</a:t>
                </a:r>
              </a:p>
              <a:p>
                <a:pPr algn="just"/>
                <a:r>
                  <a:rPr lang="en-US" dirty="0"/>
                  <a:t>Two trains will meet at (11 am + 9 h) = 8 pm in the evening.</a:t>
                </a:r>
                <a:endParaRPr lang="en-IN" dirty="0"/>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22D5B762-6478-A090-A999-EEEBCFD54E90}"/>
              </a:ext>
            </a:extLst>
          </p:cNvPr>
          <p:cNvCxnSpPr>
            <a:cxnSpLocks/>
          </p:cNvCxnSpPr>
          <p:nvPr/>
        </p:nvCxnSpPr>
        <p:spPr>
          <a:xfrm flipV="1">
            <a:off x="4635992" y="4482544"/>
            <a:ext cx="203138" cy="3941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CABDC8F-72BF-14A5-E62B-9FB9F9522E76}"/>
              </a:ext>
            </a:extLst>
          </p:cNvPr>
          <p:cNvCxnSpPr>
            <a:cxnSpLocks/>
          </p:cNvCxnSpPr>
          <p:nvPr/>
        </p:nvCxnSpPr>
        <p:spPr>
          <a:xfrm flipV="1">
            <a:off x="4591878" y="4835870"/>
            <a:ext cx="203138" cy="3887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6508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The distance between two stations ‘A’ and ‘B’ is 760 Km. A train starts from ‘A’ to ‘B’ at 4 am with a speed of 60 Km/h. Another train starts from ‘B’ to ‘A’ at 5 am with a speed of 80 Km/h. At what distance from station A and at what time will the two trains be at the point of crossing?</a:t>
                </a:r>
              </a:p>
              <a:p>
                <a:pPr algn="just">
                  <a:lnSpc>
                    <a:spcPct val="120000"/>
                  </a:lnSpc>
                </a:pPr>
                <a:r>
                  <a:rPr lang="en-US" dirty="0"/>
                  <a:t>Distance = </a:t>
                </a:r>
                <a14:m>
                  <m:oMath xmlns:m="http://schemas.openxmlformats.org/officeDocument/2006/math">
                    <m:r>
                      <m:rPr>
                        <m:nor/>
                      </m:rPr>
                      <a:rPr lang="en-US" dirty="0"/>
                      <m:t>a</m:t>
                    </m:r>
                  </m:oMath>
                </a14:m>
                <a:r>
                  <a:rPr lang="en-US" dirty="0"/>
                  <a:t>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bT</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Km &amp; </a:t>
                </a:r>
                <a:r>
                  <a:rPr lang="en-US" dirty="0"/>
                  <a:t>Time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bT</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hours</a:t>
                </a:r>
              </a:p>
              <a:p>
                <a:pPr algn="just"/>
                <a:r>
                  <a:rPr lang="en-US" dirty="0"/>
                  <a:t>x = 760 Km, a = 60 Km/h, and b = 80 Km/h</a:t>
                </a:r>
              </a:p>
              <a:p>
                <a:pPr algn="just"/>
                <a:r>
                  <a:rPr lang="en-US" dirty="0"/>
                  <a:t>T = (5 – 4) = 1 hour later another train starts from ‘B’ to ‘A’.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1795880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x = 760 Km, a = 60 Km/h, b = 80 Km/h, and T = 1 hour</a:t>
                </a:r>
              </a:p>
              <a:p>
                <a:pPr algn="just">
                  <a:lnSpc>
                    <a:spcPct val="120000"/>
                  </a:lnSpc>
                </a:pPr>
                <a:r>
                  <a:rPr lang="en-US" dirty="0"/>
                  <a:t>Distance from A, at which both trains will meet </a:t>
                </a:r>
              </a:p>
              <a:p>
                <a:pPr marL="0" indent="0" algn="just">
                  <a:lnSpc>
                    <a:spcPct val="120000"/>
                  </a:lnSpc>
                  <a:buNone/>
                </a:pPr>
                <a:r>
                  <a:rPr lang="en-US" dirty="0"/>
                  <a:t>			= </a:t>
                </a:r>
                <a14:m>
                  <m:oMath xmlns:m="http://schemas.openxmlformats.org/officeDocument/2006/math">
                    <m:r>
                      <m:rPr>
                        <m:nor/>
                      </m:rPr>
                      <a:rPr lang="en-US" dirty="0"/>
                      <m:t>a</m:t>
                    </m:r>
                  </m:oMath>
                </a14:m>
                <a:r>
                  <a:rPr lang="en-US" dirty="0"/>
                  <a:t>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bT</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Km</a:t>
                </a:r>
              </a:p>
              <a:p>
                <a:pPr marL="0" indent="0" algn="just">
                  <a:lnSpc>
                    <a:spcPct val="120000"/>
                  </a:lnSpc>
                  <a:buNone/>
                </a:pPr>
                <a:r>
                  <a:rPr lang="en-IN" dirty="0"/>
                  <a:t>			</a:t>
                </a:r>
                <a:r>
                  <a:rPr lang="en-US" dirty="0"/>
                  <a:t>= 6</a:t>
                </a:r>
                <a14:m>
                  <m:oMath xmlns:m="http://schemas.openxmlformats.org/officeDocument/2006/math">
                    <m:r>
                      <m:rPr>
                        <m:nor/>
                      </m:rPr>
                      <a:rPr lang="en-US" b="0" i="0" dirty="0" smtClean="0"/>
                      <m:t>0</m:t>
                    </m:r>
                  </m:oMath>
                </a14:m>
                <a:r>
                  <a:rPr lang="en-US" dirty="0"/>
                  <a:t>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760</m:t>
                        </m:r>
                        <m:r>
                          <m:rPr>
                            <m:nor/>
                          </m:rPr>
                          <a:rPr lang="en-US" dirty="0"/>
                          <m:t> + </m:t>
                        </m:r>
                        <m:r>
                          <m:rPr>
                            <m:nor/>
                          </m:rPr>
                          <a:rPr lang="en-US" b="0" i="0" dirty="0" smtClean="0"/>
                          <m:t>(80)(1)</m:t>
                        </m:r>
                      </m:num>
                      <m:den>
                        <m:r>
                          <m:rPr>
                            <m:nor/>
                          </m:rPr>
                          <a:rPr lang="en-US" b="0" i="0" dirty="0" smtClean="0"/>
                          <m:t>60</m:t>
                        </m:r>
                        <m:r>
                          <m:rPr>
                            <m:nor/>
                          </m:rPr>
                          <a:rPr lang="en-US" dirty="0"/>
                          <m:t> + </m:t>
                        </m:r>
                        <m:r>
                          <m:rPr>
                            <m:nor/>
                          </m:rPr>
                          <a:rPr lang="en-US" b="0" i="0" dirty="0" smtClean="0"/>
                          <m:t>80</m:t>
                        </m:r>
                      </m:den>
                    </m:f>
                  </m:oMath>
                </a14:m>
                <a:r>
                  <a:rPr lang="en-US" dirty="0"/>
                  <a:t> }</a:t>
                </a:r>
                <a:r>
                  <a:rPr lang="en-US" dirty="0">
                    <a:solidFill>
                      <a:srgbClr val="836967"/>
                    </a:solidFill>
                  </a:rPr>
                  <a:t> </a:t>
                </a:r>
                <a:r>
                  <a:rPr lang="en-IN" dirty="0"/>
                  <a:t>Km</a:t>
                </a:r>
              </a:p>
              <a:p>
                <a:pPr marL="0" indent="0" algn="just">
                  <a:lnSpc>
                    <a:spcPct val="120000"/>
                  </a:lnSpc>
                  <a:buNone/>
                </a:pPr>
                <a:r>
                  <a:rPr lang="en-US" dirty="0"/>
                  <a:t>			= 6</a:t>
                </a:r>
                <a14:m>
                  <m:oMath xmlns:m="http://schemas.openxmlformats.org/officeDocument/2006/math">
                    <m:r>
                      <m:rPr>
                        <m:nor/>
                      </m:rPr>
                      <a:rPr lang="en-US" dirty="0"/>
                      <m:t>0</m:t>
                    </m:r>
                  </m:oMath>
                </a14:m>
                <a:r>
                  <a:rPr lang="en-US" dirty="0"/>
                  <a:t>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8</m:t>
                        </m:r>
                        <m:r>
                          <m:rPr>
                            <m:nor/>
                          </m:rPr>
                          <a:rPr lang="en-US" b="0" i="0" dirty="0" smtClean="0"/>
                          <m:t>4</m:t>
                        </m:r>
                        <m:r>
                          <m:rPr>
                            <m:nor/>
                          </m:rPr>
                          <a:rPr lang="en-US" dirty="0"/>
                          <m:t>0</m:t>
                        </m:r>
                      </m:num>
                      <m:den>
                        <m:r>
                          <m:rPr>
                            <m:nor/>
                          </m:rPr>
                          <a:rPr lang="en-US" b="0" i="0" dirty="0" smtClean="0"/>
                          <m:t>14</m:t>
                        </m:r>
                        <m:r>
                          <m:rPr>
                            <m:nor/>
                          </m:rPr>
                          <a:rPr lang="en-US" dirty="0"/>
                          <m:t>0</m:t>
                        </m:r>
                      </m:den>
                    </m:f>
                  </m:oMath>
                </a14:m>
                <a:r>
                  <a:rPr lang="en-US" dirty="0"/>
                  <a:t> }</a:t>
                </a:r>
                <a:r>
                  <a:rPr lang="en-US" dirty="0">
                    <a:solidFill>
                      <a:srgbClr val="836967"/>
                    </a:solidFill>
                  </a:rPr>
                  <a:t> </a:t>
                </a:r>
                <a:r>
                  <a:rPr lang="en-IN" dirty="0"/>
                  <a:t>Km</a:t>
                </a:r>
              </a:p>
              <a:p>
                <a:pPr marL="0" indent="0" algn="just">
                  <a:lnSpc>
                    <a:spcPct val="120000"/>
                  </a:lnSpc>
                  <a:buNone/>
                </a:pPr>
                <a:r>
                  <a:rPr lang="en-US" dirty="0"/>
                  <a:t>			= 3</a:t>
                </a:r>
                <a14:m>
                  <m:oMath xmlns:m="http://schemas.openxmlformats.org/officeDocument/2006/math">
                    <m:r>
                      <m:rPr>
                        <m:nor/>
                      </m:rPr>
                      <a:rPr lang="en-US" dirty="0"/>
                      <m:t>60</m:t>
                    </m:r>
                  </m:oMath>
                </a14:m>
                <a:r>
                  <a:rPr lang="en-US" dirty="0">
                    <a:solidFill>
                      <a:srgbClr val="836967"/>
                    </a:solidFill>
                  </a:rPr>
                  <a:t> </a:t>
                </a:r>
                <a:r>
                  <a:rPr lang="en-IN" dirty="0"/>
                  <a:t>Km</a:t>
                </a:r>
                <a:endParaRPr lang="en-US" dirty="0">
                  <a:solidFill>
                    <a:srgbClr val="836967"/>
                  </a:solidFill>
                </a:endParaRP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181FE1F9-1FE9-32C0-7085-2B491C2DEF84}"/>
              </a:ext>
            </a:extLst>
          </p:cNvPr>
          <p:cNvCxnSpPr>
            <a:cxnSpLocks/>
          </p:cNvCxnSpPr>
          <p:nvPr/>
        </p:nvCxnSpPr>
        <p:spPr>
          <a:xfrm flipV="1">
            <a:off x="4051027" y="4701209"/>
            <a:ext cx="592207" cy="149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7E90A76-0F8B-A125-1DFD-ECF389CD7309}"/>
              </a:ext>
            </a:extLst>
          </p:cNvPr>
          <p:cNvCxnSpPr>
            <a:cxnSpLocks/>
          </p:cNvCxnSpPr>
          <p:nvPr/>
        </p:nvCxnSpPr>
        <p:spPr>
          <a:xfrm flipV="1">
            <a:off x="4051026" y="5078897"/>
            <a:ext cx="592208" cy="1590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B75E0E7-C89C-EF3D-CBAB-3510A34FD085}"/>
              </a:ext>
            </a:extLst>
          </p:cNvPr>
          <p:cNvSpPr txBox="1"/>
          <p:nvPr/>
        </p:nvSpPr>
        <p:spPr>
          <a:xfrm>
            <a:off x="3899382" y="4331877"/>
            <a:ext cx="303288" cy="369332"/>
          </a:xfrm>
          <a:prstGeom prst="rect">
            <a:avLst/>
          </a:prstGeom>
          <a:noFill/>
        </p:spPr>
        <p:txBody>
          <a:bodyPr wrap="none" rtlCol="0">
            <a:spAutoFit/>
          </a:bodyPr>
          <a:lstStyle/>
          <a:p>
            <a:r>
              <a:rPr lang="en-US" dirty="0"/>
              <a:t>6</a:t>
            </a:r>
            <a:endParaRPr lang="en-IN" dirty="0"/>
          </a:p>
        </p:txBody>
      </p:sp>
    </p:spTree>
    <p:extLst>
      <p:ext uri="{BB962C8B-B14F-4D97-AF65-F5344CB8AC3E}">
        <p14:creationId xmlns:p14="http://schemas.microsoft.com/office/powerpoint/2010/main" val="4118662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x = 760 Km, a = 60 Km/h, b = 80 Km/h, and T = 1 hour</a:t>
                </a:r>
              </a:p>
              <a:p>
                <a:pPr algn="just">
                  <a:lnSpc>
                    <a:spcPct val="120000"/>
                  </a:lnSpc>
                </a:pPr>
                <a:r>
                  <a:rPr lang="en-US" dirty="0"/>
                  <a:t>Time after which the two trains will meet </a:t>
                </a:r>
              </a:p>
              <a:p>
                <a:pPr marL="0" indent="0" algn="just">
                  <a:lnSpc>
                    <a:spcPct val="120000"/>
                  </a:lnSpc>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bT</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hours</a:t>
                </a:r>
              </a:p>
              <a:p>
                <a:pPr marL="0" indent="0" algn="just">
                  <a:lnSpc>
                    <a:spcPct val="120000"/>
                  </a:lnSpc>
                  <a:buNone/>
                </a:pPr>
                <a:r>
                  <a:rPr lang="en-IN" dirty="0"/>
                  <a:t>			</a:t>
                </a:r>
                <a:r>
                  <a:rPr lang="en-US" dirty="0"/>
                  <a:t>=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760</m:t>
                        </m:r>
                        <m:r>
                          <m:rPr>
                            <m:nor/>
                          </m:rPr>
                          <a:rPr lang="en-US" dirty="0"/>
                          <m:t> + </m:t>
                        </m:r>
                        <m:r>
                          <m:rPr>
                            <m:nor/>
                          </m:rPr>
                          <a:rPr lang="en-US" b="0" i="0" dirty="0" smtClean="0"/>
                          <m:t>(80)(1)</m:t>
                        </m:r>
                      </m:num>
                      <m:den>
                        <m:r>
                          <m:rPr>
                            <m:nor/>
                          </m:rPr>
                          <a:rPr lang="en-US" b="0" i="0" dirty="0" smtClean="0"/>
                          <m:t>60</m:t>
                        </m:r>
                        <m:r>
                          <m:rPr>
                            <m:nor/>
                          </m:rPr>
                          <a:rPr lang="en-US" dirty="0"/>
                          <m:t> + </m:t>
                        </m:r>
                        <m:r>
                          <m:rPr>
                            <m:nor/>
                          </m:rPr>
                          <a:rPr lang="en-US" b="0" i="0" dirty="0" smtClean="0"/>
                          <m:t>80</m:t>
                        </m:r>
                      </m:den>
                    </m:f>
                  </m:oMath>
                </a14:m>
                <a:r>
                  <a:rPr lang="en-US" dirty="0"/>
                  <a:t> }</a:t>
                </a:r>
                <a:r>
                  <a:rPr lang="en-US" dirty="0">
                    <a:solidFill>
                      <a:srgbClr val="836967"/>
                    </a:solidFill>
                  </a:rPr>
                  <a:t> </a:t>
                </a:r>
                <a:r>
                  <a:rPr lang="en-IN" dirty="0"/>
                  <a:t>hours</a:t>
                </a:r>
              </a:p>
              <a:p>
                <a:pPr marL="0" indent="0" algn="just">
                  <a:lnSpc>
                    <a:spcPct val="120000"/>
                  </a:lnSpc>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8</m:t>
                        </m:r>
                        <m:r>
                          <m:rPr>
                            <m:nor/>
                          </m:rPr>
                          <a:rPr lang="en-US" b="0" i="0" dirty="0" smtClean="0"/>
                          <m:t>4</m:t>
                        </m:r>
                        <m:r>
                          <m:rPr>
                            <m:nor/>
                          </m:rPr>
                          <a:rPr lang="en-US" dirty="0"/>
                          <m:t>0</m:t>
                        </m:r>
                      </m:num>
                      <m:den>
                        <m:r>
                          <m:rPr>
                            <m:nor/>
                          </m:rPr>
                          <a:rPr lang="en-US" b="0" i="0" dirty="0" smtClean="0"/>
                          <m:t>14</m:t>
                        </m:r>
                        <m:r>
                          <m:rPr>
                            <m:nor/>
                          </m:rPr>
                          <a:rPr lang="en-US" dirty="0"/>
                          <m:t>0</m:t>
                        </m:r>
                      </m:den>
                    </m:f>
                  </m:oMath>
                </a14:m>
                <a:r>
                  <a:rPr lang="en-US" dirty="0"/>
                  <a:t> }</a:t>
                </a:r>
                <a:r>
                  <a:rPr lang="en-US" dirty="0">
                    <a:solidFill>
                      <a:srgbClr val="836967"/>
                    </a:solidFill>
                  </a:rPr>
                  <a:t> </a:t>
                </a:r>
                <a:r>
                  <a:rPr lang="en-IN" dirty="0"/>
                  <a:t>hours</a:t>
                </a:r>
              </a:p>
              <a:p>
                <a:pPr marL="0" indent="0" algn="just">
                  <a:lnSpc>
                    <a:spcPct val="120000"/>
                  </a:lnSpc>
                  <a:buNone/>
                </a:pPr>
                <a:r>
                  <a:rPr lang="en-US" dirty="0"/>
                  <a:t>			= </a:t>
                </a:r>
                <a14:m>
                  <m:oMath xmlns:m="http://schemas.openxmlformats.org/officeDocument/2006/math">
                    <m:r>
                      <m:rPr>
                        <m:nor/>
                      </m:rPr>
                      <a:rPr lang="en-US" dirty="0"/>
                      <m:t>6</m:t>
                    </m:r>
                  </m:oMath>
                </a14:m>
                <a:r>
                  <a:rPr lang="en-US" dirty="0">
                    <a:solidFill>
                      <a:srgbClr val="836967"/>
                    </a:solidFill>
                  </a:rPr>
                  <a:t> </a:t>
                </a:r>
                <a:r>
                  <a:rPr lang="en-IN" dirty="0"/>
                  <a:t>hours</a:t>
                </a:r>
                <a:endParaRPr lang="en-US" dirty="0">
                  <a:solidFill>
                    <a:srgbClr val="836967"/>
                  </a:solidFill>
                </a:endParaRP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181FE1F9-1FE9-32C0-7085-2B491C2DEF84}"/>
              </a:ext>
            </a:extLst>
          </p:cNvPr>
          <p:cNvCxnSpPr>
            <a:cxnSpLocks/>
          </p:cNvCxnSpPr>
          <p:nvPr/>
        </p:nvCxnSpPr>
        <p:spPr>
          <a:xfrm flipV="1">
            <a:off x="3603771" y="4691270"/>
            <a:ext cx="592207" cy="149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7E90A76-0F8B-A125-1DFD-ECF389CD7309}"/>
              </a:ext>
            </a:extLst>
          </p:cNvPr>
          <p:cNvCxnSpPr>
            <a:cxnSpLocks/>
          </p:cNvCxnSpPr>
          <p:nvPr/>
        </p:nvCxnSpPr>
        <p:spPr>
          <a:xfrm flipV="1">
            <a:off x="3602188" y="5080481"/>
            <a:ext cx="592208" cy="1590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B75E0E7-C89C-EF3D-CBAB-3510A34FD085}"/>
              </a:ext>
            </a:extLst>
          </p:cNvPr>
          <p:cNvSpPr txBox="1"/>
          <p:nvPr/>
        </p:nvSpPr>
        <p:spPr>
          <a:xfrm>
            <a:off x="3899382" y="4331877"/>
            <a:ext cx="303288" cy="369332"/>
          </a:xfrm>
          <a:prstGeom prst="rect">
            <a:avLst/>
          </a:prstGeom>
          <a:noFill/>
        </p:spPr>
        <p:txBody>
          <a:bodyPr wrap="none" rtlCol="0">
            <a:spAutoFit/>
          </a:bodyPr>
          <a:lstStyle/>
          <a:p>
            <a:r>
              <a:rPr lang="en-US" dirty="0"/>
              <a:t>6</a:t>
            </a:r>
            <a:endParaRPr lang="en-IN" dirty="0"/>
          </a:p>
        </p:txBody>
      </p:sp>
    </p:spTree>
    <p:extLst>
      <p:ext uri="{BB962C8B-B14F-4D97-AF65-F5344CB8AC3E}">
        <p14:creationId xmlns:p14="http://schemas.microsoft.com/office/powerpoint/2010/main" val="1546043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sz="2400" dirty="0"/>
                  <a:t>The speeds of two trains are in the ratio 9 : 16 and they are moving in opposite directions on the parallel track. If the first train crosses a pole in 10 seconds and second train in 5 seconds, then find the time taken by two trains to cross each other completely. </a:t>
                </a:r>
              </a:p>
              <a:p>
                <a:pPr algn="just"/>
                <a:r>
                  <a:rPr lang="en-US" sz="2400" dirty="0"/>
                  <a:t>Time taken by two trains to cross each other completely </a:t>
                </a:r>
              </a:p>
              <a:p>
                <a:pPr marL="0" indent="0" algn="just">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b="0" i="0" dirty="0" smtClean="0"/>
                          <m:t>a</m:t>
                        </m:r>
                        <m:r>
                          <m:rPr>
                            <m:nor/>
                          </m:rPr>
                          <a:rPr lang="en-US" sz="2400" dirty="0"/>
                          <m:t> +</m:t>
                        </m:r>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b="0" i="0" dirty="0" smtClean="0">
                                <a:latin typeface="Cambria Math" panose="02040503050406030204" pitchFamily="18" charset="0"/>
                              </a:rPr>
                              <m:t>2</m:t>
                            </m:r>
                          </m:sub>
                        </m:sSub>
                        <m:r>
                          <m:rPr>
                            <m:nor/>
                          </m:rPr>
                          <a:rPr lang="en-US" sz="2400" b="0" i="0" dirty="0" smtClean="0"/>
                          <m:t>b</m:t>
                        </m:r>
                      </m:num>
                      <m:den>
                        <m:r>
                          <m:rPr>
                            <m:nor/>
                          </m:rPr>
                          <a:rPr lang="en-US" sz="2400" dirty="0"/>
                          <m:t>(</m:t>
                        </m:r>
                        <m:r>
                          <m:rPr>
                            <m:nor/>
                          </m:rPr>
                          <a:rPr lang="en-US" sz="2400" b="0" i="0" dirty="0" smtClean="0"/>
                          <m:t>a</m:t>
                        </m:r>
                        <m:r>
                          <m:rPr>
                            <m:nor/>
                          </m:rPr>
                          <a:rPr lang="en-US" sz="2400" dirty="0"/>
                          <m:t> </m:t>
                        </m:r>
                        <m:r>
                          <m:rPr>
                            <m:nor/>
                          </m:rPr>
                          <a:rPr lang="en-US" sz="2400" b="0" i="0" dirty="0" smtClean="0"/>
                          <m:t>+</m:t>
                        </m:r>
                        <m:r>
                          <m:rPr>
                            <m:nor/>
                          </m:rPr>
                          <a:rPr lang="en-US" sz="2400" dirty="0"/>
                          <m:t> </m:t>
                        </m:r>
                        <m:r>
                          <m:rPr>
                            <m:nor/>
                          </m:rPr>
                          <a:rPr lang="en-US" sz="2400" b="0" i="0" dirty="0" smtClean="0"/>
                          <m:t>b</m:t>
                        </m:r>
                        <m:r>
                          <m:rPr>
                            <m:nor/>
                          </m:rPr>
                          <a:rPr lang="en-US" sz="2400" dirty="0"/>
                          <m:t>)</m:t>
                        </m:r>
                      </m:den>
                    </m:f>
                  </m:oMath>
                </a14:m>
                <a:r>
                  <a:rPr lang="en-US" sz="2400" dirty="0"/>
                  <a:t> seconds</a:t>
                </a:r>
              </a:p>
              <a:p>
                <a:pPr algn="just"/>
                <a:r>
                  <a:rPr lang="en-US" sz="2400" dirty="0"/>
                  <a:t>a : b</a:t>
                </a:r>
                <a14:m>
                  <m:oMath xmlns:m="http://schemas.openxmlformats.org/officeDocument/2006/math">
                    <m:r>
                      <a:rPr lang="en-US" sz="2400" b="0" i="0" dirty="0" smtClean="0">
                        <a:latin typeface="Cambria Math" panose="02040503050406030204" pitchFamily="18" charset="0"/>
                      </a:rPr>
                      <m:t> </m:t>
                    </m:r>
                    <m:r>
                      <m:rPr>
                        <m:nor/>
                      </m:rPr>
                      <a:rPr lang="en-US" sz="2400" b="0" i="0" dirty="0" smtClean="0"/>
                      <m:t>= </m:t>
                    </m:r>
                  </m:oMath>
                </a14:m>
                <a:r>
                  <a:rPr lang="en-US" sz="2400" dirty="0"/>
                  <a:t>9 : 16,</a:t>
                </a:r>
                <a:r>
                  <a:rPr lang="en-US" sz="2400" dirty="0">
                    <a:solidFill>
                      <a:srgbClr val="836967"/>
                    </a:solidFill>
                  </a:rPr>
                  <a:t>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b="0" i="0" dirty="0" smtClean="0"/>
                      <m:t>= 10 </m:t>
                    </m:r>
                    <m:r>
                      <m:rPr>
                        <m:nor/>
                      </m:rPr>
                      <a:rPr lang="en-US" sz="2400" b="0" i="0" dirty="0" smtClean="0"/>
                      <m:t>seconds</m:t>
                    </m:r>
                    <m:r>
                      <m:rPr>
                        <m:nor/>
                      </m:rPr>
                      <a:rPr lang="en-US" sz="2400" b="0" i="0" dirty="0" smtClean="0"/>
                      <m:t>, </m:t>
                    </m:r>
                    <m:r>
                      <m:rPr>
                        <m:nor/>
                      </m:rPr>
                      <a:rPr lang="en-US" sz="2400" b="0" i="0" dirty="0" smtClean="0"/>
                      <m:t>and</m:t>
                    </m:r>
                    <m:r>
                      <m:rPr>
                        <m:nor/>
                      </m:rPr>
                      <a:rPr lang="en-US" sz="2400" b="0" i="0" dirty="0" smtClean="0"/>
                      <m:t> </m:t>
                    </m:r>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b="0" i="0" dirty="0" smtClean="0"/>
                      <m:t>=</m:t>
                    </m:r>
                  </m:oMath>
                </a14:m>
                <a:r>
                  <a:rPr lang="en-US" sz="2400" dirty="0"/>
                  <a:t> 5 seconds</a:t>
                </a:r>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211112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sz="2400" dirty="0"/>
                  <a:t>a : b</a:t>
                </a:r>
                <a14:m>
                  <m:oMath xmlns:m="http://schemas.openxmlformats.org/officeDocument/2006/math">
                    <m:r>
                      <a:rPr lang="en-US" sz="2400" b="0" i="0" dirty="0" smtClean="0">
                        <a:latin typeface="Cambria Math" panose="02040503050406030204" pitchFamily="18" charset="0"/>
                      </a:rPr>
                      <m:t> </m:t>
                    </m:r>
                    <m:r>
                      <m:rPr>
                        <m:nor/>
                      </m:rPr>
                      <a:rPr lang="en-US" sz="2400" b="0" i="0" dirty="0" smtClean="0"/>
                      <m:t>= 9</m:t>
                    </m:r>
                  </m:oMath>
                </a14:m>
                <a:r>
                  <a:rPr lang="en-US" sz="2400" dirty="0"/>
                  <a:t> : 16,</a:t>
                </a:r>
                <a:r>
                  <a:rPr lang="en-US" sz="2400" dirty="0">
                    <a:solidFill>
                      <a:srgbClr val="836967"/>
                    </a:solidFill>
                  </a:rPr>
                  <a:t>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b="0" i="0" dirty="0" smtClean="0"/>
                      <m:t>= 10 </m:t>
                    </m:r>
                    <m:r>
                      <m:rPr>
                        <m:nor/>
                      </m:rPr>
                      <a:rPr lang="en-US" sz="2400" b="0" i="0" dirty="0" smtClean="0"/>
                      <m:t>seconds</m:t>
                    </m:r>
                    <m:r>
                      <m:rPr>
                        <m:nor/>
                      </m:rPr>
                      <a:rPr lang="en-US" sz="2400" b="0" i="0" dirty="0" smtClean="0"/>
                      <m:t>, </m:t>
                    </m:r>
                    <m:r>
                      <m:rPr>
                        <m:nor/>
                      </m:rPr>
                      <a:rPr lang="en-US" sz="2400" b="0" i="0" dirty="0" smtClean="0"/>
                      <m:t>and</m:t>
                    </m:r>
                    <m:r>
                      <m:rPr>
                        <m:nor/>
                      </m:rPr>
                      <a:rPr lang="en-US" sz="2400" b="0" i="0" dirty="0" smtClean="0"/>
                      <m:t> </m:t>
                    </m:r>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b="0" i="0" dirty="0" smtClean="0"/>
                      <m:t>=</m:t>
                    </m:r>
                  </m:oMath>
                </a14:m>
                <a:r>
                  <a:rPr lang="en-US" sz="2400" dirty="0"/>
                  <a:t> 5 seconds</a:t>
                </a:r>
              </a:p>
              <a:p>
                <a:pPr algn="just"/>
                <a:r>
                  <a:rPr lang="en-US" sz="2400" dirty="0"/>
                  <a:t>Time taken by two trains to cross each other completely </a:t>
                </a:r>
              </a:p>
              <a:p>
                <a:pPr marL="0" indent="0" algn="just">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dirty="0"/>
                          <m:t>a</m:t>
                        </m:r>
                        <m:r>
                          <m:rPr>
                            <m:nor/>
                          </m:rPr>
                          <a:rPr lang="en-US" sz="2400" dirty="0"/>
                          <m:t> +</m:t>
                        </m:r>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m:t>b</m:t>
                        </m:r>
                      </m:num>
                      <m:den>
                        <m:r>
                          <m:rPr>
                            <m:nor/>
                          </m:rPr>
                          <a:rPr lang="en-US" sz="2400" dirty="0"/>
                          <m:t>(</m:t>
                        </m:r>
                        <m:r>
                          <m:rPr>
                            <m:nor/>
                          </m:rPr>
                          <a:rPr lang="en-US" sz="2400" dirty="0"/>
                          <m:t>a</m:t>
                        </m:r>
                        <m:r>
                          <m:rPr>
                            <m:nor/>
                          </m:rPr>
                          <a:rPr lang="en-US" sz="2400" dirty="0"/>
                          <m:t> + </m:t>
                        </m:r>
                        <m:r>
                          <m:rPr>
                            <m:nor/>
                          </m:rPr>
                          <a:rPr lang="en-US" sz="2400" dirty="0"/>
                          <m:t>b</m:t>
                        </m:r>
                        <m:r>
                          <m:rPr>
                            <m:nor/>
                          </m:rPr>
                          <a:rPr lang="en-US" sz="2400" dirty="0"/>
                          <m:t>)</m:t>
                        </m:r>
                      </m:den>
                    </m:f>
                  </m:oMath>
                </a14:m>
                <a:r>
                  <a:rPr lang="en-US" sz="2400" dirty="0"/>
                  <a:t> seconds</a:t>
                </a:r>
              </a:p>
              <a:p>
                <a:pPr marL="0" indent="0" algn="just">
                  <a:buNone/>
                </a:pPr>
                <a:r>
                  <a:rPr lang="en-US" sz="2800" dirty="0"/>
                  <a:t>			= </a:t>
                </a:r>
                <a14:m>
                  <m:oMath xmlns:m="http://schemas.openxmlformats.org/officeDocument/2006/math">
                    <m:f>
                      <m:fPr>
                        <m:ctrlPr>
                          <a:rPr lang="en-US" sz="2800" i="1">
                            <a:solidFill>
                              <a:srgbClr val="836967"/>
                            </a:solidFill>
                            <a:latin typeface="Cambria Math" panose="02040503050406030204" pitchFamily="18" charset="0"/>
                          </a:rPr>
                        </m:ctrlPr>
                      </m:fPr>
                      <m:num>
                        <m:r>
                          <m:rPr>
                            <m:nor/>
                          </m:rPr>
                          <a:rPr lang="en-US" sz="2800" b="0" i="0" dirty="0" smtClean="0"/>
                          <m:t>(</m:t>
                        </m:r>
                        <m:r>
                          <m:rPr>
                            <m:nor/>
                          </m:rPr>
                          <a:rPr lang="en-US" sz="2800" dirty="0"/>
                          <m:t>10</m:t>
                        </m:r>
                        <m:r>
                          <m:rPr>
                            <m:nor/>
                          </m:rPr>
                          <a:rPr lang="en-US" sz="2800" b="0" i="0" dirty="0" smtClean="0"/>
                          <m:t>)(9)</m:t>
                        </m:r>
                        <m:r>
                          <m:rPr>
                            <m:nor/>
                          </m:rPr>
                          <a:rPr lang="en-US" sz="2800" dirty="0"/>
                          <m:t> +(</m:t>
                        </m:r>
                        <m:r>
                          <m:rPr>
                            <m:nor/>
                          </m:rPr>
                          <a:rPr lang="en-US" sz="2800" b="0" i="0" dirty="0" smtClean="0"/>
                          <m:t>5</m:t>
                        </m:r>
                        <m:r>
                          <m:rPr>
                            <m:nor/>
                          </m:rPr>
                          <a:rPr lang="en-US" sz="2800" dirty="0"/>
                          <m:t>)(</m:t>
                        </m:r>
                        <m:r>
                          <m:rPr>
                            <m:nor/>
                          </m:rPr>
                          <a:rPr lang="en-US" sz="2800" b="0" i="0" dirty="0" smtClean="0"/>
                          <m:t>16</m:t>
                        </m:r>
                        <m:r>
                          <m:rPr>
                            <m:nor/>
                          </m:rPr>
                          <a:rPr lang="en-US" sz="2800" dirty="0"/>
                          <m:t>)</m:t>
                        </m:r>
                      </m:num>
                      <m:den>
                        <m:r>
                          <m:rPr>
                            <m:nor/>
                          </m:rPr>
                          <a:rPr lang="en-US" sz="2800" dirty="0"/>
                          <m:t>(</m:t>
                        </m:r>
                        <m:r>
                          <m:rPr>
                            <m:nor/>
                          </m:rPr>
                          <a:rPr lang="en-US" sz="2800" b="0" i="0" dirty="0" smtClean="0"/>
                          <m:t>9</m:t>
                        </m:r>
                        <m:r>
                          <m:rPr>
                            <m:nor/>
                          </m:rPr>
                          <a:rPr lang="en-US" sz="2800" dirty="0"/>
                          <m:t> + </m:t>
                        </m:r>
                        <m:r>
                          <m:rPr>
                            <m:nor/>
                          </m:rPr>
                          <a:rPr lang="en-US" sz="2800" b="0" i="0" dirty="0" smtClean="0"/>
                          <m:t>16</m:t>
                        </m:r>
                        <m:r>
                          <m:rPr>
                            <m:nor/>
                          </m:rPr>
                          <a:rPr lang="en-US" sz="2800" dirty="0"/>
                          <m:t>)</m:t>
                        </m:r>
                      </m:den>
                    </m:f>
                  </m:oMath>
                </a14:m>
                <a:r>
                  <a:rPr lang="en-US" sz="2800" dirty="0"/>
                  <a:t> seconds</a:t>
                </a:r>
              </a:p>
              <a:p>
                <a:pPr marL="0" indent="0" algn="just">
                  <a:buNone/>
                </a:pPr>
                <a:r>
                  <a:rPr lang="en-US" sz="2800" dirty="0"/>
                  <a:t>			= </a:t>
                </a:r>
                <a14:m>
                  <m:oMath xmlns:m="http://schemas.openxmlformats.org/officeDocument/2006/math">
                    <m:f>
                      <m:fPr>
                        <m:ctrlPr>
                          <a:rPr lang="en-US" sz="2800" i="1">
                            <a:solidFill>
                              <a:srgbClr val="836967"/>
                            </a:solidFill>
                            <a:latin typeface="Cambria Math" panose="02040503050406030204" pitchFamily="18" charset="0"/>
                          </a:rPr>
                        </m:ctrlPr>
                      </m:fPr>
                      <m:num>
                        <m:r>
                          <m:rPr>
                            <m:nor/>
                          </m:rPr>
                          <a:rPr lang="en-US" sz="2800" dirty="0"/>
                          <m:t>9</m:t>
                        </m:r>
                        <m:r>
                          <m:rPr>
                            <m:nor/>
                          </m:rPr>
                          <a:rPr lang="en-US" sz="2800" b="0" i="0" dirty="0" smtClean="0"/>
                          <m:t>0</m:t>
                        </m:r>
                        <m:r>
                          <m:rPr>
                            <m:nor/>
                          </m:rPr>
                          <a:rPr lang="en-US" sz="2800" dirty="0"/>
                          <m:t> +</m:t>
                        </m:r>
                        <m:r>
                          <m:rPr>
                            <m:nor/>
                          </m:rPr>
                          <a:rPr lang="en-US" sz="2800" b="0" i="0" dirty="0" smtClean="0"/>
                          <m:t> 80</m:t>
                        </m:r>
                      </m:num>
                      <m:den>
                        <m:r>
                          <m:rPr>
                            <m:nor/>
                          </m:rPr>
                          <a:rPr lang="en-US" sz="2800" b="0" i="0" dirty="0" smtClean="0"/>
                          <m:t>25</m:t>
                        </m:r>
                      </m:den>
                    </m:f>
                  </m:oMath>
                </a14:m>
                <a:r>
                  <a:rPr lang="en-US" sz="2800" dirty="0"/>
                  <a:t> seconds = </a:t>
                </a:r>
                <a14:m>
                  <m:oMath xmlns:m="http://schemas.openxmlformats.org/officeDocument/2006/math">
                    <m:f>
                      <m:fPr>
                        <m:ctrlPr>
                          <a:rPr lang="en-US" sz="2800" i="1">
                            <a:solidFill>
                              <a:srgbClr val="836967"/>
                            </a:solidFill>
                            <a:latin typeface="Cambria Math" panose="02040503050406030204" pitchFamily="18" charset="0"/>
                          </a:rPr>
                        </m:ctrlPr>
                      </m:fPr>
                      <m:num>
                        <m:r>
                          <m:rPr>
                            <m:nor/>
                          </m:rPr>
                          <a:rPr lang="en-US" sz="2800" dirty="0"/>
                          <m:t>170</m:t>
                        </m:r>
                      </m:num>
                      <m:den>
                        <m:r>
                          <m:rPr>
                            <m:nor/>
                          </m:rPr>
                          <a:rPr lang="en-US" sz="2800" dirty="0"/>
                          <m:t>25</m:t>
                        </m:r>
                      </m:den>
                    </m:f>
                  </m:oMath>
                </a14:m>
                <a:r>
                  <a:rPr lang="en-US" sz="2800" dirty="0"/>
                  <a:t> seconds</a:t>
                </a:r>
              </a:p>
              <a:p>
                <a:pPr marL="0" indent="0" algn="just">
                  <a:buNone/>
                </a:pPr>
                <a:r>
                  <a:rPr lang="en-US" sz="2800" dirty="0"/>
                  <a:t>			= </a:t>
                </a:r>
                <a14:m>
                  <m:oMath xmlns:m="http://schemas.openxmlformats.org/officeDocument/2006/math">
                    <m:r>
                      <m:rPr>
                        <m:nor/>
                      </m:rPr>
                      <a:rPr lang="en-US" sz="2800" b="0" i="0" dirty="0" smtClean="0"/>
                      <m:t>6.8</m:t>
                    </m:r>
                    <m:r>
                      <a:rPr lang="en-US" sz="2800" i="1" dirty="0">
                        <a:latin typeface="Cambria Math" panose="02040503050406030204" pitchFamily="18" charset="0"/>
                      </a:rPr>
                      <m:t> </m:t>
                    </m:r>
                  </m:oMath>
                </a14:m>
                <a:r>
                  <a:rPr lang="en-US" sz="2800" dirty="0"/>
                  <a:t>seconds</a:t>
                </a: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b="-180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2F9633F-8B66-A6AF-9563-FDDD48611D01}"/>
              </a:ext>
            </a:extLst>
          </p:cNvPr>
          <p:cNvCxnSpPr>
            <a:cxnSpLocks/>
          </p:cNvCxnSpPr>
          <p:nvPr/>
        </p:nvCxnSpPr>
        <p:spPr>
          <a:xfrm flipV="1">
            <a:off x="6327094" y="5269323"/>
            <a:ext cx="592207" cy="149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CD2A7CF-D14A-7732-783A-F6BBF0C6D3F9}"/>
              </a:ext>
            </a:extLst>
          </p:cNvPr>
          <p:cNvCxnSpPr>
            <a:cxnSpLocks/>
          </p:cNvCxnSpPr>
          <p:nvPr/>
        </p:nvCxnSpPr>
        <p:spPr>
          <a:xfrm flipV="1">
            <a:off x="6337032" y="5632174"/>
            <a:ext cx="592208" cy="1590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35845EC-C046-918B-9F42-0656A124244F}"/>
              </a:ext>
            </a:extLst>
          </p:cNvPr>
          <p:cNvSpPr txBox="1"/>
          <p:nvPr/>
        </p:nvSpPr>
        <p:spPr>
          <a:xfrm>
            <a:off x="6327094" y="4727299"/>
            <a:ext cx="592207" cy="369332"/>
          </a:xfrm>
          <a:prstGeom prst="rect">
            <a:avLst/>
          </a:prstGeom>
          <a:noFill/>
        </p:spPr>
        <p:txBody>
          <a:bodyPr wrap="square" rtlCol="0">
            <a:spAutoFit/>
          </a:bodyPr>
          <a:lstStyle/>
          <a:p>
            <a:r>
              <a:rPr lang="en-US" dirty="0"/>
              <a:t>6.8</a:t>
            </a:r>
            <a:endParaRPr lang="en-IN" dirty="0"/>
          </a:p>
        </p:txBody>
      </p:sp>
    </p:spTree>
    <p:extLst>
      <p:ext uri="{BB962C8B-B14F-4D97-AF65-F5344CB8AC3E}">
        <p14:creationId xmlns:p14="http://schemas.microsoft.com/office/powerpoint/2010/main" val="1095799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sz="2400" dirty="0"/>
                  <a:t>If two trains, A &amp; B, start at the same time from two points P and Q towards each other, and after crossing they take 9 and 25 hours in reaching Q and P respectively. Find the ratio of their speed.</a:t>
                </a:r>
              </a:p>
              <a:p>
                <a:pPr>
                  <a:lnSpc>
                    <a:spcPct val="110000"/>
                  </a:lnSpc>
                </a:pP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a</m:t>
                        </m:r>
                        <m:r>
                          <m:rPr>
                            <m:nor/>
                          </m:rPr>
                          <a:rPr lang="en-US" sz="2400" dirty="0"/>
                          <m:t> (</m:t>
                        </m:r>
                        <m:r>
                          <m:rPr>
                            <m:nor/>
                          </m:rPr>
                          <a:rPr lang="en-US" sz="2400" dirty="0"/>
                          <m:t>i</m:t>
                        </m:r>
                        <m:r>
                          <m:rPr>
                            <m:nor/>
                          </m:rPr>
                          <a:rPr lang="en-US" sz="2400" dirty="0"/>
                          <m:t>.</m:t>
                        </m:r>
                        <m:r>
                          <m:rPr>
                            <m:nor/>
                          </m:rPr>
                          <a:rPr lang="en-US" sz="2400" dirty="0"/>
                          <m:t>e</m:t>
                        </m:r>
                        <m:r>
                          <m:rPr>
                            <m:nor/>
                          </m:rPr>
                          <a:rPr lang="en-US" sz="2400" dirty="0"/>
                          <m:t>., </m:t>
                        </m:r>
                        <m:r>
                          <m:rPr>
                            <m:nor/>
                          </m:rPr>
                          <a:rPr lang="en-US" sz="2400" dirty="0"/>
                          <m:t>Speed</m:t>
                        </m:r>
                        <m:r>
                          <m:rPr>
                            <m:nor/>
                          </m:rPr>
                          <a:rPr lang="en-US" sz="2400" dirty="0"/>
                          <m:t> </m:t>
                        </m:r>
                        <m:r>
                          <m:rPr>
                            <m:nor/>
                          </m:rPr>
                          <a:rPr lang="en-US" sz="2400" dirty="0"/>
                          <m:t>of</m:t>
                        </m:r>
                        <m:r>
                          <m:rPr>
                            <m:nor/>
                          </m:rPr>
                          <a:rPr lang="en-US" sz="2400" dirty="0"/>
                          <m:t> </m:t>
                        </m:r>
                        <m:r>
                          <m:rPr>
                            <m:nor/>
                          </m:rPr>
                          <a:rPr lang="en-IN" sz="2400"/>
                          <m:t>A</m:t>
                        </m:r>
                        <m:r>
                          <m:rPr>
                            <m:nor/>
                          </m:rPr>
                          <a:rPr lang="en-US" sz="2400" dirty="0"/>
                          <m:t>)</m:t>
                        </m:r>
                      </m:num>
                      <m:den>
                        <m:r>
                          <m:rPr>
                            <m:nor/>
                          </m:rPr>
                          <a:rPr lang="en-US" sz="2400" dirty="0"/>
                          <m:t>b</m:t>
                        </m:r>
                        <m:r>
                          <m:rPr>
                            <m:nor/>
                          </m:rPr>
                          <a:rPr lang="en-US" sz="2400" dirty="0"/>
                          <m:t>(</m:t>
                        </m:r>
                        <m:r>
                          <m:rPr>
                            <m:nor/>
                          </m:rPr>
                          <a:rPr lang="en-US" sz="2400" dirty="0"/>
                          <m:t>i</m:t>
                        </m:r>
                        <m:r>
                          <m:rPr>
                            <m:nor/>
                          </m:rPr>
                          <a:rPr lang="en-US" sz="2400" dirty="0"/>
                          <m:t>.</m:t>
                        </m:r>
                        <m:r>
                          <m:rPr>
                            <m:nor/>
                          </m:rPr>
                          <a:rPr lang="en-US" sz="2400" dirty="0"/>
                          <m:t>e</m:t>
                        </m:r>
                        <m:r>
                          <m:rPr>
                            <m:nor/>
                          </m:rPr>
                          <a:rPr lang="en-US" sz="2400" dirty="0"/>
                          <m:t>., </m:t>
                        </m:r>
                        <m:r>
                          <m:rPr>
                            <m:nor/>
                          </m:rPr>
                          <a:rPr lang="en-US" sz="2400" dirty="0"/>
                          <m:t>Speed</m:t>
                        </m:r>
                        <m:r>
                          <m:rPr>
                            <m:nor/>
                          </m:rPr>
                          <a:rPr lang="en-US" sz="2400" dirty="0"/>
                          <m:t> </m:t>
                        </m:r>
                        <m:r>
                          <m:rPr>
                            <m:nor/>
                          </m:rPr>
                          <a:rPr lang="en-US" sz="2400" dirty="0"/>
                          <m:t>of</m:t>
                        </m:r>
                        <m:r>
                          <m:rPr>
                            <m:nor/>
                          </m:rPr>
                          <a:rPr lang="en-US" sz="2400" dirty="0"/>
                          <m:t> </m:t>
                        </m:r>
                        <m:r>
                          <m:rPr>
                            <m:nor/>
                          </m:rPr>
                          <a:rPr lang="en-US" sz="2400"/>
                          <m:t>B</m:t>
                        </m:r>
                        <m:r>
                          <m:rPr>
                            <m:nor/>
                          </m:rPr>
                          <a:rPr lang="en-US" sz="2400" dirty="0"/>
                          <m:t>)</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ad>
                          <m:radPr>
                            <m:degHide m:val="on"/>
                            <m:ctrlPr>
                              <a:rPr lang="en-US" sz="2400" i="1" dirty="0">
                                <a:solidFill>
                                  <a:srgbClr val="836967"/>
                                </a:solidFill>
                                <a:latin typeface="Cambria Math" panose="02040503050406030204" pitchFamily="18" charset="0"/>
                              </a:rPr>
                            </m:ctrlPr>
                          </m:radPr>
                          <m:deg/>
                          <m:e>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𝑡</m:t>
                                </m:r>
                              </m:e>
                              <m:sub>
                                <m:r>
                                  <a:rPr lang="en-US" sz="2400" dirty="0">
                                    <a:latin typeface="Cambria Math" panose="02040503050406030204" pitchFamily="18" charset="0"/>
                                  </a:rPr>
                                  <m:t>2</m:t>
                                </m:r>
                              </m:sub>
                            </m:sSub>
                          </m:e>
                        </m:rad>
                      </m:num>
                      <m:den>
                        <m:rad>
                          <m:radPr>
                            <m:degHide m:val="on"/>
                            <m:ctrlPr>
                              <a:rPr lang="en-US" sz="2400" i="1" dirty="0">
                                <a:solidFill>
                                  <a:srgbClr val="836967"/>
                                </a:solidFill>
                                <a:latin typeface="Cambria Math" panose="02040503050406030204" pitchFamily="18" charset="0"/>
                              </a:rPr>
                            </m:ctrlPr>
                          </m:radPr>
                          <m:deg/>
                          <m:e>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𝑡</m:t>
                                </m:r>
                              </m:e>
                              <m:sub>
                                <m:r>
                                  <a:rPr lang="en-US" sz="2400" dirty="0">
                                    <a:latin typeface="Cambria Math" panose="02040503050406030204" pitchFamily="18" charset="0"/>
                                  </a:rPr>
                                  <m:t>1</m:t>
                                </m:r>
                              </m:sub>
                            </m:sSub>
                          </m:e>
                        </m:rad>
                      </m:den>
                    </m:f>
                    <m:r>
                      <a:rPr lang="en-US" sz="2400" i="1" dirty="0">
                        <a:latin typeface="Cambria Math" panose="02040503050406030204" pitchFamily="18" charset="0"/>
                      </a:rPr>
                      <m:t> </m:t>
                    </m:r>
                  </m:oMath>
                </a14:m>
                <a:endParaRPr lang="en-US" sz="2400" i="1" dirty="0">
                  <a:latin typeface="Cambria Math" panose="02040503050406030204" pitchFamily="18" charset="0"/>
                </a:endParaRPr>
              </a:p>
              <a:p>
                <a:pPr algn="just">
                  <a:lnSpc>
                    <a:spcPct val="120000"/>
                  </a:lnSpc>
                </a:pPr>
                <a14:m>
                  <m:oMath xmlns:m="http://schemas.openxmlformats.org/officeDocument/2006/math">
                    <m:sSub>
                      <m:sSubPr>
                        <m:ctrlPr>
                          <a:rPr lang="en-US" sz="2400" i="1" dirty="0" smtClean="0">
                            <a:solidFill>
                              <a:srgbClr val="836967"/>
                            </a:solidFill>
                            <a:latin typeface="Cambria Math" panose="02040503050406030204" pitchFamily="18" charset="0"/>
                          </a:rPr>
                        </m:ctrlPr>
                      </m:sSubPr>
                      <m:e>
                        <m:r>
                          <m:rPr>
                            <m:nor/>
                          </m:rPr>
                          <a:rPr lang="en-US" sz="2400" b="0" i="0" dirty="0" smtClean="0"/>
                          <m:t>t</m:t>
                        </m:r>
                      </m:e>
                      <m:sub>
                        <m:r>
                          <a:rPr lang="en-US" sz="2400" b="0" i="0" dirty="0" smtClean="0">
                            <a:latin typeface="Cambria Math" panose="02040503050406030204" pitchFamily="18" charset="0"/>
                          </a:rPr>
                          <m:t>1</m:t>
                        </m:r>
                      </m:sub>
                    </m:sSub>
                  </m:oMath>
                </a14:m>
                <a:r>
                  <a:rPr lang="en-US" sz="2400" dirty="0"/>
                  <a:t>= 9 hours  &amp;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b="0" i="0" dirty="0" smtClean="0"/>
                          <m:t>t</m:t>
                        </m:r>
                      </m:e>
                      <m:sub>
                        <m:r>
                          <a:rPr lang="en-US" sz="2400" b="0" i="0" dirty="0" smtClean="0">
                            <a:latin typeface="Cambria Math" panose="02040503050406030204" pitchFamily="18" charset="0"/>
                          </a:rPr>
                          <m:t>2</m:t>
                        </m:r>
                      </m:sub>
                    </m:sSub>
                    <m:r>
                      <a:rPr lang="en-US" sz="2400" i="1" dirty="0">
                        <a:latin typeface="Cambria Math" panose="02040503050406030204" pitchFamily="18" charset="0"/>
                      </a:rPr>
                      <m:t> </m:t>
                    </m:r>
                  </m:oMath>
                </a14:m>
                <a:r>
                  <a:rPr lang="en-US" sz="2400" dirty="0"/>
                  <a:t>= 25 hours </a:t>
                </a:r>
              </a:p>
              <a:p>
                <a:pPr marL="0" indent="0" algn="just">
                  <a:lnSpc>
                    <a:spcPct val="110000"/>
                  </a:lnSpc>
                  <a:buNone/>
                </a:pPr>
                <a:r>
                  <a:rPr lang="en-US" sz="2400" dirty="0">
                    <a:solidFill>
                      <a:srgbClr val="836967"/>
                    </a:solidFill>
                  </a:rPr>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a</m:t>
                        </m:r>
                        <m:r>
                          <m:rPr>
                            <m:nor/>
                          </m:rPr>
                          <a:rPr lang="en-US" sz="2400" dirty="0"/>
                          <m:t> (</m:t>
                        </m:r>
                        <m:r>
                          <m:rPr>
                            <m:nor/>
                          </m:rPr>
                          <a:rPr lang="en-US" sz="2400" dirty="0"/>
                          <m:t>i</m:t>
                        </m:r>
                        <m:r>
                          <m:rPr>
                            <m:nor/>
                          </m:rPr>
                          <a:rPr lang="en-US" sz="2400" dirty="0"/>
                          <m:t>.</m:t>
                        </m:r>
                        <m:r>
                          <m:rPr>
                            <m:nor/>
                          </m:rPr>
                          <a:rPr lang="en-US" sz="2400" dirty="0"/>
                          <m:t>e</m:t>
                        </m:r>
                        <m:r>
                          <m:rPr>
                            <m:nor/>
                          </m:rPr>
                          <a:rPr lang="en-US" sz="2400" dirty="0"/>
                          <m:t>., </m:t>
                        </m:r>
                        <m:r>
                          <m:rPr>
                            <m:nor/>
                          </m:rPr>
                          <a:rPr lang="en-US" sz="2400" dirty="0"/>
                          <m:t>Speed</m:t>
                        </m:r>
                        <m:r>
                          <m:rPr>
                            <m:nor/>
                          </m:rPr>
                          <a:rPr lang="en-US" sz="2400" dirty="0"/>
                          <m:t> </m:t>
                        </m:r>
                        <m:r>
                          <m:rPr>
                            <m:nor/>
                          </m:rPr>
                          <a:rPr lang="en-US" sz="2400" dirty="0"/>
                          <m:t>of</m:t>
                        </m:r>
                        <m:r>
                          <m:rPr>
                            <m:nor/>
                          </m:rPr>
                          <a:rPr lang="en-US" sz="2400" dirty="0"/>
                          <m:t> </m:t>
                        </m:r>
                        <m:r>
                          <m:rPr>
                            <m:nor/>
                          </m:rPr>
                          <a:rPr lang="en-IN" sz="2400"/>
                          <m:t>A</m:t>
                        </m:r>
                        <m:r>
                          <m:rPr>
                            <m:nor/>
                          </m:rPr>
                          <a:rPr lang="en-US" sz="2400" dirty="0"/>
                          <m:t>)</m:t>
                        </m:r>
                      </m:num>
                      <m:den>
                        <m:r>
                          <m:rPr>
                            <m:nor/>
                          </m:rPr>
                          <a:rPr lang="en-US" sz="2400" dirty="0"/>
                          <m:t>b</m:t>
                        </m:r>
                        <m:r>
                          <m:rPr>
                            <m:nor/>
                          </m:rPr>
                          <a:rPr lang="en-US" sz="2400" dirty="0"/>
                          <m:t>(</m:t>
                        </m:r>
                        <m:r>
                          <m:rPr>
                            <m:nor/>
                          </m:rPr>
                          <a:rPr lang="en-US" sz="2400" dirty="0"/>
                          <m:t>i</m:t>
                        </m:r>
                        <m:r>
                          <m:rPr>
                            <m:nor/>
                          </m:rPr>
                          <a:rPr lang="en-US" sz="2400" dirty="0"/>
                          <m:t>.</m:t>
                        </m:r>
                        <m:r>
                          <m:rPr>
                            <m:nor/>
                          </m:rPr>
                          <a:rPr lang="en-US" sz="2400" dirty="0"/>
                          <m:t>e</m:t>
                        </m:r>
                        <m:r>
                          <m:rPr>
                            <m:nor/>
                          </m:rPr>
                          <a:rPr lang="en-US" sz="2400" dirty="0"/>
                          <m:t>., </m:t>
                        </m:r>
                        <m:r>
                          <m:rPr>
                            <m:nor/>
                          </m:rPr>
                          <a:rPr lang="en-US" sz="2400" dirty="0"/>
                          <m:t>Speed</m:t>
                        </m:r>
                        <m:r>
                          <m:rPr>
                            <m:nor/>
                          </m:rPr>
                          <a:rPr lang="en-US" sz="2400" dirty="0"/>
                          <m:t> </m:t>
                        </m:r>
                        <m:r>
                          <m:rPr>
                            <m:nor/>
                          </m:rPr>
                          <a:rPr lang="en-US" sz="2400" dirty="0"/>
                          <m:t>of</m:t>
                        </m:r>
                        <m:r>
                          <m:rPr>
                            <m:nor/>
                          </m:rPr>
                          <a:rPr lang="en-US" sz="2400" dirty="0"/>
                          <m:t> </m:t>
                        </m:r>
                        <m:r>
                          <m:rPr>
                            <m:nor/>
                          </m:rPr>
                          <a:rPr lang="en-US" sz="2400"/>
                          <m:t>B</m:t>
                        </m:r>
                        <m:r>
                          <m:rPr>
                            <m:nor/>
                          </m:rPr>
                          <a:rPr lang="en-US" sz="2400" dirty="0"/>
                          <m:t>)</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ad>
                          <m:radPr>
                            <m:degHide m:val="on"/>
                            <m:ctrlPr>
                              <a:rPr lang="en-US" sz="2400" i="1" dirty="0">
                                <a:solidFill>
                                  <a:srgbClr val="836967"/>
                                </a:solidFill>
                                <a:latin typeface="Cambria Math" panose="02040503050406030204" pitchFamily="18" charset="0"/>
                              </a:rPr>
                            </m:ctrlPr>
                          </m:radPr>
                          <m:deg/>
                          <m:e>
                            <m:r>
                              <m:rPr>
                                <m:nor/>
                              </m:rPr>
                              <a:rPr lang="en-US" sz="2400" dirty="0"/>
                              <m:t>25</m:t>
                            </m:r>
                          </m:e>
                        </m:rad>
                      </m:num>
                      <m:den>
                        <m:rad>
                          <m:radPr>
                            <m:degHide m:val="on"/>
                            <m:ctrlPr>
                              <a:rPr lang="en-US" sz="2400" i="1" dirty="0">
                                <a:solidFill>
                                  <a:srgbClr val="836967"/>
                                </a:solidFill>
                                <a:latin typeface="Cambria Math" panose="02040503050406030204" pitchFamily="18" charset="0"/>
                              </a:rPr>
                            </m:ctrlPr>
                          </m:radPr>
                          <m:deg/>
                          <m:e>
                            <m:r>
                              <m:rPr>
                                <m:nor/>
                              </m:rPr>
                              <a:rPr lang="en-US" sz="2400" dirty="0"/>
                              <m:t>9</m:t>
                            </m:r>
                          </m:e>
                        </m:rad>
                      </m:den>
                    </m:f>
                  </m:oMath>
                </a14:m>
                <a:endParaRPr lang="en-IN" sz="2400" dirty="0"/>
              </a:p>
              <a:p>
                <a:pPr marL="0" indent="0" algn="just">
                  <a:lnSpc>
                    <a:spcPct val="110000"/>
                  </a:lnSpc>
                  <a:buNone/>
                </a:pPr>
                <a:r>
                  <a:rPr lang="en-US" sz="2400" dirty="0">
                    <a:solidFill>
                      <a:srgbClr val="836967"/>
                    </a:solidFill>
                  </a:rPr>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a</m:t>
                        </m:r>
                        <m:r>
                          <m:rPr>
                            <m:nor/>
                          </m:rPr>
                          <a:rPr lang="en-US" sz="2400" dirty="0"/>
                          <m:t> (</m:t>
                        </m:r>
                        <m:r>
                          <m:rPr>
                            <m:nor/>
                          </m:rPr>
                          <a:rPr lang="en-US" sz="2400" dirty="0"/>
                          <m:t>i</m:t>
                        </m:r>
                        <m:r>
                          <m:rPr>
                            <m:nor/>
                          </m:rPr>
                          <a:rPr lang="en-US" sz="2400" dirty="0"/>
                          <m:t>.</m:t>
                        </m:r>
                        <m:r>
                          <m:rPr>
                            <m:nor/>
                          </m:rPr>
                          <a:rPr lang="en-US" sz="2400" dirty="0"/>
                          <m:t>e</m:t>
                        </m:r>
                        <m:r>
                          <m:rPr>
                            <m:nor/>
                          </m:rPr>
                          <a:rPr lang="en-US" sz="2400" dirty="0"/>
                          <m:t>., </m:t>
                        </m:r>
                        <m:r>
                          <m:rPr>
                            <m:nor/>
                          </m:rPr>
                          <a:rPr lang="en-US" sz="2400" dirty="0"/>
                          <m:t>Speed</m:t>
                        </m:r>
                        <m:r>
                          <m:rPr>
                            <m:nor/>
                          </m:rPr>
                          <a:rPr lang="en-US" sz="2400" dirty="0"/>
                          <m:t> </m:t>
                        </m:r>
                        <m:r>
                          <m:rPr>
                            <m:nor/>
                          </m:rPr>
                          <a:rPr lang="en-US" sz="2400" dirty="0"/>
                          <m:t>of</m:t>
                        </m:r>
                        <m:r>
                          <m:rPr>
                            <m:nor/>
                          </m:rPr>
                          <a:rPr lang="en-US" sz="2400" dirty="0"/>
                          <m:t> </m:t>
                        </m:r>
                        <m:r>
                          <m:rPr>
                            <m:nor/>
                          </m:rPr>
                          <a:rPr lang="en-IN" sz="2400"/>
                          <m:t>A</m:t>
                        </m:r>
                        <m:r>
                          <m:rPr>
                            <m:nor/>
                          </m:rPr>
                          <a:rPr lang="en-US" sz="2400" dirty="0"/>
                          <m:t>)</m:t>
                        </m:r>
                      </m:num>
                      <m:den>
                        <m:r>
                          <m:rPr>
                            <m:nor/>
                          </m:rPr>
                          <a:rPr lang="en-US" sz="2400" dirty="0"/>
                          <m:t>b</m:t>
                        </m:r>
                        <m:r>
                          <m:rPr>
                            <m:nor/>
                          </m:rPr>
                          <a:rPr lang="en-US" sz="2400" dirty="0"/>
                          <m:t>(</m:t>
                        </m:r>
                        <m:r>
                          <m:rPr>
                            <m:nor/>
                          </m:rPr>
                          <a:rPr lang="en-US" sz="2400" dirty="0"/>
                          <m:t>i</m:t>
                        </m:r>
                        <m:r>
                          <m:rPr>
                            <m:nor/>
                          </m:rPr>
                          <a:rPr lang="en-US" sz="2400" dirty="0"/>
                          <m:t>.</m:t>
                        </m:r>
                        <m:r>
                          <m:rPr>
                            <m:nor/>
                          </m:rPr>
                          <a:rPr lang="en-US" sz="2400" dirty="0"/>
                          <m:t>e</m:t>
                        </m:r>
                        <m:r>
                          <m:rPr>
                            <m:nor/>
                          </m:rPr>
                          <a:rPr lang="en-US" sz="2400" dirty="0"/>
                          <m:t>., </m:t>
                        </m:r>
                        <m:r>
                          <m:rPr>
                            <m:nor/>
                          </m:rPr>
                          <a:rPr lang="en-US" sz="2400" dirty="0"/>
                          <m:t>Speed</m:t>
                        </m:r>
                        <m:r>
                          <m:rPr>
                            <m:nor/>
                          </m:rPr>
                          <a:rPr lang="en-US" sz="2400" dirty="0"/>
                          <m:t> </m:t>
                        </m:r>
                        <m:r>
                          <m:rPr>
                            <m:nor/>
                          </m:rPr>
                          <a:rPr lang="en-US" sz="2400" dirty="0"/>
                          <m:t>of</m:t>
                        </m:r>
                        <m:r>
                          <m:rPr>
                            <m:nor/>
                          </m:rPr>
                          <a:rPr lang="en-US" sz="2400" dirty="0"/>
                          <m:t> </m:t>
                        </m:r>
                        <m:r>
                          <m:rPr>
                            <m:nor/>
                          </m:rPr>
                          <a:rPr lang="en-US" sz="2400"/>
                          <m:t>B</m:t>
                        </m:r>
                        <m:r>
                          <m:rPr>
                            <m:nor/>
                          </m:rPr>
                          <a:rPr lang="en-US" sz="2400" dirty="0"/>
                          <m:t>)</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5</m:t>
                        </m:r>
                      </m:num>
                      <m:den>
                        <m:r>
                          <m:rPr>
                            <m:nor/>
                          </m:rPr>
                          <a:rPr lang="en-US" sz="2400" b="0" i="0" dirty="0" smtClean="0"/>
                          <m:t>3</m:t>
                        </m:r>
                      </m:den>
                    </m:f>
                  </m:oMath>
                </a14:m>
                <a:endParaRPr lang="en-IN" sz="2400" dirty="0"/>
              </a:p>
              <a:p>
                <a:pPr algn="just">
                  <a:lnSpc>
                    <a:spcPct val="120000"/>
                  </a:lnSpc>
                </a:pPr>
                <a:endParaRPr lang="en-IN" sz="2400" dirty="0"/>
              </a:p>
              <a:p>
                <a:pPr algn="just">
                  <a:lnSpc>
                    <a:spcPct val="120000"/>
                  </a:lnSpc>
                </a:pPr>
                <a:endParaRPr lang="en-IN" dirty="0"/>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1540658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A train travels a certain distance at a speed of 120 Km/h without stoppages and it covers the same distance at a speed of 100 Km/h with stoppages. Calculate the stoppage time per hour.</a:t>
                </a:r>
              </a:p>
              <a:p>
                <a:pPr algn="just"/>
                <a:r>
                  <a:rPr lang="en-IN" dirty="0"/>
                  <a:t>Stoppage Time/Hour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Difference</m:t>
                        </m:r>
                        <m:r>
                          <m:rPr>
                            <m:nor/>
                          </m:rPr>
                          <a:rPr lang="en-US" dirty="0"/>
                          <m:t> </m:t>
                        </m:r>
                        <m:r>
                          <m:rPr>
                            <m:nor/>
                          </m:rPr>
                          <a:rPr lang="en-US" dirty="0"/>
                          <m:t>of</m:t>
                        </m:r>
                        <m:r>
                          <m:rPr>
                            <m:nor/>
                          </m:rPr>
                          <a:rPr lang="en-US" dirty="0"/>
                          <m:t> </m:t>
                        </m:r>
                        <m:r>
                          <m:rPr>
                            <m:nor/>
                          </m:rPr>
                          <a:rPr lang="en-US" dirty="0"/>
                          <m:t>Speed</m:t>
                        </m:r>
                      </m:num>
                      <m:den>
                        <m:r>
                          <m:rPr>
                            <m:nor/>
                          </m:rPr>
                          <a:rPr lang="en-US" dirty="0"/>
                          <m:t>Speed</m:t>
                        </m:r>
                        <m:r>
                          <m:rPr>
                            <m:nor/>
                          </m:rPr>
                          <a:rPr lang="en-US" dirty="0"/>
                          <m:t> </m:t>
                        </m:r>
                        <m:r>
                          <m:rPr>
                            <m:nor/>
                          </m:rPr>
                          <a:rPr lang="en-US" dirty="0"/>
                          <m:t>without</m:t>
                        </m:r>
                        <m:r>
                          <m:rPr>
                            <m:nor/>
                          </m:rPr>
                          <a:rPr lang="en-US" dirty="0"/>
                          <m:t> </m:t>
                        </m:r>
                        <m:r>
                          <m:rPr>
                            <m:nor/>
                          </m:rPr>
                          <a:rPr lang="en-US" dirty="0"/>
                          <m:t>Stoppages</m:t>
                        </m:r>
                      </m:den>
                    </m:f>
                    <m:r>
                      <a:rPr lang="en-US" i="1" dirty="0">
                        <a:latin typeface="Cambria Math" panose="02040503050406030204" pitchFamily="18" charset="0"/>
                      </a:rPr>
                      <m:t> </m:t>
                    </m:r>
                  </m:oMath>
                </a14:m>
                <a:endParaRPr lang="en-US" dirty="0"/>
              </a:p>
              <a:p>
                <a:pPr marL="0" indent="0" algn="just">
                  <a:buNone/>
                </a:pPr>
                <a:r>
                  <a:rPr lang="en-US" dirty="0"/>
                  <a:t>				=</a:t>
                </a:r>
                <a:r>
                  <a:rPr lang="en-IN"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a</m:t>
                        </m:r>
                        <m:r>
                          <m:rPr>
                            <m:nor/>
                          </m:rPr>
                          <a:rPr lang="en-US" dirty="0"/>
                          <m:t> − </m:t>
                        </m:r>
                        <m:r>
                          <m:rPr>
                            <m:nor/>
                          </m:rPr>
                          <a:rPr lang="en-IN" dirty="0"/>
                          <m:t>b</m:t>
                        </m:r>
                      </m:num>
                      <m:den>
                        <m:r>
                          <m:rPr>
                            <m:nor/>
                          </m:rPr>
                          <a:rPr lang="en-IN" dirty="0"/>
                          <m:t>a</m:t>
                        </m:r>
                      </m:den>
                    </m:f>
                  </m:oMath>
                </a14:m>
                <a:r>
                  <a:rPr lang="en-US" dirty="0"/>
                  <a:t> hour</a:t>
                </a:r>
              </a:p>
              <a:p>
                <a:pPr algn="just"/>
                <a:r>
                  <a:rPr lang="en-US" dirty="0"/>
                  <a:t>a = 120 Km/h and b = 100 Km/h</a:t>
                </a:r>
              </a:p>
              <a:p>
                <a:pPr algn="just"/>
                <a:r>
                  <a:rPr lang="en-IN" dirty="0"/>
                  <a:t>Stoppage Time/Hour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120</m:t>
                        </m:r>
                        <m:r>
                          <m:rPr>
                            <m:nor/>
                          </m:rPr>
                          <a:rPr lang="en-US" dirty="0"/>
                          <m:t> − </m:t>
                        </m:r>
                        <m:r>
                          <m:rPr>
                            <m:nor/>
                          </m:rPr>
                          <a:rPr lang="en-US" b="0" i="0" dirty="0" smtClean="0"/>
                          <m:t>100</m:t>
                        </m:r>
                      </m:num>
                      <m:den>
                        <m:r>
                          <m:rPr>
                            <m:nor/>
                          </m:rPr>
                          <a:rPr lang="en-US" b="0" i="0" dirty="0" smtClean="0"/>
                          <m:t>120</m:t>
                        </m:r>
                      </m:den>
                    </m:f>
                  </m:oMath>
                </a14:m>
                <a:r>
                  <a:rPr lang="en-US" dirty="0"/>
                  <a:t> hour</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3691355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IN" dirty="0"/>
                  <a:t>Stoppage Time/Hour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120 − 100</m:t>
                        </m:r>
                      </m:num>
                      <m:den>
                        <m:r>
                          <m:rPr>
                            <m:nor/>
                          </m:rPr>
                          <a:rPr lang="en-US" dirty="0"/>
                          <m:t>120</m:t>
                        </m:r>
                      </m:den>
                    </m:f>
                  </m:oMath>
                </a14:m>
                <a:r>
                  <a:rPr lang="en-US" dirty="0"/>
                  <a:t> hour</a:t>
                </a:r>
              </a:p>
              <a:p>
                <a:pPr algn="just"/>
                <a:r>
                  <a:rPr lang="en-IN" dirty="0"/>
                  <a:t>Stoppage Time/Hour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20</m:t>
                        </m:r>
                      </m:num>
                      <m:den>
                        <m:r>
                          <m:rPr>
                            <m:nor/>
                          </m:rPr>
                          <a:rPr lang="en-US" dirty="0"/>
                          <m:t>120</m:t>
                        </m:r>
                      </m:den>
                    </m:f>
                  </m:oMath>
                </a14:m>
                <a:r>
                  <a:rPr lang="en-US" dirty="0"/>
                  <a:t> hour</a:t>
                </a:r>
              </a:p>
              <a:p>
                <a:pPr algn="just"/>
                <a:r>
                  <a:rPr lang="en-IN" dirty="0"/>
                  <a:t>Stoppage Time/Hour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6</m:t>
                        </m:r>
                      </m:den>
                    </m:f>
                  </m:oMath>
                </a14:m>
                <a:r>
                  <a:rPr lang="en-US" dirty="0"/>
                  <a:t> hour</a:t>
                </a:r>
              </a:p>
              <a:p>
                <a:pPr algn="just"/>
                <a:r>
                  <a:rPr lang="en-IN" dirty="0"/>
                  <a:t>Stoppage Time/Hour 	</a:t>
                </a:r>
                <a:r>
                  <a:rPr lang="en-US" dirty="0"/>
                  <a:t>=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m:t>
                        </m:r>
                      </m:num>
                      <m:den>
                        <m:r>
                          <m:rPr>
                            <m:nor/>
                          </m:rPr>
                          <a:rPr lang="en-US" dirty="0"/>
                          <m:t>6</m:t>
                        </m:r>
                      </m:den>
                    </m:f>
                  </m:oMath>
                </a14:m>
                <a:r>
                  <a:rPr lang="en-US" dirty="0"/>
                  <a:t> x 60   mins.</a:t>
                </a:r>
              </a:p>
              <a:p>
                <a:pPr algn="just"/>
                <a:r>
                  <a:rPr lang="en-IN" dirty="0"/>
                  <a:t>Stoppage Time/Hour 	</a:t>
                </a:r>
                <a:r>
                  <a:rPr lang="en-US" dirty="0"/>
                  <a:t>= </a:t>
                </a:r>
                <a14:m>
                  <m:oMath xmlns:m="http://schemas.openxmlformats.org/officeDocument/2006/math">
                    <m:r>
                      <m:rPr>
                        <m:nor/>
                      </m:rPr>
                      <a:rPr lang="en-US" b="0" i="0" dirty="0" smtClean="0"/>
                      <m:t>1</m:t>
                    </m:r>
                    <m:r>
                      <m:rPr>
                        <m:nor/>
                      </m:rPr>
                      <a:rPr lang="en-US" dirty="0"/>
                      <m:t>0</m:t>
                    </m:r>
                    <m:r>
                      <a:rPr lang="en-US" i="1" dirty="0">
                        <a:latin typeface="Cambria Math" panose="02040503050406030204" pitchFamily="18" charset="0"/>
                      </a:rPr>
                      <m:t> </m:t>
                    </m:r>
                  </m:oMath>
                </a14:m>
                <a:r>
                  <a:rPr lang="en-US" dirty="0"/>
                  <a:t>mins.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9F18E960-954A-E9CF-6FD8-8D738558E878}"/>
              </a:ext>
            </a:extLst>
          </p:cNvPr>
          <p:cNvCxnSpPr>
            <a:cxnSpLocks/>
          </p:cNvCxnSpPr>
          <p:nvPr/>
        </p:nvCxnSpPr>
        <p:spPr>
          <a:xfrm flipV="1">
            <a:off x="4770367" y="5133574"/>
            <a:ext cx="615818" cy="2419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A68E68A-9996-D1BF-72AC-C1B179E5B980}"/>
              </a:ext>
            </a:extLst>
          </p:cNvPr>
          <p:cNvCxnSpPr>
            <a:cxnSpLocks/>
          </p:cNvCxnSpPr>
          <p:nvPr/>
        </p:nvCxnSpPr>
        <p:spPr>
          <a:xfrm flipV="1">
            <a:off x="4212368" y="5351866"/>
            <a:ext cx="404188" cy="18709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5398053-22E6-2DAD-0F17-298D067BD11B}"/>
              </a:ext>
            </a:extLst>
          </p:cNvPr>
          <p:cNvCxnSpPr>
            <a:cxnSpLocks/>
          </p:cNvCxnSpPr>
          <p:nvPr/>
        </p:nvCxnSpPr>
        <p:spPr>
          <a:xfrm flipV="1">
            <a:off x="4366179" y="2773912"/>
            <a:ext cx="396735" cy="2412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7995F92-63BF-912F-903C-91FE7D34E32D}"/>
              </a:ext>
            </a:extLst>
          </p:cNvPr>
          <p:cNvCxnSpPr>
            <a:cxnSpLocks/>
          </p:cNvCxnSpPr>
          <p:nvPr/>
        </p:nvCxnSpPr>
        <p:spPr>
          <a:xfrm flipV="1">
            <a:off x="4373632" y="3140817"/>
            <a:ext cx="396735" cy="2186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F26D2C5-8256-5FF4-F9F0-C40A98889EEA}"/>
              </a:ext>
            </a:extLst>
          </p:cNvPr>
          <p:cNvSpPr txBox="1"/>
          <p:nvPr/>
        </p:nvSpPr>
        <p:spPr>
          <a:xfrm>
            <a:off x="3938898" y="3138967"/>
            <a:ext cx="303288" cy="369332"/>
          </a:xfrm>
          <a:prstGeom prst="rect">
            <a:avLst/>
          </a:prstGeom>
          <a:noFill/>
        </p:spPr>
        <p:txBody>
          <a:bodyPr wrap="none" rtlCol="0">
            <a:spAutoFit/>
          </a:bodyPr>
          <a:lstStyle/>
          <a:p>
            <a:r>
              <a:rPr lang="en-US" dirty="0"/>
              <a:t>6</a:t>
            </a:r>
            <a:endParaRPr lang="en-IN" dirty="0"/>
          </a:p>
        </p:txBody>
      </p:sp>
      <p:sp>
        <p:nvSpPr>
          <p:cNvPr id="18" name="TextBox 17">
            <a:extLst>
              <a:ext uri="{FF2B5EF4-FFF2-40B4-BE49-F238E27FC236}">
                <a16:creationId xmlns:a16="http://schemas.microsoft.com/office/drawing/2014/main" id="{3823CC82-1CC8-4238-161A-ACA32501CF03}"/>
              </a:ext>
            </a:extLst>
          </p:cNvPr>
          <p:cNvSpPr txBox="1"/>
          <p:nvPr/>
        </p:nvSpPr>
        <p:spPr>
          <a:xfrm>
            <a:off x="4934575" y="4732076"/>
            <a:ext cx="388248" cy="369332"/>
          </a:xfrm>
          <a:prstGeom prst="rect">
            <a:avLst/>
          </a:prstGeom>
          <a:noFill/>
        </p:spPr>
        <p:txBody>
          <a:bodyPr wrap="none" rtlCol="0">
            <a:spAutoFit/>
          </a:bodyPr>
          <a:lstStyle/>
          <a:p>
            <a:r>
              <a:rPr lang="en-US" dirty="0"/>
              <a:t>10</a:t>
            </a:r>
            <a:endParaRPr lang="en-IN" dirty="0"/>
          </a:p>
        </p:txBody>
      </p:sp>
    </p:spTree>
    <p:extLst>
      <p:ext uri="{BB962C8B-B14F-4D97-AF65-F5344CB8AC3E}">
        <p14:creationId xmlns:p14="http://schemas.microsoft.com/office/powerpoint/2010/main" val="1050983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Two trains start simultaneously from stations ‘A’ and ‘B’ towards each other with speeds 60 Km/h and 50 Km/h, respectively. When they meet, it is found that one train has travelled 25 Km more than the other. Calculate distance between stations ‘A’ and ‘B’. </a:t>
                </a:r>
              </a:p>
              <a:p>
                <a:pPr algn="just">
                  <a:lnSpc>
                    <a:spcPct val="100000"/>
                  </a:lnSpc>
                </a:pPr>
                <a:r>
                  <a:rPr lang="en-US" sz="2400" dirty="0"/>
                  <a:t>Let, Distance between stations ‘A’ and ‘B’ = ‘d’ Km </a:t>
                </a:r>
              </a:p>
              <a:p>
                <a:pPr algn="just">
                  <a:lnSpc>
                    <a:spcPct val="100000"/>
                  </a:lnSpc>
                </a:pPr>
                <a:r>
                  <a:rPr lang="en-US" sz="2400" dirty="0"/>
                  <a:t>Distance between stations ‘A’ and ‘B’ i.e., d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m:t>
                        </m:r>
                        <m:r>
                          <m:rPr>
                            <m:nor/>
                          </m:rPr>
                          <a:rPr lang="en-US" sz="2400" dirty="0"/>
                          <m:t>a</m:t>
                        </m:r>
                        <m:r>
                          <m:rPr>
                            <m:nor/>
                          </m:rPr>
                          <a:rPr lang="en-US" sz="2400" dirty="0"/>
                          <m:t> + </m:t>
                        </m:r>
                        <m:r>
                          <m:rPr>
                            <m:nor/>
                          </m:rPr>
                          <a:rPr lang="en-US" sz="2400" dirty="0"/>
                          <m:t>b</m:t>
                        </m:r>
                        <m:r>
                          <m:rPr>
                            <m:nor/>
                          </m:rPr>
                          <a:rPr lang="en-US" sz="2400" dirty="0"/>
                          <m:t>)</m:t>
                        </m:r>
                        <m:r>
                          <m:rPr>
                            <m:nor/>
                          </m:rPr>
                          <a:rPr lang="en-US" sz="2400" dirty="0"/>
                          <m:t>x</m:t>
                        </m:r>
                      </m:num>
                      <m:den>
                        <m:r>
                          <m:rPr>
                            <m:nor/>
                          </m:rPr>
                          <a:rPr lang="en-US" sz="2400" dirty="0"/>
                          <m:t>(</m:t>
                        </m:r>
                        <m:r>
                          <m:rPr>
                            <m:nor/>
                          </m:rPr>
                          <a:rPr lang="en-US" sz="2400" dirty="0"/>
                          <m:t>b</m:t>
                        </m:r>
                        <m:r>
                          <m:rPr>
                            <m:nor/>
                          </m:rPr>
                          <a:rPr lang="en-US" sz="2400" dirty="0"/>
                          <m:t> – </m:t>
                        </m:r>
                        <m:r>
                          <m:rPr>
                            <m:nor/>
                          </m:rPr>
                          <a:rPr lang="en-US" sz="2400" dirty="0"/>
                          <m:t>a</m:t>
                        </m:r>
                        <m:r>
                          <m:rPr>
                            <m:nor/>
                          </m:rPr>
                          <a:rPr lang="en-US" sz="2400" dirty="0"/>
                          <m:t>)</m:t>
                        </m:r>
                      </m:den>
                    </m:f>
                  </m:oMath>
                </a14:m>
                <a:r>
                  <a:rPr lang="en-US" sz="2400" dirty="0"/>
                  <a:t> Km</a:t>
                </a:r>
              </a:p>
              <a:p>
                <a:pPr algn="just"/>
                <a:r>
                  <a:rPr lang="en-US" sz="2400" dirty="0"/>
                  <a:t>a = 50 Km/h, b = 60 Km/h, x = 25 Km</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1904227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a = 50 Km/h, b = 60 Km/h, x = 25 Km</a:t>
                </a:r>
              </a:p>
              <a:p>
                <a:pPr algn="just"/>
                <a:r>
                  <a:rPr lang="en-US" sz="2400" dirty="0"/>
                  <a:t>Distance between stations ‘A’ and ‘B’ i.e., d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m:t>
                        </m:r>
                        <m:r>
                          <m:rPr>
                            <m:nor/>
                          </m:rPr>
                          <a:rPr lang="en-US" sz="2400" dirty="0"/>
                          <m:t>a</m:t>
                        </m:r>
                        <m:r>
                          <m:rPr>
                            <m:nor/>
                          </m:rPr>
                          <a:rPr lang="en-US" sz="2400" dirty="0"/>
                          <m:t> + </m:t>
                        </m:r>
                        <m:r>
                          <m:rPr>
                            <m:nor/>
                          </m:rPr>
                          <a:rPr lang="en-US" sz="2400" dirty="0"/>
                          <m:t>b</m:t>
                        </m:r>
                        <m:r>
                          <m:rPr>
                            <m:nor/>
                          </m:rPr>
                          <a:rPr lang="en-US" sz="2400" dirty="0"/>
                          <m:t>)</m:t>
                        </m:r>
                        <m:r>
                          <m:rPr>
                            <m:nor/>
                          </m:rPr>
                          <a:rPr lang="en-US" sz="2400" dirty="0"/>
                          <m:t>x</m:t>
                        </m:r>
                      </m:num>
                      <m:den>
                        <m:r>
                          <m:rPr>
                            <m:nor/>
                          </m:rPr>
                          <a:rPr lang="en-US" sz="2400" dirty="0"/>
                          <m:t>(</m:t>
                        </m:r>
                        <m:r>
                          <m:rPr>
                            <m:nor/>
                          </m:rPr>
                          <a:rPr lang="en-US" sz="2400" dirty="0"/>
                          <m:t>b</m:t>
                        </m:r>
                        <m:r>
                          <m:rPr>
                            <m:nor/>
                          </m:rPr>
                          <a:rPr lang="en-US" sz="2400" dirty="0"/>
                          <m:t> – </m:t>
                        </m:r>
                        <m:r>
                          <m:rPr>
                            <m:nor/>
                          </m:rPr>
                          <a:rPr lang="en-US" sz="2400" dirty="0"/>
                          <m:t>a</m:t>
                        </m:r>
                        <m:r>
                          <m:rPr>
                            <m:nor/>
                          </m:rPr>
                          <a:rPr lang="en-US" sz="2400" dirty="0"/>
                          <m:t>)</m:t>
                        </m:r>
                      </m:den>
                    </m:f>
                  </m:oMath>
                </a14:m>
                <a:r>
                  <a:rPr lang="en-US" sz="2400" dirty="0"/>
                  <a:t> Km</a:t>
                </a:r>
              </a:p>
              <a:p>
                <a:pPr marL="0" indent="0" algn="just">
                  <a:buNone/>
                </a:pPr>
                <a:r>
                  <a:rPr lang="en-US" sz="2400" dirty="0"/>
                  <a:t>			d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m:t>
                        </m:r>
                        <m:r>
                          <m:rPr>
                            <m:nor/>
                          </m:rPr>
                          <a:rPr lang="en-US" sz="2400" b="0" i="0" dirty="0" smtClean="0"/>
                          <m:t>50</m:t>
                        </m:r>
                        <m:r>
                          <m:rPr>
                            <m:nor/>
                          </m:rPr>
                          <a:rPr lang="en-US" sz="2400" dirty="0"/>
                          <m:t> + </m:t>
                        </m:r>
                        <m:r>
                          <m:rPr>
                            <m:nor/>
                          </m:rPr>
                          <a:rPr lang="en-US" sz="2400" b="0" i="0" dirty="0" smtClean="0"/>
                          <m:t>60</m:t>
                        </m:r>
                        <m:r>
                          <m:rPr>
                            <m:nor/>
                          </m:rPr>
                          <a:rPr lang="en-US" sz="2400" dirty="0"/>
                          <m:t>)</m:t>
                        </m:r>
                        <m:r>
                          <m:rPr>
                            <m:nor/>
                          </m:rPr>
                          <a:rPr lang="en-US" sz="2400" b="0" i="0" dirty="0" smtClean="0"/>
                          <m:t>(25)</m:t>
                        </m:r>
                      </m:num>
                      <m:den>
                        <m:r>
                          <m:rPr>
                            <m:nor/>
                          </m:rPr>
                          <a:rPr lang="en-US" sz="2400" dirty="0"/>
                          <m:t>(</m:t>
                        </m:r>
                        <m:r>
                          <m:rPr>
                            <m:nor/>
                          </m:rPr>
                          <a:rPr lang="en-US" sz="2400" b="0" i="0" dirty="0" smtClean="0"/>
                          <m:t>60</m:t>
                        </m:r>
                        <m:r>
                          <m:rPr>
                            <m:nor/>
                          </m:rPr>
                          <a:rPr lang="en-US" sz="2400" dirty="0"/>
                          <m:t> – </m:t>
                        </m:r>
                        <m:r>
                          <m:rPr>
                            <m:nor/>
                          </m:rPr>
                          <a:rPr lang="en-US" sz="2400" b="0" i="0" dirty="0" smtClean="0"/>
                          <m:t>50</m:t>
                        </m:r>
                        <m:r>
                          <m:rPr>
                            <m:nor/>
                          </m:rPr>
                          <a:rPr lang="en-US" sz="2400" dirty="0"/>
                          <m:t>)</m:t>
                        </m:r>
                      </m:den>
                    </m:f>
                  </m:oMath>
                </a14:m>
                <a:r>
                  <a:rPr lang="en-US" sz="2400" dirty="0"/>
                  <a:t> Km</a:t>
                </a:r>
              </a:p>
              <a:p>
                <a:pPr marL="0" indent="0" algn="just">
                  <a:buNone/>
                </a:pPr>
                <a:r>
                  <a:rPr lang="en-US" sz="2400" dirty="0"/>
                  <a:t>			d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m:t>
                        </m:r>
                        <m:r>
                          <m:rPr>
                            <m:nor/>
                          </m:rPr>
                          <a:rPr lang="en-US" sz="2400" b="0" i="0" dirty="0" smtClean="0"/>
                          <m:t>110</m:t>
                        </m:r>
                        <m:r>
                          <m:rPr>
                            <m:nor/>
                          </m:rPr>
                          <a:rPr lang="en-US" sz="2400" dirty="0"/>
                          <m:t>)(25)</m:t>
                        </m:r>
                      </m:num>
                      <m:den>
                        <m:r>
                          <m:rPr>
                            <m:nor/>
                          </m:rPr>
                          <a:rPr lang="en-US" sz="2400" dirty="0"/>
                          <m:t>(</m:t>
                        </m:r>
                        <m:r>
                          <m:rPr>
                            <m:nor/>
                          </m:rPr>
                          <a:rPr lang="en-US" sz="2400" b="0" i="0" dirty="0" smtClean="0"/>
                          <m:t>10</m:t>
                        </m:r>
                        <m:r>
                          <m:rPr>
                            <m:nor/>
                          </m:rPr>
                          <a:rPr lang="en-US" sz="2400" dirty="0"/>
                          <m:t>)</m:t>
                        </m:r>
                      </m:den>
                    </m:f>
                  </m:oMath>
                </a14:m>
                <a:r>
                  <a:rPr lang="en-US" sz="2400" dirty="0"/>
                  <a:t> Km</a:t>
                </a:r>
              </a:p>
              <a:p>
                <a:pPr marL="0" indent="0" algn="just">
                  <a:buNone/>
                </a:pPr>
                <a:r>
                  <a:rPr lang="en-US" sz="2400" dirty="0"/>
                  <a:t>			d = </a:t>
                </a:r>
                <a14:m>
                  <m:oMath xmlns:m="http://schemas.openxmlformats.org/officeDocument/2006/math">
                    <m:r>
                      <m:rPr>
                        <m:nor/>
                      </m:rPr>
                      <a:rPr lang="en-US" sz="2400" dirty="0"/>
                      <m:t>2</m:t>
                    </m:r>
                    <m:r>
                      <m:rPr>
                        <m:nor/>
                      </m:rPr>
                      <a:rPr lang="en-US" sz="2400" b="0" i="0" dirty="0" smtClean="0"/>
                      <m:t>7</m:t>
                    </m:r>
                    <m:r>
                      <m:rPr>
                        <m:nor/>
                      </m:rPr>
                      <a:rPr lang="en-US" sz="2400" dirty="0"/>
                      <m:t>5</m:t>
                    </m:r>
                  </m:oMath>
                </a14:m>
                <a:r>
                  <a:rPr lang="en-US" sz="2400" dirty="0"/>
                  <a:t> Km</a:t>
                </a:r>
              </a:p>
              <a:p>
                <a:pPr algn="just"/>
                <a:endParaRPr lang="en-US" sz="24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DBD92111-9B66-F58A-9855-D4BFA7A5CB6A}"/>
              </a:ext>
            </a:extLst>
          </p:cNvPr>
          <p:cNvCxnSpPr>
            <a:cxnSpLocks/>
          </p:cNvCxnSpPr>
          <p:nvPr/>
        </p:nvCxnSpPr>
        <p:spPr>
          <a:xfrm flipV="1">
            <a:off x="3785705" y="4657850"/>
            <a:ext cx="396735" cy="2412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9FA3DB5-CA3A-DA01-F8BC-30CA456FBA5C}"/>
              </a:ext>
            </a:extLst>
          </p:cNvPr>
          <p:cNvCxnSpPr>
            <a:cxnSpLocks/>
          </p:cNvCxnSpPr>
          <p:nvPr/>
        </p:nvCxnSpPr>
        <p:spPr>
          <a:xfrm flipV="1">
            <a:off x="4033767" y="5043668"/>
            <a:ext cx="396735" cy="2186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0D8028-2AA5-CF78-092F-53FA23E070A8}"/>
              </a:ext>
            </a:extLst>
          </p:cNvPr>
          <p:cNvSpPr txBox="1"/>
          <p:nvPr/>
        </p:nvSpPr>
        <p:spPr>
          <a:xfrm>
            <a:off x="3615702" y="4243319"/>
            <a:ext cx="338554" cy="369332"/>
          </a:xfrm>
          <a:prstGeom prst="rect">
            <a:avLst/>
          </a:prstGeom>
          <a:noFill/>
        </p:spPr>
        <p:txBody>
          <a:bodyPr wrap="none" rtlCol="0">
            <a:spAutoFit/>
          </a:bodyPr>
          <a:lstStyle/>
          <a:p>
            <a:r>
              <a:rPr lang="en-US" dirty="0"/>
              <a:t>11</a:t>
            </a:r>
            <a:endParaRPr lang="en-IN" dirty="0"/>
          </a:p>
        </p:txBody>
      </p:sp>
    </p:spTree>
    <p:extLst>
      <p:ext uri="{BB962C8B-B14F-4D97-AF65-F5344CB8AC3E}">
        <p14:creationId xmlns:p14="http://schemas.microsoft.com/office/powerpoint/2010/main" val="1482726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Distance covered by a train to cover a bridge</a:t>
                </a:r>
              </a:p>
              <a:p>
                <a:pPr marL="0" indent="0" algn="just">
                  <a:buNone/>
                </a:pPr>
                <a:r>
                  <a:rPr lang="en-US" dirty="0"/>
                  <a:t>			= Length of Train + Length of Bridge</a:t>
                </a:r>
              </a:p>
              <a:p>
                <a:pPr algn="just"/>
                <a:endParaRPr lang="en-US" dirty="0"/>
              </a:p>
              <a:p>
                <a:pPr algn="just"/>
                <a:r>
                  <a:rPr lang="en-US" dirty="0"/>
                  <a:t>Relative Speed  = </a:t>
                </a:r>
                <a14:m>
                  <m:oMath xmlns:m="http://schemas.openxmlformats.org/officeDocument/2006/math">
                    <m:r>
                      <m:rPr>
                        <m:nor/>
                      </m:rPr>
                      <a:rPr lang="en-US" dirty="0"/>
                      <m:t>a</m:t>
                    </m:r>
                    <m:r>
                      <m:rPr>
                        <m:nor/>
                      </m:rPr>
                      <a:rPr lang="en-US" dirty="0"/>
                      <m:t> − </m:t>
                    </m:r>
                    <m:r>
                      <m:rPr>
                        <m:nor/>
                      </m:rPr>
                      <a:rPr lang="en-US" dirty="0"/>
                      <m:t>b</m:t>
                    </m:r>
                    <m:r>
                      <a:rPr lang="en-US" i="1" dirty="0">
                        <a:latin typeface="Cambria Math" panose="02040503050406030204" pitchFamily="18" charset="0"/>
                      </a:rPr>
                      <m:t> </m:t>
                    </m:r>
                  </m:oMath>
                </a14:m>
                <a:r>
                  <a:rPr lang="en-US" dirty="0"/>
                  <a:t>	 </a:t>
                </a:r>
                <a:r>
                  <a:rPr lang="en-IN" dirty="0"/>
                  <a:t>(where </a:t>
                </a:r>
                <a:r>
                  <a:rPr lang="en-US" dirty="0"/>
                  <a:t>a &gt; b) </a:t>
                </a:r>
              </a:p>
              <a:p>
                <a:pPr algn="just"/>
                <a:r>
                  <a:rPr lang="en-US" dirty="0"/>
                  <a:t>Speed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Distance</m:t>
                        </m:r>
                      </m:num>
                      <m:den>
                        <m:r>
                          <m:rPr>
                            <m:nor/>
                          </m:rPr>
                          <a:rPr lang="en-US" b="0" i="0" dirty="0" smtClean="0"/>
                          <m:t>Time</m:t>
                        </m:r>
                      </m:den>
                    </m:f>
                  </m:oMath>
                </a14:m>
                <a:endParaRPr lang="en-US" dirty="0"/>
              </a:p>
              <a:p>
                <a:pPr algn="just"/>
                <a:r>
                  <a:rPr lang="en-US" dirty="0"/>
                  <a:t>Time taken by a train of length ‘a’ m to pass a tunnel of length ‘b’ m = Time taken by train to cover (a + b) m </a:t>
                </a:r>
              </a:p>
              <a:p>
                <a:pPr marL="0" indent="0" algn="just">
                  <a:buNone/>
                </a:pPr>
                <a:endParaRPr lang="en-US" dirty="0"/>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C554B90A-578D-1994-BD0A-2FD69C4C048A}"/>
              </a:ext>
            </a:extLst>
          </p:cNvPr>
          <p:cNvSpPr/>
          <p:nvPr/>
        </p:nvSpPr>
        <p:spPr>
          <a:xfrm>
            <a:off x="3051314" y="1993416"/>
            <a:ext cx="5446643"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8BF721E-A1C6-2B9B-6411-A1FEE2930EA4}"/>
              </a:ext>
            </a:extLst>
          </p:cNvPr>
          <p:cNvSpPr/>
          <p:nvPr/>
        </p:nvSpPr>
        <p:spPr>
          <a:xfrm>
            <a:off x="2981739" y="3438939"/>
            <a:ext cx="3240157"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A9FB7FF-1BA8-EE6D-FC4E-92FA18EEB3A5}"/>
              </a:ext>
            </a:extLst>
          </p:cNvPr>
          <p:cNvSpPr/>
          <p:nvPr/>
        </p:nvSpPr>
        <p:spPr>
          <a:xfrm>
            <a:off x="1719468" y="4434924"/>
            <a:ext cx="2007705"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B23EF86-22A6-F686-2AFE-D0743DA275A0}"/>
              </a:ext>
            </a:extLst>
          </p:cNvPr>
          <p:cNvSpPr/>
          <p:nvPr/>
        </p:nvSpPr>
        <p:spPr>
          <a:xfrm>
            <a:off x="2418521" y="5926206"/>
            <a:ext cx="6049619" cy="6833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5815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lnSpc>
                    <a:spcPct val="160000"/>
                  </a:lnSpc>
                </a:pPr>
                <a:r>
                  <a:rPr lang="en-US" dirty="0"/>
                  <a:t>When two trains are moving in opposite direction </a:t>
                </a:r>
              </a:p>
              <a:p>
                <a:pPr lvl="1" algn="just">
                  <a:lnSpc>
                    <a:spcPct val="160000"/>
                  </a:lnSpc>
                </a:pPr>
                <a:r>
                  <a:rPr lang="en-US" sz="2600" dirty="0"/>
                  <a:t>Time taken by Trains to cross each other </a:t>
                </a:r>
              </a:p>
              <a:p>
                <a:pPr marL="0" indent="0" algn="just">
                  <a:lnSpc>
                    <a:spcPct val="160000"/>
                  </a:lnSpc>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hours</a:t>
                </a:r>
                <a:endParaRPr lang="en-US" dirty="0"/>
              </a:p>
              <a:p>
                <a:pPr algn="just">
                  <a:lnSpc>
                    <a:spcPct val="160000"/>
                  </a:lnSpc>
                </a:pPr>
                <a:r>
                  <a:rPr lang="en-US" dirty="0"/>
                  <a:t>When two trains are moving in same direction </a:t>
                </a:r>
              </a:p>
              <a:p>
                <a:pPr lvl="1" algn="just">
                  <a:lnSpc>
                    <a:spcPct val="160000"/>
                  </a:lnSpc>
                </a:pPr>
                <a:r>
                  <a:rPr lang="en-US" sz="2600" dirty="0"/>
                  <a:t>Time taken by Faster Train to cross Slower Train 	</a:t>
                </a:r>
              </a:p>
              <a:p>
                <a:pPr marL="457200" lvl="1" indent="0" algn="just">
                  <a:lnSpc>
                    <a:spcPct val="160000"/>
                  </a:lnSpc>
                  <a:buNone/>
                </a:pPr>
                <a:r>
                  <a:rPr lang="en-US" sz="2600" dirty="0"/>
                  <a:t>					=</a:t>
                </a:r>
                <a14:m>
                  <m:oMath xmlns:m="http://schemas.openxmlformats.org/officeDocument/2006/math">
                    <m:r>
                      <a:rPr lang="en-US" sz="2600" dirty="0">
                        <a:latin typeface="Cambria Math" panose="02040503050406030204" pitchFamily="18" charset="0"/>
                      </a:rPr>
                      <m:t> </m:t>
                    </m:r>
                    <m:r>
                      <m:rPr>
                        <m:nor/>
                      </m:rPr>
                      <a:rPr lang="en-US" sz="2600" dirty="0"/>
                      <m:t>{</m:t>
                    </m:r>
                    <m:f>
                      <m:fPr>
                        <m:ctrlPr>
                          <a:rPr lang="en-US" sz="2600" i="1">
                            <a:solidFill>
                              <a:srgbClr val="836967"/>
                            </a:solidFill>
                            <a:latin typeface="Cambria Math" panose="02040503050406030204" pitchFamily="18" charset="0"/>
                          </a:rPr>
                        </m:ctrlPr>
                      </m:fPr>
                      <m:num>
                        <m:r>
                          <m:rPr>
                            <m:nor/>
                          </m:rPr>
                          <a:rPr lang="en-US" sz="2600" dirty="0"/>
                          <m:t>x</m:t>
                        </m:r>
                        <m:r>
                          <m:rPr>
                            <m:nor/>
                          </m:rPr>
                          <a:rPr lang="en-US" sz="2600" dirty="0"/>
                          <m:t> + </m:t>
                        </m:r>
                        <m:r>
                          <m:rPr>
                            <m:nor/>
                          </m:rPr>
                          <a:rPr lang="en-US" sz="2600" dirty="0"/>
                          <m:t>y</m:t>
                        </m:r>
                      </m:num>
                      <m:den>
                        <m:r>
                          <m:rPr>
                            <m:nor/>
                          </m:rPr>
                          <a:rPr lang="en-US" sz="2600" dirty="0"/>
                          <m:t>a</m:t>
                        </m:r>
                        <m:r>
                          <m:rPr>
                            <m:nor/>
                          </m:rPr>
                          <a:rPr lang="en-US" sz="2600" dirty="0"/>
                          <m:t> − </m:t>
                        </m:r>
                        <m:r>
                          <m:rPr>
                            <m:nor/>
                          </m:rPr>
                          <a:rPr lang="en-US" sz="2600" dirty="0"/>
                          <m:t>b</m:t>
                        </m:r>
                      </m:den>
                    </m:f>
                  </m:oMath>
                </a14:m>
                <a:r>
                  <a:rPr lang="en-US" sz="2600" dirty="0"/>
                  <a:t> }</a:t>
                </a:r>
                <a:r>
                  <a:rPr lang="en-US" sz="2600" dirty="0">
                    <a:solidFill>
                      <a:srgbClr val="836967"/>
                    </a:solidFill>
                  </a:rPr>
                  <a:t> </a:t>
                </a:r>
                <a:r>
                  <a:rPr lang="en-IN" sz="2600" dirty="0"/>
                  <a:t>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AE98632D-A26D-8C8E-D534-A43DE32BDAC0}"/>
              </a:ext>
            </a:extLst>
          </p:cNvPr>
          <p:cNvSpPr/>
          <p:nvPr/>
        </p:nvSpPr>
        <p:spPr>
          <a:xfrm>
            <a:off x="4939748" y="2907817"/>
            <a:ext cx="2385391"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F2A56BB-F86D-D4D9-C70E-394636873448}"/>
              </a:ext>
            </a:extLst>
          </p:cNvPr>
          <p:cNvSpPr/>
          <p:nvPr/>
        </p:nvSpPr>
        <p:spPr>
          <a:xfrm>
            <a:off x="4939747" y="5411235"/>
            <a:ext cx="2385391"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3980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sz="2400" dirty="0"/>
                  <a:t>Two trains of lengths ‘x’ m and ‘y’ m run on parallel tracks. When running in same direction, faster train passes slower one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a:rPr lang="en-US" sz="2400" i="1" dirty="0">
                        <a:latin typeface="Cambria Math" panose="02040503050406030204" pitchFamily="18" charset="0"/>
                      </a:rPr>
                      <m:t> </m:t>
                    </m:r>
                  </m:oMath>
                </a14:m>
                <a:r>
                  <a:rPr lang="en-US" sz="2400" dirty="0"/>
                  <a:t>seconds, but when they are running in opposite directions with same speeds as earlier, they pass each other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oMath>
                </a14:m>
                <a:r>
                  <a:rPr lang="en-US" sz="2400" dirty="0"/>
                  <a:t> seconds. </a:t>
                </a:r>
              </a:p>
              <a:p>
                <a:pPr lvl="1" algn="just">
                  <a:lnSpc>
                    <a:spcPct val="110000"/>
                  </a:lnSpc>
                </a:pPr>
                <a:r>
                  <a:rPr lang="en-US" dirty="0"/>
                  <a:t>Speed of Faster Train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 </a:t>
                </a:r>
                <a14:m>
                  <m:oMath xmlns:m="http://schemas.openxmlformats.org/officeDocument/2006/math">
                    <m:r>
                      <m:rPr>
                        <m:nor/>
                      </m:rPr>
                      <a:rPr lang="en-US" dirty="0"/>
                      <m:t>{</m:t>
                    </m:r>
                    <m:r>
                      <m:rPr>
                        <m:nor/>
                      </m:rPr>
                      <a:rPr lang="en-IN" dirty="0"/>
                      <m:t> </m:t>
                    </m:r>
                    <m:f>
                      <m:fPr>
                        <m:ctrlPr>
                          <a:rPr lang="en-US" i="1">
                            <a:solidFill>
                              <a:srgbClr val="836967"/>
                            </a:solidFill>
                            <a:latin typeface="Cambria Math" panose="02040503050406030204" pitchFamily="18" charset="0"/>
                          </a:rPr>
                        </m:ctrlPr>
                      </m:fPr>
                      <m:num>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2</m:t>
                            </m:r>
                          </m:sub>
                        </m:sSub>
                      </m:num>
                      <m:den>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den>
                    </m:f>
                  </m:oMath>
                </a14:m>
                <a:r>
                  <a:rPr lang="en-US" dirty="0"/>
                  <a:t> }</a:t>
                </a:r>
                <a:r>
                  <a:rPr lang="en-US" dirty="0">
                    <a:solidFill>
                      <a:srgbClr val="836967"/>
                    </a:solidFill>
                  </a:rPr>
                  <a:t> </a:t>
                </a:r>
                <a:r>
                  <a:rPr lang="en-IN" dirty="0"/>
                  <a:t>m/s </a:t>
                </a:r>
                <a:endParaRPr lang="en-US" dirty="0"/>
              </a:p>
              <a:p>
                <a:pPr lvl="1" algn="just">
                  <a:lnSpc>
                    <a:spcPct val="110000"/>
                  </a:lnSpc>
                </a:pPr>
                <a:r>
                  <a:rPr lang="en-US" dirty="0"/>
                  <a:t>Speed of Slower Train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y</m:t>
                        </m:r>
                      </m:num>
                      <m:den>
                        <m:r>
                          <m:rPr>
                            <m:nor/>
                          </m:rPr>
                          <a:rPr lang="en-US" dirty="0"/>
                          <m:t>2</m:t>
                        </m:r>
                      </m:den>
                    </m:f>
                  </m:oMath>
                </a14:m>
                <a:r>
                  <a:rPr lang="en-US" dirty="0"/>
                  <a:t> } . </a:t>
                </a:r>
                <a14:m>
                  <m:oMath xmlns:m="http://schemas.openxmlformats.org/officeDocument/2006/math">
                    <m:r>
                      <m:rPr>
                        <m:nor/>
                      </m:rPr>
                      <a:rPr lang="en-US" dirty="0">
                        <a:latin typeface="Cambria Math" panose="02040503050406030204" pitchFamily="18" charset="0"/>
                      </a:rPr>
                      <m:t>	</m:t>
                    </m:r>
                    <m:r>
                      <m:rPr>
                        <m:nor/>
                      </m:rPr>
                      <a:rPr lang="en-US" dirty="0"/>
                      <m:t>{ </m:t>
                    </m:r>
                    <m:f>
                      <m:fPr>
                        <m:ctrlPr>
                          <a:rPr lang="en-US" i="1">
                            <a:solidFill>
                              <a:srgbClr val="836967"/>
                            </a:solidFill>
                            <a:latin typeface="Cambria Math" panose="02040503050406030204" pitchFamily="18" charset="0"/>
                          </a:rPr>
                        </m:ctrlPr>
                      </m:fPr>
                      <m:num>
                        <m:sSub>
                          <m:sSubPr>
                            <m:ctrlPr>
                              <a:rPr lang="en-US" i="1" dirty="0">
                                <a:solidFill>
                                  <a:srgbClr val="836967"/>
                                </a:solidFill>
                                <a:latin typeface="Cambria Math" panose="02040503050406030204" pitchFamily="18" charset="0"/>
                              </a:rPr>
                            </m:ctrlPr>
                          </m:sSubPr>
                          <m:e>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r>
                              <m:rPr>
                                <m:nor/>
                              </m:rPr>
                              <a:rPr lang="en-US" dirty="0">
                                <a:latin typeface="Cambria Math" panose="02040503050406030204" pitchFamily="18" charset="0"/>
                              </a:rPr>
                              <m:t> </m:t>
                            </m:r>
                            <m:r>
                              <m:rPr>
                                <m:nor/>
                              </m:rPr>
                              <a:rPr lang="en-US" dirty="0"/>
                              <m:t>− </m:t>
                            </m:r>
                            <m:r>
                              <m:rPr>
                                <m:nor/>
                              </m:rPr>
                              <a:rPr lang="en-US" dirty="0"/>
                              <m:t>t</m:t>
                            </m:r>
                          </m:e>
                          <m:sub>
                            <m:r>
                              <a:rPr lang="en-US" dirty="0">
                                <a:latin typeface="Cambria Math" panose="02040503050406030204" pitchFamily="18" charset="0"/>
                              </a:rPr>
                              <m:t>2</m:t>
                            </m:r>
                          </m:sub>
                        </m:sSub>
                      </m:num>
                      <m:den>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1</m:t>
                            </m:r>
                          </m:sub>
                        </m:sSub>
                        <m:sSub>
                          <m:sSubPr>
                            <m:ctrlPr>
                              <a:rPr lang="en-US" i="1" dirty="0">
                                <a:solidFill>
                                  <a:srgbClr val="836967"/>
                                </a:solidFill>
                                <a:latin typeface="Cambria Math" panose="02040503050406030204" pitchFamily="18" charset="0"/>
                              </a:rPr>
                            </m:ctrlPr>
                          </m:sSubPr>
                          <m:e>
                            <m:r>
                              <m:rPr>
                                <m:nor/>
                              </m:rPr>
                              <a:rPr lang="en-US" dirty="0"/>
                              <m:t>t</m:t>
                            </m:r>
                          </m:e>
                          <m:sub>
                            <m:r>
                              <a:rPr lang="en-US" dirty="0">
                                <a:latin typeface="Cambria Math" panose="02040503050406030204" pitchFamily="18" charset="0"/>
                              </a:rPr>
                              <m:t>2</m:t>
                            </m:r>
                          </m:sub>
                        </m:sSub>
                      </m:den>
                    </m:f>
                  </m:oMath>
                </a14:m>
                <a:r>
                  <a:rPr lang="en-US" dirty="0"/>
                  <a:t> }</a:t>
                </a:r>
                <a:r>
                  <a:rPr lang="en-US" dirty="0">
                    <a:solidFill>
                      <a:srgbClr val="836967"/>
                    </a:solidFill>
                  </a:rPr>
                  <a:t> </a:t>
                </a:r>
                <a:r>
                  <a:rPr lang="en-IN" dirty="0"/>
                  <a:t>m/s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29D93C61-27CF-84FA-6C51-01FBC04C8689}"/>
              </a:ext>
            </a:extLst>
          </p:cNvPr>
          <p:cNvSpPr/>
          <p:nvPr/>
        </p:nvSpPr>
        <p:spPr>
          <a:xfrm>
            <a:off x="765313" y="4166773"/>
            <a:ext cx="7026965" cy="14455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10235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If distance between two stations ‘A’ and ‘B’ is ‘x’ Km, A train starts from ‘A’ to ‘B’ at ‘a’ Km/h. ‘T’ hours later another train starts from ‘B’ to ‘A’ at ‘b’ Km/h, then distance from A, at which both the trains will meet </a:t>
                </a:r>
              </a:p>
              <a:p>
                <a:pPr marL="0" indent="0" algn="just">
                  <a:buNone/>
                </a:pPr>
                <a:r>
                  <a:rPr lang="en-US" dirty="0"/>
                  <a:t>		= </a:t>
                </a:r>
                <a14:m>
                  <m:oMath xmlns:m="http://schemas.openxmlformats.org/officeDocument/2006/math">
                    <m:r>
                      <m:rPr>
                        <m:nor/>
                      </m:rPr>
                      <a:rPr lang="en-US" dirty="0"/>
                      <m:t>a</m:t>
                    </m:r>
                  </m:oMath>
                </a14:m>
                <a:r>
                  <a:rPr lang="en-US" dirty="0"/>
                  <a:t>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bT</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Km</a:t>
                </a:r>
                <a:endParaRPr lang="en-US" dirty="0">
                  <a:solidFill>
                    <a:srgbClr val="836967"/>
                  </a:solidFill>
                </a:endParaRPr>
              </a:p>
              <a:p>
                <a:pPr algn="just"/>
                <a:r>
                  <a:rPr lang="en-US" dirty="0"/>
                  <a:t>Time after which the two trains will meet </a:t>
                </a:r>
              </a:p>
              <a:p>
                <a:pPr marL="0" indent="0" algn="just">
                  <a:buNone/>
                </a:pPr>
                <a:r>
                  <a:rPr lang="en-US" dirty="0"/>
                  <a:t>			= </a:t>
                </a:r>
                <a14:m>
                  <m:oMath xmlns:m="http://schemas.openxmlformats.org/officeDocument/2006/math">
                    <m:r>
                      <m:rPr>
                        <m:nor/>
                      </m:rPr>
                      <a:rPr lang="en-US" dirty="0"/>
                      <m:t>{</m:t>
                    </m:r>
                    <m:f>
                      <m:fPr>
                        <m:ctrlPr>
                          <a:rPr lang="en-US" i="1">
                            <a:solidFill>
                              <a:srgbClr val="836967"/>
                            </a:solidFill>
                            <a:latin typeface="Cambria Math" panose="02040503050406030204" pitchFamily="18" charset="0"/>
                          </a:rPr>
                        </m:ctrlPr>
                      </m:fPr>
                      <m:num>
                        <m:r>
                          <m:rPr>
                            <m:nor/>
                          </m:rPr>
                          <a:rPr lang="en-US" dirty="0"/>
                          <m:t>x</m:t>
                        </m:r>
                        <m:r>
                          <m:rPr>
                            <m:nor/>
                          </m:rPr>
                          <a:rPr lang="en-US" dirty="0"/>
                          <m:t> + </m:t>
                        </m:r>
                        <m:r>
                          <m:rPr>
                            <m:nor/>
                          </m:rPr>
                          <a:rPr lang="en-US" dirty="0"/>
                          <m:t>bT</m:t>
                        </m:r>
                      </m:num>
                      <m:den>
                        <m:r>
                          <m:rPr>
                            <m:nor/>
                          </m:rPr>
                          <a:rPr lang="en-US" dirty="0"/>
                          <m:t>a</m:t>
                        </m:r>
                        <m:r>
                          <m:rPr>
                            <m:nor/>
                          </m:rPr>
                          <a:rPr lang="en-US" dirty="0"/>
                          <m:t> + </m:t>
                        </m:r>
                        <m:r>
                          <m:rPr>
                            <m:nor/>
                          </m:rPr>
                          <a:rPr lang="en-US" dirty="0"/>
                          <m:t>b</m:t>
                        </m:r>
                      </m:den>
                    </m:f>
                  </m:oMath>
                </a14:m>
                <a:r>
                  <a:rPr lang="en-US" dirty="0"/>
                  <a:t> }</a:t>
                </a:r>
                <a:r>
                  <a:rPr lang="en-US" dirty="0">
                    <a:solidFill>
                      <a:srgbClr val="836967"/>
                    </a:solidFill>
                  </a:rPr>
                  <a:t> </a:t>
                </a:r>
                <a:r>
                  <a:rPr lang="en-IN" dirty="0"/>
                  <a:t>hours</a:t>
                </a:r>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708FB2CB-1E93-6FE5-C8BC-03277E3E21EB}"/>
              </a:ext>
            </a:extLst>
          </p:cNvPr>
          <p:cNvSpPr/>
          <p:nvPr/>
        </p:nvSpPr>
        <p:spPr>
          <a:xfrm>
            <a:off x="2257632" y="4050814"/>
            <a:ext cx="2385391"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5EDB47-37DF-E74E-7A88-137B0B82B5E3}"/>
              </a:ext>
            </a:extLst>
          </p:cNvPr>
          <p:cNvSpPr/>
          <p:nvPr/>
        </p:nvSpPr>
        <p:spPr>
          <a:xfrm>
            <a:off x="3150705" y="5869676"/>
            <a:ext cx="2474843"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28822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lnSpc>
                    <a:spcPct val="120000"/>
                  </a:lnSpc>
                </a:pPr>
                <a:r>
                  <a:rPr lang="en-US" sz="2400" dirty="0"/>
                  <a:t>If the speeds of two trains are in the ratio a : b and they are moving in opposite directions on the parallel track. If the first train crosses a pole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oMath>
                </a14:m>
                <a:r>
                  <a:rPr lang="en-US" sz="2400" dirty="0"/>
                  <a:t> seconds and second train in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oMath>
                </a14:m>
                <a:r>
                  <a:rPr lang="en-US" sz="2400" dirty="0"/>
                  <a:t>seconds, then the time taken by two trains to cross each other completely is </a:t>
                </a:r>
                <a14:m>
                  <m:oMath xmlns:m="http://schemas.openxmlformats.org/officeDocument/2006/math">
                    <m:f>
                      <m:fPr>
                        <m:ctrlPr>
                          <a:rPr lang="en-US" sz="2400" i="1">
                            <a:solidFill>
                              <a:srgbClr val="836967"/>
                            </a:solidFill>
                            <a:latin typeface="Cambria Math" panose="02040503050406030204" pitchFamily="18" charset="0"/>
                          </a:rPr>
                        </m:ctrlPr>
                      </m:fPr>
                      <m:num>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r>
                          <m:rPr>
                            <m:nor/>
                          </m:rPr>
                          <a:rPr lang="en-US" sz="2400" dirty="0"/>
                          <m:t>a</m:t>
                        </m:r>
                        <m:r>
                          <m:rPr>
                            <m:nor/>
                          </m:rPr>
                          <a:rPr lang="en-US" sz="2400" dirty="0"/>
                          <m:t> +</m:t>
                        </m:r>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r>
                          <m:rPr>
                            <m:nor/>
                          </m:rPr>
                          <a:rPr lang="en-US" sz="2400" dirty="0"/>
                          <m:t>b</m:t>
                        </m:r>
                      </m:num>
                      <m:den>
                        <m:r>
                          <m:rPr>
                            <m:nor/>
                          </m:rPr>
                          <a:rPr lang="en-US" sz="2400" dirty="0"/>
                          <m:t>(</m:t>
                        </m:r>
                        <m:r>
                          <m:rPr>
                            <m:nor/>
                          </m:rPr>
                          <a:rPr lang="en-US" sz="2400" dirty="0"/>
                          <m:t>a</m:t>
                        </m:r>
                        <m:r>
                          <m:rPr>
                            <m:nor/>
                          </m:rPr>
                          <a:rPr lang="en-US" sz="2400" dirty="0"/>
                          <m:t> + </m:t>
                        </m:r>
                        <m:r>
                          <m:rPr>
                            <m:nor/>
                          </m:rPr>
                          <a:rPr lang="en-US" sz="2400" dirty="0"/>
                          <m:t>b</m:t>
                        </m:r>
                        <m:r>
                          <m:rPr>
                            <m:nor/>
                          </m:rPr>
                          <a:rPr lang="en-US" sz="2400" dirty="0"/>
                          <m:t>)</m:t>
                        </m:r>
                      </m:den>
                    </m:f>
                  </m:oMath>
                </a14:m>
                <a:r>
                  <a:rPr lang="en-US" sz="2400" dirty="0"/>
                  <a:t> seconds.</a:t>
                </a:r>
              </a:p>
              <a:p>
                <a:pPr algn="just">
                  <a:lnSpc>
                    <a:spcPct val="120000"/>
                  </a:lnSpc>
                </a:pPr>
                <a:r>
                  <a:rPr lang="en-US" sz="2400" dirty="0"/>
                  <a:t>If two trains, A (moving with speed ‘a’) and B (moving with speed ‘b’), start at the same time from two points P and Q towards each other, and after crossing they take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1</m:t>
                        </m:r>
                      </m:sub>
                    </m:sSub>
                  </m:oMath>
                </a14:m>
                <a:r>
                  <a:rPr lang="en-US" sz="2400" dirty="0"/>
                  <a:t>and </a:t>
                </a:r>
                <a14:m>
                  <m:oMath xmlns:m="http://schemas.openxmlformats.org/officeDocument/2006/math">
                    <m:sSub>
                      <m:sSubPr>
                        <m:ctrlPr>
                          <a:rPr lang="en-US" sz="2400" i="1" dirty="0">
                            <a:solidFill>
                              <a:srgbClr val="836967"/>
                            </a:solidFill>
                            <a:latin typeface="Cambria Math" panose="02040503050406030204" pitchFamily="18" charset="0"/>
                          </a:rPr>
                        </m:ctrlPr>
                      </m:sSubPr>
                      <m:e>
                        <m:r>
                          <m:rPr>
                            <m:nor/>
                          </m:rPr>
                          <a:rPr lang="en-US" sz="2400" dirty="0"/>
                          <m:t>t</m:t>
                        </m:r>
                      </m:e>
                      <m:sub>
                        <m:r>
                          <a:rPr lang="en-US" sz="2400" dirty="0">
                            <a:latin typeface="Cambria Math" panose="02040503050406030204" pitchFamily="18" charset="0"/>
                          </a:rPr>
                          <m:t>2</m:t>
                        </m:r>
                      </m:sub>
                    </m:sSub>
                  </m:oMath>
                </a14:m>
                <a:r>
                  <a:rPr lang="en-US" sz="2400" dirty="0"/>
                  <a:t> seconds in reaching Q and P respectively, then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a</m:t>
                        </m:r>
                        <m:r>
                          <m:rPr>
                            <m:nor/>
                          </m:rPr>
                          <a:rPr lang="en-US" sz="2400" dirty="0"/>
                          <m:t> </m:t>
                        </m:r>
                      </m:num>
                      <m:den>
                        <m:r>
                          <m:rPr>
                            <m:nor/>
                          </m:rPr>
                          <a:rPr lang="en-US" sz="2400" dirty="0"/>
                          <m:t>b</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ad>
                          <m:radPr>
                            <m:degHide m:val="on"/>
                            <m:ctrlPr>
                              <a:rPr lang="en-US" sz="2400" i="1" dirty="0">
                                <a:solidFill>
                                  <a:srgbClr val="836967"/>
                                </a:solidFill>
                                <a:latin typeface="Cambria Math" panose="02040503050406030204" pitchFamily="18" charset="0"/>
                              </a:rPr>
                            </m:ctrlPr>
                          </m:radPr>
                          <m:deg/>
                          <m:e>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𝑡</m:t>
                                </m:r>
                              </m:e>
                              <m:sub>
                                <m:r>
                                  <a:rPr lang="en-US" sz="2400" dirty="0">
                                    <a:latin typeface="Cambria Math" panose="02040503050406030204" pitchFamily="18" charset="0"/>
                                  </a:rPr>
                                  <m:t>2</m:t>
                                </m:r>
                              </m:sub>
                            </m:sSub>
                          </m:e>
                        </m:rad>
                      </m:num>
                      <m:den>
                        <m:rad>
                          <m:radPr>
                            <m:degHide m:val="on"/>
                            <m:ctrlPr>
                              <a:rPr lang="en-US" sz="2400" i="1" dirty="0">
                                <a:solidFill>
                                  <a:srgbClr val="836967"/>
                                </a:solidFill>
                                <a:latin typeface="Cambria Math" panose="02040503050406030204" pitchFamily="18" charset="0"/>
                              </a:rPr>
                            </m:ctrlPr>
                          </m:radPr>
                          <m:deg/>
                          <m:e>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𝑡</m:t>
                                </m:r>
                              </m:e>
                              <m:sub>
                                <m:r>
                                  <a:rPr lang="en-US" sz="2400" dirty="0">
                                    <a:latin typeface="Cambria Math" panose="02040503050406030204" pitchFamily="18" charset="0"/>
                                  </a:rPr>
                                  <m:t>1</m:t>
                                </m:r>
                              </m:sub>
                            </m:sSub>
                          </m:e>
                        </m:rad>
                      </m:den>
                    </m:f>
                  </m:oMath>
                </a14:m>
                <a:endParaRPr lang="en-US" sz="24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t="-452" r="-1136"/>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B5CD0EFA-B5EC-2307-8F9B-A52C31534497}"/>
              </a:ext>
            </a:extLst>
          </p:cNvPr>
          <p:cNvSpPr/>
          <p:nvPr/>
        </p:nvSpPr>
        <p:spPr>
          <a:xfrm>
            <a:off x="3349487" y="3166234"/>
            <a:ext cx="2385391"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E0178B2-936D-85F4-6CDA-140C9FE64F8F}"/>
              </a:ext>
            </a:extLst>
          </p:cNvPr>
          <p:cNvSpPr/>
          <p:nvPr/>
        </p:nvSpPr>
        <p:spPr>
          <a:xfrm>
            <a:off x="7086600" y="5412477"/>
            <a:ext cx="1103244"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47115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lnSpc>
                    <a:spcPct val="120000"/>
                  </a:lnSpc>
                </a:pPr>
                <a:r>
                  <a:rPr lang="en-US" sz="2400" dirty="0"/>
                  <a:t>A train travels a certain distance at a speed of ‘a’ Km/h without stoppages and with stoppages it covers the same distance at a speed of ‘b’ Km/h, then the stoppage time per hour is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Difference</m:t>
                        </m:r>
                        <m:r>
                          <m:rPr>
                            <m:nor/>
                          </m:rPr>
                          <a:rPr lang="en-US" sz="2400" dirty="0"/>
                          <m:t> </m:t>
                        </m:r>
                        <m:r>
                          <m:rPr>
                            <m:nor/>
                          </m:rPr>
                          <a:rPr lang="en-US" sz="2400" dirty="0"/>
                          <m:t>of</m:t>
                        </m:r>
                        <m:r>
                          <m:rPr>
                            <m:nor/>
                          </m:rPr>
                          <a:rPr lang="en-US" sz="2400" dirty="0"/>
                          <m:t> </m:t>
                        </m:r>
                        <m:r>
                          <m:rPr>
                            <m:nor/>
                          </m:rPr>
                          <a:rPr lang="en-US" sz="2400" dirty="0"/>
                          <m:t>Speed</m:t>
                        </m:r>
                      </m:num>
                      <m:den>
                        <m:r>
                          <m:rPr>
                            <m:nor/>
                          </m:rPr>
                          <a:rPr lang="en-US" sz="2400" dirty="0"/>
                          <m:t>Speed</m:t>
                        </m:r>
                        <m:r>
                          <m:rPr>
                            <m:nor/>
                          </m:rPr>
                          <a:rPr lang="en-US" sz="2400" dirty="0"/>
                          <m:t> </m:t>
                        </m:r>
                        <m:r>
                          <m:rPr>
                            <m:nor/>
                          </m:rPr>
                          <a:rPr lang="en-US" sz="2400" dirty="0"/>
                          <m:t>without</m:t>
                        </m:r>
                        <m:r>
                          <m:rPr>
                            <m:nor/>
                          </m:rPr>
                          <a:rPr lang="en-US" sz="2400" dirty="0"/>
                          <m:t> </m:t>
                        </m:r>
                        <m:r>
                          <m:rPr>
                            <m:nor/>
                          </m:rPr>
                          <a:rPr lang="en-US" sz="2400" dirty="0"/>
                          <m:t>Stoppages</m:t>
                        </m:r>
                      </m:den>
                    </m:f>
                  </m:oMath>
                </a14:m>
                <a:endParaRPr lang="en-US" sz="2400" dirty="0"/>
              </a:p>
              <a:p>
                <a:pPr algn="just">
                  <a:lnSpc>
                    <a:spcPct val="120000"/>
                  </a:lnSpc>
                </a:pPr>
                <a:r>
                  <a:rPr lang="en-US" sz="2400" dirty="0"/>
                  <a:t>Two trains start simultaneously from stations ‘A’ and ‘B’ towards each other with speeds a Km/h and b Km/h, respectively. When they meet, it is found that the second train had travelled ‘x’ Km more than the first. Distance between the two stations is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m:t>
                        </m:r>
                        <m:r>
                          <m:rPr>
                            <m:nor/>
                          </m:rPr>
                          <a:rPr lang="en-US" sz="2400" dirty="0"/>
                          <m:t>a</m:t>
                        </m:r>
                        <m:r>
                          <m:rPr>
                            <m:nor/>
                          </m:rPr>
                          <a:rPr lang="en-US" sz="2400" dirty="0"/>
                          <m:t> + </m:t>
                        </m:r>
                        <m:r>
                          <m:rPr>
                            <m:nor/>
                          </m:rPr>
                          <a:rPr lang="en-US" sz="2400" dirty="0"/>
                          <m:t>b</m:t>
                        </m:r>
                        <m:r>
                          <m:rPr>
                            <m:nor/>
                          </m:rPr>
                          <a:rPr lang="en-US" sz="2400" dirty="0"/>
                          <m:t>)</m:t>
                        </m:r>
                        <m:r>
                          <m:rPr>
                            <m:nor/>
                          </m:rPr>
                          <a:rPr lang="en-US" sz="2400" dirty="0"/>
                          <m:t>x</m:t>
                        </m:r>
                      </m:num>
                      <m:den>
                        <m:r>
                          <m:rPr>
                            <m:nor/>
                          </m:rPr>
                          <a:rPr lang="en-US" sz="2400" dirty="0"/>
                          <m:t>(</m:t>
                        </m:r>
                        <m:r>
                          <m:rPr>
                            <m:nor/>
                          </m:rPr>
                          <a:rPr lang="en-US" sz="2400" dirty="0"/>
                          <m:t>b</m:t>
                        </m:r>
                        <m:r>
                          <m:rPr>
                            <m:nor/>
                          </m:rPr>
                          <a:rPr lang="en-US" sz="2400" dirty="0"/>
                          <m:t> – </m:t>
                        </m:r>
                        <m:r>
                          <m:rPr>
                            <m:nor/>
                          </m:rPr>
                          <a:rPr lang="en-US" sz="2400" dirty="0"/>
                          <m:t>a</m:t>
                        </m:r>
                        <m:r>
                          <m:rPr>
                            <m:nor/>
                          </m:rPr>
                          <a:rPr lang="en-US" sz="2400" dirty="0"/>
                          <m:t>)</m:t>
                        </m:r>
                      </m:den>
                    </m:f>
                  </m:oMath>
                </a14:m>
                <a:r>
                  <a:rPr lang="en-US" sz="2400" dirty="0"/>
                  <a:t> Km</a:t>
                </a:r>
              </a:p>
              <a:p>
                <a:pPr algn="just">
                  <a:lnSpc>
                    <a:spcPct val="120000"/>
                  </a:lnSpc>
                </a:pPr>
                <a:endParaRPr lang="en-US" sz="24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t="-452" r="-1136"/>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02D167A8-81FA-34E4-2EAD-9C8DAA321055}"/>
              </a:ext>
            </a:extLst>
          </p:cNvPr>
          <p:cNvSpPr/>
          <p:nvPr/>
        </p:nvSpPr>
        <p:spPr>
          <a:xfrm>
            <a:off x="2247693" y="2738852"/>
            <a:ext cx="3596516"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2797D95-60B4-A502-27E3-F72344396279}"/>
              </a:ext>
            </a:extLst>
          </p:cNvPr>
          <p:cNvSpPr/>
          <p:nvPr/>
        </p:nvSpPr>
        <p:spPr>
          <a:xfrm>
            <a:off x="4633084" y="5422417"/>
            <a:ext cx="2385391" cy="819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907891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dirty="0"/>
              <a:t>Problems on Trains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6546</TotalTime>
  <Words>2773</Words>
  <Application>Microsoft Office PowerPoint</Application>
  <PresentationFormat>On-screen Show (4:3)</PresentationFormat>
  <Paragraphs>223</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Bahnschrift</vt:lpstr>
      <vt:lpstr>Bahnschrift SemiBold</vt:lpstr>
      <vt:lpstr>Calibri</vt:lpstr>
      <vt:lpstr>Cambria Math</vt:lpstr>
      <vt:lpstr>Office Theme</vt:lpstr>
      <vt:lpstr>PowerPoint Presentation</vt:lpstr>
      <vt:lpstr>PowerPoint Presentation</vt:lpstr>
      <vt:lpstr>Problem 1</vt:lpstr>
      <vt:lpstr>Problem 2</vt:lpstr>
      <vt:lpstr>Problem 3</vt:lpstr>
      <vt:lpstr>Problem 4</vt:lpstr>
      <vt:lpstr>Problem 4</vt:lpstr>
      <vt:lpstr>Problem 5</vt:lpstr>
      <vt:lpstr>Problem 5</vt:lpstr>
      <vt:lpstr>Problem 6</vt:lpstr>
      <vt:lpstr>Problem 6</vt:lpstr>
      <vt:lpstr>Problem 7</vt:lpstr>
      <vt:lpstr>Problem 7</vt:lpstr>
      <vt:lpstr>Problem 8</vt:lpstr>
      <vt:lpstr>Problem 8</vt:lpstr>
      <vt:lpstr>Problem 8</vt:lpstr>
      <vt:lpstr>Problem 9</vt:lpstr>
      <vt:lpstr>Problem 9</vt:lpstr>
      <vt:lpstr>Problem 9</vt:lpstr>
      <vt:lpstr>Problem 10</vt:lpstr>
      <vt:lpstr>Problem 10</vt:lpstr>
      <vt:lpstr>Problem 10</vt:lpstr>
      <vt:lpstr>Problem 11</vt:lpstr>
      <vt:lpstr>Problem 11</vt:lpstr>
      <vt:lpstr>Problem 12</vt:lpstr>
      <vt:lpstr>Problem 13</vt:lpstr>
      <vt:lpstr>Problem 13</vt:lpstr>
      <vt:lpstr>Problem 14</vt:lpstr>
      <vt:lpstr>Problem 14</vt:lpstr>
      <vt:lpstr>Conclusion</vt:lpstr>
      <vt:lpstr>Conclusion</vt:lpstr>
      <vt:lpstr>Conclusion</vt:lpstr>
      <vt:lpstr>Conclusion</vt:lpstr>
      <vt:lpstr>Conclusion</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445</cp:revision>
  <dcterms:created xsi:type="dcterms:W3CDTF">2020-12-18T18:59:12Z</dcterms:created>
  <dcterms:modified xsi:type="dcterms:W3CDTF">2022-05-22T06:44:09Z</dcterms:modified>
</cp:coreProperties>
</file>