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78" r:id="rId2"/>
    <p:sldId id="962" r:id="rId3"/>
    <p:sldId id="890" r:id="rId4"/>
    <p:sldId id="946" r:id="rId5"/>
    <p:sldId id="947" r:id="rId6"/>
    <p:sldId id="948" r:id="rId7"/>
    <p:sldId id="949" r:id="rId8"/>
    <p:sldId id="950" r:id="rId9"/>
    <p:sldId id="951" r:id="rId10"/>
    <p:sldId id="963" r:id="rId11"/>
    <p:sldId id="952" r:id="rId12"/>
    <p:sldId id="964" r:id="rId13"/>
    <p:sldId id="953" r:id="rId14"/>
    <p:sldId id="965" r:id="rId15"/>
    <p:sldId id="954" r:id="rId16"/>
    <p:sldId id="955" r:id="rId17"/>
    <p:sldId id="956" r:id="rId18"/>
    <p:sldId id="957" r:id="rId19"/>
    <p:sldId id="958" r:id="rId20"/>
    <p:sldId id="967" r:id="rId21"/>
    <p:sldId id="966" r:id="rId22"/>
    <p:sldId id="767" r:id="rId23"/>
    <p:sldId id="343" r:id="rId24"/>
    <p:sldId id="346"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726" y="-9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extLst>
      <p:ext uri="{BB962C8B-B14F-4D97-AF65-F5344CB8AC3E}">
        <p14:creationId xmlns:p14="http://schemas.microsoft.com/office/powerpoint/2010/main" val="1907062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xmlns=""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xmlns=""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xmlns=""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xmlns=""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xmlns=""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xmlns=""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xmlns=""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xmlns=""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xmlns=""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xmlns=""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xmlns=""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xmlns=""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xmlns=""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11/5/2022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2C2E1C-492B-4490-B644-A86ED36D0996}"/>
              </a:ext>
            </a:extLst>
          </p:cNvPr>
          <p:cNvSpPr>
            <a:spLocks noGrp="1"/>
          </p:cNvSpPr>
          <p:nvPr>
            <p:ph idx="1"/>
          </p:nvPr>
        </p:nvSpPr>
        <p:spPr/>
        <p:txBody>
          <a:bodyPr>
            <a:normAutofit lnSpcReduction="10000"/>
          </a:bodyPr>
          <a:lstStyle/>
          <a:p>
            <a:pPr algn="just"/>
            <a:r>
              <a:rPr lang="en-US" dirty="0"/>
              <a:t>develop understanding about the basics of sequential order of things, </a:t>
            </a:r>
          </a:p>
          <a:p>
            <a:pPr algn="just"/>
            <a:r>
              <a:rPr lang="en-US" dirty="0"/>
              <a:t>analyze different types of sequential order of things,</a:t>
            </a:r>
          </a:p>
          <a:p>
            <a:pPr algn="just"/>
            <a:r>
              <a:rPr lang="en-US" dirty="0"/>
              <a:t>solve various problems relating to sequential order of things. </a:t>
            </a:r>
          </a:p>
        </p:txBody>
      </p:sp>
    </p:spTree>
    <p:extLst>
      <p:ext uri="{BB962C8B-B14F-4D97-AF65-F5344CB8AC3E}">
        <p14:creationId xmlns:p14="http://schemas.microsoft.com/office/powerpoint/2010/main" val="16331399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r>
              <a:rPr lang="en-US" dirty="0"/>
              <a:t>Sequential Order of Things</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Clues/Hints </a:t>
            </a:r>
          </a:p>
          <a:p>
            <a:pPr algn="just"/>
            <a:r>
              <a:rPr lang="en-IN" dirty="0"/>
              <a:t>Order of Occurrence - Certain Events</a:t>
            </a:r>
            <a:endParaRPr lang="en-US" dirty="0"/>
          </a:p>
          <a:p>
            <a:pPr algn="just"/>
            <a:r>
              <a:rPr lang="en-US" dirty="0"/>
              <a:t>Analyze - Information</a:t>
            </a:r>
          </a:p>
          <a:p>
            <a:pPr algn="just"/>
            <a:r>
              <a:rPr lang="en-US" dirty="0"/>
              <a:t>Frame – </a:t>
            </a:r>
            <a:r>
              <a:rPr lang="en-IN" dirty="0"/>
              <a:t>Correct </a:t>
            </a:r>
            <a:r>
              <a:rPr lang="en-US"/>
              <a:t>Sequence</a:t>
            </a:r>
            <a:endParaRPr lang="en-IN" dirty="0"/>
          </a:p>
          <a:p>
            <a:pPr algn="just"/>
            <a:endParaRPr lang="en-US" dirty="0"/>
          </a:p>
        </p:txBody>
      </p:sp>
    </p:spTree>
    <p:extLst>
      <p:ext uri="{BB962C8B-B14F-4D97-AF65-F5344CB8AC3E}">
        <p14:creationId xmlns:p14="http://schemas.microsoft.com/office/powerpoint/2010/main" val="8098385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Five boys took part in a race. Raj finished before Mohit but behind Gaurav. Ashish finished before Sanchit but behind Mohit. Who won the race?</a:t>
            </a:r>
          </a:p>
          <a:p>
            <a:pPr algn="just"/>
            <a:r>
              <a:rPr lang="en-IN" dirty="0"/>
              <a:t>(a) Raj 		(b) Gaurav 		(c) Mohit 	</a:t>
            </a:r>
          </a:p>
          <a:p>
            <a:pPr algn="just"/>
            <a:r>
              <a:rPr lang="en-IN" dirty="0"/>
              <a:t>(d) Ashish 		(e) Sanchit</a:t>
            </a:r>
          </a:p>
          <a:p>
            <a:pPr algn="just"/>
            <a:r>
              <a:rPr lang="en-IN" dirty="0"/>
              <a:t>Gaurav &lt; Raj &lt; Mohit</a:t>
            </a:r>
          </a:p>
          <a:p>
            <a:pPr algn="just"/>
            <a:r>
              <a:rPr lang="en-IN" dirty="0"/>
              <a:t>Mohit &lt; Ashish &lt; Sanchit</a:t>
            </a:r>
          </a:p>
          <a:p>
            <a:pPr algn="just"/>
            <a:r>
              <a:rPr lang="en-IN" dirty="0"/>
              <a:t>Gaurav &lt; Raj &lt; Mohit &lt; Ashish &lt; Sanchit</a:t>
            </a:r>
          </a:p>
          <a:p>
            <a:pPr marL="0" indent="0" algn="just">
              <a:buNone/>
            </a:pPr>
            <a:endParaRPr lang="en-IN" dirty="0"/>
          </a:p>
        </p:txBody>
      </p:sp>
      <p:sp>
        <p:nvSpPr>
          <p:cNvPr id="4" name="Oval 3">
            <a:extLst>
              <a:ext uri="{FF2B5EF4-FFF2-40B4-BE49-F238E27FC236}">
                <a16:creationId xmlns:a16="http://schemas.microsoft.com/office/drawing/2014/main" xmlns="" id="{73B8949E-8B9B-8626-35B4-2982FEFD3A3D}"/>
              </a:ext>
            </a:extLst>
          </p:cNvPr>
          <p:cNvSpPr/>
          <p:nvPr/>
        </p:nvSpPr>
        <p:spPr>
          <a:xfrm>
            <a:off x="3579537" y="3225248"/>
            <a:ext cx="1345302"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C2CB1FC5-AD14-824B-CCCE-9128CDAEFAC7}"/>
              </a:ext>
            </a:extLst>
          </p:cNvPr>
          <p:cNvCxnSpPr>
            <a:cxnSpLocks/>
          </p:cNvCxnSpPr>
          <p:nvPr/>
        </p:nvCxnSpPr>
        <p:spPr>
          <a:xfrm>
            <a:off x="4994412" y="1911628"/>
            <a:ext cx="39495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FE2A3DBA-7229-D132-A7ED-7CB534DA44FD}"/>
              </a:ext>
            </a:extLst>
          </p:cNvPr>
          <p:cNvCxnSpPr>
            <a:cxnSpLocks/>
          </p:cNvCxnSpPr>
          <p:nvPr/>
        </p:nvCxnSpPr>
        <p:spPr>
          <a:xfrm>
            <a:off x="670890" y="2521230"/>
            <a:ext cx="282768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6D666D7E-0355-45BD-8B98-ADE306301F06}"/>
              </a:ext>
            </a:extLst>
          </p:cNvPr>
          <p:cNvCxnSpPr>
            <a:cxnSpLocks/>
          </p:cNvCxnSpPr>
          <p:nvPr/>
        </p:nvCxnSpPr>
        <p:spPr>
          <a:xfrm>
            <a:off x="3649110" y="2527857"/>
            <a:ext cx="529486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5CA3470-9DC6-5B21-AC25-A136C16DB910}"/>
              </a:ext>
            </a:extLst>
          </p:cNvPr>
          <p:cNvCxnSpPr>
            <a:cxnSpLocks/>
          </p:cNvCxnSpPr>
          <p:nvPr/>
        </p:nvCxnSpPr>
        <p:spPr>
          <a:xfrm>
            <a:off x="670890" y="3150704"/>
            <a:ext cx="19927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3900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Seven executives P, Q, R, S, T, U, and W reach office in a particular sequence. U reaches immediately before P but does not immediately follow S. R is the last one to reach office. T follows immediately after P and is subsequently followed by W. Among the executives, who reaches the office first?</a:t>
            </a:r>
          </a:p>
          <a:p>
            <a:pPr algn="just"/>
            <a:r>
              <a:rPr lang="en-IN" sz="2400" dirty="0"/>
              <a:t>(a) P 	(b) Q 		(c) R		(d) S		(e) U</a:t>
            </a:r>
            <a:endParaRPr lang="en-IN" dirty="0"/>
          </a:p>
          <a:p>
            <a:pPr algn="just"/>
            <a:endParaRPr lang="en-IN" dirty="0"/>
          </a:p>
        </p:txBody>
      </p:sp>
    </p:spTree>
    <p:extLst>
      <p:ext uri="{BB962C8B-B14F-4D97-AF65-F5344CB8AC3E}">
        <p14:creationId xmlns:p14="http://schemas.microsoft.com/office/powerpoint/2010/main" val="15317659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Seven executives P, Q, R, S, T, U, and W reach office in a particular sequence. U reaches immediately before P but does not immediately follow S. R is the last one to reach office. T follows immediately after P and is subsequently followed by W. Among the executives, who reaches the office first?</a:t>
            </a:r>
          </a:p>
          <a:p>
            <a:pPr algn="just"/>
            <a:r>
              <a:rPr lang="en-IN" sz="2000" dirty="0"/>
              <a:t>(a) P 		(b) Q 		(c) R		(d) S		(e) U</a:t>
            </a:r>
          </a:p>
          <a:p>
            <a:pPr algn="just"/>
            <a:r>
              <a:rPr lang="en-IN" dirty="0"/>
              <a:t>U &lt; P</a:t>
            </a:r>
          </a:p>
          <a:p>
            <a:pPr algn="just"/>
            <a:r>
              <a:rPr lang="en-IN" dirty="0"/>
              <a:t>P &lt; T &lt; W</a:t>
            </a:r>
          </a:p>
          <a:p>
            <a:pPr algn="just"/>
            <a:endParaRPr lang="en-IN" dirty="0"/>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1997765" y="2289314"/>
            <a:ext cx="365925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631135" y="2716698"/>
            <a:ext cx="101876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5549347" y="2706759"/>
            <a:ext cx="3232703" cy="993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7D2E75A-5550-9D1F-0FB7-32D642299067}"/>
              </a:ext>
            </a:extLst>
          </p:cNvPr>
          <p:cNvCxnSpPr>
            <a:cxnSpLocks/>
          </p:cNvCxnSpPr>
          <p:nvPr/>
        </p:nvCxnSpPr>
        <p:spPr>
          <a:xfrm>
            <a:off x="632791" y="3150707"/>
            <a:ext cx="405847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xmlns="" id="{38A95A75-D1A3-C1E1-BA09-4D785DF2701D}"/>
              </a:ext>
            </a:extLst>
          </p:cNvPr>
          <p:cNvSpPr/>
          <p:nvPr/>
        </p:nvSpPr>
        <p:spPr>
          <a:xfrm>
            <a:off x="6039678" y="3812693"/>
            <a:ext cx="656812"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1760882" y="2716698"/>
            <a:ext cx="36758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1649896" y="5709975"/>
            <a:ext cx="2070653" cy="571247"/>
          </a:xfrm>
          <a:prstGeom prst="rect">
            <a:avLst/>
          </a:prstGeom>
          <a:noFill/>
        </p:spPr>
        <p:txBody>
          <a:bodyPr wrap="square" rtlCol="0">
            <a:spAutoFit/>
          </a:bodyPr>
          <a:lstStyle/>
          <a:p>
            <a:pPr>
              <a:lnSpc>
                <a:spcPct val="150000"/>
              </a:lnSpc>
            </a:pPr>
            <a:r>
              <a:rPr lang="en-IN" sz="2400" dirty="0"/>
              <a:t>U &lt; P &lt; T &lt; W</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1997765" y="2222432"/>
            <a:ext cx="6804163" cy="250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3498986" y="5709974"/>
            <a:ext cx="656813" cy="571247"/>
          </a:xfrm>
          <a:prstGeom prst="rect">
            <a:avLst/>
          </a:prstGeom>
          <a:noFill/>
        </p:spPr>
        <p:txBody>
          <a:bodyPr wrap="square" rtlCol="0">
            <a:spAutoFit/>
          </a:bodyPr>
          <a:lstStyle/>
          <a:p>
            <a:pPr>
              <a:lnSpc>
                <a:spcPct val="150000"/>
              </a:lnSpc>
            </a:pPr>
            <a:r>
              <a:rPr lang="en-IN" sz="2400" dirty="0"/>
              <a:t>&lt; R</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631135" y="5709975"/>
            <a:ext cx="1161222" cy="571247"/>
          </a:xfrm>
          <a:prstGeom prst="rect">
            <a:avLst/>
          </a:prstGeom>
          <a:noFill/>
        </p:spPr>
        <p:txBody>
          <a:bodyPr wrap="square" rtlCol="0">
            <a:spAutoFit/>
          </a:bodyPr>
          <a:lstStyle/>
          <a:p>
            <a:pPr>
              <a:lnSpc>
                <a:spcPct val="150000"/>
              </a:lnSpc>
            </a:pPr>
            <a:r>
              <a:rPr lang="en-IN" sz="2400" dirty="0"/>
              <a:t>S &lt; Q &lt;</a:t>
            </a:r>
          </a:p>
        </p:txBody>
      </p:sp>
    </p:spTree>
    <p:extLst>
      <p:ext uri="{BB962C8B-B14F-4D97-AF65-F5344CB8AC3E}">
        <p14:creationId xmlns:p14="http://schemas.microsoft.com/office/powerpoint/2010/main" val="2010668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dirty="0"/>
              <a:t>Six lectures A, B, C, D, E, and F are to be organized in a span of seven days from Sunday to Saturday, only one lecture on each day in accordance with the following: A should not be organized on Thursday. C should be organized immediately after F. There should be a gap of two days between E and D. One day there will be no lecture (Friday is not that day), just before that day D will be organized. B should be organized on Tuesday and should not be followed by D. On which day there is no lecture?</a:t>
            </a:r>
          </a:p>
        </p:txBody>
      </p:sp>
    </p:spTree>
    <p:extLst>
      <p:ext uri="{BB962C8B-B14F-4D97-AF65-F5344CB8AC3E}">
        <p14:creationId xmlns:p14="http://schemas.microsoft.com/office/powerpoint/2010/main" val="40684552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400" dirty="0"/>
              <a:t>A should not be organized on Thursday. C should be organized immediately after F. There should be a gap of two days between E and D. One day there will be no lecture (Friday is not that day), just before that day D will be organized. B should be organized on Tuesday and should not be followed by D. On which day there is no lecture?</a:t>
            </a:r>
          </a:p>
          <a:p>
            <a:pPr algn="just"/>
            <a:r>
              <a:rPr lang="en-IN" sz="2400" dirty="0"/>
              <a:t>Sun     Mon     Tue     Wed     </a:t>
            </a:r>
            <a:r>
              <a:rPr lang="en-IN" sz="2400" dirty="0" err="1"/>
              <a:t>Thur</a:t>
            </a:r>
            <a:r>
              <a:rPr lang="en-IN" sz="2400" dirty="0"/>
              <a:t>     Fri     Sat</a:t>
            </a:r>
          </a:p>
        </p:txBody>
      </p:sp>
      <p:cxnSp>
        <p:nvCxnSpPr>
          <p:cNvPr id="13" name="Straight Connector 12">
            <a:extLst>
              <a:ext uri="{FF2B5EF4-FFF2-40B4-BE49-F238E27FC236}">
                <a16:creationId xmlns:a16="http://schemas.microsoft.com/office/drawing/2014/main" xmlns="" id="{AD6F23E9-F671-7D36-8122-D0948E1081E2}"/>
              </a:ext>
            </a:extLst>
          </p:cNvPr>
          <p:cNvCxnSpPr>
            <a:cxnSpLocks/>
          </p:cNvCxnSpPr>
          <p:nvPr/>
        </p:nvCxnSpPr>
        <p:spPr>
          <a:xfrm>
            <a:off x="2289314" y="4015410"/>
            <a:ext cx="649273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A4EFB1A0-5B4D-181A-BAD4-0908F3EB9F6B}"/>
              </a:ext>
            </a:extLst>
          </p:cNvPr>
          <p:cNvCxnSpPr>
            <a:cxnSpLocks/>
          </p:cNvCxnSpPr>
          <p:nvPr/>
        </p:nvCxnSpPr>
        <p:spPr>
          <a:xfrm>
            <a:off x="669235" y="3478696"/>
            <a:ext cx="81865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EE4DCFD-A3CD-AFAB-E31E-E5D1784C030A}"/>
              </a:ext>
            </a:extLst>
          </p:cNvPr>
          <p:cNvCxnSpPr>
            <a:cxnSpLocks/>
          </p:cNvCxnSpPr>
          <p:nvPr/>
        </p:nvCxnSpPr>
        <p:spPr>
          <a:xfrm>
            <a:off x="4446105" y="2945297"/>
            <a:ext cx="44096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93E00008-2284-0F9A-4978-350FFD2F460F}"/>
              </a:ext>
            </a:extLst>
          </p:cNvPr>
          <p:cNvCxnSpPr>
            <a:cxnSpLocks/>
          </p:cNvCxnSpPr>
          <p:nvPr/>
        </p:nvCxnSpPr>
        <p:spPr>
          <a:xfrm>
            <a:off x="5191539" y="2448341"/>
            <a:ext cx="36642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D6549F6-5101-C2AC-8E3E-3FB7B26B5487}"/>
              </a:ext>
            </a:extLst>
          </p:cNvPr>
          <p:cNvCxnSpPr>
            <a:cxnSpLocks/>
          </p:cNvCxnSpPr>
          <p:nvPr/>
        </p:nvCxnSpPr>
        <p:spPr>
          <a:xfrm>
            <a:off x="699052" y="2945297"/>
            <a:ext cx="35747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95E95FC1-4DF1-3621-B295-E66E9B2F7108}"/>
              </a:ext>
            </a:extLst>
          </p:cNvPr>
          <p:cNvSpPr txBox="1"/>
          <p:nvPr/>
        </p:nvSpPr>
        <p:spPr>
          <a:xfrm>
            <a:off x="2632212" y="5387176"/>
            <a:ext cx="389284" cy="571247"/>
          </a:xfrm>
          <a:prstGeom prst="rect">
            <a:avLst/>
          </a:prstGeom>
          <a:noFill/>
        </p:spPr>
        <p:txBody>
          <a:bodyPr wrap="square" rtlCol="0">
            <a:spAutoFit/>
          </a:bodyPr>
          <a:lstStyle/>
          <a:p>
            <a:pPr>
              <a:lnSpc>
                <a:spcPct val="150000"/>
              </a:lnSpc>
            </a:pPr>
            <a:r>
              <a:rPr lang="en-US" sz="2400" dirty="0"/>
              <a:t>B</a:t>
            </a:r>
            <a:endParaRPr lang="en-IN" sz="2400" dirty="0"/>
          </a:p>
        </p:txBody>
      </p:sp>
      <p:sp>
        <p:nvSpPr>
          <p:cNvPr id="25" name="Oval 24">
            <a:extLst>
              <a:ext uri="{FF2B5EF4-FFF2-40B4-BE49-F238E27FC236}">
                <a16:creationId xmlns:a16="http://schemas.microsoft.com/office/drawing/2014/main" xmlns="" id="{C0955558-CDDE-6001-964F-43A57E7D0318}"/>
              </a:ext>
            </a:extLst>
          </p:cNvPr>
          <p:cNvSpPr/>
          <p:nvPr/>
        </p:nvSpPr>
        <p:spPr>
          <a:xfrm>
            <a:off x="1391477" y="4665930"/>
            <a:ext cx="977349" cy="141631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xmlns="" id="{D33C76F2-9CDC-E762-4292-3BC3E060F83C}"/>
              </a:ext>
            </a:extLst>
          </p:cNvPr>
          <p:cNvCxnSpPr>
            <a:cxnSpLocks/>
          </p:cNvCxnSpPr>
          <p:nvPr/>
        </p:nvCxnSpPr>
        <p:spPr>
          <a:xfrm>
            <a:off x="595520" y="4644888"/>
            <a:ext cx="28931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C366250E-1744-4208-3795-5A33D2CA4344}"/>
              </a:ext>
            </a:extLst>
          </p:cNvPr>
          <p:cNvSpPr txBox="1"/>
          <p:nvPr/>
        </p:nvSpPr>
        <p:spPr>
          <a:xfrm>
            <a:off x="732184" y="5377237"/>
            <a:ext cx="389284" cy="571247"/>
          </a:xfrm>
          <a:prstGeom prst="rect">
            <a:avLst/>
          </a:prstGeom>
          <a:noFill/>
        </p:spPr>
        <p:txBody>
          <a:bodyPr wrap="square" rtlCol="0">
            <a:spAutoFit/>
          </a:bodyPr>
          <a:lstStyle/>
          <a:p>
            <a:pPr>
              <a:lnSpc>
                <a:spcPct val="150000"/>
              </a:lnSpc>
            </a:pPr>
            <a:r>
              <a:rPr lang="en-US" sz="2400" dirty="0"/>
              <a:t>D</a:t>
            </a:r>
            <a:endParaRPr lang="en-IN" sz="2400" dirty="0"/>
          </a:p>
        </p:txBody>
      </p:sp>
      <p:sp>
        <p:nvSpPr>
          <p:cNvPr id="19" name="TextBox 18">
            <a:extLst>
              <a:ext uri="{FF2B5EF4-FFF2-40B4-BE49-F238E27FC236}">
                <a16:creationId xmlns:a16="http://schemas.microsoft.com/office/drawing/2014/main" xmlns="" id="{DD9CFD2D-E463-D133-DD24-1E73AF25E0DF}"/>
              </a:ext>
            </a:extLst>
          </p:cNvPr>
          <p:cNvSpPr txBox="1"/>
          <p:nvPr/>
        </p:nvSpPr>
        <p:spPr>
          <a:xfrm>
            <a:off x="1682198" y="5387176"/>
            <a:ext cx="389284" cy="571247"/>
          </a:xfrm>
          <a:prstGeom prst="rect">
            <a:avLst/>
          </a:prstGeom>
          <a:noFill/>
        </p:spPr>
        <p:txBody>
          <a:bodyPr wrap="square" rtlCol="0">
            <a:spAutoFit/>
          </a:bodyPr>
          <a:lstStyle/>
          <a:p>
            <a:pPr>
              <a:lnSpc>
                <a:spcPct val="150000"/>
              </a:lnSpc>
            </a:pPr>
            <a:r>
              <a:rPr lang="en-US" sz="2400" dirty="0"/>
              <a:t>X</a:t>
            </a:r>
            <a:endParaRPr lang="en-IN" sz="2400" dirty="0"/>
          </a:p>
        </p:txBody>
      </p:sp>
      <p:sp>
        <p:nvSpPr>
          <p:cNvPr id="23" name="TextBox 22">
            <a:extLst>
              <a:ext uri="{FF2B5EF4-FFF2-40B4-BE49-F238E27FC236}">
                <a16:creationId xmlns:a16="http://schemas.microsoft.com/office/drawing/2014/main" xmlns="" id="{4DBEC10A-68A6-2C6F-B1B4-1E86CD27D2D5}"/>
              </a:ext>
            </a:extLst>
          </p:cNvPr>
          <p:cNvSpPr txBox="1"/>
          <p:nvPr/>
        </p:nvSpPr>
        <p:spPr>
          <a:xfrm>
            <a:off x="3582226" y="5377237"/>
            <a:ext cx="389284" cy="571247"/>
          </a:xfrm>
          <a:prstGeom prst="rect">
            <a:avLst/>
          </a:prstGeom>
          <a:noFill/>
        </p:spPr>
        <p:txBody>
          <a:bodyPr wrap="square" rtlCol="0">
            <a:spAutoFit/>
          </a:bodyPr>
          <a:lstStyle/>
          <a:p>
            <a:pPr>
              <a:lnSpc>
                <a:spcPct val="150000"/>
              </a:lnSpc>
            </a:pPr>
            <a:r>
              <a:rPr lang="en-US" sz="2400" dirty="0"/>
              <a:t>E</a:t>
            </a:r>
            <a:endParaRPr lang="en-IN" sz="2400" dirty="0"/>
          </a:p>
        </p:txBody>
      </p:sp>
      <p:cxnSp>
        <p:nvCxnSpPr>
          <p:cNvPr id="26" name="Straight Connector 25">
            <a:extLst>
              <a:ext uri="{FF2B5EF4-FFF2-40B4-BE49-F238E27FC236}">
                <a16:creationId xmlns:a16="http://schemas.microsoft.com/office/drawing/2014/main" xmlns="" id="{30EC1A2B-6BD4-7D94-B51F-786194040984}"/>
              </a:ext>
            </a:extLst>
          </p:cNvPr>
          <p:cNvCxnSpPr>
            <a:cxnSpLocks/>
          </p:cNvCxnSpPr>
          <p:nvPr/>
        </p:nvCxnSpPr>
        <p:spPr>
          <a:xfrm>
            <a:off x="659710" y="1891748"/>
            <a:ext cx="81865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6DABB6DA-513C-62FD-5DE9-E12C4AC5DBD9}"/>
              </a:ext>
            </a:extLst>
          </p:cNvPr>
          <p:cNvCxnSpPr>
            <a:cxnSpLocks/>
          </p:cNvCxnSpPr>
          <p:nvPr/>
        </p:nvCxnSpPr>
        <p:spPr>
          <a:xfrm>
            <a:off x="669235" y="2448341"/>
            <a:ext cx="4300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xmlns="" id="{49D46E46-BCF4-A660-0F91-B17F470A8271}"/>
              </a:ext>
            </a:extLst>
          </p:cNvPr>
          <p:cNvSpPr txBox="1"/>
          <p:nvPr/>
        </p:nvSpPr>
        <p:spPr>
          <a:xfrm>
            <a:off x="4580281" y="5387176"/>
            <a:ext cx="389284" cy="571247"/>
          </a:xfrm>
          <a:prstGeom prst="rect">
            <a:avLst/>
          </a:prstGeom>
          <a:noFill/>
        </p:spPr>
        <p:txBody>
          <a:bodyPr wrap="square" rtlCol="0">
            <a:spAutoFit/>
          </a:bodyPr>
          <a:lstStyle/>
          <a:p>
            <a:pPr>
              <a:lnSpc>
                <a:spcPct val="150000"/>
              </a:lnSpc>
            </a:pPr>
            <a:r>
              <a:rPr lang="en-US" sz="2400" dirty="0"/>
              <a:t>F</a:t>
            </a:r>
            <a:endParaRPr lang="en-IN" sz="2400" dirty="0"/>
          </a:p>
        </p:txBody>
      </p:sp>
      <p:sp>
        <p:nvSpPr>
          <p:cNvPr id="29" name="TextBox 28">
            <a:extLst>
              <a:ext uri="{FF2B5EF4-FFF2-40B4-BE49-F238E27FC236}">
                <a16:creationId xmlns:a16="http://schemas.microsoft.com/office/drawing/2014/main" xmlns="" id="{7CB9730A-0A3F-3251-4EC3-C46FAB345F4A}"/>
              </a:ext>
            </a:extLst>
          </p:cNvPr>
          <p:cNvSpPr txBox="1"/>
          <p:nvPr/>
        </p:nvSpPr>
        <p:spPr>
          <a:xfrm>
            <a:off x="5482254" y="5377236"/>
            <a:ext cx="389284" cy="571247"/>
          </a:xfrm>
          <a:prstGeom prst="rect">
            <a:avLst/>
          </a:prstGeom>
          <a:noFill/>
        </p:spPr>
        <p:txBody>
          <a:bodyPr wrap="square" rtlCol="0">
            <a:spAutoFit/>
          </a:bodyPr>
          <a:lstStyle/>
          <a:p>
            <a:pPr>
              <a:lnSpc>
                <a:spcPct val="150000"/>
              </a:lnSpc>
            </a:pPr>
            <a:r>
              <a:rPr lang="en-US" sz="2400" dirty="0"/>
              <a:t>C</a:t>
            </a:r>
            <a:endParaRPr lang="en-IN" sz="2400" dirty="0"/>
          </a:p>
        </p:txBody>
      </p:sp>
      <p:sp>
        <p:nvSpPr>
          <p:cNvPr id="30" name="TextBox 29">
            <a:extLst>
              <a:ext uri="{FF2B5EF4-FFF2-40B4-BE49-F238E27FC236}">
                <a16:creationId xmlns:a16="http://schemas.microsoft.com/office/drawing/2014/main" xmlns="" id="{8A3EF47E-856D-064B-F2FE-06ABB6B5FC81}"/>
              </a:ext>
            </a:extLst>
          </p:cNvPr>
          <p:cNvSpPr txBox="1"/>
          <p:nvPr/>
        </p:nvSpPr>
        <p:spPr>
          <a:xfrm>
            <a:off x="6428125" y="5377236"/>
            <a:ext cx="389284" cy="571247"/>
          </a:xfrm>
          <a:prstGeom prst="rect">
            <a:avLst/>
          </a:prstGeom>
          <a:noFill/>
        </p:spPr>
        <p:txBody>
          <a:bodyPr wrap="square" rtlCol="0">
            <a:spAutoFit/>
          </a:bodyPr>
          <a:lstStyle/>
          <a:p>
            <a:pPr>
              <a:lnSpc>
                <a:spcPct val="150000"/>
              </a:lnSpc>
            </a:pPr>
            <a:r>
              <a:rPr lang="en-US" sz="2400" dirty="0"/>
              <a:t>A</a:t>
            </a:r>
            <a:endParaRPr lang="en-IN" sz="2400" dirty="0"/>
          </a:p>
        </p:txBody>
      </p:sp>
    </p:spTree>
    <p:extLst>
      <p:ext uri="{BB962C8B-B14F-4D97-AF65-F5344CB8AC3E}">
        <p14:creationId xmlns:p14="http://schemas.microsoft.com/office/powerpoint/2010/main" val="31129033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10000"/>
          </a:bodyPr>
          <a:lstStyle/>
          <a:p>
            <a:pPr algn="just"/>
            <a:r>
              <a:rPr lang="en-IN" dirty="0"/>
              <a:t>Six plays – A, B, C, D, E, and F are to be staged, one on each day from Monday to Saturday. A must be staged a day before E. C must not be staged on Tuesday. B must be staged on the day following the day on which F is staged. D must be staged on Friday only and should not be immediately preceded by B. E must not be staged on the last day of the schedule. Play D is between which of the following pairs of plays?</a:t>
            </a:r>
          </a:p>
          <a:p>
            <a:pPr algn="just"/>
            <a:r>
              <a:rPr lang="en-IN" dirty="0"/>
              <a:t>(a) B and E  (b) A and E  (c) E and F  (d) C and E  (e) C and F </a:t>
            </a:r>
          </a:p>
          <a:p>
            <a:pPr marL="0" indent="0" algn="just">
              <a:buNone/>
            </a:pPr>
            <a:endParaRPr lang="en-IN" dirty="0"/>
          </a:p>
        </p:txBody>
      </p:sp>
    </p:spTree>
    <p:extLst>
      <p:ext uri="{BB962C8B-B14F-4D97-AF65-F5344CB8AC3E}">
        <p14:creationId xmlns:p14="http://schemas.microsoft.com/office/powerpoint/2010/main" val="14484406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Six plays – A, B, C, D, E, and F are to be staged, one on each day from Monday to Saturday. A must be staged a day before E. C must not be staged on Tuesday. B must be staged on the day following the day on which F is staged. D must be staged on Friday only and should not be immediately preceded by B. E must not be staged on the last day of the schedule. Play D is between which of the following pairs of plays?</a:t>
            </a:r>
          </a:p>
          <a:p>
            <a:pPr algn="just"/>
            <a:r>
              <a:rPr lang="en-IN" sz="2000" dirty="0"/>
              <a:t>(a) B and E    (b) A and E    (c) E and C    (d) F and E    (e) F and C </a:t>
            </a:r>
          </a:p>
          <a:p>
            <a:pPr algn="just"/>
            <a:r>
              <a:rPr lang="en-IN" dirty="0"/>
              <a:t> Mon     Tue     Wed      Thu     Fri     Sat</a:t>
            </a:r>
          </a:p>
          <a:p>
            <a:pPr algn="just"/>
            <a:endParaRPr lang="en-IN" sz="2000" dirty="0"/>
          </a:p>
        </p:txBody>
      </p:sp>
      <p:cxnSp>
        <p:nvCxnSpPr>
          <p:cNvPr id="5" name="Straight Connector 4">
            <a:extLst>
              <a:ext uri="{FF2B5EF4-FFF2-40B4-BE49-F238E27FC236}">
                <a16:creationId xmlns:a16="http://schemas.microsoft.com/office/drawing/2014/main" xmlns="" id="{9E8E1E5C-BB7E-9142-5656-59D938F7F6D2}"/>
              </a:ext>
            </a:extLst>
          </p:cNvPr>
          <p:cNvCxnSpPr>
            <a:cxnSpLocks/>
          </p:cNvCxnSpPr>
          <p:nvPr/>
        </p:nvCxnSpPr>
        <p:spPr>
          <a:xfrm>
            <a:off x="2838444" y="3190463"/>
            <a:ext cx="601732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01A90F4A-2C02-D122-081A-D6DD9AC82797}"/>
              </a:ext>
            </a:extLst>
          </p:cNvPr>
          <p:cNvCxnSpPr>
            <a:cxnSpLocks/>
          </p:cNvCxnSpPr>
          <p:nvPr/>
        </p:nvCxnSpPr>
        <p:spPr>
          <a:xfrm>
            <a:off x="718933" y="3631100"/>
            <a:ext cx="29817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1BBFEC91-5574-B3D2-24A4-D19DF6FCEFE7}"/>
              </a:ext>
            </a:extLst>
          </p:cNvPr>
          <p:cNvCxnSpPr>
            <a:cxnSpLocks/>
          </p:cNvCxnSpPr>
          <p:nvPr/>
        </p:nvCxnSpPr>
        <p:spPr>
          <a:xfrm>
            <a:off x="3073677" y="2206494"/>
            <a:ext cx="406261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20B83866-0902-F2B9-C7EB-585BAB5B9DB5}"/>
              </a:ext>
            </a:extLst>
          </p:cNvPr>
          <p:cNvCxnSpPr>
            <a:cxnSpLocks/>
          </p:cNvCxnSpPr>
          <p:nvPr/>
        </p:nvCxnSpPr>
        <p:spPr>
          <a:xfrm>
            <a:off x="3944171" y="3634422"/>
            <a:ext cx="491159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C46932EF-3349-D645-6258-B76EEF028E32}"/>
              </a:ext>
            </a:extLst>
          </p:cNvPr>
          <p:cNvCxnSpPr>
            <a:cxnSpLocks/>
          </p:cNvCxnSpPr>
          <p:nvPr/>
        </p:nvCxnSpPr>
        <p:spPr>
          <a:xfrm>
            <a:off x="3032678" y="2686887"/>
            <a:ext cx="58230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2529969E-7C50-8F1E-84F9-F6BE114905D8}"/>
              </a:ext>
            </a:extLst>
          </p:cNvPr>
          <p:cNvCxnSpPr>
            <a:cxnSpLocks/>
          </p:cNvCxnSpPr>
          <p:nvPr/>
        </p:nvCxnSpPr>
        <p:spPr>
          <a:xfrm>
            <a:off x="718933" y="3190463"/>
            <a:ext cx="2041247" cy="332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xmlns="" id="{F02D9DC4-FCD3-24F4-B570-0B973896FCB8}"/>
              </a:ext>
            </a:extLst>
          </p:cNvPr>
          <p:cNvSpPr/>
          <p:nvPr/>
        </p:nvSpPr>
        <p:spPr>
          <a:xfrm>
            <a:off x="3571460" y="4224961"/>
            <a:ext cx="1616765" cy="50853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xmlns="" id="{080835C1-02A1-5A27-9479-CD0B229E9737}"/>
              </a:ext>
            </a:extLst>
          </p:cNvPr>
          <p:cNvSpPr txBox="1"/>
          <p:nvPr/>
        </p:nvSpPr>
        <p:spPr>
          <a:xfrm>
            <a:off x="2840931" y="5387176"/>
            <a:ext cx="389284" cy="571247"/>
          </a:xfrm>
          <a:prstGeom prst="rect">
            <a:avLst/>
          </a:prstGeom>
          <a:noFill/>
        </p:spPr>
        <p:txBody>
          <a:bodyPr wrap="square" rtlCol="0">
            <a:spAutoFit/>
          </a:bodyPr>
          <a:lstStyle/>
          <a:p>
            <a:pPr>
              <a:lnSpc>
                <a:spcPct val="150000"/>
              </a:lnSpc>
            </a:pPr>
            <a:r>
              <a:rPr lang="en-US" sz="2400" dirty="0"/>
              <a:t>A</a:t>
            </a:r>
            <a:endParaRPr lang="en-IN" sz="2400" dirty="0"/>
          </a:p>
        </p:txBody>
      </p:sp>
      <p:sp>
        <p:nvSpPr>
          <p:cNvPr id="22" name="TextBox 21">
            <a:extLst>
              <a:ext uri="{FF2B5EF4-FFF2-40B4-BE49-F238E27FC236}">
                <a16:creationId xmlns:a16="http://schemas.microsoft.com/office/drawing/2014/main" xmlns="" id="{F443E788-BC89-EB0F-6F07-AD9647B3878E}"/>
              </a:ext>
            </a:extLst>
          </p:cNvPr>
          <p:cNvSpPr txBox="1"/>
          <p:nvPr/>
        </p:nvSpPr>
        <p:spPr>
          <a:xfrm>
            <a:off x="831574" y="5377237"/>
            <a:ext cx="389284" cy="571247"/>
          </a:xfrm>
          <a:prstGeom prst="rect">
            <a:avLst/>
          </a:prstGeom>
          <a:noFill/>
        </p:spPr>
        <p:txBody>
          <a:bodyPr wrap="square" rtlCol="0">
            <a:spAutoFit/>
          </a:bodyPr>
          <a:lstStyle/>
          <a:p>
            <a:pPr>
              <a:lnSpc>
                <a:spcPct val="150000"/>
              </a:lnSpc>
            </a:pPr>
            <a:r>
              <a:rPr lang="en-US" sz="2400" dirty="0"/>
              <a:t>F</a:t>
            </a:r>
            <a:endParaRPr lang="en-IN" sz="2400" dirty="0"/>
          </a:p>
        </p:txBody>
      </p:sp>
      <p:sp>
        <p:nvSpPr>
          <p:cNvPr id="23" name="TextBox 22">
            <a:extLst>
              <a:ext uri="{FF2B5EF4-FFF2-40B4-BE49-F238E27FC236}">
                <a16:creationId xmlns:a16="http://schemas.microsoft.com/office/drawing/2014/main" xmlns="" id="{2A3279DE-A8D1-5997-2F7A-AC11F972B4E2}"/>
              </a:ext>
            </a:extLst>
          </p:cNvPr>
          <p:cNvSpPr txBox="1"/>
          <p:nvPr/>
        </p:nvSpPr>
        <p:spPr>
          <a:xfrm>
            <a:off x="1781588" y="5387176"/>
            <a:ext cx="389284" cy="571247"/>
          </a:xfrm>
          <a:prstGeom prst="rect">
            <a:avLst/>
          </a:prstGeom>
          <a:noFill/>
        </p:spPr>
        <p:txBody>
          <a:bodyPr wrap="square" rtlCol="0">
            <a:spAutoFit/>
          </a:bodyPr>
          <a:lstStyle/>
          <a:p>
            <a:pPr>
              <a:lnSpc>
                <a:spcPct val="150000"/>
              </a:lnSpc>
            </a:pPr>
            <a:r>
              <a:rPr lang="en-US" sz="2400" dirty="0"/>
              <a:t>B</a:t>
            </a:r>
            <a:endParaRPr lang="en-IN" sz="2400" dirty="0"/>
          </a:p>
        </p:txBody>
      </p:sp>
      <p:sp>
        <p:nvSpPr>
          <p:cNvPr id="24" name="TextBox 23">
            <a:extLst>
              <a:ext uri="{FF2B5EF4-FFF2-40B4-BE49-F238E27FC236}">
                <a16:creationId xmlns:a16="http://schemas.microsoft.com/office/drawing/2014/main" xmlns="" id="{4BB1D689-B8D5-D133-16C6-27A7A50C42F4}"/>
              </a:ext>
            </a:extLst>
          </p:cNvPr>
          <p:cNvSpPr txBox="1"/>
          <p:nvPr/>
        </p:nvSpPr>
        <p:spPr>
          <a:xfrm>
            <a:off x="3940030" y="5377237"/>
            <a:ext cx="389284" cy="571247"/>
          </a:xfrm>
          <a:prstGeom prst="rect">
            <a:avLst/>
          </a:prstGeom>
          <a:noFill/>
        </p:spPr>
        <p:txBody>
          <a:bodyPr wrap="square" rtlCol="0">
            <a:spAutoFit/>
          </a:bodyPr>
          <a:lstStyle/>
          <a:p>
            <a:pPr>
              <a:lnSpc>
                <a:spcPct val="150000"/>
              </a:lnSpc>
            </a:pPr>
            <a:r>
              <a:rPr lang="en-US" sz="2400" dirty="0"/>
              <a:t>E</a:t>
            </a:r>
            <a:endParaRPr lang="en-IN" sz="2400" dirty="0"/>
          </a:p>
        </p:txBody>
      </p:sp>
      <p:sp>
        <p:nvSpPr>
          <p:cNvPr id="25" name="TextBox 24">
            <a:extLst>
              <a:ext uri="{FF2B5EF4-FFF2-40B4-BE49-F238E27FC236}">
                <a16:creationId xmlns:a16="http://schemas.microsoft.com/office/drawing/2014/main" xmlns="" id="{2CECC71B-8EF6-64C8-61A2-22FA54D14EF7}"/>
              </a:ext>
            </a:extLst>
          </p:cNvPr>
          <p:cNvSpPr txBox="1"/>
          <p:nvPr/>
        </p:nvSpPr>
        <p:spPr>
          <a:xfrm>
            <a:off x="4967902" y="5387176"/>
            <a:ext cx="389284" cy="571247"/>
          </a:xfrm>
          <a:prstGeom prst="rect">
            <a:avLst/>
          </a:prstGeom>
          <a:noFill/>
        </p:spPr>
        <p:txBody>
          <a:bodyPr wrap="square" rtlCol="0">
            <a:spAutoFit/>
          </a:bodyPr>
          <a:lstStyle/>
          <a:p>
            <a:pPr>
              <a:lnSpc>
                <a:spcPct val="150000"/>
              </a:lnSpc>
            </a:pPr>
            <a:r>
              <a:rPr lang="en-US" sz="2400" dirty="0"/>
              <a:t>D</a:t>
            </a:r>
            <a:endParaRPr lang="en-IN" sz="2400" dirty="0"/>
          </a:p>
        </p:txBody>
      </p:sp>
      <p:sp>
        <p:nvSpPr>
          <p:cNvPr id="26" name="TextBox 25">
            <a:extLst>
              <a:ext uri="{FF2B5EF4-FFF2-40B4-BE49-F238E27FC236}">
                <a16:creationId xmlns:a16="http://schemas.microsoft.com/office/drawing/2014/main" xmlns="" id="{0ECA7790-ECDF-008A-C3DC-71EE40249B3A}"/>
              </a:ext>
            </a:extLst>
          </p:cNvPr>
          <p:cNvSpPr txBox="1"/>
          <p:nvPr/>
        </p:nvSpPr>
        <p:spPr>
          <a:xfrm>
            <a:off x="5889753" y="5377236"/>
            <a:ext cx="389284" cy="571247"/>
          </a:xfrm>
          <a:prstGeom prst="rect">
            <a:avLst/>
          </a:prstGeom>
          <a:noFill/>
        </p:spPr>
        <p:txBody>
          <a:bodyPr wrap="square" rtlCol="0">
            <a:spAutoFit/>
          </a:bodyPr>
          <a:lstStyle/>
          <a:p>
            <a:pPr>
              <a:lnSpc>
                <a:spcPct val="150000"/>
              </a:lnSpc>
            </a:pPr>
            <a:r>
              <a:rPr lang="en-US" sz="2400" dirty="0"/>
              <a:t>C</a:t>
            </a:r>
            <a:endParaRPr lang="en-IN" sz="2400" dirty="0"/>
          </a:p>
        </p:txBody>
      </p:sp>
      <p:cxnSp>
        <p:nvCxnSpPr>
          <p:cNvPr id="29" name="Straight Connector 28">
            <a:extLst>
              <a:ext uri="{FF2B5EF4-FFF2-40B4-BE49-F238E27FC236}">
                <a16:creationId xmlns:a16="http://schemas.microsoft.com/office/drawing/2014/main" xmlns="" id="{F4061A7E-F35E-09B9-A767-E01821F148D5}"/>
              </a:ext>
            </a:extLst>
          </p:cNvPr>
          <p:cNvCxnSpPr>
            <a:cxnSpLocks/>
          </p:cNvCxnSpPr>
          <p:nvPr/>
        </p:nvCxnSpPr>
        <p:spPr>
          <a:xfrm>
            <a:off x="7299878" y="2206494"/>
            <a:ext cx="15558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E1D9285-6F76-C94B-0591-85BC2A4EA5F0}"/>
              </a:ext>
            </a:extLst>
          </p:cNvPr>
          <p:cNvCxnSpPr>
            <a:cxnSpLocks/>
          </p:cNvCxnSpPr>
          <p:nvPr/>
        </p:nvCxnSpPr>
        <p:spPr>
          <a:xfrm>
            <a:off x="718933" y="2700146"/>
            <a:ext cx="21195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293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Five plays A, B, C, D, and E are to be staged from Monday to Friday of a week. On each day, only one play will be staged. D or E should not be either the first or last to be staged. E should be immediately followed by C. B should be staged immediately after D. One play is staged between A and B.  Which of the following is the correct sequence of staging all the plays?</a:t>
            </a:r>
          </a:p>
          <a:p>
            <a:pPr algn="just"/>
            <a:r>
              <a:rPr lang="en-IN" dirty="0"/>
              <a:t>(a) A, D, B, C, E		(b) A, E, C, D, B </a:t>
            </a:r>
          </a:p>
          <a:p>
            <a:pPr algn="just"/>
            <a:r>
              <a:rPr lang="en-IN" dirty="0"/>
              <a:t>(c) B, D, A, E, C 		(d) D, B, E, C, A</a:t>
            </a:r>
          </a:p>
        </p:txBody>
      </p:sp>
    </p:spTree>
    <p:extLst>
      <p:ext uri="{BB962C8B-B14F-4D97-AF65-F5344CB8AC3E}">
        <p14:creationId xmlns:p14="http://schemas.microsoft.com/office/powerpoint/2010/main" val="2695709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Five plays A, B, C, D, and E are to be staged from Monday to Friday of a week. On each day, only one play will be staged. D or E should not be either the first or last to be staged. E should be immediately followed by C. B should be staged immediately after D. One play is staged between A and B.  Which of the following is the correct sequence of staging all the plays?</a:t>
            </a:r>
          </a:p>
          <a:p>
            <a:pPr algn="just"/>
            <a:r>
              <a:rPr lang="en-IN" sz="2000" dirty="0"/>
              <a:t>(a) A, D, B, E, C     (b) A, E, C, D, B     (c) B, D, A, E, C 	(d) D, B, E, C, A</a:t>
            </a:r>
          </a:p>
          <a:p>
            <a:pPr algn="just"/>
            <a:r>
              <a:rPr lang="en-IN" dirty="0"/>
              <a:t>Mon     Tue     Wed     </a:t>
            </a:r>
            <a:r>
              <a:rPr lang="en-IN" dirty="0" err="1"/>
              <a:t>Thur</a:t>
            </a:r>
            <a:r>
              <a:rPr lang="en-IN" dirty="0"/>
              <a:t>     Fri</a:t>
            </a:r>
          </a:p>
        </p:txBody>
      </p:sp>
      <p:sp>
        <p:nvSpPr>
          <p:cNvPr id="6" name="Oval 5">
            <a:extLst>
              <a:ext uri="{FF2B5EF4-FFF2-40B4-BE49-F238E27FC236}">
                <a16:creationId xmlns:a16="http://schemas.microsoft.com/office/drawing/2014/main" xmlns="" id="{0048339D-EE0C-831C-CD8F-9075F1F97EA0}"/>
              </a:ext>
            </a:extLst>
          </p:cNvPr>
          <p:cNvSpPr/>
          <p:nvPr/>
        </p:nvSpPr>
        <p:spPr>
          <a:xfrm>
            <a:off x="855798" y="4273497"/>
            <a:ext cx="1758193"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xmlns="" id="{ECEAC3B3-A3DA-46D1-53AD-9D42BFD33DA3}"/>
              </a:ext>
            </a:extLst>
          </p:cNvPr>
          <p:cNvCxnSpPr>
            <a:cxnSpLocks/>
          </p:cNvCxnSpPr>
          <p:nvPr/>
        </p:nvCxnSpPr>
        <p:spPr>
          <a:xfrm>
            <a:off x="1532489" y="2246245"/>
            <a:ext cx="477885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EBCF892B-3A79-5CE1-BFAD-76DEEBF31E9E}"/>
              </a:ext>
            </a:extLst>
          </p:cNvPr>
          <p:cNvCxnSpPr>
            <a:cxnSpLocks/>
          </p:cNvCxnSpPr>
          <p:nvPr/>
        </p:nvCxnSpPr>
        <p:spPr>
          <a:xfrm>
            <a:off x="6420678" y="2246245"/>
            <a:ext cx="25232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D475FA16-9237-0A9D-9B21-91EF9D6D66BC}"/>
              </a:ext>
            </a:extLst>
          </p:cNvPr>
          <p:cNvCxnSpPr>
            <a:cxnSpLocks/>
          </p:cNvCxnSpPr>
          <p:nvPr/>
        </p:nvCxnSpPr>
        <p:spPr>
          <a:xfrm flipV="1">
            <a:off x="720998" y="2703650"/>
            <a:ext cx="3931964" cy="406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26D97D5-2FD8-E638-0C3B-92E61ED74F35}"/>
              </a:ext>
            </a:extLst>
          </p:cNvPr>
          <p:cNvCxnSpPr>
            <a:cxnSpLocks/>
          </p:cNvCxnSpPr>
          <p:nvPr/>
        </p:nvCxnSpPr>
        <p:spPr>
          <a:xfrm>
            <a:off x="4752975" y="2703650"/>
            <a:ext cx="402907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F08CD5EB-B22E-8112-55A3-379295CAF6F2}"/>
              </a:ext>
            </a:extLst>
          </p:cNvPr>
          <p:cNvSpPr txBox="1"/>
          <p:nvPr/>
        </p:nvSpPr>
        <p:spPr>
          <a:xfrm>
            <a:off x="2840931" y="5387176"/>
            <a:ext cx="389284" cy="571247"/>
          </a:xfrm>
          <a:prstGeom prst="rect">
            <a:avLst/>
          </a:prstGeom>
          <a:noFill/>
        </p:spPr>
        <p:txBody>
          <a:bodyPr wrap="square" rtlCol="0">
            <a:spAutoFit/>
          </a:bodyPr>
          <a:lstStyle/>
          <a:p>
            <a:pPr>
              <a:lnSpc>
                <a:spcPct val="150000"/>
              </a:lnSpc>
            </a:pPr>
            <a:r>
              <a:rPr lang="en-US" sz="2400" dirty="0"/>
              <a:t>B</a:t>
            </a:r>
            <a:endParaRPr lang="en-IN" sz="2400" dirty="0"/>
          </a:p>
        </p:txBody>
      </p:sp>
      <p:sp>
        <p:nvSpPr>
          <p:cNvPr id="13" name="TextBox 12">
            <a:extLst>
              <a:ext uri="{FF2B5EF4-FFF2-40B4-BE49-F238E27FC236}">
                <a16:creationId xmlns:a16="http://schemas.microsoft.com/office/drawing/2014/main" xmlns="" id="{100AA757-F82B-3737-40DD-411D9C2BE6A5}"/>
              </a:ext>
            </a:extLst>
          </p:cNvPr>
          <p:cNvSpPr txBox="1"/>
          <p:nvPr/>
        </p:nvSpPr>
        <p:spPr>
          <a:xfrm>
            <a:off x="831574" y="5377237"/>
            <a:ext cx="389284" cy="571247"/>
          </a:xfrm>
          <a:prstGeom prst="rect">
            <a:avLst/>
          </a:prstGeom>
          <a:noFill/>
        </p:spPr>
        <p:txBody>
          <a:bodyPr wrap="square" rtlCol="0">
            <a:spAutoFit/>
          </a:bodyPr>
          <a:lstStyle/>
          <a:p>
            <a:pPr>
              <a:lnSpc>
                <a:spcPct val="150000"/>
              </a:lnSpc>
            </a:pPr>
            <a:r>
              <a:rPr lang="en-US" sz="2400" dirty="0"/>
              <a:t>A</a:t>
            </a:r>
            <a:endParaRPr lang="en-IN" sz="2400" dirty="0"/>
          </a:p>
        </p:txBody>
      </p:sp>
      <p:sp>
        <p:nvSpPr>
          <p:cNvPr id="14" name="TextBox 13">
            <a:extLst>
              <a:ext uri="{FF2B5EF4-FFF2-40B4-BE49-F238E27FC236}">
                <a16:creationId xmlns:a16="http://schemas.microsoft.com/office/drawing/2014/main" xmlns="" id="{79DBD841-644F-65F4-D2DE-ACAA13E12876}"/>
              </a:ext>
            </a:extLst>
          </p:cNvPr>
          <p:cNvSpPr txBox="1"/>
          <p:nvPr/>
        </p:nvSpPr>
        <p:spPr>
          <a:xfrm>
            <a:off x="1781588" y="5387176"/>
            <a:ext cx="389284" cy="571247"/>
          </a:xfrm>
          <a:prstGeom prst="rect">
            <a:avLst/>
          </a:prstGeom>
          <a:noFill/>
        </p:spPr>
        <p:txBody>
          <a:bodyPr wrap="square" rtlCol="0">
            <a:spAutoFit/>
          </a:bodyPr>
          <a:lstStyle/>
          <a:p>
            <a:pPr>
              <a:lnSpc>
                <a:spcPct val="150000"/>
              </a:lnSpc>
            </a:pPr>
            <a:r>
              <a:rPr lang="en-US" sz="2400" dirty="0"/>
              <a:t>D</a:t>
            </a:r>
            <a:endParaRPr lang="en-IN" sz="2400" dirty="0"/>
          </a:p>
        </p:txBody>
      </p:sp>
      <p:sp>
        <p:nvSpPr>
          <p:cNvPr id="15" name="TextBox 14">
            <a:extLst>
              <a:ext uri="{FF2B5EF4-FFF2-40B4-BE49-F238E27FC236}">
                <a16:creationId xmlns:a16="http://schemas.microsoft.com/office/drawing/2014/main" xmlns="" id="{C4F6A54C-20D8-1ABD-033E-9A4054548E24}"/>
              </a:ext>
            </a:extLst>
          </p:cNvPr>
          <p:cNvSpPr txBox="1"/>
          <p:nvPr/>
        </p:nvSpPr>
        <p:spPr>
          <a:xfrm>
            <a:off x="3940030" y="5377237"/>
            <a:ext cx="389284" cy="571247"/>
          </a:xfrm>
          <a:prstGeom prst="rect">
            <a:avLst/>
          </a:prstGeom>
          <a:noFill/>
        </p:spPr>
        <p:txBody>
          <a:bodyPr wrap="square" rtlCol="0">
            <a:spAutoFit/>
          </a:bodyPr>
          <a:lstStyle/>
          <a:p>
            <a:pPr>
              <a:lnSpc>
                <a:spcPct val="150000"/>
              </a:lnSpc>
            </a:pPr>
            <a:r>
              <a:rPr lang="en-US" sz="2400" dirty="0"/>
              <a:t>E</a:t>
            </a:r>
            <a:endParaRPr lang="en-IN" sz="2400" dirty="0"/>
          </a:p>
        </p:txBody>
      </p:sp>
      <p:sp>
        <p:nvSpPr>
          <p:cNvPr id="16" name="TextBox 15">
            <a:extLst>
              <a:ext uri="{FF2B5EF4-FFF2-40B4-BE49-F238E27FC236}">
                <a16:creationId xmlns:a16="http://schemas.microsoft.com/office/drawing/2014/main" xmlns="" id="{DE8A0EB7-BF60-0E75-12E8-12CAD528EC14}"/>
              </a:ext>
            </a:extLst>
          </p:cNvPr>
          <p:cNvSpPr txBox="1"/>
          <p:nvPr/>
        </p:nvSpPr>
        <p:spPr>
          <a:xfrm>
            <a:off x="4967902" y="5387176"/>
            <a:ext cx="389284" cy="571247"/>
          </a:xfrm>
          <a:prstGeom prst="rect">
            <a:avLst/>
          </a:prstGeom>
          <a:noFill/>
        </p:spPr>
        <p:txBody>
          <a:bodyPr wrap="square" rtlCol="0">
            <a:spAutoFit/>
          </a:bodyPr>
          <a:lstStyle/>
          <a:p>
            <a:pPr>
              <a:lnSpc>
                <a:spcPct val="150000"/>
              </a:lnSpc>
            </a:pPr>
            <a:r>
              <a:rPr lang="en-US" sz="2400" dirty="0"/>
              <a:t>C</a:t>
            </a:r>
            <a:endParaRPr lang="en-IN" sz="2400" dirty="0"/>
          </a:p>
        </p:txBody>
      </p:sp>
      <p:cxnSp>
        <p:nvCxnSpPr>
          <p:cNvPr id="19" name="Straight Connector 18">
            <a:extLst>
              <a:ext uri="{FF2B5EF4-FFF2-40B4-BE49-F238E27FC236}">
                <a16:creationId xmlns:a16="http://schemas.microsoft.com/office/drawing/2014/main" xmlns="" id="{24C4DA0A-777F-70F0-2DD2-79581B911014}"/>
              </a:ext>
            </a:extLst>
          </p:cNvPr>
          <p:cNvCxnSpPr>
            <a:cxnSpLocks/>
          </p:cNvCxnSpPr>
          <p:nvPr/>
        </p:nvCxnSpPr>
        <p:spPr>
          <a:xfrm>
            <a:off x="720998" y="3124407"/>
            <a:ext cx="485485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AA3DC620-81E7-EF4A-494C-1CEACA4D8D16}"/>
              </a:ext>
            </a:extLst>
          </p:cNvPr>
          <p:cNvCxnSpPr>
            <a:cxnSpLocks/>
          </p:cNvCxnSpPr>
          <p:nvPr/>
        </p:nvCxnSpPr>
        <p:spPr>
          <a:xfrm>
            <a:off x="5681455" y="3124407"/>
            <a:ext cx="31743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111A0DEC-B50D-94E8-6114-7842A0467A24}"/>
              </a:ext>
            </a:extLst>
          </p:cNvPr>
          <p:cNvCxnSpPr>
            <a:cxnSpLocks/>
          </p:cNvCxnSpPr>
          <p:nvPr/>
        </p:nvCxnSpPr>
        <p:spPr>
          <a:xfrm>
            <a:off x="583717" y="3612044"/>
            <a:ext cx="119787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8734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6</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A sale representative plans to visit each of the six companies M, N, P, Q, R, and S exactly once during the course of one day. She is setting up her schedule for the day according to the following conditions: She must visit M before N and R. She must visit N before Q. The third company she visits must be P. If the sales representative visits S first, which company must she visit second?</a:t>
            </a:r>
          </a:p>
          <a:p>
            <a:pPr algn="just"/>
            <a:r>
              <a:rPr lang="en-IN" dirty="0"/>
              <a:t>(a) M 	(b) N 		(c) P 		(d) Q 		(e) R </a:t>
            </a:r>
          </a:p>
          <a:p>
            <a:pPr algn="just"/>
            <a:endParaRPr lang="en-IN" dirty="0"/>
          </a:p>
        </p:txBody>
      </p:sp>
    </p:spTree>
    <p:extLst>
      <p:ext uri="{BB962C8B-B14F-4D97-AF65-F5344CB8AC3E}">
        <p14:creationId xmlns:p14="http://schemas.microsoft.com/office/powerpoint/2010/main" val="504600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6</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200" dirty="0"/>
              <a:t>A sale representative plans to visit each of the six companies M, N, P, Q, R, and S exactly once during the course of one day. She is setting up her schedule for the day according to the following conditions: She must visit M before N and R. She must visit N before Q. The third company she visits must be P. If the sales representative visits S first, which company must she visit second?</a:t>
            </a:r>
          </a:p>
          <a:p>
            <a:pPr algn="just"/>
            <a:r>
              <a:rPr lang="en-IN" sz="2200" dirty="0"/>
              <a:t>(a) M 	(b) N 		(c) P 		(d) Q 		(e) R </a:t>
            </a:r>
          </a:p>
          <a:p>
            <a:pPr algn="just"/>
            <a:endParaRPr lang="en-IN" dirty="0"/>
          </a:p>
        </p:txBody>
      </p:sp>
      <p:sp>
        <p:nvSpPr>
          <p:cNvPr id="4" name="TextBox 3">
            <a:extLst>
              <a:ext uri="{FF2B5EF4-FFF2-40B4-BE49-F238E27FC236}">
                <a16:creationId xmlns:a16="http://schemas.microsoft.com/office/drawing/2014/main" xmlns="" id="{3F2AF704-0BB5-2204-DC00-1C685AC934C0}"/>
              </a:ext>
            </a:extLst>
          </p:cNvPr>
          <p:cNvSpPr txBox="1"/>
          <p:nvPr/>
        </p:nvSpPr>
        <p:spPr>
          <a:xfrm>
            <a:off x="1640161" y="5760857"/>
            <a:ext cx="476871" cy="461665"/>
          </a:xfrm>
          <a:prstGeom prst="rect">
            <a:avLst/>
          </a:prstGeom>
          <a:noFill/>
        </p:spPr>
        <p:txBody>
          <a:bodyPr wrap="square" rtlCol="0">
            <a:spAutoFit/>
          </a:bodyPr>
          <a:lstStyle/>
          <a:p>
            <a:r>
              <a:rPr lang="en-IN" sz="2400" dirty="0"/>
              <a:t>S,</a:t>
            </a:r>
          </a:p>
        </p:txBody>
      </p:sp>
      <p:sp>
        <p:nvSpPr>
          <p:cNvPr id="6" name="Oval 5">
            <a:extLst>
              <a:ext uri="{FF2B5EF4-FFF2-40B4-BE49-F238E27FC236}">
                <a16:creationId xmlns:a16="http://schemas.microsoft.com/office/drawing/2014/main" xmlns="" id="{0048339D-EE0C-831C-CD8F-9075F1F97EA0}"/>
              </a:ext>
            </a:extLst>
          </p:cNvPr>
          <p:cNvSpPr/>
          <p:nvPr/>
        </p:nvSpPr>
        <p:spPr>
          <a:xfrm>
            <a:off x="468173" y="5084902"/>
            <a:ext cx="1092270"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2163210" y="3349488"/>
            <a:ext cx="43369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6720819" y="3349488"/>
            <a:ext cx="20612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67578" y="3810002"/>
            <a:ext cx="126061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3709622" y="2339010"/>
            <a:ext cx="42715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a:off x="2080592" y="3813317"/>
            <a:ext cx="51948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44C37F3C-1874-663F-2138-87127F661C40}"/>
              </a:ext>
            </a:extLst>
          </p:cNvPr>
          <p:cNvCxnSpPr>
            <a:cxnSpLocks/>
          </p:cNvCxnSpPr>
          <p:nvPr/>
        </p:nvCxnSpPr>
        <p:spPr>
          <a:xfrm>
            <a:off x="667578" y="4343404"/>
            <a:ext cx="378515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D879916C-E487-45D8-E47A-4D8706DA6126}"/>
              </a:ext>
            </a:extLst>
          </p:cNvPr>
          <p:cNvSpPr txBox="1"/>
          <p:nvPr/>
        </p:nvSpPr>
        <p:spPr>
          <a:xfrm>
            <a:off x="3951630" y="5746984"/>
            <a:ext cx="1296231" cy="461665"/>
          </a:xfrm>
          <a:prstGeom prst="rect">
            <a:avLst/>
          </a:prstGeom>
          <a:noFill/>
        </p:spPr>
        <p:txBody>
          <a:bodyPr wrap="square" rtlCol="0">
            <a:spAutoFit/>
          </a:bodyPr>
          <a:lstStyle/>
          <a:p>
            <a:r>
              <a:rPr lang="en-IN" sz="2400" dirty="0"/>
              <a:t>M, N, R</a:t>
            </a:r>
          </a:p>
        </p:txBody>
      </p:sp>
      <p:sp>
        <p:nvSpPr>
          <p:cNvPr id="18" name="TextBox 17">
            <a:extLst>
              <a:ext uri="{FF2B5EF4-FFF2-40B4-BE49-F238E27FC236}">
                <a16:creationId xmlns:a16="http://schemas.microsoft.com/office/drawing/2014/main" xmlns="" id="{9C47A94E-4E23-FB8B-31B2-D5FAA9F4C142}"/>
              </a:ext>
            </a:extLst>
          </p:cNvPr>
          <p:cNvSpPr txBox="1"/>
          <p:nvPr/>
        </p:nvSpPr>
        <p:spPr>
          <a:xfrm>
            <a:off x="2514599" y="5748748"/>
            <a:ext cx="602767" cy="461665"/>
          </a:xfrm>
          <a:prstGeom prst="rect">
            <a:avLst/>
          </a:prstGeom>
          <a:noFill/>
        </p:spPr>
        <p:txBody>
          <a:bodyPr wrap="square" rtlCol="0">
            <a:spAutoFit/>
          </a:bodyPr>
          <a:lstStyle/>
          <a:p>
            <a:r>
              <a:rPr lang="en-IN" sz="2400" dirty="0"/>
              <a:t>, P</a:t>
            </a:r>
          </a:p>
        </p:txBody>
      </p:sp>
      <p:sp>
        <p:nvSpPr>
          <p:cNvPr id="19" name="TextBox 18">
            <a:extLst>
              <a:ext uri="{FF2B5EF4-FFF2-40B4-BE49-F238E27FC236}">
                <a16:creationId xmlns:a16="http://schemas.microsoft.com/office/drawing/2014/main" xmlns="" id="{8C8A428B-F1D0-FA9B-702E-AEF5D121F3C6}"/>
              </a:ext>
            </a:extLst>
          </p:cNvPr>
          <p:cNvSpPr txBox="1"/>
          <p:nvPr/>
        </p:nvSpPr>
        <p:spPr>
          <a:xfrm>
            <a:off x="5603131" y="5744292"/>
            <a:ext cx="808900" cy="461665"/>
          </a:xfrm>
          <a:prstGeom prst="rect">
            <a:avLst/>
          </a:prstGeom>
          <a:noFill/>
        </p:spPr>
        <p:txBody>
          <a:bodyPr wrap="square" rtlCol="0">
            <a:spAutoFit/>
          </a:bodyPr>
          <a:lstStyle/>
          <a:p>
            <a:r>
              <a:rPr lang="en-IN" sz="2400" dirty="0"/>
              <a:t>N, Q</a:t>
            </a:r>
          </a:p>
        </p:txBody>
      </p:sp>
      <p:sp>
        <p:nvSpPr>
          <p:cNvPr id="20" name="TextBox 19">
            <a:extLst>
              <a:ext uri="{FF2B5EF4-FFF2-40B4-BE49-F238E27FC236}">
                <a16:creationId xmlns:a16="http://schemas.microsoft.com/office/drawing/2014/main" xmlns="" id="{B9DA646A-DBEA-6159-BC8C-4510469D3BE8}"/>
              </a:ext>
            </a:extLst>
          </p:cNvPr>
          <p:cNvSpPr txBox="1"/>
          <p:nvPr/>
        </p:nvSpPr>
        <p:spPr>
          <a:xfrm>
            <a:off x="2081599" y="5760856"/>
            <a:ext cx="582085" cy="461665"/>
          </a:xfrm>
          <a:prstGeom prst="rect">
            <a:avLst/>
          </a:prstGeom>
          <a:noFill/>
        </p:spPr>
        <p:txBody>
          <a:bodyPr wrap="square" rtlCol="0">
            <a:spAutoFit/>
          </a:bodyPr>
          <a:lstStyle/>
          <a:p>
            <a:r>
              <a:rPr lang="en-IN" sz="2400" dirty="0"/>
              <a:t>M</a:t>
            </a:r>
          </a:p>
        </p:txBody>
      </p:sp>
    </p:spTree>
    <p:extLst>
      <p:ext uri="{BB962C8B-B14F-4D97-AF65-F5344CB8AC3E}">
        <p14:creationId xmlns:p14="http://schemas.microsoft.com/office/powerpoint/2010/main" val="37394738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20000"/>
          </a:bodyPr>
          <a:lstStyle/>
          <a:p>
            <a:pPr algn="just"/>
            <a:r>
              <a:rPr lang="en-IN" dirty="0"/>
              <a:t>A training college has to conduct a refresher course for teachers of seven different subjects – Mechanics, Psychology, Philosophy, Sociology, Economics, Science, and Engineering from 22</a:t>
            </a:r>
            <a:r>
              <a:rPr lang="en-IN" baseline="30000" dirty="0"/>
              <a:t>nd</a:t>
            </a:r>
            <a:r>
              <a:rPr lang="en-IN" dirty="0"/>
              <a:t> July to 29</a:t>
            </a:r>
            <a:r>
              <a:rPr lang="en-IN" baseline="30000" dirty="0"/>
              <a:t>th</a:t>
            </a:r>
            <a:r>
              <a:rPr lang="en-IN" dirty="0"/>
              <a:t> July. Course should start with Psychology. 23</a:t>
            </a:r>
            <a:r>
              <a:rPr lang="en-IN" baseline="30000" dirty="0"/>
              <a:t>rd</a:t>
            </a:r>
            <a:r>
              <a:rPr lang="en-IN" dirty="0"/>
              <a:t> July, being Sunday, should be holiday. Science subject should be on the previous day of the Engineering subject. Course should end with Mechanics subject. Philosophy should be immediately after the holiday. There should be a gap of one day between Economics and Engineering </a:t>
            </a:r>
            <a:r>
              <a:rPr lang="en-IN" sz="2800" dirty="0"/>
              <a:t>as well as philosophy and Science</a:t>
            </a:r>
            <a:r>
              <a:rPr lang="en-IN" dirty="0"/>
              <a:t>. Which subject will be on Tuesday?</a:t>
            </a:r>
          </a:p>
        </p:txBody>
      </p:sp>
    </p:spTree>
    <p:extLst>
      <p:ext uri="{BB962C8B-B14F-4D97-AF65-F5344CB8AC3E}">
        <p14:creationId xmlns:p14="http://schemas.microsoft.com/office/powerpoint/2010/main" val="24779603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A training college has to conduct a refresher course for teachers of seven different subjects – Mechanics, Psychology, Philosophy, Sociology, Economics, Science, and Engineering from 22</a:t>
            </a:r>
            <a:r>
              <a:rPr lang="en-IN" sz="2000" baseline="30000" dirty="0"/>
              <a:t>nd</a:t>
            </a:r>
            <a:r>
              <a:rPr lang="en-IN" sz="2000" dirty="0"/>
              <a:t> July to 29</a:t>
            </a:r>
            <a:r>
              <a:rPr lang="en-IN" sz="2000" baseline="30000" dirty="0"/>
              <a:t>th</a:t>
            </a:r>
            <a:r>
              <a:rPr lang="en-IN" sz="2000" dirty="0"/>
              <a:t> July. Course should start with Psychology. 23</a:t>
            </a:r>
            <a:r>
              <a:rPr lang="en-IN" sz="2000" baseline="30000" dirty="0"/>
              <a:t>rd</a:t>
            </a:r>
            <a:r>
              <a:rPr lang="en-IN" sz="2000" dirty="0"/>
              <a:t> July, being Sunday, should be holiday. Science subject should be on the previous day of the Engineering subject. Course should end with Mechanics subject. Philosophy should be immediately after the holiday. There should be a gap of one day between Economics and Engineering as well as philosophy and Science. Which subject will be on Tuesday?</a:t>
            </a:r>
          </a:p>
          <a:p>
            <a:pPr algn="just"/>
            <a:r>
              <a:rPr lang="en-IN" sz="2400" dirty="0"/>
              <a:t>   22     23     24     25     26     28    28	29</a:t>
            </a:r>
          </a:p>
          <a:p>
            <a:pPr algn="just"/>
            <a:endParaRPr lang="en-IN" sz="2000" dirty="0"/>
          </a:p>
          <a:p>
            <a:pPr algn="just"/>
            <a:endParaRPr lang="en-IN" dirty="0"/>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1381540" y="3150706"/>
            <a:ext cx="44427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6930889" y="2713383"/>
            <a:ext cx="199817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84146" y="4485863"/>
            <a:ext cx="60347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684146" y="5002699"/>
            <a:ext cx="80979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flipV="1">
            <a:off x="3346177" y="4050691"/>
            <a:ext cx="5435873" cy="114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89B0A418-7001-9D31-A442-2774236F4DE2}"/>
              </a:ext>
            </a:extLst>
          </p:cNvPr>
          <p:cNvCxnSpPr>
            <a:cxnSpLocks/>
          </p:cNvCxnSpPr>
          <p:nvPr/>
        </p:nvCxnSpPr>
        <p:spPr>
          <a:xfrm>
            <a:off x="6930889" y="4485863"/>
            <a:ext cx="185116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D2DA5A87-D8F7-BE24-5120-91E206BAFE0B}"/>
              </a:ext>
            </a:extLst>
          </p:cNvPr>
          <p:cNvCxnSpPr>
            <a:cxnSpLocks/>
          </p:cNvCxnSpPr>
          <p:nvPr/>
        </p:nvCxnSpPr>
        <p:spPr>
          <a:xfrm flipV="1">
            <a:off x="2819397" y="3624475"/>
            <a:ext cx="6050037" cy="135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xmlns="" id="{5CA6509C-859B-B851-BC25-20FE1039086F}"/>
              </a:ext>
            </a:extLst>
          </p:cNvPr>
          <p:cNvCxnSpPr>
            <a:cxnSpLocks/>
          </p:cNvCxnSpPr>
          <p:nvPr/>
        </p:nvCxnSpPr>
        <p:spPr>
          <a:xfrm flipV="1">
            <a:off x="684146" y="4050691"/>
            <a:ext cx="2389530" cy="114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64720E8C-B8D0-48A8-7609-ACB682F4DF22}"/>
              </a:ext>
            </a:extLst>
          </p:cNvPr>
          <p:cNvSpPr txBox="1"/>
          <p:nvPr/>
        </p:nvSpPr>
        <p:spPr>
          <a:xfrm>
            <a:off x="2133604" y="5963646"/>
            <a:ext cx="940072" cy="571247"/>
          </a:xfrm>
          <a:prstGeom prst="rect">
            <a:avLst/>
          </a:prstGeom>
          <a:noFill/>
        </p:spPr>
        <p:txBody>
          <a:bodyPr wrap="square" rtlCol="0">
            <a:spAutoFit/>
          </a:bodyPr>
          <a:lstStyle/>
          <a:p>
            <a:pPr>
              <a:lnSpc>
                <a:spcPct val="150000"/>
              </a:lnSpc>
            </a:pPr>
            <a:r>
              <a:rPr lang="en-US" sz="2400" dirty="0"/>
              <a:t>Philo</a:t>
            </a:r>
            <a:endParaRPr lang="en-IN" sz="2400" dirty="0"/>
          </a:p>
        </p:txBody>
      </p:sp>
      <p:sp>
        <p:nvSpPr>
          <p:cNvPr id="18" name="TextBox 17">
            <a:extLst>
              <a:ext uri="{FF2B5EF4-FFF2-40B4-BE49-F238E27FC236}">
                <a16:creationId xmlns:a16="http://schemas.microsoft.com/office/drawing/2014/main" xmlns="" id="{DD586C0D-BB5F-39CB-AD5E-8EB17967D8F2}"/>
              </a:ext>
            </a:extLst>
          </p:cNvPr>
          <p:cNvSpPr txBox="1"/>
          <p:nvPr/>
        </p:nvSpPr>
        <p:spPr>
          <a:xfrm>
            <a:off x="791817" y="5953707"/>
            <a:ext cx="689115" cy="571247"/>
          </a:xfrm>
          <a:prstGeom prst="rect">
            <a:avLst/>
          </a:prstGeom>
          <a:noFill/>
        </p:spPr>
        <p:txBody>
          <a:bodyPr wrap="square" rtlCol="0">
            <a:spAutoFit/>
          </a:bodyPr>
          <a:lstStyle/>
          <a:p>
            <a:pPr>
              <a:lnSpc>
                <a:spcPct val="150000"/>
              </a:lnSpc>
            </a:pPr>
            <a:r>
              <a:rPr lang="en-US" sz="2400" dirty="0" err="1"/>
              <a:t>Psy</a:t>
            </a:r>
            <a:endParaRPr lang="en-IN" sz="2400" dirty="0"/>
          </a:p>
        </p:txBody>
      </p:sp>
      <p:sp>
        <p:nvSpPr>
          <p:cNvPr id="19" name="TextBox 18">
            <a:extLst>
              <a:ext uri="{FF2B5EF4-FFF2-40B4-BE49-F238E27FC236}">
                <a16:creationId xmlns:a16="http://schemas.microsoft.com/office/drawing/2014/main" xmlns="" id="{C434A8BF-BD75-2791-A35A-9175E5B372EA}"/>
              </a:ext>
            </a:extLst>
          </p:cNvPr>
          <p:cNvSpPr txBox="1"/>
          <p:nvPr/>
        </p:nvSpPr>
        <p:spPr>
          <a:xfrm>
            <a:off x="1480931" y="5963646"/>
            <a:ext cx="719759" cy="571247"/>
          </a:xfrm>
          <a:prstGeom prst="rect">
            <a:avLst/>
          </a:prstGeom>
          <a:noFill/>
        </p:spPr>
        <p:txBody>
          <a:bodyPr wrap="square" rtlCol="0">
            <a:spAutoFit/>
          </a:bodyPr>
          <a:lstStyle/>
          <a:p>
            <a:pPr>
              <a:lnSpc>
                <a:spcPct val="150000"/>
              </a:lnSpc>
            </a:pPr>
            <a:r>
              <a:rPr lang="en-US" sz="2400" dirty="0"/>
              <a:t>Sun</a:t>
            </a:r>
            <a:endParaRPr lang="en-IN" sz="2400" dirty="0"/>
          </a:p>
        </p:txBody>
      </p:sp>
      <p:sp>
        <p:nvSpPr>
          <p:cNvPr id="21" name="TextBox 20">
            <a:extLst>
              <a:ext uri="{FF2B5EF4-FFF2-40B4-BE49-F238E27FC236}">
                <a16:creationId xmlns:a16="http://schemas.microsoft.com/office/drawing/2014/main" xmlns="" id="{83B36775-EEF8-AF87-4E43-E7E5CD811CCB}"/>
              </a:ext>
            </a:extLst>
          </p:cNvPr>
          <p:cNvSpPr txBox="1"/>
          <p:nvPr/>
        </p:nvSpPr>
        <p:spPr>
          <a:xfrm>
            <a:off x="2981736" y="5953707"/>
            <a:ext cx="689115" cy="571247"/>
          </a:xfrm>
          <a:prstGeom prst="rect">
            <a:avLst/>
          </a:prstGeom>
          <a:noFill/>
        </p:spPr>
        <p:txBody>
          <a:bodyPr wrap="square" rtlCol="0">
            <a:spAutoFit/>
          </a:bodyPr>
          <a:lstStyle/>
          <a:p>
            <a:pPr>
              <a:lnSpc>
                <a:spcPct val="150000"/>
              </a:lnSpc>
            </a:pPr>
            <a:r>
              <a:rPr lang="en-US" sz="2400" dirty="0"/>
              <a:t>Eco</a:t>
            </a:r>
            <a:endParaRPr lang="en-IN" sz="2400" dirty="0"/>
          </a:p>
        </p:txBody>
      </p:sp>
      <p:sp>
        <p:nvSpPr>
          <p:cNvPr id="22" name="TextBox 21">
            <a:extLst>
              <a:ext uri="{FF2B5EF4-FFF2-40B4-BE49-F238E27FC236}">
                <a16:creationId xmlns:a16="http://schemas.microsoft.com/office/drawing/2014/main" xmlns="" id="{D1704BE1-4C9C-36E3-C25E-DA4E68635A01}"/>
              </a:ext>
            </a:extLst>
          </p:cNvPr>
          <p:cNvSpPr txBox="1"/>
          <p:nvPr/>
        </p:nvSpPr>
        <p:spPr>
          <a:xfrm>
            <a:off x="3726348" y="5963646"/>
            <a:ext cx="573153" cy="571247"/>
          </a:xfrm>
          <a:prstGeom prst="rect">
            <a:avLst/>
          </a:prstGeom>
          <a:noFill/>
        </p:spPr>
        <p:txBody>
          <a:bodyPr wrap="square" rtlCol="0">
            <a:spAutoFit/>
          </a:bodyPr>
          <a:lstStyle/>
          <a:p>
            <a:pPr>
              <a:lnSpc>
                <a:spcPct val="150000"/>
              </a:lnSpc>
            </a:pPr>
            <a:r>
              <a:rPr lang="en-US" sz="2400" dirty="0"/>
              <a:t>Sc</a:t>
            </a:r>
            <a:endParaRPr lang="en-IN" sz="2400" dirty="0"/>
          </a:p>
        </p:txBody>
      </p:sp>
      <p:sp>
        <p:nvSpPr>
          <p:cNvPr id="23" name="TextBox 22">
            <a:extLst>
              <a:ext uri="{FF2B5EF4-FFF2-40B4-BE49-F238E27FC236}">
                <a16:creationId xmlns:a16="http://schemas.microsoft.com/office/drawing/2014/main" xmlns="" id="{06ED3402-FE8D-573A-C28D-7727FA727F85}"/>
              </a:ext>
            </a:extLst>
          </p:cNvPr>
          <p:cNvSpPr txBox="1"/>
          <p:nvPr/>
        </p:nvSpPr>
        <p:spPr>
          <a:xfrm>
            <a:off x="4299500" y="5953706"/>
            <a:ext cx="719759" cy="571247"/>
          </a:xfrm>
          <a:prstGeom prst="rect">
            <a:avLst/>
          </a:prstGeom>
          <a:noFill/>
        </p:spPr>
        <p:txBody>
          <a:bodyPr wrap="square" rtlCol="0">
            <a:spAutoFit/>
          </a:bodyPr>
          <a:lstStyle/>
          <a:p>
            <a:pPr>
              <a:lnSpc>
                <a:spcPct val="150000"/>
              </a:lnSpc>
            </a:pPr>
            <a:r>
              <a:rPr lang="en-US" sz="2400" dirty="0" err="1"/>
              <a:t>Eng</a:t>
            </a:r>
            <a:endParaRPr lang="en-IN" sz="2400" dirty="0"/>
          </a:p>
        </p:txBody>
      </p:sp>
      <p:sp>
        <p:nvSpPr>
          <p:cNvPr id="24" name="TextBox 23">
            <a:extLst>
              <a:ext uri="{FF2B5EF4-FFF2-40B4-BE49-F238E27FC236}">
                <a16:creationId xmlns:a16="http://schemas.microsoft.com/office/drawing/2014/main" xmlns="" id="{E91F2F2C-16AD-188B-AE97-87CA9A1912B0}"/>
              </a:ext>
            </a:extLst>
          </p:cNvPr>
          <p:cNvSpPr txBox="1"/>
          <p:nvPr/>
        </p:nvSpPr>
        <p:spPr>
          <a:xfrm>
            <a:off x="5116162" y="5953706"/>
            <a:ext cx="719758" cy="571247"/>
          </a:xfrm>
          <a:prstGeom prst="rect">
            <a:avLst/>
          </a:prstGeom>
          <a:noFill/>
        </p:spPr>
        <p:txBody>
          <a:bodyPr wrap="square" rtlCol="0">
            <a:spAutoFit/>
          </a:bodyPr>
          <a:lstStyle/>
          <a:p>
            <a:pPr>
              <a:lnSpc>
                <a:spcPct val="150000"/>
              </a:lnSpc>
            </a:pPr>
            <a:r>
              <a:rPr lang="en-US" sz="2400" dirty="0"/>
              <a:t>Soc</a:t>
            </a:r>
            <a:endParaRPr lang="en-IN" sz="2400" dirty="0"/>
          </a:p>
        </p:txBody>
      </p:sp>
      <p:sp>
        <p:nvSpPr>
          <p:cNvPr id="26" name="TextBox 25">
            <a:extLst>
              <a:ext uri="{FF2B5EF4-FFF2-40B4-BE49-F238E27FC236}">
                <a16:creationId xmlns:a16="http://schemas.microsoft.com/office/drawing/2014/main" xmlns="" id="{7918B19E-4826-2139-CF26-17CC171A41B2}"/>
              </a:ext>
            </a:extLst>
          </p:cNvPr>
          <p:cNvSpPr txBox="1"/>
          <p:nvPr/>
        </p:nvSpPr>
        <p:spPr>
          <a:xfrm>
            <a:off x="5898038" y="5953705"/>
            <a:ext cx="820813" cy="571247"/>
          </a:xfrm>
          <a:prstGeom prst="rect">
            <a:avLst/>
          </a:prstGeom>
          <a:noFill/>
        </p:spPr>
        <p:txBody>
          <a:bodyPr wrap="square" rtlCol="0">
            <a:spAutoFit/>
          </a:bodyPr>
          <a:lstStyle/>
          <a:p>
            <a:pPr>
              <a:lnSpc>
                <a:spcPct val="150000"/>
              </a:lnSpc>
            </a:pPr>
            <a:r>
              <a:rPr lang="en-US" sz="2400" dirty="0" err="1"/>
              <a:t>Mec</a:t>
            </a:r>
            <a:endParaRPr lang="en-IN" sz="2400" dirty="0"/>
          </a:p>
        </p:txBody>
      </p:sp>
      <p:cxnSp>
        <p:nvCxnSpPr>
          <p:cNvPr id="32" name="Straight Connector 31">
            <a:extLst>
              <a:ext uri="{FF2B5EF4-FFF2-40B4-BE49-F238E27FC236}">
                <a16:creationId xmlns:a16="http://schemas.microsoft.com/office/drawing/2014/main" xmlns="" id="{64C19C16-9C60-FC00-D158-9B8E1C0EE01F}"/>
              </a:ext>
            </a:extLst>
          </p:cNvPr>
          <p:cNvCxnSpPr>
            <a:cxnSpLocks/>
          </p:cNvCxnSpPr>
          <p:nvPr/>
        </p:nvCxnSpPr>
        <p:spPr>
          <a:xfrm>
            <a:off x="5898038" y="3150706"/>
            <a:ext cx="30310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2428D280-B857-DC86-28C9-515A7E4E4FB1}"/>
              </a:ext>
            </a:extLst>
          </p:cNvPr>
          <p:cNvCxnSpPr>
            <a:cxnSpLocks/>
          </p:cNvCxnSpPr>
          <p:nvPr/>
        </p:nvCxnSpPr>
        <p:spPr>
          <a:xfrm>
            <a:off x="684146" y="3624475"/>
            <a:ext cx="1967743" cy="6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xmlns="" id="{9062F9FD-3704-A5CA-C84D-D220885CEFB9}"/>
              </a:ext>
            </a:extLst>
          </p:cNvPr>
          <p:cNvSpPr/>
          <p:nvPr/>
        </p:nvSpPr>
        <p:spPr>
          <a:xfrm>
            <a:off x="2981736" y="5666342"/>
            <a:ext cx="682494" cy="8586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xmlns="" id="{33775346-04C8-2119-A967-FB31952773F6}"/>
              </a:ext>
            </a:extLst>
          </p:cNvPr>
          <p:cNvSpPr/>
          <p:nvPr/>
        </p:nvSpPr>
        <p:spPr>
          <a:xfrm>
            <a:off x="5955814" y="5093149"/>
            <a:ext cx="1662742" cy="33259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xmlns="" id="{657CF4A9-028A-3F38-4967-6842A53F4BA1}"/>
              </a:ext>
            </a:extLst>
          </p:cNvPr>
          <p:cNvCxnSpPr>
            <a:cxnSpLocks/>
          </p:cNvCxnSpPr>
          <p:nvPr/>
        </p:nvCxnSpPr>
        <p:spPr>
          <a:xfrm>
            <a:off x="604010" y="5425739"/>
            <a:ext cx="271897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6951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77500" lnSpcReduction="20000"/>
          </a:bodyPr>
          <a:lstStyle/>
          <a:p>
            <a:pPr algn="just"/>
            <a:r>
              <a:rPr lang="en-IN" dirty="0"/>
              <a:t>The director of institute has announced that six guest lectures on different areas like leadership, decision making, quality circles, motivation, assessment centre and group discussion are to be organized only one on each day from Monday to Sunday. Motivation should be organized immediately after Assessment Centre. Quality Circle should be organized on Wednesday and should not be followed by Group Discussion. Decision Making should be organized on Friday and there should be a gap of two days between Leadership and Group Discussion. One day there will be no lecture (Sunday is not that day), just before that day Group Discussion will be organized.  How many lectures are organized between Motivation and Quality Circle?</a:t>
            </a:r>
          </a:p>
          <a:p>
            <a:r>
              <a:rPr lang="en-IN" dirty="0"/>
              <a:t>(a) One 	(b) Two 		(c) Three 	(d) Four</a:t>
            </a:r>
          </a:p>
        </p:txBody>
      </p:sp>
    </p:spTree>
    <p:extLst>
      <p:ext uri="{BB962C8B-B14F-4D97-AF65-F5344CB8AC3E}">
        <p14:creationId xmlns:p14="http://schemas.microsoft.com/office/powerpoint/2010/main" val="31391397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Monday to Sunday. Motivation should be organized immediately after Assessment Centre. Quality Circle should be organized on Wednesday and should not be followed by Group Discussion. Decision Making should be organized on Friday and there should be a gap of two days between Leadership and Group Discussion. One day there will be no lecture (Sunday is not that day), just before that day Group Discussion will be organized. How many lectures are organized between Motivation and Quality Circle? </a:t>
            </a:r>
          </a:p>
          <a:p>
            <a:pPr algn="just"/>
            <a:r>
              <a:rPr lang="en-IN" sz="2400" dirty="0"/>
              <a:t> Mon     Tue     Wed     Thu      Fri      Sat       Sun</a:t>
            </a:r>
          </a:p>
          <a:p>
            <a:pPr algn="just"/>
            <a:endParaRPr lang="en-IN" sz="2400" dirty="0"/>
          </a:p>
          <a:p>
            <a:endParaRPr lang="en-IN" dirty="0"/>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3101009" y="2246245"/>
            <a:ext cx="577463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699053" y="2703444"/>
            <a:ext cx="607943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99053" y="3263350"/>
            <a:ext cx="8244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699053" y="4128055"/>
            <a:ext cx="81765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a:off x="633616" y="3612041"/>
            <a:ext cx="52354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89B0A418-7001-9D31-A442-2774236F4DE2}"/>
              </a:ext>
            </a:extLst>
          </p:cNvPr>
          <p:cNvCxnSpPr>
            <a:cxnSpLocks/>
          </p:cNvCxnSpPr>
          <p:nvPr/>
        </p:nvCxnSpPr>
        <p:spPr>
          <a:xfrm>
            <a:off x="6936677" y="2703444"/>
            <a:ext cx="193896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D2DA5A87-D8F7-BE24-5120-91E206BAFE0B}"/>
              </a:ext>
            </a:extLst>
          </p:cNvPr>
          <p:cNvCxnSpPr>
            <a:cxnSpLocks/>
          </p:cNvCxnSpPr>
          <p:nvPr/>
        </p:nvCxnSpPr>
        <p:spPr>
          <a:xfrm>
            <a:off x="6013173" y="3594650"/>
            <a:ext cx="281857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897B5722-BC31-407F-25F7-FF96FC45C190}"/>
              </a:ext>
            </a:extLst>
          </p:cNvPr>
          <p:cNvSpPr txBox="1"/>
          <p:nvPr/>
        </p:nvSpPr>
        <p:spPr>
          <a:xfrm>
            <a:off x="2671968" y="5572540"/>
            <a:ext cx="578128" cy="571247"/>
          </a:xfrm>
          <a:prstGeom prst="rect">
            <a:avLst/>
          </a:prstGeom>
          <a:noFill/>
        </p:spPr>
        <p:txBody>
          <a:bodyPr wrap="square" rtlCol="0">
            <a:spAutoFit/>
          </a:bodyPr>
          <a:lstStyle/>
          <a:p>
            <a:pPr>
              <a:lnSpc>
                <a:spcPct val="150000"/>
              </a:lnSpc>
            </a:pPr>
            <a:r>
              <a:rPr lang="en-US" sz="2400" dirty="0"/>
              <a:t>QC</a:t>
            </a:r>
            <a:endParaRPr lang="en-IN" sz="2400" dirty="0"/>
          </a:p>
        </p:txBody>
      </p:sp>
      <p:sp>
        <p:nvSpPr>
          <p:cNvPr id="18" name="TextBox 17">
            <a:extLst>
              <a:ext uri="{FF2B5EF4-FFF2-40B4-BE49-F238E27FC236}">
                <a16:creationId xmlns:a16="http://schemas.microsoft.com/office/drawing/2014/main" xmlns="" id="{398ACD0E-7C3E-0720-DE8C-2588E33D6571}"/>
              </a:ext>
            </a:extLst>
          </p:cNvPr>
          <p:cNvSpPr txBox="1"/>
          <p:nvPr/>
        </p:nvSpPr>
        <p:spPr>
          <a:xfrm>
            <a:off x="771939" y="5562601"/>
            <a:ext cx="639417" cy="571247"/>
          </a:xfrm>
          <a:prstGeom prst="rect">
            <a:avLst/>
          </a:prstGeom>
          <a:noFill/>
        </p:spPr>
        <p:txBody>
          <a:bodyPr wrap="square" rtlCol="0">
            <a:spAutoFit/>
          </a:bodyPr>
          <a:lstStyle/>
          <a:p>
            <a:pPr>
              <a:lnSpc>
                <a:spcPct val="150000"/>
              </a:lnSpc>
            </a:pPr>
            <a:r>
              <a:rPr lang="en-US" sz="2400" dirty="0"/>
              <a:t>GD</a:t>
            </a:r>
            <a:endParaRPr lang="en-IN" sz="2400" dirty="0"/>
          </a:p>
        </p:txBody>
      </p:sp>
      <p:sp>
        <p:nvSpPr>
          <p:cNvPr id="19" name="TextBox 18">
            <a:extLst>
              <a:ext uri="{FF2B5EF4-FFF2-40B4-BE49-F238E27FC236}">
                <a16:creationId xmlns:a16="http://schemas.microsoft.com/office/drawing/2014/main" xmlns="" id="{8812088B-0C7A-DE59-8380-0C0C49B1A98E}"/>
              </a:ext>
            </a:extLst>
          </p:cNvPr>
          <p:cNvSpPr txBox="1"/>
          <p:nvPr/>
        </p:nvSpPr>
        <p:spPr>
          <a:xfrm>
            <a:off x="1721954" y="5572540"/>
            <a:ext cx="389284" cy="571247"/>
          </a:xfrm>
          <a:prstGeom prst="rect">
            <a:avLst/>
          </a:prstGeom>
          <a:noFill/>
        </p:spPr>
        <p:txBody>
          <a:bodyPr wrap="square" rtlCol="0">
            <a:spAutoFit/>
          </a:bodyPr>
          <a:lstStyle/>
          <a:p>
            <a:pPr>
              <a:lnSpc>
                <a:spcPct val="150000"/>
              </a:lnSpc>
            </a:pPr>
            <a:r>
              <a:rPr lang="en-US" sz="2400" dirty="0"/>
              <a:t>X</a:t>
            </a:r>
            <a:endParaRPr lang="en-IN" sz="2400" dirty="0"/>
          </a:p>
        </p:txBody>
      </p:sp>
      <p:sp>
        <p:nvSpPr>
          <p:cNvPr id="21" name="TextBox 20">
            <a:extLst>
              <a:ext uri="{FF2B5EF4-FFF2-40B4-BE49-F238E27FC236}">
                <a16:creationId xmlns:a16="http://schemas.microsoft.com/office/drawing/2014/main" xmlns="" id="{236828CF-5F07-844F-32B1-5FD175FE90C0}"/>
              </a:ext>
            </a:extLst>
          </p:cNvPr>
          <p:cNvSpPr txBox="1"/>
          <p:nvPr/>
        </p:nvSpPr>
        <p:spPr>
          <a:xfrm>
            <a:off x="3711433" y="5562601"/>
            <a:ext cx="389284" cy="571247"/>
          </a:xfrm>
          <a:prstGeom prst="rect">
            <a:avLst/>
          </a:prstGeom>
          <a:noFill/>
        </p:spPr>
        <p:txBody>
          <a:bodyPr wrap="square" rtlCol="0">
            <a:spAutoFit/>
          </a:bodyPr>
          <a:lstStyle/>
          <a:p>
            <a:pPr>
              <a:lnSpc>
                <a:spcPct val="150000"/>
              </a:lnSpc>
            </a:pPr>
            <a:r>
              <a:rPr lang="en-US" sz="2400" dirty="0"/>
              <a:t>L</a:t>
            </a:r>
            <a:endParaRPr lang="en-IN" sz="2400" dirty="0"/>
          </a:p>
        </p:txBody>
      </p:sp>
      <p:sp>
        <p:nvSpPr>
          <p:cNvPr id="22" name="TextBox 21">
            <a:extLst>
              <a:ext uri="{FF2B5EF4-FFF2-40B4-BE49-F238E27FC236}">
                <a16:creationId xmlns:a16="http://schemas.microsoft.com/office/drawing/2014/main" xmlns="" id="{89BA2FD0-3B95-E8E0-3317-D50D9C5FCB3E}"/>
              </a:ext>
            </a:extLst>
          </p:cNvPr>
          <p:cNvSpPr txBox="1"/>
          <p:nvPr/>
        </p:nvSpPr>
        <p:spPr>
          <a:xfrm>
            <a:off x="4530586" y="5572540"/>
            <a:ext cx="677520" cy="571247"/>
          </a:xfrm>
          <a:prstGeom prst="rect">
            <a:avLst/>
          </a:prstGeom>
          <a:noFill/>
        </p:spPr>
        <p:txBody>
          <a:bodyPr wrap="square" rtlCol="0">
            <a:spAutoFit/>
          </a:bodyPr>
          <a:lstStyle/>
          <a:p>
            <a:pPr>
              <a:lnSpc>
                <a:spcPct val="150000"/>
              </a:lnSpc>
            </a:pPr>
            <a:r>
              <a:rPr lang="en-US" sz="2400" dirty="0"/>
              <a:t>DM</a:t>
            </a:r>
            <a:endParaRPr lang="en-IN" sz="2400" dirty="0"/>
          </a:p>
        </p:txBody>
      </p:sp>
      <p:sp>
        <p:nvSpPr>
          <p:cNvPr id="23" name="TextBox 22">
            <a:extLst>
              <a:ext uri="{FF2B5EF4-FFF2-40B4-BE49-F238E27FC236}">
                <a16:creationId xmlns:a16="http://schemas.microsoft.com/office/drawing/2014/main" xmlns="" id="{8E1C73B5-B149-461B-6B95-BC5DF8828B5D}"/>
              </a:ext>
            </a:extLst>
          </p:cNvPr>
          <p:cNvSpPr txBox="1"/>
          <p:nvPr/>
        </p:nvSpPr>
        <p:spPr>
          <a:xfrm>
            <a:off x="5472314" y="5562600"/>
            <a:ext cx="578127" cy="571247"/>
          </a:xfrm>
          <a:prstGeom prst="rect">
            <a:avLst/>
          </a:prstGeom>
          <a:noFill/>
        </p:spPr>
        <p:txBody>
          <a:bodyPr wrap="square" rtlCol="0">
            <a:spAutoFit/>
          </a:bodyPr>
          <a:lstStyle/>
          <a:p>
            <a:pPr>
              <a:lnSpc>
                <a:spcPct val="150000"/>
              </a:lnSpc>
            </a:pPr>
            <a:r>
              <a:rPr lang="en-US" sz="2400" dirty="0"/>
              <a:t>AC</a:t>
            </a:r>
            <a:endParaRPr lang="en-IN" sz="2400" dirty="0"/>
          </a:p>
        </p:txBody>
      </p:sp>
      <p:sp>
        <p:nvSpPr>
          <p:cNvPr id="24" name="TextBox 23">
            <a:extLst>
              <a:ext uri="{FF2B5EF4-FFF2-40B4-BE49-F238E27FC236}">
                <a16:creationId xmlns:a16="http://schemas.microsoft.com/office/drawing/2014/main" xmlns="" id="{2FB9EA04-1B00-8F3D-1B5A-A1A677DF4282}"/>
              </a:ext>
            </a:extLst>
          </p:cNvPr>
          <p:cNvSpPr txBox="1"/>
          <p:nvPr/>
        </p:nvSpPr>
        <p:spPr>
          <a:xfrm>
            <a:off x="6547393" y="5562600"/>
            <a:ext cx="389284" cy="571247"/>
          </a:xfrm>
          <a:prstGeom prst="rect">
            <a:avLst/>
          </a:prstGeom>
          <a:noFill/>
        </p:spPr>
        <p:txBody>
          <a:bodyPr wrap="square" rtlCol="0">
            <a:spAutoFit/>
          </a:bodyPr>
          <a:lstStyle/>
          <a:p>
            <a:pPr>
              <a:lnSpc>
                <a:spcPct val="150000"/>
              </a:lnSpc>
            </a:pPr>
            <a:r>
              <a:rPr lang="en-US" sz="2400" dirty="0"/>
              <a:t>M</a:t>
            </a:r>
            <a:endParaRPr lang="en-IN" sz="2400" dirty="0"/>
          </a:p>
        </p:txBody>
      </p:sp>
      <p:cxnSp>
        <p:nvCxnSpPr>
          <p:cNvPr id="4" name="Straight Connector 3">
            <a:extLst>
              <a:ext uri="{FF2B5EF4-FFF2-40B4-BE49-F238E27FC236}">
                <a16:creationId xmlns:a16="http://schemas.microsoft.com/office/drawing/2014/main" xmlns="" id="{14A2FAA0-7B5B-F35E-76F6-D9FDFAD34F3C}"/>
              </a:ext>
            </a:extLst>
          </p:cNvPr>
          <p:cNvCxnSpPr>
            <a:cxnSpLocks/>
          </p:cNvCxnSpPr>
          <p:nvPr/>
        </p:nvCxnSpPr>
        <p:spPr>
          <a:xfrm>
            <a:off x="3008244" y="1815551"/>
            <a:ext cx="582350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B730EEDE-DF3E-9190-F564-9A4CC37730C6}"/>
              </a:ext>
            </a:extLst>
          </p:cNvPr>
          <p:cNvCxnSpPr>
            <a:cxnSpLocks/>
          </p:cNvCxnSpPr>
          <p:nvPr/>
        </p:nvCxnSpPr>
        <p:spPr>
          <a:xfrm>
            <a:off x="633616" y="2246245"/>
            <a:ext cx="237462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F6026185-1EEC-9904-99C9-40B3933138CA}"/>
              </a:ext>
            </a:extLst>
          </p:cNvPr>
          <p:cNvSpPr txBox="1"/>
          <p:nvPr/>
        </p:nvSpPr>
        <p:spPr>
          <a:xfrm>
            <a:off x="4051022" y="4588581"/>
            <a:ext cx="4862730" cy="430887"/>
          </a:xfrm>
          <a:prstGeom prst="rect">
            <a:avLst/>
          </a:prstGeom>
          <a:noFill/>
        </p:spPr>
        <p:txBody>
          <a:bodyPr wrap="square" rtlCol="0">
            <a:spAutoFit/>
          </a:bodyPr>
          <a:lstStyle/>
          <a:p>
            <a:r>
              <a:rPr lang="en-IN" sz="2200" dirty="0"/>
              <a:t>(a) One 	(b) Two  (c) Three (d) Four</a:t>
            </a:r>
          </a:p>
        </p:txBody>
      </p:sp>
      <p:sp>
        <p:nvSpPr>
          <p:cNvPr id="13" name="Oval 12">
            <a:extLst>
              <a:ext uri="{FF2B5EF4-FFF2-40B4-BE49-F238E27FC236}">
                <a16:creationId xmlns:a16="http://schemas.microsoft.com/office/drawing/2014/main" xmlns="" id="{08F48C76-A77E-DD27-0DBF-A988CA88F89E}"/>
              </a:ext>
            </a:extLst>
          </p:cNvPr>
          <p:cNvSpPr/>
          <p:nvPr/>
        </p:nvSpPr>
        <p:spPr>
          <a:xfrm>
            <a:off x="3170582" y="5116794"/>
            <a:ext cx="3272247" cy="109516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512F033B-A01F-07CF-0D7C-334BA60EF580}"/>
              </a:ext>
            </a:extLst>
          </p:cNvPr>
          <p:cNvSpPr/>
          <p:nvPr/>
        </p:nvSpPr>
        <p:spPr>
          <a:xfrm>
            <a:off x="6442830" y="4662496"/>
            <a:ext cx="1349447" cy="33259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24146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85000" lnSpcReduction="20000"/>
          </a:bodyPr>
          <a:lstStyle/>
          <a:p>
            <a:pPr algn="just"/>
            <a:r>
              <a:rPr lang="en-IN" dirty="0"/>
              <a:t>Eight doctors P, Q, R, S, T, U, V, and W visit a charitable dispensary every day except on holiday i.e. Monday. Each doctor visits for one hour from Tuesday to Sunday except Saturday. The timings are 9 am to 1 pm and 2 pm to 6 pm; 1 pm to 2 pm is lunch break. On Saturday, it is open only in the morning i.e. 9 am to 1 pm and each doctor visits for only half an hour. No other doctor visits the dispensary before doctor Q and after doctor U. Doctor W comes immediately after lunch break and is followed by R. S comes in the same order as P in the afternoon session. If the lunch break and subsequent visiting hours are reduced by 15 minutes, at what time doctor U is expected to attend the dispensary?</a:t>
            </a:r>
          </a:p>
        </p:txBody>
      </p:sp>
      <p:sp>
        <p:nvSpPr>
          <p:cNvPr id="7" name="TextBox 6">
            <a:extLst>
              <a:ext uri="{FF2B5EF4-FFF2-40B4-BE49-F238E27FC236}">
                <a16:creationId xmlns:a16="http://schemas.microsoft.com/office/drawing/2014/main" xmlns="" id="{FC35B23C-2DBE-FA40-E0F0-21764B58C5DB}"/>
              </a:ext>
            </a:extLst>
          </p:cNvPr>
          <p:cNvSpPr txBox="1"/>
          <p:nvPr/>
        </p:nvSpPr>
        <p:spPr>
          <a:xfrm>
            <a:off x="2405270" y="6158949"/>
            <a:ext cx="6380922" cy="461665"/>
          </a:xfrm>
          <a:prstGeom prst="rect">
            <a:avLst/>
          </a:prstGeom>
          <a:noFill/>
        </p:spPr>
        <p:txBody>
          <a:bodyPr wrap="square" rtlCol="0">
            <a:spAutoFit/>
          </a:bodyPr>
          <a:lstStyle/>
          <a:p>
            <a:pPr algn="just"/>
            <a:r>
              <a:rPr lang="en-IN" sz="2400" dirty="0"/>
              <a:t>(a) 3:15 pm (b) 4 pm (c) 4:15 pm (d) 4:45 pm</a:t>
            </a:r>
          </a:p>
        </p:txBody>
      </p:sp>
    </p:spTree>
    <p:extLst>
      <p:ext uri="{BB962C8B-B14F-4D97-AF65-F5344CB8AC3E}">
        <p14:creationId xmlns:p14="http://schemas.microsoft.com/office/powerpoint/2010/main" val="8879801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1800" dirty="0"/>
              <a:t>Eight doctors P, Q, R, S, T, U, V, and W visit a charitable dispensary every day except on holiday i.e. Monday. Each doctor visits for one hour from Tuesday to Sunday except Saturday. The timings are 9 am to 1 pm and 2 pm to 6 pm; 1 pm to 2 pm is lunch break. On Saturday, it is open only in the morning i.e. 9 am to 1 pm and each doctor visits for only half an hour. No other doctor visits the dispensary before doctor Q and after doctor U. Doctor W comes immediately after lunch break and is followed by R. S comes in the same order as P in the afternoon session. If the lunch break and subsequent visiting hours are reduced by 15 minutes, at what time doctor U is expected to attend the dispensary?</a:t>
            </a:r>
          </a:p>
        </p:txBody>
      </p:sp>
      <p:cxnSp>
        <p:nvCxnSpPr>
          <p:cNvPr id="12" name="Straight Connector 11">
            <a:extLst>
              <a:ext uri="{FF2B5EF4-FFF2-40B4-BE49-F238E27FC236}">
                <a16:creationId xmlns:a16="http://schemas.microsoft.com/office/drawing/2014/main" xmlns="" id="{5AB64B46-C2EA-66BB-E702-9B4CAAAAD4D5}"/>
              </a:ext>
            </a:extLst>
          </p:cNvPr>
          <p:cNvCxnSpPr>
            <a:cxnSpLocks/>
          </p:cNvCxnSpPr>
          <p:nvPr/>
        </p:nvCxnSpPr>
        <p:spPr>
          <a:xfrm>
            <a:off x="665920" y="3820771"/>
            <a:ext cx="49716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797CAEBB-A8A4-91C8-55F4-3EE56AA08742}"/>
              </a:ext>
            </a:extLst>
          </p:cNvPr>
          <p:cNvCxnSpPr>
            <a:cxnSpLocks/>
          </p:cNvCxnSpPr>
          <p:nvPr/>
        </p:nvCxnSpPr>
        <p:spPr>
          <a:xfrm>
            <a:off x="5946913" y="3362740"/>
            <a:ext cx="28790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CCF1B4FF-5640-2BE4-E538-A9991B5F0A2C}"/>
              </a:ext>
            </a:extLst>
          </p:cNvPr>
          <p:cNvCxnSpPr>
            <a:cxnSpLocks/>
          </p:cNvCxnSpPr>
          <p:nvPr/>
        </p:nvCxnSpPr>
        <p:spPr>
          <a:xfrm>
            <a:off x="5817083" y="3820771"/>
            <a:ext cx="28790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9C47ED85-93F9-C5C5-D178-54A4BFE9563F}"/>
              </a:ext>
            </a:extLst>
          </p:cNvPr>
          <p:cNvCxnSpPr>
            <a:cxnSpLocks/>
          </p:cNvCxnSpPr>
          <p:nvPr/>
        </p:nvCxnSpPr>
        <p:spPr>
          <a:xfrm>
            <a:off x="665920" y="4211710"/>
            <a:ext cx="405516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6476A527-9171-6177-AEE8-3C20B99AF3A2}"/>
              </a:ext>
            </a:extLst>
          </p:cNvPr>
          <p:cNvSpPr txBox="1"/>
          <p:nvPr/>
        </p:nvSpPr>
        <p:spPr>
          <a:xfrm>
            <a:off x="2146853" y="5568726"/>
            <a:ext cx="387628" cy="461665"/>
          </a:xfrm>
          <a:prstGeom prst="rect">
            <a:avLst/>
          </a:prstGeom>
          <a:noFill/>
        </p:spPr>
        <p:txBody>
          <a:bodyPr wrap="square" rtlCol="0">
            <a:spAutoFit/>
          </a:bodyPr>
          <a:lstStyle/>
          <a:p>
            <a:pPr algn="just"/>
            <a:r>
              <a:rPr lang="en-IN" sz="2400" dirty="0"/>
              <a:t>Q </a:t>
            </a:r>
          </a:p>
        </p:txBody>
      </p:sp>
      <p:sp>
        <p:nvSpPr>
          <p:cNvPr id="26" name="TextBox 25">
            <a:extLst>
              <a:ext uri="{FF2B5EF4-FFF2-40B4-BE49-F238E27FC236}">
                <a16:creationId xmlns:a16="http://schemas.microsoft.com/office/drawing/2014/main" xmlns="" id="{7456CA54-2F5C-98F6-25EE-6ADC63247139}"/>
              </a:ext>
            </a:extLst>
          </p:cNvPr>
          <p:cNvSpPr txBox="1"/>
          <p:nvPr/>
        </p:nvSpPr>
        <p:spPr>
          <a:xfrm>
            <a:off x="2512840" y="5553867"/>
            <a:ext cx="685800" cy="461665"/>
          </a:xfrm>
          <a:prstGeom prst="rect">
            <a:avLst/>
          </a:prstGeom>
          <a:noFill/>
        </p:spPr>
        <p:txBody>
          <a:bodyPr wrap="square" rtlCol="0">
            <a:spAutoFit/>
          </a:bodyPr>
          <a:lstStyle/>
          <a:p>
            <a:pPr algn="just"/>
            <a:r>
              <a:rPr lang="en-IN" sz="2400" dirty="0"/>
              <a:t>T/V</a:t>
            </a:r>
          </a:p>
        </p:txBody>
      </p:sp>
      <p:sp>
        <p:nvSpPr>
          <p:cNvPr id="27" name="TextBox 26">
            <a:extLst>
              <a:ext uri="{FF2B5EF4-FFF2-40B4-BE49-F238E27FC236}">
                <a16:creationId xmlns:a16="http://schemas.microsoft.com/office/drawing/2014/main" xmlns="" id="{996193AB-E588-BB0A-C413-2A4A7F0B296F}"/>
              </a:ext>
            </a:extLst>
          </p:cNvPr>
          <p:cNvSpPr txBox="1"/>
          <p:nvPr/>
        </p:nvSpPr>
        <p:spPr>
          <a:xfrm>
            <a:off x="7184334" y="5543745"/>
            <a:ext cx="503169" cy="461665"/>
          </a:xfrm>
          <a:prstGeom prst="rect">
            <a:avLst/>
          </a:prstGeom>
          <a:noFill/>
        </p:spPr>
        <p:txBody>
          <a:bodyPr wrap="square" rtlCol="0">
            <a:spAutoFit/>
          </a:bodyPr>
          <a:lstStyle/>
          <a:p>
            <a:pPr algn="just"/>
            <a:r>
              <a:rPr lang="en-IN" sz="2400" dirty="0"/>
              <a:t>U</a:t>
            </a:r>
          </a:p>
        </p:txBody>
      </p:sp>
      <p:sp>
        <p:nvSpPr>
          <p:cNvPr id="28" name="TextBox 27">
            <a:extLst>
              <a:ext uri="{FF2B5EF4-FFF2-40B4-BE49-F238E27FC236}">
                <a16:creationId xmlns:a16="http://schemas.microsoft.com/office/drawing/2014/main" xmlns="" id="{5ED22232-89DE-5063-EE7D-6B3804387268}"/>
              </a:ext>
            </a:extLst>
          </p:cNvPr>
          <p:cNvSpPr txBox="1"/>
          <p:nvPr/>
        </p:nvSpPr>
        <p:spPr>
          <a:xfrm>
            <a:off x="4298362" y="5538909"/>
            <a:ext cx="1938132" cy="461665"/>
          </a:xfrm>
          <a:prstGeom prst="rect">
            <a:avLst/>
          </a:prstGeom>
          <a:noFill/>
        </p:spPr>
        <p:txBody>
          <a:bodyPr wrap="square" rtlCol="0">
            <a:spAutoFit/>
          </a:bodyPr>
          <a:lstStyle/>
          <a:p>
            <a:pPr algn="just"/>
            <a:r>
              <a:rPr lang="en-IN" sz="2400" dirty="0"/>
              <a:t>Lunch   W  R</a:t>
            </a:r>
          </a:p>
        </p:txBody>
      </p:sp>
      <p:sp>
        <p:nvSpPr>
          <p:cNvPr id="29" name="TextBox 28">
            <a:extLst>
              <a:ext uri="{FF2B5EF4-FFF2-40B4-BE49-F238E27FC236}">
                <a16:creationId xmlns:a16="http://schemas.microsoft.com/office/drawing/2014/main" xmlns="" id="{FD1879E4-DEF3-0E5C-7778-54C73A5D4769}"/>
              </a:ext>
            </a:extLst>
          </p:cNvPr>
          <p:cNvSpPr txBox="1"/>
          <p:nvPr/>
        </p:nvSpPr>
        <p:spPr>
          <a:xfrm>
            <a:off x="6681165" y="5551693"/>
            <a:ext cx="503170" cy="461665"/>
          </a:xfrm>
          <a:prstGeom prst="rect">
            <a:avLst/>
          </a:prstGeom>
          <a:noFill/>
        </p:spPr>
        <p:txBody>
          <a:bodyPr wrap="square" rtlCol="0">
            <a:spAutoFit/>
          </a:bodyPr>
          <a:lstStyle/>
          <a:p>
            <a:pPr algn="just"/>
            <a:r>
              <a:rPr lang="en-IN" sz="2400" dirty="0"/>
              <a:t>P</a:t>
            </a:r>
          </a:p>
        </p:txBody>
      </p:sp>
      <p:cxnSp>
        <p:nvCxnSpPr>
          <p:cNvPr id="30" name="Straight Connector 29">
            <a:extLst>
              <a:ext uri="{FF2B5EF4-FFF2-40B4-BE49-F238E27FC236}">
                <a16:creationId xmlns:a16="http://schemas.microsoft.com/office/drawing/2014/main" xmlns="" id="{C7DF2B66-CE47-A9AD-9F62-5818A4B08272}"/>
              </a:ext>
            </a:extLst>
          </p:cNvPr>
          <p:cNvCxnSpPr>
            <a:cxnSpLocks/>
          </p:cNvCxnSpPr>
          <p:nvPr/>
        </p:nvCxnSpPr>
        <p:spPr>
          <a:xfrm>
            <a:off x="4780720" y="4202603"/>
            <a:ext cx="405516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3C7B707B-F79B-6B47-725F-CF03472168F1}"/>
              </a:ext>
            </a:extLst>
          </p:cNvPr>
          <p:cNvCxnSpPr>
            <a:cxnSpLocks/>
          </p:cNvCxnSpPr>
          <p:nvPr/>
        </p:nvCxnSpPr>
        <p:spPr>
          <a:xfrm>
            <a:off x="665920" y="4621696"/>
            <a:ext cx="202758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xmlns="" id="{1B4E9C49-2E55-D226-D0E2-E71314AC0416}"/>
              </a:ext>
            </a:extLst>
          </p:cNvPr>
          <p:cNvSpPr txBox="1"/>
          <p:nvPr/>
        </p:nvSpPr>
        <p:spPr>
          <a:xfrm>
            <a:off x="3071191" y="5551693"/>
            <a:ext cx="387628" cy="461665"/>
          </a:xfrm>
          <a:prstGeom prst="rect">
            <a:avLst/>
          </a:prstGeom>
          <a:noFill/>
        </p:spPr>
        <p:txBody>
          <a:bodyPr wrap="square" rtlCol="0">
            <a:spAutoFit/>
          </a:bodyPr>
          <a:lstStyle/>
          <a:p>
            <a:pPr algn="just"/>
            <a:r>
              <a:rPr lang="en-IN" sz="2400" dirty="0"/>
              <a:t>S</a:t>
            </a:r>
          </a:p>
        </p:txBody>
      </p:sp>
      <p:sp>
        <p:nvSpPr>
          <p:cNvPr id="34" name="TextBox 33">
            <a:extLst>
              <a:ext uri="{FF2B5EF4-FFF2-40B4-BE49-F238E27FC236}">
                <a16:creationId xmlns:a16="http://schemas.microsoft.com/office/drawing/2014/main" xmlns="" id="{E428388B-0D53-8F08-7962-FCE6447F5AEC}"/>
              </a:ext>
            </a:extLst>
          </p:cNvPr>
          <p:cNvSpPr txBox="1"/>
          <p:nvPr/>
        </p:nvSpPr>
        <p:spPr>
          <a:xfrm>
            <a:off x="3508509" y="5541753"/>
            <a:ext cx="745642" cy="461665"/>
          </a:xfrm>
          <a:prstGeom prst="rect">
            <a:avLst/>
          </a:prstGeom>
          <a:noFill/>
        </p:spPr>
        <p:txBody>
          <a:bodyPr wrap="square" rtlCol="0">
            <a:spAutoFit/>
          </a:bodyPr>
          <a:lstStyle/>
          <a:p>
            <a:pPr algn="just"/>
            <a:r>
              <a:rPr lang="en-IN" sz="2400" dirty="0"/>
              <a:t>V/T</a:t>
            </a:r>
          </a:p>
        </p:txBody>
      </p:sp>
    </p:spTree>
    <p:extLst>
      <p:ext uri="{BB962C8B-B14F-4D97-AF65-F5344CB8AC3E}">
        <p14:creationId xmlns:p14="http://schemas.microsoft.com/office/powerpoint/2010/main" val="42639390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endParaRPr lang="en-IN" sz="1800" dirty="0"/>
          </a:p>
          <a:p>
            <a:pPr algn="just"/>
            <a:endParaRPr lang="en-IN" sz="1800" dirty="0"/>
          </a:p>
          <a:p>
            <a:pPr algn="just"/>
            <a:r>
              <a:rPr lang="en-IN" sz="2200" dirty="0"/>
              <a:t>1 pm to 2 pm is lunch break. If the lunch break and subsequent visiting hours are reduced by 15 minutes, at what time doctor U is expected to attend the dispensary?</a:t>
            </a:r>
          </a:p>
        </p:txBody>
      </p:sp>
      <p:sp>
        <p:nvSpPr>
          <p:cNvPr id="5" name="Oval 4">
            <a:extLst>
              <a:ext uri="{FF2B5EF4-FFF2-40B4-BE49-F238E27FC236}">
                <a16:creationId xmlns:a16="http://schemas.microsoft.com/office/drawing/2014/main" xmlns="" id="{C91E44DB-23D9-F432-1231-D5413C3A196D}"/>
              </a:ext>
            </a:extLst>
          </p:cNvPr>
          <p:cNvSpPr/>
          <p:nvPr/>
        </p:nvSpPr>
        <p:spPr>
          <a:xfrm>
            <a:off x="3041373" y="4659804"/>
            <a:ext cx="1204188"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xmlns="" id="{8F8616CC-C92A-4514-847A-5EE85BE742A9}"/>
              </a:ext>
            </a:extLst>
          </p:cNvPr>
          <p:cNvCxnSpPr>
            <a:cxnSpLocks/>
          </p:cNvCxnSpPr>
          <p:nvPr/>
        </p:nvCxnSpPr>
        <p:spPr>
          <a:xfrm>
            <a:off x="662093" y="2902227"/>
            <a:ext cx="37111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F1ABB28B-F45C-BC7E-42CA-A965944A69DB}"/>
              </a:ext>
            </a:extLst>
          </p:cNvPr>
          <p:cNvCxnSpPr>
            <a:cxnSpLocks/>
          </p:cNvCxnSpPr>
          <p:nvPr/>
        </p:nvCxnSpPr>
        <p:spPr>
          <a:xfrm>
            <a:off x="735183" y="3429000"/>
            <a:ext cx="517331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72804DFC-FBB2-DB3A-D9D5-3AA3F068CAD6}"/>
              </a:ext>
            </a:extLst>
          </p:cNvPr>
          <p:cNvSpPr txBox="1"/>
          <p:nvPr/>
        </p:nvSpPr>
        <p:spPr>
          <a:xfrm>
            <a:off x="1605946" y="4595005"/>
            <a:ext cx="6380922" cy="430887"/>
          </a:xfrm>
          <a:prstGeom prst="rect">
            <a:avLst/>
          </a:prstGeom>
          <a:noFill/>
        </p:spPr>
        <p:txBody>
          <a:bodyPr wrap="square" rtlCol="0">
            <a:spAutoFit/>
          </a:bodyPr>
          <a:lstStyle/>
          <a:p>
            <a:pPr algn="just"/>
            <a:r>
              <a:rPr lang="en-IN" sz="2200" dirty="0"/>
              <a:t>(a) 3:15 pm (b) 4 pm (c) 4:15 pm (d) 4:45 pm</a:t>
            </a:r>
          </a:p>
        </p:txBody>
      </p:sp>
      <p:sp>
        <p:nvSpPr>
          <p:cNvPr id="25" name="TextBox 24">
            <a:extLst>
              <a:ext uri="{FF2B5EF4-FFF2-40B4-BE49-F238E27FC236}">
                <a16:creationId xmlns:a16="http://schemas.microsoft.com/office/drawing/2014/main" xmlns="" id="{6476A527-9171-6177-AEE8-3C20B99AF3A2}"/>
              </a:ext>
            </a:extLst>
          </p:cNvPr>
          <p:cNvSpPr txBox="1"/>
          <p:nvPr/>
        </p:nvSpPr>
        <p:spPr>
          <a:xfrm>
            <a:off x="1818861" y="1524041"/>
            <a:ext cx="387628" cy="461665"/>
          </a:xfrm>
          <a:prstGeom prst="rect">
            <a:avLst/>
          </a:prstGeom>
          <a:noFill/>
        </p:spPr>
        <p:txBody>
          <a:bodyPr wrap="square" rtlCol="0">
            <a:spAutoFit/>
          </a:bodyPr>
          <a:lstStyle/>
          <a:p>
            <a:pPr algn="just"/>
            <a:r>
              <a:rPr lang="en-IN" sz="2400" dirty="0"/>
              <a:t>Q </a:t>
            </a:r>
          </a:p>
        </p:txBody>
      </p:sp>
      <p:sp>
        <p:nvSpPr>
          <p:cNvPr id="26" name="TextBox 25">
            <a:extLst>
              <a:ext uri="{FF2B5EF4-FFF2-40B4-BE49-F238E27FC236}">
                <a16:creationId xmlns:a16="http://schemas.microsoft.com/office/drawing/2014/main" xmlns="" id="{7456CA54-2F5C-98F6-25EE-6ADC63247139}"/>
              </a:ext>
            </a:extLst>
          </p:cNvPr>
          <p:cNvSpPr txBox="1"/>
          <p:nvPr/>
        </p:nvSpPr>
        <p:spPr>
          <a:xfrm>
            <a:off x="2184848" y="1509182"/>
            <a:ext cx="685800" cy="461665"/>
          </a:xfrm>
          <a:prstGeom prst="rect">
            <a:avLst/>
          </a:prstGeom>
          <a:noFill/>
        </p:spPr>
        <p:txBody>
          <a:bodyPr wrap="square" rtlCol="0">
            <a:spAutoFit/>
          </a:bodyPr>
          <a:lstStyle/>
          <a:p>
            <a:pPr algn="just"/>
            <a:r>
              <a:rPr lang="en-IN" sz="2400" dirty="0"/>
              <a:t>T/V</a:t>
            </a:r>
          </a:p>
        </p:txBody>
      </p:sp>
      <p:sp>
        <p:nvSpPr>
          <p:cNvPr id="27" name="TextBox 26">
            <a:extLst>
              <a:ext uri="{FF2B5EF4-FFF2-40B4-BE49-F238E27FC236}">
                <a16:creationId xmlns:a16="http://schemas.microsoft.com/office/drawing/2014/main" xmlns="" id="{996193AB-E588-BB0A-C413-2A4A7F0B296F}"/>
              </a:ext>
            </a:extLst>
          </p:cNvPr>
          <p:cNvSpPr txBox="1"/>
          <p:nvPr/>
        </p:nvSpPr>
        <p:spPr>
          <a:xfrm>
            <a:off x="6856342" y="1499060"/>
            <a:ext cx="503169" cy="461665"/>
          </a:xfrm>
          <a:prstGeom prst="rect">
            <a:avLst/>
          </a:prstGeom>
          <a:noFill/>
        </p:spPr>
        <p:txBody>
          <a:bodyPr wrap="square" rtlCol="0">
            <a:spAutoFit/>
          </a:bodyPr>
          <a:lstStyle/>
          <a:p>
            <a:pPr algn="just"/>
            <a:r>
              <a:rPr lang="en-IN" sz="2400" dirty="0"/>
              <a:t>U</a:t>
            </a:r>
          </a:p>
        </p:txBody>
      </p:sp>
      <p:sp>
        <p:nvSpPr>
          <p:cNvPr id="28" name="TextBox 27">
            <a:extLst>
              <a:ext uri="{FF2B5EF4-FFF2-40B4-BE49-F238E27FC236}">
                <a16:creationId xmlns:a16="http://schemas.microsoft.com/office/drawing/2014/main" xmlns="" id="{5ED22232-89DE-5063-EE7D-6B3804387268}"/>
              </a:ext>
            </a:extLst>
          </p:cNvPr>
          <p:cNvSpPr txBox="1"/>
          <p:nvPr/>
        </p:nvSpPr>
        <p:spPr>
          <a:xfrm>
            <a:off x="3970370" y="1494224"/>
            <a:ext cx="1938132" cy="461665"/>
          </a:xfrm>
          <a:prstGeom prst="rect">
            <a:avLst/>
          </a:prstGeom>
          <a:noFill/>
        </p:spPr>
        <p:txBody>
          <a:bodyPr wrap="square" rtlCol="0">
            <a:spAutoFit/>
          </a:bodyPr>
          <a:lstStyle/>
          <a:p>
            <a:pPr algn="just"/>
            <a:r>
              <a:rPr lang="en-IN" sz="2400" dirty="0"/>
              <a:t>Lunch   W  R</a:t>
            </a:r>
          </a:p>
        </p:txBody>
      </p:sp>
      <p:sp>
        <p:nvSpPr>
          <p:cNvPr id="29" name="TextBox 28">
            <a:extLst>
              <a:ext uri="{FF2B5EF4-FFF2-40B4-BE49-F238E27FC236}">
                <a16:creationId xmlns:a16="http://schemas.microsoft.com/office/drawing/2014/main" xmlns="" id="{FD1879E4-DEF3-0E5C-7778-54C73A5D4769}"/>
              </a:ext>
            </a:extLst>
          </p:cNvPr>
          <p:cNvSpPr txBox="1"/>
          <p:nvPr/>
        </p:nvSpPr>
        <p:spPr>
          <a:xfrm>
            <a:off x="6353173" y="1507008"/>
            <a:ext cx="503170" cy="461665"/>
          </a:xfrm>
          <a:prstGeom prst="rect">
            <a:avLst/>
          </a:prstGeom>
          <a:noFill/>
        </p:spPr>
        <p:txBody>
          <a:bodyPr wrap="square" rtlCol="0">
            <a:spAutoFit/>
          </a:bodyPr>
          <a:lstStyle/>
          <a:p>
            <a:pPr algn="just"/>
            <a:r>
              <a:rPr lang="en-IN" sz="2400" dirty="0"/>
              <a:t>P</a:t>
            </a:r>
          </a:p>
        </p:txBody>
      </p:sp>
      <p:sp>
        <p:nvSpPr>
          <p:cNvPr id="33" name="TextBox 32">
            <a:extLst>
              <a:ext uri="{FF2B5EF4-FFF2-40B4-BE49-F238E27FC236}">
                <a16:creationId xmlns:a16="http://schemas.microsoft.com/office/drawing/2014/main" xmlns="" id="{1B4E9C49-2E55-D226-D0E2-E71314AC0416}"/>
              </a:ext>
            </a:extLst>
          </p:cNvPr>
          <p:cNvSpPr txBox="1"/>
          <p:nvPr/>
        </p:nvSpPr>
        <p:spPr>
          <a:xfrm>
            <a:off x="2743199" y="1507008"/>
            <a:ext cx="387628" cy="461665"/>
          </a:xfrm>
          <a:prstGeom prst="rect">
            <a:avLst/>
          </a:prstGeom>
          <a:noFill/>
        </p:spPr>
        <p:txBody>
          <a:bodyPr wrap="square" rtlCol="0">
            <a:spAutoFit/>
          </a:bodyPr>
          <a:lstStyle/>
          <a:p>
            <a:pPr algn="just"/>
            <a:r>
              <a:rPr lang="en-IN" sz="2400" dirty="0"/>
              <a:t>S</a:t>
            </a:r>
          </a:p>
        </p:txBody>
      </p:sp>
      <p:sp>
        <p:nvSpPr>
          <p:cNvPr id="34" name="TextBox 33">
            <a:extLst>
              <a:ext uri="{FF2B5EF4-FFF2-40B4-BE49-F238E27FC236}">
                <a16:creationId xmlns:a16="http://schemas.microsoft.com/office/drawing/2014/main" xmlns="" id="{E428388B-0D53-8F08-7962-FCE6447F5AEC}"/>
              </a:ext>
            </a:extLst>
          </p:cNvPr>
          <p:cNvSpPr txBox="1"/>
          <p:nvPr/>
        </p:nvSpPr>
        <p:spPr>
          <a:xfrm>
            <a:off x="3180517" y="1497068"/>
            <a:ext cx="745642" cy="461665"/>
          </a:xfrm>
          <a:prstGeom prst="rect">
            <a:avLst/>
          </a:prstGeom>
          <a:noFill/>
        </p:spPr>
        <p:txBody>
          <a:bodyPr wrap="square" rtlCol="0">
            <a:spAutoFit/>
          </a:bodyPr>
          <a:lstStyle/>
          <a:p>
            <a:pPr algn="just"/>
            <a:r>
              <a:rPr lang="en-IN" sz="2400" dirty="0"/>
              <a:t>V/T</a:t>
            </a:r>
          </a:p>
        </p:txBody>
      </p:sp>
      <p:sp>
        <p:nvSpPr>
          <p:cNvPr id="42" name="TextBox 41">
            <a:extLst>
              <a:ext uri="{FF2B5EF4-FFF2-40B4-BE49-F238E27FC236}">
                <a16:creationId xmlns:a16="http://schemas.microsoft.com/office/drawing/2014/main" xmlns="" id="{9F729F36-BA9A-174B-BCD1-DE0CC677ACD1}"/>
              </a:ext>
            </a:extLst>
          </p:cNvPr>
          <p:cNvSpPr txBox="1"/>
          <p:nvPr/>
        </p:nvSpPr>
        <p:spPr>
          <a:xfrm>
            <a:off x="786642" y="5331767"/>
            <a:ext cx="1886985" cy="461665"/>
          </a:xfrm>
          <a:prstGeom prst="rect">
            <a:avLst/>
          </a:prstGeom>
          <a:noFill/>
        </p:spPr>
        <p:txBody>
          <a:bodyPr wrap="square" rtlCol="0">
            <a:spAutoFit/>
          </a:bodyPr>
          <a:lstStyle/>
          <a:p>
            <a:pPr algn="just"/>
            <a:r>
              <a:rPr lang="en-IN" sz="2400" dirty="0"/>
              <a:t>1:45 pm - W </a:t>
            </a:r>
          </a:p>
        </p:txBody>
      </p:sp>
      <p:sp>
        <p:nvSpPr>
          <p:cNvPr id="43" name="TextBox 42">
            <a:extLst>
              <a:ext uri="{FF2B5EF4-FFF2-40B4-BE49-F238E27FC236}">
                <a16:creationId xmlns:a16="http://schemas.microsoft.com/office/drawing/2014/main" xmlns="" id="{16AA415B-E49C-5B2C-E71B-64FBFA3B85BD}"/>
              </a:ext>
            </a:extLst>
          </p:cNvPr>
          <p:cNvSpPr txBox="1"/>
          <p:nvPr/>
        </p:nvSpPr>
        <p:spPr>
          <a:xfrm>
            <a:off x="2801383" y="5331767"/>
            <a:ext cx="1886986" cy="461665"/>
          </a:xfrm>
          <a:prstGeom prst="rect">
            <a:avLst/>
          </a:prstGeom>
          <a:noFill/>
        </p:spPr>
        <p:txBody>
          <a:bodyPr wrap="square" rtlCol="0">
            <a:spAutoFit/>
          </a:bodyPr>
          <a:lstStyle/>
          <a:p>
            <a:pPr algn="just"/>
            <a:r>
              <a:rPr lang="en-IN" sz="2400" dirty="0"/>
              <a:t>2:30 pm - R</a:t>
            </a:r>
          </a:p>
        </p:txBody>
      </p:sp>
      <p:sp>
        <p:nvSpPr>
          <p:cNvPr id="46" name="TextBox 45">
            <a:extLst>
              <a:ext uri="{FF2B5EF4-FFF2-40B4-BE49-F238E27FC236}">
                <a16:creationId xmlns:a16="http://schemas.microsoft.com/office/drawing/2014/main" xmlns="" id="{992247F6-5D7C-4475-6761-72CDE9BF4A15}"/>
              </a:ext>
            </a:extLst>
          </p:cNvPr>
          <p:cNvSpPr txBox="1"/>
          <p:nvPr/>
        </p:nvSpPr>
        <p:spPr>
          <a:xfrm>
            <a:off x="4791390" y="5339473"/>
            <a:ext cx="1778377" cy="461665"/>
          </a:xfrm>
          <a:prstGeom prst="rect">
            <a:avLst/>
          </a:prstGeom>
          <a:noFill/>
        </p:spPr>
        <p:txBody>
          <a:bodyPr wrap="square" rtlCol="0">
            <a:spAutoFit/>
          </a:bodyPr>
          <a:lstStyle/>
          <a:p>
            <a:pPr algn="just"/>
            <a:r>
              <a:rPr lang="en-IN" sz="2400" dirty="0"/>
              <a:t>3:15 pm - P</a:t>
            </a:r>
          </a:p>
        </p:txBody>
      </p:sp>
      <p:sp>
        <p:nvSpPr>
          <p:cNvPr id="47" name="TextBox 46">
            <a:extLst>
              <a:ext uri="{FF2B5EF4-FFF2-40B4-BE49-F238E27FC236}">
                <a16:creationId xmlns:a16="http://schemas.microsoft.com/office/drawing/2014/main" xmlns="" id="{36A31B1D-B2F6-5F90-D592-60B0DC7F0E6D}"/>
              </a:ext>
            </a:extLst>
          </p:cNvPr>
          <p:cNvSpPr txBox="1"/>
          <p:nvPr/>
        </p:nvSpPr>
        <p:spPr>
          <a:xfrm>
            <a:off x="6672788" y="5339473"/>
            <a:ext cx="2013285" cy="461665"/>
          </a:xfrm>
          <a:prstGeom prst="rect">
            <a:avLst/>
          </a:prstGeom>
          <a:noFill/>
        </p:spPr>
        <p:txBody>
          <a:bodyPr wrap="square" rtlCol="0">
            <a:spAutoFit/>
          </a:bodyPr>
          <a:lstStyle/>
          <a:p>
            <a:pPr algn="just"/>
            <a:r>
              <a:rPr lang="en-IN" sz="2400" dirty="0"/>
              <a:t>4:00 pm - U</a:t>
            </a:r>
          </a:p>
        </p:txBody>
      </p:sp>
      <p:cxnSp>
        <p:nvCxnSpPr>
          <p:cNvPr id="53" name="Straight Connector 52">
            <a:extLst>
              <a:ext uri="{FF2B5EF4-FFF2-40B4-BE49-F238E27FC236}">
                <a16:creationId xmlns:a16="http://schemas.microsoft.com/office/drawing/2014/main" xmlns="" id="{4F9863BB-A430-5DBC-77B3-89CF1F370D36}"/>
              </a:ext>
            </a:extLst>
          </p:cNvPr>
          <p:cNvCxnSpPr>
            <a:cxnSpLocks/>
          </p:cNvCxnSpPr>
          <p:nvPr/>
        </p:nvCxnSpPr>
        <p:spPr>
          <a:xfrm>
            <a:off x="4572000" y="2905541"/>
            <a:ext cx="42100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xmlns="" id="{BE9AABB0-C6AA-2299-6738-0EE82337BD93}"/>
              </a:ext>
            </a:extLst>
          </p:cNvPr>
          <p:cNvSpPr/>
          <p:nvPr/>
        </p:nvSpPr>
        <p:spPr>
          <a:xfrm>
            <a:off x="6604758" y="5274935"/>
            <a:ext cx="2013285" cy="65002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631644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sz="2800" dirty="0"/>
              <a:t>Sequential Order of Things </a:t>
            </a:r>
          </a:p>
          <a:p>
            <a:pPr lvl="1" algn="just">
              <a:lnSpc>
                <a:spcPct val="150000"/>
              </a:lnSpc>
            </a:pPr>
            <a:r>
              <a:rPr lang="en-IN" dirty="0"/>
              <a:t>Order of Occurrence - Certain Events</a:t>
            </a:r>
          </a:p>
          <a:p>
            <a:pPr lvl="1" algn="just">
              <a:lnSpc>
                <a:spcPct val="150000"/>
              </a:lnSpc>
            </a:pPr>
            <a:r>
              <a:rPr lang="en-US" dirty="0"/>
              <a:t>Analyze – Information</a:t>
            </a:r>
          </a:p>
          <a:p>
            <a:pPr lvl="1" algn="just">
              <a:lnSpc>
                <a:spcPct val="150000"/>
              </a:lnSpc>
            </a:pPr>
            <a:r>
              <a:rPr lang="en-US" dirty="0"/>
              <a:t>Frame – </a:t>
            </a:r>
            <a:r>
              <a:rPr lang="en-IN" dirty="0"/>
              <a:t>Correct </a:t>
            </a:r>
            <a:r>
              <a:rPr lang="en-US" dirty="0"/>
              <a:t>Sequence</a:t>
            </a:r>
          </a:p>
          <a:p>
            <a:pPr lvl="1" algn="just">
              <a:lnSpc>
                <a:spcPct val="150000"/>
              </a:lnSpc>
            </a:pPr>
            <a:endParaRPr lang="en-US" sz="2600" dirty="0"/>
          </a:p>
        </p:txBody>
      </p:sp>
    </p:spTree>
    <p:extLst>
      <p:ext uri="{BB962C8B-B14F-4D97-AF65-F5344CB8AC3E}">
        <p14:creationId xmlns:p14="http://schemas.microsoft.com/office/powerpoint/2010/main" val="36440206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Puzzle Test </a:t>
            </a:r>
          </a:p>
          <a:p>
            <a:pPr lvl="2" algn="just">
              <a:lnSpc>
                <a:spcPct val="150000"/>
              </a:lnSpc>
            </a:pPr>
            <a:r>
              <a:rPr lang="en-US" sz="2400" dirty="0"/>
              <a:t>Sequential Order of Things </a:t>
            </a:r>
          </a:p>
          <a:p>
            <a:pPr lvl="2" algn="just">
              <a:lnSpc>
                <a:spcPct val="150000"/>
              </a:lnSpc>
            </a:pPr>
            <a:endParaRPr lang="en-US" sz="26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11405</TotalTime>
  <Words>2098</Words>
  <Application>Microsoft Office PowerPoint</Application>
  <PresentationFormat>On-screen Show (4:3)</PresentationFormat>
  <Paragraphs>138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Sequential Order of Things</vt:lpstr>
      <vt:lpstr>Problem 1</vt:lpstr>
      <vt:lpstr>Problem 2</vt:lpstr>
      <vt:lpstr>Problem 2</vt:lpstr>
      <vt:lpstr>Problem 3</vt:lpstr>
      <vt:lpstr>Problem 3</vt:lpstr>
      <vt:lpstr>Problem 4</vt:lpstr>
      <vt:lpstr>Problem 4</vt:lpstr>
      <vt:lpstr>Problem 5</vt:lpstr>
      <vt:lpstr>Problem 5</vt:lpstr>
      <vt:lpstr>Problem 6</vt:lpstr>
      <vt:lpstr>Problem 6</vt:lpstr>
      <vt:lpstr>Problem 7</vt:lpstr>
      <vt:lpstr>Problem 7</vt:lpstr>
      <vt:lpstr>Problem 8</vt:lpstr>
      <vt:lpstr>Problem 8</vt:lpstr>
      <vt:lpstr>Problem 9</vt:lpstr>
      <vt:lpstr>Problem 9</vt:lpstr>
      <vt:lpstr>Problem 9</vt:lpstr>
      <vt:lpstr>Conclusion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my pc</cp:lastModifiedBy>
  <cp:revision>775</cp:revision>
  <dcterms:created xsi:type="dcterms:W3CDTF">2020-12-18T18:59:12Z</dcterms:created>
  <dcterms:modified xsi:type="dcterms:W3CDTF">2022-11-05T07:36:39Z</dcterms:modified>
</cp:coreProperties>
</file>