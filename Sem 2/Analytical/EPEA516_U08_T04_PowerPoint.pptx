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78" r:id="rId2"/>
    <p:sldId id="279" r:id="rId3"/>
    <p:sldId id="468" r:id="rId4"/>
    <p:sldId id="469" r:id="rId5"/>
    <p:sldId id="467" r:id="rId6"/>
    <p:sldId id="492" r:id="rId7"/>
    <p:sldId id="480" r:id="rId8"/>
    <p:sldId id="493" r:id="rId9"/>
    <p:sldId id="483" r:id="rId10"/>
    <p:sldId id="487" r:id="rId11"/>
    <p:sldId id="491" r:id="rId12"/>
    <p:sldId id="494" r:id="rId13"/>
    <p:sldId id="447" r:id="rId14"/>
    <p:sldId id="475" r:id="rId15"/>
    <p:sldId id="343" r:id="rId16"/>
    <p:sldId id="34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32C"/>
    <a:srgbClr val="A8004B"/>
    <a:srgbClr val="262626"/>
    <a:srgbClr val="ABABAB"/>
    <a:srgbClr val="021F28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4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4/28/2022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solve problems based on rate computation.</a:t>
            </a:r>
          </a:p>
        </p:txBody>
      </p:sp>
    </p:spTree>
    <p:extLst>
      <p:ext uri="{BB962C8B-B14F-4D97-AF65-F5344CB8AC3E}">
        <p14:creationId xmlns:p14="http://schemas.microsoft.com/office/powerpoint/2010/main" val="1299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B4F4A-14B1-48B7-A162-47F1AB21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779737-34D3-45CF-B5C2-A8F656599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algn="just"/>
                <a:r>
                  <a:rPr lang="en-US" dirty="0"/>
                  <a:t>At what interest rate p.a. the simple interest accrued on an amount of Rs. 1500 at the end of 2 years is Rs. 600?</a:t>
                </a:r>
              </a:p>
              <a:p>
                <a:pPr algn="just"/>
                <a:r>
                  <a:rPr lang="en-US" dirty="0"/>
                  <a:t>P = Rs. 1500</a:t>
                </a:r>
              </a:p>
              <a:p>
                <a:pPr algn="just"/>
                <a:r>
                  <a:rPr lang="en-US" dirty="0"/>
                  <a:t>T = 2 years</a:t>
                </a:r>
              </a:p>
              <a:p>
                <a:pPr algn="just"/>
                <a:r>
                  <a:rPr lang="en-US" dirty="0"/>
                  <a:t>S.I. = Rs. 600</a:t>
                </a:r>
              </a:p>
              <a:p>
                <a:pPr algn="just"/>
                <a:r>
                  <a:rPr lang="en-US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/>
                <a:r>
                  <a:rPr lang="en-US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600 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1500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2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779737-34D3-45CF-B5C2-A8F656599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77752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B4F4A-14B1-48B7-A162-47F1AB211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779737-34D3-45CF-B5C2-A8F6565999C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S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US" dirty="0"/>
                          <m:t>I</m:t>
                        </m:r>
                        <m:r>
                          <m:rPr>
                            <m:nor/>
                          </m:rPr>
                          <a:rPr lang="en-US" dirty="0"/>
                          <m:t>.</m:t>
                        </m:r>
                        <m:r>
                          <m:rPr>
                            <m:nor/>
                          </m:rPr>
                          <a:rPr lang="en-IN" dirty="0"/>
                          <m:t> </m:t>
                        </m:r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  <m:r>
                          <m:rPr>
                            <m:nor/>
                          </m:rPr>
                          <a:rPr lang="en-IN" dirty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/>
                <a:r>
                  <a:rPr lang="en-US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dirty="0"/>
                          <m:t>600 </m:t>
                        </m:r>
                        <m:r>
                          <m:rPr>
                            <m:nor/>
                          </m:rPr>
                          <a:rPr lang="en-IN" dirty="0"/>
                          <m:t>x</m:t>
                        </m:r>
                        <m:r>
                          <m:rPr>
                            <m:nor/>
                          </m:rPr>
                          <a:rPr lang="en-IN" dirty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dirty="0"/>
                          <m:t>1500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IN" dirty="0"/>
                          <m:t> 2</m:t>
                        </m:r>
                      </m:den>
                    </m:f>
                  </m:oMath>
                </a14:m>
                <a:endParaRPr lang="en-US" dirty="0"/>
              </a:p>
              <a:p>
                <a:pPr algn="just"/>
                <a:r>
                  <a:rPr lang="en-US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b="0" i="0" dirty="0" smtClean="0"/>
                          <m:t>600 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b="0" i="0" dirty="0" smtClean="0"/>
                          <m:t>1500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IN" b="0" i="0" dirty="0" smtClean="0"/>
                          <m:t> 2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:endParaRPr lang="en-IN" dirty="0"/>
              </a:p>
              <a:p>
                <a:pPr algn="just"/>
                <a:r>
                  <a:rPr lang="en-US" dirty="0"/>
                  <a:t>R =</a:t>
                </a:r>
                <a:r>
                  <a:rPr lang="en-IN" dirty="0"/>
                  <a:t> 20%</a:t>
                </a:r>
              </a:p>
              <a:p>
                <a:pPr algn="just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F779737-34D3-45CF-B5C2-A8F6565999C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0D66014-98D7-4620-95DC-44E4BD722A51}"/>
              </a:ext>
            </a:extLst>
          </p:cNvPr>
          <p:cNvCxnSpPr>
            <a:cxnSpLocks/>
          </p:cNvCxnSpPr>
          <p:nvPr/>
        </p:nvCxnSpPr>
        <p:spPr>
          <a:xfrm flipV="1">
            <a:off x="1343535" y="4781541"/>
            <a:ext cx="663648" cy="64239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09A47BE-4803-4144-A737-EBED5AADAB2F}"/>
              </a:ext>
            </a:extLst>
          </p:cNvPr>
          <p:cNvCxnSpPr>
            <a:cxnSpLocks/>
          </p:cNvCxnSpPr>
          <p:nvPr/>
        </p:nvCxnSpPr>
        <p:spPr>
          <a:xfrm flipV="1">
            <a:off x="2029651" y="3916705"/>
            <a:ext cx="601527" cy="6460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3E26F26-D393-4003-A3C1-339785604651}"/>
              </a:ext>
            </a:extLst>
          </p:cNvPr>
          <p:cNvSpPr txBox="1"/>
          <p:nvPr/>
        </p:nvSpPr>
        <p:spPr>
          <a:xfrm>
            <a:off x="1498114" y="4628994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  <a:endParaRPr lang="en-I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2A9FD7-3B86-4C7F-974D-C5CCF08BF2C8}"/>
              </a:ext>
            </a:extLst>
          </p:cNvPr>
          <p:cNvCxnSpPr>
            <a:cxnSpLocks/>
          </p:cNvCxnSpPr>
          <p:nvPr/>
        </p:nvCxnSpPr>
        <p:spPr>
          <a:xfrm flipV="1">
            <a:off x="1202214" y="4315541"/>
            <a:ext cx="780432" cy="74347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8589201-9427-4EAA-8302-D7795AEAFF23}"/>
              </a:ext>
            </a:extLst>
          </p:cNvPr>
          <p:cNvCxnSpPr>
            <a:cxnSpLocks/>
          </p:cNvCxnSpPr>
          <p:nvPr/>
        </p:nvCxnSpPr>
        <p:spPr>
          <a:xfrm flipV="1">
            <a:off x="946903" y="3919019"/>
            <a:ext cx="928895" cy="96565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7438CB1D-054B-40BF-B2D3-F5A10A3065A3}"/>
              </a:ext>
            </a:extLst>
          </p:cNvPr>
          <p:cNvSpPr txBox="1"/>
          <p:nvPr/>
        </p:nvSpPr>
        <p:spPr>
          <a:xfrm>
            <a:off x="1535386" y="3406850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249B5-8D88-415C-930D-C258E0CA7034}"/>
              </a:ext>
            </a:extLst>
          </p:cNvPr>
          <p:cNvSpPr txBox="1"/>
          <p:nvPr/>
        </p:nvSpPr>
        <p:spPr>
          <a:xfrm>
            <a:off x="2405269" y="3423343"/>
            <a:ext cx="447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20</a:t>
            </a:r>
            <a:endParaRPr lang="en-IN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E1AED4F-E9FF-47EB-AE74-50B435E0561B}"/>
              </a:ext>
            </a:extLst>
          </p:cNvPr>
          <p:cNvCxnSpPr>
            <a:cxnSpLocks/>
          </p:cNvCxnSpPr>
          <p:nvPr/>
        </p:nvCxnSpPr>
        <p:spPr>
          <a:xfrm flipV="1">
            <a:off x="2216321" y="4273387"/>
            <a:ext cx="377896" cy="646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120478-42F7-492B-B81B-5458D5DD0905}"/>
              </a:ext>
            </a:extLst>
          </p:cNvPr>
          <p:cNvCxnSpPr>
            <a:cxnSpLocks/>
          </p:cNvCxnSpPr>
          <p:nvPr/>
        </p:nvCxnSpPr>
        <p:spPr>
          <a:xfrm flipV="1">
            <a:off x="1498114" y="3576504"/>
            <a:ext cx="377896" cy="6460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2427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AE2B4-FCAA-4DD8-B1EA-1E13C0555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At what interest rate p.a., in 4 years, a sum of Rs. 2000 will become Rs. 4000? </a:t>
            </a:r>
          </a:p>
          <a:p>
            <a:pPr algn="just"/>
            <a:r>
              <a:rPr lang="en-US" dirty="0"/>
              <a:t>P = Rs. 2000</a:t>
            </a:r>
          </a:p>
          <a:p>
            <a:pPr algn="just"/>
            <a:r>
              <a:rPr lang="en-US" dirty="0"/>
              <a:t>A = Rs. 4000</a:t>
            </a:r>
          </a:p>
          <a:p>
            <a:pPr algn="just"/>
            <a:r>
              <a:rPr lang="en-US" dirty="0"/>
              <a:t>T = 4 years </a:t>
            </a:r>
          </a:p>
          <a:p>
            <a:pPr algn="just"/>
            <a:r>
              <a:rPr lang="en-US" dirty="0"/>
              <a:t>S.I.  	= A − P</a:t>
            </a:r>
          </a:p>
          <a:p>
            <a:pPr algn="just"/>
            <a:r>
              <a:rPr lang="en-US" dirty="0"/>
              <a:t>S.I.  	= Rs. (4000 − 2000) </a:t>
            </a:r>
          </a:p>
          <a:p>
            <a:pPr algn="just"/>
            <a:r>
              <a:rPr lang="en-US" dirty="0"/>
              <a:t>S.I. 	= Rs. 2000</a:t>
            </a:r>
          </a:p>
        </p:txBody>
      </p:sp>
    </p:spTree>
    <p:extLst>
      <p:ext uri="{BB962C8B-B14F-4D97-AF65-F5344CB8AC3E}">
        <p14:creationId xmlns:p14="http://schemas.microsoft.com/office/powerpoint/2010/main" val="4242110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S.I. = Rs. 2000, T = 4 years, P = Rs. 2000, and R = ? </a:t>
                </a:r>
              </a:p>
              <a:p>
                <a:pPr algn="just"/>
                <a:endParaRPr lang="en-US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R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I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P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endParaRPr lang="en-US" dirty="0"/>
              </a:p>
              <a:p>
                <a:pPr algn="just" fontAlgn="base"/>
                <a:r>
                  <a:rPr lang="en-US" dirty="0"/>
                  <a:t>R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2000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2000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4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R = 25 % p.a.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4A18198-21F0-43E6-8FD6-A609DA3D1F4A}"/>
              </a:ext>
            </a:extLst>
          </p:cNvPr>
          <p:cNvCxnSpPr>
            <a:cxnSpLocks/>
          </p:cNvCxnSpPr>
          <p:nvPr/>
        </p:nvCxnSpPr>
        <p:spPr>
          <a:xfrm flipV="1">
            <a:off x="1287119" y="5330839"/>
            <a:ext cx="808382" cy="16749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409EECD-632B-4497-AA92-611F6C52668B}"/>
              </a:ext>
            </a:extLst>
          </p:cNvPr>
          <p:cNvCxnSpPr>
            <a:cxnSpLocks/>
          </p:cNvCxnSpPr>
          <p:nvPr/>
        </p:nvCxnSpPr>
        <p:spPr>
          <a:xfrm flipV="1">
            <a:off x="1071773" y="4962074"/>
            <a:ext cx="844826" cy="109331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0650885-0997-400B-9D40-A58E12BEBC51}"/>
              </a:ext>
            </a:extLst>
          </p:cNvPr>
          <p:cNvSpPr txBox="1"/>
          <p:nvPr/>
        </p:nvSpPr>
        <p:spPr>
          <a:xfrm>
            <a:off x="2298430" y="4345850"/>
            <a:ext cx="788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25</a:t>
            </a:r>
            <a:endParaRPr lang="en-I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57E570-F744-4232-9C4B-5EE3F88D938A}"/>
              </a:ext>
            </a:extLst>
          </p:cNvPr>
          <p:cNvCxnSpPr>
            <a:cxnSpLocks/>
          </p:cNvCxnSpPr>
          <p:nvPr/>
        </p:nvCxnSpPr>
        <p:spPr>
          <a:xfrm flipV="1">
            <a:off x="2355574" y="5376487"/>
            <a:ext cx="265041" cy="7620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8B2EF3-7859-4B22-A438-B4138C75A21D}"/>
              </a:ext>
            </a:extLst>
          </p:cNvPr>
          <p:cNvCxnSpPr>
            <a:cxnSpLocks/>
          </p:cNvCxnSpPr>
          <p:nvPr/>
        </p:nvCxnSpPr>
        <p:spPr>
          <a:xfrm flipV="1">
            <a:off x="2248735" y="5001830"/>
            <a:ext cx="616223" cy="6626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5271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Calculate rate per cent p.a. if a sum of money trebles (increase three times) itself in 4 years simple interest.</a:t>
                </a:r>
              </a:p>
              <a:p>
                <a:pPr algn="just"/>
                <a:r>
                  <a:rPr lang="en-US" dirty="0"/>
                  <a:t>n = 3</a:t>
                </a:r>
              </a:p>
              <a:p>
                <a:pPr algn="just"/>
                <a:r>
                  <a:rPr lang="en-US" dirty="0"/>
                  <a:t>T = 4 years</a:t>
                </a:r>
              </a:p>
              <a:p>
                <a:pPr algn="just"/>
                <a:r>
                  <a:rPr lang="en-US" dirty="0"/>
                  <a:t>R = ?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/>
                      <m:t>R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n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−1)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417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n = 3, T = 4 years, and R = ?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/>
                      <m:t>R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n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−1)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T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R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  <m:r>
                          <m:rPr>
                            <m:nor/>
                          </m:rPr>
                          <a:rPr lang="en-US" dirty="0"/>
                          <m:t>−1)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R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(2)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4 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 fontAlgn="base"/>
                <a:r>
                  <a:rPr lang="en-US" dirty="0"/>
                  <a:t>R = 50 % p.a.</a:t>
                </a:r>
                <a:endParaRPr lang="en-IN" dirty="0"/>
              </a:p>
              <a:p>
                <a:pPr algn="just" fontAlgn="base"/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57E570-F744-4232-9C4B-5EE3F88D938A}"/>
              </a:ext>
            </a:extLst>
          </p:cNvPr>
          <p:cNvCxnSpPr>
            <a:cxnSpLocks/>
          </p:cNvCxnSpPr>
          <p:nvPr/>
        </p:nvCxnSpPr>
        <p:spPr>
          <a:xfrm flipV="1">
            <a:off x="1321906" y="4709022"/>
            <a:ext cx="273949" cy="15874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68B2EF3-7859-4B22-A438-B4138C75A21D}"/>
              </a:ext>
            </a:extLst>
          </p:cNvPr>
          <p:cNvCxnSpPr>
            <a:cxnSpLocks/>
          </p:cNvCxnSpPr>
          <p:nvPr/>
        </p:nvCxnSpPr>
        <p:spPr>
          <a:xfrm flipV="1">
            <a:off x="1595855" y="5078800"/>
            <a:ext cx="413306" cy="174293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2607BDBA-1975-4B05-ABA8-5D36F30FCE45}"/>
              </a:ext>
            </a:extLst>
          </p:cNvPr>
          <p:cNvSpPr txBox="1"/>
          <p:nvPr/>
        </p:nvSpPr>
        <p:spPr>
          <a:xfrm>
            <a:off x="1996228" y="5052794"/>
            <a:ext cx="413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34F7F28-E972-4D42-B6D4-EC0C70E79BF4}"/>
              </a:ext>
            </a:extLst>
          </p:cNvPr>
          <p:cNvCxnSpPr>
            <a:cxnSpLocks/>
          </p:cNvCxnSpPr>
          <p:nvPr/>
        </p:nvCxnSpPr>
        <p:spPr>
          <a:xfrm flipV="1">
            <a:off x="2009161" y="5173721"/>
            <a:ext cx="273949" cy="158744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9762CB3-10C8-477C-8882-7E3BEF38C140}"/>
              </a:ext>
            </a:extLst>
          </p:cNvPr>
          <p:cNvCxnSpPr>
            <a:cxnSpLocks/>
          </p:cNvCxnSpPr>
          <p:nvPr/>
        </p:nvCxnSpPr>
        <p:spPr>
          <a:xfrm flipV="1">
            <a:off x="1941616" y="4699132"/>
            <a:ext cx="474496" cy="1846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A1FFB2-2F11-4CC8-8FE1-C70F67D29541}"/>
              </a:ext>
            </a:extLst>
          </p:cNvPr>
          <p:cNvSpPr txBox="1"/>
          <p:nvPr/>
        </p:nvSpPr>
        <p:spPr>
          <a:xfrm>
            <a:off x="2416112" y="4267888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50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7809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:r>
                  <a:rPr lang="en-US" sz="2400" dirty="0"/>
                  <a:t>Calculate rate of interest if a sum of money at simple interest amounts to Rs. 5000 in 2 years and to Rs. 6000 in 3 years.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=</m:t>
                        </m:r>
                        <m:r>
                          <m:rPr>
                            <m:nor/>
                          </m:rPr>
                          <a:rPr lang="en-US" sz="2400" dirty="0"/>
                          <m:t>Rs</m:t>
                        </m:r>
                        <m:r>
                          <m:rPr>
                            <m:nor/>
                          </m:rPr>
                          <a:rPr lang="en-US" sz="2400" dirty="0"/>
                          <m:t>.5000,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=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Rs</m:t>
                        </m:r>
                        <m:r>
                          <m:rPr>
                            <m:nor/>
                          </m:rPr>
                          <a:rPr lang="en-US" sz="2400" dirty="0"/>
                          <m:t>.6000,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=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2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years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, </m:t>
                        </m:r>
                        <m:r>
                          <m:rPr>
                            <m:nor/>
                          </m:rPr>
                          <a:rPr lang="en-IN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3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  <m:r>
                      <m:rPr>
                        <m:nor/>
                      </m:rPr>
                      <a:rPr lang="en-US" sz="2400" dirty="0"/>
                      <m:t>years</m:t>
                    </m:r>
                    <m:r>
                      <m:rPr>
                        <m:nor/>
                      </m:rPr>
                      <a:rPr lang="en-US" sz="2400" dirty="0"/>
                      <m:t>, </m:t>
                    </m:r>
                    <m:r>
                      <m:rPr>
                        <m:nor/>
                      </m:rPr>
                      <a:rPr lang="en-US" sz="2400" dirty="0"/>
                      <m:t>and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R</m:t>
                    </m:r>
                    <m:r>
                      <m:rPr>
                        <m:nor/>
                      </m:rPr>
                      <a:rPr lang="en-US" sz="2400" b="0" i="0" dirty="0" smtClean="0"/>
                      <m:t> = ?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R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</m:oMath>
                </a14:m>
                <a:r>
                  <a:rPr lang="en-US" sz="2400" dirty="0"/>
                  <a:t>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A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IN" sz="2400" dirty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A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400" dirty="0"/>
                  <a:t>	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[6000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US" sz="2400" dirty="0"/>
                          <m:t>000]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[5000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3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6000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2]</m:t>
                        </m:r>
                      </m:den>
                    </m:f>
                  </m:oMath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57787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=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US" sz="2400" dirty="0"/>
                          <m:t>000,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= 6000,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= 2 </m:t>
                        </m:r>
                        <m:r>
                          <m:rPr>
                            <m:nor/>
                          </m:rPr>
                          <a:rPr lang="en-US" sz="2400" dirty="0"/>
                          <m:t>years</m:t>
                        </m:r>
                        <m:r>
                          <m:rPr>
                            <m:nor/>
                          </m:rPr>
                          <a:rPr lang="en-US" sz="2400" dirty="0"/>
                          <m:t>, </m:t>
                        </m:r>
                        <m:r>
                          <m:rPr>
                            <m:nor/>
                          </m:rPr>
                          <a:rPr lang="en-US" sz="2400" dirty="0"/>
                          <m:t>and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IN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 3 </m:t>
                    </m:r>
                    <m:r>
                      <m:rPr>
                        <m:nor/>
                      </m:rPr>
                      <a:rPr lang="en-US" sz="2400" dirty="0"/>
                      <m:t>years</m:t>
                    </m:r>
                  </m:oMath>
                </a14:m>
                <a:endParaRPr lang="en-US" sz="2400" dirty="0"/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R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</m:oMath>
                </a14:m>
                <a:r>
                  <a:rPr lang="en-US" sz="2400" dirty="0"/>
                  <a:t>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b="0" i="0" dirty="0" smtClean="0"/>
                                  <m:t>A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IN" sz="2400" dirty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A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400" dirty="0" smtClean="0"/>
                              <m:t>T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A</m:t>
                                </m:r>
                              </m:e>
                              <m:sub>
                                <m:r>
                                  <a:rPr lang="en-US" sz="2400" b="0" i="0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6000 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5</m:t>
                        </m:r>
                        <m:r>
                          <m:rPr>
                            <m:nor/>
                          </m:rPr>
                          <a:rPr lang="en-US" sz="2400" dirty="0"/>
                          <m:t>000]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[5000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3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6000 </m:t>
                        </m:r>
                        <m:r>
                          <m:rPr>
                            <m:nor/>
                          </m:rPr>
                          <a:rPr lang="en-US" sz="2400" dirty="0"/>
                          <m:t>x</m:t>
                        </m:r>
                        <m:r>
                          <m:rPr>
                            <m:nor/>
                          </m:rPr>
                          <a:rPr lang="en-US" sz="2400" dirty="0"/>
                          <m:t> 2]</m:t>
                        </m:r>
                      </m:den>
                    </m:f>
                  </m:oMath>
                </a14:m>
                <a:r>
                  <a:rPr lang="en-IN" sz="2400" dirty="0"/>
                  <a:t> 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sz="2400" dirty="0"/>
                          <m:t>000]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sz="2400" dirty="0"/>
                          <m:t>5000 </m:t>
                        </m:r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12</m:t>
                        </m:r>
                        <m:r>
                          <m:rPr>
                            <m:nor/>
                          </m:rPr>
                          <a:rPr lang="en-US" sz="2400" dirty="0"/>
                          <m:t>000]</m:t>
                        </m:r>
                      </m:den>
                    </m:f>
                  </m:oMath>
                </a14:m>
                <a:endParaRPr lang="en-IN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  <m:r>
                          <m:rPr>
                            <m:nor/>
                          </m:rPr>
                          <a:rPr lang="en-US" sz="2400" dirty="0"/>
                          <m:t>000]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3000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r>
                  <a:rPr lang="en-IN" sz="2400" dirty="0"/>
                  <a:t>     </a:t>
                </a:r>
                <a:r>
                  <a:rPr lang="en-US" sz="2400" dirty="0"/>
                  <a:t>	</a:t>
                </a:r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en-US" sz="2400" dirty="0"/>
                  <a:t>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b="0" i="0" dirty="0" smtClean="0"/>
                          <m:t>1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3</m:t>
                        </m:r>
                      </m:den>
                    </m:f>
                  </m:oMath>
                </a14:m>
                <a:r>
                  <a:rPr lang="en-IN" sz="2400" dirty="0"/>
                  <a:t> %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5C599E2-F1C4-4019-8FDF-F09F302A5AC0}"/>
              </a:ext>
            </a:extLst>
          </p:cNvPr>
          <p:cNvCxnSpPr>
            <a:cxnSpLocks/>
          </p:cNvCxnSpPr>
          <p:nvPr/>
        </p:nvCxnSpPr>
        <p:spPr>
          <a:xfrm flipV="1">
            <a:off x="1516406" y="5275930"/>
            <a:ext cx="958437" cy="1846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49815C-FF10-4914-AB4D-AA3D96ADEF2B}"/>
              </a:ext>
            </a:extLst>
          </p:cNvPr>
          <p:cNvCxnSpPr>
            <a:cxnSpLocks/>
          </p:cNvCxnSpPr>
          <p:nvPr/>
        </p:nvCxnSpPr>
        <p:spPr>
          <a:xfrm flipV="1">
            <a:off x="1584894" y="4915301"/>
            <a:ext cx="821462" cy="1474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DF804AD-5FAA-4EDB-AD0B-4AD7ACFDCB67}"/>
              </a:ext>
            </a:extLst>
          </p:cNvPr>
          <p:cNvSpPr txBox="1"/>
          <p:nvPr/>
        </p:nvSpPr>
        <p:spPr>
          <a:xfrm>
            <a:off x="2406356" y="5275930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E4DCA-8AE8-47D0-A336-F57DD7A827C4}"/>
              </a:ext>
            </a:extLst>
          </p:cNvPr>
          <p:cNvSpPr txBox="1"/>
          <p:nvPr/>
        </p:nvSpPr>
        <p:spPr>
          <a:xfrm>
            <a:off x="2406356" y="4782773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9929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A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person</m:t>
                    </m:r>
                    <m:r>
                      <m:rPr>
                        <m:nor/>
                      </m:rPr>
                      <a:rPr lang="en-US" sz="2400" b="0" i="0" dirty="0" smtClean="0"/>
                      <m:t> ′</m:t>
                    </m:r>
                    <m:r>
                      <m:rPr>
                        <m:nor/>
                      </m:rPr>
                      <a:rPr lang="en-US" sz="2400" b="0" i="0" dirty="0" smtClean="0"/>
                      <m:t>X</m:t>
                    </m:r>
                    <m:r>
                      <m:rPr>
                        <m:nor/>
                      </m:rPr>
                      <a:rPr lang="en-US" sz="2400" b="0" i="0" dirty="0" smtClean="0"/>
                      <m:t>′ </m:t>
                    </m:r>
                    <m:r>
                      <m:rPr>
                        <m:nor/>
                      </m:rPr>
                      <a:rPr lang="en-US" sz="2400" dirty="0" smtClean="0"/>
                      <m:t>deposits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Rs</m:t>
                    </m:r>
                    <m:r>
                      <m:rPr>
                        <m:nor/>
                      </m:rPr>
                      <a:rPr lang="en-US" sz="2400" b="0" i="0" dirty="0" smtClean="0"/>
                      <m:t>. 1000 </m:t>
                    </m:r>
                    <m:r>
                      <m:rPr>
                        <m:nor/>
                      </m:rPr>
                      <a:rPr lang="en-US" sz="2400" b="0" i="0" dirty="0" smtClean="0"/>
                      <m:t>and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Rs</m:t>
                    </m:r>
                    <m:r>
                      <m:rPr>
                        <m:nor/>
                      </m:rPr>
                      <a:rPr lang="en-US" sz="2400" b="0" i="0" dirty="0" smtClean="0"/>
                      <m:t>. 500 </m:t>
                    </m:r>
                    <m:r>
                      <m:rPr>
                        <m:nor/>
                      </m:rPr>
                      <a:rPr lang="en-US" sz="2400" dirty="0" smtClean="0"/>
                      <m:t>in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saving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at</m:t>
                    </m:r>
                    <m:r>
                      <m:rPr>
                        <m:nor/>
                      </m:rPr>
                      <a:rPr lang="en-US" sz="2400" dirty="0" smtClean="0"/>
                      <m:t> 3.5% </m:t>
                    </m:r>
                    <m:r>
                      <m:rPr>
                        <m:nor/>
                      </m:rPr>
                      <a:rPr lang="en-US" sz="2400" dirty="0" smtClean="0"/>
                      <m:t>p</m:t>
                    </m:r>
                    <m:r>
                      <m:rPr>
                        <m:nor/>
                      </m:rPr>
                      <a:rPr lang="en-US" sz="2400" b="0" i="0" dirty="0" smtClean="0"/>
                      <m:t>.</m:t>
                    </m:r>
                    <m:r>
                      <m:rPr>
                        <m:nor/>
                      </m:rPr>
                      <a:rPr lang="en-US" sz="2400" dirty="0" smtClean="0"/>
                      <m:t>a</m:t>
                    </m:r>
                    <m:r>
                      <m:rPr>
                        <m:nor/>
                      </m:rPr>
                      <a:rPr lang="en-US" sz="2400" b="0" i="0" dirty="0" smtClean="0"/>
                      <m:t>.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b="0" i="0" dirty="0" smtClean="0"/>
                      <m:t>&amp; 5</m:t>
                    </m:r>
                    <m:r>
                      <m:rPr>
                        <m:nor/>
                      </m:rPr>
                      <a:rPr lang="en-US" sz="2400" dirty="0" smtClean="0"/>
                      <m:t>% </m:t>
                    </m:r>
                    <m:r>
                      <m:rPr>
                        <m:nor/>
                      </m:rPr>
                      <a:rPr lang="en-US" sz="2400" dirty="0" smtClean="0"/>
                      <m:t>p</m:t>
                    </m:r>
                    <m:r>
                      <m:rPr>
                        <m:nor/>
                      </m:rPr>
                      <a:rPr lang="en-US" sz="2400" b="0" i="0" dirty="0" smtClean="0"/>
                      <m:t>.</m:t>
                    </m:r>
                    <m:r>
                      <m:rPr>
                        <m:nor/>
                      </m:rPr>
                      <a:rPr lang="en-US" sz="2400" dirty="0" smtClean="0"/>
                      <m:t>a</m:t>
                    </m:r>
                    <m:r>
                      <m:rPr>
                        <m:nor/>
                      </m:rPr>
                      <a:rPr lang="en-US" sz="2400" dirty="0" smtClean="0"/>
                      <m:t>. </m:t>
                    </m:r>
                    <m:r>
                      <m:rPr>
                        <m:nor/>
                      </m:rPr>
                      <a:rPr lang="en-US" sz="2400" b="0" i="0" dirty="0" smtClean="0"/>
                      <m:t>respectively</m:t>
                    </m:r>
                    <m:r>
                      <m:rPr>
                        <m:nor/>
                      </m:rPr>
                      <a:rPr lang="en-US" sz="2400" b="0" i="0" dirty="0" smtClean="0"/>
                      <m:t>. </m:t>
                    </m:r>
                    <m:r>
                      <m:rPr>
                        <m:nor/>
                      </m:rPr>
                      <a:rPr lang="en-US" sz="2400" b="0" i="0" dirty="0" smtClean="0"/>
                      <m:t>Compute</m:t>
                    </m:r>
                    <m:r>
                      <m:rPr>
                        <m:nor/>
                      </m:rPr>
                      <a:rPr lang="en-US" sz="2400" b="0" i="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the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rate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of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interest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for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the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whole</m:t>
                    </m:r>
                    <m:r>
                      <m:rPr>
                        <m:nor/>
                      </m:rPr>
                      <a:rPr lang="en-US" sz="2400" dirty="0" smtClean="0"/>
                      <m:t> </m:t>
                    </m:r>
                    <m:r>
                      <m:rPr>
                        <m:nor/>
                      </m:rPr>
                      <a:rPr lang="en-US" sz="2400" dirty="0" smtClean="0"/>
                      <m:t>sum</m:t>
                    </m:r>
                    <m:r>
                      <m:rPr>
                        <m:nor/>
                      </m:rPr>
                      <a:rPr lang="en-US" sz="2400" dirty="0" smtClean="0"/>
                      <m:t>.</m:t>
                    </m:r>
                  </m:oMath>
                </a14:m>
                <a:endParaRPr lang="en-US" sz="2400" dirty="0"/>
              </a:p>
              <a:p>
                <a:pPr algn="just"/>
                <a:r>
                  <a:rPr lang="en-IN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P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= </m:t>
                    </m:r>
                    <m:r>
                      <m:rPr>
                        <m:nor/>
                      </m:rPr>
                      <a:rPr lang="en-US" sz="2400" dirty="0"/>
                      <m:t>Rs</m:t>
                    </m:r>
                    <m:r>
                      <m:rPr>
                        <m:nor/>
                      </m:rPr>
                      <a:rPr lang="en-US" sz="2400" dirty="0"/>
                      <m:t>. 1000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algn="just"/>
                <a:r>
                  <a:rPr lang="en-IN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P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= </m:t>
                    </m:r>
                    <m:r>
                      <m:rPr>
                        <m:nor/>
                      </m:rPr>
                      <a:rPr lang="en-US" sz="2400" dirty="0"/>
                      <m:t>Rs</m:t>
                    </m:r>
                    <m:r>
                      <m:rPr>
                        <m:nor/>
                      </m:rPr>
                      <a:rPr lang="en-US" sz="2400" dirty="0"/>
                      <m:t>. 500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 3.5% 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. </m:t>
                    </m:r>
                  </m:oMath>
                </a14:m>
                <a:endParaRPr lang="en-US" sz="2400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 5% 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b="0" i="0" dirty="0" smtClean="0"/>
                      <m:t>.</m:t>
                    </m:r>
                  </m:oMath>
                </a14:m>
                <a:endParaRPr lang="en-US" sz="2400" dirty="0"/>
              </a:p>
              <a:p>
                <a:pPr algn="just"/>
                <a:r>
                  <a:rPr lang="en-US" sz="2400" b="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R</m:t>
                    </m:r>
                    <m:r>
                      <m:rPr>
                        <m:nor/>
                      </m:rPr>
                      <a:rPr lang="en-US" sz="2400" b="0" i="0" dirty="0" smtClean="0"/>
                      <m:t> = ?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0181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FEA04-52E8-44BE-85AC-A6B7F1AC0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P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=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10</m:t>
                        </m:r>
                        <m:r>
                          <m:rPr>
                            <m:nor/>
                          </m:rPr>
                          <a:rPr lang="en-US" sz="2400" dirty="0"/>
                          <m:t>00,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P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=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US" sz="2400" dirty="0"/>
                          <m:t>00,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=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3.5</m:t>
                        </m:r>
                        <m:r>
                          <m:rPr>
                            <m:nor/>
                          </m:rPr>
                          <a:rPr lang="en-US" sz="2400" dirty="0"/>
                          <m:t>% </m:t>
                        </m:r>
                        <m:r>
                          <m:rPr>
                            <m:nor/>
                          </m:rPr>
                          <a:rPr lang="en-US" sz="2400" dirty="0"/>
                          <m:t>p</m:t>
                        </m:r>
                        <m:r>
                          <m:rPr>
                            <m:nor/>
                          </m:rPr>
                          <a:rPr lang="en-US" sz="2400" dirty="0"/>
                          <m:t>.</m:t>
                        </m:r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  <m:r>
                          <m:rPr>
                            <m:nor/>
                          </m:rPr>
                          <a:rPr lang="en-US" sz="2400" dirty="0"/>
                          <m:t>., </m:t>
                        </m:r>
                        <m:r>
                          <m:rPr>
                            <m:nor/>
                          </m:rPr>
                          <a:rPr lang="en-US" sz="2400" dirty="0"/>
                          <m:t>R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sz="2400" dirty="0"/>
                      <m:t>= </m:t>
                    </m:r>
                    <m:r>
                      <m:rPr>
                        <m:nor/>
                      </m:rPr>
                      <a:rPr lang="en-US" sz="2400" b="0" i="0" dirty="0" smtClean="0"/>
                      <m:t>5</m:t>
                    </m:r>
                    <m:r>
                      <m:rPr>
                        <m:nor/>
                      </m:rPr>
                      <a:rPr lang="en-US" sz="2400" dirty="0"/>
                      <m:t>% </m:t>
                    </m:r>
                    <m:r>
                      <m:rPr>
                        <m:nor/>
                      </m:rPr>
                      <a:rPr lang="en-US" sz="2400" dirty="0"/>
                      <m:t>p</m:t>
                    </m:r>
                    <m:r>
                      <m:rPr>
                        <m:nor/>
                      </m:rPr>
                      <a:rPr lang="en-US" sz="2400" dirty="0"/>
                      <m:t>.</m:t>
                    </m:r>
                    <m:r>
                      <m:rPr>
                        <m:nor/>
                      </m:rPr>
                      <a:rPr lang="en-US" sz="2400" dirty="0"/>
                      <m:t>a</m:t>
                    </m:r>
                    <m:r>
                      <m:rPr>
                        <m:nor/>
                      </m:rPr>
                      <a:rPr lang="en-US" sz="2400" dirty="0"/>
                      <m:t>.,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and</m:t>
                    </m:r>
                  </m:oMath>
                </a14:m>
                <a:r>
                  <a:rPr lang="en-US" sz="2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R</m:t>
                    </m:r>
                    <m:r>
                      <m:rPr>
                        <m:nor/>
                      </m:rPr>
                      <a:rPr lang="en-US" sz="2400" b="0" i="0" dirty="0" smtClean="0"/>
                      <m:t> = ?</m:t>
                    </m:r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0" i="0" dirty="0" smtClean="0"/>
                      <m:t>R</m:t>
                    </m:r>
                  </m:oMath>
                </a14:m>
                <a:r>
                  <a:rPr lang="en-US" sz="2400" dirty="0"/>
                  <a:t>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P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P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R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 smtClean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P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b="0" i="0" dirty="0" smtClean="0"/>
                              <m:t>P</m:t>
                            </m:r>
                          </m:e>
                          <m:sub>
                            <m:r>
                              <a:rPr lang="en-US" sz="2400" b="0" i="0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endParaRPr lang="en-US" sz="24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buNone/>
                </a:pPr>
                <a:r>
                  <a:rPr lang="en-US" sz="2400" dirty="0"/>
                  <a:t>	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1000 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3.5 + 500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 5]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10</m:t>
                        </m:r>
                        <m:r>
                          <m:rPr>
                            <m:nor/>
                          </m:rPr>
                          <a:rPr lang="en-US" sz="2400" dirty="0"/>
                          <m:t>00 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+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5</m:t>
                        </m:r>
                        <m:r>
                          <m:rPr>
                            <m:nor/>
                          </m:rPr>
                          <a:rPr lang="en-US" sz="2400" dirty="0"/>
                          <m:t>00]</m:t>
                        </m:r>
                      </m:den>
                    </m:f>
                  </m:oMath>
                </a14:m>
                <a:r>
                  <a:rPr lang="en-IN" sz="2400" dirty="0"/>
                  <a:t>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60</m:t>
                        </m:r>
                        <m:r>
                          <m:rPr>
                            <m:nor/>
                          </m:rPr>
                          <a:rPr lang="en-US" sz="2400" dirty="0"/>
                          <m:t>00]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r>
                          <m:rPr>
                            <m:nor/>
                          </m:rPr>
                          <a:rPr lang="en-US" sz="2400" b="0" i="0" dirty="0" smtClean="0"/>
                          <m:t>1500</m:t>
                        </m:r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endParaRPr lang="en-IN" sz="2400" dirty="0"/>
              </a:p>
              <a:p>
                <a:pPr marL="0" indent="0" algn="just">
                  <a:buNone/>
                </a:pPr>
                <a:r>
                  <a:rPr lang="en-US" sz="2400" dirty="0"/>
                  <a:t>	= </a:t>
                </a:r>
                <a:r>
                  <a:rPr lang="en-IN" sz="2400" dirty="0"/>
                  <a:t>4 % p.a.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B3AE2B4-FCAA-4DD8-B1EA-1E13C0555A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5C599E2-F1C4-4019-8FDF-F09F302A5AC0}"/>
              </a:ext>
            </a:extLst>
          </p:cNvPr>
          <p:cNvCxnSpPr>
            <a:cxnSpLocks/>
          </p:cNvCxnSpPr>
          <p:nvPr/>
        </p:nvCxnSpPr>
        <p:spPr>
          <a:xfrm flipV="1">
            <a:off x="1565013" y="5071277"/>
            <a:ext cx="958437" cy="184666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49815C-FF10-4914-AB4D-AA3D96ADEF2B}"/>
              </a:ext>
            </a:extLst>
          </p:cNvPr>
          <p:cNvCxnSpPr>
            <a:cxnSpLocks/>
          </p:cNvCxnSpPr>
          <p:nvPr/>
        </p:nvCxnSpPr>
        <p:spPr>
          <a:xfrm flipV="1">
            <a:off x="1565013" y="4767468"/>
            <a:ext cx="821462" cy="14740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DF804AD-5FAA-4EDB-AD0B-4AD7ACFDCB67}"/>
              </a:ext>
            </a:extLst>
          </p:cNvPr>
          <p:cNvSpPr txBox="1"/>
          <p:nvPr/>
        </p:nvSpPr>
        <p:spPr>
          <a:xfrm>
            <a:off x="2367046" y="4439078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4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6E4DCA-8AE8-47D0-A336-F57DD7A827C4}"/>
              </a:ext>
            </a:extLst>
          </p:cNvPr>
          <p:cNvSpPr txBox="1"/>
          <p:nvPr/>
        </p:nvSpPr>
        <p:spPr>
          <a:xfrm>
            <a:off x="2386475" y="5168555"/>
            <a:ext cx="605653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3012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dirty="0"/>
                  <a:t>R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b="0" i="0" dirty="0" smtClean="0"/>
                          <m:t>S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I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. 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b="0" i="0" dirty="0" smtClean="0"/>
                          <m:t>P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 </m:t>
                        </m:r>
                      </m:den>
                    </m:f>
                  </m:oMath>
                </a14:m>
                <a:endParaRPr lang="en-IN" dirty="0"/>
              </a:p>
              <a:p>
                <a:pPr algn="just"/>
                <a:endParaRPr lang="en-US" dirty="0"/>
              </a:p>
              <a:p>
                <a:pPr algn="just"/>
                <a:r>
                  <a:rPr lang="en-US" dirty="0"/>
                  <a:t>If a certain sum of money becomes n times itself in T years at simple interest, then the rate of interest per annum is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R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r>
                          <m:rPr>
                            <m:nor/>
                          </m:rPr>
                          <a:rPr lang="en-US" dirty="0"/>
                          <m:t>n</m:t>
                        </m:r>
                        <m:r>
                          <m:rPr>
                            <m:nor/>
                          </m:rPr>
                          <a:rPr lang="en-US" dirty="0"/>
                          <m:t>−1) </m:t>
                        </m:r>
                        <m:r>
                          <m:rPr>
                            <m:nor/>
                          </m:rPr>
                          <a:rPr lang="en-US" dirty="0"/>
                          <m:t>x</m:t>
                        </m:r>
                        <m:r>
                          <m:rPr>
                            <m:nor/>
                          </m:rPr>
                          <a:rPr lang="en-US" dirty="0"/>
                          <m:t> 100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  <m:r>
                          <m:rPr>
                            <m:nor/>
                          </m:rPr>
                          <a:rPr lang="en-US" dirty="0"/>
                          <m:t> </m:t>
                        </m:r>
                      </m:den>
                    </m:f>
                  </m:oMath>
                </a14:m>
                <a:r>
                  <a:rPr lang="en-IN" dirty="0"/>
                  <a:t> </a:t>
                </a:r>
              </a:p>
              <a:p>
                <a:pPr algn="just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4D77A7AE-2AF1-4F7B-AD6D-99FCF3E58365}"/>
              </a:ext>
            </a:extLst>
          </p:cNvPr>
          <p:cNvSpPr/>
          <p:nvPr/>
        </p:nvSpPr>
        <p:spPr>
          <a:xfrm>
            <a:off x="596348" y="1380297"/>
            <a:ext cx="2435087" cy="104485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B54985-BFD7-46C2-AE62-D72CBA0E438B}"/>
              </a:ext>
            </a:extLst>
          </p:cNvPr>
          <p:cNvSpPr/>
          <p:nvPr/>
        </p:nvSpPr>
        <p:spPr>
          <a:xfrm>
            <a:off x="2842591" y="4320209"/>
            <a:ext cx="4373217" cy="12920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8556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/>
                <a:r>
                  <a:rPr lang="en-US" sz="2400" dirty="0"/>
                  <a:t>If a certain sum of money P lent out at S.I. amounts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years and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A</m:t>
                        </m:r>
                      </m:e>
                      <m:sub>
                        <m:r>
                          <a:rPr lang="en-IN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IN" sz="2400" dirty="0"/>
                          <m:t>T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years, then	 </a:t>
                </a:r>
              </a:p>
              <a:p>
                <a:pPr marL="0" indent="0" algn="just">
                  <a:buNone/>
                </a:pPr>
                <a:r>
                  <a:rPr lang="en-US" sz="2400" dirty="0"/>
                  <a:t>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R</m:t>
                    </m:r>
                    <m:r>
                      <m:rPr>
                        <m:nor/>
                      </m:rPr>
                      <a:rPr lang="en-US" sz="2400" dirty="0"/>
                      <m:t> </m:t>
                    </m:r>
                  </m:oMath>
                </a14:m>
                <a:r>
                  <a:rPr lang="en-US" sz="2400" dirty="0"/>
                  <a:t>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A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IN" sz="2400" dirty="0"/>
                              <m:t>−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 </m:t>
                            </m:r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b>
                            <m:r>
                              <a:rPr lang="en-IN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A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400" dirty="0"/>
                          <m:t>−</m:t>
                        </m:r>
                        <m:r>
                          <m:rPr>
                            <m:nor/>
                          </m:rPr>
                          <a:rPr lang="en-US" sz="2400" dirty="0"/>
                          <m:t>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IN" sz="2400" i="1" dirty="0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nor/>
                                  </m:rPr>
                                  <a:rPr lang="en-US" sz="2400" dirty="0"/>
                                  <m:t>A</m:t>
                                </m:r>
                              </m:e>
                              <m:sub>
                                <m:r>
                                  <a:rPr lang="en-US" sz="2400" dirty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nor/>
                              </m:rPr>
                              <a:rPr lang="en-IN" sz="2400" dirty="0"/>
                              <m:t>T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endParaRPr lang="en-US" sz="2400" dirty="0"/>
              </a:p>
              <a:p>
                <a:pPr algn="just"/>
                <a:r>
                  <a:rPr lang="en-US" sz="2400" dirty="0"/>
                  <a:t>If an amount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P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lent at simple interest rate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R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% per annum, and another amount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dirty="0"/>
                          <m:t>P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at simple interest rate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n-US" sz="2400" b="0" i="0" dirty="0" smtClean="0"/>
                          <m:t>R</m:t>
                        </m:r>
                      </m:e>
                      <m:sub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% per annum, then the rate of interest for the whole sum is			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dirty="0"/>
                      <m:t>R</m:t>
                    </m:r>
                  </m:oMath>
                </a14:m>
                <a:r>
                  <a:rPr lang="en-US" sz="2400" dirty="0"/>
                  <a:t> 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P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P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R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num>
                      <m:den>
                        <m:r>
                          <m:rPr>
                            <m:nor/>
                          </m:rPr>
                          <a:rPr lang="en-US" sz="2400" dirty="0"/>
                          <m:t>[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P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+ </m:t>
                        </m:r>
                        <m:sSub>
                          <m:sSub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nor/>
                              </m:rPr>
                              <a:rPr lang="en-US" sz="2400" dirty="0"/>
                              <m:t>P</m:t>
                            </m:r>
                          </m:e>
                          <m:sub>
                            <m:r>
                              <a:rPr lang="en-US" sz="240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sz="2400" dirty="0"/>
                          <m:t>]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r="-113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64304320-170D-4AFA-9CF9-9C6B47CE8472}"/>
              </a:ext>
            </a:extLst>
          </p:cNvPr>
          <p:cNvSpPr/>
          <p:nvPr/>
        </p:nvSpPr>
        <p:spPr>
          <a:xfrm>
            <a:off x="2385391" y="2501347"/>
            <a:ext cx="4373217" cy="12920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98D5D8A-C9CE-4EA0-8E3D-5342501AB6D3}"/>
              </a:ext>
            </a:extLst>
          </p:cNvPr>
          <p:cNvSpPr/>
          <p:nvPr/>
        </p:nvSpPr>
        <p:spPr>
          <a:xfrm>
            <a:off x="2385391" y="5394049"/>
            <a:ext cx="4373217" cy="129208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504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Computation of Rate </a:t>
            </a:r>
          </a:p>
          <a:p>
            <a:pPr lvl="1" algn="just">
              <a:lnSpc>
                <a:spcPct val="150000"/>
              </a:lnSpc>
            </a:pP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2828</TotalTime>
  <Words>579</Words>
  <Application>Microsoft Office PowerPoint</Application>
  <PresentationFormat>On-screen Show (4:3)</PresentationFormat>
  <Paragraphs>86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Problem 1</vt:lpstr>
      <vt:lpstr>Problem 1</vt:lpstr>
      <vt:lpstr>Problem 2</vt:lpstr>
      <vt:lpstr>Problem 2</vt:lpstr>
      <vt:lpstr>Problem 3</vt:lpstr>
      <vt:lpstr>Problem 3</vt:lpstr>
      <vt:lpstr>Problem 4</vt:lpstr>
      <vt:lpstr>Problem 4</vt:lpstr>
      <vt:lpstr>Problem 5</vt:lpstr>
      <vt:lpstr>Problem 5</vt:lpstr>
      <vt:lpstr>Conclusion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208</cp:revision>
  <dcterms:created xsi:type="dcterms:W3CDTF">2020-12-18T18:59:12Z</dcterms:created>
  <dcterms:modified xsi:type="dcterms:W3CDTF">2022-04-28T06:28:50Z</dcterms:modified>
</cp:coreProperties>
</file>