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8" r:id="rId2"/>
    <p:sldId id="872" r:id="rId3"/>
    <p:sldId id="873" r:id="rId4"/>
    <p:sldId id="890" r:id="rId5"/>
    <p:sldId id="895" r:id="rId6"/>
    <p:sldId id="896" r:id="rId7"/>
    <p:sldId id="897" r:id="rId8"/>
    <p:sldId id="898" r:id="rId9"/>
    <p:sldId id="899" r:id="rId10"/>
    <p:sldId id="900" r:id="rId11"/>
    <p:sldId id="901" r:id="rId12"/>
    <p:sldId id="903" r:id="rId13"/>
    <p:sldId id="875" r:id="rId14"/>
    <p:sldId id="891" r:id="rId15"/>
    <p:sldId id="892" r:id="rId16"/>
    <p:sldId id="893" r:id="rId17"/>
    <p:sldId id="894" r:id="rId18"/>
    <p:sldId id="767" r:id="rId19"/>
    <p:sldId id="343" r:id="rId20"/>
    <p:sldId id="34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4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understanding about the basics of insert the missing character,</a:t>
            </a:r>
          </a:p>
          <a:p>
            <a:pPr algn="just"/>
            <a:r>
              <a:rPr lang="en-US" dirty="0"/>
              <a:t>analyze different types of insert the missing character,</a:t>
            </a:r>
          </a:p>
          <a:p>
            <a:pPr algn="just"/>
            <a:r>
              <a:rPr lang="en-US" dirty="0"/>
              <a:t>solve various problems relating to insert the missing character. </a:t>
            </a:r>
          </a:p>
        </p:txBody>
      </p:sp>
    </p:spTree>
    <p:extLst>
      <p:ext uri="{BB962C8B-B14F-4D97-AF65-F5344CB8AC3E}">
        <p14:creationId xmlns:p14="http://schemas.microsoft.com/office/powerpoint/2010/main" val="288963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Insert The Missing Character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Figure/Set of Figures/Arrangement/Matrix </a:t>
            </a:r>
          </a:p>
          <a:p>
            <a:pPr algn="just"/>
            <a:r>
              <a:rPr lang="en-US" sz="2800" dirty="0"/>
              <a:t>Certain Characteristics</a:t>
            </a:r>
          </a:p>
          <a:p>
            <a:pPr lvl="1" algn="just">
              <a:lnSpc>
                <a:spcPct val="160000"/>
              </a:lnSpc>
            </a:pPr>
            <a:r>
              <a:rPr lang="en-US" sz="2600" dirty="0"/>
              <a:t>Numbers/Letters/Group</a:t>
            </a:r>
          </a:p>
          <a:p>
            <a:pPr lvl="1" algn="just">
              <a:lnSpc>
                <a:spcPct val="160000"/>
              </a:lnSpc>
            </a:pPr>
            <a:r>
              <a:rPr lang="en-US" sz="2600" dirty="0"/>
              <a:t>Combination of Letters/Numbers </a:t>
            </a:r>
          </a:p>
          <a:p>
            <a:pPr algn="just"/>
            <a:r>
              <a:rPr lang="en-US" sz="2800" dirty="0"/>
              <a:t>Missing Character</a:t>
            </a:r>
          </a:p>
        </p:txBody>
      </p:sp>
    </p:spTree>
    <p:extLst>
      <p:ext uri="{BB962C8B-B14F-4D97-AF65-F5344CB8AC3E}">
        <p14:creationId xmlns:p14="http://schemas.microsoft.com/office/powerpoint/2010/main" val="251567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Insert The Missing Character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Set of Figures</a:t>
            </a:r>
          </a:p>
          <a:p>
            <a:pPr algn="just"/>
            <a:r>
              <a:rPr lang="en-US" dirty="0"/>
              <a:t>Set of Arrangements</a:t>
            </a:r>
          </a:p>
          <a:p>
            <a:pPr algn="just"/>
            <a:r>
              <a:rPr lang="en-US" dirty="0"/>
              <a:t>Set of Matrix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41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A5559DB-467C-225D-90B3-8ECA626F0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What number should replace the question mark?</a:t>
                </a:r>
              </a:p>
              <a:p>
                <a:pPr algn="just"/>
                <a:r>
                  <a:rPr lang="en-US" dirty="0"/>
                  <a:t>(a) </a:t>
                </a:r>
                <a:r>
                  <a:rPr lang="en-IN" dirty="0"/>
                  <a:t>64</a:t>
                </a:r>
                <a:r>
                  <a:rPr lang="en-US" dirty="0"/>
                  <a:t> 	</a:t>
                </a:r>
              </a:p>
              <a:p>
                <a:pPr algn="just"/>
                <a:r>
                  <a:rPr lang="en-US" dirty="0"/>
                  <a:t>(b) </a:t>
                </a:r>
                <a:r>
                  <a:rPr lang="en-IN" dirty="0"/>
                  <a:t>68	</a:t>
                </a:r>
              </a:p>
              <a:p>
                <a:pPr algn="just"/>
                <a:r>
                  <a:rPr lang="en-US" dirty="0"/>
                  <a:t>(c) </a:t>
                </a:r>
                <a:r>
                  <a:rPr lang="en-IN" dirty="0"/>
                  <a:t>82	</a:t>
                </a:r>
              </a:p>
              <a:p>
                <a:pPr algn="just"/>
                <a:r>
                  <a:rPr lang="en-US" dirty="0"/>
                  <a:t>(d) </a:t>
                </a:r>
                <a:r>
                  <a:rPr lang="en-IN" dirty="0"/>
                  <a:t>100</a:t>
                </a:r>
              </a:p>
              <a:p>
                <a:pPr algn="just"/>
                <a:r>
                  <a:rPr lang="en-US" dirty="0"/>
                  <a:t>Explanation: </a:t>
                </a:r>
              </a:p>
              <a:p>
                <a:pPr algn="just"/>
                <a:r>
                  <a:rPr lang="en-US" dirty="0"/>
                  <a:t>Required number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2 + 8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100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559DB-467C-225D-90B3-8ECA626F0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61950" y="4347817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DEBE71F-27E8-5427-3074-C599ABB61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487" y="2017643"/>
            <a:ext cx="3146977" cy="27973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xmlns="" id="{104D1D3B-814B-420D-BB96-73B3CBBACA98}"/>
              </a:ext>
            </a:extLst>
          </p:cNvPr>
          <p:cNvSpPr/>
          <p:nvPr/>
        </p:nvSpPr>
        <p:spPr>
          <a:xfrm rot="2115293">
            <a:off x="5828079" y="3463235"/>
            <a:ext cx="1642427" cy="109330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4B31F1FD-1CC5-F3EA-E763-C476AF005BE8}"/>
              </a:ext>
            </a:extLst>
          </p:cNvPr>
          <p:cNvSpPr/>
          <p:nvPr/>
        </p:nvSpPr>
        <p:spPr>
          <a:xfrm rot="9019452">
            <a:off x="5912367" y="2151004"/>
            <a:ext cx="1642427" cy="109330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6D999AC6-5013-E914-003E-3C32E1888111}"/>
              </a:ext>
            </a:extLst>
          </p:cNvPr>
          <p:cNvSpPr/>
          <p:nvPr/>
        </p:nvSpPr>
        <p:spPr>
          <a:xfrm rot="13127909">
            <a:off x="4592039" y="2208362"/>
            <a:ext cx="1642427" cy="109330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D0BFF1D0-1CDD-CF30-6500-B766B91F1F56}"/>
              </a:ext>
            </a:extLst>
          </p:cNvPr>
          <p:cNvSpPr/>
          <p:nvPr/>
        </p:nvSpPr>
        <p:spPr>
          <a:xfrm rot="13127909" flipV="1">
            <a:off x="4681974" y="3290489"/>
            <a:ext cx="1136463" cy="163952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18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A5559DB-467C-225D-90B3-8ECA626F0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What number should replace the question mark?</a:t>
                </a:r>
              </a:p>
              <a:p>
                <a:pPr algn="just"/>
                <a:r>
                  <a:rPr lang="en-US" dirty="0"/>
                  <a:t>(a) </a:t>
                </a:r>
                <a:r>
                  <a:rPr lang="en-IN" dirty="0"/>
                  <a:t>25</a:t>
                </a:r>
                <a:r>
                  <a:rPr lang="en-US" dirty="0"/>
                  <a:t> 	</a:t>
                </a:r>
              </a:p>
              <a:p>
                <a:pPr algn="just"/>
                <a:r>
                  <a:rPr lang="en-US" dirty="0"/>
                  <a:t>(b) </a:t>
                </a:r>
                <a:r>
                  <a:rPr lang="en-IN" dirty="0"/>
                  <a:t>40	</a:t>
                </a:r>
              </a:p>
              <a:p>
                <a:pPr algn="just"/>
                <a:r>
                  <a:rPr lang="en-US" dirty="0"/>
                  <a:t>(c) </a:t>
                </a:r>
                <a:r>
                  <a:rPr lang="en-IN" dirty="0"/>
                  <a:t>50	</a:t>
                </a:r>
              </a:p>
              <a:p>
                <a:pPr algn="just"/>
                <a:r>
                  <a:rPr lang="en-US" dirty="0"/>
                  <a:t>(d) </a:t>
                </a:r>
                <a:r>
                  <a:rPr lang="en-IN" dirty="0"/>
                  <a:t>60</a:t>
                </a:r>
              </a:p>
              <a:p>
                <a:pPr algn="just"/>
                <a:r>
                  <a:rPr lang="en-US" dirty="0"/>
                  <a:t>Explanation: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IN" dirty="0"/>
                          <m:t>4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9</m:t>
                        </m:r>
                      </m:e>
                    </m:rad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36</m:t>
                        </m:r>
                      </m:e>
                    </m:rad>
                  </m:oMath>
                </a14:m>
                <a:r>
                  <a:rPr lang="en-IN" dirty="0"/>
                  <a:t> = 6</a:t>
                </a:r>
              </a:p>
              <a:p>
                <a:pPr algn="just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9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16</m:t>
                        </m:r>
                      </m:e>
                    </m:rad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144</m:t>
                        </m:r>
                      </m:e>
                    </m:rad>
                  </m:oMath>
                </a14:m>
                <a:r>
                  <a:rPr lang="en-IN" dirty="0"/>
                  <a:t> = 12</a:t>
                </a:r>
              </a:p>
              <a:p>
                <a:pPr algn="just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16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6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IN" dirty="0"/>
                  <a:t> = 20</a:t>
                </a:r>
                <a:r>
                  <a:rPr lang="en-US" dirty="0"/>
                  <a:t> or 16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= 400 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= 25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559DB-467C-225D-90B3-8ECA626F0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98379" y="1972090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BCDD0AF-E484-9243-5E50-18663BADF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029" y="2200690"/>
            <a:ext cx="5757918" cy="166563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570E30E9-9064-7314-C74C-D25EA5C3F7A4}"/>
              </a:ext>
            </a:extLst>
          </p:cNvPr>
          <p:cNvCxnSpPr>
            <a:cxnSpLocks/>
          </p:cNvCxnSpPr>
          <p:nvPr/>
        </p:nvCxnSpPr>
        <p:spPr>
          <a:xfrm flipH="1">
            <a:off x="3528391" y="6038022"/>
            <a:ext cx="596348" cy="3677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8050932E-6F90-7EEF-87BA-C8846EBE8B16}"/>
              </a:ext>
            </a:extLst>
          </p:cNvPr>
          <p:cNvCxnSpPr>
            <a:cxnSpLocks/>
          </p:cNvCxnSpPr>
          <p:nvPr/>
        </p:nvCxnSpPr>
        <p:spPr>
          <a:xfrm flipH="1">
            <a:off x="4412974" y="6082748"/>
            <a:ext cx="745437" cy="2782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9A8C86B-4C45-B94E-D2D3-2D3E58F745C7}"/>
              </a:ext>
            </a:extLst>
          </p:cNvPr>
          <p:cNvSpPr txBox="1"/>
          <p:nvPr/>
        </p:nvSpPr>
        <p:spPr>
          <a:xfrm>
            <a:off x="4652962" y="5764696"/>
            <a:ext cx="50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44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</a:t>
            </a:r>
            <a:r>
              <a:rPr lang="en-IN" dirty="0"/>
              <a:t>66</a:t>
            </a:r>
            <a:r>
              <a:rPr lang="en-US" dirty="0"/>
              <a:t> 	</a:t>
            </a:r>
          </a:p>
          <a:p>
            <a:pPr algn="just"/>
            <a:r>
              <a:rPr lang="en-US" dirty="0"/>
              <a:t>(b) </a:t>
            </a:r>
            <a:r>
              <a:rPr lang="en-IN" dirty="0"/>
              <a:t>68	</a:t>
            </a:r>
          </a:p>
          <a:p>
            <a:pPr algn="just"/>
            <a:r>
              <a:rPr lang="en-US" dirty="0"/>
              <a:t>(c) </a:t>
            </a:r>
            <a:r>
              <a:rPr lang="en-IN" dirty="0"/>
              <a:t>70	</a:t>
            </a:r>
          </a:p>
          <a:p>
            <a:pPr algn="just"/>
            <a:r>
              <a:rPr lang="en-US" dirty="0"/>
              <a:t>(d) </a:t>
            </a:r>
            <a:r>
              <a:rPr lang="en-IN" dirty="0"/>
              <a:t>72</a:t>
            </a:r>
          </a:p>
          <a:p>
            <a:pPr algn="just"/>
            <a:r>
              <a:rPr lang="en-US" dirty="0"/>
              <a:t>Explanation:</a:t>
            </a:r>
          </a:p>
          <a:p>
            <a:pPr algn="just"/>
            <a:r>
              <a:rPr lang="en-US" dirty="0"/>
              <a:t>Starting with 7, Double the number and add 2. </a:t>
            </a:r>
            <a:endParaRPr lang="en-US" dirty="0">
              <a:solidFill>
                <a:srgbClr val="836967"/>
              </a:solidFill>
              <a:latin typeface="Cambria Math" panose="020405030504060302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451152" y="3618049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A1F318E4-FA36-0F33-991A-C699A4F5A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148" y="1960286"/>
            <a:ext cx="3364396" cy="350457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7A7B4465-CBBD-607C-8438-DB6A3DB6C77C}"/>
              </a:ext>
            </a:extLst>
          </p:cNvPr>
          <p:cNvCxnSpPr/>
          <p:nvPr/>
        </p:nvCxnSpPr>
        <p:spPr>
          <a:xfrm>
            <a:off x="6430617" y="3429000"/>
            <a:ext cx="0" cy="6462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6D3A8C87-C842-0F3B-668B-2A724E9A6423}"/>
              </a:ext>
            </a:extLst>
          </p:cNvPr>
          <p:cNvCxnSpPr>
            <a:cxnSpLocks/>
          </p:cNvCxnSpPr>
          <p:nvPr/>
        </p:nvCxnSpPr>
        <p:spPr>
          <a:xfrm flipH="1">
            <a:off x="5953539" y="4356652"/>
            <a:ext cx="341244" cy="5035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9AB67947-FA47-E5F3-6803-880A2DE3FD6E}"/>
              </a:ext>
            </a:extLst>
          </p:cNvPr>
          <p:cNvCxnSpPr>
            <a:cxnSpLocks/>
          </p:cNvCxnSpPr>
          <p:nvPr/>
        </p:nvCxnSpPr>
        <p:spPr>
          <a:xfrm flipH="1" flipV="1">
            <a:off x="4492487" y="3618049"/>
            <a:ext cx="166894" cy="7386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43994308-BE4A-B7F7-AFBF-4C0B1B2A4443}"/>
              </a:ext>
            </a:extLst>
          </p:cNvPr>
          <p:cNvCxnSpPr>
            <a:cxnSpLocks/>
          </p:cNvCxnSpPr>
          <p:nvPr/>
        </p:nvCxnSpPr>
        <p:spPr>
          <a:xfrm flipV="1">
            <a:off x="4572000" y="2934422"/>
            <a:ext cx="594899" cy="3256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AA94D290-7029-AEC5-C760-576885A80ED1}"/>
              </a:ext>
            </a:extLst>
          </p:cNvPr>
          <p:cNvSpPr/>
          <p:nvPr/>
        </p:nvSpPr>
        <p:spPr>
          <a:xfrm>
            <a:off x="5917096" y="3097228"/>
            <a:ext cx="877378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73CE91AA-BFF9-A5CC-25BD-80E516729004}"/>
              </a:ext>
            </a:extLst>
          </p:cNvPr>
          <p:cNvCxnSpPr>
            <a:cxnSpLocks/>
          </p:cNvCxnSpPr>
          <p:nvPr/>
        </p:nvCxnSpPr>
        <p:spPr>
          <a:xfrm flipH="1" flipV="1">
            <a:off x="4869449" y="4770783"/>
            <a:ext cx="696464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43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A5559DB-467C-225D-90B3-8ECA626F0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What number should replace the question mark?</a:t>
                </a:r>
              </a:p>
              <a:p>
                <a:pPr algn="just"/>
                <a:r>
                  <a:rPr lang="en-US" dirty="0"/>
                  <a:t>(a) </a:t>
                </a:r>
                <a:r>
                  <a:rPr lang="en-IN" dirty="0"/>
                  <a:t>320</a:t>
                </a:r>
                <a:r>
                  <a:rPr lang="en-US" dirty="0"/>
                  <a:t> 	</a:t>
                </a:r>
              </a:p>
              <a:p>
                <a:pPr algn="just"/>
                <a:r>
                  <a:rPr lang="en-US" dirty="0"/>
                  <a:t>(b) </a:t>
                </a:r>
                <a:r>
                  <a:rPr lang="en-IN" dirty="0"/>
                  <a:t>32	</a:t>
                </a:r>
              </a:p>
              <a:p>
                <a:pPr algn="just"/>
                <a:r>
                  <a:rPr lang="en-US" dirty="0"/>
                  <a:t>(c) </a:t>
                </a:r>
                <a:r>
                  <a:rPr lang="en-IN" dirty="0"/>
                  <a:t>22	</a:t>
                </a:r>
              </a:p>
              <a:p>
                <a:pPr algn="just"/>
                <a:r>
                  <a:rPr lang="en-US" dirty="0"/>
                  <a:t>(d) </a:t>
                </a:r>
                <a:r>
                  <a:rPr lang="en-IN" dirty="0"/>
                  <a:t>14</a:t>
                </a:r>
              </a:p>
              <a:p>
                <a:pPr algn="just"/>
                <a:r>
                  <a:rPr lang="en-US" dirty="0"/>
                  <a:t>Explanation: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 × 6 × 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)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) = 12 ;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6 × 7 × 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)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210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) = 21 </a:t>
                </a:r>
              </a:p>
              <a:p>
                <a:pPr algn="just"/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4 × 8 × 10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)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) = 32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559DB-467C-225D-90B3-8ECA626F0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61950" y="2759232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6B31B10-5260-0AD5-4AA9-463BE228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50" y="2070413"/>
            <a:ext cx="5793919" cy="20841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E5FE820-9A21-C752-863E-EFF4335B94E2}"/>
              </a:ext>
            </a:extLst>
          </p:cNvPr>
          <p:cNvCxnSpPr>
            <a:cxnSpLocks/>
          </p:cNvCxnSpPr>
          <p:nvPr/>
        </p:nvCxnSpPr>
        <p:spPr>
          <a:xfrm flipH="1">
            <a:off x="4432853" y="4959386"/>
            <a:ext cx="200231" cy="2325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33D8EF3-BBC3-F794-6B23-32589AB207AB}"/>
              </a:ext>
            </a:extLst>
          </p:cNvPr>
          <p:cNvCxnSpPr>
            <a:cxnSpLocks/>
          </p:cNvCxnSpPr>
          <p:nvPr/>
        </p:nvCxnSpPr>
        <p:spPr>
          <a:xfrm flipH="1">
            <a:off x="4383157" y="5330893"/>
            <a:ext cx="139148" cy="2416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CB44D351-1B14-AE8F-6CB2-09FC0779B438}"/>
              </a:ext>
            </a:extLst>
          </p:cNvPr>
          <p:cNvCxnSpPr>
            <a:cxnSpLocks/>
          </p:cNvCxnSpPr>
          <p:nvPr/>
        </p:nvCxnSpPr>
        <p:spPr>
          <a:xfrm flipH="1">
            <a:off x="7517296" y="4959386"/>
            <a:ext cx="200231" cy="2325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8289D308-ABED-C521-3EE9-E1B97ADE1DF6}"/>
              </a:ext>
            </a:extLst>
          </p:cNvPr>
          <p:cNvCxnSpPr>
            <a:cxnSpLocks/>
          </p:cNvCxnSpPr>
          <p:nvPr/>
        </p:nvCxnSpPr>
        <p:spPr>
          <a:xfrm flipH="1">
            <a:off x="7447722" y="5330893"/>
            <a:ext cx="139148" cy="2416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C2FFA387-5D8F-1B7B-0AF7-A6C0527FA61E}"/>
              </a:ext>
            </a:extLst>
          </p:cNvPr>
          <p:cNvCxnSpPr>
            <a:cxnSpLocks/>
          </p:cNvCxnSpPr>
          <p:nvPr/>
        </p:nvCxnSpPr>
        <p:spPr>
          <a:xfrm flipH="1">
            <a:off x="2865782" y="5976490"/>
            <a:ext cx="200231" cy="2325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B61A25B0-ED43-0018-88C0-161C4270FE6A}"/>
              </a:ext>
            </a:extLst>
          </p:cNvPr>
          <p:cNvCxnSpPr>
            <a:cxnSpLocks/>
          </p:cNvCxnSpPr>
          <p:nvPr/>
        </p:nvCxnSpPr>
        <p:spPr>
          <a:xfrm flipH="1">
            <a:off x="2786269" y="6347997"/>
            <a:ext cx="139148" cy="2416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43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</a:t>
            </a:r>
            <a:r>
              <a:rPr lang="en-IN" dirty="0"/>
              <a:t>45</a:t>
            </a:r>
            <a:r>
              <a:rPr lang="en-US" dirty="0"/>
              <a:t> 	</a:t>
            </a:r>
          </a:p>
          <a:p>
            <a:pPr algn="just"/>
            <a:r>
              <a:rPr lang="en-US" dirty="0"/>
              <a:t>(b) </a:t>
            </a:r>
            <a:r>
              <a:rPr lang="en-IN" dirty="0"/>
              <a:t>47	</a:t>
            </a:r>
          </a:p>
          <a:p>
            <a:pPr algn="just"/>
            <a:r>
              <a:rPr lang="en-US" dirty="0"/>
              <a:t>(c) </a:t>
            </a:r>
            <a:r>
              <a:rPr lang="en-IN" dirty="0"/>
              <a:t>35	</a:t>
            </a:r>
          </a:p>
          <a:p>
            <a:pPr algn="just"/>
            <a:r>
              <a:rPr lang="en-US" dirty="0"/>
              <a:t>(d) </a:t>
            </a:r>
            <a:r>
              <a:rPr lang="en-IN" dirty="0"/>
              <a:t>37 </a:t>
            </a:r>
          </a:p>
          <a:p>
            <a:pPr algn="just"/>
            <a:r>
              <a:rPr lang="en-US" dirty="0"/>
              <a:t>Explanation:</a:t>
            </a:r>
          </a:p>
          <a:p>
            <a:pPr algn="just"/>
            <a:r>
              <a:rPr lang="en-IN" dirty="0"/>
              <a:t>3 × 3 + 6 × 5 = 39 and 4 × 4 + 5 × 7 = 51 </a:t>
            </a:r>
          </a:p>
          <a:p>
            <a:pPr algn="just"/>
            <a:r>
              <a:rPr lang="en-IN" dirty="0"/>
              <a:t>3 × 4 + 5 × 5 = 37</a:t>
            </a:r>
          </a:p>
          <a:p>
            <a:pPr algn="just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85114" y="4110953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8CFC13F-4F85-11B6-BC85-063D626B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40" y="2095379"/>
            <a:ext cx="6402447" cy="174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6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</a:t>
            </a:r>
            <a:r>
              <a:rPr lang="en-IN" dirty="0"/>
              <a:t>9</a:t>
            </a:r>
            <a:r>
              <a:rPr lang="en-US" dirty="0"/>
              <a:t> 	</a:t>
            </a:r>
          </a:p>
          <a:p>
            <a:pPr algn="just"/>
            <a:r>
              <a:rPr lang="en-US" dirty="0"/>
              <a:t>(b) </a:t>
            </a:r>
            <a:r>
              <a:rPr lang="en-IN" dirty="0"/>
              <a:t>8	</a:t>
            </a:r>
          </a:p>
          <a:p>
            <a:pPr algn="just"/>
            <a:r>
              <a:rPr lang="en-US" dirty="0"/>
              <a:t>(c) </a:t>
            </a:r>
            <a:r>
              <a:rPr lang="en-IN" dirty="0"/>
              <a:t>7	</a:t>
            </a:r>
          </a:p>
          <a:p>
            <a:pPr algn="just"/>
            <a:r>
              <a:rPr lang="en-US" dirty="0"/>
              <a:t>(d) </a:t>
            </a:r>
            <a:r>
              <a:rPr lang="en-IN" dirty="0"/>
              <a:t>6 </a:t>
            </a:r>
          </a:p>
          <a:p>
            <a:pPr algn="just"/>
            <a:r>
              <a:rPr lang="en-US" dirty="0"/>
              <a:t>Explanation:</a:t>
            </a:r>
          </a:p>
          <a:p>
            <a:pPr algn="just"/>
            <a:r>
              <a:rPr lang="en-US" dirty="0"/>
              <a:t>Total of rows having two &amp; four numbers = 14 &amp; 22</a:t>
            </a:r>
          </a:p>
          <a:p>
            <a:pPr algn="just"/>
            <a:r>
              <a:rPr lang="en-US" dirty="0"/>
              <a:t>Total of rows having three numbers =18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61950" y="2073432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CD2DD6E-4A06-71E7-2313-F51FABF8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298" y="1982857"/>
            <a:ext cx="4983971" cy="2897256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xmlns="" id="{871E7817-A134-F2B7-D5A3-F6A67A972413}"/>
              </a:ext>
            </a:extLst>
          </p:cNvPr>
          <p:cNvSpPr/>
          <p:nvPr/>
        </p:nvSpPr>
        <p:spPr>
          <a:xfrm>
            <a:off x="4766943" y="1755379"/>
            <a:ext cx="2727161" cy="62007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667E7B91-3973-5E64-E80A-7B5A8C5C6E22}"/>
              </a:ext>
            </a:extLst>
          </p:cNvPr>
          <p:cNvSpPr/>
          <p:nvPr/>
        </p:nvSpPr>
        <p:spPr>
          <a:xfrm>
            <a:off x="4058937" y="2355906"/>
            <a:ext cx="3762767" cy="55350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1C997E0-8A4D-4BAC-C7A0-156543456EE0}"/>
              </a:ext>
            </a:extLst>
          </p:cNvPr>
          <p:cNvSpPr/>
          <p:nvPr/>
        </p:nvSpPr>
        <p:spPr>
          <a:xfrm>
            <a:off x="3371286" y="2768934"/>
            <a:ext cx="4965982" cy="61203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F9C0AFB1-A446-B8BE-4B6F-F7C87A770C5C}"/>
              </a:ext>
            </a:extLst>
          </p:cNvPr>
          <p:cNvSpPr/>
          <p:nvPr/>
        </p:nvSpPr>
        <p:spPr>
          <a:xfrm>
            <a:off x="4720560" y="4313042"/>
            <a:ext cx="2727161" cy="62007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9C1A83F-509B-D29A-4F5A-18E108003D1D}"/>
              </a:ext>
            </a:extLst>
          </p:cNvPr>
          <p:cNvSpPr/>
          <p:nvPr/>
        </p:nvSpPr>
        <p:spPr>
          <a:xfrm>
            <a:off x="3414298" y="3389471"/>
            <a:ext cx="4965982" cy="61203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F35C73E7-AC6A-FADF-DAF1-5A3AC710F7AB}"/>
              </a:ext>
            </a:extLst>
          </p:cNvPr>
          <p:cNvSpPr/>
          <p:nvPr/>
        </p:nvSpPr>
        <p:spPr>
          <a:xfrm>
            <a:off x="4058937" y="3791671"/>
            <a:ext cx="3762767" cy="55350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8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42 	</a:t>
            </a:r>
          </a:p>
          <a:p>
            <a:pPr algn="just"/>
            <a:r>
              <a:rPr lang="en-US" dirty="0"/>
              <a:t>(b) 32</a:t>
            </a:r>
            <a:r>
              <a:rPr lang="en-IN" dirty="0"/>
              <a:t>	</a:t>
            </a:r>
          </a:p>
          <a:p>
            <a:pPr algn="just"/>
            <a:r>
              <a:rPr lang="en-US" dirty="0"/>
              <a:t>(c) 46</a:t>
            </a:r>
            <a:r>
              <a:rPr lang="en-IN" dirty="0"/>
              <a:t>	</a:t>
            </a:r>
          </a:p>
          <a:p>
            <a:pPr algn="just"/>
            <a:r>
              <a:rPr lang="en-US" dirty="0"/>
              <a:t>(d) 45</a:t>
            </a:r>
            <a:r>
              <a:rPr lang="en-IN" dirty="0"/>
              <a:t> </a:t>
            </a:r>
          </a:p>
          <a:p>
            <a:pPr algn="just"/>
            <a:r>
              <a:rPr lang="en-US" dirty="0"/>
              <a:t>Explanation:</a:t>
            </a:r>
          </a:p>
          <a:p>
            <a:pPr algn="just"/>
            <a:r>
              <a:rPr lang="en-US" dirty="0"/>
              <a:t>Beginning at 17, +9 and –5.</a:t>
            </a:r>
          </a:p>
          <a:p>
            <a:pPr algn="just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81787" y="3598171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39E23E8-13C3-39E1-80C7-63167586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192" y="2134635"/>
            <a:ext cx="5324696" cy="262620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3271210A-3F1E-E90D-CB03-A64D89C8A9D0}"/>
              </a:ext>
            </a:extLst>
          </p:cNvPr>
          <p:cNvCxnSpPr/>
          <p:nvPr/>
        </p:nvCxnSpPr>
        <p:spPr>
          <a:xfrm>
            <a:off x="4412974" y="2773017"/>
            <a:ext cx="299167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0CBC4973-EB6D-9EF9-8AAC-D237DDEA0CAD}"/>
              </a:ext>
            </a:extLst>
          </p:cNvPr>
          <p:cNvCxnSpPr>
            <a:cxnSpLocks/>
          </p:cNvCxnSpPr>
          <p:nvPr/>
        </p:nvCxnSpPr>
        <p:spPr>
          <a:xfrm flipH="1">
            <a:off x="4412974" y="3680997"/>
            <a:ext cx="290553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D0E6690-8363-A1F3-2A49-7868D13ABD48}"/>
              </a:ext>
            </a:extLst>
          </p:cNvPr>
          <p:cNvCxnSpPr/>
          <p:nvPr/>
        </p:nvCxnSpPr>
        <p:spPr>
          <a:xfrm>
            <a:off x="4326835" y="4479441"/>
            <a:ext cx="299167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2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4322 : 48 </a:t>
            </a:r>
          </a:p>
          <a:p>
            <a:pPr algn="just"/>
            <a:r>
              <a:rPr lang="en-US" dirty="0"/>
              <a:t>4172 : 56 </a:t>
            </a:r>
          </a:p>
          <a:p>
            <a:pPr algn="just"/>
            <a:r>
              <a:rPr lang="en-US" dirty="0"/>
              <a:t>7615 : ? </a:t>
            </a:r>
          </a:p>
          <a:p>
            <a:pPr algn="just"/>
            <a:r>
              <a:rPr lang="en-US" dirty="0"/>
              <a:t>(a) 49	(b) 52</a:t>
            </a:r>
            <a:r>
              <a:rPr lang="en-IN" dirty="0"/>
              <a:t>		</a:t>
            </a:r>
            <a:r>
              <a:rPr lang="en-US" dirty="0"/>
              <a:t>(c) 210</a:t>
            </a:r>
            <a:r>
              <a:rPr lang="en-IN" dirty="0"/>
              <a:t>		</a:t>
            </a:r>
            <a:r>
              <a:rPr lang="en-US" dirty="0"/>
              <a:t>(d) 336</a:t>
            </a:r>
            <a:endParaRPr lang="en-IN" dirty="0"/>
          </a:p>
          <a:p>
            <a:pPr algn="just"/>
            <a:r>
              <a:rPr lang="en-US" dirty="0"/>
              <a:t>Explanation: 4 x 3 x 2 x 2 = 48; 4 x 1 x 7 x 2 = 56</a:t>
            </a:r>
          </a:p>
          <a:p>
            <a:pPr algn="just"/>
            <a:r>
              <a:rPr lang="en-IN" dirty="0"/>
              <a:t>7 × 6 × 1 × 5 = 210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750786" y="4333667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4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F2D397F-D684-3D86-E913-AFA232EA4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What number should replace the question mark?</a:t>
                </a:r>
              </a:p>
              <a:p>
                <a:pPr algn="just"/>
                <a:r>
                  <a:rPr lang="en-US" dirty="0"/>
                  <a:t>(a) 144 </a:t>
                </a:r>
              </a:p>
              <a:p>
                <a:pPr algn="just"/>
                <a:r>
                  <a:rPr lang="en-US" dirty="0"/>
                  <a:t>(b) 120 </a:t>
                </a:r>
              </a:p>
              <a:p>
                <a:pPr algn="just"/>
                <a:r>
                  <a:rPr lang="en-US" dirty="0"/>
                  <a:t>(c) 100 </a:t>
                </a:r>
              </a:p>
              <a:p>
                <a:pPr algn="just"/>
                <a:r>
                  <a:rPr lang="en-US" dirty="0"/>
                  <a:t>(d) 96</a:t>
                </a:r>
              </a:p>
              <a:p>
                <a:pPr algn="just"/>
                <a:r>
                  <a:rPr lang="en-US" dirty="0"/>
                  <a:t>Explanation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11+3</m:t>
                                </m:r>
                              </m:num>
                              <m:den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 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44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D397F-D684-3D86-E913-AFA232EA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xmlns="" id="{B3554B8D-2F0D-F322-25D2-44FC6CE72CC2}"/>
              </a:ext>
            </a:extLst>
          </p:cNvPr>
          <p:cNvSpPr/>
          <p:nvPr/>
        </p:nvSpPr>
        <p:spPr>
          <a:xfrm>
            <a:off x="482765" y="2077278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7DF97323-73B4-458F-80CC-B24FC27FF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350" y="1929794"/>
            <a:ext cx="5006579" cy="220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6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</a:t>
            </a:r>
            <a:r>
              <a:rPr lang="en-IN" dirty="0"/>
              <a:t>11 E</a:t>
            </a:r>
            <a:r>
              <a:rPr lang="en-US" dirty="0"/>
              <a:t> 	(b) </a:t>
            </a:r>
            <a:r>
              <a:rPr lang="en-IN" dirty="0"/>
              <a:t>28 G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(c) </a:t>
            </a:r>
            <a:r>
              <a:rPr lang="en-IN" dirty="0"/>
              <a:t>35 I 	</a:t>
            </a:r>
            <a:r>
              <a:rPr lang="en-US" dirty="0"/>
              <a:t>(d) </a:t>
            </a:r>
            <a:r>
              <a:rPr lang="en-IN" dirty="0"/>
              <a:t>48 F</a:t>
            </a:r>
            <a:endParaRPr lang="en-US" dirty="0"/>
          </a:p>
          <a:p>
            <a:pPr algn="just"/>
            <a:r>
              <a:rPr lang="en-US" dirty="0"/>
              <a:t>Explanation </a:t>
            </a:r>
          </a:p>
          <a:p>
            <a:pPr algn="just"/>
            <a:r>
              <a:rPr lang="en-US" dirty="0"/>
              <a:t>Number is the product of the two numbers. </a:t>
            </a:r>
          </a:p>
          <a:p>
            <a:pPr algn="just"/>
            <a:r>
              <a:rPr lang="en-US" dirty="0"/>
              <a:t>1st row-letters are consecutive (</a:t>
            </a:r>
            <a:r>
              <a:rPr lang="en-US" dirty="0">
                <a:solidFill>
                  <a:srgbClr val="FF0000"/>
                </a:solidFill>
              </a:rPr>
              <a:t>CDE</a:t>
            </a:r>
            <a:r>
              <a:rPr lang="en-US" dirty="0"/>
              <a:t>). </a:t>
            </a:r>
          </a:p>
          <a:p>
            <a:pPr algn="just"/>
            <a:r>
              <a:rPr lang="en-US" dirty="0"/>
              <a:t>2nd row, letters are +1 (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J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L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/>
              <a:t>).</a:t>
            </a:r>
          </a:p>
          <a:p>
            <a:pPr algn="just"/>
            <a:r>
              <a:rPr lang="en-US" dirty="0"/>
              <a:t>3rd row, the letters are + 2 forward (</a:t>
            </a: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/>
              <a:t>EF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HI</a:t>
            </a:r>
            <a:r>
              <a:rPr lang="en-US" dirty="0">
                <a:solidFill>
                  <a:srgbClr val="FF0000"/>
                </a:solidFill>
              </a:rPr>
              <a:t>J</a:t>
            </a:r>
            <a:r>
              <a:rPr lang="en-US" dirty="0"/>
              <a:t>). </a:t>
            </a:r>
          </a:p>
          <a:p>
            <a:pPr algn="just"/>
            <a:r>
              <a:rPr lang="en-US" dirty="0"/>
              <a:t>4 × 7 = 28 and 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A70F3B-29C4-96BE-C3EA-2C4CBB66A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313" y="1803538"/>
            <a:ext cx="4616988" cy="208266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2031724" y="1958010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xmlns="" id="{522BC9A0-D7F5-658C-9C56-E8BCFA1C84D4}"/>
              </a:ext>
            </a:extLst>
          </p:cNvPr>
          <p:cNvSpPr/>
          <p:nvPr/>
        </p:nvSpPr>
        <p:spPr>
          <a:xfrm>
            <a:off x="4442790" y="1679713"/>
            <a:ext cx="3170583" cy="3677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xmlns="" id="{B5B5EAF4-2707-21BA-D7C6-1CE6096D0FA6}"/>
              </a:ext>
            </a:extLst>
          </p:cNvPr>
          <p:cNvSpPr/>
          <p:nvPr/>
        </p:nvSpPr>
        <p:spPr>
          <a:xfrm>
            <a:off x="4536515" y="2392638"/>
            <a:ext cx="3170583" cy="3677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xmlns="" id="{DDFA5969-6A5D-5FE7-D4AE-6DB6567892C6}"/>
              </a:ext>
            </a:extLst>
          </p:cNvPr>
          <p:cNvSpPr/>
          <p:nvPr/>
        </p:nvSpPr>
        <p:spPr>
          <a:xfrm flipV="1">
            <a:off x="4533694" y="3528393"/>
            <a:ext cx="3170583" cy="4052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96B8DC28-3F93-B457-5E50-08B9BF373C86}"/>
              </a:ext>
            </a:extLst>
          </p:cNvPr>
          <p:cNvSpPr/>
          <p:nvPr/>
        </p:nvSpPr>
        <p:spPr>
          <a:xfrm>
            <a:off x="5695121" y="2041145"/>
            <a:ext cx="332959" cy="367748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C081565-7A24-640E-C09C-A98B8DCF3EDD}"/>
              </a:ext>
            </a:extLst>
          </p:cNvPr>
          <p:cNvSpPr/>
          <p:nvPr/>
        </p:nvSpPr>
        <p:spPr>
          <a:xfrm>
            <a:off x="5763036" y="2716747"/>
            <a:ext cx="265044" cy="354806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</a:t>
            </a:r>
            <a:r>
              <a:rPr lang="en-IN" dirty="0"/>
              <a:t>86</a:t>
            </a:r>
            <a:r>
              <a:rPr lang="en-US" dirty="0"/>
              <a:t> 	(b) </a:t>
            </a:r>
            <a:r>
              <a:rPr lang="en-IN" dirty="0"/>
              <a:t>98</a:t>
            </a:r>
            <a:endParaRPr lang="en-US" dirty="0"/>
          </a:p>
          <a:p>
            <a:pPr algn="just"/>
            <a:r>
              <a:rPr lang="en-US" dirty="0"/>
              <a:t>(c) </a:t>
            </a:r>
            <a:r>
              <a:rPr lang="en-IN" dirty="0"/>
              <a:t>68	</a:t>
            </a:r>
            <a:r>
              <a:rPr lang="en-US" dirty="0"/>
              <a:t>(d) </a:t>
            </a:r>
            <a:r>
              <a:rPr lang="en-IN" dirty="0"/>
              <a:t>43</a:t>
            </a:r>
            <a:endParaRPr lang="en-US" dirty="0"/>
          </a:p>
          <a:p>
            <a:pPr algn="just"/>
            <a:r>
              <a:rPr lang="en-US" dirty="0"/>
              <a:t>Explanation </a:t>
            </a:r>
          </a:p>
          <a:p>
            <a:pPr algn="just"/>
            <a:r>
              <a:rPr lang="en-IN" dirty="0"/>
              <a:t>(8 × 9) – 3 = 69 </a:t>
            </a:r>
          </a:p>
          <a:p>
            <a:pPr algn="just"/>
            <a:r>
              <a:rPr lang="en-IN" dirty="0"/>
              <a:t>(7 × 5) – 6 = 29 </a:t>
            </a:r>
          </a:p>
          <a:p>
            <a:pPr algn="just"/>
            <a:r>
              <a:rPr lang="en-IN" dirty="0"/>
              <a:t>(4 × 7) – 9 = 19 </a:t>
            </a:r>
          </a:p>
          <a:p>
            <a:pPr algn="just"/>
            <a:r>
              <a:rPr lang="en-IN" dirty="0"/>
              <a:t>(9 × 8) – 4 = 68</a:t>
            </a:r>
            <a:r>
              <a:rPr lang="en-US" dirty="0"/>
              <a:t>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61950" y="2822714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1140CE2-613D-106B-8B89-54C1064B8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198" y="1880773"/>
            <a:ext cx="3942192" cy="354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4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5559DB-467C-225D-90B3-8ECA626F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number should replace the question mark?</a:t>
            </a:r>
          </a:p>
          <a:p>
            <a:pPr algn="just"/>
            <a:r>
              <a:rPr lang="en-US" dirty="0"/>
              <a:t>(a) </a:t>
            </a:r>
            <a:r>
              <a:rPr lang="en-IN" dirty="0"/>
              <a:t>4</a:t>
            </a:r>
            <a:r>
              <a:rPr lang="en-US" dirty="0"/>
              <a:t> 	</a:t>
            </a:r>
          </a:p>
          <a:p>
            <a:pPr algn="just"/>
            <a:r>
              <a:rPr lang="en-US" dirty="0"/>
              <a:t>(b) </a:t>
            </a:r>
            <a:r>
              <a:rPr lang="en-IN" dirty="0"/>
              <a:t>1</a:t>
            </a:r>
            <a:endParaRPr lang="en-US" dirty="0"/>
          </a:p>
          <a:p>
            <a:pPr algn="just"/>
            <a:r>
              <a:rPr lang="en-US" dirty="0"/>
              <a:t>(c) </a:t>
            </a:r>
            <a:r>
              <a:rPr lang="en-IN" dirty="0"/>
              <a:t>-1	</a:t>
            </a:r>
          </a:p>
          <a:p>
            <a:pPr algn="just"/>
            <a:r>
              <a:rPr lang="en-US" dirty="0"/>
              <a:t>(d) </a:t>
            </a:r>
            <a:r>
              <a:rPr lang="en-IN" dirty="0"/>
              <a:t>-2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292376" y="2888974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B69A53F-E877-C06D-74CE-9E5963EA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694" y="1994454"/>
            <a:ext cx="3393139" cy="32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7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5B3CE-97DB-0C63-4C55-7618A711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A5559DB-467C-225D-90B3-8ECA626F0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What number should replace the question mark?</a:t>
                </a:r>
              </a:p>
              <a:p>
                <a:pPr algn="just"/>
                <a:r>
                  <a:rPr lang="en-US" dirty="0"/>
                  <a:t>(a) </a:t>
                </a:r>
                <a:r>
                  <a:rPr lang="en-IN" dirty="0"/>
                  <a:t>80</a:t>
                </a:r>
                <a:r>
                  <a:rPr lang="en-US" dirty="0"/>
                  <a:t>  </a:t>
                </a:r>
              </a:p>
              <a:p>
                <a:pPr algn="just"/>
                <a:r>
                  <a:rPr lang="en-US" dirty="0"/>
                  <a:t>(b) </a:t>
                </a:r>
                <a:r>
                  <a:rPr lang="en-IN" dirty="0"/>
                  <a:t>70	</a:t>
                </a:r>
              </a:p>
              <a:p>
                <a:pPr algn="just"/>
                <a:r>
                  <a:rPr lang="en-US" dirty="0"/>
                  <a:t>(c) </a:t>
                </a:r>
                <a:r>
                  <a:rPr lang="en-IN" dirty="0"/>
                  <a:t>60	</a:t>
                </a:r>
              </a:p>
              <a:p>
                <a:pPr algn="just"/>
                <a:r>
                  <a:rPr lang="en-US" dirty="0"/>
                  <a:t>(d) </a:t>
                </a:r>
                <a:r>
                  <a:rPr lang="en-IN" dirty="0"/>
                  <a:t>50 </a:t>
                </a:r>
              </a:p>
              <a:p>
                <a:pPr algn="just"/>
                <a:r>
                  <a:rPr lang="en-US" dirty="0"/>
                  <a:t>Explanation: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5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4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– 1 = 25 + 16 – 1 = 41 -1 = 40 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9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5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– 6 = 81 +25 – 6 = 106 – 6 = 100 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7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3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– 8 = 49 + 9 – 8 = 58 – 8 = 50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559DB-467C-225D-90B3-8ECA626F0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7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xmlns="" id="{0567034D-3FC8-2FFD-007F-C31591397C48}"/>
              </a:ext>
            </a:extLst>
          </p:cNvPr>
          <p:cNvSpPr/>
          <p:nvPr/>
        </p:nvSpPr>
        <p:spPr>
          <a:xfrm>
            <a:off x="368562" y="3903799"/>
            <a:ext cx="164242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A78B920-65A3-851C-E8EE-EFE5E5A5A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372" y="1891125"/>
            <a:ext cx="5775499" cy="20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4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Insert The Missing Character </a:t>
            </a:r>
          </a:p>
          <a:p>
            <a:pPr lvl="1" algn="just">
              <a:lnSpc>
                <a:spcPct val="160000"/>
              </a:lnSpc>
            </a:pPr>
            <a:r>
              <a:rPr lang="en-US" sz="2600" dirty="0"/>
              <a:t>Figure/Set of Figures/Arrangement/Matrix </a:t>
            </a:r>
          </a:p>
          <a:p>
            <a:pPr lvl="1" algn="just">
              <a:lnSpc>
                <a:spcPct val="160000"/>
              </a:lnSpc>
            </a:pPr>
            <a:r>
              <a:rPr lang="en-US" sz="2600" dirty="0"/>
              <a:t>Certain Characteristics</a:t>
            </a:r>
          </a:p>
          <a:p>
            <a:pPr lvl="1" algn="just">
              <a:lnSpc>
                <a:spcPct val="160000"/>
              </a:lnSpc>
            </a:pPr>
            <a:r>
              <a:rPr lang="en-US" sz="2600" dirty="0"/>
              <a:t>Missing Character</a:t>
            </a:r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Insert The Missing Character </a:t>
            </a:r>
          </a:p>
          <a:p>
            <a:pPr lvl="2" algn="just">
              <a:lnSpc>
                <a:spcPct val="150000"/>
              </a:lnSpc>
            </a:pPr>
            <a:r>
              <a:rPr lang="en-US" sz="2600" dirty="0"/>
              <a:t>Set of Figures</a:t>
            </a:r>
          </a:p>
          <a:p>
            <a:pPr lvl="2" algn="just">
              <a:lnSpc>
                <a:spcPct val="150000"/>
              </a:lnSpc>
            </a:pPr>
            <a:r>
              <a:rPr lang="en-US" sz="2600" dirty="0"/>
              <a:t>Set of Arrangements</a:t>
            </a:r>
          </a:p>
          <a:p>
            <a:pPr lvl="2" algn="just">
              <a:lnSpc>
                <a:spcPct val="150000"/>
              </a:lnSpc>
            </a:pPr>
            <a:r>
              <a:rPr lang="en-US" sz="2600" dirty="0"/>
              <a:t>Set of Matrix</a:t>
            </a:r>
            <a:endParaRPr lang="en-IN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10377</TotalTime>
  <Words>306</Words>
  <Application>Microsoft Office PowerPoint</Application>
  <PresentationFormat>On-screen Show (4:3)</PresentationFormat>
  <Paragraphs>133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Insert The Missing Character </vt:lpstr>
      <vt:lpstr>Insert The Missing Character 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714</cp:revision>
  <dcterms:created xsi:type="dcterms:W3CDTF">2020-12-18T18:59:12Z</dcterms:created>
  <dcterms:modified xsi:type="dcterms:W3CDTF">2022-11-05T07:54:55Z</dcterms:modified>
</cp:coreProperties>
</file>