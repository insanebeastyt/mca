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78" r:id="rId2"/>
    <p:sldId id="279" r:id="rId3"/>
    <p:sldId id="418" r:id="rId4"/>
    <p:sldId id="476" r:id="rId5"/>
    <p:sldId id="477" r:id="rId6"/>
    <p:sldId id="478" r:id="rId7"/>
    <p:sldId id="479" r:id="rId8"/>
    <p:sldId id="483" r:id="rId9"/>
    <p:sldId id="484" r:id="rId10"/>
    <p:sldId id="485" r:id="rId11"/>
    <p:sldId id="490" r:id="rId12"/>
    <p:sldId id="492" r:id="rId13"/>
    <p:sldId id="494" r:id="rId14"/>
    <p:sldId id="495" r:id="rId15"/>
    <p:sldId id="501" r:id="rId16"/>
    <p:sldId id="502" r:id="rId17"/>
    <p:sldId id="503" r:id="rId18"/>
    <p:sldId id="447" r:id="rId19"/>
    <p:sldId id="497" r:id="rId20"/>
    <p:sldId id="504" r:id="rId21"/>
    <p:sldId id="343" r:id="rId22"/>
    <p:sldId id="34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32C"/>
    <a:srgbClr val="A8004B"/>
    <a:srgbClr val="262626"/>
    <a:srgbClr val="ABABAB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4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solve problems based on principal computation.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A man earns Rs. 450 as interest in 3 years on a certain money invested in a company at the rate of 5% p.a. Calculate the principal invested by the man in the company.</a:t>
                </a:r>
              </a:p>
              <a:p>
                <a:pPr algn="just"/>
                <a:r>
                  <a:rPr lang="en-US" dirty="0"/>
                  <a:t>S.I. = Rs. 450, R = 5% p.a., T = 3 years, and P = ?</a:t>
                </a:r>
              </a:p>
              <a:p>
                <a:pPr algn="just"/>
                <a:r>
                  <a:rPr lang="en-US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450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5 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3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P = Rs. 3000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A18198-21F0-43E6-8FD6-A609DA3D1F4A}"/>
              </a:ext>
            </a:extLst>
          </p:cNvPr>
          <p:cNvCxnSpPr>
            <a:cxnSpLocks/>
          </p:cNvCxnSpPr>
          <p:nvPr/>
        </p:nvCxnSpPr>
        <p:spPr>
          <a:xfrm flipV="1">
            <a:off x="1891752" y="5486400"/>
            <a:ext cx="265041" cy="762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09EECD-632B-4497-AA92-611F6C52668B}"/>
              </a:ext>
            </a:extLst>
          </p:cNvPr>
          <p:cNvCxnSpPr>
            <a:cxnSpLocks/>
          </p:cNvCxnSpPr>
          <p:nvPr/>
        </p:nvCxnSpPr>
        <p:spPr>
          <a:xfrm flipV="1">
            <a:off x="1116500" y="5188226"/>
            <a:ext cx="586405" cy="728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650885-0997-400B-9D40-A58E12BEBC51}"/>
              </a:ext>
            </a:extLst>
          </p:cNvPr>
          <p:cNvSpPr txBox="1"/>
          <p:nvPr/>
        </p:nvSpPr>
        <p:spPr>
          <a:xfrm>
            <a:off x="1311964" y="4691270"/>
            <a:ext cx="78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150</a:t>
            </a: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57E570-F744-4232-9C4B-5EE3F88D938A}"/>
              </a:ext>
            </a:extLst>
          </p:cNvPr>
          <p:cNvCxnSpPr>
            <a:cxnSpLocks/>
          </p:cNvCxnSpPr>
          <p:nvPr/>
        </p:nvCxnSpPr>
        <p:spPr>
          <a:xfrm flipV="1">
            <a:off x="1398108" y="5479773"/>
            <a:ext cx="265041" cy="762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8B2EF3-7859-4B22-A438-B4138C75A21D}"/>
              </a:ext>
            </a:extLst>
          </p:cNvPr>
          <p:cNvCxnSpPr>
            <a:cxnSpLocks/>
          </p:cNvCxnSpPr>
          <p:nvPr/>
        </p:nvCxnSpPr>
        <p:spPr>
          <a:xfrm flipV="1">
            <a:off x="1255646" y="4873488"/>
            <a:ext cx="616223" cy="66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F97B19-E9C8-4966-A86F-C52663E9E76B}"/>
              </a:ext>
            </a:extLst>
          </p:cNvPr>
          <p:cNvSpPr txBox="1"/>
          <p:nvPr/>
        </p:nvSpPr>
        <p:spPr>
          <a:xfrm>
            <a:off x="745435" y="4615070"/>
            <a:ext cx="51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908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What principal will amount to Rs. 2500 at 2% p.a. in 12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years.</a:t>
                </a:r>
              </a:p>
              <a:p>
                <a:pPr algn="just"/>
                <a:r>
                  <a:rPr lang="en-US" dirty="0"/>
                  <a:t>A = Rs. 2500, R = 2% p.a., T = 12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 smtClean="0"/>
                          <m:t>2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years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 smtClean="0"/>
                          <m:t>2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years, and P = ?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P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100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+ 2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25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9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57E570-F744-4232-9C4B-5EE3F88D938A}"/>
              </a:ext>
            </a:extLst>
          </p:cNvPr>
          <p:cNvCxnSpPr>
            <a:cxnSpLocks/>
          </p:cNvCxnSpPr>
          <p:nvPr/>
        </p:nvCxnSpPr>
        <p:spPr>
          <a:xfrm flipV="1">
            <a:off x="2395331" y="6172482"/>
            <a:ext cx="273949" cy="15874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8B2EF3-7859-4B22-A438-B4138C75A21D}"/>
              </a:ext>
            </a:extLst>
          </p:cNvPr>
          <p:cNvCxnSpPr>
            <a:cxnSpLocks/>
          </p:cNvCxnSpPr>
          <p:nvPr/>
        </p:nvCxnSpPr>
        <p:spPr>
          <a:xfrm flipV="1">
            <a:off x="1818861" y="5998189"/>
            <a:ext cx="413306" cy="17429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8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 fontAlgn="base"/>
                <a:r>
                  <a:rPr lang="en-US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+ 25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250000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25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 fontAlgn="base"/>
                <a:r>
                  <a:rPr lang="en-US" dirty="0"/>
                  <a:t>P = Rs. 2000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A18198-21F0-43E6-8FD6-A609DA3D1F4A}"/>
              </a:ext>
            </a:extLst>
          </p:cNvPr>
          <p:cNvCxnSpPr>
            <a:cxnSpLocks/>
          </p:cNvCxnSpPr>
          <p:nvPr/>
        </p:nvCxnSpPr>
        <p:spPr>
          <a:xfrm flipV="1">
            <a:off x="1350378" y="3184566"/>
            <a:ext cx="808382" cy="16749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09EECD-632B-4497-AA92-611F6C52668B}"/>
              </a:ext>
            </a:extLst>
          </p:cNvPr>
          <p:cNvCxnSpPr>
            <a:cxnSpLocks/>
          </p:cNvCxnSpPr>
          <p:nvPr/>
        </p:nvCxnSpPr>
        <p:spPr>
          <a:xfrm flipV="1">
            <a:off x="1163502" y="2792896"/>
            <a:ext cx="1281524" cy="1258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650885-0997-400B-9D40-A58E12BEBC51}"/>
              </a:ext>
            </a:extLst>
          </p:cNvPr>
          <p:cNvSpPr txBox="1"/>
          <p:nvPr/>
        </p:nvSpPr>
        <p:spPr>
          <a:xfrm>
            <a:off x="2582726" y="2486510"/>
            <a:ext cx="78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5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/>
                  <a:t>Calculate the annual instalment that will discharge a debt of Rs.6500 due in 5 years at 3% p.a. simple interest.</a:t>
                </a:r>
                <a:endParaRPr lang="en-IN" dirty="0"/>
              </a:p>
              <a:p>
                <a:pPr algn="just"/>
                <a:r>
                  <a:rPr lang="en-US" dirty="0"/>
                  <a:t>A = Rs. 6500, R = 3% p.a., T = 5 years, and Annual instalment = ?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P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100 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R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(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−1)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P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6500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5 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3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5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(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5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−1)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2</m:t>
                            </m:r>
                          </m:den>
                        </m:f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 fontAlgn="base"/>
                <a:r>
                  <a:rPr lang="en-US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6500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+ 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5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 (4)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 r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57E570-F744-4232-9C4B-5EE3F88D938A}"/>
              </a:ext>
            </a:extLst>
          </p:cNvPr>
          <p:cNvCxnSpPr>
            <a:cxnSpLocks/>
          </p:cNvCxnSpPr>
          <p:nvPr/>
        </p:nvCxnSpPr>
        <p:spPr>
          <a:xfrm flipV="1">
            <a:off x="2164715" y="6337961"/>
            <a:ext cx="273949" cy="15874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8B2EF3-7859-4B22-A438-B4138C75A21D}"/>
              </a:ext>
            </a:extLst>
          </p:cNvPr>
          <p:cNvCxnSpPr>
            <a:cxnSpLocks/>
          </p:cNvCxnSpPr>
          <p:nvPr/>
        </p:nvCxnSpPr>
        <p:spPr>
          <a:xfrm flipV="1">
            <a:off x="2311472" y="6039843"/>
            <a:ext cx="413306" cy="17429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607BDBA-1975-4B05-ABA8-5D36F30FCE45}"/>
              </a:ext>
            </a:extLst>
          </p:cNvPr>
          <p:cNvSpPr txBox="1"/>
          <p:nvPr/>
        </p:nvSpPr>
        <p:spPr>
          <a:xfrm>
            <a:off x="2724778" y="5942323"/>
            <a:ext cx="41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224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 fontAlgn="base"/>
                <a:r>
                  <a:rPr lang="en-US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6500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+ 30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6</m:t>
                        </m:r>
                        <m:r>
                          <m:rPr>
                            <m:nor/>
                          </m:rPr>
                          <a:rPr lang="en-US" dirty="0"/>
                          <m:t>50000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  <m:r>
                          <m:rPr>
                            <m:nor/>
                          </m:rPr>
                          <a:rPr lang="en-US" dirty="0"/>
                          <m:t>0 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 fontAlgn="base"/>
                <a:r>
                  <a:rPr lang="en-US" dirty="0"/>
                  <a:t>P = Rs. 5000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57E570-F744-4232-9C4B-5EE3F88D938A}"/>
              </a:ext>
            </a:extLst>
          </p:cNvPr>
          <p:cNvCxnSpPr>
            <a:cxnSpLocks/>
          </p:cNvCxnSpPr>
          <p:nvPr/>
        </p:nvCxnSpPr>
        <p:spPr>
          <a:xfrm flipV="1">
            <a:off x="1391869" y="3190461"/>
            <a:ext cx="700655" cy="11955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8B2EF3-7859-4B22-A438-B4138C75A21D}"/>
              </a:ext>
            </a:extLst>
          </p:cNvPr>
          <p:cNvCxnSpPr>
            <a:cxnSpLocks/>
          </p:cNvCxnSpPr>
          <p:nvPr/>
        </p:nvCxnSpPr>
        <p:spPr>
          <a:xfrm flipV="1">
            <a:off x="1069185" y="2763078"/>
            <a:ext cx="1346025" cy="18684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6957E3-3A47-4F6B-BA83-9643449A6D02}"/>
              </a:ext>
            </a:extLst>
          </p:cNvPr>
          <p:cNvSpPr txBox="1"/>
          <p:nvPr/>
        </p:nvSpPr>
        <p:spPr>
          <a:xfrm>
            <a:off x="2565752" y="2580592"/>
            <a:ext cx="84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65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Calculate principal if it amounts to Rs. 5000 in 2 years and to Rs. 6000 in 3 years at simple interest.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=</m:t>
                        </m:r>
                        <m:r>
                          <m:rPr>
                            <m:nor/>
                          </m:rPr>
                          <a:rPr lang="en-US" sz="2400" dirty="0"/>
                          <m:t>Rs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000,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</m:t>
                        </m:r>
                        <m:r>
                          <m:rPr>
                            <m:nor/>
                          </m:rPr>
                          <a:rPr lang="en-US" sz="2400" dirty="0"/>
                          <m:t>Rs</m:t>
                        </m:r>
                        <m:r>
                          <m:rPr>
                            <m:nor/>
                          </m:rPr>
                          <a:rPr lang="en-US" sz="2400" dirty="0"/>
                          <m:t>.6000,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2 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years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, </m:t>
                        </m:r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  <m:r>
                      <m:rPr>
                        <m:nor/>
                      </m:rPr>
                      <a:rPr lang="en-US" sz="2400" b="0" i="0" dirty="0" smtClean="0"/>
                      <m:t>3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years</m:t>
                    </m:r>
                    <m:r>
                      <m:rPr>
                        <m:nor/>
                      </m:rPr>
                      <a:rPr lang="en-US" sz="2400" dirty="0"/>
                      <m:t>, </m:t>
                    </m:r>
                    <m:r>
                      <m:rPr>
                        <m:nor/>
                      </m:rPr>
                      <a:rPr lang="en-US" sz="2400" dirty="0"/>
                      <m:t>and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P</m:t>
                    </m:r>
                    <m:r>
                      <m:rPr>
                        <m:nor/>
                      </m:rPr>
                      <a:rPr lang="en-US" sz="2400" b="0" i="0" dirty="0" smtClean="0"/>
                      <m:t> = ?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P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/>
                  <a:t>	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5000 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3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6</m:t>
                        </m:r>
                        <m:r>
                          <m:rPr>
                            <m:nor/>
                          </m:rPr>
                          <a:rPr lang="en-US" sz="2400" dirty="0"/>
                          <m:t>000 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2]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2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r>
                  <a:rPr lang="en-IN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7787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P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15</m:t>
                        </m:r>
                        <m:r>
                          <m:rPr>
                            <m:nor/>
                          </m:rPr>
                          <a:rPr lang="en-US" sz="2400" dirty="0"/>
                          <m:t>000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12</m:t>
                        </m:r>
                        <m:r>
                          <m:rPr>
                            <m:nor/>
                          </m:rPr>
                          <a:rPr lang="en-US" sz="2400" dirty="0"/>
                          <m:t>000]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[3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2]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 fontAlgn="base">
                  <a:buNone/>
                </a:pPr>
                <a:r>
                  <a:rPr lang="en-US" sz="2400" dirty="0"/>
                  <a:t>	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30</m:t>
                        </m:r>
                        <m:r>
                          <m:rPr>
                            <m:nor/>
                          </m:rPr>
                          <a:rPr lang="en-US" sz="2400" dirty="0"/>
                          <m:t>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 algn="just" fontAlgn="base">
                  <a:buNone/>
                </a:pPr>
                <a:r>
                  <a:rPr lang="en-US" sz="2400" dirty="0"/>
                  <a:t>	= Rs. 3000</a:t>
                </a:r>
              </a:p>
              <a:p>
                <a:pPr marL="0" indent="0" algn="just" fontAlgn="base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447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Calculate the sum if it amounts to Rs. 500 at 8% p.a. and amounts to Rs. 400 at 4% p.a.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=</m:t>
                        </m:r>
                        <m:r>
                          <m:rPr>
                            <m:nor/>
                          </m:rPr>
                          <a:rPr lang="en-US" sz="2400" dirty="0"/>
                          <m:t>Rs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500,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</m:t>
                        </m:r>
                        <m:r>
                          <m:rPr>
                            <m:nor/>
                          </m:rPr>
                          <a:rPr lang="en-US" sz="2400" dirty="0"/>
                          <m:t>Rs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400,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R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8% </m:t>
                        </m:r>
                        <m:r>
                          <m:rPr>
                            <m:nor/>
                          </m:rPr>
                          <a:rPr lang="en-US" sz="2400" dirty="0"/>
                          <m:t>p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.,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4% </m:t>
                    </m:r>
                    <m:r>
                      <m:rPr>
                        <m:nor/>
                      </m:rPr>
                      <a:rPr lang="en-US" sz="2400" b="0" i="0" dirty="0" smtClean="0"/>
                      <m:t>p</m:t>
                    </m:r>
                    <m:r>
                      <m:rPr>
                        <m:nor/>
                      </m:rPr>
                      <a:rPr lang="en-US" sz="2400" b="0" i="0" dirty="0" smtClean="0"/>
                      <m:t>.</m:t>
                    </m:r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m:rPr>
                        <m:nor/>
                      </m:rPr>
                      <a:rPr lang="en-US" sz="2400" b="0" i="0" dirty="0" smtClean="0"/>
                      <m:t>.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and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</m:oMath>
                </a14:m>
                <a:r>
                  <a:rPr lang="en-US" sz="2400" dirty="0"/>
                  <a:t>=</a:t>
                </a:r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?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P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 smtClean="0"/>
                                  <m:t>A</m:t>
                                </m:r>
                              </m:e>
                              <m:sub>
                                <m:r>
                                  <a:rPr lang="en-IN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R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R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R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IN" sz="24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R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/>
                  <a:t>	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400 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8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5</m:t>
                        </m:r>
                        <m:r>
                          <m:rPr>
                            <m:nor/>
                          </m:rPr>
                          <a:rPr lang="en-US" sz="2400" dirty="0"/>
                          <m:t>00 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4]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8 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4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32</m:t>
                        </m:r>
                        <m:r>
                          <m:rPr>
                            <m:nor/>
                          </m:rPr>
                          <a:rPr lang="en-US" sz="2400" dirty="0"/>
                          <m:t>00 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20</m:t>
                        </m:r>
                        <m:r>
                          <m:rPr>
                            <m:nor/>
                          </m:rPr>
                          <a:rPr lang="en-US" sz="2400" dirty="0"/>
                          <m:t>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0522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P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32</m:t>
                        </m:r>
                        <m:r>
                          <m:rPr>
                            <m:nor/>
                          </m:rPr>
                          <a:rPr lang="en-US" sz="2400" dirty="0"/>
                          <m:t>00 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20</m:t>
                        </m:r>
                        <m:r>
                          <m:rPr>
                            <m:nor/>
                          </m:rPr>
                          <a:rPr lang="en-US" sz="2400" dirty="0"/>
                          <m:t>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r>
                  <a:rPr lang="en-IN" sz="2400" dirty="0"/>
                  <a:t>  </a:t>
                </a:r>
              </a:p>
              <a:p>
                <a:pPr marL="0" indent="0" algn="just">
                  <a:buNone/>
                </a:pPr>
                <a:r>
                  <a:rPr lang="en-IN" sz="2400" dirty="0"/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2400" dirty="0"/>
                          <m:t>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r>
                  <a:rPr lang="en-IN" sz="2400" dirty="0"/>
                  <a:t> </a:t>
                </a:r>
              </a:p>
              <a:p>
                <a:pPr marL="0" indent="0" algn="just">
                  <a:buNone/>
                </a:pPr>
                <a:r>
                  <a:rPr lang="en-IN" sz="2400" dirty="0"/>
                  <a:t>	= Rs. 300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215903-EE57-4D48-8BFC-C10C2A6B374D}"/>
              </a:ext>
            </a:extLst>
          </p:cNvPr>
          <p:cNvCxnSpPr>
            <a:cxnSpLocks/>
          </p:cNvCxnSpPr>
          <p:nvPr/>
        </p:nvCxnSpPr>
        <p:spPr>
          <a:xfrm flipV="1">
            <a:off x="1495442" y="3225588"/>
            <a:ext cx="958437" cy="1846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9F2025-246E-4ACB-B7F0-FF21658CD5E7}"/>
              </a:ext>
            </a:extLst>
          </p:cNvPr>
          <p:cNvCxnSpPr>
            <a:cxnSpLocks/>
          </p:cNvCxnSpPr>
          <p:nvPr/>
        </p:nvCxnSpPr>
        <p:spPr>
          <a:xfrm flipV="1">
            <a:off x="1563930" y="2897657"/>
            <a:ext cx="821462" cy="1474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549FD51-26A7-4CD8-BCE5-2BF6ACF3D2B4}"/>
              </a:ext>
            </a:extLst>
          </p:cNvPr>
          <p:cNvSpPr txBox="1"/>
          <p:nvPr/>
        </p:nvSpPr>
        <p:spPr>
          <a:xfrm>
            <a:off x="2453879" y="2675732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300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376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What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will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be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the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original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sum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of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moneny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if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annual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income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is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Rs</m:t>
                    </m:r>
                    <m:r>
                      <m:rPr>
                        <m:nor/>
                      </m:rPr>
                      <a:rPr lang="en-US" sz="2400" dirty="0" smtClean="0"/>
                      <m:t>. 2400,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of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it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is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invested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at</m:t>
                    </m:r>
                    <m:r>
                      <m:rPr>
                        <m:nor/>
                      </m:rPr>
                      <a:rPr lang="en-US" sz="2400" dirty="0"/>
                      <m:t> 1%,</m:t>
                    </m:r>
                    <m:r>
                      <m:rPr>
                        <m:nor/>
                      </m:rPr>
                      <a:rPr lang="en-IN" sz="2400" b="0" i="0" dirty="0" smtClean="0"/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at</m:t>
                    </m:r>
                    <m:r>
                      <m:rPr>
                        <m:nor/>
                      </m:rPr>
                      <a:rPr lang="en-US" sz="2400" dirty="0"/>
                      <m:t> 3% </m:t>
                    </m:r>
                    <m:r>
                      <m:rPr>
                        <m:nor/>
                      </m:rPr>
                      <a:rPr lang="en-US" sz="2400" dirty="0"/>
                      <m:t>and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the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rest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at</m:t>
                    </m:r>
                    <m:r>
                      <m:rPr>
                        <m:nor/>
                      </m:rPr>
                      <a:rPr lang="en-US" sz="2400" dirty="0"/>
                      <m:t> 5%. </m:t>
                    </m:r>
                  </m:oMath>
                </a14:m>
                <a:endParaRPr lang="en-US" sz="240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= 2400,</m:t>
                        </m:r>
                        <m:sSub>
                          <m:sSub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 1% </m:t>
                        </m:r>
                        <m:r>
                          <m:rPr>
                            <m:nor/>
                          </m:rPr>
                          <a:rPr lang="en-US" sz="2400" dirty="0"/>
                          <m:t>p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.,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3%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., </m:t>
                    </m:r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5%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and</m:t>
                    </m:r>
                  </m:oMath>
                </a14:m>
                <a:r>
                  <a:rPr lang="en-US" sz="2400" dirty="0"/>
                  <a:t> P = ?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b="0" i="0" dirty="0" smtClean="0"/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2</m:t>
                        </m:r>
                      </m:den>
                    </m:f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b</m:t>
                        </m:r>
                      </m:den>
                    </m:f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b="0" i="0" dirty="0" smtClean="0"/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4</m:t>
                        </m:r>
                      </m:den>
                    </m:f>
                  </m:oMath>
                </a14:m>
                <a:r>
                  <a:rPr lang="en-IN" sz="2400" i="1" dirty="0">
                    <a:latin typeface="Cambria Math" panose="02040503050406030204" pitchFamily="18" charset="0"/>
                  </a:rPr>
                  <a:t> </a:t>
                </a:r>
                <a:endParaRPr lang="en-IN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c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= 1 −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a</m:t>
                        </m:r>
                      </m:den>
                    </m:f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/>
                          <m:t>b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= 1 −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c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= 1 −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 + 1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just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882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c</m:t>
                        </m:r>
                      </m:den>
                    </m:f>
                    <m:r>
                      <m:rPr>
                        <m:nor/>
                      </m:rPr>
                      <a:rPr lang="en-US" sz="2400" b="0" i="0" dirty="0" smtClean="0"/>
                      <m:t>= 1 </m:t>
                    </m:r>
                    <m:r>
                      <m:rPr>
                        <m:nor/>
                      </m:rPr>
                      <a:rPr lang="en-US" sz="2400" dirty="0" smtClean="0"/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4 − 3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c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 =</m:t>
                        </m:r>
                        <m:r>
                          <m:rPr>
                            <m:nor/>
                          </m:rPr>
                          <a:rPr lang="en-US" sz="2400" dirty="0"/>
                          <m:t>Rs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2400,</m:t>
                        </m:r>
                        <m:sSub>
                          <m:sSubPr>
                            <m:ctrlPr>
                              <a:rPr lang="en-I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 1% </m:t>
                        </m:r>
                        <m:r>
                          <m:rPr>
                            <m:nor/>
                          </m:rPr>
                          <a:rPr lang="en-US" sz="2400" dirty="0"/>
                          <m:t>p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.,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3%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., </m:t>
                    </m:r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5%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and</m:t>
                    </m:r>
                  </m:oMath>
                </a14:m>
                <a:r>
                  <a:rPr lang="en-US" sz="2400" dirty="0"/>
                  <a:t> P = ?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 = 2, </m:t>
                    </m:r>
                    <m:r>
                      <m:rPr>
                        <m:nor/>
                      </m:rPr>
                      <a:rPr lang="en-US" sz="2400" dirty="0"/>
                      <m:t>b</m:t>
                    </m:r>
                    <m:r>
                      <m:rPr>
                        <m:nor/>
                      </m:rPr>
                      <a:rPr lang="en-US" sz="2400" dirty="0"/>
                      <m:t> = 4 , </m:t>
                    </m:r>
                    <m:r>
                      <m:rPr>
                        <m:nor/>
                      </m:rPr>
                      <a:rPr lang="en-US" sz="2400" b="0" i="0" dirty="0" smtClean="0"/>
                      <m:t>c</m:t>
                    </m:r>
                    <m:r>
                      <m:rPr>
                        <m:nor/>
                      </m:rPr>
                      <a:rPr lang="en-US" sz="2400" b="0" i="0" dirty="0" smtClean="0"/>
                      <m:t> = 4</m:t>
                    </m:r>
                  </m:oMath>
                </a14:m>
                <a:endParaRPr lang="en-US" sz="2400" b="0" i="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Original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Sum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of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Money</m:t>
                    </m:r>
                  </m:oMath>
                </a14:m>
                <a:r>
                  <a:rPr lang="en-US" sz="2400" dirty="0"/>
                  <a:t> (P)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100</m:t>
                        </m:r>
                      </m:num>
                      <m:den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R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+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R</m:t>
                                </m:r>
                              </m:e>
                              <m:sub>
                                <m:r>
                                  <a:rPr lang="en-US" sz="2400" b="0" i="0" dirty="0" smtClean="0"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b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R</m:t>
                                </m:r>
                              </m:e>
                              <m:sub>
                                <m:r>
                                  <a:rPr lang="en-US" sz="2400" b="0" i="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c</m:t>
                            </m:r>
                          </m:den>
                        </m:f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2400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100</m:t>
                        </m:r>
                      </m:num>
                      <m:den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3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4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5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4</m:t>
                            </m:r>
                          </m:den>
                        </m:f>
                      </m:den>
                    </m:f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961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Original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Sum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of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Money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2400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100</m:t>
                        </m:r>
                      </m:num>
                      <m:den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3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4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5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4</m:t>
                            </m:r>
                          </m:den>
                        </m:f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240000</m:t>
                        </m:r>
                      </m:num>
                      <m:den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2 + 3 + 5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4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240000</m:t>
                        </m:r>
                      </m:num>
                      <m:den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10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4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240000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	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	= </a:t>
                </a:r>
                <a:r>
                  <a:rPr lang="en-IN" sz="2400" dirty="0"/>
                  <a:t>Rs.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96000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1587C4-8351-4B34-946B-55153064F08A}"/>
              </a:ext>
            </a:extLst>
          </p:cNvPr>
          <p:cNvCxnSpPr>
            <a:cxnSpLocks/>
          </p:cNvCxnSpPr>
          <p:nvPr/>
        </p:nvCxnSpPr>
        <p:spPr>
          <a:xfrm flipV="1">
            <a:off x="4337660" y="4511884"/>
            <a:ext cx="958437" cy="1846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1A1BAD-BAED-48E1-BE84-81A8FBC7087D}"/>
              </a:ext>
            </a:extLst>
          </p:cNvPr>
          <p:cNvCxnSpPr>
            <a:cxnSpLocks/>
          </p:cNvCxnSpPr>
          <p:nvPr/>
        </p:nvCxnSpPr>
        <p:spPr>
          <a:xfrm flipV="1">
            <a:off x="4572000" y="4890038"/>
            <a:ext cx="821462" cy="1474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A62B85E-AE08-496E-A768-58E589D2C95B}"/>
              </a:ext>
            </a:extLst>
          </p:cNvPr>
          <p:cNvSpPr txBox="1"/>
          <p:nvPr/>
        </p:nvSpPr>
        <p:spPr>
          <a:xfrm>
            <a:off x="3488635" y="4234885"/>
            <a:ext cx="84902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24000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7C8C2-F443-472F-817B-05ADD9F2F116}"/>
              </a:ext>
            </a:extLst>
          </p:cNvPr>
          <p:cNvSpPr txBox="1"/>
          <p:nvPr/>
        </p:nvSpPr>
        <p:spPr>
          <a:xfrm>
            <a:off x="5090635" y="5111455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455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Calculate the sum if the simple interest on a certain sum of money for 6 years at 10% p.a. is Rs. 30 less than the simple interest on the same sum for 5 years at 8% p.a.</a:t>
                </a:r>
              </a:p>
              <a:p>
                <a:pPr algn="just"/>
                <a:r>
                  <a:rPr lang="en-US" sz="2400" dirty="0"/>
                  <a:t>Difference in S.I. = Rs. 30,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10% p.a.,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6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years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marL="0" indent="0" algn="just">
                  <a:buNone/>
                </a:pPr>
                <a:r>
                  <a:rPr lang="en-IN" sz="2400" dirty="0">
                    <a:solidFill>
                      <a:srgbClr val="836967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b="0" i="0" dirty="0" smtClean="0"/>
                          <m:t>T</m:t>
                        </m:r>
                      </m:e>
                      <m:sub>
                        <m: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5 years,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  <m:r>
                      <m:rPr>
                        <m:nor/>
                      </m:rPr>
                      <a:rPr lang="en-IN" sz="2400" dirty="0"/>
                      <m:t> 8% </m:t>
                    </m:r>
                    <m:r>
                      <m:rPr>
                        <m:nor/>
                      </m:rPr>
                      <a:rPr lang="en-IN" sz="2400" dirty="0"/>
                      <m:t>p</m:t>
                    </m:r>
                    <m:r>
                      <m:rPr>
                        <m:nor/>
                      </m:rPr>
                      <a:rPr lang="en-IN" sz="2400" dirty="0"/>
                      <m:t>.</m:t>
                    </m:r>
                    <m:r>
                      <m:rPr>
                        <m:nor/>
                      </m:rPr>
                      <a:rPr lang="en-IN" sz="2400" dirty="0"/>
                      <m:t>a</m:t>
                    </m:r>
                    <m:r>
                      <m:rPr>
                        <m:nor/>
                      </m:rPr>
                      <a:rPr lang="en-IN" sz="2400" dirty="0"/>
                      <m:t>.</m:t>
                    </m:r>
                  </m:oMath>
                </a14:m>
                <a:r>
                  <a:rPr lang="en-IN" sz="2400" dirty="0"/>
                  <a:t>,  </a:t>
                </a:r>
                <a:r>
                  <a:rPr lang="en-US" sz="2400" dirty="0"/>
                  <a:t>and P = ?</a:t>
                </a:r>
              </a:p>
              <a:p>
                <a:pPr algn="just"/>
                <a:r>
                  <a:rPr lang="en-US" sz="2400" dirty="0"/>
                  <a:t>S. 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P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 fontAlgn="base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78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Difference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  <m:r>
                      <m:rPr>
                        <m:nor/>
                      </m:rPr>
                      <a:rPr lang="en-US" dirty="0"/>
                      <m:t>.</m:t>
                    </m:r>
                    <m:r>
                      <m:rPr>
                        <m:nor/>
                      </m:rPr>
                      <a:rPr lang="en-US" dirty="0"/>
                      <m:t>I</m:t>
                    </m:r>
                    <m:r>
                      <m:rPr>
                        <m:nor/>
                      </m:rPr>
                      <a:rPr lang="en-US" dirty="0"/>
                      <m:t>.</m:t>
                    </m:r>
                  </m:oMath>
                </a14:m>
                <a:r>
                  <a:rPr lang="en-US" dirty="0"/>
                  <a:t>	= 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[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R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IN" dirty="0"/>
                      <m:t>−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R</m:t>
                            </m:r>
                          </m:e>
                          <m:sub>
                            <m: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T</m:t>
                            </m:r>
                          </m:e>
                          <m:sub>
                            <m: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  <m:r>
                      <m:rPr>
                        <m:nor/>
                      </m:rPr>
                      <a:rPr lang="en-US" dirty="0"/>
                      <m:t>]</m:t>
                    </m:r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Difference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  <m:r>
                      <m:rPr>
                        <m:nor/>
                      </m:rPr>
                      <a:rPr lang="en-US" dirty="0"/>
                      <m:t>.</m:t>
                    </m:r>
                    <m:r>
                      <m:rPr>
                        <m:nor/>
                      </m:rPr>
                      <a:rPr lang="en-US" dirty="0"/>
                      <m:t>I</m:t>
                    </m:r>
                    <m:r>
                      <m:rPr>
                        <m:nor/>
                      </m:rPr>
                      <a:rPr lang="en-US" dirty="0"/>
                      <m:t>.</m:t>
                    </m:r>
                  </m:oMath>
                </a14:m>
                <a:r>
                  <a:rPr lang="en-US" dirty="0"/>
                  <a:t>	=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P</m:t>
                    </m:r>
                    <m:r>
                      <m:rPr>
                        <m:nor/>
                      </m:rPr>
                      <a:rPr lang="en-US" dirty="0"/>
                      <m:t>[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R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IN" dirty="0"/>
                      <m:t>−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R</m:t>
                            </m:r>
                          </m:e>
                          <m:sub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dirty="0"/>
                              <m:t>T</m:t>
                            </m:r>
                          </m:e>
                          <m:sub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  <m:r>
                      <m:rPr>
                        <m:nor/>
                      </m:rPr>
                      <a:rPr lang="en-US" dirty="0"/>
                      <m:t>]</m:t>
                    </m:r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P</m:t>
                    </m:r>
                  </m:oMath>
                </a14:m>
                <a:r>
                  <a:rPr lang="en-US" dirty="0"/>
                  <a:t> 	=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in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[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dirty="0"/>
                              <m:t> </m:t>
                            </m:r>
                            <m:sSub>
                              <m:sSub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  <m:sSub>
                              <m:sSub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−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e>
                              <m:sub>
                                <m:r>
                                  <a:rPr lang="en-IN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  <m:sSub>
                              <m:sSub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dirty="0"/>
                                  <m:t>T</m:t>
                                </m:r>
                              </m:e>
                              <m:sub>
                                <m:r>
                                  <a:rPr lang="en-IN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]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den>
                    </m:f>
                    <m:r>
                      <m:rPr>
                        <m:nor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776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Difference in S.I. = Rs. 30,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10% p.a.,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  <m:r>
                      <m:rPr>
                        <m:nor/>
                      </m:rPr>
                      <a:rPr lang="en-IN" sz="2400" b="0" i="0" dirty="0" smtClean="0"/>
                      <m:t> 8% </m:t>
                    </m:r>
                    <m:r>
                      <m:rPr>
                        <m:nor/>
                      </m:rPr>
                      <a:rPr lang="en-IN" sz="2400" b="0" i="0" dirty="0" smtClean="0"/>
                      <m:t>p</m:t>
                    </m:r>
                    <m:r>
                      <m:rPr>
                        <m:nor/>
                      </m:rPr>
                      <a:rPr lang="en-IN" sz="2400" b="0" i="0" dirty="0" smtClean="0"/>
                      <m:t>.</m:t>
                    </m:r>
                    <m:r>
                      <m:rPr>
                        <m:nor/>
                      </m:rPr>
                      <a:rPr lang="en-IN" sz="2400" b="0" i="0" dirty="0" smtClean="0"/>
                      <m:t>a</m:t>
                    </m:r>
                    <m:r>
                      <m:rPr>
                        <m:nor/>
                      </m:rPr>
                      <a:rPr lang="en-IN" sz="2400" b="0" i="0" dirty="0" smtClean="0"/>
                      <m:t>.</m:t>
                    </m:r>
                  </m:oMath>
                </a14:m>
                <a:r>
                  <a:rPr lang="en-IN" sz="2400" b="0" i="0" dirty="0"/>
                  <a:t>,</a:t>
                </a:r>
                <a:endParaRPr lang="en-IN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6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years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b="0" i="0" dirty="0" smtClean="0"/>
                          <m:t>T</m:t>
                        </m:r>
                      </m:e>
                      <m:sub>
                        <m: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5 years, and P = ?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P</m:t>
                    </m:r>
                  </m:oMath>
                </a14:m>
                <a:r>
                  <a:rPr lang="en-US" sz="2400" dirty="0"/>
                  <a:t> 	=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Difference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in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S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US" sz="2400" dirty="0"/>
                          <m:t>I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2400" dirty="0"/>
                              <m:t> </m:t>
                            </m:r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R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2400" dirty="0"/>
                                  <m:t>T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R</m:t>
                                </m:r>
                              </m:e>
                              <m:sub>
                                <m:r>
                                  <a:rPr lang="en-IN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2400" dirty="0"/>
                                  <m:t>T</m:t>
                                </m:r>
                              </m:e>
                              <m:sub>
                                <m:r>
                                  <a:rPr lang="en-IN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</m:den>
                    </m:f>
                  </m:oMath>
                </a14:m>
                <a:endParaRPr lang="en-IN" sz="240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P</m:t>
                    </m:r>
                  </m:oMath>
                </a14:m>
                <a:r>
                  <a:rPr lang="en-US" sz="2400" dirty="0"/>
                  <a:t> 	=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30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2400" b="0" i="0" dirty="0" smtClean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IN" sz="2400" dirty="0"/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IN" sz="2400" b="0" i="0" dirty="0" smtClean="0"/>
                              <m:t>6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2400" b="0" i="0" dirty="0" smtClean="0"/>
                              <m:t>8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IN" sz="2400" b="0" i="0" dirty="0" smtClean="0"/>
                              <m:t>5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</m:den>
                    </m:f>
                  </m:oMath>
                </a14:m>
                <a:endParaRPr lang="en-IN" sz="240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P</m:t>
                    </m:r>
                  </m:oMath>
                </a14:m>
                <a:r>
                  <a:rPr lang="en-US" sz="2400" dirty="0"/>
                  <a:t> 	=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30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2400" dirty="0"/>
                              <m:t>60</m:t>
                            </m:r>
                            <m:r>
                              <m:rPr>
                                <m:nor/>
                              </m:rPr>
                              <a:rPr lang="en-IN" sz="2400" b="0" i="0" dirty="0" smtClean="0"/>
                              <m:t> − 40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</m:den>
                    </m:f>
                  </m:oMath>
                </a14:m>
                <a:r>
                  <a:rPr lang="en-IN" sz="240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30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10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2400" dirty="0"/>
                          <m:t>0]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</m:den>
                    </m:f>
                  </m:oMath>
                </a14:m>
                <a:r>
                  <a:rPr lang="en-IN" sz="2400" dirty="0"/>
                  <a:t> 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P</m:t>
                    </m:r>
                  </m:oMath>
                </a14:m>
                <a:r>
                  <a:rPr lang="en-US" sz="2400" dirty="0"/>
                  <a:t> 	=	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b="0" i="0" dirty="0" smtClean="0"/>
                      <m:t>Rs</m:t>
                    </m:r>
                    <m:r>
                      <m:rPr>
                        <m:nor/>
                      </m:rPr>
                      <a:rPr lang="en-IN" sz="2400" b="0" i="0" dirty="0" smtClean="0"/>
                      <m:t>.</m:t>
                    </m:r>
                    <m:r>
                      <m:rPr>
                        <m:nor/>
                      </m:rPr>
                      <a:rPr lang="en-IN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b="0" i="0" dirty="0" smtClean="0"/>
                      <m:t>150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7217B9-B975-4814-92B7-731E55AC7F70}"/>
              </a:ext>
            </a:extLst>
          </p:cNvPr>
          <p:cNvCxnSpPr>
            <a:cxnSpLocks/>
          </p:cNvCxnSpPr>
          <p:nvPr/>
        </p:nvCxnSpPr>
        <p:spPr>
          <a:xfrm flipV="1">
            <a:off x="4464097" y="4834456"/>
            <a:ext cx="958437" cy="1846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056F19-C185-4120-963A-CE8BA9C28364}"/>
              </a:ext>
            </a:extLst>
          </p:cNvPr>
          <p:cNvCxnSpPr>
            <a:cxnSpLocks/>
          </p:cNvCxnSpPr>
          <p:nvPr/>
        </p:nvCxnSpPr>
        <p:spPr>
          <a:xfrm flipV="1">
            <a:off x="4053366" y="5222417"/>
            <a:ext cx="821462" cy="1474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0538231-6031-4A35-AE49-AD5C362BFB19}"/>
              </a:ext>
            </a:extLst>
          </p:cNvPr>
          <p:cNvSpPr txBox="1"/>
          <p:nvPr/>
        </p:nvSpPr>
        <p:spPr>
          <a:xfrm>
            <a:off x="5055801" y="4403212"/>
            <a:ext cx="84902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228A5-7DAD-412F-B6E4-F7F1BC77E93F}"/>
              </a:ext>
            </a:extLst>
          </p:cNvPr>
          <p:cNvSpPr txBox="1"/>
          <p:nvPr/>
        </p:nvSpPr>
        <p:spPr>
          <a:xfrm>
            <a:off x="4752975" y="5296120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222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P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If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certain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years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</m:t>
                    </m:r>
                    <m:r>
                      <m:rPr>
                        <m:nor/>
                      </m:rPr>
                      <a:rPr lang="en-US"/>
                      <m:t>% </m:t>
                    </m:r>
                    <m:r>
                      <m:rPr>
                        <m:nor/>
                      </m:rPr>
                      <a:rPr lang="en-US"/>
                      <m:t>per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annum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amounts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IN" b="0" i="0" smtClean="0"/>
                      <m:t>Rs</m:t>
                    </m:r>
                    <m:r>
                      <m:rPr>
                        <m:nor/>
                      </m:rPr>
                      <a:rPr lang="en-IN" b="0" i="0" smtClean="0"/>
                      <m:t>. 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, </m:t>
                    </m:r>
                    <m:r>
                      <m:rPr>
                        <m:nor/>
                      </m:rPr>
                      <a:rPr lang="en-US"/>
                      <m:t>then</m:t>
                    </m:r>
                    <m:r>
                      <m:rPr>
                        <m:nor/>
                      </m:rPr>
                      <a:rPr lang="en-IN" b="0" i="0" smtClean="0"/>
                      <m:t>                               </m:t>
                    </m:r>
                    <m:r>
                      <m:rPr>
                        <m:nor/>
                      </m:rPr>
                      <a:rPr lang="en-US" dirty="0"/>
                      <m:t>P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 + 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The annual payment that will discharge a debt of Rs. A due in T years at R% per annum is</a:t>
                </a:r>
                <a:endParaRPr lang="en-IN" dirty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en-US" dirty="0"/>
                  <a:t>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P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 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R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(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−1)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en-IN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76D35-8D3B-42CB-9F5F-3A8180CE1A61}"/>
              </a:ext>
            </a:extLst>
          </p:cNvPr>
          <p:cNvSpPr/>
          <p:nvPr/>
        </p:nvSpPr>
        <p:spPr>
          <a:xfrm>
            <a:off x="4293705" y="2971801"/>
            <a:ext cx="4373217" cy="1292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927406-B0B2-422F-BCCB-4BD487223ABF}"/>
              </a:ext>
            </a:extLst>
          </p:cNvPr>
          <p:cNvSpPr/>
          <p:nvPr/>
        </p:nvSpPr>
        <p:spPr>
          <a:xfrm>
            <a:off x="4035287" y="5403988"/>
            <a:ext cx="4373217" cy="1292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D8F03D-B6B9-4A21-9DD9-DB88C2A0DE62}"/>
              </a:ext>
            </a:extLst>
          </p:cNvPr>
          <p:cNvSpPr/>
          <p:nvPr/>
        </p:nvSpPr>
        <p:spPr>
          <a:xfrm>
            <a:off x="596348" y="1380297"/>
            <a:ext cx="2435087" cy="10448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855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800" dirty="0"/>
                  <a:t>If a certain sum of money P lent out at S.I. amounts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</m:e>
                      <m:sub>
                        <m:r>
                          <a:rPr lang="en-IN" sz="28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800" dirty="0"/>
                          <m:t>T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years and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</m:e>
                      <m:sub>
                        <m:r>
                          <a:rPr lang="en-IN" sz="28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800" dirty="0"/>
                          <m:t>T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years, then	 </a:t>
                </a:r>
              </a:p>
              <a:p>
                <a:pPr marL="0" indent="0" algn="just">
                  <a:buNone/>
                </a:pPr>
                <a:r>
                  <a:rPr lang="en-US" sz="2800" dirty="0"/>
                  <a:t>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P</m:t>
                    </m:r>
                    <m:r>
                      <m:rPr>
                        <m:nor/>
                      </m:rPr>
                      <a:rPr lang="en-US" sz="2800" dirty="0"/>
                      <m:t> </m:t>
                    </m:r>
                  </m:oMath>
                </a14:m>
                <a:r>
                  <a:rPr lang="en-US" sz="28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[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dirty="0"/>
                              <m:t>A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dirty="0"/>
                              <m:t>T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800" dirty="0"/>
                          <m:t>−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dirty="0"/>
                              <m:t>A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dirty="0"/>
                              <m:t>T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[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dirty="0"/>
                              <m:t>T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800" dirty="0"/>
                          <m:t>−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dirty="0"/>
                              <m:t>T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</m:den>
                    </m:f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sz="2800" dirty="0"/>
                  <a:t>If a certain sum of money P lent out for a certain time T amounts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</m:e>
                      <m:sub>
                        <m:r>
                          <a:rPr lang="en-IN" sz="28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R</m:t>
                        </m:r>
                      </m:e>
                      <m:sub>
                        <m:r>
                          <a:rPr lang="en-IN" sz="28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% per annum and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</m:e>
                      <m:sub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R</m:t>
                        </m:r>
                      </m:e>
                      <m:sub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% per annum, then	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P</m:t>
                    </m:r>
                    <m:r>
                      <m:rPr>
                        <m:nor/>
                      </m:rPr>
                      <a:rPr lang="en-US" sz="2800" dirty="0"/>
                      <m:t>  	= </m:t>
                    </m:r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[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A</m:t>
                                </m:r>
                              </m:e>
                              <m:sub>
                                <m:r>
                                  <a:rPr lang="en-IN" sz="28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R</m:t>
                                </m:r>
                              </m:e>
                              <m:sub>
                                <m:r>
                                  <a:rPr lang="en-US" sz="28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8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8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8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800" dirty="0"/>
                              <m:t>A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dirty="0"/>
                              <m:t>R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[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R</m:t>
                                </m:r>
                              </m:e>
                              <m:sub>
                                <m:r>
                                  <a:rPr lang="en-US" sz="28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IN" sz="28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8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800" dirty="0"/>
                              <m:t>R</m:t>
                            </m:r>
                          </m:e>
                          <m:sub>
                            <m:r>
                              <a:rPr lang="en-US" sz="28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</m:den>
                    </m:f>
                  </m:oMath>
                </a14:m>
                <a:endParaRPr lang="en-IN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r="-1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CDABA13-1364-4F06-B283-3354826D52A0}"/>
              </a:ext>
            </a:extLst>
          </p:cNvPr>
          <p:cNvSpPr/>
          <p:nvPr/>
        </p:nvSpPr>
        <p:spPr>
          <a:xfrm>
            <a:off x="2713383" y="2802835"/>
            <a:ext cx="4373217" cy="1292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8D8B27-1F91-43C4-BD02-6E1C5BD5FD6F}"/>
              </a:ext>
            </a:extLst>
          </p:cNvPr>
          <p:cNvSpPr/>
          <p:nvPr/>
        </p:nvSpPr>
        <p:spPr>
          <a:xfrm>
            <a:off x="4570758" y="5480188"/>
            <a:ext cx="4106103" cy="12158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871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dirty="0" smtClean="0"/>
                      <m:t>Original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n-US" sz="2800" b="0" i="0" dirty="0" smtClean="0"/>
                      <m:t>Sum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n-US" sz="2800" b="0" i="0" dirty="0" smtClean="0"/>
                      <m:t>of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n-US" sz="2800" b="0" i="0" dirty="0" smtClean="0"/>
                      <m:t>Money</m:t>
                    </m:r>
                  </m:oMath>
                </a14:m>
                <a:r>
                  <a:rPr lang="en-US" sz="2800" dirty="0"/>
                  <a:t> (P)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A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800" dirty="0"/>
                          <m:t> 100</m:t>
                        </m:r>
                      </m:num>
                      <m:den>
                        <m:f>
                          <m:fPr>
                            <m:ctrlPr>
                              <a:rPr lang="en-US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R</m:t>
                                </m:r>
                              </m:e>
                              <m:sub>
                                <m:r>
                                  <a:rPr lang="en-US" sz="28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a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+</m:t>
                        </m:r>
                        <m:f>
                          <m:fPr>
                            <m:ctrlPr>
                              <a:rPr lang="en-US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R</m:t>
                                </m:r>
                              </m:e>
                              <m:sub>
                                <m:r>
                                  <a:rPr lang="en-US" sz="2800" b="0" i="0" dirty="0" smtClean="0"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b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+</m:t>
                        </m:r>
                        <m:f>
                          <m:fPr>
                            <m:ctrlPr>
                              <a:rPr lang="en-US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R</m:t>
                                </m:r>
                              </m:e>
                              <m:sub>
                                <m:r>
                                  <a:rPr lang="en-US" sz="2800" b="0" i="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c</m:t>
                            </m:r>
                          </m:den>
                        </m:f>
                      </m:den>
                    </m:f>
                  </m:oMath>
                </a14:m>
                <a:endParaRPr lang="en-US" sz="28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P</m:t>
                    </m:r>
                  </m:oMath>
                </a14:m>
                <a:r>
                  <a:rPr lang="en-US" sz="2800" dirty="0"/>
                  <a:t> 	=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Difference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in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S</m:t>
                        </m:r>
                        <m:r>
                          <m:rPr>
                            <m:nor/>
                          </m:rPr>
                          <a:rPr lang="en-US" sz="2800" dirty="0"/>
                          <m:t>.</m:t>
                        </m:r>
                        <m:r>
                          <m:rPr>
                            <m:nor/>
                          </m:rPr>
                          <a:rPr lang="en-US" sz="2800" dirty="0"/>
                          <m:t>I</m:t>
                        </m:r>
                        <m:r>
                          <m:rPr>
                            <m:nor/>
                          </m:rPr>
                          <a:rPr lang="en-US" sz="2800" dirty="0"/>
                          <m:t>.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[</m:t>
                        </m:r>
                        <m:f>
                          <m:fPr>
                            <m:ctrlPr>
                              <a:rPr lang="en-US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IN" sz="2800" dirty="0"/>
                              <m:t> </m:t>
                            </m:r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R</m:t>
                                </m:r>
                              </m:e>
                              <m:sub>
                                <m:r>
                                  <a:rPr lang="en-US" sz="28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800" dirty="0"/>
                              <m:t>x</m:t>
                            </m:r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2800" dirty="0"/>
                                  <m:t>T</m:t>
                                </m:r>
                              </m:e>
                              <m:sub>
                                <m:r>
                                  <a:rPr lang="en-US" sz="28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800" dirty="0"/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IN" sz="2800" dirty="0"/>
                          <m:t>−</m:t>
                        </m:r>
                        <m:f>
                          <m:fPr>
                            <m:ctrlPr>
                              <a:rPr lang="en-US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R</m:t>
                                </m:r>
                              </m:e>
                              <m:sub>
                                <m:r>
                                  <a:rPr lang="en-IN" sz="28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800" dirty="0"/>
                              <m:t>x</m:t>
                            </m:r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2800" dirty="0"/>
                                  <m:t>T</m:t>
                                </m:r>
                              </m:e>
                              <m:sub>
                                <m:r>
                                  <a:rPr lang="en-IN" sz="28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en-US" sz="2800" dirty="0"/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  <m:r>
                          <m:rPr>
                            <m:nor/>
                          </m:rPr>
                          <a:rPr lang="en-IN" sz="2800" dirty="0"/>
                          <m:t> 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1E02BDD-9B63-4F6D-A4A0-3CAF3D6350EA}"/>
              </a:ext>
            </a:extLst>
          </p:cNvPr>
          <p:cNvSpPr/>
          <p:nvPr/>
        </p:nvSpPr>
        <p:spPr>
          <a:xfrm>
            <a:off x="4909932" y="1709531"/>
            <a:ext cx="2554356" cy="1292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4BD7F-DD3E-465D-8BFC-15E0E98B570D}"/>
              </a:ext>
            </a:extLst>
          </p:cNvPr>
          <p:cNvSpPr/>
          <p:nvPr/>
        </p:nvSpPr>
        <p:spPr>
          <a:xfrm>
            <a:off x="616228" y="3415749"/>
            <a:ext cx="4104860" cy="1292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08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Computation of Principal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2894</TotalTime>
  <Words>915</Words>
  <Application>Microsoft Office PowerPoint</Application>
  <PresentationFormat>On-screen Show (4:3)</PresentationFormat>
  <Paragraphs>105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Problem 1</vt:lpstr>
      <vt:lpstr>Problem 2</vt:lpstr>
      <vt:lpstr>Problem 2</vt:lpstr>
      <vt:lpstr>Problem 3</vt:lpstr>
      <vt:lpstr>Problem 3</vt:lpstr>
      <vt:lpstr>Problem 4</vt:lpstr>
      <vt:lpstr>Problem 4</vt:lpstr>
      <vt:lpstr>Problem 5</vt:lpstr>
      <vt:lpstr>Problem 5</vt:lpstr>
      <vt:lpstr>Problem 6</vt:lpstr>
      <vt:lpstr>Problem 6</vt:lpstr>
      <vt:lpstr>Problem 6</vt:lpstr>
      <vt:lpstr>Problem 7</vt:lpstr>
      <vt:lpstr>Problem 7</vt:lpstr>
      <vt:lpstr>Problem 7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221</cp:revision>
  <dcterms:created xsi:type="dcterms:W3CDTF">2020-12-18T18:59:12Z</dcterms:created>
  <dcterms:modified xsi:type="dcterms:W3CDTF">2022-04-28T06:23:59Z</dcterms:modified>
</cp:coreProperties>
</file>