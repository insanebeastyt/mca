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78" r:id="rId2"/>
    <p:sldId id="674" r:id="rId3"/>
    <p:sldId id="803" r:id="rId4"/>
    <p:sldId id="851" r:id="rId5"/>
    <p:sldId id="852" r:id="rId6"/>
    <p:sldId id="850" r:id="rId7"/>
    <p:sldId id="831" r:id="rId8"/>
    <p:sldId id="832" r:id="rId9"/>
    <p:sldId id="833" r:id="rId10"/>
    <p:sldId id="834" r:id="rId11"/>
    <p:sldId id="820" r:id="rId12"/>
    <p:sldId id="826" r:id="rId13"/>
    <p:sldId id="835" r:id="rId14"/>
    <p:sldId id="836" r:id="rId15"/>
    <p:sldId id="821" r:id="rId16"/>
    <p:sldId id="837" r:id="rId17"/>
    <p:sldId id="838" r:id="rId18"/>
    <p:sldId id="839" r:id="rId19"/>
    <p:sldId id="840" r:id="rId20"/>
    <p:sldId id="827" r:id="rId21"/>
    <p:sldId id="841" r:id="rId22"/>
    <p:sldId id="842" r:id="rId23"/>
    <p:sldId id="843" r:id="rId24"/>
    <p:sldId id="844" r:id="rId25"/>
    <p:sldId id="829" r:id="rId26"/>
    <p:sldId id="845" r:id="rId27"/>
    <p:sldId id="846" r:id="rId28"/>
    <p:sldId id="849" r:id="rId29"/>
    <p:sldId id="847" r:id="rId30"/>
    <p:sldId id="848"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F28"/>
    <a:srgbClr val="262626"/>
    <a:srgbClr val="03232C"/>
    <a:srgbClr val="A8004B"/>
    <a:srgbClr val="ABABAB"/>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72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11/5/2022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extLst>
      <p:ext uri="{BB962C8B-B14F-4D97-AF65-F5344CB8AC3E}">
        <p14:creationId xmlns:p14="http://schemas.microsoft.com/office/powerpoint/2010/main" val="18500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xmlns=""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xmlns=""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xmlns=""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xmlns=""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xmlns=""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xmlns=""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xmlns=""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xmlns=""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xmlns=""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xmlns=""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xmlns=""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11/5/2022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11/5/2022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xmlns=""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xmlns=""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11/5/2022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C2C2E1C-492B-4490-B644-A86ED36D0996}"/>
              </a:ext>
            </a:extLst>
          </p:cNvPr>
          <p:cNvSpPr>
            <a:spLocks noGrp="1"/>
          </p:cNvSpPr>
          <p:nvPr>
            <p:ph idx="1"/>
          </p:nvPr>
        </p:nvSpPr>
        <p:spPr/>
        <p:txBody>
          <a:bodyPr>
            <a:normAutofit/>
          </a:bodyPr>
          <a:lstStyle/>
          <a:p>
            <a:pPr algn="just"/>
            <a:r>
              <a:rPr lang="en-US" dirty="0"/>
              <a:t>develop understanding about the basics of alphabet test, </a:t>
            </a:r>
          </a:p>
          <a:p>
            <a:pPr algn="just"/>
            <a:r>
              <a:rPr lang="en-US" dirty="0"/>
              <a:t>analyze different types of alphabet test, </a:t>
            </a:r>
          </a:p>
          <a:p>
            <a:pPr lvl="0" algn="just"/>
            <a:r>
              <a:rPr lang="en-US" dirty="0"/>
              <a:t>solve various problems relating to different types of alphabet test. </a:t>
            </a:r>
          </a:p>
        </p:txBody>
      </p:sp>
    </p:spTree>
    <p:extLst>
      <p:ext uri="{BB962C8B-B14F-4D97-AF65-F5344CB8AC3E}">
        <p14:creationId xmlns:p14="http://schemas.microsoft.com/office/powerpoint/2010/main" val="12284373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effectLst/>
              </a:rPr>
              <a:t>A</a:t>
            </a:r>
            <a:r>
              <a:rPr lang="en-US" dirty="0"/>
              <a:t>lphabet Test</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r>
              <a:rPr lang="en-US" dirty="0"/>
              <a:t>Place of an alphabet/a word </a:t>
            </a:r>
          </a:p>
          <a:p>
            <a:r>
              <a:rPr lang="en-US" dirty="0"/>
              <a:t>Types of Arrangement </a:t>
            </a:r>
          </a:p>
          <a:p>
            <a:r>
              <a:rPr lang="en-US" dirty="0"/>
              <a:t>Arrangements of Alphabet </a:t>
            </a:r>
          </a:p>
          <a:p>
            <a:endParaRPr lang="en-US" dirty="0"/>
          </a:p>
        </p:txBody>
      </p:sp>
    </p:spTree>
    <p:extLst>
      <p:ext uri="{BB962C8B-B14F-4D97-AF65-F5344CB8AC3E}">
        <p14:creationId xmlns:p14="http://schemas.microsoft.com/office/powerpoint/2010/main" val="6489028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effectLst/>
              </a:rPr>
              <a:t>Types of A</a:t>
            </a:r>
            <a:r>
              <a:rPr lang="en-US" dirty="0"/>
              <a:t>lphabet Test</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r>
              <a:rPr lang="en-US" dirty="0"/>
              <a:t>Alphabetical Order of Words</a:t>
            </a:r>
          </a:p>
          <a:p>
            <a:r>
              <a:rPr lang="en-US" dirty="0"/>
              <a:t>Letter-word Problems</a:t>
            </a:r>
          </a:p>
          <a:p>
            <a:r>
              <a:rPr lang="en-US" dirty="0"/>
              <a:t>Rule Detection</a:t>
            </a:r>
          </a:p>
          <a:p>
            <a:r>
              <a:rPr lang="en-US" dirty="0"/>
              <a:t>Alphabetical Quibble </a:t>
            </a:r>
          </a:p>
          <a:p>
            <a:endParaRPr lang="en-US" dirty="0"/>
          </a:p>
        </p:txBody>
      </p:sp>
    </p:spTree>
    <p:extLst>
      <p:ext uri="{BB962C8B-B14F-4D97-AF65-F5344CB8AC3E}">
        <p14:creationId xmlns:p14="http://schemas.microsoft.com/office/powerpoint/2010/main" val="38708919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effectLst/>
              </a:rPr>
              <a:t>A</a:t>
            </a:r>
            <a:r>
              <a:rPr lang="en-US" dirty="0"/>
              <a:t>lphabetical Order of Words</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r>
              <a:rPr lang="en-US" dirty="0"/>
              <a:t>Arranging Words in Alphabetical Order</a:t>
            </a:r>
          </a:p>
          <a:p>
            <a:r>
              <a:rPr lang="en-US" dirty="0"/>
              <a:t>Words</a:t>
            </a:r>
            <a:endParaRPr lang="en-IN" dirty="0"/>
          </a:p>
          <a:p>
            <a:pPr lvl="1"/>
            <a:r>
              <a:rPr lang="en-US" dirty="0"/>
              <a:t>Dictionary</a:t>
            </a:r>
          </a:p>
          <a:p>
            <a:pPr lvl="1">
              <a:lnSpc>
                <a:spcPct val="150000"/>
              </a:lnSpc>
            </a:pPr>
            <a:r>
              <a:rPr lang="en-US" dirty="0"/>
              <a:t>Desired Place</a:t>
            </a:r>
          </a:p>
          <a:p>
            <a:r>
              <a:rPr lang="en-US" dirty="0"/>
              <a:t>Knowledge</a:t>
            </a:r>
          </a:p>
          <a:p>
            <a:pPr lvl="1">
              <a:lnSpc>
                <a:spcPct val="150000"/>
              </a:lnSpc>
            </a:pPr>
            <a:r>
              <a:rPr lang="en-US" dirty="0"/>
              <a:t>Dictionary Usage</a:t>
            </a:r>
          </a:p>
          <a:p>
            <a:pPr lvl="1">
              <a:lnSpc>
                <a:spcPct val="150000"/>
              </a:lnSpc>
            </a:pPr>
            <a:r>
              <a:rPr lang="en-US" dirty="0"/>
              <a:t>Alphabetical Order</a:t>
            </a:r>
          </a:p>
        </p:txBody>
      </p:sp>
    </p:spTree>
    <p:extLst>
      <p:ext uri="{BB962C8B-B14F-4D97-AF65-F5344CB8AC3E}">
        <p14:creationId xmlns:p14="http://schemas.microsoft.com/office/powerpoint/2010/main" val="8309867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effectLst/>
              </a:rPr>
              <a:t>A</a:t>
            </a:r>
            <a:r>
              <a:rPr lang="en-US" dirty="0"/>
              <a:t>lphabetical Order of Words</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r>
              <a:rPr lang="en-US" sz="2800" dirty="0"/>
              <a:t>Arranging Words in Alphabetical Order</a:t>
            </a:r>
          </a:p>
          <a:p>
            <a:pPr lvl="1">
              <a:lnSpc>
                <a:spcPct val="150000"/>
              </a:lnSpc>
            </a:pPr>
            <a:r>
              <a:rPr lang="en-US" sz="2600" dirty="0"/>
              <a:t>Army, Access, Academic, Abacus</a:t>
            </a:r>
          </a:p>
          <a:p>
            <a:pPr lvl="1">
              <a:lnSpc>
                <a:spcPct val="150000"/>
              </a:lnSpc>
            </a:pPr>
            <a:r>
              <a:rPr lang="en-US" sz="2600" dirty="0"/>
              <a:t>Abacus</a:t>
            </a:r>
          </a:p>
          <a:p>
            <a:pPr lvl="1">
              <a:lnSpc>
                <a:spcPct val="150000"/>
              </a:lnSpc>
            </a:pPr>
            <a:r>
              <a:rPr lang="en-US" sz="2600" dirty="0"/>
              <a:t>Academic</a:t>
            </a:r>
          </a:p>
          <a:p>
            <a:pPr lvl="1">
              <a:lnSpc>
                <a:spcPct val="150000"/>
              </a:lnSpc>
            </a:pPr>
            <a:r>
              <a:rPr lang="en-US" sz="2600" dirty="0"/>
              <a:t>Access</a:t>
            </a:r>
          </a:p>
          <a:p>
            <a:pPr lvl="1">
              <a:lnSpc>
                <a:spcPct val="150000"/>
              </a:lnSpc>
            </a:pPr>
            <a:r>
              <a:rPr lang="en-US" sz="2600" dirty="0"/>
              <a:t>Army</a:t>
            </a:r>
          </a:p>
          <a:p>
            <a:pPr lvl="1">
              <a:lnSpc>
                <a:spcPct val="150000"/>
              </a:lnSpc>
            </a:pPr>
            <a:r>
              <a:rPr lang="en-US" sz="2600" dirty="0"/>
              <a:t>Abacus, Academic, Access, Army</a:t>
            </a:r>
          </a:p>
        </p:txBody>
      </p:sp>
      <p:cxnSp>
        <p:nvCxnSpPr>
          <p:cNvPr id="5" name="Straight Connector 4">
            <a:extLst>
              <a:ext uri="{FF2B5EF4-FFF2-40B4-BE49-F238E27FC236}">
                <a16:creationId xmlns:a16="http://schemas.microsoft.com/office/drawing/2014/main" xmlns="" id="{B5D4B8F5-5D82-3219-FE15-057080E90A99}"/>
              </a:ext>
            </a:extLst>
          </p:cNvPr>
          <p:cNvCxnSpPr/>
          <p:nvPr/>
        </p:nvCxnSpPr>
        <p:spPr>
          <a:xfrm>
            <a:off x="4949687" y="2554357"/>
            <a:ext cx="36774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xmlns="" id="{3D66ED89-BBE0-2718-EA4E-BFFFA7D75928}"/>
              </a:ext>
            </a:extLst>
          </p:cNvPr>
          <p:cNvCxnSpPr>
            <a:cxnSpLocks/>
          </p:cNvCxnSpPr>
          <p:nvPr/>
        </p:nvCxnSpPr>
        <p:spPr>
          <a:xfrm>
            <a:off x="3342861" y="2567610"/>
            <a:ext cx="533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269EE11-CDFC-B530-6773-6FDE480EB556}"/>
              </a:ext>
            </a:extLst>
          </p:cNvPr>
          <p:cNvCxnSpPr>
            <a:cxnSpLocks/>
          </p:cNvCxnSpPr>
          <p:nvPr/>
        </p:nvCxnSpPr>
        <p:spPr>
          <a:xfrm>
            <a:off x="2093844" y="2554357"/>
            <a:ext cx="533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8242E550-6C77-4C79-FF99-318A89A7F87B}"/>
              </a:ext>
            </a:extLst>
          </p:cNvPr>
          <p:cNvCxnSpPr>
            <a:cxnSpLocks/>
          </p:cNvCxnSpPr>
          <p:nvPr/>
        </p:nvCxnSpPr>
        <p:spPr>
          <a:xfrm flipV="1">
            <a:off x="1133062" y="2554357"/>
            <a:ext cx="357808" cy="331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88473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effectLst/>
              </a:rPr>
              <a:t>A</a:t>
            </a:r>
            <a:r>
              <a:rPr lang="en-US" dirty="0"/>
              <a:t>lphabetical Order of Words</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fontScale="92500" lnSpcReduction="20000"/>
          </a:bodyPr>
          <a:lstStyle/>
          <a:p>
            <a:r>
              <a:rPr lang="en-US" dirty="0"/>
              <a:t>Arrange the given words in alphabetic order of words:</a:t>
            </a:r>
          </a:p>
          <a:p>
            <a:r>
              <a:rPr lang="en-US" dirty="0"/>
              <a:t>Payment, Fossil, Shark, Blue, Torture, and Apparent</a:t>
            </a:r>
          </a:p>
          <a:p>
            <a:r>
              <a:rPr lang="en-US" dirty="0"/>
              <a:t>Apparent</a:t>
            </a:r>
          </a:p>
          <a:p>
            <a:r>
              <a:rPr lang="en-US" dirty="0"/>
              <a:t>Blue</a:t>
            </a:r>
          </a:p>
          <a:p>
            <a:r>
              <a:rPr lang="en-US" dirty="0"/>
              <a:t>Fossil</a:t>
            </a:r>
          </a:p>
          <a:p>
            <a:r>
              <a:rPr lang="en-US" dirty="0"/>
              <a:t>Payment</a:t>
            </a:r>
          </a:p>
          <a:p>
            <a:r>
              <a:rPr lang="en-US" dirty="0"/>
              <a:t>Shark</a:t>
            </a:r>
          </a:p>
          <a:p>
            <a:r>
              <a:rPr lang="en-US" dirty="0"/>
              <a:t>Torture</a:t>
            </a:r>
          </a:p>
          <a:p>
            <a:r>
              <a:rPr lang="en-US" dirty="0"/>
              <a:t>Apparent, Blue, Fossil, Payment, Shark, and Torture</a:t>
            </a:r>
          </a:p>
        </p:txBody>
      </p:sp>
      <p:sp>
        <p:nvSpPr>
          <p:cNvPr id="5" name="Oval 4">
            <a:extLst>
              <a:ext uri="{FF2B5EF4-FFF2-40B4-BE49-F238E27FC236}">
                <a16:creationId xmlns:a16="http://schemas.microsoft.com/office/drawing/2014/main" xmlns="" id="{4865AE54-EB80-23AE-1DAD-746383553463}"/>
              </a:ext>
            </a:extLst>
          </p:cNvPr>
          <p:cNvSpPr/>
          <p:nvPr/>
        </p:nvSpPr>
        <p:spPr>
          <a:xfrm>
            <a:off x="6440559" y="1977889"/>
            <a:ext cx="268357"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xmlns="" id="{37A042F0-89E9-AC76-8DCD-3ED2C78B8DC1}"/>
              </a:ext>
            </a:extLst>
          </p:cNvPr>
          <p:cNvSpPr/>
          <p:nvPr/>
        </p:nvSpPr>
        <p:spPr>
          <a:xfrm>
            <a:off x="3939212" y="1967950"/>
            <a:ext cx="268357"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xmlns="" id="{30A6997B-C02D-E333-467B-D6C932AE6670}"/>
              </a:ext>
            </a:extLst>
          </p:cNvPr>
          <p:cNvSpPr/>
          <p:nvPr/>
        </p:nvSpPr>
        <p:spPr>
          <a:xfrm>
            <a:off x="1970021" y="1967949"/>
            <a:ext cx="268357"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xmlns="" id="{872BC2A2-A97D-0A06-28DD-CA90F33605C4}"/>
              </a:ext>
            </a:extLst>
          </p:cNvPr>
          <p:cNvSpPr/>
          <p:nvPr/>
        </p:nvSpPr>
        <p:spPr>
          <a:xfrm>
            <a:off x="629892" y="1967949"/>
            <a:ext cx="268357"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xmlns="" id="{C66A7F1D-4E40-52D6-87B4-A6AB348229B8}"/>
              </a:ext>
            </a:extLst>
          </p:cNvPr>
          <p:cNvSpPr/>
          <p:nvPr/>
        </p:nvSpPr>
        <p:spPr>
          <a:xfrm>
            <a:off x="2974494" y="1967948"/>
            <a:ext cx="268357"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203E800F-6221-D14A-E293-600AD11BAB69}"/>
              </a:ext>
            </a:extLst>
          </p:cNvPr>
          <p:cNvSpPr/>
          <p:nvPr/>
        </p:nvSpPr>
        <p:spPr>
          <a:xfrm>
            <a:off x="4673154" y="1962562"/>
            <a:ext cx="268357"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92045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effectLst/>
              </a:rPr>
              <a:t>A</a:t>
            </a:r>
            <a:r>
              <a:rPr lang="en-US" dirty="0"/>
              <a:t>lphabetical Order of Words</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fontScale="92500"/>
          </a:bodyPr>
          <a:lstStyle/>
          <a:p>
            <a:r>
              <a:rPr lang="en-US" dirty="0"/>
              <a:t>Arrange the given words in alphabetic order of words:</a:t>
            </a:r>
          </a:p>
          <a:p>
            <a:r>
              <a:rPr lang="en-US" dirty="0"/>
              <a:t>Face, Client, Bee, Castle, Viper, Dazzle, and Beaker</a:t>
            </a:r>
          </a:p>
          <a:p>
            <a:r>
              <a:rPr lang="en-US" dirty="0"/>
              <a:t>Beaker and Bee</a:t>
            </a:r>
          </a:p>
          <a:p>
            <a:r>
              <a:rPr lang="en-US" dirty="0"/>
              <a:t>Castle and Client</a:t>
            </a:r>
          </a:p>
          <a:p>
            <a:r>
              <a:rPr lang="en-US" dirty="0"/>
              <a:t>Dazzle</a:t>
            </a:r>
          </a:p>
          <a:p>
            <a:r>
              <a:rPr lang="en-US" dirty="0"/>
              <a:t>Face</a:t>
            </a:r>
          </a:p>
          <a:p>
            <a:r>
              <a:rPr lang="en-US" dirty="0"/>
              <a:t>Viper</a:t>
            </a:r>
          </a:p>
          <a:p>
            <a:r>
              <a:rPr lang="en-US" dirty="0"/>
              <a:t>Beaker, Bee, Castle, Client, Dazzle, Face, and Viper</a:t>
            </a:r>
          </a:p>
          <a:p>
            <a:endParaRPr lang="en-US" dirty="0"/>
          </a:p>
        </p:txBody>
      </p:sp>
      <p:sp>
        <p:nvSpPr>
          <p:cNvPr id="10" name="Oval 9">
            <a:extLst>
              <a:ext uri="{FF2B5EF4-FFF2-40B4-BE49-F238E27FC236}">
                <a16:creationId xmlns:a16="http://schemas.microsoft.com/office/drawing/2014/main" xmlns="" id="{EAD60580-43E1-D220-B10A-326DDBA9B927}"/>
              </a:ext>
            </a:extLst>
          </p:cNvPr>
          <p:cNvSpPr/>
          <p:nvPr/>
        </p:nvSpPr>
        <p:spPr>
          <a:xfrm>
            <a:off x="2366919" y="2087217"/>
            <a:ext cx="616225"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770730FA-4E23-9DC4-1143-42380906902B}"/>
              </a:ext>
            </a:extLst>
          </p:cNvPr>
          <p:cNvSpPr/>
          <p:nvPr/>
        </p:nvSpPr>
        <p:spPr>
          <a:xfrm>
            <a:off x="3076695" y="2087216"/>
            <a:ext cx="384933"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xmlns="" id="{5FA019DF-18CE-61A1-799D-56C61D3C5BF1}"/>
              </a:ext>
            </a:extLst>
          </p:cNvPr>
          <p:cNvSpPr/>
          <p:nvPr/>
        </p:nvSpPr>
        <p:spPr>
          <a:xfrm>
            <a:off x="4938771" y="2087214"/>
            <a:ext cx="268357"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xmlns="" id="{E61D00FB-0FBF-FD26-2933-53C7E2CD9CE2}"/>
              </a:ext>
            </a:extLst>
          </p:cNvPr>
          <p:cNvSpPr/>
          <p:nvPr/>
        </p:nvSpPr>
        <p:spPr>
          <a:xfrm>
            <a:off x="621419" y="2087211"/>
            <a:ext cx="268357"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82A09738-8936-5688-45AA-4515D191EBF2}"/>
              </a:ext>
            </a:extLst>
          </p:cNvPr>
          <p:cNvSpPr/>
          <p:nvPr/>
        </p:nvSpPr>
        <p:spPr>
          <a:xfrm>
            <a:off x="1444219" y="2087215"/>
            <a:ext cx="386694"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2EAC1168-33FF-1727-241A-F32C8155055C}"/>
              </a:ext>
            </a:extLst>
          </p:cNvPr>
          <p:cNvSpPr/>
          <p:nvPr/>
        </p:nvSpPr>
        <p:spPr>
          <a:xfrm>
            <a:off x="6576188" y="2087217"/>
            <a:ext cx="616225"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xmlns="" id="{6B26C17D-9FA7-CCA7-D630-6AA105343F5B}"/>
              </a:ext>
            </a:extLst>
          </p:cNvPr>
          <p:cNvSpPr/>
          <p:nvPr/>
        </p:nvSpPr>
        <p:spPr>
          <a:xfrm>
            <a:off x="4066021" y="2087211"/>
            <a:ext cx="268357"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751111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effectLst/>
              </a:rPr>
              <a:t>A</a:t>
            </a:r>
            <a:r>
              <a:rPr lang="en-US" dirty="0"/>
              <a:t>lphabetical Order of Words</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US" dirty="0"/>
              <a:t>Arrange the following words in the dictionary order:</a:t>
            </a:r>
          </a:p>
          <a:p>
            <a:pPr algn="just"/>
            <a:r>
              <a:rPr lang="en-US" dirty="0"/>
              <a:t>Chair, Cup, Coconut, Carry, Crude, Central, Carrot, Courier, Cream, Carrier, and Cheese  </a:t>
            </a:r>
          </a:p>
          <a:p>
            <a:pPr algn="just"/>
            <a:r>
              <a:rPr lang="en-US" dirty="0"/>
              <a:t>Carrier, Carrot, Carry, Central, Chair, Cheese, Coconut, Courier, Cream, Crude, and Cup</a:t>
            </a:r>
            <a:endParaRPr lang="en-IN" dirty="0"/>
          </a:p>
        </p:txBody>
      </p:sp>
      <p:cxnSp>
        <p:nvCxnSpPr>
          <p:cNvPr id="4" name="Straight Connector 3">
            <a:extLst>
              <a:ext uri="{FF2B5EF4-FFF2-40B4-BE49-F238E27FC236}">
                <a16:creationId xmlns:a16="http://schemas.microsoft.com/office/drawing/2014/main" xmlns="" id="{883E1BC5-D609-9E0E-3F92-AE06E1D5C4E6}"/>
              </a:ext>
            </a:extLst>
          </p:cNvPr>
          <p:cNvCxnSpPr>
            <a:cxnSpLocks/>
          </p:cNvCxnSpPr>
          <p:nvPr/>
        </p:nvCxnSpPr>
        <p:spPr>
          <a:xfrm>
            <a:off x="3160643" y="3200400"/>
            <a:ext cx="71561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xmlns="" id="{2BDF06B9-FA7A-05EE-8BA5-C951E58D90F9}"/>
              </a:ext>
            </a:extLst>
          </p:cNvPr>
          <p:cNvCxnSpPr>
            <a:cxnSpLocks/>
          </p:cNvCxnSpPr>
          <p:nvPr/>
        </p:nvCxnSpPr>
        <p:spPr>
          <a:xfrm>
            <a:off x="7894982" y="2620618"/>
            <a:ext cx="75206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06043FD-9E3B-543B-0730-D3E2715D44C7}"/>
              </a:ext>
            </a:extLst>
          </p:cNvPr>
          <p:cNvCxnSpPr>
            <a:cxnSpLocks/>
          </p:cNvCxnSpPr>
          <p:nvPr/>
        </p:nvCxnSpPr>
        <p:spPr>
          <a:xfrm>
            <a:off x="4195969" y="2620618"/>
            <a:ext cx="75206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1454B77C-F114-468A-F20B-EF87EF1917C7}"/>
              </a:ext>
            </a:extLst>
          </p:cNvPr>
          <p:cNvCxnSpPr>
            <a:cxnSpLocks/>
          </p:cNvCxnSpPr>
          <p:nvPr/>
        </p:nvCxnSpPr>
        <p:spPr>
          <a:xfrm>
            <a:off x="6496877" y="2587488"/>
            <a:ext cx="56984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D864F6E2-600C-B5D0-9777-D89331947FCF}"/>
              </a:ext>
            </a:extLst>
          </p:cNvPr>
          <p:cNvCxnSpPr>
            <a:cxnSpLocks/>
          </p:cNvCxnSpPr>
          <p:nvPr/>
        </p:nvCxnSpPr>
        <p:spPr>
          <a:xfrm>
            <a:off x="692427" y="2587487"/>
            <a:ext cx="75206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58A5DCA0-5B15-C6C7-200D-9E2CE11AE345}"/>
              </a:ext>
            </a:extLst>
          </p:cNvPr>
          <p:cNvCxnSpPr>
            <a:cxnSpLocks/>
          </p:cNvCxnSpPr>
          <p:nvPr/>
        </p:nvCxnSpPr>
        <p:spPr>
          <a:xfrm>
            <a:off x="5029200" y="3200400"/>
            <a:ext cx="75206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5C2B8718-B16B-8770-E2AD-5118BCBF0C08}"/>
              </a:ext>
            </a:extLst>
          </p:cNvPr>
          <p:cNvCxnSpPr>
            <a:cxnSpLocks/>
          </p:cNvCxnSpPr>
          <p:nvPr/>
        </p:nvCxnSpPr>
        <p:spPr>
          <a:xfrm>
            <a:off x="2637183" y="2613992"/>
            <a:ext cx="75206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380120F7-337B-4B66-4F14-14EC153439B6}"/>
              </a:ext>
            </a:extLst>
          </p:cNvPr>
          <p:cNvCxnSpPr>
            <a:cxnSpLocks/>
          </p:cNvCxnSpPr>
          <p:nvPr/>
        </p:nvCxnSpPr>
        <p:spPr>
          <a:xfrm>
            <a:off x="692427" y="3197087"/>
            <a:ext cx="75206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5DF19230-9EBA-0E7D-06B9-67F14E5343AD}"/>
              </a:ext>
            </a:extLst>
          </p:cNvPr>
          <p:cNvCxnSpPr>
            <a:cxnSpLocks/>
          </p:cNvCxnSpPr>
          <p:nvPr/>
        </p:nvCxnSpPr>
        <p:spPr>
          <a:xfrm>
            <a:off x="5287618" y="2597427"/>
            <a:ext cx="75206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03B3BA82-33C5-002E-E7ED-C5E87336EEBC}"/>
              </a:ext>
            </a:extLst>
          </p:cNvPr>
          <p:cNvCxnSpPr>
            <a:cxnSpLocks/>
          </p:cNvCxnSpPr>
          <p:nvPr/>
        </p:nvCxnSpPr>
        <p:spPr>
          <a:xfrm>
            <a:off x="1997766" y="3203713"/>
            <a:ext cx="75206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B7085AD2-0179-FDFE-E3BD-C76D127FC61C}"/>
              </a:ext>
            </a:extLst>
          </p:cNvPr>
          <p:cNvCxnSpPr>
            <a:cxnSpLocks/>
          </p:cNvCxnSpPr>
          <p:nvPr/>
        </p:nvCxnSpPr>
        <p:spPr>
          <a:xfrm>
            <a:off x="1769166" y="2620618"/>
            <a:ext cx="61291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2816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effectLst/>
              </a:rPr>
              <a:t>A</a:t>
            </a:r>
            <a:r>
              <a:rPr lang="en-US" dirty="0"/>
              <a:t>lphabetical Order of Words</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US" dirty="0"/>
              <a:t>In the following question five words are given. Find out which word will come in the middle, if all the five words are arranged alphabetically as in a dictionary. </a:t>
            </a:r>
          </a:p>
          <a:p>
            <a:pPr algn="just"/>
            <a:r>
              <a:rPr lang="en-US" dirty="0"/>
              <a:t>Chair, Carry, Crude, Central, and Carrot </a:t>
            </a:r>
          </a:p>
          <a:p>
            <a:pPr algn="just"/>
            <a:r>
              <a:rPr lang="en-US" dirty="0"/>
              <a:t>Carrot, Carry, Central, Chair, and Crude</a:t>
            </a:r>
          </a:p>
          <a:p>
            <a:pPr algn="just"/>
            <a:r>
              <a:rPr lang="en-US" dirty="0"/>
              <a:t>Central</a:t>
            </a:r>
            <a:endParaRPr lang="en-IN" dirty="0"/>
          </a:p>
        </p:txBody>
      </p:sp>
      <p:cxnSp>
        <p:nvCxnSpPr>
          <p:cNvPr id="5" name="Straight Connector 4">
            <a:extLst>
              <a:ext uri="{FF2B5EF4-FFF2-40B4-BE49-F238E27FC236}">
                <a16:creationId xmlns:a16="http://schemas.microsoft.com/office/drawing/2014/main" xmlns="" id="{D2ADA87B-F43E-BDFE-9655-B9DDD9BAA3BA}"/>
              </a:ext>
            </a:extLst>
          </p:cNvPr>
          <p:cNvCxnSpPr>
            <a:cxnSpLocks/>
          </p:cNvCxnSpPr>
          <p:nvPr/>
        </p:nvCxnSpPr>
        <p:spPr>
          <a:xfrm>
            <a:off x="3727174" y="3783495"/>
            <a:ext cx="71561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xmlns="" id="{5DF92532-D820-7A52-29D5-C504990190B0}"/>
              </a:ext>
            </a:extLst>
          </p:cNvPr>
          <p:cNvCxnSpPr>
            <a:cxnSpLocks/>
          </p:cNvCxnSpPr>
          <p:nvPr/>
        </p:nvCxnSpPr>
        <p:spPr>
          <a:xfrm>
            <a:off x="5599043" y="3783495"/>
            <a:ext cx="75206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14C86771-B4C8-E590-D16B-02EAE30F8750}"/>
              </a:ext>
            </a:extLst>
          </p:cNvPr>
          <p:cNvCxnSpPr>
            <a:cxnSpLocks/>
          </p:cNvCxnSpPr>
          <p:nvPr/>
        </p:nvCxnSpPr>
        <p:spPr>
          <a:xfrm>
            <a:off x="1691309" y="3790121"/>
            <a:ext cx="75206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C1D5BDC1-131A-CB0F-477C-F6DED426E50F}"/>
              </a:ext>
            </a:extLst>
          </p:cNvPr>
          <p:cNvCxnSpPr>
            <a:cxnSpLocks/>
          </p:cNvCxnSpPr>
          <p:nvPr/>
        </p:nvCxnSpPr>
        <p:spPr>
          <a:xfrm>
            <a:off x="699053" y="3773555"/>
            <a:ext cx="71561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5EC7A18A-9443-D04E-7BC6-CAA66CFE6ABD}"/>
              </a:ext>
            </a:extLst>
          </p:cNvPr>
          <p:cNvCxnSpPr>
            <a:cxnSpLocks/>
          </p:cNvCxnSpPr>
          <p:nvPr/>
        </p:nvCxnSpPr>
        <p:spPr>
          <a:xfrm>
            <a:off x="2660375" y="3790121"/>
            <a:ext cx="71561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xmlns="" id="{21298EEF-B96C-AE10-DB0F-1B4CFB7A07E0}"/>
              </a:ext>
            </a:extLst>
          </p:cNvPr>
          <p:cNvSpPr/>
          <p:nvPr/>
        </p:nvSpPr>
        <p:spPr>
          <a:xfrm>
            <a:off x="2729950" y="4084982"/>
            <a:ext cx="1225824"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243443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IN" dirty="0"/>
              <a:t>Letter-word</a:t>
            </a:r>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US" dirty="0"/>
              <a:t>How many such letters are there in the word “BUCKET”, each of which is as far away from the beginning of the word as it is from the beginning of the English Alphabet?</a:t>
            </a:r>
          </a:p>
          <a:p>
            <a:pPr algn="just"/>
            <a:r>
              <a:rPr lang="en-US" dirty="0"/>
              <a:t>ABCDEFGHIJKLMNOPQRSTUVWXYZ</a:t>
            </a:r>
          </a:p>
          <a:p>
            <a:pPr algn="just"/>
            <a:r>
              <a:rPr lang="en-US" dirty="0"/>
              <a:t>BUCKET</a:t>
            </a:r>
          </a:p>
          <a:p>
            <a:pPr algn="just"/>
            <a:r>
              <a:rPr lang="en-US" dirty="0"/>
              <a:t>C D E  and C K E</a:t>
            </a:r>
          </a:p>
          <a:p>
            <a:pPr algn="just"/>
            <a:r>
              <a:rPr lang="en-US" dirty="0"/>
              <a:t>C and E</a:t>
            </a:r>
          </a:p>
        </p:txBody>
      </p:sp>
      <p:cxnSp>
        <p:nvCxnSpPr>
          <p:cNvPr id="4" name="Straight Connector 3">
            <a:extLst>
              <a:ext uri="{FF2B5EF4-FFF2-40B4-BE49-F238E27FC236}">
                <a16:creationId xmlns:a16="http://schemas.microsoft.com/office/drawing/2014/main" xmlns="" id="{5D405275-CE27-C1FB-DB65-F201D8343638}"/>
              </a:ext>
            </a:extLst>
          </p:cNvPr>
          <p:cNvCxnSpPr>
            <a:cxnSpLocks/>
          </p:cNvCxnSpPr>
          <p:nvPr/>
        </p:nvCxnSpPr>
        <p:spPr>
          <a:xfrm>
            <a:off x="1143000" y="5065642"/>
            <a:ext cx="54665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xmlns="" id="{9044DF8A-8A65-B152-6BCD-08EF700447AE}"/>
              </a:ext>
            </a:extLst>
          </p:cNvPr>
          <p:cNvCxnSpPr>
            <a:cxnSpLocks/>
          </p:cNvCxnSpPr>
          <p:nvPr/>
        </p:nvCxnSpPr>
        <p:spPr>
          <a:xfrm>
            <a:off x="1143000" y="4359966"/>
            <a:ext cx="55659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46450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IN" dirty="0"/>
              <a:t>Letter-word</a:t>
            </a:r>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US" dirty="0"/>
              <a:t>If the position of the first and the sixth letters; second and seventh letters; third and eighth letter and so on in the word ‘DISTRIBUTE’ are interchanged, then find the fifth letter from the left in new word so formed.</a:t>
            </a:r>
          </a:p>
          <a:p>
            <a:pPr algn="just"/>
            <a:r>
              <a:rPr lang="en-US" dirty="0"/>
              <a:t>D    I    S    T    R    I    B    U    T    E </a:t>
            </a:r>
          </a:p>
          <a:p>
            <a:pPr algn="just"/>
            <a:r>
              <a:rPr lang="en-US" dirty="0"/>
              <a:t>I     B   U    T    E    D    I    S    T    R</a:t>
            </a:r>
          </a:p>
          <a:p>
            <a:pPr algn="just"/>
            <a:r>
              <a:rPr lang="en-US" dirty="0"/>
              <a:t>I   B	    U	   T	   E	 D	I	S	T	R</a:t>
            </a:r>
          </a:p>
        </p:txBody>
      </p:sp>
      <p:sp>
        <p:nvSpPr>
          <p:cNvPr id="4" name="Arrow: Curved Down 3">
            <a:extLst>
              <a:ext uri="{FF2B5EF4-FFF2-40B4-BE49-F238E27FC236}">
                <a16:creationId xmlns:a16="http://schemas.microsoft.com/office/drawing/2014/main" xmlns="" id="{F841E5AC-556A-D1B7-3569-6991D7FA2327}"/>
              </a:ext>
            </a:extLst>
          </p:cNvPr>
          <p:cNvSpPr/>
          <p:nvPr/>
        </p:nvSpPr>
        <p:spPr>
          <a:xfrm>
            <a:off x="725389" y="3664124"/>
            <a:ext cx="2763246" cy="33161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Arrow: Curved Down 4">
            <a:extLst>
              <a:ext uri="{FF2B5EF4-FFF2-40B4-BE49-F238E27FC236}">
                <a16:creationId xmlns:a16="http://schemas.microsoft.com/office/drawing/2014/main" xmlns="" id="{FC9B557C-E9A4-DB2A-1F0E-462100E4C760}"/>
              </a:ext>
            </a:extLst>
          </p:cNvPr>
          <p:cNvSpPr/>
          <p:nvPr/>
        </p:nvSpPr>
        <p:spPr>
          <a:xfrm>
            <a:off x="1265415" y="3664124"/>
            <a:ext cx="2763246" cy="33161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Arrow: Curved Down 5">
            <a:extLst>
              <a:ext uri="{FF2B5EF4-FFF2-40B4-BE49-F238E27FC236}">
                <a16:creationId xmlns:a16="http://schemas.microsoft.com/office/drawing/2014/main" xmlns="" id="{1C403D5E-D5CE-1747-FF93-29DF65E0FFF0}"/>
              </a:ext>
            </a:extLst>
          </p:cNvPr>
          <p:cNvSpPr/>
          <p:nvPr/>
        </p:nvSpPr>
        <p:spPr>
          <a:xfrm>
            <a:off x="1754957" y="3664123"/>
            <a:ext cx="2763246" cy="33161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Arrow: Curved Down 6">
            <a:extLst>
              <a:ext uri="{FF2B5EF4-FFF2-40B4-BE49-F238E27FC236}">
                <a16:creationId xmlns:a16="http://schemas.microsoft.com/office/drawing/2014/main" xmlns="" id="{71E585AE-421D-BA3A-8A00-243FF3A1CB0F}"/>
              </a:ext>
            </a:extLst>
          </p:cNvPr>
          <p:cNvSpPr/>
          <p:nvPr/>
        </p:nvSpPr>
        <p:spPr>
          <a:xfrm>
            <a:off x="2294983" y="3687364"/>
            <a:ext cx="2763246" cy="33161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Arrow: Curved Down 7">
            <a:extLst>
              <a:ext uri="{FF2B5EF4-FFF2-40B4-BE49-F238E27FC236}">
                <a16:creationId xmlns:a16="http://schemas.microsoft.com/office/drawing/2014/main" xmlns="" id="{B1262FB4-0A2C-8355-ACD1-965F953A9620}"/>
              </a:ext>
            </a:extLst>
          </p:cNvPr>
          <p:cNvSpPr/>
          <p:nvPr/>
        </p:nvSpPr>
        <p:spPr>
          <a:xfrm>
            <a:off x="2835009" y="3640882"/>
            <a:ext cx="2763246" cy="33161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9" name="Straight Connector 8">
            <a:extLst>
              <a:ext uri="{FF2B5EF4-FFF2-40B4-BE49-F238E27FC236}">
                <a16:creationId xmlns:a16="http://schemas.microsoft.com/office/drawing/2014/main" xmlns="" id="{F671A773-63B5-EDC8-361A-03177050CE3F}"/>
              </a:ext>
            </a:extLst>
          </p:cNvPr>
          <p:cNvCxnSpPr>
            <a:cxnSpLocks/>
          </p:cNvCxnSpPr>
          <p:nvPr/>
        </p:nvCxnSpPr>
        <p:spPr>
          <a:xfrm>
            <a:off x="705511" y="5125276"/>
            <a:ext cx="226628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6A4AA1E4-DBE6-ABA7-4FFB-818043D5FA12}"/>
              </a:ext>
            </a:extLst>
          </p:cNvPr>
          <p:cNvCxnSpPr>
            <a:cxnSpLocks/>
          </p:cNvCxnSpPr>
          <p:nvPr/>
        </p:nvCxnSpPr>
        <p:spPr>
          <a:xfrm>
            <a:off x="3331966" y="5125276"/>
            <a:ext cx="226628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xmlns="" id="{55996C63-BFCD-35D8-1C86-328264041424}"/>
              </a:ext>
            </a:extLst>
          </p:cNvPr>
          <p:cNvCxnSpPr/>
          <p:nvPr/>
        </p:nvCxnSpPr>
        <p:spPr>
          <a:xfrm>
            <a:off x="705511" y="5893904"/>
            <a:ext cx="291233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xmlns="" id="{B14FD8E7-77BC-3525-09F6-E7A6D7C147B6}"/>
              </a:ext>
            </a:extLst>
          </p:cNvPr>
          <p:cNvSpPr/>
          <p:nvPr/>
        </p:nvSpPr>
        <p:spPr>
          <a:xfrm>
            <a:off x="3331966" y="5380283"/>
            <a:ext cx="514477"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828799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IN" dirty="0"/>
              <a:t>Letter-word</a:t>
            </a:r>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lnSpcReduction="10000"/>
          </a:bodyPr>
          <a:lstStyle/>
          <a:p>
            <a:pPr algn="just"/>
            <a:r>
              <a:rPr lang="en-US" dirty="0"/>
              <a:t>How many independent words can ‘HEARTLESS’ be divided into without changing the order of the letters and using each letter only once?</a:t>
            </a:r>
          </a:p>
          <a:p>
            <a:pPr algn="just"/>
            <a:r>
              <a:rPr lang="en-US" dirty="0"/>
              <a:t>HEARTLESS </a:t>
            </a:r>
          </a:p>
          <a:p>
            <a:pPr algn="just"/>
            <a:r>
              <a:rPr lang="en-US" dirty="0"/>
              <a:t>HE	ART	LESS </a:t>
            </a:r>
          </a:p>
          <a:p>
            <a:pPr algn="just"/>
            <a:r>
              <a:rPr lang="en-US" dirty="0"/>
              <a:t>HE </a:t>
            </a:r>
          </a:p>
          <a:p>
            <a:pPr algn="just"/>
            <a:r>
              <a:rPr lang="en-US" dirty="0"/>
              <a:t>ART </a:t>
            </a:r>
          </a:p>
          <a:p>
            <a:pPr algn="just"/>
            <a:r>
              <a:rPr lang="en-US" dirty="0"/>
              <a:t>LESS</a:t>
            </a:r>
          </a:p>
        </p:txBody>
      </p:sp>
      <p:sp>
        <p:nvSpPr>
          <p:cNvPr id="6" name="Oval 5">
            <a:extLst>
              <a:ext uri="{FF2B5EF4-FFF2-40B4-BE49-F238E27FC236}">
                <a16:creationId xmlns:a16="http://schemas.microsoft.com/office/drawing/2014/main" xmlns="" id="{714CBCF5-000E-B305-FB73-05D1CA60ACA8}"/>
              </a:ext>
            </a:extLst>
          </p:cNvPr>
          <p:cNvSpPr/>
          <p:nvPr/>
        </p:nvSpPr>
        <p:spPr>
          <a:xfrm>
            <a:off x="628523" y="3879475"/>
            <a:ext cx="514477"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xmlns="" id="{AB6CE72A-D69F-588A-6B6C-B61BC964AB3F}"/>
              </a:ext>
            </a:extLst>
          </p:cNvPr>
          <p:cNvSpPr/>
          <p:nvPr/>
        </p:nvSpPr>
        <p:spPr>
          <a:xfrm>
            <a:off x="1277879" y="3879475"/>
            <a:ext cx="799399"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xmlns="" id="{C2421774-B15E-0D9A-7E62-11627561974F}"/>
              </a:ext>
            </a:extLst>
          </p:cNvPr>
          <p:cNvSpPr/>
          <p:nvPr/>
        </p:nvSpPr>
        <p:spPr>
          <a:xfrm>
            <a:off x="2212157" y="3879474"/>
            <a:ext cx="958426"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841632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IN" dirty="0"/>
              <a:t>Letter-word</a:t>
            </a:r>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US" dirty="0"/>
              <a:t>Which letter in the word ‘SELFRIGHTEOUSNESS’ does not change its position when the letters are reversed? </a:t>
            </a:r>
          </a:p>
          <a:p>
            <a:pPr algn="just"/>
            <a:r>
              <a:rPr lang="en-US" dirty="0"/>
              <a:t>SELFRIGHTEOUSNESS</a:t>
            </a:r>
          </a:p>
          <a:p>
            <a:pPr algn="just"/>
            <a:r>
              <a:rPr lang="en-US" dirty="0"/>
              <a:t>SELFRIGH		T	EOUSNESS</a:t>
            </a:r>
          </a:p>
          <a:p>
            <a:pPr algn="just"/>
            <a:r>
              <a:rPr lang="en-US" dirty="0"/>
              <a:t>SSENSUOE	T	HGIRFLES</a:t>
            </a:r>
          </a:p>
        </p:txBody>
      </p:sp>
      <p:sp>
        <p:nvSpPr>
          <p:cNvPr id="6" name="Oval 5">
            <a:extLst>
              <a:ext uri="{FF2B5EF4-FFF2-40B4-BE49-F238E27FC236}">
                <a16:creationId xmlns:a16="http://schemas.microsoft.com/office/drawing/2014/main" xmlns="" id="{FB8EB2C7-82D4-7E71-7CE0-E09F8A9783F7}"/>
              </a:ext>
            </a:extLst>
          </p:cNvPr>
          <p:cNvSpPr/>
          <p:nvPr/>
        </p:nvSpPr>
        <p:spPr>
          <a:xfrm>
            <a:off x="2758809" y="3508514"/>
            <a:ext cx="958426" cy="118597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950515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t>Rule Detection</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IN" dirty="0"/>
              <a:t>Number of letters skipped in between adjacent letters in the series increases by one. Which of the following observe the given rule?</a:t>
            </a:r>
          </a:p>
          <a:p>
            <a:pPr algn="just"/>
            <a:r>
              <a:rPr lang="en-IN" dirty="0"/>
              <a:t>AEIMQ	ACFJO	EHKNQ	DINSX	</a:t>
            </a:r>
          </a:p>
          <a:p>
            <a:pPr algn="just"/>
            <a:r>
              <a:rPr lang="en-IN" dirty="0"/>
              <a:t>ABCDEFGHIJKLMNOPQRSTUVWXYZ</a:t>
            </a:r>
          </a:p>
          <a:p>
            <a:pPr algn="just"/>
            <a:endParaRPr lang="en-IN" dirty="0"/>
          </a:p>
          <a:p>
            <a:pPr algn="just"/>
            <a:r>
              <a:rPr lang="en-IN" dirty="0"/>
              <a:t>ACFJO</a:t>
            </a:r>
          </a:p>
        </p:txBody>
      </p:sp>
      <p:sp>
        <p:nvSpPr>
          <p:cNvPr id="7" name="Arrow: Curved Down 6">
            <a:extLst>
              <a:ext uri="{FF2B5EF4-FFF2-40B4-BE49-F238E27FC236}">
                <a16:creationId xmlns:a16="http://schemas.microsoft.com/office/drawing/2014/main" xmlns="" id="{68557A03-EFF6-E26C-78B1-C403EC41F0BE}"/>
              </a:ext>
            </a:extLst>
          </p:cNvPr>
          <p:cNvSpPr/>
          <p:nvPr/>
        </p:nvSpPr>
        <p:spPr>
          <a:xfrm>
            <a:off x="725389" y="4005470"/>
            <a:ext cx="517002" cy="14613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Arrow: Curved Down 7">
            <a:extLst>
              <a:ext uri="{FF2B5EF4-FFF2-40B4-BE49-F238E27FC236}">
                <a16:creationId xmlns:a16="http://schemas.microsoft.com/office/drawing/2014/main" xmlns="" id="{66EF139B-E8DA-03D2-A105-35F37B3417D5}"/>
              </a:ext>
            </a:extLst>
          </p:cNvPr>
          <p:cNvSpPr/>
          <p:nvPr/>
        </p:nvSpPr>
        <p:spPr>
          <a:xfrm>
            <a:off x="1252330" y="4005471"/>
            <a:ext cx="596347" cy="146132"/>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Arrow: Curved Down 8">
            <a:extLst>
              <a:ext uri="{FF2B5EF4-FFF2-40B4-BE49-F238E27FC236}">
                <a16:creationId xmlns:a16="http://schemas.microsoft.com/office/drawing/2014/main" xmlns="" id="{EA5B9C55-51BB-F786-A145-A3822C035BD4}"/>
              </a:ext>
            </a:extLst>
          </p:cNvPr>
          <p:cNvSpPr/>
          <p:nvPr/>
        </p:nvSpPr>
        <p:spPr>
          <a:xfrm>
            <a:off x="1848677" y="3995737"/>
            <a:ext cx="682655" cy="15607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xmlns="" id="{D32EF2AF-7E80-3C45-6DC7-DA744DED9670}"/>
              </a:ext>
            </a:extLst>
          </p:cNvPr>
          <p:cNvSpPr/>
          <p:nvPr/>
        </p:nvSpPr>
        <p:spPr>
          <a:xfrm>
            <a:off x="2541271" y="3979532"/>
            <a:ext cx="1046755" cy="172071"/>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TextBox 10">
            <a:extLst>
              <a:ext uri="{FF2B5EF4-FFF2-40B4-BE49-F238E27FC236}">
                <a16:creationId xmlns:a16="http://schemas.microsoft.com/office/drawing/2014/main" xmlns="" id="{82913813-EE0B-5043-0E21-6E5EC9B252F1}"/>
              </a:ext>
            </a:extLst>
          </p:cNvPr>
          <p:cNvSpPr txBox="1"/>
          <p:nvPr/>
        </p:nvSpPr>
        <p:spPr>
          <a:xfrm>
            <a:off x="725388" y="4681330"/>
            <a:ext cx="526941" cy="461665"/>
          </a:xfrm>
          <a:prstGeom prst="rect">
            <a:avLst/>
          </a:prstGeom>
          <a:noFill/>
        </p:spPr>
        <p:txBody>
          <a:bodyPr wrap="square" rtlCol="0">
            <a:spAutoFit/>
          </a:bodyPr>
          <a:lstStyle/>
          <a:p>
            <a:r>
              <a:rPr lang="en-US" sz="2400" dirty="0"/>
              <a:t>+1</a:t>
            </a:r>
            <a:endParaRPr lang="en-IN" sz="2400" dirty="0"/>
          </a:p>
        </p:txBody>
      </p:sp>
      <p:sp>
        <p:nvSpPr>
          <p:cNvPr id="12" name="TextBox 11">
            <a:extLst>
              <a:ext uri="{FF2B5EF4-FFF2-40B4-BE49-F238E27FC236}">
                <a16:creationId xmlns:a16="http://schemas.microsoft.com/office/drawing/2014/main" xmlns="" id="{C9210B53-06A8-E103-0620-B910E8C7A47B}"/>
              </a:ext>
            </a:extLst>
          </p:cNvPr>
          <p:cNvSpPr txBox="1"/>
          <p:nvPr/>
        </p:nvSpPr>
        <p:spPr>
          <a:xfrm>
            <a:off x="1321736" y="4681329"/>
            <a:ext cx="526941" cy="461665"/>
          </a:xfrm>
          <a:prstGeom prst="rect">
            <a:avLst/>
          </a:prstGeom>
          <a:noFill/>
        </p:spPr>
        <p:txBody>
          <a:bodyPr wrap="square" rtlCol="0">
            <a:spAutoFit/>
          </a:bodyPr>
          <a:lstStyle/>
          <a:p>
            <a:r>
              <a:rPr lang="en-US" sz="2400" dirty="0"/>
              <a:t>+2</a:t>
            </a:r>
            <a:endParaRPr lang="en-IN" sz="2400" dirty="0"/>
          </a:p>
        </p:txBody>
      </p:sp>
      <p:sp>
        <p:nvSpPr>
          <p:cNvPr id="13" name="TextBox 12">
            <a:extLst>
              <a:ext uri="{FF2B5EF4-FFF2-40B4-BE49-F238E27FC236}">
                <a16:creationId xmlns:a16="http://schemas.microsoft.com/office/drawing/2014/main" xmlns="" id="{02D3C501-111A-FCC7-390D-C6FE0A98161D}"/>
              </a:ext>
            </a:extLst>
          </p:cNvPr>
          <p:cNvSpPr txBox="1"/>
          <p:nvPr/>
        </p:nvSpPr>
        <p:spPr>
          <a:xfrm>
            <a:off x="1918084" y="4681328"/>
            <a:ext cx="526941" cy="461665"/>
          </a:xfrm>
          <a:prstGeom prst="rect">
            <a:avLst/>
          </a:prstGeom>
          <a:noFill/>
        </p:spPr>
        <p:txBody>
          <a:bodyPr wrap="square" rtlCol="0">
            <a:spAutoFit/>
          </a:bodyPr>
          <a:lstStyle/>
          <a:p>
            <a:r>
              <a:rPr lang="en-US" sz="2400" dirty="0"/>
              <a:t>+3</a:t>
            </a:r>
            <a:endParaRPr lang="en-IN" sz="2400" dirty="0"/>
          </a:p>
        </p:txBody>
      </p:sp>
      <p:sp>
        <p:nvSpPr>
          <p:cNvPr id="14" name="TextBox 13">
            <a:extLst>
              <a:ext uri="{FF2B5EF4-FFF2-40B4-BE49-F238E27FC236}">
                <a16:creationId xmlns:a16="http://schemas.microsoft.com/office/drawing/2014/main" xmlns="" id="{026732B8-30B7-4B9C-9F41-408AB0F80ED4}"/>
              </a:ext>
            </a:extLst>
          </p:cNvPr>
          <p:cNvSpPr txBox="1"/>
          <p:nvPr/>
        </p:nvSpPr>
        <p:spPr>
          <a:xfrm>
            <a:off x="2847309" y="4681328"/>
            <a:ext cx="526941" cy="461665"/>
          </a:xfrm>
          <a:prstGeom prst="rect">
            <a:avLst/>
          </a:prstGeom>
          <a:noFill/>
        </p:spPr>
        <p:txBody>
          <a:bodyPr wrap="square" rtlCol="0">
            <a:spAutoFit/>
          </a:bodyPr>
          <a:lstStyle/>
          <a:p>
            <a:r>
              <a:rPr lang="en-US" sz="2400" dirty="0"/>
              <a:t>+4</a:t>
            </a:r>
            <a:endParaRPr lang="en-IN" sz="2400" dirty="0"/>
          </a:p>
        </p:txBody>
      </p:sp>
    </p:spTree>
    <p:extLst>
      <p:ext uri="{BB962C8B-B14F-4D97-AF65-F5344CB8AC3E}">
        <p14:creationId xmlns:p14="http://schemas.microsoft.com/office/powerpoint/2010/main" val="35348555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t>Rule Detection</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IN" dirty="0"/>
              <a:t>Select a series from the given series in which letters are not according to a general rule.</a:t>
            </a:r>
          </a:p>
          <a:p>
            <a:pPr algn="just"/>
            <a:r>
              <a:rPr lang="en-IN" dirty="0"/>
              <a:t>PRTVXZ	CEGIKM	ZBDFHJ	MORTVX</a:t>
            </a:r>
          </a:p>
          <a:p>
            <a:pPr algn="just"/>
            <a:r>
              <a:rPr lang="en-IN" dirty="0"/>
              <a:t>PRTVXZ - P</a:t>
            </a:r>
            <a:r>
              <a:rPr lang="en-IN" dirty="0">
                <a:solidFill>
                  <a:srgbClr val="FF0000"/>
                </a:solidFill>
              </a:rPr>
              <a:t>Q</a:t>
            </a:r>
            <a:r>
              <a:rPr lang="en-IN" dirty="0"/>
              <a:t>R</a:t>
            </a:r>
            <a:r>
              <a:rPr lang="en-IN" dirty="0">
                <a:solidFill>
                  <a:srgbClr val="FF0000"/>
                </a:solidFill>
              </a:rPr>
              <a:t>S</a:t>
            </a:r>
            <a:r>
              <a:rPr lang="en-IN" dirty="0"/>
              <a:t>T</a:t>
            </a:r>
            <a:r>
              <a:rPr lang="en-IN" dirty="0">
                <a:solidFill>
                  <a:srgbClr val="FF0000"/>
                </a:solidFill>
              </a:rPr>
              <a:t>U</a:t>
            </a:r>
            <a:r>
              <a:rPr lang="en-IN" dirty="0"/>
              <a:t>V</a:t>
            </a:r>
            <a:r>
              <a:rPr lang="en-IN" dirty="0">
                <a:solidFill>
                  <a:srgbClr val="FF0000"/>
                </a:solidFill>
              </a:rPr>
              <a:t>W</a:t>
            </a:r>
            <a:r>
              <a:rPr lang="en-IN" dirty="0"/>
              <a:t>X</a:t>
            </a:r>
            <a:r>
              <a:rPr lang="en-IN" dirty="0">
                <a:solidFill>
                  <a:srgbClr val="FF0000"/>
                </a:solidFill>
              </a:rPr>
              <a:t>Y</a:t>
            </a:r>
            <a:r>
              <a:rPr lang="en-IN" dirty="0"/>
              <a:t>Z</a:t>
            </a:r>
          </a:p>
          <a:p>
            <a:pPr algn="just"/>
            <a:r>
              <a:rPr lang="en-IN" dirty="0"/>
              <a:t>CEGIKM – C</a:t>
            </a:r>
            <a:r>
              <a:rPr lang="en-IN" dirty="0">
                <a:solidFill>
                  <a:srgbClr val="FF0000"/>
                </a:solidFill>
              </a:rPr>
              <a:t>D</a:t>
            </a:r>
            <a:r>
              <a:rPr lang="en-IN" dirty="0"/>
              <a:t>E</a:t>
            </a:r>
            <a:r>
              <a:rPr lang="en-IN" dirty="0">
                <a:solidFill>
                  <a:srgbClr val="FF0000"/>
                </a:solidFill>
              </a:rPr>
              <a:t>F</a:t>
            </a:r>
            <a:r>
              <a:rPr lang="en-IN" dirty="0"/>
              <a:t>G</a:t>
            </a:r>
            <a:r>
              <a:rPr lang="en-IN" dirty="0">
                <a:solidFill>
                  <a:srgbClr val="FF0000"/>
                </a:solidFill>
              </a:rPr>
              <a:t>H</a:t>
            </a:r>
            <a:r>
              <a:rPr lang="en-IN" dirty="0"/>
              <a:t>I</a:t>
            </a:r>
            <a:r>
              <a:rPr lang="en-IN" dirty="0">
                <a:solidFill>
                  <a:srgbClr val="FF0000"/>
                </a:solidFill>
              </a:rPr>
              <a:t>J</a:t>
            </a:r>
            <a:r>
              <a:rPr lang="en-IN" dirty="0"/>
              <a:t>K</a:t>
            </a:r>
            <a:r>
              <a:rPr lang="en-IN" dirty="0">
                <a:solidFill>
                  <a:srgbClr val="FF0000"/>
                </a:solidFill>
              </a:rPr>
              <a:t>L</a:t>
            </a:r>
            <a:r>
              <a:rPr lang="en-IN" dirty="0"/>
              <a:t>M</a:t>
            </a:r>
          </a:p>
          <a:p>
            <a:pPr algn="just"/>
            <a:r>
              <a:rPr lang="en-IN" dirty="0"/>
              <a:t>ZBDFHJ - Z</a:t>
            </a:r>
            <a:r>
              <a:rPr lang="en-IN" dirty="0">
                <a:solidFill>
                  <a:srgbClr val="FF0000"/>
                </a:solidFill>
              </a:rPr>
              <a:t>A</a:t>
            </a:r>
            <a:r>
              <a:rPr lang="en-IN" dirty="0"/>
              <a:t>B</a:t>
            </a:r>
            <a:r>
              <a:rPr lang="en-IN" dirty="0">
                <a:solidFill>
                  <a:srgbClr val="FF0000"/>
                </a:solidFill>
              </a:rPr>
              <a:t>C</a:t>
            </a:r>
            <a:r>
              <a:rPr lang="en-IN" dirty="0"/>
              <a:t>D</a:t>
            </a:r>
            <a:r>
              <a:rPr lang="en-IN" dirty="0">
                <a:solidFill>
                  <a:srgbClr val="FF0000"/>
                </a:solidFill>
              </a:rPr>
              <a:t>E</a:t>
            </a:r>
            <a:r>
              <a:rPr lang="en-IN" dirty="0"/>
              <a:t>F</a:t>
            </a:r>
            <a:r>
              <a:rPr lang="en-IN" dirty="0">
                <a:solidFill>
                  <a:srgbClr val="FF0000"/>
                </a:solidFill>
              </a:rPr>
              <a:t>G</a:t>
            </a:r>
            <a:r>
              <a:rPr lang="en-IN" dirty="0"/>
              <a:t>H</a:t>
            </a:r>
            <a:r>
              <a:rPr lang="en-IN" dirty="0">
                <a:solidFill>
                  <a:srgbClr val="FF0000"/>
                </a:solidFill>
              </a:rPr>
              <a:t>I</a:t>
            </a:r>
            <a:r>
              <a:rPr lang="en-IN" dirty="0"/>
              <a:t>J</a:t>
            </a:r>
          </a:p>
          <a:p>
            <a:pPr algn="just"/>
            <a:r>
              <a:rPr lang="en-IN" dirty="0"/>
              <a:t>MORTVX - M</a:t>
            </a:r>
            <a:r>
              <a:rPr lang="en-IN" dirty="0">
                <a:solidFill>
                  <a:srgbClr val="FF0000"/>
                </a:solidFill>
              </a:rPr>
              <a:t>N</a:t>
            </a:r>
            <a:r>
              <a:rPr lang="en-IN" dirty="0"/>
              <a:t>O</a:t>
            </a:r>
            <a:r>
              <a:rPr lang="en-IN" dirty="0">
                <a:solidFill>
                  <a:srgbClr val="FF0000"/>
                </a:solidFill>
              </a:rPr>
              <a:t>PQ</a:t>
            </a:r>
            <a:r>
              <a:rPr lang="en-IN" dirty="0"/>
              <a:t>R</a:t>
            </a:r>
            <a:r>
              <a:rPr lang="en-IN" dirty="0">
                <a:solidFill>
                  <a:srgbClr val="FF0000"/>
                </a:solidFill>
              </a:rPr>
              <a:t>S</a:t>
            </a:r>
            <a:r>
              <a:rPr lang="en-IN" dirty="0"/>
              <a:t>T</a:t>
            </a:r>
            <a:r>
              <a:rPr lang="en-IN" dirty="0">
                <a:solidFill>
                  <a:srgbClr val="FF0000"/>
                </a:solidFill>
              </a:rPr>
              <a:t>U</a:t>
            </a:r>
            <a:r>
              <a:rPr lang="en-IN" dirty="0"/>
              <a:t>V</a:t>
            </a:r>
            <a:r>
              <a:rPr lang="en-IN" dirty="0">
                <a:solidFill>
                  <a:srgbClr val="FF0000"/>
                </a:solidFill>
              </a:rPr>
              <a:t>W</a:t>
            </a:r>
            <a:r>
              <a:rPr lang="en-IN" dirty="0"/>
              <a:t>X</a:t>
            </a:r>
          </a:p>
        </p:txBody>
      </p:sp>
      <p:sp>
        <p:nvSpPr>
          <p:cNvPr id="4" name="Oval 3">
            <a:extLst>
              <a:ext uri="{FF2B5EF4-FFF2-40B4-BE49-F238E27FC236}">
                <a16:creationId xmlns:a16="http://schemas.microsoft.com/office/drawing/2014/main" xmlns="" id="{D63C57B0-3B9E-A88C-50BA-A878634DE691}"/>
              </a:ext>
            </a:extLst>
          </p:cNvPr>
          <p:cNvSpPr/>
          <p:nvPr/>
        </p:nvSpPr>
        <p:spPr>
          <a:xfrm>
            <a:off x="5720669" y="2683566"/>
            <a:ext cx="1674043" cy="6361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271986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t>Rule Detection</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lnSpcReduction="10000"/>
          </a:bodyPr>
          <a:lstStyle/>
          <a:p>
            <a:r>
              <a:rPr lang="en-IN" dirty="0"/>
              <a:t>Number of letters skipped in between adjacent letters in the series are consecutive even numbers. Which of the following observe this rule?</a:t>
            </a:r>
          </a:p>
          <a:p>
            <a:r>
              <a:rPr lang="en-IN" dirty="0"/>
              <a:t>ADIPY	CDFIM		DFJPX		GIMSZ</a:t>
            </a:r>
          </a:p>
          <a:p>
            <a:r>
              <a:rPr lang="en-IN" dirty="0"/>
              <a:t>ADIPY	-	A</a:t>
            </a:r>
            <a:r>
              <a:rPr lang="en-IN" dirty="0">
                <a:solidFill>
                  <a:srgbClr val="FF0000"/>
                </a:solidFill>
              </a:rPr>
              <a:t>BC</a:t>
            </a:r>
            <a:r>
              <a:rPr lang="en-IN" dirty="0"/>
              <a:t>D</a:t>
            </a:r>
            <a:r>
              <a:rPr lang="en-IN" dirty="0">
                <a:solidFill>
                  <a:srgbClr val="FF0000"/>
                </a:solidFill>
              </a:rPr>
              <a:t>EFGH</a:t>
            </a:r>
            <a:r>
              <a:rPr lang="en-IN" dirty="0"/>
              <a:t>I</a:t>
            </a:r>
            <a:r>
              <a:rPr lang="en-IN" dirty="0">
                <a:solidFill>
                  <a:srgbClr val="FF0000"/>
                </a:solidFill>
              </a:rPr>
              <a:t>JKLMNO</a:t>
            </a:r>
            <a:r>
              <a:rPr lang="en-IN" dirty="0"/>
              <a:t>P</a:t>
            </a:r>
            <a:r>
              <a:rPr lang="en-IN" dirty="0">
                <a:solidFill>
                  <a:srgbClr val="FF0000"/>
                </a:solidFill>
              </a:rPr>
              <a:t>QRSTUVWX</a:t>
            </a:r>
            <a:r>
              <a:rPr lang="en-IN" dirty="0"/>
              <a:t>Y</a:t>
            </a:r>
          </a:p>
          <a:p>
            <a:r>
              <a:rPr lang="en-IN" dirty="0"/>
              <a:t>CDFIM	-	CD</a:t>
            </a:r>
            <a:r>
              <a:rPr lang="en-IN" dirty="0">
                <a:solidFill>
                  <a:srgbClr val="FF0000"/>
                </a:solidFill>
              </a:rPr>
              <a:t>E</a:t>
            </a:r>
            <a:r>
              <a:rPr lang="en-IN" dirty="0"/>
              <a:t>F</a:t>
            </a:r>
            <a:r>
              <a:rPr lang="en-IN" dirty="0">
                <a:solidFill>
                  <a:srgbClr val="FF0000"/>
                </a:solidFill>
              </a:rPr>
              <a:t>GH</a:t>
            </a:r>
            <a:r>
              <a:rPr lang="en-IN" dirty="0"/>
              <a:t>I</a:t>
            </a:r>
            <a:r>
              <a:rPr lang="en-IN" dirty="0">
                <a:solidFill>
                  <a:srgbClr val="FF0000"/>
                </a:solidFill>
              </a:rPr>
              <a:t>JKL</a:t>
            </a:r>
            <a:r>
              <a:rPr lang="en-IN" dirty="0"/>
              <a:t>M</a:t>
            </a:r>
          </a:p>
          <a:p>
            <a:r>
              <a:rPr lang="en-IN" dirty="0"/>
              <a:t>DFJPX	-	D</a:t>
            </a:r>
            <a:r>
              <a:rPr lang="en-IN" dirty="0">
                <a:solidFill>
                  <a:srgbClr val="FF0000"/>
                </a:solidFill>
              </a:rPr>
              <a:t>E</a:t>
            </a:r>
            <a:r>
              <a:rPr lang="en-IN" dirty="0"/>
              <a:t>F</a:t>
            </a:r>
            <a:r>
              <a:rPr lang="en-IN" dirty="0">
                <a:solidFill>
                  <a:srgbClr val="FF0000"/>
                </a:solidFill>
              </a:rPr>
              <a:t>GHI</a:t>
            </a:r>
            <a:r>
              <a:rPr lang="en-IN" dirty="0"/>
              <a:t>J</a:t>
            </a:r>
            <a:r>
              <a:rPr lang="en-IN" dirty="0">
                <a:solidFill>
                  <a:srgbClr val="FF0000"/>
                </a:solidFill>
              </a:rPr>
              <a:t>KLMNO</a:t>
            </a:r>
            <a:r>
              <a:rPr lang="en-IN" dirty="0"/>
              <a:t>P</a:t>
            </a:r>
            <a:r>
              <a:rPr lang="en-IN" dirty="0">
                <a:solidFill>
                  <a:srgbClr val="FF0000"/>
                </a:solidFill>
              </a:rPr>
              <a:t>QRSTUVW</a:t>
            </a:r>
            <a:r>
              <a:rPr lang="en-IN" dirty="0"/>
              <a:t>X	</a:t>
            </a:r>
          </a:p>
          <a:p>
            <a:r>
              <a:rPr lang="en-IN" dirty="0"/>
              <a:t>GIMSZ	-	G</a:t>
            </a:r>
            <a:r>
              <a:rPr lang="en-IN" dirty="0">
                <a:solidFill>
                  <a:srgbClr val="FF0000"/>
                </a:solidFill>
              </a:rPr>
              <a:t>H</a:t>
            </a:r>
            <a:r>
              <a:rPr lang="en-IN" dirty="0"/>
              <a:t>I</a:t>
            </a:r>
            <a:r>
              <a:rPr lang="en-IN" dirty="0">
                <a:solidFill>
                  <a:srgbClr val="FF0000"/>
                </a:solidFill>
              </a:rPr>
              <a:t>JKL</a:t>
            </a:r>
            <a:r>
              <a:rPr lang="en-IN" dirty="0"/>
              <a:t>M</a:t>
            </a:r>
            <a:r>
              <a:rPr lang="en-IN" dirty="0">
                <a:solidFill>
                  <a:srgbClr val="FF0000"/>
                </a:solidFill>
              </a:rPr>
              <a:t>NOPQR</a:t>
            </a:r>
            <a:r>
              <a:rPr lang="en-IN" dirty="0"/>
              <a:t>S</a:t>
            </a:r>
            <a:r>
              <a:rPr lang="en-IN" dirty="0">
                <a:solidFill>
                  <a:srgbClr val="FF0000"/>
                </a:solidFill>
              </a:rPr>
              <a:t>TUVWXY</a:t>
            </a:r>
            <a:r>
              <a:rPr lang="en-IN" dirty="0"/>
              <a:t>Z	</a:t>
            </a:r>
          </a:p>
          <a:p>
            <a:endParaRPr lang="en-IN" dirty="0"/>
          </a:p>
        </p:txBody>
      </p:sp>
      <p:sp>
        <p:nvSpPr>
          <p:cNvPr id="4" name="Oval 3">
            <a:extLst>
              <a:ext uri="{FF2B5EF4-FFF2-40B4-BE49-F238E27FC236}">
                <a16:creationId xmlns:a16="http://schemas.microsoft.com/office/drawing/2014/main" xmlns="" id="{C4745782-D3D7-BA82-9234-345A5E1157A1}"/>
              </a:ext>
            </a:extLst>
          </p:cNvPr>
          <p:cNvSpPr/>
          <p:nvPr/>
        </p:nvSpPr>
        <p:spPr>
          <a:xfrm>
            <a:off x="602017" y="3110948"/>
            <a:ext cx="1157209" cy="6361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575903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t>Rule Detection</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lnSpcReduction="10000"/>
          </a:bodyPr>
          <a:lstStyle/>
          <a:p>
            <a:pPr algn="just"/>
            <a:r>
              <a:rPr lang="en-IN" dirty="0"/>
              <a:t>Number of letters skipped in between adjacent letters in the series starting from behind are increased  by one. Which of the following observe this rule?</a:t>
            </a:r>
          </a:p>
          <a:p>
            <a:pPr algn="just"/>
            <a:r>
              <a:rPr lang="en-IN" dirty="0"/>
              <a:t>OMKIG	OIGDC		ONLKJ	OMJFA</a:t>
            </a:r>
          </a:p>
          <a:p>
            <a:pPr algn="just"/>
            <a:r>
              <a:rPr lang="en-IN" dirty="0"/>
              <a:t>OMKIG 	-	O</a:t>
            </a:r>
            <a:r>
              <a:rPr lang="en-IN" dirty="0">
                <a:solidFill>
                  <a:srgbClr val="FF0000"/>
                </a:solidFill>
              </a:rPr>
              <a:t>N</a:t>
            </a:r>
            <a:r>
              <a:rPr lang="en-IN" dirty="0"/>
              <a:t>M</a:t>
            </a:r>
            <a:r>
              <a:rPr lang="en-IN" dirty="0">
                <a:solidFill>
                  <a:srgbClr val="FF0000"/>
                </a:solidFill>
              </a:rPr>
              <a:t>L</a:t>
            </a:r>
            <a:r>
              <a:rPr lang="en-IN" dirty="0"/>
              <a:t>K</a:t>
            </a:r>
            <a:r>
              <a:rPr lang="en-IN" dirty="0">
                <a:solidFill>
                  <a:srgbClr val="FF0000"/>
                </a:solidFill>
              </a:rPr>
              <a:t>J</a:t>
            </a:r>
            <a:r>
              <a:rPr lang="en-IN" dirty="0"/>
              <a:t>I</a:t>
            </a:r>
            <a:r>
              <a:rPr lang="en-IN" dirty="0">
                <a:solidFill>
                  <a:srgbClr val="FF0000"/>
                </a:solidFill>
              </a:rPr>
              <a:t>H</a:t>
            </a:r>
            <a:r>
              <a:rPr lang="en-IN" dirty="0"/>
              <a:t>G 	</a:t>
            </a:r>
          </a:p>
          <a:p>
            <a:pPr algn="just"/>
            <a:r>
              <a:rPr lang="en-IN" dirty="0"/>
              <a:t>OIGDC	-	O</a:t>
            </a:r>
            <a:r>
              <a:rPr lang="en-IN" dirty="0">
                <a:solidFill>
                  <a:srgbClr val="FF0000"/>
                </a:solidFill>
              </a:rPr>
              <a:t>NMLKJ</a:t>
            </a:r>
            <a:r>
              <a:rPr lang="en-IN" dirty="0"/>
              <a:t>I</a:t>
            </a:r>
            <a:r>
              <a:rPr lang="en-IN" dirty="0">
                <a:solidFill>
                  <a:srgbClr val="FF0000"/>
                </a:solidFill>
              </a:rPr>
              <a:t>H</a:t>
            </a:r>
            <a:r>
              <a:rPr lang="en-IN" dirty="0"/>
              <a:t>G</a:t>
            </a:r>
            <a:r>
              <a:rPr lang="en-IN" dirty="0">
                <a:solidFill>
                  <a:srgbClr val="FF0000"/>
                </a:solidFill>
              </a:rPr>
              <a:t>FE</a:t>
            </a:r>
            <a:r>
              <a:rPr lang="en-IN" dirty="0"/>
              <a:t>DC </a:t>
            </a:r>
          </a:p>
          <a:p>
            <a:pPr algn="just"/>
            <a:r>
              <a:rPr lang="en-IN" dirty="0"/>
              <a:t>ONLKJ	-	ON</a:t>
            </a:r>
            <a:r>
              <a:rPr lang="en-IN" dirty="0">
                <a:solidFill>
                  <a:srgbClr val="FF0000"/>
                </a:solidFill>
              </a:rPr>
              <a:t>M</a:t>
            </a:r>
            <a:r>
              <a:rPr lang="en-IN" dirty="0"/>
              <a:t>LKJ</a:t>
            </a:r>
          </a:p>
          <a:p>
            <a:pPr algn="just"/>
            <a:r>
              <a:rPr lang="en-IN" dirty="0"/>
              <a:t>OMJFA 	-	O</a:t>
            </a:r>
            <a:r>
              <a:rPr lang="en-IN" dirty="0">
                <a:solidFill>
                  <a:srgbClr val="FF0000"/>
                </a:solidFill>
              </a:rPr>
              <a:t>N</a:t>
            </a:r>
            <a:r>
              <a:rPr lang="en-IN" dirty="0"/>
              <a:t>M</a:t>
            </a:r>
            <a:r>
              <a:rPr lang="en-IN" dirty="0">
                <a:solidFill>
                  <a:srgbClr val="FF0000"/>
                </a:solidFill>
              </a:rPr>
              <a:t>LK</a:t>
            </a:r>
            <a:r>
              <a:rPr lang="en-IN" dirty="0"/>
              <a:t>J</a:t>
            </a:r>
            <a:r>
              <a:rPr lang="en-IN" dirty="0">
                <a:solidFill>
                  <a:srgbClr val="FF0000"/>
                </a:solidFill>
              </a:rPr>
              <a:t>IHG</a:t>
            </a:r>
            <a:r>
              <a:rPr lang="en-IN" dirty="0"/>
              <a:t>F</a:t>
            </a:r>
            <a:r>
              <a:rPr lang="en-IN" dirty="0">
                <a:solidFill>
                  <a:srgbClr val="FF0000"/>
                </a:solidFill>
              </a:rPr>
              <a:t>EDCB</a:t>
            </a:r>
            <a:r>
              <a:rPr lang="en-IN" dirty="0"/>
              <a:t>A </a:t>
            </a:r>
          </a:p>
        </p:txBody>
      </p:sp>
      <p:sp>
        <p:nvSpPr>
          <p:cNvPr id="4" name="Oval 3">
            <a:extLst>
              <a:ext uri="{FF2B5EF4-FFF2-40B4-BE49-F238E27FC236}">
                <a16:creationId xmlns:a16="http://schemas.microsoft.com/office/drawing/2014/main" xmlns="" id="{C0ACDA19-C8F7-6FDF-AFD0-88BEB9FF63D7}"/>
              </a:ext>
            </a:extLst>
          </p:cNvPr>
          <p:cNvSpPr/>
          <p:nvPr/>
        </p:nvSpPr>
        <p:spPr>
          <a:xfrm>
            <a:off x="6784156" y="3110948"/>
            <a:ext cx="1157209" cy="6361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270827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US" dirty="0"/>
              <a:t>Rule Detection</a:t>
            </a:r>
            <a:endParaRPr lang="en-IN" dirty="0"/>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fontScale="92500"/>
          </a:bodyPr>
          <a:lstStyle/>
          <a:p>
            <a:pPr algn="just"/>
            <a:r>
              <a:rPr lang="en-IN" dirty="0"/>
              <a:t>Number of letters skipped in between adjacent letters in the series are followed by equal space. Which of the following observe this rule?</a:t>
            </a:r>
          </a:p>
          <a:p>
            <a:pPr algn="just"/>
            <a:r>
              <a:rPr lang="en-IN" dirty="0"/>
              <a:t>SUXADF	RVZDHL	HKNGSW	RVZDFG</a:t>
            </a:r>
          </a:p>
          <a:p>
            <a:pPr algn="just"/>
            <a:r>
              <a:rPr lang="en-IN" dirty="0"/>
              <a:t>SUXADF	-	A</a:t>
            </a:r>
            <a:r>
              <a:rPr lang="en-IN" dirty="0">
                <a:solidFill>
                  <a:srgbClr val="FF0000"/>
                </a:solidFill>
              </a:rPr>
              <a:t>BC</a:t>
            </a:r>
            <a:r>
              <a:rPr lang="en-IN" dirty="0"/>
              <a:t>D</a:t>
            </a:r>
            <a:r>
              <a:rPr lang="en-IN" dirty="0">
                <a:solidFill>
                  <a:srgbClr val="FF0000"/>
                </a:solidFill>
              </a:rPr>
              <a:t>E</a:t>
            </a:r>
            <a:r>
              <a:rPr lang="en-IN" dirty="0"/>
              <a:t>FGHIJKLMNOPQRS</a:t>
            </a:r>
            <a:r>
              <a:rPr lang="en-IN" dirty="0">
                <a:solidFill>
                  <a:srgbClr val="FF0000"/>
                </a:solidFill>
              </a:rPr>
              <a:t>T</a:t>
            </a:r>
            <a:r>
              <a:rPr lang="en-IN" dirty="0"/>
              <a:t>U</a:t>
            </a:r>
            <a:r>
              <a:rPr lang="en-IN" dirty="0">
                <a:solidFill>
                  <a:srgbClr val="FF0000"/>
                </a:solidFill>
              </a:rPr>
              <a:t>VW</a:t>
            </a:r>
            <a:r>
              <a:rPr lang="en-IN" dirty="0"/>
              <a:t>X</a:t>
            </a:r>
            <a:r>
              <a:rPr lang="en-IN" dirty="0">
                <a:solidFill>
                  <a:srgbClr val="FF0000"/>
                </a:solidFill>
              </a:rPr>
              <a:t>YZ</a:t>
            </a:r>
          </a:p>
          <a:p>
            <a:pPr algn="just"/>
            <a:r>
              <a:rPr lang="en-IN" dirty="0"/>
              <a:t>RVZDHL	- 	</a:t>
            </a:r>
            <a:r>
              <a:rPr lang="en-IN" dirty="0">
                <a:solidFill>
                  <a:srgbClr val="FF0000"/>
                </a:solidFill>
              </a:rPr>
              <a:t>ABC</a:t>
            </a:r>
            <a:r>
              <a:rPr lang="en-IN" dirty="0"/>
              <a:t>D</a:t>
            </a:r>
            <a:r>
              <a:rPr lang="en-IN" dirty="0">
                <a:solidFill>
                  <a:srgbClr val="FF0000"/>
                </a:solidFill>
              </a:rPr>
              <a:t>EFG</a:t>
            </a:r>
            <a:r>
              <a:rPr lang="en-IN" dirty="0"/>
              <a:t>H</a:t>
            </a:r>
            <a:r>
              <a:rPr lang="en-IN" dirty="0">
                <a:solidFill>
                  <a:srgbClr val="FF0000"/>
                </a:solidFill>
              </a:rPr>
              <a:t>IJK</a:t>
            </a:r>
            <a:r>
              <a:rPr lang="en-IN" dirty="0"/>
              <a:t>LMNOPQR</a:t>
            </a:r>
            <a:r>
              <a:rPr lang="en-IN" dirty="0">
                <a:solidFill>
                  <a:srgbClr val="FF0000"/>
                </a:solidFill>
              </a:rPr>
              <a:t>STU</a:t>
            </a:r>
            <a:r>
              <a:rPr lang="en-IN" dirty="0"/>
              <a:t>V</a:t>
            </a:r>
            <a:r>
              <a:rPr lang="en-IN" dirty="0">
                <a:solidFill>
                  <a:srgbClr val="FF0000"/>
                </a:solidFill>
              </a:rPr>
              <a:t>WXY</a:t>
            </a:r>
            <a:r>
              <a:rPr lang="en-IN" dirty="0"/>
              <a:t>Z</a:t>
            </a:r>
          </a:p>
          <a:p>
            <a:pPr algn="just"/>
            <a:r>
              <a:rPr lang="en-IN" dirty="0"/>
              <a:t>HKNGSW	-	ABCDEFGH</a:t>
            </a:r>
            <a:r>
              <a:rPr lang="en-IN" dirty="0">
                <a:solidFill>
                  <a:srgbClr val="FF0000"/>
                </a:solidFill>
              </a:rPr>
              <a:t>IJ</a:t>
            </a:r>
            <a:r>
              <a:rPr lang="en-IN" dirty="0"/>
              <a:t>K</a:t>
            </a:r>
            <a:r>
              <a:rPr lang="en-IN" dirty="0">
                <a:solidFill>
                  <a:srgbClr val="FF0000"/>
                </a:solidFill>
              </a:rPr>
              <a:t>LM</a:t>
            </a:r>
            <a:r>
              <a:rPr lang="en-IN" dirty="0"/>
              <a:t>NOPQRS</a:t>
            </a:r>
            <a:r>
              <a:rPr lang="en-IN" dirty="0">
                <a:solidFill>
                  <a:srgbClr val="FF0000"/>
                </a:solidFill>
              </a:rPr>
              <a:t>TUV</a:t>
            </a:r>
            <a:r>
              <a:rPr lang="en-IN" dirty="0"/>
              <a:t>WXYZ</a:t>
            </a:r>
          </a:p>
          <a:p>
            <a:pPr algn="just"/>
            <a:r>
              <a:rPr lang="en-IN" dirty="0"/>
              <a:t>RVZDFG	-	</a:t>
            </a:r>
            <a:r>
              <a:rPr lang="en-IN" dirty="0">
                <a:solidFill>
                  <a:srgbClr val="FF0000"/>
                </a:solidFill>
              </a:rPr>
              <a:t>ABC</a:t>
            </a:r>
            <a:r>
              <a:rPr lang="en-IN" dirty="0"/>
              <a:t>D</a:t>
            </a:r>
            <a:r>
              <a:rPr lang="en-IN" dirty="0">
                <a:solidFill>
                  <a:srgbClr val="FF0000"/>
                </a:solidFill>
              </a:rPr>
              <a:t>E</a:t>
            </a:r>
            <a:r>
              <a:rPr lang="en-IN" dirty="0"/>
              <a:t>FGHIJKLMNOPQR</a:t>
            </a:r>
            <a:r>
              <a:rPr lang="en-IN" dirty="0">
                <a:solidFill>
                  <a:srgbClr val="FF0000"/>
                </a:solidFill>
              </a:rPr>
              <a:t>STU</a:t>
            </a:r>
            <a:r>
              <a:rPr lang="en-IN" dirty="0"/>
              <a:t>V</a:t>
            </a:r>
            <a:r>
              <a:rPr lang="en-IN" dirty="0">
                <a:solidFill>
                  <a:srgbClr val="FF0000"/>
                </a:solidFill>
              </a:rPr>
              <a:t>WXY</a:t>
            </a:r>
            <a:r>
              <a:rPr lang="en-IN" dirty="0"/>
              <a:t>Z</a:t>
            </a:r>
          </a:p>
        </p:txBody>
      </p:sp>
      <p:sp>
        <p:nvSpPr>
          <p:cNvPr id="4" name="Oval 3">
            <a:extLst>
              <a:ext uri="{FF2B5EF4-FFF2-40B4-BE49-F238E27FC236}">
                <a16:creationId xmlns:a16="http://schemas.microsoft.com/office/drawing/2014/main" xmlns="" id="{9D11A847-0727-8C76-8EB7-4A6BEE64AED2}"/>
              </a:ext>
            </a:extLst>
          </p:cNvPr>
          <p:cNvSpPr/>
          <p:nvPr/>
        </p:nvSpPr>
        <p:spPr>
          <a:xfrm>
            <a:off x="2172400" y="3110948"/>
            <a:ext cx="1385809" cy="6361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Curved Down 4">
            <a:extLst>
              <a:ext uri="{FF2B5EF4-FFF2-40B4-BE49-F238E27FC236}">
                <a16:creationId xmlns:a16="http://schemas.microsoft.com/office/drawing/2014/main" xmlns="" id="{0194658B-2DF0-46F8-F9E9-ABD73023C672}"/>
              </a:ext>
            </a:extLst>
          </p:cNvPr>
          <p:cNvSpPr/>
          <p:nvPr/>
        </p:nvSpPr>
        <p:spPr>
          <a:xfrm>
            <a:off x="4484905" y="4992604"/>
            <a:ext cx="2532121" cy="33161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9621413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IN" dirty="0"/>
              <a:t>Alphabetical Quibble</a:t>
            </a:r>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US" dirty="0"/>
              <a:t>Alphabets</a:t>
            </a:r>
          </a:p>
          <a:p>
            <a:pPr algn="just"/>
            <a:r>
              <a:rPr lang="en-US" dirty="0"/>
              <a:t>Position of Letter – Puzzle</a:t>
            </a:r>
          </a:p>
          <a:p>
            <a:pPr algn="just"/>
            <a:r>
              <a:rPr lang="en-US" dirty="0"/>
              <a:t>Find Letter</a:t>
            </a:r>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34800177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IN" dirty="0"/>
              <a:t>Alphabetical Quibble</a:t>
            </a:r>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US" dirty="0"/>
              <a:t>In the following series, which letter is eight to the left of sixteenth letter from the left end?</a:t>
            </a:r>
          </a:p>
          <a:p>
            <a:pPr algn="just"/>
            <a:r>
              <a:rPr lang="en-IN" dirty="0"/>
              <a:t>ABCDEFGHIJKLMNOPQRSTUVWXYZ</a:t>
            </a:r>
          </a:p>
          <a:p>
            <a:pPr algn="just"/>
            <a:endParaRPr lang="en-IN" dirty="0"/>
          </a:p>
          <a:p>
            <a:pPr algn="just"/>
            <a:r>
              <a:rPr lang="en-IN" dirty="0"/>
              <a:t>ABCDEFGHIJKLMNOPQRSTUVWXYZ</a:t>
            </a:r>
          </a:p>
          <a:p>
            <a:pPr algn="just"/>
            <a:r>
              <a:rPr lang="en-IN" dirty="0"/>
              <a:t>H</a:t>
            </a:r>
          </a:p>
          <a:p>
            <a:endParaRPr lang="en-IN" dirty="0"/>
          </a:p>
          <a:p>
            <a:endParaRPr lang="en-IN" dirty="0"/>
          </a:p>
          <a:p>
            <a:endParaRPr lang="en-IN" dirty="0"/>
          </a:p>
          <a:p>
            <a:endParaRPr lang="en-US" dirty="0"/>
          </a:p>
        </p:txBody>
      </p:sp>
      <p:sp>
        <p:nvSpPr>
          <p:cNvPr id="4" name="Arrow: Curved Down 3">
            <a:extLst>
              <a:ext uri="{FF2B5EF4-FFF2-40B4-BE49-F238E27FC236}">
                <a16:creationId xmlns:a16="http://schemas.microsoft.com/office/drawing/2014/main" xmlns="" id="{AAC79B67-4340-80A4-E8DA-DBF66FF84428}"/>
              </a:ext>
            </a:extLst>
          </p:cNvPr>
          <p:cNvSpPr/>
          <p:nvPr/>
        </p:nvSpPr>
        <p:spPr>
          <a:xfrm flipH="1">
            <a:off x="2087806" y="3885792"/>
            <a:ext cx="1551095" cy="33161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5" name="Straight Arrow Connector 4">
            <a:extLst>
              <a:ext uri="{FF2B5EF4-FFF2-40B4-BE49-F238E27FC236}">
                <a16:creationId xmlns:a16="http://schemas.microsoft.com/office/drawing/2014/main" xmlns="" id="{590EAE83-E439-80FD-F2CA-E3B2666D45F3}"/>
              </a:ext>
            </a:extLst>
          </p:cNvPr>
          <p:cNvCxnSpPr>
            <a:cxnSpLocks/>
          </p:cNvCxnSpPr>
          <p:nvPr/>
        </p:nvCxnSpPr>
        <p:spPr>
          <a:xfrm>
            <a:off x="715449" y="4631635"/>
            <a:ext cx="316081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xmlns="" id="{7FFB47E6-03C6-53F3-F805-7D1D951A395F}"/>
              </a:ext>
            </a:extLst>
          </p:cNvPr>
          <p:cNvSpPr/>
          <p:nvPr/>
        </p:nvSpPr>
        <p:spPr>
          <a:xfrm>
            <a:off x="2087806" y="4187588"/>
            <a:ext cx="257239" cy="467139"/>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xmlns="" id="{950DCD99-766A-252B-92C0-37DDBA1AEE36}"/>
              </a:ext>
            </a:extLst>
          </p:cNvPr>
          <p:cNvCxnSpPr>
            <a:cxnSpLocks/>
          </p:cNvCxnSpPr>
          <p:nvPr/>
        </p:nvCxnSpPr>
        <p:spPr>
          <a:xfrm flipH="1">
            <a:off x="2186609" y="4217405"/>
            <a:ext cx="1580321"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50558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IN" dirty="0"/>
              <a:t>Alphabetical Quibble</a:t>
            </a:r>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US" dirty="0"/>
              <a:t>In the following series, which letter is eight to the right of sixteenth letter from the left end?</a:t>
            </a:r>
          </a:p>
          <a:p>
            <a:pPr algn="just"/>
            <a:r>
              <a:rPr lang="en-IN" dirty="0"/>
              <a:t>ABCDEFGHIJKLMNOPQRSTUVWXYZ</a:t>
            </a:r>
          </a:p>
          <a:p>
            <a:pPr algn="just"/>
            <a:endParaRPr lang="en-IN" dirty="0"/>
          </a:p>
          <a:p>
            <a:pPr algn="just"/>
            <a:r>
              <a:rPr lang="en-IN" dirty="0"/>
              <a:t>ABCDEFGHIJKLMNOPQRSTUVWXYZ</a:t>
            </a:r>
          </a:p>
          <a:p>
            <a:pPr algn="just"/>
            <a:r>
              <a:rPr lang="en-IN" dirty="0"/>
              <a:t>X</a:t>
            </a:r>
          </a:p>
          <a:p>
            <a:endParaRPr lang="en-IN" dirty="0"/>
          </a:p>
          <a:p>
            <a:endParaRPr lang="en-IN" dirty="0"/>
          </a:p>
          <a:p>
            <a:endParaRPr lang="en-IN" dirty="0"/>
          </a:p>
          <a:p>
            <a:endParaRPr lang="en-US" dirty="0"/>
          </a:p>
        </p:txBody>
      </p:sp>
      <p:sp>
        <p:nvSpPr>
          <p:cNvPr id="4" name="Arrow: Curved Down 3">
            <a:extLst>
              <a:ext uri="{FF2B5EF4-FFF2-40B4-BE49-F238E27FC236}">
                <a16:creationId xmlns:a16="http://schemas.microsoft.com/office/drawing/2014/main" xmlns="" id="{BE1A3383-B138-898C-A45F-48899454F659}"/>
              </a:ext>
            </a:extLst>
          </p:cNvPr>
          <p:cNvSpPr/>
          <p:nvPr/>
        </p:nvSpPr>
        <p:spPr>
          <a:xfrm>
            <a:off x="3770482" y="3885792"/>
            <a:ext cx="1851514" cy="33161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5" name="Straight Arrow Connector 4">
            <a:extLst>
              <a:ext uri="{FF2B5EF4-FFF2-40B4-BE49-F238E27FC236}">
                <a16:creationId xmlns:a16="http://schemas.microsoft.com/office/drawing/2014/main" xmlns="" id="{4A326D8A-7C9D-2EA4-60FC-E50321F4BBAB}"/>
              </a:ext>
            </a:extLst>
          </p:cNvPr>
          <p:cNvCxnSpPr>
            <a:cxnSpLocks/>
          </p:cNvCxnSpPr>
          <p:nvPr/>
        </p:nvCxnSpPr>
        <p:spPr>
          <a:xfrm>
            <a:off x="715449" y="4631635"/>
            <a:ext cx="316081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xmlns="" id="{737E3EB7-F05A-A3D7-77BB-01FFF52F7B17}"/>
              </a:ext>
            </a:extLst>
          </p:cNvPr>
          <p:cNvSpPr/>
          <p:nvPr/>
        </p:nvSpPr>
        <p:spPr>
          <a:xfrm>
            <a:off x="5364757" y="4217405"/>
            <a:ext cx="257239" cy="467139"/>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xmlns="" id="{F727A9FE-1F42-E596-FEB1-4F709B644332}"/>
              </a:ext>
            </a:extLst>
          </p:cNvPr>
          <p:cNvCxnSpPr>
            <a:cxnSpLocks/>
          </p:cNvCxnSpPr>
          <p:nvPr/>
        </p:nvCxnSpPr>
        <p:spPr>
          <a:xfrm>
            <a:off x="3876261" y="4217405"/>
            <a:ext cx="1628840"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88093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IN" dirty="0"/>
              <a:t>Alphabetical Quibble</a:t>
            </a:r>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US" dirty="0"/>
              <a:t>In the following series, which letter is tenth to the left of eight letter from the right end?</a:t>
            </a:r>
          </a:p>
          <a:p>
            <a:pPr algn="just"/>
            <a:r>
              <a:rPr lang="en-IN" dirty="0"/>
              <a:t>ABCDEFGHIJKLMNOPQRSTUVWXYZ</a:t>
            </a:r>
          </a:p>
          <a:p>
            <a:pPr algn="just"/>
            <a:endParaRPr lang="en-IN" dirty="0"/>
          </a:p>
          <a:p>
            <a:pPr algn="just"/>
            <a:r>
              <a:rPr lang="en-IN" dirty="0"/>
              <a:t>ABCDEFGHIJKLMNOPQRSTUVWXYZ</a:t>
            </a:r>
          </a:p>
          <a:p>
            <a:pPr algn="just"/>
            <a:r>
              <a:rPr lang="en-IN" dirty="0"/>
              <a:t>I</a:t>
            </a:r>
          </a:p>
          <a:p>
            <a:endParaRPr lang="en-US" dirty="0"/>
          </a:p>
        </p:txBody>
      </p:sp>
      <p:sp>
        <p:nvSpPr>
          <p:cNvPr id="4" name="Arrow: Curved Down 3">
            <a:extLst>
              <a:ext uri="{FF2B5EF4-FFF2-40B4-BE49-F238E27FC236}">
                <a16:creationId xmlns:a16="http://schemas.microsoft.com/office/drawing/2014/main" xmlns="" id="{9187B0C9-484D-C59A-FB4A-FBA27EE2373A}"/>
              </a:ext>
            </a:extLst>
          </p:cNvPr>
          <p:cNvSpPr/>
          <p:nvPr/>
        </p:nvSpPr>
        <p:spPr>
          <a:xfrm flipH="1">
            <a:off x="2345045" y="3934877"/>
            <a:ext cx="2118214" cy="33161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5" name="Straight Arrow Connector 4">
            <a:extLst>
              <a:ext uri="{FF2B5EF4-FFF2-40B4-BE49-F238E27FC236}">
                <a16:creationId xmlns:a16="http://schemas.microsoft.com/office/drawing/2014/main" xmlns="" id="{988330EB-BBAA-7F67-DA4E-AD3638A4B2D3}"/>
              </a:ext>
            </a:extLst>
          </p:cNvPr>
          <p:cNvCxnSpPr>
            <a:cxnSpLocks/>
          </p:cNvCxnSpPr>
          <p:nvPr/>
        </p:nvCxnSpPr>
        <p:spPr>
          <a:xfrm flipH="1">
            <a:off x="4353339" y="4654727"/>
            <a:ext cx="155033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xmlns="" id="{DAFC8DC5-06D2-1DC2-AC88-529E099AA5F9}"/>
              </a:ext>
            </a:extLst>
          </p:cNvPr>
          <p:cNvSpPr/>
          <p:nvPr/>
        </p:nvSpPr>
        <p:spPr>
          <a:xfrm>
            <a:off x="2271386" y="4187588"/>
            <a:ext cx="257239" cy="467139"/>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xmlns="" id="{5E52A4A1-FB3E-E934-30D1-84E30AFA767A}"/>
              </a:ext>
            </a:extLst>
          </p:cNvPr>
          <p:cNvCxnSpPr>
            <a:cxnSpLocks/>
          </p:cNvCxnSpPr>
          <p:nvPr/>
        </p:nvCxnSpPr>
        <p:spPr>
          <a:xfrm flipH="1">
            <a:off x="2454965" y="4230558"/>
            <a:ext cx="1898374"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87291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IN" dirty="0"/>
              <a:t>Alphabetical Quibble</a:t>
            </a:r>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US" dirty="0"/>
              <a:t>In the following series, which letter is fourth to the right of thirteenth letter from the right end?</a:t>
            </a:r>
          </a:p>
          <a:p>
            <a:pPr algn="just"/>
            <a:r>
              <a:rPr lang="en-IN" dirty="0"/>
              <a:t>ABCDEFGHIJKLMNOPQRSTUVWXYZ</a:t>
            </a:r>
          </a:p>
          <a:p>
            <a:pPr algn="just"/>
            <a:endParaRPr lang="en-IN" dirty="0"/>
          </a:p>
          <a:p>
            <a:pPr algn="just"/>
            <a:r>
              <a:rPr lang="en-IN" dirty="0"/>
              <a:t>ABCDEFGHIJKLMNOPQRSTUVWXYZ</a:t>
            </a:r>
          </a:p>
          <a:p>
            <a:pPr algn="just"/>
            <a:r>
              <a:rPr lang="en-IN" dirty="0"/>
              <a:t>R</a:t>
            </a:r>
          </a:p>
          <a:p>
            <a:endParaRPr lang="en-IN" dirty="0"/>
          </a:p>
          <a:p>
            <a:endParaRPr lang="en-IN" dirty="0"/>
          </a:p>
          <a:p>
            <a:endParaRPr lang="en-IN" dirty="0"/>
          </a:p>
          <a:p>
            <a:endParaRPr lang="en-US" dirty="0"/>
          </a:p>
        </p:txBody>
      </p:sp>
      <p:cxnSp>
        <p:nvCxnSpPr>
          <p:cNvPr id="6" name="Straight Arrow Connector 5">
            <a:extLst>
              <a:ext uri="{FF2B5EF4-FFF2-40B4-BE49-F238E27FC236}">
                <a16:creationId xmlns:a16="http://schemas.microsoft.com/office/drawing/2014/main" xmlns="" id="{C2243A2B-D8D9-8DF0-6729-CEA846A247D7}"/>
              </a:ext>
            </a:extLst>
          </p:cNvPr>
          <p:cNvCxnSpPr>
            <a:cxnSpLocks/>
          </p:cNvCxnSpPr>
          <p:nvPr/>
        </p:nvCxnSpPr>
        <p:spPr>
          <a:xfrm flipH="1">
            <a:off x="3349487" y="4654727"/>
            <a:ext cx="255418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xmlns="" id="{320ECF1F-9DCF-9B69-3C24-633FDF91A8E4}"/>
              </a:ext>
            </a:extLst>
          </p:cNvPr>
          <p:cNvCxnSpPr>
            <a:cxnSpLocks/>
          </p:cNvCxnSpPr>
          <p:nvPr/>
        </p:nvCxnSpPr>
        <p:spPr>
          <a:xfrm>
            <a:off x="3309731" y="4167709"/>
            <a:ext cx="964096"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 name="Arrow: Curved Down 9">
            <a:extLst>
              <a:ext uri="{FF2B5EF4-FFF2-40B4-BE49-F238E27FC236}">
                <a16:creationId xmlns:a16="http://schemas.microsoft.com/office/drawing/2014/main" xmlns="" id="{3CA485B3-D6FE-8448-2838-8F8BA63268C1}"/>
              </a:ext>
            </a:extLst>
          </p:cNvPr>
          <p:cNvSpPr/>
          <p:nvPr/>
        </p:nvSpPr>
        <p:spPr>
          <a:xfrm>
            <a:off x="3213891" y="3855975"/>
            <a:ext cx="1153179" cy="33161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Oval 10">
            <a:extLst>
              <a:ext uri="{FF2B5EF4-FFF2-40B4-BE49-F238E27FC236}">
                <a16:creationId xmlns:a16="http://schemas.microsoft.com/office/drawing/2014/main" xmlns="" id="{F1007EBC-F495-45A4-133C-1638D986AF07}"/>
              </a:ext>
            </a:extLst>
          </p:cNvPr>
          <p:cNvSpPr/>
          <p:nvPr/>
        </p:nvSpPr>
        <p:spPr>
          <a:xfrm>
            <a:off x="4109831" y="4187588"/>
            <a:ext cx="257239" cy="467139"/>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971886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IN" dirty="0"/>
              <a:t>Alphabetical Quibble</a:t>
            </a:r>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pPr algn="just"/>
            <a:r>
              <a:rPr lang="en-US" dirty="0"/>
              <a:t>If in the English alphabet every third letter is replaced by the symbol (*), which of the following would be sixth letter to the right of the eleventh element from the left? </a:t>
            </a:r>
          </a:p>
          <a:p>
            <a:pPr algn="just"/>
            <a:r>
              <a:rPr lang="en-IN" dirty="0"/>
              <a:t>ABCDEFGHIJKLMNOPQRSTUVWXYZ</a:t>
            </a:r>
          </a:p>
          <a:p>
            <a:pPr algn="just"/>
            <a:r>
              <a:rPr lang="en-IN" dirty="0"/>
              <a:t>AB*DE*GH*JK*MN*PQ*ST*VW*YZ</a:t>
            </a:r>
          </a:p>
          <a:p>
            <a:pPr algn="just"/>
            <a:r>
              <a:rPr lang="en-US" dirty="0"/>
              <a:t>Q</a:t>
            </a:r>
          </a:p>
          <a:p>
            <a:endParaRPr lang="en-IN" dirty="0"/>
          </a:p>
          <a:p>
            <a:endParaRPr lang="en-IN" dirty="0"/>
          </a:p>
          <a:p>
            <a:endParaRPr lang="en-IN" dirty="0"/>
          </a:p>
          <a:p>
            <a:endParaRPr lang="en-US" dirty="0"/>
          </a:p>
        </p:txBody>
      </p:sp>
      <p:cxnSp>
        <p:nvCxnSpPr>
          <p:cNvPr id="4" name="Straight Arrow Connector 3">
            <a:extLst>
              <a:ext uri="{FF2B5EF4-FFF2-40B4-BE49-F238E27FC236}">
                <a16:creationId xmlns:a16="http://schemas.microsoft.com/office/drawing/2014/main" xmlns="" id="{0B01A8F2-6BA5-62A4-8A0A-69853D4EB707}"/>
              </a:ext>
            </a:extLst>
          </p:cNvPr>
          <p:cNvCxnSpPr>
            <a:cxnSpLocks/>
          </p:cNvCxnSpPr>
          <p:nvPr/>
        </p:nvCxnSpPr>
        <p:spPr>
          <a:xfrm>
            <a:off x="655814" y="5108713"/>
            <a:ext cx="212714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Arrow: Curved Down 5">
            <a:extLst>
              <a:ext uri="{FF2B5EF4-FFF2-40B4-BE49-F238E27FC236}">
                <a16:creationId xmlns:a16="http://schemas.microsoft.com/office/drawing/2014/main" xmlns="" id="{03319034-2142-6132-D77D-CD535DECC17F}"/>
              </a:ext>
            </a:extLst>
          </p:cNvPr>
          <p:cNvSpPr/>
          <p:nvPr/>
        </p:nvSpPr>
        <p:spPr>
          <a:xfrm>
            <a:off x="2647360" y="4392687"/>
            <a:ext cx="1324740" cy="331613"/>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Oval 6">
            <a:extLst>
              <a:ext uri="{FF2B5EF4-FFF2-40B4-BE49-F238E27FC236}">
                <a16:creationId xmlns:a16="http://schemas.microsoft.com/office/drawing/2014/main" xmlns="" id="{FDED7F0A-EA38-5AD1-22EE-35984642D7CB}"/>
              </a:ext>
            </a:extLst>
          </p:cNvPr>
          <p:cNvSpPr/>
          <p:nvPr/>
        </p:nvSpPr>
        <p:spPr>
          <a:xfrm>
            <a:off x="3714861" y="4724300"/>
            <a:ext cx="257239" cy="467139"/>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xmlns="" id="{2873C446-86CE-C7A0-0012-239B9A596EEC}"/>
              </a:ext>
            </a:extLst>
          </p:cNvPr>
          <p:cNvCxnSpPr>
            <a:cxnSpLocks/>
          </p:cNvCxnSpPr>
          <p:nvPr/>
        </p:nvCxnSpPr>
        <p:spPr>
          <a:xfrm>
            <a:off x="2663688" y="4724300"/>
            <a:ext cx="1218961"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8230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6DCD6C-D6E3-5745-9B8B-29FBD6B23758}"/>
              </a:ext>
            </a:extLst>
          </p:cNvPr>
          <p:cNvSpPr>
            <a:spLocks noGrp="1"/>
          </p:cNvSpPr>
          <p:nvPr>
            <p:ph type="title"/>
          </p:nvPr>
        </p:nvSpPr>
        <p:spPr/>
        <p:txBody>
          <a:bodyPr/>
          <a:lstStyle/>
          <a:p>
            <a:r>
              <a:rPr lang="en-IN" dirty="0"/>
              <a:t>Alphabetical Quibble</a:t>
            </a:r>
          </a:p>
        </p:txBody>
      </p:sp>
      <p:sp>
        <p:nvSpPr>
          <p:cNvPr id="3" name="Content Placeholder 2">
            <a:extLst>
              <a:ext uri="{FF2B5EF4-FFF2-40B4-BE49-F238E27FC236}">
                <a16:creationId xmlns:a16="http://schemas.microsoft.com/office/drawing/2014/main" xmlns="" id="{D8CE2440-CE6E-EB7D-9926-EB6B212AC9FD}"/>
              </a:ext>
            </a:extLst>
          </p:cNvPr>
          <p:cNvSpPr>
            <a:spLocks noGrp="1"/>
          </p:cNvSpPr>
          <p:nvPr>
            <p:ph idx="1"/>
          </p:nvPr>
        </p:nvSpPr>
        <p:spPr/>
        <p:txBody>
          <a:bodyPr>
            <a:normAutofit/>
          </a:bodyPr>
          <a:lstStyle/>
          <a:p>
            <a:r>
              <a:rPr lang="en-US" dirty="0"/>
              <a:t>How many A’s are there in the following series which are immediately followed by H but not immediately preceded by D?</a:t>
            </a:r>
          </a:p>
          <a:p>
            <a:r>
              <a:rPr lang="en-IN" dirty="0"/>
              <a:t>DACHDAHNDGAHHAHDVAHZAH</a:t>
            </a:r>
          </a:p>
          <a:p>
            <a:r>
              <a:rPr lang="en-IN" dirty="0"/>
              <a:t>DACHDAHNDG</a:t>
            </a:r>
            <a:r>
              <a:rPr lang="en-IN" b="1" dirty="0"/>
              <a:t>A</a:t>
            </a:r>
            <a:r>
              <a:rPr lang="en-IN" dirty="0"/>
              <a:t>HH</a:t>
            </a:r>
            <a:r>
              <a:rPr lang="en-IN" b="1" dirty="0"/>
              <a:t>A</a:t>
            </a:r>
            <a:r>
              <a:rPr lang="en-IN" dirty="0"/>
              <a:t>HDV</a:t>
            </a:r>
            <a:r>
              <a:rPr lang="en-IN" b="1" dirty="0"/>
              <a:t>A</a:t>
            </a:r>
            <a:r>
              <a:rPr lang="en-IN" dirty="0"/>
              <a:t>HZ</a:t>
            </a:r>
            <a:r>
              <a:rPr lang="en-IN" b="1" dirty="0"/>
              <a:t>A</a:t>
            </a:r>
            <a:r>
              <a:rPr lang="en-IN" dirty="0"/>
              <a:t>H</a:t>
            </a:r>
          </a:p>
          <a:p>
            <a:r>
              <a:rPr lang="en-IN" dirty="0"/>
              <a:t>Four – A’s</a:t>
            </a:r>
          </a:p>
          <a:p>
            <a:endParaRPr lang="en-IN" dirty="0"/>
          </a:p>
          <a:p>
            <a:endParaRPr lang="en-IN" dirty="0"/>
          </a:p>
          <a:p>
            <a:endParaRPr lang="en-US" dirty="0"/>
          </a:p>
        </p:txBody>
      </p:sp>
      <p:sp>
        <p:nvSpPr>
          <p:cNvPr id="4" name="Oval 3">
            <a:extLst>
              <a:ext uri="{FF2B5EF4-FFF2-40B4-BE49-F238E27FC236}">
                <a16:creationId xmlns:a16="http://schemas.microsoft.com/office/drawing/2014/main" xmlns="" id="{575E2D03-11D7-576F-69E8-4292CD536A20}"/>
              </a:ext>
            </a:extLst>
          </p:cNvPr>
          <p:cNvSpPr/>
          <p:nvPr/>
        </p:nvSpPr>
        <p:spPr>
          <a:xfrm>
            <a:off x="2830278" y="4098135"/>
            <a:ext cx="257239"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0000"/>
              </a:solidFill>
            </a:endParaRPr>
          </a:p>
        </p:txBody>
      </p:sp>
      <p:sp>
        <p:nvSpPr>
          <p:cNvPr id="5" name="Oval 4">
            <a:extLst>
              <a:ext uri="{FF2B5EF4-FFF2-40B4-BE49-F238E27FC236}">
                <a16:creationId xmlns:a16="http://schemas.microsoft.com/office/drawing/2014/main" xmlns="" id="{FBDF9F96-F482-582A-DF4B-ED2D24A4D9D6}"/>
              </a:ext>
            </a:extLst>
          </p:cNvPr>
          <p:cNvSpPr/>
          <p:nvPr/>
        </p:nvSpPr>
        <p:spPr>
          <a:xfrm>
            <a:off x="3499512" y="4081470"/>
            <a:ext cx="257239"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0000"/>
              </a:solidFill>
            </a:endParaRPr>
          </a:p>
        </p:txBody>
      </p:sp>
      <p:sp>
        <p:nvSpPr>
          <p:cNvPr id="6" name="Oval 5">
            <a:extLst>
              <a:ext uri="{FF2B5EF4-FFF2-40B4-BE49-F238E27FC236}">
                <a16:creationId xmlns:a16="http://schemas.microsoft.com/office/drawing/2014/main" xmlns="" id="{24D66A86-292C-0505-5E35-E96B995FC21F}"/>
              </a:ext>
            </a:extLst>
          </p:cNvPr>
          <p:cNvSpPr/>
          <p:nvPr/>
        </p:nvSpPr>
        <p:spPr>
          <a:xfrm>
            <a:off x="4334639" y="4088195"/>
            <a:ext cx="257239"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0000"/>
              </a:solidFill>
            </a:endParaRPr>
          </a:p>
        </p:txBody>
      </p:sp>
      <p:sp>
        <p:nvSpPr>
          <p:cNvPr id="7" name="Oval 6">
            <a:extLst>
              <a:ext uri="{FF2B5EF4-FFF2-40B4-BE49-F238E27FC236}">
                <a16:creationId xmlns:a16="http://schemas.microsoft.com/office/drawing/2014/main" xmlns="" id="{DAEC9CEA-2FC9-2035-BC94-6E2B891473CA}"/>
              </a:ext>
            </a:extLst>
          </p:cNvPr>
          <p:cNvSpPr/>
          <p:nvPr/>
        </p:nvSpPr>
        <p:spPr>
          <a:xfrm>
            <a:off x="4954354" y="4098135"/>
            <a:ext cx="257239" cy="4671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0000"/>
              </a:solidFill>
            </a:endParaRPr>
          </a:p>
        </p:txBody>
      </p:sp>
    </p:spTree>
    <p:extLst>
      <p:ext uri="{BB962C8B-B14F-4D97-AF65-F5344CB8AC3E}">
        <p14:creationId xmlns:p14="http://schemas.microsoft.com/office/powerpoint/2010/main" val="22362232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D8110D-3A96-A423-90FF-9DF7C9E0370B}"/>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xmlns="" id="{F258A07A-7633-2901-F89A-966B0C32EEE2}"/>
              </a:ext>
            </a:extLst>
          </p:cNvPr>
          <p:cNvSpPr>
            <a:spLocks noGrp="1"/>
          </p:cNvSpPr>
          <p:nvPr>
            <p:ph idx="1"/>
          </p:nvPr>
        </p:nvSpPr>
        <p:spPr/>
        <p:txBody>
          <a:bodyPr>
            <a:normAutofit/>
          </a:bodyPr>
          <a:lstStyle/>
          <a:p>
            <a:pPr algn="just"/>
            <a:r>
              <a:rPr lang="en-US" dirty="0"/>
              <a:t>Alphabet Test</a:t>
            </a:r>
          </a:p>
          <a:p>
            <a:pPr lvl="1">
              <a:lnSpc>
                <a:spcPct val="150000"/>
              </a:lnSpc>
            </a:pPr>
            <a:r>
              <a:rPr lang="en-US" dirty="0"/>
              <a:t>Dictionary</a:t>
            </a:r>
          </a:p>
          <a:p>
            <a:pPr lvl="1">
              <a:lnSpc>
                <a:spcPct val="150000"/>
              </a:lnSpc>
            </a:pPr>
            <a:r>
              <a:rPr lang="en-US" dirty="0"/>
              <a:t>Desired Place</a:t>
            </a:r>
          </a:p>
          <a:p>
            <a:pPr lvl="1" algn="just">
              <a:lnSpc>
                <a:spcPct val="150000"/>
              </a:lnSpc>
            </a:pPr>
            <a:r>
              <a:rPr lang="en-US" dirty="0"/>
              <a:t>Middle Word</a:t>
            </a:r>
          </a:p>
          <a:p>
            <a:pPr lvl="1" algn="just">
              <a:lnSpc>
                <a:spcPct val="150000"/>
              </a:lnSpc>
            </a:pPr>
            <a:r>
              <a:rPr lang="en-US" dirty="0"/>
              <a:t>Beginning of Word - Beginning of English Alphabet</a:t>
            </a:r>
          </a:p>
        </p:txBody>
      </p:sp>
    </p:spTree>
    <p:extLst>
      <p:ext uri="{BB962C8B-B14F-4D97-AF65-F5344CB8AC3E}">
        <p14:creationId xmlns:p14="http://schemas.microsoft.com/office/powerpoint/2010/main" val="25909247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D8110D-3A96-A423-90FF-9DF7C9E0370B}"/>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xmlns="" id="{F258A07A-7633-2901-F89A-966B0C32EEE2}"/>
              </a:ext>
            </a:extLst>
          </p:cNvPr>
          <p:cNvSpPr>
            <a:spLocks noGrp="1"/>
          </p:cNvSpPr>
          <p:nvPr>
            <p:ph idx="1"/>
          </p:nvPr>
        </p:nvSpPr>
        <p:spPr/>
        <p:txBody>
          <a:bodyPr>
            <a:normAutofit/>
          </a:bodyPr>
          <a:lstStyle/>
          <a:p>
            <a:pPr algn="just"/>
            <a:r>
              <a:rPr lang="en-US" dirty="0"/>
              <a:t>Alphabet Test</a:t>
            </a:r>
          </a:p>
          <a:p>
            <a:pPr lvl="1" algn="just">
              <a:lnSpc>
                <a:spcPct val="150000"/>
              </a:lnSpc>
            </a:pPr>
            <a:r>
              <a:rPr lang="en-US" dirty="0"/>
              <a:t>Pair of Letters</a:t>
            </a:r>
          </a:p>
          <a:p>
            <a:pPr lvl="1" algn="just">
              <a:lnSpc>
                <a:spcPct val="150000"/>
              </a:lnSpc>
            </a:pPr>
            <a:r>
              <a:rPr lang="en-US" dirty="0"/>
              <a:t>Inter-change Position of Letters</a:t>
            </a:r>
          </a:p>
          <a:p>
            <a:pPr lvl="1" algn="just">
              <a:lnSpc>
                <a:spcPct val="150000"/>
              </a:lnSpc>
            </a:pPr>
            <a:r>
              <a:rPr lang="en-US" dirty="0"/>
              <a:t>No Change in Position of Letter</a:t>
            </a:r>
          </a:p>
          <a:p>
            <a:pPr lvl="1">
              <a:lnSpc>
                <a:spcPct val="150000"/>
              </a:lnSpc>
            </a:pPr>
            <a:r>
              <a:rPr lang="en-IN" dirty="0"/>
              <a:t>Identify Group of Letters -Rule </a:t>
            </a:r>
          </a:p>
          <a:p>
            <a:pPr lvl="1">
              <a:lnSpc>
                <a:spcPct val="150000"/>
              </a:lnSpc>
            </a:pPr>
            <a:r>
              <a:rPr lang="en-US" dirty="0"/>
              <a:t>Position of Letter – Find Letter</a:t>
            </a:r>
          </a:p>
        </p:txBody>
      </p:sp>
    </p:spTree>
    <p:extLst>
      <p:ext uri="{BB962C8B-B14F-4D97-AF65-F5344CB8AC3E}">
        <p14:creationId xmlns:p14="http://schemas.microsoft.com/office/powerpoint/2010/main" val="402952800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algn="just"/>
            <a:r>
              <a:rPr lang="en-US" dirty="0"/>
              <a:t>Alphabet Test</a:t>
            </a:r>
          </a:p>
          <a:p>
            <a:pPr lvl="1">
              <a:lnSpc>
                <a:spcPct val="150000"/>
              </a:lnSpc>
            </a:pPr>
            <a:r>
              <a:rPr lang="en-US" sz="2600" dirty="0"/>
              <a:t>Alphabetical Order of Words</a:t>
            </a:r>
          </a:p>
          <a:p>
            <a:pPr lvl="1">
              <a:lnSpc>
                <a:spcPct val="150000"/>
              </a:lnSpc>
            </a:pPr>
            <a:r>
              <a:rPr lang="en-US" sz="2600" dirty="0"/>
              <a:t>Letter-word Problems</a:t>
            </a:r>
          </a:p>
          <a:p>
            <a:pPr lvl="1">
              <a:lnSpc>
                <a:spcPct val="150000"/>
              </a:lnSpc>
            </a:pPr>
            <a:r>
              <a:rPr lang="en-US" sz="2600" dirty="0"/>
              <a:t>Rule Detection </a:t>
            </a:r>
          </a:p>
          <a:p>
            <a:pPr lvl="1">
              <a:lnSpc>
                <a:spcPct val="150000"/>
              </a:lnSpc>
            </a:pPr>
            <a:r>
              <a:rPr lang="en-US" sz="2600" dirty="0"/>
              <a:t>Alphabetical Quibble </a:t>
            </a:r>
          </a:p>
        </p:txBody>
      </p:sp>
    </p:spTree>
    <p:extLst>
      <p:ext uri="{BB962C8B-B14F-4D97-AF65-F5344CB8AC3E}">
        <p14:creationId xmlns:p14="http://schemas.microsoft.com/office/powerpoint/2010/main" val="241004632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02748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9257</TotalTime>
  <Words>829</Words>
  <Application>Microsoft Office PowerPoint</Application>
  <PresentationFormat>On-screen Show (4:3)</PresentationFormat>
  <Paragraphs>185</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PowerPoint Presentation</vt:lpstr>
      <vt:lpstr>Alphabet Test</vt:lpstr>
      <vt:lpstr>Types of Alphabet Test</vt:lpstr>
      <vt:lpstr>Alphabetical Order of Words</vt:lpstr>
      <vt:lpstr>Alphabetical Order of Words</vt:lpstr>
      <vt:lpstr>Alphabetical Order of Words</vt:lpstr>
      <vt:lpstr>Alphabetical Order of Words</vt:lpstr>
      <vt:lpstr>Alphabetical Order of Words</vt:lpstr>
      <vt:lpstr>Alphabetical Order of Words</vt:lpstr>
      <vt:lpstr>Letter-word</vt:lpstr>
      <vt:lpstr>Letter-word</vt:lpstr>
      <vt:lpstr>Letter-word</vt:lpstr>
      <vt:lpstr>Letter-word</vt:lpstr>
      <vt:lpstr>Rule Detection</vt:lpstr>
      <vt:lpstr>Rule Detection</vt:lpstr>
      <vt:lpstr>Rule Detection</vt:lpstr>
      <vt:lpstr>Rule Detection</vt:lpstr>
      <vt:lpstr>Rule Detection</vt:lpstr>
      <vt:lpstr>Alphabetical Quibble</vt:lpstr>
      <vt:lpstr>Alphabetical Quibble</vt:lpstr>
      <vt:lpstr>Alphabetical Quibble</vt:lpstr>
      <vt:lpstr>Alphabetical Quibble</vt:lpstr>
      <vt:lpstr>Alphabetical Quibble</vt:lpstr>
      <vt:lpstr>Alphabetical Quibble</vt:lpstr>
      <vt:lpstr>Alphabetical Quibble</vt:lpstr>
      <vt:lpstr>Conclusion</vt:lpstr>
      <vt:lpstr>Conclusion</vt:lpstr>
      <vt:lpstr>Summary</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my pc</cp:lastModifiedBy>
  <cp:revision>560</cp:revision>
  <dcterms:created xsi:type="dcterms:W3CDTF">2020-12-18T18:59:12Z</dcterms:created>
  <dcterms:modified xsi:type="dcterms:W3CDTF">2022-11-05T07:28:32Z</dcterms:modified>
</cp:coreProperties>
</file>