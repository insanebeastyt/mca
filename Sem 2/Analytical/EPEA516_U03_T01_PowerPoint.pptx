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78" r:id="rId2"/>
    <p:sldId id="279" r:id="rId3"/>
    <p:sldId id="619" r:id="rId4"/>
    <p:sldId id="617" r:id="rId5"/>
    <p:sldId id="618" r:id="rId6"/>
    <p:sldId id="620" r:id="rId7"/>
    <p:sldId id="621" r:id="rId8"/>
    <p:sldId id="622" r:id="rId9"/>
    <p:sldId id="534" r:id="rId10"/>
    <p:sldId id="625" r:id="rId11"/>
    <p:sldId id="627" r:id="rId12"/>
    <p:sldId id="640" r:id="rId13"/>
    <p:sldId id="628" r:id="rId14"/>
    <p:sldId id="641" r:id="rId15"/>
    <p:sldId id="658" r:id="rId16"/>
    <p:sldId id="629" r:id="rId17"/>
    <p:sldId id="642" r:id="rId18"/>
    <p:sldId id="637" r:id="rId19"/>
    <p:sldId id="638" r:id="rId20"/>
    <p:sldId id="643" r:id="rId21"/>
    <p:sldId id="634" r:id="rId22"/>
    <p:sldId id="636" r:id="rId23"/>
    <p:sldId id="645" r:id="rId24"/>
    <p:sldId id="656" r:id="rId25"/>
    <p:sldId id="644" r:id="rId26"/>
    <p:sldId id="646" r:id="rId27"/>
    <p:sldId id="647" r:id="rId28"/>
    <p:sldId id="660" r:id="rId29"/>
    <p:sldId id="648" r:id="rId30"/>
    <p:sldId id="651" r:id="rId31"/>
    <p:sldId id="652" r:id="rId32"/>
    <p:sldId id="653" r:id="rId33"/>
    <p:sldId id="657" r:id="rId34"/>
    <p:sldId id="654" r:id="rId35"/>
    <p:sldId id="661" r:id="rId36"/>
    <p:sldId id="649" r:id="rId37"/>
    <p:sldId id="65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US" dirty="0"/>
              <a:t>develop understanding about basics of </a:t>
            </a:r>
            <a:r>
              <a:rPr lang="en-IN" dirty="0"/>
              <a:t>speed, distance, time, average speed, and </a:t>
            </a:r>
            <a:r>
              <a:rPr lang="en-US" dirty="0"/>
              <a:t>units of measurement,</a:t>
            </a:r>
          </a:p>
          <a:p>
            <a:pPr lvl="0" algn="just"/>
            <a:r>
              <a:rPr lang="en-US" dirty="0"/>
              <a:t>derive different units, important facts and formulae relating to </a:t>
            </a:r>
            <a:r>
              <a:rPr lang="en-IN" dirty="0"/>
              <a:t>speed, distance, time, and average speed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Speed, Distance, &amp;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Length of Path</a:t>
                </a:r>
              </a:p>
              <a:p>
                <a:pPr algn="just"/>
                <a:r>
                  <a:rPr lang="en-US" dirty="0"/>
                  <a:t>Distance Covered </a:t>
                </a:r>
              </a:p>
              <a:p>
                <a:pPr algn="just"/>
                <a:r>
                  <a:rPr lang="en-US" dirty="0"/>
                  <a:t>Unit Time Interval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covered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by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the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object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Time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the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object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has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taken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to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cover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that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distance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US" dirty="0"/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ravelled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aken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31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Speed, Distance, &amp;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endParaRPr lang="en-US" dirty="0"/>
              </a:p>
              <a:p>
                <a:pPr algn="just"/>
                <a:r>
                  <a:rPr lang="en-IN" dirty="0"/>
                  <a:t>D = Distance</a:t>
                </a:r>
              </a:p>
              <a:p>
                <a:pPr algn="just"/>
                <a:r>
                  <a:rPr lang="en-IN" dirty="0"/>
                  <a:t>T = Time</a:t>
                </a:r>
              </a:p>
              <a:p>
                <a:pPr algn="just"/>
                <a:r>
                  <a:rPr lang="en-IN" dirty="0"/>
                  <a:t>S = Speed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IN" dirty="0"/>
                  <a:t>			Speed 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Distance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D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Time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IN" dirty="0"/>
                  <a:t>			Speed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/>
                      <m:t>Distance</m:t>
                    </m:r>
                  </m:oMath>
                </a14:m>
                <a:endParaRPr lang="en-IN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IN" dirty="0"/>
                  <a:t>		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Distance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0AB66B-7583-42C6-D4E7-4740DC1EA35C}"/>
              </a:ext>
            </a:extLst>
          </p:cNvPr>
          <p:cNvCxnSpPr/>
          <p:nvPr/>
        </p:nvCxnSpPr>
        <p:spPr>
          <a:xfrm>
            <a:off x="1361661" y="1639963"/>
            <a:ext cx="56851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05D6EA-EB3D-E635-A719-FE769E34AF8C}"/>
              </a:ext>
            </a:extLst>
          </p:cNvPr>
          <p:cNvSpPr txBox="1"/>
          <p:nvPr/>
        </p:nvSpPr>
        <p:spPr>
          <a:xfrm>
            <a:off x="815010" y="1434390"/>
            <a:ext cx="39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11C57-54E8-A838-698E-2C2D902192D7}"/>
              </a:ext>
            </a:extLst>
          </p:cNvPr>
          <p:cNvSpPr txBox="1"/>
          <p:nvPr/>
        </p:nvSpPr>
        <p:spPr>
          <a:xfrm>
            <a:off x="7152032" y="1390289"/>
            <a:ext cx="39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749E98-3175-CC85-27EF-56039D6FEEBF}"/>
              </a:ext>
            </a:extLst>
          </p:cNvPr>
          <p:cNvSpPr/>
          <p:nvPr/>
        </p:nvSpPr>
        <p:spPr>
          <a:xfrm>
            <a:off x="1262269" y="1601348"/>
            <a:ext cx="99391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9C1AA4-4D69-38A8-5625-73C2794DB625}"/>
              </a:ext>
            </a:extLst>
          </p:cNvPr>
          <p:cNvSpPr/>
          <p:nvPr/>
        </p:nvSpPr>
        <p:spPr>
          <a:xfrm>
            <a:off x="6997147" y="1591305"/>
            <a:ext cx="99391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38083-75CB-3351-3609-8BF2C983CA37}"/>
              </a:ext>
            </a:extLst>
          </p:cNvPr>
          <p:cNvSpPr txBox="1"/>
          <p:nvPr/>
        </p:nvSpPr>
        <p:spPr>
          <a:xfrm>
            <a:off x="3756991" y="1203558"/>
            <a:ext cx="39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endParaRPr lang="en-IN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8A6AC3-E556-F974-855F-99DC0A86602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154556" y="1434391"/>
            <a:ext cx="289228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7334EA-8FD4-960B-49CC-281CA457E295}"/>
              </a:ext>
            </a:extLst>
          </p:cNvPr>
          <p:cNvCxnSpPr>
            <a:endCxn id="10" idx="1"/>
          </p:cNvCxnSpPr>
          <p:nvPr/>
        </p:nvCxnSpPr>
        <p:spPr>
          <a:xfrm>
            <a:off x="1311964" y="1434390"/>
            <a:ext cx="244502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0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Speed, Distance, &amp;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IN" dirty="0"/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Distance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Time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IN" dirty="0"/>
                  <a:t>If Distance = Constant then 	Speed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IN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Time</m:t>
                        </m:r>
                      </m:den>
                    </m:f>
                  </m:oMath>
                </a14:m>
                <a:r>
                  <a:rPr lang="en-IN" dirty="0"/>
                  <a:t>  		</a:t>
                </a:r>
              </a:p>
              <a:p>
                <a:pPr algn="just"/>
                <a:r>
                  <a:rPr lang="en-IN" dirty="0"/>
                  <a:t>If Speed = Constant then 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Distance</m:t>
                    </m:r>
                  </m:oMath>
                </a14:m>
                <a:r>
                  <a:rPr lang="en-IN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IN" dirty="0"/>
                  <a:t>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	</a:t>
                </a:r>
              </a:p>
              <a:p>
                <a:pPr algn="just"/>
                <a:r>
                  <a:rPr lang="en-IN" dirty="0"/>
                  <a:t>If Time = Constant then 	 Speed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IN" dirty="0"/>
                  <a:t>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Distance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330B59B-B9DD-50A7-7BC3-3FA49B208E7B}"/>
              </a:ext>
            </a:extLst>
          </p:cNvPr>
          <p:cNvSpPr/>
          <p:nvPr/>
        </p:nvSpPr>
        <p:spPr>
          <a:xfrm>
            <a:off x="4919870" y="2711312"/>
            <a:ext cx="3021495" cy="697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8A934E-A5C3-F0DB-715F-A351B316CBE8}"/>
              </a:ext>
            </a:extLst>
          </p:cNvPr>
          <p:cNvSpPr/>
          <p:nvPr/>
        </p:nvSpPr>
        <p:spPr>
          <a:xfrm>
            <a:off x="4919870" y="3662155"/>
            <a:ext cx="3021495" cy="4876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579FFB-4DCF-6959-4C8F-2FCD47022885}"/>
              </a:ext>
            </a:extLst>
          </p:cNvPr>
          <p:cNvSpPr/>
          <p:nvPr/>
        </p:nvSpPr>
        <p:spPr>
          <a:xfrm>
            <a:off x="4919870" y="4382948"/>
            <a:ext cx="3021495" cy="481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77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just"/>
            <a:r>
              <a:rPr lang="en-US" dirty="0"/>
              <a:t>Units of Measurement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Distance 	– </a:t>
            </a:r>
            <a:r>
              <a:rPr lang="en-US" dirty="0" err="1"/>
              <a:t>Kilometre</a:t>
            </a:r>
            <a:r>
              <a:rPr lang="en-US" dirty="0"/>
              <a:t> (Km)</a:t>
            </a:r>
          </a:p>
          <a:p>
            <a:pPr algn="just"/>
            <a:r>
              <a:rPr lang="en-US" dirty="0"/>
              <a:t>Time 	- Hours (h)</a:t>
            </a:r>
          </a:p>
          <a:p>
            <a:pPr algn="just"/>
            <a:r>
              <a:rPr lang="en-US" dirty="0"/>
              <a:t>Speed 	- </a:t>
            </a:r>
            <a:r>
              <a:rPr lang="en-US" dirty="0" err="1"/>
              <a:t>Kilometre</a:t>
            </a:r>
            <a:r>
              <a:rPr lang="en-US" dirty="0"/>
              <a:t> per hour (Km/h)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Distance 	– </a:t>
            </a:r>
            <a:r>
              <a:rPr lang="en-US" dirty="0" err="1"/>
              <a:t>Metre</a:t>
            </a:r>
            <a:r>
              <a:rPr lang="en-US" dirty="0"/>
              <a:t> (m)</a:t>
            </a:r>
          </a:p>
          <a:p>
            <a:pPr algn="just"/>
            <a:r>
              <a:rPr lang="en-US" dirty="0"/>
              <a:t>Time 	- Seconds (s)</a:t>
            </a:r>
          </a:p>
          <a:p>
            <a:pPr algn="just"/>
            <a:r>
              <a:rPr lang="en-US" dirty="0"/>
              <a:t>Speed 	- </a:t>
            </a:r>
            <a:r>
              <a:rPr lang="en-US" dirty="0" err="1"/>
              <a:t>Metre</a:t>
            </a:r>
            <a:r>
              <a:rPr lang="en-US" dirty="0"/>
              <a:t> per seconds (m/s)</a:t>
            </a:r>
          </a:p>
        </p:txBody>
      </p:sp>
    </p:spTree>
    <p:extLst>
      <p:ext uri="{BB962C8B-B14F-4D97-AF65-F5344CB8AC3E}">
        <p14:creationId xmlns:p14="http://schemas.microsoft.com/office/powerpoint/2010/main" val="253240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just"/>
            <a:r>
              <a:rPr lang="en-US" dirty="0"/>
              <a:t>Conversion of Units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1</m:t>
                    </m:r>
                  </m:oMath>
                </a14:m>
                <a:r>
                  <a:rPr lang="en-IN" dirty="0"/>
                  <a:t> Km/h 	=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IN" dirty="0"/>
                          <m:t>ilometre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hour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 algn="just">
                  <a:buNone/>
                </a:pPr>
                <a:r>
                  <a:rPr lang="en-IN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1000 </m:t>
                        </m:r>
                        <m:r>
                          <m:rPr>
                            <m:nor/>
                          </m:rPr>
                          <a:rPr lang="en-IN" dirty="0"/>
                          <m:t>metre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minutes</m:t>
                        </m:r>
                      </m:den>
                    </m:f>
                  </m:oMath>
                </a14:m>
                <a:r>
                  <a:rPr lang="en-IN" dirty="0"/>
                  <a:t> 	[1km = 1000 m &amp; 1h = 60 min.]		</a:t>
                </a:r>
              </a:p>
              <a:p>
                <a:pPr marL="0" indent="0" algn="just">
                  <a:buNone/>
                </a:pPr>
                <a:r>
                  <a:rPr lang="en-IN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1000 </m:t>
                        </m:r>
                        <m:r>
                          <m:rPr>
                            <m:nor/>
                          </m:rPr>
                          <a:rPr lang="en-IN" dirty="0"/>
                          <m:t>metre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60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60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seconds</m:t>
                        </m:r>
                      </m:den>
                    </m:f>
                  </m:oMath>
                </a14:m>
                <a:r>
                  <a:rPr lang="en-IN" dirty="0"/>
                  <a:t> 	[1min. = 60 seconds]	</a:t>
                </a:r>
              </a:p>
              <a:p>
                <a:pPr marL="0" indent="0" algn="just">
                  <a:buNone/>
                </a:pPr>
                <a:r>
                  <a:rPr lang="en-IN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1000 </m:t>
                        </m:r>
                        <m:r>
                          <m:rPr>
                            <m:nor/>
                          </m:rPr>
                          <a:rPr lang="en-IN" dirty="0"/>
                          <m:t>metre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36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seconds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1</m:t>
                    </m:r>
                  </m:oMath>
                </a14:m>
                <a:r>
                  <a:rPr lang="en-IN" dirty="0"/>
                  <a:t> Km/h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18 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1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5 </m:t>
                        </m:r>
                      </m:den>
                    </m:f>
                  </m:oMath>
                </a14:m>
                <a:r>
                  <a:rPr lang="en-IN" dirty="0"/>
                  <a:t> Km/h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1B05AB-B178-C37D-DB5F-F91B8265C3E1}"/>
              </a:ext>
            </a:extLst>
          </p:cNvPr>
          <p:cNvCxnSpPr>
            <a:cxnSpLocks/>
          </p:cNvCxnSpPr>
          <p:nvPr/>
        </p:nvCxnSpPr>
        <p:spPr>
          <a:xfrm flipV="1">
            <a:off x="2557251" y="4234483"/>
            <a:ext cx="909431" cy="2177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594F80-A284-6934-F038-98954EECB234}"/>
              </a:ext>
            </a:extLst>
          </p:cNvPr>
          <p:cNvSpPr txBox="1"/>
          <p:nvPr/>
        </p:nvSpPr>
        <p:spPr>
          <a:xfrm>
            <a:off x="2396273" y="403008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D4D18-098E-3B86-E1A9-7443F1FDD30B}"/>
              </a:ext>
            </a:extLst>
          </p:cNvPr>
          <p:cNvSpPr txBox="1"/>
          <p:nvPr/>
        </p:nvSpPr>
        <p:spPr>
          <a:xfrm>
            <a:off x="2727997" y="4759396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2CFE7B-B84A-83BC-03F1-F6DA3534F6FC}"/>
              </a:ext>
            </a:extLst>
          </p:cNvPr>
          <p:cNvCxnSpPr>
            <a:cxnSpLocks/>
          </p:cNvCxnSpPr>
          <p:nvPr/>
        </p:nvCxnSpPr>
        <p:spPr>
          <a:xfrm flipV="1">
            <a:off x="2393790" y="4556159"/>
            <a:ext cx="909431" cy="2177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3F6B7E-F036-238D-8B48-30503A89CA7B}"/>
              </a:ext>
            </a:extLst>
          </p:cNvPr>
          <p:cNvSpPr/>
          <p:nvPr/>
        </p:nvSpPr>
        <p:spPr>
          <a:xfrm>
            <a:off x="626166" y="5064400"/>
            <a:ext cx="3021495" cy="697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8E0F50-EFD4-C650-398D-3FA0691B4FE5}"/>
              </a:ext>
            </a:extLst>
          </p:cNvPr>
          <p:cNvSpPr/>
          <p:nvPr/>
        </p:nvSpPr>
        <p:spPr>
          <a:xfrm>
            <a:off x="626165" y="5955454"/>
            <a:ext cx="3021495" cy="697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D60BA2-EC40-D3BC-CE46-D2C22BA35286}"/>
              </a:ext>
            </a:extLst>
          </p:cNvPr>
          <p:cNvCxnSpPr>
            <a:cxnSpLocks/>
          </p:cNvCxnSpPr>
          <p:nvPr/>
        </p:nvCxnSpPr>
        <p:spPr>
          <a:xfrm flipH="1" flipV="1">
            <a:off x="1133061" y="5325953"/>
            <a:ext cx="655982" cy="24868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E77274-54D6-641D-25EE-992095C0FAC7}"/>
              </a:ext>
            </a:extLst>
          </p:cNvPr>
          <p:cNvCxnSpPr>
            <a:cxnSpLocks/>
          </p:cNvCxnSpPr>
          <p:nvPr/>
        </p:nvCxnSpPr>
        <p:spPr>
          <a:xfrm flipH="1">
            <a:off x="1172817" y="5297557"/>
            <a:ext cx="695740" cy="3704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92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just"/>
            <a:r>
              <a:rPr lang="en-US" dirty="0"/>
              <a:t>Conversion of Units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1</m:t>
                    </m:r>
                  </m:oMath>
                </a14:m>
                <a:r>
                  <a:rPr lang="en-IN" dirty="0"/>
                  <a:t> Km/h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18 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    and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/>
                      <m:t>1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5 </m:t>
                        </m:r>
                      </m:den>
                    </m:f>
                  </m:oMath>
                </a14:m>
                <a:r>
                  <a:rPr lang="en-IN" dirty="0"/>
                  <a:t> Km/h</a:t>
                </a:r>
              </a:p>
              <a:p>
                <a:pPr algn="just"/>
                <a:r>
                  <a:rPr lang="en-IN" dirty="0"/>
                  <a:t>36 Km/h 	= 36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18 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 algn="just">
                  <a:buNone/>
                </a:pPr>
                <a:r>
                  <a:rPr lang="en-IN" dirty="0"/>
                  <a:t>	 	= 10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	</a:t>
                </a:r>
              </a:p>
              <a:p>
                <a:pPr algn="just"/>
                <a:r>
                  <a:rPr lang="en-IN" dirty="0"/>
                  <a:t>20 m/s 	= 20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5 </m:t>
                        </m:r>
                      </m:den>
                    </m:f>
                  </m:oMath>
                </a14:m>
                <a:r>
                  <a:rPr lang="en-IN" dirty="0"/>
                  <a:t> Km/h  </a:t>
                </a:r>
              </a:p>
              <a:p>
                <a:pPr marL="0" indent="0" algn="just">
                  <a:buNone/>
                </a:pPr>
                <a:r>
                  <a:rPr lang="en-IN" dirty="0"/>
                  <a:t>		= 72 Km/h	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41CACB-4F99-3F2D-8B90-CC73AE0872C8}"/>
              </a:ext>
            </a:extLst>
          </p:cNvPr>
          <p:cNvCxnSpPr/>
          <p:nvPr/>
        </p:nvCxnSpPr>
        <p:spPr>
          <a:xfrm flipV="1">
            <a:off x="2447094" y="2955305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85AFCA-D7EC-8F8E-BBC9-93E17A6507B4}"/>
              </a:ext>
            </a:extLst>
          </p:cNvPr>
          <p:cNvCxnSpPr/>
          <p:nvPr/>
        </p:nvCxnSpPr>
        <p:spPr>
          <a:xfrm flipV="1">
            <a:off x="3103078" y="3154088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FA5F2F-DF63-A3E4-726B-31912EDAC163}"/>
              </a:ext>
            </a:extLst>
          </p:cNvPr>
          <p:cNvSpPr txBox="1"/>
          <p:nvPr/>
        </p:nvSpPr>
        <p:spPr>
          <a:xfrm>
            <a:off x="2536551" y="254742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5E5FE4-467B-2CD7-BAF4-55EF3BE977EC}"/>
              </a:ext>
            </a:extLst>
          </p:cNvPr>
          <p:cNvCxnSpPr/>
          <p:nvPr/>
        </p:nvCxnSpPr>
        <p:spPr>
          <a:xfrm flipV="1">
            <a:off x="2447094" y="4804054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0E94C8-397F-DD6D-F7F8-C84B449C94BD}"/>
              </a:ext>
            </a:extLst>
          </p:cNvPr>
          <p:cNvCxnSpPr/>
          <p:nvPr/>
        </p:nvCxnSpPr>
        <p:spPr>
          <a:xfrm flipV="1">
            <a:off x="3103078" y="4963081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9C20AB-7792-9610-665E-3D4C606180ED}"/>
              </a:ext>
            </a:extLst>
          </p:cNvPr>
          <p:cNvSpPr txBox="1"/>
          <p:nvPr/>
        </p:nvSpPr>
        <p:spPr>
          <a:xfrm>
            <a:off x="2536551" y="439617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5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of Units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1 mile 	= 1.6093 km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= 1.6093 x 1000 m  	</a:t>
                </a:r>
                <a:r>
                  <a:rPr lang="en-IN" dirty="0"/>
                  <a:t>[1km = 1000 m]	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= 1609.30 m</a:t>
                </a:r>
              </a:p>
              <a:p>
                <a:pPr algn="just"/>
                <a:r>
                  <a:rPr lang="en-US" dirty="0"/>
                  <a:t>1 km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1.6093</m:t>
                        </m:r>
                      </m:den>
                    </m:f>
                  </m:oMath>
                </a14:m>
                <a:r>
                  <a:rPr lang="en-US" dirty="0"/>
                  <a:t> mile = 0.621 mile</a:t>
                </a:r>
              </a:p>
              <a:p>
                <a:pPr algn="just"/>
                <a:r>
                  <a:rPr lang="en-US" dirty="0"/>
                  <a:t>1 yard 	= 0.9144 m</a:t>
                </a:r>
              </a:p>
              <a:p>
                <a:pPr algn="just"/>
                <a:r>
                  <a:rPr lang="en-US" dirty="0"/>
                  <a:t>1 m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0.9144</m:t>
                        </m:r>
                      </m:den>
                    </m:f>
                  </m:oMath>
                </a14:m>
                <a:r>
                  <a:rPr lang="en-US" dirty="0"/>
                  <a:t> yards = 1.0936 yards</a:t>
                </a:r>
              </a:p>
              <a:p>
                <a:pPr algn="just"/>
                <a:r>
                  <a:rPr lang="en-US" dirty="0"/>
                  <a:t>1 m 		= 39.4 inches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2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86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Speed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Total Distance Covered </a:t>
                </a:r>
              </a:p>
              <a:p>
                <a:pPr algn="just"/>
                <a:r>
                  <a:rPr lang="en-US" dirty="0"/>
                  <a:t>Total Time Taken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Covered</m:t>
                        </m:r>
                        <m:r>
                          <m:rPr>
                            <m:nor/>
                          </m:rPr>
                          <a:rPr lang="en-US" dirty="0"/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AF1E88D-20C4-F85A-4AAA-3B85FD31DE9F}"/>
              </a:ext>
            </a:extLst>
          </p:cNvPr>
          <p:cNvSpPr/>
          <p:nvPr/>
        </p:nvSpPr>
        <p:spPr>
          <a:xfrm>
            <a:off x="646044" y="2951922"/>
            <a:ext cx="6271591" cy="8259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45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Speed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If ‘A’ covers a distance ‘x’ Km at ‘a’ Km/h and, then ‘y’ Km at ‘b’ Km/h, then calculate the average speed during the whole journey. </a:t>
                </a:r>
              </a:p>
              <a:p>
                <a:pPr algn="just"/>
                <a:r>
                  <a:rPr lang="en-US" dirty="0"/>
                  <a:t>Time taken to travel ‘x’ Km at ‘a’ Km/h,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Time taken to travel ‘y’ Km at ‘b’ Km/h,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Total 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57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Speed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Total Time 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ay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ab</m:t>
                        </m:r>
                      </m:den>
                    </m:f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ab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Total Distance 		= (x + y) Km</a:t>
                </a:r>
              </a:p>
              <a:p>
                <a:pPr algn="just"/>
                <a:r>
                  <a:rPr lang="en-US" dirty="0"/>
                  <a:t>Average Speed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Covered</m:t>
                        </m:r>
                        <m:r>
                          <m:rPr>
                            <m:nor/>
                          </m:rPr>
                          <a:rPr lang="en-US" dirty="0"/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ay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bx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ab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EDAF41F-3D52-669E-C268-3E53D3C3205D}"/>
              </a:ext>
            </a:extLst>
          </p:cNvPr>
          <p:cNvSpPr/>
          <p:nvPr/>
        </p:nvSpPr>
        <p:spPr>
          <a:xfrm>
            <a:off x="626166" y="5690566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682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Speed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If a person goes from point ‘A’ to point ‘B’ at ‘a’ Km/h and comes back from point ‘B’ to point ‘A’ at ‘b’ Km/h, then calculate the average speed during the whole journey.</a:t>
                </a:r>
              </a:p>
              <a:p>
                <a:pPr algn="just"/>
                <a:r>
                  <a:rPr lang="en-US" dirty="0"/>
                  <a:t>Let, Distance = x Km</a:t>
                </a:r>
              </a:p>
              <a:p>
                <a:pPr algn="just"/>
                <a:r>
                  <a:rPr lang="en-US" dirty="0"/>
                  <a:t>Time taken to travel ‘x’ Km at ‘a’ Km/h,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Time taken to travel ‘x’ Km at ‘b’ Km/h,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Total 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58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Speed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Total Time 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Total Distance 		= (x + x) Km = (2x) Km</a:t>
                </a:r>
              </a:p>
              <a:p>
                <a:pPr algn="just"/>
                <a:r>
                  <a:rPr lang="en-US" dirty="0"/>
                  <a:t>Average Speed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Covered</m:t>
                        </m:r>
                        <m:r>
                          <m:rPr>
                            <m:nor/>
                          </m:rPr>
                          <a:rPr lang="en-US" dirty="0"/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ab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)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1C060C5-6C9B-AE1D-4E3F-7CEC49E28892}"/>
              </a:ext>
            </a:extLst>
          </p:cNvPr>
          <p:cNvSpPr/>
          <p:nvPr/>
        </p:nvSpPr>
        <p:spPr>
          <a:xfrm>
            <a:off x="626166" y="5740261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A9E714-83C9-04C6-D666-9EACB4F8470F}"/>
              </a:ext>
            </a:extLst>
          </p:cNvPr>
          <p:cNvCxnSpPr>
            <a:cxnSpLocks/>
          </p:cNvCxnSpPr>
          <p:nvPr/>
        </p:nvCxnSpPr>
        <p:spPr>
          <a:xfrm flipV="1">
            <a:off x="4843667" y="4755460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60DCD4-31BF-76D5-EFB3-8F50BDFE796B}"/>
              </a:ext>
            </a:extLst>
          </p:cNvPr>
          <p:cNvCxnSpPr>
            <a:cxnSpLocks/>
          </p:cNvCxnSpPr>
          <p:nvPr/>
        </p:nvCxnSpPr>
        <p:spPr>
          <a:xfrm flipV="1">
            <a:off x="4336770" y="5113269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EB50CDA2-A48C-C61F-928E-1F770009E301}"/>
              </a:ext>
            </a:extLst>
          </p:cNvPr>
          <p:cNvSpPr/>
          <p:nvPr/>
        </p:nvSpPr>
        <p:spPr>
          <a:xfrm rot="16035887" flipV="1">
            <a:off x="4955150" y="4926385"/>
            <a:ext cx="860536" cy="53907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02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Distance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sz="2800" dirty="0"/>
                  <a:t>If the a person covers a distance in ‘T’ hours, the first half at ‘a’ Km/h and second half at ‘b’ Km/h, then the total distance covered by the person is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  <m:r>
                          <m:rPr>
                            <m:nor/>
                          </m:rPr>
                          <a:rPr lang="en-US" sz="2800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  <m:r>
                          <m:rPr>
                            <m:nor/>
                          </m:rPr>
                          <a:rPr lang="en-US" sz="2800" dirty="0"/>
                          <m:t> + </m:t>
                        </m:r>
                        <m:r>
                          <m:rPr>
                            <m:nor/>
                          </m:rPr>
                          <a:rPr lang="en-US" sz="2800" dirty="0"/>
                          <m:t>b</m:t>
                        </m:r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IN" sz="2800" dirty="0"/>
                  <a:t>Km/h</a:t>
                </a:r>
              </a:p>
              <a:p>
                <a:pPr algn="just"/>
                <a:r>
                  <a:rPr lang="en-US" sz="2800" dirty="0"/>
                  <a:t>Total Distance 		= Average Speed x Time</a:t>
                </a:r>
                <a:endParaRPr lang="en-US" sz="28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sz="2800" dirty="0"/>
                  <a:t>Total Distance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  <m:r>
                          <m:rPr>
                            <m:nor/>
                          </m:rPr>
                          <a:rPr lang="en-US" sz="2800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  <m:r>
                          <m:rPr>
                            <m:nor/>
                          </m:rPr>
                          <a:rPr lang="en-US" sz="2800" dirty="0"/>
                          <m:t> + </m:t>
                        </m:r>
                        <m:r>
                          <m:rPr>
                            <m:nor/>
                          </m:rPr>
                          <a:rPr lang="en-US" sz="2800" dirty="0"/>
                          <m:t>b</m:t>
                        </m:r>
                      </m:den>
                    </m:f>
                  </m:oMath>
                </a14:m>
                <a:r>
                  <a:rPr lang="en-US" sz="2800" dirty="0"/>
                  <a:t> x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/>
                      <m:t>T</m:t>
                    </m:r>
                  </m:oMath>
                </a14:m>
                <a:endParaRPr lang="en-US" sz="2800" dirty="0"/>
              </a:p>
              <a:p>
                <a:pPr algn="just"/>
                <a:r>
                  <a:rPr lang="en-US" sz="2800" dirty="0"/>
                  <a:t>Total Distance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  <m:r>
                          <m:rPr>
                            <m:nor/>
                          </m:rPr>
                          <a:rPr lang="en-US" sz="2800" dirty="0"/>
                          <m:t>abT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  <m:r>
                          <m:rPr>
                            <m:nor/>
                          </m:rPr>
                          <a:rPr lang="en-US" sz="2800" dirty="0"/>
                          <m:t> + </m:t>
                        </m:r>
                        <m:r>
                          <m:rPr>
                            <m:nor/>
                          </m:rPr>
                          <a:rPr lang="en-US" sz="2800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Km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t="-113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4CEAC18-730E-C219-EA10-1B8F0F970A09}"/>
              </a:ext>
            </a:extLst>
          </p:cNvPr>
          <p:cNvSpPr/>
          <p:nvPr/>
        </p:nvSpPr>
        <p:spPr>
          <a:xfrm>
            <a:off x="596351" y="5548519"/>
            <a:ext cx="5237919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3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A person goes certain distance point ‘A’ to point ‘B’ at a speed of ‘a’ Km/h and returns back point ‘B’ to point ‘A’ at a speed of ‘b’ Km/h. If s/he takes ‘T’ hours in all, then calculate the distance between points ‘A’ and ‘B’</a:t>
                </a:r>
              </a:p>
              <a:p>
                <a:pPr algn="just"/>
                <a:r>
                  <a:rPr lang="en-US" sz="2400" dirty="0"/>
                  <a:t>Let, the distance between points ‘A’ and ‘B’ = x Km. </a:t>
                </a:r>
              </a:p>
              <a:p>
                <a:pPr algn="just"/>
                <a:r>
                  <a:rPr lang="en-US" sz="2400" dirty="0"/>
                  <a:t>Time taken during onward journey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algn="just"/>
                <a:r>
                  <a:rPr lang="en-US" sz="2400" dirty="0"/>
                  <a:t>Time taken during return journey,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Total 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 b="-3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89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Total Time, 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	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	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Distance between A and B i.e.,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hours </a:t>
                </a:r>
              </a:p>
              <a:p>
                <a:pPr marL="0" indent="0">
                  <a:buNone/>
                </a:pPr>
                <a:r>
                  <a:rPr lang="en-US" dirty="0"/>
                  <a:t>		x = Total Time Taken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Product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Two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Speeds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Sum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Two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Speeds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B8BF11-219A-2F76-D415-A78DA1E4F310}"/>
              </a:ext>
            </a:extLst>
          </p:cNvPr>
          <p:cNvSpPr/>
          <p:nvPr/>
        </p:nvSpPr>
        <p:spPr>
          <a:xfrm>
            <a:off x="2226363" y="5799895"/>
            <a:ext cx="6251714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E7530E-E1EC-F6E3-915C-0A63507E19EF}"/>
              </a:ext>
            </a:extLst>
          </p:cNvPr>
          <p:cNvCxnSpPr>
            <a:cxnSpLocks/>
          </p:cNvCxnSpPr>
          <p:nvPr/>
        </p:nvCxnSpPr>
        <p:spPr>
          <a:xfrm flipH="1" flipV="1">
            <a:off x="2484783" y="3299792"/>
            <a:ext cx="655982" cy="24868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8F9A6C-1B7B-806F-CC3B-2A853FD8E7D8}"/>
              </a:ext>
            </a:extLst>
          </p:cNvPr>
          <p:cNvCxnSpPr>
            <a:cxnSpLocks/>
          </p:cNvCxnSpPr>
          <p:nvPr/>
        </p:nvCxnSpPr>
        <p:spPr>
          <a:xfrm flipH="1">
            <a:off x="2524539" y="3220484"/>
            <a:ext cx="844516" cy="4213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46B132A-53BE-4F88-15C8-B736DF0425B2}"/>
              </a:ext>
            </a:extLst>
          </p:cNvPr>
          <p:cNvSpPr/>
          <p:nvPr/>
        </p:nvSpPr>
        <p:spPr>
          <a:xfrm>
            <a:off x="2941983" y="3001617"/>
            <a:ext cx="914400" cy="3279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044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 of Speeds of Two Persons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If two persons, A and B, start at the same time from two points P and Q towards each other, and after crossing they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hours in reaching Q and P respectively, then calculate the ratio of their speeds. </a:t>
                </a:r>
              </a:p>
              <a:p>
                <a:pPr algn="just"/>
                <a:r>
                  <a:rPr lang="en-US" dirty="0"/>
                  <a:t>Let, 	Total distance between P and Q = d Km </a:t>
                </a:r>
              </a:p>
              <a:p>
                <a:pPr marL="0" indent="0" algn="just">
                  <a:buNone/>
                </a:pPr>
                <a:r>
                  <a:rPr lang="en-US" dirty="0"/>
                  <a:t>	Speed of person A = a Km/h </a:t>
                </a:r>
              </a:p>
              <a:p>
                <a:pPr marL="0" indent="0" algn="just">
                  <a:buNone/>
                </a:pPr>
                <a:r>
                  <a:rPr lang="en-US" dirty="0"/>
                  <a:t>	Speed of person B = b Km/h</a:t>
                </a:r>
              </a:p>
              <a:p>
                <a:pPr algn="just"/>
                <a:r>
                  <a:rPr lang="en-US" dirty="0"/>
                  <a:t>Relative speed of persons A and B = (a + b) Km/h </a:t>
                </a:r>
              </a:p>
              <a:p>
                <a:pPr marL="0" indent="0" algn="just">
                  <a:buNone/>
                </a:pPr>
                <a:r>
                  <a:rPr lang="en-US" dirty="0"/>
                  <a:t>(Since persons A and B are moving in opposite directions)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136" b="-1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321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 of Speeds of Two Persons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algn="just"/>
                <a:r>
                  <a:rPr lang="en-US" dirty="0"/>
                  <a:t>Persons, A and B, will meet after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hours</a:t>
                </a:r>
                <a:endParaRPr lang="en-US" dirty="0"/>
              </a:p>
              <a:p>
                <a:pPr algn="just"/>
                <a:r>
                  <a:rPr lang="en-US" dirty="0"/>
                  <a:t>Distance travelled by A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IN" dirty="0"/>
                  <a:t> hours = PO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Km   [D = S x T]</a:t>
                </a:r>
              </a:p>
              <a:p>
                <a:pPr algn="just"/>
                <a:r>
                  <a:rPr lang="en-US" dirty="0"/>
                  <a:t>Distance travelled by B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IN" dirty="0"/>
                  <a:t> hours = QO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bd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Km </a:t>
                </a:r>
              </a:p>
              <a:p>
                <a:pPr algn="just"/>
                <a:r>
                  <a:rPr lang="en-US" dirty="0"/>
                  <a:t>Time taken by A to travel QO,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d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</m:den>
                        </m:f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IN" dirty="0"/>
                  <a:t>		</a:t>
                </a:r>
                <a:r>
                  <a:rPr lang="en-US" dirty="0"/>
                  <a:t>[T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]</a:t>
                </a:r>
              </a:p>
              <a:p>
                <a:pPr algn="just"/>
                <a:r>
                  <a:rPr lang="en-US" dirty="0"/>
                  <a:t>Time taken by B to travel PO,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d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</m:den>
                        </m:f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2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78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 of Speeds of Two Persons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ad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</m:den>
                        </m:f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	</a:t>
                </a:r>
                <a:r>
                  <a:rPr lang="en-IN" dirty="0"/>
                  <a:t>and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bd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</m:den>
                        </m:f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ad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b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bd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b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/>
                  <a:t> 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a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b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e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.,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Speed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e</m:t>
                        </m:r>
                        <m:r>
                          <m:rPr>
                            <m:nor/>
                          </m:rPr>
                          <a:rPr lang="en-US" dirty="0"/>
                          <m:t>.,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smtClean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C5EB5E5-FA26-216F-4172-45F508B8EFF8}"/>
              </a:ext>
            </a:extLst>
          </p:cNvPr>
          <p:cNvSpPr/>
          <p:nvPr/>
        </p:nvSpPr>
        <p:spPr>
          <a:xfrm>
            <a:off x="2007704" y="5562600"/>
            <a:ext cx="366754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1FA08B-F96F-F6CC-055D-8203FE8E984A}"/>
              </a:ext>
            </a:extLst>
          </p:cNvPr>
          <p:cNvCxnSpPr>
            <a:cxnSpLocks/>
          </p:cNvCxnSpPr>
          <p:nvPr/>
        </p:nvCxnSpPr>
        <p:spPr>
          <a:xfrm flipV="1">
            <a:off x="3123781" y="2664101"/>
            <a:ext cx="909431" cy="2177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C13F4-D6F4-AC5C-7D5E-BFF773C8051C}"/>
              </a:ext>
            </a:extLst>
          </p:cNvPr>
          <p:cNvCxnSpPr>
            <a:cxnSpLocks/>
          </p:cNvCxnSpPr>
          <p:nvPr/>
        </p:nvCxnSpPr>
        <p:spPr>
          <a:xfrm flipV="1">
            <a:off x="3123780" y="3479110"/>
            <a:ext cx="909431" cy="2177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A4D5D0-77EA-6F92-188E-8BA7737354D1}"/>
              </a:ext>
            </a:extLst>
          </p:cNvPr>
          <p:cNvCxnSpPr>
            <a:cxnSpLocks/>
          </p:cNvCxnSpPr>
          <p:nvPr/>
        </p:nvCxnSpPr>
        <p:spPr>
          <a:xfrm flipV="1">
            <a:off x="3548678" y="2320373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1F6C74-B93C-A400-57CA-C9944F036DD9}"/>
              </a:ext>
            </a:extLst>
          </p:cNvPr>
          <p:cNvCxnSpPr>
            <a:cxnSpLocks/>
          </p:cNvCxnSpPr>
          <p:nvPr/>
        </p:nvCxnSpPr>
        <p:spPr>
          <a:xfrm flipV="1">
            <a:off x="3548677" y="3165199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6B2BAA2C-8F3B-7548-646E-78293F9B17D3}"/>
              </a:ext>
            </a:extLst>
          </p:cNvPr>
          <p:cNvSpPr/>
          <p:nvPr/>
        </p:nvSpPr>
        <p:spPr>
          <a:xfrm rot="16200000">
            <a:off x="3030007" y="3034719"/>
            <a:ext cx="422775" cy="2352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C9CC3742-08AD-B084-13A1-7664346BF560}"/>
              </a:ext>
            </a:extLst>
          </p:cNvPr>
          <p:cNvSpPr/>
          <p:nvPr/>
        </p:nvSpPr>
        <p:spPr>
          <a:xfrm rot="16200000">
            <a:off x="2107866" y="2643862"/>
            <a:ext cx="1655798" cy="909429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86F9A0-4F84-A344-9BBD-389F5144D004}"/>
              </a:ext>
            </a:extLst>
          </p:cNvPr>
          <p:cNvCxnSpPr/>
          <p:nvPr/>
        </p:nvCxnSpPr>
        <p:spPr>
          <a:xfrm flipV="1">
            <a:off x="3783906" y="3976171"/>
            <a:ext cx="788094" cy="1286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E4ECA25-572A-F901-1C0A-0E7A5188874A}"/>
              </a:ext>
            </a:extLst>
          </p:cNvPr>
          <p:cNvSpPr/>
          <p:nvPr/>
        </p:nvSpPr>
        <p:spPr>
          <a:xfrm>
            <a:off x="3617844" y="3966232"/>
            <a:ext cx="268357" cy="3179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4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Speed - Journey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If a body travels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metres with different speeds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m/s in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seconds respectively, then the average speed of the body throughout the journey is given by 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Total</m:t>
                        </m:r>
                        <m:r>
                          <m:rPr>
                            <m:nor/>
                          </m:rPr>
                          <a:rPr lang="en-IN"/>
                          <m:t> </m:t>
                        </m:r>
                        <m:r>
                          <m:rPr>
                            <m:nor/>
                          </m:rPr>
                          <a:rPr lang="en-IN" smtClean="0"/>
                          <m:t>Distance</m:t>
                        </m:r>
                        <m:r>
                          <m:rPr>
                            <m:nor/>
                          </m:rPr>
                          <a:rPr lang="en-IN" smtClean="0"/>
                          <m:t> </m:t>
                        </m:r>
                        <m:r>
                          <m:rPr>
                            <m:nor/>
                          </m:rPr>
                          <a:rPr lang="en-IN" smtClean="0"/>
                          <m:t>Travelled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Total</m:t>
                        </m:r>
                        <m:r>
                          <m:rPr>
                            <m:nor/>
                          </m:rPr>
                          <a:rPr lang="en-IN"/>
                          <m:t> </m:t>
                        </m:r>
                        <m:r>
                          <m:rPr>
                            <m:nor/>
                          </m:rPr>
                          <a:rPr lang="en-IN" smtClean="0"/>
                          <m:t>Time</m:t>
                        </m:r>
                        <m:r>
                          <m:rPr>
                            <m:nor/>
                          </m:rPr>
                          <a:rPr lang="en-IN" smtClean="0"/>
                          <m:t> </m:t>
                        </m:r>
                        <m:r>
                          <m:rPr>
                            <m:nor/>
                          </m:rPr>
                          <a:rPr lang="en-IN" smtClean="0"/>
                          <m:t>Taken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dirty="0"/>
                          <m:t> ...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+...+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...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+...+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EA63FF0-7885-DF9E-5AF8-15D66E0C0367}"/>
              </a:ext>
            </a:extLst>
          </p:cNvPr>
          <p:cNvSpPr/>
          <p:nvPr/>
        </p:nvSpPr>
        <p:spPr>
          <a:xfrm>
            <a:off x="606289" y="4792731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5F519-D684-259E-A465-D3C06DAB7011}"/>
              </a:ext>
            </a:extLst>
          </p:cNvPr>
          <p:cNvSpPr/>
          <p:nvPr/>
        </p:nvSpPr>
        <p:spPr>
          <a:xfrm>
            <a:off x="606289" y="5794098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2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Time – Cover Same Distance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If the new speed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of the original speed, then calculate the change in time taken to cover the same distance.</a:t>
                </a:r>
              </a:p>
              <a:p>
                <a:pPr algn="just"/>
                <a:r>
                  <a:rPr lang="en-US" dirty="0"/>
                  <a:t>Let Distance = d, Original Time = t, and Speed = a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</m:den>
                    </m:f>
                  </m:oMath>
                </a14:m>
                <a:r>
                  <a:rPr lang="en-US" dirty="0"/>
                  <a:t> or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				[S = D/T or T = D/S]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New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x Original Speed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x a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Let New Time = T     =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m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n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		[T = D/S]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      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300BA249-17D3-34CD-128B-C591159C8224}"/>
              </a:ext>
            </a:extLst>
          </p:cNvPr>
          <p:cNvSpPr/>
          <p:nvPr/>
        </p:nvSpPr>
        <p:spPr>
          <a:xfrm rot="16810175">
            <a:off x="3546406" y="5031148"/>
            <a:ext cx="757193" cy="55912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366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Time – Cover Same Distance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	and 	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T –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T – t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- 1)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Change in Time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− 1) × t 			[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]</a:t>
                </a:r>
              </a:p>
              <a:p>
                <a:pPr algn="just"/>
                <a:r>
                  <a:rPr lang="en-US" dirty="0"/>
                  <a:t>Change in Time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− 1) × Original Time 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0F9F55A-0CEC-0B36-EC93-C302F08A1D91}"/>
              </a:ext>
            </a:extLst>
          </p:cNvPr>
          <p:cNvSpPr/>
          <p:nvPr/>
        </p:nvSpPr>
        <p:spPr>
          <a:xfrm>
            <a:off x="616228" y="5542722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793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Usual/Original Time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a person changes his/her speed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of its usual/original speed &amp; late by T min., then usual time taken by him/her is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Usual Time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mT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− </m:t>
                        </m:r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&lt; 1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 		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Usual Time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mT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m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&gt; 1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9216940-A103-F03B-13AC-13F23E980C2A}"/>
              </a:ext>
            </a:extLst>
          </p:cNvPr>
          <p:cNvSpPr/>
          <p:nvPr/>
        </p:nvSpPr>
        <p:spPr>
          <a:xfrm>
            <a:off x="1480933" y="3585955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CEAC18-730E-C219-EA10-1B8F0F970A09}"/>
              </a:ext>
            </a:extLst>
          </p:cNvPr>
          <p:cNvSpPr/>
          <p:nvPr/>
        </p:nvSpPr>
        <p:spPr>
          <a:xfrm>
            <a:off x="1480933" y="5091320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510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Speed, Time and Distance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 body covers a distance ‘x’ in time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’ with speed ‘a’, but when it travels with speed ‘b’ covers the same distance in time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’. </a:t>
                </a:r>
              </a:p>
              <a:p>
                <a:pPr algn="just"/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and 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</m:oMath>
                </a14:m>
                <a:r>
                  <a:rPr lang="en-US" dirty="0"/>
                  <a:t> and b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b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=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CD1D1F1-88C0-4E42-B44F-2D001F445857}"/>
              </a:ext>
            </a:extLst>
          </p:cNvPr>
          <p:cNvSpPr/>
          <p:nvPr/>
        </p:nvSpPr>
        <p:spPr>
          <a:xfrm>
            <a:off x="2107098" y="5657435"/>
            <a:ext cx="1470989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084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Speed, Time and Distance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and 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- b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x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- b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= x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=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).(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).(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)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		or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IN" dirty="0"/>
                          <m:t>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Time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ABBAA6A-EF73-07AF-C046-7C2032E32091}"/>
              </a:ext>
            </a:extLst>
          </p:cNvPr>
          <p:cNvSpPr/>
          <p:nvPr/>
        </p:nvSpPr>
        <p:spPr>
          <a:xfrm>
            <a:off x="2007707" y="5806522"/>
            <a:ext cx="5943600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A41C4E-15A6-7F62-AFDA-57A5ABD84F8B}"/>
              </a:ext>
            </a:extLst>
          </p:cNvPr>
          <p:cNvSpPr/>
          <p:nvPr/>
        </p:nvSpPr>
        <p:spPr>
          <a:xfrm>
            <a:off x="2504661" y="4333980"/>
            <a:ext cx="268357" cy="3179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744BB1-E4C9-11A1-69C8-E4D4F8B264C2}"/>
              </a:ext>
            </a:extLst>
          </p:cNvPr>
          <p:cNvSpPr/>
          <p:nvPr/>
        </p:nvSpPr>
        <p:spPr>
          <a:xfrm>
            <a:off x="3144079" y="4682212"/>
            <a:ext cx="268357" cy="3179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98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Speed, Time and Distance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and 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	</a:t>
                </a:r>
                <a:r>
                  <a:rPr lang="en-US" dirty="0"/>
                  <a:t> 	[b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o</m:t>
                    </m:r>
                    <m:r>
                      <m:rPr>
                        <m:nor/>
                      </m:rPr>
                      <a:rPr lang="en-US" b="0" i="0" dirty="0" smtClean="0"/>
                      <m:t>r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=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=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IN" dirty="0"/>
                          <m:t>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d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Time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0B99432-AB41-019D-3693-14164D34E6F0}"/>
              </a:ext>
            </a:extLst>
          </p:cNvPr>
          <p:cNvSpPr/>
          <p:nvPr/>
        </p:nvSpPr>
        <p:spPr>
          <a:xfrm>
            <a:off x="586410" y="5712930"/>
            <a:ext cx="7285381" cy="913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14193-D437-5A23-C0F1-2F7A6586BE34}"/>
              </a:ext>
            </a:extLst>
          </p:cNvPr>
          <p:cNvSpPr/>
          <p:nvPr/>
        </p:nvSpPr>
        <p:spPr>
          <a:xfrm>
            <a:off x="586410" y="4015615"/>
            <a:ext cx="351845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7EC6D393-189F-206A-6B25-885D8C075584}"/>
              </a:ext>
            </a:extLst>
          </p:cNvPr>
          <p:cNvSpPr/>
          <p:nvPr/>
        </p:nvSpPr>
        <p:spPr>
          <a:xfrm rot="6053970">
            <a:off x="3839038" y="2538288"/>
            <a:ext cx="651297" cy="32619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893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9119-5FAE-D92A-E459-B9435E26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 of Speed &amp;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22648-B8E1-B68B-4D93-697174C6DB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If the ratio of the speeds of A and B is a : b, then the ratio of the times taken by them to cover the same distance. 	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d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		and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S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S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d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d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  =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 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b : a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22648-B8E1-B68B-4D93-697174C6D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6CFDB2D-685F-7FAB-8C60-71BF1EC53253}"/>
              </a:ext>
            </a:extLst>
          </p:cNvPr>
          <p:cNvSpPr/>
          <p:nvPr/>
        </p:nvSpPr>
        <p:spPr>
          <a:xfrm>
            <a:off x="1490870" y="5925584"/>
            <a:ext cx="6589643" cy="7403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B11A00-A52C-1CCC-1724-A1701946E46D}"/>
              </a:ext>
            </a:extLst>
          </p:cNvPr>
          <p:cNvCxnSpPr>
            <a:cxnSpLocks/>
          </p:cNvCxnSpPr>
          <p:nvPr/>
        </p:nvCxnSpPr>
        <p:spPr>
          <a:xfrm flipV="1">
            <a:off x="4752975" y="3210342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ABEDB6-A9EE-A505-704E-C7A703104785}"/>
              </a:ext>
            </a:extLst>
          </p:cNvPr>
          <p:cNvCxnSpPr>
            <a:cxnSpLocks/>
          </p:cNvCxnSpPr>
          <p:nvPr/>
        </p:nvCxnSpPr>
        <p:spPr>
          <a:xfrm flipV="1">
            <a:off x="4752974" y="3826334"/>
            <a:ext cx="235229" cy="2683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0AAFAA55-E76A-9908-9D60-6FF8A5F4FDB9}"/>
              </a:ext>
            </a:extLst>
          </p:cNvPr>
          <p:cNvSpPr/>
          <p:nvPr/>
        </p:nvSpPr>
        <p:spPr>
          <a:xfrm rot="16200000" flipH="1" flipV="1">
            <a:off x="4952021" y="3556944"/>
            <a:ext cx="529149" cy="5462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1F1E6404-816D-4464-0ED3-BA453ADA7AC3}"/>
              </a:ext>
            </a:extLst>
          </p:cNvPr>
          <p:cNvSpPr/>
          <p:nvPr/>
        </p:nvSpPr>
        <p:spPr>
          <a:xfrm rot="16200000" flipV="1">
            <a:off x="4737279" y="3321463"/>
            <a:ext cx="1348860" cy="828038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658CCB-6AC2-867A-4497-D4E266F2B123}"/>
              </a:ext>
            </a:extLst>
          </p:cNvPr>
          <p:cNvCxnSpPr>
            <a:cxnSpLocks/>
          </p:cNvCxnSpPr>
          <p:nvPr/>
        </p:nvCxnSpPr>
        <p:spPr>
          <a:xfrm flipH="1" flipV="1">
            <a:off x="4288022" y="5495666"/>
            <a:ext cx="655982" cy="24868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580CBB-4B91-FBBA-27FC-F22A57D64483}"/>
              </a:ext>
            </a:extLst>
          </p:cNvPr>
          <p:cNvCxnSpPr>
            <a:cxnSpLocks/>
          </p:cNvCxnSpPr>
          <p:nvPr/>
        </p:nvCxnSpPr>
        <p:spPr>
          <a:xfrm flipH="1">
            <a:off x="4233357" y="5438258"/>
            <a:ext cx="765312" cy="3635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737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Travelled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IN" dirty="0"/>
                  <a:t>Speed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/>
                      <m:t>Distance</m:t>
                    </m:r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Distance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1</m:t>
                    </m:r>
                  </m:oMath>
                </a14:m>
                <a:r>
                  <a:rPr lang="en-IN" dirty="0"/>
                  <a:t> Km/h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18 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&amp;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1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18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5 </m:t>
                        </m:r>
                      </m:den>
                    </m:f>
                  </m:oMath>
                </a14:m>
                <a:r>
                  <a:rPr lang="en-IN" dirty="0"/>
                  <a:t> Km/h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Covered</m:t>
                        </m:r>
                        <m:r>
                          <m:rPr>
                            <m:nor/>
                          </m:rPr>
                          <a:rPr lang="en-US" dirty="0"/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DE9A0BF-D9B3-0BFC-C7E3-BEEBC25D2F7B}"/>
              </a:ext>
            </a:extLst>
          </p:cNvPr>
          <p:cNvSpPr/>
          <p:nvPr/>
        </p:nvSpPr>
        <p:spPr>
          <a:xfrm>
            <a:off x="606287" y="5675446"/>
            <a:ext cx="6341166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C7B33B-014C-94F8-70F7-294FED2B3103}"/>
              </a:ext>
            </a:extLst>
          </p:cNvPr>
          <p:cNvSpPr/>
          <p:nvPr/>
        </p:nvSpPr>
        <p:spPr>
          <a:xfrm>
            <a:off x="606287" y="4505941"/>
            <a:ext cx="534725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D0189-8A20-1103-D748-DB4E72F63261}"/>
              </a:ext>
            </a:extLst>
          </p:cNvPr>
          <p:cNvSpPr/>
          <p:nvPr/>
        </p:nvSpPr>
        <p:spPr>
          <a:xfrm>
            <a:off x="606287" y="3419061"/>
            <a:ext cx="259411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83E50-2290-84F1-39B8-BF6CBD939A7F}"/>
              </a:ext>
            </a:extLst>
          </p:cNvPr>
          <p:cNvSpPr/>
          <p:nvPr/>
        </p:nvSpPr>
        <p:spPr>
          <a:xfrm>
            <a:off x="606286" y="2398432"/>
            <a:ext cx="364766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60A92-15E8-E006-2E38-86147FD9EAFE}"/>
              </a:ext>
            </a:extLst>
          </p:cNvPr>
          <p:cNvSpPr/>
          <p:nvPr/>
        </p:nvSpPr>
        <p:spPr>
          <a:xfrm>
            <a:off x="606285" y="1496354"/>
            <a:ext cx="409492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602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If A covers a distance x Km at a Km/h and, then y Km at b Km/h, then the average speed during the whole journey is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algn="just"/>
                <a:r>
                  <a:rPr lang="en-US" dirty="0"/>
                  <a:t>If a person goes from point ‘A’ to point ‘B’ at ‘a’ Km/h and comes back from point ‘B’ to point ‘A’ at ‘b’ Km/h, then the average speed during the whole journey is given by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marL="0" indent="0" algn="just">
                  <a:buNone/>
                </a:pPr>
                <a:endParaRPr lang="en-IN" dirty="0"/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B6FB92-A60B-DF54-8CB7-1F19035A2DD5}"/>
              </a:ext>
            </a:extLst>
          </p:cNvPr>
          <p:cNvSpPr/>
          <p:nvPr/>
        </p:nvSpPr>
        <p:spPr>
          <a:xfrm>
            <a:off x="3468757" y="2812980"/>
            <a:ext cx="2693504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3F29E9-59F4-031F-C121-3AE8A633500A}"/>
              </a:ext>
            </a:extLst>
          </p:cNvPr>
          <p:cNvSpPr/>
          <p:nvPr/>
        </p:nvSpPr>
        <p:spPr>
          <a:xfrm>
            <a:off x="3409123" y="5844829"/>
            <a:ext cx="2693504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531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A person goes certain distance point ‘A’ to point ‘B’ at a speed of x Km/h and returns back point ‘B’ to point ‘A’ at a speed of y Km/h. If s/he takes T hours in all, then the distance between points ‘A’ and ‘B’ is 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T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den>
                    </m:f>
                  </m:oMath>
                </a14:m>
                <a:r>
                  <a:rPr lang="en-US" sz="2400" dirty="0"/>
                  <a:t> ) hours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or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Total Time Taken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Product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wo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peeds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Sum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wo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peeds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F4AB54D-BD85-ED90-2E4D-4333EC3B152B}"/>
              </a:ext>
            </a:extLst>
          </p:cNvPr>
          <p:cNvSpPr/>
          <p:nvPr/>
        </p:nvSpPr>
        <p:spPr>
          <a:xfrm>
            <a:off x="3110951" y="3796954"/>
            <a:ext cx="224624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95A46-D28A-B795-BD90-CED9A81978DE}"/>
              </a:ext>
            </a:extLst>
          </p:cNvPr>
          <p:cNvSpPr/>
          <p:nvPr/>
        </p:nvSpPr>
        <p:spPr>
          <a:xfrm>
            <a:off x="1133062" y="5476667"/>
            <a:ext cx="613244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092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If two persons, A and B, start at the same time from two points P and Q towards each other, and after crossing they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hours in reaching Q and P respectively, then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(</m:t>
                        </m:r>
                        <m:r>
                          <m:rPr>
                            <m:nor/>
                          </m:rPr>
                          <a:rPr lang="en-US" sz="2400" dirty="0"/>
                          <m:t>i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e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i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e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If the new speed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of the original speed, then the change in time taken to cover the same distance is given by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− 1) × Original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5BC8F74-9B89-E1FD-0414-758D178EA96F}"/>
              </a:ext>
            </a:extLst>
          </p:cNvPr>
          <p:cNvSpPr/>
          <p:nvPr/>
        </p:nvSpPr>
        <p:spPr>
          <a:xfrm>
            <a:off x="2971802" y="3339754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72B37-5517-44CB-9B4B-48EE81B6F753}"/>
              </a:ext>
            </a:extLst>
          </p:cNvPr>
          <p:cNvSpPr/>
          <p:nvPr/>
        </p:nvSpPr>
        <p:spPr>
          <a:xfrm>
            <a:off x="2971802" y="5846694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12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If the a person changes his/her speed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of its usual/original speed &amp; late by T min., then usual time taken by him/her is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Usual Time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mT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&lt; 1   &amp; Usual Time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mT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&gt; 1</a:t>
                </a:r>
              </a:p>
              <a:p>
                <a:pPr algn="just"/>
                <a:r>
                  <a:rPr lang="en-US" sz="2400" dirty="0"/>
                  <a:t>If the a person covers a distance in T hours, the first half at a km/h and second half at b, then the total distance covered by the person is  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abT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+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/>
                <a:endParaRPr lang="en-US" sz="2400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sz="2400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5BC8F74-9B89-E1FD-0414-758D178EA96F}"/>
              </a:ext>
            </a:extLst>
          </p:cNvPr>
          <p:cNvSpPr/>
          <p:nvPr/>
        </p:nvSpPr>
        <p:spPr>
          <a:xfrm>
            <a:off x="389697" y="3473480"/>
            <a:ext cx="401333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72B37-5517-44CB-9B4B-48EE81B6F753}"/>
              </a:ext>
            </a:extLst>
          </p:cNvPr>
          <p:cNvSpPr/>
          <p:nvPr/>
        </p:nvSpPr>
        <p:spPr>
          <a:xfrm>
            <a:off x="4678619" y="3473480"/>
            <a:ext cx="401333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C89CEC-601A-3D6B-EB9D-0A9F8E490CCE}"/>
              </a:ext>
            </a:extLst>
          </p:cNvPr>
          <p:cNvSpPr/>
          <p:nvPr/>
        </p:nvSpPr>
        <p:spPr>
          <a:xfrm>
            <a:off x="3719192" y="5656119"/>
            <a:ext cx="128922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000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If a body travels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metres with different speeds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m/s in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seconds respectively, then the average speed of the body throughout the journey is given by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sz="2400" dirty="0"/>
                          <m:t> ...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+...+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... 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+...+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A body covers a distance ‘x’ in time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’ with speed ‘a’, but when it travels with speed ‘b’ covers the same distance in time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’.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Product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of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/>
                          <m:t>d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Time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B3D26C1-9278-A3E5-D4A2-C9A5536357A2}"/>
              </a:ext>
            </a:extLst>
          </p:cNvPr>
          <p:cNvSpPr/>
          <p:nvPr/>
        </p:nvSpPr>
        <p:spPr>
          <a:xfrm>
            <a:off x="1272208" y="3568351"/>
            <a:ext cx="677848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BBAA5-E044-D515-7AE6-0A7277FCFDC8}"/>
              </a:ext>
            </a:extLst>
          </p:cNvPr>
          <p:cNvSpPr/>
          <p:nvPr/>
        </p:nvSpPr>
        <p:spPr>
          <a:xfrm>
            <a:off x="1911624" y="5698637"/>
            <a:ext cx="677848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44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5AE9-A8C1-0F3C-0001-97C2684C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F71C78-4175-A2F8-A78F-4DDB4C6DE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If the ratio of the speeds of two persons X and Y is a : b, then the ratio of the times taken by them to cover the same distance is 		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or b : a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F71C78-4175-A2F8-A78F-4DDB4C6DE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CB56D1B-DC95-5AD0-9C85-16B8A4895E13}"/>
              </a:ext>
            </a:extLst>
          </p:cNvPr>
          <p:cNvSpPr/>
          <p:nvPr/>
        </p:nvSpPr>
        <p:spPr>
          <a:xfrm>
            <a:off x="2832651" y="3478695"/>
            <a:ext cx="2703444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57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Basic Concepts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Speed, Distance, Time, &amp; </a:t>
            </a:r>
            <a:r>
              <a:rPr lang="en-IN" dirty="0"/>
              <a:t>Average Speed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Units of Measurement</a:t>
            </a:r>
          </a:p>
          <a:p>
            <a:pPr lvl="0" algn="just"/>
            <a:r>
              <a:rPr lang="en-US" dirty="0"/>
              <a:t>Conversion of Units </a:t>
            </a:r>
          </a:p>
          <a:p>
            <a:pPr lvl="0" algn="just"/>
            <a:r>
              <a:rPr lang="en-IN" dirty="0"/>
              <a:t>Speed, Distance, Time, &amp; Average Speed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Important Facts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Formulae</a:t>
            </a:r>
          </a:p>
          <a:p>
            <a:pPr lvl="0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121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73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5769</TotalTime>
  <Words>2346</Words>
  <Application>Microsoft Office PowerPoint</Application>
  <PresentationFormat>On-screen Show (4:3)</PresentationFormat>
  <Paragraphs>222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Speed, Distance, &amp; Time</vt:lpstr>
      <vt:lpstr>Speed, Distance, &amp; Time</vt:lpstr>
      <vt:lpstr>Speed, Distance, &amp; Time</vt:lpstr>
      <vt:lpstr>Units of Measurement</vt:lpstr>
      <vt:lpstr>Conversion of Units</vt:lpstr>
      <vt:lpstr>Conversion of Units</vt:lpstr>
      <vt:lpstr>Conversion of Units</vt:lpstr>
      <vt:lpstr>Average Speed</vt:lpstr>
      <vt:lpstr>Average Speed</vt:lpstr>
      <vt:lpstr>Average Speed</vt:lpstr>
      <vt:lpstr>Average Speed</vt:lpstr>
      <vt:lpstr>Average Speed</vt:lpstr>
      <vt:lpstr>Total Distance</vt:lpstr>
      <vt:lpstr>Distance</vt:lpstr>
      <vt:lpstr>Distance</vt:lpstr>
      <vt:lpstr>Ratio of Speeds of Two Persons</vt:lpstr>
      <vt:lpstr>Ratio of Speeds of Two Persons</vt:lpstr>
      <vt:lpstr>Ratio of Speeds of Two Persons</vt:lpstr>
      <vt:lpstr>Average Speed - Journey</vt:lpstr>
      <vt:lpstr>Change in Time – Cover Same Distance</vt:lpstr>
      <vt:lpstr>Change in Time – Cover Same Distance</vt:lpstr>
      <vt:lpstr>Usual/Original Time</vt:lpstr>
      <vt:lpstr>Relation – Speed, Time and Distance</vt:lpstr>
      <vt:lpstr>Relation – Speed, Time and Distance</vt:lpstr>
      <vt:lpstr>Relation – Speed, Time and Distance</vt:lpstr>
      <vt:lpstr>Ratio of Speed &amp; Time</vt:lpstr>
      <vt:lpstr>Conclusion</vt:lpstr>
      <vt:lpstr>Conclusion</vt:lpstr>
      <vt:lpstr>Conclusion</vt:lpstr>
      <vt:lpstr>Conclusion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417</cp:revision>
  <dcterms:created xsi:type="dcterms:W3CDTF">2020-12-18T18:59:12Z</dcterms:created>
  <dcterms:modified xsi:type="dcterms:W3CDTF">2022-05-18T10:20:34Z</dcterms:modified>
</cp:coreProperties>
</file>