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78" r:id="rId2"/>
    <p:sldId id="674" r:id="rId3"/>
    <p:sldId id="803" r:id="rId4"/>
    <p:sldId id="819" r:id="rId5"/>
    <p:sldId id="812" r:id="rId6"/>
    <p:sldId id="813" r:id="rId7"/>
    <p:sldId id="774" r:id="rId8"/>
    <p:sldId id="814" r:id="rId9"/>
    <p:sldId id="815" r:id="rId10"/>
    <p:sldId id="822" r:id="rId11"/>
    <p:sldId id="816" r:id="rId12"/>
    <p:sldId id="823" r:id="rId13"/>
    <p:sldId id="767" r:id="rId14"/>
    <p:sldId id="343" r:id="rId15"/>
    <p:sldId id="34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F28"/>
    <a:srgbClr val="262626"/>
    <a:srgbClr val="03232C"/>
    <a:srgbClr val="A8004B"/>
    <a:srgbClr val="ABABAB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-726" y="-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7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xmlns="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xmlns="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xmlns="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xmlns="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xmlns="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develop understanding about the basics of number and symbol coding,</a:t>
            </a:r>
          </a:p>
          <a:p>
            <a:pPr algn="just"/>
            <a:r>
              <a:rPr lang="en-US" dirty="0"/>
              <a:t>analyze different types of number and symbol coding,</a:t>
            </a:r>
          </a:p>
          <a:p>
            <a:pPr lvl="0" algn="just"/>
            <a:r>
              <a:rPr lang="en-US" dirty="0"/>
              <a:t>solve various problems relating to number and symbol coding. </a:t>
            </a:r>
          </a:p>
        </p:txBody>
      </p:sp>
    </p:spTree>
    <p:extLst>
      <p:ext uri="{BB962C8B-B14F-4D97-AF65-F5344CB8AC3E}">
        <p14:creationId xmlns:p14="http://schemas.microsoft.com/office/powerpoint/2010/main" val="122843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6DCD6C-D6E3-5745-9B8B-29FBD6B2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Number </a:t>
            </a:r>
            <a:r>
              <a:rPr lang="en-US" dirty="0"/>
              <a:t>Coding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CE2440-CE6E-EB7D-9926-EB6B212AC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Numerical Codes</a:t>
            </a:r>
            <a:endParaRPr lang="en-IN" dirty="0"/>
          </a:p>
          <a:p>
            <a:pPr lvl="1">
              <a:lnSpc>
                <a:spcPct val="150000"/>
              </a:lnSpc>
            </a:pPr>
            <a:r>
              <a:rPr lang="en-US" dirty="0"/>
              <a:t>Alphabetic Letters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Words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Correlation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Letters - Numbers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Pattern</a:t>
            </a:r>
          </a:p>
        </p:txBody>
      </p:sp>
    </p:spTree>
    <p:extLst>
      <p:ext uri="{BB962C8B-B14F-4D97-AF65-F5344CB8AC3E}">
        <p14:creationId xmlns:p14="http://schemas.microsoft.com/office/powerpoint/2010/main" val="648902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9957B6-54B6-1CAA-605E-7DB8AB20C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Number </a:t>
            </a:r>
            <a:r>
              <a:rPr lang="en-US" dirty="0"/>
              <a:t>Coding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DF3414-3A45-4F1C-8286-D89B9BDD9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in a certain code language ‘GATE‘ is written as ‘33‘ , then how will ‘PHONE‘ be written in that language?</a:t>
            </a:r>
          </a:p>
          <a:p>
            <a:r>
              <a:rPr lang="en-US" dirty="0"/>
              <a:t> G	A	T	E 	–	33</a:t>
            </a:r>
          </a:p>
          <a:p>
            <a:r>
              <a:rPr lang="en-IN" dirty="0"/>
              <a:t>7  +	1    + 	20  + 	5	=	33</a:t>
            </a:r>
          </a:p>
          <a:p>
            <a:endParaRPr lang="en-IN" dirty="0"/>
          </a:p>
          <a:p>
            <a:r>
              <a:rPr lang="en-US" dirty="0"/>
              <a:t>P	H	O	N	E 	</a:t>
            </a:r>
          </a:p>
          <a:p>
            <a:r>
              <a:rPr lang="en-IN" dirty="0"/>
              <a:t>16  +	 8   + 	15  + 	14	5	=	58</a:t>
            </a:r>
          </a:p>
          <a:p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BA1C21A2-9189-ADD2-0C99-1C691FF9D161}"/>
              </a:ext>
            </a:extLst>
          </p:cNvPr>
          <p:cNvCxnSpPr/>
          <p:nvPr/>
        </p:nvCxnSpPr>
        <p:spPr>
          <a:xfrm>
            <a:off x="844826" y="3120887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1B0D449E-29AD-9296-49BA-ABAA0606BC1D}"/>
              </a:ext>
            </a:extLst>
          </p:cNvPr>
          <p:cNvCxnSpPr/>
          <p:nvPr/>
        </p:nvCxnSpPr>
        <p:spPr>
          <a:xfrm>
            <a:off x="1454426" y="3120887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4C6C9B80-FA89-4FF6-4950-07D4D89A676D}"/>
              </a:ext>
            </a:extLst>
          </p:cNvPr>
          <p:cNvCxnSpPr/>
          <p:nvPr/>
        </p:nvCxnSpPr>
        <p:spPr>
          <a:xfrm>
            <a:off x="2342322" y="3120887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7E8A81DB-94AA-D1E8-5FC2-808E3F0BAA23}"/>
              </a:ext>
            </a:extLst>
          </p:cNvPr>
          <p:cNvCxnSpPr/>
          <p:nvPr/>
        </p:nvCxnSpPr>
        <p:spPr>
          <a:xfrm>
            <a:off x="3306417" y="3120887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32EBFC17-A1AE-0428-E38C-9B1A26F49D4A}"/>
              </a:ext>
            </a:extLst>
          </p:cNvPr>
          <p:cNvCxnSpPr/>
          <p:nvPr/>
        </p:nvCxnSpPr>
        <p:spPr>
          <a:xfrm>
            <a:off x="833059" y="5312294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43F06263-885B-81DB-CEB3-DE1A1CB1F655}"/>
              </a:ext>
            </a:extLst>
          </p:cNvPr>
          <p:cNvCxnSpPr/>
          <p:nvPr/>
        </p:nvCxnSpPr>
        <p:spPr>
          <a:xfrm>
            <a:off x="1442659" y="5312294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53AC6420-A6ED-7667-E307-E84B8D5B07DB}"/>
              </a:ext>
            </a:extLst>
          </p:cNvPr>
          <p:cNvCxnSpPr/>
          <p:nvPr/>
        </p:nvCxnSpPr>
        <p:spPr>
          <a:xfrm>
            <a:off x="2330555" y="5312294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57753652-F12F-0999-CC45-C946347CB20C}"/>
              </a:ext>
            </a:extLst>
          </p:cNvPr>
          <p:cNvCxnSpPr/>
          <p:nvPr/>
        </p:nvCxnSpPr>
        <p:spPr>
          <a:xfrm>
            <a:off x="3294650" y="5312294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9D963286-F0A6-C6C1-5644-B02564438046}"/>
              </a:ext>
            </a:extLst>
          </p:cNvPr>
          <p:cNvCxnSpPr/>
          <p:nvPr/>
        </p:nvCxnSpPr>
        <p:spPr>
          <a:xfrm>
            <a:off x="4203795" y="5312294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51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Number </a:t>
            </a:r>
            <a:r>
              <a:rPr lang="en-US" dirty="0"/>
              <a:t>Coding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If G = 7 and GAP = 24, then ROCK = ?</a:t>
            </a:r>
          </a:p>
          <a:p>
            <a:pPr algn="just"/>
            <a:r>
              <a:rPr lang="en-US" dirty="0"/>
              <a:t>G = 7</a:t>
            </a:r>
          </a:p>
          <a:p>
            <a:pPr algn="just"/>
            <a:r>
              <a:rPr lang="en-US" dirty="0"/>
              <a:t>G	A	P 	= 24  </a:t>
            </a:r>
          </a:p>
          <a:p>
            <a:pPr algn="just"/>
            <a:r>
              <a:rPr lang="en-US" dirty="0"/>
              <a:t>7  + 	1    + 	16 </a:t>
            </a:r>
          </a:p>
          <a:p>
            <a:pPr algn="just"/>
            <a:r>
              <a:rPr lang="en-US" dirty="0"/>
              <a:t>R	O	C	K</a:t>
            </a:r>
          </a:p>
          <a:p>
            <a:pPr algn="just"/>
            <a:r>
              <a:rPr lang="en-US" dirty="0"/>
              <a:t>18 + 15   +	3    + 	11	= 47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EE0FD62A-00D5-1275-7FDF-6E747B87F2E7}"/>
              </a:ext>
            </a:extLst>
          </p:cNvPr>
          <p:cNvCxnSpPr/>
          <p:nvPr/>
        </p:nvCxnSpPr>
        <p:spPr>
          <a:xfrm>
            <a:off x="823805" y="3278543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FCEAA00B-A3F3-69B5-AF7B-2F17E7CC420A}"/>
              </a:ext>
            </a:extLst>
          </p:cNvPr>
          <p:cNvCxnSpPr/>
          <p:nvPr/>
        </p:nvCxnSpPr>
        <p:spPr>
          <a:xfrm>
            <a:off x="1433405" y="3278543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95D2007F-15B3-08E9-82C4-5B4D37C51EC2}"/>
              </a:ext>
            </a:extLst>
          </p:cNvPr>
          <p:cNvCxnSpPr/>
          <p:nvPr/>
        </p:nvCxnSpPr>
        <p:spPr>
          <a:xfrm>
            <a:off x="2321301" y="3278543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1EDAED4A-1C6D-35B2-2BE8-AF366E207DF6}"/>
              </a:ext>
            </a:extLst>
          </p:cNvPr>
          <p:cNvCxnSpPr/>
          <p:nvPr/>
        </p:nvCxnSpPr>
        <p:spPr>
          <a:xfrm>
            <a:off x="792275" y="4697439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BC9761FD-C117-4028-CA84-7710B7A2E604}"/>
              </a:ext>
            </a:extLst>
          </p:cNvPr>
          <p:cNvCxnSpPr/>
          <p:nvPr/>
        </p:nvCxnSpPr>
        <p:spPr>
          <a:xfrm>
            <a:off x="1401875" y="4697439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7BD67955-AED1-9E9A-C653-DEC78D7BEEA4}"/>
              </a:ext>
            </a:extLst>
          </p:cNvPr>
          <p:cNvCxnSpPr/>
          <p:nvPr/>
        </p:nvCxnSpPr>
        <p:spPr>
          <a:xfrm>
            <a:off x="2363341" y="4697439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9532E50A-B14E-B9DA-680D-1E44F894C818}"/>
              </a:ext>
            </a:extLst>
          </p:cNvPr>
          <p:cNvCxnSpPr/>
          <p:nvPr/>
        </p:nvCxnSpPr>
        <p:spPr>
          <a:xfrm>
            <a:off x="3253866" y="4697439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80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Number </a:t>
            </a:r>
            <a:r>
              <a:rPr lang="en-US" dirty="0"/>
              <a:t>Coding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If in a certain code language ‘RIGHT’ is written as ‘1897820’  then how will ‘WRONG’ be written in that language?</a:t>
            </a:r>
          </a:p>
          <a:p>
            <a:pPr algn="just"/>
            <a:r>
              <a:rPr lang="en-US" dirty="0"/>
              <a:t>R	I	G	H	T  	</a:t>
            </a:r>
          </a:p>
          <a:p>
            <a:pPr algn="just"/>
            <a:r>
              <a:rPr lang="en-US" dirty="0"/>
              <a:t>18	9	7	8	20</a:t>
            </a:r>
          </a:p>
          <a:p>
            <a:pPr algn="just"/>
            <a:r>
              <a:rPr lang="en-US" dirty="0"/>
              <a:t>W	R	O	N	G  	</a:t>
            </a:r>
          </a:p>
          <a:p>
            <a:pPr algn="just"/>
            <a:r>
              <a:rPr lang="en-US" dirty="0"/>
              <a:t>23	18	15	14	7	</a:t>
            </a:r>
          </a:p>
          <a:p>
            <a:pPr lvl="1" algn="just">
              <a:lnSpc>
                <a:spcPct val="170000"/>
              </a:lnSpc>
            </a:pP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xmlns="" id="{2623644B-2DE6-85BF-46D2-C06B2C2206BF}"/>
              </a:ext>
            </a:extLst>
          </p:cNvPr>
          <p:cNvCxnSpPr/>
          <p:nvPr/>
        </p:nvCxnSpPr>
        <p:spPr>
          <a:xfrm>
            <a:off x="781764" y="3719976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C7BF8B5A-1899-45BF-ED1B-FEC34EFF19A2}"/>
              </a:ext>
            </a:extLst>
          </p:cNvPr>
          <p:cNvCxnSpPr/>
          <p:nvPr/>
        </p:nvCxnSpPr>
        <p:spPr>
          <a:xfrm>
            <a:off x="1391364" y="3719976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17A7E461-0FE9-2424-A80C-82E529C4B049}"/>
              </a:ext>
            </a:extLst>
          </p:cNvPr>
          <p:cNvCxnSpPr/>
          <p:nvPr/>
        </p:nvCxnSpPr>
        <p:spPr>
          <a:xfrm>
            <a:off x="2342320" y="3719976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207B3AD1-2632-84A3-FEA0-83D1A9642C8D}"/>
              </a:ext>
            </a:extLst>
          </p:cNvPr>
          <p:cNvCxnSpPr/>
          <p:nvPr/>
        </p:nvCxnSpPr>
        <p:spPr>
          <a:xfrm>
            <a:off x="3274885" y="3719976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E36FB862-A7A1-90B3-B4B7-766C1CCDEF3E}"/>
              </a:ext>
            </a:extLst>
          </p:cNvPr>
          <p:cNvCxnSpPr/>
          <p:nvPr/>
        </p:nvCxnSpPr>
        <p:spPr>
          <a:xfrm>
            <a:off x="4184029" y="3719976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CFE1445C-2A67-2D39-CAE6-1DF78CED9A02}"/>
              </a:ext>
            </a:extLst>
          </p:cNvPr>
          <p:cNvCxnSpPr/>
          <p:nvPr/>
        </p:nvCxnSpPr>
        <p:spPr>
          <a:xfrm>
            <a:off x="803697" y="5175659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90E9A742-26B8-ACCA-2C14-A946CCAA8C0C}"/>
              </a:ext>
            </a:extLst>
          </p:cNvPr>
          <p:cNvCxnSpPr/>
          <p:nvPr/>
        </p:nvCxnSpPr>
        <p:spPr>
          <a:xfrm>
            <a:off x="1413297" y="5175659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421C1F44-433E-2DB3-6458-3BEA0AFF8A80}"/>
              </a:ext>
            </a:extLst>
          </p:cNvPr>
          <p:cNvCxnSpPr/>
          <p:nvPr/>
        </p:nvCxnSpPr>
        <p:spPr>
          <a:xfrm>
            <a:off x="2364253" y="5175659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86BE90B6-D035-A83F-2BB6-219899F5ED55}"/>
              </a:ext>
            </a:extLst>
          </p:cNvPr>
          <p:cNvCxnSpPr/>
          <p:nvPr/>
        </p:nvCxnSpPr>
        <p:spPr>
          <a:xfrm>
            <a:off x="3296818" y="5175659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64C29FA7-332E-9F77-5EAC-16081F264331}"/>
              </a:ext>
            </a:extLst>
          </p:cNvPr>
          <p:cNvCxnSpPr/>
          <p:nvPr/>
        </p:nvCxnSpPr>
        <p:spPr>
          <a:xfrm>
            <a:off x="4205962" y="5175659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4222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Number </a:t>
            </a:r>
            <a:r>
              <a:rPr lang="en-US" dirty="0"/>
              <a:t>Coding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If in a certain code language ‘CREATOR’ is written as ‘24922267129’  then how will ‘FIGHTER’ be written in that language?</a:t>
            </a:r>
          </a:p>
          <a:p>
            <a:pPr algn="just"/>
            <a:r>
              <a:rPr lang="en-US" dirty="0"/>
              <a:t>C	R	E	A	T	O	R  </a:t>
            </a:r>
          </a:p>
          <a:p>
            <a:pPr algn="just"/>
            <a:r>
              <a:rPr lang="en-US" dirty="0"/>
              <a:t>24	9	22	26	7	12	9</a:t>
            </a:r>
          </a:p>
          <a:p>
            <a:pPr algn="just"/>
            <a:r>
              <a:rPr lang="en-US" dirty="0"/>
              <a:t>F	I	G	H	T	E	R 	</a:t>
            </a:r>
          </a:p>
          <a:p>
            <a:pPr algn="just"/>
            <a:r>
              <a:rPr lang="en-US" dirty="0"/>
              <a:t>21 	18 	20 	19 	7 	22	9		</a:t>
            </a:r>
          </a:p>
          <a:p>
            <a:pPr algn="just">
              <a:lnSpc>
                <a:spcPct val="170000"/>
              </a:lnSpc>
            </a:pPr>
            <a:endParaRPr lang="fr-FR" dirty="0"/>
          </a:p>
          <a:p>
            <a:pPr algn="just">
              <a:lnSpc>
                <a:spcPct val="170000"/>
              </a:lnSpc>
            </a:pPr>
            <a:endParaRPr lang="fr-FR" dirty="0"/>
          </a:p>
          <a:p>
            <a:pPr algn="just">
              <a:lnSpc>
                <a:spcPct val="170000"/>
              </a:lnSpc>
            </a:pPr>
            <a:endParaRPr lang="fr-FR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xmlns="" id="{F12C6C47-91E9-021B-3F6D-591C15C89DBB}"/>
              </a:ext>
            </a:extLst>
          </p:cNvPr>
          <p:cNvCxnSpPr/>
          <p:nvPr/>
        </p:nvCxnSpPr>
        <p:spPr>
          <a:xfrm>
            <a:off x="781764" y="3719976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3F6CCF62-C47F-6391-CA51-4103238297F6}"/>
              </a:ext>
            </a:extLst>
          </p:cNvPr>
          <p:cNvCxnSpPr/>
          <p:nvPr/>
        </p:nvCxnSpPr>
        <p:spPr>
          <a:xfrm>
            <a:off x="1433404" y="3719976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1F306E4C-1FDE-16B2-82AA-DAFC624C1BA1}"/>
              </a:ext>
            </a:extLst>
          </p:cNvPr>
          <p:cNvCxnSpPr/>
          <p:nvPr/>
        </p:nvCxnSpPr>
        <p:spPr>
          <a:xfrm>
            <a:off x="2342320" y="3719976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39AC3B16-4DF1-DE3E-7F51-F517BD3D3358}"/>
              </a:ext>
            </a:extLst>
          </p:cNvPr>
          <p:cNvCxnSpPr/>
          <p:nvPr/>
        </p:nvCxnSpPr>
        <p:spPr>
          <a:xfrm>
            <a:off x="3274885" y="3719976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C9FB341A-AFA9-505D-06F2-CACE3428705B}"/>
              </a:ext>
            </a:extLst>
          </p:cNvPr>
          <p:cNvCxnSpPr/>
          <p:nvPr/>
        </p:nvCxnSpPr>
        <p:spPr>
          <a:xfrm>
            <a:off x="4184029" y="3719976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F39DEFD5-47F4-AA2C-3EF8-FEA132F88922}"/>
              </a:ext>
            </a:extLst>
          </p:cNvPr>
          <p:cNvCxnSpPr/>
          <p:nvPr/>
        </p:nvCxnSpPr>
        <p:spPr>
          <a:xfrm>
            <a:off x="5135215" y="3719976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5100DA79-C1A6-B80E-21ED-CDBAA160B668}"/>
              </a:ext>
            </a:extLst>
          </p:cNvPr>
          <p:cNvCxnSpPr/>
          <p:nvPr/>
        </p:nvCxnSpPr>
        <p:spPr>
          <a:xfrm>
            <a:off x="6044360" y="3719976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D46F6487-233F-C5A2-6F77-112D89BF1918}"/>
              </a:ext>
            </a:extLst>
          </p:cNvPr>
          <p:cNvCxnSpPr/>
          <p:nvPr/>
        </p:nvCxnSpPr>
        <p:spPr>
          <a:xfrm>
            <a:off x="781764" y="5165149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A946E4C7-002D-F888-C12C-C6612B7DEAD5}"/>
              </a:ext>
            </a:extLst>
          </p:cNvPr>
          <p:cNvCxnSpPr/>
          <p:nvPr/>
        </p:nvCxnSpPr>
        <p:spPr>
          <a:xfrm>
            <a:off x="1391364" y="5165149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88BBE398-77C7-2378-5196-9B236EFD00F2}"/>
              </a:ext>
            </a:extLst>
          </p:cNvPr>
          <p:cNvCxnSpPr/>
          <p:nvPr/>
        </p:nvCxnSpPr>
        <p:spPr>
          <a:xfrm>
            <a:off x="2342320" y="5165149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157BE898-4B6A-73A5-F5C1-5086DC354A41}"/>
              </a:ext>
            </a:extLst>
          </p:cNvPr>
          <p:cNvCxnSpPr/>
          <p:nvPr/>
        </p:nvCxnSpPr>
        <p:spPr>
          <a:xfrm>
            <a:off x="3274885" y="5165149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672B6D8F-DF4C-381E-728C-F84B992B3A8E}"/>
              </a:ext>
            </a:extLst>
          </p:cNvPr>
          <p:cNvCxnSpPr/>
          <p:nvPr/>
        </p:nvCxnSpPr>
        <p:spPr>
          <a:xfrm>
            <a:off x="4184029" y="5165149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18166270-F908-D61D-CB9C-4643DF087DF8}"/>
              </a:ext>
            </a:extLst>
          </p:cNvPr>
          <p:cNvCxnSpPr/>
          <p:nvPr/>
        </p:nvCxnSpPr>
        <p:spPr>
          <a:xfrm>
            <a:off x="5135215" y="5165149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BDDA8975-6043-0253-ADCA-3F4879C82C8A}"/>
              </a:ext>
            </a:extLst>
          </p:cNvPr>
          <p:cNvCxnSpPr/>
          <p:nvPr/>
        </p:nvCxnSpPr>
        <p:spPr>
          <a:xfrm>
            <a:off x="6044360" y="5165149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29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Number </a:t>
            </a:r>
            <a:r>
              <a:rPr lang="en-US" dirty="0"/>
              <a:t>Coding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70000"/>
              </a:lnSpc>
            </a:pPr>
            <a:r>
              <a:rPr lang="fr-FR" dirty="0"/>
              <a:t>If ‘EXCEL’ and ‘PAINT’ are </a:t>
            </a:r>
            <a:r>
              <a:rPr lang="fr-FR" dirty="0" err="1"/>
              <a:t>coded</a:t>
            </a:r>
            <a:r>
              <a:rPr lang="fr-FR" dirty="0"/>
              <a:t> as ‘93596’ and ‘74128’ </a:t>
            </a:r>
            <a:r>
              <a:rPr lang="fr-FR" dirty="0" err="1"/>
              <a:t>respectively</a:t>
            </a:r>
            <a:r>
              <a:rPr lang="fr-FR" dirty="0"/>
              <a:t>, </a:t>
            </a:r>
            <a:r>
              <a:rPr lang="fr-FR" dirty="0" err="1"/>
              <a:t>then</a:t>
            </a:r>
            <a:r>
              <a:rPr lang="fr-FR" dirty="0"/>
              <a:t> how </a:t>
            </a:r>
            <a:r>
              <a:rPr lang="fr-FR" dirty="0" err="1"/>
              <a:t>is</a:t>
            </a:r>
            <a:r>
              <a:rPr lang="fr-FR" dirty="0"/>
              <a:t> ‘ACCEPT’ </a:t>
            </a:r>
            <a:r>
              <a:rPr lang="fr-FR" dirty="0" err="1"/>
              <a:t>coded</a:t>
            </a:r>
            <a:r>
              <a:rPr lang="fr-FR" dirty="0"/>
              <a:t>?</a:t>
            </a:r>
          </a:p>
          <a:p>
            <a:pPr algn="just">
              <a:lnSpc>
                <a:spcPct val="170000"/>
              </a:lnSpc>
            </a:pPr>
            <a:r>
              <a:rPr lang="fr-FR" dirty="0"/>
              <a:t>E	X	C	E	L</a:t>
            </a:r>
          </a:p>
          <a:p>
            <a:pPr algn="just"/>
            <a:r>
              <a:rPr lang="en-US" dirty="0"/>
              <a:t>9	3	5	9	6    </a:t>
            </a:r>
          </a:p>
          <a:p>
            <a:pPr algn="just"/>
            <a:r>
              <a:rPr lang="fr-FR" dirty="0"/>
              <a:t>P	A	I	N	T </a:t>
            </a:r>
            <a:endParaRPr lang="en-US" dirty="0"/>
          </a:p>
          <a:p>
            <a:pPr algn="just"/>
            <a:r>
              <a:rPr lang="en-US" dirty="0"/>
              <a:t>7	4	1	2	8</a:t>
            </a:r>
          </a:p>
          <a:p>
            <a:pPr algn="just"/>
            <a:r>
              <a:rPr lang="fr-FR" dirty="0"/>
              <a:t>A	C	C	E	P	T </a:t>
            </a:r>
          </a:p>
          <a:p>
            <a:pPr algn="just"/>
            <a:r>
              <a:rPr lang="en-US" dirty="0"/>
              <a:t>4	5	5	9	7	8			</a:t>
            </a:r>
          </a:p>
          <a:p>
            <a:pPr algn="just">
              <a:lnSpc>
                <a:spcPct val="170000"/>
              </a:lnSpc>
            </a:pPr>
            <a:endParaRPr lang="fr-FR" dirty="0"/>
          </a:p>
          <a:p>
            <a:pPr algn="just">
              <a:lnSpc>
                <a:spcPct val="170000"/>
              </a:lnSpc>
            </a:pPr>
            <a:endParaRPr lang="fr-FR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DECE87F3-80ED-3AE2-B3A0-1B93198B3BFC}"/>
              </a:ext>
            </a:extLst>
          </p:cNvPr>
          <p:cNvCxnSpPr/>
          <p:nvPr/>
        </p:nvCxnSpPr>
        <p:spPr>
          <a:xfrm>
            <a:off x="771253" y="3089355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5D083831-0585-4EC6-9B8C-914A7EF467A4}"/>
              </a:ext>
            </a:extLst>
          </p:cNvPr>
          <p:cNvCxnSpPr/>
          <p:nvPr/>
        </p:nvCxnSpPr>
        <p:spPr>
          <a:xfrm>
            <a:off x="1422893" y="3089355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83E54239-4C07-CAF0-BBA5-03FFC4BB58EB}"/>
              </a:ext>
            </a:extLst>
          </p:cNvPr>
          <p:cNvCxnSpPr/>
          <p:nvPr/>
        </p:nvCxnSpPr>
        <p:spPr>
          <a:xfrm>
            <a:off x="2352829" y="3089355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D6F35B04-071A-67F3-78FE-C620FBDD31F6}"/>
              </a:ext>
            </a:extLst>
          </p:cNvPr>
          <p:cNvCxnSpPr/>
          <p:nvPr/>
        </p:nvCxnSpPr>
        <p:spPr>
          <a:xfrm>
            <a:off x="3264374" y="3089355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1FB6FC95-209D-F540-EB52-E633B54695EC}"/>
              </a:ext>
            </a:extLst>
          </p:cNvPr>
          <p:cNvCxnSpPr/>
          <p:nvPr/>
        </p:nvCxnSpPr>
        <p:spPr>
          <a:xfrm>
            <a:off x="4173518" y="3089355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28D739B4-C3FF-F30E-63CE-DF165322268D}"/>
              </a:ext>
            </a:extLst>
          </p:cNvPr>
          <p:cNvCxnSpPr/>
          <p:nvPr/>
        </p:nvCxnSpPr>
        <p:spPr>
          <a:xfrm>
            <a:off x="771253" y="4350596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427ACE31-9322-3131-99D4-F476FE281CFE}"/>
              </a:ext>
            </a:extLst>
          </p:cNvPr>
          <p:cNvCxnSpPr/>
          <p:nvPr/>
        </p:nvCxnSpPr>
        <p:spPr>
          <a:xfrm>
            <a:off x="1422893" y="4350596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5929E697-05B8-3433-8CFA-14A9FF6149E4}"/>
              </a:ext>
            </a:extLst>
          </p:cNvPr>
          <p:cNvCxnSpPr/>
          <p:nvPr/>
        </p:nvCxnSpPr>
        <p:spPr>
          <a:xfrm>
            <a:off x="2331809" y="4350596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61C65440-13FE-725A-D7ED-6B55EEA79D8C}"/>
              </a:ext>
            </a:extLst>
          </p:cNvPr>
          <p:cNvCxnSpPr/>
          <p:nvPr/>
        </p:nvCxnSpPr>
        <p:spPr>
          <a:xfrm>
            <a:off x="3264374" y="4350596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D4552454-01CF-B13A-30AD-93B885F92710}"/>
              </a:ext>
            </a:extLst>
          </p:cNvPr>
          <p:cNvCxnSpPr/>
          <p:nvPr/>
        </p:nvCxnSpPr>
        <p:spPr>
          <a:xfrm>
            <a:off x="4173518" y="4350596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F24BFC9E-957B-D3B7-D55E-6A76C5218368}"/>
              </a:ext>
            </a:extLst>
          </p:cNvPr>
          <p:cNvCxnSpPr/>
          <p:nvPr/>
        </p:nvCxnSpPr>
        <p:spPr>
          <a:xfrm>
            <a:off x="771253" y="5632858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5631FE84-8ECC-0BA2-7DE8-C049A58B4DBB}"/>
              </a:ext>
            </a:extLst>
          </p:cNvPr>
          <p:cNvCxnSpPr/>
          <p:nvPr/>
        </p:nvCxnSpPr>
        <p:spPr>
          <a:xfrm>
            <a:off x="1422893" y="5632858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133E730B-B564-8C69-51C8-0B4FC7E4A178}"/>
              </a:ext>
            </a:extLst>
          </p:cNvPr>
          <p:cNvCxnSpPr/>
          <p:nvPr/>
        </p:nvCxnSpPr>
        <p:spPr>
          <a:xfrm>
            <a:off x="2331809" y="5632858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D3006810-DF28-0813-CEB8-A05D1A724F03}"/>
              </a:ext>
            </a:extLst>
          </p:cNvPr>
          <p:cNvCxnSpPr/>
          <p:nvPr/>
        </p:nvCxnSpPr>
        <p:spPr>
          <a:xfrm>
            <a:off x="3264374" y="5632858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F1B30AE4-DFD0-A61D-4B7F-B58D0318AE15}"/>
              </a:ext>
            </a:extLst>
          </p:cNvPr>
          <p:cNvCxnSpPr/>
          <p:nvPr/>
        </p:nvCxnSpPr>
        <p:spPr>
          <a:xfrm>
            <a:off x="4173518" y="5632858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xmlns="" id="{BD8287EA-535F-3972-C192-9C82C4929205}"/>
              </a:ext>
            </a:extLst>
          </p:cNvPr>
          <p:cNvCxnSpPr/>
          <p:nvPr/>
        </p:nvCxnSpPr>
        <p:spPr>
          <a:xfrm>
            <a:off x="5124704" y="5632858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B6936EF9-A60C-A069-9D15-D243851944C2}"/>
              </a:ext>
            </a:extLst>
          </p:cNvPr>
          <p:cNvSpPr/>
          <p:nvPr/>
        </p:nvSpPr>
        <p:spPr>
          <a:xfrm>
            <a:off x="1336185" y="4007753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6993B5C3-90E2-D376-4D9C-8C61AB063E0F}"/>
              </a:ext>
            </a:extLst>
          </p:cNvPr>
          <p:cNvSpPr/>
          <p:nvPr/>
        </p:nvSpPr>
        <p:spPr>
          <a:xfrm>
            <a:off x="2240931" y="2706698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798934C7-D30A-A4F9-5D0B-D343916AD59D}"/>
              </a:ext>
            </a:extLst>
          </p:cNvPr>
          <p:cNvSpPr/>
          <p:nvPr/>
        </p:nvSpPr>
        <p:spPr>
          <a:xfrm>
            <a:off x="3162758" y="2706697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92666D95-8C8E-BBA0-91C1-556719BA1821}"/>
              </a:ext>
            </a:extLst>
          </p:cNvPr>
          <p:cNvSpPr/>
          <p:nvPr/>
        </p:nvSpPr>
        <p:spPr>
          <a:xfrm>
            <a:off x="641488" y="3967939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5C465B26-B7E9-7EC6-16C3-F73393D50ED7}"/>
              </a:ext>
            </a:extLst>
          </p:cNvPr>
          <p:cNvSpPr/>
          <p:nvPr/>
        </p:nvSpPr>
        <p:spPr>
          <a:xfrm>
            <a:off x="4059218" y="3995737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17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Number </a:t>
            </a:r>
            <a:r>
              <a:rPr lang="en-US" dirty="0"/>
              <a:t>Coding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fr-FR" dirty="0"/>
              <a:t>If ‘MEET’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coded</a:t>
            </a:r>
            <a:r>
              <a:rPr lang="fr-FR" dirty="0"/>
              <a:t> as ‘135520’ </a:t>
            </a:r>
            <a:r>
              <a:rPr lang="fr-FR" dirty="0" err="1"/>
              <a:t>then</a:t>
            </a:r>
            <a:r>
              <a:rPr lang="fr-FR" dirty="0"/>
              <a:t> how </a:t>
            </a:r>
            <a:r>
              <a:rPr lang="fr-FR" dirty="0" err="1"/>
              <a:t>is</a:t>
            </a:r>
            <a:r>
              <a:rPr lang="fr-FR" dirty="0"/>
              <a:t> ‘WOOD’ </a:t>
            </a:r>
            <a:r>
              <a:rPr lang="fr-FR" dirty="0" err="1"/>
              <a:t>coded</a:t>
            </a:r>
            <a:r>
              <a:rPr lang="fr-FR" dirty="0"/>
              <a:t>? </a:t>
            </a:r>
          </a:p>
          <a:p>
            <a:pPr algn="just">
              <a:lnSpc>
                <a:spcPct val="170000"/>
              </a:lnSpc>
            </a:pPr>
            <a:r>
              <a:rPr lang="fr-FR" dirty="0"/>
              <a:t>M	E	E	T </a:t>
            </a:r>
          </a:p>
          <a:p>
            <a:pPr algn="just">
              <a:lnSpc>
                <a:spcPct val="170000"/>
              </a:lnSpc>
            </a:pPr>
            <a:r>
              <a:rPr lang="fr-FR" dirty="0"/>
              <a:t>13	5	5	20 </a:t>
            </a:r>
          </a:p>
          <a:p>
            <a:pPr algn="just">
              <a:lnSpc>
                <a:spcPct val="170000"/>
              </a:lnSpc>
            </a:pPr>
            <a:r>
              <a:rPr lang="fr-FR" dirty="0"/>
              <a:t>W	O	O	D</a:t>
            </a:r>
          </a:p>
          <a:p>
            <a:pPr algn="just">
              <a:lnSpc>
                <a:spcPct val="170000"/>
              </a:lnSpc>
            </a:pPr>
            <a:r>
              <a:rPr lang="fr-FR" dirty="0"/>
              <a:t>23	15	15	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xmlns="" id="{F29E2B75-4A51-9160-1A8C-29BC257B53C5}"/>
              </a:ext>
            </a:extLst>
          </p:cNvPr>
          <p:cNvCxnSpPr/>
          <p:nvPr/>
        </p:nvCxnSpPr>
        <p:spPr>
          <a:xfrm>
            <a:off x="792274" y="3429000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xmlns="" id="{F6DB9B97-D544-01BE-A2C0-7255EA7410A0}"/>
              </a:ext>
            </a:extLst>
          </p:cNvPr>
          <p:cNvCxnSpPr/>
          <p:nvPr/>
        </p:nvCxnSpPr>
        <p:spPr>
          <a:xfrm>
            <a:off x="1443914" y="3429000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xmlns="" id="{A25C782E-7505-310A-E614-B37A03C190E0}"/>
              </a:ext>
            </a:extLst>
          </p:cNvPr>
          <p:cNvCxnSpPr/>
          <p:nvPr/>
        </p:nvCxnSpPr>
        <p:spPr>
          <a:xfrm>
            <a:off x="2352830" y="3429000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4A7C051E-BF9E-ACFC-3498-D4139E805960}"/>
              </a:ext>
            </a:extLst>
          </p:cNvPr>
          <p:cNvCxnSpPr/>
          <p:nvPr/>
        </p:nvCxnSpPr>
        <p:spPr>
          <a:xfrm>
            <a:off x="3285395" y="3429000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5406DEA3-A0AB-72C4-F94F-3F390AD90227}"/>
              </a:ext>
            </a:extLst>
          </p:cNvPr>
          <p:cNvCxnSpPr/>
          <p:nvPr/>
        </p:nvCxnSpPr>
        <p:spPr>
          <a:xfrm>
            <a:off x="792274" y="4981218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48C245BC-D75A-94F5-DAB0-9FB01159B58F}"/>
              </a:ext>
            </a:extLst>
          </p:cNvPr>
          <p:cNvCxnSpPr/>
          <p:nvPr/>
        </p:nvCxnSpPr>
        <p:spPr>
          <a:xfrm>
            <a:off x="1443914" y="4981218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6259930F-A25D-35AF-19E3-31ADCE76FAE1}"/>
              </a:ext>
            </a:extLst>
          </p:cNvPr>
          <p:cNvCxnSpPr/>
          <p:nvPr/>
        </p:nvCxnSpPr>
        <p:spPr>
          <a:xfrm>
            <a:off x="2352830" y="4981218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00EAC389-6300-5AEA-D7BF-CACB59C14E0E}"/>
              </a:ext>
            </a:extLst>
          </p:cNvPr>
          <p:cNvCxnSpPr/>
          <p:nvPr/>
        </p:nvCxnSpPr>
        <p:spPr>
          <a:xfrm>
            <a:off x="3285395" y="4981218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85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6DCD6C-D6E3-5745-9B8B-29FBD6B2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Symbol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CE2440-CE6E-EB7D-9926-EB6B212AC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Symbols</a:t>
            </a:r>
            <a:endParaRPr lang="en-IN" dirty="0"/>
          </a:p>
          <a:p>
            <a:pPr lvl="1">
              <a:lnSpc>
                <a:spcPct val="150000"/>
              </a:lnSpc>
            </a:pPr>
            <a:r>
              <a:rPr lang="en-US" dirty="0"/>
              <a:t>Letters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Words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Correlation/Similarity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Rule/Pattern</a:t>
            </a:r>
          </a:p>
        </p:txBody>
      </p:sp>
    </p:spTree>
    <p:extLst>
      <p:ext uri="{BB962C8B-B14F-4D97-AF65-F5344CB8AC3E}">
        <p14:creationId xmlns:p14="http://schemas.microsoft.com/office/powerpoint/2010/main" val="173717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Symbol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70000"/>
              </a:lnSpc>
            </a:pPr>
            <a:r>
              <a:rPr lang="fr-FR" dirty="0"/>
              <a:t>In a certain code ‘GONE’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written</a:t>
            </a:r>
            <a:r>
              <a:rPr lang="fr-FR" dirty="0"/>
              <a:t> as ‘$&amp;@#’ and ‘MEDAL’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written</a:t>
            </a:r>
            <a:r>
              <a:rPr lang="fr-FR" dirty="0"/>
              <a:t> as *#%^/, </a:t>
            </a:r>
            <a:r>
              <a:rPr lang="fr-FR" dirty="0" err="1"/>
              <a:t>then</a:t>
            </a:r>
            <a:r>
              <a:rPr lang="fr-FR" dirty="0"/>
              <a:t> how </a:t>
            </a:r>
            <a:r>
              <a:rPr lang="fr-FR" dirty="0" err="1"/>
              <a:t>will</a:t>
            </a:r>
            <a:r>
              <a:rPr lang="fr-FR" dirty="0"/>
              <a:t> ‘GOLD’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written</a:t>
            </a:r>
            <a:r>
              <a:rPr lang="fr-FR" dirty="0"/>
              <a:t> in </a:t>
            </a:r>
            <a:r>
              <a:rPr lang="fr-FR" dirty="0" err="1"/>
              <a:t>that</a:t>
            </a:r>
            <a:r>
              <a:rPr lang="fr-FR" dirty="0"/>
              <a:t> code?</a:t>
            </a:r>
          </a:p>
          <a:p>
            <a:pPr algn="just">
              <a:lnSpc>
                <a:spcPct val="170000"/>
              </a:lnSpc>
            </a:pPr>
            <a:r>
              <a:rPr lang="fr-FR" dirty="0"/>
              <a:t>G	O	N	E 	</a:t>
            </a:r>
          </a:p>
          <a:p>
            <a:pPr algn="just">
              <a:lnSpc>
                <a:spcPct val="170000"/>
              </a:lnSpc>
            </a:pPr>
            <a:r>
              <a:rPr lang="fr-FR" dirty="0"/>
              <a:t>$	&amp;	@	#</a:t>
            </a:r>
          </a:p>
          <a:p>
            <a:pPr algn="just">
              <a:lnSpc>
                <a:spcPct val="170000"/>
              </a:lnSpc>
            </a:pPr>
            <a:r>
              <a:rPr lang="fr-FR" dirty="0"/>
              <a:t>M	E	D	A	L</a:t>
            </a:r>
          </a:p>
          <a:p>
            <a:pPr algn="just">
              <a:lnSpc>
                <a:spcPct val="170000"/>
              </a:lnSpc>
            </a:pPr>
            <a:r>
              <a:rPr lang="fr-FR" dirty="0"/>
              <a:t>*	#	%	^	/</a:t>
            </a:r>
          </a:p>
          <a:p>
            <a:pPr algn="just">
              <a:lnSpc>
                <a:spcPct val="170000"/>
              </a:lnSpc>
            </a:pP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G	O	L	D</a:t>
            </a:r>
          </a:p>
          <a:p>
            <a:pPr algn="just">
              <a:lnSpc>
                <a:spcPct val="170000"/>
              </a:lnSpc>
            </a:pPr>
            <a:r>
              <a:rPr lang="fr-FR" dirty="0"/>
              <a:t>$	&amp;	/	%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70000"/>
              </a:lnSpc>
            </a:pPr>
            <a:endParaRPr lang="fr-FR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46DECB35-2B0D-9264-4657-DEA52212BC7B}"/>
              </a:ext>
            </a:extLst>
          </p:cNvPr>
          <p:cNvCxnSpPr/>
          <p:nvPr/>
        </p:nvCxnSpPr>
        <p:spPr>
          <a:xfrm>
            <a:off x="802784" y="2970658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xmlns="" id="{225151C9-8B1B-0F30-53A2-7B796859AA78}"/>
              </a:ext>
            </a:extLst>
          </p:cNvPr>
          <p:cNvCxnSpPr/>
          <p:nvPr/>
        </p:nvCxnSpPr>
        <p:spPr>
          <a:xfrm>
            <a:off x="1454424" y="2970658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xmlns="" id="{71D05494-0933-8B39-2B2C-20836237968C}"/>
              </a:ext>
            </a:extLst>
          </p:cNvPr>
          <p:cNvCxnSpPr/>
          <p:nvPr/>
        </p:nvCxnSpPr>
        <p:spPr>
          <a:xfrm>
            <a:off x="2363340" y="2970658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xmlns="" id="{05A34F94-DF53-84CC-DED5-D73AA94240F6}"/>
              </a:ext>
            </a:extLst>
          </p:cNvPr>
          <p:cNvCxnSpPr/>
          <p:nvPr/>
        </p:nvCxnSpPr>
        <p:spPr>
          <a:xfrm>
            <a:off x="3295905" y="2970658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xmlns="" id="{1D1AF34E-AEC7-60EE-AC97-19634702CAD6}"/>
              </a:ext>
            </a:extLst>
          </p:cNvPr>
          <p:cNvCxnSpPr/>
          <p:nvPr/>
        </p:nvCxnSpPr>
        <p:spPr>
          <a:xfrm>
            <a:off x="793185" y="4266514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xmlns="" id="{112E0E9B-B916-575A-0231-A1AEA59D535A}"/>
              </a:ext>
            </a:extLst>
          </p:cNvPr>
          <p:cNvCxnSpPr/>
          <p:nvPr/>
        </p:nvCxnSpPr>
        <p:spPr>
          <a:xfrm>
            <a:off x="1444825" y="4266514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xmlns="" id="{E8767E98-A196-7CE8-2D3D-AED83C73DF71}"/>
              </a:ext>
            </a:extLst>
          </p:cNvPr>
          <p:cNvCxnSpPr/>
          <p:nvPr/>
        </p:nvCxnSpPr>
        <p:spPr>
          <a:xfrm>
            <a:off x="2353741" y="4266514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xmlns="" id="{0C70F992-0E42-09B0-39D6-5534EE6A8E27}"/>
              </a:ext>
            </a:extLst>
          </p:cNvPr>
          <p:cNvCxnSpPr/>
          <p:nvPr/>
        </p:nvCxnSpPr>
        <p:spPr>
          <a:xfrm>
            <a:off x="3286306" y="4266514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xmlns="" id="{00E75E7C-6952-62D6-FD08-A4931B3DFF04}"/>
              </a:ext>
            </a:extLst>
          </p:cNvPr>
          <p:cNvCxnSpPr/>
          <p:nvPr/>
        </p:nvCxnSpPr>
        <p:spPr>
          <a:xfrm>
            <a:off x="4195450" y="4266514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020A0F61-157A-AD5D-4970-1CEE87FB6F2A}"/>
              </a:ext>
            </a:extLst>
          </p:cNvPr>
          <p:cNvCxnSpPr/>
          <p:nvPr/>
        </p:nvCxnSpPr>
        <p:spPr>
          <a:xfrm>
            <a:off x="793185" y="5590817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AB6B128E-7241-6E84-499B-07DD1ED7D69D}"/>
              </a:ext>
            </a:extLst>
          </p:cNvPr>
          <p:cNvCxnSpPr/>
          <p:nvPr/>
        </p:nvCxnSpPr>
        <p:spPr>
          <a:xfrm>
            <a:off x="1444825" y="5590817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xmlns="" id="{4F91ED23-4AC6-764A-BC0D-98059CDC8DCF}"/>
              </a:ext>
            </a:extLst>
          </p:cNvPr>
          <p:cNvCxnSpPr/>
          <p:nvPr/>
        </p:nvCxnSpPr>
        <p:spPr>
          <a:xfrm>
            <a:off x="2353741" y="5590817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xmlns="" id="{16009CD3-4977-E618-F618-E1AE930C3560}"/>
              </a:ext>
            </a:extLst>
          </p:cNvPr>
          <p:cNvCxnSpPr/>
          <p:nvPr/>
        </p:nvCxnSpPr>
        <p:spPr>
          <a:xfrm>
            <a:off x="3286306" y="5590817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512D7637-4321-70F7-8418-C819796FDE01}"/>
              </a:ext>
            </a:extLst>
          </p:cNvPr>
          <p:cNvSpPr/>
          <p:nvPr/>
        </p:nvSpPr>
        <p:spPr>
          <a:xfrm>
            <a:off x="656954" y="2588001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E1EB9CC6-D50B-3DA1-EF0F-DAEDDDE51706}"/>
              </a:ext>
            </a:extLst>
          </p:cNvPr>
          <p:cNvSpPr/>
          <p:nvPr/>
        </p:nvSpPr>
        <p:spPr>
          <a:xfrm>
            <a:off x="1330525" y="2588000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696EAACD-F614-4176-236D-8052ACF3112D}"/>
              </a:ext>
            </a:extLst>
          </p:cNvPr>
          <p:cNvSpPr/>
          <p:nvPr/>
        </p:nvSpPr>
        <p:spPr>
          <a:xfrm>
            <a:off x="4081150" y="3883857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6E21639F-23F8-94AE-DBDC-274E6776EC61}"/>
              </a:ext>
            </a:extLst>
          </p:cNvPr>
          <p:cNvSpPr/>
          <p:nvPr/>
        </p:nvSpPr>
        <p:spPr>
          <a:xfrm>
            <a:off x="2241843" y="3843185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248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Symbol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dirty="0"/>
              <a:t>In a certain code, ‘RAID’ is written as ‘%#*$’ and ‘RIPE’ is written as ‘% * @ !’. How is DEAR written up in that code?</a:t>
            </a:r>
            <a:endParaRPr lang="en-IN" dirty="0"/>
          </a:p>
          <a:p>
            <a:pPr algn="just">
              <a:lnSpc>
                <a:spcPct val="170000"/>
              </a:lnSpc>
            </a:pPr>
            <a:r>
              <a:rPr lang="fr-FR" dirty="0"/>
              <a:t>R	A	I	D 	</a:t>
            </a:r>
          </a:p>
          <a:p>
            <a:pPr algn="just">
              <a:lnSpc>
                <a:spcPct val="170000"/>
              </a:lnSpc>
            </a:pPr>
            <a:r>
              <a:rPr lang="fr-FR" dirty="0"/>
              <a:t>%	#	*	$</a:t>
            </a:r>
          </a:p>
          <a:p>
            <a:pPr algn="just">
              <a:lnSpc>
                <a:spcPct val="170000"/>
              </a:lnSpc>
            </a:pPr>
            <a:r>
              <a:rPr lang="fr-FR" dirty="0"/>
              <a:t>R	I	P	E	</a:t>
            </a:r>
          </a:p>
          <a:p>
            <a:pPr algn="just">
              <a:lnSpc>
                <a:spcPct val="170000"/>
              </a:lnSpc>
            </a:pPr>
            <a:r>
              <a:rPr lang="fr-FR" dirty="0"/>
              <a:t>%	*	@	!	</a:t>
            </a:r>
          </a:p>
          <a:p>
            <a:pPr algn="just">
              <a:lnSpc>
                <a:spcPct val="170000"/>
              </a:lnSpc>
            </a:pP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D	E	A	R</a:t>
            </a:r>
          </a:p>
          <a:p>
            <a:pPr algn="just">
              <a:lnSpc>
                <a:spcPct val="170000"/>
              </a:lnSpc>
            </a:pPr>
            <a:r>
              <a:rPr lang="fr-FR" dirty="0"/>
              <a:t>$	!	#	%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70000"/>
              </a:lnSpc>
            </a:pPr>
            <a:endParaRPr lang="fr-FR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46DECB35-2B0D-9264-4657-DEA52212BC7B}"/>
              </a:ext>
            </a:extLst>
          </p:cNvPr>
          <p:cNvCxnSpPr/>
          <p:nvPr/>
        </p:nvCxnSpPr>
        <p:spPr>
          <a:xfrm>
            <a:off x="802784" y="2970658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xmlns="" id="{225151C9-8B1B-0F30-53A2-7B796859AA78}"/>
              </a:ext>
            </a:extLst>
          </p:cNvPr>
          <p:cNvCxnSpPr/>
          <p:nvPr/>
        </p:nvCxnSpPr>
        <p:spPr>
          <a:xfrm>
            <a:off x="1454424" y="2970658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xmlns="" id="{71D05494-0933-8B39-2B2C-20836237968C}"/>
              </a:ext>
            </a:extLst>
          </p:cNvPr>
          <p:cNvCxnSpPr/>
          <p:nvPr/>
        </p:nvCxnSpPr>
        <p:spPr>
          <a:xfrm>
            <a:off x="2321300" y="2981168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xmlns="" id="{05A34F94-DF53-84CC-DED5-D73AA94240F6}"/>
              </a:ext>
            </a:extLst>
          </p:cNvPr>
          <p:cNvCxnSpPr/>
          <p:nvPr/>
        </p:nvCxnSpPr>
        <p:spPr>
          <a:xfrm>
            <a:off x="3295905" y="2970658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xmlns="" id="{1D1AF34E-AEC7-60EE-AC97-19634702CAD6}"/>
              </a:ext>
            </a:extLst>
          </p:cNvPr>
          <p:cNvCxnSpPr/>
          <p:nvPr/>
        </p:nvCxnSpPr>
        <p:spPr>
          <a:xfrm>
            <a:off x="793185" y="4308554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xmlns="" id="{112E0E9B-B916-575A-0231-A1AEA59D535A}"/>
              </a:ext>
            </a:extLst>
          </p:cNvPr>
          <p:cNvCxnSpPr/>
          <p:nvPr/>
        </p:nvCxnSpPr>
        <p:spPr>
          <a:xfrm>
            <a:off x="1423805" y="4319064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xmlns="" id="{E8767E98-A196-7CE8-2D3D-AED83C73DF71}"/>
              </a:ext>
            </a:extLst>
          </p:cNvPr>
          <p:cNvCxnSpPr/>
          <p:nvPr/>
        </p:nvCxnSpPr>
        <p:spPr>
          <a:xfrm>
            <a:off x="2353741" y="4329574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xmlns="" id="{0C70F992-0E42-09B0-39D6-5534EE6A8E27}"/>
              </a:ext>
            </a:extLst>
          </p:cNvPr>
          <p:cNvCxnSpPr/>
          <p:nvPr/>
        </p:nvCxnSpPr>
        <p:spPr>
          <a:xfrm>
            <a:off x="3233756" y="4340084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020A0F61-157A-AD5D-4970-1CEE87FB6F2A}"/>
              </a:ext>
            </a:extLst>
          </p:cNvPr>
          <p:cNvCxnSpPr/>
          <p:nvPr/>
        </p:nvCxnSpPr>
        <p:spPr>
          <a:xfrm>
            <a:off x="793185" y="5695917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AB6B128E-7241-6E84-499B-07DD1ED7D69D}"/>
              </a:ext>
            </a:extLst>
          </p:cNvPr>
          <p:cNvCxnSpPr/>
          <p:nvPr/>
        </p:nvCxnSpPr>
        <p:spPr>
          <a:xfrm>
            <a:off x="1444825" y="5695917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xmlns="" id="{4F91ED23-4AC6-764A-BC0D-98059CDC8DCF}"/>
              </a:ext>
            </a:extLst>
          </p:cNvPr>
          <p:cNvCxnSpPr/>
          <p:nvPr/>
        </p:nvCxnSpPr>
        <p:spPr>
          <a:xfrm>
            <a:off x="2353741" y="5695917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xmlns="" id="{16009CD3-4977-E618-F618-E1AE930C3560}"/>
              </a:ext>
            </a:extLst>
          </p:cNvPr>
          <p:cNvCxnSpPr/>
          <p:nvPr/>
        </p:nvCxnSpPr>
        <p:spPr>
          <a:xfrm>
            <a:off x="3286306" y="5695917"/>
            <a:ext cx="0" cy="437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512D7637-4321-70F7-8418-C819796FDE01}"/>
              </a:ext>
            </a:extLst>
          </p:cNvPr>
          <p:cNvSpPr/>
          <p:nvPr/>
        </p:nvSpPr>
        <p:spPr>
          <a:xfrm>
            <a:off x="3169841" y="2598511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E1EB9CC6-D50B-3DA1-EF0F-DAEDDDE51706}"/>
              </a:ext>
            </a:extLst>
          </p:cNvPr>
          <p:cNvSpPr/>
          <p:nvPr/>
        </p:nvSpPr>
        <p:spPr>
          <a:xfrm>
            <a:off x="3150986" y="3883857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696EAACD-F614-4176-236D-8052ACF3112D}"/>
              </a:ext>
            </a:extLst>
          </p:cNvPr>
          <p:cNvSpPr/>
          <p:nvPr/>
        </p:nvSpPr>
        <p:spPr>
          <a:xfrm>
            <a:off x="1340124" y="2604771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6E21639F-23F8-94AE-DBDC-274E6776EC61}"/>
              </a:ext>
            </a:extLst>
          </p:cNvPr>
          <p:cNvSpPr/>
          <p:nvPr/>
        </p:nvSpPr>
        <p:spPr>
          <a:xfrm>
            <a:off x="678885" y="2549446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768BD33C-9A3D-DC06-6772-915AA09790ED}"/>
              </a:ext>
            </a:extLst>
          </p:cNvPr>
          <p:cNvSpPr/>
          <p:nvPr/>
        </p:nvSpPr>
        <p:spPr>
          <a:xfrm>
            <a:off x="661631" y="3957427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713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Number Coding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Numerical Codes - Letters</a:t>
            </a:r>
            <a:endParaRPr lang="en-IN" sz="2600" dirty="0"/>
          </a:p>
          <a:p>
            <a:r>
              <a:rPr lang="en-US" dirty="0"/>
              <a:t>Symbol Coding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Symbols - Letters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2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Number Coding</a:t>
            </a:r>
          </a:p>
          <a:p>
            <a:pPr algn="just"/>
            <a:r>
              <a:rPr lang="en-US" dirty="0"/>
              <a:t>Symbol Coding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5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8980</TotalTime>
  <Words>298</Words>
  <Application>Microsoft Office PowerPoint</Application>
  <PresentationFormat>On-screen Show (4:3)</PresentationFormat>
  <Paragraphs>82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Number Coding</vt:lpstr>
      <vt:lpstr>Number Coding</vt:lpstr>
      <vt:lpstr>Number Coding</vt:lpstr>
      <vt:lpstr>Number Coding</vt:lpstr>
      <vt:lpstr>Number Coding</vt:lpstr>
      <vt:lpstr>Number Coding</vt:lpstr>
      <vt:lpstr>Number Coding</vt:lpstr>
      <vt:lpstr>Symbol Coding</vt:lpstr>
      <vt:lpstr>Symbol Coding</vt:lpstr>
      <vt:lpstr>Symbol Coding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my pc</cp:lastModifiedBy>
  <cp:revision>548</cp:revision>
  <dcterms:created xsi:type="dcterms:W3CDTF">2020-12-18T18:59:12Z</dcterms:created>
  <dcterms:modified xsi:type="dcterms:W3CDTF">2022-11-05T07:57:55Z</dcterms:modified>
</cp:coreProperties>
</file>