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78" r:id="rId2"/>
    <p:sldId id="872" r:id="rId3"/>
    <p:sldId id="873" r:id="rId4"/>
    <p:sldId id="875" r:id="rId5"/>
    <p:sldId id="876" r:id="rId6"/>
    <p:sldId id="877" r:id="rId7"/>
    <p:sldId id="878" r:id="rId8"/>
    <p:sldId id="879" r:id="rId9"/>
    <p:sldId id="885" r:id="rId10"/>
    <p:sldId id="874" r:id="rId11"/>
    <p:sldId id="881" r:id="rId12"/>
    <p:sldId id="882" r:id="rId13"/>
    <p:sldId id="883" r:id="rId14"/>
    <p:sldId id="884" r:id="rId15"/>
    <p:sldId id="887" r:id="rId16"/>
    <p:sldId id="888" r:id="rId17"/>
    <p:sldId id="889" r:id="rId18"/>
    <p:sldId id="767" r:id="rId19"/>
    <p:sldId id="343" r:id="rId20"/>
    <p:sldId id="34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-846" y="-18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08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xmlns="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xmlns="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xmlns="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xmlns="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develop understanding about the basics of analogy and classification of figures,</a:t>
            </a:r>
          </a:p>
          <a:p>
            <a:pPr algn="just"/>
            <a:r>
              <a:rPr lang="en-US" dirty="0"/>
              <a:t>analyze different types of analogy and classification of figures,</a:t>
            </a:r>
          </a:p>
          <a:p>
            <a:pPr lvl="0" algn="just"/>
            <a:r>
              <a:rPr lang="en-US" dirty="0"/>
              <a:t>solve various problems relating to analogy and classification of figures. </a:t>
            </a:r>
          </a:p>
        </p:txBody>
      </p:sp>
    </p:spTree>
    <p:extLst>
      <p:ext uri="{BB962C8B-B14F-4D97-AF65-F5344CB8AC3E}">
        <p14:creationId xmlns:p14="http://schemas.microsoft.com/office/powerpoint/2010/main" val="288963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 of Figures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Analogy – Corresponding</a:t>
            </a:r>
          </a:p>
          <a:p>
            <a:pPr algn="just"/>
            <a:r>
              <a:rPr lang="en-US" sz="2800" dirty="0"/>
              <a:t>Pair - Related Figures </a:t>
            </a:r>
          </a:p>
          <a:p>
            <a:pPr algn="just"/>
            <a:r>
              <a:rPr lang="en-US" sz="2800" dirty="0"/>
              <a:t>Similar Relationship - Other Two Figures </a:t>
            </a:r>
          </a:p>
        </p:txBody>
      </p:sp>
    </p:spTree>
    <p:extLst>
      <p:ext uri="{BB962C8B-B14F-4D97-AF65-F5344CB8AC3E}">
        <p14:creationId xmlns:p14="http://schemas.microsoft.com/office/powerpoint/2010/main" val="251567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F2D397F-D684-3D86-E913-AFA232EA42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	  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    (a) 	            (b) 	          (c) 	       (d) </a:t>
                </a:r>
              </a:p>
              <a:p>
                <a:pPr algn="just"/>
                <a:r>
                  <a:rPr lang="en-US" dirty="0"/>
                  <a:t>Options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     </a:t>
                </a:r>
              </a:p>
              <a:p>
                <a:pPr marL="0" indent="0" algn="just">
                  <a:buNone/>
                </a:pPr>
                <a:r>
                  <a:rPr lang="en-US" dirty="0"/>
                  <a:t> 		   1               2 	             3               4             5</a:t>
                </a:r>
              </a:p>
              <a:p>
                <a:pPr marL="0" indent="0" algn="just">
                  <a:buNone/>
                </a:pPr>
                <a:r>
                  <a:rPr lang="en-US" dirty="0"/>
                  <a:t>The black leaf rotates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clock wise and white leaf rotates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clock wise. A new white leaf attached with black leaf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degree.       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D397F-D684-3D86-E913-AFA232EA42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A51DA10-E8C5-3FA8-3915-07A399CB6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018" y="1491698"/>
            <a:ext cx="6689863" cy="1100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01A90BF-9718-89ED-0CE9-90F03F79D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018" y="3249680"/>
            <a:ext cx="6689863" cy="117157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xmlns="" id="{B3554B8D-2F0D-F322-25D2-44FC6CE72CC2}"/>
              </a:ext>
            </a:extLst>
          </p:cNvPr>
          <p:cNvSpPr/>
          <p:nvPr/>
        </p:nvSpPr>
        <p:spPr>
          <a:xfrm>
            <a:off x="3521856" y="3068186"/>
            <a:ext cx="891118" cy="1534562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C46EB787-2180-9174-851A-4D2E8AC644A7}"/>
              </a:ext>
            </a:extLst>
          </p:cNvPr>
          <p:cNvCxnSpPr>
            <a:cxnSpLocks/>
          </p:cNvCxnSpPr>
          <p:nvPr/>
        </p:nvCxnSpPr>
        <p:spPr>
          <a:xfrm>
            <a:off x="2544417" y="3676544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4F244EB-D018-577F-3916-A6283621CBC5}"/>
              </a:ext>
            </a:extLst>
          </p:cNvPr>
          <p:cNvCxnSpPr>
            <a:cxnSpLocks/>
          </p:cNvCxnSpPr>
          <p:nvPr/>
        </p:nvCxnSpPr>
        <p:spPr>
          <a:xfrm flipH="1">
            <a:off x="2474843" y="3606970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EB339116-BC41-8B54-E057-5D4751D457F0}"/>
              </a:ext>
            </a:extLst>
          </p:cNvPr>
          <p:cNvCxnSpPr>
            <a:cxnSpLocks/>
          </p:cNvCxnSpPr>
          <p:nvPr/>
        </p:nvCxnSpPr>
        <p:spPr>
          <a:xfrm>
            <a:off x="5090031" y="3676544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933C8E3C-F223-432D-C3D9-8D7FDB075532}"/>
              </a:ext>
            </a:extLst>
          </p:cNvPr>
          <p:cNvCxnSpPr>
            <a:cxnSpLocks/>
          </p:cNvCxnSpPr>
          <p:nvPr/>
        </p:nvCxnSpPr>
        <p:spPr>
          <a:xfrm flipH="1">
            <a:off x="5020457" y="3606970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3B183692-0F5F-349A-D085-CC42DAC294A4}"/>
              </a:ext>
            </a:extLst>
          </p:cNvPr>
          <p:cNvCxnSpPr>
            <a:cxnSpLocks/>
          </p:cNvCxnSpPr>
          <p:nvPr/>
        </p:nvCxnSpPr>
        <p:spPr>
          <a:xfrm>
            <a:off x="6385430" y="3676544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55A8517B-8667-633A-62B4-F346364C129B}"/>
              </a:ext>
            </a:extLst>
          </p:cNvPr>
          <p:cNvCxnSpPr>
            <a:cxnSpLocks/>
          </p:cNvCxnSpPr>
          <p:nvPr/>
        </p:nvCxnSpPr>
        <p:spPr>
          <a:xfrm flipH="1">
            <a:off x="6315856" y="3606970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1120CB32-DF50-F747-5EED-742847E42521}"/>
              </a:ext>
            </a:extLst>
          </p:cNvPr>
          <p:cNvCxnSpPr>
            <a:cxnSpLocks/>
          </p:cNvCxnSpPr>
          <p:nvPr/>
        </p:nvCxnSpPr>
        <p:spPr>
          <a:xfrm>
            <a:off x="7521850" y="3676544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26BEEFD3-3971-69EE-1A95-815F8748F434}"/>
              </a:ext>
            </a:extLst>
          </p:cNvPr>
          <p:cNvCxnSpPr>
            <a:cxnSpLocks/>
          </p:cNvCxnSpPr>
          <p:nvPr/>
        </p:nvCxnSpPr>
        <p:spPr>
          <a:xfrm flipH="1">
            <a:off x="7452276" y="3606970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26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F2D397F-D684-3D86-E913-AFA232EA42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          (a) 	       (b) 	 (c) 	     (d) </a:t>
                </a:r>
              </a:p>
              <a:p>
                <a:pPr algn="just"/>
                <a:r>
                  <a:rPr lang="en-US" dirty="0"/>
                  <a:t>Options</a:t>
                </a:r>
              </a:p>
              <a:p>
                <a:pPr marL="0" indent="0" algn="just">
                  <a:buNone/>
                </a:pPr>
                <a:r>
                  <a:rPr lang="en-US" dirty="0"/>
                  <a:t>		 1             2 	      3            4             5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Figure rotates through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D397F-D684-3D86-E913-AFA232EA42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FC09018-DCA4-E778-AB7F-C3379F19B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187" y="1203054"/>
            <a:ext cx="5777742" cy="10438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C79894E7-9690-3DA2-1A3D-216C65B5C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328" y="2572475"/>
            <a:ext cx="6077883" cy="104381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xmlns="" id="{74C81947-A77C-7B8D-F80E-128585624277}"/>
              </a:ext>
            </a:extLst>
          </p:cNvPr>
          <p:cNvSpPr/>
          <p:nvPr/>
        </p:nvSpPr>
        <p:spPr>
          <a:xfrm>
            <a:off x="4378906" y="2461280"/>
            <a:ext cx="1010729" cy="1534562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251C6D1A-6A1A-298C-37E8-146311325988}"/>
              </a:ext>
            </a:extLst>
          </p:cNvPr>
          <p:cNvCxnSpPr>
            <a:cxnSpLocks/>
          </p:cNvCxnSpPr>
          <p:nvPr/>
        </p:nvCxnSpPr>
        <p:spPr>
          <a:xfrm>
            <a:off x="2209065" y="2868235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E3FA16FF-9059-3332-DAEF-09813DC00939}"/>
              </a:ext>
            </a:extLst>
          </p:cNvPr>
          <p:cNvCxnSpPr>
            <a:cxnSpLocks/>
          </p:cNvCxnSpPr>
          <p:nvPr/>
        </p:nvCxnSpPr>
        <p:spPr>
          <a:xfrm flipH="1">
            <a:off x="2139491" y="2798661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BF797BC2-BA53-5232-01E7-49B39426969B}"/>
              </a:ext>
            </a:extLst>
          </p:cNvPr>
          <p:cNvCxnSpPr>
            <a:cxnSpLocks/>
          </p:cNvCxnSpPr>
          <p:nvPr/>
        </p:nvCxnSpPr>
        <p:spPr>
          <a:xfrm>
            <a:off x="3325253" y="2868235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37249FE1-73E6-02A0-9D06-B5F7CBF50212}"/>
              </a:ext>
            </a:extLst>
          </p:cNvPr>
          <p:cNvCxnSpPr>
            <a:cxnSpLocks/>
          </p:cNvCxnSpPr>
          <p:nvPr/>
        </p:nvCxnSpPr>
        <p:spPr>
          <a:xfrm flipH="1">
            <a:off x="3255679" y="2798661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C72EA29E-AA48-DC70-D6BA-6E914DA54CFE}"/>
              </a:ext>
            </a:extLst>
          </p:cNvPr>
          <p:cNvCxnSpPr>
            <a:cxnSpLocks/>
          </p:cNvCxnSpPr>
          <p:nvPr/>
        </p:nvCxnSpPr>
        <p:spPr>
          <a:xfrm>
            <a:off x="5769206" y="2868062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1E8E626A-6600-18B8-61B1-D87AF38E6461}"/>
              </a:ext>
            </a:extLst>
          </p:cNvPr>
          <p:cNvCxnSpPr>
            <a:cxnSpLocks/>
          </p:cNvCxnSpPr>
          <p:nvPr/>
        </p:nvCxnSpPr>
        <p:spPr>
          <a:xfrm flipH="1">
            <a:off x="5699632" y="2798488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2C65DFFA-E1AF-A9F3-3CA2-FACEA75B552E}"/>
              </a:ext>
            </a:extLst>
          </p:cNvPr>
          <p:cNvCxnSpPr>
            <a:cxnSpLocks/>
          </p:cNvCxnSpPr>
          <p:nvPr/>
        </p:nvCxnSpPr>
        <p:spPr>
          <a:xfrm>
            <a:off x="6905626" y="2868062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9C8B56B6-E3AB-8708-027E-C099E8634B5C}"/>
              </a:ext>
            </a:extLst>
          </p:cNvPr>
          <p:cNvCxnSpPr>
            <a:cxnSpLocks/>
          </p:cNvCxnSpPr>
          <p:nvPr/>
        </p:nvCxnSpPr>
        <p:spPr>
          <a:xfrm flipH="1">
            <a:off x="6836052" y="2798488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28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  (a) 	         (b) 	    (c) 		(d) </a:t>
            </a:r>
          </a:p>
          <a:p>
            <a:pPr algn="just"/>
            <a:r>
              <a:rPr lang="en-US" dirty="0"/>
              <a:t>Options </a:t>
            </a:r>
          </a:p>
          <a:p>
            <a:pPr marL="0" indent="0" algn="just">
              <a:buNone/>
            </a:pPr>
            <a:r>
              <a:rPr lang="en-US" dirty="0"/>
              <a:t>		   1            2 	         3           4         5 </a:t>
            </a:r>
          </a:p>
          <a:p>
            <a:pPr marL="0" indent="0" algn="just">
              <a:buNone/>
            </a:pPr>
            <a:r>
              <a:rPr lang="en-US" dirty="0"/>
              <a:t>Six - five – Four </a:t>
            </a:r>
          </a:p>
          <a:p>
            <a:pPr marL="0" indent="0" algn="just">
              <a:buNone/>
            </a:pPr>
            <a:r>
              <a:rPr lang="en-US" dirty="0"/>
              <a:t>Elements present inside the figure moves outside. </a:t>
            </a:r>
          </a:p>
          <a:p>
            <a:pPr marL="0" indent="0" algn="just">
              <a:buNone/>
            </a:pPr>
            <a:r>
              <a:rPr lang="en-US" dirty="0"/>
              <a:t>A new shaded circular element introduced inside.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06CC208-CEBD-DAEA-1725-4B308247C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351" y="1295400"/>
            <a:ext cx="5723905" cy="932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ACD19ED-D7AF-DD79-3A8A-5465DCB57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351" y="2778402"/>
            <a:ext cx="5881379" cy="92227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xmlns="" id="{5A5BEBF0-94AA-A937-D6E5-3C8DBEE94B56}"/>
              </a:ext>
            </a:extLst>
          </p:cNvPr>
          <p:cNvSpPr/>
          <p:nvPr/>
        </p:nvSpPr>
        <p:spPr>
          <a:xfrm>
            <a:off x="2089390" y="2472257"/>
            <a:ext cx="1010729" cy="1534562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36BA9204-F897-162B-A45E-BB360BD834B8}"/>
              </a:ext>
            </a:extLst>
          </p:cNvPr>
          <p:cNvCxnSpPr>
            <a:cxnSpLocks/>
          </p:cNvCxnSpPr>
          <p:nvPr/>
        </p:nvCxnSpPr>
        <p:spPr>
          <a:xfrm>
            <a:off x="3525386" y="2985675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D45CE20C-2C33-0E46-33F1-2790CD4FDBB7}"/>
              </a:ext>
            </a:extLst>
          </p:cNvPr>
          <p:cNvCxnSpPr>
            <a:cxnSpLocks/>
          </p:cNvCxnSpPr>
          <p:nvPr/>
        </p:nvCxnSpPr>
        <p:spPr>
          <a:xfrm flipH="1">
            <a:off x="3455812" y="2916101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19145A34-3BC5-9716-A174-767559CCC1DA}"/>
              </a:ext>
            </a:extLst>
          </p:cNvPr>
          <p:cNvCxnSpPr>
            <a:cxnSpLocks/>
          </p:cNvCxnSpPr>
          <p:nvPr/>
        </p:nvCxnSpPr>
        <p:spPr>
          <a:xfrm>
            <a:off x="4641574" y="2985675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AD6343FB-61F1-B695-6B35-D5F5EC642D1B}"/>
              </a:ext>
            </a:extLst>
          </p:cNvPr>
          <p:cNvCxnSpPr>
            <a:cxnSpLocks/>
          </p:cNvCxnSpPr>
          <p:nvPr/>
        </p:nvCxnSpPr>
        <p:spPr>
          <a:xfrm flipH="1">
            <a:off x="4572000" y="2916101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35562CC3-1773-B8EE-40F6-1099F9FE8950}"/>
              </a:ext>
            </a:extLst>
          </p:cNvPr>
          <p:cNvCxnSpPr>
            <a:cxnSpLocks/>
          </p:cNvCxnSpPr>
          <p:nvPr/>
        </p:nvCxnSpPr>
        <p:spPr>
          <a:xfrm>
            <a:off x="5828840" y="2927696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A9848275-B631-7CA0-FBAB-43ABEBC290BC}"/>
              </a:ext>
            </a:extLst>
          </p:cNvPr>
          <p:cNvCxnSpPr>
            <a:cxnSpLocks/>
          </p:cNvCxnSpPr>
          <p:nvPr/>
        </p:nvCxnSpPr>
        <p:spPr>
          <a:xfrm flipH="1">
            <a:off x="5759266" y="2858122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C04AD9C6-D0C4-949B-E3FC-084ACB212876}"/>
              </a:ext>
            </a:extLst>
          </p:cNvPr>
          <p:cNvCxnSpPr>
            <a:cxnSpLocks/>
          </p:cNvCxnSpPr>
          <p:nvPr/>
        </p:nvCxnSpPr>
        <p:spPr>
          <a:xfrm>
            <a:off x="6965260" y="2927696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22A28C68-CA33-2DD2-4363-9CCEF5E8B86A}"/>
              </a:ext>
            </a:extLst>
          </p:cNvPr>
          <p:cNvCxnSpPr>
            <a:cxnSpLocks/>
          </p:cNvCxnSpPr>
          <p:nvPr/>
        </p:nvCxnSpPr>
        <p:spPr>
          <a:xfrm flipH="1">
            <a:off x="6895686" y="2858122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98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F2D397F-D684-3D86-E913-AFA232EA42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     (a) 	(b) 	     (c) 	(d) </a:t>
                </a:r>
              </a:p>
              <a:p>
                <a:pPr algn="just"/>
                <a:r>
                  <a:rPr lang="en-US" dirty="0"/>
                  <a:t>Options </a:t>
                </a:r>
              </a:p>
              <a:p>
                <a:pPr marL="0" indent="0" algn="just">
                  <a:buNone/>
                </a:pPr>
                <a:r>
                  <a:rPr lang="en-US" dirty="0"/>
                  <a:t>	               1            2 	3         4          5</a:t>
                </a:r>
              </a:p>
              <a:p>
                <a:pPr marL="0" indent="0" algn="just">
                  <a:buNone/>
                </a:pPr>
                <a:r>
                  <a:rPr lang="en-US" dirty="0"/>
                  <a:t>Figure rotates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anti –clock wise. </a:t>
                </a:r>
              </a:p>
              <a:p>
                <a:pPr marL="0" indent="0" algn="just">
                  <a:buNone/>
                </a:pPr>
                <a:r>
                  <a:rPr lang="en-US" dirty="0"/>
                  <a:t>Shaded inverted image added to the top.    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D397F-D684-3D86-E913-AFA232EA42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F302A45-58C3-D7B8-4E91-A438E3115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336" y="1307306"/>
            <a:ext cx="5589521" cy="889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B0387F3-E366-1BAA-CAFD-566953EBE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335" y="2741752"/>
            <a:ext cx="5792029" cy="97031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xmlns="" id="{FBE60045-2FEF-BF59-F669-4BAE73A3E1FF}"/>
              </a:ext>
            </a:extLst>
          </p:cNvPr>
          <p:cNvSpPr/>
          <p:nvPr/>
        </p:nvSpPr>
        <p:spPr>
          <a:xfrm>
            <a:off x="4539984" y="2661719"/>
            <a:ext cx="1010729" cy="1534562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E4FFF60D-AD91-1BF9-2502-6879E8916E92}"/>
              </a:ext>
            </a:extLst>
          </p:cNvPr>
          <p:cNvCxnSpPr>
            <a:cxnSpLocks/>
          </p:cNvCxnSpPr>
          <p:nvPr/>
        </p:nvCxnSpPr>
        <p:spPr>
          <a:xfrm>
            <a:off x="2541412" y="3015492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A2151643-44DE-F5EC-765B-994BBF5B6FA4}"/>
              </a:ext>
            </a:extLst>
          </p:cNvPr>
          <p:cNvCxnSpPr>
            <a:cxnSpLocks/>
          </p:cNvCxnSpPr>
          <p:nvPr/>
        </p:nvCxnSpPr>
        <p:spPr>
          <a:xfrm flipH="1">
            <a:off x="2471838" y="2945918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9581F69D-8385-88DD-3F18-5CEEB64E7BD0}"/>
              </a:ext>
            </a:extLst>
          </p:cNvPr>
          <p:cNvCxnSpPr>
            <a:cxnSpLocks/>
          </p:cNvCxnSpPr>
          <p:nvPr/>
        </p:nvCxnSpPr>
        <p:spPr>
          <a:xfrm>
            <a:off x="3657600" y="3015492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63B63795-F435-856F-D644-1402446E64A0}"/>
              </a:ext>
            </a:extLst>
          </p:cNvPr>
          <p:cNvCxnSpPr>
            <a:cxnSpLocks/>
          </p:cNvCxnSpPr>
          <p:nvPr/>
        </p:nvCxnSpPr>
        <p:spPr>
          <a:xfrm flipH="1">
            <a:off x="3588026" y="2945918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31C5C5FC-07EB-0DB4-E16F-3FF9F01ECDAC}"/>
              </a:ext>
            </a:extLst>
          </p:cNvPr>
          <p:cNvCxnSpPr>
            <a:cxnSpLocks/>
          </p:cNvCxnSpPr>
          <p:nvPr/>
        </p:nvCxnSpPr>
        <p:spPr>
          <a:xfrm>
            <a:off x="5803800" y="290678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899D222-3415-5A1D-1EBD-98A6A3B51976}"/>
              </a:ext>
            </a:extLst>
          </p:cNvPr>
          <p:cNvCxnSpPr>
            <a:cxnSpLocks/>
          </p:cNvCxnSpPr>
          <p:nvPr/>
        </p:nvCxnSpPr>
        <p:spPr>
          <a:xfrm flipH="1">
            <a:off x="5734226" y="283720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5D847E99-599C-A1F0-D044-4904A8E49E17}"/>
              </a:ext>
            </a:extLst>
          </p:cNvPr>
          <p:cNvCxnSpPr>
            <a:cxnSpLocks/>
          </p:cNvCxnSpPr>
          <p:nvPr/>
        </p:nvCxnSpPr>
        <p:spPr>
          <a:xfrm>
            <a:off x="6940220" y="290678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8F4BE020-6AB6-9024-E8BF-E6B407C710AF}"/>
              </a:ext>
            </a:extLst>
          </p:cNvPr>
          <p:cNvCxnSpPr>
            <a:cxnSpLocks/>
          </p:cNvCxnSpPr>
          <p:nvPr/>
        </p:nvCxnSpPr>
        <p:spPr>
          <a:xfrm flipH="1">
            <a:off x="6870646" y="283720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46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F2D397F-D684-3D86-E913-AFA232EA42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              (a) 	          (b) 	         (c) 	    (d) </a:t>
                </a:r>
              </a:p>
              <a:p>
                <a:pPr algn="just"/>
                <a:r>
                  <a:rPr lang="en-US" dirty="0"/>
                  <a:t>Options </a:t>
                </a:r>
              </a:p>
              <a:p>
                <a:pPr marL="0" indent="0" algn="just">
                  <a:buNone/>
                </a:pPr>
                <a:r>
                  <a:rPr lang="en-US" dirty="0"/>
                  <a:t>	              1              2 	3            4 	       5</a:t>
                </a:r>
              </a:p>
              <a:p>
                <a:pPr marL="0" indent="0" algn="just">
                  <a:buNone/>
                </a:pPr>
                <a:r>
                  <a:rPr lang="en-US" dirty="0"/>
                  <a:t>Figure gets rotates through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Arrow head moves to U – shaped element     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D397F-D684-3D86-E913-AFA232EA42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61966D-E717-AAFC-13A9-E3CF8DDE0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377" y="1327794"/>
            <a:ext cx="6415088" cy="911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4FAB86F-151E-822B-0CFA-CDBC8E179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377" y="2618136"/>
            <a:ext cx="6415088" cy="110437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B556D6A8-4C27-AD5E-FDB5-145E36E93027}"/>
              </a:ext>
            </a:extLst>
          </p:cNvPr>
          <p:cNvCxnSpPr>
            <a:cxnSpLocks/>
          </p:cNvCxnSpPr>
          <p:nvPr/>
        </p:nvCxnSpPr>
        <p:spPr>
          <a:xfrm>
            <a:off x="2392325" y="290678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6391FB96-80CC-7E14-28A6-D72C0C0C9805}"/>
              </a:ext>
            </a:extLst>
          </p:cNvPr>
          <p:cNvCxnSpPr>
            <a:cxnSpLocks/>
          </p:cNvCxnSpPr>
          <p:nvPr/>
        </p:nvCxnSpPr>
        <p:spPr>
          <a:xfrm flipH="1">
            <a:off x="2322751" y="283720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58FEF5A4-BFB6-9C1E-0B72-75FCA5B4716D}"/>
              </a:ext>
            </a:extLst>
          </p:cNvPr>
          <p:cNvCxnSpPr>
            <a:cxnSpLocks/>
          </p:cNvCxnSpPr>
          <p:nvPr/>
        </p:nvCxnSpPr>
        <p:spPr>
          <a:xfrm>
            <a:off x="3508513" y="290678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30D79AE3-E76D-3EFD-9C55-67E31FD76FCB}"/>
              </a:ext>
            </a:extLst>
          </p:cNvPr>
          <p:cNvCxnSpPr>
            <a:cxnSpLocks/>
          </p:cNvCxnSpPr>
          <p:nvPr/>
        </p:nvCxnSpPr>
        <p:spPr>
          <a:xfrm flipH="1">
            <a:off x="3438939" y="283720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F6C1200A-C163-01F3-F1CE-5B85B9A5DDA2}"/>
              </a:ext>
            </a:extLst>
          </p:cNvPr>
          <p:cNvCxnSpPr>
            <a:cxnSpLocks/>
          </p:cNvCxnSpPr>
          <p:nvPr/>
        </p:nvCxnSpPr>
        <p:spPr>
          <a:xfrm>
            <a:off x="4823485" y="290678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563EFD8F-5853-815C-7920-F99AB543AC4A}"/>
              </a:ext>
            </a:extLst>
          </p:cNvPr>
          <p:cNvCxnSpPr>
            <a:cxnSpLocks/>
          </p:cNvCxnSpPr>
          <p:nvPr/>
        </p:nvCxnSpPr>
        <p:spPr>
          <a:xfrm flipH="1">
            <a:off x="4753911" y="283720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75935879-35CA-2F0D-7ED6-0009BE3D8BC4}"/>
              </a:ext>
            </a:extLst>
          </p:cNvPr>
          <p:cNvCxnSpPr>
            <a:cxnSpLocks/>
          </p:cNvCxnSpPr>
          <p:nvPr/>
        </p:nvCxnSpPr>
        <p:spPr>
          <a:xfrm>
            <a:off x="7341445" y="290678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25648608-EBDB-0A79-0365-EB491A5710DF}"/>
              </a:ext>
            </a:extLst>
          </p:cNvPr>
          <p:cNvCxnSpPr>
            <a:cxnSpLocks/>
          </p:cNvCxnSpPr>
          <p:nvPr/>
        </p:nvCxnSpPr>
        <p:spPr>
          <a:xfrm flipH="1">
            <a:off x="7271871" y="283720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22AC16A6-A524-CAD4-A3F5-EAE77F673E0A}"/>
              </a:ext>
            </a:extLst>
          </p:cNvPr>
          <p:cNvSpPr/>
          <p:nvPr/>
        </p:nvSpPr>
        <p:spPr>
          <a:xfrm>
            <a:off x="5858348" y="2442848"/>
            <a:ext cx="1010729" cy="1534562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92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       (a) 	   (b) 	     (c) 	(d) </a:t>
            </a:r>
          </a:p>
          <a:p>
            <a:pPr algn="just"/>
            <a:r>
              <a:rPr lang="en-US" dirty="0"/>
              <a:t>Options </a:t>
            </a:r>
          </a:p>
          <a:p>
            <a:pPr marL="0" indent="0" algn="just">
              <a:buNone/>
            </a:pPr>
            <a:r>
              <a:rPr lang="en-US" dirty="0"/>
              <a:t>		        1           2 	  3         4          5</a:t>
            </a:r>
          </a:p>
          <a:p>
            <a:pPr marL="0" indent="0" algn="just">
              <a:buNone/>
            </a:pPr>
            <a:r>
              <a:rPr lang="en-US" dirty="0"/>
              <a:t>From left to right,</a:t>
            </a:r>
          </a:p>
          <a:p>
            <a:pPr marL="0" indent="0" algn="just">
              <a:buNone/>
            </a:pPr>
            <a:r>
              <a:rPr lang="en-US" dirty="0"/>
              <a:t>the first, third and fifth arcs get laterally inverted.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0C2B005-F59C-C22A-1950-742193429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969" y="1295399"/>
            <a:ext cx="5410822" cy="918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EFC7E43-FF77-D9B8-D808-9D7EC95C8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27" y="2652712"/>
            <a:ext cx="5963478" cy="10218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B8FF3B08-EB9F-D197-0CF7-54A04605BB55}"/>
              </a:ext>
            </a:extLst>
          </p:cNvPr>
          <p:cNvCxnSpPr>
            <a:cxnSpLocks/>
          </p:cNvCxnSpPr>
          <p:nvPr/>
        </p:nvCxnSpPr>
        <p:spPr>
          <a:xfrm>
            <a:off x="2392325" y="290678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B20D73C6-F64C-83E2-C3A6-0BD552DC536E}"/>
              </a:ext>
            </a:extLst>
          </p:cNvPr>
          <p:cNvCxnSpPr>
            <a:cxnSpLocks/>
          </p:cNvCxnSpPr>
          <p:nvPr/>
        </p:nvCxnSpPr>
        <p:spPr>
          <a:xfrm flipH="1">
            <a:off x="2322751" y="283720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320ABD8E-AEE4-FEEE-C18C-1D2F832FDF6D}"/>
              </a:ext>
            </a:extLst>
          </p:cNvPr>
          <p:cNvCxnSpPr>
            <a:cxnSpLocks/>
          </p:cNvCxnSpPr>
          <p:nvPr/>
        </p:nvCxnSpPr>
        <p:spPr>
          <a:xfrm>
            <a:off x="3508513" y="290678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70DDEBDB-3FE5-93D4-8A65-9483C3D19026}"/>
              </a:ext>
            </a:extLst>
          </p:cNvPr>
          <p:cNvCxnSpPr>
            <a:cxnSpLocks/>
          </p:cNvCxnSpPr>
          <p:nvPr/>
        </p:nvCxnSpPr>
        <p:spPr>
          <a:xfrm flipH="1">
            <a:off x="3438939" y="283720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40411F76-BD15-5AF9-368D-97539B5A8BED}"/>
              </a:ext>
            </a:extLst>
          </p:cNvPr>
          <p:cNvCxnSpPr>
            <a:cxnSpLocks/>
          </p:cNvCxnSpPr>
          <p:nvPr/>
        </p:nvCxnSpPr>
        <p:spPr>
          <a:xfrm>
            <a:off x="4823485" y="290678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3BCDCA5A-5C32-6FB8-6E49-695EF6FC1ABD}"/>
              </a:ext>
            </a:extLst>
          </p:cNvPr>
          <p:cNvCxnSpPr>
            <a:cxnSpLocks/>
          </p:cNvCxnSpPr>
          <p:nvPr/>
        </p:nvCxnSpPr>
        <p:spPr>
          <a:xfrm flipH="1">
            <a:off x="4753911" y="283720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C4217DF2-3D8F-9459-64C7-35A478BE289B}"/>
              </a:ext>
            </a:extLst>
          </p:cNvPr>
          <p:cNvCxnSpPr>
            <a:cxnSpLocks/>
          </p:cNvCxnSpPr>
          <p:nvPr/>
        </p:nvCxnSpPr>
        <p:spPr>
          <a:xfrm>
            <a:off x="5820190" y="290678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6091D7E8-3108-69A3-E8D4-EFA6EC1BB135}"/>
              </a:ext>
            </a:extLst>
          </p:cNvPr>
          <p:cNvCxnSpPr>
            <a:cxnSpLocks/>
          </p:cNvCxnSpPr>
          <p:nvPr/>
        </p:nvCxnSpPr>
        <p:spPr>
          <a:xfrm flipH="1">
            <a:off x="5750616" y="283720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AE346131-6370-FD5B-C6C0-6932A9A8F546}"/>
              </a:ext>
            </a:extLst>
          </p:cNvPr>
          <p:cNvSpPr/>
          <p:nvPr/>
        </p:nvSpPr>
        <p:spPr>
          <a:xfrm>
            <a:off x="6778488" y="2461175"/>
            <a:ext cx="1093304" cy="1534562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49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Figures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Odd Man Out</a:t>
            </a:r>
          </a:p>
          <a:p>
            <a:pPr algn="just"/>
            <a:r>
              <a:rPr lang="en-US" sz="2800" dirty="0"/>
              <a:t>Set of Figures </a:t>
            </a:r>
          </a:p>
          <a:p>
            <a:pPr algn="just"/>
            <a:r>
              <a:rPr lang="en-US" sz="2800" dirty="0"/>
              <a:t>Similar Characteristics Features - Except One </a:t>
            </a:r>
          </a:p>
          <a:p>
            <a:pPr algn="just"/>
            <a:r>
              <a:rPr lang="en-US" sz="2800" dirty="0"/>
              <a:t>Select Figure - Differs</a:t>
            </a: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265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Choose the figure which is different from the rest.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</a:t>
            </a:r>
          </a:p>
          <a:p>
            <a:pPr marL="0" indent="0" algn="just">
              <a:buNone/>
            </a:pPr>
            <a:r>
              <a:rPr lang="en-US" dirty="0"/>
              <a:t>	(a) 	     (b) 	(c)          (d)        (e)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All rotates in anti clock wise direction except option (e)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5C0F3FE-153B-45B7-082B-ABB7B272F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553321"/>
            <a:ext cx="6405770" cy="10976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09AA493-4C71-9A73-CBDB-E719650F1E0C}"/>
              </a:ext>
            </a:extLst>
          </p:cNvPr>
          <p:cNvSpPr/>
          <p:nvPr/>
        </p:nvSpPr>
        <p:spPr>
          <a:xfrm>
            <a:off x="6333184" y="2461494"/>
            <a:ext cx="862748" cy="128131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72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Choose the figure which is different from the rest.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  (a) 	         (b) 	     (c)           (d)           (e)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All diameters are intersecting with each other. </a:t>
            </a:r>
          </a:p>
          <a:p>
            <a:pPr marL="0" indent="0" algn="just">
              <a:buNone/>
            </a:pPr>
            <a:r>
              <a:rPr lang="en-US" dirty="0"/>
              <a:t>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A694388-7446-6343-F43A-20338B31C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54" y="2150579"/>
            <a:ext cx="7612416" cy="12784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459A5EB-915A-F764-FAFD-BEDFF6325E86}"/>
              </a:ext>
            </a:extLst>
          </p:cNvPr>
          <p:cNvSpPr/>
          <p:nvPr/>
        </p:nvSpPr>
        <p:spPr>
          <a:xfrm>
            <a:off x="5617568" y="2046632"/>
            <a:ext cx="1021772" cy="140224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43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Choose the figure which is different from the rest.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  (a) 	         (b) 	     (c)           (d)           (e)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option (e) is mathematical symbol.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4211C61-00F9-73B0-E5EF-6ACD6919B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97" y="2150578"/>
            <a:ext cx="7161503" cy="12088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918156F-BFD3-47F3-E22C-1B7449873819}"/>
              </a:ext>
            </a:extLst>
          </p:cNvPr>
          <p:cNvSpPr/>
          <p:nvPr/>
        </p:nvSpPr>
        <p:spPr>
          <a:xfrm>
            <a:off x="7104730" y="2026754"/>
            <a:ext cx="1021772" cy="140224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13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Choose the figure which is different from the rest.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  (a) 	         (b) 	     (c)           (d)           (e)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Except option/figure(c) rest all has three petals.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B59F603-E95A-F9C0-084B-85A283F65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3" y="2249139"/>
            <a:ext cx="7560968" cy="1189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A78C4EE-2E86-C61F-E4C0-A33687032672}"/>
              </a:ext>
            </a:extLst>
          </p:cNvPr>
          <p:cNvSpPr/>
          <p:nvPr/>
        </p:nvSpPr>
        <p:spPr>
          <a:xfrm>
            <a:off x="4080992" y="2142914"/>
            <a:ext cx="1021772" cy="140224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64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Choose the figure which is different from the rest.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  (a) 	         (b) 	     (c)           (d)           (e)</a:t>
            </a:r>
          </a:p>
          <a:p>
            <a:pPr marL="0" indent="0" algn="just">
              <a:buNone/>
            </a:pPr>
            <a:r>
              <a:rPr lang="en-US" dirty="0"/>
              <a:t>The shaded region is present on the left bottom region, where as rest all has on top right region.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3A50041-C5A5-A495-79D2-B7BAD3E8B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14" y="2463454"/>
            <a:ext cx="7178116" cy="11842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973FD7C-9552-0B11-A9B2-F0DEFB926BD9}"/>
              </a:ext>
            </a:extLst>
          </p:cNvPr>
          <p:cNvSpPr/>
          <p:nvPr/>
        </p:nvSpPr>
        <p:spPr>
          <a:xfrm>
            <a:off x="4173547" y="2344495"/>
            <a:ext cx="1021772" cy="140224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5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Choose the figure which is different from the rest.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  (a) 	         (b) 	     (c)           (d)           (e)</a:t>
            </a:r>
          </a:p>
          <a:p>
            <a:pPr marL="0" indent="0" algn="just">
              <a:buNone/>
            </a:pPr>
            <a:r>
              <a:rPr lang="en-US" dirty="0"/>
              <a:t>M - consonant, rest - vowel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B90955A-FE34-FFC6-DA78-448A480AC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758" y="2220669"/>
            <a:ext cx="7269533" cy="140224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737BA82-109A-D171-840F-7388BFA7B697}"/>
              </a:ext>
            </a:extLst>
          </p:cNvPr>
          <p:cNvSpPr/>
          <p:nvPr/>
        </p:nvSpPr>
        <p:spPr>
          <a:xfrm>
            <a:off x="1301138" y="2220669"/>
            <a:ext cx="1021772" cy="140224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1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Choose the figure which is different from the rest.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  (a) 	         (b) 	     (c)           (d)           (e)</a:t>
            </a:r>
          </a:p>
          <a:p>
            <a:pPr marL="0" indent="0" algn="just">
              <a:buNone/>
            </a:pPr>
            <a:r>
              <a:rPr lang="en-US" dirty="0"/>
              <a:t>Both arrows are facing towards the </a:t>
            </a:r>
            <a:r>
              <a:rPr lang="en-US" dirty="0" err="1"/>
              <a:t>centre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2E3A312-A29C-5451-D13B-0B20BAD3A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52" y="2384536"/>
            <a:ext cx="7262219" cy="10745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382C5FD-F2B5-AE20-F58C-98BFC0BC9685}"/>
              </a:ext>
            </a:extLst>
          </p:cNvPr>
          <p:cNvSpPr/>
          <p:nvPr/>
        </p:nvSpPr>
        <p:spPr>
          <a:xfrm>
            <a:off x="4242089" y="2220669"/>
            <a:ext cx="1021772" cy="140224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63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Analogy of Figures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Pair - Related Figures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Similar relationship - Two other figures </a:t>
            </a:r>
          </a:p>
          <a:p>
            <a:pPr algn="just"/>
            <a:r>
              <a:rPr lang="en-US" sz="2800" dirty="0"/>
              <a:t>Classification of Figures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Set of Figures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Similar Characteristics Features - Except One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Select Figure - Differs</a:t>
            </a:r>
            <a:endParaRPr lang="fr-FR" sz="2600" dirty="0"/>
          </a:p>
          <a:p>
            <a:pPr lvl="1" algn="just">
              <a:lnSpc>
                <a:spcPct val="150000"/>
              </a:lnSpc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64402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Non-Verbal Reasoning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Analogy of Figures 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Classification of Figures </a:t>
            </a:r>
          </a:p>
          <a:p>
            <a:pPr lvl="1" algn="just">
              <a:lnSpc>
                <a:spcPct val="150000"/>
              </a:lnSpc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10003</TotalTime>
  <Words>214</Words>
  <Application>Microsoft Office PowerPoint</Application>
  <PresentationFormat>On-screen Show (4:3)</PresentationFormat>
  <Paragraphs>115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Analogy of Figures</vt:lpstr>
      <vt:lpstr>Problem</vt:lpstr>
      <vt:lpstr>Problem</vt:lpstr>
      <vt:lpstr>Problem</vt:lpstr>
      <vt:lpstr>Problem</vt:lpstr>
      <vt:lpstr>Problem</vt:lpstr>
      <vt:lpstr>Problem</vt:lpstr>
      <vt:lpstr>Classification of Figures</vt:lpstr>
      <vt:lpstr>Problem</vt:lpstr>
      <vt:lpstr>Problem</vt:lpstr>
      <vt:lpstr>Problem</vt:lpstr>
      <vt:lpstr>Problem</vt:lpstr>
      <vt:lpstr>Problem</vt:lpstr>
      <vt:lpstr>Problem</vt:lpstr>
      <vt:lpstr>Problem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my pc</cp:lastModifiedBy>
  <cp:revision>685</cp:revision>
  <dcterms:created xsi:type="dcterms:W3CDTF">2020-12-18T18:59:12Z</dcterms:created>
  <dcterms:modified xsi:type="dcterms:W3CDTF">2022-11-05T07:53:25Z</dcterms:modified>
</cp:coreProperties>
</file>