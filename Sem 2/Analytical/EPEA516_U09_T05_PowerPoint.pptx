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636" r:id="rId2"/>
    <p:sldId id="637" r:id="rId3"/>
    <p:sldId id="614" r:id="rId4"/>
    <p:sldId id="628" r:id="rId5"/>
    <p:sldId id="613" r:id="rId6"/>
    <p:sldId id="619" r:id="rId7"/>
    <p:sldId id="620" r:id="rId8"/>
    <p:sldId id="621" r:id="rId9"/>
    <p:sldId id="622" r:id="rId10"/>
    <p:sldId id="623" r:id="rId11"/>
    <p:sldId id="624" r:id="rId12"/>
    <p:sldId id="629" r:id="rId13"/>
    <p:sldId id="630" r:id="rId14"/>
    <p:sldId id="625" r:id="rId15"/>
    <p:sldId id="626" r:id="rId16"/>
    <p:sldId id="627" r:id="rId17"/>
    <p:sldId id="632" r:id="rId18"/>
    <p:sldId id="638" r:id="rId19"/>
    <p:sldId id="639" r:id="rId20"/>
    <p:sldId id="609" r:id="rId21"/>
    <p:sldId id="610" r:id="rId22"/>
    <p:sldId id="634" r:id="rId23"/>
    <p:sldId id="635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232C"/>
    <a:srgbClr val="A8004B"/>
    <a:srgbClr val="262626"/>
    <a:srgbClr val="ABABAB"/>
    <a:srgbClr val="021F28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5/6/2022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448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solve problems based on relation between compound and simple interest.</a:t>
            </a:r>
          </a:p>
        </p:txBody>
      </p:sp>
    </p:spTree>
    <p:extLst>
      <p:ext uri="{BB962C8B-B14F-4D97-AF65-F5344CB8AC3E}">
        <p14:creationId xmlns:p14="http://schemas.microsoft.com/office/powerpoint/2010/main" val="2818893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/>
                <a:r>
                  <a:rPr lang="en-US" dirty="0"/>
                  <a:t>What will be the difference between simple and compound interest on a sum of Rs. 30,000 put for 2 years at 5% p.a.? </a:t>
                </a:r>
              </a:p>
              <a:p>
                <a:pPr algn="just"/>
                <a:r>
                  <a:rPr lang="en-US" dirty="0"/>
                  <a:t>P = Rs. 30,000 </a:t>
                </a:r>
              </a:p>
              <a:p>
                <a:pPr algn="just"/>
                <a:r>
                  <a:rPr lang="en-US" dirty="0"/>
                  <a:t>R = 5% p.a. </a:t>
                </a:r>
              </a:p>
              <a:p>
                <a:pPr algn="just"/>
                <a:r>
                  <a:rPr lang="en-US" sz="2600" dirty="0"/>
                  <a:t>n = 2 </a:t>
                </a:r>
                <a:r>
                  <a:rPr lang="en-US" dirty="0"/>
                  <a:t>years</a:t>
                </a:r>
              </a:p>
              <a:p>
                <a:pPr algn="just"/>
                <a:r>
                  <a:rPr lang="en-US" sz="2600" dirty="0"/>
                  <a:t>C.I. – S.I. = ?</a:t>
                </a:r>
                <a:endParaRPr lang="en-US" dirty="0"/>
              </a:p>
              <a:p>
                <a:pPr algn="just"/>
                <a:r>
                  <a:rPr lang="en-US" sz="2600" dirty="0"/>
                  <a:t>C.I. – S.I. 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8EC6C3AE-2661-5C31-B0F2-1CD66FE0146E}"/>
              </a:ext>
            </a:extLst>
          </p:cNvPr>
          <p:cNvSpPr/>
          <p:nvPr/>
        </p:nvSpPr>
        <p:spPr>
          <a:xfrm>
            <a:off x="3796749" y="1908313"/>
            <a:ext cx="1172817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A330C98-B11D-D397-0C8E-068B4EADDF31}"/>
              </a:ext>
            </a:extLst>
          </p:cNvPr>
          <p:cNvSpPr/>
          <p:nvPr/>
        </p:nvSpPr>
        <p:spPr>
          <a:xfrm>
            <a:off x="5837580" y="1888435"/>
            <a:ext cx="463826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DBA667-3EEB-9E47-9CD3-CDD58BFAF186}"/>
              </a:ext>
            </a:extLst>
          </p:cNvPr>
          <p:cNvSpPr/>
          <p:nvPr/>
        </p:nvSpPr>
        <p:spPr>
          <a:xfrm>
            <a:off x="7351642" y="1888435"/>
            <a:ext cx="540027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EB9869-3AA3-36CF-E0A9-F888A59C1368}"/>
              </a:ext>
            </a:extLst>
          </p:cNvPr>
          <p:cNvCxnSpPr/>
          <p:nvPr/>
        </p:nvCxnSpPr>
        <p:spPr>
          <a:xfrm>
            <a:off x="3091070" y="1828801"/>
            <a:ext cx="56909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582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P = 30,000; R = 5% p.a.; n = 2 years; and </a:t>
                </a:r>
                <a:r>
                  <a:rPr lang="en-US" sz="2600" dirty="0"/>
                  <a:t>C.I. – S.I. = ?</a:t>
                </a:r>
                <a:endParaRPr lang="en-US" dirty="0"/>
              </a:p>
              <a:p>
                <a:pPr algn="just"/>
                <a:r>
                  <a:rPr lang="en-US" sz="2600" dirty="0"/>
                  <a:t>C.I. – S.I. 	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sz="2600" dirty="0"/>
                  <a:t>		= 30000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600" b="0" i="0" dirty="0" smtClean="0"/>
                                  <m:t>5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6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/>
                  <a:t>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300</m:t>
                        </m:r>
                        <m:r>
                          <m:rPr>
                            <m:nor/>
                          </m:rPr>
                          <a:rPr lang="en-US" dirty="0"/>
                          <m:t>00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5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10000 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   </a:t>
                </a:r>
                <a:r>
                  <a:rPr lang="en-US" sz="2600" dirty="0"/>
                  <a:t>C.I. – S.I. 	= Rs. 75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66F8F3-4859-A4AC-8C54-82CD309CC154}"/>
              </a:ext>
            </a:extLst>
          </p:cNvPr>
          <p:cNvCxnSpPr>
            <a:cxnSpLocks/>
          </p:cNvCxnSpPr>
          <p:nvPr/>
        </p:nvCxnSpPr>
        <p:spPr>
          <a:xfrm flipV="1">
            <a:off x="2940357" y="5406886"/>
            <a:ext cx="1025357" cy="1298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CC67004-1D76-A64C-C40C-821779F093FC}"/>
              </a:ext>
            </a:extLst>
          </p:cNvPr>
          <p:cNvSpPr txBox="1"/>
          <p:nvPr/>
        </p:nvSpPr>
        <p:spPr>
          <a:xfrm>
            <a:off x="2702382" y="4496168"/>
            <a:ext cx="4759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CE85B8-94EE-FB5F-0F4A-6C3579380FF1}"/>
              </a:ext>
            </a:extLst>
          </p:cNvPr>
          <p:cNvCxnSpPr>
            <a:cxnSpLocks/>
          </p:cNvCxnSpPr>
          <p:nvPr/>
        </p:nvCxnSpPr>
        <p:spPr>
          <a:xfrm flipV="1">
            <a:off x="2467435" y="5026267"/>
            <a:ext cx="1025357" cy="1298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610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If the difference between compound interest &amp; simple interest on a certain sum of money for 2 years at 5% p.a. is Rs. 100, find the sum.</a:t>
                </a:r>
              </a:p>
              <a:p>
                <a:pPr algn="just"/>
                <a:r>
                  <a:rPr lang="en-US" dirty="0"/>
                  <a:t>n = 2</a:t>
                </a:r>
              </a:p>
              <a:p>
                <a:pPr algn="just"/>
                <a:r>
                  <a:rPr lang="en-US" dirty="0"/>
                  <a:t>R = 5% p.a.</a:t>
                </a:r>
              </a:p>
              <a:p>
                <a:pPr algn="just"/>
                <a:r>
                  <a:rPr lang="en-US" sz="2600" dirty="0"/>
                  <a:t>C.I. – S.I. = Rs. 100</a:t>
                </a:r>
              </a:p>
              <a:p>
                <a:pPr algn="just"/>
                <a:r>
                  <a:rPr lang="en-US" dirty="0"/>
                  <a:t>P = ?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en-US" sz="2600" dirty="0"/>
                  <a:t>C.I. – S.I. 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2600" dirty="0"/>
              </a:p>
              <a:p>
                <a:pPr algn="just"/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CEC18098-03E6-B034-45AB-1E545647B668}"/>
              </a:ext>
            </a:extLst>
          </p:cNvPr>
          <p:cNvSpPr/>
          <p:nvPr/>
        </p:nvSpPr>
        <p:spPr>
          <a:xfrm>
            <a:off x="1596892" y="2464903"/>
            <a:ext cx="1172817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ABEF33-291E-B1D2-5ADC-860E885A1DD4}"/>
              </a:ext>
            </a:extLst>
          </p:cNvPr>
          <p:cNvSpPr/>
          <p:nvPr/>
        </p:nvSpPr>
        <p:spPr>
          <a:xfrm>
            <a:off x="6662528" y="1878495"/>
            <a:ext cx="463826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1F4F82F-7A97-320F-D338-73402F315A50}"/>
              </a:ext>
            </a:extLst>
          </p:cNvPr>
          <p:cNvSpPr/>
          <p:nvPr/>
        </p:nvSpPr>
        <p:spPr>
          <a:xfrm>
            <a:off x="8335616" y="1908313"/>
            <a:ext cx="540027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2CC29D-24D8-E90E-EA7A-423A9E751BDC}"/>
              </a:ext>
            </a:extLst>
          </p:cNvPr>
          <p:cNvCxnSpPr>
            <a:cxnSpLocks/>
          </p:cNvCxnSpPr>
          <p:nvPr/>
        </p:nvCxnSpPr>
        <p:spPr>
          <a:xfrm>
            <a:off x="3544955" y="2932043"/>
            <a:ext cx="141674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210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n = 2, R = 5% p.a., </a:t>
                </a:r>
                <a:r>
                  <a:rPr lang="en-US" sz="2600" dirty="0"/>
                  <a:t>C.I. – S.I. = Rs. 100, </a:t>
                </a:r>
                <a:r>
                  <a:rPr lang="en-US" dirty="0"/>
                  <a:t>and P = ?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en-US" sz="2600" dirty="0"/>
                  <a:t>C.I. – S.I. 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2600" dirty="0"/>
              </a:p>
              <a:p>
                <a:pPr algn="just">
                  <a:lnSpc>
                    <a:spcPct val="110000"/>
                  </a:lnSpc>
                </a:pPr>
                <a:r>
                  <a:rPr lang="en-US" sz="2600" dirty="0"/>
                  <a:t>100 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600" b="0" i="0" dirty="0" smtClean="0"/>
                                  <m:t>5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dirty="0"/>
              </a:p>
              <a:p>
                <a:pPr algn="just">
                  <a:lnSpc>
                    <a:spcPct val="100000"/>
                  </a:lnSpc>
                </a:pPr>
                <a:r>
                  <a:rPr lang="en-US" sz="2600" dirty="0"/>
                  <a:t>100 = P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5 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5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100 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100</m:t>
                            </m:r>
                          </m:den>
                        </m:f>
                      </m:e>
                    </m:d>
                  </m:oMath>
                </a14:m>
                <a:endParaRPr lang="en-IN" dirty="0"/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100 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5 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5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= P</a:t>
                </a:r>
              </a:p>
              <a:p>
                <a:pPr algn="just"/>
                <a:r>
                  <a:rPr lang="en-US" dirty="0"/>
                  <a:t>P = Rs. 40,000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b="-3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D15FBE-AB0A-1B54-CA66-093D9178E651}"/>
              </a:ext>
            </a:extLst>
          </p:cNvPr>
          <p:cNvCxnSpPr>
            <a:cxnSpLocks/>
          </p:cNvCxnSpPr>
          <p:nvPr/>
        </p:nvCxnSpPr>
        <p:spPr>
          <a:xfrm flipV="1">
            <a:off x="1232456" y="5582478"/>
            <a:ext cx="396435" cy="1295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1E6D27-B29D-4124-FF34-4FBF2CBD7DFD}"/>
              </a:ext>
            </a:extLst>
          </p:cNvPr>
          <p:cNvCxnSpPr>
            <a:cxnSpLocks/>
          </p:cNvCxnSpPr>
          <p:nvPr/>
        </p:nvCxnSpPr>
        <p:spPr>
          <a:xfrm flipV="1">
            <a:off x="684677" y="5218279"/>
            <a:ext cx="475947" cy="1862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D7DCAA-3AE5-2573-072B-81213A5E7B72}"/>
              </a:ext>
            </a:extLst>
          </p:cNvPr>
          <p:cNvCxnSpPr>
            <a:cxnSpLocks/>
          </p:cNvCxnSpPr>
          <p:nvPr/>
        </p:nvCxnSpPr>
        <p:spPr>
          <a:xfrm flipV="1">
            <a:off x="1749855" y="5584511"/>
            <a:ext cx="396435" cy="129594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D44360-A98C-D513-4CDB-B9996BCD744B}"/>
              </a:ext>
            </a:extLst>
          </p:cNvPr>
          <p:cNvCxnSpPr>
            <a:cxnSpLocks/>
          </p:cNvCxnSpPr>
          <p:nvPr/>
        </p:nvCxnSpPr>
        <p:spPr>
          <a:xfrm flipV="1">
            <a:off x="626802" y="4930019"/>
            <a:ext cx="475947" cy="18622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77871E1-29B7-93BD-1CD5-A0287FAF2537}"/>
              </a:ext>
            </a:extLst>
          </p:cNvPr>
          <p:cNvSpPr txBox="1"/>
          <p:nvPr/>
        </p:nvSpPr>
        <p:spPr>
          <a:xfrm>
            <a:off x="684677" y="4811119"/>
            <a:ext cx="4759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AEF125-F1C1-C278-94BF-6C7CF770D550}"/>
              </a:ext>
            </a:extLst>
          </p:cNvPr>
          <p:cNvSpPr txBox="1"/>
          <p:nvPr/>
        </p:nvSpPr>
        <p:spPr>
          <a:xfrm>
            <a:off x="1102749" y="4745353"/>
            <a:ext cx="4759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433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Find the rate percent if the difference between the compound interest and simple interest on Rs. 40,000 for 2 years is Rs. 100.</a:t>
                </a:r>
              </a:p>
              <a:p>
                <a:pPr algn="just"/>
                <a:r>
                  <a:rPr lang="en-US" dirty="0"/>
                  <a:t>P = Rs. 40,000</a:t>
                </a:r>
              </a:p>
              <a:p>
                <a:pPr algn="just"/>
                <a:r>
                  <a:rPr lang="en-US" dirty="0"/>
                  <a:t>n = 2</a:t>
                </a:r>
              </a:p>
              <a:p>
                <a:pPr algn="just"/>
                <a:r>
                  <a:rPr lang="en-US" sz="2600" dirty="0"/>
                  <a:t>C.I. – S.I. = Rs. 100</a:t>
                </a:r>
              </a:p>
              <a:p>
                <a:pPr algn="just"/>
                <a:r>
                  <a:rPr lang="en-US" dirty="0"/>
                  <a:t>R = ?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en-US" sz="2600" dirty="0"/>
                  <a:t>C.I. – S.I. 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2600" dirty="0"/>
              </a:p>
              <a:p>
                <a:pPr algn="just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B6178165-2819-3FC5-11AA-1445AB8986B6}"/>
              </a:ext>
            </a:extLst>
          </p:cNvPr>
          <p:cNvSpPr/>
          <p:nvPr/>
        </p:nvSpPr>
        <p:spPr>
          <a:xfrm>
            <a:off x="7751280" y="1900652"/>
            <a:ext cx="1172817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C57C018-01F4-9DDA-002A-395074728DF1}"/>
              </a:ext>
            </a:extLst>
          </p:cNvPr>
          <p:cNvSpPr/>
          <p:nvPr/>
        </p:nvSpPr>
        <p:spPr>
          <a:xfrm>
            <a:off x="1056859" y="2487060"/>
            <a:ext cx="463826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1EEF5F-CE5F-3B4D-B4C0-E83A462DF5A3}"/>
              </a:ext>
            </a:extLst>
          </p:cNvPr>
          <p:cNvSpPr/>
          <p:nvPr/>
        </p:nvSpPr>
        <p:spPr>
          <a:xfrm>
            <a:off x="3241810" y="2487060"/>
            <a:ext cx="540027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648DB-A874-CD9D-C455-2D9473F1D46E}"/>
              </a:ext>
            </a:extLst>
          </p:cNvPr>
          <p:cNvCxnSpPr>
            <a:cxnSpLocks/>
          </p:cNvCxnSpPr>
          <p:nvPr/>
        </p:nvCxnSpPr>
        <p:spPr>
          <a:xfrm>
            <a:off x="2073965" y="1900652"/>
            <a:ext cx="198120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975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P = Rs. 40,000; n = 2; </a:t>
                </a:r>
                <a:r>
                  <a:rPr lang="en-US" sz="2600" dirty="0"/>
                  <a:t>C.I. – S.I. = Rs. 100; </a:t>
                </a:r>
                <a:r>
                  <a:rPr lang="en-US" dirty="0"/>
                  <a:t>and R =?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en-US" sz="2600" dirty="0"/>
                  <a:t>C.I. – S.I. 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2600" dirty="0"/>
              </a:p>
              <a:p>
                <a:pPr algn="just">
                  <a:lnSpc>
                    <a:spcPct val="110000"/>
                  </a:lnSpc>
                </a:pPr>
                <a:r>
                  <a:rPr lang="en-US" sz="2600" dirty="0"/>
                  <a:t>100 = </a:t>
                </a:r>
                <a:r>
                  <a:rPr lang="en-US" dirty="0"/>
                  <a:t>40000 x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600" b="0" i="0" dirty="0" smtClean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dirty="0"/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4</m:t>
                        </m:r>
                        <m:r>
                          <m:rPr>
                            <m:nor/>
                          </m:rPr>
                          <a:rPr lang="en-US" dirty="0"/>
                          <m:t>00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dirty="0"/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20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 = 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600" dirty="0"/>
                  <a:t>     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D15FBE-AB0A-1B54-CA66-093D9178E651}"/>
              </a:ext>
            </a:extLst>
          </p:cNvPr>
          <p:cNvCxnSpPr>
            <a:cxnSpLocks/>
          </p:cNvCxnSpPr>
          <p:nvPr/>
        </p:nvCxnSpPr>
        <p:spPr>
          <a:xfrm flipV="1">
            <a:off x="2047464" y="3308578"/>
            <a:ext cx="396435" cy="1295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1E6D27-B29D-4124-FF34-4FBF2CBD7DFD}"/>
              </a:ext>
            </a:extLst>
          </p:cNvPr>
          <p:cNvCxnSpPr>
            <a:cxnSpLocks/>
          </p:cNvCxnSpPr>
          <p:nvPr/>
        </p:nvCxnSpPr>
        <p:spPr>
          <a:xfrm flipV="1">
            <a:off x="763695" y="3279915"/>
            <a:ext cx="475947" cy="1862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779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600" dirty="0"/>
                  <a:t>      	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600" dirty="0"/>
                  <a:t>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600" dirty="0"/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20</m:t>
                        </m:r>
                      </m:den>
                    </m:f>
                  </m:oMath>
                </a14:m>
                <a:r>
                  <a:rPr lang="en-US" sz="2600" dirty="0"/>
                  <a:t>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R = 5% p.a.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D15FBE-AB0A-1B54-CA66-093D9178E651}"/>
              </a:ext>
            </a:extLst>
          </p:cNvPr>
          <p:cNvCxnSpPr>
            <a:cxnSpLocks/>
          </p:cNvCxnSpPr>
          <p:nvPr/>
        </p:nvCxnSpPr>
        <p:spPr>
          <a:xfrm flipV="1">
            <a:off x="665925" y="4679828"/>
            <a:ext cx="396435" cy="1295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1E6D27-B29D-4124-FF34-4FBF2CBD7DFD}"/>
              </a:ext>
            </a:extLst>
          </p:cNvPr>
          <p:cNvCxnSpPr>
            <a:cxnSpLocks/>
          </p:cNvCxnSpPr>
          <p:nvPr/>
        </p:nvCxnSpPr>
        <p:spPr>
          <a:xfrm flipV="1">
            <a:off x="2532861" y="4651513"/>
            <a:ext cx="475947" cy="1862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D7DCAA-3AE5-2573-072B-81213A5E7B72}"/>
              </a:ext>
            </a:extLst>
          </p:cNvPr>
          <p:cNvCxnSpPr>
            <a:cxnSpLocks/>
          </p:cNvCxnSpPr>
          <p:nvPr/>
        </p:nvCxnSpPr>
        <p:spPr>
          <a:xfrm flipV="1">
            <a:off x="1249582" y="2939784"/>
            <a:ext cx="201532" cy="21985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D44360-A98C-D513-4CDB-B9996BCD744B}"/>
              </a:ext>
            </a:extLst>
          </p:cNvPr>
          <p:cNvCxnSpPr>
            <a:cxnSpLocks/>
          </p:cNvCxnSpPr>
          <p:nvPr/>
        </p:nvCxnSpPr>
        <p:spPr>
          <a:xfrm flipV="1">
            <a:off x="3222201" y="2974974"/>
            <a:ext cx="186388" cy="18466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1BF7B1-8486-BF73-6DF0-2A2D708CA2DB}"/>
              </a:ext>
            </a:extLst>
          </p:cNvPr>
          <p:cNvSpPr txBox="1"/>
          <p:nvPr/>
        </p:nvSpPr>
        <p:spPr>
          <a:xfrm>
            <a:off x="3008808" y="4620193"/>
            <a:ext cx="4759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01DA01-9AE9-0BA3-C8B3-67F5AEDC4101}"/>
              </a:ext>
            </a:extLst>
          </p:cNvPr>
          <p:cNvCxnSpPr/>
          <p:nvPr/>
        </p:nvCxnSpPr>
        <p:spPr>
          <a:xfrm flipH="1" flipV="1">
            <a:off x="1062360" y="4403035"/>
            <a:ext cx="1372727" cy="34159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684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Find the rate percent if the S.I. on a certain sum of money for 2 years is Rs. 4,000 and difference between the compound interest and simple interest is Rs. 100.</a:t>
                </a:r>
              </a:p>
              <a:p>
                <a:pPr algn="just"/>
                <a:r>
                  <a:rPr lang="en-US" dirty="0"/>
                  <a:t>n = 2</a:t>
                </a:r>
              </a:p>
              <a:p>
                <a:pPr algn="just"/>
                <a:r>
                  <a:rPr lang="en-US" sz="2600" dirty="0"/>
                  <a:t>C.I. – S.I. = Rs. 100</a:t>
                </a:r>
              </a:p>
              <a:p>
                <a:pPr algn="just"/>
                <a:r>
                  <a:rPr lang="en-US" dirty="0"/>
                  <a:t>S.I. = Rs. 4,000</a:t>
                </a:r>
              </a:p>
              <a:p>
                <a:pPr algn="just"/>
                <a:r>
                  <a:rPr lang="en-US" dirty="0"/>
                  <a:t>R = ?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C.I. – 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100</m:t>
                        </m:r>
                      </m:den>
                    </m:f>
                  </m:oMath>
                </a14:m>
                <a:endParaRPr lang="en-IN" sz="2600" dirty="0"/>
              </a:p>
              <a:p>
                <a:pPr algn="just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4C7F9EA9-D8B6-A74B-8792-7A4992899168}"/>
              </a:ext>
            </a:extLst>
          </p:cNvPr>
          <p:cNvSpPr/>
          <p:nvPr/>
        </p:nvSpPr>
        <p:spPr>
          <a:xfrm>
            <a:off x="4119772" y="1896093"/>
            <a:ext cx="1172817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27B663-C08C-C047-8D46-6A3DAF393289}"/>
              </a:ext>
            </a:extLst>
          </p:cNvPr>
          <p:cNvSpPr/>
          <p:nvPr/>
        </p:nvSpPr>
        <p:spPr>
          <a:xfrm>
            <a:off x="2153483" y="1915973"/>
            <a:ext cx="463826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E3E6999-C224-59B1-B400-B2079EE6D582}"/>
              </a:ext>
            </a:extLst>
          </p:cNvPr>
          <p:cNvSpPr/>
          <p:nvPr/>
        </p:nvSpPr>
        <p:spPr>
          <a:xfrm>
            <a:off x="7908234" y="2440465"/>
            <a:ext cx="540027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22A137-A311-1DA6-CE68-F6CEC557E450}"/>
              </a:ext>
            </a:extLst>
          </p:cNvPr>
          <p:cNvCxnSpPr>
            <a:cxnSpLocks/>
          </p:cNvCxnSpPr>
          <p:nvPr/>
        </p:nvCxnSpPr>
        <p:spPr>
          <a:xfrm>
            <a:off x="2027583" y="1839152"/>
            <a:ext cx="203752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21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n = 2; </a:t>
                </a:r>
                <a:r>
                  <a:rPr lang="en-US" sz="2600" dirty="0"/>
                  <a:t>C.I. – S.I. = Rs. 100; </a:t>
                </a:r>
                <a:r>
                  <a:rPr lang="en-US" dirty="0"/>
                  <a:t>S.I. = Rs. 4,000; and R = ?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C.I. – 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100</m:t>
                        </m:r>
                      </m:den>
                    </m:f>
                  </m:oMath>
                </a14:m>
                <a:endParaRPr lang="en-IN" sz="2600" dirty="0"/>
              </a:p>
              <a:p>
                <a:pPr algn="just"/>
                <a:r>
                  <a:rPr lang="en-US" dirty="0"/>
                  <a:t>100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4000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100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R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2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4000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/>
                      <m:t>R</m:t>
                    </m:r>
                  </m:oMath>
                </a14:m>
                <a:r>
                  <a:rPr lang="en-US" dirty="0"/>
                  <a:t> =</a:t>
                </a:r>
                <a:r>
                  <a:rPr lang="en-IN" dirty="0"/>
                  <a:t> 5% p.a.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C5AEF1-3D18-A471-B6B4-F373FDD8036E}"/>
              </a:ext>
            </a:extLst>
          </p:cNvPr>
          <p:cNvCxnSpPr>
            <a:cxnSpLocks/>
          </p:cNvCxnSpPr>
          <p:nvPr/>
        </p:nvCxnSpPr>
        <p:spPr>
          <a:xfrm flipV="1">
            <a:off x="2554357" y="4387334"/>
            <a:ext cx="487397" cy="1108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C953D7-5679-9589-CDEF-D87C3A63B61A}"/>
              </a:ext>
            </a:extLst>
          </p:cNvPr>
          <p:cNvCxnSpPr>
            <a:cxnSpLocks/>
          </p:cNvCxnSpPr>
          <p:nvPr/>
        </p:nvCxnSpPr>
        <p:spPr>
          <a:xfrm flipV="1">
            <a:off x="1729031" y="4770783"/>
            <a:ext cx="825326" cy="1093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A9D8F1A-47D1-6949-F2DF-236ED1347F9C}"/>
              </a:ext>
            </a:extLst>
          </p:cNvPr>
          <p:cNvSpPr txBox="1"/>
          <p:nvPr/>
        </p:nvSpPr>
        <p:spPr>
          <a:xfrm>
            <a:off x="2565807" y="4695447"/>
            <a:ext cx="4759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40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200CE0-4F27-D308-C283-34BC6D298F8F}"/>
              </a:ext>
            </a:extLst>
          </p:cNvPr>
          <p:cNvCxnSpPr>
            <a:cxnSpLocks/>
          </p:cNvCxnSpPr>
          <p:nvPr/>
        </p:nvCxnSpPr>
        <p:spPr>
          <a:xfrm flipV="1">
            <a:off x="1964492" y="4230959"/>
            <a:ext cx="394159" cy="31860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5A01DE-EA98-056B-8365-96FDC2CB63A7}"/>
              </a:ext>
            </a:extLst>
          </p:cNvPr>
          <p:cNvCxnSpPr>
            <a:cxnSpLocks/>
          </p:cNvCxnSpPr>
          <p:nvPr/>
        </p:nvCxnSpPr>
        <p:spPr>
          <a:xfrm flipV="1">
            <a:off x="2565807" y="4695447"/>
            <a:ext cx="475947" cy="36933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A3CE8AD-355C-7268-572E-4F78ABC386A0}"/>
              </a:ext>
            </a:extLst>
          </p:cNvPr>
          <p:cNvSpPr txBox="1"/>
          <p:nvPr/>
        </p:nvSpPr>
        <p:spPr>
          <a:xfrm>
            <a:off x="3018853" y="4695447"/>
            <a:ext cx="4759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  <a:endParaRPr lang="en-IN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05E09D6-9059-7C69-26E9-5016F5EE2F9C}"/>
              </a:ext>
            </a:extLst>
          </p:cNvPr>
          <p:cNvCxnSpPr>
            <a:cxnSpLocks/>
          </p:cNvCxnSpPr>
          <p:nvPr/>
        </p:nvCxnSpPr>
        <p:spPr>
          <a:xfrm flipV="1">
            <a:off x="2989038" y="4770783"/>
            <a:ext cx="475947" cy="18622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487CCD7-8238-9603-3CD0-B3631A95396B}"/>
              </a:ext>
            </a:extLst>
          </p:cNvPr>
          <p:cNvCxnSpPr>
            <a:cxnSpLocks/>
          </p:cNvCxnSpPr>
          <p:nvPr/>
        </p:nvCxnSpPr>
        <p:spPr>
          <a:xfrm flipV="1">
            <a:off x="1253084" y="4349637"/>
            <a:ext cx="475947" cy="18622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5695F15-7D66-EDF5-6769-A792649640DB}"/>
              </a:ext>
            </a:extLst>
          </p:cNvPr>
          <p:cNvSpPr txBox="1"/>
          <p:nvPr/>
        </p:nvSpPr>
        <p:spPr>
          <a:xfrm>
            <a:off x="1132841" y="3970366"/>
            <a:ext cx="4759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901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/>
                <a:r>
                  <a:rPr lang="en-US" dirty="0"/>
                  <a:t>What will be the difference between simple and compound interest on a sum of Rs. 8,000 put for 3 years at 5% p.a.? </a:t>
                </a:r>
              </a:p>
              <a:p>
                <a:pPr algn="just"/>
                <a:r>
                  <a:rPr lang="en-US" dirty="0"/>
                  <a:t>P = 8,000 </a:t>
                </a:r>
              </a:p>
              <a:p>
                <a:pPr algn="just"/>
                <a:r>
                  <a:rPr lang="en-US" dirty="0"/>
                  <a:t>R = 5% p.a. </a:t>
                </a:r>
              </a:p>
              <a:p>
                <a:pPr algn="just"/>
                <a:r>
                  <a:rPr lang="en-US" sz="2600" dirty="0"/>
                  <a:t>n = 3 years </a:t>
                </a:r>
              </a:p>
              <a:p>
                <a:pPr algn="just"/>
                <a:r>
                  <a:rPr lang="en-US" sz="2600" dirty="0"/>
                  <a:t>C.I. – S.I. = ?</a:t>
                </a:r>
                <a:endParaRPr lang="en-US" dirty="0"/>
              </a:p>
              <a:p>
                <a:pPr algn="just"/>
                <a:r>
                  <a:rPr lang="en-US" dirty="0"/>
                  <a:t>C.I. – S.I. =P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IN" dirty="0"/>
                          <m:t> + 3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B608160E-86BA-DA29-F508-3966BA2A938F}"/>
              </a:ext>
            </a:extLst>
          </p:cNvPr>
          <p:cNvSpPr/>
          <p:nvPr/>
        </p:nvSpPr>
        <p:spPr>
          <a:xfrm>
            <a:off x="3674171" y="1920530"/>
            <a:ext cx="1172817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B9BBE9-9963-832E-6301-B3BD96B24702}"/>
              </a:ext>
            </a:extLst>
          </p:cNvPr>
          <p:cNvSpPr/>
          <p:nvPr/>
        </p:nvSpPr>
        <p:spPr>
          <a:xfrm>
            <a:off x="7219120" y="1893404"/>
            <a:ext cx="463826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D4075BB-AD0D-470A-D85C-918F0A8ED616}"/>
              </a:ext>
            </a:extLst>
          </p:cNvPr>
          <p:cNvSpPr/>
          <p:nvPr/>
        </p:nvSpPr>
        <p:spPr>
          <a:xfrm>
            <a:off x="5674934" y="1893404"/>
            <a:ext cx="540027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CDE82F-F2D9-D870-5857-61083FA2E0CF}"/>
              </a:ext>
            </a:extLst>
          </p:cNvPr>
          <p:cNvCxnSpPr>
            <a:cxnSpLocks/>
          </p:cNvCxnSpPr>
          <p:nvPr/>
        </p:nvCxnSpPr>
        <p:spPr>
          <a:xfrm>
            <a:off x="2965800" y="1818861"/>
            <a:ext cx="597817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148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P = 8,000; R = 5% p.a.; n = 3 years; and </a:t>
                </a:r>
                <a:r>
                  <a:rPr lang="en-US" sz="2600" dirty="0"/>
                  <a:t>C.I. – S.I. = ?</a:t>
                </a:r>
                <a:endParaRPr lang="en-US" dirty="0"/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C.I. – S.I. 	= P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IN" dirty="0"/>
                          <m:t> + 3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/>
                  <a:t>		= 8000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5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IN" dirty="0"/>
                          <m:t> + 3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5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IN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/>
                  <a:t>		= 8000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b="0" i="0" dirty="0" smtClean="0"/>
                              <m:t>8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00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IN" dirty="0"/>
                          <m:t>+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3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b="0" i="0" dirty="0" smtClean="0"/>
                              <m:t>4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00</m:t>
                            </m:r>
                          </m:den>
                        </m:f>
                      </m:e>
                    </m:d>
                  </m:oMath>
                </a14:m>
                <a:endParaRPr lang="en-IN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/>
                  <a:t>		= 8000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1 </m:t>
                            </m:r>
                            <m:r>
                              <m:rPr>
                                <m:nor/>
                              </m:rPr>
                              <a:rPr lang="en-IN" dirty="0"/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6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0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b="0" i="0" dirty="0" smtClean="0"/>
                              <m:t>8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000</m:t>
                            </m:r>
                          </m:den>
                        </m:f>
                      </m:e>
                    </m:d>
                  </m:oMath>
                </a14:m>
                <a:endParaRPr lang="en-IN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sz="2600" dirty="0"/>
                  <a:t>  C.I. – S.I. 	= Rs. 61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t="-1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CE85B8-94EE-FB5F-0F4A-6C3579380FF1}"/>
              </a:ext>
            </a:extLst>
          </p:cNvPr>
          <p:cNvCxnSpPr>
            <a:cxnSpLocks/>
          </p:cNvCxnSpPr>
          <p:nvPr/>
        </p:nvCxnSpPr>
        <p:spPr>
          <a:xfrm flipV="1">
            <a:off x="2458329" y="5382611"/>
            <a:ext cx="901097" cy="985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3B1848-51C9-8E1F-4A9F-82C47CC009A8}"/>
              </a:ext>
            </a:extLst>
          </p:cNvPr>
          <p:cNvCxnSpPr>
            <a:cxnSpLocks/>
          </p:cNvCxnSpPr>
          <p:nvPr/>
        </p:nvCxnSpPr>
        <p:spPr>
          <a:xfrm flipV="1">
            <a:off x="3670763" y="3299794"/>
            <a:ext cx="377153" cy="1292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39CDB4-8840-280C-D0B9-EAF6EF2706D3}"/>
              </a:ext>
            </a:extLst>
          </p:cNvPr>
          <p:cNvCxnSpPr>
            <a:cxnSpLocks/>
          </p:cNvCxnSpPr>
          <p:nvPr/>
        </p:nvCxnSpPr>
        <p:spPr>
          <a:xfrm flipV="1">
            <a:off x="3638724" y="3657317"/>
            <a:ext cx="438978" cy="1520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38CDCC1-C510-32FF-5737-CE88C3885913}"/>
              </a:ext>
            </a:extLst>
          </p:cNvPr>
          <p:cNvSpPr txBox="1"/>
          <p:nvPr/>
        </p:nvSpPr>
        <p:spPr>
          <a:xfrm>
            <a:off x="3717772" y="3773246"/>
            <a:ext cx="4759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  <a:endParaRPr lang="en-IN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0EBF5F-8346-A323-E1BF-F5571D820EDC}"/>
              </a:ext>
            </a:extLst>
          </p:cNvPr>
          <p:cNvCxnSpPr>
            <a:cxnSpLocks/>
          </p:cNvCxnSpPr>
          <p:nvPr/>
        </p:nvCxnSpPr>
        <p:spPr>
          <a:xfrm flipV="1">
            <a:off x="5208638" y="3245405"/>
            <a:ext cx="377153" cy="1292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2D28358-08FB-9C28-88E1-559E4DB7B353}"/>
              </a:ext>
            </a:extLst>
          </p:cNvPr>
          <p:cNvCxnSpPr>
            <a:cxnSpLocks/>
          </p:cNvCxnSpPr>
          <p:nvPr/>
        </p:nvCxnSpPr>
        <p:spPr>
          <a:xfrm flipV="1">
            <a:off x="5176630" y="3647377"/>
            <a:ext cx="438978" cy="1520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F39019A-5FE6-06D8-CBDD-2395B2E2A6E9}"/>
              </a:ext>
            </a:extLst>
          </p:cNvPr>
          <p:cNvSpPr txBox="1"/>
          <p:nvPr/>
        </p:nvSpPr>
        <p:spPr>
          <a:xfrm>
            <a:off x="5173145" y="3738181"/>
            <a:ext cx="4759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  <a:endParaRPr lang="en-IN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C4C9301-67D4-2BCE-C95E-D48D9331816A}"/>
              </a:ext>
            </a:extLst>
          </p:cNvPr>
          <p:cNvCxnSpPr>
            <a:cxnSpLocks/>
          </p:cNvCxnSpPr>
          <p:nvPr/>
        </p:nvCxnSpPr>
        <p:spPr>
          <a:xfrm flipV="1">
            <a:off x="3408792" y="5581791"/>
            <a:ext cx="901097" cy="985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786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6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The difference between the compound interest and simple interest on a certain sum of money for 3 years at 10% p.a. is Rs. 93. Find the sum.</a:t>
                </a:r>
              </a:p>
              <a:p>
                <a:pPr algn="just"/>
                <a:r>
                  <a:rPr lang="en-US" dirty="0"/>
                  <a:t>n = 3</a:t>
                </a:r>
              </a:p>
              <a:p>
                <a:pPr algn="just"/>
                <a:r>
                  <a:rPr lang="en-US" dirty="0"/>
                  <a:t>R = 10% p.a. </a:t>
                </a:r>
              </a:p>
              <a:p>
                <a:pPr algn="just"/>
                <a:r>
                  <a:rPr lang="en-US" sz="2600" dirty="0"/>
                  <a:t>C.I. – S.I. = Rs. 93</a:t>
                </a:r>
              </a:p>
              <a:p>
                <a:pPr algn="just"/>
                <a:r>
                  <a:rPr lang="en-US" dirty="0"/>
                  <a:t>P = ?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C.I. – S.I. = P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IN" dirty="0"/>
                          <m:t> + 3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IN" sz="2600" dirty="0"/>
              </a:p>
              <a:p>
                <a:pPr algn="just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A2D640B1-0915-5D7A-FC6B-9942FD50A889}"/>
              </a:ext>
            </a:extLst>
          </p:cNvPr>
          <p:cNvSpPr/>
          <p:nvPr/>
        </p:nvSpPr>
        <p:spPr>
          <a:xfrm>
            <a:off x="556591" y="2315816"/>
            <a:ext cx="1172817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1BEF02-1D8C-8FB1-0B0C-4697C1C4F60B}"/>
              </a:ext>
            </a:extLst>
          </p:cNvPr>
          <p:cNvSpPr/>
          <p:nvPr/>
        </p:nvSpPr>
        <p:spPr>
          <a:xfrm>
            <a:off x="5897216" y="1848057"/>
            <a:ext cx="463826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EC5BB0-82CC-34B0-5FE3-2FCDA1C764AA}"/>
              </a:ext>
            </a:extLst>
          </p:cNvPr>
          <p:cNvSpPr/>
          <p:nvPr/>
        </p:nvSpPr>
        <p:spPr>
          <a:xfrm>
            <a:off x="7460973" y="1838118"/>
            <a:ext cx="540027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EED1FE-8381-11F3-10A5-330FC4ACFF72}"/>
              </a:ext>
            </a:extLst>
          </p:cNvPr>
          <p:cNvCxnSpPr>
            <a:cxnSpLocks/>
          </p:cNvCxnSpPr>
          <p:nvPr/>
        </p:nvCxnSpPr>
        <p:spPr>
          <a:xfrm>
            <a:off x="1298711" y="1788422"/>
            <a:ext cx="755705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561F6E-5096-48F7-65A9-473E4C7399CB}"/>
              </a:ext>
            </a:extLst>
          </p:cNvPr>
          <p:cNvCxnSpPr>
            <a:cxnSpLocks/>
          </p:cNvCxnSpPr>
          <p:nvPr/>
        </p:nvCxnSpPr>
        <p:spPr>
          <a:xfrm>
            <a:off x="2282686" y="2882345"/>
            <a:ext cx="141674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884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6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>
                  <a:lnSpc>
                    <a:spcPct val="160000"/>
                  </a:lnSpc>
                </a:pPr>
                <a:r>
                  <a:rPr lang="en-US" dirty="0"/>
                  <a:t>n = 3, R = 10% p.a., </a:t>
                </a:r>
                <a:r>
                  <a:rPr lang="en-US" sz="2600" dirty="0"/>
                  <a:t>C.I. – S.I. = Rs. 93, </a:t>
                </a:r>
                <a:r>
                  <a:rPr lang="en-US" dirty="0"/>
                  <a:t>and P = ?</a:t>
                </a:r>
              </a:p>
              <a:p>
                <a:pPr algn="just">
                  <a:lnSpc>
                    <a:spcPct val="160000"/>
                  </a:lnSpc>
                </a:pPr>
                <a:r>
                  <a:rPr lang="en-US" dirty="0"/>
                  <a:t>C.I. – S.I. = P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IN" dirty="0"/>
                          <m:t> + 3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IN" sz="2600" dirty="0"/>
              </a:p>
              <a:p>
                <a:pPr algn="just">
                  <a:lnSpc>
                    <a:spcPct val="160000"/>
                  </a:lnSpc>
                </a:pPr>
                <a:r>
                  <a:rPr lang="en-US" sz="2600" dirty="0"/>
                  <a:t>93 </a:t>
                </a:r>
                <a:r>
                  <a:rPr lang="en-US" dirty="0"/>
                  <a:t>= P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10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IN" dirty="0"/>
                          <m:t> + 3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10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IN" dirty="0"/>
              </a:p>
              <a:p>
                <a:pPr algn="just">
                  <a:lnSpc>
                    <a:spcPct val="160000"/>
                  </a:lnSpc>
                </a:pPr>
                <a:r>
                  <a:rPr lang="en-US" sz="2600" dirty="0"/>
                  <a:t>93 = P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1000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IN" dirty="0"/>
                          <m:t>+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3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100</m:t>
                            </m:r>
                          </m:den>
                        </m:f>
                      </m:e>
                    </m:d>
                  </m:oMath>
                </a14:m>
                <a:endParaRPr lang="en-IN" dirty="0"/>
              </a:p>
              <a:p>
                <a:pPr algn="just">
                  <a:lnSpc>
                    <a:spcPct val="160000"/>
                  </a:lnSpc>
                </a:pPr>
                <a:r>
                  <a:rPr lang="en-US" sz="2600" dirty="0"/>
                  <a:t>93 = P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1 </m:t>
                            </m:r>
                            <m:r>
                              <m:rPr>
                                <m:nor/>
                              </m:rPr>
                              <a:rPr lang="en-IN" dirty="0"/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0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1000</m:t>
                            </m:r>
                          </m:den>
                        </m:f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E14286-C944-40E6-3761-D39B21C59FEC}"/>
              </a:ext>
            </a:extLst>
          </p:cNvPr>
          <p:cNvCxnSpPr>
            <a:cxnSpLocks/>
          </p:cNvCxnSpPr>
          <p:nvPr/>
        </p:nvCxnSpPr>
        <p:spPr>
          <a:xfrm flipV="1">
            <a:off x="1978421" y="3660009"/>
            <a:ext cx="117079" cy="27588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41281C-AFB5-0450-B216-DF0296342978}"/>
              </a:ext>
            </a:extLst>
          </p:cNvPr>
          <p:cNvCxnSpPr>
            <a:cxnSpLocks/>
          </p:cNvCxnSpPr>
          <p:nvPr/>
        </p:nvCxnSpPr>
        <p:spPr>
          <a:xfrm flipV="1">
            <a:off x="2065683" y="4005466"/>
            <a:ext cx="117079" cy="27588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038A59-8724-6020-6AB0-A587EB2E0662}"/>
              </a:ext>
            </a:extLst>
          </p:cNvPr>
          <p:cNvCxnSpPr>
            <a:cxnSpLocks/>
          </p:cNvCxnSpPr>
          <p:nvPr/>
        </p:nvCxnSpPr>
        <p:spPr>
          <a:xfrm flipV="1">
            <a:off x="3373213" y="3640131"/>
            <a:ext cx="117079" cy="27588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18BDDD-62E9-719A-1D99-414F01FBD23E}"/>
              </a:ext>
            </a:extLst>
          </p:cNvPr>
          <p:cNvCxnSpPr>
            <a:cxnSpLocks/>
          </p:cNvCxnSpPr>
          <p:nvPr/>
        </p:nvCxnSpPr>
        <p:spPr>
          <a:xfrm flipV="1">
            <a:off x="3460475" y="3985588"/>
            <a:ext cx="117079" cy="27588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627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6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600" dirty="0"/>
                  <a:t>93 	= P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1 </m:t>
                            </m:r>
                            <m:r>
                              <m:rPr>
                                <m:nor/>
                              </m:rPr>
                              <a:rPr lang="en-IN" dirty="0"/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0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1000</m:t>
                            </m:r>
                          </m:den>
                        </m:f>
                      </m:e>
                    </m:d>
                  </m:oMath>
                </a14:m>
                <a:endParaRPr lang="en-IN" dirty="0"/>
              </a:p>
              <a:p>
                <a:pPr algn="just"/>
                <a:r>
                  <a:rPr lang="en-US" sz="2600" dirty="0"/>
                  <a:t>93 	= P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3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1000</m:t>
                            </m:r>
                          </m:den>
                        </m:f>
                      </m:e>
                    </m:d>
                  </m:oMath>
                </a14:m>
                <a:endParaRPr lang="en-IN" dirty="0"/>
              </a:p>
              <a:p>
                <a:pPr algn="just"/>
                <a:r>
                  <a:rPr lang="en-US" dirty="0"/>
                  <a:t>P 	</a:t>
                </a:r>
                <a:r>
                  <a:rPr lang="en-US" sz="2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93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31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:r>
                  <a:rPr lang="en-US" dirty="0"/>
                  <a:t>P 	</a:t>
                </a:r>
                <a:r>
                  <a:rPr lang="en-US" sz="2600" dirty="0"/>
                  <a:t>=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Rs</m:t>
                    </m:r>
                    <m:r>
                      <m:rPr>
                        <m:nor/>
                      </m:rPr>
                      <a:rPr lang="en-US" b="0" i="0" dirty="0" smtClean="0"/>
                      <m:t>. 3000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D15FBE-AB0A-1B54-CA66-093D9178E651}"/>
              </a:ext>
            </a:extLst>
          </p:cNvPr>
          <p:cNvCxnSpPr>
            <a:cxnSpLocks/>
          </p:cNvCxnSpPr>
          <p:nvPr/>
        </p:nvCxnSpPr>
        <p:spPr>
          <a:xfrm flipV="1">
            <a:off x="2054081" y="4447285"/>
            <a:ext cx="396435" cy="1295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1E6D27-B29D-4124-FF34-4FBF2CBD7DFD}"/>
              </a:ext>
            </a:extLst>
          </p:cNvPr>
          <p:cNvCxnSpPr>
            <a:cxnSpLocks/>
          </p:cNvCxnSpPr>
          <p:nvPr/>
        </p:nvCxnSpPr>
        <p:spPr>
          <a:xfrm flipV="1">
            <a:off x="1568757" y="4069011"/>
            <a:ext cx="475947" cy="1862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AEF125-F1C1-C278-94BF-6C7CF770D550}"/>
              </a:ext>
            </a:extLst>
          </p:cNvPr>
          <p:cNvSpPr txBox="1"/>
          <p:nvPr/>
        </p:nvSpPr>
        <p:spPr>
          <a:xfrm>
            <a:off x="1472125" y="3649984"/>
            <a:ext cx="4759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1863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917F3-155B-71F3-6794-11459163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AFC483-ECFC-632F-6024-824BE88A9C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The difference between compound and simple interests on a certain sum of money at the interest rate of 10% per annum for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years is Rs. 183, when the interest is compounded semi-annually. Find the sum of money.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n = 3 (1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years = 3 half years)</a:t>
                </a:r>
              </a:p>
              <a:p>
                <a:pPr algn="just"/>
                <a:r>
                  <a:rPr lang="en-US" dirty="0"/>
                  <a:t>R = 10% p.a.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R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% = 5 % half yearly)</a:t>
                </a:r>
              </a:p>
              <a:p>
                <a:pPr algn="just"/>
                <a:r>
                  <a:rPr lang="en-US" dirty="0"/>
                  <a:t>C.I. – S.I. = Rs. 183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P = ?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AFC483-ECFC-632F-6024-824BE88A9C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 b="-18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3292BFFD-C3BB-B241-7E64-38E674A251B7}"/>
              </a:ext>
            </a:extLst>
          </p:cNvPr>
          <p:cNvSpPr/>
          <p:nvPr/>
        </p:nvSpPr>
        <p:spPr>
          <a:xfrm>
            <a:off x="4472607" y="2546484"/>
            <a:ext cx="1172817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E1D4EEB-A701-348B-4A1D-EFB5C625E3AF}"/>
              </a:ext>
            </a:extLst>
          </p:cNvPr>
          <p:cNvSpPr/>
          <p:nvPr/>
        </p:nvSpPr>
        <p:spPr>
          <a:xfrm>
            <a:off x="7633253" y="1848056"/>
            <a:ext cx="675859" cy="5864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497CB7B-DE33-D7ED-3A4B-190B4B934F7C}"/>
              </a:ext>
            </a:extLst>
          </p:cNvPr>
          <p:cNvSpPr/>
          <p:nvPr/>
        </p:nvSpPr>
        <p:spPr>
          <a:xfrm>
            <a:off x="2227604" y="2463659"/>
            <a:ext cx="774013" cy="7764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581520-D3DB-37DE-2A70-2171091D708B}"/>
              </a:ext>
            </a:extLst>
          </p:cNvPr>
          <p:cNvCxnSpPr>
            <a:cxnSpLocks/>
          </p:cNvCxnSpPr>
          <p:nvPr/>
        </p:nvCxnSpPr>
        <p:spPr>
          <a:xfrm>
            <a:off x="1298711" y="1788422"/>
            <a:ext cx="755705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388409-7043-9EFA-C7BF-CB5115D1420B}"/>
              </a:ext>
            </a:extLst>
          </p:cNvPr>
          <p:cNvCxnSpPr>
            <a:cxnSpLocks/>
          </p:cNvCxnSpPr>
          <p:nvPr/>
        </p:nvCxnSpPr>
        <p:spPr>
          <a:xfrm>
            <a:off x="5864087" y="3707293"/>
            <a:ext cx="176916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077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>
                  <a:lnSpc>
                    <a:spcPct val="160000"/>
                  </a:lnSpc>
                </a:pPr>
                <a:r>
                  <a:rPr lang="en-US" dirty="0"/>
                  <a:t>n = 3,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= 5%, </a:t>
                </a:r>
                <a:r>
                  <a:rPr lang="en-US" sz="2600" dirty="0"/>
                  <a:t>C.I. – S.I. = Rs. 183, </a:t>
                </a:r>
                <a:r>
                  <a:rPr lang="en-US" dirty="0"/>
                  <a:t>and P = ?</a:t>
                </a:r>
              </a:p>
              <a:p>
                <a:pPr algn="just">
                  <a:lnSpc>
                    <a:spcPct val="160000"/>
                  </a:lnSpc>
                </a:pPr>
                <a:r>
                  <a:rPr lang="en-US" dirty="0"/>
                  <a:t>C.I. – S.I. = P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n-US" i="1" dirty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en-US" dirty="0"/>
                                          <m:t>R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nor/>
                                          </m:rPr>
                                          <a:rPr lang="en-US" dirty="0"/>
                                          <m:t>2</m:t>
                                        </m:r>
                                      </m:den>
                                    </m:f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IN" dirty="0"/>
                          <m:t> + 3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n-US" i="1" dirty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en-US" dirty="0"/>
                                          <m:t>R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nor/>
                                          </m:rPr>
                                          <a:rPr lang="en-US" dirty="0"/>
                                          <m:t>2</m:t>
                                        </m:r>
                                      </m:den>
                                    </m:f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IN" sz="2600" dirty="0"/>
              </a:p>
              <a:p>
                <a:pPr algn="just">
                  <a:lnSpc>
                    <a:spcPct val="160000"/>
                  </a:lnSpc>
                </a:pPr>
                <a:r>
                  <a:rPr lang="en-US" sz="2600" dirty="0"/>
                  <a:t>183 </a:t>
                </a:r>
                <a:r>
                  <a:rPr lang="en-US" dirty="0"/>
                  <a:t>= P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5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IN" dirty="0"/>
                          <m:t> + 3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5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IN" dirty="0"/>
              </a:p>
              <a:p>
                <a:pPr algn="just">
                  <a:lnSpc>
                    <a:spcPct val="160000"/>
                  </a:lnSpc>
                </a:pPr>
                <a:r>
                  <a:rPr lang="en-US" sz="2600" dirty="0"/>
                  <a:t>183 = P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b="0" i="0" dirty="0" smtClean="0"/>
                              <m:t>8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000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IN" dirty="0"/>
                          <m:t>+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3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b="0" i="0" dirty="0" smtClean="0"/>
                              <m:t>4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00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algn="just">
                  <a:lnSpc>
                    <a:spcPct val="160000"/>
                  </a:lnSpc>
                </a:pPr>
                <a:r>
                  <a:rPr lang="en-US" sz="2600" dirty="0"/>
                  <a:t>183 = P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1 </m:t>
                            </m:r>
                            <m:r>
                              <m:rPr>
                                <m:nor/>
                              </m:rPr>
                              <a:rPr lang="en-IN" dirty="0"/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6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0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b="0" i="0" dirty="0" smtClean="0"/>
                              <m:t>8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000</m:t>
                            </m:r>
                          </m:den>
                        </m:f>
                      </m:e>
                    </m:d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E14286-C944-40E6-3761-D39B21C59FEC}"/>
              </a:ext>
            </a:extLst>
          </p:cNvPr>
          <p:cNvCxnSpPr>
            <a:cxnSpLocks/>
          </p:cNvCxnSpPr>
          <p:nvPr/>
        </p:nvCxnSpPr>
        <p:spPr>
          <a:xfrm flipV="1">
            <a:off x="1916774" y="3967123"/>
            <a:ext cx="117079" cy="27588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41281C-AFB5-0450-B216-DF0296342978}"/>
              </a:ext>
            </a:extLst>
          </p:cNvPr>
          <p:cNvCxnSpPr>
            <a:cxnSpLocks/>
          </p:cNvCxnSpPr>
          <p:nvPr/>
        </p:nvCxnSpPr>
        <p:spPr>
          <a:xfrm flipV="1">
            <a:off x="1785450" y="4366832"/>
            <a:ext cx="381279" cy="1157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038A59-8724-6020-6AB0-A587EB2E0662}"/>
              </a:ext>
            </a:extLst>
          </p:cNvPr>
          <p:cNvCxnSpPr>
            <a:cxnSpLocks/>
          </p:cNvCxnSpPr>
          <p:nvPr/>
        </p:nvCxnSpPr>
        <p:spPr>
          <a:xfrm flipV="1">
            <a:off x="3194307" y="3967123"/>
            <a:ext cx="117079" cy="27588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18BDDD-62E9-719A-1D99-414F01FBD23E}"/>
              </a:ext>
            </a:extLst>
          </p:cNvPr>
          <p:cNvCxnSpPr>
            <a:cxnSpLocks/>
          </p:cNvCxnSpPr>
          <p:nvPr/>
        </p:nvCxnSpPr>
        <p:spPr>
          <a:xfrm flipV="1">
            <a:off x="3030044" y="4337015"/>
            <a:ext cx="411100" cy="15603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0A6A42-16AD-A9EF-C83E-E9095ED11876}"/>
              </a:ext>
            </a:extLst>
          </p:cNvPr>
          <p:cNvSpPr txBox="1"/>
          <p:nvPr/>
        </p:nvSpPr>
        <p:spPr>
          <a:xfrm>
            <a:off x="1790046" y="4493054"/>
            <a:ext cx="4759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39FA6F-A9A0-0C76-3ACE-6AB133ACE416}"/>
              </a:ext>
            </a:extLst>
          </p:cNvPr>
          <p:cNvSpPr txBox="1"/>
          <p:nvPr/>
        </p:nvSpPr>
        <p:spPr>
          <a:xfrm>
            <a:off x="2928047" y="4482544"/>
            <a:ext cx="4759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7323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780-D2FF-1F5D-C033-F7842EC6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600" dirty="0"/>
                  <a:t>183 	= P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1 </m:t>
                            </m:r>
                            <m:r>
                              <m:rPr>
                                <m:nor/>
                              </m:rPr>
                              <a:rPr lang="en-IN" dirty="0"/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6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0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b="0" i="0" dirty="0" smtClean="0"/>
                              <m:t>8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000</m:t>
                            </m:r>
                          </m:den>
                        </m:f>
                      </m:e>
                    </m:d>
                  </m:oMath>
                </a14:m>
                <a:endParaRPr lang="en-IN" dirty="0"/>
              </a:p>
              <a:p>
                <a:pPr algn="just"/>
                <a:r>
                  <a:rPr lang="en-US" sz="2600" dirty="0"/>
                  <a:t>183 	= P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6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b="0" i="0" dirty="0" smtClean="0"/>
                              <m:t>8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000</m:t>
                            </m:r>
                          </m:den>
                        </m:f>
                      </m:e>
                    </m:d>
                  </m:oMath>
                </a14:m>
                <a:endParaRPr lang="en-IN" dirty="0"/>
              </a:p>
              <a:p>
                <a:pPr algn="just"/>
                <a:r>
                  <a:rPr lang="en-US" dirty="0"/>
                  <a:t>P 	</a:t>
                </a:r>
                <a:r>
                  <a:rPr lang="en-US" sz="2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18</m:t>
                        </m:r>
                        <m:r>
                          <m:rPr>
                            <m:nor/>
                          </m:rPr>
                          <a:rPr lang="en-US" dirty="0"/>
                          <m:t>3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8000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6</m:t>
                        </m:r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:r>
                  <a:rPr lang="en-US" dirty="0"/>
                  <a:t>P 	</a:t>
                </a:r>
                <a:r>
                  <a:rPr lang="en-US" sz="2600" dirty="0"/>
                  <a:t>=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Rs</m:t>
                    </m:r>
                    <m:r>
                      <m:rPr>
                        <m:nor/>
                      </m:rPr>
                      <a:rPr lang="en-US" b="0" i="0" dirty="0" smtClean="0"/>
                      <m:t>. 2400</m:t>
                    </m:r>
                    <m:r>
                      <m:rPr>
                        <m:nor/>
                      </m:rPr>
                      <a:rPr lang="en-US" b="0" i="0" dirty="0" smtClean="0"/>
                      <m:t>0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838C-AC8B-ABA0-44E6-6C79EAF49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D15FBE-AB0A-1B54-CA66-093D9178E651}"/>
              </a:ext>
            </a:extLst>
          </p:cNvPr>
          <p:cNvCxnSpPr>
            <a:cxnSpLocks/>
          </p:cNvCxnSpPr>
          <p:nvPr/>
        </p:nvCxnSpPr>
        <p:spPr>
          <a:xfrm flipV="1">
            <a:off x="2103776" y="4447285"/>
            <a:ext cx="396435" cy="1295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1E6D27-B29D-4124-FF34-4FBF2CBD7DFD}"/>
              </a:ext>
            </a:extLst>
          </p:cNvPr>
          <p:cNvCxnSpPr>
            <a:cxnSpLocks/>
          </p:cNvCxnSpPr>
          <p:nvPr/>
        </p:nvCxnSpPr>
        <p:spPr>
          <a:xfrm flipV="1">
            <a:off x="1608513" y="4069011"/>
            <a:ext cx="475947" cy="1862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AEF125-F1C1-C278-94BF-6C7CF770D550}"/>
              </a:ext>
            </a:extLst>
          </p:cNvPr>
          <p:cNvSpPr txBox="1"/>
          <p:nvPr/>
        </p:nvSpPr>
        <p:spPr>
          <a:xfrm>
            <a:off x="1472125" y="3649984"/>
            <a:ext cx="4759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005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F56B3-6073-BF20-8792-62141D779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168A97-F76A-385D-C6E7-7FE40D5A2A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dirty="0"/>
                  <a:t>For 2 years at R% per annum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In terms of P and R </a:t>
                </a:r>
              </a:p>
              <a:p>
                <a:pPr lvl="2" algn="just">
                  <a:lnSpc>
                    <a:spcPct val="150000"/>
                  </a:lnSpc>
                </a:pPr>
                <a:r>
                  <a:rPr lang="en-US" sz="2600" dirty="0"/>
                  <a:t>C.I. – S.I. 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2600" dirty="0"/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In terms of S.I. and R </a:t>
                </a:r>
              </a:p>
              <a:p>
                <a:pPr lvl="2" algn="just">
                  <a:lnSpc>
                    <a:spcPct val="150000"/>
                  </a:lnSpc>
                </a:pPr>
                <a:r>
                  <a:rPr lang="en-US" sz="2600" dirty="0"/>
                  <a:t>C.I. – 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dirty="0"/>
                          <m:t>R</m:t>
                        </m:r>
                        <m:r>
                          <m:rPr>
                            <m:nor/>
                          </m:rPr>
                          <a:rPr lang="en-US" sz="2600" dirty="0"/>
                          <m:t> </m:t>
                        </m:r>
                        <m:r>
                          <m:rPr>
                            <m:nor/>
                          </m:rPr>
                          <a:rPr lang="en-US" sz="2600" dirty="0"/>
                          <m:t>x</m:t>
                        </m:r>
                        <m:r>
                          <m:rPr>
                            <m:nor/>
                          </m:rPr>
                          <a:rPr lang="en-US" sz="2600" dirty="0"/>
                          <m:t> </m:t>
                        </m:r>
                        <m:r>
                          <m:rPr>
                            <m:nor/>
                          </m:rPr>
                          <a:rPr lang="en-US" sz="2600" dirty="0"/>
                          <m:t>S</m:t>
                        </m:r>
                        <m:r>
                          <m:rPr>
                            <m:nor/>
                          </m:rPr>
                          <a:rPr lang="en-US" sz="2600" dirty="0"/>
                          <m:t>.</m:t>
                        </m:r>
                        <m:r>
                          <m:rPr>
                            <m:nor/>
                          </m:rPr>
                          <a:rPr lang="en-US" sz="2600" dirty="0"/>
                          <m:t>I</m:t>
                        </m:r>
                        <m:r>
                          <m:rPr>
                            <m:nor/>
                          </m:rPr>
                          <a:rPr lang="en-US" sz="2600" dirty="0"/>
                          <m:t>.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600" dirty="0"/>
                          <m:t>2 </m:t>
                        </m:r>
                        <m:r>
                          <m:rPr>
                            <m:nor/>
                          </m:rPr>
                          <a:rPr lang="en-US" sz="2600" dirty="0"/>
                          <m:t>x</m:t>
                        </m:r>
                        <m:r>
                          <m:rPr>
                            <m:nor/>
                          </m:rPr>
                          <a:rPr lang="en-US" sz="2600" dirty="0"/>
                          <m:t> 100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168A97-F76A-385D-C6E7-7FE40D5A2A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473086D-51BF-CD9D-78AD-3F3F52DFCE73}"/>
              </a:ext>
            </a:extLst>
          </p:cNvPr>
          <p:cNvSpPr/>
          <p:nvPr/>
        </p:nvSpPr>
        <p:spPr>
          <a:xfrm>
            <a:off x="1540566" y="2966830"/>
            <a:ext cx="2932043" cy="9243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0F9946-648D-4247-CB74-0F45647CADF3}"/>
              </a:ext>
            </a:extLst>
          </p:cNvPr>
          <p:cNvSpPr/>
          <p:nvPr/>
        </p:nvSpPr>
        <p:spPr>
          <a:xfrm>
            <a:off x="1540566" y="4729369"/>
            <a:ext cx="2932043" cy="9243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723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B496D-DAAC-F0DE-8C8C-91D22E60C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EEA996-4555-CEDC-091D-16A9BC7C9A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dirty="0"/>
                  <a:t>For 3 years at R% per annum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In terms of P and R </a:t>
                </a:r>
              </a:p>
              <a:p>
                <a:pPr lvl="2" algn="just">
                  <a:lnSpc>
                    <a:spcPct val="150000"/>
                  </a:lnSpc>
                </a:pPr>
                <a:r>
                  <a:rPr lang="en-US" sz="2600" dirty="0"/>
                  <a:t>C.I. – S.I. =P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6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600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600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IN" sz="2600" dirty="0"/>
                          <m:t> + 3</m:t>
                        </m:r>
                        <m:sSup>
                          <m:sSupPr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6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600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600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IN" sz="2600" dirty="0"/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In terms of S.I. and R </a:t>
                </a:r>
              </a:p>
              <a:p>
                <a:pPr lvl="2" algn="just">
                  <a:lnSpc>
                    <a:spcPct val="150000"/>
                  </a:lnSpc>
                </a:pPr>
                <a:r>
                  <a:rPr lang="en-US" sz="2600" dirty="0"/>
                  <a:t>C.I. – 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dirty="0"/>
                          <m:t>S</m:t>
                        </m:r>
                        <m:r>
                          <m:rPr>
                            <m:nor/>
                          </m:rPr>
                          <a:rPr lang="en-US" sz="2600" dirty="0"/>
                          <m:t>.</m:t>
                        </m:r>
                        <m:r>
                          <m:rPr>
                            <m:nor/>
                          </m:rPr>
                          <a:rPr lang="en-US" sz="2600" dirty="0"/>
                          <m:t>I</m:t>
                        </m:r>
                        <m:r>
                          <m:rPr>
                            <m:nor/>
                          </m:rPr>
                          <a:rPr lang="en-US" sz="2600" dirty="0"/>
                          <m:t>.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600" dirty="0"/>
                          <m:t>3</m:t>
                        </m:r>
                      </m:den>
                    </m:f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6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600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600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IN" sz="2600" dirty="0"/>
                          <m:t> + 3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sz="24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EEA996-4555-CEDC-091D-16A9BC7C9A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F2FB3FB-ACDF-BF5B-A105-BCC470F6288F}"/>
              </a:ext>
            </a:extLst>
          </p:cNvPr>
          <p:cNvSpPr/>
          <p:nvPr/>
        </p:nvSpPr>
        <p:spPr>
          <a:xfrm>
            <a:off x="1540566" y="2966830"/>
            <a:ext cx="4840356" cy="9243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9CC9B6-CF31-1F41-8AE9-777E6E0FAAAE}"/>
              </a:ext>
            </a:extLst>
          </p:cNvPr>
          <p:cNvSpPr/>
          <p:nvPr/>
        </p:nvSpPr>
        <p:spPr>
          <a:xfrm>
            <a:off x="1540566" y="5050734"/>
            <a:ext cx="4840356" cy="9243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786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Computation of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Difference between C.I. and S.I.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Principal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Rate</a:t>
            </a:r>
          </a:p>
        </p:txBody>
      </p:sp>
    </p:spTree>
    <p:extLst>
      <p:ext uri="{BB962C8B-B14F-4D97-AF65-F5344CB8AC3E}">
        <p14:creationId xmlns:p14="http://schemas.microsoft.com/office/powerpoint/2010/main" val="24902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51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4110</TotalTime>
  <Words>1148</Words>
  <Application>Microsoft Office PowerPoint</Application>
  <PresentationFormat>On-screen Show (4:3)</PresentationFormat>
  <Paragraphs>139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Problem 1</vt:lpstr>
      <vt:lpstr>Problem 1</vt:lpstr>
      <vt:lpstr>Problem 2</vt:lpstr>
      <vt:lpstr>Problem 2</vt:lpstr>
      <vt:lpstr>Problem 3</vt:lpstr>
      <vt:lpstr>Problem 3</vt:lpstr>
      <vt:lpstr>Problem 3</vt:lpstr>
      <vt:lpstr>Problem 4</vt:lpstr>
      <vt:lpstr>Problem 4</vt:lpstr>
      <vt:lpstr>Problem 5</vt:lpstr>
      <vt:lpstr>Problem 5</vt:lpstr>
      <vt:lpstr>Problem 6</vt:lpstr>
      <vt:lpstr>Problem 6</vt:lpstr>
      <vt:lpstr>Problem 6</vt:lpstr>
      <vt:lpstr>Problem 7</vt:lpstr>
      <vt:lpstr>Problem 7</vt:lpstr>
      <vt:lpstr>Problem 7</vt:lpstr>
      <vt:lpstr>Conclusion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329</cp:revision>
  <dcterms:created xsi:type="dcterms:W3CDTF">2020-12-18T18:59:12Z</dcterms:created>
  <dcterms:modified xsi:type="dcterms:W3CDTF">2022-05-06T06:31:27Z</dcterms:modified>
</cp:coreProperties>
</file>