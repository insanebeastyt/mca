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78" r:id="rId2"/>
    <p:sldId id="674" r:id="rId3"/>
    <p:sldId id="633" r:id="rId4"/>
    <p:sldId id="746" r:id="rId5"/>
    <p:sldId id="747" r:id="rId6"/>
    <p:sldId id="766" r:id="rId7"/>
    <p:sldId id="765" r:id="rId8"/>
    <p:sldId id="762" r:id="rId9"/>
    <p:sldId id="705" r:id="rId10"/>
    <p:sldId id="749" r:id="rId11"/>
    <p:sldId id="770" r:id="rId12"/>
    <p:sldId id="771" r:id="rId13"/>
    <p:sldId id="772" r:id="rId14"/>
    <p:sldId id="773" r:id="rId15"/>
    <p:sldId id="774" r:id="rId16"/>
    <p:sldId id="775" r:id="rId17"/>
    <p:sldId id="776" r:id="rId18"/>
    <p:sldId id="778" r:id="rId19"/>
    <p:sldId id="780" r:id="rId20"/>
    <p:sldId id="779" r:id="rId21"/>
    <p:sldId id="781" r:id="rId22"/>
    <p:sldId id="782" r:id="rId23"/>
    <p:sldId id="783" r:id="rId24"/>
    <p:sldId id="784" r:id="rId25"/>
    <p:sldId id="785" r:id="rId26"/>
    <p:sldId id="786" r:id="rId27"/>
    <p:sldId id="787" r:id="rId28"/>
    <p:sldId id="677" r:id="rId29"/>
    <p:sldId id="767" r:id="rId30"/>
    <p:sldId id="768" r:id="rId31"/>
    <p:sldId id="343" r:id="rId32"/>
    <p:sldId id="346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F28"/>
    <a:srgbClr val="262626"/>
    <a:srgbClr val="03232C"/>
    <a:srgbClr val="A8004B"/>
    <a:srgbClr val="ABABAB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5/30/2022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develop understanding about the basics of data sufficiency, </a:t>
            </a:r>
          </a:p>
          <a:p>
            <a:pPr algn="just"/>
            <a:r>
              <a:rPr lang="en-US" dirty="0"/>
              <a:t>analyze steps and strategies for solving data sufficiency questions,</a:t>
            </a:r>
          </a:p>
          <a:p>
            <a:pPr lvl="0" algn="just"/>
            <a:r>
              <a:rPr lang="en-US" dirty="0"/>
              <a:t>solve various problems relating to data sufficiency.</a:t>
            </a:r>
          </a:p>
        </p:txBody>
      </p:sp>
    </p:spTree>
    <p:extLst>
      <p:ext uri="{BB962C8B-B14F-4D97-AF65-F5344CB8AC3E}">
        <p14:creationId xmlns:p14="http://schemas.microsoft.com/office/powerpoint/2010/main" val="1228437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Sufficiency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Statement 	– 	Right or True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Solve Question – Given Statement</a:t>
            </a:r>
          </a:p>
          <a:p>
            <a:pPr algn="just"/>
            <a:r>
              <a:rPr lang="en-US" dirty="0"/>
              <a:t>Data Sufficiency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A Question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Some Statements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Data - One or More Statements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Conclude – Data Provided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E8B236-E9C4-C159-A043-FBC610CFD5E3}"/>
              </a:ext>
            </a:extLst>
          </p:cNvPr>
          <p:cNvCxnSpPr/>
          <p:nvPr/>
        </p:nvCxnSpPr>
        <p:spPr>
          <a:xfrm flipV="1">
            <a:off x="3056657" y="2247486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054034F-CD2C-DFCD-4600-82AAF8EF9586}"/>
              </a:ext>
            </a:extLst>
          </p:cNvPr>
          <p:cNvCxnSpPr>
            <a:cxnSpLocks/>
          </p:cNvCxnSpPr>
          <p:nvPr/>
        </p:nvCxnSpPr>
        <p:spPr>
          <a:xfrm flipH="1" flipV="1">
            <a:off x="3019572" y="2263638"/>
            <a:ext cx="581065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141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Data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First Statement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Second Statement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First &amp; Second Statements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3431898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Understand 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Data Sufficiency Answer Choices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Statement ‘1’ alone is sufficient to answer the question but statement ‘2’ alone is not sufficient to answer the question.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Statement ‘2’ alone is sufficient to answer the question but statement 1 alone is not sufficient to answer the question.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49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Understand 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Either of the statements by itself is sufficient to answer the question. 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Statements  ‘1’ and ‘2’ taken together are not sufficient to answer the question and requiring more data pertaining to problem.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Both the statements taken together are sufficient to answer the question but neither of the two statements alone is sufficient to answer the question.</a:t>
            </a:r>
          </a:p>
          <a:p>
            <a:pPr lvl="1" algn="just">
              <a:lnSpc>
                <a:spcPct val="150000"/>
              </a:lnSpc>
            </a:pPr>
            <a:endParaRPr lang="en-IN" dirty="0"/>
          </a:p>
          <a:p>
            <a:pPr lvl="1" algn="just">
              <a:lnSpc>
                <a:spcPct val="150000"/>
              </a:lnSpc>
            </a:pPr>
            <a:endParaRPr lang="en-IN" dirty="0"/>
          </a:p>
          <a:p>
            <a:pPr lvl="1" algn="just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26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Assumptions – Not Allowed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General Knowledge   &amp;  Mathematical Principles</a:t>
            </a:r>
          </a:p>
          <a:p>
            <a:pPr lvl="2" algn="just">
              <a:lnSpc>
                <a:spcPct val="150000"/>
              </a:lnSpc>
            </a:pPr>
            <a:r>
              <a:rPr lang="en-US" sz="2400" dirty="0"/>
              <a:t>Example - Is Delhi the most populated city in India?</a:t>
            </a:r>
          </a:p>
          <a:p>
            <a:pPr lvl="2" algn="just">
              <a:lnSpc>
                <a:spcPct val="150000"/>
              </a:lnSpc>
            </a:pPr>
            <a:r>
              <a:rPr lang="en-US" sz="2400" dirty="0"/>
              <a:t>Statement 1 - The Capital of the India is the most populated city in the India.</a:t>
            </a:r>
          </a:p>
          <a:p>
            <a:pPr lvl="2" algn="just">
              <a:lnSpc>
                <a:spcPct val="150000"/>
              </a:lnSpc>
            </a:pPr>
            <a:r>
              <a:rPr lang="en-US" sz="2400" dirty="0"/>
              <a:t>Statement 2 - Delhi is the capital.</a:t>
            </a:r>
          </a:p>
          <a:p>
            <a:pPr marL="914400" lvl="2" indent="0" algn="just">
              <a:lnSpc>
                <a:spcPct val="150000"/>
              </a:lnSpc>
              <a:buNone/>
            </a:pPr>
            <a:r>
              <a:rPr lang="en-IN" sz="2400" dirty="0"/>
              <a:t>Both the statements taken together are sufficient to answer the question but neither of the two statements alone is sufficient to answer the question.</a:t>
            </a:r>
            <a:endParaRPr lang="en-US" sz="2400" dirty="0"/>
          </a:p>
          <a:p>
            <a:pPr algn="just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FCEC69-C3F4-7CD2-52EE-2D55A27E24FA}"/>
              </a:ext>
            </a:extLst>
          </p:cNvPr>
          <p:cNvCxnSpPr>
            <a:cxnSpLocks/>
          </p:cNvCxnSpPr>
          <p:nvPr/>
        </p:nvCxnSpPr>
        <p:spPr>
          <a:xfrm flipH="1" flipV="1">
            <a:off x="1033670" y="2303396"/>
            <a:ext cx="3011556" cy="24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932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600" dirty="0"/>
              <a:t>Elimination Method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Statement ‘1’ (Sufficient) 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Eliminate Choices (Statement ‘1’ Insufficient) 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Statement ‘1’ (Insufficient) 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Eliminate Choices (Statement ‘1’ Sufficient) 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Statement ‘2’ (Sufficient) 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Eliminate Choices (Statement ‘2’ Insufficient) 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Statement ‘2’ (Insufficient) 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Eliminate Choices (Statement ‘2’ Sufficient) 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577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dirty="0"/>
              <a:t>Analyze - Sufficiency</a:t>
            </a:r>
          </a:p>
          <a:p>
            <a:pPr lvl="1" algn="just">
              <a:lnSpc>
                <a:spcPct val="170000"/>
              </a:lnSpc>
            </a:pPr>
            <a:r>
              <a:rPr lang="en-US" dirty="0"/>
              <a:t>Exact Value - ? </a:t>
            </a:r>
          </a:p>
          <a:p>
            <a:pPr lvl="1" algn="just">
              <a:lnSpc>
                <a:spcPct val="170000"/>
              </a:lnSpc>
            </a:pPr>
            <a:r>
              <a:rPr lang="en-US" dirty="0"/>
              <a:t>True/False</a:t>
            </a:r>
          </a:p>
          <a:p>
            <a:pPr lvl="1" algn="just">
              <a:lnSpc>
                <a:spcPct val="170000"/>
              </a:lnSpc>
            </a:pPr>
            <a:r>
              <a:rPr lang="en-US" dirty="0"/>
              <a:t>Review </a:t>
            </a:r>
          </a:p>
          <a:p>
            <a:pPr lvl="1" algn="just">
              <a:lnSpc>
                <a:spcPct val="170000"/>
              </a:lnSpc>
            </a:pPr>
            <a:r>
              <a:rPr lang="en-US" dirty="0"/>
              <a:t>Enough Information </a:t>
            </a:r>
          </a:p>
          <a:p>
            <a:pPr lvl="1" algn="just">
              <a:lnSpc>
                <a:spcPct val="170000"/>
              </a:lnSpc>
            </a:pPr>
            <a:r>
              <a:rPr lang="en-US" dirty="0"/>
              <a:t>Answer</a:t>
            </a:r>
          </a:p>
          <a:p>
            <a:pPr lvl="1" algn="just">
              <a:lnSpc>
                <a:spcPct val="170000"/>
              </a:lnSpc>
            </a:pPr>
            <a:r>
              <a:rPr lang="en-US" dirty="0"/>
              <a:t>Conclusion </a:t>
            </a:r>
          </a:p>
          <a:p>
            <a:pPr lvl="1" algn="just">
              <a:lnSpc>
                <a:spcPct val="170000"/>
              </a:lnSpc>
            </a:pP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1904D53-C5EE-EF74-553E-9DD864C16443}"/>
              </a:ext>
            </a:extLst>
          </p:cNvPr>
          <p:cNvCxnSpPr>
            <a:cxnSpLocks/>
          </p:cNvCxnSpPr>
          <p:nvPr/>
        </p:nvCxnSpPr>
        <p:spPr>
          <a:xfrm flipH="1" flipV="1">
            <a:off x="1083366" y="2451549"/>
            <a:ext cx="3011556" cy="24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1412BEA-4DA7-DC17-312F-4EED4240A7EC}"/>
              </a:ext>
            </a:extLst>
          </p:cNvPr>
          <p:cNvCxnSpPr>
            <a:cxnSpLocks/>
          </p:cNvCxnSpPr>
          <p:nvPr/>
        </p:nvCxnSpPr>
        <p:spPr>
          <a:xfrm flipH="1" flipV="1">
            <a:off x="1083366" y="3161783"/>
            <a:ext cx="3011556" cy="24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410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70000"/>
              </a:lnSpc>
            </a:pPr>
            <a:r>
              <a:rPr lang="en-US" dirty="0"/>
              <a:t>What marks have been obtained by Arjun?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I. Arjun's marks are the average of marks of Nilesh and Mohit.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II. Nilesh obtained 80 marks, and this is 25% more than the marks obtained by Mohit.</a:t>
            </a:r>
          </a:p>
          <a:p>
            <a:pPr algn="just">
              <a:lnSpc>
                <a:spcPct val="170000"/>
              </a:lnSpc>
            </a:pPr>
            <a:r>
              <a:rPr lang="en-IN" dirty="0"/>
              <a:t>Both the statements taken together are sufficient to answer the question but neither of the two statements alone is sufficient to answer the question.</a:t>
            </a:r>
          </a:p>
        </p:txBody>
      </p:sp>
    </p:spTree>
    <p:extLst>
      <p:ext uri="{BB962C8B-B14F-4D97-AF65-F5344CB8AC3E}">
        <p14:creationId xmlns:p14="http://schemas.microsoft.com/office/powerpoint/2010/main" val="3177633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Explanation</a:t>
            </a:r>
          </a:p>
          <a:p>
            <a:pPr algn="just"/>
            <a:r>
              <a:rPr lang="en-US" dirty="0"/>
              <a:t>Statement II 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Calculate marks of Mohit.</a:t>
            </a:r>
          </a:p>
          <a:p>
            <a:pPr algn="just"/>
            <a:r>
              <a:rPr lang="en-US" dirty="0"/>
              <a:t>Statement I 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Arjun's marks = average of marks of Nilesh and Mohit. </a:t>
            </a:r>
          </a:p>
        </p:txBody>
      </p:sp>
    </p:spTree>
    <p:extLst>
      <p:ext uri="{BB962C8B-B14F-4D97-AF65-F5344CB8AC3E}">
        <p14:creationId xmlns:p14="http://schemas.microsoft.com/office/powerpoint/2010/main" val="3840183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dirty="0"/>
              <a:t>What is the three-digit number?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I. Two-fifth of that number is less than half of that number by 20.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II. One-fourth of that number is 25% of that number.</a:t>
            </a:r>
            <a:endParaRPr lang="en-IN" dirty="0"/>
          </a:p>
          <a:p>
            <a:pPr algn="just">
              <a:lnSpc>
                <a:spcPct val="170000"/>
              </a:lnSpc>
            </a:pPr>
            <a:r>
              <a:rPr lang="en-IN" dirty="0"/>
              <a:t>Statement I alone is sufficient to answer the question but statement II alone is not sufficient to answer the question.</a:t>
            </a:r>
          </a:p>
        </p:txBody>
      </p:sp>
    </p:spTree>
    <p:extLst>
      <p:ext uri="{BB962C8B-B14F-4D97-AF65-F5344CB8AC3E}">
        <p14:creationId xmlns:p14="http://schemas.microsoft.com/office/powerpoint/2010/main" val="3748289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Explanation</a:t>
                </a:r>
              </a:p>
              <a:p>
                <a:pPr algn="just"/>
                <a:r>
                  <a:rPr lang="en-US" dirty="0"/>
                  <a:t>Statement I - Two-fifth of that number is less than half of that number by 20. </a:t>
                </a:r>
              </a:p>
              <a:p>
                <a:pPr lvl="1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 (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Number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5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Number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836967"/>
                    </a:solidFill>
                  </a:rPr>
                  <a:t>  - </a:t>
                </a:r>
                <a:r>
                  <a:rPr lang="en-US" dirty="0"/>
                  <a:t>20</a:t>
                </a:r>
              </a:p>
              <a:p>
                <a:pPr algn="just"/>
                <a:r>
                  <a:rPr lang="en-US" dirty="0"/>
                  <a:t>Statement II - One-fourth of that number is 25% of that number. </a:t>
                </a:r>
              </a:p>
              <a:p>
                <a:pPr lvl="1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(</m:t>
                        </m:r>
                        <m:r>
                          <m:rPr>
                            <m:nor/>
                          </m:rPr>
                          <a:rPr lang="en-IN" dirty="0"/>
                          <m:t>Number</m:t>
                        </m:r>
                        <m:r>
                          <m:rPr>
                            <m:nor/>
                          </m:rPr>
                          <a:rPr lang="en-IN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4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2</m:t>
                    </m:r>
                    <m:r>
                      <m:rPr>
                        <m:nor/>
                      </m:rPr>
                      <a:rPr lang="en-IN" dirty="0"/>
                      <m:t>5</m:t>
                    </m:r>
                    <m:r>
                      <m:rPr>
                        <m:nor/>
                      </m:rPr>
                      <a:rPr lang="en-IN" b="0" i="0" dirty="0" smtClean="0"/>
                      <m:t>% </m:t>
                    </m:r>
                    <m:r>
                      <m:rPr>
                        <m:nor/>
                      </m:rPr>
                      <a:rPr lang="en-IN" b="0" i="0" dirty="0" smtClean="0"/>
                      <m:t>of</m:t>
                    </m:r>
                    <m:r>
                      <m:rPr>
                        <m:nor/>
                      </m:rPr>
                      <a:rPr lang="en-IN" dirty="0"/>
                      <m:t> </m:t>
                    </m:r>
                    <m:r>
                      <m:rPr>
                        <m:nor/>
                      </m:rPr>
                      <a:rPr lang="en-IN" dirty="0"/>
                      <m:t>Number</m:t>
                    </m:r>
                  </m:oMath>
                </a14:m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 i="0" dirty="0" smtClean="0"/>
                      <m:t>i</m:t>
                    </m:r>
                    <m:r>
                      <m:rPr>
                        <m:nor/>
                      </m:rPr>
                      <a:rPr lang="en-IN" b="0" i="0" dirty="0" smtClean="0"/>
                      <m:t>.</m:t>
                    </m:r>
                    <m:r>
                      <m:rPr>
                        <m:nor/>
                      </m:rPr>
                      <a:rPr lang="en-IN" b="0" i="0" dirty="0" smtClean="0"/>
                      <m:t>e</m:t>
                    </m:r>
                    <m:r>
                      <m:rPr>
                        <m:nor/>
                      </m:rPr>
                      <a:rPr lang="en-IN" b="0" i="0" dirty="0" smtClean="0"/>
                      <m:t>.,</m:t>
                    </m:r>
                  </m:oMath>
                </a14:m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  <m:r>
                          <m:rPr>
                            <m:nor/>
                          </m:rPr>
                          <a:rPr lang="en-IN" dirty="0"/>
                          <m:t>5(</m:t>
                        </m:r>
                        <m:r>
                          <m:rPr>
                            <m:nor/>
                          </m:rPr>
                          <a:rPr lang="en-IN" dirty="0"/>
                          <m:t>Number</m:t>
                        </m:r>
                        <m:r>
                          <m:rPr>
                            <m:nor/>
                          </m:rPr>
                          <a:rPr lang="en-IN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100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(</m:t>
                        </m:r>
                        <m:r>
                          <m:rPr>
                            <m:nor/>
                          </m:rPr>
                          <a:rPr lang="en-IN" dirty="0"/>
                          <m:t>Number</m:t>
                        </m:r>
                        <m:r>
                          <m:rPr>
                            <m:nor/>
                          </m:rPr>
                          <a:rPr lang="en-IN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4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48CDC13-CB3A-AE84-0810-A31F9B667B00}"/>
              </a:ext>
            </a:extLst>
          </p:cNvPr>
          <p:cNvCxnSpPr/>
          <p:nvPr/>
        </p:nvCxnSpPr>
        <p:spPr>
          <a:xfrm flipV="1">
            <a:off x="5416826" y="5973418"/>
            <a:ext cx="337930" cy="1192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E1C137C-576C-ABA0-0AF0-638A055B54DD}"/>
              </a:ext>
            </a:extLst>
          </p:cNvPr>
          <p:cNvCxnSpPr>
            <a:cxnSpLocks/>
          </p:cNvCxnSpPr>
          <p:nvPr/>
        </p:nvCxnSpPr>
        <p:spPr>
          <a:xfrm flipV="1">
            <a:off x="6006548" y="6311348"/>
            <a:ext cx="447259" cy="15239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320BF6F-9F95-17AB-32AA-274AEF775410}"/>
              </a:ext>
            </a:extLst>
          </p:cNvPr>
          <p:cNvSpPr txBox="1"/>
          <p:nvPr/>
        </p:nvSpPr>
        <p:spPr>
          <a:xfrm>
            <a:off x="6453807" y="6202881"/>
            <a:ext cx="487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69550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70000"/>
              </a:lnSpc>
            </a:pPr>
            <a:r>
              <a:rPr lang="en-US" dirty="0"/>
              <a:t>What is the ratio between the ages of the father and the son ?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I. The sum of their ages is 50 years.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II. 3 times the sum of their ages is equal to 5 times the father’s age.</a:t>
            </a:r>
          </a:p>
          <a:p>
            <a:pPr algn="just">
              <a:lnSpc>
                <a:spcPct val="170000"/>
              </a:lnSpc>
            </a:pPr>
            <a:r>
              <a:rPr lang="en-IN" dirty="0"/>
              <a:t>Statement II alone is sufficient to answer the question but statement I alone is not sufficient to answer the question.</a:t>
            </a:r>
          </a:p>
        </p:txBody>
      </p:sp>
    </p:spTree>
    <p:extLst>
      <p:ext uri="{BB962C8B-B14F-4D97-AF65-F5344CB8AC3E}">
        <p14:creationId xmlns:p14="http://schemas.microsoft.com/office/powerpoint/2010/main" val="4032499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Explanation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Statement I - The sum of their ages is 50 years.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Age of Father + Age of Son = 50</a:t>
                </a:r>
              </a:p>
              <a:p>
                <a:pPr algn="just"/>
                <a:r>
                  <a:rPr lang="en-US" dirty="0"/>
                  <a:t>Statement II - 3 times the sum of their ages is equal to 5 times the father’s age.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3(Age of Father + Age of Son) = 5(Age of Father)</a:t>
                </a:r>
              </a:p>
              <a:p>
                <a:pPr lvl="1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Age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Father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Age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Son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 </a:t>
                </a:r>
              </a:p>
              <a:p>
                <a:pPr algn="just"/>
                <a:r>
                  <a:rPr lang="en-IN" dirty="0"/>
                  <a:t>Statement II alone is sufficient.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 b="-29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6292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70000"/>
              </a:lnSpc>
            </a:pPr>
            <a:r>
              <a:rPr lang="en-US" dirty="0"/>
              <a:t>Two taps A and B, when opened together, can fill a tank in 6 hours. How long will it take for the pipe A alone to fill the tank?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I. B alone takes 5 hours more than A to fill the tank.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II. The ratio of the time taken by A to that taken by B to fill the tank is 2 : 3.</a:t>
            </a:r>
          </a:p>
          <a:p>
            <a:pPr algn="just">
              <a:lnSpc>
                <a:spcPct val="170000"/>
              </a:lnSpc>
            </a:pPr>
            <a:r>
              <a:rPr lang="en-IN" dirty="0"/>
              <a:t>Either of the statements by itself is sufficient to answer the question. </a:t>
            </a:r>
          </a:p>
        </p:txBody>
      </p:sp>
    </p:spTree>
    <p:extLst>
      <p:ext uri="{BB962C8B-B14F-4D97-AF65-F5344CB8AC3E}">
        <p14:creationId xmlns:p14="http://schemas.microsoft.com/office/powerpoint/2010/main" val="914256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Explanation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(A + B)’s 1 hour filling work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6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Statement I - B alone takes 5 hours more than A to fill the tank. </a:t>
                </a:r>
              </a:p>
              <a:p>
                <a:pPr lvl="1" algn="just">
                  <a:lnSpc>
                    <a:spcPct val="170000"/>
                  </a:lnSpc>
                </a:pPr>
                <a:r>
                  <a:rPr lang="en-US" dirty="0"/>
                  <a:t>(A’s 1 hour work) + (B’s 1 hour work) </a:t>
                </a:r>
              </a:p>
              <a:p>
                <a:pPr marL="457200" lvl="1" indent="0" algn="just">
                  <a:lnSpc>
                    <a:spcPct val="170000"/>
                  </a:lnSpc>
                  <a:buNone/>
                </a:pPr>
                <a:r>
                  <a:rPr lang="en-US" dirty="0"/>
                  <a:t>					= (A + B)’s 1 hour work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7854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algn="just"/>
                <a:r>
                  <a:rPr lang="en-US" dirty="0"/>
                  <a:t>Explanation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(A + B)’s 1 hour filling work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6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en-US" dirty="0"/>
                  <a:t>Statement II - The ratio of the time taken by A to that taken by B to fill the tank is 2 : 3. </a:t>
                </a:r>
              </a:p>
              <a:p>
                <a:pPr lvl="1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3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6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/>
                <a:r>
                  <a:rPr lang="en-US" dirty="0"/>
                  <a:t>Each one of I and II alone gives the answer or </a:t>
                </a:r>
                <a:r>
                  <a:rPr lang="en-IN" dirty="0"/>
                  <a:t>Either of the statements by itself is sufficient to answer the question.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783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70000"/>
              </a:lnSpc>
            </a:pPr>
            <a:r>
              <a:rPr lang="en-US" dirty="0"/>
              <a:t>Shweta walked from her home to the bus stop and back again. How long did it take her to make the entire trip?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I. She walked from home to the bus stop at the rate of 3 km/h.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II. She walked back to home at the rate of 5 km/h.</a:t>
            </a:r>
          </a:p>
          <a:p>
            <a:pPr algn="just">
              <a:lnSpc>
                <a:spcPct val="170000"/>
              </a:lnSpc>
            </a:pPr>
            <a:r>
              <a:rPr lang="en-IN" dirty="0"/>
              <a:t>Statements  ‘I’ and ‘II’ taken together are not sufficient to answer the question and requiring more data pertaining to problem.</a:t>
            </a:r>
          </a:p>
          <a:p>
            <a:pPr algn="just">
              <a:lnSpc>
                <a:spcPct val="17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19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Explanation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I. She walked from home to the bus stop at the rate of 3 km/hr.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II. She walked back to home @ 5 km/</a:t>
            </a:r>
            <a:r>
              <a:rPr lang="en-US" dirty="0" err="1"/>
              <a:t>hr</a:t>
            </a:r>
            <a:endParaRPr lang="en-US" dirty="0"/>
          </a:p>
          <a:p>
            <a:pPr algn="just">
              <a:lnSpc>
                <a:spcPct val="170000"/>
              </a:lnSpc>
            </a:pPr>
            <a:r>
              <a:rPr lang="en-US" dirty="0"/>
              <a:t>Distance between house and bus stop - not given.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Therefore, the time of trip cannot be calculated.</a:t>
            </a:r>
          </a:p>
        </p:txBody>
      </p:sp>
    </p:spTree>
    <p:extLst>
      <p:ext uri="{BB962C8B-B14F-4D97-AF65-F5344CB8AC3E}">
        <p14:creationId xmlns:p14="http://schemas.microsoft.com/office/powerpoint/2010/main" val="1436696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the speed of the current? </a:t>
            </a:r>
          </a:p>
          <a:p>
            <a:r>
              <a:rPr lang="en-US" dirty="0"/>
              <a:t>I. Speed of the boat is 4 km/</a:t>
            </a:r>
            <a:r>
              <a:rPr lang="en-US" dirty="0" err="1"/>
              <a:t>hr</a:t>
            </a:r>
            <a:r>
              <a:rPr lang="en-US" dirty="0"/>
              <a:t> in still water. </a:t>
            </a:r>
          </a:p>
          <a:p>
            <a:r>
              <a:rPr lang="en-US" dirty="0"/>
              <a:t>II. The boat runs at a speed of 6 km/</a:t>
            </a:r>
            <a:r>
              <a:rPr lang="en-US" dirty="0" err="1"/>
              <a:t>hr</a:t>
            </a:r>
            <a:r>
              <a:rPr lang="en-US" dirty="0"/>
              <a:t> downstream. </a:t>
            </a:r>
          </a:p>
          <a:p>
            <a:r>
              <a:rPr lang="en-IN" dirty="0"/>
              <a:t>Both the statements taken together are sufficient to answer the question but neither of the two statements alone is sufficient to answer the question.</a:t>
            </a:r>
          </a:p>
          <a:p>
            <a:endParaRPr lang="en-US" dirty="0"/>
          </a:p>
          <a:p>
            <a:pPr algn="just">
              <a:lnSpc>
                <a:spcPct val="17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212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en-US" dirty="0"/>
              <a:t>Explanation</a:t>
            </a:r>
          </a:p>
          <a:p>
            <a:pPr algn="just">
              <a:lnSpc>
                <a:spcPct val="160000"/>
              </a:lnSpc>
            </a:pPr>
            <a:r>
              <a:rPr lang="en-US" dirty="0"/>
              <a:t>Speed of current/stream = x km/h</a:t>
            </a:r>
          </a:p>
          <a:p>
            <a:pPr>
              <a:lnSpc>
                <a:spcPct val="160000"/>
              </a:lnSpc>
            </a:pPr>
            <a:r>
              <a:rPr lang="en-US" dirty="0"/>
              <a:t>I. Speed of the boat is 4 km/</a:t>
            </a:r>
            <a:r>
              <a:rPr lang="en-US" dirty="0" err="1"/>
              <a:t>hr</a:t>
            </a:r>
            <a:r>
              <a:rPr lang="en-US" dirty="0"/>
              <a:t> in still water. </a:t>
            </a:r>
          </a:p>
          <a:p>
            <a:pPr lvl="1">
              <a:lnSpc>
                <a:spcPct val="160000"/>
              </a:lnSpc>
            </a:pPr>
            <a:r>
              <a:rPr lang="en-US" dirty="0"/>
              <a:t>Speed downstream = (x + 4) km/</a:t>
            </a:r>
            <a:r>
              <a:rPr lang="en-US" dirty="0" err="1"/>
              <a:t>hr</a:t>
            </a:r>
            <a:endParaRPr lang="en-US" dirty="0"/>
          </a:p>
          <a:p>
            <a:pPr lvl="1">
              <a:lnSpc>
                <a:spcPct val="160000"/>
              </a:lnSpc>
            </a:pPr>
            <a:r>
              <a:rPr lang="en-US" dirty="0"/>
              <a:t>Speed upstream = (x – 4) km/hr. </a:t>
            </a:r>
          </a:p>
          <a:p>
            <a:pPr lvl="1">
              <a:lnSpc>
                <a:spcPct val="16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687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en-US" dirty="0"/>
              <a:t>Explanation</a:t>
            </a:r>
          </a:p>
          <a:p>
            <a:pPr>
              <a:lnSpc>
                <a:spcPct val="160000"/>
              </a:lnSpc>
            </a:pPr>
            <a:r>
              <a:rPr lang="en-US" dirty="0"/>
              <a:t>II. The boat runs at a speed of 6 km/h downstream. </a:t>
            </a:r>
          </a:p>
          <a:p>
            <a:pPr lvl="1">
              <a:lnSpc>
                <a:spcPct val="160000"/>
              </a:lnSpc>
            </a:pPr>
            <a:r>
              <a:rPr lang="en-US" dirty="0"/>
              <a:t>x + 4 = 6 </a:t>
            </a:r>
          </a:p>
          <a:p>
            <a:pPr lvl="1">
              <a:lnSpc>
                <a:spcPct val="160000"/>
              </a:lnSpc>
            </a:pPr>
            <a:r>
              <a:rPr lang="en-US" dirty="0"/>
              <a:t>x = 2. </a:t>
            </a:r>
          </a:p>
          <a:p>
            <a:pPr>
              <a:lnSpc>
                <a:spcPct val="160000"/>
              </a:lnSpc>
            </a:pPr>
            <a:r>
              <a:rPr lang="en-IN" dirty="0"/>
              <a:t>Both the statements taken together are sufficient to answer the question but neither of the two statements alone is sufficient to answer the question.</a:t>
            </a:r>
          </a:p>
        </p:txBody>
      </p:sp>
    </p:spTree>
    <p:extLst>
      <p:ext uri="{BB962C8B-B14F-4D97-AF65-F5344CB8AC3E}">
        <p14:creationId xmlns:p14="http://schemas.microsoft.com/office/powerpoint/2010/main" val="34804400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the speed of a running train? </a:t>
            </a:r>
          </a:p>
          <a:p>
            <a:r>
              <a:rPr lang="en-US" dirty="0"/>
              <a:t>I. The train crosses a signal post in 6 seconds. </a:t>
            </a:r>
          </a:p>
          <a:p>
            <a:r>
              <a:rPr lang="en-US" dirty="0"/>
              <a:t>II. The train crosses another train running in the opposite direction in 15 seconds.</a:t>
            </a:r>
          </a:p>
          <a:p>
            <a:r>
              <a:rPr lang="en-IN" dirty="0"/>
              <a:t>Statements  ‘I’ and ‘II’ taken together are not sufficient to answer the question and requiring more data pertaining to problem.</a:t>
            </a:r>
            <a:endParaRPr lang="en-US" dirty="0"/>
          </a:p>
          <a:p>
            <a:pPr algn="just">
              <a:lnSpc>
                <a:spcPct val="17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5366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60000"/>
              </a:lnSpc>
            </a:pPr>
            <a:r>
              <a:rPr lang="en-US" dirty="0"/>
              <a:t>Explanation</a:t>
            </a:r>
          </a:p>
          <a:p>
            <a:pPr algn="just"/>
            <a:r>
              <a:rPr lang="en-US" dirty="0"/>
              <a:t>I. The train crosses a signal post in 6 seconds. </a:t>
            </a:r>
          </a:p>
          <a:p>
            <a:pPr algn="just"/>
            <a:r>
              <a:rPr lang="en-US" dirty="0"/>
              <a:t>II. The train crosses another train running in the opposite direction in 15 seconds.</a:t>
            </a:r>
          </a:p>
          <a:p>
            <a:pPr algn="just"/>
            <a:r>
              <a:rPr lang="en-US" dirty="0"/>
              <a:t>Lengths of the trains are not given, therefore it is not possible to determine the speed of the train.</a:t>
            </a:r>
            <a:endParaRPr lang="en-IN" dirty="0"/>
          </a:p>
          <a:p>
            <a:pPr algn="just">
              <a:lnSpc>
                <a:spcPct val="160000"/>
              </a:lnSpc>
            </a:pPr>
            <a:r>
              <a:rPr lang="en-IN" dirty="0"/>
              <a:t>Statements  ‘I’ and ‘II’ taken together are not sufficient to answer the question and requiring more data pertaining to problem.</a:t>
            </a:r>
          </a:p>
          <a:p>
            <a:pPr lvl="1">
              <a:lnSpc>
                <a:spcPct val="160000"/>
              </a:lnSpc>
            </a:pPr>
            <a:endParaRPr lang="en-US" dirty="0"/>
          </a:p>
          <a:p>
            <a:pPr lvl="1">
              <a:lnSpc>
                <a:spcPct val="16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443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the rate of interest percent per annum? </a:t>
            </a:r>
          </a:p>
          <a:p>
            <a:r>
              <a:rPr lang="en-US" dirty="0"/>
              <a:t>I. The amount doubles itself in 10 years. </a:t>
            </a:r>
          </a:p>
          <a:p>
            <a:r>
              <a:rPr lang="en-US" dirty="0"/>
              <a:t>II. The simple interest accrued in 5 years is Rs. 5000.</a:t>
            </a:r>
          </a:p>
          <a:p>
            <a:pPr algn="just">
              <a:lnSpc>
                <a:spcPct val="170000"/>
              </a:lnSpc>
            </a:pPr>
            <a:r>
              <a:rPr lang="en-IN" dirty="0"/>
              <a:t>Statement I alone is sufficient to answer the question but statement II alone is not sufficient to answer the question.</a:t>
            </a:r>
          </a:p>
          <a:p>
            <a:pPr algn="just">
              <a:lnSpc>
                <a:spcPct val="17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623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Explanation</a:t>
                </a:r>
              </a:p>
              <a:p>
                <a:r>
                  <a:rPr lang="en-US" dirty="0"/>
                  <a:t>I. The amount doubles itself in 10 years.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IN" sz="2600" dirty="0"/>
                  <a:t>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600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sz="2600" b="0" i="0" dirty="0" smtClean="0"/>
                          <m:t>.</m:t>
                        </m:r>
                        <m:r>
                          <m:rPr>
                            <m:nor/>
                          </m:rPr>
                          <a:rPr lang="en-US" sz="2600" b="0" i="0" dirty="0" smtClean="0"/>
                          <m:t>I</m:t>
                        </m:r>
                        <m:r>
                          <m:rPr>
                            <m:nor/>
                          </m:rPr>
                          <a:rPr lang="en-US" sz="2600" b="0" i="0" dirty="0" smtClean="0"/>
                          <m:t>. </m:t>
                        </m:r>
                        <m:r>
                          <m:rPr>
                            <m:nor/>
                          </m:rPr>
                          <a:rPr lang="en-US" sz="26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600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600" b="0" i="0" dirty="0" smtClean="0"/>
                          <m:t>P</m:t>
                        </m:r>
                        <m:r>
                          <m:rPr>
                            <m:nor/>
                          </m:rPr>
                          <a:rPr lang="en-US" sz="26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sz="26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6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sz="2600" b="0" i="0" dirty="0" smtClean="0"/>
                          <m:t>T</m:t>
                        </m:r>
                      </m:den>
                    </m:f>
                  </m:oMath>
                </a14:m>
                <a:r>
                  <a:rPr lang="en-US" sz="2600" dirty="0"/>
                  <a:t>  		(Because S.I. = P)</a:t>
                </a:r>
              </a:p>
              <a:p>
                <a:r>
                  <a:rPr lang="en-US" dirty="0"/>
                  <a:t>II. The simple interest accrued in 5 years is Rs. 5000.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IN" sz="2600" dirty="0"/>
                  <a:t>Since P is still unknown, R cannot be calculated. </a:t>
                </a:r>
              </a:p>
              <a:p>
                <a:r>
                  <a:rPr lang="en-IN" dirty="0"/>
                  <a:t>Statement I alone is sufficient to answer the question but statement II alone is not sufficient to answer the question.</a:t>
                </a:r>
              </a:p>
              <a:p>
                <a:pPr lvl="1">
                  <a:lnSpc>
                    <a:spcPct val="160000"/>
                  </a:lnSpc>
                </a:pPr>
                <a:endParaRPr lang="en-IN" dirty="0"/>
              </a:p>
              <a:p>
                <a:pPr lvl="1">
                  <a:lnSpc>
                    <a:spcPct val="160000"/>
                  </a:lnSpc>
                </a:pPr>
                <a:endParaRPr lang="en-US" dirty="0"/>
              </a:p>
              <a:p>
                <a:pPr lvl="1">
                  <a:lnSpc>
                    <a:spcPct val="16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b="-14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13613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Data Sufficiency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A Question - Some Statements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Data - One or More Statements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Conclude – Data Provided</a:t>
            </a:r>
          </a:p>
        </p:txBody>
      </p:sp>
    </p:spTree>
    <p:extLst>
      <p:ext uri="{BB962C8B-B14F-4D97-AF65-F5344CB8AC3E}">
        <p14:creationId xmlns:p14="http://schemas.microsoft.com/office/powerpoint/2010/main" val="4658157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Steps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First Statement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Second Statement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First &amp; Second Statements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36440206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Strategies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Understand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Assumptions – Not Allowed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Elimination Method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Analyze Questions</a:t>
            </a:r>
          </a:p>
        </p:txBody>
      </p:sp>
    </p:spTree>
    <p:extLst>
      <p:ext uri="{BB962C8B-B14F-4D97-AF65-F5344CB8AC3E}">
        <p14:creationId xmlns:p14="http://schemas.microsoft.com/office/powerpoint/2010/main" val="36185720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Data Sufficiency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Basics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Steps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Strategies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Problems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7807</TotalTime>
  <Words>1522</Words>
  <Application>Microsoft Office PowerPoint</Application>
  <PresentationFormat>On-screen Show (4:3)</PresentationFormat>
  <Paragraphs>182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Bahnschrift</vt:lpstr>
      <vt:lpstr>Bahnschrift SemiBold</vt:lpstr>
      <vt:lpstr>Calibri</vt:lpstr>
      <vt:lpstr>Cambria Math</vt:lpstr>
      <vt:lpstr>Office Theme</vt:lpstr>
      <vt:lpstr>PowerPoint Presentation</vt:lpstr>
      <vt:lpstr>PowerPoint Presentation</vt:lpstr>
      <vt:lpstr>Basics</vt:lpstr>
      <vt:lpstr>Steps</vt:lpstr>
      <vt:lpstr>Strategies</vt:lpstr>
      <vt:lpstr>Strategies</vt:lpstr>
      <vt:lpstr>Strategies</vt:lpstr>
      <vt:lpstr>Strategies</vt:lpstr>
      <vt:lpstr>Strategies</vt:lpstr>
      <vt:lpstr>Problem 1</vt:lpstr>
      <vt:lpstr>Problem 1</vt:lpstr>
      <vt:lpstr>Problem 2</vt:lpstr>
      <vt:lpstr>Problem 2</vt:lpstr>
      <vt:lpstr>Problem 3</vt:lpstr>
      <vt:lpstr>Problem 3</vt:lpstr>
      <vt:lpstr>Problem 4</vt:lpstr>
      <vt:lpstr>Problem 4</vt:lpstr>
      <vt:lpstr>Problem 4</vt:lpstr>
      <vt:lpstr>Problem 5</vt:lpstr>
      <vt:lpstr>Problem 5</vt:lpstr>
      <vt:lpstr>Problem 6</vt:lpstr>
      <vt:lpstr>Problem 6</vt:lpstr>
      <vt:lpstr>Problem 6</vt:lpstr>
      <vt:lpstr>Problem 7</vt:lpstr>
      <vt:lpstr>Problem 7</vt:lpstr>
      <vt:lpstr>Problem 8</vt:lpstr>
      <vt:lpstr>Problem 8</vt:lpstr>
      <vt:lpstr>Conclusion</vt:lpstr>
      <vt:lpstr>Conclusion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495</cp:revision>
  <dcterms:created xsi:type="dcterms:W3CDTF">2020-12-18T18:59:12Z</dcterms:created>
  <dcterms:modified xsi:type="dcterms:W3CDTF">2022-05-30T11:34:25Z</dcterms:modified>
</cp:coreProperties>
</file>