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78" r:id="rId2"/>
    <p:sldId id="279" r:id="rId3"/>
    <p:sldId id="534" r:id="rId4"/>
    <p:sldId id="569" r:id="rId5"/>
    <p:sldId id="532" r:id="rId6"/>
    <p:sldId id="535" r:id="rId7"/>
    <p:sldId id="582" r:id="rId8"/>
    <p:sldId id="583" r:id="rId9"/>
    <p:sldId id="556" r:id="rId10"/>
    <p:sldId id="602" r:id="rId11"/>
    <p:sldId id="585" r:id="rId12"/>
    <p:sldId id="586" r:id="rId13"/>
    <p:sldId id="587" r:id="rId14"/>
    <p:sldId id="588" r:id="rId15"/>
    <p:sldId id="589" r:id="rId16"/>
    <p:sldId id="595" r:id="rId17"/>
    <p:sldId id="596" r:id="rId18"/>
    <p:sldId id="592" r:id="rId19"/>
    <p:sldId id="601" r:id="rId20"/>
    <p:sldId id="593" r:id="rId21"/>
    <p:sldId id="598" r:id="rId22"/>
    <p:sldId id="599" r:id="rId23"/>
    <p:sldId id="600" r:id="rId24"/>
    <p:sldId id="553" r:id="rId25"/>
    <p:sldId id="603" r:id="rId26"/>
    <p:sldId id="580" r:id="rId27"/>
    <p:sldId id="604" r:id="rId28"/>
    <p:sldId id="343" r:id="rId29"/>
    <p:sldId id="346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32C"/>
    <a:srgbClr val="A8004B"/>
    <a:srgbClr val="262626"/>
    <a:srgbClr val="ABABAB"/>
    <a:srgbClr val="021F28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solve problems based on arithmetic and geometric progression.</a:t>
            </a:r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Is the sequence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12n - 9 form an A. P.?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12n - 9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400" dirty="0"/>
                  <a:t>= 12(n-1) - 9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12n – 12 - 9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12n - 21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</m:oMath>
                </a14:m>
                <a:r>
                  <a:rPr lang="en-US" sz="2400" dirty="0"/>
                  <a:t> 	= (12n - 9) – (12n – 21)</a:t>
                </a:r>
              </a:p>
              <a:p>
                <a:pPr marL="0" indent="0">
                  <a:buNone/>
                </a:pPr>
                <a:r>
                  <a:rPr lang="en-US" sz="2400" dirty="0"/>
                  <a:t>		= 12n - 9 – 12n + 21 </a:t>
                </a:r>
              </a:p>
              <a:p>
                <a:pPr marL="0" indent="0">
                  <a:buNone/>
                </a:pPr>
                <a:r>
                  <a:rPr lang="en-US" sz="2400" dirty="0"/>
                  <a:t>		= 12</a:t>
                </a:r>
              </a:p>
              <a:p>
                <a:endParaRPr lang="en-US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b="-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E1AABE-26FC-89BB-415C-BAA1805C3BC0}"/>
              </a:ext>
            </a:extLst>
          </p:cNvPr>
          <p:cNvCxnSpPr/>
          <p:nvPr/>
        </p:nvCxnSpPr>
        <p:spPr>
          <a:xfrm flipH="1">
            <a:off x="2663686" y="5476459"/>
            <a:ext cx="129209" cy="4472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325B21-3A71-D171-7863-C41641EFDDBB}"/>
              </a:ext>
            </a:extLst>
          </p:cNvPr>
          <p:cNvCxnSpPr>
            <a:cxnSpLocks/>
          </p:cNvCxnSpPr>
          <p:nvPr/>
        </p:nvCxnSpPr>
        <p:spPr>
          <a:xfrm flipH="1">
            <a:off x="3929267" y="5459896"/>
            <a:ext cx="129209" cy="4472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6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/>
                  <a:t>Find the 15</a:t>
                </a:r>
                <a:r>
                  <a:rPr lang="en-US" sz="2400" baseline="30000" dirty="0"/>
                  <a:t>th</a:t>
                </a:r>
                <a:r>
                  <a:rPr lang="en-US" sz="2400" dirty="0"/>
                  <a:t> term of the sequence 12, 7, 2, - 3, - 8, .... </a:t>
                </a:r>
              </a:p>
              <a:p>
                <a:r>
                  <a:rPr lang="en-US" sz="2400" dirty="0"/>
                  <a:t>First term = a = 12 </a:t>
                </a:r>
              </a:p>
              <a:p>
                <a:r>
                  <a:rPr lang="en-US" sz="2400" dirty="0"/>
                  <a:t>Common Difference = d = - 5</a:t>
                </a:r>
              </a:p>
              <a:p>
                <a:r>
                  <a:rPr lang="en-US" sz="2400" dirty="0"/>
                  <a:t>n = 15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 + (n - 1) d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/>
                  <a:t> = 12 + (15 - 1) (-5)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/>
                  <a:t> = 12 – 70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/>
                  <a:t> = - 58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b="-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4220AB3D-5825-26F8-70D4-1D0917FF7775}"/>
              </a:ext>
            </a:extLst>
          </p:cNvPr>
          <p:cNvSpPr/>
          <p:nvPr/>
        </p:nvSpPr>
        <p:spPr>
          <a:xfrm>
            <a:off x="5287617" y="1441174"/>
            <a:ext cx="457200" cy="397565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329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400" dirty="0"/>
                  <a:t>Find the sum of the series    5 + 9 + 13 + ... to 50 terms. </a:t>
                </a:r>
              </a:p>
              <a:p>
                <a:pPr algn="just"/>
                <a:r>
                  <a:rPr lang="en-US" sz="2400" dirty="0"/>
                  <a:t>a = 5, d = 9 - 5 = 4, and n = 50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{2a + (n - 1) d}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50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{2 x 5 + (50 - 1) x 4}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en-US" sz="2400" dirty="0"/>
                  <a:t> = 25{10 + (49) x 4}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en-US" sz="2400" dirty="0"/>
                  <a:t> = 25{10 + 196}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en-US" sz="2400" dirty="0"/>
                  <a:t> = 25{206}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en-US" sz="2400" dirty="0"/>
                  <a:t> = 5150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46642C9F-D7F7-E1BC-55F6-07ECC731685C}"/>
              </a:ext>
            </a:extLst>
          </p:cNvPr>
          <p:cNvSpPr/>
          <p:nvPr/>
        </p:nvSpPr>
        <p:spPr>
          <a:xfrm>
            <a:off x="4395165" y="1411357"/>
            <a:ext cx="457200" cy="3975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094030-F49C-1100-AEEA-3A0F0C885BBA}"/>
              </a:ext>
            </a:extLst>
          </p:cNvPr>
          <p:cNvSpPr/>
          <p:nvPr/>
        </p:nvSpPr>
        <p:spPr>
          <a:xfrm>
            <a:off x="6699387" y="1411357"/>
            <a:ext cx="457200" cy="397565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126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Find the sum of 30 terms of an A.P., whose first and last terms are 25 and 216 respectively. </a:t>
                </a:r>
              </a:p>
              <a:p>
                <a:r>
                  <a:rPr lang="en-US" sz="2400" dirty="0"/>
                  <a:t>a = 25, l = 216, and n = 30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{a + l}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30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{25 + 216}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</m:oMath>
                </a14:m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 15</m:t>
                    </m:r>
                  </m:oMath>
                </a14:m>
                <a:r>
                  <a:rPr lang="en-US" sz="2400" dirty="0"/>
                  <a:t>{241}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</m:oMath>
                </a14:m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361</m:t>
                    </m:r>
                    <m:r>
                      <m:rPr>
                        <m:nor/>
                      </m:rPr>
                      <a:rPr lang="en-US" sz="2400" dirty="0" smtClean="0"/>
                      <m:t>5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AB8D4757-CBFA-9659-7298-555C8E4344F4}"/>
              </a:ext>
            </a:extLst>
          </p:cNvPr>
          <p:cNvSpPr/>
          <p:nvPr/>
        </p:nvSpPr>
        <p:spPr>
          <a:xfrm>
            <a:off x="2822713" y="1431235"/>
            <a:ext cx="457200" cy="397565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5FC127-7A41-EF71-BD7F-D8F8E682AF75}"/>
              </a:ext>
            </a:extLst>
          </p:cNvPr>
          <p:cNvSpPr/>
          <p:nvPr/>
        </p:nvSpPr>
        <p:spPr>
          <a:xfrm>
            <a:off x="2047460" y="1987826"/>
            <a:ext cx="457200" cy="3975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0C3325-653A-F2AB-B2E7-6816F1EE1464}"/>
              </a:ext>
            </a:extLst>
          </p:cNvPr>
          <p:cNvSpPr/>
          <p:nvPr/>
        </p:nvSpPr>
        <p:spPr>
          <a:xfrm>
            <a:off x="2971801" y="1987825"/>
            <a:ext cx="665922" cy="3975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136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Find the sum of 20 terms of an A.P., whose common difference and last term are 7 and 93 respectively. </a:t>
                </a:r>
              </a:p>
              <a:p>
                <a:pPr algn="just"/>
                <a:r>
                  <a:rPr lang="en-US" sz="2400" dirty="0"/>
                  <a:t>d = 7, l = 93, and n = 20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[2l - (n - 1) d]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20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[2 x 93 - (20 - 1) x 7] 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 10</m:t>
                    </m:r>
                  </m:oMath>
                </a14:m>
                <a:r>
                  <a:rPr lang="en-US" sz="2400" dirty="0"/>
                  <a:t> [186 - 133]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 10</m:t>
                    </m:r>
                  </m:oMath>
                </a14:m>
                <a:r>
                  <a:rPr lang="en-US" sz="2400" dirty="0"/>
                  <a:t> [53]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5</m:t>
                    </m:r>
                    <m:r>
                      <m:rPr>
                        <m:nor/>
                      </m:rPr>
                      <a:rPr lang="en-US" sz="2400" b="0" i="0" dirty="0" smtClean="0"/>
                      <m:t>30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94D75527-1A0A-A057-236C-EEB4D7DECFD4}"/>
              </a:ext>
            </a:extLst>
          </p:cNvPr>
          <p:cNvSpPr/>
          <p:nvPr/>
        </p:nvSpPr>
        <p:spPr>
          <a:xfrm>
            <a:off x="4424362" y="1987825"/>
            <a:ext cx="457200" cy="397565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548CAA-143E-B39D-5E8E-66150344188A}"/>
              </a:ext>
            </a:extLst>
          </p:cNvPr>
          <p:cNvSpPr/>
          <p:nvPr/>
        </p:nvSpPr>
        <p:spPr>
          <a:xfrm>
            <a:off x="5337312" y="1987824"/>
            <a:ext cx="457200" cy="397565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A5AF01-1526-2B23-DA7B-207E371D9D75}"/>
              </a:ext>
            </a:extLst>
          </p:cNvPr>
          <p:cNvSpPr/>
          <p:nvPr/>
        </p:nvSpPr>
        <p:spPr>
          <a:xfrm>
            <a:off x="3240156" y="1431235"/>
            <a:ext cx="457200" cy="397565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47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sz="2400" dirty="0"/>
                  <a:t>If sum of n terms of an A. P. is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100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+ 25, then find its nth term. 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100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n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+ 25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= 100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dirty="0"/>
                          <m:t> – 1)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 + 25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b="1" dirty="0"/>
                        <m:t> = </m:t>
                      </m:r>
                      <m:sSub>
                        <m:sSubPr>
                          <m:ctrlPr>
                            <a:rPr lang="en-US" sz="2400" b="1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/>
                        <m:t>−</m:t>
                      </m:r>
                      <m:sSub>
                        <m:sSubPr>
                          <m:ctrlPr>
                            <a:rPr lang="en-US" sz="2400" b="1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dirty="0"/>
                        <m:t> =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100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n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400" dirty="0"/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/>
                        <m:t>+ 25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−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[</m:t>
                      </m:r>
                      <m:r>
                        <m:rPr>
                          <m:nor/>
                        </m:rPr>
                        <a:rPr lang="en-US" sz="2400" dirty="0"/>
                        <m:t>100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n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– 1)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400" dirty="0"/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/>
                        <m:t>+ 25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]</m:t>
                      </m:r>
                    </m:oMath>
                  </m:oMathPara>
                </a14:m>
                <a:endParaRPr lang="en-US" sz="2400" b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dirty="0"/>
                        <m:t> = 100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n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400" dirty="0"/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/>
                        <m:t>+ 25 − [100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n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400" dirty="0"/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/>
                        <m:t>–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2</m:t>
                      </m:r>
                      <m:r>
                        <m:rPr>
                          <m:nor/>
                        </m:rPr>
                        <a:rPr lang="en-US" sz="2400" dirty="0"/>
                        <m:t>n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+ 1)</m:t>
                      </m:r>
                      <m:r>
                        <m:rPr>
                          <m:nor/>
                        </m:rPr>
                        <a:rPr lang="en-US" sz="2400" dirty="0"/>
                        <m:t>+ 25]</m:t>
                      </m:r>
                    </m:oMath>
                  </m:oMathPara>
                </a14:m>
                <a:endParaRPr lang="en-US" sz="2400" b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dirty="0"/>
                        <m:t> = 100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n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400" dirty="0"/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/>
                        <m:t>+ 25 − [100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dirty="0"/>
                            <m:t>n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400" dirty="0"/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/>
                        <m:t>– 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200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n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+ 100  + 25]</m:t>
                      </m:r>
                    </m:oMath>
                  </m:oMathPara>
                </a14:m>
                <a:endParaRPr lang="en-US" sz="2400" b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dirty="0"/>
                        <m:t> =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100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n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400" dirty="0"/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/>
                        <m:t>+ 25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−100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dirty="0"/>
                            <m:t>n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400" dirty="0"/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+</m:t>
                      </m:r>
                      <m:r>
                        <m:rPr>
                          <m:nor/>
                        </m:rPr>
                        <a:rPr lang="en-US" sz="2400" dirty="0"/>
                        <m:t> 200</m:t>
                      </m:r>
                      <m:r>
                        <m:rPr>
                          <m:nor/>
                        </m:rPr>
                        <a:rPr lang="en-US" sz="2400" dirty="0"/>
                        <m:t>n</m:t>
                      </m:r>
                      <m:r>
                        <m:rPr>
                          <m:nor/>
                        </m:rPr>
                        <a:rPr lang="en-US" sz="2400" dirty="0"/>
                        <m:t> − 100  − 25</m:t>
                      </m:r>
                    </m:oMath>
                  </m:oMathPara>
                </a14:m>
                <a:endParaRPr lang="en-US" sz="2400" b="1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dirty="0"/>
                        <m:t> = 200</m:t>
                      </m:r>
                      <m:r>
                        <m:rPr>
                          <m:nor/>
                        </m:rPr>
                        <a:rPr lang="en-US" sz="2400" dirty="0"/>
                        <m:t>n</m:t>
                      </m:r>
                      <m:r>
                        <m:rPr>
                          <m:nor/>
                        </m:rPr>
                        <a:rPr lang="en-US" sz="2400" dirty="0"/>
                        <m:t> − 100</m:t>
                      </m:r>
                    </m:oMath>
                  </m:oMathPara>
                </a14:m>
                <a:endParaRPr lang="en-US" sz="2400" b="1" dirty="0"/>
              </a:p>
              <a:p>
                <a:pPr marL="0" indent="0" algn="just">
                  <a:buNone/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 b="-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9DE6DD-2C2E-D5A7-A84C-2A2EBE225FDB}"/>
              </a:ext>
            </a:extLst>
          </p:cNvPr>
          <p:cNvCxnSpPr>
            <a:cxnSpLocks/>
          </p:cNvCxnSpPr>
          <p:nvPr/>
        </p:nvCxnSpPr>
        <p:spPr>
          <a:xfrm flipH="1">
            <a:off x="2471526" y="5875682"/>
            <a:ext cx="947538" cy="27498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3F63E0-C945-FBB7-9518-34B52B7F33A1}"/>
              </a:ext>
            </a:extLst>
          </p:cNvPr>
          <p:cNvCxnSpPr>
            <a:cxnSpLocks/>
          </p:cNvCxnSpPr>
          <p:nvPr/>
        </p:nvCxnSpPr>
        <p:spPr>
          <a:xfrm flipH="1">
            <a:off x="4098231" y="5875682"/>
            <a:ext cx="947538" cy="27498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1BA33B-3A7D-569F-BDED-F00AD6CFC03B}"/>
              </a:ext>
            </a:extLst>
          </p:cNvPr>
          <p:cNvCxnSpPr>
            <a:cxnSpLocks/>
          </p:cNvCxnSpPr>
          <p:nvPr/>
        </p:nvCxnSpPr>
        <p:spPr>
          <a:xfrm flipH="1">
            <a:off x="6947447" y="5844207"/>
            <a:ext cx="626172" cy="337101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AD52B1-AF0C-FEEE-155F-034A7CA61398}"/>
              </a:ext>
            </a:extLst>
          </p:cNvPr>
          <p:cNvCxnSpPr>
            <a:cxnSpLocks/>
          </p:cNvCxnSpPr>
          <p:nvPr/>
        </p:nvCxnSpPr>
        <p:spPr>
          <a:xfrm flipH="1">
            <a:off x="3470411" y="5844207"/>
            <a:ext cx="614574" cy="34703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369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8B9B-AABD-B089-5AE6-3352FC818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Determine x so that x + 2, 4x - 6 and 3x - 2 are the three consecutive terms of an A.P.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Three numbers a, b, c are in A.P. </a:t>
            </a:r>
            <a:r>
              <a:rPr lang="en-US" sz="2400" dirty="0" err="1"/>
              <a:t>iff</a:t>
            </a:r>
            <a:r>
              <a:rPr lang="en-US" sz="2400" dirty="0"/>
              <a:t> b - a = c - b </a:t>
            </a:r>
            <a:r>
              <a:rPr lang="en-US" sz="2400" dirty="0" err="1"/>
              <a:t>iff</a:t>
            </a:r>
            <a:r>
              <a:rPr lang="en-US" sz="2400" dirty="0"/>
              <a:t> a + c = 2b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x + 2, 		4x – 6, 	and 	3x – 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	      a                              b                               c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/>
              <a:t>		x + 2 + 3x – 2 = 2(4x – 6)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/>
              <a:t>		4x = 8x – 12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/>
              <a:t>		12 = 8x – 4x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073F60-3FDC-1874-7D30-BCCDC27958C4}"/>
              </a:ext>
            </a:extLst>
          </p:cNvPr>
          <p:cNvCxnSpPr/>
          <p:nvPr/>
        </p:nvCxnSpPr>
        <p:spPr>
          <a:xfrm>
            <a:off x="3971468" y="3461526"/>
            <a:ext cx="477079" cy="3975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76ED8C-C35C-0267-3D17-8125DFEF7F0D}"/>
              </a:ext>
            </a:extLst>
          </p:cNvPr>
          <p:cNvCxnSpPr>
            <a:cxnSpLocks/>
          </p:cNvCxnSpPr>
          <p:nvPr/>
        </p:nvCxnSpPr>
        <p:spPr>
          <a:xfrm>
            <a:off x="1318569" y="3511223"/>
            <a:ext cx="477079" cy="3975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8F0BA6D-CC5B-3DDF-01BA-E39AE117EBE0}"/>
              </a:ext>
            </a:extLst>
          </p:cNvPr>
          <p:cNvSpPr/>
          <p:nvPr/>
        </p:nvSpPr>
        <p:spPr>
          <a:xfrm>
            <a:off x="4171699" y="3600675"/>
            <a:ext cx="602973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7FAD012-11C2-35E8-3A92-58031C543681}"/>
              </a:ext>
            </a:extLst>
          </p:cNvPr>
          <p:cNvSpPr/>
          <p:nvPr/>
        </p:nvSpPr>
        <p:spPr>
          <a:xfrm>
            <a:off x="1557108" y="3610615"/>
            <a:ext cx="602973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B5EE8B-1933-7B93-21FB-D232DA0C8792}"/>
              </a:ext>
            </a:extLst>
          </p:cNvPr>
          <p:cNvCxnSpPr/>
          <p:nvPr/>
        </p:nvCxnSpPr>
        <p:spPr>
          <a:xfrm>
            <a:off x="6699843" y="3521164"/>
            <a:ext cx="477079" cy="3975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51E37B9-5383-EC3A-495A-9F2C032FA508}"/>
              </a:ext>
            </a:extLst>
          </p:cNvPr>
          <p:cNvSpPr/>
          <p:nvPr/>
        </p:nvSpPr>
        <p:spPr>
          <a:xfrm>
            <a:off x="6927447" y="3640434"/>
            <a:ext cx="602973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4D5B7A-3FF7-DB07-395A-E42E3FB4CB6F}"/>
              </a:ext>
            </a:extLst>
          </p:cNvPr>
          <p:cNvCxnSpPr>
            <a:cxnSpLocks/>
          </p:cNvCxnSpPr>
          <p:nvPr/>
        </p:nvCxnSpPr>
        <p:spPr>
          <a:xfrm flipH="1">
            <a:off x="3834791" y="4432851"/>
            <a:ext cx="267335" cy="41371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7A8CF4-BE2B-8C21-A83D-5271B7C2CE0E}"/>
              </a:ext>
            </a:extLst>
          </p:cNvPr>
          <p:cNvCxnSpPr>
            <a:cxnSpLocks/>
          </p:cNvCxnSpPr>
          <p:nvPr/>
        </p:nvCxnSpPr>
        <p:spPr>
          <a:xfrm flipH="1">
            <a:off x="2743982" y="4462669"/>
            <a:ext cx="217880" cy="36411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319657F-4172-36C9-7CF8-C843E697EE12}"/>
              </a:ext>
            </a:extLst>
          </p:cNvPr>
          <p:cNvCxnSpPr/>
          <p:nvPr/>
        </p:nvCxnSpPr>
        <p:spPr>
          <a:xfrm flipH="1">
            <a:off x="3677478" y="3521164"/>
            <a:ext cx="2405270" cy="954891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7F79A2-FC4C-1373-02EB-E4B0FAEDE182}"/>
              </a:ext>
            </a:extLst>
          </p:cNvPr>
          <p:cNvCxnSpPr/>
          <p:nvPr/>
        </p:nvCxnSpPr>
        <p:spPr>
          <a:xfrm>
            <a:off x="844826" y="3511223"/>
            <a:ext cx="1808922" cy="96483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C11BE9-1206-E447-0488-D1DFDB7C1DFE}"/>
              </a:ext>
            </a:extLst>
          </p:cNvPr>
          <p:cNvCxnSpPr>
            <a:cxnSpLocks/>
          </p:cNvCxnSpPr>
          <p:nvPr/>
        </p:nvCxnSpPr>
        <p:spPr>
          <a:xfrm>
            <a:off x="3677478" y="3511223"/>
            <a:ext cx="1212574" cy="964832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410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8B9B-AABD-B089-5AE6-3352FC818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400" dirty="0"/>
              <a:t>		12 = 8x – 4x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/>
              <a:t>		4x = 12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/>
              <a:t>		x = 3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/>
              <a:t>Three consecutive terms are x + 2, 4x - 6 and 3x – 2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				</a:t>
            </a:r>
            <a:r>
              <a:rPr lang="en-US" sz="2400" dirty="0"/>
              <a:t>i.e., 3 + 2, 4(3) - 6 and 3(3) – 2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				</a:t>
            </a:r>
            <a:r>
              <a:rPr lang="en-US" sz="2400" dirty="0"/>
              <a:t>i.e., 5, 6 and 7</a:t>
            </a:r>
          </a:p>
          <a:p>
            <a:pPr marL="0" indent="0">
              <a:lnSpc>
                <a:spcPct val="170000"/>
              </a:lnSpc>
              <a:buNone/>
            </a:pPr>
            <a:endParaRPr 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5A9110-4CB7-1C34-27A8-2C398AB6DCB0}"/>
              </a:ext>
            </a:extLst>
          </p:cNvPr>
          <p:cNvCxnSpPr>
            <a:cxnSpLocks/>
          </p:cNvCxnSpPr>
          <p:nvPr/>
        </p:nvCxnSpPr>
        <p:spPr>
          <a:xfrm flipH="1">
            <a:off x="2941314" y="2236304"/>
            <a:ext cx="225932" cy="39997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E1D43E-9059-7877-7A7E-9711FB73B1AD}"/>
              </a:ext>
            </a:extLst>
          </p:cNvPr>
          <p:cNvCxnSpPr>
            <a:cxnSpLocks/>
          </p:cNvCxnSpPr>
          <p:nvPr/>
        </p:nvCxnSpPr>
        <p:spPr>
          <a:xfrm flipH="1">
            <a:off x="2266283" y="2186607"/>
            <a:ext cx="248318" cy="49936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9019053-DD7B-2ACA-FEEB-B0780A4639B8}"/>
              </a:ext>
            </a:extLst>
          </p:cNvPr>
          <p:cNvSpPr txBox="1"/>
          <p:nvPr/>
        </p:nvSpPr>
        <p:spPr>
          <a:xfrm>
            <a:off x="3252537" y="22073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599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8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sz="2400" dirty="0"/>
                  <a:t>Find the 7</a:t>
                </a:r>
                <a:r>
                  <a:rPr lang="en-US" sz="2400" baseline="30000" dirty="0"/>
                  <a:t>th</a:t>
                </a:r>
                <a:r>
                  <a:rPr lang="en-US" sz="2400" dirty="0"/>
                  <a:t> term from the end of the A. P. of 50 terms whose first term and common difference are 5 and 8 respectively.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th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term from the end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dirty="0"/>
                          <m:t>m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</m:t>
                        </m:r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dirty="0"/>
                          <m:t> + 1)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th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term from beginning 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a + (m - n) d</a:t>
                </a:r>
              </a:p>
              <a:p>
                <a:r>
                  <a:rPr lang="en-US" sz="2400" dirty="0"/>
                  <a:t>a = 5, d = 8, m = 50, and n = 7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5 + (50 - 7) x 8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44</m:t>
                        </m:r>
                      </m:sub>
                    </m:sSub>
                  </m:oMath>
                </a14:m>
                <a:r>
                  <a:rPr lang="en-US" sz="2400" dirty="0"/>
                  <a:t> = 5 + (43) x 8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44</m:t>
                        </m:r>
                      </m:sub>
                    </m:sSub>
                  </m:oMath>
                </a14:m>
                <a:r>
                  <a:rPr lang="en-US" sz="2400" dirty="0"/>
                  <a:t> = 5 + 344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44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/>
                  <a:t>= 349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1" r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D71CB59-BA1B-FF7C-F791-D035DCE4A4DB}"/>
              </a:ext>
            </a:extLst>
          </p:cNvPr>
          <p:cNvSpPr/>
          <p:nvPr/>
        </p:nvSpPr>
        <p:spPr>
          <a:xfrm>
            <a:off x="4726471" y="1858618"/>
            <a:ext cx="457200" cy="397565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9AA67F7-054B-1029-97C6-DCD11A9344C6}"/>
              </a:ext>
            </a:extLst>
          </p:cNvPr>
          <p:cNvSpPr/>
          <p:nvPr/>
        </p:nvSpPr>
        <p:spPr>
          <a:xfrm>
            <a:off x="5499652" y="1858618"/>
            <a:ext cx="457200" cy="397565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CC4D77-D704-6EF7-ACBA-2BED4280C968}"/>
              </a:ext>
            </a:extLst>
          </p:cNvPr>
          <p:cNvSpPr/>
          <p:nvPr/>
        </p:nvSpPr>
        <p:spPr>
          <a:xfrm>
            <a:off x="6158946" y="1398106"/>
            <a:ext cx="457200" cy="397565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7494A0-DDC7-C220-21FA-3CF1357219DE}"/>
              </a:ext>
            </a:extLst>
          </p:cNvPr>
          <p:cNvSpPr/>
          <p:nvPr/>
        </p:nvSpPr>
        <p:spPr>
          <a:xfrm>
            <a:off x="1669772" y="1398105"/>
            <a:ext cx="457200" cy="3975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78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9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Is the sequence </a:t>
                </a:r>
                <a:r>
                  <a:rPr lang="en-IN" sz="2400" dirty="0"/>
                  <a:t>3, -6, 12, -24, ……. </a:t>
                </a:r>
                <a:r>
                  <a:rPr lang="en-US" sz="2400" dirty="0"/>
                  <a:t> form a G. P.?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-6,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12,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-24,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48, ….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−6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= -2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−6</m:t>
                        </m:r>
                      </m:den>
                    </m:f>
                  </m:oMath>
                </a14:m>
                <a:r>
                  <a:rPr lang="en-US" sz="2400" dirty="0"/>
                  <a:t> = -2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24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12</m:t>
                        </m:r>
                      </m:den>
                    </m:f>
                  </m:oMath>
                </a14:m>
                <a:r>
                  <a:rPr lang="en-US" sz="2400" dirty="0"/>
                  <a:t> = -2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-2     (G.P.)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6B79A48-2FE9-4F73-5CBB-018D81A9A9B8}"/>
              </a:ext>
            </a:extLst>
          </p:cNvPr>
          <p:cNvCxnSpPr/>
          <p:nvPr/>
        </p:nvCxnSpPr>
        <p:spPr>
          <a:xfrm>
            <a:off x="2932043" y="1858617"/>
            <a:ext cx="170953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854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10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400" dirty="0"/>
                  <a:t>Find the 9</a:t>
                </a:r>
                <a:r>
                  <a:rPr lang="en-US" sz="2400" baseline="30000" dirty="0"/>
                  <a:t>th</a:t>
                </a:r>
                <a:r>
                  <a:rPr lang="en-US" sz="2400" dirty="0"/>
                  <a:t> term of the sequence </a:t>
                </a:r>
                <a:r>
                  <a:rPr lang="en-IN" sz="2400" dirty="0"/>
                  <a:t>2, 4, 8, 16, 32 </a:t>
                </a:r>
                <a:r>
                  <a:rPr lang="en-US" sz="2400" dirty="0"/>
                  <a:t>....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400" dirty="0"/>
                  <a:t>First term = a = 2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400" dirty="0"/>
                  <a:t>Common ratio = 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= 2</a:t>
                </a:r>
              </a:p>
              <a:p>
                <a:r>
                  <a:rPr lang="en-US" sz="2400" dirty="0"/>
                  <a:t>n = 9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n-US" sz="2400" dirty="0"/>
                  <a:t> = (2)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9</m:t>
                        </m:r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836967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n-US" sz="2400" dirty="0"/>
                  <a:t> = (2)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8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2 x 2 x 2 x 2 x 2 x 2 x 2 x 2 x 2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n-US" sz="2400" dirty="0"/>
                  <a:t> = 512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b="-2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765EF7C-0CDC-7BAE-0712-A992B432747E}"/>
              </a:ext>
            </a:extLst>
          </p:cNvPr>
          <p:cNvSpPr/>
          <p:nvPr/>
        </p:nvSpPr>
        <p:spPr>
          <a:xfrm>
            <a:off x="5078896" y="1461052"/>
            <a:ext cx="477079" cy="3578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9470F9-6063-EA72-D205-C57B9D7D90DE}"/>
              </a:ext>
            </a:extLst>
          </p:cNvPr>
          <p:cNvSpPr/>
          <p:nvPr/>
        </p:nvSpPr>
        <p:spPr>
          <a:xfrm>
            <a:off x="1792358" y="1461051"/>
            <a:ext cx="477079" cy="35780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580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en-US" sz="2400" dirty="0"/>
                  <a:t>Find the sum of 7 terms of the series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 + 1 ……..</a:t>
                </a:r>
                <a:r>
                  <a:rPr lang="en-US" sz="2400" dirty="0"/>
                  <a:t>. 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sz="2400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nor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m:rPr>
                        <m:nor/>
                      </m:rPr>
                      <a:rPr lang="en-US" sz="2400" b="0" i="0" dirty="0" smtClean="0"/>
                      <m:t>or</m:t>
                    </m:r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400" dirty="0"/>
                  <a:t>      = 2 (&gt; 1), and n = 7</a:t>
                </a:r>
              </a:p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n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− 1)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− 1)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4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7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− 1)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− 1)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4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8</m:t>
                        </m:r>
                        <m:r>
                          <m:rPr>
                            <m:nor/>
                          </m:rPr>
                          <a:rPr lang="en-US" sz="2400" dirty="0"/>
                          <m:t>− 1)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 1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127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 algn="just">
                  <a:lnSpc>
                    <a:spcPct val="110000"/>
                  </a:lnSpc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8109CD91-71A4-CEEC-931E-62285A8A2666}"/>
              </a:ext>
            </a:extLst>
          </p:cNvPr>
          <p:cNvSpPr/>
          <p:nvPr/>
        </p:nvSpPr>
        <p:spPr>
          <a:xfrm rot="16200000" flipV="1">
            <a:off x="2194123" y="2661262"/>
            <a:ext cx="327996" cy="33283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0F170B75-311B-1830-A4D5-823A264785DC}"/>
              </a:ext>
            </a:extLst>
          </p:cNvPr>
          <p:cNvSpPr/>
          <p:nvPr/>
        </p:nvSpPr>
        <p:spPr>
          <a:xfrm rot="16200000" flipV="1">
            <a:off x="1907835" y="2669543"/>
            <a:ext cx="1033673" cy="3328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4DF9D6F4-66B7-0E1E-5E92-7FE4B3F9DDFA}"/>
              </a:ext>
            </a:extLst>
          </p:cNvPr>
          <p:cNvSpPr/>
          <p:nvPr/>
        </p:nvSpPr>
        <p:spPr>
          <a:xfrm rot="16200000" flipV="1">
            <a:off x="3133663" y="2755686"/>
            <a:ext cx="874643" cy="3328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8D67D4-BA43-CB07-E9AD-67BF239D0165}"/>
              </a:ext>
            </a:extLst>
          </p:cNvPr>
          <p:cNvSpPr/>
          <p:nvPr/>
        </p:nvSpPr>
        <p:spPr>
          <a:xfrm>
            <a:off x="5625548" y="1391479"/>
            <a:ext cx="477079" cy="7056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59B637-8E5D-0B1F-DEA2-E4828C7A9A1F}"/>
              </a:ext>
            </a:extLst>
          </p:cNvPr>
          <p:cNvSpPr/>
          <p:nvPr/>
        </p:nvSpPr>
        <p:spPr>
          <a:xfrm>
            <a:off x="2784201" y="1391479"/>
            <a:ext cx="477079" cy="70567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072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Find the sum of 12 terms of a G.P., whose first term, common ratio, and last terms are 3, (-2) and 48 respectively.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a = 3, r = -2, l = 48, and n = 12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lr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</m:t>
                        </m:r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</m:t>
                        </m:r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den>
                    </m:f>
                  </m:oMath>
                </a14:m>
                <a:endParaRPr lang="en-US" sz="2400" dirty="0">
                  <a:solidFill>
                    <a:srgbClr val="836967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48 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(−2) − 3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−2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</m:den>
                    </m:f>
                  </m:oMath>
                </a14:m>
                <a:endParaRPr lang="en-US" sz="2400" dirty="0">
                  <a:solidFill>
                    <a:srgbClr val="836967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 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(−96) − 3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− 5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836967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−99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− 5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99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5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4AFE6D-E383-7F44-A390-72DDF28B2226}"/>
              </a:ext>
            </a:extLst>
          </p:cNvPr>
          <p:cNvCxnSpPr>
            <a:cxnSpLocks/>
          </p:cNvCxnSpPr>
          <p:nvPr/>
        </p:nvCxnSpPr>
        <p:spPr>
          <a:xfrm flipH="1">
            <a:off x="3599617" y="5512905"/>
            <a:ext cx="117618" cy="15633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33788E-4C7E-A1A8-5507-3D072C10BB70}"/>
              </a:ext>
            </a:extLst>
          </p:cNvPr>
          <p:cNvCxnSpPr>
            <a:cxnSpLocks/>
          </p:cNvCxnSpPr>
          <p:nvPr/>
        </p:nvCxnSpPr>
        <p:spPr>
          <a:xfrm flipH="1">
            <a:off x="3559861" y="5138529"/>
            <a:ext cx="157374" cy="2352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F82AD0B-5A13-F808-B2A8-A6672F220E44}"/>
              </a:ext>
            </a:extLst>
          </p:cNvPr>
          <p:cNvSpPr/>
          <p:nvPr/>
        </p:nvSpPr>
        <p:spPr>
          <a:xfrm>
            <a:off x="6281531" y="1818861"/>
            <a:ext cx="477079" cy="7056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6C869-D3D4-CAFC-CFF8-D550589D5689}"/>
              </a:ext>
            </a:extLst>
          </p:cNvPr>
          <p:cNvSpPr/>
          <p:nvPr/>
        </p:nvSpPr>
        <p:spPr>
          <a:xfrm>
            <a:off x="6960705" y="1818861"/>
            <a:ext cx="553278" cy="70567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2DD7DD-3CB2-40CE-AF73-02422DF19C36}"/>
              </a:ext>
            </a:extLst>
          </p:cNvPr>
          <p:cNvSpPr/>
          <p:nvPr/>
        </p:nvSpPr>
        <p:spPr>
          <a:xfrm>
            <a:off x="3163957" y="1265583"/>
            <a:ext cx="553278" cy="70567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5A6738-DB79-5E9E-B5C0-586C3F0592BC}"/>
              </a:ext>
            </a:extLst>
          </p:cNvPr>
          <p:cNvSpPr/>
          <p:nvPr/>
        </p:nvSpPr>
        <p:spPr>
          <a:xfrm>
            <a:off x="8390697" y="1818861"/>
            <a:ext cx="553278" cy="70567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475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Find the sum of 5 terms of a G.P., whose first term, and common ratio are 3 and (-2) respectively. </a:t>
                </a:r>
              </a:p>
              <a:p>
                <a:r>
                  <a:rPr lang="en-US" sz="2400" dirty="0"/>
                  <a:t>a = 3, r = -2 (&lt; 1), and n = 5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(1 −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n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(1 −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  <m:r>
                          <m:rPr>
                            <m:nor/>
                          </m:rPr>
                          <a:rPr lang="en-US" sz="2400" dirty="0"/>
                          <m:t>(1 −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2)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5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(1 −(−2))</m:t>
                        </m:r>
                      </m:den>
                    </m:f>
                  </m:oMath>
                </a14:m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3(1 −(−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  <m:r>
                          <m:rPr>
                            <m:nor/>
                          </m:rPr>
                          <a:rPr lang="en-US" sz="2400" dirty="0"/>
                          <m:t>2))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(1 </m:t>
                        </m:r>
                        <m:r>
                          <m:rPr>
                            <m:nor/>
                          </m:rPr>
                          <a:rPr lang="en-US" sz="2400" dirty="0" smtClean="0"/>
                          <m:t>−(−</m:t>
                        </m:r>
                        <m:r>
                          <m:rPr>
                            <m:nor/>
                          </m:rPr>
                          <a:rPr lang="en-US" sz="2400" dirty="0"/>
                          <m:t>2))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3(1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+ </m:t>
                        </m:r>
                        <m:r>
                          <m:rPr>
                            <m:nor/>
                          </m:rPr>
                          <a:rPr lang="en-US" sz="2400" dirty="0"/>
                          <m:t>32)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(1 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+ </m:t>
                        </m:r>
                        <m:r>
                          <m:rPr>
                            <m:nor/>
                          </m:rPr>
                          <a:rPr lang="en-US" sz="2400" dirty="0"/>
                          <m:t>2)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3(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33</m:t>
                        </m:r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/>
                      <m:t>33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A90C81-3F3D-11F7-16AF-0ADF6427577E}"/>
              </a:ext>
            </a:extLst>
          </p:cNvPr>
          <p:cNvCxnSpPr>
            <a:cxnSpLocks/>
          </p:cNvCxnSpPr>
          <p:nvPr/>
        </p:nvCxnSpPr>
        <p:spPr>
          <a:xfrm flipH="1">
            <a:off x="6332878" y="5327374"/>
            <a:ext cx="149092" cy="2352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AEC6F7-73AB-7066-90F3-3733D43C2D35}"/>
              </a:ext>
            </a:extLst>
          </p:cNvPr>
          <p:cNvCxnSpPr>
            <a:cxnSpLocks/>
          </p:cNvCxnSpPr>
          <p:nvPr/>
        </p:nvCxnSpPr>
        <p:spPr>
          <a:xfrm flipH="1">
            <a:off x="6064522" y="4966252"/>
            <a:ext cx="157374" cy="2352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B2C84BD-7EB0-DFF2-05E8-503EB9A840EF}"/>
              </a:ext>
            </a:extLst>
          </p:cNvPr>
          <p:cNvSpPr/>
          <p:nvPr/>
        </p:nvSpPr>
        <p:spPr>
          <a:xfrm>
            <a:off x="3004931" y="1391477"/>
            <a:ext cx="354495" cy="439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89551-065F-D717-F845-1FD078167747}"/>
              </a:ext>
            </a:extLst>
          </p:cNvPr>
          <p:cNvSpPr/>
          <p:nvPr/>
        </p:nvSpPr>
        <p:spPr>
          <a:xfrm>
            <a:off x="4018722" y="1954695"/>
            <a:ext cx="553278" cy="43939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EE6481-5F0C-989D-EDA6-DCA11EA54807}"/>
              </a:ext>
            </a:extLst>
          </p:cNvPr>
          <p:cNvSpPr/>
          <p:nvPr/>
        </p:nvSpPr>
        <p:spPr>
          <a:xfrm>
            <a:off x="3004931" y="1954695"/>
            <a:ext cx="553278" cy="43939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693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sz="2400" dirty="0"/>
                  <a:t>Find the sum of the infinite sequence 9, - 3, 1,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, …..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a = 9, 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9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 where |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| &lt; 1 i.e.,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&lt; r &lt;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(1 −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(1 −(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−1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))</m:t>
                        </m:r>
                      </m:den>
                    </m:f>
                  </m:oMath>
                </a14:m>
                <a:r>
                  <a:rPr lang="en-US" sz="2400" i="1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(1 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+ 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den>
                    </m:f>
                  </m:oMath>
                </a14:m>
                <a:r>
                  <a:rPr lang="en-US" sz="2400" i="1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 +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den>
                    </m:f>
                  </m:oMath>
                </a14:m>
                <a:r>
                  <a:rPr lang="en-US" sz="2400" i="1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          </a:t>
                </a: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9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</m:den>
                    </m:f>
                  </m:oMath>
                </a14:m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27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</m:oMath>
                </a14:m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6C906AAD-D281-7AE4-4E88-A638157E4C34}"/>
              </a:ext>
            </a:extLst>
          </p:cNvPr>
          <p:cNvSpPr/>
          <p:nvPr/>
        </p:nvSpPr>
        <p:spPr>
          <a:xfrm rot="16200000" flipV="1">
            <a:off x="4460005" y="4685293"/>
            <a:ext cx="1033673" cy="62154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BB180-62F0-63B2-9DA9-8FCAB66428BC}"/>
              </a:ext>
            </a:extLst>
          </p:cNvPr>
          <p:cNvSpPr/>
          <p:nvPr/>
        </p:nvSpPr>
        <p:spPr>
          <a:xfrm>
            <a:off x="5695122" y="1411356"/>
            <a:ext cx="387626" cy="51683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69A4E5-636F-B21D-17E1-1A5661034895}"/>
              </a:ext>
            </a:extLst>
          </p:cNvPr>
          <p:cNvCxnSpPr>
            <a:cxnSpLocks/>
          </p:cNvCxnSpPr>
          <p:nvPr/>
        </p:nvCxnSpPr>
        <p:spPr>
          <a:xfrm flipH="1">
            <a:off x="2035808" y="1928191"/>
            <a:ext cx="299888" cy="49003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B57EF0-1031-148E-D26C-7D22271A603E}"/>
              </a:ext>
            </a:extLst>
          </p:cNvPr>
          <p:cNvCxnSpPr>
            <a:cxnSpLocks/>
          </p:cNvCxnSpPr>
          <p:nvPr/>
        </p:nvCxnSpPr>
        <p:spPr>
          <a:xfrm flipH="1">
            <a:off x="1983644" y="2327909"/>
            <a:ext cx="302357" cy="4282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6BD45F9-D2B2-00F3-0A56-4E99BE231A2D}"/>
              </a:ext>
            </a:extLst>
          </p:cNvPr>
          <p:cNvSpPr txBox="1"/>
          <p:nvPr/>
        </p:nvSpPr>
        <p:spPr>
          <a:xfrm>
            <a:off x="1729314" y="240253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3024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Determine x so that x, x + 2, and x + 6 are the three consecutive terms of a G.P.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Three numbers a, b, c are in G.P. </a:t>
                </a:r>
                <a:r>
                  <a:rPr lang="en-US" dirty="0" err="1"/>
                  <a:t>iff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c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  iff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= ac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/>
                  <a:t>        x, 		x + 2, 		and 	x + 6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/>
                  <a:t>	     a                             b                              c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400" dirty="0"/>
                  <a:t>		</a:t>
                </a:r>
                <a:r>
                  <a:rPr 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+ 2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= x (x + 6)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400" dirty="0"/>
                  <a:t>		</a:t>
                </a:r>
                <a:r>
                  <a:rPr 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+ 4x + 4 = </a:t>
                </a:r>
                <a:r>
                  <a:rPr 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+ 6x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073F60-3FDC-1874-7D30-BCCDC27958C4}"/>
              </a:ext>
            </a:extLst>
          </p:cNvPr>
          <p:cNvCxnSpPr/>
          <p:nvPr/>
        </p:nvCxnSpPr>
        <p:spPr>
          <a:xfrm>
            <a:off x="3842258" y="3849153"/>
            <a:ext cx="477079" cy="3975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76ED8C-C35C-0267-3D17-8125DFEF7F0D}"/>
              </a:ext>
            </a:extLst>
          </p:cNvPr>
          <p:cNvCxnSpPr>
            <a:cxnSpLocks/>
          </p:cNvCxnSpPr>
          <p:nvPr/>
        </p:nvCxnSpPr>
        <p:spPr>
          <a:xfrm>
            <a:off x="1299416" y="3861810"/>
            <a:ext cx="477079" cy="3975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8F0BA6D-CC5B-3DDF-01BA-E39AE117EBE0}"/>
              </a:ext>
            </a:extLst>
          </p:cNvPr>
          <p:cNvSpPr/>
          <p:nvPr/>
        </p:nvSpPr>
        <p:spPr>
          <a:xfrm>
            <a:off x="4042489" y="3948546"/>
            <a:ext cx="602973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7FAD012-11C2-35E8-3A92-58031C543681}"/>
              </a:ext>
            </a:extLst>
          </p:cNvPr>
          <p:cNvSpPr/>
          <p:nvPr/>
        </p:nvSpPr>
        <p:spPr>
          <a:xfrm>
            <a:off x="1537955" y="3961202"/>
            <a:ext cx="602973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B5EE8B-1933-7B93-21FB-D232DA0C8792}"/>
              </a:ext>
            </a:extLst>
          </p:cNvPr>
          <p:cNvCxnSpPr/>
          <p:nvPr/>
        </p:nvCxnSpPr>
        <p:spPr>
          <a:xfrm>
            <a:off x="6540820" y="3809400"/>
            <a:ext cx="477079" cy="3975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51E37B9-5383-EC3A-495A-9F2C032FA508}"/>
              </a:ext>
            </a:extLst>
          </p:cNvPr>
          <p:cNvSpPr/>
          <p:nvPr/>
        </p:nvSpPr>
        <p:spPr>
          <a:xfrm>
            <a:off x="6678971" y="3938609"/>
            <a:ext cx="602973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4D5B7A-3FF7-DB07-395A-E42E3FB4CB6F}"/>
              </a:ext>
            </a:extLst>
          </p:cNvPr>
          <p:cNvCxnSpPr>
            <a:cxnSpLocks/>
          </p:cNvCxnSpPr>
          <p:nvPr/>
        </p:nvCxnSpPr>
        <p:spPr>
          <a:xfrm flipH="1">
            <a:off x="2363799" y="5643385"/>
            <a:ext cx="299888" cy="49003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7A8CF4-BE2B-8C21-A83D-5271B7C2CE0E}"/>
              </a:ext>
            </a:extLst>
          </p:cNvPr>
          <p:cNvCxnSpPr>
            <a:cxnSpLocks/>
          </p:cNvCxnSpPr>
          <p:nvPr/>
        </p:nvCxnSpPr>
        <p:spPr>
          <a:xfrm flipH="1">
            <a:off x="4190130" y="5705061"/>
            <a:ext cx="302357" cy="4282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727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400" dirty="0"/>
                  <a:t>		</a:t>
                </a:r>
                <a:r>
                  <a:rPr 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+ 4x + 4 = </a:t>
                </a:r>
                <a:r>
                  <a:rPr 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+ 6x 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400" dirty="0"/>
                  <a:t>		4 = 6x – 4x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400" dirty="0"/>
                  <a:t>		2x = 4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400" dirty="0"/>
                  <a:t>		x = 2    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400" dirty="0"/>
                  <a:t>Three consecutive terms are x, x + 2, and x + 6 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400" dirty="0"/>
                  <a:t>				i.e., 2, 2 + 2, and 2 + 6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400" dirty="0"/>
                  <a:t>				i.e., 2, 4, and 8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5A9110-4CB7-1C34-27A8-2C398AB6DCB0}"/>
              </a:ext>
            </a:extLst>
          </p:cNvPr>
          <p:cNvCxnSpPr>
            <a:cxnSpLocks/>
          </p:cNvCxnSpPr>
          <p:nvPr/>
        </p:nvCxnSpPr>
        <p:spPr>
          <a:xfrm flipH="1">
            <a:off x="2924079" y="3140764"/>
            <a:ext cx="137173" cy="432988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E1D43E-9059-7877-7A7E-9711FB73B1AD}"/>
              </a:ext>
            </a:extLst>
          </p:cNvPr>
          <p:cNvCxnSpPr>
            <a:cxnSpLocks/>
          </p:cNvCxnSpPr>
          <p:nvPr/>
        </p:nvCxnSpPr>
        <p:spPr>
          <a:xfrm flipH="1">
            <a:off x="2252756" y="3120886"/>
            <a:ext cx="202210" cy="42738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9019053-DD7B-2ACA-FEEB-B0780A4639B8}"/>
              </a:ext>
            </a:extLst>
          </p:cNvPr>
          <p:cNvSpPr txBox="1"/>
          <p:nvPr/>
        </p:nvSpPr>
        <p:spPr>
          <a:xfrm>
            <a:off x="3143207" y="312860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4D5B7A-3FF7-DB07-395A-E42E3FB4CB6F}"/>
              </a:ext>
            </a:extLst>
          </p:cNvPr>
          <p:cNvCxnSpPr>
            <a:cxnSpLocks/>
          </p:cNvCxnSpPr>
          <p:nvPr/>
        </p:nvCxnSpPr>
        <p:spPr>
          <a:xfrm flipH="1">
            <a:off x="2294226" y="1500807"/>
            <a:ext cx="421801" cy="59740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A3FFD8-F0D0-7971-A9CC-3241C2D5F378}"/>
              </a:ext>
            </a:extLst>
          </p:cNvPr>
          <p:cNvCxnSpPr>
            <a:cxnSpLocks/>
          </p:cNvCxnSpPr>
          <p:nvPr/>
        </p:nvCxnSpPr>
        <p:spPr>
          <a:xfrm flipH="1">
            <a:off x="4150199" y="1500807"/>
            <a:ext cx="421801" cy="59740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080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/>
                  <a:t>Find the 5</a:t>
                </a:r>
                <a:r>
                  <a:rPr lang="en-US" sz="2400" baseline="30000" dirty="0"/>
                  <a:t>th</a:t>
                </a:r>
                <a:r>
                  <a:rPr lang="en-US" sz="2400" dirty="0"/>
                  <a:t> term from the end of the G. P. of 15 terms whose first term and common ratio are 9 and 3 respectively. </a:t>
                </a:r>
              </a:p>
              <a:p>
                <a:r>
                  <a:rPr lang="en-US" sz="2400" dirty="0"/>
                  <a:t>n</a:t>
                </a:r>
                <a:r>
                  <a:rPr lang="en-US" sz="2400" baseline="30000" dirty="0"/>
                  <a:t>th</a:t>
                </a:r>
                <a:r>
                  <a:rPr lang="en-US" sz="2400" dirty="0"/>
                  <a:t> term from the end = (m - n + 1)</a:t>
                </a:r>
                <a:r>
                  <a:rPr lang="en-US" sz="2400" baseline="30000" dirty="0"/>
                  <a:t> </a:t>
                </a:r>
                <a:r>
                  <a:rPr lang="en-US" sz="2400" baseline="30000" dirty="0" err="1"/>
                  <a:t>th</a:t>
                </a:r>
                <a:r>
                  <a:rPr lang="en-US" sz="2400" dirty="0"/>
                  <a:t> term from beginning </a:t>
                </a:r>
              </a:p>
              <a:p>
                <a:r>
                  <a:rPr lang="en-US" sz="2400" dirty="0"/>
                  <a:t>nth term from the end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m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</m:t>
                        </m:r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					{Because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}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m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</m:t>
                        </m:r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a = 9, r = 3, m = 15, and n = 5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9A223C-EDD8-E0A8-1A83-CC7EFAD6685C}"/>
              </a:ext>
            </a:extLst>
          </p:cNvPr>
          <p:cNvCxnSpPr/>
          <p:nvPr/>
        </p:nvCxnSpPr>
        <p:spPr>
          <a:xfrm>
            <a:off x="1958009" y="1828800"/>
            <a:ext cx="7354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DD8D93-E11E-B23F-7221-57F620E4A002}"/>
              </a:ext>
            </a:extLst>
          </p:cNvPr>
          <p:cNvCxnSpPr/>
          <p:nvPr/>
        </p:nvCxnSpPr>
        <p:spPr>
          <a:xfrm>
            <a:off x="8288407" y="2448339"/>
            <a:ext cx="7354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A70ADB-59CE-CC89-4EEF-09ED13582DBC}"/>
              </a:ext>
            </a:extLst>
          </p:cNvPr>
          <p:cNvCxnSpPr/>
          <p:nvPr/>
        </p:nvCxnSpPr>
        <p:spPr>
          <a:xfrm>
            <a:off x="7129670" y="2448339"/>
            <a:ext cx="7354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0A735B-292E-45EA-8A8D-5F604C429962}"/>
              </a:ext>
            </a:extLst>
          </p:cNvPr>
          <p:cNvCxnSpPr/>
          <p:nvPr/>
        </p:nvCxnSpPr>
        <p:spPr>
          <a:xfrm>
            <a:off x="7411279" y="1848678"/>
            <a:ext cx="7354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393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a = 9, r = 3, m = 15, and n = 5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= 9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(3)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15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dirty="0"/>
                  <a:t> = 9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(3)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9 x 59049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(3)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(3)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dirty="0"/>
                  <a:t> = 531441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(3)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22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17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sz="2400" dirty="0"/>
                  <a:t>Find the 10</a:t>
                </a:r>
                <a:r>
                  <a:rPr lang="en-US" sz="2400" baseline="30000" dirty="0"/>
                  <a:t>th</a:t>
                </a:r>
                <a:r>
                  <a:rPr lang="en-US" sz="2400" dirty="0"/>
                  <a:t> term from the end of the G. P. with last term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512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729</m:t>
                        </m:r>
                      </m:den>
                    </m:f>
                  </m:oMath>
                </a14:m>
                <a:r>
                  <a:rPr lang="en-US" sz="2400" dirty="0"/>
                  <a:t> and common ratio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.</a:t>
                </a:r>
              </a:p>
              <a:p>
                <a:r>
                  <a:rPr lang="en-US" sz="2400" dirty="0"/>
                  <a:t>n</a:t>
                </a:r>
                <a:r>
                  <a:rPr lang="en-US" sz="2400" baseline="30000" dirty="0"/>
                  <a:t>th</a:t>
                </a:r>
                <a:r>
                  <a:rPr lang="en-US" sz="2400" dirty="0"/>
                  <a:t> term from the end in terms of last term ‘l’ &amp; common ratio ‘r’ is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l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 − 1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	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512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729</m:t>
                        </m:r>
                      </m:den>
                    </m:f>
                  </m:oMath>
                </a14:m>
                <a:r>
                  <a:rPr lang="en-US" sz="2400" dirty="0"/>
                  <a:t> , 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, and n = 10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512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729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2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1" r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531102-7B6D-7655-2748-07A61FA78C2C}"/>
              </a:ext>
            </a:extLst>
          </p:cNvPr>
          <p:cNvCxnSpPr/>
          <p:nvPr/>
        </p:nvCxnSpPr>
        <p:spPr>
          <a:xfrm>
            <a:off x="1719470" y="2057400"/>
            <a:ext cx="7354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5F54FE-0EE5-5C50-8173-1EF1557A3A92}"/>
              </a:ext>
            </a:extLst>
          </p:cNvPr>
          <p:cNvCxnSpPr/>
          <p:nvPr/>
        </p:nvCxnSpPr>
        <p:spPr>
          <a:xfrm>
            <a:off x="2170044" y="2925417"/>
            <a:ext cx="7354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899326-34E1-447E-176B-0510E1661242}"/>
              </a:ext>
            </a:extLst>
          </p:cNvPr>
          <p:cNvCxnSpPr/>
          <p:nvPr/>
        </p:nvCxnSpPr>
        <p:spPr>
          <a:xfrm>
            <a:off x="7629112" y="2196548"/>
            <a:ext cx="7354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507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17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512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729</m:t>
                        </m:r>
                      </m:den>
                    </m:f>
                  </m:oMath>
                </a14:m>
                <a:r>
                  <a:rPr lang="en-US" sz="2400" dirty="0"/>
                  <a:t> , 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, and n = 10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512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729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2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3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3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9 − 9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6 −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/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 3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e>
                        </m:d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27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D0A66D54-9B27-1EA3-9BE4-CA6AE0DC8194}"/>
              </a:ext>
            </a:extLst>
          </p:cNvPr>
          <p:cNvSpPr/>
          <p:nvPr/>
        </p:nvSpPr>
        <p:spPr>
          <a:xfrm rot="16200000" flipV="1">
            <a:off x="4345945" y="3133370"/>
            <a:ext cx="1033673" cy="33283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45BCFAFF-5B15-EC9B-AB09-5EBA01701C84}"/>
              </a:ext>
            </a:extLst>
          </p:cNvPr>
          <p:cNvSpPr/>
          <p:nvPr/>
        </p:nvSpPr>
        <p:spPr>
          <a:xfrm rot="16200000" flipV="1">
            <a:off x="4342922" y="2739117"/>
            <a:ext cx="1033673" cy="3328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028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Verification of Sequence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A.P. or G.P.</a:t>
                </a:r>
              </a:p>
              <a:p>
                <a:r>
                  <a:rPr lang="en-US" sz="2400" dirty="0"/>
                  <a:t>Compute n term of Progression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In A.P.  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= a + (n - 1) d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 =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−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In G.P. 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sz="2400" dirty="0"/>
                  <a:t>Three consecutive terms of an A.P. and G.P.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4733289-7786-7598-0BB5-BA8B867D758A}"/>
              </a:ext>
            </a:extLst>
          </p:cNvPr>
          <p:cNvSpPr/>
          <p:nvPr/>
        </p:nvSpPr>
        <p:spPr>
          <a:xfrm>
            <a:off x="1500809" y="3727174"/>
            <a:ext cx="1918252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8F03E-53D4-8D9C-064D-A7BA30206FEA}"/>
              </a:ext>
            </a:extLst>
          </p:cNvPr>
          <p:cNvSpPr/>
          <p:nvPr/>
        </p:nvSpPr>
        <p:spPr>
          <a:xfrm>
            <a:off x="1500809" y="4258504"/>
            <a:ext cx="1918252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12C7A3-FA14-BC0D-AB43-DBB4E0064560}"/>
              </a:ext>
            </a:extLst>
          </p:cNvPr>
          <p:cNvSpPr/>
          <p:nvPr/>
        </p:nvSpPr>
        <p:spPr>
          <a:xfrm>
            <a:off x="1500809" y="5338969"/>
            <a:ext cx="1918252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232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n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th</m:t>
                        </m:r>
                      </m:sup>
                    </m:sSup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term from the end  of a G.P.</a:t>
                </a:r>
                <a:r>
                  <a:rPr lang="en-IN" sz="2800" dirty="0"/>
                  <a:t> having m terms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dirty="0"/>
                          <m:t>(</m:t>
                        </m:r>
                        <m:r>
                          <m:rPr>
                            <m:nor/>
                          </m:rPr>
                          <a:rPr lang="en-US" sz="2800" dirty="0"/>
                          <m:t>m</m:t>
                        </m:r>
                        <m:r>
                          <m:rPr>
                            <m:nor/>
                          </m:rPr>
                          <a:rPr lang="en-US" sz="2800" dirty="0"/>
                          <m:t> − </m:t>
                        </m:r>
                        <m:r>
                          <m:rPr>
                            <m:nor/>
                          </m:rPr>
                          <a:rPr lang="en-US" sz="2800" dirty="0"/>
                          <m:t>n</m:t>
                        </m:r>
                        <m:r>
                          <m:rPr>
                            <m:nor/>
                          </m:rPr>
                          <a:rPr lang="en-US" sz="2800" dirty="0"/>
                          <m:t> + 1)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th</m:t>
                        </m:r>
                      </m:sup>
                    </m:sSup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term from beginning i.e., </a:t>
                </a:r>
              </a:p>
              <a:p>
                <a:pPr marL="0" indent="0">
                  <a:buNone/>
                </a:pPr>
                <a:r>
                  <a:rPr lang="en-US" sz="2800" b="0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8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m</m:t>
                        </m:r>
                        <m:r>
                          <m:rPr>
                            <m:nor/>
                          </m:rPr>
                          <a:rPr lang="en-US" sz="2800" dirty="0"/>
                          <m:t> − </m:t>
                        </m:r>
                        <m:r>
                          <m:rPr>
                            <m:nor/>
                          </m:rPr>
                          <a:rPr lang="en-US" sz="2800" dirty="0"/>
                          <m:t>n</m:t>
                        </m:r>
                      </m:sup>
                    </m:sSup>
                  </m:oMath>
                </a14:m>
                <a:endParaRPr lang="en-US" sz="28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n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th</m:t>
                        </m:r>
                      </m:sup>
                    </m:sSup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term from the end  of an A.P.</a:t>
                </a:r>
                <a:r>
                  <a:rPr lang="en-IN" sz="2800" dirty="0"/>
                  <a:t> having m terms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dirty="0"/>
                          <m:t>(</m:t>
                        </m:r>
                        <m:r>
                          <m:rPr>
                            <m:nor/>
                          </m:rPr>
                          <a:rPr lang="en-US" sz="2800" dirty="0"/>
                          <m:t>m</m:t>
                        </m:r>
                        <m:r>
                          <m:rPr>
                            <m:nor/>
                          </m:rPr>
                          <a:rPr lang="en-US" sz="2800" dirty="0"/>
                          <m:t> − </m:t>
                        </m:r>
                        <m:r>
                          <m:rPr>
                            <m:nor/>
                          </m:rPr>
                          <a:rPr lang="en-US" sz="2800" dirty="0"/>
                          <m:t>n</m:t>
                        </m:r>
                        <m:r>
                          <m:rPr>
                            <m:nor/>
                          </m:rPr>
                          <a:rPr lang="en-US" sz="2800" dirty="0"/>
                          <m:t> + 1)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th</m:t>
                        </m:r>
                      </m:sup>
                    </m:sSup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term from beginning i.e.,</a:t>
                </a:r>
              </a:p>
              <a:p>
                <a:pPr marL="0" indent="0">
                  <a:buNone/>
                </a:pPr>
                <a:r>
                  <a:rPr lang="en-US" sz="28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= a + (m - n) d</a:t>
                </a:r>
              </a:p>
              <a:p>
                <a:r>
                  <a:rPr lang="en-US" sz="2800" dirty="0"/>
                  <a:t>n</a:t>
                </a:r>
                <a:r>
                  <a:rPr lang="en-US" sz="2800" baseline="30000" dirty="0"/>
                  <a:t>th</a:t>
                </a:r>
                <a:r>
                  <a:rPr lang="en-US" sz="2800" dirty="0"/>
                  <a:t> term from the end of a G.P. in terms of last term ‘l’ &amp; common ratio ‘r’ is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l</m:t>
                        </m:r>
                      </m:num>
                      <m:den>
                        <m:sSup>
                          <m:sSupPr>
                            <m:ctrlPr>
                              <a:rPr lang="en-US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8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800" dirty="0"/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sz="2800" dirty="0"/>
                              <m:t> − 1</m:t>
                            </m:r>
                          </m:sup>
                        </m:sSup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8D58CB9-30FB-151B-6B10-10E6BD8901A0}"/>
              </a:ext>
            </a:extLst>
          </p:cNvPr>
          <p:cNvSpPr/>
          <p:nvPr/>
        </p:nvSpPr>
        <p:spPr>
          <a:xfrm>
            <a:off x="3170583" y="2633871"/>
            <a:ext cx="2604052" cy="5367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B87406-78BB-8D2D-8974-D01E1E94F5A4}"/>
              </a:ext>
            </a:extLst>
          </p:cNvPr>
          <p:cNvSpPr/>
          <p:nvPr/>
        </p:nvSpPr>
        <p:spPr>
          <a:xfrm>
            <a:off x="3091070" y="4496010"/>
            <a:ext cx="3120887" cy="5367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52494-2D4F-19B1-63B5-EC62FC877B1F}"/>
              </a:ext>
            </a:extLst>
          </p:cNvPr>
          <p:cNvSpPr/>
          <p:nvPr/>
        </p:nvSpPr>
        <p:spPr>
          <a:xfrm>
            <a:off x="3269974" y="5734879"/>
            <a:ext cx="1580322" cy="7887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376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Sum of n terms of A.P.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2</m:t>
                        </m:r>
                      </m:den>
                    </m:f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{2a + (n - 1) d}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2</m:t>
                        </m:r>
                      </m:den>
                    </m:f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{a + l}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2</m:t>
                        </m:r>
                      </m:den>
                    </m:f>
                  </m:oMath>
                </a14:m>
                <a:r>
                  <a:rPr lang="en-US" sz="2600" dirty="0"/>
                  <a:t> [2l - (n - 1) d] </a:t>
                </a:r>
              </a:p>
              <a:p>
                <a:pPr lvl="2">
                  <a:lnSpc>
                    <a:spcPct val="150000"/>
                  </a:lnSpc>
                </a:pP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58C1219-CAD7-AF36-2C4D-32B3633CF7FC}"/>
              </a:ext>
            </a:extLst>
          </p:cNvPr>
          <p:cNvSpPr/>
          <p:nvPr/>
        </p:nvSpPr>
        <p:spPr>
          <a:xfrm>
            <a:off x="1053547" y="2126973"/>
            <a:ext cx="3200399" cy="7354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20A34C-7092-E52A-BA83-FA327170E229}"/>
              </a:ext>
            </a:extLst>
          </p:cNvPr>
          <p:cNvSpPr/>
          <p:nvPr/>
        </p:nvSpPr>
        <p:spPr>
          <a:xfrm>
            <a:off x="1053546" y="3061251"/>
            <a:ext cx="3200399" cy="7354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37D86-DFC2-C244-4A0A-FA4659D106B2}"/>
              </a:ext>
            </a:extLst>
          </p:cNvPr>
          <p:cNvSpPr/>
          <p:nvPr/>
        </p:nvSpPr>
        <p:spPr>
          <a:xfrm>
            <a:off x="1053545" y="4043775"/>
            <a:ext cx="3200399" cy="7354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489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Sum of n terms of G.P.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lr</m:t>
                        </m:r>
                        <m:r>
                          <m:rPr>
                            <m:nor/>
                          </m:rPr>
                          <a:rPr lang="en-US" sz="2600" dirty="0"/>
                          <m:t> − </m:t>
                        </m:r>
                        <m:r>
                          <m:rPr>
                            <m:nor/>
                          </m:rPr>
                          <a:rPr lang="en-US" sz="2600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r</m:t>
                        </m:r>
                        <m:r>
                          <m:rPr>
                            <m:nor/>
                          </m:rPr>
                          <a:rPr lang="en-US" sz="2600" dirty="0"/>
                          <m:t> − </m:t>
                        </m:r>
                        <m:r>
                          <m:rPr>
                            <m:nor/>
                          </m:rPr>
                          <a:rPr lang="en-US" sz="2600" dirty="0"/>
                          <m:t>a</m:t>
                        </m:r>
                      </m:den>
                    </m:f>
                  </m:oMath>
                </a14:m>
                <a:r>
                  <a:rPr lang="en-US" sz="2600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a</m:t>
                        </m:r>
                        <m:r>
                          <m:rPr>
                            <m:nor/>
                          </m:rPr>
                          <a:rPr lang="en-US" sz="2600" dirty="0"/>
                          <m:t>(</m:t>
                        </m:r>
                        <m:sSup>
                          <m:sSupPr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6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600" dirty="0"/>
                              <m:t>n</m:t>
                            </m:r>
                          </m:sup>
                        </m:s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600" dirty="0"/>
                          <m:t>− 1)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(</m:t>
                        </m:r>
                        <m:r>
                          <m:rPr>
                            <m:nor/>
                          </m:rPr>
                          <a:rPr lang="en-US" sz="2600" dirty="0"/>
                          <m:t>r</m:t>
                        </m:r>
                        <m:r>
                          <m:rPr>
                            <m:nor/>
                          </m:rPr>
                          <a:rPr lang="en-US" sz="2600" dirty="0"/>
                          <m:t> − 1)</m:t>
                        </m:r>
                      </m:den>
                    </m:f>
                  </m:oMath>
                </a14:m>
                <a:r>
                  <a:rPr lang="en-US" sz="2600" dirty="0"/>
                  <a:t> when r &gt; 1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a</m:t>
                        </m:r>
                        <m:r>
                          <m:rPr>
                            <m:nor/>
                          </m:rPr>
                          <a:rPr lang="en-US" sz="2600" dirty="0"/>
                          <m:t>(1 −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6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600" dirty="0"/>
                              <m:t>n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600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(1 − </m:t>
                        </m:r>
                        <m:r>
                          <m:rPr>
                            <m:nor/>
                          </m:rPr>
                          <a:rPr lang="en-US" sz="2600" dirty="0"/>
                          <m:t>r</m:t>
                        </m:r>
                        <m:r>
                          <m:rPr>
                            <m:nor/>
                          </m:rPr>
                          <a:rPr lang="en-US" sz="2600" dirty="0"/>
                          <m:t>)</m:t>
                        </m:r>
                      </m:den>
                    </m:f>
                  </m:oMath>
                </a14:m>
                <a:r>
                  <a:rPr lang="en-US" sz="2600" dirty="0"/>
                  <a:t> when r &lt; 1 </a:t>
                </a:r>
              </a:p>
              <a:p>
                <a:r>
                  <a:rPr lang="en-US" sz="2600" dirty="0"/>
                  <a:t>Sum of infinite terms of G.P.</a:t>
                </a:r>
              </a:p>
              <a:p>
                <a:pPr lvl="2"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(1 − </m:t>
                        </m:r>
                        <m:r>
                          <m:rPr>
                            <m:nor/>
                          </m:rPr>
                          <a:rPr lang="en-US" sz="2600" dirty="0"/>
                          <m:t>r</m:t>
                        </m:r>
                        <m:r>
                          <m:rPr>
                            <m:nor/>
                          </m:rPr>
                          <a:rPr lang="en-US" sz="2600" dirty="0"/>
                          <m:t>)</m:t>
                        </m:r>
                      </m:den>
                    </m:f>
                  </m:oMath>
                </a14:m>
                <a:r>
                  <a:rPr lang="en-US" sz="2600" dirty="0"/>
                  <a:t> when | r | &lt; 1 i.e., - 1 &lt; r &lt; 1</a:t>
                </a:r>
              </a:p>
              <a:p>
                <a:pPr lvl="2">
                  <a:lnSpc>
                    <a:spcPct val="150000"/>
                  </a:lnSpc>
                </a:pP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7D7403F-AA1B-0920-5893-02ACE7E0BA47}"/>
              </a:ext>
            </a:extLst>
          </p:cNvPr>
          <p:cNvSpPr/>
          <p:nvPr/>
        </p:nvSpPr>
        <p:spPr>
          <a:xfrm>
            <a:off x="1073424" y="2057399"/>
            <a:ext cx="3279915" cy="7354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E5320D-E6A9-57B5-ED45-1400B1A64819}"/>
              </a:ext>
            </a:extLst>
          </p:cNvPr>
          <p:cNvSpPr/>
          <p:nvPr/>
        </p:nvSpPr>
        <p:spPr>
          <a:xfrm>
            <a:off x="1073424" y="3011556"/>
            <a:ext cx="3279915" cy="7354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DB1205-A77F-D793-4165-41EA81F8C064}"/>
              </a:ext>
            </a:extLst>
          </p:cNvPr>
          <p:cNvSpPr/>
          <p:nvPr/>
        </p:nvSpPr>
        <p:spPr>
          <a:xfrm>
            <a:off x="1073424" y="4025349"/>
            <a:ext cx="3279915" cy="7354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DD82DA-7D11-BD6C-61CF-620178AFD7C3}"/>
              </a:ext>
            </a:extLst>
          </p:cNvPr>
          <p:cNvSpPr/>
          <p:nvPr/>
        </p:nvSpPr>
        <p:spPr>
          <a:xfrm>
            <a:off x="1543876" y="5692221"/>
            <a:ext cx="5085525" cy="7354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032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Problems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Arithmetic Progression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Geometric Progression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4867</TotalTime>
  <Words>1915</Words>
  <Application>Microsoft Office PowerPoint</Application>
  <PresentationFormat>On-screen Show (4:3)</PresentationFormat>
  <Paragraphs>194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Problem 1</vt:lpstr>
      <vt:lpstr>Problem 2</vt:lpstr>
      <vt:lpstr>Problem 3</vt:lpstr>
      <vt:lpstr>Problem 4</vt:lpstr>
      <vt:lpstr>Problem 5</vt:lpstr>
      <vt:lpstr>Problem 6</vt:lpstr>
      <vt:lpstr>Problem 7</vt:lpstr>
      <vt:lpstr>Problem 7</vt:lpstr>
      <vt:lpstr>Problem 8</vt:lpstr>
      <vt:lpstr>Problem 9</vt:lpstr>
      <vt:lpstr>Problem 10</vt:lpstr>
      <vt:lpstr>Problem 11</vt:lpstr>
      <vt:lpstr>Problem 12</vt:lpstr>
      <vt:lpstr>Problem 13</vt:lpstr>
      <vt:lpstr>Problem 14</vt:lpstr>
      <vt:lpstr>Problem 15</vt:lpstr>
      <vt:lpstr>Problem 15</vt:lpstr>
      <vt:lpstr>Problem 16</vt:lpstr>
      <vt:lpstr>Problem 16</vt:lpstr>
      <vt:lpstr>Problem 17</vt:lpstr>
      <vt:lpstr>Problem 17</vt:lpstr>
      <vt:lpstr>Conclusion</vt:lpstr>
      <vt:lpstr>Conclusion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368</cp:revision>
  <dcterms:created xsi:type="dcterms:W3CDTF">2020-12-18T18:59:12Z</dcterms:created>
  <dcterms:modified xsi:type="dcterms:W3CDTF">2022-05-12T09:58:32Z</dcterms:modified>
</cp:coreProperties>
</file>