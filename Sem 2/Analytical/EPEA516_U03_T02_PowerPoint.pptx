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8" r:id="rId2"/>
    <p:sldId id="279" r:id="rId3"/>
    <p:sldId id="624" r:id="rId4"/>
    <p:sldId id="606" r:id="rId5"/>
    <p:sldId id="608" r:id="rId6"/>
    <p:sldId id="581" r:id="rId7"/>
    <p:sldId id="655" r:id="rId8"/>
    <p:sldId id="657" r:id="rId9"/>
    <p:sldId id="658" r:id="rId10"/>
    <p:sldId id="660" r:id="rId11"/>
    <p:sldId id="659" r:id="rId12"/>
    <p:sldId id="634" r:id="rId13"/>
    <p:sldId id="662" r:id="rId14"/>
    <p:sldId id="661" r:id="rId15"/>
    <p:sldId id="667" r:id="rId16"/>
    <p:sldId id="663" r:id="rId17"/>
    <p:sldId id="664" r:id="rId18"/>
    <p:sldId id="644" r:id="rId19"/>
    <p:sldId id="665" r:id="rId20"/>
    <p:sldId id="668" r:id="rId21"/>
    <p:sldId id="648" r:id="rId22"/>
    <p:sldId id="651" r:id="rId23"/>
    <p:sldId id="652" r:id="rId24"/>
    <p:sldId id="653" r:id="rId25"/>
    <p:sldId id="654" r:id="rId26"/>
    <p:sldId id="649" r:id="rId27"/>
    <p:sldId id="650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various problems relating to </a:t>
            </a:r>
            <a:r>
              <a:rPr lang="en-IN" dirty="0"/>
              <a:t>speed, distance, time, and average speed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Calculate the speed of a bus which covers a distance of 120 Km in 5 hours.</a:t>
                </a:r>
              </a:p>
              <a:p>
                <a:pPr algn="just"/>
                <a:r>
                  <a:rPr lang="en-US" dirty="0"/>
                  <a:t>D = 120 Km</a:t>
                </a:r>
              </a:p>
              <a:p>
                <a:pPr algn="just"/>
                <a:r>
                  <a:rPr lang="en-US" dirty="0"/>
                  <a:t>T = 5 hours</a:t>
                </a:r>
              </a:p>
              <a:p>
                <a:pPr algn="just"/>
                <a:r>
                  <a:rPr lang="en-US" dirty="0"/>
                  <a:t>S = ?</a:t>
                </a:r>
              </a:p>
              <a:p>
                <a:pPr marL="0" indent="0" algn="just">
                  <a:buNone/>
                </a:pPr>
                <a:r>
                  <a:rPr lang="en-IN" dirty="0"/>
                  <a:t>			S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T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IN" dirty="0"/>
                  <a:t>			S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120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IN" dirty="0"/>
                  <a:t>			S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2</m:t>
                    </m:r>
                    <m:r>
                      <m:rPr>
                        <m:nor/>
                      </m:rPr>
                      <a:rPr lang="en-US" b="0" i="0" dirty="0" smtClean="0"/>
                      <m:t>4 </m:t>
                    </m:r>
                    <m:r>
                      <m:rPr>
                        <m:nor/>
                      </m:rPr>
                      <a:rPr lang="en-US" b="0" i="0" dirty="0" smtClean="0"/>
                      <m:t>Km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b="0" i="0" dirty="0" smtClean="0"/>
                      <m:t>h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21851E2-5614-3FD7-8503-1E2C4954F926}"/>
              </a:ext>
            </a:extLst>
          </p:cNvPr>
          <p:cNvCxnSpPr/>
          <p:nvPr/>
        </p:nvCxnSpPr>
        <p:spPr>
          <a:xfrm flipV="1">
            <a:off x="3749124" y="5350635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4DC5EF-D082-61DD-0DA1-6D63C72AB839}"/>
              </a:ext>
            </a:extLst>
          </p:cNvPr>
          <p:cNvCxnSpPr/>
          <p:nvPr/>
        </p:nvCxnSpPr>
        <p:spPr>
          <a:xfrm flipV="1">
            <a:off x="3749124" y="5679419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5238397-BDE8-0058-AE47-70516EFC30CB}"/>
              </a:ext>
            </a:extLst>
          </p:cNvPr>
          <p:cNvSpPr txBox="1"/>
          <p:nvPr/>
        </p:nvSpPr>
        <p:spPr>
          <a:xfrm>
            <a:off x="3838579" y="4962632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52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In how much time a bike, running at the rate of 36 Km/h, crosses a 150 m long bridge?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= 150 m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sz="2400" dirty="0"/>
                  <a:t>S = 36 Km/h = 36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18</m:t>
                        </m:r>
                      </m:den>
                    </m:f>
                  </m:oMath>
                </a14:m>
                <a:r>
                  <a:rPr lang="en-US" sz="2400" dirty="0"/>
                  <a:t>  m/s = 10 m/s</a:t>
                </a:r>
              </a:p>
              <a:p>
                <a:pPr algn="just"/>
                <a:r>
                  <a:rPr lang="en-US" sz="2400" dirty="0"/>
                  <a:t>T = ?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N" sz="2400" dirty="0"/>
                  <a:t>		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dirty="0"/>
                      <m:t>T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S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N" sz="2400" dirty="0"/>
                  <a:t>			T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10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IN" sz="2400" dirty="0"/>
                  <a:t>			T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15 </m:t>
                    </m:r>
                    <m:r>
                      <m:rPr>
                        <m:nor/>
                      </m:rPr>
                      <a:rPr lang="en-US" sz="2400" b="0" i="0" dirty="0" smtClean="0"/>
                      <m:t>seconds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9C8E6A-EA2A-5AC4-2840-17E4C03DB2C3}"/>
              </a:ext>
            </a:extLst>
          </p:cNvPr>
          <p:cNvCxnSpPr/>
          <p:nvPr/>
        </p:nvCxnSpPr>
        <p:spPr>
          <a:xfrm flipV="1">
            <a:off x="2549151" y="3452194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EE069E-C967-FA04-DD3B-DE165C3145E9}"/>
              </a:ext>
            </a:extLst>
          </p:cNvPr>
          <p:cNvCxnSpPr/>
          <p:nvPr/>
        </p:nvCxnSpPr>
        <p:spPr>
          <a:xfrm flipV="1">
            <a:off x="3130194" y="3641038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9EA1350-356B-9E8F-7152-61152AA3EA6E}"/>
              </a:ext>
            </a:extLst>
          </p:cNvPr>
          <p:cNvSpPr txBox="1"/>
          <p:nvPr/>
        </p:nvSpPr>
        <p:spPr>
          <a:xfrm>
            <a:off x="2644543" y="319757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7E1395-6384-410D-0B80-B0A51F0BCDEB}"/>
              </a:ext>
            </a:extLst>
          </p:cNvPr>
          <p:cNvSpPr txBox="1"/>
          <p:nvPr/>
        </p:nvSpPr>
        <p:spPr>
          <a:xfrm>
            <a:off x="4262300" y="5258253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1C5A334-99AE-AA46-B358-260AC3E0D111}"/>
              </a:ext>
            </a:extLst>
          </p:cNvPr>
          <p:cNvCxnSpPr/>
          <p:nvPr/>
        </p:nvCxnSpPr>
        <p:spPr>
          <a:xfrm flipV="1">
            <a:off x="3722043" y="5442919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CF711D-8C55-E1DB-506B-267BACCA6C9E}"/>
              </a:ext>
            </a:extLst>
          </p:cNvPr>
          <p:cNvCxnSpPr/>
          <p:nvPr/>
        </p:nvCxnSpPr>
        <p:spPr>
          <a:xfrm flipV="1">
            <a:off x="3722043" y="5775466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40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A car running at a speed of 72 Km/h passes a bridge in 15 seconds. Find the length of the bridge. </a:t>
                </a:r>
              </a:p>
              <a:p>
                <a:pPr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S</m:t>
                    </m:r>
                    <m:r>
                      <m:rPr>
                        <m:nor/>
                      </m:rPr>
                      <a:rPr lang="en-US" sz="2400" dirty="0"/>
                      <m:t> = 72 </m:t>
                    </m:r>
                    <m:r>
                      <m:rPr>
                        <m:nor/>
                      </m:rPr>
                      <a:rPr lang="en-US" sz="2400" dirty="0"/>
                      <m:t>Km</m:t>
                    </m:r>
                    <m:r>
                      <m:rPr>
                        <m:nor/>
                      </m:rPr>
                      <a:rPr lang="en-US" sz="2400" dirty="0"/>
                      <m:t>/</m:t>
                    </m:r>
                    <m:r>
                      <m:rPr>
                        <m:nor/>
                      </m:rPr>
                      <a:rPr lang="en-US" sz="2400" dirty="0"/>
                      <m:t>h</m:t>
                    </m:r>
                    <m:r>
                      <m:rPr>
                        <m:nor/>
                      </m:rPr>
                      <a:rPr lang="en-US" sz="2400" dirty="0"/>
                      <m:t> = 72 </m:t>
                    </m:r>
                    <m:r>
                      <m:rPr>
                        <m:nor/>
                      </m:rPr>
                      <a:rPr lang="en-US" sz="2400" dirty="0" smtClean="0"/>
                      <m:t>x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18</m:t>
                        </m:r>
                      </m:den>
                    </m:f>
                    <m:r>
                      <m:rPr>
                        <m:nor/>
                      </m:rPr>
                      <a:rPr lang="en-US" sz="2400" dirty="0"/>
                      <m:t>  </m:t>
                    </m:r>
                    <m:r>
                      <m:rPr>
                        <m:nor/>
                      </m:rPr>
                      <a:rPr lang="en-US" sz="2400" dirty="0"/>
                      <m:t>m</m:t>
                    </m:r>
                    <m:r>
                      <m:rPr>
                        <m:nor/>
                      </m:rPr>
                      <a:rPr lang="en-US" sz="2400" dirty="0"/>
                      <m:t>/</m:t>
                    </m:r>
                    <m:r>
                      <m:rPr>
                        <m:nor/>
                      </m:rPr>
                      <a:rPr lang="en-US" sz="2400" dirty="0"/>
                      <m:t>s</m:t>
                    </m:r>
                    <m:r>
                      <m:rPr>
                        <m:nor/>
                      </m:rPr>
                      <a:rPr lang="en-US" sz="2400" dirty="0"/>
                      <m:t> = 20 </m:t>
                    </m:r>
                    <m:r>
                      <m:rPr>
                        <m:nor/>
                      </m:rPr>
                      <a:rPr lang="en-US" sz="2400" dirty="0"/>
                      <m:t>m</m:t>
                    </m:r>
                    <m:r>
                      <m:rPr>
                        <m:nor/>
                      </m:rPr>
                      <a:rPr lang="en-US" sz="2400" dirty="0"/>
                      <m:t>/</m:t>
                    </m:r>
                    <m:r>
                      <m:rPr>
                        <m:nor/>
                      </m:rPr>
                      <a:rPr lang="en-US" sz="2400" dirty="0"/>
                      <m:t>s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T</m:t>
                    </m:r>
                    <m:r>
                      <m:rPr>
                        <m:nor/>
                      </m:rPr>
                      <a:rPr lang="en-US" sz="2400" dirty="0"/>
                      <m:t> = 15 </m:t>
                    </m:r>
                    <m:r>
                      <m:rPr>
                        <m:nor/>
                      </m:rPr>
                      <a:rPr lang="en-US" sz="2400" b="0" i="0" dirty="0" smtClean="0"/>
                      <m:t>seconds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D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400" dirty="0"/>
                      <m:t> =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?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IN" sz="2400" dirty="0"/>
                  <a:t>	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D</m:t>
                    </m:r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sz="2400" dirty="0"/>
                      <m:t>=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IN" sz="2400" dirty="0"/>
                      <m:t>S</m:t>
                    </m:r>
                  </m:oMath>
                </a14:m>
                <a:r>
                  <a:rPr lang="en-US" sz="2400" dirty="0"/>
                  <a:t>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T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</m:oMath>
                </a14:m>
                <a:endParaRPr lang="en-US" sz="24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400" dirty="0"/>
                        <m:t>			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D</m:t>
                      </m:r>
                      <m:r>
                        <m:rPr>
                          <m:nor/>
                        </m:rPr>
                        <a:rPr lang="en-IN" sz="2400" dirty="0"/>
                        <m:t> =</m:t>
                      </m:r>
                      <m:r>
                        <m:rPr>
                          <m:nor/>
                        </m:rPr>
                        <a:rPr lang="en-US" sz="2400" b="0" i="0" dirty="0" smtClean="0"/>
                        <m:t> 20</m:t>
                      </m:r>
                      <m:r>
                        <m:rPr>
                          <m:nor/>
                        </m:rPr>
                        <a:rPr lang="en-US" sz="2400" dirty="0"/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x</m:t>
                      </m:r>
                      <m:r>
                        <m:rPr>
                          <m:nor/>
                        </m:rPr>
                        <a:rPr lang="en-US" sz="2400" dirty="0"/>
                        <m:t> 15</m:t>
                      </m:r>
                    </m:oMath>
                  </m:oMathPara>
                </a14:m>
                <a:endParaRPr lang="en-US" sz="2400" dirty="0"/>
              </a:p>
              <a:p>
                <a:pPr marL="0" indent="0" algn="just">
                  <a:buNone/>
                </a:pPr>
                <a:r>
                  <a:rPr lang="en-IN" sz="2400" dirty="0"/>
                  <a:t>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dirty="0"/>
                      <m:t>			</m:t>
                    </m:r>
                    <m:r>
                      <m:rPr>
                        <m:nor/>
                      </m:rPr>
                      <a:rPr lang="en-US" sz="2400" b="0" i="0" dirty="0" smtClean="0"/>
                      <m:t>D</m:t>
                    </m:r>
                    <m:r>
                      <m:rPr>
                        <m:nor/>
                      </m:rPr>
                      <a:rPr lang="en-IN" sz="2400" dirty="0"/>
                      <m:t> = </m:t>
                    </m:r>
                    <m:r>
                      <m:rPr>
                        <m:nor/>
                      </m:rPr>
                      <a:rPr lang="en-US" sz="2400" b="0" i="0" dirty="0" smtClean="0"/>
                      <m:t>300 </m:t>
                    </m:r>
                    <m:r>
                      <m:rPr>
                        <m:nor/>
                      </m:rPr>
                      <a:rPr lang="en-US" sz="2400" b="0" i="0" dirty="0" smtClean="0"/>
                      <m:t>m</m:t>
                    </m:r>
                  </m:oMath>
                </a14:m>
                <a:r>
                  <a:rPr lang="en-US" sz="2400" dirty="0"/>
                  <a:t> = 0.3 Km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4C26C0-317F-DF2D-913A-F4A8486A16E0}"/>
              </a:ext>
            </a:extLst>
          </p:cNvPr>
          <p:cNvCxnSpPr/>
          <p:nvPr/>
        </p:nvCxnSpPr>
        <p:spPr>
          <a:xfrm flipV="1">
            <a:off x="2618725" y="2776333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FDE6E5-2DD5-178A-63FA-543A6E661E9C}"/>
              </a:ext>
            </a:extLst>
          </p:cNvPr>
          <p:cNvCxnSpPr/>
          <p:nvPr/>
        </p:nvCxnSpPr>
        <p:spPr>
          <a:xfrm flipV="1">
            <a:off x="3199768" y="2965177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BF0B60-A977-FF2F-DECE-70E4BFD01AAD}"/>
              </a:ext>
            </a:extLst>
          </p:cNvPr>
          <p:cNvSpPr txBox="1"/>
          <p:nvPr/>
        </p:nvSpPr>
        <p:spPr>
          <a:xfrm>
            <a:off x="2714117" y="229311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88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A truck runs to a city at the speed of 20 Km/h, and back at the speed of 25 Km/h. What is the average speed of the truck for the whole journey?</a:t>
                </a:r>
              </a:p>
              <a:p>
                <a:pPr algn="just"/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20 Km/h and b = 25 Km/h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20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20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25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20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  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IN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9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 </a:t>
                </a:r>
                <a:r>
                  <a:rPr lang="en-US" dirty="0"/>
                  <a:t>or 22.22 </a:t>
                </a:r>
                <a:r>
                  <a:rPr lang="en-IN" dirty="0"/>
                  <a:t>Km/h </a:t>
                </a:r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9551F3-230A-0A66-E28F-FFB053398AE3}"/>
              </a:ext>
            </a:extLst>
          </p:cNvPr>
          <p:cNvCxnSpPr/>
          <p:nvPr/>
        </p:nvCxnSpPr>
        <p:spPr>
          <a:xfrm flipV="1">
            <a:off x="5346047" y="5235207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EEDED-BF8C-76E7-FF38-9229C709AAFA}"/>
              </a:ext>
            </a:extLst>
          </p:cNvPr>
          <p:cNvCxnSpPr/>
          <p:nvPr/>
        </p:nvCxnSpPr>
        <p:spPr>
          <a:xfrm flipV="1">
            <a:off x="4780091" y="5607324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435A27-611A-CF76-C565-D100F197424A}"/>
              </a:ext>
            </a:extLst>
          </p:cNvPr>
          <p:cNvSpPr txBox="1"/>
          <p:nvPr/>
        </p:nvSpPr>
        <p:spPr>
          <a:xfrm>
            <a:off x="5851737" y="4972494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FBACB-A6B9-F4F4-7E07-0ED7B4E36028}"/>
              </a:ext>
            </a:extLst>
          </p:cNvPr>
          <p:cNvSpPr txBox="1"/>
          <p:nvPr/>
        </p:nvSpPr>
        <p:spPr>
          <a:xfrm>
            <a:off x="5234159" y="545127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36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A bus covers a distance of 30 Km at 20 Km/h, and 50 Km at 25 Km/h. What is the average speed of the bus for the whole journey?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x = 30 Km, y = 50 Km, a = 20 Km/h and b = 25 Km/h</a:t>
                </a: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25 (30 + 50)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20 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50 + 25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30)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Average Speed 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25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80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17</m:t>
                        </m:r>
                        <m:r>
                          <m:rPr>
                            <m:nor/>
                          </m:rPr>
                          <a:rPr lang="en-US" dirty="0" smtClean="0"/>
                          <m:t>5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   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IN" dirty="0"/>
                  <a:t>			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7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 </a:t>
                </a:r>
                <a:r>
                  <a:rPr lang="en-US" dirty="0"/>
                  <a:t>or 22.86 </a:t>
                </a:r>
                <a:r>
                  <a:rPr lang="en-IN" dirty="0"/>
                  <a:t>Km/h </a:t>
                </a:r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9551F3-230A-0A66-E28F-FFB053398AE3}"/>
              </a:ext>
            </a:extLst>
          </p:cNvPr>
          <p:cNvCxnSpPr>
            <a:cxnSpLocks/>
          </p:cNvCxnSpPr>
          <p:nvPr/>
        </p:nvCxnSpPr>
        <p:spPr>
          <a:xfrm flipV="1">
            <a:off x="4802670" y="5110971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EEDED-BF8C-76E7-FF38-9229C709AAFA}"/>
              </a:ext>
            </a:extLst>
          </p:cNvPr>
          <p:cNvCxnSpPr>
            <a:cxnSpLocks/>
          </p:cNvCxnSpPr>
          <p:nvPr/>
        </p:nvCxnSpPr>
        <p:spPr>
          <a:xfrm flipV="1">
            <a:off x="4802670" y="5473335"/>
            <a:ext cx="652707" cy="1552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435A27-611A-CF76-C565-D100F197424A}"/>
              </a:ext>
            </a:extLst>
          </p:cNvPr>
          <p:cNvSpPr txBox="1"/>
          <p:nvPr/>
        </p:nvSpPr>
        <p:spPr>
          <a:xfrm>
            <a:off x="5523746" y="5396125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70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FBACB-A6B9-F4F4-7E07-0ED7B4E36028}"/>
              </a:ext>
            </a:extLst>
          </p:cNvPr>
          <p:cNvSpPr txBox="1"/>
          <p:nvPr/>
        </p:nvSpPr>
        <p:spPr>
          <a:xfrm>
            <a:off x="6096941" y="500315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32D7E2-4592-8C11-ABC4-ED7DD8672765}"/>
              </a:ext>
            </a:extLst>
          </p:cNvPr>
          <p:cNvCxnSpPr>
            <a:cxnSpLocks/>
          </p:cNvCxnSpPr>
          <p:nvPr/>
        </p:nvCxnSpPr>
        <p:spPr>
          <a:xfrm flipV="1">
            <a:off x="5503868" y="5088427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8179CC9-FEE5-AAB1-B3AF-74C61C33298C}"/>
              </a:ext>
            </a:extLst>
          </p:cNvPr>
          <p:cNvSpPr txBox="1"/>
          <p:nvPr/>
        </p:nvSpPr>
        <p:spPr>
          <a:xfrm>
            <a:off x="5980283" y="539008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AFC6B97-C6BB-005E-E5CB-ECC0260072DA}"/>
              </a:ext>
            </a:extLst>
          </p:cNvPr>
          <p:cNvCxnSpPr>
            <a:cxnSpLocks/>
          </p:cNvCxnSpPr>
          <p:nvPr/>
        </p:nvCxnSpPr>
        <p:spPr>
          <a:xfrm flipV="1">
            <a:off x="5461038" y="5492081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364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bus goes to school at the speed of 15 Km/h and returns with a speed of 10 Km/h. If it takes 2 hours in all, find out the distance in Km.</a:t>
                </a:r>
                <a:endParaRPr lang="en-IN" dirty="0"/>
              </a:p>
              <a:p>
                <a:r>
                  <a:rPr lang="en-US" dirty="0"/>
                  <a:t>Distance = x</a:t>
                </a:r>
              </a:p>
              <a:p>
                <a:pPr marL="0" indent="0">
                  <a:buNone/>
                </a:pPr>
                <a:r>
                  <a:rPr lang="en-US" dirty="0"/>
                  <a:t>		= Total time taken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Product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Two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Speeds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Sum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Two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Speeds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      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hours 		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15 Km/h, b = 10 Km/h, and T = 2 hours </a:t>
                </a: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660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Distance, 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hours 	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15 Km/h, b = 10 Km/h, and T = 2 hours </a:t>
                </a:r>
                <a:endParaRPr lang="en-IN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	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(15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15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IN" dirty="0"/>
                  <a:t>			</a:t>
                </a:r>
                <a:r>
                  <a:rPr lang="en-US" dirty="0"/>
                  <a:t>x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(150)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25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/>
                  <a:t>			x = 12 Km</a:t>
                </a: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9551F3-230A-0A66-E28F-FFB053398AE3}"/>
              </a:ext>
            </a:extLst>
          </p:cNvPr>
          <p:cNvCxnSpPr>
            <a:cxnSpLocks/>
          </p:cNvCxnSpPr>
          <p:nvPr/>
        </p:nvCxnSpPr>
        <p:spPr>
          <a:xfrm flipV="1">
            <a:off x="4275463" y="4465922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EEDED-BF8C-76E7-FF38-9229C709AAFA}"/>
              </a:ext>
            </a:extLst>
          </p:cNvPr>
          <p:cNvCxnSpPr>
            <a:cxnSpLocks/>
          </p:cNvCxnSpPr>
          <p:nvPr/>
        </p:nvCxnSpPr>
        <p:spPr>
          <a:xfrm flipV="1">
            <a:off x="4000255" y="4874377"/>
            <a:ext cx="652707" cy="1552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9E7748-94A9-E7D9-0F4D-023076375DD9}"/>
              </a:ext>
            </a:extLst>
          </p:cNvPr>
          <p:cNvSpPr txBox="1"/>
          <p:nvPr/>
        </p:nvSpPr>
        <p:spPr>
          <a:xfrm>
            <a:off x="4326608" y="411164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83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Ananditta starts her journey from city A to B and simultaneously </a:t>
                </a:r>
                <a:r>
                  <a:rPr lang="en-US" dirty="0" err="1"/>
                  <a:t>Dhruvika</a:t>
                </a:r>
                <a:r>
                  <a:rPr lang="en-US" dirty="0"/>
                  <a:t> starts from city B to A. After crossing each other, they finish their remaining journey in 16 hours and 25 hours respectively. What is </a:t>
                </a:r>
                <a:r>
                  <a:rPr lang="en-US" dirty="0" err="1"/>
                  <a:t>Dhruvika’s</a:t>
                </a:r>
                <a:r>
                  <a:rPr lang="en-US" dirty="0"/>
                  <a:t> speed if </a:t>
                </a:r>
                <a:r>
                  <a:rPr lang="en-US" dirty="0" err="1"/>
                  <a:t>Ananditta’s</a:t>
                </a:r>
                <a:r>
                  <a:rPr lang="en-US" dirty="0"/>
                  <a:t> speed is 50 Km/h?</a:t>
                </a:r>
                <a:endParaRPr lang="en-IN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IN"/>
                          <m:t>A</m:t>
                        </m:r>
                        <m:r>
                          <m:rPr>
                            <m:nor/>
                          </m:rPr>
                          <a:rPr lang="en-US" b="0" i="0" smtClean="0"/>
                          <m:t>nanditta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smtClean="0"/>
                          <m:t>Dhruvika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50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16 hours,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25 hours, and b = ?</a:t>
                </a: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algn="just">
                  <a:lnSpc>
                    <a:spcPct val="120000"/>
                  </a:lnSpc>
                </a:pPr>
                <a:endParaRPr lang="en-IN" dirty="0"/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65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IN"/>
                          <m:t>A</m:t>
                        </m:r>
                        <m:r>
                          <m:rPr>
                            <m:nor/>
                          </m:rPr>
                          <a:rPr lang="en-US"/>
                          <m:t>nanditta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e</m:t>
                        </m:r>
                        <m:r>
                          <m:rPr>
                            <m:nor/>
                          </m:rPr>
                          <a:rPr lang="en-US" dirty="0"/>
                          <m:t>.,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/>
                          <m:t>Dhruvika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a = 50 Km/h,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16 hours,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25 hours, and b = ?</a:t>
                </a:r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25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en-US" b="0" i="0" dirty="0" smtClean="0"/>
                              <m:t>16</m:t>
                            </m:r>
                          </m:e>
                        </m:rad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  =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/>
                      <m:t>b</m:t>
                    </m:r>
                  </m:oMath>
                </a14:m>
                <a:r>
                  <a:rPr lang="en-US" dirty="0"/>
                  <a:t>    = 5 x 4 = 20Km/h</a:t>
                </a: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Speed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/>
                      <m:t>Dhruvika</m:t>
                    </m:r>
                  </m:oMath>
                </a14:m>
                <a:r>
                  <a:rPr lang="en-US" dirty="0"/>
                  <a:t> = 20Km/h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9551F3-230A-0A66-E28F-FFB053398AE3}"/>
              </a:ext>
            </a:extLst>
          </p:cNvPr>
          <p:cNvCxnSpPr>
            <a:cxnSpLocks/>
          </p:cNvCxnSpPr>
          <p:nvPr/>
        </p:nvCxnSpPr>
        <p:spPr>
          <a:xfrm flipV="1">
            <a:off x="3112584" y="4459530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B7EEDED-BF8C-76E7-FF38-9229C709AAFA}"/>
              </a:ext>
            </a:extLst>
          </p:cNvPr>
          <p:cNvCxnSpPr>
            <a:cxnSpLocks/>
          </p:cNvCxnSpPr>
          <p:nvPr/>
        </p:nvCxnSpPr>
        <p:spPr>
          <a:xfrm flipV="1">
            <a:off x="4100268" y="4490404"/>
            <a:ext cx="652707" cy="1552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C9E7748-94A9-E7D9-0F4D-023076375DD9}"/>
              </a:ext>
            </a:extLst>
          </p:cNvPr>
          <p:cNvSpPr txBox="1"/>
          <p:nvPr/>
        </p:nvSpPr>
        <p:spPr>
          <a:xfrm>
            <a:off x="2762032" y="427486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3332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A car, during its journey, travels 20 minutes at a speed of 15 m/s, another 25 minutes at a speed of 30 m/s and 30 minutes at a speed of 15 m/s. Find out average speed of the car.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...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+...+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/>
                      <m:t>= 15 </m:t>
                    </m:r>
                    <m:r>
                      <m:rPr>
                        <m:nor/>
                      </m:rPr>
                      <a:rPr lang="en-US" b="0" i="0" dirty="0" smtClean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b="0" i="0" dirty="0" smtClean="0"/>
                      <m:t>s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= 30 </m:t>
                    </m:r>
                    <m:r>
                      <m:rPr>
                        <m:nor/>
                      </m:rPr>
                      <a:rPr lang="en-US" b="0" i="0" dirty="0" smtClean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b="0" i="0" dirty="0" smtClean="0"/>
                      <m:t>s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0" i="0" dirty="0" smtClean="0"/>
                      <m:t>15</m:t>
                    </m:r>
                    <m:r>
                      <m:rPr>
                        <m:nor/>
                      </m:rPr>
                      <a:rPr lang="en-US" b="0" i="0" dirty="0" smtClean="0"/>
                      <m:t>m</m:t>
                    </m:r>
                    <m:r>
                      <m:rPr>
                        <m:nor/>
                      </m:rPr>
                      <a:rPr lang="en-US" b="0" i="0" dirty="0" smtClean="0"/>
                      <m:t>/</m:t>
                    </m:r>
                    <m:r>
                      <m:rPr>
                        <m:nor/>
                      </m:rPr>
                      <a:rPr lang="en-US" b="0" i="0" dirty="0" smtClean="0"/>
                      <m:t>s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/>
                      <m:t>= 20 </m:t>
                    </m:r>
                    <m:r>
                      <m:rPr>
                        <m:nor/>
                      </m:rPr>
                      <a:rPr lang="en-US" b="0" i="0" dirty="0" smtClean="0"/>
                      <m:t>min</m:t>
                    </m:r>
                    <m:r>
                      <m:rPr>
                        <m:nor/>
                      </m:rPr>
                      <a:rPr lang="en-US" b="0" i="0" dirty="0" smtClean="0"/>
                      <m:t>. = 1200 </m:t>
                    </m:r>
                    <m:r>
                      <m:rPr>
                        <m:nor/>
                      </m:rPr>
                      <a:rPr lang="en-US" b="0" i="0" dirty="0" smtClean="0"/>
                      <m:t>s</m:t>
                    </m:r>
                    <m:r>
                      <m:rPr>
                        <m:nor/>
                      </m:rPr>
                      <a:rPr lang="en-US" b="0" i="0" dirty="0" smtClean="0"/>
                      <m:t>,</m:t>
                    </m:r>
                  </m:oMath>
                </a14:m>
                <a:endParaRPr lang="en-US" b="0" i="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b="0" i="0" dirty="0" smtClean="0"/>
                      <m:t>= 25 </m:t>
                    </m:r>
                    <m:r>
                      <m:rPr>
                        <m:nor/>
                      </m:rPr>
                      <a:rPr lang="en-US" b="0" i="0" dirty="0" smtClean="0"/>
                      <m:t>min</m:t>
                    </m:r>
                    <m:r>
                      <m:rPr>
                        <m:nor/>
                      </m:rPr>
                      <a:rPr lang="en-US" b="0" i="0" dirty="0" smtClean="0"/>
                      <m:t>. = 1500 </m:t>
                    </m:r>
                    <m:r>
                      <m:rPr>
                        <m:nor/>
                      </m:rPr>
                      <a:rPr lang="en-US" b="0" i="0" dirty="0" smtClean="0"/>
                      <m:t>s</m:t>
                    </m:r>
                    <m:r>
                      <m:rPr>
                        <m:nor/>
                      </m:rPr>
                      <a:rPr lang="en-US" b="0" i="0" dirty="0" smtClean="0"/>
                      <m:t>, </m:t>
                    </m:r>
                    <m:r>
                      <m:rPr>
                        <m:nor/>
                      </m:rPr>
                      <a:rPr lang="en-US" b="0" i="0" dirty="0" smtClean="0"/>
                      <m:t>and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30 min. = 1800s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a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92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1200 + 30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1500 + 15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1800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1200 + 1500 + 1800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1800</m:t>
                        </m:r>
                        <m:r>
                          <m:rPr>
                            <m:nor/>
                          </m:rPr>
                          <a:rPr lang="en-US" dirty="0"/>
                          <m:t>0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000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27000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3500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90000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3500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25.71 m/s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6935B-C6E4-AEA7-94C2-5CD1462B0884}"/>
              </a:ext>
            </a:extLst>
          </p:cNvPr>
          <p:cNvCxnSpPr>
            <a:cxnSpLocks/>
          </p:cNvCxnSpPr>
          <p:nvPr/>
        </p:nvCxnSpPr>
        <p:spPr>
          <a:xfrm flipV="1">
            <a:off x="3215573" y="3937344"/>
            <a:ext cx="952042" cy="9545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53D077-8E89-A174-FF93-7BF6CC0EA578}"/>
              </a:ext>
            </a:extLst>
          </p:cNvPr>
          <p:cNvCxnSpPr>
            <a:cxnSpLocks/>
          </p:cNvCxnSpPr>
          <p:nvPr/>
        </p:nvCxnSpPr>
        <p:spPr>
          <a:xfrm flipV="1">
            <a:off x="3359451" y="4304682"/>
            <a:ext cx="664286" cy="1047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01B3E2-D2CD-B8BC-9F08-88A6995A8884}"/>
              </a:ext>
            </a:extLst>
          </p:cNvPr>
          <p:cNvSpPr txBox="1"/>
          <p:nvPr/>
        </p:nvSpPr>
        <p:spPr>
          <a:xfrm>
            <a:off x="3389268" y="340712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25.71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068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car, during its journey, covers 30 Km in 2 hours, another 120 Km in 4 hours and 45 Km in 3 hours. Find out average speed of the car.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...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+...+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0" i="0" dirty="0" smtClean="0"/>
                      <m:t>30 </m:t>
                    </m:r>
                    <m:r>
                      <m:rPr>
                        <m:nor/>
                      </m:rPr>
                      <a:rPr lang="en-US" b="0" i="0" dirty="0" smtClean="0"/>
                      <m:t>Km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0" i="0" dirty="0" smtClean="0"/>
                      <m:t>120 </m:t>
                    </m:r>
                    <m:r>
                      <m:rPr>
                        <m:nor/>
                      </m:rPr>
                      <a:rPr lang="en-US" b="0" i="0" dirty="0" smtClean="0"/>
                      <m:t>Km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0" i="0" dirty="0" smtClean="0"/>
                      <m:t>4</m:t>
                    </m:r>
                    <m:r>
                      <m:rPr>
                        <m:nor/>
                      </m:rPr>
                      <a:rPr lang="en-US" dirty="0"/>
                      <m:t>5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Km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2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hours</m:t>
                    </m:r>
                    <m:r>
                      <m:rPr>
                        <m:nor/>
                      </m:rPr>
                      <a:rPr lang="en-US" dirty="0"/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= </m:t>
                    </m:r>
                    <m:r>
                      <m:rPr>
                        <m:nor/>
                      </m:rPr>
                      <a:rPr lang="en-US" b="0" i="0" dirty="0" smtClean="0"/>
                      <m:t>4 </m:t>
                    </m:r>
                    <m:r>
                      <m:rPr>
                        <m:nor/>
                      </m:rPr>
                      <a:rPr lang="en-US" b="0" i="0" dirty="0" smtClean="0"/>
                      <m:t>hours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3 hours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1782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x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dirty="0"/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30</m:t>
                        </m:r>
                        <m:r>
                          <m:rPr>
                            <m:nor/>
                          </m:rPr>
                          <a:rPr lang="en-US" dirty="0"/>
                          <m:t>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12</m:t>
                        </m:r>
                        <m:r>
                          <m:rPr>
                            <m:nor/>
                          </m:rPr>
                          <a:rPr lang="en-US" dirty="0"/>
                          <m:t>0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195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9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Average Speed = 21.67 Km/h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E6935B-C6E4-AEA7-94C2-5CD1462B0884}"/>
              </a:ext>
            </a:extLst>
          </p:cNvPr>
          <p:cNvCxnSpPr>
            <a:cxnSpLocks/>
          </p:cNvCxnSpPr>
          <p:nvPr/>
        </p:nvCxnSpPr>
        <p:spPr>
          <a:xfrm flipV="1">
            <a:off x="3161146" y="3886200"/>
            <a:ext cx="734992" cy="1095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453D077-8E89-A174-FF93-7BF6CC0EA578}"/>
              </a:ext>
            </a:extLst>
          </p:cNvPr>
          <p:cNvCxnSpPr>
            <a:cxnSpLocks/>
          </p:cNvCxnSpPr>
          <p:nvPr/>
        </p:nvCxnSpPr>
        <p:spPr>
          <a:xfrm flipV="1">
            <a:off x="3175817" y="4264925"/>
            <a:ext cx="664286" cy="1047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C01B3E2-D2CD-B8BC-9F08-88A6995A8884}"/>
              </a:ext>
            </a:extLst>
          </p:cNvPr>
          <p:cNvSpPr txBox="1"/>
          <p:nvPr/>
        </p:nvSpPr>
        <p:spPr>
          <a:xfrm>
            <a:off x="3389268" y="3407122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21.67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183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By walking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of his usual speed, Rohit is 9 minutes late to his office. Find out his usual time to cover the distance. </a:t>
                </a:r>
              </a:p>
              <a:p>
                <a:pPr algn="just"/>
                <a:r>
                  <a:rPr lang="en-US" dirty="0"/>
                  <a:t>Change in Time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− 1) × Original Time </a:t>
                </a:r>
              </a:p>
              <a:p>
                <a:pPr algn="just"/>
                <a:r>
                  <a:rPr lang="en-US" dirty="0"/>
                  <a:t>Original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Change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in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n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m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 − 1)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6</m:t>
                        </m:r>
                      </m:den>
                    </m:f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m</m:t>
                        </m:r>
                      </m:den>
                    </m:f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den>
                    </m:f>
                  </m:oMath>
                </a14:m>
                <a:r>
                  <a:rPr lang="en-US" dirty="0"/>
                  <a:t>, Change in Time = 9 min., Original Time = ? </a:t>
                </a:r>
              </a:p>
              <a:p>
                <a:pPr algn="just">
                  <a:lnSpc>
                    <a:spcPct val="120000"/>
                  </a:lnSpc>
                </a:pPr>
                <a:r>
                  <a:rPr lang="en-US" dirty="0"/>
                  <a:t>Original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6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dirty="0" smtClean="0"/>
                              <m:t>5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 − 1)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219C9D-CBED-4C34-8CC9-F97135E3C241}"/>
              </a:ext>
            </a:extLst>
          </p:cNvPr>
          <p:cNvCxnSpPr>
            <a:cxnSpLocks/>
          </p:cNvCxnSpPr>
          <p:nvPr/>
        </p:nvCxnSpPr>
        <p:spPr>
          <a:xfrm flipH="1">
            <a:off x="2295939" y="3150707"/>
            <a:ext cx="735496" cy="2782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CD923925-2FFE-6DF3-9E73-1C1B7D1FDD17}"/>
              </a:ext>
            </a:extLst>
          </p:cNvPr>
          <p:cNvSpPr/>
          <p:nvPr/>
        </p:nvSpPr>
        <p:spPr>
          <a:xfrm>
            <a:off x="3031435" y="2673629"/>
            <a:ext cx="934277" cy="87464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885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Original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6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5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 − 1)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Original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9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dirty="0"/>
                              <m:t>6− </m:t>
                            </m:r>
                            <m:r>
                              <m:rPr>
                                <m:nor/>
                              </m:rPr>
                              <a:rPr lang="en-US" b="0" i="0" dirty="0" smtClean="0"/>
                              <m:t>5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dirty="0"/>
                              <m:t>5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Original 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9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Original Time =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45 </m:t>
                    </m:r>
                  </m:oMath>
                </a14:m>
                <a:r>
                  <a:rPr lang="en-US" dirty="0"/>
                  <a:t>minutes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A1131B90-8C83-B1C8-EDAB-9B3EEC84A61C}"/>
              </a:ext>
            </a:extLst>
          </p:cNvPr>
          <p:cNvSpPr/>
          <p:nvPr/>
        </p:nvSpPr>
        <p:spPr>
          <a:xfrm rot="16028964" flipV="1">
            <a:off x="3350154" y="3630531"/>
            <a:ext cx="961376" cy="570137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9181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just"/>
                <a:r>
                  <a:rPr lang="en-US" dirty="0"/>
                  <a:t>Two motorcyclists do the same journey by travelling 18 Km and 20 Km/h. Find out the length of the journey when one takes 30 minutes longer than the other. </a:t>
                </a:r>
              </a:p>
              <a:p>
                <a:pPr algn="just">
                  <a:lnSpc>
                    <a:spcPct val="110000"/>
                  </a:lnSpc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Product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of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IN" dirty="0"/>
                          <m:t>peed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Speed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Difference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of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	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Difference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Time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</a:t>
                </a:r>
                <a:r>
                  <a:rPr lang="en-US" i="1" dirty="0"/>
                  <a:t> </a:t>
                </a:r>
                <a:r>
                  <a:rPr lang="en-US" dirty="0"/>
                  <a:t>30 minutes =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60</m:t>
                        </m:r>
                      </m:den>
                    </m:f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h 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Difference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of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Speed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(20 -18) = 2 Km/h </a:t>
                </a:r>
                <a:endParaRPr lang="en-US" dirty="0">
                  <a:solidFill>
                    <a:srgbClr val="836967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Product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IN" dirty="0"/>
                      <m:t>of</m:t>
                    </m:r>
                    <m:r>
                      <m:rPr>
                        <m:nor/>
                      </m:rPr>
                      <a:rPr lang="en-IN" dirty="0"/>
                      <m:t> 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  <m:r>
                      <m:rPr>
                        <m:nor/>
                      </m:rPr>
                      <a:rPr lang="en-IN" dirty="0"/>
                      <m:t>peed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r>
                  <a:rPr lang="en-US" dirty="0"/>
                  <a:t>= (20 x 18) = 360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Km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/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h</m:t>
                            </m:r>
                          </m:e>
                        </m:d>
                      </m:e>
                      <m:sup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836967"/>
                  </a:solidFill>
                </a:endParaRP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30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	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2084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30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</a:rPr>
                  <a:t>	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360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mtClean="0"/>
                          <m:t>x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30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x</m:t>
                    </m:r>
                  </m:oMath>
                </a14:m>
                <a:r>
                  <a:rPr lang="en-US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360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30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60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x = 90 Km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BDE7936-0EF0-5B75-F0AF-66651F7BE2B9}"/>
              </a:ext>
            </a:extLst>
          </p:cNvPr>
          <p:cNvCxnSpPr>
            <a:cxnSpLocks/>
          </p:cNvCxnSpPr>
          <p:nvPr/>
        </p:nvCxnSpPr>
        <p:spPr>
          <a:xfrm flipV="1">
            <a:off x="1263906" y="3879158"/>
            <a:ext cx="593073" cy="1861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8377514-0DCC-513F-D95D-07B87419AF0B}"/>
              </a:ext>
            </a:extLst>
          </p:cNvPr>
          <p:cNvCxnSpPr>
            <a:cxnSpLocks/>
          </p:cNvCxnSpPr>
          <p:nvPr/>
        </p:nvCxnSpPr>
        <p:spPr>
          <a:xfrm flipV="1">
            <a:off x="1856979" y="4280846"/>
            <a:ext cx="652707" cy="1552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D791CB4-1618-FC6F-43C5-14431F3D910B}"/>
              </a:ext>
            </a:extLst>
          </p:cNvPr>
          <p:cNvSpPr txBox="1"/>
          <p:nvPr/>
        </p:nvSpPr>
        <p:spPr>
          <a:xfrm>
            <a:off x="1263906" y="350982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B6FAD-64DD-04FA-2F23-5E851462761A}"/>
              </a:ext>
            </a:extLst>
          </p:cNvPr>
          <p:cNvSpPr txBox="1"/>
          <p:nvPr/>
        </p:nvSpPr>
        <p:spPr>
          <a:xfrm>
            <a:off x="2354836" y="3443737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8DBEE8-309B-97CE-E52D-5D4209EEAE8B}"/>
              </a:ext>
            </a:extLst>
          </p:cNvPr>
          <p:cNvCxnSpPr>
            <a:cxnSpLocks/>
          </p:cNvCxnSpPr>
          <p:nvPr/>
        </p:nvCxnSpPr>
        <p:spPr>
          <a:xfrm flipV="1">
            <a:off x="2028482" y="3889072"/>
            <a:ext cx="652707" cy="1552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0B52E3-05B4-5DCA-0037-EBD59A6BEFE5}"/>
              </a:ext>
            </a:extLst>
          </p:cNvPr>
          <p:cNvCxnSpPr>
            <a:cxnSpLocks/>
          </p:cNvCxnSpPr>
          <p:nvPr/>
        </p:nvCxnSpPr>
        <p:spPr>
          <a:xfrm flipV="1">
            <a:off x="1329305" y="4279881"/>
            <a:ext cx="423370" cy="1547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34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1C35A-4221-8885-1F88-38628220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178F-796F-EF6B-05D0-AD7E317052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bus runs at a speed of 25 Km/h from point X to Y and returns from point Y to X with a speed of 40 Km/h. Find out the ratio of the time taken by the bus from point X to Y to that from point Y to X? </a:t>
                </a:r>
              </a:p>
              <a:p>
                <a:pPr algn="just"/>
                <a:r>
                  <a:rPr lang="en-US" dirty="0"/>
                  <a:t>Ratio of Speeds 	= 25 : 40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= 5 : 8</a:t>
                </a:r>
              </a:p>
              <a:p>
                <a:pPr algn="just"/>
                <a:r>
                  <a:rPr lang="en-IN" dirty="0"/>
                  <a:t>Ratio of Times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den>
                    </m:f>
                  </m:oMath>
                </a14:m>
                <a:r>
                  <a:rPr lang="en-US" dirty="0"/>
                  <a:t>  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= 8 : 5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178F-796F-EF6B-05D0-AD7E317052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 b="-15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9E2F6B-DC39-1ADD-6E1C-7B7364E1015C}"/>
              </a:ext>
            </a:extLst>
          </p:cNvPr>
          <p:cNvCxnSpPr>
            <a:cxnSpLocks/>
          </p:cNvCxnSpPr>
          <p:nvPr/>
        </p:nvCxnSpPr>
        <p:spPr>
          <a:xfrm flipV="1">
            <a:off x="4068379" y="3697357"/>
            <a:ext cx="354534" cy="5215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96D1C9-8316-42E8-A77A-BC645C53B4BB}"/>
              </a:ext>
            </a:extLst>
          </p:cNvPr>
          <p:cNvCxnSpPr>
            <a:cxnSpLocks/>
          </p:cNvCxnSpPr>
          <p:nvPr/>
        </p:nvCxnSpPr>
        <p:spPr>
          <a:xfrm flipV="1">
            <a:off x="3435665" y="3772544"/>
            <a:ext cx="351996" cy="4463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0095E12-E2E5-6C71-7170-56471DEA7078}"/>
              </a:ext>
            </a:extLst>
          </p:cNvPr>
          <p:cNvSpPr txBox="1"/>
          <p:nvPr/>
        </p:nvSpPr>
        <p:spPr>
          <a:xfrm>
            <a:off x="3280815" y="3468757"/>
            <a:ext cx="28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9131A2-5A82-7DF3-6431-1B75E9F77A7C}"/>
              </a:ext>
            </a:extLst>
          </p:cNvPr>
          <p:cNvSpPr txBox="1"/>
          <p:nvPr/>
        </p:nvSpPr>
        <p:spPr>
          <a:xfrm>
            <a:off x="4509295" y="3512691"/>
            <a:ext cx="28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96A582-BD7C-DA5C-21BA-B202134CA818}"/>
              </a:ext>
            </a:extLst>
          </p:cNvPr>
          <p:cNvCxnSpPr>
            <a:cxnSpLocks/>
          </p:cNvCxnSpPr>
          <p:nvPr/>
        </p:nvCxnSpPr>
        <p:spPr>
          <a:xfrm flipV="1">
            <a:off x="3611663" y="5410769"/>
            <a:ext cx="526774" cy="30365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21581F-65EE-B45F-82ED-8E5481BD2C78}"/>
              </a:ext>
            </a:extLst>
          </p:cNvPr>
          <p:cNvCxnSpPr>
            <a:cxnSpLocks/>
          </p:cNvCxnSpPr>
          <p:nvPr/>
        </p:nvCxnSpPr>
        <p:spPr>
          <a:xfrm flipH="1" flipV="1">
            <a:off x="3578939" y="5361771"/>
            <a:ext cx="500231" cy="4016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29274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Travelled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r>
                  <a:rPr lang="en-IN" dirty="0"/>
                  <a:t>Speed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IN" dirty="0"/>
                      <m:t>Distance</m:t>
                    </m:r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Time</m:t>
                    </m:r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Speed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1</m:t>
                    </m:r>
                  </m:oMath>
                </a14:m>
                <a:r>
                  <a:rPr lang="en-IN" dirty="0"/>
                  <a:t> Km/h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18 </m:t>
                        </m:r>
                      </m:den>
                    </m:f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&amp;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1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dirty="0"/>
                      <m:t>m</m:t>
                    </m:r>
                    <m:r>
                      <m:rPr>
                        <m:nor/>
                      </m:rPr>
                      <a:rPr lang="en-US" dirty="0"/>
                      <m:t>/</m:t>
                    </m:r>
                    <m:r>
                      <m:rPr>
                        <m:nor/>
                      </m:rPr>
                      <a:rPr lang="en-US" dirty="0"/>
                      <m:t>s</m:t>
                    </m:r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5 </m:t>
                        </m:r>
                      </m:den>
                    </m:f>
                  </m:oMath>
                </a14:m>
                <a:r>
                  <a:rPr lang="en-IN" dirty="0"/>
                  <a:t> Km/h</a:t>
                </a:r>
              </a:p>
              <a:p>
                <a:pPr algn="just"/>
                <a:r>
                  <a:rPr lang="en-US" dirty="0"/>
                  <a:t>Average 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Covered</m:t>
                        </m:r>
                        <m:r>
                          <m:rPr>
                            <m:nor/>
                          </m:rPr>
                          <a:rPr lang="en-US" dirty="0"/>
                          <m:t> 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Total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Time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Taken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3DE9A0BF-D9B3-0BFC-C7E3-BEEBC25D2F7B}"/>
              </a:ext>
            </a:extLst>
          </p:cNvPr>
          <p:cNvSpPr/>
          <p:nvPr/>
        </p:nvSpPr>
        <p:spPr>
          <a:xfrm>
            <a:off x="606287" y="5675446"/>
            <a:ext cx="6341166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C7B33B-014C-94F8-70F7-294FED2B3103}"/>
              </a:ext>
            </a:extLst>
          </p:cNvPr>
          <p:cNvSpPr/>
          <p:nvPr/>
        </p:nvSpPr>
        <p:spPr>
          <a:xfrm>
            <a:off x="606287" y="4505941"/>
            <a:ext cx="534725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D0189-8A20-1103-D748-DB4E72F63261}"/>
              </a:ext>
            </a:extLst>
          </p:cNvPr>
          <p:cNvSpPr/>
          <p:nvPr/>
        </p:nvSpPr>
        <p:spPr>
          <a:xfrm>
            <a:off x="606287" y="3419061"/>
            <a:ext cx="259411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83E50-2290-84F1-39B8-BF6CBD939A7F}"/>
              </a:ext>
            </a:extLst>
          </p:cNvPr>
          <p:cNvSpPr/>
          <p:nvPr/>
        </p:nvSpPr>
        <p:spPr>
          <a:xfrm>
            <a:off x="606286" y="2398432"/>
            <a:ext cx="364766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60A92-15E8-E006-2E38-86147FD9EAFE}"/>
              </a:ext>
            </a:extLst>
          </p:cNvPr>
          <p:cNvSpPr/>
          <p:nvPr/>
        </p:nvSpPr>
        <p:spPr>
          <a:xfrm>
            <a:off x="606285" y="1496354"/>
            <a:ext cx="409492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6024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dirty="0"/>
                  <a:t>If A covers a distance x Km at a Km/h and, then y Km at b Km/h, then the average speed during the whole journey is 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y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ay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bx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algn="just"/>
                <a:r>
                  <a:rPr lang="en-US" dirty="0"/>
                  <a:t>If a person goes from point ‘A’ to point ‘B’ at ‘a’ Km/h and comes back from point ‘B’ to point ‘A’ at ‘b’ Km/h, then the average speed during the whole journey is given by 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  <m:r>
                          <m:rPr>
                            <m:nor/>
                          </m:rPr>
                          <a:rPr lang="en-US" dirty="0"/>
                          <m:t>ab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 + 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Km/h</a:t>
                </a:r>
              </a:p>
              <a:p>
                <a:pPr marL="0" indent="0" algn="just">
                  <a:buNone/>
                </a:pPr>
                <a:endParaRPr lang="en-IN" dirty="0"/>
              </a:p>
              <a:p>
                <a:pPr marL="457200" lvl="1" indent="0" algn="just">
                  <a:lnSpc>
                    <a:spcPct val="150000"/>
                  </a:lnSpc>
                  <a:buNone/>
                </a:pPr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B6FB92-A60B-DF54-8CB7-1F19035A2DD5}"/>
              </a:ext>
            </a:extLst>
          </p:cNvPr>
          <p:cNvSpPr/>
          <p:nvPr/>
        </p:nvSpPr>
        <p:spPr>
          <a:xfrm>
            <a:off x="3916021" y="2773018"/>
            <a:ext cx="2484780" cy="889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3F29E9-59F4-031F-C121-3AE8A633500A}"/>
              </a:ext>
            </a:extLst>
          </p:cNvPr>
          <p:cNvSpPr/>
          <p:nvPr/>
        </p:nvSpPr>
        <p:spPr>
          <a:xfrm>
            <a:off x="3916020" y="5840272"/>
            <a:ext cx="2484779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531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A person goes certain distance point ‘A’ to point ‘B’ at a speed of x Km/h and returns back point ‘B’ to point ‘A’ at a speed of y Km/h. If s/he takes T hours in all, then the distance between points ‘A’ and ‘B’ is 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T (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xy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+ </m:t>
                        </m:r>
                        <m:r>
                          <m:rPr>
                            <m:nor/>
                          </m:rPr>
                          <a:rPr lang="en-US" sz="2400" dirty="0"/>
                          <m:t>y</m:t>
                        </m:r>
                      </m:den>
                    </m:f>
                  </m:oMath>
                </a14:m>
                <a:r>
                  <a:rPr lang="en-US" sz="2400" dirty="0"/>
                  <a:t> ) hours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	or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Total Time Taken ×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Product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wo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peeds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Sum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sz="2400" dirty="0"/>
                          <m:t>wo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peeds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F4AB54D-BD85-ED90-2E4D-4333EC3B152B}"/>
              </a:ext>
            </a:extLst>
          </p:cNvPr>
          <p:cNvSpPr/>
          <p:nvPr/>
        </p:nvSpPr>
        <p:spPr>
          <a:xfrm>
            <a:off x="3110951" y="3796954"/>
            <a:ext cx="224624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595A46-D28A-B795-BD90-CED9A81978DE}"/>
              </a:ext>
            </a:extLst>
          </p:cNvPr>
          <p:cNvSpPr/>
          <p:nvPr/>
        </p:nvSpPr>
        <p:spPr>
          <a:xfrm>
            <a:off x="1133062" y="5476667"/>
            <a:ext cx="6132441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092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two persons, A and B, start at the same time from two points P and Q towards each other, and after crossing they take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b="0" i="0" dirty="0" smtClean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hours in reaching Q and P respectively, then </a:t>
                </a:r>
              </a:p>
              <a:p>
                <a:pPr marL="0" indent="0" algn="just"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 (</m:t>
                        </m:r>
                        <m:r>
                          <m:rPr>
                            <m:nor/>
                          </m:rPr>
                          <a:rPr lang="en-US" sz="2400" dirty="0"/>
                          <m:t>i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e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(</m:t>
                        </m:r>
                        <m:r>
                          <m:rPr>
                            <m:nor/>
                          </m:rPr>
                          <a:rPr lang="en-US" sz="2400" dirty="0"/>
                          <m:t>i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e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/>
                          <m:t>B</m:t>
                        </m:r>
                        <m:r>
                          <m:rPr>
                            <m:nor/>
                          </m:rPr>
                          <a:rPr lang="en-US" sz="2400" dirty="0"/>
                          <m:t>)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dirty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If the new speed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den>
                    </m:f>
                  </m:oMath>
                </a14:m>
                <a:r>
                  <a:rPr lang="en-US" sz="2400" dirty="0"/>
                  <a:t> of the original speed, then the change in time taken to cover the same distance is given by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n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− 1) × Original Time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5BC8F74-9B89-E1FD-0414-758D178EA96F}"/>
              </a:ext>
            </a:extLst>
          </p:cNvPr>
          <p:cNvSpPr/>
          <p:nvPr/>
        </p:nvSpPr>
        <p:spPr>
          <a:xfrm>
            <a:off x="2971802" y="3339754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72B37-5517-44CB-9B4B-48EE81B6F753}"/>
              </a:ext>
            </a:extLst>
          </p:cNvPr>
          <p:cNvSpPr/>
          <p:nvPr/>
        </p:nvSpPr>
        <p:spPr>
          <a:xfrm>
            <a:off x="2971802" y="5846694"/>
            <a:ext cx="3538328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1124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If a body travels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metres with different speeds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m/s in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, ...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sz="2400" dirty="0"/>
                  <a:t> seconds respectively, then the average speed of the body throughout the journey is given by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>
                    <a:solidFill>
                      <a:srgbClr val="836967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 +</m:t>
                        </m:r>
                        <m:r>
                          <m:rPr>
                            <m:nor/>
                          </m:rPr>
                          <a:rPr lang="en-US" sz="2400" dirty="0"/>
                          <m:t> ...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+...+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or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... 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+...+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dirty="0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</m:den>
                    </m:f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A body covers a distance ‘x’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’ with speed ‘a’, but when it travels with speed ‘b’ covers the same distance in time ‘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’.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dirty="0"/>
                          <m:t>Product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of</m:t>
                        </m:r>
                        <m:r>
                          <m:rPr>
                            <m:nor/>
                          </m:rPr>
                          <a:rPr lang="en-IN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speed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b="0" i="0" dirty="0" smtClean="0">
                            <a:latin typeface="Cambria Math" panose="02040503050406030204" pitchFamily="18" charset="0"/>
                          </a:rPr>
                          <m:t>Distance</m:t>
                        </m:r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sSub>
                          <m:sSubPr>
                            <m:ctrlPr>
                              <a:rPr lang="en-US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sz="2400" dirty="0"/>
                          <m:t>peed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Difference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of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Time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B3D26C1-9278-A3E5-D4A2-C9A5536357A2}"/>
              </a:ext>
            </a:extLst>
          </p:cNvPr>
          <p:cNvSpPr/>
          <p:nvPr/>
        </p:nvSpPr>
        <p:spPr>
          <a:xfrm>
            <a:off x="1272208" y="3568351"/>
            <a:ext cx="677848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BAA5-E044-D515-7AE6-0A7277FCFDC8}"/>
              </a:ext>
            </a:extLst>
          </p:cNvPr>
          <p:cNvSpPr/>
          <p:nvPr/>
        </p:nvSpPr>
        <p:spPr>
          <a:xfrm>
            <a:off x="1782417" y="5698637"/>
            <a:ext cx="6778487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844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Problems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Speed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Distance 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Time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Average Speed </a:t>
            </a:r>
          </a:p>
        </p:txBody>
      </p:sp>
    </p:spTree>
    <p:extLst>
      <p:ext uri="{BB962C8B-B14F-4D97-AF65-F5344CB8AC3E}">
        <p14:creationId xmlns:p14="http://schemas.microsoft.com/office/powerpoint/2010/main" val="1415121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973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5932</TotalTime>
  <Words>1606</Words>
  <Application>Microsoft Office PowerPoint</Application>
  <PresentationFormat>On-screen Show (4:3)</PresentationFormat>
  <Paragraphs>175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2 </vt:lpstr>
      <vt:lpstr>Problem 3 </vt:lpstr>
      <vt:lpstr>Problem 4</vt:lpstr>
      <vt:lpstr>Problem 5</vt:lpstr>
      <vt:lpstr>Problem 6</vt:lpstr>
      <vt:lpstr>Problem 6</vt:lpstr>
      <vt:lpstr>Problem 7</vt:lpstr>
      <vt:lpstr>Problem 7</vt:lpstr>
      <vt:lpstr>Problem 8</vt:lpstr>
      <vt:lpstr>Problem 8</vt:lpstr>
      <vt:lpstr>Problem 9</vt:lpstr>
      <vt:lpstr>Problem 9</vt:lpstr>
      <vt:lpstr>Problem 10</vt:lpstr>
      <vt:lpstr>Problem 10</vt:lpstr>
      <vt:lpstr>Problem 11</vt:lpstr>
      <vt:lpstr>Problem 11</vt:lpstr>
      <vt:lpstr>Problem 12</vt:lpstr>
      <vt:lpstr>Conclusion</vt:lpstr>
      <vt:lpstr>Conclusion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413</cp:revision>
  <dcterms:created xsi:type="dcterms:W3CDTF">2020-12-18T18:59:12Z</dcterms:created>
  <dcterms:modified xsi:type="dcterms:W3CDTF">2022-05-18T10:22:51Z</dcterms:modified>
</cp:coreProperties>
</file>