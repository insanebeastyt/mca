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78" r:id="rId2"/>
    <p:sldId id="674" r:id="rId3"/>
    <p:sldId id="633" r:id="rId4"/>
    <p:sldId id="675" r:id="rId5"/>
    <p:sldId id="671" r:id="rId6"/>
    <p:sldId id="673" r:id="rId7"/>
    <p:sldId id="655" r:id="rId8"/>
    <p:sldId id="656" r:id="rId9"/>
    <p:sldId id="632" r:id="rId10"/>
    <p:sldId id="630" r:id="rId11"/>
    <p:sldId id="666" r:id="rId12"/>
    <p:sldId id="672" r:id="rId13"/>
    <p:sldId id="670" r:id="rId14"/>
    <p:sldId id="635" r:id="rId15"/>
    <p:sldId id="664" r:id="rId16"/>
    <p:sldId id="685" r:id="rId17"/>
    <p:sldId id="665" r:id="rId18"/>
    <p:sldId id="669" r:id="rId19"/>
    <p:sldId id="657" r:id="rId20"/>
    <p:sldId id="658" r:id="rId21"/>
    <p:sldId id="631" r:id="rId22"/>
    <p:sldId id="667" r:id="rId23"/>
    <p:sldId id="668" r:id="rId24"/>
    <p:sldId id="677" r:id="rId25"/>
    <p:sldId id="680" r:id="rId26"/>
    <p:sldId id="679" r:id="rId27"/>
    <p:sldId id="681" r:id="rId28"/>
    <p:sldId id="676" r:id="rId29"/>
    <p:sldId id="682" r:id="rId30"/>
    <p:sldId id="684" r:id="rId31"/>
    <p:sldId id="343" r:id="rId32"/>
    <p:sldId id="34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develop understanding about basics of relative speed, faster and slower trains,</a:t>
            </a:r>
          </a:p>
          <a:p>
            <a:pPr lvl="0" algn="just"/>
            <a:r>
              <a:rPr lang="en-US" dirty="0"/>
              <a:t>derive important facts and formulae relating to various problems on </a:t>
            </a:r>
            <a:r>
              <a:rPr lang="en-IN" dirty="0"/>
              <a:t>trains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and Important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a train overtakes a pole/man/milestone, then the distance covered in overtaking is equal to the length of the train. </a:t>
            </a:r>
          </a:p>
          <a:p>
            <a:pPr algn="just"/>
            <a:r>
              <a:rPr lang="en-US" dirty="0"/>
              <a:t>Time taken by a train of length ‘a’ m to pass a pole/standing man/milestone/signal post is equal to the time taken by the train to cover ‘a’ m. </a:t>
            </a:r>
          </a:p>
        </p:txBody>
      </p:sp>
    </p:spTree>
    <p:extLst>
      <p:ext uri="{BB962C8B-B14F-4D97-AF65-F5344CB8AC3E}">
        <p14:creationId xmlns:p14="http://schemas.microsoft.com/office/powerpoint/2010/main" val="9771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and Important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a train overtakes a bridge/tunnel/platform/another train, then the distance covered is equal to the sum of the two lengths i.e., sum of the length of the train and length of bridge/tunnel/platform/another train. </a:t>
            </a:r>
          </a:p>
          <a:p>
            <a:pPr algn="just"/>
            <a:r>
              <a:rPr lang="en-US" dirty="0"/>
              <a:t>Time taken by a train of length ‘a’ m to pass a stationary object/bridge/tunnel/platform/another train of length ‘b’ m is time taken by train to cover (a + b) m. </a:t>
            </a:r>
          </a:p>
        </p:txBody>
      </p:sp>
    </p:spTree>
    <p:extLst>
      <p:ext uri="{BB962C8B-B14F-4D97-AF65-F5344CB8AC3E}">
        <p14:creationId xmlns:p14="http://schemas.microsoft.com/office/powerpoint/2010/main" val="357534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and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When two trains are moving in opposite direction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Relative Speed is equal to the sum of the speed of both trains.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Speed of faster train + Speed of Slower train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Suppose two trains or two bodies are moving in opposite directions at a m/s and b m/s.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Relative Speed = (a + b) m/s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6583B-FA61-E4E5-89A5-C1D56B0506C5}"/>
              </a:ext>
            </a:extLst>
          </p:cNvPr>
          <p:cNvSpPr/>
          <p:nvPr/>
        </p:nvSpPr>
        <p:spPr>
          <a:xfrm>
            <a:off x="1033671" y="5132940"/>
            <a:ext cx="442291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1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and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When two trains are moving in same direction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Relative Speed is equal to the difference of the speed of both trains.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Speed of faster train – Speed of Slower train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Suppose two trains are moving in the same direction at a m/s and b m/s (where a &gt; b).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Relative Speed = (a – b) m/s </a:t>
            </a:r>
          </a:p>
          <a:p>
            <a:pPr lvl="1" algn="just"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98D58-81EB-CBF6-281A-067F3BD2AE96}"/>
              </a:ext>
            </a:extLst>
          </p:cNvPr>
          <p:cNvSpPr/>
          <p:nvPr/>
        </p:nvSpPr>
        <p:spPr>
          <a:xfrm>
            <a:off x="1114633" y="5079102"/>
            <a:ext cx="429225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38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Relative Speed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If two trains of lengths ‘x’ Km and ‘y’ Km  are travelling in the same direction at ‘a’ Km/h and ‘b’ Km/h (a &gt; b) respectively, then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Relative Speed 	= (a – b) Km/h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Time taken by Faster Train to cross Slower Train 	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sz="2600" dirty="0"/>
                  <a:t>						=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600" dirty="0"/>
                      <m:t>{</m:t>
                    </m:r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+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sz="2600" dirty="0"/>
                  <a:t> }</a:t>
                </a:r>
                <a:r>
                  <a:rPr lang="en-US" sz="2600" dirty="0">
                    <a:solidFill>
                      <a:srgbClr val="836967"/>
                    </a:solidFill>
                  </a:rPr>
                  <a:t> </a:t>
                </a:r>
                <a:r>
                  <a:rPr lang="en-IN" sz="2600" dirty="0"/>
                  <a:t>hours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4385BD2-555C-4DC4-9966-9A34DAE8C629}"/>
              </a:ext>
            </a:extLst>
          </p:cNvPr>
          <p:cNvSpPr/>
          <p:nvPr/>
        </p:nvSpPr>
        <p:spPr>
          <a:xfrm>
            <a:off x="5243722" y="5258006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5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Relative Speed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If two trains of length ‘x’ Km and ‘y’ Km are travelling in the opposite directions at ‘a’ Km/h and ‘b’ Km/h, then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Relative Speed = (a + b) Km/h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Time taken by Trains to cross each other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hours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4823023-C9B2-360F-C91B-A24A11D4C0DD}"/>
              </a:ext>
            </a:extLst>
          </p:cNvPr>
          <p:cNvSpPr/>
          <p:nvPr/>
        </p:nvSpPr>
        <p:spPr>
          <a:xfrm>
            <a:off x="4353341" y="5307702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43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Speed - Faster &amp; Slower Train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Two trains of lengths ‘x’ m and ‘y’ m run on parallel tracks. When running in the same direction, the faster train passes the slower one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seconds, but when they are running in opposite directions with the same speeds as earlier, they pass each other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seconds.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Speed of Faster Train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} 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m/s </a:t>
                </a:r>
                <a:endParaRPr lang="en-US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Speed of Slower Train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} 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US" dirty="0"/>
                      <m:t>{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m/s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F079264-3749-F6BE-7B01-9AEF8D895A67}"/>
              </a:ext>
            </a:extLst>
          </p:cNvPr>
          <p:cNvSpPr/>
          <p:nvPr/>
        </p:nvSpPr>
        <p:spPr>
          <a:xfrm>
            <a:off x="1114633" y="4733096"/>
            <a:ext cx="6399349" cy="17074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6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</a:t>
            </a:r>
            <a:r>
              <a:rPr lang="en-IN" dirty="0"/>
              <a:t>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train starts from a place at ‘a’ Km/h and another fast train starts from the same place after ‘T’ hours at ‘b’ Km/h in the same direction. </a:t>
                </a:r>
              </a:p>
              <a:p>
                <a:pPr algn="just"/>
                <a:r>
                  <a:rPr lang="en-US" dirty="0"/>
                  <a:t>The distance from the starting place at which both the trains will meet 	</a:t>
                </a: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 = </m:t>
                    </m:r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Km</a:t>
                </a:r>
                <a:endParaRPr lang="en-US" dirty="0"/>
              </a:p>
              <a:p>
                <a:pPr algn="just"/>
                <a:r>
                  <a:rPr lang="en-US" dirty="0"/>
                  <a:t>Time after which the two trains will meet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hours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C9F1C64-2308-AF1E-4E95-484B450FC933}"/>
              </a:ext>
            </a:extLst>
          </p:cNvPr>
          <p:cNvSpPr/>
          <p:nvPr/>
        </p:nvSpPr>
        <p:spPr>
          <a:xfrm>
            <a:off x="3498575" y="4045433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B4875-0EFB-FD59-3D94-A50B2F7636DB}"/>
              </a:ext>
            </a:extLst>
          </p:cNvPr>
          <p:cNvSpPr/>
          <p:nvPr/>
        </p:nvSpPr>
        <p:spPr>
          <a:xfrm>
            <a:off x="3498575" y="5798032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70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The distance between two stations ‘A’ and ‘B’ = ‘x’ Km </a:t>
                </a:r>
              </a:p>
              <a:p>
                <a:pPr algn="just"/>
                <a:r>
                  <a:rPr lang="en-US" dirty="0"/>
                  <a:t>A train starts from ‘A’ to ‘B’ at ‘a’ Km/h. </a:t>
                </a:r>
              </a:p>
              <a:p>
                <a:pPr algn="just"/>
                <a:r>
                  <a:rPr lang="en-US" dirty="0"/>
                  <a:t>T hours later another train starts from ‘B’ to ‘A’ at ‘b’ Km/h. </a:t>
                </a:r>
              </a:p>
              <a:p>
                <a:pPr algn="just"/>
                <a:r>
                  <a:rPr lang="en-US" dirty="0"/>
                  <a:t>Distance from A, at which both the trains will meet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Km</a:t>
                </a:r>
                <a:endParaRPr lang="en-US" dirty="0">
                  <a:solidFill>
                    <a:srgbClr val="836967"/>
                  </a:solidFill>
                </a:endParaRPr>
              </a:p>
              <a:p>
                <a:pPr algn="just"/>
                <a:r>
                  <a:rPr lang="en-US" dirty="0"/>
                  <a:t>Time after which the two trains will meet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hours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559CB71-477B-E973-14CD-9F0866C37B76}"/>
              </a:ext>
            </a:extLst>
          </p:cNvPr>
          <p:cNvSpPr/>
          <p:nvPr/>
        </p:nvSpPr>
        <p:spPr>
          <a:xfrm>
            <a:off x="5039141" y="4164702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A4A967-176F-DF2F-BD38-26A5D2FDBE16}"/>
              </a:ext>
            </a:extLst>
          </p:cNvPr>
          <p:cNvSpPr/>
          <p:nvPr/>
        </p:nvSpPr>
        <p:spPr>
          <a:xfrm>
            <a:off x="5088837" y="5862223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88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the speeds of two trains are in the ratio a : b and they are moving in opposite directions on the parallel track. If the first train crosses a pole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t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seconds and second train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t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seconds, then the time taken by two trains to cross each other completely 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seconds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C6394E6-5DC2-8C58-A894-937DA183A473}"/>
              </a:ext>
            </a:extLst>
          </p:cNvPr>
          <p:cNvSpPr/>
          <p:nvPr/>
        </p:nvSpPr>
        <p:spPr>
          <a:xfrm>
            <a:off x="2534479" y="4743036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608D-142F-7B54-64A4-1FB7D597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F0502-9B5B-46A0-6C47-4F3A753FF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If two trains, A (moving with speed ‘a’) and B (moving with speed ‘b’), start at the same time from two points P and Q towards each other, and after crossing they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t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t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seconds in reaching Q and P respectively, then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 (</m:t>
                        </m:r>
                        <m:r>
                          <m:rPr>
                            <m:nor/>
                          </m:rPr>
                          <a:rPr lang="en-US" sz="2800" dirty="0"/>
                          <m:t>i</m:t>
                        </m:r>
                        <m:r>
                          <m:rPr>
                            <m:nor/>
                          </m:rPr>
                          <a:rPr lang="en-US" sz="2800" dirty="0"/>
                          <m:t>.</m:t>
                        </m:r>
                        <m:r>
                          <m:rPr>
                            <m:nor/>
                          </m:rPr>
                          <a:rPr lang="en-US" sz="2800" dirty="0"/>
                          <m:t>e</m:t>
                        </m:r>
                        <m:r>
                          <m:rPr>
                            <m:nor/>
                          </m:rPr>
                          <a:rPr lang="en-US" sz="2800" dirty="0"/>
                          <m:t>., </m:t>
                        </m:r>
                        <m:r>
                          <m:rPr>
                            <m:nor/>
                          </m:rPr>
                          <a:rPr lang="en-US" sz="2800" dirty="0"/>
                          <m:t>Speed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of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IN" sz="280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b</m:t>
                        </m:r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i</m:t>
                        </m:r>
                        <m:r>
                          <m:rPr>
                            <m:nor/>
                          </m:rPr>
                          <a:rPr lang="en-US" sz="2800" dirty="0"/>
                          <m:t>.</m:t>
                        </m:r>
                        <m:r>
                          <m:rPr>
                            <m:nor/>
                          </m:rPr>
                          <a:rPr lang="en-US" sz="2800" dirty="0"/>
                          <m:t>e</m:t>
                        </m:r>
                        <m:r>
                          <m:rPr>
                            <m:nor/>
                          </m:rPr>
                          <a:rPr lang="en-US" sz="2800" dirty="0"/>
                          <m:t>., </m:t>
                        </m:r>
                        <m:r>
                          <m:rPr>
                            <m:nor/>
                          </m:rPr>
                          <a:rPr lang="en-US" sz="2800" dirty="0"/>
                          <m:t>Speed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of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/>
                          <m:t>B</m:t>
                        </m:r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F0502-9B5B-46A0-6C47-4F3A753FF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3B19469-8622-44A3-9E66-F41A2B2B54D5}"/>
              </a:ext>
            </a:extLst>
          </p:cNvPr>
          <p:cNvSpPr/>
          <p:nvPr/>
        </p:nvSpPr>
        <p:spPr>
          <a:xfrm>
            <a:off x="2883798" y="4910136"/>
            <a:ext cx="4083532" cy="1013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24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A train travels a certain distance at a speed of ‘a’ Km/h without stoppages and with stoppages it covers the same distance at a speed of ‘b’ Km/h. Calculate the stoppage time per hour.</a:t>
                </a:r>
              </a:p>
              <a:p>
                <a:pPr algn="just"/>
                <a:r>
                  <a:rPr lang="en-US" dirty="0"/>
                  <a:t>Let, the distance travelled = x Km. </a:t>
                </a:r>
              </a:p>
              <a:p>
                <a:pPr algn="just"/>
                <a:r>
                  <a:rPr lang="en-US" dirty="0"/>
                  <a:t>Time taken by the train without stopping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hour</a:t>
                </a:r>
                <a:endParaRPr lang="en-US" dirty="0"/>
              </a:p>
              <a:p>
                <a:pPr algn="just"/>
                <a:r>
                  <a:rPr lang="en-US" dirty="0"/>
                  <a:t>Time taken by the train with stoppage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hour</a:t>
                </a:r>
              </a:p>
              <a:p>
                <a:pPr algn="just"/>
                <a:r>
                  <a:rPr lang="en-IN" dirty="0"/>
                  <a:t>Total Stoppage Time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35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IN" dirty="0"/>
                  <a:t>Total Stoppage Time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ab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ab</m:t>
                        </m:r>
                      </m:den>
                    </m:f>
                  </m:oMath>
                </a14:m>
                <a:r>
                  <a:rPr lang="en-IN" dirty="0"/>
                  <a:t>hour</a:t>
                </a:r>
                <a:endParaRPr lang="en-US" dirty="0"/>
              </a:p>
              <a:p>
                <a:pPr algn="just"/>
                <a:r>
                  <a:rPr lang="en-IN" dirty="0"/>
                  <a:t>Stoppage Time/Hour 	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)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x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dirty="0"/>
                              <m:t>ab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dirty="0"/>
                              <m:t>x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dirty="0"/>
                              <m:t>b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hour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without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toppages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18E960-954A-E9CF-6FD8-8D738558E878}"/>
              </a:ext>
            </a:extLst>
          </p:cNvPr>
          <p:cNvCxnSpPr>
            <a:cxnSpLocks/>
          </p:cNvCxnSpPr>
          <p:nvPr/>
        </p:nvCxnSpPr>
        <p:spPr>
          <a:xfrm flipV="1">
            <a:off x="5218452" y="4429592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68E68A-9996-D1BF-72AC-C1B179E5B980}"/>
              </a:ext>
            </a:extLst>
          </p:cNvPr>
          <p:cNvCxnSpPr>
            <a:cxnSpLocks/>
          </p:cNvCxnSpPr>
          <p:nvPr/>
        </p:nvCxnSpPr>
        <p:spPr>
          <a:xfrm flipV="1">
            <a:off x="4752975" y="4986183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398053-22E6-2DAD-0F17-298D067BD11B}"/>
              </a:ext>
            </a:extLst>
          </p:cNvPr>
          <p:cNvCxnSpPr>
            <a:cxnSpLocks/>
          </p:cNvCxnSpPr>
          <p:nvPr/>
        </p:nvCxnSpPr>
        <p:spPr>
          <a:xfrm flipV="1">
            <a:off x="4850711" y="4746454"/>
            <a:ext cx="235229" cy="2683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995F92-63BF-912F-903C-91FE7D34E32D}"/>
              </a:ext>
            </a:extLst>
          </p:cNvPr>
          <p:cNvCxnSpPr>
            <a:cxnSpLocks/>
          </p:cNvCxnSpPr>
          <p:nvPr/>
        </p:nvCxnSpPr>
        <p:spPr>
          <a:xfrm flipV="1">
            <a:off x="4756703" y="5282727"/>
            <a:ext cx="235229" cy="2683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15F95F9-8D44-0349-B81A-1ACF822BBAC1}"/>
              </a:ext>
            </a:extLst>
          </p:cNvPr>
          <p:cNvSpPr/>
          <p:nvPr/>
        </p:nvSpPr>
        <p:spPr>
          <a:xfrm>
            <a:off x="3001617" y="5734490"/>
            <a:ext cx="5672346" cy="858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983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Two trains of lengths ‘x’ m and ‘y’ m run on parallel tracks. When running in the same direction, the faster train passes the slower one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seconds, but when they are running in opposite directions with the same speeds as earlier, they pass each other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seconds. Calculate speed of faster and slower train.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846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Length of Faster Train =  ‘x’ m </a:t>
                </a:r>
              </a:p>
              <a:p>
                <a:pPr algn="just"/>
                <a:r>
                  <a:rPr lang="en-US" dirty="0"/>
                  <a:t>Length of Slower Train = ‘y’ m </a:t>
                </a:r>
              </a:p>
              <a:p>
                <a:pPr algn="just"/>
                <a:r>
                  <a:rPr lang="en-US" dirty="0"/>
                  <a:t>When running in the same direction</a:t>
                </a:r>
              </a:p>
              <a:p>
                <a:pPr algn="just"/>
                <a:r>
                  <a:rPr lang="en-US" dirty="0"/>
                  <a:t>Faster train passes the slower one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seconds</a:t>
                </a:r>
              </a:p>
              <a:p>
                <a:pPr algn="just"/>
                <a:r>
                  <a:rPr lang="en-US" dirty="0"/>
                  <a:t>When running in opposite directions </a:t>
                </a:r>
              </a:p>
              <a:p>
                <a:pPr algn="just"/>
                <a:r>
                  <a:rPr lang="en-US" dirty="0"/>
                  <a:t>Two trains pass each other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seconds </a:t>
                </a:r>
              </a:p>
              <a:p>
                <a:pPr algn="just"/>
                <a:r>
                  <a:rPr lang="en-US" dirty="0"/>
                  <a:t>Let, speed of faster train = a m/s </a:t>
                </a:r>
              </a:p>
              <a:p>
                <a:pPr algn="just"/>
                <a:r>
                  <a:rPr lang="en-US" dirty="0"/>
                  <a:t>Speed of slower train = b m/s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15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Total distance covered when two trains cross each other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				= x + y</a:t>
                </a:r>
              </a:p>
              <a:p>
                <a:pPr algn="just"/>
                <a:r>
                  <a:rPr lang="en-US" sz="2400" dirty="0"/>
                  <a:t>When the two trains are running is the same direction.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Relative Speed = (a - b) m/s &amp; Relative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m/s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(a - b) </a:t>
                </a:r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		</a:t>
                </a:r>
                <a:r>
                  <a:rPr lang="en-IN" sz="2400" dirty="0"/>
                  <a:t>…(1)</a:t>
                </a:r>
              </a:p>
              <a:p>
                <a:pPr algn="just"/>
                <a:r>
                  <a:rPr lang="en-US" sz="2400" dirty="0"/>
                  <a:t>When two trains are running in the opposite directions.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Relative Speed = (a - b) m/s &amp; Relative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m/s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(a -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		…(2)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20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563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(a - b) </a:t>
                </a:r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IN" sz="2400" dirty="0"/>
                  <a:t>…(1)         &amp;  </a:t>
                </a:r>
                <a:r>
                  <a:rPr lang="en-US" sz="2400" dirty="0"/>
                  <a:t>	(a +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  …(2)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CBAF3A-C326-B804-3512-35A439A2FAAF}"/>
                  </a:ext>
                </a:extLst>
              </p:cNvPr>
              <p:cNvSpPr txBox="1"/>
              <p:nvPr/>
            </p:nvSpPr>
            <p:spPr>
              <a:xfrm>
                <a:off x="428832" y="2148525"/>
                <a:ext cx="4224130" cy="397102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		(1) + (2)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2a =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x</m:t>
                    </m:r>
                    <m:r>
                      <m:rPr>
                        <m:nor/>
                      </m:rPr>
                      <a:rPr lang="en-US" sz="2400" dirty="0"/>
                      <m:t> + </m:t>
                    </m:r>
                    <m:r>
                      <m:rPr>
                        <m:nor/>
                      </m:rPr>
                      <a:rPr lang="en-US" sz="2400" dirty="0"/>
                      <m:t>y</m:t>
                    </m:r>
                  </m:oMath>
                </a14:m>
                <a:r>
                  <a:rPr lang="en-IN" sz="24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}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a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t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}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/>
                  <a:t>Speed of Faster Train = </a:t>
                </a:r>
                <a:r>
                  <a:rPr lang="en-IN" sz="2400" dirty="0"/>
                  <a:t>a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			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t</m:t>
                                </m:r>
                              </m:e>
                              <m:sub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}</a:t>
                </a:r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CBAF3A-C326-B804-3512-35A439A2F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32" y="2148525"/>
                <a:ext cx="4224130" cy="3971023"/>
              </a:xfrm>
              <a:prstGeom prst="rect">
                <a:avLst/>
              </a:prstGeom>
              <a:blipFill>
                <a:blip r:embed="rId3"/>
                <a:stretch>
                  <a:fillRect l="-1862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ECD1B-AF3C-0DDA-8863-CBCDA755F282}"/>
                  </a:ext>
                </a:extLst>
              </p:cNvPr>
              <p:cNvSpPr txBox="1"/>
              <p:nvPr/>
            </p:nvSpPr>
            <p:spPr>
              <a:xfrm>
                <a:off x="4786727" y="2153512"/>
                <a:ext cx="4224130" cy="397102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		(2) – (1)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2b =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 smtClean="0"/>
                      <m:t>x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+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y</m:t>
                    </m:r>
                  </m:oMath>
                </a14:m>
                <a:r>
                  <a:rPr lang="en-IN" sz="2400" dirty="0"/>
                  <a:t>) {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}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b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t</m:t>
                                </m:r>
                              </m:e>
                              <m:sub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}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/>
                  <a:t>Speed of Slower Train = </a:t>
                </a:r>
                <a:r>
                  <a:rPr lang="en-IN" sz="2400" dirty="0"/>
                  <a:t>b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dirty="0"/>
                  <a:t>			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t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ECD1B-AF3C-0DDA-8863-CBCDA755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727" y="2153512"/>
                <a:ext cx="4224130" cy="3971023"/>
              </a:xfrm>
              <a:prstGeom prst="rect">
                <a:avLst/>
              </a:prstGeom>
              <a:blipFill>
                <a:blip r:embed="rId4"/>
                <a:stretch>
                  <a:fillRect l="-1862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941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If the two trains are of equal length.</a:t>
                </a:r>
              </a:p>
              <a:p>
                <a:pPr algn="just"/>
                <a:r>
                  <a:rPr lang="en-US" dirty="0"/>
                  <a:t>Let x = y = l</a:t>
                </a:r>
              </a:p>
              <a:p>
                <a:pPr algn="just"/>
                <a:r>
                  <a:rPr lang="en-US" dirty="0"/>
                  <a:t>Speed of Faster Train = </a:t>
                </a:r>
                <a:r>
                  <a:rPr lang="en-IN" dirty="0"/>
                  <a:t>a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</a:p>
              <a:p>
                <a:pPr marL="0" indent="0" algn="just">
                  <a:buNone/>
                </a:pPr>
                <a:r>
                  <a:rPr lang="en-IN" dirty="0"/>
                  <a:t>				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 </a:t>
                </a:r>
                <a:r>
                  <a:rPr lang="en-IN" dirty="0"/>
                  <a:t>or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  <a:endParaRPr lang="en-IN" dirty="0"/>
              </a:p>
              <a:p>
                <a:pPr algn="just"/>
                <a:r>
                  <a:rPr lang="en-US" dirty="0"/>
                  <a:t>Speed of Slower Train = </a:t>
                </a:r>
                <a:r>
                  <a:rPr lang="en-IN" dirty="0"/>
                  <a:t>b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</a:p>
              <a:p>
                <a:pPr marL="0" indent="0" algn="just">
                  <a:buNone/>
                </a:pPr>
                <a:r>
                  <a:rPr lang="en-IN" dirty="0"/>
                  <a:t>				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 </a:t>
                </a:r>
                <a:r>
                  <a:rPr lang="en-IN" dirty="0"/>
                  <a:t>or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</m:oMath>
                </a14:m>
                <a:r>
                  <a:rPr lang="en-IN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}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ECAD45-D677-3D33-739E-1E84CF5BBA72}"/>
              </a:ext>
            </a:extLst>
          </p:cNvPr>
          <p:cNvSpPr/>
          <p:nvPr/>
        </p:nvSpPr>
        <p:spPr>
          <a:xfrm>
            <a:off x="6460436" y="3697563"/>
            <a:ext cx="173934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5DD85E-A95A-C84B-5A83-81C595AB596C}"/>
              </a:ext>
            </a:extLst>
          </p:cNvPr>
          <p:cNvSpPr/>
          <p:nvPr/>
        </p:nvSpPr>
        <p:spPr>
          <a:xfrm>
            <a:off x="6460436" y="5668824"/>
            <a:ext cx="173934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480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/>
              <a:t>Two trains start simultaneously from stations ‘A’ and ‘B’ towards each other with speeds a Km/h and b Km/h, respectively. When they meet it is found that the second train had travelled ‘x’ Km more than the first. Calculate distance between two stations. </a:t>
            </a:r>
          </a:p>
          <a:p>
            <a:pPr algn="just"/>
            <a:r>
              <a:rPr lang="en-US" sz="2400" dirty="0"/>
              <a:t>Speed of first train = a Km/h &amp; second train = b Km/h </a:t>
            </a:r>
          </a:p>
          <a:p>
            <a:pPr algn="just"/>
            <a:r>
              <a:rPr lang="en-US" sz="2400" dirty="0"/>
              <a:t>Let, Distance between the two stations = ‘d’ Km </a:t>
            </a:r>
          </a:p>
          <a:p>
            <a:pPr algn="just"/>
            <a:r>
              <a:rPr lang="en-US" sz="2400" dirty="0"/>
              <a:t>Let, Distance travelled by first train = ‘y’ Km </a:t>
            </a:r>
          </a:p>
          <a:p>
            <a:pPr algn="just"/>
            <a:r>
              <a:rPr lang="en-US" sz="2400" dirty="0"/>
              <a:t>Distance travelled by second train = (y + x) Km</a:t>
            </a:r>
          </a:p>
        </p:txBody>
      </p:sp>
    </p:spTree>
    <p:extLst>
      <p:ext uri="{BB962C8B-B14F-4D97-AF65-F5344CB8AC3E}">
        <p14:creationId xmlns:p14="http://schemas.microsoft.com/office/powerpoint/2010/main" val="1904227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d = y + y + x = 2y + x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 and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:endParaRPr lang="en-US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(Since the time taken by both the trains is same)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 = 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 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by = ay + ax </a:t>
                </a:r>
              </a:p>
              <a:p>
                <a:pPr algn="just"/>
                <a:r>
                  <a:rPr lang="en-US" dirty="0"/>
                  <a:t>by – ay  = ax or (b – a)y  = ax</a:t>
                </a:r>
              </a:p>
              <a:p>
                <a:pPr algn="just"/>
                <a:r>
                  <a:rPr lang="en-US" dirty="0"/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873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Facts and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d =  </a:t>
                </a:r>
                <a:r>
                  <a:rPr lang="en-IN" dirty="0"/>
                  <a:t>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x</a:t>
                </a:r>
              </a:p>
              <a:p>
                <a:pPr algn="just"/>
                <a:r>
                  <a:rPr lang="en-US" dirty="0"/>
                  <a:t>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Km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2862862-657B-2530-8968-730462663C1F}"/>
              </a:ext>
            </a:extLst>
          </p:cNvPr>
          <p:cNvSpPr/>
          <p:nvPr/>
        </p:nvSpPr>
        <p:spPr>
          <a:xfrm>
            <a:off x="626166" y="5635694"/>
            <a:ext cx="223630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12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Distance covered by a train to overtake a pole/man/milestone = Length of Train </a:t>
            </a:r>
          </a:p>
          <a:p>
            <a:pPr algn="just"/>
            <a:r>
              <a:rPr lang="en-US" dirty="0"/>
              <a:t>Distance covered by a train to overtake a bridge/tunnel/platform/another train = Length of the train + Length of bridge/tunnel/platform/another train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15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Time taken by a train of length ‘a’ m to pass a pole/standing man/milestone/signal post = Time taken by the train to cover ‘a’ m</a:t>
            </a:r>
          </a:p>
          <a:p>
            <a:pPr algn="just"/>
            <a:r>
              <a:rPr lang="en-US" dirty="0"/>
              <a:t>Time taken by a train of length ‘a’ m to pass a stationary object/bridge/tunnel/platform/another train of length ‘b’ m = Time taken by train to cover (a + b) m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450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When two trains are moving in opposite direction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600" dirty="0"/>
                  <a:t>Relative Speed = Sum of Speed of both Trains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600" dirty="0"/>
                  <a:t>Time taken by Trains to cross each other </a:t>
                </a:r>
              </a:p>
              <a:p>
                <a:pPr marL="0" indent="0" algn="just">
                  <a:lnSpc>
                    <a:spcPct val="160000"/>
                  </a:lnSpc>
                  <a:buNone/>
                </a:pPr>
                <a:r>
                  <a:rPr lang="en-US" dirty="0"/>
                  <a:t>		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hours</a:t>
                </a:r>
                <a:endParaRPr lang="en-US" dirty="0"/>
              </a:p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When two trains are moving in same direction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600" dirty="0"/>
                  <a:t>Relative Speed = Difference of Speed of both Trains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600" dirty="0"/>
                  <a:t>Time taken by Faster Train to cross Slower Train 	</a:t>
                </a:r>
              </a:p>
              <a:p>
                <a:pPr marL="457200" lvl="1" indent="0" algn="just">
                  <a:lnSpc>
                    <a:spcPct val="160000"/>
                  </a:lnSpc>
                  <a:buNone/>
                </a:pPr>
                <a:r>
                  <a:rPr lang="en-US" sz="2600" dirty="0"/>
                  <a:t>						=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600" dirty="0"/>
                      <m:t>{</m:t>
                    </m:r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x</m:t>
                        </m:r>
                        <m:r>
                          <m:rPr>
                            <m:nor/>
                          </m:rPr>
                          <a:rPr lang="en-US" sz="2600" dirty="0"/>
                          <m:t> + </m:t>
                        </m:r>
                        <m:r>
                          <m:rPr>
                            <m:nor/>
                          </m:rPr>
                          <a:rPr lang="en-US" sz="26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b</m:t>
                        </m:r>
                      </m:den>
                    </m:f>
                  </m:oMath>
                </a14:m>
                <a:r>
                  <a:rPr lang="en-US" sz="2600" dirty="0"/>
                  <a:t> }</a:t>
                </a:r>
                <a:r>
                  <a:rPr lang="en-US" sz="2600" dirty="0">
                    <a:solidFill>
                      <a:srgbClr val="836967"/>
                    </a:solidFill>
                  </a:rPr>
                  <a:t> </a:t>
                </a:r>
                <a:r>
                  <a:rPr lang="en-IN" sz="2600" dirty="0"/>
                  <a:t>hours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E98632D-A26D-8C8E-D534-A43DE32BDAC0}"/>
              </a:ext>
            </a:extLst>
          </p:cNvPr>
          <p:cNvSpPr/>
          <p:nvPr/>
        </p:nvSpPr>
        <p:spPr>
          <a:xfrm>
            <a:off x="4840357" y="3156295"/>
            <a:ext cx="238539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A56BB-F86D-D4D9-C70E-394636873448}"/>
              </a:ext>
            </a:extLst>
          </p:cNvPr>
          <p:cNvSpPr/>
          <p:nvPr/>
        </p:nvSpPr>
        <p:spPr>
          <a:xfrm>
            <a:off x="5817705" y="5743782"/>
            <a:ext cx="238539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80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200" dirty="0"/>
                  <a:t>Two trains of lengths ‘x’ m and ‘y’ m run on parallel tracks. When running in same direction, faster train passes slower one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200" dirty="0"/>
                          <m:t>t</m:t>
                        </m:r>
                      </m:e>
                      <m:sub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seconds, but when they are running in opposite directions with same speeds as earlier, they pass each other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200" dirty="0"/>
                          <m:t>t</m:t>
                        </m:r>
                      </m:e>
                      <m:sub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seconds. </a:t>
                </a:r>
              </a:p>
              <a:p>
                <a:pPr lvl="1" algn="just">
                  <a:lnSpc>
                    <a:spcPct val="110000"/>
                  </a:lnSpc>
                </a:pPr>
                <a:r>
                  <a:rPr lang="en-US" sz="2200" dirty="0"/>
                  <a:t>Speed of Faster Train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/>
                      <m:t>{</m:t>
                    </m:r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x</m:t>
                        </m:r>
                        <m:r>
                          <m:rPr>
                            <m:nor/>
                          </m:rPr>
                          <a:rPr lang="en-US" sz="2200" dirty="0"/>
                          <m:t> + </m:t>
                        </m:r>
                        <m:r>
                          <m:rPr>
                            <m:nor/>
                          </m:rPr>
                          <a:rPr lang="en-US" sz="22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 } 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/>
                      <m:t>{</m:t>
                    </m:r>
                    <m:r>
                      <m:rPr>
                        <m:nor/>
                      </m:rPr>
                      <a:rPr lang="en-IN" sz="2200" dirty="0"/>
                      <m:t> </m:t>
                    </m:r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200" dirty="0"/>
                                  <m:t>t</m:t>
                                </m:r>
                              </m:e>
                              <m:sub>
                                <m:r>
                                  <a:rPr lang="en-US" sz="22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}</a:t>
                </a:r>
                <a:r>
                  <a:rPr lang="en-US" sz="2200" dirty="0">
                    <a:solidFill>
                      <a:srgbClr val="836967"/>
                    </a:solidFill>
                  </a:rPr>
                  <a:t> </a:t>
                </a:r>
                <a:r>
                  <a:rPr lang="en-IN" sz="2200" dirty="0"/>
                  <a:t>m/s </a:t>
                </a:r>
                <a:endParaRPr lang="en-US" sz="2200" dirty="0"/>
              </a:p>
              <a:p>
                <a:pPr lvl="1" algn="just">
                  <a:lnSpc>
                    <a:spcPct val="110000"/>
                  </a:lnSpc>
                </a:pPr>
                <a:r>
                  <a:rPr lang="en-US" sz="2200" dirty="0"/>
                  <a:t>Speed of Slower Train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/>
                      <m:t>{</m:t>
                    </m:r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x</m:t>
                        </m:r>
                        <m:r>
                          <m:rPr>
                            <m:nor/>
                          </m:rPr>
                          <a:rPr lang="en-US" sz="2200" dirty="0"/>
                          <m:t> + </m:t>
                        </m:r>
                        <m:r>
                          <m:rPr>
                            <m:nor/>
                          </m:rPr>
                          <a:rPr lang="en-US" sz="2200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 } 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US" sz="2200" dirty="0"/>
                      <m:t>{ </m:t>
                    </m:r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200" dirty="0"/>
                                  <m:t>t</m:t>
                                </m:r>
                              </m:e>
                              <m:sub>
                                <m:r>
                                  <a:rPr lang="en-US" sz="22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}</a:t>
                </a:r>
                <a:r>
                  <a:rPr lang="en-US" sz="2200" dirty="0">
                    <a:solidFill>
                      <a:srgbClr val="836967"/>
                    </a:solidFill>
                  </a:rPr>
                  <a:t> </a:t>
                </a:r>
                <a:r>
                  <a:rPr lang="en-IN" sz="2200" dirty="0"/>
                  <a:t>m/s</a:t>
                </a:r>
              </a:p>
              <a:p>
                <a:pPr algn="just"/>
                <a:r>
                  <a:rPr lang="en-US" sz="2200" dirty="0"/>
                  <a:t>If the two trains are of equal length. </a:t>
                </a:r>
              </a:p>
              <a:p>
                <a:pPr lvl="1" algn="just">
                  <a:lnSpc>
                    <a:spcPct val="110000"/>
                  </a:lnSpc>
                </a:pPr>
                <a:r>
                  <a:rPr lang="en-US" sz="2200" dirty="0"/>
                  <a:t>Speed of Faster Train = </a:t>
                </a:r>
                <a:r>
                  <a:rPr lang="en-IN" sz="22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/>
                      <m:t>x</m:t>
                    </m:r>
                  </m:oMath>
                </a14:m>
                <a:r>
                  <a:rPr lang="en-IN" sz="22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200" dirty="0"/>
                                  <m:t>t</m:t>
                                </m:r>
                              </m:e>
                              <m:sub>
                                <m:r>
                                  <a:rPr lang="en-US" sz="22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+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} </a:t>
                </a:r>
              </a:p>
              <a:p>
                <a:pPr lvl="1" algn="just">
                  <a:lnSpc>
                    <a:spcPct val="110000"/>
                  </a:lnSpc>
                </a:pPr>
                <a:r>
                  <a:rPr lang="en-US" sz="2200" dirty="0"/>
                  <a:t>Speed of Slower Train = </a:t>
                </a:r>
                <a:r>
                  <a:rPr lang="en-IN" sz="22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dirty="0"/>
                      <m:t>x</m:t>
                    </m:r>
                  </m:oMath>
                </a14:m>
                <a:r>
                  <a:rPr lang="en-IN" sz="2200" dirty="0"/>
                  <a:t>)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200" dirty="0"/>
                                  <m:t>t</m:t>
                                </m:r>
                              </m:e>
                              <m:sub>
                                <m:r>
                                  <a:rPr lang="en-US" sz="22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200" dirty="0"/>
                              <m:t>t</m:t>
                            </m:r>
                          </m:e>
                          <m:sub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D93C61-27CF-84FA-6C51-01FBC04C8689}"/>
              </a:ext>
            </a:extLst>
          </p:cNvPr>
          <p:cNvSpPr/>
          <p:nvPr/>
        </p:nvSpPr>
        <p:spPr>
          <a:xfrm>
            <a:off x="864705" y="3156295"/>
            <a:ext cx="6251712" cy="1445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CEE277-91B1-74AB-4F94-30986D7422F5}"/>
              </a:ext>
            </a:extLst>
          </p:cNvPr>
          <p:cNvSpPr/>
          <p:nvPr/>
        </p:nvSpPr>
        <p:spPr>
          <a:xfrm>
            <a:off x="864705" y="5054669"/>
            <a:ext cx="6251712" cy="1336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235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distance between two stations ‘A’ and ‘B’ is ‘x’ Km, A train starts from ‘A’ to ‘B’ at ‘a’ Km/h. ‘T’ hours later another train starts from ‘B’ to ‘A’ at ‘b’ Km/h, then distance from A, at which both the trains will meet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Km</a:t>
                </a:r>
                <a:endParaRPr lang="en-US" dirty="0">
                  <a:solidFill>
                    <a:srgbClr val="836967"/>
                  </a:solidFill>
                </a:endParaRPr>
              </a:p>
              <a:p>
                <a:pPr algn="just"/>
                <a:r>
                  <a:rPr lang="en-US" dirty="0"/>
                  <a:t>Time after which the two trains will meet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{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}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IN" dirty="0"/>
                  <a:t>hours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08FB2CB-1E93-6FE5-C8BC-03277E3E21EB}"/>
              </a:ext>
            </a:extLst>
          </p:cNvPr>
          <p:cNvSpPr/>
          <p:nvPr/>
        </p:nvSpPr>
        <p:spPr>
          <a:xfrm>
            <a:off x="2257632" y="4050814"/>
            <a:ext cx="238539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EDB47-37DF-E74E-7A88-137B0B82B5E3}"/>
              </a:ext>
            </a:extLst>
          </p:cNvPr>
          <p:cNvSpPr/>
          <p:nvPr/>
        </p:nvSpPr>
        <p:spPr>
          <a:xfrm>
            <a:off x="3150705" y="5869676"/>
            <a:ext cx="247484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822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400" dirty="0"/>
                  <a:t>If the speeds of two trains are in the ratio a : b and they are moving in opposite directions on the parallel track. If the first train crosses a pole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seconds and second train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seconds, then the time taken by two trains to cross each other completely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+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seconds.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400" dirty="0"/>
                  <a:t>If two trains, A (moving with speed ‘a’) and B (moving with speed ‘b’), start at the same time from two points P and Q towards each other, and after crossing they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seconds in reaching Q and P respectively,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452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CD0EFA-B5EC-2307-8F9B-A52C31534497}"/>
              </a:ext>
            </a:extLst>
          </p:cNvPr>
          <p:cNvSpPr/>
          <p:nvPr/>
        </p:nvSpPr>
        <p:spPr>
          <a:xfrm>
            <a:off x="3349487" y="3166234"/>
            <a:ext cx="238539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178B2-936D-85F4-6CDA-140C9FE64F8F}"/>
              </a:ext>
            </a:extLst>
          </p:cNvPr>
          <p:cNvSpPr/>
          <p:nvPr/>
        </p:nvSpPr>
        <p:spPr>
          <a:xfrm>
            <a:off x="7086600" y="5412477"/>
            <a:ext cx="110324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115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400" dirty="0"/>
                  <a:t>A train travels a certain distance at a speed of ‘a’ Km/h without stoppages and with stoppages it covers the same distance at a speed of ‘b’ Km/h, then the stoppage time per hour is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without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Stoppages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20000"/>
                  </a:lnSpc>
                </a:pPr>
                <a:r>
                  <a:rPr lang="en-US" sz="2400" dirty="0"/>
                  <a:t>Two trains start simultaneously from stations ‘A’ and ‘B’ towards each other with speeds a Km/h and b Km/h, respectively. When they meet, it is found that the second train had travelled ‘x’ Km more than the first. Distance between the two stations is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 – 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Km</a:t>
                </a:r>
              </a:p>
              <a:p>
                <a:pPr algn="just">
                  <a:lnSpc>
                    <a:spcPct val="12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452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2D167A8-81FA-34E4-2EAD-9C8DAA321055}"/>
              </a:ext>
            </a:extLst>
          </p:cNvPr>
          <p:cNvSpPr/>
          <p:nvPr/>
        </p:nvSpPr>
        <p:spPr>
          <a:xfrm>
            <a:off x="2247693" y="2738852"/>
            <a:ext cx="3596516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97D95-60B4-A502-27E3-F72344396279}"/>
              </a:ext>
            </a:extLst>
          </p:cNvPr>
          <p:cNvSpPr/>
          <p:nvPr/>
        </p:nvSpPr>
        <p:spPr>
          <a:xfrm>
            <a:off x="4633084" y="5422417"/>
            <a:ext cx="238539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789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Basics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Relative Speed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Faster &amp; Slower Trains</a:t>
            </a:r>
          </a:p>
          <a:p>
            <a:pPr algn="just"/>
            <a:r>
              <a:rPr lang="en-US" dirty="0"/>
              <a:t>Problems on Trains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Important Facts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Formulae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6243</TotalTime>
  <Words>2343</Words>
  <Application>Microsoft Office PowerPoint</Application>
  <PresentationFormat>On-screen Show (4:3)</PresentationFormat>
  <Paragraphs>167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Basics and Important Facts</vt:lpstr>
      <vt:lpstr>Basics and Important Facts</vt:lpstr>
      <vt:lpstr>Basics, Important Facts and Formulae</vt:lpstr>
      <vt:lpstr>Basics, Important Facts and Formulae</vt:lpstr>
      <vt:lpstr>Basics, Important Facts and Formulae</vt:lpstr>
      <vt:lpstr>Basics, Important Facts and Formulae</vt:lpstr>
      <vt:lpstr>Basics, 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Important Facts and Formulae</vt:lpstr>
      <vt:lpstr>Conclusion</vt:lpstr>
      <vt:lpstr>Conclusion</vt:lpstr>
      <vt:lpstr>Conclusion</vt:lpstr>
      <vt:lpstr>Conclusion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425</cp:revision>
  <dcterms:created xsi:type="dcterms:W3CDTF">2020-12-18T18:59:12Z</dcterms:created>
  <dcterms:modified xsi:type="dcterms:W3CDTF">2022-05-19T10:03:32Z</dcterms:modified>
</cp:coreProperties>
</file>