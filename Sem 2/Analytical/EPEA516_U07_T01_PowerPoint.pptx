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78" r:id="rId2"/>
    <p:sldId id="674" r:id="rId3"/>
    <p:sldId id="803" r:id="rId4"/>
    <p:sldId id="788" r:id="rId5"/>
    <p:sldId id="747" r:id="rId6"/>
    <p:sldId id="793" r:id="rId7"/>
    <p:sldId id="804" r:id="rId8"/>
    <p:sldId id="805" r:id="rId9"/>
    <p:sldId id="794" r:id="rId10"/>
    <p:sldId id="802" r:id="rId11"/>
    <p:sldId id="771" r:id="rId12"/>
    <p:sldId id="773" r:id="rId13"/>
    <p:sldId id="807" r:id="rId14"/>
    <p:sldId id="808" r:id="rId15"/>
    <p:sldId id="806" r:id="rId16"/>
    <p:sldId id="809" r:id="rId17"/>
    <p:sldId id="810" r:id="rId18"/>
    <p:sldId id="811" r:id="rId19"/>
    <p:sldId id="812" r:id="rId20"/>
    <p:sldId id="813" r:id="rId21"/>
    <p:sldId id="774" r:id="rId22"/>
    <p:sldId id="814" r:id="rId23"/>
    <p:sldId id="815" r:id="rId24"/>
    <p:sldId id="816" r:id="rId25"/>
    <p:sldId id="775" r:id="rId26"/>
    <p:sldId id="817" r:id="rId27"/>
    <p:sldId id="776" r:id="rId28"/>
    <p:sldId id="779" r:id="rId29"/>
    <p:sldId id="767" r:id="rId30"/>
    <p:sldId id="343" r:id="rId31"/>
    <p:sldId id="34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6/4/2022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develop understanding about the basics of letter coding, </a:t>
            </a:r>
          </a:p>
          <a:p>
            <a:pPr algn="just"/>
            <a:r>
              <a:rPr lang="en-US" dirty="0"/>
              <a:t>analyze different types of letter coding,</a:t>
            </a:r>
          </a:p>
          <a:p>
            <a:pPr lvl="0" algn="just"/>
            <a:r>
              <a:rPr lang="en-US" dirty="0"/>
              <a:t>solve various problems relating to letter coding. 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CD6C-D6E3-5745-9B8B-29FBD6B2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Coding-Decoding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E2440-CE6E-EB7D-9926-EB6B212A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of Transmitting - Information</a:t>
            </a:r>
            <a:endParaRPr lang="en-IN" dirty="0"/>
          </a:p>
          <a:p>
            <a:r>
              <a:rPr lang="en-US" dirty="0"/>
              <a:t>Coding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Letter/Sentence/Word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Language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English Alphabet – Corresponding Positions</a:t>
            </a:r>
          </a:p>
          <a:p>
            <a:r>
              <a:rPr lang="en-US" dirty="0"/>
              <a:t>Decoding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Tracing Actual Meaning - Letter/Sentence/Word </a:t>
            </a:r>
          </a:p>
        </p:txBody>
      </p:sp>
    </p:spTree>
    <p:extLst>
      <p:ext uri="{BB962C8B-B14F-4D97-AF65-F5344CB8AC3E}">
        <p14:creationId xmlns:p14="http://schemas.microsoft.com/office/powerpoint/2010/main" val="6489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Order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4200" dirty="0"/>
              <a:t>Linear Arrangement - Left to Right</a:t>
            </a:r>
          </a:p>
          <a:p>
            <a:r>
              <a:rPr lang="en-US" sz="4200" dirty="0"/>
              <a:t>A	B	C	D	E	F	G	H	I	J</a:t>
            </a:r>
          </a:p>
          <a:p>
            <a:r>
              <a:rPr lang="en-US" sz="4200" dirty="0"/>
              <a:t>1	2	3	4	5	6	7	8	9      10</a:t>
            </a:r>
          </a:p>
          <a:p>
            <a:r>
              <a:rPr lang="en-US" sz="4200" dirty="0"/>
              <a:t>K	L	M	N	O	P	Q	R	S	T</a:t>
            </a:r>
          </a:p>
          <a:p>
            <a:r>
              <a:rPr lang="en-US" sz="4200" dirty="0"/>
              <a:t>11	12	13	14	15	16	17	18	19     20</a:t>
            </a:r>
          </a:p>
          <a:p>
            <a:r>
              <a:rPr lang="en-US" sz="4200" dirty="0"/>
              <a:t>U	V	W	X	Y	Z</a:t>
            </a:r>
          </a:p>
          <a:p>
            <a:r>
              <a:rPr lang="en-US" sz="4200" dirty="0"/>
              <a:t>21	22	23	24	25	26 </a:t>
            </a:r>
          </a:p>
          <a:p>
            <a:endParaRPr lang="en-US" sz="3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D1221A-6BD7-5BA4-A934-966D5C60D1D5}"/>
              </a:ext>
            </a:extLst>
          </p:cNvPr>
          <p:cNvSpPr/>
          <p:nvPr/>
        </p:nvSpPr>
        <p:spPr>
          <a:xfrm>
            <a:off x="605044" y="1934403"/>
            <a:ext cx="8338931" cy="12759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7D04B-17B0-466B-1BB6-99B9397C54BA}"/>
              </a:ext>
            </a:extLst>
          </p:cNvPr>
          <p:cNvSpPr/>
          <p:nvPr/>
        </p:nvSpPr>
        <p:spPr>
          <a:xfrm>
            <a:off x="605044" y="3335612"/>
            <a:ext cx="8338931" cy="106742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13F3C2-30E0-4F0D-529D-F0FBBB2AD00F}"/>
              </a:ext>
            </a:extLst>
          </p:cNvPr>
          <p:cNvSpPr/>
          <p:nvPr/>
        </p:nvSpPr>
        <p:spPr>
          <a:xfrm>
            <a:off x="605044" y="4541148"/>
            <a:ext cx="8338931" cy="127324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95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Order Position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Short-Cut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E		J	O	T	Y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5		10	15	20	25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		F	I	L	O	P	U	X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3		6	9	12	15	18	21	24		</a:t>
            </a:r>
          </a:p>
        </p:txBody>
      </p:sp>
    </p:spTree>
    <p:extLst>
      <p:ext uri="{BB962C8B-B14F-4D97-AF65-F5344CB8AC3E}">
        <p14:creationId xmlns:p14="http://schemas.microsoft.com/office/powerpoint/2010/main" val="304504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</a:t>
            </a:r>
            <a:r>
              <a:rPr lang="en-US" sz="3200" dirty="0"/>
              <a:t> Order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Linear Arrangement - Right to Left</a:t>
            </a:r>
          </a:p>
          <a:p>
            <a:r>
              <a:rPr lang="en-US" sz="2800" dirty="0"/>
              <a:t>A	B	C	D	E	F	G	H	I	J</a:t>
            </a:r>
          </a:p>
          <a:p>
            <a:r>
              <a:rPr lang="en-US" sz="2800" dirty="0"/>
              <a:t>26	25	24	23	22	21	20	19	18     17</a:t>
            </a:r>
          </a:p>
          <a:p>
            <a:r>
              <a:rPr lang="en-US" sz="2800" dirty="0"/>
              <a:t>K	L	M	N	O	P	Q	R	S	T</a:t>
            </a:r>
          </a:p>
          <a:p>
            <a:r>
              <a:rPr lang="en-US" sz="2800" dirty="0"/>
              <a:t>16	15	14	13	12	11	10	9	8    	7</a:t>
            </a:r>
          </a:p>
          <a:p>
            <a:r>
              <a:rPr lang="en-US" sz="2800" dirty="0"/>
              <a:t>U	V	W	X	Y	Z</a:t>
            </a:r>
          </a:p>
          <a:p>
            <a:r>
              <a:rPr lang="en-US" sz="2800" dirty="0"/>
              <a:t>6	5	4	3	2	1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9D1E9D-1CB6-A34A-6C3C-F663FF0E0A8A}"/>
              </a:ext>
            </a:extLst>
          </p:cNvPr>
          <p:cNvSpPr/>
          <p:nvPr/>
        </p:nvSpPr>
        <p:spPr>
          <a:xfrm>
            <a:off x="605044" y="2103366"/>
            <a:ext cx="8338931" cy="132563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B4855F-1FB0-7EA4-4987-9F4610A20C96}"/>
              </a:ext>
            </a:extLst>
          </p:cNvPr>
          <p:cNvSpPr/>
          <p:nvPr/>
        </p:nvSpPr>
        <p:spPr>
          <a:xfrm>
            <a:off x="605044" y="3574148"/>
            <a:ext cx="8338931" cy="132563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B32A3-5907-22C7-0887-5D52E6D0E4D2}"/>
              </a:ext>
            </a:extLst>
          </p:cNvPr>
          <p:cNvSpPr/>
          <p:nvPr/>
        </p:nvSpPr>
        <p:spPr>
          <a:xfrm>
            <a:off x="605044" y="5023606"/>
            <a:ext cx="8338931" cy="132563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90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</a:t>
            </a:r>
            <a:r>
              <a:rPr lang="en-US" sz="3200" dirty="0"/>
              <a:t> Order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Short-Cut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Backward Order Position of a Letter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600" dirty="0"/>
              <a:t>	         = 27 – Forward Order Position of that Letter</a:t>
            </a:r>
          </a:p>
          <a:p>
            <a:r>
              <a:rPr lang="en-US" dirty="0"/>
              <a:t>Example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Forward Order Position of C 	= 03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Backward Order Position of C 	= 27 – 03 </a:t>
            </a:r>
          </a:p>
          <a:p>
            <a:pPr marL="0" indent="0">
              <a:buNone/>
            </a:pPr>
            <a:r>
              <a:rPr lang="en-US" dirty="0"/>
              <a:t>						= 24</a:t>
            </a:r>
          </a:p>
        </p:txBody>
      </p:sp>
    </p:spTree>
    <p:extLst>
      <p:ext uri="{BB962C8B-B14F-4D97-AF65-F5344CB8AC3E}">
        <p14:creationId xmlns:p14="http://schemas.microsoft.com/office/powerpoint/2010/main" val="18640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&amp; Backward Order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171576"/>
            <a:ext cx="8582025" cy="5686424"/>
          </a:xfrm>
        </p:spPr>
        <p:txBody>
          <a:bodyPr>
            <a:normAutofit fontScale="55000" lnSpcReduction="20000"/>
          </a:bodyPr>
          <a:lstStyle/>
          <a:p>
            <a:r>
              <a:rPr lang="en-US" sz="4200" dirty="0"/>
              <a:t>A	B	C	D	E	F	G	H	I	J</a:t>
            </a:r>
          </a:p>
          <a:p>
            <a:r>
              <a:rPr lang="en-US" sz="4200" dirty="0"/>
              <a:t>1	2	3	4	5	6	7	8	9        10</a:t>
            </a:r>
          </a:p>
          <a:p>
            <a:r>
              <a:rPr lang="en-US" sz="4200" dirty="0"/>
              <a:t>26	25	24	23	22	21	20	19	18       17</a:t>
            </a:r>
          </a:p>
          <a:p>
            <a:r>
              <a:rPr lang="en-US" sz="4200" dirty="0"/>
              <a:t>K	L	M	N	O	P	Q	R	S	T</a:t>
            </a:r>
          </a:p>
          <a:p>
            <a:r>
              <a:rPr lang="en-US" sz="4200" dirty="0"/>
              <a:t>11	12	13	14	15	16	17	18	19      20</a:t>
            </a:r>
          </a:p>
          <a:p>
            <a:r>
              <a:rPr lang="en-US" sz="4200" dirty="0"/>
              <a:t>16	15	14	13	12	11	10	9	8	7</a:t>
            </a:r>
          </a:p>
          <a:p>
            <a:r>
              <a:rPr lang="en-US" sz="4200" dirty="0"/>
              <a:t>U	V	W	X	Y	Z</a:t>
            </a:r>
          </a:p>
          <a:p>
            <a:r>
              <a:rPr lang="en-US" sz="4200" dirty="0"/>
              <a:t>21	22	23	24	25	26 </a:t>
            </a:r>
          </a:p>
          <a:p>
            <a:r>
              <a:rPr lang="en-US" sz="4200" dirty="0"/>
              <a:t>6	5	4	3	2	1</a:t>
            </a:r>
            <a:endParaRPr lang="en-US" sz="3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A6EA5A-B327-D4EC-B416-E0A442851B62}"/>
              </a:ext>
            </a:extLst>
          </p:cNvPr>
          <p:cNvSpPr/>
          <p:nvPr/>
        </p:nvSpPr>
        <p:spPr>
          <a:xfrm>
            <a:off x="605044" y="1779104"/>
            <a:ext cx="8338931" cy="487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9CC198-CFDC-4544-B95B-13C1F83A23BD}"/>
              </a:ext>
            </a:extLst>
          </p:cNvPr>
          <p:cNvSpPr/>
          <p:nvPr/>
        </p:nvSpPr>
        <p:spPr>
          <a:xfrm>
            <a:off x="605044" y="3527770"/>
            <a:ext cx="8338931" cy="487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23CD7A-F099-9D13-2A1E-4F9A622CBBFF}"/>
              </a:ext>
            </a:extLst>
          </p:cNvPr>
          <p:cNvSpPr/>
          <p:nvPr/>
        </p:nvSpPr>
        <p:spPr>
          <a:xfrm>
            <a:off x="605044" y="5276436"/>
            <a:ext cx="8338931" cy="487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1EB849-78DA-8A6D-759E-C845188F84EB}"/>
              </a:ext>
            </a:extLst>
          </p:cNvPr>
          <p:cNvSpPr/>
          <p:nvPr/>
        </p:nvSpPr>
        <p:spPr>
          <a:xfrm>
            <a:off x="605044" y="2433223"/>
            <a:ext cx="8338931" cy="487018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F9F071-3889-DF6A-5C08-4C103CFC7265}"/>
              </a:ext>
            </a:extLst>
          </p:cNvPr>
          <p:cNvSpPr/>
          <p:nvPr/>
        </p:nvSpPr>
        <p:spPr>
          <a:xfrm>
            <a:off x="605044" y="4130950"/>
            <a:ext cx="8338931" cy="487018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D5882-75B4-0ACF-BBB1-B20ACA16597C}"/>
              </a:ext>
            </a:extLst>
          </p:cNvPr>
          <p:cNvSpPr/>
          <p:nvPr/>
        </p:nvSpPr>
        <p:spPr>
          <a:xfrm>
            <a:off x="605044" y="5905087"/>
            <a:ext cx="8338931" cy="487018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926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Opposite Letters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Two Letters </a:t>
            </a:r>
          </a:p>
          <a:p>
            <a:pPr algn="just"/>
            <a:r>
              <a:rPr lang="en-US" dirty="0"/>
              <a:t>Sum - Corresponding Positions = 27</a:t>
            </a:r>
          </a:p>
          <a:p>
            <a:pPr algn="just"/>
            <a:r>
              <a:rPr lang="en-US" sz="2600" dirty="0"/>
              <a:t>A     B     C     D     E     F     G     H     I     J     </a:t>
            </a:r>
            <a:r>
              <a:rPr lang="en-US" sz="2400" dirty="0"/>
              <a:t>K      L     M</a:t>
            </a:r>
            <a:endParaRPr lang="en-US" sz="2600" dirty="0"/>
          </a:p>
          <a:p>
            <a:r>
              <a:rPr lang="en-US" sz="2800" dirty="0"/>
              <a:t>1      2     3    4     5     6     7     8    9   10    11    12   13</a:t>
            </a:r>
            <a:endParaRPr lang="en-US" dirty="0"/>
          </a:p>
          <a:p>
            <a:r>
              <a:rPr lang="en-US" sz="2800" dirty="0"/>
              <a:t>Z     Y      X    W   V    U     T     S    R    Q    P    O    N</a:t>
            </a:r>
          </a:p>
          <a:p>
            <a:r>
              <a:rPr lang="en-US" sz="2800" dirty="0"/>
              <a:t>26	25  24   23   22  21    20	  19   18   17   16    15   14</a:t>
            </a:r>
          </a:p>
        </p:txBody>
      </p:sp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577C0CD4-DA1A-E487-81E7-4822ACBEF047}"/>
              </a:ext>
            </a:extLst>
          </p:cNvPr>
          <p:cNvSpPr/>
          <p:nvPr/>
        </p:nvSpPr>
        <p:spPr>
          <a:xfrm rot="5400000" flipV="1">
            <a:off x="-193553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0801F1CF-5B78-7014-AA76-9080D21D55E8}"/>
              </a:ext>
            </a:extLst>
          </p:cNvPr>
          <p:cNvSpPr/>
          <p:nvPr/>
        </p:nvSpPr>
        <p:spPr>
          <a:xfrm rot="5400000" flipV="1">
            <a:off x="475682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78A05331-53D8-DA45-AD95-6BB45537FE90}"/>
              </a:ext>
            </a:extLst>
          </p:cNvPr>
          <p:cNvSpPr/>
          <p:nvPr/>
        </p:nvSpPr>
        <p:spPr>
          <a:xfrm rot="5400000" flipV="1">
            <a:off x="1144917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8DD40F75-363D-D58F-B437-105062416D56}"/>
              </a:ext>
            </a:extLst>
          </p:cNvPr>
          <p:cNvSpPr/>
          <p:nvPr/>
        </p:nvSpPr>
        <p:spPr>
          <a:xfrm rot="5400000" flipV="1">
            <a:off x="1665193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5182FD4F-9AAD-B274-ADB9-8A598CEA9688}"/>
              </a:ext>
            </a:extLst>
          </p:cNvPr>
          <p:cNvSpPr/>
          <p:nvPr/>
        </p:nvSpPr>
        <p:spPr>
          <a:xfrm rot="5400000" flipV="1">
            <a:off x="2314549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A460D8B1-4868-5557-E530-B8D208B69156}"/>
              </a:ext>
            </a:extLst>
          </p:cNvPr>
          <p:cNvSpPr/>
          <p:nvPr/>
        </p:nvSpPr>
        <p:spPr>
          <a:xfrm rot="5400000" flipV="1">
            <a:off x="2917782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149E3247-EBF4-CFF3-DA76-A35C03D77271}"/>
              </a:ext>
            </a:extLst>
          </p:cNvPr>
          <p:cNvSpPr/>
          <p:nvPr/>
        </p:nvSpPr>
        <p:spPr>
          <a:xfrm rot="5400000" flipV="1">
            <a:off x="3615759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1F27C165-71D9-3FAA-C016-1612EC944AE6}"/>
              </a:ext>
            </a:extLst>
          </p:cNvPr>
          <p:cNvSpPr/>
          <p:nvPr/>
        </p:nvSpPr>
        <p:spPr>
          <a:xfrm rot="5400000" flipV="1">
            <a:off x="4313736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4E2A3453-1805-2FA3-7DCC-7B996CE1C473}"/>
              </a:ext>
            </a:extLst>
          </p:cNvPr>
          <p:cNvSpPr/>
          <p:nvPr/>
        </p:nvSpPr>
        <p:spPr>
          <a:xfrm rot="5400000" flipV="1">
            <a:off x="4862754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2DAC3624-66C6-FC66-92BC-1C53E063D659}"/>
              </a:ext>
            </a:extLst>
          </p:cNvPr>
          <p:cNvSpPr/>
          <p:nvPr/>
        </p:nvSpPr>
        <p:spPr>
          <a:xfrm rot="5400000" flipV="1">
            <a:off x="5411772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urved Down 13">
            <a:extLst>
              <a:ext uri="{FF2B5EF4-FFF2-40B4-BE49-F238E27FC236}">
                <a16:creationId xmlns:a16="http://schemas.microsoft.com/office/drawing/2014/main" id="{296120F3-B1FF-FCDC-9B1D-53DC4B7A569F}"/>
              </a:ext>
            </a:extLst>
          </p:cNvPr>
          <p:cNvSpPr/>
          <p:nvPr/>
        </p:nvSpPr>
        <p:spPr>
          <a:xfrm rot="5400000" flipV="1">
            <a:off x="6049816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19EAF40B-758B-3CCD-CB04-8232A5056C89}"/>
              </a:ext>
            </a:extLst>
          </p:cNvPr>
          <p:cNvSpPr/>
          <p:nvPr/>
        </p:nvSpPr>
        <p:spPr>
          <a:xfrm rot="5400000" flipV="1">
            <a:off x="6716937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1666332C-DACF-8D71-DA80-D8FB7ED80805}"/>
              </a:ext>
            </a:extLst>
          </p:cNvPr>
          <p:cNvSpPr/>
          <p:nvPr/>
        </p:nvSpPr>
        <p:spPr>
          <a:xfrm rot="5400000" flipV="1">
            <a:off x="7307471" y="4477838"/>
            <a:ext cx="1580064" cy="2979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126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Pair of Opposite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AZ	Amazing		BY	By</a:t>
            </a:r>
          </a:p>
          <a:p>
            <a:pPr algn="just"/>
            <a:r>
              <a:rPr lang="en-IN" dirty="0"/>
              <a:t>CX	Six			DW	Dew</a:t>
            </a:r>
          </a:p>
          <a:p>
            <a:pPr algn="just"/>
            <a:r>
              <a:rPr lang="en-IN" dirty="0"/>
              <a:t>EV	Evening		FU	Full</a:t>
            </a:r>
          </a:p>
          <a:p>
            <a:pPr algn="just"/>
            <a:r>
              <a:rPr lang="en-IN" dirty="0"/>
              <a:t>GT	GT Road		HS	High Score</a:t>
            </a:r>
          </a:p>
          <a:p>
            <a:pPr algn="just"/>
            <a:r>
              <a:rPr lang="en-IN" dirty="0"/>
              <a:t>IR	Indian Railway	JQ	Jack Queen</a:t>
            </a:r>
          </a:p>
          <a:p>
            <a:pPr algn="just"/>
            <a:r>
              <a:rPr lang="en-IN" dirty="0"/>
              <a:t>KP	Karl Pearson	LO	Low</a:t>
            </a:r>
          </a:p>
          <a:p>
            <a:pPr algn="just"/>
            <a:r>
              <a:rPr lang="en-IN" dirty="0"/>
              <a:t>MN	Man</a:t>
            </a:r>
          </a:p>
        </p:txBody>
      </p:sp>
    </p:spTree>
    <p:extLst>
      <p:ext uri="{BB962C8B-B14F-4D97-AF65-F5344CB8AC3E}">
        <p14:creationId xmlns:p14="http://schemas.microsoft.com/office/powerpoint/2010/main" val="2832258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Clockwise &amp; Anticlockwise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F9A43983-54DD-60BD-D2B9-A384F071451A}"/>
              </a:ext>
            </a:extLst>
          </p:cNvPr>
          <p:cNvSpPr/>
          <p:nvPr/>
        </p:nvSpPr>
        <p:spPr>
          <a:xfrm rot="16200000" flipH="1">
            <a:off x="674783" y="3979605"/>
            <a:ext cx="902467" cy="511049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855757D2-6D10-F997-686A-171523E696A9}"/>
              </a:ext>
            </a:extLst>
          </p:cNvPr>
          <p:cNvSpPr/>
          <p:nvPr/>
        </p:nvSpPr>
        <p:spPr>
          <a:xfrm rot="5568879">
            <a:off x="7457088" y="3804264"/>
            <a:ext cx="795605" cy="53515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AA3E45DA-C0EE-900A-4679-D0A3A7D14CAC}"/>
              </a:ext>
            </a:extLst>
          </p:cNvPr>
          <p:cNvSpPr/>
          <p:nvPr/>
        </p:nvSpPr>
        <p:spPr>
          <a:xfrm rot="5400000" flipV="1">
            <a:off x="141569" y="3766170"/>
            <a:ext cx="4639920" cy="1325086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E40C4E4E-737A-22CF-ED5F-034FD6F51313}"/>
              </a:ext>
            </a:extLst>
          </p:cNvPr>
          <p:cNvSpPr/>
          <p:nvPr/>
        </p:nvSpPr>
        <p:spPr>
          <a:xfrm rot="16200000" flipH="1" flipV="1">
            <a:off x="4273137" y="3710990"/>
            <a:ext cx="4575867" cy="1407834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A4425B-1AEC-90BA-0D95-9AD0B5138714}"/>
              </a:ext>
            </a:extLst>
          </p:cNvPr>
          <p:cNvSpPr/>
          <p:nvPr/>
        </p:nvSpPr>
        <p:spPr>
          <a:xfrm>
            <a:off x="2644726" y="2733262"/>
            <a:ext cx="3736196" cy="346875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18E27F-0FAF-A41B-EA40-C7CDE375A499}"/>
              </a:ext>
            </a:extLst>
          </p:cNvPr>
          <p:cNvSpPr/>
          <p:nvPr/>
        </p:nvSpPr>
        <p:spPr>
          <a:xfrm>
            <a:off x="4463128" y="2696353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7647BC-1EDF-DFB5-20BB-D9FF63426D6B}"/>
              </a:ext>
            </a:extLst>
          </p:cNvPr>
          <p:cNvSpPr/>
          <p:nvPr/>
        </p:nvSpPr>
        <p:spPr>
          <a:xfrm>
            <a:off x="4512824" y="6165111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1FBF7A-E651-F2E3-49F0-848015EC7025}"/>
              </a:ext>
            </a:extLst>
          </p:cNvPr>
          <p:cNvSpPr/>
          <p:nvPr/>
        </p:nvSpPr>
        <p:spPr>
          <a:xfrm>
            <a:off x="6332675" y="4430732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1B44F13-9994-AAF9-B337-BCFE50C5FA4C}"/>
              </a:ext>
            </a:extLst>
          </p:cNvPr>
          <p:cNvSpPr/>
          <p:nvPr/>
        </p:nvSpPr>
        <p:spPr>
          <a:xfrm>
            <a:off x="2603098" y="4381037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575B94-35E0-FA47-4B2E-BD4C8164A611}"/>
              </a:ext>
            </a:extLst>
          </p:cNvPr>
          <p:cNvSpPr/>
          <p:nvPr/>
        </p:nvSpPr>
        <p:spPr>
          <a:xfrm>
            <a:off x="5845962" y="3256258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69C6D3-E1C7-B1F1-0B3E-6C7001881C93}"/>
              </a:ext>
            </a:extLst>
          </p:cNvPr>
          <p:cNvSpPr/>
          <p:nvPr/>
        </p:nvSpPr>
        <p:spPr>
          <a:xfrm>
            <a:off x="3188572" y="5691344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DE6E2E-D519-CF15-128F-0E6194382092}"/>
              </a:ext>
            </a:extLst>
          </p:cNvPr>
          <p:cNvSpPr/>
          <p:nvPr/>
        </p:nvSpPr>
        <p:spPr>
          <a:xfrm>
            <a:off x="3128937" y="3226441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C5A55D-9AE7-8AB6-E9A8-5E7BB5925304}"/>
              </a:ext>
            </a:extLst>
          </p:cNvPr>
          <p:cNvSpPr/>
          <p:nvPr/>
        </p:nvSpPr>
        <p:spPr>
          <a:xfrm>
            <a:off x="5737254" y="5711222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DDCB1D-EF9B-E3EA-6EDE-2C2490AD008A}"/>
              </a:ext>
            </a:extLst>
          </p:cNvPr>
          <p:cNvSpPr/>
          <p:nvPr/>
        </p:nvSpPr>
        <p:spPr>
          <a:xfrm>
            <a:off x="2835469" y="3587563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74E9B8-8BEB-9EB7-3F8C-0F7647DC042C}"/>
              </a:ext>
            </a:extLst>
          </p:cNvPr>
          <p:cNvSpPr/>
          <p:nvPr/>
        </p:nvSpPr>
        <p:spPr>
          <a:xfrm>
            <a:off x="6153771" y="3696893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A57DFE-48A3-E6F7-48E7-8F6D7FE8A58F}"/>
              </a:ext>
            </a:extLst>
          </p:cNvPr>
          <p:cNvSpPr/>
          <p:nvPr/>
        </p:nvSpPr>
        <p:spPr>
          <a:xfrm>
            <a:off x="2749790" y="5104471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79871C-6CDD-A6F0-D332-C7F1BF77DEE4}"/>
              </a:ext>
            </a:extLst>
          </p:cNvPr>
          <p:cNvSpPr/>
          <p:nvPr/>
        </p:nvSpPr>
        <p:spPr>
          <a:xfrm>
            <a:off x="6193527" y="5118188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3625F94-5D85-3EA8-6301-1E4DDC720B3A}"/>
              </a:ext>
            </a:extLst>
          </p:cNvPr>
          <p:cNvSpPr/>
          <p:nvPr/>
        </p:nvSpPr>
        <p:spPr>
          <a:xfrm>
            <a:off x="3578188" y="2897779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3B2F26-490E-F5EB-5F70-C9BAF04862AF}"/>
              </a:ext>
            </a:extLst>
          </p:cNvPr>
          <p:cNvSpPr/>
          <p:nvPr/>
        </p:nvSpPr>
        <p:spPr>
          <a:xfrm>
            <a:off x="5408131" y="2941779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B4786A7-9C64-E5EC-B542-4BBD2585496A}"/>
              </a:ext>
            </a:extLst>
          </p:cNvPr>
          <p:cNvSpPr/>
          <p:nvPr/>
        </p:nvSpPr>
        <p:spPr>
          <a:xfrm>
            <a:off x="3608005" y="5966327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8C1CED-E3F5-BD74-013E-6F6BC7E79D99}"/>
              </a:ext>
            </a:extLst>
          </p:cNvPr>
          <p:cNvSpPr/>
          <p:nvPr/>
        </p:nvSpPr>
        <p:spPr>
          <a:xfrm>
            <a:off x="5357091" y="5966327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83A69BB-12F9-CBEB-28B8-78AE2FDAF36C}"/>
              </a:ext>
            </a:extLst>
          </p:cNvPr>
          <p:cNvSpPr/>
          <p:nvPr/>
        </p:nvSpPr>
        <p:spPr>
          <a:xfrm>
            <a:off x="4970024" y="2760027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18049A4-D1D8-8918-8551-6A50C63EAEE2}"/>
              </a:ext>
            </a:extLst>
          </p:cNvPr>
          <p:cNvSpPr/>
          <p:nvPr/>
        </p:nvSpPr>
        <p:spPr>
          <a:xfrm>
            <a:off x="4967170" y="6095073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BBEB6F1-5075-1607-1816-202854AD9839}"/>
              </a:ext>
            </a:extLst>
          </p:cNvPr>
          <p:cNvSpPr/>
          <p:nvPr/>
        </p:nvSpPr>
        <p:spPr>
          <a:xfrm>
            <a:off x="4031057" y="6119688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AFB0ACD-C2FA-EE84-0EC2-D8020393E629}"/>
              </a:ext>
            </a:extLst>
          </p:cNvPr>
          <p:cNvSpPr/>
          <p:nvPr/>
        </p:nvSpPr>
        <p:spPr>
          <a:xfrm>
            <a:off x="4011637" y="2733261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5EED7E4-F12F-21FA-0515-3853241324F7}"/>
              </a:ext>
            </a:extLst>
          </p:cNvPr>
          <p:cNvSpPr/>
          <p:nvPr/>
        </p:nvSpPr>
        <p:spPr>
          <a:xfrm>
            <a:off x="6292919" y="4108173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059A860-10CE-D35E-325C-5130450E89F3}"/>
              </a:ext>
            </a:extLst>
          </p:cNvPr>
          <p:cNvSpPr/>
          <p:nvPr/>
        </p:nvSpPr>
        <p:spPr>
          <a:xfrm>
            <a:off x="2905050" y="5369979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41B9440-FAD0-69BF-2C66-A261803276C5}"/>
              </a:ext>
            </a:extLst>
          </p:cNvPr>
          <p:cNvSpPr/>
          <p:nvPr/>
        </p:nvSpPr>
        <p:spPr>
          <a:xfrm>
            <a:off x="6034001" y="5406887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BA27A6-9887-3643-35A6-7F143CEDF73D}"/>
              </a:ext>
            </a:extLst>
          </p:cNvPr>
          <p:cNvSpPr/>
          <p:nvPr/>
        </p:nvSpPr>
        <p:spPr>
          <a:xfrm>
            <a:off x="2641405" y="4001226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07BD68-6BCD-0901-7D8B-5D1E236ACCF0}"/>
              </a:ext>
            </a:extLst>
          </p:cNvPr>
          <p:cNvSpPr/>
          <p:nvPr/>
        </p:nvSpPr>
        <p:spPr>
          <a:xfrm>
            <a:off x="6316117" y="4755935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278C738-BAC3-8387-31FA-C860D0BE936C}"/>
              </a:ext>
            </a:extLst>
          </p:cNvPr>
          <p:cNvSpPr/>
          <p:nvPr/>
        </p:nvSpPr>
        <p:spPr>
          <a:xfrm>
            <a:off x="2621527" y="4762561"/>
            <a:ext cx="99392" cy="7381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305566-CF37-A59A-80BF-1B64CDAFFD22}"/>
              </a:ext>
            </a:extLst>
          </p:cNvPr>
          <p:cNvSpPr txBox="1"/>
          <p:nvPr/>
        </p:nvSpPr>
        <p:spPr>
          <a:xfrm>
            <a:off x="4353798" y="2270235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620ED9-8CB2-415D-2CE7-442D4E1E9E48}"/>
              </a:ext>
            </a:extLst>
          </p:cNvPr>
          <p:cNvSpPr txBox="1"/>
          <p:nvPr/>
        </p:nvSpPr>
        <p:spPr>
          <a:xfrm>
            <a:off x="4907536" y="2302018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4B0972-B32B-89E7-4529-8FBEF549294A}"/>
              </a:ext>
            </a:extLst>
          </p:cNvPr>
          <p:cNvSpPr txBox="1"/>
          <p:nvPr/>
        </p:nvSpPr>
        <p:spPr>
          <a:xfrm>
            <a:off x="5456942" y="2480052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65D595-E7B5-23BA-D134-8B72D0C351B1}"/>
              </a:ext>
            </a:extLst>
          </p:cNvPr>
          <p:cNvSpPr txBox="1"/>
          <p:nvPr/>
        </p:nvSpPr>
        <p:spPr>
          <a:xfrm>
            <a:off x="6016953" y="2868937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EE5F87-F570-2C71-B02A-3997BDCFCA1B}"/>
              </a:ext>
            </a:extLst>
          </p:cNvPr>
          <p:cNvSpPr txBox="1"/>
          <p:nvPr/>
        </p:nvSpPr>
        <p:spPr>
          <a:xfrm>
            <a:off x="6343074" y="3403481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8F3438-A21D-A491-A961-7DD565DD39FF}"/>
              </a:ext>
            </a:extLst>
          </p:cNvPr>
          <p:cNvSpPr txBox="1"/>
          <p:nvPr/>
        </p:nvSpPr>
        <p:spPr>
          <a:xfrm>
            <a:off x="6487945" y="3853468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979B02-4EE9-0BE3-AAF9-05973EAEFA2D}"/>
              </a:ext>
            </a:extLst>
          </p:cNvPr>
          <p:cNvSpPr txBox="1"/>
          <p:nvPr/>
        </p:nvSpPr>
        <p:spPr>
          <a:xfrm>
            <a:off x="6502100" y="4222800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618DC2-22E4-158A-A01A-D3E0B7D709E4}"/>
              </a:ext>
            </a:extLst>
          </p:cNvPr>
          <p:cNvSpPr txBox="1"/>
          <p:nvPr/>
        </p:nvSpPr>
        <p:spPr>
          <a:xfrm>
            <a:off x="6522474" y="4639920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FCB3BF-0AD7-6AFE-1EE4-25D95499124B}"/>
              </a:ext>
            </a:extLst>
          </p:cNvPr>
          <p:cNvSpPr txBox="1"/>
          <p:nvPr/>
        </p:nvSpPr>
        <p:spPr>
          <a:xfrm>
            <a:off x="6366769" y="5026009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9AB594-0039-EBF4-71AA-B3075987FE7B}"/>
              </a:ext>
            </a:extLst>
          </p:cNvPr>
          <p:cNvSpPr txBox="1"/>
          <p:nvPr/>
        </p:nvSpPr>
        <p:spPr>
          <a:xfrm>
            <a:off x="6175979" y="5406932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E0E70E-1CFC-A856-CE4B-D99F8DCA02FE}"/>
              </a:ext>
            </a:extLst>
          </p:cNvPr>
          <p:cNvSpPr txBox="1"/>
          <p:nvPr/>
        </p:nvSpPr>
        <p:spPr>
          <a:xfrm>
            <a:off x="5845962" y="5748130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65558F-A6A6-CDAB-067D-BE64A9605F0C}"/>
              </a:ext>
            </a:extLst>
          </p:cNvPr>
          <p:cNvSpPr txBox="1"/>
          <p:nvPr/>
        </p:nvSpPr>
        <p:spPr>
          <a:xfrm>
            <a:off x="5364226" y="6001944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C20512-5E82-66EA-013E-3CA7B7E7DF1E}"/>
              </a:ext>
            </a:extLst>
          </p:cNvPr>
          <p:cNvSpPr txBox="1"/>
          <p:nvPr/>
        </p:nvSpPr>
        <p:spPr>
          <a:xfrm>
            <a:off x="4781904" y="6238928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85252A-459A-8BD5-D682-A03631C4646D}"/>
              </a:ext>
            </a:extLst>
          </p:cNvPr>
          <p:cNvSpPr txBox="1"/>
          <p:nvPr/>
        </p:nvSpPr>
        <p:spPr>
          <a:xfrm>
            <a:off x="4362097" y="6263932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07135F-6F7D-92B1-5963-F7BFFBC58E65}"/>
              </a:ext>
            </a:extLst>
          </p:cNvPr>
          <p:cNvSpPr txBox="1"/>
          <p:nvPr/>
        </p:nvSpPr>
        <p:spPr>
          <a:xfrm>
            <a:off x="3852611" y="6203445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CEEF75-3BE2-94E1-E710-0BC71687A032}"/>
              </a:ext>
            </a:extLst>
          </p:cNvPr>
          <p:cNvSpPr txBox="1"/>
          <p:nvPr/>
        </p:nvSpPr>
        <p:spPr>
          <a:xfrm>
            <a:off x="2255898" y="4951800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4F655A-CB56-1DA5-21C0-6744573CF4B2}"/>
              </a:ext>
            </a:extLst>
          </p:cNvPr>
          <p:cNvSpPr txBox="1"/>
          <p:nvPr/>
        </p:nvSpPr>
        <p:spPr>
          <a:xfrm>
            <a:off x="2736444" y="5748130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E12FE9-1AF3-EC96-BF39-E07AA90DC4C8}"/>
              </a:ext>
            </a:extLst>
          </p:cNvPr>
          <p:cNvSpPr txBox="1"/>
          <p:nvPr/>
        </p:nvSpPr>
        <p:spPr>
          <a:xfrm>
            <a:off x="2459180" y="5321132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2534CE-166F-25F5-275B-3240A3BC39DC}"/>
              </a:ext>
            </a:extLst>
          </p:cNvPr>
          <p:cNvSpPr txBox="1"/>
          <p:nvPr/>
        </p:nvSpPr>
        <p:spPr>
          <a:xfrm>
            <a:off x="3292113" y="6079266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38F9CA-8D87-17A4-4343-7BC71C680A08}"/>
              </a:ext>
            </a:extLst>
          </p:cNvPr>
          <p:cNvSpPr txBox="1"/>
          <p:nvPr/>
        </p:nvSpPr>
        <p:spPr>
          <a:xfrm>
            <a:off x="2176927" y="4614803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77FC5C-F010-B1C0-9732-9BACDE553DD1}"/>
              </a:ext>
            </a:extLst>
          </p:cNvPr>
          <p:cNvSpPr txBox="1"/>
          <p:nvPr/>
        </p:nvSpPr>
        <p:spPr>
          <a:xfrm>
            <a:off x="2157508" y="4196371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562991-C681-0D1C-9367-F0D12ECB3F5A}"/>
              </a:ext>
            </a:extLst>
          </p:cNvPr>
          <p:cNvSpPr txBox="1"/>
          <p:nvPr/>
        </p:nvSpPr>
        <p:spPr>
          <a:xfrm>
            <a:off x="2128939" y="3765127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F15F78-EF14-4643-E47C-438395ACCAE3}"/>
              </a:ext>
            </a:extLst>
          </p:cNvPr>
          <p:cNvSpPr txBox="1"/>
          <p:nvPr/>
        </p:nvSpPr>
        <p:spPr>
          <a:xfrm>
            <a:off x="2384438" y="3242749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A10001-30A7-2595-79E4-2296FAADE133}"/>
              </a:ext>
            </a:extLst>
          </p:cNvPr>
          <p:cNvSpPr txBox="1"/>
          <p:nvPr/>
        </p:nvSpPr>
        <p:spPr>
          <a:xfrm>
            <a:off x="2799163" y="2753138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5F29A9-8129-C8A3-4206-C70B5D92090B}"/>
              </a:ext>
            </a:extLst>
          </p:cNvPr>
          <p:cNvSpPr txBox="1"/>
          <p:nvPr/>
        </p:nvSpPr>
        <p:spPr>
          <a:xfrm>
            <a:off x="3323083" y="2427603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endParaRPr lang="en-I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729DA5-40BF-F0F2-816B-BBD7F28087F1}"/>
              </a:ext>
            </a:extLst>
          </p:cNvPr>
          <p:cNvSpPr txBox="1"/>
          <p:nvPr/>
        </p:nvSpPr>
        <p:spPr>
          <a:xfrm>
            <a:off x="3841983" y="2288261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6E302F-B978-E8FC-35F3-A8D3DBCE7C6D}"/>
              </a:ext>
            </a:extLst>
          </p:cNvPr>
          <p:cNvSpPr txBox="1"/>
          <p:nvPr/>
        </p:nvSpPr>
        <p:spPr>
          <a:xfrm>
            <a:off x="7366857" y="3845038"/>
            <a:ext cx="61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</a:t>
            </a:r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40B757-55FF-001E-2DDE-DB7CE1F03F0F}"/>
              </a:ext>
            </a:extLst>
          </p:cNvPr>
          <p:cNvSpPr txBox="1"/>
          <p:nvPr/>
        </p:nvSpPr>
        <p:spPr>
          <a:xfrm>
            <a:off x="1129259" y="4029704"/>
            <a:ext cx="619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289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All Letters – Reverse Order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‘DINESH’ is written as ‘HSENID’  then how will ‘GENRATOR’ be written in that language?</a:t>
            </a:r>
          </a:p>
          <a:p>
            <a:pPr algn="just"/>
            <a:r>
              <a:rPr lang="en-US" dirty="0"/>
              <a:t>DINESH  		- 		HSENID</a:t>
            </a:r>
          </a:p>
          <a:p>
            <a:pPr algn="just"/>
            <a:r>
              <a:rPr lang="en-US" dirty="0"/>
              <a:t>GENRATOR 	- 		ROTARNEG</a:t>
            </a:r>
          </a:p>
        </p:txBody>
      </p:sp>
    </p:spTree>
    <p:extLst>
      <p:ext uri="{BB962C8B-B14F-4D97-AF65-F5344CB8AC3E}">
        <p14:creationId xmlns:p14="http://schemas.microsoft.com/office/powerpoint/2010/main" val="4032499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Letter of Word – Two Parts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First Part – Reverse Order (Second Part)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‘DINESH’ is written as ‘ESHNID’  then how will ‘GENRATOR’ be written in that language?</a:t>
            </a:r>
          </a:p>
          <a:p>
            <a:pPr algn="just"/>
            <a:r>
              <a:rPr lang="en-US" dirty="0"/>
              <a:t>DIN		ESH  	- 	ESH		NID</a:t>
            </a:r>
          </a:p>
          <a:p>
            <a:pPr algn="just"/>
            <a:r>
              <a:rPr lang="en-US" dirty="0"/>
              <a:t>GENR	ATOR 	- 	ATOR 		RNEG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0B0A8A6-5E79-2330-6173-02EE90A49F67}"/>
              </a:ext>
            </a:extLst>
          </p:cNvPr>
          <p:cNvSpPr/>
          <p:nvPr/>
        </p:nvSpPr>
        <p:spPr>
          <a:xfrm>
            <a:off x="566531" y="5387010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F0C3CA-768E-E16B-A457-55C038D9FFD4}"/>
              </a:ext>
            </a:extLst>
          </p:cNvPr>
          <p:cNvSpPr/>
          <p:nvPr/>
        </p:nvSpPr>
        <p:spPr>
          <a:xfrm>
            <a:off x="5847523" y="5387010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F03B09-0AE4-6447-7C56-B7BD1EBD54ED}"/>
              </a:ext>
            </a:extLst>
          </p:cNvPr>
          <p:cNvSpPr/>
          <p:nvPr/>
        </p:nvSpPr>
        <p:spPr>
          <a:xfrm>
            <a:off x="2207522" y="5396950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7D162C-84BD-A385-B419-FC297B092D8F}"/>
              </a:ext>
            </a:extLst>
          </p:cNvPr>
          <p:cNvSpPr/>
          <p:nvPr/>
        </p:nvSpPr>
        <p:spPr>
          <a:xfrm>
            <a:off x="3992218" y="5396950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E9683D-C14A-829B-2C65-8489241D511F}"/>
              </a:ext>
            </a:extLst>
          </p:cNvPr>
          <p:cNvSpPr/>
          <p:nvPr/>
        </p:nvSpPr>
        <p:spPr>
          <a:xfrm>
            <a:off x="659297" y="6095998"/>
            <a:ext cx="930964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645031-0BF9-0002-48EB-09D51C9D15E3}"/>
              </a:ext>
            </a:extLst>
          </p:cNvPr>
          <p:cNvSpPr/>
          <p:nvPr/>
        </p:nvSpPr>
        <p:spPr>
          <a:xfrm>
            <a:off x="5829924" y="6095998"/>
            <a:ext cx="107010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D5DFA1-161C-C4FB-FD5B-15134F722D99}"/>
              </a:ext>
            </a:extLst>
          </p:cNvPr>
          <p:cNvSpPr/>
          <p:nvPr/>
        </p:nvSpPr>
        <p:spPr>
          <a:xfrm>
            <a:off x="2204212" y="6105938"/>
            <a:ext cx="93096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F8F4C-2668-21F0-9226-F174332FD366}"/>
              </a:ext>
            </a:extLst>
          </p:cNvPr>
          <p:cNvSpPr/>
          <p:nvPr/>
        </p:nvSpPr>
        <p:spPr>
          <a:xfrm>
            <a:off x="4084984" y="6105938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237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Letter of Word – Two Parts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Second Part– Reverse Order (First Part)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‘DINESH’ is written as ‘HSEDIN’  then how will ‘GENRATOR’ be written in that language?</a:t>
            </a:r>
          </a:p>
          <a:p>
            <a:pPr algn="just"/>
            <a:r>
              <a:rPr lang="en-US" dirty="0"/>
              <a:t>DIN		ESH  	- 	HSE		 DIN</a:t>
            </a:r>
          </a:p>
          <a:p>
            <a:pPr algn="just"/>
            <a:r>
              <a:rPr lang="en-US" dirty="0"/>
              <a:t>GENR	ATOR 	- 	ROTA 		 GENR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200AF2-95AD-FBE0-1FE0-5B3B7F7DF99C}"/>
              </a:ext>
            </a:extLst>
          </p:cNvPr>
          <p:cNvSpPr/>
          <p:nvPr/>
        </p:nvSpPr>
        <p:spPr>
          <a:xfrm>
            <a:off x="566531" y="5387010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EA9BAA-6404-DA6F-2F15-A67C701EC34E}"/>
              </a:ext>
            </a:extLst>
          </p:cNvPr>
          <p:cNvSpPr/>
          <p:nvPr/>
        </p:nvSpPr>
        <p:spPr>
          <a:xfrm>
            <a:off x="5847523" y="5387010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B24B62-9CBC-FFC8-99BA-3E6EE67E2EAC}"/>
              </a:ext>
            </a:extLst>
          </p:cNvPr>
          <p:cNvSpPr/>
          <p:nvPr/>
        </p:nvSpPr>
        <p:spPr>
          <a:xfrm>
            <a:off x="2207522" y="5396950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939504-A283-D9D3-A4EA-C1053636C53B}"/>
              </a:ext>
            </a:extLst>
          </p:cNvPr>
          <p:cNvSpPr/>
          <p:nvPr/>
        </p:nvSpPr>
        <p:spPr>
          <a:xfrm>
            <a:off x="3992218" y="5396950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A5EA5C-C338-900D-6805-5470B41F8313}"/>
              </a:ext>
            </a:extLst>
          </p:cNvPr>
          <p:cNvSpPr/>
          <p:nvPr/>
        </p:nvSpPr>
        <p:spPr>
          <a:xfrm>
            <a:off x="649358" y="6095995"/>
            <a:ext cx="960781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9A9ABA-0A58-CE5B-5C93-1C6FDB4E45AD}"/>
              </a:ext>
            </a:extLst>
          </p:cNvPr>
          <p:cNvSpPr/>
          <p:nvPr/>
        </p:nvSpPr>
        <p:spPr>
          <a:xfrm>
            <a:off x="5940289" y="6076117"/>
            <a:ext cx="996189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A9DA4B-5139-E5D6-D29E-41809989125A}"/>
              </a:ext>
            </a:extLst>
          </p:cNvPr>
          <p:cNvSpPr/>
          <p:nvPr/>
        </p:nvSpPr>
        <p:spPr>
          <a:xfrm>
            <a:off x="2207522" y="6086057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357497-072C-9F8C-01AF-6BDE31B90F56}"/>
              </a:ext>
            </a:extLst>
          </p:cNvPr>
          <p:cNvSpPr/>
          <p:nvPr/>
        </p:nvSpPr>
        <p:spPr>
          <a:xfrm>
            <a:off x="4041913" y="6095996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163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Letter of Word – Two Parts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Both Parts – Reverse Order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‘DINESH’ is written as ‘HSENID’  then how will ‘GENRATOR’ be written in that language?</a:t>
            </a:r>
          </a:p>
          <a:p>
            <a:pPr algn="just"/>
            <a:r>
              <a:rPr lang="en-US" dirty="0"/>
              <a:t>DIN		ESH  	- 	NID		HSE	</a:t>
            </a:r>
          </a:p>
          <a:p>
            <a:pPr algn="just"/>
            <a:r>
              <a:rPr lang="en-US" dirty="0"/>
              <a:t>GENR 	ATOR 	- 	RNEG		ROTA	</a:t>
            </a:r>
          </a:p>
          <a:p>
            <a:pPr algn="just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351F8F-ACA4-9151-FD7B-9043A477B7AD}"/>
              </a:ext>
            </a:extLst>
          </p:cNvPr>
          <p:cNvSpPr/>
          <p:nvPr/>
        </p:nvSpPr>
        <p:spPr>
          <a:xfrm>
            <a:off x="566531" y="5387010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F5A1F3-7D13-962E-43EC-E5249DCF0AE2}"/>
              </a:ext>
            </a:extLst>
          </p:cNvPr>
          <p:cNvSpPr/>
          <p:nvPr/>
        </p:nvSpPr>
        <p:spPr>
          <a:xfrm>
            <a:off x="5847523" y="5387010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EAD80D-06B8-F1BC-A8EA-4A1058413236}"/>
              </a:ext>
            </a:extLst>
          </p:cNvPr>
          <p:cNvSpPr/>
          <p:nvPr/>
        </p:nvSpPr>
        <p:spPr>
          <a:xfrm>
            <a:off x="2207522" y="5396950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2A9262-24C8-2805-7A08-6326557D31DD}"/>
              </a:ext>
            </a:extLst>
          </p:cNvPr>
          <p:cNvSpPr/>
          <p:nvPr/>
        </p:nvSpPr>
        <p:spPr>
          <a:xfrm>
            <a:off x="3992218" y="5396950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898CA5-0246-0CDF-6A1B-BB5B030DC795}"/>
              </a:ext>
            </a:extLst>
          </p:cNvPr>
          <p:cNvSpPr/>
          <p:nvPr/>
        </p:nvSpPr>
        <p:spPr>
          <a:xfrm>
            <a:off x="649358" y="6095995"/>
            <a:ext cx="960781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4B3C67-ED0D-EC1D-66E6-AFD34DD34AB4}"/>
              </a:ext>
            </a:extLst>
          </p:cNvPr>
          <p:cNvSpPr/>
          <p:nvPr/>
        </p:nvSpPr>
        <p:spPr>
          <a:xfrm>
            <a:off x="5850838" y="6086056"/>
            <a:ext cx="996189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847331-D9C4-6694-C9EE-AFDACAA37668}"/>
              </a:ext>
            </a:extLst>
          </p:cNvPr>
          <p:cNvSpPr/>
          <p:nvPr/>
        </p:nvSpPr>
        <p:spPr>
          <a:xfrm>
            <a:off x="2207522" y="6086057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298EDF-9365-4A44-9F4C-02FA373F88AF}"/>
              </a:ext>
            </a:extLst>
          </p:cNvPr>
          <p:cNvSpPr/>
          <p:nvPr/>
        </p:nvSpPr>
        <p:spPr>
          <a:xfrm>
            <a:off x="4041913" y="6095996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347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Letter of Word – Two Parts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Number of Letters  - Even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‘VISHNU’ is written as ‘SIVUNH’  then how will ‘LANGUAGE’ be written in that language?</a:t>
            </a:r>
          </a:p>
          <a:p>
            <a:pPr algn="just"/>
            <a:r>
              <a:rPr lang="en-US" dirty="0"/>
              <a:t>VIS   	HNU 		– SIV   	UNH</a:t>
            </a:r>
          </a:p>
          <a:p>
            <a:pPr algn="just"/>
            <a:r>
              <a:rPr lang="en-US" dirty="0"/>
              <a:t>LANG  	UAGE  	- GNAL   	EGAU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5C34BD-109D-65DB-DC13-9139CAC968F3}"/>
              </a:ext>
            </a:extLst>
          </p:cNvPr>
          <p:cNvSpPr/>
          <p:nvPr/>
        </p:nvSpPr>
        <p:spPr>
          <a:xfrm>
            <a:off x="556592" y="5466522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B5E67B-DA0B-6434-B098-DC536A32C2C3}"/>
              </a:ext>
            </a:extLst>
          </p:cNvPr>
          <p:cNvSpPr/>
          <p:nvPr/>
        </p:nvSpPr>
        <p:spPr>
          <a:xfrm>
            <a:off x="5837584" y="5466522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8B78D4-F552-8CE7-B596-FA7A6E2584DA}"/>
              </a:ext>
            </a:extLst>
          </p:cNvPr>
          <p:cNvSpPr/>
          <p:nvPr/>
        </p:nvSpPr>
        <p:spPr>
          <a:xfrm>
            <a:off x="2197583" y="5476462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A9AEAE-C5C5-B5D5-0A9F-9E06DF774583}"/>
              </a:ext>
            </a:extLst>
          </p:cNvPr>
          <p:cNvSpPr/>
          <p:nvPr/>
        </p:nvSpPr>
        <p:spPr>
          <a:xfrm>
            <a:off x="4181059" y="5476462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17B5CC-27AA-892E-621A-CAFA6E7E7E6D}"/>
              </a:ext>
            </a:extLst>
          </p:cNvPr>
          <p:cNvSpPr/>
          <p:nvPr/>
        </p:nvSpPr>
        <p:spPr>
          <a:xfrm>
            <a:off x="639419" y="6175507"/>
            <a:ext cx="960781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C43B68-5987-93DA-6D51-A261756DF584}"/>
              </a:ext>
            </a:extLst>
          </p:cNvPr>
          <p:cNvSpPr/>
          <p:nvPr/>
        </p:nvSpPr>
        <p:spPr>
          <a:xfrm>
            <a:off x="5860777" y="6165568"/>
            <a:ext cx="996189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92138-3A82-0232-6B4F-E1D0E41634EA}"/>
              </a:ext>
            </a:extLst>
          </p:cNvPr>
          <p:cNvSpPr/>
          <p:nvPr/>
        </p:nvSpPr>
        <p:spPr>
          <a:xfrm>
            <a:off x="2227400" y="6175508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A7241A-AF24-FE48-8B73-5E30397BD831}"/>
              </a:ext>
            </a:extLst>
          </p:cNvPr>
          <p:cNvSpPr/>
          <p:nvPr/>
        </p:nvSpPr>
        <p:spPr>
          <a:xfrm>
            <a:off x="4330144" y="6175508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651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Letter of Word – Two Parts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Number of Letters  - Odd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‘KUMAR’ is written as ‘KUMRA’  then how will ‘MOUSE’ be written in that language?</a:t>
            </a:r>
          </a:p>
          <a:p>
            <a:pPr algn="just"/>
            <a:r>
              <a:rPr lang="en-US" dirty="0"/>
              <a:t>KUM   	AR 	– 	KUM   	RA</a:t>
            </a:r>
          </a:p>
          <a:p>
            <a:pPr algn="just"/>
            <a:r>
              <a:rPr lang="en-US" dirty="0"/>
              <a:t>MOU  	SE  	- 	MOU   	ES</a:t>
            </a:r>
          </a:p>
          <a:p>
            <a:pPr lvl="1" algn="just">
              <a:lnSpc>
                <a:spcPct val="170000"/>
              </a:lnSpc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7994B9-C8EA-C246-490C-59F6DB9E814D}"/>
              </a:ext>
            </a:extLst>
          </p:cNvPr>
          <p:cNvSpPr/>
          <p:nvPr/>
        </p:nvSpPr>
        <p:spPr>
          <a:xfrm>
            <a:off x="566531" y="5198167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1785E7-9A4C-62FF-887E-665BEB36A0C2}"/>
              </a:ext>
            </a:extLst>
          </p:cNvPr>
          <p:cNvSpPr/>
          <p:nvPr/>
        </p:nvSpPr>
        <p:spPr>
          <a:xfrm>
            <a:off x="5847523" y="5198167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E51AE3-ADB5-7B99-F831-CF524FEF0B0C}"/>
              </a:ext>
            </a:extLst>
          </p:cNvPr>
          <p:cNvSpPr/>
          <p:nvPr/>
        </p:nvSpPr>
        <p:spPr>
          <a:xfrm>
            <a:off x="2128010" y="5208107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32ABDB-CF32-9E8A-27AB-B34B2093038A}"/>
              </a:ext>
            </a:extLst>
          </p:cNvPr>
          <p:cNvSpPr/>
          <p:nvPr/>
        </p:nvSpPr>
        <p:spPr>
          <a:xfrm>
            <a:off x="3992218" y="5208107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6BFD41-8F15-E643-932E-5E059F3D294B}"/>
              </a:ext>
            </a:extLst>
          </p:cNvPr>
          <p:cNvSpPr/>
          <p:nvPr/>
        </p:nvSpPr>
        <p:spPr>
          <a:xfrm>
            <a:off x="579785" y="5877335"/>
            <a:ext cx="960781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5FF4BA-90B8-B896-DAE0-BDB9C13B1B94}"/>
              </a:ext>
            </a:extLst>
          </p:cNvPr>
          <p:cNvSpPr/>
          <p:nvPr/>
        </p:nvSpPr>
        <p:spPr>
          <a:xfrm>
            <a:off x="5761387" y="5887274"/>
            <a:ext cx="996189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2650F8-EAD3-8EA5-12E0-AEFCE8D8B40F}"/>
              </a:ext>
            </a:extLst>
          </p:cNvPr>
          <p:cNvSpPr/>
          <p:nvPr/>
        </p:nvSpPr>
        <p:spPr>
          <a:xfrm>
            <a:off x="2088254" y="5897214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FFDD5C-62BD-A7B7-ADFA-EFF0B299E52C}"/>
              </a:ext>
            </a:extLst>
          </p:cNvPr>
          <p:cNvSpPr/>
          <p:nvPr/>
        </p:nvSpPr>
        <p:spPr>
          <a:xfrm>
            <a:off x="4041913" y="5907153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84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Letter of Word – Two Parts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Letter of Word – Two/More Groups – All/Some Reverse Order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‘BOTTLE’ is written as ‘BOTELT’  then how will ‘SINGER’ be written in that language?</a:t>
            </a:r>
          </a:p>
          <a:p>
            <a:pPr algn="just"/>
            <a:r>
              <a:rPr lang="en-US" dirty="0"/>
              <a:t>BOT   	TLE  	– 	BOT    		ELT</a:t>
            </a:r>
          </a:p>
          <a:p>
            <a:pPr algn="just"/>
            <a:r>
              <a:rPr lang="en-US" dirty="0"/>
              <a:t>SIN   	GER  	- 	SIN   		REG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96DA6C-B240-410C-655A-B3648D18E5AA}"/>
              </a:ext>
            </a:extLst>
          </p:cNvPr>
          <p:cNvSpPr/>
          <p:nvPr/>
        </p:nvSpPr>
        <p:spPr>
          <a:xfrm>
            <a:off x="546653" y="4591880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E3823C-5679-7635-1BA5-072021D6F85C}"/>
              </a:ext>
            </a:extLst>
          </p:cNvPr>
          <p:cNvSpPr/>
          <p:nvPr/>
        </p:nvSpPr>
        <p:spPr>
          <a:xfrm>
            <a:off x="5827645" y="4591880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56AB79-FB8B-5D58-4BFD-2F51939F51BE}"/>
              </a:ext>
            </a:extLst>
          </p:cNvPr>
          <p:cNvSpPr/>
          <p:nvPr/>
        </p:nvSpPr>
        <p:spPr>
          <a:xfrm>
            <a:off x="2187644" y="4601820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95E140-D26B-B6C2-6BD4-274B935D31C0}"/>
              </a:ext>
            </a:extLst>
          </p:cNvPr>
          <p:cNvSpPr/>
          <p:nvPr/>
        </p:nvSpPr>
        <p:spPr>
          <a:xfrm>
            <a:off x="3972340" y="4601820"/>
            <a:ext cx="83488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E9BD14-807F-A1E6-8E56-99D020849E94}"/>
              </a:ext>
            </a:extLst>
          </p:cNvPr>
          <p:cNvSpPr/>
          <p:nvPr/>
        </p:nvSpPr>
        <p:spPr>
          <a:xfrm>
            <a:off x="629480" y="5300865"/>
            <a:ext cx="960781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288FD8-E971-B950-5A91-560152177903}"/>
              </a:ext>
            </a:extLst>
          </p:cNvPr>
          <p:cNvSpPr/>
          <p:nvPr/>
        </p:nvSpPr>
        <p:spPr>
          <a:xfrm>
            <a:off x="5801143" y="5280987"/>
            <a:ext cx="996189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79A949-1235-81EA-8A1D-96655375EB3A}"/>
              </a:ext>
            </a:extLst>
          </p:cNvPr>
          <p:cNvSpPr/>
          <p:nvPr/>
        </p:nvSpPr>
        <p:spPr>
          <a:xfrm>
            <a:off x="2187644" y="5290927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5CC62A-CF11-61C4-354D-1321D70A4BE5}"/>
              </a:ext>
            </a:extLst>
          </p:cNvPr>
          <p:cNvSpPr/>
          <p:nvPr/>
        </p:nvSpPr>
        <p:spPr>
          <a:xfrm>
            <a:off x="4022035" y="5300866"/>
            <a:ext cx="927653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455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Letter of Word – Two Parts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First &amp; Last Letter (Same Place) – Middle Letters (Reverse Order)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‘MOUNTAIN’ is written as ‘MIATNUON’  then how will ‘BROWSER’ be written in that language?</a:t>
            </a:r>
          </a:p>
          <a:p>
            <a:pPr algn="just"/>
            <a:r>
              <a:rPr lang="en-US" dirty="0"/>
              <a:t>MOUNTAIN  	– 	M  	IATNUO  	N</a:t>
            </a:r>
          </a:p>
          <a:p>
            <a:pPr algn="just"/>
            <a:r>
              <a:rPr lang="en-US" dirty="0"/>
              <a:t>BROWSER  		- 	B	ESWOR	R	</a:t>
            </a:r>
          </a:p>
          <a:p>
            <a:pPr lvl="1" algn="just">
              <a:lnSpc>
                <a:spcPct val="170000"/>
              </a:lnSpc>
            </a:pP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FEEEF6-F8C5-E212-1488-FD24417BE928}"/>
              </a:ext>
            </a:extLst>
          </p:cNvPr>
          <p:cNvSpPr/>
          <p:nvPr/>
        </p:nvSpPr>
        <p:spPr>
          <a:xfrm>
            <a:off x="3766931" y="5416828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191822-67B8-5528-2CE5-2152CB054007}"/>
              </a:ext>
            </a:extLst>
          </p:cNvPr>
          <p:cNvSpPr/>
          <p:nvPr/>
        </p:nvSpPr>
        <p:spPr>
          <a:xfrm>
            <a:off x="6631469" y="5446648"/>
            <a:ext cx="834887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2902696-C02B-55A8-579C-8DC0C49ADC82}"/>
              </a:ext>
            </a:extLst>
          </p:cNvPr>
          <p:cNvSpPr/>
          <p:nvPr/>
        </p:nvSpPr>
        <p:spPr>
          <a:xfrm>
            <a:off x="4810540" y="5426768"/>
            <a:ext cx="1432270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8B9B60-5AC2-7002-4C45-015AE828B863}"/>
              </a:ext>
            </a:extLst>
          </p:cNvPr>
          <p:cNvSpPr/>
          <p:nvPr/>
        </p:nvSpPr>
        <p:spPr>
          <a:xfrm>
            <a:off x="3849758" y="6125813"/>
            <a:ext cx="960781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89BEAC-0768-7E8F-E045-8F06D6ADAA60}"/>
              </a:ext>
            </a:extLst>
          </p:cNvPr>
          <p:cNvSpPr/>
          <p:nvPr/>
        </p:nvSpPr>
        <p:spPr>
          <a:xfrm>
            <a:off x="6470167" y="6125813"/>
            <a:ext cx="996189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AB37F4-4355-FD41-C907-641A68F4F692}"/>
              </a:ext>
            </a:extLst>
          </p:cNvPr>
          <p:cNvSpPr/>
          <p:nvPr/>
        </p:nvSpPr>
        <p:spPr>
          <a:xfrm>
            <a:off x="4893158" y="6086058"/>
            <a:ext cx="1343027" cy="48701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808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Rearrangement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Letter of Word – Two Parts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Each Letter – Certain Place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‘RIGHT’ is written as ‘GHRTI’  then how will ‘WRONG’ be written in that language?</a:t>
            </a:r>
          </a:p>
          <a:p>
            <a:pPr algn="just"/>
            <a:r>
              <a:rPr lang="en-US" dirty="0"/>
              <a:t>RIGHT  	– 	G H R T I</a:t>
            </a:r>
          </a:p>
          <a:p>
            <a:pPr algn="just"/>
            <a:r>
              <a:rPr lang="en-US" dirty="0"/>
              <a:t>WRONG  	- 	O N W G R	</a:t>
            </a:r>
          </a:p>
          <a:p>
            <a:pPr lvl="1" algn="just">
              <a:lnSpc>
                <a:spcPct val="170000"/>
              </a:lnSpc>
            </a:pP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22CD28-3FA7-3A8C-1C1E-2DA9B4FB9D1C}"/>
              </a:ext>
            </a:extLst>
          </p:cNvPr>
          <p:cNvSpPr/>
          <p:nvPr/>
        </p:nvSpPr>
        <p:spPr>
          <a:xfrm>
            <a:off x="3091070" y="5218045"/>
            <a:ext cx="691182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5CA901-FC2A-E0C4-0974-EE2FC1F99697}"/>
              </a:ext>
            </a:extLst>
          </p:cNvPr>
          <p:cNvSpPr/>
          <p:nvPr/>
        </p:nvSpPr>
        <p:spPr>
          <a:xfrm>
            <a:off x="3094385" y="5887274"/>
            <a:ext cx="687868" cy="4870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22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Replacement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70000"/>
              </a:lnSpc>
            </a:pPr>
            <a:r>
              <a:rPr lang="fr-FR" dirty="0" err="1"/>
              <a:t>Forward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Coding</a:t>
            </a:r>
          </a:p>
          <a:p>
            <a:pPr algn="just">
              <a:lnSpc>
                <a:spcPct val="170000"/>
              </a:lnSpc>
            </a:pPr>
            <a:r>
              <a:rPr lang="fr-FR" dirty="0" err="1"/>
              <a:t>Increasing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– English Alphabets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‘CREATOR’ is written as ‘DSFBUPS’  then how will ‘FIGHTER’ be written in that language?</a:t>
            </a:r>
          </a:p>
          <a:p>
            <a:pPr algn="just"/>
            <a:r>
              <a:rPr lang="en-US" dirty="0"/>
              <a:t>CREATOR  		– 	DSFBUPS</a:t>
            </a:r>
          </a:p>
          <a:p>
            <a:pPr algn="just"/>
            <a:r>
              <a:rPr lang="en-US" dirty="0"/>
              <a:t>FIGHTER 		- 	GJHIUFS	</a:t>
            </a:r>
          </a:p>
          <a:p>
            <a:pPr algn="just">
              <a:lnSpc>
                <a:spcPct val="170000"/>
              </a:lnSpc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AEAD3-07F7-1498-BA20-BACA81154662}"/>
              </a:ext>
            </a:extLst>
          </p:cNvPr>
          <p:cNvSpPr txBox="1"/>
          <p:nvPr/>
        </p:nvSpPr>
        <p:spPr>
          <a:xfrm>
            <a:off x="3001617" y="5193268"/>
            <a:ext cx="536713" cy="492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+1</a:t>
            </a:r>
            <a:endParaRPr lang="en-IN" sz="2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A4D74-F421-727E-C555-9C8840CECBBB}"/>
              </a:ext>
            </a:extLst>
          </p:cNvPr>
          <p:cNvSpPr txBox="1"/>
          <p:nvPr/>
        </p:nvSpPr>
        <p:spPr>
          <a:xfrm>
            <a:off x="3021495" y="5809536"/>
            <a:ext cx="536713" cy="492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+1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156292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Replacement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70000"/>
              </a:lnSpc>
            </a:pPr>
            <a:r>
              <a:rPr lang="fr-FR" dirty="0" err="1"/>
              <a:t>Backward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Coding</a:t>
            </a:r>
          </a:p>
          <a:p>
            <a:pPr algn="just">
              <a:lnSpc>
                <a:spcPct val="170000"/>
              </a:lnSpc>
            </a:pPr>
            <a:r>
              <a:rPr lang="fr-FR" dirty="0" err="1"/>
              <a:t>Decreasing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– English Alphabets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‘CREATOR’ is written as ‘BQDZSNQ’  then how will ‘FIGHTER’ be written in that language?</a:t>
            </a:r>
          </a:p>
          <a:p>
            <a:pPr algn="just"/>
            <a:r>
              <a:rPr lang="en-US" dirty="0"/>
              <a:t>CREATOR 		– 	BQDZSNQ</a:t>
            </a:r>
          </a:p>
          <a:p>
            <a:pPr algn="just"/>
            <a:r>
              <a:rPr lang="en-US" dirty="0"/>
              <a:t>FIGHTER 		- 	EHFGSDQ	</a:t>
            </a:r>
          </a:p>
          <a:p>
            <a:pPr algn="just">
              <a:lnSpc>
                <a:spcPct val="170000"/>
              </a:lnSpc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07B4F9-86A1-FB71-A185-F7ACB31C10CF}"/>
              </a:ext>
            </a:extLst>
          </p:cNvPr>
          <p:cNvSpPr txBox="1"/>
          <p:nvPr/>
        </p:nvSpPr>
        <p:spPr>
          <a:xfrm>
            <a:off x="3001617" y="5193268"/>
            <a:ext cx="536713" cy="492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-1</a:t>
            </a:r>
            <a:endParaRPr lang="en-IN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63E6AF-8DC5-3CE2-362B-DF7A38F28776}"/>
              </a:ext>
            </a:extLst>
          </p:cNvPr>
          <p:cNvSpPr txBox="1"/>
          <p:nvPr/>
        </p:nvSpPr>
        <p:spPr>
          <a:xfrm>
            <a:off x="3021495" y="5809536"/>
            <a:ext cx="536713" cy="492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-1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85017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Replacement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fr-FR" dirty="0"/>
              <a:t>Mixed (</a:t>
            </a:r>
            <a:r>
              <a:rPr lang="fr-FR" dirty="0" err="1"/>
              <a:t>Forward</a:t>
            </a:r>
            <a:r>
              <a:rPr lang="fr-FR" dirty="0"/>
              <a:t> &amp; </a:t>
            </a:r>
            <a:r>
              <a:rPr lang="fr-FR" dirty="0" err="1"/>
              <a:t>Backward</a:t>
            </a:r>
            <a:r>
              <a:rPr lang="fr-FR" dirty="0"/>
              <a:t>) </a:t>
            </a:r>
            <a:r>
              <a:rPr lang="fr-FR" dirty="0" err="1"/>
              <a:t>Sequence</a:t>
            </a:r>
            <a:r>
              <a:rPr lang="fr-FR" dirty="0"/>
              <a:t> Coding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‘GAME’ is written as ‘HXOD’  then how will ‘RACE’ be written in that language?</a:t>
            </a:r>
          </a:p>
          <a:p>
            <a:pPr algn="just"/>
            <a:r>
              <a:rPr lang="en-US" dirty="0"/>
              <a:t>GAME 	–(+1) H	(-3) X	 	(+2) O		 (-1) D</a:t>
            </a:r>
          </a:p>
          <a:p>
            <a:pPr algn="just"/>
            <a:r>
              <a:rPr lang="en-US" dirty="0"/>
              <a:t>RACE 	–(+1) S	(-3) X	 	(+2) E		 (-1) D	</a:t>
            </a:r>
          </a:p>
          <a:p>
            <a:pPr algn="just">
              <a:lnSpc>
                <a:spcPct val="170000"/>
              </a:lnSpc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7185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Replacement of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fr-FR" dirty="0"/>
              <a:t>Direct </a:t>
            </a:r>
            <a:r>
              <a:rPr lang="fr-FR" dirty="0" err="1"/>
              <a:t>Letter</a:t>
            </a:r>
            <a:r>
              <a:rPr lang="fr-FR" dirty="0"/>
              <a:t> Coding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If in a certain code language ‘GOLDEN’ is written as ‘ADHVSR’ and ‘SILVER’ is written as ‘BKHMSQ’  then how will ‘LIVER’ be written in that language?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G O L D E N	S  I  L V E R	 	L  I  V E R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A D H V S R 	B K H M S Q		H K M S Q</a:t>
            </a: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603EED-BDAF-427C-7D78-3BC527B055B0}"/>
              </a:ext>
            </a:extLst>
          </p:cNvPr>
          <p:cNvSpPr/>
          <p:nvPr/>
        </p:nvSpPr>
        <p:spPr>
          <a:xfrm>
            <a:off x="665922" y="4949687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E2253F-27F8-083C-F7FA-03EE89A97F4F}"/>
              </a:ext>
            </a:extLst>
          </p:cNvPr>
          <p:cNvSpPr/>
          <p:nvPr/>
        </p:nvSpPr>
        <p:spPr>
          <a:xfrm>
            <a:off x="953329" y="4949686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6DF0A5-3E49-FDE0-734F-AD75313A5E70}"/>
              </a:ext>
            </a:extLst>
          </p:cNvPr>
          <p:cNvSpPr/>
          <p:nvPr/>
        </p:nvSpPr>
        <p:spPr>
          <a:xfrm>
            <a:off x="1277179" y="4949685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0ED567-1DEB-C80E-8C00-AF36BDF15764}"/>
              </a:ext>
            </a:extLst>
          </p:cNvPr>
          <p:cNvSpPr/>
          <p:nvPr/>
        </p:nvSpPr>
        <p:spPr>
          <a:xfrm>
            <a:off x="1564586" y="4949684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6BCFD-CC19-3333-B650-EF03F9ED39E8}"/>
              </a:ext>
            </a:extLst>
          </p:cNvPr>
          <p:cNvSpPr/>
          <p:nvPr/>
        </p:nvSpPr>
        <p:spPr>
          <a:xfrm>
            <a:off x="1851993" y="4961282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66B7F3-4705-A378-550F-39695178CC8C}"/>
              </a:ext>
            </a:extLst>
          </p:cNvPr>
          <p:cNvSpPr/>
          <p:nvPr/>
        </p:nvSpPr>
        <p:spPr>
          <a:xfrm>
            <a:off x="2155965" y="4961282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B8E8EA-6169-FB0F-8248-5CD0780AF0F7}"/>
              </a:ext>
            </a:extLst>
          </p:cNvPr>
          <p:cNvSpPr/>
          <p:nvPr/>
        </p:nvSpPr>
        <p:spPr>
          <a:xfrm>
            <a:off x="3200605" y="4934775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0AB1E1-DB1D-2CF2-914F-8CCCAA501B52}"/>
              </a:ext>
            </a:extLst>
          </p:cNvPr>
          <p:cNvSpPr/>
          <p:nvPr/>
        </p:nvSpPr>
        <p:spPr>
          <a:xfrm>
            <a:off x="3488012" y="4934774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6553B1-E74C-A87C-3ED6-655FEA1DD069}"/>
              </a:ext>
            </a:extLst>
          </p:cNvPr>
          <p:cNvSpPr/>
          <p:nvPr/>
        </p:nvSpPr>
        <p:spPr>
          <a:xfrm>
            <a:off x="3791984" y="4934773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09E865-24F9-0D26-0A78-C38FB75C7DD0}"/>
              </a:ext>
            </a:extLst>
          </p:cNvPr>
          <p:cNvSpPr/>
          <p:nvPr/>
        </p:nvSpPr>
        <p:spPr>
          <a:xfrm>
            <a:off x="4119147" y="4934772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4E9368-CB2B-C1F7-E4CD-21B4C6BC4270}"/>
              </a:ext>
            </a:extLst>
          </p:cNvPr>
          <p:cNvSpPr/>
          <p:nvPr/>
        </p:nvSpPr>
        <p:spPr>
          <a:xfrm>
            <a:off x="4416493" y="4946370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F2761F-F04D-BF5F-652D-6DF110243BC3}"/>
              </a:ext>
            </a:extLst>
          </p:cNvPr>
          <p:cNvSpPr/>
          <p:nvPr/>
        </p:nvSpPr>
        <p:spPr>
          <a:xfrm>
            <a:off x="4700587" y="4946370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E93971-8A3B-2342-829A-6F80C087E1EB}"/>
              </a:ext>
            </a:extLst>
          </p:cNvPr>
          <p:cNvSpPr/>
          <p:nvPr/>
        </p:nvSpPr>
        <p:spPr>
          <a:xfrm>
            <a:off x="5897205" y="4972880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1DA416-A704-0C93-080C-F137B8FBB09D}"/>
              </a:ext>
            </a:extLst>
          </p:cNvPr>
          <p:cNvSpPr/>
          <p:nvPr/>
        </p:nvSpPr>
        <p:spPr>
          <a:xfrm>
            <a:off x="6224368" y="4972879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E3186E-2538-C328-8A9B-A063196AA761}"/>
              </a:ext>
            </a:extLst>
          </p:cNvPr>
          <p:cNvSpPr/>
          <p:nvPr/>
        </p:nvSpPr>
        <p:spPr>
          <a:xfrm>
            <a:off x="6568096" y="4972878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A404EE-29FC-36EC-E5B5-1D562F2B3189}"/>
              </a:ext>
            </a:extLst>
          </p:cNvPr>
          <p:cNvSpPr/>
          <p:nvPr/>
        </p:nvSpPr>
        <p:spPr>
          <a:xfrm>
            <a:off x="6875381" y="4972877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90C604-50CC-E948-BE3C-594FC8E7E6DF}"/>
              </a:ext>
            </a:extLst>
          </p:cNvPr>
          <p:cNvSpPr/>
          <p:nvPr/>
        </p:nvSpPr>
        <p:spPr>
          <a:xfrm>
            <a:off x="7152849" y="4984475"/>
            <a:ext cx="228600" cy="1202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248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Opposite Letter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dirty="0"/>
              <a:t>E (5)	F (6)		G (7)		H (8)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dirty="0"/>
              <a:t>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S (22)	T (21)		U (20)		V (19)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27  		27 		27 		27 </a:t>
            </a:r>
          </a:p>
          <a:p>
            <a:pPr algn="just">
              <a:lnSpc>
                <a:spcPct val="120000"/>
              </a:lnSpc>
            </a:pPr>
            <a:endParaRPr lang="en-US" dirty="0"/>
          </a:p>
          <a:p>
            <a:pPr algn="just">
              <a:lnSpc>
                <a:spcPct val="120000"/>
              </a:lnSpc>
            </a:pPr>
            <a:r>
              <a:rPr lang="en-US" dirty="0"/>
              <a:t>E (5)	F (6)		G (7)		H (8)</a:t>
            </a:r>
          </a:p>
          <a:p>
            <a:pPr algn="just">
              <a:lnSpc>
                <a:spcPct val="120000"/>
              </a:lnSpc>
            </a:pPr>
            <a:endParaRPr lang="en-US" dirty="0"/>
          </a:p>
          <a:p>
            <a:pPr algn="just">
              <a:lnSpc>
                <a:spcPct val="120000"/>
              </a:lnSpc>
            </a:pPr>
            <a:r>
              <a:rPr lang="en-US" dirty="0"/>
              <a:t>V (19)	T (20)		U (21)		S (22)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27  		27 		27 		27 </a:t>
            </a:r>
            <a:endParaRPr lang="fr-FR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6095E7-E419-D9BA-A72A-0FA220908975}"/>
              </a:ext>
            </a:extLst>
          </p:cNvPr>
          <p:cNvCxnSpPr>
            <a:cxnSpLocks/>
          </p:cNvCxnSpPr>
          <p:nvPr/>
        </p:nvCxnSpPr>
        <p:spPr>
          <a:xfrm>
            <a:off x="745582" y="1891145"/>
            <a:ext cx="0" cy="5757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DF2E75-0FD2-CAAC-FBE3-6DC97F395E0A}"/>
              </a:ext>
            </a:extLst>
          </p:cNvPr>
          <p:cNvCxnSpPr>
            <a:cxnSpLocks/>
          </p:cNvCxnSpPr>
          <p:nvPr/>
        </p:nvCxnSpPr>
        <p:spPr>
          <a:xfrm>
            <a:off x="2339762" y="1891145"/>
            <a:ext cx="0" cy="5757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C28AD0-7EFE-FCB1-B0D7-4D1EF623EE85}"/>
              </a:ext>
            </a:extLst>
          </p:cNvPr>
          <p:cNvCxnSpPr>
            <a:cxnSpLocks/>
          </p:cNvCxnSpPr>
          <p:nvPr/>
        </p:nvCxnSpPr>
        <p:spPr>
          <a:xfrm>
            <a:off x="4202145" y="1859669"/>
            <a:ext cx="0" cy="6386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89B132-E6D8-D7E2-E070-1D31F268D3CC}"/>
              </a:ext>
            </a:extLst>
          </p:cNvPr>
          <p:cNvCxnSpPr>
            <a:cxnSpLocks/>
          </p:cNvCxnSpPr>
          <p:nvPr/>
        </p:nvCxnSpPr>
        <p:spPr>
          <a:xfrm>
            <a:off x="6063266" y="1888642"/>
            <a:ext cx="0" cy="57821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AFA9BF-EFE2-E969-F7E8-21C4814BD645}"/>
              </a:ext>
            </a:extLst>
          </p:cNvPr>
          <p:cNvCxnSpPr>
            <a:cxnSpLocks/>
          </p:cNvCxnSpPr>
          <p:nvPr/>
        </p:nvCxnSpPr>
        <p:spPr>
          <a:xfrm flipH="1">
            <a:off x="883227" y="4717473"/>
            <a:ext cx="5070764" cy="9455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D8B1A7-15C9-7A37-7B28-39420870B4C3}"/>
              </a:ext>
            </a:extLst>
          </p:cNvPr>
          <p:cNvCxnSpPr>
            <a:cxnSpLocks/>
          </p:cNvCxnSpPr>
          <p:nvPr/>
        </p:nvCxnSpPr>
        <p:spPr>
          <a:xfrm flipH="1">
            <a:off x="2469572" y="4748947"/>
            <a:ext cx="1732573" cy="87594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AC9B01-D207-D26A-6E86-ED6BBFBE3A9C}"/>
              </a:ext>
            </a:extLst>
          </p:cNvPr>
          <p:cNvCxnSpPr>
            <a:cxnSpLocks/>
          </p:cNvCxnSpPr>
          <p:nvPr/>
        </p:nvCxnSpPr>
        <p:spPr>
          <a:xfrm>
            <a:off x="883227" y="4748947"/>
            <a:ext cx="5070764" cy="87594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AC44FB-8FBB-154E-746D-B83212FF42F7}"/>
              </a:ext>
            </a:extLst>
          </p:cNvPr>
          <p:cNvCxnSpPr>
            <a:cxnSpLocks/>
          </p:cNvCxnSpPr>
          <p:nvPr/>
        </p:nvCxnSpPr>
        <p:spPr>
          <a:xfrm>
            <a:off x="2469572" y="4748947"/>
            <a:ext cx="1656947" cy="87594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256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Opposite Letter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dirty="0"/>
              <a:t>If in a certain code language ‘MLRGLM’ is written as ‘NOITON’ then how will ‘ILGXVE’ be written in that language?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M (13)   L (12)   R (18)   G (7)    L (12)   M (13)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N (14)   O (15)  I (11)     T (20)  O (15)   N (14)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27  	       27         27 	27 	  27 	   27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I (9)      L (12)    G (7)       X (24)    V (22)    E (5)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R (18)   O (15)    T (20)     C (3)      E (5)      V (22) 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27  	         27        27 	    27 	       27 	27 </a:t>
            </a:r>
          </a:p>
          <a:p>
            <a:pPr algn="just">
              <a:lnSpc>
                <a:spcPct val="120000"/>
              </a:lnSpc>
            </a:pPr>
            <a:endParaRPr lang="en-US" dirty="0"/>
          </a:p>
          <a:p>
            <a:pPr algn="just">
              <a:lnSpc>
                <a:spcPct val="120000"/>
              </a:lnSpc>
            </a:pPr>
            <a:endParaRPr lang="en-US" dirty="0"/>
          </a:p>
          <a:p>
            <a:pPr algn="just">
              <a:lnSpc>
                <a:spcPct val="120000"/>
              </a:lnSpc>
            </a:pPr>
            <a:endParaRPr lang="fr-FR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6095E7-E419-D9BA-A72A-0FA220908975}"/>
              </a:ext>
            </a:extLst>
          </p:cNvPr>
          <p:cNvCxnSpPr>
            <a:cxnSpLocks/>
          </p:cNvCxnSpPr>
          <p:nvPr/>
        </p:nvCxnSpPr>
        <p:spPr>
          <a:xfrm>
            <a:off x="807927" y="3304308"/>
            <a:ext cx="0" cy="2493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DF2E75-0FD2-CAAC-FBE3-6DC97F395E0A}"/>
              </a:ext>
            </a:extLst>
          </p:cNvPr>
          <p:cNvCxnSpPr>
            <a:cxnSpLocks/>
          </p:cNvCxnSpPr>
          <p:nvPr/>
        </p:nvCxnSpPr>
        <p:spPr>
          <a:xfrm>
            <a:off x="1892953" y="3295334"/>
            <a:ext cx="0" cy="25835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C28AD0-7EFE-FCB1-B0D7-4D1EF623EE85}"/>
              </a:ext>
            </a:extLst>
          </p:cNvPr>
          <p:cNvCxnSpPr>
            <a:cxnSpLocks/>
          </p:cNvCxnSpPr>
          <p:nvPr/>
        </p:nvCxnSpPr>
        <p:spPr>
          <a:xfrm>
            <a:off x="2840936" y="3263858"/>
            <a:ext cx="0" cy="2586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89B132-E6D8-D7E2-E070-1D31F268D3CC}"/>
              </a:ext>
            </a:extLst>
          </p:cNvPr>
          <p:cNvCxnSpPr>
            <a:cxnSpLocks/>
          </p:cNvCxnSpPr>
          <p:nvPr/>
        </p:nvCxnSpPr>
        <p:spPr>
          <a:xfrm>
            <a:off x="3933130" y="3292831"/>
            <a:ext cx="0" cy="2608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E0AB13-715B-087F-F536-94ADDC0E9B02}"/>
              </a:ext>
            </a:extLst>
          </p:cNvPr>
          <p:cNvCxnSpPr>
            <a:cxnSpLocks/>
          </p:cNvCxnSpPr>
          <p:nvPr/>
        </p:nvCxnSpPr>
        <p:spPr>
          <a:xfrm>
            <a:off x="4937585" y="3324305"/>
            <a:ext cx="0" cy="2501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B65165-B3FB-3FBB-81E8-A6E5C8CE82FD}"/>
              </a:ext>
            </a:extLst>
          </p:cNvPr>
          <p:cNvCxnSpPr>
            <a:cxnSpLocks/>
          </p:cNvCxnSpPr>
          <p:nvPr/>
        </p:nvCxnSpPr>
        <p:spPr>
          <a:xfrm>
            <a:off x="6049411" y="3304308"/>
            <a:ext cx="0" cy="2493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AAFC12E-9049-8BB8-AA97-861EF7A2E9BB}"/>
              </a:ext>
            </a:extLst>
          </p:cNvPr>
          <p:cNvCxnSpPr>
            <a:cxnSpLocks/>
          </p:cNvCxnSpPr>
          <p:nvPr/>
        </p:nvCxnSpPr>
        <p:spPr>
          <a:xfrm>
            <a:off x="777508" y="5129644"/>
            <a:ext cx="0" cy="2493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E1E1D5-4533-1A81-69FC-A8F7F0F1FF53}"/>
              </a:ext>
            </a:extLst>
          </p:cNvPr>
          <p:cNvCxnSpPr>
            <a:cxnSpLocks/>
          </p:cNvCxnSpPr>
          <p:nvPr/>
        </p:nvCxnSpPr>
        <p:spPr>
          <a:xfrm>
            <a:off x="1862534" y="5120670"/>
            <a:ext cx="0" cy="25835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C55B4B-96A5-F071-2435-410BFADAFCD8}"/>
              </a:ext>
            </a:extLst>
          </p:cNvPr>
          <p:cNvCxnSpPr>
            <a:cxnSpLocks/>
          </p:cNvCxnSpPr>
          <p:nvPr/>
        </p:nvCxnSpPr>
        <p:spPr>
          <a:xfrm>
            <a:off x="3028728" y="5089194"/>
            <a:ext cx="0" cy="2586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6B47DAF-1DE9-7A77-1390-D9194FA0F845}"/>
              </a:ext>
            </a:extLst>
          </p:cNvPr>
          <p:cNvCxnSpPr>
            <a:cxnSpLocks/>
          </p:cNvCxnSpPr>
          <p:nvPr/>
        </p:nvCxnSpPr>
        <p:spPr>
          <a:xfrm>
            <a:off x="4318349" y="5118167"/>
            <a:ext cx="0" cy="2608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EF5DC51-127D-E99E-DBAD-7EEE98FF894A}"/>
              </a:ext>
            </a:extLst>
          </p:cNvPr>
          <p:cNvCxnSpPr>
            <a:cxnSpLocks/>
          </p:cNvCxnSpPr>
          <p:nvPr/>
        </p:nvCxnSpPr>
        <p:spPr>
          <a:xfrm>
            <a:off x="5551406" y="5118468"/>
            <a:ext cx="0" cy="2501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112AB43-718D-3BE0-2386-654F3C41752B}"/>
              </a:ext>
            </a:extLst>
          </p:cNvPr>
          <p:cNvCxnSpPr>
            <a:cxnSpLocks/>
          </p:cNvCxnSpPr>
          <p:nvPr/>
        </p:nvCxnSpPr>
        <p:spPr>
          <a:xfrm>
            <a:off x="6735969" y="5129644"/>
            <a:ext cx="0" cy="2182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642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Coding - Left &amp; Right Letters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fr-FR" dirty="0"/>
              <a:t>	A	B	C	D</a:t>
            </a:r>
          </a:p>
          <a:p>
            <a:pPr>
              <a:lnSpc>
                <a:spcPct val="170000"/>
              </a:lnSpc>
            </a:pPr>
            <a:r>
              <a:rPr lang="fr-FR" dirty="0"/>
              <a:t>Z	A	B	C	D	E</a:t>
            </a:r>
          </a:p>
          <a:p>
            <a:pPr>
              <a:lnSpc>
                <a:spcPct val="170000"/>
              </a:lnSpc>
            </a:pPr>
            <a:endParaRPr lang="fr-FR" dirty="0"/>
          </a:p>
          <a:p>
            <a:pPr>
              <a:lnSpc>
                <a:spcPct val="170000"/>
              </a:lnSpc>
            </a:pPr>
            <a:r>
              <a:rPr lang="fr-FR" dirty="0"/>
              <a:t>ZB		AC		BD		CE</a:t>
            </a:r>
          </a:p>
          <a:p>
            <a:pPr>
              <a:lnSpc>
                <a:spcPct val="170000"/>
              </a:lnSpc>
            </a:pPr>
            <a:r>
              <a:rPr lang="fr-FR" dirty="0"/>
              <a:t>CE		BD		AC		ZB</a:t>
            </a:r>
          </a:p>
          <a:p>
            <a:pPr>
              <a:lnSpc>
                <a:spcPct val="170000"/>
              </a:lnSpc>
            </a:pPr>
            <a:r>
              <a:rPr lang="fr-FR" dirty="0"/>
              <a:t>ABCD 	– ZBACBDCE  or  BZCADBEC</a:t>
            </a:r>
          </a:p>
          <a:p>
            <a:pPr algn="just"/>
            <a:r>
              <a:rPr lang="en-US" dirty="0"/>
              <a:t>ABCD 	- </a:t>
            </a:r>
            <a:r>
              <a:rPr lang="fr-FR" dirty="0"/>
              <a:t>CEBDACZB  or  ECDBCABZ</a:t>
            </a:r>
            <a:endParaRPr lang="en-US" dirty="0"/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1AA862D5-A4C2-A9A5-F03D-2D0CFB6FC2D5}"/>
              </a:ext>
            </a:extLst>
          </p:cNvPr>
          <p:cNvSpPr/>
          <p:nvPr/>
        </p:nvSpPr>
        <p:spPr>
          <a:xfrm rot="10800000" flipH="1" flipV="1">
            <a:off x="736944" y="1938131"/>
            <a:ext cx="1645555" cy="41744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A2BC85A2-DFC7-CE87-1657-5E9D403E4DB8}"/>
              </a:ext>
            </a:extLst>
          </p:cNvPr>
          <p:cNvSpPr/>
          <p:nvPr/>
        </p:nvSpPr>
        <p:spPr>
          <a:xfrm rot="10800000" flipH="1">
            <a:off x="1435393" y="2650128"/>
            <a:ext cx="1894215" cy="51744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BBE7094F-4D7F-8946-DA4A-483D384E8DDF}"/>
              </a:ext>
            </a:extLst>
          </p:cNvPr>
          <p:cNvSpPr/>
          <p:nvPr/>
        </p:nvSpPr>
        <p:spPr>
          <a:xfrm rot="10800000" flipH="1" flipV="1">
            <a:off x="2382500" y="1908313"/>
            <a:ext cx="1894216" cy="41744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F0BBD083-5D89-FCF9-5999-9E8413B45E15}"/>
              </a:ext>
            </a:extLst>
          </p:cNvPr>
          <p:cNvSpPr/>
          <p:nvPr/>
        </p:nvSpPr>
        <p:spPr>
          <a:xfrm rot="10800000" flipH="1">
            <a:off x="3295469" y="2650129"/>
            <a:ext cx="1894215" cy="51744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B8CDA2B3-795B-B320-7DD7-0E660AD2D990}"/>
              </a:ext>
            </a:extLst>
          </p:cNvPr>
          <p:cNvSpPr/>
          <p:nvPr/>
        </p:nvSpPr>
        <p:spPr>
          <a:xfrm rot="10800000" flipV="1">
            <a:off x="736941" y="1948072"/>
            <a:ext cx="1645555" cy="387624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51D13FEA-E9F3-3278-7D7D-CD84DE9EA61D}"/>
              </a:ext>
            </a:extLst>
          </p:cNvPr>
          <p:cNvSpPr/>
          <p:nvPr/>
        </p:nvSpPr>
        <p:spPr>
          <a:xfrm rot="10800000">
            <a:off x="1401253" y="2660066"/>
            <a:ext cx="1894217" cy="51744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EC6EE469-565D-C1B2-F17F-9D867EE3A43C}"/>
              </a:ext>
            </a:extLst>
          </p:cNvPr>
          <p:cNvSpPr/>
          <p:nvPr/>
        </p:nvSpPr>
        <p:spPr>
          <a:xfrm rot="10800000" flipV="1">
            <a:off x="2348360" y="1918253"/>
            <a:ext cx="1894218" cy="41744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7DD84F31-2563-9B99-7F04-B3A9B2FBEB1C}"/>
              </a:ext>
            </a:extLst>
          </p:cNvPr>
          <p:cNvSpPr/>
          <p:nvPr/>
        </p:nvSpPr>
        <p:spPr>
          <a:xfrm rot="10800000">
            <a:off x="3261329" y="2660067"/>
            <a:ext cx="1894217" cy="51744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854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Coding - Left &amp; Right Letters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If in a certain code language ‘TAB’ is written as ‘SUZBAC’ then how will XIS be written in that code?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600" dirty="0"/>
              <a:t>							</a:t>
            </a:r>
          </a:p>
          <a:p>
            <a:pPr algn="just">
              <a:lnSpc>
                <a:spcPct val="170000"/>
              </a:lnSpc>
            </a:pPr>
            <a:endParaRPr lang="en-US" dirty="0"/>
          </a:p>
          <a:p>
            <a:pPr algn="just">
              <a:lnSpc>
                <a:spcPct val="170000"/>
              </a:lnSpc>
            </a:pPr>
            <a:endParaRPr lang="en-US" dirty="0"/>
          </a:p>
          <a:p>
            <a:pPr algn="just">
              <a:lnSpc>
                <a:spcPct val="170000"/>
              </a:lnSpc>
            </a:pPr>
            <a:r>
              <a:rPr lang="en-US" dirty="0"/>
              <a:t>WYHJRT		</a:t>
            </a:r>
            <a:endParaRPr lang="en-US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13B784-594C-6DB1-0CBA-51E5CF974E96}"/>
              </a:ext>
            </a:extLst>
          </p:cNvPr>
          <p:cNvSpPr txBox="1"/>
          <p:nvPr/>
        </p:nvSpPr>
        <p:spPr>
          <a:xfrm>
            <a:off x="844826" y="3103185"/>
            <a:ext cx="2256183" cy="892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		T</a:t>
            </a:r>
          </a:p>
          <a:p>
            <a:r>
              <a:rPr lang="en-US" sz="2600" dirty="0"/>
              <a:t>S 		T 		U</a:t>
            </a:r>
            <a:endParaRPr lang="en-IN" sz="2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89B066-B8F8-CBC4-230C-15CE4DF18BB9}"/>
              </a:ext>
            </a:extLst>
          </p:cNvPr>
          <p:cNvSpPr txBox="1"/>
          <p:nvPr/>
        </p:nvSpPr>
        <p:spPr>
          <a:xfrm>
            <a:off x="3301861" y="3107690"/>
            <a:ext cx="2273992" cy="892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	 	A </a:t>
            </a:r>
          </a:p>
          <a:p>
            <a:r>
              <a:rPr lang="en-US" sz="2600" dirty="0"/>
              <a:t>Z 		A 		B</a:t>
            </a:r>
            <a:endParaRPr lang="en-IN" sz="2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1EB2CB-903E-99AF-E633-3B3537185543}"/>
              </a:ext>
            </a:extLst>
          </p:cNvPr>
          <p:cNvSpPr txBox="1"/>
          <p:nvPr/>
        </p:nvSpPr>
        <p:spPr>
          <a:xfrm>
            <a:off x="5829736" y="3103185"/>
            <a:ext cx="2273992" cy="892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	 	B </a:t>
            </a:r>
          </a:p>
          <a:p>
            <a:r>
              <a:rPr lang="en-US" sz="2600" dirty="0"/>
              <a:t>A		B		C</a:t>
            </a:r>
            <a:endParaRPr lang="en-IN" sz="2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3EFAB-9948-A80B-67DF-BF10AAD18F9F}"/>
              </a:ext>
            </a:extLst>
          </p:cNvPr>
          <p:cNvSpPr txBox="1"/>
          <p:nvPr/>
        </p:nvSpPr>
        <p:spPr>
          <a:xfrm>
            <a:off x="845439" y="4316951"/>
            <a:ext cx="2256183" cy="892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		X</a:t>
            </a:r>
          </a:p>
          <a:p>
            <a:r>
              <a:rPr lang="en-US" sz="2600" dirty="0"/>
              <a:t>W 		X 		Y</a:t>
            </a:r>
            <a:endParaRPr lang="en-IN" sz="2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912716-A915-B1A6-9DEC-183C979D88E4}"/>
              </a:ext>
            </a:extLst>
          </p:cNvPr>
          <p:cNvSpPr txBox="1"/>
          <p:nvPr/>
        </p:nvSpPr>
        <p:spPr>
          <a:xfrm>
            <a:off x="3301861" y="4316951"/>
            <a:ext cx="2273992" cy="892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		I</a:t>
            </a:r>
          </a:p>
          <a:p>
            <a:r>
              <a:rPr lang="en-US" sz="2600" dirty="0"/>
              <a:t>H 		I 		J</a:t>
            </a:r>
            <a:endParaRPr lang="en-IN" sz="2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29D125-DBD2-FCAA-4211-AB8F0D1671B8}"/>
              </a:ext>
            </a:extLst>
          </p:cNvPr>
          <p:cNvSpPr txBox="1"/>
          <p:nvPr/>
        </p:nvSpPr>
        <p:spPr>
          <a:xfrm>
            <a:off x="5829736" y="4312501"/>
            <a:ext cx="2273992" cy="892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/>
              <a:t>	 	S </a:t>
            </a:r>
          </a:p>
          <a:p>
            <a:r>
              <a:rPr lang="en-US" sz="2600" dirty="0"/>
              <a:t>R		S		T</a:t>
            </a:r>
            <a:endParaRPr lang="en-IN" sz="26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BA02B2-9707-1534-EDCF-BD6319117494}"/>
              </a:ext>
            </a:extLst>
          </p:cNvPr>
          <p:cNvSpPr/>
          <p:nvPr/>
        </p:nvSpPr>
        <p:spPr>
          <a:xfrm>
            <a:off x="871306" y="3549461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F70B3B-F9F3-BE7F-D898-F8E60CFF8DC9}"/>
              </a:ext>
            </a:extLst>
          </p:cNvPr>
          <p:cNvSpPr/>
          <p:nvPr/>
        </p:nvSpPr>
        <p:spPr>
          <a:xfrm>
            <a:off x="2693432" y="3547908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E7492A5-6EB7-AA01-3362-1477EA652DDA}"/>
              </a:ext>
            </a:extLst>
          </p:cNvPr>
          <p:cNvSpPr/>
          <p:nvPr/>
        </p:nvSpPr>
        <p:spPr>
          <a:xfrm>
            <a:off x="3337476" y="3547908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3EA2D4-3379-504B-50F9-369BDE2108B2}"/>
              </a:ext>
            </a:extLst>
          </p:cNvPr>
          <p:cNvSpPr/>
          <p:nvPr/>
        </p:nvSpPr>
        <p:spPr>
          <a:xfrm>
            <a:off x="5159602" y="3546355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54F530-EFAF-53FB-6AE4-ABA4AC379394}"/>
              </a:ext>
            </a:extLst>
          </p:cNvPr>
          <p:cNvSpPr/>
          <p:nvPr/>
        </p:nvSpPr>
        <p:spPr>
          <a:xfrm>
            <a:off x="5877861" y="3547908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81FDCE-A312-6C9C-D9F0-7B8DA03B9D50}"/>
              </a:ext>
            </a:extLst>
          </p:cNvPr>
          <p:cNvSpPr/>
          <p:nvPr/>
        </p:nvSpPr>
        <p:spPr>
          <a:xfrm>
            <a:off x="7699987" y="3546355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FA883F9-CD02-C1AF-EC23-8DDA45292774}"/>
              </a:ext>
            </a:extLst>
          </p:cNvPr>
          <p:cNvSpPr/>
          <p:nvPr/>
        </p:nvSpPr>
        <p:spPr>
          <a:xfrm>
            <a:off x="898334" y="4775343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E7334C-28F7-767D-7423-7E10CA2D5A87}"/>
              </a:ext>
            </a:extLst>
          </p:cNvPr>
          <p:cNvSpPr/>
          <p:nvPr/>
        </p:nvSpPr>
        <p:spPr>
          <a:xfrm>
            <a:off x="2700582" y="4773790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C5BD97-101E-6EF4-0F60-66900E648048}"/>
              </a:ext>
            </a:extLst>
          </p:cNvPr>
          <p:cNvSpPr/>
          <p:nvPr/>
        </p:nvSpPr>
        <p:spPr>
          <a:xfrm>
            <a:off x="3344626" y="4773790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72FCE0D-0A7A-A7FD-57C7-BFBF79831372}"/>
              </a:ext>
            </a:extLst>
          </p:cNvPr>
          <p:cNvSpPr/>
          <p:nvPr/>
        </p:nvSpPr>
        <p:spPr>
          <a:xfrm>
            <a:off x="5156813" y="4772237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C68F4C-C475-4013-464D-DCD112FAC352}"/>
              </a:ext>
            </a:extLst>
          </p:cNvPr>
          <p:cNvSpPr/>
          <p:nvPr/>
        </p:nvSpPr>
        <p:spPr>
          <a:xfrm>
            <a:off x="5875072" y="4773790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7966A72-1717-430D-CDAB-65DF625DD0B8}"/>
              </a:ext>
            </a:extLst>
          </p:cNvPr>
          <p:cNvSpPr/>
          <p:nvPr/>
        </p:nvSpPr>
        <p:spPr>
          <a:xfrm>
            <a:off x="7677320" y="4772237"/>
            <a:ext cx="337931" cy="37649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AFBF4C-3899-5E38-150C-EC44AFF72E87}"/>
              </a:ext>
            </a:extLst>
          </p:cNvPr>
          <p:cNvCxnSpPr/>
          <p:nvPr/>
        </p:nvCxnSpPr>
        <p:spPr>
          <a:xfrm>
            <a:off x="5829736" y="1948070"/>
            <a:ext cx="70027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995C77-F252-CFF7-E3F0-3A6177541735}"/>
              </a:ext>
            </a:extLst>
          </p:cNvPr>
          <p:cNvCxnSpPr>
            <a:cxnSpLocks/>
          </p:cNvCxnSpPr>
          <p:nvPr/>
        </p:nvCxnSpPr>
        <p:spPr>
          <a:xfrm>
            <a:off x="785192" y="2617304"/>
            <a:ext cx="124239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C15656-1FF6-96F8-F434-DB540AD6B9DB}"/>
              </a:ext>
            </a:extLst>
          </p:cNvPr>
          <p:cNvCxnSpPr/>
          <p:nvPr/>
        </p:nvCxnSpPr>
        <p:spPr>
          <a:xfrm>
            <a:off x="4063884" y="2617304"/>
            <a:ext cx="70027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696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Coding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Hide Meaning</a:t>
            </a:r>
          </a:p>
          <a:p>
            <a:pPr algn="just"/>
            <a:r>
              <a:rPr lang="en-US" dirty="0"/>
              <a:t>Decoding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Tracing Actual Meaning</a:t>
            </a:r>
          </a:p>
          <a:p>
            <a:pPr algn="just"/>
            <a:r>
              <a:rPr lang="en-US" dirty="0"/>
              <a:t>Position of Alphabets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Forward &amp; Backward Order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Arrangement of Letters – Linear &amp; Circular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Opposite Letters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Letter Coding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/>
              <a:t>Basics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/>
              <a:t>Rearrangement of Letters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/>
              <a:t>Replacement of Letters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/>
              <a:t>Opposite Letter Coding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/>
              <a:t>Left &amp; Right Letters Coding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8718</TotalTime>
  <Words>1998</Words>
  <Application>Microsoft Office PowerPoint</Application>
  <PresentationFormat>On-screen Show (4:3)</PresentationFormat>
  <Paragraphs>250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Bahnschrift</vt:lpstr>
      <vt:lpstr>Bahnschrift SemiBold</vt:lpstr>
      <vt:lpstr>Calibri</vt:lpstr>
      <vt:lpstr>Office Theme</vt:lpstr>
      <vt:lpstr>PowerPoint Presentation</vt:lpstr>
      <vt:lpstr>PowerPoint Presentation</vt:lpstr>
      <vt:lpstr>Coding-Decoding</vt:lpstr>
      <vt:lpstr>Forward Order Position</vt:lpstr>
      <vt:lpstr>Forward Order Position</vt:lpstr>
      <vt:lpstr>Backward Order Position</vt:lpstr>
      <vt:lpstr>Backward Order Position</vt:lpstr>
      <vt:lpstr>Forward &amp; Backward Order Position</vt:lpstr>
      <vt:lpstr>Opposite Letters</vt:lpstr>
      <vt:lpstr>Pair of Opposite Letters</vt:lpstr>
      <vt:lpstr>Clockwise &amp; Anticlockwise</vt:lpstr>
      <vt:lpstr>Rearrangement of Letters</vt:lpstr>
      <vt:lpstr>Rearrangement of Letters</vt:lpstr>
      <vt:lpstr>Rearrangement of Letters</vt:lpstr>
      <vt:lpstr>Rearrangement of Letters</vt:lpstr>
      <vt:lpstr>Rearrangement of Letters</vt:lpstr>
      <vt:lpstr>Rearrangement of Letters</vt:lpstr>
      <vt:lpstr>Rearrangement of Letters</vt:lpstr>
      <vt:lpstr>Rearrangement of Letters</vt:lpstr>
      <vt:lpstr>Rearrangement of Letters</vt:lpstr>
      <vt:lpstr>Replacement of Letters</vt:lpstr>
      <vt:lpstr>Replacement of Letters</vt:lpstr>
      <vt:lpstr>Replacement of Letters</vt:lpstr>
      <vt:lpstr>Replacement of Letters</vt:lpstr>
      <vt:lpstr>Opposite Letter Coding</vt:lpstr>
      <vt:lpstr>Opposite Letter Coding</vt:lpstr>
      <vt:lpstr>Coding - Left &amp; Right Letters </vt:lpstr>
      <vt:lpstr>Coding - Left &amp; Right Letters 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531</cp:revision>
  <dcterms:created xsi:type="dcterms:W3CDTF">2020-12-18T18:59:12Z</dcterms:created>
  <dcterms:modified xsi:type="dcterms:W3CDTF">2022-06-04T08:10:10Z</dcterms:modified>
</cp:coreProperties>
</file>