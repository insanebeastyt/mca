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78" r:id="rId2"/>
    <p:sldId id="279" r:id="rId3"/>
    <p:sldId id="534" r:id="rId4"/>
    <p:sldId id="580" r:id="rId5"/>
    <p:sldId id="604" r:id="rId6"/>
    <p:sldId id="606" r:id="rId7"/>
    <p:sldId id="607" r:id="rId8"/>
    <p:sldId id="608" r:id="rId9"/>
    <p:sldId id="609" r:id="rId10"/>
    <p:sldId id="581" r:id="rId11"/>
    <p:sldId id="583" r:id="rId12"/>
    <p:sldId id="584" r:id="rId13"/>
    <p:sldId id="582" r:id="rId14"/>
    <p:sldId id="586" r:id="rId15"/>
    <p:sldId id="587" r:id="rId16"/>
    <p:sldId id="611" r:id="rId17"/>
    <p:sldId id="612" r:id="rId18"/>
    <p:sldId id="588" r:id="rId19"/>
    <p:sldId id="589" r:id="rId20"/>
    <p:sldId id="613" r:id="rId21"/>
    <p:sldId id="591" r:id="rId22"/>
    <p:sldId id="592" r:id="rId23"/>
    <p:sldId id="593" r:id="rId24"/>
    <p:sldId id="594" r:id="rId25"/>
    <p:sldId id="595" r:id="rId26"/>
    <p:sldId id="596" r:id="rId27"/>
    <p:sldId id="597" r:id="rId28"/>
    <p:sldId id="598" r:id="rId29"/>
    <p:sldId id="599" r:id="rId30"/>
    <p:sldId id="600" r:id="rId31"/>
    <p:sldId id="602" r:id="rId32"/>
    <p:sldId id="603" r:id="rId33"/>
    <p:sldId id="614" r:id="rId34"/>
    <p:sldId id="615" r:id="rId35"/>
    <p:sldId id="415" r:id="rId36"/>
    <p:sldId id="616" r:id="rId37"/>
    <p:sldId id="343" r:id="rId38"/>
    <p:sldId id="346"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1013"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5/16/2022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5/16/2022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5/16/2022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5/16/2022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5/16/2022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5/16/2022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5/16/2022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5/16/2022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C2E1C-492B-4490-B644-A86ED36D0996}"/>
              </a:ext>
            </a:extLst>
          </p:cNvPr>
          <p:cNvSpPr>
            <a:spLocks noGrp="1"/>
          </p:cNvSpPr>
          <p:nvPr>
            <p:ph idx="1"/>
          </p:nvPr>
        </p:nvSpPr>
        <p:spPr/>
        <p:txBody>
          <a:bodyPr>
            <a:normAutofit/>
          </a:bodyPr>
          <a:lstStyle/>
          <a:p>
            <a:pPr lvl="0" algn="just"/>
            <a:r>
              <a:rPr lang="en-US" dirty="0"/>
              <a:t>solve various problems relating to </a:t>
            </a:r>
            <a:r>
              <a:rPr lang="en-IN" dirty="0"/>
              <a:t>pipes and cisterns</a:t>
            </a:r>
            <a:r>
              <a:rPr lang="en-US" dirty="0"/>
              <a:t>.</a:t>
            </a:r>
          </a:p>
        </p:txBody>
      </p:sp>
    </p:spTree>
    <p:extLst>
      <p:ext uri="{BB962C8B-B14F-4D97-AF65-F5344CB8AC3E}">
        <p14:creationId xmlns:p14="http://schemas.microsoft.com/office/powerpoint/2010/main" val="1299154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Two pipes A and B can fill a cistern in 15 and 25 minutes. If both the pipes are opened simultaneously, how long will it take to fill the cistern? </a:t>
                </a:r>
              </a:p>
              <a:p>
                <a:pPr algn="just"/>
                <a:r>
                  <a:rPr lang="en-US" dirty="0"/>
                  <a:t>Let x = 15 and y = 25 </a:t>
                </a:r>
              </a:p>
              <a:p>
                <a:pPr algn="just"/>
                <a:r>
                  <a:rPr lang="en-US" dirty="0"/>
                  <a:t>Both the pipes A &amp; B together will fill the cistern in </a:t>
                </a:r>
              </a:p>
              <a:p>
                <a:pPr marL="0" indent="0" algn="just">
                  <a:lnSpc>
                    <a:spcPct val="10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m:t>
                        </m:r>
                      </m:num>
                      <m:den>
                        <m:r>
                          <m:rPr>
                            <m:nor/>
                          </m:rPr>
                          <a:rPr lang="en-US" dirty="0"/>
                          <m:t>x</m:t>
                        </m:r>
                        <m:r>
                          <m:rPr>
                            <m:nor/>
                          </m:rPr>
                          <a:rPr lang="en-US" dirty="0"/>
                          <m:t> + </m:t>
                        </m:r>
                        <m:r>
                          <m:rPr>
                            <m:nor/>
                          </m:rPr>
                          <a:rPr lang="en-US" dirty="0"/>
                          <m:t>y</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a:p>
                <a:pPr marL="0" indent="0">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15 </m:t>
                        </m:r>
                        <m:r>
                          <m:rPr>
                            <m:nor/>
                          </m:rPr>
                          <a:rPr lang="en-US" b="0" i="0" dirty="0" smtClean="0"/>
                          <m:t>x</m:t>
                        </m:r>
                        <m:r>
                          <m:rPr>
                            <m:nor/>
                          </m:rPr>
                          <a:rPr lang="en-US" b="0" i="0" dirty="0" smtClean="0"/>
                          <m:t> 25</m:t>
                        </m:r>
                      </m:num>
                      <m:den>
                        <m:r>
                          <m:rPr>
                            <m:nor/>
                          </m:rPr>
                          <a:rPr lang="en-US" b="0" i="0" dirty="0" smtClean="0"/>
                          <m:t>15</m:t>
                        </m:r>
                        <m:r>
                          <m:rPr>
                            <m:nor/>
                          </m:rPr>
                          <a:rPr lang="en-US" dirty="0"/>
                          <m:t> + </m:t>
                        </m:r>
                        <m:r>
                          <m:rPr>
                            <m:nor/>
                          </m:rPr>
                          <a:rPr lang="en-US" b="0" i="0" dirty="0" smtClean="0"/>
                          <m:t>25</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425865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marL="0" indent="0">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15 </m:t>
                        </m:r>
                        <m:r>
                          <m:rPr>
                            <m:nor/>
                          </m:rPr>
                          <a:rPr lang="en-US" b="0" i="0" dirty="0" smtClean="0"/>
                          <m:t>x</m:t>
                        </m:r>
                        <m:r>
                          <m:rPr>
                            <m:nor/>
                          </m:rPr>
                          <a:rPr lang="en-US" b="0" i="0" dirty="0" smtClean="0"/>
                          <m:t> 25</m:t>
                        </m:r>
                      </m:num>
                      <m:den>
                        <m:r>
                          <m:rPr>
                            <m:nor/>
                          </m:rPr>
                          <a:rPr lang="en-US" b="0" i="0" dirty="0" smtClean="0"/>
                          <m:t>15</m:t>
                        </m:r>
                        <m:r>
                          <m:rPr>
                            <m:nor/>
                          </m:rPr>
                          <a:rPr lang="en-US" dirty="0"/>
                          <m:t> + </m:t>
                        </m:r>
                        <m:r>
                          <m:rPr>
                            <m:nor/>
                          </m:rPr>
                          <a:rPr lang="en-US" b="0" i="0" dirty="0" smtClean="0"/>
                          <m:t>25</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a:p>
                <a:pPr marL="0" indent="0">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375</m:t>
                        </m:r>
                      </m:num>
                      <m:den>
                        <m:r>
                          <m:rPr>
                            <m:nor/>
                          </m:rPr>
                          <a:rPr lang="en-US" b="0" i="0" dirty="0" smtClean="0"/>
                          <m:t>40</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a:p>
                <a:pPr marL="0" indent="0">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75</m:t>
                        </m:r>
                      </m:num>
                      <m:den>
                        <m:r>
                          <m:rPr>
                            <m:nor/>
                          </m:rPr>
                          <a:rPr lang="en-US" b="0" i="0" dirty="0" smtClean="0"/>
                          <m:t>8</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a:p>
                <a:endParaRPr lang="en-IN"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1BDC4D8A-2BCB-C32D-26EA-75FC4D8D40CC}"/>
              </a:ext>
            </a:extLst>
          </p:cNvPr>
          <p:cNvCxnSpPr/>
          <p:nvPr/>
        </p:nvCxnSpPr>
        <p:spPr>
          <a:xfrm flipV="1">
            <a:off x="3441010" y="2756523"/>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A0B5B2B-2382-7EB6-23E5-3111AAEB61B1}"/>
              </a:ext>
            </a:extLst>
          </p:cNvPr>
          <p:cNvCxnSpPr/>
          <p:nvPr/>
        </p:nvCxnSpPr>
        <p:spPr>
          <a:xfrm flipV="1">
            <a:off x="3441010" y="3154880"/>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8DA0D9-4AF8-E866-CF28-95182C8C642B}"/>
              </a:ext>
            </a:extLst>
          </p:cNvPr>
          <p:cNvSpPr txBox="1"/>
          <p:nvPr/>
        </p:nvSpPr>
        <p:spPr>
          <a:xfrm>
            <a:off x="3530465" y="2368520"/>
            <a:ext cx="425116" cy="369332"/>
          </a:xfrm>
          <a:prstGeom prst="rect">
            <a:avLst/>
          </a:prstGeom>
          <a:noFill/>
        </p:spPr>
        <p:txBody>
          <a:bodyPr wrap="none" rtlCol="0">
            <a:spAutoFit/>
          </a:bodyPr>
          <a:lstStyle/>
          <a:p>
            <a:r>
              <a:rPr lang="en-US" dirty="0"/>
              <a:t>75</a:t>
            </a:r>
            <a:endParaRPr lang="en-IN" dirty="0"/>
          </a:p>
        </p:txBody>
      </p:sp>
      <p:sp>
        <p:nvSpPr>
          <p:cNvPr id="7" name="TextBox 6">
            <a:extLst>
              <a:ext uri="{FF2B5EF4-FFF2-40B4-BE49-F238E27FC236}">
                <a16:creationId xmlns:a16="http://schemas.microsoft.com/office/drawing/2014/main" id="{5F5F2320-8D35-5B15-C0DE-C5C538D87C62}"/>
              </a:ext>
            </a:extLst>
          </p:cNvPr>
          <p:cNvSpPr txBox="1"/>
          <p:nvPr/>
        </p:nvSpPr>
        <p:spPr>
          <a:xfrm>
            <a:off x="3603697" y="3308143"/>
            <a:ext cx="314510" cy="369332"/>
          </a:xfrm>
          <a:prstGeom prst="rect">
            <a:avLst/>
          </a:prstGeom>
          <a:noFill/>
        </p:spPr>
        <p:txBody>
          <a:bodyPr wrap="none" rtlCol="0">
            <a:spAutoFit/>
          </a:bodyPr>
          <a:lstStyle/>
          <a:p>
            <a:r>
              <a:rPr lang="en-US" dirty="0"/>
              <a:t>8</a:t>
            </a:r>
            <a:endParaRPr lang="en-IN" dirty="0"/>
          </a:p>
        </p:txBody>
      </p:sp>
    </p:spTree>
    <p:extLst>
      <p:ext uri="{BB962C8B-B14F-4D97-AF65-F5344CB8AC3E}">
        <p14:creationId xmlns:p14="http://schemas.microsoft.com/office/powerpoint/2010/main" val="1061129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 – Alternative Method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Two pipes A and B can fill a cistern in 15 and 25 minutes. If both the pipes are opened simultaneously, how long will it take to fill the cistern? </a:t>
                </a:r>
              </a:p>
              <a:p>
                <a:pPr algn="just"/>
                <a:r>
                  <a:rPr lang="en-US" sz="2400" dirty="0"/>
                  <a:t>Both the pipes A &amp; B together will fill the cistern in </a:t>
                </a:r>
              </a:p>
              <a:p>
                <a:pPr marL="0" indent="0" algn="just">
                  <a:lnSpc>
                    <a:spcPct val="110000"/>
                  </a:lnSpc>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Total</m:t>
                        </m:r>
                        <m:r>
                          <m:rPr>
                            <m:nor/>
                          </m:rPr>
                          <a:rPr lang="en-US" sz="2400" b="0" i="0" dirty="0" smtClean="0"/>
                          <m:t> </m:t>
                        </m:r>
                        <m:r>
                          <m:rPr>
                            <m:nor/>
                          </m:rPr>
                          <a:rPr lang="en-US" sz="2400" b="0" i="0" dirty="0" smtClean="0"/>
                          <m:t>Cacity</m:t>
                        </m:r>
                        <m:r>
                          <m:rPr>
                            <m:nor/>
                          </m:rPr>
                          <a:rPr lang="en-US" sz="2400" b="0" i="0" dirty="0" smtClean="0"/>
                          <m:t> </m:t>
                        </m:r>
                        <m:r>
                          <m:rPr>
                            <m:nor/>
                          </m:rPr>
                          <a:rPr lang="en-US" sz="2400" b="0" i="0" dirty="0" smtClean="0"/>
                          <m:t>of</m:t>
                        </m:r>
                        <m:r>
                          <m:rPr>
                            <m:nor/>
                          </m:rPr>
                          <a:rPr lang="en-US" sz="2400" b="0" i="0" dirty="0" smtClean="0"/>
                          <m:t> </m:t>
                        </m:r>
                        <m:r>
                          <m:rPr>
                            <m:nor/>
                          </m:rPr>
                          <a:rPr lang="en-US" sz="2400" b="0" i="0" dirty="0" smtClean="0"/>
                          <m:t>Cistern</m:t>
                        </m:r>
                        <m:r>
                          <m:rPr>
                            <m:nor/>
                          </m:rPr>
                          <a:rPr lang="en-US" sz="2400" b="0" i="0" dirty="0" smtClean="0"/>
                          <m:t> = </m:t>
                        </m:r>
                        <m:r>
                          <m:rPr>
                            <m:nor/>
                          </m:rPr>
                          <a:rPr lang="en-US" sz="2400" dirty="0"/>
                          <m:t>LCM</m:t>
                        </m:r>
                        <m:r>
                          <m:rPr>
                            <m:nor/>
                          </m:rPr>
                          <a:rPr lang="en-US" sz="2400" dirty="0"/>
                          <m:t> </m:t>
                        </m:r>
                        <m:r>
                          <m:rPr>
                            <m:nor/>
                          </m:rPr>
                          <a:rPr lang="en-US" sz="2400" dirty="0"/>
                          <m:t>of</m:t>
                        </m:r>
                        <m:r>
                          <m:rPr>
                            <m:nor/>
                          </m:rPr>
                          <a:rPr lang="en-US" sz="2400" dirty="0"/>
                          <m:t> 15 </m:t>
                        </m:r>
                        <m:r>
                          <m:rPr>
                            <m:nor/>
                          </m:rPr>
                          <a:rPr lang="en-US" sz="2400" dirty="0"/>
                          <m:t>and</m:t>
                        </m:r>
                        <m:r>
                          <m:rPr>
                            <m:nor/>
                          </m:rPr>
                          <a:rPr lang="en-US" sz="2400" dirty="0"/>
                          <m:t> 25</m:t>
                        </m:r>
                      </m:num>
                      <m:den>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15 </m:t>
                            </m:r>
                            <m:r>
                              <m:rPr>
                                <m:nor/>
                              </m:rPr>
                              <a:rPr lang="en-US" sz="2400" dirty="0"/>
                              <m:t>and</m:t>
                            </m:r>
                            <m:r>
                              <m:rPr>
                                <m:nor/>
                              </m:rPr>
                              <a:rPr lang="en-US" sz="2400" dirty="0"/>
                              <m:t> 25</m:t>
                            </m:r>
                          </m:num>
                          <m:den>
                            <m:r>
                              <a:rPr lang="en-US" sz="2400" i="1" dirty="0">
                                <a:latin typeface="Cambria Math" panose="02040503050406030204" pitchFamily="18" charset="0"/>
                              </a:rPr>
                              <m:t> </m:t>
                            </m:r>
                            <m:r>
                              <m:rPr>
                                <m:nor/>
                              </m:rPr>
                              <a:rPr lang="en-US" sz="2400" b="0" i="0" dirty="0" smtClean="0"/>
                              <m:t>15</m:t>
                            </m:r>
                          </m:den>
                        </m:f>
                        <m:r>
                          <m:rPr>
                            <m:nor/>
                          </m:rPr>
                          <a:rPr lang="en-US" sz="2400" dirty="0"/>
                          <m:t> +</m:t>
                        </m:r>
                        <m:r>
                          <m:rPr>
                            <m:nor/>
                          </m:rPr>
                          <a:rPr lang="en-US" sz="2400" b="0" i="0" dirty="0" smtClean="0"/>
                          <m:t> </m:t>
                        </m:r>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15 </m:t>
                            </m:r>
                            <m:r>
                              <m:rPr>
                                <m:nor/>
                              </m:rPr>
                              <a:rPr lang="en-US" sz="2400" dirty="0"/>
                              <m:t>and</m:t>
                            </m:r>
                            <m:r>
                              <m:rPr>
                                <m:nor/>
                              </m:rPr>
                              <a:rPr lang="en-US" sz="2400" dirty="0"/>
                              <m:t> 25</m:t>
                            </m:r>
                          </m:num>
                          <m:den>
                            <m:r>
                              <a:rPr lang="en-US" sz="2400" i="1" dirty="0">
                                <a:latin typeface="Cambria Math" panose="02040503050406030204" pitchFamily="18" charset="0"/>
                              </a:rPr>
                              <m:t> </m:t>
                            </m:r>
                            <m:r>
                              <m:rPr>
                                <m:nor/>
                              </m:rPr>
                              <a:rPr lang="en-US" sz="2400" b="0" i="0" dirty="0" smtClean="0"/>
                              <m:t>25</m:t>
                            </m:r>
                          </m:den>
                        </m:f>
                      </m:den>
                    </m:f>
                    <m:r>
                      <a:rPr lang="en-US" sz="2400" i="1" dirty="0" smtClean="0">
                        <a:latin typeface="Cambria Math" panose="02040503050406030204" pitchFamily="18" charset="0"/>
                      </a:rPr>
                      <m:t> </m:t>
                    </m:r>
                    <m:r>
                      <a:rPr lang="en-US" sz="2400" dirty="0">
                        <a:latin typeface="Cambria Math" panose="02040503050406030204" pitchFamily="18" charset="0"/>
                      </a:rPr>
                      <m:t> </m:t>
                    </m:r>
                  </m:oMath>
                </a14:m>
                <a:endParaRPr lang="en-US" sz="2400" dirty="0"/>
              </a:p>
              <a:p>
                <a:pPr marL="0" indent="0" algn="just">
                  <a:lnSpc>
                    <a:spcPct val="110000"/>
                  </a:lnSpc>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75</m:t>
                        </m:r>
                      </m:num>
                      <m:den>
                        <m:f>
                          <m:fPr>
                            <m:ctrlPr>
                              <a:rPr lang="en-US" sz="2400" i="1">
                                <a:solidFill>
                                  <a:srgbClr val="836967"/>
                                </a:solidFill>
                                <a:latin typeface="Cambria Math" panose="02040503050406030204" pitchFamily="18" charset="0"/>
                              </a:rPr>
                            </m:ctrlPr>
                          </m:fPr>
                          <m:num>
                            <m:r>
                              <m:rPr>
                                <m:nor/>
                              </m:rPr>
                              <a:rPr lang="en-US" sz="2400" b="0" i="0" dirty="0" smtClean="0"/>
                              <m:t>7</m:t>
                            </m:r>
                            <m:r>
                              <m:rPr>
                                <m:nor/>
                              </m:rPr>
                              <a:rPr lang="en-US" sz="2400" dirty="0"/>
                              <m:t>5</m:t>
                            </m:r>
                          </m:num>
                          <m:den>
                            <m:r>
                              <a:rPr lang="en-US" sz="2400" i="1" dirty="0">
                                <a:latin typeface="Cambria Math" panose="02040503050406030204" pitchFamily="18" charset="0"/>
                              </a:rPr>
                              <m:t> </m:t>
                            </m:r>
                            <m:r>
                              <m:rPr>
                                <m:nor/>
                              </m:rPr>
                              <a:rPr lang="en-US" sz="2400" dirty="0"/>
                              <m:t>15</m:t>
                            </m:r>
                          </m:den>
                        </m:f>
                        <m:r>
                          <m:rPr>
                            <m:nor/>
                          </m:rPr>
                          <a:rPr lang="en-US" sz="2400" dirty="0"/>
                          <m:t> + </m:t>
                        </m:r>
                        <m:f>
                          <m:fPr>
                            <m:ctrlPr>
                              <a:rPr lang="en-US" sz="2400" i="1">
                                <a:solidFill>
                                  <a:srgbClr val="836967"/>
                                </a:solidFill>
                                <a:latin typeface="Cambria Math" panose="02040503050406030204" pitchFamily="18" charset="0"/>
                              </a:rPr>
                            </m:ctrlPr>
                          </m:fPr>
                          <m:num>
                            <m:r>
                              <m:rPr>
                                <m:nor/>
                              </m:rPr>
                              <a:rPr lang="en-US" sz="2400" b="0" i="0" dirty="0" smtClean="0"/>
                              <m:t>7</m:t>
                            </m:r>
                            <m:r>
                              <m:rPr>
                                <m:nor/>
                              </m:rPr>
                              <a:rPr lang="en-US" sz="2400" dirty="0"/>
                              <m:t>5</m:t>
                            </m:r>
                          </m:num>
                          <m:den>
                            <m:r>
                              <a:rPr lang="en-US" sz="2400" i="1" dirty="0">
                                <a:latin typeface="Cambria Math" panose="02040503050406030204" pitchFamily="18" charset="0"/>
                              </a:rPr>
                              <m:t> </m:t>
                            </m:r>
                            <m:r>
                              <m:rPr>
                                <m:nor/>
                              </m:rPr>
                              <a:rPr lang="en-US" sz="2400" dirty="0"/>
                              <m:t>25</m:t>
                            </m:r>
                          </m:den>
                        </m:f>
                      </m:den>
                    </m:f>
                  </m:oMath>
                </a14:m>
                <a:endParaRPr lang="en-US" sz="2400" dirty="0"/>
              </a:p>
              <a:p>
                <a:pPr marL="0" indent="0" algn="just">
                  <a:lnSpc>
                    <a:spcPct val="110000"/>
                  </a:lnSpc>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75</m:t>
                        </m:r>
                      </m:num>
                      <m:den>
                        <m:r>
                          <m:rPr>
                            <m:nor/>
                          </m:rPr>
                          <a:rPr lang="en-US" sz="2400" dirty="0"/>
                          <m:t>5+</m:t>
                        </m:r>
                        <m:r>
                          <m:rPr>
                            <m:nor/>
                          </m:rPr>
                          <a:rPr lang="en-US" sz="2400" b="0" i="0" dirty="0" smtClean="0"/>
                          <m:t>3</m:t>
                        </m:r>
                      </m:den>
                    </m:f>
                    <m:r>
                      <a:rPr lang="en-US" sz="2400" i="1" dirty="0">
                        <a:latin typeface="Cambria Math" panose="02040503050406030204" pitchFamily="18" charset="0"/>
                      </a:rPr>
                      <m:t> </m:t>
                    </m:r>
                    <m:r>
                      <a:rPr lang="en-US" sz="2400" dirty="0">
                        <a:latin typeface="Cambria Math" panose="02040503050406030204" pitchFamily="18" charset="0"/>
                      </a:rPr>
                      <m:t> </m:t>
                    </m:r>
                  </m:oMath>
                </a14:m>
                <a:r>
                  <a:rPr lang="en-US" sz="2400" dirty="0"/>
                  <a:t>minutes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75</m:t>
                        </m:r>
                      </m:num>
                      <m:den>
                        <m:r>
                          <m:rPr>
                            <m:nor/>
                          </m:rPr>
                          <a:rPr lang="en-US" sz="2400" b="0" i="0" dirty="0" smtClean="0"/>
                          <m:t>8</m:t>
                        </m:r>
                      </m:den>
                    </m:f>
                    <m:r>
                      <a:rPr lang="en-US" sz="2400" i="1" dirty="0">
                        <a:latin typeface="Cambria Math" panose="02040503050406030204" pitchFamily="18" charset="0"/>
                      </a:rPr>
                      <m:t> </m:t>
                    </m:r>
                    <m:r>
                      <a:rPr lang="en-US" sz="2400" dirty="0">
                        <a:latin typeface="Cambria Math" panose="02040503050406030204" pitchFamily="18" charset="0"/>
                      </a:rPr>
                      <m:t> </m:t>
                    </m:r>
                  </m:oMath>
                </a14:m>
                <a:r>
                  <a:rPr lang="en-US" sz="2400"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b="-1582"/>
                </a:stretch>
              </a:blipFill>
            </p:spPr>
            <p:txBody>
              <a:bodyPr/>
              <a:lstStyle/>
              <a:p>
                <a:r>
                  <a:rPr lang="en-IN">
                    <a:noFill/>
                  </a:rPr>
                  <a:t> </a:t>
                </a:r>
              </a:p>
            </p:txBody>
          </p:sp>
        </mc:Fallback>
      </mc:AlternateContent>
      <p:cxnSp>
        <p:nvCxnSpPr>
          <p:cNvPr id="8" name="Straight Connector 7">
            <a:extLst>
              <a:ext uri="{FF2B5EF4-FFF2-40B4-BE49-F238E27FC236}">
                <a16:creationId xmlns:a16="http://schemas.microsoft.com/office/drawing/2014/main" id="{D99C8E6A-EA2A-5AC4-2840-17E4C03DB2C3}"/>
              </a:ext>
            </a:extLst>
          </p:cNvPr>
          <p:cNvCxnSpPr/>
          <p:nvPr/>
        </p:nvCxnSpPr>
        <p:spPr>
          <a:xfrm flipV="1">
            <a:off x="1529994" y="540857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EE069E-C967-FA04-DD3B-DE165C3145E9}"/>
              </a:ext>
            </a:extLst>
          </p:cNvPr>
          <p:cNvCxnSpPr/>
          <p:nvPr/>
        </p:nvCxnSpPr>
        <p:spPr>
          <a:xfrm flipV="1">
            <a:off x="1529994" y="569760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9EA1350-356B-9E8F-7152-61152AA3EA6E}"/>
              </a:ext>
            </a:extLst>
          </p:cNvPr>
          <p:cNvSpPr txBox="1"/>
          <p:nvPr/>
        </p:nvSpPr>
        <p:spPr>
          <a:xfrm>
            <a:off x="1220294" y="5377934"/>
            <a:ext cx="309700" cy="369332"/>
          </a:xfrm>
          <a:prstGeom prst="rect">
            <a:avLst/>
          </a:prstGeom>
          <a:noFill/>
        </p:spPr>
        <p:txBody>
          <a:bodyPr wrap="none" rtlCol="0">
            <a:spAutoFit/>
          </a:bodyPr>
          <a:lstStyle/>
          <a:p>
            <a:r>
              <a:rPr lang="en-US" dirty="0"/>
              <a:t>5</a:t>
            </a:r>
            <a:endParaRPr lang="en-IN" dirty="0"/>
          </a:p>
        </p:txBody>
      </p:sp>
      <p:sp>
        <p:nvSpPr>
          <p:cNvPr id="11" name="TextBox 10">
            <a:extLst>
              <a:ext uri="{FF2B5EF4-FFF2-40B4-BE49-F238E27FC236}">
                <a16:creationId xmlns:a16="http://schemas.microsoft.com/office/drawing/2014/main" id="{277E1395-6384-410D-0B80-B0A51F0BCDEB}"/>
              </a:ext>
            </a:extLst>
          </p:cNvPr>
          <p:cNvSpPr txBox="1"/>
          <p:nvPr/>
        </p:nvSpPr>
        <p:spPr>
          <a:xfrm>
            <a:off x="2698038" y="5305874"/>
            <a:ext cx="309700" cy="369332"/>
          </a:xfrm>
          <a:prstGeom prst="rect">
            <a:avLst/>
          </a:prstGeom>
          <a:noFill/>
        </p:spPr>
        <p:txBody>
          <a:bodyPr wrap="none" rtlCol="0">
            <a:spAutoFit/>
          </a:bodyPr>
          <a:lstStyle/>
          <a:p>
            <a:r>
              <a:rPr lang="en-US" dirty="0"/>
              <a:t>3</a:t>
            </a:r>
            <a:endParaRPr lang="en-IN" dirty="0"/>
          </a:p>
        </p:txBody>
      </p:sp>
      <p:cxnSp>
        <p:nvCxnSpPr>
          <p:cNvPr id="13" name="Straight Connector 12">
            <a:extLst>
              <a:ext uri="{FF2B5EF4-FFF2-40B4-BE49-F238E27FC236}">
                <a16:creationId xmlns:a16="http://schemas.microsoft.com/office/drawing/2014/main" id="{01C5A334-99AE-AA46-B358-260AC3E0D111}"/>
              </a:ext>
            </a:extLst>
          </p:cNvPr>
          <p:cNvCxnSpPr/>
          <p:nvPr/>
        </p:nvCxnSpPr>
        <p:spPr>
          <a:xfrm flipV="1">
            <a:off x="2200562" y="540857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CF711D-8C55-E1DB-506B-267BACCA6C9E}"/>
              </a:ext>
            </a:extLst>
          </p:cNvPr>
          <p:cNvCxnSpPr/>
          <p:nvPr/>
        </p:nvCxnSpPr>
        <p:spPr>
          <a:xfrm flipV="1">
            <a:off x="2200562" y="5717482"/>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1372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2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Two pipes A and B can fill a tank in 15 and 20 minutes respectively. If both the pipes are opened together and at the end of 5 minutes, the pipe A is closed, then how much extra time will B take to fill the tank? </a:t>
                </a:r>
              </a:p>
              <a:p>
                <a:pPr algn="just"/>
                <a14:m>
                  <m:oMath xmlns:m="http://schemas.openxmlformats.org/officeDocument/2006/math">
                    <m:r>
                      <m:rPr>
                        <m:nor/>
                      </m:rPr>
                      <a:rPr lang="en-US" sz="2400" dirty="0"/>
                      <m:t>LCM</m:t>
                    </m:r>
                    <m:r>
                      <m:rPr>
                        <m:nor/>
                      </m:rPr>
                      <a:rPr lang="en-US" sz="2400" dirty="0"/>
                      <m:t> </m:t>
                    </m:r>
                    <m:r>
                      <m:rPr>
                        <m:nor/>
                      </m:rPr>
                      <a:rPr lang="en-US" sz="2400" dirty="0"/>
                      <m:t>of</m:t>
                    </m:r>
                    <m:r>
                      <m:rPr>
                        <m:nor/>
                      </m:rPr>
                      <a:rPr lang="en-US" sz="2400" dirty="0"/>
                      <m:t> 15 </m:t>
                    </m:r>
                    <m:r>
                      <m:rPr>
                        <m:nor/>
                      </m:rPr>
                      <a:rPr lang="en-US" sz="2400" dirty="0"/>
                      <m:t>and</m:t>
                    </m:r>
                    <m:r>
                      <m:rPr>
                        <m:nor/>
                      </m:rPr>
                      <a:rPr lang="en-US" sz="2400" dirty="0"/>
                      <m:t> 20</m:t>
                    </m:r>
                    <m:r>
                      <a:rPr lang="en-US" sz="2400" i="1" dirty="0">
                        <a:latin typeface="Cambria Math" panose="02040503050406030204" pitchFamily="18" charset="0"/>
                      </a:rPr>
                      <m:t> </m:t>
                    </m:r>
                  </m:oMath>
                </a14:m>
                <a:r>
                  <a:rPr lang="en-US" sz="2400" dirty="0"/>
                  <a:t> = 60</a:t>
                </a:r>
              </a:p>
              <a:p>
                <a:pPr algn="just"/>
                <a:r>
                  <a:rPr lang="en-US" sz="2400" dirty="0"/>
                  <a:t>Part of the tank filled by both the pipes A &amp; B in 5 minutes</a:t>
                </a:r>
              </a:p>
              <a:p>
                <a:pPr marL="0" indent="0" algn="just">
                  <a:buNone/>
                </a:pPr>
                <a:r>
                  <a:rPr lang="en-US" sz="2400" dirty="0"/>
                  <a:t>= 5 x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15 </m:t>
                        </m:r>
                        <m:r>
                          <m:rPr>
                            <m:nor/>
                          </m:rPr>
                          <a:rPr lang="en-US" sz="2400" dirty="0"/>
                          <m:t>and</m:t>
                        </m:r>
                        <m:r>
                          <m:rPr>
                            <m:nor/>
                          </m:rPr>
                          <a:rPr lang="en-US" sz="2400" dirty="0"/>
                          <m:t> 20</m:t>
                        </m:r>
                      </m:num>
                      <m:den>
                        <m:r>
                          <a:rPr lang="en-US" sz="2400" i="1" dirty="0">
                            <a:latin typeface="Cambria Math" panose="02040503050406030204" pitchFamily="18" charset="0"/>
                          </a:rPr>
                          <m:t> </m:t>
                        </m:r>
                        <m:r>
                          <m:rPr>
                            <m:nor/>
                          </m:rPr>
                          <a:rPr lang="en-US" sz="2400" dirty="0"/>
                          <m:t>15</m:t>
                        </m:r>
                      </m:den>
                    </m:f>
                    <m:r>
                      <m:rPr>
                        <m:nor/>
                      </m:rPr>
                      <a:rPr lang="en-US" sz="2400" dirty="0"/>
                      <m:t> + </m:t>
                    </m:r>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15 </m:t>
                        </m:r>
                        <m:r>
                          <m:rPr>
                            <m:nor/>
                          </m:rPr>
                          <a:rPr lang="en-US" sz="2400" dirty="0"/>
                          <m:t>and</m:t>
                        </m:r>
                        <m:r>
                          <m:rPr>
                            <m:nor/>
                          </m:rPr>
                          <a:rPr lang="en-US" sz="2400" dirty="0"/>
                          <m:t> 20</m:t>
                        </m:r>
                      </m:num>
                      <m:den>
                        <m:r>
                          <a:rPr lang="en-US" sz="2400" i="1" dirty="0">
                            <a:latin typeface="Cambria Math" panose="02040503050406030204" pitchFamily="18" charset="0"/>
                          </a:rPr>
                          <m:t> </m:t>
                        </m:r>
                        <m:r>
                          <m:rPr>
                            <m:nor/>
                          </m:rPr>
                          <a:rPr lang="en-US" sz="2400" b="0" i="0" dirty="0" smtClean="0"/>
                          <m:t>20</m:t>
                        </m:r>
                      </m:den>
                    </m:f>
                  </m:oMath>
                </a14:m>
                <a:r>
                  <a:rPr lang="en-US" sz="2400" dirty="0"/>
                  <a:t>) = 5 x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60</m:t>
                        </m:r>
                      </m:num>
                      <m:den>
                        <m:r>
                          <a:rPr lang="en-US" sz="2400" i="1" dirty="0">
                            <a:latin typeface="Cambria Math" panose="02040503050406030204" pitchFamily="18" charset="0"/>
                          </a:rPr>
                          <m:t> </m:t>
                        </m:r>
                        <m:r>
                          <m:rPr>
                            <m:nor/>
                          </m:rPr>
                          <a:rPr lang="en-US" sz="2400" dirty="0"/>
                          <m:t>15</m:t>
                        </m:r>
                      </m:den>
                    </m:f>
                    <m:r>
                      <m:rPr>
                        <m:nor/>
                      </m:rPr>
                      <a:rPr lang="en-US" sz="2400" dirty="0"/>
                      <m:t> + </m:t>
                    </m:r>
                    <m:f>
                      <m:fPr>
                        <m:ctrlPr>
                          <a:rPr lang="en-US" sz="2400" i="1">
                            <a:solidFill>
                              <a:srgbClr val="836967"/>
                            </a:solidFill>
                            <a:latin typeface="Cambria Math" panose="02040503050406030204" pitchFamily="18" charset="0"/>
                          </a:rPr>
                        </m:ctrlPr>
                      </m:fPr>
                      <m:num>
                        <m:r>
                          <m:rPr>
                            <m:nor/>
                          </m:rPr>
                          <a:rPr lang="en-US" sz="2400" b="0" i="0" dirty="0" smtClean="0"/>
                          <m:t>60</m:t>
                        </m:r>
                      </m:num>
                      <m:den>
                        <m:r>
                          <a:rPr lang="en-US" sz="2400" i="1" dirty="0">
                            <a:latin typeface="Cambria Math" panose="02040503050406030204" pitchFamily="18" charset="0"/>
                          </a:rPr>
                          <m:t> </m:t>
                        </m:r>
                        <m:r>
                          <m:rPr>
                            <m:nor/>
                          </m:rPr>
                          <a:rPr lang="en-US" sz="2400" dirty="0"/>
                          <m:t>20</m:t>
                        </m:r>
                      </m:den>
                    </m:f>
                  </m:oMath>
                </a14:m>
                <a:r>
                  <a:rPr lang="en-US" sz="2400" dirty="0"/>
                  <a:t>)</a:t>
                </a:r>
              </a:p>
              <a:p>
                <a:pPr marL="0" indent="0" algn="just">
                  <a:buNone/>
                </a:pPr>
                <a:r>
                  <a:rPr lang="en-US" sz="2400" dirty="0"/>
                  <a:t>= 5 x (4 + 3) = 5 x 7 = 35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136" b="-226"/>
                </a:stretch>
              </a:blipFill>
            </p:spPr>
            <p:txBody>
              <a:bodyPr/>
              <a:lstStyle/>
              <a:p>
                <a:r>
                  <a:rPr lang="en-IN">
                    <a:noFill/>
                  </a:rPr>
                  <a:t> </a:t>
                </a:r>
              </a:p>
            </p:txBody>
          </p:sp>
        </mc:Fallback>
      </mc:AlternateContent>
      <p:cxnSp>
        <p:nvCxnSpPr>
          <p:cNvPr id="8" name="Straight Connector 7">
            <a:extLst>
              <a:ext uri="{FF2B5EF4-FFF2-40B4-BE49-F238E27FC236}">
                <a16:creationId xmlns:a16="http://schemas.microsoft.com/office/drawing/2014/main" id="{D99C8E6A-EA2A-5AC4-2840-17E4C03DB2C3}"/>
              </a:ext>
            </a:extLst>
          </p:cNvPr>
          <p:cNvCxnSpPr/>
          <p:nvPr/>
        </p:nvCxnSpPr>
        <p:spPr>
          <a:xfrm flipV="1">
            <a:off x="7135663" y="5314122"/>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EE069E-C967-FA04-DD3B-DE165C3145E9}"/>
              </a:ext>
            </a:extLst>
          </p:cNvPr>
          <p:cNvCxnSpPr/>
          <p:nvPr/>
        </p:nvCxnSpPr>
        <p:spPr>
          <a:xfrm flipV="1">
            <a:off x="7135663" y="564666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9EA1350-356B-9E8F-7152-61152AA3EA6E}"/>
              </a:ext>
            </a:extLst>
          </p:cNvPr>
          <p:cNvSpPr txBox="1"/>
          <p:nvPr/>
        </p:nvSpPr>
        <p:spPr>
          <a:xfrm>
            <a:off x="7235451" y="4882878"/>
            <a:ext cx="316112" cy="369332"/>
          </a:xfrm>
          <a:prstGeom prst="rect">
            <a:avLst/>
          </a:prstGeom>
          <a:noFill/>
        </p:spPr>
        <p:txBody>
          <a:bodyPr wrap="none" rtlCol="0">
            <a:spAutoFit/>
          </a:bodyPr>
          <a:lstStyle/>
          <a:p>
            <a:r>
              <a:rPr lang="en-US" dirty="0"/>
              <a:t>4</a:t>
            </a:r>
            <a:endParaRPr lang="en-IN" dirty="0"/>
          </a:p>
        </p:txBody>
      </p:sp>
      <p:sp>
        <p:nvSpPr>
          <p:cNvPr id="11" name="TextBox 10">
            <a:extLst>
              <a:ext uri="{FF2B5EF4-FFF2-40B4-BE49-F238E27FC236}">
                <a16:creationId xmlns:a16="http://schemas.microsoft.com/office/drawing/2014/main" id="{277E1395-6384-410D-0B80-B0A51F0BCDEB}"/>
              </a:ext>
            </a:extLst>
          </p:cNvPr>
          <p:cNvSpPr txBox="1"/>
          <p:nvPr/>
        </p:nvSpPr>
        <p:spPr>
          <a:xfrm>
            <a:off x="8378883" y="5067544"/>
            <a:ext cx="309700" cy="369332"/>
          </a:xfrm>
          <a:prstGeom prst="rect">
            <a:avLst/>
          </a:prstGeom>
          <a:noFill/>
        </p:spPr>
        <p:txBody>
          <a:bodyPr wrap="none" rtlCol="0">
            <a:spAutoFit/>
          </a:bodyPr>
          <a:lstStyle/>
          <a:p>
            <a:r>
              <a:rPr lang="en-US" dirty="0"/>
              <a:t>3</a:t>
            </a:r>
            <a:endParaRPr lang="en-IN" dirty="0"/>
          </a:p>
        </p:txBody>
      </p:sp>
      <p:cxnSp>
        <p:nvCxnSpPr>
          <p:cNvPr id="13" name="Straight Connector 12">
            <a:extLst>
              <a:ext uri="{FF2B5EF4-FFF2-40B4-BE49-F238E27FC236}">
                <a16:creationId xmlns:a16="http://schemas.microsoft.com/office/drawing/2014/main" id="{01C5A334-99AE-AA46-B358-260AC3E0D111}"/>
              </a:ext>
            </a:extLst>
          </p:cNvPr>
          <p:cNvCxnSpPr/>
          <p:nvPr/>
        </p:nvCxnSpPr>
        <p:spPr>
          <a:xfrm flipV="1">
            <a:off x="7926295" y="5314122"/>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CF711D-8C55-E1DB-506B-267BACCA6C9E}"/>
              </a:ext>
            </a:extLst>
          </p:cNvPr>
          <p:cNvCxnSpPr/>
          <p:nvPr/>
        </p:nvCxnSpPr>
        <p:spPr>
          <a:xfrm flipV="1">
            <a:off x="7926295" y="564666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212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2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Part of the tank filled by both the pipes A &amp; B in 5 minutes</a:t>
                </a:r>
              </a:p>
              <a:p>
                <a:pPr marL="0" indent="0" algn="just">
                  <a:buNone/>
                </a:pPr>
                <a:r>
                  <a:rPr lang="en-US" sz="2400" dirty="0"/>
                  <a:t>								= 35 </a:t>
                </a:r>
              </a:p>
              <a:p>
                <a:pPr algn="just"/>
                <a:r>
                  <a:rPr lang="en-US" sz="2400" dirty="0"/>
                  <a:t>Extra time taken by pipe B to fill the tank =</a:t>
                </a:r>
                <a14:m>
                  <m:oMath xmlns:m="http://schemas.openxmlformats.org/officeDocument/2006/math">
                    <m:r>
                      <a:rPr lang="en-US" sz="2400" b="0" i="0" smtClean="0">
                        <a:solidFill>
                          <a:srgbClr val="836967"/>
                        </a:solidFill>
                        <a:latin typeface="Cambria Math" panose="02040503050406030204" pitchFamily="18" charset="0"/>
                      </a:rPr>
                      <m:t> </m:t>
                    </m:r>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15 &amp; 20 − </m:t>
                        </m:r>
                        <m:r>
                          <m:rPr>
                            <m:nor/>
                          </m:rPr>
                          <a:rPr lang="en-US" sz="2400" dirty="0"/>
                          <m:t>Part</m:t>
                        </m:r>
                        <m:r>
                          <m:rPr>
                            <m:nor/>
                          </m:rPr>
                          <a:rPr lang="en-US" sz="2400" dirty="0"/>
                          <m:t> </m:t>
                        </m:r>
                        <m:r>
                          <m:rPr>
                            <m:nor/>
                          </m:rPr>
                          <a:rPr lang="en-US" sz="2400" dirty="0"/>
                          <m:t>of</m:t>
                        </m:r>
                        <m:r>
                          <m:rPr>
                            <m:nor/>
                          </m:rPr>
                          <a:rPr lang="en-US" sz="2400" dirty="0"/>
                          <m:t> </m:t>
                        </m:r>
                        <m:r>
                          <m:rPr>
                            <m:nor/>
                          </m:rPr>
                          <a:rPr lang="en-US" sz="2400" dirty="0" smtClean="0"/>
                          <m:t>t</m:t>
                        </m:r>
                        <m:r>
                          <m:rPr>
                            <m:nor/>
                          </m:rPr>
                          <a:rPr lang="en-US" sz="2400" dirty="0"/>
                          <m:t>ank</m:t>
                        </m:r>
                        <m:r>
                          <m:rPr>
                            <m:nor/>
                          </m:rPr>
                          <a:rPr lang="en-US" sz="2400" dirty="0"/>
                          <m:t> </m:t>
                        </m:r>
                        <m:r>
                          <m:rPr>
                            <m:nor/>
                          </m:rPr>
                          <a:rPr lang="en-US" sz="2400" dirty="0"/>
                          <m:t>filled</m:t>
                        </m:r>
                        <m:r>
                          <m:rPr>
                            <m:nor/>
                          </m:rPr>
                          <a:rPr lang="en-US" sz="2400" dirty="0"/>
                          <m:t> </m:t>
                        </m:r>
                        <m:r>
                          <m:rPr>
                            <m:nor/>
                          </m:rPr>
                          <a:rPr lang="en-US" sz="2400" dirty="0"/>
                          <m:t>by</m:t>
                        </m:r>
                        <m:r>
                          <m:rPr>
                            <m:nor/>
                          </m:rPr>
                          <a:rPr lang="en-US" sz="2400" dirty="0"/>
                          <m:t> </m:t>
                        </m:r>
                        <m:r>
                          <m:rPr>
                            <m:nor/>
                          </m:rPr>
                          <a:rPr lang="en-US" sz="2400" dirty="0"/>
                          <m:t>both</m:t>
                        </m:r>
                        <m:r>
                          <m:rPr>
                            <m:nor/>
                          </m:rPr>
                          <a:rPr lang="en-US" sz="2400" dirty="0"/>
                          <m:t> </m:t>
                        </m:r>
                        <m:r>
                          <m:rPr>
                            <m:nor/>
                          </m:rPr>
                          <a:rPr lang="en-US" sz="2400" dirty="0"/>
                          <m:t>pipes</m:t>
                        </m:r>
                        <m:r>
                          <m:rPr>
                            <m:nor/>
                          </m:rPr>
                          <a:rPr lang="en-US" sz="2400" dirty="0"/>
                          <m:t> </m:t>
                        </m:r>
                        <m:r>
                          <m:rPr>
                            <m:nor/>
                          </m:rPr>
                          <a:rPr lang="en-US" sz="2400" dirty="0"/>
                          <m:t>in</m:t>
                        </m:r>
                        <m:r>
                          <m:rPr>
                            <m:nor/>
                          </m:rPr>
                          <a:rPr lang="en-US" sz="2400" dirty="0"/>
                          <m:t> 5 </m:t>
                        </m:r>
                        <m:r>
                          <m:rPr>
                            <m:nor/>
                          </m:rPr>
                          <a:rPr lang="en-US" sz="2400" dirty="0"/>
                          <m:t>min</m:t>
                        </m:r>
                      </m:num>
                      <m:den>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15 </m:t>
                            </m:r>
                            <m:r>
                              <m:rPr>
                                <m:nor/>
                              </m:rPr>
                              <a:rPr lang="en-US" sz="2400" dirty="0"/>
                              <m:t>and</m:t>
                            </m:r>
                            <m:r>
                              <m:rPr>
                                <m:nor/>
                              </m:rPr>
                              <a:rPr lang="en-US" sz="2400" dirty="0"/>
                              <m:t> 20</m:t>
                            </m:r>
                          </m:num>
                          <m:den>
                            <m:r>
                              <a:rPr lang="en-US" sz="2400" i="1" dirty="0">
                                <a:latin typeface="Cambria Math" panose="02040503050406030204" pitchFamily="18" charset="0"/>
                              </a:rPr>
                              <m:t> </m:t>
                            </m:r>
                            <m:r>
                              <m:rPr>
                                <m:nor/>
                              </m:rPr>
                              <a:rPr lang="en-US" sz="2400" b="0" i="0" dirty="0" smtClean="0"/>
                              <m:t>20</m:t>
                            </m:r>
                          </m:den>
                        </m:f>
                        <m:r>
                          <m:rPr>
                            <m:nor/>
                          </m:rPr>
                          <a:rPr lang="en-US" sz="2400" b="0" i="0" dirty="0" smtClean="0">
                            <a:latin typeface="Cambria Math" panose="02040503050406030204" pitchFamily="18" charset="0"/>
                          </a:rPr>
                          <m:t> </m:t>
                        </m:r>
                        <m:r>
                          <m:rPr>
                            <m:nor/>
                          </m:rPr>
                          <a:rPr lang="en-US" sz="2400" b="0" i="0" dirty="0" smtClean="0"/>
                          <m:t>or</m:t>
                        </m:r>
                        <m:r>
                          <m:rPr>
                            <m:nor/>
                          </m:rPr>
                          <a:rPr lang="en-US" sz="2400" b="0" i="0" dirty="0" smtClean="0"/>
                          <m:t> </m:t>
                        </m:r>
                        <m:f>
                          <m:fPr>
                            <m:ctrlPr>
                              <a:rPr lang="en-US" sz="2400" i="1">
                                <a:solidFill>
                                  <a:srgbClr val="836967"/>
                                </a:solidFill>
                                <a:latin typeface="Cambria Math" panose="02040503050406030204" pitchFamily="18" charset="0"/>
                              </a:rPr>
                            </m:ctrlPr>
                          </m:fPr>
                          <m:num>
                            <m:r>
                              <m:rPr>
                                <m:nor/>
                              </m:rPr>
                              <a:rPr lang="en-US" sz="2400" dirty="0"/>
                              <m:t>60</m:t>
                            </m:r>
                          </m:num>
                          <m:den>
                            <m:r>
                              <a:rPr lang="en-US" sz="2400" i="1" dirty="0">
                                <a:latin typeface="Cambria Math" panose="02040503050406030204" pitchFamily="18" charset="0"/>
                              </a:rPr>
                              <m:t> </m:t>
                            </m:r>
                            <m:r>
                              <m:rPr>
                                <m:nor/>
                              </m:rPr>
                              <a:rPr lang="en-US" sz="2400" dirty="0"/>
                              <m:t>20</m:t>
                            </m:r>
                          </m:den>
                        </m:f>
                        <m:r>
                          <m:rPr>
                            <m:nor/>
                          </m:rPr>
                          <a:rPr lang="en-US" sz="2400" b="0" i="0" dirty="0" smtClean="0">
                            <a:latin typeface="Cambria Math" panose="02040503050406030204" pitchFamily="18" charset="0"/>
                          </a:rPr>
                          <m:t> </m:t>
                        </m:r>
                        <m:r>
                          <m:rPr>
                            <m:nor/>
                          </m:rPr>
                          <a:rPr lang="en-US" sz="2400" dirty="0"/>
                          <m:t>or</m:t>
                        </m:r>
                        <m:r>
                          <m:rPr>
                            <m:nor/>
                          </m:rPr>
                          <a:rPr lang="en-US" sz="2400" b="0" i="0" dirty="0" smtClean="0"/>
                          <m:t> </m:t>
                        </m:r>
                        <m:r>
                          <m:rPr>
                            <m:nor/>
                          </m:rPr>
                          <a:rPr lang="en-US" sz="2400" dirty="0"/>
                          <m:t>3</m:t>
                        </m:r>
                      </m:den>
                    </m:f>
                    <m:r>
                      <a:rPr lang="en-US" sz="2400" i="1" dirty="0" smtClean="0">
                        <a:latin typeface="Cambria Math" panose="02040503050406030204" pitchFamily="18" charset="0"/>
                      </a:rPr>
                      <m:t> </m:t>
                    </m:r>
                    <m:r>
                      <a:rPr lang="en-US" sz="2400" dirty="0">
                        <a:latin typeface="Cambria Math" panose="02040503050406030204" pitchFamily="18" charset="0"/>
                      </a:rPr>
                      <m:t> </m:t>
                    </m:r>
                  </m:oMath>
                </a14:m>
                <a:endParaRPr lang="en-US" sz="2400" dirty="0"/>
              </a:p>
              <a:p>
                <a:pPr marL="0" indent="0" algn="just">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60 − 35</m:t>
                        </m:r>
                      </m:num>
                      <m:den>
                        <m:r>
                          <m:rPr>
                            <m:nor/>
                          </m:rPr>
                          <a:rPr lang="en-US" sz="2400" dirty="0"/>
                          <m:t>3</m:t>
                        </m:r>
                      </m:den>
                    </m:f>
                  </m:oMath>
                </a14:m>
                <a:endParaRPr lang="en-US" sz="2400" dirty="0"/>
              </a:p>
              <a:p>
                <a:pPr marL="0" indent="0" algn="just">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2</m:t>
                        </m:r>
                        <m:r>
                          <m:rPr>
                            <m:nor/>
                          </m:rPr>
                          <a:rPr lang="en-US" sz="2400" dirty="0"/>
                          <m:t>5</m:t>
                        </m:r>
                      </m:num>
                      <m:den>
                        <m:r>
                          <m:rPr>
                            <m:nor/>
                          </m:rPr>
                          <a:rPr lang="en-US" sz="2400" b="0" i="0" dirty="0" smtClean="0"/>
                          <m:t>3</m:t>
                        </m:r>
                      </m:den>
                    </m:f>
                    <m:r>
                      <a:rPr lang="en-US" sz="2400" i="1" dirty="0">
                        <a:latin typeface="Cambria Math" panose="02040503050406030204" pitchFamily="18" charset="0"/>
                      </a:rPr>
                      <m:t> </m:t>
                    </m:r>
                  </m:oMath>
                </a14:m>
                <a:r>
                  <a:rPr lang="en-US" sz="2400"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10880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3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Two pipes A and B can fill a tank in 20 and 50 minutes respectively. If both the pipes are opened together and after some time the pipe B was closed and the tank was filled in 15 minutes. Calculate the time after which the pipe A was closed.</a:t>
                </a:r>
              </a:p>
              <a:p>
                <a:pPr algn="just"/>
                <a14:m>
                  <m:oMath xmlns:m="http://schemas.openxmlformats.org/officeDocument/2006/math">
                    <m:r>
                      <m:rPr>
                        <m:nor/>
                      </m:rPr>
                      <a:rPr lang="en-US" sz="2400" dirty="0"/>
                      <m:t>LCM</m:t>
                    </m:r>
                    <m:r>
                      <m:rPr>
                        <m:nor/>
                      </m:rPr>
                      <a:rPr lang="en-US" sz="2400" dirty="0"/>
                      <m:t> </m:t>
                    </m:r>
                    <m:r>
                      <m:rPr>
                        <m:nor/>
                      </m:rPr>
                      <a:rPr lang="en-US" sz="2400" dirty="0"/>
                      <m:t>of</m:t>
                    </m:r>
                    <m:r>
                      <m:rPr>
                        <m:nor/>
                      </m:rPr>
                      <a:rPr lang="en-US" sz="2400" dirty="0"/>
                      <m:t> 20 </m:t>
                    </m:r>
                    <m:r>
                      <m:rPr>
                        <m:nor/>
                      </m:rPr>
                      <a:rPr lang="en-US" sz="2400" dirty="0"/>
                      <m:t>and</m:t>
                    </m:r>
                    <m:r>
                      <m:rPr>
                        <m:nor/>
                      </m:rPr>
                      <a:rPr lang="en-US" sz="2400" dirty="0"/>
                      <m:t> 50</m:t>
                    </m:r>
                    <m:r>
                      <a:rPr lang="en-US" sz="2400" i="1" dirty="0">
                        <a:latin typeface="Cambria Math" panose="02040503050406030204" pitchFamily="18" charset="0"/>
                      </a:rPr>
                      <m:t> </m:t>
                    </m:r>
                  </m:oMath>
                </a14:m>
                <a:r>
                  <a:rPr lang="en-US" sz="2400" dirty="0"/>
                  <a:t> = 100</a:t>
                </a:r>
              </a:p>
              <a:p>
                <a:pPr algn="just"/>
                <a:r>
                  <a:rPr lang="en-US" sz="2400" dirty="0"/>
                  <a:t>Part of tank filled by pipe B in 15 minutes</a:t>
                </a:r>
              </a:p>
              <a:p>
                <a:pPr marL="0" indent="0" algn="just">
                  <a:buNone/>
                </a:pPr>
                <a:r>
                  <a:rPr lang="en-US" sz="2400" dirty="0"/>
                  <a:t>					= 15 x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20 </m:t>
                        </m:r>
                        <m:r>
                          <m:rPr>
                            <m:nor/>
                          </m:rPr>
                          <a:rPr lang="en-US" sz="2400" dirty="0"/>
                          <m:t>and</m:t>
                        </m:r>
                        <m:r>
                          <m:rPr>
                            <m:nor/>
                          </m:rPr>
                          <a:rPr lang="en-US" sz="2400" dirty="0"/>
                          <m:t> 50</m:t>
                        </m:r>
                      </m:num>
                      <m:den>
                        <m:r>
                          <a:rPr lang="en-US" sz="2400" i="1" dirty="0">
                            <a:latin typeface="Cambria Math" panose="02040503050406030204" pitchFamily="18" charset="0"/>
                          </a:rPr>
                          <m:t> </m:t>
                        </m:r>
                        <m:r>
                          <m:rPr>
                            <m:nor/>
                          </m:rPr>
                          <a:rPr lang="en-US" sz="2400" b="0" i="0" dirty="0" smtClean="0"/>
                          <m:t>50</m:t>
                        </m:r>
                      </m:den>
                    </m:f>
                  </m:oMath>
                </a14:m>
                <a:r>
                  <a:rPr lang="en-US" sz="2400" dirty="0"/>
                  <a:t>)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2212331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3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Part of tank filled by pipe B in 15 minutes</a:t>
                </a:r>
              </a:p>
              <a:p>
                <a:pPr marL="0" indent="0" algn="just">
                  <a:lnSpc>
                    <a:spcPct val="100000"/>
                  </a:lnSpc>
                  <a:buNone/>
                </a:pPr>
                <a:r>
                  <a:rPr lang="en-US" sz="2400" dirty="0"/>
                  <a:t>					= 15 x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20 </m:t>
                        </m:r>
                        <m:r>
                          <m:rPr>
                            <m:nor/>
                          </m:rPr>
                          <a:rPr lang="en-US" sz="2400" dirty="0"/>
                          <m:t>and</m:t>
                        </m:r>
                        <m:r>
                          <m:rPr>
                            <m:nor/>
                          </m:rPr>
                          <a:rPr lang="en-US" sz="2400" dirty="0"/>
                          <m:t> 50</m:t>
                        </m:r>
                      </m:num>
                      <m:den>
                        <m:r>
                          <a:rPr lang="en-US" sz="2400" i="1" dirty="0">
                            <a:latin typeface="Cambria Math" panose="02040503050406030204" pitchFamily="18" charset="0"/>
                          </a:rPr>
                          <m:t> </m:t>
                        </m:r>
                        <m:r>
                          <m:rPr>
                            <m:nor/>
                          </m:rPr>
                          <a:rPr lang="en-US" sz="2400" dirty="0"/>
                          <m:t>50</m:t>
                        </m:r>
                      </m:den>
                    </m:f>
                  </m:oMath>
                </a14:m>
                <a:r>
                  <a:rPr lang="en-US" sz="2400" dirty="0"/>
                  <a:t>) </a:t>
                </a:r>
              </a:p>
              <a:p>
                <a:pPr marL="0" indent="0" algn="just">
                  <a:lnSpc>
                    <a:spcPct val="100000"/>
                  </a:lnSpc>
                  <a:buNone/>
                </a:pPr>
                <a:r>
                  <a:rPr lang="en-US" sz="2400" dirty="0"/>
                  <a:t>					= 15 x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100</m:t>
                        </m:r>
                      </m:num>
                      <m:den>
                        <m:r>
                          <a:rPr lang="en-US" sz="2400" i="1" dirty="0">
                            <a:latin typeface="Cambria Math" panose="02040503050406030204" pitchFamily="18" charset="0"/>
                          </a:rPr>
                          <m:t> </m:t>
                        </m:r>
                        <m:r>
                          <m:rPr>
                            <m:nor/>
                          </m:rPr>
                          <a:rPr lang="en-US" sz="2400" dirty="0"/>
                          <m:t>50</m:t>
                        </m:r>
                      </m:den>
                    </m:f>
                  </m:oMath>
                </a14:m>
                <a:r>
                  <a:rPr lang="en-US" sz="2400" dirty="0"/>
                  <a:t>)</a:t>
                </a:r>
              </a:p>
              <a:p>
                <a:pPr marL="0" indent="0" algn="just">
                  <a:lnSpc>
                    <a:spcPct val="100000"/>
                  </a:lnSpc>
                  <a:buNone/>
                </a:pPr>
                <a:r>
                  <a:rPr lang="en-US" sz="2400" dirty="0"/>
                  <a:t>					= 30 units</a:t>
                </a:r>
              </a:p>
              <a:p>
                <a:pPr algn="just">
                  <a:lnSpc>
                    <a:spcPct val="100000"/>
                  </a:lnSpc>
                </a:pPr>
                <a:r>
                  <a:rPr lang="en-US" sz="2400" dirty="0"/>
                  <a:t>Time after which pipe A was closed </a:t>
                </a:r>
              </a:p>
              <a:p>
                <a:pPr marL="0" indent="0" algn="just">
                  <a:lnSpc>
                    <a:spcPct val="100000"/>
                  </a:lnSpc>
                  <a:buNone/>
                </a:pPr>
                <a:r>
                  <a:rPr lang="en-US" sz="2400" dirty="0"/>
                  <a:t>=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20 </m:t>
                        </m:r>
                        <m:r>
                          <m:rPr>
                            <m:nor/>
                          </m:rPr>
                          <a:rPr lang="en-US" sz="2400" dirty="0"/>
                          <m:t>and</m:t>
                        </m:r>
                        <m:r>
                          <m:rPr>
                            <m:nor/>
                          </m:rPr>
                          <a:rPr lang="en-US" sz="2400" dirty="0"/>
                          <m:t> 50</m:t>
                        </m:r>
                        <m:r>
                          <a:rPr lang="en-US" sz="2400" i="1" dirty="0">
                            <a:latin typeface="Cambria Math" panose="02040503050406030204" pitchFamily="18" charset="0"/>
                          </a:rPr>
                          <m:t> </m:t>
                        </m:r>
                        <m:r>
                          <m:rPr>
                            <m:nor/>
                          </m:rPr>
                          <a:rPr lang="en-US" sz="2400" dirty="0"/>
                          <m:t>− </m:t>
                        </m:r>
                        <m:r>
                          <m:rPr>
                            <m:nor/>
                          </m:rPr>
                          <a:rPr lang="en-US" sz="2400" dirty="0"/>
                          <m:t>Part</m:t>
                        </m:r>
                        <m:r>
                          <m:rPr>
                            <m:nor/>
                          </m:rPr>
                          <a:rPr lang="en-US" sz="2400" dirty="0"/>
                          <m:t> </m:t>
                        </m:r>
                        <m:r>
                          <m:rPr>
                            <m:nor/>
                          </m:rPr>
                          <a:rPr lang="en-US" sz="2400" dirty="0"/>
                          <m:t>of</m:t>
                        </m:r>
                        <m:r>
                          <m:rPr>
                            <m:nor/>
                          </m:rPr>
                          <a:rPr lang="en-US" sz="2400" dirty="0"/>
                          <m:t> </m:t>
                        </m:r>
                        <m:r>
                          <m:rPr>
                            <m:nor/>
                          </m:rPr>
                          <a:rPr lang="en-US" sz="2400" dirty="0"/>
                          <m:t>tank</m:t>
                        </m:r>
                        <m:r>
                          <m:rPr>
                            <m:nor/>
                          </m:rPr>
                          <a:rPr lang="en-US" sz="2400" dirty="0"/>
                          <m:t> </m:t>
                        </m:r>
                        <m:r>
                          <m:rPr>
                            <m:nor/>
                          </m:rPr>
                          <a:rPr lang="en-US" sz="2400" dirty="0"/>
                          <m:t>filled</m:t>
                        </m:r>
                        <m:r>
                          <m:rPr>
                            <m:nor/>
                          </m:rPr>
                          <a:rPr lang="en-US" sz="2400" dirty="0"/>
                          <m:t> </m:t>
                        </m:r>
                        <m:r>
                          <m:rPr>
                            <m:nor/>
                          </m:rPr>
                          <a:rPr lang="en-US" sz="2400" dirty="0"/>
                          <m:t>by</m:t>
                        </m:r>
                        <m:r>
                          <m:rPr>
                            <m:nor/>
                          </m:rPr>
                          <a:rPr lang="en-US" sz="2400" dirty="0"/>
                          <m:t> </m:t>
                        </m:r>
                        <m:r>
                          <m:rPr>
                            <m:nor/>
                          </m:rPr>
                          <a:rPr lang="en-US" sz="2400" dirty="0"/>
                          <m:t>pipe</m:t>
                        </m:r>
                        <m:r>
                          <m:rPr>
                            <m:nor/>
                          </m:rPr>
                          <a:rPr lang="en-US" sz="2400" dirty="0"/>
                          <m:t> </m:t>
                        </m:r>
                        <m:r>
                          <m:rPr>
                            <m:nor/>
                          </m:rPr>
                          <a:rPr lang="en-US" sz="2400" dirty="0"/>
                          <m:t>B</m:t>
                        </m:r>
                        <m:r>
                          <m:rPr>
                            <m:nor/>
                          </m:rPr>
                          <a:rPr lang="en-US" sz="2400" dirty="0"/>
                          <m:t> </m:t>
                        </m:r>
                        <m:r>
                          <m:rPr>
                            <m:nor/>
                          </m:rPr>
                          <a:rPr lang="en-US" sz="2400" dirty="0"/>
                          <m:t>in</m:t>
                        </m:r>
                        <m:r>
                          <m:rPr>
                            <m:nor/>
                          </m:rPr>
                          <a:rPr lang="en-US" sz="2400" dirty="0"/>
                          <m:t> 15 </m:t>
                        </m:r>
                        <m:r>
                          <m:rPr>
                            <m:nor/>
                          </m:rPr>
                          <a:rPr lang="en-US" sz="2400" dirty="0"/>
                          <m:t>mins</m:t>
                        </m:r>
                        <m:r>
                          <m:rPr>
                            <m:nor/>
                          </m:rPr>
                          <a:rPr lang="en-US" sz="2400" b="0" i="0" dirty="0" smtClean="0"/>
                          <m:t>.</m:t>
                        </m:r>
                      </m:num>
                      <m:den>
                        <m:f>
                          <m:fPr>
                            <m:ctrlPr>
                              <a:rPr lang="en-US" sz="2400" i="1">
                                <a:solidFill>
                                  <a:srgbClr val="836967"/>
                                </a:solidFill>
                                <a:latin typeface="Cambria Math" panose="02040503050406030204" pitchFamily="18" charset="0"/>
                              </a:rPr>
                            </m:ctrlPr>
                          </m:fPr>
                          <m:num>
                            <m:r>
                              <m:rPr>
                                <m:nor/>
                              </m:rPr>
                              <a:rPr lang="en-US" sz="2400" dirty="0"/>
                              <m:t>LCM</m:t>
                            </m:r>
                            <m:r>
                              <m:rPr>
                                <m:nor/>
                              </m:rPr>
                              <a:rPr lang="en-US" sz="2400" dirty="0"/>
                              <m:t> </m:t>
                            </m:r>
                            <m:r>
                              <m:rPr>
                                <m:nor/>
                              </m:rPr>
                              <a:rPr lang="en-US" sz="2400" dirty="0"/>
                              <m:t>of</m:t>
                            </m:r>
                            <m:r>
                              <m:rPr>
                                <m:nor/>
                              </m:rPr>
                              <a:rPr lang="en-US" sz="2400" dirty="0"/>
                              <m:t> 20 </m:t>
                            </m:r>
                            <m:r>
                              <m:rPr>
                                <m:nor/>
                              </m:rPr>
                              <a:rPr lang="en-US" sz="2400" dirty="0"/>
                              <m:t>and</m:t>
                            </m:r>
                            <m:r>
                              <m:rPr>
                                <m:nor/>
                              </m:rPr>
                              <a:rPr lang="en-US" sz="2400" dirty="0"/>
                              <m:t> 50</m:t>
                            </m:r>
                          </m:num>
                          <m:den>
                            <m:r>
                              <a:rPr lang="en-US" sz="2400" i="1" dirty="0">
                                <a:latin typeface="Cambria Math" panose="02040503050406030204" pitchFamily="18" charset="0"/>
                              </a:rPr>
                              <m:t> </m:t>
                            </m:r>
                            <m:r>
                              <m:rPr>
                                <m:nor/>
                              </m:rPr>
                              <a:rPr lang="en-US" sz="2400" b="0" i="0" dirty="0" smtClean="0"/>
                              <m:t>20</m:t>
                            </m:r>
                          </m:den>
                        </m:f>
                        <m:r>
                          <m:rPr>
                            <m:nor/>
                          </m:rPr>
                          <a:rPr lang="en-US" sz="2400" b="0" i="0" dirty="0" smtClean="0">
                            <a:latin typeface="Cambria Math" panose="02040503050406030204" pitchFamily="18" charset="0"/>
                          </a:rPr>
                          <m:t> </m:t>
                        </m:r>
                        <m:r>
                          <m:rPr>
                            <m:nor/>
                          </m:rPr>
                          <a:rPr lang="en-US" sz="2400" b="0" i="0" dirty="0" smtClean="0"/>
                          <m:t>or</m:t>
                        </m:r>
                        <m:r>
                          <m:rPr>
                            <m:nor/>
                          </m:rPr>
                          <a:rPr lang="en-US" sz="2400" b="0" i="0" dirty="0" smtClean="0"/>
                          <m:t> </m:t>
                        </m:r>
                        <m:f>
                          <m:fPr>
                            <m:ctrlPr>
                              <a:rPr lang="en-US" sz="2400" i="1">
                                <a:solidFill>
                                  <a:srgbClr val="836967"/>
                                </a:solidFill>
                                <a:latin typeface="Cambria Math" panose="02040503050406030204" pitchFamily="18" charset="0"/>
                              </a:rPr>
                            </m:ctrlPr>
                          </m:fPr>
                          <m:num>
                            <m:r>
                              <m:rPr>
                                <m:nor/>
                              </m:rPr>
                              <a:rPr lang="en-US" sz="2400" b="0" i="0" dirty="0" smtClean="0"/>
                              <m:t>100</m:t>
                            </m:r>
                          </m:num>
                          <m:den>
                            <m:r>
                              <a:rPr lang="en-US" sz="2400" i="1" dirty="0">
                                <a:latin typeface="Cambria Math" panose="02040503050406030204" pitchFamily="18" charset="0"/>
                              </a:rPr>
                              <m:t> </m:t>
                            </m:r>
                            <m:r>
                              <m:rPr>
                                <m:nor/>
                              </m:rPr>
                              <a:rPr lang="en-US" sz="2400" b="0" i="0" dirty="0" smtClean="0"/>
                              <m:t>20</m:t>
                            </m:r>
                          </m:den>
                        </m:f>
                        <m:r>
                          <m:rPr>
                            <m:nor/>
                          </m:rPr>
                          <a:rPr lang="en-US" sz="2400" b="0" i="0" dirty="0" smtClean="0">
                            <a:latin typeface="Cambria Math" panose="02040503050406030204" pitchFamily="18" charset="0"/>
                          </a:rPr>
                          <m:t> </m:t>
                        </m:r>
                        <m:r>
                          <a:rPr lang="en-US" sz="2400" b="0" i="1" dirty="0" smtClean="0">
                            <a:latin typeface="Cambria Math" panose="02040503050406030204" pitchFamily="18" charset="0"/>
                          </a:rPr>
                          <m:t>  </m:t>
                        </m:r>
                      </m:den>
                    </m:f>
                  </m:oMath>
                </a14:m>
                <a:r>
                  <a:rPr lang="en-US" sz="2400" dirty="0"/>
                  <a:t>) </a:t>
                </a:r>
              </a:p>
              <a:p>
                <a:pPr marL="0" indent="0" algn="just">
                  <a:lnSpc>
                    <a:spcPct val="100000"/>
                  </a:lnSpc>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100</m:t>
                        </m:r>
                        <m:r>
                          <m:rPr>
                            <m:nor/>
                          </m:rPr>
                          <a:rPr lang="en-US" sz="2400" dirty="0"/>
                          <m:t> − </m:t>
                        </m:r>
                        <m:r>
                          <m:rPr>
                            <m:nor/>
                          </m:rPr>
                          <a:rPr lang="en-US" sz="2400" b="0" i="0" dirty="0" smtClean="0"/>
                          <m:t>30</m:t>
                        </m:r>
                      </m:num>
                      <m:den>
                        <m:r>
                          <a:rPr lang="en-US" sz="2400" i="1" dirty="0">
                            <a:latin typeface="Cambria Math" panose="02040503050406030204" pitchFamily="18" charset="0"/>
                          </a:rPr>
                          <m:t> </m:t>
                        </m:r>
                        <m:r>
                          <m:rPr>
                            <m:nor/>
                          </m:rPr>
                          <a:rPr lang="en-US" sz="2400" b="0" i="0" dirty="0" smtClean="0"/>
                          <m:t>5</m:t>
                        </m:r>
                      </m:den>
                    </m:f>
                  </m:oMath>
                </a14:m>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70</m:t>
                        </m:r>
                      </m:num>
                      <m:den>
                        <m:r>
                          <a:rPr lang="en-US" sz="2400" i="1" dirty="0">
                            <a:latin typeface="Cambria Math" panose="02040503050406030204" pitchFamily="18" charset="0"/>
                          </a:rPr>
                          <m:t> </m:t>
                        </m:r>
                        <m:r>
                          <m:rPr>
                            <m:nor/>
                          </m:rPr>
                          <a:rPr lang="en-US" sz="2400" b="0" i="0" dirty="0" smtClean="0"/>
                          <m:t>5</m:t>
                        </m:r>
                      </m:den>
                    </m:f>
                  </m:oMath>
                </a14:m>
                <a:r>
                  <a:rPr lang="en-US" sz="2400" dirty="0"/>
                  <a:t> </a:t>
                </a:r>
              </a:p>
              <a:p>
                <a:pPr marL="0" indent="0" algn="just">
                  <a:lnSpc>
                    <a:spcPct val="100000"/>
                  </a:lnSpc>
                  <a:buNone/>
                </a:pPr>
                <a:r>
                  <a:rPr lang="en-US" sz="2400" dirty="0"/>
                  <a:t>	= 14 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b="-180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4F6F2A37-4418-0625-7A2E-AF865D252859}"/>
              </a:ext>
            </a:extLst>
          </p:cNvPr>
          <p:cNvCxnSpPr/>
          <p:nvPr/>
        </p:nvCxnSpPr>
        <p:spPr>
          <a:xfrm flipV="1">
            <a:off x="5743491" y="519114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FAFAFAB-4A7A-8716-69FA-D16CCAD7E970}"/>
              </a:ext>
            </a:extLst>
          </p:cNvPr>
          <p:cNvCxnSpPr/>
          <p:nvPr/>
        </p:nvCxnSpPr>
        <p:spPr>
          <a:xfrm flipV="1">
            <a:off x="5945761" y="3133075"/>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52BA32A-B481-F247-5B60-FED08D7E8776}"/>
              </a:ext>
            </a:extLst>
          </p:cNvPr>
          <p:cNvSpPr txBox="1"/>
          <p:nvPr/>
        </p:nvSpPr>
        <p:spPr>
          <a:xfrm>
            <a:off x="6206118" y="4782056"/>
            <a:ext cx="309700" cy="369332"/>
          </a:xfrm>
          <a:prstGeom prst="rect">
            <a:avLst/>
          </a:prstGeom>
          <a:noFill/>
        </p:spPr>
        <p:txBody>
          <a:bodyPr wrap="none" rtlCol="0">
            <a:spAutoFit/>
          </a:bodyPr>
          <a:lstStyle/>
          <a:p>
            <a:r>
              <a:rPr lang="en-US" dirty="0"/>
              <a:t>5</a:t>
            </a:r>
            <a:endParaRPr lang="en-IN" dirty="0"/>
          </a:p>
        </p:txBody>
      </p:sp>
      <p:sp>
        <p:nvSpPr>
          <p:cNvPr id="7" name="TextBox 6">
            <a:extLst>
              <a:ext uri="{FF2B5EF4-FFF2-40B4-BE49-F238E27FC236}">
                <a16:creationId xmlns:a16="http://schemas.microsoft.com/office/drawing/2014/main" id="{F2617DA2-96BB-11F6-6DA0-13B0D0613B07}"/>
              </a:ext>
            </a:extLst>
          </p:cNvPr>
          <p:cNvSpPr txBox="1"/>
          <p:nvPr/>
        </p:nvSpPr>
        <p:spPr>
          <a:xfrm>
            <a:off x="6020144" y="2430782"/>
            <a:ext cx="309700" cy="369332"/>
          </a:xfrm>
          <a:prstGeom prst="rect">
            <a:avLst/>
          </a:prstGeom>
          <a:noFill/>
        </p:spPr>
        <p:txBody>
          <a:bodyPr wrap="none" rtlCol="0">
            <a:spAutoFit/>
          </a:bodyPr>
          <a:lstStyle/>
          <a:p>
            <a:r>
              <a:rPr lang="en-US" dirty="0"/>
              <a:t>2</a:t>
            </a:r>
            <a:endParaRPr lang="en-IN" dirty="0"/>
          </a:p>
        </p:txBody>
      </p:sp>
      <p:cxnSp>
        <p:nvCxnSpPr>
          <p:cNvPr id="8" name="Straight Connector 7">
            <a:extLst>
              <a:ext uri="{FF2B5EF4-FFF2-40B4-BE49-F238E27FC236}">
                <a16:creationId xmlns:a16="http://schemas.microsoft.com/office/drawing/2014/main" id="{ED3D18A0-CB53-679A-3384-7F9C3EE57165}"/>
              </a:ext>
            </a:extLst>
          </p:cNvPr>
          <p:cNvCxnSpPr/>
          <p:nvPr/>
        </p:nvCxnSpPr>
        <p:spPr>
          <a:xfrm flipV="1">
            <a:off x="5921546" y="281774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3E143BD-3FD0-B65C-331F-240B557F60C3}"/>
              </a:ext>
            </a:extLst>
          </p:cNvPr>
          <p:cNvCxnSpPr/>
          <p:nvPr/>
        </p:nvCxnSpPr>
        <p:spPr>
          <a:xfrm flipV="1">
            <a:off x="5741845" y="4866392"/>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14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Two pipes, A and B, can separately fill a cistern is 4 hours and 6 hours respectively, while a third pipe C can empty it in 3 hours. In what time will the cistern be full, if all the pipes are opened together? </a:t>
                </a:r>
              </a:p>
              <a:p>
                <a:pPr algn="just"/>
                <a:r>
                  <a:rPr lang="en-US" dirty="0"/>
                  <a:t>x = 4, y = 6 and z = - 3</a:t>
                </a:r>
              </a:p>
              <a:p>
                <a:pPr algn="just"/>
                <a:r>
                  <a:rPr lang="en-US" dirty="0"/>
                  <a:t>Three pipes together will fill the cistern</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xy</m:t>
                        </m:r>
                        <m:r>
                          <m:rPr>
                            <m:nor/>
                          </m:rPr>
                          <a:rPr lang="en-IN" dirty="0"/>
                          <m:t> + </m:t>
                        </m:r>
                        <m:r>
                          <m:rPr>
                            <m:nor/>
                          </m:rPr>
                          <a:rPr lang="en-US" dirty="0"/>
                          <m:t>yz</m:t>
                        </m:r>
                        <m:r>
                          <m:rPr>
                            <m:nor/>
                          </m:rPr>
                          <a:rPr lang="en-US" dirty="0"/>
                          <m:t> +</m:t>
                        </m:r>
                        <m:r>
                          <m:rPr>
                            <m:nor/>
                          </m:rPr>
                          <a:rPr lang="en-US" dirty="0"/>
                          <m:t>zx</m:t>
                        </m:r>
                        <m:r>
                          <m:rPr>
                            <m:nor/>
                          </m:rPr>
                          <a:rPr lang="en-IN" dirty="0"/>
                          <m:t> </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4 </m:t>
                        </m:r>
                        <m:r>
                          <m:rPr>
                            <m:nor/>
                          </m:rPr>
                          <a:rPr lang="en-US" dirty="0"/>
                          <m:t>x</m:t>
                        </m:r>
                        <m:r>
                          <m:rPr>
                            <m:nor/>
                          </m:rPr>
                          <a:rPr lang="en-US" dirty="0"/>
                          <m:t> 6 </m:t>
                        </m:r>
                        <m:r>
                          <m:rPr>
                            <m:nor/>
                          </m:rPr>
                          <a:rPr lang="en-US" dirty="0"/>
                          <m:t>x</m:t>
                        </m:r>
                        <m:r>
                          <m:rPr>
                            <m:nor/>
                          </m:rPr>
                          <a:rPr lang="en-US" dirty="0"/>
                          <m:t> (−3)</m:t>
                        </m:r>
                      </m:num>
                      <m:den>
                        <m:r>
                          <m:rPr>
                            <m:nor/>
                          </m:rPr>
                          <a:rPr lang="en-US" dirty="0"/>
                          <m:t>4 </m:t>
                        </m:r>
                        <m:r>
                          <m:rPr>
                            <m:nor/>
                          </m:rPr>
                          <a:rPr lang="en-US" dirty="0"/>
                          <m:t>x</m:t>
                        </m:r>
                        <m:r>
                          <m:rPr>
                            <m:nor/>
                          </m:rPr>
                          <a:rPr lang="en-US" dirty="0"/>
                          <m:t> 6</m:t>
                        </m:r>
                        <m:r>
                          <m:rPr>
                            <m:nor/>
                          </m:rPr>
                          <a:rPr lang="en-IN" dirty="0"/>
                          <m:t> + </m:t>
                        </m:r>
                        <m:r>
                          <m:rPr>
                            <m:nor/>
                          </m:rPr>
                          <a:rPr lang="en-US" dirty="0"/>
                          <m:t>6 </m:t>
                        </m:r>
                        <m:r>
                          <m:rPr>
                            <m:nor/>
                          </m:rPr>
                          <a:rPr lang="en-US" dirty="0"/>
                          <m:t>x</m:t>
                        </m:r>
                        <m:r>
                          <m:rPr>
                            <m:nor/>
                          </m:rPr>
                          <a:rPr lang="en-US" dirty="0"/>
                          <m:t> (−3) + (−3) </m:t>
                        </m:r>
                        <m:r>
                          <m:rPr>
                            <m:nor/>
                          </m:rPr>
                          <a:rPr lang="en-US" dirty="0"/>
                          <m:t>x</m:t>
                        </m:r>
                        <m:r>
                          <m:rPr>
                            <m:nor/>
                          </m:rPr>
                          <a:rPr lang="en-US" dirty="0"/>
                          <m:t> 4</m:t>
                        </m:r>
                        <m:r>
                          <m:rPr>
                            <m:nor/>
                          </m:rPr>
                          <a:rPr lang="en-IN" dirty="0"/>
                          <m:t> </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1115987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4 </m:t>
                        </m:r>
                        <m:r>
                          <m:rPr>
                            <m:nor/>
                          </m:rPr>
                          <a:rPr lang="en-US" b="0" i="0" dirty="0" smtClean="0"/>
                          <m:t>x</m:t>
                        </m:r>
                        <m:r>
                          <m:rPr>
                            <m:nor/>
                          </m:rPr>
                          <a:rPr lang="en-US" b="0" i="0" dirty="0" smtClean="0"/>
                          <m:t> 6 </m:t>
                        </m:r>
                        <m:r>
                          <m:rPr>
                            <m:nor/>
                          </m:rPr>
                          <a:rPr lang="en-US" b="0" i="0" dirty="0" smtClean="0"/>
                          <m:t>x</m:t>
                        </m:r>
                        <m:r>
                          <m:rPr>
                            <m:nor/>
                          </m:rPr>
                          <a:rPr lang="en-US" b="0" i="0" dirty="0" smtClean="0"/>
                          <m:t> (−3)</m:t>
                        </m:r>
                      </m:num>
                      <m:den>
                        <m:r>
                          <m:rPr>
                            <m:nor/>
                          </m:rPr>
                          <a:rPr lang="en-US" b="0" i="0" dirty="0" smtClean="0"/>
                          <m:t>4 </m:t>
                        </m:r>
                        <m:r>
                          <m:rPr>
                            <m:nor/>
                          </m:rPr>
                          <a:rPr lang="en-US" b="0" i="0" dirty="0" smtClean="0"/>
                          <m:t>x</m:t>
                        </m:r>
                        <m:r>
                          <m:rPr>
                            <m:nor/>
                          </m:rPr>
                          <a:rPr lang="en-US" b="0" i="0" dirty="0" smtClean="0"/>
                          <m:t> 6</m:t>
                        </m:r>
                        <m:r>
                          <m:rPr>
                            <m:nor/>
                          </m:rPr>
                          <a:rPr lang="en-IN" dirty="0"/>
                          <m:t> + </m:t>
                        </m:r>
                        <m:r>
                          <m:rPr>
                            <m:nor/>
                          </m:rPr>
                          <a:rPr lang="en-US" b="0" i="0" dirty="0" smtClean="0"/>
                          <m:t>6 </m:t>
                        </m:r>
                        <m:r>
                          <m:rPr>
                            <m:nor/>
                          </m:rPr>
                          <a:rPr lang="en-US" b="0" i="0" dirty="0" smtClean="0"/>
                          <m:t>x</m:t>
                        </m:r>
                        <m:r>
                          <m:rPr>
                            <m:nor/>
                          </m:rPr>
                          <a:rPr lang="en-US" b="0" i="0" dirty="0" smtClean="0"/>
                          <m:t> (−3) + (−3) </m:t>
                        </m:r>
                        <m:r>
                          <m:rPr>
                            <m:nor/>
                          </m:rPr>
                          <a:rPr lang="en-US" dirty="0"/>
                          <m:t>x</m:t>
                        </m:r>
                        <m:r>
                          <m:rPr>
                            <m:nor/>
                          </m:rPr>
                          <a:rPr lang="en-US" b="0" i="0" dirty="0" smtClean="0"/>
                          <m:t> 4</m:t>
                        </m:r>
                        <m:r>
                          <m:rPr>
                            <m:nor/>
                          </m:rPr>
                          <a:rPr lang="en-IN" dirty="0"/>
                          <m:t> </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−72</m:t>
                        </m:r>
                      </m:num>
                      <m:den>
                        <m:r>
                          <m:rPr>
                            <m:nor/>
                          </m:rPr>
                          <a:rPr lang="en-US" b="0" i="0" dirty="0" smtClean="0"/>
                          <m:t>24 − 18</m:t>
                        </m:r>
                        <m:r>
                          <m:rPr>
                            <m:nor/>
                          </m:rPr>
                          <a:rPr lang="en-US" dirty="0"/>
                          <m:t> </m:t>
                        </m:r>
                        <m:r>
                          <m:rPr>
                            <m:nor/>
                          </m:rPr>
                          <a:rPr lang="en-US" b="0" i="0" dirty="0" smtClean="0"/>
                          <m:t>−</m:t>
                        </m:r>
                        <m:r>
                          <m:rPr>
                            <m:nor/>
                          </m:rPr>
                          <a:rPr lang="en-US" dirty="0"/>
                          <m:t> </m:t>
                        </m:r>
                        <m:r>
                          <m:rPr>
                            <m:nor/>
                          </m:rPr>
                          <a:rPr lang="en-US" b="0" i="0" dirty="0" smtClean="0"/>
                          <m:t>12</m:t>
                        </m:r>
                        <m:r>
                          <m:rPr>
                            <m:nor/>
                          </m:rPr>
                          <a:rPr lang="en-IN" dirty="0"/>
                          <m:t> </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 </m:t>
                        </m:r>
                        <m:r>
                          <m:rPr>
                            <m:nor/>
                          </m:rPr>
                          <a:rPr lang="en-US" dirty="0"/>
                          <m:t>72</m:t>
                        </m:r>
                      </m:num>
                      <m:den>
                        <m:r>
                          <m:rPr>
                            <m:nor/>
                          </m:rPr>
                          <a:rPr lang="en-US" b="0" i="0" dirty="0" smtClean="0"/>
                          <m:t>− 6</m:t>
                        </m:r>
                        <m:r>
                          <m:rPr>
                            <m:nor/>
                          </m:rPr>
                          <a:rPr lang="en-IN" dirty="0"/>
                          <m:t> </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a:p>
                <a:pPr marL="0" indent="0" algn="just">
                  <a:buNone/>
                </a:pPr>
                <a:r>
                  <a:rPr lang="en-US" dirty="0"/>
                  <a:t>	=</a:t>
                </a:r>
                <a14:m>
                  <m:oMath xmlns:m="http://schemas.openxmlformats.org/officeDocument/2006/math">
                    <m:r>
                      <a:rPr lang="en-US" b="0" i="0" dirty="0" smtClean="0">
                        <a:latin typeface="Cambria Math" panose="02040503050406030204" pitchFamily="18" charset="0"/>
                      </a:rPr>
                      <m:t> </m:t>
                    </m:r>
                    <m:r>
                      <m:rPr>
                        <m:nor/>
                      </m:rPr>
                      <a:rPr lang="en-US" b="0" i="0" dirty="0" smtClean="0"/>
                      <m:t>1</m:t>
                    </m:r>
                    <m:r>
                      <m:rPr>
                        <m:nor/>
                      </m:rPr>
                      <a:rPr lang="en-US" dirty="0"/>
                      <m:t>2</m:t>
                    </m:r>
                  </m:oMath>
                </a14:m>
                <a:r>
                  <a:rPr lang="en-US" dirty="0"/>
                  <a:t> hours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F8EDC84A-1D9E-5043-C119-83CC4E9C162B}"/>
              </a:ext>
            </a:extLst>
          </p:cNvPr>
          <p:cNvCxnSpPr/>
          <p:nvPr/>
        </p:nvCxnSpPr>
        <p:spPr>
          <a:xfrm flipV="1">
            <a:off x="1830871" y="400239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CA11C67-150E-7BBA-107D-8FE67B843895}"/>
              </a:ext>
            </a:extLst>
          </p:cNvPr>
          <p:cNvCxnSpPr/>
          <p:nvPr/>
        </p:nvCxnSpPr>
        <p:spPr>
          <a:xfrm flipV="1">
            <a:off x="1830871" y="4377393"/>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8F8E88C-DE51-E14D-84C8-0569BC14A418}"/>
              </a:ext>
            </a:extLst>
          </p:cNvPr>
          <p:cNvSpPr txBox="1"/>
          <p:nvPr/>
        </p:nvSpPr>
        <p:spPr>
          <a:xfrm>
            <a:off x="1902712" y="3620849"/>
            <a:ext cx="380232" cy="369332"/>
          </a:xfrm>
          <a:prstGeom prst="rect">
            <a:avLst/>
          </a:prstGeom>
          <a:noFill/>
        </p:spPr>
        <p:txBody>
          <a:bodyPr wrap="none" rtlCol="0">
            <a:spAutoFit/>
          </a:bodyPr>
          <a:lstStyle/>
          <a:p>
            <a:r>
              <a:rPr lang="en-US" dirty="0"/>
              <a:t>12</a:t>
            </a:r>
            <a:endParaRPr lang="en-IN" dirty="0"/>
          </a:p>
        </p:txBody>
      </p:sp>
      <p:cxnSp>
        <p:nvCxnSpPr>
          <p:cNvPr id="10" name="Straight Connector 9">
            <a:extLst>
              <a:ext uri="{FF2B5EF4-FFF2-40B4-BE49-F238E27FC236}">
                <a16:creationId xmlns:a16="http://schemas.microsoft.com/office/drawing/2014/main" id="{86C65FEA-0C2F-B875-1C75-F259E09F5835}"/>
              </a:ext>
            </a:extLst>
          </p:cNvPr>
          <p:cNvCxnSpPr>
            <a:cxnSpLocks/>
          </p:cNvCxnSpPr>
          <p:nvPr/>
        </p:nvCxnSpPr>
        <p:spPr>
          <a:xfrm flipV="1">
            <a:off x="1650309" y="3960364"/>
            <a:ext cx="101246" cy="32989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2CEF20F-AF13-DB54-9671-3930A901FA5A}"/>
              </a:ext>
            </a:extLst>
          </p:cNvPr>
          <p:cNvCxnSpPr>
            <a:cxnSpLocks/>
          </p:cNvCxnSpPr>
          <p:nvPr/>
        </p:nvCxnSpPr>
        <p:spPr>
          <a:xfrm flipV="1">
            <a:off x="1680126" y="4384676"/>
            <a:ext cx="101246" cy="280573"/>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68C553-62F8-99C6-1129-4B1E7731A7B9}"/>
                  </a:ext>
                </a:extLst>
              </p:cNvPr>
              <p:cNvSpPr txBox="1"/>
              <p:nvPr/>
            </p:nvSpPr>
            <p:spPr>
              <a:xfrm>
                <a:off x="4412974" y="2504666"/>
                <a:ext cx="4224130" cy="4183325"/>
              </a:xfrm>
              <a:prstGeom prst="rect">
                <a:avLst/>
              </a:prstGeom>
              <a:noFill/>
              <a:ln w="28575">
                <a:solidFill>
                  <a:srgbClr val="FF0000"/>
                </a:solidFill>
              </a:ln>
            </p:spPr>
            <p:txBody>
              <a:bodyPr wrap="square" rtlCol="0">
                <a:spAutoFit/>
              </a:bodyPr>
              <a:lstStyle/>
              <a:p>
                <a:pPr algn="just"/>
                <a:r>
                  <a:rPr lang="en-US" sz="2200" u="sng" dirty="0">
                    <a:solidFill>
                      <a:srgbClr val="FF0000"/>
                    </a:solidFill>
                  </a:rPr>
                  <a:t>Alternative Method</a:t>
                </a:r>
              </a:p>
              <a:p>
                <a:pPr algn="just">
                  <a:lnSpc>
                    <a:spcPct val="150000"/>
                  </a:lnSpc>
                </a:pPr>
                <a:r>
                  <a:rPr lang="en-US" sz="2200" dirty="0"/>
                  <a:t>LCM of 4, 6, and 3 </a:t>
                </a:r>
              </a:p>
              <a:p>
                <a:pPr algn="just">
                  <a:lnSpc>
                    <a:spcPct val="150000"/>
                  </a:lnSpc>
                </a:pPr>
                <a:r>
                  <a:rPr lang="en-US" sz="2200" dirty="0"/>
                  <a:t>			= 12 (Total Capacity)</a:t>
                </a:r>
              </a:p>
              <a:p>
                <a:pPr algn="just">
                  <a:lnSpc>
                    <a:spcPct val="150000"/>
                  </a:lnSpc>
                </a:pPr>
                <a:r>
                  <a:rPr lang="en-US" sz="2200" dirty="0">
                    <a:solidFill>
                      <a:srgbClr val="836967"/>
                    </a:solidFill>
                  </a:rPr>
                  <a:t>	</a:t>
                </a:r>
                <a14:m>
                  <m:oMath xmlns:m="http://schemas.openxmlformats.org/officeDocument/2006/math">
                    <m:f>
                      <m:fPr>
                        <m:ctrlPr>
                          <a:rPr lang="en-US" sz="2200" i="1">
                            <a:solidFill>
                              <a:srgbClr val="836967"/>
                            </a:solidFill>
                            <a:latin typeface="Cambria Math" panose="02040503050406030204" pitchFamily="18" charset="0"/>
                          </a:rPr>
                        </m:ctrlPr>
                      </m:fPr>
                      <m:num>
                        <m:r>
                          <m:rPr>
                            <m:nor/>
                          </m:rPr>
                          <a:rPr lang="en-US" sz="2200" b="0" i="0" dirty="0" smtClean="0"/>
                          <m:t>1</m:t>
                        </m:r>
                        <m:r>
                          <m:rPr>
                            <m:nor/>
                          </m:rPr>
                          <a:rPr lang="en-US" sz="2200" dirty="0"/>
                          <m:t>2</m:t>
                        </m:r>
                      </m:num>
                      <m:den>
                        <m:r>
                          <m:rPr>
                            <m:nor/>
                          </m:rPr>
                          <a:rPr lang="en-US" sz="2200" b="0" i="0" dirty="0" smtClean="0"/>
                          <m:t>4</m:t>
                        </m:r>
                        <m:r>
                          <m:rPr>
                            <m:nor/>
                          </m:rPr>
                          <a:rPr lang="en-IN" sz="2200" dirty="0"/>
                          <m:t> </m:t>
                        </m:r>
                      </m:den>
                    </m:f>
                    <m:r>
                      <a:rPr lang="en-IN" sz="2200" i="1" dirty="0">
                        <a:latin typeface="Cambria Math" panose="02040503050406030204" pitchFamily="18" charset="0"/>
                      </a:rPr>
                      <m:t> </m:t>
                    </m:r>
                  </m:oMath>
                </a14:m>
                <a:r>
                  <a:rPr lang="en-US" sz="2200" dirty="0"/>
                  <a:t>= 3, 	 </a:t>
                </a:r>
                <a14:m>
                  <m:oMath xmlns:m="http://schemas.openxmlformats.org/officeDocument/2006/math">
                    <m:f>
                      <m:fPr>
                        <m:ctrlPr>
                          <a:rPr lang="en-US" sz="2200" i="1" smtClean="0">
                            <a:solidFill>
                              <a:srgbClr val="836967"/>
                            </a:solidFill>
                            <a:latin typeface="Cambria Math" panose="02040503050406030204" pitchFamily="18" charset="0"/>
                          </a:rPr>
                        </m:ctrlPr>
                      </m:fPr>
                      <m:num>
                        <m:r>
                          <m:rPr>
                            <m:nor/>
                          </m:rPr>
                          <a:rPr lang="en-US" sz="2200" b="0" i="0" dirty="0" smtClean="0"/>
                          <m:t>1</m:t>
                        </m:r>
                        <m:r>
                          <m:rPr>
                            <m:nor/>
                          </m:rPr>
                          <a:rPr lang="en-US" sz="2200" dirty="0"/>
                          <m:t>2</m:t>
                        </m:r>
                      </m:num>
                      <m:den>
                        <m:r>
                          <m:rPr>
                            <m:nor/>
                          </m:rPr>
                          <a:rPr lang="en-US" sz="2200" b="0" i="0" dirty="0" smtClean="0"/>
                          <m:t>6</m:t>
                        </m:r>
                        <m:r>
                          <m:rPr>
                            <m:nor/>
                          </m:rPr>
                          <a:rPr lang="en-IN" sz="2200" dirty="0"/>
                          <m:t> </m:t>
                        </m:r>
                      </m:den>
                    </m:f>
                  </m:oMath>
                </a14:m>
                <a:r>
                  <a:rPr lang="en-US" sz="2200" dirty="0"/>
                  <a:t> = 2,  &amp;	</a:t>
                </a:r>
                <a14:m>
                  <m:oMath xmlns:m="http://schemas.openxmlformats.org/officeDocument/2006/math">
                    <m:f>
                      <m:fPr>
                        <m:ctrlPr>
                          <a:rPr lang="en-US" sz="2200" i="1" smtClean="0">
                            <a:solidFill>
                              <a:srgbClr val="836967"/>
                            </a:solidFill>
                            <a:latin typeface="Cambria Math" panose="02040503050406030204" pitchFamily="18" charset="0"/>
                          </a:rPr>
                        </m:ctrlPr>
                      </m:fPr>
                      <m:num>
                        <m:r>
                          <m:rPr>
                            <m:nor/>
                          </m:rPr>
                          <a:rPr lang="en-US" sz="2200" b="0" i="0" dirty="0" smtClean="0"/>
                          <m:t>1</m:t>
                        </m:r>
                        <m:r>
                          <m:rPr>
                            <m:nor/>
                          </m:rPr>
                          <a:rPr lang="en-US" sz="2200" dirty="0"/>
                          <m:t>2</m:t>
                        </m:r>
                      </m:num>
                      <m:den>
                        <m:r>
                          <m:rPr>
                            <m:nor/>
                          </m:rPr>
                          <a:rPr lang="en-US" sz="2200" b="0" i="0" dirty="0" smtClean="0">
                            <a:latin typeface="Cambria Math" panose="02040503050406030204" pitchFamily="18" charset="0"/>
                          </a:rPr>
                          <m:t>− </m:t>
                        </m:r>
                        <m:r>
                          <m:rPr>
                            <m:nor/>
                          </m:rPr>
                          <a:rPr lang="en-US" sz="2200" b="0" i="0" dirty="0" smtClean="0"/>
                          <m:t>3</m:t>
                        </m:r>
                        <m:r>
                          <m:rPr>
                            <m:nor/>
                          </m:rPr>
                          <a:rPr lang="en-IN" sz="2200" dirty="0"/>
                          <m:t> </m:t>
                        </m:r>
                      </m:den>
                    </m:f>
                  </m:oMath>
                </a14:m>
                <a:r>
                  <a:rPr lang="en-US" sz="2200" dirty="0"/>
                  <a:t> = - 4</a:t>
                </a:r>
              </a:p>
              <a:p>
                <a:pPr algn="just"/>
                <a:r>
                  <a:rPr lang="en-IN" sz="2200" dirty="0"/>
                  <a:t>Cistern will be filled in 	</a:t>
                </a:r>
              </a:p>
              <a:p>
                <a:pPr algn="just"/>
                <a:r>
                  <a:rPr lang="en-IN" sz="2200" dirty="0"/>
                  <a:t>					= </a:t>
                </a:r>
                <a14:m>
                  <m:oMath xmlns:m="http://schemas.openxmlformats.org/officeDocument/2006/math">
                    <m:f>
                      <m:fPr>
                        <m:ctrlPr>
                          <a:rPr lang="en-US" sz="2200" i="1" smtClean="0">
                            <a:solidFill>
                              <a:srgbClr val="836967"/>
                            </a:solidFill>
                            <a:latin typeface="Cambria Math" panose="02040503050406030204" pitchFamily="18" charset="0"/>
                          </a:rPr>
                        </m:ctrlPr>
                      </m:fPr>
                      <m:num>
                        <m:r>
                          <m:rPr>
                            <m:nor/>
                          </m:rPr>
                          <a:rPr lang="en-US" sz="2200" b="0" i="0" dirty="0" smtClean="0"/>
                          <m:t>1</m:t>
                        </m:r>
                        <m:r>
                          <m:rPr>
                            <m:nor/>
                          </m:rPr>
                          <a:rPr lang="en-US" sz="2200" dirty="0"/>
                          <m:t>2</m:t>
                        </m:r>
                      </m:num>
                      <m:den>
                        <m:r>
                          <m:rPr>
                            <m:nor/>
                          </m:rPr>
                          <a:rPr lang="en-US" sz="2200" b="0" i="0" dirty="0" smtClean="0"/>
                          <m:t>3 + 2 − 4</m:t>
                        </m:r>
                        <m:r>
                          <m:rPr>
                            <m:nor/>
                          </m:rPr>
                          <a:rPr lang="en-IN" sz="2200" dirty="0"/>
                          <m:t> </m:t>
                        </m:r>
                      </m:den>
                    </m:f>
                  </m:oMath>
                </a14:m>
                <a:r>
                  <a:rPr lang="en-IN" sz="2200" dirty="0"/>
                  <a:t> </a:t>
                </a:r>
              </a:p>
              <a:p>
                <a:pPr algn="just"/>
                <a:r>
                  <a:rPr lang="en-IN" sz="2200" dirty="0"/>
                  <a:t>					= </a:t>
                </a:r>
                <a14:m>
                  <m:oMath xmlns:m="http://schemas.openxmlformats.org/officeDocument/2006/math">
                    <m:f>
                      <m:fPr>
                        <m:ctrlPr>
                          <a:rPr lang="en-US" sz="2200" i="1">
                            <a:solidFill>
                              <a:srgbClr val="836967"/>
                            </a:solidFill>
                            <a:latin typeface="Cambria Math" panose="02040503050406030204" pitchFamily="18" charset="0"/>
                          </a:rPr>
                        </m:ctrlPr>
                      </m:fPr>
                      <m:num>
                        <m:r>
                          <m:rPr>
                            <m:nor/>
                          </m:rPr>
                          <a:rPr lang="en-US" sz="2200" dirty="0"/>
                          <m:t>12</m:t>
                        </m:r>
                      </m:num>
                      <m:den>
                        <m:r>
                          <m:rPr>
                            <m:nor/>
                          </m:rPr>
                          <a:rPr lang="en-US" sz="2200" b="0" i="0" dirty="0" smtClean="0"/>
                          <m:t>5</m:t>
                        </m:r>
                        <m:r>
                          <m:rPr>
                            <m:nor/>
                          </m:rPr>
                          <a:rPr lang="en-US" sz="2200" dirty="0"/>
                          <m:t>− 4</m:t>
                        </m:r>
                        <m:r>
                          <m:rPr>
                            <m:nor/>
                          </m:rPr>
                          <a:rPr lang="en-IN" sz="2200" dirty="0"/>
                          <m:t> </m:t>
                        </m:r>
                      </m:den>
                    </m:f>
                  </m:oMath>
                </a14:m>
                <a:endParaRPr lang="en-IN" sz="2200" dirty="0"/>
              </a:p>
              <a:p>
                <a:pPr algn="just">
                  <a:lnSpc>
                    <a:spcPct val="150000"/>
                  </a:lnSpc>
                </a:pPr>
                <a:r>
                  <a:rPr lang="en-IN" sz="2200" dirty="0"/>
                  <a:t>					= </a:t>
                </a:r>
                <a:r>
                  <a:rPr lang="en-US" sz="2200" dirty="0"/>
                  <a:t>12 hours</a:t>
                </a:r>
                <a:endParaRPr lang="en-IN" sz="2200" dirty="0"/>
              </a:p>
            </p:txBody>
          </p:sp>
        </mc:Choice>
        <mc:Fallback xmlns="">
          <p:sp>
            <p:nvSpPr>
              <p:cNvPr id="7" name="TextBox 6">
                <a:extLst>
                  <a:ext uri="{FF2B5EF4-FFF2-40B4-BE49-F238E27FC236}">
                    <a16:creationId xmlns:a16="http://schemas.microsoft.com/office/drawing/2014/main" id="{9568C553-62F8-99C6-1129-4B1E7731A7B9}"/>
                  </a:ext>
                </a:extLst>
              </p:cNvPr>
              <p:cNvSpPr txBox="1">
                <a:spLocks noRot="1" noChangeAspect="1" noMove="1" noResize="1" noEditPoints="1" noAdjustHandles="1" noChangeArrowheads="1" noChangeShapeType="1" noTextEdit="1"/>
              </p:cNvSpPr>
              <p:nvPr/>
            </p:nvSpPr>
            <p:spPr>
              <a:xfrm>
                <a:off x="4412974" y="2504666"/>
                <a:ext cx="4224130" cy="4183325"/>
              </a:xfrm>
              <a:prstGeom prst="rect">
                <a:avLst/>
              </a:prstGeom>
              <a:blipFill>
                <a:blip r:embed="rId3"/>
                <a:stretch>
                  <a:fillRect l="-1576" t="-724" b="-1447"/>
                </a:stretch>
              </a:blipFill>
              <a:ln w="28575">
                <a:solidFill>
                  <a:srgbClr val="FF0000"/>
                </a:solidFill>
              </a:ln>
            </p:spPr>
            <p:txBody>
              <a:bodyPr/>
              <a:lstStyle/>
              <a:p>
                <a:r>
                  <a:rPr lang="en-IN">
                    <a:noFill/>
                  </a:rPr>
                  <a:t> </a:t>
                </a:r>
              </a:p>
            </p:txBody>
          </p:sp>
        </mc:Fallback>
      </mc:AlternateContent>
    </p:spTree>
    <p:extLst>
      <p:ext uri="{BB962C8B-B14F-4D97-AF65-F5344CB8AC3E}">
        <p14:creationId xmlns:p14="http://schemas.microsoft.com/office/powerpoint/2010/main" val="3856195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a:bodyPr>
              <a:lstStyle/>
              <a:p>
                <a:pPr algn="just"/>
                <a:r>
                  <a:rPr lang="en-US" dirty="0"/>
                  <a:t>Two taps A and B can fill a cistern in 60 minutes and 120 minutes, respectively. There is a third exhaust tap C at the bottom of the tank. If all the taps are opened at the same time, the cistern will be full in 90 minutes. In what time can exhaust tap C empty the cistern when it is full?</a:t>
                </a:r>
              </a:p>
              <a:p>
                <a:pPr algn="just"/>
                <a:r>
                  <a:rPr lang="en-US" dirty="0"/>
                  <a:t>x = 60, y = 120 and z = 90</a:t>
                </a:r>
              </a:p>
              <a:p>
                <a:pPr algn="just"/>
                <a:r>
                  <a:rPr lang="en-US" dirty="0"/>
                  <a:t>An exhaust tap C can empty the full cistern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yz</m:t>
                        </m:r>
                        <m:r>
                          <m:rPr>
                            <m:nor/>
                          </m:rPr>
                          <a:rPr lang="en-US" dirty="0"/>
                          <m:t> + </m:t>
                        </m:r>
                        <m:r>
                          <m:rPr>
                            <m:nor/>
                          </m:rPr>
                          <a:rPr lang="en-US" dirty="0"/>
                          <m:t>xz</m:t>
                        </m:r>
                        <m:r>
                          <m:rPr>
                            <m:nor/>
                          </m:rPr>
                          <a:rPr lang="en-US" dirty="0"/>
                          <m:t> − </m:t>
                        </m:r>
                        <m:r>
                          <m:rPr>
                            <m:nor/>
                          </m:rPr>
                          <a:rPr lang="en-US" dirty="0"/>
                          <m:t>xy</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727402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20000"/>
              </a:bodyPr>
              <a:lstStyle/>
              <a:p>
                <a:pPr algn="just"/>
                <a:r>
                  <a:rPr lang="en-US" dirty="0"/>
                  <a:t>An exhaust tap C can empty the full cistern </a:t>
                </a:r>
              </a:p>
              <a:p>
                <a:pPr marL="0" indent="0" algn="just">
                  <a:lnSpc>
                    <a:spcPct val="11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yz</m:t>
                        </m:r>
                        <m:r>
                          <m:rPr>
                            <m:nor/>
                          </m:rPr>
                          <a:rPr lang="en-US" dirty="0"/>
                          <m:t> + </m:t>
                        </m:r>
                        <m:r>
                          <m:rPr>
                            <m:nor/>
                          </m:rPr>
                          <a:rPr lang="en-US" dirty="0"/>
                          <m:t>xz</m:t>
                        </m:r>
                        <m:r>
                          <m:rPr>
                            <m:nor/>
                          </m:rPr>
                          <a:rPr lang="en-US" dirty="0"/>
                          <m:t> − </m:t>
                        </m:r>
                        <m:r>
                          <m:rPr>
                            <m:nor/>
                          </m:rPr>
                          <a:rPr lang="en-US" dirty="0"/>
                          <m:t>xy</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a:p>
                <a:pPr marL="0" indent="0">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60</m:t>
                        </m:r>
                        <m:r>
                          <m:rPr>
                            <m:nor/>
                          </m:rPr>
                          <a:rPr lang="en-US" dirty="0"/>
                          <m:t> </m:t>
                        </m:r>
                        <m:r>
                          <m:rPr>
                            <m:nor/>
                          </m:rPr>
                          <a:rPr lang="en-US" dirty="0"/>
                          <m:t>x</m:t>
                        </m:r>
                        <m:r>
                          <m:rPr>
                            <m:nor/>
                          </m:rPr>
                          <a:rPr lang="en-US" dirty="0"/>
                          <m:t> 120 </m:t>
                        </m:r>
                        <m:r>
                          <m:rPr>
                            <m:nor/>
                          </m:rPr>
                          <a:rPr lang="en-US" dirty="0"/>
                          <m:t>x</m:t>
                        </m:r>
                        <m:r>
                          <m:rPr>
                            <m:nor/>
                          </m:rPr>
                          <a:rPr lang="en-US" dirty="0"/>
                          <m:t> 90</m:t>
                        </m:r>
                      </m:num>
                      <m:den>
                        <m:r>
                          <m:rPr>
                            <m:nor/>
                          </m:rPr>
                          <a:rPr lang="en-US" b="0" i="0" dirty="0" smtClean="0"/>
                          <m:t>120</m:t>
                        </m:r>
                        <m:r>
                          <m:rPr>
                            <m:nor/>
                          </m:rPr>
                          <a:rPr lang="en-US" dirty="0"/>
                          <m:t> </m:t>
                        </m:r>
                        <m:r>
                          <m:rPr>
                            <m:nor/>
                          </m:rPr>
                          <a:rPr lang="en-US" dirty="0"/>
                          <m:t>x</m:t>
                        </m:r>
                        <m:r>
                          <m:rPr>
                            <m:nor/>
                          </m:rPr>
                          <a:rPr lang="en-US" dirty="0"/>
                          <m:t> 90</m:t>
                        </m:r>
                        <m:r>
                          <m:rPr>
                            <m:nor/>
                          </m:rPr>
                          <a:rPr lang="en-IN" dirty="0"/>
                          <m:t> + </m:t>
                        </m:r>
                        <m:r>
                          <m:rPr>
                            <m:nor/>
                          </m:rPr>
                          <a:rPr lang="en-US" dirty="0"/>
                          <m:t>6</m:t>
                        </m:r>
                        <m:r>
                          <m:rPr>
                            <m:nor/>
                          </m:rPr>
                          <a:rPr lang="en-US" b="0" i="0" dirty="0" smtClean="0"/>
                          <m:t>0</m:t>
                        </m:r>
                        <m:r>
                          <m:rPr>
                            <m:nor/>
                          </m:rPr>
                          <a:rPr lang="en-US" dirty="0"/>
                          <m:t> </m:t>
                        </m:r>
                        <m:r>
                          <m:rPr>
                            <m:nor/>
                          </m:rPr>
                          <a:rPr lang="en-US" dirty="0"/>
                          <m:t>x</m:t>
                        </m:r>
                        <m:r>
                          <m:rPr>
                            <m:nor/>
                          </m:rPr>
                          <a:rPr lang="en-US" dirty="0"/>
                          <m:t> 90 − 60 </m:t>
                        </m:r>
                        <m:r>
                          <m:rPr>
                            <m:nor/>
                          </m:rPr>
                          <a:rPr lang="en-US" dirty="0"/>
                          <m:t>x</m:t>
                        </m:r>
                        <m:r>
                          <m:rPr>
                            <m:nor/>
                          </m:rPr>
                          <a:rPr lang="en-US" dirty="0"/>
                          <m:t> 120</m:t>
                        </m:r>
                        <m:r>
                          <m:rPr>
                            <m:nor/>
                          </m:rPr>
                          <a:rPr lang="en-IN" dirty="0"/>
                          <m:t> </m:t>
                        </m:r>
                      </m:den>
                    </m:f>
                    <m:r>
                      <a:rPr lang="en-US" i="1" dirty="0">
                        <a:latin typeface="Cambria Math" panose="02040503050406030204" pitchFamily="18" charset="0"/>
                      </a:rPr>
                      <m:t> </m:t>
                    </m:r>
                    <m:r>
                      <m:rPr>
                        <m:nor/>
                      </m:rPr>
                      <a:rPr lang="en-US" dirty="0"/>
                      <m:t>minutes</m:t>
                    </m:r>
                  </m:oMath>
                </a14:m>
                <a:r>
                  <a:rPr lang="en-US" dirty="0"/>
                  <a:t> </a:t>
                </a:r>
              </a:p>
              <a:p>
                <a:pPr marL="0" indent="0">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648000</m:t>
                        </m:r>
                      </m:num>
                      <m:den>
                        <m:r>
                          <m:rPr>
                            <m:nor/>
                          </m:rPr>
                          <a:rPr lang="en-US" b="0" i="0" dirty="0" smtClean="0"/>
                          <m:t>10800 </m:t>
                        </m:r>
                        <m:r>
                          <m:rPr>
                            <m:nor/>
                          </m:rPr>
                          <a:rPr lang="en-IN" dirty="0"/>
                          <m:t>+ </m:t>
                        </m:r>
                        <m:r>
                          <m:rPr>
                            <m:nor/>
                          </m:rPr>
                          <a:rPr lang="en-US" b="0" i="0" dirty="0" smtClean="0"/>
                          <m:t>5400 </m:t>
                        </m:r>
                        <m:r>
                          <m:rPr>
                            <m:nor/>
                          </m:rPr>
                          <a:rPr lang="en-US" dirty="0"/>
                          <m:t>− </m:t>
                        </m:r>
                        <m:r>
                          <m:rPr>
                            <m:nor/>
                          </m:rPr>
                          <a:rPr lang="en-US" b="0" i="0" dirty="0" smtClean="0"/>
                          <m:t>72</m:t>
                        </m:r>
                        <m:r>
                          <m:rPr>
                            <m:nor/>
                          </m:rPr>
                          <a:rPr lang="en-US" dirty="0"/>
                          <m:t>0</m:t>
                        </m:r>
                        <m:r>
                          <m:rPr>
                            <m:nor/>
                          </m:rPr>
                          <a:rPr lang="en-US" b="0" i="0" dirty="0" smtClean="0"/>
                          <m:t>0</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a:p>
                <a:pPr marL="0" indent="0">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648000</m:t>
                        </m:r>
                      </m:num>
                      <m:den>
                        <m:r>
                          <m:rPr>
                            <m:nor/>
                          </m:rPr>
                          <a:rPr lang="en-US" b="0" i="0" dirty="0" smtClean="0"/>
                          <m:t>9000</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minutes</a:t>
                </a:r>
              </a:p>
              <a:p>
                <a:pPr marL="0" indent="0">
                  <a:buNone/>
                </a:pPr>
                <a:r>
                  <a:rPr lang="en-US" dirty="0"/>
                  <a:t>		= </a:t>
                </a:r>
                <a14:m>
                  <m:oMath xmlns:m="http://schemas.openxmlformats.org/officeDocument/2006/math">
                    <m:r>
                      <m:rPr>
                        <m:nor/>
                      </m:rPr>
                      <a:rPr lang="en-US" dirty="0"/>
                      <m:t>7</m:t>
                    </m:r>
                    <m:r>
                      <m:rPr>
                        <m:nor/>
                      </m:rPr>
                      <a:rPr lang="en-US" b="0" i="0" dirty="0" smtClean="0"/>
                      <m:t>2</m:t>
                    </m:r>
                  </m:oMath>
                </a14:m>
                <a:r>
                  <a:rPr lang="en-US" dirty="0"/>
                  <a:t> minutes</a:t>
                </a:r>
              </a:p>
              <a:p>
                <a:pPr marL="0" indent="0">
                  <a:buNone/>
                </a:pPr>
                <a:r>
                  <a:rPr lang="en-US" dirty="0"/>
                  <a:t>		= </a:t>
                </a:r>
                <a14:m>
                  <m:oMath xmlns:m="http://schemas.openxmlformats.org/officeDocument/2006/math">
                    <m:r>
                      <m:rPr>
                        <m:nor/>
                      </m:rPr>
                      <a:rPr lang="en-US" b="0" i="0" dirty="0" smtClean="0"/>
                      <m:t>1 </m:t>
                    </m:r>
                    <m:r>
                      <m:rPr>
                        <m:nor/>
                      </m:rPr>
                      <a:rPr lang="en-US" b="0" i="0" dirty="0" smtClean="0"/>
                      <m:t>hour</m:t>
                    </m:r>
                    <m:r>
                      <m:rPr>
                        <m:nor/>
                      </m:rPr>
                      <a:rPr lang="en-US" b="0" i="0" dirty="0" smtClean="0"/>
                      <m:t> 12</m:t>
                    </m:r>
                  </m:oMath>
                </a14:m>
                <a:r>
                  <a:rPr lang="en-US" dirty="0"/>
                  <a:t> minutes</a:t>
                </a:r>
              </a:p>
              <a:p>
                <a:endParaRPr lang="en-IN"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1BDC4D8A-2BCB-C32D-26EA-75FC4D8D40CC}"/>
              </a:ext>
            </a:extLst>
          </p:cNvPr>
          <p:cNvCxnSpPr>
            <a:cxnSpLocks/>
          </p:cNvCxnSpPr>
          <p:nvPr/>
        </p:nvCxnSpPr>
        <p:spPr>
          <a:xfrm flipV="1">
            <a:off x="2436051" y="4671392"/>
            <a:ext cx="1122159" cy="1241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A0B5B2B-2382-7EB6-23E5-3111AAEB61B1}"/>
              </a:ext>
            </a:extLst>
          </p:cNvPr>
          <p:cNvCxnSpPr>
            <a:cxnSpLocks/>
          </p:cNvCxnSpPr>
          <p:nvPr/>
        </p:nvCxnSpPr>
        <p:spPr>
          <a:xfrm flipV="1">
            <a:off x="2474968" y="4999384"/>
            <a:ext cx="1083242" cy="1146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8DA0D9-4AF8-E866-CF28-95182C8C642B}"/>
              </a:ext>
            </a:extLst>
          </p:cNvPr>
          <p:cNvSpPr txBox="1"/>
          <p:nvPr/>
        </p:nvSpPr>
        <p:spPr>
          <a:xfrm>
            <a:off x="3702176" y="4284084"/>
            <a:ext cx="418704" cy="369332"/>
          </a:xfrm>
          <a:prstGeom prst="rect">
            <a:avLst/>
          </a:prstGeom>
          <a:noFill/>
        </p:spPr>
        <p:txBody>
          <a:bodyPr wrap="none" rtlCol="0">
            <a:spAutoFit/>
          </a:bodyPr>
          <a:lstStyle/>
          <a:p>
            <a:r>
              <a:rPr lang="en-US" dirty="0"/>
              <a:t>72</a:t>
            </a:r>
            <a:endParaRPr lang="en-IN" dirty="0"/>
          </a:p>
        </p:txBody>
      </p:sp>
    </p:spTree>
    <p:extLst>
      <p:ext uri="{BB962C8B-B14F-4D97-AF65-F5344CB8AC3E}">
        <p14:creationId xmlns:p14="http://schemas.microsoft.com/office/powerpoint/2010/main" val="111529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6</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A pipe can fill a tank in 4 hours. Due to leakage at the bottom, it is filled in 8 hours. If the tank is full, how much time will the leak take to empty it? </a:t>
                </a:r>
              </a:p>
              <a:p>
                <a:pPr algn="just"/>
                <a:r>
                  <a:rPr lang="en-US" dirty="0"/>
                  <a:t>x = 4 and y = 8</a:t>
                </a:r>
              </a:p>
              <a:p>
                <a:pPr algn="just"/>
                <a:r>
                  <a:rPr lang="en-US" dirty="0"/>
                  <a:t>Amount of time in which the leak can empty the full tank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m:t>
                        </m:r>
                      </m:num>
                      <m:den>
                        <m:r>
                          <m:rPr>
                            <m:nor/>
                          </m:rPr>
                          <a:rPr lang="en-IN" dirty="0"/>
                          <m:t>y</m:t>
                        </m:r>
                        <m:r>
                          <m:rPr>
                            <m:nor/>
                          </m:rPr>
                          <a:rPr lang="en-IN" dirty="0"/>
                          <m:t> </m:t>
                        </m:r>
                        <m:r>
                          <m:rPr>
                            <m:nor/>
                          </m:rPr>
                          <a:rPr lang="en-US" b="0" i="0" dirty="0" smtClean="0"/>
                          <m:t>−</m:t>
                        </m:r>
                        <m:r>
                          <m:rPr>
                            <m:nor/>
                          </m:rPr>
                          <a:rPr lang="en-IN" dirty="0"/>
                          <m:t> </m:t>
                        </m:r>
                        <m:r>
                          <m:rPr>
                            <m:nor/>
                          </m:rPr>
                          <a:rPr lang="en-IN" dirty="0"/>
                          <m:t>x</m:t>
                        </m:r>
                      </m:den>
                    </m:f>
                    <m:r>
                      <a:rPr lang="en-IN" i="1" dirty="0">
                        <a:latin typeface="Cambria Math" panose="02040503050406030204" pitchFamily="18" charset="0"/>
                      </a:rPr>
                      <m:t> </m:t>
                    </m:r>
                  </m:oMath>
                </a14:m>
                <a:r>
                  <a:rPr lang="en-US" dirty="0"/>
                  <a:t> 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4 </m:t>
                        </m:r>
                        <m:r>
                          <m:rPr>
                            <m:nor/>
                          </m:rPr>
                          <a:rPr lang="en-US" b="0" i="0" dirty="0" smtClean="0"/>
                          <m:t>x</m:t>
                        </m:r>
                        <m:r>
                          <m:rPr>
                            <m:nor/>
                          </m:rPr>
                          <a:rPr lang="en-US" b="0" i="0" dirty="0" smtClean="0"/>
                          <m:t> 8</m:t>
                        </m:r>
                      </m:num>
                      <m:den>
                        <m:r>
                          <m:rPr>
                            <m:nor/>
                          </m:rPr>
                          <a:rPr lang="en-US" b="0" i="0" dirty="0" smtClean="0"/>
                          <m:t>8</m:t>
                        </m:r>
                        <m:r>
                          <m:rPr>
                            <m:nor/>
                          </m:rPr>
                          <a:rPr lang="en-IN" dirty="0"/>
                          <m:t> </m:t>
                        </m:r>
                        <m:r>
                          <m:rPr>
                            <m:nor/>
                          </m:rPr>
                          <a:rPr lang="en-US" b="0" i="0" dirty="0" smtClean="0"/>
                          <m:t>−</m:t>
                        </m:r>
                        <m:r>
                          <m:rPr>
                            <m:nor/>
                          </m:rPr>
                          <a:rPr lang="en-IN" dirty="0"/>
                          <m:t> </m:t>
                        </m:r>
                        <m:r>
                          <m:rPr>
                            <m:nor/>
                          </m:rPr>
                          <a:rPr lang="en-US" b="0" i="0" dirty="0" smtClean="0"/>
                          <m:t>4</m:t>
                        </m:r>
                      </m:den>
                    </m:f>
                    <m:r>
                      <a:rPr lang="en-IN" i="1" dirty="0">
                        <a:latin typeface="Cambria Math" panose="02040503050406030204" pitchFamily="18" charset="0"/>
                      </a:rPr>
                      <m:t> </m:t>
                    </m:r>
                  </m:oMath>
                </a14:m>
                <a:r>
                  <a:rPr lang="en-US" dirty="0"/>
                  <a:t> hours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628032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6</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Amount of time in which leak can empty the full tank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m:t>
                        </m:r>
                      </m:num>
                      <m:den>
                        <m:r>
                          <m:rPr>
                            <m:nor/>
                          </m:rPr>
                          <a:rPr lang="en-IN" dirty="0"/>
                          <m:t>y</m:t>
                        </m:r>
                        <m:r>
                          <m:rPr>
                            <m:nor/>
                          </m:rPr>
                          <a:rPr lang="en-IN" dirty="0"/>
                          <m:t> </m:t>
                        </m:r>
                        <m:r>
                          <m:rPr>
                            <m:nor/>
                          </m:rPr>
                          <a:rPr lang="en-US" b="0" i="0" dirty="0" smtClean="0"/>
                          <m:t>−</m:t>
                        </m:r>
                        <m:r>
                          <m:rPr>
                            <m:nor/>
                          </m:rPr>
                          <a:rPr lang="en-IN" dirty="0"/>
                          <m:t> </m:t>
                        </m:r>
                        <m:r>
                          <m:rPr>
                            <m:nor/>
                          </m:rPr>
                          <a:rPr lang="en-IN" dirty="0"/>
                          <m:t>x</m:t>
                        </m:r>
                      </m:den>
                    </m:f>
                    <m:r>
                      <a:rPr lang="en-IN" i="1" dirty="0">
                        <a:latin typeface="Cambria Math" panose="02040503050406030204" pitchFamily="18" charset="0"/>
                      </a:rPr>
                      <m:t> </m:t>
                    </m:r>
                  </m:oMath>
                </a14:m>
                <a:r>
                  <a:rPr lang="en-US" dirty="0"/>
                  <a:t> 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4 </m:t>
                        </m:r>
                        <m:r>
                          <m:rPr>
                            <m:nor/>
                          </m:rPr>
                          <a:rPr lang="en-US" b="0" i="0" dirty="0" smtClean="0"/>
                          <m:t>x</m:t>
                        </m:r>
                        <m:r>
                          <m:rPr>
                            <m:nor/>
                          </m:rPr>
                          <a:rPr lang="en-US" b="0" i="0" dirty="0" smtClean="0"/>
                          <m:t> 8</m:t>
                        </m:r>
                      </m:num>
                      <m:den>
                        <m:r>
                          <m:rPr>
                            <m:nor/>
                          </m:rPr>
                          <a:rPr lang="en-US" b="0" i="0" dirty="0" smtClean="0"/>
                          <m:t>8</m:t>
                        </m:r>
                        <m:r>
                          <m:rPr>
                            <m:nor/>
                          </m:rPr>
                          <a:rPr lang="en-IN" dirty="0"/>
                          <m:t> </m:t>
                        </m:r>
                        <m:r>
                          <m:rPr>
                            <m:nor/>
                          </m:rPr>
                          <a:rPr lang="en-US" b="0" i="0" dirty="0" smtClean="0"/>
                          <m:t>−</m:t>
                        </m:r>
                        <m:r>
                          <m:rPr>
                            <m:nor/>
                          </m:rPr>
                          <a:rPr lang="en-IN" dirty="0"/>
                          <m:t> </m:t>
                        </m:r>
                        <m:r>
                          <m:rPr>
                            <m:nor/>
                          </m:rPr>
                          <a:rPr lang="en-US" b="0" i="0" dirty="0" smtClean="0"/>
                          <m:t>4</m:t>
                        </m:r>
                      </m:den>
                    </m:f>
                    <m:r>
                      <a:rPr lang="en-IN" i="1" dirty="0">
                        <a:latin typeface="Cambria Math" panose="02040503050406030204" pitchFamily="18" charset="0"/>
                      </a:rPr>
                      <m:t> </m:t>
                    </m:r>
                  </m:oMath>
                </a14:m>
                <a:r>
                  <a:rPr lang="en-US" dirty="0"/>
                  <a:t> 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32</m:t>
                        </m:r>
                      </m:num>
                      <m:den>
                        <m:r>
                          <m:rPr>
                            <m:nor/>
                          </m:rPr>
                          <a:rPr lang="en-US" b="0" i="0" dirty="0" smtClean="0"/>
                          <m:t>4</m:t>
                        </m:r>
                      </m:den>
                    </m:f>
                    <m:r>
                      <a:rPr lang="en-IN" i="1" dirty="0">
                        <a:latin typeface="Cambria Math" panose="02040503050406030204" pitchFamily="18" charset="0"/>
                      </a:rPr>
                      <m:t> </m:t>
                    </m:r>
                  </m:oMath>
                </a14:m>
                <a:r>
                  <a:rPr lang="en-US" dirty="0"/>
                  <a:t> hours</a:t>
                </a:r>
              </a:p>
              <a:p>
                <a:pPr marL="0" indent="0" algn="just">
                  <a:buNone/>
                </a:pPr>
                <a:r>
                  <a:rPr lang="en-US" dirty="0"/>
                  <a:t>			= </a:t>
                </a:r>
                <a14:m>
                  <m:oMath xmlns:m="http://schemas.openxmlformats.org/officeDocument/2006/math">
                    <m:r>
                      <m:rPr>
                        <m:nor/>
                      </m:rPr>
                      <a:rPr lang="en-US" dirty="0"/>
                      <m:t>8</m:t>
                    </m:r>
                    <m:r>
                      <a:rPr lang="en-US" i="1" dirty="0">
                        <a:latin typeface="Cambria Math" panose="02040503050406030204" pitchFamily="18" charset="0"/>
                      </a:rPr>
                      <m:t> </m:t>
                    </m:r>
                  </m:oMath>
                </a14:m>
                <a:r>
                  <a:rPr lang="en-US" dirty="0"/>
                  <a:t>hours</a:t>
                </a:r>
              </a:p>
              <a:p>
                <a:pPr marL="0" indent="0" algn="just">
                  <a:buNone/>
                </a:pP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AD615501-064F-F443-D6B1-877BD129CF09}"/>
              </a:ext>
            </a:extLst>
          </p:cNvPr>
          <p:cNvCxnSpPr/>
          <p:nvPr/>
        </p:nvCxnSpPr>
        <p:spPr>
          <a:xfrm flipV="1">
            <a:off x="3361496" y="4469533"/>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6977D5B-C0E1-DDB0-7387-832F3B77E618}"/>
              </a:ext>
            </a:extLst>
          </p:cNvPr>
          <p:cNvCxnSpPr/>
          <p:nvPr/>
        </p:nvCxnSpPr>
        <p:spPr>
          <a:xfrm flipV="1">
            <a:off x="3361496" y="484452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2A47C92-9768-07DE-59F9-C02525879838}"/>
              </a:ext>
            </a:extLst>
          </p:cNvPr>
          <p:cNvSpPr txBox="1"/>
          <p:nvPr/>
        </p:nvSpPr>
        <p:spPr>
          <a:xfrm>
            <a:off x="3433337" y="4087984"/>
            <a:ext cx="314510" cy="369332"/>
          </a:xfrm>
          <a:prstGeom prst="rect">
            <a:avLst/>
          </a:prstGeom>
          <a:noFill/>
        </p:spPr>
        <p:txBody>
          <a:bodyPr wrap="none" rtlCol="0">
            <a:spAutoFit/>
          </a:bodyPr>
          <a:lstStyle/>
          <a:p>
            <a:r>
              <a:rPr lang="en-US" dirty="0"/>
              <a:t>8</a:t>
            </a:r>
            <a:endParaRPr lang="en-IN" dirty="0"/>
          </a:p>
        </p:txBody>
      </p:sp>
    </p:spTree>
    <p:extLst>
      <p:ext uri="{BB962C8B-B14F-4D97-AF65-F5344CB8AC3E}">
        <p14:creationId xmlns:p14="http://schemas.microsoft.com/office/powerpoint/2010/main" val="1958699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r>
                  <a:rPr lang="en-US" sz="2400" dirty="0"/>
                  <a:t>Two taps A and B can fill a tank in 3 hours and 6 hours, respectively. Due to a leakage at the bottom of the tank, tank is filled in 1 hour more. In how much time will the leak take to empty the tank? </a:t>
                </a:r>
              </a:p>
              <a:p>
                <a:pPr algn="just"/>
                <a:r>
                  <a:rPr lang="en-US" sz="2400" dirty="0"/>
                  <a:t>LCM of 3 and 6 = 6 (Total Capacity)</a:t>
                </a:r>
              </a:p>
              <a:p>
                <a:pPr algn="just">
                  <a:lnSpc>
                    <a:spcPct val="100000"/>
                  </a:lnSpc>
                </a:pPr>
                <a:r>
                  <a:rPr lang="en-US" sz="2400" dirty="0">
                    <a:solidFill>
                      <a:srgbClr val="836967"/>
                    </a:solidFill>
                  </a:rPr>
                  <a:t>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6</m:t>
                        </m:r>
                      </m:num>
                      <m:den>
                        <m:r>
                          <m:rPr>
                            <m:nor/>
                          </m:rPr>
                          <a:rPr lang="en-US" sz="2400" dirty="0"/>
                          <m:t>3</m:t>
                        </m:r>
                      </m:den>
                    </m:f>
                  </m:oMath>
                </a14:m>
                <a:r>
                  <a:rPr lang="en-US" sz="2400" dirty="0"/>
                  <a:t> = 2       and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6</m:t>
                        </m:r>
                      </m:num>
                      <m:den>
                        <m:r>
                          <m:rPr>
                            <m:nor/>
                          </m:rPr>
                          <a:rPr lang="en-US" sz="2400" dirty="0"/>
                          <m:t>6</m:t>
                        </m:r>
                      </m:den>
                    </m:f>
                  </m:oMath>
                </a14:m>
                <a:r>
                  <a:rPr lang="en-US" sz="2400" dirty="0"/>
                  <a:t> = 1 	</a:t>
                </a:r>
              </a:p>
              <a:p>
                <a:pPr algn="just">
                  <a:lnSpc>
                    <a:spcPct val="100000"/>
                  </a:lnSpc>
                </a:pPr>
                <a:r>
                  <a:rPr lang="en-US" sz="2400" dirty="0"/>
                  <a:t>Taps A and B fill the tank </a:t>
                </a:r>
                <a:r>
                  <a:rPr lang="en-IN" sz="2400" dirty="0"/>
                  <a:t>in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6</m:t>
                        </m:r>
                      </m:num>
                      <m:den>
                        <m:r>
                          <m:rPr>
                            <m:nor/>
                          </m:rPr>
                          <a:rPr lang="en-US" sz="2400" dirty="0"/>
                          <m:t>2 + 1</m:t>
                        </m:r>
                        <m:r>
                          <m:rPr>
                            <m:nor/>
                          </m:rPr>
                          <a:rPr lang="en-IN" sz="2400" dirty="0"/>
                          <m:t> </m:t>
                        </m:r>
                      </m:den>
                    </m:f>
                  </m:oMath>
                </a14:m>
                <a:r>
                  <a:rPr lang="en-IN"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6</m:t>
                        </m:r>
                      </m:num>
                      <m:den>
                        <m:r>
                          <m:rPr>
                            <m:nor/>
                          </m:rPr>
                          <a:rPr lang="en-US" sz="2400" dirty="0">
                            <a:latin typeface="Cambria Math" panose="02040503050406030204" pitchFamily="18" charset="0"/>
                          </a:rPr>
                          <m:t> </m:t>
                        </m:r>
                        <m:r>
                          <m:rPr>
                            <m:nor/>
                          </m:rPr>
                          <a:rPr lang="en-US" sz="2400" dirty="0"/>
                          <m:t>3</m:t>
                        </m:r>
                        <m:r>
                          <m:rPr>
                            <m:nor/>
                          </m:rPr>
                          <a:rPr lang="en-IN" sz="2400" dirty="0"/>
                          <m:t> </m:t>
                        </m:r>
                      </m:den>
                    </m:f>
                  </m:oMath>
                </a14:m>
                <a:r>
                  <a:rPr lang="en-IN" sz="2400" dirty="0"/>
                  <a:t> = </a:t>
                </a:r>
                <a:r>
                  <a:rPr lang="en-US" sz="2400" dirty="0"/>
                  <a:t>2 hours</a:t>
                </a:r>
              </a:p>
              <a:p>
                <a:pPr algn="just"/>
                <a:r>
                  <a:rPr lang="en-US" sz="2400" dirty="0"/>
                  <a:t>Due to a leakage, tank is filled in = (2 + 1) hours  = 3 hours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r="-1136"/>
                </a:stretch>
              </a:blipFill>
            </p:spPr>
            <p:txBody>
              <a:bodyPr/>
              <a:lstStyle/>
              <a:p>
                <a:r>
                  <a:rPr lang="en-IN">
                    <a:noFill/>
                  </a:rPr>
                  <a:t> </a:t>
                </a:r>
              </a:p>
            </p:txBody>
          </p:sp>
        </mc:Fallback>
      </mc:AlternateContent>
    </p:spTree>
    <p:extLst>
      <p:ext uri="{BB962C8B-B14F-4D97-AF65-F5344CB8AC3E}">
        <p14:creationId xmlns:p14="http://schemas.microsoft.com/office/powerpoint/2010/main" val="622863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Autofit/>
              </a:bodyPr>
              <a:lstStyle/>
              <a:p>
                <a:pPr algn="just">
                  <a:lnSpc>
                    <a:spcPct val="100000"/>
                  </a:lnSpc>
                </a:pPr>
                <a:r>
                  <a:rPr lang="en-US" sz="2400" dirty="0"/>
                  <a:t>Taps A and B fill the tank </a:t>
                </a:r>
                <a:r>
                  <a:rPr lang="en-IN" sz="2400" dirty="0"/>
                  <a:t>in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6</m:t>
                        </m:r>
                      </m:num>
                      <m:den>
                        <m:r>
                          <m:rPr>
                            <m:nor/>
                          </m:rPr>
                          <a:rPr lang="en-US" sz="2400" dirty="0"/>
                          <m:t>2 + 1</m:t>
                        </m:r>
                        <m:r>
                          <m:rPr>
                            <m:nor/>
                          </m:rPr>
                          <a:rPr lang="en-IN" sz="2400" dirty="0"/>
                          <m:t> </m:t>
                        </m:r>
                      </m:den>
                    </m:f>
                  </m:oMath>
                </a14:m>
                <a:r>
                  <a:rPr lang="en-IN"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6</m:t>
                        </m:r>
                      </m:num>
                      <m:den>
                        <m:r>
                          <m:rPr>
                            <m:nor/>
                          </m:rPr>
                          <a:rPr lang="en-US" sz="2400" dirty="0">
                            <a:latin typeface="Cambria Math" panose="02040503050406030204" pitchFamily="18" charset="0"/>
                          </a:rPr>
                          <m:t> </m:t>
                        </m:r>
                        <m:r>
                          <m:rPr>
                            <m:nor/>
                          </m:rPr>
                          <a:rPr lang="en-US" sz="2400" dirty="0"/>
                          <m:t>3</m:t>
                        </m:r>
                        <m:r>
                          <m:rPr>
                            <m:nor/>
                          </m:rPr>
                          <a:rPr lang="en-IN" sz="2400" dirty="0"/>
                          <m:t> </m:t>
                        </m:r>
                      </m:den>
                    </m:f>
                  </m:oMath>
                </a14:m>
                <a:r>
                  <a:rPr lang="en-IN" sz="2400" dirty="0"/>
                  <a:t> = </a:t>
                </a:r>
                <a:r>
                  <a:rPr lang="en-US" sz="2400" dirty="0"/>
                  <a:t>2 hours</a:t>
                </a:r>
              </a:p>
              <a:p>
                <a:pPr algn="just"/>
                <a:r>
                  <a:rPr lang="en-US" sz="2400" dirty="0"/>
                  <a:t>Due to a leakage, tank is filled in = (2 + 1) hours  = 3 hours</a:t>
                </a:r>
              </a:p>
              <a:p>
                <a:pPr algn="just"/>
                <a:r>
                  <a:rPr lang="en-US" sz="2400" dirty="0"/>
                  <a:t>Let time taken by leakage to empty the tank = x </a:t>
                </a:r>
              </a:p>
              <a:p>
                <a:pPr marL="0" indent="0" algn="just">
                  <a:lnSpc>
                    <a:spcPct val="100000"/>
                  </a:lnSpc>
                  <a:buNone/>
                </a:pPr>
                <a:r>
                  <a:rPr lang="en-US" sz="2400" dirty="0"/>
                  <a:t>		 LCM of 2 and x = 2x </a:t>
                </a:r>
                <a:r>
                  <a:rPr lang="en-US" sz="2400" dirty="0">
                    <a:solidFill>
                      <a:srgbClr val="836967"/>
                    </a:solidFill>
                  </a:rPr>
                  <a:t>	</a:t>
                </a:r>
              </a:p>
              <a:p>
                <a:pPr marL="0" indent="0" algn="just">
                  <a:lnSpc>
                    <a:spcPct val="100000"/>
                  </a:lnSpc>
                  <a:buNone/>
                </a:pPr>
                <a:r>
                  <a:rPr lang="en-US" sz="2400" dirty="0">
                    <a:solidFill>
                      <a:srgbClr val="836967"/>
                    </a:solidFill>
                  </a:rPr>
                  <a:t>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2</m:t>
                        </m:r>
                        <m:r>
                          <m:rPr>
                            <m:nor/>
                          </m:rPr>
                          <a:rPr lang="en-US" sz="2400" b="0" i="0" dirty="0" smtClean="0"/>
                          <m:t>x</m:t>
                        </m:r>
                      </m:num>
                      <m:den>
                        <m:r>
                          <m:rPr>
                            <m:nor/>
                          </m:rPr>
                          <a:rPr lang="en-US" sz="2400" b="0" i="0" dirty="0" smtClean="0"/>
                          <m:t>2</m:t>
                        </m:r>
                      </m:den>
                    </m:f>
                  </m:oMath>
                </a14:m>
                <a:r>
                  <a:rPr lang="en-US" sz="2400" dirty="0"/>
                  <a:t> = x       and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2</m:t>
                        </m:r>
                        <m:r>
                          <m:rPr>
                            <m:nor/>
                          </m:rPr>
                          <a:rPr lang="en-US" sz="2400" b="0" i="0" dirty="0" smtClean="0"/>
                          <m:t>x</m:t>
                        </m:r>
                      </m:num>
                      <m:den>
                        <m:r>
                          <m:rPr>
                            <m:nor/>
                          </m:rPr>
                          <a:rPr lang="en-US" sz="2400" dirty="0"/>
                          <m:t>−</m:t>
                        </m:r>
                        <m:r>
                          <m:rPr>
                            <m:nor/>
                          </m:rPr>
                          <a:rPr lang="en-US" sz="2400" b="0" i="0" dirty="0" smtClean="0"/>
                          <m:t>x</m:t>
                        </m:r>
                      </m:den>
                    </m:f>
                  </m:oMath>
                </a14:m>
                <a:r>
                  <a:rPr lang="en-US" sz="2400" dirty="0"/>
                  <a:t> = -2</a:t>
                </a:r>
              </a:p>
              <a:p>
                <a:pPr marL="0" indent="0" algn="just">
                  <a:lnSpc>
                    <a:spcPct val="100000"/>
                  </a:lnSpc>
                  <a:buNone/>
                </a:pPr>
                <a:r>
                  <a:rPr lang="en-US" sz="2400" dirty="0">
                    <a:solidFill>
                      <a:srgbClr val="836967"/>
                    </a:solidFill>
                  </a:rPr>
                  <a:t>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2</m:t>
                        </m:r>
                        <m:r>
                          <m:rPr>
                            <m:nor/>
                          </m:rPr>
                          <a:rPr lang="en-US" sz="2400" dirty="0"/>
                          <m:t>x</m:t>
                        </m:r>
                      </m:num>
                      <m:den>
                        <m:r>
                          <m:rPr>
                            <m:nor/>
                          </m:rPr>
                          <a:rPr lang="en-US" sz="2400" b="0" i="0" dirty="0" smtClean="0"/>
                          <m:t>x</m:t>
                        </m:r>
                        <m:r>
                          <m:rPr>
                            <m:nor/>
                          </m:rPr>
                          <a:rPr lang="en-US" sz="2400" b="0" i="0" dirty="0" smtClean="0"/>
                          <m:t> −</m:t>
                        </m:r>
                        <m:r>
                          <a:rPr lang="en-US" sz="2400" i="1" dirty="0">
                            <a:latin typeface="Cambria Math" panose="02040503050406030204" pitchFamily="18" charset="0"/>
                          </a:rPr>
                          <m:t> </m:t>
                        </m:r>
                        <m:r>
                          <m:rPr>
                            <m:nor/>
                          </m:rPr>
                          <a:rPr lang="en-US" sz="2400" b="0" i="0" dirty="0" smtClean="0"/>
                          <m:t>2</m:t>
                        </m:r>
                      </m:den>
                    </m:f>
                    <m:r>
                      <m:rPr>
                        <m:nor/>
                      </m:rPr>
                      <a:rPr lang="en-US" sz="2400" dirty="0"/>
                      <m:t> = </m:t>
                    </m:r>
                    <m:r>
                      <m:rPr>
                        <m:nor/>
                      </m:rPr>
                      <a:rPr lang="en-US" sz="2400" b="0" i="0" dirty="0" smtClean="0"/>
                      <m:t>3</m:t>
                    </m:r>
                  </m:oMath>
                </a14:m>
                <a:endParaRPr lang="en-US" sz="2400" dirty="0"/>
              </a:p>
              <a:p>
                <a:pPr marL="0" indent="0" algn="just">
                  <a:lnSpc>
                    <a:spcPct val="100000"/>
                  </a:lnSpc>
                  <a:buNone/>
                </a:pPr>
                <a:r>
                  <a:rPr lang="en-US" sz="2400" dirty="0"/>
                  <a:t>			</a:t>
                </a:r>
                <a14:m>
                  <m:oMath xmlns:m="http://schemas.openxmlformats.org/officeDocument/2006/math">
                    <m:r>
                      <m:rPr>
                        <m:nor/>
                      </m:rPr>
                      <a:rPr lang="en-US" sz="2400" b="0" i="0" dirty="0" smtClean="0"/>
                      <m:t>2</m:t>
                    </m:r>
                    <m:r>
                      <m:rPr>
                        <m:nor/>
                      </m:rPr>
                      <a:rPr lang="en-US" sz="2400" dirty="0"/>
                      <m:t>x</m:t>
                    </m:r>
                  </m:oMath>
                </a14:m>
                <a:r>
                  <a:rPr lang="en-US" sz="2400" dirty="0"/>
                  <a:t> </a:t>
                </a:r>
                <a14:m>
                  <m:oMath xmlns:m="http://schemas.openxmlformats.org/officeDocument/2006/math">
                    <m:r>
                      <m:rPr>
                        <m:nor/>
                      </m:rPr>
                      <a:rPr lang="en-US" sz="2400" dirty="0"/>
                      <m:t>= 3</m:t>
                    </m:r>
                  </m:oMath>
                </a14:m>
                <a:r>
                  <a:rPr lang="en-US" sz="2400" dirty="0"/>
                  <a:t> (</a:t>
                </a:r>
                <a14:m>
                  <m:oMath xmlns:m="http://schemas.openxmlformats.org/officeDocument/2006/math">
                    <m:r>
                      <m:rPr>
                        <m:nor/>
                      </m:rPr>
                      <a:rPr lang="en-US" sz="2400" b="0" i="0" dirty="0" smtClean="0"/>
                      <m:t>x</m:t>
                    </m:r>
                    <m:r>
                      <m:rPr>
                        <m:nor/>
                      </m:rPr>
                      <a:rPr lang="en-US" sz="2400" dirty="0"/>
                      <m:t> </m:t>
                    </m:r>
                    <m:r>
                      <m:rPr>
                        <m:nor/>
                      </m:rPr>
                      <a:rPr lang="en-US" sz="2400" b="0" i="0" dirty="0" smtClean="0"/>
                      <m:t>−</m:t>
                    </m:r>
                    <m:r>
                      <a:rPr lang="en-US" sz="2400" i="1" dirty="0">
                        <a:latin typeface="Cambria Math" panose="02040503050406030204" pitchFamily="18" charset="0"/>
                      </a:rPr>
                      <m:t> </m:t>
                    </m:r>
                    <m:r>
                      <m:rPr>
                        <m:nor/>
                      </m:rPr>
                      <a:rPr lang="en-US" sz="2400" b="0" i="0" dirty="0" smtClean="0"/>
                      <m:t>2)</m:t>
                    </m:r>
                  </m:oMath>
                </a14:m>
                <a:endParaRPr lang="en-US" sz="2400" dirty="0"/>
              </a:p>
              <a:p>
                <a:pPr marL="0" indent="0" algn="just">
                  <a:lnSpc>
                    <a:spcPct val="100000"/>
                  </a:lnSpc>
                  <a:buNone/>
                </a:pPr>
                <a:r>
                  <a:rPr lang="en-US" sz="2400" dirty="0"/>
                  <a:t>			</a:t>
                </a:r>
                <a14:m>
                  <m:oMath xmlns:m="http://schemas.openxmlformats.org/officeDocument/2006/math">
                    <m:r>
                      <m:rPr>
                        <m:nor/>
                      </m:rPr>
                      <a:rPr lang="en-US" sz="2400" b="0" i="0" dirty="0" smtClean="0"/>
                      <m:t>2</m:t>
                    </m:r>
                    <m:r>
                      <m:rPr>
                        <m:nor/>
                      </m:rPr>
                      <a:rPr lang="en-US" sz="2400" dirty="0"/>
                      <m:t>x</m:t>
                    </m:r>
                  </m:oMath>
                </a14:m>
                <a:r>
                  <a:rPr lang="en-US" sz="2400" dirty="0"/>
                  <a:t> </a:t>
                </a:r>
                <a14:m>
                  <m:oMath xmlns:m="http://schemas.openxmlformats.org/officeDocument/2006/math">
                    <m:r>
                      <m:rPr>
                        <m:nor/>
                      </m:rPr>
                      <a:rPr lang="en-US" sz="2400" dirty="0"/>
                      <m:t>= 3</m:t>
                    </m:r>
                    <m:r>
                      <m:rPr>
                        <m:nor/>
                      </m:rPr>
                      <a:rPr lang="en-US" sz="2400" dirty="0"/>
                      <m:t>x</m:t>
                    </m:r>
                    <m:r>
                      <m:rPr>
                        <m:nor/>
                      </m:rPr>
                      <a:rPr lang="en-US" sz="2400" b="0" i="0" dirty="0" smtClean="0"/>
                      <m:t> </m:t>
                    </m:r>
                    <m:r>
                      <a:rPr lang="en-US" sz="2400" b="0" i="1" dirty="0" smtClean="0">
                        <a:latin typeface="Cambria Math" panose="02040503050406030204" pitchFamily="18" charset="0"/>
                      </a:rPr>
                      <m:t>–</m:t>
                    </m:r>
                    <m:r>
                      <m:rPr>
                        <m:nor/>
                      </m:rPr>
                      <a:rPr lang="en-US" sz="2400" b="0" i="0" dirty="0" smtClean="0"/>
                      <m:t> </m:t>
                    </m:r>
                    <m:r>
                      <m:rPr>
                        <m:nor/>
                      </m:rPr>
                      <a:rPr lang="en-US" sz="2400" dirty="0"/>
                      <m:t>12</m:t>
                    </m:r>
                  </m:oMath>
                </a14:m>
                <a:r>
                  <a:rPr lang="en-US" sz="2400" dirty="0"/>
                  <a:t> or 3x – 2x = 12</a:t>
                </a:r>
              </a:p>
              <a:p>
                <a:pPr marL="0" indent="0" algn="just">
                  <a:lnSpc>
                    <a:spcPct val="100000"/>
                  </a:lnSpc>
                  <a:buNone/>
                </a:pPr>
                <a:r>
                  <a:rPr lang="en-US" sz="2400" dirty="0"/>
                  <a:t>			x = 12</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b="-395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629979D0-FFB7-2766-6452-412B24674B97}"/>
              </a:ext>
            </a:extLst>
          </p:cNvPr>
          <p:cNvCxnSpPr>
            <a:cxnSpLocks/>
          </p:cNvCxnSpPr>
          <p:nvPr/>
        </p:nvCxnSpPr>
        <p:spPr>
          <a:xfrm flipV="1">
            <a:off x="1391891" y="3890790"/>
            <a:ext cx="101246" cy="32989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23D1FEB-1200-2D22-98F2-AAFA0726B543}"/>
              </a:ext>
            </a:extLst>
          </p:cNvPr>
          <p:cNvCxnSpPr>
            <a:cxnSpLocks/>
          </p:cNvCxnSpPr>
          <p:nvPr/>
        </p:nvCxnSpPr>
        <p:spPr>
          <a:xfrm flipV="1">
            <a:off x="1471403" y="4275346"/>
            <a:ext cx="101246" cy="28057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0862B5B-090D-45E4-CC4C-D802FFBB01B0}"/>
              </a:ext>
            </a:extLst>
          </p:cNvPr>
          <p:cNvCxnSpPr>
            <a:cxnSpLocks/>
          </p:cNvCxnSpPr>
          <p:nvPr/>
        </p:nvCxnSpPr>
        <p:spPr>
          <a:xfrm flipV="1">
            <a:off x="4313997" y="3900729"/>
            <a:ext cx="101246" cy="32989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629E1E3-CB2B-323F-69EA-DC327760E4A6}"/>
              </a:ext>
            </a:extLst>
          </p:cNvPr>
          <p:cNvCxnSpPr>
            <a:cxnSpLocks/>
          </p:cNvCxnSpPr>
          <p:nvPr/>
        </p:nvCxnSpPr>
        <p:spPr>
          <a:xfrm flipV="1">
            <a:off x="4294119" y="4275346"/>
            <a:ext cx="101246" cy="280573"/>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DA41AE2-1C6A-A097-44CF-7265D37B83E0}"/>
              </a:ext>
            </a:extLst>
          </p:cNvPr>
          <p:cNvCxnSpPr>
            <a:cxnSpLocks/>
          </p:cNvCxnSpPr>
          <p:nvPr/>
        </p:nvCxnSpPr>
        <p:spPr>
          <a:xfrm flipV="1">
            <a:off x="6212574" y="1390651"/>
            <a:ext cx="304388" cy="2104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EA90AE7-5217-9431-935A-C2F59C3501A5}"/>
              </a:ext>
            </a:extLst>
          </p:cNvPr>
          <p:cNvCxnSpPr>
            <a:cxnSpLocks/>
          </p:cNvCxnSpPr>
          <p:nvPr/>
        </p:nvCxnSpPr>
        <p:spPr>
          <a:xfrm flipV="1">
            <a:off x="6252330" y="1734899"/>
            <a:ext cx="264632" cy="1643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335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8</a:t>
            </a:r>
          </a:p>
        </p:txBody>
      </p:sp>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fontScale="92500" lnSpcReduction="10000"/>
          </a:bodyPr>
          <a:lstStyle/>
          <a:p>
            <a:pPr algn="just"/>
            <a:r>
              <a:rPr lang="en-US" dirty="0"/>
              <a:t>An inlet pipe fills water in a tank at the rate of 12 </a:t>
            </a:r>
            <a:r>
              <a:rPr lang="en-US" dirty="0" err="1"/>
              <a:t>litres</a:t>
            </a:r>
            <a:r>
              <a:rPr lang="en-US" dirty="0"/>
              <a:t> per minute. A leak at the bottom of a tank can empty the full tank in 18 hours. When the tank is full, the inlet is opened and due to leak, the tank is empty in 24 hours. Find out the capacity of the tank. </a:t>
            </a:r>
          </a:p>
          <a:p>
            <a:pPr algn="just"/>
            <a:r>
              <a:rPr lang="en-US" dirty="0"/>
              <a:t>x = 18 hours</a:t>
            </a:r>
          </a:p>
          <a:p>
            <a:pPr algn="just"/>
            <a:r>
              <a:rPr lang="en-US" dirty="0"/>
              <a:t>y = 12 = 12 x 60 </a:t>
            </a:r>
            <a:r>
              <a:rPr lang="en-US" dirty="0" err="1"/>
              <a:t>litres</a:t>
            </a:r>
            <a:r>
              <a:rPr lang="en-US" dirty="0"/>
              <a:t> per hours </a:t>
            </a:r>
          </a:p>
          <a:p>
            <a:pPr marL="0" indent="0" algn="just">
              <a:buNone/>
            </a:pPr>
            <a:r>
              <a:rPr lang="en-US" dirty="0"/>
              <a:t>      = 720 </a:t>
            </a:r>
            <a:r>
              <a:rPr lang="en-US" dirty="0" err="1"/>
              <a:t>litres</a:t>
            </a:r>
            <a:r>
              <a:rPr lang="en-US" dirty="0"/>
              <a:t> per hours</a:t>
            </a:r>
          </a:p>
          <a:p>
            <a:pPr algn="just"/>
            <a:r>
              <a:rPr lang="en-US" dirty="0"/>
              <a:t>z = 24 hours</a:t>
            </a:r>
          </a:p>
          <a:p>
            <a:pPr algn="just"/>
            <a:endParaRPr lang="en-US" dirty="0"/>
          </a:p>
        </p:txBody>
      </p:sp>
    </p:spTree>
    <p:extLst>
      <p:ext uri="{BB962C8B-B14F-4D97-AF65-F5344CB8AC3E}">
        <p14:creationId xmlns:p14="http://schemas.microsoft.com/office/powerpoint/2010/main" val="4093790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8</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x = 18, y = 720, and z = 24</a:t>
                </a:r>
              </a:p>
              <a:p>
                <a:pPr algn="just"/>
                <a:r>
                  <a:rPr lang="en-US" dirty="0"/>
                  <a:t>Capacity of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yz</m:t>
                        </m:r>
                      </m:num>
                      <m:den>
                        <m:r>
                          <m:rPr>
                            <m:nor/>
                          </m:rPr>
                          <a:rPr lang="en-IN" dirty="0"/>
                          <m:t>z</m:t>
                        </m:r>
                        <m:r>
                          <m:rPr>
                            <m:nor/>
                          </m:rPr>
                          <a:rPr lang="en-IN" dirty="0"/>
                          <m:t> − </m:t>
                        </m:r>
                        <m:r>
                          <m:rPr>
                            <m:nor/>
                          </m:rPr>
                          <a:rPr lang="en-IN" dirty="0"/>
                          <m:t>x</m:t>
                        </m:r>
                      </m:den>
                    </m:f>
                  </m:oMath>
                </a14:m>
                <a:r>
                  <a:rPr lang="en-US" dirty="0"/>
                  <a:t>  liters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18</m:t>
                        </m:r>
                        <m:r>
                          <m:rPr>
                            <m:nor/>
                          </m:rPr>
                          <a:rPr lang="en-US" b="0" i="0" dirty="0" smtClean="0"/>
                          <m:t> </m:t>
                        </m:r>
                        <m:r>
                          <m:rPr>
                            <m:nor/>
                          </m:rPr>
                          <a:rPr lang="en-US" b="0" i="0" dirty="0" smtClean="0"/>
                          <m:t>x</m:t>
                        </m:r>
                        <m:r>
                          <m:rPr>
                            <m:nor/>
                          </m:rPr>
                          <a:rPr lang="en-US" b="0" i="0" dirty="0" smtClean="0"/>
                          <m:t> 720 </m:t>
                        </m:r>
                        <m:r>
                          <m:rPr>
                            <m:nor/>
                          </m:rPr>
                          <a:rPr lang="en-US" b="0" i="0" dirty="0" smtClean="0"/>
                          <m:t>x</m:t>
                        </m:r>
                        <m:r>
                          <m:rPr>
                            <m:nor/>
                          </m:rPr>
                          <a:rPr lang="en-US" b="0" i="0" dirty="0" smtClean="0"/>
                          <m:t> 24</m:t>
                        </m:r>
                      </m:num>
                      <m:den>
                        <m:r>
                          <m:rPr>
                            <m:nor/>
                          </m:rPr>
                          <a:rPr lang="en-US" b="0" i="0" dirty="0" smtClean="0"/>
                          <m:t>24</m:t>
                        </m:r>
                        <m:r>
                          <m:rPr>
                            <m:nor/>
                          </m:rPr>
                          <a:rPr lang="en-IN" dirty="0"/>
                          <m:t> − </m:t>
                        </m:r>
                        <m:r>
                          <m:rPr>
                            <m:nor/>
                          </m:rPr>
                          <a:rPr lang="en-US" b="0" i="0" dirty="0" smtClean="0"/>
                          <m:t>18</m:t>
                        </m:r>
                      </m:den>
                    </m:f>
                  </m:oMath>
                </a14:m>
                <a:r>
                  <a:rPr lang="en-US" dirty="0"/>
                  <a:t>  liters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18 </m:t>
                        </m:r>
                        <m:r>
                          <m:rPr>
                            <m:nor/>
                          </m:rPr>
                          <a:rPr lang="en-US" dirty="0"/>
                          <m:t>x</m:t>
                        </m:r>
                        <m:r>
                          <m:rPr>
                            <m:nor/>
                          </m:rPr>
                          <a:rPr lang="en-US" dirty="0"/>
                          <m:t> 720 </m:t>
                        </m:r>
                        <m:r>
                          <m:rPr>
                            <m:nor/>
                          </m:rPr>
                          <a:rPr lang="en-US" dirty="0"/>
                          <m:t>x</m:t>
                        </m:r>
                        <m:r>
                          <m:rPr>
                            <m:nor/>
                          </m:rPr>
                          <a:rPr lang="en-US" dirty="0"/>
                          <m:t> 24</m:t>
                        </m:r>
                      </m:num>
                      <m:den>
                        <m:r>
                          <m:rPr>
                            <m:nor/>
                          </m:rPr>
                          <a:rPr lang="en-US" b="0" i="0" dirty="0" smtClean="0"/>
                          <m:t>6</m:t>
                        </m:r>
                      </m:den>
                    </m:f>
                  </m:oMath>
                </a14:m>
                <a:r>
                  <a:rPr lang="en-US" dirty="0"/>
                  <a:t>  liters</a:t>
                </a:r>
              </a:p>
              <a:p>
                <a:pPr marL="0" indent="0" algn="just">
                  <a:buNone/>
                </a:pPr>
                <a:r>
                  <a:rPr lang="en-US" dirty="0"/>
                  <a:t>				= </a:t>
                </a:r>
                <a14:m>
                  <m:oMath xmlns:m="http://schemas.openxmlformats.org/officeDocument/2006/math">
                    <m:r>
                      <m:rPr>
                        <m:nor/>
                      </m:rPr>
                      <a:rPr lang="en-US" b="0" i="0" dirty="0" smtClean="0"/>
                      <m:t>5184</m:t>
                    </m:r>
                    <m:r>
                      <m:rPr>
                        <m:nor/>
                      </m:rPr>
                      <a:rPr lang="en-US" dirty="0" smtClean="0"/>
                      <m:t>0</m:t>
                    </m:r>
                    <m:r>
                      <a:rPr lang="en-US" i="1" dirty="0">
                        <a:latin typeface="Cambria Math" panose="02040503050406030204" pitchFamily="18" charset="0"/>
                      </a:rPr>
                      <m:t> </m:t>
                    </m:r>
                  </m:oMath>
                </a14:m>
                <a:r>
                  <a:rPr lang="en-US" dirty="0"/>
                  <a:t>liters</a:t>
                </a:r>
              </a:p>
              <a:p>
                <a:pPr marL="0" indent="0" algn="just">
                  <a:buNone/>
                </a:pPr>
                <a:endParaRPr lang="en-US"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CACBFE97-9EAA-0AA8-2020-CDF2CA1E7A26}"/>
              </a:ext>
            </a:extLst>
          </p:cNvPr>
          <p:cNvCxnSpPr/>
          <p:nvPr/>
        </p:nvCxnSpPr>
        <p:spPr>
          <a:xfrm flipV="1">
            <a:off x="5915852" y="4459593"/>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E657B0D-B63D-E9CE-AE2E-114B75DC8BAD}"/>
              </a:ext>
            </a:extLst>
          </p:cNvPr>
          <p:cNvCxnSpPr/>
          <p:nvPr/>
        </p:nvCxnSpPr>
        <p:spPr>
          <a:xfrm flipV="1">
            <a:off x="5120721" y="486440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424611F-4AE7-16B0-FD55-B017D236625D}"/>
              </a:ext>
            </a:extLst>
          </p:cNvPr>
          <p:cNvSpPr txBox="1"/>
          <p:nvPr/>
        </p:nvSpPr>
        <p:spPr>
          <a:xfrm>
            <a:off x="5987693" y="4078044"/>
            <a:ext cx="378630" cy="369332"/>
          </a:xfrm>
          <a:prstGeom prst="rect">
            <a:avLst/>
          </a:prstGeom>
          <a:noFill/>
        </p:spPr>
        <p:txBody>
          <a:bodyPr wrap="none" rtlCol="0">
            <a:spAutoFit/>
          </a:bodyPr>
          <a:lstStyle/>
          <a:p>
            <a:r>
              <a:rPr lang="en-US" dirty="0"/>
              <a:t>4 </a:t>
            </a:r>
            <a:endParaRPr lang="en-IN" dirty="0"/>
          </a:p>
        </p:txBody>
      </p:sp>
    </p:spTree>
    <p:extLst>
      <p:ext uri="{BB962C8B-B14F-4D97-AF65-F5344CB8AC3E}">
        <p14:creationId xmlns:p14="http://schemas.microsoft.com/office/powerpoint/2010/main" val="1432783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3559A-533D-68CF-9263-67D9CDD347B5}"/>
              </a:ext>
            </a:extLst>
          </p:cNvPr>
          <p:cNvSpPr>
            <a:spLocks noGrp="1"/>
          </p:cNvSpPr>
          <p:nvPr>
            <p:ph type="title"/>
          </p:nvPr>
        </p:nvSpPr>
        <p:spPr/>
        <p:txBody>
          <a:bodyPr/>
          <a:lstStyle/>
          <a:p>
            <a:r>
              <a:rPr lang="en-IN" dirty="0"/>
              <a:t>Problem 8 - </a:t>
            </a:r>
            <a:r>
              <a:rPr lang="en-US" dirty="0"/>
              <a:t>Alternative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DFC5A0-E18A-19C4-F249-1BC467519FC5}"/>
                  </a:ext>
                </a:extLst>
              </p:cNvPr>
              <p:cNvSpPr>
                <a:spLocks noGrp="1"/>
              </p:cNvSpPr>
              <p:nvPr>
                <p:ph idx="1"/>
              </p:nvPr>
            </p:nvSpPr>
            <p:spPr/>
            <p:txBody>
              <a:bodyPr>
                <a:normAutofit/>
              </a:bodyPr>
              <a:lstStyle/>
              <a:p>
                <a:pPr algn="just"/>
                <a:r>
                  <a:rPr lang="en-US" sz="2800" dirty="0"/>
                  <a:t>x = 18 hours, z = 24 hours</a:t>
                </a:r>
              </a:p>
              <a:p>
                <a:pPr algn="just"/>
                <a:r>
                  <a:rPr lang="en-US" sz="2800" dirty="0"/>
                  <a:t>y = 12 </a:t>
                </a:r>
                <a:r>
                  <a:rPr lang="en-US" sz="2800" dirty="0" err="1"/>
                  <a:t>litres</a:t>
                </a:r>
                <a:r>
                  <a:rPr lang="en-US" sz="2800" dirty="0"/>
                  <a:t>/min. = 12 x 60 </a:t>
                </a:r>
                <a:r>
                  <a:rPr lang="en-US" sz="2800" dirty="0" err="1"/>
                  <a:t>litres</a:t>
                </a:r>
                <a:r>
                  <a:rPr lang="en-US" sz="2800" dirty="0"/>
                  <a:t>/</a:t>
                </a:r>
                <a:r>
                  <a:rPr lang="en-US" sz="2800" dirty="0" err="1"/>
                  <a:t>hrs</a:t>
                </a:r>
                <a:r>
                  <a:rPr lang="en-US" sz="2800" dirty="0"/>
                  <a:t> = 720 </a:t>
                </a:r>
                <a:r>
                  <a:rPr lang="en-US" sz="2800" dirty="0" err="1"/>
                  <a:t>litres</a:t>
                </a:r>
                <a:r>
                  <a:rPr lang="en-US" sz="2800" dirty="0"/>
                  <a:t>/</a:t>
                </a:r>
                <a:r>
                  <a:rPr lang="en-US" sz="2800" dirty="0" err="1"/>
                  <a:t>hrs</a:t>
                </a:r>
                <a:endParaRPr lang="en-US" sz="2800" dirty="0"/>
              </a:p>
              <a:p>
                <a:r>
                  <a:rPr lang="en-US" sz="2800" dirty="0"/>
                  <a:t>LCM of 18 and 24 = 72 (Total Capacity)</a:t>
                </a:r>
              </a:p>
              <a:p>
                <a:pPr marL="0" indent="0" algn="just">
                  <a:buNone/>
                </a:pPr>
                <a:r>
                  <a:rPr lang="en-US" sz="2800" dirty="0">
                    <a:solidFill>
                      <a:srgbClr val="836967"/>
                    </a:solidFill>
                  </a:rPr>
                  <a:t>		</a:t>
                </a:r>
                <a14:m>
                  <m:oMath xmlns:m="http://schemas.openxmlformats.org/officeDocument/2006/math">
                    <m:f>
                      <m:fPr>
                        <m:ctrlPr>
                          <a:rPr lang="en-US" sz="2800" i="1" smtClean="0">
                            <a:solidFill>
                              <a:srgbClr val="836967"/>
                            </a:solidFill>
                            <a:latin typeface="Cambria Math" panose="02040503050406030204" pitchFamily="18" charset="0"/>
                          </a:rPr>
                        </m:ctrlPr>
                      </m:fPr>
                      <m:num>
                        <m:r>
                          <m:rPr>
                            <m:nor/>
                          </m:rPr>
                          <a:rPr lang="en-US" sz="2800" b="0" i="0" dirty="0" smtClean="0"/>
                          <m:t>7</m:t>
                        </m:r>
                        <m:r>
                          <m:rPr>
                            <m:nor/>
                          </m:rPr>
                          <a:rPr lang="en-US" sz="2800" dirty="0"/>
                          <m:t>2</m:t>
                        </m:r>
                      </m:num>
                      <m:den>
                        <m:r>
                          <m:rPr>
                            <m:nor/>
                          </m:rPr>
                          <a:rPr lang="en-US" sz="2800" b="0" i="0" dirty="0" smtClean="0">
                            <a:latin typeface="Cambria Math" panose="02040503050406030204" pitchFamily="18" charset="0"/>
                          </a:rPr>
                          <m:t> −</m:t>
                        </m:r>
                        <m:r>
                          <m:rPr>
                            <m:nor/>
                          </m:rPr>
                          <a:rPr lang="en-US" sz="2800" b="0" i="0" dirty="0" smtClean="0"/>
                          <m:t>18</m:t>
                        </m:r>
                        <m:r>
                          <m:rPr>
                            <m:nor/>
                          </m:rPr>
                          <a:rPr lang="en-IN" sz="2800" dirty="0"/>
                          <m:t> </m:t>
                        </m:r>
                      </m:den>
                    </m:f>
                    <m:r>
                      <a:rPr lang="en-IN" sz="2800" i="1" dirty="0">
                        <a:latin typeface="Cambria Math" panose="02040503050406030204" pitchFamily="18" charset="0"/>
                      </a:rPr>
                      <m:t> </m:t>
                    </m:r>
                  </m:oMath>
                </a14:m>
                <a:r>
                  <a:rPr lang="en-US" sz="2800" dirty="0"/>
                  <a:t>= -4	 &amp;	 </a:t>
                </a:r>
                <a14:m>
                  <m:oMath xmlns:m="http://schemas.openxmlformats.org/officeDocument/2006/math">
                    <m:f>
                      <m:fPr>
                        <m:ctrlPr>
                          <a:rPr lang="en-US" sz="2800" i="1" smtClean="0">
                            <a:solidFill>
                              <a:srgbClr val="836967"/>
                            </a:solidFill>
                            <a:latin typeface="Cambria Math" panose="02040503050406030204" pitchFamily="18" charset="0"/>
                          </a:rPr>
                        </m:ctrlPr>
                      </m:fPr>
                      <m:num>
                        <m:r>
                          <m:rPr>
                            <m:nor/>
                          </m:rPr>
                          <a:rPr lang="en-US" sz="2800" b="0" i="0" dirty="0" smtClean="0"/>
                          <m:t>7</m:t>
                        </m:r>
                        <m:r>
                          <m:rPr>
                            <m:nor/>
                          </m:rPr>
                          <a:rPr lang="en-US" sz="2800" dirty="0"/>
                          <m:t>2</m:t>
                        </m:r>
                      </m:num>
                      <m:den>
                        <m:r>
                          <m:rPr>
                            <m:nor/>
                          </m:rPr>
                          <a:rPr lang="en-US" sz="2800" b="0" i="0" dirty="0" smtClean="0">
                            <a:latin typeface="Cambria Math" panose="02040503050406030204" pitchFamily="18" charset="0"/>
                          </a:rPr>
                          <m:t> −</m:t>
                        </m:r>
                        <m:r>
                          <m:rPr>
                            <m:nor/>
                          </m:rPr>
                          <a:rPr lang="en-US" sz="2800" b="0" i="0" dirty="0" smtClean="0"/>
                          <m:t>24</m:t>
                        </m:r>
                        <m:r>
                          <m:rPr>
                            <m:nor/>
                          </m:rPr>
                          <a:rPr lang="en-IN" sz="2800" dirty="0"/>
                          <m:t> </m:t>
                        </m:r>
                      </m:den>
                    </m:f>
                  </m:oMath>
                </a14:m>
                <a:r>
                  <a:rPr lang="en-US" sz="2800" dirty="0"/>
                  <a:t> = -3</a:t>
                </a:r>
              </a:p>
              <a:p>
                <a:r>
                  <a:rPr lang="en-US" sz="2800" dirty="0"/>
                  <a:t>Capacity of cistern 	= 72y = 72 (720)</a:t>
                </a:r>
              </a:p>
              <a:p>
                <a:pPr marL="0" indent="0">
                  <a:buNone/>
                </a:pPr>
                <a:r>
                  <a:rPr lang="en-US" sz="2800" dirty="0"/>
                  <a:t>				= 51840 </a:t>
                </a:r>
                <a:r>
                  <a:rPr lang="en-US" sz="2800" dirty="0" err="1"/>
                  <a:t>litres</a:t>
                </a:r>
                <a:endParaRPr lang="en-US" sz="2800" dirty="0"/>
              </a:p>
              <a:p>
                <a:endParaRPr lang="en-US" sz="2800" dirty="0"/>
              </a:p>
              <a:p>
                <a:endParaRPr lang="en-US" sz="2800" dirty="0"/>
              </a:p>
              <a:p>
                <a:endParaRPr lang="en-IN" dirty="0"/>
              </a:p>
            </p:txBody>
          </p:sp>
        </mc:Choice>
        <mc:Fallback xmlns="">
          <p:sp>
            <p:nvSpPr>
              <p:cNvPr id="3" name="Content Placeholder 2">
                <a:extLst>
                  <a:ext uri="{FF2B5EF4-FFF2-40B4-BE49-F238E27FC236}">
                    <a16:creationId xmlns:a16="http://schemas.microsoft.com/office/drawing/2014/main" id="{BEDFC5A0-E18A-19C4-F249-1BC467519FC5}"/>
                  </a:ext>
                </a:extLst>
              </p:cNvPr>
              <p:cNvSpPr>
                <a:spLocks noGrp="1" noRot="1" noChangeAspect="1" noMove="1" noResize="1" noEditPoints="1" noAdjustHandles="1" noChangeArrowheads="1" noChangeShapeType="1" noTextEdit="1"/>
              </p:cNvSpPr>
              <p:nvPr>
                <p:ph idx="1"/>
              </p:nvPr>
            </p:nvSpPr>
            <p:spPr>
              <a:blipFill>
                <a:blip r:embed="rId2"/>
                <a:stretch>
                  <a:fillRect l="-1278" r="-497"/>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D6792DE6-F241-7D92-7EFF-EFD420AF0471}"/>
              </a:ext>
            </a:extLst>
          </p:cNvPr>
          <p:cNvCxnSpPr/>
          <p:nvPr/>
        </p:nvCxnSpPr>
        <p:spPr>
          <a:xfrm flipV="1">
            <a:off x="2427216" y="399573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5E8C326-45F8-D592-9B66-169ADC0C7246}"/>
              </a:ext>
            </a:extLst>
          </p:cNvPr>
          <p:cNvCxnSpPr/>
          <p:nvPr/>
        </p:nvCxnSpPr>
        <p:spPr>
          <a:xfrm flipV="1">
            <a:off x="2526607" y="439726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EB973D6-1EFB-E531-B468-F16347B731B4}"/>
              </a:ext>
            </a:extLst>
          </p:cNvPr>
          <p:cNvSpPr txBox="1"/>
          <p:nvPr/>
        </p:nvSpPr>
        <p:spPr>
          <a:xfrm>
            <a:off x="2481411" y="3551270"/>
            <a:ext cx="378630" cy="369332"/>
          </a:xfrm>
          <a:prstGeom prst="rect">
            <a:avLst/>
          </a:prstGeom>
          <a:noFill/>
        </p:spPr>
        <p:txBody>
          <a:bodyPr wrap="none" rtlCol="0">
            <a:spAutoFit/>
          </a:bodyPr>
          <a:lstStyle/>
          <a:p>
            <a:r>
              <a:rPr lang="en-US" dirty="0"/>
              <a:t>4 </a:t>
            </a:r>
            <a:endParaRPr lang="en-IN" dirty="0"/>
          </a:p>
        </p:txBody>
      </p:sp>
      <p:cxnSp>
        <p:nvCxnSpPr>
          <p:cNvPr id="9" name="Straight Connector 8">
            <a:extLst>
              <a:ext uri="{FF2B5EF4-FFF2-40B4-BE49-F238E27FC236}">
                <a16:creationId xmlns:a16="http://schemas.microsoft.com/office/drawing/2014/main" id="{8FADD9CB-FC71-5916-E24D-1A5804710247}"/>
              </a:ext>
            </a:extLst>
          </p:cNvPr>
          <p:cNvCxnSpPr/>
          <p:nvPr/>
        </p:nvCxnSpPr>
        <p:spPr>
          <a:xfrm flipV="1">
            <a:off x="5288030" y="399573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D749CE-7501-7C3D-6C47-A1526BA33F65}"/>
              </a:ext>
            </a:extLst>
          </p:cNvPr>
          <p:cNvCxnSpPr/>
          <p:nvPr/>
        </p:nvCxnSpPr>
        <p:spPr>
          <a:xfrm flipV="1">
            <a:off x="5387421" y="4397266"/>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1DE0FDC-F402-620E-6C3F-814DCAA60A78}"/>
              </a:ext>
            </a:extLst>
          </p:cNvPr>
          <p:cNvSpPr txBox="1"/>
          <p:nvPr/>
        </p:nvSpPr>
        <p:spPr>
          <a:xfrm>
            <a:off x="5342225" y="3551270"/>
            <a:ext cx="378630" cy="369332"/>
          </a:xfrm>
          <a:prstGeom prst="rect">
            <a:avLst/>
          </a:prstGeom>
          <a:noFill/>
        </p:spPr>
        <p:txBody>
          <a:bodyPr wrap="none" rtlCol="0">
            <a:spAutoFit/>
          </a:bodyPr>
          <a:lstStyle/>
          <a:p>
            <a:r>
              <a:rPr lang="en-US" dirty="0"/>
              <a:t>3 </a:t>
            </a:r>
            <a:endParaRPr lang="en-IN" dirty="0"/>
          </a:p>
        </p:txBody>
      </p:sp>
    </p:spTree>
    <p:extLst>
      <p:ext uri="{BB962C8B-B14F-4D97-AF65-F5344CB8AC3E}">
        <p14:creationId xmlns:p14="http://schemas.microsoft.com/office/powerpoint/2010/main" val="2611999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9</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An inlet A fills a cistern 5 times faster than the second inlet B. If inlet B can fill a cistern in 42 minutes, then find the time when the cistern will be full if both the inlets are opened together. </a:t>
                </a:r>
              </a:p>
              <a:p>
                <a:pPr algn="just"/>
                <a:r>
                  <a:rPr lang="en-US" dirty="0"/>
                  <a:t>m = 5</a:t>
                </a:r>
              </a:p>
              <a:p>
                <a:pPr algn="just"/>
                <a:r>
                  <a:rPr lang="en-US" dirty="0"/>
                  <a:t>x = 42 minutes</a:t>
                </a:r>
              </a:p>
              <a:p>
                <a:pPr algn="just"/>
                <a:r>
                  <a:rPr lang="en-US" dirty="0"/>
                  <a:t>If both the inlets A &amp; B are opened together then the time taken to fill the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num>
                      <m:den>
                        <m:r>
                          <m:rPr>
                            <m:nor/>
                          </m:rPr>
                          <a:rPr lang="en-IN" dirty="0"/>
                          <m:t>m</m:t>
                        </m:r>
                        <m:r>
                          <m:rPr>
                            <m:nor/>
                          </m:rPr>
                          <a:rPr lang="en-IN" dirty="0"/>
                          <m:t> + 1</m:t>
                        </m:r>
                      </m:den>
                    </m:f>
                  </m:oMath>
                </a14:m>
                <a:r>
                  <a:rPr lang="en-US" dirty="0"/>
                  <a:t>  hours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127614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9</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m = 5 and x = 42 minutes</a:t>
                </a:r>
              </a:p>
              <a:p>
                <a:pPr algn="just"/>
                <a:r>
                  <a:rPr lang="en-US" dirty="0"/>
                  <a:t>If both the inlets A &amp; B are opened together then the time taken to fill the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num>
                      <m:den>
                        <m:r>
                          <m:rPr>
                            <m:nor/>
                          </m:rPr>
                          <a:rPr lang="en-IN" dirty="0"/>
                          <m:t>m</m:t>
                        </m:r>
                        <m:r>
                          <m:rPr>
                            <m:nor/>
                          </m:rPr>
                          <a:rPr lang="en-IN" dirty="0"/>
                          <m:t> + 1</m:t>
                        </m:r>
                      </m:den>
                    </m:f>
                  </m:oMath>
                </a14:m>
                <a:r>
                  <a:rPr lang="en-US" dirty="0"/>
                  <a:t> minutes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42</m:t>
                        </m:r>
                      </m:num>
                      <m:den>
                        <m:r>
                          <m:rPr>
                            <m:nor/>
                          </m:rPr>
                          <a:rPr lang="en-US" b="0" i="0" dirty="0" smtClean="0"/>
                          <m:t>5</m:t>
                        </m:r>
                        <m:r>
                          <m:rPr>
                            <m:nor/>
                          </m:rPr>
                          <a:rPr lang="en-IN" dirty="0"/>
                          <m:t> + 1</m:t>
                        </m:r>
                      </m:den>
                    </m:f>
                  </m:oMath>
                </a14:m>
                <a:r>
                  <a:rPr lang="en-US" dirty="0"/>
                  <a:t> minutes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42</m:t>
                        </m:r>
                      </m:num>
                      <m:den>
                        <m:r>
                          <m:rPr>
                            <m:nor/>
                          </m:rPr>
                          <a:rPr lang="en-US" b="0" i="0" dirty="0" smtClean="0"/>
                          <m:t>6</m:t>
                        </m:r>
                      </m:den>
                    </m:f>
                  </m:oMath>
                </a14:m>
                <a:r>
                  <a:rPr lang="en-US" dirty="0"/>
                  <a:t> minutes</a:t>
                </a:r>
              </a:p>
              <a:p>
                <a:pPr marL="0" indent="0" algn="just">
                  <a:buNone/>
                </a:pPr>
                <a:r>
                  <a:rPr lang="en-US" dirty="0"/>
                  <a:t>			= </a:t>
                </a:r>
                <a14:m>
                  <m:oMath xmlns:m="http://schemas.openxmlformats.org/officeDocument/2006/math">
                    <m:r>
                      <m:rPr>
                        <m:nor/>
                      </m:rPr>
                      <a:rPr lang="en-US" b="0" i="0" dirty="0" smtClean="0"/>
                      <m:t>7</m:t>
                    </m:r>
                    <m:r>
                      <a:rPr lang="en-US" i="1" dirty="0">
                        <a:latin typeface="Cambria Math" panose="02040503050406030204" pitchFamily="18" charset="0"/>
                      </a:rPr>
                      <m:t> </m:t>
                    </m:r>
                  </m:oMath>
                </a14:m>
                <a:r>
                  <a:rPr lang="en-US"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5BDAC11A-8E66-5305-0BF8-EADF28E70BDD}"/>
              </a:ext>
            </a:extLst>
          </p:cNvPr>
          <p:cNvCxnSpPr/>
          <p:nvPr/>
        </p:nvCxnSpPr>
        <p:spPr>
          <a:xfrm flipV="1">
            <a:off x="3450947" y="508324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9BFCFDA-4FA6-BB9F-4CF2-05FC435CD369}"/>
              </a:ext>
            </a:extLst>
          </p:cNvPr>
          <p:cNvCxnSpPr/>
          <p:nvPr/>
        </p:nvCxnSpPr>
        <p:spPr>
          <a:xfrm flipV="1">
            <a:off x="3450947" y="5428422"/>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B77191-C878-FE7F-233A-3754B2A2EEDC}"/>
              </a:ext>
            </a:extLst>
          </p:cNvPr>
          <p:cNvSpPr txBox="1"/>
          <p:nvPr/>
        </p:nvSpPr>
        <p:spPr>
          <a:xfrm>
            <a:off x="3465383" y="4747173"/>
            <a:ext cx="362600" cy="369332"/>
          </a:xfrm>
          <a:prstGeom prst="rect">
            <a:avLst/>
          </a:prstGeom>
          <a:noFill/>
        </p:spPr>
        <p:txBody>
          <a:bodyPr wrap="none" rtlCol="0">
            <a:spAutoFit/>
          </a:bodyPr>
          <a:lstStyle/>
          <a:p>
            <a:r>
              <a:rPr lang="en-US" dirty="0"/>
              <a:t>7 </a:t>
            </a:r>
            <a:endParaRPr lang="en-IN" dirty="0"/>
          </a:p>
        </p:txBody>
      </p:sp>
    </p:spTree>
    <p:extLst>
      <p:ext uri="{BB962C8B-B14F-4D97-AF65-F5344CB8AC3E}">
        <p14:creationId xmlns:p14="http://schemas.microsoft.com/office/powerpoint/2010/main" val="1215194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An inlet A fills a cistern 5 times faster than the second inlet B. If inlet A can fill a cistern in 42 minutes, then find the time when the cistern will be full if both the inlets are opened together. </a:t>
                </a:r>
              </a:p>
              <a:p>
                <a:pPr algn="just"/>
                <a:r>
                  <a:rPr lang="en-US" dirty="0"/>
                  <a:t>m = 5</a:t>
                </a:r>
              </a:p>
              <a:p>
                <a:pPr algn="just"/>
                <a:r>
                  <a:rPr lang="en-US" dirty="0"/>
                  <a:t>y = 42 minutes</a:t>
                </a:r>
              </a:p>
              <a:p>
                <a:pPr algn="just"/>
                <a:r>
                  <a:rPr lang="en-US" dirty="0"/>
                  <a:t>If both the inlets A &amp; B are opened together then the time taken to fill the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m:t>
                        </m:r>
                      </m:num>
                      <m:den>
                        <m:r>
                          <m:rPr>
                            <m:nor/>
                          </m:rPr>
                          <a:rPr lang="en-IN" dirty="0"/>
                          <m:t>m</m:t>
                        </m:r>
                        <m:r>
                          <m:rPr>
                            <m:nor/>
                          </m:rPr>
                          <a:rPr lang="en-IN" dirty="0"/>
                          <m:t> + 1</m:t>
                        </m:r>
                      </m:den>
                    </m:f>
                  </m:oMath>
                </a14:m>
                <a:r>
                  <a:rPr lang="en-US" dirty="0"/>
                  <a:t>}y  hours</a:t>
                </a:r>
                <a:endParaRPr lang="en-US" i="1" dirty="0">
                  <a:solidFill>
                    <a:srgbClr val="836967"/>
                  </a:solidFill>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1789781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10</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m = 5 and y = 42 minutes</a:t>
                </a:r>
              </a:p>
              <a:p>
                <a:pPr algn="just"/>
                <a:r>
                  <a:rPr lang="en-US" dirty="0"/>
                  <a:t>If both the inlets A &amp; B are opened together then the time taken to fill the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m:t>
                        </m:r>
                        <m:r>
                          <m:rPr>
                            <m:nor/>
                          </m:rPr>
                          <a:rPr lang="en-US" b="0" i="0" dirty="0" smtClean="0"/>
                          <m:t> </m:t>
                        </m:r>
                        <m:r>
                          <m:rPr>
                            <m:nor/>
                          </m:rPr>
                          <a:rPr lang="en-US" b="0" i="0" dirty="0" smtClean="0"/>
                          <m:t>x</m:t>
                        </m:r>
                        <m:r>
                          <m:rPr>
                            <m:nor/>
                          </m:rPr>
                          <a:rPr lang="en-US" b="0" i="0" dirty="0" smtClean="0"/>
                          <m:t> </m:t>
                        </m:r>
                        <m:r>
                          <m:rPr>
                            <m:nor/>
                          </m:rPr>
                          <a:rPr lang="en-US" dirty="0"/>
                          <m:t>y</m:t>
                        </m:r>
                      </m:num>
                      <m:den>
                        <m:r>
                          <m:rPr>
                            <m:nor/>
                          </m:rPr>
                          <a:rPr lang="en-IN" dirty="0"/>
                          <m:t>m</m:t>
                        </m:r>
                        <m:r>
                          <m:rPr>
                            <m:nor/>
                          </m:rPr>
                          <a:rPr lang="en-IN" dirty="0"/>
                          <m:t> + 1</m:t>
                        </m:r>
                      </m:den>
                    </m:f>
                  </m:oMath>
                </a14:m>
                <a:r>
                  <a:rPr lang="en-US" dirty="0"/>
                  <a:t> hours</a:t>
                </a:r>
                <a:endParaRPr lang="en-US" i="1" dirty="0">
                  <a:solidFill>
                    <a:srgbClr val="836967"/>
                  </a:solidFill>
                  <a:latin typeface="Cambria Math" panose="02040503050406030204" pitchFamily="18" charset="0"/>
                </a:endParaRP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5</m:t>
                        </m:r>
                        <m:r>
                          <m:rPr>
                            <m:nor/>
                          </m:rPr>
                          <a:rPr lang="en-US" b="0" i="0" dirty="0" smtClean="0"/>
                          <m:t> </m:t>
                        </m:r>
                        <m:r>
                          <m:rPr>
                            <m:nor/>
                          </m:rPr>
                          <a:rPr lang="en-US" b="0" i="0" dirty="0" smtClean="0"/>
                          <m:t>x</m:t>
                        </m:r>
                        <m:r>
                          <m:rPr>
                            <m:nor/>
                          </m:rPr>
                          <a:rPr lang="en-US" b="0" i="0" dirty="0" smtClean="0"/>
                          <m:t> 42</m:t>
                        </m:r>
                      </m:num>
                      <m:den>
                        <m:r>
                          <m:rPr>
                            <m:nor/>
                          </m:rPr>
                          <a:rPr lang="en-US" b="0" i="0" dirty="0" smtClean="0"/>
                          <m:t>5</m:t>
                        </m:r>
                        <m:r>
                          <m:rPr>
                            <m:nor/>
                          </m:rPr>
                          <a:rPr lang="en-IN" dirty="0"/>
                          <m:t> + 1</m:t>
                        </m:r>
                      </m:den>
                    </m:f>
                  </m:oMath>
                </a14:m>
                <a:r>
                  <a:rPr lang="en-US" dirty="0"/>
                  <a:t> minutes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5 </m:t>
                        </m:r>
                        <m:r>
                          <m:rPr>
                            <m:nor/>
                          </m:rPr>
                          <a:rPr lang="en-US" dirty="0"/>
                          <m:t>x</m:t>
                        </m:r>
                        <m:r>
                          <m:rPr>
                            <m:nor/>
                          </m:rPr>
                          <a:rPr lang="en-US" dirty="0"/>
                          <m:t> 42</m:t>
                        </m:r>
                      </m:num>
                      <m:den>
                        <m:r>
                          <m:rPr>
                            <m:nor/>
                          </m:rPr>
                          <a:rPr lang="en-US" b="0" i="0" dirty="0" smtClean="0"/>
                          <m:t>6</m:t>
                        </m:r>
                      </m:den>
                    </m:f>
                  </m:oMath>
                </a14:m>
                <a:r>
                  <a:rPr lang="en-US" dirty="0"/>
                  <a:t> minutes</a:t>
                </a:r>
              </a:p>
              <a:p>
                <a:pPr marL="0" indent="0" algn="just">
                  <a:buNone/>
                </a:pPr>
                <a:r>
                  <a:rPr lang="en-US" dirty="0"/>
                  <a:t>			= </a:t>
                </a:r>
                <a14:m>
                  <m:oMath xmlns:m="http://schemas.openxmlformats.org/officeDocument/2006/math">
                    <m:r>
                      <m:rPr>
                        <m:nor/>
                      </m:rPr>
                      <a:rPr lang="en-US" b="0" i="0" dirty="0" smtClean="0"/>
                      <m:t>35</m:t>
                    </m:r>
                    <m:r>
                      <a:rPr lang="en-US" i="1" dirty="0">
                        <a:latin typeface="Cambria Math" panose="02040503050406030204" pitchFamily="18" charset="0"/>
                      </a:rPr>
                      <m:t> </m:t>
                    </m:r>
                  </m:oMath>
                </a14:m>
                <a:r>
                  <a:rPr lang="en-US"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5BDAC11A-8E66-5305-0BF8-EADF28E70BDD}"/>
              </a:ext>
            </a:extLst>
          </p:cNvPr>
          <p:cNvCxnSpPr/>
          <p:nvPr/>
        </p:nvCxnSpPr>
        <p:spPr>
          <a:xfrm flipV="1">
            <a:off x="3957843" y="510349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9BFCFDA-4FA6-BB9F-4CF2-05FC435CD369}"/>
              </a:ext>
            </a:extLst>
          </p:cNvPr>
          <p:cNvCxnSpPr/>
          <p:nvPr/>
        </p:nvCxnSpPr>
        <p:spPr>
          <a:xfrm flipV="1">
            <a:off x="3704395" y="546817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B77191-C878-FE7F-233A-3754B2A2EEDC}"/>
              </a:ext>
            </a:extLst>
          </p:cNvPr>
          <p:cNvSpPr txBox="1"/>
          <p:nvPr/>
        </p:nvSpPr>
        <p:spPr>
          <a:xfrm>
            <a:off x="4211291" y="4734166"/>
            <a:ext cx="362600" cy="369332"/>
          </a:xfrm>
          <a:prstGeom prst="rect">
            <a:avLst/>
          </a:prstGeom>
          <a:noFill/>
        </p:spPr>
        <p:txBody>
          <a:bodyPr wrap="none" rtlCol="0">
            <a:spAutoFit/>
          </a:bodyPr>
          <a:lstStyle/>
          <a:p>
            <a:r>
              <a:rPr lang="en-US" dirty="0"/>
              <a:t>7 </a:t>
            </a:r>
            <a:endParaRPr lang="en-IN" dirty="0"/>
          </a:p>
        </p:txBody>
      </p:sp>
    </p:spTree>
    <p:extLst>
      <p:ext uri="{BB962C8B-B14F-4D97-AF65-F5344CB8AC3E}">
        <p14:creationId xmlns:p14="http://schemas.microsoft.com/office/powerpoint/2010/main" val="3483767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An inlet A fills a cistern 5 times faster than the second inlet B. If inlet A takes 48 minutes less than the inlet B to fill a cistern. Find the time to fill the cistern completely if both the inlets are opened together. </a:t>
                </a:r>
              </a:p>
              <a:p>
                <a:pPr algn="just"/>
                <a:r>
                  <a:rPr lang="en-US" dirty="0"/>
                  <a:t>m = 5</a:t>
                </a:r>
              </a:p>
              <a:p>
                <a:pPr algn="just"/>
                <a:r>
                  <a:rPr lang="en-US" dirty="0"/>
                  <a:t>x = 48 minutes</a:t>
                </a:r>
              </a:p>
              <a:p>
                <a:pPr algn="just"/>
                <a:r>
                  <a:rPr lang="en-US" dirty="0"/>
                  <a:t>If both the inlets A &amp; B are opened together then the time taken to fill the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m:t>
                        </m:r>
                        <m:r>
                          <m:rPr>
                            <m:nor/>
                          </m:rPr>
                          <a:rPr lang="en-US" dirty="0"/>
                          <m:t>x</m:t>
                        </m:r>
                      </m:num>
                      <m:den>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r>
                                  <m:rPr>
                                    <m:nor/>
                                  </m:rPr>
                                  <a:rPr lang="en-IN" dirty="0"/>
                                  <m:t>m</m:t>
                                </m:r>
                                <m:r>
                                  <m:rPr>
                                    <m:nor/>
                                  </m:rPr>
                                  <a:rPr lang="en-IN" dirty="0"/>
                                  <m:t> − 1</m:t>
                                </m:r>
                              </m:e>
                            </m:d>
                          </m:e>
                          <m:sup>
                            <m:r>
                              <a:rPr lang="en-US" dirty="0">
                                <a:latin typeface="Cambria Math" panose="02040503050406030204" pitchFamily="18" charset="0"/>
                              </a:rPr>
                              <m:t>2</m:t>
                            </m:r>
                          </m:sup>
                        </m:sSup>
                      </m:den>
                    </m:f>
                  </m:oMath>
                </a14:m>
                <a:r>
                  <a:rPr lang="en-US" dirty="0"/>
                  <a:t>  hours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3272080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m = 5 and x = 48 minutes</a:t>
                </a:r>
              </a:p>
              <a:p>
                <a:pPr algn="just"/>
                <a:r>
                  <a:rPr lang="en-US" dirty="0"/>
                  <a:t>If both the inlets A &amp; B are opened together then the time taken to fill the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m:t>
                        </m:r>
                        <m:r>
                          <m:rPr>
                            <m:nor/>
                          </m:rPr>
                          <a:rPr lang="en-US" dirty="0"/>
                          <m:t>x</m:t>
                        </m:r>
                      </m:num>
                      <m:den>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r>
                                  <m:rPr>
                                    <m:nor/>
                                  </m:rPr>
                                  <a:rPr lang="en-IN" dirty="0"/>
                                  <m:t>m</m:t>
                                </m:r>
                                <m:r>
                                  <m:rPr>
                                    <m:nor/>
                                  </m:rPr>
                                  <a:rPr lang="en-IN" dirty="0"/>
                                  <m:t> − 1</m:t>
                                </m:r>
                              </m:e>
                            </m:d>
                          </m:e>
                          <m:sup>
                            <m:r>
                              <a:rPr lang="en-US" dirty="0">
                                <a:latin typeface="Cambria Math" panose="02040503050406030204" pitchFamily="18" charset="0"/>
                              </a:rPr>
                              <m:t>2</m:t>
                            </m:r>
                          </m:sup>
                        </m:sSup>
                      </m:den>
                    </m:f>
                  </m:oMath>
                </a14:m>
                <a:r>
                  <a:rPr lang="en-US" dirty="0"/>
                  <a:t>  hours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5</m:t>
                        </m:r>
                        <m:r>
                          <m:rPr>
                            <m:nor/>
                          </m:rPr>
                          <a:rPr lang="en-US" b="0" i="0" dirty="0" smtClean="0"/>
                          <m:t> </m:t>
                        </m:r>
                        <m:r>
                          <m:rPr>
                            <m:nor/>
                          </m:rPr>
                          <a:rPr lang="en-US" b="0" i="0" dirty="0" smtClean="0"/>
                          <m:t>x</m:t>
                        </m:r>
                        <m:r>
                          <m:rPr>
                            <m:nor/>
                          </m:rPr>
                          <a:rPr lang="en-US" b="0" i="0" dirty="0" smtClean="0"/>
                          <m:t> 48</m:t>
                        </m:r>
                      </m:num>
                      <m:den>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r>
                                  <m:rPr>
                                    <m:nor/>
                                  </m:rPr>
                                  <a:rPr lang="en-US" b="0" i="0" dirty="0" smtClean="0"/>
                                  <m:t>5</m:t>
                                </m:r>
                                <m:r>
                                  <m:rPr>
                                    <m:nor/>
                                  </m:rPr>
                                  <a:rPr lang="en-IN" dirty="0"/>
                                  <m:t> − 1</m:t>
                                </m:r>
                              </m:e>
                            </m:d>
                          </m:e>
                          <m:sup>
                            <m:r>
                              <a:rPr lang="en-US" dirty="0">
                                <a:latin typeface="Cambria Math" panose="02040503050406030204" pitchFamily="18" charset="0"/>
                              </a:rPr>
                              <m:t>2</m:t>
                            </m:r>
                          </m:sup>
                        </m:sSup>
                      </m:den>
                    </m:f>
                  </m:oMath>
                </a14:m>
                <a:r>
                  <a:rPr lang="en-US" dirty="0"/>
                  <a:t> minutes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5 </m:t>
                        </m:r>
                        <m:r>
                          <m:rPr>
                            <m:nor/>
                          </m:rPr>
                          <a:rPr lang="en-US" dirty="0"/>
                          <m:t>x</m:t>
                        </m:r>
                        <m:r>
                          <m:rPr>
                            <m:nor/>
                          </m:rPr>
                          <a:rPr lang="en-US" dirty="0"/>
                          <m:t> 48</m:t>
                        </m:r>
                      </m:num>
                      <m:den>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r>
                                  <m:rPr>
                                    <m:nor/>
                                  </m:rPr>
                                  <a:rPr lang="en-US" b="0" i="0" dirty="0" smtClean="0"/>
                                  <m:t>4</m:t>
                                </m:r>
                              </m:e>
                            </m:d>
                          </m:e>
                          <m:sup>
                            <m:r>
                              <a:rPr lang="en-US" dirty="0">
                                <a:latin typeface="Cambria Math" panose="02040503050406030204" pitchFamily="18" charset="0"/>
                              </a:rPr>
                              <m:t>2</m:t>
                            </m:r>
                          </m:sup>
                        </m:sSup>
                      </m:den>
                    </m:f>
                  </m:oMath>
                </a14:m>
                <a:r>
                  <a:rPr lang="en-US" dirty="0"/>
                  <a:t> minutes</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5 </m:t>
                        </m:r>
                        <m:r>
                          <m:rPr>
                            <m:nor/>
                          </m:rPr>
                          <a:rPr lang="en-US" dirty="0"/>
                          <m:t>x</m:t>
                        </m:r>
                        <m:r>
                          <m:rPr>
                            <m:nor/>
                          </m:rPr>
                          <a:rPr lang="en-US" dirty="0"/>
                          <m:t> 48</m:t>
                        </m:r>
                      </m:num>
                      <m:den>
                        <m:r>
                          <m:rPr>
                            <m:nor/>
                          </m:rPr>
                          <a:rPr lang="en-US" b="0" i="0" dirty="0" smtClean="0"/>
                          <m:t>16</m:t>
                        </m:r>
                      </m:den>
                    </m:f>
                  </m:oMath>
                </a14:m>
                <a:r>
                  <a:rPr lang="en-US" dirty="0"/>
                  <a:t> minutes</a:t>
                </a:r>
              </a:p>
              <a:p>
                <a:pPr marL="0" indent="0" algn="just">
                  <a:buNone/>
                </a:pPr>
                <a:r>
                  <a:rPr lang="en-US" dirty="0"/>
                  <a:t>			= </a:t>
                </a:r>
                <a14:m>
                  <m:oMath xmlns:m="http://schemas.openxmlformats.org/officeDocument/2006/math">
                    <m:r>
                      <m:rPr>
                        <m:nor/>
                      </m:rPr>
                      <a:rPr lang="en-US" b="0" i="0" dirty="0" smtClean="0"/>
                      <m:t>15</m:t>
                    </m:r>
                    <m:r>
                      <a:rPr lang="en-US" i="1" dirty="0">
                        <a:latin typeface="Cambria Math" panose="02040503050406030204" pitchFamily="18" charset="0"/>
                      </a:rPr>
                      <m:t> </m:t>
                    </m:r>
                  </m:oMath>
                </a14:m>
                <a:r>
                  <a:rPr lang="en-US"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5BDAC11A-8E66-5305-0BF8-EADF28E70BDD}"/>
              </a:ext>
            </a:extLst>
          </p:cNvPr>
          <p:cNvCxnSpPr/>
          <p:nvPr/>
        </p:nvCxnSpPr>
        <p:spPr>
          <a:xfrm flipV="1">
            <a:off x="4017478" y="523688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9BFCFDA-4FA6-BB9F-4CF2-05FC435CD369}"/>
              </a:ext>
            </a:extLst>
          </p:cNvPr>
          <p:cNvCxnSpPr/>
          <p:nvPr/>
        </p:nvCxnSpPr>
        <p:spPr>
          <a:xfrm flipV="1">
            <a:off x="3724274" y="5599044"/>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B77191-C878-FE7F-233A-3754B2A2EEDC}"/>
              </a:ext>
            </a:extLst>
          </p:cNvPr>
          <p:cNvSpPr txBox="1"/>
          <p:nvPr/>
        </p:nvSpPr>
        <p:spPr>
          <a:xfrm>
            <a:off x="4524374" y="4961974"/>
            <a:ext cx="369012" cy="369332"/>
          </a:xfrm>
          <a:prstGeom prst="rect">
            <a:avLst/>
          </a:prstGeom>
          <a:noFill/>
        </p:spPr>
        <p:txBody>
          <a:bodyPr wrap="none" rtlCol="0">
            <a:spAutoFit/>
          </a:bodyPr>
          <a:lstStyle/>
          <a:p>
            <a:r>
              <a:rPr lang="en-US" dirty="0"/>
              <a:t>3 </a:t>
            </a:r>
            <a:endParaRPr lang="en-IN" dirty="0"/>
          </a:p>
        </p:txBody>
      </p:sp>
    </p:spTree>
    <p:extLst>
      <p:ext uri="{BB962C8B-B14F-4D97-AF65-F5344CB8AC3E}">
        <p14:creationId xmlns:p14="http://schemas.microsoft.com/office/powerpoint/2010/main" val="3827814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An inlet A fills a cistern 5 times faster than the second inlet B. If inlet A takes 48 minutes less than the inlet B to fill a cistern. Find the time taken by inlet A to fill the cistern completely. </a:t>
                </a:r>
              </a:p>
              <a:p>
                <a:pPr algn="just"/>
                <a:r>
                  <a:rPr lang="en-US" dirty="0"/>
                  <a:t>m = 5</a:t>
                </a:r>
              </a:p>
              <a:p>
                <a:pPr algn="just"/>
                <a:r>
                  <a:rPr lang="en-US" dirty="0"/>
                  <a:t>x = 48 minutes</a:t>
                </a:r>
              </a:p>
              <a:p>
                <a:pPr algn="just"/>
                <a:r>
                  <a:rPr lang="en-US" dirty="0"/>
                  <a:t>Time taken by inlet A to fill the cistern completely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num>
                      <m:den>
                        <m:r>
                          <m:rPr>
                            <m:nor/>
                          </m:rPr>
                          <a:rPr lang="en-IN" dirty="0"/>
                          <m:t>m</m:t>
                        </m:r>
                        <m:r>
                          <m:rPr>
                            <m:nor/>
                          </m:rPr>
                          <a:rPr lang="en-IN" dirty="0"/>
                          <m:t> − 1</m:t>
                        </m:r>
                      </m:den>
                    </m:f>
                  </m:oMath>
                </a14:m>
                <a:r>
                  <a:rPr lang="en-US" dirty="0"/>
                  <a:t>  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1093979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m = 5 and x = 48 minutes</a:t>
                </a:r>
              </a:p>
              <a:p>
                <a:pPr algn="just"/>
                <a:r>
                  <a:rPr lang="en-US" dirty="0"/>
                  <a:t>Time taken by inlet A to fill the cistern completely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num>
                      <m:den>
                        <m:r>
                          <m:rPr>
                            <m:nor/>
                          </m:rPr>
                          <a:rPr lang="en-IN" dirty="0"/>
                          <m:t>m</m:t>
                        </m:r>
                        <m:r>
                          <m:rPr>
                            <m:nor/>
                          </m:rPr>
                          <a:rPr lang="en-IN" dirty="0"/>
                          <m:t> − 1</m:t>
                        </m:r>
                      </m:den>
                    </m:f>
                  </m:oMath>
                </a14:m>
                <a:r>
                  <a:rPr lang="en-US" dirty="0"/>
                  <a:t>  minutes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48</m:t>
                        </m:r>
                      </m:num>
                      <m:den>
                        <m:r>
                          <m:rPr>
                            <m:nor/>
                          </m:rPr>
                          <a:rPr lang="en-US" b="0" i="0" dirty="0" smtClean="0"/>
                          <m:t>5</m:t>
                        </m:r>
                        <m:r>
                          <m:rPr>
                            <m:nor/>
                          </m:rPr>
                          <a:rPr lang="en-IN" dirty="0"/>
                          <m:t> − 1</m:t>
                        </m:r>
                      </m:den>
                    </m:f>
                  </m:oMath>
                </a14:m>
                <a:r>
                  <a:rPr lang="en-US" dirty="0"/>
                  <a:t> minutes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b="0" i="0" dirty="0" smtClean="0"/>
                          <m:t>48</m:t>
                        </m:r>
                      </m:num>
                      <m:den>
                        <m:r>
                          <m:rPr>
                            <m:nor/>
                          </m:rPr>
                          <a:rPr lang="en-US" b="0" i="0" dirty="0" smtClean="0"/>
                          <m:t>4</m:t>
                        </m:r>
                      </m:den>
                    </m:f>
                  </m:oMath>
                </a14:m>
                <a:r>
                  <a:rPr lang="en-US" dirty="0"/>
                  <a:t> minutes</a:t>
                </a:r>
              </a:p>
              <a:p>
                <a:pPr marL="0" indent="0" algn="just">
                  <a:buNone/>
                </a:pPr>
                <a:r>
                  <a:rPr lang="en-US" dirty="0"/>
                  <a:t>			= </a:t>
                </a:r>
                <a14:m>
                  <m:oMath xmlns:m="http://schemas.openxmlformats.org/officeDocument/2006/math">
                    <m:r>
                      <m:rPr>
                        <m:nor/>
                      </m:rPr>
                      <a:rPr lang="en-US" b="0" i="0" dirty="0" smtClean="0"/>
                      <m:t>12</m:t>
                    </m:r>
                    <m:r>
                      <a:rPr lang="en-US" i="1" dirty="0">
                        <a:latin typeface="Cambria Math" panose="02040503050406030204" pitchFamily="18" charset="0"/>
                      </a:rPr>
                      <m:t> </m:t>
                    </m:r>
                  </m:oMath>
                </a14:m>
                <a:r>
                  <a:rPr lang="en-US"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b="-226"/>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5BDAC11A-8E66-5305-0BF8-EADF28E70BDD}"/>
              </a:ext>
            </a:extLst>
          </p:cNvPr>
          <p:cNvCxnSpPr/>
          <p:nvPr/>
        </p:nvCxnSpPr>
        <p:spPr>
          <a:xfrm flipV="1">
            <a:off x="3490704" y="5217630"/>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9BFCFDA-4FA6-BB9F-4CF2-05FC435CD369}"/>
              </a:ext>
            </a:extLst>
          </p:cNvPr>
          <p:cNvCxnSpPr/>
          <p:nvPr/>
        </p:nvCxnSpPr>
        <p:spPr>
          <a:xfrm flipV="1">
            <a:off x="3495675" y="560304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B77191-C878-FE7F-233A-3754B2A2EEDC}"/>
              </a:ext>
            </a:extLst>
          </p:cNvPr>
          <p:cNvSpPr txBox="1"/>
          <p:nvPr/>
        </p:nvSpPr>
        <p:spPr>
          <a:xfrm>
            <a:off x="3571024" y="4786386"/>
            <a:ext cx="442750" cy="369332"/>
          </a:xfrm>
          <a:prstGeom prst="rect">
            <a:avLst/>
          </a:prstGeom>
          <a:noFill/>
        </p:spPr>
        <p:txBody>
          <a:bodyPr wrap="none" rtlCol="0">
            <a:spAutoFit/>
          </a:bodyPr>
          <a:lstStyle/>
          <a:p>
            <a:r>
              <a:rPr lang="en-US" dirty="0"/>
              <a:t>12 </a:t>
            </a:r>
            <a:endParaRPr lang="en-IN" dirty="0"/>
          </a:p>
        </p:txBody>
      </p:sp>
    </p:spTree>
    <p:extLst>
      <p:ext uri="{BB962C8B-B14F-4D97-AF65-F5344CB8AC3E}">
        <p14:creationId xmlns:p14="http://schemas.microsoft.com/office/powerpoint/2010/main" val="2077298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An inlet A fills a cistern 5 times faster than the second inlet B. If inlet A takes 48 minutes less than the inlet B to fill a cistern. Find the time taken by inlet B to fill the cistern completely. </a:t>
                </a:r>
              </a:p>
              <a:p>
                <a:pPr algn="just"/>
                <a:r>
                  <a:rPr lang="en-US" dirty="0"/>
                  <a:t>m = 5</a:t>
                </a:r>
              </a:p>
              <a:p>
                <a:pPr algn="just"/>
                <a:r>
                  <a:rPr lang="en-US" dirty="0"/>
                  <a:t>x = 48 minutes</a:t>
                </a:r>
              </a:p>
              <a:p>
                <a:pPr algn="just"/>
                <a:r>
                  <a:rPr lang="en-US" dirty="0"/>
                  <a:t>Time taken by inlet B to fill the cistern completely </a:t>
                </a:r>
              </a:p>
              <a:p>
                <a:pPr marL="0" indent="0" algn="just">
                  <a:buNone/>
                </a:pPr>
                <a:r>
                  <a:rPr lang="en-US" sz="2600" dirty="0"/>
                  <a:t>			= </a:t>
                </a:r>
                <a14:m>
                  <m:oMath xmlns:m="http://schemas.openxmlformats.org/officeDocument/2006/math">
                    <m:f>
                      <m:fPr>
                        <m:ctrlPr>
                          <a:rPr lang="en-US" sz="2600" i="1">
                            <a:solidFill>
                              <a:srgbClr val="836967"/>
                            </a:solidFill>
                            <a:latin typeface="Cambria Math" panose="02040503050406030204" pitchFamily="18" charset="0"/>
                          </a:rPr>
                        </m:ctrlPr>
                      </m:fPr>
                      <m:num>
                        <m:r>
                          <m:rPr>
                            <m:nor/>
                          </m:rPr>
                          <a:rPr lang="en-IN" sz="2600" dirty="0"/>
                          <m:t>mx</m:t>
                        </m:r>
                      </m:num>
                      <m:den>
                        <m:r>
                          <m:rPr>
                            <m:nor/>
                          </m:rPr>
                          <a:rPr lang="en-IN" sz="2600" dirty="0"/>
                          <m:t>m</m:t>
                        </m:r>
                        <m:r>
                          <m:rPr>
                            <m:nor/>
                          </m:rPr>
                          <a:rPr lang="en-IN" sz="2600" dirty="0"/>
                          <m:t> − 1</m:t>
                        </m:r>
                      </m:den>
                    </m:f>
                  </m:oMath>
                </a14:m>
                <a:r>
                  <a:rPr lang="en-US" sz="2600" dirty="0"/>
                  <a:t>  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1615270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m = 5 and x = 48 minutes</a:t>
                </a:r>
              </a:p>
              <a:p>
                <a:pPr algn="just"/>
                <a:r>
                  <a:rPr lang="en-US" dirty="0"/>
                  <a:t>Time taken by inlet B to fill the cistern completely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IN" dirty="0"/>
                          <m:t>mx</m:t>
                        </m:r>
                      </m:num>
                      <m:den>
                        <m:r>
                          <m:rPr>
                            <m:nor/>
                          </m:rPr>
                          <a:rPr lang="en-IN" dirty="0"/>
                          <m:t>m</m:t>
                        </m:r>
                        <m:r>
                          <m:rPr>
                            <m:nor/>
                          </m:rPr>
                          <a:rPr lang="en-IN" dirty="0"/>
                          <m:t> − 1</m:t>
                        </m:r>
                      </m:den>
                    </m:f>
                  </m:oMath>
                </a14:m>
                <a:r>
                  <a:rPr lang="en-US" dirty="0"/>
                  <a:t>  minutes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5</m:t>
                        </m:r>
                        <m:r>
                          <m:rPr>
                            <m:nor/>
                          </m:rPr>
                          <a:rPr lang="en-US" b="0" i="0" dirty="0" smtClean="0"/>
                          <m:t> </m:t>
                        </m:r>
                        <m:r>
                          <m:rPr>
                            <m:nor/>
                          </m:rPr>
                          <a:rPr lang="en-US" b="0" i="0" dirty="0" smtClean="0"/>
                          <m:t>x</m:t>
                        </m:r>
                        <m:r>
                          <m:rPr>
                            <m:nor/>
                          </m:rPr>
                          <a:rPr lang="en-US" b="0" i="0" dirty="0" smtClean="0"/>
                          <m:t> 48</m:t>
                        </m:r>
                      </m:num>
                      <m:den>
                        <m:r>
                          <m:rPr>
                            <m:nor/>
                          </m:rPr>
                          <a:rPr lang="en-US" b="0" i="0" dirty="0" smtClean="0"/>
                          <m:t>5</m:t>
                        </m:r>
                        <m:r>
                          <m:rPr>
                            <m:nor/>
                          </m:rPr>
                          <a:rPr lang="en-IN" dirty="0"/>
                          <m:t> − 1</m:t>
                        </m:r>
                      </m:den>
                    </m:f>
                  </m:oMath>
                </a14:m>
                <a:r>
                  <a:rPr lang="en-US" dirty="0"/>
                  <a:t> minutes </a:t>
                </a:r>
              </a:p>
              <a:p>
                <a:pPr marL="0" indent="0" algn="just">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5 </m:t>
                        </m:r>
                        <m:r>
                          <m:rPr>
                            <m:nor/>
                          </m:rPr>
                          <a:rPr lang="en-US" dirty="0"/>
                          <m:t>x</m:t>
                        </m:r>
                        <m:r>
                          <m:rPr>
                            <m:nor/>
                          </m:rPr>
                          <a:rPr lang="en-US" b="0" i="0" dirty="0" smtClean="0"/>
                          <m:t> 48</m:t>
                        </m:r>
                      </m:num>
                      <m:den>
                        <m:r>
                          <m:rPr>
                            <m:nor/>
                          </m:rPr>
                          <a:rPr lang="en-US" b="0" i="0" dirty="0" smtClean="0"/>
                          <m:t>4</m:t>
                        </m:r>
                      </m:den>
                    </m:f>
                  </m:oMath>
                </a14:m>
                <a:r>
                  <a:rPr lang="en-US" dirty="0"/>
                  <a:t> minutes</a:t>
                </a:r>
              </a:p>
              <a:p>
                <a:pPr marL="0" indent="0" algn="just">
                  <a:buNone/>
                </a:pPr>
                <a:r>
                  <a:rPr lang="en-US" dirty="0"/>
                  <a:t>			= </a:t>
                </a:r>
                <a14:m>
                  <m:oMath xmlns:m="http://schemas.openxmlformats.org/officeDocument/2006/math">
                    <m:r>
                      <m:rPr>
                        <m:nor/>
                      </m:rPr>
                      <a:rPr lang="en-US" b="0" i="0" dirty="0" smtClean="0"/>
                      <m:t>60</m:t>
                    </m:r>
                    <m:r>
                      <a:rPr lang="en-US" i="1" dirty="0">
                        <a:latin typeface="Cambria Math" panose="02040503050406030204" pitchFamily="18" charset="0"/>
                      </a:rPr>
                      <m:t> </m:t>
                    </m:r>
                  </m:oMath>
                </a14:m>
                <a:r>
                  <a:rPr lang="en-US" dirty="0"/>
                  <a:t>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b="-339"/>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5BDAC11A-8E66-5305-0BF8-EADF28E70BDD}"/>
              </a:ext>
            </a:extLst>
          </p:cNvPr>
          <p:cNvCxnSpPr/>
          <p:nvPr/>
        </p:nvCxnSpPr>
        <p:spPr>
          <a:xfrm flipV="1">
            <a:off x="4027417" y="5217630"/>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9BFCFDA-4FA6-BB9F-4CF2-05FC435CD369}"/>
              </a:ext>
            </a:extLst>
          </p:cNvPr>
          <p:cNvCxnSpPr/>
          <p:nvPr/>
        </p:nvCxnSpPr>
        <p:spPr>
          <a:xfrm flipV="1">
            <a:off x="3783907" y="5603047"/>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B77191-C878-FE7F-233A-3754B2A2EEDC}"/>
              </a:ext>
            </a:extLst>
          </p:cNvPr>
          <p:cNvSpPr txBox="1"/>
          <p:nvPr/>
        </p:nvSpPr>
        <p:spPr>
          <a:xfrm>
            <a:off x="4167373" y="4796325"/>
            <a:ext cx="442750" cy="369332"/>
          </a:xfrm>
          <a:prstGeom prst="rect">
            <a:avLst/>
          </a:prstGeom>
          <a:noFill/>
        </p:spPr>
        <p:txBody>
          <a:bodyPr wrap="none" rtlCol="0">
            <a:spAutoFit/>
          </a:bodyPr>
          <a:lstStyle/>
          <a:p>
            <a:r>
              <a:rPr lang="en-US" dirty="0"/>
              <a:t>12 </a:t>
            </a:r>
            <a:endParaRPr lang="en-IN" dirty="0"/>
          </a:p>
        </p:txBody>
      </p:sp>
    </p:spTree>
    <p:extLst>
      <p:ext uri="{BB962C8B-B14F-4D97-AF65-F5344CB8AC3E}">
        <p14:creationId xmlns:p14="http://schemas.microsoft.com/office/powerpoint/2010/main" val="3234399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a:bodyPr>
              <a:lstStyle/>
              <a:p>
                <a:pPr algn="just"/>
                <a:r>
                  <a:rPr lang="en-US" dirty="0"/>
                  <a:t>Two inlets A and B can fill a tank in 16 and 24 minutes respectively. If both the pipes are opened simultaneously, then find the time after which inlet B should be closed, so that the tank is full in 8 minutes. </a:t>
                </a:r>
              </a:p>
              <a:p>
                <a:pPr algn="just"/>
                <a:r>
                  <a:rPr lang="en-US" dirty="0"/>
                  <a:t>Time after which inlet B should be closed, so that the tank is full in t minutes i.e., </a:t>
                </a:r>
                <a14:m>
                  <m:oMath xmlns:m="http://schemas.openxmlformats.org/officeDocument/2006/math">
                    <m:r>
                      <m:rPr>
                        <m:nor/>
                      </m:rPr>
                      <a:rPr lang="en-US" dirty="0"/>
                      <m:t>T</m:t>
                    </m:r>
                    <m:r>
                      <m:rPr>
                        <m:nor/>
                      </m:rPr>
                      <a:rPr lang="en-US" dirty="0"/>
                      <m:t> = </m:t>
                    </m:r>
                    <m:r>
                      <m:rPr>
                        <m:nor/>
                      </m:rPr>
                      <a:rPr lang="en-US" dirty="0"/>
                      <m:t>y</m:t>
                    </m:r>
                    <m:r>
                      <m:rPr>
                        <m:nor/>
                      </m:rPr>
                      <a:rPr lang="en-US" dirty="0"/>
                      <m:t> { 1</m:t>
                    </m:r>
                    <m:r>
                      <m:rPr>
                        <m:nor/>
                      </m:rPr>
                      <a:rPr lang="en-IN" dirty="0"/>
                      <m:t> </m:t>
                    </m:r>
                    <m:r>
                      <m:rPr>
                        <m:nor/>
                      </m:rPr>
                      <a:rPr lang="en-US" dirty="0"/>
                      <m:t>−</m:t>
                    </m:r>
                    <m:f>
                      <m:fPr>
                        <m:ctrlPr>
                          <a:rPr lang="en-US" i="1">
                            <a:solidFill>
                              <a:srgbClr val="836967"/>
                            </a:solidFill>
                            <a:latin typeface="Cambria Math" panose="02040503050406030204" pitchFamily="18" charset="0"/>
                          </a:rPr>
                        </m:ctrlPr>
                      </m:fPr>
                      <m:num>
                        <m:r>
                          <m:rPr>
                            <m:nor/>
                          </m:rPr>
                          <a:rPr lang="en-US" dirty="0"/>
                          <m:t>t</m:t>
                        </m:r>
                      </m:num>
                      <m:den>
                        <m:r>
                          <m:rPr>
                            <m:nor/>
                          </m:rPr>
                          <a:rPr lang="en-US" dirty="0"/>
                          <m:t>x</m:t>
                        </m:r>
                      </m:den>
                    </m:f>
                  </m:oMath>
                </a14:m>
                <a:r>
                  <a:rPr lang="en-US" dirty="0"/>
                  <a:t> } minutes</a:t>
                </a:r>
                <a:r>
                  <a:rPr lang="en-US" sz="2600" dirty="0"/>
                  <a:t> </a:t>
                </a:r>
              </a:p>
              <a:p>
                <a:pPr algn="just"/>
                <a:r>
                  <a:rPr lang="en-US" dirty="0"/>
                  <a:t>x = 16,  y = 24, and t = 8</a:t>
                </a:r>
              </a:p>
              <a:p>
                <a:pPr algn="just"/>
                <a:endParaRPr lang="en-US" sz="2600"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spTree>
    <p:extLst>
      <p:ext uri="{BB962C8B-B14F-4D97-AF65-F5344CB8AC3E}">
        <p14:creationId xmlns:p14="http://schemas.microsoft.com/office/powerpoint/2010/main" val="2850815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Time after which inlet B should be closed, so that the tank is full in t minutes i.e., </a:t>
                </a:r>
                <a14:m>
                  <m:oMath xmlns:m="http://schemas.openxmlformats.org/officeDocument/2006/math">
                    <m:r>
                      <m:rPr>
                        <m:nor/>
                      </m:rPr>
                      <a:rPr lang="en-US" dirty="0"/>
                      <m:t>T</m:t>
                    </m:r>
                    <m:r>
                      <m:rPr>
                        <m:nor/>
                      </m:rPr>
                      <a:rPr lang="en-US" dirty="0"/>
                      <m:t> = </m:t>
                    </m:r>
                    <m:r>
                      <m:rPr>
                        <m:nor/>
                      </m:rPr>
                      <a:rPr lang="en-US" dirty="0"/>
                      <m:t>y</m:t>
                    </m:r>
                    <m:r>
                      <m:rPr>
                        <m:nor/>
                      </m:rPr>
                      <a:rPr lang="en-US" b="0" i="0" dirty="0" smtClean="0"/>
                      <m:t> </m:t>
                    </m:r>
                    <m:r>
                      <m:rPr>
                        <m:nor/>
                      </m:rPr>
                      <a:rPr lang="en-US" dirty="0"/>
                      <m:t>{</m:t>
                    </m:r>
                    <m:r>
                      <m:rPr>
                        <m:nor/>
                      </m:rPr>
                      <a:rPr lang="en-US" b="0" i="0" dirty="0" smtClean="0"/>
                      <m:t> </m:t>
                    </m:r>
                    <m:r>
                      <m:rPr>
                        <m:nor/>
                      </m:rPr>
                      <a:rPr lang="en-US" dirty="0"/>
                      <m:t>1</m:t>
                    </m:r>
                    <m:r>
                      <m:rPr>
                        <m:nor/>
                      </m:rPr>
                      <a:rPr lang="en-IN" dirty="0"/>
                      <m:t> </m:t>
                    </m:r>
                    <m:r>
                      <m:rPr>
                        <m:nor/>
                      </m:rPr>
                      <a:rPr lang="en-US" dirty="0"/>
                      <m:t>−</m:t>
                    </m:r>
                    <m:f>
                      <m:fPr>
                        <m:ctrlPr>
                          <a:rPr lang="en-US" i="1">
                            <a:solidFill>
                              <a:srgbClr val="836967"/>
                            </a:solidFill>
                            <a:latin typeface="Cambria Math" panose="02040503050406030204" pitchFamily="18" charset="0"/>
                          </a:rPr>
                        </m:ctrlPr>
                      </m:fPr>
                      <m:num>
                        <m:r>
                          <m:rPr>
                            <m:nor/>
                          </m:rPr>
                          <a:rPr lang="en-US" dirty="0"/>
                          <m:t>t</m:t>
                        </m:r>
                      </m:num>
                      <m:den>
                        <m:r>
                          <m:rPr>
                            <m:nor/>
                          </m:rPr>
                          <a:rPr lang="en-US" dirty="0"/>
                          <m:t>x</m:t>
                        </m:r>
                      </m:den>
                    </m:f>
                  </m:oMath>
                </a14:m>
                <a:r>
                  <a:rPr lang="en-US" dirty="0"/>
                  <a:t> } minutes </a:t>
                </a:r>
              </a:p>
              <a:p>
                <a:pPr marL="0" indent="0" algn="just">
                  <a:buNone/>
                </a:pPr>
                <a:r>
                  <a:rPr lang="en-US" dirty="0"/>
                  <a:t>			x = 16,  y = 24, and t = 8</a:t>
                </a:r>
              </a:p>
              <a:p>
                <a:pPr marL="0" indent="0" algn="just">
                  <a:lnSpc>
                    <a:spcPct val="110000"/>
                  </a:lnSpc>
                  <a:buNone/>
                </a:pPr>
                <a:r>
                  <a:rPr lang="en-US" dirty="0"/>
                  <a:t>			</a:t>
                </a:r>
                <a14:m>
                  <m:oMath xmlns:m="http://schemas.openxmlformats.org/officeDocument/2006/math">
                    <m:r>
                      <m:rPr>
                        <m:nor/>
                      </m:rPr>
                      <a:rPr lang="en-US" dirty="0"/>
                      <m:t>T</m:t>
                    </m:r>
                    <m:r>
                      <m:rPr>
                        <m:nor/>
                      </m:rPr>
                      <a:rPr lang="en-US" dirty="0"/>
                      <m:t> = 24  { 1</m:t>
                    </m:r>
                    <m:r>
                      <m:rPr>
                        <m:nor/>
                      </m:rPr>
                      <a:rPr lang="en-IN" dirty="0"/>
                      <m:t> </m:t>
                    </m:r>
                    <m:r>
                      <m:rPr>
                        <m:nor/>
                      </m:rPr>
                      <a:rPr lang="en-US" dirty="0"/>
                      <m:t>−</m:t>
                    </m:r>
                    <m:f>
                      <m:fPr>
                        <m:ctrlPr>
                          <a:rPr lang="en-US" i="1">
                            <a:solidFill>
                              <a:srgbClr val="836967"/>
                            </a:solidFill>
                            <a:latin typeface="Cambria Math" panose="02040503050406030204" pitchFamily="18" charset="0"/>
                          </a:rPr>
                        </m:ctrlPr>
                      </m:fPr>
                      <m:num>
                        <m:r>
                          <m:rPr>
                            <m:nor/>
                          </m:rPr>
                          <a:rPr lang="en-US" b="0" i="0" dirty="0" smtClean="0"/>
                          <m:t>8</m:t>
                        </m:r>
                      </m:num>
                      <m:den>
                        <m:r>
                          <m:rPr>
                            <m:nor/>
                          </m:rPr>
                          <a:rPr lang="en-US" b="0" i="0" dirty="0" smtClean="0"/>
                          <m:t>16</m:t>
                        </m:r>
                      </m:den>
                    </m:f>
                  </m:oMath>
                </a14:m>
                <a:r>
                  <a:rPr lang="en-US" dirty="0"/>
                  <a:t> }</a:t>
                </a:r>
                <a:endParaRPr lang="en-US" i="1" dirty="0">
                  <a:latin typeface="Cambria Math" panose="02040503050406030204" pitchFamily="18" charset="0"/>
                </a:endParaRPr>
              </a:p>
              <a:p>
                <a:pPr marL="0" indent="0" algn="just">
                  <a:lnSpc>
                    <a:spcPct val="120000"/>
                  </a:lnSpc>
                  <a:buNone/>
                </a:pPr>
                <a:r>
                  <a:rPr lang="en-US" dirty="0"/>
                  <a:t>			</a:t>
                </a:r>
                <a14:m>
                  <m:oMath xmlns:m="http://schemas.openxmlformats.org/officeDocument/2006/math">
                    <m:r>
                      <m:rPr>
                        <m:nor/>
                      </m:rPr>
                      <a:rPr lang="en-US" dirty="0"/>
                      <m:t>T</m:t>
                    </m:r>
                    <m:r>
                      <m:rPr>
                        <m:nor/>
                      </m:rPr>
                      <a:rPr lang="en-US" dirty="0"/>
                      <m:t> = 24  {</m:t>
                    </m:r>
                    <m:f>
                      <m:fPr>
                        <m:ctrlPr>
                          <a:rPr lang="en-US" i="1">
                            <a:solidFill>
                              <a:srgbClr val="836967"/>
                            </a:solidFill>
                            <a:latin typeface="Cambria Math" panose="02040503050406030204" pitchFamily="18" charset="0"/>
                          </a:rPr>
                        </m:ctrlPr>
                      </m:fPr>
                      <m:num>
                        <m:r>
                          <m:rPr>
                            <m:nor/>
                          </m:rPr>
                          <a:rPr lang="en-US" dirty="0"/>
                          <m:t>1</m:t>
                        </m:r>
                        <m:r>
                          <m:rPr>
                            <m:nor/>
                          </m:rPr>
                          <a:rPr lang="en-US" b="0" i="0" dirty="0" smtClean="0"/>
                          <m:t>6</m:t>
                        </m:r>
                        <m:r>
                          <m:rPr>
                            <m:nor/>
                          </m:rPr>
                          <a:rPr lang="en-IN" dirty="0"/>
                          <m:t> </m:t>
                        </m:r>
                        <m:r>
                          <m:rPr>
                            <m:nor/>
                          </m:rPr>
                          <a:rPr lang="en-US" dirty="0"/>
                          <m:t>−</m:t>
                        </m:r>
                        <m:r>
                          <m:rPr>
                            <m:nor/>
                          </m:rPr>
                          <a:rPr lang="en-US" b="0" i="0" dirty="0" smtClean="0"/>
                          <m:t> 8</m:t>
                        </m:r>
                      </m:num>
                      <m:den>
                        <m:r>
                          <m:rPr>
                            <m:nor/>
                          </m:rPr>
                          <a:rPr lang="en-US" dirty="0"/>
                          <m:t>1</m:t>
                        </m:r>
                        <m:r>
                          <m:rPr>
                            <m:nor/>
                          </m:rPr>
                          <a:rPr lang="en-US" b="0" i="0" dirty="0" smtClean="0"/>
                          <m:t>6</m:t>
                        </m:r>
                      </m:den>
                    </m:f>
                    <m:r>
                      <a:rPr lang="en-US" i="1" dirty="0">
                        <a:latin typeface="Cambria Math" panose="02040503050406030204" pitchFamily="18" charset="0"/>
                      </a:rPr>
                      <m:t> </m:t>
                    </m:r>
                  </m:oMath>
                </a14:m>
                <a:r>
                  <a:rPr lang="en-US" dirty="0"/>
                  <a:t>}</a:t>
                </a:r>
                <a:endParaRPr lang="en-US" i="1" dirty="0">
                  <a:latin typeface="Cambria Math" panose="02040503050406030204" pitchFamily="18" charset="0"/>
                </a:endParaRPr>
              </a:p>
              <a:p>
                <a:pPr marL="0" indent="0" algn="just">
                  <a:lnSpc>
                    <a:spcPct val="120000"/>
                  </a:lnSpc>
                  <a:buNone/>
                </a:pPr>
                <a:r>
                  <a:rPr lang="en-US" dirty="0"/>
                  <a:t>			</a:t>
                </a:r>
                <a14:m>
                  <m:oMath xmlns:m="http://schemas.openxmlformats.org/officeDocument/2006/math">
                    <m:r>
                      <m:rPr>
                        <m:nor/>
                      </m:rPr>
                      <a:rPr lang="en-US" dirty="0"/>
                      <m:t>T</m:t>
                    </m:r>
                    <m:r>
                      <m:rPr>
                        <m:nor/>
                      </m:rPr>
                      <a:rPr lang="en-US" dirty="0"/>
                      <m:t> = 24  {</m:t>
                    </m:r>
                    <m:f>
                      <m:fPr>
                        <m:ctrlPr>
                          <a:rPr lang="en-US" i="1">
                            <a:solidFill>
                              <a:srgbClr val="836967"/>
                            </a:solidFill>
                            <a:latin typeface="Cambria Math" panose="02040503050406030204" pitchFamily="18" charset="0"/>
                          </a:rPr>
                        </m:ctrlPr>
                      </m:fPr>
                      <m:num>
                        <m:r>
                          <m:rPr>
                            <m:nor/>
                          </m:rPr>
                          <a:rPr lang="en-US" b="0" i="0" dirty="0" smtClean="0"/>
                          <m:t>8</m:t>
                        </m:r>
                      </m:num>
                      <m:den>
                        <m:r>
                          <m:rPr>
                            <m:nor/>
                          </m:rPr>
                          <a:rPr lang="en-US" dirty="0"/>
                          <m:t>1</m:t>
                        </m:r>
                        <m:r>
                          <m:rPr>
                            <m:nor/>
                          </m:rPr>
                          <a:rPr lang="en-US" b="0" i="0" dirty="0" smtClean="0"/>
                          <m:t>6</m:t>
                        </m:r>
                      </m:den>
                    </m:f>
                    <m:r>
                      <a:rPr lang="en-US" i="1" dirty="0">
                        <a:latin typeface="Cambria Math" panose="02040503050406030204" pitchFamily="18" charset="0"/>
                      </a:rPr>
                      <m:t> </m:t>
                    </m:r>
                  </m:oMath>
                </a14:m>
                <a:r>
                  <a:rPr lang="en-US" dirty="0"/>
                  <a:t>} 	</a:t>
                </a:r>
              </a:p>
              <a:p>
                <a:pPr marL="0" indent="0" algn="just">
                  <a:lnSpc>
                    <a:spcPct val="120000"/>
                  </a:lnSpc>
                  <a:buNone/>
                </a:pPr>
                <a:r>
                  <a:rPr lang="en-US" dirty="0"/>
                  <a:t>			</a:t>
                </a:r>
                <a14:m>
                  <m:oMath xmlns:m="http://schemas.openxmlformats.org/officeDocument/2006/math">
                    <m:r>
                      <m:rPr>
                        <m:nor/>
                      </m:rPr>
                      <a:rPr lang="en-US" dirty="0"/>
                      <m:t>T</m:t>
                    </m:r>
                    <m:r>
                      <m:rPr>
                        <m:nor/>
                      </m:rPr>
                      <a:rPr lang="en-US" dirty="0"/>
                      <m:t> = 12 </m:t>
                    </m:r>
                    <m:r>
                      <m:rPr>
                        <m:nor/>
                      </m:rPr>
                      <a:rPr lang="en-US" b="0" i="0" dirty="0" smtClean="0"/>
                      <m:t>minutes</m:t>
                    </m:r>
                  </m:oMath>
                </a14:m>
                <a:r>
                  <a:rPr lang="en-US" dirty="0"/>
                  <a:t>	</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5BDAC11A-8E66-5305-0BF8-EADF28E70BDD}"/>
              </a:ext>
            </a:extLst>
          </p:cNvPr>
          <p:cNvCxnSpPr/>
          <p:nvPr/>
        </p:nvCxnSpPr>
        <p:spPr>
          <a:xfrm flipV="1">
            <a:off x="4318552" y="5293451"/>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9BFCFDA-4FA6-BB9F-4CF2-05FC435CD369}"/>
              </a:ext>
            </a:extLst>
          </p:cNvPr>
          <p:cNvCxnSpPr/>
          <p:nvPr/>
        </p:nvCxnSpPr>
        <p:spPr>
          <a:xfrm flipV="1">
            <a:off x="4318552" y="568031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B77191-C878-FE7F-233A-3754B2A2EEDC}"/>
              </a:ext>
            </a:extLst>
          </p:cNvPr>
          <p:cNvSpPr txBox="1"/>
          <p:nvPr/>
        </p:nvSpPr>
        <p:spPr>
          <a:xfrm>
            <a:off x="4652962" y="5728621"/>
            <a:ext cx="303288" cy="369332"/>
          </a:xfrm>
          <a:prstGeom prst="rect">
            <a:avLst/>
          </a:prstGeom>
          <a:noFill/>
        </p:spPr>
        <p:txBody>
          <a:bodyPr wrap="none" rtlCol="0">
            <a:spAutoFit/>
          </a:bodyPr>
          <a:lstStyle/>
          <a:p>
            <a:r>
              <a:rPr lang="en-US" dirty="0"/>
              <a:t>2</a:t>
            </a:r>
            <a:endParaRPr lang="en-IN" dirty="0"/>
          </a:p>
        </p:txBody>
      </p:sp>
      <p:cxnSp>
        <p:nvCxnSpPr>
          <p:cNvPr id="11" name="Straight Connector 10">
            <a:extLst>
              <a:ext uri="{FF2B5EF4-FFF2-40B4-BE49-F238E27FC236}">
                <a16:creationId xmlns:a16="http://schemas.microsoft.com/office/drawing/2014/main" id="{34E0BC8A-108D-D4D2-94F7-E219007BEA8D}"/>
              </a:ext>
            </a:extLst>
          </p:cNvPr>
          <p:cNvCxnSpPr/>
          <p:nvPr/>
        </p:nvCxnSpPr>
        <p:spPr>
          <a:xfrm flipV="1">
            <a:off x="3644451" y="5535861"/>
            <a:ext cx="506896" cy="18884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6578D18-4D01-F289-E7D7-B5F4F1D567C8}"/>
              </a:ext>
            </a:extLst>
          </p:cNvPr>
          <p:cNvCxnSpPr/>
          <p:nvPr/>
        </p:nvCxnSpPr>
        <p:spPr>
          <a:xfrm flipV="1">
            <a:off x="4572000" y="5838448"/>
            <a:ext cx="506896" cy="18884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30B9D2A-491E-E25F-5291-523260BE7134}"/>
              </a:ext>
            </a:extLst>
          </p:cNvPr>
          <p:cNvSpPr txBox="1"/>
          <p:nvPr/>
        </p:nvSpPr>
        <p:spPr>
          <a:xfrm>
            <a:off x="3746255" y="5104617"/>
            <a:ext cx="380232" cy="369332"/>
          </a:xfrm>
          <a:prstGeom prst="rect">
            <a:avLst/>
          </a:prstGeom>
          <a:noFill/>
        </p:spPr>
        <p:txBody>
          <a:bodyPr wrap="none" rtlCol="0">
            <a:spAutoFit/>
          </a:bodyPr>
          <a:lstStyle/>
          <a:p>
            <a:r>
              <a:rPr lang="en-US" dirty="0"/>
              <a:t>12</a:t>
            </a:r>
            <a:endParaRPr lang="en-IN" dirty="0"/>
          </a:p>
        </p:txBody>
      </p:sp>
    </p:spTree>
    <p:extLst>
      <p:ext uri="{BB962C8B-B14F-4D97-AF65-F5344CB8AC3E}">
        <p14:creationId xmlns:p14="http://schemas.microsoft.com/office/powerpoint/2010/main" val="4282450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pPr algn="just"/>
                <a:r>
                  <a:rPr lang="en-US" dirty="0"/>
                  <a:t>Two inlets A and B can fill a tank in 16 and 24 minutes respectively. They are opened alternatively for 1 min. each, beginning with inlet A. In how much time will the tank be filled completely? </a:t>
                </a:r>
              </a:p>
              <a:p>
                <a:r>
                  <a:rPr lang="en-US" sz="2400" dirty="0"/>
                  <a:t>LCM of 16 and 24 = 48 (Total Capacity) </a:t>
                </a:r>
              </a:p>
              <a:p>
                <a:r>
                  <a:rPr lang="en-US" sz="2400" dirty="0"/>
                  <a:t>Two inlets A and B opened alternatively for 1 min.</a:t>
                </a:r>
              </a:p>
              <a:p>
                <a:r>
                  <a:rPr lang="en-US" sz="2400" dirty="0"/>
                  <a:t>Units filled in tank in 2 mins.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48</m:t>
                        </m:r>
                      </m:num>
                      <m:den>
                        <m:r>
                          <m:rPr>
                            <m:nor/>
                          </m:rPr>
                          <a:rPr lang="en-US" sz="2400" dirty="0">
                            <a:latin typeface="Cambria Math" panose="02040503050406030204" pitchFamily="18" charset="0"/>
                          </a:rPr>
                          <m:t> </m:t>
                        </m:r>
                        <m:r>
                          <m:rPr>
                            <m:nor/>
                          </m:rPr>
                          <a:rPr lang="en-US" sz="2400" dirty="0"/>
                          <m:t>16</m:t>
                        </m:r>
                        <m:r>
                          <m:rPr>
                            <m:nor/>
                          </m:rPr>
                          <a:rPr lang="en-IN" sz="2400" dirty="0"/>
                          <m:t> </m:t>
                        </m:r>
                      </m:den>
                    </m:f>
                    <m:r>
                      <a:rPr lang="en-IN" sz="2400" i="1" dirty="0">
                        <a:latin typeface="Cambria Math" panose="02040503050406030204" pitchFamily="18" charset="0"/>
                      </a:rPr>
                      <m:t> </m:t>
                    </m:r>
                  </m:oMath>
                </a14:m>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48</m:t>
                        </m:r>
                      </m:num>
                      <m:den>
                        <m:r>
                          <m:rPr>
                            <m:nor/>
                          </m:rPr>
                          <a:rPr lang="en-US" sz="2400" dirty="0">
                            <a:latin typeface="Cambria Math" panose="02040503050406030204" pitchFamily="18" charset="0"/>
                          </a:rPr>
                          <m:t> </m:t>
                        </m:r>
                        <m:r>
                          <m:rPr>
                            <m:nor/>
                          </m:rPr>
                          <a:rPr lang="en-US" sz="2400" dirty="0"/>
                          <m:t>24</m:t>
                        </m:r>
                        <m:r>
                          <m:rPr>
                            <m:nor/>
                          </m:rPr>
                          <a:rPr lang="en-IN" sz="2400" dirty="0"/>
                          <m:t> </m:t>
                        </m:r>
                      </m:den>
                    </m:f>
                  </m:oMath>
                </a14:m>
                <a:r>
                  <a:rPr lang="en-US" sz="2400" dirty="0"/>
                  <a:t> </a:t>
                </a:r>
              </a:p>
              <a:p>
                <a:pPr marL="0" indent="0">
                  <a:buNone/>
                </a:pPr>
                <a:r>
                  <a:rPr lang="en-US" sz="2400" dirty="0"/>
                  <a:t>					= 3 + 2 = 5 </a:t>
                </a:r>
                <a:endParaRPr lang="en-US" dirty="0"/>
              </a:p>
              <a:p>
                <a:endParaRPr lang="en-US" sz="2400" dirty="0"/>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1065" r="-1278"/>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49A05A62-5FF9-E251-1982-66298BF7C4CB}"/>
              </a:ext>
            </a:extLst>
          </p:cNvPr>
          <p:cNvCxnSpPr/>
          <p:nvPr/>
        </p:nvCxnSpPr>
        <p:spPr>
          <a:xfrm flipV="1">
            <a:off x="5220113" y="5238129"/>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BE1211-A731-A955-C45E-B36D48E5D872}"/>
              </a:ext>
            </a:extLst>
          </p:cNvPr>
          <p:cNvCxnSpPr/>
          <p:nvPr/>
        </p:nvCxnSpPr>
        <p:spPr>
          <a:xfrm flipV="1">
            <a:off x="5220113" y="554940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E8815D8-2689-A3D4-5ACC-2F4F90A3CF1A}"/>
              </a:ext>
            </a:extLst>
          </p:cNvPr>
          <p:cNvSpPr txBox="1"/>
          <p:nvPr/>
        </p:nvSpPr>
        <p:spPr>
          <a:xfrm>
            <a:off x="5383637" y="4793662"/>
            <a:ext cx="378630" cy="369332"/>
          </a:xfrm>
          <a:prstGeom prst="rect">
            <a:avLst/>
          </a:prstGeom>
          <a:noFill/>
        </p:spPr>
        <p:txBody>
          <a:bodyPr wrap="none" rtlCol="0">
            <a:spAutoFit/>
          </a:bodyPr>
          <a:lstStyle/>
          <a:p>
            <a:r>
              <a:rPr lang="en-US" dirty="0"/>
              <a:t>3 </a:t>
            </a:r>
            <a:endParaRPr lang="en-IN" dirty="0"/>
          </a:p>
        </p:txBody>
      </p:sp>
      <p:cxnSp>
        <p:nvCxnSpPr>
          <p:cNvPr id="9" name="Straight Connector 8">
            <a:extLst>
              <a:ext uri="{FF2B5EF4-FFF2-40B4-BE49-F238E27FC236}">
                <a16:creationId xmlns:a16="http://schemas.microsoft.com/office/drawing/2014/main" id="{414949D1-0141-7929-9586-B9776825701D}"/>
              </a:ext>
            </a:extLst>
          </p:cNvPr>
          <p:cNvCxnSpPr/>
          <p:nvPr/>
        </p:nvCxnSpPr>
        <p:spPr>
          <a:xfrm flipV="1">
            <a:off x="6048937" y="5237331"/>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276C54F-2302-7712-9A35-F5AAD4BE9C88}"/>
              </a:ext>
            </a:extLst>
          </p:cNvPr>
          <p:cNvCxnSpPr/>
          <p:nvPr/>
        </p:nvCxnSpPr>
        <p:spPr>
          <a:xfrm flipV="1">
            <a:off x="6038020" y="5549408"/>
            <a:ext cx="506896" cy="1888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CE84227-9D50-5178-25FA-A27A25DBE6E0}"/>
              </a:ext>
            </a:extLst>
          </p:cNvPr>
          <p:cNvSpPr txBox="1"/>
          <p:nvPr/>
        </p:nvSpPr>
        <p:spPr>
          <a:xfrm>
            <a:off x="6280551" y="4793662"/>
            <a:ext cx="264365" cy="369332"/>
          </a:xfrm>
          <a:prstGeom prst="rect">
            <a:avLst/>
          </a:prstGeom>
          <a:noFill/>
        </p:spPr>
        <p:txBody>
          <a:bodyPr wrap="square" rtlCol="0">
            <a:spAutoFit/>
          </a:bodyPr>
          <a:lstStyle/>
          <a:p>
            <a:r>
              <a:rPr lang="en-US" dirty="0"/>
              <a:t>2 </a:t>
            </a:r>
            <a:endParaRPr lang="en-IN" dirty="0"/>
          </a:p>
        </p:txBody>
      </p:sp>
    </p:spTree>
    <p:extLst>
      <p:ext uri="{BB962C8B-B14F-4D97-AF65-F5344CB8AC3E}">
        <p14:creationId xmlns:p14="http://schemas.microsoft.com/office/powerpoint/2010/main" val="1963356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10D-3A96-A423-90FF-9DF7C9E0370B}"/>
              </a:ext>
            </a:extLst>
          </p:cNvPr>
          <p:cNvSpPr>
            <a:spLocks noGrp="1"/>
          </p:cNvSpPr>
          <p:nvPr>
            <p:ph type="title"/>
          </p:nvPr>
        </p:nvSpPr>
        <p:spPr/>
        <p:txBody>
          <a:bodyPr/>
          <a:lstStyle/>
          <a:p>
            <a:r>
              <a:rPr lang="en-IN" dirty="0"/>
              <a:t>Problem 15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58A07A-7633-2901-F89A-966B0C32EEE2}"/>
                  </a:ext>
                </a:extLst>
              </p:cNvPr>
              <p:cNvSpPr>
                <a:spLocks noGrp="1"/>
              </p:cNvSpPr>
              <p:nvPr>
                <p:ph idx="1"/>
              </p:nvPr>
            </p:nvSpPr>
            <p:spPr/>
            <p:txBody>
              <a:bodyPr>
                <a:normAutofit lnSpcReduction="10000"/>
              </a:bodyPr>
              <a:lstStyle/>
              <a:p>
                <a:r>
                  <a:rPr lang="en-US" sz="2400" dirty="0"/>
                  <a:t>LCM of 16 and 24 = 48 (Total Capacity) </a:t>
                </a:r>
              </a:p>
              <a:p>
                <a:r>
                  <a:rPr lang="en-US" sz="2400" dirty="0"/>
                  <a:t>Units filled in tank in 2 mins. 	= 5 </a:t>
                </a:r>
              </a:p>
              <a:p>
                <a:pPr marL="0" indent="0">
                  <a:lnSpc>
                    <a:spcPct val="100000"/>
                  </a:lnSpc>
                  <a:buNone/>
                </a:pPr>
                <a:r>
                  <a:rPr lang="en-US" sz="2400" dirty="0"/>
                  <a:t>		Minutes		Tank Filled</a:t>
                </a:r>
              </a:p>
              <a:p>
                <a:pPr marL="0" indent="0">
                  <a:lnSpc>
                    <a:spcPct val="100000"/>
                  </a:lnSpc>
                  <a:buNone/>
                </a:pPr>
                <a:r>
                  <a:rPr lang="en-US" sz="2400" dirty="0"/>
                  <a:t>		     2			         5</a:t>
                </a:r>
              </a:p>
              <a:p>
                <a:pPr marL="0" indent="0">
                  <a:lnSpc>
                    <a:spcPct val="100000"/>
                  </a:lnSpc>
                  <a:buNone/>
                </a:pPr>
                <a:r>
                  <a:rPr lang="en-US" sz="2400" dirty="0"/>
                  <a:t>		2 x 9 = 18		5 x 9 = 45</a:t>
                </a:r>
              </a:p>
              <a:p>
                <a:r>
                  <a:rPr lang="en-US" sz="2400" dirty="0"/>
                  <a:t>Remaining Part 	= 48 – 45 = 3 </a:t>
                </a:r>
              </a:p>
              <a:p>
                <a:pPr>
                  <a:lnSpc>
                    <a:spcPct val="100000"/>
                  </a:lnSpc>
                </a:pPr>
                <a:r>
                  <a:rPr lang="en-US" sz="2400" dirty="0"/>
                  <a:t>One unit is filled by inlet A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16</m:t>
                        </m:r>
                      </m:num>
                      <m:den>
                        <m:r>
                          <m:rPr>
                            <m:nor/>
                          </m:rPr>
                          <a:rPr lang="en-US" sz="2400" b="0" i="0" dirty="0" smtClean="0">
                            <a:latin typeface="Cambria Math" panose="02040503050406030204" pitchFamily="18" charset="0"/>
                          </a:rPr>
                          <m:t> </m:t>
                        </m:r>
                        <m:r>
                          <m:rPr>
                            <m:nor/>
                          </m:rPr>
                          <a:rPr lang="en-US" sz="2400" dirty="0"/>
                          <m:t>48</m:t>
                        </m:r>
                        <m:r>
                          <m:rPr>
                            <m:nor/>
                          </m:rPr>
                          <a:rPr lang="en-IN" sz="2400" dirty="0"/>
                          <m:t> </m:t>
                        </m:r>
                      </m:den>
                    </m:f>
                  </m:oMath>
                </a14:m>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1</m:t>
                        </m:r>
                      </m:num>
                      <m:den>
                        <m:r>
                          <m:rPr>
                            <m:nor/>
                          </m:rPr>
                          <a:rPr lang="en-US" sz="2400" dirty="0">
                            <a:latin typeface="Cambria Math" panose="02040503050406030204" pitchFamily="18" charset="0"/>
                          </a:rPr>
                          <m:t> </m:t>
                        </m:r>
                        <m:r>
                          <m:rPr>
                            <m:nor/>
                          </m:rPr>
                          <a:rPr lang="en-US" sz="2400" dirty="0"/>
                          <m:t>3</m:t>
                        </m:r>
                        <m:r>
                          <m:rPr>
                            <m:nor/>
                          </m:rPr>
                          <a:rPr lang="en-IN" sz="2400" dirty="0"/>
                          <m:t> </m:t>
                        </m:r>
                      </m:den>
                    </m:f>
                  </m:oMath>
                </a14:m>
                <a:r>
                  <a:rPr lang="en-US" sz="2400" dirty="0"/>
                  <a:t> minutes</a:t>
                </a:r>
              </a:p>
              <a:p>
                <a:pPr>
                  <a:lnSpc>
                    <a:spcPct val="100000"/>
                  </a:lnSpc>
                </a:pPr>
                <a:r>
                  <a:rPr lang="en-US" sz="2400" dirty="0"/>
                  <a:t>Tank will be filled completely 	= 18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dirty="0"/>
                          <m:t>1</m:t>
                        </m:r>
                      </m:num>
                      <m:den>
                        <m:r>
                          <m:rPr>
                            <m:nor/>
                          </m:rPr>
                          <a:rPr lang="en-US" sz="2400" dirty="0">
                            <a:latin typeface="Cambria Math" panose="02040503050406030204" pitchFamily="18" charset="0"/>
                          </a:rPr>
                          <m:t> </m:t>
                        </m:r>
                        <m:r>
                          <m:rPr>
                            <m:nor/>
                          </m:rPr>
                          <a:rPr lang="en-US" sz="2400" b="0" i="0" dirty="0" smtClean="0"/>
                          <m:t>3</m:t>
                        </m:r>
                        <m:r>
                          <m:rPr>
                            <m:nor/>
                          </m:rPr>
                          <a:rPr lang="en-IN" sz="2400" dirty="0"/>
                          <m:t> </m:t>
                        </m:r>
                      </m:den>
                    </m:f>
                  </m:oMath>
                </a14:m>
                <a:r>
                  <a:rPr lang="en-US" sz="2400" dirty="0"/>
                  <a:t> </a:t>
                </a:r>
              </a:p>
              <a:p>
                <a:pPr marL="0" indent="0">
                  <a:lnSpc>
                    <a:spcPct val="100000"/>
                  </a:lnSpc>
                  <a:buNone/>
                </a:pPr>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54 + 1</m:t>
                        </m:r>
                      </m:num>
                      <m:den>
                        <m:r>
                          <m:rPr>
                            <m:nor/>
                          </m:rPr>
                          <a:rPr lang="en-US" sz="2400" dirty="0">
                            <a:latin typeface="Cambria Math" panose="02040503050406030204" pitchFamily="18" charset="0"/>
                          </a:rPr>
                          <m:t> </m:t>
                        </m:r>
                        <m:r>
                          <m:rPr>
                            <m:nor/>
                          </m:rPr>
                          <a:rPr lang="en-US" sz="2400" dirty="0"/>
                          <m:t>3</m:t>
                        </m:r>
                        <m:r>
                          <m:rPr>
                            <m:nor/>
                          </m:rPr>
                          <a:rPr lang="en-IN" sz="2400" dirty="0"/>
                          <m:t> </m:t>
                        </m:r>
                      </m:den>
                    </m:f>
                  </m:oMath>
                </a14:m>
                <a:r>
                  <a:rPr lang="en-US" sz="2400" dirty="0"/>
                  <a:t> = </a:t>
                </a:r>
                <a14:m>
                  <m:oMath xmlns:m="http://schemas.openxmlformats.org/officeDocument/2006/math">
                    <m:f>
                      <m:fPr>
                        <m:ctrlPr>
                          <a:rPr lang="en-US" sz="2400" i="1">
                            <a:solidFill>
                              <a:srgbClr val="836967"/>
                            </a:solidFill>
                            <a:latin typeface="Cambria Math" panose="02040503050406030204" pitchFamily="18" charset="0"/>
                          </a:rPr>
                        </m:ctrlPr>
                      </m:fPr>
                      <m:num>
                        <m:r>
                          <m:rPr>
                            <m:nor/>
                          </m:rPr>
                          <a:rPr lang="en-US" sz="2400" b="0" i="0" dirty="0" smtClean="0"/>
                          <m:t>55</m:t>
                        </m:r>
                      </m:num>
                      <m:den>
                        <m:r>
                          <m:rPr>
                            <m:nor/>
                          </m:rPr>
                          <a:rPr lang="en-US" sz="2400" dirty="0">
                            <a:latin typeface="Cambria Math" panose="02040503050406030204" pitchFamily="18" charset="0"/>
                          </a:rPr>
                          <m:t> </m:t>
                        </m:r>
                        <m:r>
                          <m:rPr>
                            <m:nor/>
                          </m:rPr>
                          <a:rPr lang="en-US" sz="2400" dirty="0"/>
                          <m:t>3</m:t>
                        </m:r>
                        <m:r>
                          <m:rPr>
                            <m:nor/>
                          </m:rPr>
                          <a:rPr lang="en-IN" sz="2400" dirty="0"/>
                          <m:t> </m:t>
                        </m:r>
                      </m:den>
                    </m:f>
                  </m:oMath>
                </a14:m>
                <a:r>
                  <a:rPr lang="en-US" sz="2400" dirty="0"/>
                  <a:t> minutes</a:t>
                </a:r>
              </a:p>
            </p:txBody>
          </p:sp>
        </mc:Choice>
        <mc:Fallback xmlns="">
          <p:sp>
            <p:nvSpPr>
              <p:cNvPr id="3" name="Content Placeholder 2">
                <a:extLst>
                  <a:ext uri="{FF2B5EF4-FFF2-40B4-BE49-F238E27FC236}">
                    <a16:creationId xmlns:a16="http://schemas.microsoft.com/office/drawing/2014/main" id="{F258A07A-7633-2901-F89A-966B0C32EEE2}"/>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IN">
                    <a:noFill/>
                  </a:rPr>
                  <a:t> </a:t>
                </a:r>
              </a:p>
            </p:txBody>
          </p:sp>
        </mc:Fallback>
      </mc:AlternateContent>
    </p:spTree>
    <p:extLst>
      <p:ext uri="{BB962C8B-B14F-4D97-AF65-F5344CB8AC3E}">
        <p14:creationId xmlns:p14="http://schemas.microsoft.com/office/powerpoint/2010/main" val="4124944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lnSpc>
                    <a:spcPct val="170000"/>
                  </a:lnSpc>
                </a:pPr>
                <a:r>
                  <a:rPr lang="en-US" dirty="0"/>
                  <a:t>Capacity of cistern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yz</m:t>
                        </m:r>
                      </m:num>
                      <m:den>
                        <m:r>
                          <m:rPr>
                            <m:nor/>
                          </m:rPr>
                          <a:rPr lang="en-IN" dirty="0"/>
                          <m:t>z</m:t>
                        </m:r>
                        <m:r>
                          <m:rPr>
                            <m:nor/>
                          </m:rPr>
                          <a:rPr lang="en-IN" dirty="0"/>
                          <m:t> − </m:t>
                        </m:r>
                        <m:r>
                          <m:rPr>
                            <m:nor/>
                          </m:rPr>
                          <a:rPr lang="en-IN" dirty="0"/>
                          <m:t>x</m:t>
                        </m:r>
                      </m:den>
                    </m:f>
                  </m:oMath>
                </a14:m>
                <a:r>
                  <a:rPr lang="en-US" dirty="0"/>
                  <a:t>  liters</a:t>
                </a:r>
              </a:p>
              <a:p>
                <a:pPr algn="just">
                  <a:lnSpc>
                    <a:spcPct val="170000"/>
                  </a:lnSpc>
                </a:pPr>
                <a:r>
                  <a:rPr lang="en-US" dirty="0"/>
                  <a:t>Time </a:t>
                </a:r>
              </a:p>
              <a:p>
                <a:pPr lvl="1" algn="just">
                  <a:lnSpc>
                    <a:spcPct val="170000"/>
                  </a:lnSpc>
                </a:pPr>
                <a:r>
                  <a:rPr lang="en-US" dirty="0"/>
                  <a:t>Both pipes A &amp; B together will fill/empty cistern in </a:t>
                </a:r>
              </a:p>
              <a:p>
                <a:pPr marL="457200" lvl="1" indent="0" algn="just">
                  <a:lnSpc>
                    <a:spcPct val="17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m:t>
                        </m:r>
                      </m:num>
                      <m:den>
                        <m:r>
                          <m:rPr>
                            <m:nor/>
                          </m:rPr>
                          <a:rPr lang="en-US" dirty="0"/>
                          <m:t>x</m:t>
                        </m:r>
                        <m:r>
                          <m:rPr>
                            <m:nor/>
                          </m:rPr>
                          <a:rPr lang="en-US" dirty="0"/>
                          <m:t> + </m:t>
                        </m:r>
                        <m:r>
                          <m:rPr>
                            <m:nor/>
                          </m:rPr>
                          <a:rPr lang="en-US" dirty="0"/>
                          <m:t>y</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 	</a:t>
                </a:r>
              </a:p>
              <a:p>
                <a:pPr lvl="1" algn="just">
                  <a:lnSpc>
                    <a:spcPct val="170000"/>
                  </a:lnSpc>
                </a:pPr>
                <a:r>
                  <a:rPr lang="en-US" dirty="0"/>
                  <a:t>Three pipes together will fill the cistern 		</a:t>
                </a:r>
                <a14:m>
                  <m:oMath xmlns:m="http://schemas.openxmlformats.org/officeDocument/2006/math">
                    <m:r>
                      <a:rPr lang="en-US" i="1" dirty="0">
                        <a:latin typeface="Cambria Math" panose="02040503050406030204" pitchFamily="18" charset="0"/>
                      </a:rPr>
                      <m:t> </m:t>
                    </m:r>
                  </m:oMath>
                </a14:m>
                <a:endParaRPr lang="en-US" dirty="0"/>
              </a:p>
              <a:p>
                <a:pPr marL="457200" lvl="1" indent="0" algn="just">
                  <a:lnSpc>
                    <a:spcPct val="17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xy</m:t>
                        </m:r>
                        <m:r>
                          <m:rPr>
                            <m:nor/>
                          </m:rPr>
                          <a:rPr lang="en-IN" dirty="0"/>
                          <m:t> + </m:t>
                        </m:r>
                        <m:r>
                          <m:rPr>
                            <m:nor/>
                          </m:rPr>
                          <a:rPr lang="en-US" dirty="0"/>
                          <m:t>yz</m:t>
                        </m:r>
                        <m:r>
                          <m:rPr>
                            <m:nor/>
                          </m:rPr>
                          <a:rPr lang="en-US" dirty="0"/>
                          <m:t> +</m:t>
                        </m:r>
                        <m:r>
                          <m:rPr>
                            <m:nor/>
                          </m:rPr>
                          <a:rPr lang="en-US" dirty="0"/>
                          <m:t>zx</m:t>
                        </m:r>
                        <m:r>
                          <m:rPr>
                            <m:nor/>
                          </m:rPr>
                          <a:rPr lang="en-IN" dirty="0"/>
                          <m:t> </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hours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65"/>
                </a:stretch>
              </a:blipFill>
            </p:spPr>
            <p:txBody>
              <a:bodyPr/>
              <a:lstStyle/>
              <a:p>
                <a:r>
                  <a:rPr lang="en-IN">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algn="just"/>
                <a:r>
                  <a:rPr lang="en-US" dirty="0"/>
                  <a:t>Time</a:t>
                </a:r>
                <a:r>
                  <a:rPr lang="en-US" sz="2400" dirty="0"/>
                  <a:t> </a:t>
                </a:r>
              </a:p>
              <a:p>
                <a:pPr lvl="1" algn="just">
                  <a:lnSpc>
                    <a:spcPct val="150000"/>
                  </a:lnSpc>
                </a:pPr>
                <a:r>
                  <a:rPr lang="en-US" dirty="0"/>
                  <a:t>An exhaust tap C can empty the full cistern </a:t>
                </a:r>
              </a:p>
              <a:p>
                <a:pPr marL="457200" lvl="1" indent="0" algn="just">
                  <a:lnSpc>
                    <a:spcPct val="15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xyz</m:t>
                        </m:r>
                      </m:num>
                      <m:den>
                        <m:r>
                          <m:rPr>
                            <m:nor/>
                          </m:rPr>
                          <a:rPr lang="en-US" dirty="0"/>
                          <m:t>yz</m:t>
                        </m:r>
                        <m:r>
                          <m:rPr>
                            <m:nor/>
                          </m:rPr>
                          <a:rPr lang="en-US" dirty="0"/>
                          <m:t> + </m:t>
                        </m:r>
                        <m:r>
                          <m:rPr>
                            <m:nor/>
                          </m:rPr>
                          <a:rPr lang="en-US" dirty="0"/>
                          <m:t>xz</m:t>
                        </m:r>
                        <m:r>
                          <m:rPr>
                            <m:nor/>
                          </m:rPr>
                          <a:rPr lang="en-US" dirty="0"/>
                          <m:t> − </m:t>
                        </m:r>
                        <m:r>
                          <m:rPr>
                            <m:nor/>
                          </m:rPr>
                          <a:rPr lang="en-US" dirty="0"/>
                          <m:t>xy</m:t>
                        </m:r>
                      </m:den>
                    </m:f>
                    <m:r>
                      <a:rPr lang="en-US" i="1" dirty="0">
                        <a:latin typeface="Cambria Math" panose="02040503050406030204" pitchFamily="18" charset="0"/>
                      </a:rPr>
                      <m:t> </m:t>
                    </m:r>
                    <m:r>
                      <a:rPr lang="en-US" dirty="0">
                        <a:latin typeface="Cambria Math" panose="02040503050406030204" pitchFamily="18" charset="0"/>
                      </a:rPr>
                      <m:t> </m:t>
                    </m:r>
                  </m:oMath>
                </a14:m>
                <a:r>
                  <a:rPr lang="en-US" dirty="0"/>
                  <a:t>mins.</a:t>
                </a:r>
              </a:p>
              <a:p>
                <a:pPr lvl="1" algn="just">
                  <a:lnSpc>
                    <a:spcPct val="150000"/>
                  </a:lnSpc>
                </a:pPr>
                <a:r>
                  <a:rPr lang="en-US" dirty="0"/>
                  <a:t>Amount of time in which leak can empty the full tank </a:t>
                </a:r>
              </a:p>
              <a:p>
                <a:pPr marL="457200" lvl="1" indent="0" algn="just">
                  <a:lnSpc>
                    <a:spcPct val="150000"/>
                  </a:lnSpc>
                  <a:buNone/>
                </a:pPr>
                <a:r>
                  <a:rPr lang="en-US" dirty="0"/>
                  <a:t>						= </a:t>
                </a:r>
                <a14:m>
                  <m:oMath xmlns:m="http://schemas.openxmlformats.org/officeDocument/2006/math">
                    <m:f>
                      <m:fPr>
                        <m:ctrlPr>
                          <a:rPr lang="en-US" i="1">
                            <a:solidFill>
                              <a:srgbClr val="836967"/>
                            </a:solidFill>
                            <a:latin typeface="Cambria Math" panose="02040503050406030204" pitchFamily="18" charset="0"/>
                          </a:rPr>
                        </m:ctrlPr>
                      </m:fPr>
                      <m:num>
                        <m:r>
                          <m:rPr>
                            <m:nor/>
                          </m:rPr>
                          <a:rPr lang="en-US" dirty="0"/>
                          <m:t>x</m:t>
                        </m:r>
                        <m:r>
                          <m:rPr>
                            <m:nor/>
                          </m:rPr>
                          <a:rPr lang="en-IN" dirty="0"/>
                          <m:t>y</m:t>
                        </m:r>
                      </m:num>
                      <m:den>
                        <m:r>
                          <m:rPr>
                            <m:nor/>
                          </m:rPr>
                          <a:rPr lang="en-IN" dirty="0"/>
                          <m:t>y</m:t>
                        </m:r>
                        <m:r>
                          <m:rPr>
                            <m:nor/>
                          </m:rPr>
                          <a:rPr lang="en-IN" dirty="0"/>
                          <m:t> </m:t>
                        </m:r>
                        <m:r>
                          <m:rPr>
                            <m:nor/>
                          </m:rPr>
                          <a:rPr lang="en-US" dirty="0"/>
                          <m:t>−</m:t>
                        </m:r>
                        <m:r>
                          <m:rPr>
                            <m:nor/>
                          </m:rPr>
                          <a:rPr lang="en-IN" dirty="0"/>
                          <m:t> </m:t>
                        </m:r>
                        <m:r>
                          <m:rPr>
                            <m:nor/>
                          </m:rPr>
                          <a:rPr lang="en-IN" dirty="0"/>
                          <m:t>x</m:t>
                        </m:r>
                      </m:den>
                    </m:f>
                    <m:r>
                      <a:rPr lang="en-IN" i="1" dirty="0">
                        <a:latin typeface="Cambria Math" panose="02040503050406030204" pitchFamily="18" charset="0"/>
                      </a:rPr>
                      <m:t> </m:t>
                    </m:r>
                  </m:oMath>
                </a14:m>
                <a:r>
                  <a:rPr lang="en-US" dirty="0"/>
                  <a:t> hrs</a:t>
                </a:r>
              </a:p>
              <a:p>
                <a:pPr lvl="1" algn="just">
                  <a:lnSpc>
                    <a:spcPct val="150000"/>
                  </a:lnSpc>
                </a:pPr>
                <a:r>
                  <a:rPr lang="en-US" dirty="0"/>
                  <a:t>Time after which inlet B should be closed, so that the tank is full in t minutes i.e., </a:t>
                </a:r>
                <a14:m>
                  <m:oMath xmlns:m="http://schemas.openxmlformats.org/officeDocument/2006/math">
                    <m:r>
                      <m:rPr>
                        <m:nor/>
                      </m:rPr>
                      <a:rPr lang="en-US" dirty="0"/>
                      <m:t>T</m:t>
                    </m:r>
                    <m:r>
                      <m:rPr>
                        <m:nor/>
                      </m:rPr>
                      <a:rPr lang="en-US" dirty="0"/>
                      <m:t> = </m:t>
                    </m:r>
                    <m:r>
                      <m:rPr>
                        <m:nor/>
                      </m:rPr>
                      <a:rPr lang="en-US" dirty="0"/>
                      <m:t>y</m:t>
                    </m:r>
                    <m:r>
                      <m:rPr>
                        <m:nor/>
                      </m:rPr>
                      <a:rPr lang="en-US" dirty="0"/>
                      <m:t> { 1</m:t>
                    </m:r>
                    <m:r>
                      <m:rPr>
                        <m:nor/>
                      </m:rPr>
                      <a:rPr lang="en-IN" dirty="0"/>
                      <m:t> </m:t>
                    </m:r>
                    <m:r>
                      <m:rPr>
                        <m:nor/>
                      </m:rPr>
                      <a:rPr lang="en-US" dirty="0"/>
                      <m:t>−</m:t>
                    </m:r>
                    <m:f>
                      <m:fPr>
                        <m:ctrlPr>
                          <a:rPr lang="en-US" i="1">
                            <a:solidFill>
                              <a:srgbClr val="836967"/>
                            </a:solidFill>
                            <a:latin typeface="Cambria Math" panose="02040503050406030204" pitchFamily="18" charset="0"/>
                          </a:rPr>
                        </m:ctrlPr>
                      </m:fPr>
                      <m:num>
                        <m:r>
                          <m:rPr>
                            <m:nor/>
                          </m:rPr>
                          <a:rPr lang="en-US" dirty="0"/>
                          <m:t>t</m:t>
                        </m:r>
                      </m:num>
                      <m:den>
                        <m:r>
                          <m:rPr>
                            <m:nor/>
                          </m:rPr>
                          <a:rPr lang="en-US" dirty="0"/>
                          <m:t>x</m:t>
                        </m:r>
                      </m:den>
                    </m:f>
                  </m:oMath>
                </a14:m>
                <a:r>
                  <a:rPr lang="en-US" dirty="0"/>
                  <a:t> } minutes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65" r="-1136"/>
                </a:stretch>
              </a:blipFill>
            </p:spPr>
            <p:txBody>
              <a:bodyPr/>
              <a:lstStyle/>
              <a:p>
                <a:r>
                  <a:rPr lang="en-IN">
                    <a:noFill/>
                  </a:rPr>
                  <a:t> </a:t>
                </a:r>
              </a:p>
            </p:txBody>
          </p:sp>
        </mc:Fallback>
      </mc:AlternateContent>
    </p:spTree>
    <p:extLst>
      <p:ext uri="{BB962C8B-B14F-4D97-AF65-F5344CB8AC3E}">
        <p14:creationId xmlns:p14="http://schemas.microsoft.com/office/powerpoint/2010/main" val="679303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lvl="0" algn="just"/>
            <a:r>
              <a:rPr lang="en-IN" dirty="0"/>
              <a:t>Pipes &amp; Cisterns</a:t>
            </a:r>
            <a:endParaRPr lang="en-US" dirty="0"/>
          </a:p>
          <a:p>
            <a:pPr lvl="1" algn="just">
              <a:lnSpc>
                <a:spcPct val="150000"/>
              </a:lnSpc>
            </a:pPr>
            <a:r>
              <a:rPr lang="en-US" dirty="0"/>
              <a:t>Capacity of Cistern/Tank </a:t>
            </a:r>
          </a:p>
          <a:p>
            <a:pPr lvl="1" algn="just">
              <a:lnSpc>
                <a:spcPct val="150000"/>
              </a:lnSpc>
            </a:pPr>
            <a:r>
              <a:rPr lang="en-US" dirty="0"/>
              <a:t>Time – Fill/Empty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5229</TotalTime>
  <Words>2430</Words>
  <Application>Microsoft Office PowerPoint</Application>
  <PresentationFormat>On-screen Show (4:3)</PresentationFormat>
  <Paragraphs>247</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Bahnschrift</vt:lpstr>
      <vt:lpstr>Bahnschrift SemiBold</vt:lpstr>
      <vt:lpstr>Calibri</vt:lpstr>
      <vt:lpstr>Cambria Math</vt:lpstr>
      <vt:lpstr>Office Theme</vt:lpstr>
      <vt:lpstr>PowerPoint Presentation</vt:lpstr>
      <vt:lpstr>PowerPoint Presentation</vt:lpstr>
      <vt:lpstr>Problem 1</vt:lpstr>
      <vt:lpstr>Problem 1</vt:lpstr>
      <vt:lpstr>Problem 1 – Alternative Method</vt:lpstr>
      <vt:lpstr>Problem 2 </vt:lpstr>
      <vt:lpstr>Problem 2 </vt:lpstr>
      <vt:lpstr>Problem 3 </vt:lpstr>
      <vt:lpstr>Problem 3 </vt:lpstr>
      <vt:lpstr>Problem 4</vt:lpstr>
      <vt:lpstr>Problem 4</vt:lpstr>
      <vt:lpstr>Problem 5</vt:lpstr>
      <vt:lpstr>Problem 5</vt:lpstr>
      <vt:lpstr>Problem 6</vt:lpstr>
      <vt:lpstr>Problem 6</vt:lpstr>
      <vt:lpstr>Problem 7</vt:lpstr>
      <vt:lpstr>Problem 7</vt:lpstr>
      <vt:lpstr>Problem 8</vt:lpstr>
      <vt:lpstr>Problem 8</vt:lpstr>
      <vt:lpstr>Problem 8 - Alternative Method</vt:lpstr>
      <vt:lpstr>Problem 9</vt:lpstr>
      <vt:lpstr>Problem 9</vt:lpstr>
      <vt:lpstr>Problem 10</vt:lpstr>
      <vt:lpstr>Problem 10</vt:lpstr>
      <vt:lpstr>Problem 11</vt:lpstr>
      <vt:lpstr>Problem 11</vt:lpstr>
      <vt:lpstr>Problem 12</vt:lpstr>
      <vt:lpstr>Problem 12</vt:lpstr>
      <vt:lpstr>Problem 13</vt:lpstr>
      <vt:lpstr>Problem 13</vt:lpstr>
      <vt:lpstr>Problem 14</vt:lpstr>
      <vt:lpstr>Problem 14</vt:lpstr>
      <vt:lpstr>Problem 15</vt:lpstr>
      <vt:lpstr>Problem 15</vt:lpstr>
      <vt:lpstr>Conclusion</vt:lpstr>
      <vt:lpstr>Conclusion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video recording 1</cp:lastModifiedBy>
  <cp:revision>377</cp:revision>
  <dcterms:created xsi:type="dcterms:W3CDTF">2020-12-18T18:59:12Z</dcterms:created>
  <dcterms:modified xsi:type="dcterms:W3CDTF">2022-05-16T06:40:29Z</dcterms:modified>
</cp:coreProperties>
</file>