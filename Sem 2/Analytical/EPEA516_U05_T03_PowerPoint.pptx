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78" r:id="rId2"/>
    <p:sldId id="279" r:id="rId3"/>
    <p:sldId id="534" r:id="rId4"/>
    <p:sldId id="569" r:id="rId5"/>
    <p:sldId id="532" r:id="rId6"/>
    <p:sldId id="535" r:id="rId7"/>
    <p:sldId id="556" r:id="rId8"/>
    <p:sldId id="571" r:id="rId9"/>
    <p:sldId id="557" r:id="rId10"/>
    <p:sldId id="570" r:id="rId11"/>
    <p:sldId id="573" r:id="rId12"/>
    <p:sldId id="572" r:id="rId13"/>
    <p:sldId id="574" r:id="rId14"/>
    <p:sldId id="575" r:id="rId15"/>
    <p:sldId id="576" r:id="rId16"/>
    <p:sldId id="577" r:id="rId17"/>
    <p:sldId id="578" r:id="rId18"/>
    <p:sldId id="579" r:id="rId19"/>
    <p:sldId id="553" r:id="rId20"/>
    <p:sldId id="580" r:id="rId21"/>
    <p:sldId id="581" r:id="rId22"/>
    <p:sldId id="343" r:id="rId23"/>
    <p:sldId id="34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32C"/>
    <a:srgbClr val="A8004B"/>
    <a:srgbClr val="262626"/>
    <a:srgbClr val="ABABAB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differentiate between arithmetic and geometric progression,</a:t>
            </a:r>
          </a:p>
          <a:p>
            <a:pPr algn="just"/>
            <a:r>
              <a:rPr lang="en-US" dirty="0"/>
              <a:t>compute general term and sum of ‘n’ terms of arithmetic and geometric progression, </a:t>
            </a:r>
          </a:p>
          <a:p>
            <a:pPr algn="just"/>
            <a:r>
              <a:rPr lang="en-US" dirty="0"/>
              <a:t>analyze important points of arithmetic and geometric progression.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Set of Numbers</a:t>
                </a:r>
              </a:p>
              <a:p>
                <a:r>
                  <a:rPr lang="en-US" dirty="0"/>
                  <a:t>Definite Order/Rule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{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}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, ……,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Finite - 1, 3, 5, 7, ……, 21</a:t>
                </a:r>
              </a:p>
              <a:p>
                <a:r>
                  <a:rPr lang="en-US" dirty="0"/>
                  <a:t>Infinite - 2, 4, 6, 8, 10, ….. 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86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E2B4-FCAA-4DD8-B1EA-1E13C0555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Terms of a Sequence </a:t>
            </a:r>
          </a:p>
          <a:p>
            <a:pPr algn="just"/>
            <a:r>
              <a:rPr lang="en-US" dirty="0"/>
              <a:t>Pattern</a:t>
            </a:r>
          </a:p>
          <a:p>
            <a:pPr algn="just"/>
            <a:r>
              <a:rPr lang="en-IN" dirty="0"/>
              <a:t>Examples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3, 5, 7, 9, ..., 21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1, 4, 9, 16, ...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8, 5, 2, - 1, - 4, 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32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E2B4-FCAA-4DD8-B1EA-1E13C0555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Sequence - Numbers</a:t>
            </a:r>
          </a:p>
          <a:p>
            <a:pPr algn="just"/>
            <a:r>
              <a:rPr lang="en-US" dirty="0"/>
              <a:t>Numbers – Terms - Predefined Rule</a:t>
            </a:r>
          </a:p>
          <a:p>
            <a:pPr algn="just"/>
            <a:r>
              <a:rPr lang="en-US" dirty="0"/>
              <a:t>Specific Pattern </a:t>
            </a:r>
          </a:p>
          <a:p>
            <a:pPr algn="just"/>
            <a:r>
              <a:rPr lang="en-US" dirty="0"/>
              <a:t>Adding/Subtracting - Terms of a Sequence</a:t>
            </a:r>
          </a:p>
          <a:p>
            <a:pPr algn="just"/>
            <a:r>
              <a:rPr lang="en-IN" dirty="0"/>
              <a:t>Examples 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3 + 5 + 7 + 9 + ... + 21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1 + 4 + 9 + 16 + ...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8 + 5 + 2 + (- 1) + ...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12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Progression (A. P.)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Terms of Sequence </a:t>
                </a:r>
              </a:p>
              <a:p>
                <a:r>
                  <a:rPr lang="en-US" sz="2400" dirty="0"/>
                  <a:t>Increase/Decrease - Fixed Number </a:t>
                </a:r>
              </a:p>
              <a:p>
                <a:r>
                  <a:rPr lang="en-US" sz="2400" dirty="0"/>
                  <a:t>Fixed Number - Common Difference </a:t>
                </a:r>
              </a:p>
              <a:p>
                <a:r>
                  <a:rPr lang="en-US" sz="2400" dirty="0"/>
                  <a:t>Let 	First term = a</a:t>
                </a:r>
              </a:p>
              <a:p>
                <a:pPr marL="0" indent="0">
                  <a:buNone/>
                </a:pPr>
                <a:r>
                  <a:rPr lang="en-US" sz="2400" dirty="0"/>
                  <a:t>	Common Difference = d </a:t>
                </a:r>
              </a:p>
              <a:p>
                <a:pPr marL="0" indent="0">
                  <a:buNone/>
                </a:pPr>
                <a:r>
                  <a:rPr lang="en-US" sz="2400" dirty="0"/>
                  <a:t>	A.P. - a, a + d, a + 2d, ..., a + (n - 1) d, ..</a:t>
                </a:r>
                <a:endParaRPr lang="en-IN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 + (n - 1) d</a:t>
                </a:r>
              </a:p>
              <a:p>
                <a:pPr marL="0" indent="0">
                  <a:buNone/>
                </a:pPr>
                <a:r>
                  <a:rPr lang="en-US" sz="2400" dirty="0"/>
                  <a:t>	d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113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Term – A. P.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Let a and d be the first term and common difference.</a:t>
                </a:r>
              </a:p>
              <a:p>
                <a:r>
                  <a:rPr lang="en-US" sz="2400" dirty="0"/>
                  <a:t>A.P. - a, a + d, a + 2d, ..., a + (n - 1) d 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= a  = a + (1 - 1) 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= a + d = a + (2 - 1) d</a:t>
                </a:r>
                <a:endParaRPr lang="en-US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= a + 2d = a + (3 - 1) d</a:t>
                </a:r>
              </a:p>
              <a:p>
                <a:r>
                  <a:rPr lang="en-US" sz="2400" dirty="0"/>
                  <a:t>………………………………………………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 + (n - 1) d</a:t>
                </a:r>
                <a:endParaRPr lang="en-US" sz="2400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FB7696-5A43-5C90-D12E-59134A6FDF38}"/>
              </a:ext>
            </a:extLst>
          </p:cNvPr>
          <p:cNvCxnSpPr/>
          <p:nvPr/>
        </p:nvCxnSpPr>
        <p:spPr>
          <a:xfrm>
            <a:off x="1798983" y="3240157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C99904-5CB9-1A5A-EF67-837159D54A24}"/>
              </a:ext>
            </a:extLst>
          </p:cNvPr>
          <p:cNvCxnSpPr>
            <a:cxnSpLocks/>
          </p:cNvCxnSpPr>
          <p:nvPr/>
        </p:nvCxnSpPr>
        <p:spPr>
          <a:xfrm>
            <a:off x="2428460" y="3253410"/>
            <a:ext cx="90114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062A07-9710-EB4E-AEF9-6F755CDA2980}"/>
              </a:ext>
            </a:extLst>
          </p:cNvPr>
          <p:cNvCxnSpPr/>
          <p:nvPr/>
        </p:nvCxnSpPr>
        <p:spPr>
          <a:xfrm>
            <a:off x="2170041" y="3859694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71860E-FCDD-15FF-085B-B9FBE2283E43}"/>
              </a:ext>
            </a:extLst>
          </p:cNvPr>
          <p:cNvCxnSpPr>
            <a:cxnSpLocks/>
          </p:cNvCxnSpPr>
          <p:nvPr/>
        </p:nvCxnSpPr>
        <p:spPr>
          <a:xfrm>
            <a:off x="2819400" y="3872947"/>
            <a:ext cx="94753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A5FA68-0322-F5A0-7929-29AF7C2A1E1A}"/>
              </a:ext>
            </a:extLst>
          </p:cNvPr>
          <p:cNvCxnSpPr/>
          <p:nvPr/>
        </p:nvCxnSpPr>
        <p:spPr>
          <a:xfrm>
            <a:off x="2292628" y="4538867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9F3406-274F-0A2E-95FD-215D4FFECCFF}"/>
              </a:ext>
            </a:extLst>
          </p:cNvPr>
          <p:cNvCxnSpPr>
            <a:cxnSpLocks/>
          </p:cNvCxnSpPr>
          <p:nvPr/>
        </p:nvCxnSpPr>
        <p:spPr>
          <a:xfrm>
            <a:off x="2908851" y="4552120"/>
            <a:ext cx="1007166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41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‘n’ Terms– A. P.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Let a and d be the first term and common difference.</a:t>
                </a:r>
              </a:p>
              <a:p>
                <a:r>
                  <a:rPr lang="en-US" sz="2400" dirty="0"/>
                  <a:t>n = Terms </a:t>
                </a:r>
              </a:p>
              <a:p>
                <a:r>
                  <a:rPr lang="en-US" sz="2400" dirty="0"/>
                  <a:t>A.P. - a, a + d, a + 2d, ..., a + (n - 1) d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 + (a + d) + (a + 2d) + ... + (a + (n - 1) d) ……. (1) 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(a + (n - 1) d) + …… (a + 2d) + (a + d) + a ……… (2) </a:t>
                </a:r>
              </a:p>
              <a:p>
                <a:r>
                  <a:rPr lang="en-US" sz="2400" dirty="0"/>
                  <a:t>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n{2a + (n - 1) d} 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{2a + (n - 1) d} 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9241DF-6FEC-52E7-DA17-97A6BF7251BF}"/>
              </a:ext>
            </a:extLst>
          </p:cNvPr>
          <p:cNvCxnSpPr/>
          <p:nvPr/>
        </p:nvCxnSpPr>
        <p:spPr>
          <a:xfrm>
            <a:off x="1401417" y="3796748"/>
            <a:ext cx="477079" cy="3975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7705D4-481E-4125-4CEE-5607E7B8A1B5}"/>
              </a:ext>
            </a:extLst>
          </p:cNvPr>
          <p:cNvCxnSpPr/>
          <p:nvPr/>
        </p:nvCxnSpPr>
        <p:spPr>
          <a:xfrm>
            <a:off x="5907156" y="3796747"/>
            <a:ext cx="477079" cy="3975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C115076-0B4F-D527-0F06-67355C35FCF1}"/>
              </a:ext>
            </a:extLst>
          </p:cNvPr>
          <p:cNvSpPr/>
          <p:nvPr/>
        </p:nvSpPr>
        <p:spPr>
          <a:xfrm>
            <a:off x="1152939" y="4025348"/>
            <a:ext cx="1977887" cy="64152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7E40BE-0D7C-135C-2594-1C775A4C901B}"/>
              </a:ext>
            </a:extLst>
          </p:cNvPr>
          <p:cNvSpPr/>
          <p:nvPr/>
        </p:nvSpPr>
        <p:spPr>
          <a:xfrm>
            <a:off x="1099930" y="3429000"/>
            <a:ext cx="602973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219B86-675E-DF2A-78CD-0EB825FBAF5B}"/>
              </a:ext>
            </a:extLst>
          </p:cNvPr>
          <p:cNvSpPr/>
          <p:nvPr/>
        </p:nvSpPr>
        <p:spPr>
          <a:xfrm>
            <a:off x="4752975" y="3349488"/>
            <a:ext cx="1977887" cy="64152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2C33E8-FDEA-2EEB-4C02-C83CD0DC06A9}"/>
              </a:ext>
            </a:extLst>
          </p:cNvPr>
          <p:cNvSpPr/>
          <p:nvPr/>
        </p:nvSpPr>
        <p:spPr>
          <a:xfrm>
            <a:off x="6121262" y="4062392"/>
            <a:ext cx="602973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216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 – A. P.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= ….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</m:oMath>
                </a14:m>
                <a:r>
                  <a:rPr lang="en-US" sz="2400" dirty="0"/>
                  <a:t> = Constant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….,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- A. P. </a:t>
                </a:r>
              </a:p>
              <a:p>
                <a:r>
                  <a:rPr lang="en-US" sz="2400" dirty="0"/>
                  <a:t>Three numbers a, b, c are in A.P. 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dirty="0" err="1"/>
                  <a:t>iff</a:t>
                </a:r>
                <a:r>
                  <a:rPr lang="en-US" dirty="0"/>
                  <a:t> b - a = c - b 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dirty="0" err="1"/>
                  <a:t>iff</a:t>
                </a:r>
                <a:r>
                  <a:rPr lang="en-US" dirty="0"/>
                  <a:t> a + c = 2b</a:t>
                </a:r>
              </a:p>
              <a:p>
                <a:r>
                  <a:rPr lang="en-US" sz="2400" dirty="0"/>
                  <a:t>a - d, a, and a + d  </a:t>
                </a:r>
              </a:p>
              <a:p>
                <a:r>
                  <a:rPr lang="en-US" sz="2400" dirty="0"/>
                  <a:t>a - 3d, a - d, a + d, and a + 3d</a:t>
                </a:r>
              </a:p>
              <a:p>
                <a:r>
                  <a:rPr lang="en-US" sz="2400" dirty="0"/>
                  <a:t>a - 2d, a - d, a, a + d, and a + 2d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464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 – A. P.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or l = a + (n - 1) d</a:t>
                </a:r>
              </a:p>
              <a:p>
                <a:r>
                  <a:rPr lang="en-US" sz="2400" dirty="0"/>
                  <a:t>First Term = a, Common Difference = d, and Terms =  m </a:t>
                </a:r>
              </a:p>
              <a:p>
                <a:r>
                  <a:rPr lang="en-US" sz="2400" dirty="0"/>
                  <a:t>nth term from the end = (m - n + 1)</a:t>
                </a:r>
                <a:r>
                  <a:rPr lang="en-US" sz="2400" dirty="0" err="1"/>
                  <a:t>th</a:t>
                </a:r>
                <a:r>
                  <a:rPr lang="en-US" sz="2400" dirty="0"/>
                  <a:t> term from beginning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/>
                  <a:t> = a + (</a:t>
                </a:r>
                <a:r>
                  <a:rPr lang="en-US" sz="2400" dirty="0">
                    <a:solidFill>
                      <a:srgbClr val="C00000"/>
                    </a:solidFill>
                  </a:rPr>
                  <a:t>m – n +1 </a:t>
                </a:r>
                <a:r>
                  <a:rPr lang="en-US" sz="2400" dirty="0"/>
                  <a:t>- 1) d</a:t>
                </a:r>
              </a:p>
              <a:p>
                <a:r>
                  <a:rPr lang="en-US" sz="2400" dirty="0"/>
                  <a:t>nth term from the end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a + (m - n) 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C30933-1649-BB51-3AA6-190ACC506E16}"/>
              </a:ext>
            </a:extLst>
          </p:cNvPr>
          <p:cNvCxnSpPr/>
          <p:nvPr/>
        </p:nvCxnSpPr>
        <p:spPr>
          <a:xfrm flipH="1">
            <a:off x="3588026" y="3429000"/>
            <a:ext cx="129209" cy="44726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AB2226-FB13-DB16-4EA6-D696AF5C8B1A}"/>
              </a:ext>
            </a:extLst>
          </p:cNvPr>
          <p:cNvCxnSpPr/>
          <p:nvPr/>
        </p:nvCxnSpPr>
        <p:spPr>
          <a:xfrm flipH="1">
            <a:off x="3988901" y="3462132"/>
            <a:ext cx="129209" cy="44726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73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 – A. P.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 =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−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{2a + (n - 1) d}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dirty="0"/>
                          <m:t>2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{a + [a + (n - 1) d]}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dirty="0"/>
                          <m:t>2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{a + l}  		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2200" dirty="0"/>
                  <a:t>			(Because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200" dirty="0"/>
                  <a:t> or l = a + (n - 1) d)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dirty="0"/>
                          <m:t>2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{a + l}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547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 – A. P.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{a + l}  		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{a + (n - 1) d - (n - 1) d + l}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{l - (n - 1) d + l} </a:t>
                </a:r>
              </a:p>
              <a:p>
                <a:pPr marL="0" indent="0">
                  <a:buNone/>
                </a:pPr>
                <a:r>
                  <a:rPr lang="en-US" sz="2400" dirty="0"/>
                  <a:t>					(Because l = a + (n - 1) d)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[2l - (n - 1) d]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B4017D-9486-516C-69D7-8490D7AFEF91}"/>
              </a:ext>
            </a:extLst>
          </p:cNvPr>
          <p:cNvCxnSpPr/>
          <p:nvPr/>
        </p:nvCxnSpPr>
        <p:spPr>
          <a:xfrm>
            <a:off x="1987826" y="2981739"/>
            <a:ext cx="2743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839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Geometeric</a:t>
            </a:r>
            <a:r>
              <a:rPr lang="en-US" dirty="0"/>
              <a:t> Progression (G. P.)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Sequence – Non-zero Numbers</a:t>
                </a:r>
              </a:p>
              <a:p>
                <a:r>
                  <a:rPr lang="en-US" sz="2400" dirty="0"/>
                  <a:t>Every Term (except the first one)  </a:t>
                </a:r>
              </a:p>
              <a:p>
                <a:r>
                  <a:rPr lang="en-US" sz="2400" dirty="0"/>
                  <a:t>Common/Constant Ratio - Preceding Term </a:t>
                </a:r>
              </a:p>
              <a:p>
                <a:r>
                  <a:rPr lang="en-US" sz="2400" dirty="0"/>
                  <a:t>Let 	First term = a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	 Common/Constant Ratio = r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	G.P. - a, </a:t>
                </a:r>
                <a:r>
                  <a:rPr lang="en-US" sz="2400" dirty="0" err="1"/>
                  <a:t>ar</a:t>
                </a:r>
                <a:r>
                  <a:rPr lang="en-US" sz="2400" dirty="0"/>
                  <a:t>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, ...,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, ..</a:t>
                </a:r>
                <a:endParaRPr lang="en-IN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	</a:t>
                </a:r>
              </a:p>
              <a:p>
                <a:pPr marL="0" indent="0">
                  <a:buNone/>
                </a:pPr>
                <a:r>
                  <a:rPr lang="en-US" sz="2400" dirty="0"/>
                  <a:t>	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 −1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3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749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Term – G. P.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Let a and r be the first term and common ratio.</a:t>
                </a:r>
              </a:p>
              <a:p>
                <a:r>
                  <a:rPr lang="en-US" sz="2400" dirty="0"/>
                  <a:t>G.P. - a, </a:t>
                </a:r>
                <a:r>
                  <a:rPr lang="en-US" sz="2400" dirty="0" err="1"/>
                  <a:t>ar</a:t>
                </a:r>
                <a:r>
                  <a:rPr lang="en-US" sz="2400" dirty="0"/>
                  <a:t>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, ...,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sup>
                    </m:sSup>
                  </m:oMath>
                </a14:m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= a 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0</m:t>
                        </m:r>
                      </m:sup>
                    </m:sSup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1 − 1</m:t>
                        </m:r>
                      </m:sup>
                    </m:sSup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………………………………………………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−1</m:t>
                        </m:r>
                      </m:sup>
                    </m:sSup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40432668-5E54-81AA-7F09-ADF3A484AFD9}"/>
              </a:ext>
            </a:extLst>
          </p:cNvPr>
          <p:cNvSpPr/>
          <p:nvPr/>
        </p:nvSpPr>
        <p:spPr>
          <a:xfrm>
            <a:off x="2775089" y="2847106"/>
            <a:ext cx="703608" cy="45268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F71BF1-BA41-C27E-D57E-969CE005747B}"/>
              </a:ext>
            </a:extLst>
          </p:cNvPr>
          <p:cNvSpPr/>
          <p:nvPr/>
        </p:nvSpPr>
        <p:spPr>
          <a:xfrm>
            <a:off x="2241689" y="3665428"/>
            <a:ext cx="703608" cy="45268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20D0CD-4D23-7A55-B92A-FD800192CC36}"/>
              </a:ext>
            </a:extLst>
          </p:cNvPr>
          <p:cNvSpPr/>
          <p:nvPr/>
        </p:nvSpPr>
        <p:spPr>
          <a:xfrm>
            <a:off x="2307330" y="4443994"/>
            <a:ext cx="703608" cy="45268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267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‘n’ Terms– G. P.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Let a and r be the first term and common ratio. n = Terms </a:t>
                </a:r>
              </a:p>
              <a:p>
                <a:r>
                  <a:rPr lang="en-US" sz="2400" dirty="0"/>
                  <a:t>G.P. - a, </a:t>
                </a:r>
                <a:r>
                  <a:rPr lang="en-US" sz="2400" dirty="0" err="1"/>
                  <a:t>ar</a:t>
                </a:r>
                <a:r>
                  <a:rPr lang="en-US" sz="2400" dirty="0"/>
                  <a:t>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, ...,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sup>
                    </m:sSup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 + </a:t>
                </a:r>
                <a:r>
                  <a:rPr lang="en-US" sz="2400" dirty="0" err="1"/>
                  <a:t>ar</a:t>
                </a:r>
                <a:r>
                  <a:rPr lang="en-US" sz="2400" dirty="0"/>
                  <a:t> +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+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+  ... + 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……. (1) 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:r>
                  <a:rPr lang="en-US" sz="2400" dirty="0" err="1"/>
                  <a:t>ar</a:t>
                </a:r>
                <a:r>
                  <a:rPr lang="en-US" sz="2400" dirty="0"/>
                  <a:t> +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+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+  ... + 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+ 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……… (2)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- a 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(r - 1)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- 1)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n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− 1)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− 1)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9241DF-6FEC-52E7-DA17-97A6BF7251BF}"/>
              </a:ext>
            </a:extLst>
          </p:cNvPr>
          <p:cNvCxnSpPr>
            <a:cxnSpLocks/>
          </p:cNvCxnSpPr>
          <p:nvPr/>
        </p:nvCxnSpPr>
        <p:spPr>
          <a:xfrm flipV="1">
            <a:off x="1566651" y="3330566"/>
            <a:ext cx="288235" cy="4980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E7C9BE-DB43-B98F-867F-F10ADA9A3647}"/>
              </a:ext>
            </a:extLst>
          </p:cNvPr>
          <p:cNvCxnSpPr>
            <a:cxnSpLocks/>
          </p:cNvCxnSpPr>
          <p:nvPr/>
        </p:nvCxnSpPr>
        <p:spPr>
          <a:xfrm flipV="1">
            <a:off x="2147059" y="3330566"/>
            <a:ext cx="288235" cy="4980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27D565-ED06-3CC0-FA75-373770AF213E}"/>
              </a:ext>
            </a:extLst>
          </p:cNvPr>
          <p:cNvCxnSpPr>
            <a:cxnSpLocks/>
          </p:cNvCxnSpPr>
          <p:nvPr/>
        </p:nvCxnSpPr>
        <p:spPr>
          <a:xfrm flipV="1">
            <a:off x="3003272" y="3330566"/>
            <a:ext cx="288235" cy="4980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D626CDC-5A46-2269-371D-074E3CA35A27}"/>
              </a:ext>
            </a:extLst>
          </p:cNvPr>
          <p:cNvCxnSpPr>
            <a:cxnSpLocks/>
          </p:cNvCxnSpPr>
          <p:nvPr/>
        </p:nvCxnSpPr>
        <p:spPr>
          <a:xfrm flipV="1">
            <a:off x="4464740" y="3330566"/>
            <a:ext cx="288235" cy="4980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81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 – G. P.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….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 −1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Constant = r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….,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- G. P.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Three numbers a, b, c are in G.P. 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dirty="0"/>
                  <a:t>         	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c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dirty="0"/>
                  <a:t>		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= ac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r</m:t>
                        </m:r>
                      </m:den>
                    </m:f>
                  </m:oMath>
                </a14:m>
                <a:r>
                  <a:rPr lang="en-US" sz="2400" dirty="0"/>
                  <a:t>, a, and </a:t>
                </a:r>
                <a:r>
                  <a:rPr lang="en-US" sz="2400" dirty="0" err="1"/>
                  <a:t>ar</a:t>
                </a:r>
                <a:endParaRPr lang="en-US" sz="24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den>
                    </m:f>
                  </m:oMath>
                </a14:m>
                <a:r>
                  <a:rPr lang="en-US" sz="2400" dirty="0"/>
                  <a:t>, </a:t>
                </a:r>
                <a:r>
                  <a:rPr lang="en-US" sz="2400" dirty="0" err="1"/>
                  <a:t>ar</a:t>
                </a:r>
                <a:r>
                  <a:rPr lang="en-US" sz="2400" dirty="0"/>
                  <a:t>, and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den>
                    </m:f>
                  </m:oMath>
                </a14:m>
                <a:r>
                  <a:rPr lang="en-US" sz="2400" dirty="0"/>
                  <a:t>, a, </a:t>
                </a:r>
                <a:r>
                  <a:rPr lang="en-US" sz="2400" dirty="0" err="1"/>
                  <a:t>ar</a:t>
                </a:r>
                <a:r>
                  <a:rPr lang="en-US" sz="2400" dirty="0"/>
                  <a:t>, and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0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984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 – G. P.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or l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  <m:r>
                          <m:rPr>
                            <m:nor/>
                          </m:rPr>
                          <a:rPr lang="en-US" sz="2400" dirty="0"/>
                          <m:t>−1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First Term = a, Common Ratio = r, and Terms =  m </a:t>
                </a:r>
              </a:p>
              <a:p>
                <a:r>
                  <a:rPr lang="en-US" sz="2400" dirty="0"/>
                  <a:t>nth term from the end = (m - n + 1)</a:t>
                </a:r>
                <a:r>
                  <a:rPr lang="en-US" sz="2400" dirty="0" err="1"/>
                  <a:t>th</a:t>
                </a:r>
                <a:r>
                  <a:rPr lang="en-US" sz="2400" dirty="0"/>
                  <a:t> term from beginning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dirty="0" smtClean="0"/>
                          <m:t>m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−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+1 −1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nth term from the end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  <m:r>
                          <m:rPr>
                            <m:nor/>
                          </m:rPr>
                          <a:rPr lang="en-US" sz="2400" dirty="0"/>
                          <m:t> − </m:t>
                        </m:r>
                        <m:r>
                          <m:rPr>
                            <m:nor/>
                          </m:rPr>
                          <a:rPr lang="en-US" sz="2400" dirty="0"/>
                          <m:t>n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nth term from the end in terms of last term ‘l’ &amp; common ratio ‘r’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l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 − 1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C30933-1649-BB51-3AA6-190ACC506E16}"/>
              </a:ext>
            </a:extLst>
          </p:cNvPr>
          <p:cNvCxnSpPr/>
          <p:nvPr/>
        </p:nvCxnSpPr>
        <p:spPr>
          <a:xfrm flipH="1">
            <a:off x="3250096" y="3492156"/>
            <a:ext cx="129209" cy="44726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AB2226-FB13-DB16-4EA6-D696AF5C8B1A}"/>
              </a:ext>
            </a:extLst>
          </p:cNvPr>
          <p:cNvCxnSpPr/>
          <p:nvPr/>
        </p:nvCxnSpPr>
        <p:spPr>
          <a:xfrm flipH="1">
            <a:off x="3631092" y="3492155"/>
            <a:ext cx="129209" cy="44726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317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 – G. P.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dirty="0"/>
                              <m:t>n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− 1)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− 1)</m:t>
                        </m:r>
                      </m:den>
                    </m:f>
                  </m:oMath>
                </a14:m>
                <a:r>
                  <a:rPr lang="en-US" dirty="0"/>
                  <a:t> when r &gt; 1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(1 −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dirty="0"/>
                              <m:t>n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when r &lt; 1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 err="1"/>
                  <a:t>na</a:t>
                </a:r>
                <a:r>
                  <a:rPr lang="en-US" dirty="0"/>
                  <a:t> when r = 1</a:t>
                </a:r>
              </a:p>
              <a:p>
                <a:pPr>
                  <a:lnSpc>
                    <a:spcPct val="100000"/>
                  </a:lnSpc>
                </a:pPr>
                <a:endParaRPr lang="en-US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lr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−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where l = last term &amp; r ≠ 1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(1 − 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when | r | &lt; 1 i.e., - 1 &lt; r &lt; 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938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Progression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Terms of a Sequence (Pattern)</a:t>
            </a:r>
          </a:p>
          <a:p>
            <a:r>
              <a:rPr lang="en-US" sz="2800" dirty="0"/>
              <a:t>Arithmetic Progression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Terms of Sequence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Increase/Decrease - Fixed Number </a:t>
            </a:r>
          </a:p>
          <a:p>
            <a:r>
              <a:rPr lang="en-US" sz="2800" dirty="0"/>
              <a:t>Geometric Progression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Sequence – Non-zero Numbers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Every Term (except the first one) 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Common/Constant Ratio - Preceding Term </a:t>
            </a:r>
          </a:p>
        </p:txBody>
      </p:sp>
    </p:spTree>
    <p:extLst>
      <p:ext uri="{BB962C8B-B14F-4D97-AF65-F5344CB8AC3E}">
        <p14:creationId xmlns:p14="http://schemas.microsoft.com/office/powerpoint/2010/main" val="736232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Arithmetic Progression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800" dirty="0"/>
                  <a:t>d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8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 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= a + (n - 1) d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{2a + (n - 1) d}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489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Geometric Progression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600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6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6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 −1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600" dirty="0"/>
                  <a:t> 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600" dirty="0"/>
                          <m:t>r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600" dirty="0"/>
                          <m:t>n</m:t>
                        </m:r>
                        <m:r>
                          <a:rPr lang="en-IN" sz="2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a</m:t>
                        </m:r>
                        <m:r>
                          <m:rPr>
                            <m:nor/>
                          </m:rPr>
                          <a:rPr lang="en-US" sz="2600" dirty="0"/>
                          <m:t>(</m:t>
                        </m:r>
                        <m:sSup>
                          <m:sSupPr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6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600" dirty="0"/>
                              <m:t>n</m:t>
                            </m:r>
                          </m:sup>
                        </m:s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600" dirty="0"/>
                          <m:t>− 1)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(</m:t>
                        </m:r>
                        <m:r>
                          <m:rPr>
                            <m:nor/>
                          </m:rPr>
                          <a:rPr lang="en-US" sz="2600" dirty="0"/>
                          <m:t>r</m:t>
                        </m:r>
                        <m:r>
                          <m:rPr>
                            <m:nor/>
                          </m:rPr>
                          <a:rPr lang="en-US" sz="2600" dirty="0"/>
                          <m:t> − 1)</m:t>
                        </m:r>
                      </m:den>
                    </m:f>
                  </m:oMath>
                </a14:m>
                <a:r>
                  <a:rPr lang="en-US" sz="2600" dirty="0"/>
                  <a:t> when r &gt; 1</a:t>
                </a:r>
                <a:endParaRPr lang="en-US" sz="26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a</m:t>
                        </m:r>
                        <m:r>
                          <m:rPr>
                            <m:nor/>
                          </m:rPr>
                          <a:rPr lang="en-US" sz="2600" dirty="0"/>
                          <m:t>(1 −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600" dirty="0"/>
                              <m:t>r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600" dirty="0"/>
                              <m:t>n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6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(1 − </m:t>
                        </m:r>
                        <m:r>
                          <m:rPr>
                            <m:nor/>
                          </m:rPr>
                          <a:rPr lang="en-US" sz="2600" dirty="0"/>
                          <m:t>r</m:t>
                        </m:r>
                        <m:r>
                          <m:rPr>
                            <m:nor/>
                          </m:rPr>
                          <a:rPr lang="en-US" sz="2600" dirty="0"/>
                          <m:t>)</m:t>
                        </m:r>
                      </m:den>
                    </m:f>
                  </m:oMath>
                </a14:m>
                <a:r>
                  <a:rPr lang="en-US" sz="2600" dirty="0"/>
                  <a:t> when r &lt; 1</a:t>
                </a:r>
                <a:endParaRPr lang="en-US" sz="26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:r>
                  <a:rPr lang="en-US" sz="2600" dirty="0" err="1"/>
                  <a:t>na</a:t>
                </a:r>
                <a:r>
                  <a:rPr lang="en-US" sz="2600" dirty="0"/>
                  <a:t> when r = 1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(1 − </m:t>
                        </m:r>
                        <m:r>
                          <m:rPr>
                            <m:nor/>
                          </m:rPr>
                          <a:rPr lang="en-US" sz="2600" dirty="0"/>
                          <m:t>r</m:t>
                        </m:r>
                        <m:r>
                          <m:rPr>
                            <m:nor/>
                          </m:rPr>
                          <a:rPr lang="en-US" sz="2600" dirty="0"/>
                          <m:t>)</m:t>
                        </m:r>
                      </m:den>
                    </m:f>
                  </m:oMath>
                </a14:m>
                <a:r>
                  <a:rPr lang="en-US" sz="2600" dirty="0"/>
                  <a:t> when | r | &lt; 1 i.e., - 1 &lt; r &lt; 1</a:t>
                </a:r>
              </a:p>
              <a:p>
                <a:pPr lvl="1">
                  <a:lnSpc>
                    <a:spcPct val="150000"/>
                  </a:lnSpc>
                </a:pP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578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Progression</a:t>
            </a:r>
          </a:p>
          <a:p>
            <a:pPr lvl="0" algn="just"/>
            <a:r>
              <a:rPr lang="en-US" dirty="0"/>
              <a:t>Arithmetic Progression</a:t>
            </a:r>
          </a:p>
          <a:p>
            <a:pPr lvl="0" algn="just"/>
            <a:r>
              <a:rPr lang="en-US" dirty="0"/>
              <a:t>Geometric Progression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4503</TotalTime>
  <Words>1436</Words>
  <Application>Microsoft Office PowerPoint</Application>
  <PresentationFormat>On-screen Show (4:3)</PresentationFormat>
  <Paragraphs>154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Sequence</vt:lpstr>
      <vt:lpstr>Progression</vt:lpstr>
      <vt:lpstr>Series</vt:lpstr>
      <vt:lpstr>Arithmetic Progression (A. P.)</vt:lpstr>
      <vt:lpstr>General Term – A. P.</vt:lpstr>
      <vt:lpstr>Sum of ‘n’ Terms– A. P.</vt:lpstr>
      <vt:lpstr>Important Points – A. P. </vt:lpstr>
      <vt:lpstr>Important Points – A. P. </vt:lpstr>
      <vt:lpstr>Important Points – A. P. </vt:lpstr>
      <vt:lpstr>Important Points – A. P. </vt:lpstr>
      <vt:lpstr>Geometeric Progression (G. P.)</vt:lpstr>
      <vt:lpstr>General Term – G. P.</vt:lpstr>
      <vt:lpstr>Sum of ‘n’ Terms– G. P.</vt:lpstr>
      <vt:lpstr>Important Points – G. P. </vt:lpstr>
      <vt:lpstr>Important Points – G. P. </vt:lpstr>
      <vt:lpstr>Important Points – G. P. 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351</cp:revision>
  <dcterms:created xsi:type="dcterms:W3CDTF">2020-12-18T18:59:12Z</dcterms:created>
  <dcterms:modified xsi:type="dcterms:W3CDTF">2022-05-11T07:24:05Z</dcterms:modified>
</cp:coreProperties>
</file>