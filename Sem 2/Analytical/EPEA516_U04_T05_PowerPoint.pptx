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78" r:id="rId2"/>
    <p:sldId id="674" r:id="rId3"/>
    <p:sldId id="633" r:id="rId4"/>
    <p:sldId id="746" r:id="rId5"/>
    <p:sldId id="747" r:id="rId6"/>
    <p:sldId id="705" r:id="rId7"/>
    <p:sldId id="749" r:id="rId8"/>
    <p:sldId id="755" r:id="rId9"/>
    <p:sldId id="706" r:id="rId10"/>
    <p:sldId id="751" r:id="rId11"/>
    <p:sldId id="753" r:id="rId12"/>
    <p:sldId id="750" r:id="rId13"/>
    <p:sldId id="752" r:id="rId14"/>
    <p:sldId id="754" r:id="rId15"/>
    <p:sldId id="718" r:id="rId16"/>
    <p:sldId id="688" r:id="rId17"/>
    <p:sldId id="728" r:id="rId18"/>
    <p:sldId id="756" r:id="rId19"/>
    <p:sldId id="655" r:id="rId20"/>
    <p:sldId id="757" r:id="rId21"/>
    <p:sldId id="729" r:id="rId22"/>
    <p:sldId id="758" r:id="rId23"/>
    <p:sldId id="677" r:id="rId24"/>
    <p:sldId id="761" r:id="rId25"/>
    <p:sldId id="679" r:id="rId26"/>
    <p:sldId id="343" r:id="rId27"/>
    <p:sldId id="34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1F28"/>
    <a:srgbClr val="262626"/>
    <a:srgbClr val="03232C"/>
    <a:srgbClr val="A8004B"/>
    <a:srgbClr val="ABABAB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develop understanding about basics of races,</a:t>
            </a:r>
          </a:p>
          <a:p>
            <a:pPr lvl="0" algn="just"/>
            <a:r>
              <a:rPr lang="en-US" dirty="0"/>
              <a:t>derive important facts and formulae relating to various problems on </a:t>
            </a:r>
            <a:r>
              <a:rPr lang="en-IN" dirty="0"/>
              <a:t>races,</a:t>
            </a:r>
            <a:endParaRPr lang="en-US" dirty="0"/>
          </a:p>
          <a:p>
            <a:pPr lvl="0" algn="just"/>
            <a:r>
              <a:rPr lang="en-US" dirty="0"/>
              <a:t>solve various problems relating to </a:t>
            </a:r>
            <a:r>
              <a:rPr lang="en-IN" dirty="0"/>
              <a:t>races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8437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&amp;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Race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A contest of Speed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Running/Driving/Riding/Sailing/Rowing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Specified Distance</a:t>
            </a:r>
          </a:p>
          <a:p>
            <a:pPr algn="just"/>
            <a:r>
              <a:rPr lang="en-US" dirty="0"/>
              <a:t>Racecourse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Ground/Path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Contests - Arranged </a:t>
            </a:r>
          </a:p>
        </p:txBody>
      </p:sp>
    </p:spTree>
    <p:extLst>
      <p:ext uri="{BB962C8B-B14F-4D97-AF65-F5344CB8AC3E}">
        <p14:creationId xmlns:p14="http://schemas.microsoft.com/office/powerpoint/2010/main" val="97714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&amp;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Starting Point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Race – Begins/Start</a:t>
            </a:r>
          </a:p>
          <a:p>
            <a:pPr algn="just"/>
            <a:r>
              <a:rPr lang="en-US" dirty="0"/>
              <a:t>Winning Post/Goal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Race – Finishes/Ends</a:t>
            </a:r>
          </a:p>
          <a:p>
            <a:pPr algn="just"/>
            <a:r>
              <a:rPr lang="en-US" dirty="0"/>
              <a:t>Winner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First Reaches - Finishing Point</a:t>
            </a:r>
          </a:p>
        </p:txBody>
      </p:sp>
    </p:spTree>
    <p:extLst>
      <p:ext uri="{BB962C8B-B14F-4D97-AF65-F5344CB8AC3E}">
        <p14:creationId xmlns:p14="http://schemas.microsoft.com/office/powerpoint/2010/main" val="3431898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&amp;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Dead-heat Race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All the persons contesting a race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Reach finishing point - Same time (exactly)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49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&amp;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A &amp; B - Two Contestants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A beats B by ‘t’ seconds. </a:t>
            </a:r>
          </a:p>
          <a:p>
            <a:pPr lvl="1" algn="just">
              <a:lnSpc>
                <a:spcPct val="170000"/>
              </a:lnSpc>
            </a:pPr>
            <a:r>
              <a:rPr lang="en-US" sz="2600" dirty="0"/>
              <a:t>A finishes the race ‘t’ seconds before B finishes.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A gives B a start of ‘t’ seconds. </a:t>
            </a:r>
          </a:p>
          <a:p>
            <a:pPr lvl="1" algn="just">
              <a:lnSpc>
                <a:spcPct val="170000"/>
              </a:lnSpc>
            </a:pPr>
            <a:r>
              <a:rPr lang="en-US" sz="2600" dirty="0"/>
              <a:t>A starts ‘t’ seconds after B starts from the same point. </a:t>
            </a:r>
          </a:p>
        </p:txBody>
      </p:sp>
    </p:spTree>
    <p:extLst>
      <p:ext uri="{BB962C8B-B14F-4D97-AF65-F5344CB8AC3E}">
        <p14:creationId xmlns:p14="http://schemas.microsoft.com/office/powerpoint/2010/main" val="4221410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&amp;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A &amp; B - Two Contestants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A gives B a start of ‘d’ m. </a:t>
            </a:r>
          </a:p>
          <a:p>
            <a:pPr lvl="1" algn="just">
              <a:lnSpc>
                <a:spcPct val="170000"/>
              </a:lnSpc>
            </a:pPr>
            <a:r>
              <a:rPr lang="en-US" sz="2600" dirty="0"/>
              <a:t>While A starts at the starting point, B starts ‘d’ m ahead from the starting point at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3177633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D4AD9-26EF-7E45-C11D-8085B461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&amp; Formulae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F5C6E-0817-4CA8-00AD-AA032CACF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A &amp; B - Two Contestants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Game of 100 </a:t>
            </a:r>
          </a:p>
          <a:p>
            <a:pPr lvl="1" algn="just">
              <a:lnSpc>
                <a:spcPct val="170000"/>
              </a:lnSpc>
            </a:pPr>
            <a:r>
              <a:rPr lang="en-US" sz="2600" dirty="0"/>
              <a:t>A game in which the participant scoring 100 points first is the winner.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In a game of 100, ‘A can give B 20 points’ </a:t>
            </a:r>
          </a:p>
          <a:p>
            <a:pPr lvl="1" algn="just">
              <a:lnSpc>
                <a:spcPct val="170000"/>
              </a:lnSpc>
            </a:pPr>
            <a:r>
              <a:rPr lang="en-US" sz="2600" dirty="0"/>
              <a:t>While A scores 100 points, B scores only (100–20) or 80 points.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915663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554C-DE94-9C50-975A-427C2014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&amp;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A is ‘n’ times as fast as B and A gives B a start of ‘d’ m. If both A and B reach the winning post at the same time, then the length of the race course is given by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nd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1</m:t>
                        </m:r>
                      </m:den>
                    </m:f>
                  </m:oMath>
                </a14:m>
                <a:r>
                  <a:rPr lang="en-US" dirty="0"/>
                  <a:t> ) 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6455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554C-DE94-9C50-975A-427C2014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A is 3 times as fast as B. If A gives B a start of 50 m. How long should the race course be so that both of them reach at the same time? </a:t>
                </a:r>
              </a:p>
              <a:p>
                <a:pPr algn="just"/>
                <a:r>
                  <a:rPr lang="en-US" dirty="0"/>
                  <a:t>Length of Race Course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nd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den>
                    </m:f>
                  </m:oMath>
                </a14:m>
                <a:r>
                  <a:rPr lang="en-US" dirty="0"/>
                  <a:t> ) m</a:t>
                </a:r>
              </a:p>
              <a:p>
                <a:pPr algn="just"/>
                <a:r>
                  <a:rPr lang="en-US" dirty="0"/>
                  <a:t>n = 3 and d = 50 m</a:t>
                </a:r>
              </a:p>
              <a:p>
                <a:pPr algn="just"/>
                <a:r>
                  <a:rPr lang="en-US" dirty="0"/>
                  <a:t>Length of Race Course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3 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50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3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den>
                    </m:f>
                  </m:oMath>
                </a14:m>
                <a:r>
                  <a:rPr lang="en-US" dirty="0"/>
                  <a:t> ) m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3 </m:t>
                        </m:r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  <m:r>
                          <m:rPr>
                            <m:nor/>
                          </m:rPr>
                          <a:rPr lang="en-IN" dirty="0"/>
                          <m:t> 50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) m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= 30 m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6647D3-7AF7-884B-3454-865FA4EA9BFF}"/>
              </a:ext>
            </a:extLst>
          </p:cNvPr>
          <p:cNvCxnSpPr/>
          <p:nvPr/>
        </p:nvCxnSpPr>
        <p:spPr>
          <a:xfrm flipV="1">
            <a:off x="6823589" y="5094356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7A69AF-4257-3F72-8E43-325589D542CF}"/>
              </a:ext>
            </a:extLst>
          </p:cNvPr>
          <p:cNvCxnSpPr/>
          <p:nvPr/>
        </p:nvCxnSpPr>
        <p:spPr>
          <a:xfrm flipV="1">
            <a:off x="6580662" y="5517527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848B5B0-6A90-1F0A-DF21-C19A88F40E61}"/>
              </a:ext>
            </a:extLst>
          </p:cNvPr>
          <p:cNvSpPr txBox="1"/>
          <p:nvPr/>
        </p:nvSpPr>
        <p:spPr>
          <a:xfrm>
            <a:off x="6948034" y="4725024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4141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554C-DE94-9C50-975A-427C2014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A runs 4 times as fast as B. If A gives B a start of 60 m, how far the winning post be so that A and B might reach it at the same time?</a:t>
                </a:r>
              </a:p>
              <a:p>
                <a:pPr algn="just"/>
                <a:r>
                  <a:rPr lang="en-US" dirty="0"/>
                  <a:t>Length of Race Course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nd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den>
                    </m:f>
                  </m:oMath>
                </a14:m>
                <a:r>
                  <a:rPr lang="en-US" dirty="0"/>
                  <a:t> ) m</a:t>
                </a:r>
              </a:p>
              <a:p>
                <a:pPr algn="just"/>
                <a:r>
                  <a:rPr lang="en-US" dirty="0"/>
                  <a:t>n = 4 and d = 60 m</a:t>
                </a:r>
              </a:p>
              <a:p>
                <a:pPr algn="just"/>
                <a:r>
                  <a:rPr lang="en-US" dirty="0"/>
                  <a:t>Distance of Winning Post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4 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60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den>
                    </m:f>
                  </m:oMath>
                </a14:m>
                <a:r>
                  <a:rPr lang="en-US" dirty="0"/>
                  <a:t> ) m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  <m:r>
                          <m:rPr>
                            <m:nor/>
                          </m:rPr>
                          <a:rPr lang="en-IN" dirty="0"/>
                          <m:t> 60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) m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    = 80 m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06647D3-7AF7-884B-3454-865FA4EA9BFF}"/>
              </a:ext>
            </a:extLst>
          </p:cNvPr>
          <p:cNvCxnSpPr/>
          <p:nvPr/>
        </p:nvCxnSpPr>
        <p:spPr>
          <a:xfrm flipV="1">
            <a:off x="7141643" y="5124173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7A69AF-4257-3F72-8E43-325589D542CF}"/>
              </a:ext>
            </a:extLst>
          </p:cNvPr>
          <p:cNvCxnSpPr/>
          <p:nvPr/>
        </p:nvCxnSpPr>
        <p:spPr>
          <a:xfrm flipV="1">
            <a:off x="6908655" y="5497649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848B5B0-6A90-1F0A-DF21-C19A88F40E61}"/>
              </a:ext>
            </a:extLst>
          </p:cNvPr>
          <p:cNvSpPr txBox="1"/>
          <p:nvPr/>
        </p:nvSpPr>
        <p:spPr>
          <a:xfrm>
            <a:off x="7276027" y="4705146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2296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554C-DE94-9C50-975A-427C2014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Basics, Important Facts &amp; Formulae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If A can run ‘d’ m race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seconds and B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seconds (where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), then A beats B by a distance of</a:t>
                </a:r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 b="0" i="0" smtClean="0"/>
                          <m:t>d</m:t>
                        </m:r>
                        <m:r>
                          <m:rPr>
                            <m:nor/>
                          </m:rPr>
                          <a:rPr lang="en-IN"/>
                          <m:t>)(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den>
                    </m:f>
                  </m:oMath>
                </a14:m>
                <a:r>
                  <a:rPr lang="en-IN" dirty="0"/>
                  <a:t> m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4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78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554C-DE94-9C50-975A-427C2014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can run 80 m in 20 seconds and B in 25 seconds. By what distance A beats B? </a:t>
                </a:r>
              </a:p>
              <a:p>
                <a:pPr algn="just"/>
                <a:r>
                  <a:rPr lang="en-US" dirty="0"/>
                  <a:t>A beats B by a distance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/>
                          <m:t>d</m:t>
                        </m:r>
                        <m:r>
                          <m:rPr>
                            <m:nor/>
                          </m:rPr>
                          <a:rPr lang="en-IN"/>
                          <m:t>)(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den>
                    </m:f>
                  </m:oMath>
                </a14:m>
                <a:r>
                  <a:rPr lang="en-IN" dirty="0"/>
                  <a:t> m,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d = 80 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20 seconds,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= 25 seconds</a:t>
                </a:r>
              </a:p>
              <a:p>
                <a:pPr algn="just"/>
                <a:r>
                  <a:rPr lang="en-US" dirty="0"/>
                  <a:t>A beats B by a distance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US" b="0" i="0" smtClean="0"/>
                          <m:t>8</m:t>
                        </m:r>
                        <m:r>
                          <m:rPr>
                            <m:nor/>
                          </m:rPr>
                          <a:rPr lang="en-IN" b="0" i="0" smtClean="0"/>
                          <m:t>0</m:t>
                        </m:r>
                        <m:r>
                          <m:rPr>
                            <m:nor/>
                          </m:rPr>
                          <a:rPr lang="en-IN"/>
                          <m:t>)(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25 − 20</m:t>
                        </m:r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25</m:t>
                        </m:r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den>
                    </m:f>
                  </m:oMath>
                </a14:m>
                <a:r>
                  <a:rPr lang="en-IN" dirty="0"/>
                  <a:t> 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 b="0" i="0" smtClean="0"/>
                          <m:t>8</m:t>
                        </m:r>
                        <m:r>
                          <m:rPr>
                            <m:nor/>
                          </m:rPr>
                          <a:rPr lang="en-IN"/>
                          <m:t>0)(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25</m:t>
                        </m:r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den>
                    </m:f>
                  </m:oMath>
                </a14:m>
                <a:r>
                  <a:rPr lang="en-IN" dirty="0"/>
                  <a:t> m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 = 16 m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8D22BF-89BA-5CF3-883A-E5A947B0B68D}"/>
              </a:ext>
            </a:extLst>
          </p:cNvPr>
          <p:cNvCxnSpPr/>
          <p:nvPr/>
        </p:nvCxnSpPr>
        <p:spPr>
          <a:xfrm flipV="1">
            <a:off x="7682949" y="4982124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1ED48C-D08A-7286-8FB0-9A8E8898F600}"/>
              </a:ext>
            </a:extLst>
          </p:cNvPr>
          <p:cNvCxnSpPr/>
          <p:nvPr/>
        </p:nvCxnSpPr>
        <p:spPr>
          <a:xfrm flipV="1">
            <a:off x="7330691" y="5399914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952834-06EC-148A-DB8D-015D413F672B}"/>
              </a:ext>
            </a:extLst>
          </p:cNvPr>
          <p:cNvSpPr txBox="1"/>
          <p:nvPr/>
        </p:nvSpPr>
        <p:spPr>
          <a:xfrm>
            <a:off x="7827648" y="5369584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FAEBE-F30B-AE43-B8CA-4342BB0A4F36}"/>
              </a:ext>
            </a:extLst>
          </p:cNvPr>
          <p:cNvSpPr txBox="1"/>
          <p:nvPr/>
        </p:nvSpPr>
        <p:spPr>
          <a:xfrm>
            <a:off x="6942443" y="4600850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16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EEDFC5-3169-56B8-2281-0359BBAFA7CF}"/>
              </a:ext>
            </a:extLst>
          </p:cNvPr>
          <p:cNvCxnSpPr/>
          <p:nvPr/>
        </p:nvCxnSpPr>
        <p:spPr>
          <a:xfrm flipV="1">
            <a:off x="7176053" y="4982124"/>
            <a:ext cx="506896" cy="188844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29F0BD-F6E0-7BF1-8A4D-98D22CDC24EE}"/>
              </a:ext>
            </a:extLst>
          </p:cNvPr>
          <p:cNvCxnSpPr>
            <a:cxnSpLocks/>
          </p:cNvCxnSpPr>
          <p:nvPr/>
        </p:nvCxnSpPr>
        <p:spPr>
          <a:xfrm flipV="1">
            <a:off x="7787892" y="5449609"/>
            <a:ext cx="382075" cy="249015"/>
          </a:xfrm>
          <a:prstGeom prst="line">
            <a:avLst/>
          </a:prstGeom>
          <a:ln w="381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375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554C-DE94-9C50-975A-427C2014D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 can run 1000 m in 7 min and B can cover the same distance in 10 min. By what distance can A beat B? </a:t>
                </a:r>
              </a:p>
              <a:p>
                <a:pPr algn="just"/>
                <a:r>
                  <a:rPr lang="en-US" dirty="0"/>
                  <a:t>A beats B by a distance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/>
                          <m:t>d</m:t>
                        </m:r>
                        <m:r>
                          <m:rPr>
                            <m:nor/>
                          </m:rPr>
                          <a:rPr lang="en-IN"/>
                          <m:t>)(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den>
                    </m:f>
                  </m:oMath>
                </a14:m>
                <a:r>
                  <a:rPr lang="en-IN" dirty="0"/>
                  <a:t> m,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d = 1000 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7 seconds,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= 10 seconds</a:t>
                </a:r>
              </a:p>
              <a:p>
                <a:pPr algn="just"/>
                <a:r>
                  <a:rPr lang="en-US" dirty="0"/>
                  <a:t>A beats B by a distance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 b="0" i="0" smtClean="0"/>
                          <m:t>1000</m:t>
                        </m:r>
                        <m:r>
                          <m:rPr>
                            <m:nor/>
                          </m:rPr>
                          <a:rPr lang="en-IN"/>
                          <m:t>)(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10 − 7</m:t>
                        </m:r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10</m:t>
                        </m:r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den>
                    </m:f>
                  </m:oMath>
                </a14:m>
                <a:r>
                  <a:rPr lang="en-IN" dirty="0"/>
                  <a:t> m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 b="0" i="0" smtClean="0"/>
                          <m:t>100</m:t>
                        </m:r>
                        <m:r>
                          <m:rPr>
                            <m:nor/>
                          </m:rPr>
                          <a:rPr lang="en-IN"/>
                          <m:t>0)(</m:t>
                        </m:r>
                        <m:r>
                          <m:rPr>
                            <m:nor/>
                          </m:rPr>
                          <a:rPr lang="en-IN" b="0" i="0" smtClean="0"/>
                          <m:t>3</m:t>
                        </m:r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10</m:t>
                        </m:r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den>
                    </m:f>
                  </m:oMath>
                </a14:m>
                <a:r>
                  <a:rPr lang="en-IN" dirty="0"/>
                  <a:t> m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 = 300 m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80903C-EB5B-C4E5-8F94-0BED9D05D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8D22BF-89BA-5CF3-883A-E5A947B0B68D}"/>
              </a:ext>
            </a:extLst>
          </p:cNvPr>
          <p:cNvCxnSpPr>
            <a:cxnSpLocks/>
          </p:cNvCxnSpPr>
          <p:nvPr/>
        </p:nvCxnSpPr>
        <p:spPr>
          <a:xfrm flipV="1">
            <a:off x="7629517" y="4970528"/>
            <a:ext cx="154638" cy="270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1ED48C-D08A-7286-8FB0-9A8E8898F600}"/>
              </a:ext>
            </a:extLst>
          </p:cNvPr>
          <p:cNvCxnSpPr>
            <a:cxnSpLocks/>
          </p:cNvCxnSpPr>
          <p:nvPr/>
        </p:nvCxnSpPr>
        <p:spPr>
          <a:xfrm flipV="1">
            <a:off x="7673864" y="5350911"/>
            <a:ext cx="153474" cy="2514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139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In a 1200 m race, A beats B by 20 m in 5 seconds. Find A’s time over the course.</a:t>
                </a:r>
              </a:p>
              <a:p>
                <a:pPr algn="just"/>
                <a:r>
                  <a:rPr lang="en-US" dirty="0"/>
                  <a:t>B covers 20 m in 5 seconds.</a:t>
                </a:r>
              </a:p>
              <a:p>
                <a:pPr algn="just"/>
                <a:r>
                  <a:rPr lang="en-US" dirty="0"/>
                  <a:t>B’s time over the course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5 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12</m:t>
                        </m:r>
                        <m:r>
                          <m:rPr>
                            <m:nor/>
                          </m:rPr>
                          <a:rPr lang="en-US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20</m:t>
                        </m:r>
                      </m:den>
                    </m:f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			= 300 sec</a:t>
                </a:r>
              </a:p>
              <a:p>
                <a:pPr algn="just"/>
                <a:r>
                  <a:rPr lang="en-US" dirty="0"/>
                  <a:t>A’s time over the course 	= (300 – 5) sec = 295 sec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	= 4 min 55 sec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1B48F4-51C8-73DB-BB07-885C71BE2056}"/>
              </a:ext>
            </a:extLst>
          </p:cNvPr>
          <p:cNvCxnSpPr>
            <a:cxnSpLocks/>
          </p:cNvCxnSpPr>
          <p:nvPr/>
        </p:nvCxnSpPr>
        <p:spPr>
          <a:xfrm flipV="1">
            <a:off x="5706774" y="3694252"/>
            <a:ext cx="815009" cy="21451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A512EB-E1B0-87F0-EE5A-49FD5A895F56}"/>
              </a:ext>
            </a:extLst>
          </p:cNvPr>
          <p:cNvCxnSpPr>
            <a:cxnSpLocks/>
          </p:cNvCxnSpPr>
          <p:nvPr/>
        </p:nvCxnSpPr>
        <p:spPr>
          <a:xfrm flipV="1">
            <a:off x="5616493" y="4114800"/>
            <a:ext cx="458029" cy="10684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F852E72-8528-61DB-46FF-E6B963E3A1EE}"/>
              </a:ext>
            </a:extLst>
          </p:cNvPr>
          <p:cNvSpPr txBox="1"/>
          <p:nvPr/>
        </p:nvSpPr>
        <p:spPr>
          <a:xfrm>
            <a:off x="6114278" y="3324920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625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In a 200 m race, A beats B by 40 m and B beats C by 50 m. In the same race, find the distance by which A beats C. 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B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200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200 − 4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200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160</m:t>
                        </m:r>
                      </m:den>
                    </m:f>
                    <m:r>
                      <a:rPr lang="en-I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C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IN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200 − 5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200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C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B</m:t>
                        </m:r>
                      </m:den>
                    </m:f>
                  </m:oMath>
                </a14:m>
                <a:r>
                  <a:rPr lang="en-US" dirty="0"/>
                  <a:t> x</a:t>
                </a:r>
                <a14:m>
                  <m:oMath xmlns:m="http://schemas.openxmlformats.org/officeDocument/2006/math">
                    <m:r>
                      <a:rPr lang="en-IN" b="0" i="0" smtClean="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C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IN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IN" dirty="0"/>
                          <m:t>6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2</m:t>
                        </m:r>
                        <m:r>
                          <m:rPr>
                            <m:nor/>
                          </m:rPr>
                          <a:rPr lang="en-IN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150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C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4 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5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4 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3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200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120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A beats C = (200 – 120) m = 80 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A5B37AF-5E29-9E7F-17F7-49BE22BD442E}"/>
              </a:ext>
            </a:extLst>
          </p:cNvPr>
          <p:cNvCxnSpPr/>
          <p:nvPr/>
        </p:nvCxnSpPr>
        <p:spPr>
          <a:xfrm flipV="1">
            <a:off x="2993718" y="3891376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B9C7AF-95C0-3510-9CD4-E9BF7A07BA3E}"/>
              </a:ext>
            </a:extLst>
          </p:cNvPr>
          <p:cNvCxnSpPr/>
          <p:nvPr/>
        </p:nvCxnSpPr>
        <p:spPr>
          <a:xfrm flipV="1">
            <a:off x="2166732" y="4234276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8CC625D-4FC4-E96F-7A5C-4DC76BE735DB}"/>
              </a:ext>
            </a:extLst>
          </p:cNvPr>
          <p:cNvSpPr txBox="1"/>
          <p:nvPr/>
        </p:nvSpPr>
        <p:spPr>
          <a:xfrm>
            <a:off x="2194001" y="347007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790D0-17AF-73AD-F7B4-314FBCEC7A7B}"/>
              </a:ext>
            </a:extLst>
          </p:cNvPr>
          <p:cNvCxnSpPr/>
          <p:nvPr/>
        </p:nvCxnSpPr>
        <p:spPr>
          <a:xfrm flipV="1">
            <a:off x="2990850" y="4224337"/>
            <a:ext cx="506896" cy="18884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9D48F9-3DAF-6679-C6AF-D8F5F680B25C}"/>
              </a:ext>
            </a:extLst>
          </p:cNvPr>
          <p:cNvCxnSpPr/>
          <p:nvPr/>
        </p:nvCxnSpPr>
        <p:spPr>
          <a:xfrm flipV="1">
            <a:off x="2194001" y="3901315"/>
            <a:ext cx="506896" cy="188844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BCAA7F5-A4A0-B145-F810-FC9AF6F23267}"/>
              </a:ext>
            </a:extLst>
          </p:cNvPr>
          <p:cNvSpPr txBox="1"/>
          <p:nvPr/>
        </p:nvSpPr>
        <p:spPr>
          <a:xfrm>
            <a:off x="3497746" y="420404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A18A33-5159-312F-A424-9A1063338BE7}"/>
              </a:ext>
            </a:extLst>
          </p:cNvPr>
          <p:cNvSpPr txBox="1"/>
          <p:nvPr/>
        </p:nvSpPr>
        <p:spPr>
          <a:xfrm>
            <a:off x="2990850" y="3471385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EA8AA0-745F-2798-AF4F-B527AE549B28}"/>
              </a:ext>
            </a:extLst>
          </p:cNvPr>
          <p:cNvSpPr txBox="1"/>
          <p:nvPr/>
        </p:nvSpPr>
        <p:spPr>
          <a:xfrm>
            <a:off x="2185066" y="441318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4670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In a game of 100 points, A can give B 10 points and C 25 points. How many points B can give C in a game of 180?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B</m:t>
                        </m:r>
                      </m:den>
                    </m:f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IN" sz="2400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00 − 1</m:t>
                        </m:r>
                        <m:r>
                          <m:rPr>
                            <m:nor/>
                          </m:rPr>
                          <a:rPr lang="en-IN" sz="2400" dirty="0"/>
                          <m:t>0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en-IN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IN" sz="2400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  <m:r>
                          <m:rPr>
                            <m:nor/>
                          </m:rPr>
                          <a:rPr lang="en-US" sz="2400" dirty="0"/>
                          <m:t>0</m:t>
                        </m:r>
                      </m:den>
                    </m:f>
                    <m:r>
                      <a:rPr lang="en-I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C</m:t>
                        </m:r>
                      </m:den>
                    </m:f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IN" sz="2400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00 − 2</m:t>
                        </m:r>
                        <m:r>
                          <m:rPr>
                            <m:nor/>
                          </m:rPr>
                          <a:rPr lang="en-IN" sz="2400" dirty="0"/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en-IN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IN" sz="2400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75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C</m:t>
                        </m:r>
                      </m:den>
                    </m:f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</m:den>
                    </m:f>
                  </m:oMath>
                </a14:m>
                <a:r>
                  <a:rPr lang="en-US" sz="2400" dirty="0"/>
                  <a:t> x</a:t>
                </a:r>
                <a14:m>
                  <m:oMath xmlns:m="http://schemas.openxmlformats.org/officeDocument/2006/math">
                    <m:r>
                      <a:rPr lang="en-IN" sz="2400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C</m:t>
                        </m:r>
                      </m:den>
                    </m:f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  <m:r>
                          <m:rPr>
                            <m:nor/>
                          </m:rPr>
                          <a:rPr lang="en-IN" sz="2400" dirty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0</m:t>
                        </m:r>
                        <m:r>
                          <m:rPr>
                            <m:nor/>
                          </m:rPr>
                          <a:rPr lang="en-IN" sz="2400" dirty="0"/>
                          <m:t>0</m:t>
                        </m:r>
                      </m:den>
                    </m:f>
                  </m:oMath>
                </a14:m>
                <a:r>
                  <a:rPr lang="en-US" sz="2400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IN" sz="2400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7</m:t>
                        </m:r>
                        <m:r>
                          <m:rPr>
                            <m:nor/>
                          </m:rPr>
                          <a:rPr lang="en-IN" sz="2400" dirty="0"/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          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B</m:t>
                        </m:r>
                      </m:den>
                    </m:f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</m:t>
                        </m:r>
                        <m:r>
                          <m:rPr>
                            <m:nor/>
                          </m:rPr>
                          <a:rPr lang="en-IN" sz="2400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90</m:t>
                        </m:r>
                      </m:den>
                    </m:f>
                  </m:oMath>
                </a14:m>
                <a:r>
                  <a:rPr lang="en-US" sz="2400" dirty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A</m:t>
                        </m:r>
                      </m:den>
                    </m:f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9</m:t>
                        </m:r>
                        <m:r>
                          <m:rPr>
                            <m:nor/>
                          </m:rPr>
                          <a:rPr lang="en-IN" sz="2400" dirty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dirty="0" smtClean="0"/>
                          <m:t>10</m:t>
                        </m:r>
                        <m:r>
                          <m:rPr>
                            <m:nor/>
                          </m:rPr>
                          <a:rPr lang="en-US" sz="2400" dirty="0"/>
                          <m:t>0</m:t>
                        </m:r>
                      </m:den>
                    </m:f>
                  </m:oMath>
                </a14:m>
                <a:r>
                  <a:rPr lang="en-US" sz="2400" dirty="0"/>
                  <a:t> }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C</m:t>
                        </m:r>
                      </m:den>
                    </m:f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18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5</m:t>
                        </m:r>
                      </m:den>
                    </m:f>
                  </m:oMath>
                </a14:m>
                <a:r>
                  <a:rPr lang="en-US" sz="2400" dirty="0"/>
                  <a:t>  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C</m:t>
                        </m:r>
                      </m:den>
                    </m:f>
                  </m:oMath>
                </a14:m>
                <a:r>
                  <a:rPr lang="en-IN" sz="2400" dirty="0"/>
                  <a:t> </a:t>
                </a:r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18 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10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5 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10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en-IN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18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dirty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5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0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403DDE-6EA2-6A35-1A4D-65DD071698B6}"/>
              </a:ext>
            </a:extLst>
          </p:cNvPr>
          <p:cNvCxnSpPr/>
          <p:nvPr/>
        </p:nvCxnSpPr>
        <p:spPr>
          <a:xfrm flipV="1">
            <a:off x="2921276" y="3901315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14D858-6DC1-ABDC-A3B1-AAE3B2AA88CC}"/>
              </a:ext>
            </a:extLst>
          </p:cNvPr>
          <p:cNvCxnSpPr/>
          <p:nvPr/>
        </p:nvCxnSpPr>
        <p:spPr>
          <a:xfrm flipV="1">
            <a:off x="2172592" y="4246285"/>
            <a:ext cx="506896" cy="1888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E7F69F8-219C-453F-EA95-9877FBF233EC}"/>
              </a:ext>
            </a:extLst>
          </p:cNvPr>
          <p:cNvSpPr txBox="1"/>
          <p:nvPr/>
        </p:nvSpPr>
        <p:spPr>
          <a:xfrm>
            <a:off x="3268192" y="443512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0F6973-FE31-013A-F321-BA794827D40F}"/>
              </a:ext>
            </a:extLst>
          </p:cNvPr>
          <p:cNvCxnSpPr/>
          <p:nvPr/>
        </p:nvCxnSpPr>
        <p:spPr>
          <a:xfrm flipV="1">
            <a:off x="2911337" y="4216260"/>
            <a:ext cx="506896" cy="18884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D549F3-753E-4FF0-AF4D-91E6D76F370C}"/>
              </a:ext>
            </a:extLst>
          </p:cNvPr>
          <p:cNvCxnSpPr/>
          <p:nvPr/>
        </p:nvCxnSpPr>
        <p:spPr>
          <a:xfrm flipV="1">
            <a:off x="2172592" y="3876466"/>
            <a:ext cx="506896" cy="188844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69E9216-6866-7CD7-DE62-4C85896473E9}"/>
              </a:ext>
            </a:extLst>
          </p:cNvPr>
          <p:cNvSpPr txBox="1"/>
          <p:nvPr/>
        </p:nvSpPr>
        <p:spPr>
          <a:xfrm>
            <a:off x="2275999" y="3531983"/>
            <a:ext cx="391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227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C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18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B can give C (180 – 150 = 30) points in a game of 180.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21482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A, B and C are three contestants in a 1000 m race. If A can give B a start of 200 m and A can give C a start of 500 m, how many </a:t>
                </a:r>
                <a:r>
                  <a:rPr lang="en-US" dirty="0" err="1"/>
                  <a:t>metres</a:t>
                </a:r>
                <a:r>
                  <a:rPr lang="en-US" dirty="0"/>
                  <a:t> start can B give C?</a:t>
                </a:r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B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10</m:t>
                        </m:r>
                        <m:r>
                          <m:rPr>
                            <m:nor/>
                          </m:rPr>
                          <a:rPr lang="en-IN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00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− 200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  <m:r>
                          <m:rPr>
                            <m:nor/>
                          </m:rPr>
                          <a:rPr lang="en-IN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8</m:t>
                        </m:r>
                        <m:r>
                          <m:rPr>
                            <m:nor/>
                          </m:rPr>
                          <a:rPr lang="en-US" dirty="0"/>
                          <m:t>0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C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  <m:r>
                          <m:rPr>
                            <m:nor/>
                          </m:rPr>
                          <a:rPr lang="en-IN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  <m:r>
                          <m:rPr>
                            <m:nor/>
                          </m:rPr>
                          <a:rPr lang="en-US" dirty="0"/>
                          <m:t>00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US" dirty="0"/>
                          <m:t>00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  <m:r>
                          <m:rPr>
                            <m:nor/>
                          </m:rPr>
                          <a:rPr lang="en-IN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US" dirty="0"/>
                          <m:t>0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C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den>
                    </m:f>
                  </m:oMath>
                </a14:m>
                <a:r>
                  <a:rPr lang="en-US" dirty="0"/>
                  <a:t> x</a:t>
                </a:r>
                <a14:m>
                  <m:oMath xmlns:m="http://schemas.openxmlformats.org/officeDocument/2006/math">
                    <m:r>
                      <a:rPr lang="en-IN">
                        <a:solidFill>
                          <a:srgbClr val="836967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C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8</m:t>
                        </m:r>
                        <m:r>
                          <m:rPr>
                            <m:nor/>
                          </m:rPr>
                          <a:rPr lang="en-IN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00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10</m:t>
                        </m:r>
                        <m:r>
                          <m:rPr>
                            <m:nor/>
                          </m:rPr>
                          <a:rPr lang="en-IN" dirty="0"/>
                          <m:t>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5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</m:t>
                        </m:r>
                        <m:r>
                          <m:rPr>
                            <m:nor/>
                          </m:rPr>
                          <a:rPr lang="en-IN" dirty="0"/>
                          <m:t>0</m:t>
                        </m:r>
                      </m:den>
                    </m:f>
                  </m:oMath>
                </a14:m>
                <a:r>
                  <a:rPr lang="en-US" dirty="0"/>
                  <a:t>  	</a:t>
                </a:r>
                <a:r>
                  <a:rPr lang="en-US" sz="2800" dirty="0"/>
                  <a:t>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800" dirty="0"/>
                          <m:t>B</m:t>
                        </m:r>
                      </m:den>
                    </m:f>
                  </m:oMath>
                </a14:m>
                <a:r>
                  <a:rPr lang="en-IN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1</m:t>
                        </m:r>
                        <m:r>
                          <m:rPr>
                            <m:nor/>
                          </m:rPr>
                          <a:rPr lang="en-IN" sz="2800" dirty="0"/>
                          <m:t>0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0</m:t>
                        </m:r>
                        <m:r>
                          <m:rPr>
                            <m:nor/>
                          </m:rPr>
                          <a:rPr lang="en-IN" sz="2800" dirty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b="0" i="0" dirty="0" smtClean="0"/>
                          <m:t>80</m:t>
                        </m:r>
                        <m:r>
                          <m:rPr>
                            <m:nor/>
                          </m:rPr>
                          <a:rPr lang="en-US" sz="2800" dirty="0"/>
                          <m:t>0</m:t>
                        </m:r>
                      </m:den>
                    </m:f>
                  </m:oMath>
                </a14:m>
                <a:r>
                  <a:rPr lang="en-US" sz="2800" dirty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dirty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A</m:t>
                        </m:r>
                      </m:den>
                    </m:f>
                  </m:oMath>
                </a14:m>
                <a:r>
                  <a:rPr lang="en-IN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800" b="0" i="0" dirty="0" smtClean="0"/>
                          <m:t>80</m:t>
                        </m:r>
                        <m:r>
                          <m:rPr>
                            <m:nor/>
                          </m:rPr>
                          <a:rPr lang="en-IN" sz="2800" dirty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800" dirty="0"/>
                          <m:t>10</m:t>
                        </m:r>
                        <m:r>
                          <m:rPr>
                            <m:nor/>
                          </m:rPr>
                          <a:rPr lang="en-US" sz="2800" b="0" i="0" dirty="0" smtClean="0"/>
                          <m:t>0</m:t>
                        </m:r>
                        <m:r>
                          <m:rPr>
                            <m:nor/>
                          </m:rPr>
                          <a:rPr lang="en-US" sz="2800" dirty="0"/>
                          <m:t>0</m:t>
                        </m:r>
                      </m:den>
                    </m:f>
                  </m:oMath>
                </a14:m>
                <a:r>
                  <a:rPr lang="en-US" sz="2800" dirty="0"/>
                  <a:t> }</a:t>
                </a:r>
              </a:p>
              <a:p>
                <a:pPr marL="0" indent="0" algn="just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A6B433-1B17-D6D8-43DF-358DC12A77AC}"/>
              </a:ext>
            </a:extLst>
          </p:cNvPr>
          <p:cNvCxnSpPr>
            <a:cxnSpLocks/>
          </p:cNvCxnSpPr>
          <p:nvPr/>
        </p:nvCxnSpPr>
        <p:spPr>
          <a:xfrm flipV="1">
            <a:off x="3293993" y="5849991"/>
            <a:ext cx="790955" cy="19242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67D0FA-00CA-1A59-CF95-23206D0F6359}"/>
              </a:ext>
            </a:extLst>
          </p:cNvPr>
          <p:cNvCxnSpPr>
            <a:cxnSpLocks/>
          </p:cNvCxnSpPr>
          <p:nvPr/>
        </p:nvCxnSpPr>
        <p:spPr>
          <a:xfrm flipV="1">
            <a:off x="2274145" y="6218780"/>
            <a:ext cx="790955" cy="21017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52A93D7-C932-9F84-CD7F-3B78B4A5217F}"/>
              </a:ext>
            </a:extLst>
          </p:cNvPr>
          <p:cNvSpPr txBox="1"/>
          <p:nvPr/>
        </p:nvSpPr>
        <p:spPr>
          <a:xfrm>
            <a:off x="3930098" y="618908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2D81E-E33B-FC60-628F-F384EA777A94}"/>
              </a:ext>
            </a:extLst>
          </p:cNvPr>
          <p:cNvCxnSpPr>
            <a:cxnSpLocks/>
          </p:cNvCxnSpPr>
          <p:nvPr/>
        </p:nvCxnSpPr>
        <p:spPr>
          <a:xfrm flipV="1">
            <a:off x="3339547" y="6224732"/>
            <a:ext cx="590551" cy="196019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A70071-91BD-F84C-D76F-91DA6EF01686}"/>
              </a:ext>
            </a:extLst>
          </p:cNvPr>
          <p:cNvCxnSpPr>
            <a:cxnSpLocks/>
          </p:cNvCxnSpPr>
          <p:nvPr/>
        </p:nvCxnSpPr>
        <p:spPr>
          <a:xfrm flipV="1">
            <a:off x="2274145" y="5838773"/>
            <a:ext cx="741112" cy="232502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75D867E-3E1C-C995-CA8D-A5DE6AF8077F}"/>
              </a:ext>
            </a:extLst>
          </p:cNvPr>
          <p:cNvSpPr txBox="1"/>
          <p:nvPr/>
        </p:nvSpPr>
        <p:spPr>
          <a:xfrm>
            <a:off x="2476878" y="544306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262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C</m:t>
                        </m:r>
                      </m:den>
                    </m:f>
                  </m:oMath>
                </a14:m>
                <a:r>
                  <a:rPr lang="en-IN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8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5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B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C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:r>
                  <a:rPr lang="en-US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8 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125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5 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125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IN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00</m:t>
                        </m:r>
                        <m:r>
                          <m:rPr>
                            <m:nor/>
                          </m:rPr>
                          <a:rPr lang="en-US" dirty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625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algn="just"/>
                <a:r>
                  <a:rPr lang="en-US" dirty="0"/>
                  <a:t>B can give C a start of (1000 – 625) m = 375 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1810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algn="just"/>
                <a:r>
                  <a:rPr lang="en-US" dirty="0"/>
                  <a:t>In a 300 m race, A runs 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/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m/s. If A gives B a start of 20 m and still beats him by 50 seconds, what is B’s speed? </a:t>
                </a:r>
              </a:p>
              <a:p>
                <a:pPr algn="just"/>
                <a:r>
                  <a:rPr lang="en-US" dirty="0"/>
                  <a:t>Speed of A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/>
                          <m:t>3</m:t>
                        </m:r>
                      </m:den>
                    </m:f>
                  </m:oMath>
                </a14:m>
                <a:r>
                  <a:rPr lang="en-US" dirty="0"/>
                  <a:t> m/s, Distance = 300 m, and Time  = ?</a:t>
                </a:r>
              </a:p>
              <a:p>
                <a:pPr algn="just"/>
                <a:r>
                  <a:rPr lang="en-US" dirty="0"/>
                  <a:t>Time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Distance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/>
                          <m:t>Speed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300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dirty="0" smtClean="0"/>
                              <m:t>10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smtClean="0"/>
                              <m:t>3</m:t>
                            </m:r>
                          </m:den>
                        </m:f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Time  = 90 seconds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 b="-7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301983-EF7F-BCFC-F327-145A503F96CB}"/>
              </a:ext>
            </a:extLst>
          </p:cNvPr>
          <p:cNvCxnSpPr>
            <a:cxnSpLocks/>
          </p:cNvCxnSpPr>
          <p:nvPr/>
        </p:nvCxnSpPr>
        <p:spPr>
          <a:xfrm flipV="1">
            <a:off x="3386343" y="5425070"/>
            <a:ext cx="639005" cy="12423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DEE610-D7CA-2334-C6EC-ACD62113918F}"/>
              </a:ext>
            </a:extLst>
          </p:cNvPr>
          <p:cNvCxnSpPr>
            <a:cxnSpLocks/>
          </p:cNvCxnSpPr>
          <p:nvPr/>
        </p:nvCxnSpPr>
        <p:spPr>
          <a:xfrm flipV="1">
            <a:off x="3419369" y="5055738"/>
            <a:ext cx="572951" cy="1089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BFE14E-2EDD-D357-A8DD-332AA6461958}"/>
              </a:ext>
            </a:extLst>
          </p:cNvPr>
          <p:cNvSpPr txBox="1"/>
          <p:nvPr/>
        </p:nvSpPr>
        <p:spPr>
          <a:xfrm>
            <a:off x="3489278" y="4541084"/>
            <a:ext cx="433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30</a:t>
            </a:r>
            <a:endParaRPr lang="en-IN" dirty="0"/>
          </a:p>
        </p:txBody>
      </p:sp>
      <p:sp>
        <p:nvSpPr>
          <p:cNvPr id="12" name="Arrow: Curved Down 11">
            <a:extLst>
              <a:ext uri="{FF2B5EF4-FFF2-40B4-BE49-F238E27FC236}">
                <a16:creationId xmlns:a16="http://schemas.microsoft.com/office/drawing/2014/main" id="{208AB4E0-8704-7A68-F5BD-690F262D1110}"/>
              </a:ext>
            </a:extLst>
          </p:cNvPr>
          <p:cNvSpPr/>
          <p:nvPr/>
        </p:nvSpPr>
        <p:spPr>
          <a:xfrm rot="16200000" flipV="1">
            <a:off x="3523992" y="5003413"/>
            <a:ext cx="1280534" cy="483698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196E646-6C18-F29A-0AE4-8CAD4EC87A03}"/>
              </a:ext>
            </a:extLst>
          </p:cNvPr>
          <p:cNvSpPr/>
          <p:nvPr/>
        </p:nvSpPr>
        <p:spPr>
          <a:xfrm>
            <a:off x="3489278" y="5653255"/>
            <a:ext cx="437319" cy="35325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2444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Distance covered by B = (300 – 20)m = 280 m</a:t>
                </a:r>
              </a:p>
              <a:p>
                <a:pPr algn="just"/>
                <a:r>
                  <a:rPr lang="en-US" dirty="0"/>
                  <a:t>Time taken by B = (90 + 50) = 140 seconds</a:t>
                </a:r>
              </a:p>
              <a:p>
                <a:pPr algn="just"/>
                <a:r>
                  <a:rPr lang="en-US" dirty="0"/>
                  <a:t>Speed of B 	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Distance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/>
                          <m:t>Time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 algn="just">
                  <a:buNone/>
                </a:pPr>
                <a:r>
                  <a:rPr lang="en-US" dirty="0"/>
                  <a:t>			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280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/>
                          <m:t>140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m/s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2</m:t>
                    </m:r>
                  </m:oMath>
                </a14:m>
                <a:r>
                  <a:rPr lang="en-US" dirty="0"/>
                  <a:t> m/s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301983-EF7F-BCFC-F327-145A503F96CB}"/>
              </a:ext>
            </a:extLst>
          </p:cNvPr>
          <p:cNvCxnSpPr>
            <a:cxnSpLocks/>
          </p:cNvCxnSpPr>
          <p:nvPr/>
        </p:nvCxnSpPr>
        <p:spPr>
          <a:xfrm flipV="1">
            <a:off x="3452386" y="4635177"/>
            <a:ext cx="639005" cy="12423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DEE610-D7CA-2334-C6EC-ACD62113918F}"/>
              </a:ext>
            </a:extLst>
          </p:cNvPr>
          <p:cNvCxnSpPr>
            <a:cxnSpLocks/>
          </p:cNvCxnSpPr>
          <p:nvPr/>
        </p:nvCxnSpPr>
        <p:spPr>
          <a:xfrm flipV="1">
            <a:off x="3485414" y="4268158"/>
            <a:ext cx="572951" cy="1089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4BFE14E-2EDD-D357-A8DD-332AA6461958}"/>
              </a:ext>
            </a:extLst>
          </p:cNvPr>
          <p:cNvSpPr txBox="1"/>
          <p:nvPr/>
        </p:nvSpPr>
        <p:spPr>
          <a:xfrm>
            <a:off x="3886843" y="383939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1708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Race (A contest of Speed) </a:t>
            </a:r>
          </a:p>
          <a:p>
            <a:pPr algn="just"/>
            <a:r>
              <a:rPr lang="en-US" dirty="0"/>
              <a:t>Racecourse (Ground/Path)</a:t>
            </a:r>
          </a:p>
          <a:p>
            <a:pPr algn="just"/>
            <a:r>
              <a:rPr lang="en-US" dirty="0"/>
              <a:t>Starting Point (Begins/Start)</a:t>
            </a:r>
          </a:p>
          <a:p>
            <a:pPr algn="just"/>
            <a:r>
              <a:rPr lang="en-US" dirty="0"/>
              <a:t>Winning Post/Goal (Finishes/Ends)</a:t>
            </a:r>
          </a:p>
          <a:p>
            <a:pPr algn="just"/>
            <a:r>
              <a:rPr lang="en-US" dirty="0"/>
              <a:t>Winner (First Reaches - Finishing Point)</a:t>
            </a:r>
          </a:p>
          <a:p>
            <a:pPr algn="just"/>
            <a:r>
              <a:rPr lang="en-US" dirty="0"/>
              <a:t>Dead-heat Race (Reach finishing point - Same time)</a:t>
            </a:r>
          </a:p>
        </p:txBody>
      </p:sp>
    </p:spTree>
    <p:extLst>
      <p:ext uri="{BB962C8B-B14F-4D97-AF65-F5344CB8AC3E}">
        <p14:creationId xmlns:p14="http://schemas.microsoft.com/office/powerpoint/2010/main" val="465815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A07A-7633-2901-F89A-966B0C32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/>
              <a:t>A beats B by ‘t’ seconds.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A gives B a start of ‘t’ seconds.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A gives B a start of ‘d’ m.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Game of 100. </a:t>
            </a:r>
          </a:p>
          <a:p>
            <a:pPr algn="just">
              <a:lnSpc>
                <a:spcPct val="170000"/>
              </a:lnSpc>
            </a:pPr>
            <a:r>
              <a:rPr lang="en-US" dirty="0"/>
              <a:t>In a game of 100, A can give B 20 points.</a:t>
            </a:r>
          </a:p>
        </p:txBody>
      </p:sp>
    </p:spTree>
    <p:extLst>
      <p:ext uri="{BB962C8B-B14F-4D97-AF65-F5344CB8AC3E}">
        <p14:creationId xmlns:p14="http://schemas.microsoft.com/office/powerpoint/2010/main" val="434873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8110D-3A96-A423-90FF-9DF7C9E0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If A is n times as fast as B and A gives B a start of ‘d’ m. If both A and B reach the winning post at the same time, then the length of the race course </a:t>
                </a:r>
              </a:p>
              <a:p>
                <a:pPr marL="0" indent="0" algn="just">
                  <a:buNone/>
                </a:pPr>
                <a:r>
                  <a:rPr lang="en-US" dirty="0"/>
                  <a:t>				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nd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 − </m:t>
                        </m:r>
                        <m:r>
                          <m:rPr>
                            <m:nor/>
                          </m:rPr>
                          <a:rPr lang="en-IN" dirty="0"/>
                          <m:t>1</m:t>
                        </m:r>
                      </m:den>
                    </m:f>
                  </m:oMath>
                </a14:m>
                <a:r>
                  <a:rPr lang="en-US" dirty="0"/>
                  <a:t> ) m</a:t>
                </a:r>
              </a:p>
              <a:p>
                <a:pPr algn="just"/>
                <a:r>
                  <a:rPr lang="en-US" dirty="0"/>
                  <a:t>If A can run ‘d’ m race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seconds and B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seconds (where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IN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), then A beats B by a distance 			</a:t>
                </a:r>
              </a:p>
              <a:p>
                <a:pPr marL="0" indent="0" algn="just"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r>
                          <m:rPr>
                            <m:nor/>
                          </m:rPr>
                          <a:rPr lang="en-IN"/>
                          <m:t>d</m:t>
                        </m:r>
                        <m:r>
                          <m:rPr>
                            <m:nor/>
                          </m:rPr>
                          <a:rPr lang="en-IN"/>
                          <m:t>)(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dirty="0"/>
                                  <m:t>t</m:t>
                                </m:r>
                              </m:e>
                              <m:sub>
                                <m: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− </m:t>
                            </m:r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/>
                          <m:t>(</m:t>
                        </m:r>
                        <m:sSub>
                          <m:sSub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dirty="0"/>
                              <m:t>t</m:t>
                            </m:r>
                          </m:e>
                          <m: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/>
                          <m:t>)</m:t>
                        </m:r>
                      </m:den>
                    </m:f>
                  </m:oMath>
                </a14:m>
                <a:r>
                  <a:rPr lang="en-IN" dirty="0"/>
                  <a:t> m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58A07A-7633-2901-F89A-966B0C32EE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AE98632D-A26D-8C8E-D534-A43DE32BDAC0}"/>
              </a:ext>
            </a:extLst>
          </p:cNvPr>
          <p:cNvSpPr/>
          <p:nvPr/>
        </p:nvSpPr>
        <p:spPr>
          <a:xfrm>
            <a:off x="4020999" y="3284779"/>
            <a:ext cx="1463952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2A56BB-F86D-D4D9-C70E-394636873448}"/>
              </a:ext>
            </a:extLst>
          </p:cNvPr>
          <p:cNvSpPr/>
          <p:nvPr/>
        </p:nvSpPr>
        <p:spPr>
          <a:xfrm>
            <a:off x="3941487" y="5562600"/>
            <a:ext cx="2003563" cy="8195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980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Race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Basics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Important Facts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Formulae </a:t>
            </a:r>
          </a:p>
          <a:p>
            <a:pPr lvl="1" algn="just">
              <a:lnSpc>
                <a:spcPct val="150000"/>
              </a:lnSpc>
            </a:pPr>
            <a:r>
              <a:rPr lang="en-US" sz="2600" dirty="0"/>
              <a:t>Problems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7515</TotalTime>
  <Words>1347</Words>
  <Application>Microsoft Office PowerPoint</Application>
  <PresentationFormat>On-screen Show (4:3)</PresentationFormat>
  <Paragraphs>151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Basics, Important Facts &amp; Formulae</vt:lpstr>
      <vt:lpstr>Basics, Important Facts &amp; Formulae</vt:lpstr>
      <vt:lpstr>Basics, Important Facts &amp; Formulae</vt:lpstr>
      <vt:lpstr>Basics, Important Facts &amp; Formulae</vt:lpstr>
      <vt:lpstr>Basics, Important Facts &amp; Formulae</vt:lpstr>
      <vt:lpstr>Basics, Important Facts &amp; Formulae</vt:lpstr>
      <vt:lpstr>Basics, Important Facts &amp; Formulae</vt:lpstr>
      <vt:lpstr>Problem 1</vt:lpstr>
      <vt:lpstr>Problem 2</vt:lpstr>
      <vt:lpstr>Basics, Important Facts &amp; Formulae</vt:lpstr>
      <vt:lpstr>Problem 3</vt:lpstr>
      <vt:lpstr>Problem 4</vt:lpstr>
      <vt:lpstr>Problem 5</vt:lpstr>
      <vt:lpstr>Problem 6</vt:lpstr>
      <vt:lpstr>Problem 7</vt:lpstr>
      <vt:lpstr>Problem 7</vt:lpstr>
      <vt:lpstr>Problem 8</vt:lpstr>
      <vt:lpstr>Problem 8</vt:lpstr>
      <vt:lpstr>Problem 9</vt:lpstr>
      <vt:lpstr>Problem 9</vt:lpstr>
      <vt:lpstr>Conclusion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477</cp:revision>
  <dcterms:created xsi:type="dcterms:W3CDTF">2020-12-18T18:59:12Z</dcterms:created>
  <dcterms:modified xsi:type="dcterms:W3CDTF">2022-05-29T07:14:57Z</dcterms:modified>
</cp:coreProperties>
</file>