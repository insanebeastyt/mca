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78" r:id="rId2"/>
    <p:sldId id="279" r:id="rId3"/>
    <p:sldId id="375" r:id="rId4"/>
    <p:sldId id="378" r:id="rId5"/>
    <p:sldId id="379" r:id="rId6"/>
    <p:sldId id="381" r:id="rId7"/>
    <p:sldId id="382" r:id="rId8"/>
    <p:sldId id="383" r:id="rId9"/>
    <p:sldId id="384" r:id="rId10"/>
    <p:sldId id="385" r:id="rId11"/>
    <p:sldId id="389" r:id="rId12"/>
    <p:sldId id="391" r:id="rId13"/>
    <p:sldId id="396" r:id="rId14"/>
    <p:sldId id="397" r:id="rId15"/>
    <p:sldId id="400" r:id="rId16"/>
    <p:sldId id="401" r:id="rId17"/>
    <p:sldId id="398" r:id="rId18"/>
    <p:sldId id="402" r:id="rId19"/>
    <p:sldId id="403" r:id="rId20"/>
    <p:sldId id="405" r:id="rId21"/>
    <p:sldId id="406" r:id="rId22"/>
    <p:sldId id="407" r:id="rId23"/>
    <p:sldId id="371" r:id="rId24"/>
    <p:sldId id="408" r:id="rId25"/>
    <p:sldId id="409" r:id="rId26"/>
    <p:sldId id="411" r:id="rId27"/>
    <p:sldId id="412" r:id="rId28"/>
    <p:sldId id="413" r:id="rId29"/>
    <p:sldId id="416" r:id="rId30"/>
    <p:sldId id="414" r:id="rId31"/>
    <p:sldId id="417" r:id="rId32"/>
    <p:sldId id="415" r:id="rId33"/>
    <p:sldId id="343" r:id="rId34"/>
    <p:sldId id="346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004B"/>
    <a:srgbClr val="262626"/>
    <a:srgbClr val="ABABAB"/>
    <a:srgbClr val="03232C"/>
    <a:srgbClr val="021F28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13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1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compute angle between hands of clock in different situations.</a:t>
            </a:r>
            <a:endParaRPr lang="en-IN" dirty="0"/>
          </a:p>
          <a:p>
            <a:pPr algn="just"/>
            <a:r>
              <a:rPr lang="en-US" dirty="0"/>
              <a:t>solve problem related to angle computation between hands of clock in various competitive exams.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15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1" y="1315278"/>
            <a:ext cx="4210050" cy="5400675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Find the angle between the minute hand and the hour hand of a clock when the time is 9.20 am.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64814" y="1738542"/>
            <a:ext cx="3717235" cy="394490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</p:spPr>
      </p:pic>
      <p:grpSp>
        <p:nvGrpSpPr>
          <p:cNvPr id="4" name="Group 18">
            <a:extLst>
              <a:ext uri="{FF2B5EF4-FFF2-40B4-BE49-F238E27FC236}">
                <a16:creationId xmlns:a16="http://schemas.microsoft.com/office/drawing/2014/main" id="{6A2D2005-469A-4193-84FE-2E08B6E06EA2}"/>
              </a:ext>
            </a:extLst>
          </p:cNvPr>
          <p:cNvGrpSpPr/>
          <p:nvPr/>
        </p:nvGrpSpPr>
        <p:grpSpPr>
          <a:xfrm rot="10800000">
            <a:off x="5911109" y="3633427"/>
            <a:ext cx="1914074" cy="59395"/>
            <a:chOff x="5416681" y="3605337"/>
            <a:chExt cx="2262090" cy="93592"/>
          </a:xfrm>
        </p:grpSpPr>
        <p:sp>
          <p:nvSpPr>
            <p:cNvPr id="21" name="Pentagon 16">
              <a:extLst>
                <a:ext uri="{FF2B5EF4-FFF2-40B4-BE49-F238E27FC236}">
                  <a16:creationId xmlns:a16="http://schemas.microsoft.com/office/drawing/2014/main" id="{FEAD0AB2-9BE9-4DC6-8224-D961623D3154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rgbClr val="00B0F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2" name="Pentagon 10">
              <a:extLst>
                <a:ext uri="{FF2B5EF4-FFF2-40B4-BE49-F238E27FC236}">
                  <a16:creationId xmlns:a16="http://schemas.microsoft.com/office/drawing/2014/main" id="{7E314967-997E-4561-8619-27A5AA206058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Group 19">
            <a:extLst>
              <a:ext uri="{FF2B5EF4-FFF2-40B4-BE49-F238E27FC236}">
                <a16:creationId xmlns:a16="http://schemas.microsoft.com/office/drawing/2014/main" id="{022DDE3B-0058-47B5-9F6C-EBBDA4AC3AD7}"/>
              </a:ext>
            </a:extLst>
          </p:cNvPr>
          <p:cNvGrpSpPr/>
          <p:nvPr/>
        </p:nvGrpSpPr>
        <p:grpSpPr>
          <a:xfrm rot="16200000">
            <a:off x="5573886" y="3625899"/>
            <a:ext cx="2647652" cy="111297"/>
            <a:chOff x="5061986" y="3648855"/>
            <a:chExt cx="3278040" cy="76199"/>
          </a:xfrm>
        </p:grpSpPr>
        <p:sp>
          <p:nvSpPr>
            <p:cNvPr id="24" name="Pentagon 12">
              <a:extLst>
                <a:ext uri="{FF2B5EF4-FFF2-40B4-BE49-F238E27FC236}">
                  <a16:creationId xmlns:a16="http://schemas.microsoft.com/office/drawing/2014/main" id="{74A70564-E777-4FDE-BB64-AECDC410CEFE}"/>
                </a:ext>
              </a:extLst>
            </p:cNvPr>
            <p:cNvSpPr/>
            <p:nvPr/>
          </p:nvSpPr>
          <p:spPr>
            <a:xfrm>
              <a:off x="6739828" y="3670628"/>
              <a:ext cx="1600198" cy="45720"/>
            </a:xfrm>
            <a:prstGeom prst="homePlat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5" name="Pentagon 13">
              <a:extLst>
                <a:ext uri="{FF2B5EF4-FFF2-40B4-BE49-F238E27FC236}">
                  <a16:creationId xmlns:a16="http://schemas.microsoft.com/office/drawing/2014/main" id="{364E2DD1-E58F-4FBD-9379-EAD605FD99B4}"/>
                </a:ext>
              </a:extLst>
            </p:cNvPr>
            <p:cNvSpPr/>
            <p:nvPr/>
          </p:nvSpPr>
          <p:spPr>
            <a:xfrm>
              <a:off x="5061986" y="3648855"/>
              <a:ext cx="1596281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26" name="Oval 15">
            <a:extLst>
              <a:ext uri="{FF2B5EF4-FFF2-40B4-BE49-F238E27FC236}">
                <a16:creationId xmlns:a16="http://schemas.microsoft.com/office/drawing/2014/main" id="{41528354-7BE5-4793-A0F3-DF7FF374017A}"/>
              </a:ext>
            </a:extLst>
          </p:cNvPr>
          <p:cNvSpPr/>
          <p:nvPr/>
        </p:nvSpPr>
        <p:spPr>
          <a:xfrm>
            <a:off x="6788988" y="3556516"/>
            <a:ext cx="232688" cy="23211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947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1951" y="1315278"/>
                <a:ext cx="4210050" cy="5400675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400" dirty="0"/>
                  <a:t>Angle traced by minute hand in 60 min. = 360°</a:t>
                </a:r>
              </a:p>
              <a:p>
                <a:pPr algn="just"/>
                <a:r>
                  <a:rPr lang="en-US" sz="2400" dirty="0"/>
                  <a:t>Angle traced by minute hand in 1 min.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360</m:t>
                        </m:r>
                        <m:r>
                          <m:rPr>
                            <m:nor/>
                          </m:rPr>
                          <a:rPr lang="en-US" sz="2400" dirty="0" smtClean="0"/>
                          <m:t>°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60</m:t>
                        </m:r>
                      </m:den>
                    </m:f>
                  </m:oMath>
                </a14:m>
                <a:endParaRPr lang="en-US" sz="2400" dirty="0"/>
              </a:p>
              <a:p>
                <a:pPr algn="just"/>
                <a:r>
                  <a:rPr lang="en-US" sz="2400" dirty="0"/>
                  <a:t>Angle traced by it in 20 min. 		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360°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20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60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algn="just">
                  <a:buNone/>
                </a:pPr>
                <a:r>
                  <a:rPr lang="en-US" sz="2400" dirty="0"/>
                  <a:t>			= 120°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951" y="1315278"/>
                <a:ext cx="4210050" cy="5400675"/>
              </a:xfrm>
              <a:blipFill>
                <a:blip r:embed="rId2"/>
                <a:stretch>
                  <a:fillRect l="-1881" r="-21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64814" y="1738542"/>
            <a:ext cx="3717235" cy="394490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</p:spPr>
      </p:pic>
      <p:grpSp>
        <p:nvGrpSpPr>
          <p:cNvPr id="4" name="Group 18">
            <a:extLst>
              <a:ext uri="{FF2B5EF4-FFF2-40B4-BE49-F238E27FC236}">
                <a16:creationId xmlns:a16="http://schemas.microsoft.com/office/drawing/2014/main" id="{6A2D2005-469A-4193-84FE-2E08B6E06EA2}"/>
              </a:ext>
            </a:extLst>
          </p:cNvPr>
          <p:cNvGrpSpPr/>
          <p:nvPr/>
        </p:nvGrpSpPr>
        <p:grpSpPr>
          <a:xfrm rot="10800000">
            <a:off x="5911109" y="3633427"/>
            <a:ext cx="1914074" cy="59395"/>
            <a:chOff x="5416681" y="3605337"/>
            <a:chExt cx="2262090" cy="93592"/>
          </a:xfrm>
        </p:grpSpPr>
        <p:sp>
          <p:nvSpPr>
            <p:cNvPr id="21" name="Pentagon 16">
              <a:extLst>
                <a:ext uri="{FF2B5EF4-FFF2-40B4-BE49-F238E27FC236}">
                  <a16:creationId xmlns:a16="http://schemas.microsoft.com/office/drawing/2014/main" id="{FEAD0AB2-9BE9-4DC6-8224-D961623D3154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rgbClr val="00B0F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2" name="Pentagon 10">
              <a:extLst>
                <a:ext uri="{FF2B5EF4-FFF2-40B4-BE49-F238E27FC236}">
                  <a16:creationId xmlns:a16="http://schemas.microsoft.com/office/drawing/2014/main" id="{7E314967-997E-4561-8619-27A5AA206058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Group 19">
            <a:extLst>
              <a:ext uri="{FF2B5EF4-FFF2-40B4-BE49-F238E27FC236}">
                <a16:creationId xmlns:a16="http://schemas.microsoft.com/office/drawing/2014/main" id="{022DDE3B-0058-47B5-9F6C-EBBDA4AC3AD7}"/>
              </a:ext>
            </a:extLst>
          </p:cNvPr>
          <p:cNvGrpSpPr/>
          <p:nvPr/>
        </p:nvGrpSpPr>
        <p:grpSpPr>
          <a:xfrm rot="16200000">
            <a:off x="5583826" y="3615963"/>
            <a:ext cx="2627775" cy="111297"/>
            <a:chOff x="5061983" y="3655660"/>
            <a:chExt cx="3253431" cy="76199"/>
          </a:xfrm>
        </p:grpSpPr>
        <p:sp>
          <p:nvSpPr>
            <p:cNvPr id="24" name="Pentagon 12">
              <a:extLst>
                <a:ext uri="{FF2B5EF4-FFF2-40B4-BE49-F238E27FC236}">
                  <a16:creationId xmlns:a16="http://schemas.microsoft.com/office/drawing/2014/main" id="{74A70564-E777-4FDE-BB64-AECDC410CEFE}"/>
                </a:ext>
              </a:extLst>
            </p:cNvPr>
            <p:cNvSpPr/>
            <p:nvPr/>
          </p:nvSpPr>
          <p:spPr>
            <a:xfrm>
              <a:off x="6715217" y="3677432"/>
              <a:ext cx="1600197" cy="45720"/>
            </a:xfrm>
            <a:prstGeom prst="homePlat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5" name="Pentagon 13">
              <a:extLst>
                <a:ext uri="{FF2B5EF4-FFF2-40B4-BE49-F238E27FC236}">
                  <a16:creationId xmlns:a16="http://schemas.microsoft.com/office/drawing/2014/main" id="{364E2DD1-E58F-4FBD-9379-EAD605FD99B4}"/>
                </a:ext>
              </a:extLst>
            </p:cNvPr>
            <p:cNvSpPr/>
            <p:nvPr/>
          </p:nvSpPr>
          <p:spPr>
            <a:xfrm>
              <a:off x="5061983" y="3655660"/>
              <a:ext cx="1596279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26" name="Oval 15">
            <a:extLst>
              <a:ext uri="{FF2B5EF4-FFF2-40B4-BE49-F238E27FC236}">
                <a16:creationId xmlns:a16="http://schemas.microsoft.com/office/drawing/2014/main" id="{41528354-7BE5-4793-A0F3-DF7FF374017A}"/>
              </a:ext>
            </a:extLst>
          </p:cNvPr>
          <p:cNvSpPr/>
          <p:nvPr/>
        </p:nvSpPr>
        <p:spPr>
          <a:xfrm>
            <a:off x="6788988" y="3556516"/>
            <a:ext cx="232688" cy="23211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5D2E3F-F518-47F1-A252-CF426784F135}"/>
              </a:ext>
            </a:extLst>
          </p:cNvPr>
          <p:cNvCxnSpPr>
            <a:cxnSpLocks/>
          </p:cNvCxnSpPr>
          <p:nvPr/>
        </p:nvCxnSpPr>
        <p:spPr>
          <a:xfrm flipH="1" flipV="1">
            <a:off x="6875731" y="2039548"/>
            <a:ext cx="29601" cy="16298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B4E3D2-AEB4-451D-84AD-BD6EB759D426}"/>
              </a:ext>
            </a:extLst>
          </p:cNvPr>
          <p:cNvCxnSpPr>
            <a:cxnSpLocks/>
            <a:endCxn id="26" idx="5"/>
          </p:cNvCxnSpPr>
          <p:nvPr/>
        </p:nvCxnSpPr>
        <p:spPr>
          <a:xfrm flipH="1" flipV="1">
            <a:off x="6987600" y="3754640"/>
            <a:ext cx="1212183" cy="71796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c 13">
            <a:extLst>
              <a:ext uri="{FF2B5EF4-FFF2-40B4-BE49-F238E27FC236}">
                <a16:creationId xmlns:a16="http://schemas.microsoft.com/office/drawing/2014/main" id="{B90DB2F1-1AC5-4DA0-8DF3-7463663A71BA}"/>
              </a:ext>
            </a:extLst>
          </p:cNvPr>
          <p:cNvSpPr/>
          <p:nvPr/>
        </p:nvSpPr>
        <p:spPr>
          <a:xfrm>
            <a:off x="6060505" y="2663687"/>
            <a:ext cx="1632627" cy="2971406"/>
          </a:xfrm>
          <a:prstGeom prst="arc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FC9748-2F47-42B2-BD8E-EE0D047A22CC}"/>
                  </a:ext>
                </a:extLst>
              </p:cNvPr>
              <p:cNvSpPr txBox="1"/>
              <p:nvPr/>
            </p:nvSpPr>
            <p:spPr>
              <a:xfrm>
                <a:off x="6922507" y="3319670"/>
                <a:ext cx="7046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120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1" dirty="0" smtClean="0"/>
                      <m:t>°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FC9748-2F47-42B2-BD8E-EE0D047A2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2507" y="3319670"/>
                <a:ext cx="704639" cy="369332"/>
              </a:xfrm>
              <a:prstGeom prst="rect">
                <a:avLst/>
              </a:prstGeom>
              <a:blipFill>
                <a:blip r:embed="rId4"/>
                <a:stretch>
                  <a:fillRect l="-7826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7947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1950" y="1315278"/>
                <a:ext cx="4928915" cy="5400675"/>
              </a:xfrm>
            </p:spPr>
            <p:txBody>
              <a:bodyPr>
                <a:noAutofit/>
              </a:bodyPr>
              <a:lstStyle/>
              <a:p>
                <a:r>
                  <a:rPr lang="en-US" sz="2400" dirty="0"/>
                  <a:t>Angle traced by the hour hand in 12 hours = 360°</a:t>
                </a:r>
              </a:p>
              <a:p>
                <a:r>
                  <a:rPr lang="en-US" sz="2400" dirty="0"/>
                  <a:t>Angle traced by the hour hand in 1 hours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360°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12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Angle traced by the hour hand in 9 hours 20 min. (i.e.9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20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60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hr. = 9</a:t>
                </a:r>
                <a:r>
                  <a:rPr lang="en-US" sz="2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3</m:t>
                        </m:r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28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den>
                    </m:f>
                  </m:oMath>
                </a14:m>
                <a:r>
                  <a:rPr lang="en-US" sz="2400" dirty="0"/>
                  <a:t>hr.)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360°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28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12 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3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=  280°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950" y="1315278"/>
                <a:ext cx="4928915" cy="5400675"/>
              </a:xfrm>
              <a:blipFill>
                <a:blip r:embed="rId2"/>
                <a:stretch>
                  <a:fillRect l="-1607" r="-22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43106" y="1738542"/>
            <a:ext cx="3717235" cy="394490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</p:spPr>
      </p:pic>
      <p:grpSp>
        <p:nvGrpSpPr>
          <p:cNvPr id="4" name="Group 18">
            <a:extLst>
              <a:ext uri="{FF2B5EF4-FFF2-40B4-BE49-F238E27FC236}">
                <a16:creationId xmlns:a16="http://schemas.microsoft.com/office/drawing/2014/main" id="{6A2D2005-469A-4193-84FE-2E08B6E06EA2}"/>
              </a:ext>
            </a:extLst>
          </p:cNvPr>
          <p:cNvGrpSpPr/>
          <p:nvPr/>
        </p:nvGrpSpPr>
        <p:grpSpPr>
          <a:xfrm rot="10800000">
            <a:off x="6189401" y="3633427"/>
            <a:ext cx="1914074" cy="59395"/>
            <a:chOff x="5416681" y="3605337"/>
            <a:chExt cx="2262090" cy="93592"/>
          </a:xfrm>
        </p:grpSpPr>
        <p:sp>
          <p:nvSpPr>
            <p:cNvPr id="21" name="Pentagon 16">
              <a:extLst>
                <a:ext uri="{FF2B5EF4-FFF2-40B4-BE49-F238E27FC236}">
                  <a16:creationId xmlns:a16="http://schemas.microsoft.com/office/drawing/2014/main" id="{FEAD0AB2-9BE9-4DC6-8224-D961623D3154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rgbClr val="00B0F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2" name="Pentagon 10">
              <a:extLst>
                <a:ext uri="{FF2B5EF4-FFF2-40B4-BE49-F238E27FC236}">
                  <a16:creationId xmlns:a16="http://schemas.microsoft.com/office/drawing/2014/main" id="{7E314967-997E-4561-8619-27A5AA206058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Group 19">
            <a:extLst>
              <a:ext uri="{FF2B5EF4-FFF2-40B4-BE49-F238E27FC236}">
                <a16:creationId xmlns:a16="http://schemas.microsoft.com/office/drawing/2014/main" id="{022DDE3B-0058-47B5-9F6C-EBBDA4AC3AD7}"/>
              </a:ext>
            </a:extLst>
          </p:cNvPr>
          <p:cNvGrpSpPr/>
          <p:nvPr/>
        </p:nvGrpSpPr>
        <p:grpSpPr>
          <a:xfrm rot="16200000">
            <a:off x="5847208" y="3601058"/>
            <a:ext cx="2617835" cy="111297"/>
            <a:chOff x="5086592" y="3648855"/>
            <a:chExt cx="3241126" cy="76199"/>
          </a:xfrm>
        </p:grpSpPr>
        <p:sp>
          <p:nvSpPr>
            <p:cNvPr id="24" name="Pentagon 12">
              <a:extLst>
                <a:ext uri="{FF2B5EF4-FFF2-40B4-BE49-F238E27FC236}">
                  <a16:creationId xmlns:a16="http://schemas.microsoft.com/office/drawing/2014/main" id="{74A70564-E777-4FDE-BB64-AECDC410CEFE}"/>
                </a:ext>
              </a:extLst>
            </p:cNvPr>
            <p:cNvSpPr/>
            <p:nvPr/>
          </p:nvSpPr>
          <p:spPr>
            <a:xfrm>
              <a:off x="6727520" y="3670629"/>
              <a:ext cx="1600198" cy="45720"/>
            </a:xfrm>
            <a:prstGeom prst="homePlat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5" name="Pentagon 13">
              <a:extLst>
                <a:ext uri="{FF2B5EF4-FFF2-40B4-BE49-F238E27FC236}">
                  <a16:creationId xmlns:a16="http://schemas.microsoft.com/office/drawing/2014/main" id="{364E2DD1-E58F-4FBD-9379-EAD605FD99B4}"/>
                </a:ext>
              </a:extLst>
            </p:cNvPr>
            <p:cNvSpPr/>
            <p:nvPr/>
          </p:nvSpPr>
          <p:spPr>
            <a:xfrm>
              <a:off x="5086592" y="3648855"/>
              <a:ext cx="1596281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26" name="Oval 15">
            <a:extLst>
              <a:ext uri="{FF2B5EF4-FFF2-40B4-BE49-F238E27FC236}">
                <a16:creationId xmlns:a16="http://schemas.microsoft.com/office/drawing/2014/main" id="{41528354-7BE5-4793-A0F3-DF7FF374017A}"/>
              </a:ext>
            </a:extLst>
          </p:cNvPr>
          <p:cNvSpPr/>
          <p:nvPr/>
        </p:nvSpPr>
        <p:spPr>
          <a:xfrm>
            <a:off x="7067280" y="3556516"/>
            <a:ext cx="232688" cy="23211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A40579B-35B7-41F3-8CB9-37F9E7C1ADBD}"/>
              </a:ext>
            </a:extLst>
          </p:cNvPr>
          <p:cNvCxnSpPr>
            <a:cxnSpLocks/>
          </p:cNvCxnSpPr>
          <p:nvPr/>
        </p:nvCxnSpPr>
        <p:spPr>
          <a:xfrm flipH="1" flipV="1">
            <a:off x="7154024" y="2039548"/>
            <a:ext cx="29601" cy="16298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A7D25E7-F67F-4ED1-B12A-4FEECF673DC0}"/>
              </a:ext>
            </a:extLst>
          </p:cNvPr>
          <p:cNvCxnSpPr>
            <a:cxnSpLocks/>
          </p:cNvCxnSpPr>
          <p:nvPr/>
        </p:nvCxnSpPr>
        <p:spPr>
          <a:xfrm>
            <a:off x="5562414" y="3364911"/>
            <a:ext cx="1636645" cy="2952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977369-BB24-4505-A78C-14CFAE725E74}"/>
                  </a:ext>
                </a:extLst>
              </p:cNvPr>
              <p:cNvSpPr txBox="1"/>
              <p:nvPr/>
            </p:nvSpPr>
            <p:spPr>
              <a:xfrm>
                <a:off x="7210738" y="3319670"/>
                <a:ext cx="7046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280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1" dirty="0" smtClean="0"/>
                      <m:t>°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977369-BB24-4505-A78C-14CFAE725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0738" y="3319670"/>
                <a:ext cx="704639" cy="369332"/>
              </a:xfrm>
              <a:prstGeom prst="rect">
                <a:avLst/>
              </a:prstGeom>
              <a:blipFill>
                <a:blip r:embed="rId4"/>
                <a:stretch>
                  <a:fillRect l="-7826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792D078-054F-4F67-A9DD-D78CE1493735}"/>
              </a:ext>
            </a:extLst>
          </p:cNvPr>
          <p:cNvSpPr/>
          <p:nvPr/>
        </p:nvSpPr>
        <p:spPr>
          <a:xfrm>
            <a:off x="6380921" y="2882348"/>
            <a:ext cx="1550725" cy="1581655"/>
          </a:xfrm>
          <a:custGeom>
            <a:avLst/>
            <a:gdLst>
              <a:gd name="connsiteX0" fmla="*/ 785192 w 1550725"/>
              <a:gd name="connsiteY0" fmla="*/ 0 h 1581655"/>
              <a:gd name="connsiteX1" fmla="*/ 1550505 w 1550725"/>
              <a:gd name="connsiteY1" fmla="*/ 815009 h 1581655"/>
              <a:gd name="connsiteX2" fmla="*/ 854766 w 1550725"/>
              <a:gd name="connsiteY2" fmla="*/ 1580322 h 1581655"/>
              <a:gd name="connsiteX3" fmla="*/ 0 w 1550725"/>
              <a:gd name="connsiteY3" fmla="*/ 626165 h 1581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0725" h="1581655">
                <a:moveTo>
                  <a:pt x="785192" y="0"/>
                </a:moveTo>
                <a:cubicBezTo>
                  <a:pt x="1162050" y="275811"/>
                  <a:pt x="1538909" y="551622"/>
                  <a:pt x="1550505" y="815009"/>
                </a:cubicBezTo>
                <a:cubicBezTo>
                  <a:pt x="1562101" y="1078396"/>
                  <a:pt x="1113183" y="1611796"/>
                  <a:pt x="854766" y="1580322"/>
                </a:cubicBezTo>
                <a:cubicBezTo>
                  <a:pt x="596349" y="1548848"/>
                  <a:pt x="298174" y="1087506"/>
                  <a:pt x="0" y="626165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947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1" y="1315278"/>
            <a:ext cx="4446532" cy="5400675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Angle traced by minute hand in 20 min. 		=  120 °</a:t>
            </a:r>
          </a:p>
          <a:p>
            <a:pPr algn="just"/>
            <a:r>
              <a:rPr lang="en-US" sz="2400" dirty="0"/>
              <a:t>Angle traced by the hour hand in 9 hours 20 min. 				=  280° </a:t>
            </a:r>
          </a:p>
          <a:p>
            <a:pPr algn="just"/>
            <a:r>
              <a:rPr lang="en-US" sz="2400" dirty="0"/>
              <a:t>Angle between the minute hand and the hour hand of a clock when the time is 9.20 am = 280° - 120 ° = 160 °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64814" y="1738542"/>
            <a:ext cx="3717235" cy="394490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</p:spPr>
      </p:pic>
      <p:grpSp>
        <p:nvGrpSpPr>
          <p:cNvPr id="4" name="Group 18">
            <a:extLst>
              <a:ext uri="{FF2B5EF4-FFF2-40B4-BE49-F238E27FC236}">
                <a16:creationId xmlns:a16="http://schemas.microsoft.com/office/drawing/2014/main" id="{6A2D2005-469A-4193-84FE-2E08B6E06EA2}"/>
              </a:ext>
            </a:extLst>
          </p:cNvPr>
          <p:cNvGrpSpPr/>
          <p:nvPr/>
        </p:nvGrpSpPr>
        <p:grpSpPr>
          <a:xfrm rot="10800000">
            <a:off x="5911109" y="3633427"/>
            <a:ext cx="1914074" cy="59395"/>
            <a:chOff x="5416681" y="3605337"/>
            <a:chExt cx="2262090" cy="93592"/>
          </a:xfrm>
        </p:grpSpPr>
        <p:sp>
          <p:nvSpPr>
            <p:cNvPr id="21" name="Pentagon 16">
              <a:extLst>
                <a:ext uri="{FF2B5EF4-FFF2-40B4-BE49-F238E27FC236}">
                  <a16:creationId xmlns:a16="http://schemas.microsoft.com/office/drawing/2014/main" id="{FEAD0AB2-9BE9-4DC6-8224-D961623D3154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rgbClr val="00B0F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2" name="Pentagon 10">
              <a:extLst>
                <a:ext uri="{FF2B5EF4-FFF2-40B4-BE49-F238E27FC236}">
                  <a16:creationId xmlns:a16="http://schemas.microsoft.com/office/drawing/2014/main" id="{7E314967-997E-4561-8619-27A5AA206058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Group 19">
            <a:extLst>
              <a:ext uri="{FF2B5EF4-FFF2-40B4-BE49-F238E27FC236}">
                <a16:creationId xmlns:a16="http://schemas.microsoft.com/office/drawing/2014/main" id="{022DDE3B-0058-47B5-9F6C-EBBDA4AC3AD7}"/>
              </a:ext>
            </a:extLst>
          </p:cNvPr>
          <p:cNvGrpSpPr/>
          <p:nvPr/>
        </p:nvGrpSpPr>
        <p:grpSpPr>
          <a:xfrm rot="16200000">
            <a:off x="5529158" y="3601052"/>
            <a:ext cx="2677469" cy="111297"/>
            <a:chOff x="5074291" y="3648855"/>
            <a:chExt cx="3314957" cy="76199"/>
          </a:xfrm>
        </p:grpSpPr>
        <p:sp>
          <p:nvSpPr>
            <p:cNvPr id="24" name="Pentagon 12">
              <a:extLst>
                <a:ext uri="{FF2B5EF4-FFF2-40B4-BE49-F238E27FC236}">
                  <a16:creationId xmlns:a16="http://schemas.microsoft.com/office/drawing/2014/main" id="{74A70564-E777-4FDE-BB64-AECDC410CEFE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5" name="Pentagon 13">
              <a:extLst>
                <a:ext uri="{FF2B5EF4-FFF2-40B4-BE49-F238E27FC236}">
                  <a16:creationId xmlns:a16="http://schemas.microsoft.com/office/drawing/2014/main" id="{364E2DD1-E58F-4FBD-9379-EAD605FD99B4}"/>
                </a:ext>
              </a:extLst>
            </p:cNvPr>
            <p:cNvSpPr/>
            <p:nvPr/>
          </p:nvSpPr>
          <p:spPr>
            <a:xfrm>
              <a:off x="5074291" y="3648855"/>
              <a:ext cx="1596282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26" name="Oval 15">
            <a:extLst>
              <a:ext uri="{FF2B5EF4-FFF2-40B4-BE49-F238E27FC236}">
                <a16:creationId xmlns:a16="http://schemas.microsoft.com/office/drawing/2014/main" id="{41528354-7BE5-4793-A0F3-DF7FF374017A}"/>
              </a:ext>
            </a:extLst>
          </p:cNvPr>
          <p:cNvSpPr/>
          <p:nvPr/>
        </p:nvSpPr>
        <p:spPr>
          <a:xfrm>
            <a:off x="6788988" y="3556516"/>
            <a:ext cx="232688" cy="23211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885ABAF-CDDE-4B30-988C-439C7C756FD6}"/>
              </a:ext>
            </a:extLst>
          </p:cNvPr>
          <p:cNvCxnSpPr>
            <a:cxnSpLocks/>
          </p:cNvCxnSpPr>
          <p:nvPr/>
        </p:nvCxnSpPr>
        <p:spPr>
          <a:xfrm>
            <a:off x="6915337" y="3674281"/>
            <a:ext cx="1390421" cy="84802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BA83303-A255-4813-BB3D-E21AC28FB0D4}"/>
              </a:ext>
            </a:extLst>
          </p:cNvPr>
          <p:cNvCxnSpPr>
            <a:cxnSpLocks/>
          </p:cNvCxnSpPr>
          <p:nvPr/>
        </p:nvCxnSpPr>
        <p:spPr>
          <a:xfrm>
            <a:off x="5325285" y="3393806"/>
            <a:ext cx="1570108" cy="2621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c 13">
            <a:extLst>
              <a:ext uri="{FF2B5EF4-FFF2-40B4-BE49-F238E27FC236}">
                <a16:creationId xmlns:a16="http://schemas.microsoft.com/office/drawing/2014/main" id="{3249668C-BF29-473A-94A0-8F87FAA97D2A}"/>
              </a:ext>
            </a:extLst>
          </p:cNvPr>
          <p:cNvSpPr/>
          <p:nvPr/>
        </p:nvSpPr>
        <p:spPr>
          <a:xfrm rot="8475733">
            <a:off x="5940891" y="1578159"/>
            <a:ext cx="1640106" cy="2877817"/>
          </a:xfrm>
          <a:prstGeom prst="arc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60E0F8-0F41-4440-A6E0-5C856920285A}"/>
                  </a:ext>
                </a:extLst>
              </p:cNvPr>
              <p:cNvSpPr txBox="1"/>
              <p:nvPr/>
            </p:nvSpPr>
            <p:spPr>
              <a:xfrm>
                <a:off x="6117288" y="4015615"/>
                <a:ext cx="7046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160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1" dirty="0" smtClean="0"/>
                      <m:t>°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60E0F8-0F41-4440-A6E0-5C8569202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288" y="4015615"/>
                <a:ext cx="704639" cy="369332"/>
              </a:xfrm>
              <a:prstGeom prst="rect">
                <a:avLst/>
              </a:prstGeom>
              <a:blipFill>
                <a:blip r:embed="rId3"/>
                <a:stretch>
                  <a:fillRect l="-6897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7947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1" y="1315278"/>
            <a:ext cx="4210050" cy="540067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At what time between 10 and 11 o’clock will the hands of a clock be together 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384B37-DC66-4849-B53B-56F9EF434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542" y="2327377"/>
            <a:ext cx="3204547" cy="3150101"/>
          </a:xfrm>
          <a:prstGeom prst="rect">
            <a:avLst/>
          </a:prstGeom>
          <a:ln w="76200">
            <a:solidFill>
              <a:srgbClr val="00B0F0"/>
            </a:solidFill>
          </a:ln>
        </p:spPr>
      </p:pic>
      <p:grpSp>
        <p:nvGrpSpPr>
          <p:cNvPr id="7" name="Group 18">
            <a:extLst>
              <a:ext uri="{FF2B5EF4-FFF2-40B4-BE49-F238E27FC236}">
                <a16:creationId xmlns:a16="http://schemas.microsoft.com/office/drawing/2014/main" id="{E2F6E57E-4CF7-4663-B6A6-C63C427B48CF}"/>
              </a:ext>
            </a:extLst>
          </p:cNvPr>
          <p:cNvGrpSpPr/>
          <p:nvPr/>
        </p:nvGrpSpPr>
        <p:grpSpPr>
          <a:xfrm rot="12764600">
            <a:off x="5898568" y="3848172"/>
            <a:ext cx="1857648" cy="91036"/>
            <a:chOff x="5416681" y="3605337"/>
            <a:chExt cx="2056420" cy="154158"/>
          </a:xfrm>
        </p:grpSpPr>
        <p:sp>
          <p:nvSpPr>
            <p:cNvPr id="14" name="Pentagon 16">
              <a:extLst>
                <a:ext uri="{FF2B5EF4-FFF2-40B4-BE49-F238E27FC236}">
                  <a16:creationId xmlns:a16="http://schemas.microsoft.com/office/drawing/2014/main" id="{262D1FD4-C30C-4A52-B44C-81926BD11242}"/>
                </a:ext>
              </a:extLst>
            </p:cNvPr>
            <p:cNvSpPr/>
            <p:nvPr/>
          </p:nvSpPr>
          <p:spPr>
            <a:xfrm rot="21384701">
              <a:off x="6401986" y="3687454"/>
              <a:ext cx="1071115" cy="72041"/>
            </a:xfrm>
            <a:prstGeom prst="homePlate">
              <a:avLst/>
            </a:prstGeom>
            <a:solidFill>
              <a:srgbClr val="A8004B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Pentagon 10">
              <a:extLst>
                <a:ext uri="{FF2B5EF4-FFF2-40B4-BE49-F238E27FC236}">
                  <a16:creationId xmlns:a16="http://schemas.microsoft.com/office/drawing/2014/main" id="{2C1119C2-F944-4C30-AB45-B1A5972E7261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9">
            <a:extLst>
              <a:ext uri="{FF2B5EF4-FFF2-40B4-BE49-F238E27FC236}">
                <a16:creationId xmlns:a16="http://schemas.microsoft.com/office/drawing/2014/main" id="{660C331E-D85C-4FAF-9000-94E6D67063F3}"/>
              </a:ext>
            </a:extLst>
          </p:cNvPr>
          <p:cNvGrpSpPr/>
          <p:nvPr/>
        </p:nvGrpSpPr>
        <p:grpSpPr>
          <a:xfrm rot="16200000">
            <a:off x="5611019" y="3792707"/>
            <a:ext cx="2510228" cy="85677"/>
            <a:chOff x="5148122" y="3648855"/>
            <a:chExt cx="3210748" cy="76199"/>
          </a:xfrm>
        </p:grpSpPr>
        <p:sp>
          <p:nvSpPr>
            <p:cNvPr id="17" name="Pentagon 12">
              <a:extLst>
                <a:ext uri="{FF2B5EF4-FFF2-40B4-BE49-F238E27FC236}">
                  <a16:creationId xmlns:a16="http://schemas.microsoft.com/office/drawing/2014/main" id="{9282588F-BCCF-412D-9599-325AB30F8514}"/>
                </a:ext>
              </a:extLst>
            </p:cNvPr>
            <p:cNvSpPr/>
            <p:nvPr/>
          </p:nvSpPr>
          <p:spPr>
            <a:xfrm>
              <a:off x="6758672" y="3670628"/>
              <a:ext cx="1600198" cy="45720"/>
            </a:xfrm>
            <a:prstGeom prst="homePlate">
              <a:avLst/>
            </a:prstGeom>
            <a:solidFill>
              <a:srgbClr val="262626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Pentagon 13">
              <a:extLst>
                <a:ext uri="{FF2B5EF4-FFF2-40B4-BE49-F238E27FC236}">
                  <a16:creationId xmlns:a16="http://schemas.microsoft.com/office/drawing/2014/main" id="{AE313762-E34E-4BF0-9FE7-3F54C60D95AA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7" name="Oval 15">
            <a:extLst>
              <a:ext uri="{FF2B5EF4-FFF2-40B4-BE49-F238E27FC236}">
                <a16:creationId xmlns:a16="http://schemas.microsoft.com/office/drawing/2014/main" id="{4358340C-E91E-476D-87A1-423AAE44E180}"/>
              </a:ext>
            </a:extLst>
          </p:cNvPr>
          <p:cNvSpPr/>
          <p:nvPr/>
        </p:nvSpPr>
        <p:spPr>
          <a:xfrm>
            <a:off x="6688497" y="3712362"/>
            <a:ext cx="362522" cy="348011"/>
          </a:xfrm>
          <a:prstGeom prst="ellipse">
            <a:avLst/>
          </a:prstGeom>
          <a:solidFill>
            <a:srgbClr val="FFCC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947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1315279"/>
            <a:ext cx="5155981" cy="5132818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At 10 o’clock, the hour hand is at 10 and the minute hand is at 12, i.e. they are 10 min. spaces apart.</a:t>
            </a:r>
          </a:p>
          <a:p>
            <a:pPr algn="just"/>
            <a:r>
              <a:rPr lang="en-US" sz="2400" dirty="0"/>
              <a:t>The minute hand is 10 minutes spaces ahead of the hour hand. </a:t>
            </a:r>
          </a:p>
          <a:p>
            <a:pPr lvl="0" algn="just"/>
            <a:r>
              <a:rPr lang="en-US" sz="2400" dirty="0"/>
              <a:t>To be together, the minute hand must gain 50 minutes over the hour hand.</a:t>
            </a:r>
          </a:p>
          <a:p>
            <a:pPr algn="just"/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384B37-DC66-4849-B53B-56F9EF434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750" y="1395293"/>
            <a:ext cx="3204547" cy="3150101"/>
          </a:xfrm>
          <a:prstGeom prst="rect">
            <a:avLst/>
          </a:prstGeom>
          <a:ln w="76200">
            <a:solidFill>
              <a:srgbClr val="00B0F0"/>
            </a:solidFill>
          </a:ln>
        </p:spPr>
      </p:pic>
      <p:grpSp>
        <p:nvGrpSpPr>
          <p:cNvPr id="4" name="Group 18">
            <a:extLst>
              <a:ext uri="{FF2B5EF4-FFF2-40B4-BE49-F238E27FC236}">
                <a16:creationId xmlns:a16="http://schemas.microsoft.com/office/drawing/2014/main" id="{E2F6E57E-4CF7-4663-B6A6-C63C427B48CF}"/>
              </a:ext>
            </a:extLst>
          </p:cNvPr>
          <p:cNvGrpSpPr/>
          <p:nvPr/>
        </p:nvGrpSpPr>
        <p:grpSpPr>
          <a:xfrm rot="12764600">
            <a:off x="6379776" y="2916088"/>
            <a:ext cx="1857648" cy="91036"/>
            <a:chOff x="5416681" y="3605337"/>
            <a:chExt cx="2056420" cy="154158"/>
          </a:xfrm>
        </p:grpSpPr>
        <p:sp>
          <p:nvSpPr>
            <p:cNvPr id="14" name="Pentagon 16">
              <a:extLst>
                <a:ext uri="{FF2B5EF4-FFF2-40B4-BE49-F238E27FC236}">
                  <a16:creationId xmlns:a16="http://schemas.microsoft.com/office/drawing/2014/main" id="{262D1FD4-C30C-4A52-B44C-81926BD11242}"/>
                </a:ext>
              </a:extLst>
            </p:cNvPr>
            <p:cNvSpPr/>
            <p:nvPr/>
          </p:nvSpPr>
          <p:spPr>
            <a:xfrm rot="21384701">
              <a:off x="6401986" y="3687454"/>
              <a:ext cx="1071115" cy="72041"/>
            </a:xfrm>
            <a:prstGeom prst="homePlate">
              <a:avLst/>
            </a:prstGeom>
            <a:solidFill>
              <a:srgbClr val="A8004B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Pentagon 10">
              <a:extLst>
                <a:ext uri="{FF2B5EF4-FFF2-40B4-BE49-F238E27FC236}">
                  <a16:creationId xmlns:a16="http://schemas.microsoft.com/office/drawing/2014/main" id="{2C1119C2-F944-4C30-AB45-B1A5972E7261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660C331E-D85C-4FAF-9000-94E6D67063F3}"/>
              </a:ext>
            </a:extLst>
          </p:cNvPr>
          <p:cNvGrpSpPr/>
          <p:nvPr/>
        </p:nvGrpSpPr>
        <p:grpSpPr>
          <a:xfrm rot="16200000">
            <a:off x="6092227" y="2860623"/>
            <a:ext cx="2510228" cy="85677"/>
            <a:chOff x="5148122" y="3648855"/>
            <a:chExt cx="3210748" cy="76199"/>
          </a:xfrm>
        </p:grpSpPr>
        <p:sp>
          <p:nvSpPr>
            <p:cNvPr id="17" name="Pentagon 12">
              <a:extLst>
                <a:ext uri="{FF2B5EF4-FFF2-40B4-BE49-F238E27FC236}">
                  <a16:creationId xmlns:a16="http://schemas.microsoft.com/office/drawing/2014/main" id="{9282588F-BCCF-412D-9599-325AB30F8514}"/>
                </a:ext>
              </a:extLst>
            </p:cNvPr>
            <p:cNvSpPr/>
            <p:nvPr/>
          </p:nvSpPr>
          <p:spPr>
            <a:xfrm>
              <a:off x="6758672" y="3670628"/>
              <a:ext cx="1600198" cy="45720"/>
            </a:xfrm>
            <a:prstGeom prst="homePlate">
              <a:avLst/>
            </a:prstGeom>
            <a:solidFill>
              <a:srgbClr val="262626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Pentagon 13">
              <a:extLst>
                <a:ext uri="{FF2B5EF4-FFF2-40B4-BE49-F238E27FC236}">
                  <a16:creationId xmlns:a16="http://schemas.microsoft.com/office/drawing/2014/main" id="{AE313762-E34E-4BF0-9FE7-3F54C60D95AA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7" name="Oval 15">
            <a:extLst>
              <a:ext uri="{FF2B5EF4-FFF2-40B4-BE49-F238E27FC236}">
                <a16:creationId xmlns:a16="http://schemas.microsoft.com/office/drawing/2014/main" id="{4358340C-E91E-476D-87A1-423AAE44E180}"/>
              </a:ext>
            </a:extLst>
          </p:cNvPr>
          <p:cNvSpPr/>
          <p:nvPr/>
        </p:nvSpPr>
        <p:spPr>
          <a:xfrm>
            <a:off x="7169705" y="2780278"/>
            <a:ext cx="362522" cy="348011"/>
          </a:xfrm>
          <a:prstGeom prst="ellipse">
            <a:avLst/>
          </a:prstGeom>
          <a:solidFill>
            <a:srgbClr val="FFCC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947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1950" y="1315278"/>
                <a:ext cx="5229829" cy="5400675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sz="2400" dirty="0"/>
                  <a:t>55 minutes are gained by minute hand in 60 min.</a:t>
                </a:r>
              </a:p>
              <a:p>
                <a:pPr algn="just"/>
                <a:r>
                  <a:rPr lang="en-US" sz="2400" dirty="0"/>
                  <a:t>1 minute is gained by minute hand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60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55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min.</a:t>
                </a:r>
              </a:p>
              <a:p>
                <a:pPr algn="just"/>
                <a:r>
                  <a:rPr lang="en-US" sz="2400" dirty="0"/>
                  <a:t>50 minutes will be gained by minute hand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60 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50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55</m:t>
                        </m:r>
                      </m:den>
                    </m:f>
                  </m:oMath>
                </a14:m>
                <a:r>
                  <a:rPr lang="en-US" sz="2400" dirty="0"/>
                  <a:t> = 54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6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mins.</a:t>
                </a:r>
              </a:p>
              <a:p>
                <a:pPr algn="just"/>
                <a:r>
                  <a:rPr lang="en-US" sz="2400" dirty="0"/>
                  <a:t>The hands will coincide at = 54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6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min. past 10.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950" y="1315278"/>
                <a:ext cx="5229829" cy="5400675"/>
              </a:xfrm>
              <a:blipFill>
                <a:blip r:embed="rId2"/>
                <a:stretch>
                  <a:fillRect l="-1282" r="-15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2D384B37-DC66-4849-B53B-56F9EF434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750" y="1395293"/>
            <a:ext cx="3204547" cy="3150101"/>
          </a:xfrm>
          <a:prstGeom prst="rect">
            <a:avLst/>
          </a:prstGeom>
          <a:ln w="76200">
            <a:solidFill>
              <a:srgbClr val="00B0F0"/>
            </a:solidFill>
          </a:ln>
        </p:spPr>
      </p:pic>
      <p:grpSp>
        <p:nvGrpSpPr>
          <p:cNvPr id="4" name="Group 18">
            <a:extLst>
              <a:ext uri="{FF2B5EF4-FFF2-40B4-BE49-F238E27FC236}">
                <a16:creationId xmlns:a16="http://schemas.microsoft.com/office/drawing/2014/main" id="{E2F6E57E-4CF7-4663-B6A6-C63C427B48CF}"/>
              </a:ext>
            </a:extLst>
          </p:cNvPr>
          <p:cNvGrpSpPr/>
          <p:nvPr/>
        </p:nvGrpSpPr>
        <p:grpSpPr>
          <a:xfrm rot="12764600">
            <a:off x="6379776" y="2916088"/>
            <a:ext cx="1857648" cy="91036"/>
            <a:chOff x="5416681" y="3605337"/>
            <a:chExt cx="2056420" cy="154158"/>
          </a:xfrm>
        </p:grpSpPr>
        <p:sp>
          <p:nvSpPr>
            <p:cNvPr id="14" name="Pentagon 16">
              <a:extLst>
                <a:ext uri="{FF2B5EF4-FFF2-40B4-BE49-F238E27FC236}">
                  <a16:creationId xmlns:a16="http://schemas.microsoft.com/office/drawing/2014/main" id="{262D1FD4-C30C-4A52-B44C-81926BD11242}"/>
                </a:ext>
              </a:extLst>
            </p:cNvPr>
            <p:cNvSpPr/>
            <p:nvPr/>
          </p:nvSpPr>
          <p:spPr>
            <a:xfrm rot="21384701">
              <a:off x="6401986" y="3687454"/>
              <a:ext cx="1071115" cy="72041"/>
            </a:xfrm>
            <a:prstGeom prst="homePlate">
              <a:avLst/>
            </a:prstGeom>
            <a:solidFill>
              <a:srgbClr val="A8004B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Pentagon 10">
              <a:extLst>
                <a:ext uri="{FF2B5EF4-FFF2-40B4-BE49-F238E27FC236}">
                  <a16:creationId xmlns:a16="http://schemas.microsoft.com/office/drawing/2014/main" id="{2C1119C2-F944-4C30-AB45-B1A5972E7261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660C331E-D85C-4FAF-9000-94E6D67063F3}"/>
              </a:ext>
            </a:extLst>
          </p:cNvPr>
          <p:cNvGrpSpPr/>
          <p:nvPr/>
        </p:nvGrpSpPr>
        <p:grpSpPr>
          <a:xfrm rot="16200000">
            <a:off x="6092227" y="2860623"/>
            <a:ext cx="2510228" cy="85677"/>
            <a:chOff x="5148122" y="3648855"/>
            <a:chExt cx="3210748" cy="76199"/>
          </a:xfrm>
        </p:grpSpPr>
        <p:sp>
          <p:nvSpPr>
            <p:cNvPr id="17" name="Pentagon 12">
              <a:extLst>
                <a:ext uri="{FF2B5EF4-FFF2-40B4-BE49-F238E27FC236}">
                  <a16:creationId xmlns:a16="http://schemas.microsoft.com/office/drawing/2014/main" id="{9282588F-BCCF-412D-9599-325AB30F8514}"/>
                </a:ext>
              </a:extLst>
            </p:cNvPr>
            <p:cNvSpPr/>
            <p:nvPr/>
          </p:nvSpPr>
          <p:spPr>
            <a:xfrm>
              <a:off x="6758672" y="3670628"/>
              <a:ext cx="1600198" cy="45720"/>
            </a:xfrm>
            <a:prstGeom prst="homePlate">
              <a:avLst/>
            </a:prstGeom>
            <a:solidFill>
              <a:srgbClr val="262626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Pentagon 13">
              <a:extLst>
                <a:ext uri="{FF2B5EF4-FFF2-40B4-BE49-F238E27FC236}">
                  <a16:creationId xmlns:a16="http://schemas.microsoft.com/office/drawing/2014/main" id="{AE313762-E34E-4BF0-9FE7-3F54C60D95AA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7" name="Oval 15">
            <a:extLst>
              <a:ext uri="{FF2B5EF4-FFF2-40B4-BE49-F238E27FC236}">
                <a16:creationId xmlns:a16="http://schemas.microsoft.com/office/drawing/2014/main" id="{4358340C-E91E-476D-87A1-423AAE44E180}"/>
              </a:ext>
            </a:extLst>
          </p:cNvPr>
          <p:cNvSpPr/>
          <p:nvPr/>
        </p:nvSpPr>
        <p:spPr>
          <a:xfrm>
            <a:off x="7169705" y="2780278"/>
            <a:ext cx="362522" cy="348011"/>
          </a:xfrm>
          <a:prstGeom prst="ellipse">
            <a:avLst/>
          </a:prstGeom>
          <a:solidFill>
            <a:srgbClr val="FFCC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947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1" y="1315278"/>
            <a:ext cx="4210050" cy="540067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At what time between 3 and 4 o’clock will the hands of a clock be together 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384B37-DC66-4849-B53B-56F9EF434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755" y="2262602"/>
            <a:ext cx="3204547" cy="3150101"/>
          </a:xfrm>
          <a:prstGeom prst="rect">
            <a:avLst/>
          </a:prstGeom>
          <a:ln w="76200">
            <a:solidFill>
              <a:srgbClr val="00B0F0"/>
            </a:solidFill>
          </a:ln>
        </p:spPr>
      </p:pic>
      <p:grpSp>
        <p:nvGrpSpPr>
          <p:cNvPr id="4" name="Group 18">
            <a:extLst>
              <a:ext uri="{FF2B5EF4-FFF2-40B4-BE49-F238E27FC236}">
                <a16:creationId xmlns:a16="http://schemas.microsoft.com/office/drawing/2014/main" id="{E2F6E57E-4CF7-4663-B6A6-C63C427B48CF}"/>
              </a:ext>
            </a:extLst>
          </p:cNvPr>
          <p:cNvGrpSpPr/>
          <p:nvPr/>
        </p:nvGrpSpPr>
        <p:grpSpPr>
          <a:xfrm>
            <a:off x="5816789" y="3783377"/>
            <a:ext cx="1856699" cy="75298"/>
            <a:chOff x="5416681" y="3605337"/>
            <a:chExt cx="2055369" cy="127508"/>
          </a:xfrm>
        </p:grpSpPr>
        <p:sp>
          <p:nvSpPr>
            <p:cNvPr id="14" name="Pentagon 16">
              <a:extLst>
                <a:ext uri="{FF2B5EF4-FFF2-40B4-BE49-F238E27FC236}">
                  <a16:creationId xmlns:a16="http://schemas.microsoft.com/office/drawing/2014/main" id="{262D1FD4-C30C-4A52-B44C-81926BD11242}"/>
                </a:ext>
              </a:extLst>
            </p:cNvPr>
            <p:cNvSpPr/>
            <p:nvPr/>
          </p:nvSpPr>
          <p:spPr>
            <a:xfrm>
              <a:off x="6400935" y="3660804"/>
              <a:ext cx="1071115" cy="72041"/>
            </a:xfrm>
            <a:prstGeom prst="homePlate">
              <a:avLst/>
            </a:prstGeom>
            <a:solidFill>
              <a:srgbClr val="A8004B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Pentagon 10">
              <a:extLst>
                <a:ext uri="{FF2B5EF4-FFF2-40B4-BE49-F238E27FC236}">
                  <a16:creationId xmlns:a16="http://schemas.microsoft.com/office/drawing/2014/main" id="{2C1119C2-F944-4C30-AB45-B1A5972E7261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660C331E-D85C-4FAF-9000-94E6D67063F3}"/>
              </a:ext>
            </a:extLst>
          </p:cNvPr>
          <p:cNvGrpSpPr/>
          <p:nvPr/>
        </p:nvGrpSpPr>
        <p:grpSpPr>
          <a:xfrm rot="16200000">
            <a:off x="5490604" y="3769275"/>
            <a:ext cx="2510229" cy="142134"/>
            <a:chOff x="5059132" y="3643527"/>
            <a:chExt cx="3210749" cy="76199"/>
          </a:xfrm>
        </p:grpSpPr>
        <p:sp>
          <p:nvSpPr>
            <p:cNvPr id="17" name="Pentagon 12">
              <a:extLst>
                <a:ext uri="{FF2B5EF4-FFF2-40B4-BE49-F238E27FC236}">
                  <a16:creationId xmlns:a16="http://schemas.microsoft.com/office/drawing/2014/main" id="{9282588F-BCCF-412D-9599-325AB30F8514}"/>
                </a:ext>
              </a:extLst>
            </p:cNvPr>
            <p:cNvSpPr/>
            <p:nvPr/>
          </p:nvSpPr>
          <p:spPr>
            <a:xfrm>
              <a:off x="6669682" y="3665299"/>
              <a:ext cx="1600199" cy="45720"/>
            </a:xfrm>
            <a:prstGeom prst="homePlate">
              <a:avLst/>
            </a:prstGeom>
            <a:solidFill>
              <a:srgbClr val="262626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Pentagon 13">
              <a:extLst>
                <a:ext uri="{FF2B5EF4-FFF2-40B4-BE49-F238E27FC236}">
                  <a16:creationId xmlns:a16="http://schemas.microsoft.com/office/drawing/2014/main" id="{AE313762-E34E-4BF0-9FE7-3F54C60D95AA}"/>
                </a:ext>
              </a:extLst>
            </p:cNvPr>
            <p:cNvSpPr/>
            <p:nvPr/>
          </p:nvSpPr>
          <p:spPr>
            <a:xfrm>
              <a:off x="5059132" y="3643527"/>
              <a:ext cx="1596281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7" name="Oval 15">
            <a:extLst>
              <a:ext uri="{FF2B5EF4-FFF2-40B4-BE49-F238E27FC236}">
                <a16:creationId xmlns:a16="http://schemas.microsoft.com/office/drawing/2014/main" id="{4358340C-E91E-476D-87A1-423AAE44E180}"/>
              </a:ext>
            </a:extLst>
          </p:cNvPr>
          <p:cNvSpPr/>
          <p:nvPr/>
        </p:nvSpPr>
        <p:spPr>
          <a:xfrm>
            <a:off x="6574710" y="3694885"/>
            <a:ext cx="362522" cy="348011"/>
          </a:xfrm>
          <a:prstGeom prst="ellipse">
            <a:avLst/>
          </a:prstGeom>
          <a:solidFill>
            <a:srgbClr val="FFCC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947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1315278"/>
            <a:ext cx="4651483" cy="5400675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400" dirty="0"/>
              <a:t>At 3 o’clock, the hour hand is at 3 and the minute hand is at 12, i.e. they are 15 min. spaces apart.</a:t>
            </a:r>
          </a:p>
          <a:p>
            <a:pPr algn="just"/>
            <a:r>
              <a:rPr lang="en-US" sz="2400" dirty="0"/>
              <a:t>The minute hand is 15 minutes spaces behind of the hour hand. </a:t>
            </a:r>
          </a:p>
          <a:p>
            <a:pPr algn="just"/>
            <a:r>
              <a:rPr lang="en-US" sz="2400" dirty="0"/>
              <a:t>To be together, the minute hand must gain 15 minutes over the hour hand.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384B37-DC66-4849-B53B-56F9EF434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011" y="2262602"/>
            <a:ext cx="3204547" cy="3150101"/>
          </a:xfrm>
          <a:prstGeom prst="rect">
            <a:avLst/>
          </a:prstGeom>
          <a:ln w="76200">
            <a:solidFill>
              <a:srgbClr val="00B0F0"/>
            </a:solidFill>
          </a:ln>
        </p:spPr>
      </p:pic>
      <p:grpSp>
        <p:nvGrpSpPr>
          <p:cNvPr id="4" name="Group 18">
            <a:extLst>
              <a:ext uri="{FF2B5EF4-FFF2-40B4-BE49-F238E27FC236}">
                <a16:creationId xmlns:a16="http://schemas.microsoft.com/office/drawing/2014/main" id="{E2F6E57E-4CF7-4663-B6A6-C63C427B48CF}"/>
              </a:ext>
            </a:extLst>
          </p:cNvPr>
          <p:cNvGrpSpPr/>
          <p:nvPr/>
        </p:nvGrpSpPr>
        <p:grpSpPr>
          <a:xfrm>
            <a:off x="6069045" y="3783377"/>
            <a:ext cx="1856699" cy="75298"/>
            <a:chOff x="5416681" y="3605337"/>
            <a:chExt cx="2055369" cy="127508"/>
          </a:xfrm>
        </p:grpSpPr>
        <p:sp>
          <p:nvSpPr>
            <p:cNvPr id="14" name="Pentagon 16">
              <a:extLst>
                <a:ext uri="{FF2B5EF4-FFF2-40B4-BE49-F238E27FC236}">
                  <a16:creationId xmlns:a16="http://schemas.microsoft.com/office/drawing/2014/main" id="{262D1FD4-C30C-4A52-B44C-81926BD11242}"/>
                </a:ext>
              </a:extLst>
            </p:cNvPr>
            <p:cNvSpPr/>
            <p:nvPr/>
          </p:nvSpPr>
          <p:spPr>
            <a:xfrm>
              <a:off x="6400935" y="3660804"/>
              <a:ext cx="1071115" cy="72041"/>
            </a:xfrm>
            <a:prstGeom prst="homePlate">
              <a:avLst/>
            </a:prstGeom>
            <a:solidFill>
              <a:srgbClr val="A8004B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Pentagon 10">
              <a:extLst>
                <a:ext uri="{FF2B5EF4-FFF2-40B4-BE49-F238E27FC236}">
                  <a16:creationId xmlns:a16="http://schemas.microsoft.com/office/drawing/2014/main" id="{2C1119C2-F944-4C30-AB45-B1A5972E7261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660C331E-D85C-4FAF-9000-94E6D67063F3}"/>
              </a:ext>
            </a:extLst>
          </p:cNvPr>
          <p:cNvGrpSpPr/>
          <p:nvPr/>
        </p:nvGrpSpPr>
        <p:grpSpPr>
          <a:xfrm rot="16200000">
            <a:off x="5732929" y="3769275"/>
            <a:ext cx="2510229" cy="142134"/>
            <a:chOff x="5059132" y="3638198"/>
            <a:chExt cx="3210749" cy="76199"/>
          </a:xfrm>
        </p:grpSpPr>
        <p:sp>
          <p:nvSpPr>
            <p:cNvPr id="17" name="Pentagon 12">
              <a:extLst>
                <a:ext uri="{FF2B5EF4-FFF2-40B4-BE49-F238E27FC236}">
                  <a16:creationId xmlns:a16="http://schemas.microsoft.com/office/drawing/2014/main" id="{9282588F-BCCF-412D-9599-325AB30F8514}"/>
                </a:ext>
              </a:extLst>
            </p:cNvPr>
            <p:cNvSpPr/>
            <p:nvPr/>
          </p:nvSpPr>
          <p:spPr>
            <a:xfrm>
              <a:off x="6669682" y="3659970"/>
              <a:ext cx="1600199" cy="45720"/>
            </a:xfrm>
            <a:prstGeom prst="homePlate">
              <a:avLst/>
            </a:prstGeom>
            <a:solidFill>
              <a:srgbClr val="262626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Pentagon 13">
              <a:extLst>
                <a:ext uri="{FF2B5EF4-FFF2-40B4-BE49-F238E27FC236}">
                  <a16:creationId xmlns:a16="http://schemas.microsoft.com/office/drawing/2014/main" id="{AE313762-E34E-4BF0-9FE7-3F54C60D95AA}"/>
                </a:ext>
              </a:extLst>
            </p:cNvPr>
            <p:cNvSpPr/>
            <p:nvPr/>
          </p:nvSpPr>
          <p:spPr>
            <a:xfrm>
              <a:off x="5059132" y="3638198"/>
              <a:ext cx="1596281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7" name="Oval 15">
            <a:extLst>
              <a:ext uri="{FF2B5EF4-FFF2-40B4-BE49-F238E27FC236}">
                <a16:creationId xmlns:a16="http://schemas.microsoft.com/office/drawing/2014/main" id="{4358340C-E91E-476D-87A1-423AAE44E180}"/>
              </a:ext>
            </a:extLst>
          </p:cNvPr>
          <p:cNvSpPr/>
          <p:nvPr/>
        </p:nvSpPr>
        <p:spPr>
          <a:xfrm>
            <a:off x="6826966" y="3694885"/>
            <a:ext cx="362522" cy="348011"/>
          </a:xfrm>
          <a:prstGeom prst="ellipse">
            <a:avLst/>
          </a:prstGeom>
          <a:solidFill>
            <a:srgbClr val="FFCC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947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1951" y="1315278"/>
                <a:ext cx="5233780" cy="4350026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55 minutes are gained by minute hand in 60 min.</a:t>
                </a:r>
              </a:p>
              <a:p>
                <a:pPr algn="just"/>
                <a:r>
                  <a:rPr lang="en-US" sz="2400" dirty="0"/>
                  <a:t>1 minute is gained by minute hand in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60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55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min.</a:t>
                </a:r>
              </a:p>
              <a:p>
                <a:pPr algn="just"/>
                <a:r>
                  <a:rPr lang="en-US" sz="2400" dirty="0"/>
                  <a:t>15 minutes will be gained by minute hand in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60 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15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55</m:t>
                        </m:r>
                      </m:den>
                    </m:f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= 16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</m:den>
                    </m:f>
                  </m:oMath>
                </a14:m>
                <a:r>
                  <a:rPr lang="en-US" sz="2400" dirty="0"/>
                  <a:t> min.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951" y="1315278"/>
                <a:ext cx="5233780" cy="4350026"/>
              </a:xfrm>
              <a:blipFill>
                <a:blip r:embed="rId2"/>
                <a:stretch>
                  <a:fillRect l="-1513" r="-17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69035A7D-6737-40B7-9DEF-0E8E81E494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3728" y="5542722"/>
                <a:ext cx="8685404" cy="9972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Clr>
                    <a:srgbClr val="00203F"/>
                  </a:buClr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203F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203F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203F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203F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sz="2400" dirty="0"/>
                  <a:t>The hands will coincide at 16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 smtClean="0"/>
                          <m:t>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  <m:r>
                          <m:rPr>
                            <m:nor/>
                          </m:rPr>
                          <a:rPr lang="en-US" sz="2400" dirty="0" smtClean="0"/>
                          <m:t>1</m:t>
                        </m:r>
                      </m:den>
                    </m:f>
                  </m:oMath>
                </a14:m>
                <a:r>
                  <a:rPr lang="en-US" sz="2400" dirty="0"/>
                  <a:t> min past 3.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69035A7D-6737-40B7-9DEF-0E8E81E49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28" y="5542722"/>
                <a:ext cx="8685404" cy="997226"/>
              </a:xfrm>
              <a:prstGeom prst="rect">
                <a:avLst/>
              </a:prstGeom>
              <a:blipFill>
                <a:blip r:embed="rId4"/>
                <a:stretch>
                  <a:fillRect l="-9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C3AADCE4-73C1-412A-9A72-00082C02D5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8452" y="2183090"/>
            <a:ext cx="3204547" cy="3150101"/>
          </a:xfrm>
          <a:prstGeom prst="rect">
            <a:avLst/>
          </a:prstGeom>
          <a:ln w="76200">
            <a:solidFill>
              <a:srgbClr val="00B0F0"/>
            </a:solidFill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6F3FE95-C975-46BB-8E9A-22338F754734}"/>
              </a:ext>
            </a:extLst>
          </p:cNvPr>
          <p:cNvGrpSpPr/>
          <p:nvPr/>
        </p:nvGrpSpPr>
        <p:grpSpPr>
          <a:xfrm>
            <a:off x="6486486" y="3703865"/>
            <a:ext cx="1856699" cy="75298"/>
            <a:chOff x="5416681" y="3605337"/>
            <a:chExt cx="2055369" cy="127508"/>
          </a:xfrm>
        </p:grpSpPr>
        <p:sp>
          <p:nvSpPr>
            <p:cNvPr id="20" name="Pentagon 16">
              <a:extLst>
                <a:ext uri="{FF2B5EF4-FFF2-40B4-BE49-F238E27FC236}">
                  <a16:creationId xmlns:a16="http://schemas.microsoft.com/office/drawing/2014/main" id="{B26F13EE-8FCF-4009-939F-9F1B205F8E63}"/>
                </a:ext>
              </a:extLst>
            </p:cNvPr>
            <p:cNvSpPr/>
            <p:nvPr/>
          </p:nvSpPr>
          <p:spPr>
            <a:xfrm>
              <a:off x="6400935" y="3660804"/>
              <a:ext cx="1071115" cy="72041"/>
            </a:xfrm>
            <a:prstGeom prst="homePlate">
              <a:avLst/>
            </a:prstGeom>
            <a:solidFill>
              <a:srgbClr val="A8004B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1" name="Pentagon 10">
              <a:extLst>
                <a:ext uri="{FF2B5EF4-FFF2-40B4-BE49-F238E27FC236}">
                  <a16:creationId xmlns:a16="http://schemas.microsoft.com/office/drawing/2014/main" id="{7E77B53B-A523-487A-81A3-749EC2AFBB63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2" name="Group 19">
            <a:extLst>
              <a:ext uri="{FF2B5EF4-FFF2-40B4-BE49-F238E27FC236}">
                <a16:creationId xmlns:a16="http://schemas.microsoft.com/office/drawing/2014/main" id="{2F404A08-3646-4C18-A37E-007B290EA7A0}"/>
              </a:ext>
            </a:extLst>
          </p:cNvPr>
          <p:cNvGrpSpPr/>
          <p:nvPr/>
        </p:nvGrpSpPr>
        <p:grpSpPr>
          <a:xfrm rot="16200000">
            <a:off x="6150370" y="3689763"/>
            <a:ext cx="2510229" cy="142134"/>
            <a:chOff x="5059132" y="3638198"/>
            <a:chExt cx="3210749" cy="76199"/>
          </a:xfrm>
        </p:grpSpPr>
        <p:sp>
          <p:nvSpPr>
            <p:cNvPr id="23" name="Pentagon 12">
              <a:extLst>
                <a:ext uri="{FF2B5EF4-FFF2-40B4-BE49-F238E27FC236}">
                  <a16:creationId xmlns:a16="http://schemas.microsoft.com/office/drawing/2014/main" id="{68DB0403-0E56-42F3-91D4-ABD29C73FF3D}"/>
                </a:ext>
              </a:extLst>
            </p:cNvPr>
            <p:cNvSpPr/>
            <p:nvPr/>
          </p:nvSpPr>
          <p:spPr>
            <a:xfrm>
              <a:off x="6669682" y="3659970"/>
              <a:ext cx="1600199" cy="45720"/>
            </a:xfrm>
            <a:prstGeom prst="homePlate">
              <a:avLst/>
            </a:prstGeom>
            <a:solidFill>
              <a:srgbClr val="262626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4" name="Pentagon 13">
              <a:extLst>
                <a:ext uri="{FF2B5EF4-FFF2-40B4-BE49-F238E27FC236}">
                  <a16:creationId xmlns:a16="http://schemas.microsoft.com/office/drawing/2014/main" id="{27709D89-BCC8-4D68-AE5F-47AD647E26AF}"/>
                </a:ext>
              </a:extLst>
            </p:cNvPr>
            <p:cNvSpPr/>
            <p:nvPr/>
          </p:nvSpPr>
          <p:spPr>
            <a:xfrm>
              <a:off x="5059132" y="3638198"/>
              <a:ext cx="1596281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5" name="Oval 15">
            <a:extLst>
              <a:ext uri="{FF2B5EF4-FFF2-40B4-BE49-F238E27FC236}">
                <a16:creationId xmlns:a16="http://schemas.microsoft.com/office/drawing/2014/main" id="{0F5C04AE-DAC4-4D06-9AA6-F28F4D1354EB}"/>
              </a:ext>
            </a:extLst>
          </p:cNvPr>
          <p:cNvSpPr/>
          <p:nvPr/>
        </p:nvSpPr>
        <p:spPr>
          <a:xfrm>
            <a:off x="7244407" y="3615373"/>
            <a:ext cx="362522" cy="348011"/>
          </a:xfrm>
          <a:prstGeom prst="ellipse">
            <a:avLst/>
          </a:prstGeom>
          <a:solidFill>
            <a:srgbClr val="FFCC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947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Example 4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295401"/>
            <a:ext cx="8498271" cy="1258614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At what time between 5 and 6 o’clock will the hands of a clock be at right angle?</a:t>
            </a:r>
          </a:p>
        </p:txBody>
      </p:sp>
      <p:pic>
        <p:nvPicPr>
          <p:cNvPr id="5" name="Picture 29">
            <a:extLst>
              <a:ext uri="{FF2B5EF4-FFF2-40B4-BE49-F238E27FC236}">
                <a16:creationId xmlns:a16="http://schemas.microsoft.com/office/drawing/2014/main" id="{DDCED418-1B08-4520-91DE-A14C4E94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74372" y="2724007"/>
            <a:ext cx="3690206" cy="38185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grpSp>
        <p:nvGrpSpPr>
          <p:cNvPr id="4" name="Group 18">
            <a:extLst>
              <a:ext uri="{FF2B5EF4-FFF2-40B4-BE49-F238E27FC236}">
                <a16:creationId xmlns:a16="http://schemas.microsoft.com/office/drawing/2014/main" id="{0FDF9A0A-E363-45DE-AC6F-FD36EF2B0EE8}"/>
              </a:ext>
            </a:extLst>
          </p:cNvPr>
          <p:cNvGrpSpPr/>
          <p:nvPr/>
        </p:nvGrpSpPr>
        <p:grpSpPr>
          <a:xfrm rot="3532171">
            <a:off x="6011503" y="4566260"/>
            <a:ext cx="1881572" cy="68735"/>
            <a:chOff x="5416681" y="3540830"/>
            <a:chExt cx="2292848" cy="140707"/>
          </a:xfrm>
        </p:grpSpPr>
        <p:sp>
          <p:nvSpPr>
            <p:cNvPr id="7" name="Pentagon 16">
              <a:extLst>
                <a:ext uri="{FF2B5EF4-FFF2-40B4-BE49-F238E27FC236}">
                  <a16:creationId xmlns:a16="http://schemas.microsoft.com/office/drawing/2014/main" id="{31089A69-A5B8-4F8B-AC2D-CE9824CB8ABE}"/>
                </a:ext>
              </a:extLst>
            </p:cNvPr>
            <p:cNvSpPr/>
            <p:nvPr/>
          </p:nvSpPr>
          <p:spPr>
            <a:xfrm>
              <a:off x="6642729" y="3540830"/>
              <a:ext cx="1066800" cy="76199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8" name="Pentagon 10">
              <a:extLst>
                <a:ext uri="{FF2B5EF4-FFF2-40B4-BE49-F238E27FC236}">
                  <a16:creationId xmlns:a16="http://schemas.microsoft.com/office/drawing/2014/main" id="{035C090F-E3B3-4AF4-B682-D9910FA40E34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Group 19">
            <a:extLst>
              <a:ext uri="{FF2B5EF4-FFF2-40B4-BE49-F238E27FC236}">
                <a16:creationId xmlns:a16="http://schemas.microsoft.com/office/drawing/2014/main" id="{028E3048-445D-47B1-B09E-E6A32BA8358A}"/>
              </a:ext>
            </a:extLst>
          </p:cNvPr>
          <p:cNvGrpSpPr/>
          <p:nvPr/>
        </p:nvGrpSpPr>
        <p:grpSpPr>
          <a:xfrm rot="16200000">
            <a:off x="5677116" y="4511933"/>
            <a:ext cx="2566136" cy="87540"/>
            <a:chOff x="5148122" y="3648855"/>
            <a:chExt cx="3241126" cy="76199"/>
          </a:xfrm>
        </p:grpSpPr>
        <p:sp>
          <p:nvSpPr>
            <p:cNvPr id="10" name="Pentagon 12">
              <a:extLst>
                <a:ext uri="{FF2B5EF4-FFF2-40B4-BE49-F238E27FC236}">
                  <a16:creationId xmlns:a16="http://schemas.microsoft.com/office/drawing/2014/main" id="{F8C65D19-615F-4EC1-A279-5A4BA7CF0120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Pentagon 13">
              <a:extLst>
                <a:ext uri="{FF2B5EF4-FFF2-40B4-BE49-F238E27FC236}">
                  <a16:creationId xmlns:a16="http://schemas.microsoft.com/office/drawing/2014/main" id="{43E5716B-3FB4-444C-A749-4BCF2B5E07DA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2" name="Oval 15">
            <a:extLst>
              <a:ext uri="{FF2B5EF4-FFF2-40B4-BE49-F238E27FC236}">
                <a16:creationId xmlns:a16="http://schemas.microsoft.com/office/drawing/2014/main" id="{9FE5E60F-72FC-432A-9E66-732EB7A3730A}"/>
              </a:ext>
            </a:extLst>
          </p:cNvPr>
          <p:cNvSpPr/>
          <p:nvPr/>
        </p:nvSpPr>
        <p:spPr>
          <a:xfrm>
            <a:off x="6810705" y="4431185"/>
            <a:ext cx="304426" cy="37729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3" name="Picture 29">
            <a:extLst>
              <a:ext uri="{FF2B5EF4-FFF2-40B4-BE49-F238E27FC236}">
                <a16:creationId xmlns:a16="http://schemas.microsoft.com/office/drawing/2014/main" id="{DDCED418-1B08-4520-91DE-A14C4E94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4771" y="2724183"/>
            <a:ext cx="3690206" cy="38185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0FDF9A0A-E363-45DE-AC6F-FD36EF2B0EE8}"/>
              </a:ext>
            </a:extLst>
          </p:cNvPr>
          <p:cNvGrpSpPr/>
          <p:nvPr/>
        </p:nvGrpSpPr>
        <p:grpSpPr>
          <a:xfrm rot="3422126">
            <a:off x="1580885" y="4577936"/>
            <a:ext cx="1856331" cy="45719"/>
            <a:chOff x="5416681" y="3605337"/>
            <a:chExt cx="2262090" cy="93592"/>
          </a:xfrm>
        </p:grpSpPr>
        <p:sp>
          <p:nvSpPr>
            <p:cNvPr id="15" name="Pentagon 16">
              <a:extLst>
                <a:ext uri="{FF2B5EF4-FFF2-40B4-BE49-F238E27FC236}">
                  <a16:creationId xmlns:a16="http://schemas.microsoft.com/office/drawing/2014/main" id="{31089A69-A5B8-4F8B-AC2D-CE9824CB8ABE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Pentagon 10">
              <a:extLst>
                <a:ext uri="{FF2B5EF4-FFF2-40B4-BE49-F238E27FC236}">
                  <a16:creationId xmlns:a16="http://schemas.microsoft.com/office/drawing/2014/main" id="{035C090F-E3B3-4AF4-B682-D9910FA40E34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19">
            <a:extLst>
              <a:ext uri="{FF2B5EF4-FFF2-40B4-BE49-F238E27FC236}">
                <a16:creationId xmlns:a16="http://schemas.microsoft.com/office/drawing/2014/main" id="{028E3048-445D-47B1-B09E-E6A32BA8358A}"/>
              </a:ext>
            </a:extLst>
          </p:cNvPr>
          <p:cNvGrpSpPr/>
          <p:nvPr/>
        </p:nvGrpSpPr>
        <p:grpSpPr>
          <a:xfrm rot="16200000">
            <a:off x="1257515" y="4512109"/>
            <a:ext cx="2566136" cy="87540"/>
            <a:chOff x="5148122" y="3648855"/>
            <a:chExt cx="3241126" cy="76199"/>
          </a:xfrm>
        </p:grpSpPr>
        <p:sp>
          <p:nvSpPr>
            <p:cNvPr id="18" name="Pentagon 12">
              <a:extLst>
                <a:ext uri="{FF2B5EF4-FFF2-40B4-BE49-F238E27FC236}">
                  <a16:creationId xmlns:a16="http://schemas.microsoft.com/office/drawing/2014/main" id="{F8C65D19-615F-4EC1-A279-5A4BA7CF0120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Pentagon 13">
              <a:extLst>
                <a:ext uri="{FF2B5EF4-FFF2-40B4-BE49-F238E27FC236}">
                  <a16:creationId xmlns:a16="http://schemas.microsoft.com/office/drawing/2014/main" id="{43E5716B-3FB4-444C-A749-4BCF2B5E07DA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0" name="Oval 15">
            <a:extLst>
              <a:ext uri="{FF2B5EF4-FFF2-40B4-BE49-F238E27FC236}">
                <a16:creationId xmlns:a16="http://schemas.microsoft.com/office/drawing/2014/main" id="{9FE5E60F-72FC-432A-9E66-732EB7A3730A}"/>
              </a:ext>
            </a:extLst>
          </p:cNvPr>
          <p:cNvSpPr/>
          <p:nvPr/>
        </p:nvSpPr>
        <p:spPr>
          <a:xfrm>
            <a:off x="2391104" y="4431361"/>
            <a:ext cx="304426" cy="37729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072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/>
              <a:t>At 5 o’clock, the minute hand will be 25 min. spaces behind the hour hand. </a:t>
            </a:r>
          </a:p>
          <a:p>
            <a:r>
              <a:rPr lang="en-US" sz="2400" dirty="0"/>
              <a:t>When the two hands are 15 min. spaces apart, then they are at right angles. </a:t>
            </a:r>
          </a:p>
          <a:p>
            <a:r>
              <a:rPr lang="en-US" sz="2400" dirty="0"/>
              <a:t>Case I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 When minute hand is 15 min. spaces behind the hour hand.</a:t>
            </a:r>
          </a:p>
          <a:p>
            <a:r>
              <a:rPr lang="en-US" sz="2400" dirty="0"/>
              <a:t>Case II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When the minute hand is 15 min. spaces ahead of the hour hand.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Case I 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1" y="1295400"/>
            <a:ext cx="4746078" cy="3576145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Min. hand is 15 min. behind the hour hand</a:t>
            </a:r>
          </a:p>
          <a:p>
            <a:pPr algn="just"/>
            <a:r>
              <a:rPr lang="en-US" sz="2400" dirty="0"/>
              <a:t>Min. hand will have to gain </a:t>
            </a:r>
          </a:p>
          <a:p>
            <a:pPr marL="0" indent="0" algn="just">
              <a:buNone/>
            </a:pPr>
            <a:r>
              <a:rPr lang="en-US" sz="2400" dirty="0"/>
              <a:t>      (25 – 15) = 10 minute spaces</a:t>
            </a:r>
          </a:p>
          <a:p>
            <a:pPr algn="just"/>
            <a:r>
              <a:rPr lang="en-US" sz="2400" dirty="0"/>
              <a:t>55 min. spaces are gained Min. hand in 60 min.</a:t>
            </a:r>
            <a:endParaRPr lang="en-US" sz="2600" dirty="0"/>
          </a:p>
        </p:txBody>
      </p:sp>
      <p:pic>
        <p:nvPicPr>
          <p:cNvPr id="13" name="Picture 29">
            <a:extLst>
              <a:ext uri="{FF2B5EF4-FFF2-40B4-BE49-F238E27FC236}">
                <a16:creationId xmlns:a16="http://schemas.microsoft.com/office/drawing/2014/main" id="{DDCED418-1B08-4520-91DE-A14C4E94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37585" y="1179153"/>
            <a:ext cx="3690206" cy="38185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0FDF9A0A-E363-45DE-AC6F-FD36EF2B0EE8}"/>
              </a:ext>
            </a:extLst>
          </p:cNvPr>
          <p:cNvGrpSpPr/>
          <p:nvPr/>
        </p:nvGrpSpPr>
        <p:grpSpPr>
          <a:xfrm rot="3422126">
            <a:off x="5963699" y="3032906"/>
            <a:ext cx="1856331" cy="45719"/>
            <a:chOff x="5416681" y="3605337"/>
            <a:chExt cx="2262090" cy="93592"/>
          </a:xfrm>
        </p:grpSpPr>
        <p:sp>
          <p:nvSpPr>
            <p:cNvPr id="15" name="Pentagon 16">
              <a:extLst>
                <a:ext uri="{FF2B5EF4-FFF2-40B4-BE49-F238E27FC236}">
                  <a16:creationId xmlns:a16="http://schemas.microsoft.com/office/drawing/2014/main" id="{31089A69-A5B8-4F8B-AC2D-CE9824CB8ABE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Pentagon 10">
              <a:extLst>
                <a:ext uri="{FF2B5EF4-FFF2-40B4-BE49-F238E27FC236}">
                  <a16:creationId xmlns:a16="http://schemas.microsoft.com/office/drawing/2014/main" id="{035C090F-E3B3-4AF4-B682-D9910FA40E34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19">
            <a:extLst>
              <a:ext uri="{FF2B5EF4-FFF2-40B4-BE49-F238E27FC236}">
                <a16:creationId xmlns:a16="http://schemas.microsoft.com/office/drawing/2014/main" id="{028E3048-445D-47B1-B09E-E6A32BA8358A}"/>
              </a:ext>
            </a:extLst>
          </p:cNvPr>
          <p:cNvGrpSpPr/>
          <p:nvPr/>
        </p:nvGrpSpPr>
        <p:grpSpPr>
          <a:xfrm rot="16200000">
            <a:off x="5640329" y="2967079"/>
            <a:ext cx="2566136" cy="87540"/>
            <a:chOff x="5148122" y="3648855"/>
            <a:chExt cx="3241126" cy="76199"/>
          </a:xfrm>
        </p:grpSpPr>
        <p:sp>
          <p:nvSpPr>
            <p:cNvPr id="18" name="Pentagon 12">
              <a:extLst>
                <a:ext uri="{FF2B5EF4-FFF2-40B4-BE49-F238E27FC236}">
                  <a16:creationId xmlns:a16="http://schemas.microsoft.com/office/drawing/2014/main" id="{F8C65D19-615F-4EC1-A279-5A4BA7CF0120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Pentagon 13">
              <a:extLst>
                <a:ext uri="{FF2B5EF4-FFF2-40B4-BE49-F238E27FC236}">
                  <a16:creationId xmlns:a16="http://schemas.microsoft.com/office/drawing/2014/main" id="{43E5716B-3FB4-444C-A749-4BCF2B5E07DA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0" name="Oval 15">
            <a:extLst>
              <a:ext uri="{FF2B5EF4-FFF2-40B4-BE49-F238E27FC236}">
                <a16:creationId xmlns:a16="http://schemas.microsoft.com/office/drawing/2014/main" id="{9FE5E60F-72FC-432A-9E66-732EB7A3730A}"/>
              </a:ext>
            </a:extLst>
          </p:cNvPr>
          <p:cNvSpPr/>
          <p:nvPr/>
        </p:nvSpPr>
        <p:spPr>
          <a:xfrm>
            <a:off x="6773918" y="2886331"/>
            <a:ext cx="304426" cy="37729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8783" y="4989444"/>
                <a:ext cx="8945217" cy="17153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228600" lvl="0" indent="-228600" defTabSz="914400">
                  <a:lnSpc>
                    <a:spcPct val="150000"/>
                  </a:lnSpc>
                  <a:spcBef>
                    <a:spcPts val="1000"/>
                  </a:spcBef>
                  <a:buClr>
                    <a:srgbClr val="00203F"/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10 min. spaces will be gained by Min. hand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60 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10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55</m:t>
                        </m:r>
                      </m:den>
                    </m:f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	=10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US" sz="2400" dirty="0"/>
                          <m:t>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min.</a:t>
                </a:r>
              </a:p>
              <a:p>
                <a:pPr marL="228600" marR="0" lvl="0" indent="-228600" algn="l" defTabSz="914400" rtl="0" eaLnBrk="1" fontAlgn="auto" latinLnBrk="0" hangingPunct="1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203F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  <a:p>
                <a:pPr marL="685800" marR="0" lvl="1" indent="-228600" algn="l" defTabSz="914400" rtl="0" eaLnBrk="1" fontAlgn="auto" latinLnBrk="0" hangingPunct="1">
                  <a:lnSpc>
                    <a:spcPct val="15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00203F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83" y="4989444"/>
                <a:ext cx="8945217" cy="1715393"/>
              </a:xfrm>
              <a:prstGeom prst="rect">
                <a:avLst/>
              </a:prstGeom>
              <a:blipFill>
                <a:blip r:embed="rId3"/>
                <a:stretch>
                  <a:fillRect l="-9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3072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Case II </a:t>
            </a:r>
            <a:endParaRPr lang="en-IN" sz="3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295400"/>
            <a:ext cx="4761843" cy="4280452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When the minute hand is 15 min. spaces ahead of the hour hand .</a:t>
            </a:r>
          </a:p>
          <a:p>
            <a:pPr algn="just"/>
            <a:r>
              <a:rPr lang="en-US" sz="2400" dirty="0"/>
              <a:t>Min. hand will have to gain </a:t>
            </a:r>
          </a:p>
          <a:p>
            <a:pPr algn="just">
              <a:buNone/>
            </a:pPr>
            <a:r>
              <a:rPr lang="en-US" sz="2400" dirty="0"/>
              <a:t>	(25 + 15) = 40 minute spaces</a:t>
            </a:r>
          </a:p>
          <a:p>
            <a:pPr algn="just"/>
            <a:r>
              <a:rPr lang="en-US" sz="2400" dirty="0"/>
              <a:t>55 min. spaces are gained Min. hand in 60 min.</a:t>
            </a:r>
          </a:p>
        </p:txBody>
      </p:sp>
      <p:pic>
        <p:nvPicPr>
          <p:cNvPr id="5" name="Picture 29">
            <a:extLst>
              <a:ext uri="{FF2B5EF4-FFF2-40B4-BE49-F238E27FC236}">
                <a16:creationId xmlns:a16="http://schemas.microsoft.com/office/drawing/2014/main" id="{DDCED418-1B08-4520-91DE-A14C4E94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37434" y="1210517"/>
            <a:ext cx="3690206" cy="38185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grpSp>
        <p:nvGrpSpPr>
          <p:cNvPr id="4" name="Group 18">
            <a:extLst>
              <a:ext uri="{FF2B5EF4-FFF2-40B4-BE49-F238E27FC236}">
                <a16:creationId xmlns:a16="http://schemas.microsoft.com/office/drawing/2014/main" id="{0FDF9A0A-E363-45DE-AC6F-FD36EF2B0EE8}"/>
              </a:ext>
            </a:extLst>
          </p:cNvPr>
          <p:cNvGrpSpPr/>
          <p:nvPr/>
        </p:nvGrpSpPr>
        <p:grpSpPr>
          <a:xfrm rot="3532171">
            <a:off x="6074565" y="3052770"/>
            <a:ext cx="1881572" cy="68735"/>
            <a:chOff x="5416681" y="3540830"/>
            <a:chExt cx="2292848" cy="140707"/>
          </a:xfrm>
        </p:grpSpPr>
        <p:sp>
          <p:nvSpPr>
            <p:cNvPr id="7" name="Pentagon 16">
              <a:extLst>
                <a:ext uri="{FF2B5EF4-FFF2-40B4-BE49-F238E27FC236}">
                  <a16:creationId xmlns:a16="http://schemas.microsoft.com/office/drawing/2014/main" id="{31089A69-A5B8-4F8B-AC2D-CE9824CB8ABE}"/>
                </a:ext>
              </a:extLst>
            </p:cNvPr>
            <p:cNvSpPr/>
            <p:nvPr/>
          </p:nvSpPr>
          <p:spPr>
            <a:xfrm>
              <a:off x="6642729" y="3540830"/>
              <a:ext cx="1066800" cy="76199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8" name="Pentagon 10">
              <a:extLst>
                <a:ext uri="{FF2B5EF4-FFF2-40B4-BE49-F238E27FC236}">
                  <a16:creationId xmlns:a16="http://schemas.microsoft.com/office/drawing/2014/main" id="{035C090F-E3B3-4AF4-B682-D9910FA40E34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Group 19">
            <a:extLst>
              <a:ext uri="{FF2B5EF4-FFF2-40B4-BE49-F238E27FC236}">
                <a16:creationId xmlns:a16="http://schemas.microsoft.com/office/drawing/2014/main" id="{028E3048-445D-47B1-B09E-E6A32BA8358A}"/>
              </a:ext>
            </a:extLst>
          </p:cNvPr>
          <p:cNvGrpSpPr/>
          <p:nvPr/>
        </p:nvGrpSpPr>
        <p:grpSpPr>
          <a:xfrm rot="16200000">
            <a:off x="5740178" y="2998443"/>
            <a:ext cx="2566136" cy="87540"/>
            <a:chOff x="5148122" y="3648855"/>
            <a:chExt cx="3241126" cy="76199"/>
          </a:xfrm>
        </p:grpSpPr>
        <p:sp>
          <p:nvSpPr>
            <p:cNvPr id="10" name="Pentagon 12">
              <a:extLst>
                <a:ext uri="{FF2B5EF4-FFF2-40B4-BE49-F238E27FC236}">
                  <a16:creationId xmlns:a16="http://schemas.microsoft.com/office/drawing/2014/main" id="{F8C65D19-615F-4EC1-A279-5A4BA7CF0120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Pentagon 13">
              <a:extLst>
                <a:ext uri="{FF2B5EF4-FFF2-40B4-BE49-F238E27FC236}">
                  <a16:creationId xmlns:a16="http://schemas.microsoft.com/office/drawing/2014/main" id="{43E5716B-3FB4-444C-A749-4BCF2B5E07DA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2" name="Oval 15">
            <a:extLst>
              <a:ext uri="{FF2B5EF4-FFF2-40B4-BE49-F238E27FC236}">
                <a16:creationId xmlns:a16="http://schemas.microsoft.com/office/drawing/2014/main" id="{9FE5E60F-72FC-432A-9E66-732EB7A3730A}"/>
              </a:ext>
            </a:extLst>
          </p:cNvPr>
          <p:cNvSpPr/>
          <p:nvPr/>
        </p:nvSpPr>
        <p:spPr>
          <a:xfrm>
            <a:off x="6873767" y="2917695"/>
            <a:ext cx="304426" cy="37729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9026" y="5346564"/>
                <a:ext cx="8984974" cy="14031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228600" lvl="0" indent="-228600" defTabSz="914400">
                  <a:lnSpc>
                    <a:spcPct val="150000"/>
                  </a:lnSpc>
                  <a:spcBef>
                    <a:spcPts val="1000"/>
                  </a:spcBef>
                  <a:buClr>
                    <a:srgbClr val="00203F"/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lang="en-US" sz="2400" dirty="0"/>
                  <a:t>40 min. spaces will be gained by Min. hand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60 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40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55</m:t>
                        </m:r>
                      </m:den>
                    </m:f>
                  </m:oMath>
                </a14:m>
                <a:r>
                  <a:rPr lang="en-US" sz="2400" dirty="0"/>
                  <a:t>=43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7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11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min.</a:t>
                </a: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26" y="5346564"/>
                <a:ext cx="8984974" cy="1403120"/>
              </a:xfrm>
              <a:prstGeom prst="rect">
                <a:avLst/>
              </a:prstGeom>
              <a:blipFill>
                <a:blip r:embed="rId3"/>
                <a:stretch>
                  <a:fillRect l="-882" r="-4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3072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Example 5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295401"/>
            <a:ext cx="8498271" cy="1258614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Find at what time between 9 and 10 o’clock will the hands of a clock be in the same straight line but not together.</a:t>
            </a:r>
          </a:p>
        </p:txBody>
      </p:sp>
      <p:pic>
        <p:nvPicPr>
          <p:cNvPr id="5" name="Picture 29">
            <a:extLst>
              <a:ext uri="{FF2B5EF4-FFF2-40B4-BE49-F238E27FC236}">
                <a16:creationId xmlns:a16="http://schemas.microsoft.com/office/drawing/2014/main" id="{DDCED418-1B08-4520-91DE-A14C4E94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74372" y="2724007"/>
            <a:ext cx="3690206" cy="38185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grpSp>
        <p:nvGrpSpPr>
          <p:cNvPr id="4" name="Group 18">
            <a:extLst>
              <a:ext uri="{FF2B5EF4-FFF2-40B4-BE49-F238E27FC236}">
                <a16:creationId xmlns:a16="http://schemas.microsoft.com/office/drawing/2014/main" id="{0FDF9A0A-E363-45DE-AC6F-FD36EF2B0EE8}"/>
              </a:ext>
            </a:extLst>
          </p:cNvPr>
          <p:cNvGrpSpPr/>
          <p:nvPr/>
        </p:nvGrpSpPr>
        <p:grpSpPr>
          <a:xfrm rot="10800000">
            <a:off x="6000486" y="4625058"/>
            <a:ext cx="1856331" cy="45719"/>
            <a:chOff x="5416681" y="3605337"/>
            <a:chExt cx="2262090" cy="93592"/>
          </a:xfrm>
        </p:grpSpPr>
        <p:sp>
          <p:nvSpPr>
            <p:cNvPr id="7" name="Pentagon 16">
              <a:extLst>
                <a:ext uri="{FF2B5EF4-FFF2-40B4-BE49-F238E27FC236}">
                  <a16:creationId xmlns:a16="http://schemas.microsoft.com/office/drawing/2014/main" id="{31089A69-A5B8-4F8B-AC2D-CE9824CB8ABE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rgbClr val="C00000"/>
            </a:solidFill>
            <a:ln w="3810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8" name="Pentagon 10">
              <a:extLst>
                <a:ext uri="{FF2B5EF4-FFF2-40B4-BE49-F238E27FC236}">
                  <a16:creationId xmlns:a16="http://schemas.microsoft.com/office/drawing/2014/main" id="{035C090F-E3B3-4AF4-B682-D9910FA40E34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Group 19">
            <a:extLst>
              <a:ext uri="{FF2B5EF4-FFF2-40B4-BE49-F238E27FC236}">
                <a16:creationId xmlns:a16="http://schemas.microsoft.com/office/drawing/2014/main" id="{028E3048-445D-47B1-B09E-E6A32BA8358A}"/>
              </a:ext>
            </a:extLst>
          </p:cNvPr>
          <p:cNvGrpSpPr/>
          <p:nvPr/>
        </p:nvGrpSpPr>
        <p:grpSpPr>
          <a:xfrm rot="16200000">
            <a:off x="5667181" y="4604817"/>
            <a:ext cx="2566129" cy="87540"/>
            <a:chOff x="5110467" y="3640204"/>
            <a:chExt cx="3241119" cy="76199"/>
          </a:xfrm>
        </p:grpSpPr>
        <p:sp>
          <p:nvSpPr>
            <p:cNvPr id="10" name="Pentagon 12">
              <a:extLst>
                <a:ext uri="{FF2B5EF4-FFF2-40B4-BE49-F238E27FC236}">
                  <a16:creationId xmlns:a16="http://schemas.microsoft.com/office/drawing/2014/main" id="{F8C65D19-615F-4EC1-A279-5A4BA7CF0120}"/>
                </a:ext>
              </a:extLst>
            </p:cNvPr>
            <p:cNvSpPr/>
            <p:nvPr/>
          </p:nvSpPr>
          <p:spPr>
            <a:xfrm>
              <a:off x="6751388" y="3661977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Pentagon 13">
              <a:extLst>
                <a:ext uri="{FF2B5EF4-FFF2-40B4-BE49-F238E27FC236}">
                  <a16:creationId xmlns:a16="http://schemas.microsoft.com/office/drawing/2014/main" id="{43E5716B-3FB4-444C-A749-4BCF2B5E07DA}"/>
                </a:ext>
              </a:extLst>
            </p:cNvPr>
            <p:cNvSpPr/>
            <p:nvPr/>
          </p:nvSpPr>
          <p:spPr>
            <a:xfrm>
              <a:off x="5110467" y="3640204"/>
              <a:ext cx="1596279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2" name="Oval 15">
            <a:extLst>
              <a:ext uri="{FF2B5EF4-FFF2-40B4-BE49-F238E27FC236}">
                <a16:creationId xmlns:a16="http://schemas.microsoft.com/office/drawing/2014/main" id="{9FE5E60F-72FC-432A-9E66-732EB7A3730A}"/>
              </a:ext>
            </a:extLst>
          </p:cNvPr>
          <p:cNvSpPr/>
          <p:nvPr/>
        </p:nvSpPr>
        <p:spPr>
          <a:xfrm>
            <a:off x="6826471" y="4446951"/>
            <a:ext cx="304426" cy="37729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 txBox="1">
            <a:spLocks/>
          </p:cNvSpPr>
          <p:nvPr/>
        </p:nvSpPr>
        <p:spPr>
          <a:xfrm>
            <a:off x="388755" y="3093241"/>
            <a:ext cx="4704035" cy="32578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203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 9 o’clock, the hour hand is at 9 and the minute hand is at 12, i.e. the two hands are 15 min. spaces apart.</a:t>
            </a:r>
          </a:p>
        </p:txBody>
      </p:sp>
    </p:spTree>
    <p:extLst>
      <p:ext uri="{BB962C8B-B14F-4D97-AF65-F5344CB8AC3E}">
        <p14:creationId xmlns:p14="http://schemas.microsoft.com/office/powerpoint/2010/main" val="3783072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Example 5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295401"/>
            <a:ext cx="8498271" cy="1258614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To be in the same straight line but not together they will be 30 minute spaces apart.</a:t>
            </a:r>
          </a:p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 txBox="1">
            <a:spLocks/>
          </p:cNvSpPr>
          <p:nvPr/>
        </p:nvSpPr>
        <p:spPr>
          <a:xfrm>
            <a:off x="419757" y="2645979"/>
            <a:ext cx="4704035" cy="3912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203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So, the minute hand will have to gain (30 – 15) = 15 min. spaces over the hour hand.</a:t>
            </a:r>
            <a:endParaRPr lang="en-US" sz="2800" dirty="0"/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203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" name="Picture 29">
            <a:extLst>
              <a:ext uri="{FF2B5EF4-FFF2-40B4-BE49-F238E27FC236}">
                <a16:creationId xmlns:a16="http://schemas.microsoft.com/office/drawing/2014/main" id="{DDCED418-1B08-4520-91DE-A14C4E94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74372" y="2724007"/>
            <a:ext cx="3690206" cy="38185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grpSp>
        <p:nvGrpSpPr>
          <p:cNvPr id="15" name="Group 18">
            <a:extLst>
              <a:ext uri="{FF2B5EF4-FFF2-40B4-BE49-F238E27FC236}">
                <a16:creationId xmlns:a16="http://schemas.microsoft.com/office/drawing/2014/main" id="{0FDF9A0A-E363-45DE-AC6F-FD36EF2B0EE8}"/>
              </a:ext>
            </a:extLst>
          </p:cNvPr>
          <p:cNvGrpSpPr/>
          <p:nvPr/>
        </p:nvGrpSpPr>
        <p:grpSpPr>
          <a:xfrm rot="10800000">
            <a:off x="6000486" y="4625058"/>
            <a:ext cx="1856331" cy="45719"/>
            <a:chOff x="5416681" y="3605337"/>
            <a:chExt cx="2262090" cy="93592"/>
          </a:xfrm>
        </p:grpSpPr>
        <p:sp>
          <p:nvSpPr>
            <p:cNvPr id="16" name="Pentagon 16">
              <a:extLst>
                <a:ext uri="{FF2B5EF4-FFF2-40B4-BE49-F238E27FC236}">
                  <a16:creationId xmlns:a16="http://schemas.microsoft.com/office/drawing/2014/main" id="{31089A69-A5B8-4F8B-AC2D-CE9824CB8ABE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rgbClr val="C00000"/>
            </a:solidFill>
            <a:ln w="3810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7" name="Pentagon 10">
              <a:extLst>
                <a:ext uri="{FF2B5EF4-FFF2-40B4-BE49-F238E27FC236}">
                  <a16:creationId xmlns:a16="http://schemas.microsoft.com/office/drawing/2014/main" id="{035C090F-E3B3-4AF4-B682-D9910FA40E34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8" name="Group 19">
            <a:extLst>
              <a:ext uri="{FF2B5EF4-FFF2-40B4-BE49-F238E27FC236}">
                <a16:creationId xmlns:a16="http://schemas.microsoft.com/office/drawing/2014/main" id="{028E3048-445D-47B1-B09E-E6A32BA8358A}"/>
              </a:ext>
            </a:extLst>
          </p:cNvPr>
          <p:cNvGrpSpPr/>
          <p:nvPr/>
        </p:nvGrpSpPr>
        <p:grpSpPr>
          <a:xfrm rot="16200000">
            <a:off x="5667181" y="4624698"/>
            <a:ext cx="2566133" cy="87540"/>
            <a:chOff x="5085354" y="3640204"/>
            <a:chExt cx="3241123" cy="76199"/>
          </a:xfrm>
        </p:grpSpPr>
        <p:sp>
          <p:nvSpPr>
            <p:cNvPr id="19" name="Pentagon 12">
              <a:extLst>
                <a:ext uri="{FF2B5EF4-FFF2-40B4-BE49-F238E27FC236}">
                  <a16:creationId xmlns:a16="http://schemas.microsoft.com/office/drawing/2014/main" id="{F8C65D19-615F-4EC1-A279-5A4BA7CF0120}"/>
                </a:ext>
              </a:extLst>
            </p:cNvPr>
            <p:cNvSpPr/>
            <p:nvPr/>
          </p:nvSpPr>
          <p:spPr>
            <a:xfrm>
              <a:off x="6726279" y="3661976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0" name="Pentagon 13">
              <a:extLst>
                <a:ext uri="{FF2B5EF4-FFF2-40B4-BE49-F238E27FC236}">
                  <a16:creationId xmlns:a16="http://schemas.microsoft.com/office/drawing/2014/main" id="{43E5716B-3FB4-444C-A749-4BCF2B5E07DA}"/>
                </a:ext>
              </a:extLst>
            </p:cNvPr>
            <p:cNvSpPr/>
            <p:nvPr/>
          </p:nvSpPr>
          <p:spPr>
            <a:xfrm>
              <a:off x="5085354" y="3640204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1" name="Oval 15">
            <a:extLst>
              <a:ext uri="{FF2B5EF4-FFF2-40B4-BE49-F238E27FC236}">
                <a16:creationId xmlns:a16="http://schemas.microsoft.com/office/drawing/2014/main" id="{9FE5E60F-72FC-432A-9E66-732EB7A3730A}"/>
              </a:ext>
            </a:extLst>
          </p:cNvPr>
          <p:cNvSpPr/>
          <p:nvPr/>
        </p:nvSpPr>
        <p:spPr>
          <a:xfrm>
            <a:off x="6826471" y="4446951"/>
            <a:ext cx="304426" cy="37729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072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Example 5</a:t>
            </a:r>
            <a:endParaRPr lang="en-IN" sz="3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1950" y="1295401"/>
                <a:ext cx="8502628" cy="1412201"/>
              </a:xfrm>
            </p:spPr>
            <p:txBody>
              <a:bodyPr>
                <a:noAutofit/>
              </a:bodyPr>
              <a:lstStyle/>
              <a:p>
                <a:r>
                  <a:rPr lang="en-US" sz="2400" dirty="0"/>
                  <a:t>55 minute spaces are gained in 60 min. </a:t>
                </a:r>
              </a:p>
              <a:p>
                <a:pPr lvl="0"/>
                <a:r>
                  <a:rPr lang="en-US" sz="2400" dirty="0"/>
                  <a:t>15 minute spaces will be gained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60 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15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55</m:t>
                        </m:r>
                      </m:den>
                    </m:f>
                  </m:oMath>
                </a14:m>
                <a:r>
                  <a:rPr lang="en-US" sz="2400" dirty="0"/>
                  <a:t> = 16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11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min.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950" y="1295401"/>
                <a:ext cx="8502628" cy="1412201"/>
              </a:xfrm>
              <a:blipFill>
                <a:blip r:embed="rId2"/>
                <a:stretch>
                  <a:fillRect l="-932" b="-160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 txBox="1">
            <a:spLocks/>
          </p:cNvSpPr>
          <p:nvPr/>
        </p:nvSpPr>
        <p:spPr>
          <a:xfrm>
            <a:off x="419757" y="2645979"/>
            <a:ext cx="4704035" cy="3912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203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" name="Picture 29">
            <a:extLst>
              <a:ext uri="{FF2B5EF4-FFF2-40B4-BE49-F238E27FC236}">
                <a16:creationId xmlns:a16="http://schemas.microsoft.com/office/drawing/2014/main" id="{DDCED418-1B08-4520-91DE-A14C4E94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74372" y="2952604"/>
            <a:ext cx="3690206" cy="38185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grpSp>
        <p:nvGrpSpPr>
          <p:cNvPr id="4" name="Group 18">
            <a:extLst>
              <a:ext uri="{FF2B5EF4-FFF2-40B4-BE49-F238E27FC236}">
                <a16:creationId xmlns:a16="http://schemas.microsoft.com/office/drawing/2014/main" id="{0FDF9A0A-E363-45DE-AC6F-FD36EF2B0EE8}"/>
              </a:ext>
            </a:extLst>
          </p:cNvPr>
          <p:cNvGrpSpPr/>
          <p:nvPr/>
        </p:nvGrpSpPr>
        <p:grpSpPr>
          <a:xfrm rot="10800000">
            <a:off x="6000486" y="4853655"/>
            <a:ext cx="1856331" cy="45719"/>
            <a:chOff x="5416681" y="3605337"/>
            <a:chExt cx="2262090" cy="93592"/>
          </a:xfrm>
        </p:grpSpPr>
        <p:sp>
          <p:nvSpPr>
            <p:cNvPr id="16" name="Pentagon 16">
              <a:extLst>
                <a:ext uri="{FF2B5EF4-FFF2-40B4-BE49-F238E27FC236}">
                  <a16:creationId xmlns:a16="http://schemas.microsoft.com/office/drawing/2014/main" id="{31089A69-A5B8-4F8B-AC2D-CE9824CB8ABE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rgbClr val="C00000"/>
            </a:solidFill>
            <a:ln w="3810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7" name="Pentagon 10">
              <a:extLst>
                <a:ext uri="{FF2B5EF4-FFF2-40B4-BE49-F238E27FC236}">
                  <a16:creationId xmlns:a16="http://schemas.microsoft.com/office/drawing/2014/main" id="{035C090F-E3B3-4AF4-B682-D9910FA40E34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028E3048-445D-47B1-B09E-E6A32BA8358A}"/>
              </a:ext>
            </a:extLst>
          </p:cNvPr>
          <p:cNvGrpSpPr/>
          <p:nvPr/>
        </p:nvGrpSpPr>
        <p:grpSpPr>
          <a:xfrm rot="16200000">
            <a:off x="5667181" y="4853295"/>
            <a:ext cx="2566133" cy="87540"/>
            <a:chOff x="5085354" y="3640204"/>
            <a:chExt cx="3241123" cy="76199"/>
          </a:xfrm>
        </p:grpSpPr>
        <p:sp>
          <p:nvSpPr>
            <p:cNvPr id="19" name="Pentagon 12">
              <a:extLst>
                <a:ext uri="{FF2B5EF4-FFF2-40B4-BE49-F238E27FC236}">
                  <a16:creationId xmlns:a16="http://schemas.microsoft.com/office/drawing/2014/main" id="{F8C65D19-615F-4EC1-A279-5A4BA7CF0120}"/>
                </a:ext>
              </a:extLst>
            </p:cNvPr>
            <p:cNvSpPr/>
            <p:nvPr/>
          </p:nvSpPr>
          <p:spPr>
            <a:xfrm>
              <a:off x="6726279" y="3661976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0" name="Pentagon 13">
              <a:extLst>
                <a:ext uri="{FF2B5EF4-FFF2-40B4-BE49-F238E27FC236}">
                  <a16:creationId xmlns:a16="http://schemas.microsoft.com/office/drawing/2014/main" id="{43E5716B-3FB4-444C-A749-4BCF2B5E07DA}"/>
                </a:ext>
              </a:extLst>
            </p:cNvPr>
            <p:cNvSpPr/>
            <p:nvPr/>
          </p:nvSpPr>
          <p:spPr>
            <a:xfrm>
              <a:off x="5085354" y="3640204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1" name="Oval 15">
            <a:extLst>
              <a:ext uri="{FF2B5EF4-FFF2-40B4-BE49-F238E27FC236}">
                <a16:creationId xmlns:a16="http://schemas.microsoft.com/office/drawing/2014/main" id="{9FE5E60F-72FC-432A-9E66-732EB7A3730A}"/>
              </a:ext>
            </a:extLst>
          </p:cNvPr>
          <p:cNvSpPr/>
          <p:nvPr/>
        </p:nvSpPr>
        <p:spPr>
          <a:xfrm>
            <a:off x="6826471" y="4675548"/>
            <a:ext cx="304426" cy="37729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9192" y="3516223"/>
                <a:ext cx="4693532" cy="26160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228600" lvl="0" indent="-228600" algn="just" defTabSz="914400">
                  <a:lnSpc>
                    <a:spcPct val="150000"/>
                  </a:lnSpc>
                  <a:spcBef>
                    <a:spcPts val="1000"/>
                  </a:spcBef>
                  <a:buClr>
                    <a:srgbClr val="00203F"/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lang="en-US" sz="2400" dirty="0"/>
                  <a:t>The hands will be in the same straight line but not together at 16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11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min. past 9.</a:t>
                </a:r>
              </a:p>
              <a:p>
                <a:endParaRPr lang="en-US" sz="2400" dirty="0"/>
              </a:p>
              <a:p>
                <a:pPr marL="228600" marR="0" lvl="0" indent="-228600" algn="l" defTabSz="914400" rtl="0" eaLnBrk="1" fontAlgn="auto" latinLnBrk="0" hangingPunct="1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203F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92" y="3516223"/>
                <a:ext cx="4693532" cy="2616049"/>
              </a:xfrm>
              <a:prstGeom prst="rect">
                <a:avLst/>
              </a:prstGeom>
              <a:blipFill>
                <a:blip r:embed="rId4"/>
                <a:stretch>
                  <a:fillRect l="-1688" r="-2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3072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1" y="1315279"/>
            <a:ext cx="8356380" cy="1270266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At what time between 8 and 9 o’clock are the hands of a clock 5 minutes apart?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384B37-DC66-4849-B53B-56F9EF434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07" y="2877457"/>
            <a:ext cx="3204547" cy="3150101"/>
          </a:xfrm>
          <a:prstGeom prst="rect">
            <a:avLst/>
          </a:prstGeom>
          <a:ln w="76200">
            <a:solidFill>
              <a:srgbClr val="00B0F0"/>
            </a:solidFill>
          </a:ln>
        </p:spPr>
      </p:pic>
      <p:grpSp>
        <p:nvGrpSpPr>
          <p:cNvPr id="4" name="Group 18">
            <a:extLst>
              <a:ext uri="{FF2B5EF4-FFF2-40B4-BE49-F238E27FC236}">
                <a16:creationId xmlns:a16="http://schemas.microsoft.com/office/drawing/2014/main" id="{E2F6E57E-4CF7-4663-B6A6-C63C427B48CF}"/>
              </a:ext>
            </a:extLst>
          </p:cNvPr>
          <p:cNvGrpSpPr/>
          <p:nvPr/>
        </p:nvGrpSpPr>
        <p:grpSpPr>
          <a:xfrm rot="9017283">
            <a:off x="1560105" y="4477062"/>
            <a:ext cx="1856699" cy="75298"/>
            <a:chOff x="5416681" y="3605337"/>
            <a:chExt cx="2055369" cy="127508"/>
          </a:xfrm>
        </p:grpSpPr>
        <p:sp>
          <p:nvSpPr>
            <p:cNvPr id="14" name="Pentagon 16">
              <a:extLst>
                <a:ext uri="{FF2B5EF4-FFF2-40B4-BE49-F238E27FC236}">
                  <a16:creationId xmlns:a16="http://schemas.microsoft.com/office/drawing/2014/main" id="{262D1FD4-C30C-4A52-B44C-81926BD11242}"/>
                </a:ext>
              </a:extLst>
            </p:cNvPr>
            <p:cNvSpPr/>
            <p:nvPr/>
          </p:nvSpPr>
          <p:spPr>
            <a:xfrm>
              <a:off x="6400935" y="3660804"/>
              <a:ext cx="1071115" cy="72041"/>
            </a:xfrm>
            <a:prstGeom prst="homePlate">
              <a:avLst/>
            </a:prstGeom>
            <a:solidFill>
              <a:srgbClr val="A8004B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Pentagon 10">
              <a:extLst>
                <a:ext uri="{FF2B5EF4-FFF2-40B4-BE49-F238E27FC236}">
                  <a16:creationId xmlns:a16="http://schemas.microsoft.com/office/drawing/2014/main" id="{2C1119C2-F944-4C30-AB45-B1A5972E7261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660C331E-D85C-4FAF-9000-94E6D67063F3}"/>
              </a:ext>
            </a:extLst>
          </p:cNvPr>
          <p:cNvGrpSpPr/>
          <p:nvPr/>
        </p:nvGrpSpPr>
        <p:grpSpPr>
          <a:xfrm rot="16200000">
            <a:off x="1186650" y="4445484"/>
            <a:ext cx="2510229" cy="142134"/>
            <a:chOff x="5020992" y="3643527"/>
            <a:chExt cx="3210747" cy="76199"/>
          </a:xfrm>
        </p:grpSpPr>
        <p:sp>
          <p:nvSpPr>
            <p:cNvPr id="17" name="Pentagon 12">
              <a:extLst>
                <a:ext uri="{FF2B5EF4-FFF2-40B4-BE49-F238E27FC236}">
                  <a16:creationId xmlns:a16="http://schemas.microsoft.com/office/drawing/2014/main" id="{9282588F-BCCF-412D-9599-325AB30F8514}"/>
                </a:ext>
              </a:extLst>
            </p:cNvPr>
            <p:cNvSpPr/>
            <p:nvPr/>
          </p:nvSpPr>
          <p:spPr>
            <a:xfrm>
              <a:off x="6631540" y="3665299"/>
              <a:ext cx="1600199" cy="45720"/>
            </a:xfrm>
            <a:prstGeom prst="homePlate">
              <a:avLst/>
            </a:prstGeom>
            <a:solidFill>
              <a:srgbClr val="262626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Pentagon 13">
              <a:extLst>
                <a:ext uri="{FF2B5EF4-FFF2-40B4-BE49-F238E27FC236}">
                  <a16:creationId xmlns:a16="http://schemas.microsoft.com/office/drawing/2014/main" id="{AE313762-E34E-4BF0-9FE7-3F54C60D95AA}"/>
                </a:ext>
              </a:extLst>
            </p:cNvPr>
            <p:cNvSpPr/>
            <p:nvPr/>
          </p:nvSpPr>
          <p:spPr>
            <a:xfrm>
              <a:off x="5020992" y="3643527"/>
              <a:ext cx="1596281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7" name="Oval 15">
            <a:extLst>
              <a:ext uri="{FF2B5EF4-FFF2-40B4-BE49-F238E27FC236}">
                <a16:creationId xmlns:a16="http://schemas.microsoft.com/office/drawing/2014/main" id="{4358340C-E91E-476D-87A1-423AAE44E180}"/>
              </a:ext>
            </a:extLst>
          </p:cNvPr>
          <p:cNvSpPr/>
          <p:nvPr/>
        </p:nvSpPr>
        <p:spPr>
          <a:xfrm>
            <a:off x="2270728" y="4325506"/>
            <a:ext cx="362522" cy="348011"/>
          </a:xfrm>
          <a:prstGeom prst="ellipse">
            <a:avLst/>
          </a:prstGeom>
          <a:solidFill>
            <a:srgbClr val="FFCC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384B37-DC66-4849-B53B-56F9EF434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782" y="2872202"/>
            <a:ext cx="3204547" cy="3150101"/>
          </a:xfrm>
          <a:prstGeom prst="rect">
            <a:avLst/>
          </a:prstGeom>
          <a:ln w="76200">
            <a:solidFill>
              <a:srgbClr val="00B0F0"/>
            </a:solidFill>
          </a:ln>
        </p:spPr>
      </p:pic>
      <p:grpSp>
        <p:nvGrpSpPr>
          <p:cNvPr id="16" name="Group 18">
            <a:extLst>
              <a:ext uri="{FF2B5EF4-FFF2-40B4-BE49-F238E27FC236}">
                <a16:creationId xmlns:a16="http://schemas.microsoft.com/office/drawing/2014/main" id="{E2F6E57E-4CF7-4663-B6A6-C63C427B48CF}"/>
              </a:ext>
            </a:extLst>
          </p:cNvPr>
          <p:cNvGrpSpPr/>
          <p:nvPr/>
        </p:nvGrpSpPr>
        <p:grpSpPr>
          <a:xfrm rot="8859040">
            <a:off x="5653880" y="4424509"/>
            <a:ext cx="1856699" cy="75298"/>
            <a:chOff x="5416681" y="3605337"/>
            <a:chExt cx="2055369" cy="127508"/>
          </a:xfrm>
        </p:grpSpPr>
        <p:sp>
          <p:nvSpPr>
            <p:cNvPr id="19" name="Pentagon 16">
              <a:extLst>
                <a:ext uri="{FF2B5EF4-FFF2-40B4-BE49-F238E27FC236}">
                  <a16:creationId xmlns:a16="http://schemas.microsoft.com/office/drawing/2014/main" id="{262D1FD4-C30C-4A52-B44C-81926BD11242}"/>
                </a:ext>
              </a:extLst>
            </p:cNvPr>
            <p:cNvSpPr/>
            <p:nvPr/>
          </p:nvSpPr>
          <p:spPr>
            <a:xfrm>
              <a:off x="6400935" y="3660804"/>
              <a:ext cx="1071115" cy="72041"/>
            </a:xfrm>
            <a:prstGeom prst="homePlate">
              <a:avLst/>
            </a:prstGeom>
            <a:solidFill>
              <a:srgbClr val="A8004B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0" name="Pentagon 10">
              <a:extLst>
                <a:ext uri="{FF2B5EF4-FFF2-40B4-BE49-F238E27FC236}">
                  <a16:creationId xmlns:a16="http://schemas.microsoft.com/office/drawing/2014/main" id="{2C1119C2-F944-4C30-AB45-B1A5972E7261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1" name="Group 19">
            <a:extLst>
              <a:ext uri="{FF2B5EF4-FFF2-40B4-BE49-F238E27FC236}">
                <a16:creationId xmlns:a16="http://schemas.microsoft.com/office/drawing/2014/main" id="{660C331E-D85C-4FAF-9000-94E6D67063F3}"/>
              </a:ext>
            </a:extLst>
          </p:cNvPr>
          <p:cNvGrpSpPr/>
          <p:nvPr/>
        </p:nvGrpSpPr>
        <p:grpSpPr>
          <a:xfrm rot="16200000">
            <a:off x="5264632" y="4430285"/>
            <a:ext cx="2510224" cy="142134"/>
            <a:chOff x="5033709" y="3643526"/>
            <a:chExt cx="3210742" cy="76199"/>
          </a:xfrm>
        </p:grpSpPr>
        <p:sp>
          <p:nvSpPr>
            <p:cNvPr id="22" name="Pentagon 12">
              <a:extLst>
                <a:ext uri="{FF2B5EF4-FFF2-40B4-BE49-F238E27FC236}">
                  <a16:creationId xmlns:a16="http://schemas.microsoft.com/office/drawing/2014/main" id="{9282588F-BCCF-412D-9599-325AB30F8514}"/>
                </a:ext>
              </a:extLst>
            </p:cNvPr>
            <p:cNvSpPr/>
            <p:nvPr/>
          </p:nvSpPr>
          <p:spPr>
            <a:xfrm>
              <a:off x="6644253" y="3665300"/>
              <a:ext cx="1600198" cy="45720"/>
            </a:xfrm>
            <a:prstGeom prst="homePlate">
              <a:avLst/>
            </a:prstGeom>
            <a:solidFill>
              <a:srgbClr val="262626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Pentagon 13">
              <a:extLst>
                <a:ext uri="{FF2B5EF4-FFF2-40B4-BE49-F238E27FC236}">
                  <a16:creationId xmlns:a16="http://schemas.microsoft.com/office/drawing/2014/main" id="{AE313762-E34E-4BF0-9FE7-3F54C60D95AA}"/>
                </a:ext>
              </a:extLst>
            </p:cNvPr>
            <p:cNvSpPr/>
            <p:nvPr/>
          </p:nvSpPr>
          <p:spPr>
            <a:xfrm>
              <a:off x="5033709" y="3643526"/>
              <a:ext cx="1596282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4" name="Oval 15">
            <a:extLst>
              <a:ext uri="{FF2B5EF4-FFF2-40B4-BE49-F238E27FC236}">
                <a16:creationId xmlns:a16="http://schemas.microsoft.com/office/drawing/2014/main" id="{4358340C-E91E-476D-87A1-423AAE44E180}"/>
              </a:ext>
            </a:extLst>
          </p:cNvPr>
          <p:cNvSpPr/>
          <p:nvPr/>
        </p:nvSpPr>
        <p:spPr>
          <a:xfrm>
            <a:off x="6348737" y="4304485"/>
            <a:ext cx="362522" cy="348011"/>
          </a:xfrm>
          <a:prstGeom prst="ellipse">
            <a:avLst/>
          </a:prstGeom>
          <a:solidFill>
            <a:srgbClr val="FFCC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947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Case I -</a:t>
            </a:r>
            <a:r>
              <a:rPr lang="en-US" dirty="0"/>
              <a:t>Minute hand is 3 min. spaces behind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1" y="1315279"/>
            <a:ext cx="8356380" cy="1270266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At 8 o’clock, the minute hand is 40 min. spaces behind the hour hand.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384B37-DC66-4849-B53B-56F9EF434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787" y="2041885"/>
            <a:ext cx="3204547" cy="3150101"/>
          </a:xfrm>
          <a:prstGeom prst="rect">
            <a:avLst/>
          </a:prstGeom>
          <a:ln w="76200">
            <a:solidFill>
              <a:srgbClr val="00B0F0"/>
            </a:solidFill>
          </a:ln>
        </p:spPr>
      </p:pic>
      <p:grpSp>
        <p:nvGrpSpPr>
          <p:cNvPr id="4" name="Group 18">
            <a:extLst>
              <a:ext uri="{FF2B5EF4-FFF2-40B4-BE49-F238E27FC236}">
                <a16:creationId xmlns:a16="http://schemas.microsoft.com/office/drawing/2014/main" id="{E2F6E57E-4CF7-4663-B6A6-C63C427B48CF}"/>
              </a:ext>
            </a:extLst>
          </p:cNvPr>
          <p:cNvGrpSpPr/>
          <p:nvPr/>
        </p:nvGrpSpPr>
        <p:grpSpPr>
          <a:xfrm rot="9017283">
            <a:off x="6415885" y="3641490"/>
            <a:ext cx="1856699" cy="75298"/>
            <a:chOff x="5416681" y="3605337"/>
            <a:chExt cx="2055369" cy="127508"/>
          </a:xfrm>
        </p:grpSpPr>
        <p:sp>
          <p:nvSpPr>
            <p:cNvPr id="14" name="Pentagon 16">
              <a:extLst>
                <a:ext uri="{FF2B5EF4-FFF2-40B4-BE49-F238E27FC236}">
                  <a16:creationId xmlns:a16="http://schemas.microsoft.com/office/drawing/2014/main" id="{262D1FD4-C30C-4A52-B44C-81926BD11242}"/>
                </a:ext>
              </a:extLst>
            </p:cNvPr>
            <p:cNvSpPr/>
            <p:nvPr/>
          </p:nvSpPr>
          <p:spPr>
            <a:xfrm>
              <a:off x="6400935" y="3660804"/>
              <a:ext cx="1071115" cy="72041"/>
            </a:xfrm>
            <a:prstGeom prst="homePlate">
              <a:avLst/>
            </a:prstGeom>
            <a:solidFill>
              <a:srgbClr val="A8004B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Pentagon 10">
              <a:extLst>
                <a:ext uri="{FF2B5EF4-FFF2-40B4-BE49-F238E27FC236}">
                  <a16:creationId xmlns:a16="http://schemas.microsoft.com/office/drawing/2014/main" id="{2C1119C2-F944-4C30-AB45-B1A5972E7261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660C331E-D85C-4FAF-9000-94E6D67063F3}"/>
              </a:ext>
            </a:extLst>
          </p:cNvPr>
          <p:cNvGrpSpPr/>
          <p:nvPr/>
        </p:nvGrpSpPr>
        <p:grpSpPr>
          <a:xfrm rot="16200000">
            <a:off x="6042429" y="3599975"/>
            <a:ext cx="2510229" cy="142134"/>
            <a:chOff x="5033704" y="3643527"/>
            <a:chExt cx="3210748" cy="76199"/>
          </a:xfrm>
        </p:grpSpPr>
        <p:sp>
          <p:nvSpPr>
            <p:cNvPr id="17" name="Pentagon 12">
              <a:extLst>
                <a:ext uri="{FF2B5EF4-FFF2-40B4-BE49-F238E27FC236}">
                  <a16:creationId xmlns:a16="http://schemas.microsoft.com/office/drawing/2014/main" id="{9282588F-BCCF-412D-9599-325AB30F8514}"/>
                </a:ext>
              </a:extLst>
            </p:cNvPr>
            <p:cNvSpPr/>
            <p:nvPr/>
          </p:nvSpPr>
          <p:spPr>
            <a:xfrm>
              <a:off x="6644252" y="3665299"/>
              <a:ext cx="1600200" cy="45720"/>
            </a:xfrm>
            <a:prstGeom prst="homePlate">
              <a:avLst/>
            </a:prstGeom>
            <a:solidFill>
              <a:srgbClr val="262626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Pentagon 13">
              <a:extLst>
                <a:ext uri="{FF2B5EF4-FFF2-40B4-BE49-F238E27FC236}">
                  <a16:creationId xmlns:a16="http://schemas.microsoft.com/office/drawing/2014/main" id="{AE313762-E34E-4BF0-9FE7-3F54C60D95AA}"/>
                </a:ext>
              </a:extLst>
            </p:cNvPr>
            <p:cNvSpPr/>
            <p:nvPr/>
          </p:nvSpPr>
          <p:spPr>
            <a:xfrm>
              <a:off x="5033704" y="3643527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7" name="Oval 15">
            <a:extLst>
              <a:ext uri="{FF2B5EF4-FFF2-40B4-BE49-F238E27FC236}">
                <a16:creationId xmlns:a16="http://schemas.microsoft.com/office/drawing/2014/main" id="{4358340C-E91E-476D-87A1-423AAE44E180}"/>
              </a:ext>
            </a:extLst>
          </p:cNvPr>
          <p:cNvSpPr/>
          <p:nvPr/>
        </p:nvSpPr>
        <p:spPr>
          <a:xfrm>
            <a:off x="7126508" y="3489934"/>
            <a:ext cx="362522" cy="348011"/>
          </a:xfrm>
          <a:prstGeom prst="ellipse">
            <a:avLst/>
          </a:prstGeom>
          <a:solidFill>
            <a:srgbClr val="FFCC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1942" y="2427890"/>
                <a:ext cx="5187519" cy="34252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228600" marR="0" lvl="0" indent="-228600" algn="just" defTabSz="914400" rtl="0" eaLnBrk="1" fontAlgn="auto" latinLnBrk="0" hangingPunct="1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203F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2400" dirty="0"/>
                  <a:t>In this case, the minute hand has to gain (40 – 5) = 35minute spaces. </a:t>
                </a:r>
              </a:p>
              <a:p>
                <a:pPr marL="228600" marR="0" lvl="0" indent="-228600" algn="just" defTabSz="914400" rtl="0" eaLnBrk="1" fontAlgn="auto" latinLnBrk="0" hangingPunct="1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203F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2400" dirty="0"/>
                  <a:t>55 min. are gained in 60 min. </a:t>
                </a:r>
              </a:p>
              <a:p>
                <a:pPr marL="228600" lvl="0" indent="-228600" algn="just" defTabSz="914400">
                  <a:lnSpc>
                    <a:spcPct val="150000"/>
                  </a:lnSpc>
                  <a:spcBef>
                    <a:spcPts val="1000"/>
                  </a:spcBef>
                  <a:buClr>
                    <a:srgbClr val="00203F"/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lang="en-US" sz="2400" dirty="0"/>
                  <a:t>35 min. are gained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60 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35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55</m:t>
                        </m:r>
                      </m:den>
                    </m:f>
                  </m:oMath>
                </a14:m>
                <a:r>
                  <a:rPr lang="en-US" sz="2400" dirty="0"/>
                  <a:t> = 38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11</m:t>
                        </m:r>
                      </m:den>
                    </m:f>
                  </m:oMath>
                </a14:m>
                <a:r>
                  <a:rPr lang="en-US" sz="2400" dirty="0"/>
                  <a:t> min.</a:t>
                </a:r>
              </a:p>
              <a:p>
                <a:pPr marL="228600" marR="0" lvl="0" indent="-228600" algn="l" defTabSz="914400" rtl="0" eaLnBrk="1" fontAlgn="auto" latinLnBrk="0" hangingPunct="1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203F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203F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42" y="2427890"/>
                <a:ext cx="5187519" cy="3425238"/>
              </a:xfrm>
              <a:prstGeom prst="rect">
                <a:avLst/>
              </a:prstGeom>
              <a:blipFill>
                <a:blip r:embed="rId3"/>
                <a:stretch>
                  <a:fillRect l="-1528" r="-1880" b="-24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3625" y="5620289"/>
                <a:ext cx="8661189" cy="9792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228600" indent="-228600" defTabSz="914400">
                  <a:lnSpc>
                    <a:spcPct val="150000"/>
                  </a:lnSpc>
                  <a:spcBef>
                    <a:spcPts val="1000"/>
                  </a:spcBef>
                  <a:buClr>
                    <a:srgbClr val="00203F"/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lang="en-US" sz="2400" dirty="0"/>
                  <a:t>The hands will be 5 min. apart at 38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11</m:t>
                        </m:r>
                      </m:den>
                    </m:f>
                  </m:oMath>
                </a14:m>
                <a:r>
                  <a:rPr lang="en-US" sz="2400" dirty="0"/>
                  <a:t> min. past 8.</a:t>
                </a:r>
              </a:p>
              <a:p>
                <a:pPr marL="228600" marR="0" lvl="0" indent="-228600" algn="l" defTabSz="914400" rtl="0" eaLnBrk="1" fontAlgn="auto" latinLnBrk="0" hangingPunct="1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203F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203F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25" y="5620289"/>
                <a:ext cx="8661189" cy="979295"/>
              </a:xfrm>
              <a:prstGeom prst="rect">
                <a:avLst/>
              </a:prstGeom>
              <a:blipFill>
                <a:blip r:embed="rId4"/>
                <a:stretch>
                  <a:fillRect l="-9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7947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Case - 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1" y="1315279"/>
            <a:ext cx="8356380" cy="1270266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At 8 o’clock, the minute hand is 40 min. spaces behind the hour hand.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384B37-DC66-4849-B53B-56F9EF434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293" y="2068165"/>
            <a:ext cx="3204547" cy="3150101"/>
          </a:xfrm>
          <a:prstGeom prst="rect">
            <a:avLst/>
          </a:prstGeom>
          <a:ln w="76200">
            <a:solidFill>
              <a:srgbClr val="00B0F0"/>
            </a:solidFill>
          </a:ln>
        </p:spPr>
      </p:pic>
      <p:grpSp>
        <p:nvGrpSpPr>
          <p:cNvPr id="6" name="Group 18">
            <a:extLst>
              <a:ext uri="{FF2B5EF4-FFF2-40B4-BE49-F238E27FC236}">
                <a16:creationId xmlns:a16="http://schemas.microsoft.com/office/drawing/2014/main" id="{E2F6E57E-4CF7-4663-B6A6-C63C427B48CF}"/>
              </a:ext>
            </a:extLst>
          </p:cNvPr>
          <p:cNvGrpSpPr/>
          <p:nvPr/>
        </p:nvGrpSpPr>
        <p:grpSpPr>
          <a:xfrm rot="8859040">
            <a:off x="6426391" y="3620472"/>
            <a:ext cx="1856699" cy="75298"/>
            <a:chOff x="5416681" y="3605337"/>
            <a:chExt cx="2055369" cy="127508"/>
          </a:xfrm>
        </p:grpSpPr>
        <p:sp>
          <p:nvSpPr>
            <p:cNvPr id="19" name="Pentagon 16">
              <a:extLst>
                <a:ext uri="{FF2B5EF4-FFF2-40B4-BE49-F238E27FC236}">
                  <a16:creationId xmlns:a16="http://schemas.microsoft.com/office/drawing/2014/main" id="{262D1FD4-C30C-4A52-B44C-81926BD11242}"/>
                </a:ext>
              </a:extLst>
            </p:cNvPr>
            <p:cNvSpPr/>
            <p:nvPr/>
          </p:nvSpPr>
          <p:spPr>
            <a:xfrm>
              <a:off x="6400935" y="3660804"/>
              <a:ext cx="1071115" cy="72041"/>
            </a:xfrm>
            <a:prstGeom prst="homePlate">
              <a:avLst/>
            </a:prstGeom>
            <a:solidFill>
              <a:srgbClr val="A8004B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0" name="Pentagon 10">
              <a:extLst>
                <a:ext uri="{FF2B5EF4-FFF2-40B4-BE49-F238E27FC236}">
                  <a16:creationId xmlns:a16="http://schemas.microsoft.com/office/drawing/2014/main" id="{2C1119C2-F944-4C30-AB45-B1A5972E7261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9">
            <a:extLst>
              <a:ext uri="{FF2B5EF4-FFF2-40B4-BE49-F238E27FC236}">
                <a16:creationId xmlns:a16="http://schemas.microsoft.com/office/drawing/2014/main" id="{660C331E-D85C-4FAF-9000-94E6D67063F3}"/>
              </a:ext>
            </a:extLst>
          </p:cNvPr>
          <p:cNvGrpSpPr/>
          <p:nvPr/>
        </p:nvGrpSpPr>
        <p:grpSpPr>
          <a:xfrm rot="16200000">
            <a:off x="6037142" y="3606370"/>
            <a:ext cx="2510229" cy="142134"/>
            <a:chOff x="5059132" y="3643527"/>
            <a:chExt cx="3210749" cy="76199"/>
          </a:xfrm>
        </p:grpSpPr>
        <p:sp>
          <p:nvSpPr>
            <p:cNvPr id="22" name="Pentagon 12">
              <a:extLst>
                <a:ext uri="{FF2B5EF4-FFF2-40B4-BE49-F238E27FC236}">
                  <a16:creationId xmlns:a16="http://schemas.microsoft.com/office/drawing/2014/main" id="{9282588F-BCCF-412D-9599-325AB30F8514}"/>
                </a:ext>
              </a:extLst>
            </p:cNvPr>
            <p:cNvSpPr/>
            <p:nvPr/>
          </p:nvSpPr>
          <p:spPr>
            <a:xfrm>
              <a:off x="6669682" y="3665299"/>
              <a:ext cx="1600199" cy="45720"/>
            </a:xfrm>
            <a:prstGeom prst="homePlate">
              <a:avLst/>
            </a:prstGeom>
            <a:solidFill>
              <a:srgbClr val="262626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Pentagon 13">
              <a:extLst>
                <a:ext uri="{FF2B5EF4-FFF2-40B4-BE49-F238E27FC236}">
                  <a16:creationId xmlns:a16="http://schemas.microsoft.com/office/drawing/2014/main" id="{AE313762-E34E-4BF0-9FE7-3F54C60D95AA}"/>
                </a:ext>
              </a:extLst>
            </p:cNvPr>
            <p:cNvSpPr/>
            <p:nvPr/>
          </p:nvSpPr>
          <p:spPr>
            <a:xfrm>
              <a:off x="5059132" y="3643527"/>
              <a:ext cx="1596281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4" name="Oval 15">
            <a:extLst>
              <a:ext uri="{FF2B5EF4-FFF2-40B4-BE49-F238E27FC236}">
                <a16:creationId xmlns:a16="http://schemas.microsoft.com/office/drawing/2014/main" id="{4358340C-E91E-476D-87A1-423AAE44E180}"/>
              </a:ext>
            </a:extLst>
          </p:cNvPr>
          <p:cNvSpPr/>
          <p:nvPr/>
        </p:nvSpPr>
        <p:spPr>
          <a:xfrm>
            <a:off x="7121248" y="3500448"/>
            <a:ext cx="362522" cy="348011"/>
          </a:xfrm>
          <a:prstGeom prst="ellipse">
            <a:avLst/>
          </a:prstGeom>
          <a:solidFill>
            <a:srgbClr val="FFCC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1942" y="2427890"/>
                <a:ext cx="5187519" cy="305850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228600" marR="0" lvl="0" indent="-228600" algn="just" defTabSz="914400" rtl="0" eaLnBrk="1" fontAlgn="auto" latinLnBrk="0" hangingPunct="1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203F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2400" dirty="0"/>
                  <a:t>In this case, the minute hand has to gain (40 + 5) = 45minute spaces. </a:t>
                </a:r>
              </a:p>
              <a:p>
                <a:pPr marL="228600" marR="0" lvl="0" indent="-228600" algn="just" defTabSz="914400" rtl="0" eaLnBrk="1" fontAlgn="auto" latinLnBrk="0" hangingPunct="1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203F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2400" dirty="0"/>
                  <a:t>55 min. are gained in 60 min. </a:t>
                </a:r>
              </a:p>
              <a:p>
                <a:pPr marL="228600" lvl="0" indent="-228600" algn="just" defTabSz="914400">
                  <a:lnSpc>
                    <a:spcPct val="150000"/>
                  </a:lnSpc>
                  <a:spcBef>
                    <a:spcPts val="1000"/>
                  </a:spcBef>
                  <a:buClr>
                    <a:srgbClr val="00203F"/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lang="en-US" sz="2400" dirty="0"/>
                  <a:t>45 min. are gained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60 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45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55</m:t>
                        </m:r>
                      </m:den>
                    </m:f>
                  </m:oMath>
                </a14:m>
                <a:r>
                  <a:rPr lang="en-US" sz="2400" dirty="0"/>
                  <a:t>= 49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11</m:t>
                        </m:r>
                      </m:den>
                    </m:f>
                  </m:oMath>
                </a14:m>
                <a:r>
                  <a:rPr lang="en-US" sz="2400" dirty="0"/>
                  <a:t> min.</a:t>
                </a:r>
              </a:p>
              <a:p>
                <a:pPr marL="228600" marR="0" lvl="0" indent="-228600" algn="l" defTabSz="914400" rtl="0" eaLnBrk="1" fontAlgn="auto" latinLnBrk="0" hangingPunct="1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203F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203F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42" y="2427890"/>
                <a:ext cx="5187519" cy="3058508"/>
              </a:xfrm>
              <a:prstGeom prst="rect">
                <a:avLst/>
              </a:prstGeom>
              <a:blipFill>
                <a:blip r:embed="rId3"/>
                <a:stretch>
                  <a:fillRect l="-1528" r="-1880" b="-14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3625" y="5505263"/>
                <a:ext cx="8661189" cy="6700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228600" indent="-228600" defTabSz="914400">
                  <a:lnSpc>
                    <a:spcPct val="150000"/>
                  </a:lnSpc>
                  <a:spcBef>
                    <a:spcPts val="1000"/>
                  </a:spcBef>
                  <a:buClr>
                    <a:srgbClr val="00203F"/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lang="en-US" sz="2400" dirty="0"/>
                  <a:t>The hands will be 5 min. apart at 49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11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min. past 8.</a:t>
                </a:r>
              </a:p>
              <a:p>
                <a:pPr marL="228600" marR="0" lvl="0" indent="-228600" algn="l" defTabSz="914400" rtl="0" eaLnBrk="1" fontAlgn="auto" latinLnBrk="0" hangingPunct="1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203F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203F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03E6DFFF-0323-4EE1-A11C-66378C43E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25" y="5505263"/>
                <a:ext cx="8661189" cy="670032"/>
              </a:xfrm>
              <a:prstGeom prst="rect">
                <a:avLst/>
              </a:prstGeom>
              <a:blipFill>
                <a:blip r:embed="rId4"/>
                <a:stretch>
                  <a:fillRect l="-915" b="-427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7947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1295402"/>
            <a:ext cx="8582025" cy="154239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en-US" sz="2400" dirty="0" err="1"/>
              <a:t>Dhruvika</a:t>
            </a:r>
            <a:r>
              <a:rPr lang="en-US" sz="2400" dirty="0"/>
              <a:t> leaves home between 8 a.m. and 9 a.m. and returns between 2 p.m. and 3 p.m. to find that the minute and hour hands have interchanged their positions. How long was </a:t>
            </a:r>
            <a:r>
              <a:rPr lang="en-US" sz="2400" dirty="0" err="1"/>
              <a:t>Dhruvika</a:t>
            </a:r>
            <a:r>
              <a:rPr lang="en-US" sz="2400" dirty="0"/>
              <a:t> out of the house?</a:t>
            </a:r>
          </a:p>
          <a:p>
            <a:endParaRPr lang="en-US" dirty="0"/>
          </a:p>
        </p:txBody>
      </p:sp>
      <p:pic>
        <p:nvPicPr>
          <p:cNvPr id="15" name="Picture 29">
            <a:extLst>
              <a:ext uri="{FF2B5EF4-FFF2-40B4-BE49-F238E27FC236}">
                <a16:creationId xmlns:a16="http://schemas.microsoft.com/office/drawing/2014/main" id="{DDCED418-1B08-4520-91DE-A14C4E94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74372" y="2834369"/>
            <a:ext cx="3690206" cy="38185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grpSp>
        <p:nvGrpSpPr>
          <p:cNvPr id="16" name="Group 18">
            <a:extLst>
              <a:ext uri="{FF2B5EF4-FFF2-40B4-BE49-F238E27FC236}">
                <a16:creationId xmlns:a16="http://schemas.microsoft.com/office/drawing/2014/main" id="{0FDF9A0A-E363-45DE-AC6F-FD36EF2B0EE8}"/>
              </a:ext>
            </a:extLst>
          </p:cNvPr>
          <p:cNvGrpSpPr/>
          <p:nvPr/>
        </p:nvGrpSpPr>
        <p:grpSpPr>
          <a:xfrm rot="19933661">
            <a:off x="6011503" y="4676622"/>
            <a:ext cx="1881572" cy="68735"/>
            <a:chOff x="5416681" y="3540830"/>
            <a:chExt cx="2292848" cy="140707"/>
          </a:xfrm>
        </p:grpSpPr>
        <p:sp>
          <p:nvSpPr>
            <p:cNvPr id="17" name="Pentagon 16">
              <a:extLst>
                <a:ext uri="{FF2B5EF4-FFF2-40B4-BE49-F238E27FC236}">
                  <a16:creationId xmlns:a16="http://schemas.microsoft.com/office/drawing/2014/main" id="{31089A69-A5B8-4F8B-AC2D-CE9824CB8ABE}"/>
                </a:ext>
              </a:extLst>
            </p:cNvPr>
            <p:cNvSpPr/>
            <p:nvPr/>
          </p:nvSpPr>
          <p:spPr>
            <a:xfrm>
              <a:off x="6642729" y="3540830"/>
              <a:ext cx="1066800" cy="76199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Pentagon 10">
              <a:extLst>
                <a:ext uri="{FF2B5EF4-FFF2-40B4-BE49-F238E27FC236}">
                  <a16:creationId xmlns:a16="http://schemas.microsoft.com/office/drawing/2014/main" id="{035C090F-E3B3-4AF4-B682-D9910FA40E34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028E3048-445D-47B1-B09E-E6A32BA8358A}"/>
              </a:ext>
            </a:extLst>
          </p:cNvPr>
          <p:cNvGrpSpPr/>
          <p:nvPr/>
        </p:nvGrpSpPr>
        <p:grpSpPr>
          <a:xfrm rot="16200000">
            <a:off x="5677116" y="4622295"/>
            <a:ext cx="2566136" cy="87540"/>
            <a:chOff x="5148122" y="3648855"/>
            <a:chExt cx="3241126" cy="76199"/>
          </a:xfrm>
        </p:grpSpPr>
        <p:sp>
          <p:nvSpPr>
            <p:cNvPr id="20" name="Pentagon 12">
              <a:extLst>
                <a:ext uri="{FF2B5EF4-FFF2-40B4-BE49-F238E27FC236}">
                  <a16:creationId xmlns:a16="http://schemas.microsoft.com/office/drawing/2014/main" id="{F8C65D19-615F-4EC1-A279-5A4BA7CF0120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1" name="Pentagon 13">
              <a:extLst>
                <a:ext uri="{FF2B5EF4-FFF2-40B4-BE49-F238E27FC236}">
                  <a16:creationId xmlns:a16="http://schemas.microsoft.com/office/drawing/2014/main" id="{43E5716B-3FB4-444C-A749-4BCF2B5E07DA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2" name="Oval 15">
            <a:extLst>
              <a:ext uri="{FF2B5EF4-FFF2-40B4-BE49-F238E27FC236}">
                <a16:creationId xmlns:a16="http://schemas.microsoft.com/office/drawing/2014/main" id="{9FE5E60F-72FC-432A-9E66-732EB7A3730A}"/>
              </a:ext>
            </a:extLst>
          </p:cNvPr>
          <p:cNvSpPr/>
          <p:nvPr/>
        </p:nvSpPr>
        <p:spPr>
          <a:xfrm>
            <a:off x="6810705" y="4541547"/>
            <a:ext cx="304426" cy="37729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23" name="Picture 29">
            <a:extLst>
              <a:ext uri="{FF2B5EF4-FFF2-40B4-BE49-F238E27FC236}">
                <a16:creationId xmlns:a16="http://schemas.microsoft.com/office/drawing/2014/main" id="{DDCED418-1B08-4520-91DE-A14C4E94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4771" y="2834545"/>
            <a:ext cx="3690206" cy="38185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grpSp>
        <p:nvGrpSpPr>
          <p:cNvPr id="24" name="Group 18">
            <a:extLst>
              <a:ext uri="{FF2B5EF4-FFF2-40B4-BE49-F238E27FC236}">
                <a16:creationId xmlns:a16="http://schemas.microsoft.com/office/drawing/2014/main" id="{0FDF9A0A-E363-45DE-AC6F-FD36EF2B0EE8}"/>
              </a:ext>
            </a:extLst>
          </p:cNvPr>
          <p:cNvGrpSpPr/>
          <p:nvPr/>
        </p:nvGrpSpPr>
        <p:grpSpPr>
          <a:xfrm rot="8962827">
            <a:off x="1580885" y="4688298"/>
            <a:ext cx="1856331" cy="45719"/>
            <a:chOff x="5416681" y="3605337"/>
            <a:chExt cx="2262090" cy="93592"/>
          </a:xfrm>
        </p:grpSpPr>
        <p:sp>
          <p:nvSpPr>
            <p:cNvPr id="25" name="Pentagon 16">
              <a:extLst>
                <a:ext uri="{FF2B5EF4-FFF2-40B4-BE49-F238E27FC236}">
                  <a16:creationId xmlns:a16="http://schemas.microsoft.com/office/drawing/2014/main" id="{31089A69-A5B8-4F8B-AC2D-CE9824CB8ABE}"/>
                </a:ext>
              </a:extLst>
            </p:cNvPr>
            <p:cNvSpPr/>
            <p:nvPr/>
          </p:nvSpPr>
          <p:spPr>
            <a:xfrm>
              <a:off x="6611971" y="3622729"/>
              <a:ext cx="1066800" cy="76200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6" name="Pentagon 10">
              <a:extLst>
                <a:ext uri="{FF2B5EF4-FFF2-40B4-BE49-F238E27FC236}">
                  <a16:creationId xmlns:a16="http://schemas.microsoft.com/office/drawing/2014/main" id="{035C090F-E3B3-4AF4-B682-D9910FA40E34}"/>
                </a:ext>
              </a:extLst>
            </p:cNvPr>
            <p:cNvSpPr/>
            <p:nvPr/>
          </p:nvSpPr>
          <p:spPr>
            <a:xfrm>
              <a:off x="5416681" y="3605337"/>
              <a:ext cx="1066800" cy="76200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7" name="Group 19">
            <a:extLst>
              <a:ext uri="{FF2B5EF4-FFF2-40B4-BE49-F238E27FC236}">
                <a16:creationId xmlns:a16="http://schemas.microsoft.com/office/drawing/2014/main" id="{028E3048-445D-47B1-B09E-E6A32BA8358A}"/>
              </a:ext>
            </a:extLst>
          </p:cNvPr>
          <p:cNvGrpSpPr/>
          <p:nvPr/>
        </p:nvGrpSpPr>
        <p:grpSpPr>
          <a:xfrm rot="16200000">
            <a:off x="1257515" y="4622471"/>
            <a:ext cx="2566136" cy="87540"/>
            <a:chOff x="5148122" y="3648855"/>
            <a:chExt cx="3241126" cy="76199"/>
          </a:xfrm>
        </p:grpSpPr>
        <p:sp>
          <p:nvSpPr>
            <p:cNvPr id="28" name="Pentagon 12">
              <a:extLst>
                <a:ext uri="{FF2B5EF4-FFF2-40B4-BE49-F238E27FC236}">
                  <a16:creationId xmlns:a16="http://schemas.microsoft.com/office/drawing/2014/main" id="{F8C65D19-615F-4EC1-A279-5A4BA7CF0120}"/>
                </a:ext>
              </a:extLst>
            </p:cNvPr>
            <p:cNvSpPr/>
            <p:nvPr/>
          </p:nvSpPr>
          <p:spPr>
            <a:xfrm>
              <a:off x="6789050" y="3670629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9" name="Pentagon 13">
              <a:extLst>
                <a:ext uri="{FF2B5EF4-FFF2-40B4-BE49-F238E27FC236}">
                  <a16:creationId xmlns:a16="http://schemas.microsoft.com/office/drawing/2014/main" id="{43E5716B-3FB4-444C-A749-4BCF2B5E07DA}"/>
                </a:ext>
              </a:extLst>
            </p:cNvPr>
            <p:cNvSpPr/>
            <p:nvPr/>
          </p:nvSpPr>
          <p:spPr>
            <a:xfrm>
              <a:off x="5148122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0" name="Oval 15">
            <a:extLst>
              <a:ext uri="{FF2B5EF4-FFF2-40B4-BE49-F238E27FC236}">
                <a16:creationId xmlns:a16="http://schemas.microsoft.com/office/drawing/2014/main" id="{9FE5E60F-72FC-432A-9E66-732EB7A3730A}"/>
              </a:ext>
            </a:extLst>
          </p:cNvPr>
          <p:cNvSpPr/>
          <p:nvPr/>
        </p:nvSpPr>
        <p:spPr>
          <a:xfrm>
            <a:off x="2391104" y="4541723"/>
            <a:ext cx="304426" cy="37729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1178971"/>
            <a:ext cx="8582025" cy="1769181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The hands will interchange positions after crossing each other 6 times i.e. they together will make (6 + 1) or 7 complete revolutions. </a:t>
            </a:r>
          </a:p>
        </p:txBody>
      </p:sp>
      <p:pic>
        <p:nvPicPr>
          <p:cNvPr id="15" name="Picture 29">
            <a:extLst>
              <a:ext uri="{FF2B5EF4-FFF2-40B4-BE49-F238E27FC236}">
                <a16:creationId xmlns:a16="http://schemas.microsoft.com/office/drawing/2014/main" id="{DDCED418-1B08-4520-91DE-A14C4E94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74372" y="2960497"/>
            <a:ext cx="3690206" cy="38185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grpSp>
        <p:nvGrpSpPr>
          <p:cNvPr id="4" name="Group 18">
            <a:extLst>
              <a:ext uri="{FF2B5EF4-FFF2-40B4-BE49-F238E27FC236}">
                <a16:creationId xmlns:a16="http://schemas.microsoft.com/office/drawing/2014/main" id="{0FDF9A0A-E363-45DE-AC6F-FD36EF2B0EE8}"/>
              </a:ext>
            </a:extLst>
          </p:cNvPr>
          <p:cNvGrpSpPr/>
          <p:nvPr/>
        </p:nvGrpSpPr>
        <p:grpSpPr>
          <a:xfrm rot="19812884">
            <a:off x="6018765" y="4832489"/>
            <a:ext cx="1867023" cy="40751"/>
            <a:chOff x="5416682" y="3598099"/>
            <a:chExt cx="2275120" cy="83422"/>
          </a:xfrm>
        </p:grpSpPr>
        <p:sp>
          <p:nvSpPr>
            <p:cNvPr id="17" name="Pentagon 16">
              <a:extLst>
                <a:ext uri="{FF2B5EF4-FFF2-40B4-BE49-F238E27FC236}">
                  <a16:creationId xmlns:a16="http://schemas.microsoft.com/office/drawing/2014/main" id="{31089A69-A5B8-4F8B-AC2D-CE9824CB8ABE}"/>
                </a:ext>
              </a:extLst>
            </p:cNvPr>
            <p:cNvSpPr/>
            <p:nvPr/>
          </p:nvSpPr>
          <p:spPr>
            <a:xfrm>
              <a:off x="6625002" y="3598099"/>
              <a:ext cx="1066800" cy="76199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Pentagon 10">
              <a:extLst>
                <a:ext uri="{FF2B5EF4-FFF2-40B4-BE49-F238E27FC236}">
                  <a16:creationId xmlns:a16="http://schemas.microsoft.com/office/drawing/2014/main" id="{035C090F-E3B3-4AF4-B682-D9910FA40E34}"/>
                </a:ext>
              </a:extLst>
            </p:cNvPr>
            <p:cNvSpPr/>
            <p:nvPr/>
          </p:nvSpPr>
          <p:spPr>
            <a:xfrm>
              <a:off x="5416682" y="3605322"/>
              <a:ext cx="106680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028E3048-445D-47B1-B09E-E6A32BA8358A}"/>
              </a:ext>
            </a:extLst>
          </p:cNvPr>
          <p:cNvGrpSpPr/>
          <p:nvPr/>
        </p:nvGrpSpPr>
        <p:grpSpPr>
          <a:xfrm rot="16200000">
            <a:off x="5645535" y="4795722"/>
            <a:ext cx="2597668" cy="87539"/>
            <a:chOff x="5068472" y="3621408"/>
            <a:chExt cx="3280952" cy="76199"/>
          </a:xfrm>
        </p:grpSpPr>
        <p:sp>
          <p:nvSpPr>
            <p:cNvPr id="20" name="Pentagon 12">
              <a:extLst>
                <a:ext uri="{FF2B5EF4-FFF2-40B4-BE49-F238E27FC236}">
                  <a16:creationId xmlns:a16="http://schemas.microsoft.com/office/drawing/2014/main" id="{F8C65D19-615F-4EC1-A279-5A4BA7CF0120}"/>
                </a:ext>
              </a:extLst>
            </p:cNvPr>
            <p:cNvSpPr/>
            <p:nvPr/>
          </p:nvSpPr>
          <p:spPr>
            <a:xfrm>
              <a:off x="6749226" y="3643205"/>
              <a:ext cx="1600198" cy="4572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1" name="Pentagon 13">
              <a:extLst>
                <a:ext uri="{FF2B5EF4-FFF2-40B4-BE49-F238E27FC236}">
                  <a16:creationId xmlns:a16="http://schemas.microsoft.com/office/drawing/2014/main" id="{43E5716B-3FB4-444C-A749-4BCF2B5E07DA}"/>
                </a:ext>
              </a:extLst>
            </p:cNvPr>
            <p:cNvSpPr/>
            <p:nvPr/>
          </p:nvSpPr>
          <p:spPr>
            <a:xfrm>
              <a:off x="5068472" y="3621408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2" name="Oval 15">
            <a:extLst>
              <a:ext uri="{FF2B5EF4-FFF2-40B4-BE49-F238E27FC236}">
                <a16:creationId xmlns:a16="http://schemas.microsoft.com/office/drawing/2014/main" id="{9FE5E60F-72FC-432A-9E66-732EB7A3730A}"/>
              </a:ext>
            </a:extLst>
          </p:cNvPr>
          <p:cNvSpPr/>
          <p:nvPr/>
        </p:nvSpPr>
        <p:spPr>
          <a:xfrm>
            <a:off x="6810705" y="4667675"/>
            <a:ext cx="304426" cy="37729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23" name="Picture 29">
            <a:extLst>
              <a:ext uri="{FF2B5EF4-FFF2-40B4-BE49-F238E27FC236}">
                <a16:creationId xmlns:a16="http://schemas.microsoft.com/office/drawing/2014/main" id="{DDCED418-1B08-4520-91DE-A14C4E94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4771" y="2960673"/>
            <a:ext cx="3690206" cy="38185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grpSp>
        <p:nvGrpSpPr>
          <p:cNvPr id="6" name="Group 18">
            <a:extLst>
              <a:ext uri="{FF2B5EF4-FFF2-40B4-BE49-F238E27FC236}">
                <a16:creationId xmlns:a16="http://schemas.microsoft.com/office/drawing/2014/main" id="{0FDF9A0A-E363-45DE-AC6F-FD36EF2B0EE8}"/>
              </a:ext>
            </a:extLst>
          </p:cNvPr>
          <p:cNvGrpSpPr/>
          <p:nvPr/>
        </p:nvGrpSpPr>
        <p:grpSpPr>
          <a:xfrm rot="9024867">
            <a:off x="1608527" y="4855487"/>
            <a:ext cx="1864111" cy="42424"/>
            <a:chOff x="5383267" y="3562779"/>
            <a:chExt cx="2271570" cy="86846"/>
          </a:xfrm>
        </p:grpSpPr>
        <p:sp>
          <p:nvSpPr>
            <p:cNvPr id="25" name="Pentagon 16">
              <a:extLst>
                <a:ext uri="{FF2B5EF4-FFF2-40B4-BE49-F238E27FC236}">
                  <a16:creationId xmlns:a16="http://schemas.microsoft.com/office/drawing/2014/main" id="{31089A69-A5B8-4F8B-AC2D-CE9824CB8ABE}"/>
                </a:ext>
              </a:extLst>
            </p:cNvPr>
            <p:cNvSpPr/>
            <p:nvPr/>
          </p:nvSpPr>
          <p:spPr>
            <a:xfrm>
              <a:off x="6588038" y="3562779"/>
              <a:ext cx="1066799" cy="76199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6" name="Pentagon 10">
              <a:extLst>
                <a:ext uri="{FF2B5EF4-FFF2-40B4-BE49-F238E27FC236}">
                  <a16:creationId xmlns:a16="http://schemas.microsoft.com/office/drawing/2014/main" id="{035C090F-E3B3-4AF4-B682-D9910FA40E34}"/>
                </a:ext>
              </a:extLst>
            </p:cNvPr>
            <p:cNvSpPr/>
            <p:nvPr/>
          </p:nvSpPr>
          <p:spPr>
            <a:xfrm>
              <a:off x="5383267" y="3573426"/>
              <a:ext cx="1066799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9">
            <a:extLst>
              <a:ext uri="{FF2B5EF4-FFF2-40B4-BE49-F238E27FC236}">
                <a16:creationId xmlns:a16="http://schemas.microsoft.com/office/drawing/2014/main" id="{028E3048-445D-47B1-B09E-E6A32BA8358A}"/>
              </a:ext>
            </a:extLst>
          </p:cNvPr>
          <p:cNvGrpSpPr/>
          <p:nvPr/>
        </p:nvGrpSpPr>
        <p:grpSpPr>
          <a:xfrm rot="16200000">
            <a:off x="1233866" y="4819546"/>
            <a:ext cx="2613434" cy="87540"/>
            <a:chOff x="5028644" y="3648855"/>
            <a:chExt cx="3300865" cy="76199"/>
          </a:xfrm>
        </p:grpSpPr>
        <p:sp>
          <p:nvSpPr>
            <p:cNvPr id="28" name="Pentagon 12">
              <a:extLst>
                <a:ext uri="{FF2B5EF4-FFF2-40B4-BE49-F238E27FC236}">
                  <a16:creationId xmlns:a16="http://schemas.microsoft.com/office/drawing/2014/main" id="{F8C65D19-615F-4EC1-A279-5A4BA7CF0120}"/>
                </a:ext>
              </a:extLst>
            </p:cNvPr>
            <p:cNvSpPr/>
            <p:nvPr/>
          </p:nvSpPr>
          <p:spPr>
            <a:xfrm>
              <a:off x="6729311" y="3656905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9" name="Pentagon 13">
              <a:extLst>
                <a:ext uri="{FF2B5EF4-FFF2-40B4-BE49-F238E27FC236}">
                  <a16:creationId xmlns:a16="http://schemas.microsoft.com/office/drawing/2014/main" id="{43E5716B-3FB4-444C-A749-4BCF2B5E07DA}"/>
                </a:ext>
              </a:extLst>
            </p:cNvPr>
            <p:cNvSpPr/>
            <p:nvPr/>
          </p:nvSpPr>
          <p:spPr>
            <a:xfrm>
              <a:off x="5028644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0" name="Oval 15">
            <a:extLst>
              <a:ext uri="{FF2B5EF4-FFF2-40B4-BE49-F238E27FC236}">
                <a16:creationId xmlns:a16="http://schemas.microsoft.com/office/drawing/2014/main" id="{9FE5E60F-72FC-432A-9E66-732EB7A3730A}"/>
              </a:ext>
            </a:extLst>
          </p:cNvPr>
          <p:cNvSpPr/>
          <p:nvPr/>
        </p:nvSpPr>
        <p:spPr>
          <a:xfrm>
            <a:off x="2391104" y="4667851"/>
            <a:ext cx="304426" cy="37729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1950" y="1171575"/>
                <a:ext cx="8582025" cy="170717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sz="2400" dirty="0"/>
                  <a:t>Since the hands interchange positions after every 55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3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minutes.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sz="2400" dirty="0"/>
                  <a:t>Required time interval = 55</a:t>
                </a:r>
                <a14:m>
                  <m:oMath xmlns:m="http://schemas.openxmlformats.org/officeDocument/2006/math">
                    <m:r>
                      <a:rPr lang="en-US" sz="2400" dirty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13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x 7  = 6hr 27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9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3</m:t>
                        </m:r>
                      </m:den>
                    </m:f>
                  </m:oMath>
                </a14:m>
                <a:r>
                  <a:rPr lang="en-US" sz="2400" dirty="0"/>
                  <a:t> min.</a:t>
                </a:r>
              </a:p>
              <a:p>
                <a:pPr algn="just"/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950" y="1171575"/>
                <a:ext cx="8582025" cy="1707178"/>
              </a:xfrm>
              <a:blipFill>
                <a:blip r:embed="rId2"/>
                <a:stretch>
                  <a:fillRect l="-923" b="-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29">
            <a:extLst>
              <a:ext uri="{FF2B5EF4-FFF2-40B4-BE49-F238E27FC236}">
                <a16:creationId xmlns:a16="http://schemas.microsoft.com/office/drawing/2014/main" id="{DDCED418-1B08-4520-91DE-A14C4E94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22924" y="2987586"/>
            <a:ext cx="3690206" cy="38185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grpSp>
        <p:nvGrpSpPr>
          <p:cNvPr id="4" name="Group 18">
            <a:extLst>
              <a:ext uri="{FF2B5EF4-FFF2-40B4-BE49-F238E27FC236}">
                <a16:creationId xmlns:a16="http://schemas.microsoft.com/office/drawing/2014/main" id="{0FDF9A0A-E363-45DE-AC6F-FD36EF2B0EE8}"/>
              </a:ext>
            </a:extLst>
          </p:cNvPr>
          <p:cNvGrpSpPr/>
          <p:nvPr/>
        </p:nvGrpSpPr>
        <p:grpSpPr>
          <a:xfrm rot="19812884">
            <a:off x="5467317" y="4859578"/>
            <a:ext cx="1867023" cy="40751"/>
            <a:chOff x="5416682" y="3598099"/>
            <a:chExt cx="2275120" cy="83422"/>
          </a:xfrm>
        </p:grpSpPr>
        <p:sp>
          <p:nvSpPr>
            <p:cNvPr id="17" name="Pentagon 16">
              <a:extLst>
                <a:ext uri="{FF2B5EF4-FFF2-40B4-BE49-F238E27FC236}">
                  <a16:creationId xmlns:a16="http://schemas.microsoft.com/office/drawing/2014/main" id="{31089A69-A5B8-4F8B-AC2D-CE9824CB8ABE}"/>
                </a:ext>
              </a:extLst>
            </p:cNvPr>
            <p:cNvSpPr/>
            <p:nvPr/>
          </p:nvSpPr>
          <p:spPr>
            <a:xfrm>
              <a:off x="6625002" y="3598099"/>
              <a:ext cx="1066800" cy="76199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Pentagon 10">
              <a:extLst>
                <a:ext uri="{FF2B5EF4-FFF2-40B4-BE49-F238E27FC236}">
                  <a16:creationId xmlns:a16="http://schemas.microsoft.com/office/drawing/2014/main" id="{035C090F-E3B3-4AF4-B682-D9910FA40E34}"/>
                </a:ext>
              </a:extLst>
            </p:cNvPr>
            <p:cNvSpPr/>
            <p:nvPr/>
          </p:nvSpPr>
          <p:spPr>
            <a:xfrm>
              <a:off x="5416682" y="3605322"/>
              <a:ext cx="106680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028E3048-445D-47B1-B09E-E6A32BA8358A}"/>
              </a:ext>
            </a:extLst>
          </p:cNvPr>
          <p:cNvGrpSpPr/>
          <p:nvPr/>
        </p:nvGrpSpPr>
        <p:grpSpPr>
          <a:xfrm rot="16200000">
            <a:off x="5094087" y="4822811"/>
            <a:ext cx="2597668" cy="87539"/>
            <a:chOff x="5068472" y="3621408"/>
            <a:chExt cx="3280952" cy="76199"/>
          </a:xfrm>
        </p:grpSpPr>
        <p:sp>
          <p:nvSpPr>
            <p:cNvPr id="20" name="Pentagon 12">
              <a:extLst>
                <a:ext uri="{FF2B5EF4-FFF2-40B4-BE49-F238E27FC236}">
                  <a16:creationId xmlns:a16="http://schemas.microsoft.com/office/drawing/2014/main" id="{F8C65D19-615F-4EC1-A279-5A4BA7CF0120}"/>
                </a:ext>
              </a:extLst>
            </p:cNvPr>
            <p:cNvSpPr/>
            <p:nvPr/>
          </p:nvSpPr>
          <p:spPr>
            <a:xfrm>
              <a:off x="6749226" y="3643205"/>
              <a:ext cx="1600198" cy="45721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1" name="Pentagon 13">
              <a:extLst>
                <a:ext uri="{FF2B5EF4-FFF2-40B4-BE49-F238E27FC236}">
                  <a16:creationId xmlns:a16="http://schemas.microsoft.com/office/drawing/2014/main" id="{43E5716B-3FB4-444C-A749-4BCF2B5E07DA}"/>
                </a:ext>
              </a:extLst>
            </p:cNvPr>
            <p:cNvSpPr/>
            <p:nvPr/>
          </p:nvSpPr>
          <p:spPr>
            <a:xfrm>
              <a:off x="5068472" y="3621408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2" name="Oval 15">
            <a:extLst>
              <a:ext uri="{FF2B5EF4-FFF2-40B4-BE49-F238E27FC236}">
                <a16:creationId xmlns:a16="http://schemas.microsoft.com/office/drawing/2014/main" id="{9FE5E60F-72FC-432A-9E66-732EB7A3730A}"/>
              </a:ext>
            </a:extLst>
          </p:cNvPr>
          <p:cNvSpPr/>
          <p:nvPr/>
        </p:nvSpPr>
        <p:spPr>
          <a:xfrm>
            <a:off x="6259257" y="4694764"/>
            <a:ext cx="304426" cy="37729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23" name="Picture 29">
            <a:extLst>
              <a:ext uri="{FF2B5EF4-FFF2-40B4-BE49-F238E27FC236}">
                <a16:creationId xmlns:a16="http://schemas.microsoft.com/office/drawing/2014/main" id="{DDCED418-1B08-4520-91DE-A14C4E94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729" y="2987762"/>
            <a:ext cx="3690206" cy="38185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grpSp>
        <p:nvGrpSpPr>
          <p:cNvPr id="6" name="Group 18">
            <a:extLst>
              <a:ext uri="{FF2B5EF4-FFF2-40B4-BE49-F238E27FC236}">
                <a16:creationId xmlns:a16="http://schemas.microsoft.com/office/drawing/2014/main" id="{0FDF9A0A-E363-45DE-AC6F-FD36EF2B0EE8}"/>
              </a:ext>
            </a:extLst>
          </p:cNvPr>
          <p:cNvGrpSpPr/>
          <p:nvPr/>
        </p:nvGrpSpPr>
        <p:grpSpPr>
          <a:xfrm rot="9024867">
            <a:off x="1703485" y="4882576"/>
            <a:ext cx="1864111" cy="42424"/>
            <a:chOff x="5383267" y="3562779"/>
            <a:chExt cx="2271570" cy="86846"/>
          </a:xfrm>
        </p:grpSpPr>
        <p:sp>
          <p:nvSpPr>
            <p:cNvPr id="25" name="Pentagon 16">
              <a:extLst>
                <a:ext uri="{FF2B5EF4-FFF2-40B4-BE49-F238E27FC236}">
                  <a16:creationId xmlns:a16="http://schemas.microsoft.com/office/drawing/2014/main" id="{31089A69-A5B8-4F8B-AC2D-CE9824CB8ABE}"/>
                </a:ext>
              </a:extLst>
            </p:cNvPr>
            <p:cNvSpPr/>
            <p:nvPr/>
          </p:nvSpPr>
          <p:spPr>
            <a:xfrm>
              <a:off x="6588038" y="3562779"/>
              <a:ext cx="1066799" cy="76199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6" name="Pentagon 10">
              <a:extLst>
                <a:ext uri="{FF2B5EF4-FFF2-40B4-BE49-F238E27FC236}">
                  <a16:creationId xmlns:a16="http://schemas.microsoft.com/office/drawing/2014/main" id="{035C090F-E3B3-4AF4-B682-D9910FA40E34}"/>
                </a:ext>
              </a:extLst>
            </p:cNvPr>
            <p:cNvSpPr/>
            <p:nvPr/>
          </p:nvSpPr>
          <p:spPr>
            <a:xfrm>
              <a:off x="5383267" y="3573426"/>
              <a:ext cx="1066799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9">
            <a:extLst>
              <a:ext uri="{FF2B5EF4-FFF2-40B4-BE49-F238E27FC236}">
                <a16:creationId xmlns:a16="http://schemas.microsoft.com/office/drawing/2014/main" id="{028E3048-445D-47B1-B09E-E6A32BA8358A}"/>
              </a:ext>
            </a:extLst>
          </p:cNvPr>
          <p:cNvGrpSpPr/>
          <p:nvPr/>
        </p:nvGrpSpPr>
        <p:grpSpPr>
          <a:xfrm rot="16200000">
            <a:off x="1328824" y="4846635"/>
            <a:ext cx="2613434" cy="87540"/>
            <a:chOff x="5028644" y="3648855"/>
            <a:chExt cx="3300865" cy="76199"/>
          </a:xfrm>
        </p:grpSpPr>
        <p:sp>
          <p:nvSpPr>
            <p:cNvPr id="28" name="Pentagon 12">
              <a:extLst>
                <a:ext uri="{FF2B5EF4-FFF2-40B4-BE49-F238E27FC236}">
                  <a16:creationId xmlns:a16="http://schemas.microsoft.com/office/drawing/2014/main" id="{F8C65D19-615F-4EC1-A279-5A4BA7CF0120}"/>
                </a:ext>
              </a:extLst>
            </p:cNvPr>
            <p:cNvSpPr/>
            <p:nvPr/>
          </p:nvSpPr>
          <p:spPr>
            <a:xfrm>
              <a:off x="6729311" y="3656905"/>
              <a:ext cx="1600198" cy="45720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9" name="Pentagon 13">
              <a:extLst>
                <a:ext uri="{FF2B5EF4-FFF2-40B4-BE49-F238E27FC236}">
                  <a16:creationId xmlns:a16="http://schemas.microsoft.com/office/drawing/2014/main" id="{43E5716B-3FB4-444C-A749-4BCF2B5E07DA}"/>
                </a:ext>
              </a:extLst>
            </p:cNvPr>
            <p:cNvSpPr/>
            <p:nvPr/>
          </p:nvSpPr>
          <p:spPr>
            <a:xfrm>
              <a:off x="5028644" y="3648855"/>
              <a:ext cx="1596280" cy="76199"/>
            </a:xfrm>
            <a:prstGeom prst="homePlate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0" name="Oval 15">
            <a:extLst>
              <a:ext uri="{FF2B5EF4-FFF2-40B4-BE49-F238E27FC236}">
                <a16:creationId xmlns:a16="http://schemas.microsoft.com/office/drawing/2014/main" id="{9FE5E60F-72FC-432A-9E66-732EB7A3730A}"/>
              </a:ext>
            </a:extLst>
          </p:cNvPr>
          <p:cNvSpPr/>
          <p:nvPr/>
        </p:nvSpPr>
        <p:spPr>
          <a:xfrm>
            <a:off x="2486062" y="4694940"/>
            <a:ext cx="304426" cy="377297"/>
          </a:xfrm>
          <a:prstGeom prst="ellipse">
            <a:avLst/>
          </a:prstGeom>
          <a:solidFill>
            <a:srgbClr val="2626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8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1951" y="1166193"/>
                <a:ext cx="8387912" cy="5443329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400" dirty="0"/>
                  <a:t>A clock is set right at 9 a.m. The clock gains 20 minutes in 24 hours. What will be the true time when the clock indicates 3 p.m. on the following day?</a:t>
                </a:r>
              </a:p>
              <a:p>
                <a:pPr algn="just"/>
                <a:r>
                  <a:rPr lang="en-US" sz="2400" dirty="0"/>
                  <a:t>Time from 9 a.m. on a day to  3 p.m. on the following day 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							= 30 hours.</a:t>
                </a:r>
              </a:p>
              <a:p>
                <a:pPr algn="just"/>
                <a:r>
                  <a:rPr lang="en-US" sz="2400" dirty="0"/>
                  <a:t>24 hours 20 min. of this clock = 24 hours of the correct clock.</a:t>
                </a: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73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hrs of this clock = 24 </a:t>
                </a:r>
                <a:r>
                  <a:rPr lang="en-US" sz="2400" dirty="0" err="1"/>
                  <a:t>hrs</a:t>
                </a:r>
                <a:r>
                  <a:rPr lang="en-US" sz="2400" dirty="0"/>
                  <a:t> of the correct clock.</a:t>
                </a:r>
              </a:p>
              <a:p>
                <a:pPr algn="just"/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951" y="1166193"/>
                <a:ext cx="8387912" cy="5443329"/>
              </a:xfrm>
              <a:blipFill>
                <a:blip r:embed="rId2"/>
                <a:stretch>
                  <a:fillRect l="-945" r="-11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7947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8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1951" y="1204191"/>
                <a:ext cx="8387912" cy="5345695"/>
              </a:xfrm>
            </p:spPr>
            <p:txBody>
              <a:bodyPr>
                <a:normAutofit fontScale="92500"/>
              </a:bodyPr>
              <a:lstStyle/>
              <a:p>
                <a:pPr algn="just">
                  <a:lnSpc>
                    <a:spcPct val="16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73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hrs of this clock = 24 </a:t>
                </a:r>
                <a:r>
                  <a:rPr lang="en-US" sz="2400" dirty="0" err="1"/>
                  <a:t>hrs</a:t>
                </a:r>
                <a:r>
                  <a:rPr lang="en-US" sz="2400" dirty="0"/>
                  <a:t> of the correct clock.</a:t>
                </a:r>
              </a:p>
              <a:p>
                <a:pPr algn="just">
                  <a:lnSpc>
                    <a:spcPct val="160000"/>
                  </a:lnSpc>
                </a:pPr>
                <a:r>
                  <a:rPr lang="en-US" sz="2400" dirty="0"/>
                  <a:t>30 </a:t>
                </a:r>
                <a:r>
                  <a:rPr lang="en-US" sz="2400" dirty="0" err="1"/>
                  <a:t>hrs</a:t>
                </a:r>
                <a:r>
                  <a:rPr lang="en-US" sz="2400" dirty="0"/>
                  <a:t> of this clock = </a:t>
                </a:r>
                <a14:m>
                  <m:oMath xmlns:m="http://schemas.openxmlformats.org/officeDocument/2006/math">
                    <m:r>
                      <a:rPr lang="en-US" sz="2400" dirty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24 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3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30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73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hrs. of the correct clock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				= 29 </a:t>
                </a:r>
                <a:r>
                  <a:rPr lang="en-US" sz="2400" dirty="0" err="1"/>
                  <a:t>hrs</a:t>
                </a:r>
                <a:r>
                  <a:rPr lang="en-US" sz="2400" dirty="0"/>
                  <a:t> 55</a:t>
                </a:r>
                <a14:m>
                  <m:oMath xmlns:m="http://schemas.openxmlformats.org/officeDocument/2006/math">
                    <m:r>
                      <a:rPr lang="en-US" sz="2400" dirty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48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73</m:t>
                        </m:r>
                      </m:den>
                    </m:f>
                  </m:oMath>
                </a14:m>
                <a:r>
                  <a:rPr lang="en-US" sz="2400" dirty="0"/>
                  <a:t> of correct clock.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				(29hr 59 min. approx.) 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The correct time is 29 </a:t>
                </a:r>
                <a:r>
                  <a:rPr lang="en-US" sz="2400" dirty="0" err="1"/>
                  <a:t>hrs</a:t>
                </a:r>
                <a:r>
                  <a:rPr lang="en-US" sz="2400" dirty="0"/>
                  <a:t> 55</a:t>
                </a:r>
                <a14:m>
                  <m:oMath xmlns:m="http://schemas.openxmlformats.org/officeDocument/2006/math">
                    <m:r>
                      <a:rPr lang="en-US" sz="2400" dirty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48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73</m:t>
                        </m:r>
                      </m:den>
                    </m:f>
                  </m:oMath>
                </a14:m>
                <a:r>
                  <a:rPr lang="en-US" sz="2400" dirty="0"/>
                  <a:t> min. (29hr 59 min. approx.) after 9 a.m.  i.e. 2 </a:t>
                </a:r>
                <a:r>
                  <a:rPr lang="en-US" sz="2400" dirty="0" err="1"/>
                  <a:t>hrs</a:t>
                </a:r>
                <a:r>
                  <a:rPr lang="en-US" sz="2400" dirty="0"/>
                  <a:t> 55</a:t>
                </a:r>
                <a14:m>
                  <m:oMath xmlns:m="http://schemas.openxmlformats.org/officeDocument/2006/math">
                    <m:r>
                      <a:rPr lang="en-US" sz="2400" dirty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48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73</m:t>
                        </m:r>
                      </m:den>
                    </m:f>
                  </m:oMath>
                </a14:m>
                <a:r>
                  <a:rPr lang="en-US" sz="2400" dirty="0"/>
                  <a:t> min. (2hr 59 min. approx.) min. past 12.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951" y="1204191"/>
                <a:ext cx="8387912" cy="5345695"/>
              </a:xfrm>
              <a:blipFill>
                <a:blip r:embed="rId2"/>
                <a:stretch>
                  <a:fillRect l="-945" r="-9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79476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dirty="0"/>
              <a:t>A clock is set right at 5 a.m. The clock loses 16 minutes in 24 hours. What will be the true time when the clock indicates 10 p.m. on 4th day?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Time from 5 a.m. on a day to 10 p.m. on 4th day = 89 hours.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Now 23 hrs 44 min. of this clock = 24 hours of correct clock.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7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b="0" i="0" dirty="0" smtClean="0"/>
                          <m:t>356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b="0" i="0" dirty="0" smtClean="0"/>
                          <m:t>15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hrs of this clock = 24 hours of correct clock.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89 hrs of this clock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b="0" i="0" dirty="0" smtClean="0"/>
                          <m:t>24 </m:t>
                        </m:r>
                        <m:r>
                          <m:rPr>
                            <m:nor/>
                          </m:rPr>
                          <a:rPr lang="en-US" sz="28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800" b="0" i="0" dirty="0" smtClean="0"/>
                          <m:t> 15 </m:t>
                        </m:r>
                        <m:r>
                          <m:rPr>
                            <m:nor/>
                          </m:rPr>
                          <a:rPr lang="en-US" sz="28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800" b="0" i="0" dirty="0" smtClean="0"/>
                          <m:t> 89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b="0" i="0" dirty="0" smtClean="0"/>
                          <m:t>356</m:t>
                        </m:r>
                      </m:den>
                    </m:f>
                  </m:oMath>
                </a14:m>
                <a:r>
                  <a:rPr lang="en-US" dirty="0"/>
                  <a:t> hrs of correct clock  			      = 90 hrs of correct clock.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The correct time is 11 p.m.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1393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minute hand of a clock overtakes the hour hand at intervals of 65 minutes of the correct time. How much a day does the clock gain or lose? </a:t>
            </a:r>
          </a:p>
          <a:p>
            <a:pPr algn="just"/>
            <a:r>
              <a:rPr lang="en-US" dirty="0"/>
              <a:t>In a correct clock, the minute hand gains 55 min. spaces over the hour hand in 60 minutes.</a:t>
            </a:r>
          </a:p>
          <a:p>
            <a:pPr algn="just"/>
            <a:r>
              <a:rPr lang="en-US" dirty="0"/>
              <a:t>To be together again, the minute hand must gain 60 minutes over the hour hand.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55 min. are gained in 60 min.</a:t>
                </a:r>
              </a:p>
              <a:p>
                <a:r>
                  <a:rPr lang="en-US" dirty="0"/>
                  <a:t>60 min. are gained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60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55</m:t>
                        </m:r>
                      </m:den>
                    </m:f>
                  </m:oMath>
                </a14:m>
                <a:r>
                  <a:rPr lang="en-US" dirty="0"/>
                  <a:t> x 60 =65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11</m:t>
                        </m:r>
                      </m:den>
                    </m:f>
                  </m:oMath>
                </a14:m>
                <a:r>
                  <a:rPr lang="en-US" dirty="0"/>
                  <a:t> min.</a:t>
                </a:r>
              </a:p>
              <a:p>
                <a:r>
                  <a:rPr lang="en-US" dirty="0"/>
                  <a:t>They are together after 65 min.</a:t>
                </a:r>
              </a:p>
              <a:p>
                <a:r>
                  <a:rPr lang="en-US" dirty="0"/>
                  <a:t>Gain in 65 min. = 65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11</m:t>
                        </m:r>
                      </m:den>
                    </m:f>
                  </m:oMath>
                </a14:m>
                <a:r>
                  <a:rPr lang="en-US" sz="2400" dirty="0"/>
                  <a:t> - 65=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11</m:t>
                        </m:r>
                      </m:den>
                    </m:f>
                  </m:oMath>
                </a14:m>
                <a:r>
                  <a:rPr lang="en-US" dirty="0"/>
                  <a:t> min.</a:t>
                </a:r>
              </a:p>
              <a:p>
                <a:r>
                  <a:rPr lang="en-US" dirty="0"/>
                  <a:t>Gain in 24 hours i.e. 24 x 60 min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b="0" i="0" dirty="0" smtClean="0"/>
                          <m:t>5 </m:t>
                        </m:r>
                        <m:r>
                          <m:rPr>
                            <m:nor/>
                          </m:rPr>
                          <a:rPr lang="en-US" sz="28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800" b="0" i="0" dirty="0" smtClean="0"/>
                          <m:t> 24 </m:t>
                        </m:r>
                        <m:r>
                          <m:rPr>
                            <m:nor/>
                          </m:rPr>
                          <a:rPr lang="en-US" sz="28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800" b="0" i="0" dirty="0" smtClean="0"/>
                          <m:t> 60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b="0" i="0" dirty="0" smtClean="0"/>
                          <m:t>11 </m:t>
                        </m:r>
                        <m:r>
                          <m:rPr>
                            <m:nor/>
                          </m:rPr>
                          <a:rPr lang="en-US" sz="28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800" b="0" i="0" dirty="0" smtClean="0"/>
                          <m:t> 65</m:t>
                        </m:r>
                      </m:den>
                    </m:f>
                  </m:oMath>
                </a14:m>
                <a:r>
                  <a:rPr lang="en-US" dirty="0"/>
                  <a:t> min.</a:t>
                </a:r>
              </a:p>
              <a:p>
                <a:r>
                  <a:rPr lang="en-US" dirty="0"/>
                  <a:t>The clock gains 10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b="0" i="0" dirty="0" smtClean="0"/>
                          <m:t>10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b="0" i="0" dirty="0" smtClean="0"/>
                          <m:t>43</m:t>
                        </m:r>
                      </m:den>
                    </m:f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minutes in 24 hours.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093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Angle between the hour hand and the minute hand of a clock.</a:t>
            </a:r>
          </a:p>
          <a:p>
            <a:pPr algn="just"/>
            <a:r>
              <a:rPr lang="en-US" dirty="0"/>
              <a:t>The hands of a clock be together (coincide).</a:t>
            </a:r>
          </a:p>
          <a:p>
            <a:pPr algn="just"/>
            <a:r>
              <a:rPr lang="en-US" dirty="0"/>
              <a:t>The hands of a clock be at right angle.</a:t>
            </a:r>
          </a:p>
          <a:p>
            <a:pPr algn="just"/>
            <a:r>
              <a:rPr lang="en-US" dirty="0"/>
              <a:t>The hands of a clock be in the same straight line (not together).</a:t>
            </a:r>
          </a:p>
          <a:p>
            <a:pPr algn="just"/>
            <a:r>
              <a:rPr lang="en-US" dirty="0"/>
              <a:t>Time - Hands of a clock x minutes apart.</a:t>
            </a:r>
          </a:p>
          <a:p>
            <a:pPr algn="just"/>
            <a:r>
              <a:rPr lang="en-US" dirty="0"/>
              <a:t>True time - Clock gains or loses in x minutes in 24 hours.</a:t>
            </a:r>
          </a:p>
          <a:p>
            <a:endParaRPr lang="en-US" b="1" i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/>
              <a:t>Computation of angle between hands of clock in different situations.</a:t>
            </a:r>
            <a:endParaRPr lang="en-I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1719</TotalTime>
  <Words>1691</Words>
  <Application>Microsoft Office PowerPoint</Application>
  <PresentationFormat>On-screen Show (4:3)</PresentationFormat>
  <Paragraphs>134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Bahnschrift</vt:lpstr>
      <vt:lpstr>Bahnschrift SemiBold</vt:lpstr>
      <vt:lpstr>Calibri</vt:lpstr>
      <vt:lpstr>Cambria Math</vt:lpstr>
      <vt:lpstr>Office Theme</vt:lpstr>
      <vt:lpstr>PowerPoint Presentation</vt:lpstr>
      <vt:lpstr>PowerPoint Presentation</vt:lpstr>
      <vt:lpstr>Example 1</vt:lpstr>
      <vt:lpstr>Example 1</vt:lpstr>
      <vt:lpstr>Example 1</vt:lpstr>
      <vt:lpstr>Example 1</vt:lpstr>
      <vt:lpstr>Example 2</vt:lpstr>
      <vt:lpstr>Example 2</vt:lpstr>
      <vt:lpstr>Example 2</vt:lpstr>
      <vt:lpstr>Example 3</vt:lpstr>
      <vt:lpstr>Example 3</vt:lpstr>
      <vt:lpstr>Example 3</vt:lpstr>
      <vt:lpstr>Example 4</vt:lpstr>
      <vt:lpstr>Example 4</vt:lpstr>
      <vt:lpstr>Case I </vt:lpstr>
      <vt:lpstr>Case II </vt:lpstr>
      <vt:lpstr>Example 5</vt:lpstr>
      <vt:lpstr>Example 5</vt:lpstr>
      <vt:lpstr>Example 5</vt:lpstr>
      <vt:lpstr>Example 6</vt:lpstr>
      <vt:lpstr>Case I -Minute hand is 3 min. spaces behind </vt:lpstr>
      <vt:lpstr>Case - II</vt:lpstr>
      <vt:lpstr>Example 7</vt:lpstr>
      <vt:lpstr>Example 7</vt:lpstr>
      <vt:lpstr>Example 7</vt:lpstr>
      <vt:lpstr>Example 8</vt:lpstr>
      <vt:lpstr>Example 8</vt:lpstr>
      <vt:lpstr>Example 9</vt:lpstr>
      <vt:lpstr>Example 9</vt:lpstr>
      <vt:lpstr>Example 10</vt:lpstr>
      <vt:lpstr>Example 10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112</cp:revision>
  <dcterms:created xsi:type="dcterms:W3CDTF">2020-12-18T18:59:12Z</dcterms:created>
  <dcterms:modified xsi:type="dcterms:W3CDTF">2022-04-18T08:05:44Z</dcterms:modified>
</cp:coreProperties>
</file>