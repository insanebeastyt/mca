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78" r:id="rId2"/>
    <p:sldId id="944" r:id="rId3"/>
    <p:sldId id="890" r:id="rId4"/>
    <p:sldId id="945" r:id="rId5"/>
    <p:sldId id="946" r:id="rId6"/>
    <p:sldId id="947" r:id="rId7"/>
    <p:sldId id="948" r:id="rId8"/>
    <p:sldId id="949" r:id="rId9"/>
    <p:sldId id="950" r:id="rId10"/>
    <p:sldId id="951" r:id="rId11"/>
    <p:sldId id="952" r:id="rId12"/>
    <p:sldId id="953" r:id="rId13"/>
    <p:sldId id="954" r:id="rId14"/>
    <p:sldId id="955" r:id="rId15"/>
    <p:sldId id="956" r:id="rId16"/>
    <p:sldId id="957" r:id="rId17"/>
    <p:sldId id="958" r:id="rId18"/>
    <p:sldId id="959" r:id="rId19"/>
    <p:sldId id="960" r:id="rId20"/>
    <p:sldId id="961" r:id="rId21"/>
    <p:sldId id="767" r:id="rId22"/>
    <p:sldId id="343" r:id="rId23"/>
    <p:sldId id="346"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726" y="-9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11/5/2022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extLst>
      <p:ext uri="{BB962C8B-B14F-4D97-AF65-F5344CB8AC3E}">
        <p14:creationId xmlns:p14="http://schemas.microsoft.com/office/powerpoint/2010/main" val="663438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xmlns=""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xmlns=""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xmlns=""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xmlns=""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xmlns=""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xmlns=""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xmlns=""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xmlns=""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xmlns=""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xmlns=""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xmlns=""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xmlns=""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xmlns=""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11/5/2022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C2C2E1C-492B-4490-B644-A86ED36D0996}"/>
              </a:ext>
            </a:extLst>
          </p:cNvPr>
          <p:cNvSpPr>
            <a:spLocks noGrp="1"/>
          </p:cNvSpPr>
          <p:nvPr>
            <p:ph idx="1"/>
          </p:nvPr>
        </p:nvSpPr>
        <p:spPr/>
        <p:txBody>
          <a:bodyPr>
            <a:normAutofit/>
          </a:bodyPr>
          <a:lstStyle/>
          <a:p>
            <a:pPr algn="just"/>
            <a:r>
              <a:rPr lang="en-US" dirty="0"/>
              <a:t>develop understanding about the basics of comparison, </a:t>
            </a:r>
          </a:p>
          <a:p>
            <a:pPr algn="just"/>
            <a:r>
              <a:rPr lang="en-US" dirty="0"/>
              <a:t>analyze different types of comparison,</a:t>
            </a:r>
          </a:p>
          <a:p>
            <a:pPr algn="just"/>
            <a:r>
              <a:rPr lang="en-US" dirty="0"/>
              <a:t>solve various problems relating to comparison. </a:t>
            </a:r>
          </a:p>
        </p:txBody>
      </p:sp>
    </p:spTree>
    <p:extLst>
      <p:ext uri="{BB962C8B-B14F-4D97-AF65-F5344CB8AC3E}">
        <p14:creationId xmlns:p14="http://schemas.microsoft.com/office/powerpoint/2010/main" val="1551486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r>
              <a:rPr lang="en-US" dirty="0"/>
              <a:t>Comparison Type Questions</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dirty="0"/>
              <a:t>Clues </a:t>
            </a:r>
          </a:p>
          <a:p>
            <a:pPr algn="just"/>
            <a:r>
              <a:rPr lang="en-US" dirty="0"/>
              <a:t>Comparisons </a:t>
            </a:r>
          </a:p>
          <a:p>
            <a:pPr algn="just"/>
            <a:r>
              <a:rPr lang="en-US" dirty="0"/>
              <a:t>Set of Persons/Things </a:t>
            </a:r>
          </a:p>
          <a:p>
            <a:pPr algn="just"/>
            <a:r>
              <a:rPr lang="en-US" dirty="0"/>
              <a:t>One or More Qualities</a:t>
            </a:r>
          </a:p>
          <a:p>
            <a:pPr algn="just"/>
            <a:r>
              <a:rPr lang="en-US" dirty="0"/>
              <a:t>Analyze - Whole Information</a:t>
            </a:r>
          </a:p>
          <a:p>
            <a:pPr algn="just"/>
            <a:r>
              <a:rPr lang="en-US" dirty="0"/>
              <a:t>Proper Ascending/Descending Sequence</a:t>
            </a:r>
            <a:endParaRPr lang="en-IN" dirty="0"/>
          </a:p>
          <a:p>
            <a:pPr algn="just"/>
            <a:endParaRPr lang="en-US" dirty="0"/>
          </a:p>
        </p:txBody>
      </p:sp>
    </p:spTree>
    <p:extLst>
      <p:ext uri="{BB962C8B-B14F-4D97-AF65-F5344CB8AC3E}">
        <p14:creationId xmlns:p14="http://schemas.microsoft.com/office/powerpoint/2010/main" val="8098385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spcAft>
                <a:spcPts val="800"/>
              </a:spcAft>
            </a:pPr>
            <a:r>
              <a:rPr lang="en-IN" dirty="0"/>
              <a:t>There are five friends - Sachin, Kunal, Mohit, </a:t>
            </a:r>
            <a:br>
              <a:rPr lang="en-IN" dirty="0"/>
            </a:br>
            <a:r>
              <a:rPr lang="en-IN" dirty="0"/>
              <a:t>Anuj, and Rohan. Sachin is shorter than Kunal but taller than Rohan. Mohit is the tallest. Anuj is a little shorter than Kunal and little taller than Sachin. If five friends stand in order of increasing heights, who will be second?</a:t>
            </a:r>
          </a:p>
          <a:p>
            <a:pPr algn="just">
              <a:spcAft>
                <a:spcPts val="800"/>
              </a:spcAft>
            </a:pPr>
            <a:r>
              <a:rPr lang="en-IN" dirty="0"/>
              <a:t>(a) Anuj 	(b) Sachin 	(c) Rohan 	(d) Kunal </a:t>
            </a:r>
          </a:p>
        </p:txBody>
      </p:sp>
    </p:spTree>
    <p:extLst>
      <p:ext uri="{BB962C8B-B14F-4D97-AF65-F5344CB8AC3E}">
        <p14:creationId xmlns:p14="http://schemas.microsoft.com/office/powerpoint/2010/main" val="914153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a:bodyPr>
          <a:lstStyle/>
          <a:p>
            <a:pPr algn="just">
              <a:spcAft>
                <a:spcPts val="800"/>
              </a:spcAft>
            </a:pPr>
            <a:r>
              <a:rPr lang="en-IN" dirty="0"/>
              <a:t>There are five friends - Sachin, Kunal, Mohit, </a:t>
            </a:r>
            <a:br>
              <a:rPr lang="en-IN" dirty="0"/>
            </a:br>
            <a:r>
              <a:rPr lang="en-IN" dirty="0"/>
              <a:t>Anuj, and Rohan. Sachin is shorter than Kunal but taller than Rohan. Mohit is the tallest. Anuj is a little shorter than Kunal and little taller than Sachin. If five friends stand in order of increasing heights, who will be second?</a:t>
            </a:r>
          </a:p>
          <a:p>
            <a:pPr algn="just">
              <a:spcAft>
                <a:spcPts val="800"/>
              </a:spcAft>
            </a:pPr>
            <a:r>
              <a:rPr lang="en-IN" dirty="0"/>
              <a:t>Rohan &lt; Sachin &lt; Kunal &lt; Mohit</a:t>
            </a:r>
          </a:p>
          <a:p>
            <a:pPr algn="just">
              <a:spcAft>
                <a:spcPts val="800"/>
              </a:spcAft>
            </a:pPr>
            <a:r>
              <a:rPr lang="en-IN" dirty="0"/>
              <a:t>Sachin &lt; Anuj &lt; Kunal</a:t>
            </a:r>
          </a:p>
          <a:p>
            <a:pPr algn="just">
              <a:spcAft>
                <a:spcPts val="800"/>
              </a:spcAft>
            </a:pPr>
            <a:r>
              <a:rPr lang="en-IN" dirty="0"/>
              <a:t>Rohan &lt; Sachin &lt; Anuj &lt; Kunal &lt; Mohit</a:t>
            </a:r>
          </a:p>
          <a:p>
            <a:pPr marL="0" indent="0" algn="just">
              <a:buNone/>
            </a:pPr>
            <a:endParaRPr lang="en-IN" dirty="0"/>
          </a:p>
        </p:txBody>
      </p:sp>
      <p:sp>
        <p:nvSpPr>
          <p:cNvPr id="4" name="Oval 3">
            <a:extLst>
              <a:ext uri="{FF2B5EF4-FFF2-40B4-BE49-F238E27FC236}">
                <a16:creationId xmlns:a16="http://schemas.microsoft.com/office/drawing/2014/main" xmlns="" id="{73B8949E-8B9B-8626-35B4-2982FEFD3A3D}"/>
              </a:ext>
            </a:extLst>
          </p:cNvPr>
          <p:cNvSpPr/>
          <p:nvPr/>
        </p:nvSpPr>
        <p:spPr>
          <a:xfrm>
            <a:off x="1748458" y="5975076"/>
            <a:ext cx="1084193"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C2CB1FC5-AD14-824B-CCCE-9128CDAEFAC7}"/>
              </a:ext>
            </a:extLst>
          </p:cNvPr>
          <p:cNvCxnSpPr>
            <a:cxnSpLocks/>
          </p:cNvCxnSpPr>
          <p:nvPr/>
        </p:nvCxnSpPr>
        <p:spPr>
          <a:xfrm>
            <a:off x="3269974" y="2418523"/>
            <a:ext cx="55957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FE2A3DBA-7229-D132-A7ED-7CB534DA44FD}"/>
              </a:ext>
            </a:extLst>
          </p:cNvPr>
          <p:cNvCxnSpPr>
            <a:cxnSpLocks/>
          </p:cNvCxnSpPr>
          <p:nvPr/>
        </p:nvCxnSpPr>
        <p:spPr>
          <a:xfrm>
            <a:off x="705678" y="2955235"/>
            <a:ext cx="4323522" cy="66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6D666D7E-0355-45BD-8B98-ADE306301F06}"/>
              </a:ext>
            </a:extLst>
          </p:cNvPr>
          <p:cNvCxnSpPr>
            <a:cxnSpLocks/>
          </p:cNvCxnSpPr>
          <p:nvPr/>
        </p:nvCxnSpPr>
        <p:spPr>
          <a:xfrm flipV="1">
            <a:off x="5183255" y="2955235"/>
            <a:ext cx="3760720" cy="662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65CA3470-9DC6-5B21-AC25-A136C16DB910}"/>
              </a:ext>
            </a:extLst>
          </p:cNvPr>
          <p:cNvCxnSpPr>
            <a:cxnSpLocks/>
          </p:cNvCxnSpPr>
          <p:nvPr/>
        </p:nvCxnSpPr>
        <p:spPr>
          <a:xfrm>
            <a:off x="705678" y="3498573"/>
            <a:ext cx="488011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3900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2</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dirty="0"/>
              <a:t>There is a group of five girls. Kamini is second in height but younger than Rupa. Pooja is taller than Monika but younger in age. Rupa and Monika are of the same age but Rupa is tallest between them. Neelam is taller than Pooja and elder to Rupa. </a:t>
            </a:r>
          </a:p>
          <a:p>
            <a:pPr algn="just"/>
            <a:r>
              <a:rPr lang="en-IN" dirty="0"/>
              <a:t>Who is the shortest person in the group?</a:t>
            </a:r>
          </a:p>
          <a:p>
            <a:pPr algn="just"/>
            <a:r>
              <a:rPr lang="en-IN" sz="2800" dirty="0"/>
              <a:t>(a) Kamini  	(b) Rupa </a:t>
            </a:r>
          </a:p>
          <a:p>
            <a:pPr algn="just"/>
            <a:r>
              <a:rPr lang="en-IN" sz="2800" dirty="0"/>
              <a:t>(c) Pooja 		(d) Monika 		(e) Neelam</a:t>
            </a:r>
            <a:endParaRPr lang="en-IN" dirty="0"/>
          </a:p>
          <a:p>
            <a:pPr algn="just"/>
            <a:endParaRPr lang="en-IN" dirty="0"/>
          </a:p>
        </p:txBody>
      </p:sp>
    </p:spTree>
    <p:extLst>
      <p:ext uri="{BB962C8B-B14F-4D97-AF65-F5344CB8AC3E}">
        <p14:creationId xmlns:p14="http://schemas.microsoft.com/office/powerpoint/2010/main" val="15317659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2</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lnSpcReduction="20000"/>
          </a:bodyPr>
          <a:lstStyle/>
          <a:p>
            <a:pPr algn="just"/>
            <a:r>
              <a:rPr lang="en-IN" sz="2400" dirty="0"/>
              <a:t>There is a group of five girls. Kamini is second in height but younger than Rupa. Pooja is taller than Monika but younger in age. Rupa and Monika are of the same age but Rupa is tallest between them. Neelam is taller than Pooja and elder to Rupa. Who is the shortest person in the group? </a:t>
            </a:r>
          </a:p>
          <a:p>
            <a:r>
              <a:rPr lang="en-IN" dirty="0"/>
              <a:t>Sequence of Height </a:t>
            </a:r>
          </a:p>
          <a:p>
            <a:r>
              <a:rPr lang="en-IN" dirty="0"/>
              <a:t>M &lt; P </a:t>
            </a:r>
          </a:p>
          <a:p>
            <a:r>
              <a:rPr lang="en-IN" dirty="0"/>
              <a:t>P &lt; N </a:t>
            </a:r>
          </a:p>
          <a:p>
            <a:r>
              <a:rPr lang="en-IN" dirty="0"/>
              <a:t>K &lt; R </a:t>
            </a:r>
          </a:p>
          <a:p>
            <a:r>
              <a:rPr lang="en-IN" dirty="0"/>
              <a:t>M &lt; P &lt; N &lt; K &lt; R </a:t>
            </a:r>
            <a:r>
              <a:rPr lang="en-IN" sz="2400" dirty="0"/>
              <a:t>	</a:t>
            </a:r>
            <a:endParaRPr lang="en-IN" dirty="0"/>
          </a:p>
          <a:p>
            <a:pPr algn="just"/>
            <a:endParaRPr lang="en-IN" dirty="0"/>
          </a:p>
        </p:txBody>
      </p:sp>
      <p:cxnSp>
        <p:nvCxnSpPr>
          <p:cNvPr id="4" name="Straight Connector 3">
            <a:extLst>
              <a:ext uri="{FF2B5EF4-FFF2-40B4-BE49-F238E27FC236}">
                <a16:creationId xmlns:a16="http://schemas.microsoft.com/office/drawing/2014/main" xmlns="" id="{05B78480-5866-12F0-E2B0-C50330B35F46}"/>
              </a:ext>
            </a:extLst>
          </p:cNvPr>
          <p:cNvCxnSpPr>
            <a:cxnSpLocks/>
          </p:cNvCxnSpPr>
          <p:nvPr/>
        </p:nvCxnSpPr>
        <p:spPr>
          <a:xfrm>
            <a:off x="4800600" y="1802297"/>
            <a:ext cx="35283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D290CD43-4FAA-2532-3637-DF027A119E78}"/>
              </a:ext>
            </a:extLst>
          </p:cNvPr>
          <p:cNvCxnSpPr>
            <a:cxnSpLocks/>
          </p:cNvCxnSpPr>
          <p:nvPr/>
        </p:nvCxnSpPr>
        <p:spPr>
          <a:xfrm>
            <a:off x="3342861" y="2262810"/>
            <a:ext cx="35283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F4B6BDB6-439E-73C2-6478-15DAD88C2CE3}"/>
              </a:ext>
            </a:extLst>
          </p:cNvPr>
          <p:cNvCxnSpPr>
            <a:cxnSpLocks/>
          </p:cNvCxnSpPr>
          <p:nvPr/>
        </p:nvCxnSpPr>
        <p:spPr>
          <a:xfrm>
            <a:off x="6970643" y="2640497"/>
            <a:ext cx="197333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AD6F23E9-F671-7D36-8122-D0948E1081E2}"/>
              </a:ext>
            </a:extLst>
          </p:cNvPr>
          <p:cNvCxnSpPr>
            <a:cxnSpLocks/>
          </p:cNvCxnSpPr>
          <p:nvPr/>
        </p:nvCxnSpPr>
        <p:spPr>
          <a:xfrm>
            <a:off x="543339" y="3081132"/>
            <a:ext cx="197333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57D2E75A-5550-9D1F-0FB7-32D642299067}"/>
              </a:ext>
            </a:extLst>
          </p:cNvPr>
          <p:cNvCxnSpPr>
            <a:cxnSpLocks/>
          </p:cNvCxnSpPr>
          <p:nvPr/>
        </p:nvCxnSpPr>
        <p:spPr>
          <a:xfrm>
            <a:off x="2720008" y="3071194"/>
            <a:ext cx="35283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xmlns="" id="{9E8667D3-5516-5F61-60BC-46C7B997F807}"/>
              </a:ext>
            </a:extLst>
          </p:cNvPr>
          <p:cNvSpPr txBox="1"/>
          <p:nvPr/>
        </p:nvSpPr>
        <p:spPr>
          <a:xfrm>
            <a:off x="4441134" y="5307497"/>
            <a:ext cx="1331843" cy="461665"/>
          </a:xfrm>
          <a:prstGeom prst="rect">
            <a:avLst/>
          </a:prstGeom>
          <a:noFill/>
        </p:spPr>
        <p:txBody>
          <a:bodyPr wrap="square" rtlCol="0">
            <a:spAutoFit/>
          </a:bodyPr>
          <a:lstStyle/>
          <a:p>
            <a:r>
              <a:rPr lang="en-IN" sz="2400" dirty="0"/>
              <a:t>Monika</a:t>
            </a:r>
          </a:p>
        </p:txBody>
      </p:sp>
      <p:sp>
        <p:nvSpPr>
          <p:cNvPr id="24" name="Oval 23">
            <a:extLst>
              <a:ext uri="{FF2B5EF4-FFF2-40B4-BE49-F238E27FC236}">
                <a16:creationId xmlns:a16="http://schemas.microsoft.com/office/drawing/2014/main" xmlns="" id="{38A95A75-D1A3-C1E1-BA09-4D785DF2701D}"/>
              </a:ext>
            </a:extLst>
          </p:cNvPr>
          <p:cNvSpPr/>
          <p:nvPr/>
        </p:nvSpPr>
        <p:spPr>
          <a:xfrm>
            <a:off x="543339" y="6124164"/>
            <a:ext cx="656812"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106689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3</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lnSpcReduction="20000"/>
          </a:bodyPr>
          <a:lstStyle/>
          <a:p>
            <a:pPr algn="just"/>
            <a:r>
              <a:rPr lang="en-IN" sz="2400" dirty="0"/>
              <a:t>There is a group of five girls. Kamini is second in height but younger than Rupa. Pooja is taller than Monika but younger in age. Rupa and Monika are of the same age but Rupa is tallest between them. Neelam is taller than Pooja and elder to Rupa. To answer the question, “Who is the younger person in the group?”. Which of the given statements is superfluous?</a:t>
            </a:r>
          </a:p>
          <a:p>
            <a:r>
              <a:rPr lang="en-IN" dirty="0"/>
              <a:t>There is a group of five girls. </a:t>
            </a:r>
          </a:p>
          <a:p>
            <a:r>
              <a:rPr lang="en-IN" dirty="0"/>
              <a:t>Kamini is second in height but younger than Rupa.</a:t>
            </a:r>
          </a:p>
          <a:p>
            <a:r>
              <a:rPr lang="en-IN" dirty="0"/>
              <a:t>Neelam is taller than Pooja and elder to Rupa.</a:t>
            </a:r>
          </a:p>
          <a:p>
            <a:r>
              <a:rPr lang="en-IN" dirty="0"/>
              <a:t>Pooja is taller than Monika but younger in age.</a:t>
            </a:r>
          </a:p>
        </p:txBody>
      </p:sp>
    </p:spTree>
    <p:extLst>
      <p:ext uri="{BB962C8B-B14F-4D97-AF65-F5344CB8AC3E}">
        <p14:creationId xmlns:p14="http://schemas.microsoft.com/office/powerpoint/2010/main" val="40684552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3</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85000" lnSpcReduction="20000"/>
          </a:bodyPr>
          <a:lstStyle/>
          <a:p>
            <a:pPr algn="just"/>
            <a:r>
              <a:rPr lang="en-IN" sz="2400" dirty="0"/>
              <a:t>There is a group of five girls. Kamini is second in height but younger than Rupa. Pooja is taller than Monika but younger in age. Rupa and Monika are of the same age but Rupa is tallest between them. Neelam is taller than Pooja and elder to Rupa. To answer the question, “Who is the shortest person in the group?”. Which of the given statements is superfluous?</a:t>
            </a:r>
          </a:p>
          <a:p>
            <a:r>
              <a:rPr lang="en-IN" dirty="0"/>
              <a:t>Sequence of Age </a:t>
            </a:r>
          </a:p>
          <a:p>
            <a:pPr algn="just"/>
            <a:r>
              <a:rPr lang="en-IN" dirty="0"/>
              <a:t>K &lt; R</a:t>
            </a:r>
          </a:p>
          <a:p>
            <a:pPr algn="just"/>
            <a:r>
              <a:rPr lang="en-IN" dirty="0"/>
              <a:t>P &lt; M </a:t>
            </a:r>
          </a:p>
          <a:p>
            <a:pPr algn="just"/>
            <a:r>
              <a:rPr lang="en-IN" dirty="0"/>
              <a:t>R = M</a:t>
            </a:r>
          </a:p>
          <a:p>
            <a:pPr algn="just"/>
            <a:r>
              <a:rPr lang="en-IN" dirty="0"/>
              <a:t>R &lt; N</a:t>
            </a:r>
          </a:p>
        </p:txBody>
      </p:sp>
      <p:cxnSp>
        <p:nvCxnSpPr>
          <p:cNvPr id="13" name="Straight Connector 12">
            <a:extLst>
              <a:ext uri="{FF2B5EF4-FFF2-40B4-BE49-F238E27FC236}">
                <a16:creationId xmlns:a16="http://schemas.microsoft.com/office/drawing/2014/main" xmlns="" id="{AD6F23E9-F671-7D36-8122-D0948E1081E2}"/>
              </a:ext>
            </a:extLst>
          </p:cNvPr>
          <p:cNvCxnSpPr>
            <a:cxnSpLocks/>
          </p:cNvCxnSpPr>
          <p:nvPr/>
        </p:nvCxnSpPr>
        <p:spPr>
          <a:xfrm>
            <a:off x="7941365" y="1739349"/>
            <a:ext cx="89038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A4EFB1A0-5B4D-181A-BAD4-0908F3EB9F6B}"/>
              </a:ext>
            </a:extLst>
          </p:cNvPr>
          <p:cNvCxnSpPr>
            <a:cxnSpLocks/>
          </p:cNvCxnSpPr>
          <p:nvPr/>
        </p:nvCxnSpPr>
        <p:spPr>
          <a:xfrm>
            <a:off x="655983" y="2090532"/>
            <a:ext cx="12622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EE4DCFD-A3CD-AFAB-E31E-E5D1784C030A}"/>
              </a:ext>
            </a:extLst>
          </p:cNvPr>
          <p:cNvCxnSpPr>
            <a:cxnSpLocks/>
          </p:cNvCxnSpPr>
          <p:nvPr/>
        </p:nvCxnSpPr>
        <p:spPr>
          <a:xfrm>
            <a:off x="5797827" y="2090532"/>
            <a:ext cx="176585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93E00008-2284-0F9A-4978-350FFD2F460F}"/>
              </a:ext>
            </a:extLst>
          </p:cNvPr>
          <p:cNvCxnSpPr>
            <a:cxnSpLocks/>
          </p:cNvCxnSpPr>
          <p:nvPr/>
        </p:nvCxnSpPr>
        <p:spPr>
          <a:xfrm>
            <a:off x="2806148" y="2557671"/>
            <a:ext cx="118938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5D6549F6-5101-C2AC-8E3E-3FB7B26B5487}"/>
              </a:ext>
            </a:extLst>
          </p:cNvPr>
          <p:cNvCxnSpPr>
            <a:cxnSpLocks/>
          </p:cNvCxnSpPr>
          <p:nvPr/>
        </p:nvCxnSpPr>
        <p:spPr>
          <a:xfrm>
            <a:off x="3511825" y="2925419"/>
            <a:ext cx="14974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95E95FC1-4DF1-3621-B295-E66E9B2F7108}"/>
              </a:ext>
            </a:extLst>
          </p:cNvPr>
          <p:cNvSpPr txBox="1"/>
          <p:nvPr/>
        </p:nvSpPr>
        <p:spPr>
          <a:xfrm>
            <a:off x="1719470" y="4336779"/>
            <a:ext cx="7062580" cy="2233240"/>
          </a:xfrm>
          <a:prstGeom prst="rect">
            <a:avLst/>
          </a:prstGeom>
          <a:noFill/>
        </p:spPr>
        <p:txBody>
          <a:bodyPr wrap="square" rtlCol="0">
            <a:spAutoFit/>
          </a:bodyPr>
          <a:lstStyle/>
          <a:p>
            <a:pPr>
              <a:lnSpc>
                <a:spcPct val="150000"/>
              </a:lnSpc>
            </a:pPr>
            <a:r>
              <a:rPr lang="en-IN" sz="2400" dirty="0"/>
              <a:t>There is a group of five girls. </a:t>
            </a:r>
          </a:p>
          <a:p>
            <a:pPr>
              <a:lnSpc>
                <a:spcPct val="150000"/>
              </a:lnSpc>
            </a:pPr>
            <a:r>
              <a:rPr lang="en-IN" sz="2400" dirty="0"/>
              <a:t>Kamini is second in height but younger than Rupa.</a:t>
            </a:r>
          </a:p>
          <a:p>
            <a:pPr>
              <a:lnSpc>
                <a:spcPct val="150000"/>
              </a:lnSpc>
            </a:pPr>
            <a:r>
              <a:rPr lang="en-IN" sz="2400" dirty="0"/>
              <a:t>Neelam is taller than Pooja and elder to Rupa.</a:t>
            </a:r>
          </a:p>
          <a:p>
            <a:pPr>
              <a:lnSpc>
                <a:spcPct val="150000"/>
              </a:lnSpc>
            </a:pPr>
            <a:r>
              <a:rPr lang="en-IN" sz="2400" dirty="0"/>
              <a:t>Pooja is taller than Monika but younger in age. </a:t>
            </a:r>
          </a:p>
        </p:txBody>
      </p:sp>
      <p:sp>
        <p:nvSpPr>
          <p:cNvPr id="25" name="Oval 24">
            <a:extLst>
              <a:ext uri="{FF2B5EF4-FFF2-40B4-BE49-F238E27FC236}">
                <a16:creationId xmlns:a16="http://schemas.microsoft.com/office/drawing/2014/main" xmlns="" id="{C0955558-CDDE-6001-964F-43A57E7D0318}"/>
              </a:ext>
            </a:extLst>
          </p:cNvPr>
          <p:cNvSpPr/>
          <p:nvPr/>
        </p:nvSpPr>
        <p:spPr>
          <a:xfrm>
            <a:off x="1659835" y="4280296"/>
            <a:ext cx="4353339" cy="7687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29033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4</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lnSpcReduction="20000"/>
          </a:bodyPr>
          <a:lstStyle/>
          <a:p>
            <a:pPr algn="just"/>
            <a:r>
              <a:rPr lang="en-IN" dirty="0"/>
              <a:t>X knows more than A. Y knows as much as B. Z knows less than C. A knows more than Y.  B knows more than C. The best knowledgeable person amongst all is</a:t>
            </a:r>
          </a:p>
          <a:p>
            <a:pPr algn="just"/>
            <a:r>
              <a:rPr lang="en-IN" dirty="0"/>
              <a:t>(a) A 	(b) B 		(c) X 		(d) Y</a:t>
            </a:r>
          </a:p>
          <a:p>
            <a:pPr algn="just"/>
            <a:r>
              <a:rPr lang="en-IN" dirty="0"/>
              <a:t>A &lt; X </a:t>
            </a:r>
          </a:p>
          <a:p>
            <a:pPr algn="just"/>
            <a:r>
              <a:rPr lang="en-IN" dirty="0"/>
              <a:t>Y = B </a:t>
            </a:r>
          </a:p>
          <a:p>
            <a:pPr algn="just"/>
            <a:r>
              <a:rPr lang="en-IN" dirty="0"/>
              <a:t>Z &lt; C </a:t>
            </a:r>
          </a:p>
          <a:p>
            <a:pPr algn="just"/>
            <a:r>
              <a:rPr lang="en-IN" dirty="0"/>
              <a:t>Y &lt; A</a:t>
            </a:r>
          </a:p>
          <a:p>
            <a:pPr algn="just"/>
            <a:r>
              <a:rPr lang="en-IN" dirty="0"/>
              <a:t>C &lt; B </a:t>
            </a:r>
          </a:p>
        </p:txBody>
      </p:sp>
      <p:sp>
        <p:nvSpPr>
          <p:cNvPr id="4" name="TextBox 3">
            <a:extLst>
              <a:ext uri="{FF2B5EF4-FFF2-40B4-BE49-F238E27FC236}">
                <a16:creationId xmlns:a16="http://schemas.microsoft.com/office/drawing/2014/main" xmlns="" id="{854690F9-6162-A9BE-50DB-53F3F9C81884}"/>
              </a:ext>
            </a:extLst>
          </p:cNvPr>
          <p:cNvSpPr txBox="1"/>
          <p:nvPr/>
        </p:nvSpPr>
        <p:spPr>
          <a:xfrm>
            <a:off x="3677479" y="4890052"/>
            <a:ext cx="3081130" cy="461665"/>
          </a:xfrm>
          <a:prstGeom prst="rect">
            <a:avLst/>
          </a:prstGeom>
          <a:noFill/>
        </p:spPr>
        <p:txBody>
          <a:bodyPr wrap="square" rtlCol="0">
            <a:spAutoFit/>
          </a:bodyPr>
          <a:lstStyle/>
          <a:p>
            <a:pPr algn="just"/>
            <a:r>
              <a:rPr lang="en-IN" sz="2400" dirty="0"/>
              <a:t>X &gt; A &gt; Y = B &gt; C &gt; Z </a:t>
            </a:r>
          </a:p>
        </p:txBody>
      </p:sp>
      <p:cxnSp>
        <p:nvCxnSpPr>
          <p:cNvPr id="5" name="Straight Connector 4">
            <a:extLst>
              <a:ext uri="{FF2B5EF4-FFF2-40B4-BE49-F238E27FC236}">
                <a16:creationId xmlns:a16="http://schemas.microsoft.com/office/drawing/2014/main" xmlns="" id="{9E8E1E5C-BB7E-9142-5656-59D938F7F6D2}"/>
              </a:ext>
            </a:extLst>
          </p:cNvPr>
          <p:cNvCxnSpPr>
            <a:cxnSpLocks/>
          </p:cNvCxnSpPr>
          <p:nvPr/>
        </p:nvCxnSpPr>
        <p:spPr>
          <a:xfrm>
            <a:off x="695739" y="1838741"/>
            <a:ext cx="29817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01A90F4A-2C02-D122-081A-D6DD9AC82797}"/>
              </a:ext>
            </a:extLst>
          </p:cNvPr>
          <p:cNvCxnSpPr>
            <a:cxnSpLocks/>
          </p:cNvCxnSpPr>
          <p:nvPr/>
        </p:nvCxnSpPr>
        <p:spPr>
          <a:xfrm>
            <a:off x="3869635" y="1822178"/>
            <a:ext cx="29817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1BBFEC91-5574-B3D2-24A4-D19DF6FCEFE7}"/>
              </a:ext>
            </a:extLst>
          </p:cNvPr>
          <p:cNvCxnSpPr>
            <a:cxnSpLocks/>
          </p:cNvCxnSpPr>
          <p:nvPr/>
        </p:nvCxnSpPr>
        <p:spPr>
          <a:xfrm>
            <a:off x="7059268" y="1838747"/>
            <a:ext cx="17964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20B83866-0902-F2B9-C7EB-585BAB5B9DB5}"/>
              </a:ext>
            </a:extLst>
          </p:cNvPr>
          <p:cNvCxnSpPr>
            <a:cxnSpLocks/>
          </p:cNvCxnSpPr>
          <p:nvPr/>
        </p:nvCxnSpPr>
        <p:spPr>
          <a:xfrm>
            <a:off x="556593" y="2378774"/>
            <a:ext cx="10237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C46932EF-3349-D645-6258-B76EEF028E32}"/>
              </a:ext>
            </a:extLst>
          </p:cNvPr>
          <p:cNvCxnSpPr>
            <a:cxnSpLocks/>
          </p:cNvCxnSpPr>
          <p:nvPr/>
        </p:nvCxnSpPr>
        <p:spPr>
          <a:xfrm>
            <a:off x="1791530" y="2378774"/>
            <a:ext cx="307864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2529969E-7C50-8F1E-84F9-F6BE114905D8}"/>
              </a:ext>
            </a:extLst>
          </p:cNvPr>
          <p:cNvCxnSpPr>
            <a:cxnSpLocks/>
          </p:cNvCxnSpPr>
          <p:nvPr/>
        </p:nvCxnSpPr>
        <p:spPr>
          <a:xfrm>
            <a:off x="5054878" y="2378774"/>
            <a:ext cx="307864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Arrow: Curved Left 15">
            <a:extLst>
              <a:ext uri="{FF2B5EF4-FFF2-40B4-BE49-F238E27FC236}">
                <a16:creationId xmlns:a16="http://schemas.microsoft.com/office/drawing/2014/main" xmlns="" id="{FC998006-4CF5-EAFB-6177-9EF92CA9905A}"/>
              </a:ext>
            </a:extLst>
          </p:cNvPr>
          <p:cNvSpPr/>
          <p:nvPr/>
        </p:nvSpPr>
        <p:spPr>
          <a:xfrm>
            <a:off x="1411357" y="3866322"/>
            <a:ext cx="934278" cy="219654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urved Left 16">
            <a:extLst>
              <a:ext uri="{FF2B5EF4-FFF2-40B4-BE49-F238E27FC236}">
                <a16:creationId xmlns:a16="http://schemas.microsoft.com/office/drawing/2014/main" xmlns="" id="{C6C85F3C-5311-59F1-9F79-03FA8EF2E518}"/>
              </a:ext>
            </a:extLst>
          </p:cNvPr>
          <p:cNvSpPr/>
          <p:nvPr/>
        </p:nvSpPr>
        <p:spPr>
          <a:xfrm rot="10800000">
            <a:off x="104438" y="4386749"/>
            <a:ext cx="515024" cy="152703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urved Left 17">
            <a:extLst>
              <a:ext uri="{FF2B5EF4-FFF2-40B4-BE49-F238E27FC236}">
                <a16:creationId xmlns:a16="http://schemas.microsoft.com/office/drawing/2014/main" xmlns="" id="{5E37BF7A-0EBE-6C38-8CE8-F8122378DB00}"/>
              </a:ext>
            </a:extLst>
          </p:cNvPr>
          <p:cNvSpPr/>
          <p:nvPr/>
        </p:nvSpPr>
        <p:spPr>
          <a:xfrm>
            <a:off x="1411357" y="4464326"/>
            <a:ext cx="934278" cy="219654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urved Left 18">
            <a:extLst>
              <a:ext uri="{FF2B5EF4-FFF2-40B4-BE49-F238E27FC236}">
                <a16:creationId xmlns:a16="http://schemas.microsoft.com/office/drawing/2014/main" xmlns="" id="{A26470C9-FEC3-43D1-70A9-836E644BA3CD}"/>
              </a:ext>
            </a:extLst>
          </p:cNvPr>
          <p:cNvSpPr/>
          <p:nvPr/>
        </p:nvSpPr>
        <p:spPr>
          <a:xfrm rot="10800000">
            <a:off x="114118" y="4986705"/>
            <a:ext cx="515024" cy="152703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Oval 19">
            <a:extLst>
              <a:ext uri="{FF2B5EF4-FFF2-40B4-BE49-F238E27FC236}">
                <a16:creationId xmlns:a16="http://schemas.microsoft.com/office/drawing/2014/main" xmlns="" id="{F02D9DC4-FCD3-24F4-B570-0B973896FCB8}"/>
              </a:ext>
            </a:extLst>
          </p:cNvPr>
          <p:cNvSpPr/>
          <p:nvPr/>
        </p:nvSpPr>
        <p:spPr>
          <a:xfrm>
            <a:off x="4324556" y="3096061"/>
            <a:ext cx="656812"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484406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5</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dirty="0"/>
              <a:t>If P is taller than Q, R is shorter than P, S is taller than T but shorter than Q, then who among them is the tallest?</a:t>
            </a:r>
          </a:p>
          <a:p>
            <a:pPr algn="just"/>
            <a:r>
              <a:rPr lang="en-IN" dirty="0"/>
              <a:t>(a) P 	(b) Q 		(c) R 		(d) S 		(e) T</a:t>
            </a:r>
          </a:p>
          <a:p>
            <a:pPr algn="just"/>
            <a:r>
              <a:rPr lang="en-IN" dirty="0"/>
              <a:t>Q &lt; P </a:t>
            </a:r>
          </a:p>
          <a:p>
            <a:pPr algn="just"/>
            <a:r>
              <a:rPr lang="en-IN" dirty="0"/>
              <a:t>R &lt; P </a:t>
            </a:r>
          </a:p>
          <a:p>
            <a:pPr algn="just"/>
            <a:r>
              <a:rPr lang="en-IN" dirty="0"/>
              <a:t>T &lt; S </a:t>
            </a:r>
          </a:p>
          <a:p>
            <a:pPr algn="just"/>
            <a:r>
              <a:rPr lang="en-IN" dirty="0"/>
              <a:t>S &lt; Q</a:t>
            </a:r>
          </a:p>
        </p:txBody>
      </p:sp>
      <p:sp>
        <p:nvSpPr>
          <p:cNvPr id="4" name="TextBox 3">
            <a:extLst>
              <a:ext uri="{FF2B5EF4-FFF2-40B4-BE49-F238E27FC236}">
                <a16:creationId xmlns:a16="http://schemas.microsoft.com/office/drawing/2014/main" xmlns="" id="{3F2AF704-0BB5-2204-DC00-1C685AC934C0}"/>
              </a:ext>
            </a:extLst>
          </p:cNvPr>
          <p:cNvSpPr txBox="1"/>
          <p:nvPr/>
        </p:nvSpPr>
        <p:spPr>
          <a:xfrm>
            <a:off x="3637722" y="4731810"/>
            <a:ext cx="3081130" cy="1125244"/>
          </a:xfrm>
          <a:prstGeom prst="rect">
            <a:avLst/>
          </a:prstGeom>
          <a:noFill/>
        </p:spPr>
        <p:txBody>
          <a:bodyPr wrap="square" rtlCol="0">
            <a:spAutoFit/>
          </a:bodyPr>
          <a:lstStyle/>
          <a:p>
            <a:pPr algn="just">
              <a:lnSpc>
                <a:spcPct val="150000"/>
              </a:lnSpc>
            </a:pPr>
            <a:r>
              <a:rPr lang="en-IN" sz="2400" dirty="0"/>
              <a:t>T &lt; S &lt; Q &lt; R &lt; P </a:t>
            </a:r>
          </a:p>
          <a:p>
            <a:pPr algn="just">
              <a:lnSpc>
                <a:spcPct val="150000"/>
              </a:lnSpc>
            </a:pPr>
            <a:r>
              <a:rPr lang="en-IN" sz="2400" dirty="0"/>
              <a:t>T &lt; S &lt; R &lt; Q &lt; P</a:t>
            </a:r>
          </a:p>
        </p:txBody>
      </p:sp>
      <p:sp>
        <p:nvSpPr>
          <p:cNvPr id="6" name="Oval 5">
            <a:extLst>
              <a:ext uri="{FF2B5EF4-FFF2-40B4-BE49-F238E27FC236}">
                <a16:creationId xmlns:a16="http://schemas.microsoft.com/office/drawing/2014/main" xmlns="" id="{0048339D-EE0C-831C-CD8F-9075F1F97EA0}"/>
              </a:ext>
            </a:extLst>
          </p:cNvPr>
          <p:cNvSpPr/>
          <p:nvPr/>
        </p:nvSpPr>
        <p:spPr>
          <a:xfrm>
            <a:off x="875677" y="3245956"/>
            <a:ext cx="656812"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xmlns="" id="{ECEAC3B3-A3DA-46D1-53AD-9D42BFD33DA3}"/>
              </a:ext>
            </a:extLst>
          </p:cNvPr>
          <p:cNvCxnSpPr>
            <a:cxnSpLocks/>
          </p:cNvCxnSpPr>
          <p:nvPr/>
        </p:nvCxnSpPr>
        <p:spPr>
          <a:xfrm>
            <a:off x="606288" y="1838741"/>
            <a:ext cx="29817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EBCF892B-3A79-5CE1-BFAD-76DEEBF31E9E}"/>
              </a:ext>
            </a:extLst>
          </p:cNvPr>
          <p:cNvCxnSpPr>
            <a:cxnSpLocks/>
          </p:cNvCxnSpPr>
          <p:nvPr/>
        </p:nvCxnSpPr>
        <p:spPr>
          <a:xfrm>
            <a:off x="3637722" y="1838741"/>
            <a:ext cx="29022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D475FA16-9237-0A9D-9B21-91EF9D6D66BC}"/>
              </a:ext>
            </a:extLst>
          </p:cNvPr>
          <p:cNvCxnSpPr>
            <a:cxnSpLocks/>
          </p:cNvCxnSpPr>
          <p:nvPr/>
        </p:nvCxnSpPr>
        <p:spPr>
          <a:xfrm flipV="1">
            <a:off x="6629400" y="1838741"/>
            <a:ext cx="2314575" cy="198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626D97D5-2FD8-E638-0C3B-92E61ED74F35}"/>
              </a:ext>
            </a:extLst>
          </p:cNvPr>
          <p:cNvCxnSpPr>
            <a:cxnSpLocks/>
          </p:cNvCxnSpPr>
          <p:nvPr/>
        </p:nvCxnSpPr>
        <p:spPr>
          <a:xfrm>
            <a:off x="655982" y="2395333"/>
            <a:ext cx="34389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5709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6</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a:bodyPr>
          <a:lstStyle/>
          <a:p>
            <a:pPr algn="just"/>
            <a:r>
              <a:rPr lang="en-IN" dirty="0"/>
              <a:t>Rohit, Sanjay, Vikas, Dinesh, and Kamal participated in a competition. Rohit was ranked lower than Sanjay. Vikas was ranked higher than Dinesh. Kamal’s rank was between Rohit and Vikas. Who was ranked highest?</a:t>
            </a:r>
          </a:p>
          <a:p>
            <a:pPr algn="just"/>
            <a:r>
              <a:rPr lang="en-IN" dirty="0"/>
              <a:t>(a) Kamal (b) Dinesh (c) Vikas (d) Sanjay (e) Rohit </a:t>
            </a:r>
          </a:p>
          <a:p>
            <a:r>
              <a:rPr lang="en-IN" dirty="0"/>
              <a:t>Rohit &lt; Sanjay</a:t>
            </a:r>
          </a:p>
          <a:p>
            <a:r>
              <a:rPr lang="en-IN" dirty="0"/>
              <a:t>Dinesh &lt; Vikas</a:t>
            </a:r>
          </a:p>
          <a:p>
            <a:r>
              <a:rPr lang="en-IN" dirty="0"/>
              <a:t>Vikas &lt; Kamal &lt; Rohit</a:t>
            </a:r>
          </a:p>
          <a:p>
            <a:pPr algn="just"/>
            <a:endParaRPr lang="en-IN" dirty="0"/>
          </a:p>
        </p:txBody>
      </p:sp>
      <p:sp>
        <p:nvSpPr>
          <p:cNvPr id="4" name="TextBox 3">
            <a:extLst>
              <a:ext uri="{FF2B5EF4-FFF2-40B4-BE49-F238E27FC236}">
                <a16:creationId xmlns:a16="http://schemas.microsoft.com/office/drawing/2014/main" xmlns="" id="{3F2AF704-0BB5-2204-DC00-1C685AC934C0}"/>
              </a:ext>
            </a:extLst>
          </p:cNvPr>
          <p:cNvSpPr txBox="1"/>
          <p:nvPr/>
        </p:nvSpPr>
        <p:spPr>
          <a:xfrm>
            <a:off x="3369365" y="4731810"/>
            <a:ext cx="5774635" cy="461665"/>
          </a:xfrm>
          <a:prstGeom prst="rect">
            <a:avLst/>
          </a:prstGeom>
          <a:noFill/>
        </p:spPr>
        <p:txBody>
          <a:bodyPr wrap="square" rtlCol="0">
            <a:spAutoFit/>
          </a:bodyPr>
          <a:lstStyle/>
          <a:p>
            <a:r>
              <a:rPr lang="en-IN" sz="2400" dirty="0"/>
              <a:t>Dinesh &lt; Vikas &lt; Kamal &lt; Rohit &lt; Sanjay</a:t>
            </a:r>
          </a:p>
        </p:txBody>
      </p:sp>
      <p:sp>
        <p:nvSpPr>
          <p:cNvPr id="6" name="Oval 5">
            <a:extLst>
              <a:ext uri="{FF2B5EF4-FFF2-40B4-BE49-F238E27FC236}">
                <a16:creationId xmlns:a16="http://schemas.microsoft.com/office/drawing/2014/main" xmlns="" id="{0048339D-EE0C-831C-CD8F-9075F1F97EA0}"/>
              </a:ext>
            </a:extLst>
          </p:cNvPr>
          <p:cNvSpPr/>
          <p:nvPr/>
        </p:nvSpPr>
        <p:spPr>
          <a:xfrm>
            <a:off x="5179321" y="3792815"/>
            <a:ext cx="1092270"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xmlns="" id="{B76FF7DB-3F71-A76D-7979-A15172187689}"/>
              </a:ext>
            </a:extLst>
          </p:cNvPr>
          <p:cNvCxnSpPr>
            <a:cxnSpLocks/>
          </p:cNvCxnSpPr>
          <p:nvPr/>
        </p:nvCxnSpPr>
        <p:spPr>
          <a:xfrm>
            <a:off x="2544418" y="2415210"/>
            <a:ext cx="537706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41E99505-9DEB-444C-E4BB-C131945345FA}"/>
              </a:ext>
            </a:extLst>
          </p:cNvPr>
          <p:cNvCxnSpPr>
            <a:cxnSpLocks/>
          </p:cNvCxnSpPr>
          <p:nvPr/>
        </p:nvCxnSpPr>
        <p:spPr>
          <a:xfrm>
            <a:off x="8100392" y="2415210"/>
            <a:ext cx="68165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881DD3AC-59CE-20A6-CD7F-E35340E2C67D}"/>
              </a:ext>
            </a:extLst>
          </p:cNvPr>
          <p:cNvCxnSpPr>
            <a:cxnSpLocks/>
          </p:cNvCxnSpPr>
          <p:nvPr/>
        </p:nvCxnSpPr>
        <p:spPr>
          <a:xfrm>
            <a:off x="699053" y="2965176"/>
            <a:ext cx="433014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22C7C49D-41CB-47FE-0905-9F42F6724048}"/>
              </a:ext>
            </a:extLst>
          </p:cNvPr>
          <p:cNvCxnSpPr>
            <a:cxnSpLocks/>
          </p:cNvCxnSpPr>
          <p:nvPr/>
        </p:nvCxnSpPr>
        <p:spPr>
          <a:xfrm>
            <a:off x="5179321" y="2965176"/>
            <a:ext cx="376465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21455EC2-B330-AEA2-5599-1B9AFF579CB5}"/>
              </a:ext>
            </a:extLst>
          </p:cNvPr>
          <p:cNvCxnSpPr>
            <a:cxnSpLocks/>
          </p:cNvCxnSpPr>
          <p:nvPr/>
        </p:nvCxnSpPr>
        <p:spPr>
          <a:xfrm>
            <a:off x="699053" y="3561523"/>
            <a:ext cx="213359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46004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dirty="0"/>
              <a:t>At the end of a cricket series, when five players were arranged in the ascending order of runs scored by them, O was fourth while N was first. When they were arranged in descending order for wickets taken by them, K replaces O while O replaces L. M’s position remains unchanged. K has scored more runs than M. L is having first rank in one ranking and fifth in another? Who has scored the highest runs in the series?</a:t>
            </a:r>
          </a:p>
          <a:p>
            <a:pPr algn="just"/>
            <a:endParaRPr lang="en-IN" dirty="0"/>
          </a:p>
        </p:txBody>
      </p:sp>
    </p:spTree>
    <p:extLst>
      <p:ext uri="{BB962C8B-B14F-4D97-AF65-F5344CB8AC3E}">
        <p14:creationId xmlns:p14="http://schemas.microsoft.com/office/powerpoint/2010/main" val="24779603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a:bodyPr>
          <a:lstStyle/>
          <a:p>
            <a:pPr algn="just"/>
            <a:r>
              <a:rPr lang="en-IN" sz="2200" dirty="0"/>
              <a:t>At the end of a cricket series, when five players were arranged in the ascending order of runs scored by them, O was fourth while N was first. When they were arranged in descending order for wickets taken by them, K replaces O while O replaces L. M’s position remains unchanged. K has scored more runs than M. L is having first rank in one ranking and fifth in another? Who has scored the highest runs in the series?</a:t>
            </a:r>
          </a:p>
          <a:p>
            <a:r>
              <a:rPr lang="en-IN" dirty="0"/>
              <a:t>N &lt;  &lt;  &lt; O &lt;</a:t>
            </a:r>
          </a:p>
          <a:p>
            <a:r>
              <a:rPr lang="en-IN" dirty="0"/>
              <a:t>K &gt; M</a:t>
            </a:r>
          </a:p>
          <a:p>
            <a:r>
              <a:rPr lang="en-IN" dirty="0"/>
              <a:t>N &lt;  &lt;  &lt; O &lt; L</a:t>
            </a:r>
          </a:p>
        </p:txBody>
      </p:sp>
      <p:sp>
        <p:nvSpPr>
          <p:cNvPr id="4" name="TextBox 3">
            <a:extLst>
              <a:ext uri="{FF2B5EF4-FFF2-40B4-BE49-F238E27FC236}">
                <a16:creationId xmlns:a16="http://schemas.microsoft.com/office/drawing/2014/main" xmlns="" id="{3F2AF704-0BB5-2204-DC00-1C685AC934C0}"/>
              </a:ext>
            </a:extLst>
          </p:cNvPr>
          <p:cNvSpPr txBox="1"/>
          <p:nvPr/>
        </p:nvSpPr>
        <p:spPr>
          <a:xfrm>
            <a:off x="3007415" y="4713163"/>
            <a:ext cx="5774635" cy="571247"/>
          </a:xfrm>
          <a:prstGeom prst="rect">
            <a:avLst/>
          </a:prstGeom>
          <a:noFill/>
        </p:spPr>
        <p:txBody>
          <a:bodyPr wrap="square" rtlCol="0">
            <a:spAutoFit/>
          </a:bodyPr>
          <a:lstStyle/>
          <a:p>
            <a:pPr>
              <a:lnSpc>
                <a:spcPct val="150000"/>
              </a:lnSpc>
            </a:pPr>
            <a:r>
              <a:rPr lang="en-IN" sz="2400" dirty="0"/>
              <a:t>Runs - N &lt; M &lt; K &lt; O &lt; L</a:t>
            </a:r>
          </a:p>
        </p:txBody>
      </p:sp>
      <p:cxnSp>
        <p:nvCxnSpPr>
          <p:cNvPr id="7" name="Straight Connector 6">
            <a:extLst>
              <a:ext uri="{FF2B5EF4-FFF2-40B4-BE49-F238E27FC236}">
                <a16:creationId xmlns:a16="http://schemas.microsoft.com/office/drawing/2014/main" xmlns="" id="{B76FF7DB-3F71-A76D-7979-A15172187689}"/>
              </a:ext>
            </a:extLst>
          </p:cNvPr>
          <p:cNvCxnSpPr>
            <a:cxnSpLocks/>
          </p:cNvCxnSpPr>
          <p:nvPr/>
        </p:nvCxnSpPr>
        <p:spPr>
          <a:xfrm>
            <a:off x="1113183" y="2246245"/>
            <a:ext cx="77624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41E99505-9DEB-444C-E4BB-C131945345FA}"/>
              </a:ext>
            </a:extLst>
          </p:cNvPr>
          <p:cNvCxnSpPr>
            <a:cxnSpLocks/>
          </p:cNvCxnSpPr>
          <p:nvPr/>
        </p:nvCxnSpPr>
        <p:spPr>
          <a:xfrm>
            <a:off x="699053" y="2703444"/>
            <a:ext cx="146767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881DD3AC-59CE-20A6-CD7F-E35340E2C67D}"/>
              </a:ext>
            </a:extLst>
          </p:cNvPr>
          <p:cNvCxnSpPr>
            <a:cxnSpLocks/>
          </p:cNvCxnSpPr>
          <p:nvPr/>
        </p:nvCxnSpPr>
        <p:spPr>
          <a:xfrm>
            <a:off x="699053" y="3263350"/>
            <a:ext cx="82449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22C7C49D-41CB-47FE-0905-9F42F6724048}"/>
              </a:ext>
            </a:extLst>
          </p:cNvPr>
          <p:cNvCxnSpPr>
            <a:cxnSpLocks/>
          </p:cNvCxnSpPr>
          <p:nvPr/>
        </p:nvCxnSpPr>
        <p:spPr>
          <a:xfrm>
            <a:off x="699053" y="4128055"/>
            <a:ext cx="691432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21455EC2-B330-AEA2-5599-1B9AFF579CB5}"/>
              </a:ext>
            </a:extLst>
          </p:cNvPr>
          <p:cNvCxnSpPr>
            <a:cxnSpLocks/>
          </p:cNvCxnSpPr>
          <p:nvPr/>
        </p:nvCxnSpPr>
        <p:spPr>
          <a:xfrm flipV="1">
            <a:off x="699053" y="3694868"/>
            <a:ext cx="3584712" cy="256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61153AA4-C4A1-E354-84FF-DF146D91F076}"/>
              </a:ext>
            </a:extLst>
          </p:cNvPr>
          <p:cNvSpPr txBox="1"/>
          <p:nvPr/>
        </p:nvSpPr>
        <p:spPr>
          <a:xfrm>
            <a:off x="2543175" y="5685779"/>
            <a:ext cx="6400800" cy="461665"/>
          </a:xfrm>
          <a:prstGeom prst="rect">
            <a:avLst/>
          </a:prstGeom>
          <a:noFill/>
        </p:spPr>
        <p:txBody>
          <a:bodyPr wrap="square">
            <a:spAutoFit/>
          </a:bodyPr>
          <a:lstStyle/>
          <a:p>
            <a:r>
              <a:rPr lang="en-IN" sz="2400" dirty="0"/>
              <a:t>L has scored the highest runs in the series.</a:t>
            </a:r>
          </a:p>
        </p:txBody>
      </p:sp>
      <p:sp>
        <p:nvSpPr>
          <p:cNvPr id="15" name="TextBox 14">
            <a:extLst>
              <a:ext uri="{FF2B5EF4-FFF2-40B4-BE49-F238E27FC236}">
                <a16:creationId xmlns:a16="http://schemas.microsoft.com/office/drawing/2014/main" xmlns="" id="{BE04C35F-4D3B-ECA0-D81B-BCB93B87D00C}"/>
              </a:ext>
            </a:extLst>
          </p:cNvPr>
          <p:cNvSpPr txBox="1"/>
          <p:nvPr/>
        </p:nvSpPr>
        <p:spPr>
          <a:xfrm>
            <a:off x="3007414" y="5144680"/>
            <a:ext cx="5774635" cy="571247"/>
          </a:xfrm>
          <a:prstGeom prst="rect">
            <a:avLst/>
          </a:prstGeom>
          <a:noFill/>
        </p:spPr>
        <p:txBody>
          <a:bodyPr wrap="square" rtlCol="0">
            <a:spAutoFit/>
          </a:bodyPr>
          <a:lstStyle/>
          <a:p>
            <a:pPr>
              <a:lnSpc>
                <a:spcPct val="150000"/>
              </a:lnSpc>
            </a:pPr>
            <a:r>
              <a:rPr lang="en-IN" sz="2400" dirty="0"/>
              <a:t>Wicket - L &lt; M &lt; N &lt; K &lt; O</a:t>
            </a:r>
          </a:p>
        </p:txBody>
      </p:sp>
      <p:cxnSp>
        <p:nvCxnSpPr>
          <p:cNvPr id="20" name="Straight Connector 19">
            <a:extLst>
              <a:ext uri="{FF2B5EF4-FFF2-40B4-BE49-F238E27FC236}">
                <a16:creationId xmlns:a16="http://schemas.microsoft.com/office/drawing/2014/main" xmlns="" id="{89B0A418-7001-9D31-A442-2774236F4DE2}"/>
              </a:ext>
            </a:extLst>
          </p:cNvPr>
          <p:cNvCxnSpPr>
            <a:cxnSpLocks/>
          </p:cNvCxnSpPr>
          <p:nvPr/>
        </p:nvCxnSpPr>
        <p:spPr>
          <a:xfrm flipV="1">
            <a:off x="2382079" y="2703444"/>
            <a:ext cx="6493564" cy="1325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D2DA5A87-D8F7-BE24-5120-91E206BAFE0B}"/>
              </a:ext>
            </a:extLst>
          </p:cNvPr>
          <p:cNvCxnSpPr>
            <a:cxnSpLocks/>
          </p:cNvCxnSpPr>
          <p:nvPr/>
        </p:nvCxnSpPr>
        <p:spPr>
          <a:xfrm>
            <a:off x="4432852" y="3630955"/>
            <a:ext cx="4176091" cy="1529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xmlns="" id="{5CA6509C-859B-B851-BC25-20FE1039086F}"/>
              </a:ext>
            </a:extLst>
          </p:cNvPr>
          <p:cNvCxnSpPr>
            <a:cxnSpLocks/>
          </p:cNvCxnSpPr>
          <p:nvPr/>
        </p:nvCxnSpPr>
        <p:spPr>
          <a:xfrm>
            <a:off x="8712889" y="3654891"/>
            <a:ext cx="32550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6951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8</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IN" dirty="0"/>
              <a:t>At the end of a cricket series, when five players were five players were arranged in the ascending order of runs scored by them, O was fourth while N was first. When they were arranged in descending order for wickets taken by them, K replaces O while O replaces L. M’s position remains unchanged. K has scored more runs than M. L is having first rank in one ranking and fifth in another? Who has taken the lowest number of wickets in the series?</a:t>
            </a:r>
          </a:p>
          <a:p>
            <a:pPr algn="just"/>
            <a:endParaRPr lang="en-IN" dirty="0"/>
          </a:p>
        </p:txBody>
      </p:sp>
    </p:spTree>
    <p:extLst>
      <p:ext uri="{BB962C8B-B14F-4D97-AF65-F5344CB8AC3E}">
        <p14:creationId xmlns:p14="http://schemas.microsoft.com/office/powerpoint/2010/main" val="31391397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8</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92500"/>
          </a:bodyPr>
          <a:lstStyle/>
          <a:p>
            <a:pPr algn="just"/>
            <a:r>
              <a:rPr lang="en-IN" sz="2200" dirty="0"/>
              <a:t>At the end of a cricket series, when five players were arranged in the ascending order of runs scored by them, O was fourth while N was first. When they were arranged in descending order for wickets taken by them, K replaces O while O replaces L. M’s position remains unchanged. K has scored more runs than M. L is having first rank in one ranking and fifth in another? Who has taken the lowest number of wickets in the series?</a:t>
            </a:r>
          </a:p>
          <a:p>
            <a:r>
              <a:rPr lang="en-IN" dirty="0"/>
              <a:t>N &lt;  &lt;  &lt; O &lt;</a:t>
            </a:r>
          </a:p>
          <a:p>
            <a:r>
              <a:rPr lang="en-IN" dirty="0"/>
              <a:t>K &gt; M</a:t>
            </a:r>
          </a:p>
          <a:p>
            <a:r>
              <a:rPr lang="en-IN" dirty="0"/>
              <a:t>N &lt;  &lt;  &lt; O &lt; L</a:t>
            </a:r>
          </a:p>
        </p:txBody>
      </p:sp>
      <p:sp>
        <p:nvSpPr>
          <p:cNvPr id="4" name="TextBox 3">
            <a:extLst>
              <a:ext uri="{FF2B5EF4-FFF2-40B4-BE49-F238E27FC236}">
                <a16:creationId xmlns:a16="http://schemas.microsoft.com/office/drawing/2014/main" xmlns="" id="{3F2AF704-0BB5-2204-DC00-1C685AC934C0}"/>
              </a:ext>
            </a:extLst>
          </p:cNvPr>
          <p:cNvSpPr txBox="1"/>
          <p:nvPr/>
        </p:nvSpPr>
        <p:spPr>
          <a:xfrm>
            <a:off x="3007415" y="4713163"/>
            <a:ext cx="5774635" cy="571247"/>
          </a:xfrm>
          <a:prstGeom prst="rect">
            <a:avLst/>
          </a:prstGeom>
          <a:noFill/>
        </p:spPr>
        <p:txBody>
          <a:bodyPr wrap="square" rtlCol="0">
            <a:spAutoFit/>
          </a:bodyPr>
          <a:lstStyle/>
          <a:p>
            <a:pPr>
              <a:lnSpc>
                <a:spcPct val="150000"/>
              </a:lnSpc>
            </a:pPr>
            <a:r>
              <a:rPr lang="en-IN" sz="2400" dirty="0"/>
              <a:t>Runs - N &lt; M &lt; K &lt; O &lt; L</a:t>
            </a:r>
          </a:p>
        </p:txBody>
      </p:sp>
      <p:cxnSp>
        <p:nvCxnSpPr>
          <p:cNvPr id="7" name="Straight Connector 6">
            <a:extLst>
              <a:ext uri="{FF2B5EF4-FFF2-40B4-BE49-F238E27FC236}">
                <a16:creationId xmlns:a16="http://schemas.microsoft.com/office/drawing/2014/main" xmlns="" id="{B76FF7DB-3F71-A76D-7979-A15172187689}"/>
              </a:ext>
            </a:extLst>
          </p:cNvPr>
          <p:cNvCxnSpPr>
            <a:cxnSpLocks/>
          </p:cNvCxnSpPr>
          <p:nvPr/>
        </p:nvCxnSpPr>
        <p:spPr>
          <a:xfrm>
            <a:off x="1113183" y="2246245"/>
            <a:ext cx="77624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41E99505-9DEB-444C-E4BB-C131945345FA}"/>
              </a:ext>
            </a:extLst>
          </p:cNvPr>
          <p:cNvCxnSpPr>
            <a:cxnSpLocks/>
          </p:cNvCxnSpPr>
          <p:nvPr/>
        </p:nvCxnSpPr>
        <p:spPr>
          <a:xfrm>
            <a:off x="699053" y="2703444"/>
            <a:ext cx="146767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881DD3AC-59CE-20A6-CD7F-E35340E2C67D}"/>
              </a:ext>
            </a:extLst>
          </p:cNvPr>
          <p:cNvCxnSpPr>
            <a:cxnSpLocks/>
          </p:cNvCxnSpPr>
          <p:nvPr/>
        </p:nvCxnSpPr>
        <p:spPr>
          <a:xfrm>
            <a:off x="699053" y="3263350"/>
            <a:ext cx="82449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22C7C49D-41CB-47FE-0905-9F42F6724048}"/>
              </a:ext>
            </a:extLst>
          </p:cNvPr>
          <p:cNvCxnSpPr>
            <a:cxnSpLocks/>
          </p:cNvCxnSpPr>
          <p:nvPr/>
        </p:nvCxnSpPr>
        <p:spPr>
          <a:xfrm>
            <a:off x="699053" y="4128055"/>
            <a:ext cx="691432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21455EC2-B330-AEA2-5599-1B9AFF579CB5}"/>
              </a:ext>
            </a:extLst>
          </p:cNvPr>
          <p:cNvCxnSpPr>
            <a:cxnSpLocks/>
          </p:cNvCxnSpPr>
          <p:nvPr/>
        </p:nvCxnSpPr>
        <p:spPr>
          <a:xfrm flipV="1">
            <a:off x="699053" y="3694868"/>
            <a:ext cx="3584712" cy="256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61153AA4-C4A1-E354-84FF-DF146D91F076}"/>
              </a:ext>
            </a:extLst>
          </p:cNvPr>
          <p:cNvSpPr txBox="1"/>
          <p:nvPr/>
        </p:nvSpPr>
        <p:spPr>
          <a:xfrm>
            <a:off x="2543175" y="5685779"/>
            <a:ext cx="6400800" cy="461665"/>
          </a:xfrm>
          <a:prstGeom prst="rect">
            <a:avLst/>
          </a:prstGeom>
          <a:noFill/>
        </p:spPr>
        <p:txBody>
          <a:bodyPr wrap="square">
            <a:spAutoFit/>
          </a:bodyPr>
          <a:lstStyle/>
          <a:p>
            <a:r>
              <a:rPr lang="en-IN" sz="2400" dirty="0"/>
              <a:t>L has taken the lowest number of wicket.</a:t>
            </a:r>
          </a:p>
        </p:txBody>
      </p:sp>
      <p:sp>
        <p:nvSpPr>
          <p:cNvPr id="15" name="TextBox 14">
            <a:extLst>
              <a:ext uri="{FF2B5EF4-FFF2-40B4-BE49-F238E27FC236}">
                <a16:creationId xmlns:a16="http://schemas.microsoft.com/office/drawing/2014/main" xmlns="" id="{BE04C35F-4D3B-ECA0-D81B-BCB93B87D00C}"/>
              </a:ext>
            </a:extLst>
          </p:cNvPr>
          <p:cNvSpPr txBox="1"/>
          <p:nvPr/>
        </p:nvSpPr>
        <p:spPr>
          <a:xfrm>
            <a:off x="3007414" y="5144680"/>
            <a:ext cx="5774635" cy="571247"/>
          </a:xfrm>
          <a:prstGeom prst="rect">
            <a:avLst/>
          </a:prstGeom>
          <a:noFill/>
        </p:spPr>
        <p:txBody>
          <a:bodyPr wrap="square" rtlCol="0">
            <a:spAutoFit/>
          </a:bodyPr>
          <a:lstStyle/>
          <a:p>
            <a:pPr>
              <a:lnSpc>
                <a:spcPct val="150000"/>
              </a:lnSpc>
            </a:pPr>
            <a:r>
              <a:rPr lang="en-IN" sz="2400" dirty="0"/>
              <a:t>Wicket - L &lt; M &lt; N &lt; K &lt; O</a:t>
            </a:r>
          </a:p>
        </p:txBody>
      </p:sp>
      <p:cxnSp>
        <p:nvCxnSpPr>
          <p:cNvPr id="20" name="Straight Connector 19">
            <a:extLst>
              <a:ext uri="{FF2B5EF4-FFF2-40B4-BE49-F238E27FC236}">
                <a16:creationId xmlns:a16="http://schemas.microsoft.com/office/drawing/2014/main" xmlns="" id="{89B0A418-7001-9D31-A442-2774236F4DE2}"/>
              </a:ext>
            </a:extLst>
          </p:cNvPr>
          <p:cNvCxnSpPr>
            <a:cxnSpLocks/>
          </p:cNvCxnSpPr>
          <p:nvPr/>
        </p:nvCxnSpPr>
        <p:spPr>
          <a:xfrm flipV="1">
            <a:off x="2382079" y="2703444"/>
            <a:ext cx="6493564" cy="1325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D2DA5A87-D8F7-BE24-5120-91E206BAFE0B}"/>
              </a:ext>
            </a:extLst>
          </p:cNvPr>
          <p:cNvCxnSpPr>
            <a:cxnSpLocks/>
          </p:cNvCxnSpPr>
          <p:nvPr/>
        </p:nvCxnSpPr>
        <p:spPr>
          <a:xfrm>
            <a:off x="4432852" y="3630955"/>
            <a:ext cx="4176091" cy="1529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xmlns="" id="{5CA6509C-859B-B851-BC25-20FE1039086F}"/>
              </a:ext>
            </a:extLst>
          </p:cNvPr>
          <p:cNvCxnSpPr>
            <a:cxnSpLocks/>
          </p:cNvCxnSpPr>
          <p:nvPr/>
        </p:nvCxnSpPr>
        <p:spPr>
          <a:xfrm>
            <a:off x="8712889" y="3654891"/>
            <a:ext cx="32550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24146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9</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IN" dirty="0"/>
              <a:t>Ashish is heavier than Govind. Mohit is lighter than Jack. Pawan is heavier than Jack but lighter than Govind. Who among them is the heaviest?</a:t>
            </a:r>
          </a:p>
          <a:p>
            <a:pPr algn="just"/>
            <a:r>
              <a:rPr lang="en-IN" dirty="0"/>
              <a:t>(a) Govind (b) Jack (c) Pawan (d) Ashish (e) Mohit</a:t>
            </a:r>
          </a:p>
          <a:p>
            <a:pPr algn="just"/>
            <a:r>
              <a:rPr lang="en-IN" dirty="0"/>
              <a:t>Govind &lt; Ashish </a:t>
            </a:r>
          </a:p>
          <a:p>
            <a:pPr algn="just"/>
            <a:r>
              <a:rPr lang="en-IN" dirty="0"/>
              <a:t>Mohit &lt; Jack </a:t>
            </a:r>
          </a:p>
          <a:p>
            <a:pPr algn="just"/>
            <a:r>
              <a:rPr lang="en-IN" dirty="0"/>
              <a:t>Jack &lt; Pawan </a:t>
            </a:r>
          </a:p>
          <a:p>
            <a:pPr algn="just"/>
            <a:r>
              <a:rPr lang="en-IN" dirty="0"/>
              <a:t>Pawan &lt; Govind</a:t>
            </a:r>
          </a:p>
        </p:txBody>
      </p:sp>
      <p:sp>
        <p:nvSpPr>
          <p:cNvPr id="4" name="TextBox 3">
            <a:extLst>
              <a:ext uri="{FF2B5EF4-FFF2-40B4-BE49-F238E27FC236}">
                <a16:creationId xmlns:a16="http://schemas.microsoft.com/office/drawing/2014/main" xmlns="" id="{1BE3D56D-15F5-6062-B762-846236B54C47}"/>
              </a:ext>
            </a:extLst>
          </p:cNvPr>
          <p:cNvSpPr txBox="1"/>
          <p:nvPr/>
        </p:nvSpPr>
        <p:spPr>
          <a:xfrm>
            <a:off x="3160643" y="5100935"/>
            <a:ext cx="5695122" cy="461665"/>
          </a:xfrm>
          <a:prstGeom prst="rect">
            <a:avLst/>
          </a:prstGeom>
          <a:noFill/>
        </p:spPr>
        <p:txBody>
          <a:bodyPr wrap="square" rtlCol="0">
            <a:spAutoFit/>
          </a:bodyPr>
          <a:lstStyle/>
          <a:p>
            <a:pPr algn="just"/>
            <a:r>
              <a:rPr lang="en-IN" sz="2400" dirty="0"/>
              <a:t>Mohit &lt; Jack &lt; Pawan &lt; Govind &lt; Ashish</a:t>
            </a:r>
          </a:p>
        </p:txBody>
      </p:sp>
      <p:sp>
        <p:nvSpPr>
          <p:cNvPr id="5" name="Oval 4">
            <a:extLst>
              <a:ext uri="{FF2B5EF4-FFF2-40B4-BE49-F238E27FC236}">
                <a16:creationId xmlns:a16="http://schemas.microsoft.com/office/drawing/2014/main" xmlns="" id="{C91E44DB-23D9-F432-1231-D5413C3A196D}"/>
              </a:ext>
            </a:extLst>
          </p:cNvPr>
          <p:cNvSpPr/>
          <p:nvPr/>
        </p:nvSpPr>
        <p:spPr>
          <a:xfrm>
            <a:off x="5457616" y="3265033"/>
            <a:ext cx="1291053"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xmlns="" id="{85AAF695-0C83-DABF-8711-2ED4C4200768}"/>
              </a:ext>
            </a:extLst>
          </p:cNvPr>
          <p:cNvCxnSpPr>
            <a:cxnSpLocks/>
          </p:cNvCxnSpPr>
          <p:nvPr/>
        </p:nvCxnSpPr>
        <p:spPr>
          <a:xfrm>
            <a:off x="566531" y="1908314"/>
            <a:ext cx="489108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597D897C-4383-1D43-1FC4-A99E8BD8805B}"/>
              </a:ext>
            </a:extLst>
          </p:cNvPr>
          <p:cNvCxnSpPr>
            <a:cxnSpLocks/>
          </p:cNvCxnSpPr>
          <p:nvPr/>
        </p:nvCxnSpPr>
        <p:spPr>
          <a:xfrm>
            <a:off x="5549348" y="1908314"/>
            <a:ext cx="330641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861A46B2-E018-6435-E396-1F1873A54C77}"/>
              </a:ext>
            </a:extLst>
          </p:cNvPr>
          <p:cNvCxnSpPr>
            <a:cxnSpLocks/>
          </p:cNvCxnSpPr>
          <p:nvPr/>
        </p:nvCxnSpPr>
        <p:spPr>
          <a:xfrm>
            <a:off x="566531" y="2408583"/>
            <a:ext cx="94421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5AB64B46-C2EA-66BB-E702-9B4CAAAAD4D5}"/>
              </a:ext>
            </a:extLst>
          </p:cNvPr>
          <p:cNvCxnSpPr>
            <a:cxnSpLocks/>
          </p:cNvCxnSpPr>
          <p:nvPr/>
        </p:nvCxnSpPr>
        <p:spPr>
          <a:xfrm>
            <a:off x="1616765" y="2421836"/>
            <a:ext cx="732721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0237FABD-CB87-13E1-571E-28389A3B8700}"/>
              </a:ext>
            </a:extLst>
          </p:cNvPr>
          <p:cNvCxnSpPr>
            <a:cxnSpLocks/>
          </p:cNvCxnSpPr>
          <p:nvPr/>
        </p:nvCxnSpPr>
        <p:spPr>
          <a:xfrm>
            <a:off x="672548" y="2968487"/>
            <a:ext cx="94421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79801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10</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lnSpcReduction="10000"/>
          </a:bodyPr>
          <a:lstStyle/>
          <a:p>
            <a:pPr algn="just"/>
            <a:r>
              <a:rPr lang="en-IN" dirty="0"/>
              <a:t>Pune is bigger than Jhansi. Sitapur is bigger than </a:t>
            </a:r>
            <a:r>
              <a:rPr lang="en-IN" dirty="0" err="1"/>
              <a:t>Chittor</a:t>
            </a:r>
            <a:r>
              <a:rPr lang="en-IN" dirty="0"/>
              <a:t>. </a:t>
            </a:r>
            <a:r>
              <a:rPr lang="en-IN" dirty="0" err="1"/>
              <a:t>Raigarh</a:t>
            </a:r>
            <a:r>
              <a:rPr lang="en-IN" dirty="0"/>
              <a:t> is not as big as Jhansi but is bigger than Sitapur. Which is the smallest?</a:t>
            </a:r>
          </a:p>
          <a:p>
            <a:pPr algn="just"/>
            <a:r>
              <a:rPr lang="en-IN" dirty="0"/>
              <a:t>(a) Pune (b) </a:t>
            </a:r>
            <a:r>
              <a:rPr lang="en-IN" dirty="0" err="1"/>
              <a:t>Chittor</a:t>
            </a:r>
            <a:r>
              <a:rPr lang="en-IN" dirty="0"/>
              <a:t> (c) Sitapur (d) Jhansi(e) </a:t>
            </a:r>
            <a:r>
              <a:rPr lang="en-IN" dirty="0" err="1"/>
              <a:t>Raigarh</a:t>
            </a:r>
            <a:endParaRPr lang="en-IN" dirty="0"/>
          </a:p>
          <a:p>
            <a:pPr algn="just"/>
            <a:r>
              <a:rPr lang="en-IN" dirty="0"/>
              <a:t>Jhansi &lt; Pune, </a:t>
            </a:r>
          </a:p>
          <a:p>
            <a:pPr algn="just"/>
            <a:r>
              <a:rPr lang="en-IN" dirty="0" err="1"/>
              <a:t>Chittor</a:t>
            </a:r>
            <a:r>
              <a:rPr lang="en-IN" dirty="0"/>
              <a:t> &lt; Sitapur </a:t>
            </a:r>
          </a:p>
          <a:p>
            <a:pPr algn="just"/>
            <a:r>
              <a:rPr lang="en-IN" dirty="0" err="1"/>
              <a:t>Raigarh</a:t>
            </a:r>
            <a:r>
              <a:rPr lang="en-IN" dirty="0"/>
              <a:t> &lt; Jhansi </a:t>
            </a:r>
          </a:p>
          <a:p>
            <a:pPr algn="just"/>
            <a:r>
              <a:rPr lang="en-IN" dirty="0"/>
              <a:t>Sitapur &lt; </a:t>
            </a:r>
            <a:r>
              <a:rPr lang="en-IN" dirty="0" err="1"/>
              <a:t>Raigarh</a:t>
            </a:r>
            <a:endParaRPr lang="en-IN" dirty="0"/>
          </a:p>
          <a:p>
            <a:endParaRPr lang="en-IN" dirty="0"/>
          </a:p>
        </p:txBody>
      </p:sp>
      <p:sp>
        <p:nvSpPr>
          <p:cNvPr id="4" name="TextBox 3">
            <a:extLst>
              <a:ext uri="{FF2B5EF4-FFF2-40B4-BE49-F238E27FC236}">
                <a16:creationId xmlns:a16="http://schemas.microsoft.com/office/drawing/2014/main" xmlns="" id="{1BE3D56D-15F5-6062-B762-846236B54C47}"/>
              </a:ext>
            </a:extLst>
          </p:cNvPr>
          <p:cNvSpPr txBox="1"/>
          <p:nvPr/>
        </p:nvSpPr>
        <p:spPr>
          <a:xfrm>
            <a:off x="3099768" y="4116961"/>
            <a:ext cx="6024356" cy="461665"/>
          </a:xfrm>
          <a:prstGeom prst="rect">
            <a:avLst/>
          </a:prstGeom>
          <a:noFill/>
        </p:spPr>
        <p:txBody>
          <a:bodyPr wrap="square" rtlCol="0">
            <a:spAutoFit/>
          </a:bodyPr>
          <a:lstStyle/>
          <a:p>
            <a:r>
              <a:rPr lang="en-IN" sz="2400" dirty="0" err="1"/>
              <a:t>Chittor</a:t>
            </a:r>
            <a:r>
              <a:rPr lang="en-IN" sz="2400" dirty="0"/>
              <a:t> &lt; Sitapur &lt; </a:t>
            </a:r>
            <a:r>
              <a:rPr lang="en-IN" sz="2400" dirty="0" err="1"/>
              <a:t>Raigarh</a:t>
            </a:r>
            <a:r>
              <a:rPr lang="en-IN" sz="2400" dirty="0"/>
              <a:t> &lt; Jhansi &lt; Pune</a:t>
            </a:r>
          </a:p>
        </p:txBody>
      </p:sp>
      <p:sp>
        <p:nvSpPr>
          <p:cNvPr id="5" name="Oval 4">
            <a:extLst>
              <a:ext uri="{FF2B5EF4-FFF2-40B4-BE49-F238E27FC236}">
                <a16:creationId xmlns:a16="http://schemas.microsoft.com/office/drawing/2014/main" xmlns="" id="{C91E44DB-23D9-F432-1231-D5413C3A196D}"/>
              </a:ext>
            </a:extLst>
          </p:cNvPr>
          <p:cNvSpPr/>
          <p:nvPr/>
        </p:nvSpPr>
        <p:spPr>
          <a:xfrm>
            <a:off x="2386424" y="3245956"/>
            <a:ext cx="1291053" cy="36608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xmlns="" id="{866FA854-A65D-7C83-9713-11234E65C984}"/>
              </a:ext>
            </a:extLst>
          </p:cNvPr>
          <p:cNvCxnSpPr>
            <a:cxnSpLocks/>
          </p:cNvCxnSpPr>
          <p:nvPr/>
        </p:nvCxnSpPr>
        <p:spPr>
          <a:xfrm>
            <a:off x="715618" y="1911626"/>
            <a:ext cx="434339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03AFB552-386A-4972-EB64-80FEA00C82C5}"/>
              </a:ext>
            </a:extLst>
          </p:cNvPr>
          <p:cNvCxnSpPr>
            <a:cxnSpLocks/>
          </p:cNvCxnSpPr>
          <p:nvPr/>
        </p:nvCxnSpPr>
        <p:spPr>
          <a:xfrm>
            <a:off x="5290933" y="1911626"/>
            <a:ext cx="365304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A52FAEFB-FEAD-BED2-9260-80762406C81E}"/>
              </a:ext>
            </a:extLst>
          </p:cNvPr>
          <p:cNvCxnSpPr>
            <a:cxnSpLocks/>
          </p:cNvCxnSpPr>
          <p:nvPr/>
        </p:nvCxnSpPr>
        <p:spPr>
          <a:xfrm>
            <a:off x="715618" y="2428462"/>
            <a:ext cx="94421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931ACEA0-7961-A16B-40D0-32BB457F6CDB}"/>
              </a:ext>
            </a:extLst>
          </p:cNvPr>
          <p:cNvCxnSpPr>
            <a:cxnSpLocks/>
          </p:cNvCxnSpPr>
          <p:nvPr/>
        </p:nvCxnSpPr>
        <p:spPr>
          <a:xfrm flipV="1">
            <a:off x="1875185" y="2428462"/>
            <a:ext cx="7068790" cy="1656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66067AB6-E411-3A26-2591-A7EBEE8990D8}"/>
              </a:ext>
            </a:extLst>
          </p:cNvPr>
          <p:cNvCxnSpPr>
            <a:cxnSpLocks/>
          </p:cNvCxnSpPr>
          <p:nvPr/>
        </p:nvCxnSpPr>
        <p:spPr>
          <a:xfrm>
            <a:off x="715618" y="2998306"/>
            <a:ext cx="179898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38367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a:bodyPr>
          <a:lstStyle/>
          <a:p>
            <a:pPr algn="just"/>
            <a:r>
              <a:rPr lang="en-IN" dirty="0"/>
              <a:t>Hitesh is richer than Jaya whereas Mohan is richer than Pritam. Lalit is as rich as Jaya. Amit is richer than Hitesh. What conclusion can be definitely drawn from the above statements?</a:t>
            </a:r>
          </a:p>
          <a:p>
            <a:r>
              <a:rPr lang="en-IN" dirty="0"/>
              <a:t>(a) Jaya is poorer than Pritam.	</a:t>
            </a:r>
          </a:p>
          <a:p>
            <a:r>
              <a:rPr lang="en-IN" dirty="0"/>
              <a:t>(b) Mohan is richer than Amit.</a:t>
            </a:r>
          </a:p>
          <a:p>
            <a:r>
              <a:rPr lang="en-IN" dirty="0"/>
              <a:t>(c) Lalit is poorer than Hitesh.	</a:t>
            </a:r>
          </a:p>
          <a:p>
            <a:r>
              <a:rPr lang="en-IN" dirty="0"/>
              <a:t>(d) Pritam is richer than Lalit.</a:t>
            </a:r>
          </a:p>
        </p:txBody>
      </p:sp>
    </p:spTree>
    <p:extLst>
      <p:ext uri="{BB962C8B-B14F-4D97-AF65-F5344CB8AC3E}">
        <p14:creationId xmlns:p14="http://schemas.microsoft.com/office/powerpoint/2010/main" val="35314990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239A-3004-EF84-4DC5-C8405B4257A0}"/>
              </a:ext>
            </a:extLst>
          </p:cNvPr>
          <p:cNvSpPr>
            <a:spLocks noGrp="1"/>
          </p:cNvSpPr>
          <p:nvPr>
            <p:ph type="title"/>
          </p:nvPr>
        </p:nvSpPr>
        <p:spPr/>
        <p:txBody>
          <a:bodyPr/>
          <a:lstStyle/>
          <a:p>
            <a:r>
              <a:rPr lang="en-US" dirty="0"/>
              <a:t>Problem 11</a:t>
            </a:r>
            <a:endParaRPr lang="en-IN" dirty="0"/>
          </a:p>
        </p:txBody>
      </p:sp>
      <p:sp>
        <p:nvSpPr>
          <p:cNvPr id="3" name="Content Placeholder 2">
            <a:extLst>
              <a:ext uri="{FF2B5EF4-FFF2-40B4-BE49-F238E27FC236}">
                <a16:creationId xmlns:a16="http://schemas.microsoft.com/office/drawing/2014/main" xmlns="" id="{8598AA0C-E31A-2520-7BD5-3538469D35D1}"/>
              </a:ext>
            </a:extLst>
          </p:cNvPr>
          <p:cNvSpPr>
            <a:spLocks noGrp="1"/>
          </p:cNvSpPr>
          <p:nvPr>
            <p:ph idx="1"/>
          </p:nvPr>
        </p:nvSpPr>
        <p:spPr/>
        <p:txBody>
          <a:bodyPr>
            <a:normAutofit fontScale="85000" lnSpcReduction="10000"/>
          </a:bodyPr>
          <a:lstStyle/>
          <a:p>
            <a:pPr algn="just"/>
            <a:r>
              <a:rPr lang="en-IN" dirty="0"/>
              <a:t>Hitesh is richer than Jaya whereas Mohan is richer than Pritam. Lalit is as rich as Jaya. Amit is richer than Hitesh. What conclusion can be definitely drawn from the above statements?</a:t>
            </a:r>
          </a:p>
          <a:p>
            <a:r>
              <a:rPr lang="en-IN" dirty="0"/>
              <a:t>(a) Jaya is poorer than Pritam.	(b) Mohan is richer than Amit.</a:t>
            </a:r>
          </a:p>
          <a:p>
            <a:r>
              <a:rPr lang="en-IN" dirty="0"/>
              <a:t>(c) Lalit is poorer than Hitesh.	(d) Pritam is richer than Lalit.</a:t>
            </a:r>
          </a:p>
          <a:p>
            <a:r>
              <a:rPr lang="en-IN" sz="2800" dirty="0"/>
              <a:t>Jaya &lt; Hitesh </a:t>
            </a:r>
          </a:p>
          <a:p>
            <a:r>
              <a:rPr lang="en-IN" sz="2800" dirty="0"/>
              <a:t>Pritam &lt; Mohan </a:t>
            </a:r>
          </a:p>
          <a:p>
            <a:r>
              <a:rPr lang="en-IN" sz="2800" dirty="0"/>
              <a:t>Lalit = Jaya </a:t>
            </a:r>
          </a:p>
          <a:p>
            <a:r>
              <a:rPr lang="en-IN" sz="2800" dirty="0"/>
              <a:t>Hitesh &lt; Amit</a:t>
            </a:r>
          </a:p>
        </p:txBody>
      </p:sp>
      <p:sp>
        <p:nvSpPr>
          <p:cNvPr id="4" name="TextBox 3">
            <a:extLst>
              <a:ext uri="{FF2B5EF4-FFF2-40B4-BE49-F238E27FC236}">
                <a16:creationId xmlns:a16="http://schemas.microsoft.com/office/drawing/2014/main" xmlns="" id="{1BE3D56D-15F5-6062-B762-846236B54C47}"/>
              </a:ext>
            </a:extLst>
          </p:cNvPr>
          <p:cNvSpPr txBox="1"/>
          <p:nvPr/>
        </p:nvSpPr>
        <p:spPr>
          <a:xfrm>
            <a:off x="2668243" y="5417404"/>
            <a:ext cx="6275732" cy="461665"/>
          </a:xfrm>
          <a:prstGeom prst="rect">
            <a:avLst/>
          </a:prstGeom>
          <a:noFill/>
        </p:spPr>
        <p:txBody>
          <a:bodyPr wrap="square" rtlCol="0">
            <a:spAutoFit/>
          </a:bodyPr>
          <a:lstStyle/>
          <a:p>
            <a:r>
              <a:rPr lang="en-IN" sz="2400" dirty="0"/>
              <a:t>Lalit = Jaya &lt; Hitesh &lt; Amit, Pritam &lt; Mohan</a:t>
            </a:r>
          </a:p>
        </p:txBody>
      </p:sp>
      <p:sp>
        <p:nvSpPr>
          <p:cNvPr id="5" name="Oval 4">
            <a:extLst>
              <a:ext uri="{FF2B5EF4-FFF2-40B4-BE49-F238E27FC236}">
                <a16:creationId xmlns:a16="http://schemas.microsoft.com/office/drawing/2014/main" xmlns="" id="{C91E44DB-23D9-F432-1231-D5413C3A196D}"/>
              </a:ext>
            </a:extLst>
          </p:cNvPr>
          <p:cNvSpPr/>
          <p:nvPr/>
        </p:nvSpPr>
        <p:spPr>
          <a:xfrm>
            <a:off x="478111" y="3464618"/>
            <a:ext cx="4093889" cy="5010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xmlns="" id="{29C05221-7564-529A-2AE8-F62E791FDBFF}"/>
              </a:ext>
            </a:extLst>
          </p:cNvPr>
          <p:cNvCxnSpPr>
            <a:cxnSpLocks/>
          </p:cNvCxnSpPr>
          <p:nvPr/>
        </p:nvCxnSpPr>
        <p:spPr>
          <a:xfrm>
            <a:off x="675861" y="2279375"/>
            <a:ext cx="343893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F8A7A649-A1BF-F1EC-37B8-14FCA44FF0E2}"/>
              </a:ext>
            </a:extLst>
          </p:cNvPr>
          <p:cNvCxnSpPr>
            <a:cxnSpLocks/>
          </p:cNvCxnSpPr>
          <p:nvPr/>
        </p:nvCxnSpPr>
        <p:spPr>
          <a:xfrm>
            <a:off x="675861" y="1792358"/>
            <a:ext cx="826811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B607BEEC-44BF-9D0D-D7A0-60EA85B47EC3}"/>
              </a:ext>
            </a:extLst>
          </p:cNvPr>
          <p:cNvCxnSpPr>
            <a:cxnSpLocks/>
          </p:cNvCxnSpPr>
          <p:nvPr/>
        </p:nvCxnSpPr>
        <p:spPr>
          <a:xfrm>
            <a:off x="4287078" y="2279375"/>
            <a:ext cx="37636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1769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F258A07A-7633-2901-F89A-966B0C32EEE2}"/>
              </a:ext>
            </a:extLst>
          </p:cNvPr>
          <p:cNvSpPr>
            <a:spLocks noGrp="1"/>
          </p:cNvSpPr>
          <p:nvPr>
            <p:ph idx="1"/>
          </p:nvPr>
        </p:nvSpPr>
        <p:spPr/>
        <p:txBody>
          <a:bodyPr>
            <a:normAutofit/>
          </a:bodyPr>
          <a:lstStyle/>
          <a:p>
            <a:pPr algn="just"/>
            <a:r>
              <a:rPr lang="en-US" sz="2800" dirty="0"/>
              <a:t>Comparison</a:t>
            </a:r>
          </a:p>
          <a:p>
            <a:pPr lvl="1" algn="just">
              <a:lnSpc>
                <a:spcPct val="150000"/>
              </a:lnSpc>
            </a:pPr>
            <a:r>
              <a:rPr lang="en-US" dirty="0"/>
              <a:t>Set of Persons/Things </a:t>
            </a:r>
          </a:p>
          <a:p>
            <a:pPr lvl="1" algn="just">
              <a:lnSpc>
                <a:spcPct val="150000"/>
              </a:lnSpc>
            </a:pPr>
            <a:r>
              <a:rPr lang="en-US" dirty="0"/>
              <a:t>One or More Qualities</a:t>
            </a:r>
          </a:p>
          <a:p>
            <a:pPr lvl="1" algn="just">
              <a:lnSpc>
                <a:spcPct val="150000"/>
              </a:lnSpc>
            </a:pPr>
            <a:r>
              <a:rPr lang="en-US" dirty="0"/>
              <a:t>Analyze - Whole Information</a:t>
            </a:r>
          </a:p>
          <a:p>
            <a:pPr lvl="1" algn="just">
              <a:lnSpc>
                <a:spcPct val="150000"/>
              </a:lnSpc>
            </a:pPr>
            <a:r>
              <a:rPr lang="en-US" dirty="0"/>
              <a:t>Proper Ascending/Descending Sequence</a:t>
            </a:r>
            <a:endParaRPr lang="en-IN" dirty="0"/>
          </a:p>
          <a:p>
            <a:pPr lvl="1" algn="just">
              <a:lnSpc>
                <a:spcPct val="150000"/>
              </a:lnSpc>
            </a:pPr>
            <a:endParaRPr lang="en-US" sz="2600" dirty="0"/>
          </a:p>
        </p:txBody>
      </p:sp>
    </p:spTree>
    <p:extLst>
      <p:ext uri="{BB962C8B-B14F-4D97-AF65-F5344CB8AC3E}">
        <p14:creationId xmlns:p14="http://schemas.microsoft.com/office/powerpoint/2010/main" val="36440206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sz="2800" dirty="0"/>
              <a:t>Puzzle Test </a:t>
            </a:r>
          </a:p>
          <a:p>
            <a:pPr lvl="2" algn="just">
              <a:lnSpc>
                <a:spcPct val="150000"/>
              </a:lnSpc>
            </a:pPr>
            <a:r>
              <a:rPr lang="en-US" sz="2600" dirty="0"/>
              <a:t>Comparison Type Questions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11022</TotalTime>
  <Words>1394</Words>
  <Application>Microsoft Office PowerPoint</Application>
  <PresentationFormat>On-screen Show (4:3)</PresentationFormat>
  <Paragraphs>133</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Comparison Type Questions</vt:lpstr>
      <vt:lpstr>Problem 1</vt:lpstr>
      <vt:lpstr>Problem 1</vt:lpstr>
      <vt:lpstr>Problem 2</vt:lpstr>
      <vt:lpstr>Problem 2</vt:lpstr>
      <vt:lpstr>Problem 3</vt:lpstr>
      <vt:lpstr>Problem 3</vt:lpstr>
      <vt:lpstr>Problem 4</vt:lpstr>
      <vt:lpstr>Problem 5</vt:lpstr>
      <vt:lpstr>Problem 6</vt:lpstr>
      <vt:lpstr>Problem 7</vt:lpstr>
      <vt:lpstr>Problem 7</vt:lpstr>
      <vt:lpstr>Problem 8</vt:lpstr>
      <vt:lpstr>Problem 8</vt:lpstr>
      <vt:lpstr>Problem 9</vt:lpstr>
      <vt:lpstr>Problem 10</vt:lpstr>
      <vt:lpstr>Problem 11</vt:lpstr>
      <vt:lpstr>Problem 11</vt:lpstr>
      <vt:lpstr>Conclusion</vt:lpstr>
      <vt:lpstr>Summary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my pc</cp:lastModifiedBy>
  <cp:revision>750</cp:revision>
  <dcterms:created xsi:type="dcterms:W3CDTF">2020-12-18T18:59:12Z</dcterms:created>
  <dcterms:modified xsi:type="dcterms:W3CDTF">2022-11-05T07:34:49Z</dcterms:modified>
</cp:coreProperties>
</file>