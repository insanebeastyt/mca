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78" r:id="rId2"/>
    <p:sldId id="279" r:id="rId3"/>
    <p:sldId id="534" r:id="rId4"/>
    <p:sldId id="532" r:id="rId5"/>
    <p:sldId id="554" r:id="rId6"/>
    <p:sldId id="557" r:id="rId7"/>
    <p:sldId id="555" r:id="rId8"/>
    <p:sldId id="558" r:id="rId9"/>
    <p:sldId id="561" r:id="rId10"/>
    <p:sldId id="559" r:id="rId11"/>
    <p:sldId id="556" r:id="rId12"/>
    <p:sldId id="560" r:id="rId13"/>
    <p:sldId id="533" r:id="rId14"/>
    <p:sldId id="564" r:id="rId15"/>
    <p:sldId id="562" r:id="rId16"/>
    <p:sldId id="563" r:id="rId17"/>
    <p:sldId id="567" r:id="rId18"/>
    <p:sldId id="569" r:id="rId19"/>
    <p:sldId id="570" r:id="rId20"/>
    <p:sldId id="565" r:id="rId21"/>
    <p:sldId id="566" r:id="rId22"/>
    <p:sldId id="537" r:id="rId23"/>
    <p:sldId id="573" r:id="rId24"/>
    <p:sldId id="540" r:id="rId25"/>
    <p:sldId id="543" r:id="rId26"/>
    <p:sldId id="574" r:id="rId27"/>
    <p:sldId id="415" r:id="rId28"/>
    <p:sldId id="577" r:id="rId29"/>
    <p:sldId id="578" r:id="rId30"/>
    <p:sldId id="579" r:id="rId31"/>
    <p:sldId id="343" r:id="rId32"/>
    <p:sldId id="346"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32C"/>
    <a:srgbClr val="A8004B"/>
    <a:srgbClr val="262626"/>
    <a:srgbClr val="ABABAB"/>
    <a:srgbClr val="021F28"/>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1574"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5/15/2022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5/15/2022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5/15/2022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5/15/2022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a:bodyPr>
          <a:lstStyle/>
          <a:p>
            <a:pPr lvl="0" algn="just"/>
            <a:r>
              <a:rPr lang="en-US" dirty="0"/>
              <a:t>develop understanding about basics of </a:t>
            </a:r>
            <a:r>
              <a:rPr lang="en-IN" dirty="0"/>
              <a:t>pipes and cisterns</a:t>
            </a:r>
            <a:r>
              <a:rPr lang="en-US" dirty="0"/>
              <a:t>,</a:t>
            </a:r>
          </a:p>
          <a:p>
            <a:pPr lvl="0" algn="just"/>
            <a:r>
              <a:rPr lang="en-US" dirty="0"/>
              <a:t>analyze various important facts and formulae relating to </a:t>
            </a:r>
            <a:r>
              <a:rPr lang="en-IN" dirty="0"/>
              <a:t>pipes and cisterns</a:t>
            </a:r>
            <a:r>
              <a:rPr lang="en-US" dirty="0"/>
              <a:t>.</a:t>
            </a:r>
          </a:p>
        </p:txBody>
      </p:sp>
    </p:spTree>
    <p:extLst>
      <p:ext uri="{BB962C8B-B14F-4D97-AF65-F5344CB8AC3E}">
        <p14:creationId xmlns:p14="http://schemas.microsoft.com/office/powerpoint/2010/main" val="1299154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Pipes &amp; Cisterns</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To Fill/Emptying –Tank</a:t>
            </a:r>
            <a:r>
              <a:rPr lang="en-IN" dirty="0"/>
              <a:t>/</a:t>
            </a:r>
            <a:r>
              <a:rPr lang="en-US" dirty="0"/>
              <a:t>C</a:t>
            </a:r>
            <a:r>
              <a:rPr lang="en-IN" dirty="0" err="1"/>
              <a:t>istern</a:t>
            </a:r>
            <a:r>
              <a:rPr lang="en-IN" dirty="0"/>
              <a:t> </a:t>
            </a:r>
            <a:endParaRPr lang="en-US" dirty="0"/>
          </a:p>
          <a:p>
            <a:pPr algn="just"/>
            <a:r>
              <a:rPr lang="en-US" dirty="0"/>
              <a:t>Inlet </a:t>
            </a:r>
          </a:p>
          <a:p>
            <a:pPr algn="just"/>
            <a:r>
              <a:rPr lang="en-US" dirty="0"/>
              <a:t>Pipe – To Fill Tank/Cistern </a:t>
            </a:r>
          </a:p>
          <a:p>
            <a:pPr algn="just"/>
            <a:r>
              <a:rPr lang="en-US" dirty="0"/>
              <a:t>Outlet</a:t>
            </a:r>
          </a:p>
          <a:p>
            <a:pPr algn="just"/>
            <a:r>
              <a:rPr lang="en-US" dirty="0"/>
              <a:t>Pipe – Emptying Tank/Cistern </a:t>
            </a:r>
          </a:p>
          <a:p>
            <a:endParaRPr lang="en-US" dirty="0"/>
          </a:p>
          <a:p>
            <a:endParaRPr lang="en-IN" dirty="0"/>
          </a:p>
        </p:txBody>
      </p:sp>
    </p:spTree>
    <p:extLst>
      <p:ext uri="{BB962C8B-B14F-4D97-AF65-F5344CB8AC3E}">
        <p14:creationId xmlns:p14="http://schemas.microsoft.com/office/powerpoint/2010/main" val="3425865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IN" dirty="0"/>
              <a:t>Pipes &amp; Cisterns</a:t>
            </a:r>
          </a:p>
        </p:txBody>
      </p:sp>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Time taken to fill a cistern - Positive </a:t>
            </a:r>
          </a:p>
          <a:p>
            <a:pPr algn="just"/>
            <a:r>
              <a:rPr lang="en-US" dirty="0"/>
              <a:t>Time taken to empty a cistern – Negative</a:t>
            </a:r>
          </a:p>
          <a:p>
            <a:pPr algn="just"/>
            <a:r>
              <a:rPr lang="en-US" dirty="0"/>
              <a:t>Amount of Work Done (Filling/Emptying a Cistern) </a:t>
            </a:r>
          </a:p>
          <a:p>
            <a:pPr marL="0" indent="0" algn="just">
              <a:buNone/>
            </a:pPr>
            <a:r>
              <a:rPr lang="en-US" dirty="0"/>
              <a:t>							         – Unity</a:t>
            </a:r>
          </a:p>
        </p:txBody>
      </p:sp>
    </p:spTree>
    <p:extLst>
      <p:ext uri="{BB962C8B-B14F-4D97-AF65-F5344CB8AC3E}">
        <p14:creationId xmlns:p14="http://schemas.microsoft.com/office/powerpoint/2010/main" val="266612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Inlet - Part of Tank Filled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a:bodyPr>
              <a:lstStyle/>
              <a:p>
                <a:pPr algn="just"/>
                <a:r>
                  <a:rPr lang="en-US" dirty="0"/>
                  <a:t>Time taken by an Inlet to fill the empty tank   = x hours </a:t>
                </a:r>
              </a:p>
              <a:p>
                <a:pPr algn="just"/>
                <a:r>
                  <a:rPr lang="en-US" dirty="0"/>
                  <a:t>Part of the tank filled by an Inlet in 1 hour 	     =	</a:t>
                </a:r>
                <a14:m>
                  <m:oMath xmlns:m="http://schemas.openxmlformats.org/officeDocument/2006/math">
                    <m:f>
                      <m:fPr>
                        <m:ctrlPr>
                          <a:rPr lang="en-US" i="1" smtClean="0">
                            <a:solidFill>
                              <a:srgbClr val="836967"/>
                            </a:solidFill>
                            <a:latin typeface="Cambria Math" panose="02040503050406030204" pitchFamily="18" charset="0"/>
                          </a:rPr>
                        </m:ctrlPr>
                      </m:fPr>
                      <m:num>
                        <m:r>
                          <m:rPr>
                            <m:nor/>
                          </m:rPr>
                          <a:rPr lang="en-US" dirty="0"/>
                          <m:t>1</m:t>
                        </m:r>
                      </m:num>
                      <m:den>
                        <m:r>
                          <m:rPr>
                            <m:nor/>
                          </m:rPr>
                          <a:rPr lang="en-US" b="0" i="0" dirty="0" smtClean="0"/>
                          <m:t>x</m:t>
                        </m:r>
                      </m:den>
                    </m:f>
                  </m:oMath>
                </a14:m>
                <a:r>
                  <a:rPr lang="en-US" dirty="0"/>
                  <a:t> </a:t>
                </a:r>
              </a:p>
              <a:p>
                <a:pPr algn="just"/>
                <a:r>
                  <a:rPr lang="en-US" dirty="0"/>
                  <a:t>Example</a:t>
                </a:r>
              </a:p>
              <a:p>
                <a:pPr lvl="1" algn="just">
                  <a:lnSpc>
                    <a:spcPct val="150000"/>
                  </a:lnSpc>
                </a:pPr>
                <a:r>
                  <a:rPr lang="en-US" dirty="0"/>
                  <a:t>If an inlet takes 3 hours to fill the tank completely then the part of tank filled in one hour is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3</m:t>
                        </m:r>
                      </m:den>
                    </m:f>
                  </m:oMath>
                </a14:m>
                <a:r>
                  <a:rPr lang="en-US" dirty="0"/>
                  <a:t> .</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136"/>
                </a:stretch>
              </a:blipFill>
            </p:spPr>
            <p:txBody>
              <a:bodyPr/>
              <a:lstStyle/>
              <a:p>
                <a:r>
                  <a:rPr lang="en-IN">
                    <a:noFill/>
                  </a:rPr>
                  <a:t> </a:t>
                </a:r>
              </a:p>
            </p:txBody>
          </p:sp>
        </mc:Fallback>
      </mc:AlternateContent>
    </p:spTree>
    <p:extLst>
      <p:ext uri="{BB962C8B-B14F-4D97-AF65-F5344CB8AC3E}">
        <p14:creationId xmlns:p14="http://schemas.microsoft.com/office/powerpoint/2010/main" val="188626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Inlet - Part of Tank Filled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fontScale="92500" lnSpcReduction="10000"/>
              </a:bodyPr>
              <a:lstStyle/>
              <a:p>
                <a:pPr algn="just"/>
                <a:r>
                  <a:rPr lang="en-US" dirty="0"/>
                  <a:t>Example</a:t>
                </a:r>
              </a:p>
              <a:p>
                <a:pPr algn="just"/>
                <a:r>
                  <a:rPr lang="en-US" dirty="0"/>
                  <a:t>Time taken by an inlet to fill the tank = 15 minutes </a:t>
                </a:r>
              </a:p>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15</m:t>
                        </m:r>
                      </m:den>
                    </m:f>
                  </m:oMath>
                </a14:m>
                <a:r>
                  <a:rPr lang="en-US" dirty="0"/>
                  <a:t>th part of the tank is filled in 	  = 1 minute </a:t>
                </a:r>
              </a:p>
              <a:p>
                <a:pPr algn="just"/>
                <a:r>
                  <a:rPr lang="en-US" dirty="0"/>
                  <a:t>1 part of the tank is filled in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f>
                          <m:fPr>
                            <m:ctrlPr>
                              <a:rPr lang="en-US" i="1">
                                <a:solidFill>
                                  <a:srgbClr val="836967"/>
                                </a:solidFill>
                                <a:latin typeface="Cambria Math" panose="02040503050406030204" pitchFamily="18" charset="0"/>
                              </a:rPr>
                            </m:ctrlPr>
                          </m:fPr>
                          <m:num>
                            <m:r>
                              <m:rPr>
                                <m:nor/>
                              </m:rPr>
                              <a:rPr lang="en-US" dirty="0"/>
                              <m:t>1</m:t>
                            </m:r>
                          </m:num>
                          <m:den>
                            <m:r>
                              <m:rPr>
                                <m:nor/>
                              </m:rPr>
                              <a:rPr lang="en-US" dirty="0"/>
                              <m:t>15</m:t>
                            </m:r>
                          </m:den>
                        </m:f>
                      </m:den>
                    </m:f>
                  </m:oMath>
                </a14:m>
                <a:r>
                  <a:rPr lang="en-US" dirty="0"/>
                  <a:t>  = 15 minutes</a:t>
                </a:r>
              </a:p>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3</m:t>
                        </m:r>
                      </m:den>
                    </m:f>
                  </m:oMath>
                </a14:m>
                <a:r>
                  <a:rPr lang="en-US" dirty="0"/>
                  <a:t>rd part of the tank is filled in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3</m:t>
                        </m:r>
                      </m:den>
                    </m:f>
                  </m:oMath>
                </a14:m>
                <a:r>
                  <a:rPr lang="en-US" dirty="0"/>
                  <a:t> x 15</a:t>
                </a:r>
              </a:p>
              <a:p>
                <a:pPr marL="0" indent="0" algn="just">
                  <a:buNone/>
                </a:pPr>
                <a:r>
                  <a:rPr lang="en-US" dirty="0"/>
                  <a:t>						  = 5 minutes</a:t>
                </a:r>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FCB10678-934C-7D8C-1343-52EF4A7698CC}"/>
              </a:ext>
            </a:extLst>
          </p:cNvPr>
          <p:cNvCxnSpPr/>
          <p:nvPr/>
        </p:nvCxnSpPr>
        <p:spPr>
          <a:xfrm flipV="1">
            <a:off x="6768548" y="537706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8E933FF-F489-7BBE-B22E-B45C388738F4}"/>
              </a:ext>
            </a:extLst>
          </p:cNvPr>
          <p:cNvCxnSpPr/>
          <p:nvPr/>
        </p:nvCxnSpPr>
        <p:spPr>
          <a:xfrm flipV="1">
            <a:off x="6115877" y="556922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0FA81A4-94D7-C511-0EF9-74F77588FE29}"/>
              </a:ext>
            </a:extLst>
          </p:cNvPr>
          <p:cNvSpPr txBox="1"/>
          <p:nvPr/>
        </p:nvSpPr>
        <p:spPr>
          <a:xfrm>
            <a:off x="6965744" y="4987858"/>
            <a:ext cx="309700" cy="369332"/>
          </a:xfrm>
          <a:prstGeom prst="rect">
            <a:avLst/>
          </a:prstGeom>
          <a:noFill/>
        </p:spPr>
        <p:txBody>
          <a:bodyPr wrap="none" rtlCol="0">
            <a:spAutoFit/>
          </a:bodyPr>
          <a:lstStyle/>
          <a:p>
            <a:r>
              <a:rPr lang="en-US" dirty="0"/>
              <a:t>5</a:t>
            </a:r>
            <a:endParaRPr lang="en-IN" dirty="0"/>
          </a:p>
        </p:txBody>
      </p:sp>
    </p:spTree>
    <p:extLst>
      <p:ext uri="{BB962C8B-B14F-4D97-AF65-F5344CB8AC3E}">
        <p14:creationId xmlns:p14="http://schemas.microsoft.com/office/powerpoint/2010/main" val="1109804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Outlet - Part of Tank Emptied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lstStyle/>
              <a:p>
                <a:pPr algn="just"/>
                <a:r>
                  <a:rPr lang="en-US" dirty="0"/>
                  <a:t>Time taken by an outlet to empty the full tank = y hours </a:t>
                </a:r>
              </a:p>
              <a:p>
                <a:pPr algn="just"/>
                <a:r>
                  <a:rPr lang="en-US" dirty="0"/>
                  <a:t>Part of the tank emptied by an outlet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r>
                      <a:rPr lang="en-US" i="1" dirty="0">
                        <a:latin typeface="Cambria Math" panose="02040503050406030204" pitchFamily="18" charset="0"/>
                      </a:rPr>
                      <m:t> </m:t>
                    </m:r>
                  </m:oMath>
                </a14:m>
                <a:r>
                  <a:rPr lang="en-US" dirty="0"/>
                  <a:t> </a:t>
                </a:r>
              </a:p>
              <a:p>
                <a:pPr algn="just"/>
                <a:r>
                  <a:rPr lang="en-US" dirty="0"/>
                  <a:t>Example</a:t>
                </a:r>
              </a:p>
              <a:p>
                <a:pPr lvl="1" algn="just">
                  <a:lnSpc>
                    <a:spcPct val="150000"/>
                  </a:lnSpc>
                </a:pPr>
                <a:r>
                  <a:rPr lang="en-US" dirty="0"/>
                  <a:t>If a pipe can empty the full tank in 5 hours then the part of tank emptied in one hour is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5</m:t>
                        </m:r>
                      </m:den>
                    </m:f>
                  </m:oMath>
                </a14:m>
                <a:r>
                  <a:rPr lang="en-US" dirty="0"/>
                  <a:t> .</a:t>
                </a:r>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136"/>
                </a:stretch>
              </a:blipFill>
            </p:spPr>
            <p:txBody>
              <a:bodyPr/>
              <a:lstStyle/>
              <a:p>
                <a:r>
                  <a:rPr lang="en-IN">
                    <a:noFill/>
                  </a:rPr>
                  <a:t> </a:t>
                </a:r>
              </a:p>
            </p:txBody>
          </p:sp>
        </mc:Fallback>
      </mc:AlternateContent>
    </p:spTree>
    <p:extLst>
      <p:ext uri="{BB962C8B-B14F-4D97-AF65-F5344CB8AC3E}">
        <p14:creationId xmlns:p14="http://schemas.microsoft.com/office/powerpoint/2010/main" val="1466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Outlet - Part of Tank Emptied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fontScale="92500" lnSpcReduction="10000"/>
              </a:bodyPr>
              <a:lstStyle/>
              <a:p>
                <a:pPr algn="just"/>
                <a:r>
                  <a:rPr lang="en-US" dirty="0"/>
                  <a:t>Example</a:t>
                </a:r>
              </a:p>
              <a:p>
                <a:pPr algn="just"/>
                <a:r>
                  <a:rPr lang="en-US" dirty="0"/>
                  <a:t>Time taken by an outlet to </a:t>
                </a:r>
                <a:r>
                  <a:rPr lang="en-IN" dirty="0"/>
                  <a:t>empty</a:t>
                </a:r>
                <a:r>
                  <a:rPr lang="en-US" dirty="0"/>
                  <a:t> the tank = 35 minutes </a:t>
                </a:r>
              </a:p>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3</m:t>
                        </m:r>
                        <m:r>
                          <m:rPr>
                            <m:nor/>
                          </m:rPr>
                          <a:rPr lang="en-US" dirty="0"/>
                          <m:t>5</m:t>
                        </m:r>
                      </m:den>
                    </m:f>
                  </m:oMath>
                </a14:m>
                <a:r>
                  <a:rPr lang="en-US" dirty="0"/>
                  <a:t>th part of the tank is </a:t>
                </a:r>
                <a:r>
                  <a:rPr lang="en-IN" dirty="0"/>
                  <a:t>emptied</a:t>
                </a:r>
                <a:r>
                  <a:rPr lang="en-US" dirty="0"/>
                  <a:t> in 	  = 1 minute </a:t>
                </a:r>
              </a:p>
              <a:p>
                <a:pPr algn="just"/>
                <a:r>
                  <a:rPr lang="en-US" dirty="0"/>
                  <a:t>1 part of the tank is </a:t>
                </a:r>
                <a:r>
                  <a:rPr lang="en-IN" dirty="0"/>
                  <a:t>emptied</a:t>
                </a:r>
                <a:r>
                  <a:rPr lang="en-US" dirty="0"/>
                  <a:t> in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3</m:t>
                            </m:r>
                            <m:r>
                              <m:rPr>
                                <m:nor/>
                              </m:rPr>
                              <a:rPr lang="en-US" dirty="0"/>
                              <m:t>5</m:t>
                            </m:r>
                          </m:den>
                        </m:f>
                      </m:den>
                    </m:f>
                  </m:oMath>
                </a14:m>
                <a:r>
                  <a:rPr lang="en-US" dirty="0"/>
                  <a:t>  = 35 minutes</a:t>
                </a:r>
              </a:p>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7</m:t>
                        </m:r>
                      </m:num>
                      <m:den>
                        <m:r>
                          <m:rPr>
                            <m:nor/>
                          </m:rPr>
                          <a:rPr lang="en-US" b="0" i="0" dirty="0" smtClean="0"/>
                          <m:t>5</m:t>
                        </m:r>
                      </m:den>
                    </m:f>
                  </m:oMath>
                </a14:m>
                <a:r>
                  <a:rPr lang="en-US" dirty="0"/>
                  <a:t>th part of the tank is </a:t>
                </a:r>
                <a:r>
                  <a:rPr lang="en-IN" dirty="0"/>
                  <a:t>emptied</a:t>
                </a:r>
                <a:r>
                  <a:rPr lang="en-US" dirty="0"/>
                  <a:t> in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7</m:t>
                        </m:r>
                      </m:num>
                      <m:den>
                        <m:r>
                          <m:rPr>
                            <m:nor/>
                          </m:rPr>
                          <a:rPr lang="en-US" b="0" i="0" dirty="0" smtClean="0"/>
                          <m:t>5</m:t>
                        </m:r>
                      </m:den>
                    </m:f>
                  </m:oMath>
                </a14:m>
                <a:r>
                  <a:rPr lang="en-US" dirty="0"/>
                  <a:t> x 35</a:t>
                </a:r>
              </a:p>
              <a:p>
                <a:pPr marL="0" indent="0" algn="just">
                  <a:buNone/>
                </a:pPr>
                <a:r>
                  <a:rPr lang="en-US" dirty="0"/>
                  <a:t>						  = 49 minutes</a:t>
                </a:r>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D847406D-B2BE-D99A-38F6-BD0A789A9692}"/>
              </a:ext>
            </a:extLst>
          </p:cNvPr>
          <p:cNvCxnSpPr/>
          <p:nvPr/>
        </p:nvCxnSpPr>
        <p:spPr>
          <a:xfrm flipV="1">
            <a:off x="6768548" y="537706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FB09775-433F-0B1A-2B1B-20A7CC67E987}"/>
              </a:ext>
            </a:extLst>
          </p:cNvPr>
          <p:cNvCxnSpPr/>
          <p:nvPr/>
        </p:nvCxnSpPr>
        <p:spPr>
          <a:xfrm flipV="1">
            <a:off x="6115877" y="556922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75F9921-6CA1-C5D2-FBCA-1E4E93B9F12E}"/>
              </a:ext>
            </a:extLst>
          </p:cNvPr>
          <p:cNvSpPr txBox="1"/>
          <p:nvPr/>
        </p:nvSpPr>
        <p:spPr>
          <a:xfrm>
            <a:off x="7055195" y="4987858"/>
            <a:ext cx="309700" cy="369332"/>
          </a:xfrm>
          <a:prstGeom prst="rect">
            <a:avLst/>
          </a:prstGeom>
          <a:noFill/>
        </p:spPr>
        <p:txBody>
          <a:bodyPr wrap="none" rtlCol="0">
            <a:spAutoFit/>
          </a:bodyPr>
          <a:lstStyle/>
          <a:p>
            <a:r>
              <a:rPr lang="en-US" dirty="0"/>
              <a:t>7</a:t>
            </a:r>
            <a:endParaRPr lang="en-IN" dirty="0"/>
          </a:p>
        </p:txBody>
      </p:sp>
    </p:spTree>
    <p:extLst>
      <p:ext uri="{BB962C8B-B14F-4D97-AF65-F5344CB8AC3E}">
        <p14:creationId xmlns:p14="http://schemas.microsoft.com/office/powerpoint/2010/main" val="3946580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Inlet &amp; Outlet – Net Part of Tank Filled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fontScale="92500"/>
              </a:bodyPr>
              <a:lstStyle/>
              <a:p>
                <a:pPr algn="just"/>
                <a:r>
                  <a:rPr lang="en-US" dirty="0"/>
                  <a:t>Both inlet and outlet are open.</a:t>
                </a:r>
              </a:p>
              <a:p>
                <a:pPr algn="just"/>
                <a:r>
                  <a:rPr lang="en-US" dirty="0"/>
                  <a:t>Time taken by an Inlet to fill empty tank	 = x hours </a:t>
                </a:r>
              </a:p>
              <a:p>
                <a:pPr algn="just">
                  <a:lnSpc>
                    <a:spcPct val="120000"/>
                  </a:lnSpc>
                </a:pPr>
                <a:r>
                  <a:rPr lang="en-US" dirty="0"/>
                  <a:t>Part of the tank filled by an Inlet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oMath>
                </a14:m>
                <a:r>
                  <a:rPr lang="en-US" dirty="0"/>
                  <a:t> </a:t>
                </a:r>
              </a:p>
              <a:p>
                <a:pPr algn="just">
                  <a:lnSpc>
                    <a:spcPct val="120000"/>
                  </a:lnSpc>
                </a:pPr>
                <a:r>
                  <a:rPr lang="en-US" dirty="0"/>
                  <a:t>Time taken by an outlet to empty the full tank = y hours </a:t>
                </a:r>
              </a:p>
              <a:p>
                <a:pPr algn="just">
                  <a:lnSpc>
                    <a:spcPct val="120000"/>
                  </a:lnSpc>
                </a:pPr>
                <a:r>
                  <a:rPr lang="en-US" dirty="0"/>
                  <a:t>Part of the tank emptied by an outlet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r>
                      <a:rPr lang="en-US" i="1" dirty="0">
                        <a:latin typeface="Cambria Math" panose="02040503050406030204" pitchFamily="18" charset="0"/>
                      </a:rPr>
                      <m:t> </m:t>
                    </m:r>
                  </m:oMath>
                </a14:m>
                <a:r>
                  <a:rPr lang="en-US" dirty="0"/>
                  <a:t> </a:t>
                </a:r>
              </a:p>
              <a:p>
                <a:pPr algn="just">
                  <a:lnSpc>
                    <a:spcPct val="120000"/>
                  </a:lnSpc>
                </a:pPr>
                <a:r>
                  <a:rPr lang="en-US" dirty="0"/>
                  <a:t>If y &gt; x then net part of the tank filled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r>
                      <a:rPr lang="en-US" i="1" dirty="0">
                        <a:latin typeface="Cambria Math" panose="02040503050406030204" pitchFamily="18" charset="0"/>
                      </a:rPr>
                      <m:t>  </m:t>
                    </m:r>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spTree>
    <p:extLst>
      <p:ext uri="{BB962C8B-B14F-4D97-AF65-F5344CB8AC3E}">
        <p14:creationId xmlns:p14="http://schemas.microsoft.com/office/powerpoint/2010/main" val="458889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Inlet &amp; Outlet – Net Part of Tank Filled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fontScale="92500"/>
              </a:bodyPr>
              <a:lstStyle/>
              <a:p>
                <a:pPr algn="just"/>
                <a:r>
                  <a:rPr lang="en-US" dirty="0"/>
                  <a:t>An inlet can fill a cistern in 4 hours and an outlet can empty it in 8 hours. If both the inlet and outlet are opened simultaneously, find the time (in hours) to fill the cistern.</a:t>
                </a:r>
              </a:p>
              <a:p>
                <a:pPr algn="just"/>
                <a:r>
                  <a:rPr lang="en-US" dirty="0"/>
                  <a:t>x = 4  hours and y = 8 hours</a:t>
                </a:r>
              </a:p>
              <a:p>
                <a:pPr marL="0" indent="0" algn="just">
                  <a:buNone/>
                </a:pPr>
                <a:r>
                  <a:rPr lang="en-US" dirty="0"/>
                  <a:t>			8 hours  &gt; 4 hours</a:t>
                </a:r>
              </a:p>
              <a:p>
                <a:pPr algn="just">
                  <a:lnSpc>
                    <a:spcPct val="120000"/>
                  </a:lnSpc>
                </a:pPr>
                <a:r>
                  <a:rPr lang="en-US" dirty="0"/>
                  <a:t>If y &gt; x then net part of the cistern filled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y</m:t>
                        </m:r>
                      </m:den>
                    </m:f>
                    <m:r>
                      <a:rPr lang="en-US" i="1" dirty="0">
                        <a:latin typeface="Cambria Math" panose="02040503050406030204" pitchFamily="18" charset="0"/>
                      </a:rPr>
                      <m:t> </m:t>
                    </m:r>
                  </m:oMath>
                </a14:m>
                <a:endParaRPr lang="en-US" dirty="0"/>
              </a:p>
              <a:p>
                <a:pPr algn="just">
                  <a:lnSpc>
                    <a:spcPct val="120000"/>
                  </a:lnSpc>
                </a:pPr>
                <a:r>
                  <a:rPr lang="en-US" dirty="0"/>
                  <a:t>Part of the cistern filled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4</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8</m:t>
                        </m:r>
                      </m:den>
                    </m:f>
                    <m:r>
                      <a:rPr lang="en-US" i="1" dirty="0">
                        <a:latin typeface="Cambria Math" panose="02040503050406030204" pitchFamily="18" charset="0"/>
                      </a:rPr>
                      <m:t> </m:t>
                    </m:r>
                  </m:oMath>
                </a14:m>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2 − 1</m:t>
                        </m:r>
                      </m:num>
                      <m:den>
                        <m:r>
                          <m:rPr>
                            <m:nor/>
                          </m:rPr>
                          <a:rPr lang="en-US" b="0" i="0" dirty="0" smtClean="0"/>
                          <m:t>8</m:t>
                        </m:r>
                      </m:den>
                    </m:f>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8</m:t>
                        </m:r>
                      </m:den>
                    </m:f>
                  </m:oMath>
                </a14:m>
                <a:r>
                  <a:rPr lang="en-US" dirty="0"/>
                  <a:t> </a:t>
                </a:r>
              </a:p>
              <a:p>
                <a:pPr algn="just">
                  <a:lnSpc>
                    <a:spcPct val="120000"/>
                  </a:lnSpc>
                </a:pPr>
                <a:r>
                  <a:rPr lang="en-US" dirty="0"/>
                  <a:t>Time taken to fill the cistern = 8 hours</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r="-1136" b="-2034"/>
                </a:stretch>
              </a:blipFill>
            </p:spPr>
            <p:txBody>
              <a:bodyPr/>
              <a:lstStyle/>
              <a:p>
                <a:r>
                  <a:rPr lang="en-IN">
                    <a:noFill/>
                  </a:rPr>
                  <a:t> </a:t>
                </a:r>
              </a:p>
            </p:txBody>
          </p:sp>
        </mc:Fallback>
      </mc:AlternateContent>
    </p:spTree>
    <p:extLst>
      <p:ext uri="{BB962C8B-B14F-4D97-AF65-F5344CB8AC3E}">
        <p14:creationId xmlns:p14="http://schemas.microsoft.com/office/powerpoint/2010/main" val="2319713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Inlet &amp; Outlet – Net Part of Tank </a:t>
            </a:r>
            <a:r>
              <a:rPr lang="en-IN" dirty="0"/>
              <a:t>Emptied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fontScale="92500"/>
              </a:bodyPr>
              <a:lstStyle/>
              <a:p>
                <a:pPr algn="just"/>
                <a:r>
                  <a:rPr lang="en-US" dirty="0"/>
                  <a:t>Both inlet and outlet are open.</a:t>
                </a:r>
              </a:p>
              <a:p>
                <a:pPr algn="just"/>
                <a:r>
                  <a:rPr lang="en-US" dirty="0"/>
                  <a:t>Time taken by an Inlet to fill empty tank	 = x hours </a:t>
                </a:r>
              </a:p>
              <a:p>
                <a:pPr algn="just">
                  <a:lnSpc>
                    <a:spcPct val="120000"/>
                  </a:lnSpc>
                </a:pPr>
                <a:r>
                  <a:rPr lang="en-US" dirty="0"/>
                  <a:t>Part of the tank filled by an Inlet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oMath>
                </a14:m>
                <a:r>
                  <a:rPr lang="en-US" dirty="0"/>
                  <a:t> </a:t>
                </a:r>
              </a:p>
              <a:p>
                <a:pPr algn="just">
                  <a:lnSpc>
                    <a:spcPct val="120000"/>
                  </a:lnSpc>
                </a:pPr>
                <a:r>
                  <a:rPr lang="en-US" dirty="0"/>
                  <a:t>Time taken by an outlet to empty the full tank = y hours </a:t>
                </a:r>
              </a:p>
              <a:p>
                <a:pPr algn="just">
                  <a:lnSpc>
                    <a:spcPct val="120000"/>
                  </a:lnSpc>
                </a:pPr>
                <a:r>
                  <a:rPr lang="en-US" dirty="0"/>
                  <a:t>Part of the tank emptied by an outlet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r>
                      <a:rPr lang="en-US" i="1" dirty="0">
                        <a:latin typeface="Cambria Math" panose="02040503050406030204" pitchFamily="18" charset="0"/>
                      </a:rPr>
                      <m:t> </m:t>
                    </m:r>
                  </m:oMath>
                </a14:m>
                <a:r>
                  <a:rPr lang="en-US" dirty="0"/>
                  <a:t> </a:t>
                </a:r>
              </a:p>
              <a:p>
                <a:pPr algn="just">
                  <a:lnSpc>
                    <a:spcPct val="120000"/>
                  </a:lnSpc>
                </a:pPr>
                <a:r>
                  <a:rPr lang="en-US" dirty="0"/>
                  <a:t>If x &gt; y then net part of the tank </a:t>
                </a:r>
                <a:r>
                  <a:rPr lang="en-IN" dirty="0"/>
                  <a:t>emptied</a:t>
                </a:r>
                <a:r>
                  <a:rPr lang="en-US" dirty="0"/>
                  <a:t>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r>
                      <a:rPr lang="en-US" i="1" dirty="0">
                        <a:latin typeface="Cambria Math" panose="02040503050406030204" pitchFamily="18" charset="0"/>
                      </a:rPr>
                      <m:t> </m:t>
                    </m:r>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spTree>
    <p:extLst>
      <p:ext uri="{BB962C8B-B14F-4D97-AF65-F5344CB8AC3E}">
        <p14:creationId xmlns:p14="http://schemas.microsoft.com/office/powerpoint/2010/main" val="836845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p:txBody>
          <a:bodyPr/>
          <a:lstStyle/>
          <a:p>
            <a:r>
              <a:rPr lang="en-US" dirty="0"/>
              <a:t>Inlet &amp; Outlet – Net Part of Tank </a:t>
            </a:r>
            <a:r>
              <a:rPr lang="en-IN" dirty="0"/>
              <a:t>Emptied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rmAutofit fontScale="92500" lnSpcReduction="20000"/>
              </a:bodyPr>
              <a:lstStyle/>
              <a:p>
                <a:pPr algn="just"/>
                <a:r>
                  <a:rPr lang="en-US" dirty="0"/>
                  <a:t>An inlet can fill a cistern in 20 hours and an outlet can empty it in 10 hours. If both the inlet and outlet are opened simultaneously, find the time (in hours) to emptied the cistern.</a:t>
                </a:r>
              </a:p>
              <a:p>
                <a:pPr algn="just"/>
                <a:r>
                  <a:rPr lang="en-US" dirty="0"/>
                  <a:t>x = 20  hours and y = 10 hours</a:t>
                </a:r>
              </a:p>
              <a:p>
                <a:pPr marL="0" indent="0" algn="just">
                  <a:buNone/>
                </a:pPr>
                <a:r>
                  <a:rPr lang="en-US" dirty="0"/>
                  <a:t>		20 hours  &gt; 10 hours</a:t>
                </a:r>
              </a:p>
              <a:p>
                <a:pPr algn="just">
                  <a:lnSpc>
                    <a:spcPct val="120000"/>
                  </a:lnSpc>
                </a:pPr>
                <a:r>
                  <a:rPr lang="en-US" dirty="0"/>
                  <a:t>If x &gt; y then net part of the cistern emptied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r>
                      <a:rPr lang="en-US" i="1" dirty="0">
                        <a:latin typeface="Cambria Math" panose="02040503050406030204" pitchFamily="18" charset="0"/>
                      </a:rPr>
                      <m:t> </m:t>
                    </m:r>
                  </m:oMath>
                </a14:m>
                <a:endParaRPr lang="en-US" dirty="0"/>
              </a:p>
              <a:p>
                <a:pPr algn="just">
                  <a:lnSpc>
                    <a:spcPct val="120000"/>
                  </a:lnSpc>
                </a:pPr>
                <a:r>
                  <a:rPr lang="en-US" dirty="0"/>
                  <a:t>Part of the cistern emptied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10</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20</m:t>
                        </m:r>
                      </m:den>
                    </m:f>
                    <m:r>
                      <a:rPr lang="en-US" i="1" dirty="0">
                        <a:latin typeface="Cambria Math" panose="02040503050406030204" pitchFamily="18" charset="0"/>
                      </a:rPr>
                      <m:t> </m:t>
                    </m:r>
                  </m:oMath>
                </a14:m>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2 − 1</m:t>
                        </m:r>
                      </m:num>
                      <m:den>
                        <m:r>
                          <m:rPr>
                            <m:nor/>
                          </m:rPr>
                          <a:rPr lang="en-US" b="0" i="0" dirty="0" smtClean="0"/>
                          <m:t>20</m:t>
                        </m:r>
                      </m:den>
                    </m:f>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20</m:t>
                        </m:r>
                      </m:den>
                    </m:f>
                  </m:oMath>
                </a14:m>
                <a:r>
                  <a:rPr lang="en-US" dirty="0"/>
                  <a:t> </a:t>
                </a:r>
              </a:p>
              <a:p>
                <a:pPr algn="just">
                  <a:lnSpc>
                    <a:spcPct val="120000"/>
                  </a:lnSpc>
                </a:pPr>
                <a:r>
                  <a:rPr lang="en-US" dirty="0"/>
                  <a:t>Time taken to emptied the cistern = 20 hours</a:t>
                </a:r>
              </a:p>
              <a:p>
                <a:pPr algn="just">
                  <a:lnSpc>
                    <a:spcPct val="120000"/>
                  </a:lnSpc>
                </a:pPr>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3902067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Fill/Empty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sz="2400" dirty="0"/>
                  <a:t>Two pipes A, and B can fill/empty a cistern in x and y hours, while working alone. Calculate the time taken to fill/empty the cistern if both the pipes are opened together.</a:t>
                </a:r>
              </a:p>
              <a:p>
                <a:pPr algn="just"/>
                <a:r>
                  <a:rPr lang="en-US" sz="2400" dirty="0"/>
                  <a:t>Part of the cistern filled/emptied by pipe A alone in 1 hour</a:t>
                </a:r>
              </a:p>
              <a:p>
                <a:pPr marL="0" indent="0" algn="just">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1</m:t>
                        </m:r>
                      </m:num>
                      <m:den>
                        <m:r>
                          <m:rPr>
                            <m:nor/>
                          </m:rPr>
                          <a:rPr lang="en-US" sz="2400" dirty="0"/>
                          <m:t>x</m:t>
                        </m:r>
                      </m:den>
                    </m:f>
                  </m:oMath>
                </a14:m>
                <a:endParaRPr lang="en-US" sz="2400" dirty="0"/>
              </a:p>
              <a:p>
                <a:pPr algn="just"/>
                <a:r>
                  <a:rPr lang="en-US" sz="2400" dirty="0"/>
                  <a:t>Part of the cistern filled/emptied by pipe B alone in 1 hour</a:t>
                </a:r>
              </a:p>
              <a:p>
                <a:pPr marL="0" indent="0" algn="just">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1</m:t>
                        </m:r>
                      </m:num>
                      <m:den>
                        <m:r>
                          <m:rPr>
                            <m:nor/>
                          </m:rPr>
                          <a:rPr lang="en-US" sz="2400" b="0" i="0" dirty="0" smtClean="0"/>
                          <m:t>y</m:t>
                        </m:r>
                      </m:den>
                    </m:f>
                  </m:oMath>
                </a14:m>
                <a:endParaRPr lang="en-US" sz="2400"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347954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Fill/Empty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Part of the cistern filled/emptied by both the pipes A &amp; B in 1 hour 				               </a:t>
                </a:r>
              </a:p>
              <a:p>
                <a:pPr marL="0" indent="0" algn="just">
                  <a:lnSpc>
                    <a:spcPct val="10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oMath>
                </a14:m>
                <a:r>
                  <a:rPr lang="en-US" dirty="0"/>
                  <a:t>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US" b="0" i="0" dirty="0" smtClean="0"/>
                          <m:t> + </m:t>
                        </m:r>
                        <m:r>
                          <m:rPr>
                            <m:nor/>
                          </m:rPr>
                          <a:rPr lang="en-US" dirty="0"/>
                          <m:t>y</m:t>
                        </m:r>
                      </m:num>
                      <m:den>
                        <m:r>
                          <m:rPr>
                            <m:nor/>
                          </m:rPr>
                          <a:rPr lang="en-US" dirty="0"/>
                          <m:t>xy</m:t>
                        </m:r>
                      </m:den>
                    </m:f>
                    <m:r>
                      <a:rPr lang="en-US" i="1" dirty="0">
                        <a:latin typeface="Cambria Math" panose="02040503050406030204" pitchFamily="18" charset="0"/>
                      </a:rPr>
                      <m:t> </m:t>
                    </m:r>
                  </m:oMath>
                </a14:m>
                <a:endParaRPr lang="en-US" dirty="0"/>
              </a:p>
              <a:p>
                <a:pPr algn="just"/>
                <a:r>
                  <a:rPr lang="en-US" dirty="0"/>
                  <a:t>Both the pipes A &amp; B together will fill/empty the cistern in </a:t>
                </a:r>
              </a:p>
              <a:p>
                <a:pPr marL="0" indent="0" algn="just">
                  <a:lnSpc>
                    <a:spcPct val="10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xy</m:t>
                        </m:r>
                      </m:num>
                      <m:den>
                        <m:r>
                          <m:rPr>
                            <m:nor/>
                          </m:rPr>
                          <a:rPr lang="en-US" b="0" i="0" dirty="0" smtClean="0"/>
                          <m:t>x</m:t>
                        </m:r>
                        <m:r>
                          <m:rPr>
                            <m:nor/>
                          </m:rPr>
                          <a:rPr lang="en-US" b="0" i="0" dirty="0" smtClean="0"/>
                          <m:t> + </m:t>
                        </m:r>
                        <m:r>
                          <m:rPr>
                            <m:nor/>
                          </m:rPr>
                          <a:rPr lang="en-US" b="0" i="0" dirty="0" smtClean="0"/>
                          <m:t>y</m:t>
                        </m:r>
                      </m:den>
                    </m:f>
                    <m:r>
                      <a:rPr lang="en-US" i="1" dirty="0">
                        <a:latin typeface="Cambria Math" panose="02040503050406030204" pitchFamily="18" charset="0"/>
                      </a:rPr>
                      <m:t> </m:t>
                    </m:r>
                    <m:r>
                      <a:rPr lang="en-US" b="0" i="0" dirty="0" smtClean="0">
                        <a:latin typeface="Cambria Math" panose="02040503050406030204" pitchFamily="18" charset="0"/>
                      </a:rPr>
                      <m:t> </m:t>
                    </m:r>
                  </m:oMath>
                </a14:m>
                <a:r>
                  <a:rPr lang="en-US" dirty="0"/>
                  <a:t>hours</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245183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Three pipes A, B, and C can fill a cistern in x, y and z hours respectively, while working alone. Calculate the time taken to fill the cistern if all the three pipes are opened together.</a:t>
                </a:r>
              </a:p>
              <a:p>
                <a:pPr algn="just">
                  <a:lnSpc>
                    <a:spcPct val="100000"/>
                  </a:lnSpc>
                </a:pPr>
                <a:r>
                  <a:rPr lang="en-US" dirty="0"/>
                  <a:t>Part of the cistern filled by pipe A alone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oMath>
                </a14:m>
                <a:endParaRPr lang="en-US" dirty="0"/>
              </a:p>
              <a:p>
                <a:pPr algn="just">
                  <a:lnSpc>
                    <a:spcPct val="100000"/>
                  </a:lnSpc>
                </a:pPr>
                <a:r>
                  <a:rPr lang="en-US" dirty="0"/>
                  <a:t>Part of the cistern filled by pipe B alone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oMath>
                </a14:m>
                <a:endParaRPr lang="en-US" dirty="0"/>
              </a:p>
              <a:p>
                <a:pPr algn="just">
                  <a:lnSpc>
                    <a:spcPct val="100000"/>
                  </a:lnSpc>
                </a:pPr>
                <a:r>
                  <a:rPr lang="en-US" dirty="0"/>
                  <a:t>Part of the cistern filled by pipe C alone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z</m:t>
                        </m:r>
                      </m:den>
                    </m:f>
                  </m:oMath>
                </a14:m>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005782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Part of the cistern filled by all the three pipes i.e., A, B &amp; C in 1 hour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z</m:t>
                        </m:r>
                      </m:den>
                    </m:f>
                  </m:oMath>
                </a14:m>
                <a:r>
                  <a:rPr lang="en-US" dirty="0"/>
                  <a:t>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 </m:t>
                        </m:r>
                        <m:r>
                          <m:rPr>
                            <m:nor/>
                          </m:rPr>
                          <a:rPr lang="en-US" b="0" i="0" dirty="0" smtClean="0"/>
                          <m:t>yz</m:t>
                        </m:r>
                        <m:r>
                          <m:rPr>
                            <m:nor/>
                          </m:rPr>
                          <a:rPr lang="en-US" b="0" i="0" dirty="0" smtClean="0"/>
                          <m:t> +</m:t>
                        </m:r>
                        <m:r>
                          <m:rPr>
                            <m:nor/>
                          </m:rPr>
                          <a:rPr lang="en-US" dirty="0"/>
                          <m:t>xz</m:t>
                        </m:r>
                        <m:r>
                          <m:rPr>
                            <m:nor/>
                          </m:rPr>
                          <a:rPr lang="en-US" b="0" i="0" dirty="0" smtClean="0"/>
                          <m:t> +</m:t>
                        </m:r>
                        <m:r>
                          <m:rPr>
                            <m:nor/>
                          </m:rPr>
                          <a:rPr lang="en-US" dirty="0" smtClean="0"/>
                          <m:t>xy</m:t>
                        </m:r>
                      </m:num>
                      <m:den>
                        <m:r>
                          <m:rPr>
                            <m:nor/>
                          </m:rPr>
                          <a:rPr lang="en-US" dirty="0"/>
                          <m:t>x</m:t>
                        </m:r>
                        <m:r>
                          <m:rPr>
                            <m:nor/>
                          </m:rPr>
                          <a:rPr lang="en-US" b="0" i="0" dirty="0" smtClean="0"/>
                          <m:t>yz</m:t>
                        </m:r>
                      </m:den>
                    </m:f>
                    <m:r>
                      <a:rPr lang="en-US" i="1" dirty="0">
                        <a:latin typeface="Cambria Math" panose="02040503050406030204" pitchFamily="18" charset="0"/>
                      </a:rPr>
                      <m:t> </m:t>
                    </m:r>
                  </m:oMath>
                </a14:m>
                <a:endParaRPr lang="en-US" dirty="0"/>
              </a:p>
              <a:p>
                <a:pPr algn="just"/>
                <a:r>
                  <a:rPr lang="en-US" dirty="0"/>
                  <a:t>Three pipes together will fill the cistern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yz</m:t>
                        </m:r>
                        <m:r>
                          <m:rPr>
                            <m:nor/>
                          </m:rPr>
                          <a:rPr lang="en-US" dirty="0"/>
                          <m:t> +</m:t>
                        </m:r>
                        <m:r>
                          <m:rPr>
                            <m:nor/>
                          </m:rPr>
                          <a:rPr lang="en-IN" b="0" i="0" dirty="0" smtClean="0"/>
                          <m:t> </m:t>
                        </m:r>
                        <m:r>
                          <m:rPr>
                            <m:nor/>
                          </m:rPr>
                          <a:rPr lang="en-US" dirty="0"/>
                          <m:t>xz</m:t>
                        </m:r>
                        <m:r>
                          <m:rPr>
                            <m:nor/>
                          </m:rPr>
                          <a:rPr lang="en-US" dirty="0"/>
                          <m:t> +</m:t>
                        </m:r>
                        <m:r>
                          <m:rPr>
                            <m:nor/>
                          </m:rPr>
                          <a:rPr lang="en-IN" b="0" i="0" dirty="0" smtClean="0"/>
                          <m:t> </m:t>
                        </m:r>
                        <m:r>
                          <m:rPr>
                            <m:nor/>
                          </m:rPr>
                          <a:rPr lang="en-US" dirty="0"/>
                          <m:t>xy</m:t>
                        </m:r>
                      </m:den>
                    </m:f>
                    <m:r>
                      <a:rPr lang="en-US" i="1" dirty="0">
                        <a:latin typeface="Cambria Math" panose="02040503050406030204" pitchFamily="18" charset="0"/>
                      </a:rPr>
                      <m:t> </m:t>
                    </m:r>
                  </m:oMath>
                </a14:m>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xy</m:t>
                        </m:r>
                        <m:r>
                          <m:rPr>
                            <m:nor/>
                          </m:rPr>
                          <a:rPr lang="en-IN" b="0" i="0" dirty="0" smtClean="0"/>
                          <m:t> + </m:t>
                        </m:r>
                        <m:r>
                          <m:rPr>
                            <m:nor/>
                          </m:rPr>
                          <a:rPr lang="en-US" dirty="0"/>
                          <m:t>yz</m:t>
                        </m:r>
                        <m:r>
                          <m:rPr>
                            <m:nor/>
                          </m:rPr>
                          <a:rPr lang="en-US" dirty="0"/>
                          <m:t> +</m:t>
                        </m:r>
                        <m:r>
                          <m:rPr>
                            <m:nor/>
                          </m:rPr>
                          <a:rPr lang="en-US" dirty="0"/>
                          <m:t>zx</m:t>
                        </m:r>
                        <m:r>
                          <m:rPr>
                            <m:nor/>
                          </m:rPr>
                          <a:rPr lang="en-IN" b="0" i="0" dirty="0" smtClean="0"/>
                          <m:t> </m:t>
                        </m:r>
                      </m:den>
                    </m:f>
                    <m:r>
                      <a:rPr lang="en-US" i="1" dirty="0">
                        <a:latin typeface="Cambria Math" panose="02040503050406030204" pitchFamily="18" charset="0"/>
                      </a:rPr>
                      <m:t> </m:t>
                    </m:r>
                    <m:r>
                      <a:rPr lang="en-US" b="0" i="0" dirty="0" smtClean="0">
                        <a:latin typeface="Cambria Math" panose="02040503050406030204" pitchFamily="18" charset="0"/>
                      </a:rPr>
                      <m:t> </m:t>
                    </m:r>
                  </m:oMath>
                </a14:m>
                <a:r>
                  <a:rPr lang="en-US" dirty="0"/>
                  <a:t>hours</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800450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Two pipes, A and B, can separately fill a cistern in x and y hours respectively, while a third pipe C can empty it in z hours. Three pipes together will fill the cistern in</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m:t>
                        </m:r>
                        <m:r>
                          <a:rPr lang="en-US" i="1" dirty="0" smtClean="0">
                            <a:latin typeface="Cambria Math" panose="02040503050406030204" pitchFamily="18" charset="0"/>
                          </a:rPr>
                          <m:t> </m:t>
                        </m:r>
                        <m:r>
                          <m:rPr>
                            <m:nor/>
                          </m:rPr>
                          <a:rPr lang="en-IN" dirty="0"/>
                          <m:t>(</m:t>
                        </m:r>
                        <m:r>
                          <m:rPr>
                            <m:nor/>
                          </m:rPr>
                          <a:rPr lang="en-IN" b="0" i="0" dirty="0" smtClean="0"/>
                          <m:t>−</m:t>
                        </m:r>
                        <m:r>
                          <m:rPr>
                            <m:nor/>
                          </m:rPr>
                          <a:rPr lang="en-US" dirty="0"/>
                          <m:t>z</m:t>
                        </m:r>
                        <m:r>
                          <m:rPr>
                            <m:nor/>
                          </m:rPr>
                          <a:rPr lang="en-IN" dirty="0"/>
                          <m:t>)</m:t>
                        </m:r>
                      </m:num>
                      <m:den>
                        <m:r>
                          <m:rPr>
                            <m:nor/>
                          </m:rPr>
                          <a:rPr lang="en-US" dirty="0"/>
                          <m:t>xy</m:t>
                        </m:r>
                        <m:r>
                          <m:rPr>
                            <m:nor/>
                          </m:rPr>
                          <a:rPr lang="en-IN" dirty="0"/>
                          <m:t> </m:t>
                        </m:r>
                        <m:r>
                          <m:rPr>
                            <m:nor/>
                          </m:rPr>
                          <a:rPr lang="en-IN" b="0" i="0" dirty="0" smtClean="0"/>
                          <m:t>+</m:t>
                        </m:r>
                        <m:r>
                          <m:rPr>
                            <m:nor/>
                          </m:rPr>
                          <a:rPr lang="en-IN" dirty="0"/>
                          <m:t> </m:t>
                        </m:r>
                        <m:r>
                          <m:rPr>
                            <m:nor/>
                          </m:rPr>
                          <a:rPr lang="en-US" dirty="0"/>
                          <m:t>y</m:t>
                        </m:r>
                        <m:r>
                          <m:rPr>
                            <m:nor/>
                          </m:rPr>
                          <a:rPr lang="en-IN" dirty="0"/>
                          <m:t>(</m:t>
                        </m:r>
                        <m:r>
                          <m:rPr>
                            <m:nor/>
                          </m:rPr>
                          <a:rPr lang="en-IN" b="0" i="0" dirty="0" smtClean="0"/>
                          <m:t>−</m:t>
                        </m:r>
                        <m:r>
                          <m:rPr>
                            <m:nor/>
                          </m:rPr>
                          <a:rPr lang="en-US" dirty="0"/>
                          <m:t>z</m:t>
                        </m:r>
                        <m:r>
                          <m:rPr>
                            <m:nor/>
                          </m:rPr>
                          <a:rPr lang="en-IN" dirty="0"/>
                          <m:t>)</m:t>
                        </m:r>
                        <m:r>
                          <m:rPr>
                            <m:nor/>
                          </m:rPr>
                          <a:rPr lang="en-IN" b="0" i="0" dirty="0" smtClean="0"/>
                          <m:t>+</m:t>
                        </m:r>
                        <m:r>
                          <m:rPr>
                            <m:nor/>
                          </m:rPr>
                          <a:rPr lang="en-IN" dirty="0"/>
                          <m:t>(</m:t>
                        </m:r>
                        <m:r>
                          <m:rPr>
                            <m:nor/>
                          </m:rPr>
                          <a:rPr lang="en-IN" b="0" i="0" dirty="0" smtClean="0"/>
                          <m:t>−</m:t>
                        </m:r>
                        <m:r>
                          <m:rPr>
                            <m:nor/>
                          </m:rPr>
                          <a:rPr lang="en-US" dirty="0"/>
                          <m:t>z</m:t>
                        </m:r>
                        <m:r>
                          <m:rPr>
                            <m:nor/>
                          </m:rPr>
                          <a:rPr lang="en-IN" dirty="0"/>
                          <m:t>)</m:t>
                        </m:r>
                        <m:r>
                          <m:rPr>
                            <m:nor/>
                          </m:rPr>
                          <a:rPr lang="en-US" dirty="0"/>
                          <m:t>x</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t>
                        </m:r>
                        <m:r>
                          <m:rPr>
                            <m:nor/>
                          </m:rPr>
                          <a:rPr lang="en-US" dirty="0"/>
                          <m:t>xyz</m:t>
                        </m:r>
                      </m:num>
                      <m:den>
                        <m:r>
                          <m:rPr>
                            <m:nor/>
                          </m:rPr>
                          <a:rPr lang="en-US" dirty="0"/>
                          <m:t>xy</m:t>
                        </m:r>
                        <m:r>
                          <m:rPr>
                            <m:nor/>
                          </m:rPr>
                          <a:rPr lang="en-IN" dirty="0"/>
                          <m:t> − </m:t>
                        </m:r>
                        <m:r>
                          <m:rPr>
                            <m:nor/>
                          </m:rPr>
                          <a:rPr lang="en-US" dirty="0"/>
                          <m:t>yz</m:t>
                        </m:r>
                        <m:r>
                          <m:rPr>
                            <m:nor/>
                          </m:rPr>
                          <a:rPr lang="en-US" dirty="0"/>
                          <m:t> </m:t>
                        </m:r>
                        <m:r>
                          <m:rPr>
                            <m:nor/>
                          </m:rPr>
                          <a:rPr lang="en-IN" dirty="0"/>
                          <m:t>− </m:t>
                        </m:r>
                        <m:r>
                          <m:rPr>
                            <m:nor/>
                          </m:rPr>
                          <a:rPr lang="en-US" dirty="0"/>
                          <m:t>zx</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294291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Two pipes, A and C, can separately fill a cistern in x  and z hours respectively, while a third pipe B can empty it in y hours. Three pipes together will fill the cistern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b="0" i="0" dirty="0" smtClean="0"/>
                          <m:t> (−</m:t>
                        </m:r>
                        <m:r>
                          <m:rPr>
                            <m:nor/>
                          </m:rPr>
                          <a:rPr lang="en-US" dirty="0"/>
                          <m:t>y</m:t>
                        </m:r>
                        <m:r>
                          <m:rPr>
                            <m:nor/>
                          </m:rPr>
                          <a:rPr lang="en-IN" b="0" i="0" dirty="0" smtClean="0"/>
                          <m:t>) </m:t>
                        </m:r>
                        <m:r>
                          <m:rPr>
                            <m:nor/>
                          </m:rPr>
                          <a:rPr lang="en-US" dirty="0"/>
                          <m:t>z</m:t>
                        </m:r>
                      </m:num>
                      <m:den>
                        <m:r>
                          <m:rPr>
                            <m:nor/>
                          </m:rPr>
                          <a:rPr lang="en-US" dirty="0"/>
                          <m:t>x</m:t>
                        </m:r>
                        <m:r>
                          <m:rPr>
                            <m:nor/>
                          </m:rPr>
                          <a:rPr lang="en-IN" dirty="0"/>
                          <m:t>(</m:t>
                        </m:r>
                        <m:r>
                          <m:rPr>
                            <m:nor/>
                          </m:rPr>
                          <a:rPr lang="en-IN" b="0" i="0" dirty="0" smtClean="0"/>
                          <m:t>−</m:t>
                        </m:r>
                        <m:r>
                          <m:rPr>
                            <m:nor/>
                          </m:rPr>
                          <a:rPr lang="en-US" dirty="0"/>
                          <m:t>y</m:t>
                        </m:r>
                        <m:r>
                          <m:rPr>
                            <m:nor/>
                          </m:rPr>
                          <a:rPr lang="en-IN" dirty="0"/>
                          <m:t>)</m:t>
                        </m:r>
                        <m:r>
                          <m:rPr>
                            <m:nor/>
                          </m:rPr>
                          <a:rPr lang="en-IN" b="0" i="0" dirty="0" smtClean="0"/>
                          <m:t> +</m:t>
                        </m:r>
                        <m:r>
                          <m:rPr>
                            <m:nor/>
                          </m:rPr>
                          <a:rPr lang="en-IN" dirty="0"/>
                          <m:t>(</m:t>
                        </m:r>
                        <m:r>
                          <m:rPr>
                            <m:nor/>
                          </m:rPr>
                          <a:rPr lang="en-IN" b="0" i="0" dirty="0" smtClean="0"/>
                          <m:t>−</m:t>
                        </m:r>
                        <m:r>
                          <m:rPr>
                            <m:nor/>
                          </m:rPr>
                          <a:rPr lang="en-US" dirty="0"/>
                          <m:t>y</m:t>
                        </m:r>
                        <m:r>
                          <m:rPr>
                            <m:nor/>
                          </m:rPr>
                          <a:rPr lang="en-IN" dirty="0"/>
                          <m:t>)</m:t>
                        </m:r>
                        <m:r>
                          <m:rPr>
                            <m:nor/>
                          </m:rPr>
                          <a:rPr lang="en-US" dirty="0"/>
                          <m:t>z</m:t>
                        </m:r>
                        <m:r>
                          <m:rPr>
                            <m:nor/>
                          </m:rPr>
                          <a:rPr lang="en-US" dirty="0"/>
                          <m:t> </m:t>
                        </m:r>
                        <m:r>
                          <m:rPr>
                            <m:nor/>
                          </m:rPr>
                          <a:rPr lang="en-IN" b="0" i="0" dirty="0" smtClean="0"/>
                          <m:t>+</m:t>
                        </m:r>
                        <m:r>
                          <m:rPr>
                            <m:nor/>
                          </m:rPr>
                          <a:rPr lang="en-IN" dirty="0"/>
                          <m:t> </m:t>
                        </m:r>
                        <m:r>
                          <m:rPr>
                            <m:nor/>
                          </m:rPr>
                          <a:rPr lang="en-US" dirty="0"/>
                          <m:t>zx</m:t>
                        </m:r>
                      </m:den>
                    </m:f>
                    <m:r>
                      <a:rPr lang="en-US" i="1" dirty="0">
                        <a:latin typeface="Cambria Math" panose="02040503050406030204" pitchFamily="18" charset="0"/>
                      </a:rPr>
                      <m:t> </m:t>
                    </m:r>
                  </m:oMath>
                </a14:m>
                <a:r>
                  <a:rPr lang="en-US" dirty="0"/>
                  <a:t>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b="0" i="0" dirty="0" smtClean="0"/>
                          <m:t>−</m:t>
                        </m:r>
                        <m:r>
                          <m:rPr>
                            <m:nor/>
                          </m:rPr>
                          <a:rPr lang="en-US" dirty="0"/>
                          <m:t>xyz</m:t>
                        </m:r>
                      </m:num>
                      <m:den>
                        <m:r>
                          <m:rPr>
                            <m:nor/>
                          </m:rPr>
                          <a:rPr lang="en-IN" b="0" i="0" dirty="0" smtClean="0"/>
                          <m:t>−</m:t>
                        </m:r>
                        <m:r>
                          <m:rPr>
                            <m:nor/>
                          </m:rPr>
                          <a:rPr lang="en-US" dirty="0"/>
                          <m:t>xy</m:t>
                        </m:r>
                        <m:r>
                          <m:rPr>
                            <m:nor/>
                          </m:rPr>
                          <a:rPr lang="en-IN" dirty="0"/>
                          <m:t> </m:t>
                        </m:r>
                        <m:r>
                          <m:rPr>
                            <m:nor/>
                          </m:rPr>
                          <a:rPr lang="en-IN" b="0" i="0" dirty="0" smtClean="0"/>
                          <m:t>−</m:t>
                        </m:r>
                        <m:r>
                          <m:rPr>
                            <m:nor/>
                          </m:rPr>
                          <a:rPr lang="en-IN" dirty="0"/>
                          <m:t> </m:t>
                        </m:r>
                        <m:r>
                          <m:rPr>
                            <m:nor/>
                          </m:rPr>
                          <a:rPr lang="en-US" dirty="0"/>
                          <m:t>yz</m:t>
                        </m:r>
                        <m:r>
                          <m:rPr>
                            <m:nor/>
                          </m:rPr>
                          <a:rPr lang="en-US" dirty="0"/>
                          <m:t> </m:t>
                        </m:r>
                        <m:r>
                          <m:rPr>
                            <m:nor/>
                          </m:rPr>
                          <a:rPr lang="en-IN" b="0" i="0" dirty="0" smtClean="0"/>
                          <m:t>+</m:t>
                        </m:r>
                        <m:r>
                          <m:rPr>
                            <m:nor/>
                          </m:rPr>
                          <a:rPr lang="en-IN" dirty="0"/>
                          <m:t> </m:t>
                        </m:r>
                        <m:r>
                          <m:rPr>
                            <m:nor/>
                          </m:rPr>
                          <a:rPr lang="en-US" dirty="0"/>
                          <m:t>zx</m:t>
                        </m:r>
                      </m:den>
                    </m:f>
                  </m:oMath>
                </a14:m>
                <a:r>
                  <a:rPr lang="en-US" dirty="0"/>
                  <a:t> hours</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1591596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Two pipes, B and C, can separately fill a cistern in y  and z hours respectively, while a third pipe A can empty it in x hours. Three pipes together will fill the cistern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 (</m:t>
                        </m:r>
                        <m:r>
                          <m:rPr>
                            <m:nor/>
                          </m:rPr>
                          <a:rPr lang="en-IN" b="0" i="0" dirty="0" smtClean="0"/>
                          <m:t>−</m:t>
                        </m:r>
                        <m:r>
                          <m:rPr>
                            <m:nor/>
                          </m:rPr>
                          <a:rPr lang="en-US" dirty="0"/>
                          <m:t>x</m:t>
                        </m:r>
                        <m:r>
                          <m:rPr>
                            <m:nor/>
                          </m:rPr>
                          <a:rPr lang="en-IN" dirty="0"/>
                          <m:t>)</m:t>
                        </m:r>
                        <m:r>
                          <m:rPr>
                            <m:nor/>
                          </m:rPr>
                          <a:rPr lang="en-US" dirty="0"/>
                          <m:t>yz</m:t>
                        </m:r>
                      </m:num>
                      <m:den>
                        <m:r>
                          <a:rPr lang="en-US" i="1" dirty="0" smtClean="0">
                            <a:latin typeface="Cambria Math" panose="02040503050406030204" pitchFamily="18" charset="0"/>
                          </a:rPr>
                          <m:t> </m:t>
                        </m:r>
                        <m:r>
                          <m:rPr>
                            <m:nor/>
                          </m:rPr>
                          <a:rPr lang="en-IN" dirty="0"/>
                          <m:t>(</m:t>
                        </m:r>
                        <m:r>
                          <m:rPr>
                            <m:nor/>
                          </m:rPr>
                          <a:rPr lang="en-IN" b="0" i="0" dirty="0" smtClean="0"/>
                          <m:t>−</m:t>
                        </m:r>
                        <m:r>
                          <m:rPr>
                            <m:nor/>
                          </m:rPr>
                          <a:rPr lang="en-US" dirty="0"/>
                          <m:t>x</m:t>
                        </m:r>
                        <m:r>
                          <m:rPr>
                            <m:nor/>
                          </m:rPr>
                          <a:rPr lang="en-IN" dirty="0"/>
                          <m:t>)</m:t>
                        </m:r>
                        <m:r>
                          <m:rPr>
                            <m:nor/>
                          </m:rPr>
                          <a:rPr lang="en-US" dirty="0"/>
                          <m:t>y</m:t>
                        </m:r>
                        <m:r>
                          <m:rPr>
                            <m:nor/>
                          </m:rPr>
                          <a:rPr lang="en-IN" b="0" i="0" dirty="0" smtClean="0"/>
                          <m:t> </m:t>
                        </m:r>
                        <m:r>
                          <m:rPr>
                            <m:nor/>
                          </m:rPr>
                          <a:rPr lang="en-IN" dirty="0"/>
                          <m:t>+</m:t>
                        </m:r>
                        <m:r>
                          <m:rPr>
                            <m:nor/>
                          </m:rPr>
                          <a:rPr lang="en-IN" b="0" i="0" dirty="0" smtClean="0"/>
                          <m:t> </m:t>
                        </m:r>
                        <m:r>
                          <m:rPr>
                            <m:nor/>
                          </m:rPr>
                          <a:rPr lang="en-US" dirty="0"/>
                          <m:t>yz</m:t>
                        </m:r>
                        <m:r>
                          <m:rPr>
                            <m:nor/>
                          </m:rPr>
                          <a:rPr lang="en-US" dirty="0"/>
                          <m:t> </m:t>
                        </m:r>
                        <m:r>
                          <m:rPr>
                            <m:nor/>
                          </m:rPr>
                          <a:rPr lang="en-IN" dirty="0"/>
                          <m:t>+ </m:t>
                        </m:r>
                        <m:r>
                          <m:rPr>
                            <m:nor/>
                          </m:rPr>
                          <a:rPr lang="en-US" dirty="0"/>
                          <m:t>z</m:t>
                        </m:r>
                        <m:r>
                          <a:rPr lang="en-US" i="1" dirty="0" smtClean="0">
                            <a:latin typeface="Cambria Math" panose="02040503050406030204" pitchFamily="18" charset="0"/>
                          </a:rPr>
                          <m:t> </m:t>
                        </m:r>
                        <m:r>
                          <m:rPr>
                            <m:nor/>
                          </m:rPr>
                          <a:rPr lang="en-IN" dirty="0"/>
                          <m:t>(</m:t>
                        </m:r>
                        <m:r>
                          <m:rPr>
                            <m:nor/>
                          </m:rPr>
                          <a:rPr lang="en-IN" b="0" i="0" dirty="0" smtClean="0"/>
                          <m:t>−</m:t>
                        </m:r>
                        <m:r>
                          <m:rPr>
                            <m:nor/>
                          </m:rPr>
                          <a:rPr lang="en-US" dirty="0"/>
                          <m:t>x</m:t>
                        </m:r>
                        <m:r>
                          <m:rPr>
                            <m:nor/>
                          </m:rPr>
                          <a:rPr lang="en-IN" dirty="0"/>
                          <m:t>)</m:t>
                        </m:r>
                      </m:den>
                    </m:f>
                    <m:r>
                      <a:rPr lang="en-US" i="1" dirty="0">
                        <a:latin typeface="Cambria Math" panose="02040503050406030204" pitchFamily="18" charset="0"/>
                      </a:rPr>
                      <m:t> </m:t>
                    </m:r>
                  </m:oMath>
                </a14:m>
                <a:r>
                  <a:rPr lang="en-US" dirty="0"/>
                  <a:t>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b="0" i="0" dirty="0" smtClean="0"/>
                          <m:t>−</m:t>
                        </m:r>
                        <m:r>
                          <m:rPr>
                            <m:nor/>
                          </m:rPr>
                          <a:rPr lang="en-US" dirty="0"/>
                          <m:t>xyz</m:t>
                        </m:r>
                      </m:num>
                      <m:den>
                        <m:r>
                          <m:rPr>
                            <m:nor/>
                          </m:rPr>
                          <a:rPr lang="en-IN" b="0" i="0" dirty="0" smtClean="0"/>
                          <m:t>−</m:t>
                        </m:r>
                        <m:r>
                          <m:rPr>
                            <m:nor/>
                          </m:rPr>
                          <a:rPr lang="en-US" dirty="0"/>
                          <m:t>xy</m:t>
                        </m:r>
                        <m:r>
                          <m:rPr>
                            <m:nor/>
                          </m:rPr>
                          <a:rPr lang="en-IN" dirty="0"/>
                          <m:t> </m:t>
                        </m:r>
                        <m:r>
                          <m:rPr>
                            <m:nor/>
                          </m:rPr>
                          <a:rPr lang="en-IN" b="0" i="0" dirty="0" smtClean="0"/>
                          <m:t>+</m:t>
                        </m:r>
                        <m:r>
                          <m:rPr>
                            <m:nor/>
                          </m:rPr>
                          <a:rPr lang="en-IN" dirty="0"/>
                          <m:t> </m:t>
                        </m:r>
                        <m:r>
                          <m:rPr>
                            <m:nor/>
                          </m:rPr>
                          <a:rPr lang="en-US" dirty="0"/>
                          <m:t>yz</m:t>
                        </m:r>
                        <m:r>
                          <m:rPr>
                            <m:nor/>
                          </m:rPr>
                          <a:rPr lang="en-US" dirty="0"/>
                          <m:t> </m:t>
                        </m:r>
                        <m:r>
                          <m:rPr>
                            <m:nor/>
                          </m:rPr>
                          <a:rPr lang="en-IN" b="0" i="0" dirty="0" smtClean="0"/>
                          <m:t>−</m:t>
                        </m:r>
                        <m:r>
                          <m:rPr>
                            <m:nor/>
                          </m:rPr>
                          <a:rPr lang="en-IN" dirty="0"/>
                          <m:t> </m:t>
                        </m:r>
                        <m:r>
                          <m:rPr>
                            <m:nor/>
                          </m:rPr>
                          <a:rPr lang="en-US" dirty="0"/>
                          <m:t>zx</m:t>
                        </m:r>
                      </m:den>
                    </m:f>
                  </m:oMath>
                </a14:m>
                <a:r>
                  <a:rPr lang="en-US" dirty="0"/>
                  <a:t> hours</a:t>
                </a:r>
              </a:p>
              <a:p>
                <a:pPr algn="just"/>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2004434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Empty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Two pipes, A and B, can fill a cistern in x hours and y hours, respectively. There is also an outlet C. If all the three pipes are opened together, the tank is full in z hours. Calculate the time taken by an outlet C to empty the full cistern. </a:t>
                </a:r>
              </a:p>
              <a:p>
                <a:pPr algn="just">
                  <a:lnSpc>
                    <a:spcPct val="100000"/>
                  </a:lnSpc>
                </a:pPr>
                <a:r>
                  <a:rPr lang="en-US" dirty="0"/>
                  <a:t>Part of the cistern filled by pipe A alone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oMath>
                </a14:m>
                <a:endParaRPr lang="en-US" dirty="0"/>
              </a:p>
              <a:p>
                <a:pPr algn="just">
                  <a:lnSpc>
                    <a:spcPct val="100000"/>
                  </a:lnSpc>
                </a:pPr>
                <a:r>
                  <a:rPr lang="en-US" dirty="0"/>
                  <a:t>Part of the cistern filled by pipe B alone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oMath>
                </a14:m>
                <a:endParaRPr lang="en-US" dirty="0"/>
              </a:p>
              <a:p>
                <a:pPr algn="just">
                  <a:lnSpc>
                    <a:spcPct val="100000"/>
                  </a:lnSpc>
                </a:pPr>
                <a:r>
                  <a:rPr lang="en-US" dirty="0"/>
                  <a:t>Part of cistern filled by all the three pipes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z</m:t>
                        </m:r>
                      </m:den>
                    </m:f>
                  </m:oMath>
                </a14:m>
                <a:endParaRPr lang="en-US" dirty="0"/>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r="-1278" b="-1808"/>
                </a:stretch>
              </a:blipFill>
            </p:spPr>
            <p:txBody>
              <a:bodyPr/>
              <a:lstStyle/>
              <a:p>
                <a:r>
                  <a:rPr lang="en-IN">
                    <a:noFill/>
                  </a:rPr>
                  <a:t> </a:t>
                </a:r>
              </a:p>
            </p:txBody>
          </p:sp>
        </mc:Fallback>
      </mc:AlternateContent>
    </p:spTree>
    <p:extLst>
      <p:ext uri="{BB962C8B-B14F-4D97-AF65-F5344CB8AC3E}">
        <p14:creationId xmlns:p14="http://schemas.microsoft.com/office/powerpoint/2010/main" val="3227370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4C39-B0E0-BD7A-1765-DCC0FEA0F377}"/>
              </a:ext>
            </a:extLst>
          </p:cNvPr>
          <p:cNvSpPr>
            <a:spLocks noGrp="1"/>
          </p:cNvSpPr>
          <p:nvPr>
            <p:ph type="title"/>
          </p:nvPr>
        </p:nvSpPr>
        <p:spPr>
          <a:xfrm>
            <a:off x="228600" y="0"/>
            <a:ext cx="8915400" cy="1171575"/>
          </a:xfrm>
        </p:spPr>
        <p:txBody>
          <a:bodyPr/>
          <a:lstStyle/>
          <a:p>
            <a:r>
              <a:rPr lang="en-US" dirty="0"/>
              <a:t>Inlet &amp; Outlet – Time Taken to Empty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5915B7-633C-6653-99F8-6E65621BC51E}"/>
                  </a:ext>
                </a:extLst>
              </p:cNvPr>
              <p:cNvSpPr>
                <a:spLocks noGrp="1"/>
              </p:cNvSpPr>
              <p:nvPr>
                <p:ph idx="1"/>
              </p:nvPr>
            </p:nvSpPr>
            <p:spPr/>
            <p:txBody>
              <a:bodyPr>
                <a:noAutofit/>
              </a:bodyPr>
              <a:lstStyle/>
              <a:p>
                <a:pPr algn="just"/>
                <a:r>
                  <a:rPr lang="en-US" dirty="0"/>
                  <a:t>Part of the cistern emptied by pipe C in 1 hour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y</m:t>
                        </m:r>
                      </m:den>
                    </m:f>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b="0" i="0" dirty="0" smtClean="0"/>
                          <m:t>z</m:t>
                        </m:r>
                      </m:den>
                    </m:f>
                  </m:oMath>
                </a14:m>
                <a:r>
                  <a:rPr lang="en-US" dirty="0"/>
                  <a:t>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 </m:t>
                        </m:r>
                        <m:r>
                          <m:rPr>
                            <m:nor/>
                          </m:rPr>
                          <a:rPr lang="en-US" b="0" i="0" dirty="0" smtClean="0"/>
                          <m:t>yz</m:t>
                        </m:r>
                        <m:r>
                          <m:rPr>
                            <m:nor/>
                          </m:rPr>
                          <a:rPr lang="en-US" b="0" i="0" dirty="0" smtClean="0"/>
                          <m:t> + </m:t>
                        </m:r>
                        <m:r>
                          <m:rPr>
                            <m:nor/>
                          </m:rPr>
                          <a:rPr lang="en-US" dirty="0"/>
                          <m:t>x</m:t>
                        </m:r>
                        <m:r>
                          <m:rPr>
                            <m:nor/>
                          </m:rPr>
                          <a:rPr lang="en-US" b="0" i="0" dirty="0" smtClean="0"/>
                          <m:t>z</m:t>
                        </m:r>
                        <m:r>
                          <m:rPr>
                            <m:nor/>
                          </m:rPr>
                          <a:rPr lang="en-US" b="0" i="0" dirty="0" smtClean="0"/>
                          <m:t> − </m:t>
                        </m:r>
                        <m:r>
                          <m:rPr>
                            <m:nor/>
                          </m:rPr>
                          <a:rPr lang="en-US" dirty="0" smtClean="0"/>
                          <m:t>xy</m:t>
                        </m:r>
                      </m:num>
                      <m:den>
                        <m:r>
                          <m:rPr>
                            <m:nor/>
                          </m:rPr>
                          <a:rPr lang="en-US" dirty="0"/>
                          <m:t>x</m:t>
                        </m:r>
                        <m:r>
                          <m:rPr>
                            <m:nor/>
                          </m:rPr>
                          <a:rPr lang="en-US" b="0" i="0" dirty="0" smtClean="0"/>
                          <m:t>yz</m:t>
                        </m:r>
                      </m:den>
                    </m:f>
                    <m:r>
                      <a:rPr lang="en-US" i="1" dirty="0">
                        <a:latin typeface="Cambria Math" panose="02040503050406030204" pitchFamily="18" charset="0"/>
                      </a:rPr>
                      <m:t> </m:t>
                    </m:r>
                  </m:oMath>
                </a14:m>
                <a:endParaRPr lang="en-US" dirty="0"/>
              </a:p>
              <a:p>
                <a:pPr algn="just"/>
                <a:r>
                  <a:rPr lang="en-US" dirty="0"/>
                  <a:t>An outlet C can empty the full cistern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yz</m:t>
                        </m:r>
                        <m:r>
                          <m:rPr>
                            <m:nor/>
                          </m:rPr>
                          <a:rPr lang="en-US" dirty="0"/>
                          <m:t> + </m:t>
                        </m:r>
                        <m:r>
                          <m:rPr>
                            <m:nor/>
                          </m:rPr>
                          <a:rPr lang="en-US" dirty="0"/>
                          <m:t>xz</m:t>
                        </m:r>
                        <m:r>
                          <m:rPr>
                            <m:nor/>
                          </m:rPr>
                          <a:rPr lang="en-US" dirty="0"/>
                          <m:t> − </m:t>
                        </m:r>
                        <m:r>
                          <m:rPr>
                            <m:nor/>
                          </m:rPr>
                          <a:rPr lang="en-US" dirty="0"/>
                          <m:t>xy</m:t>
                        </m:r>
                      </m:den>
                    </m:f>
                    <m:r>
                      <a:rPr lang="en-US" i="1" dirty="0">
                        <a:latin typeface="Cambria Math" panose="02040503050406030204" pitchFamily="18" charset="0"/>
                      </a:rPr>
                      <m:t> </m:t>
                    </m:r>
                    <m:r>
                      <a:rPr lang="en-US" b="0" i="0" dirty="0" smtClean="0">
                        <a:latin typeface="Cambria Math" panose="02040503050406030204" pitchFamily="18" charset="0"/>
                      </a:rPr>
                      <m:t> </m:t>
                    </m:r>
                  </m:oMath>
                </a14:m>
                <a:r>
                  <a:rPr lang="en-US" dirty="0"/>
                  <a:t>hours</a:t>
                </a:r>
              </a:p>
            </p:txBody>
          </p:sp>
        </mc:Choice>
        <mc:Fallback xmlns="">
          <p:sp>
            <p:nvSpPr>
              <p:cNvPr id="3" name="Content Placeholder 2">
                <a:extLst>
                  <a:ext uri="{FF2B5EF4-FFF2-40B4-BE49-F238E27FC236}">
                    <a16:creationId xmlns:a16="http://schemas.microsoft.com/office/drawing/2014/main" id="{345915B7-633C-6653-99F8-6E65621BC51E}"/>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Tree>
    <p:extLst>
      <p:ext uri="{BB962C8B-B14F-4D97-AF65-F5344CB8AC3E}">
        <p14:creationId xmlns:p14="http://schemas.microsoft.com/office/powerpoint/2010/main" val="3391483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225A-21D6-A064-CD17-8A7E9CCCAB64}"/>
              </a:ext>
            </a:extLst>
          </p:cNvPr>
          <p:cNvSpPr>
            <a:spLocks noGrp="1"/>
          </p:cNvSpPr>
          <p:nvPr>
            <p:ph type="title"/>
          </p:nvPr>
        </p:nvSpPr>
        <p:spPr/>
        <p:txBody>
          <a:bodyPr/>
          <a:lstStyle/>
          <a:p>
            <a:r>
              <a:rPr lang="en-US" dirty="0"/>
              <a:t>Inlet &amp; Outlet – Time Taken to Empty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E551B8-81B1-ADEB-FDDC-8837F5065078}"/>
                  </a:ext>
                </a:extLst>
              </p:cNvPr>
              <p:cNvSpPr>
                <a:spLocks noGrp="1"/>
              </p:cNvSpPr>
              <p:nvPr>
                <p:ph idx="1"/>
              </p:nvPr>
            </p:nvSpPr>
            <p:spPr/>
            <p:txBody>
              <a:bodyPr>
                <a:normAutofit fontScale="92500" lnSpcReduction="20000"/>
              </a:bodyPr>
              <a:lstStyle/>
              <a:p>
                <a:pPr algn="just"/>
                <a:r>
                  <a:rPr lang="en-US" dirty="0"/>
                  <a:t>A cistern takes x hours to be filled by a pipe. But, due to a leak, it is filled in y hours. Calculate the amount of time in which the leak can empty the full tank. </a:t>
                </a:r>
              </a:p>
              <a:p>
                <a:pPr algn="just"/>
                <a:r>
                  <a:rPr lang="en-US" dirty="0"/>
                  <a:t>Part of the cistern filled by pipe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oMath>
                </a14:m>
                <a:endParaRPr lang="en-US" dirty="0"/>
              </a:p>
              <a:p>
                <a:pPr algn="just"/>
                <a:r>
                  <a:rPr lang="en-US" dirty="0"/>
                  <a:t>Part of the cistern emptied by pipe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y</m:t>
                        </m:r>
                      </m:den>
                    </m:f>
                  </m:oMath>
                </a14:m>
                <a:endParaRPr lang="en-US" dirty="0"/>
              </a:p>
              <a:p>
                <a:pPr algn="just"/>
                <a:r>
                  <a:rPr lang="en-US" dirty="0"/>
                  <a:t>Net part of the cistern emptied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y</m:t>
                        </m:r>
                      </m:den>
                    </m:f>
                  </m:oMath>
                </a14:m>
                <a:endParaRPr lang="en-US" dirty="0"/>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b="0" i="0" dirty="0" smtClean="0"/>
                          <m:t>y</m:t>
                        </m:r>
                        <m:r>
                          <m:rPr>
                            <m:nor/>
                          </m:rPr>
                          <a:rPr lang="en-IN" b="0" i="0" dirty="0" smtClean="0"/>
                          <m:t> − </m:t>
                        </m:r>
                        <m:r>
                          <m:rPr>
                            <m:nor/>
                          </m:rPr>
                          <a:rPr lang="en-IN" b="0" i="0" dirty="0" smtClean="0"/>
                          <m:t>x</m:t>
                        </m:r>
                      </m:num>
                      <m:den>
                        <m:r>
                          <m:rPr>
                            <m:nor/>
                          </m:rPr>
                          <a:rPr lang="en-US" dirty="0"/>
                          <m:t>x</m:t>
                        </m:r>
                        <m:r>
                          <m:rPr>
                            <m:nor/>
                          </m:rPr>
                          <a:rPr lang="en-IN" b="0" i="0" dirty="0" smtClean="0"/>
                          <m:t>y</m:t>
                        </m:r>
                      </m:den>
                    </m:f>
                  </m:oMath>
                </a14:m>
                <a:endParaRPr lang="en-US" dirty="0"/>
              </a:p>
            </p:txBody>
          </p:sp>
        </mc:Choice>
        <mc:Fallback xmlns="">
          <p:sp>
            <p:nvSpPr>
              <p:cNvPr id="3" name="Content Placeholder 2">
                <a:extLst>
                  <a:ext uri="{FF2B5EF4-FFF2-40B4-BE49-F238E27FC236}">
                    <a16:creationId xmlns:a16="http://schemas.microsoft.com/office/drawing/2014/main" id="{3CE551B8-81B1-ADEB-FDDC-8837F5065078}"/>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874203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225A-21D6-A064-CD17-8A7E9CCCAB64}"/>
              </a:ext>
            </a:extLst>
          </p:cNvPr>
          <p:cNvSpPr>
            <a:spLocks noGrp="1"/>
          </p:cNvSpPr>
          <p:nvPr>
            <p:ph type="title"/>
          </p:nvPr>
        </p:nvSpPr>
        <p:spPr/>
        <p:txBody>
          <a:bodyPr/>
          <a:lstStyle/>
          <a:p>
            <a:r>
              <a:rPr lang="en-US" dirty="0"/>
              <a:t>Inlet &amp; Outlet – Time Taken to Empty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E551B8-81B1-ADEB-FDDC-8837F5065078}"/>
                  </a:ext>
                </a:extLst>
              </p:cNvPr>
              <p:cNvSpPr>
                <a:spLocks noGrp="1"/>
              </p:cNvSpPr>
              <p:nvPr>
                <p:ph idx="1"/>
              </p:nvPr>
            </p:nvSpPr>
            <p:spPr/>
            <p:txBody>
              <a:bodyPr>
                <a:normAutofit/>
              </a:bodyPr>
              <a:lstStyle/>
              <a:p>
                <a:pPr algn="just"/>
                <a:r>
                  <a:rPr lang="en-US" dirty="0"/>
                  <a:t>Net part of the cistern emptied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y</m:t>
                        </m:r>
                      </m:den>
                    </m:f>
                  </m:oMath>
                </a14:m>
                <a:endParaRPr lang="en-US" dirty="0"/>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y</m:t>
                        </m:r>
                        <m:r>
                          <m:rPr>
                            <m:nor/>
                          </m:rPr>
                          <a:rPr lang="en-IN" dirty="0"/>
                          <m:t> − </m:t>
                        </m:r>
                        <m:r>
                          <m:rPr>
                            <m:nor/>
                          </m:rPr>
                          <a:rPr lang="en-IN" dirty="0"/>
                          <m:t>x</m:t>
                        </m:r>
                      </m:num>
                      <m:den>
                        <m:r>
                          <m:rPr>
                            <m:nor/>
                          </m:rPr>
                          <a:rPr lang="en-US" dirty="0"/>
                          <m:t>x</m:t>
                        </m:r>
                        <m:r>
                          <m:rPr>
                            <m:nor/>
                          </m:rPr>
                          <a:rPr lang="en-IN" dirty="0"/>
                          <m:t>y</m:t>
                        </m:r>
                      </m:den>
                    </m:f>
                  </m:oMath>
                </a14:m>
                <a:endParaRPr lang="en-US" dirty="0"/>
              </a:p>
              <a:p>
                <a:pPr algn="just"/>
                <a:r>
                  <a:rPr lang="en-US" dirty="0"/>
                  <a:t>Amount of time in which the leak can empty the full tank</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m:t>
                        </m:r>
                      </m:num>
                      <m:den>
                        <m:r>
                          <m:rPr>
                            <m:nor/>
                          </m:rPr>
                          <a:rPr lang="en-IN" dirty="0"/>
                          <m:t>y</m:t>
                        </m:r>
                        <m:r>
                          <m:rPr>
                            <m:nor/>
                          </m:rPr>
                          <a:rPr lang="en-IN" dirty="0"/>
                          <m:t> − </m:t>
                        </m:r>
                        <m:r>
                          <m:rPr>
                            <m:nor/>
                          </m:rPr>
                          <a:rPr lang="en-IN" dirty="0"/>
                          <m:t>x</m:t>
                        </m:r>
                      </m:den>
                    </m:f>
                  </m:oMath>
                </a14:m>
                <a:endParaRPr lang="en-IN" dirty="0"/>
              </a:p>
            </p:txBody>
          </p:sp>
        </mc:Choice>
        <mc:Fallback xmlns="">
          <p:sp>
            <p:nvSpPr>
              <p:cNvPr id="3" name="Content Placeholder 2">
                <a:extLst>
                  <a:ext uri="{FF2B5EF4-FFF2-40B4-BE49-F238E27FC236}">
                    <a16:creationId xmlns:a16="http://schemas.microsoft.com/office/drawing/2014/main" id="{3CE551B8-81B1-ADEB-FDDC-8837F5065078}"/>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508563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9C507-DE5A-E660-5598-19860C1FBCDA}"/>
              </a:ext>
            </a:extLst>
          </p:cNvPr>
          <p:cNvSpPr>
            <a:spLocks noGrp="1"/>
          </p:cNvSpPr>
          <p:nvPr>
            <p:ph type="title"/>
          </p:nvPr>
        </p:nvSpPr>
        <p:spPr/>
        <p:txBody>
          <a:bodyPr/>
          <a:lstStyle/>
          <a:p>
            <a:r>
              <a:rPr lang="en-US" dirty="0"/>
              <a:t>Inlet &amp; Outlet – Capacity of Cistern</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468B9B-AABD-B089-5AE6-3352FC8187C4}"/>
                  </a:ext>
                </a:extLst>
              </p:cNvPr>
              <p:cNvSpPr>
                <a:spLocks noGrp="1"/>
              </p:cNvSpPr>
              <p:nvPr>
                <p:ph idx="1"/>
              </p:nvPr>
            </p:nvSpPr>
            <p:spPr/>
            <p:txBody>
              <a:bodyPr>
                <a:normAutofit/>
              </a:bodyPr>
              <a:lstStyle/>
              <a:p>
                <a:pPr algn="just"/>
                <a:r>
                  <a:rPr lang="en-US" dirty="0"/>
                  <a:t>A cistern has a leak which can empty it in x hours. </a:t>
                </a:r>
              </a:p>
              <a:p>
                <a:pPr algn="just"/>
                <a:r>
                  <a:rPr lang="en-US" dirty="0"/>
                  <a:t>A pipe which admits y </a:t>
                </a:r>
                <a:r>
                  <a:rPr lang="en-US" dirty="0" err="1"/>
                  <a:t>litres</a:t>
                </a:r>
                <a:r>
                  <a:rPr lang="en-US" dirty="0"/>
                  <a:t> of water per hour into the cistern is turned on and now the cistern is emptied in z hours. </a:t>
                </a:r>
              </a:p>
              <a:p>
                <a:pPr algn="just"/>
                <a:r>
                  <a:rPr lang="en-US" dirty="0"/>
                  <a:t>Capacity of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m:t>
                        </m:r>
                        <m:r>
                          <m:rPr>
                            <m:nor/>
                          </m:rPr>
                          <a:rPr lang="en-IN" b="0" i="0" dirty="0" smtClean="0"/>
                          <m:t>z</m:t>
                        </m:r>
                      </m:num>
                      <m:den>
                        <m:r>
                          <m:rPr>
                            <m:nor/>
                          </m:rPr>
                          <a:rPr lang="en-IN" b="0" i="0" dirty="0" smtClean="0"/>
                          <m:t>z</m:t>
                        </m:r>
                        <m:r>
                          <m:rPr>
                            <m:nor/>
                          </m:rPr>
                          <a:rPr lang="en-IN" dirty="0"/>
                          <m:t> − </m:t>
                        </m:r>
                        <m:r>
                          <m:rPr>
                            <m:nor/>
                          </m:rPr>
                          <a:rPr lang="en-IN" dirty="0"/>
                          <m:t>x</m:t>
                        </m:r>
                      </m:den>
                    </m:f>
                  </m:oMath>
                </a14:m>
                <a:r>
                  <a:rPr lang="en-US" dirty="0"/>
                  <a:t>  litres</a:t>
                </a:r>
              </a:p>
            </p:txBody>
          </p:sp>
        </mc:Choice>
        <mc:Fallback>
          <p:sp>
            <p:nvSpPr>
              <p:cNvPr id="3" name="Content Placeholder 2">
                <a:extLst>
                  <a:ext uri="{FF2B5EF4-FFF2-40B4-BE49-F238E27FC236}">
                    <a16:creationId xmlns:a16="http://schemas.microsoft.com/office/drawing/2014/main" id="{6C468B9B-AABD-B089-5AE6-3352FC8187C4}"/>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1879335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225A-21D6-A064-CD17-8A7E9CCCAB64}"/>
              </a:ext>
            </a:extLst>
          </p:cNvPr>
          <p:cNvSpPr>
            <a:spLocks noGrp="1"/>
          </p:cNvSpPr>
          <p:nvPr>
            <p:ph type="title"/>
          </p:nvPr>
        </p:nvSpPr>
        <p:spPr/>
        <p:txBody>
          <a:bodyPr/>
          <a:lstStyle/>
          <a:p>
            <a:r>
              <a:rPr lang="en-US" dirty="0"/>
              <a:t>Inlet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E551B8-81B1-ADEB-FDDC-8837F5065078}"/>
                  </a:ext>
                </a:extLst>
              </p:cNvPr>
              <p:cNvSpPr>
                <a:spLocks noGrp="1"/>
              </p:cNvSpPr>
              <p:nvPr>
                <p:ph idx="1"/>
              </p:nvPr>
            </p:nvSpPr>
            <p:spPr/>
            <p:txBody>
              <a:bodyPr>
                <a:normAutofit/>
              </a:bodyPr>
              <a:lstStyle/>
              <a:p>
                <a:pPr algn="just"/>
                <a:r>
                  <a:rPr lang="en-US" dirty="0"/>
                  <a:t>Let an inlet A is ‘m’ times faster than the other inlet B. </a:t>
                </a:r>
              </a:p>
              <a:p>
                <a:pPr lvl="1" algn="just">
                  <a:lnSpc>
                    <a:spcPct val="150000"/>
                  </a:lnSpc>
                </a:pPr>
                <a:r>
                  <a:rPr lang="en-US" dirty="0"/>
                  <a:t>Let inlet B can fill a cistern in x hours.</a:t>
                </a:r>
              </a:p>
              <a:p>
                <a:pPr lvl="1" algn="just">
                  <a:lnSpc>
                    <a:spcPct val="150000"/>
                  </a:lnSpc>
                </a:pPr>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num>
                      <m:den>
                        <m:r>
                          <m:rPr>
                            <m:nor/>
                          </m:rPr>
                          <a:rPr lang="en-IN" b="0" i="0" dirty="0" smtClean="0"/>
                          <m:t>m</m:t>
                        </m:r>
                        <m:r>
                          <m:rPr>
                            <m:nor/>
                          </m:rPr>
                          <a:rPr lang="en-IN" b="0" i="0" dirty="0" smtClean="0"/>
                          <m:t> + 1</m:t>
                        </m:r>
                      </m:den>
                    </m:f>
                  </m:oMath>
                </a14:m>
                <a:r>
                  <a:rPr lang="en-US" dirty="0"/>
                  <a:t>  hours </a:t>
                </a:r>
              </a:p>
              <a:p>
                <a:pPr marL="457200" lvl="1" indent="0" algn="just">
                  <a:lnSpc>
                    <a:spcPct val="150000"/>
                  </a:lnSpc>
                  <a:buNone/>
                </a:pPr>
                <a:endParaRPr lang="en-US" dirty="0"/>
              </a:p>
              <a:p>
                <a:pPr lvl="1" algn="just">
                  <a:lnSpc>
                    <a:spcPct val="150000"/>
                  </a:lnSpc>
                </a:pPr>
                <a:r>
                  <a:rPr lang="en-US" dirty="0"/>
                  <a:t>Let inlet A can fill a cistern in y hours.</a:t>
                </a:r>
              </a:p>
              <a:p>
                <a:pPr lvl="1" algn="just">
                  <a:lnSpc>
                    <a:spcPct val="150000"/>
                  </a:lnSpc>
                </a:pPr>
                <a:r>
                  <a:rPr lang="en-US" dirty="0"/>
                  <a:t>If both the inlets A &amp; B are opened together then the time </a:t>
                </a:r>
                <a:r>
                  <a:rPr lang="en-US" dirty="0" err="1"/>
                  <a:t>takento</a:t>
                </a:r>
                <a:r>
                  <a:rPr lang="en-US" dirty="0"/>
                  <a:t>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b="0" i="0" dirty="0" smtClean="0"/>
                          <m:t>m</m:t>
                        </m:r>
                      </m:num>
                      <m:den>
                        <m:r>
                          <m:rPr>
                            <m:nor/>
                          </m:rPr>
                          <a:rPr lang="en-IN" dirty="0"/>
                          <m:t>m</m:t>
                        </m:r>
                        <m:r>
                          <m:rPr>
                            <m:nor/>
                          </m:rPr>
                          <a:rPr lang="en-IN" dirty="0"/>
                          <m:t> + 1</m:t>
                        </m:r>
                      </m:den>
                    </m:f>
                  </m:oMath>
                </a14:m>
                <a:r>
                  <a:rPr lang="en-US" dirty="0"/>
                  <a:t>}y  hours</a:t>
                </a:r>
                <a:endParaRPr lang="en-US" i="1" dirty="0">
                  <a:solidFill>
                    <a:srgbClr val="836967"/>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3CE551B8-81B1-ADEB-FDDC-8837F5065078}"/>
                  </a:ext>
                </a:extLst>
              </p:cNvPr>
              <p:cNvSpPr>
                <a:spLocks noGrp="1" noRot="1" noChangeAspect="1" noMove="1" noResize="1" noEditPoints="1" noAdjustHandles="1" noChangeArrowheads="1" noChangeShapeType="1" noTextEdit="1"/>
              </p:cNvSpPr>
              <p:nvPr>
                <p:ph idx="1"/>
              </p:nvPr>
            </p:nvSpPr>
            <p:spPr>
              <a:blipFill>
                <a:blip r:embed="rId2"/>
                <a:stretch>
                  <a:fillRect l="-1065" r="-1136"/>
                </a:stretch>
              </a:blipFill>
            </p:spPr>
            <p:txBody>
              <a:bodyPr/>
              <a:lstStyle/>
              <a:p>
                <a:r>
                  <a:rPr lang="en-IN">
                    <a:noFill/>
                  </a:rPr>
                  <a:t> </a:t>
                </a:r>
              </a:p>
            </p:txBody>
          </p:sp>
        </mc:Fallback>
      </mc:AlternateContent>
    </p:spTree>
    <p:extLst>
      <p:ext uri="{BB962C8B-B14F-4D97-AF65-F5344CB8AC3E}">
        <p14:creationId xmlns:p14="http://schemas.microsoft.com/office/powerpoint/2010/main" val="3261720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225A-21D6-A064-CD17-8A7E9CCCAB64}"/>
              </a:ext>
            </a:extLst>
          </p:cNvPr>
          <p:cNvSpPr>
            <a:spLocks noGrp="1"/>
          </p:cNvSpPr>
          <p:nvPr>
            <p:ph type="title"/>
          </p:nvPr>
        </p:nvSpPr>
        <p:spPr/>
        <p:txBody>
          <a:bodyPr/>
          <a:lstStyle/>
          <a:p>
            <a:r>
              <a:rPr lang="en-US" dirty="0"/>
              <a:t>Inlet – Time Taken to Fill Cistern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E551B8-81B1-ADEB-FDDC-8837F5065078}"/>
                  </a:ext>
                </a:extLst>
              </p:cNvPr>
              <p:cNvSpPr>
                <a:spLocks noGrp="1"/>
              </p:cNvSpPr>
              <p:nvPr>
                <p:ph idx="1"/>
              </p:nvPr>
            </p:nvSpPr>
            <p:spPr/>
            <p:txBody>
              <a:bodyPr>
                <a:normAutofit/>
              </a:bodyPr>
              <a:lstStyle/>
              <a:p>
                <a:pPr algn="just"/>
                <a:r>
                  <a:rPr lang="en-US" dirty="0"/>
                  <a:t>Let an inlet A is ‘m’ times faster &amp; takes ‘x’ </a:t>
                </a:r>
                <a:r>
                  <a:rPr lang="en-IN" dirty="0"/>
                  <a:t>minutes less </a:t>
                </a:r>
                <a:r>
                  <a:rPr lang="en-US" dirty="0"/>
                  <a:t>than the other inlet B. </a:t>
                </a:r>
              </a:p>
              <a:p>
                <a:pPr lvl="1" algn="just">
                  <a:lnSpc>
                    <a:spcPct val="150000"/>
                  </a:lnSpc>
                </a:pPr>
                <a:r>
                  <a:rPr lang="en-US" sz="2600" dirty="0"/>
                  <a:t>If both the inlets A &amp; B are opened together then the time taken to fill the cistern 	= </a:t>
                </a:r>
                <a14:m>
                  <m:oMath xmlns:m="http://schemas.openxmlformats.org/officeDocument/2006/math">
                    <m:f>
                      <m:fPr>
                        <m:ctrlPr>
                          <a:rPr lang="en-US" sz="2600" i="1">
                            <a:solidFill>
                              <a:srgbClr val="836967"/>
                            </a:solidFill>
                            <a:latin typeface="Cambria Math" panose="02040503050406030204" pitchFamily="18" charset="0"/>
                          </a:rPr>
                        </m:ctrlPr>
                      </m:fPr>
                      <m:num>
                        <m:r>
                          <m:rPr>
                            <m:nor/>
                          </m:rPr>
                          <a:rPr lang="en-IN" sz="2600" dirty="0"/>
                          <m:t>m</m:t>
                        </m:r>
                        <m:r>
                          <m:rPr>
                            <m:nor/>
                          </m:rPr>
                          <a:rPr lang="en-US" sz="2600" dirty="0"/>
                          <m:t>x</m:t>
                        </m:r>
                      </m:num>
                      <m:den>
                        <m:sSup>
                          <m:sSupPr>
                            <m:ctrlPr>
                              <a:rPr lang="en-US" sz="2600" i="1" dirty="0">
                                <a:solidFill>
                                  <a:srgbClr val="836967"/>
                                </a:solidFill>
                                <a:latin typeface="Cambria Math" panose="02040503050406030204" pitchFamily="18" charset="0"/>
                              </a:rPr>
                            </m:ctrlPr>
                          </m:sSupPr>
                          <m:e>
                            <m:d>
                              <m:dPr>
                                <m:ctrlPr>
                                  <a:rPr lang="en-US" sz="2600" i="1" dirty="0" smtClean="0">
                                    <a:solidFill>
                                      <a:srgbClr val="836967"/>
                                    </a:solidFill>
                                    <a:latin typeface="Cambria Math" panose="02040503050406030204" pitchFamily="18" charset="0"/>
                                  </a:rPr>
                                </m:ctrlPr>
                              </m:dPr>
                              <m:e>
                                <m:r>
                                  <m:rPr>
                                    <m:nor/>
                                  </m:rPr>
                                  <a:rPr lang="en-IN" sz="2600" dirty="0"/>
                                  <m:t>m</m:t>
                                </m:r>
                                <m:r>
                                  <m:rPr>
                                    <m:nor/>
                                  </m:rPr>
                                  <a:rPr lang="en-IN" sz="2600" dirty="0"/>
                                  <m:t> − 1</m:t>
                                </m:r>
                              </m:e>
                            </m:d>
                          </m:e>
                          <m:sup>
                            <m:r>
                              <a:rPr lang="en-US" sz="2600" dirty="0" smtClean="0">
                                <a:latin typeface="Cambria Math" panose="02040503050406030204" pitchFamily="18" charset="0"/>
                              </a:rPr>
                              <m:t>2</m:t>
                            </m:r>
                          </m:sup>
                        </m:sSup>
                      </m:den>
                    </m:f>
                  </m:oMath>
                </a14:m>
                <a:r>
                  <a:rPr lang="en-US" sz="2600" dirty="0"/>
                  <a:t>  hours</a:t>
                </a:r>
              </a:p>
              <a:p>
                <a:pPr lvl="1" algn="just">
                  <a:lnSpc>
                    <a:spcPct val="150000"/>
                  </a:lnSpc>
                </a:pPr>
                <a:r>
                  <a:rPr lang="en-US" sz="2600" dirty="0"/>
                  <a:t>Inlet A will fill the cistern 		= </a:t>
                </a:r>
                <a14:m>
                  <m:oMath xmlns:m="http://schemas.openxmlformats.org/officeDocument/2006/math">
                    <m:f>
                      <m:fPr>
                        <m:ctrlPr>
                          <a:rPr lang="en-US" sz="2600" i="1">
                            <a:solidFill>
                              <a:srgbClr val="836967"/>
                            </a:solidFill>
                            <a:latin typeface="Cambria Math" panose="02040503050406030204" pitchFamily="18" charset="0"/>
                          </a:rPr>
                        </m:ctrlPr>
                      </m:fPr>
                      <m:num>
                        <m:r>
                          <m:rPr>
                            <m:nor/>
                          </m:rPr>
                          <a:rPr lang="en-US" sz="2600" dirty="0"/>
                          <m:t>x</m:t>
                        </m:r>
                      </m:num>
                      <m:den>
                        <m:r>
                          <m:rPr>
                            <m:nor/>
                          </m:rPr>
                          <a:rPr lang="en-IN" sz="2600" dirty="0"/>
                          <m:t>m</m:t>
                        </m:r>
                        <m:r>
                          <m:rPr>
                            <m:nor/>
                          </m:rPr>
                          <a:rPr lang="en-IN" sz="2600" dirty="0"/>
                          <m:t> − 1</m:t>
                        </m:r>
                      </m:den>
                    </m:f>
                  </m:oMath>
                </a14:m>
                <a:r>
                  <a:rPr lang="en-US" sz="2600" dirty="0"/>
                  <a:t>  hours </a:t>
                </a:r>
              </a:p>
              <a:p>
                <a:pPr lvl="1" algn="just">
                  <a:lnSpc>
                    <a:spcPct val="150000"/>
                  </a:lnSpc>
                </a:pPr>
                <a:r>
                  <a:rPr lang="en-US" sz="2600" dirty="0"/>
                  <a:t>Inlet B will fill the cistern 		= </a:t>
                </a:r>
                <a14:m>
                  <m:oMath xmlns:m="http://schemas.openxmlformats.org/officeDocument/2006/math">
                    <m:f>
                      <m:fPr>
                        <m:ctrlPr>
                          <a:rPr lang="en-US" sz="2600" i="1">
                            <a:solidFill>
                              <a:srgbClr val="836967"/>
                            </a:solidFill>
                            <a:latin typeface="Cambria Math" panose="02040503050406030204" pitchFamily="18" charset="0"/>
                          </a:rPr>
                        </m:ctrlPr>
                      </m:fPr>
                      <m:num>
                        <m:r>
                          <m:rPr>
                            <m:nor/>
                          </m:rPr>
                          <a:rPr lang="en-IN" sz="2600" b="0" i="0" dirty="0" smtClean="0"/>
                          <m:t>mx</m:t>
                        </m:r>
                      </m:num>
                      <m:den>
                        <m:r>
                          <m:rPr>
                            <m:nor/>
                          </m:rPr>
                          <a:rPr lang="en-IN" sz="2600" dirty="0"/>
                          <m:t>m</m:t>
                        </m:r>
                        <m:r>
                          <m:rPr>
                            <m:nor/>
                          </m:rPr>
                          <a:rPr lang="en-IN" sz="2600" dirty="0"/>
                          <m:t> − 1</m:t>
                        </m:r>
                      </m:den>
                    </m:f>
                  </m:oMath>
                </a14:m>
                <a:r>
                  <a:rPr lang="en-US" sz="2600" dirty="0"/>
                  <a:t>  hours </a:t>
                </a:r>
              </a:p>
            </p:txBody>
          </p:sp>
        </mc:Choice>
        <mc:Fallback xmlns="">
          <p:sp>
            <p:nvSpPr>
              <p:cNvPr id="3" name="Content Placeholder 2">
                <a:extLst>
                  <a:ext uri="{FF2B5EF4-FFF2-40B4-BE49-F238E27FC236}">
                    <a16:creationId xmlns:a16="http://schemas.microsoft.com/office/drawing/2014/main" id="{3CE551B8-81B1-ADEB-FDDC-8837F5065078}"/>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090205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algn="just">
                  <a:lnSpc>
                    <a:spcPct val="160000"/>
                  </a:lnSpc>
                </a:pPr>
                <a:r>
                  <a:rPr lang="en-US" dirty="0"/>
                  <a:t>If y &gt; x then net part of the tank filled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y</m:t>
                        </m:r>
                      </m:den>
                    </m:f>
                    <m:r>
                      <a:rPr lang="en-US" i="1" dirty="0">
                        <a:latin typeface="Cambria Math" panose="02040503050406030204" pitchFamily="18" charset="0"/>
                      </a:rPr>
                      <m:t> </m:t>
                    </m:r>
                  </m:oMath>
                </a14:m>
                <a:endParaRPr lang="en-US" dirty="0"/>
              </a:p>
              <a:p>
                <a:pPr algn="just">
                  <a:lnSpc>
                    <a:spcPct val="160000"/>
                  </a:lnSpc>
                </a:pPr>
                <a:r>
                  <a:rPr lang="en-US" dirty="0"/>
                  <a:t>If x &gt; y then net part of the tank filled in 1 hour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y</m:t>
                        </m:r>
                      </m:den>
                    </m:f>
                    <m:r>
                      <a:rPr lang="en-US" i="1" dirty="0">
                        <a:latin typeface="Cambria Math" panose="02040503050406030204" pitchFamily="18" charset="0"/>
                      </a:rPr>
                      <m:t> </m:t>
                    </m:r>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x</m:t>
                        </m:r>
                      </m:den>
                    </m:f>
                  </m:oMath>
                </a14:m>
                <a:endParaRPr lang="en-US" dirty="0"/>
              </a:p>
              <a:p>
                <a:pPr algn="just"/>
                <a:r>
                  <a:rPr lang="en-US" dirty="0"/>
                  <a:t>Both the pipes A &amp; B together will fill/empty the cistern in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m:t>
                        </m:r>
                      </m:num>
                      <m:den>
                        <m:r>
                          <m:rPr>
                            <m:nor/>
                          </m:rPr>
                          <a:rPr lang="en-US" dirty="0"/>
                          <m:t>x</m:t>
                        </m:r>
                        <m:r>
                          <m:rPr>
                            <m:nor/>
                          </m:rPr>
                          <a:rPr lang="en-US" dirty="0"/>
                          <m:t> + </m:t>
                        </m:r>
                        <m:r>
                          <m:rPr>
                            <m:nor/>
                          </m:rPr>
                          <a:rPr lang="en-US" dirty="0"/>
                          <m:t>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algn="just"/>
                <a:r>
                  <a:rPr lang="en-US" dirty="0"/>
                  <a:t>Three pipes together will fill the cistern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xy</m:t>
                        </m:r>
                        <m:r>
                          <m:rPr>
                            <m:nor/>
                          </m:rPr>
                          <a:rPr lang="en-IN" dirty="0"/>
                          <m:t> + </m:t>
                        </m:r>
                        <m:r>
                          <m:rPr>
                            <m:nor/>
                          </m:rPr>
                          <a:rPr lang="en-US" dirty="0"/>
                          <m:t>yz</m:t>
                        </m:r>
                        <m:r>
                          <m:rPr>
                            <m:nor/>
                          </m:rPr>
                          <a:rPr lang="en-US" dirty="0"/>
                          <m:t> +</m:t>
                        </m:r>
                        <m:r>
                          <m:rPr>
                            <m:nor/>
                          </m:rPr>
                          <a:rPr lang="en-US" dirty="0"/>
                          <m:t>zx</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Three pipes together will fill the cistern in</a:t>
                </a:r>
                <a14:m>
                  <m:oMath xmlns:m="http://schemas.openxmlformats.org/officeDocument/2006/math">
                    <m:r>
                      <a:rPr lang="en-IN" b="0" i="0" smtClean="0">
                        <a:solidFill>
                          <a:srgbClr val="836967"/>
                        </a:solidFill>
                        <a:latin typeface="Cambria Math" panose="02040503050406030204" pitchFamily="18" charset="0"/>
                      </a:rPr>
                      <m:t> </m:t>
                    </m:r>
                  </m:oMath>
                </a14:m>
                <a:endParaRPr lang="en-IN" b="0" i="0" dirty="0">
                  <a:solidFill>
                    <a:srgbClr val="836967"/>
                  </a:solidFill>
                  <a:latin typeface="Cambria Math" panose="02040503050406030204" pitchFamily="18" charset="0"/>
                </a:endParaRPr>
              </a:p>
              <a:p>
                <a:pPr lvl="1" algn="just">
                  <a:lnSpc>
                    <a:spcPct val="150000"/>
                  </a:lnSpc>
                </a:pP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t>
                        </m:r>
                        <m:r>
                          <m:rPr>
                            <m:nor/>
                          </m:rPr>
                          <a:rPr lang="en-US" dirty="0"/>
                          <m:t>xyz</m:t>
                        </m:r>
                      </m:num>
                      <m:den>
                        <m:r>
                          <m:rPr>
                            <m:nor/>
                          </m:rPr>
                          <a:rPr lang="en-US" dirty="0"/>
                          <m:t>xy</m:t>
                        </m:r>
                        <m:r>
                          <m:rPr>
                            <m:nor/>
                          </m:rPr>
                          <a:rPr lang="en-IN" dirty="0"/>
                          <m:t> − </m:t>
                        </m:r>
                        <m:r>
                          <m:rPr>
                            <m:nor/>
                          </m:rPr>
                          <a:rPr lang="en-US" dirty="0"/>
                          <m:t>yz</m:t>
                        </m:r>
                        <m:r>
                          <m:rPr>
                            <m:nor/>
                          </m:rPr>
                          <a:rPr lang="en-US" dirty="0"/>
                          <m:t> </m:t>
                        </m:r>
                        <m:r>
                          <m:rPr>
                            <m:nor/>
                          </m:rPr>
                          <a:rPr lang="en-IN" dirty="0"/>
                          <m:t>− </m:t>
                        </m:r>
                        <m:r>
                          <m:rPr>
                            <m:nor/>
                          </m:rPr>
                          <a:rPr lang="en-US" dirty="0"/>
                          <m:t>zx</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lvl="1" algn="just">
                  <a:lnSpc>
                    <a:spcPct val="150000"/>
                  </a:lnSpc>
                </a:pP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t>
                        </m:r>
                        <m:r>
                          <m:rPr>
                            <m:nor/>
                          </m:rPr>
                          <a:rPr lang="en-US" dirty="0"/>
                          <m:t>xyz</m:t>
                        </m:r>
                      </m:num>
                      <m:den>
                        <m:r>
                          <m:rPr>
                            <m:nor/>
                          </m:rPr>
                          <a:rPr lang="en-IN" dirty="0"/>
                          <m:t>−</m:t>
                        </m:r>
                        <m:r>
                          <m:rPr>
                            <m:nor/>
                          </m:rPr>
                          <a:rPr lang="en-US" dirty="0"/>
                          <m:t>xy</m:t>
                        </m:r>
                        <m:r>
                          <m:rPr>
                            <m:nor/>
                          </m:rPr>
                          <a:rPr lang="en-IN" dirty="0"/>
                          <m:t> − </m:t>
                        </m:r>
                        <m:r>
                          <m:rPr>
                            <m:nor/>
                          </m:rPr>
                          <a:rPr lang="en-US" dirty="0"/>
                          <m:t>yz</m:t>
                        </m:r>
                        <m:r>
                          <m:rPr>
                            <m:nor/>
                          </m:rPr>
                          <a:rPr lang="en-US" dirty="0"/>
                          <m:t> </m:t>
                        </m:r>
                        <m:r>
                          <m:rPr>
                            <m:nor/>
                          </m:rPr>
                          <a:rPr lang="en-IN" dirty="0"/>
                          <m:t>+ </m:t>
                        </m:r>
                        <m:r>
                          <m:rPr>
                            <m:nor/>
                          </m:rPr>
                          <a:rPr lang="en-US" dirty="0"/>
                          <m:t>zx</m:t>
                        </m:r>
                      </m:den>
                    </m:f>
                  </m:oMath>
                </a14:m>
                <a:r>
                  <a:rPr lang="en-US" dirty="0"/>
                  <a:t> hours </a:t>
                </a:r>
              </a:p>
              <a:p>
                <a:pPr lvl="1" algn="just">
                  <a:lnSpc>
                    <a:spcPct val="150000"/>
                  </a:lnSpc>
                </a:pP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t>
                        </m:r>
                        <m:r>
                          <m:rPr>
                            <m:nor/>
                          </m:rPr>
                          <a:rPr lang="en-US" dirty="0"/>
                          <m:t>xyz</m:t>
                        </m:r>
                      </m:num>
                      <m:den>
                        <m:r>
                          <m:rPr>
                            <m:nor/>
                          </m:rPr>
                          <a:rPr lang="en-IN" dirty="0"/>
                          <m:t>−</m:t>
                        </m:r>
                        <m:r>
                          <m:rPr>
                            <m:nor/>
                          </m:rPr>
                          <a:rPr lang="en-US" dirty="0"/>
                          <m:t>xy</m:t>
                        </m:r>
                        <m:r>
                          <m:rPr>
                            <m:nor/>
                          </m:rPr>
                          <a:rPr lang="en-IN" dirty="0"/>
                          <m:t> + </m:t>
                        </m:r>
                        <m:r>
                          <m:rPr>
                            <m:nor/>
                          </m:rPr>
                          <a:rPr lang="en-US" dirty="0"/>
                          <m:t>yz</m:t>
                        </m:r>
                        <m:r>
                          <m:rPr>
                            <m:nor/>
                          </m:rPr>
                          <a:rPr lang="en-US" dirty="0"/>
                          <m:t> </m:t>
                        </m:r>
                        <m:r>
                          <m:rPr>
                            <m:nor/>
                          </m:rPr>
                          <a:rPr lang="en-IN" dirty="0"/>
                          <m:t>− </m:t>
                        </m:r>
                        <m:r>
                          <m:rPr>
                            <m:nor/>
                          </m:rPr>
                          <a:rPr lang="en-US" dirty="0"/>
                          <m:t>zx</m:t>
                        </m:r>
                      </m:den>
                    </m:f>
                  </m:oMath>
                </a14:m>
                <a:r>
                  <a:rPr lang="en-US" dirty="0"/>
                  <a:t> hours</a:t>
                </a:r>
              </a:p>
              <a:p>
                <a:pPr marL="0" indent="0" algn="just">
                  <a:buNone/>
                </a:pPr>
                <a:endParaRPr lang="en-US" dirty="0"/>
              </a:p>
              <a:p>
                <a:pPr marL="0" indent="0" algn="just">
                  <a:buNone/>
                </a:pPr>
                <a:endParaRPr lang="en-US" dirty="0"/>
              </a:p>
              <a:p>
                <a:pPr marL="0" indent="0" algn="just">
                  <a:buNone/>
                </a:pPr>
                <a:endParaRPr lang="en-US" dirty="0"/>
              </a:p>
              <a:p>
                <a:pPr algn="just">
                  <a:lnSpc>
                    <a:spcPct val="160000"/>
                  </a:lnSpc>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Tree>
    <p:extLst>
      <p:ext uri="{BB962C8B-B14F-4D97-AF65-F5344CB8AC3E}">
        <p14:creationId xmlns:p14="http://schemas.microsoft.com/office/powerpoint/2010/main" val="4076975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Two pipes, A and B, can fill a cistern in x hours and y hours, respectively. There is also an outlet C. An outlet C can empty the full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yz</m:t>
                        </m:r>
                        <m:r>
                          <m:rPr>
                            <m:nor/>
                          </m:rPr>
                          <a:rPr lang="en-US" dirty="0"/>
                          <m:t> + </m:t>
                        </m:r>
                        <m:r>
                          <m:rPr>
                            <m:nor/>
                          </m:rPr>
                          <a:rPr lang="en-US" dirty="0"/>
                          <m:t>xz</m:t>
                        </m:r>
                        <m:r>
                          <m:rPr>
                            <m:nor/>
                          </m:rPr>
                          <a:rPr lang="en-US" dirty="0"/>
                          <m:t> − </m:t>
                        </m:r>
                        <m:r>
                          <m:rPr>
                            <m:nor/>
                          </m:rPr>
                          <a:rPr lang="en-US" dirty="0"/>
                          <m:t>xy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algn="just"/>
                <a:r>
                  <a:rPr lang="en-US" dirty="0"/>
                  <a:t>A cistern takes x hours to be filled by a pipe. But, due to a leak, it is filled in Y hours. Amount of time in which the leak can empty the full tank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m:t>
                        </m:r>
                      </m:num>
                      <m:den>
                        <m:r>
                          <m:rPr>
                            <m:nor/>
                          </m:rPr>
                          <a:rPr lang="en-IN" dirty="0"/>
                          <m:t>y</m:t>
                        </m:r>
                        <m:r>
                          <m:rPr>
                            <m:nor/>
                          </m:rPr>
                          <a:rPr lang="en-IN" dirty="0"/>
                          <m:t> − </m:t>
                        </m:r>
                        <m:r>
                          <m:rPr>
                            <m:nor/>
                          </m:rPr>
                          <a:rPr lang="en-IN" dirty="0"/>
                          <m:t>x</m:t>
                        </m:r>
                      </m:den>
                    </m:f>
                  </m:oMath>
                </a14:m>
                <a:endParaRPr lang="en-IN" dirty="0"/>
              </a:p>
              <a:p>
                <a:pPr marL="0" indent="0" algn="just">
                  <a:buNone/>
                </a:pPr>
                <a:endParaRPr lang="en-US" dirty="0"/>
              </a:p>
              <a:p>
                <a:pPr marL="0" indent="0" algn="just">
                  <a:buNone/>
                </a:pPr>
                <a:endParaRPr lang="en-US" dirty="0"/>
              </a:p>
              <a:p>
                <a:pPr marL="0" indent="0" algn="just">
                  <a:buNone/>
                </a:pPr>
                <a:endParaRPr lang="en-US" dirty="0"/>
              </a:p>
              <a:p>
                <a:pPr algn="just">
                  <a:lnSpc>
                    <a:spcPct val="160000"/>
                  </a:lnSpc>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2352444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lgn="just"/>
                <a:r>
                  <a:rPr lang="en-US" dirty="0"/>
                  <a:t>A cistern has a leak which can empty it in x hours. A pipe which admits y </a:t>
                </a:r>
                <a:r>
                  <a:rPr lang="en-US" dirty="0" err="1"/>
                  <a:t>litres</a:t>
                </a:r>
                <a:r>
                  <a:rPr lang="en-US" dirty="0"/>
                  <a:t> of water per hour into the cistern is turned on and now the cistern is emptied in z hours. Capacity of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yz</m:t>
                        </m:r>
                      </m:num>
                      <m:den>
                        <m:r>
                          <m:rPr>
                            <m:nor/>
                          </m:rPr>
                          <a:rPr lang="en-IN" dirty="0"/>
                          <m:t>z</m:t>
                        </m:r>
                        <m:r>
                          <m:rPr>
                            <m:nor/>
                          </m:rPr>
                          <a:rPr lang="en-IN" dirty="0"/>
                          <m:t> − </m:t>
                        </m:r>
                        <m:r>
                          <m:rPr>
                            <m:nor/>
                          </m:rPr>
                          <a:rPr lang="en-IN" dirty="0"/>
                          <m:t>x</m:t>
                        </m:r>
                      </m:den>
                    </m:f>
                  </m:oMath>
                </a14:m>
                <a:r>
                  <a:rPr lang="en-US" dirty="0"/>
                  <a:t>  litres</a:t>
                </a:r>
              </a:p>
              <a:p>
                <a:pPr marL="0" indent="0" algn="just">
                  <a:buNone/>
                </a:pPr>
                <a:endParaRPr lang="en-US" dirty="0"/>
              </a:p>
              <a:p>
                <a:pPr marL="0" indent="0" algn="just">
                  <a:buNone/>
                </a:pPr>
                <a:endParaRPr lang="en-US" dirty="0"/>
              </a:p>
              <a:p>
                <a:pPr marL="0" indent="0" algn="just">
                  <a:buNone/>
                </a:pPr>
                <a:endParaRPr lang="en-US" dirty="0"/>
              </a:p>
              <a:p>
                <a:pPr algn="just">
                  <a:lnSpc>
                    <a:spcPct val="160000"/>
                  </a:lnSpc>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964831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lvl="0" algn="just"/>
            <a:r>
              <a:rPr lang="en-IN" dirty="0"/>
              <a:t>Pipes &amp; Cisterns</a:t>
            </a:r>
            <a:endParaRPr lang="en-US" dirty="0"/>
          </a:p>
          <a:p>
            <a:pPr lvl="1" algn="just">
              <a:lnSpc>
                <a:spcPct val="150000"/>
              </a:lnSpc>
            </a:pPr>
            <a:r>
              <a:rPr lang="en-US" dirty="0"/>
              <a:t>Basics </a:t>
            </a:r>
          </a:p>
          <a:p>
            <a:pPr lvl="1" algn="just">
              <a:lnSpc>
                <a:spcPct val="150000"/>
              </a:lnSpc>
            </a:pPr>
            <a:r>
              <a:rPr lang="en-US" dirty="0"/>
              <a:t>Facts </a:t>
            </a:r>
          </a:p>
          <a:p>
            <a:pPr lvl="1" algn="just">
              <a:lnSpc>
                <a:spcPct val="150000"/>
              </a:lnSpc>
            </a:pPr>
            <a:r>
              <a:rPr lang="en-US" dirty="0"/>
              <a:t>Formulae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4776</TotalTime>
  <Words>2026</Words>
  <Application>Microsoft Office PowerPoint</Application>
  <PresentationFormat>On-screen Show (4:3)</PresentationFormat>
  <Paragraphs>167</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Bahnschrift</vt:lpstr>
      <vt:lpstr>Bahnschrift SemiBold</vt:lpstr>
      <vt:lpstr>Calibri</vt:lpstr>
      <vt:lpstr>Cambria Math</vt:lpstr>
      <vt:lpstr>Office Theme</vt:lpstr>
      <vt:lpstr>PowerPoint Presentation</vt:lpstr>
      <vt:lpstr>PowerPoint Presentation</vt:lpstr>
      <vt:lpstr>Pipes &amp; Cisterns</vt:lpstr>
      <vt:lpstr>Pipes &amp; Cisterns</vt:lpstr>
      <vt:lpstr>Inlet - Part of Tank Filled</vt:lpstr>
      <vt:lpstr>Inlet - Part of Tank Filled</vt:lpstr>
      <vt:lpstr>Outlet - Part of Tank Emptied</vt:lpstr>
      <vt:lpstr>Outlet - Part of Tank Emptied</vt:lpstr>
      <vt:lpstr>Inlet &amp; Outlet – Net Part of Tank Filled</vt:lpstr>
      <vt:lpstr>Inlet &amp; Outlet – Net Part of Tank Filled</vt:lpstr>
      <vt:lpstr>Inlet &amp; Outlet – Net Part of Tank Emptied</vt:lpstr>
      <vt:lpstr>Inlet &amp; Outlet – Net Part of Tank Emptied</vt:lpstr>
      <vt:lpstr>Inlet &amp; Outlet – Time Taken to Fill/Empty Cistern</vt:lpstr>
      <vt:lpstr>Inlet &amp; Outlet – Time Taken to Fill/Empty Cistern</vt:lpstr>
      <vt:lpstr>Inlet &amp; Outlet – Time Taken to Fill Cistern</vt:lpstr>
      <vt:lpstr>Inlet &amp; Outlet – Time Taken to Fill Cistern</vt:lpstr>
      <vt:lpstr>Inlet &amp; Outlet – Time Taken to Fill Cistern</vt:lpstr>
      <vt:lpstr>Inlet &amp; Outlet – Time Taken to Fill Cistern</vt:lpstr>
      <vt:lpstr>Inlet &amp; Outlet – Time Taken to Fill Cistern</vt:lpstr>
      <vt:lpstr>Inlet &amp; Outlet – Time Taken to Empty Cistern</vt:lpstr>
      <vt:lpstr>Inlet &amp; Outlet – Time Taken to Empty Cistern</vt:lpstr>
      <vt:lpstr>Inlet &amp; Outlet – Time Taken to Empty Cistern</vt:lpstr>
      <vt:lpstr>Inlet &amp; Outlet – Time Taken to Empty Cistern</vt:lpstr>
      <vt:lpstr>Inlet &amp; Outlet – Capacity of Cistern</vt:lpstr>
      <vt:lpstr>Inlet – Time Taken to Fill Cistern</vt:lpstr>
      <vt:lpstr>Inlet – Time Taken to Fill Cistern</vt:lpstr>
      <vt:lpstr>Conclusion</vt:lpstr>
      <vt:lpstr>Conclusion</vt:lpstr>
      <vt:lpstr>Conclusion</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355</cp:revision>
  <dcterms:created xsi:type="dcterms:W3CDTF">2020-12-18T18:59:12Z</dcterms:created>
  <dcterms:modified xsi:type="dcterms:W3CDTF">2022-05-15T13:28:27Z</dcterms:modified>
</cp:coreProperties>
</file>