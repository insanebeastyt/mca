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57" r:id="rId3"/>
    <p:sldId id="266" r:id="rId4"/>
    <p:sldId id="268" r:id="rId5"/>
    <p:sldId id="269" r:id="rId6"/>
    <p:sldId id="271" r:id="rId7"/>
    <p:sldId id="273" r:id="rId8"/>
    <p:sldId id="274" r:id="rId9"/>
    <p:sldId id="275" r:id="rId10"/>
    <p:sldId id="276" r:id="rId11"/>
    <p:sldId id="278" r:id="rId12"/>
    <p:sldId id="280" r:id="rId13"/>
    <p:sldId id="281" r:id="rId14"/>
    <p:sldId id="282" r:id="rId15"/>
    <p:sldId id="283" r:id="rId16"/>
    <p:sldId id="284" r:id="rId17"/>
    <p:sldId id="285" r:id="rId18"/>
    <p:sldId id="287" r:id="rId19"/>
    <p:sldId id="289" r:id="rId20"/>
    <p:sldId id="288" r:id="rId21"/>
    <p:sldId id="259" r:id="rId22"/>
    <p:sldId id="290" r:id="rId23"/>
    <p:sldId id="262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2626"/>
    <a:srgbClr val="ABABAB"/>
    <a:srgbClr val="03232C"/>
    <a:srgbClr val="021F28"/>
    <a:srgbClr val="02222C"/>
    <a:srgbClr val="01141A"/>
    <a:srgbClr val="034155"/>
    <a:srgbClr val="3B3C3E"/>
    <a:srgbClr val="357999"/>
    <a:srgbClr val="A800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3/4/2022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3/4/2022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3/4/2022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3/4/2022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3/4/2022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3/4/2022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3/4/2022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3/4/2022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3/4/2022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Relationship Id="rId5" Type="http://schemas.microsoft.com/office/2007/relationships/hdphoto" Target="../media/hdphoto3.wdp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0270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define basic concepts of calendar,</a:t>
            </a:r>
          </a:p>
          <a:p>
            <a:pPr algn="just"/>
            <a:r>
              <a:rPr lang="en-US" dirty="0"/>
              <a:t>elaborate the relationship among day, week, month and year.</a:t>
            </a:r>
          </a:p>
        </p:txBody>
      </p:sp>
    </p:spTree>
    <p:extLst>
      <p:ext uri="{BB962C8B-B14F-4D97-AF65-F5344CB8AC3E}">
        <p14:creationId xmlns:p14="http://schemas.microsoft.com/office/powerpoint/2010/main" val="2219956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ADAA-5793-4F2C-A542-8C7780F2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AAFEE99-4324-4585-BE2D-61249381CB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81617716"/>
              </p:ext>
            </p:extLst>
          </p:nvPr>
        </p:nvGraphicFramePr>
        <p:xfrm>
          <a:off x="361950" y="1295400"/>
          <a:ext cx="858202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772">
                  <a:extLst>
                    <a:ext uri="{9D8B030D-6E8A-4147-A177-3AD203B41FA5}">
                      <a16:colId xmlns:a16="http://schemas.microsoft.com/office/drawing/2014/main" val="74908249"/>
                    </a:ext>
                  </a:extLst>
                </a:gridCol>
                <a:gridCol w="727904">
                  <a:extLst>
                    <a:ext uri="{9D8B030D-6E8A-4147-A177-3AD203B41FA5}">
                      <a16:colId xmlns:a16="http://schemas.microsoft.com/office/drawing/2014/main" val="780825994"/>
                    </a:ext>
                  </a:extLst>
                </a:gridCol>
                <a:gridCol w="1430338">
                  <a:extLst>
                    <a:ext uri="{9D8B030D-6E8A-4147-A177-3AD203B41FA5}">
                      <a16:colId xmlns:a16="http://schemas.microsoft.com/office/drawing/2014/main" val="294845801"/>
                    </a:ext>
                  </a:extLst>
                </a:gridCol>
                <a:gridCol w="1430338">
                  <a:extLst>
                    <a:ext uri="{9D8B030D-6E8A-4147-A177-3AD203B41FA5}">
                      <a16:colId xmlns:a16="http://schemas.microsoft.com/office/drawing/2014/main" val="2044419022"/>
                    </a:ext>
                  </a:extLst>
                </a:gridCol>
                <a:gridCol w="1430338">
                  <a:extLst>
                    <a:ext uri="{9D8B030D-6E8A-4147-A177-3AD203B41FA5}">
                      <a16:colId xmlns:a16="http://schemas.microsoft.com/office/drawing/2014/main" val="1207394843"/>
                    </a:ext>
                  </a:extLst>
                </a:gridCol>
                <a:gridCol w="1430338">
                  <a:extLst>
                    <a:ext uri="{9D8B030D-6E8A-4147-A177-3AD203B41FA5}">
                      <a16:colId xmlns:a16="http://schemas.microsoft.com/office/drawing/2014/main" val="2248810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Month - Year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80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33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Sunday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latin typeface="+mn-lt"/>
                        </a:rPr>
                        <a:t>13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147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Monday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061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Tuesday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116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Wednesday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30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588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Thursday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31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23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Friday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51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Saturday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987056"/>
                  </a:ext>
                </a:extLst>
              </a:tr>
            </a:tbl>
          </a:graphicData>
        </a:graphic>
      </p:graphicFrame>
      <p:sp>
        <p:nvSpPr>
          <p:cNvPr id="8" name="Oval 7"/>
          <p:cNvSpPr/>
          <p:nvPr/>
        </p:nvSpPr>
        <p:spPr>
          <a:xfrm>
            <a:off x="879754" y="1376712"/>
            <a:ext cx="1089155" cy="422271"/>
          </a:xfrm>
          <a:prstGeom prst="ellipse">
            <a:avLst/>
          </a:prstGeom>
          <a:noFill/>
          <a:ln w="38100">
            <a:solidFill>
              <a:srgbClr val="FF26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Brace 9"/>
          <p:cNvSpPr/>
          <p:nvPr/>
        </p:nvSpPr>
        <p:spPr>
          <a:xfrm>
            <a:off x="2244823" y="2495237"/>
            <a:ext cx="298562" cy="3329093"/>
          </a:xfrm>
          <a:prstGeom prst="rightBrace">
            <a:avLst/>
          </a:prstGeom>
          <a:ln w="38100">
            <a:solidFill>
              <a:srgbClr val="FF26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663687" y="2345635"/>
            <a:ext cx="6159989" cy="3578086"/>
          </a:xfrm>
          <a:prstGeom prst="rect">
            <a:avLst/>
          </a:prstGeom>
          <a:noFill/>
          <a:ln w="38100">
            <a:solidFill>
              <a:srgbClr val="FF26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>
            <a:off x="2463873" y="4159784"/>
            <a:ext cx="138465" cy="2028743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120147" y="6188527"/>
            <a:ext cx="112340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Week</a:t>
            </a:r>
          </a:p>
        </p:txBody>
      </p:sp>
      <p:cxnSp>
        <p:nvCxnSpPr>
          <p:cNvPr id="18" name="Straight Arrow Connector 17"/>
          <p:cNvCxnSpPr>
            <a:cxnSpLocks/>
            <a:stCxn id="11" idx="0"/>
          </p:cNvCxnSpPr>
          <p:nvPr/>
        </p:nvCxnSpPr>
        <p:spPr>
          <a:xfrm flipH="1" flipV="1">
            <a:off x="5179144" y="1749287"/>
            <a:ext cx="564538" cy="596348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31407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ADAA-5793-4F2C-A542-8C7780F2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AAFEE99-4324-4585-BE2D-61249381CB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4801228"/>
              </p:ext>
            </p:extLst>
          </p:nvPr>
        </p:nvGraphicFramePr>
        <p:xfrm>
          <a:off x="361950" y="1295400"/>
          <a:ext cx="858202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93624">
                  <a:extLst>
                    <a:ext uri="{9D8B030D-6E8A-4147-A177-3AD203B41FA5}">
                      <a16:colId xmlns:a16="http://schemas.microsoft.com/office/drawing/2014/main" val="74908249"/>
                    </a:ext>
                  </a:extLst>
                </a:gridCol>
                <a:gridCol w="1192696">
                  <a:extLst>
                    <a:ext uri="{9D8B030D-6E8A-4147-A177-3AD203B41FA5}">
                      <a16:colId xmlns:a16="http://schemas.microsoft.com/office/drawing/2014/main" val="780825994"/>
                    </a:ext>
                  </a:extLst>
                </a:gridCol>
                <a:gridCol w="1104694">
                  <a:extLst>
                    <a:ext uri="{9D8B030D-6E8A-4147-A177-3AD203B41FA5}">
                      <a16:colId xmlns:a16="http://schemas.microsoft.com/office/drawing/2014/main" val="294845801"/>
                    </a:ext>
                  </a:extLst>
                </a:gridCol>
                <a:gridCol w="1430338">
                  <a:extLst>
                    <a:ext uri="{9D8B030D-6E8A-4147-A177-3AD203B41FA5}">
                      <a16:colId xmlns:a16="http://schemas.microsoft.com/office/drawing/2014/main" val="2044419022"/>
                    </a:ext>
                  </a:extLst>
                </a:gridCol>
                <a:gridCol w="1430338">
                  <a:extLst>
                    <a:ext uri="{9D8B030D-6E8A-4147-A177-3AD203B41FA5}">
                      <a16:colId xmlns:a16="http://schemas.microsoft.com/office/drawing/2014/main" val="1207394843"/>
                    </a:ext>
                  </a:extLst>
                </a:gridCol>
                <a:gridCol w="1430338">
                  <a:extLst>
                    <a:ext uri="{9D8B030D-6E8A-4147-A177-3AD203B41FA5}">
                      <a16:colId xmlns:a16="http://schemas.microsoft.com/office/drawing/2014/main" val="2248810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March - Year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80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33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Sunday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latin typeface="+mn-lt"/>
                        </a:rPr>
                        <a:t>13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147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Monday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061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Tuesday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116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Wednesday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30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588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Thursday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31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23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Friday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51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Saturday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987056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609406" y="6135283"/>
            <a:ext cx="3004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Fundamental Unit</a:t>
            </a:r>
            <a:endParaRPr lang="en-US" sz="2800" dirty="0"/>
          </a:p>
        </p:txBody>
      </p:sp>
      <p:cxnSp>
        <p:nvCxnSpPr>
          <p:cNvPr id="7" name="Straight Arrow Connector 6"/>
          <p:cNvCxnSpPr>
            <a:cxnSpLocks/>
            <a:stCxn id="8" idx="1"/>
            <a:endCxn id="5" idx="0"/>
          </p:cNvCxnSpPr>
          <p:nvPr/>
        </p:nvCxnSpPr>
        <p:spPr>
          <a:xfrm>
            <a:off x="2476380" y="4187356"/>
            <a:ext cx="635255" cy="1947927"/>
          </a:xfrm>
          <a:prstGeom prst="straightConnector1">
            <a:avLst/>
          </a:prstGeom>
          <a:ln w="28575">
            <a:solidFill>
              <a:srgbClr val="FF263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ight Brace 7"/>
          <p:cNvSpPr/>
          <p:nvPr/>
        </p:nvSpPr>
        <p:spPr>
          <a:xfrm>
            <a:off x="2058369" y="2560321"/>
            <a:ext cx="418011" cy="3254070"/>
          </a:xfrm>
          <a:prstGeom prst="rightBrace">
            <a:avLst/>
          </a:prstGeom>
          <a:ln w="28575">
            <a:solidFill>
              <a:srgbClr val="FF263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140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7483-0732-4C8F-ACEC-E35E7F17F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05588-A3EB-4ED8-92B8-76393A5F4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Week</a:t>
            </a:r>
            <a:endParaRPr lang="en-IN" sz="2800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</a:rPr>
              <a:t>Sunday</a:t>
            </a:r>
            <a:endParaRPr lang="en-IN" sz="2800" b="0" i="0" u="none" strike="noStrike" dirty="0">
              <a:effectLst/>
            </a:endParaRPr>
          </a:p>
          <a:p>
            <a:pPr marL="0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</a:rPr>
              <a:t>	Monday</a:t>
            </a:r>
            <a:endParaRPr lang="en-IN" sz="2800" b="0" i="0" u="none" strike="noStrike" dirty="0">
              <a:effectLst/>
            </a:endParaRPr>
          </a:p>
          <a:p>
            <a:pPr marL="0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</a:rPr>
              <a:t>		Tuesday</a:t>
            </a:r>
            <a:endParaRPr lang="en-IN" sz="2800" b="0" i="0" u="none" strike="noStrike" dirty="0">
              <a:effectLst/>
            </a:endParaRPr>
          </a:p>
          <a:p>
            <a:pPr marL="0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</a:rPr>
              <a:t>			Wednesday</a:t>
            </a:r>
            <a:endParaRPr lang="en-IN" sz="2800" b="0" i="0" u="none" strike="noStrike" dirty="0">
              <a:effectLst/>
            </a:endParaRPr>
          </a:p>
          <a:p>
            <a:pPr marL="0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</a:rPr>
              <a:t>					Thursday</a:t>
            </a:r>
            <a:endParaRPr lang="en-IN" sz="2800" b="0" i="0" u="none" strike="noStrike" dirty="0">
              <a:effectLst/>
            </a:endParaRPr>
          </a:p>
          <a:p>
            <a:pPr marL="0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</a:rPr>
              <a:t>						Friday</a:t>
            </a:r>
            <a:endParaRPr lang="en-IN" sz="2800" b="0" i="0" u="none" strike="noStrike" dirty="0">
              <a:effectLst/>
            </a:endParaRPr>
          </a:p>
          <a:p>
            <a:pPr marL="0" rtl="0" eaLnBrk="1" fontAlgn="t" latinLnBrk="0" hangingPunct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kern="1200" dirty="0">
                <a:solidFill>
                  <a:srgbClr val="000000"/>
                </a:solidFill>
                <a:effectLst/>
              </a:rPr>
              <a:t>							Saturday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EA87CE-BC4E-4C42-8A2B-444C671CAE3A}"/>
              </a:ext>
            </a:extLst>
          </p:cNvPr>
          <p:cNvSpPr txBox="1"/>
          <p:nvPr/>
        </p:nvSpPr>
        <p:spPr>
          <a:xfrm flipH="1">
            <a:off x="5711875" y="3430905"/>
            <a:ext cx="14988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7 Days</a:t>
            </a:r>
            <a:endParaRPr lang="en-IN" sz="28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31869518-4CCC-4B0A-982C-34E00209A4C2}"/>
              </a:ext>
            </a:extLst>
          </p:cNvPr>
          <p:cNvCxnSpPr>
            <a:cxnSpLocks/>
          </p:cNvCxnSpPr>
          <p:nvPr/>
        </p:nvCxnSpPr>
        <p:spPr>
          <a:xfrm rot="10800000" flipV="1">
            <a:off x="5212081" y="3775166"/>
            <a:ext cx="561705" cy="418012"/>
          </a:xfrm>
          <a:prstGeom prst="straightConnector1">
            <a:avLst/>
          </a:prstGeom>
          <a:ln w="28575">
            <a:solidFill>
              <a:srgbClr val="FF263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645BCB8-A116-4B91-B25C-103545FE009F}"/>
              </a:ext>
            </a:extLst>
          </p:cNvPr>
          <p:cNvSpPr txBox="1"/>
          <p:nvPr/>
        </p:nvSpPr>
        <p:spPr>
          <a:xfrm>
            <a:off x="6936376" y="3445312"/>
            <a:ext cx="15414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 </a:t>
            </a:r>
            <a:r>
              <a:rPr lang="en-US" sz="2800" dirty="0"/>
              <a:t>= Week</a:t>
            </a:r>
            <a:endParaRPr lang="en-IN" sz="2800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645920" y="2155371"/>
            <a:ext cx="6831874" cy="3984172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58055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D7483-0732-4C8F-ACEC-E35E7F17F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105588-A3EB-4ED8-92B8-76393A5F46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Month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Collection - Specified Number of Days 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	January		February		March	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	April			May			June		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	July			August		September</a:t>
            </a:r>
          </a:p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	October		November		December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3217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ADAA-5793-4F2C-A542-8C7780F2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5AAFEE99-4324-4585-BE2D-61249381CB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48117421"/>
              </p:ext>
            </p:extLst>
          </p:nvPr>
        </p:nvGraphicFramePr>
        <p:xfrm>
          <a:off x="361950" y="1295400"/>
          <a:ext cx="858202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893">
                  <a:extLst>
                    <a:ext uri="{9D8B030D-6E8A-4147-A177-3AD203B41FA5}">
                      <a16:colId xmlns:a16="http://schemas.microsoft.com/office/drawing/2014/main" val="74908249"/>
                    </a:ext>
                  </a:extLst>
                </a:gridCol>
                <a:gridCol w="1212574">
                  <a:extLst>
                    <a:ext uri="{9D8B030D-6E8A-4147-A177-3AD203B41FA5}">
                      <a16:colId xmlns:a16="http://schemas.microsoft.com/office/drawing/2014/main" val="780825994"/>
                    </a:ext>
                  </a:extLst>
                </a:gridCol>
                <a:gridCol w="1272209">
                  <a:extLst>
                    <a:ext uri="{9D8B030D-6E8A-4147-A177-3AD203B41FA5}">
                      <a16:colId xmlns:a16="http://schemas.microsoft.com/office/drawing/2014/main" val="294845801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2044419022"/>
                    </a:ext>
                  </a:extLst>
                </a:gridCol>
                <a:gridCol w="1361661">
                  <a:extLst>
                    <a:ext uri="{9D8B030D-6E8A-4147-A177-3AD203B41FA5}">
                      <a16:colId xmlns:a16="http://schemas.microsoft.com/office/drawing/2014/main" val="1207394843"/>
                    </a:ext>
                  </a:extLst>
                </a:gridCol>
                <a:gridCol w="1151700">
                  <a:extLst>
                    <a:ext uri="{9D8B030D-6E8A-4147-A177-3AD203B41FA5}">
                      <a16:colId xmlns:a16="http://schemas.microsoft.com/office/drawing/2014/main" val="2248810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February – Non-leap Year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80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33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Sunday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147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Monday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061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Tuesday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116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Wednesday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588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Thursday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23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Friday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51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Saturday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987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41685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ADAA-5793-4F2C-A542-8C7780F2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4436E96-D9B4-43F0-8751-248006AF2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6" name="Table 4">
            <a:extLst>
              <a:ext uri="{FF2B5EF4-FFF2-40B4-BE49-F238E27FC236}">
                <a16:creationId xmlns:a16="http://schemas.microsoft.com/office/drawing/2014/main" id="{C282383D-BF35-411D-B3F0-CAD2588D68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567437692"/>
              </p:ext>
            </p:extLst>
          </p:nvPr>
        </p:nvGraphicFramePr>
        <p:xfrm>
          <a:off x="361950" y="1295400"/>
          <a:ext cx="858202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893">
                  <a:extLst>
                    <a:ext uri="{9D8B030D-6E8A-4147-A177-3AD203B41FA5}">
                      <a16:colId xmlns:a16="http://schemas.microsoft.com/office/drawing/2014/main" val="74908249"/>
                    </a:ext>
                  </a:extLst>
                </a:gridCol>
                <a:gridCol w="1212574">
                  <a:extLst>
                    <a:ext uri="{9D8B030D-6E8A-4147-A177-3AD203B41FA5}">
                      <a16:colId xmlns:a16="http://schemas.microsoft.com/office/drawing/2014/main" val="780825994"/>
                    </a:ext>
                  </a:extLst>
                </a:gridCol>
                <a:gridCol w="1272209">
                  <a:extLst>
                    <a:ext uri="{9D8B030D-6E8A-4147-A177-3AD203B41FA5}">
                      <a16:colId xmlns:a16="http://schemas.microsoft.com/office/drawing/2014/main" val="294845801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2044419022"/>
                    </a:ext>
                  </a:extLst>
                </a:gridCol>
                <a:gridCol w="1361661">
                  <a:extLst>
                    <a:ext uri="{9D8B030D-6E8A-4147-A177-3AD203B41FA5}">
                      <a16:colId xmlns:a16="http://schemas.microsoft.com/office/drawing/2014/main" val="1207394843"/>
                    </a:ext>
                  </a:extLst>
                </a:gridCol>
                <a:gridCol w="1151700">
                  <a:extLst>
                    <a:ext uri="{9D8B030D-6E8A-4147-A177-3AD203B41FA5}">
                      <a16:colId xmlns:a16="http://schemas.microsoft.com/office/drawing/2014/main" val="2248810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February – Non-leap Year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80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33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Sunday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147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Monday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061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Tuesday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116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Wednesday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588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Thursday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23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Friday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51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Saturday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987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8108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ADAA-5793-4F2C-A542-8C7780F2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EF5CDA8A-D01A-4954-A68C-2F95B0C1348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31022481"/>
              </p:ext>
            </p:extLst>
          </p:nvPr>
        </p:nvGraphicFramePr>
        <p:xfrm>
          <a:off x="361950" y="1295400"/>
          <a:ext cx="8582028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893">
                  <a:extLst>
                    <a:ext uri="{9D8B030D-6E8A-4147-A177-3AD203B41FA5}">
                      <a16:colId xmlns:a16="http://schemas.microsoft.com/office/drawing/2014/main" val="74908249"/>
                    </a:ext>
                  </a:extLst>
                </a:gridCol>
                <a:gridCol w="1212574">
                  <a:extLst>
                    <a:ext uri="{9D8B030D-6E8A-4147-A177-3AD203B41FA5}">
                      <a16:colId xmlns:a16="http://schemas.microsoft.com/office/drawing/2014/main" val="780825994"/>
                    </a:ext>
                  </a:extLst>
                </a:gridCol>
                <a:gridCol w="1272209">
                  <a:extLst>
                    <a:ext uri="{9D8B030D-6E8A-4147-A177-3AD203B41FA5}">
                      <a16:colId xmlns:a16="http://schemas.microsoft.com/office/drawing/2014/main" val="294845801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2044419022"/>
                    </a:ext>
                  </a:extLst>
                </a:gridCol>
                <a:gridCol w="1361661">
                  <a:extLst>
                    <a:ext uri="{9D8B030D-6E8A-4147-A177-3AD203B41FA5}">
                      <a16:colId xmlns:a16="http://schemas.microsoft.com/office/drawing/2014/main" val="1207394843"/>
                    </a:ext>
                  </a:extLst>
                </a:gridCol>
                <a:gridCol w="1151700">
                  <a:extLst>
                    <a:ext uri="{9D8B030D-6E8A-4147-A177-3AD203B41FA5}">
                      <a16:colId xmlns:a16="http://schemas.microsoft.com/office/drawing/2014/main" val="2248810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April, June, September, and November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80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33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Sunday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147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Monday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061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Tuesday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116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Wednesday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30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588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Thursday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23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Friday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51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Saturday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987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630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5ADAA-5793-4F2C-A542-8C7780F29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>
              <a:latin typeface="+mn-lt"/>
            </a:endParaRP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55BF888-F6C8-43A6-AD11-E1CD76D4CA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0691827"/>
              </p:ext>
            </p:extLst>
          </p:nvPr>
        </p:nvGraphicFramePr>
        <p:xfrm>
          <a:off x="361950" y="1295400"/>
          <a:ext cx="8582028" cy="509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12893">
                  <a:extLst>
                    <a:ext uri="{9D8B030D-6E8A-4147-A177-3AD203B41FA5}">
                      <a16:colId xmlns:a16="http://schemas.microsoft.com/office/drawing/2014/main" val="74908249"/>
                    </a:ext>
                  </a:extLst>
                </a:gridCol>
                <a:gridCol w="1212574">
                  <a:extLst>
                    <a:ext uri="{9D8B030D-6E8A-4147-A177-3AD203B41FA5}">
                      <a16:colId xmlns:a16="http://schemas.microsoft.com/office/drawing/2014/main" val="780825994"/>
                    </a:ext>
                  </a:extLst>
                </a:gridCol>
                <a:gridCol w="1272209">
                  <a:extLst>
                    <a:ext uri="{9D8B030D-6E8A-4147-A177-3AD203B41FA5}">
                      <a16:colId xmlns:a16="http://schemas.microsoft.com/office/drawing/2014/main" val="294845801"/>
                    </a:ext>
                  </a:extLst>
                </a:gridCol>
                <a:gridCol w="1470991">
                  <a:extLst>
                    <a:ext uri="{9D8B030D-6E8A-4147-A177-3AD203B41FA5}">
                      <a16:colId xmlns:a16="http://schemas.microsoft.com/office/drawing/2014/main" val="2044419022"/>
                    </a:ext>
                  </a:extLst>
                </a:gridCol>
                <a:gridCol w="1361661">
                  <a:extLst>
                    <a:ext uri="{9D8B030D-6E8A-4147-A177-3AD203B41FA5}">
                      <a16:colId xmlns:a16="http://schemas.microsoft.com/office/drawing/2014/main" val="1207394843"/>
                    </a:ext>
                  </a:extLst>
                </a:gridCol>
                <a:gridCol w="1151700">
                  <a:extLst>
                    <a:ext uri="{9D8B030D-6E8A-4147-A177-3AD203B41FA5}">
                      <a16:colId xmlns:a16="http://schemas.microsoft.com/office/drawing/2014/main" val="22488109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tx1"/>
                          </a:solidFill>
                          <a:effectLst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January, March, May, July, August, October, and December</a:t>
                      </a:r>
                      <a:endParaRPr lang="en-IN" sz="28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28036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339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Sunday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20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41473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Monday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3061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Tuesday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1164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Wednesday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30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588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Thursday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3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10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17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31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4323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Friday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4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11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18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6513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Saturday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5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12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19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+mn-lt"/>
                        </a:rPr>
                        <a:t>26</a:t>
                      </a:r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28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09870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39266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B139C-A38C-4D89-85E1-20C69FE0E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US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36D36-8375-4223-9A53-E89501FD1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>
                <a:ea typeface="Times New Roman" panose="02020603050405020304" pitchFamily="18" charset="0"/>
                <a:cs typeface="Times New Roman" panose="02020603050405020304" pitchFamily="18" charset="0"/>
              </a:rPr>
              <a:t>Year</a:t>
            </a:r>
            <a:endParaRPr lang="en-IN" sz="2800" b="1" dirty="0"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2371275" y="3102732"/>
            <a:ext cx="1676400" cy="1704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" name="Picture 4" descr="2,075,888 Earth Stock Photos, Pictures &amp;amp;amp; Royalty-Free Images - iStock">
            <a:extLst>
              <a:ext uri="{FF2B5EF4-FFF2-40B4-BE49-F238E27FC236}">
                <a16:creationId xmlns:a16="http://schemas.microsoft.com/office/drawing/2014/main" id="{84AB07C2-337A-4C18-BE59-B944342D94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67" b="89869" l="3758" r="89869">
                        <a14:foregroundMark x1="23693" y1="12908" x2="69608" y2="3431"/>
                        <a14:foregroundMark x1="69608" y1="3431" x2="94444" y2="48039"/>
                        <a14:foregroundMark x1="94444" y1="48039" x2="78105" y2="91993"/>
                        <a14:foregroundMark x1="78105" y1="91993" x2="26471" y2="94771"/>
                        <a14:foregroundMark x1="26471" y1="94771" x2="3758" y2="47222"/>
                        <a14:foregroundMark x1="3758" y1="47222" x2="19935" y2="10131"/>
                      </a14:backgroundRemoval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 bwMode="auto">
          <a:xfrm>
            <a:off x="4186760" y="1952179"/>
            <a:ext cx="1080980" cy="10809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8076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C3C3-1AD7-49F2-89AB-78A9BFD5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A1D6C-6020-4A18-B4D6-A376D240D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Relation among Day, Week, Month, and Year</a:t>
            </a:r>
            <a:endParaRPr lang="en-IN" sz="2800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 day </a:t>
            </a:r>
          </a:p>
          <a:p>
            <a:pPr lvl="1" algn="just">
              <a:lnSpc>
                <a:spcPct val="16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7</a:t>
            </a:r>
            <a:r>
              <a:rPr lang="en-US" sz="2800" baseline="30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part of the week; </a:t>
            </a:r>
            <a:endParaRPr lang="en-IN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60000"/>
              </a:lnSpc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28</a:t>
            </a:r>
            <a:r>
              <a:rPr lang="en-US" sz="2800" baseline="30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or 29</a:t>
            </a:r>
            <a:r>
              <a:rPr lang="en-US" sz="2800" baseline="30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or 30</a:t>
            </a:r>
            <a:r>
              <a:rPr lang="en-US" sz="2800" baseline="30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or 31</a:t>
            </a:r>
            <a:r>
              <a:rPr lang="en-US" sz="2800" baseline="30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st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part of a month; </a:t>
            </a:r>
            <a:endParaRPr lang="en-IN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6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365</a:t>
            </a:r>
            <a:r>
              <a:rPr lang="en-US" sz="2800" baseline="30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part of the Lunar year or 366</a:t>
            </a:r>
            <a:r>
              <a:rPr lang="en-US" sz="2800" baseline="30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part of the leap year.</a:t>
            </a:r>
            <a:endParaRPr lang="en-IN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50991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C3C3-1AD7-49F2-89AB-78A9BFD5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AA1D6C-6020-4A18-B4D6-A376D240D2F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algn="just">
                  <a:lnSpc>
                    <a:spcPct val="16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800" b="1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Relation between Day, Week, Month, and Year</a:t>
                </a:r>
                <a:endParaRPr lang="en-IN" sz="2800" b="1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6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 week</a:t>
                </a:r>
              </a:p>
              <a:p>
                <a:pPr lvl="1" algn="just">
                  <a:lnSpc>
                    <a:spcPct val="16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4</a:t>
                </a:r>
                <a:r>
                  <a:rPr lang="en-US" sz="2800" baseline="30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or 4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1" i="1" dirty="0"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dirty="0"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𝟕</m:t>
                        </m:r>
                      </m:den>
                    </m:f>
                  </m:oMath>
                </a14:m>
                <a:r>
                  <a:rPr lang="en-US" sz="2800" baseline="30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or 4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1" i="0" dirty="0" smtClean="0"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2800" b="1" i="1" dirty="0"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𝟕</m:t>
                        </m:r>
                      </m:den>
                    </m:f>
                    <m:r>
                      <a:rPr lang="en-US" sz="2800" b="0" i="1" dirty="0"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baseline="30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or 4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1" i="0" dirty="0" smtClean="0"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𝟑</m:t>
                        </m:r>
                      </m:num>
                      <m:den>
                        <m:r>
                          <a:rPr lang="en-US" sz="2800" b="1" i="1" dirty="0"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𝟕</m:t>
                        </m:r>
                      </m:den>
                    </m:f>
                    <m:r>
                      <a:rPr lang="en-US" sz="2800" b="0" i="1" dirty="0"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baseline="30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part of a month.</a:t>
                </a:r>
                <a:endParaRPr lang="en-IN" sz="2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marL="800100" lvl="1" indent="-342900" algn="just">
                  <a:lnSpc>
                    <a:spcPct val="160000"/>
                  </a:lnSpc>
                  <a:spcAft>
                    <a:spcPts val="600"/>
                  </a:spcAft>
                  <a:buFont typeface="Symbol" panose="05050102010706020507" pitchFamily="18" charset="2"/>
                  <a:buChar char=""/>
                </a:pPr>
                <a:r>
                  <a:rPr lang="en-US" sz="2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52</a:t>
                </a:r>
                <a:r>
                  <a:rPr lang="en-US" sz="2800" baseline="30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nd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or 52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 smtClean="0"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1" i="0" dirty="0" smtClean="0"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𝟏</m:t>
                        </m:r>
                      </m:num>
                      <m:den>
                        <m:r>
                          <a:rPr lang="en-US" sz="2800" b="1" i="1" dirty="0"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𝟕</m:t>
                        </m:r>
                      </m:den>
                    </m:f>
                    <m:r>
                      <a:rPr lang="en-US" sz="2800" b="1" i="1" dirty="0"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baseline="30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or 52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b="1" i="1" dirty="0"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2800" b="1" i="0" dirty="0" smtClean="0"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𝟐</m:t>
                        </m:r>
                      </m:num>
                      <m:den>
                        <m:r>
                          <a:rPr lang="en-US" sz="2800" b="1" i="1" dirty="0">
                            <a:ea typeface="Calibri" panose="020F0502020204030204" pitchFamily="34" charset="0"/>
                            <a:cs typeface="Times New Roman" panose="02020603050405020304" pitchFamily="18" charset="0"/>
                          </a:rPr>
                          <m:t>𝟕</m:t>
                        </m:r>
                      </m:den>
                    </m:f>
                    <m:r>
                      <a:rPr lang="en-US" sz="2800" b="1" i="1" dirty="0">
                        <a:ea typeface="Calibri" panose="020F050202020403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800" baseline="30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part of a year.</a:t>
                </a:r>
                <a:endParaRPr lang="en-IN" sz="2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pPr algn="just">
                  <a:lnSpc>
                    <a:spcPct val="16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n-US" sz="2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A month is the 12</a:t>
                </a:r>
                <a:r>
                  <a:rPr lang="en-US" sz="2800" baseline="300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th</a:t>
                </a:r>
                <a:r>
                  <a:rPr lang="en-US" sz="2800" dirty="0">
                    <a:effectLst/>
                    <a:ea typeface="Calibri" panose="020F0502020204030204" pitchFamily="34" charset="0"/>
                    <a:cs typeface="Times New Roman" panose="02020603050405020304" pitchFamily="18" charset="0"/>
                  </a:rPr>
                  <a:t> part of a year.</a:t>
                </a:r>
                <a:endParaRPr lang="en-IN" sz="2800" dirty="0">
                  <a:effectLst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  <a:p>
                <a:endParaRPr lang="en-IN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AA1D6C-6020-4A18-B4D6-A376D240D2F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72371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C3C3-1AD7-49F2-89AB-78A9BFD5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A1D6C-6020-4A18-B4D6-A376D240D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endParaRPr lang="en-IN" sz="2800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Number/Digit - Each Day 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That Part of a Month </a:t>
            </a:r>
            <a:endParaRPr lang="en-IN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365</a:t>
            </a:r>
            <a:r>
              <a:rPr lang="en-US" sz="2800" baseline="30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Part of the Year - Lunar Year</a:t>
            </a:r>
            <a:endParaRPr lang="en-IN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366</a:t>
            </a:r>
            <a:r>
              <a:rPr lang="en-US" sz="2800" baseline="300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Part of the Year - Leap Year</a:t>
            </a:r>
            <a:endParaRPr lang="en-IN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317771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C3C3-1AD7-49F2-89AB-78A9BFD5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A1D6C-6020-4A18-B4D6-A376D240D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Century</a:t>
            </a:r>
            <a:endParaRPr lang="en-IN" sz="2800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Set/Group - 100 Years</a:t>
            </a:r>
          </a:p>
          <a:p>
            <a:pPr marL="800100" lvl="1" indent="-342900" algn="just">
              <a:lnSpc>
                <a:spcPct val="150000"/>
              </a:lnSpc>
              <a:spcBef>
                <a:spcPts val="600"/>
              </a:spcBef>
              <a:buFont typeface="Symbol" panose="05050102010706020507" pitchFamily="18" charset="2"/>
              <a:buChar char=""/>
            </a:pP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100, 200, 300, 400, 500, 600, 700, and so on.</a:t>
            </a:r>
            <a:endParaRPr lang="en-IN" sz="2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400, 800, 1200, 1600, 2000, 2400, etc.</a:t>
            </a:r>
            <a:endParaRPr lang="en-IN" sz="2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endParaRPr lang="en-IN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485346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C3C3-1AD7-49F2-89AB-78A9BFD5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A1D6C-6020-4A18-B4D6-A376D240D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Ordinary Year</a:t>
            </a:r>
            <a:endParaRPr lang="en-IN" sz="2800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365 Days 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52 Full Weeks and One Extra Day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Not Exactly Divisible by 4 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For Example, 2010, 2011, 2021, 2022, etc.</a:t>
            </a:r>
            <a:endParaRPr lang="en-IN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475014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1EC3C3-1AD7-49F2-89AB-78A9BFD5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A1D6C-6020-4A18-B4D6-A376D240D2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Leap Year</a:t>
            </a:r>
            <a:endParaRPr lang="en-IN" sz="2800" b="1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366 days 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52 Full Weeks and Two Extra Days</a:t>
            </a: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Exactly Divisible by 4</a:t>
            </a:r>
            <a:endParaRPr lang="en-US" sz="28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For example, 2012, 2016, 2020, 2024, etc.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3799773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2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First day of a century </a:t>
            </a:r>
          </a:p>
          <a:p>
            <a:pPr marL="342900" lvl="0" indent="-342900" algn="just">
              <a:buNone/>
            </a:pP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Monday, Tuesday, Thursday, or Saturday </a:t>
            </a:r>
            <a:endParaRPr lang="en-IN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2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Last day of a century </a:t>
            </a:r>
          </a:p>
          <a:p>
            <a:pPr marL="342900" lvl="0" indent="-342900" algn="just">
              <a:buNone/>
            </a:pP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cannot be Tuesday, Thursday, or Saturday</a:t>
            </a:r>
            <a:endParaRPr lang="en-IN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360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2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April &amp; July for all years </a:t>
            </a:r>
          </a:p>
          <a:p>
            <a:pPr marL="342900" lvl="0" indent="-342900" algn="just">
              <a:buNone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					- Same Calendar</a:t>
            </a:r>
            <a:endParaRPr lang="en-IN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2800" b="1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January and October for non-leap years </a:t>
            </a:r>
          </a:p>
          <a:p>
            <a:pPr marL="342900" lvl="0" indent="-342900" algn="just">
              <a:buNone/>
            </a:pPr>
            <a:r>
              <a:rPr lang="en-US" sz="2800" dirty="0">
                <a:ea typeface="Calibri" panose="020F0502020204030204" pitchFamily="34" charset="0"/>
                <a:cs typeface="Times New Roman" panose="02020603050405020304" pitchFamily="18" charset="0"/>
              </a:rPr>
              <a:t>					</a:t>
            </a: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- Same Calendar</a:t>
            </a:r>
            <a:endParaRPr lang="en-IN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6360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02157-AF59-4344-AF33-35BF205A7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Basic Concept of Calendar</a:t>
            </a:r>
            <a:endParaRPr lang="en-IN" sz="3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6DFFF-0323-4EE1-A11C-66378C43E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342900" lvl="0" indent="-342900" algn="just"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calendars of two different years are same if –</a:t>
            </a:r>
            <a:endParaRPr lang="en-IN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Both years are either ordinary years or leap years.</a:t>
            </a:r>
            <a:endParaRPr lang="en-IN" sz="28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800100" lvl="1" indent="-342900" algn="just">
              <a:lnSpc>
                <a:spcPct val="150000"/>
              </a:lnSpc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January 21 of both years must be the same day of the week.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9410079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AFE95-03CC-4060-B34E-7687063CC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0F450-CAB9-4703-BEA8-0B88D5951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3000" dirty="0"/>
              <a:t>Basic Concepts of Calendar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Calendar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Day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Week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Month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Year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Date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Century</a:t>
            </a:r>
          </a:p>
          <a:p>
            <a:pPr lvl="1">
              <a:lnSpc>
                <a:spcPct val="150000"/>
              </a:lnSpc>
            </a:pPr>
            <a:r>
              <a:rPr lang="en-US" sz="2600" dirty="0"/>
              <a:t>Leap and Ordinary Year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09761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AFE95-03CC-4060-B34E-7687063CC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800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0F450-CAB9-4703-BEA8-0B88D5951E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Basic Concepts of Calendar</a:t>
            </a:r>
          </a:p>
          <a:p>
            <a:r>
              <a:rPr lang="en-US" sz="2800" dirty="0"/>
              <a:t>Relationship among Day, Week, Month and Year</a:t>
            </a:r>
          </a:p>
          <a:p>
            <a:r>
              <a:rPr lang="en-US" sz="2800" dirty="0"/>
              <a:t>First &amp; Last day of Century</a:t>
            </a:r>
          </a:p>
        </p:txBody>
      </p:sp>
    </p:spTree>
    <p:extLst>
      <p:ext uri="{BB962C8B-B14F-4D97-AF65-F5344CB8AC3E}">
        <p14:creationId xmlns:p14="http://schemas.microsoft.com/office/powerpoint/2010/main" val="18509761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484</TotalTime>
  <Words>794</Words>
  <Application>Microsoft Office PowerPoint</Application>
  <PresentationFormat>On-screen Show (4:3)</PresentationFormat>
  <Paragraphs>327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Bahnschrift</vt:lpstr>
      <vt:lpstr>Bahnschrift SemiBold</vt:lpstr>
      <vt:lpstr>Calibri</vt:lpstr>
      <vt:lpstr>Symbol</vt:lpstr>
      <vt:lpstr>Office Theme</vt:lpstr>
      <vt:lpstr>PowerPoint Presentation</vt:lpstr>
      <vt:lpstr>PowerPoint Presentation</vt:lpstr>
      <vt:lpstr>Basic Concept of Calendar</vt:lpstr>
      <vt:lpstr>Basic Concept of Calendar</vt:lpstr>
      <vt:lpstr>Basic Concept of Calendar</vt:lpstr>
      <vt:lpstr>Basic Concept of Calendar</vt:lpstr>
      <vt:lpstr>Basic Concept of Calendar</vt:lpstr>
      <vt:lpstr>Basic Concept of Calendar</vt:lpstr>
      <vt:lpstr>Basic Concept of Calendar</vt:lpstr>
      <vt:lpstr>Basic Concept of Calendar</vt:lpstr>
      <vt:lpstr>Basic Concept of Calendar</vt:lpstr>
      <vt:lpstr>Basic Concept of Calendar</vt:lpstr>
      <vt:lpstr>Basic Concept of Calendar</vt:lpstr>
      <vt:lpstr>Basic Concept of Calendar</vt:lpstr>
      <vt:lpstr>Basic Concept of Calendar</vt:lpstr>
      <vt:lpstr>Basic Concept of Calendar</vt:lpstr>
      <vt:lpstr>Basic Concept of Calendar</vt:lpstr>
      <vt:lpstr>Basic Concept of Calendar</vt:lpstr>
      <vt:lpstr>Basic Concept of Calendar</vt:lpstr>
      <vt:lpstr>Basic Concept of Calendar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41</cp:revision>
  <dcterms:created xsi:type="dcterms:W3CDTF">2020-12-18T18:59:12Z</dcterms:created>
  <dcterms:modified xsi:type="dcterms:W3CDTF">2022-03-04T02:45:56Z</dcterms:modified>
</cp:coreProperties>
</file>