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78" r:id="rId2"/>
    <p:sldId id="279" r:id="rId3"/>
    <p:sldId id="418" r:id="rId4"/>
    <p:sldId id="450" r:id="rId5"/>
    <p:sldId id="452" r:id="rId6"/>
    <p:sldId id="453" r:id="rId7"/>
    <p:sldId id="454" r:id="rId8"/>
    <p:sldId id="455" r:id="rId9"/>
    <p:sldId id="456" r:id="rId10"/>
    <p:sldId id="451" r:id="rId11"/>
    <p:sldId id="461" r:id="rId12"/>
    <p:sldId id="458" r:id="rId13"/>
    <p:sldId id="460" r:id="rId14"/>
    <p:sldId id="449" r:id="rId15"/>
    <p:sldId id="459" r:id="rId16"/>
    <p:sldId id="463" r:id="rId17"/>
    <p:sldId id="464" r:id="rId18"/>
    <p:sldId id="465" r:id="rId19"/>
    <p:sldId id="466" r:id="rId20"/>
    <p:sldId id="447" r:id="rId21"/>
    <p:sldId id="343" r:id="rId22"/>
    <p:sldId id="34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32C"/>
    <a:srgbClr val="A8004B"/>
    <a:srgbClr val="262626"/>
    <a:srgbClr val="ABABAB"/>
    <a:srgbClr val="021F28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57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4/23/2022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4/23/2022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solve problems based on simple interest computation,</a:t>
            </a:r>
          </a:p>
          <a:p>
            <a:pPr lvl="0" algn="just"/>
            <a:r>
              <a:rPr lang="en-US" dirty="0"/>
              <a:t>analyze effect of change of principal, rate and time on simple interest.</a:t>
            </a:r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Calculate the simple interest on Rs. 3000 for 3 years at 5% per annum. </a:t>
                </a:r>
              </a:p>
              <a:p>
                <a:pPr algn="just"/>
                <a:r>
                  <a:rPr lang="en-US" dirty="0"/>
                  <a:t>P = Rs. 3000, R = 5% p.a., and T = 3 years </a:t>
                </a:r>
              </a:p>
              <a:p>
                <a:pPr algn="just"/>
                <a:r>
                  <a:rPr lang="en-US" dirty="0"/>
                  <a:t>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3000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5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3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S.I. = Rs. 450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A18198-21F0-43E6-8FD6-A609DA3D1F4A}"/>
              </a:ext>
            </a:extLst>
          </p:cNvPr>
          <p:cNvCxnSpPr/>
          <p:nvPr/>
        </p:nvCxnSpPr>
        <p:spPr>
          <a:xfrm flipV="1">
            <a:off x="1967948" y="5218043"/>
            <a:ext cx="844826" cy="1093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09EECD-632B-4497-AA92-611F6C52668B}"/>
              </a:ext>
            </a:extLst>
          </p:cNvPr>
          <p:cNvCxnSpPr/>
          <p:nvPr/>
        </p:nvCxnSpPr>
        <p:spPr>
          <a:xfrm flipV="1">
            <a:off x="1404731" y="4833730"/>
            <a:ext cx="844826" cy="1093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650885-0997-400B-9D40-A58E12BEBC51}"/>
              </a:ext>
            </a:extLst>
          </p:cNvPr>
          <p:cNvSpPr txBox="1"/>
          <p:nvPr/>
        </p:nvSpPr>
        <p:spPr>
          <a:xfrm>
            <a:off x="1461049" y="4403035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4908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401A5-780A-4AD4-95A4-BF6791FE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7B94FF-D538-4860-B7B5-7089E40FC4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Find the simple interest on Rs. 32000 at 7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</m:den>
                    </m:f>
                    <m:r>
                      <a:rPr lang="en-US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% p.a. for 8 months.</a:t>
                </a:r>
              </a:p>
              <a:p>
                <a:pPr algn="just"/>
                <a:r>
                  <a:rPr lang="en-US" dirty="0"/>
                  <a:t>P = Rs. 32000</a:t>
                </a:r>
              </a:p>
              <a:p>
                <a:pPr algn="just"/>
                <a:r>
                  <a:rPr lang="en-US" dirty="0"/>
                  <a:t>R = 7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</m:den>
                    </m:f>
                    <m:r>
                      <a:rPr lang="en-US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% p.a.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2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% p.a. </a:t>
                </a:r>
              </a:p>
              <a:p>
                <a:pPr algn="just"/>
                <a:r>
                  <a:rPr lang="en-US" dirty="0"/>
                  <a:t>T = 8 months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8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dirty="0"/>
                          <m:t>2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years </a:t>
                </a:r>
              </a:p>
              <a:p>
                <a:pPr algn="just"/>
                <a:r>
                  <a:rPr lang="en-US" dirty="0"/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3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years 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7B94FF-D538-4860-B7B5-7089E40FC4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3ADC6C-A312-429E-999C-73588F958CCE}"/>
              </a:ext>
            </a:extLst>
          </p:cNvPr>
          <p:cNvCxnSpPr>
            <a:cxnSpLocks/>
          </p:cNvCxnSpPr>
          <p:nvPr/>
        </p:nvCxnSpPr>
        <p:spPr>
          <a:xfrm flipV="1">
            <a:off x="2706757" y="5353880"/>
            <a:ext cx="665922" cy="1391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352A22B-197D-48DE-BFE8-6C1F47717E04}"/>
              </a:ext>
            </a:extLst>
          </p:cNvPr>
          <p:cNvCxnSpPr>
            <a:cxnSpLocks/>
          </p:cNvCxnSpPr>
          <p:nvPr/>
        </p:nvCxnSpPr>
        <p:spPr>
          <a:xfrm flipV="1">
            <a:off x="2746513" y="4979507"/>
            <a:ext cx="665922" cy="927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396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E50E-55DB-4B61-B814-0CB2F8F8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7A5CD3-CFF4-48B7-8E81-E4CBE5F88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P = Rs. 32000, 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15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2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% p.a., &amp; 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3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years </a:t>
                </a:r>
                <a:endParaRPr lang="en-IN" dirty="0"/>
              </a:p>
              <a:p>
                <a:pPr algn="just"/>
                <a:r>
                  <a:rPr lang="en-US" dirty="0"/>
                  <a:t>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5 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  <m:r>
                          <m:rPr>
                            <m:nor/>
                          </m:rPr>
                          <a:rPr lang="en-US" dirty="0" smtClean="0"/>
                          <m:t>0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3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S.I. = Rs. 1600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7A5CD3-CFF4-48B7-8E81-E4CBE5F88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858BAB-DE0A-4AFA-B98E-4C0499AEE4E3}"/>
              </a:ext>
            </a:extLst>
          </p:cNvPr>
          <p:cNvCxnSpPr>
            <a:cxnSpLocks/>
          </p:cNvCxnSpPr>
          <p:nvPr/>
        </p:nvCxnSpPr>
        <p:spPr>
          <a:xfrm flipV="1">
            <a:off x="2345634" y="4283765"/>
            <a:ext cx="477079" cy="1292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0A0C29-300C-49B8-96A6-88B64BB07FF8}"/>
              </a:ext>
            </a:extLst>
          </p:cNvPr>
          <p:cNvCxnSpPr>
            <a:cxnSpLocks/>
          </p:cNvCxnSpPr>
          <p:nvPr/>
        </p:nvCxnSpPr>
        <p:spPr>
          <a:xfrm flipV="1">
            <a:off x="3223591" y="3886200"/>
            <a:ext cx="483704" cy="1225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8B9D7C-FBAC-4813-B3E2-F47B41FFC906}"/>
              </a:ext>
            </a:extLst>
          </p:cNvPr>
          <p:cNvCxnSpPr>
            <a:cxnSpLocks/>
          </p:cNvCxnSpPr>
          <p:nvPr/>
        </p:nvCxnSpPr>
        <p:spPr>
          <a:xfrm flipV="1">
            <a:off x="2895599" y="4288734"/>
            <a:ext cx="477079" cy="12920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82E56D-A41A-4C28-9587-7A50CE57681D}"/>
              </a:ext>
            </a:extLst>
          </p:cNvPr>
          <p:cNvCxnSpPr>
            <a:cxnSpLocks/>
          </p:cNvCxnSpPr>
          <p:nvPr/>
        </p:nvCxnSpPr>
        <p:spPr>
          <a:xfrm flipV="1">
            <a:off x="2597425" y="3886200"/>
            <a:ext cx="477079" cy="12920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74EB8D5-8CD7-4BF7-A7FB-BD5392E314E8}"/>
              </a:ext>
            </a:extLst>
          </p:cNvPr>
          <p:cNvSpPr txBox="1"/>
          <p:nvPr/>
        </p:nvSpPr>
        <p:spPr>
          <a:xfrm>
            <a:off x="2584173" y="3419061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0E4CE-4B67-4E7C-A99B-D07542A7E630}"/>
              </a:ext>
            </a:extLst>
          </p:cNvPr>
          <p:cNvSpPr txBox="1"/>
          <p:nvPr/>
        </p:nvSpPr>
        <p:spPr>
          <a:xfrm>
            <a:off x="1470988" y="3419061"/>
            <a:ext cx="767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320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E3F214-FD34-4B27-9018-2D7C1AA7E66B}"/>
              </a:ext>
            </a:extLst>
          </p:cNvPr>
          <p:cNvCxnSpPr>
            <a:cxnSpLocks/>
          </p:cNvCxnSpPr>
          <p:nvPr/>
        </p:nvCxnSpPr>
        <p:spPr>
          <a:xfrm flipV="1">
            <a:off x="1761295" y="4283765"/>
            <a:ext cx="477079" cy="129209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5D0B9F-E453-4F1A-A5EB-CC66B9FCF5BB}"/>
              </a:ext>
            </a:extLst>
          </p:cNvPr>
          <p:cNvCxnSpPr>
            <a:cxnSpLocks/>
          </p:cNvCxnSpPr>
          <p:nvPr/>
        </p:nvCxnSpPr>
        <p:spPr>
          <a:xfrm flipV="1">
            <a:off x="1416739" y="3912218"/>
            <a:ext cx="928895" cy="96565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061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6C0F9-1B91-4519-93D8-4EFAF2451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2EE199-A042-4233-93C1-107893F04D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Find the simple interest on Rs 5000 at 15</a:t>
                </a:r>
                <a14:m>
                  <m:oMath xmlns:m="http://schemas.openxmlformats.org/officeDocument/2006/math">
                    <m:r>
                      <a:rPr lang="en-US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% p.a. for the period from 25</a:t>
                </a:r>
                <a:r>
                  <a:rPr lang="en-US" baseline="30000" dirty="0"/>
                  <a:t>th</a:t>
                </a:r>
                <a:r>
                  <a:rPr lang="en-US" dirty="0"/>
                  <a:t> May, 2022 to 28</a:t>
                </a:r>
                <a:r>
                  <a:rPr lang="en-US" baseline="30000" dirty="0"/>
                  <a:t>th</a:t>
                </a:r>
                <a:r>
                  <a:rPr lang="en-US" dirty="0"/>
                  <a:t> July, 2022.</a:t>
                </a:r>
              </a:p>
              <a:p>
                <a:pPr algn="just"/>
                <a:r>
                  <a:rPr lang="en-US" dirty="0"/>
                  <a:t>P = Rs. 5000</a:t>
                </a:r>
              </a:p>
              <a:p>
                <a:pPr algn="just"/>
                <a:r>
                  <a:rPr lang="en-US" dirty="0"/>
                  <a:t>R = 15</a:t>
                </a:r>
                <a14:m>
                  <m:oMath xmlns:m="http://schemas.openxmlformats.org/officeDocument/2006/math">
                    <m:r>
                      <a:rPr lang="en-US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% p.a. </a:t>
                </a:r>
              </a:p>
              <a:p>
                <a:pPr algn="just"/>
                <a:r>
                  <a:rPr lang="en-US" dirty="0"/>
                  <a:t>T = (6 days of May + 30 days of June + 28 days of July) </a:t>
                </a:r>
              </a:p>
              <a:p>
                <a:pPr algn="just"/>
                <a:r>
                  <a:rPr lang="en-US" dirty="0"/>
                  <a:t>T = 64 days</a:t>
                </a:r>
              </a:p>
              <a:p>
                <a:pPr algn="just"/>
                <a:r>
                  <a:rPr lang="en-US" dirty="0"/>
                  <a:t>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64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365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years 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2EE199-A042-4233-93C1-107893F04D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8865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E50E-55DB-4B61-B814-0CB2F8F82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7A5CD3-CFF4-48B7-8E81-E4CBE5F88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P = Rs. 5000, R = 15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% p.a., &amp; 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64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3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65</m:t>
                        </m:r>
                      </m:den>
                    </m:f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years </a:t>
                </a:r>
                <a:endParaRPr lang="en-IN" dirty="0"/>
              </a:p>
              <a:p>
                <a:pPr algn="just"/>
                <a:r>
                  <a:rPr lang="en-US" dirty="0"/>
                  <a:t>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5 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64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  <m:r>
                          <m:rPr>
                            <m:nor/>
                          </m:rPr>
                          <a:rPr lang="en-US" dirty="0" smtClean="0"/>
                          <m:t>0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3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65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S.I. = Rs.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9600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73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/>
                <a:r>
                  <a:rPr lang="en-US" dirty="0"/>
                  <a:t>S.I. = Rs. 131.51 (approx.)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7A5CD3-CFF4-48B7-8E81-E4CBE5F88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858BAB-DE0A-4AFA-B98E-4C0499AEE4E3}"/>
              </a:ext>
            </a:extLst>
          </p:cNvPr>
          <p:cNvCxnSpPr>
            <a:cxnSpLocks/>
          </p:cNvCxnSpPr>
          <p:nvPr/>
        </p:nvCxnSpPr>
        <p:spPr>
          <a:xfrm flipV="1">
            <a:off x="1789043" y="4283764"/>
            <a:ext cx="546652" cy="1292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0A0C29-300C-49B8-96A6-88B64BB07FF8}"/>
              </a:ext>
            </a:extLst>
          </p:cNvPr>
          <p:cNvCxnSpPr>
            <a:cxnSpLocks/>
          </p:cNvCxnSpPr>
          <p:nvPr/>
        </p:nvCxnSpPr>
        <p:spPr>
          <a:xfrm flipV="1">
            <a:off x="1441171" y="3940865"/>
            <a:ext cx="767386" cy="579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8B9D7C-FBAC-4813-B3E2-F47B41FFC906}"/>
              </a:ext>
            </a:extLst>
          </p:cNvPr>
          <p:cNvCxnSpPr>
            <a:cxnSpLocks/>
          </p:cNvCxnSpPr>
          <p:nvPr/>
        </p:nvCxnSpPr>
        <p:spPr>
          <a:xfrm flipV="1">
            <a:off x="2630555" y="4283764"/>
            <a:ext cx="477079" cy="12920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82E56D-A41A-4C28-9587-7A50CE57681D}"/>
              </a:ext>
            </a:extLst>
          </p:cNvPr>
          <p:cNvCxnSpPr>
            <a:cxnSpLocks/>
          </p:cNvCxnSpPr>
          <p:nvPr/>
        </p:nvCxnSpPr>
        <p:spPr>
          <a:xfrm flipV="1">
            <a:off x="1470988" y="3556516"/>
            <a:ext cx="477079" cy="12920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74EB8D5-8CD7-4BF7-A7FB-BD5392E314E8}"/>
              </a:ext>
            </a:extLst>
          </p:cNvPr>
          <p:cNvSpPr txBox="1"/>
          <p:nvPr/>
        </p:nvSpPr>
        <p:spPr>
          <a:xfrm>
            <a:off x="2965792" y="4427881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73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D0E4CE-4B67-4E7C-A99B-D07542A7E630}"/>
              </a:ext>
            </a:extLst>
          </p:cNvPr>
          <p:cNvSpPr txBox="1"/>
          <p:nvPr/>
        </p:nvSpPr>
        <p:spPr>
          <a:xfrm>
            <a:off x="1453182" y="3429621"/>
            <a:ext cx="477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53E646-222D-4578-B76C-24D13B06EEE1}"/>
              </a:ext>
            </a:extLst>
          </p:cNvPr>
          <p:cNvSpPr txBox="1"/>
          <p:nvPr/>
        </p:nvSpPr>
        <p:spPr>
          <a:xfrm>
            <a:off x="1948067" y="3399390"/>
            <a:ext cx="477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954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4F4A-14B1-48B7-A162-47F1AB21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779737-34D3-45CF-B5C2-A8F656599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The simple interest accrued on an amount of Rs. 1500 at the end of 2 years is Rs. 600. What would be the simple interest accrued on an amount of Rs. 3400 at the same rate and for the same period?</a:t>
                </a:r>
              </a:p>
              <a:p>
                <a:pPr algn="just"/>
                <a:r>
                  <a:rPr lang="en-US" dirty="0"/>
                  <a:t>P = Rs. 1500, T = 2 years, &amp; S.I. = Rs. 600</a:t>
                </a:r>
              </a:p>
              <a:p>
                <a:pPr algn="just"/>
                <a:r>
                  <a:rPr lang="en-US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/>
                <a:r>
                  <a:rPr lang="en-US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600 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1500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2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779737-34D3-45CF-B5C2-A8F656599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986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4F4A-14B1-48B7-A162-47F1AB21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779737-34D3-45CF-B5C2-A8F656599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600 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1500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2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endParaRPr lang="en-IN" dirty="0"/>
              </a:p>
              <a:p>
                <a:pPr algn="just"/>
                <a:r>
                  <a:rPr lang="en-US" dirty="0"/>
                  <a:t>R =</a:t>
                </a:r>
                <a:r>
                  <a:rPr lang="en-IN" dirty="0"/>
                  <a:t> 20%</a:t>
                </a:r>
              </a:p>
              <a:p>
                <a:pPr algn="just"/>
                <a:r>
                  <a:rPr lang="en-US" dirty="0"/>
                  <a:t>P = Rs. 3400, R = 20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% p.a., &amp; T = 2 years </a:t>
                </a:r>
                <a:endParaRPr lang="en-IN" dirty="0"/>
              </a:p>
              <a:p>
                <a:pPr algn="just"/>
                <a:r>
                  <a:rPr lang="en-US" dirty="0"/>
                  <a:t>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/>
                <a:r>
                  <a:rPr lang="en-US" dirty="0"/>
                  <a:t>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3400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20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/>
                <a:r>
                  <a:rPr lang="en-US" dirty="0"/>
                  <a:t>S.I. = Rs. 1360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779737-34D3-45CF-B5C2-A8F656599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b="-21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D66014-98D7-4620-95DC-44E4BD722A51}"/>
              </a:ext>
            </a:extLst>
          </p:cNvPr>
          <p:cNvCxnSpPr>
            <a:cxnSpLocks/>
          </p:cNvCxnSpPr>
          <p:nvPr/>
        </p:nvCxnSpPr>
        <p:spPr>
          <a:xfrm flipV="1">
            <a:off x="1219922" y="2213251"/>
            <a:ext cx="477079" cy="12920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9A47BE-4803-4144-A737-EBED5AADAB2F}"/>
              </a:ext>
            </a:extLst>
          </p:cNvPr>
          <p:cNvCxnSpPr>
            <a:cxnSpLocks/>
          </p:cNvCxnSpPr>
          <p:nvPr/>
        </p:nvCxnSpPr>
        <p:spPr>
          <a:xfrm flipV="1">
            <a:off x="1999834" y="1551198"/>
            <a:ext cx="601527" cy="6460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E26F26-D393-4003-A3C1-339785604651}"/>
              </a:ext>
            </a:extLst>
          </p:cNvPr>
          <p:cNvSpPr txBox="1"/>
          <p:nvPr/>
        </p:nvSpPr>
        <p:spPr>
          <a:xfrm>
            <a:off x="1311755" y="2076671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2A9FD7-3B86-4C7F-974D-C5CCF08BF2C8}"/>
              </a:ext>
            </a:extLst>
          </p:cNvPr>
          <p:cNvCxnSpPr>
            <a:cxnSpLocks/>
          </p:cNvCxnSpPr>
          <p:nvPr/>
        </p:nvCxnSpPr>
        <p:spPr>
          <a:xfrm flipV="1">
            <a:off x="1145169" y="1913651"/>
            <a:ext cx="780432" cy="74347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589201-9427-4EAA-8302-D7795AEAFF23}"/>
              </a:ext>
            </a:extLst>
          </p:cNvPr>
          <p:cNvCxnSpPr>
            <a:cxnSpLocks/>
          </p:cNvCxnSpPr>
          <p:nvPr/>
        </p:nvCxnSpPr>
        <p:spPr>
          <a:xfrm flipV="1">
            <a:off x="837574" y="1583329"/>
            <a:ext cx="928895" cy="96565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38CB1D-054B-40BF-B2D3-F5A10A3065A3}"/>
              </a:ext>
            </a:extLst>
          </p:cNvPr>
          <p:cNvSpPr txBox="1"/>
          <p:nvPr/>
        </p:nvSpPr>
        <p:spPr>
          <a:xfrm>
            <a:off x="1535386" y="1200367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249B5-8D88-415C-930D-C258E0CA7034}"/>
              </a:ext>
            </a:extLst>
          </p:cNvPr>
          <p:cNvSpPr txBox="1"/>
          <p:nvPr/>
        </p:nvSpPr>
        <p:spPr>
          <a:xfrm>
            <a:off x="2405269" y="1216860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  <a:endParaRPr lang="en-I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1AED4F-E9FF-47EB-AE74-50B435E0561B}"/>
              </a:ext>
            </a:extLst>
          </p:cNvPr>
          <p:cNvCxnSpPr>
            <a:cxnSpLocks/>
          </p:cNvCxnSpPr>
          <p:nvPr/>
        </p:nvCxnSpPr>
        <p:spPr>
          <a:xfrm flipV="1">
            <a:off x="2111649" y="1923394"/>
            <a:ext cx="377896" cy="646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120478-42F7-492B-B81B-5458D5DD0905}"/>
              </a:ext>
            </a:extLst>
          </p:cNvPr>
          <p:cNvCxnSpPr>
            <a:cxnSpLocks/>
          </p:cNvCxnSpPr>
          <p:nvPr/>
        </p:nvCxnSpPr>
        <p:spPr>
          <a:xfrm flipV="1">
            <a:off x="1498114" y="1370021"/>
            <a:ext cx="377896" cy="646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046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CC8A-4D11-485D-B3FE-5DB5553C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Change of P, R &amp; T on S.I.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>
                  <a:lnSpc>
                    <a:spcPct val="260000"/>
                  </a:lnSpc>
                </a:pPr>
                <a:r>
                  <a:rPr lang="en-US" dirty="0"/>
                  <a:t>Change in Simple Interest (S.I.)</a:t>
                </a:r>
                <a:r>
                  <a:rPr lang="en-US" sz="20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dirty="0"/>
                          <m:t>[</m:t>
                        </m:r>
                        <m:r>
                          <m:rPr>
                            <m:nor/>
                          </m:rPr>
                          <a:rPr lang="en-US" sz="2200" dirty="0"/>
                          <m:t>Product</m:t>
                        </m:r>
                        <m:r>
                          <m:rPr>
                            <m:nor/>
                          </m:rPr>
                          <a:rPr lang="en-US" sz="2200" dirty="0"/>
                          <m:t> </m:t>
                        </m:r>
                        <m:r>
                          <m:rPr>
                            <m:nor/>
                          </m:rPr>
                          <a:rPr lang="en-US" sz="2200" dirty="0"/>
                          <m:t>of</m:t>
                        </m:r>
                        <m:r>
                          <m:rPr>
                            <m:nor/>
                          </m:rPr>
                          <a:rPr lang="en-US" sz="2200" dirty="0"/>
                          <m:t> </m:t>
                        </m:r>
                        <m:r>
                          <m:rPr>
                            <m:nor/>
                          </m:rPr>
                          <a:rPr lang="en-US" sz="2200" dirty="0" smtClean="0"/>
                          <m:t>Fixed</m:t>
                        </m:r>
                        <m:r>
                          <m:rPr>
                            <m:nor/>
                          </m:rPr>
                          <a:rPr lang="en-US" sz="220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200" dirty="0" smtClean="0"/>
                          <m:t>Parameter</m:t>
                        </m:r>
                        <m:r>
                          <m:rPr>
                            <m:nor/>
                          </m:rPr>
                          <a:rPr lang="en-US" sz="2200" dirty="0"/>
                          <m:t>]×[</m:t>
                        </m:r>
                        <m:r>
                          <m:rPr>
                            <m:nor/>
                          </m:rPr>
                          <a:rPr lang="en-US" sz="2200" dirty="0"/>
                          <m:t>Difference</m:t>
                        </m:r>
                        <m:r>
                          <m:rPr>
                            <m:nor/>
                          </m:rPr>
                          <a:rPr lang="en-US" sz="2200" dirty="0"/>
                          <m:t> </m:t>
                        </m:r>
                        <m:r>
                          <m:rPr>
                            <m:nor/>
                          </m:rPr>
                          <a:rPr lang="en-US" sz="2200" dirty="0"/>
                          <m:t>of</m:t>
                        </m:r>
                        <m:r>
                          <m:rPr>
                            <m:nor/>
                          </m:rPr>
                          <a:rPr lang="en-US" sz="2200" dirty="0"/>
                          <m:t> </m:t>
                        </m:r>
                        <m:r>
                          <m:rPr>
                            <m:nor/>
                          </m:rPr>
                          <a:rPr lang="en-US" sz="2200" dirty="0"/>
                          <m:t>Product</m:t>
                        </m:r>
                        <m:r>
                          <m:rPr>
                            <m:nor/>
                          </m:rPr>
                          <a:rPr lang="en-US" sz="2200" dirty="0"/>
                          <m:t> </m:t>
                        </m:r>
                        <m:r>
                          <m:rPr>
                            <m:nor/>
                          </m:rPr>
                          <a:rPr lang="en-US" sz="2200" dirty="0"/>
                          <m:t>of</m:t>
                        </m:r>
                        <m:r>
                          <m:rPr>
                            <m:nor/>
                          </m:rPr>
                          <a:rPr lang="en-US" sz="2200" dirty="0"/>
                          <m:t> </m:t>
                        </m:r>
                        <m:r>
                          <m:rPr>
                            <m:nor/>
                          </m:rPr>
                          <a:rPr lang="en-US" sz="2200" dirty="0"/>
                          <m:t>Variable</m:t>
                        </m:r>
                        <m:r>
                          <m:rPr>
                            <m:nor/>
                          </m:rPr>
                          <a:rPr lang="en-US" sz="2200" dirty="0"/>
                          <m:t> </m:t>
                        </m:r>
                        <m:r>
                          <m:rPr>
                            <m:nor/>
                          </m:rPr>
                          <a:rPr lang="en-US" sz="2200" dirty="0"/>
                          <m:t>Parameters</m:t>
                        </m:r>
                        <m:r>
                          <m:rPr>
                            <m:nor/>
                          </m:rPr>
                          <a:rPr lang="en-US" sz="22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dirty="0"/>
                          <m:t>100</m:t>
                        </m:r>
                      </m:den>
                    </m:f>
                  </m:oMath>
                </a14:m>
                <a:endParaRPr lang="en-IN" sz="22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406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CC8A-4D11-485D-B3FE-5DB5553C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Change of P on S.I.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If P changes </a:t>
                </a:r>
                <a:r>
                  <a:rPr lang="en-IN" dirty="0"/>
                  <a:t>but</a:t>
                </a:r>
                <a:r>
                  <a:rPr lang="en-US" dirty="0"/>
                  <a:t> R &amp; T remains same.</a:t>
                </a:r>
              </a:p>
              <a:p>
                <a:pPr algn="just"/>
                <a:r>
                  <a:rPr lang="en-US" dirty="0"/>
                  <a:t>Change in 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US" sz="2400" dirty="0"/>
                          <m:t>×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[</m:t>
                        </m:r>
                        <m:r>
                          <m:rPr>
                            <m:nor/>
                          </m:rPr>
                          <a:rPr lang="en-IN" sz="2400" dirty="0"/>
                          <m:t>Change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in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100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188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C83D-17AA-4870-8932-F85ABFD7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C36D2-45D0-4BBE-850E-54BA630F5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/>
                  <a:t>Calculate the change in simple interest (S.I.) for 3 years at 2% p.a. if the principal increases by Rs. 1000.</a:t>
                </a:r>
              </a:p>
              <a:p>
                <a:pPr algn="just"/>
                <a:r>
                  <a:rPr lang="en-US" sz="2400" dirty="0"/>
                  <a:t>Change in P = Rs. 1000, R = 2</a:t>
                </a:r>
                <a14:m>
                  <m:oMath xmlns:m="http://schemas.openxmlformats.org/officeDocument/2006/math">
                    <m:r>
                      <a:rPr lang="en-US" sz="2400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% p.a., &amp; T = 3 years</a:t>
                </a:r>
              </a:p>
              <a:p>
                <a:pPr algn="just"/>
                <a:r>
                  <a:rPr lang="en-US" sz="2400" dirty="0"/>
                  <a:t>Change in S.I.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x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T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[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Change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in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100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0" i="0" dirty="0" smtClean="0"/>
                          <m:t>2 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3 </m:t>
                        </m:r>
                        <m:r>
                          <m:rPr>
                            <m:nor/>
                          </m:rPr>
                          <a:rPr lang="en-IN" sz="2400" dirty="0"/>
                          <m:t>x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1000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100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		= Rs. 60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C36D2-45D0-4BBE-850E-54BA630F5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DDA952-5EDF-4A70-B727-9ECD7390032C}"/>
              </a:ext>
            </a:extLst>
          </p:cNvPr>
          <p:cNvCxnSpPr>
            <a:cxnSpLocks/>
          </p:cNvCxnSpPr>
          <p:nvPr/>
        </p:nvCxnSpPr>
        <p:spPr>
          <a:xfrm flipV="1">
            <a:off x="3951837" y="5008529"/>
            <a:ext cx="477079" cy="1292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A4A491-7175-42CD-9B44-8851BDAD37DF}"/>
              </a:ext>
            </a:extLst>
          </p:cNvPr>
          <p:cNvCxnSpPr>
            <a:cxnSpLocks/>
          </p:cNvCxnSpPr>
          <p:nvPr/>
        </p:nvCxnSpPr>
        <p:spPr>
          <a:xfrm flipV="1">
            <a:off x="4355408" y="4581939"/>
            <a:ext cx="735499" cy="1722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49C776-283C-4AC1-8ACE-97915B26427F}"/>
              </a:ext>
            </a:extLst>
          </p:cNvPr>
          <p:cNvSpPr txBox="1"/>
          <p:nvPr/>
        </p:nvSpPr>
        <p:spPr>
          <a:xfrm>
            <a:off x="5090907" y="4212607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0254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CC8A-4D11-485D-B3FE-5DB5553C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Change of R on S.I.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If R changes but P &amp; T remains same.</a:t>
                </a:r>
              </a:p>
              <a:p>
                <a:pPr algn="just"/>
                <a:r>
                  <a:rPr lang="en-US" dirty="0"/>
                  <a:t>Change in 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[</m:t>
                        </m:r>
                        <m:r>
                          <m:rPr>
                            <m:nor/>
                          </m:rPr>
                          <a:rPr lang="en-IN" sz="2800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sz="2800" dirty="0"/>
                          <m:t>×</m:t>
                        </m:r>
                        <m:r>
                          <m:rPr>
                            <m:nor/>
                          </m:rPr>
                          <a:rPr lang="en-IN" sz="2800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sz="2800" dirty="0"/>
                          <m:t>]</m:t>
                        </m:r>
                        <m:r>
                          <m:rPr>
                            <m:nor/>
                          </m:rPr>
                          <a:rPr lang="en-IN" sz="28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800" dirty="0"/>
                          <m:t> [</m:t>
                        </m:r>
                        <m:r>
                          <m:rPr>
                            <m:nor/>
                          </m:rPr>
                          <a:rPr lang="en-IN" sz="2800" b="0" i="0" dirty="0" smtClean="0"/>
                          <m:t>Change</m:t>
                        </m:r>
                        <m:r>
                          <m:rPr>
                            <m:nor/>
                          </m:rPr>
                          <a:rPr lang="en-IN" sz="28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800" b="0" i="0" dirty="0" smtClean="0"/>
                          <m:t>in</m:t>
                        </m:r>
                        <m:r>
                          <m:rPr>
                            <m:nor/>
                          </m:rPr>
                          <a:rPr lang="en-IN" sz="28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800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US" sz="28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100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2844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C83D-17AA-4870-8932-F85ABFD7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C36D2-45D0-4BBE-850E-54BA630F5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/>
                  <a:t>Calculate the change in simple interest (S.I.) on Rs. 500 for 3 years if rate % increases by 2% p.a. </a:t>
                </a:r>
              </a:p>
              <a:p>
                <a:pPr algn="just"/>
                <a:r>
                  <a:rPr lang="en-US" sz="2400" dirty="0"/>
                  <a:t>P = Rs. 500, Change in R = 2</a:t>
                </a:r>
                <a14:m>
                  <m:oMath xmlns:m="http://schemas.openxmlformats.org/officeDocument/2006/math">
                    <m:r>
                      <a:rPr lang="en-US" sz="2400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% p.a., &amp; T = 3 years</a:t>
                </a:r>
              </a:p>
              <a:p>
                <a:pPr algn="just"/>
                <a:r>
                  <a:rPr lang="en-US" sz="2400" dirty="0"/>
                  <a:t>Change in S.I.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x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T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[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Change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in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100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0" i="0" dirty="0" smtClean="0"/>
                          <m:t>500 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3 </m:t>
                        </m:r>
                        <m:r>
                          <m:rPr>
                            <m:nor/>
                          </m:rPr>
                          <a:rPr lang="en-IN" sz="2400" dirty="0"/>
                          <m:t>x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100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		= Rs. 30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C36D2-45D0-4BBE-850E-54BA630F5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DDA952-5EDF-4A70-B727-9ECD7390032C}"/>
              </a:ext>
            </a:extLst>
          </p:cNvPr>
          <p:cNvCxnSpPr>
            <a:cxnSpLocks/>
          </p:cNvCxnSpPr>
          <p:nvPr/>
        </p:nvCxnSpPr>
        <p:spPr>
          <a:xfrm flipV="1">
            <a:off x="3922020" y="4952585"/>
            <a:ext cx="477079" cy="1292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A4A491-7175-42CD-9B44-8851BDAD37DF}"/>
              </a:ext>
            </a:extLst>
          </p:cNvPr>
          <p:cNvCxnSpPr>
            <a:cxnSpLocks/>
          </p:cNvCxnSpPr>
          <p:nvPr/>
        </p:nvCxnSpPr>
        <p:spPr>
          <a:xfrm flipV="1">
            <a:off x="3319666" y="4591878"/>
            <a:ext cx="735499" cy="1722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49C776-283C-4AC1-8ACE-97915B26427F}"/>
              </a:ext>
            </a:extLst>
          </p:cNvPr>
          <p:cNvSpPr txBox="1"/>
          <p:nvPr/>
        </p:nvSpPr>
        <p:spPr>
          <a:xfrm>
            <a:off x="3463784" y="4098721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4757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CC8A-4D11-485D-B3FE-5DB5553C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Change of T on S.I.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If T changes </a:t>
                </a:r>
                <a:r>
                  <a:rPr lang="en-IN" dirty="0"/>
                  <a:t>but</a:t>
                </a:r>
                <a:r>
                  <a:rPr lang="en-US" dirty="0"/>
                  <a:t> P &amp; R remains same.</a:t>
                </a:r>
              </a:p>
              <a:p>
                <a:pPr algn="just"/>
                <a:r>
                  <a:rPr lang="en-US" dirty="0"/>
                  <a:t>Change in 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sz="2400" dirty="0"/>
                          <m:t>×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[</m:t>
                        </m:r>
                        <m:r>
                          <m:rPr>
                            <m:nor/>
                          </m:rPr>
                          <a:rPr lang="en-IN" sz="2400" dirty="0"/>
                          <m:t>Change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in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100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7033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C83D-17AA-4870-8932-F85ABFD7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C36D2-45D0-4BBE-850E-54BA630F5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/>
                  <a:t>Calculate the change in simple interest (S.I.) on Rs. 500 at 2% p.a. if the time increases by 6 years. </a:t>
                </a:r>
              </a:p>
              <a:p>
                <a:pPr algn="just"/>
                <a:r>
                  <a:rPr lang="en-US" sz="2400" dirty="0"/>
                  <a:t>P = Rs. 500, R = 2</a:t>
                </a:r>
                <a14:m>
                  <m:oMath xmlns:m="http://schemas.openxmlformats.org/officeDocument/2006/math">
                    <m:r>
                      <a:rPr lang="en-US" sz="2400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% p.a., &amp; Change in T = 6 years</a:t>
                </a:r>
              </a:p>
              <a:p>
                <a:pPr algn="just"/>
                <a:r>
                  <a:rPr lang="en-US" sz="2400" dirty="0"/>
                  <a:t>Change in S.I.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x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R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[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Change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in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T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100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0" i="0" dirty="0" smtClean="0"/>
                          <m:t>500 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sz="2400" dirty="0"/>
                          <m:t> 2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x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100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		= Rs. 60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C36D2-45D0-4BBE-850E-54BA630F5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DDA952-5EDF-4A70-B727-9ECD7390032C}"/>
              </a:ext>
            </a:extLst>
          </p:cNvPr>
          <p:cNvCxnSpPr>
            <a:cxnSpLocks/>
          </p:cNvCxnSpPr>
          <p:nvPr/>
        </p:nvCxnSpPr>
        <p:spPr>
          <a:xfrm flipV="1">
            <a:off x="3922020" y="4952585"/>
            <a:ext cx="477079" cy="1292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A4A491-7175-42CD-9B44-8851BDAD37DF}"/>
              </a:ext>
            </a:extLst>
          </p:cNvPr>
          <p:cNvCxnSpPr>
            <a:cxnSpLocks/>
          </p:cNvCxnSpPr>
          <p:nvPr/>
        </p:nvCxnSpPr>
        <p:spPr>
          <a:xfrm flipV="1">
            <a:off x="3319666" y="4591878"/>
            <a:ext cx="735499" cy="1722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49C776-283C-4AC1-8ACE-97915B26427F}"/>
              </a:ext>
            </a:extLst>
          </p:cNvPr>
          <p:cNvSpPr txBox="1"/>
          <p:nvPr/>
        </p:nvSpPr>
        <p:spPr>
          <a:xfrm>
            <a:off x="3463784" y="4098721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8617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CC8A-4D11-485D-B3FE-5DB5553C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Change of R &amp; T on S.I.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If R changes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</m:e>
                      <m:sub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T changes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b="0" i="0" dirty="0" smtClean="0"/>
                          <m:t>T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b="0" i="0" dirty="0" smtClean="0"/>
                          <m:t>T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and P is fixed. </a:t>
                </a:r>
              </a:p>
              <a:p>
                <a:pPr algn="just"/>
                <a:r>
                  <a:rPr lang="en-US" dirty="0"/>
                  <a:t>Change in 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800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sz="2800" dirty="0" smtClean="0"/>
                          <m:t>×</m:t>
                        </m:r>
                        <m:r>
                          <m:rPr>
                            <m:nor/>
                          </m:rPr>
                          <a:rPr lang="en-US" sz="2800" dirty="0"/>
                          <m:t> [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800" b="0" i="0" dirty="0" smtClean="0"/>
                              <m:t>R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800" b="0" i="0" dirty="0" smtClean="0"/>
                              <m:t>T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800" b="0" i="0" dirty="0" smtClean="0"/>
                          <m:t>−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800" b="0" i="0" dirty="0" smtClean="0"/>
                              <m:t>R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800" b="0" i="0" dirty="0" smtClean="0"/>
                              <m:t>T</m:t>
                            </m:r>
                          </m:e>
                          <m:sub>
                            <m:r>
                              <a:rPr lang="en-IN" sz="28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100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96979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EC83D-17AA-4870-8932-F85ABFD7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C36D2-45D0-4BBE-850E-54BA630F5A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just"/>
                <a:r>
                  <a:rPr lang="en-US" sz="2400" dirty="0"/>
                  <a:t>Calculate the change in simple interest (S.I.) on Rs. 8000 if the rate % changes from 4% p.a. to 5% p.a. and the time changes from 4 years to 3 years. </a:t>
                </a:r>
              </a:p>
              <a:p>
                <a:pPr algn="just"/>
                <a:r>
                  <a:rPr lang="en-US" sz="2400" dirty="0"/>
                  <a:t>P = Rs. 8000,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400" dirty="0"/>
                          <m:t>R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4</a:t>
                </a:r>
                <a14:m>
                  <m:oMath xmlns:m="http://schemas.openxmlformats.org/officeDocument/2006/math">
                    <m:r>
                      <a:rPr lang="en-US" sz="2400" i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% p.a.,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400" dirty="0"/>
                          <m:t>R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= 5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% p.a.,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400" dirty="0"/>
                          <m:t>T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4 </a:t>
                </a:r>
                <a:r>
                  <a:rPr lang="en-US" sz="2400" dirty="0" err="1"/>
                  <a:t>yrs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&amp;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T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4 </a:t>
                </a:r>
                <a:r>
                  <a:rPr lang="en-US" sz="2400" dirty="0" err="1"/>
                  <a:t>yrs</a:t>
                </a:r>
                <a:r>
                  <a:rPr lang="en-US" sz="2400" dirty="0"/>
                  <a:t> </a:t>
                </a:r>
              </a:p>
              <a:p>
                <a:pPr algn="just"/>
                <a:r>
                  <a:rPr lang="en-US" sz="2400" dirty="0"/>
                  <a:t>Change in S.I.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P</m:t>
                        </m:r>
                        <m:r>
                          <m:rPr>
                            <m:nor/>
                          </m:rPr>
                          <a:rPr lang="en-US" sz="2400" dirty="0"/>
                          <m:t>× 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400" dirty="0"/>
                              <m:t>R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400" dirty="0"/>
                              <m:t>R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100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8000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4 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4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5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3]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100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		= 80 x 1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= Rs. 80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FC36D2-45D0-4BBE-850E-54BA630F5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1" r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DDA952-5EDF-4A70-B727-9ECD7390032C}"/>
              </a:ext>
            </a:extLst>
          </p:cNvPr>
          <p:cNvCxnSpPr>
            <a:cxnSpLocks/>
          </p:cNvCxnSpPr>
          <p:nvPr/>
        </p:nvCxnSpPr>
        <p:spPr>
          <a:xfrm flipV="1">
            <a:off x="4414422" y="4979916"/>
            <a:ext cx="477079" cy="12920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A4A491-7175-42CD-9B44-8851BDAD37DF}"/>
              </a:ext>
            </a:extLst>
          </p:cNvPr>
          <p:cNvCxnSpPr>
            <a:cxnSpLocks/>
          </p:cNvCxnSpPr>
          <p:nvPr/>
        </p:nvCxnSpPr>
        <p:spPr>
          <a:xfrm flipV="1">
            <a:off x="3319664" y="4658622"/>
            <a:ext cx="735499" cy="1722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49C776-283C-4AC1-8ACE-97915B26427F}"/>
              </a:ext>
            </a:extLst>
          </p:cNvPr>
          <p:cNvSpPr txBox="1"/>
          <p:nvPr/>
        </p:nvSpPr>
        <p:spPr>
          <a:xfrm>
            <a:off x="3463782" y="4284732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6154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CC8A-4D11-485D-B3FE-5DB5553C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Change of P, R &amp; T on S.I.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If P changes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</m:e>
                      <m:sub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T changes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b="0" i="0" dirty="0" smtClean="0"/>
                          <m:t>T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b="0" i="0" dirty="0" smtClean="0"/>
                          <m:t>T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and R is fixed. </a:t>
                </a:r>
              </a:p>
              <a:p>
                <a:pPr algn="just"/>
                <a:r>
                  <a:rPr lang="en-US" dirty="0"/>
                  <a:t>Change in 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R</m:t>
                        </m:r>
                        <m:r>
                          <m:rPr>
                            <m:nor/>
                          </m:rPr>
                          <a:rPr lang="en-US" sz="2800" dirty="0" smtClean="0"/>
                          <m:t>×</m:t>
                        </m:r>
                        <m:r>
                          <m:rPr>
                            <m:nor/>
                          </m:rPr>
                          <a:rPr lang="en-US" sz="2800" dirty="0"/>
                          <m:t> [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P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800" b="0" i="0" dirty="0" smtClean="0"/>
                              <m:t>T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800" b="0" i="0" dirty="0" smtClean="0"/>
                          <m:t>−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P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800" b="0" i="0" dirty="0" smtClean="0"/>
                              <m:t>T</m:t>
                            </m:r>
                          </m:e>
                          <m:sub>
                            <m:r>
                              <a:rPr lang="en-IN" sz="28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100</m:t>
                        </m:r>
                      </m:den>
                    </m:f>
                  </m:oMath>
                </a14:m>
                <a:endParaRPr lang="en-US" sz="2800" dirty="0"/>
              </a:p>
              <a:p>
                <a:pPr algn="just"/>
                <a:r>
                  <a:rPr lang="en-US" dirty="0"/>
                  <a:t>If P changes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</m:e>
                      <m:sub>
                        <m:r>
                          <a:rPr lang="en-IN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R changes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R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, and T is fixed. </a:t>
                </a:r>
              </a:p>
              <a:p>
                <a:pPr algn="just"/>
                <a:r>
                  <a:rPr lang="en-US" dirty="0"/>
                  <a:t>Change in S.I.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sz="2800" dirty="0" smtClean="0"/>
                          <m:t>×</m:t>
                        </m:r>
                        <m:r>
                          <m:rPr>
                            <m:nor/>
                          </m:rPr>
                          <a:rPr lang="en-US" sz="2800" dirty="0"/>
                          <m:t> [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P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R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800" b="0" i="0" dirty="0" smtClean="0"/>
                          <m:t>−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P</m:t>
                            </m:r>
                          </m:e>
                          <m:sub>
                            <m:r>
                              <a:rPr lang="en-IN" sz="28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8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800" b="0" i="0" dirty="0" smtClean="0"/>
                              <m:t>R</m:t>
                            </m:r>
                          </m:e>
                          <m:sub>
                            <m:r>
                              <a:rPr lang="en-IN" sz="28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8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100</m:t>
                        </m:r>
                      </m:den>
                    </m:f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031BDE-F0B1-435B-82FE-AED72A2ADE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364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S.I.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R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/>
                <a:r>
                  <a:rPr lang="en-US" dirty="0"/>
                  <a:t>Time 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Years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Months</a:t>
                </a:r>
              </a:p>
              <a:p>
                <a:pPr lvl="1" algn="just">
                  <a:lnSpc>
                    <a:spcPct val="150000"/>
                  </a:lnSpc>
                </a:pPr>
                <a:r>
                  <a:rPr lang="en-US" dirty="0"/>
                  <a:t>Days</a:t>
                </a:r>
              </a:p>
              <a:p>
                <a:pPr algn="just"/>
                <a:r>
                  <a:rPr lang="en-US" dirty="0"/>
                  <a:t>Effect of Change of P, R &amp; T on S.I.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855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Simple Interest Computation</a:t>
            </a:r>
          </a:p>
          <a:p>
            <a:pPr lvl="0" algn="just"/>
            <a:r>
              <a:rPr lang="en-US" dirty="0"/>
              <a:t>Principal, Rate &amp; Time - </a:t>
            </a:r>
            <a:r>
              <a:rPr lang="en-US"/>
              <a:t>Simple Interest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2493</TotalTime>
  <Words>1013</Words>
  <Application>Microsoft Office PowerPoint</Application>
  <PresentationFormat>On-screen Show (4:3)</PresentationFormat>
  <Paragraphs>112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Problem 1</vt:lpstr>
      <vt:lpstr>Problem 2</vt:lpstr>
      <vt:lpstr>Problem 2</vt:lpstr>
      <vt:lpstr>Problem 3</vt:lpstr>
      <vt:lpstr>Problem 3</vt:lpstr>
      <vt:lpstr>Problem 4</vt:lpstr>
      <vt:lpstr>Problem 4</vt:lpstr>
      <vt:lpstr>Effect of Change of P, R &amp; T on S.I.</vt:lpstr>
      <vt:lpstr>Effect of Change of P on S.I.</vt:lpstr>
      <vt:lpstr>Problem 5</vt:lpstr>
      <vt:lpstr>Effect of Change of R on S.I.</vt:lpstr>
      <vt:lpstr>Problem 6</vt:lpstr>
      <vt:lpstr>Effect of Change of T on S.I.</vt:lpstr>
      <vt:lpstr>Problem 7</vt:lpstr>
      <vt:lpstr>Effect of Change of R &amp; T on S.I.</vt:lpstr>
      <vt:lpstr>Problem 8</vt:lpstr>
      <vt:lpstr>Effect of Change of P, R &amp; T on S.I.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168</cp:revision>
  <dcterms:created xsi:type="dcterms:W3CDTF">2020-12-18T18:59:12Z</dcterms:created>
  <dcterms:modified xsi:type="dcterms:W3CDTF">2022-04-23T05:02:08Z</dcterms:modified>
</cp:coreProperties>
</file>