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41"/>
  </p:handoutMasterIdLst>
  <p:sldIdLst>
    <p:sldId id="256" r:id="rId2"/>
    <p:sldId id="257" r:id="rId3"/>
    <p:sldId id="260" r:id="rId4"/>
    <p:sldId id="300" r:id="rId5"/>
    <p:sldId id="261" r:id="rId6"/>
    <p:sldId id="302" r:id="rId7"/>
    <p:sldId id="262" r:id="rId8"/>
    <p:sldId id="263" r:id="rId9"/>
    <p:sldId id="264" r:id="rId10"/>
    <p:sldId id="265" r:id="rId11"/>
    <p:sldId id="270" r:id="rId12"/>
    <p:sldId id="274" r:id="rId13"/>
    <p:sldId id="267" r:id="rId14"/>
    <p:sldId id="275" r:id="rId15"/>
    <p:sldId id="276" r:id="rId16"/>
    <p:sldId id="277" r:id="rId17"/>
    <p:sldId id="266" r:id="rId18"/>
    <p:sldId id="268" r:id="rId19"/>
    <p:sldId id="278" r:id="rId20"/>
    <p:sldId id="279" r:id="rId21"/>
    <p:sldId id="289" r:id="rId22"/>
    <p:sldId id="290" r:id="rId23"/>
    <p:sldId id="291" r:id="rId24"/>
    <p:sldId id="287" r:id="rId25"/>
    <p:sldId id="292" r:id="rId26"/>
    <p:sldId id="269" r:id="rId27"/>
    <p:sldId id="280" r:id="rId28"/>
    <p:sldId id="281" r:id="rId29"/>
    <p:sldId id="282" r:id="rId30"/>
    <p:sldId id="283" r:id="rId31"/>
    <p:sldId id="285" r:id="rId32"/>
    <p:sldId id="293" r:id="rId33"/>
    <p:sldId id="294" r:id="rId34"/>
    <p:sldId id="296" r:id="rId35"/>
    <p:sldId id="295" r:id="rId36"/>
    <p:sldId id="297" r:id="rId37"/>
    <p:sldId id="298" r:id="rId38"/>
    <p:sldId id="299" r:id="rId39"/>
    <p:sldId id="259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6CC"/>
    <a:srgbClr val="4472C4"/>
    <a:srgbClr val="DDDDDD"/>
    <a:srgbClr val="BBBBBB"/>
    <a:srgbClr val="00A2B8"/>
    <a:srgbClr val="00B451"/>
    <a:srgbClr val="BA202B"/>
    <a:srgbClr val="CA628C"/>
    <a:srgbClr val="71EEFF"/>
    <a:srgbClr val="89E2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4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188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F218DD-E614-4E73-B564-F8E0717E89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A14C21-F88B-4739-8F26-AA4DEEB64FA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1DE57-39A0-4263-A76B-22C3CE26C8E2}" type="datetimeFigureOut">
              <a:rPr lang="en-IN" smtClean="0"/>
              <a:t>13-12-2020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35058-CB50-45CA-B183-2892DE4A39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C2E93-0834-4027-BDF9-2CBEA15477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E93A7-2C4F-4D32-8895-81F23FF37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657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22478E-B0D0-4983-A2EC-2C070D46FC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00"/>
          <a:stretch/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758813" y="1011007"/>
            <a:ext cx="4186084" cy="1001405"/>
          </a:xfrm>
        </p:spPr>
        <p:txBody>
          <a:bodyPr anchor="b">
            <a:noAutofit/>
          </a:bodyPr>
          <a:lstStyle>
            <a:lvl1pPr algn="r">
              <a:defRPr sz="7500">
                <a:ln>
                  <a:solidFill>
                    <a:srgbClr val="BA202B"/>
                  </a:solidFill>
                </a:ln>
                <a:solidFill>
                  <a:srgbClr val="CA62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EMTH403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758813" y="2012412"/>
            <a:ext cx="4186083" cy="838943"/>
          </a:xfrm>
        </p:spPr>
        <p:txBody>
          <a:bodyPr>
            <a:normAutofit/>
          </a:bodyPr>
          <a:lstStyle>
            <a:lvl1pPr marL="0" indent="0" algn="r">
              <a:buNone/>
              <a:defRPr sz="2800">
                <a:solidFill>
                  <a:srgbClr val="00206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Mathematical Foundation for Computer Science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A5137-F38E-416C-BA01-890D57CBC895}"/>
              </a:ext>
            </a:extLst>
          </p:cNvPr>
          <p:cNvSpPr txBox="1"/>
          <p:nvPr userDrawn="1"/>
        </p:nvSpPr>
        <p:spPr>
          <a:xfrm>
            <a:off x="5369878" y="3852760"/>
            <a:ext cx="357501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2700" strike="noStrike" dirty="0">
                <a:solidFill>
                  <a:srgbClr val="BA202B"/>
                </a:solidFill>
                <a:effectLst/>
              </a:rPr>
              <a:t>Nitin K. Mishra (Ph.D.)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607290-3460-4AC4-ABC8-F072BD3D73E5}"/>
              </a:ext>
            </a:extLst>
          </p:cNvPr>
          <p:cNvSpPr txBox="1"/>
          <p:nvPr userDrawn="1"/>
        </p:nvSpPr>
        <p:spPr>
          <a:xfrm>
            <a:off x="5525729" y="4314425"/>
            <a:ext cx="3419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Associate Professor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2C86BC-E539-4EC2-9687-C9BAFAAFC1D8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805586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12CEEC-655E-468A-942D-1D746D274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360591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389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-1"/>
            <a:ext cx="9144000" cy="2113936"/>
          </a:xfrm>
          <a:prstGeom prst="rect">
            <a:avLst/>
          </a:prstGeom>
          <a:gradFill flip="none" rotWithShape="1">
            <a:gsLst>
              <a:gs pos="78000">
                <a:schemeClr val="accent3">
                  <a:lumMod val="0"/>
                  <a:lumOff val="100000"/>
                </a:schemeClr>
              </a:gs>
              <a:gs pos="45000">
                <a:srgbClr val="00A2B8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290" y="0"/>
            <a:ext cx="5191433" cy="211393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Lecture</a:t>
            </a:r>
            <a:br>
              <a:rPr lang="en-US" dirty="0"/>
            </a:br>
            <a:r>
              <a:rPr lang="en-US" dirty="0"/>
              <a:t>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63560" y="2883188"/>
            <a:ext cx="7934633" cy="350028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buClr>
                <a:srgbClr val="00A2B8"/>
              </a:buClr>
              <a:defRPr sz="2800"/>
            </a:lvl2pPr>
            <a:lvl3pPr>
              <a:buClr>
                <a:srgbClr val="00A2B8"/>
              </a:buClr>
              <a:defRPr/>
            </a:lvl3pPr>
            <a:lvl4pPr>
              <a:buClr>
                <a:srgbClr val="00A2B8"/>
              </a:buClr>
              <a:defRPr/>
            </a:lvl4pPr>
            <a:lvl5pPr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pic>
        <p:nvPicPr>
          <p:cNvPr id="11" name="Graphic 10" descr="Target">
            <a:extLst>
              <a:ext uri="{FF2B5EF4-FFF2-40B4-BE49-F238E27FC236}">
                <a16:creationId xmlns:a16="http://schemas.microsoft.com/office/drawing/2014/main" id="{8709446A-BD58-42FE-8058-90C6B72440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6708" y="98321"/>
            <a:ext cx="1917292" cy="191729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377C6D-0C30-48F0-89AC-23D3E98F9A33}"/>
              </a:ext>
            </a:extLst>
          </p:cNvPr>
          <p:cNvSpPr txBox="1"/>
          <p:nvPr userDrawn="1"/>
        </p:nvSpPr>
        <p:spPr>
          <a:xfrm>
            <a:off x="393290" y="2298413"/>
            <a:ext cx="6845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64616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91E1C-13AA-4430-B0AB-E932AEDB367A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225208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7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40D22A-9F0E-4024-A4A6-FCCE6CB60E86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402652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310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13-12-2020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989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13-12-2020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985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13-12-2020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219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13-12-2020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743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41FF5F-8082-499F-9B42-B9953F7F83AE}"/>
              </a:ext>
            </a:extLst>
          </p:cNvPr>
          <p:cNvSpPr txBox="1"/>
          <p:nvPr userDrawn="1"/>
        </p:nvSpPr>
        <p:spPr>
          <a:xfrm>
            <a:off x="1620711" y="2869012"/>
            <a:ext cx="59025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>
                <a:solidFill>
                  <a:srgbClr val="00A2B8"/>
                </a:solidFill>
                <a:effectLst/>
              </a:rPr>
              <a:t>That’s all for now…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376A0C7-0E66-445E-9D28-DB789C63D202}"/>
              </a:ext>
            </a:extLst>
          </p:cNvPr>
          <p:cNvCxnSpPr>
            <a:cxnSpLocks/>
          </p:cNvCxnSpPr>
          <p:nvPr userDrawn="1"/>
        </p:nvCxnSpPr>
        <p:spPr>
          <a:xfrm>
            <a:off x="1720645" y="3654690"/>
            <a:ext cx="5624052" cy="0"/>
          </a:xfrm>
          <a:prstGeom prst="line">
            <a:avLst/>
          </a:prstGeom>
          <a:ln w="31750">
            <a:solidFill>
              <a:srgbClr val="CA628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01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13-12-2020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816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13-12-2020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595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747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704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76987-CD5A-4B0D-82F1-8DDC56102557}" type="datetimeFigureOut">
              <a:rPr lang="en-IN" smtClean="0"/>
              <a:t>13-12-2020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213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3" r:id="rId10"/>
    <p:sldLayoutId id="2147483668" r:id="rId11"/>
    <p:sldLayoutId id="2147483669" r:id="rId12"/>
    <p:sldLayoutId id="2147483670" r:id="rId13"/>
    <p:sldLayoutId id="2147483671" r:id="rId1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3B31A-26EC-4882-9FB2-E3790927BE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EMTH403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FDE88-E809-4B0D-A49D-23F92304ED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Mathematical Foundation for Computer Science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850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825CB-91D8-4BF1-84BC-BE57F1464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Lecture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62320-2170-46A9-8662-1BF0938F2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understand what truth value of the universal quantification.</a:t>
            </a:r>
            <a:endParaRPr lang="en-IN" dirty="0"/>
          </a:p>
          <a:p>
            <a:r>
              <a:rPr lang="en-US" dirty="0"/>
              <a:t>express the compound proposition with universal quantification in English.</a:t>
            </a:r>
          </a:p>
          <a:p>
            <a:r>
              <a:rPr lang="en-IN" dirty="0"/>
              <a:t>understand how to write compound </a:t>
            </a:r>
            <a:r>
              <a:rPr lang="en-US" dirty="0"/>
              <a:t>proposition with </a:t>
            </a:r>
            <a:r>
              <a:rPr lang="en-IN" dirty="0"/>
              <a:t>universal quantification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using disjunctions, conjunctions, and negations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847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F49F-BFDE-42D9-B326-23CF5DC1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Quantifiers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2021-85B4-4AAC-B986-1EE0EBA56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Quantification expresses the extent to which a predicate is true over a range of elements.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English, the words all, some, many, none, and few are used in quantifications.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366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41E76-5A13-47FC-8D4F-F58D1ADF8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55FFF-770E-4AEF-9FAE-6F7A70C66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will focus on two types of quantification here</a:t>
            </a:r>
          </a:p>
          <a:p>
            <a:pPr lvl="1"/>
            <a:r>
              <a:rPr lang="en-US" dirty="0"/>
              <a:t>Universal Quantification</a:t>
            </a:r>
          </a:p>
          <a:p>
            <a:pPr lvl="1"/>
            <a:r>
              <a:rPr lang="en-US" dirty="0"/>
              <a:t>Existential Quantification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3268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F49F-BFDE-42D9-B326-23CF5DC1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Quantifiers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2021-85B4-4AAC-B986-1EE0EBA56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Universal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quantification</a:t>
            </a:r>
            <a:r>
              <a:rPr lang="en-US" dirty="0"/>
              <a:t>, which tells us that a predicate is true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every element </a:t>
            </a:r>
            <a:r>
              <a:rPr lang="en-US" dirty="0"/>
              <a:t>under consideration.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Existential quantification</a:t>
            </a:r>
            <a:r>
              <a:rPr lang="en-US" dirty="0"/>
              <a:t>, which tells us that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there is one or more element </a:t>
            </a:r>
            <a:r>
              <a:rPr lang="en-US" dirty="0"/>
              <a:t>under consideration for which the predicate is true.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022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F49F-BFDE-42D9-B326-23CF5DC1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Quantifiers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2021-85B4-4AAC-B986-1EE0EBA56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area of logic that deals with predicates and quantifiers is called the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Predicate Calculus</a:t>
            </a:r>
            <a:r>
              <a:rPr lang="en-US" dirty="0"/>
              <a:t>.</a:t>
            </a: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084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F49F-BFDE-42D9-B326-23CF5DC1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Quantifiers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2021-85B4-4AAC-B986-1EE0EBA56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Many mathematical statements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assert</a:t>
            </a:r>
            <a:r>
              <a:rPr lang="en-US" dirty="0"/>
              <a:t> that a property is true for all values of a variable in a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particular domain</a:t>
            </a:r>
            <a:r>
              <a:rPr lang="en-US" dirty="0"/>
              <a:t>, called the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domain of discourse </a:t>
            </a:r>
            <a:r>
              <a:rPr lang="en-US" dirty="0"/>
              <a:t>(or the universe of discourse), often just referred to as the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domain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0" indent="0">
              <a:buNone/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dirty="0"/>
              <a:t>The meaning of the universal quantification of P(x) changes when we change the domain.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0303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F49F-BFDE-42D9-B326-23CF5DC1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Quantifiers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2021-85B4-4AAC-B986-1EE0EBA56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domain must always be specified when a Universal quantifier is used.</a:t>
            </a:r>
          </a:p>
          <a:p>
            <a:r>
              <a:rPr lang="en-US" dirty="0"/>
              <a:t>Without it, the universal quantification of a statement is </a:t>
            </a:r>
            <a:r>
              <a:rPr lang="en-US" dirty="0">
                <a:solidFill>
                  <a:srgbClr val="FF0000"/>
                </a:solidFill>
              </a:rPr>
              <a:t>not defined</a:t>
            </a:r>
            <a:r>
              <a:rPr lang="en-US" dirty="0"/>
              <a:t>.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3792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F49F-BFDE-42D9-B326-23CF5DC1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Universal Quantifier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2021-85B4-4AAC-B986-1EE0EBA56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universal quantification of P(x) is the statement.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“P(x) for all values of x in the domain.”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/>
              <a:t>The notation ∀xP(x) denotes the universal quantification of P(x). </a:t>
            </a:r>
          </a:p>
          <a:p>
            <a:r>
              <a:rPr lang="en-US" dirty="0"/>
              <a:t>Here ∀ is called the universal quantifier.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473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F49F-BFDE-42D9-B326-23CF5DC1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Quantifiers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2021-85B4-4AAC-B986-1EE0EBA56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Universal quantification ∀xP(x) is the same as the conjunction P(x</a:t>
            </a:r>
            <a:r>
              <a:rPr lang="en-US" baseline="-25000" dirty="0"/>
              <a:t>1</a:t>
            </a:r>
            <a:r>
              <a:rPr lang="en-US" dirty="0"/>
              <a:t>) ∧ P(x</a:t>
            </a:r>
            <a:r>
              <a:rPr lang="en-US" baseline="-25000" dirty="0"/>
              <a:t>2</a:t>
            </a:r>
            <a:r>
              <a:rPr lang="en-US" dirty="0"/>
              <a:t>) ∧ · · · ∧ P(x</a:t>
            </a:r>
            <a:r>
              <a:rPr lang="en-US" baseline="-25000" dirty="0"/>
              <a:t>n</a:t>
            </a:r>
            <a:r>
              <a:rPr lang="en-US" dirty="0"/>
              <a:t>), because this conjunction is true if and only if P(x</a:t>
            </a:r>
            <a:r>
              <a:rPr lang="en-US" baseline="-25000" dirty="0"/>
              <a:t>1</a:t>
            </a:r>
            <a:r>
              <a:rPr lang="en-US" dirty="0"/>
              <a:t>), P(x</a:t>
            </a:r>
            <a:r>
              <a:rPr lang="en-US" baseline="-25000" dirty="0"/>
              <a:t>2</a:t>
            </a:r>
            <a:r>
              <a:rPr lang="en-US" dirty="0"/>
              <a:t>), . . . , P (x</a:t>
            </a:r>
            <a:r>
              <a:rPr lang="en-US" baseline="-25000" dirty="0"/>
              <a:t>n</a:t>
            </a:r>
            <a:r>
              <a:rPr lang="en-US" dirty="0"/>
              <a:t>) are all true.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345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F49F-BFDE-42D9-B326-23CF5DC1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Universal Quantifier – Counter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2021-85B4-4AAC-B986-1EE0EBA56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read ∀xP(x) as </a:t>
            </a:r>
            <a:r>
              <a:rPr lang="en-US" dirty="0">
                <a:solidFill>
                  <a:srgbClr val="FF0000"/>
                </a:solidFill>
              </a:rPr>
              <a:t>“for all xP(x)”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or “for every xP(x).” </a:t>
            </a:r>
          </a:p>
          <a:p>
            <a:pPr marL="0" indent="0">
              <a:buNone/>
            </a:pPr>
            <a:r>
              <a:rPr lang="en-US" dirty="0"/>
              <a:t>An element for which P(x) is false is called a </a:t>
            </a:r>
            <a:r>
              <a:rPr lang="en-US" dirty="0">
                <a:solidFill>
                  <a:srgbClr val="FF0000"/>
                </a:solidFill>
              </a:rPr>
              <a:t>counterexample</a:t>
            </a:r>
            <a:r>
              <a:rPr lang="en-US" dirty="0"/>
              <a:t> of ∀xP(x) (Will be discussed in</a:t>
            </a:r>
            <a:br>
              <a:rPr lang="en-US" dirty="0"/>
            </a:br>
            <a:r>
              <a:rPr lang="en-US" dirty="0"/>
              <a:t> Example - 3)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0882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F49F-BFDE-42D9-B326-23CF5DC1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Universal Quantifier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2021-85B4-4AAC-B986-1EE0EBA56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meaning of the universal quantifier is summarized in the first row of Table 1.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18C78B-18FF-485C-A123-03708A184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80" y="4021125"/>
            <a:ext cx="8238930" cy="1093654"/>
          </a:xfrm>
          <a:prstGeom prst="rect">
            <a:avLst/>
          </a:prstGeom>
          <a:ln w="28575">
            <a:solidFill>
              <a:srgbClr val="00B6CC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66572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F49F-BFDE-42D9-B326-23CF5DC1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Universal Quantifier – Example - 1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2021-85B4-4AAC-B986-1EE0EBA56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</a:t>
            </a:r>
            <a:r>
              <a:rPr lang="en-US" dirty="0"/>
              <a:t> What does the statement ∀xN(x) mean if N(x) is “Computer x is connected to the network” and the domain consists of all computers on campus?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</a:t>
            </a:r>
            <a:r>
              <a:rPr lang="en-US" dirty="0"/>
              <a:t> The statement ∀xN(x) means that for every computer x on campus, that computer x is connected to the network. This statement can be expressed in English as “Every computer on campus is connected to the network.”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0791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F49F-BFDE-42D9-B326-23CF5DC1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Universal Quantifier – Example - 2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2021-85B4-4AAC-B986-1EE0EBA56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</a:t>
            </a:r>
            <a:r>
              <a:rPr lang="en-US" dirty="0"/>
              <a:t> Let P(x) be the statement “x + 1 &gt; x.” What is the truth value of the quantification ∀xP(x), where the domain consists of all real numbers?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</a:t>
            </a:r>
            <a:r>
              <a:rPr lang="en-US" dirty="0"/>
              <a:t> Because P(x) is true for all real numbers x, the quantification ∀xP(x) is true.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1104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F49F-BFDE-42D9-B326-23CF5DC1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Universal Quantifier – Example - 3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2021-85B4-4AAC-B986-1EE0EBA56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</a:t>
            </a:r>
            <a:r>
              <a:rPr lang="en-US" dirty="0"/>
              <a:t> Let Q(x) be the statement “x &lt; 2.” What is the truth value of the quantification ∀xQ(x), where the domain consists of all real numbers?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</a:t>
            </a:r>
            <a:r>
              <a:rPr lang="en-US" dirty="0"/>
              <a:t> Q(x) is not true for every real number x, because, for instance, Q(3) is false. </a:t>
            </a:r>
          </a:p>
          <a:p>
            <a:pPr marL="0" indent="0">
              <a:buNone/>
            </a:pPr>
            <a:r>
              <a:rPr lang="en-US" dirty="0"/>
              <a:t>That is, x = 3 is a counterexample for the statement ∀xQ(x). Thus ∀xQ(x) is false.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1344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F49F-BFDE-42D9-B326-23CF5DC1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Universal Quantifier – Example - 4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2021-85B4-4AAC-B986-1EE0EBA56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</a:t>
            </a:r>
            <a:r>
              <a:rPr lang="en-US" dirty="0"/>
              <a:t> Suppose that P(x) is “x</a:t>
            </a:r>
            <a:r>
              <a:rPr lang="en-US" baseline="30000" dirty="0"/>
              <a:t>2</a:t>
            </a:r>
            <a:r>
              <a:rPr lang="en-US" dirty="0"/>
              <a:t> &gt; 0.” To show that the statement ∀xP(x) is false where the universe of discourse consists of all integers, we give a counterexample.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</a:t>
            </a:r>
            <a:r>
              <a:rPr lang="en-US" dirty="0"/>
              <a:t> We see that x = 0 is a counterexample because x</a:t>
            </a:r>
            <a:r>
              <a:rPr lang="en-US" baseline="30000" dirty="0"/>
              <a:t>2</a:t>
            </a:r>
            <a:r>
              <a:rPr lang="en-US" dirty="0"/>
              <a:t> = 0 when x = 0, so that x</a:t>
            </a:r>
            <a:r>
              <a:rPr lang="en-US" baseline="30000" dirty="0"/>
              <a:t>2</a:t>
            </a:r>
            <a:r>
              <a:rPr lang="en-US" dirty="0"/>
              <a:t> is not greater than 0 when x = 0.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35995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F49F-BFDE-42D9-B326-23CF5DC1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Universal Quantifier – Example - 5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2021-85B4-4AAC-B986-1EE0EBA56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</a:t>
            </a:r>
            <a:r>
              <a:rPr lang="en-US" dirty="0"/>
              <a:t> What is the truth value of ∀xP(x), where P(x) is the statement “x</a:t>
            </a:r>
            <a:r>
              <a:rPr lang="en-US" baseline="30000" dirty="0"/>
              <a:t>2</a:t>
            </a:r>
            <a:r>
              <a:rPr lang="en-US" dirty="0"/>
              <a:t> &lt; 10” and the domain consists of the positive integers not exceeding 4?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</a:t>
            </a:r>
            <a:r>
              <a:rPr lang="en-US" dirty="0"/>
              <a:t> The statement ∀xP(x) is the same as the conjunction P(1) ∧ P(2) ∧ P(3) ∧ P(4), because the domain consists of the integers 1, 2, 3, and 4. Because P(4), which is the statement “4</a:t>
            </a:r>
            <a:r>
              <a:rPr lang="en-US" baseline="30000" dirty="0"/>
              <a:t>2</a:t>
            </a:r>
            <a:r>
              <a:rPr lang="en-US" dirty="0"/>
              <a:t> &lt; 10,” is false, it follows that ∀xP(x) is false.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82068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F49F-BFDE-42D9-B326-23CF5DC1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Universal Quantifier – Example - 5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2021-85B4-4AAC-B986-1EE0EBA56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</a:t>
            </a:r>
            <a:r>
              <a:rPr lang="en-US" dirty="0"/>
              <a:t> What is the truth value of ∀x(x</a:t>
            </a:r>
            <a:r>
              <a:rPr lang="en-US" baseline="30000" dirty="0"/>
              <a:t>2</a:t>
            </a:r>
            <a:r>
              <a:rPr lang="en-US" dirty="0"/>
              <a:t> ≥ x) if the domain consists of all real numbers? What is the truth value of this statement if the domain consists of all integers?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</a:t>
            </a:r>
            <a:r>
              <a:rPr lang="en-US" dirty="0"/>
              <a:t> The universal quantification ∀x(x</a:t>
            </a:r>
            <a:r>
              <a:rPr lang="en-US" baseline="30000" dirty="0"/>
              <a:t>2</a:t>
            </a:r>
            <a:r>
              <a:rPr lang="en-US" dirty="0"/>
              <a:t> ≥ x), where the domain consists of all real numbers, is false. For example, ( 1/2 )</a:t>
            </a:r>
            <a:r>
              <a:rPr lang="en-US" baseline="30000" dirty="0"/>
              <a:t>2</a:t>
            </a:r>
            <a:r>
              <a:rPr lang="en-US" dirty="0"/>
              <a:t> ≥ 1/2 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18814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F49F-BFDE-42D9-B326-23CF5DC1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Universal Quantifier – Example - 5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2021-85B4-4AAC-B986-1EE0EBA56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</a:t>
            </a:r>
            <a:r>
              <a:rPr lang="en-US" dirty="0"/>
              <a:t> What is the truth value of ∀x(x</a:t>
            </a:r>
            <a:r>
              <a:rPr lang="en-US" baseline="30000" dirty="0"/>
              <a:t>2</a:t>
            </a:r>
            <a:r>
              <a:rPr lang="en-US" dirty="0"/>
              <a:t> ≥ x) if the domain consists of all real numbers? What is the truth value of this statement if the domain consists of all integers?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</a:t>
            </a:r>
            <a:r>
              <a:rPr lang="en-US" dirty="0"/>
              <a:t> Note that x</a:t>
            </a:r>
            <a:r>
              <a:rPr lang="en-US" baseline="30000" dirty="0"/>
              <a:t>2</a:t>
            </a:r>
            <a:r>
              <a:rPr lang="en-US" dirty="0"/>
              <a:t> ≥ x if and only if x</a:t>
            </a:r>
            <a:r>
              <a:rPr lang="en-US" baseline="30000" dirty="0"/>
              <a:t>2</a:t>
            </a:r>
            <a:r>
              <a:rPr lang="en-US" dirty="0"/>
              <a:t> − x = x(x − 1) ≥ 0. Consequently, x</a:t>
            </a:r>
            <a:r>
              <a:rPr lang="en-US" baseline="30000" dirty="0"/>
              <a:t>2</a:t>
            </a:r>
            <a:r>
              <a:rPr lang="en-US" dirty="0"/>
              <a:t> ≥ x if and only if x ≤ 0 or x ≥ 1. It follows that ∀x(x</a:t>
            </a:r>
            <a:r>
              <a:rPr lang="en-US" baseline="30000" dirty="0"/>
              <a:t>2</a:t>
            </a:r>
            <a:r>
              <a:rPr lang="en-US" dirty="0"/>
              <a:t> ≥ x) is false if the domain consists of all real numbers (because the inequality is false for all real numbers x with 0 &lt; x &lt; 1).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78009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F49F-BFDE-42D9-B326-23CF5DC1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Universal Quantifier – Example - 5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2021-85B4-4AAC-B986-1EE0EBA56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</a:t>
            </a:r>
            <a:r>
              <a:rPr lang="en-US" dirty="0"/>
              <a:t> What is the truth value of ∀x(x</a:t>
            </a:r>
            <a:r>
              <a:rPr lang="en-US" baseline="30000" dirty="0"/>
              <a:t>2</a:t>
            </a:r>
            <a:r>
              <a:rPr lang="en-US" dirty="0"/>
              <a:t> ≥ x) if the domain consists of all real numbers? What is the truth value of this statement if the domain consists of all integers?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</a:t>
            </a:r>
            <a:r>
              <a:rPr lang="en-US" dirty="0"/>
              <a:t> However, if the domain consists of the integers, ∀x(x</a:t>
            </a:r>
            <a:r>
              <a:rPr lang="en-US" baseline="30000" dirty="0"/>
              <a:t>2</a:t>
            </a:r>
            <a:r>
              <a:rPr lang="en-US" dirty="0"/>
              <a:t> ≥ x) is true, because there are no integers x with 0 &lt; x &lt; 1.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90604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FE10A-E175-42FD-8F68-F45A3F156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Universal Quantifier – Example - 6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73EF1-536A-425C-AE43-61C57BDF7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 </a:t>
            </a:r>
            <a:r>
              <a:rPr lang="en-US" dirty="0"/>
              <a:t>Determine the truth value of each of the statement </a:t>
            </a:r>
            <a:r>
              <a:rPr lang="en-US" dirty="0">
                <a:solidFill>
                  <a:srgbClr val="FF0000"/>
                </a:solidFill>
              </a:rPr>
              <a:t>∀n(n + 1 &gt; n) </a:t>
            </a:r>
            <a:r>
              <a:rPr lang="en-US" dirty="0"/>
              <a:t>if the domain consists of all integers.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 </a:t>
            </a:r>
            <a:r>
              <a:rPr lang="en-US" dirty="0"/>
              <a:t>Since adding 1 to a number makes it larger, this is </a:t>
            </a:r>
            <a:r>
              <a:rPr lang="en-US" dirty="0">
                <a:solidFill>
                  <a:srgbClr val="FF0000"/>
                </a:solidFill>
              </a:rPr>
              <a:t>true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178682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FE10A-E175-42FD-8F68-F45A3F156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Universal Quantifier – Example - 7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573EF1-536A-425C-AE43-61C57BDF71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Ques:- </a:t>
                </a:r>
                <a:r>
                  <a:rPr lang="en-US" dirty="0"/>
                  <a:t>Determine the truth value of the statement </a:t>
                </a:r>
                <a:r>
                  <a:rPr lang="en-US" dirty="0">
                    <a:solidFill>
                      <a:srgbClr val="FF0000"/>
                    </a:solidFill>
                  </a:rPr>
                  <a:t>∀n(3n ≤ 4n) </a:t>
                </a:r>
                <a:r>
                  <a:rPr lang="en-US" dirty="0"/>
                  <a:t>if the domain consists of all integers.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Ans:- </a:t>
                </a:r>
                <a:r>
                  <a:rPr lang="en-US" dirty="0"/>
                  <a:t>This is </a:t>
                </a:r>
                <a:r>
                  <a:rPr lang="en-US" dirty="0">
                    <a:solidFill>
                      <a:srgbClr val="FF0000"/>
                    </a:solidFill>
                  </a:rPr>
                  <a:t>true for the non-negative </a:t>
                </a:r>
                <a:r>
                  <a:rPr lang="en-US" dirty="0"/>
                  <a:t>integers but not for the negative integers. </a:t>
                </a:r>
              </a:p>
              <a:p>
                <a:pPr marL="0" indent="0">
                  <a:buNone/>
                </a:pPr>
                <a:r>
                  <a:rPr lang="en-US" dirty="0"/>
                  <a:t>For example, </a:t>
                </a:r>
                <a:r>
                  <a:rPr lang="en-US" dirty="0">
                    <a:solidFill>
                      <a:srgbClr val="FF0000"/>
                    </a:solidFill>
                  </a:rPr>
                  <a:t>3(-2)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4(-2).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Therefore, the </a:t>
                </a:r>
                <a:r>
                  <a:rPr lang="en-US" dirty="0">
                    <a:solidFill>
                      <a:srgbClr val="FF0000"/>
                    </a:solidFill>
                  </a:rPr>
                  <a:t>universally quantified statement is false</a:t>
                </a:r>
                <a:r>
                  <a:rPr lang="en-US" dirty="0"/>
                  <a:t>.</a:t>
                </a:r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573EF1-536A-425C-AE43-61C57BDF71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62" r="-12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32329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BFB61-5199-4C9E-9EAD-A9160FFD6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Universal Quantifier – Example - 8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EB351-1881-4C95-849E-C575C904E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 </a:t>
            </a:r>
            <a:r>
              <a:rPr lang="en-US" dirty="0"/>
              <a:t>Determine the truth value of statement </a:t>
            </a:r>
            <a:r>
              <a:rPr lang="en-US" dirty="0">
                <a:solidFill>
                  <a:srgbClr val="FF0000"/>
                </a:solidFill>
              </a:rPr>
              <a:t>∀n(n</a:t>
            </a:r>
            <a:r>
              <a:rPr lang="en-US" baseline="30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 ≥ 0) </a:t>
            </a:r>
            <a:r>
              <a:rPr lang="en-US" dirty="0"/>
              <a:t>if the domain for all variables consists of all integers.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 </a:t>
            </a:r>
            <a:r>
              <a:rPr lang="en-US" dirty="0"/>
              <a:t>This is the well-known fact that the </a:t>
            </a:r>
            <a:r>
              <a:rPr lang="en-US" dirty="0">
                <a:solidFill>
                  <a:srgbClr val="FF0000"/>
                </a:solidFill>
              </a:rPr>
              <a:t>square of a real number cannot be negative.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05415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FE10A-E175-42FD-8F68-F45A3F156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Universal Quantifier – Example - 9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73EF1-536A-425C-AE43-61C57BDF7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 </a:t>
            </a:r>
            <a:r>
              <a:rPr lang="en-US" dirty="0"/>
              <a:t>Let P(x) be the statement </a:t>
            </a:r>
            <a:r>
              <a:rPr lang="en-US" dirty="0">
                <a:solidFill>
                  <a:srgbClr val="FF0000"/>
                </a:solidFill>
              </a:rPr>
              <a:t>“x = x</a:t>
            </a:r>
            <a:r>
              <a:rPr lang="en-US" baseline="30000" dirty="0">
                <a:solidFill>
                  <a:srgbClr val="FF0000"/>
                </a:solidFill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” </a:t>
            </a:r>
            <a:r>
              <a:rPr lang="en-US" dirty="0"/>
              <a:t>If the domain consists of the integers, what is the truth value of </a:t>
            </a:r>
            <a:r>
              <a:rPr lang="en-US" dirty="0">
                <a:solidFill>
                  <a:srgbClr val="FF0000"/>
                </a:solidFill>
              </a:rPr>
              <a:t>∀xP(x)</a:t>
            </a:r>
            <a:r>
              <a:rPr lang="en-US" dirty="0"/>
              <a:t>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 </a:t>
            </a:r>
            <a:r>
              <a:rPr lang="en-IN" dirty="0">
                <a:solidFill>
                  <a:srgbClr val="FF0000"/>
                </a:solidFill>
              </a:rPr>
              <a:t>F (let x = 2 )</a:t>
            </a:r>
          </a:p>
        </p:txBody>
      </p:sp>
    </p:spTree>
    <p:extLst>
      <p:ext uri="{BB962C8B-B14F-4D97-AF65-F5344CB8AC3E}">
        <p14:creationId xmlns:p14="http://schemas.microsoft.com/office/powerpoint/2010/main" val="36834412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BFB61-5199-4C9E-9EAD-A9160FFD6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Universal Quantifier – Example - 10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AEB351-1881-4C95-849E-C575C904E6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Ques:- </a:t>
                </a:r>
                <a:r>
                  <a:rPr lang="en-US" sz="2400" dirty="0"/>
                  <a:t>Determine the truth value of the statement </a:t>
                </a:r>
                <a:r>
                  <a:rPr lang="en-US" sz="2400" dirty="0">
                    <a:solidFill>
                      <a:srgbClr val="FF0000"/>
                    </a:solidFill>
                  </a:rPr>
                  <a:t>∀n(n2 ≥ n) </a:t>
                </a:r>
                <a:r>
                  <a:rPr lang="en-US" sz="2400" dirty="0"/>
                  <a:t>if the domain for all variables consists of all integers.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Ans:- </a:t>
                </a:r>
                <a:r>
                  <a:rPr lang="en-US" sz="2400" dirty="0"/>
                  <a:t>If n is a </a:t>
                </a:r>
                <a:r>
                  <a:rPr lang="en-US" sz="2400" dirty="0">
                    <a:solidFill>
                      <a:srgbClr val="FF0000"/>
                    </a:solidFill>
                  </a:rPr>
                  <a:t>positive integer</a:t>
                </a:r>
                <a:r>
                  <a:rPr lang="en-US" sz="2400" dirty="0"/>
                  <a:t>, then n</a:t>
                </a:r>
                <a:r>
                  <a:rPr lang="en-US" sz="2400" baseline="30000" dirty="0"/>
                  <a:t>2</a:t>
                </a:r>
                <a14:m>
                  <m:oMath xmlns:m="http://schemas.openxmlformats.org/officeDocument/2006/math">
                    <m:r>
                      <a:rPr lang="en-US" sz="2400" i="1" smtClean="0"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400" dirty="0"/>
                  <a:t>n is certainly true; </a:t>
                </a:r>
              </a:p>
              <a:p>
                <a:pPr marL="0" indent="0">
                  <a:buNone/>
                </a:pPr>
                <a:r>
                  <a:rPr lang="en-US" sz="2400" dirty="0"/>
                  <a:t>it's also true for </a:t>
                </a:r>
                <a:r>
                  <a:rPr lang="en-US" sz="2400" dirty="0">
                    <a:solidFill>
                      <a:srgbClr val="FF0000"/>
                    </a:solidFill>
                  </a:rPr>
                  <a:t>n = 0</a:t>
                </a:r>
                <a:r>
                  <a:rPr lang="en-US" sz="2400" dirty="0"/>
                  <a:t>; </a:t>
                </a:r>
              </a:p>
              <a:p>
                <a:pPr marL="0" indent="0">
                  <a:buNone/>
                </a:pPr>
                <a:r>
                  <a:rPr lang="en-US" sz="2400" dirty="0"/>
                  <a:t>and it's trivially true if </a:t>
                </a:r>
                <a:r>
                  <a:rPr lang="en-US" sz="2400" dirty="0">
                    <a:solidFill>
                      <a:srgbClr val="FF0000"/>
                    </a:solidFill>
                  </a:rPr>
                  <a:t>n is negative</a:t>
                </a:r>
                <a:r>
                  <a:rPr lang="en-US" sz="2400" dirty="0"/>
                  <a:t>. </a:t>
                </a:r>
              </a:p>
              <a:p>
                <a:pPr marL="0" indent="0">
                  <a:buNone/>
                </a:pPr>
                <a:r>
                  <a:rPr lang="en-US" sz="2400" dirty="0"/>
                  <a:t>Therefore, the </a:t>
                </a:r>
                <a:r>
                  <a:rPr lang="en-US" sz="2400" dirty="0">
                    <a:solidFill>
                      <a:srgbClr val="FF0000"/>
                    </a:solidFill>
                  </a:rPr>
                  <a:t>universally quantified statement is true</a:t>
                </a:r>
                <a:r>
                  <a:rPr lang="en-US" sz="2400" dirty="0"/>
                  <a:t>.</a:t>
                </a:r>
                <a:endParaRPr lang="en-IN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AEB351-1881-4C95-849E-C575C904E6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9" r="-10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04617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F49F-BFDE-42D9-B326-23CF5DC1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Universal Quantifier – Example - 1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2021-85B4-4AAC-B986-1EE0EBA56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 </a:t>
            </a:r>
            <a:r>
              <a:rPr lang="en-US" dirty="0"/>
              <a:t>Let P(x) be the statement </a:t>
            </a:r>
            <a:r>
              <a:rPr lang="en-US" dirty="0">
                <a:solidFill>
                  <a:srgbClr val="FF0000"/>
                </a:solidFill>
              </a:rPr>
              <a:t>“x spends more than five hours every weekday in class” </a:t>
            </a:r>
            <a:r>
              <a:rPr lang="en-US" dirty="0"/>
              <a:t>where the domain for x consists of all students. Express the quantification </a:t>
            </a:r>
            <a:r>
              <a:rPr lang="en-US" dirty="0">
                <a:solidFill>
                  <a:srgbClr val="FF0000"/>
                </a:solidFill>
              </a:rPr>
              <a:t>∀xP(x) </a:t>
            </a:r>
            <a:r>
              <a:rPr lang="en-US" dirty="0"/>
              <a:t>in English.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Every student spends more than five hours every weekday in class.</a:t>
            </a:r>
          </a:p>
        </p:txBody>
      </p:sp>
    </p:spTree>
    <p:extLst>
      <p:ext uri="{BB962C8B-B14F-4D97-AF65-F5344CB8AC3E}">
        <p14:creationId xmlns:p14="http://schemas.microsoft.com/office/powerpoint/2010/main" val="36408967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F49F-BFDE-42D9-B326-23CF5DC1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Universal Quantifier – Example - 2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2021-85B4-4AAC-B986-1EE0EBA56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 </a:t>
            </a:r>
            <a:r>
              <a:rPr lang="en-US" dirty="0"/>
              <a:t>Let P(x) be the statement </a:t>
            </a:r>
            <a:r>
              <a:rPr lang="en-US" dirty="0">
                <a:solidFill>
                  <a:srgbClr val="FF0000"/>
                </a:solidFill>
              </a:rPr>
              <a:t>“x spends more than five hours every weekday in class” </a:t>
            </a:r>
            <a:r>
              <a:rPr lang="en-US" dirty="0"/>
              <a:t>where the domain for x consists of all students. Express the quantifications 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∀x ¬P(x) </a:t>
            </a:r>
            <a:r>
              <a:rPr lang="en-US" dirty="0"/>
              <a:t>in English.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 </a:t>
            </a:r>
            <a:r>
              <a:rPr lang="en-US" dirty="0">
                <a:solidFill>
                  <a:srgbClr val="FF0000"/>
                </a:solidFill>
              </a:rPr>
              <a:t>No student </a:t>
            </a:r>
            <a:r>
              <a:rPr lang="en-US" dirty="0"/>
              <a:t>spends more than five hours every weekday in class. (Or, equivalently, every student spends less than or equal to five hours every weekday in class.)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919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F49F-BFDE-42D9-B326-23CF5DC1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Universal Quantifier – Example - 3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2021-85B4-4AAC-B986-1EE0EBA56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 </a:t>
            </a:r>
            <a:r>
              <a:rPr lang="en-US" dirty="0"/>
              <a:t>Translate the statement </a:t>
            </a:r>
            <a:r>
              <a:rPr lang="en-US" dirty="0">
                <a:solidFill>
                  <a:srgbClr val="FF0000"/>
                </a:solidFill>
              </a:rPr>
              <a:t>∀x(C(x) → F(x)) </a:t>
            </a:r>
            <a:r>
              <a:rPr lang="en-US" dirty="0"/>
              <a:t>into English, where C(x) is “x is a comedian” and F(x) is “x is funny” and the domain consists of all people.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 </a:t>
            </a:r>
            <a:r>
              <a:rPr lang="en-US" dirty="0"/>
              <a:t>This statement is that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every x</a:t>
            </a:r>
            <a:r>
              <a:rPr lang="en-US" dirty="0"/>
              <a:t>, if x is a comedian, then x is funny. In English, this is most simply stated, </a:t>
            </a:r>
            <a:r>
              <a:rPr lang="en-US" dirty="0">
                <a:solidFill>
                  <a:srgbClr val="FF0000"/>
                </a:solidFill>
              </a:rPr>
              <a:t>"Every comedian is funny."</a:t>
            </a:r>
          </a:p>
        </p:txBody>
      </p:sp>
    </p:spTree>
    <p:extLst>
      <p:ext uri="{BB962C8B-B14F-4D97-AF65-F5344CB8AC3E}">
        <p14:creationId xmlns:p14="http://schemas.microsoft.com/office/powerpoint/2010/main" val="37595189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F49F-BFDE-42D9-B326-23CF5DC1C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Universal Quantifier – Example - 4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2021-85B4-4AAC-B986-1EE0EBA56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 </a:t>
            </a:r>
            <a:r>
              <a:rPr lang="en-US" dirty="0"/>
              <a:t>Translate the statement </a:t>
            </a:r>
            <a:r>
              <a:rPr lang="en-US" dirty="0">
                <a:solidFill>
                  <a:srgbClr val="FF0000"/>
                </a:solidFill>
              </a:rPr>
              <a:t>∀x(C(x) ∧ F(x)) </a:t>
            </a:r>
            <a:r>
              <a:rPr lang="en-US" dirty="0"/>
              <a:t>into English, where C(x) is “x is a comedian” and F(x) is “x is funny” and the domain consists of all people.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 </a:t>
            </a:r>
            <a:r>
              <a:rPr lang="en-US" dirty="0"/>
              <a:t>This statement is that for every x in the domain (universe of discourse), x is a comedian and x is funny.</a:t>
            </a:r>
          </a:p>
          <a:p>
            <a:pPr marL="0" indent="0">
              <a:buNone/>
            </a:pPr>
            <a:r>
              <a:rPr lang="en-US" dirty="0"/>
              <a:t>In English, this is most simply stated</a:t>
            </a:r>
            <a:r>
              <a:rPr lang="en-US" dirty="0">
                <a:solidFill>
                  <a:srgbClr val="FF0000"/>
                </a:solidFill>
              </a:rPr>
              <a:t>, "Every person is a funny comedian."</a:t>
            </a:r>
          </a:p>
        </p:txBody>
      </p:sp>
    </p:spTree>
    <p:extLst>
      <p:ext uri="{BB962C8B-B14F-4D97-AF65-F5344CB8AC3E}">
        <p14:creationId xmlns:p14="http://schemas.microsoft.com/office/powerpoint/2010/main" val="22259190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FE10A-E175-42FD-8F68-F45A3F156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Universal Quantifier – Example - 1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73EF1-536A-425C-AE43-61C57BDF7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 </a:t>
            </a:r>
            <a:r>
              <a:rPr lang="en-US" dirty="0"/>
              <a:t>Let P(x) be the statement </a:t>
            </a:r>
            <a:r>
              <a:rPr lang="en-US" dirty="0">
                <a:solidFill>
                  <a:srgbClr val="FF0000"/>
                </a:solidFill>
              </a:rPr>
              <a:t>“x can speak Russian” </a:t>
            </a:r>
            <a:r>
              <a:rPr lang="en-US" dirty="0"/>
              <a:t>and let Q(x) be the statement </a:t>
            </a:r>
            <a:r>
              <a:rPr lang="en-US" dirty="0">
                <a:solidFill>
                  <a:srgbClr val="FF0000"/>
                </a:solidFill>
              </a:rPr>
              <a:t>“x knows the computer language C++.”</a:t>
            </a:r>
            <a:r>
              <a:rPr lang="en-US" b="1" dirty="0"/>
              <a:t> </a:t>
            </a:r>
            <a:r>
              <a:rPr lang="en-US" dirty="0"/>
              <a:t>Express the sentence </a:t>
            </a:r>
            <a:r>
              <a:rPr lang="en-US" dirty="0">
                <a:solidFill>
                  <a:srgbClr val="FF0000"/>
                </a:solidFill>
              </a:rPr>
              <a:t>“Every student at your school either can speak Russian or knows C++” </a:t>
            </a:r>
            <a:r>
              <a:rPr lang="en-US" dirty="0"/>
              <a:t>in terms of P(x), Q(x), quantifiers, and logical connectives. The domain for quantifiers consists of all students at your school.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 </a:t>
            </a:r>
            <a:r>
              <a:rPr lang="en-US" dirty="0">
                <a:solidFill>
                  <a:srgbClr val="FF0000"/>
                </a:solidFill>
              </a:rPr>
              <a:t>∀ </a:t>
            </a:r>
            <a:r>
              <a:rPr lang="fr-FR" dirty="0">
                <a:solidFill>
                  <a:srgbClr val="FF0000"/>
                </a:solidFill>
              </a:rPr>
              <a:t>x(P(x) </a:t>
            </a:r>
            <a:r>
              <a:rPr lang="fr-FR" sz="2600" dirty="0">
                <a:solidFill>
                  <a:srgbClr val="FF0000"/>
                </a:solidFill>
              </a:rPr>
              <a:t>V</a:t>
            </a:r>
            <a:r>
              <a:rPr lang="fr-FR" dirty="0">
                <a:solidFill>
                  <a:srgbClr val="FF0000"/>
                </a:solidFill>
              </a:rPr>
              <a:t> Q(x))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85474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FE10A-E175-42FD-8F68-F45A3F156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Universal Quantifier – Example - 2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73EF1-536A-425C-AE43-61C57BDF7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 </a:t>
            </a:r>
            <a:r>
              <a:rPr lang="en-US" dirty="0"/>
              <a:t>Let P(x) be the statement “x can speak Russian” and let Q(x) be the statement “x knows the computer language C++.” Express the sentence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“Every student at your school either can speak Russian or knows C++” </a:t>
            </a:r>
            <a:r>
              <a:rPr lang="en-US" dirty="0"/>
              <a:t>in terms of P(x), Q(x), quantifiers, and logical connectives. The </a:t>
            </a:r>
            <a:r>
              <a:rPr lang="en-US" dirty="0">
                <a:solidFill>
                  <a:srgbClr val="FF0000"/>
                </a:solidFill>
              </a:rPr>
              <a:t>domain</a:t>
            </a:r>
            <a:r>
              <a:rPr lang="en-US" dirty="0"/>
              <a:t> for quantifiers consists of all students at your school.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 </a:t>
            </a:r>
            <a:r>
              <a:rPr lang="fr-FR" dirty="0">
                <a:solidFill>
                  <a:srgbClr val="FF0000"/>
                </a:solidFill>
              </a:rPr>
              <a:t>∀x¬(P(x) V Q(x)).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28372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8EFA2-6FD3-49F5-A763-D2CE10647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Universal Quantifier – Example - 3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66D29-9AAE-40F7-92ED-4D4966D57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 </a:t>
            </a:r>
            <a:r>
              <a:rPr lang="en-US" dirty="0"/>
              <a:t>Suppose that the </a:t>
            </a:r>
            <a:r>
              <a:rPr lang="en-US" dirty="0">
                <a:solidFill>
                  <a:srgbClr val="FF0000"/>
                </a:solidFill>
              </a:rPr>
              <a:t>domain</a:t>
            </a:r>
            <a:r>
              <a:rPr lang="en-US" dirty="0"/>
              <a:t> of the propositional function P(x) consists of the integers 0, 1, 2, 3, and 4. Write out each of the proposition </a:t>
            </a:r>
            <a:r>
              <a:rPr lang="en-US" dirty="0">
                <a:solidFill>
                  <a:srgbClr val="FF0000"/>
                </a:solidFill>
              </a:rPr>
              <a:t>∀xP(x)  </a:t>
            </a:r>
            <a:r>
              <a:rPr lang="en-US" dirty="0"/>
              <a:t>using disjunctions, conjunctions, and negations.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 </a:t>
            </a:r>
            <a:r>
              <a:rPr lang="en-US" dirty="0"/>
              <a:t>P(O) ∧ P(1) ∧ P(2) ∧ P(3) ∧ P(4)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89665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8EFA2-6FD3-49F5-A763-D2CE10647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Universal Quantifier – Example - 4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66D29-9AAE-40F7-92ED-4D4966D57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 </a:t>
            </a:r>
            <a:r>
              <a:rPr lang="en-US" dirty="0"/>
              <a:t>Suppose that the </a:t>
            </a:r>
            <a:r>
              <a:rPr lang="en-US" dirty="0">
                <a:solidFill>
                  <a:srgbClr val="FF0000"/>
                </a:solidFill>
              </a:rPr>
              <a:t>domain</a:t>
            </a:r>
            <a:r>
              <a:rPr lang="en-US" dirty="0"/>
              <a:t> of the propositional function P(x) consists of the integers 0, 1, 2, 3, and 4. Write out the proposition </a:t>
            </a:r>
            <a:r>
              <a:rPr lang="en-US" dirty="0">
                <a:solidFill>
                  <a:srgbClr val="FF0000"/>
                </a:solidFill>
              </a:rPr>
              <a:t>∀x¬P(x)</a:t>
            </a:r>
            <a:r>
              <a:rPr lang="en-US" dirty="0"/>
              <a:t> using disjunctions, conjunctions, and negations.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 </a:t>
            </a:r>
            <a:r>
              <a:rPr lang="en-US" dirty="0"/>
              <a:t>¬P(O) ∧ ¬P(l) ∧ ¬P(2) ∧ ¬P(3) ∧ ¬P(4)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37972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391DA-6089-48FF-90B3-EB07B6839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Universal Quantifier – Example - 5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95A9A-C8EB-4C0A-8DD0-53A5F886F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 </a:t>
            </a:r>
            <a:r>
              <a:rPr lang="en-US" dirty="0"/>
              <a:t>Suppose that the </a:t>
            </a:r>
            <a:r>
              <a:rPr lang="en-US" dirty="0">
                <a:solidFill>
                  <a:srgbClr val="FF0000"/>
                </a:solidFill>
              </a:rPr>
              <a:t>domain</a:t>
            </a:r>
            <a:r>
              <a:rPr lang="en-US" dirty="0"/>
              <a:t> of the propositional function P(x) consists of the integers 1, 2, 3, 4, and 5. Express the statement </a:t>
            </a:r>
            <a:r>
              <a:rPr lang="en-US" dirty="0">
                <a:solidFill>
                  <a:srgbClr val="FF0000"/>
                </a:solidFill>
              </a:rPr>
              <a:t>∀xP(x)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without using quantifiers, instead using only negations, disjunctions, and conjunctions.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 </a:t>
            </a:r>
            <a:r>
              <a:rPr lang="nn-NO" dirty="0"/>
              <a:t>P(l) ∧ P(2) ∧ P(3) ∧ P( 4) ∧ P(5)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41846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8EFA2-6FD3-49F5-A763-D2CE10647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Universal Quantifier – Example - 6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66D29-9AAE-40F7-92ED-4D4966D57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 </a:t>
            </a:r>
            <a:r>
              <a:rPr lang="en-US" dirty="0"/>
              <a:t>Suppose that the </a:t>
            </a:r>
            <a:r>
              <a:rPr lang="en-US" dirty="0">
                <a:solidFill>
                  <a:srgbClr val="FF0000"/>
                </a:solidFill>
              </a:rPr>
              <a:t>domain</a:t>
            </a:r>
            <a:r>
              <a:rPr lang="en-US" dirty="0"/>
              <a:t> of the propositional function P(x) consists of the integers 0, 1, 2, 3, and 4. Write out the proposition </a:t>
            </a:r>
            <a:r>
              <a:rPr lang="en-US" dirty="0">
                <a:solidFill>
                  <a:srgbClr val="FF0000"/>
                </a:solidFill>
              </a:rPr>
              <a:t>¬∀xP(x) </a:t>
            </a:r>
            <a:r>
              <a:rPr lang="en-US" dirty="0"/>
              <a:t>using disjunctions, conjunctions, and negations.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 </a:t>
            </a:r>
            <a:r>
              <a:rPr lang="en-US" dirty="0"/>
              <a:t>¬</a:t>
            </a:r>
            <a:r>
              <a:rPr lang="en-IN" dirty="0"/>
              <a:t>(P(O) ∧ P(l) ∧ P(2) ∧ P(3) ∧ P(4))</a:t>
            </a:r>
          </a:p>
        </p:txBody>
      </p:sp>
    </p:spTree>
    <p:extLst>
      <p:ext uri="{BB962C8B-B14F-4D97-AF65-F5344CB8AC3E}">
        <p14:creationId xmlns:p14="http://schemas.microsoft.com/office/powerpoint/2010/main" val="14096674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391DA-6089-48FF-90B3-EB07B6839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Universal Quantifier – Example - 7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95A9A-C8EB-4C0A-8DD0-53A5F886F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 </a:t>
            </a:r>
            <a:r>
              <a:rPr lang="en-US" dirty="0"/>
              <a:t>Suppose that the </a:t>
            </a:r>
            <a:r>
              <a:rPr lang="en-US" dirty="0">
                <a:solidFill>
                  <a:srgbClr val="FF0000"/>
                </a:solidFill>
              </a:rPr>
              <a:t>domain</a:t>
            </a:r>
            <a:r>
              <a:rPr lang="en-US" dirty="0"/>
              <a:t> of the propositional function P(x) consists of the integers 1, 2, 3, 4, and 5. Express the statement </a:t>
            </a:r>
            <a:r>
              <a:rPr lang="en-US" dirty="0">
                <a:solidFill>
                  <a:srgbClr val="FF0000"/>
                </a:solidFill>
              </a:rPr>
              <a:t>¬∀xP(x) </a:t>
            </a:r>
            <a:r>
              <a:rPr lang="en-US" dirty="0"/>
              <a:t>without using quantifiers, instead using only negations, disjunctions, and conjunctions.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 </a:t>
            </a:r>
            <a:r>
              <a:rPr lang="en-US" dirty="0"/>
              <a:t>¬</a:t>
            </a:r>
            <a:r>
              <a:rPr lang="nn-NO" dirty="0"/>
              <a:t>(P(l) ∧ P(2) ∧ P(3) ∧ P(4) ∧ P(5))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84100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CF1CC-4665-42AC-977F-783250C1E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Universal Quantifier – Example - 1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FF276-EBF2-4895-87D4-15B3B5F0A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 </a:t>
            </a:r>
            <a:r>
              <a:rPr lang="en-US" dirty="0"/>
              <a:t>For the statement </a:t>
            </a:r>
            <a:r>
              <a:rPr lang="en-US" dirty="0">
                <a:solidFill>
                  <a:srgbClr val="FF0000"/>
                </a:solidFill>
              </a:rPr>
              <a:t>“Everyone is studying discrete mathematics.”</a:t>
            </a:r>
            <a:r>
              <a:rPr lang="en-US" dirty="0"/>
              <a:t> Find a domain for which the statement is true and a domain for which the statement is false.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 </a:t>
            </a:r>
            <a:r>
              <a:rPr lang="en-US" dirty="0"/>
              <a:t>One would hope that if we take the </a:t>
            </a:r>
            <a:r>
              <a:rPr lang="en-US" dirty="0">
                <a:solidFill>
                  <a:srgbClr val="FF0000"/>
                </a:solidFill>
              </a:rPr>
              <a:t>domain to be the students in your class,</a:t>
            </a:r>
            <a:r>
              <a:rPr lang="en-US" dirty="0"/>
              <a:t> then the statement is true. If we take the </a:t>
            </a:r>
            <a:r>
              <a:rPr lang="en-US" dirty="0">
                <a:solidFill>
                  <a:srgbClr val="FF0000"/>
                </a:solidFill>
              </a:rPr>
              <a:t>domain to be all students in the world</a:t>
            </a:r>
            <a:r>
              <a:rPr lang="en-US" dirty="0"/>
              <a:t>, then the statement is clearly false, because some of them are studying only other subjects.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74200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CF1CC-4665-42AC-977F-783250C1E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Universal Quantifier – Example - 2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FF276-EBF2-4895-87D4-15B3B5F0A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Ques:- </a:t>
            </a:r>
            <a:r>
              <a:rPr lang="en-US" dirty="0"/>
              <a:t>For the statement </a:t>
            </a:r>
            <a:r>
              <a:rPr lang="en-US" dirty="0">
                <a:solidFill>
                  <a:srgbClr val="FF0000"/>
                </a:solidFill>
              </a:rPr>
              <a:t>“Everyone is older than 24 years.” </a:t>
            </a:r>
            <a:r>
              <a:rPr lang="en-US" dirty="0"/>
              <a:t>find a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domain for which the statement is true and a domain for which the statement is false.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Ans:- </a:t>
            </a:r>
            <a:r>
              <a:rPr lang="en-US" dirty="0"/>
              <a:t>If we take the </a:t>
            </a:r>
            <a:r>
              <a:rPr lang="en-US" dirty="0">
                <a:solidFill>
                  <a:srgbClr val="FF0000"/>
                </a:solidFill>
              </a:rPr>
              <a:t>domain to be Lok Sabha Member</a:t>
            </a:r>
            <a:r>
              <a:rPr lang="en-US" dirty="0"/>
              <a:t>, then the statement is true. </a:t>
            </a:r>
          </a:p>
          <a:p>
            <a:pPr marL="0" indent="0">
              <a:buNone/>
            </a:pPr>
            <a:r>
              <a:rPr lang="en-US" dirty="0"/>
              <a:t>If we take the </a:t>
            </a:r>
            <a:r>
              <a:rPr lang="en-US" dirty="0">
                <a:solidFill>
                  <a:srgbClr val="FF0000"/>
                </a:solidFill>
              </a:rPr>
              <a:t>domain to be college football players</a:t>
            </a:r>
            <a:r>
              <a:rPr lang="en-US" dirty="0"/>
              <a:t>, then the statement is false, because some of them are younger than 21.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72296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8124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yFont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2462</TotalTime>
  <Words>2592</Words>
  <Application>Microsoft Office PowerPoint</Application>
  <PresentationFormat>On-screen Show (4:3)</PresentationFormat>
  <Paragraphs>181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Arial</vt:lpstr>
      <vt:lpstr>Bahnschrift</vt:lpstr>
      <vt:lpstr>Bahnschrift SemiBold</vt:lpstr>
      <vt:lpstr>Calibri</vt:lpstr>
      <vt:lpstr>Cambria Math</vt:lpstr>
      <vt:lpstr>Office Theme</vt:lpstr>
      <vt:lpstr>EMTH403</vt:lpstr>
      <vt:lpstr>Lecture Outcomes</vt:lpstr>
      <vt:lpstr>Quantifiers</vt:lpstr>
      <vt:lpstr>PowerPoint Presentation</vt:lpstr>
      <vt:lpstr>Quantifiers</vt:lpstr>
      <vt:lpstr>Quantifiers</vt:lpstr>
      <vt:lpstr>Quantifiers</vt:lpstr>
      <vt:lpstr>Quantifiers</vt:lpstr>
      <vt:lpstr>Universal Quantifier</vt:lpstr>
      <vt:lpstr>Quantifiers</vt:lpstr>
      <vt:lpstr>Universal Quantifier – Counter Example</vt:lpstr>
      <vt:lpstr>Universal Quantifier</vt:lpstr>
      <vt:lpstr>Universal Quantifier – Example - 1</vt:lpstr>
      <vt:lpstr>Universal Quantifier – Example - 2</vt:lpstr>
      <vt:lpstr>Universal Quantifier – Example - 3</vt:lpstr>
      <vt:lpstr>Universal Quantifier – Example - 4</vt:lpstr>
      <vt:lpstr>Universal Quantifier – Example - 5</vt:lpstr>
      <vt:lpstr>Universal Quantifier – Example - 5</vt:lpstr>
      <vt:lpstr>Universal Quantifier – Example - 5</vt:lpstr>
      <vt:lpstr>Universal Quantifier – Example - 5</vt:lpstr>
      <vt:lpstr>Universal Quantifier – Example - 6</vt:lpstr>
      <vt:lpstr>Universal Quantifier – Example - 7</vt:lpstr>
      <vt:lpstr>Universal Quantifier – Example - 8</vt:lpstr>
      <vt:lpstr>Universal Quantifier – Example - 9</vt:lpstr>
      <vt:lpstr>Universal Quantifier – Example - 10</vt:lpstr>
      <vt:lpstr>Universal Quantifier – Example - 1</vt:lpstr>
      <vt:lpstr>Universal Quantifier – Example - 2</vt:lpstr>
      <vt:lpstr>Universal Quantifier – Example - 3</vt:lpstr>
      <vt:lpstr>Universal Quantifier – Example - 4</vt:lpstr>
      <vt:lpstr>Universal Quantifier – Example - 1</vt:lpstr>
      <vt:lpstr>Universal Quantifier – Example - 2</vt:lpstr>
      <vt:lpstr>Universal Quantifier – Example - 3</vt:lpstr>
      <vt:lpstr>Universal Quantifier – Example - 4</vt:lpstr>
      <vt:lpstr>Universal Quantifier – Example - 5</vt:lpstr>
      <vt:lpstr>Universal Quantifier – Example - 6</vt:lpstr>
      <vt:lpstr>Universal Quantifier – Example - 7</vt:lpstr>
      <vt:lpstr>Universal Quantifier – Example - 1</vt:lpstr>
      <vt:lpstr>Universal Quantifier – Example - 2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Nitin Mishra</dc:creator>
  <cp:lastModifiedBy>video recording 1</cp:lastModifiedBy>
  <cp:revision>425</cp:revision>
  <dcterms:created xsi:type="dcterms:W3CDTF">2020-12-04T05:20:56Z</dcterms:created>
  <dcterms:modified xsi:type="dcterms:W3CDTF">2020-12-13T14:29:39Z</dcterms:modified>
</cp:coreProperties>
</file>