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9" r:id="rId10"/>
    <p:sldId id="267" r:id="rId11"/>
    <p:sldId id="268" r:id="rId12"/>
    <p:sldId id="270" r:id="rId13"/>
    <p:sldId id="272" r:id="rId14"/>
    <p:sldId id="271" r:id="rId15"/>
    <p:sldId id="273" r:id="rId16"/>
    <p:sldId id="25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61"/>
            <p14:sldId id="262"/>
            <p14:sldId id="263"/>
            <p14:sldId id="264"/>
            <p14:sldId id="265"/>
            <p14:sldId id="266"/>
            <p14:sldId id="269"/>
            <p14:sldId id="267"/>
            <p14:sldId id="268"/>
            <p14:sldId id="270"/>
            <p14:sldId id="272"/>
            <p14:sldId id="271"/>
            <p14:sldId id="273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4472C4"/>
    <a:srgbClr val="DDDDDD"/>
    <a:srgbClr val="BBBBBB"/>
    <a:srgbClr val="00A2B8"/>
    <a:srgbClr val="00B451"/>
    <a:srgbClr val="BA202B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22-12-2020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22-12-2020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22-12-2020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22-12-2020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22-12-2020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22-12-2020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understand how to find least upper bound and greatest lower bound</a:t>
            </a:r>
            <a:endParaRPr lang="en-IN" sz="2600" dirty="0"/>
          </a:p>
          <a:p>
            <a:r>
              <a:rPr lang="en-US" sz="2600" dirty="0"/>
              <a:t>understand what is a lattice</a:t>
            </a:r>
          </a:p>
          <a:p>
            <a:r>
              <a:rPr lang="en-US" sz="2600" dirty="0"/>
              <a:t>understand what is a bounded and distributive lattice.</a:t>
            </a:r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upper bound and Greatest lower bound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02044"/>
            <a:ext cx="8504904" cy="53389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element x is called the least upper bound of the 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subset </a:t>
            </a:r>
            <a:r>
              <a:rPr lang="en-US" dirty="0"/>
              <a:t>A if x is an upper bound that </a:t>
            </a:r>
            <a:r>
              <a:rPr lang="en-US" dirty="0">
                <a:solidFill>
                  <a:srgbClr val="FF0000"/>
                </a:solidFill>
              </a:rPr>
              <a:t>is less than </a:t>
            </a:r>
            <a:r>
              <a:rPr lang="en-US" dirty="0"/>
              <a:t>every other upper bound of A.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Because there is only one such element, if it exists, it makes sense to call this element the least upper bound.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That is, x is the least upper bound of A if a «x whenever a ∈ A, and x « z whenever z is an upper bound of A.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82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upper bound and Greatest lower bound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Similarly, the element y is called the greatest lower bound of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subset </a:t>
            </a:r>
            <a:r>
              <a:rPr lang="en-US" dirty="0"/>
              <a:t>A if y is a lower bound of A and z « y whenever z is a lower bound of A.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greatest lower bound of A is unique if it exists.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greatest lower bound and least upper bound of a subset A are denoted by glb(A) and lub(A), respectively.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9724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upper bound and Greatest lower bound – Example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611562" cy="125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Find the least upper bound of {3, 5}, if it exists for the poset ({3, 5, 9, 15, 24, 45}, |).</a:t>
            </a:r>
            <a:endParaRPr lang="en-IN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BDC2210-DCE7-4F63-93C9-814EDCB07F04}"/>
              </a:ext>
            </a:extLst>
          </p:cNvPr>
          <p:cNvGrpSpPr/>
          <p:nvPr/>
        </p:nvGrpSpPr>
        <p:grpSpPr>
          <a:xfrm>
            <a:off x="5626752" y="3707290"/>
            <a:ext cx="3378100" cy="2786672"/>
            <a:chOff x="5559799" y="1607367"/>
            <a:chExt cx="3378100" cy="297756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18A377C-24DA-44DD-88BC-E7E6978034FB}"/>
                </a:ext>
              </a:extLst>
            </p:cNvPr>
            <p:cNvSpPr txBox="1"/>
            <p:nvPr/>
          </p:nvSpPr>
          <p:spPr>
            <a:xfrm>
              <a:off x="6757657" y="3961975"/>
              <a:ext cx="4010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/>
                <a:t>3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147884F-94B3-47C2-B98C-141551DE88F0}"/>
                </a:ext>
              </a:extLst>
            </p:cNvPr>
            <p:cNvGrpSpPr/>
            <p:nvPr/>
          </p:nvGrpSpPr>
          <p:grpSpPr>
            <a:xfrm>
              <a:off x="5559799" y="1607367"/>
              <a:ext cx="3378100" cy="2977560"/>
              <a:chOff x="5520094" y="1612179"/>
              <a:chExt cx="3378100" cy="2977560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D65375-E9BB-462D-B6F8-47B5C968FDA7}"/>
                  </a:ext>
                </a:extLst>
              </p:cNvPr>
              <p:cNvSpPr txBox="1"/>
              <p:nvPr/>
            </p:nvSpPr>
            <p:spPr>
              <a:xfrm>
                <a:off x="6654881" y="1612179"/>
                <a:ext cx="6415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3200" dirty="0"/>
                  <a:t>45</a:t>
                </a: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E3B0AB61-A74F-4A61-845C-C98073498A78}"/>
                  </a:ext>
                </a:extLst>
              </p:cNvPr>
              <p:cNvGrpSpPr/>
              <p:nvPr/>
            </p:nvGrpSpPr>
            <p:grpSpPr>
              <a:xfrm>
                <a:off x="5520094" y="1632156"/>
                <a:ext cx="3378100" cy="2957583"/>
                <a:chOff x="5520094" y="1632156"/>
                <a:chExt cx="3378100" cy="2957583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CD905C2-3B26-4046-A2BD-4A8D07DA5A18}"/>
                    </a:ext>
                  </a:extLst>
                </p:cNvPr>
                <p:cNvSpPr txBox="1"/>
                <p:nvPr/>
              </p:nvSpPr>
              <p:spPr>
                <a:xfrm>
                  <a:off x="6791519" y="2675520"/>
                  <a:ext cx="39466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3200" dirty="0"/>
                    <a:t>9</a:t>
                  </a:r>
                </a:p>
              </p:txBody>
            </p: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819FCBF9-F748-48E3-B08D-E5723FFAFC23}"/>
                    </a:ext>
                  </a:extLst>
                </p:cNvPr>
                <p:cNvGrpSpPr/>
                <p:nvPr/>
              </p:nvGrpSpPr>
              <p:grpSpPr>
                <a:xfrm>
                  <a:off x="5520094" y="1632156"/>
                  <a:ext cx="3378100" cy="2957583"/>
                  <a:chOff x="5520094" y="1632156"/>
                  <a:chExt cx="3378100" cy="2957583"/>
                </a:xfrm>
              </p:grpSpPr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5F2A5039-45CA-498D-A775-2E8469B4F76C}"/>
                      </a:ext>
                    </a:extLst>
                  </p:cNvPr>
                  <p:cNvSpPr txBox="1"/>
                  <p:nvPr/>
                </p:nvSpPr>
                <p:spPr>
                  <a:xfrm>
                    <a:off x="7684191" y="2713359"/>
                    <a:ext cx="543739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3200" dirty="0"/>
                      <a:t>15</a:t>
                    </a:r>
                  </a:p>
                </p:txBody>
              </p:sp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33552037-4467-4F51-BBA2-0DDF2E2FC05D}"/>
                      </a:ext>
                    </a:extLst>
                  </p:cNvPr>
                  <p:cNvGrpSpPr/>
                  <p:nvPr/>
                </p:nvGrpSpPr>
                <p:grpSpPr>
                  <a:xfrm>
                    <a:off x="5520094" y="1632156"/>
                    <a:ext cx="3378100" cy="2957583"/>
                    <a:chOff x="5553210" y="1632156"/>
                    <a:chExt cx="3378100" cy="2957583"/>
                  </a:xfrm>
                </p:grpSpPr>
                <p:grpSp>
                  <p:nvGrpSpPr>
                    <p:cNvPr id="39" name="Group 38">
                      <a:extLst>
                        <a:ext uri="{FF2B5EF4-FFF2-40B4-BE49-F238E27FC236}">
                          <a16:creationId xmlns:a16="http://schemas.microsoft.com/office/drawing/2014/main" id="{747223B5-4D50-43BB-A490-37A32ECA90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17277" y="1632156"/>
                      <a:ext cx="2675270" cy="2957583"/>
                      <a:chOff x="5597399" y="1632156"/>
                      <a:chExt cx="2675270" cy="2957583"/>
                    </a:xfrm>
                  </p:grpSpPr>
                  <p:cxnSp>
                    <p:nvCxnSpPr>
                      <p:cNvPr id="44" name="Straight Connector 43">
                        <a:extLst>
                          <a:ext uri="{FF2B5EF4-FFF2-40B4-BE49-F238E27FC236}">
                            <a16:creationId xmlns:a16="http://schemas.microsoft.com/office/drawing/2014/main" id="{AE35CDA8-5A88-496F-88D1-632EB511B8A3}"/>
                          </a:ext>
                        </a:extLst>
                      </p:cNvPr>
                      <p:cNvCxnSpPr>
                        <a:cxnSpLocks/>
                        <a:stCxn id="46" idx="1"/>
                        <a:endCxn id="49" idx="5"/>
                      </p:cNvCxnSpPr>
                      <p:nvPr/>
                    </p:nvCxnSpPr>
                    <p:spPr>
                      <a:xfrm flipH="1" flipV="1">
                        <a:off x="6097930" y="3212257"/>
                        <a:ext cx="660419" cy="876951"/>
                      </a:xfrm>
                      <a:prstGeom prst="line">
                        <a:avLst/>
                      </a:prstGeom>
                      <a:ln w="571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45" name="Group 44">
                        <a:extLst>
                          <a:ext uri="{FF2B5EF4-FFF2-40B4-BE49-F238E27FC236}">
                            <a16:creationId xmlns:a16="http://schemas.microsoft.com/office/drawing/2014/main" id="{762D34BB-337C-488F-AB35-97B29DA4AF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597399" y="1632156"/>
                        <a:ext cx="2675270" cy="2957583"/>
                        <a:chOff x="5587460" y="1657005"/>
                        <a:chExt cx="2675270" cy="2957583"/>
                      </a:xfrm>
                    </p:grpSpPr>
                    <p:sp>
                      <p:nvSpPr>
                        <p:cNvPr id="46" name="Oval 45">
                          <a:extLst>
                            <a:ext uri="{FF2B5EF4-FFF2-40B4-BE49-F238E27FC236}">
                              <a16:creationId xmlns:a16="http://schemas.microsoft.com/office/drawing/2014/main" id="{A0A750CD-BAA2-47C1-B2D0-BE22BAFEA8D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662533" y="4028180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47" name="Oval 46">
                          <a:extLst>
                            <a:ext uri="{FF2B5EF4-FFF2-40B4-BE49-F238E27FC236}">
                              <a16:creationId xmlns:a16="http://schemas.microsoft.com/office/drawing/2014/main" id="{E5245C04-8100-402F-9F48-F38A7F4C04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662533" y="273657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48" name="Oval 47">
                          <a:extLst>
                            <a:ext uri="{FF2B5EF4-FFF2-40B4-BE49-F238E27FC236}">
                              <a16:creationId xmlns:a16="http://schemas.microsoft.com/office/drawing/2014/main" id="{8EB3541D-9855-4802-98AE-182963826AD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676322" y="273657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49" name="Oval 48">
                          <a:extLst>
                            <a:ext uri="{FF2B5EF4-FFF2-40B4-BE49-F238E27FC236}">
                              <a16:creationId xmlns:a16="http://schemas.microsoft.com/office/drawing/2014/main" id="{CA77030E-EB28-49B4-AECC-40764BE91EA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587460" y="273657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50" name="Oval 49">
                          <a:extLst>
                            <a:ext uri="{FF2B5EF4-FFF2-40B4-BE49-F238E27FC236}">
                              <a16:creationId xmlns:a16="http://schemas.microsoft.com/office/drawing/2014/main" id="{E5EF06C7-A2F2-4436-84CF-64C1B56EB21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662533" y="165700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cxnSp>
                      <p:nvCxnSpPr>
                        <p:cNvPr id="51" name="Straight Connector 50">
                          <a:extLst>
                            <a:ext uri="{FF2B5EF4-FFF2-40B4-BE49-F238E27FC236}">
                              <a16:creationId xmlns:a16="http://schemas.microsoft.com/office/drawing/2014/main" id="{933F6F39-543C-4F2A-B5BB-67C158A458DB}"/>
                            </a:ext>
                          </a:extLst>
                        </p:cNvPr>
                        <p:cNvCxnSpPr>
                          <a:cxnSpLocks/>
                          <a:stCxn id="46" idx="0"/>
                          <a:endCxn id="47" idx="4"/>
                        </p:cNvCxnSpPr>
                        <p:nvPr/>
                      </p:nvCxnSpPr>
                      <p:spPr>
                        <a:xfrm flipV="1">
                          <a:off x="6955737" y="3322983"/>
                          <a:ext cx="0" cy="705197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2" name="Straight Connector 51">
                          <a:extLst>
                            <a:ext uri="{FF2B5EF4-FFF2-40B4-BE49-F238E27FC236}">
                              <a16:creationId xmlns:a16="http://schemas.microsoft.com/office/drawing/2014/main" id="{C5156918-1CFC-4D51-8E2E-64FDF108C14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7172852" y="3259071"/>
                          <a:ext cx="599135" cy="876951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3" name="Straight Connector 52">
                          <a:extLst>
                            <a:ext uri="{FF2B5EF4-FFF2-40B4-BE49-F238E27FC236}">
                              <a16:creationId xmlns:a16="http://schemas.microsoft.com/office/drawing/2014/main" id="{BC4A621C-7DD7-4294-822F-F7E516A25479}"/>
                            </a:ext>
                          </a:extLst>
                        </p:cNvPr>
                        <p:cNvCxnSpPr>
                          <a:cxnSpLocks/>
                          <a:stCxn id="47" idx="0"/>
                          <a:endCxn id="50" idx="4"/>
                        </p:cNvCxnSpPr>
                        <p:nvPr/>
                      </p:nvCxnSpPr>
                      <p:spPr>
                        <a:xfrm flipV="1">
                          <a:off x="6955737" y="2243413"/>
                          <a:ext cx="0" cy="493162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4" name="Straight Connector 53">
                          <a:extLst>
                            <a:ext uri="{FF2B5EF4-FFF2-40B4-BE49-F238E27FC236}">
                              <a16:creationId xmlns:a16="http://schemas.microsoft.com/office/drawing/2014/main" id="{B0A7AFD4-A03C-4C5D-997F-9910AED35618}"/>
                            </a:ext>
                          </a:extLst>
                        </p:cNvPr>
                        <p:cNvCxnSpPr>
                          <a:cxnSpLocks/>
                          <a:stCxn id="48" idx="1"/>
                          <a:endCxn id="50" idx="5"/>
                        </p:cNvCxnSpPr>
                        <p:nvPr/>
                      </p:nvCxnSpPr>
                      <p:spPr>
                        <a:xfrm flipH="1" flipV="1">
                          <a:off x="7163064" y="2157536"/>
                          <a:ext cx="599135" cy="664916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23A9329A-1201-43A0-A2FE-5E11E623FA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53210" y="2671237"/>
                      <a:ext cx="630301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IN" sz="3200" dirty="0"/>
                        <a:t>24</a:t>
                      </a:r>
                    </a:p>
                  </p:txBody>
                </p:sp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EA2E958D-B069-4B5E-A13D-D604F8BB61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44280" y="3918156"/>
                      <a:ext cx="407484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IN" sz="3200" dirty="0"/>
                        <a:t>5</a:t>
                      </a:r>
                    </a:p>
                  </p:txBody>
                </p:sp>
                <p:sp>
                  <p:nvSpPr>
                    <p:cNvPr id="42" name="Oval 41">
                      <a:extLst>
                        <a:ext uri="{FF2B5EF4-FFF2-40B4-BE49-F238E27FC236}">
                          <a16:creationId xmlns:a16="http://schemas.microsoft.com/office/drawing/2014/main" id="{39C64B12-386B-4C21-A593-70F00A1A0C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4902" y="3917339"/>
                      <a:ext cx="586408" cy="586408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cxnSp>
                  <p:nvCxnSpPr>
                    <p:cNvPr id="43" name="Straight Connector 42">
                      <a:extLst>
                        <a:ext uri="{FF2B5EF4-FFF2-40B4-BE49-F238E27FC236}">
                          <a16:creationId xmlns:a16="http://schemas.microsoft.com/office/drawing/2014/main" id="{9BF6A4C5-C8AA-4E2D-9E66-85DC9EB7E8EB}"/>
                        </a:ext>
                      </a:extLst>
                    </p:cNvPr>
                    <p:cNvCxnSpPr>
                      <a:cxnSpLocks/>
                      <a:stCxn id="42" idx="1"/>
                    </p:cNvCxnSpPr>
                    <p:nvPr/>
                  </p:nvCxnSpPr>
                  <p:spPr>
                    <a:xfrm flipH="1" flipV="1">
                      <a:off x="8170459" y="3256012"/>
                      <a:ext cx="260320" cy="747204"/>
                    </a:xfrm>
                    <a:prstGeom prst="line">
                      <a:avLst/>
                    </a:prstGeom>
                    <a:ln w="5715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03DB42D8-459B-4B56-947B-8AC6D6EBBFDA}"/>
              </a:ext>
            </a:extLst>
          </p:cNvPr>
          <p:cNvSpPr txBox="1"/>
          <p:nvPr/>
        </p:nvSpPr>
        <p:spPr>
          <a:xfrm>
            <a:off x="424443" y="4411464"/>
            <a:ext cx="4906437" cy="1943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</a:pPr>
            <a:r>
              <a:rPr lang="en-US" sz="2800" dirty="0"/>
              <a:t>Out of upper bound={15, 45} the least upper bound is 15 since it divides 45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8148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upper bound and Greatest lower bound – Example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611562" cy="125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Find the greatest lower bound of {15, 45}, if it exists for the poset ({3, 5, 9, 15, 24, 45}, |).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0BF66C-70A4-4D36-B4B1-B0D897E7AAF5}"/>
              </a:ext>
            </a:extLst>
          </p:cNvPr>
          <p:cNvSpPr txBox="1"/>
          <p:nvPr/>
        </p:nvSpPr>
        <p:spPr>
          <a:xfrm>
            <a:off x="314424" y="3980933"/>
            <a:ext cx="5044590" cy="259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</a:pPr>
            <a:r>
              <a:rPr lang="en-US" sz="2800" dirty="0"/>
              <a:t>Out of lower bound={3,5,15} the number 15 is the greatest lower bound, since both 3 and 5 divide it.</a:t>
            </a:r>
            <a:endParaRPr lang="en-IN" sz="28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8142F02-2B02-46A9-BF26-19678496D7B4}"/>
              </a:ext>
            </a:extLst>
          </p:cNvPr>
          <p:cNvGrpSpPr/>
          <p:nvPr/>
        </p:nvGrpSpPr>
        <p:grpSpPr>
          <a:xfrm>
            <a:off x="5626752" y="3707290"/>
            <a:ext cx="3378100" cy="2786672"/>
            <a:chOff x="5559799" y="1607367"/>
            <a:chExt cx="3378100" cy="297756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ACDA7F5-234B-479F-B77F-E07FFA86975A}"/>
                </a:ext>
              </a:extLst>
            </p:cNvPr>
            <p:cNvSpPr txBox="1"/>
            <p:nvPr/>
          </p:nvSpPr>
          <p:spPr>
            <a:xfrm>
              <a:off x="6757657" y="3961975"/>
              <a:ext cx="4010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/>
                <a:t>3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BE9D2EC-E003-46B7-9885-1F7485E87872}"/>
                </a:ext>
              </a:extLst>
            </p:cNvPr>
            <p:cNvGrpSpPr/>
            <p:nvPr/>
          </p:nvGrpSpPr>
          <p:grpSpPr>
            <a:xfrm>
              <a:off x="5559799" y="1607367"/>
              <a:ext cx="3378100" cy="2977560"/>
              <a:chOff x="5520094" y="1612179"/>
              <a:chExt cx="3378100" cy="2977560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88B5C58-C624-438F-BC66-CACF623A783F}"/>
                  </a:ext>
                </a:extLst>
              </p:cNvPr>
              <p:cNvSpPr txBox="1"/>
              <p:nvPr/>
            </p:nvSpPr>
            <p:spPr>
              <a:xfrm>
                <a:off x="6654881" y="1612179"/>
                <a:ext cx="6415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3200" dirty="0"/>
                  <a:t>45</a:t>
                </a: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7B8F3F2F-C25D-4A27-BF06-BECDC33CFE52}"/>
                  </a:ext>
                </a:extLst>
              </p:cNvPr>
              <p:cNvGrpSpPr/>
              <p:nvPr/>
            </p:nvGrpSpPr>
            <p:grpSpPr>
              <a:xfrm>
                <a:off x="5520094" y="1632156"/>
                <a:ext cx="3378100" cy="2957583"/>
                <a:chOff x="5520094" y="1632156"/>
                <a:chExt cx="3378100" cy="2957583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480967E-A40A-45E5-932B-14504B3AA422}"/>
                    </a:ext>
                  </a:extLst>
                </p:cNvPr>
                <p:cNvSpPr txBox="1"/>
                <p:nvPr/>
              </p:nvSpPr>
              <p:spPr>
                <a:xfrm>
                  <a:off x="6791519" y="2675520"/>
                  <a:ext cx="39466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3200" dirty="0"/>
                    <a:t>9</a:t>
                  </a:r>
                </a:p>
              </p:txBody>
            </p: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FB89F202-FD12-45E9-A43A-4B35C2D29280}"/>
                    </a:ext>
                  </a:extLst>
                </p:cNvPr>
                <p:cNvGrpSpPr/>
                <p:nvPr/>
              </p:nvGrpSpPr>
              <p:grpSpPr>
                <a:xfrm>
                  <a:off x="5520094" y="1632156"/>
                  <a:ext cx="3378100" cy="2957583"/>
                  <a:chOff x="5520094" y="1632156"/>
                  <a:chExt cx="3378100" cy="2957583"/>
                </a:xfrm>
              </p:grpSpPr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78F7CA50-0175-441B-8560-FB9992BC0324}"/>
                      </a:ext>
                    </a:extLst>
                  </p:cNvPr>
                  <p:cNvSpPr txBox="1"/>
                  <p:nvPr/>
                </p:nvSpPr>
                <p:spPr>
                  <a:xfrm>
                    <a:off x="7684191" y="2713359"/>
                    <a:ext cx="543739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3200" dirty="0"/>
                      <a:t>15</a:t>
                    </a:r>
                  </a:p>
                </p:txBody>
              </p:sp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4D75F029-8B84-4FC0-ABA6-7DE932863EE9}"/>
                      </a:ext>
                    </a:extLst>
                  </p:cNvPr>
                  <p:cNvGrpSpPr/>
                  <p:nvPr/>
                </p:nvGrpSpPr>
                <p:grpSpPr>
                  <a:xfrm>
                    <a:off x="5520094" y="1632156"/>
                    <a:ext cx="3378100" cy="2957583"/>
                    <a:chOff x="5553210" y="1632156"/>
                    <a:chExt cx="3378100" cy="2957583"/>
                  </a:xfrm>
                </p:grpSpPr>
                <p:grpSp>
                  <p:nvGrpSpPr>
                    <p:cNvPr id="39" name="Group 38">
                      <a:extLst>
                        <a:ext uri="{FF2B5EF4-FFF2-40B4-BE49-F238E27FC236}">
                          <a16:creationId xmlns:a16="http://schemas.microsoft.com/office/drawing/2014/main" id="{D7B3EF78-7C38-48D3-98A1-B65ABA4602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17277" y="1632156"/>
                      <a:ext cx="2675270" cy="2957583"/>
                      <a:chOff x="5597399" y="1632156"/>
                      <a:chExt cx="2675270" cy="2957583"/>
                    </a:xfrm>
                  </p:grpSpPr>
                  <p:cxnSp>
                    <p:nvCxnSpPr>
                      <p:cNvPr id="44" name="Straight Connector 43">
                        <a:extLst>
                          <a:ext uri="{FF2B5EF4-FFF2-40B4-BE49-F238E27FC236}">
                            <a16:creationId xmlns:a16="http://schemas.microsoft.com/office/drawing/2014/main" id="{85818CCE-D2BA-4103-9C9A-B074D9525A25}"/>
                          </a:ext>
                        </a:extLst>
                      </p:cNvPr>
                      <p:cNvCxnSpPr>
                        <a:cxnSpLocks/>
                        <a:stCxn id="46" idx="1"/>
                        <a:endCxn id="49" idx="5"/>
                      </p:cNvCxnSpPr>
                      <p:nvPr/>
                    </p:nvCxnSpPr>
                    <p:spPr>
                      <a:xfrm flipH="1" flipV="1">
                        <a:off x="6097930" y="3212257"/>
                        <a:ext cx="660419" cy="876951"/>
                      </a:xfrm>
                      <a:prstGeom prst="line">
                        <a:avLst/>
                      </a:prstGeom>
                      <a:ln w="571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45" name="Group 44">
                        <a:extLst>
                          <a:ext uri="{FF2B5EF4-FFF2-40B4-BE49-F238E27FC236}">
                            <a16:creationId xmlns:a16="http://schemas.microsoft.com/office/drawing/2014/main" id="{C4B97E86-D3D7-43DC-AE01-47131A731FB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597399" y="1632156"/>
                        <a:ext cx="2675270" cy="2957583"/>
                        <a:chOff x="5587460" y="1657005"/>
                        <a:chExt cx="2675270" cy="2957583"/>
                      </a:xfrm>
                    </p:grpSpPr>
                    <p:sp>
                      <p:nvSpPr>
                        <p:cNvPr id="46" name="Oval 45">
                          <a:extLst>
                            <a:ext uri="{FF2B5EF4-FFF2-40B4-BE49-F238E27FC236}">
                              <a16:creationId xmlns:a16="http://schemas.microsoft.com/office/drawing/2014/main" id="{C24EC39C-080E-4C5C-9845-9C809C3E03F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662533" y="4028180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47" name="Oval 46">
                          <a:extLst>
                            <a:ext uri="{FF2B5EF4-FFF2-40B4-BE49-F238E27FC236}">
                              <a16:creationId xmlns:a16="http://schemas.microsoft.com/office/drawing/2014/main" id="{86CF2372-E87A-48CD-AD08-01F5B545BF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662533" y="273657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48" name="Oval 47">
                          <a:extLst>
                            <a:ext uri="{FF2B5EF4-FFF2-40B4-BE49-F238E27FC236}">
                              <a16:creationId xmlns:a16="http://schemas.microsoft.com/office/drawing/2014/main" id="{92CD3A03-BAD0-46B9-958A-73E79E1CFAE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676322" y="273657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49" name="Oval 48">
                          <a:extLst>
                            <a:ext uri="{FF2B5EF4-FFF2-40B4-BE49-F238E27FC236}">
                              <a16:creationId xmlns:a16="http://schemas.microsoft.com/office/drawing/2014/main" id="{F0CAF249-A87D-4471-9F51-BBCCF635A7A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587460" y="273657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50" name="Oval 49">
                          <a:extLst>
                            <a:ext uri="{FF2B5EF4-FFF2-40B4-BE49-F238E27FC236}">
                              <a16:creationId xmlns:a16="http://schemas.microsoft.com/office/drawing/2014/main" id="{2C9487EF-E6E7-474D-B4CC-2F6BA4E7BC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662533" y="1657005"/>
                          <a:ext cx="586408" cy="586408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cxnSp>
                      <p:nvCxnSpPr>
                        <p:cNvPr id="51" name="Straight Connector 50">
                          <a:extLst>
                            <a:ext uri="{FF2B5EF4-FFF2-40B4-BE49-F238E27FC236}">
                              <a16:creationId xmlns:a16="http://schemas.microsoft.com/office/drawing/2014/main" id="{D15AD9CB-19B8-4A44-8268-7FA00C941F5E}"/>
                            </a:ext>
                          </a:extLst>
                        </p:cNvPr>
                        <p:cNvCxnSpPr>
                          <a:cxnSpLocks/>
                          <a:stCxn id="46" idx="0"/>
                          <a:endCxn id="47" idx="4"/>
                        </p:cNvCxnSpPr>
                        <p:nvPr/>
                      </p:nvCxnSpPr>
                      <p:spPr>
                        <a:xfrm flipV="1">
                          <a:off x="6955737" y="3322983"/>
                          <a:ext cx="0" cy="705197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2" name="Straight Connector 51">
                          <a:extLst>
                            <a:ext uri="{FF2B5EF4-FFF2-40B4-BE49-F238E27FC236}">
                              <a16:creationId xmlns:a16="http://schemas.microsoft.com/office/drawing/2014/main" id="{EF6155EE-88C7-4D06-97EE-D3DCE1EAC7C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7172852" y="3259071"/>
                          <a:ext cx="599135" cy="876951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3" name="Straight Connector 52">
                          <a:extLst>
                            <a:ext uri="{FF2B5EF4-FFF2-40B4-BE49-F238E27FC236}">
                              <a16:creationId xmlns:a16="http://schemas.microsoft.com/office/drawing/2014/main" id="{774CC805-CCCD-431C-8301-A372E7F1442E}"/>
                            </a:ext>
                          </a:extLst>
                        </p:cNvPr>
                        <p:cNvCxnSpPr>
                          <a:cxnSpLocks/>
                          <a:stCxn id="47" idx="0"/>
                          <a:endCxn id="50" idx="4"/>
                        </p:cNvCxnSpPr>
                        <p:nvPr/>
                      </p:nvCxnSpPr>
                      <p:spPr>
                        <a:xfrm flipV="1">
                          <a:off x="6955737" y="2243413"/>
                          <a:ext cx="0" cy="493162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4" name="Straight Connector 53">
                          <a:extLst>
                            <a:ext uri="{FF2B5EF4-FFF2-40B4-BE49-F238E27FC236}">
                              <a16:creationId xmlns:a16="http://schemas.microsoft.com/office/drawing/2014/main" id="{53095A6C-2FC6-4D65-A81F-4585F4797154}"/>
                            </a:ext>
                          </a:extLst>
                        </p:cNvPr>
                        <p:cNvCxnSpPr>
                          <a:cxnSpLocks/>
                          <a:stCxn id="48" idx="1"/>
                          <a:endCxn id="50" idx="5"/>
                        </p:cNvCxnSpPr>
                        <p:nvPr/>
                      </p:nvCxnSpPr>
                      <p:spPr>
                        <a:xfrm flipH="1" flipV="1">
                          <a:off x="7163064" y="2157536"/>
                          <a:ext cx="599135" cy="664916"/>
                        </a:xfrm>
                        <a:prstGeom prst="line">
                          <a:avLst/>
                        </a:prstGeom>
                        <a:ln w="5715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0D95AD8E-C42B-4C8B-B3ED-21C129629A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53210" y="2671237"/>
                      <a:ext cx="630301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IN" sz="3200" dirty="0"/>
                        <a:t>24</a:t>
                      </a:r>
                    </a:p>
                  </p:txBody>
                </p:sp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6525B5C6-BC3B-4E76-8DDF-0F9EBB3EAC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44280" y="3918156"/>
                      <a:ext cx="407484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IN" sz="3200" dirty="0"/>
                        <a:t>5</a:t>
                      </a:r>
                    </a:p>
                  </p:txBody>
                </p:sp>
                <p:sp>
                  <p:nvSpPr>
                    <p:cNvPr id="42" name="Oval 41">
                      <a:extLst>
                        <a:ext uri="{FF2B5EF4-FFF2-40B4-BE49-F238E27FC236}">
                          <a16:creationId xmlns:a16="http://schemas.microsoft.com/office/drawing/2014/main" id="{41083050-75A0-4713-9BC1-F9E7C8E958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4902" y="3917339"/>
                      <a:ext cx="586408" cy="586408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cxnSp>
                  <p:nvCxnSpPr>
                    <p:cNvPr id="43" name="Straight Connector 42">
                      <a:extLst>
                        <a:ext uri="{FF2B5EF4-FFF2-40B4-BE49-F238E27FC236}">
                          <a16:creationId xmlns:a16="http://schemas.microsoft.com/office/drawing/2014/main" id="{3A959200-2CB4-4045-BFA4-16D07D16CEDE}"/>
                        </a:ext>
                      </a:extLst>
                    </p:cNvPr>
                    <p:cNvCxnSpPr>
                      <a:cxnSpLocks/>
                      <a:stCxn id="42" idx="1"/>
                    </p:cNvCxnSpPr>
                    <p:nvPr/>
                  </p:nvCxnSpPr>
                  <p:spPr>
                    <a:xfrm flipH="1" flipV="1">
                      <a:off x="8170459" y="3256012"/>
                      <a:ext cx="260320" cy="747204"/>
                    </a:xfrm>
                    <a:prstGeom prst="line">
                      <a:avLst/>
                    </a:prstGeom>
                    <a:ln w="5715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389093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38DB0-1AD8-46DA-AFC3-D6B42F0C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BFAC9-1347-4300-A8CB-91DB01720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48" y="1174053"/>
            <a:ext cx="8504904" cy="53389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Lattices are used in many different applications such as models of information flow and play an important role in Boolean algebra.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partially ordered set in which every pair of elements has both a least upper bound and a greatest lower bound is called a lattice.</a:t>
            </a:r>
          </a:p>
        </p:txBody>
      </p:sp>
    </p:spTree>
    <p:extLst>
      <p:ext uri="{BB962C8B-B14F-4D97-AF65-F5344CB8AC3E}">
        <p14:creationId xmlns:p14="http://schemas.microsoft.com/office/powerpoint/2010/main" val="3500312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38DB0-1AD8-46DA-AFC3-D6B42F0C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Lattice – Example 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B79E31-D3A2-4E09-9D86-7245A76043FA}"/>
              </a:ext>
            </a:extLst>
          </p:cNvPr>
          <p:cNvSpPr txBox="1">
            <a:spLocks/>
          </p:cNvSpPr>
          <p:nvPr/>
        </p:nvSpPr>
        <p:spPr>
          <a:xfrm>
            <a:off x="245806" y="1124822"/>
            <a:ext cx="8599444" cy="1189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latin typeface="+mn-lt"/>
              </a:rPr>
              <a:t>Determine whether the posets represented by each of the Hasse diagrams in Figure below are lattices.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02DF59-04D9-40D0-A3C1-9ECCCEDCB7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27" t="9134" r="2213" b="12020"/>
          <a:stretch/>
        </p:blipFill>
        <p:spPr>
          <a:xfrm>
            <a:off x="5831633" y="2919073"/>
            <a:ext cx="2907941" cy="309058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C8AAC1-E268-42C3-8956-22E4F429FCF3}"/>
              </a:ext>
            </a:extLst>
          </p:cNvPr>
          <p:cNvSpPr txBox="1"/>
          <p:nvPr/>
        </p:nvSpPr>
        <p:spPr>
          <a:xfrm>
            <a:off x="245806" y="2617708"/>
            <a:ext cx="538235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600" dirty="0"/>
              <a:t>The posets represented by the Hasse diagrams is a lattice</a:t>
            </a:r>
          </a:p>
          <a:p>
            <a:pPr algn="just"/>
            <a:endParaRPr lang="en-US" sz="2600" dirty="0"/>
          </a:p>
          <a:p>
            <a:pPr algn="just"/>
            <a:r>
              <a:rPr lang="en-US" sz="2600" dirty="0"/>
              <a:t>Because in poset  every pair of elements has </a:t>
            </a:r>
          </a:p>
          <a:p>
            <a:pPr algn="just"/>
            <a:r>
              <a:rPr lang="en-US" sz="2600" dirty="0"/>
              <a:t>both a least upper bound and  a greatest lower bound.</a:t>
            </a:r>
          </a:p>
          <a:p>
            <a:pPr algn="just"/>
            <a:endParaRPr lang="en-US" sz="2600" dirty="0"/>
          </a:p>
          <a:p>
            <a:pPr algn="just"/>
            <a:r>
              <a:rPr lang="en-US" sz="2600" dirty="0"/>
              <a:t>This is a lattice. </a:t>
            </a:r>
          </a:p>
        </p:txBody>
      </p:sp>
    </p:spTree>
    <p:extLst>
      <p:ext uri="{BB962C8B-B14F-4D97-AF65-F5344CB8AC3E}">
        <p14:creationId xmlns:p14="http://schemas.microsoft.com/office/powerpoint/2010/main" val="401035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38DB0-1AD8-46DA-AFC3-D6B42F0C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Lattice – Example 2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B79E31-D3A2-4E09-9D86-7245A76043FA}"/>
              </a:ext>
            </a:extLst>
          </p:cNvPr>
          <p:cNvSpPr txBox="1">
            <a:spLocks/>
          </p:cNvSpPr>
          <p:nvPr/>
        </p:nvSpPr>
        <p:spPr>
          <a:xfrm>
            <a:off x="393291" y="1230923"/>
            <a:ext cx="8504903" cy="14562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latin typeface="+mn-lt"/>
              </a:rPr>
              <a:t>Determine whether the posets represented by each of the Hasse diagrams in Figure below are lattices.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1AD0ED-7319-4278-AE2C-619E817441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86" t="11801" r="7724" b="15444"/>
          <a:stretch/>
        </p:blipFill>
        <p:spPr>
          <a:xfrm>
            <a:off x="6075225" y="2687217"/>
            <a:ext cx="2300485" cy="337533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74CD50-D605-44DA-AB45-C510338B3D3E}"/>
              </a:ext>
            </a:extLst>
          </p:cNvPr>
          <p:cNvSpPr txBox="1"/>
          <p:nvPr/>
        </p:nvSpPr>
        <p:spPr>
          <a:xfrm>
            <a:off x="393290" y="2838139"/>
            <a:ext cx="52620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The posets represented by the Hasse diagrams is not a lattice.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Because in poset  pair =   { b, c} does not have a least upper bound.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This is not a lattice. </a:t>
            </a:r>
          </a:p>
        </p:txBody>
      </p:sp>
    </p:spTree>
    <p:extLst>
      <p:ext uri="{BB962C8B-B14F-4D97-AF65-F5344CB8AC3E}">
        <p14:creationId xmlns:p14="http://schemas.microsoft.com/office/powerpoint/2010/main" val="158477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38DB0-1AD8-46DA-AFC3-D6B42F0C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Bounded Lattice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BFAC9-1347-4300-A8CB-91DB01720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lattice L is called a bounded lattice if it has greatest element 1 and a least element 0.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lattice L is bounded if it has both an upper bound, </a:t>
            </a:r>
          </a:p>
          <a:p>
            <a:pPr marL="0" indent="0">
              <a:buNone/>
            </a:pPr>
            <a:r>
              <a:rPr lang="en-US" dirty="0"/>
              <a:t>denoted by 1, such that x ≪1 for all x ∈ L and a lower bound, denoted by 0, such that 0 ≪ x for all x ∈ 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636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38DB0-1AD8-46DA-AFC3-D6B42F0C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Bounded Lattice –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BFAC9-1347-4300-A8CB-91DB01720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132065"/>
            <a:ext cx="8504904" cy="22969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/>
              <a:t>The power set P(S) of the set S under the operations of intersection and union is a bounded lattice since ∅ is the least element of P(S) and the set S is the greatest element of P(S).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497B01-A356-4BE4-B58C-986E02A3AC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44" t="3992"/>
          <a:stretch/>
        </p:blipFill>
        <p:spPr>
          <a:xfrm>
            <a:off x="3051378" y="3545633"/>
            <a:ext cx="3188728" cy="2954151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357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38DB0-1AD8-46DA-AFC3-D6B42F0C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Bounded Lattice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BFAC9-1347-4300-A8CB-91DB01720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2180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set of +ve integer (𝑧</a:t>
            </a:r>
            <a:r>
              <a:rPr lang="en-US" baseline="30000" dirty="0"/>
              <a:t>+</a:t>
            </a:r>
            <a:r>
              <a:rPr lang="en-US" dirty="0"/>
              <a:t>,≤) under the usual order of ≤ is not a bounded lattice since it has a least element 1 but the greatest element does not exist.</a:t>
            </a:r>
          </a:p>
        </p:txBody>
      </p:sp>
    </p:spTree>
    <p:extLst>
      <p:ext uri="{BB962C8B-B14F-4D97-AF65-F5344CB8AC3E}">
        <p14:creationId xmlns:p14="http://schemas.microsoft.com/office/powerpoint/2010/main" val="3314786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5507-9BCD-45C1-90CB-42D7F703D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Distributive Lattice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267B5-FE3E-47B5-A753-F76003EC8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86" y="1155392"/>
            <a:ext cx="8116228" cy="53389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 L be a lattice. Define the meet (∧) and join (∨) operation by x ∧ y = glb(x, y) and x ∨ y = lub(x, y).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lattice &lt;A,≤&gt; is distributive </a:t>
            </a:r>
            <a:r>
              <a:rPr lang="en-US" dirty="0" err="1"/>
              <a:t>iff</a:t>
            </a:r>
            <a:r>
              <a:rPr lang="en-US" dirty="0"/>
              <a:t> following holds</a:t>
            </a:r>
          </a:p>
          <a:p>
            <a:pPr marL="0" indent="0">
              <a:buNone/>
            </a:pPr>
            <a:r>
              <a:rPr lang="en-US" dirty="0"/>
              <a:t>for every a, b, c ∈ A: a ∧ (b ∨ c) = (a ∧ b) ∨ (a ∧ c).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405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7B95-1D87-454B-95D1-0FCFE93F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Distributive Lattice –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0C52D-E856-44C6-8BAB-DE3F8D81A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824" y="1067965"/>
            <a:ext cx="7858860" cy="571890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Give an example of a lattice that is not distributive.</a:t>
            </a:r>
          </a:p>
          <a:p>
            <a:pPr marL="0" indent="0">
              <a:buNone/>
            </a:pPr>
            <a:r>
              <a:rPr lang="fr-FR" dirty="0"/>
              <a:t>The diamond lattice M3 is non-distributive:</a:t>
            </a:r>
          </a:p>
          <a:p>
            <a:pPr marL="0" indent="0">
              <a:buNone/>
            </a:pPr>
            <a:r>
              <a:rPr lang="fr-FR" dirty="0"/>
              <a:t>LHS= x ∧ (y ∨ z) = </a:t>
            </a:r>
          </a:p>
          <a:p>
            <a:pPr marL="0" indent="0">
              <a:buNone/>
            </a:pPr>
            <a:r>
              <a:rPr lang="fr-FR" dirty="0"/>
              <a:t>x ∧ 1 = x </a:t>
            </a:r>
          </a:p>
          <a:p>
            <a:pPr marL="0" indent="0">
              <a:buNone/>
            </a:pPr>
            <a:r>
              <a:rPr lang="fr-FR" dirty="0"/>
              <a:t>RHS= (x ∧ y) ∨ (x ∧ z).</a:t>
            </a:r>
          </a:p>
          <a:p>
            <a:pPr marL="0" indent="0">
              <a:buNone/>
            </a:pPr>
            <a:r>
              <a:rPr lang="fr-FR" dirty="0"/>
              <a:t>= 0 ∨ 0 =0</a:t>
            </a:r>
          </a:p>
          <a:p>
            <a:pPr marL="0" indent="0">
              <a:buNone/>
            </a:pPr>
            <a:r>
              <a:rPr lang="fr-FR" dirty="0"/>
              <a:t>x ∧ (y ∨ z)  ≠ (x ∧ y) ∨ (x ∧ z).</a:t>
            </a:r>
          </a:p>
          <a:p>
            <a:pPr marL="0" indent="0">
              <a:buNone/>
            </a:pPr>
            <a:r>
              <a:rPr lang="fr-FR" dirty="0"/>
              <a:t>x≠ 0</a:t>
            </a:r>
          </a:p>
          <a:p>
            <a:pPr marL="0" indent="0">
              <a:buNone/>
            </a:pPr>
            <a:r>
              <a:rPr lang="fr-FR" dirty="0"/>
              <a:t>LHS ≠ RHS</a:t>
            </a:r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D995AC9-5DDC-410C-8721-297AC56A2FD6}"/>
              </a:ext>
            </a:extLst>
          </p:cNvPr>
          <p:cNvGrpSpPr/>
          <p:nvPr/>
        </p:nvGrpSpPr>
        <p:grpSpPr>
          <a:xfrm>
            <a:off x="5154149" y="2561300"/>
            <a:ext cx="3008242" cy="2732237"/>
            <a:chOff x="5546035" y="2743208"/>
            <a:chExt cx="3008242" cy="273223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5804B3D-BBC6-4381-8011-65BC8F64B46C}"/>
                </a:ext>
              </a:extLst>
            </p:cNvPr>
            <p:cNvSpPr/>
            <p:nvPr/>
          </p:nvSpPr>
          <p:spPr>
            <a:xfrm>
              <a:off x="5546035" y="3918156"/>
              <a:ext cx="646043" cy="44512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7DCBC51-92C8-4576-BE28-321CFFB6C9BC}"/>
                </a:ext>
              </a:extLst>
            </p:cNvPr>
            <p:cNvSpPr/>
            <p:nvPr/>
          </p:nvSpPr>
          <p:spPr>
            <a:xfrm>
              <a:off x="6722165" y="3918156"/>
              <a:ext cx="646043" cy="44512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58FB71-1B20-4658-B81A-D103443EF871}"/>
                </a:ext>
              </a:extLst>
            </p:cNvPr>
            <p:cNvSpPr/>
            <p:nvPr/>
          </p:nvSpPr>
          <p:spPr>
            <a:xfrm>
              <a:off x="7908234" y="3918156"/>
              <a:ext cx="646043" cy="44512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EBDEFC2-674B-4B6E-BB3B-AA0FD48EFFE1}"/>
                </a:ext>
              </a:extLst>
            </p:cNvPr>
            <p:cNvSpPr/>
            <p:nvPr/>
          </p:nvSpPr>
          <p:spPr>
            <a:xfrm>
              <a:off x="6700310" y="2828165"/>
              <a:ext cx="646043" cy="44512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27E7669-04CD-4FC8-B273-A59A606E5B69}"/>
                </a:ext>
              </a:extLst>
            </p:cNvPr>
            <p:cNvSpPr/>
            <p:nvPr/>
          </p:nvSpPr>
          <p:spPr>
            <a:xfrm>
              <a:off x="6750006" y="5008147"/>
              <a:ext cx="646043" cy="44512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1B59059-8456-43DC-B997-C3389BEFC40D}"/>
                </a:ext>
              </a:extLst>
            </p:cNvPr>
            <p:cNvSpPr txBox="1"/>
            <p:nvPr/>
          </p:nvSpPr>
          <p:spPr>
            <a:xfrm>
              <a:off x="5698115" y="3778503"/>
              <a:ext cx="3578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dirty="0"/>
                <a:t>x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9754CC5-C36E-46CE-8714-F51D1B801A88}"/>
                </a:ext>
              </a:extLst>
            </p:cNvPr>
            <p:cNvSpPr txBox="1"/>
            <p:nvPr/>
          </p:nvSpPr>
          <p:spPr>
            <a:xfrm>
              <a:off x="6844426" y="3808550"/>
              <a:ext cx="3578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dirty="0"/>
                <a:t>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9CA607-B8AF-4CDE-B55A-0E3044C63159}"/>
                </a:ext>
              </a:extLst>
            </p:cNvPr>
            <p:cNvSpPr txBox="1"/>
            <p:nvPr/>
          </p:nvSpPr>
          <p:spPr>
            <a:xfrm>
              <a:off x="8052350" y="3808549"/>
              <a:ext cx="3578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dirty="0"/>
                <a:t>z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7AB87EF-79DE-4E47-A568-73AB1E548E4B}"/>
                </a:ext>
              </a:extLst>
            </p:cNvPr>
            <p:cNvSpPr txBox="1"/>
            <p:nvPr/>
          </p:nvSpPr>
          <p:spPr>
            <a:xfrm>
              <a:off x="6844425" y="2743208"/>
              <a:ext cx="3578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dirty="0"/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0091B12-1DFB-4740-AC37-5EDB5823C57C}"/>
                </a:ext>
              </a:extLst>
            </p:cNvPr>
            <p:cNvSpPr txBox="1"/>
            <p:nvPr/>
          </p:nvSpPr>
          <p:spPr>
            <a:xfrm>
              <a:off x="6866281" y="4890670"/>
              <a:ext cx="3578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dirty="0"/>
                <a:t>0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95ECAF4-09F0-4A12-AE1B-5B904FF34D16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6097467" y="4298091"/>
              <a:ext cx="747150" cy="775243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13042F3-3570-4995-B09B-613021968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3330" y="3298166"/>
              <a:ext cx="21856" cy="5901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159E5FD-EC99-43EF-BF95-A8554B917010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flipV="1">
              <a:off x="7023331" y="4393325"/>
              <a:ext cx="0" cy="628126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AE8D57E-ED00-4811-A940-A5CA42B13BD6}"/>
                </a:ext>
              </a:extLst>
            </p:cNvPr>
            <p:cNvCxnSpPr>
              <a:cxnSpLocks/>
              <a:stCxn id="11" idx="7"/>
              <a:endCxn id="9" idx="3"/>
            </p:cNvCxnSpPr>
            <p:nvPr/>
          </p:nvCxnSpPr>
          <p:spPr>
            <a:xfrm flipV="1">
              <a:off x="7301438" y="4298091"/>
              <a:ext cx="701407" cy="775243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663C730-4EED-4DBE-AC8F-875179A6D4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73403" y="3152176"/>
              <a:ext cx="747150" cy="775243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9AC962C-7858-40DB-9CC1-ED66953C0081}"/>
                </a:ext>
              </a:extLst>
            </p:cNvPr>
            <p:cNvCxnSpPr>
              <a:cxnSpLocks/>
              <a:endCxn id="10" idx="3"/>
            </p:cNvCxnSpPr>
            <p:nvPr/>
          </p:nvCxnSpPr>
          <p:spPr>
            <a:xfrm flipV="1">
              <a:off x="6015470" y="3208100"/>
              <a:ext cx="779451" cy="71005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4351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7B95-1D87-454B-95D1-0FCFE93F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Distributive Lattice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0C52D-E856-44C6-8BAB-DE3F8D81A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6" y="1139091"/>
            <a:ext cx="7807004" cy="57189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Give an example of a lattice that is distributive.</a:t>
            </a:r>
          </a:p>
          <a:p>
            <a:pPr marL="0" indent="0">
              <a:buNone/>
            </a:pPr>
            <a:r>
              <a:rPr lang="en-US" dirty="0"/>
              <a:t>Take,</a:t>
            </a:r>
          </a:p>
          <a:p>
            <a:pPr marL="0" indent="0">
              <a:buNone/>
            </a:pPr>
            <a:r>
              <a:rPr lang="fr-FR" dirty="0"/>
              <a:t>LHS= {a} ∧ ({a, b} ∨ {b, c}) = </a:t>
            </a:r>
          </a:p>
          <a:p>
            <a:pPr marL="0" indent="0">
              <a:buNone/>
            </a:pPr>
            <a:r>
              <a:rPr lang="fr-FR" dirty="0"/>
              <a:t>{a} ∧ {a, b, c} = {a} </a:t>
            </a:r>
          </a:p>
          <a:p>
            <a:pPr marL="0" indent="0">
              <a:buNone/>
            </a:pPr>
            <a:r>
              <a:rPr lang="fr-FR" dirty="0"/>
              <a:t>RHS= ({a}  ∧ {a, b}) ∨ ({a} ∧ {b, c}).</a:t>
            </a:r>
          </a:p>
          <a:p>
            <a:pPr marL="0" indent="0">
              <a:buNone/>
            </a:pPr>
            <a:r>
              <a:rPr lang="fr-FR" dirty="0"/>
              <a:t>= {a} ∨ </a:t>
            </a:r>
            <a:r>
              <a:rPr lang="en-IN" dirty="0"/>
              <a:t>∅</a:t>
            </a:r>
            <a:r>
              <a:rPr lang="fr-FR" dirty="0"/>
              <a:t> =</a:t>
            </a:r>
            <a:r>
              <a:rPr lang="en-IN" dirty="0"/>
              <a:t> </a:t>
            </a:r>
            <a:r>
              <a:rPr lang="fr-FR" dirty="0"/>
              <a:t>{a}</a:t>
            </a:r>
          </a:p>
          <a:p>
            <a:pPr marL="0" indent="0">
              <a:buNone/>
            </a:pPr>
            <a:r>
              <a:rPr lang="fr-FR" dirty="0"/>
              <a:t>{a} = {a} </a:t>
            </a:r>
          </a:p>
          <a:p>
            <a:pPr marL="0" indent="0">
              <a:buNone/>
            </a:pPr>
            <a:r>
              <a:rPr lang="fr-FR" dirty="0"/>
              <a:t>LHS = RHS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C8241B5-A224-4D4E-AC5E-11CD3BCC5A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44" t="3992"/>
          <a:stretch/>
        </p:blipFill>
        <p:spPr>
          <a:xfrm>
            <a:off x="5364612" y="1981336"/>
            <a:ext cx="3654880" cy="3442832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588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5603</TotalTime>
  <Words>928</Words>
  <Application>Microsoft Office PowerPoint</Application>
  <PresentationFormat>On-screen Show (4:3)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</vt:lpstr>
      <vt:lpstr>Bahnschrift</vt:lpstr>
      <vt:lpstr>Bahnschrift SemiBold</vt:lpstr>
      <vt:lpstr>Calibri</vt:lpstr>
      <vt:lpstr>Office Theme</vt:lpstr>
      <vt:lpstr>EMTH403</vt:lpstr>
      <vt:lpstr>Lecture Outcomes</vt:lpstr>
      <vt:lpstr>Least upper bound and Greatest lower bound </vt:lpstr>
      <vt:lpstr>Least upper bound and Greatest lower bound </vt:lpstr>
      <vt:lpstr>Least upper bound and Greatest lower bound – Example 1</vt:lpstr>
      <vt:lpstr>Least upper bound and Greatest lower bound – Example 2</vt:lpstr>
      <vt:lpstr>Lattice</vt:lpstr>
      <vt:lpstr>Lattice – Example 1</vt:lpstr>
      <vt:lpstr>Lattice – Example 2</vt:lpstr>
      <vt:lpstr>Bounded Lattice</vt:lpstr>
      <vt:lpstr>Bounded Lattice – Example 1</vt:lpstr>
      <vt:lpstr>Bounded Lattice – Example 2</vt:lpstr>
      <vt:lpstr>Distributive Lattice</vt:lpstr>
      <vt:lpstr>Distributive Lattice – Example 1</vt:lpstr>
      <vt:lpstr>Distributive Lattice – Example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816</cp:revision>
  <dcterms:created xsi:type="dcterms:W3CDTF">2020-12-04T05:20:56Z</dcterms:created>
  <dcterms:modified xsi:type="dcterms:W3CDTF">2020-12-22T11:16:34Z</dcterms:modified>
</cp:coreProperties>
</file>