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handoutMasterIdLst>
    <p:handoutMasterId r:id="rId24"/>
  </p:handoutMasterIdLst>
  <p:sldIdLst>
    <p:sldId id="256" r:id="rId2"/>
    <p:sldId id="257" r:id="rId3"/>
    <p:sldId id="260" r:id="rId4"/>
    <p:sldId id="265" r:id="rId5"/>
    <p:sldId id="261" r:id="rId6"/>
    <p:sldId id="266" r:id="rId7"/>
    <p:sldId id="262" r:id="rId8"/>
    <p:sldId id="263" r:id="rId9"/>
    <p:sldId id="268" r:id="rId10"/>
    <p:sldId id="267" r:id="rId11"/>
    <p:sldId id="269" r:id="rId12"/>
    <p:sldId id="264" r:id="rId13"/>
    <p:sldId id="270" r:id="rId14"/>
    <p:sldId id="273" r:id="rId15"/>
    <p:sldId id="274" r:id="rId16"/>
    <p:sldId id="275" r:id="rId17"/>
    <p:sldId id="276" r:id="rId18"/>
    <p:sldId id="277" r:id="rId19"/>
    <p:sldId id="278" r:id="rId20"/>
    <p:sldId id="279" r:id="rId21"/>
    <p:sldId id="259"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13A8035-ECEF-47C4-90A1-0C3215DAC7C2}">
          <p14:sldIdLst>
            <p14:sldId id="256"/>
            <p14:sldId id="257"/>
            <p14:sldId id="260"/>
            <p14:sldId id="265"/>
            <p14:sldId id="261"/>
            <p14:sldId id="266"/>
            <p14:sldId id="262"/>
            <p14:sldId id="263"/>
            <p14:sldId id="268"/>
            <p14:sldId id="267"/>
            <p14:sldId id="269"/>
            <p14:sldId id="264"/>
            <p14:sldId id="270"/>
            <p14:sldId id="273"/>
            <p14:sldId id="274"/>
            <p14:sldId id="275"/>
            <p14:sldId id="276"/>
            <p14:sldId id="277"/>
            <p14:sldId id="278"/>
            <p14:sldId id="279"/>
            <p14:sldId id="25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6CC"/>
    <a:srgbClr val="4472C4"/>
    <a:srgbClr val="DDDDDD"/>
    <a:srgbClr val="BBBBBB"/>
    <a:srgbClr val="00A2B8"/>
    <a:srgbClr val="00B451"/>
    <a:srgbClr val="BA202B"/>
    <a:srgbClr val="CA628C"/>
    <a:srgbClr val="71EEFF"/>
    <a:srgbClr val="89E2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1430" y="72"/>
      </p:cViewPr>
      <p:guideLst/>
    </p:cSldViewPr>
  </p:slideViewPr>
  <p:notesTextViewPr>
    <p:cViewPr>
      <p:scale>
        <a:sx n="1" d="1"/>
        <a:sy n="1" d="1"/>
      </p:scale>
      <p:origin x="0" y="0"/>
    </p:cViewPr>
  </p:notesTextViewPr>
  <p:notesViewPr>
    <p:cSldViewPr snapToGrid="0">
      <p:cViewPr varScale="1">
        <p:scale>
          <a:sx n="49" d="100"/>
          <a:sy n="49" d="100"/>
        </p:scale>
        <p:origin x="1884" y="3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F218DD-E614-4E73-B564-F8E0717E89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34A14C21-F88B-4739-8F26-AA4DEEB64FA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511DE57-39A0-4263-A76B-22C3CE26C8E2}" type="datetimeFigureOut">
              <a:rPr lang="en-IN" smtClean="0"/>
              <a:t>20-12-2020</a:t>
            </a:fld>
            <a:endParaRPr lang="en-IN"/>
          </a:p>
        </p:txBody>
      </p:sp>
      <p:sp>
        <p:nvSpPr>
          <p:cNvPr id="4" name="Footer Placeholder 3">
            <a:extLst>
              <a:ext uri="{FF2B5EF4-FFF2-40B4-BE49-F238E27FC236}">
                <a16:creationId xmlns:a16="http://schemas.microsoft.com/office/drawing/2014/main" id="{5C435058-CB50-45CA-B183-2892DE4A396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530C2E93-0834-4027-BDF9-2CBEA154774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BE93A7-2C4F-4D32-8895-81F23FF37AD6}" type="slidenum">
              <a:rPr lang="en-IN" smtClean="0"/>
              <a:t>‹#›</a:t>
            </a:fld>
            <a:endParaRPr lang="en-IN"/>
          </a:p>
        </p:txBody>
      </p:sp>
    </p:spTree>
    <p:extLst>
      <p:ext uri="{BB962C8B-B14F-4D97-AF65-F5344CB8AC3E}">
        <p14:creationId xmlns:p14="http://schemas.microsoft.com/office/powerpoint/2010/main" val="36868657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108F98-5817-4768-91E0-7435FEF7FFA1}" type="datetimeFigureOut">
              <a:rPr lang="en-IN" smtClean="0"/>
              <a:t>20-12-2020</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5C79E5-282A-4490-B8CC-DC7602F73C68}" type="slidenum">
              <a:rPr lang="en-IN" smtClean="0"/>
              <a:t>‹#›</a:t>
            </a:fld>
            <a:endParaRPr lang="en-IN"/>
          </a:p>
        </p:txBody>
      </p:sp>
    </p:spTree>
    <p:extLst>
      <p:ext uri="{BB962C8B-B14F-4D97-AF65-F5344CB8AC3E}">
        <p14:creationId xmlns:p14="http://schemas.microsoft.com/office/powerpoint/2010/main" val="2016600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822478E-B0D0-4983-A2EC-2C070D46FC4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1200"/>
          <a:stretch/>
        </p:blipFill>
        <p:spPr>
          <a:xfrm>
            <a:off x="-1" y="0"/>
            <a:ext cx="9144001" cy="6858000"/>
          </a:xfrm>
          <a:prstGeom prst="rect">
            <a:avLst/>
          </a:prstGeom>
        </p:spPr>
      </p:pic>
      <p:sp>
        <p:nvSpPr>
          <p:cNvPr id="2" name="Title 1"/>
          <p:cNvSpPr>
            <a:spLocks noGrp="1"/>
          </p:cNvSpPr>
          <p:nvPr>
            <p:ph type="ctrTitle" hasCustomPrompt="1"/>
          </p:nvPr>
        </p:nvSpPr>
        <p:spPr>
          <a:xfrm>
            <a:off x="4758813" y="1011007"/>
            <a:ext cx="4186084" cy="1001405"/>
          </a:xfrm>
        </p:spPr>
        <p:txBody>
          <a:bodyPr anchor="b">
            <a:noAutofit/>
          </a:bodyPr>
          <a:lstStyle>
            <a:lvl1pPr algn="r">
              <a:defRPr sz="7500">
                <a:ln>
                  <a:solidFill>
                    <a:srgbClr val="BA202B"/>
                  </a:solidFill>
                </a:ln>
                <a:solidFill>
                  <a:srgbClr val="CA628C"/>
                </a:solidFill>
                <a:effectLst>
                  <a:outerShdw blurRad="38100" dist="38100" dir="2700000" algn="tl">
                    <a:srgbClr val="000000">
                      <a:alpha val="43137"/>
                    </a:srgbClr>
                  </a:outerShdw>
                </a:effectLst>
              </a:defRPr>
            </a:lvl1pPr>
          </a:lstStyle>
          <a:p>
            <a:r>
              <a:rPr lang="en-US" dirty="0"/>
              <a:t>EMTH403</a:t>
            </a:r>
          </a:p>
        </p:txBody>
      </p:sp>
      <p:sp>
        <p:nvSpPr>
          <p:cNvPr id="3" name="Subtitle 2"/>
          <p:cNvSpPr>
            <a:spLocks noGrp="1"/>
          </p:cNvSpPr>
          <p:nvPr>
            <p:ph type="subTitle" idx="1" hasCustomPrompt="1"/>
          </p:nvPr>
        </p:nvSpPr>
        <p:spPr>
          <a:xfrm>
            <a:off x="4758813" y="2012412"/>
            <a:ext cx="4186083" cy="838943"/>
          </a:xfrm>
        </p:spPr>
        <p:txBody>
          <a:bodyPr>
            <a:normAutofit/>
          </a:bodyPr>
          <a:lstStyle>
            <a:lvl1pPr marL="0" indent="0" algn="r">
              <a:buNone/>
              <a:defRPr sz="2800">
                <a:solidFill>
                  <a:srgbClr val="00206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Mathematical Foundation for Computer Science</a:t>
            </a:r>
          </a:p>
        </p:txBody>
      </p:sp>
      <p:sp>
        <p:nvSpPr>
          <p:cNvPr id="9" name="TextBox 8">
            <a:extLst>
              <a:ext uri="{FF2B5EF4-FFF2-40B4-BE49-F238E27FC236}">
                <a16:creationId xmlns:a16="http://schemas.microsoft.com/office/drawing/2014/main" id="{FC6A5137-F38E-416C-BA01-890D57CBC895}"/>
              </a:ext>
            </a:extLst>
          </p:cNvPr>
          <p:cNvSpPr txBox="1"/>
          <p:nvPr userDrawn="1"/>
        </p:nvSpPr>
        <p:spPr>
          <a:xfrm>
            <a:off x="5369878" y="3852760"/>
            <a:ext cx="3575018" cy="507831"/>
          </a:xfrm>
          <a:prstGeom prst="rect">
            <a:avLst/>
          </a:prstGeom>
          <a:noFill/>
        </p:spPr>
        <p:txBody>
          <a:bodyPr wrap="none" rtlCol="0">
            <a:spAutoFit/>
          </a:bodyPr>
          <a:lstStyle/>
          <a:p>
            <a:pPr algn="r"/>
            <a:r>
              <a:rPr lang="en-IN" sz="2700" strike="noStrike" dirty="0">
                <a:solidFill>
                  <a:srgbClr val="BA202B"/>
                </a:solidFill>
                <a:effectLst/>
              </a:rPr>
              <a:t>Nitin K. Mishra (Ph.D.)</a:t>
            </a:r>
          </a:p>
        </p:txBody>
      </p:sp>
      <p:sp>
        <p:nvSpPr>
          <p:cNvPr id="10" name="TextBox 9">
            <a:extLst>
              <a:ext uri="{FF2B5EF4-FFF2-40B4-BE49-F238E27FC236}">
                <a16:creationId xmlns:a16="http://schemas.microsoft.com/office/drawing/2014/main" id="{12607290-3460-4AC4-ABC8-F072BD3D73E5}"/>
              </a:ext>
            </a:extLst>
          </p:cNvPr>
          <p:cNvSpPr txBox="1"/>
          <p:nvPr userDrawn="1"/>
        </p:nvSpPr>
        <p:spPr>
          <a:xfrm>
            <a:off x="5525729" y="4314425"/>
            <a:ext cx="3419167" cy="461665"/>
          </a:xfrm>
          <a:prstGeom prst="rect">
            <a:avLst/>
          </a:prstGeom>
          <a:noFill/>
        </p:spPr>
        <p:txBody>
          <a:bodyPr wrap="square" rtlCol="0">
            <a:spAutoFit/>
          </a:bodyPr>
          <a:lstStyle/>
          <a:p>
            <a:pPr algn="ctr"/>
            <a:r>
              <a:rPr lang="en-IN" sz="2400" dirty="0">
                <a:solidFill>
                  <a:schemeClr val="bg2">
                    <a:lumMod val="25000"/>
                  </a:schemeClr>
                </a:solidFill>
              </a:rPr>
              <a:t>Associate Professor</a:t>
            </a:r>
          </a:p>
        </p:txBody>
      </p:sp>
      <p:cxnSp>
        <p:nvCxnSpPr>
          <p:cNvPr id="12" name="Straight Connector 11">
            <a:extLst>
              <a:ext uri="{FF2B5EF4-FFF2-40B4-BE49-F238E27FC236}">
                <a16:creationId xmlns:a16="http://schemas.microsoft.com/office/drawing/2014/main" id="{392C86BC-E539-4EC2-9687-C9BAFAAFC1D8}"/>
              </a:ext>
            </a:extLst>
          </p:cNvPr>
          <p:cNvCxnSpPr>
            <a:cxnSpLocks/>
          </p:cNvCxnSpPr>
          <p:nvPr userDrawn="1"/>
        </p:nvCxnSpPr>
        <p:spPr>
          <a:xfrm flipH="1">
            <a:off x="5525729" y="4805586"/>
            <a:ext cx="3342972" cy="0"/>
          </a:xfrm>
          <a:prstGeom prst="line">
            <a:avLst/>
          </a:prstGeom>
          <a:ln w="38100">
            <a:solidFill>
              <a:srgbClr val="89E2EB"/>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712CEEC-655E-468A-942D-1D746D27486B}"/>
              </a:ext>
            </a:extLst>
          </p:cNvPr>
          <p:cNvCxnSpPr>
            <a:cxnSpLocks/>
          </p:cNvCxnSpPr>
          <p:nvPr userDrawn="1"/>
        </p:nvCxnSpPr>
        <p:spPr>
          <a:xfrm flipH="1">
            <a:off x="5525729" y="4360591"/>
            <a:ext cx="3342972" cy="0"/>
          </a:xfrm>
          <a:prstGeom prst="line">
            <a:avLst/>
          </a:prstGeom>
          <a:ln w="38100">
            <a:solidFill>
              <a:srgbClr val="89E2EB"/>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389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Learning Outcome">
    <p:bg>
      <p:bgPr>
        <a:blipFill dpi="0" rotWithShape="1">
          <a:blip r:embed="rId2">
            <a:alphaModFix amt="20000"/>
            <a:lum/>
          </a:blip>
          <a:srcRect/>
          <a:stretch>
            <a:fillRect l="-6000" r="-6000"/>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2A9DAD-2222-4EAA-A984-73EA804BABC9}"/>
              </a:ext>
            </a:extLst>
          </p:cNvPr>
          <p:cNvSpPr/>
          <p:nvPr userDrawn="1"/>
        </p:nvSpPr>
        <p:spPr>
          <a:xfrm>
            <a:off x="0" y="-1"/>
            <a:ext cx="9144000" cy="2113936"/>
          </a:xfrm>
          <a:prstGeom prst="rect">
            <a:avLst/>
          </a:prstGeom>
          <a:gradFill flip="none" rotWithShape="1">
            <a:gsLst>
              <a:gs pos="78000">
                <a:schemeClr val="accent3">
                  <a:lumMod val="0"/>
                  <a:lumOff val="100000"/>
                </a:schemeClr>
              </a:gs>
              <a:gs pos="45000">
                <a:srgbClr val="00A2B8"/>
              </a:gs>
            </a:gsLst>
            <a:lin ang="0" scaled="0"/>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hasCustomPrompt="1"/>
          </p:nvPr>
        </p:nvSpPr>
        <p:spPr>
          <a:xfrm>
            <a:off x="393290" y="0"/>
            <a:ext cx="5191433" cy="2113935"/>
          </a:xfrm>
        </p:spPr>
        <p:txBody>
          <a:bodyPr>
            <a:normAutofit/>
          </a:bodyPr>
          <a:lstStyle>
            <a:lvl1pPr>
              <a:defRPr sz="5400">
                <a:solidFill>
                  <a:schemeClr val="bg1"/>
                </a:solidFill>
                <a:effectLst>
                  <a:outerShdw blurRad="38100" dist="38100" dir="2700000" algn="tl">
                    <a:srgbClr val="000000">
                      <a:alpha val="43137"/>
                    </a:srgbClr>
                  </a:outerShdw>
                </a:effectLst>
              </a:defRPr>
            </a:lvl1pPr>
          </a:lstStyle>
          <a:p>
            <a:r>
              <a:rPr lang="en-US" dirty="0"/>
              <a:t>Lecture</a:t>
            </a:r>
            <a:br>
              <a:rPr lang="en-US" dirty="0"/>
            </a:br>
            <a:r>
              <a:rPr lang="en-US" dirty="0"/>
              <a:t>Outcomes</a:t>
            </a:r>
          </a:p>
        </p:txBody>
      </p:sp>
      <p:sp>
        <p:nvSpPr>
          <p:cNvPr id="3" name="Content Placeholder 2"/>
          <p:cNvSpPr>
            <a:spLocks noGrp="1"/>
          </p:cNvSpPr>
          <p:nvPr>
            <p:ph idx="1" hasCustomPrompt="1"/>
          </p:nvPr>
        </p:nvSpPr>
        <p:spPr>
          <a:xfrm>
            <a:off x="963560" y="2883188"/>
            <a:ext cx="7934633" cy="3500283"/>
          </a:xfrm>
        </p:spPr>
        <p:txBody>
          <a:bodyPr>
            <a:normAutofit/>
          </a:bodyPr>
          <a:lstStyle>
            <a:lvl1pPr>
              <a:lnSpc>
                <a:spcPct val="150000"/>
              </a:lnSpc>
              <a:buClr>
                <a:srgbClr val="00A2B8"/>
              </a:buClr>
              <a:defRPr/>
            </a:lvl1pPr>
            <a:lvl2pPr>
              <a:buClr>
                <a:srgbClr val="00A2B8"/>
              </a:buClr>
              <a:defRPr sz="2800"/>
            </a:lvl2pPr>
            <a:lvl3pPr>
              <a:buClr>
                <a:srgbClr val="00A2B8"/>
              </a:buClr>
              <a:defRPr/>
            </a:lvl3pPr>
            <a:lvl4pPr>
              <a:buClr>
                <a:srgbClr val="00A2B8"/>
              </a:buClr>
              <a:defRPr/>
            </a:lvl4pPr>
            <a:lvl5pPr>
              <a:buClr>
                <a:srgbClr val="00A2B8"/>
              </a:buClr>
              <a:defRPr/>
            </a:lvl5pPr>
          </a:lstStyle>
          <a:p>
            <a:pPr lvl="0"/>
            <a:r>
              <a:rPr lang="en-US" dirty="0"/>
              <a:t>outcome 1</a:t>
            </a:r>
          </a:p>
          <a:p>
            <a:pPr lvl="0"/>
            <a:r>
              <a:rPr lang="en-US" dirty="0"/>
              <a:t>outcome 2</a:t>
            </a:r>
          </a:p>
          <a:p>
            <a:pPr lvl="0"/>
            <a:r>
              <a:rPr lang="en-US" dirty="0"/>
              <a:t>outcome 3</a:t>
            </a:r>
          </a:p>
        </p:txBody>
      </p:sp>
      <p:pic>
        <p:nvPicPr>
          <p:cNvPr id="11" name="Graphic 10" descr="Target">
            <a:extLst>
              <a:ext uri="{FF2B5EF4-FFF2-40B4-BE49-F238E27FC236}">
                <a16:creationId xmlns:a16="http://schemas.microsoft.com/office/drawing/2014/main" id="{8709446A-BD58-42FE-8058-90C6B724402E}"/>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26708" y="98321"/>
            <a:ext cx="1917292" cy="1917292"/>
          </a:xfrm>
          <a:prstGeom prst="rect">
            <a:avLst/>
          </a:prstGeom>
          <a:effectLst>
            <a:outerShdw blurRad="63500" sx="102000" sy="102000" algn="ctr" rotWithShape="0">
              <a:prstClr val="black">
                <a:alpha val="40000"/>
              </a:prstClr>
            </a:outerShdw>
          </a:effectLst>
        </p:spPr>
      </p:pic>
      <p:sp>
        <p:nvSpPr>
          <p:cNvPr id="12" name="TextBox 11">
            <a:extLst>
              <a:ext uri="{FF2B5EF4-FFF2-40B4-BE49-F238E27FC236}">
                <a16:creationId xmlns:a16="http://schemas.microsoft.com/office/drawing/2014/main" id="{F8377C6D-0C30-48F0-89AC-23D3E98F9A33}"/>
              </a:ext>
            </a:extLst>
          </p:cNvPr>
          <p:cNvSpPr txBox="1"/>
          <p:nvPr userDrawn="1"/>
        </p:nvSpPr>
        <p:spPr>
          <a:xfrm>
            <a:off x="393290" y="2298413"/>
            <a:ext cx="6845144" cy="584775"/>
          </a:xfrm>
          <a:prstGeom prst="rect">
            <a:avLst/>
          </a:prstGeom>
          <a:noFill/>
        </p:spPr>
        <p:txBody>
          <a:bodyPr wrap="none" rtlCol="0">
            <a:spAutoFit/>
          </a:bodyPr>
          <a:lstStyle/>
          <a:p>
            <a:r>
              <a:rPr lang="en-IN" sz="3200" dirty="0"/>
              <a:t>After this lecture, you will be able to</a:t>
            </a:r>
          </a:p>
        </p:txBody>
      </p:sp>
    </p:spTree>
    <p:extLst>
      <p:ext uri="{BB962C8B-B14F-4D97-AF65-F5344CB8AC3E}">
        <p14:creationId xmlns:p14="http://schemas.microsoft.com/office/powerpoint/2010/main" val="6461605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2_Title and Content">
    <p:bg>
      <p:bgPr>
        <a:blipFill dpi="0" rotWithShape="1">
          <a:blip r:embed="rId2">
            <a:alphaModFix amt="20000"/>
            <a:lum/>
          </a:blip>
          <a:srcRect/>
          <a:stretch>
            <a:fillRect l="-6000" r="-6000"/>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2A9DAD-2222-4EAA-A984-73EA804BABC9}"/>
              </a:ext>
            </a:extLst>
          </p:cNvPr>
          <p:cNvSpPr/>
          <p:nvPr userDrawn="1"/>
        </p:nvSpPr>
        <p:spPr>
          <a:xfrm>
            <a:off x="0" y="0"/>
            <a:ext cx="9144000" cy="1080000"/>
          </a:xfrm>
          <a:prstGeom prst="rect">
            <a:avLst/>
          </a:prstGeom>
          <a:solidFill>
            <a:srgbClr val="00A2B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393290" y="1"/>
            <a:ext cx="8504904" cy="1080000"/>
          </a:xfrm>
        </p:spPr>
        <p:txBody>
          <a:bodyPr>
            <a:normAutofit/>
          </a:bodyPr>
          <a:lstStyle>
            <a:lvl1pPr>
              <a:defRPr sz="3600">
                <a:solidFill>
                  <a:schemeClr val="bg1"/>
                </a:solidFill>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393290" y="1248698"/>
            <a:ext cx="8504904" cy="5338916"/>
          </a:xfrm>
        </p:spPr>
        <p:txBody>
          <a:bodyPr/>
          <a:lstStyle>
            <a:lvl1pPr>
              <a:lnSpc>
                <a:spcPct val="150000"/>
              </a:lnSpc>
              <a:buClr>
                <a:srgbClr val="00A2B8"/>
              </a:buClr>
              <a:defRPr/>
            </a:lvl1pPr>
            <a:lvl2pPr>
              <a:lnSpc>
                <a:spcPct val="150000"/>
              </a:lnSpc>
              <a:buClr>
                <a:srgbClr val="00A2B8"/>
              </a:buClr>
              <a:defRPr/>
            </a:lvl2pPr>
            <a:lvl3pPr>
              <a:lnSpc>
                <a:spcPct val="150000"/>
              </a:lnSpc>
              <a:buClr>
                <a:srgbClr val="00A2B8"/>
              </a:buClr>
              <a:defRPr/>
            </a:lvl3pPr>
            <a:lvl4pPr>
              <a:lnSpc>
                <a:spcPct val="150000"/>
              </a:lnSpc>
              <a:buClr>
                <a:srgbClr val="00A2B8"/>
              </a:buClr>
              <a:defRPr/>
            </a:lvl4pPr>
            <a:lvl5pPr>
              <a:lnSpc>
                <a:spcPct val="150000"/>
              </a:lnSpc>
              <a:buClr>
                <a:srgbClr val="00A2B8"/>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Box 4">
            <a:extLst>
              <a:ext uri="{FF2B5EF4-FFF2-40B4-BE49-F238E27FC236}">
                <a16:creationId xmlns:a16="http://schemas.microsoft.com/office/drawing/2014/main" id="{64091E1C-13AA-4430-B0AB-E932AEDB367A}"/>
              </a:ext>
            </a:extLst>
          </p:cNvPr>
          <p:cNvSpPr txBox="1"/>
          <p:nvPr userDrawn="1"/>
        </p:nvSpPr>
        <p:spPr>
          <a:xfrm>
            <a:off x="33867" y="6666614"/>
            <a:ext cx="9110132" cy="200055"/>
          </a:xfrm>
          <a:prstGeom prst="rect">
            <a:avLst/>
          </a:prstGeom>
          <a:noFill/>
        </p:spPr>
        <p:txBody>
          <a:bodyPr wrap="square" rtlCol="0">
            <a:spAutoFit/>
          </a:bodyPr>
          <a:lstStyle/>
          <a:p>
            <a:pPr algn="ctr"/>
            <a:r>
              <a:rPr lang="en-IN" sz="700" dirty="0"/>
              <a:t>Content Source: </a:t>
            </a:r>
            <a:r>
              <a:rPr lang="en-US" sz="700" b="1" dirty="0">
                <a:solidFill>
                  <a:srgbClr val="5F6368"/>
                </a:solidFill>
                <a:latin typeface="arial" panose="020B0604020202020204" pitchFamily="34" charset="0"/>
              </a:rPr>
              <a:t>Discrete Mathematics</a:t>
            </a:r>
            <a:r>
              <a:rPr lang="en-US" sz="700" dirty="0">
                <a:solidFill>
                  <a:srgbClr val="4D5156"/>
                </a:solidFill>
                <a:latin typeface="arial" panose="020B0604020202020204" pitchFamily="34" charset="0"/>
              </a:rPr>
              <a:t> and </a:t>
            </a:r>
            <a:r>
              <a:rPr lang="en-US" sz="700" b="1" dirty="0">
                <a:solidFill>
                  <a:srgbClr val="5F6368"/>
                </a:solidFill>
                <a:latin typeface="arial" panose="020B0604020202020204" pitchFamily="34" charset="0"/>
              </a:rPr>
              <a:t>Its Applications</a:t>
            </a:r>
            <a:r>
              <a:rPr lang="en-US" sz="700" dirty="0">
                <a:solidFill>
                  <a:srgbClr val="4D5156"/>
                </a:solidFill>
                <a:latin typeface="arial" panose="020B0604020202020204" pitchFamily="34" charset="0"/>
              </a:rPr>
              <a:t>. Seventh Edition. </a:t>
            </a:r>
            <a:r>
              <a:rPr lang="en-US" sz="700" b="1" dirty="0">
                <a:solidFill>
                  <a:srgbClr val="5F6368"/>
                </a:solidFill>
                <a:latin typeface="arial" panose="020B0604020202020204" pitchFamily="34" charset="0"/>
              </a:rPr>
              <a:t>Kenneth H. Rosen. Monmouth University. Prepared by Jerrold W. Grossman, Oakland University.</a:t>
            </a:r>
            <a:r>
              <a:rPr lang="en-US" sz="700" dirty="0">
                <a:solidFill>
                  <a:srgbClr val="4D5156"/>
                </a:solidFill>
                <a:latin typeface="arial" panose="020B0604020202020204" pitchFamily="34" charset="0"/>
              </a:rPr>
              <a:t> (and formerly AT&amp;T Laboratories)</a:t>
            </a:r>
            <a:endParaRPr lang="en-IN" sz="700" dirty="0"/>
          </a:p>
        </p:txBody>
      </p:sp>
    </p:spTree>
    <p:extLst>
      <p:ext uri="{BB962C8B-B14F-4D97-AF65-F5344CB8AC3E}">
        <p14:creationId xmlns:p14="http://schemas.microsoft.com/office/powerpoint/2010/main" val="225208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white)">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2A9DAD-2222-4EAA-A984-73EA804BABC9}"/>
              </a:ext>
            </a:extLst>
          </p:cNvPr>
          <p:cNvSpPr/>
          <p:nvPr userDrawn="1"/>
        </p:nvSpPr>
        <p:spPr>
          <a:xfrm>
            <a:off x="0" y="0"/>
            <a:ext cx="9144000" cy="1080000"/>
          </a:xfrm>
          <a:prstGeom prst="rect">
            <a:avLst/>
          </a:prstGeom>
          <a:solidFill>
            <a:srgbClr val="00A2B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393290" y="1"/>
            <a:ext cx="8504904" cy="1080000"/>
          </a:xfrm>
        </p:spPr>
        <p:txBody>
          <a:bodyPr>
            <a:normAutofit/>
          </a:bodyPr>
          <a:lstStyle>
            <a:lvl1pPr>
              <a:defRPr sz="3600">
                <a:solidFill>
                  <a:schemeClr val="bg1"/>
                </a:solidFill>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393290" y="1248697"/>
            <a:ext cx="8504904" cy="5338916"/>
          </a:xfrm>
        </p:spPr>
        <p:txBody>
          <a:bodyPr/>
          <a:lstStyle>
            <a:lvl1pPr>
              <a:lnSpc>
                <a:spcPct val="150000"/>
              </a:lnSpc>
              <a:buClr>
                <a:srgbClr val="00A2B8"/>
              </a:buClr>
              <a:defRPr/>
            </a:lvl1pPr>
            <a:lvl2pPr>
              <a:lnSpc>
                <a:spcPct val="150000"/>
              </a:lnSpc>
              <a:buClr>
                <a:srgbClr val="00A2B8"/>
              </a:buClr>
              <a:defRPr/>
            </a:lvl2pPr>
            <a:lvl3pPr>
              <a:lnSpc>
                <a:spcPct val="150000"/>
              </a:lnSpc>
              <a:buClr>
                <a:srgbClr val="00A2B8"/>
              </a:buClr>
              <a:defRPr/>
            </a:lvl3pPr>
            <a:lvl4pPr>
              <a:lnSpc>
                <a:spcPct val="150000"/>
              </a:lnSpc>
              <a:buClr>
                <a:srgbClr val="00A2B8"/>
              </a:buClr>
              <a:defRPr/>
            </a:lvl4pPr>
            <a:lvl5pPr>
              <a:lnSpc>
                <a:spcPct val="150000"/>
              </a:lnSpc>
              <a:buClr>
                <a:srgbClr val="00A2B8"/>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Box 4">
            <a:extLst>
              <a:ext uri="{FF2B5EF4-FFF2-40B4-BE49-F238E27FC236}">
                <a16:creationId xmlns:a16="http://schemas.microsoft.com/office/drawing/2014/main" id="{9D40D22A-9F0E-4024-A4A6-FCCE6CB60E86}"/>
              </a:ext>
            </a:extLst>
          </p:cNvPr>
          <p:cNvSpPr txBox="1"/>
          <p:nvPr userDrawn="1"/>
        </p:nvSpPr>
        <p:spPr>
          <a:xfrm>
            <a:off x="33867" y="6666614"/>
            <a:ext cx="9110132" cy="200055"/>
          </a:xfrm>
          <a:prstGeom prst="rect">
            <a:avLst/>
          </a:prstGeom>
          <a:noFill/>
        </p:spPr>
        <p:txBody>
          <a:bodyPr wrap="square" rtlCol="0">
            <a:spAutoFit/>
          </a:bodyPr>
          <a:lstStyle/>
          <a:p>
            <a:pPr algn="ctr"/>
            <a:r>
              <a:rPr lang="en-IN" sz="700" dirty="0"/>
              <a:t>Content Source: </a:t>
            </a:r>
            <a:r>
              <a:rPr lang="en-US" sz="700" b="1" dirty="0">
                <a:solidFill>
                  <a:srgbClr val="5F6368"/>
                </a:solidFill>
                <a:latin typeface="arial" panose="020B0604020202020204" pitchFamily="34" charset="0"/>
              </a:rPr>
              <a:t>Discrete Mathematics</a:t>
            </a:r>
            <a:r>
              <a:rPr lang="en-US" sz="700" dirty="0">
                <a:solidFill>
                  <a:srgbClr val="4D5156"/>
                </a:solidFill>
                <a:latin typeface="arial" panose="020B0604020202020204" pitchFamily="34" charset="0"/>
              </a:rPr>
              <a:t> and </a:t>
            </a:r>
            <a:r>
              <a:rPr lang="en-US" sz="700" b="1" dirty="0">
                <a:solidFill>
                  <a:srgbClr val="5F6368"/>
                </a:solidFill>
                <a:latin typeface="arial" panose="020B0604020202020204" pitchFamily="34" charset="0"/>
              </a:rPr>
              <a:t>Its Applications</a:t>
            </a:r>
            <a:r>
              <a:rPr lang="en-US" sz="700" dirty="0">
                <a:solidFill>
                  <a:srgbClr val="4D5156"/>
                </a:solidFill>
                <a:latin typeface="arial" panose="020B0604020202020204" pitchFamily="34" charset="0"/>
              </a:rPr>
              <a:t>. Seventh Edition. </a:t>
            </a:r>
            <a:r>
              <a:rPr lang="en-US" sz="700" b="1" dirty="0">
                <a:solidFill>
                  <a:srgbClr val="5F6368"/>
                </a:solidFill>
                <a:latin typeface="arial" panose="020B0604020202020204" pitchFamily="34" charset="0"/>
              </a:rPr>
              <a:t>Kenneth H. Rosen. Monmouth University. Prepared by Jerrold W. Grossman, Oakland University.</a:t>
            </a:r>
            <a:r>
              <a:rPr lang="en-US" sz="700" dirty="0">
                <a:solidFill>
                  <a:srgbClr val="4D5156"/>
                </a:solidFill>
                <a:latin typeface="arial" panose="020B0604020202020204" pitchFamily="34" charset="0"/>
              </a:rPr>
              <a:t> (and formerly AT&amp;T Laboratories)</a:t>
            </a:r>
            <a:endParaRPr lang="en-IN" sz="700" dirty="0"/>
          </a:p>
        </p:txBody>
      </p:sp>
    </p:spTree>
    <p:extLst>
      <p:ext uri="{BB962C8B-B14F-4D97-AF65-F5344CB8AC3E}">
        <p14:creationId xmlns:p14="http://schemas.microsoft.com/office/powerpoint/2010/main" val="4026521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376987-CD5A-4B0D-82F1-8DDC56102557}" type="datetimeFigureOut">
              <a:rPr lang="en-IN" smtClean="0"/>
              <a:t>20-12-2020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744310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C376987-CD5A-4B0D-82F1-8DDC56102557}" type="datetimeFigureOut">
              <a:rPr lang="en-IN" smtClean="0"/>
              <a:t>20-12-2020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144989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376987-CD5A-4B0D-82F1-8DDC56102557}" type="datetimeFigureOut">
              <a:rPr lang="en-IN" smtClean="0"/>
              <a:t>20-12-2020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1820985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C376987-CD5A-4B0D-82F1-8DDC56102557}" type="datetimeFigureOut">
              <a:rPr lang="en-IN" smtClean="0"/>
              <a:t>20-12-2020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859219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376987-CD5A-4B0D-82F1-8DDC56102557}" type="datetimeFigureOut">
              <a:rPr lang="en-IN" smtClean="0"/>
              <a:t>20-12-2020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763743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Thank You">
    <p:bg>
      <p:bgPr>
        <a:gradFill flip="none" rotWithShape="1">
          <a:gsLst>
            <a:gs pos="0">
              <a:schemeClr val="accent3">
                <a:lumMod val="0"/>
                <a:lumOff val="100000"/>
              </a:schemeClr>
            </a:gs>
            <a:gs pos="100000">
              <a:schemeClr val="bg1">
                <a:lumMod val="85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D41FF5F-8082-499F-9B42-B9953F7F83AE}"/>
              </a:ext>
            </a:extLst>
          </p:cNvPr>
          <p:cNvSpPr txBox="1"/>
          <p:nvPr userDrawn="1"/>
        </p:nvSpPr>
        <p:spPr>
          <a:xfrm>
            <a:off x="1620711" y="2869012"/>
            <a:ext cx="5902578" cy="923330"/>
          </a:xfrm>
          <a:prstGeom prst="rect">
            <a:avLst/>
          </a:prstGeom>
          <a:noFill/>
        </p:spPr>
        <p:txBody>
          <a:bodyPr wrap="none" rtlCol="0">
            <a:spAutoFit/>
          </a:bodyPr>
          <a:lstStyle/>
          <a:p>
            <a:r>
              <a:rPr lang="en-IN" sz="5400" dirty="0">
                <a:solidFill>
                  <a:srgbClr val="00A2B8"/>
                </a:solidFill>
                <a:effectLst/>
              </a:rPr>
              <a:t>That’s all for now…</a:t>
            </a:r>
          </a:p>
        </p:txBody>
      </p:sp>
      <p:cxnSp>
        <p:nvCxnSpPr>
          <p:cNvPr id="7" name="Straight Connector 6">
            <a:extLst>
              <a:ext uri="{FF2B5EF4-FFF2-40B4-BE49-F238E27FC236}">
                <a16:creationId xmlns:a16="http://schemas.microsoft.com/office/drawing/2014/main" id="{8376A0C7-0E66-445E-9D28-DB789C63D202}"/>
              </a:ext>
            </a:extLst>
          </p:cNvPr>
          <p:cNvCxnSpPr>
            <a:cxnSpLocks/>
          </p:cNvCxnSpPr>
          <p:nvPr userDrawn="1"/>
        </p:nvCxnSpPr>
        <p:spPr>
          <a:xfrm>
            <a:off x="1720645" y="3654690"/>
            <a:ext cx="5624052" cy="0"/>
          </a:xfrm>
          <a:prstGeom prst="line">
            <a:avLst/>
          </a:prstGeom>
          <a:ln w="31750">
            <a:solidFill>
              <a:srgbClr val="CA628C"/>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60184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376987-CD5A-4B0D-82F1-8DDC56102557}" type="datetimeFigureOut">
              <a:rPr lang="en-IN" smtClean="0"/>
              <a:t>20-12-2020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39188165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376987-CD5A-4B0D-82F1-8DDC56102557}" type="datetimeFigureOut">
              <a:rPr lang="en-IN" smtClean="0"/>
              <a:t>20-12-2020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0285952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376987-CD5A-4B0D-82F1-8DDC56102557}" type="datetimeFigureOut">
              <a:rPr lang="en-IN" smtClean="0"/>
              <a:t>20-12-2020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7767470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376987-CD5A-4B0D-82F1-8DDC56102557}" type="datetimeFigureOut">
              <a:rPr lang="en-IN" smtClean="0"/>
              <a:t>20-12-2020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5910F8-8D71-4F22-9C7F-1F77DF6804AD}" type="slidenum">
              <a:rPr lang="en-IN" smtClean="0"/>
              <a:t>‹#›</a:t>
            </a:fld>
            <a:endParaRPr lang="en-IN"/>
          </a:p>
        </p:txBody>
      </p:sp>
    </p:spTree>
    <p:extLst>
      <p:ext uri="{BB962C8B-B14F-4D97-AF65-F5344CB8AC3E}">
        <p14:creationId xmlns:p14="http://schemas.microsoft.com/office/powerpoint/2010/main" val="2144704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376987-CD5A-4B0D-82F1-8DDC56102557}" type="datetimeFigureOut">
              <a:rPr lang="en-IN" smtClean="0"/>
              <a:t>20-12-2020</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5910F8-8D71-4F22-9C7F-1F77DF6804AD}" type="slidenum">
              <a:rPr lang="en-IN" smtClean="0"/>
              <a:t>‹#›</a:t>
            </a:fld>
            <a:endParaRPr lang="en-IN"/>
          </a:p>
        </p:txBody>
      </p:sp>
    </p:spTree>
    <p:extLst>
      <p:ext uri="{BB962C8B-B14F-4D97-AF65-F5344CB8AC3E}">
        <p14:creationId xmlns:p14="http://schemas.microsoft.com/office/powerpoint/2010/main" val="9462137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4" r:id="rId3"/>
    <p:sldLayoutId id="2147483672" r:id="rId4"/>
    <p:sldLayoutId id="2147483663" r:id="rId5"/>
    <p:sldLayoutId id="2147483664" r:id="rId6"/>
    <p:sldLayoutId id="2147483665" r:id="rId7"/>
    <p:sldLayoutId id="2147483666" r:id="rId8"/>
    <p:sldLayoutId id="2147483667" r:id="rId9"/>
    <p:sldLayoutId id="2147483673" r:id="rId10"/>
    <p:sldLayoutId id="2147483668" r:id="rId11"/>
    <p:sldLayoutId id="2147483669" r:id="rId12"/>
    <p:sldLayoutId id="2147483670" r:id="rId13"/>
    <p:sldLayoutId id="2147483671" r:id="rId14"/>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1.bin"/><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3B31A-26EC-4882-9FB2-E3790927BE30}"/>
              </a:ext>
            </a:extLst>
          </p:cNvPr>
          <p:cNvSpPr>
            <a:spLocks noGrp="1"/>
          </p:cNvSpPr>
          <p:nvPr>
            <p:ph type="ctrTitle"/>
          </p:nvPr>
        </p:nvSpPr>
        <p:spPr/>
        <p:txBody>
          <a:bodyPr>
            <a:normAutofit fontScale="90000"/>
          </a:bodyPr>
          <a:lstStyle/>
          <a:p>
            <a:r>
              <a:rPr lang="en-IN" dirty="0"/>
              <a:t>EMTH403</a:t>
            </a:r>
          </a:p>
        </p:txBody>
      </p:sp>
      <p:sp>
        <p:nvSpPr>
          <p:cNvPr id="3" name="Subtitle 2">
            <a:extLst>
              <a:ext uri="{FF2B5EF4-FFF2-40B4-BE49-F238E27FC236}">
                <a16:creationId xmlns:a16="http://schemas.microsoft.com/office/drawing/2014/main" id="{5F2FDE88-E809-4B0D-A49D-23F92304EDFA}"/>
              </a:ext>
            </a:extLst>
          </p:cNvPr>
          <p:cNvSpPr>
            <a:spLocks noGrp="1"/>
          </p:cNvSpPr>
          <p:nvPr>
            <p:ph type="subTitle" idx="1"/>
          </p:nvPr>
        </p:nvSpPr>
        <p:spPr/>
        <p:txBody>
          <a:bodyPr>
            <a:normAutofit lnSpcReduction="10000"/>
          </a:bodyPr>
          <a:lstStyle/>
          <a:p>
            <a:r>
              <a:rPr lang="en-US" dirty="0"/>
              <a:t>Mathematical Foundation for Computer Science </a:t>
            </a:r>
            <a:endParaRPr lang="en-IN" dirty="0"/>
          </a:p>
        </p:txBody>
      </p:sp>
    </p:spTree>
    <p:extLst>
      <p:ext uri="{BB962C8B-B14F-4D97-AF65-F5344CB8AC3E}">
        <p14:creationId xmlns:p14="http://schemas.microsoft.com/office/powerpoint/2010/main" val="3848506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825CB-91D8-4BF1-84BC-BE57F14646E6}"/>
              </a:ext>
            </a:extLst>
          </p:cNvPr>
          <p:cNvSpPr>
            <a:spLocks noGrp="1"/>
          </p:cNvSpPr>
          <p:nvPr>
            <p:ph type="title"/>
          </p:nvPr>
        </p:nvSpPr>
        <p:spPr/>
        <p:txBody>
          <a:bodyPr/>
          <a:lstStyle/>
          <a:p>
            <a:r>
              <a:rPr lang="en-IN" dirty="0"/>
              <a:t>Lecture Outcomes</a:t>
            </a:r>
          </a:p>
        </p:txBody>
      </p:sp>
      <p:sp>
        <p:nvSpPr>
          <p:cNvPr id="3" name="Content Placeholder 2">
            <a:extLst>
              <a:ext uri="{FF2B5EF4-FFF2-40B4-BE49-F238E27FC236}">
                <a16:creationId xmlns:a16="http://schemas.microsoft.com/office/drawing/2014/main" id="{C2262320-2170-46A9-8662-1BF0938F293E}"/>
              </a:ext>
            </a:extLst>
          </p:cNvPr>
          <p:cNvSpPr>
            <a:spLocks noGrp="1"/>
          </p:cNvSpPr>
          <p:nvPr>
            <p:ph idx="1"/>
          </p:nvPr>
        </p:nvSpPr>
        <p:spPr>
          <a:xfrm>
            <a:off x="963560" y="2883188"/>
            <a:ext cx="7499305" cy="3500283"/>
          </a:xfrm>
        </p:spPr>
        <p:txBody>
          <a:bodyPr>
            <a:normAutofit/>
          </a:bodyPr>
          <a:lstStyle/>
          <a:p>
            <a:r>
              <a:rPr lang="en-US" sz="2600" dirty="0"/>
              <a:t>understand how to </a:t>
            </a:r>
            <a:r>
              <a:rPr lang="en-IN" sz="2600" dirty="0"/>
              <a:t>represent relations using digraphs</a:t>
            </a:r>
          </a:p>
          <a:p>
            <a:r>
              <a:rPr lang="en-US" sz="2600" dirty="0"/>
              <a:t>understand what is a Hasse Diagraph/Diagram</a:t>
            </a:r>
          </a:p>
        </p:txBody>
      </p:sp>
    </p:spTree>
    <p:extLst>
      <p:ext uri="{BB962C8B-B14F-4D97-AF65-F5344CB8AC3E}">
        <p14:creationId xmlns:p14="http://schemas.microsoft.com/office/powerpoint/2010/main" val="1998472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64B3D-6A34-49A4-8F5E-BE325CA325A7}"/>
              </a:ext>
            </a:extLst>
          </p:cNvPr>
          <p:cNvSpPr>
            <a:spLocks noGrp="1"/>
          </p:cNvSpPr>
          <p:nvPr>
            <p:ph type="title"/>
          </p:nvPr>
        </p:nvSpPr>
        <p:spPr/>
        <p:txBody>
          <a:bodyPr/>
          <a:lstStyle/>
          <a:p>
            <a:r>
              <a:rPr lang="en-IN" dirty="0"/>
              <a:t>Representing Relations Using Digraphs</a:t>
            </a:r>
          </a:p>
        </p:txBody>
      </p:sp>
      <p:sp>
        <p:nvSpPr>
          <p:cNvPr id="3" name="Content Placeholder 2">
            <a:extLst>
              <a:ext uri="{FF2B5EF4-FFF2-40B4-BE49-F238E27FC236}">
                <a16:creationId xmlns:a16="http://schemas.microsoft.com/office/drawing/2014/main" id="{84176FC8-2BBA-4DF6-8753-CAB1729FD60E}"/>
              </a:ext>
            </a:extLst>
          </p:cNvPr>
          <p:cNvSpPr>
            <a:spLocks noGrp="1"/>
          </p:cNvSpPr>
          <p:nvPr>
            <p:ph idx="1"/>
          </p:nvPr>
        </p:nvSpPr>
        <p:spPr/>
        <p:txBody>
          <a:bodyPr/>
          <a:lstStyle/>
          <a:p>
            <a:pPr marL="0" indent="0">
              <a:buNone/>
            </a:pPr>
            <a:r>
              <a:rPr lang="en-US" dirty="0"/>
              <a:t>A directed graph, or digraph, consists of a set V of vertices (or nodes) together with a set E of ordered pairs of elements of V called edges (or arcs). </a:t>
            </a:r>
          </a:p>
          <a:p>
            <a:pPr marL="0" indent="0">
              <a:buNone/>
            </a:pPr>
            <a:br>
              <a:rPr lang="en-US" dirty="0"/>
            </a:br>
            <a:endParaRPr lang="en-IN" dirty="0"/>
          </a:p>
        </p:txBody>
      </p:sp>
    </p:spTree>
    <p:extLst>
      <p:ext uri="{BB962C8B-B14F-4D97-AF65-F5344CB8AC3E}">
        <p14:creationId xmlns:p14="http://schemas.microsoft.com/office/powerpoint/2010/main" val="2892039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64B3D-6A34-49A4-8F5E-BE325CA325A7}"/>
              </a:ext>
            </a:extLst>
          </p:cNvPr>
          <p:cNvSpPr>
            <a:spLocks noGrp="1"/>
          </p:cNvSpPr>
          <p:nvPr>
            <p:ph type="title"/>
          </p:nvPr>
        </p:nvSpPr>
        <p:spPr/>
        <p:txBody>
          <a:bodyPr/>
          <a:lstStyle/>
          <a:p>
            <a:r>
              <a:rPr lang="en-IN" dirty="0"/>
              <a:t>Representing Relations Using Digraphs</a:t>
            </a:r>
          </a:p>
        </p:txBody>
      </p:sp>
      <p:sp>
        <p:nvSpPr>
          <p:cNvPr id="3" name="Content Placeholder 2">
            <a:extLst>
              <a:ext uri="{FF2B5EF4-FFF2-40B4-BE49-F238E27FC236}">
                <a16:creationId xmlns:a16="http://schemas.microsoft.com/office/drawing/2014/main" id="{84176FC8-2BBA-4DF6-8753-CAB1729FD60E}"/>
              </a:ext>
            </a:extLst>
          </p:cNvPr>
          <p:cNvSpPr>
            <a:spLocks noGrp="1"/>
          </p:cNvSpPr>
          <p:nvPr>
            <p:ph idx="1"/>
          </p:nvPr>
        </p:nvSpPr>
        <p:spPr/>
        <p:txBody>
          <a:bodyPr/>
          <a:lstStyle/>
          <a:p>
            <a:pPr marL="0" indent="0">
              <a:buNone/>
            </a:pPr>
            <a:r>
              <a:rPr lang="en-US" dirty="0"/>
              <a:t>The vertex a is called the initial vertex of the edge (a, b), and the vertex b is called the terminal vertex of this edge.</a:t>
            </a:r>
            <a:endParaRPr lang="en-IN" dirty="0"/>
          </a:p>
        </p:txBody>
      </p:sp>
      <p:pic>
        <p:nvPicPr>
          <p:cNvPr id="5" name="Picture 4">
            <a:extLst>
              <a:ext uri="{FF2B5EF4-FFF2-40B4-BE49-F238E27FC236}">
                <a16:creationId xmlns:a16="http://schemas.microsoft.com/office/drawing/2014/main" id="{EF01EE5F-83B7-4FDF-B45E-1C24E937659A}"/>
              </a:ext>
            </a:extLst>
          </p:cNvPr>
          <p:cNvPicPr>
            <a:picLocks noChangeAspect="1"/>
          </p:cNvPicPr>
          <p:nvPr/>
        </p:nvPicPr>
        <p:blipFill>
          <a:blip r:embed="rId2"/>
          <a:stretch>
            <a:fillRect/>
          </a:stretch>
        </p:blipFill>
        <p:spPr>
          <a:xfrm>
            <a:off x="3385202" y="3301789"/>
            <a:ext cx="2521080" cy="2838596"/>
          </a:xfrm>
          <a:prstGeom prst="rect">
            <a:avLst/>
          </a:prstGeom>
          <a:ln>
            <a:solidFill>
              <a:srgbClr val="002060"/>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8591569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64B3D-6A34-49A4-8F5E-BE325CA325A7}"/>
              </a:ext>
            </a:extLst>
          </p:cNvPr>
          <p:cNvSpPr>
            <a:spLocks noGrp="1"/>
          </p:cNvSpPr>
          <p:nvPr>
            <p:ph type="title"/>
          </p:nvPr>
        </p:nvSpPr>
        <p:spPr/>
        <p:txBody>
          <a:bodyPr/>
          <a:lstStyle/>
          <a:p>
            <a:r>
              <a:rPr lang="en-IN" dirty="0"/>
              <a:t>Representing Relations Using Digraphs</a:t>
            </a:r>
          </a:p>
        </p:txBody>
      </p:sp>
      <p:sp>
        <p:nvSpPr>
          <p:cNvPr id="3" name="Content Placeholder 2">
            <a:extLst>
              <a:ext uri="{FF2B5EF4-FFF2-40B4-BE49-F238E27FC236}">
                <a16:creationId xmlns:a16="http://schemas.microsoft.com/office/drawing/2014/main" id="{84176FC8-2BBA-4DF6-8753-CAB1729FD60E}"/>
              </a:ext>
            </a:extLst>
          </p:cNvPr>
          <p:cNvSpPr>
            <a:spLocks noGrp="1"/>
          </p:cNvSpPr>
          <p:nvPr>
            <p:ph idx="1"/>
          </p:nvPr>
        </p:nvSpPr>
        <p:spPr>
          <a:xfrm>
            <a:off x="319548" y="1080001"/>
            <a:ext cx="8504904" cy="2268943"/>
          </a:xfrm>
        </p:spPr>
        <p:txBody>
          <a:bodyPr/>
          <a:lstStyle/>
          <a:p>
            <a:pPr marL="0" indent="0">
              <a:buNone/>
            </a:pPr>
            <a:r>
              <a:rPr lang="en-US" dirty="0"/>
              <a:t>An edge of the form (a, a) is represented using an arc from the vertex a back to itself. </a:t>
            </a:r>
          </a:p>
          <a:p>
            <a:pPr marL="0" indent="0">
              <a:buNone/>
            </a:pPr>
            <a:r>
              <a:rPr lang="en-US" dirty="0"/>
              <a:t>Such an edge is called a loop.</a:t>
            </a:r>
          </a:p>
        </p:txBody>
      </p:sp>
      <p:pic>
        <p:nvPicPr>
          <p:cNvPr id="5" name="Picture 4">
            <a:extLst>
              <a:ext uri="{FF2B5EF4-FFF2-40B4-BE49-F238E27FC236}">
                <a16:creationId xmlns:a16="http://schemas.microsoft.com/office/drawing/2014/main" id="{D32BDF19-E0CC-499E-AEB6-0F2420D839CA}"/>
              </a:ext>
            </a:extLst>
          </p:cNvPr>
          <p:cNvPicPr>
            <a:picLocks noChangeAspect="1"/>
          </p:cNvPicPr>
          <p:nvPr/>
        </p:nvPicPr>
        <p:blipFill>
          <a:blip r:embed="rId2"/>
          <a:stretch>
            <a:fillRect/>
          </a:stretch>
        </p:blipFill>
        <p:spPr>
          <a:xfrm>
            <a:off x="3385202" y="3301789"/>
            <a:ext cx="2521080" cy="2838596"/>
          </a:xfrm>
          <a:prstGeom prst="rect">
            <a:avLst/>
          </a:prstGeom>
          <a:ln>
            <a:solidFill>
              <a:srgbClr val="002060"/>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36540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64B3D-6A34-49A4-8F5E-BE325CA325A7}"/>
              </a:ext>
            </a:extLst>
          </p:cNvPr>
          <p:cNvSpPr>
            <a:spLocks noGrp="1"/>
          </p:cNvSpPr>
          <p:nvPr>
            <p:ph type="title"/>
          </p:nvPr>
        </p:nvSpPr>
        <p:spPr/>
        <p:txBody>
          <a:bodyPr/>
          <a:lstStyle/>
          <a:p>
            <a:r>
              <a:rPr lang="en-IN" dirty="0"/>
              <a:t>Representing Relations Using Digraphs</a:t>
            </a:r>
          </a:p>
        </p:txBody>
      </p:sp>
      <p:sp>
        <p:nvSpPr>
          <p:cNvPr id="3" name="Content Placeholder 2">
            <a:extLst>
              <a:ext uri="{FF2B5EF4-FFF2-40B4-BE49-F238E27FC236}">
                <a16:creationId xmlns:a16="http://schemas.microsoft.com/office/drawing/2014/main" id="{84176FC8-2BBA-4DF6-8753-CAB1729FD60E}"/>
              </a:ext>
            </a:extLst>
          </p:cNvPr>
          <p:cNvSpPr>
            <a:spLocks noGrp="1"/>
          </p:cNvSpPr>
          <p:nvPr>
            <p:ph idx="1"/>
          </p:nvPr>
        </p:nvSpPr>
        <p:spPr>
          <a:xfrm>
            <a:off x="393290" y="1248698"/>
            <a:ext cx="8504904" cy="2180302"/>
          </a:xfrm>
        </p:spPr>
        <p:txBody>
          <a:bodyPr/>
          <a:lstStyle/>
          <a:p>
            <a:pPr marL="0" indent="0">
              <a:buNone/>
            </a:pPr>
            <a:r>
              <a:rPr lang="en-US" dirty="0"/>
              <a:t>The directed graph with vertices a, b, c, and d, and edges (a, b), (a, d), (b, b), (b, d), (c, a), (c, b), and (d, b) is displayed in Figure below.</a:t>
            </a:r>
            <a:endParaRPr lang="en-IN" dirty="0"/>
          </a:p>
        </p:txBody>
      </p:sp>
      <p:pic>
        <p:nvPicPr>
          <p:cNvPr id="5" name="Picture 4">
            <a:extLst>
              <a:ext uri="{FF2B5EF4-FFF2-40B4-BE49-F238E27FC236}">
                <a16:creationId xmlns:a16="http://schemas.microsoft.com/office/drawing/2014/main" id="{B8DE6201-5F94-498E-A9BA-CA95E316EDCD}"/>
              </a:ext>
            </a:extLst>
          </p:cNvPr>
          <p:cNvPicPr>
            <a:picLocks noChangeAspect="1"/>
          </p:cNvPicPr>
          <p:nvPr/>
        </p:nvPicPr>
        <p:blipFill>
          <a:blip r:embed="rId2"/>
          <a:stretch>
            <a:fillRect/>
          </a:stretch>
        </p:blipFill>
        <p:spPr>
          <a:xfrm>
            <a:off x="3385202" y="3301789"/>
            <a:ext cx="2521080" cy="2838596"/>
          </a:xfrm>
          <a:prstGeom prst="rect">
            <a:avLst/>
          </a:prstGeom>
          <a:ln>
            <a:solidFill>
              <a:srgbClr val="002060"/>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816949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64B3D-6A34-49A4-8F5E-BE325CA325A7}"/>
              </a:ext>
            </a:extLst>
          </p:cNvPr>
          <p:cNvSpPr>
            <a:spLocks noGrp="1"/>
          </p:cNvSpPr>
          <p:nvPr>
            <p:ph type="title"/>
          </p:nvPr>
        </p:nvSpPr>
        <p:spPr/>
        <p:txBody>
          <a:bodyPr/>
          <a:lstStyle/>
          <a:p>
            <a:r>
              <a:rPr lang="en-IN" dirty="0"/>
              <a:t>Representing Relations Using Digraphs</a:t>
            </a:r>
          </a:p>
        </p:txBody>
      </p:sp>
      <p:sp>
        <p:nvSpPr>
          <p:cNvPr id="3" name="Content Placeholder 2">
            <a:extLst>
              <a:ext uri="{FF2B5EF4-FFF2-40B4-BE49-F238E27FC236}">
                <a16:creationId xmlns:a16="http://schemas.microsoft.com/office/drawing/2014/main" id="{84176FC8-2BBA-4DF6-8753-CAB1729FD60E}"/>
              </a:ext>
            </a:extLst>
          </p:cNvPr>
          <p:cNvSpPr>
            <a:spLocks noGrp="1"/>
          </p:cNvSpPr>
          <p:nvPr>
            <p:ph idx="1"/>
          </p:nvPr>
        </p:nvSpPr>
        <p:spPr>
          <a:xfrm>
            <a:off x="393290" y="1248698"/>
            <a:ext cx="8504904" cy="2180302"/>
          </a:xfrm>
        </p:spPr>
        <p:txBody>
          <a:bodyPr/>
          <a:lstStyle/>
          <a:p>
            <a:pPr marL="0" indent="0">
              <a:buNone/>
            </a:pPr>
            <a:r>
              <a:rPr lang="en-US" dirty="0"/>
              <a:t>The directed graph of the relation</a:t>
            </a:r>
          </a:p>
          <a:p>
            <a:pPr marL="0" indent="0">
              <a:buNone/>
            </a:pPr>
            <a:r>
              <a:rPr lang="en-US" dirty="0"/>
              <a:t>R = {(1, 1), (1, 3), (2, 1), (2, 3), (2, 4), (3, 1), (3, 2), (4, 1)}</a:t>
            </a:r>
          </a:p>
          <a:p>
            <a:pPr marL="0" indent="0">
              <a:buNone/>
            </a:pPr>
            <a:r>
              <a:rPr lang="en-US" dirty="0"/>
              <a:t>on the set {1, 2, 3, 4} is shown in Figure below.</a:t>
            </a:r>
            <a:endParaRPr lang="en-IN" dirty="0"/>
          </a:p>
        </p:txBody>
      </p:sp>
      <p:pic>
        <p:nvPicPr>
          <p:cNvPr id="7" name="Picture 6">
            <a:extLst>
              <a:ext uri="{FF2B5EF4-FFF2-40B4-BE49-F238E27FC236}">
                <a16:creationId xmlns:a16="http://schemas.microsoft.com/office/drawing/2014/main" id="{1433F3DB-4457-45AA-8BC0-B0196DDCA649}"/>
              </a:ext>
            </a:extLst>
          </p:cNvPr>
          <p:cNvPicPr>
            <a:picLocks noChangeAspect="1"/>
          </p:cNvPicPr>
          <p:nvPr/>
        </p:nvPicPr>
        <p:blipFill>
          <a:blip r:embed="rId2"/>
          <a:stretch>
            <a:fillRect/>
          </a:stretch>
        </p:blipFill>
        <p:spPr>
          <a:xfrm>
            <a:off x="3211935" y="3617638"/>
            <a:ext cx="2362321" cy="2584583"/>
          </a:xfrm>
          <a:prstGeom prst="rect">
            <a:avLst/>
          </a:prstGeom>
          <a:ln>
            <a:solidFill>
              <a:srgbClr val="002060"/>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493916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64B3D-6A34-49A4-8F5E-BE325CA325A7}"/>
              </a:ext>
            </a:extLst>
          </p:cNvPr>
          <p:cNvSpPr>
            <a:spLocks noGrp="1"/>
          </p:cNvSpPr>
          <p:nvPr>
            <p:ph type="title"/>
          </p:nvPr>
        </p:nvSpPr>
        <p:spPr/>
        <p:txBody>
          <a:bodyPr/>
          <a:lstStyle/>
          <a:p>
            <a:r>
              <a:rPr lang="en-IN" dirty="0"/>
              <a:t>Representing Relations Using Digraphs</a:t>
            </a:r>
          </a:p>
        </p:txBody>
      </p:sp>
      <p:sp>
        <p:nvSpPr>
          <p:cNvPr id="3" name="Content Placeholder 2">
            <a:extLst>
              <a:ext uri="{FF2B5EF4-FFF2-40B4-BE49-F238E27FC236}">
                <a16:creationId xmlns:a16="http://schemas.microsoft.com/office/drawing/2014/main" id="{84176FC8-2BBA-4DF6-8753-CAB1729FD60E}"/>
              </a:ext>
            </a:extLst>
          </p:cNvPr>
          <p:cNvSpPr>
            <a:spLocks noGrp="1"/>
          </p:cNvSpPr>
          <p:nvPr>
            <p:ph idx="1"/>
          </p:nvPr>
        </p:nvSpPr>
        <p:spPr>
          <a:xfrm>
            <a:off x="393290" y="1047905"/>
            <a:ext cx="8200204" cy="5469343"/>
          </a:xfrm>
        </p:spPr>
        <p:txBody>
          <a:bodyPr>
            <a:normAutofit lnSpcReduction="10000"/>
          </a:bodyPr>
          <a:lstStyle/>
          <a:p>
            <a:pPr marL="0" indent="0">
              <a:buNone/>
            </a:pPr>
            <a:r>
              <a:rPr lang="en-US" dirty="0"/>
              <a:t>Determine whether the relations for the directed graphs shown in Figure below is </a:t>
            </a:r>
            <a:r>
              <a:rPr lang="en-US" dirty="0">
                <a:solidFill>
                  <a:srgbClr val="FF0000"/>
                </a:solidFill>
              </a:rPr>
              <a:t>reflexive.</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Because there are loops at every vertex of the directed graph of R, it </a:t>
            </a:r>
            <a:r>
              <a:rPr lang="en-US" dirty="0">
                <a:solidFill>
                  <a:srgbClr val="FF0000"/>
                </a:solidFill>
              </a:rPr>
              <a:t>is reflexive. </a:t>
            </a:r>
            <a:endParaRPr lang="en-IN" dirty="0">
              <a:solidFill>
                <a:srgbClr val="FF0000"/>
              </a:solidFill>
            </a:endParaRPr>
          </a:p>
        </p:txBody>
      </p:sp>
      <p:pic>
        <p:nvPicPr>
          <p:cNvPr id="5" name="Picture 4">
            <a:extLst>
              <a:ext uri="{FF2B5EF4-FFF2-40B4-BE49-F238E27FC236}">
                <a16:creationId xmlns:a16="http://schemas.microsoft.com/office/drawing/2014/main" id="{6C4314E0-2994-4578-8AE0-77DFDBDB81C9}"/>
              </a:ext>
            </a:extLst>
          </p:cNvPr>
          <p:cNvPicPr>
            <a:picLocks noChangeAspect="1"/>
          </p:cNvPicPr>
          <p:nvPr/>
        </p:nvPicPr>
        <p:blipFill>
          <a:blip r:embed="rId2"/>
          <a:stretch>
            <a:fillRect/>
          </a:stretch>
        </p:blipFill>
        <p:spPr>
          <a:xfrm>
            <a:off x="3150210" y="2486258"/>
            <a:ext cx="2843580" cy="2592638"/>
          </a:xfrm>
          <a:prstGeom prst="rect">
            <a:avLst/>
          </a:prstGeom>
          <a:ln>
            <a:solidFill>
              <a:srgbClr val="002060"/>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379595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64B3D-6A34-49A4-8F5E-BE325CA325A7}"/>
              </a:ext>
            </a:extLst>
          </p:cNvPr>
          <p:cNvSpPr>
            <a:spLocks noGrp="1"/>
          </p:cNvSpPr>
          <p:nvPr>
            <p:ph type="title"/>
          </p:nvPr>
        </p:nvSpPr>
        <p:spPr/>
        <p:txBody>
          <a:bodyPr/>
          <a:lstStyle/>
          <a:p>
            <a:r>
              <a:rPr lang="en-IN" dirty="0"/>
              <a:t>Representing Relations Using Digraphs</a:t>
            </a:r>
          </a:p>
        </p:txBody>
      </p:sp>
      <p:sp>
        <p:nvSpPr>
          <p:cNvPr id="3" name="Content Placeholder 2">
            <a:extLst>
              <a:ext uri="{FF2B5EF4-FFF2-40B4-BE49-F238E27FC236}">
                <a16:creationId xmlns:a16="http://schemas.microsoft.com/office/drawing/2014/main" id="{84176FC8-2BBA-4DF6-8753-CAB1729FD60E}"/>
              </a:ext>
            </a:extLst>
          </p:cNvPr>
          <p:cNvSpPr>
            <a:spLocks noGrp="1"/>
          </p:cNvSpPr>
          <p:nvPr>
            <p:ph idx="1"/>
          </p:nvPr>
        </p:nvSpPr>
        <p:spPr>
          <a:xfrm>
            <a:off x="458605" y="1080001"/>
            <a:ext cx="8504904" cy="5338916"/>
          </a:xfrm>
        </p:spPr>
        <p:txBody>
          <a:bodyPr>
            <a:noAutofit/>
          </a:bodyPr>
          <a:lstStyle/>
          <a:p>
            <a:pPr marL="0" indent="0">
              <a:buNone/>
            </a:pPr>
            <a:r>
              <a:rPr lang="en-US" sz="2700" dirty="0"/>
              <a:t>Determine whether the relations for the directed graphs shown in Figure below is </a:t>
            </a:r>
            <a:r>
              <a:rPr lang="en-US" sz="2700" dirty="0">
                <a:solidFill>
                  <a:srgbClr val="FF0000"/>
                </a:solidFill>
              </a:rPr>
              <a:t>symmetric.</a:t>
            </a:r>
          </a:p>
          <a:p>
            <a:pPr marL="0" indent="0">
              <a:buNone/>
            </a:pPr>
            <a:endParaRPr lang="en-US" sz="2700" dirty="0"/>
          </a:p>
          <a:p>
            <a:pPr marL="0" indent="0">
              <a:buNone/>
            </a:pPr>
            <a:endParaRPr lang="en-US" sz="2700" dirty="0"/>
          </a:p>
          <a:p>
            <a:pPr marL="0" indent="0">
              <a:buNone/>
            </a:pPr>
            <a:endParaRPr lang="en-US" sz="2700" dirty="0"/>
          </a:p>
          <a:p>
            <a:pPr marL="0" indent="0">
              <a:buNone/>
            </a:pPr>
            <a:r>
              <a:rPr lang="en-US" sz="2700" dirty="0"/>
              <a:t>R is </a:t>
            </a:r>
            <a:r>
              <a:rPr lang="en-US" sz="2700" dirty="0">
                <a:solidFill>
                  <a:srgbClr val="FF0000"/>
                </a:solidFill>
              </a:rPr>
              <a:t>not symmetric </a:t>
            </a:r>
            <a:r>
              <a:rPr lang="en-US" sz="2700" dirty="0"/>
              <a:t>because there is an edge from a to b but not one from b to a.</a:t>
            </a:r>
            <a:endParaRPr lang="en-IN" sz="2700" dirty="0"/>
          </a:p>
        </p:txBody>
      </p:sp>
      <p:pic>
        <p:nvPicPr>
          <p:cNvPr id="6" name="Picture 5">
            <a:extLst>
              <a:ext uri="{FF2B5EF4-FFF2-40B4-BE49-F238E27FC236}">
                <a16:creationId xmlns:a16="http://schemas.microsoft.com/office/drawing/2014/main" id="{6D830F95-AD33-4B8B-A790-86D31CC9E991}"/>
              </a:ext>
            </a:extLst>
          </p:cNvPr>
          <p:cNvPicPr>
            <a:picLocks noChangeAspect="1"/>
          </p:cNvPicPr>
          <p:nvPr/>
        </p:nvPicPr>
        <p:blipFill>
          <a:blip r:embed="rId2"/>
          <a:stretch>
            <a:fillRect/>
          </a:stretch>
        </p:blipFill>
        <p:spPr>
          <a:xfrm>
            <a:off x="3223952" y="2451590"/>
            <a:ext cx="2843580" cy="2315818"/>
          </a:xfrm>
          <a:prstGeom prst="rect">
            <a:avLst/>
          </a:prstGeom>
          <a:ln>
            <a:solidFill>
              <a:srgbClr val="002060"/>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774856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64B3D-6A34-49A4-8F5E-BE325CA325A7}"/>
              </a:ext>
            </a:extLst>
          </p:cNvPr>
          <p:cNvSpPr>
            <a:spLocks noGrp="1"/>
          </p:cNvSpPr>
          <p:nvPr>
            <p:ph type="title"/>
          </p:nvPr>
        </p:nvSpPr>
        <p:spPr/>
        <p:txBody>
          <a:bodyPr/>
          <a:lstStyle/>
          <a:p>
            <a:r>
              <a:rPr lang="en-IN" dirty="0"/>
              <a:t>Representing Relations Using Digraphs</a:t>
            </a:r>
          </a:p>
        </p:txBody>
      </p:sp>
      <p:sp>
        <p:nvSpPr>
          <p:cNvPr id="3" name="Content Placeholder 2">
            <a:extLst>
              <a:ext uri="{FF2B5EF4-FFF2-40B4-BE49-F238E27FC236}">
                <a16:creationId xmlns:a16="http://schemas.microsoft.com/office/drawing/2014/main" id="{84176FC8-2BBA-4DF6-8753-CAB1729FD60E}"/>
              </a:ext>
            </a:extLst>
          </p:cNvPr>
          <p:cNvSpPr>
            <a:spLocks noGrp="1"/>
          </p:cNvSpPr>
          <p:nvPr>
            <p:ph idx="1"/>
          </p:nvPr>
        </p:nvSpPr>
        <p:spPr>
          <a:xfrm>
            <a:off x="393290" y="1112382"/>
            <a:ext cx="8504904" cy="5338916"/>
          </a:xfrm>
        </p:spPr>
        <p:txBody>
          <a:bodyPr>
            <a:normAutofit/>
          </a:bodyPr>
          <a:lstStyle/>
          <a:p>
            <a:pPr marL="0" indent="0">
              <a:buNone/>
            </a:pPr>
            <a:r>
              <a:rPr lang="en-US" dirty="0"/>
              <a:t>Determine whether the relations for the directed graphs shown in Figure below are antisymmetric.</a:t>
            </a:r>
          </a:p>
          <a:p>
            <a:pPr marL="0" indent="0">
              <a:buNone/>
            </a:pPr>
            <a:endParaRPr lang="en-US" dirty="0"/>
          </a:p>
          <a:p>
            <a:pPr marL="0" indent="0">
              <a:buNone/>
            </a:pPr>
            <a:endParaRPr lang="en-US" dirty="0"/>
          </a:p>
          <a:p>
            <a:pPr marL="0" indent="0">
              <a:buNone/>
            </a:pPr>
            <a:endParaRPr lang="en-US" dirty="0"/>
          </a:p>
          <a:p>
            <a:pPr marL="0" indent="0">
              <a:buNone/>
            </a:pPr>
            <a:r>
              <a:rPr lang="en-US" dirty="0"/>
              <a:t>R is </a:t>
            </a:r>
            <a:r>
              <a:rPr lang="en-US" dirty="0">
                <a:solidFill>
                  <a:srgbClr val="FF0000"/>
                </a:solidFill>
              </a:rPr>
              <a:t>not antisymmetric </a:t>
            </a:r>
            <a:r>
              <a:rPr lang="en-US" dirty="0"/>
              <a:t>because there are edges in both directions connecting b and c. </a:t>
            </a:r>
            <a:endParaRPr lang="en-IN" dirty="0"/>
          </a:p>
        </p:txBody>
      </p:sp>
      <p:pic>
        <p:nvPicPr>
          <p:cNvPr id="6" name="Picture 5">
            <a:extLst>
              <a:ext uri="{FF2B5EF4-FFF2-40B4-BE49-F238E27FC236}">
                <a16:creationId xmlns:a16="http://schemas.microsoft.com/office/drawing/2014/main" id="{5FA7309A-7718-44FC-BFF9-E8219EA54E0D}"/>
              </a:ext>
            </a:extLst>
          </p:cNvPr>
          <p:cNvPicPr>
            <a:picLocks noChangeAspect="1"/>
          </p:cNvPicPr>
          <p:nvPr/>
        </p:nvPicPr>
        <p:blipFill>
          <a:blip r:embed="rId2"/>
          <a:stretch>
            <a:fillRect/>
          </a:stretch>
        </p:blipFill>
        <p:spPr>
          <a:xfrm>
            <a:off x="3150210" y="2623931"/>
            <a:ext cx="2843580" cy="2315818"/>
          </a:xfrm>
          <a:prstGeom prst="rect">
            <a:avLst/>
          </a:prstGeom>
          <a:ln>
            <a:solidFill>
              <a:srgbClr val="002060"/>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248036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64B3D-6A34-49A4-8F5E-BE325CA325A7}"/>
              </a:ext>
            </a:extLst>
          </p:cNvPr>
          <p:cNvSpPr>
            <a:spLocks noGrp="1"/>
          </p:cNvSpPr>
          <p:nvPr>
            <p:ph type="title"/>
          </p:nvPr>
        </p:nvSpPr>
        <p:spPr/>
        <p:txBody>
          <a:bodyPr/>
          <a:lstStyle/>
          <a:p>
            <a:r>
              <a:rPr lang="en-IN" dirty="0"/>
              <a:t>Representing Relations Using Digraphs</a:t>
            </a:r>
          </a:p>
        </p:txBody>
      </p:sp>
      <p:sp>
        <p:nvSpPr>
          <p:cNvPr id="3" name="Content Placeholder 2">
            <a:extLst>
              <a:ext uri="{FF2B5EF4-FFF2-40B4-BE49-F238E27FC236}">
                <a16:creationId xmlns:a16="http://schemas.microsoft.com/office/drawing/2014/main" id="{84176FC8-2BBA-4DF6-8753-CAB1729FD60E}"/>
              </a:ext>
            </a:extLst>
          </p:cNvPr>
          <p:cNvSpPr>
            <a:spLocks noGrp="1"/>
          </p:cNvSpPr>
          <p:nvPr>
            <p:ph idx="1"/>
          </p:nvPr>
        </p:nvSpPr>
        <p:spPr/>
        <p:txBody>
          <a:bodyPr>
            <a:normAutofit fontScale="92500" lnSpcReduction="10000"/>
          </a:bodyPr>
          <a:lstStyle/>
          <a:p>
            <a:pPr marL="0" indent="0">
              <a:buNone/>
            </a:pPr>
            <a:r>
              <a:rPr lang="en-US" dirty="0"/>
              <a:t>Determine whether the relations for the directed graphs shown in Figure below is transitive.</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R is </a:t>
            </a:r>
            <a:r>
              <a:rPr lang="en-US" dirty="0">
                <a:solidFill>
                  <a:srgbClr val="FF0000"/>
                </a:solidFill>
              </a:rPr>
              <a:t>not transitive </a:t>
            </a:r>
            <a:r>
              <a:rPr lang="en-US" dirty="0"/>
              <a:t>because there is an edge from a to b and an edge from b to c, but no edge from a to c.</a:t>
            </a:r>
          </a:p>
          <a:p>
            <a:pPr marL="0" indent="0">
              <a:buNone/>
            </a:pPr>
            <a:endParaRPr lang="en-IN" dirty="0"/>
          </a:p>
        </p:txBody>
      </p:sp>
      <p:pic>
        <p:nvPicPr>
          <p:cNvPr id="6" name="Picture 5">
            <a:extLst>
              <a:ext uri="{FF2B5EF4-FFF2-40B4-BE49-F238E27FC236}">
                <a16:creationId xmlns:a16="http://schemas.microsoft.com/office/drawing/2014/main" id="{9B162C12-9DBD-4102-87DF-0B83FB3546F9}"/>
              </a:ext>
            </a:extLst>
          </p:cNvPr>
          <p:cNvPicPr>
            <a:picLocks noChangeAspect="1"/>
          </p:cNvPicPr>
          <p:nvPr/>
        </p:nvPicPr>
        <p:blipFill>
          <a:blip r:embed="rId2"/>
          <a:stretch>
            <a:fillRect/>
          </a:stretch>
        </p:blipFill>
        <p:spPr>
          <a:xfrm>
            <a:off x="3150210" y="2623931"/>
            <a:ext cx="2843580" cy="2315818"/>
          </a:xfrm>
          <a:prstGeom prst="rect">
            <a:avLst/>
          </a:prstGeom>
          <a:ln>
            <a:solidFill>
              <a:srgbClr val="002060"/>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426422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64B3D-6A34-49A4-8F5E-BE325CA325A7}"/>
              </a:ext>
            </a:extLst>
          </p:cNvPr>
          <p:cNvSpPr>
            <a:spLocks noGrp="1"/>
          </p:cNvSpPr>
          <p:nvPr>
            <p:ph type="title"/>
          </p:nvPr>
        </p:nvSpPr>
        <p:spPr/>
        <p:txBody>
          <a:bodyPr/>
          <a:lstStyle/>
          <a:p>
            <a:r>
              <a:rPr lang="en-IN" dirty="0"/>
              <a:t>Hasse Diagrams</a:t>
            </a:r>
          </a:p>
        </p:txBody>
      </p:sp>
      <p:sp>
        <p:nvSpPr>
          <p:cNvPr id="3" name="Content Placeholder 2">
            <a:extLst>
              <a:ext uri="{FF2B5EF4-FFF2-40B4-BE49-F238E27FC236}">
                <a16:creationId xmlns:a16="http://schemas.microsoft.com/office/drawing/2014/main" id="{84176FC8-2BBA-4DF6-8753-CAB1729FD60E}"/>
              </a:ext>
            </a:extLst>
          </p:cNvPr>
          <p:cNvSpPr>
            <a:spLocks noGrp="1"/>
          </p:cNvSpPr>
          <p:nvPr>
            <p:ph idx="1"/>
          </p:nvPr>
        </p:nvSpPr>
        <p:spPr>
          <a:xfrm>
            <a:off x="393290" y="1248698"/>
            <a:ext cx="8504904" cy="2180302"/>
          </a:xfrm>
        </p:spPr>
        <p:txBody>
          <a:bodyPr/>
          <a:lstStyle/>
          <a:p>
            <a:pPr marL="0" indent="0">
              <a:buNone/>
            </a:pPr>
            <a:r>
              <a:rPr lang="en-US" dirty="0"/>
              <a:t>Many edges in the directed graph for a finite poset do not have to be shown because they must be present.</a:t>
            </a:r>
            <a:endParaRPr lang="en-IN" dirty="0"/>
          </a:p>
        </p:txBody>
      </p:sp>
    </p:spTree>
    <p:extLst>
      <p:ext uri="{BB962C8B-B14F-4D97-AF65-F5344CB8AC3E}">
        <p14:creationId xmlns:p14="http://schemas.microsoft.com/office/powerpoint/2010/main" val="2354410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64B3D-6A34-49A4-8F5E-BE325CA325A7}"/>
              </a:ext>
            </a:extLst>
          </p:cNvPr>
          <p:cNvSpPr>
            <a:spLocks noGrp="1"/>
          </p:cNvSpPr>
          <p:nvPr>
            <p:ph type="title"/>
          </p:nvPr>
        </p:nvSpPr>
        <p:spPr/>
        <p:txBody>
          <a:bodyPr/>
          <a:lstStyle/>
          <a:p>
            <a:r>
              <a:rPr lang="en-IN" dirty="0"/>
              <a:t>Hasse Diagrams</a:t>
            </a:r>
          </a:p>
        </p:txBody>
      </p:sp>
      <p:sp>
        <p:nvSpPr>
          <p:cNvPr id="3" name="Content Placeholder 2">
            <a:extLst>
              <a:ext uri="{FF2B5EF4-FFF2-40B4-BE49-F238E27FC236}">
                <a16:creationId xmlns:a16="http://schemas.microsoft.com/office/drawing/2014/main" id="{84176FC8-2BBA-4DF6-8753-CAB1729FD60E}"/>
              </a:ext>
            </a:extLst>
          </p:cNvPr>
          <p:cNvSpPr>
            <a:spLocks noGrp="1"/>
          </p:cNvSpPr>
          <p:nvPr>
            <p:ph idx="1"/>
          </p:nvPr>
        </p:nvSpPr>
        <p:spPr>
          <a:xfrm>
            <a:off x="393290" y="1192714"/>
            <a:ext cx="8504904" cy="5338916"/>
          </a:xfrm>
        </p:spPr>
        <p:txBody>
          <a:bodyPr/>
          <a:lstStyle/>
          <a:p>
            <a:pPr marL="0" indent="0">
              <a:buNone/>
            </a:pPr>
            <a:r>
              <a:rPr lang="en-US" dirty="0"/>
              <a:t>Step 1:- Start with a directed graph of the relation in which all arrows point upward,  </a:t>
            </a:r>
          </a:p>
          <a:p>
            <a:pPr marL="0" indent="0">
              <a:buNone/>
            </a:pPr>
            <a:r>
              <a:rPr lang="en-US" dirty="0"/>
              <a:t>Step 2:- Eliminate: the loops at all the vertices,</a:t>
            </a:r>
          </a:p>
          <a:p>
            <a:pPr marL="0" indent="0">
              <a:buNone/>
            </a:pPr>
            <a:r>
              <a:rPr lang="en-US" dirty="0"/>
              <a:t>Step 3:- Eliminate: all arrows whose existence is implied by the transitive property,</a:t>
            </a:r>
          </a:p>
          <a:p>
            <a:pPr marL="0" indent="0">
              <a:buNone/>
            </a:pPr>
            <a:r>
              <a:rPr lang="en-US" dirty="0"/>
              <a:t>Step 4:- Eliminate: the direction indicators on the arrows.</a:t>
            </a:r>
            <a:endParaRPr lang="en-IN" dirty="0"/>
          </a:p>
        </p:txBody>
      </p:sp>
    </p:spTree>
    <p:extLst>
      <p:ext uri="{BB962C8B-B14F-4D97-AF65-F5344CB8AC3E}">
        <p14:creationId xmlns:p14="http://schemas.microsoft.com/office/powerpoint/2010/main" val="23006090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64B3D-6A34-49A4-8F5E-BE325CA325A7}"/>
              </a:ext>
            </a:extLst>
          </p:cNvPr>
          <p:cNvSpPr>
            <a:spLocks noGrp="1"/>
          </p:cNvSpPr>
          <p:nvPr>
            <p:ph type="title"/>
          </p:nvPr>
        </p:nvSpPr>
        <p:spPr/>
        <p:txBody>
          <a:bodyPr>
            <a:normAutofit/>
          </a:bodyPr>
          <a:lstStyle/>
          <a:p>
            <a:r>
              <a:rPr lang="en-IN" dirty="0"/>
              <a:t>Hasse Diagrams – Example 1</a:t>
            </a:r>
          </a:p>
        </p:txBody>
      </p:sp>
      <p:sp>
        <p:nvSpPr>
          <p:cNvPr id="4" name="Text Box 4">
            <a:extLst>
              <a:ext uri="{FF2B5EF4-FFF2-40B4-BE49-F238E27FC236}">
                <a16:creationId xmlns:a16="http://schemas.microsoft.com/office/drawing/2014/main" id="{5F2943A6-C754-4059-8656-52C5DAF98485}"/>
              </a:ext>
            </a:extLst>
          </p:cNvPr>
          <p:cNvSpPr txBox="1">
            <a:spLocks noChangeArrowheads="1"/>
          </p:cNvSpPr>
          <p:nvPr/>
        </p:nvSpPr>
        <p:spPr bwMode="auto">
          <a:xfrm>
            <a:off x="292475" y="1194869"/>
            <a:ext cx="8504904"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spcBef>
                <a:spcPct val="50000"/>
              </a:spcBef>
            </a:pPr>
            <a:r>
              <a:rPr lang="en-US" altLang="en-US" sz="2800" dirty="0"/>
              <a:t>Let A = {1, 2, 3, 15, 30} and consider the “divides” relation on </a:t>
            </a:r>
            <a:r>
              <a:rPr lang="en-US" altLang="en-US" sz="2800" i="1" dirty="0">
                <a:latin typeface="Times New Roman" panose="02020603050405020304" pitchFamily="18" charset="0"/>
              </a:rPr>
              <a:t>A</a:t>
            </a:r>
            <a:r>
              <a:rPr lang="en-US" altLang="en-US" sz="2800" dirty="0"/>
              <a:t>:</a:t>
            </a:r>
          </a:p>
          <a:p>
            <a:pPr algn="just">
              <a:spcBef>
                <a:spcPct val="50000"/>
              </a:spcBef>
            </a:pPr>
            <a:r>
              <a:rPr lang="en-US" altLang="en-US" sz="2800" dirty="0"/>
              <a:t>	For all </a:t>
            </a:r>
          </a:p>
        </p:txBody>
      </p:sp>
      <p:graphicFrame>
        <p:nvGraphicFramePr>
          <p:cNvPr id="5" name="Object 5">
            <a:extLst>
              <a:ext uri="{FF2B5EF4-FFF2-40B4-BE49-F238E27FC236}">
                <a16:creationId xmlns:a16="http://schemas.microsoft.com/office/drawing/2014/main" id="{CE27A9E1-9458-47A2-B778-B54AF6BADC14}"/>
              </a:ext>
            </a:extLst>
          </p:cNvPr>
          <p:cNvGraphicFramePr>
            <a:graphicFrameLocks noGrp="1" noChangeAspect="1"/>
          </p:cNvGraphicFramePr>
          <p:nvPr>
            <p:ph idx="1"/>
            <p:extLst>
              <p:ext uri="{D42A27DB-BD31-4B8C-83A1-F6EECF244321}">
                <p14:modId xmlns:p14="http://schemas.microsoft.com/office/powerpoint/2010/main" val="1229892938"/>
              </p:ext>
            </p:extLst>
          </p:nvPr>
        </p:nvGraphicFramePr>
        <p:xfrm>
          <a:off x="1937719" y="2285143"/>
          <a:ext cx="6634843" cy="511175"/>
        </p:xfrm>
        <a:graphic>
          <a:graphicData uri="http://schemas.openxmlformats.org/presentationml/2006/ole">
            <mc:AlternateContent xmlns:mc="http://schemas.openxmlformats.org/markup-compatibility/2006">
              <mc:Choice xmlns:v="urn:schemas-microsoft-com:vml" Requires="v">
                <p:oleObj name="Equation" r:id="rId2" imgW="2641320" imgH="203040" progId="Equation.DSMT4">
                  <p:embed/>
                </p:oleObj>
              </mc:Choice>
              <mc:Fallback>
                <p:oleObj name="Equation" r:id="rId2" imgW="2641320" imgH="203040" progId="Equation.DSMT4">
                  <p:embed/>
                  <p:pic>
                    <p:nvPicPr>
                      <p:cNvPr id="7" name="Object 5">
                        <a:extLst>
                          <a:ext uri="{FF2B5EF4-FFF2-40B4-BE49-F238E27FC236}">
                            <a16:creationId xmlns:a16="http://schemas.microsoft.com/office/drawing/2014/main" id="{84D9B500-A040-4145-8F1E-733B71C071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7719" y="2285143"/>
                        <a:ext cx="6634843" cy="511175"/>
                      </a:xfrm>
                      <a:prstGeom prst="rect">
                        <a:avLst/>
                      </a:prstGeom>
                      <a:noFill/>
                      <a:ln>
                        <a:noFill/>
                      </a:ln>
                      <a:effectLst/>
                    </p:spPr>
                  </p:pic>
                </p:oleObj>
              </mc:Fallback>
            </mc:AlternateContent>
          </a:graphicData>
        </a:graphic>
      </p:graphicFrame>
      <p:grpSp>
        <p:nvGrpSpPr>
          <p:cNvPr id="42" name="Group 41">
            <a:extLst>
              <a:ext uri="{FF2B5EF4-FFF2-40B4-BE49-F238E27FC236}">
                <a16:creationId xmlns:a16="http://schemas.microsoft.com/office/drawing/2014/main" id="{1FE429BB-DF7B-4C5A-8440-7BE743DB8289}"/>
              </a:ext>
            </a:extLst>
          </p:cNvPr>
          <p:cNvGrpSpPr/>
          <p:nvPr/>
        </p:nvGrpSpPr>
        <p:grpSpPr>
          <a:xfrm>
            <a:off x="2633578" y="3151123"/>
            <a:ext cx="3822698" cy="2380954"/>
            <a:chOff x="1937719" y="3757613"/>
            <a:chExt cx="3822698" cy="2380954"/>
          </a:xfrm>
        </p:grpSpPr>
        <p:sp>
          <p:nvSpPr>
            <p:cNvPr id="11" name="Text Box 12">
              <a:extLst>
                <a:ext uri="{FF2B5EF4-FFF2-40B4-BE49-F238E27FC236}">
                  <a16:creationId xmlns:a16="http://schemas.microsoft.com/office/drawing/2014/main" id="{A5F7779F-809D-4C23-BCB1-285DDCD258FE}"/>
                </a:ext>
              </a:extLst>
            </p:cNvPr>
            <p:cNvSpPr txBox="1">
              <a:spLocks noChangeArrowheads="1"/>
            </p:cNvSpPr>
            <p:nvPr/>
          </p:nvSpPr>
          <p:spPr bwMode="auto">
            <a:xfrm>
              <a:off x="3117232" y="5676902"/>
              <a:ext cx="406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t>1</a:t>
              </a:r>
            </a:p>
          </p:txBody>
        </p:sp>
        <p:grpSp>
          <p:nvGrpSpPr>
            <p:cNvPr id="3" name="Group 2">
              <a:extLst>
                <a:ext uri="{FF2B5EF4-FFF2-40B4-BE49-F238E27FC236}">
                  <a16:creationId xmlns:a16="http://schemas.microsoft.com/office/drawing/2014/main" id="{82CE7C2E-EEC3-49D1-9B54-FF5E0FC627D9}"/>
                </a:ext>
              </a:extLst>
            </p:cNvPr>
            <p:cNvGrpSpPr/>
            <p:nvPr/>
          </p:nvGrpSpPr>
          <p:grpSpPr>
            <a:xfrm>
              <a:off x="1937719" y="3757613"/>
              <a:ext cx="3822698" cy="2108202"/>
              <a:chOff x="1937719" y="3757613"/>
              <a:chExt cx="3822698" cy="2108202"/>
            </a:xfrm>
          </p:grpSpPr>
          <p:sp>
            <p:nvSpPr>
              <p:cNvPr id="6" name="Oval 5">
                <a:extLst>
                  <a:ext uri="{FF2B5EF4-FFF2-40B4-BE49-F238E27FC236}">
                    <a16:creationId xmlns:a16="http://schemas.microsoft.com/office/drawing/2014/main" id="{247A10E0-568A-4718-A374-9909CCA9D339}"/>
                  </a:ext>
                </a:extLst>
              </p:cNvPr>
              <p:cNvSpPr>
                <a:spLocks noChangeArrowheads="1"/>
              </p:cNvSpPr>
              <p:nvPr/>
            </p:nvSpPr>
            <p:spPr bwMode="auto">
              <a:xfrm>
                <a:off x="2477469" y="4918075"/>
                <a:ext cx="88900" cy="889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7" name="Oval 6">
                <a:extLst>
                  <a:ext uri="{FF2B5EF4-FFF2-40B4-BE49-F238E27FC236}">
                    <a16:creationId xmlns:a16="http://schemas.microsoft.com/office/drawing/2014/main" id="{3DFDA0BA-FA7E-4421-840E-010DC9AEF4D7}"/>
                  </a:ext>
                </a:extLst>
              </p:cNvPr>
              <p:cNvSpPr>
                <a:spLocks noChangeArrowheads="1"/>
              </p:cNvSpPr>
              <p:nvPr/>
            </p:nvSpPr>
            <p:spPr bwMode="auto">
              <a:xfrm>
                <a:off x="3726832" y="4095750"/>
                <a:ext cx="88900" cy="889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8" name="Oval 7">
                <a:extLst>
                  <a:ext uri="{FF2B5EF4-FFF2-40B4-BE49-F238E27FC236}">
                    <a16:creationId xmlns:a16="http://schemas.microsoft.com/office/drawing/2014/main" id="{DF4BF291-43DB-4F19-8CE6-EDBA4D725303}"/>
                  </a:ext>
                </a:extLst>
              </p:cNvPr>
              <p:cNvSpPr>
                <a:spLocks noChangeArrowheads="1"/>
              </p:cNvSpPr>
              <p:nvPr/>
            </p:nvSpPr>
            <p:spPr bwMode="auto">
              <a:xfrm>
                <a:off x="4823794" y="4654550"/>
                <a:ext cx="88900" cy="889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9" name="Oval 8">
                <a:extLst>
                  <a:ext uri="{FF2B5EF4-FFF2-40B4-BE49-F238E27FC236}">
                    <a16:creationId xmlns:a16="http://schemas.microsoft.com/office/drawing/2014/main" id="{DADD4707-D1AF-4D34-A002-49A5CED1D2D6}"/>
                  </a:ext>
                </a:extLst>
              </p:cNvPr>
              <p:cNvSpPr>
                <a:spLocks noChangeArrowheads="1"/>
              </p:cNvSpPr>
              <p:nvPr/>
            </p:nvSpPr>
            <p:spPr bwMode="auto">
              <a:xfrm>
                <a:off x="3320432" y="5588000"/>
                <a:ext cx="88900" cy="889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10" name="Oval 9">
                <a:extLst>
                  <a:ext uri="{FF2B5EF4-FFF2-40B4-BE49-F238E27FC236}">
                    <a16:creationId xmlns:a16="http://schemas.microsoft.com/office/drawing/2014/main" id="{480BF6F5-6EF7-461C-BC08-332A3E676432}"/>
                  </a:ext>
                </a:extLst>
              </p:cNvPr>
              <p:cNvSpPr>
                <a:spLocks noChangeArrowheads="1"/>
              </p:cNvSpPr>
              <p:nvPr/>
            </p:nvSpPr>
            <p:spPr bwMode="auto">
              <a:xfrm>
                <a:off x="4387232" y="5286375"/>
                <a:ext cx="88900" cy="889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12" name="Text Box 13">
                <a:extLst>
                  <a:ext uri="{FF2B5EF4-FFF2-40B4-BE49-F238E27FC236}">
                    <a16:creationId xmlns:a16="http://schemas.microsoft.com/office/drawing/2014/main" id="{A4CA244E-B890-4477-8CFF-2E92C11AB864}"/>
                  </a:ext>
                </a:extLst>
              </p:cNvPr>
              <p:cNvSpPr txBox="1">
                <a:spLocks noChangeArrowheads="1"/>
              </p:cNvSpPr>
              <p:nvPr/>
            </p:nvSpPr>
            <p:spPr bwMode="auto">
              <a:xfrm>
                <a:off x="1937719" y="4733927"/>
                <a:ext cx="406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t>2</a:t>
                </a:r>
                <a:endParaRPr lang="en-US" altLang="en-US" sz="2400" dirty="0"/>
              </a:p>
            </p:txBody>
          </p:sp>
          <p:sp>
            <p:nvSpPr>
              <p:cNvPr id="13" name="Text Box 14">
                <a:extLst>
                  <a:ext uri="{FF2B5EF4-FFF2-40B4-BE49-F238E27FC236}">
                    <a16:creationId xmlns:a16="http://schemas.microsoft.com/office/drawing/2014/main" id="{D9A43407-8A1A-4B0E-9B61-5F8DA4B36388}"/>
                  </a:ext>
                </a:extLst>
              </p:cNvPr>
              <p:cNvSpPr txBox="1">
                <a:spLocks noChangeArrowheads="1"/>
              </p:cNvSpPr>
              <p:nvPr/>
            </p:nvSpPr>
            <p:spPr bwMode="auto">
              <a:xfrm>
                <a:off x="4553919" y="5197477"/>
                <a:ext cx="406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t>3</a:t>
                </a:r>
              </a:p>
            </p:txBody>
          </p:sp>
          <p:sp>
            <p:nvSpPr>
              <p:cNvPr id="14" name="Text Box 15">
                <a:extLst>
                  <a:ext uri="{FF2B5EF4-FFF2-40B4-BE49-F238E27FC236}">
                    <a16:creationId xmlns:a16="http://schemas.microsoft.com/office/drawing/2014/main" id="{49E2A34B-BEB3-4DBB-AEC8-855AA2914828}"/>
                  </a:ext>
                </a:extLst>
              </p:cNvPr>
              <p:cNvSpPr txBox="1">
                <a:spLocks noChangeArrowheads="1"/>
              </p:cNvSpPr>
              <p:nvPr/>
            </p:nvSpPr>
            <p:spPr bwMode="auto">
              <a:xfrm>
                <a:off x="5112719" y="4470402"/>
                <a:ext cx="64769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2400" dirty="0"/>
                  <a:t>15</a:t>
                </a:r>
              </a:p>
            </p:txBody>
          </p:sp>
          <p:sp>
            <p:nvSpPr>
              <p:cNvPr id="15" name="Text Box 16">
                <a:extLst>
                  <a:ext uri="{FF2B5EF4-FFF2-40B4-BE49-F238E27FC236}">
                    <a16:creationId xmlns:a16="http://schemas.microsoft.com/office/drawing/2014/main" id="{78C118E3-52D3-4A4E-A349-5BC16DC5F1C2}"/>
                  </a:ext>
                </a:extLst>
              </p:cNvPr>
              <p:cNvSpPr txBox="1">
                <a:spLocks noChangeArrowheads="1"/>
              </p:cNvSpPr>
              <p:nvPr/>
            </p:nvSpPr>
            <p:spPr bwMode="auto">
              <a:xfrm>
                <a:off x="3812557" y="3757613"/>
                <a:ext cx="5381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dirty="0"/>
                  <a:t>30</a:t>
                </a:r>
              </a:p>
            </p:txBody>
          </p:sp>
          <p:sp>
            <p:nvSpPr>
              <p:cNvPr id="16" name="Oval 15">
                <a:extLst>
                  <a:ext uri="{FF2B5EF4-FFF2-40B4-BE49-F238E27FC236}">
                    <a16:creationId xmlns:a16="http://schemas.microsoft.com/office/drawing/2014/main" id="{72A180B6-C4BF-4D7A-8CD7-B1F3565035AE}"/>
                  </a:ext>
                </a:extLst>
              </p:cNvPr>
              <p:cNvSpPr>
                <a:spLocks noChangeArrowheads="1"/>
              </p:cNvSpPr>
              <p:nvPr/>
            </p:nvSpPr>
            <p:spPr bwMode="auto">
              <a:xfrm>
                <a:off x="3542682" y="3878263"/>
                <a:ext cx="277812" cy="27781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17" name="Oval 16">
                <a:extLst>
                  <a:ext uri="{FF2B5EF4-FFF2-40B4-BE49-F238E27FC236}">
                    <a16:creationId xmlns:a16="http://schemas.microsoft.com/office/drawing/2014/main" id="{46F1E43F-B106-4450-A3F2-D088E8797397}"/>
                  </a:ext>
                </a:extLst>
              </p:cNvPr>
              <p:cNvSpPr>
                <a:spLocks noChangeArrowheads="1"/>
              </p:cNvSpPr>
              <p:nvPr/>
            </p:nvSpPr>
            <p:spPr bwMode="auto">
              <a:xfrm>
                <a:off x="3320432" y="5588002"/>
                <a:ext cx="277812" cy="27781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18" name="Oval 17">
                <a:extLst>
                  <a:ext uri="{FF2B5EF4-FFF2-40B4-BE49-F238E27FC236}">
                    <a16:creationId xmlns:a16="http://schemas.microsoft.com/office/drawing/2014/main" id="{C33D5719-5DEF-40B6-8FEB-399A790DA3B6}"/>
                  </a:ext>
                </a:extLst>
              </p:cNvPr>
              <p:cNvSpPr>
                <a:spLocks noChangeArrowheads="1"/>
              </p:cNvSpPr>
              <p:nvPr/>
            </p:nvSpPr>
            <p:spPr bwMode="auto">
              <a:xfrm>
                <a:off x="4763471" y="4405313"/>
                <a:ext cx="277813" cy="27781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19" name="Oval 18">
                <a:extLst>
                  <a:ext uri="{FF2B5EF4-FFF2-40B4-BE49-F238E27FC236}">
                    <a16:creationId xmlns:a16="http://schemas.microsoft.com/office/drawing/2014/main" id="{C8909A24-303E-4066-865C-7E06404E141D}"/>
                  </a:ext>
                </a:extLst>
              </p:cNvPr>
              <p:cNvSpPr>
                <a:spLocks noChangeArrowheads="1"/>
              </p:cNvSpPr>
              <p:nvPr/>
            </p:nvSpPr>
            <p:spPr bwMode="auto">
              <a:xfrm>
                <a:off x="4304682" y="5356227"/>
                <a:ext cx="277812" cy="27781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20" name="Oval 19">
                <a:extLst>
                  <a:ext uri="{FF2B5EF4-FFF2-40B4-BE49-F238E27FC236}">
                    <a16:creationId xmlns:a16="http://schemas.microsoft.com/office/drawing/2014/main" id="{B8FB4B06-EC43-4EFF-A511-DECD6BA2E984}"/>
                  </a:ext>
                </a:extLst>
              </p:cNvPr>
              <p:cNvSpPr>
                <a:spLocks noChangeArrowheads="1"/>
              </p:cNvSpPr>
              <p:nvPr/>
            </p:nvSpPr>
            <p:spPr bwMode="auto">
              <a:xfrm>
                <a:off x="2288557" y="4729163"/>
                <a:ext cx="277812" cy="27781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21" name="AutoShape 22">
                <a:extLst>
                  <a:ext uri="{FF2B5EF4-FFF2-40B4-BE49-F238E27FC236}">
                    <a16:creationId xmlns:a16="http://schemas.microsoft.com/office/drawing/2014/main" id="{0B709D4B-43AB-4A2B-8510-F95B57DF7FFE}"/>
                  </a:ext>
                </a:extLst>
              </p:cNvPr>
              <p:cNvSpPr>
                <a:spLocks noChangeArrowheads="1"/>
              </p:cNvSpPr>
              <p:nvPr/>
            </p:nvSpPr>
            <p:spPr bwMode="auto">
              <a:xfrm>
                <a:off x="3534744" y="5629275"/>
                <a:ext cx="88900" cy="158750"/>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22" name="AutoShape 23">
                <a:extLst>
                  <a:ext uri="{FF2B5EF4-FFF2-40B4-BE49-F238E27FC236}">
                    <a16:creationId xmlns:a16="http://schemas.microsoft.com/office/drawing/2014/main" id="{646DE701-AE5A-451D-81B4-BE0F7875D1C4}"/>
                  </a:ext>
                </a:extLst>
              </p:cNvPr>
              <p:cNvSpPr>
                <a:spLocks noChangeArrowheads="1"/>
              </p:cNvSpPr>
              <p:nvPr/>
            </p:nvSpPr>
            <p:spPr bwMode="auto">
              <a:xfrm>
                <a:off x="4518994" y="5422900"/>
                <a:ext cx="88900" cy="158750"/>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23" name="AutoShape 24">
                <a:extLst>
                  <a:ext uri="{FF2B5EF4-FFF2-40B4-BE49-F238E27FC236}">
                    <a16:creationId xmlns:a16="http://schemas.microsoft.com/office/drawing/2014/main" id="{0BF03719-D145-4C4A-8FC9-CDCCD1AB047F}"/>
                  </a:ext>
                </a:extLst>
              </p:cNvPr>
              <p:cNvSpPr>
                <a:spLocks noChangeArrowheads="1"/>
              </p:cNvSpPr>
              <p:nvPr/>
            </p:nvSpPr>
            <p:spPr bwMode="auto">
              <a:xfrm>
                <a:off x="4974607" y="4471988"/>
                <a:ext cx="88900" cy="158750"/>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400"/>
              </a:p>
            </p:txBody>
          </p:sp>
          <p:sp>
            <p:nvSpPr>
              <p:cNvPr id="24" name="AutoShape 25">
                <a:extLst>
                  <a:ext uri="{FF2B5EF4-FFF2-40B4-BE49-F238E27FC236}">
                    <a16:creationId xmlns:a16="http://schemas.microsoft.com/office/drawing/2014/main" id="{98E7D832-919E-4A2A-BAF6-83B52124716F}"/>
                  </a:ext>
                </a:extLst>
              </p:cNvPr>
              <p:cNvSpPr>
                <a:spLocks noChangeArrowheads="1"/>
              </p:cNvSpPr>
              <p:nvPr/>
            </p:nvSpPr>
            <p:spPr bwMode="auto">
              <a:xfrm rot="20403834">
                <a:off x="3753819" y="3878263"/>
                <a:ext cx="88900" cy="158750"/>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400"/>
              </a:p>
            </p:txBody>
          </p:sp>
          <p:sp>
            <p:nvSpPr>
              <p:cNvPr id="25" name="AutoShape 26">
                <a:extLst>
                  <a:ext uri="{FF2B5EF4-FFF2-40B4-BE49-F238E27FC236}">
                    <a16:creationId xmlns:a16="http://schemas.microsoft.com/office/drawing/2014/main" id="{0473A77A-F711-4A0E-897A-40CC95B40E37}"/>
                  </a:ext>
                </a:extLst>
              </p:cNvPr>
              <p:cNvSpPr>
                <a:spLocks noChangeArrowheads="1"/>
              </p:cNvSpPr>
              <p:nvPr/>
            </p:nvSpPr>
            <p:spPr bwMode="auto">
              <a:xfrm rot="15382196">
                <a:off x="2353644" y="4683125"/>
                <a:ext cx="88900" cy="158750"/>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endParaRPr lang="en-US" altLang="en-US" sz="2400"/>
              </a:p>
            </p:txBody>
          </p:sp>
          <p:sp>
            <p:nvSpPr>
              <p:cNvPr id="26" name="Line 27">
                <a:extLst>
                  <a:ext uri="{FF2B5EF4-FFF2-40B4-BE49-F238E27FC236}">
                    <a16:creationId xmlns:a16="http://schemas.microsoft.com/office/drawing/2014/main" id="{7B43841B-C268-415F-83EC-1DABCA206A40}"/>
                  </a:ext>
                </a:extLst>
              </p:cNvPr>
              <p:cNvSpPr>
                <a:spLocks noChangeShapeType="1"/>
              </p:cNvSpPr>
              <p:nvPr/>
            </p:nvSpPr>
            <p:spPr bwMode="auto">
              <a:xfrm flipH="1" flipV="1">
                <a:off x="2566371" y="5006977"/>
                <a:ext cx="754063" cy="6270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sz="2400"/>
              </a:p>
            </p:txBody>
          </p:sp>
          <p:sp>
            <p:nvSpPr>
              <p:cNvPr id="27" name="Line 28">
                <a:extLst>
                  <a:ext uri="{FF2B5EF4-FFF2-40B4-BE49-F238E27FC236}">
                    <a16:creationId xmlns:a16="http://schemas.microsoft.com/office/drawing/2014/main" id="{2DB5687B-4A96-4634-818B-F45E956F29AB}"/>
                  </a:ext>
                </a:extLst>
              </p:cNvPr>
              <p:cNvSpPr>
                <a:spLocks noChangeShapeType="1"/>
              </p:cNvSpPr>
              <p:nvPr/>
            </p:nvSpPr>
            <p:spPr bwMode="auto">
              <a:xfrm flipV="1">
                <a:off x="3320434" y="4124325"/>
                <a:ext cx="433387" cy="15049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sz="2400"/>
              </a:p>
            </p:txBody>
          </p:sp>
          <p:sp>
            <p:nvSpPr>
              <p:cNvPr id="28" name="Freeform 30">
                <a:extLst>
                  <a:ext uri="{FF2B5EF4-FFF2-40B4-BE49-F238E27FC236}">
                    <a16:creationId xmlns:a16="http://schemas.microsoft.com/office/drawing/2014/main" id="{6276B309-3DD8-49B0-BBD0-10269A5BA9EE}"/>
                  </a:ext>
                </a:extLst>
              </p:cNvPr>
              <p:cNvSpPr>
                <a:spLocks/>
              </p:cNvSpPr>
              <p:nvPr/>
            </p:nvSpPr>
            <p:spPr bwMode="auto">
              <a:xfrm>
                <a:off x="3360119" y="4702175"/>
                <a:ext cx="1485900" cy="920750"/>
              </a:xfrm>
              <a:custGeom>
                <a:avLst/>
                <a:gdLst>
                  <a:gd name="T0" fmla="*/ 0 w 936"/>
                  <a:gd name="T1" fmla="*/ 580 h 580"/>
                  <a:gd name="T2" fmla="*/ 356 w 936"/>
                  <a:gd name="T3" fmla="*/ 134 h 580"/>
                  <a:gd name="T4" fmla="*/ 936 w 936"/>
                  <a:gd name="T5" fmla="*/ 0 h 580"/>
                </a:gdLst>
                <a:ahLst/>
                <a:cxnLst>
                  <a:cxn ang="0">
                    <a:pos x="T0" y="T1"/>
                  </a:cxn>
                  <a:cxn ang="0">
                    <a:pos x="T2" y="T3"/>
                  </a:cxn>
                  <a:cxn ang="0">
                    <a:pos x="T4" y="T5"/>
                  </a:cxn>
                </a:cxnLst>
                <a:rect l="0" t="0" r="r" b="b"/>
                <a:pathLst>
                  <a:path w="936" h="580">
                    <a:moveTo>
                      <a:pt x="0" y="580"/>
                    </a:moveTo>
                    <a:cubicBezTo>
                      <a:pt x="100" y="405"/>
                      <a:pt x="200" y="231"/>
                      <a:pt x="356" y="134"/>
                    </a:cubicBezTo>
                    <a:cubicBezTo>
                      <a:pt x="512" y="37"/>
                      <a:pt x="724" y="18"/>
                      <a:pt x="936" y="0"/>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sz="2400"/>
              </a:p>
            </p:txBody>
          </p:sp>
          <p:sp>
            <p:nvSpPr>
              <p:cNvPr id="29" name="Freeform 31">
                <a:extLst>
                  <a:ext uri="{FF2B5EF4-FFF2-40B4-BE49-F238E27FC236}">
                    <a16:creationId xmlns:a16="http://schemas.microsoft.com/office/drawing/2014/main" id="{06771C46-CDA8-41B7-9D83-06132C69D361}"/>
                  </a:ext>
                </a:extLst>
              </p:cNvPr>
              <p:cNvSpPr>
                <a:spLocks/>
              </p:cNvSpPr>
              <p:nvPr/>
            </p:nvSpPr>
            <p:spPr bwMode="auto">
              <a:xfrm>
                <a:off x="3345834" y="5140325"/>
                <a:ext cx="1050925" cy="490538"/>
              </a:xfrm>
              <a:custGeom>
                <a:avLst/>
                <a:gdLst>
                  <a:gd name="T0" fmla="*/ 19 w 662"/>
                  <a:gd name="T1" fmla="*/ 285 h 309"/>
                  <a:gd name="T2" fmla="*/ 53 w 662"/>
                  <a:gd name="T3" fmla="*/ 266 h 309"/>
                  <a:gd name="T4" fmla="*/ 336 w 662"/>
                  <a:gd name="T5" fmla="*/ 26 h 309"/>
                  <a:gd name="T6" fmla="*/ 662 w 662"/>
                  <a:gd name="T7" fmla="*/ 108 h 309"/>
                </a:gdLst>
                <a:ahLst/>
                <a:cxnLst>
                  <a:cxn ang="0">
                    <a:pos x="T0" y="T1"/>
                  </a:cxn>
                  <a:cxn ang="0">
                    <a:pos x="T2" y="T3"/>
                  </a:cxn>
                  <a:cxn ang="0">
                    <a:pos x="T4" y="T5"/>
                  </a:cxn>
                  <a:cxn ang="0">
                    <a:pos x="T6" y="T7"/>
                  </a:cxn>
                </a:cxnLst>
                <a:rect l="0" t="0" r="r" b="b"/>
                <a:pathLst>
                  <a:path w="662" h="309">
                    <a:moveTo>
                      <a:pt x="19" y="285"/>
                    </a:moveTo>
                    <a:cubicBezTo>
                      <a:pt x="9" y="297"/>
                      <a:pt x="0" y="309"/>
                      <a:pt x="53" y="266"/>
                    </a:cubicBezTo>
                    <a:cubicBezTo>
                      <a:pt x="106" y="223"/>
                      <a:pt x="234" y="52"/>
                      <a:pt x="336" y="26"/>
                    </a:cubicBezTo>
                    <a:cubicBezTo>
                      <a:pt x="438" y="0"/>
                      <a:pt x="550" y="54"/>
                      <a:pt x="662" y="108"/>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sz="2400"/>
              </a:p>
            </p:txBody>
          </p:sp>
          <p:sp>
            <p:nvSpPr>
              <p:cNvPr id="30" name="AutoShape 32">
                <a:extLst>
                  <a:ext uri="{FF2B5EF4-FFF2-40B4-BE49-F238E27FC236}">
                    <a16:creationId xmlns:a16="http://schemas.microsoft.com/office/drawing/2014/main" id="{7768F6A6-2656-4803-BF67-2F01B5ACD4EA}"/>
                  </a:ext>
                </a:extLst>
              </p:cNvPr>
              <p:cNvSpPr>
                <a:spLocks noChangeArrowheads="1"/>
              </p:cNvSpPr>
              <p:nvPr/>
            </p:nvSpPr>
            <p:spPr bwMode="auto">
              <a:xfrm rot="570851">
                <a:off x="3549032" y="4616450"/>
                <a:ext cx="88900" cy="158750"/>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31" name="AutoShape 33">
                <a:extLst>
                  <a:ext uri="{FF2B5EF4-FFF2-40B4-BE49-F238E27FC236}">
                    <a16:creationId xmlns:a16="http://schemas.microsoft.com/office/drawing/2014/main" id="{C8DEC724-AE42-4189-A467-D6B9F5E607AF}"/>
                  </a:ext>
                </a:extLst>
              </p:cNvPr>
              <p:cNvSpPr>
                <a:spLocks noChangeArrowheads="1"/>
              </p:cNvSpPr>
              <p:nvPr/>
            </p:nvSpPr>
            <p:spPr bwMode="auto">
              <a:xfrm rot="2933260">
                <a:off x="3842719" y="4860925"/>
                <a:ext cx="88900" cy="158750"/>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32" name="AutoShape 34">
                <a:extLst>
                  <a:ext uri="{FF2B5EF4-FFF2-40B4-BE49-F238E27FC236}">
                    <a16:creationId xmlns:a16="http://schemas.microsoft.com/office/drawing/2014/main" id="{0E5AF0FF-0E83-4B8E-994D-0FBC6ACC691B}"/>
                  </a:ext>
                </a:extLst>
              </p:cNvPr>
              <p:cNvSpPr>
                <a:spLocks noChangeArrowheads="1"/>
              </p:cNvSpPr>
              <p:nvPr/>
            </p:nvSpPr>
            <p:spPr bwMode="auto">
              <a:xfrm rot="6624581">
                <a:off x="4077669" y="5116513"/>
                <a:ext cx="88900" cy="158750"/>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33" name="AutoShape 35">
                <a:extLst>
                  <a:ext uri="{FF2B5EF4-FFF2-40B4-BE49-F238E27FC236}">
                    <a16:creationId xmlns:a16="http://schemas.microsoft.com/office/drawing/2014/main" id="{A7CF4651-B1E0-4EEF-A879-3B99E25820F7}"/>
                  </a:ext>
                </a:extLst>
              </p:cNvPr>
              <p:cNvSpPr>
                <a:spLocks noChangeArrowheads="1"/>
              </p:cNvSpPr>
              <p:nvPr/>
            </p:nvSpPr>
            <p:spPr bwMode="auto">
              <a:xfrm rot="18296590">
                <a:off x="2964832" y="5276850"/>
                <a:ext cx="88900" cy="158750"/>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34" name="Line 36">
                <a:extLst>
                  <a:ext uri="{FF2B5EF4-FFF2-40B4-BE49-F238E27FC236}">
                    <a16:creationId xmlns:a16="http://schemas.microsoft.com/office/drawing/2014/main" id="{1C1C8A0F-094E-4133-BF94-328F64D0A8ED}"/>
                  </a:ext>
                </a:extLst>
              </p:cNvPr>
              <p:cNvSpPr>
                <a:spLocks noChangeShapeType="1"/>
              </p:cNvSpPr>
              <p:nvPr/>
            </p:nvSpPr>
            <p:spPr bwMode="auto">
              <a:xfrm flipV="1">
                <a:off x="2477469" y="4156077"/>
                <a:ext cx="1276350" cy="8286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sz="2400"/>
              </a:p>
            </p:txBody>
          </p:sp>
          <p:sp>
            <p:nvSpPr>
              <p:cNvPr id="35" name="AutoShape 37">
                <a:extLst>
                  <a:ext uri="{FF2B5EF4-FFF2-40B4-BE49-F238E27FC236}">
                    <a16:creationId xmlns:a16="http://schemas.microsoft.com/office/drawing/2014/main" id="{9C3B8333-E55D-4AF6-8FCB-4508DA87BB34}"/>
                  </a:ext>
                </a:extLst>
              </p:cNvPr>
              <p:cNvSpPr>
                <a:spLocks noChangeArrowheads="1"/>
              </p:cNvSpPr>
              <p:nvPr/>
            </p:nvSpPr>
            <p:spPr bwMode="auto">
              <a:xfrm rot="3109939">
                <a:off x="3088657" y="4489450"/>
                <a:ext cx="88900" cy="158750"/>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36" name="Line 38">
                <a:extLst>
                  <a:ext uri="{FF2B5EF4-FFF2-40B4-BE49-F238E27FC236}">
                    <a16:creationId xmlns:a16="http://schemas.microsoft.com/office/drawing/2014/main" id="{41F0180C-3BC7-409F-974F-7F8E1A30A74F}"/>
                  </a:ext>
                </a:extLst>
              </p:cNvPr>
              <p:cNvSpPr>
                <a:spLocks noChangeShapeType="1"/>
              </p:cNvSpPr>
              <p:nvPr/>
            </p:nvSpPr>
            <p:spPr bwMode="auto">
              <a:xfrm flipH="1" flipV="1">
                <a:off x="3807796" y="4156075"/>
                <a:ext cx="1038225" cy="5270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sz="2400"/>
              </a:p>
            </p:txBody>
          </p:sp>
          <p:sp>
            <p:nvSpPr>
              <p:cNvPr id="37" name="AutoShape 39">
                <a:extLst>
                  <a:ext uri="{FF2B5EF4-FFF2-40B4-BE49-F238E27FC236}">
                    <a16:creationId xmlns:a16="http://schemas.microsoft.com/office/drawing/2014/main" id="{C560126E-AD2D-4D04-952B-D15C01A79328}"/>
                  </a:ext>
                </a:extLst>
              </p:cNvPr>
              <p:cNvSpPr>
                <a:spLocks noChangeArrowheads="1"/>
              </p:cNvSpPr>
              <p:nvPr/>
            </p:nvSpPr>
            <p:spPr bwMode="auto">
              <a:xfrm rot="17974908">
                <a:off x="4266582" y="4327525"/>
                <a:ext cx="88900" cy="158750"/>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38" name="Line 40">
                <a:extLst>
                  <a:ext uri="{FF2B5EF4-FFF2-40B4-BE49-F238E27FC236}">
                    <a16:creationId xmlns:a16="http://schemas.microsoft.com/office/drawing/2014/main" id="{A31CB71A-F54B-4A59-9662-EEACC0C5642D}"/>
                  </a:ext>
                </a:extLst>
              </p:cNvPr>
              <p:cNvSpPr>
                <a:spLocks noChangeShapeType="1"/>
              </p:cNvSpPr>
              <p:nvPr/>
            </p:nvSpPr>
            <p:spPr bwMode="auto">
              <a:xfrm flipV="1">
                <a:off x="4396757" y="4718052"/>
                <a:ext cx="449262" cy="5937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sz="2400"/>
              </a:p>
            </p:txBody>
          </p:sp>
          <p:sp>
            <p:nvSpPr>
              <p:cNvPr id="39" name="AutoShape 41">
                <a:extLst>
                  <a:ext uri="{FF2B5EF4-FFF2-40B4-BE49-F238E27FC236}">
                    <a16:creationId xmlns:a16="http://schemas.microsoft.com/office/drawing/2014/main" id="{879ED3FE-4B52-4B71-8EFD-DEC2C497B5C1}"/>
                  </a:ext>
                </a:extLst>
              </p:cNvPr>
              <p:cNvSpPr>
                <a:spLocks noChangeArrowheads="1"/>
              </p:cNvSpPr>
              <p:nvPr/>
            </p:nvSpPr>
            <p:spPr bwMode="auto">
              <a:xfrm rot="2284427">
                <a:off x="4611069" y="4897438"/>
                <a:ext cx="88900" cy="158750"/>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40" name="Line 42">
                <a:extLst>
                  <a:ext uri="{FF2B5EF4-FFF2-40B4-BE49-F238E27FC236}">
                    <a16:creationId xmlns:a16="http://schemas.microsoft.com/office/drawing/2014/main" id="{9B90CFC1-4549-474E-A256-A02225E44161}"/>
                  </a:ext>
                </a:extLst>
              </p:cNvPr>
              <p:cNvSpPr>
                <a:spLocks noChangeShapeType="1"/>
              </p:cNvSpPr>
              <p:nvPr/>
            </p:nvSpPr>
            <p:spPr bwMode="auto">
              <a:xfrm flipH="1" flipV="1">
                <a:off x="3807796" y="4156075"/>
                <a:ext cx="588963" cy="11557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sz="2400"/>
              </a:p>
            </p:txBody>
          </p:sp>
          <p:sp>
            <p:nvSpPr>
              <p:cNvPr id="41" name="AutoShape 43">
                <a:extLst>
                  <a:ext uri="{FF2B5EF4-FFF2-40B4-BE49-F238E27FC236}">
                    <a16:creationId xmlns:a16="http://schemas.microsoft.com/office/drawing/2014/main" id="{A64498ED-A35A-48D5-83D6-7837ADB0C6DD}"/>
                  </a:ext>
                </a:extLst>
              </p:cNvPr>
              <p:cNvSpPr>
                <a:spLocks noChangeArrowheads="1"/>
              </p:cNvSpPr>
              <p:nvPr/>
            </p:nvSpPr>
            <p:spPr bwMode="auto">
              <a:xfrm rot="19942517">
                <a:off x="3985594" y="4492625"/>
                <a:ext cx="88900" cy="158750"/>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grpSp>
      </p:grpSp>
    </p:spTree>
    <p:extLst>
      <p:ext uri="{BB962C8B-B14F-4D97-AF65-F5344CB8AC3E}">
        <p14:creationId xmlns:p14="http://schemas.microsoft.com/office/powerpoint/2010/main" val="37611609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64B3D-6A34-49A4-8F5E-BE325CA325A7}"/>
              </a:ext>
            </a:extLst>
          </p:cNvPr>
          <p:cNvSpPr>
            <a:spLocks noGrp="1"/>
          </p:cNvSpPr>
          <p:nvPr>
            <p:ph type="title"/>
          </p:nvPr>
        </p:nvSpPr>
        <p:spPr/>
        <p:txBody>
          <a:bodyPr/>
          <a:lstStyle/>
          <a:p>
            <a:r>
              <a:rPr kumimoji="0" lang="en-IN" sz="36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Bahnschrift SemiBold"/>
                <a:ea typeface="+mj-ea"/>
                <a:cs typeface="+mj-cs"/>
              </a:rPr>
              <a:t>Hasse Diagrams – Example 1</a:t>
            </a:r>
            <a:endParaRPr lang="en-IN" sz="2400" dirty="0"/>
          </a:p>
        </p:txBody>
      </p:sp>
      <p:sp>
        <p:nvSpPr>
          <p:cNvPr id="4" name="Text Box 3">
            <a:extLst>
              <a:ext uri="{FF2B5EF4-FFF2-40B4-BE49-F238E27FC236}">
                <a16:creationId xmlns:a16="http://schemas.microsoft.com/office/drawing/2014/main" id="{EA394904-076A-44B8-A8A9-CDE41C691370}"/>
              </a:ext>
            </a:extLst>
          </p:cNvPr>
          <p:cNvSpPr txBox="1">
            <a:spLocks noChangeArrowheads="1"/>
          </p:cNvSpPr>
          <p:nvPr/>
        </p:nvSpPr>
        <p:spPr bwMode="auto">
          <a:xfrm>
            <a:off x="348422" y="1235076"/>
            <a:ext cx="78390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dirty="0"/>
              <a:t>Eliminate the loops at all the vertices.</a:t>
            </a:r>
          </a:p>
        </p:txBody>
      </p:sp>
      <p:sp>
        <p:nvSpPr>
          <p:cNvPr id="5" name="Oval 5">
            <a:extLst>
              <a:ext uri="{FF2B5EF4-FFF2-40B4-BE49-F238E27FC236}">
                <a16:creationId xmlns:a16="http://schemas.microsoft.com/office/drawing/2014/main" id="{AC3FC268-5F9C-418D-AD24-2912E9761182}"/>
              </a:ext>
            </a:extLst>
          </p:cNvPr>
          <p:cNvSpPr>
            <a:spLocks noChangeArrowheads="1"/>
          </p:cNvSpPr>
          <p:nvPr/>
        </p:nvSpPr>
        <p:spPr bwMode="auto">
          <a:xfrm>
            <a:off x="2358196" y="4918075"/>
            <a:ext cx="88900" cy="889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6" name="Oval 6">
            <a:extLst>
              <a:ext uri="{FF2B5EF4-FFF2-40B4-BE49-F238E27FC236}">
                <a16:creationId xmlns:a16="http://schemas.microsoft.com/office/drawing/2014/main" id="{8C3E5364-67CC-4F6E-BD93-32051FDF9F6F}"/>
              </a:ext>
            </a:extLst>
          </p:cNvPr>
          <p:cNvSpPr>
            <a:spLocks noChangeArrowheads="1"/>
          </p:cNvSpPr>
          <p:nvPr/>
        </p:nvSpPr>
        <p:spPr bwMode="auto">
          <a:xfrm>
            <a:off x="3607559" y="4095750"/>
            <a:ext cx="88900" cy="889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7" name="Oval 7">
            <a:extLst>
              <a:ext uri="{FF2B5EF4-FFF2-40B4-BE49-F238E27FC236}">
                <a16:creationId xmlns:a16="http://schemas.microsoft.com/office/drawing/2014/main" id="{710D0CE0-C148-48A1-BE87-8CFABF4DD7F9}"/>
              </a:ext>
            </a:extLst>
          </p:cNvPr>
          <p:cNvSpPr>
            <a:spLocks noChangeArrowheads="1"/>
          </p:cNvSpPr>
          <p:nvPr/>
        </p:nvSpPr>
        <p:spPr bwMode="auto">
          <a:xfrm>
            <a:off x="4704521" y="4654550"/>
            <a:ext cx="88900" cy="889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8" name="Oval 8">
            <a:extLst>
              <a:ext uri="{FF2B5EF4-FFF2-40B4-BE49-F238E27FC236}">
                <a16:creationId xmlns:a16="http://schemas.microsoft.com/office/drawing/2014/main" id="{10A81B05-4C6C-4A4E-834E-1439CF468320}"/>
              </a:ext>
            </a:extLst>
          </p:cNvPr>
          <p:cNvSpPr>
            <a:spLocks noChangeArrowheads="1"/>
          </p:cNvSpPr>
          <p:nvPr/>
        </p:nvSpPr>
        <p:spPr bwMode="auto">
          <a:xfrm>
            <a:off x="3201159" y="5588000"/>
            <a:ext cx="88900" cy="889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9" name="Oval 9">
            <a:extLst>
              <a:ext uri="{FF2B5EF4-FFF2-40B4-BE49-F238E27FC236}">
                <a16:creationId xmlns:a16="http://schemas.microsoft.com/office/drawing/2014/main" id="{9F7FFEFA-2987-476E-B60D-71AC159553B8}"/>
              </a:ext>
            </a:extLst>
          </p:cNvPr>
          <p:cNvSpPr>
            <a:spLocks noChangeArrowheads="1"/>
          </p:cNvSpPr>
          <p:nvPr/>
        </p:nvSpPr>
        <p:spPr bwMode="auto">
          <a:xfrm>
            <a:off x="4267959" y="5286375"/>
            <a:ext cx="88900" cy="889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10" name="Text Box 10">
            <a:extLst>
              <a:ext uri="{FF2B5EF4-FFF2-40B4-BE49-F238E27FC236}">
                <a16:creationId xmlns:a16="http://schemas.microsoft.com/office/drawing/2014/main" id="{6A266B7F-AECD-4646-A14D-23DB418431A0}"/>
              </a:ext>
            </a:extLst>
          </p:cNvPr>
          <p:cNvSpPr txBox="1">
            <a:spLocks noChangeArrowheads="1"/>
          </p:cNvSpPr>
          <p:nvPr/>
        </p:nvSpPr>
        <p:spPr bwMode="auto">
          <a:xfrm>
            <a:off x="2997959" y="5676902"/>
            <a:ext cx="406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t>1</a:t>
            </a:r>
          </a:p>
        </p:txBody>
      </p:sp>
      <p:sp>
        <p:nvSpPr>
          <p:cNvPr id="11" name="Text Box 11">
            <a:extLst>
              <a:ext uri="{FF2B5EF4-FFF2-40B4-BE49-F238E27FC236}">
                <a16:creationId xmlns:a16="http://schemas.microsoft.com/office/drawing/2014/main" id="{D1918E51-CCCC-499F-BDCC-26B6267D7A9C}"/>
              </a:ext>
            </a:extLst>
          </p:cNvPr>
          <p:cNvSpPr txBox="1">
            <a:spLocks noChangeArrowheads="1"/>
          </p:cNvSpPr>
          <p:nvPr/>
        </p:nvSpPr>
        <p:spPr bwMode="auto">
          <a:xfrm>
            <a:off x="1818446" y="4733927"/>
            <a:ext cx="406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t>2</a:t>
            </a:r>
            <a:endParaRPr lang="en-US" altLang="en-US" sz="2400" dirty="0"/>
          </a:p>
        </p:txBody>
      </p:sp>
      <p:sp>
        <p:nvSpPr>
          <p:cNvPr id="12" name="Text Box 12">
            <a:extLst>
              <a:ext uri="{FF2B5EF4-FFF2-40B4-BE49-F238E27FC236}">
                <a16:creationId xmlns:a16="http://schemas.microsoft.com/office/drawing/2014/main" id="{6254B0FD-26B9-496C-AB2D-6C88FF610D41}"/>
              </a:ext>
            </a:extLst>
          </p:cNvPr>
          <p:cNvSpPr txBox="1">
            <a:spLocks noChangeArrowheads="1"/>
          </p:cNvSpPr>
          <p:nvPr/>
        </p:nvSpPr>
        <p:spPr bwMode="auto">
          <a:xfrm>
            <a:off x="4434646" y="5197477"/>
            <a:ext cx="406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t>3</a:t>
            </a:r>
          </a:p>
        </p:txBody>
      </p:sp>
      <p:sp>
        <p:nvSpPr>
          <p:cNvPr id="13" name="Text Box 13">
            <a:extLst>
              <a:ext uri="{FF2B5EF4-FFF2-40B4-BE49-F238E27FC236}">
                <a16:creationId xmlns:a16="http://schemas.microsoft.com/office/drawing/2014/main" id="{B464F23B-DFA7-4F98-AF01-93EC47B0684C}"/>
              </a:ext>
            </a:extLst>
          </p:cNvPr>
          <p:cNvSpPr txBox="1">
            <a:spLocks noChangeArrowheads="1"/>
          </p:cNvSpPr>
          <p:nvPr/>
        </p:nvSpPr>
        <p:spPr bwMode="auto">
          <a:xfrm>
            <a:off x="4993446" y="4470402"/>
            <a:ext cx="53339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2400" dirty="0"/>
              <a:t>15</a:t>
            </a:r>
          </a:p>
        </p:txBody>
      </p:sp>
      <p:sp>
        <p:nvSpPr>
          <p:cNvPr id="14" name="Text Box 14">
            <a:extLst>
              <a:ext uri="{FF2B5EF4-FFF2-40B4-BE49-F238E27FC236}">
                <a16:creationId xmlns:a16="http://schemas.microsoft.com/office/drawing/2014/main" id="{8B83470F-7428-42DC-B8B0-463B76B4BBE0}"/>
              </a:ext>
            </a:extLst>
          </p:cNvPr>
          <p:cNvSpPr txBox="1">
            <a:spLocks noChangeArrowheads="1"/>
          </p:cNvSpPr>
          <p:nvPr/>
        </p:nvSpPr>
        <p:spPr bwMode="auto">
          <a:xfrm>
            <a:off x="3693284" y="3757613"/>
            <a:ext cx="5381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dirty="0"/>
              <a:t>30</a:t>
            </a:r>
          </a:p>
        </p:txBody>
      </p:sp>
      <p:grpSp>
        <p:nvGrpSpPr>
          <p:cNvPr id="15" name="Group 42">
            <a:extLst>
              <a:ext uri="{FF2B5EF4-FFF2-40B4-BE49-F238E27FC236}">
                <a16:creationId xmlns:a16="http://schemas.microsoft.com/office/drawing/2014/main" id="{60F20A5D-1A15-4EB8-B85B-9CCCEF0DF180}"/>
              </a:ext>
            </a:extLst>
          </p:cNvPr>
          <p:cNvGrpSpPr>
            <a:grpSpLocks/>
          </p:cNvGrpSpPr>
          <p:nvPr/>
        </p:nvGrpSpPr>
        <p:grpSpPr bwMode="auto">
          <a:xfrm>
            <a:off x="2169284" y="3878263"/>
            <a:ext cx="2774950" cy="1987550"/>
            <a:chOff x="611" y="2443"/>
            <a:chExt cx="1748" cy="1252"/>
          </a:xfrm>
        </p:grpSpPr>
        <p:sp>
          <p:nvSpPr>
            <p:cNvPr id="16" name="Oval 15">
              <a:extLst>
                <a:ext uri="{FF2B5EF4-FFF2-40B4-BE49-F238E27FC236}">
                  <a16:creationId xmlns:a16="http://schemas.microsoft.com/office/drawing/2014/main" id="{C8EE8A22-8C89-42A6-B2AC-39BBE67B28E9}"/>
                </a:ext>
              </a:extLst>
            </p:cNvPr>
            <p:cNvSpPr>
              <a:spLocks noChangeArrowheads="1"/>
            </p:cNvSpPr>
            <p:nvPr/>
          </p:nvSpPr>
          <p:spPr bwMode="auto">
            <a:xfrm>
              <a:off x="1401" y="2443"/>
              <a:ext cx="175" cy="1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17" name="Oval 16">
              <a:extLst>
                <a:ext uri="{FF2B5EF4-FFF2-40B4-BE49-F238E27FC236}">
                  <a16:creationId xmlns:a16="http://schemas.microsoft.com/office/drawing/2014/main" id="{FDAEA485-6DF9-4326-A9F9-0E0F043B138F}"/>
                </a:ext>
              </a:extLst>
            </p:cNvPr>
            <p:cNvSpPr>
              <a:spLocks noChangeArrowheads="1"/>
            </p:cNvSpPr>
            <p:nvPr/>
          </p:nvSpPr>
          <p:spPr bwMode="auto">
            <a:xfrm>
              <a:off x="1261" y="3520"/>
              <a:ext cx="175" cy="1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18" name="Oval 17">
              <a:extLst>
                <a:ext uri="{FF2B5EF4-FFF2-40B4-BE49-F238E27FC236}">
                  <a16:creationId xmlns:a16="http://schemas.microsoft.com/office/drawing/2014/main" id="{139790A5-C17E-4087-B5B5-54FD0709BAD5}"/>
                </a:ext>
              </a:extLst>
            </p:cNvPr>
            <p:cNvSpPr>
              <a:spLocks noChangeArrowheads="1"/>
            </p:cNvSpPr>
            <p:nvPr/>
          </p:nvSpPr>
          <p:spPr bwMode="auto">
            <a:xfrm>
              <a:off x="2170" y="2775"/>
              <a:ext cx="175" cy="1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19" name="Oval 18">
              <a:extLst>
                <a:ext uri="{FF2B5EF4-FFF2-40B4-BE49-F238E27FC236}">
                  <a16:creationId xmlns:a16="http://schemas.microsoft.com/office/drawing/2014/main" id="{30ADB9A2-B174-4650-8CB5-C9D3A145C0F6}"/>
                </a:ext>
              </a:extLst>
            </p:cNvPr>
            <p:cNvSpPr>
              <a:spLocks noChangeArrowheads="1"/>
            </p:cNvSpPr>
            <p:nvPr/>
          </p:nvSpPr>
          <p:spPr bwMode="auto">
            <a:xfrm>
              <a:off x="1881" y="3374"/>
              <a:ext cx="175" cy="1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20" name="Oval 19">
              <a:extLst>
                <a:ext uri="{FF2B5EF4-FFF2-40B4-BE49-F238E27FC236}">
                  <a16:creationId xmlns:a16="http://schemas.microsoft.com/office/drawing/2014/main" id="{0FD6D59E-3C2B-41A2-821D-F5F1334D43B2}"/>
                </a:ext>
              </a:extLst>
            </p:cNvPr>
            <p:cNvSpPr>
              <a:spLocks noChangeArrowheads="1"/>
            </p:cNvSpPr>
            <p:nvPr/>
          </p:nvSpPr>
          <p:spPr bwMode="auto">
            <a:xfrm>
              <a:off x="611" y="2979"/>
              <a:ext cx="175" cy="1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21" name="AutoShape 20">
              <a:extLst>
                <a:ext uri="{FF2B5EF4-FFF2-40B4-BE49-F238E27FC236}">
                  <a16:creationId xmlns:a16="http://schemas.microsoft.com/office/drawing/2014/main" id="{B0EB3624-BBFB-4727-8676-1B87498A17FB}"/>
                </a:ext>
              </a:extLst>
            </p:cNvPr>
            <p:cNvSpPr>
              <a:spLocks noChangeArrowheads="1"/>
            </p:cNvSpPr>
            <p:nvPr/>
          </p:nvSpPr>
          <p:spPr bwMode="auto">
            <a:xfrm>
              <a:off x="1396" y="3546"/>
              <a:ext cx="56" cy="100"/>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22" name="AutoShape 21">
              <a:extLst>
                <a:ext uri="{FF2B5EF4-FFF2-40B4-BE49-F238E27FC236}">
                  <a16:creationId xmlns:a16="http://schemas.microsoft.com/office/drawing/2014/main" id="{772EA100-4407-4B2C-88C0-99B0D497BAE4}"/>
                </a:ext>
              </a:extLst>
            </p:cNvPr>
            <p:cNvSpPr>
              <a:spLocks noChangeArrowheads="1"/>
            </p:cNvSpPr>
            <p:nvPr/>
          </p:nvSpPr>
          <p:spPr bwMode="auto">
            <a:xfrm>
              <a:off x="2016" y="3416"/>
              <a:ext cx="56" cy="100"/>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23" name="AutoShape 22">
              <a:extLst>
                <a:ext uri="{FF2B5EF4-FFF2-40B4-BE49-F238E27FC236}">
                  <a16:creationId xmlns:a16="http://schemas.microsoft.com/office/drawing/2014/main" id="{66093495-9AE6-429B-8E29-26A56583AE9A}"/>
                </a:ext>
              </a:extLst>
            </p:cNvPr>
            <p:cNvSpPr>
              <a:spLocks noChangeArrowheads="1"/>
            </p:cNvSpPr>
            <p:nvPr/>
          </p:nvSpPr>
          <p:spPr bwMode="auto">
            <a:xfrm>
              <a:off x="2303" y="2817"/>
              <a:ext cx="56" cy="100"/>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400"/>
            </a:p>
          </p:txBody>
        </p:sp>
        <p:sp>
          <p:nvSpPr>
            <p:cNvPr id="24" name="AutoShape 23">
              <a:extLst>
                <a:ext uri="{FF2B5EF4-FFF2-40B4-BE49-F238E27FC236}">
                  <a16:creationId xmlns:a16="http://schemas.microsoft.com/office/drawing/2014/main" id="{05C604F7-82C6-475C-9673-8E500D436F5C}"/>
                </a:ext>
              </a:extLst>
            </p:cNvPr>
            <p:cNvSpPr>
              <a:spLocks noChangeArrowheads="1"/>
            </p:cNvSpPr>
            <p:nvPr/>
          </p:nvSpPr>
          <p:spPr bwMode="auto">
            <a:xfrm rot="-1196166">
              <a:off x="1534" y="2443"/>
              <a:ext cx="56" cy="100"/>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400"/>
            </a:p>
          </p:txBody>
        </p:sp>
        <p:sp>
          <p:nvSpPr>
            <p:cNvPr id="25" name="AutoShape 24">
              <a:extLst>
                <a:ext uri="{FF2B5EF4-FFF2-40B4-BE49-F238E27FC236}">
                  <a16:creationId xmlns:a16="http://schemas.microsoft.com/office/drawing/2014/main" id="{FB19B70E-E8A8-4B2C-821C-DB6C49537806}"/>
                </a:ext>
              </a:extLst>
            </p:cNvPr>
            <p:cNvSpPr>
              <a:spLocks noChangeArrowheads="1"/>
            </p:cNvSpPr>
            <p:nvPr/>
          </p:nvSpPr>
          <p:spPr bwMode="auto">
            <a:xfrm rot="15382196">
              <a:off x="652" y="2950"/>
              <a:ext cx="56" cy="100"/>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endParaRPr lang="en-US" altLang="en-US" sz="2400"/>
            </a:p>
          </p:txBody>
        </p:sp>
      </p:grpSp>
      <p:sp>
        <p:nvSpPr>
          <p:cNvPr id="26" name="Line 25">
            <a:extLst>
              <a:ext uri="{FF2B5EF4-FFF2-40B4-BE49-F238E27FC236}">
                <a16:creationId xmlns:a16="http://schemas.microsoft.com/office/drawing/2014/main" id="{B9FDF9AF-9351-4E96-8FAF-A8FAE91B0546}"/>
              </a:ext>
            </a:extLst>
          </p:cNvPr>
          <p:cNvSpPr>
            <a:spLocks noChangeShapeType="1"/>
          </p:cNvSpPr>
          <p:nvPr/>
        </p:nvSpPr>
        <p:spPr bwMode="auto">
          <a:xfrm flipH="1" flipV="1">
            <a:off x="2447098" y="5006977"/>
            <a:ext cx="754063" cy="6270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sz="2400"/>
          </a:p>
        </p:txBody>
      </p:sp>
      <p:sp>
        <p:nvSpPr>
          <p:cNvPr id="27" name="Freeform 28">
            <a:extLst>
              <a:ext uri="{FF2B5EF4-FFF2-40B4-BE49-F238E27FC236}">
                <a16:creationId xmlns:a16="http://schemas.microsoft.com/office/drawing/2014/main" id="{3C01FDA7-449B-4656-8639-CD905123E9C3}"/>
              </a:ext>
            </a:extLst>
          </p:cNvPr>
          <p:cNvSpPr>
            <a:spLocks/>
          </p:cNvSpPr>
          <p:nvPr/>
        </p:nvSpPr>
        <p:spPr bwMode="auto">
          <a:xfrm>
            <a:off x="3226561" y="5140325"/>
            <a:ext cx="1050925" cy="490538"/>
          </a:xfrm>
          <a:custGeom>
            <a:avLst/>
            <a:gdLst>
              <a:gd name="T0" fmla="*/ 19 w 662"/>
              <a:gd name="T1" fmla="*/ 285 h 309"/>
              <a:gd name="T2" fmla="*/ 53 w 662"/>
              <a:gd name="T3" fmla="*/ 266 h 309"/>
              <a:gd name="T4" fmla="*/ 336 w 662"/>
              <a:gd name="T5" fmla="*/ 26 h 309"/>
              <a:gd name="T6" fmla="*/ 662 w 662"/>
              <a:gd name="T7" fmla="*/ 108 h 309"/>
            </a:gdLst>
            <a:ahLst/>
            <a:cxnLst>
              <a:cxn ang="0">
                <a:pos x="T0" y="T1"/>
              </a:cxn>
              <a:cxn ang="0">
                <a:pos x="T2" y="T3"/>
              </a:cxn>
              <a:cxn ang="0">
                <a:pos x="T4" y="T5"/>
              </a:cxn>
              <a:cxn ang="0">
                <a:pos x="T6" y="T7"/>
              </a:cxn>
            </a:cxnLst>
            <a:rect l="0" t="0" r="r" b="b"/>
            <a:pathLst>
              <a:path w="662" h="309">
                <a:moveTo>
                  <a:pt x="19" y="285"/>
                </a:moveTo>
                <a:cubicBezTo>
                  <a:pt x="9" y="297"/>
                  <a:pt x="0" y="309"/>
                  <a:pt x="53" y="266"/>
                </a:cubicBezTo>
                <a:cubicBezTo>
                  <a:pt x="106" y="223"/>
                  <a:pt x="234" y="52"/>
                  <a:pt x="336" y="26"/>
                </a:cubicBezTo>
                <a:cubicBezTo>
                  <a:pt x="438" y="0"/>
                  <a:pt x="550" y="54"/>
                  <a:pt x="662" y="108"/>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sz="2400"/>
          </a:p>
        </p:txBody>
      </p:sp>
      <p:sp>
        <p:nvSpPr>
          <p:cNvPr id="28" name="Line 33">
            <a:extLst>
              <a:ext uri="{FF2B5EF4-FFF2-40B4-BE49-F238E27FC236}">
                <a16:creationId xmlns:a16="http://schemas.microsoft.com/office/drawing/2014/main" id="{4ACF7558-DE34-4C33-93B4-1B59773EB077}"/>
              </a:ext>
            </a:extLst>
          </p:cNvPr>
          <p:cNvSpPr>
            <a:spLocks noChangeShapeType="1"/>
          </p:cNvSpPr>
          <p:nvPr/>
        </p:nvSpPr>
        <p:spPr bwMode="auto">
          <a:xfrm flipV="1">
            <a:off x="2358196" y="4156077"/>
            <a:ext cx="1276350" cy="8286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sz="2400"/>
          </a:p>
        </p:txBody>
      </p:sp>
      <p:sp>
        <p:nvSpPr>
          <p:cNvPr id="29" name="Line 35">
            <a:extLst>
              <a:ext uri="{FF2B5EF4-FFF2-40B4-BE49-F238E27FC236}">
                <a16:creationId xmlns:a16="http://schemas.microsoft.com/office/drawing/2014/main" id="{D699B1BD-CBA5-48CB-90AB-BCDD3E6E4D9D}"/>
              </a:ext>
            </a:extLst>
          </p:cNvPr>
          <p:cNvSpPr>
            <a:spLocks noChangeShapeType="1"/>
          </p:cNvSpPr>
          <p:nvPr/>
        </p:nvSpPr>
        <p:spPr bwMode="auto">
          <a:xfrm flipH="1" flipV="1">
            <a:off x="3688523" y="4156075"/>
            <a:ext cx="1038225" cy="5270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sz="2400"/>
          </a:p>
        </p:txBody>
      </p:sp>
      <p:sp>
        <p:nvSpPr>
          <p:cNvPr id="30" name="Line 37">
            <a:extLst>
              <a:ext uri="{FF2B5EF4-FFF2-40B4-BE49-F238E27FC236}">
                <a16:creationId xmlns:a16="http://schemas.microsoft.com/office/drawing/2014/main" id="{86D13F4E-395E-4C5C-A321-1391342670F2}"/>
              </a:ext>
            </a:extLst>
          </p:cNvPr>
          <p:cNvSpPr>
            <a:spLocks noChangeShapeType="1"/>
          </p:cNvSpPr>
          <p:nvPr/>
        </p:nvSpPr>
        <p:spPr bwMode="auto">
          <a:xfrm flipV="1">
            <a:off x="4277484" y="4718052"/>
            <a:ext cx="449262" cy="5937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sz="2400"/>
          </a:p>
        </p:txBody>
      </p:sp>
      <p:grpSp>
        <p:nvGrpSpPr>
          <p:cNvPr id="31" name="Group 46">
            <a:extLst>
              <a:ext uri="{FF2B5EF4-FFF2-40B4-BE49-F238E27FC236}">
                <a16:creationId xmlns:a16="http://schemas.microsoft.com/office/drawing/2014/main" id="{CB9B3B92-B109-4D26-87C0-7932A3B33756}"/>
              </a:ext>
            </a:extLst>
          </p:cNvPr>
          <p:cNvGrpSpPr>
            <a:grpSpLocks/>
          </p:cNvGrpSpPr>
          <p:nvPr/>
        </p:nvGrpSpPr>
        <p:grpSpPr bwMode="auto">
          <a:xfrm>
            <a:off x="2810634" y="4362452"/>
            <a:ext cx="1770062" cy="1038225"/>
            <a:chOff x="1015" y="2748"/>
            <a:chExt cx="1115" cy="654"/>
          </a:xfrm>
        </p:grpSpPr>
        <p:sp>
          <p:nvSpPr>
            <p:cNvPr id="32" name="AutoShape 31">
              <a:extLst>
                <a:ext uri="{FF2B5EF4-FFF2-40B4-BE49-F238E27FC236}">
                  <a16:creationId xmlns:a16="http://schemas.microsoft.com/office/drawing/2014/main" id="{2C11A09F-3E76-4DE4-9F65-F9D47A756DAF}"/>
                </a:ext>
              </a:extLst>
            </p:cNvPr>
            <p:cNvSpPr>
              <a:spLocks noChangeArrowheads="1"/>
            </p:cNvSpPr>
            <p:nvPr/>
          </p:nvSpPr>
          <p:spPr bwMode="auto">
            <a:xfrm rot="-14975419">
              <a:off x="1738" y="3223"/>
              <a:ext cx="56" cy="100"/>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33" name="AutoShape 32">
              <a:extLst>
                <a:ext uri="{FF2B5EF4-FFF2-40B4-BE49-F238E27FC236}">
                  <a16:creationId xmlns:a16="http://schemas.microsoft.com/office/drawing/2014/main" id="{F2750661-8ECF-4911-9DC4-FCDE6E5AB0CD}"/>
                </a:ext>
              </a:extLst>
            </p:cNvPr>
            <p:cNvSpPr>
              <a:spLocks noChangeArrowheads="1"/>
            </p:cNvSpPr>
            <p:nvPr/>
          </p:nvSpPr>
          <p:spPr bwMode="auto">
            <a:xfrm rot="-3303410">
              <a:off x="1037" y="3324"/>
              <a:ext cx="56" cy="100"/>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34" name="AutoShape 34">
              <a:extLst>
                <a:ext uri="{FF2B5EF4-FFF2-40B4-BE49-F238E27FC236}">
                  <a16:creationId xmlns:a16="http://schemas.microsoft.com/office/drawing/2014/main" id="{3D0DC48D-B6C2-4173-96C3-DAA40B092DBA}"/>
                </a:ext>
              </a:extLst>
            </p:cNvPr>
            <p:cNvSpPr>
              <a:spLocks noChangeArrowheads="1"/>
            </p:cNvSpPr>
            <p:nvPr/>
          </p:nvSpPr>
          <p:spPr bwMode="auto">
            <a:xfrm rot="3109939">
              <a:off x="1115" y="2828"/>
              <a:ext cx="56" cy="100"/>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35" name="AutoShape 36">
              <a:extLst>
                <a:ext uri="{FF2B5EF4-FFF2-40B4-BE49-F238E27FC236}">
                  <a16:creationId xmlns:a16="http://schemas.microsoft.com/office/drawing/2014/main" id="{48DC9629-1D32-4EE9-9E01-4C19B194B595}"/>
                </a:ext>
              </a:extLst>
            </p:cNvPr>
            <p:cNvSpPr>
              <a:spLocks noChangeArrowheads="1"/>
            </p:cNvSpPr>
            <p:nvPr/>
          </p:nvSpPr>
          <p:spPr bwMode="auto">
            <a:xfrm rot="-3625092">
              <a:off x="1857" y="2726"/>
              <a:ext cx="56" cy="100"/>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36" name="AutoShape 38">
              <a:extLst>
                <a:ext uri="{FF2B5EF4-FFF2-40B4-BE49-F238E27FC236}">
                  <a16:creationId xmlns:a16="http://schemas.microsoft.com/office/drawing/2014/main" id="{B4001B61-E33F-4320-B57A-64CC53EF5D4A}"/>
                </a:ext>
              </a:extLst>
            </p:cNvPr>
            <p:cNvSpPr>
              <a:spLocks noChangeArrowheads="1"/>
            </p:cNvSpPr>
            <p:nvPr/>
          </p:nvSpPr>
          <p:spPr bwMode="auto">
            <a:xfrm rot="2284427">
              <a:off x="2074" y="3085"/>
              <a:ext cx="56" cy="100"/>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grpSp>
      <p:grpSp>
        <p:nvGrpSpPr>
          <p:cNvPr id="37" name="Group 44">
            <a:extLst>
              <a:ext uri="{FF2B5EF4-FFF2-40B4-BE49-F238E27FC236}">
                <a16:creationId xmlns:a16="http://schemas.microsoft.com/office/drawing/2014/main" id="{1B10D23B-274F-4BA4-B321-7F0D4CE21167}"/>
              </a:ext>
            </a:extLst>
          </p:cNvPr>
          <p:cNvGrpSpPr>
            <a:grpSpLocks/>
          </p:cNvGrpSpPr>
          <p:nvPr/>
        </p:nvGrpSpPr>
        <p:grpSpPr bwMode="auto">
          <a:xfrm>
            <a:off x="3201161" y="4124325"/>
            <a:ext cx="1525587" cy="1504950"/>
            <a:chOff x="1261" y="2598"/>
            <a:chExt cx="961" cy="948"/>
          </a:xfrm>
        </p:grpSpPr>
        <p:sp>
          <p:nvSpPr>
            <p:cNvPr id="38" name="Line 26">
              <a:extLst>
                <a:ext uri="{FF2B5EF4-FFF2-40B4-BE49-F238E27FC236}">
                  <a16:creationId xmlns:a16="http://schemas.microsoft.com/office/drawing/2014/main" id="{B7794C21-F9AC-4B90-BB1B-6E6274C84CC0}"/>
                </a:ext>
              </a:extLst>
            </p:cNvPr>
            <p:cNvSpPr>
              <a:spLocks noChangeShapeType="1"/>
            </p:cNvSpPr>
            <p:nvPr/>
          </p:nvSpPr>
          <p:spPr bwMode="auto">
            <a:xfrm flipV="1">
              <a:off x="1261" y="2598"/>
              <a:ext cx="273" cy="9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sz="2400"/>
            </a:p>
          </p:txBody>
        </p:sp>
        <p:sp>
          <p:nvSpPr>
            <p:cNvPr id="39" name="Freeform 27">
              <a:extLst>
                <a:ext uri="{FF2B5EF4-FFF2-40B4-BE49-F238E27FC236}">
                  <a16:creationId xmlns:a16="http://schemas.microsoft.com/office/drawing/2014/main" id="{62F22819-4033-4237-8A9C-AD23E6CFEA1D}"/>
                </a:ext>
              </a:extLst>
            </p:cNvPr>
            <p:cNvSpPr>
              <a:spLocks/>
            </p:cNvSpPr>
            <p:nvPr/>
          </p:nvSpPr>
          <p:spPr bwMode="auto">
            <a:xfrm>
              <a:off x="1286" y="2962"/>
              <a:ext cx="936" cy="580"/>
            </a:xfrm>
            <a:custGeom>
              <a:avLst/>
              <a:gdLst>
                <a:gd name="T0" fmla="*/ 0 w 936"/>
                <a:gd name="T1" fmla="*/ 580 h 580"/>
                <a:gd name="T2" fmla="*/ 356 w 936"/>
                <a:gd name="T3" fmla="*/ 134 h 580"/>
                <a:gd name="T4" fmla="*/ 936 w 936"/>
                <a:gd name="T5" fmla="*/ 0 h 580"/>
              </a:gdLst>
              <a:ahLst/>
              <a:cxnLst>
                <a:cxn ang="0">
                  <a:pos x="T0" y="T1"/>
                </a:cxn>
                <a:cxn ang="0">
                  <a:pos x="T2" y="T3"/>
                </a:cxn>
                <a:cxn ang="0">
                  <a:pos x="T4" y="T5"/>
                </a:cxn>
              </a:cxnLst>
              <a:rect l="0" t="0" r="r" b="b"/>
              <a:pathLst>
                <a:path w="936" h="580">
                  <a:moveTo>
                    <a:pt x="0" y="580"/>
                  </a:moveTo>
                  <a:cubicBezTo>
                    <a:pt x="100" y="405"/>
                    <a:pt x="200" y="231"/>
                    <a:pt x="356" y="134"/>
                  </a:cubicBezTo>
                  <a:cubicBezTo>
                    <a:pt x="512" y="37"/>
                    <a:pt x="724" y="18"/>
                    <a:pt x="936" y="0"/>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sz="2400"/>
            </a:p>
          </p:txBody>
        </p:sp>
        <p:sp>
          <p:nvSpPr>
            <p:cNvPr id="40" name="AutoShape 29">
              <a:extLst>
                <a:ext uri="{FF2B5EF4-FFF2-40B4-BE49-F238E27FC236}">
                  <a16:creationId xmlns:a16="http://schemas.microsoft.com/office/drawing/2014/main" id="{82BC93EA-2B0E-45CB-A211-0C28BC0DB1D8}"/>
                </a:ext>
              </a:extLst>
            </p:cNvPr>
            <p:cNvSpPr>
              <a:spLocks noChangeArrowheads="1"/>
            </p:cNvSpPr>
            <p:nvPr/>
          </p:nvSpPr>
          <p:spPr bwMode="auto">
            <a:xfrm rot="570851">
              <a:off x="1405" y="2908"/>
              <a:ext cx="56" cy="100"/>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41" name="AutoShape 30">
              <a:extLst>
                <a:ext uri="{FF2B5EF4-FFF2-40B4-BE49-F238E27FC236}">
                  <a16:creationId xmlns:a16="http://schemas.microsoft.com/office/drawing/2014/main" id="{DEC824BB-FB61-4F0E-BE07-073DC144F17C}"/>
                </a:ext>
              </a:extLst>
            </p:cNvPr>
            <p:cNvSpPr>
              <a:spLocks noChangeArrowheads="1"/>
            </p:cNvSpPr>
            <p:nvPr/>
          </p:nvSpPr>
          <p:spPr bwMode="auto">
            <a:xfrm rot="2933260">
              <a:off x="1590" y="3062"/>
              <a:ext cx="56" cy="100"/>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sp>
          <p:nvSpPr>
            <p:cNvPr id="42" name="Line 39">
              <a:extLst>
                <a:ext uri="{FF2B5EF4-FFF2-40B4-BE49-F238E27FC236}">
                  <a16:creationId xmlns:a16="http://schemas.microsoft.com/office/drawing/2014/main" id="{440CD16B-9DEC-4BB2-8A43-91EE038E8F90}"/>
                </a:ext>
              </a:extLst>
            </p:cNvPr>
            <p:cNvSpPr>
              <a:spLocks noChangeShapeType="1"/>
            </p:cNvSpPr>
            <p:nvPr/>
          </p:nvSpPr>
          <p:spPr bwMode="auto">
            <a:xfrm flipH="1" flipV="1">
              <a:off x="1568" y="2618"/>
              <a:ext cx="371" cy="7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sz="2400"/>
            </a:p>
          </p:txBody>
        </p:sp>
        <p:sp>
          <p:nvSpPr>
            <p:cNvPr id="43" name="AutoShape 40">
              <a:extLst>
                <a:ext uri="{FF2B5EF4-FFF2-40B4-BE49-F238E27FC236}">
                  <a16:creationId xmlns:a16="http://schemas.microsoft.com/office/drawing/2014/main" id="{C90F6457-E5BA-4B11-BD21-DA920A13D39A}"/>
                </a:ext>
              </a:extLst>
            </p:cNvPr>
            <p:cNvSpPr>
              <a:spLocks noChangeArrowheads="1"/>
            </p:cNvSpPr>
            <p:nvPr/>
          </p:nvSpPr>
          <p:spPr bwMode="auto">
            <a:xfrm rot="-1657483">
              <a:off x="1680" y="2830"/>
              <a:ext cx="56" cy="100"/>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2400"/>
            </a:p>
          </p:txBody>
        </p:sp>
      </p:grpSp>
      <p:sp>
        <p:nvSpPr>
          <p:cNvPr id="44" name="Text Box 43">
            <a:extLst>
              <a:ext uri="{FF2B5EF4-FFF2-40B4-BE49-F238E27FC236}">
                <a16:creationId xmlns:a16="http://schemas.microsoft.com/office/drawing/2014/main" id="{DA440E67-F197-4E31-879E-FFA72FC3D4ED}"/>
              </a:ext>
            </a:extLst>
          </p:cNvPr>
          <p:cNvSpPr txBox="1">
            <a:spLocks noChangeArrowheads="1"/>
          </p:cNvSpPr>
          <p:nvPr/>
        </p:nvSpPr>
        <p:spPr bwMode="auto">
          <a:xfrm>
            <a:off x="357946" y="1817652"/>
            <a:ext cx="7839075" cy="1125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altLang="en-US" sz="2400" dirty="0"/>
              <a:t>Eliminate all arrows whose existence is implied by the transitive property.</a:t>
            </a:r>
          </a:p>
        </p:txBody>
      </p:sp>
      <p:sp>
        <p:nvSpPr>
          <p:cNvPr id="45" name="Text Box 45">
            <a:extLst>
              <a:ext uri="{FF2B5EF4-FFF2-40B4-BE49-F238E27FC236}">
                <a16:creationId xmlns:a16="http://schemas.microsoft.com/office/drawing/2014/main" id="{3BA9CC44-D84E-45A2-8FB8-EFA05D0EB581}"/>
              </a:ext>
            </a:extLst>
          </p:cNvPr>
          <p:cNvSpPr txBox="1">
            <a:spLocks noChangeArrowheads="1"/>
          </p:cNvSpPr>
          <p:nvPr/>
        </p:nvSpPr>
        <p:spPr bwMode="auto">
          <a:xfrm>
            <a:off x="393290" y="3128947"/>
            <a:ext cx="78390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dirty="0"/>
              <a:t>Eliminate the direction indicators on the arrows.</a:t>
            </a:r>
          </a:p>
        </p:txBody>
      </p:sp>
    </p:spTree>
    <p:extLst>
      <p:ext uri="{BB962C8B-B14F-4D97-AF65-F5344CB8AC3E}">
        <p14:creationId xmlns:p14="http://schemas.microsoft.com/office/powerpoint/2010/main" val="1944738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15"/>
                                        </p:tgtEl>
                                        <p:attrNameLst>
                                          <p:attrName>ppt_x</p:attrName>
                                        </p:attrNameLst>
                                      </p:cBhvr>
                                      <p:tavLst>
                                        <p:tav tm="0">
                                          <p:val>
                                            <p:strVal val="ppt_x"/>
                                          </p:val>
                                        </p:tav>
                                        <p:tav tm="100000">
                                          <p:val>
                                            <p:strVal val="ppt_x"/>
                                          </p:val>
                                        </p:tav>
                                      </p:tavLst>
                                    </p:anim>
                                    <p:anim calcmode="lin" valueType="num">
                                      <p:cBhvr additive="base">
                                        <p:cTn id="7" dur="500"/>
                                        <p:tgtEl>
                                          <p:spTgt spid="15"/>
                                        </p:tgtEl>
                                        <p:attrNameLst>
                                          <p:attrName>ppt_y</p:attrName>
                                        </p:attrNameLst>
                                      </p:cBhvr>
                                      <p:tavLst>
                                        <p:tav tm="0">
                                          <p:val>
                                            <p:strVal val="ppt_y"/>
                                          </p:val>
                                        </p:tav>
                                        <p:tav tm="100000">
                                          <p:val>
                                            <p:strVal val="1+ppt_h/2"/>
                                          </p:val>
                                        </p:tav>
                                      </p:tavLst>
                                    </p:anim>
                                    <p:set>
                                      <p:cBhvr>
                                        <p:cTn id="8" dur="1" fill="hold">
                                          <p:stCondLst>
                                            <p:cond delay="499"/>
                                          </p:stCondLst>
                                        </p:cTn>
                                        <p:tgtEl>
                                          <p:spTgt spid="15"/>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44"/>
                                        </p:tgtEl>
                                        <p:attrNameLst>
                                          <p:attrName>style.visibility</p:attrName>
                                        </p:attrNameLst>
                                      </p:cBhvr>
                                      <p:to>
                                        <p:strVal val="visible"/>
                                      </p:to>
                                    </p:set>
                                    <p:animEffect transition="in" filter="blinds(horizontal)">
                                      <p:cBhvr>
                                        <p:cTn id="13" dur="500"/>
                                        <p:tgtEl>
                                          <p:spTgt spid="44"/>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xit" presetSubtype="4" fill="hold" nodeType="clickEffect">
                                  <p:stCondLst>
                                    <p:cond delay="0"/>
                                  </p:stCondLst>
                                  <p:childTnLst>
                                    <p:anim calcmode="lin" valueType="num">
                                      <p:cBhvr additive="base">
                                        <p:cTn id="17" dur="500"/>
                                        <p:tgtEl>
                                          <p:spTgt spid="37"/>
                                        </p:tgtEl>
                                        <p:attrNameLst>
                                          <p:attrName>ppt_x</p:attrName>
                                        </p:attrNameLst>
                                      </p:cBhvr>
                                      <p:tavLst>
                                        <p:tav tm="0">
                                          <p:val>
                                            <p:strVal val="ppt_x"/>
                                          </p:val>
                                        </p:tav>
                                        <p:tav tm="100000">
                                          <p:val>
                                            <p:strVal val="ppt_x"/>
                                          </p:val>
                                        </p:tav>
                                      </p:tavLst>
                                    </p:anim>
                                    <p:anim calcmode="lin" valueType="num">
                                      <p:cBhvr additive="base">
                                        <p:cTn id="18" dur="500"/>
                                        <p:tgtEl>
                                          <p:spTgt spid="37"/>
                                        </p:tgtEl>
                                        <p:attrNameLst>
                                          <p:attrName>ppt_y</p:attrName>
                                        </p:attrNameLst>
                                      </p:cBhvr>
                                      <p:tavLst>
                                        <p:tav tm="0">
                                          <p:val>
                                            <p:strVal val="ppt_y"/>
                                          </p:val>
                                        </p:tav>
                                        <p:tav tm="100000">
                                          <p:val>
                                            <p:strVal val="1+ppt_h/2"/>
                                          </p:val>
                                        </p:tav>
                                      </p:tavLst>
                                    </p:anim>
                                    <p:set>
                                      <p:cBhvr>
                                        <p:cTn id="19" dur="1" fill="hold">
                                          <p:stCondLst>
                                            <p:cond delay="499"/>
                                          </p:stCondLst>
                                        </p:cTn>
                                        <p:tgtEl>
                                          <p:spTgt spid="37"/>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45"/>
                                        </p:tgtEl>
                                        <p:attrNameLst>
                                          <p:attrName>style.visibility</p:attrName>
                                        </p:attrNameLst>
                                      </p:cBhvr>
                                      <p:to>
                                        <p:strVal val="visible"/>
                                      </p:to>
                                    </p:set>
                                    <p:animEffect transition="in" filter="blinds(horizontal)">
                                      <p:cBhvr>
                                        <p:cTn id="24" dur="500"/>
                                        <p:tgtEl>
                                          <p:spTgt spid="45"/>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xit" presetSubtype="4" fill="hold" nodeType="clickEffect">
                                  <p:stCondLst>
                                    <p:cond delay="0"/>
                                  </p:stCondLst>
                                  <p:childTnLst>
                                    <p:anim calcmode="lin" valueType="num">
                                      <p:cBhvr additive="base">
                                        <p:cTn id="28" dur="500"/>
                                        <p:tgtEl>
                                          <p:spTgt spid="31"/>
                                        </p:tgtEl>
                                        <p:attrNameLst>
                                          <p:attrName>ppt_x</p:attrName>
                                        </p:attrNameLst>
                                      </p:cBhvr>
                                      <p:tavLst>
                                        <p:tav tm="0">
                                          <p:val>
                                            <p:strVal val="ppt_x"/>
                                          </p:val>
                                        </p:tav>
                                        <p:tav tm="100000">
                                          <p:val>
                                            <p:strVal val="ppt_x"/>
                                          </p:val>
                                        </p:tav>
                                      </p:tavLst>
                                    </p:anim>
                                    <p:anim calcmode="lin" valueType="num">
                                      <p:cBhvr additive="base">
                                        <p:cTn id="29" dur="500"/>
                                        <p:tgtEl>
                                          <p:spTgt spid="31"/>
                                        </p:tgtEl>
                                        <p:attrNameLst>
                                          <p:attrName>ppt_y</p:attrName>
                                        </p:attrNameLst>
                                      </p:cBhvr>
                                      <p:tavLst>
                                        <p:tav tm="0">
                                          <p:val>
                                            <p:strVal val="ppt_y"/>
                                          </p:val>
                                        </p:tav>
                                        <p:tav tm="100000">
                                          <p:val>
                                            <p:strVal val="1+ppt_h/2"/>
                                          </p:val>
                                        </p:tav>
                                      </p:tavLst>
                                    </p:anim>
                                    <p:set>
                                      <p:cBhvr>
                                        <p:cTn id="30" dur="1" fill="hold">
                                          <p:stCondLst>
                                            <p:cond delay="499"/>
                                          </p:stCondLst>
                                        </p:cTn>
                                        <p:tgtEl>
                                          <p:spTgt spid="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64B3D-6A34-49A4-8F5E-BE325CA325A7}"/>
              </a:ext>
            </a:extLst>
          </p:cNvPr>
          <p:cNvSpPr>
            <a:spLocks noGrp="1"/>
          </p:cNvSpPr>
          <p:nvPr>
            <p:ph type="title"/>
          </p:nvPr>
        </p:nvSpPr>
        <p:spPr/>
        <p:txBody>
          <a:bodyPr/>
          <a:lstStyle/>
          <a:p>
            <a:r>
              <a:rPr lang="en-IN" dirty="0"/>
              <a:t>Hasse Diagrams – Example 2</a:t>
            </a:r>
          </a:p>
        </p:txBody>
      </p:sp>
      <p:sp>
        <p:nvSpPr>
          <p:cNvPr id="3" name="Content Placeholder 2">
            <a:extLst>
              <a:ext uri="{FF2B5EF4-FFF2-40B4-BE49-F238E27FC236}">
                <a16:creationId xmlns:a16="http://schemas.microsoft.com/office/drawing/2014/main" id="{84176FC8-2BBA-4DF6-8753-CAB1729FD60E}"/>
              </a:ext>
            </a:extLst>
          </p:cNvPr>
          <p:cNvSpPr>
            <a:spLocks noGrp="1"/>
          </p:cNvSpPr>
          <p:nvPr>
            <p:ph idx="1"/>
          </p:nvPr>
        </p:nvSpPr>
        <p:spPr>
          <a:xfrm>
            <a:off x="393290" y="1183384"/>
            <a:ext cx="8504904" cy="1311337"/>
          </a:xfrm>
        </p:spPr>
        <p:txBody>
          <a:bodyPr/>
          <a:lstStyle/>
          <a:p>
            <a:pPr marL="0" indent="0">
              <a:buNone/>
            </a:pPr>
            <a:r>
              <a:rPr lang="en-US" dirty="0"/>
              <a:t>Draw the Hasse diagram representing the partial ordering {(a, b) |a divides b} on {1, 2, 3, 4, 6, 8, 12}.</a:t>
            </a:r>
            <a:endParaRPr lang="en-IN" dirty="0"/>
          </a:p>
        </p:txBody>
      </p:sp>
      <p:pic>
        <p:nvPicPr>
          <p:cNvPr id="4" name="Picture 3">
            <a:extLst>
              <a:ext uri="{FF2B5EF4-FFF2-40B4-BE49-F238E27FC236}">
                <a16:creationId xmlns:a16="http://schemas.microsoft.com/office/drawing/2014/main" id="{199B949D-D29C-495E-A36D-07AC9968318A}"/>
              </a:ext>
            </a:extLst>
          </p:cNvPr>
          <p:cNvPicPr>
            <a:picLocks noChangeAspect="1"/>
          </p:cNvPicPr>
          <p:nvPr/>
        </p:nvPicPr>
        <p:blipFill>
          <a:blip r:embed="rId2"/>
          <a:stretch>
            <a:fillRect/>
          </a:stretch>
        </p:blipFill>
        <p:spPr>
          <a:xfrm>
            <a:off x="2792596" y="2598104"/>
            <a:ext cx="3558807" cy="3696523"/>
          </a:xfrm>
          <a:prstGeom prst="rect">
            <a:avLst/>
          </a:prstGeom>
          <a:ln>
            <a:solidFill>
              <a:srgbClr val="002060"/>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4398694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64B3D-6A34-49A4-8F5E-BE325CA325A7}"/>
              </a:ext>
            </a:extLst>
          </p:cNvPr>
          <p:cNvSpPr>
            <a:spLocks noGrp="1"/>
          </p:cNvSpPr>
          <p:nvPr>
            <p:ph type="title"/>
          </p:nvPr>
        </p:nvSpPr>
        <p:spPr/>
        <p:txBody>
          <a:bodyPr/>
          <a:lstStyle/>
          <a:p>
            <a:r>
              <a:rPr kumimoji="0" lang="en-IN" sz="36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Bahnschrift SemiBold"/>
                <a:ea typeface="+mj-ea"/>
                <a:cs typeface="+mj-cs"/>
              </a:rPr>
              <a:t>Hasse Diagrams – Example 2</a:t>
            </a:r>
            <a:endParaRPr lang="en-IN" sz="2400" dirty="0">
              <a:latin typeface="+mn-lt"/>
            </a:endParaRPr>
          </a:p>
        </p:txBody>
      </p:sp>
      <p:pic>
        <p:nvPicPr>
          <p:cNvPr id="4" name="Picture 3">
            <a:extLst>
              <a:ext uri="{FF2B5EF4-FFF2-40B4-BE49-F238E27FC236}">
                <a16:creationId xmlns:a16="http://schemas.microsoft.com/office/drawing/2014/main" id="{199B949D-D29C-495E-A36D-07AC9968318A}"/>
              </a:ext>
            </a:extLst>
          </p:cNvPr>
          <p:cNvPicPr>
            <a:picLocks noChangeAspect="1"/>
          </p:cNvPicPr>
          <p:nvPr/>
        </p:nvPicPr>
        <p:blipFill>
          <a:blip r:embed="rId2"/>
          <a:stretch>
            <a:fillRect/>
          </a:stretch>
        </p:blipFill>
        <p:spPr>
          <a:xfrm>
            <a:off x="1157006" y="2390868"/>
            <a:ext cx="3331018" cy="4132649"/>
          </a:xfrm>
          <a:prstGeom prst="rect">
            <a:avLst/>
          </a:prstGeom>
          <a:ln>
            <a:solidFill>
              <a:srgbClr val="002060"/>
            </a:solidFill>
          </a:ln>
          <a:effectLst>
            <a:outerShdw blurRad="63500" sx="102000" sy="102000" algn="ctr" rotWithShape="0">
              <a:prstClr val="black">
                <a:alpha val="40000"/>
              </a:prstClr>
            </a:outerShdw>
          </a:effectLst>
        </p:spPr>
      </p:pic>
      <p:pic>
        <p:nvPicPr>
          <p:cNvPr id="5" name="Picture 4">
            <a:extLst>
              <a:ext uri="{FF2B5EF4-FFF2-40B4-BE49-F238E27FC236}">
                <a16:creationId xmlns:a16="http://schemas.microsoft.com/office/drawing/2014/main" id="{D2FEBDBD-B3BD-4D9E-ADB4-F8F973A1C5E0}"/>
              </a:ext>
            </a:extLst>
          </p:cNvPr>
          <p:cNvPicPr>
            <a:picLocks noChangeAspect="1"/>
          </p:cNvPicPr>
          <p:nvPr/>
        </p:nvPicPr>
        <p:blipFill rotWithShape="1">
          <a:blip r:embed="rId3"/>
          <a:srcRect l="3157" t="4125" r="5856"/>
          <a:stretch/>
        </p:blipFill>
        <p:spPr>
          <a:xfrm>
            <a:off x="4916016" y="2316458"/>
            <a:ext cx="3248270" cy="4281468"/>
          </a:xfrm>
          <a:prstGeom prst="rect">
            <a:avLst/>
          </a:prstGeom>
          <a:ln>
            <a:solidFill>
              <a:srgbClr val="002060"/>
            </a:solidFill>
          </a:ln>
          <a:effectLst>
            <a:outerShdw blurRad="63500" sx="102000" sy="102000" algn="ctr" rotWithShape="0">
              <a:prstClr val="black">
                <a:alpha val="40000"/>
              </a:prstClr>
            </a:outerShdw>
          </a:effectLst>
        </p:spPr>
      </p:pic>
      <p:sp>
        <p:nvSpPr>
          <p:cNvPr id="10" name="TextBox 9">
            <a:extLst>
              <a:ext uri="{FF2B5EF4-FFF2-40B4-BE49-F238E27FC236}">
                <a16:creationId xmlns:a16="http://schemas.microsoft.com/office/drawing/2014/main" id="{C5FC0848-283D-4C78-8BA1-5169645E3505}"/>
              </a:ext>
            </a:extLst>
          </p:cNvPr>
          <p:cNvSpPr txBox="1"/>
          <p:nvPr/>
        </p:nvSpPr>
        <p:spPr>
          <a:xfrm>
            <a:off x="1292134" y="1184822"/>
            <a:ext cx="6391780" cy="461665"/>
          </a:xfrm>
          <a:prstGeom prst="rect">
            <a:avLst/>
          </a:prstGeom>
          <a:noFill/>
        </p:spPr>
        <p:txBody>
          <a:bodyPr wrap="square">
            <a:spAutoFit/>
          </a:bodyPr>
          <a:lstStyle/>
          <a:p>
            <a:pPr algn="ctr"/>
            <a:r>
              <a:rPr lang="en-IN" sz="2400" b="0" i="0" u="none" strike="noStrike" baseline="0" dirty="0"/>
              <a:t>Remove all </a:t>
            </a:r>
            <a:r>
              <a:rPr lang="en-US" sz="2400" b="0" i="0" u="none" strike="noStrike" baseline="0" dirty="0"/>
              <a:t>loops, as shown in Figure 3(b).</a:t>
            </a:r>
            <a:endParaRPr lang="en-IN" sz="2400" dirty="0"/>
          </a:p>
        </p:txBody>
      </p:sp>
      <p:sp>
        <p:nvSpPr>
          <p:cNvPr id="11" name="TextBox 10">
            <a:extLst>
              <a:ext uri="{FF2B5EF4-FFF2-40B4-BE49-F238E27FC236}">
                <a16:creationId xmlns:a16="http://schemas.microsoft.com/office/drawing/2014/main" id="{1DC18565-822E-4EB3-802D-5ECAFC96B7FB}"/>
              </a:ext>
            </a:extLst>
          </p:cNvPr>
          <p:cNvSpPr txBox="1"/>
          <p:nvPr/>
        </p:nvSpPr>
        <p:spPr>
          <a:xfrm>
            <a:off x="391633" y="1646487"/>
            <a:ext cx="8360734" cy="461665"/>
          </a:xfrm>
          <a:prstGeom prst="rect">
            <a:avLst/>
          </a:prstGeom>
          <a:noFill/>
        </p:spPr>
        <p:txBody>
          <a:bodyPr wrap="square">
            <a:spAutoFit/>
          </a:bodyPr>
          <a:lstStyle/>
          <a:p>
            <a:pPr algn="ctr"/>
            <a:r>
              <a:rPr lang="en-US" sz="2400" b="0" i="0" u="none" strike="noStrike" baseline="0" dirty="0"/>
              <a:t>Then delete all the edges implied by the transitive property.</a:t>
            </a:r>
            <a:endParaRPr lang="en-IN" sz="2400" dirty="0"/>
          </a:p>
        </p:txBody>
      </p:sp>
    </p:spTree>
    <p:extLst>
      <p:ext uri="{BB962C8B-B14F-4D97-AF65-F5344CB8AC3E}">
        <p14:creationId xmlns:p14="http://schemas.microsoft.com/office/powerpoint/2010/main" val="1265629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64B3D-6A34-49A4-8F5E-BE325CA325A7}"/>
              </a:ext>
            </a:extLst>
          </p:cNvPr>
          <p:cNvSpPr>
            <a:spLocks noGrp="1"/>
          </p:cNvSpPr>
          <p:nvPr>
            <p:ph type="title"/>
          </p:nvPr>
        </p:nvSpPr>
        <p:spPr/>
        <p:txBody>
          <a:bodyPr/>
          <a:lstStyle/>
          <a:p>
            <a:r>
              <a:rPr kumimoji="0" lang="en-IN" sz="36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Bahnschrift SemiBold"/>
                <a:ea typeface="+mj-ea"/>
                <a:cs typeface="+mj-cs"/>
              </a:rPr>
              <a:t>Hasse Diagrams – Example 2</a:t>
            </a:r>
            <a:endParaRPr lang="en-IN" sz="2400" dirty="0">
              <a:latin typeface="+mn-lt"/>
            </a:endParaRPr>
          </a:p>
        </p:txBody>
      </p:sp>
      <p:pic>
        <p:nvPicPr>
          <p:cNvPr id="5" name="Picture 4">
            <a:extLst>
              <a:ext uri="{FF2B5EF4-FFF2-40B4-BE49-F238E27FC236}">
                <a16:creationId xmlns:a16="http://schemas.microsoft.com/office/drawing/2014/main" id="{D2FEBDBD-B3BD-4D9E-ADB4-F8F973A1C5E0}"/>
              </a:ext>
            </a:extLst>
          </p:cNvPr>
          <p:cNvPicPr>
            <a:picLocks noChangeAspect="1"/>
          </p:cNvPicPr>
          <p:nvPr/>
        </p:nvPicPr>
        <p:blipFill rotWithShape="1">
          <a:blip r:embed="rId2"/>
          <a:srcRect l="3157" t="4125" r="5856"/>
          <a:stretch/>
        </p:blipFill>
        <p:spPr>
          <a:xfrm>
            <a:off x="1218256" y="2857097"/>
            <a:ext cx="3129101" cy="3713277"/>
          </a:xfrm>
          <a:prstGeom prst="rect">
            <a:avLst/>
          </a:prstGeom>
          <a:ln>
            <a:solidFill>
              <a:srgbClr val="002060"/>
            </a:solidFill>
          </a:ln>
          <a:effectLst>
            <a:outerShdw blurRad="63500" sx="102000" sy="102000" algn="ctr" rotWithShape="0">
              <a:prstClr val="black">
                <a:alpha val="40000"/>
              </a:prstClr>
            </a:outerShdw>
          </a:effectLst>
        </p:spPr>
      </p:pic>
      <p:pic>
        <p:nvPicPr>
          <p:cNvPr id="8" name="Picture 7">
            <a:extLst>
              <a:ext uri="{FF2B5EF4-FFF2-40B4-BE49-F238E27FC236}">
                <a16:creationId xmlns:a16="http://schemas.microsoft.com/office/drawing/2014/main" id="{3007231C-69DA-46DE-980A-41874F5C7A4E}"/>
              </a:ext>
            </a:extLst>
          </p:cNvPr>
          <p:cNvPicPr>
            <a:picLocks noChangeAspect="1"/>
          </p:cNvPicPr>
          <p:nvPr/>
        </p:nvPicPr>
        <p:blipFill rotWithShape="1">
          <a:blip r:embed="rId3"/>
          <a:srcRect r="8452"/>
          <a:stretch/>
        </p:blipFill>
        <p:spPr>
          <a:xfrm>
            <a:off x="4951106" y="2857097"/>
            <a:ext cx="2718657" cy="3713277"/>
          </a:xfrm>
          <a:prstGeom prst="rect">
            <a:avLst/>
          </a:prstGeom>
          <a:ln>
            <a:solidFill>
              <a:srgbClr val="002060"/>
            </a:solidFill>
          </a:ln>
          <a:effectLst>
            <a:outerShdw blurRad="63500" sx="102000" sy="102000" algn="ctr" rotWithShape="0">
              <a:prstClr val="black">
                <a:alpha val="40000"/>
              </a:prstClr>
            </a:outerShdw>
          </a:effectLst>
        </p:spPr>
      </p:pic>
      <p:sp>
        <p:nvSpPr>
          <p:cNvPr id="9" name="TextBox 8">
            <a:extLst>
              <a:ext uri="{FF2B5EF4-FFF2-40B4-BE49-F238E27FC236}">
                <a16:creationId xmlns:a16="http://schemas.microsoft.com/office/drawing/2014/main" id="{50F3BC76-D5E4-40A9-969D-3F2277071C0E}"/>
              </a:ext>
            </a:extLst>
          </p:cNvPr>
          <p:cNvSpPr txBox="1"/>
          <p:nvPr/>
        </p:nvSpPr>
        <p:spPr>
          <a:xfrm>
            <a:off x="461865" y="1105068"/>
            <a:ext cx="8038322" cy="1125244"/>
          </a:xfrm>
          <a:prstGeom prst="rect">
            <a:avLst/>
          </a:prstGeom>
          <a:noFill/>
        </p:spPr>
        <p:txBody>
          <a:bodyPr wrap="square">
            <a:spAutoFit/>
          </a:bodyPr>
          <a:lstStyle/>
          <a:p>
            <a:pPr algn="just">
              <a:lnSpc>
                <a:spcPct val="150000"/>
              </a:lnSpc>
            </a:pPr>
            <a:r>
              <a:rPr lang="en-US" sz="2400" b="0" i="0" u="none" strike="noStrike" baseline="0" dirty="0"/>
              <a:t>Arrange all edges to point upward, and delete all arrows </a:t>
            </a:r>
            <a:br>
              <a:rPr lang="en-US" sz="2400" b="0" i="0" u="none" strike="noStrike" baseline="0" dirty="0"/>
            </a:br>
            <a:r>
              <a:rPr lang="en-US" sz="2400" b="0" i="0" u="none" strike="noStrike" baseline="0" dirty="0"/>
              <a:t>to obtain the Hasse diagram.</a:t>
            </a:r>
            <a:endParaRPr lang="en-IN" sz="2400" dirty="0"/>
          </a:p>
        </p:txBody>
      </p:sp>
      <p:sp>
        <p:nvSpPr>
          <p:cNvPr id="10" name="TextBox 9">
            <a:extLst>
              <a:ext uri="{FF2B5EF4-FFF2-40B4-BE49-F238E27FC236}">
                <a16:creationId xmlns:a16="http://schemas.microsoft.com/office/drawing/2014/main" id="{A7D0C5B8-92A2-4B21-875B-8103A2BF024C}"/>
              </a:ext>
            </a:extLst>
          </p:cNvPr>
          <p:cNvSpPr txBox="1"/>
          <p:nvPr/>
        </p:nvSpPr>
        <p:spPr>
          <a:xfrm>
            <a:off x="461865" y="2230312"/>
            <a:ext cx="7969898" cy="461665"/>
          </a:xfrm>
          <a:prstGeom prst="rect">
            <a:avLst/>
          </a:prstGeom>
          <a:noFill/>
        </p:spPr>
        <p:txBody>
          <a:bodyPr wrap="square">
            <a:spAutoFit/>
          </a:bodyPr>
          <a:lstStyle/>
          <a:p>
            <a:pPr algn="just"/>
            <a:r>
              <a:rPr lang="en-US" sz="2400" b="0" i="0" u="none" strike="noStrike" baseline="0" dirty="0"/>
              <a:t>The resulting Hasse diagram is shown </a:t>
            </a:r>
            <a:r>
              <a:rPr lang="en-IN" sz="2400" b="0" i="0" u="none" strike="noStrike" baseline="0" dirty="0"/>
              <a:t>in Figure 3(c).</a:t>
            </a:r>
            <a:endParaRPr lang="en-IN" sz="2400" dirty="0"/>
          </a:p>
        </p:txBody>
      </p:sp>
    </p:spTree>
    <p:extLst>
      <p:ext uri="{BB962C8B-B14F-4D97-AF65-F5344CB8AC3E}">
        <p14:creationId xmlns:p14="http://schemas.microsoft.com/office/powerpoint/2010/main" val="739822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9B405-9CE2-43ED-B7A2-466783F47589}"/>
              </a:ext>
            </a:extLst>
          </p:cNvPr>
          <p:cNvSpPr>
            <a:spLocks noGrp="1"/>
          </p:cNvSpPr>
          <p:nvPr>
            <p:ph type="title"/>
          </p:nvPr>
        </p:nvSpPr>
        <p:spPr/>
        <p:txBody>
          <a:bodyPr/>
          <a:lstStyle/>
          <a:p>
            <a:r>
              <a:rPr lang="en-IN" dirty="0"/>
              <a:t>Hasse Diagrams – Example 3</a:t>
            </a:r>
          </a:p>
        </p:txBody>
      </p:sp>
      <p:sp>
        <p:nvSpPr>
          <p:cNvPr id="3" name="Content Placeholder 2">
            <a:extLst>
              <a:ext uri="{FF2B5EF4-FFF2-40B4-BE49-F238E27FC236}">
                <a16:creationId xmlns:a16="http://schemas.microsoft.com/office/drawing/2014/main" id="{894528D2-CF5A-4607-8126-8174CE63A419}"/>
              </a:ext>
            </a:extLst>
          </p:cNvPr>
          <p:cNvSpPr>
            <a:spLocks noGrp="1"/>
          </p:cNvSpPr>
          <p:nvPr>
            <p:ph idx="1"/>
          </p:nvPr>
        </p:nvSpPr>
        <p:spPr/>
        <p:txBody>
          <a:bodyPr/>
          <a:lstStyle/>
          <a:p>
            <a:pPr marL="0" indent="0">
              <a:buNone/>
            </a:pPr>
            <a:r>
              <a:rPr lang="en-US" dirty="0"/>
              <a:t>Draw the Hasse diagram for inclusion on the set P(S), where S = {a, b, c}. </a:t>
            </a:r>
          </a:p>
          <a:p>
            <a:pPr marL="0" indent="0">
              <a:buNone/>
            </a:pPr>
            <a:endParaRPr lang="en-US" dirty="0"/>
          </a:p>
          <a:p>
            <a:pPr marL="0" indent="0">
              <a:buNone/>
            </a:pPr>
            <a:r>
              <a:rPr lang="en-US" dirty="0"/>
              <a:t>P(S)={</a:t>
            </a:r>
            <a:r>
              <a:rPr lang="en-IN" dirty="0"/>
              <a:t>∅, {a}, {b}, {c}, {a, b}, {a, c}, {b, c}, {a, b, c}}</a:t>
            </a:r>
          </a:p>
        </p:txBody>
      </p:sp>
    </p:spTree>
    <p:extLst>
      <p:ext uri="{BB962C8B-B14F-4D97-AF65-F5344CB8AC3E}">
        <p14:creationId xmlns:p14="http://schemas.microsoft.com/office/powerpoint/2010/main" val="22455860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9B405-9CE2-43ED-B7A2-466783F47589}"/>
              </a:ext>
            </a:extLst>
          </p:cNvPr>
          <p:cNvSpPr>
            <a:spLocks noGrp="1"/>
          </p:cNvSpPr>
          <p:nvPr>
            <p:ph type="title"/>
          </p:nvPr>
        </p:nvSpPr>
        <p:spPr/>
        <p:txBody>
          <a:bodyPr/>
          <a:lstStyle/>
          <a:p>
            <a:r>
              <a:rPr lang="en-IN" dirty="0"/>
              <a:t>Hasse Diagrams – Example 3</a:t>
            </a:r>
          </a:p>
        </p:txBody>
      </p:sp>
      <p:sp>
        <p:nvSpPr>
          <p:cNvPr id="3" name="Content Placeholder 2">
            <a:extLst>
              <a:ext uri="{FF2B5EF4-FFF2-40B4-BE49-F238E27FC236}">
                <a16:creationId xmlns:a16="http://schemas.microsoft.com/office/drawing/2014/main" id="{894528D2-CF5A-4607-8126-8174CE63A419}"/>
              </a:ext>
            </a:extLst>
          </p:cNvPr>
          <p:cNvSpPr>
            <a:spLocks noGrp="1"/>
          </p:cNvSpPr>
          <p:nvPr>
            <p:ph idx="1"/>
          </p:nvPr>
        </p:nvSpPr>
        <p:spPr/>
        <p:txBody>
          <a:bodyPr/>
          <a:lstStyle/>
          <a:p>
            <a:pPr marL="0" indent="0">
              <a:buNone/>
            </a:pPr>
            <a:r>
              <a:rPr lang="en-US" dirty="0"/>
              <a:t>The Hasse Diagram of (P ({a, b, c}),⊆) is given below.</a:t>
            </a:r>
            <a:endParaRPr lang="en-IN" dirty="0"/>
          </a:p>
        </p:txBody>
      </p:sp>
      <p:pic>
        <p:nvPicPr>
          <p:cNvPr id="5" name="Picture 4">
            <a:extLst>
              <a:ext uri="{FF2B5EF4-FFF2-40B4-BE49-F238E27FC236}">
                <a16:creationId xmlns:a16="http://schemas.microsoft.com/office/drawing/2014/main" id="{A8497B01-A356-4BE4-B58C-986E02A3ACE8}"/>
              </a:ext>
            </a:extLst>
          </p:cNvPr>
          <p:cNvPicPr>
            <a:picLocks noChangeAspect="1"/>
          </p:cNvPicPr>
          <p:nvPr/>
        </p:nvPicPr>
        <p:blipFill rotWithShape="1">
          <a:blip r:embed="rId2"/>
          <a:srcRect l="5944" t="3992"/>
          <a:stretch/>
        </p:blipFill>
        <p:spPr>
          <a:xfrm>
            <a:off x="2556165" y="2388636"/>
            <a:ext cx="4031670" cy="3797761"/>
          </a:xfrm>
          <a:prstGeom prst="rect">
            <a:avLst/>
          </a:prstGeom>
          <a:ln>
            <a:solidFill>
              <a:srgbClr val="002060"/>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078157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81241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MyFont">
      <a:majorFont>
        <a:latin typeface="Bahnschrift SemiBold"/>
        <a:ea typeface=""/>
        <a:cs typeface=""/>
      </a:majorFont>
      <a:minorFont>
        <a:latin typeface="Bahnschrif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5400</TotalTime>
  <Words>774</Words>
  <Application>Microsoft Office PowerPoint</Application>
  <PresentationFormat>On-screen Show (4:3)</PresentationFormat>
  <Paragraphs>83</Paragraphs>
  <Slides>21</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29" baseType="lpstr">
      <vt:lpstr>Arial</vt:lpstr>
      <vt:lpstr>Arial</vt:lpstr>
      <vt:lpstr>Bahnschrift</vt:lpstr>
      <vt:lpstr>Bahnschrift SemiBold</vt:lpstr>
      <vt:lpstr>Calibri</vt:lpstr>
      <vt:lpstr>Times New Roman</vt:lpstr>
      <vt:lpstr>Office Theme</vt:lpstr>
      <vt:lpstr>Equation</vt:lpstr>
      <vt:lpstr>EMTH403</vt:lpstr>
      <vt:lpstr>Lecture Outcomes</vt:lpstr>
      <vt:lpstr>Representing Relations Using Digraphs</vt:lpstr>
      <vt:lpstr>Representing Relations Using Digraphs</vt:lpstr>
      <vt:lpstr>Representing Relations Using Digraphs</vt:lpstr>
      <vt:lpstr>Representing Relations Using Digraphs</vt:lpstr>
      <vt:lpstr>Representing Relations Using Digraphs</vt:lpstr>
      <vt:lpstr>Representing Relations Using Digraphs</vt:lpstr>
      <vt:lpstr>Representing Relations Using Digraphs</vt:lpstr>
      <vt:lpstr>Representing Relations Using Digraphs</vt:lpstr>
      <vt:lpstr>Representing Relations Using Digraphs</vt:lpstr>
      <vt:lpstr>Hasse Diagrams</vt:lpstr>
      <vt:lpstr>Hasse Diagrams</vt:lpstr>
      <vt:lpstr>Hasse Diagrams – Example 1</vt:lpstr>
      <vt:lpstr>Hasse Diagrams – Example 1</vt:lpstr>
      <vt:lpstr>Hasse Diagrams – Example 2</vt:lpstr>
      <vt:lpstr>Hasse Diagrams – Example 2</vt:lpstr>
      <vt:lpstr>Hasse Diagrams – Example 2</vt:lpstr>
      <vt:lpstr>Hasse Diagrams – Example 3</vt:lpstr>
      <vt:lpstr>Hasse Diagrams – Example 3</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Nitin Mishra</dc:creator>
  <cp:lastModifiedBy>video recording 1</cp:lastModifiedBy>
  <cp:revision>755</cp:revision>
  <dcterms:created xsi:type="dcterms:W3CDTF">2020-12-04T05:20:56Z</dcterms:created>
  <dcterms:modified xsi:type="dcterms:W3CDTF">2020-12-20T11:54:17Z</dcterms:modified>
</cp:coreProperties>
</file>