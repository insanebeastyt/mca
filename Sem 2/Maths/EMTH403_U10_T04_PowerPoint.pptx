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310" r:id="rId4"/>
    <p:sldId id="309" r:id="rId5"/>
    <p:sldId id="311" r:id="rId6"/>
    <p:sldId id="312" r:id="rId7"/>
    <p:sldId id="313" r:id="rId8"/>
    <p:sldId id="315" r:id="rId9"/>
    <p:sldId id="314" r:id="rId10"/>
    <p:sldId id="316" r:id="rId11"/>
    <p:sldId id="317" r:id="rId12"/>
    <p:sldId id="318" r:id="rId13"/>
    <p:sldId id="321" r:id="rId14"/>
    <p:sldId id="322" r:id="rId15"/>
    <p:sldId id="323" r:id="rId16"/>
    <p:sldId id="324" r:id="rId17"/>
    <p:sldId id="333" r:id="rId18"/>
    <p:sldId id="334" r:id="rId19"/>
    <p:sldId id="319" r:id="rId20"/>
    <p:sldId id="332" r:id="rId21"/>
    <p:sldId id="259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3A8035-ECEF-47C4-90A1-0C3215DAC7C2}">
          <p14:sldIdLst>
            <p14:sldId id="256"/>
            <p14:sldId id="257"/>
            <p14:sldId id="310"/>
            <p14:sldId id="309"/>
            <p14:sldId id="311"/>
            <p14:sldId id="312"/>
            <p14:sldId id="313"/>
            <p14:sldId id="315"/>
            <p14:sldId id="314"/>
            <p14:sldId id="316"/>
            <p14:sldId id="317"/>
            <p14:sldId id="318"/>
            <p14:sldId id="321"/>
            <p14:sldId id="322"/>
            <p14:sldId id="323"/>
            <p14:sldId id="324"/>
            <p14:sldId id="333"/>
            <p14:sldId id="334"/>
            <p14:sldId id="319"/>
            <p14:sldId id="332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6CC"/>
    <a:srgbClr val="BA202B"/>
    <a:srgbClr val="4472C4"/>
    <a:srgbClr val="DDDDDD"/>
    <a:srgbClr val="BBBBBB"/>
    <a:srgbClr val="00A2B8"/>
    <a:srgbClr val="00B451"/>
    <a:srgbClr val="CA628C"/>
    <a:srgbClr val="71EEFF"/>
    <a:srgbClr val="89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4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88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218DD-E614-4E73-B564-F8E0717E8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14C21-F88B-4739-8F26-AA4DEEB64F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DE57-39A0-4263-A76B-22C3CE26C8E2}" type="datetimeFigureOut">
              <a:rPr lang="en-IN" smtClean="0"/>
              <a:t>23-01-2021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35058-CB50-45CA-B183-2892DE4A3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2E93-0834-4027-BDF9-2CBEA15477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E93A7-2C4F-4D32-8895-81F23FF37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65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08F98-5817-4768-91E0-7435FEF7FFA1}" type="datetimeFigureOut">
              <a:rPr lang="en-IN" smtClean="0"/>
              <a:t>23-01-2021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C79E5-282A-4490-B8CC-DC7602F73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60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2478E-B0D0-4983-A2EC-2C070D46F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8813" y="1011007"/>
            <a:ext cx="4186084" cy="1001405"/>
          </a:xfrm>
        </p:spPr>
        <p:txBody>
          <a:bodyPr anchor="b">
            <a:noAutofit/>
          </a:bodyPr>
          <a:lstStyle>
            <a:lvl1pPr algn="r">
              <a:defRPr sz="7500">
                <a:ln>
                  <a:solidFill>
                    <a:srgbClr val="BA202B"/>
                  </a:solidFill>
                </a:ln>
                <a:solidFill>
                  <a:srgbClr val="CA6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EMTH403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8813" y="2012412"/>
            <a:ext cx="4186083" cy="838943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Mathematical Foundation for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A5137-F38E-416C-BA01-890D57CBC895}"/>
              </a:ext>
            </a:extLst>
          </p:cNvPr>
          <p:cNvSpPr txBox="1"/>
          <p:nvPr userDrawn="1"/>
        </p:nvSpPr>
        <p:spPr>
          <a:xfrm>
            <a:off x="5369878" y="3852760"/>
            <a:ext cx="35750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700" strike="noStrike" dirty="0">
                <a:solidFill>
                  <a:srgbClr val="BA202B"/>
                </a:solidFill>
                <a:effectLst/>
              </a:rPr>
              <a:t>Nitin K. Mishra (Ph.D.)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07290-3460-4AC4-ABC8-F072BD3D73E5}"/>
              </a:ext>
            </a:extLst>
          </p:cNvPr>
          <p:cNvSpPr txBox="1"/>
          <p:nvPr userDrawn="1"/>
        </p:nvSpPr>
        <p:spPr>
          <a:xfrm>
            <a:off x="5525729" y="4314425"/>
            <a:ext cx="34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Associate Professor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C86BC-E539-4EC2-9687-C9BAFAAFC1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805586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12CEEC-655E-468A-942D-1D746D274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360591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8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-1"/>
            <a:ext cx="9144000" cy="2113936"/>
          </a:xfrm>
          <a:prstGeom prst="rect">
            <a:avLst/>
          </a:prstGeom>
          <a:gradFill flip="none" rotWithShape="1">
            <a:gsLst>
              <a:gs pos="78000">
                <a:schemeClr val="accent3">
                  <a:lumMod val="0"/>
                  <a:lumOff val="100000"/>
                </a:schemeClr>
              </a:gs>
              <a:gs pos="45000">
                <a:srgbClr val="00A2B8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290" y="0"/>
            <a:ext cx="5191433" cy="211393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Lecture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buClr>
                <a:srgbClr val="00A2B8"/>
              </a:buClr>
              <a:defRPr sz="2800"/>
            </a:lvl2pPr>
            <a:lvl3pPr>
              <a:buClr>
                <a:srgbClr val="00A2B8"/>
              </a:buClr>
              <a:defRPr/>
            </a:lvl3pPr>
            <a:lvl4pPr>
              <a:buClr>
                <a:srgbClr val="00A2B8"/>
              </a:buClr>
              <a:defRPr/>
            </a:lvl4pPr>
            <a:lvl5pPr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pic>
        <p:nvPicPr>
          <p:cNvPr id="11" name="Graphic 10" descr="Target">
            <a:extLst>
              <a:ext uri="{FF2B5EF4-FFF2-40B4-BE49-F238E27FC236}">
                <a16:creationId xmlns:a16="http://schemas.microsoft.com/office/drawing/2014/main" id="{8709446A-BD58-42FE-8058-90C6B7244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6708" y="98321"/>
            <a:ext cx="1917292" cy="19172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377C6D-0C30-48F0-89AC-23D3E98F9A33}"/>
              </a:ext>
            </a:extLst>
          </p:cNvPr>
          <p:cNvSpPr txBox="1"/>
          <p:nvPr userDrawn="1"/>
        </p:nvSpPr>
        <p:spPr>
          <a:xfrm>
            <a:off x="393290" y="2298413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6461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1E1C-13AA-4430-B0AB-E932AEDB367A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252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D22A-9F0E-4024-A4A6-FCCE6CB60E86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40265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23-01-2021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23-01-2021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8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23-01-2021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23-01-2021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23-01-2021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FF5F-8082-499F-9B42-B9953F7F83AE}"/>
              </a:ext>
            </a:extLst>
          </p:cNvPr>
          <p:cNvSpPr txBox="1"/>
          <p:nvPr userDrawn="1"/>
        </p:nvSpPr>
        <p:spPr>
          <a:xfrm>
            <a:off x="1620711" y="2869012"/>
            <a:ext cx="5902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rgbClr val="00A2B8"/>
                </a:solidFill>
                <a:effectLst/>
              </a:rPr>
              <a:t>That’s all for now…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6A0C7-0E66-445E-9D28-DB789C63D202}"/>
              </a:ext>
            </a:extLst>
          </p:cNvPr>
          <p:cNvCxnSpPr>
            <a:cxnSpLocks/>
          </p:cNvCxnSpPr>
          <p:nvPr userDrawn="1"/>
        </p:nvCxnSpPr>
        <p:spPr>
          <a:xfrm>
            <a:off x="1720645" y="3654690"/>
            <a:ext cx="5624052" cy="0"/>
          </a:xfrm>
          <a:prstGeom prst="line">
            <a:avLst/>
          </a:prstGeom>
          <a:ln w="31750">
            <a:solidFill>
              <a:srgbClr val="CA62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23-01-2021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1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23-01-2021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9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23-01-2021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23-01-2021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76987-CD5A-4B0D-82F1-8DDC56102557}" type="datetimeFigureOut">
              <a:rPr lang="en-IN" smtClean="0"/>
              <a:t>23-01-2021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1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3" r:id="rId10"/>
    <p:sldLayoutId id="2147483668" r:id="rId11"/>
    <p:sldLayoutId id="2147483669" r:id="rId12"/>
    <p:sldLayoutId id="2147483670" r:id="rId13"/>
    <p:sldLayoutId id="2147483671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31A-26EC-4882-9FB2-E3790927B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EMTH403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FDE88-E809-4B0D-A49D-23F92304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Mathematical Foundation for Computer Science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0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CB-91D8-4BF1-84BC-BE57F146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2320-2170-46A9-8662-1BF0938F2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/>
          <a:p>
            <a:r>
              <a:rPr lang="en-US" dirty="0"/>
              <a:t>understand what are Planar Graphs</a:t>
            </a:r>
          </a:p>
          <a:p>
            <a:r>
              <a:rPr lang="en-US" dirty="0"/>
              <a:t>understand what is Euler’s Formulae and how K</a:t>
            </a:r>
            <a:r>
              <a:rPr lang="en-US" baseline="-25000" dirty="0"/>
              <a:t>3,3</a:t>
            </a:r>
            <a:r>
              <a:rPr lang="en-US" dirty="0"/>
              <a:t> is a non-planar Graph.</a:t>
            </a:r>
          </a:p>
        </p:txBody>
      </p:sp>
    </p:spTree>
    <p:extLst>
      <p:ext uri="{BB962C8B-B14F-4D97-AF65-F5344CB8AC3E}">
        <p14:creationId xmlns:p14="http://schemas.microsoft.com/office/powerpoint/2010/main" val="19984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Theorem 1 (</a:t>
            </a:r>
            <a:r>
              <a:rPr lang="en-IN" dirty="0" err="1"/>
              <a:t>Kuratowski</a:t>
            </a:r>
            <a:r>
              <a:rPr lang="en-IN" dirty="0"/>
              <a:t>, 1930)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E8DEA39-6FE8-4BE2-8629-7507CA2CD22A}"/>
              </a:ext>
            </a:extLst>
          </p:cNvPr>
          <p:cNvSpPr txBox="1">
            <a:spLocks noChangeArrowheads="1"/>
          </p:cNvSpPr>
          <p:nvPr/>
        </p:nvSpPr>
        <p:spPr>
          <a:xfrm>
            <a:off x="334618" y="1371600"/>
            <a:ext cx="8382000" cy="144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A graph is planar if and only if it does not contain a subgraph that is a K</a:t>
            </a:r>
            <a:r>
              <a:rPr lang="en-US" altLang="en-US" baseline="-25000" dirty="0">
                <a:cs typeface="Times New Roman" panose="02020603050405020304" pitchFamily="18" charset="0"/>
              </a:rPr>
              <a:t>5</a:t>
            </a:r>
            <a:r>
              <a:rPr lang="en-US" altLang="en-US" dirty="0">
                <a:cs typeface="Times New Roman" panose="02020603050405020304" pitchFamily="18" charset="0"/>
              </a:rPr>
              <a:t> or K</a:t>
            </a:r>
            <a:r>
              <a:rPr lang="en-US" altLang="en-US" baseline="-25000" dirty="0">
                <a:cs typeface="Times New Roman" panose="02020603050405020304" pitchFamily="18" charset="0"/>
              </a:rPr>
              <a:t>3,3</a:t>
            </a:r>
            <a:r>
              <a:rPr lang="en-US" altLang="en-US" dirty="0">
                <a:cs typeface="Times New Roman" panose="02020603050405020304" pitchFamily="18" charset="0"/>
              </a:rPr>
              <a:t>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3319196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Planar Graphs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E8DEA39-6FE8-4BE2-8629-7507CA2CD22A}"/>
              </a:ext>
            </a:extLst>
          </p:cNvPr>
          <p:cNvSpPr txBox="1">
            <a:spLocks noChangeArrowheads="1"/>
          </p:cNvSpPr>
          <p:nvPr/>
        </p:nvSpPr>
        <p:spPr>
          <a:xfrm>
            <a:off x="281988" y="1177745"/>
            <a:ext cx="8382000" cy="1876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None/>
            </a:pPr>
            <a:r>
              <a:rPr lang="en-US" altLang="en-US" sz="2400" dirty="0"/>
              <a:t>Determine whether the given graph is planar. If so, draw it so that no edges cross.</a:t>
            </a:r>
          </a:p>
          <a:p>
            <a:pPr>
              <a:lnSpc>
                <a:spcPct val="160000"/>
              </a:lnSpc>
            </a:pPr>
            <a:r>
              <a:rPr lang="en-US" sz="2400" dirty="0"/>
              <a:t>This is K </a:t>
            </a:r>
            <a:r>
              <a:rPr lang="en-US" sz="2400" baseline="-25000" dirty="0"/>
              <a:t>3 ,3</a:t>
            </a:r>
            <a:r>
              <a:rPr lang="en-US" sz="2400" dirty="0"/>
              <a:t> , with parts </a:t>
            </a:r>
            <a:r>
              <a:rPr lang="en-US" sz="2400" i="1" dirty="0"/>
              <a:t>{a, d, </a:t>
            </a:r>
            <a:r>
              <a:rPr lang="en-US" sz="2400" dirty="0"/>
              <a:t>f} and </a:t>
            </a:r>
            <a:r>
              <a:rPr lang="en-US" sz="2400" i="1" dirty="0"/>
              <a:t>{b, c, </a:t>
            </a:r>
            <a:r>
              <a:rPr lang="en-US" sz="2400" dirty="0"/>
              <a:t>e}.  Therefore it is not planar.</a:t>
            </a:r>
            <a:endParaRPr lang="en-US" altLang="en-US" sz="2400" dirty="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860C0E5B-B476-4AFC-A517-296A3C364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4764" y="6081463"/>
            <a:ext cx="990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3200" dirty="0">
                <a:latin typeface="Times New Roman" panose="02020603050405020304" pitchFamily="18" charset="0"/>
              </a:rPr>
              <a:t>K</a:t>
            </a:r>
            <a:r>
              <a:rPr lang="en-US" altLang="en-US" sz="3200" baseline="-25000" dirty="0">
                <a:latin typeface="Times New Roman" panose="02020603050405020304" pitchFamily="18" charset="0"/>
              </a:rPr>
              <a:t>3,3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8ABD42D-0D94-4418-99DF-6BA18C77F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88" y="3172228"/>
            <a:ext cx="2662177" cy="3019245"/>
          </a:xfrm>
          <a:prstGeom prst="rect">
            <a:avLst/>
          </a:prstGeom>
        </p:spPr>
      </p:pic>
      <p:grpSp>
        <p:nvGrpSpPr>
          <p:cNvPr id="22" name="Group 5">
            <a:extLst>
              <a:ext uri="{FF2B5EF4-FFF2-40B4-BE49-F238E27FC236}">
                <a16:creationId xmlns:a16="http://schemas.microsoft.com/office/drawing/2014/main" id="{3F689EA3-537F-4EB4-A8A0-C32566D49C11}"/>
              </a:ext>
            </a:extLst>
          </p:cNvPr>
          <p:cNvGrpSpPr>
            <a:grpSpLocks/>
          </p:cNvGrpSpPr>
          <p:nvPr/>
        </p:nvGrpSpPr>
        <p:grpSpPr bwMode="auto">
          <a:xfrm>
            <a:off x="3468191" y="3009889"/>
            <a:ext cx="4724400" cy="3124200"/>
            <a:chOff x="2198" y="3014"/>
            <a:chExt cx="1371" cy="863"/>
          </a:xfrm>
        </p:grpSpPr>
        <p:sp>
          <p:nvSpPr>
            <p:cNvPr id="23" name="Oval 6">
              <a:extLst>
                <a:ext uri="{FF2B5EF4-FFF2-40B4-BE49-F238E27FC236}">
                  <a16:creationId xmlns:a16="http://schemas.microsoft.com/office/drawing/2014/main" id="{6E6D8E7F-D2BE-4A68-B5EC-97BC0DEFDE5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98" y="3014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4" name="Line 7">
              <a:extLst>
                <a:ext uri="{FF2B5EF4-FFF2-40B4-BE49-F238E27FC236}">
                  <a16:creationId xmlns:a16="http://schemas.microsoft.com/office/drawing/2014/main" id="{6A77E41E-FA04-4883-940E-5973DEBED4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9" y="3041"/>
              <a:ext cx="0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" name="Line 8">
              <a:extLst>
                <a:ext uri="{FF2B5EF4-FFF2-40B4-BE49-F238E27FC236}">
                  <a16:creationId xmlns:a16="http://schemas.microsoft.com/office/drawing/2014/main" id="{144C53B1-C0E4-4DCB-8B61-47D8E6320D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1" y="3041"/>
              <a:ext cx="0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" name="Line 9">
              <a:extLst>
                <a:ext uri="{FF2B5EF4-FFF2-40B4-BE49-F238E27FC236}">
                  <a16:creationId xmlns:a16="http://schemas.microsoft.com/office/drawing/2014/main" id="{BF7689D7-7242-4B01-B908-969919CAD7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9" y="3041"/>
              <a:ext cx="1302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" name="Line 10">
              <a:extLst>
                <a:ext uri="{FF2B5EF4-FFF2-40B4-BE49-F238E27FC236}">
                  <a16:creationId xmlns:a16="http://schemas.microsoft.com/office/drawing/2014/main" id="{1FCBE13E-327F-419B-8211-820A1E7D88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9" y="3041"/>
              <a:ext cx="1302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" name="Line 11">
              <a:extLst>
                <a:ext uri="{FF2B5EF4-FFF2-40B4-BE49-F238E27FC236}">
                  <a16:creationId xmlns:a16="http://schemas.microsoft.com/office/drawing/2014/main" id="{75E8702F-0E11-49F1-A91E-0F5EFD0F6F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" y="3041"/>
              <a:ext cx="0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9" name="Line 12">
              <a:extLst>
                <a:ext uri="{FF2B5EF4-FFF2-40B4-BE49-F238E27FC236}">
                  <a16:creationId xmlns:a16="http://schemas.microsoft.com/office/drawing/2014/main" id="{91A007A4-D77C-4A91-B9E9-DCBC4F58EE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39" y="3041"/>
              <a:ext cx="651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" name="Line 13">
              <a:extLst>
                <a:ext uri="{FF2B5EF4-FFF2-40B4-BE49-F238E27FC236}">
                  <a16:creationId xmlns:a16="http://schemas.microsoft.com/office/drawing/2014/main" id="{D93FD704-E0DD-4E8E-A6A9-A5EDAD8CF8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" y="3041"/>
              <a:ext cx="651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" name="Line 14">
              <a:extLst>
                <a:ext uri="{FF2B5EF4-FFF2-40B4-BE49-F238E27FC236}">
                  <a16:creationId xmlns:a16="http://schemas.microsoft.com/office/drawing/2014/main" id="{E391C4F5-58E5-476C-8E9B-BAB1F78BED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39" y="3041"/>
              <a:ext cx="651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" name="Line 15">
              <a:extLst>
                <a:ext uri="{FF2B5EF4-FFF2-40B4-BE49-F238E27FC236}">
                  <a16:creationId xmlns:a16="http://schemas.microsoft.com/office/drawing/2014/main" id="{90E2B109-4420-4EBB-A028-D016926FC4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90" y="3041"/>
              <a:ext cx="651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" name="Oval 16">
              <a:extLst>
                <a:ext uri="{FF2B5EF4-FFF2-40B4-BE49-F238E27FC236}">
                  <a16:creationId xmlns:a16="http://schemas.microsoft.com/office/drawing/2014/main" id="{12B0E224-CCC0-4525-926B-B057164FE84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60" y="3014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4" name="Oval 17">
              <a:extLst>
                <a:ext uri="{FF2B5EF4-FFF2-40B4-BE49-F238E27FC236}">
                  <a16:creationId xmlns:a16="http://schemas.microsoft.com/office/drawing/2014/main" id="{6210C5A7-CDB1-425E-B03F-138CE0E6EFF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94" y="3014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" name="Oval 18">
              <a:extLst>
                <a:ext uri="{FF2B5EF4-FFF2-40B4-BE49-F238E27FC236}">
                  <a16:creationId xmlns:a16="http://schemas.microsoft.com/office/drawing/2014/main" id="{A05EDF9E-4D9D-4411-B27D-D77B1FDA162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98" y="3802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" name="Oval 19">
              <a:extLst>
                <a:ext uri="{FF2B5EF4-FFF2-40B4-BE49-F238E27FC236}">
                  <a16:creationId xmlns:a16="http://schemas.microsoft.com/office/drawing/2014/main" id="{93DA78BC-2E78-4713-B8C3-A089E514A7A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60" y="3792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" name="Oval 20">
              <a:extLst>
                <a:ext uri="{FF2B5EF4-FFF2-40B4-BE49-F238E27FC236}">
                  <a16:creationId xmlns:a16="http://schemas.microsoft.com/office/drawing/2014/main" id="{A2EC738B-1853-4158-8072-9BF5F764A8D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94" y="3802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8365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utoUpdateAnimBg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F013-7233-43C8-A219-CCE9F2C4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Planar Graphs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E8DEA39-6FE8-4BE2-8629-7507CA2CD22A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1248214"/>
            <a:ext cx="8382000" cy="25001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400" b="1" dirty="0"/>
              <a:t>Ques:- </a:t>
            </a:r>
            <a:r>
              <a:rPr lang="en-US" altLang="en-US" sz="2400" dirty="0"/>
              <a:t>Determine whether the given graph is planar. If so, draw it so that no edges cross.</a:t>
            </a:r>
          </a:p>
          <a:p>
            <a:pPr marL="0" indent="0">
              <a:buNone/>
            </a:pPr>
            <a:r>
              <a:rPr lang="en-US" altLang="en-US" sz="2400" b="1" dirty="0"/>
              <a:t>Sol:- </a:t>
            </a:r>
            <a:r>
              <a:rPr lang="en-US" altLang="en-US" sz="2400" dirty="0"/>
              <a:t>This graph can be untangled if we play with it long enough. The following picture gives a planar representation of it.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630C04F-C338-41BE-842A-BA9E32C71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28" y="3748365"/>
            <a:ext cx="3194613" cy="2950234"/>
          </a:xfrm>
          <a:prstGeom prst="rect">
            <a:avLst/>
          </a:prstGeom>
        </p:spPr>
      </p:pic>
      <p:pic>
        <p:nvPicPr>
          <p:cNvPr id="39" name="Content Placeholder 9">
            <a:extLst>
              <a:ext uri="{FF2B5EF4-FFF2-40B4-BE49-F238E27FC236}">
                <a16:creationId xmlns:a16="http://schemas.microsoft.com/office/drawing/2014/main" id="{32D3208F-D539-44E8-BB60-8918416A01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25792" y="3871751"/>
            <a:ext cx="5818208" cy="2727458"/>
          </a:xfrm>
        </p:spPr>
      </p:pic>
    </p:spTree>
    <p:extLst>
      <p:ext uri="{BB962C8B-B14F-4D97-AF65-F5344CB8AC3E}">
        <p14:creationId xmlns:p14="http://schemas.microsoft.com/office/powerpoint/2010/main" val="406435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FD5E-0156-4465-A1CD-EA26BF5B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Euler’s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B638-637E-428E-AC91-58A2C24D6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3831302"/>
          </a:xfrm>
        </p:spPr>
        <p:txBody>
          <a:bodyPr/>
          <a:lstStyle/>
          <a:p>
            <a:pPr>
              <a:buClrTx/>
            </a:pPr>
            <a:r>
              <a:rPr lang="en-US" dirty="0"/>
              <a:t>Euler devised a formula for expressing the relationship between the number of vertices, edges, and regions of a planar graph.</a:t>
            </a:r>
          </a:p>
          <a:p>
            <a:pPr>
              <a:buClrTx/>
            </a:pPr>
            <a:r>
              <a:rPr lang="en-US" dirty="0"/>
              <a:t>These may help us determine if a graph can be planar or not.</a:t>
            </a:r>
          </a:p>
        </p:txBody>
      </p:sp>
    </p:spTree>
    <p:extLst>
      <p:ext uri="{BB962C8B-B14F-4D97-AF65-F5344CB8AC3E}">
        <p14:creationId xmlns:p14="http://schemas.microsoft.com/office/powerpoint/2010/main" val="3429419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FD5E-0156-4465-A1CD-EA26BF5B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Euler’s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B638-637E-428E-AC91-58A2C24D6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05155"/>
            <a:ext cx="8504904" cy="53389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Let G be a connected planar simple graph with e edges and v vertices. Let r be the number of regions in a planar representation of G. Then r = e - v + 2.</a:t>
            </a:r>
          </a:p>
          <a:p>
            <a:pPr marL="0" indent="0">
              <a:buNone/>
            </a:pPr>
            <a:r>
              <a:rPr lang="en-US" dirty="0"/>
              <a:t>Or 2 = v– e + r.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5292A349-8864-4680-9C50-B6FB90BFD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5714" y="4916555"/>
            <a:ext cx="46482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2800" dirty="0">
                <a:latin typeface="+mn-lt"/>
                <a:cs typeface="Times New Roman" panose="02020603050405020304" pitchFamily="18" charset="0"/>
              </a:rPr>
              <a:t># of edges, </a:t>
            </a:r>
            <a:r>
              <a:rPr lang="en-US" altLang="en-US" sz="2800" i="1" dirty="0">
                <a:latin typeface="+mn-lt"/>
                <a:cs typeface="Times New Roman" panose="02020603050405020304" pitchFamily="18" charset="0"/>
              </a:rPr>
              <a:t>e</a:t>
            </a:r>
            <a:r>
              <a:rPr lang="en-US" altLang="en-US" sz="2800" dirty="0">
                <a:latin typeface="+mn-lt"/>
                <a:cs typeface="Times New Roman" panose="02020603050405020304" pitchFamily="18" charset="0"/>
              </a:rPr>
              <a:t> = 6</a:t>
            </a:r>
          </a:p>
          <a:p>
            <a:pPr algn="l"/>
            <a:r>
              <a:rPr lang="en-US" altLang="en-US" sz="2800" dirty="0">
                <a:latin typeface="+mn-lt"/>
                <a:cs typeface="Times New Roman" panose="02020603050405020304" pitchFamily="18" charset="0"/>
              </a:rPr>
              <a:t># of vertices, </a:t>
            </a:r>
            <a:r>
              <a:rPr lang="en-US" altLang="en-US" sz="2800" i="1" dirty="0">
                <a:latin typeface="+mn-lt"/>
                <a:cs typeface="Times New Roman" panose="02020603050405020304" pitchFamily="18" charset="0"/>
              </a:rPr>
              <a:t>v</a:t>
            </a:r>
            <a:r>
              <a:rPr lang="en-US" altLang="en-US" sz="2800" dirty="0">
                <a:latin typeface="+mn-lt"/>
                <a:cs typeface="Times New Roman" panose="02020603050405020304" pitchFamily="18" charset="0"/>
              </a:rPr>
              <a:t> = 4</a:t>
            </a:r>
          </a:p>
          <a:p>
            <a:pPr algn="l"/>
            <a:r>
              <a:rPr lang="en-US" altLang="en-US" sz="2800" dirty="0">
                <a:latin typeface="+mn-lt"/>
                <a:cs typeface="Times New Roman" panose="02020603050405020304" pitchFamily="18" charset="0"/>
              </a:rPr>
              <a:t># of regions, </a:t>
            </a:r>
            <a:r>
              <a:rPr lang="en-US" altLang="en-US" sz="2800" i="1" dirty="0">
                <a:latin typeface="+mn-lt"/>
                <a:cs typeface="Times New Roman" panose="02020603050405020304" pitchFamily="18" charset="0"/>
              </a:rPr>
              <a:t>r</a:t>
            </a:r>
            <a:r>
              <a:rPr lang="en-US" altLang="en-US" sz="2800" dirty="0">
                <a:latin typeface="+mn-lt"/>
                <a:cs typeface="Times New Roman" panose="02020603050405020304" pitchFamily="18" charset="0"/>
              </a:rPr>
              <a:t> = </a:t>
            </a:r>
            <a:r>
              <a:rPr lang="en-US" altLang="en-US" sz="2800" i="1" dirty="0">
                <a:latin typeface="+mn-lt"/>
                <a:cs typeface="Times New Roman" panose="02020603050405020304" pitchFamily="18" charset="0"/>
              </a:rPr>
              <a:t>e</a:t>
            </a:r>
            <a:r>
              <a:rPr lang="en-US" altLang="en-US" sz="2800" dirty="0">
                <a:latin typeface="+mn-lt"/>
                <a:cs typeface="Times New Roman" panose="02020603050405020304" pitchFamily="18" charset="0"/>
              </a:rPr>
              <a:t> - </a:t>
            </a:r>
            <a:r>
              <a:rPr lang="en-US" altLang="en-US" sz="2800" i="1" dirty="0">
                <a:latin typeface="+mn-lt"/>
                <a:cs typeface="Times New Roman" panose="02020603050405020304" pitchFamily="18" charset="0"/>
              </a:rPr>
              <a:t>v</a:t>
            </a:r>
            <a:r>
              <a:rPr lang="en-US" altLang="en-US" sz="2800" dirty="0">
                <a:latin typeface="+mn-lt"/>
                <a:cs typeface="Times New Roman" panose="02020603050405020304" pitchFamily="18" charset="0"/>
              </a:rPr>
              <a:t> + 2 = 4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649B5028-101D-426A-ADC2-46E1A0F9FF08}"/>
              </a:ext>
            </a:extLst>
          </p:cNvPr>
          <p:cNvGrpSpPr>
            <a:grpSpLocks/>
          </p:cNvGrpSpPr>
          <p:nvPr/>
        </p:nvGrpSpPr>
        <p:grpSpPr bwMode="auto">
          <a:xfrm>
            <a:off x="308115" y="4230755"/>
            <a:ext cx="2987675" cy="2133600"/>
            <a:chOff x="1046" y="2704"/>
            <a:chExt cx="1690" cy="1088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3F959898-8666-4CC3-8B96-0B1C83C77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976"/>
              <a:ext cx="816" cy="76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86D0B9BD-3F58-47F3-85C6-C1FCCA8CDA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976"/>
              <a:ext cx="816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2CF59B67-D263-4480-B3DF-0D3223795E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92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4F63C688-324F-4900-A7BA-BD30BC1B6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6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  <p:sp>
          <p:nvSpPr>
            <p:cNvPr id="10" name="Oval 10">
              <a:extLst>
                <a:ext uri="{FF2B5EF4-FFF2-40B4-BE49-F238E27FC236}">
                  <a16:creationId xmlns:a16="http://schemas.microsoft.com/office/drawing/2014/main" id="{9268D06A-AFA7-4D13-A592-F78C919887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36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  <p:sp>
          <p:nvSpPr>
            <p:cNvPr id="11" name="Oval 11">
              <a:extLst>
                <a:ext uri="{FF2B5EF4-FFF2-40B4-BE49-F238E27FC236}">
                  <a16:creationId xmlns:a16="http://schemas.microsoft.com/office/drawing/2014/main" id="{DD97F5A7-FF1C-4F48-A9A0-E286F8CD9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292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+mn-lt"/>
              </a:endParaRP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A3B10AB-74C7-4BC3-8D87-3237A3906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2704"/>
              <a:ext cx="1336" cy="1040"/>
            </a:xfrm>
            <a:custGeom>
              <a:avLst/>
              <a:gdLst>
                <a:gd name="T0" fmla="*/ 1336 w 1336"/>
                <a:gd name="T1" fmla="*/ 224 h 1040"/>
                <a:gd name="T2" fmla="*/ 904 w 1336"/>
                <a:gd name="T3" fmla="*/ 80 h 1040"/>
                <a:gd name="T4" fmla="*/ 280 w 1336"/>
                <a:gd name="T5" fmla="*/ 80 h 1040"/>
                <a:gd name="T6" fmla="*/ 40 w 1336"/>
                <a:gd name="T7" fmla="*/ 560 h 1040"/>
                <a:gd name="T8" fmla="*/ 520 w 1336"/>
                <a:gd name="T9" fmla="*/ 1040 h 10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6"/>
                <a:gd name="T16" fmla="*/ 0 h 1040"/>
                <a:gd name="T17" fmla="*/ 1336 w 1336"/>
                <a:gd name="T18" fmla="*/ 1040 h 10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6" h="1040">
                  <a:moveTo>
                    <a:pt x="1336" y="224"/>
                  </a:moveTo>
                  <a:cubicBezTo>
                    <a:pt x="1208" y="164"/>
                    <a:pt x="1080" y="104"/>
                    <a:pt x="904" y="80"/>
                  </a:cubicBezTo>
                  <a:cubicBezTo>
                    <a:pt x="728" y="56"/>
                    <a:pt x="424" y="0"/>
                    <a:pt x="280" y="80"/>
                  </a:cubicBezTo>
                  <a:cubicBezTo>
                    <a:pt x="136" y="160"/>
                    <a:pt x="0" y="400"/>
                    <a:pt x="40" y="560"/>
                  </a:cubicBezTo>
                  <a:cubicBezTo>
                    <a:pt x="80" y="720"/>
                    <a:pt x="300" y="880"/>
                    <a:pt x="520" y="104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93C8A610-B69E-4EAA-BC3E-36FA6577AD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6" y="3034"/>
              <a:ext cx="1323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/>
              <a:r>
                <a:rPr lang="en-US" altLang="en-US" sz="2000" i="1">
                  <a:solidFill>
                    <a:schemeClr val="tx2"/>
                  </a:solidFill>
                  <a:latin typeface="+mn-lt"/>
                </a:rPr>
                <a:t>R</a:t>
              </a:r>
              <a:r>
                <a:rPr lang="en-US" altLang="en-US" sz="2000" baseline="-25000">
                  <a:solidFill>
                    <a:schemeClr val="tx2"/>
                  </a:solidFill>
                  <a:latin typeface="+mn-lt"/>
                </a:rPr>
                <a:t>4</a:t>
              </a:r>
              <a:r>
                <a:rPr lang="en-US" altLang="en-US" sz="2000">
                  <a:solidFill>
                    <a:schemeClr val="tx2"/>
                  </a:solidFill>
                  <a:latin typeface="+mn-lt"/>
                </a:rPr>
                <a:t>       </a:t>
              </a:r>
              <a:r>
                <a:rPr lang="en-US" altLang="en-US" sz="2000" i="1">
                  <a:solidFill>
                    <a:schemeClr val="tx2"/>
                  </a:solidFill>
                  <a:latin typeface="+mn-lt"/>
                </a:rPr>
                <a:t>R</a:t>
              </a:r>
              <a:r>
                <a:rPr lang="en-US" altLang="en-US" sz="2000" baseline="-25000">
                  <a:solidFill>
                    <a:schemeClr val="tx2"/>
                  </a:solidFill>
                  <a:latin typeface="+mn-lt"/>
                </a:rPr>
                <a:t>3</a:t>
              </a:r>
              <a:r>
                <a:rPr lang="en-US" altLang="en-US" sz="2000">
                  <a:solidFill>
                    <a:schemeClr val="tx2"/>
                  </a:solidFill>
                  <a:latin typeface="+mn-lt"/>
                </a:rPr>
                <a:t>             </a:t>
              </a:r>
              <a:r>
                <a:rPr lang="en-US" altLang="en-US" sz="2000" i="1">
                  <a:solidFill>
                    <a:schemeClr val="tx2"/>
                  </a:solidFill>
                  <a:latin typeface="+mn-lt"/>
                </a:rPr>
                <a:t>R</a:t>
              </a:r>
              <a:r>
                <a:rPr lang="en-US" altLang="en-US" sz="2000" baseline="-25000">
                  <a:solidFill>
                    <a:schemeClr val="tx2"/>
                  </a:solidFill>
                  <a:latin typeface="+mn-lt"/>
                </a:rPr>
                <a:t>2</a:t>
              </a:r>
              <a:endParaRPr lang="en-US" altLang="en-US" sz="2000">
                <a:solidFill>
                  <a:schemeClr val="tx2"/>
                </a:solidFill>
                <a:latin typeface="+mn-lt"/>
              </a:endParaRPr>
            </a:p>
            <a:p>
              <a:pPr algn="l"/>
              <a:endParaRPr lang="en-US" altLang="en-US" sz="2000">
                <a:solidFill>
                  <a:schemeClr val="tx2"/>
                </a:solidFill>
                <a:latin typeface="+mn-lt"/>
              </a:endParaRPr>
            </a:p>
            <a:p>
              <a:pPr algn="l"/>
              <a:r>
                <a:rPr lang="en-US" altLang="en-US" sz="2000">
                  <a:solidFill>
                    <a:schemeClr val="tx2"/>
                  </a:solidFill>
                  <a:latin typeface="+mn-lt"/>
                </a:rPr>
                <a:t>                   </a:t>
              </a:r>
              <a:r>
                <a:rPr lang="en-US" altLang="en-US" sz="2000" i="1">
                  <a:solidFill>
                    <a:schemeClr val="tx2"/>
                  </a:solidFill>
                  <a:latin typeface="+mn-lt"/>
                </a:rPr>
                <a:t>R</a:t>
              </a:r>
              <a:r>
                <a:rPr lang="en-US" altLang="en-US" sz="2000" baseline="-25000">
                  <a:solidFill>
                    <a:schemeClr val="tx2"/>
                  </a:solidFill>
                  <a:latin typeface="+mn-lt"/>
                </a:rPr>
                <a:t>1</a:t>
              </a:r>
              <a:endParaRPr lang="en-US" altLang="en-US" sz="2000">
                <a:solidFill>
                  <a:schemeClr val="tx2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9206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FD5E-0156-4465-A1CD-EA26BF5B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Euler’s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B638-637E-428E-AC91-58A2C24D6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Euler characteristic (simple form): </a:t>
            </a:r>
          </a:p>
          <a:p>
            <a:pPr marL="0" indent="0">
              <a:buNone/>
            </a:pPr>
            <a:r>
              <a:rPr lang="en-US" dirty="0"/>
              <a:t>  2 = number of vertices – number of edges + number of faces</a:t>
            </a:r>
          </a:p>
          <a:p>
            <a:pPr marL="0" indent="0">
              <a:buNone/>
            </a:pPr>
            <a:r>
              <a:rPr lang="en-US" dirty="0"/>
              <a:t>Or in short-hand,</a:t>
            </a:r>
          </a:p>
          <a:p>
            <a:pPr marL="0" indent="0">
              <a:buNone/>
            </a:pPr>
            <a:r>
              <a:rPr lang="en-US" dirty="0"/>
              <a:t> 2    = |V| - |E| + |F|</a:t>
            </a:r>
          </a:p>
          <a:p>
            <a:pPr marL="0" indent="0">
              <a:buNone/>
            </a:pPr>
            <a:r>
              <a:rPr lang="en-US" dirty="0"/>
              <a:t>where  V = set of vertices</a:t>
            </a:r>
          </a:p>
          <a:p>
            <a:pPr marL="0" indent="0">
              <a:buNone/>
            </a:pPr>
            <a:r>
              <a:rPr lang="en-US" dirty="0"/>
              <a:t>              E = set of edges</a:t>
            </a:r>
          </a:p>
          <a:p>
            <a:pPr marL="0" indent="0">
              <a:buNone/>
            </a:pPr>
            <a:r>
              <a:rPr lang="en-US" dirty="0"/>
              <a:t>              F = set of faces = set of regions</a:t>
            </a:r>
          </a:p>
          <a:p>
            <a:pPr marL="0" indent="0">
              <a:buNone/>
            </a:pPr>
            <a:r>
              <a:rPr lang="en-US" dirty="0"/>
              <a:t>For a planar connected graph |V| - |E| + |F| = 2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33EC6B-F8A0-43D8-8D76-334973025D9A}"/>
              </a:ext>
            </a:extLst>
          </p:cNvPr>
          <p:cNvSpPr/>
          <p:nvPr/>
        </p:nvSpPr>
        <p:spPr>
          <a:xfrm>
            <a:off x="162339" y="5923722"/>
            <a:ext cx="6894444" cy="68874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147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FD5E-0156-4465-A1CD-EA26BF5B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Euler’s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B638-637E-428E-AC91-58A2C24D6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err="1"/>
              <a:t>Def</a:t>
            </a:r>
            <a:r>
              <a:rPr lang="en-US" b="1" baseline="30000" dirty="0" err="1"/>
              <a:t>n</a:t>
            </a:r>
            <a:r>
              <a:rPr lang="en-US" b="1" dirty="0"/>
              <a:t>: </a:t>
            </a:r>
            <a:r>
              <a:rPr lang="en-US" dirty="0"/>
              <a:t>A tree is a connected graph that does not contain a cycle. </a:t>
            </a:r>
          </a:p>
          <a:p>
            <a:pPr marL="0" indent="0">
              <a:buNone/>
            </a:pPr>
            <a:r>
              <a:rPr lang="en-US" dirty="0"/>
              <a:t>A forest is a graph whose components are trees.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Lemma 2.1:  Any tree with n vertices has n-1 edges.</a:t>
            </a:r>
          </a:p>
          <a:p>
            <a:pPr marL="0" indent="0">
              <a:buNone/>
            </a:pPr>
            <a:endParaRPr lang="en-IN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3013BCD-9FE4-47BE-A29F-391FC9DDC8BA}"/>
              </a:ext>
            </a:extLst>
          </p:cNvPr>
          <p:cNvGrpSpPr/>
          <p:nvPr/>
        </p:nvGrpSpPr>
        <p:grpSpPr>
          <a:xfrm>
            <a:off x="506897" y="3041868"/>
            <a:ext cx="8077200" cy="2735580"/>
            <a:chOff x="506897" y="2415702"/>
            <a:chExt cx="8077200" cy="27355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ECC9EB4-1BE3-418C-8EEE-9CBC2C78F3FF}"/>
                </a:ext>
              </a:extLst>
            </p:cNvPr>
            <p:cNvCxnSpPr>
              <a:stCxn id="54" idx="2"/>
            </p:cNvCxnSpPr>
            <p:nvPr/>
          </p:nvCxnSpPr>
          <p:spPr>
            <a:xfrm>
              <a:off x="7844536" y="5059842"/>
              <a:ext cx="677009" cy="2286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3C4D74C-C54E-44BD-B2D5-A26D375F79DB}"/>
                </a:ext>
              </a:extLst>
            </p:cNvPr>
            <p:cNvCxnSpPr/>
            <p:nvPr/>
          </p:nvCxnSpPr>
          <p:spPr>
            <a:xfrm rot="5400000" flipV="1">
              <a:off x="1779681" y="4589308"/>
              <a:ext cx="842011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A958C2C-8C29-49EC-883C-68C28436DCC1}"/>
                </a:ext>
              </a:extLst>
            </p:cNvPr>
            <p:cNvCxnSpPr/>
            <p:nvPr/>
          </p:nvCxnSpPr>
          <p:spPr>
            <a:xfrm rot="14400000" flipV="1">
              <a:off x="1472749" y="3690245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AA03428-82E4-4171-9465-0EA65E9CEFFC}"/>
                </a:ext>
              </a:extLst>
            </p:cNvPr>
            <p:cNvGrpSpPr/>
            <p:nvPr/>
          </p:nvGrpSpPr>
          <p:grpSpPr>
            <a:xfrm rot="5400000">
              <a:off x="1251723" y="2800863"/>
              <a:ext cx="875596" cy="182881"/>
              <a:chOff x="2565779" y="3354492"/>
              <a:chExt cx="1091821" cy="182880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F6B5040-B1EC-4871-B1BA-5FEB97AA7B34}"/>
                  </a:ext>
                </a:extLst>
              </p:cNvPr>
              <p:cNvCxnSpPr/>
              <p:nvPr/>
            </p:nvCxnSpPr>
            <p:spPr>
              <a:xfrm flipV="1">
                <a:off x="2565779" y="3430692"/>
                <a:ext cx="928048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334AF30A-131D-4FC0-A134-5454A8333F85}"/>
                  </a:ext>
                </a:extLst>
              </p:cNvPr>
              <p:cNvSpPr/>
              <p:nvPr/>
            </p:nvSpPr>
            <p:spPr>
              <a:xfrm>
                <a:off x="3474720" y="3354492"/>
                <a:ext cx="182880" cy="182880"/>
              </a:xfrm>
              <a:prstGeom prst="ellipse">
                <a:avLst/>
              </a:prstGeom>
              <a:solidFill>
                <a:srgbClr val="770077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35EF83A-E5C9-47A8-B3F0-F2C1CEA92753}"/>
                </a:ext>
              </a:extLst>
            </p:cNvPr>
            <p:cNvCxnSpPr/>
            <p:nvPr/>
          </p:nvCxnSpPr>
          <p:spPr>
            <a:xfrm rot="18000000" flipV="1">
              <a:off x="977142" y="3690245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072298D-DB6C-4615-BE28-0E46CF7AA86E}"/>
                </a:ext>
              </a:extLst>
            </p:cNvPr>
            <p:cNvSpPr/>
            <p:nvPr/>
          </p:nvSpPr>
          <p:spPr>
            <a:xfrm>
              <a:off x="2099898" y="4061622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B672FCD-5240-40A0-A8B3-69B49953A86C}"/>
                </a:ext>
              </a:extLst>
            </p:cNvPr>
            <p:cNvSpPr/>
            <p:nvPr/>
          </p:nvSpPr>
          <p:spPr>
            <a:xfrm>
              <a:off x="1603625" y="3162462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2C7DC45-CC9F-48C5-8A94-CDC8AF4D288B}"/>
                </a:ext>
              </a:extLst>
            </p:cNvPr>
            <p:cNvCxnSpPr/>
            <p:nvPr/>
          </p:nvCxnSpPr>
          <p:spPr>
            <a:xfrm rot="5400000" flipV="1">
              <a:off x="735861" y="4602927"/>
              <a:ext cx="779561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95666AF-2036-46A4-8897-3CA23FBA4F84}"/>
                </a:ext>
              </a:extLst>
            </p:cNvPr>
            <p:cNvCxnSpPr/>
            <p:nvPr/>
          </p:nvCxnSpPr>
          <p:spPr>
            <a:xfrm rot="14400000" flipV="1">
              <a:off x="916068" y="4604645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5CB8D2-9896-4C21-AF42-DBE7D977F80D}"/>
                </a:ext>
              </a:extLst>
            </p:cNvPr>
            <p:cNvCxnSpPr/>
            <p:nvPr/>
          </p:nvCxnSpPr>
          <p:spPr>
            <a:xfrm rot="18000000" flipV="1">
              <a:off x="420461" y="4604645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88CDFD0-96AC-4998-B3B9-E15FB5BB3340}"/>
                </a:ext>
              </a:extLst>
            </p:cNvPr>
            <p:cNvSpPr/>
            <p:nvPr/>
          </p:nvSpPr>
          <p:spPr>
            <a:xfrm>
              <a:off x="506897" y="4968402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2C82007-4E79-41CB-9AA0-F83E9CFF7D20}"/>
                </a:ext>
              </a:extLst>
            </p:cNvPr>
            <p:cNvSpPr/>
            <p:nvPr/>
          </p:nvSpPr>
          <p:spPr>
            <a:xfrm>
              <a:off x="1543217" y="4968402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71F2C7F-21BE-4A93-95CA-A47091BAE97E}"/>
                </a:ext>
              </a:extLst>
            </p:cNvPr>
            <p:cNvSpPr/>
            <p:nvPr/>
          </p:nvSpPr>
          <p:spPr>
            <a:xfrm>
              <a:off x="1603625" y="2415702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67E479F-D005-4421-A0AE-69707E519E2D}"/>
                </a:ext>
              </a:extLst>
            </p:cNvPr>
            <p:cNvSpPr/>
            <p:nvPr/>
          </p:nvSpPr>
          <p:spPr>
            <a:xfrm>
              <a:off x="1035725" y="4968402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02E7537-FA10-47A6-BD64-36719CE0BB43}"/>
                </a:ext>
              </a:extLst>
            </p:cNvPr>
            <p:cNvSpPr/>
            <p:nvPr/>
          </p:nvSpPr>
          <p:spPr>
            <a:xfrm>
              <a:off x="2099898" y="4968402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EE62AF4-CC5A-47E1-967E-4807AC8BC9EE}"/>
                </a:ext>
              </a:extLst>
            </p:cNvPr>
            <p:cNvSpPr/>
            <p:nvPr/>
          </p:nvSpPr>
          <p:spPr>
            <a:xfrm>
              <a:off x="1035725" y="4061622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35CE9C9-B98B-4F04-8E19-822E6F1EE4F0}"/>
                </a:ext>
              </a:extLst>
            </p:cNvPr>
            <p:cNvCxnSpPr/>
            <p:nvPr/>
          </p:nvCxnSpPr>
          <p:spPr>
            <a:xfrm rot="5400000" flipV="1">
              <a:off x="4827681" y="4589308"/>
              <a:ext cx="842011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ECF500F-1A82-4C37-B8E4-5AADBE733754}"/>
                </a:ext>
              </a:extLst>
            </p:cNvPr>
            <p:cNvCxnSpPr/>
            <p:nvPr/>
          </p:nvCxnSpPr>
          <p:spPr>
            <a:xfrm rot="14400000" flipV="1">
              <a:off x="4520749" y="3690245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7EDD732-6C7D-4EDB-8AC5-F738A78B6E06}"/>
                </a:ext>
              </a:extLst>
            </p:cNvPr>
            <p:cNvGrpSpPr/>
            <p:nvPr/>
          </p:nvGrpSpPr>
          <p:grpSpPr>
            <a:xfrm rot="5400000">
              <a:off x="4299723" y="2800863"/>
              <a:ext cx="875596" cy="182881"/>
              <a:chOff x="2565779" y="3354492"/>
              <a:chExt cx="1091821" cy="182880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79F4601-B74E-47FB-99B7-4CABE48BE924}"/>
                  </a:ext>
                </a:extLst>
              </p:cNvPr>
              <p:cNvCxnSpPr/>
              <p:nvPr/>
            </p:nvCxnSpPr>
            <p:spPr>
              <a:xfrm flipV="1">
                <a:off x="2565779" y="3430692"/>
                <a:ext cx="928048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3433EE5-4951-4D2A-8BC2-2501E6371EDE}"/>
                  </a:ext>
                </a:extLst>
              </p:cNvPr>
              <p:cNvSpPr/>
              <p:nvPr/>
            </p:nvSpPr>
            <p:spPr>
              <a:xfrm>
                <a:off x="3474720" y="3354492"/>
                <a:ext cx="182880" cy="182880"/>
              </a:xfrm>
              <a:prstGeom prst="ellipse">
                <a:avLst/>
              </a:prstGeom>
              <a:solidFill>
                <a:srgbClr val="770077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376ED99-870A-4A72-A0F2-565C43FD8037}"/>
                </a:ext>
              </a:extLst>
            </p:cNvPr>
            <p:cNvCxnSpPr/>
            <p:nvPr/>
          </p:nvCxnSpPr>
          <p:spPr>
            <a:xfrm rot="18000000" flipV="1">
              <a:off x="4025142" y="3690245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1D06000-18BE-4868-8257-FB08E7E51C15}"/>
                </a:ext>
              </a:extLst>
            </p:cNvPr>
            <p:cNvCxnSpPr/>
            <p:nvPr/>
          </p:nvCxnSpPr>
          <p:spPr>
            <a:xfrm flipV="1">
              <a:off x="4238957" y="4137822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D01808B-19E7-4B0F-8309-5F1876496205}"/>
                </a:ext>
              </a:extLst>
            </p:cNvPr>
            <p:cNvSpPr/>
            <p:nvPr/>
          </p:nvSpPr>
          <p:spPr>
            <a:xfrm>
              <a:off x="5147898" y="4061622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FAEB7BD-90D1-4390-B981-DF6E2C56BA1B}"/>
                </a:ext>
              </a:extLst>
            </p:cNvPr>
            <p:cNvSpPr/>
            <p:nvPr/>
          </p:nvSpPr>
          <p:spPr>
            <a:xfrm>
              <a:off x="4651625" y="3162462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5E6ED96-189A-420E-B0F4-8EB02BBCFA7E}"/>
                </a:ext>
              </a:extLst>
            </p:cNvPr>
            <p:cNvCxnSpPr/>
            <p:nvPr/>
          </p:nvCxnSpPr>
          <p:spPr>
            <a:xfrm rot="5400000" flipV="1">
              <a:off x="3783861" y="4602927"/>
              <a:ext cx="779561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6BAAE85-67CD-499D-9EAE-FFB4CFC399BD}"/>
                </a:ext>
              </a:extLst>
            </p:cNvPr>
            <p:cNvCxnSpPr/>
            <p:nvPr/>
          </p:nvCxnSpPr>
          <p:spPr>
            <a:xfrm rot="14400000" flipV="1">
              <a:off x="3964068" y="4604645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57A7DD6-3CA5-4F9B-8569-9C7200B70318}"/>
                </a:ext>
              </a:extLst>
            </p:cNvPr>
            <p:cNvCxnSpPr/>
            <p:nvPr/>
          </p:nvCxnSpPr>
          <p:spPr>
            <a:xfrm rot="18000000" flipV="1">
              <a:off x="3468461" y="4604645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C69FD23-D7B8-474C-9950-8A38E8398E76}"/>
                </a:ext>
              </a:extLst>
            </p:cNvPr>
            <p:cNvSpPr/>
            <p:nvPr/>
          </p:nvSpPr>
          <p:spPr>
            <a:xfrm>
              <a:off x="3554897" y="4968402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179D70B-410E-47CD-A9C3-8B328D2B1A6A}"/>
                </a:ext>
              </a:extLst>
            </p:cNvPr>
            <p:cNvSpPr/>
            <p:nvPr/>
          </p:nvSpPr>
          <p:spPr>
            <a:xfrm>
              <a:off x="4591217" y="4968402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D4A20E0-BA7C-4D7A-A00E-63AA75F865A7}"/>
                </a:ext>
              </a:extLst>
            </p:cNvPr>
            <p:cNvSpPr/>
            <p:nvPr/>
          </p:nvSpPr>
          <p:spPr>
            <a:xfrm>
              <a:off x="4651625" y="2415702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70173AE-565B-4513-8970-E87207861034}"/>
                </a:ext>
              </a:extLst>
            </p:cNvPr>
            <p:cNvSpPr/>
            <p:nvPr/>
          </p:nvSpPr>
          <p:spPr>
            <a:xfrm>
              <a:off x="4083725" y="4968402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309C1BB-4C3E-450F-B828-658A8044EBD4}"/>
                </a:ext>
              </a:extLst>
            </p:cNvPr>
            <p:cNvSpPr/>
            <p:nvPr/>
          </p:nvSpPr>
          <p:spPr>
            <a:xfrm>
              <a:off x="5147898" y="4968402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F92092F-EF89-4A65-84A7-9CFEFC9CC127}"/>
                </a:ext>
              </a:extLst>
            </p:cNvPr>
            <p:cNvSpPr/>
            <p:nvPr/>
          </p:nvSpPr>
          <p:spPr>
            <a:xfrm>
              <a:off x="4083725" y="4061622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2F8FADC-5A6C-4781-BB23-B11760020B77}"/>
                </a:ext>
              </a:extLst>
            </p:cNvPr>
            <p:cNvCxnSpPr/>
            <p:nvPr/>
          </p:nvCxnSpPr>
          <p:spPr>
            <a:xfrm rot="5400000" flipV="1">
              <a:off x="8081000" y="4589308"/>
              <a:ext cx="842011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3058FA9-75AC-4720-BAE7-8C7CF9B2FDA4}"/>
                </a:ext>
              </a:extLst>
            </p:cNvPr>
            <p:cNvCxnSpPr/>
            <p:nvPr/>
          </p:nvCxnSpPr>
          <p:spPr>
            <a:xfrm rot="14400000" flipV="1">
              <a:off x="7774068" y="3690245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3398270-B6BC-4D19-BCEB-B8A2240B39FB}"/>
                </a:ext>
              </a:extLst>
            </p:cNvPr>
            <p:cNvGrpSpPr/>
            <p:nvPr/>
          </p:nvGrpSpPr>
          <p:grpSpPr>
            <a:xfrm rot="5400000">
              <a:off x="7553042" y="2800863"/>
              <a:ext cx="875596" cy="182881"/>
              <a:chOff x="2565779" y="3354492"/>
              <a:chExt cx="1091821" cy="182880"/>
            </a:xfrm>
          </p:grpSpPr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DD631685-A4B2-4C43-9C5C-0FBF6A5EA497}"/>
                  </a:ext>
                </a:extLst>
              </p:cNvPr>
              <p:cNvCxnSpPr/>
              <p:nvPr/>
            </p:nvCxnSpPr>
            <p:spPr>
              <a:xfrm flipV="1">
                <a:off x="2565779" y="3430692"/>
                <a:ext cx="928048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136A9F8C-B047-44D5-995B-FDAC02284EB6}"/>
                  </a:ext>
                </a:extLst>
              </p:cNvPr>
              <p:cNvSpPr/>
              <p:nvPr/>
            </p:nvSpPr>
            <p:spPr>
              <a:xfrm>
                <a:off x="3474720" y="3354492"/>
                <a:ext cx="182880" cy="182880"/>
              </a:xfrm>
              <a:prstGeom prst="ellipse">
                <a:avLst/>
              </a:prstGeom>
              <a:solidFill>
                <a:srgbClr val="770077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2B2CD09-A3C9-4380-B7DB-C74CFA23DECA}"/>
                </a:ext>
              </a:extLst>
            </p:cNvPr>
            <p:cNvCxnSpPr/>
            <p:nvPr/>
          </p:nvCxnSpPr>
          <p:spPr>
            <a:xfrm rot="18000000" flipV="1">
              <a:off x="7278461" y="3690245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80443CE-3CF0-42D4-9370-8F33BE34BBBC}"/>
                </a:ext>
              </a:extLst>
            </p:cNvPr>
            <p:cNvCxnSpPr/>
            <p:nvPr/>
          </p:nvCxnSpPr>
          <p:spPr>
            <a:xfrm flipV="1">
              <a:off x="7492276" y="4137822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88DA2A2-3491-4307-BD17-A5133DBB6C6A}"/>
                </a:ext>
              </a:extLst>
            </p:cNvPr>
            <p:cNvSpPr/>
            <p:nvPr/>
          </p:nvSpPr>
          <p:spPr>
            <a:xfrm>
              <a:off x="8401217" y="4061622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5D8CD55-E22E-44C0-92FF-5EF7F726768A}"/>
                </a:ext>
              </a:extLst>
            </p:cNvPr>
            <p:cNvSpPr/>
            <p:nvPr/>
          </p:nvSpPr>
          <p:spPr>
            <a:xfrm>
              <a:off x="7904944" y="3162462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BB15C01-C059-4D26-85A4-8177E65295D6}"/>
                </a:ext>
              </a:extLst>
            </p:cNvPr>
            <p:cNvCxnSpPr/>
            <p:nvPr/>
          </p:nvCxnSpPr>
          <p:spPr>
            <a:xfrm rot="5400000" flipV="1">
              <a:off x="7037180" y="4602927"/>
              <a:ext cx="779561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FAB7476-21CD-4DCD-AC98-74361F52186F}"/>
                </a:ext>
              </a:extLst>
            </p:cNvPr>
            <p:cNvCxnSpPr/>
            <p:nvPr/>
          </p:nvCxnSpPr>
          <p:spPr>
            <a:xfrm rot="14400000" flipV="1">
              <a:off x="7217387" y="4604645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8DB0EB2-87A0-4808-9EB6-225ECD9CD977}"/>
                </a:ext>
              </a:extLst>
            </p:cNvPr>
            <p:cNvCxnSpPr/>
            <p:nvPr/>
          </p:nvCxnSpPr>
          <p:spPr>
            <a:xfrm rot="18000000" flipV="1">
              <a:off x="6721780" y="4604645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643F07B-9283-4E1A-ABFD-892430AC5929}"/>
                </a:ext>
              </a:extLst>
            </p:cNvPr>
            <p:cNvSpPr/>
            <p:nvPr/>
          </p:nvSpPr>
          <p:spPr>
            <a:xfrm>
              <a:off x="6808216" y="4968402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10E5A9E-8022-4BC5-8AD4-E4BD44074C31}"/>
                </a:ext>
              </a:extLst>
            </p:cNvPr>
            <p:cNvSpPr/>
            <p:nvPr/>
          </p:nvSpPr>
          <p:spPr>
            <a:xfrm>
              <a:off x="7844536" y="4968402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A4C931E-8B78-4255-8440-5D4643ACECBC}"/>
                </a:ext>
              </a:extLst>
            </p:cNvPr>
            <p:cNvSpPr/>
            <p:nvPr/>
          </p:nvSpPr>
          <p:spPr>
            <a:xfrm>
              <a:off x="7904944" y="2415702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45663DB0-C631-45C8-BABB-F7187FF344BE}"/>
                </a:ext>
              </a:extLst>
            </p:cNvPr>
            <p:cNvSpPr/>
            <p:nvPr/>
          </p:nvSpPr>
          <p:spPr>
            <a:xfrm>
              <a:off x="7337044" y="4968402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69F31752-BAB0-4F59-B69B-021E31D446C9}"/>
                </a:ext>
              </a:extLst>
            </p:cNvPr>
            <p:cNvSpPr/>
            <p:nvPr/>
          </p:nvSpPr>
          <p:spPr>
            <a:xfrm>
              <a:off x="8401217" y="4968402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02D420FC-3539-4FC9-BFFC-5A8E650E9DD4}"/>
                </a:ext>
              </a:extLst>
            </p:cNvPr>
            <p:cNvSpPr/>
            <p:nvPr/>
          </p:nvSpPr>
          <p:spPr>
            <a:xfrm>
              <a:off x="7337044" y="4061622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9541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FD5E-0156-4465-A1CD-EA26BF5B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Euler’s Formula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FD308D1-26C6-47AA-BBA6-26D0CC733FE1}"/>
              </a:ext>
            </a:extLst>
          </p:cNvPr>
          <p:cNvSpPr/>
          <p:nvPr/>
        </p:nvSpPr>
        <p:spPr>
          <a:xfrm>
            <a:off x="6026447" y="2288405"/>
            <a:ext cx="182880" cy="182880"/>
          </a:xfrm>
          <a:prstGeom prst="ellipse">
            <a:avLst/>
          </a:prstGeom>
          <a:solidFill>
            <a:srgbClr val="7700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00E3FB-D790-4F74-A8B1-BC0704887D19}"/>
              </a:ext>
            </a:extLst>
          </p:cNvPr>
          <p:cNvSpPr/>
          <p:nvPr/>
        </p:nvSpPr>
        <p:spPr>
          <a:xfrm>
            <a:off x="1295400" y="1540566"/>
            <a:ext cx="25987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2= |V| – |E| + |F|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6F3EBB-1910-40E4-9391-0CBB9C9C0B4F}"/>
              </a:ext>
            </a:extLst>
          </p:cNvPr>
          <p:cNvSpPr txBox="1"/>
          <p:nvPr/>
        </p:nvSpPr>
        <p:spPr>
          <a:xfrm>
            <a:off x="4953000" y="5426767"/>
            <a:ext cx="3437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 = 1 – 0 + 1 = 2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623D499-4845-4F99-97FE-8F85D60C17A8}"/>
              </a:ext>
            </a:extLst>
          </p:cNvPr>
          <p:cNvGrpSpPr/>
          <p:nvPr/>
        </p:nvGrpSpPr>
        <p:grpSpPr>
          <a:xfrm>
            <a:off x="4980432" y="5712022"/>
            <a:ext cx="201168" cy="228600"/>
            <a:chOff x="4200143" y="4105656"/>
            <a:chExt cx="591313" cy="448056"/>
          </a:xfrm>
        </p:grpSpPr>
        <p:cxnSp>
          <p:nvCxnSpPr>
            <p:cNvPr id="8" name="Curved Connector 23">
              <a:extLst>
                <a:ext uri="{FF2B5EF4-FFF2-40B4-BE49-F238E27FC236}">
                  <a16:creationId xmlns:a16="http://schemas.microsoft.com/office/drawing/2014/main" id="{CFDCCA70-D991-475A-85FA-12E97E37EE6A}"/>
                </a:ext>
              </a:extLst>
            </p:cNvPr>
            <p:cNvCxnSpPr/>
            <p:nvPr/>
          </p:nvCxnSpPr>
          <p:spPr>
            <a:xfrm rot="10800000">
              <a:off x="4200144" y="4105656"/>
              <a:ext cx="591312" cy="448056"/>
            </a:xfrm>
            <a:prstGeom prst="curvedConnector3">
              <a:avLst/>
            </a:prstGeom>
            <a:ln w="412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C60B01C-1D42-415D-8EBF-E3DBC2A1C03D}"/>
                </a:ext>
              </a:extLst>
            </p:cNvPr>
            <p:cNvCxnSpPr/>
            <p:nvPr/>
          </p:nvCxnSpPr>
          <p:spPr>
            <a:xfrm flipV="1">
              <a:off x="4200143" y="4105656"/>
              <a:ext cx="591313" cy="448056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576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FD5E-0156-4465-A1CD-EA26BF5B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Euler’s Formula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EB2411A-A380-4100-9ABC-458830549225}"/>
              </a:ext>
            </a:extLst>
          </p:cNvPr>
          <p:cNvGrpSpPr/>
          <p:nvPr/>
        </p:nvGrpSpPr>
        <p:grpSpPr>
          <a:xfrm>
            <a:off x="5504068" y="2377857"/>
            <a:ext cx="188425" cy="929640"/>
            <a:chOff x="1950719" y="1981200"/>
            <a:chExt cx="188425" cy="92964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89E36EF-2D63-425E-ADF7-D989EEB9F77B}"/>
                </a:ext>
              </a:extLst>
            </p:cNvPr>
            <p:cNvGrpSpPr/>
            <p:nvPr/>
          </p:nvGrpSpPr>
          <p:grpSpPr>
            <a:xfrm rot="5400000">
              <a:off x="1604362" y="2366361"/>
              <a:ext cx="875596" cy="182881"/>
              <a:chOff x="2565779" y="3354492"/>
              <a:chExt cx="1091821" cy="182880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A392FB7F-0E9C-4A4C-A7F9-69FF1FD5AD54}"/>
                  </a:ext>
                </a:extLst>
              </p:cNvPr>
              <p:cNvCxnSpPr/>
              <p:nvPr/>
            </p:nvCxnSpPr>
            <p:spPr>
              <a:xfrm flipV="1">
                <a:off x="2565779" y="3430692"/>
                <a:ext cx="928048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3910846-2340-497C-8B8E-B3ED467BA68C}"/>
                  </a:ext>
                </a:extLst>
              </p:cNvPr>
              <p:cNvSpPr/>
              <p:nvPr/>
            </p:nvSpPr>
            <p:spPr>
              <a:xfrm>
                <a:off x="3474720" y="3354492"/>
                <a:ext cx="182880" cy="182880"/>
              </a:xfrm>
              <a:prstGeom prst="ellipse">
                <a:avLst/>
              </a:prstGeom>
              <a:solidFill>
                <a:srgbClr val="770077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8673595-7416-4477-B1FA-9C2B83A3D036}"/>
                </a:ext>
              </a:extLst>
            </p:cNvPr>
            <p:cNvSpPr/>
            <p:nvPr/>
          </p:nvSpPr>
          <p:spPr>
            <a:xfrm>
              <a:off x="1956264" y="272796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CCF5BA6-7E8A-49B7-8019-88A360047EC3}"/>
                </a:ext>
              </a:extLst>
            </p:cNvPr>
            <p:cNvSpPr/>
            <p:nvPr/>
          </p:nvSpPr>
          <p:spPr>
            <a:xfrm>
              <a:off x="1956264" y="198120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0A8FE60-7FBF-4126-9F8B-976F815A1BF9}"/>
              </a:ext>
            </a:extLst>
          </p:cNvPr>
          <p:cNvSpPr txBox="1"/>
          <p:nvPr/>
        </p:nvSpPr>
        <p:spPr>
          <a:xfrm>
            <a:off x="4436165" y="5516219"/>
            <a:ext cx="3437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 = 2 – 1 + 1 = 2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D084189-D0F8-4757-B4F6-8BBEECA56306}"/>
              </a:ext>
            </a:extLst>
          </p:cNvPr>
          <p:cNvGrpSpPr/>
          <p:nvPr/>
        </p:nvGrpSpPr>
        <p:grpSpPr>
          <a:xfrm>
            <a:off x="4463597" y="5801474"/>
            <a:ext cx="201168" cy="228600"/>
            <a:chOff x="4200143" y="4105656"/>
            <a:chExt cx="591313" cy="448056"/>
          </a:xfrm>
        </p:grpSpPr>
        <p:cxnSp>
          <p:nvCxnSpPr>
            <p:cNvPr id="12" name="Curved Connector 23">
              <a:extLst>
                <a:ext uri="{FF2B5EF4-FFF2-40B4-BE49-F238E27FC236}">
                  <a16:creationId xmlns:a16="http://schemas.microsoft.com/office/drawing/2014/main" id="{1D7F9EB1-FD37-4EE8-A26A-2540749EB7F2}"/>
                </a:ext>
              </a:extLst>
            </p:cNvPr>
            <p:cNvCxnSpPr/>
            <p:nvPr/>
          </p:nvCxnSpPr>
          <p:spPr>
            <a:xfrm rot="10800000">
              <a:off x="4200144" y="4105656"/>
              <a:ext cx="591312" cy="448056"/>
            </a:xfrm>
            <a:prstGeom prst="curvedConnector3">
              <a:avLst/>
            </a:prstGeom>
            <a:ln w="412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8440DA8-95BC-48DB-BAC5-2D66840B58D2}"/>
                </a:ext>
              </a:extLst>
            </p:cNvPr>
            <p:cNvCxnSpPr/>
            <p:nvPr/>
          </p:nvCxnSpPr>
          <p:spPr>
            <a:xfrm flipV="1">
              <a:off x="4200143" y="4105656"/>
              <a:ext cx="591313" cy="448056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0809564-E2F9-4D8D-96CB-83BCA3EF0470}"/>
              </a:ext>
            </a:extLst>
          </p:cNvPr>
          <p:cNvSpPr/>
          <p:nvPr/>
        </p:nvSpPr>
        <p:spPr>
          <a:xfrm>
            <a:off x="778565" y="1630018"/>
            <a:ext cx="25987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2= |V| – |E| + |F| </a:t>
            </a:r>
          </a:p>
        </p:txBody>
      </p:sp>
    </p:spTree>
    <p:extLst>
      <p:ext uri="{BB962C8B-B14F-4D97-AF65-F5344CB8AC3E}">
        <p14:creationId xmlns:p14="http://schemas.microsoft.com/office/powerpoint/2010/main" val="1996527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FD5E-0156-4465-A1CD-EA26BF5B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Euler’s Formula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EFB9D0-6AE2-4BB6-B305-D756BDA24DBF}"/>
              </a:ext>
            </a:extLst>
          </p:cNvPr>
          <p:cNvGrpSpPr/>
          <p:nvPr/>
        </p:nvGrpSpPr>
        <p:grpSpPr>
          <a:xfrm>
            <a:off x="5458547" y="2139318"/>
            <a:ext cx="750780" cy="1828800"/>
            <a:chOff x="1388364" y="1981200"/>
            <a:chExt cx="750780" cy="18288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B4220C5-E0BA-4BE1-919F-42B78B3061AA}"/>
                </a:ext>
              </a:extLst>
            </p:cNvPr>
            <p:cNvGrpSpPr/>
            <p:nvPr/>
          </p:nvGrpSpPr>
          <p:grpSpPr>
            <a:xfrm rot="5400000">
              <a:off x="1604362" y="2366361"/>
              <a:ext cx="875596" cy="182881"/>
              <a:chOff x="2565779" y="3354492"/>
              <a:chExt cx="1091821" cy="182880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E8FD5995-7BF4-41F7-8588-C3B93E9C21A9}"/>
                  </a:ext>
                </a:extLst>
              </p:cNvPr>
              <p:cNvCxnSpPr/>
              <p:nvPr/>
            </p:nvCxnSpPr>
            <p:spPr>
              <a:xfrm flipV="1">
                <a:off x="2565779" y="3430692"/>
                <a:ext cx="928048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636C581-C635-49EE-97EC-D33AA1B29494}"/>
                  </a:ext>
                </a:extLst>
              </p:cNvPr>
              <p:cNvSpPr/>
              <p:nvPr/>
            </p:nvSpPr>
            <p:spPr>
              <a:xfrm>
                <a:off x="3474720" y="3354492"/>
                <a:ext cx="182880" cy="182880"/>
              </a:xfrm>
              <a:prstGeom prst="ellipse">
                <a:avLst/>
              </a:prstGeom>
              <a:solidFill>
                <a:srgbClr val="770077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118583C-BC12-418D-A2BC-4FFF0BFB9C1C}"/>
                </a:ext>
              </a:extLst>
            </p:cNvPr>
            <p:cNvCxnSpPr/>
            <p:nvPr/>
          </p:nvCxnSpPr>
          <p:spPr>
            <a:xfrm rot="18000000" flipV="1">
              <a:off x="1329781" y="3255743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B28EB1B-7229-484E-B707-132F0EF6EC50}"/>
                </a:ext>
              </a:extLst>
            </p:cNvPr>
            <p:cNvSpPr/>
            <p:nvPr/>
          </p:nvSpPr>
          <p:spPr>
            <a:xfrm>
              <a:off x="1956264" y="272796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B22B95A-5DEC-4524-A91E-BEFE3E4459EB}"/>
                </a:ext>
              </a:extLst>
            </p:cNvPr>
            <p:cNvSpPr/>
            <p:nvPr/>
          </p:nvSpPr>
          <p:spPr>
            <a:xfrm>
              <a:off x="1956264" y="198120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47C2462-5182-471F-B151-3363CAB346ED}"/>
                </a:ext>
              </a:extLst>
            </p:cNvPr>
            <p:cNvSpPr/>
            <p:nvPr/>
          </p:nvSpPr>
          <p:spPr>
            <a:xfrm>
              <a:off x="1388364" y="362712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8A9B87F-5E3D-434D-8574-ACD222249938}"/>
              </a:ext>
            </a:extLst>
          </p:cNvPr>
          <p:cNvSpPr txBox="1"/>
          <p:nvPr/>
        </p:nvSpPr>
        <p:spPr>
          <a:xfrm>
            <a:off x="4953000" y="5277680"/>
            <a:ext cx="3420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 = 3 – 2 + 1 = 2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C0BE0FD-770E-48E9-89F3-88C3694FD4EC}"/>
              </a:ext>
            </a:extLst>
          </p:cNvPr>
          <p:cNvGrpSpPr/>
          <p:nvPr/>
        </p:nvGrpSpPr>
        <p:grpSpPr>
          <a:xfrm>
            <a:off x="4980432" y="5562935"/>
            <a:ext cx="201168" cy="228600"/>
            <a:chOff x="4200143" y="4105656"/>
            <a:chExt cx="591313" cy="448056"/>
          </a:xfrm>
        </p:grpSpPr>
        <p:cxnSp>
          <p:nvCxnSpPr>
            <p:cNvPr id="14" name="Curved Connector 25">
              <a:extLst>
                <a:ext uri="{FF2B5EF4-FFF2-40B4-BE49-F238E27FC236}">
                  <a16:creationId xmlns:a16="http://schemas.microsoft.com/office/drawing/2014/main" id="{19FF04B2-260C-4D35-94E8-DCBBBB053278}"/>
                </a:ext>
              </a:extLst>
            </p:cNvPr>
            <p:cNvCxnSpPr/>
            <p:nvPr/>
          </p:nvCxnSpPr>
          <p:spPr>
            <a:xfrm rot="10800000">
              <a:off x="4200144" y="4105656"/>
              <a:ext cx="591312" cy="448056"/>
            </a:xfrm>
            <a:prstGeom prst="curvedConnector3">
              <a:avLst/>
            </a:prstGeom>
            <a:ln w="412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6FFE824-2AC6-43EC-9532-D6FF0354F99D}"/>
                </a:ext>
              </a:extLst>
            </p:cNvPr>
            <p:cNvCxnSpPr/>
            <p:nvPr/>
          </p:nvCxnSpPr>
          <p:spPr>
            <a:xfrm flipV="1">
              <a:off x="4200143" y="4105656"/>
              <a:ext cx="591313" cy="448056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A90E65A4-8D41-4FE1-96A7-20283D82A78A}"/>
              </a:ext>
            </a:extLst>
          </p:cNvPr>
          <p:cNvSpPr/>
          <p:nvPr/>
        </p:nvSpPr>
        <p:spPr>
          <a:xfrm>
            <a:off x="1295400" y="1391479"/>
            <a:ext cx="25987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2= |V| – |E| + |F| </a:t>
            </a:r>
          </a:p>
        </p:txBody>
      </p:sp>
    </p:spTree>
    <p:extLst>
      <p:ext uri="{BB962C8B-B14F-4D97-AF65-F5344CB8AC3E}">
        <p14:creationId xmlns:p14="http://schemas.microsoft.com/office/powerpoint/2010/main" val="3173632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FD5E-0156-4465-A1CD-EA26BF5B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Euler’s Formula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C3437B3-BC5F-4952-83FB-F33AFD43CEC4}"/>
              </a:ext>
            </a:extLst>
          </p:cNvPr>
          <p:cNvGrpSpPr/>
          <p:nvPr/>
        </p:nvGrpSpPr>
        <p:grpSpPr>
          <a:xfrm>
            <a:off x="5458548" y="1980292"/>
            <a:ext cx="1247053" cy="1828800"/>
            <a:chOff x="1388364" y="1981200"/>
            <a:chExt cx="1247053" cy="18288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6728CAE-BA6B-4E04-BAD8-BEA0DDBE1C82}"/>
                </a:ext>
              </a:extLst>
            </p:cNvPr>
            <p:cNvCxnSpPr/>
            <p:nvPr/>
          </p:nvCxnSpPr>
          <p:spPr>
            <a:xfrm rot="14400000" flipV="1">
              <a:off x="1825388" y="3255743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6BD3F73-B319-482D-93C9-CBAC7D14B6AB}"/>
                </a:ext>
              </a:extLst>
            </p:cNvPr>
            <p:cNvGrpSpPr/>
            <p:nvPr/>
          </p:nvGrpSpPr>
          <p:grpSpPr>
            <a:xfrm rot="5400000">
              <a:off x="1604362" y="2366361"/>
              <a:ext cx="875596" cy="182881"/>
              <a:chOff x="2565779" y="3354492"/>
              <a:chExt cx="1091821" cy="182880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8912AC8E-5B94-4CFA-ABB1-7A8641A86359}"/>
                  </a:ext>
                </a:extLst>
              </p:cNvPr>
              <p:cNvCxnSpPr/>
              <p:nvPr/>
            </p:nvCxnSpPr>
            <p:spPr>
              <a:xfrm flipV="1">
                <a:off x="2565779" y="3430692"/>
                <a:ext cx="928048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836A6529-07E3-4336-B466-E7D27D894E7B}"/>
                  </a:ext>
                </a:extLst>
              </p:cNvPr>
              <p:cNvSpPr/>
              <p:nvPr/>
            </p:nvSpPr>
            <p:spPr>
              <a:xfrm>
                <a:off x="3474720" y="3354492"/>
                <a:ext cx="182880" cy="182880"/>
              </a:xfrm>
              <a:prstGeom prst="ellipse">
                <a:avLst/>
              </a:prstGeom>
              <a:solidFill>
                <a:srgbClr val="770077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2719ED4-4534-418B-A394-0DDFCB14BC89}"/>
                </a:ext>
              </a:extLst>
            </p:cNvPr>
            <p:cNvCxnSpPr/>
            <p:nvPr/>
          </p:nvCxnSpPr>
          <p:spPr>
            <a:xfrm rot="18000000" flipV="1">
              <a:off x="1329781" y="3255743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342966F-B3B4-4D72-A8A6-0F6ADC580649}"/>
                </a:ext>
              </a:extLst>
            </p:cNvPr>
            <p:cNvSpPr/>
            <p:nvPr/>
          </p:nvSpPr>
          <p:spPr>
            <a:xfrm>
              <a:off x="2452537" y="362712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59A82F4-8377-46D4-84AE-B42CE82791CF}"/>
                </a:ext>
              </a:extLst>
            </p:cNvPr>
            <p:cNvSpPr/>
            <p:nvPr/>
          </p:nvSpPr>
          <p:spPr>
            <a:xfrm>
              <a:off x="1956264" y="272796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C868798-CCC9-470E-8268-010E61587119}"/>
                </a:ext>
              </a:extLst>
            </p:cNvPr>
            <p:cNvSpPr/>
            <p:nvPr/>
          </p:nvSpPr>
          <p:spPr>
            <a:xfrm>
              <a:off x="1956264" y="198120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B2DC766-9EE8-4F53-BE44-40C22A0EE28A}"/>
                </a:ext>
              </a:extLst>
            </p:cNvPr>
            <p:cNvSpPr/>
            <p:nvPr/>
          </p:nvSpPr>
          <p:spPr>
            <a:xfrm>
              <a:off x="1388364" y="362712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4EA5D955-7135-4234-8F3D-6CF32D697A95}"/>
              </a:ext>
            </a:extLst>
          </p:cNvPr>
          <p:cNvSpPr txBox="1"/>
          <p:nvPr/>
        </p:nvSpPr>
        <p:spPr>
          <a:xfrm>
            <a:off x="4953000" y="5118654"/>
            <a:ext cx="3404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 = 4 – 3 + 1 =  2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EBAA3D3-3820-4191-ABD0-D1AD55893565}"/>
              </a:ext>
            </a:extLst>
          </p:cNvPr>
          <p:cNvGrpSpPr/>
          <p:nvPr/>
        </p:nvGrpSpPr>
        <p:grpSpPr>
          <a:xfrm>
            <a:off x="4980432" y="5403909"/>
            <a:ext cx="201168" cy="228600"/>
            <a:chOff x="4200143" y="4105656"/>
            <a:chExt cx="591313" cy="448056"/>
          </a:xfrm>
        </p:grpSpPr>
        <p:cxnSp>
          <p:nvCxnSpPr>
            <p:cNvPr id="29" name="Curved Connector 31">
              <a:extLst>
                <a:ext uri="{FF2B5EF4-FFF2-40B4-BE49-F238E27FC236}">
                  <a16:creationId xmlns:a16="http://schemas.microsoft.com/office/drawing/2014/main" id="{E0258BCB-88CB-4740-BB4B-DCCA46188703}"/>
                </a:ext>
              </a:extLst>
            </p:cNvPr>
            <p:cNvCxnSpPr/>
            <p:nvPr/>
          </p:nvCxnSpPr>
          <p:spPr>
            <a:xfrm rot="10800000">
              <a:off x="4200144" y="4105656"/>
              <a:ext cx="591312" cy="448056"/>
            </a:xfrm>
            <a:prstGeom prst="curvedConnector3">
              <a:avLst/>
            </a:prstGeom>
            <a:ln w="412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006CE6E-DA44-4B6E-8CAB-02567B3B1316}"/>
                </a:ext>
              </a:extLst>
            </p:cNvPr>
            <p:cNvCxnSpPr/>
            <p:nvPr/>
          </p:nvCxnSpPr>
          <p:spPr>
            <a:xfrm flipV="1">
              <a:off x="4200143" y="4105656"/>
              <a:ext cx="591313" cy="448056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48C229DD-7EA5-4B15-A49E-A93D23FAC068}"/>
              </a:ext>
            </a:extLst>
          </p:cNvPr>
          <p:cNvSpPr/>
          <p:nvPr/>
        </p:nvSpPr>
        <p:spPr>
          <a:xfrm>
            <a:off x="1295400" y="1232453"/>
            <a:ext cx="25987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2= |V| – |E| + |F| </a:t>
            </a:r>
          </a:p>
        </p:txBody>
      </p:sp>
    </p:spTree>
    <p:extLst>
      <p:ext uri="{BB962C8B-B14F-4D97-AF65-F5344CB8AC3E}">
        <p14:creationId xmlns:p14="http://schemas.microsoft.com/office/powerpoint/2010/main" val="1386948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FD5E-0156-4465-A1CD-EA26BF5B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Euler’s Formula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3054CC4-A6CE-43C4-9B15-72EE4C06081F}"/>
              </a:ext>
            </a:extLst>
          </p:cNvPr>
          <p:cNvGrpSpPr/>
          <p:nvPr/>
        </p:nvGrpSpPr>
        <p:grpSpPr>
          <a:xfrm>
            <a:off x="5458548" y="2288405"/>
            <a:ext cx="1247053" cy="2735580"/>
            <a:chOff x="1388364" y="1981200"/>
            <a:chExt cx="1247053" cy="27355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C2631D2-F6E7-4A21-94A3-FBFB29C55972}"/>
                </a:ext>
              </a:extLst>
            </p:cNvPr>
            <p:cNvCxnSpPr/>
            <p:nvPr/>
          </p:nvCxnSpPr>
          <p:spPr>
            <a:xfrm rot="5400000" flipV="1">
              <a:off x="2132320" y="4154806"/>
              <a:ext cx="842011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18C451A-A40D-4302-9C6A-22BB1B8252A0}"/>
                </a:ext>
              </a:extLst>
            </p:cNvPr>
            <p:cNvCxnSpPr/>
            <p:nvPr/>
          </p:nvCxnSpPr>
          <p:spPr>
            <a:xfrm rot="14400000" flipV="1">
              <a:off x="1825388" y="3255743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51924B0-1995-46D4-93DC-3F73A7B31BFA}"/>
                </a:ext>
              </a:extLst>
            </p:cNvPr>
            <p:cNvGrpSpPr/>
            <p:nvPr/>
          </p:nvGrpSpPr>
          <p:grpSpPr>
            <a:xfrm rot="5400000">
              <a:off x="1604362" y="2366361"/>
              <a:ext cx="875596" cy="182881"/>
              <a:chOff x="2565779" y="3354492"/>
              <a:chExt cx="1091821" cy="18288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A628F25F-1C4D-40AE-9163-FEFC4D726552}"/>
                  </a:ext>
                </a:extLst>
              </p:cNvPr>
              <p:cNvCxnSpPr/>
              <p:nvPr/>
            </p:nvCxnSpPr>
            <p:spPr>
              <a:xfrm flipV="1">
                <a:off x="2565779" y="3430692"/>
                <a:ext cx="928048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C59BFA9-2AC8-4E30-AECE-9ADCA33B4C88}"/>
                  </a:ext>
                </a:extLst>
              </p:cNvPr>
              <p:cNvSpPr/>
              <p:nvPr/>
            </p:nvSpPr>
            <p:spPr>
              <a:xfrm>
                <a:off x="3474720" y="3354492"/>
                <a:ext cx="182880" cy="182880"/>
              </a:xfrm>
              <a:prstGeom prst="ellipse">
                <a:avLst/>
              </a:prstGeom>
              <a:solidFill>
                <a:srgbClr val="770077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982E812-C43C-4DFA-BEAF-BA755ED38430}"/>
                </a:ext>
              </a:extLst>
            </p:cNvPr>
            <p:cNvCxnSpPr/>
            <p:nvPr/>
          </p:nvCxnSpPr>
          <p:spPr>
            <a:xfrm rot="18000000" flipV="1">
              <a:off x="1329781" y="3255743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34AF8D1-0E8B-4304-93DA-B17E33808140}"/>
                </a:ext>
              </a:extLst>
            </p:cNvPr>
            <p:cNvSpPr/>
            <p:nvPr/>
          </p:nvSpPr>
          <p:spPr>
            <a:xfrm>
              <a:off x="2452537" y="362712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22F6722-1133-48C3-9174-CF54EA3DF3F4}"/>
                </a:ext>
              </a:extLst>
            </p:cNvPr>
            <p:cNvSpPr/>
            <p:nvPr/>
          </p:nvSpPr>
          <p:spPr>
            <a:xfrm>
              <a:off x="1956264" y="272796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17551F0-B6AB-4C03-B872-7D67FA3CA871}"/>
                </a:ext>
              </a:extLst>
            </p:cNvPr>
            <p:cNvSpPr/>
            <p:nvPr/>
          </p:nvSpPr>
          <p:spPr>
            <a:xfrm>
              <a:off x="1956264" y="198120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E4516D5-706B-4872-8B68-7E29381115B6}"/>
                </a:ext>
              </a:extLst>
            </p:cNvPr>
            <p:cNvSpPr/>
            <p:nvPr/>
          </p:nvSpPr>
          <p:spPr>
            <a:xfrm>
              <a:off x="2452537" y="453390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6C14FB-D2A6-4182-A352-FB18D3016828}"/>
                </a:ext>
              </a:extLst>
            </p:cNvPr>
            <p:cNvSpPr/>
            <p:nvPr/>
          </p:nvSpPr>
          <p:spPr>
            <a:xfrm>
              <a:off x="1388364" y="362712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345BC63-E9B0-4607-9ECF-684D830C4440}"/>
              </a:ext>
            </a:extLst>
          </p:cNvPr>
          <p:cNvSpPr txBox="1"/>
          <p:nvPr/>
        </p:nvSpPr>
        <p:spPr>
          <a:xfrm>
            <a:off x="4953000" y="5426767"/>
            <a:ext cx="3387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 = 5 – 4 + 1 = 2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51F139-74BC-4C6D-B664-576BE0F7E066}"/>
              </a:ext>
            </a:extLst>
          </p:cNvPr>
          <p:cNvGrpSpPr/>
          <p:nvPr/>
        </p:nvGrpSpPr>
        <p:grpSpPr>
          <a:xfrm>
            <a:off x="4980432" y="5712022"/>
            <a:ext cx="201168" cy="228600"/>
            <a:chOff x="4200143" y="4105656"/>
            <a:chExt cx="591313" cy="448056"/>
          </a:xfrm>
        </p:grpSpPr>
        <p:cxnSp>
          <p:nvCxnSpPr>
            <p:cNvPr id="17" name="Curved Connector 28">
              <a:extLst>
                <a:ext uri="{FF2B5EF4-FFF2-40B4-BE49-F238E27FC236}">
                  <a16:creationId xmlns:a16="http://schemas.microsoft.com/office/drawing/2014/main" id="{54B32139-C90A-44E3-8572-2044CAB2F7B2}"/>
                </a:ext>
              </a:extLst>
            </p:cNvPr>
            <p:cNvCxnSpPr/>
            <p:nvPr/>
          </p:nvCxnSpPr>
          <p:spPr>
            <a:xfrm rot="10800000">
              <a:off x="4200144" y="4105656"/>
              <a:ext cx="591312" cy="448056"/>
            </a:xfrm>
            <a:prstGeom prst="curvedConnector3">
              <a:avLst/>
            </a:prstGeom>
            <a:ln w="412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49A5F64-2AF6-479A-9E11-CD9B5DECA319}"/>
                </a:ext>
              </a:extLst>
            </p:cNvPr>
            <p:cNvCxnSpPr/>
            <p:nvPr/>
          </p:nvCxnSpPr>
          <p:spPr>
            <a:xfrm flipV="1">
              <a:off x="4200143" y="4105656"/>
              <a:ext cx="591313" cy="448056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8A2DDE89-4EEF-4B86-AC0F-9F7E4FB548EB}"/>
              </a:ext>
            </a:extLst>
          </p:cNvPr>
          <p:cNvSpPr/>
          <p:nvPr/>
        </p:nvSpPr>
        <p:spPr>
          <a:xfrm>
            <a:off x="1295400" y="1540566"/>
            <a:ext cx="25987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2= |V| – |E| + |F| </a:t>
            </a:r>
          </a:p>
        </p:txBody>
      </p:sp>
    </p:spTree>
    <p:extLst>
      <p:ext uri="{BB962C8B-B14F-4D97-AF65-F5344CB8AC3E}">
        <p14:creationId xmlns:p14="http://schemas.microsoft.com/office/powerpoint/2010/main" val="3736170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FD5E-0156-4465-A1CD-EA26BF5B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Euler’s Formula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31C1F13-2E4C-4E2F-99D0-2D5F4EF6009A}"/>
              </a:ext>
            </a:extLst>
          </p:cNvPr>
          <p:cNvGrpSpPr/>
          <p:nvPr/>
        </p:nvGrpSpPr>
        <p:grpSpPr>
          <a:xfrm>
            <a:off x="4929720" y="2029987"/>
            <a:ext cx="1775881" cy="2735580"/>
            <a:chOff x="859536" y="1981200"/>
            <a:chExt cx="1775881" cy="27355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8C07BA7-4FF9-4071-B7A6-318E898ED74F}"/>
                </a:ext>
              </a:extLst>
            </p:cNvPr>
            <p:cNvCxnSpPr/>
            <p:nvPr/>
          </p:nvCxnSpPr>
          <p:spPr>
            <a:xfrm rot="5400000" flipV="1">
              <a:off x="2132320" y="4154806"/>
              <a:ext cx="842011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24682BD-D5CC-4098-9A00-EFCCE5CAA016}"/>
                </a:ext>
              </a:extLst>
            </p:cNvPr>
            <p:cNvCxnSpPr/>
            <p:nvPr/>
          </p:nvCxnSpPr>
          <p:spPr>
            <a:xfrm rot="14400000" flipV="1">
              <a:off x="1825388" y="3255743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05DBA30-7E2F-41EA-A2C0-84F530463C62}"/>
                </a:ext>
              </a:extLst>
            </p:cNvPr>
            <p:cNvGrpSpPr/>
            <p:nvPr/>
          </p:nvGrpSpPr>
          <p:grpSpPr>
            <a:xfrm rot="5400000">
              <a:off x="1604362" y="2366361"/>
              <a:ext cx="875596" cy="182881"/>
              <a:chOff x="2565779" y="3354492"/>
              <a:chExt cx="1091821" cy="182880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68028109-C9D1-4F7E-8274-1A01FA195A94}"/>
                  </a:ext>
                </a:extLst>
              </p:cNvPr>
              <p:cNvCxnSpPr/>
              <p:nvPr/>
            </p:nvCxnSpPr>
            <p:spPr>
              <a:xfrm flipV="1">
                <a:off x="2565779" y="3430692"/>
                <a:ext cx="928048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0D4892B-3F20-48AE-AE5C-E42E670F084D}"/>
                  </a:ext>
                </a:extLst>
              </p:cNvPr>
              <p:cNvSpPr/>
              <p:nvPr/>
            </p:nvSpPr>
            <p:spPr>
              <a:xfrm>
                <a:off x="3474720" y="3354492"/>
                <a:ext cx="182880" cy="182880"/>
              </a:xfrm>
              <a:prstGeom prst="ellipse">
                <a:avLst/>
              </a:prstGeom>
              <a:solidFill>
                <a:srgbClr val="770077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8C54E95-1631-43C3-ABD0-53ECC77F52D3}"/>
                </a:ext>
              </a:extLst>
            </p:cNvPr>
            <p:cNvCxnSpPr/>
            <p:nvPr/>
          </p:nvCxnSpPr>
          <p:spPr>
            <a:xfrm rot="18000000" flipV="1">
              <a:off x="1329781" y="3255743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CAD7547-1902-4BA8-9650-B453B0A1B8EB}"/>
                </a:ext>
              </a:extLst>
            </p:cNvPr>
            <p:cNvSpPr/>
            <p:nvPr/>
          </p:nvSpPr>
          <p:spPr>
            <a:xfrm>
              <a:off x="2452537" y="362712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6D267F4-C4A7-46D8-BD4A-61490D5632A9}"/>
                </a:ext>
              </a:extLst>
            </p:cNvPr>
            <p:cNvSpPr/>
            <p:nvPr/>
          </p:nvSpPr>
          <p:spPr>
            <a:xfrm>
              <a:off x="1956264" y="272796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62C9347-9AEC-4166-A4CF-1D9E7E795B06}"/>
                </a:ext>
              </a:extLst>
            </p:cNvPr>
            <p:cNvCxnSpPr/>
            <p:nvPr/>
          </p:nvCxnSpPr>
          <p:spPr>
            <a:xfrm rot="5400000" flipV="1">
              <a:off x="1088500" y="4168425"/>
              <a:ext cx="779561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4898D3D-3890-47E2-AF46-531C1916625D}"/>
                </a:ext>
              </a:extLst>
            </p:cNvPr>
            <p:cNvCxnSpPr/>
            <p:nvPr/>
          </p:nvCxnSpPr>
          <p:spPr>
            <a:xfrm rot="14400000" flipV="1">
              <a:off x="1268707" y="4170143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EE71488-58D1-493B-9EC7-A63D13704478}"/>
                </a:ext>
              </a:extLst>
            </p:cNvPr>
            <p:cNvCxnSpPr/>
            <p:nvPr/>
          </p:nvCxnSpPr>
          <p:spPr>
            <a:xfrm rot="18000000" flipV="1">
              <a:off x="773100" y="4170143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4897DDC-40EF-41B9-92D6-CBF5D2E3B325}"/>
                </a:ext>
              </a:extLst>
            </p:cNvPr>
            <p:cNvSpPr/>
            <p:nvPr/>
          </p:nvSpPr>
          <p:spPr>
            <a:xfrm>
              <a:off x="859536" y="453390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7B78995-05EC-4EED-B68F-B8551FA0E6FB}"/>
                </a:ext>
              </a:extLst>
            </p:cNvPr>
            <p:cNvSpPr/>
            <p:nvPr/>
          </p:nvSpPr>
          <p:spPr>
            <a:xfrm>
              <a:off x="1895856" y="453390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048F025-ABAC-44FC-9DEF-A3361F2B448C}"/>
                </a:ext>
              </a:extLst>
            </p:cNvPr>
            <p:cNvSpPr/>
            <p:nvPr/>
          </p:nvSpPr>
          <p:spPr>
            <a:xfrm>
              <a:off x="1956264" y="198120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C3DE168-FC96-4FE3-8BDE-5AEF58D4D69F}"/>
                </a:ext>
              </a:extLst>
            </p:cNvPr>
            <p:cNvSpPr/>
            <p:nvPr/>
          </p:nvSpPr>
          <p:spPr>
            <a:xfrm>
              <a:off x="1388364" y="453390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1937149-8393-41DA-86F2-7C4D339A2C6C}"/>
                </a:ext>
              </a:extLst>
            </p:cNvPr>
            <p:cNvSpPr/>
            <p:nvPr/>
          </p:nvSpPr>
          <p:spPr>
            <a:xfrm>
              <a:off x="2452537" y="453390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ECA8964-EA20-47D2-8051-0E898339BCED}"/>
                </a:ext>
              </a:extLst>
            </p:cNvPr>
            <p:cNvSpPr/>
            <p:nvPr/>
          </p:nvSpPr>
          <p:spPr>
            <a:xfrm>
              <a:off x="1388364" y="362712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ED69246-3A60-43D7-A8CC-6F5715FAAE2C}"/>
              </a:ext>
            </a:extLst>
          </p:cNvPr>
          <p:cNvSpPr txBox="1"/>
          <p:nvPr/>
        </p:nvSpPr>
        <p:spPr>
          <a:xfrm>
            <a:off x="4953000" y="5168349"/>
            <a:ext cx="3420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 = 8 – 7 + 1 = 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1662695-7B08-400B-87D5-CA41D132EAA9}"/>
              </a:ext>
            </a:extLst>
          </p:cNvPr>
          <p:cNvGrpSpPr/>
          <p:nvPr/>
        </p:nvGrpSpPr>
        <p:grpSpPr>
          <a:xfrm>
            <a:off x="4980432" y="5453604"/>
            <a:ext cx="201168" cy="228600"/>
            <a:chOff x="4200143" y="4105656"/>
            <a:chExt cx="591313" cy="448056"/>
          </a:xfrm>
        </p:grpSpPr>
        <p:cxnSp>
          <p:nvCxnSpPr>
            <p:cNvPr id="23" name="Curved Connector 28">
              <a:extLst>
                <a:ext uri="{FF2B5EF4-FFF2-40B4-BE49-F238E27FC236}">
                  <a16:creationId xmlns:a16="http://schemas.microsoft.com/office/drawing/2014/main" id="{C2C4ED26-EC1A-437A-A6EA-BA8FB0EF15D8}"/>
                </a:ext>
              </a:extLst>
            </p:cNvPr>
            <p:cNvCxnSpPr/>
            <p:nvPr/>
          </p:nvCxnSpPr>
          <p:spPr>
            <a:xfrm rot="10800000">
              <a:off x="4200144" y="4105656"/>
              <a:ext cx="591312" cy="448056"/>
            </a:xfrm>
            <a:prstGeom prst="curvedConnector3">
              <a:avLst/>
            </a:prstGeom>
            <a:ln w="412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94B20D9-33FB-4903-ACFE-87D9E1F1387F}"/>
                </a:ext>
              </a:extLst>
            </p:cNvPr>
            <p:cNvCxnSpPr/>
            <p:nvPr/>
          </p:nvCxnSpPr>
          <p:spPr>
            <a:xfrm flipV="1">
              <a:off x="4200143" y="4105656"/>
              <a:ext cx="591313" cy="448056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1640BA77-1BCA-461F-A45D-F318AD1D6052}"/>
              </a:ext>
            </a:extLst>
          </p:cNvPr>
          <p:cNvSpPr/>
          <p:nvPr/>
        </p:nvSpPr>
        <p:spPr>
          <a:xfrm>
            <a:off x="1295400" y="1282148"/>
            <a:ext cx="25987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2= |V| – |E| + |F| </a:t>
            </a:r>
          </a:p>
        </p:txBody>
      </p:sp>
    </p:spTree>
    <p:extLst>
      <p:ext uri="{BB962C8B-B14F-4D97-AF65-F5344CB8AC3E}">
        <p14:creationId xmlns:p14="http://schemas.microsoft.com/office/powerpoint/2010/main" val="2240086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FD5E-0156-4465-A1CD-EA26BF5B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Euler’s Formula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5ED776-F23C-4CAE-BE02-B6BAFD3525C6}"/>
              </a:ext>
            </a:extLst>
          </p:cNvPr>
          <p:cNvCxnSpPr>
            <a:cxnSpLocks/>
          </p:cNvCxnSpPr>
          <p:nvPr/>
        </p:nvCxnSpPr>
        <p:spPr>
          <a:xfrm>
            <a:off x="5593080" y="2942399"/>
            <a:ext cx="1053982" cy="0"/>
          </a:xfrm>
          <a:prstGeom prst="line">
            <a:avLst/>
          </a:prstGeom>
          <a:ln w="63500"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763E85A5-1CF2-464C-9951-C15DE3B0F9FB}"/>
              </a:ext>
            </a:extLst>
          </p:cNvPr>
          <p:cNvGrpSpPr/>
          <p:nvPr/>
        </p:nvGrpSpPr>
        <p:grpSpPr>
          <a:xfrm>
            <a:off x="4929720" y="1205039"/>
            <a:ext cx="1913053" cy="2735580"/>
            <a:chOff x="859536" y="1981200"/>
            <a:chExt cx="1775881" cy="273558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77C7D2E-1973-4E7D-89D5-3499FD50E8B8}"/>
                </a:ext>
              </a:extLst>
            </p:cNvPr>
            <p:cNvCxnSpPr/>
            <p:nvPr/>
          </p:nvCxnSpPr>
          <p:spPr>
            <a:xfrm rot="5400000" flipV="1">
              <a:off x="2132320" y="4154806"/>
              <a:ext cx="842011" cy="0"/>
            </a:xfrm>
            <a:prstGeom prst="line">
              <a:avLst/>
            </a:prstGeom>
            <a:ln w="63500">
              <a:solidFill>
                <a:srgbClr val="008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288EF09-F0EF-4FB5-A30A-D03D35821507}"/>
                </a:ext>
              </a:extLst>
            </p:cNvPr>
            <p:cNvCxnSpPr/>
            <p:nvPr/>
          </p:nvCxnSpPr>
          <p:spPr>
            <a:xfrm rot="14400000" flipV="1">
              <a:off x="1825388" y="3255743"/>
              <a:ext cx="928048" cy="0"/>
            </a:xfrm>
            <a:prstGeom prst="line">
              <a:avLst/>
            </a:prstGeom>
            <a:ln w="63500">
              <a:solidFill>
                <a:srgbClr val="008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2B1DFB8-13D3-4A72-9777-481884907741}"/>
                </a:ext>
              </a:extLst>
            </p:cNvPr>
            <p:cNvGrpSpPr/>
            <p:nvPr/>
          </p:nvGrpSpPr>
          <p:grpSpPr>
            <a:xfrm rot="5400000">
              <a:off x="1604362" y="2366361"/>
              <a:ext cx="875596" cy="182881"/>
              <a:chOff x="2565779" y="3354492"/>
              <a:chExt cx="1091821" cy="182880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F204D9E8-1A9B-4AC1-B349-E9D74DE07951}"/>
                  </a:ext>
                </a:extLst>
              </p:cNvPr>
              <p:cNvCxnSpPr/>
              <p:nvPr/>
            </p:nvCxnSpPr>
            <p:spPr>
              <a:xfrm flipV="1">
                <a:off x="2565779" y="3430692"/>
                <a:ext cx="928048" cy="0"/>
              </a:xfrm>
              <a:prstGeom prst="line">
                <a:avLst/>
              </a:prstGeom>
              <a:ln w="63500">
                <a:solidFill>
                  <a:srgbClr val="008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446D543C-A37F-40FF-B1D5-A057D8BFB045}"/>
                  </a:ext>
                </a:extLst>
              </p:cNvPr>
              <p:cNvSpPr/>
              <p:nvPr/>
            </p:nvSpPr>
            <p:spPr>
              <a:xfrm>
                <a:off x="3474720" y="3354492"/>
                <a:ext cx="182880" cy="182880"/>
              </a:xfrm>
              <a:prstGeom prst="ellipse">
                <a:avLst/>
              </a:prstGeom>
              <a:solidFill>
                <a:srgbClr val="770077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914ADB6-C3A6-4FA8-BE65-56F58E96DDB5}"/>
                </a:ext>
              </a:extLst>
            </p:cNvPr>
            <p:cNvCxnSpPr/>
            <p:nvPr/>
          </p:nvCxnSpPr>
          <p:spPr>
            <a:xfrm rot="18000000" flipV="1">
              <a:off x="1329781" y="3255743"/>
              <a:ext cx="928048" cy="0"/>
            </a:xfrm>
            <a:prstGeom prst="line">
              <a:avLst/>
            </a:prstGeom>
            <a:ln w="63500">
              <a:solidFill>
                <a:srgbClr val="008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F16A794-7B8E-4B43-A0C7-A8461178DCCD}"/>
                </a:ext>
              </a:extLst>
            </p:cNvPr>
            <p:cNvSpPr/>
            <p:nvPr/>
          </p:nvSpPr>
          <p:spPr>
            <a:xfrm>
              <a:off x="2452537" y="3627120"/>
              <a:ext cx="182880" cy="182880"/>
            </a:xfrm>
            <a:prstGeom prst="ellipse">
              <a:avLst/>
            </a:prstGeom>
            <a:solidFill>
              <a:srgbClr val="77007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E8BDA72-0B68-429B-982B-09026B8306FB}"/>
                </a:ext>
              </a:extLst>
            </p:cNvPr>
            <p:cNvSpPr/>
            <p:nvPr/>
          </p:nvSpPr>
          <p:spPr>
            <a:xfrm>
              <a:off x="1956264" y="2727960"/>
              <a:ext cx="182880" cy="182880"/>
            </a:xfrm>
            <a:prstGeom prst="ellipse">
              <a:avLst/>
            </a:prstGeom>
            <a:solidFill>
              <a:srgbClr val="77007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874AD9A-8C6D-432B-A716-C8EAD638DFC8}"/>
                </a:ext>
              </a:extLst>
            </p:cNvPr>
            <p:cNvCxnSpPr/>
            <p:nvPr/>
          </p:nvCxnSpPr>
          <p:spPr>
            <a:xfrm rot="5400000" flipV="1">
              <a:off x="1088500" y="4168425"/>
              <a:ext cx="779561" cy="0"/>
            </a:xfrm>
            <a:prstGeom prst="line">
              <a:avLst/>
            </a:prstGeom>
            <a:ln w="63500">
              <a:solidFill>
                <a:srgbClr val="008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A43F4C4-12DC-4636-8EF7-534C41B8BCE4}"/>
                </a:ext>
              </a:extLst>
            </p:cNvPr>
            <p:cNvCxnSpPr/>
            <p:nvPr/>
          </p:nvCxnSpPr>
          <p:spPr>
            <a:xfrm rot="14400000" flipV="1">
              <a:off x="1268707" y="4170143"/>
              <a:ext cx="928048" cy="0"/>
            </a:xfrm>
            <a:prstGeom prst="line">
              <a:avLst/>
            </a:prstGeom>
            <a:ln w="63500">
              <a:solidFill>
                <a:srgbClr val="008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0402CD8-2D77-45E3-B966-98E06D9E97AB}"/>
                </a:ext>
              </a:extLst>
            </p:cNvPr>
            <p:cNvCxnSpPr/>
            <p:nvPr/>
          </p:nvCxnSpPr>
          <p:spPr>
            <a:xfrm rot="18000000" flipV="1">
              <a:off x="773100" y="4170143"/>
              <a:ext cx="928048" cy="0"/>
            </a:xfrm>
            <a:prstGeom prst="line">
              <a:avLst/>
            </a:prstGeom>
            <a:ln w="63500">
              <a:solidFill>
                <a:srgbClr val="008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D978E7D-8550-46D5-BE3B-BE7D7BEA73A8}"/>
                </a:ext>
              </a:extLst>
            </p:cNvPr>
            <p:cNvSpPr/>
            <p:nvPr/>
          </p:nvSpPr>
          <p:spPr>
            <a:xfrm>
              <a:off x="859536" y="4533900"/>
              <a:ext cx="182880" cy="182880"/>
            </a:xfrm>
            <a:prstGeom prst="ellipse">
              <a:avLst/>
            </a:prstGeom>
            <a:solidFill>
              <a:srgbClr val="77007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B7B2D89-F6AE-4FD6-A856-DB35BFED6C18}"/>
                </a:ext>
              </a:extLst>
            </p:cNvPr>
            <p:cNvSpPr/>
            <p:nvPr/>
          </p:nvSpPr>
          <p:spPr>
            <a:xfrm>
              <a:off x="1895856" y="4533900"/>
              <a:ext cx="182880" cy="182880"/>
            </a:xfrm>
            <a:prstGeom prst="ellipse">
              <a:avLst/>
            </a:prstGeom>
            <a:solidFill>
              <a:srgbClr val="77007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DDE3C61-CF52-463C-8EA5-11636BED7F99}"/>
                </a:ext>
              </a:extLst>
            </p:cNvPr>
            <p:cNvSpPr/>
            <p:nvPr/>
          </p:nvSpPr>
          <p:spPr>
            <a:xfrm>
              <a:off x="1956264" y="1981200"/>
              <a:ext cx="182880" cy="182880"/>
            </a:xfrm>
            <a:prstGeom prst="ellipse">
              <a:avLst/>
            </a:prstGeom>
            <a:solidFill>
              <a:srgbClr val="77007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74D8942-F89E-496E-A76C-F7E40BB3105E}"/>
                </a:ext>
              </a:extLst>
            </p:cNvPr>
            <p:cNvSpPr/>
            <p:nvPr/>
          </p:nvSpPr>
          <p:spPr>
            <a:xfrm>
              <a:off x="1388364" y="4533900"/>
              <a:ext cx="182880" cy="182880"/>
            </a:xfrm>
            <a:prstGeom prst="ellipse">
              <a:avLst/>
            </a:prstGeom>
            <a:solidFill>
              <a:srgbClr val="77007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3BE4193-3B90-4814-AC3C-515D749ABD91}"/>
                </a:ext>
              </a:extLst>
            </p:cNvPr>
            <p:cNvSpPr/>
            <p:nvPr/>
          </p:nvSpPr>
          <p:spPr>
            <a:xfrm>
              <a:off x="2452537" y="4533900"/>
              <a:ext cx="182880" cy="182880"/>
            </a:xfrm>
            <a:prstGeom prst="ellipse">
              <a:avLst/>
            </a:prstGeom>
            <a:solidFill>
              <a:srgbClr val="77007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4E51D39-6BFA-4E16-A38B-19C04A43E060}"/>
                </a:ext>
              </a:extLst>
            </p:cNvPr>
            <p:cNvSpPr/>
            <p:nvPr/>
          </p:nvSpPr>
          <p:spPr>
            <a:xfrm>
              <a:off x="1388364" y="3627120"/>
              <a:ext cx="182880" cy="182880"/>
            </a:xfrm>
            <a:prstGeom prst="ellipse">
              <a:avLst/>
            </a:prstGeom>
            <a:solidFill>
              <a:srgbClr val="77007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85BF92A-696D-4868-BFBB-A99B9F670D5C}"/>
              </a:ext>
            </a:extLst>
          </p:cNvPr>
          <p:cNvSpPr txBox="1"/>
          <p:nvPr/>
        </p:nvSpPr>
        <p:spPr>
          <a:xfrm>
            <a:off x="4953000" y="4343401"/>
            <a:ext cx="3425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 = 8 – 8 + 2 = 2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3F0DB1C-086F-4905-B1F0-5A175C370498}"/>
              </a:ext>
            </a:extLst>
          </p:cNvPr>
          <p:cNvGrpSpPr/>
          <p:nvPr/>
        </p:nvGrpSpPr>
        <p:grpSpPr>
          <a:xfrm>
            <a:off x="4980432" y="4628656"/>
            <a:ext cx="216706" cy="228600"/>
            <a:chOff x="4200143" y="4105656"/>
            <a:chExt cx="591313" cy="448056"/>
          </a:xfrm>
        </p:grpSpPr>
        <p:cxnSp>
          <p:nvCxnSpPr>
            <p:cNvPr id="24" name="Curved Connector 32">
              <a:extLst>
                <a:ext uri="{FF2B5EF4-FFF2-40B4-BE49-F238E27FC236}">
                  <a16:creationId xmlns:a16="http://schemas.microsoft.com/office/drawing/2014/main" id="{CEB5CB55-E71A-436D-A5F3-FBBACB98DD3F}"/>
                </a:ext>
              </a:extLst>
            </p:cNvPr>
            <p:cNvCxnSpPr/>
            <p:nvPr/>
          </p:nvCxnSpPr>
          <p:spPr>
            <a:xfrm rot="10800000">
              <a:off x="4200144" y="4105656"/>
              <a:ext cx="591312" cy="448056"/>
            </a:xfrm>
            <a:prstGeom prst="curvedConnector3">
              <a:avLst/>
            </a:prstGeom>
            <a:ln w="412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40FE34-FF41-4FAD-BAEC-EB9C1D2CC088}"/>
                </a:ext>
              </a:extLst>
            </p:cNvPr>
            <p:cNvCxnSpPr/>
            <p:nvPr/>
          </p:nvCxnSpPr>
          <p:spPr>
            <a:xfrm flipV="1">
              <a:off x="4200143" y="4105656"/>
              <a:ext cx="591313" cy="448056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FF0D862A-2E8A-4DBA-8A38-B3BCE69F50EE}"/>
              </a:ext>
            </a:extLst>
          </p:cNvPr>
          <p:cNvSpPr txBox="1"/>
          <p:nvPr/>
        </p:nvSpPr>
        <p:spPr>
          <a:xfrm>
            <a:off x="2224063" y="5694216"/>
            <a:ext cx="3043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Not a tree.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70E03C4-8DEF-4A15-AD9D-F3A5F4A5F861}"/>
              </a:ext>
            </a:extLst>
          </p:cNvPr>
          <p:cNvSpPr/>
          <p:nvPr/>
        </p:nvSpPr>
        <p:spPr>
          <a:xfrm>
            <a:off x="1156253" y="1354361"/>
            <a:ext cx="27995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2= |V| – |E| + |F| </a:t>
            </a:r>
          </a:p>
        </p:txBody>
      </p:sp>
    </p:spTree>
    <p:extLst>
      <p:ext uri="{BB962C8B-B14F-4D97-AF65-F5344CB8AC3E}">
        <p14:creationId xmlns:p14="http://schemas.microsoft.com/office/powerpoint/2010/main" val="173260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FD5E-0156-4465-A1CD-EA26BF5B5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-9938"/>
            <a:ext cx="8504904" cy="1080000"/>
          </a:xfrm>
        </p:spPr>
        <p:txBody>
          <a:bodyPr/>
          <a:lstStyle/>
          <a:p>
            <a:r>
              <a:rPr lang="en-IN" dirty="0"/>
              <a:t>Euler’s Formula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43C8C94-6BF3-4C53-A55D-75B9A3E37E4A}"/>
              </a:ext>
            </a:extLst>
          </p:cNvPr>
          <p:cNvCxnSpPr/>
          <p:nvPr/>
        </p:nvCxnSpPr>
        <p:spPr>
          <a:xfrm flipV="1">
            <a:off x="5593080" y="3220691"/>
            <a:ext cx="978408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E0A3604-9419-4887-AF35-0BAFAB68CA74}"/>
              </a:ext>
            </a:extLst>
          </p:cNvPr>
          <p:cNvGrpSpPr/>
          <p:nvPr/>
        </p:nvGrpSpPr>
        <p:grpSpPr>
          <a:xfrm>
            <a:off x="4929720" y="1483331"/>
            <a:ext cx="1775881" cy="2735580"/>
            <a:chOff x="859536" y="1981200"/>
            <a:chExt cx="1775881" cy="2735580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B6A51A3-EB08-4D14-92CB-C6805A443A0D}"/>
                </a:ext>
              </a:extLst>
            </p:cNvPr>
            <p:cNvCxnSpPr/>
            <p:nvPr/>
          </p:nvCxnSpPr>
          <p:spPr>
            <a:xfrm rot="5400000" flipV="1">
              <a:off x="2132320" y="4154806"/>
              <a:ext cx="842011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9A40D54-0827-45F9-BB92-F89FB90C203A}"/>
                </a:ext>
              </a:extLst>
            </p:cNvPr>
            <p:cNvCxnSpPr/>
            <p:nvPr/>
          </p:nvCxnSpPr>
          <p:spPr>
            <a:xfrm rot="14400000" flipV="1">
              <a:off x="1825388" y="3255743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40B9DA9-986B-43FE-86C3-C26B97E14A49}"/>
                </a:ext>
              </a:extLst>
            </p:cNvPr>
            <p:cNvGrpSpPr/>
            <p:nvPr/>
          </p:nvGrpSpPr>
          <p:grpSpPr>
            <a:xfrm rot="5400000">
              <a:off x="1604362" y="2366361"/>
              <a:ext cx="875596" cy="182881"/>
              <a:chOff x="2565779" y="3354492"/>
              <a:chExt cx="1091821" cy="182880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E812873-B913-44FE-900C-E41EF7EFE4FA}"/>
                  </a:ext>
                </a:extLst>
              </p:cNvPr>
              <p:cNvCxnSpPr/>
              <p:nvPr/>
            </p:nvCxnSpPr>
            <p:spPr>
              <a:xfrm flipV="1">
                <a:off x="2565779" y="3430692"/>
                <a:ext cx="928048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466862CA-8FBB-45BE-9B16-EB283E5BF0E7}"/>
                  </a:ext>
                </a:extLst>
              </p:cNvPr>
              <p:cNvSpPr/>
              <p:nvPr/>
            </p:nvSpPr>
            <p:spPr>
              <a:xfrm>
                <a:off x="3474720" y="3354492"/>
                <a:ext cx="182880" cy="182880"/>
              </a:xfrm>
              <a:prstGeom prst="ellipse">
                <a:avLst/>
              </a:prstGeom>
              <a:solidFill>
                <a:srgbClr val="770077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6DB5A84-5102-42C2-840D-E110B8201247}"/>
                </a:ext>
              </a:extLst>
            </p:cNvPr>
            <p:cNvCxnSpPr/>
            <p:nvPr/>
          </p:nvCxnSpPr>
          <p:spPr>
            <a:xfrm rot="18000000" flipV="1">
              <a:off x="1329781" y="3255743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0069A0D-BDE0-44AE-BB0A-7E6105CBC085}"/>
                </a:ext>
              </a:extLst>
            </p:cNvPr>
            <p:cNvSpPr/>
            <p:nvPr/>
          </p:nvSpPr>
          <p:spPr>
            <a:xfrm>
              <a:off x="2452537" y="362712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56D7D87-F7F1-4D71-9623-8EC629A5D1A6}"/>
                </a:ext>
              </a:extLst>
            </p:cNvPr>
            <p:cNvSpPr/>
            <p:nvPr/>
          </p:nvSpPr>
          <p:spPr>
            <a:xfrm>
              <a:off x="1956264" y="272796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12AEBDA-F565-437A-89D9-BFF9840B6646}"/>
                </a:ext>
              </a:extLst>
            </p:cNvPr>
            <p:cNvCxnSpPr/>
            <p:nvPr/>
          </p:nvCxnSpPr>
          <p:spPr>
            <a:xfrm rot="5400000" flipV="1">
              <a:off x="1088500" y="4168425"/>
              <a:ext cx="779561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8A58BC2-BD7F-420F-A2E8-D0C498859EF4}"/>
                </a:ext>
              </a:extLst>
            </p:cNvPr>
            <p:cNvCxnSpPr/>
            <p:nvPr/>
          </p:nvCxnSpPr>
          <p:spPr>
            <a:xfrm rot="14400000" flipV="1">
              <a:off x="1268707" y="4170143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6B2F4C3-67E9-42CA-94A6-2D1DDA22CF15}"/>
                </a:ext>
              </a:extLst>
            </p:cNvPr>
            <p:cNvCxnSpPr/>
            <p:nvPr/>
          </p:nvCxnSpPr>
          <p:spPr>
            <a:xfrm rot="18000000" flipV="1">
              <a:off x="773100" y="4170143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344A300-B407-476F-B746-E6AB9D91B103}"/>
                </a:ext>
              </a:extLst>
            </p:cNvPr>
            <p:cNvSpPr/>
            <p:nvPr/>
          </p:nvSpPr>
          <p:spPr>
            <a:xfrm>
              <a:off x="859536" y="453390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BFC9ACE-3D73-41C7-8D0D-D05BA7FA31E2}"/>
                </a:ext>
              </a:extLst>
            </p:cNvPr>
            <p:cNvSpPr/>
            <p:nvPr/>
          </p:nvSpPr>
          <p:spPr>
            <a:xfrm>
              <a:off x="1895856" y="453390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28A2068-9629-45D8-AB3C-E26C1F226FC3}"/>
                </a:ext>
              </a:extLst>
            </p:cNvPr>
            <p:cNvSpPr/>
            <p:nvPr/>
          </p:nvSpPr>
          <p:spPr>
            <a:xfrm>
              <a:off x="1956264" y="198120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0888387-85B6-4894-A969-06081C7FA711}"/>
                </a:ext>
              </a:extLst>
            </p:cNvPr>
            <p:cNvSpPr/>
            <p:nvPr/>
          </p:nvSpPr>
          <p:spPr>
            <a:xfrm>
              <a:off x="1388364" y="453390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D7D82F0-D39B-45C1-AC9F-41D4EFC66FE2}"/>
                </a:ext>
              </a:extLst>
            </p:cNvPr>
            <p:cNvSpPr/>
            <p:nvPr/>
          </p:nvSpPr>
          <p:spPr>
            <a:xfrm>
              <a:off x="2452537" y="453390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B7001E2-570A-4059-BFCB-5118E6FF6382}"/>
                </a:ext>
              </a:extLst>
            </p:cNvPr>
            <p:cNvSpPr/>
            <p:nvPr/>
          </p:nvSpPr>
          <p:spPr>
            <a:xfrm>
              <a:off x="1388364" y="362712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FEB9FF55-56B8-4079-B85C-77C4D50EE4E1}"/>
              </a:ext>
            </a:extLst>
          </p:cNvPr>
          <p:cNvSpPr txBox="1"/>
          <p:nvPr/>
        </p:nvSpPr>
        <p:spPr>
          <a:xfrm>
            <a:off x="4953000" y="4621693"/>
            <a:ext cx="31796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 = 8 – 8 + 2 = 2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44C548D-37EC-427F-A1A4-B9EEFC344E95}"/>
              </a:ext>
            </a:extLst>
          </p:cNvPr>
          <p:cNvGrpSpPr/>
          <p:nvPr/>
        </p:nvGrpSpPr>
        <p:grpSpPr>
          <a:xfrm>
            <a:off x="4980432" y="4906948"/>
            <a:ext cx="201168" cy="228600"/>
            <a:chOff x="4200143" y="4105656"/>
            <a:chExt cx="591313" cy="448056"/>
          </a:xfrm>
        </p:grpSpPr>
        <p:cxnSp>
          <p:nvCxnSpPr>
            <p:cNvPr id="49" name="Curved Connector 32">
              <a:extLst>
                <a:ext uri="{FF2B5EF4-FFF2-40B4-BE49-F238E27FC236}">
                  <a16:creationId xmlns:a16="http://schemas.microsoft.com/office/drawing/2014/main" id="{3A06939B-195D-4937-83AB-2E9B78684A13}"/>
                </a:ext>
              </a:extLst>
            </p:cNvPr>
            <p:cNvCxnSpPr/>
            <p:nvPr/>
          </p:nvCxnSpPr>
          <p:spPr>
            <a:xfrm rot="10800000">
              <a:off x="4200144" y="4105656"/>
              <a:ext cx="591312" cy="448056"/>
            </a:xfrm>
            <a:prstGeom prst="curvedConnector3">
              <a:avLst/>
            </a:prstGeom>
            <a:ln w="412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81FE49C-8DE2-41C6-8D5B-FB9417F969F1}"/>
                </a:ext>
              </a:extLst>
            </p:cNvPr>
            <p:cNvCxnSpPr/>
            <p:nvPr/>
          </p:nvCxnSpPr>
          <p:spPr>
            <a:xfrm flipV="1">
              <a:off x="4200143" y="4105656"/>
              <a:ext cx="591313" cy="448056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5816AA51-F12A-4E73-99D5-3CC373073C2B}"/>
              </a:ext>
            </a:extLst>
          </p:cNvPr>
          <p:cNvSpPr txBox="1"/>
          <p:nvPr/>
        </p:nvSpPr>
        <p:spPr>
          <a:xfrm>
            <a:off x="2224063" y="5972508"/>
            <a:ext cx="2825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Not a tree.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C8D9786-A6B7-468C-9425-70C7EB3285F6}"/>
              </a:ext>
            </a:extLst>
          </p:cNvPr>
          <p:cNvSpPr/>
          <p:nvPr/>
        </p:nvSpPr>
        <p:spPr>
          <a:xfrm>
            <a:off x="924669" y="1522134"/>
            <a:ext cx="25987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2= |V| – |E| + |F| </a:t>
            </a:r>
          </a:p>
        </p:txBody>
      </p:sp>
    </p:spTree>
    <p:extLst>
      <p:ext uri="{BB962C8B-B14F-4D97-AF65-F5344CB8AC3E}">
        <p14:creationId xmlns:p14="http://schemas.microsoft.com/office/powerpoint/2010/main" val="496957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FD5E-0156-4465-A1CD-EA26BF5B5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-9938"/>
            <a:ext cx="8504904" cy="1080000"/>
          </a:xfrm>
        </p:spPr>
        <p:txBody>
          <a:bodyPr/>
          <a:lstStyle/>
          <a:p>
            <a:r>
              <a:rPr lang="en-IN" dirty="0"/>
              <a:t>Euler’s Formula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8E1CD53-C1D1-4E16-8D91-C975201970BE}"/>
              </a:ext>
            </a:extLst>
          </p:cNvPr>
          <p:cNvCxnSpPr/>
          <p:nvPr/>
        </p:nvCxnSpPr>
        <p:spPr>
          <a:xfrm flipV="1">
            <a:off x="6096000" y="4117978"/>
            <a:ext cx="521208" cy="0"/>
          </a:xfrm>
          <a:prstGeom prst="line">
            <a:avLst/>
          </a:prstGeom>
          <a:ln w="63500"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D6BDDE9-FC3F-4DFD-9EF2-894BBDD5FDB7}"/>
              </a:ext>
            </a:extLst>
          </p:cNvPr>
          <p:cNvCxnSpPr/>
          <p:nvPr/>
        </p:nvCxnSpPr>
        <p:spPr>
          <a:xfrm flipV="1">
            <a:off x="5593080" y="3210753"/>
            <a:ext cx="978408" cy="0"/>
          </a:xfrm>
          <a:prstGeom prst="line">
            <a:avLst/>
          </a:prstGeom>
          <a:ln w="63500"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8531868-6F81-40AA-B423-025D332D35D9}"/>
              </a:ext>
            </a:extLst>
          </p:cNvPr>
          <p:cNvGrpSpPr/>
          <p:nvPr/>
        </p:nvGrpSpPr>
        <p:grpSpPr>
          <a:xfrm>
            <a:off x="4929720" y="1473393"/>
            <a:ext cx="1775881" cy="2735580"/>
            <a:chOff x="859536" y="1981200"/>
            <a:chExt cx="1775881" cy="2735580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B4D68CA-4DCE-4156-BDC4-52AC10B68738}"/>
                </a:ext>
              </a:extLst>
            </p:cNvPr>
            <p:cNvCxnSpPr/>
            <p:nvPr/>
          </p:nvCxnSpPr>
          <p:spPr>
            <a:xfrm rot="5400000" flipV="1">
              <a:off x="2132320" y="4154806"/>
              <a:ext cx="842011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DB22AD5-2AB5-4F7A-8068-CF4BFE0D0CFF}"/>
                </a:ext>
              </a:extLst>
            </p:cNvPr>
            <p:cNvCxnSpPr/>
            <p:nvPr/>
          </p:nvCxnSpPr>
          <p:spPr>
            <a:xfrm rot="14400000" flipV="1">
              <a:off x="1825388" y="3255743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D3AFBDB2-D92D-4A33-94DB-F0AEEB0AE787}"/>
                </a:ext>
              </a:extLst>
            </p:cNvPr>
            <p:cNvGrpSpPr/>
            <p:nvPr/>
          </p:nvGrpSpPr>
          <p:grpSpPr>
            <a:xfrm rot="5400000">
              <a:off x="1604362" y="2366361"/>
              <a:ext cx="875596" cy="182881"/>
              <a:chOff x="2565779" y="3354492"/>
              <a:chExt cx="1091821" cy="182880"/>
            </a:xfrm>
          </p:grpSpPr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CC9173F9-F65B-4D52-8506-3D993FB6B2EF}"/>
                  </a:ext>
                </a:extLst>
              </p:cNvPr>
              <p:cNvCxnSpPr/>
              <p:nvPr/>
            </p:nvCxnSpPr>
            <p:spPr>
              <a:xfrm flipV="1">
                <a:off x="2565779" y="3430692"/>
                <a:ext cx="928048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B21CEDAF-4D8E-4272-B13F-D5F00EA42BFC}"/>
                  </a:ext>
                </a:extLst>
              </p:cNvPr>
              <p:cNvSpPr/>
              <p:nvPr/>
            </p:nvSpPr>
            <p:spPr>
              <a:xfrm>
                <a:off x="3474720" y="3354492"/>
                <a:ext cx="182880" cy="182880"/>
              </a:xfrm>
              <a:prstGeom prst="ellipse">
                <a:avLst/>
              </a:prstGeom>
              <a:solidFill>
                <a:srgbClr val="770077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B5125F1-E203-4FF6-964A-4C9B25543BF1}"/>
                </a:ext>
              </a:extLst>
            </p:cNvPr>
            <p:cNvCxnSpPr/>
            <p:nvPr/>
          </p:nvCxnSpPr>
          <p:spPr>
            <a:xfrm rot="18000000" flipV="1">
              <a:off x="1329781" y="3255743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DF004DBA-4069-433E-A43B-1E32E7BF68C3}"/>
                </a:ext>
              </a:extLst>
            </p:cNvPr>
            <p:cNvSpPr/>
            <p:nvPr/>
          </p:nvSpPr>
          <p:spPr>
            <a:xfrm>
              <a:off x="2452537" y="362712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FD8F5352-9B47-4A9B-9F78-C760E4D251D5}"/>
                </a:ext>
              </a:extLst>
            </p:cNvPr>
            <p:cNvSpPr/>
            <p:nvPr/>
          </p:nvSpPr>
          <p:spPr>
            <a:xfrm>
              <a:off x="1956264" y="272796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69A7417-FB77-4E82-A507-A5D8C9BDDC26}"/>
                </a:ext>
              </a:extLst>
            </p:cNvPr>
            <p:cNvCxnSpPr/>
            <p:nvPr/>
          </p:nvCxnSpPr>
          <p:spPr>
            <a:xfrm rot="5400000" flipV="1">
              <a:off x="1088500" y="4168425"/>
              <a:ext cx="779561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2C7C3A5-D50A-4364-A46B-2E33302874D6}"/>
                </a:ext>
              </a:extLst>
            </p:cNvPr>
            <p:cNvCxnSpPr/>
            <p:nvPr/>
          </p:nvCxnSpPr>
          <p:spPr>
            <a:xfrm rot="14400000" flipV="1">
              <a:off x="1268707" y="4170143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0D80FE7-1466-4A6E-8A0D-4F0624C068BB}"/>
                </a:ext>
              </a:extLst>
            </p:cNvPr>
            <p:cNvCxnSpPr/>
            <p:nvPr/>
          </p:nvCxnSpPr>
          <p:spPr>
            <a:xfrm rot="18000000" flipV="1">
              <a:off x="773100" y="4170143"/>
              <a:ext cx="928048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C9E3B73-F963-4358-86F1-E7955F6692FD}"/>
                </a:ext>
              </a:extLst>
            </p:cNvPr>
            <p:cNvSpPr/>
            <p:nvPr/>
          </p:nvSpPr>
          <p:spPr>
            <a:xfrm>
              <a:off x="859536" y="453390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1297CA56-F59D-483A-A21C-9A9F627DD5A2}"/>
                </a:ext>
              </a:extLst>
            </p:cNvPr>
            <p:cNvSpPr/>
            <p:nvPr/>
          </p:nvSpPr>
          <p:spPr>
            <a:xfrm>
              <a:off x="1895856" y="453390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9071A0BB-8DDA-4FC2-9585-34F9A7117D4F}"/>
                </a:ext>
              </a:extLst>
            </p:cNvPr>
            <p:cNvSpPr/>
            <p:nvPr/>
          </p:nvSpPr>
          <p:spPr>
            <a:xfrm>
              <a:off x="1956264" y="198120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03490DE1-49A1-43FE-8E26-E8DF3AC98C8A}"/>
                </a:ext>
              </a:extLst>
            </p:cNvPr>
            <p:cNvSpPr/>
            <p:nvPr/>
          </p:nvSpPr>
          <p:spPr>
            <a:xfrm>
              <a:off x="1388364" y="453390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2A698A3B-D3F6-4444-8E0B-BF3AAB2AACE9}"/>
                </a:ext>
              </a:extLst>
            </p:cNvPr>
            <p:cNvSpPr/>
            <p:nvPr/>
          </p:nvSpPr>
          <p:spPr>
            <a:xfrm>
              <a:off x="2452537" y="453390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D3ADC71-B962-442F-9BEB-B18D53E5DAA3}"/>
                </a:ext>
              </a:extLst>
            </p:cNvPr>
            <p:cNvSpPr/>
            <p:nvPr/>
          </p:nvSpPr>
          <p:spPr>
            <a:xfrm>
              <a:off x="1388364" y="3627120"/>
              <a:ext cx="182880" cy="182880"/>
            </a:xfrm>
            <a:prstGeom prst="ellipse">
              <a:avLst/>
            </a:prstGeom>
            <a:solidFill>
              <a:srgbClr val="77007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46EE41EC-CE95-4FDB-A629-E6BD5A60B29D}"/>
              </a:ext>
            </a:extLst>
          </p:cNvPr>
          <p:cNvSpPr txBox="1"/>
          <p:nvPr/>
        </p:nvSpPr>
        <p:spPr>
          <a:xfrm>
            <a:off x="4840357" y="4611755"/>
            <a:ext cx="3806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 = 8 – 9 + 3  = 2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5D5C2F1-74F3-46D2-8775-0630F7E92E1F}"/>
              </a:ext>
            </a:extLst>
          </p:cNvPr>
          <p:cNvGrpSpPr/>
          <p:nvPr/>
        </p:nvGrpSpPr>
        <p:grpSpPr>
          <a:xfrm>
            <a:off x="4980432" y="4897010"/>
            <a:ext cx="201168" cy="228600"/>
            <a:chOff x="4200143" y="4105656"/>
            <a:chExt cx="591313" cy="448056"/>
          </a:xfrm>
        </p:grpSpPr>
        <p:cxnSp>
          <p:nvCxnSpPr>
            <p:cNvPr id="75" name="Curved Connector 31">
              <a:extLst>
                <a:ext uri="{FF2B5EF4-FFF2-40B4-BE49-F238E27FC236}">
                  <a16:creationId xmlns:a16="http://schemas.microsoft.com/office/drawing/2014/main" id="{0A94B5D9-7159-45D5-9AA7-DC73EB554C26}"/>
                </a:ext>
              </a:extLst>
            </p:cNvPr>
            <p:cNvCxnSpPr/>
            <p:nvPr/>
          </p:nvCxnSpPr>
          <p:spPr>
            <a:xfrm rot="10800000">
              <a:off x="4200144" y="4105656"/>
              <a:ext cx="591312" cy="448056"/>
            </a:xfrm>
            <a:prstGeom prst="curvedConnector3">
              <a:avLst/>
            </a:prstGeom>
            <a:ln w="412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2576860-97DE-4432-99A6-6AF5B2C8AF44}"/>
                </a:ext>
              </a:extLst>
            </p:cNvPr>
            <p:cNvCxnSpPr/>
            <p:nvPr/>
          </p:nvCxnSpPr>
          <p:spPr>
            <a:xfrm flipV="1">
              <a:off x="4200143" y="4105656"/>
              <a:ext cx="591313" cy="448056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1AB0A1DB-4BA4-444B-8D40-3AE2470873EA}"/>
              </a:ext>
            </a:extLst>
          </p:cNvPr>
          <p:cNvSpPr txBox="1"/>
          <p:nvPr/>
        </p:nvSpPr>
        <p:spPr>
          <a:xfrm>
            <a:off x="2224063" y="5962570"/>
            <a:ext cx="2825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Not a tree.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A68E183-51A8-42EF-B6E7-46F68A4838B0}"/>
              </a:ext>
            </a:extLst>
          </p:cNvPr>
          <p:cNvSpPr/>
          <p:nvPr/>
        </p:nvSpPr>
        <p:spPr>
          <a:xfrm>
            <a:off x="818322" y="1571467"/>
            <a:ext cx="25987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2= |V| – |E| + |F| </a:t>
            </a:r>
          </a:p>
        </p:txBody>
      </p:sp>
    </p:spTree>
    <p:extLst>
      <p:ext uri="{BB962C8B-B14F-4D97-AF65-F5344CB8AC3E}">
        <p14:creationId xmlns:p14="http://schemas.microsoft.com/office/powerpoint/2010/main" val="3261434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FD5E-0156-4465-A1CD-EA26BF5B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Euler’s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B638-637E-428E-AC91-58A2C24D6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Suppose that a connected planar graph has six vertices, each of degree four. Into how many regions is the plane divided by a planar representation of this graph?</a:t>
            </a:r>
          </a:p>
          <a:p>
            <a:pPr marL="0" indent="0">
              <a:buNone/>
            </a:pPr>
            <a:r>
              <a:rPr lang="en-US" b="1" dirty="0"/>
              <a:t>Sol:- </a:t>
            </a:r>
            <a:r>
              <a:rPr lang="en-US" dirty="0"/>
              <a:t>By Euler's formula r = e - v + 2.  Given v = 6. </a:t>
            </a:r>
          </a:p>
          <a:p>
            <a:pPr marL="0" indent="0">
              <a:buNone/>
            </a:pPr>
            <a:r>
              <a:rPr lang="en-US" dirty="0"/>
              <a:t>Given that each vertex has degree 4,</a:t>
            </a:r>
          </a:p>
          <a:p>
            <a:pPr marL="0" indent="0">
              <a:buNone/>
            </a:pPr>
            <a:r>
              <a:rPr lang="en-US" dirty="0"/>
              <a:t>Then sum of the degrees is 6*4=24. </a:t>
            </a:r>
          </a:p>
          <a:p>
            <a:pPr marL="0" indent="0">
              <a:buNone/>
            </a:pPr>
            <a:r>
              <a:rPr lang="en-US" dirty="0"/>
              <a:t>By the handshaking theorem there are e= 24/2=12 edges</a:t>
            </a:r>
          </a:p>
          <a:p>
            <a:pPr marL="0" indent="0">
              <a:buNone/>
            </a:pPr>
            <a:r>
              <a:rPr lang="en-US" dirty="0"/>
              <a:t>Solving r=12-6+2 =6+2, r = 8.</a:t>
            </a:r>
          </a:p>
          <a:p>
            <a:pPr marL="0" indent="0">
              <a:buNone/>
            </a:pPr>
            <a:r>
              <a:rPr lang="sl-SI" altLang="en-US" b="1" dirty="0"/>
              <a:t>Answer: </a:t>
            </a:r>
            <a:r>
              <a:rPr lang="en-US" altLang="en-US" b="1" dirty="0"/>
              <a:t>c(8)</a:t>
            </a:r>
            <a:r>
              <a:rPr lang="sl-SI" altLang="en-US" b="1" dirty="0"/>
              <a:t>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74890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FD5E-0156-4465-A1CD-EA26BF5B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Euler’s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B638-637E-428E-AC91-58A2C24D6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How many regions would be in a plane graph with 10 vertices each of degree 3?</a:t>
            </a:r>
          </a:p>
          <a:p>
            <a:pPr marL="0" indent="0">
              <a:buNone/>
            </a:pPr>
            <a:r>
              <a:rPr lang="en-US" b="1" dirty="0"/>
              <a:t>Sol:- </a:t>
            </a:r>
            <a:r>
              <a:rPr lang="en-US" dirty="0"/>
              <a:t>By Euler's formula r = e - v + 2.  Given v = 10. </a:t>
            </a:r>
          </a:p>
          <a:p>
            <a:pPr marL="0" indent="0">
              <a:buNone/>
            </a:pPr>
            <a:r>
              <a:rPr lang="en-US" dirty="0"/>
              <a:t>Given that each vertex has degree 4,</a:t>
            </a:r>
          </a:p>
          <a:p>
            <a:pPr marL="0" indent="0">
              <a:buNone/>
            </a:pPr>
            <a:r>
              <a:rPr lang="en-US" dirty="0"/>
              <a:t>Then sum of the degrees is 10*3=30. </a:t>
            </a:r>
          </a:p>
          <a:p>
            <a:pPr marL="0" indent="0">
              <a:buNone/>
            </a:pPr>
            <a:r>
              <a:rPr lang="en-US" dirty="0"/>
              <a:t>By the handshaking theorem there are e= 30/2=15 edges</a:t>
            </a:r>
          </a:p>
          <a:p>
            <a:pPr marL="0" indent="0">
              <a:buNone/>
            </a:pPr>
            <a:r>
              <a:rPr lang="en-US" dirty="0"/>
              <a:t>Solving r=15-10+2 =5+2, r = 7.</a:t>
            </a:r>
          </a:p>
          <a:p>
            <a:pPr marL="0" indent="0">
              <a:buNone/>
            </a:pPr>
            <a:r>
              <a:rPr lang="sl-SI" altLang="en-US" b="1" dirty="0"/>
              <a:t>Answer: </a:t>
            </a:r>
            <a:r>
              <a:rPr lang="en-US" altLang="en-US" b="1" dirty="0"/>
              <a:t>c(7)</a:t>
            </a:r>
            <a:r>
              <a:rPr lang="sl-SI" altLang="en-US" b="1" dirty="0"/>
              <a:t>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853317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1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10007</TotalTime>
  <Words>802</Words>
  <Application>Microsoft Office PowerPoint</Application>
  <PresentationFormat>On-screen Show (4:3)</PresentationFormat>
  <Paragraphs>90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Arial</vt:lpstr>
      <vt:lpstr>Bahnschrift</vt:lpstr>
      <vt:lpstr>Bahnschrift SemiBold</vt:lpstr>
      <vt:lpstr>Calibri</vt:lpstr>
      <vt:lpstr>Times New Roman</vt:lpstr>
      <vt:lpstr>Office Theme</vt:lpstr>
      <vt:lpstr>EMTH403</vt:lpstr>
      <vt:lpstr>Lecture Outcomes</vt:lpstr>
      <vt:lpstr>Theorem 1 (Kuratowski, 1930)</vt:lpstr>
      <vt:lpstr>Planar Graphs</vt:lpstr>
      <vt:lpstr>Planar Graphs</vt:lpstr>
      <vt:lpstr>Euler’s Formula</vt:lpstr>
      <vt:lpstr>Euler’s Formula</vt:lpstr>
      <vt:lpstr>Euler’s Formula</vt:lpstr>
      <vt:lpstr>Euler’s Formula</vt:lpstr>
      <vt:lpstr>Euler’s Formula</vt:lpstr>
      <vt:lpstr>Euler’s Formula</vt:lpstr>
      <vt:lpstr>Euler’s Formula</vt:lpstr>
      <vt:lpstr>Euler’s Formula</vt:lpstr>
      <vt:lpstr>Euler’s Formula</vt:lpstr>
      <vt:lpstr>Euler’s Formula</vt:lpstr>
      <vt:lpstr>Euler’s Formula</vt:lpstr>
      <vt:lpstr>Euler’s Formula</vt:lpstr>
      <vt:lpstr>Euler’s Formula</vt:lpstr>
      <vt:lpstr>Euler’s Formula</vt:lpstr>
      <vt:lpstr>Euler’s Formula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Mishra</dc:creator>
  <cp:lastModifiedBy>video recording 1</cp:lastModifiedBy>
  <cp:revision>1574</cp:revision>
  <dcterms:created xsi:type="dcterms:W3CDTF">2020-12-04T05:20:56Z</dcterms:created>
  <dcterms:modified xsi:type="dcterms:W3CDTF">2021-01-23T08:04:14Z</dcterms:modified>
</cp:coreProperties>
</file>