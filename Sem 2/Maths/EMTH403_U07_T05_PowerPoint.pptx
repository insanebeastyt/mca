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410" r:id="rId4"/>
    <p:sldId id="409" r:id="rId5"/>
    <p:sldId id="399" r:id="rId6"/>
    <p:sldId id="391" r:id="rId7"/>
    <p:sldId id="401" r:id="rId8"/>
    <p:sldId id="400" r:id="rId9"/>
    <p:sldId id="402" r:id="rId10"/>
    <p:sldId id="403" r:id="rId11"/>
    <p:sldId id="404" r:id="rId12"/>
    <p:sldId id="405" r:id="rId13"/>
    <p:sldId id="406" r:id="rId14"/>
    <p:sldId id="407" r:id="rId15"/>
    <p:sldId id="393" r:id="rId16"/>
    <p:sldId id="408" r:id="rId17"/>
    <p:sldId id="25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410"/>
            <p14:sldId id="409"/>
            <p14:sldId id="399"/>
            <p14:sldId id="391"/>
            <p14:sldId id="401"/>
            <p14:sldId id="400"/>
            <p14:sldId id="402"/>
            <p14:sldId id="403"/>
            <p14:sldId id="404"/>
            <p14:sldId id="405"/>
            <p14:sldId id="406"/>
            <p14:sldId id="407"/>
            <p14:sldId id="393"/>
            <p14:sldId id="40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6CC"/>
    <a:srgbClr val="BA202B"/>
    <a:srgbClr val="4472C4"/>
    <a:srgbClr val="DDDDDD"/>
    <a:srgbClr val="BBBBBB"/>
    <a:srgbClr val="00A2B8"/>
    <a:srgbClr val="00B451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/>
          <a:p>
            <a:r>
              <a:rPr lang="en-US" dirty="0"/>
              <a:t>understand what are isomorphic graph</a:t>
            </a:r>
          </a:p>
          <a:p>
            <a:r>
              <a:rPr lang="en-US" dirty="0"/>
              <a:t>understand what </a:t>
            </a:r>
            <a:r>
              <a:rPr lang="en-IN" dirty="0"/>
              <a:t>is an isomorphism.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5DE4C-CE71-43C7-8942-D1C932C2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Graph Isomorphism - 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767DB-CB6B-48AB-8145-05571D587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b="0" i="0" u="none" strike="noStrike" baseline="0" dirty="0"/>
              <a:t>The simple graphs </a:t>
            </a:r>
            <a:r>
              <a:rPr lang="en-US" sz="2400" b="0" i="1" u="none" strike="noStrike" baseline="0" dirty="0"/>
              <a:t>G</a:t>
            </a:r>
            <a:r>
              <a:rPr lang="en-US" sz="2400" b="0" i="0" u="none" strike="noStrike" baseline="-25000" dirty="0"/>
              <a:t>1</a:t>
            </a:r>
            <a:r>
              <a:rPr lang="en-US" sz="2400" b="0" i="0" u="none" strike="noStrike" baseline="0" dirty="0"/>
              <a:t> = </a:t>
            </a:r>
            <a:r>
              <a:rPr lang="en-US" sz="2400" b="0" i="1" u="none" strike="noStrike" baseline="0" dirty="0"/>
              <a:t>(V</a:t>
            </a:r>
            <a:r>
              <a:rPr lang="en-US" sz="2400" b="0" i="0" u="none" strike="noStrike" baseline="-25000" dirty="0"/>
              <a:t>1</a:t>
            </a:r>
            <a:r>
              <a:rPr lang="en-US" sz="2400" b="0" i="1" u="none" strike="noStrike" baseline="0" dirty="0"/>
              <a:t>,E</a:t>
            </a:r>
            <a:r>
              <a:rPr lang="en-US" sz="2400" b="0" i="0" u="none" strike="noStrike" baseline="-25000" dirty="0"/>
              <a:t>1</a:t>
            </a:r>
            <a:r>
              <a:rPr lang="en-US" sz="2400" b="0" i="1" u="none" strike="noStrike" baseline="0" dirty="0"/>
              <a:t>) </a:t>
            </a:r>
            <a:r>
              <a:rPr lang="en-US" sz="2400" b="0" i="0" u="none" strike="noStrike" baseline="0" dirty="0"/>
              <a:t>and </a:t>
            </a:r>
            <a:r>
              <a:rPr lang="en-US" sz="2400" b="0" i="1" u="none" strike="noStrike" baseline="0" dirty="0"/>
              <a:t>G</a:t>
            </a:r>
            <a:r>
              <a:rPr lang="en-US" sz="2400" b="0" i="0" u="none" strike="noStrike" baseline="-25000" dirty="0"/>
              <a:t>2</a:t>
            </a:r>
            <a:r>
              <a:rPr lang="en-US" sz="2400" b="0" i="0" u="none" strike="noStrike" baseline="0" dirty="0"/>
              <a:t> = </a:t>
            </a:r>
            <a:r>
              <a:rPr lang="en-US" sz="2400" b="0" i="1" u="none" strike="noStrike" baseline="0" dirty="0"/>
              <a:t>(V</a:t>
            </a:r>
            <a:r>
              <a:rPr lang="en-US" sz="2400" b="0" i="0" u="none" strike="noStrike" baseline="-25000" dirty="0"/>
              <a:t>2</a:t>
            </a:r>
            <a:r>
              <a:rPr lang="en-US" sz="2400" b="0" i="1" u="none" strike="noStrike" baseline="0" dirty="0"/>
              <a:t>,E</a:t>
            </a:r>
            <a:r>
              <a:rPr lang="en-US" sz="2400" b="0" i="0" u="none" strike="noStrike" baseline="-25000" dirty="0"/>
              <a:t>2</a:t>
            </a:r>
            <a:r>
              <a:rPr lang="en-US" sz="2400" b="0" i="1" u="none" strike="noStrike" baseline="0" dirty="0"/>
              <a:t>) </a:t>
            </a:r>
            <a:r>
              <a:rPr lang="en-US" sz="2400" b="0" i="0" u="none" strike="noStrike" baseline="0" dirty="0"/>
              <a:t>are </a:t>
            </a:r>
            <a:r>
              <a:rPr lang="en-US" sz="2400" b="0" i="1" u="none" strike="noStrike" baseline="0" dirty="0"/>
              <a:t>isomorphic </a:t>
            </a:r>
            <a:r>
              <a:rPr lang="en-US" sz="2400" b="0" i="0" u="none" strike="noStrike" baseline="0" dirty="0"/>
              <a:t>if there exists a one to-one and onto function </a:t>
            </a:r>
            <a:r>
              <a:rPr lang="en-US" sz="2400" b="0" i="1" u="none" strike="noStrike" baseline="0" dirty="0"/>
              <a:t>f </a:t>
            </a:r>
            <a:r>
              <a:rPr lang="en-US" sz="2400" b="0" i="0" u="none" strike="noStrike" baseline="0" dirty="0"/>
              <a:t>from </a:t>
            </a:r>
            <a:r>
              <a:rPr lang="en-US" sz="2400" b="0" i="1" u="none" strike="noStrike" baseline="0" dirty="0"/>
              <a:t>V</a:t>
            </a:r>
            <a:r>
              <a:rPr lang="en-US" sz="2400" b="0" i="0" u="none" strike="noStrike" baseline="-25000" dirty="0"/>
              <a:t>1</a:t>
            </a:r>
            <a:r>
              <a:rPr lang="en-US" sz="2400" b="0" i="0" u="none" strike="noStrike" baseline="0" dirty="0"/>
              <a:t> to </a:t>
            </a:r>
            <a:r>
              <a:rPr lang="en-US" sz="2400" b="0" i="1" u="none" strike="noStrike" baseline="0" dirty="0"/>
              <a:t>V</a:t>
            </a:r>
            <a:r>
              <a:rPr lang="en-US" sz="2400" b="0" i="0" u="none" strike="noStrike" baseline="-25000" dirty="0"/>
              <a:t>2</a:t>
            </a:r>
            <a:r>
              <a:rPr lang="en-US" sz="2400" b="0" i="0" u="none" strike="noStrike" baseline="0" dirty="0"/>
              <a:t> with the property that </a:t>
            </a:r>
            <a:r>
              <a:rPr lang="en-US" sz="2400" b="0" i="1" u="none" strike="noStrike" baseline="0" dirty="0"/>
              <a:t>a </a:t>
            </a:r>
            <a:r>
              <a:rPr lang="en-US" sz="2400" b="0" i="0" u="none" strike="noStrike" baseline="0" dirty="0"/>
              <a:t>and </a:t>
            </a:r>
            <a:r>
              <a:rPr lang="en-US" sz="2400" b="0" i="1" u="none" strike="noStrike" baseline="0" dirty="0"/>
              <a:t>b </a:t>
            </a:r>
            <a:r>
              <a:rPr lang="en-US" sz="2400" b="0" i="0" u="none" strike="noStrike" baseline="0" dirty="0"/>
              <a:t>are adjacent in </a:t>
            </a:r>
            <a:r>
              <a:rPr lang="en-US" sz="2400" b="0" i="1" u="none" strike="noStrike" baseline="0" dirty="0"/>
              <a:t>G</a:t>
            </a:r>
            <a:r>
              <a:rPr lang="en-US" sz="2400" b="0" i="0" u="none" strike="noStrike" baseline="0" dirty="0"/>
              <a:t>1 if and only if </a:t>
            </a:r>
            <a:r>
              <a:rPr lang="en-US" sz="2400" b="0" i="1" u="none" strike="noStrike" baseline="0" dirty="0"/>
              <a:t>f (a) </a:t>
            </a:r>
            <a:r>
              <a:rPr lang="en-US" sz="2400" b="0" i="0" u="none" strike="noStrike" baseline="0" dirty="0"/>
              <a:t>and </a:t>
            </a:r>
            <a:r>
              <a:rPr lang="en-US" sz="2400" b="0" i="1" u="none" strike="noStrike" baseline="0" dirty="0"/>
              <a:t>f (b) </a:t>
            </a:r>
            <a:r>
              <a:rPr lang="en-US" sz="2400" b="0" i="0" u="none" strike="noStrike" baseline="0" dirty="0"/>
              <a:t>are adjacent in</a:t>
            </a:r>
            <a:r>
              <a:rPr lang="en-US" sz="2400" b="0" i="1" u="none" strike="noStrike" baseline="0" dirty="0"/>
              <a:t>G</a:t>
            </a:r>
            <a:r>
              <a:rPr lang="en-US" sz="2400" b="0" i="0" u="none" strike="noStrike" baseline="-25000" dirty="0"/>
              <a:t>2</a:t>
            </a:r>
            <a:r>
              <a:rPr lang="en-US" sz="2400" b="0" i="0" u="none" strike="noStrike" baseline="0" dirty="0"/>
              <a:t>, for all </a:t>
            </a:r>
            <a:r>
              <a:rPr lang="en-US" sz="2400" b="0" i="1" u="none" strike="noStrike" baseline="0" dirty="0"/>
              <a:t>a </a:t>
            </a:r>
            <a:r>
              <a:rPr lang="en-US" sz="2400" b="0" i="0" u="none" strike="noStrike" baseline="0" dirty="0"/>
              <a:t>and </a:t>
            </a:r>
            <a:r>
              <a:rPr lang="en-US" sz="2400" b="0" i="1" u="none" strike="noStrike" baseline="0" dirty="0"/>
              <a:t>b </a:t>
            </a:r>
            <a:r>
              <a:rPr lang="en-US" sz="2400" b="0" i="0" u="none" strike="noStrike" baseline="0" dirty="0"/>
              <a:t>in </a:t>
            </a:r>
            <a:r>
              <a:rPr lang="en-US" sz="2400" b="0" i="1" u="none" strike="noStrike" baseline="0" dirty="0"/>
              <a:t>V</a:t>
            </a:r>
            <a:r>
              <a:rPr lang="en-US" sz="2400" b="0" i="0" u="none" strike="noStrike" baseline="-25000" dirty="0"/>
              <a:t>1</a:t>
            </a:r>
            <a:r>
              <a:rPr lang="en-US" sz="2400" b="0" i="0" u="none" strike="noStrike" baseline="0" dirty="0"/>
              <a:t>. </a:t>
            </a:r>
          </a:p>
          <a:p>
            <a:pPr marL="0" indent="0" algn="l">
              <a:buNone/>
            </a:pPr>
            <a:endParaRPr lang="en-US" sz="2400" b="0" i="0" u="none" strike="noStrike" baseline="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r>
              <a:rPr lang="en-US" sz="2400" b="0" i="0" u="none" strike="noStrike" baseline="0" dirty="0"/>
              <a:t>Such a function </a:t>
            </a:r>
            <a:r>
              <a:rPr lang="en-US" sz="2400" b="0" i="1" u="none" strike="noStrike" baseline="0" dirty="0"/>
              <a:t>f </a:t>
            </a:r>
            <a:r>
              <a:rPr lang="en-US" sz="2400" b="0" i="0" u="none" strike="noStrike" baseline="0" dirty="0"/>
              <a:t>is called an </a:t>
            </a:r>
            <a:r>
              <a:rPr lang="en-US" sz="2400" b="0" i="1" u="none" strike="noStrike" baseline="0" dirty="0"/>
              <a:t>isomorphism</a:t>
            </a:r>
            <a:r>
              <a:rPr lang="en-US" sz="2400" b="0" i="0" u="none" strike="noStrike" baseline="0" dirty="0"/>
              <a:t>.∗ Two simple graphs that are not isomorphic are called </a:t>
            </a:r>
            <a:r>
              <a:rPr lang="en-US" sz="2400" b="0" i="1" u="none" strike="noStrike" baseline="0" dirty="0"/>
              <a:t>non-isomorphic</a:t>
            </a:r>
            <a:r>
              <a:rPr lang="en-US" sz="2400" b="0" i="0" u="none" strike="noStrike" baseline="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76344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Graph Isomorphism – 1</a:t>
            </a:r>
            <a:r>
              <a:rPr lang="en-IN" sz="3200" baseline="30000" dirty="0"/>
              <a:t>st</a:t>
            </a:r>
            <a:r>
              <a:rPr lang="en-IN" sz="3200" dirty="0"/>
              <a:t> Mapping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092ECE-FED0-4606-9F82-7E2300A85708}"/>
              </a:ext>
            </a:extLst>
          </p:cNvPr>
          <p:cNvSpPr/>
          <p:nvPr/>
        </p:nvSpPr>
        <p:spPr>
          <a:xfrm>
            <a:off x="2148926" y="1484568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91A5E5-2211-4D98-9A58-18A336DE8FDF}"/>
              </a:ext>
            </a:extLst>
          </p:cNvPr>
          <p:cNvSpPr/>
          <p:nvPr/>
        </p:nvSpPr>
        <p:spPr>
          <a:xfrm>
            <a:off x="823363" y="1502031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95518B-7F5A-4FC6-AD5A-5CADDA62244E}"/>
              </a:ext>
            </a:extLst>
          </p:cNvPr>
          <p:cNvSpPr/>
          <p:nvPr/>
        </p:nvSpPr>
        <p:spPr>
          <a:xfrm>
            <a:off x="817013" y="2583118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0B355D-D5A5-461A-B453-A9408F8948FD}"/>
              </a:ext>
            </a:extLst>
          </p:cNvPr>
          <p:cNvSpPr/>
          <p:nvPr/>
        </p:nvSpPr>
        <p:spPr>
          <a:xfrm>
            <a:off x="2148926" y="2629156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6388A6-48A7-4311-B84E-345B2DECAE7D}"/>
              </a:ext>
            </a:extLst>
          </p:cNvPr>
          <p:cNvCxnSpPr>
            <a:cxnSpLocks noChangeShapeType="1"/>
            <a:stCxn id="8" idx="7"/>
            <a:endCxn id="6" idx="3"/>
          </p:cNvCxnSpPr>
          <p:nvPr/>
        </p:nvCxnSpPr>
        <p:spPr bwMode="auto">
          <a:xfrm flipV="1">
            <a:off x="1185314" y="1852868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0F126D-FBCB-4B06-9773-925A7F40FB25}"/>
              </a:ext>
            </a:extLst>
          </p:cNvPr>
          <p:cNvCxnSpPr>
            <a:cxnSpLocks noChangeShapeType="1"/>
            <a:endCxn id="9" idx="0"/>
          </p:cNvCxnSpPr>
          <p:nvPr/>
        </p:nvCxnSpPr>
        <p:spPr bwMode="auto">
          <a:xfrm>
            <a:off x="2355302" y="1917956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6221CD-5AF4-4AA2-AD9D-207DAF08D7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39263" y="1903668"/>
            <a:ext cx="0" cy="649288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A2513335-78E5-4FE4-8F24-D0F5940B30C7}"/>
              </a:ext>
            </a:extLst>
          </p:cNvPr>
          <p:cNvSpPr/>
          <p:nvPr/>
        </p:nvSpPr>
        <p:spPr>
          <a:xfrm>
            <a:off x="5785888" y="139058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85519D-EB81-4E47-9CAA-D68C47C2217F}"/>
              </a:ext>
            </a:extLst>
          </p:cNvPr>
          <p:cNvSpPr/>
          <p:nvPr/>
        </p:nvSpPr>
        <p:spPr>
          <a:xfrm>
            <a:off x="4460325" y="1408045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DF3FB1-D244-48C1-94C9-89301AF3464E}"/>
              </a:ext>
            </a:extLst>
          </p:cNvPr>
          <p:cNvSpPr/>
          <p:nvPr/>
        </p:nvSpPr>
        <p:spPr>
          <a:xfrm>
            <a:off x="4453975" y="248913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3534E8-CAF9-4359-83CA-C820D293A868}"/>
              </a:ext>
            </a:extLst>
          </p:cNvPr>
          <p:cNvSpPr/>
          <p:nvPr/>
        </p:nvSpPr>
        <p:spPr>
          <a:xfrm>
            <a:off x="5785888" y="2535170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A746A7-F5AC-40B0-B4F3-0EF922755255}"/>
              </a:ext>
            </a:extLst>
          </p:cNvPr>
          <p:cNvCxnSpPr>
            <a:cxnSpLocks noChangeShapeType="1"/>
            <a:stCxn id="15" idx="7"/>
            <a:endCxn id="13" idx="3"/>
          </p:cNvCxnSpPr>
          <p:nvPr/>
        </p:nvCxnSpPr>
        <p:spPr bwMode="auto">
          <a:xfrm flipV="1">
            <a:off x="4822276" y="1758883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E6F96E-16C8-4065-BB3E-615889535984}"/>
              </a:ext>
            </a:extLst>
          </p:cNvPr>
          <p:cNvCxnSpPr>
            <a:cxnSpLocks noChangeShapeType="1"/>
            <a:endCxn id="16" idx="0"/>
          </p:cNvCxnSpPr>
          <p:nvPr/>
        </p:nvCxnSpPr>
        <p:spPr bwMode="auto">
          <a:xfrm>
            <a:off x="5992264" y="1823970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FC0D82-E9BD-4BEB-A48F-C2E1BBC17A91}"/>
              </a:ext>
            </a:extLst>
          </p:cNvPr>
          <p:cNvCxnSpPr>
            <a:cxnSpLocks noChangeShapeType="1"/>
            <a:stCxn id="14" idx="5"/>
            <a:endCxn id="16" idx="1"/>
          </p:cNvCxnSpPr>
          <p:nvPr/>
        </p:nvCxnSpPr>
        <p:spPr bwMode="auto">
          <a:xfrm>
            <a:off x="4828626" y="1776346"/>
            <a:ext cx="1020763" cy="822325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50">
            <a:extLst>
              <a:ext uri="{FF2B5EF4-FFF2-40B4-BE49-F238E27FC236}">
                <a16:creationId xmlns:a16="http://schemas.microsoft.com/office/drawing/2014/main" id="{B3278B95-CAE7-4E65-BCC3-25AA45E04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051" y="3254309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       Graph G</a:t>
            </a:r>
          </a:p>
        </p:txBody>
      </p:sp>
      <p:sp>
        <p:nvSpPr>
          <p:cNvPr id="21" name="TextBox 51">
            <a:extLst>
              <a:ext uri="{FF2B5EF4-FFF2-40B4-BE49-F238E27FC236}">
                <a16:creationId xmlns:a16="http://schemas.microsoft.com/office/drawing/2014/main" id="{274379A5-EEF7-4F66-9F1B-FA775CCEF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2937" y="3265069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         Graph G’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A95244-8621-41A5-A503-16E03A4CD0A6}"/>
              </a:ext>
            </a:extLst>
          </p:cNvPr>
          <p:cNvSpPr txBox="1"/>
          <p:nvPr/>
        </p:nvSpPr>
        <p:spPr>
          <a:xfrm>
            <a:off x="3541906" y="3850075"/>
            <a:ext cx="30456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(W) = C</a:t>
            </a:r>
          </a:p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	   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(Y)  = D </a:t>
            </a:r>
          </a:p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	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(Z)  = A</a:t>
            </a:r>
          </a:p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	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(X)  = B</a:t>
            </a:r>
          </a:p>
        </p:txBody>
      </p:sp>
      <p:sp>
        <p:nvSpPr>
          <p:cNvPr id="26" name="TextBox 52">
            <a:extLst>
              <a:ext uri="{FF2B5EF4-FFF2-40B4-BE49-F238E27FC236}">
                <a16:creationId xmlns:a16="http://schemas.microsoft.com/office/drawing/2014/main" id="{1C52E54E-AEBC-4424-BD51-FA6969ABD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317" y="4563101"/>
            <a:ext cx="408077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There exist a 1-1 and onto (bijective) </a:t>
            </a:r>
          </a:p>
          <a:p>
            <a:pPr lvl="0" defTabSz="914400" eaLnBrk="1" hangingPunct="1"/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function f</a:t>
            </a:r>
            <a:r>
              <a:rPr kumimoji="0" lang="en-US" altLang="en-US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1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: G 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G’ such that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					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701D1-1B52-41C9-97D3-D5B96B5CDC87}"/>
              </a:ext>
            </a:extLst>
          </p:cNvPr>
          <p:cNvSpPr txBox="1"/>
          <p:nvPr/>
        </p:nvSpPr>
        <p:spPr>
          <a:xfrm>
            <a:off x="6887817" y="1673158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1</a:t>
            </a:r>
          </a:p>
          <a:p>
            <a:endParaRPr lang="en-IN" sz="2400" dirty="0"/>
          </a:p>
          <a:p>
            <a:r>
              <a:rPr lang="en-IN" sz="2400" dirty="0"/>
              <a:t>W			C</a:t>
            </a:r>
          </a:p>
          <a:p>
            <a:endParaRPr lang="en-IN" sz="2400" dirty="0"/>
          </a:p>
          <a:p>
            <a:r>
              <a:rPr lang="en-IN" sz="2400" dirty="0"/>
              <a:t>Z			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634E4B-2A57-420C-B76E-F8EE97C68D57}"/>
              </a:ext>
            </a:extLst>
          </p:cNvPr>
          <p:cNvSpPr txBox="1"/>
          <p:nvPr/>
        </p:nvSpPr>
        <p:spPr>
          <a:xfrm>
            <a:off x="6920949" y="3674235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2</a:t>
            </a:r>
          </a:p>
          <a:p>
            <a:endParaRPr lang="en-IN" sz="2400" dirty="0"/>
          </a:p>
          <a:p>
            <a:r>
              <a:rPr lang="en-IN" sz="2400" dirty="0"/>
              <a:t>X			B</a:t>
            </a:r>
          </a:p>
          <a:p>
            <a:endParaRPr lang="en-IN" sz="2400" dirty="0"/>
          </a:p>
          <a:p>
            <a:r>
              <a:rPr lang="en-IN" sz="2400" dirty="0"/>
              <a:t>Y			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087E9A4-9948-4BDA-98C0-28DCDC1B4470}"/>
                  </a:ext>
                </a:extLst>
              </p:cNvPr>
              <p:cNvSpPr txBox="1"/>
              <p:nvPr/>
            </p:nvSpPr>
            <p:spPr>
              <a:xfrm>
                <a:off x="6217688" y="5754699"/>
                <a:ext cx="285584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dirty="0"/>
                  <a:t>Deg(W)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IN" sz="2400" dirty="0"/>
                  <a:t> Deg(B)</a:t>
                </a:r>
              </a:p>
              <a:p>
                <a:pPr algn="ctr"/>
                <a:r>
                  <a:rPr lang="en-IN" sz="2400" dirty="0"/>
                  <a:t>1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IN" sz="2400" dirty="0"/>
                  <a:t> 2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087E9A4-9948-4BDA-98C0-28DCDC1B4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688" y="5754699"/>
                <a:ext cx="2855842" cy="830997"/>
              </a:xfrm>
              <a:prstGeom prst="rect">
                <a:avLst/>
              </a:prstGeom>
              <a:blipFill>
                <a:blip r:embed="rId2"/>
                <a:stretch>
                  <a:fillRect t="-6618" b="-154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0510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Graph Isomorphism – 1</a:t>
            </a:r>
            <a:r>
              <a:rPr lang="en-IN" sz="3200" baseline="30000" dirty="0"/>
              <a:t>st</a:t>
            </a:r>
            <a:r>
              <a:rPr lang="en-IN" sz="3200" dirty="0"/>
              <a:t> Mapping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092ECE-FED0-4606-9F82-7E2300A85708}"/>
              </a:ext>
            </a:extLst>
          </p:cNvPr>
          <p:cNvSpPr/>
          <p:nvPr/>
        </p:nvSpPr>
        <p:spPr>
          <a:xfrm>
            <a:off x="2148926" y="1484568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91A5E5-2211-4D98-9A58-18A336DE8FDF}"/>
              </a:ext>
            </a:extLst>
          </p:cNvPr>
          <p:cNvSpPr/>
          <p:nvPr/>
        </p:nvSpPr>
        <p:spPr>
          <a:xfrm>
            <a:off x="823363" y="1502031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95518B-7F5A-4FC6-AD5A-5CADDA62244E}"/>
              </a:ext>
            </a:extLst>
          </p:cNvPr>
          <p:cNvSpPr/>
          <p:nvPr/>
        </p:nvSpPr>
        <p:spPr>
          <a:xfrm>
            <a:off x="817013" y="2583118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0B355D-D5A5-461A-B453-A9408F8948FD}"/>
              </a:ext>
            </a:extLst>
          </p:cNvPr>
          <p:cNvSpPr/>
          <p:nvPr/>
        </p:nvSpPr>
        <p:spPr>
          <a:xfrm>
            <a:off x="2148926" y="2629156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6388A6-48A7-4311-B84E-345B2DECAE7D}"/>
              </a:ext>
            </a:extLst>
          </p:cNvPr>
          <p:cNvCxnSpPr>
            <a:cxnSpLocks noChangeShapeType="1"/>
            <a:stCxn id="8" idx="7"/>
            <a:endCxn id="6" idx="3"/>
          </p:cNvCxnSpPr>
          <p:nvPr/>
        </p:nvCxnSpPr>
        <p:spPr bwMode="auto">
          <a:xfrm flipV="1">
            <a:off x="1185314" y="1852868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0F126D-FBCB-4B06-9773-925A7F40FB25}"/>
              </a:ext>
            </a:extLst>
          </p:cNvPr>
          <p:cNvCxnSpPr>
            <a:cxnSpLocks noChangeShapeType="1"/>
            <a:endCxn id="9" idx="0"/>
          </p:cNvCxnSpPr>
          <p:nvPr/>
        </p:nvCxnSpPr>
        <p:spPr bwMode="auto">
          <a:xfrm>
            <a:off x="2355302" y="1917956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6221CD-5AF4-4AA2-AD9D-207DAF08D7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39263" y="1903668"/>
            <a:ext cx="0" cy="649288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A2513335-78E5-4FE4-8F24-D0F5940B30C7}"/>
              </a:ext>
            </a:extLst>
          </p:cNvPr>
          <p:cNvSpPr/>
          <p:nvPr/>
        </p:nvSpPr>
        <p:spPr>
          <a:xfrm>
            <a:off x="5785888" y="139058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85519D-EB81-4E47-9CAA-D68C47C2217F}"/>
              </a:ext>
            </a:extLst>
          </p:cNvPr>
          <p:cNvSpPr/>
          <p:nvPr/>
        </p:nvSpPr>
        <p:spPr>
          <a:xfrm>
            <a:off x="4460325" y="1408045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DF3FB1-D244-48C1-94C9-89301AF3464E}"/>
              </a:ext>
            </a:extLst>
          </p:cNvPr>
          <p:cNvSpPr/>
          <p:nvPr/>
        </p:nvSpPr>
        <p:spPr>
          <a:xfrm>
            <a:off x="4453975" y="248913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3534E8-CAF9-4359-83CA-C820D293A868}"/>
              </a:ext>
            </a:extLst>
          </p:cNvPr>
          <p:cNvSpPr/>
          <p:nvPr/>
        </p:nvSpPr>
        <p:spPr>
          <a:xfrm>
            <a:off x="5785888" y="2535170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A746A7-F5AC-40B0-B4F3-0EF922755255}"/>
              </a:ext>
            </a:extLst>
          </p:cNvPr>
          <p:cNvCxnSpPr>
            <a:cxnSpLocks noChangeShapeType="1"/>
            <a:stCxn id="15" idx="7"/>
            <a:endCxn id="13" idx="3"/>
          </p:cNvCxnSpPr>
          <p:nvPr/>
        </p:nvCxnSpPr>
        <p:spPr bwMode="auto">
          <a:xfrm flipV="1">
            <a:off x="4822276" y="1758883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E6F96E-16C8-4065-BB3E-615889535984}"/>
              </a:ext>
            </a:extLst>
          </p:cNvPr>
          <p:cNvCxnSpPr>
            <a:cxnSpLocks noChangeShapeType="1"/>
            <a:endCxn id="16" idx="0"/>
          </p:cNvCxnSpPr>
          <p:nvPr/>
        </p:nvCxnSpPr>
        <p:spPr bwMode="auto">
          <a:xfrm>
            <a:off x="5992264" y="1823970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FC0D82-E9BD-4BEB-A48F-C2E1BBC17A91}"/>
              </a:ext>
            </a:extLst>
          </p:cNvPr>
          <p:cNvCxnSpPr>
            <a:cxnSpLocks noChangeShapeType="1"/>
            <a:stCxn id="14" idx="5"/>
            <a:endCxn id="16" idx="1"/>
          </p:cNvCxnSpPr>
          <p:nvPr/>
        </p:nvCxnSpPr>
        <p:spPr bwMode="auto">
          <a:xfrm>
            <a:off x="4828626" y="1776346"/>
            <a:ext cx="1020763" cy="822325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50">
            <a:extLst>
              <a:ext uri="{FF2B5EF4-FFF2-40B4-BE49-F238E27FC236}">
                <a16:creationId xmlns:a16="http://schemas.microsoft.com/office/drawing/2014/main" id="{B3278B95-CAE7-4E65-BCC3-25AA45E04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051" y="3254309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       Graph G</a:t>
            </a:r>
          </a:p>
        </p:txBody>
      </p:sp>
      <p:sp>
        <p:nvSpPr>
          <p:cNvPr id="21" name="TextBox 51">
            <a:extLst>
              <a:ext uri="{FF2B5EF4-FFF2-40B4-BE49-F238E27FC236}">
                <a16:creationId xmlns:a16="http://schemas.microsoft.com/office/drawing/2014/main" id="{274379A5-EEF7-4F66-9F1B-FA775CCEF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0964" y="3266450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         Graph G’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A95244-8621-41A5-A503-16E03A4CD0A6}"/>
              </a:ext>
            </a:extLst>
          </p:cNvPr>
          <p:cNvSpPr txBox="1"/>
          <p:nvPr/>
        </p:nvSpPr>
        <p:spPr>
          <a:xfrm>
            <a:off x="3544415" y="4028215"/>
            <a:ext cx="30456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(W) = C</a:t>
            </a:r>
          </a:p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	   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(Y)  = D </a:t>
            </a:r>
          </a:p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	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(Z)  = A</a:t>
            </a:r>
          </a:p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	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(X)  = B</a:t>
            </a:r>
          </a:p>
        </p:txBody>
      </p:sp>
      <p:sp>
        <p:nvSpPr>
          <p:cNvPr id="26" name="TextBox 52">
            <a:extLst>
              <a:ext uri="{FF2B5EF4-FFF2-40B4-BE49-F238E27FC236}">
                <a16:creationId xmlns:a16="http://schemas.microsoft.com/office/drawing/2014/main" id="{1C52E54E-AEBC-4424-BD51-FA6969ABD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18" y="4646704"/>
            <a:ext cx="426748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There exist a 1-1 and onto (bijective) </a:t>
            </a:r>
          </a:p>
          <a:p>
            <a:pPr lvl="0" defTabSz="914400" eaLnBrk="1" hangingPunct="1"/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function f</a:t>
            </a:r>
            <a:r>
              <a:rPr kumimoji="0" lang="en-US" altLang="en-US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1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: G 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G’ such that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					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701D1-1B52-41C9-97D3-D5B96B5CDC87}"/>
              </a:ext>
            </a:extLst>
          </p:cNvPr>
          <p:cNvSpPr txBox="1"/>
          <p:nvPr/>
        </p:nvSpPr>
        <p:spPr>
          <a:xfrm>
            <a:off x="6887817" y="1673158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1</a:t>
            </a:r>
          </a:p>
          <a:p>
            <a:endParaRPr lang="en-IN" sz="2400" dirty="0"/>
          </a:p>
          <a:p>
            <a:r>
              <a:rPr lang="en-IN" sz="2400" dirty="0"/>
              <a:t>W			C</a:t>
            </a:r>
          </a:p>
          <a:p>
            <a:endParaRPr lang="en-IN" sz="2400" dirty="0"/>
          </a:p>
          <a:p>
            <a:r>
              <a:rPr lang="en-IN" sz="2400" dirty="0"/>
              <a:t>Z			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634E4B-2A57-420C-B76E-F8EE97C68D57}"/>
              </a:ext>
            </a:extLst>
          </p:cNvPr>
          <p:cNvSpPr txBox="1"/>
          <p:nvPr/>
        </p:nvSpPr>
        <p:spPr>
          <a:xfrm>
            <a:off x="6920949" y="3674235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2</a:t>
            </a:r>
          </a:p>
          <a:p>
            <a:endParaRPr lang="en-IN" sz="2400" dirty="0"/>
          </a:p>
          <a:p>
            <a:r>
              <a:rPr lang="en-IN" sz="2400" dirty="0"/>
              <a:t>X			B</a:t>
            </a:r>
          </a:p>
          <a:p>
            <a:endParaRPr lang="en-IN" sz="2400" dirty="0"/>
          </a:p>
          <a:p>
            <a:r>
              <a:rPr lang="en-IN" sz="2400" dirty="0"/>
              <a:t>Y			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087E9A4-9948-4BDA-98C0-28DCDC1B4470}"/>
                  </a:ext>
                </a:extLst>
              </p:cNvPr>
              <p:cNvSpPr txBox="1"/>
              <p:nvPr/>
            </p:nvSpPr>
            <p:spPr>
              <a:xfrm>
                <a:off x="6217688" y="5754699"/>
                <a:ext cx="285584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dirty="0"/>
                  <a:t>Deg(X)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IN" sz="2400" dirty="0"/>
                  <a:t> Deg(C)</a:t>
                </a:r>
              </a:p>
              <a:p>
                <a:pPr algn="ctr"/>
                <a:r>
                  <a:rPr lang="en-IN" sz="2400" dirty="0"/>
                  <a:t>2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IN" sz="2400" dirty="0"/>
                  <a:t> 1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087E9A4-9948-4BDA-98C0-28DCDC1B4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688" y="5754699"/>
                <a:ext cx="2855842" cy="830997"/>
              </a:xfrm>
              <a:prstGeom prst="rect">
                <a:avLst/>
              </a:prstGeom>
              <a:blipFill>
                <a:blip r:embed="rId2"/>
                <a:stretch>
                  <a:fillRect t="-6618" b="-154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7478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Graph Isomorphism – 1</a:t>
            </a:r>
            <a:r>
              <a:rPr lang="en-IN" sz="3200" baseline="30000" dirty="0"/>
              <a:t>st</a:t>
            </a:r>
            <a:r>
              <a:rPr lang="en-IN" sz="3200" dirty="0"/>
              <a:t> Mapping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092ECE-FED0-4606-9F82-7E2300A85708}"/>
              </a:ext>
            </a:extLst>
          </p:cNvPr>
          <p:cNvSpPr/>
          <p:nvPr/>
        </p:nvSpPr>
        <p:spPr>
          <a:xfrm>
            <a:off x="2148926" y="145408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91A5E5-2211-4D98-9A58-18A336DE8FDF}"/>
              </a:ext>
            </a:extLst>
          </p:cNvPr>
          <p:cNvSpPr/>
          <p:nvPr/>
        </p:nvSpPr>
        <p:spPr>
          <a:xfrm>
            <a:off x="823363" y="1471546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95518B-7F5A-4FC6-AD5A-5CADDA62244E}"/>
              </a:ext>
            </a:extLst>
          </p:cNvPr>
          <p:cNvSpPr/>
          <p:nvPr/>
        </p:nvSpPr>
        <p:spPr>
          <a:xfrm>
            <a:off x="817013" y="255263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0B355D-D5A5-461A-B453-A9408F8948FD}"/>
              </a:ext>
            </a:extLst>
          </p:cNvPr>
          <p:cNvSpPr/>
          <p:nvPr/>
        </p:nvSpPr>
        <p:spPr>
          <a:xfrm>
            <a:off x="2148926" y="2598671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6388A6-48A7-4311-B84E-345B2DECAE7D}"/>
              </a:ext>
            </a:extLst>
          </p:cNvPr>
          <p:cNvCxnSpPr>
            <a:cxnSpLocks noChangeShapeType="1"/>
            <a:stCxn id="8" idx="7"/>
            <a:endCxn id="6" idx="3"/>
          </p:cNvCxnSpPr>
          <p:nvPr/>
        </p:nvCxnSpPr>
        <p:spPr bwMode="auto">
          <a:xfrm flipV="1">
            <a:off x="1185314" y="1822383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0F126D-FBCB-4B06-9773-925A7F40FB25}"/>
              </a:ext>
            </a:extLst>
          </p:cNvPr>
          <p:cNvCxnSpPr>
            <a:cxnSpLocks noChangeShapeType="1"/>
            <a:endCxn id="9" idx="0"/>
          </p:cNvCxnSpPr>
          <p:nvPr/>
        </p:nvCxnSpPr>
        <p:spPr bwMode="auto">
          <a:xfrm>
            <a:off x="2355302" y="1887471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6221CD-5AF4-4AA2-AD9D-207DAF08D7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39263" y="1873183"/>
            <a:ext cx="0" cy="649288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A2513335-78E5-4FE4-8F24-D0F5940B30C7}"/>
              </a:ext>
            </a:extLst>
          </p:cNvPr>
          <p:cNvSpPr/>
          <p:nvPr/>
        </p:nvSpPr>
        <p:spPr>
          <a:xfrm>
            <a:off x="5785888" y="139058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85519D-EB81-4E47-9CAA-D68C47C2217F}"/>
              </a:ext>
            </a:extLst>
          </p:cNvPr>
          <p:cNvSpPr/>
          <p:nvPr/>
        </p:nvSpPr>
        <p:spPr>
          <a:xfrm>
            <a:off x="4460325" y="1408045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DF3FB1-D244-48C1-94C9-89301AF3464E}"/>
              </a:ext>
            </a:extLst>
          </p:cNvPr>
          <p:cNvSpPr/>
          <p:nvPr/>
        </p:nvSpPr>
        <p:spPr>
          <a:xfrm>
            <a:off x="4453975" y="248913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3534E8-CAF9-4359-83CA-C820D293A868}"/>
              </a:ext>
            </a:extLst>
          </p:cNvPr>
          <p:cNvSpPr/>
          <p:nvPr/>
        </p:nvSpPr>
        <p:spPr>
          <a:xfrm>
            <a:off x="5785888" y="2535170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A746A7-F5AC-40B0-B4F3-0EF922755255}"/>
              </a:ext>
            </a:extLst>
          </p:cNvPr>
          <p:cNvCxnSpPr>
            <a:cxnSpLocks noChangeShapeType="1"/>
            <a:stCxn id="15" idx="7"/>
            <a:endCxn id="13" idx="3"/>
          </p:cNvCxnSpPr>
          <p:nvPr/>
        </p:nvCxnSpPr>
        <p:spPr bwMode="auto">
          <a:xfrm flipV="1">
            <a:off x="4822276" y="1758883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E6F96E-16C8-4065-BB3E-615889535984}"/>
              </a:ext>
            </a:extLst>
          </p:cNvPr>
          <p:cNvCxnSpPr>
            <a:cxnSpLocks noChangeShapeType="1"/>
            <a:endCxn id="16" idx="0"/>
          </p:cNvCxnSpPr>
          <p:nvPr/>
        </p:nvCxnSpPr>
        <p:spPr bwMode="auto">
          <a:xfrm>
            <a:off x="5992264" y="1823970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FC0D82-E9BD-4BEB-A48F-C2E1BBC17A91}"/>
              </a:ext>
            </a:extLst>
          </p:cNvPr>
          <p:cNvCxnSpPr>
            <a:cxnSpLocks noChangeShapeType="1"/>
            <a:stCxn id="14" idx="5"/>
            <a:endCxn id="16" idx="1"/>
          </p:cNvCxnSpPr>
          <p:nvPr/>
        </p:nvCxnSpPr>
        <p:spPr bwMode="auto">
          <a:xfrm>
            <a:off x="4828626" y="1776346"/>
            <a:ext cx="1020763" cy="822325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50">
            <a:extLst>
              <a:ext uri="{FF2B5EF4-FFF2-40B4-BE49-F238E27FC236}">
                <a16:creationId xmlns:a16="http://schemas.microsoft.com/office/drawing/2014/main" id="{B3278B95-CAE7-4E65-BCC3-25AA45E04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051" y="3254309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       Graph G</a:t>
            </a:r>
          </a:p>
        </p:txBody>
      </p:sp>
      <p:sp>
        <p:nvSpPr>
          <p:cNvPr id="21" name="TextBox 51">
            <a:extLst>
              <a:ext uri="{FF2B5EF4-FFF2-40B4-BE49-F238E27FC236}">
                <a16:creationId xmlns:a16="http://schemas.microsoft.com/office/drawing/2014/main" id="{274379A5-EEF7-4F66-9F1B-FA775CCEF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1901" y="3301934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         Graph G’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A95244-8621-41A5-A503-16E03A4CD0A6}"/>
              </a:ext>
            </a:extLst>
          </p:cNvPr>
          <p:cNvSpPr txBox="1"/>
          <p:nvPr/>
        </p:nvSpPr>
        <p:spPr>
          <a:xfrm>
            <a:off x="3544415" y="4028215"/>
            <a:ext cx="30456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(W) = C</a:t>
            </a:r>
          </a:p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	   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(Y)  = D </a:t>
            </a:r>
          </a:p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	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(Z)  = A</a:t>
            </a:r>
          </a:p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	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(X)  = B</a:t>
            </a:r>
          </a:p>
        </p:txBody>
      </p:sp>
      <p:sp>
        <p:nvSpPr>
          <p:cNvPr id="26" name="TextBox 52">
            <a:extLst>
              <a:ext uri="{FF2B5EF4-FFF2-40B4-BE49-F238E27FC236}">
                <a16:creationId xmlns:a16="http://schemas.microsoft.com/office/drawing/2014/main" id="{1C52E54E-AEBC-4424-BD51-FA6969ABD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317" y="4725196"/>
            <a:ext cx="4448037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There exist a 1-1 and onto (bijective) </a:t>
            </a:r>
          </a:p>
          <a:p>
            <a:pPr lvl="0" defTabSz="914400" eaLnBrk="1" hangingPunct="1"/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function f</a:t>
            </a:r>
            <a:r>
              <a:rPr kumimoji="0" lang="en-US" altLang="en-US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1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: G 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G’ such that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					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701D1-1B52-41C9-97D3-D5B96B5CDC87}"/>
              </a:ext>
            </a:extLst>
          </p:cNvPr>
          <p:cNvSpPr txBox="1"/>
          <p:nvPr/>
        </p:nvSpPr>
        <p:spPr>
          <a:xfrm>
            <a:off x="6887817" y="1673158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1</a:t>
            </a:r>
          </a:p>
          <a:p>
            <a:endParaRPr lang="en-IN" sz="2400" dirty="0"/>
          </a:p>
          <a:p>
            <a:r>
              <a:rPr lang="en-IN" sz="2400" dirty="0"/>
              <a:t>W			C</a:t>
            </a:r>
          </a:p>
          <a:p>
            <a:endParaRPr lang="en-IN" sz="2400" dirty="0"/>
          </a:p>
          <a:p>
            <a:r>
              <a:rPr lang="en-IN" sz="2400" dirty="0"/>
              <a:t>Z			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634E4B-2A57-420C-B76E-F8EE97C68D57}"/>
              </a:ext>
            </a:extLst>
          </p:cNvPr>
          <p:cNvSpPr txBox="1"/>
          <p:nvPr/>
        </p:nvSpPr>
        <p:spPr>
          <a:xfrm>
            <a:off x="6920949" y="3674235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2</a:t>
            </a:r>
          </a:p>
          <a:p>
            <a:endParaRPr lang="en-IN" sz="2400" dirty="0"/>
          </a:p>
          <a:p>
            <a:r>
              <a:rPr lang="en-IN" sz="2400" dirty="0"/>
              <a:t>X			B</a:t>
            </a:r>
          </a:p>
          <a:p>
            <a:endParaRPr lang="en-IN" sz="2400" dirty="0"/>
          </a:p>
          <a:p>
            <a:r>
              <a:rPr lang="en-IN" sz="2400" dirty="0"/>
              <a:t>Y			D</a:t>
            </a:r>
          </a:p>
        </p:txBody>
      </p:sp>
    </p:spTree>
    <p:extLst>
      <p:ext uri="{BB962C8B-B14F-4D97-AF65-F5344CB8AC3E}">
        <p14:creationId xmlns:p14="http://schemas.microsoft.com/office/powerpoint/2010/main" val="65784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Graph Isomorphism – 2</a:t>
            </a:r>
            <a:r>
              <a:rPr lang="en-IN" sz="3200" baseline="30000" dirty="0"/>
              <a:t>nd</a:t>
            </a:r>
            <a:r>
              <a:rPr lang="en-IN" sz="3200" dirty="0"/>
              <a:t> Mapping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092ECE-FED0-4606-9F82-7E2300A85708}"/>
              </a:ext>
            </a:extLst>
          </p:cNvPr>
          <p:cNvSpPr/>
          <p:nvPr/>
        </p:nvSpPr>
        <p:spPr>
          <a:xfrm>
            <a:off x="2286022" y="1498066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91A5E5-2211-4D98-9A58-18A336DE8FDF}"/>
              </a:ext>
            </a:extLst>
          </p:cNvPr>
          <p:cNvSpPr/>
          <p:nvPr/>
        </p:nvSpPr>
        <p:spPr>
          <a:xfrm>
            <a:off x="960459" y="1515529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95518B-7F5A-4FC6-AD5A-5CADDA62244E}"/>
              </a:ext>
            </a:extLst>
          </p:cNvPr>
          <p:cNvSpPr/>
          <p:nvPr/>
        </p:nvSpPr>
        <p:spPr>
          <a:xfrm>
            <a:off x="954109" y="2596616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0B355D-D5A5-461A-B453-A9408F8948FD}"/>
              </a:ext>
            </a:extLst>
          </p:cNvPr>
          <p:cNvSpPr/>
          <p:nvPr/>
        </p:nvSpPr>
        <p:spPr>
          <a:xfrm>
            <a:off x="2286022" y="2642654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6388A6-48A7-4311-B84E-345B2DECAE7D}"/>
              </a:ext>
            </a:extLst>
          </p:cNvPr>
          <p:cNvCxnSpPr>
            <a:cxnSpLocks noChangeShapeType="1"/>
            <a:stCxn id="8" idx="7"/>
            <a:endCxn id="6" idx="3"/>
          </p:cNvCxnSpPr>
          <p:nvPr/>
        </p:nvCxnSpPr>
        <p:spPr bwMode="auto">
          <a:xfrm flipV="1">
            <a:off x="1322410" y="1866366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0F126D-FBCB-4B06-9773-925A7F40FB25}"/>
              </a:ext>
            </a:extLst>
          </p:cNvPr>
          <p:cNvCxnSpPr>
            <a:cxnSpLocks noChangeShapeType="1"/>
            <a:endCxn id="9" idx="0"/>
          </p:cNvCxnSpPr>
          <p:nvPr/>
        </p:nvCxnSpPr>
        <p:spPr bwMode="auto">
          <a:xfrm>
            <a:off x="2492398" y="1931454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6221CD-5AF4-4AA2-AD9D-207DAF08D7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76359" y="1917166"/>
            <a:ext cx="0" cy="649288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A2513335-78E5-4FE4-8F24-D0F5940B30C7}"/>
              </a:ext>
            </a:extLst>
          </p:cNvPr>
          <p:cNvSpPr/>
          <p:nvPr/>
        </p:nvSpPr>
        <p:spPr>
          <a:xfrm>
            <a:off x="5785888" y="139058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85519D-EB81-4E47-9CAA-D68C47C2217F}"/>
              </a:ext>
            </a:extLst>
          </p:cNvPr>
          <p:cNvSpPr/>
          <p:nvPr/>
        </p:nvSpPr>
        <p:spPr>
          <a:xfrm>
            <a:off x="4460325" y="1408045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DF3FB1-D244-48C1-94C9-89301AF3464E}"/>
              </a:ext>
            </a:extLst>
          </p:cNvPr>
          <p:cNvSpPr/>
          <p:nvPr/>
        </p:nvSpPr>
        <p:spPr>
          <a:xfrm>
            <a:off x="4453975" y="248913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3534E8-CAF9-4359-83CA-C820D293A868}"/>
              </a:ext>
            </a:extLst>
          </p:cNvPr>
          <p:cNvSpPr/>
          <p:nvPr/>
        </p:nvSpPr>
        <p:spPr>
          <a:xfrm>
            <a:off x="5785888" y="2535170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A746A7-F5AC-40B0-B4F3-0EF922755255}"/>
              </a:ext>
            </a:extLst>
          </p:cNvPr>
          <p:cNvCxnSpPr>
            <a:cxnSpLocks noChangeShapeType="1"/>
            <a:stCxn id="15" idx="7"/>
            <a:endCxn id="13" idx="3"/>
          </p:cNvCxnSpPr>
          <p:nvPr/>
        </p:nvCxnSpPr>
        <p:spPr bwMode="auto">
          <a:xfrm flipV="1">
            <a:off x="4822276" y="1758883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E6F96E-16C8-4065-BB3E-615889535984}"/>
              </a:ext>
            </a:extLst>
          </p:cNvPr>
          <p:cNvCxnSpPr>
            <a:cxnSpLocks noChangeShapeType="1"/>
            <a:endCxn id="16" idx="0"/>
          </p:cNvCxnSpPr>
          <p:nvPr/>
        </p:nvCxnSpPr>
        <p:spPr bwMode="auto">
          <a:xfrm>
            <a:off x="5992264" y="1823970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FC0D82-E9BD-4BEB-A48F-C2E1BBC17A91}"/>
              </a:ext>
            </a:extLst>
          </p:cNvPr>
          <p:cNvCxnSpPr>
            <a:cxnSpLocks noChangeShapeType="1"/>
            <a:stCxn id="14" idx="5"/>
            <a:endCxn id="16" idx="1"/>
          </p:cNvCxnSpPr>
          <p:nvPr/>
        </p:nvCxnSpPr>
        <p:spPr bwMode="auto">
          <a:xfrm>
            <a:off x="4828626" y="1776346"/>
            <a:ext cx="1020763" cy="822325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50">
            <a:extLst>
              <a:ext uri="{FF2B5EF4-FFF2-40B4-BE49-F238E27FC236}">
                <a16:creationId xmlns:a16="http://schemas.microsoft.com/office/drawing/2014/main" id="{B3278B95-CAE7-4E65-BCC3-25AA45E04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051" y="3254309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       Graph G</a:t>
            </a:r>
          </a:p>
        </p:txBody>
      </p:sp>
      <p:sp>
        <p:nvSpPr>
          <p:cNvPr id="21" name="TextBox 51">
            <a:extLst>
              <a:ext uri="{FF2B5EF4-FFF2-40B4-BE49-F238E27FC236}">
                <a16:creationId xmlns:a16="http://schemas.microsoft.com/office/drawing/2014/main" id="{274379A5-EEF7-4F66-9F1B-FA775CCEF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9128" y="3200340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Graph G’</a:t>
            </a:r>
          </a:p>
        </p:txBody>
      </p:sp>
      <p:sp>
        <p:nvSpPr>
          <p:cNvPr id="26" name="TextBox 52">
            <a:extLst>
              <a:ext uri="{FF2B5EF4-FFF2-40B4-BE49-F238E27FC236}">
                <a16:creationId xmlns:a16="http://schemas.microsoft.com/office/drawing/2014/main" id="{1C52E54E-AEBC-4424-BD51-FA6969ABD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568" y="4758691"/>
            <a:ext cx="464070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There exist a 1-1 and onto (bijective) </a:t>
            </a:r>
          </a:p>
          <a:p>
            <a:pPr lvl="0" defTabSz="914400" eaLnBrk="1" hangingPunct="1"/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function f</a:t>
            </a:r>
            <a:r>
              <a:rPr lang="en-US" altLang="en-US" kern="0" baseline="-25000" dirty="0">
                <a:solidFill>
                  <a:srgbClr val="000000"/>
                </a:solidFill>
                <a:latin typeface="+mn-lt"/>
              </a:rPr>
              <a:t>2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: G 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G’ such that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					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701D1-1B52-41C9-97D3-D5B96B5CDC87}"/>
              </a:ext>
            </a:extLst>
          </p:cNvPr>
          <p:cNvSpPr txBox="1"/>
          <p:nvPr/>
        </p:nvSpPr>
        <p:spPr>
          <a:xfrm>
            <a:off x="6887817" y="1673158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1</a:t>
            </a:r>
          </a:p>
          <a:p>
            <a:endParaRPr lang="en-IN" sz="2400" dirty="0"/>
          </a:p>
          <a:p>
            <a:r>
              <a:rPr lang="en-IN" sz="2400" dirty="0"/>
              <a:t>W			C</a:t>
            </a:r>
          </a:p>
          <a:p>
            <a:endParaRPr lang="en-IN" sz="2400" dirty="0"/>
          </a:p>
          <a:p>
            <a:r>
              <a:rPr lang="en-IN" sz="2400" dirty="0"/>
              <a:t>Z			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634E4B-2A57-420C-B76E-F8EE97C68D57}"/>
              </a:ext>
            </a:extLst>
          </p:cNvPr>
          <p:cNvSpPr txBox="1"/>
          <p:nvPr/>
        </p:nvSpPr>
        <p:spPr>
          <a:xfrm>
            <a:off x="6920949" y="3674235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2</a:t>
            </a:r>
          </a:p>
          <a:p>
            <a:endParaRPr lang="en-IN" sz="2400" dirty="0"/>
          </a:p>
          <a:p>
            <a:r>
              <a:rPr lang="en-IN" sz="2400" dirty="0"/>
              <a:t>X			B</a:t>
            </a:r>
          </a:p>
          <a:p>
            <a:endParaRPr lang="en-IN" sz="2400" dirty="0"/>
          </a:p>
          <a:p>
            <a:r>
              <a:rPr lang="en-IN" sz="2400" dirty="0"/>
              <a:t>Y			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20B28A-DAC9-4A51-833E-D4AAA43753BA}"/>
              </a:ext>
            </a:extLst>
          </p:cNvPr>
          <p:cNvSpPr txBox="1"/>
          <p:nvPr/>
        </p:nvSpPr>
        <p:spPr>
          <a:xfrm>
            <a:off x="4012922" y="3956790"/>
            <a:ext cx="23412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2 </a:t>
            </a:r>
            <a:r>
              <a:rPr lang="en-US" altLang="en-US" sz="2400" dirty="0">
                <a:solidFill>
                  <a:srgbClr val="000000"/>
                </a:solidFill>
              </a:rPr>
              <a:t>(W) = A</a:t>
            </a:r>
          </a:p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	   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2 </a:t>
            </a:r>
            <a:r>
              <a:rPr lang="en-US" altLang="en-US" sz="2400" dirty="0">
                <a:solidFill>
                  <a:srgbClr val="000000"/>
                </a:solidFill>
              </a:rPr>
              <a:t>(Y)  = D </a:t>
            </a:r>
          </a:p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	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2 </a:t>
            </a:r>
            <a:r>
              <a:rPr lang="en-US" altLang="en-US" sz="2400" dirty="0">
                <a:solidFill>
                  <a:srgbClr val="000000"/>
                </a:solidFill>
              </a:rPr>
              <a:t>(Z)  = C</a:t>
            </a:r>
          </a:p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	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2 </a:t>
            </a:r>
            <a:r>
              <a:rPr lang="en-US" altLang="en-US" sz="2400" dirty="0">
                <a:solidFill>
                  <a:srgbClr val="000000"/>
                </a:solidFill>
              </a:rPr>
              <a:t>(X)  = B</a:t>
            </a:r>
          </a:p>
        </p:txBody>
      </p:sp>
    </p:spTree>
    <p:extLst>
      <p:ext uri="{BB962C8B-B14F-4D97-AF65-F5344CB8AC3E}">
        <p14:creationId xmlns:p14="http://schemas.microsoft.com/office/powerpoint/2010/main" val="137378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Graph Isomorphism – 3</a:t>
            </a:r>
            <a:r>
              <a:rPr lang="en-IN" sz="3200" baseline="30000" dirty="0"/>
              <a:t>rd</a:t>
            </a:r>
            <a:r>
              <a:rPr lang="en-IN" sz="3200" dirty="0"/>
              <a:t> Mapping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092ECE-FED0-4606-9F82-7E2300A85708}"/>
              </a:ext>
            </a:extLst>
          </p:cNvPr>
          <p:cNvSpPr/>
          <p:nvPr/>
        </p:nvSpPr>
        <p:spPr>
          <a:xfrm>
            <a:off x="2148926" y="1498726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91A5E5-2211-4D98-9A58-18A336DE8FDF}"/>
              </a:ext>
            </a:extLst>
          </p:cNvPr>
          <p:cNvSpPr/>
          <p:nvPr/>
        </p:nvSpPr>
        <p:spPr>
          <a:xfrm>
            <a:off x="823363" y="1516189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95518B-7F5A-4FC6-AD5A-5CADDA62244E}"/>
              </a:ext>
            </a:extLst>
          </p:cNvPr>
          <p:cNvSpPr/>
          <p:nvPr/>
        </p:nvSpPr>
        <p:spPr>
          <a:xfrm>
            <a:off x="817013" y="2597276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0B355D-D5A5-461A-B453-A9408F8948FD}"/>
              </a:ext>
            </a:extLst>
          </p:cNvPr>
          <p:cNvSpPr/>
          <p:nvPr/>
        </p:nvSpPr>
        <p:spPr>
          <a:xfrm>
            <a:off x="2148926" y="2643314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6388A6-48A7-4311-B84E-345B2DECAE7D}"/>
              </a:ext>
            </a:extLst>
          </p:cNvPr>
          <p:cNvCxnSpPr>
            <a:cxnSpLocks noChangeShapeType="1"/>
            <a:stCxn id="8" idx="7"/>
            <a:endCxn id="6" idx="3"/>
          </p:cNvCxnSpPr>
          <p:nvPr/>
        </p:nvCxnSpPr>
        <p:spPr bwMode="auto">
          <a:xfrm flipV="1">
            <a:off x="1185314" y="1867026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0F126D-FBCB-4B06-9773-925A7F40FB25}"/>
              </a:ext>
            </a:extLst>
          </p:cNvPr>
          <p:cNvCxnSpPr>
            <a:cxnSpLocks noChangeShapeType="1"/>
            <a:endCxn id="9" idx="0"/>
          </p:cNvCxnSpPr>
          <p:nvPr/>
        </p:nvCxnSpPr>
        <p:spPr bwMode="auto">
          <a:xfrm>
            <a:off x="2355302" y="1932114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6221CD-5AF4-4AA2-AD9D-207DAF08D7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39263" y="1917826"/>
            <a:ext cx="0" cy="649288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A2513335-78E5-4FE4-8F24-D0F5940B30C7}"/>
              </a:ext>
            </a:extLst>
          </p:cNvPr>
          <p:cNvSpPr/>
          <p:nvPr/>
        </p:nvSpPr>
        <p:spPr>
          <a:xfrm>
            <a:off x="5785888" y="139058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85519D-EB81-4E47-9CAA-D68C47C2217F}"/>
              </a:ext>
            </a:extLst>
          </p:cNvPr>
          <p:cNvSpPr/>
          <p:nvPr/>
        </p:nvSpPr>
        <p:spPr>
          <a:xfrm>
            <a:off x="4460325" y="1408045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DF3FB1-D244-48C1-94C9-89301AF3464E}"/>
              </a:ext>
            </a:extLst>
          </p:cNvPr>
          <p:cNvSpPr/>
          <p:nvPr/>
        </p:nvSpPr>
        <p:spPr>
          <a:xfrm>
            <a:off x="4453975" y="248913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3534E8-CAF9-4359-83CA-C820D293A868}"/>
              </a:ext>
            </a:extLst>
          </p:cNvPr>
          <p:cNvSpPr/>
          <p:nvPr/>
        </p:nvSpPr>
        <p:spPr>
          <a:xfrm>
            <a:off x="5785888" y="2535170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A746A7-F5AC-40B0-B4F3-0EF922755255}"/>
              </a:ext>
            </a:extLst>
          </p:cNvPr>
          <p:cNvCxnSpPr>
            <a:cxnSpLocks noChangeShapeType="1"/>
            <a:stCxn id="15" idx="7"/>
            <a:endCxn id="13" idx="3"/>
          </p:cNvCxnSpPr>
          <p:nvPr/>
        </p:nvCxnSpPr>
        <p:spPr bwMode="auto">
          <a:xfrm flipV="1">
            <a:off x="4822276" y="1758883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E6F96E-16C8-4065-BB3E-615889535984}"/>
              </a:ext>
            </a:extLst>
          </p:cNvPr>
          <p:cNvCxnSpPr>
            <a:cxnSpLocks noChangeShapeType="1"/>
            <a:endCxn id="16" idx="0"/>
          </p:cNvCxnSpPr>
          <p:nvPr/>
        </p:nvCxnSpPr>
        <p:spPr bwMode="auto">
          <a:xfrm>
            <a:off x="5992264" y="1823970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FC0D82-E9BD-4BEB-A48F-C2E1BBC17A91}"/>
              </a:ext>
            </a:extLst>
          </p:cNvPr>
          <p:cNvCxnSpPr>
            <a:cxnSpLocks noChangeShapeType="1"/>
            <a:stCxn id="14" idx="5"/>
            <a:endCxn id="16" idx="1"/>
          </p:cNvCxnSpPr>
          <p:nvPr/>
        </p:nvCxnSpPr>
        <p:spPr bwMode="auto">
          <a:xfrm>
            <a:off x="4828626" y="1776346"/>
            <a:ext cx="1020763" cy="822325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50">
            <a:extLst>
              <a:ext uri="{FF2B5EF4-FFF2-40B4-BE49-F238E27FC236}">
                <a16:creationId xmlns:a16="http://schemas.microsoft.com/office/drawing/2014/main" id="{B3278B95-CAE7-4E65-BCC3-25AA45E04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051" y="3254309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       Graph G</a:t>
            </a:r>
          </a:p>
        </p:txBody>
      </p:sp>
      <p:sp>
        <p:nvSpPr>
          <p:cNvPr id="21" name="TextBox 51">
            <a:extLst>
              <a:ext uri="{FF2B5EF4-FFF2-40B4-BE49-F238E27FC236}">
                <a16:creationId xmlns:a16="http://schemas.microsoft.com/office/drawing/2014/main" id="{274379A5-EEF7-4F66-9F1B-FA775CCEF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0848" y="3245412"/>
            <a:ext cx="14239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Graph G’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701D1-1B52-41C9-97D3-D5B96B5CDC87}"/>
              </a:ext>
            </a:extLst>
          </p:cNvPr>
          <p:cNvSpPr txBox="1"/>
          <p:nvPr/>
        </p:nvSpPr>
        <p:spPr>
          <a:xfrm>
            <a:off x="6887817" y="1673158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1</a:t>
            </a:r>
          </a:p>
          <a:p>
            <a:endParaRPr lang="en-IN" sz="2400" dirty="0"/>
          </a:p>
          <a:p>
            <a:r>
              <a:rPr lang="en-IN" sz="2400" dirty="0"/>
              <a:t>W			C</a:t>
            </a:r>
          </a:p>
          <a:p>
            <a:endParaRPr lang="en-IN" sz="2400" dirty="0"/>
          </a:p>
          <a:p>
            <a:r>
              <a:rPr lang="en-IN" sz="2400" dirty="0"/>
              <a:t>Z			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634E4B-2A57-420C-B76E-F8EE97C68D57}"/>
              </a:ext>
            </a:extLst>
          </p:cNvPr>
          <p:cNvSpPr txBox="1"/>
          <p:nvPr/>
        </p:nvSpPr>
        <p:spPr>
          <a:xfrm>
            <a:off x="6920949" y="3674235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2</a:t>
            </a:r>
          </a:p>
          <a:p>
            <a:endParaRPr lang="en-IN" sz="2400" dirty="0"/>
          </a:p>
          <a:p>
            <a:r>
              <a:rPr lang="en-IN" sz="2400" dirty="0"/>
              <a:t>X			B</a:t>
            </a:r>
          </a:p>
          <a:p>
            <a:endParaRPr lang="en-IN" sz="2400" dirty="0"/>
          </a:p>
          <a:p>
            <a:r>
              <a:rPr lang="en-IN" sz="2400" dirty="0"/>
              <a:t>Y			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917A33-92DB-4F5D-A463-BEE9993CD898}"/>
              </a:ext>
            </a:extLst>
          </p:cNvPr>
          <p:cNvSpPr txBox="1"/>
          <p:nvPr/>
        </p:nvSpPr>
        <p:spPr>
          <a:xfrm>
            <a:off x="4770848" y="4004238"/>
            <a:ext cx="2157081" cy="223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solidFill>
                  <a:srgbClr val="000000"/>
                </a:solidFill>
              </a:rPr>
              <a:t>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3 </a:t>
            </a:r>
            <a:r>
              <a:rPr lang="en-US" altLang="en-US" sz="2400" dirty="0">
                <a:solidFill>
                  <a:srgbClr val="000000"/>
                </a:solidFill>
              </a:rPr>
              <a:t>(W) = C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solidFill>
                  <a:srgbClr val="000000"/>
                </a:solidFill>
              </a:rPr>
              <a:t>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3 </a:t>
            </a:r>
            <a:r>
              <a:rPr lang="en-US" altLang="en-US" sz="2400" dirty="0">
                <a:solidFill>
                  <a:srgbClr val="000000"/>
                </a:solidFill>
              </a:rPr>
              <a:t>(Y)  = B 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solidFill>
                  <a:srgbClr val="000000"/>
                </a:solidFill>
              </a:rPr>
              <a:t>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3 </a:t>
            </a:r>
            <a:r>
              <a:rPr lang="en-US" altLang="en-US" sz="2400" dirty="0">
                <a:solidFill>
                  <a:srgbClr val="000000"/>
                </a:solidFill>
              </a:rPr>
              <a:t>(Z)  = A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solidFill>
                  <a:srgbClr val="000000"/>
                </a:solidFill>
              </a:rPr>
              <a:t>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3 </a:t>
            </a:r>
            <a:r>
              <a:rPr lang="en-US" altLang="en-US" sz="2400" dirty="0">
                <a:solidFill>
                  <a:srgbClr val="000000"/>
                </a:solidFill>
              </a:rPr>
              <a:t>(X)  = D</a:t>
            </a:r>
          </a:p>
        </p:txBody>
      </p:sp>
      <p:sp>
        <p:nvSpPr>
          <p:cNvPr id="29" name="TextBox 52">
            <a:extLst>
              <a:ext uri="{FF2B5EF4-FFF2-40B4-BE49-F238E27FC236}">
                <a16:creationId xmlns:a16="http://schemas.microsoft.com/office/drawing/2014/main" id="{3173D40B-6C5A-4227-9EBE-A2930C0A7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745" y="4643731"/>
            <a:ext cx="421481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n-lt"/>
              </a:rPr>
              <a:t>There exist a 1-1 and onto </a:t>
            </a:r>
            <a:br>
              <a:rPr lang="en-US" altLang="en-US" dirty="0">
                <a:solidFill>
                  <a:srgbClr val="000000"/>
                </a:solidFill>
                <a:latin typeface="+mn-lt"/>
              </a:rPr>
            </a:br>
            <a:r>
              <a:rPr lang="en-US" altLang="en-US" dirty="0">
                <a:solidFill>
                  <a:srgbClr val="000000"/>
                </a:solidFill>
                <a:latin typeface="+mn-lt"/>
              </a:rPr>
              <a:t>(bijective) 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n-lt"/>
              </a:rPr>
              <a:t>function f</a:t>
            </a:r>
            <a:r>
              <a:rPr lang="en-US" altLang="en-US" baseline="-25000" dirty="0">
                <a:solidFill>
                  <a:srgbClr val="000000"/>
                </a:solidFill>
                <a:latin typeface="+mn-lt"/>
              </a:rPr>
              <a:t>3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: G </a:t>
            </a:r>
            <a:r>
              <a:rPr lang="en-US" altLang="en-US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 G’ such that 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n-lt"/>
              </a:rPr>
              <a:t>						</a:t>
            </a:r>
          </a:p>
        </p:txBody>
      </p:sp>
    </p:spTree>
    <p:extLst>
      <p:ext uri="{BB962C8B-B14F-4D97-AF65-F5344CB8AC3E}">
        <p14:creationId xmlns:p14="http://schemas.microsoft.com/office/powerpoint/2010/main" val="92102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Graph Isomorphism – 4</a:t>
            </a:r>
            <a:r>
              <a:rPr lang="en-IN" sz="3200" baseline="30000" dirty="0"/>
              <a:t>th</a:t>
            </a:r>
            <a:r>
              <a:rPr lang="en-IN" sz="3200" dirty="0"/>
              <a:t> Mapping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092ECE-FED0-4606-9F82-7E2300A85708}"/>
              </a:ext>
            </a:extLst>
          </p:cNvPr>
          <p:cNvSpPr/>
          <p:nvPr/>
        </p:nvSpPr>
        <p:spPr>
          <a:xfrm>
            <a:off x="2148926" y="138874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91A5E5-2211-4D98-9A58-18A336DE8FDF}"/>
              </a:ext>
            </a:extLst>
          </p:cNvPr>
          <p:cNvSpPr/>
          <p:nvPr/>
        </p:nvSpPr>
        <p:spPr>
          <a:xfrm>
            <a:off x="823363" y="1406206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95518B-7F5A-4FC6-AD5A-5CADDA62244E}"/>
              </a:ext>
            </a:extLst>
          </p:cNvPr>
          <p:cNvSpPr/>
          <p:nvPr/>
        </p:nvSpPr>
        <p:spPr>
          <a:xfrm>
            <a:off x="817013" y="248729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0B355D-D5A5-461A-B453-A9408F8948FD}"/>
              </a:ext>
            </a:extLst>
          </p:cNvPr>
          <p:cNvSpPr/>
          <p:nvPr/>
        </p:nvSpPr>
        <p:spPr>
          <a:xfrm>
            <a:off x="2148926" y="2533331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6388A6-48A7-4311-B84E-345B2DECAE7D}"/>
              </a:ext>
            </a:extLst>
          </p:cNvPr>
          <p:cNvCxnSpPr>
            <a:cxnSpLocks noChangeShapeType="1"/>
            <a:stCxn id="8" idx="7"/>
            <a:endCxn id="6" idx="3"/>
          </p:cNvCxnSpPr>
          <p:nvPr/>
        </p:nvCxnSpPr>
        <p:spPr bwMode="auto">
          <a:xfrm flipV="1">
            <a:off x="1185314" y="1757043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0F126D-FBCB-4B06-9773-925A7F40FB25}"/>
              </a:ext>
            </a:extLst>
          </p:cNvPr>
          <p:cNvCxnSpPr>
            <a:cxnSpLocks noChangeShapeType="1"/>
            <a:endCxn id="9" idx="0"/>
          </p:cNvCxnSpPr>
          <p:nvPr/>
        </p:nvCxnSpPr>
        <p:spPr bwMode="auto">
          <a:xfrm>
            <a:off x="2355302" y="1822131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6221CD-5AF4-4AA2-AD9D-207DAF08D7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39263" y="1807843"/>
            <a:ext cx="0" cy="649288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A2513335-78E5-4FE4-8F24-D0F5940B30C7}"/>
              </a:ext>
            </a:extLst>
          </p:cNvPr>
          <p:cNvSpPr/>
          <p:nvPr/>
        </p:nvSpPr>
        <p:spPr>
          <a:xfrm>
            <a:off x="5785888" y="139058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85519D-EB81-4E47-9CAA-D68C47C2217F}"/>
              </a:ext>
            </a:extLst>
          </p:cNvPr>
          <p:cNvSpPr/>
          <p:nvPr/>
        </p:nvSpPr>
        <p:spPr>
          <a:xfrm>
            <a:off x="4460325" y="1408045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DF3FB1-D244-48C1-94C9-89301AF3464E}"/>
              </a:ext>
            </a:extLst>
          </p:cNvPr>
          <p:cNvSpPr/>
          <p:nvPr/>
        </p:nvSpPr>
        <p:spPr>
          <a:xfrm>
            <a:off x="4453975" y="248913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3534E8-CAF9-4359-83CA-C820D293A868}"/>
              </a:ext>
            </a:extLst>
          </p:cNvPr>
          <p:cNvSpPr/>
          <p:nvPr/>
        </p:nvSpPr>
        <p:spPr>
          <a:xfrm>
            <a:off x="5785888" y="2535170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A746A7-F5AC-40B0-B4F3-0EF922755255}"/>
              </a:ext>
            </a:extLst>
          </p:cNvPr>
          <p:cNvCxnSpPr>
            <a:cxnSpLocks noChangeShapeType="1"/>
            <a:stCxn id="15" idx="7"/>
            <a:endCxn id="13" idx="3"/>
          </p:cNvCxnSpPr>
          <p:nvPr/>
        </p:nvCxnSpPr>
        <p:spPr bwMode="auto">
          <a:xfrm flipV="1">
            <a:off x="4822276" y="1758883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E6F96E-16C8-4065-BB3E-615889535984}"/>
              </a:ext>
            </a:extLst>
          </p:cNvPr>
          <p:cNvCxnSpPr>
            <a:cxnSpLocks noChangeShapeType="1"/>
            <a:endCxn id="16" idx="0"/>
          </p:cNvCxnSpPr>
          <p:nvPr/>
        </p:nvCxnSpPr>
        <p:spPr bwMode="auto">
          <a:xfrm>
            <a:off x="5992264" y="1823970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FC0D82-E9BD-4BEB-A48F-C2E1BBC17A91}"/>
              </a:ext>
            </a:extLst>
          </p:cNvPr>
          <p:cNvCxnSpPr>
            <a:cxnSpLocks noChangeShapeType="1"/>
            <a:stCxn id="14" idx="5"/>
            <a:endCxn id="16" idx="1"/>
          </p:cNvCxnSpPr>
          <p:nvPr/>
        </p:nvCxnSpPr>
        <p:spPr bwMode="auto">
          <a:xfrm>
            <a:off x="4828626" y="1776346"/>
            <a:ext cx="1020763" cy="822325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50">
            <a:extLst>
              <a:ext uri="{FF2B5EF4-FFF2-40B4-BE49-F238E27FC236}">
                <a16:creationId xmlns:a16="http://schemas.microsoft.com/office/drawing/2014/main" id="{B3278B95-CAE7-4E65-BCC3-25AA45E04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051" y="3254309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       Graph G</a:t>
            </a:r>
          </a:p>
        </p:txBody>
      </p:sp>
      <p:sp>
        <p:nvSpPr>
          <p:cNvPr id="21" name="TextBox 51">
            <a:extLst>
              <a:ext uri="{FF2B5EF4-FFF2-40B4-BE49-F238E27FC236}">
                <a16:creationId xmlns:a16="http://schemas.microsoft.com/office/drawing/2014/main" id="{274379A5-EEF7-4F66-9F1B-FA775CCEF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133" y="3262537"/>
            <a:ext cx="13484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Graph G’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701D1-1B52-41C9-97D3-D5B96B5CDC87}"/>
              </a:ext>
            </a:extLst>
          </p:cNvPr>
          <p:cNvSpPr txBox="1"/>
          <p:nvPr/>
        </p:nvSpPr>
        <p:spPr>
          <a:xfrm>
            <a:off x="6887817" y="1673158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1</a:t>
            </a:r>
          </a:p>
          <a:p>
            <a:endParaRPr lang="en-IN" sz="2400" dirty="0"/>
          </a:p>
          <a:p>
            <a:r>
              <a:rPr lang="en-IN" sz="2400" dirty="0"/>
              <a:t>W			C</a:t>
            </a:r>
          </a:p>
          <a:p>
            <a:endParaRPr lang="en-IN" sz="2400" dirty="0"/>
          </a:p>
          <a:p>
            <a:r>
              <a:rPr lang="en-IN" sz="2400" dirty="0"/>
              <a:t>Z			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634E4B-2A57-420C-B76E-F8EE97C68D57}"/>
              </a:ext>
            </a:extLst>
          </p:cNvPr>
          <p:cNvSpPr txBox="1"/>
          <p:nvPr/>
        </p:nvSpPr>
        <p:spPr>
          <a:xfrm>
            <a:off x="6920949" y="3674235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2</a:t>
            </a:r>
          </a:p>
          <a:p>
            <a:endParaRPr lang="en-IN" sz="2400" dirty="0"/>
          </a:p>
          <a:p>
            <a:r>
              <a:rPr lang="en-IN" sz="2400" dirty="0"/>
              <a:t>X			B</a:t>
            </a:r>
          </a:p>
          <a:p>
            <a:endParaRPr lang="en-IN" sz="2400" dirty="0"/>
          </a:p>
          <a:p>
            <a:r>
              <a:rPr lang="en-IN" sz="2400" dirty="0"/>
              <a:t>Y			D</a:t>
            </a:r>
          </a:p>
        </p:txBody>
      </p:sp>
      <p:sp>
        <p:nvSpPr>
          <p:cNvPr id="29" name="TextBox 52">
            <a:extLst>
              <a:ext uri="{FF2B5EF4-FFF2-40B4-BE49-F238E27FC236}">
                <a16:creationId xmlns:a16="http://schemas.microsoft.com/office/drawing/2014/main" id="{3173D40B-6C5A-4227-9EBE-A2930C0A7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605" y="4065806"/>
            <a:ext cx="417637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0" defTabSz="914400" eaLnBrk="1" hangingPunct="1"/>
            <a: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  <a:t>There exist a 1-1 and onto (bijective) </a:t>
            </a:r>
            <a:b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</a:br>
            <a: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  <a:t>function f</a:t>
            </a:r>
            <a:r>
              <a:rPr lang="en-US" altLang="en-US" baseline="-25000" dirty="0">
                <a:solidFill>
                  <a:srgbClr val="000000"/>
                </a:solidFill>
                <a:latin typeface="+mn-lt"/>
                <a:ea typeface="+mn-ea"/>
              </a:rPr>
              <a:t>4</a:t>
            </a:r>
            <a: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  <a:t>: G </a:t>
            </a:r>
            <a:r>
              <a:rPr lang="en-US" altLang="en-US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  <a:t> G’ such that</a:t>
            </a:r>
            <a:endParaRPr lang="en-US" altLang="en-US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8866BC-DCC5-4794-BA08-5F6F48E3FC1D}"/>
              </a:ext>
            </a:extLst>
          </p:cNvPr>
          <p:cNvSpPr txBox="1"/>
          <p:nvPr/>
        </p:nvSpPr>
        <p:spPr>
          <a:xfrm>
            <a:off x="4645130" y="3905947"/>
            <a:ext cx="1739484" cy="223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1" hangingPunct="1">
              <a:lnSpc>
                <a:spcPct val="15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ea typeface="+mn-ea"/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  <a:latin typeface="+mn-lt"/>
                <a:ea typeface="+mn-ea"/>
              </a:rPr>
              <a:t>4</a:t>
            </a:r>
            <a:r>
              <a:rPr lang="en-US" altLang="en-US" sz="2400" dirty="0">
                <a:solidFill>
                  <a:srgbClr val="000000"/>
                </a:solidFill>
                <a:latin typeface="+mn-lt"/>
                <a:ea typeface="+mn-ea"/>
              </a:rPr>
              <a:t>(W) = A</a:t>
            </a:r>
          </a:p>
          <a:p>
            <a:pPr lvl="0" defTabSz="914400" eaLnBrk="1" hangingPunct="1">
              <a:lnSpc>
                <a:spcPct val="15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ea typeface="+mn-ea"/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  <a:latin typeface="+mn-lt"/>
                <a:ea typeface="+mn-ea"/>
              </a:rPr>
              <a:t>4</a:t>
            </a:r>
            <a:r>
              <a:rPr lang="en-US" altLang="en-US" sz="2400" dirty="0">
                <a:solidFill>
                  <a:srgbClr val="000000"/>
                </a:solidFill>
                <a:latin typeface="+mn-lt"/>
                <a:ea typeface="+mn-ea"/>
              </a:rPr>
              <a:t>(Y)  = B </a:t>
            </a:r>
          </a:p>
          <a:p>
            <a:pPr lvl="0" defTabSz="914400" eaLnBrk="1" hangingPunct="1">
              <a:lnSpc>
                <a:spcPct val="15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ea typeface="+mn-ea"/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  <a:latin typeface="+mn-lt"/>
                <a:ea typeface="+mn-ea"/>
              </a:rPr>
              <a:t>4</a:t>
            </a:r>
            <a:r>
              <a:rPr lang="en-US" altLang="en-US" sz="2400" dirty="0">
                <a:solidFill>
                  <a:srgbClr val="000000"/>
                </a:solidFill>
                <a:latin typeface="+mn-lt"/>
                <a:ea typeface="+mn-ea"/>
              </a:rPr>
              <a:t>(Z)  = C</a:t>
            </a:r>
          </a:p>
          <a:p>
            <a:pPr lvl="0" defTabSz="914400" eaLnBrk="1" hangingPunct="1">
              <a:lnSpc>
                <a:spcPct val="15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ea typeface="+mn-ea"/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  <a:latin typeface="+mn-lt"/>
                <a:ea typeface="+mn-ea"/>
              </a:rPr>
              <a:t>4</a:t>
            </a:r>
            <a:r>
              <a:rPr lang="en-US" altLang="en-US" sz="2400" dirty="0">
                <a:solidFill>
                  <a:srgbClr val="000000"/>
                </a:solidFill>
                <a:latin typeface="+mn-lt"/>
                <a:ea typeface="+mn-ea"/>
              </a:rPr>
              <a:t>(X)  = D</a:t>
            </a:r>
          </a:p>
        </p:txBody>
      </p:sp>
    </p:spTree>
    <p:extLst>
      <p:ext uri="{BB962C8B-B14F-4D97-AF65-F5344CB8AC3E}">
        <p14:creationId xmlns:p14="http://schemas.microsoft.com/office/powerpoint/2010/main" val="102090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Is a bijection f</a:t>
            </a:r>
            <a:r>
              <a:rPr lang="en-US" sz="3200" baseline="-25000" dirty="0"/>
              <a:t>1</a:t>
            </a:r>
            <a:r>
              <a:rPr lang="en-US" sz="3200" dirty="0"/>
              <a:t> an isomorphism also?</a:t>
            </a:r>
            <a:endParaRPr lang="en-IN" sz="32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092ECE-FED0-4606-9F82-7E2300A85708}"/>
              </a:ext>
            </a:extLst>
          </p:cNvPr>
          <p:cNvSpPr/>
          <p:nvPr/>
        </p:nvSpPr>
        <p:spPr>
          <a:xfrm>
            <a:off x="2124629" y="1471469"/>
            <a:ext cx="456097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91A5E5-2211-4D98-9A58-18A336DE8FDF}"/>
              </a:ext>
            </a:extLst>
          </p:cNvPr>
          <p:cNvSpPr/>
          <p:nvPr/>
        </p:nvSpPr>
        <p:spPr>
          <a:xfrm>
            <a:off x="799066" y="1488932"/>
            <a:ext cx="456097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95518B-7F5A-4FC6-AD5A-5CADDA62244E}"/>
              </a:ext>
            </a:extLst>
          </p:cNvPr>
          <p:cNvSpPr/>
          <p:nvPr/>
        </p:nvSpPr>
        <p:spPr>
          <a:xfrm>
            <a:off x="792716" y="2570019"/>
            <a:ext cx="456097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0B355D-D5A5-461A-B453-A9408F8948FD}"/>
              </a:ext>
            </a:extLst>
          </p:cNvPr>
          <p:cNvSpPr/>
          <p:nvPr/>
        </p:nvSpPr>
        <p:spPr>
          <a:xfrm>
            <a:off x="2124629" y="2616057"/>
            <a:ext cx="456097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6388A6-48A7-4311-B84E-345B2DECAE7D}"/>
              </a:ext>
            </a:extLst>
          </p:cNvPr>
          <p:cNvCxnSpPr>
            <a:cxnSpLocks noChangeShapeType="1"/>
            <a:stCxn id="8" idx="7"/>
            <a:endCxn id="6" idx="3"/>
          </p:cNvCxnSpPr>
          <p:nvPr/>
        </p:nvCxnSpPr>
        <p:spPr bwMode="auto">
          <a:xfrm flipV="1">
            <a:off x="1182019" y="1840033"/>
            <a:ext cx="1009404" cy="793222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0F126D-FBCB-4B06-9773-925A7F40FB25}"/>
              </a:ext>
            </a:extLst>
          </p:cNvPr>
          <p:cNvCxnSpPr>
            <a:cxnSpLocks noChangeShapeType="1"/>
            <a:endCxn id="9" idx="0"/>
          </p:cNvCxnSpPr>
          <p:nvPr/>
        </p:nvCxnSpPr>
        <p:spPr bwMode="auto">
          <a:xfrm>
            <a:off x="2331006" y="1904857"/>
            <a:ext cx="21672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6221CD-5AF4-4AA2-AD9D-207DAF08D7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14967" y="1890569"/>
            <a:ext cx="0" cy="649288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A2513335-78E5-4FE4-8F24-D0F5940B30C7}"/>
              </a:ext>
            </a:extLst>
          </p:cNvPr>
          <p:cNvSpPr/>
          <p:nvPr/>
        </p:nvSpPr>
        <p:spPr>
          <a:xfrm>
            <a:off x="5785888" y="139058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85519D-EB81-4E47-9CAA-D68C47C2217F}"/>
              </a:ext>
            </a:extLst>
          </p:cNvPr>
          <p:cNvSpPr/>
          <p:nvPr/>
        </p:nvSpPr>
        <p:spPr>
          <a:xfrm>
            <a:off x="4460325" y="1408045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DF3FB1-D244-48C1-94C9-89301AF3464E}"/>
              </a:ext>
            </a:extLst>
          </p:cNvPr>
          <p:cNvSpPr/>
          <p:nvPr/>
        </p:nvSpPr>
        <p:spPr>
          <a:xfrm>
            <a:off x="4453975" y="248913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3534E8-CAF9-4359-83CA-C820D293A868}"/>
              </a:ext>
            </a:extLst>
          </p:cNvPr>
          <p:cNvSpPr/>
          <p:nvPr/>
        </p:nvSpPr>
        <p:spPr>
          <a:xfrm>
            <a:off x="5785888" y="2535170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A746A7-F5AC-40B0-B4F3-0EF922755255}"/>
              </a:ext>
            </a:extLst>
          </p:cNvPr>
          <p:cNvCxnSpPr>
            <a:cxnSpLocks noChangeShapeType="1"/>
            <a:stCxn id="15" idx="7"/>
            <a:endCxn id="13" idx="3"/>
          </p:cNvCxnSpPr>
          <p:nvPr/>
        </p:nvCxnSpPr>
        <p:spPr bwMode="auto">
          <a:xfrm flipV="1">
            <a:off x="4822276" y="1758883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E6F96E-16C8-4065-BB3E-615889535984}"/>
              </a:ext>
            </a:extLst>
          </p:cNvPr>
          <p:cNvCxnSpPr>
            <a:cxnSpLocks noChangeShapeType="1"/>
            <a:endCxn id="16" idx="0"/>
          </p:cNvCxnSpPr>
          <p:nvPr/>
        </p:nvCxnSpPr>
        <p:spPr bwMode="auto">
          <a:xfrm>
            <a:off x="5992264" y="1823970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FC0D82-E9BD-4BEB-A48F-C2E1BBC17A91}"/>
              </a:ext>
            </a:extLst>
          </p:cNvPr>
          <p:cNvCxnSpPr>
            <a:cxnSpLocks noChangeShapeType="1"/>
            <a:stCxn id="14" idx="5"/>
            <a:endCxn id="16" idx="1"/>
          </p:cNvCxnSpPr>
          <p:nvPr/>
        </p:nvCxnSpPr>
        <p:spPr bwMode="auto">
          <a:xfrm>
            <a:off x="4828626" y="1776346"/>
            <a:ext cx="1020763" cy="822325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50">
            <a:extLst>
              <a:ext uri="{FF2B5EF4-FFF2-40B4-BE49-F238E27FC236}">
                <a16:creationId xmlns:a16="http://schemas.microsoft.com/office/drawing/2014/main" id="{B3278B95-CAE7-4E65-BCC3-25AA45E04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051" y="3254309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       Graph G</a:t>
            </a:r>
          </a:p>
        </p:txBody>
      </p:sp>
      <p:sp>
        <p:nvSpPr>
          <p:cNvPr id="21" name="TextBox 51">
            <a:extLst>
              <a:ext uri="{FF2B5EF4-FFF2-40B4-BE49-F238E27FC236}">
                <a16:creationId xmlns:a16="http://schemas.microsoft.com/office/drawing/2014/main" id="{274379A5-EEF7-4F66-9F1B-FA775CCEF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6292" y="3289363"/>
            <a:ext cx="14239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Graph G’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A95244-8621-41A5-A503-16E03A4CD0A6}"/>
              </a:ext>
            </a:extLst>
          </p:cNvPr>
          <p:cNvSpPr txBox="1"/>
          <p:nvPr/>
        </p:nvSpPr>
        <p:spPr>
          <a:xfrm>
            <a:off x="4572000" y="3745282"/>
            <a:ext cx="14947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(W) = C</a:t>
            </a:r>
          </a:p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(Y)  = D </a:t>
            </a:r>
          </a:p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(Z)  = A</a:t>
            </a:r>
          </a:p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(X)  = B</a:t>
            </a:r>
          </a:p>
        </p:txBody>
      </p:sp>
      <p:sp>
        <p:nvSpPr>
          <p:cNvPr id="26" name="TextBox 52">
            <a:extLst>
              <a:ext uri="{FF2B5EF4-FFF2-40B4-BE49-F238E27FC236}">
                <a16:creationId xmlns:a16="http://schemas.microsoft.com/office/drawing/2014/main" id="{1C52E54E-AEBC-4424-BD51-FA6969ABD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8" y="3798151"/>
            <a:ext cx="407804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There exist a 1-1 and onto (bijective) </a:t>
            </a:r>
          </a:p>
          <a:p>
            <a:pPr lvl="0" defTabSz="914400" eaLnBrk="1" hangingPunct="1"/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function f</a:t>
            </a:r>
            <a:r>
              <a:rPr kumimoji="0" lang="en-US" altLang="en-US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1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: G 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G’ such that 		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701D1-1B52-41C9-97D3-D5B96B5CDC87}"/>
              </a:ext>
            </a:extLst>
          </p:cNvPr>
          <p:cNvSpPr txBox="1"/>
          <p:nvPr/>
        </p:nvSpPr>
        <p:spPr>
          <a:xfrm>
            <a:off x="6858460" y="1186357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1</a:t>
            </a:r>
          </a:p>
          <a:p>
            <a:endParaRPr lang="en-IN" sz="2400" dirty="0"/>
          </a:p>
          <a:p>
            <a:r>
              <a:rPr lang="en-IN" sz="2400" dirty="0"/>
              <a:t>W			C</a:t>
            </a:r>
          </a:p>
          <a:p>
            <a:endParaRPr lang="en-IN" sz="2400" dirty="0"/>
          </a:p>
          <a:p>
            <a:r>
              <a:rPr lang="en-IN" sz="2400" dirty="0"/>
              <a:t>Z			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634E4B-2A57-420C-B76E-F8EE97C68D57}"/>
              </a:ext>
            </a:extLst>
          </p:cNvPr>
          <p:cNvSpPr txBox="1"/>
          <p:nvPr/>
        </p:nvSpPr>
        <p:spPr>
          <a:xfrm>
            <a:off x="6924122" y="3125349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2</a:t>
            </a:r>
          </a:p>
          <a:p>
            <a:endParaRPr lang="en-IN" sz="2400" dirty="0"/>
          </a:p>
          <a:p>
            <a:r>
              <a:rPr lang="en-IN" sz="2400" dirty="0"/>
              <a:t>X			B</a:t>
            </a:r>
          </a:p>
          <a:p>
            <a:endParaRPr lang="en-IN" sz="2400" dirty="0"/>
          </a:p>
          <a:p>
            <a:r>
              <a:rPr lang="en-IN" sz="2400" dirty="0"/>
              <a:t>Y			D</a:t>
            </a:r>
          </a:p>
        </p:txBody>
      </p:sp>
      <p:sp>
        <p:nvSpPr>
          <p:cNvPr id="24" name="TextBox 52">
            <a:extLst>
              <a:ext uri="{FF2B5EF4-FFF2-40B4-BE49-F238E27FC236}">
                <a16:creationId xmlns:a16="http://schemas.microsoft.com/office/drawing/2014/main" id="{DB26D4EA-F9E9-474E-94CE-5324CB89D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390" y="5334207"/>
            <a:ext cx="3777721" cy="120032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j-lt"/>
              </a:rPr>
              <a:t>Answer: Yes the bijection f</a:t>
            </a:r>
            <a:r>
              <a:rPr lang="en-US" altLang="en-US" baseline="-25000" dirty="0">
                <a:solidFill>
                  <a:srgbClr val="000000"/>
                </a:solidFill>
                <a:latin typeface="+mj-lt"/>
              </a:rPr>
              <a:t>1</a:t>
            </a:r>
            <a:r>
              <a:rPr lang="en-US" altLang="en-US" dirty="0">
                <a:solidFill>
                  <a:srgbClr val="000000"/>
                </a:solidFill>
                <a:latin typeface="+mj-lt"/>
              </a:rPr>
              <a:t>: G </a:t>
            </a:r>
            <a:r>
              <a:rPr lang="en-US" altLang="en-US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lang="en-US" altLang="en-US" dirty="0">
                <a:solidFill>
                  <a:srgbClr val="000000"/>
                </a:solidFill>
                <a:latin typeface="+mj-lt"/>
              </a:rPr>
              <a:t> G’ is an 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  <a:latin typeface="+mj-lt"/>
              </a:rPr>
              <a:t>isomorphism </a:t>
            </a:r>
            <a:r>
              <a:rPr lang="en-US" altLang="en-US" dirty="0">
                <a:solidFill>
                  <a:srgbClr val="000000"/>
                </a:solidFill>
                <a:latin typeface="+mj-lt"/>
              </a:rPr>
              <a:t>from G to G’.</a:t>
            </a:r>
          </a:p>
        </p:txBody>
      </p:sp>
      <p:sp>
        <p:nvSpPr>
          <p:cNvPr id="27" name="TextBox 52">
            <a:extLst>
              <a:ext uri="{FF2B5EF4-FFF2-40B4-BE49-F238E27FC236}">
                <a16:creationId xmlns:a16="http://schemas.microsoft.com/office/drawing/2014/main" id="{90433A18-C3F4-4D6E-9CA9-CB018977A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4393" y="5314942"/>
            <a:ext cx="499946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n-lt"/>
              </a:rPr>
              <a:t>Therefore the graph G is </a:t>
            </a:r>
            <a:r>
              <a:rPr lang="en-US" altLang="en-US" dirty="0">
                <a:solidFill>
                  <a:srgbClr val="00B0F0"/>
                </a:solidFill>
                <a:latin typeface="+mn-lt"/>
              </a:rPr>
              <a:t>isomorphic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 to  G’ and there exist an </a:t>
            </a:r>
            <a:r>
              <a:rPr lang="en-US" altLang="en-US" dirty="0">
                <a:solidFill>
                  <a:srgbClr val="FF0000"/>
                </a:solidFill>
                <a:latin typeface="+mn-lt"/>
              </a:rPr>
              <a:t>isomorphism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 f</a:t>
            </a:r>
            <a:r>
              <a:rPr lang="en-US" altLang="en-US" baseline="-25000" dirty="0">
                <a:solidFill>
                  <a:srgbClr val="000000"/>
                </a:solidFill>
                <a:latin typeface="+mn-lt"/>
              </a:rPr>
              <a:t>1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: G </a:t>
            </a:r>
            <a:r>
              <a:rPr lang="en-US" altLang="en-US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 G’.</a:t>
            </a:r>
          </a:p>
        </p:txBody>
      </p:sp>
    </p:spTree>
    <p:extLst>
      <p:ext uri="{BB962C8B-B14F-4D97-AF65-F5344CB8AC3E}">
        <p14:creationId xmlns:p14="http://schemas.microsoft.com/office/powerpoint/2010/main" val="1292142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4" grpId="0" animBg="1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How many Isomorphism are possible from isomorphic  graph G to G’’? </a:t>
            </a:r>
            <a:endParaRPr lang="en-IN" sz="3200" dirty="0">
              <a:latin typeface="+mn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092ECE-FED0-4606-9F82-7E2300A85708}"/>
              </a:ext>
            </a:extLst>
          </p:cNvPr>
          <p:cNvSpPr/>
          <p:nvPr/>
        </p:nvSpPr>
        <p:spPr>
          <a:xfrm>
            <a:off x="2318686" y="1448752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91A5E5-2211-4D98-9A58-18A336DE8FDF}"/>
              </a:ext>
            </a:extLst>
          </p:cNvPr>
          <p:cNvSpPr/>
          <p:nvPr/>
        </p:nvSpPr>
        <p:spPr>
          <a:xfrm>
            <a:off x="993123" y="1466215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95518B-7F5A-4FC6-AD5A-5CADDA62244E}"/>
              </a:ext>
            </a:extLst>
          </p:cNvPr>
          <p:cNvSpPr/>
          <p:nvPr/>
        </p:nvSpPr>
        <p:spPr>
          <a:xfrm>
            <a:off x="986773" y="2547302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0B355D-D5A5-461A-B453-A9408F8948FD}"/>
              </a:ext>
            </a:extLst>
          </p:cNvPr>
          <p:cNvSpPr/>
          <p:nvPr/>
        </p:nvSpPr>
        <p:spPr>
          <a:xfrm>
            <a:off x="2318686" y="2593340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6388A6-48A7-4311-B84E-345B2DECAE7D}"/>
              </a:ext>
            </a:extLst>
          </p:cNvPr>
          <p:cNvCxnSpPr>
            <a:cxnSpLocks noChangeShapeType="1"/>
            <a:stCxn id="8" idx="7"/>
            <a:endCxn id="6" idx="3"/>
          </p:cNvCxnSpPr>
          <p:nvPr/>
        </p:nvCxnSpPr>
        <p:spPr bwMode="auto">
          <a:xfrm flipV="1">
            <a:off x="1355074" y="1817052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0F126D-FBCB-4B06-9773-925A7F40FB25}"/>
              </a:ext>
            </a:extLst>
          </p:cNvPr>
          <p:cNvCxnSpPr>
            <a:cxnSpLocks noChangeShapeType="1"/>
            <a:endCxn id="9" idx="0"/>
          </p:cNvCxnSpPr>
          <p:nvPr/>
        </p:nvCxnSpPr>
        <p:spPr bwMode="auto">
          <a:xfrm>
            <a:off x="2525062" y="1882140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6221CD-5AF4-4AA2-AD9D-207DAF08D7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09023" y="1867852"/>
            <a:ext cx="0" cy="649288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A2513335-78E5-4FE4-8F24-D0F5940B30C7}"/>
              </a:ext>
            </a:extLst>
          </p:cNvPr>
          <p:cNvSpPr/>
          <p:nvPr/>
        </p:nvSpPr>
        <p:spPr>
          <a:xfrm>
            <a:off x="5785888" y="139058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85519D-EB81-4E47-9CAA-D68C47C2217F}"/>
              </a:ext>
            </a:extLst>
          </p:cNvPr>
          <p:cNvSpPr/>
          <p:nvPr/>
        </p:nvSpPr>
        <p:spPr>
          <a:xfrm>
            <a:off x="4460325" y="1408045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DF3FB1-D244-48C1-94C9-89301AF3464E}"/>
              </a:ext>
            </a:extLst>
          </p:cNvPr>
          <p:cNvSpPr/>
          <p:nvPr/>
        </p:nvSpPr>
        <p:spPr>
          <a:xfrm>
            <a:off x="4453975" y="248913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3534E8-CAF9-4359-83CA-C820D293A868}"/>
              </a:ext>
            </a:extLst>
          </p:cNvPr>
          <p:cNvSpPr/>
          <p:nvPr/>
        </p:nvSpPr>
        <p:spPr>
          <a:xfrm>
            <a:off x="5785888" y="2535170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A746A7-F5AC-40B0-B4F3-0EF922755255}"/>
              </a:ext>
            </a:extLst>
          </p:cNvPr>
          <p:cNvCxnSpPr>
            <a:cxnSpLocks noChangeShapeType="1"/>
            <a:stCxn id="15" idx="7"/>
            <a:endCxn id="13" idx="3"/>
          </p:cNvCxnSpPr>
          <p:nvPr/>
        </p:nvCxnSpPr>
        <p:spPr bwMode="auto">
          <a:xfrm flipV="1">
            <a:off x="4822276" y="1758883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E6F96E-16C8-4065-BB3E-615889535984}"/>
              </a:ext>
            </a:extLst>
          </p:cNvPr>
          <p:cNvCxnSpPr>
            <a:cxnSpLocks noChangeShapeType="1"/>
            <a:endCxn id="16" idx="0"/>
          </p:cNvCxnSpPr>
          <p:nvPr/>
        </p:nvCxnSpPr>
        <p:spPr bwMode="auto">
          <a:xfrm>
            <a:off x="5992264" y="1823970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FC0D82-E9BD-4BEB-A48F-C2E1BBC17A91}"/>
              </a:ext>
            </a:extLst>
          </p:cNvPr>
          <p:cNvCxnSpPr>
            <a:cxnSpLocks noChangeShapeType="1"/>
            <a:stCxn id="14" idx="5"/>
            <a:endCxn id="16" idx="1"/>
          </p:cNvCxnSpPr>
          <p:nvPr/>
        </p:nvCxnSpPr>
        <p:spPr bwMode="auto">
          <a:xfrm>
            <a:off x="4828626" y="1776346"/>
            <a:ext cx="1020763" cy="822325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50">
            <a:extLst>
              <a:ext uri="{FF2B5EF4-FFF2-40B4-BE49-F238E27FC236}">
                <a16:creationId xmlns:a16="http://schemas.microsoft.com/office/drawing/2014/main" id="{B3278B95-CAE7-4E65-BCC3-25AA45E04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662" y="3236748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       Graph G</a:t>
            </a:r>
          </a:p>
        </p:txBody>
      </p:sp>
      <p:sp>
        <p:nvSpPr>
          <p:cNvPr id="21" name="TextBox 51">
            <a:extLst>
              <a:ext uri="{FF2B5EF4-FFF2-40B4-BE49-F238E27FC236}">
                <a16:creationId xmlns:a16="http://schemas.microsoft.com/office/drawing/2014/main" id="{274379A5-EEF7-4F66-9F1B-FA775CCEF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1901" y="3301934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         Graph G’</a:t>
            </a:r>
          </a:p>
        </p:txBody>
      </p:sp>
      <p:sp>
        <p:nvSpPr>
          <p:cNvPr id="26" name="TextBox 52">
            <a:extLst>
              <a:ext uri="{FF2B5EF4-FFF2-40B4-BE49-F238E27FC236}">
                <a16:creationId xmlns:a16="http://schemas.microsoft.com/office/drawing/2014/main" id="{1C52E54E-AEBC-4424-BD51-FA6969ABD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317" y="3843460"/>
            <a:ext cx="435596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There exist a 1-1 and onto (bijective) </a:t>
            </a:r>
          </a:p>
          <a:p>
            <a:pPr lvl="0" defTabSz="914400" eaLnBrk="1" hangingPunct="1"/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function f</a:t>
            </a:r>
            <a:r>
              <a:rPr lang="en-US" altLang="en-US" kern="0" baseline="-25000" dirty="0">
                <a:solidFill>
                  <a:srgbClr val="000000"/>
                </a:solidFill>
                <a:latin typeface="+mn-lt"/>
              </a:rPr>
              <a:t>2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: G 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G’ such that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701D1-1B52-41C9-97D3-D5B96B5CDC87}"/>
              </a:ext>
            </a:extLst>
          </p:cNvPr>
          <p:cNvSpPr txBox="1"/>
          <p:nvPr/>
        </p:nvSpPr>
        <p:spPr>
          <a:xfrm>
            <a:off x="6887817" y="1673158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1</a:t>
            </a:r>
          </a:p>
          <a:p>
            <a:endParaRPr lang="en-IN" sz="2400" dirty="0"/>
          </a:p>
          <a:p>
            <a:r>
              <a:rPr lang="en-IN" sz="2400" dirty="0"/>
              <a:t>W			C</a:t>
            </a:r>
          </a:p>
          <a:p>
            <a:endParaRPr lang="en-IN" sz="2400" dirty="0"/>
          </a:p>
          <a:p>
            <a:r>
              <a:rPr lang="en-IN" sz="2400" dirty="0"/>
              <a:t>Z			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634E4B-2A57-420C-B76E-F8EE97C68D57}"/>
              </a:ext>
            </a:extLst>
          </p:cNvPr>
          <p:cNvSpPr txBox="1"/>
          <p:nvPr/>
        </p:nvSpPr>
        <p:spPr>
          <a:xfrm>
            <a:off x="6920949" y="3674235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2</a:t>
            </a:r>
          </a:p>
          <a:p>
            <a:endParaRPr lang="en-IN" sz="2400" dirty="0"/>
          </a:p>
          <a:p>
            <a:r>
              <a:rPr lang="en-IN" sz="2400" dirty="0"/>
              <a:t>X			B</a:t>
            </a:r>
          </a:p>
          <a:p>
            <a:endParaRPr lang="en-IN" sz="2400" dirty="0"/>
          </a:p>
          <a:p>
            <a:r>
              <a:rPr lang="en-IN" sz="2400" dirty="0"/>
              <a:t>Y			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20B28A-DAC9-4A51-833E-D4AAA43753BA}"/>
              </a:ext>
            </a:extLst>
          </p:cNvPr>
          <p:cNvSpPr txBox="1"/>
          <p:nvPr/>
        </p:nvSpPr>
        <p:spPr>
          <a:xfrm>
            <a:off x="4165219" y="3804038"/>
            <a:ext cx="23412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2 </a:t>
            </a:r>
            <a:r>
              <a:rPr lang="en-US" altLang="en-US" sz="2400" dirty="0">
                <a:solidFill>
                  <a:srgbClr val="000000"/>
                </a:solidFill>
              </a:rPr>
              <a:t>(W) = A</a:t>
            </a:r>
          </a:p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2 </a:t>
            </a:r>
            <a:r>
              <a:rPr lang="en-US" altLang="en-US" sz="2400" dirty="0">
                <a:solidFill>
                  <a:srgbClr val="000000"/>
                </a:solidFill>
              </a:rPr>
              <a:t>(Y)  = D </a:t>
            </a:r>
          </a:p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2 </a:t>
            </a:r>
            <a:r>
              <a:rPr lang="en-US" altLang="en-US" sz="2400" dirty="0">
                <a:solidFill>
                  <a:srgbClr val="000000"/>
                </a:solidFill>
              </a:rPr>
              <a:t>(Z)  = C</a:t>
            </a:r>
          </a:p>
          <a:p>
            <a:pPr defTabSz="914400"/>
            <a:r>
              <a:rPr lang="en-US" altLang="en-US" sz="2400" dirty="0">
                <a:solidFill>
                  <a:srgbClr val="000000"/>
                </a:solidFill>
              </a:rPr>
              <a:t>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2 </a:t>
            </a:r>
            <a:r>
              <a:rPr lang="en-US" altLang="en-US" sz="2400" dirty="0">
                <a:solidFill>
                  <a:srgbClr val="000000"/>
                </a:solidFill>
              </a:rPr>
              <a:t>(X)  = 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FCA05C-67B0-40EF-AF9F-490CF15C8750}"/>
              </a:ext>
            </a:extLst>
          </p:cNvPr>
          <p:cNvSpPr txBox="1"/>
          <p:nvPr/>
        </p:nvSpPr>
        <p:spPr>
          <a:xfrm>
            <a:off x="183317" y="5084228"/>
            <a:ext cx="48085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rgbClr val="000000"/>
                </a:solidFill>
              </a:rPr>
              <a:t>The graph G is </a:t>
            </a:r>
            <a:r>
              <a:rPr lang="en-US" altLang="en-US" sz="2400" dirty="0">
                <a:solidFill>
                  <a:srgbClr val="00B0F0"/>
                </a:solidFill>
              </a:rPr>
              <a:t>isomorphic</a:t>
            </a:r>
            <a:r>
              <a:rPr lang="en-US" altLang="en-US" sz="2400" dirty="0">
                <a:solidFill>
                  <a:srgbClr val="000000"/>
                </a:solidFill>
              </a:rPr>
              <a:t> to  G’ as in previous slide but 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2</a:t>
            </a:r>
            <a:r>
              <a:rPr lang="en-US" altLang="en-US" sz="2400" dirty="0">
                <a:solidFill>
                  <a:srgbClr val="000000"/>
                </a:solidFill>
              </a:rPr>
              <a:t>: G </a:t>
            </a:r>
            <a:r>
              <a:rPr lang="en-US" altLang="en-US" sz="2400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lang="en-US" altLang="en-US" sz="2400" dirty="0">
                <a:solidFill>
                  <a:srgbClr val="000000"/>
                </a:solidFill>
              </a:rPr>
              <a:t> G’ is not </a:t>
            </a:r>
            <a:r>
              <a:rPr lang="en-US" altLang="en-US" sz="2400" dirty="0">
                <a:solidFill>
                  <a:srgbClr val="FF0000"/>
                </a:solidFill>
              </a:rPr>
              <a:t>isomorphism</a:t>
            </a:r>
            <a:r>
              <a:rPr lang="en-US" altLang="en-US" sz="2400" dirty="0">
                <a:solidFill>
                  <a:srgbClr val="000000"/>
                </a:solidFill>
              </a:rPr>
              <a:t> 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3007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4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How many Isomorphism are possible from isomorphic graph G to G’’? </a:t>
            </a:r>
            <a:endParaRPr lang="en-IN" sz="3200" dirty="0">
              <a:latin typeface="+mn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092ECE-FED0-4606-9F82-7E2300A85708}"/>
              </a:ext>
            </a:extLst>
          </p:cNvPr>
          <p:cNvSpPr/>
          <p:nvPr/>
        </p:nvSpPr>
        <p:spPr>
          <a:xfrm>
            <a:off x="2207139" y="145408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91A5E5-2211-4D98-9A58-18A336DE8FDF}"/>
              </a:ext>
            </a:extLst>
          </p:cNvPr>
          <p:cNvSpPr/>
          <p:nvPr/>
        </p:nvSpPr>
        <p:spPr>
          <a:xfrm>
            <a:off x="881576" y="1471546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95518B-7F5A-4FC6-AD5A-5CADDA62244E}"/>
              </a:ext>
            </a:extLst>
          </p:cNvPr>
          <p:cNvSpPr/>
          <p:nvPr/>
        </p:nvSpPr>
        <p:spPr>
          <a:xfrm>
            <a:off x="875226" y="255263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0B355D-D5A5-461A-B453-A9408F8948FD}"/>
              </a:ext>
            </a:extLst>
          </p:cNvPr>
          <p:cNvSpPr/>
          <p:nvPr/>
        </p:nvSpPr>
        <p:spPr>
          <a:xfrm>
            <a:off x="2207139" y="2598671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6388A6-48A7-4311-B84E-345B2DECAE7D}"/>
              </a:ext>
            </a:extLst>
          </p:cNvPr>
          <p:cNvCxnSpPr>
            <a:cxnSpLocks noChangeShapeType="1"/>
            <a:stCxn id="8" idx="7"/>
            <a:endCxn id="6" idx="3"/>
          </p:cNvCxnSpPr>
          <p:nvPr/>
        </p:nvCxnSpPr>
        <p:spPr bwMode="auto">
          <a:xfrm flipV="1">
            <a:off x="1243527" y="1822383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0F126D-FBCB-4B06-9773-925A7F40FB25}"/>
              </a:ext>
            </a:extLst>
          </p:cNvPr>
          <p:cNvCxnSpPr>
            <a:cxnSpLocks noChangeShapeType="1"/>
            <a:endCxn id="9" idx="0"/>
          </p:cNvCxnSpPr>
          <p:nvPr/>
        </p:nvCxnSpPr>
        <p:spPr bwMode="auto">
          <a:xfrm>
            <a:off x="2413515" y="1887471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6221CD-5AF4-4AA2-AD9D-207DAF08D7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97476" y="1873183"/>
            <a:ext cx="0" cy="649288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A2513335-78E5-4FE4-8F24-D0F5940B30C7}"/>
              </a:ext>
            </a:extLst>
          </p:cNvPr>
          <p:cNvSpPr/>
          <p:nvPr/>
        </p:nvSpPr>
        <p:spPr>
          <a:xfrm>
            <a:off x="5785888" y="139058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85519D-EB81-4E47-9CAA-D68C47C2217F}"/>
              </a:ext>
            </a:extLst>
          </p:cNvPr>
          <p:cNvSpPr/>
          <p:nvPr/>
        </p:nvSpPr>
        <p:spPr>
          <a:xfrm>
            <a:off x="4460325" y="1408045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DF3FB1-D244-48C1-94C9-89301AF3464E}"/>
              </a:ext>
            </a:extLst>
          </p:cNvPr>
          <p:cNvSpPr/>
          <p:nvPr/>
        </p:nvSpPr>
        <p:spPr>
          <a:xfrm>
            <a:off x="4453975" y="248913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3534E8-CAF9-4359-83CA-C820D293A868}"/>
              </a:ext>
            </a:extLst>
          </p:cNvPr>
          <p:cNvSpPr/>
          <p:nvPr/>
        </p:nvSpPr>
        <p:spPr>
          <a:xfrm>
            <a:off x="5785888" y="2535170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A746A7-F5AC-40B0-B4F3-0EF922755255}"/>
              </a:ext>
            </a:extLst>
          </p:cNvPr>
          <p:cNvCxnSpPr>
            <a:cxnSpLocks noChangeShapeType="1"/>
            <a:stCxn id="15" idx="7"/>
            <a:endCxn id="13" idx="3"/>
          </p:cNvCxnSpPr>
          <p:nvPr/>
        </p:nvCxnSpPr>
        <p:spPr bwMode="auto">
          <a:xfrm flipV="1">
            <a:off x="4822276" y="1758883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E6F96E-16C8-4065-BB3E-615889535984}"/>
              </a:ext>
            </a:extLst>
          </p:cNvPr>
          <p:cNvCxnSpPr>
            <a:cxnSpLocks noChangeShapeType="1"/>
            <a:endCxn id="16" idx="0"/>
          </p:cNvCxnSpPr>
          <p:nvPr/>
        </p:nvCxnSpPr>
        <p:spPr bwMode="auto">
          <a:xfrm>
            <a:off x="5992264" y="1823970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FC0D82-E9BD-4BEB-A48F-C2E1BBC17A91}"/>
              </a:ext>
            </a:extLst>
          </p:cNvPr>
          <p:cNvCxnSpPr>
            <a:cxnSpLocks noChangeShapeType="1"/>
            <a:stCxn id="14" idx="5"/>
            <a:endCxn id="16" idx="1"/>
          </p:cNvCxnSpPr>
          <p:nvPr/>
        </p:nvCxnSpPr>
        <p:spPr bwMode="auto">
          <a:xfrm>
            <a:off x="4828626" y="1776346"/>
            <a:ext cx="1020763" cy="822325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50">
            <a:extLst>
              <a:ext uri="{FF2B5EF4-FFF2-40B4-BE49-F238E27FC236}">
                <a16:creationId xmlns:a16="http://schemas.microsoft.com/office/drawing/2014/main" id="{B3278B95-CAE7-4E65-BCC3-25AA45E04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051" y="3254309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       Graph G</a:t>
            </a:r>
          </a:p>
        </p:txBody>
      </p:sp>
      <p:sp>
        <p:nvSpPr>
          <p:cNvPr id="21" name="TextBox 51">
            <a:extLst>
              <a:ext uri="{FF2B5EF4-FFF2-40B4-BE49-F238E27FC236}">
                <a16:creationId xmlns:a16="http://schemas.microsoft.com/office/drawing/2014/main" id="{274379A5-EEF7-4F66-9F1B-FA775CCEF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1901" y="3301934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         Graph G’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701D1-1B52-41C9-97D3-D5B96B5CDC87}"/>
              </a:ext>
            </a:extLst>
          </p:cNvPr>
          <p:cNvSpPr txBox="1"/>
          <p:nvPr/>
        </p:nvSpPr>
        <p:spPr>
          <a:xfrm>
            <a:off x="6887817" y="1673158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1</a:t>
            </a:r>
          </a:p>
          <a:p>
            <a:endParaRPr lang="en-IN" sz="2400" dirty="0"/>
          </a:p>
          <a:p>
            <a:r>
              <a:rPr lang="en-IN" sz="2400" dirty="0"/>
              <a:t>W			C</a:t>
            </a:r>
          </a:p>
          <a:p>
            <a:endParaRPr lang="en-IN" sz="2400" dirty="0"/>
          </a:p>
          <a:p>
            <a:r>
              <a:rPr lang="en-IN" sz="2400" dirty="0"/>
              <a:t>Z			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634E4B-2A57-420C-B76E-F8EE97C68D57}"/>
              </a:ext>
            </a:extLst>
          </p:cNvPr>
          <p:cNvSpPr txBox="1"/>
          <p:nvPr/>
        </p:nvSpPr>
        <p:spPr>
          <a:xfrm>
            <a:off x="6920949" y="3674235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2</a:t>
            </a:r>
          </a:p>
          <a:p>
            <a:endParaRPr lang="en-IN" sz="2400" dirty="0"/>
          </a:p>
          <a:p>
            <a:r>
              <a:rPr lang="en-IN" sz="2400" dirty="0"/>
              <a:t>X			B</a:t>
            </a:r>
          </a:p>
          <a:p>
            <a:endParaRPr lang="en-IN" sz="2400" dirty="0"/>
          </a:p>
          <a:p>
            <a:r>
              <a:rPr lang="en-IN" sz="2400" dirty="0"/>
              <a:t>Y			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917A33-92DB-4F5D-A463-BEE9993CD898}"/>
              </a:ext>
            </a:extLst>
          </p:cNvPr>
          <p:cNvSpPr txBox="1"/>
          <p:nvPr/>
        </p:nvSpPr>
        <p:spPr>
          <a:xfrm>
            <a:off x="4707347" y="3897757"/>
            <a:ext cx="215708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rgbClr val="000000"/>
                </a:solidFill>
              </a:rPr>
              <a:t>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3 </a:t>
            </a:r>
            <a:r>
              <a:rPr lang="en-US" altLang="en-US" sz="2400" dirty="0">
                <a:solidFill>
                  <a:srgbClr val="000000"/>
                </a:solidFill>
              </a:rPr>
              <a:t>(W) = C</a:t>
            </a:r>
          </a:p>
          <a:p>
            <a:r>
              <a:rPr lang="en-US" altLang="en-US" sz="2400" dirty="0">
                <a:solidFill>
                  <a:srgbClr val="000000"/>
                </a:solidFill>
              </a:rPr>
              <a:t>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3 </a:t>
            </a:r>
            <a:r>
              <a:rPr lang="en-US" altLang="en-US" sz="2400" dirty="0">
                <a:solidFill>
                  <a:srgbClr val="000000"/>
                </a:solidFill>
              </a:rPr>
              <a:t>(Y)  = B </a:t>
            </a:r>
          </a:p>
          <a:p>
            <a:r>
              <a:rPr lang="en-US" altLang="en-US" sz="2400" dirty="0">
                <a:solidFill>
                  <a:srgbClr val="000000"/>
                </a:solidFill>
              </a:rPr>
              <a:t>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3 </a:t>
            </a:r>
            <a:r>
              <a:rPr lang="en-US" altLang="en-US" sz="2400" dirty="0">
                <a:solidFill>
                  <a:srgbClr val="000000"/>
                </a:solidFill>
              </a:rPr>
              <a:t>(Z)  = A</a:t>
            </a:r>
          </a:p>
          <a:p>
            <a:r>
              <a:rPr lang="en-US" altLang="en-US" sz="2400" dirty="0">
                <a:solidFill>
                  <a:srgbClr val="000000"/>
                </a:solidFill>
              </a:rPr>
              <a:t>	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3 </a:t>
            </a:r>
            <a:r>
              <a:rPr lang="en-US" altLang="en-US" sz="2400" dirty="0">
                <a:solidFill>
                  <a:srgbClr val="000000"/>
                </a:solidFill>
              </a:rPr>
              <a:t>(X)  = D</a:t>
            </a:r>
          </a:p>
        </p:txBody>
      </p:sp>
      <p:sp>
        <p:nvSpPr>
          <p:cNvPr id="29" name="TextBox 52">
            <a:extLst>
              <a:ext uri="{FF2B5EF4-FFF2-40B4-BE49-F238E27FC236}">
                <a16:creationId xmlns:a16="http://schemas.microsoft.com/office/drawing/2014/main" id="{3173D40B-6C5A-4227-9EBE-A2930C0A7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895" y="3863819"/>
            <a:ext cx="408898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n-lt"/>
              </a:rPr>
              <a:t>There exist a 1-1 and onto (bijective) function f</a:t>
            </a:r>
            <a:r>
              <a:rPr lang="en-US" altLang="en-US" baseline="-25000" dirty="0">
                <a:solidFill>
                  <a:srgbClr val="000000"/>
                </a:solidFill>
                <a:latin typeface="+mn-lt"/>
              </a:rPr>
              <a:t>3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: G </a:t>
            </a:r>
            <a:r>
              <a:rPr lang="en-US" altLang="en-US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 G’ such that 						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7C98E0-2CB4-4979-93B7-900A5AC1EA9B}"/>
              </a:ext>
            </a:extLst>
          </p:cNvPr>
          <p:cNvSpPr txBox="1"/>
          <p:nvPr/>
        </p:nvSpPr>
        <p:spPr>
          <a:xfrm>
            <a:off x="294895" y="5332984"/>
            <a:ext cx="4981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rgbClr val="000000"/>
                </a:solidFill>
              </a:rPr>
              <a:t>The graph G is </a:t>
            </a:r>
            <a:r>
              <a:rPr lang="en-US" altLang="en-US" sz="2400" dirty="0">
                <a:solidFill>
                  <a:srgbClr val="00B0F0"/>
                </a:solidFill>
              </a:rPr>
              <a:t>isomorphic</a:t>
            </a:r>
            <a:r>
              <a:rPr lang="en-US" altLang="en-US" sz="2400" dirty="0">
                <a:solidFill>
                  <a:srgbClr val="000000"/>
                </a:solidFill>
              </a:rPr>
              <a:t> to  G’ as in previous slide but 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3</a:t>
            </a:r>
            <a:r>
              <a:rPr lang="en-US" altLang="en-US" sz="2400" dirty="0">
                <a:solidFill>
                  <a:srgbClr val="000000"/>
                </a:solidFill>
              </a:rPr>
              <a:t>: G </a:t>
            </a:r>
            <a:r>
              <a:rPr lang="en-US" altLang="en-US" sz="2400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lang="en-US" altLang="en-US" sz="2400" dirty="0">
                <a:solidFill>
                  <a:srgbClr val="000000"/>
                </a:solidFill>
              </a:rPr>
              <a:t> G’ is not </a:t>
            </a:r>
            <a:r>
              <a:rPr lang="en-US" altLang="en-US" sz="2400" dirty="0">
                <a:solidFill>
                  <a:srgbClr val="FF0000"/>
                </a:solidFill>
              </a:rPr>
              <a:t>isomorphism</a:t>
            </a:r>
            <a:r>
              <a:rPr lang="en-US" altLang="en-US" sz="2400" dirty="0">
                <a:solidFill>
                  <a:srgbClr val="000000"/>
                </a:solidFill>
              </a:rPr>
              <a:t> 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09605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How many Isomorphisms are possible from isomorphic graph G to G’’? </a:t>
            </a:r>
            <a:endParaRPr lang="en-IN" sz="3200" dirty="0">
              <a:latin typeface="+mn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092ECE-FED0-4606-9F82-7E2300A85708}"/>
              </a:ext>
            </a:extLst>
          </p:cNvPr>
          <p:cNvSpPr/>
          <p:nvPr/>
        </p:nvSpPr>
        <p:spPr>
          <a:xfrm>
            <a:off x="2318686" y="1418336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91A5E5-2211-4D98-9A58-18A336DE8FDF}"/>
              </a:ext>
            </a:extLst>
          </p:cNvPr>
          <p:cNvSpPr/>
          <p:nvPr/>
        </p:nvSpPr>
        <p:spPr>
          <a:xfrm>
            <a:off x="993123" y="1435799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95518B-7F5A-4FC6-AD5A-5CADDA62244E}"/>
              </a:ext>
            </a:extLst>
          </p:cNvPr>
          <p:cNvSpPr/>
          <p:nvPr/>
        </p:nvSpPr>
        <p:spPr>
          <a:xfrm>
            <a:off x="986773" y="2516886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0B355D-D5A5-461A-B453-A9408F8948FD}"/>
              </a:ext>
            </a:extLst>
          </p:cNvPr>
          <p:cNvSpPr/>
          <p:nvPr/>
        </p:nvSpPr>
        <p:spPr>
          <a:xfrm>
            <a:off x="2318686" y="2562924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6388A6-48A7-4311-B84E-345B2DECAE7D}"/>
              </a:ext>
            </a:extLst>
          </p:cNvPr>
          <p:cNvCxnSpPr>
            <a:cxnSpLocks noChangeShapeType="1"/>
            <a:stCxn id="8" idx="7"/>
            <a:endCxn id="6" idx="3"/>
          </p:cNvCxnSpPr>
          <p:nvPr/>
        </p:nvCxnSpPr>
        <p:spPr bwMode="auto">
          <a:xfrm flipV="1">
            <a:off x="1355074" y="1786636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0F126D-FBCB-4B06-9773-925A7F40FB25}"/>
              </a:ext>
            </a:extLst>
          </p:cNvPr>
          <p:cNvCxnSpPr>
            <a:cxnSpLocks noChangeShapeType="1"/>
            <a:endCxn id="9" idx="0"/>
          </p:cNvCxnSpPr>
          <p:nvPr/>
        </p:nvCxnSpPr>
        <p:spPr bwMode="auto">
          <a:xfrm>
            <a:off x="2525062" y="1851724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6221CD-5AF4-4AA2-AD9D-207DAF08D7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09023" y="1837436"/>
            <a:ext cx="0" cy="649288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A2513335-78E5-4FE4-8F24-D0F5940B30C7}"/>
              </a:ext>
            </a:extLst>
          </p:cNvPr>
          <p:cNvSpPr/>
          <p:nvPr/>
        </p:nvSpPr>
        <p:spPr>
          <a:xfrm>
            <a:off x="5785888" y="139058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85519D-EB81-4E47-9CAA-D68C47C2217F}"/>
              </a:ext>
            </a:extLst>
          </p:cNvPr>
          <p:cNvSpPr/>
          <p:nvPr/>
        </p:nvSpPr>
        <p:spPr>
          <a:xfrm>
            <a:off x="4460325" y="1408045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DF3FB1-D244-48C1-94C9-89301AF3464E}"/>
              </a:ext>
            </a:extLst>
          </p:cNvPr>
          <p:cNvSpPr/>
          <p:nvPr/>
        </p:nvSpPr>
        <p:spPr>
          <a:xfrm>
            <a:off x="4453975" y="248913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3534E8-CAF9-4359-83CA-C820D293A868}"/>
              </a:ext>
            </a:extLst>
          </p:cNvPr>
          <p:cNvSpPr/>
          <p:nvPr/>
        </p:nvSpPr>
        <p:spPr>
          <a:xfrm>
            <a:off x="5785888" y="2535170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A746A7-F5AC-40B0-B4F3-0EF922755255}"/>
              </a:ext>
            </a:extLst>
          </p:cNvPr>
          <p:cNvCxnSpPr>
            <a:cxnSpLocks noChangeShapeType="1"/>
            <a:stCxn id="15" idx="7"/>
            <a:endCxn id="13" idx="3"/>
          </p:cNvCxnSpPr>
          <p:nvPr/>
        </p:nvCxnSpPr>
        <p:spPr bwMode="auto">
          <a:xfrm flipV="1">
            <a:off x="4822276" y="1758883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E6F96E-16C8-4065-BB3E-615889535984}"/>
              </a:ext>
            </a:extLst>
          </p:cNvPr>
          <p:cNvCxnSpPr>
            <a:cxnSpLocks noChangeShapeType="1"/>
            <a:endCxn id="16" idx="0"/>
          </p:cNvCxnSpPr>
          <p:nvPr/>
        </p:nvCxnSpPr>
        <p:spPr bwMode="auto">
          <a:xfrm>
            <a:off x="5992264" y="1823970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FC0D82-E9BD-4BEB-A48F-C2E1BBC17A91}"/>
              </a:ext>
            </a:extLst>
          </p:cNvPr>
          <p:cNvCxnSpPr>
            <a:cxnSpLocks noChangeShapeType="1"/>
            <a:stCxn id="14" idx="5"/>
            <a:endCxn id="16" idx="1"/>
          </p:cNvCxnSpPr>
          <p:nvPr/>
        </p:nvCxnSpPr>
        <p:spPr bwMode="auto">
          <a:xfrm>
            <a:off x="4828626" y="1776346"/>
            <a:ext cx="1020763" cy="822325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50">
            <a:extLst>
              <a:ext uri="{FF2B5EF4-FFF2-40B4-BE49-F238E27FC236}">
                <a16:creationId xmlns:a16="http://schemas.microsoft.com/office/drawing/2014/main" id="{B3278B95-CAE7-4E65-BCC3-25AA45E04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75" y="3180350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       Graph G</a:t>
            </a:r>
          </a:p>
        </p:txBody>
      </p:sp>
      <p:sp>
        <p:nvSpPr>
          <p:cNvPr id="21" name="TextBox 51">
            <a:extLst>
              <a:ext uri="{FF2B5EF4-FFF2-40B4-BE49-F238E27FC236}">
                <a16:creationId xmlns:a16="http://schemas.microsoft.com/office/drawing/2014/main" id="{274379A5-EEF7-4F66-9F1B-FA775CCEF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225" y="3180350"/>
            <a:ext cx="1487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Graph G’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701D1-1B52-41C9-97D3-D5B96B5CDC87}"/>
              </a:ext>
            </a:extLst>
          </p:cNvPr>
          <p:cNvSpPr txBox="1"/>
          <p:nvPr/>
        </p:nvSpPr>
        <p:spPr>
          <a:xfrm>
            <a:off x="6887817" y="1673158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1</a:t>
            </a:r>
          </a:p>
          <a:p>
            <a:endParaRPr lang="en-IN" sz="2400" dirty="0"/>
          </a:p>
          <a:p>
            <a:r>
              <a:rPr lang="en-IN" sz="2400" dirty="0"/>
              <a:t>W			C</a:t>
            </a:r>
          </a:p>
          <a:p>
            <a:endParaRPr lang="en-IN" sz="2400" dirty="0"/>
          </a:p>
          <a:p>
            <a:r>
              <a:rPr lang="en-IN" sz="2400" dirty="0"/>
              <a:t>Z			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634E4B-2A57-420C-B76E-F8EE97C68D57}"/>
              </a:ext>
            </a:extLst>
          </p:cNvPr>
          <p:cNvSpPr txBox="1"/>
          <p:nvPr/>
        </p:nvSpPr>
        <p:spPr>
          <a:xfrm>
            <a:off x="6920949" y="3674235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2</a:t>
            </a:r>
          </a:p>
          <a:p>
            <a:endParaRPr lang="en-IN" sz="2400" dirty="0"/>
          </a:p>
          <a:p>
            <a:r>
              <a:rPr lang="en-IN" sz="2400" dirty="0"/>
              <a:t>X			B</a:t>
            </a:r>
          </a:p>
          <a:p>
            <a:endParaRPr lang="en-IN" sz="2400" dirty="0"/>
          </a:p>
          <a:p>
            <a:r>
              <a:rPr lang="en-IN" sz="2400" dirty="0"/>
              <a:t>Y			D</a:t>
            </a:r>
          </a:p>
        </p:txBody>
      </p:sp>
      <p:sp>
        <p:nvSpPr>
          <p:cNvPr id="29" name="TextBox 52">
            <a:extLst>
              <a:ext uri="{FF2B5EF4-FFF2-40B4-BE49-F238E27FC236}">
                <a16:creationId xmlns:a16="http://schemas.microsoft.com/office/drawing/2014/main" id="{3173D40B-6C5A-4227-9EBE-A2930C0A7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646" y="3594688"/>
            <a:ext cx="2856731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0" defTabSz="914400" eaLnBrk="1" hangingPunct="1"/>
            <a:r>
              <a:rPr lang="en-US" altLang="en-US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  <a:t>There exist a 1-1 and onto (bijective) function f</a:t>
            </a:r>
            <a:r>
              <a:rPr lang="en-US" altLang="en-US" baseline="-25000" dirty="0">
                <a:solidFill>
                  <a:srgbClr val="000000"/>
                </a:solidFill>
                <a:latin typeface="+mn-lt"/>
                <a:ea typeface="+mn-ea"/>
              </a:rPr>
              <a:t>4</a:t>
            </a:r>
            <a: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  <a:t>: G </a:t>
            </a:r>
            <a:r>
              <a:rPr lang="en-US" altLang="en-US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  <a:t> G’ such that 		  f</a:t>
            </a:r>
            <a:r>
              <a:rPr lang="en-US" altLang="en-US" baseline="-25000" dirty="0">
                <a:solidFill>
                  <a:srgbClr val="000000"/>
                </a:solidFill>
                <a:latin typeface="+mn-lt"/>
                <a:ea typeface="+mn-ea"/>
              </a:rPr>
              <a:t>4</a:t>
            </a:r>
            <a: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  <a:t>(W) = A	   f</a:t>
            </a:r>
            <a:r>
              <a:rPr lang="en-US" altLang="en-US" baseline="-25000" dirty="0">
                <a:solidFill>
                  <a:srgbClr val="000000"/>
                </a:solidFill>
                <a:latin typeface="+mn-lt"/>
                <a:ea typeface="+mn-ea"/>
              </a:rPr>
              <a:t>4</a:t>
            </a:r>
            <a: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  <a:t>(Y)  = B </a:t>
            </a:r>
          </a:p>
          <a:p>
            <a:pPr lvl="0" defTabSz="914400" eaLnBrk="1" hangingPunct="1"/>
            <a: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  <a:t>	   f</a:t>
            </a:r>
            <a:r>
              <a:rPr lang="en-US" altLang="en-US" baseline="-25000" dirty="0">
                <a:solidFill>
                  <a:srgbClr val="000000"/>
                </a:solidFill>
                <a:latin typeface="+mn-lt"/>
                <a:ea typeface="+mn-ea"/>
              </a:rPr>
              <a:t>4</a:t>
            </a:r>
            <a: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  <a:t>(Z)  = C</a:t>
            </a:r>
          </a:p>
          <a:p>
            <a:pPr lvl="0" defTabSz="914400" eaLnBrk="1" hangingPunct="1"/>
            <a: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  <a:t>	   f</a:t>
            </a:r>
            <a:r>
              <a:rPr lang="en-US" altLang="en-US" baseline="-25000" dirty="0">
                <a:solidFill>
                  <a:srgbClr val="000000"/>
                </a:solidFill>
                <a:latin typeface="+mn-lt"/>
                <a:ea typeface="+mn-ea"/>
              </a:rPr>
              <a:t>4</a:t>
            </a:r>
            <a: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  <a:t>(X)  = D</a:t>
            </a:r>
            <a:endParaRPr lang="en-US" altLang="en-US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20F1E9-8AC0-4072-87B9-4EE407A6B5E6}"/>
              </a:ext>
            </a:extLst>
          </p:cNvPr>
          <p:cNvSpPr txBox="1"/>
          <p:nvPr/>
        </p:nvSpPr>
        <p:spPr>
          <a:xfrm>
            <a:off x="3142339" y="5675312"/>
            <a:ext cx="56998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rgbClr val="000000"/>
                </a:solidFill>
              </a:rPr>
              <a:t>The graph G is </a:t>
            </a:r>
            <a:r>
              <a:rPr lang="en-US" altLang="en-US" sz="2400" dirty="0">
                <a:solidFill>
                  <a:srgbClr val="00B0F0"/>
                </a:solidFill>
              </a:rPr>
              <a:t>isomorphic</a:t>
            </a:r>
            <a:r>
              <a:rPr lang="en-US" altLang="en-US" sz="2400" dirty="0">
                <a:solidFill>
                  <a:srgbClr val="000000"/>
                </a:solidFill>
              </a:rPr>
              <a:t> to  G’ and </a:t>
            </a:r>
            <a:br>
              <a:rPr lang="en-US" altLang="en-US" sz="2400" dirty="0">
                <a:solidFill>
                  <a:srgbClr val="000000"/>
                </a:solidFill>
              </a:rPr>
            </a:br>
            <a:r>
              <a:rPr lang="en-US" altLang="en-US" sz="2400" dirty="0">
                <a:solidFill>
                  <a:srgbClr val="000000"/>
                </a:solidFill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4</a:t>
            </a:r>
            <a:r>
              <a:rPr lang="en-US" altLang="en-US" sz="2400" dirty="0">
                <a:solidFill>
                  <a:srgbClr val="000000"/>
                </a:solidFill>
              </a:rPr>
              <a:t>: G </a:t>
            </a:r>
            <a:r>
              <a:rPr lang="en-US" altLang="en-US" sz="2400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lang="en-US" altLang="en-US" sz="2400" dirty="0">
                <a:solidFill>
                  <a:srgbClr val="000000"/>
                </a:solidFill>
              </a:rPr>
              <a:t> G’ is an </a:t>
            </a:r>
            <a:r>
              <a:rPr lang="en-US" altLang="en-US" sz="2400" dirty="0">
                <a:solidFill>
                  <a:srgbClr val="FF0000"/>
                </a:solidFill>
              </a:rPr>
              <a:t>isomorphism</a:t>
            </a:r>
            <a:r>
              <a:rPr lang="en-US" altLang="en-US" sz="2400" dirty="0">
                <a:solidFill>
                  <a:srgbClr val="000000"/>
                </a:solidFill>
              </a:rPr>
              <a:t> 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7057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How many Isomorphisms are possible from isomorphic graph G to G’’? </a:t>
            </a:r>
            <a:endParaRPr lang="en-IN" sz="3200" dirty="0">
              <a:latin typeface="+mn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092ECE-FED0-4606-9F82-7E2300A85708}"/>
              </a:ext>
            </a:extLst>
          </p:cNvPr>
          <p:cNvSpPr/>
          <p:nvPr/>
        </p:nvSpPr>
        <p:spPr>
          <a:xfrm>
            <a:off x="2231119" y="1435770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91A5E5-2211-4D98-9A58-18A336DE8FDF}"/>
              </a:ext>
            </a:extLst>
          </p:cNvPr>
          <p:cNvSpPr/>
          <p:nvPr/>
        </p:nvSpPr>
        <p:spPr>
          <a:xfrm>
            <a:off x="905556" y="145323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95518B-7F5A-4FC6-AD5A-5CADDA62244E}"/>
              </a:ext>
            </a:extLst>
          </p:cNvPr>
          <p:cNvSpPr/>
          <p:nvPr/>
        </p:nvSpPr>
        <p:spPr>
          <a:xfrm>
            <a:off x="899206" y="2534320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0B355D-D5A5-461A-B453-A9408F8948FD}"/>
              </a:ext>
            </a:extLst>
          </p:cNvPr>
          <p:cNvSpPr/>
          <p:nvPr/>
        </p:nvSpPr>
        <p:spPr>
          <a:xfrm>
            <a:off x="2231119" y="2580358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6388A6-48A7-4311-B84E-345B2DECAE7D}"/>
              </a:ext>
            </a:extLst>
          </p:cNvPr>
          <p:cNvCxnSpPr>
            <a:cxnSpLocks noChangeShapeType="1"/>
            <a:stCxn id="8" idx="7"/>
            <a:endCxn id="6" idx="3"/>
          </p:cNvCxnSpPr>
          <p:nvPr/>
        </p:nvCxnSpPr>
        <p:spPr bwMode="auto">
          <a:xfrm flipV="1">
            <a:off x="1267507" y="1804070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0F126D-FBCB-4B06-9773-925A7F40FB25}"/>
              </a:ext>
            </a:extLst>
          </p:cNvPr>
          <p:cNvCxnSpPr>
            <a:cxnSpLocks noChangeShapeType="1"/>
            <a:endCxn id="9" idx="0"/>
          </p:cNvCxnSpPr>
          <p:nvPr/>
        </p:nvCxnSpPr>
        <p:spPr bwMode="auto">
          <a:xfrm>
            <a:off x="2437495" y="1869158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6221CD-5AF4-4AA2-AD9D-207DAF08D7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21456" y="1854870"/>
            <a:ext cx="0" cy="649288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A2513335-78E5-4FE4-8F24-D0F5940B30C7}"/>
              </a:ext>
            </a:extLst>
          </p:cNvPr>
          <p:cNvSpPr/>
          <p:nvPr/>
        </p:nvSpPr>
        <p:spPr>
          <a:xfrm>
            <a:off x="5785888" y="139058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85519D-EB81-4E47-9CAA-D68C47C2217F}"/>
              </a:ext>
            </a:extLst>
          </p:cNvPr>
          <p:cNvSpPr/>
          <p:nvPr/>
        </p:nvSpPr>
        <p:spPr>
          <a:xfrm>
            <a:off x="4460325" y="1408045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DF3FB1-D244-48C1-94C9-89301AF3464E}"/>
              </a:ext>
            </a:extLst>
          </p:cNvPr>
          <p:cNvSpPr/>
          <p:nvPr/>
        </p:nvSpPr>
        <p:spPr>
          <a:xfrm>
            <a:off x="4453975" y="2489133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3534E8-CAF9-4359-83CA-C820D293A868}"/>
              </a:ext>
            </a:extLst>
          </p:cNvPr>
          <p:cNvSpPr/>
          <p:nvPr/>
        </p:nvSpPr>
        <p:spPr>
          <a:xfrm>
            <a:off x="5785888" y="2535170"/>
            <a:ext cx="431800" cy="431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A746A7-F5AC-40B0-B4F3-0EF922755255}"/>
              </a:ext>
            </a:extLst>
          </p:cNvPr>
          <p:cNvCxnSpPr>
            <a:cxnSpLocks noChangeShapeType="1"/>
            <a:stCxn id="15" idx="7"/>
            <a:endCxn id="13" idx="3"/>
          </p:cNvCxnSpPr>
          <p:nvPr/>
        </p:nvCxnSpPr>
        <p:spPr bwMode="auto">
          <a:xfrm flipV="1">
            <a:off x="4822276" y="1758883"/>
            <a:ext cx="1027113" cy="79375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E6F96E-16C8-4065-BB3E-615889535984}"/>
              </a:ext>
            </a:extLst>
          </p:cNvPr>
          <p:cNvCxnSpPr>
            <a:cxnSpLocks noChangeShapeType="1"/>
            <a:endCxn id="16" idx="0"/>
          </p:cNvCxnSpPr>
          <p:nvPr/>
        </p:nvCxnSpPr>
        <p:spPr bwMode="auto">
          <a:xfrm>
            <a:off x="5992264" y="1823970"/>
            <a:ext cx="9525" cy="711200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FC0D82-E9BD-4BEB-A48F-C2E1BBC17A91}"/>
              </a:ext>
            </a:extLst>
          </p:cNvPr>
          <p:cNvCxnSpPr>
            <a:cxnSpLocks noChangeShapeType="1"/>
            <a:stCxn id="14" idx="5"/>
            <a:endCxn id="16" idx="1"/>
          </p:cNvCxnSpPr>
          <p:nvPr/>
        </p:nvCxnSpPr>
        <p:spPr bwMode="auto">
          <a:xfrm>
            <a:off x="4828626" y="1776346"/>
            <a:ext cx="1020763" cy="822325"/>
          </a:xfrm>
          <a:prstGeom prst="line">
            <a:avLst/>
          </a:prstGeom>
          <a:noFill/>
          <a:ln w="31750" cmpd="dbl">
            <a:solidFill>
              <a:sysClr val="windowText" lastClr="000000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50">
            <a:extLst>
              <a:ext uri="{FF2B5EF4-FFF2-40B4-BE49-F238E27FC236}">
                <a16:creationId xmlns:a16="http://schemas.microsoft.com/office/drawing/2014/main" id="{B3278B95-CAE7-4E65-BCC3-25AA45E04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051" y="3254309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       Graph G</a:t>
            </a:r>
          </a:p>
        </p:txBody>
      </p:sp>
      <p:sp>
        <p:nvSpPr>
          <p:cNvPr id="21" name="TextBox 51">
            <a:extLst>
              <a:ext uri="{FF2B5EF4-FFF2-40B4-BE49-F238E27FC236}">
                <a16:creationId xmlns:a16="http://schemas.microsoft.com/office/drawing/2014/main" id="{274379A5-EEF7-4F66-9F1B-FA775CCEF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590" y="3256247"/>
            <a:ext cx="1630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Graph G’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701D1-1B52-41C9-97D3-D5B96B5CDC87}"/>
              </a:ext>
            </a:extLst>
          </p:cNvPr>
          <p:cNvSpPr txBox="1"/>
          <p:nvPr/>
        </p:nvSpPr>
        <p:spPr>
          <a:xfrm>
            <a:off x="6887817" y="1673158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1</a:t>
            </a:r>
          </a:p>
          <a:p>
            <a:endParaRPr lang="en-IN" sz="2400" dirty="0"/>
          </a:p>
          <a:p>
            <a:r>
              <a:rPr lang="en-IN" sz="2400" dirty="0"/>
              <a:t>W			C</a:t>
            </a:r>
          </a:p>
          <a:p>
            <a:endParaRPr lang="en-IN" sz="2400" dirty="0"/>
          </a:p>
          <a:p>
            <a:r>
              <a:rPr lang="en-IN" sz="2400" dirty="0"/>
              <a:t>Z			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634E4B-2A57-420C-B76E-F8EE97C68D57}"/>
              </a:ext>
            </a:extLst>
          </p:cNvPr>
          <p:cNvSpPr txBox="1"/>
          <p:nvPr/>
        </p:nvSpPr>
        <p:spPr>
          <a:xfrm>
            <a:off x="6920949" y="3674235"/>
            <a:ext cx="203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Degree 2</a:t>
            </a:r>
          </a:p>
          <a:p>
            <a:endParaRPr lang="en-IN" sz="2400" dirty="0"/>
          </a:p>
          <a:p>
            <a:r>
              <a:rPr lang="en-IN" sz="2400" dirty="0"/>
              <a:t>X			B</a:t>
            </a:r>
          </a:p>
          <a:p>
            <a:endParaRPr lang="en-IN" sz="2400" dirty="0"/>
          </a:p>
          <a:p>
            <a:r>
              <a:rPr lang="en-IN" sz="2400" dirty="0"/>
              <a:t>Y			D</a:t>
            </a:r>
          </a:p>
        </p:txBody>
      </p:sp>
      <p:sp>
        <p:nvSpPr>
          <p:cNvPr id="29" name="TextBox 52">
            <a:extLst>
              <a:ext uri="{FF2B5EF4-FFF2-40B4-BE49-F238E27FC236}">
                <a16:creationId xmlns:a16="http://schemas.microsoft.com/office/drawing/2014/main" id="{3173D40B-6C5A-4227-9EBE-A2930C0A7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92" y="3958125"/>
            <a:ext cx="153293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0" defTabSz="914400" eaLnBrk="1" hangingPunct="1"/>
            <a: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  <a:t>f</a:t>
            </a:r>
            <a:r>
              <a:rPr lang="en-US" altLang="en-US" baseline="-25000" dirty="0">
                <a:solidFill>
                  <a:srgbClr val="000000"/>
                </a:solidFill>
                <a:latin typeface="+mn-lt"/>
                <a:ea typeface="+mn-ea"/>
              </a:rPr>
              <a:t>4</a:t>
            </a:r>
            <a: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  <a:t>(W) = A  f</a:t>
            </a:r>
            <a:r>
              <a:rPr lang="en-US" altLang="en-US" baseline="-25000" dirty="0">
                <a:solidFill>
                  <a:srgbClr val="000000"/>
                </a:solidFill>
                <a:latin typeface="+mn-lt"/>
                <a:ea typeface="+mn-ea"/>
              </a:rPr>
              <a:t>4</a:t>
            </a:r>
            <a: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  <a:t>(Y)  = B   f</a:t>
            </a:r>
            <a:r>
              <a:rPr lang="en-US" altLang="en-US" baseline="-25000" dirty="0">
                <a:solidFill>
                  <a:srgbClr val="000000"/>
                </a:solidFill>
                <a:latin typeface="+mn-lt"/>
                <a:ea typeface="+mn-ea"/>
              </a:rPr>
              <a:t>4</a:t>
            </a:r>
            <a: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  <a:t>(Z)  = C   f</a:t>
            </a:r>
            <a:r>
              <a:rPr lang="en-US" altLang="en-US" baseline="-25000" dirty="0">
                <a:solidFill>
                  <a:srgbClr val="000000"/>
                </a:solidFill>
                <a:latin typeface="+mn-lt"/>
                <a:ea typeface="+mn-ea"/>
              </a:rPr>
              <a:t>4</a:t>
            </a:r>
            <a:r>
              <a:rPr lang="en-US" altLang="en-US" dirty="0">
                <a:solidFill>
                  <a:srgbClr val="000000"/>
                </a:solidFill>
                <a:latin typeface="+mn-lt"/>
                <a:ea typeface="+mn-ea"/>
              </a:rPr>
              <a:t>(X)  = D</a:t>
            </a:r>
            <a:endParaRPr lang="en-US" altLang="en-US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20F1E9-8AC0-4072-87B9-4EE407A6B5E6}"/>
              </a:ext>
            </a:extLst>
          </p:cNvPr>
          <p:cNvSpPr txBox="1"/>
          <p:nvPr/>
        </p:nvSpPr>
        <p:spPr>
          <a:xfrm>
            <a:off x="3142339" y="5625617"/>
            <a:ext cx="56998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rgbClr val="000000"/>
                </a:solidFill>
              </a:rPr>
              <a:t>The graph G is </a:t>
            </a:r>
            <a:r>
              <a:rPr lang="en-US" altLang="en-US" sz="2400" dirty="0">
                <a:solidFill>
                  <a:srgbClr val="00B0F0"/>
                </a:solidFill>
              </a:rPr>
              <a:t>isomorphic</a:t>
            </a:r>
            <a:r>
              <a:rPr lang="en-US" altLang="en-US" sz="2400" dirty="0">
                <a:solidFill>
                  <a:srgbClr val="000000"/>
                </a:solidFill>
              </a:rPr>
              <a:t> to  G’. 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</a:t>
            </a:r>
            <a:r>
              <a:rPr lang="en-US" altLang="en-US" sz="2400" dirty="0">
                <a:solidFill>
                  <a:srgbClr val="000000"/>
                </a:solidFill>
              </a:rPr>
              <a:t>: G </a:t>
            </a:r>
            <a:r>
              <a:rPr lang="en-US" altLang="en-US" sz="2400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lang="en-US" altLang="en-US" sz="2400" dirty="0">
                <a:solidFill>
                  <a:srgbClr val="000000"/>
                </a:solidFill>
              </a:rPr>
              <a:t> G’  and 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4</a:t>
            </a:r>
            <a:r>
              <a:rPr lang="en-US" altLang="en-US" sz="2400" dirty="0">
                <a:solidFill>
                  <a:srgbClr val="000000"/>
                </a:solidFill>
              </a:rPr>
              <a:t>: G </a:t>
            </a:r>
            <a:r>
              <a:rPr lang="en-US" altLang="en-US" sz="2400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lang="en-US" altLang="en-US" sz="2400" dirty="0">
                <a:solidFill>
                  <a:srgbClr val="000000"/>
                </a:solidFill>
              </a:rPr>
              <a:t> G’ are the only two </a:t>
            </a:r>
            <a:r>
              <a:rPr lang="en-US" altLang="en-US" sz="2400" dirty="0">
                <a:solidFill>
                  <a:srgbClr val="FF0000"/>
                </a:solidFill>
              </a:rPr>
              <a:t>isomorphism</a:t>
            </a:r>
            <a:r>
              <a:rPr lang="en-US" altLang="en-US" sz="2400" dirty="0">
                <a:solidFill>
                  <a:srgbClr val="000000"/>
                </a:solidFill>
              </a:rPr>
              <a:t> .</a:t>
            </a:r>
            <a:endParaRPr lang="en-IN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602317-6F78-4596-BDE8-CA28CCAB7DEB}"/>
              </a:ext>
            </a:extLst>
          </p:cNvPr>
          <p:cNvSpPr txBox="1"/>
          <p:nvPr/>
        </p:nvSpPr>
        <p:spPr>
          <a:xfrm>
            <a:off x="2319774" y="3965998"/>
            <a:ext cx="16451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rgbClr val="000000"/>
                </a:solidFill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(W) = C</a:t>
            </a:r>
          </a:p>
          <a:p>
            <a:r>
              <a:rPr lang="en-US" altLang="en-US" sz="2400" dirty="0">
                <a:solidFill>
                  <a:srgbClr val="000000"/>
                </a:solidFill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(Y)  = D </a:t>
            </a:r>
          </a:p>
          <a:p>
            <a:r>
              <a:rPr lang="en-US" altLang="en-US" sz="2400" dirty="0">
                <a:solidFill>
                  <a:srgbClr val="000000"/>
                </a:solidFill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(Z)  = A</a:t>
            </a:r>
          </a:p>
          <a:p>
            <a:r>
              <a:rPr lang="en-US" altLang="en-US" sz="2400" dirty="0">
                <a:solidFill>
                  <a:srgbClr val="000000"/>
                </a:solidFill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(X)  = B</a:t>
            </a:r>
          </a:p>
        </p:txBody>
      </p:sp>
    </p:spTree>
    <p:extLst>
      <p:ext uri="{BB962C8B-B14F-4D97-AF65-F5344CB8AC3E}">
        <p14:creationId xmlns:p14="http://schemas.microsoft.com/office/powerpoint/2010/main" val="153474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Isomorphism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A7EE544-E01C-4882-81EC-E69FB425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305" y="1336130"/>
            <a:ext cx="8280400" cy="5903912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IN" altLang="en-US" sz="2000" dirty="0">
                <a:ea typeface="ＭＳ Ｐゴシック" panose="020B0600070205080204" pitchFamily="34" charset="-128"/>
              </a:rPr>
              <a:t>				Adjacency matrix of graph G’	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altLang="en-US" sz="2000" dirty="0">
                <a:ea typeface="ＭＳ Ｐゴシック" panose="020B0600070205080204" pitchFamily="34" charset="-128"/>
              </a:rPr>
              <a:t>					 	 A   B  C    D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altLang="en-US" sz="2000" dirty="0">
                <a:ea typeface="ＭＳ Ｐゴシック" panose="020B0600070205080204" pitchFamily="34" charset="-128"/>
              </a:rPr>
              <a:t>				           	A    	0   0   0   1  	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altLang="en-US" sz="2000" dirty="0">
                <a:ea typeface="ＭＳ Ｐゴシック" panose="020B0600070205080204" pitchFamily="34" charset="-128"/>
              </a:rPr>
              <a:t>					B   	 0    0   1   1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altLang="en-US" sz="2000" dirty="0">
                <a:ea typeface="ＭＳ Ｐゴシック" panose="020B0600070205080204" pitchFamily="34" charset="-128"/>
              </a:rPr>
              <a:t>					C    	0    1   0   0  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altLang="en-US" sz="2000" dirty="0">
                <a:ea typeface="ＭＳ Ｐゴシック" panose="020B0600070205080204" pitchFamily="34" charset="-128"/>
              </a:rPr>
              <a:t>					D    	1    1   0   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altLang="en-US" sz="2000" dirty="0">
                <a:ea typeface="ＭＳ Ｐゴシック" panose="020B0600070205080204" pitchFamily="34" charset="-128"/>
              </a:rPr>
              <a:t>Adjacency matrix of graph G 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IN" sz="2000" dirty="0">
                <a:solidFill>
                  <a:prstClr val="black"/>
                </a:solidFill>
              </a:rPr>
              <a:t>	Z   X   W   Y	 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IN" sz="2000" dirty="0">
                <a:solidFill>
                  <a:prstClr val="black"/>
                </a:solidFill>
              </a:rPr>
              <a:t>   Z       0    0   0   1    	            		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IN" sz="2000" dirty="0">
                <a:solidFill>
                  <a:prstClr val="black"/>
                </a:solidFill>
              </a:rPr>
              <a:t>   X       0    0   1   1                                           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IN" sz="2000" dirty="0">
                <a:solidFill>
                  <a:prstClr val="black"/>
                </a:solidFill>
              </a:rPr>
              <a:t>  W      0    1   0   0                                              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IN" sz="2000" dirty="0">
                <a:solidFill>
                  <a:prstClr val="black"/>
                </a:solidFill>
              </a:rPr>
              <a:t>   Y       1    1   0   0   </a:t>
            </a:r>
            <a:endParaRPr lang="en-IN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5" name="Left Bracket 4">
            <a:extLst>
              <a:ext uri="{FF2B5EF4-FFF2-40B4-BE49-F238E27FC236}">
                <a16:creationId xmlns:a16="http://schemas.microsoft.com/office/drawing/2014/main" id="{4A559AA3-3935-43DD-BC87-3C41254EB464}"/>
              </a:ext>
            </a:extLst>
          </p:cNvPr>
          <p:cNvSpPr/>
          <p:nvPr/>
        </p:nvSpPr>
        <p:spPr>
          <a:xfrm>
            <a:off x="6473498" y="2092677"/>
            <a:ext cx="45719" cy="1391089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79A8BD40-240D-43A9-AFC3-4408C8200CC6}"/>
              </a:ext>
            </a:extLst>
          </p:cNvPr>
          <p:cNvSpPr/>
          <p:nvPr/>
        </p:nvSpPr>
        <p:spPr>
          <a:xfrm flipH="1">
            <a:off x="8086273" y="2092677"/>
            <a:ext cx="45719" cy="1412459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>
              <a:solidFill>
                <a:prstClr val="black"/>
              </a:solidFill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A840607A-0B22-4F02-B4E0-A3C7A93C2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908" y="5336755"/>
            <a:ext cx="519204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n-lt"/>
              </a:rPr>
              <a:t>The resultant matrix corresponds to matrix of graph G’ and hence G and G’ are isomorphic to each other.</a:t>
            </a:r>
          </a:p>
        </p:txBody>
      </p:sp>
      <p:sp>
        <p:nvSpPr>
          <p:cNvPr id="10" name="TextBox 50">
            <a:extLst>
              <a:ext uri="{FF2B5EF4-FFF2-40B4-BE49-F238E27FC236}">
                <a16:creationId xmlns:a16="http://schemas.microsoft.com/office/drawing/2014/main" id="{376D88C8-77C1-4BD3-8F7C-483F14400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1243" y="2862340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n-lt"/>
              </a:rPr>
              <a:t>        Graph G</a:t>
            </a:r>
          </a:p>
        </p:txBody>
      </p:sp>
      <p:sp>
        <p:nvSpPr>
          <p:cNvPr id="11" name="TextBox 51">
            <a:extLst>
              <a:ext uri="{FF2B5EF4-FFF2-40B4-BE49-F238E27FC236}">
                <a16:creationId xmlns:a16="http://schemas.microsoft.com/office/drawing/2014/main" id="{A281F216-510E-47DC-85EB-C73301B56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0967" y="2895055"/>
            <a:ext cx="14135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n-lt"/>
              </a:rPr>
              <a:t>Graph G’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D428608-693F-4D80-BDF3-BDD6FC005943}"/>
              </a:ext>
            </a:extLst>
          </p:cNvPr>
          <p:cNvSpPr/>
          <p:nvPr/>
        </p:nvSpPr>
        <p:spPr>
          <a:xfrm>
            <a:off x="1431651" y="1102767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6F8CADC-D470-449B-B51E-2AB20D198871}"/>
              </a:ext>
            </a:extLst>
          </p:cNvPr>
          <p:cNvSpPr/>
          <p:nvPr/>
        </p:nvSpPr>
        <p:spPr>
          <a:xfrm>
            <a:off x="106088" y="1120230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>
                    <a:lumMod val="75000"/>
                    <a:lumOff val="25000"/>
                  </a:prstClr>
                </a:solidFill>
              </a:rPr>
              <a:t>W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DE9B59-AE62-4103-87C5-3982683BD2B0}"/>
              </a:ext>
            </a:extLst>
          </p:cNvPr>
          <p:cNvSpPr/>
          <p:nvPr/>
        </p:nvSpPr>
        <p:spPr>
          <a:xfrm>
            <a:off x="99738" y="2201317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71B97ED-2155-4D79-87A8-A39B99AF31A3}"/>
              </a:ext>
            </a:extLst>
          </p:cNvPr>
          <p:cNvSpPr/>
          <p:nvPr/>
        </p:nvSpPr>
        <p:spPr>
          <a:xfrm>
            <a:off x="1431651" y="2247355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Z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DA1C98D-B472-44A3-AF51-3C2AB716264E}"/>
              </a:ext>
            </a:extLst>
          </p:cNvPr>
          <p:cNvCxnSpPr>
            <a:cxnSpLocks noChangeShapeType="1"/>
            <a:stCxn id="14" idx="7"/>
            <a:endCxn id="12" idx="3"/>
          </p:cNvCxnSpPr>
          <p:nvPr/>
        </p:nvCxnSpPr>
        <p:spPr bwMode="auto">
          <a:xfrm flipV="1">
            <a:off x="468039" y="1471067"/>
            <a:ext cx="1027113" cy="793750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AABE54-DC5F-4D27-BBD9-6EBF10A1C430}"/>
              </a:ext>
            </a:extLst>
          </p:cNvPr>
          <p:cNvCxnSpPr>
            <a:cxnSpLocks noChangeShapeType="1"/>
            <a:endCxn id="15" idx="0"/>
          </p:cNvCxnSpPr>
          <p:nvPr/>
        </p:nvCxnSpPr>
        <p:spPr bwMode="auto">
          <a:xfrm>
            <a:off x="1638027" y="1536155"/>
            <a:ext cx="9525" cy="711200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727A85-5A3F-49D2-9480-0B06CCA5DB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1988" y="1521867"/>
            <a:ext cx="0" cy="649288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D6FF187D-5165-410F-87D6-91727A5C8158}"/>
              </a:ext>
            </a:extLst>
          </p:cNvPr>
          <p:cNvSpPr/>
          <p:nvPr/>
        </p:nvSpPr>
        <p:spPr>
          <a:xfrm>
            <a:off x="3757821" y="1152945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11979A6-2525-44B9-9164-740BC3322904}"/>
              </a:ext>
            </a:extLst>
          </p:cNvPr>
          <p:cNvSpPr/>
          <p:nvPr/>
        </p:nvSpPr>
        <p:spPr>
          <a:xfrm>
            <a:off x="2432258" y="1170407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>
                    <a:lumMod val="75000"/>
                    <a:lumOff val="25000"/>
                  </a:prstClr>
                </a:solidFill>
              </a:rPr>
              <a:t>C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92CB1A7-73D7-49A4-85AD-F6B81FAD7287}"/>
              </a:ext>
            </a:extLst>
          </p:cNvPr>
          <p:cNvSpPr/>
          <p:nvPr/>
        </p:nvSpPr>
        <p:spPr>
          <a:xfrm>
            <a:off x="2425908" y="2251495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87A62F6-A0E2-456C-A53A-1E302FA8F6AF}"/>
              </a:ext>
            </a:extLst>
          </p:cNvPr>
          <p:cNvSpPr/>
          <p:nvPr/>
        </p:nvSpPr>
        <p:spPr>
          <a:xfrm>
            <a:off x="3757821" y="2297532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74D5DA2-B0D0-473A-94A0-78F9141F8ED9}"/>
              </a:ext>
            </a:extLst>
          </p:cNvPr>
          <p:cNvCxnSpPr>
            <a:cxnSpLocks noChangeShapeType="1"/>
            <a:stCxn id="21" idx="7"/>
            <a:endCxn id="19" idx="3"/>
          </p:cNvCxnSpPr>
          <p:nvPr/>
        </p:nvCxnSpPr>
        <p:spPr bwMode="auto">
          <a:xfrm flipV="1">
            <a:off x="2794209" y="1521245"/>
            <a:ext cx="1027113" cy="793750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AA53C6-B81E-4C6C-A6F3-5F7FA6700311}"/>
              </a:ext>
            </a:extLst>
          </p:cNvPr>
          <p:cNvCxnSpPr>
            <a:cxnSpLocks noChangeShapeType="1"/>
            <a:endCxn id="22" idx="0"/>
          </p:cNvCxnSpPr>
          <p:nvPr/>
        </p:nvCxnSpPr>
        <p:spPr bwMode="auto">
          <a:xfrm>
            <a:off x="3964197" y="1586332"/>
            <a:ext cx="9525" cy="711200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E3BDB6D-E95D-4C3E-A996-0B4A8BF56EAA}"/>
              </a:ext>
            </a:extLst>
          </p:cNvPr>
          <p:cNvCxnSpPr>
            <a:cxnSpLocks noChangeShapeType="1"/>
            <a:stCxn id="20" idx="5"/>
            <a:endCxn id="22" idx="1"/>
          </p:cNvCxnSpPr>
          <p:nvPr/>
        </p:nvCxnSpPr>
        <p:spPr bwMode="auto">
          <a:xfrm>
            <a:off x="2800559" y="1538708"/>
            <a:ext cx="1020763" cy="822325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F3592B9-AB7A-43D3-A451-38B05D6A463F}"/>
              </a:ext>
            </a:extLst>
          </p:cNvPr>
          <p:cNvSpPr txBox="1"/>
          <p:nvPr/>
        </p:nvSpPr>
        <p:spPr>
          <a:xfrm>
            <a:off x="6288336" y="3626240"/>
            <a:ext cx="18564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rgbClr val="000000"/>
                </a:solidFill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(W) = C</a:t>
            </a:r>
          </a:p>
          <a:p>
            <a:r>
              <a:rPr lang="en-US" altLang="en-US" sz="2400" dirty="0">
                <a:solidFill>
                  <a:srgbClr val="000000"/>
                </a:solidFill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(Y)  = D	</a:t>
            </a:r>
          </a:p>
          <a:p>
            <a:r>
              <a:rPr lang="en-US" altLang="en-US" sz="2400" dirty="0">
                <a:solidFill>
                  <a:srgbClr val="000000"/>
                </a:solidFill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</a:t>
            </a:r>
            <a:r>
              <a:rPr lang="en-US" altLang="en-US" sz="2400" dirty="0">
                <a:solidFill>
                  <a:srgbClr val="000000"/>
                </a:solidFill>
              </a:rPr>
              <a:t>(Z)  = A</a:t>
            </a:r>
          </a:p>
          <a:p>
            <a:r>
              <a:rPr lang="en-US" altLang="en-US" sz="2400" dirty="0">
                <a:solidFill>
                  <a:srgbClr val="000000"/>
                </a:solidFill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(X)  = B</a:t>
            </a:r>
          </a:p>
        </p:txBody>
      </p: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316771A5-A22B-4428-89EF-338B79AAE697}"/>
              </a:ext>
            </a:extLst>
          </p:cNvPr>
          <p:cNvSpPr/>
          <p:nvPr/>
        </p:nvSpPr>
        <p:spPr>
          <a:xfrm>
            <a:off x="1776261" y="4451563"/>
            <a:ext cx="87190" cy="1569660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>
              <a:solidFill>
                <a:prstClr val="black"/>
              </a:solidFill>
            </a:endParaRPr>
          </a:p>
        </p:txBody>
      </p:sp>
      <p:sp>
        <p:nvSpPr>
          <p:cNvPr id="37" name="Left Bracket 36">
            <a:extLst>
              <a:ext uri="{FF2B5EF4-FFF2-40B4-BE49-F238E27FC236}">
                <a16:creationId xmlns:a16="http://schemas.microsoft.com/office/drawing/2014/main" id="{746833CC-DC72-4002-B01D-9C6090D4CD5B}"/>
              </a:ext>
            </a:extLst>
          </p:cNvPr>
          <p:cNvSpPr/>
          <p:nvPr/>
        </p:nvSpPr>
        <p:spPr>
          <a:xfrm flipH="1">
            <a:off x="3389035" y="4451563"/>
            <a:ext cx="87190" cy="1593773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002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Isomorphism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A7EE544-E01C-4882-81EC-E69FB425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305" y="1336130"/>
            <a:ext cx="8280400" cy="5903912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IN" altLang="en-US" sz="2000" dirty="0">
                <a:ea typeface="ＭＳ Ｐゴシック" panose="020B0600070205080204" pitchFamily="34" charset="-128"/>
              </a:rPr>
              <a:t>				Adjacency matrix of graph G’	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altLang="en-US" sz="2000" dirty="0">
                <a:ea typeface="ＭＳ Ｐゴシック" panose="020B0600070205080204" pitchFamily="34" charset="-128"/>
              </a:rPr>
              <a:t>					 	 A   B  C    D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altLang="en-US" sz="2000" dirty="0">
                <a:ea typeface="ＭＳ Ｐゴシック" panose="020B0600070205080204" pitchFamily="34" charset="-128"/>
              </a:rPr>
              <a:t>				           	A    	0   0   0   1  	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altLang="en-US" sz="2000" dirty="0">
                <a:ea typeface="ＭＳ Ｐゴシック" panose="020B0600070205080204" pitchFamily="34" charset="-128"/>
              </a:rPr>
              <a:t>					B   	 0    0   1   1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altLang="en-US" sz="2000" dirty="0">
                <a:ea typeface="ＭＳ Ｐゴシック" panose="020B0600070205080204" pitchFamily="34" charset="-128"/>
              </a:rPr>
              <a:t>					C    	0    1   0   0  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altLang="en-US" sz="2000" dirty="0">
                <a:ea typeface="ＭＳ Ｐゴシック" panose="020B0600070205080204" pitchFamily="34" charset="-128"/>
              </a:rPr>
              <a:t>					D    	1    1   0   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altLang="en-US" sz="2000" dirty="0">
                <a:ea typeface="ＭＳ Ｐゴシック" panose="020B0600070205080204" pitchFamily="34" charset="-128"/>
              </a:rPr>
              <a:t>Adjacency matrix of graph G 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IN" sz="2000" dirty="0">
                <a:solidFill>
                  <a:prstClr val="black"/>
                </a:solidFill>
              </a:rPr>
              <a:t>	Z   X   W   Y	 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IN" sz="2000" dirty="0">
                <a:solidFill>
                  <a:prstClr val="black"/>
                </a:solidFill>
              </a:rPr>
              <a:t>   Z       0    0   0   1    	            		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IN" sz="2000" dirty="0">
                <a:solidFill>
                  <a:prstClr val="black"/>
                </a:solidFill>
              </a:rPr>
              <a:t>   X       0    0   1   1                                           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IN" sz="2000" dirty="0">
                <a:solidFill>
                  <a:prstClr val="black"/>
                </a:solidFill>
              </a:rPr>
              <a:t>  W      0    1   0   0                                              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IN" sz="2000" dirty="0">
                <a:solidFill>
                  <a:prstClr val="black"/>
                </a:solidFill>
              </a:rPr>
              <a:t>   Y       1    1   0   0   </a:t>
            </a:r>
            <a:endParaRPr lang="en-IN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5" name="Left Bracket 4">
            <a:extLst>
              <a:ext uri="{FF2B5EF4-FFF2-40B4-BE49-F238E27FC236}">
                <a16:creationId xmlns:a16="http://schemas.microsoft.com/office/drawing/2014/main" id="{4A559AA3-3935-43DD-BC87-3C41254EB464}"/>
              </a:ext>
            </a:extLst>
          </p:cNvPr>
          <p:cNvSpPr/>
          <p:nvPr/>
        </p:nvSpPr>
        <p:spPr>
          <a:xfrm>
            <a:off x="6473498" y="2092677"/>
            <a:ext cx="45719" cy="1391089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79A8BD40-240D-43A9-AFC3-4408C8200CC6}"/>
              </a:ext>
            </a:extLst>
          </p:cNvPr>
          <p:cNvSpPr/>
          <p:nvPr/>
        </p:nvSpPr>
        <p:spPr>
          <a:xfrm flipH="1">
            <a:off x="8086273" y="2092677"/>
            <a:ext cx="45719" cy="1412459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>
              <a:solidFill>
                <a:prstClr val="black"/>
              </a:solidFill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A840607A-0B22-4F02-B4E0-A3C7A93C2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821" y="5359173"/>
            <a:ext cx="52555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n-lt"/>
              </a:rPr>
              <a:t>The resultant matrix corresponds to matrix of graph G’ and hence G and G’ are isomorphic to each other.</a:t>
            </a:r>
          </a:p>
        </p:txBody>
      </p:sp>
      <p:sp>
        <p:nvSpPr>
          <p:cNvPr id="10" name="TextBox 50">
            <a:extLst>
              <a:ext uri="{FF2B5EF4-FFF2-40B4-BE49-F238E27FC236}">
                <a16:creationId xmlns:a16="http://schemas.microsoft.com/office/drawing/2014/main" id="{376D88C8-77C1-4BD3-8F7C-483F14400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8970" y="2801071"/>
            <a:ext cx="2225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n-lt"/>
              </a:rPr>
              <a:t>        Graph G</a:t>
            </a:r>
          </a:p>
        </p:txBody>
      </p:sp>
      <p:sp>
        <p:nvSpPr>
          <p:cNvPr id="11" name="TextBox 51">
            <a:extLst>
              <a:ext uri="{FF2B5EF4-FFF2-40B4-BE49-F238E27FC236}">
                <a16:creationId xmlns:a16="http://schemas.microsoft.com/office/drawing/2014/main" id="{A281F216-510E-47DC-85EB-C73301B56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9077" y="2822735"/>
            <a:ext cx="22256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n-lt"/>
              </a:rPr>
              <a:t>           Graph G’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D428608-693F-4D80-BDF3-BDD6FC005943}"/>
              </a:ext>
            </a:extLst>
          </p:cNvPr>
          <p:cNvSpPr/>
          <p:nvPr/>
        </p:nvSpPr>
        <p:spPr>
          <a:xfrm>
            <a:off x="1431651" y="1102767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6F8CADC-D470-449B-B51E-2AB20D198871}"/>
              </a:ext>
            </a:extLst>
          </p:cNvPr>
          <p:cNvSpPr/>
          <p:nvPr/>
        </p:nvSpPr>
        <p:spPr>
          <a:xfrm>
            <a:off x="106088" y="1120230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>
                    <a:lumMod val="75000"/>
                    <a:lumOff val="25000"/>
                  </a:prstClr>
                </a:solidFill>
              </a:rPr>
              <a:t>W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DE9B59-AE62-4103-87C5-3982683BD2B0}"/>
              </a:ext>
            </a:extLst>
          </p:cNvPr>
          <p:cNvSpPr/>
          <p:nvPr/>
        </p:nvSpPr>
        <p:spPr>
          <a:xfrm>
            <a:off x="99738" y="2201317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71B97ED-2155-4D79-87A8-A39B99AF31A3}"/>
              </a:ext>
            </a:extLst>
          </p:cNvPr>
          <p:cNvSpPr/>
          <p:nvPr/>
        </p:nvSpPr>
        <p:spPr>
          <a:xfrm>
            <a:off x="1431651" y="2247355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Z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DA1C98D-B472-44A3-AF51-3C2AB716264E}"/>
              </a:ext>
            </a:extLst>
          </p:cNvPr>
          <p:cNvCxnSpPr>
            <a:cxnSpLocks noChangeShapeType="1"/>
            <a:stCxn id="14" idx="7"/>
            <a:endCxn id="12" idx="3"/>
          </p:cNvCxnSpPr>
          <p:nvPr/>
        </p:nvCxnSpPr>
        <p:spPr bwMode="auto">
          <a:xfrm flipV="1">
            <a:off x="468039" y="1471067"/>
            <a:ext cx="1027113" cy="793750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AABE54-DC5F-4D27-BBD9-6EBF10A1C430}"/>
              </a:ext>
            </a:extLst>
          </p:cNvPr>
          <p:cNvCxnSpPr>
            <a:cxnSpLocks noChangeShapeType="1"/>
            <a:endCxn id="15" idx="0"/>
          </p:cNvCxnSpPr>
          <p:nvPr/>
        </p:nvCxnSpPr>
        <p:spPr bwMode="auto">
          <a:xfrm>
            <a:off x="1638027" y="1536155"/>
            <a:ext cx="9525" cy="711200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727A85-5A3F-49D2-9480-0B06CCA5DB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1988" y="1521867"/>
            <a:ext cx="0" cy="649288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D6FF187D-5165-410F-87D6-91727A5C8158}"/>
              </a:ext>
            </a:extLst>
          </p:cNvPr>
          <p:cNvSpPr/>
          <p:nvPr/>
        </p:nvSpPr>
        <p:spPr>
          <a:xfrm>
            <a:off x="3757821" y="1152945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11979A6-2525-44B9-9164-740BC3322904}"/>
              </a:ext>
            </a:extLst>
          </p:cNvPr>
          <p:cNvSpPr/>
          <p:nvPr/>
        </p:nvSpPr>
        <p:spPr>
          <a:xfrm>
            <a:off x="2432258" y="1170407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>
                    <a:lumMod val="75000"/>
                    <a:lumOff val="25000"/>
                  </a:prstClr>
                </a:solidFill>
              </a:rPr>
              <a:t>C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92CB1A7-73D7-49A4-85AD-F6B81FAD7287}"/>
              </a:ext>
            </a:extLst>
          </p:cNvPr>
          <p:cNvSpPr/>
          <p:nvPr/>
        </p:nvSpPr>
        <p:spPr>
          <a:xfrm>
            <a:off x="2425908" y="2251495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87A62F6-A0E2-456C-A53A-1E302FA8F6AF}"/>
              </a:ext>
            </a:extLst>
          </p:cNvPr>
          <p:cNvSpPr/>
          <p:nvPr/>
        </p:nvSpPr>
        <p:spPr>
          <a:xfrm>
            <a:off x="3757821" y="2297532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74D5DA2-B0D0-473A-94A0-78F9141F8ED9}"/>
              </a:ext>
            </a:extLst>
          </p:cNvPr>
          <p:cNvCxnSpPr>
            <a:cxnSpLocks noChangeShapeType="1"/>
            <a:stCxn id="21" idx="7"/>
            <a:endCxn id="19" idx="3"/>
          </p:cNvCxnSpPr>
          <p:nvPr/>
        </p:nvCxnSpPr>
        <p:spPr bwMode="auto">
          <a:xfrm flipV="1">
            <a:off x="2794209" y="1521245"/>
            <a:ext cx="1027113" cy="793750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AA53C6-B81E-4C6C-A6F3-5F7FA6700311}"/>
              </a:ext>
            </a:extLst>
          </p:cNvPr>
          <p:cNvCxnSpPr>
            <a:cxnSpLocks noChangeShapeType="1"/>
            <a:endCxn id="22" idx="0"/>
          </p:cNvCxnSpPr>
          <p:nvPr/>
        </p:nvCxnSpPr>
        <p:spPr bwMode="auto">
          <a:xfrm>
            <a:off x="3964197" y="1586332"/>
            <a:ext cx="9525" cy="711200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E3BDB6D-E95D-4C3E-A996-0B4A8BF56EAA}"/>
              </a:ext>
            </a:extLst>
          </p:cNvPr>
          <p:cNvCxnSpPr>
            <a:cxnSpLocks noChangeShapeType="1"/>
            <a:stCxn id="20" idx="5"/>
            <a:endCxn id="22" idx="1"/>
          </p:cNvCxnSpPr>
          <p:nvPr/>
        </p:nvCxnSpPr>
        <p:spPr bwMode="auto">
          <a:xfrm>
            <a:off x="2800559" y="1538708"/>
            <a:ext cx="1020763" cy="822325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F3592B9-AB7A-43D3-A451-38B05D6A463F}"/>
              </a:ext>
            </a:extLst>
          </p:cNvPr>
          <p:cNvSpPr txBox="1"/>
          <p:nvPr/>
        </p:nvSpPr>
        <p:spPr>
          <a:xfrm>
            <a:off x="6275494" y="3626240"/>
            <a:ext cx="18564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rgbClr val="000000"/>
                </a:solidFill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4 </a:t>
            </a:r>
            <a:r>
              <a:rPr lang="en-US" altLang="en-US" sz="2400" dirty="0">
                <a:solidFill>
                  <a:srgbClr val="000000"/>
                </a:solidFill>
              </a:rPr>
              <a:t>(W) = A</a:t>
            </a:r>
          </a:p>
          <a:p>
            <a:r>
              <a:rPr lang="en-US" altLang="en-US" sz="2400" dirty="0">
                <a:solidFill>
                  <a:srgbClr val="000000"/>
                </a:solidFill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4 </a:t>
            </a:r>
            <a:r>
              <a:rPr lang="en-US" altLang="en-US" sz="2400" dirty="0">
                <a:solidFill>
                  <a:srgbClr val="000000"/>
                </a:solidFill>
              </a:rPr>
              <a:t>(Y)  = B	</a:t>
            </a:r>
          </a:p>
          <a:p>
            <a:r>
              <a:rPr lang="en-US" altLang="en-US" sz="2400" dirty="0">
                <a:solidFill>
                  <a:srgbClr val="000000"/>
                </a:solidFill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4</a:t>
            </a:r>
            <a:r>
              <a:rPr lang="en-US" altLang="en-US" sz="2400" dirty="0">
                <a:solidFill>
                  <a:srgbClr val="000000"/>
                </a:solidFill>
              </a:rPr>
              <a:t>(Z)  = C</a:t>
            </a:r>
          </a:p>
          <a:p>
            <a:r>
              <a:rPr lang="en-US" altLang="en-US" sz="2400" dirty="0">
                <a:solidFill>
                  <a:srgbClr val="000000"/>
                </a:solidFill>
              </a:rPr>
              <a:t>f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4 </a:t>
            </a:r>
            <a:r>
              <a:rPr lang="en-US" altLang="en-US" sz="2400" dirty="0">
                <a:solidFill>
                  <a:srgbClr val="000000"/>
                </a:solidFill>
              </a:rPr>
              <a:t>(X)  = D</a:t>
            </a:r>
          </a:p>
        </p:txBody>
      </p: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316771A5-A22B-4428-89EF-338B79AAE697}"/>
              </a:ext>
            </a:extLst>
          </p:cNvPr>
          <p:cNvSpPr/>
          <p:nvPr/>
        </p:nvSpPr>
        <p:spPr>
          <a:xfrm>
            <a:off x="1776261" y="4451563"/>
            <a:ext cx="87190" cy="1569660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>
              <a:solidFill>
                <a:prstClr val="black"/>
              </a:solidFill>
            </a:endParaRPr>
          </a:p>
        </p:txBody>
      </p:sp>
      <p:sp>
        <p:nvSpPr>
          <p:cNvPr id="37" name="Left Bracket 36">
            <a:extLst>
              <a:ext uri="{FF2B5EF4-FFF2-40B4-BE49-F238E27FC236}">
                <a16:creationId xmlns:a16="http://schemas.microsoft.com/office/drawing/2014/main" id="{746833CC-DC72-4002-B01D-9C6090D4CD5B}"/>
              </a:ext>
            </a:extLst>
          </p:cNvPr>
          <p:cNvSpPr/>
          <p:nvPr/>
        </p:nvSpPr>
        <p:spPr>
          <a:xfrm flipH="1">
            <a:off x="3389035" y="4451563"/>
            <a:ext cx="87190" cy="1593773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0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9410</TotalTime>
  <Words>1702</Words>
  <Application>Microsoft Office PowerPoint</Application>
  <PresentationFormat>On-screen Show (4:3)</PresentationFormat>
  <Paragraphs>373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</vt:lpstr>
      <vt:lpstr>Bahnschrift</vt:lpstr>
      <vt:lpstr>Bahnschrift SemiBold</vt:lpstr>
      <vt:lpstr>Calibri</vt:lpstr>
      <vt:lpstr>Cambria Math</vt:lpstr>
      <vt:lpstr>Symbol</vt:lpstr>
      <vt:lpstr>Times New Roman</vt:lpstr>
      <vt:lpstr>Office Theme</vt:lpstr>
      <vt:lpstr>EMTH403</vt:lpstr>
      <vt:lpstr>Lecture Outcomes</vt:lpstr>
      <vt:lpstr>Graph Isomorphism - Definition</vt:lpstr>
      <vt:lpstr>Graph Isomorphism – 1st Mapping</vt:lpstr>
      <vt:lpstr>Graph Isomorphism – 1st Mapping</vt:lpstr>
      <vt:lpstr>Graph Isomorphism – 1st Mapping</vt:lpstr>
      <vt:lpstr>Graph Isomorphism – 2nd Mapping</vt:lpstr>
      <vt:lpstr>Graph Isomorphism – 3rd Mapping</vt:lpstr>
      <vt:lpstr>Graph Isomorphism – 4th Mapping</vt:lpstr>
      <vt:lpstr>Is a bijection f1 an isomorphism also?</vt:lpstr>
      <vt:lpstr>How many Isomorphism are possible from isomorphic  graph G to G’’? </vt:lpstr>
      <vt:lpstr>How many Isomorphism are possible from isomorphic graph G to G’’? </vt:lpstr>
      <vt:lpstr>How many Isomorphisms are possible from isomorphic graph G to G’’? </vt:lpstr>
      <vt:lpstr>How many Isomorphisms are possible from isomorphic graph G to G’’? </vt:lpstr>
      <vt:lpstr>Graph Isomorphism</vt:lpstr>
      <vt:lpstr>Graph Isomorphism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1406</cp:revision>
  <dcterms:created xsi:type="dcterms:W3CDTF">2020-12-04T05:20:56Z</dcterms:created>
  <dcterms:modified xsi:type="dcterms:W3CDTF">2021-01-13T07:06:01Z</dcterms:modified>
</cp:coreProperties>
</file>