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handoutMasterIdLst>
    <p:handoutMasterId r:id="rId28"/>
  </p:handoutMasterIdLst>
  <p:sldIdLst>
    <p:sldId id="256" r:id="rId2"/>
    <p:sldId id="257" r:id="rId3"/>
    <p:sldId id="287" r:id="rId4"/>
    <p:sldId id="298" r:id="rId5"/>
    <p:sldId id="288" r:id="rId6"/>
    <p:sldId id="299" r:id="rId7"/>
    <p:sldId id="289" r:id="rId8"/>
    <p:sldId id="306" r:id="rId9"/>
    <p:sldId id="293" r:id="rId10"/>
    <p:sldId id="309" r:id="rId11"/>
    <p:sldId id="291" r:id="rId12"/>
    <p:sldId id="307" r:id="rId13"/>
    <p:sldId id="308" r:id="rId14"/>
    <p:sldId id="295" r:id="rId15"/>
    <p:sldId id="314" r:id="rId16"/>
    <p:sldId id="297" r:id="rId17"/>
    <p:sldId id="315" r:id="rId18"/>
    <p:sldId id="286" r:id="rId19"/>
    <p:sldId id="312" r:id="rId20"/>
    <p:sldId id="311" r:id="rId21"/>
    <p:sldId id="302" r:id="rId22"/>
    <p:sldId id="303" r:id="rId23"/>
    <p:sldId id="304" r:id="rId24"/>
    <p:sldId id="317" r:id="rId25"/>
    <p:sldId id="259"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3A8035-ECEF-47C4-90A1-0C3215DAC7C2}">
          <p14:sldIdLst>
            <p14:sldId id="256"/>
            <p14:sldId id="257"/>
            <p14:sldId id="287"/>
            <p14:sldId id="298"/>
            <p14:sldId id="288"/>
            <p14:sldId id="299"/>
            <p14:sldId id="289"/>
            <p14:sldId id="306"/>
            <p14:sldId id="293"/>
            <p14:sldId id="309"/>
            <p14:sldId id="291"/>
            <p14:sldId id="307"/>
            <p14:sldId id="308"/>
            <p14:sldId id="295"/>
            <p14:sldId id="314"/>
            <p14:sldId id="297"/>
            <p14:sldId id="315"/>
            <p14:sldId id="286"/>
            <p14:sldId id="312"/>
            <p14:sldId id="311"/>
            <p14:sldId id="302"/>
            <p14:sldId id="303"/>
            <p14:sldId id="304"/>
            <p14:sldId id="317"/>
            <p14:sldId id="25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202B"/>
    <a:srgbClr val="00B6CC"/>
    <a:srgbClr val="4472C4"/>
    <a:srgbClr val="DDDDDD"/>
    <a:srgbClr val="BBBBBB"/>
    <a:srgbClr val="00A2B8"/>
    <a:srgbClr val="00B451"/>
    <a:srgbClr val="CA628C"/>
    <a:srgbClr val="71EEFF"/>
    <a:srgbClr val="89E2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1430" y="72"/>
      </p:cViewPr>
      <p:guideLst/>
    </p:cSldViewPr>
  </p:slideViewPr>
  <p:notesTextViewPr>
    <p:cViewPr>
      <p:scale>
        <a:sx n="1" d="1"/>
        <a:sy n="1" d="1"/>
      </p:scale>
      <p:origin x="0" y="0"/>
    </p:cViewPr>
  </p:notesTextViewPr>
  <p:notesViewPr>
    <p:cSldViewPr snapToGrid="0">
      <p:cViewPr varScale="1">
        <p:scale>
          <a:sx n="49" d="100"/>
          <a:sy n="49" d="100"/>
        </p:scale>
        <p:origin x="1884" y="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F218DD-E614-4E73-B564-F8E0717E89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4A14C21-F88B-4739-8F26-AA4DEEB64F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11DE57-39A0-4263-A76B-22C3CE26C8E2}" type="datetimeFigureOut">
              <a:rPr lang="en-IN" smtClean="0"/>
              <a:t>28-12-2020</a:t>
            </a:fld>
            <a:endParaRPr lang="en-IN"/>
          </a:p>
        </p:txBody>
      </p:sp>
      <p:sp>
        <p:nvSpPr>
          <p:cNvPr id="4" name="Footer Placeholder 3">
            <a:extLst>
              <a:ext uri="{FF2B5EF4-FFF2-40B4-BE49-F238E27FC236}">
                <a16:creationId xmlns:a16="http://schemas.microsoft.com/office/drawing/2014/main" id="{5C435058-CB50-45CA-B183-2892DE4A396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30C2E93-0834-4027-BDF9-2CBEA15477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BE93A7-2C4F-4D32-8895-81F23FF37AD6}" type="slidenum">
              <a:rPr lang="en-IN" smtClean="0"/>
              <a:t>‹#›</a:t>
            </a:fld>
            <a:endParaRPr lang="en-IN"/>
          </a:p>
        </p:txBody>
      </p:sp>
    </p:spTree>
    <p:extLst>
      <p:ext uri="{BB962C8B-B14F-4D97-AF65-F5344CB8AC3E}">
        <p14:creationId xmlns:p14="http://schemas.microsoft.com/office/powerpoint/2010/main" val="36868657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108F98-5817-4768-91E0-7435FEF7FFA1}" type="datetimeFigureOut">
              <a:rPr lang="en-IN" smtClean="0"/>
              <a:t>28-12-2020</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5C79E5-282A-4490-B8CC-DC7602F73C68}" type="slidenum">
              <a:rPr lang="en-IN" smtClean="0"/>
              <a:t>‹#›</a:t>
            </a:fld>
            <a:endParaRPr lang="en-IN"/>
          </a:p>
        </p:txBody>
      </p:sp>
    </p:spTree>
    <p:extLst>
      <p:ext uri="{BB962C8B-B14F-4D97-AF65-F5344CB8AC3E}">
        <p14:creationId xmlns:p14="http://schemas.microsoft.com/office/powerpoint/2010/main" val="2016600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822478E-B0D0-4983-A2EC-2C070D46FC4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1200"/>
          <a:stretch/>
        </p:blipFill>
        <p:spPr>
          <a:xfrm>
            <a:off x="-1" y="0"/>
            <a:ext cx="9144001" cy="6858000"/>
          </a:xfrm>
          <a:prstGeom prst="rect">
            <a:avLst/>
          </a:prstGeom>
        </p:spPr>
      </p:pic>
      <p:sp>
        <p:nvSpPr>
          <p:cNvPr id="2" name="Title 1"/>
          <p:cNvSpPr>
            <a:spLocks noGrp="1"/>
          </p:cNvSpPr>
          <p:nvPr>
            <p:ph type="ctrTitle" hasCustomPrompt="1"/>
          </p:nvPr>
        </p:nvSpPr>
        <p:spPr>
          <a:xfrm>
            <a:off x="4758813" y="1011007"/>
            <a:ext cx="4186084" cy="1001405"/>
          </a:xfrm>
        </p:spPr>
        <p:txBody>
          <a:bodyPr anchor="b">
            <a:noAutofit/>
          </a:bodyPr>
          <a:lstStyle>
            <a:lvl1pPr algn="r">
              <a:defRPr sz="7500">
                <a:ln>
                  <a:solidFill>
                    <a:srgbClr val="BA202B"/>
                  </a:solidFill>
                </a:ln>
                <a:solidFill>
                  <a:srgbClr val="CA628C"/>
                </a:solidFill>
                <a:effectLst>
                  <a:outerShdw blurRad="38100" dist="38100" dir="2700000" algn="tl">
                    <a:srgbClr val="000000">
                      <a:alpha val="43137"/>
                    </a:srgbClr>
                  </a:outerShdw>
                </a:effectLst>
              </a:defRPr>
            </a:lvl1pPr>
          </a:lstStyle>
          <a:p>
            <a:r>
              <a:rPr lang="en-US" dirty="0"/>
              <a:t>EMTH403</a:t>
            </a:r>
          </a:p>
        </p:txBody>
      </p:sp>
      <p:sp>
        <p:nvSpPr>
          <p:cNvPr id="3" name="Subtitle 2"/>
          <p:cNvSpPr>
            <a:spLocks noGrp="1"/>
          </p:cNvSpPr>
          <p:nvPr>
            <p:ph type="subTitle" idx="1" hasCustomPrompt="1"/>
          </p:nvPr>
        </p:nvSpPr>
        <p:spPr>
          <a:xfrm>
            <a:off x="4758813" y="2012412"/>
            <a:ext cx="4186083" cy="838943"/>
          </a:xfrm>
        </p:spPr>
        <p:txBody>
          <a:bodyPr>
            <a:normAutofit/>
          </a:bodyPr>
          <a:lstStyle>
            <a:lvl1pPr marL="0" indent="0" algn="r">
              <a:buNone/>
              <a:defRPr sz="2800">
                <a:solidFill>
                  <a:srgbClr val="00206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Mathematical Foundation for Computer Science</a:t>
            </a:r>
          </a:p>
        </p:txBody>
      </p:sp>
      <p:sp>
        <p:nvSpPr>
          <p:cNvPr id="9" name="TextBox 8">
            <a:extLst>
              <a:ext uri="{FF2B5EF4-FFF2-40B4-BE49-F238E27FC236}">
                <a16:creationId xmlns:a16="http://schemas.microsoft.com/office/drawing/2014/main" id="{FC6A5137-F38E-416C-BA01-890D57CBC895}"/>
              </a:ext>
            </a:extLst>
          </p:cNvPr>
          <p:cNvSpPr txBox="1"/>
          <p:nvPr userDrawn="1"/>
        </p:nvSpPr>
        <p:spPr>
          <a:xfrm>
            <a:off x="5369878" y="3852760"/>
            <a:ext cx="3575018" cy="507831"/>
          </a:xfrm>
          <a:prstGeom prst="rect">
            <a:avLst/>
          </a:prstGeom>
          <a:noFill/>
        </p:spPr>
        <p:txBody>
          <a:bodyPr wrap="none" rtlCol="0">
            <a:spAutoFit/>
          </a:bodyPr>
          <a:lstStyle/>
          <a:p>
            <a:pPr algn="r"/>
            <a:r>
              <a:rPr lang="en-IN" sz="2700" strike="noStrike" dirty="0">
                <a:solidFill>
                  <a:srgbClr val="BA202B"/>
                </a:solidFill>
                <a:effectLst/>
              </a:rPr>
              <a:t>Nitin K. Mishra (Ph.D.)</a:t>
            </a:r>
          </a:p>
        </p:txBody>
      </p:sp>
      <p:sp>
        <p:nvSpPr>
          <p:cNvPr id="10" name="TextBox 9">
            <a:extLst>
              <a:ext uri="{FF2B5EF4-FFF2-40B4-BE49-F238E27FC236}">
                <a16:creationId xmlns:a16="http://schemas.microsoft.com/office/drawing/2014/main" id="{12607290-3460-4AC4-ABC8-F072BD3D73E5}"/>
              </a:ext>
            </a:extLst>
          </p:cNvPr>
          <p:cNvSpPr txBox="1"/>
          <p:nvPr userDrawn="1"/>
        </p:nvSpPr>
        <p:spPr>
          <a:xfrm>
            <a:off x="5525729" y="4314425"/>
            <a:ext cx="3419167" cy="461665"/>
          </a:xfrm>
          <a:prstGeom prst="rect">
            <a:avLst/>
          </a:prstGeom>
          <a:noFill/>
        </p:spPr>
        <p:txBody>
          <a:bodyPr wrap="square" rtlCol="0">
            <a:spAutoFit/>
          </a:bodyPr>
          <a:lstStyle/>
          <a:p>
            <a:pPr algn="ctr"/>
            <a:r>
              <a:rPr lang="en-IN" sz="2400" dirty="0">
                <a:solidFill>
                  <a:schemeClr val="bg2">
                    <a:lumMod val="25000"/>
                  </a:schemeClr>
                </a:solidFill>
              </a:rPr>
              <a:t>Associate Professor</a:t>
            </a:r>
          </a:p>
        </p:txBody>
      </p:sp>
      <p:cxnSp>
        <p:nvCxnSpPr>
          <p:cNvPr id="12" name="Straight Connector 11">
            <a:extLst>
              <a:ext uri="{FF2B5EF4-FFF2-40B4-BE49-F238E27FC236}">
                <a16:creationId xmlns:a16="http://schemas.microsoft.com/office/drawing/2014/main" id="{392C86BC-E539-4EC2-9687-C9BAFAAFC1D8}"/>
              </a:ext>
            </a:extLst>
          </p:cNvPr>
          <p:cNvCxnSpPr>
            <a:cxnSpLocks/>
          </p:cNvCxnSpPr>
          <p:nvPr userDrawn="1"/>
        </p:nvCxnSpPr>
        <p:spPr>
          <a:xfrm flipH="1">
            <a:off x="5525729" y="4805586"/>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12CEEC-655E-468A-942D-1D746D27486B}"/>
              </a:ext>
            </a:extLst>
          </p:cNvPr>
          <p:cNvCxnSpPr>
            <a:cxnSpLocks/>
          </p:cNvCxnSpPr>
          <p:nvPr userDrawn="1"/>
        </p:nvCxnSpPr>
        <p:spPr>
          <a:xfrm flipH="1">
            <a:off x="5525729" y="4360591"/>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389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Learning Outcome">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1"/>
            <a:ext cx="9144000" cy="2113936"/>
          </a:xfrm>
          <a:prstGeom prst="rect">
            <a:avLst/>
          </a:prstGeom>
          <a:gradFill flip="none" rotWithShape="1">
            <a:gsLst>
              <a:gs pos="78000">
                <a:schemeClr val="accent3">
                  <a:lumMod val="0"/>
                  <a:lumOff val="100000"/>
                </a:schemeClr>
              </a:gs>
              <a:gs pos="45000">
                <a:srgbClr val="00A2B8"/>
              </a:gs>
            </a:gsLst>
            <a:lin ang="0" scaled="0"/>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hasCustomPrompt="1"/>
          </p:nvPr>
        </p:nvSpPr>
        <p:spPr>
          <a:xfrm>
            <a:off x="393290" y="0"/>
            <a:ext cx="5191433" cy="2113935"/>
          </a:xfrm>
        </p:spPr>
        <p:txBody>
          <a:bodyPr>
            <a:normAutofit/>
          </a:bodyPr>
          <a:lstStyle>
            <a:lvl1pPr>
              <a:defRPr sz="5400">
                <a:solidFill>
                  <a:schemeClr val="bg1"/>
                </a:solidFill>
                <a:effectLst>
                  <a:outerShdw blurRad="38100" dist="38100" dir="2700000" algn="tl">
                    <a:srgbClr val="000000">
                      <a:alpha val="43137"/>
                    </a:srgbClr>
                  </a:outerShdw>
                </a:effectLst>
              </a:defRPr>
            </a:lvl1pPr>
          </a:lstStyle>
          <a:p>
            <a:r>
              <a:rPr lang="en-US" dirty="0"/>
              <a:t>Lecture</a:t>
            </a:r>
            <a:br>
              <a:rPr lang="en-US" dirty="0"/>
            </a:br>
            <a:r>
              <a:rPr lang="en-US" dirty="0"/>
              <a:t>Outcomes</a:t>
            </a:r>
          </a:p>
        </p:txBody>
      </p:sp>
      <p:sp>
        <p:nvSpPr>
          <p:cNvPr id="3" name="Content Placeholder 2"/>
          <p:cNvSpPr>
            <a:spLocks noGrp="1"/>
          </p:cNvSpPr>
          <p:nvPr>
            <p:ph idx="1" hasCustomPrompt="1"/>
          </p:nvPr>
        </p:nvSpPr>
        <p:spPr>
          <a:xfrm>
            <a:off x="963560" y="2883188"/>
            <a:ext cx="7934633" cy="3500283"/>
          </a:xfrm>
        </p:spPr>
        <p:txBody>
          <a:bodyPr>
            <a:normAutofit/>
          </a:bodyPr>
          <a:lstStyle>
            <a:lvl1pPr>
              <a:lnSpc>
                <a:spcPct val="150000"/>
              </a:lnSpc>
              <a:buClr>
                <a:srgbClr val="00A2B8"/>
              </a:buClr>
              <a:defRPr/>
            </a:lvl1pPr>
            <a:lvl2pPr>
              <a:buClr>
                <a:srgbClr val="00A2B8"/>
              </a:buClr>
              <a:defRPr sz="2800"/>
            </a:lvl2pPr>
            <a:lvl3pPr>
              <a:buClr>
                <a:srgbClr val="00A2B8"/>
              </a:buClr>
              <a:defRPr/>
            </a:lvl3pPr>
            <a:lvl4pPr>
              <a:buClr>
                <a:srgbClr val="00A2B8"/>
              </a:buClr>
              <a:defRPr/>
            </a:lvl4pPr>
            <a:lvl5pPr>
              <a:buClr>
                <a:srgbClr val="00A2B8"/>
              </a:buClr>
              <a:defRPr/>
            </a:lvl5pPr>
          </a:lstStyle>
          <a:p>
            <a:pPr lvl="0"/>
            <a:r>
              <a:rPr lang="en-US" dirty="0"/>
              <a:t>outcome 1</a:t>
            </a:r>
          </a:p>
          <a:p>
            <a:pPr lvl="0"/>
            <a:r>
              <a:rPr lang="en-US" dirty="0"/>
              <a:t>outcome 2</a:t>
            </a:r>
          </a:p>
          <a:p>
            <a:pPr lvl="0"/>
            <a:r>
              <a:rPr lang="en-US" dirty="0"/>
              <a:t>outcome 3</a:t>
            </a:r>
          </a:p>
        </p:txBody>
      </p:sp>
      <p:pic>
        <p:nvPicPr>
          <p:cNvPr id="11" name="Graphic 10" descr="Target">
            <a:extLst>
              <a:ext uri="{FF2B5EF4-FFF2-40B4-BE49-F238E27FC236}">
                <a16:creationId xmlns:a16="http://schemas.microsoft.com/office/drawing/2014/main" id="{8709446A-BD58-42FE-8058-90C6B724402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26708" y="98321"/>
            <a:ext cx="1917292" cy="1917292"/>
          </a:xfrm>
          <a:prstGeom prst="rect">
            <a:avLst/>
          </a:prstGeom>
          <a:effectLst>
            <a:outerShdw blurRad="63500" sx="102000" sy="102000" algn="ctr" rotWithShape="0">
              <a:prstClr val="black">
                <a:alpha val="40000"/>
              </a:prstClr>
            </a:outerShdw>
          </a:effectLst>
        </p:spPr>
      </p:pic>
      <p:sp>
        <p:nvSpPr>
          <p:cNvPr id="12" name="TextBox 11">
            <a:extLst>
              <a:ext uri="{FF2B5EF4-FFF2-40B4-BE49-F238E27FC236}">
                <a16:creationId xmlns:a16="http://schemas.microsoft.com/office/drawing/2014/main" id="{F8377C6D-0C30-48F0-89AC-23D3E98F9A33}"/>
              </a:ext>
            </a:extLst>
          </p:cNvPr>
          <p:cNvSpPr txBox="1"/>
          <p:nvPr userDrawn="1"/>
        </p:nvSpPr>
        <p:spPr>
          <a:xfrm>
            <a:off x="393290" y="2298413"/>
            <a:ext cx="6845144" cy="584775"/>
          </a:xfrm>
          <a:prstGeom prst="rect">
            <a:avLst/>
          </a:prstGeom>
          <a:noFill/>
        </p:spPr>
        <p:txBody>
          <a:bodyPr wrap="none" rtlCol="0">
            <a:spAutoFit/>
          </a:bodyPr>
          <a:lstStyle/>
          <a:p>
            <a:r>
              <a:rPr lang="en-IN" sz="3200" dirty="0"/>
              <a:t>After this lecture, you will be able to</a:t>
            </a:r>
          </a:p>
        </p:txBody>
      </p:sp>
    </p:spTree>
    <p:extLst>
      <p:ext uri="{BB962C8B-B14F-4D97-AF65-F5344CB8AC3E}">
        <p14:creationId xmlns:p14="http://schemas.microsoft.com/office/powerpoint/2010/main" val="646160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Title and Content">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8"/>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64091E1C-13AA-4430-B0AB-E932AEDB367A}"/>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225208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whit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7"/>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9D40D22A-9F0E-4024-A4A6-FCCE6CB60E86}"/>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402652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376987-CD5A-4B0D-82F1-8DDC56102557}" type="datetimeFigureOut">
              <a:rPr lang="en-IN" smtClean="0"/>
              <a:t>28-12-2020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744310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376987-CD5A-4B0D-82F1-8DDC56102557}" type="datetimeFigureOut">
              <a:rPr lang="en-IN" smtClean="0"/>
              <a:t>28-12-2020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989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376987-CD5A-4B0D-82F1-8DDC56102557}" type="datetimeFigureOut">
              <a:rPr lang="en-IN" smtClean="0"/>
              <a:t>28-12-2020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1820985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376987-CD5A-4B0D-82F1-8DDC56102557}" type="datetimeFigureOut">
              <a:rPr lang="en-IN" smtClean="0"/>
              <a:t>28-12-2020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859219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376987-CD5A-4B0D-82F1-8DDC56102557}" type="datetimeFigureOut">
              <a:rPr lang="en-IN" smtClean="0"/>
              <a:t>28-12-2020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6374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chemeClr val="accent3">
                <a:lumMod val="0"/>
                <a:lumOff val="100000"/>
              </a:schemeClr>
            </a:gs>
            <a:gs pos="100000">
              <a:schemeClr val="bg1">
                <a:lumMod val="8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41FF5F-8082-499F-9B42-B9953F7F83AE}"/>
              </a:ext>
            </a:extLst>
          </p:cNvPr>
          <p:cNvSpPr txBox="1"/>
          <p:nvPr userDrawn="1"/>
        </p:nvSpPr>
        <p:spPr>
          <a:xfrm>
            <a:off x="1620711" y="2869012"/>
            <a:ext cx="5902578" cy="923330"/>
          </a:xfrm>
          <a:prstGeom prst="rect">
            <a:avLst/>
          </a:prstGeom>
          <a:noFill/>
        </p:spPr>
        <p:txBody>
          <a:bodyPr wrap="none" rtlCol="0">
            <a:spAutoFit/>
          </a:bodyPr>
          <a:lstStyle/>
          <a:p>
            <a:r>
              <a:rPr lang="en-IN" sz="5400" dirty="0">
                <a:solidFill>
                  <a:srgbClr val="00A2B8"/>
                </a:solidFill>
                <a:effectLst/>
              </a:rPr>
              <a:t>That’s all for now…</a:t>
            </a:r>
          </a:p>
        </p:txBody>
      </p:sp>
      <p:cxnSp>
        <p:nvCxnSpPr>
          <p:cNvPr id="7" name="Straight Connector 6">
            <a:extLst>
              <a:ext uri="{FF2B5EF4-FFF2-40B4-BE49-F238E27FC236}">
                <a16:creationId xmlns:a16="http://schemas.microsoft.com/office/drawing/2014/main" id="{8376A0C7-0E66-445E-9D28-DB789C63D202}"/>
              </a:ext>
            </a:extLst>
          </p:cNvPr>
          <p:cNvCxnSpPr>
            <a:cxnSpLocks/>
          </p:cNvCxnSpPr>
          <p:nvPr userDrawn="1"/>
        </p:nvCxnSpPr>
        <p:spPr>
          <a:xfrm>
            <a:off x="1720645" y="3654690"/>
            <a:ext cx="5624052" cy="0"/>
          </a:xfrm>
          <a:prstGeom prst="line">
            <a:avLst/>
          </a:prstGeom>
          <a:ln w="31750">
            <a:solidFill>
              <a:srgbClr val="CA628C"/>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018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28-12-2020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3918816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28-12-2020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028595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28-12-2020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76747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28-12-2020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704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376987-CD5A-4B0D-82F1-8DDC56102557}" type="datetimeFigureOut">
              <a:rPr lang="en-IN" smtClean="0"/>
              <a:t>28-12-2020</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5910F8-8D71-4F22-9C7F-1F77DF6804AD}" type="slidenum">
              <a:rPr lang="en-IN" smtClean="0"/>
              <a:t>‹#›</a:t>
            </a:fld>
            <a:endParaRPr lang="en-IN"/>
          </a:p>
        </p:txBody>
      </p:sp>
    </p:spTree>
    <p:extLst>
      <p:ext uri="{BB962C8B-B14F-4D97-AF65-F5344CB8AC3E}">
        <p14:creationId xmlns:p14="http://schemas.microsoft.com/office/powerpoint/2010/main" val="9462137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4" r:id="rId3"/>
    <p:sldLayoutId id="2147483672" r:id="rId4"/>
    <p:sldLayoutId id="2147483663" r:id="rId5"/>
    <p:sldLayoutId id="2147483664" r:id="rId6"/>
    <p:sldLayoutId id="2147483665" r:id="rId7"/>
    <p:sldLayoutId id="2147483666" r:id="rId8"/>
    <p:sldLayoutId id="2147483667" r:id="rId9"/>
    <p:sldLayoutId id="2147483673" r:id="rId10"/>
    <p:sldLayoutId id="2147483668" r:id="rId11"/>
    <p:sldLayoutId id="2147483669" r:id="rId12"/>
    <p:sldLayoutId id="2147483670" r:id="rId13"/>
    <p:sldLayoutId id="2147483671" r:id="rId14"/>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3B31A-26EC-4882-9FB2-E3790927BE30}"/>
              </a:ext>
            </a:extLst>
          </p:cNvPr>
          <p:cNvSpPr>
            <a:spLocks noGrp="1"/>
          </p:cNvSpPr>
          <p:nvPr>
            <p:ph type="ctrTitle"/>
          </p:nvPr>
        </p:nvSpPr>
        <p:spPr/>
        <p:txBody>
          <a:bodyPr>
            <a:normAutofit fontScale="90000"/>
          </a:bodyPr>
          <a:lstStyle/>
          <a:p>
            <a:r>
              <a:rPr lang="en-IN" dirty="0"/>
              <a:t>EMTH403</a:t>
            </a:r>
          </a:p>
        </p:txBody>
      </p:sp>
      <p:sp>
        <p:nvSpPr>
          <p:cNvPr id="3" name="Subtitle 2">
            <a:extLst>
              <a:ext uri="{FF2B5EF4-FFF2-40B4-BE49-F238E27FC236}">
                <a16:creationId xmlns:a16="http://schemas.microsoft.com/office/drawing/2014/main" id="{5F2FDE88-E809-4B0D-A49D-23F92304EDFA}"/>
              </a:ext>
            </a:extLst>
          </p:cNvPr>
          <p:cNvSpPr>
            <a:spLocks noGrp="1"/>
          </p:cNvSpPr>
          <p:nvPr>
            <p:ph type="subTitle" idx="1"/>
          </p:nvPr>
        </p:nvSpPr>
        <p:spPr/>
        <p:txBody>
          <a:bodyPr>
            <a:normAutofit lnSpcReduction="10000"/>
          </a:bodyPr>
          <a:lstStyle/>
          <a:p>
            <a:r>
              <a:rPr lang="en-US" dirty="0"/>
              <a:t>Mathematical Foundation for Computer Science </a:t>
            </a:r>
            <a:endParaRPr lang="en-IN" dirty="0"/>
          </a:p>
        </p:txBody>
      </p:sp>
    </p:spTree>
    <p:extLst>
      <p:ext uri="{BB962C8B-B14F-4D97-AF65-F5344CB8AC3E}">
        <p14:creationId xmlns:p14="http://schemas.microsoft.com/office/powerpoint/2010/main" val="3848506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825CB-91D8-4BF1-84BC-BE57F14646E6}"/>
              </a:ext>
            </a:extLst>
          </p:cNvPr>
          <p:cNvSpPr>
            <a:spLocks noGrp="1"/>
          </p:cNvSpPr>
          <p:nvPr>
            <p:ph type="title"/>
          </p:nvPr>
        </p:nvSpPr>
        <p:spPr/>
        <p:txBody>
          <a:bodyPr/>
          <a:lstStyle/>
          <a:p>
            <a:r>
              <a:rPr lang="en-IN" dirty="0"/>
              <a:t>Lecture Outcomes</a:t>
            </a:r>
          </a:p>
        </p:txBody>
      </p:sp>
      <p:sp>
        <p:nvSpPr>
          <p:cNvPr id="3" name="Content Placeholder 2">
            <a:extLst>
              <a:ext uri="{FF2B5EF4-FFF2-40B4-BE49-F238E27FC236}">
                <a16:creationId xmlns:a16="http://schemas.microsoft.com/office/drawing/2014/main" id="{C2262320-2170-46A9-8662-1BF0938F293E}"/>
              </a:ext>
            </a:extLst>
          </p:cNvPr>
          <p:cNvSpPr>
            <a:spLocks noGrp="1"/>
          </p:cNvSpPr>
          <p:nvPr>
            <p:ph idx="1"/>
          </p:nvPr>
        </p:nvSpPr>
        <p:spPr/>
        <p:txBody>
          <a:bodyPr>
            <a:normAutofit/>
          </a:bodyPr>
          <a:lstStyle/>
          <a:p>
            <a:r>
              <a:rPr lang="en-US" dirty="0"/>
              <a:t>understand what are the basics of counting.</a:t>
            </a:r>
          </a:p>
          <a:p>
            <a:r>
              <a:rPr lang="en-US" dirty="0"/>
              <a:t> understand how to use product rule.</a:t>
            </a:r>
          </a:p>
        </p:txBody>
      </p:sp>
    </p:spTree>
    <p:extLst>
      <p:ext uri="{BB962C8B-B14F-4D97-AF65-F5344CB8AC3E}">
        <p14:creationId xmlns:p14="http://schemas.microsoft.com/office/powerpoint/2010/main" val="1998472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fontScale="92500" lnSpcReduction="20000"/>
          </a:bodyPr>
          <a:lstStyle/>
          <a:p>
            <a:pPr marL="0" indent="0">
              <a:buNone/>
            </a:pPr>
            <a:r>
              <a:rPr lang="en-US" dirty="0"/>
              <a:t>We must count objects </a:t>
            </a:r>
            <a:r>
              <a:rPr lang="en-US" b="1" dirty="0"/>
              <a:t>to solve many different types of problems. </a:t>
            </a:r>
          </a:p>
          <a:p>
            <a:pPr marL="0" indent="0">
              <a:buNone/>
            </a:pPr>
            <a:endParaRPr lang="en-US" dirty="0"/>
          </a:p>
          <a:p>
            <a:pPr marL="0" indent="0">
              <a:buNone/>
            </a:pPr>
            <a:r>
              <a:rPr lang="en-US" dirty="0"/>
              <a:t>For instance, counting is used to determine the </a:t>
            </a:r>
            <a:r>
              <a:rPr lang="en-US" dirty="0">
                <a:solidFill>
                  <a:srgbClr val="FF0000"/>
                </a:solidFill>
              </a:rPr>
              <a:t>complexity of algorithms</a:t>
            </a:r>
            <a:r>
              <a:rPr lang="en-US" dirty="0"/>
              <a:t>. </a:t>
            </a:r>
          </a:p>
          <a:p>
            <a:pPr marL="0" indent="0">
              <a:buNone/>
            </a:pPr>
            <a:endParaRPr lang="en-US" dirty="0"/>
          </a:p>
          <a:p>
            <a:pPr marL="0" indent="0">
              <a:buNone/>
            </a:pPr>
            <a:r>
              <a:rPr lang="en-US" dirty="0"/>
              <a:t>to determine whether there are enough </a:t>
            </a:r>
            <a:r>
              <a:rPr lang="en-US" dirty="0">
                <a:solidFill>
                  <a:srgbClr val="FF0000"/>
                </a:solidFill>
              </a:rPr>
              <a:t>telephone numbers or Internet protocol addresses </a:t>
            </a:r>
            <a:r>
              <a:rPr lang="en-US" dirty="0"/>
              <a:t>to meet demand. </a:t>
            </a:r>
          </a:p>
          <a:p>
            <a:pPr marL="0" indent="0">
              <a:buNone/>
            </a:pPr>
            <a:endParaRPr lang="en-IN" dirty="0"/>
          </a:p>
        </p:txBody>
      </p:sp>
    </p:spTree>
    <p:extLst>
      <p:ext uri="{BB962C8B-B14F-4D97-AF65-F5344CB8AC3E}">
        <p14:creationId xmlns:p14="http://schemas.microsoft.com/office/powerpoint/2010/main" val="2422052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a:bodyPr>
          <a:lstStyle/>
          <a:p>
            <a:pPr marL="0" indent="0">
              <a:buNone/>
            </a:pPr>
            <a:r>
              <a:rPr lang="en-US" dirty="0"/>
              <a:t>In mathematical biology, especially in </a:t>
            </a:r>
            <a:r>
              <a:rPr lang="en-US" dirty="0">
                <a:solidFill>
                  <a:srgbClr val="FF0000"/>
                </a:solidFill>
              </a:rPr>
              <a:t>sequencing DNA.</a:t>
            </a:r>
          </a:p>
          <a:p>
            <a:pPr marL="0" indent="0">
              <a:buNone/>
            </a:pPr>
            <a:endParaRPr lang="en-US" dirty="0"/>
          </a:p>
          <a:p>
            <a:pPr marL="0" indent="0">
              <a:buNone/>
            </a:pPr>
            <a:r>
              <a:rPr lang="en-US" dirty="0"/>
              <a:t>Counting techniques are used extensively when </a:t>
            </a:r>
            <a:r>
              <a:rPr lang="en-US" dirty="0">
                <a:solidFill>
                  <a:srgbClr val="FF0000"/>
                </a:solidFill>
              </a:rPr>
              <a:t>probabilities of events </a:t>
            </a:r>
            <a:r>
              <a:rPr lang="en-US" dirty="0"/>
              <a:t>are computed.</a:t>
            </a:r>
          </a:p>
          <a:p>
            <a:pPr marL="0" indent="0">
              <a:buNone/>
            </a:pPr>
            <a:endParaRPr lang="en-IN" dirty="0"/>
          </a:p>
        </p:txBody>
      </p:sp>
    </p:spTree>
    <p:extLst>
      <p:ext uri="{BB962C8B-B14F-4D97-AF65-F5344CB8AC3E}">
        <p14:creationId xmlns:p14="http://schemas.microsoft.com/office/powerpoint/2010/main" val="4173959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a:bodyPr>
          <a:lstStyle/>
          <a:p>
            <a:pPr marL="0" indent="0">
              <a:buNone/>
            </a:pPr>
            <a:r>
              <a:rPr lang="en-US" dirty="0"/>
              <a:t>Suppose that a </a:t>
            </a:r>
            <a:r>
              <a:rPr lang="en-US" dirty="0">
                <a:solidFill>
                  <a:srgbClr val="FF0000"/>
                </a:solidFill>
              </a:rPr>
              <a:t>password</a:t>
            </a:r>
            <a:r>
              <a:rPr lang="en-US" dirty="0"/>
              <a:t> on a computer system consists of six, seven, or eight characters. </a:t>
            </a:r>
          </a:p>
          <a:p>
            <a:pPr marL="0" indent="0">
              <a:buNone/>
            </a:pPr>
            <a:endParaRPr lang="en-US" dirty="0"/>
          </a:p>
          <a:p>
            <a:pPr marL="0" indent="0">
              <a:buNone/>
            </a:pPr>
            <a:r>
              <a:rPr lang="en-US" dirty="0"/>
              <a:t>Each of these characters must be a </a:t>
            </a:r>
            <a:r>
              <a:rPr lang="en-US" dirty="0">
                <a:solidFill>
                  <a:srgbClr val="FF0000"/>
                </a:solidFill>
              </a:rPr>
              <a:t>digit or a letter </a:t>
            </a:r>
            <a:r>
              <a:rPr lang="en-US" dirty="0"/>
              <a:t>of the alphabet. </a:t>
            </a:r>
          </a:p>
          <a:p>
            <a:pPr marL="0" indent="0">
              <a:buNone/>
            </a:pPr>
            <a:endParaRPr lang="en-IN" dirty="0"/>
          </a:p>
        </p:txBody>
      </p:sp>
    </p:spTree>
    <p:extLst>
      <p:ext uri="{BB962C8B-B14F-4D97-AF65-F5344CB8AC3E}">
        <p14:creationId xmlns:p14="http://schemas.microsoft.com/office/powerpoint/2010/main" val="2555229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a:bodyPr>
          <a:lstStyle/>
          <a:p>
            <a:pPr marL="0" indent="0">
              <a:buNone/>
            </a:pPr>
            <a:r>
              <a:rPr lang="en-US" dirty="0"/>
              <a:t>Each password must contain at least one digit. </a:t>
            </a:r>
          </a:p>
          <a:p>
            <a:pPr marL="0" indent="0">
              <a:buNone/>
            </a:pPr>
            <a:r>
              <a:rPr lang="en-US" dirty="0">
                <a:solidFill>
                  <a:srgbClr val="FF0000"/>
                </a:solidFill>
              </a:rPr>
              <a:t>How many such passwords</a:t>
            </a:r>
            <a:r>
              <a:rPr lang="en-US" dirty="0"/>
              <a:t> are there?</a:t>
            </a:r>
          </a:p>
          <a:p>
            <a:pPr marL="0" indent="0">
              <a:buNone/>
            </a:pPr>
            <a:endParaRPr lang="en-US" dirty="0"/>
          </a:p>
          <a:p>
            <a:pPr marL="0" indent="0">
              <a:buNone/>
            </a:pPr>
            <a:endParaRPr lang="en-US" dirty="0"/>
          </a:p>
          <a:p>
            <a:pPr marL="0" indent="0">
              <a:buNone/>
            </a:pPr>
            <a:endParaRPr lang="en-US" dirty="0"/>
          </a:p>
          <a:p>
            <a:pPr marL="0" indent="0">
              <a:buNone/>
            </a:pPr>
            <a:r>
              <a:rPr lang="en-US" dirty="0"/>
              <a:t>Counting problems arise throughout </a:t>
            </a:r>
            <a:r>
              <a:rPr lang="en-US" dirty="0">
                <a:solidFill>
                  <a:srgbClr val="FF0000"/>
                </a:solidFill>
              </a:rPr>
              <a:t>mathematics and computer science.</a:t>
            </a:r>
          </a:p>
          <a:p>
            <a:pPr marL="0" indent="0">
              <a:buNone/>
            </a:pPr>
            <a:endParaRPr lang="en-IN" dirty="0"/>
          </a:p>
        </p:txBody>
      </p:sp>
    </p:spTree>
    <p:extLst>
      <p:ext uri="{BB962C8B-B14F-4D97-AF65-F5344CB8AC3E}">
        <p14:creationId xmlns:p14="http://schemas.microsoft.com/office/powerpoint/2010/main" val="1219443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The Product Rule </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a:bodyPr>
          <a:lstStyle/>
          <a:p>
            <a:pPr marL="0" indent="0">
              <a:buNone/>
            </a:pPr>
            <a:r>
              <a:rPr lang="en-US" dirty="0"/>
              <a:t>Suppose that a procedure can be broken down into a sequence of two tasks. </a:t>
            </a:r>
          </a:p>
          <a:p>
            <a:pPr marL="0" indent="0">
              <a:buNone/>
            </a:pPr>
            <a:endParaRPr lang="en-US" dirty="0"/>
          </a:p>
          <a:p>
            <a:pPr marL="0" indent="0">
              <a:buNone/>
            </a:pPr>
            <a:r>
              <a:rPr lang="en-US" dirty="0"/>
              <a:t>If there are n</a:t>
            </a:r>
            <a:r>
              <a:rPr lang="en-US" baseline="-25000" dirty="0"/>
              <a:t>1</a:t>
            </a:r>
            <a:r>
              <a:rPr lang="en-US" dirty="0"/>
              <a:t> ways to do the first task and for each of these ways of doing the first task, there are n</a:t>
            </a:r>
            <a:r>
              <a:rPr lang="en-US" baseline="-25000" dirty="0"/>
              <a:t>2</a:t>
            </a:r>
            <a:r>
              <a:rPr lang="en-US" dirty="0"/>
              <a:t> ways to do the second task, then there are n</a:t>
            </a:r>
            <a:r>
              <a:rPr lang="en-US" baseline="-25000" dirty="0"/>
              <a:t>1</a:t>
            </a:r>
            <a:r>
              <a:rPr lang="en-US" dirty="0"/>
              <a:t>*n</a:t>
            </a:r>
            <a:r>
              <a:rPr lang="en-US" baseline="-25000" dirty="0"/>
              <a:t>2</a:t>
            </a:r>
            <a:r>
              <a:rPr lang="en-US" dirty="0"/>
              <a:t> ways to do the procedure.</a:t>
            </a:r>
          </a:p>
          <a:p>
            <a:pPr marL="0" indent="0">
              <a:buNone/>
            </a:pPr>
            <a:endParaRPr lang="en-IN" dirty="0"/>
          </a:p>
        </p:txBody>
      </p:sp>
    </p:spTree>
    <p:extLst>
      <p:ext uri="{BB962C8B-B14F-4D97-AF65-F5344CB8AC3E}">
        <p14:creationId xmlns:p14="http://schemas.microsoft.com/office/powerpoint/2010/main" val="3501242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18D7-A6AF-4ADD-9950-DCEEA99A8EF3}"/>
              </a:ext>
            </a:extLst>
          </p:cNvPr>
          <p:cNvSpPr>
            <a:spLocks noGrp="1"/>
          </p:cNvSpPr>
          <p:nvPr>
            <p:ph type="title"/>
          </p:nvPr>
        </p:nvSpPr>
        <p:spPr/>
        <p:txBody>
          <a:bodyPr/>
          <a:lstStyle/>
          <a:p>
            <a:r>
              <a:rPr lang="en-IN" dirty="0"/>
              <a:t>The Product Rule </a:t>
            </a:r>
          </a:p>
        </p:txBody>
      </p:sp>
      <p:sp>
        <p:nvSpPr>
          <p:cNvPr id="6" name="Oval 5">
            <a:extLst>
              <a:ext uri="{FF2B5EF4-FFF2-40B4-BE49-F238E27FC236}">
                <a16:creationId xmlns:a16="http://schemas.microsoft.com/office/drawing/2014/main" id="{007C4468-F6D6-4DE3-A52B-945D5253A2B9}"/>
              </a:ext>
            </a:extLst>
          </p:cNvPr>
          <p:cNvSpPr/>
          <p:nvPr/>
        </p:nvSpPr>
        <p:spPr>
          <a:xfrm>
            <a:off x="1527786" y="2121497"/>
            <a:ext cx="1321905" cy="31507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D3887607-5EE0-413B-855A-71101CDC23C9}"/>
              </a:ext>
            </a:extLst>
          </p:cNvPr>
          <p:cNvSpPr/>
          <p:nvPr/>
        </p:nvSpPr>
        <p:spPr>
          <a:xfrm>
            <a:off x="3677951" y="2121497"/>
            <a:ext cx="1321905" cy="31507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AE7F545-146A-4664-B72C-5364B13A98AB}"/>
              </a:ext>
            </a:extLst>
          </p:cNvPr>
          <p:cNvSpPr txBox="1"/>
          <p:nvPr/>
        </p:nvSpPr>
        <p:spPr>
          <a:xfrm>
            <a:off x="2054560" y="2578697"/>
            <a:ext cx="447261" cy="2308324"/>
          </a:xfrm>
          <a:prstGeom prst="rect">
            <a:avLst/>
          </a:prstGeom>
          <a:noFill/>
        </p:spPr>
        <p:txBody>
          <a:bodyPr wrap="square" rtlCol="0">
            <a:spAutoFit/>
          </a:bodyPr>
          <a:lstStyle/>
          <a:p>
            <a:r>
              <a:rPr lang="en-IN" sz="2400" dirty="0"/>
              <a:t>1</a:t>
            </a:r>
          </a:p>
          <a:p>
            <a:r>
              <a:rPr lang="en-IN" sz="2400" dirty="0"/>
              <a:t>2</a:t>
            </a:r>
          </a:p>
          <a:p>
            <a:r>
              <a:rPr lang="en-IN" sz="2400" dirty="0"/>
              <a:t>3</a:t>
            </a:r>
          </a:p>
          <a:p>
            <a:r>
              <a:rPr lang="en-IN" sz="2400" dirty="0"/>
              <a:t>4</a:t>
            </a:r>
          </a:p>
          <a:p>
            <a:r>
              <a:rPr lang="en-IN" sz="2400" dirty="0"/>
              <a:t>5</a:t>
            </a:r>
          </a:p>
          <a:p>
            <a:r>
              <a:rPr lang="en-IN" sz="2400" dirty="0"/>
              <a:t>6</a:t>
            </a:r>
          </a:p>
        </p:txBody>
      </p:sp>
      <p:sp>
        <p:nvSpPr>
          <p:cNvPr id="9" name="TextBox 8">
            <a:extLst>
              <a:ext uri="{FF2B5EF4-FFF2-40B4-BE49-F238E27FC236}">
                <a16:creationId xmlns:a16="http://schemas.microsoft.com/office/drawing/2014/main" id="{E66ECCED-BD36-43DD-A4D5-6E35DC23A923}"/>
              </a:ext>
            </a:extLst>
          </p:cNvPr>
          <p:cNvSpPr txBox="1"/>
          <p:nvPr/>
        </p:nvSpPr>
        <p:spPr>
          <a:xfrm>
            <a:off x="4204722" y="2572073"/>
            <a:ext cx="447261" cy="1569660"/>
          </a:xfrm>
          <a:prstGeom prst="rect">
            <a:avLst/>
          </a:prstGeom>
          <a:noFill/>
        </p:spPr>
        <p:txBody>
          <a:bodyPr wrap="square" rtlCol="0">
            <a:spAutoFit/>
          </a:bodyPr>
          <a:lstStyle/>
          <a:p>
            <a:r>
              <a:rPr lang="en-IN" sz="2400" dirty="0"/>
              <a:t>a</a:t>
            </a:r>
          </a:p>
          <a:p>
            <a:r>
              <a:rPr lang="en-IN" sz="2400" dirty="0"/>
              <a:t>b</a:t>
            </a:r>
          </a:p>
          <a:p>
            <a:r>
              <a:rPr lang="en-IN" sz="2400" dirty="0"/>
              <a:t>c</a:t>
            </a:r>
          </a:p>
          <a:p>
            <a:r>
              <a:rPr lang="en-IN" sz="2400" dirty="0"/>
              <a:t>d</a:t>
            </a:r>
          </a:p>
        </p:txBody>
      </p:sp>
      <p:sp>
        <p:nvSpPr>
          <p:cNvPr id="10" name="TextBox 9">
            <a:extLst>
              <a:ext uri="{FF2B5EF4-FFF2-40B4-BE49-F238E27FC236}">
                <a16:creationId xmlns:a16="http://schemas.microsoft.com/office/drawing/2014/main" id="{05A8C3FD-E92E-42E1-B2C4-2E3945A4E61E}"/>
              </a:ext>
            </a:extLst>
          </p:cNvPr>
          <p:cNvSpPr txBox="1"/>
          <p:nvPr/>
        </p:nvSpPr>
        <p:spPr>
          <a:xfrm>
            <a:off x="1798211" y="1284814"/>
            <a:ext cx="781053" cy="830997"/>
          </a:xfrm>
          <a:prstGeom prst="rect">
            <a:avLst/>
          </a:prstGeom>
          <a:noFill/>
        </p:spPr>
        <p:txBody>
          <a:bodyPr wrap="square" rtlCol="0">
            <a:spAutoFit/>
          </a:bodyPr>
          <a:lstStyle/>
          <a:p>
            <a:pPr algn="ctr"/>
            <a:r>
              <a:rPr lang="en-IN" sz="2400" dirty="0"/>
              <a:t>Set</a:t>
            </a:r>
          </a:p>
          <a:p>
            <a:pPr algn="ctr"/>
            <a:r>
              <a:rPr lang="en-IN" sz="2400" dirty="0"/>
              <a:t>A</a:t>
            </a:r>
          </a:p>
        </p:txBody>
      </p:sp>
      <p:sp>
        <p:nvSpPr>
          <p:cNvPr id="11" name="TextBox 10">
            <a:extLst>
              <a:ext uri="{FF2B5EF4-FFF2-40B4-BE49-F238E27FC236}">
                <a16:creationId xmlns:a16="http://schemas.microsoft.com/office/drawing/2014/main" id="{09734404-1611-478C-94DB-025EE41A43D2}"/>
              </a:ext>
            </a:extLst>
          </p:cNvPr>
          <p:cNvSpPr txBox="1"/>
          <p:nvPr/>
        </p:nvSpPr>
        <p:spPr>
          <a:xfrm>
            <a:off x="3919389" y="1284814"/>
            <a:ext cx="839027" cy="830997"/>
          </a:xfrm>
          <a:prstGeom prst="rect">
            <a:avLst/>
          </a:prstGeom>
          <a:noFill/>
        </p:spPr>
        <p:txBody>
          <a:bodyPr wrap="square" rtlCol="0">
            <a:spAutoFit/>
          </a:bodyPr>
          <a:lstStyle/>
          <a:p>
            <a:pPr algn="ctr"/>
            <a:r>
              <a:rPr lang="en-IN" sz="2400" dirty="0"/>
              <a:t>Set</a:t>
            </a:r>
          </a:p>
          <a:p>
            <a:pPr algn="ctr"/>
            <a:r>
              <a:rPr lang="en-IN" sz="2400" dirty="0"/>
              <a:t>B</a:t>
            </a:r>
          </a:p>
        </p:txBody>
      </p:sp>
      <p:cxnSp>
        <p:nvCxnSpPr>
          <p:cNvPr id="13" name="Straight Arrow Connector 12">
            <a:extLst>
              <a:ext uri="{FF2B5EF4-FFF2-40B4-BE49-F238E27FC236}">
                <a16:creationId xmlns:a16="http://schemas.microsoft.com/office/drawing/2014/main" id="{5E2C3F46-FE40-430F-8CA2-E0EFD77391C3}"/>
              </a:ext>
            </a:extLst>
          </p:cNvPr>
          <p:cNvCxnSpPr>
            <a:cxnSpLocks/>
            <a:stCxn id="10" idx="3"/>
            <a:endCxn id="11" idx="1"/>
          </p:cNvCxnSpPr>
          <p:nvPr/>
        </p:nvCxnSpPr>
        <p:spPr>
          <a:xfrm>
            <a:off x="2579264" y="1700313"/>
            <a:ext cx="1340125"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15424359-2939-4500-BE8D-6394AC45853E}"/>
              </a:ext>
            </a:extLst>
          </p:cNvPr>
          <p:cNvCxnSpPr/>
          <p:nvPr/>
        </p:nvCxnSpPr>
        <p:spPr>
          <a:xfrm>
            <a:off x="2412368" y="2837677"/>
            <a:ext cx="1692965" cy="23193"/>
          </a:xfrm>
          <a:prstGeom prst="straightConnector1">
            <a:avLst/>
          </a:prstGeom>
          <a:ln w="57150">
            <a:solidFill>
              <a:srgbClr val="00B6CC"/>
            </a:solidFill>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60A5DB8E-1D89-4DC4-9B6F-8BA9CE8E2D71}"/>
              </a:ext>
            </a:extLst>
          </p:cNvPr>
          <p:cNvCxnSpPr>
            <a:cxnSpLocks/>
          </p:cNvCxnSpPr>
          <p:nvPr/>
        </p:nvCxnSpPr>
        <p:spPr>
          <a:xfrm>
            <a:off x="2427274" y="2860870"/>
            <a:ext cx="1777448" cy="343456"/>
          </a:xfrm>
          <a:prstGeom prst="straightConnector1">
            <a:avLst/>
          </a:prstGeom>
          <a:ln w="57150">
            <a:solidFill>
              <a:srgbClr val="00B6CC"/>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8457E419-55AB-4936-9E72-3A78EC96FC7B}"/>
              </a:ext>
            </a:extLst>
          </p:cNvPr>
          <p:cNvCxnSpPr>
            <a:cxnSpLocks/>
          </p:cNvCxnSpPr>
          <p:nvPr/>
        </p:nvCxnSpPr>
        <p:spPr>
          <a:xfrm>
            <a:off x="2412368" y="2884063"/>
            <a:ext cx="1916595" cy="680302"/>
          </a:xfrm>
          <a:prstGeom prst="straightConnector1">
            <a:avLst/>
          </a:prstGeom>
          <a:ln w="57150">
            <a:solidFill>
              <a:srgbClr val="00B6CC"/>
            </a:solidFill>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85218496-869F-4DF2-A6D9-E8CE5BB08D48}"/>
              </a:ext>
            </a:extLst>
          </p:cNvPr>
          <p:cNvCxnSpPr>
            <a:cxnSpLocks/>
          </p:cNvCxnSpPr>
          <p:nvPr/>
        </p:nvCxnSpPr>
        <p:spPr>
          <a:xfrm>
            <a:off x="2427274" y="2919967"/>
            <a:ext cx="1792354" cy="1023732"/>
          </a:xfrm>
          <a:prstGeom prst="straightConnector1">
            <a:avLst/>
          </a:prstGeom>
          <a:ln w="57150">
            <a:solidFill>
              <a:srgbClr val="00B6CC"/>
            </a:solidFill>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6330D7CC-613A-4268-94CF-96A0C484BAE6}"/>
              </a:ext>
            </a:extLst>
          </p:cNvPr>
          <p:cNvSpPr txBox="1"/>
          <p:nvPr/>
        </p:nvSpPr>
        <p:spPr>
          <a:xfrm>
            <a:off x="428191" y="2672925"/>
            <a:ext cx="1177786" cy="461665"/>
          </a:xfrm>
          <a:prstGeom prst="rect">
            <a:avLst/>
          </a:prstGeom>
          <a:noFill/>
        </p:spPr>
        <p:txBody>
          <a:bodyPr wrap="square" rtlCol="0">
            <a:spAutoFit/>
          </a:bodyPr>
          <a:lstStyle/>
          <a:p>
            <a:r>
              <a:rPr lang="en-IN" sz="2400" dirty="0"/>
              <a:t>4 Ways</a:t>
            </a:r>
          </a:p>
        </p:txBody>
      </p:sp>
      <p:sp>
        <p:nvSpPr>
          <p:cNvPr id="22" name="TextBox 21">
            <a:extLst>
              <a:ext uri="{FF2B5EF4-FFF2-40B4-BE49-F238E27FC236}">
                <a16:creationId xmlns:a16="http://schemas.microsoft.com/office/drawing/2014/main" id="{7CDFB7A4-2E68-481E-8B5B-AA1EEF8AABD3}"/>
              </a:ext>
            </a:extLst>
          </p:cNvPr>
          <p:cNvSpPr txBox="1"/>
          <p:nvPr/>
        </p:nvSpPr>
        <p:spPr>
          <a:xfrm>
            <a:off x="5488656" y="1884978"/>
            <a:ext cx="2342322" cy="461665"/>
          </a:xfrm>
          <a:prstGeom prst="rect">
            <a:avLst/>
          </a:prstGeom>
          <a:noFill/>
        </p:spPr>
        <p:txBody>
          <a:bodyPr wrap="square" rtlCol="0">
            <a:spAutoFit/>
          </a:bodyPr>
          <a:lstStyle/>
          <a:p>
            <a:r>
              <a:rPr lang="en-IN" sz="2400" dirty="0"/>
              <a:t>{1a, 1b, 1c, 1d,</a:t>
            </a:r>
          </a:p>
        </p:txBody>
      </p:sp>
      <p:sp>
        <p:nvSpPr>
          <p:cNvPr id="23" name="TextBox 22">
            <a:extLst>
              <a:ext uri="{FF2B5EF4-FFF2-40B4-BE49-F238E27FC236}">
                <a16:creationId xmlns:a16="http://schemas.microsoft.com/office/drawing/2014/main" id="{82D9FD52-5489-4789-8FEE-173899C87528}"/>
              </a:ext>
            </a:extLst>
          </p:cNvPr>
          <p:cNvSpPr txBox="1"/>
          <p:nvPr/>
        </p:nvSpPr>
        <p:spPr>
          <a:xfrm>
            <a:off x="437950" y="2998633"/>
            <a:ext cx="1177786" cy="461665"/>
          </a:xfrm>
          <a:prstGeom prst="rect">
            <a:avLst/>
          </a:prstGeom>
          <a:noFill/>
        </p:spPr>
        <p:txBody>
          <a:bodyPr wrap="square" rtlCol="0">
            <a:spAutoFit/>
          </a:bodyPr>
          <a:lstStyle/>
          <a:p>
            <a:r>
              <a:rPr lang="en-IN" sz="2400" dirty="0"/>
              <a:t>4 Ways</a:t>
            </a:r>
          </a:p>
        </p:txBody>
      </p:sp>
      <p:cxnSp>
        <p:nvCxnSpPr>
          <p:cNvPr id="24" name="Straight Arrow Connector 23">
            <a:extLst>
              <a:ext uri="{FF2B5EF4-FFF2-40B4-BE49-F238E27FC236}">
                <a16:creationId xmlns:a16="http://schemas.microsoft.com/office/drawing/2014/main" id="{DFB4DF4D-DC8D-487E-9AF6-4C27D8218A97}"/>
              </a:ext>
            </a:extLst>
          </p:cNvPr>
          <p:cNvCxnSpPr>
            <a:cxnSpLocks/>
          </p:cNvCxnSpPr>
          <p:nvPr/>
        </p:nvCxnSpPr>
        <p:spPr>
          <a:xfrm flipV="1">
            <a:off x="2427274" y="2860871"/>
            <a:ext cx="1792354" cy="311989"/>
          </a:xfrm>
          <a:prstGeom prst="straightConnector1">
            <a:avLst/>
          </a:prstGeom>
          <a:ln w="57150">
            <a:solidFill>
              <a:srgbClr val="FFFF00"/>
            </a:solidFill>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4ACF9832-FC13-46DE-A16D-D46C64D92C1E}"/>
              </a:ext>
            </a:extLst>
          </p:cNvPr>
          <p:cNvCxnSpPr>
            <a:cxnSpLocks/>
          </p:cNvCxnSpPr>
          <p:nvPr/>
        </p:nvCxnSpPr>
        <p:spPr>
          <a:xfrm>
            <a:off x="2442180" y="3196053"/>
            <a:ext cx="1792354" cy="41945"/>
          </a:xfrm>
          <a:prstGeom prst="straightConnector1">
            <a:avLst/>
          </a:prstGeom>
          <a:ln w="57150">
            <a:solidFill>
              <a:srgbClr val="FFFF00"/>
            </a:solidFill>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8CAB7A43-81E1-41E7-8493-822BFBD5EF6B}"/>
              </a:ext>
            </a:extLst>
          </p:cNvPr>
          <p:cNvCxnSpPr>
            <a:cxnSpLocks/>
          </p:cNvCxnSpPr>
          <p:nvPr/>
        </p:nvCxnSpPr>
        <p:spPr>
          <a:xfrm>
            <a:off x="2442180" y="3229931"/>
            <a:ext cx="1876837" cy="393505"/>
          </a:xfrm>
          <a:prstGeom prst="straightConnector1">
            <a:avLst/>
          </a:prstGeom>
          <a:ln w="57150">
            <a:solidFill>
              <a:srgbClr val="FFFF00"/>
            </a:solidFill>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67D1B32D-8691-4D25-B242-F65030788ABB}"/>
              </a:ext>
            </a:extLst>
          </p:cNvPr>
          <p:cNvCxnSpPr>
            <a:cxnSpLocks/>
          </p:cNvCxnSpPr>
          <p:nvPr/>
        </p:nvCxnSpPr>
        <p:spPr>
          <a:xfrm>
            <a:off x="2427274" y="3163484"/>
            <a:ext cx="1807260" cy="746749"/>
          </a:xfrm>
          <a:prstGeom prst="straightConnector1">
            <a:avLst/>
          </a:prstGeom>
          <a:ln w="57150">
            <a:solidFill>
              <a:srgbClr val="FFFF00"/>
            </a:solidFill>
            <a:tailEnd type="triangle"/>
          </a:ln>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BA4BC42B-CF57-4353-9FD9-4FF38F5D9569}"/>
              </a:ext>
            </a:extLst>
          </p:cNvPr>
          <p:cNvSpPr txBox="1"/>
          <p:nvPr/>
        </p:nvSpPr>
        <p:spPr>
          <a:xfrm>
            <a:off x="5501910" y="2265976"/>
            <a:ext cx="2342322" cy="461665"/>
          </a:xfrm>
          <a:prstGeom prst="rect">
            <a:avLst/>
          </a:prstGeom>
          <a:noFill/>
        </p:spPr>
        <p:txBody>
          <a:bodyPr wrap="square" rtlCol="0">
            <a:spAutoFit/>
          </a:bodyPr>
          <a:lstStyle/>
          <a:p>
            <a:r>
              <a:rPr lang="en-IN" sz="2400" dirty="0"/>
              <a:t>2a, 2b, 2c, 2d,</a:t>
            </a:r>
          </a:p>
        </p:txBody>
      </p:sp>
      <p:sp>
        <p:nvSpPr>
          <p:cNvPr id="35" name="TextBox 34">
            <a:extLst>
              <a:ext uri="{FF2B5EF4-FFF2-40B4-BE49-F238E27FC236}">
                <a16:creationId xmlns:a16="http://schemas.microsoft.com/office/drawing/2014/main" id="{7FF80407-B864-4491-B715-AB62AA79CEF9}"/>
              </a:ext>
            </a:extLst>
          </p:cNvPr>
          <p:cNvSpPr txBox="1"/>
          <p:nvPr/>
        </p:nvSpPr>
        <p:spPr>
          <a:xfrm>
            <a:off x="435006" y="3309840"/>
            <a:ext cx="1177786" cy="461665"/>
          </a:xfrm>
          <a:prstGeom prst="rect">
            <a:avLst/>
          </a:prstGeom>
          <a:noFill/>
        </p:spPr>
        <p:txBody>
          <a:bodyPr wrap="square" rtlCol="0">
            <a:spAutoFit/>
          </a:bodyPr>
          <a:lstStyle/>
          <a:p>
            <a:r>
              <a:rPr lang="en-IN" sz="2400" dirty="0"/>
              <a:t>4 Ways</a:t>
            </a:r>
          </a:p>
        </p:txBody>
      </p:sp>
      <p:cxnSp>
        <p:nvCxnSpPr>
          <p:cNvPr id="36" name="Straight Arrow Connector 35">
            <a:extLst>
              <a:ext uri="{FF2B5EF4-FFF2-40B4-BE49-F238E27FC236}">
                <a16:creationId xmlns:a16="http://schemas.microsoft.com/office/drawing/2014/main" id="{42D9A89F-BD0E-4142-9BA3-17AB10C4D136}"/>
              </a:ext>
            </a:extLst>
          </p:cNvPr>
          <p:cNvCxnSpPr>
            <a:cxnSpLocks/>
          </p:cNvCxnSpPr>
          <p:nvPr/>
        </p:nvCxnSpPr>
        <p:spPr>
          <a:xfrm flipV="1">
            <a:off x="2405734" y="2886475"/>
            <a:ext cx="1913283" cy="678979"/>
          </a:xfrm>
          <a:prstGeom prst="straightConnector1">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0EED2179-2881-44C9-80DA-6D910D8B9569}"/>
              </a:ext>
            </a:extLst>
          </p:cNvPr>
          <p:cNvCxnSpPr>
            <a:cxnSpLocks/>
          </p:cNvCxnSpPr>
          <p:nvPr/>
        </p:nvCxnSpPr>
        <p:spPr>
          <a:xfrm flipV="1">
            <a:off x="2390828" y="3237818"/>
            <a:ext cx="1843706" cy="349660"/>
          </a:xfrm>
          <a:prstGeom prst="straightConnector1">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E0278572-6D0B-4459-B98E-1CDB8904ED56}"/>
              </a:ext>
            </a:extLst>
          </p:cNvPr>
          <p:cNvCxnSpPr>
            <a:cxnSpLocks/>
          </p:cNvCxnSpPr>
          <p:nvPr/>
        </p:nvCxnSpPr>
        <p:spPr>
          <a:xfrm flipV="1">
            <a:off x="2391645" y="3579828"/>
            <a:ext cx="1942278" cy="31023"/>
          </a:xfrm>
          <a:prstGeom prst="straightConnector1">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CA6D37EA-9B08-410B-9B32-3D94A60BD8F2}"/>
              </a:ext>
            </a:extLst>
          </p:cNvPr>
          <p:cNvCxnSpPr>
            <a:cxnSpLocks/>
          </p:cNvCxnSpPr>
          <p:nvPr/>
        </p:nvCxnSpPr>
        <p:spPr>
          <a:xfrm>
            <a:off x="2427274" y="3547624"/>
            <a:ext cx="1891743" cy="383590"/>
          </a:xfrm>
          <a:prstGeom prst="straightConnector1">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255A2E84-BB11-4A2A-8EBB-F22540BD945A}"/>
              </a:ext>
            </a:extLst>
          </p:cNvPr>
          <p:cNvSpPr txBox="1"/>
          <p:nvPr/>
        </p:nvSpPr>
        <p:spPr>
          <a:xfrm>
            <a:off x="424306" y="3622414"/>
            <a:ext cx="1177786" cy="461665"/>
          </a:xfrm>
          <a:prstGeom prst="rect">
            <a:avLst/>
          </a:prstGeom>
          <a:noFill/>
        </p:spPr>
        <p:txBody>
          <a:bodyPr wrap="square" rtlCol="0">
            <a:spAutoFit/>
          </a:bodyPr>
          <a:lstStyle/>
          <a:p>
            <a:r>
              <a:rPr lang="en-IN" sz="2400" dirty="0"/>
              <a:t>4 Ways</a:t>
            </a:r>
          </a:p>
        </p:txBody>
      </p:sp>
      <p:sp>
        <p:nvSpPr>
          <p:cNvPr id="49" name="TextBox 48">
            <a:extLst>
              <a:ext uri="{FF2B5EF4-FFF2-40B4-BE49-F238E27FC236}">
                <a16:creationId xmlns:a16="http://schemas.microsoft.com/office/drawing/2014/main" id="{CE7A7333-66E5-48B9-B5DB-05CC40A70443}"/>
              </a:ext>
            </a:extLst>
          </p:cNvPr>
          <p:cNvSpPr txBox="1"/>
          <p:nvPr/>
        </p:nvSpPr>
        <p:spPr>
          <a:xfrm>
            <a:off x="5501910" y="2617696"/>
            <a:ext cx="2342322" cy="461665"/>
          </a:xfrm>
          <a:prstGeom prst="rect">
            <a:avLst/>
          </a:prstGeom>
          <a:noFill/>
        </p:spPr>
        <p:txBody>
          <a:bodyPr wrap="square" rtlCol="0">
            <a:spAutoFit/>
          </a:bodyPr>
          <a:lstStyle/>
          <a:p>
            <a:r>
              <a:rPr lang="en-IN" sz="2400" dirty="0"/>
              <a:t>3a, 3b, 3c, 3d,</a:t>
            </a:r>
          </a:p>
        </p:txBody>
      </p:sp>
      <p:sp>
        <p:nvSpPr>
          <p:cNvPr id="50" name="TextBox 49">
            <a:extLst>
              <a:ext uri="{FF2B5EF4-FFF2-40B4-BE49-F238E27FC236}">
                <a16:creationId xmlns:a16="http://schemas.microsoft.com/office/drawing/2014/main" id="{786BE352-8DE0-4611-97A6-0A59BD4117DC}"/>
              </a:ext>
            </a:extLst>
          </p:cNvPr>
          <p:cNvSpPr txBox="1"/>
          <p:nvPr/>
        </p:nvSpPr>
        <p:spPr>
          <a:xfrm>
            <a:off x="415364" y="3933621"/>
            <a:ext cx="1177786" cy="461665"/>
          </a:xfrm>
          <a:prstGeom prst="rect">
            <a:avLst/>
          </a:prstGeom>
          <a:noFill/>
        </p:spPr>
        <p:txBody>
          <a:bodyPr wrap="square" rtlCol="0">
            <a:spAutoFit/>
          </a:bodyPr>
          <a:lstStyle/>
          <a:p>
            <a:r>
              <a:rPr lang="en-IN" sz="2400" dirty="0"/>
              <a:t>4 Ways</a:t>
            </a:r>
          </a:p>
        </p:txBody>
      </p:sp>
      <p:sp>
        <p:nvSpPr>
          <p:cNvPr id="51" name="TextBox 50">
            <a:extLst>
              <a:ext uri="{FF2B5EF4-FFF2-40B4-BE49-F238E27FC236}">
                <a16:creationId xmlns:a16="http://schemas.microsoft.com/office/drawing/2014/main" id="{1942AA2C-7ADA-45AD-82C0-387A68543A8B}"/>
              </a:ext>
            </a:extLst>
          </p:cNvPr>
          <p:cNvSpPr txBox="1"/>
          <p:nvPr/>
        </p:nvSpPr>
        <p:spPr>
          <a:xfrm>
            <a:off x="5480380" y="3057773"/>
            <a:ext cx="2342322" cy="461665"/>
          </a:xfrm>
          <a:prstGeom prst="rect">
            <a:avLst/>
          </a:prstGeom>
          <a:noFill/>
        </p:spPr>
        <p:txBody>
          <a:bodyPr wrap="square" rtlCol="0">
            <a:spAutoFit/>
          </a:bodyPr>
          <a:lstStyle/>
          <a:p>
            <a:r>
              <a:rPr lang="en-IN" sz="2400" dirty="0"/>
              <a:t>4a, 4b, 4c, 4d,</a:t>
            </a:r>
          </a:p>
        </p:txBody>
      </p:sp>
      <p:sp>
        <p:nvSpPr>
          <p:cNvPr id="52" name="TextBox 51">
            <a:extLst>
              <a:ext uri="{FF2B5EF4-FFF2-40B4-BE49-F238E27FC236}">
                <a16:creationId xmlns:a16="http://schemas.microsoft.com/office/drawing/2014/main" id="{28F432D2-CE1C-40FE-B596-5D2F74305F8E}"/>
              </a:ext>
            </a:extLst>
          </p:cNvPr>
          <p:cNvSpPr txBox="1"/>
          <p:nvPr/>
        </p:nvSpPr>
        <p:spPr>
          <a:xfrm>
            <a:off x="5501910" y="3495855"/>
            <a:ext cx="2342322" cy="461665"/>
          </a:xfrm>
          <a:prstGeom prst="rect">
            <a:avLst/>
          </a:prstGeom>
          <a:noFill/>
        </p:spPr>
        <p:txBody>
          <a:bodyPr wrap="square" rtlCol="0">
            <a:spAutoFit/>
          </a:bodyPr>
          <a:lstStyle/>
          <a:p>
            <a:r>
              <a:rPr lang="en-IN" sz="2400" dirty="0"/>
              <a:t>5a, 5b, 5c, 5d,</a:t>
            </a:r>
          </a:p>
        </p:txBody>
      </p:sp>
      <p:sp>
        <p:nvSpPr>
          <p:cNvPr id="53" name="TextBox 52">
            <a:extLst>
              <a:ext uri="{FF2B5EF4-FFF2-40B4-BE49-F238E27FC236}">
                <a16:creationId xmlns:a16="http://schemas.microsoft.com/office/drawing/2014/main" id="{C6B57CDC-08EF-440D-A978-0CDFEA699537}"/>
              </a:ext>
            </a:extLst>
          </p:cNvPr>
          <p:cNvSpPr txBox="1"/>
          <p:nvPr/>
        </p:nvSpPr>
        <p:spPr>
          <a:xfrm>
            <a:off x="5521388" y="3888536"/>
            <a:ext cx="2342322" cy="461665"/>
          </a:xfrm>
          <a:prstGeom prst="rect">
            <a:avLst/>
          </a:prstGeom>
          <a:noFill/>
        </p:spPr>
        <p:txBody>
          <a:bodyPr wrap="square" rtlCol="0">
            <a:spAutoFit/>
          </a:bodyPr>
          <a:lstStyle/>
          <a:p>
            <a:r>
              <a:rPr lang="en-IN" sz="2400" dirty="0"/>
              <a:t>6a, 6b, 6c, 6d}=</a:t>
            </a:r>
          </a:p>
        </p:txBody>
      </p:sp>
      <p:sp>
        <p:nvSpPr>
          <p:cNvPr id="54" name="TextBox 53">
            <a:extLst>
              <a:ext uri="{FF2B5EF4-FFF2-40B4-BE49-F238E27FC236}">
                <a16:creationId xmlns:a16="http://schemas.microsoft.com/office/drawing/2014/main" id="{244B85F0-DF8A-47B9-B8BC-4A0B245C3D2F}"/>
              </a:ext>
            </a:extLst>
          </p:cNvPr>
          <p:cNvSpPr txBox="1"/>
          <p:nvPr/>
        </p:nvSpPr>
        <p:spPr>
          <a:xfrm>
            <a:off x="419356" y="4232804"/>
            <a:ext cx="1177786" cy="461665"/>
          </a:xfrm>
          <a:prstGeom prst="rect">
            <a:avLst/>
          </a:prstGeom>
          <a:noFill/>
        </p:spPr>
        <p:txBody>
          <a:bodyPr wrap="square" rtlCol="0">
            <a:spAutoFit/>
          </a:bodyPr>
          <a:lstStyle/>
          <a:p>
            <a:r>
              <a:rPr lang="en-IN" sz="2400" dirty="0"/>
              <a:t>4 Ways</a:t>
            </a:r>
          </a:p>
        </p:txBody>
      </p:sp>
      <p:sp>
        <p:nvSpPr>
          <p:cNvPr id="55" name="TextBox 54">
            <a:extLst>
              <a:ext uri="{FF2B5EF4-FFF2-40B4-BE49-F238E27FC236}">
                <a16:creationId xmlns:a16="http://schemas.microsoft.com/office/drawing/2014/main" id="{244865D0-0FBC-4B86-8309-D31A7F3E3ADC}"/>
              </a:ext>
            </a:extLst>
          </p:cNvPr>
          <p:cNvSpPr txBox="1"/>
          <p:nvPr/>
        </p:nvSpPr>
        <p:spPr>
          <a:xfrm>
            <a:off x="5521388" y="4296296"/>
            <a:ext cx="2342322" cy="461665"/>
          </a:xfrm>
          <a:prstGeom prst="rect">
            <a:avLst/>
          </a:prstGeom>
          <a:noFill/>
        </p:spPr>
        <p:txBody>
          <a:bodyPr wrap="square" rtlCol="0">
            <a:spAutoFit/>
          </a:bodyPr>
          <a:lstStyle/>
          <a:p>
            <a:r>
              <a:rPr lang="en-IN" sz="2400" dirty="0"/>
              <a:t>4+4+4+4+4+4=</a:t>
            </a:r>
          </a:p>
        </p:txBody>
      </p:sp>
      <p:sp>
        <p:nvSpPr>
          <p:cNvPr id="57" name="TextBox 56">
            <a:extLst>
              <a:ext uri="{FF2B5EF4-FFF2-40B4-BE49-F238E27FC236}">
                <a16:creationId xmlns:a16="http://schemas.microsoft.com/office/drawing/2014/main" id="{BC6558AF-43D0-4487-BE7B-3663728E00CC}"/>
              </a:ext>
            </a:extLst>
          </p:cNvPr>
          <p:cNvSpPr txBox="1"/>
          <p:nvPr/>
        </p:nvSpPr>
        <p:spPr>
          <a:xfrm>
            <a:off x="5527202" y="4806509"/>
            <a:ext cx="2342322" cy="461665"/>
          </a:xfrm>
          <a:prstGeom prst="rect">
            <a:avLst/>
          </a:prstGeom>
          <a:noFill/>
        </p:spPr>
        <p:txBody>
          <a:bodyPr wrap="square" rtlCol="0">
            <a:spAutoFit/>
          </a:bodyPr>
          <a:lstStyle/>
          <a:p>
            <a:r>
              <a:rPr lang="en-IN" sz="2400" dirty="0"/>
              <a:t>4*6=24</a:t>
            </a:r>
          </a:p>
        </p:txBody>
      </p:sp>
      <p:sp>
        <p:nvSpPr>
          <p:cNvPr id="37" name="TextBox 36">
            <a:extLst>
              <a:ext uri="{FF2B5EF4-FFF2-40B4-BE49-F238E27FC236}">
                <a16:creationId xmlns:a16="http://schemas.microsoft.com/office/drawing/2014/main" id="{5D2CD56D-E22A-4DF0-A128-58B4D24EBFB4}"/>
              </a:ext>
            </a:extLst>
          </p:cNvPr>
          <p:cNvSpPr txBox="1"/>
          <p:nvPr/>
        </p:nvSpPr>
        <p:spPr>
          <a:xfrm>
            <a:off x="5480380" y="5360920"/>
            <a:ext cx="2342322" cy="461665"/>
          </a:xfrm>
          <a:prstGeom prst="rect">
            <a:avLst/>
          </a:prstGeom>
          <a:noFill/>
        </p:spPr>
        <p:txBody>
          <a:bodyPr wrap="square" rtlCol="0">
            <a:spAutoFit/>
          </a:bodyPr>
          <a:lstStyle/>
          <a:p>
            <a:r>
              <a:rPr lang="en-IN" sz="2400" dirty="0"/>
              <a:t>n(A)*n(B)=24</a:t>
            </a:r>
          </a:p>
        </p:txBody>
      </p:sp>
    </p:spTree>
    <p:extLst>
      <p:ext uri="{BB962C8B-B14F-4D97-AF65-F5344CB8AC3E}">
        <p14:creationId xmlns:p14="http://schemas.microsoft.com/office/powerpoint/2010/main" val="754317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4"/>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9"/>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5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51"/>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5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53"/>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5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55"/>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57"/>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P spid="7" grpId="0" animBg="1"/>
      <p:bldP spid="8" grpId="0"/>
      <p:bldP spid="9" grpId="0"/>
      <p:bldP spid="10" grpId="0"/>
      <p:bldP spid="11" grpId="0"/>
      <p:bldP spid="21" grpId="0"/>
      <p:bldP spid="22" grpId="0"/>
      <p:bldP spid="23" grpId="0"/>
      <p:bldP spid="34" grpId="0"/>
      <p:bldP spid="35" grpId="0"/>
      <p:bldP spid="47" grpId="0"/>
      <p:bldP spid="49" grpId="0"/>
      <p:bldP spid="50" grpId="0"/>
      <p:bldP spid="51" grpId="0"/>
      <p:bldP spid="52" grpId="0"/>
      <p:bldP spid="53" grpId="0"/>
      <p:bldP spid="54" grpId="0"/>
      <p:bldP spid="55" grpId="0"/>
      <p:bldP spid="57" grpId="0"/>
      <p:bldP spid="3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The Product Rule – Example 1</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a:bodyPr>
          <a:lstStyle/>
          <a:p>
            <a:pPr marL="0" indent="0">
              <a:buNone/>
            </a:pPr>
            <a:r>
              <a:rPr lang="en-US" b="1" dirty="0"/>
              <a:t>Ques:- </a:t>
            </a:r>
            <a:r>
              <a:rPr lang="en-US" dirty="0"/>
              <a:t>There are 32 microcomputers in a computer center. Each microcomputer has 24 ports. How many different ports to a microcomputer in the center are there?</a:t>
            </a:r>
          </a:p>
          <a:p>
            <a:pPr marL="0" indent="0">
              <a:buNone/>
            </a:pPr>
            <a:endParaRPr lang="en-US" dirty="0"/>
          </a:p>
          <a:p>
            <a:pPr marL="0" indent="0">
              <a:buNone/>
            </a:pPr>
            <a:r>
              <a:rPr lang="en-US" b="1" dirty="0"/>
              <a:t>Sol:- </a:t>
            </a:r>
            <a:r>
              <a:rPr lang="en-US" dirty="0"/>
              <a:t>32 · 24 = 768 ports.</a:t>
            </a:r>
          </a:p>
          <a:p>
            <a:pPr marL="0" indent="0">
              <a:buNone/>
            </a:pPr>
            <a:endParaRPr lang="en-IN" dirty="0"/>
          </a:p>
        </p:txBody>
      </p:sp>
    </p:spTree>
    <p:extLst>
      <p:ext uri="{BB962C8B-B14F-4D97-AF65-F5344CB8AC3E}">
        <p14:creationId xmlns:p14="http://schemas.microsoft.com/office/powerpoint/2010/main" val="1588712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0A4C33-68FB-47A8-853C-69729805816E}"/>
              </a:ext>
            </a:extLst>
          </p:cNvPr>
          <p:cNvSpPr>
            <a:spLocks noGrp="1"/>
          </p:cNvSpPr>
          <p:nvPr>
            <p:ph type="title"/>
          </p:nvPr>
        </p:nvSpPr>
        <p:spPr/>
        <p:txBody>
          <a:bodyPr/>
          <a:lstStyle/>
          <a:p>
            <a:r>
              <a:rPr lang="en-IN" dirty="0"/>
              <a:t>The Product Rule – Example 1 </a:t>
            </a:r>
          </a:p>
        </p:txBody>
      </p:sp>
      <p:sp>
        <p:nvSpPr>
          <p:cNvPr id="5" name="TextBox 4">
            <a:extLst>
              <a:ext uri="{FF2B5EF4-FFF2-40B4-BE49-F238E27FC236}">
                <a16:creationId xmlns:a16="http://schemas.microsoft.com/office/drawing/2014/main" id="{26DBD256-B2D0-4664-BB98-5B5965CF8334}"/>
              </a:ext>
            </a:extLst>
          </p:cNvPr>
          <p:cNvSpPr txBox="1"/>
          <p:nvPr/>
        </p:nvSpPr>
        <p:spPr>
          <a:xfrm>
            <a:off x="278297" y="1043608"/>
            <a:ext cx="4373218" cy="461665"/>
          </a:xfrm>
          <a:prstGeom prst="rect">
            <a:avLst/>
          </a:prstGeom>
          <a:noFill/>
        </p:spPr>
        <p:txBody>
          <a:bodyPr wrap="square" rtlCol="0">
            <a:spAutoFit/>
          </a:bodyPr>
          <a:lstStyle/>
          <a:p>
            <a:r>
              <a:rPr lang="en-IN" sz="2400" dirty="0"/>
              <a:t>32 micro computers, 24 ports</a:t>
            </a:r>
          </a:p>
        </p:txBody>
      </p:sp>
      <p:sp>
        <p:nvSpPr>
          <p:cNvPr id="12" name="TextBox 11">
            <a:extLst>
              <a:ext uri="{FF2B5EF4-FFF2-40B4-BE49-F238E27FC236}">
                <a16:creationId xmlns:a16="http://schemas.microsoft.com/office/drawing/2014/main" id="{E0CC7710-9DEE-46A6-80B1-E6B00C066557}"/>
              </a:ext>
            </a:extLst>
          </p:cNvPr>
          <p:cNvSpPr txBox="1"/>
          <p:nvPr/>
        </p:nvSpPr>
        <p:spPr>
          <a:xfrm>
            <a:off x="278297" y="1732722"/>
            <a:ext cx="3087755" cy="461665"/>
          </a:xfrm>
          <a:prstGeom prst="rect">
            <a:avLst/>
          </a:prstGeom>
          <a:noFill/>
        </p:spPr>
        <p:txBody>
          <a:bodyPr wrap="square" rtlCol="0">
            <a:spAutoFit/>
          </a:bodyPr>
          <a:lstStyle/>
          <a:p>
            <a:r>
              <a:rPr lang="en-IN" sz="2400" dirty="0"/>
              <a:t>First micro computer</a:t>
            </a:r>
          </a:p>
        </p:txBody>
      </p:sp>
      <p:grpSp>
        <p:nvGrpSpPr>
          <p:cNvPr id="2" name="Group 1">
            <a:extLst>
              <a:ext uri="{FF2B5EF4-FFF2-40B4-BE49-F238E27FC236}">
                <a16:creationId xmlns:a16="http://schemas.microsoft.com/office/drawing/2014/main" id="{86512AD2-4E82-426D-AB30-8CD59E11DFBC}"/>
              </a:ext>
            </a:extLst>
          </p:cNvPr>
          <p:cNvGrpSpPr/>
          <p:nvPr/>
        </p:nvGrpSpPr>
        <p:grpSpPr>
          <a:xfrm>
            <a:off x="3366052" y="1620078"/>
            <a:ext cx="1752601" cy="1653212"/>
            <a:chOff x="3366052" y="1620078"/>
            <a:chExt cx="1752601" cy="1653212"/>
          </a:xfrm>
        </p:grpSpPr>
        <p:cxnSp>
          <p:nvCxnSpPr>
            <p:cNvPr id="14" name="Straight Arrow Connector 13">
              <a:extLst>
                <a:ext uri="{FF2B5EF4-FFF2-40B4-BE49-F238E27FC236}">
                  <a16:creationId xmlns:a16="http://schemas.microsoft.com/office/drawing/2014/main" id="{754DCE56-E6BE-41FB-95CD-BF0F2D8B804C}"/>
                </a:ext>
              </a:extLst>
            </p:cNvPr>
            <p:cNvCxnSpPr>
              <a:stCxn id="12" idx="3"/>
            </p:cNvCxnSpPr>
            <p:nvPr/>
          </p:nvCxnSpPr>
          <p:spPr>
            <a:xfrm flipV="1">
              <a:off x="3366052" y="1620078"/>
              <a:ext cx="1421296" cy="3434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5C7790D-E39B-46A1-9329-91B364E2501D}"/>
                </a:ext>
              </a:extLst>
            </p:cNvPr>
            <p:cNvCxnSpPr>
              <a:cxnSpLocks/>
              <a:stCxn id="12" idx="3"/>
            </p:cNvCxnSpPr>
            <p:nvPr/>
          </p:nvCxnSpPr>
          <p:spPr>
            <a:xfrm flipV="1">
              <a:off x="3366052" y="1772479"/>
              <a:ext cx="1573696" cy="191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0D6B78A-E93D-4D84-A7BA-99B4F4B69413}"/>
                </a:ext>
              </a:extLst>
            </p:cNvPr>
            <p:cNvCxnSpPr>
              <a:cxnSpLocks/>
              <a:stCxn id="12" idx="3"/>
            </p:cNvCxnSpPr>
            <p:nvPr/>
          </p:nvCxnSpPr>
          <p:spPr>
            <a:xfrm>
              <a:off x="3366052" y="1963555"/>
              <a:ext cx="15736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47118D8-0671-4286-AAF9-FFE78D6BB601}"/>
                </a:ext>
              </a:extLst>
            </p:cNvPr>
            <p:cNvCxnSpPr>
              <a:cxnSpLocks/>
              <a:stCxn id="12" idx="3"/>
            </p:cNvCxnSpPr>
            <p:nvPr/>
          </p:nvCxnSpPr>
          <p:spPr>
            <a:xfrm>
              <a:off x="3366052" y="1963555"/>
              <a:ext cx="1573696" cy="230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C07F0B0-A4E3-4818-9389-AC147886E183}"/>
                </a:ext>
              </a:extLst>
            </p:cNvPr>
            <p:cNvCxnSpPr>
              <a:cxnSpLocks/>
              <a:stCxn id="12" idx="3"/>
            </p:cNvCxnSpPr>
            <p:nvPr/>
          </p:nvCxnSpPr>
          <p:spPr>
            <a:xfrm flipV="1">
              <a:off x="3366052" y="1868557"/>
              <a:ext cx="1573696" cy="94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408B0F4-B0F6-4952-B340-A782A1C8D51F}"/>
                </a:ext>
              </a:extLst>
            </p:cNvPr>
            <p:cNvCxnSpPr>
              <a:cxnSpLocks/>
              <a:stCxn id="12" idx="3"/>
            </p:cNvCxnSpPr>
            <p:nvPr/>
          </p:nvCxnSpPr>
          <p:spPr>
            <a:xfrm flipV="1">
              <a:off x="3366052" y="1732722"/>
              <a:ext cx="1573696" cy="2308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A700FA3-14EA-4FBD-90D3-314AA8268BC0}"/>
                </a:ext>
              </a:extLst>
            </p:cNvPr>
            <p:cNvCxnSpPr>
              <a:cxnSpLocks/>
              <a:stCxn id="12" idx="3"/>
            </p:cNvCxnSpPr>
            <p:nvPr/>
          </p:nvCxnSpPr>
          <p:spPr>
            <a:xfrm>
              <a:off x="3366052" y="1963555"/>
              <a:ext cx="1679713" cy="133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3B738ED-9CCB-46AB-979D-DE1C61E2CB48}"/>
                </a:ext>
              </a:extLst>
            </p:cNvPr>
            <p:cNvCxnSpPr>
              <a:cxnSpLocks/>
              <a:stCxn id="12" idx="3"/>
            </p:cNvCxnSpPr>
            <p:nvPr/>
          </p:nvCxnSpPr>
          <p:spPr>
            <a:xfrm>
              <a:off x="3366052" y="1963555"/>
              <a:ext cx="1573696" cy="3721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73B25A7-4C8C-418B-BC21-5F169EBAE052}"/>
                </a:ext>
              </a:extLst>
            </p:cNvPr>
            <p:cNvCxnSpPr>
              <a:cxnSpLocks/>
              <a:stCxn id="12" idx="3"/>
            </p:cNvCxnSpPr>
            <p:nvPr/>
          </p:nvCxnSpPr>
          <p:spPr>
            <a:xfrm>
              <a:off x="3366052" y="1963555"/>
              <a:ext cx="1573696" cy="491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590F5FF-E359-46AD-8F55-ABF92F12B2D3}"/>
                </a:ext>
              </a:extLst>
            </p:cNvPr>
            <p:cNvCxnSpPr>
              <a:cxnSpLocks/>
              <a:stCxn id="12" idx="3"/>
            </p:cNvCxnSpPr>
            <p:nvPr/>
          </p:nvCxnSpPr>
          <p:spPr>
            <a:xfrm>
              <a:off x="3366052" y="1963555"/>
              <a:ext cx="1494184" cy="474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EA97CC4D-C491-4325-837A-8D00B2036E52}"/>
                </a:ext>
              </a:extLst>
            </p:cNvPr>
            <p:cNvCxnSpPr>
              <a:cxnSpLocks/>
              <a:stCxn id="12" idx="3"/>
            </p:cNvCxnSpPr>
            <p:nvPr/>
          </p:nvCxnSpPr>
          <p:spPr>
            <a:xfrm>
              <a:off x="3366052" y="1963555"/>
              <a:ext cx="1646584" cy="6272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0AE9D38-1869-4D79-A215-1C7F6FF55015}"/>
                </a:ext>
              </a:extLst>
            </p:cNvPr>
            <p:cNvCxnSpPr>
              <a:cxnSpLocks/>
              <a:stCxn id="12" idx="3"/>
            </p:cNvCxnSpPr>
            <p:nvPr/>
          </p:nvCxnSpPr>
          <p:spPr>
            <a:xfrm>
              <a:off x="3366052" y="1963555"/>
              <a:ext cx="1646584" cy="818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3CB99A4-B40C-486C-8515-6F792EF74B7E}"/>
                </a:ext>
              </a:extLst>
            </p:cNvPr>
            <p:cNvCxnSpPr>
              <a:cxnSpLocks/>
              <a:stCxn id="12" idx="3"/>
            </p:cNvCxnSpPr>
            <p:nvPr/>
          </p:nvCxnSpPr>
          <p:spPr>
            <a:xfrm>
              <a:off x="3366052" y="1963555"/>
              <a:ext cx="1646584" cy="1049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352415D-40CF-4279-AE90-1C858061AF9B}"/>
                </a:ext>
              </a:extLst>
            </p:cNvPr>
            <p:cNvCxnSpPr>
              <a:cxnSpLocks/>
              <a:stCxn id="12" idx="3"/>
            </p:cNvCxnSpPr>
            <p:nvPr/>
          </p:nvCxnSpPr>
          <p:spPr>
            <a:xfrm>
              <a:off x="3366052" y="1963555"/>
              <a:ext cx="1646584" cy="7233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6F1ACCE-8A00-4538-89C5-68F84C5C767C}"/>
                </a:ext>
              </a:extLst>
            </p:cNvPr>
            <p:cNvCxnSpPr>
              <a:cxnSpLocks/>
              <a:stCxn id="12" idx="3"/>
            </p:cNvCxnSpPr>
            <p:nvPr/>
          </p:nvCxnSpPr>
          <p:spPr>
            <a:xfrm>
              <a:off x="3366052" y="1963555"/>
              <a:ext cx="1646584" cy="587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62972F4-CC87-4B43-B1C4-343308BAB130}"/>
                </a:ext>
              </a:extLst>
            </p:cNvPr>
            <p:cNvCxnSpPr>
              <a:cxnSpLocks/>
              <a:stCxn id="12" idx="3"/>
            </p:cNvCxnSpPr>
            <p:nvPr/>
          </p:nvCxnSpPr>
          <p:spPr>
            <a:xfrm>
              <a:off x="3366052" y="1963555"/>
              <a:ext cx="1752601" cy="951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FC37771-ED74-4AEE-AB64-F98E03827E37}"/>
                </a:ext>
              </a:extLst>
            </p:cNvPr>
            <p:cNvCxnSpPr>
              <a:cxnSpLocks/>
              <a:stCxn id="12" idx="3"/>
            </p:cNvCxnSpPr>
            <p:nvPr/>
          </p:nvCxnSpPr>
          <p:spPr>
            <a:xfrm>
              <a:off x="3366052" y="1963555"/>
              <a:ext cx="1646584" cy="1190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AA17617-AC9D-49A0-ADC2-B38A59A7C123}"/>
                </a:ext>
              </a:extLst>
            </p:cNvPr>
            <p:cNvCxnSpPr>
              <a:cxnSpLocks/>
              <a:stCxn id="12" idx="3"/>
            </p:cNvCxnSpPr>
            <p:nvPr/>
          </p:nvCxnSpPr>
          <p:spPr>
            <a:xfrm>
              <a:off x="3366052" y="1963555"/>
              <a:ext cx="1646584" cy="1309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0BE91D9C-A65D-41E6-9BA1-8D388C1C55BD}"/>
              </a:ext>
            </a:extLst>
          </p:cNvPr>
          <p:cNvSpPr txBox="1"/>
          <p:nvPr/>
        </p:nvSpPr>
        <p:spPr>
          <a:xfrm>
            <a:off x="5579167" y="1857463"/>
            <a:ext cx="1507435" cy="461665"/>
          </a:xfrm>
          <a:prstGeom prst="rect">
            <a:avLst/>
          </a:prstGeom>
          <a:noFill/>
        </p:spPr>
        <p:txBody>
          <a:bodyPr wrap="square" rtlCol="0">
            <a:spAutoFit/>
          </a:bodyPr>
          <a:lstStyle/>
          <a:p>
            <a:r>
              <a:rPr lang="en-IN" sz="2400" dirty="0"/>
              <a:t>24 ports</a:t>
            </a:r>
          </a:p>
        </p:txBody>
      </p:sp>
      <p:sp>
        <p:nvSpPr>
          <p:cNvPr id="75" name="TextBox 74">
            <a:extLst>
              <a:ext uri="{FF2B5EF4-FFF2-40B4-BE49-F238E27FC236}">
                <a16:creationId xmlns:a16="http://schemas.microsoft.com/office/drawing/2014/main" id="{79D84A9C-4575-411F-ACD8-52BD1261DF13}"/>
              </a:ext>
            </a:extLst>
          </p:cNvPr>
          <p:cNvSpPr txBox="1"/>
          <p:nvPr/>
        </p:nvSpPr>
        <p:spPr>
          <a:xfrm>
            <a:off x="1282149" y="3465443"/>
            <a:ext cx="2236303" cy="830997"/>
          </a:xfrm>
          <a:prstGeom prst="rect">
            <a:avLst/>
          </a:prstGeom>
          <a:noFill/>
        </p:spPr>
        <p:txBody>
          <a:bodyPr wrap="square" rtlCol="0">
            <a:spAutoFit/>
          </a:bodyPr>
          <a:lstStyle/>
          <a:p>
            <a:r>
              <a:rPr lang="en-IN" sz="2400" dirty="0"/>
              <a:t>Second micro computer</a:t>
            </a:r>
          </a:p>
        </p:txBody>
      </p:sp>
      <p:grpSp>
        <p:nvGrpSpPr>
          <p:cNvPr id="3" name="Group 2">
            <a:extLst>
              <a:ext uri="{FF2B5EF4-FFF2-40B4-BE49-F238E27FC236}">
                <a16:creationId xmlns:a16="http://schemas.microsoft.com/office/drawing/2014/main" id="{B02AA50E-66F7-4B57-A9D2-74A1BC0231E5}"/>
              </a:ext>
            </a:extLst>
          </p:cNvPr>
          <p:cNvGrpSpPr/>
          <p:nvPr/>
        </p:nvGrpSpPr>
        <p:grpSpPr>
          <a:xfrm>
            <a:off x="3518452" y="3352800"/>
            <a:ext cx="1752601" cy="1533942"/>
            <a:chOff x="3518452" y="3352800"/>
            <a:chExt cx="1752601" cy="1533942"/>
          </a:xfrm>
        </p:grpSpPr>
        <p:cxnSp>
          <p:nvCxnSpPr>
            <p:cNvPr id="76" name="Straight Arrow Connector 75">
              <a:extLst>
                <a:ext uri="{FF2B5EF4-FFF2-40B4-BE49-F238E27FC236}">
                  <a16:creationId xmlns:a16="http://schemas.microsoft.com/office/drawing/2014/main" id="{F14EBED6-E183-4346-AB7E-B990FDABEEF2}"/>
                </a:ext>
              </a:extLst>
            </p:cNvPr>
            <p:cNvCxnSpPr>
              <a:cxnSpLocks/>
              <a:stCxn id="75" idx="3"/>
            </p:cNvCxnSpPr>
            <p:nvPr/>
          </p:nvCxnSpPr>
          <p:spPr>
            <a:xfrm flipV="1">
              <a:off x="3518452" y="3352800"/>
              <a:ext cx="1421296" cy="5281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4391BEFA-A97D-4FD8-834A-FD8218B4605A}"/>
                </a:ext>
              </a:extLst>
            </p:cNvPr>
            <p:cNvCxnSpPr>
              <a:cxnSpLocks/>
              <a:stCxn id="75" idx="3"/>
            </p:cNvCxnSpPr>
            <p:nvPr/>
          </p:nvCxnSpPr>
          <p:spPr>
            <a:xfrm flipV="1">
              <a:off x="3518452" y="3505200"/>
              <a:ext cx="1573696" cy="375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07F60403-A908-4B0D-B8A4-5F878EF4C724}"/>
                </a:ext>
              </a:extLst>
            </p:cNvPr>
            <p:cNvCxnSpPr>
              <a:cxnSpLocks/>
              <a:stCxn id="75" idx="3"/>
            </p:cNvCxnSpPr>
            <p:nvPr/>
          </p:nvCxnSpPr>
          <p:spPr>
            <a:xfrm flipV="1">
              <a:off x="3518452" y="3696276"/>
              <a:ext cx="1573696"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856BC89-EF49-4AE9-9068-215DBC2BBB0B}"/>
                </a:ext>
              </a:extLst>
            </p:cNvPr>
            <p:cNvCxnSpPr>
              <a:cxnSpLocks/>
              <a:stCxn id="75" idx="3"/>
            </p:cNvCxnSpPr>
            <p:nvPr/>
          </p:nvCxnSpPr>
          <p:spPr>
            <a:xfrm>
              <a:off x="3518452" y="3880942"/>
              <a:ext cx="1573696" cy="46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AF4CCB46-449A-4A91-BBAB-A1352F2CE1E2}"/>
                </a:ext>
              </a:extLst>
            </p:cNvPr>
            <p:cNvCxnSpPr>
              <a:cxnSpLocks/>
              <a:stCxn id="75" idx="3"/>
            </p:cNvCxnSpPr>
            <p:nvPr/>
          </p:nvCxnSpPr>
          <p:spPr>
            <a:xfrm flipV="1">
              <a:off x="3518452" y="3601278"/>
              <a:ext cx="1573696" cy="2796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3A151B2C-3E8E-46E6-8F5C-4FCE312CE45E}"/>
                </a:ext>
              </a:extLst>
            </p:cNvPr>
            <p:cNvCxnSpPr>
              <a:cxnSpLocks/>
              <a:stCxn id="75" idx="3"/>
            </p:cNvCxnSpPr>
            <p:nvPr/>
          </p:nvCxnSpPr>
          <p:spPr>
            <a:xfrm flipV="1">
              <a:off x="3518452" y="3465444"/>
              <a:ext cx="1573696" cy="415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497179CF-8AFA-4F8D-ACC3-CA6394AC4A44}"/>
                </a:ext>
              </a:extLst>
            </p:cNvPr>
            <p:cNvCxnSpPr>
              <a:cxnSpLocks/>
              <a:stCxn id="75" idx="3"/>
            </p:cNvCxnSpPr>
            <p:nvPr/>
          </p:nvCxnSpPr>
          <p:spPr>
            <a:xfrm flipV="1">
              <a:off x="3518452" y="3829878"/>
              <a:ext cx="1679713" cy="51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4642FE29-4065-4D58-B9E2-25336655B2D1}"/>
                </a:ext>
              </a:extLst>
            </p:cNvPr>
            <p:cNvCxnSpPr>
              <a:cxnSpLocks/>
              <a:stCxn id="75" idx="3"/>
            </p:cNvCxnSpPr>
            <p:nvPr/>
          </p:nvCxnSpPr>
          <p:spPr>
            <a:xfrm>
              <a:off x="3518452" y="3880942"/>
              <a:ext cx="1573696" cy="187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67D8590E-B2FD-4406-BD01-3372B00DB548}"/>
                </a:ext>
              </a:extLst>
            </p:cNvPr>
            <p:cNvCxnSpPr>
              <a:cxnSpLocks/>
              <a:stCxn id="75" idx="3"/>
            </p:cNvCxnSpPr>
            <p:nvPr/>
          </p:nvCxnSpPr>
          <p:spPr>
            <a:xfrm>
              <a:off x="3518452" y="3880942"/>
              <a:ext cx="1573696" cy="306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9BD46DF0-B272-4842-869E-770887654B6F}"/>
                </a:ext>
              </a:extLst>
            </p:cNvPr>
            <p:cNvCxnSpPr>
              <a:cxnSpLocks/>
              <a:stCxn id="75" idx="3"/>
            </p:cNvCxnSpPr>
            <p:nvPr/>
          </p:nvCxnSpPr>
          <p:spPr>
            <a:xfrm>
              <a:off x="3518452" y="3880942"/>
              <a:ext cx="1494184" cy="290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C9CAF95A-3802-4881-A30B-418AC091606E}"/>
                </a:ext>
              </a:extLst>
            </p:cNvPr>
            <p:cNvCxnSpPr>
              <a:cxnSpLocks/>
              <a:stCxn id="75" idx="3"/>
            </p:cNvCxnSpPr>
            <p:nvPr/>
          </p:nvCxnSpPr>
          <p:spPr>
            <a:xfrm>
              <a:off x="3518452" y="3880942"/>
              <a:ext cx="1646584" cy="442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970493DB-5BF5-46AF-9A92-C817F2781DE1}"/>
                </a:ext>
              </a:extLst>
            </p:cNvPr>
            <p:cNvCxnSpPr>
              <a:cxnSpLocks/>
              <a:stCxn id="75" idx="3"/>
            </p:cNvCxnSpPr>
            <p:nvPr/>
          </p:nvCxnSpPr>
          <p:spPr>
            <a:xfrm>
              <a:off x="3518452" y="3880942"/>
              <a:ext cx="1646584" cy="63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B4E0267A-1C23-4668-9D5F-47068568A6D2}"/>
                </a:ext>
              </a:extLst>
            </p:cNvPr>
            <p:cNvCxnSpPr>
              <a:cxnSpLocks/>
              <a:stCxn id="75" idx="3"/>
            </p:cNvCxnSpPr>
            <p:nvPr/>
          </p:nvCxnSpPr>
          <p:spPr>
            <a:xfrm>
              <a:off x="3518452" y="3880942"/>
              <a:ext cx="1646584" cy="864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46EAD31A-4C09-42F0-BF1C-EF0A9FBC838F}"/>
                </a:ext>
              </a:extLst>
            </p:cNvPr>
            <p:cNvCxnSpPr>
              <a:cxnSpLocks/>
              <a:stCxn id="75" idx="3"/>
            </p:cNvCxnSpPr>
            <p:nvPr/>
          </p:nvCxnSpPr>
          <p:spPr>
            <a:xfrm>
              <a:off x="3518452" y="3880942"/>
              <a:ext cx="1646584" cy="538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09D46CBD-3225-4F83-8BB1-E068C5C465CD}"/>
                </a:ext>
              </a:extLst>
            </p:cNvPr>
            <p:cNvCxnSpPr>
              <a:cxnSpLocks/>
              <a:stCxn id="75" idx="3"/>
            </p:cNvCxnSpPr>
            <p:nvPr/>
          </p:nvCxnSpPr>
          <p:spPr>
            <a:xfrm>
              <a:off x="3518452" y="3880942"/>
              <a:ext cx="1646584" cy="4028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7009646F-3090-4826-90A1-AD28105BC488}"/>
                </a:ext>
              </a:extLst>
            </p:cNvPr>
            <p:cNvCxnSpPr>
              <a:cxnSpLocks/>
              <a:stCxn id="75" idx="3"/>
            </p:cNvCxnSpPr>
            <p:nvPr/>
          </p:nvCxnSpPr>
          <p:spPr>
            <a:xfrm>
              <a:off x="3518452" y="3880942"/>
              <a:ext cx="1752601" cy="7672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641C1153-0800-4A7C-951D-C410B4FD6110}"/>
                </a:ext>
              </a:extLst>
            </p:cNvPr>
            <p:cNvCxnSpPr>
              <a:cxnSpLocks/>
              <a:stCxn id="75" idx="3"/>
            </p:cNvCxnSpPr>
            <p:nvPr/>
          </p:nvCxnSpPr>
          <p:spPr>
            <a:xfrm>
              <a:off x="3518452" y="3880942"/>
              <a:ext cx="1646584" cy="100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93" name="TextBox 92">
            <a:extLst>
              <a:ext uri="{FF2B5EF4-FFF2-40B4-BE49-F238E27FC236}">
                <a16:creationId xmlns:a16="http://schemas.microsoft.com/office/drawing/2014/main" id="{0FBE0250-BE9E-4017-A5AB-A6ACA8E3A626}"/>
              </a:ext>
            </a:extLst>
          </p:cNvPr>
          <p:cNvSpPr txBox="1"/>
          <p:nvPr/>
        </p:nvSpPr>
        <p:spPr>
          <a:xfrm>
            <a:off x="5731567" y="3590184"/>
            <a:ext cx="1507435" cy="461665"/>
          </a:xfrm>
          <a:prstGeom prst="rect">
            <a:avLst/>
          </a:prstGeom>
          <a:noFill/>
        </p:spPr>
        <p:txBody>
          <a:bodyPr wrap="square" rtlCol="0">
            <a:spAutoFit/>
          </a:bodyPr>
          <a:lstStyle/>
          <a:p>
            <a:r>
              <a:rPr lang="en-IN" sz="2400" dirty="0"/>
              <a:t>24 ports</a:t>
            </a:r>
          </a:p>
        </p:txBody>
      </p:sp>
      <p:sp>
        <p:nvSpPr>
          <p:cNvPr id="128" name="TextBox 127">
            <a:extLst>
              <a:ext uri="{FF2B5EF4-FFF2-40B4-BE49-F238E27FC236}">
                <a16:creationId xmlns:a16="http://schemas.microsoft.com/office/drawing/2014/main" id="{2FB8E12B-BCCF-4C7D-842B-9A8215808AEA}"/>
              </a:ext>
            </a:extLst>
          </p:cNvPr>
          <p:cNvSpPr txBox="1"/>
          <p:nvPr/>
        </p:nvSpPr>
        <p:spPr>
          <a:xfrm>
            <a:off x="-6622" y="4651515"/>
            <a:ext cx="2236303" cy="1200329"/>
          </a:xfrm>
          <a:prstGeom prst="rect">
            <a:avLst/>
          </a:prstGeom>
          <a:noFill/>
        </p:spPr>
        <p:txBody>
          <a:bodyPr wrap="square" rtlCol="0">
            <a:spAutoFit/>
          </a:bodyPr>
          <a:lstStyle/>
          <a:p>
            <a:r>
              <a:rPr lang="en-IN" sz="2400" dirty="0"/>
              <a:t>Similarly 32</a:t>
            </a:r>
            <a:r>
              <a:rPr lang="en-IN" sz="2400" baseline="30000" dirty="0"/>
              <a:t>nd</a:t>
            </a:r>
            <a:r>
              <a:rPr lang="en-IN" sz="2400" dirty="0"/>
              <a:t> micro computer</a:t>
            </a:r>
          </a:p>
        </p:txBody>
      </p:sp>
      <p:grpSp>
        <p:nvGrpSpPr>
          <p:cNvPr id="6" name="Group 5">
            <a:extLst>
              <a:ext uri="{FF2B5EF4-FFF2-40B4-BE49-F238E27FC236}">
                <a16:creationId xmlns:a16="http://schemas.microsoft.com/office/drawing/2014/main" id="{E7DD8773-9251-45A8-95D0-2B01FF394C14}"/>
              </a:ext>
            </a:extLst>
          </p:cNvPr>
          <p:cNvGrpSpPr/>
          <p:nvPr/>
        </p:nvGrpSpPr>
        <p:grpSpPr>
          <a:xfrm>
            <a:off x="2229681" y="4538872"/>
            <a:ext cx="1752601" cy="1533942"/>
            <a:chOff x="2229681" y="4538872"/>
            <a:chExt cx="1752601" cy="1533942"/>
          </a:xfrm>
        </p:grpSpPr>
        <p:cxnSp>
          <p:nvCxnSpPr>
            <p:cNvPr id="129" name="Straight Arrow Connector 128">
              <a:extLst>
                <a:ext uri="{FF2B5EF4-FFF2-40B4-BE49-F238E27FC236}">
                  <a16:creationId xmlns:a16="http://schemas.microsoft.com/office/drawing/2014/main" id="{FEF3801D-702F-4B67-AAA0-A4B0B0118DF4}"/>
                </a:ext>
              </a:extLst>
            </p:cNvPr>
            <p:cNvCxnSpPr>
              <a:cxnSpLocks/>
            </p:cNvCxnSpPr>
            <p:nvPr/>
          </p:nvCxnSpPr>
          <p:spPr>
            <a:xfrm flipV="1">
              <a:off x="2229681" y="4538872"/>
              <a:ext cx="1421296" cy="712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67BFD6BE-7320-4E95-885F-8040538ABB79}"/>
                </a:ext>
              </a:extLst>
            </p:cNvPr>
            <p:cNvCxnSpPr>
              <a:cxnSpLocks/>
            </p:cNvCxnSpPr>
            <p:nvPr/>
          </p:nvCxnSpPr>
          <p:spPr>
            <a:xfrm flipV="1">
              <a:off x="2229681" y="4691272"/>
              <a:ext cx="1573696" cy="560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B5BCE4EB-F092-47C1-B1C6-862CBF32869E}"/>
                </a:ext>
              </a:extLst>
            </p:cNvPr>
            <p:cNvCxnSpPr>
              <a:cxnSpLocks/>
            </p:cNvCxnSpPr>
            <p:nvPr/>
          </p:nvCxnSpPr>
          <p:spPr>
            <a:xfrm flipV="1">
              <a:off x="2229681" y="4882348"/>
              <a:ext cx="1573696"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1DA5BEF5-D9D0-4E8A-9867-FB3D7CC9C011}"/>
                </a:ext>
              </a:extLst>
            </p:cNvPr>
            <p:cNvCxnSpPr>
              <a:cxnSpLocks/>
            </p:cNvCxnSpPr>
            <p:nvPr/>
          </p:nvCxnSpPr>
          <p:spPr>
            <a:xfrm flipV="1">
              <a:off x="2229681" y="5113180"/>
              <a:ext cx="1573696" cy="138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69DB61FD-7B47-4A9F-84FE-BE4075C2FA4E}"/>
                </a:ext>
              </a:extLst>
            </p:cNvPr>
            <p:cNvCxnSpPr>
              <a:cxnSpLocks/>
            </p:cNvCxnSpPr>
            <p:nvPr/>
          </p:nvCxnSpPr>
          <p:spPr>
            <a:xfrm flipV="1">
              <a:off x="2229681" y="4787350"/>
              <a:ext cx="1573696" cy="464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92A22759-1C09-4248-A0E4-97AEE18E9567}"/>
                </a:ext>
              </a:extLst>
            </p:cNvPr>
            <p:cNvCxnSpPr>
              <a:cxnSpLocks/>
            </p:cNvCxnSpPr>
            <p:nvPr/>
          </p:nvCxnSpPr>
          <p:spPr>
            <a:xfrm flipV="1">
              <a:off x="2229681" y="4651516"/>
              <a:ext cx="1573696" cy="600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4B1EBB56-C1A9-4FFF-8D04-9FA5B8008F89}"/>
                </a:ext>
              </a:extLst>
            </p:cNvPr>
            <p:cNvCxnSpPr>
              <a:cxnSpLocks/>
            </p:cNvCxnSpPr>
            <p:nvPr/>
          </p:nvCxnSpPr>
          <p:spPr>
            <a:xfrm flipV="1">
              <a:off x="2229681" y="5015950"/>
              <a:ext cx="1679713" cy="2357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4011C9BE-A3A7-4C5A-BAC7-AC1F58C090C2}"/>
                </a:ext>
              </a:extLst>
            </p:cNvPr>
            <p:cNvCxnSpPr>
              <a:cxnSpLocks/>
            </p:cNvCxnSpPr>
            <p:nvPr/>
          </p:nvCxnSpPr>
          <p:spPr>
            <a:xfrm>
              <a:off x="2229681" y="5251680"/>
              <a:ext cx="1573696" cy="2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1566143A-E587-47BE-8FEF-B80925CB9821}"/>
                </a:ext>
              </a:extLst>
            </p:cNvPr>
            <p:cNvCxnSpPr>
              <a:cxnSpLocks/>
            </p:cNvCxnSpPr>
            <p:nvPr/>
          </p:nvCxnSpPr>
          <p:spPr>
            <a:xfrm>
              <a:off x="2229681" y="5251680"/>
              <a:ext cx="1573696" cy="122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B1F2C054-20FF-45C6-BBE1-B0E529D36CD6}"/>
                </a:ext>
              </a:extLst>
            </p:cNvPr>
            <p:cNvCxnSpPr>
              <a:cxnSpLocks/>
            </p:cNvCxnSpPr>
            <p:nvPr/>
          </p:nvCxnSpPr>
          <p:spPr>
            <a:xfrm>
              <a:off x="2229681" y="5251680"/>
              <a:ext cx="1494184" cy="105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754C24BF-B930-48B6-9598-85E8594C546C}"/>
                </a:ext>
              </a:extLst>
            </p:cNvPr>
            <p:cNvCxnSpPr>
              <a:cxnSpLocks/>
            </p:cNvCxnSpPr>
            <p:nvPr/>
          </p:nvCxnSpPr>
          <p:spPr>
            <a:xfrm>
              <a:off x="2229681" y="5251680"/>
              <a:ext cx="1646584" cy="2579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278E63E8-5251-4545-AC2B-911EA963D901}"/>
                </a:ext>
              </a:extLst>
            </p:cNvPr>
            <p:cNvCxnSpPr>
              <a:cxnSpLocks/>
            </p:cNvCxnSpPr>
            <p:nvPr/>
          </p:nvCxnSpPr>
          <p:spPr>
            <a:xfrm>
              <a:off x="2229681" y="5251680"/>
              <a:ext cx="1646584" cy="448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F8B0C9EF-EDD8-45A1-A60D-D266A31DE73F}"/>
                </a:ext>
              </a:extLst>
            </p:cNvPr>
            <p:cNvCxnSpPr>
              <a:cxnSpLocks/>
              <a:stCxn id="128" idx="3"/>
            </p:cNvCxnSpPr>
            <p:nvPr/>
          </p:nvCxnSpPr>
          <p:spPr>
            <a:xfrm>
              <a:off x="2229681" y="5251680"/>
              <a:ext cx="1646584" cy="6798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E4DF8792-29BB-493F-8632-DE51675E0BC6}"/>
                </a:ext>
              </a:extLst>
            </p:cNvPr>
            <p:cNvCxnSpPr>
              <a:cxnSpLocks/>
            </p:cNvCxnSpPr>
            <p:nvPr/>
          </p:nvCxnSpPr>
          <p:spPr>
            <a:xfrm>
              <a:off x="2229681" y="5251680"/>
              <a:ext cx="1646584" cy="3539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29B5E997-F1EF-4F54-B0EF-D3D90531F118}"/>
                </a:ext>
              </a:extLst>
            </p:cNvPr>
            <p:cNvCxnSpPr>
              <a:cxnSpLocks/>
            </p:cNvCxnSpPr>
            <p:nvPr/>
          </p:nvCxnSpPr>
          <p:spPr>
            <a:xfrm>
              <a:off x="2229681" y="5251680"/>
              <a:ext cx="1646584" cy="2181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80D2B0AD-9B5E-4932-A607-A04BA4DD0657}"/>
                </a:ext>
              </a:extLst>
            </p:cNvPr>
            <p:cNvCxnSpPr>
              <a:cxnSpLocks/>
              <a:stCxn id="128" idx="3"/>
            </p:cNvCxnSpPr>
            <p:nvPr/>
          </p:nvCxnSpPr>
          <p:spPr>
            <a:xfrm>
              <a:off x="2229681" y="5251680"/>
              <a:ext cx="1752601" cy="5825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30BC81EA-58F2-43D9-8094-8AD438C0B2F3}"/>
                </a:ext>
              </a:extLst>
            </p:cNvPr>
            <p:cNvCxnSpPr>
              <a:cxnSpLocks/>
              <a:stCxn id="128" idx="3"/>
            </p:cNvCxnSpPr>
            <p:nvPr/>
          </p:nvCxnSpPr>
          <p:spPr>
            <a:xfrm>
              <a:off x="2229681" y="5251680"/>
              <a:ext cx="1646584" cy="8211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46" name="TextBox 145">
            <a:extLst>
              <a:ext uri="{FF2B5EF4-FFF2-40B4-BE49-F238E27FC236}">
                <a16:creationId xmlns:a16="http://schemas.microsoft.com/office/drawing/2014/main" id="{AE703282-84A8-47FA-839C-779B910E10DB}"/>
              </a:ext>
            </a:extLst>
          </p:cNvPr>
          <p:cNvSpPr txBox="1"/>
          <p:nvPr/>
        </p:nvSpPr>
        <p:spPr>
          <a:xfrm>
            <a:off x="4442796" y="4776256"/>
            <a:ext cx="1507435" cy="461665"/>
          </a:xfrm>
          <a:prstGeom prst="rect">
            <a:avLst/>
          </a:prstGeom>
          <a:noFill/>
        </p:spPr>
        <p:txBody>
          <a:bodyPr wrap="square" rtlCol="0">
            <a:spAutoFit/>
          </a:bodyPr>
          <a:lstStyle/>
          <a:p>
            <a:r>
              <a:rPr lang="en-IN" sz="2400" dirty="0"/>
              <a:t>24 ports</a:t>
            </a:r>
          </a:p>
        </p:txBody>
      </p:sp>
      <p:sp>
        <p:nvSpPr>
          <p:cNvPr id="147" name="TextBox 146">
            <a:extLst>
              <a:ext uri="{FF2B5EF4-FFF2-40B4-BE49-F238E27FC236}">
                <a16:creationId xmlns:a16="http://schemas.microsoft.com/office/drawing/2014/main" id="{64742997-79B1-4C37-AEA9-DE55789BF6BA}"/>
              </a:ext>
            </a:extLst>
          </p:cNvPr>
          <p:cNvSpPr txBox="1"/>
          <p:nvPr/>
        </p:nvSpPr>
        <p:spPr>
          <a:xfrm>
            <a:off x="7116419" y="1512692"/>
            <a:ext cx="1659835" cy="461665"/>
          </a:xfrm>
          <a:prstGeom prst="rect">
            <a:avLst/>
          </a:prstGeom>
          <a:noFill/>
        </p:spPr>
        <p:txBody>
          <a:bodyPr wrap="square" rtlCol="0">
            <a:spAutoFit/>
          </a:bodyPr>
          <a:lstStyle/>
          <a:p>
            <a:r>
              <a:rPr lang="en-IN" sz="2400" dirty="0"/>
              <a:t>Therefore</a:t>
            </a:r>
          </a:p>
        </p:txBody>
      </p:sp>
      <p:sp>
        <p:nvSpPr>
          <p:cNvPr id="150" name="TextBox 149">
            <a:extLst>
              <a:ext uri="{FF2B5EF4-FFF2-40B4-BE49-F238E27FC236}">
                <a16:creationId xmlns:a16="http://schemas.microsoft.com/office/drawing/2014/main" id="{3F01BD49-A848-4EFC-B60A-3EBBCBEAA19B}"/>
              </a:ext>
            </a:extLst>
          </p:cNvPr>
          <p:cNvSpPr txBox="1"/>
          <p:nvPr/>
        </p:nvSpPr>
        <p:spPr>
          <a:xfrm>
            <a:off x="7146233" y="2004863"/>
            <a:ext cx="1659835" cy="3785652"/>
          </a:xfrm>
          <a:prstGeom prst="rect">
            <a:avLst/>
          </a:prstGeom>
          <a:noFill/>
        </p:spPr>
        <p:txBody>
          <a:bodyPr wrap="square" rtlCol="0">
            <a:spAutoFit/>
          </a:bodyPr>
          <a:lstStyle/>
          <a:p>
            <a:r>
              <a:rPr lang="en-IN" sz="2400" dirty="0"/>
              <a:t>total ports = 24+24+24+24+……..+32 times</a:t>
            </a:r>
          </a:p>
          <a:p>
            <a:endParaRPr lang="en-IN" sz="2400" dirty="0"/>
          </a:p>
          <a:p>
            <a:endParaRPr lang="en-IN" sz="2400" dirty="0"/>
          </a:p>
          <a:p>
            <a:r>
              <a:rPr lang="en-IN" sz="2400" dirty="0"/>
              <a:t>=24*32</a:t>
            </a:r>
          </a:p>
          <a:p>
            <a:r>
              <a:rPr lang="en-IN" sz="2400" dirty="0"/>
              <a:t>= 768 Ports</a:t>
            </a:r>
          </a:p>
        </p:txBody>
      </p:sp>
    </p:spTree>
    <p:extLst>
      <p:ext uri="{BB962C8B-B14F-4D97-AF65-F5344CB8AC3E}">
        <p14:creationId xmlns:p14="http://schemas.microsoft.com/office/powerpoint/2010/main" val="1852193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2" grpId="0"/>
      <p:bldP spid="74" grpId="0"/>
      <p:bldP spid="75" grpId="0"/>
      <p:bldP spid="93" grpId="0"/>
      <p:bldP spid="128" grpId="0"/>
      <p:bldP spid="146" grpId="0"/>
      <p:bldP spid="147" grpId="0"/>
      <p:bldP spid="15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The Product Rule – Example 2</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90" y="1248697"/>
            <a:ext cx="8392901" cy="5400581"/>
          </a:xfrm>
        </p:spPr>
        <p:txBody>
          <a:bodyPr>
            <a:normAutofit/>
          </a:bodyPr>
          <a:lstStyle/>
          <a:p>
            <a:pPr marL="0" indent="0">
              <a:buNone/>
            </a:pPr>
            <a:r>
              <a:rPr lang="en-US" b="1" dirty="0"/>
              <a:t>Ques:- </a:t>
            </a:r>
            <a:r>
              <a:rPr lang="en-US" dirty="0"/>
              <a:t>A new company with just two employees, Sanchez and Patel, rents a floor of a building with 12 offices. How many ways are there to assign different offices to these two employees?</a:t>
            </a:r>
          </a:p>
          <a:p>
            <a:pPr marL="0" indent="0">
              <a:buNone/>
            </a:pPr>
            <a:endParaRPr lang="en-US" dirty="0"/>
          </a:p>
          <a:p>
            <a:pPr marL="0" indent="0">
              <a:buNone/>
            </a:pPr>
            <a:r>
              <a:rPr lang="en-US" b="1" dirty="0"/>
              <a:t>Ans:- </a:t>
            </a:r>
            <a:r>
              <a:rPr lang="en-US" dirty="0"/>
              <a:t>By the product rule, there are 12 · 11 = 132 ways to assign offices to these two employees.</a:t>
            </a:r>
            <a:endParaRPr lang="en-IN" dirty="0"/>
          </a:p>
          <a:p>
            <a:pPr marL="0" indent="0">
              <a:buNone/>
            </a:pPr>
            <a:endParaRPr lang="en-IN" dirty="0"/>
          </a:p>
        </p:txBody>
      </p:sp>
    </p:spTree>
    <p:extLst>
      <p:ext uri="{BB962C8B-B14F-4D97-AF65-F5344CB8AC3E}">
        <p14:creationId xmlns:p14="http://schemas.microsoft.com/office/powerpoint/2010/main" val="1454138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4BB3DA-FA25-4E72-97F1-CC169DD8AFE8}"/>
              </a:ext>
            </a:extLst>
          </p:cNvPr>
          <p:cNvSpPr>
            <a:spLocks noGrp="1"/>
          </p:cNvSpPr>
          <p:nvPr>
            <p:ph type="title"/>
          </p:nvPr>
        </p:nvSpPr>
        <p:spPr/>
        <p:txBody>
          <a:bodyPr/>
          <a:lstStyle/>
          <a:p>
            <a:r>
              <a:rPr lang="en-IN" dirty="0"/>
              <a:t>The Product Rule – Example 2</a:t>
            </a:r>
          </a:p>
        </p:txBody>
      </p:sp>
      <p:sp>
        <p:nvSpPr>
          <p:cNvPr id="12" name="TextBox 11">
            <a:extLst>
              <a:ext uri="{FF2B5EF4-FFF2-40B4-BE49-F238E27FC236}">
                <a16:creationId xmlns:a16="http://schemas.microsoft.com/office/drawing/2014/main" id="{704EE1EB-1F15-43AF-8A62-535102F36467}"/>
              </a:ext>
            </a:extLst>
          </p:cNvPr>
          <p:cNvSpPr txBox="1"/>
          <p:nvPr/>
        </p:nvSpPr>
        <p:spPr>
          <a:xfrm>
            <a:off x="213691" y="1192696"/>
            <a:ext cx="8716618" cy="830997"/>
          </a:xfrm>
          <a:prstGeom prst="rect">
            <a:avLst/>
          </a:prstGeom>
          <a:noFill/>
        </p:spPr>
        <p:txBody>
          <a:bodyPr wrap="square" rtlCol="0">
            <a:spAutoFit/>
          </a:bodyPr>
          <a:lstStyle/>
          <a:p>
            <a:r>
              <a:rPr lang="en-IN" sz="2400" dirty="0"/>
              <a:t>12 Offices = {Office 1, Office 2, Office 3, Office 4, Office 5, Office 6, Office 7, Office 8, Office 9, Office 10, Office 11, Office 12}</a:t>
            </a:r>
          </a:p>
        </p:txBody>
      </p:sp>
      <p:sp>
        <p:nvSpPr>
          <p:cNvPr id="13" name="Oval 12">
            <a:extLst>
              <a:ext uri="{FF2B5EF4-FFF2-40B4-BE49-F238E27FC236}">
                <a16:creationId xmlns:a16="http://schemas.microsoft.com/office/drawing/2014/main" id="{8DDF3842-C2D4-44D3-9761-E7AF6F92D394}"/>
              </a:ext>
            </a:extLst>
          </p:cNvPr>
          <p:cNvSpPr/>
          <p:nvPr/>
        </p:nvSpPr>
        <p:spPr>
          <a:xfrm>
            <a:off x="393290" y="2959122"/>
            <a:ext cx="1381539" cy="2176670"/>
          </a:xfrm>
          <a:prstGeom prst="ellipse">
            <a:avLst/>
          </a:prstGeom>
          <a:solidFill>
            <a:schemeClr val="bg1"/>
          </a:solidFill>
          <a:ln w="57150">
            <a:solidFill>
              <a:srgbClr val="00B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63E8D0DC-D44F-4E94-8225-43E443FE7997}"/>
              </a:ext>
            </a:extLst>
          </p:cNvPr>
          <p:cNvSpPr/>
          <p:nvPr/>
        </p:nvSpPr>
        <p:spPr>
          <a:xfrm>
            <a:off x="2276062" y="1995314"/>
            <a:ext cx="3081130" cy="4634086"/>
          </a:xfrm>
          <a:prstGeom prst="ellipse">
            <a:avLst/>
          </a:prstGeom>
          <a:solidFill>
            <a:schemeClr val="bg1"/>
          </a:solidFill>
          <a:ln w="57150">
            <a:solidFill>
              <a:srgbClr val="00B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CFDC2D19-E495-42D3-9C8B-71EC40498D9C}"/>
              </a:ext>
            </a:extLst>
          </p:cNvPr>
          <p:cNvSpPr txBox="1"/>
          <p:nvPr/>
        </p:nvSpPr>
        <p:spPr>
          <a:xfrm>
            <a:off x="437323" y="3429000"/>
            <a:ext cx="1381539" cy="461665"/>
          </a:xfrm>
          <a:prstGeom prst="rect">
            <a:avLst/>
          </a:prstGeom>
          <a:noFill/>
        </p:spPr>
        <p:txBody>
          <a:bodyPr wrap="square" rtlCol="0">
            <a:spAutoFit/>
          </a:bodyPr>
          <a:lstStyle/>
          <a:p>
            <a:r>
              <a:rPr lang="en-IN" sz="2400" dirty="0"/>
              <a:t>Sanchez</a:t>
            </a:r>
          </a:p>
        </p:txBody>
      </p:sp>
      <p:sp>
        <p:nvSpPr>
          <p:cNvPr id="16" name="TextBox 15">
            <a:extLst>
              <a:ext uri="{FF2B5EF4-FFF2-40B4-BE49-F238E27FC236}">
                <a16:creationId xmlns:a16="http://schemas.microsoft.com/office/drawing/2014/main" id="{DEDC9246-0B17-4170-8BEB-658A44542AE8}"/>
              </a:ext>
            </a:extLst>
          </p:cNvPr>
          <p:cNvSpPr txBox="1"/>
          <p:nvPr/>
        </p:nvSpPr>
        <p:spPr>
          <a:xfrm>
            <a:off x="653845" y="4057249"/>
            <a:ext cx="1381539" cy="461665"/>
          </a:xfrm>
          <a:prstGeom prst="rect">
            <a:avLst/>
          </a:prstGeom>
          <a:noFill/>
        </p:spPr>
        <p:txBody>
          <a:bodyPr wrap="square" rtlCol="0">
            <a:spAutoFit/>
          </a:bodyPr>
          <a:lstStyle/>
          <a:p>
            <a:r>
              <a:rPr lang="en-IN" sz="2400" dirty="0"/>
              <a:t>Patel</a:t>
            </a:r>
          </a:p>
        </p:txBody>
      </p:sp>
      <p:sp>
        <p:nvSpPr>
          <p:cNvPr id="17" name="TextBox 16">
            <a:extLst>
              <a:ext uri="{FF2B5EF4-FFF2-40B4-BE49-F238E27FC236}">
                <a16:creationId xmlns:a16="http://schemas.microsoft.com/office/drawing/2014/main" id="{1A07D09F-777A-48FF-81D6-5F9A3E34AF88}"/>
              </a:ext>
            </a:extLst>
          </p:cNvPr>
          <p:cNvSpPr txBox="1"/>
          <p:nvPr/>
        </p:nvSpPr>
        <p:spPr>
          <a:xfrm>
            <a:off x="3190461" y="2023693"/>
            <a:ext cx="1381539" cy="4524315"/>
          </a:xfrm>
          <a:prstGeom prst="rect">
            <a:avLst/>
          </a:prstGeom>
          <a:noFill/>
        </p:spPr>
        <p:txBody>
          <a:bodyPr wrap="square" rtlCol="0">
            <a:spAutoFit/>
          </a:bodyPr>
          <a:lstStyle/>
          <a:p>
            <a:r>
              <a:rPr lang="en-IN" sz="2400" dirty="0"/>
              <a:t>0ffice 1</a:t>
            </a:r>
          </a:p>
          <a:p>
            <a:r>
              <a:rPr lang="en-IN" sz="2400" dirty="0"/>
              <a:t>0ffice 2</a:t>
            </a:r>
          </a:p>
          <a:p>
            <a:r>
              <a:rPr lang="en-IN" sz="2400" dirty="0"/>
              <a:t>0ffice 3</a:t>
            </a:r>
          </a:p>
          <a:p>
            <a:r>
              <a:rPr lang="en-IN" sz="2400" dirty="0"/>
              <a:t>0ffice 4</a:t>
            </a:r>
          </a:p>
          <a:p>
            <a:r>
              <a:rPr lang="en-IN" sz="2400" dirty="0"/>
              <a:t>0ffice 5</a:t>
            </a:r>
          </a:p>
          <a:p>
            <a:r>
              <a:rPr lang="en-IN" sz="2400" dirty="0"/>
              <a:t>0ffice 6</a:t>
            </a:r>
          </a:p>
          <a:p>
            <a:r>
              <a:rPr lang="en-IN" sz="2400" dirty="0"/>
              <a:t>0ffice 7</a:t>
            </a:r>
          </a:p>
          <a:p>
            <a:r>
              <a:rPr lang="en-IN" sz="2400" dirty="0"/>
              <a:t>0ffice 8</a:t>
            </a:r>
          </a:p>
          <a:p>
            <a:r>
              <a:rPr lang="en-IN" sz="2400" dirty="0"/>
              <a:t>0ffice 9</a:t>
            </a:r>
          </a:p>
          <a:p>
            <a:r>
              <a:rPr lang="en-IN" sz="2400" dirty="0"/>
              <a:t>0ffice 10</a:t>
            </a:r>
          </a:p>
          <a:p>
            <a:r>
              <a:rPr lang="en-IN" sz="2400" dirty="0"/>
              <a:t>0ffice 11</a:t>
            </a:r>
          </a:p>
          <a:p>
            <a:r>
              <a:rPr lang="en-IN" sz="2400" dirty="0"/>
              <a:t>0ffice 12</a:t>
            </a:r>
          </a:p>
        </p:txBody>
      </p:sp>
      <p:cxnSp>
        <p:nvCxnSpPr>
          <p:cNvPr id="19" name="Straight Arrow Connector 18">
            <a:extLst>
              <a:ext uri="{FF2B5EF4-FFF2-40B4-BE49-F238E27FC236}">
                <a16:creationId xmlns:a16="http://schemas.microsoft.com/office/drawing/2014/main" id="{A12B5B84-F5EB-4B5B-9604-9A75EEC3FAE9}"/>
              </a:ext>
            </a:extLst>
          </p:cNvPr>
          <p:cNvCxnSpPr>
            <a:stCxn id="15" idx="3"/>
          </p:cNvCxnSpPr>
          <p:nvPr/>
        </p:nvCxnSpPr>
        <p:spPr>
          <a:xfrm flipV="1">
            <a:off x="1818862" y="2325757"/>
            <a:ext cx="1371599" cy="1334076"/>
          </a:xfrm>
          <a:prstGeom prst="straightConnector1">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09315EF4-56F7-456A-B16F-291D9C137C18}"/>
              </a:ext>
            </a:extLst>
          </p:cNvPr>
          <p:cNvCxnSpPr>
            <a:cxnSpLocks/>
          </p:cNvCxnSpPr>
          <p:nvPr/>
        </p:nvCxnSpPr>
        <p:spPr>
          <a:xfrm flipV="1">
            <a:off x="1649896" y="2643809"/>
            <a:ext cx="1540565" cy="1639956"/>
          </a:xfrm>
          <a:prstGeom prst="straightConnector1">
            <a:avLst/>
          </a:prstGeom>
          <a:ln w="57150">
            <a:solidFill>
              <a:srgbClr val="BA202B"/>
            </a:solidFill>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C4D151E5-2717-4EFF-8FBC-DD5E059D8FDC}"/>
              </a:ext>
            </a:extLst>
          </p:cNvPr>
          <p:cNvCxnSpPr>
            <a:cxnSpLocks/>
          </p:cNvCxnSpPr>
          <p:nvPr/>
        </p:nvCxnSpPr>
        <p:spPr>
          <a:xfrm flipV="1">
            <a:off x="1695316" y="2992795"/>
            <a:ext cx="1495145" cy="1287154"/>
          </a:xfrm>
          <a:prstGeom prst="straightConnector1">
            <a:avLst/>
          </a:prstGeom>
          <a:ln w="57150">
            <a:solidFill>
              <a:srgbClr val="BA202B"/>
            </a:solidFill>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F171D568-0158-4AF9-8DC8-FD35E10005AC}"/>
              </a:ext>
            </a:extLst>
          </p:cNvPr>
          <p:cNvCxnSpPr>
            <a:cxnSpLocks/>
          </p:cNvCxnSpPr>
          <p:nvPr/>
        </p:nvCxnSpPr>
        <p:spPr>
          <a:xfrm flipV="1">
            <a:off x="1649896" y="3429000"/>
            <a:ext cx="1610139" cy="883145"/>
          </a:xfrm>
          <a:prstGeom prst="straightConnector1">
            <a:avLst/>
          </a:prstGeom>
          <a:ln w="57150">
            <a:solidFill>
              <a:srgbClr val="BA202B"/>
            </a:solidFill>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E5CC3C99-291D-4BE2-B10B-E1C085587EDC}"/>
              </a:ext>
            </a:extLst>
          </p:cNvPr>
          <p:cNvCxnSpPr>
            <a:cxnSpLocks/>
          </p:cNvCxnSpPr>
          <p:nvPr/>
        </p:nvCxnSpPr>
        <p:spPr>
          <a:xfrm flipV="1">
            <a:off x="1580322" y="3826370"/>
            <a:ext cx="1610139" cy="500501"/>
          </a:xfrm>
          <a:prstGeom prst="straightConnector1">
            <a:avLst/>
          </a:prstGeom>
          <a:ln w="57150">
            <a:solidFill>
              <a:srgbClr val="BA202B"/>
            </a:solidFill>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5D038152-29F4-4030-A21A-69163E532A81}"/>
              </a:ext>
            </a:extLst>
          </p:cNvPr>
          <p:cNvCxnSpPr>
            <a:cxnSpLocks/>
          </p:cNvCxnSpPr>
          <p:nvPr/>
        </p:nvCxnSpPr>
        <p:spPr>
          <a:xfrm flipV="1">
            <a:off x="1580322" y="4057249"/>
            <a:ext cx="1679713" cy="278944"/>
          </a:xfrm>
          <a:prstGeom prst="straightConnector1">
            <a:avLst/>
          </a:prstGeom>
          <a:ln w="57150">
            <a:solidFill>
              <a:srgbClr val="BA202B"/>
            </a:solidFill>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ED1686B7-05AD-45B3-ACCA-D9A6E6743670}"/>
              </a:ext>
            </a:extLst>
          </p:cNvPr>
          <p:cNvCxnSpPr>
            <a:cxnSpLocks/>
          </p:cNvCxnSpPr>
          <p:nvPr/>
        </p:nvCxnSpPr>
        <p:spPr>
          <a:xfrm>
            <a:off x="1622911" y="4336193"/>
            <a:ext cx="1599505" cy="142536"/>
          </a:xfrm>
          <a:prstGeom prst="straightConnector1">
            <a:avLst/>
          </a:prstGeom>
          <a:ln w="57150">
            <a:solidFill>
              <a:srgbClr val="BA202B"/>
            </a:solidFill>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A24D9E9D-66CC-4057-8B8C-C25AF133B9BD}"/>
              </a:ext>
            </a:extLst>
          </p:cNvPr>
          <p:cNvCxnSpPr>
            <a:cxnSpLocks/>
          </p:cNvCxnSpPr>
          <p:nvPr/>
        </p:nvCxnSpPr>
        <p:spPr>
          <a:xfrm>
            <a:off x="1542703" y="4336193"/>
            <a:ext cx="1679713" cy="505495"/>
          </a:xfrm>
          <a:prstGeom prst="straightConnector1">
            <a:avLst/>
          </a:prstGeom>
          <a:ln w="57150">
            <a:solidFill>
              <a:srgbClr val="BA202B"/>
            </a:solidFill>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F671FC62-2B8F-4F40-80AF-5629155B8A57}"/>
              </a:ext>
            </a:extLst>
          </p:cNvPr>
          <p:cNvCxnSpPr>
            <a:cxnSpLocks/>
          </p:cNvCxnSpPr>
          <p:nvPr/>
        </p:nvCxnSpPr>
        <p:spPr>
          <a:xfrm>
            <a:off x="1542703" y="4385781"/>
            <a:ext cx="1647758" cy="829597"/>
          </a:xfrm>
          <a:prstGeom prst="straightConnector1">
            <a:avLst/>
          </a:prstGeom>
          <a:ln w="57150">
            <a:solidFill>
              <a:srgbClr val="BA202B"/>
            </a:solidFill>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73F98D74-B552-43BF-AB2B-6C653CA6420E}"/>
              </a:ext>
            </a:extLst>
          </p:cNvPr>
          <p:cNvCxnSpPr>
            <a:cxnSpLocks/>
          </p:cNvCxnSpPr>
          <p:nvPr/>
        </p:nvCxnSpPr>
        <p:spPr>
          <a:xfrm>
            <a:off x="1542703" y="4385781"/>
            <a:ext cx="1717332" cy="1186216"/>
          </a:xfrm>
          <a:prstGeom prst="straightConnector1">
            <a:avLst/>
          </a:prstGeom>
          <a:ln w="57150">
            <a:solidFill>
              <a:srgbClr val="BA202B"/>
            </a:solidFill>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0B8A40BC-D367-413D-8576-C3AD175D9F3C}"/>
              </a:ext>
            </a:extLst>
          </p:cNvPr>
          <p:cNvCxnSpPr>
            <a:cxnSpLocks/>
          </p:cNvCxnSpPr>
          <p:nvPr/>
        </p:nvCxnSpPr>
        <p:spPr>
          <a:xfrm>
            <a:off x="1542703" y="4407461"/>
            <a:ext cx="1717332" cy="1530949"/>
          </a:xfrm>
          <a:prstGeom prst="straightConnector1">
            <a:avLst/>
          </a:prstGeom>
          <a:ln w="57150">
            <a:solidFill>
              <a:srgbClr val="BA202B"/>
            </a:solidFill>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E3E7F510-3929-4AC7-8759-4BCC83D8F2B7}"/>
              </a:ext>
            </a:extLst>
          </p:cNvPr>
          <p:cNvCxnSpPr>
            <a:cxnSpLocks/>
          </p:cNvCxnSpPr>
          <p:nvPr/>
        </p:nvCxnSpPr>
        <p:spPr>
          <a:xfrm>
            <a:off x="1542703" y="4382141"/>
            <a:ext cx="1717332" cy="1886682"/>
          </a:xfrm>
          <a:prstGeom prst="straightConnector1">
            <a:avLst/>
          </a:prstGeom>
          <a:ln w="57150">
            <a:solidFill>
              <a:srgbClr val="BA202B"/>
            </a:solidFill>
            <a:tailEnd type="triangle"/>
          </a:ln>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B3ABD7D9-A8B5-4FBB-B2E3-D64342748D3C}"/>
              </a:ext>
            </a:extLst>
          </p:cNvPr>
          <p:cNvSpPr txBox="1"/>
          <p:nvPr/>
        </p:nvSpPr>
        <p:spPr>
          <a:xfrm>
            <a:off x="5483914" y="2234653"/>
            <a:ext cx="1575353" cy="4154984"/>
          </a:xfrm>
          <a:prstGeom prst="rect">
            <a:avLst/>
          </a:prstGeom>
          <a:noFill/>
        </p:spPr>
        <p:txBody>
          <a:bodyPr wrap="square" rtlCol="0">
            <a:spAutoFit/>
          </a:bodyPr>
          <a:lstStyle/>
          <a:p>
            <a:r>
              <a:rPr lang="en-IN" sz="2200" dirty="0"/>
              <a:t>S1P1   </a:t>
            </a:r>
            <a:r>
              <a:rPr lang="en-IN" sz="2200" dirty="0">
                <a:solidFill>
                  <a:srgbClr val="FF0000"/>
                </a:solidFill>
              </a:rPr>
              <a:t>NOT</a:t>
            </a:r>
          </a:p>
          <a:p>
            <a:r>
              <a:rPr lang="en-IN" sz="2200" dirty="0"/>
              <a:t>S1P2	or</a:t>
            </a:r>
          </a:p>
          <a:p>
            <a:r>
              <a:rPr lang="en-IN" sz="2200" dirty="0"/>
              <a:t>S1P3	or</a:t>
            </a:r>
          </a:p>
          <a:p>
            <a:r>
              <a:rPr lang="en-IN" sz="2200" dirty="0"/>
              <a:t>S1P4	or</a:t>
            </a:r>
          </a:p>
          <a:p>
            <a:r>
              <a:rPr lang="en-IN" sz="2200" dirty="0"/>
              <a:t>S1P5	or</a:t>
            </a:r>
          </a:p>
          <a:p>
            <a:r>
              <a:rPr lang="en-IN" sz="2200" dirty="0"/>
              <a:t>S1P6	or</a:t>
            </a:r>
          </a:p>
          <a:p>
            <a:r>
              <a:rPr lang="en-IN" sz="2200" dirty="0"/>
              <a:t>S1P7	or</a:t>
            </a:r>
          </a:p>
          <a:p>
            <a:r>
              <a:rPr lang="en-IN" sz="2200" dirty="0"/>
              <a:t>S1P8	or</a:t>
            </a:r>
          </a:p>
          <a:p>
            <a:r>
              <a:rPr lang="en-IN" sz="2200" dirty="0"/>
              <a:t>S1P9	or</a:t>
            </a:r>
          </a:p>
          <a:p>
            <a:r>
              <a:rPr lang="en-IN" sz="2200" dirty="0"/>
              <a:t>S1P10	or</a:t>
            </a:r>
          </a:p>
          <a:p>
            <a:r>
              <a:rPr lang="en-IN" sz="2200" dirty="0"/>
              <a:t>S1P11	or</a:t>
            </a:r>
          </a:p>
          <a:p>
            <a:r>
              <a:rPr lang="en-IN" sz="2200" dirty="0"/>
              <a:t>S1P12.</a:t>
            </a:r>
          </a:p>
        </p:txBody>
      </p:sp>
      <p:sp>
        <p:nvSpPr>
          <p:cNvPr id="56" name="TextBox 55">
            <a:extLst>
              <a:ext uri="{FF2B5EF4-FFF2-40B4-BE49-F238E27FC236}">
                <a16:creationId xmlns:a16="http://schemas.microsoft.com/office/drawing/2014/main" id="{95D43421-928F-471A-B17D-EA5756B2E6D5}"/>
              </a:ext>
            </a:extLst>
          </p:cNvPr>
          <p:cNvSpPr txBox="1"/>
          <p:nvPr/>
        </p:nvSpPr>
        <p:spPr>
          <a:xfrm>
            <a:off x="7175357" y="1969965"/>
            <a:ext cx="1575353" cy="4154984"/>
          </a:xfrm>
          <a:prstGeom prst="rect">
            <a:avLst/>
          </a:prstGeom>
          <a:noFill/>
        </p:spPr>
        <p:txBody>
          <a:bodyPr wrap="square" rtlCol="0">
            <a:spAutoFit/>
          </a:bodyPr>
          <a:lstStyle/>
          <a:p>
            <a:r>
              <a:rPr lang="en-IN" sz="2200" dirty="0"/>
              <a:t>S2P1	or</a:t>
            </a:r>
          </a:p>
          <a:p>
            <a:r>
              <a:rPr lang="en-IN" sz="2200" dirty="0"/>
              <a:t>S2P2  </a:t>
            </a:r>
            <a:r>
              <a:rPr lang="en-IN" sz="2200" dirty="0">
                <a:solidFill>
                  <a:srgbClr val="FF0000"/>
                </a:solidFill>
              </a:rPr>
              <a:t>NOT</a:t>
            </a:r>
          </a:p>
          <a:p>
            <a:r>
              <a:rPr lang="en-IN" sz="2200" dirty="0"/>
              <a:t>S2P3	or</a:t>
            </a:r>
          </a:p>
          <a:p>
            <a:r>
              <a:rPr lang="en-IN" sz="2200" dirty="0"/>
              <a:t>S2P4	or</a:t>
            </a:r>
          </a:p>
          <a:p>
            <a:r>
              <a:rPr lang="en-IN" sz="2200" dirty="0"/>
              <a:t>S2P5	or</a:t>
            </a:r>
          </a:p>
          <a:p>
            <a:r>
              <a:rPr lang="en-IN" sz="2200" dirty="0"/>
              <a:t>S2P6	or</a:t>
            </a:r>
          </a:p>
          <a:p>
            <a:r>
              <a:rPr lang="en-IN" sz="2200" dirty="0"/>
              <a:t>S2P7	or</a:t>
            </a:r>
          </a:p>
          <a:p>
            <a:r>
              <a:rPr lang="en-IN" sz="2200" dirty="0"/>
              <a:t>S2P8	or</a:t>
            </a:r>
          </a:p>
          <a:p>
            <a:r>
              <a:rPr lang="en-IN" sz="2200" dirty="0"/>
              <a:t>S2P9	or</a:t>
            </a:r>
          </a:p>
          <a:p>
            <a:r>
              <a:rPr lang="en-IN" sz="2200" dirty="0"/>
              <a:t>S2P10	or</a:t>
            </a:r>
          </a:p>
          <a:p>
            <a:r>
              <a:rPr lang="en-IN" sz="2200" dirty="0"/>
              <a:t>S2P11	or</a:t>
            </a:r>
          </a:p>
          <a:p>
            <a:r>
              <a:rPr lang="en-IN" sz="2200" dirty="0"/>
              <a:t>S2P12.</a:t>
            </a:r>
          </a:p>
        </p:txBody>
      </p:sp>
    </p:spTree>
    <p:extLst>
      <p:ext uri="{BB962C8B-B14F-4D97-AF65-F5344CB8AC3E}">
        <p14:creationId xmlns:p14="http://schemas.microsoft.com/office/powerpoint/2010/main" val="2891362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animBg="1"/>
      <p:bldP spid="14" grpId="0" animBg="1"/>
      <p:bldP spid="15" grpId="0"/>
      <p:bldP spid="16" grpId="0"/>
      <p:bldP spid="17" grpId="0"/>
      <p:bldP spid="55" grpId="0"/>
      <p:bldP spid="5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4BB3DA-FA25-4E72-97F1-CC169DD8AFE8}"/>
              </a:ext>
            </a:extLst>
          </p:cNvPr>
          <p:cNvSpPr>
            <a:spLocks noGrp="1"/>
          </p:cNvSpPr>
          <p:nvPr>
            <p:ph type="title"/>
          </p:nvPr>
        </p:nvSpPr>
        <p:spPr/>
        <p:txBody>
          <a:bodyPr/>
          <a:lstStyle/>
          <a:p>
            <a:r>
              <a:rPr lang="en-IN" dirty="0"/>
              <a:t>The Product Rule – Example 2 </a:t>
            </a:r>
          </a:p>
        </p:txBody>
      </p:sp>
      <p:sp>
        <p:nvSpPr>
          <p:cNvPr id="55" name="TextBox 54">
            <a:extLst>
              <a:ext uri="{FF2B5EF4-FFF2-40B4-BE49-F238E27FC236}">
                <a16:creationId xmlns:a16="http://schemas.microsoft.com/office/drawing/2014/main" id="{B3ABD7D9-A8B5-4FBB-B2E3-D64342748D3C}"/>
              </a:ext>
            </a:extLst>
          </p:cNvPr>
          <p:cNvSpPr txBox="1"/>
          <p:nvPr/>
        </p:nvSpPr>
        <p:spPr>
          <a:xfrm>
            <a:off x="632806" y="1323516"/>
            <a:ext cx="1787914" cy="4524315"/>
          </a:xfrm>
          <a:prstGeom prst="rect">
            <a:avLst/>
          </a:prstGeom>
          <a:noFill/>
        </p:spPr>
        <p:txBody>
          <a:bodyPr wrap="square" rtlCol="0">
            <a:spAutoFit/>
          </a:bodyPr>
          <a:lstStyle/>
          <a:p>
            <a:r>
              <a:rPr lang="en-IN" sz="2400" dirty="0"/>
              <a:t>S1P1   </a:t>
            </a:r>
            <a:r>
              <a:rPr lang="en-IN" sz="2400" dirty="0">
                <a:solidFill>
                  <a:srgbClr val="FF0000"/>
                </a:solidFill>
              </a:rPr>
              <a:t>NOT</a:t>
            </a:r>
          </a:p>
          <a:p>
            <a:r>
              <a:rPr lang="en-IN" sz="2400" dirty="0"/>
              <a:t>S1P2	or</a:t>
            </a:r>
          </a:p>
          <a:p>
            <a:r>
              <a:rPr lang="en-IN" sz="2400" dirty="0"/>
              <a:t>S1P3	or</a:t>
            </a:r>
          </a:p>
          <a:p>
            <a:r>
              <a:rPr lang="en-IN" sz="2400" dirty="0"/>
              <a:t>S1P4	or</a:t>
            </a:r>
          </a:p>
          <a:p>
            <a:r>
              <a:rPr lang="en-IN" sz="2400" dirty="0"/>
              <a:t>S1P5	or</a:t>
            </a:r>
          </a:p>
          <a:p>
            <a:r>
              <a:rPr lang="en-IN" sz="2400" dirty="0"/>
              <a:t>S1P6	or</a:t>
            </a:r>
          </a:p>
          <a:p>
            <a:r>
              <a:rPr lang="en-IN" sz="2400" dirty="0"/>
              <a:t>S1P7	or</a:t>
            </a:r>
          </a:p>
          <a:p>
            <a:r>
              <a:rPr lang="en-IN" sz="2400" dirty="0"/>
              <a:t>S1P8	or</a:t>
            </a:r>
          </a:p>
          <a:p>
            <a:r>
              <a:rPr lang="en-IN" sz="2400" dirty="0"/>
              <a:t>S1P9	or</a:t>
            </a:r>
          </a:p>
          <a:p>
            <a:r>
              <a:rPr lang="en-IN" sz="2400" dirty="0"/>
              <a:t>S1P10	or</a:t>
            </a:r>
          </a:p>
          <a:p>
            <a:r>
              <a:rPr lang="en-IN" sz="2400" dirty="0"/>
              <a:t>S1P11	or</a:t>
            </a:r>
          </a:p>
          <a:p>
            <a:r>
              <a:rPr lang="en-IN" sz="2400" dirty="0"/>
              <a:t>S1P12.</a:t>
            </a:r>
          </a:p>
        </p:txBody>
      </p:sp>
      <p:sp>
        <p:nvSpPr>
          <p:cNvPr id="56" name="TextBox 55">
            <a:extLst>
              <a:ext uri="{FF2B5EF4-FFF2-40B4-BE49-F238E27FC236}">
                <a16:creationId xmlns:a16="http://schemas.microsoft.com/office/drawing/2014/main" id="{95D43421-928F-471A-B17D-EA5756B2E6D5}"/>
              </a:ext>
            </a:extLst>
          </p:cNvPr>
          <p:cNvSpPr txBox="1"/>
          <p:nvPr/>
        </p:nvSpPr>
        <p:spPr>
          <a:xfrm>
            <a:off x="2672119" y="1323516"/>
            <a:ext cx="1787914" cy="4524315"/>
          </a:xfrm>
          <a:prstGeom prst="rect">
            <a:avLst/>
          </a:prstGeom>
          <a:noFill/>
        </p:spPr>
        <p:txBody>
          <a:bodyPr wrap="square" rtlCol="0">
            <a:spAutoFit/>
          </a:bodyPr>
          <a:lstStyle/>
          <a:p>
            <a:r>
              <a:rPr lang="en-IN" sz="2400" dirty="0"/>
              <a:t>S2P1	or</a:t>
            </a:r>
          </a:p>
          <a:p>
            <a:r>
              <a:rPr lang="en-IN" sz="2400" dirty="0"/>
              <a:t>S2P2  </a:t>
            </a:r>
            <a:r>
              <a:rPr lang="en-IN" sz="2400" dirty="0">
                <a:solidFill>
                  <a:srgbClr val="FF0000"/>
                </a:solidFill>
              </a:rPr>
              <a:t>NOT</a:t>
            </a:r>
          </a:p>
          <a:p>
            <a:r>
              <a:rPr lang="en-IN" sz="2400" dirty="0"/>
              <a:t>S2P3	or</a:t>
            </a:r>
          </a:p>
          <a:p>
            <a:r>
              <a:rPr lang="en-IN" sz="2400" dirty="0"/>
              <a:t>S2P4	or</a:t>
            </a:r>
          </a:p>
          <a:p>
            <a:r>
              <a:rPr lang="en-IN" sz="2400" dirty="0"/>
              <a:t>S2P5	or</a:t>
            </a:r>
          </a:p>
          <a:p>
            <a:r>
              <a:rPr lang="en-IN" sz="2400" dirty="0"/>
              <a:t>S2P6	or</a:t>
            </a:r>
          </a:p>
          <a:p>
            <a:r>
              <a:rPr lang="en-IN" sz="2400" dirty="0"/>
              <a:t>S2P7	or</a:t>
            </a:r>
          </a:p>
          <a:p>
            <a:r>
              <a:rPr lang="en-IN" sz="2400" dirty="0"/>
              <a:t>S2P8	or</a:t>
            </a:r>
          </a:p>
          <a:p>
            <a:r>
              <a:rPr lang="en-IN" sz="2400" dirty="0"/>
              <a:t>S2P9	or</a:t>
            </a:r>
          </a:p>
          <a:p>
            <a:r>
              <a:rPr lang="en-IN" sz="2400" dirty="0"/>
              <a:t>S2P10	or</a:t>
            </a:r>
          </a:p>
          <a:p>
            <a:r>
              <a:rPr lang="en-IN" sz="2400" dirty="0"/>
              <a:t>S2P11	or</a:t>
            </a:r>
          </a:p>
          <a:p>
            <a:r>
              <a:rPr lang="en-IN" sz="2400" dirty="0"/>
              <a:t>S2P12.</a:t>
            </a:r>
          </a:p>
        </p:txBody>
      </p:sp>
      <p:sp>
        <p:nvSpPr>
          <p:cNvPr id="26" name="TextBox 25">
            <a:extLst>
              <a:ext uri="{FF2B5EF4-FFF2-40B4-BE49-F238E27FC236}">
                <a16:creationId xmlns:a16="http://schemas.microsoft.com/office/drawing/2014/main" id="{B760DC23-BA2C-4555-AF22-D1651E466A02}"/>
              </a:ext>
            </a:extLst>
          </p:cNvPr>
          <p:cNvSpPr txBox="1"/>
          <p:nvPr/>
        </p:nvSpPr>
        <p:spPr>
          <a:xfrm>
            <a:off x="5241235" y="1905614"/>
            <a:ext cx="2763078" cy="1125244"/>
          </a:xfrm>
          <a:prstGeom prst="rect">
            <a:avLst/>
          </a:prstGeom>
          <a:noFill/>
        </p:spPr>
        <p:txBody>
          <a:bodyPr wrap="square" rtlCol="0">
            <a:spAutoFit/>
          </a:bodyPr>
          <a:lstStyle/>
          <a:p>
            <a:pPr>
              <a:lnSpc>
                <a:spcPct val="150000"/>
              </a:lnSpc>
            </a:pPr>
            <a:r>
              <a:rPr lang="en-IN" sz="2400" dirty="0"/>
              <a:t>With S3 11 ways</a:t>
            </a:r>
          </a:p>
          <a:p>
            <a:pPr>
              <a:lnSpc>
                <a:spcPct val="150000"/>
              </a:lnSpc>
            </a:pPr>
            <a:r>
              <a:rPr lang="en-IN" sz="2400" dirty="0"/>
              <a:t>With S4 11 ways</a:t>
            </a:r>
          </a:p>
        </p:txBody>
      </p:sp>
      <p:sp>
        <p:nvSpPr>
          <p:cNvPr id="8" name="TextBox 7">
            <a:extLst>
              <a:ext uri="{FF2B5EF4-FFF2-40B4-BE49-F238E27FC236}">
                <a16:creationId xmlns:a16="http://schemas.microsoft.com/office/drawing/2014/main" id="{EA76C510-81F5-49F4-9983-CC1DBAD9B789}"/>
              </a:ext>
            </a:extLst>
          </p:cNvPr>
          <p:cNvSpPr txBox="1"/>
          <p:nvPr/>
        </p:nvSpPr>
        <p:spPr>
          <a:xfrm>
            <a:off x="5241235" y="3016850"/>
            <a:ext cx="2763078" cy="1679242"/>
          </a:xfrm>
          <a:prstGeom prst="rect">
            <a:avLst/>
          </a:prstGeom>
          <a:noFill/>
        </p:spPr>
        <p:txBody>
          <a:bodyPr wrap="square" rtlCol="0">
            <a:spAutoFit/>
          </a:bodyPr>
          <a:lstStyle/>
          <a:p>
            <a:pPr>
              <a:lnSpc>
                <a:spcPct val="150000"/>
              </a:lnSpc>
            </a:pPr>
            <a:r>
              <a:rPr lang="en-IN" sz="2400" dirty="0"/>
              <a:t>Total= 11+ 11+11+11+11+11+11+……………..12 times</a:t>
            </a:r>
          </a:p>
        </p:txBody>
      </p:sp>
      <p:sp>
        <p:nvSpPr>
          <p:cNvPr id="9" name="TextBox 8">
            <a:extLst>
              <a:ext uri="{FF2B5EF4-FFF2-40B4-BE49-F238E27FC236}">
                <a16:creationId xmlns:a16="http://schemas.microsoft.com/office/drawing/2014/main" id="{2560003A-556E-4AC8-98A3-7469C585ACC4}"/>
              </a:ext>
            </a:extLst>
          </p:cNvPr>
          <p:cNvSpPr txBox="1"/>
          <p:nvPr/>
        </p:nvSpPr>
        <p:spPr>
          <a:xfrm>
            <a:off x="5326495" y="4816113"/>
            <a:ext cx="2763078" cy="830997"/>
          </a:xfrm>
          <a:prstGeom prst="rect">
            <a:avLst/>
          </a:prstGeom>
          <a:noFill/>
        </p:spPr>
        <p:txBody>
          <a:bodyPr wrap="square" rtlCol="0">
            <a:spAutoFit/>
          </a:bodyPr>
          <a:lstStyle/>
          <a:p>
            <a:r>
              <a:rPr lang="en-IN" sz="2400" b="1" dirty="0"/>
              <a:t>Total= 11*12=132 ways</a:t>
            </a:r>
          </a:p>
        </p:txBody>
      </p:sp>
    </p:spTree>
    <p:extLst>
      <p:ext uri="{BB962C8B-B14F-4D97-AF65-F5344CB8AC3E}">
        <p14:creationId xmlns:p14="http://schemas.microsoft.com/office/powerpoint/2010/main" val="294372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5" grpId="0"/>
      <p:bldP spid="56" grpId="0"/>
      <p:bldP spid="26"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The Product Rule – Example 3</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22539" y="1080001"/>
            <a:ext cx="8392901" cy="5400581"/>
          </a:xfrm>
        </p:spPr>
        <p:txBody>
          <a:bodyPr>
            <a:normAutofit/>
          </a:bodyPr>
          <a:lstStyle/>
          <a:p>
            <a:pPr marL="0" indent="0">
              <a:buNone/>
            </a:pPr>
            <a:r>
              <a:rPr lang="en-US" b="1" dirty="0"/>
              <a:t>Ques:- </a:t>
            </a:r>
            <a:r>
              <a:rPr lang="en-US" dirty="0"/>
              <a:t>There are 18 mathematics majors and 325 computer science majors at a college. </a:t>
            </a:r>
            <a:br>
              <a:rPr lang="en-US" dirty="0"/>
            </a:br>
            <a:r>
              <a:rPr lang="en-US" dirty="0"/>
              <a:t>In how many ways can two representatives be picked so that one is a mathematics major and the other is a computer science major?</a:t>
            </a:r>
            <a:endParaRPr lang="en-IN" dirty="0"/>
          </a:p>
        </p:txBody>
      </p:sp>
      <p:sp>
        <p:nvSpPr>
          <p:cNvPr id="10" name="Subtitle 2">
            <a:extLst>
              <a:ext uri="{FF2B5EF4-FFF2-40B4-BE49-F238E27FC236}">
                <a16:creationId xmlns:a16="http://schemas.microsoft.com/office/drawing/2014/main" id="{A51F1598-9FB5-48AA-90FB-263E548B4B8B}"/>
              </a:ext>
            </a:extLst>
          </p:cNvPr>
          <p:cNvSpPr txBox="1">
            <a:spLocks/>
          </p:cNvSpPr>
          <p:nvPr/>
        </p:nvSpPr>
        <p:spPr>
          <a:xfrm>
            <a:off x="251790" y="5105400"/>
            <a:ext cx="8534400" cy="1752600"/>
          </a:xfrm>
          <a:prstGeom prst="rect">
            <a:avLst/>
          </a:prstGeom>
        </p:spPr>
        <p:txBody>
          <a:bodyPr vert="horz" lIns="91440" tIns="45720" rIns="91440" bIns="45720" rtlCol="0">
            <a:normAutofit/>
          </a:bodyPr>
          <a:lstStyle>
            <a:lvl1pPr marL="228600" indent="-228600" algn="just" defTabSz="914400" rtl="0" eaLnBrk="1" latinLnBrk="0" hangingPunct="1">
              <a:lnSpc>
                <a:spcPct val="150000"/>
              </a:lnSpc>
              <a:spcBef>
                <a:spcPts val="1000"/>
              </a:spcBef>
              <a:buClr>
                <a:srgbClr val="00A2B8"/>
              </a:buClr>
              <a:buFont typeface="Arial" panose="020B0604020202020204" pitchFamily="34" charset="0"/>
              <a:buChar char="•"/>
              <a:defRPr sz="2800" kern="1200">
                <a:solidFill>
                  <a:schemeClr val="tx1"/>
                </a:solidFill>
                <a:latin typeface="+mn-lt"/>
                <a:ea typeface="+mn-ea"/>
                <a:cs typeface="+mn-cs"/>
              </a:defRPr>
            </a:lvl1pPr>
            <a:lvl2pPr marL="685800" indent="-228600" algn="just" defTabSz="914400" rtl="0" eaLnBrk="1" latinLnBrk="0" hangingPunct="1">
              <a:lnSpc>
                <a:spcPct val="150000"/>
              </a:lnSpc>
              <a:spcBef>
                <a:spcPts val="500"/>
              </a:spcBef>
              <a:buClr>
                <a:srgbClr val="00A2B8"/>
              </a:buClr>
              <a:buFont typeface="Arial" panose="020B0604020202020204" pitchFamily="34" charset="0"/>
              <a:buChar char="•"/>
              <a:defRPr sz="2400" kern="1200">
                <a:solidFill>
                  <a:schemeClr val="tx1"/>
                </a:solidFill>
                <a:latin typeface="+mn-lt"/>
                <a:ea typeface="+mn-ea"/>
                <a:cs typeface="+mn-cs"/>
              </a:defRPr>
            </a:lvl2pPr>
            <a:lvl3pPr marL="1143000" indent="-228600" algn="just" defTabSz="914400" rtl="0" eaLnBrk="1" latinLnBrk="0" hangingPunct="1">
              <a:lnSpc>
                <a:spcPct val="150000"/>
              </a:lnSpc>
              <a:spcBef>
                <a:spcPts val="500"/>
              </a:spcBef>
              <a:buClr>
                <a:srgbClr val="00A2B8"/>
              </a:buClr>
              <a:buFont typeface="Arial" panose="020B0604020202020204" pitchFamily="34" charset="0"/>
              <a:buChar char="•"/>
              <a:defRPr sz="2000" kern="1200">
                <a:solidFill>
                  <a:schemeClr val="tx1"/>
                </a:solidFill>
                <a:latin typeface="+mn-lt"/>
                <a:ea typeface="+mn-ea"/>
                <a:cs typeface="+mn-cs"/>
              </a:defRPr>
            </a:lvl3pPr>
            <a:lvl4pPr marL="1600200" indent="-228600" algn="just"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t>Ans:-</a:t>
            </a:r>
            <a:r>
              <a:rPr lang="en-IN" dirty="0"/>
              <a:t> 5850</a:t>
            </a:r>
          </a:p>
        </p:txBody>
      </p:sp>
    </p:spTree>
    <p:extLst>
      <p:ext uri="{BB962C8B-B14F-4D97-AF65-F5344CB8AC3E}">
        <p14:creationId xmlns:p14="http://schemas.microsoft.com/office/powerpoint/2010/main" val="527259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The Product Rule – Example 3</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22539" y="1080001"/>
            <a:ext cx="8534400" cy="1255695"/>
          </a:xfrm>
        </p:spPr>
        <p:txBody>
          <a:bodyPr>
            <a:normAutofit lnSpcReduction="10000"/>
          </a:bodyPr>
          <a:lstStyle/>
          <a:p>
            <a:pPr marL="0" indent="0">
              <a:buNone/>
            </a:pPr>
            <a:r>
              <a:rPr lang="en-US" b="1" dirty="0"/>
              <a:t>Ques:- </a:t>
            </a:r>
            <a:r>
              <a:rPr lang="en-US" dirty="0"/>
              <a:t>There are 18 mathematics majors and 325 computer science majors at a college.</a:t>
            </a:r>
            <a:endParaRPr lang="en-IN" dirty="0"/>
          </a:p>
        </p:txBody>
      </p:sp>
      <p:sp>
        <p:nvSpPr>
          <p:cNvPr id="10" name="Subtitle 2">
            <a:extLst>
              <a:ext uri="{FF2B5EF4-FFF2-40B4-BE49-F238E27FC236}">
                <a16:creationId xmlns:a16="http://schemas.microsoft.com/office/drawing/2014/main" id="{A51F1598-9FB5-48AA-90FB-263E548B4B8B}"/>
              </a:ext>
            </a:extLst>
          </p:cNvPr>
          <p:cNvSpPr txBox="1">
            <a:spLocks/>
          </p:cNvSpPr>
          <p:nvPr/>
        </p:nvSpPr>
        <p:spPr>
          <a:xfrm>
            <a:off x="322539" y="2541104"/>
            <a:ext cx="2004393" cy="569843"/>
          </a:xfrm>
          <a:prstGeom prst="rect">
            <a:avLst/>
          </a:prstGeom>
        </p:spPr>
        <p:txBody>
          <a:bodyPr vert="horz" lIns="91440" tIns="45720" rIns="91440" bIns="45720" rtlCol="0">
            <a:normAutofit fontScale="92500" lnSpcReduction="20000"/>
          </a:bodyPr>
          <a:lstStyle>
            <a:lvl1pPr marL="228600" indent="-228600" algn="just" defTabSz="914400" rtl="0" eaLnBrk="1" latinLnBrk="0" hangingPunct="1">
              <a:lnSpc>
                <a:spcPct val="150000"/>
              </a:lnSpc>
              <a:spcBef>
                <a:spcPts val="1000"/>
              </a:spcBef>
              <a:buClr>
                <a:srgbClr val="00A2B8"/>
              </a:buClr>
              <a:buFont typeface="Arial" panose="020B0604020202020204" pitchFamily="34" charset="0"/>
              <a:buChar char="•"/>
              <a:defRPr sz="2800" kern="1200">
                <a:solidFill>
                  <a:schemeClr val="tx1"/>
                </a:solidFill>
                <a:latin typeface="+mn-lt"/>
                <a:ea typeface="+mn-ea"/>
                <a:cs typeface="+mn-cs"/>
              </a:defRPr>
            </a:lvl1pPr>
            <a:lvl2pPr marL="685800" indent="-228600" algn="just" defTabSz="914400" rtl="0" eaLnBrk="1" latinLnBrk="0" hangingPunct="1">
              <a:lnSpc>
                <a:spcPct val="150000"/>
              </a:lnSpc>
              <a:spcBef>
                <a:spcPts val="500"/>
              </a:spcBef>
              <a:buClr>
                <a:srgbClr val="00A2B8"/>
              </a:buClr>
              <a:buFont typeface="Arial" panose="020B0604020202020204" pitchFamily="34" charset="0"/>
              <a:buChar char="•"/>
              <a:defRPr sz="2400" kern="1200">
                <a:solidFill>
                  <a:schemeClr val="tx1"/>
                </a:solidFill>
                <a:latin typeface="+mn-lt"/>
                <a:ea typeface="+mn-ea"/>
                <a:cs typeface="+mn-cs"/>
              </a:defRPr>
            </a:lvl2pPr>
            <a:lvl3pPr marL="1143000" indent="-228600" algn="just" defTabSz="914400" rtl="0" eaLnBrk="1" latinLnBrk="0" hangingPunct="1">
              <a:lnSpc>
                <a:spcPct val="150000"/>
              </a:lnSpc>
              <a:spcBef>
                <a:spcPts val="500"/>
              </a:spcBef>
              <a:buClr>
                <a:srgbClr val="00A2B8"/>
              </a:buClr>
              <a:buFont typeface="Arial" panose="020B0604020202020204" pitchFamily="34" charset="0"/>
              <a:buChar char="•"/>
              <a:defRPr sz="2000" kern="1200">
                <a:solidFill>
                  <a:schemeClr val="tx1"/>
                </a:solidFill>
                <a:latin typeface="+mn-lt"/>
                <a:ea typeface="+mn-ea"/>
                <a:cs typeface="+mn-cs"/>
              </a:defRPr>
            </a:lvl3pPr>
            <a:lvl4pPr marL="1600200" indent="-228600" algn="just"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150000"/>
              </a:lnSpc>
              <a:spcBef>
                <a:spcPts val="500"/>
              </a:spcBef>
              <a:buClr>
                <a:srgbClr val="00A2B8"/>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t>Ans:-</a:t>
            </a:r>
            <a:r>
              <a:rPr lang="en-IN" dirty="0"/>
              <a:t> 5850</a:t>
            </a:r>
          </a:p>
        </p:txBody>
      </p:sp>
    </p:spTree>
    <p:extLst>
      <p:ext uri="{BB962C8B-B14F-4D97-AF65-F5344CB8AC3E}">
        <p14:creationId xmlns:p14="http://schemas.microsoft.com/office/powerpoint/2010/main" val="1802502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The Product Rule – Example 4</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fontScale="92500" lnSpcReduction="20000"/>
          </a:bodyPr>
          <a:lstStyle/>
          <a:p>
            <a:pPr marL="0" indent="0">
              <a:buNone/>
            </a:pPr>
            <a:r>
              <a:rPr lang="en-US" b="1" dirty="0"/>
              <a:t>Ques:- </a:t>
            </a:r>
            <a:r>
              <a:rPr lang="en-US" dirty="0"/>
              <a:t>The chairs of an auditorium are to be labeled with an uppercase English letter followed by a positive integer not exceeding 100. What is the largest number of chairs that can be labeled differently?</a:t>
            </a:r>
          </a:p>
          <a:p>
            <a:pPr marL="0" indent="0">
              <a:buNone/>
            </a:pPr>
            <a:endParaRPr lang="en-US" dirty="0"/>
          </a:p>
          <a:p>
            <a:pPr marL="0" indent="0">
              <a:buNone/>
            </a:pPr>
            <a:r>
              <a:rPr lang="en-US" b="1" dirty="0"/>
              <a:t>Sol:- </a:t>
            </a:r>
            <a:r>
              <a:rPr lang="en-US" dirty="0"/>
              <a:t>26 uppercase English letters, and then assigning to it one of the 100 possible integers.</a:t>
            </a:r>
          </a:p>
          <a:p>
            <a:pPr marL="0" indent="0">
              <a:buNone/>
            </a:pPr>
            <a:r>
              <a:rPr lang="en-US" dirty="0"/>
              <a:t>The product rule shows that there are 26 · 100 = 2600 different ways that a chair can be labeled</a:t>
            </a:r>
          </a:p>
          <a:p>
            <a:pPr marL="0" indent="0">
              <a:buNone/>
            </a:pPr>
            <a:endParaRPr lang="en-IN" dirty="0"/>
          </a:p>
        </p:txBody>
      </p:sp>
    </p:spTree>
    <p:extLst>
      <p:ext uri="{BB962C8B-B14F-4D97-AF65-F5344CB8AC3E}">
        <p14:creationId xmlns:p14="http://schemas.microsoft.com/office/powerpoint/2010/main" val="4243915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The Product Rule – Example 4</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2" cy="2483548"/>
          </a:xfrm>
        </p:spPr>
        <p:txBody>
          <a:bodyPr>
            <a:noAutofit/>
          </a:bodyPr>
          <a:lstStyle/>
          <a:p>
            <a:pPr marL="0" indent="0">
              <a:buNone/>
            </a:pPr>
            <a:r>
              <a:rPr lang="en-US" sz="2600" b="1" dirty="0"/>
              <a:t>Ques:- </a:t>
            </a:r>
            <a:r>
              <a:rPr lang="en-US" sz="2600" dirty="0"/>
              <a:t>The chairs of an auditorium are to be labeled with an uppercase English letter followed by a positive integer not exceeding 100. What is the largest number of chairs that can be labeled differently?</a:t>
            </a:r>
          </a:p>
        </p:txBody>
      </p:sp>
    </p:spTree>
    <p:extLst>
      <p:ext uri="{BB962C8B-B14F-4D97-AF65-F5344CB8AC3E}">
        <p14:creationId xmlns:p14="http://schemas.microsoft.com/office/powerpoint/2010/main" val="3431457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The Product Rule – Example 5</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lnSpcReduction="10000"/>
          </a:bodyPr>
          <a:lstStyle/>
          <a:p>
            <a:pPr marL="0" indent="0">
              <a:buNone/>
            </a:pPr>
            <a:r>
              <a:rPr lang="en-US" b="1" dirty="0"/>
              <a:t>Ques:- </a:t>
            </a:r>
            <a:r>
              <a:rPr lang="en-US" dirty="0"/>
              <a:t>How many different bit strings of length seven are there?</a:t>
            </a:r>
          </a:p>
          <a:p>
            <a:pPr marL="0" indent="0">
              <a:buNone/>
            </a:pPr>
            <a:endParaRPr lang="en-US" dirty="0"/>
          </a:p>
          <a:p>
            <a:pPr marL="0" indent="0">
              <a:buNone/>
            </a:pPr>
            <a:endParaRPr lang="en-US" dirty="0"/>
          </a:p>
          <a:p>
            <a:pPr marL="0" indent="0">
              <a:buNone/>
            </a:pPr>
            <a:r>
              <a:rPr lang="en-US" b="1" dirty="0"/>
              <a:t>Sol:- </a:t>
            </a:r>
            <a:r>
              <a:rPr lang="en-US" dirty="0"/>
              <a:t>Each of the seven bits can be chosen in two ways, because each bit is either 0 or 1.</a:t>
            </a:r>
          </a:p>
          <a:p>
            <a:pPr marL="0" indent="0">
              <a:buNone/>
            </a:pPr>
            <a:r>
              <a:rPr lang="en-US" dirty="0"/>
              <a:t>Therefore, the product rule shows there are a total of 27 = 128 different bit strings of length seven.</a:t>
            </a:r>
          </a:p>
          <a:p>
            <a:pPr marL="0" indent="0">
              <a:buNone/>
            </a:pPr>
            <a:endParaRPr lang="en-IN" dirty="0"/>
          </a:p>
        </p:txBody>
      </p:sp>
      <p:sp>
        <p:nvSpPr>
          <p:cNvPr id="7" name="TextBox 6">
            <a:extLst>
              <a:ext uri="{FF2B5EF4-FFF2-40B4-BE49-F238E27FC236}">
                <a16:creationId xmlns:a16="http://schemas.microsoft.com/office/drawing/2014/main" id="{C38EEA2D-F530-4EA5-8BEF-E402EB2E34FC}"/>
              </a:ext>
            </a:extLst>
          </p:cNvPr>
          <p:cNvSpPr txBox="1"/>
          <p:nvPr/>
        </p:nvSpPr>
        <p:spPr>
          <a:xfrm>
            <a:off x="3796745" y="2305879"/>
            <a:ext cx="6559826" cy="677108"/>
          </a:xfrm>
          <a:prstGeom prst="rect">
            <a:avLst/>
          </a:prstGeom>
          <a:noFill/>
        </p:spPr>
        <p:txBody>
          <a:bodyPr wrap="square" rtlCol="0">
            <a:spAutoFit/>
          </a:bodyPr>
          <a:lstStyle/>
          <a:p>
            <a:r>
              <a:rPr lang="en-IN" sz="3800" u="sng" dirty="0">
                <a:solidFill>
                  <a:srgbClr val="FF0000"/>
                </a:solidFill>
              </a:rPr>
              <a:t>2</a:t>
            </a:r>
            <a:r>
              <a:rPr lang="en-IN" sz="3800" dirty="0"/>
              <a:t>*</a:t>
            </a:r>
            <a:r>
              <a:rPr lang="en-IN" sz="3800" u="sng" dirty="0">
                <a:solidFill>
                  <a:srgbClr val="FF0000"/>
                </a:solidFill>
              </a:rPr>
              <a:t>2</a:t>
            </a:r>
            <a:r>
              <a:rPr lang="en-IN" sz="3800" dirty="0"/>
              <a:t>*</a:t>
            </a:r>
            <a:r>
              <a:rPr lang="en-IN" sz="3800" u="sng" dirty="0">
                <a:solidFill>
                  <a:srgbClr val="FF0000"/>
                </a:solidFill>
              </a:rPr>
              <a:t>2</a:t>
            </a:r>
            <a:r>
              <a:rPr lang="en-IN" sz="3800" dirty="0"/>
              <a:t>*</a:t>
            </a:r>
            <a:r>
              <a:rPr lang="en-IN" sz="3800" u="sng" dirty="0">
                <a:solidFill>
                  <a:srgbClr val="FF0000"/>
                </a:solidFill>
              </a:rPr>
              <a:t>2</a:t>
            </a:r>
            <a:r>
              <a:rPr lang="en-IN" sz="3800" dirty="0"/>
              <a:t>*</a:t>
            </a:r>
            <a:r>
              <a:rPr lang="en-IN" sz="3800" u="sng" dirty="0">
                <a:solidFill>
                  <a:srgbClr val="FF0000"/>
                </a:solidFill>
              </a:rPr>
              <a:t>2</a:t>
            </a:r>
            <a:r>
              <a:rPr lang="en-IN" sz="3800" dirty="0"/>
              <a:t>*</a:t>
            </a:r>
            <a:r>
              <a:rPr lang="en-IN" sz="3800" u="sng" dirty="0">
                <a:solidFill>
                  <a:srgbClr val="FF0000"/>
                </a:solidFill>
              </a:rPr>
              <a:t>2</a:t>
            </a:r>
            <a:r>
              <a:rPr lang="en-IN" sz="3800" dirty="0"/>
              <a:t>*</a:t>
            </a:r>
            <a:r>
              <a:rPr lang="en-IN" sz="3800" u="sng" dirty="0">
                <a:solidFill>
                  <a:srgbClr val="FF0000"/>
                </a:solidFill>
              </a:rPr>
              <a:t>2</a:t>
            </a:r>
            <a:r>
              <a:rPr lang="en-IN" sz="3800" dirty="0"/>
              <a:t>= 2</a:t>
            </a:r>
            <a:r>
              <a:rPr lang="en-IN" sz="3800" baseline="30000" dirty="0"/>
              <a:t>7</a:t>
            </a:r>
          </a:p>
        </p:txBody>
      </p:sp>
      <p:sp>
        <p:nvSpPr>
          <p:cNvPr id="8" name="TextBox 7">
            <a:extLst>
              <a:ext uri="{FF2B5EF4-FFF2-40B4-BE49-F238E27FC236}">
                <a16:creationId xmlns:a16="http://schemas.microsoft.com/office/drawing/2014/main" id="{4C962A9D-6681-4498-A904-3451638C3126}"/>
              </a:ext>
            </a:extLst>
          </p:cNvPr>
          <p:cNvSpPr txBox="1"/>
          <p:nvPr/>
        </p:nvSpPr>
        <p:spPr>
          <a:xfrm>
            <a:off x="3597962" y="2873898"/>
            <a:ext cx="3667540" cy="523220"/>
          </a:xfrm>
          <a:prstGeom prst="rect">
            <a:avLst/>
          </a:prstGeom>
          <a:noFill/>
        </p:spPr>
        <p:txBody>
          <a:bodyPr wrap="square" rtlCol="0">
            <a:spAutoFit/>
          </a:bodyPr>
          <a:lstStyle/>
          <a:p>
            <a:r>
              <a:rPr lang="en-IN" sz="2800" dirty="0"/>
              <a:t>=n</a:t>
            </a:r>
            <a:r>
              <a:rPr lang="en-IN" sz="2800" baseline="-25000" dirty="0"/>
              <a:t>1</a:t>
            </a:r>
            <a:r>
              <a:rPr lang="en-IN" sz="2800" dirty="0"/>
              <a:t>*n</a:t>
            </a:r>
            <a:r>
              <a:rPr lang="en-IN" sz="2800" baseline="-25000" dirty="0"/>
              <a:t>2</a:t>
            </a:r>
            <a:r>
              <a:rPr lang="en-IN" sz="2800" dirty="0"/>
              <a:t>*n</a:t>
            </a:r>
            <a:r>
              <a:rPr lang="en-IN" sz="2800" baseline="-25000" dirty="0"/>
              <a:t>3</a:t>
            </a:r>
            <a:r>
              <a:rPr lang="en-IN" sz="2800" dirty="0"/>
              <a:t>*n</a:t>
            </a:r>
            <a:r>
              <a:rPr lang="en-IN" sz="2800" baseline="-25000" dirty="0"/>
              <a:t>4</a:t>
            </a:r>
            <a:r>
              <a:rPr lang="en-IN" sz="2800" dirty="0"/>
              <a:t>*n</a:t>
            </a:r>
            <a:r>
              <a:rPr lang="en-IN" sz="2800" baseline="-25000" dirty="0"/>
              <a:t>5</a:t>
            </a:r>
            <a:r>
              <a:rPr lang="en-IN" sz="2800" dirty="0"/>
              <a:t>*n</a:t>
            </a:r>
            <a:r>
              <a:rPr lang="en-IN" sz="2800" baseline="-25000" dirty="0"/>
              <a:t>6</a:t>
            </a:r>
            <a:r>
              <a:rPr lang="en-IN" sz="2800" dirty="0"/>
              <a:t>*n</a:t>
            </a:r>
            <a:r>
              <a:rPr lang="en-IN" sz="2800" baseline="-25000" dirty="0"/>
              <a:t>7</a:t>
            </a:r>
            <a:endParaRPr lang="en-IN" sz="2800" baseline="30000" dirty="0"/>
          </a:p>
        </p:txBody>
      </p:sp>
    </p:spTree>
    <p:extLst>
      <p:ext uri="{BB962C8B-B14F-4D97-AF65-F5344CB8AC3E}">
        <p14:creationId xmlns:p14="http://schemas.microsoft.com/office/powerpoint/2010/main" val="4030951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The Product Rule – For 2 and 3 strings </a:t>
            </a:r>
          </a:p>
        </p:txBody>
      </p:sp>
      <p:sp>
        <p:nvSpPr>
          <p:cNvPr id="16" name="TextBox 15">
            <a:extLst>
              <a:ext uri="{FF2B5EF4-FFF2-40B4-BE49-F238E27FC236}">
                <a16:creationId xmlns:a16="http://schemas.microsoft.com/office/drawing/2014/main" id="{14200C8E-557F-4B2A-9821-4CEE3E531F95}"/>
              </a:ext>
            </a:extLst>
          </p:cNvPr>
          <p:cNvSpPr txBox="1"/>
          <p:nvPr/>
        </p:nvSpPr>
        <p:spPr>
          <a:xfrm>
            <a:off x="566529" y="1838739"/>
            <a:ext cx="7513983" cy="830997"/>
          </a:xfrm>
          <a:prstGeom prst="rect">
            <a:avLst/>
          </a:prstGeom>
          <a:noFill/>
        </p:spPr>
        <p:txBody>
          <a:bodyPr wrap="square" rtlCol="0">
            <a:spAutoFit/>
          </a:bodyPr>
          <a:lstStyle/>
          <a:p>
            <a:r>
              <a:rPr lang="en-IN" sz="2400" dirty="0">
                <a:solidFill>
                  <a:srgbClr val="FF0000"/>
                </a:solidFill>
              </a:rPr>
              <a:t>Total possible bit string of length  2 = 2</a:t>
            </a:r>
            <a:r>
              <a:rPr lang="en-IN" sz="2400" baseline="30000" dirty="0">
                <a:solidFill>
                  <a:srgbClr val="FF0000"/>
                </a:solidFill>
              </a:rPr>
              <a:t>2</a:t>
            </a:r>
            <a:r>
              <a:rPr lang="en-IN" sz="2400" dirty="0">
                <a:solidFill>
                  <a:srgbClr val="FF0000"/>
                </a:solidFill>
              </a:rPr>
              <a:t> = 4</a:t>
            </a:r>
          </a:p>
          <a:p>
            <a:r>
              <a:rPr lang="en-IN" sz="2400" dirty="0">
                <a:solidFill>
                  <a:srgbClr val="FF0000"/>
                </a:solidFill>
              </a:rPr>
              <a:t>=Like 00, 01, 10, 11.</a:t>
            </a:r>
            <a:endParaRPr lang="en-IN" sz="2400" baseline="30000" dirty="0">
              <a:solidFill>
                <a:srgbClr val="FF0000"/>
              </a:solidFill>
            </a:endParaRPr>
          </a:p>
        </p:txBody>
      </p:sp>
      <p:sp>
        <p:nvSpPr>
          <p:cNvPr id="17" name="TextBox 16">
            <a:extLst>
              <a:ext uri="{FF2B5EF4-FFF2-40B4-BE49-F238E27FC236}">
                <a16:creationId xmlns:a16="http://schemas.microsoft.com/office/drawing/2014/main" id="{F3D21065-A615-4FFC-8DF5-B77E3E4D2267}"/>
              </a:ext>
            </a:extLst>
          </p:cNvPr>
          <p:cNvSpPr txBox="1"/>
          <p:nvPr/>
        </p:nvSpPr>
        <p:spPr>
          <a:xfrm>
            <a:off x="718930" y="3899450"/>
            <a:ext cx="8305800" cy="1938992"/>
          </a:xfrm>
          <a:prstGeom prst="rect">
            <a:avLst/>
          </a:prstGeom>
          <a:noFill/>
        </p:spPr>
        <p:txBody>
          <a:bodyPr wrap="square" rtlCol="0">
            <a:spAutoFit/>
          </a:bodyPr>
          <a:lstStyle/>
          <a:p>
            <a:r>
              <a:rPr lang="en-IN" sz="2400" dirty="0">
                <a:solidFill>
                  <a:srgbClr val="FF0000"/>
                </a:solidFill>
              </a:rPr>
              <a:t>Total possible bit string of length 3 = 2</a:t>
            </a:r>
            <a:r>
              <a:rPr lang="en-IN" sz="2400" baseline="30000" dirty="0">
                <a:solidFill>
                  <a:srgbClr val="FF0000"/>
                </a:solidFill>
              </a:rPr>
              <a:t>3</a:t>
            </a:r>
            <a:r>
              <a:rPr lang="en-IN" sz="2400" dirty="0">
                <a:solidFill>
                  <a:srgbClr val="FF0000"/>
                </a:solidFill>
              </a:rPr>
              <a:t> = 8.</a:t>
            </a:r>
          </a:p>
          <a:p>
            <a:r>
              <a:rPr lang="en-IN" sz="2400" dirty="0">
                <a:solidFill>
                  <a:srgbClr val="FF0000"/>
                </a:solidFill>
              </a:rPr>
              <a:t>=Like 	000,	 100,</a:t>
            </a:r>
          </a:p>
          <a:p>
            <a:r>
              <a:rPr lang="en-IN" sz="2400" dirty="0">
                <a:solidFill>
                  <a:srgbClr val="FF0000"/>
                </a:solidFill>
              </a:rPr>
              <a:t>		001,	101</a:t>
            </a:r>
          </a:p>
          <a:p>
            <a:r>
              <a:rPr lang="en-IN" sz="2400" dirty="0">
                <a:solidFill>
                  <a:srgbClr val="FF0000"/>
                </a:solidFill>
              </a:rPr>
              <a:t>		010,	110</a:t>
            </a:r>
          </a:p>
          <a:p>
            <a:r>
              <a:rPr lang="en-IN" sz="2400" dirty="0">
                <a:solidFill>
                  <a:srgbClr val="FF0000"/>
                </a:solidFill>
              </a:rPr>
              <a:t>		011,		111.</a:t>
            </a:r>
            <a:endParaRPr lang="en-IN" sz="2400" baseline="30000" dirty="0">
              <a:solidFill>
                <a:srgbClr val="FF0000"/>
              </a:solidFill>
            </a:endParaRPr>
          </a:p>
        </p:txBody>
      </p:sp>
    </p:spTree>
    <p:extLst>
      <p:ext uri="{BB962C8B-B14F-4D97-AF65-F5344CB8AC3E}">
        <p14:creationId xmlns:p14="http://schemas.microsoft.com/office/powerpoint/2010/main" val="668853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F64DE-B15B-491F-AE0B-8806ED2149B6}"/>
              </a:ext>
            </a:extLst>
          </p:cNvPr>
          <p:cNvSpPr>
            <a:spLocks noGrp="1"/>
          </p:cNvSpPr>
          <p:nvPr>
            <p:ph type="title"/>
          </p:nvPr>
        </p:nvSpPr>
        <p:spPr/>
        <p:txBody>
          <a:bodyPr/>
          <a:lstStyle/>
          <a:p>
            <a:r>
              <a:rPr lang="en-IN" dirty="0"/>
              <a:t>The Product Rule </a:t>
            </a:r>
          </a:p>
        </p:txBody>
      </p:sp>
      <p:sp>
        <p:nvSpPr>
          <p:cNvPr id="4" name="TextBox 3">
            <a:extLst>
              <a:ext uri="{FF2B5EF4-FFF2-40B4-BE49-F238E27FC236}">
                <a16:creationId xmlns:a16="http://schemas.microsoft.com/office/drawing/2014/main" id="{8269D6F1-4E83-429F-95EA-4B097CF0DBDC}"/>
              </a:ext>
            </a:extLst>
          </p:cNvPr>
          <p:cNvSpPr txBox="1"/>
          <p:nvPr/>
        </p:nvSpPr>
        <p:spPr>
          <a:xfrm>
            <a:off x="566529" y="1838739"/>
            <a:ext cx="7513983" cy="830997"/>
          </a:xfrm>
          <a:prstGeom prst="rect">
            <a:avLst/>
          </a:prstGeom>
          <a:noFill/>
        </p:spPr>
        <p:txBody>
          <a:bodyPr wrap="square" rtlCol="0">
            <a:spAutoFit/>
          </a:bodyPr>
          <a:lstStyle/>
          <a:p>
            <a:r>
              <a:rPr lang="en-IN" sz="2400" dirty="0">
                <a:solidFill>
                  <a:srgbClr val="FF0000"/>
                </a:solidFill>
              </a:rPr>
              <a:t>Total possible bit string of length  4 = 2</a:t>
            </a:r>
            <a:r>
              <a:rPr lang="en-IN" sz="2400" baseline="30000" dirty="0">
                <a:solidFill>
                  <a:srgbClr val="FF0000"/>
                </a:solidFill>
              </a:rPr>
              <a:t>4</a:t>
            </a:r>
            <a:r>
              <a:rPr lang="en-IN" sz="2400" dirty="0">
                <a:solidFill>
                  <a:srgbClr val="FF0000"/>
                </a:solidFill>
              </a:rPr>
              <a:t> = 16</a:t>
            </a:r>
          </a:p>
          <a:p>
            <a:r>
              <a:rPr lang="en-IN" sz="2400" dirty="0">
                <a:solidFill>
                  <a:srgbClr val="FF0000"/>
                </a:solidFill>
              </a:rPr>
              <a:t>=Like 0000. 0001, 0010, 0100, 1000 etc.</a:t>
            </a:r>
            <a:endParaRPr lang="en-IN" sz="2400" baseline="30000" dirty="0">
              <a:solidFill>
                <a:srgbClr val="FF0000"/>
              </a:solidFill>
            </a:endParaRPr>
          </a:p>
        </p:txBody>
      </p:sp>
      <p:sp>
        <p:nvSpPr>
          <p:cNvPr id="8" name="TextBox 7">
            <a:extLst>
              <a:ext uri="{FF2B5EF4-FFF2-40B4-BE49-F238E27FC236}">
                <a16:creationId xmlns:a16="http://schemas.microsoft.com/office/drawing/2014/main" id="{D3160370-7615-45A7-ADBD-29163C8BEFD5}"/>
              </a:ext>
            </a:extLst>
          </p:cNvPr>
          <p:cNvSpPr txBox="1"/>
          <p:nvPr/>
        </p:nvSpPr>
        <p:spPr>
          <a:xfrm>
            <a:off x="718930" y="3899450"/>
            <a:ext cx="8305800" cy="830997"/>
          </a:xfrm>
          <a:prstGeom prst="rect">
            <a:avLst/>
          </a:prstGeom>
          <a:noFill/>
        </p:spPr>
        <p:txBody>
          <a:bodyPr wrap="square" rtlCol="0">
            <a:spAutoFit/>
          </a:bodyPr>
          <a:lstStyle/>
          <a:p>
            <a:r>
              <a:rPr lang="en-IN" sz="2400" dirty="0">
                <a:solidFill>
                  <a:srgbClr val="FF0000"/>
                </a:solidFill>
              </a:rPr>
              <a:t>Total possible bit string of length 7 = 2</a:t>
            </a:r>
            <a:r>
              <a:rPr lang="en-IN" sz="2400" baseline="30000" dirty="0">
                <a:solidFill>
                  <a:srgbClr val="FF0000"/>
                </a:solidFill>
              </a:rPr>
              <a:t>7</a:t>
            </a:r>
            <a:r>
              <a:rPr lang="en-IN" sz="2400" dirty="0">
                <a:solidFill>
                  <a:srgbClr val="FF0000"/>
                </a:solidFill>
              </a:rPr>
              <a:t> = 128.</a:t>
            </a:r>
          </a:p>
          <a:p>
            <a:r>
              <a:rPr lang="en-IN" sz="2400" dirty="0">
                <a:solidFill>
                  <a:srgbClr val="FF0000"/>
                </a:solidFill>
              </a:rPr>
              <a:t>=Like 0000001, 0000010, 0000100, 0001000, 0010000 etc.</a:t>
            </a:r>
            <a:endParaRPr lang="en-IN" sz="2400" baseline="30000" dirty="0">
              <a:solidFill>
                <a:srgbClr val="FF0000"/>
              </a:solidFill>
            </a:endParaRPr>
          </a:p>
        </p:txBody>
      </p:sp>
    </p:spTree>
    <p:extLst>
      <p:ext uri="{BB962C8B-B14F-4D97-AF65-F5344CB8AC3E}">
        <p14:creationId xmlns:p14="http://schemas.microsoft.com/office/powerpoint/2010/main" val="256245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9C45-0EF1-449F-A3F2-242C4188A4DA}"/>
              </a:ext>
            </a:extLst>
          </p:cNvPr>
          <p:cNvSpPr>
            <a:spLocks noGrp="1"/>
          </p:cNvSpPr>
          <p:nvPr>
            <p:ph type="title"/>
          </p:nvPr>
        </p:nvSpPr>
        <p:spPr/>
        <p:txBody>
          <a:bodyPr/>
          <a:lstStyle/>
          <a:p>
            <a:r>
              <a:rPr lang="en-IN" dirty="0"/>
              <a:t>The Product Rule – Example 6</a:t>
            </a:r>
          </a:p>
        </p:txBody>
      </p:sp>
      <p:sp>
        <p:nvSpPr>
          <p:cNvPr id="3" name="Content Placeholder 2">
            <a:extLst>
              <a:ext uri="{FF2B5EF4-FFF2-40B4-BE49-F238E27FC236}">
                <a16:creationId xmlns:a16="http://schemas.microsoft.com/office/drawing/2014/main" id="{23BBEE30-6F72-48C9-834B-254D6872213F}"/>
              </a:ext>
            </a:extLst>
          </p:cNvPr>
          <p:cNvSpPr>
            <a:spLocks noGrp="1"/>
          </p:cNvSpPr>
          <p:nvPr>
            <p:ph idx="1"/>
          </p:nvPr>
        </p:nvSpPr>
        <p:spPr/>
        <p:txBody>
          <a:bodyPr>
            <a:normAutofit fontScale="92500" lnSpcReduction="20000"/>
          </a:bodyPr>
          <a:lstStyle/>
          <a:p>
            <a:pPr marL="0" indent="0">
              <a:buNone/>
            </a:pPr>
            <a:r>
              <a:rPr lang="en-US" b="1" dirty="0"/>
              <a:t>Ques:- </a:t>
            </a:r>
            <a:r>
              <a:rPr lang="en-US" dirty="0"/>
              <a:t>How many bit strings are there of length eight?</a:t>
            </a:r>
          </a:p>
          <a:p>
            <a:pPr marL="0" indent="0">
              <a:buNone/>
            </a:pPr>
            <a:r>
              <a:rPr lang="fr-FR" dirty="0"/>
              <a:t>A) 2</a:t>
            </a:r>
            <a:r>
              <a:rPr lang="fr-FR" baseline="30000" dirty="0"/>
              <a:t>7</a:t>
            </a:r>
          </a:p>
          <a:p>
            <a:pPr marL="0" indent="0">
              <a:buNone/>
            </a:pPr>
            <a:r>
              <a:rPr lang="fr-FR" dirty="0"/>
              <a:t>B) 2</a:t>
            </a:r>
            <a:r>
              <a:rPr lang="fr-FR" baseline="30000" dirty="0"/>
              <a:t>8</a:t>
            </a:r>
          </a:p>
          <a:p>
            <a:pPr marL="0" indent="0">
              <a:buNone/>
            </a:pPr>
            <a:r>
              <a:rPr lang="fr-FR" dirty="0"/>
              <a:t>C) 2</a:t>
            </a:r>
            <a:r>
              <a:rPr lang="fr-FR" baseline="30000" dirty="0"/>
              <a:t>9</a:t>
            </a:r>
          </a:p>
          <a:p>
            <a:pPr marL="0" indent="0">
              <a:buNone/>
            </a:pPr>
            <a:r>
              <a:rPr lang="fr-FR" dirty="0"/>
              <a:t>D) 2</a:t>
            </a:r>
            <a:r>
              <a:rPr lang="fr-FR" baseline="30000" dirty="0"/>
              <a:t>10</a:t>
            </a:r>
          </a:p>
          <a:p>
            <a:pPr marL="0" indent="0">
              <a:buNone/>
            </a:pPr>
            <a:endParaRPr lang="fr-FR" dirty="0"/>
          </a:p>
          <a:p>
            <a:pPr marL="0" indent="0">
              <a:buNone/>
            </a:pPr>
            <a:r>
              <a:rPr lang="fr-FR" b="1" dirty="0"/>
              <a:t>ANS:- </a:t>
            </a:r>
          </a:p>
          <a:p>
            <a:pPr marL="0" indent="0">
              <a:buNone/>
            </a:pPr>
            <a:r>
              <a:rPr lang="fr-FR" dirty="0"/>
              <a:t>2</a:t>
            </a:r>
            <a:r>
              <a:rPr lang="fr-FR" baseline="30000" dirty="0"/>
              <a:t>8</a:t>
            </a:r>
          </a:p>
          <a:p>
            <a:pPr marL="0" indent="0">
              <a:buNone/>
            </a:pPr>
            <a:endParaRPr lang="en-IN" dirty="0"/>
          </a:p>
        </p:txBody>
      </p:sp>
    </p:spTree>
    <p:extLst>
      <p:ext uri="{BB962C8B-B14F-4D97-AF65-F5344CB8AC3E}">
        <p14:creationId xmlns:p14="http://schemas.microsoft.com/office/powerpoint/2010/main" val="11092648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9C45-0EF1-449F-A3F2-242C4188A4DA}"/>
              </a:ext>
            </a:extLst>
          </p:cNvPr>
          <p:cNvSpPr>
            <a:spLocks noGrp="1"/>
          </p:cNvSpPr>
          <p:nvPr>
            <p:ph type="title"/>
          </p:nvPr>
        </p:nvSpPr>
        <p:spPr/>
        <p:txBody>
          <a:bodyPr/>
          <a:lstStyle/>
          <a:p>
            <a:r>
              <a:rPr lang="en-IN" dirty="0"/>
              <a:t>The Product Rule – Example 7</a:t>
            </a:r>
          </a:p>
        </p:txBody>
      </p:sp>
      <p:sp>
        <p:nvSpPr>
          <p:cNvPr id="3" name="Content Placeholder 2">
            <a:extLst>
              <a:ext uri="{FF2B5EF4-FFF2-40B4-BE49-F238E27FC236}">
                <a16:creationId xmlns:a16="http://schemas.microsoft.com/office/drawing/2014/main" id="{23BBEE30-6F72-48C9-834B-254D6872213F}"/>
              </a:ext>
            </a:extLst>
          </p:cNvPr>
          <p:cNvSpPr>
            <a:spLocks noGrp="1"/>
          </p:cNvSpPr>
          <p:nvPr>
            <p:ph idx="1"/>
          </p:nvPr>
        </p:nvSpPr>
        <p:spPr/>
        <p:txBody>
          <a:bodyPr>
            <a:normAutofit fontScale="85000" lnSpcReduction="10000"/>
          </a:bodyPr>
          <a:lstStyle/>
          <a:p>
            <a:pPr marL="0" indent="0">
              <a:buNone/>
            </a:pPr>
            <a:r>
              <a:rPr lang="en-US" b="1" dirty="0"/>
              <a:t>Ques:- </a:t>
            </a:r>
            <a:r>
              <a:rPr lang="en-US" dirty="0"/>
              <a:t>How many bit strings of length ten both begin and end with a 1?</a:t>
            </a:r>
          </a:p>
          <a:p>
            <a:pPr marL="0" indent="0">
              <a:buNone/>
            </a:pPr>
            <a:endParaRPr lang="en-US" dirty="0"/>
          </a:p>
          <a:p>
            <a:pPr marL="0" indent="0">
              <a:buNone/>
            </a:pPr>
            <a:r>
              <a:rPr lang="en-US" b="1" dirty="0"/>
              <a:t>Sol:- </a:t>
            </a:r>
            <a:r>
              <a:rPr lang="en-US" dirty="0"/>
              <a:t>A bit string is determined by choosing the bits in the string, one after another, so the product rule applies.</a:t>
            </a:r>
          </a:p>
          <a:p>
            <a:pPr marL="0" indent="0">
              <a:buNone/>
            </a:pPr>
            <a:endParaRPr lang="en-US" dirty="0"/>
          </a:p>
          <a:p>
            <a:pPr marL="0" indent="0">
              <a:buNone/>
            </a:pPr>
            <a:r>
              <a:rPr lang="en-US" dirty="0"/>
              <a:t>We want to count the number of bit strings of length 10, except that we are not free to choose either the first bit or the last bit (they are mandated to be 1 's</a:t>
            </a:r>
            <a:endParaRPr lang="en-IN" dirty="0"/>
          </a:p>
        </p:txBody>
      </p:sp>
    </p:spTree>
    <p:extLst>
      <p:ext uri="{BB962C8B-B14F-4D97-AF65-F5344CB8AC3E}">
        <p14:creationId xmlns:p14="http://schemas.microsoft.com/office/powerpoint/2010/main" val="2908437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9C45-0EF1-449F-A3F2-242C4188A4DA}"/>
              </a:ext>
            </a:extLst>
          </p:cNvPr>
          <p:cNvSpPr>
            <a:spLocks noGrp="1"/>
          </p:cNvSpPr>
          <p:nvPr>
            <p:ph type="title"/>
          </p:nvPr>
        </p:nvSpPr>
        <p:spPr/>
        <p:txBody>
          <a:bodyPr/>
          <a:lstStyle/>
          <a:p>
            <a:r>
              <a:rPr lang="en-IN" dirty="0"/>
              <a:t>The Product Rule – Example 7</a:t>
            </a:r>
          </a:p>
        </p:txBody>
      </p:sp>
      <p:sp>
        <p:nvSpPr>
          <p:cNvPr id="3" name="Content Placeholder 2">
            <a:extLst>
              <a:ext uri="{FF2B5EF4-FFF2-40B4-BE49-F238E27FC236}">
                <a16:creationId xmlns:a16="http://schemas.microsoft.com/office/drawing/2014/main" id="{23BBEE30-6F72-48C9-834B-254D6872213F}"/>
              </a:ext>
            </a:extLst>
          </p:cNvPr>
          <p:cNvSpPr>
            <a:spLocks noGrp="1"/>
          </p:cNvSpPr>
          <p:nvPr>
            <p:ph idx="1"/>
          </p:nvPr>
        </p:nvSpPr>
        <p:spPr/>
        <p:txBody>
          <a:bodyPr>
            <a:normAutofit/>
          </a:bodyPr>
          <a:lstStyle/>
          <a:p>
            <a:pPr marL="0" indent="0">
              <a:buNone/>
            </a:pPr>
            <a:r>
              <a:rPr lang="en-US" b="1" dirty="0">
                <a:effectLst>
                  <a:outerShdw blurRad="38100" dist="38100" dir="2700000" algn="tl">
                    <a:srgbClr val="000000">
                      <a:alpha val="43137"/>
                    </a:srgbClr>
                  </a:outerShdw>
                </a:effectLst>
              </a:rPr>
              <a:t>Ques:- </a:t>
            </a:r>
            <a:r>
              <a:rPr lang="en-US" dirty="0"/>
              <a:t>How many bit strings of length ten both begin and end with a 1?</a:t>
            </a:r>
          </a:p>
          <a:p>
            <a:pPr marL="0" indent="0">
              <a:buNone/>
            </a:pPr>
            <a:endParaRPr lang="en-US" dirty="0"/>
          </a:p>
          <a:p>
            <a:pPr marL="0" indent="0">
              <a:buNone/>
            </a:pPr>
            <a:r>
              <a:rPr lang="en-US" b="1" dirty="0">
                <a:effectLst>
                  <a:outerShdw blurRad="38100" dist="38100" dir="2700000" algn="tl">
                    <a:srgbClr val="000000">
                      <a:alpha val="43137"/>
                    </a:srgbClr>
                  </a:outerShdw>
                </a:effectLst>
              </a:rPr>
              <a:t>Sol:- </a:t>
            </a:r>
            <a:r>
              <a:rPr lang="en-US" dirty="0"/>
              <a:t>Therefore there are 8 choices to make, and each choice can be made in 2 ways (the bit can be either a 1 or a 0). Thus the product rule tells us that there are 2</a:t>
            </a:r>
            <a:r>
              <a:rPr lang="en-US" baseline="30000" dirty="0"/>
              <a:t>8</a:t>
            </a:r>
            <a:r>
              <a:rPr lang="en-US" dirty="0"/>
              <a:t> = 256 such strings.</a:t>
            </a:r>
          </a:p>
          <a:p>
            <a:pPr marL="0" indent="0">
              <a:buNone/>
            </a:pPr>
            <a:endParaRPr lang="en-IN" dirty="0"/>
          </a:p>
        </p:txBody>
      </p:sp>
    </p:spTree>
    <p:extLst>
      <p:ext uri="{BB962C8B-B14F-4D97-AF65-F5344CB8AC3E}">
        <p14:creationId xmlns:p14="http://schemas.microsoft.com/office/powerpoint/2010/main" val="3008906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9C45-0EF1-449F-A3F2-242C4188A4DA}"/>
              </a:ext>
            </a:extLst>
          </p:cNvPr>
          <p:cNvSpPr>
            <a:spLocks noGrp="1"/>
          </p:cNvSpPr>
          <p:nvPr>
            <p:ph type="title"/>
          </p:nvPr>
        </p:nvSpPr>
        <p:spPr/>
        <p:txBody>
          <a:bodyPr/>
          <a:lstStyle/>
          <a:p>
            <a:r>
              <a:rPr lang="en-IN" dirty="0"/>
              <a:t>The Product Rule – Example 7</a:t>
            </a:r>
          </a:p>
        </p:txBody>
      </p:sp>
      <p:sp>
        <p:nvSpPr>
          <p:cNvPr id="3" name="Content Placeholder 2">
            <a:extLst>
              <a:ext uri="{FF2B5EF4-FFF2-40B4-BE49-F238E27FC236}">
                <a16:creationId xmlns:a16="http://schemas.microsoft.com/office/drawing/2014/main" id="{23BBEE30-6F72-48C9-834B-254D6872213F}"/>
              </a:ext>
            </a:extLst>
          </p:cNvPr>
          <p:cNvSpPr>
            <a:spLocks noGrp="1"/>
          </p:cNvSpPr>
          <p:nvPr>
            <p:ph idx="1"/>
          </p:nvPr>
        </p:nvSpPr>
        <p:spPr/>
        <p:txBody>
          <a:bodyPr>
            <a:normAutofit/>
          </a:bodyPr>
          <a:lstStyle/>
          <a:p>
            <a:pPr marL="0" indent="0">
              <a:buNone/>
            </a:pPr>
            <a:r>
              <a:rPr lang="en-US" b="1" dirty="0">
                <a:effectLst>
                  <a:outerShdw blurRad="38100" dist="38100" dir="2700000" algn="tl">
                    <a:srgbClr val="000000">
                      <a:alpha val="43137"/>
                    </a:srgbClr>
                  </a:outerShdw>
                </a:effectLst>
              </a:rPr>
              <a:t>Ques:- </a:t>
            </a:r>
            <a:r>
              <a:rPr lang="en-US" dirty="0"/>
              <a:t>How many bit strings of length ten both begin and end with a 1?</a:t>
            </a:r>
          </a:p>
          <a:p>
            <a:pPr marL="0" indent="0">
              <a:buNone/>
            </a:pPr>
            <a:endParaRPr lang="en-US" dirty="0"/>
          </a:p>
          <a:p>
            <a:pPr marL="0" indent="0">
              <a:buNone/>
            </a:pPr>
            <a:r>
              <a:rPr lang="en-US" b="1" dirty="0">
                <a:effectLst>
                  <a:outerShdw blurRad="38100" dist="38100" dir="2700000" algn="tl">
                    <a:srgbClr val="000000">
                      <a:alpha val="43137"/>
                    </a:srgbClr>
                  </a:outerShdw>
                </a:effectLst>
              </a:rPr>
              <a:t>Sol:-</a:t>
            </a:r>
            <a:r>
              <a:rPr lang="en-US" dirty="0"/>
              <a:t>.</a:t>
            </a:r>
          </a:p>
          <a:p>
            <a:pPr marL="0" indent="0">
              <a:buNone/>
            </a:pPr>
            <a:endParaRPr lang="en-IN" dirty="0"/>
          </a:p>
        </p:txBody>
      </p:sp>
    </p:spTree>
    <p:extLst>
      <p:ext uri="{BB962C8B-B14F-4D97-AF65-F5344CB8AC3E}">
        <p14:creationId xmlns:p14="http://schemas.microsoft.com/office/powerpoint/2010/main" val="1547333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81241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yFont">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7757</TotalTime>
  <Words>1313</Words>
  <Application>Microsoft Office PowerPoint</Application>
  <PresentationFormat>On-screen Show (4:3)</PresentationFormat>
  <Paragraphs>208</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Arial</vt:lpstr>
      <vt:lpstr>Bahnschrift</vt:lpstr>
      <vt:lpstr>Bahnschrift SemiBold</vt:lpstr>
      <vt:lpstr>Calibri</vt:lpstr>
      <vt:lpstr>Office Theme</vt:lpstr>
      <vt:lpstr>EMTH403</vt:lpstr>
      <vt:lpstr>Lecture Outcomes</vt:lpstr>
      <vt:lpstr>Basics of Counting</vt:lpstr>
      <vt:lpstr>Basics of Counting</vt:lpstr>
      <vt:lpstr>Basics of Counting</vt:lpstr>
      <vt:lpstr>Basics of Counting</vt:lpstr>
      <vt:lpstr>The Product Rule </vt:lpstr>
      <vt:lpstr>The Product Rule </vt:lpstr>
      <vt:lpstr>The Product Rule – Example 1</vt:lpstr>
      <vt:lpstr>The Product Rule – Example 1 </vt:lpstr>
      <vt:lpstr>The Product Rule – Example 2</vt:lpstr>
      <vt:lpstr>The Product Rule – Example 2</vt:lpstr>
      <vt:lpstr>The Product Rule – Example 2 </vt:lpstr>
      <vt:lpstr>The Product Rule – Example 3</vt:lpstr>
      <vt:lpstr>The Product Rule – Example 3</vt:lpstr>
      <vt:lpstr>The Product Rule – Example 4</vt:lpstr>
      <vt:lpstr>The Product Rule – Example 4</vt:lpstr>
      <vt:lpstr>The Product Rule – Example 5</vt:lpstr>
      <vt:lpstr>The Product Rule – For 2 and 3 strings </vt:lpstr>
      <vt:lpstr>The Product Rule </vt:lpstr>
      <vt:lpstr>The Product Rule – Example 6</vt:lpstr>
      <vt:lpstr>The Product Rule – Example 7</vt:lpstr>
      <vt:lpstr>The Product Rule – Example 7</vt:lpstr>
      <vt:lpstr>The Product Rule – Example 7</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Nitin Mishra</dc:creator>
  <cp:lastModifiedBy>video recording 1</cp:lastModifiedBy>
  <cp:revision>954</cp:revision>
  <dcterms:created xsi:type="dcterms:W3CDTF">2020-12-04T05:20:56Z</dcterms:created>
  <dcterms:modified xsi:type="dcterms:W3CDTF">2020-12-28T09:41:24Z</dcterms:modified>
</cp:coreProperties>
</file>