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25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is graph coloring.</a:t>
            </a:r>
          </a:p>
          <a:p>
            <a:r>
              <a:rPr lang="en-US" dirty="0"/>
              <a:t>understand what is a </a:t>
            </a:r>
            <a:r>
              <a:rPr lang="en-IN" dirty="0"/>
              <a:t>4-Color Map Theorem.</a:t>
            </a:r>
          </a:p>
          <a:p>
            <a:r>
              <a:rPr lang="en-US" dirty="0"/>
              <a:t>understand what is a </a:t>
            </a:r>
            <a:r>
              <a:rPr lang="en-IN" dirty="0"/>
              <a:t>chromatic number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Definition: </a:t>
            </a:r>
            <a:r>
              <a:rPr lang="en-US" dirty="0"/>
              <a:t>A graph has been colored if a color has been assigned to each vertex in such a way that adjacent vertices have different colors.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Definition: The chromatic number of a graph is the smallest number of colors with which it can be colored.</a:t>
            </a:r>
          </a:p>
          <a:p>
            <a:pPr marL="0" indent="0">
              <a:buNone/>
            </a:pPr>
            <a:r>
              <a:rPr lang="en-US" dirty="0"/>
              <a:t>		In the example above, the chromatic number is 4.</a:t>
            </a:r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7A01BF2-9997-4F83-A070-7301961750AB}"/>
              </a:ext>
            </a:extLst>
          </p:cNvPr>
          <p:cNvGrpSpPr>
            <a:grpSpLocks/>
          </p:cNvGrpSpPr>
          <p:nvPr/>
        </p:nvGrpSpPr>
        <p:grpSpPr bwMode="auto">
          <a:xfrm>
            <a:off x="5290485" y="2393851"/>
            <a:ext cx="3744912" cy="1765300"/>
            <a:chOff x="226" y="2908"/>
            <a:chExt cx="2359" cy="1112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CAE9C748-0EB4-4660-818B-1D52BE841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" y="3090"/>
              <a:ext cx="408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A0F2B939-6667-482F-B0D7-938AD7846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3543"/>
              <a:ext cx="385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D72CCE0B-2F03-4226-9C15-83744718C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022"/>
              <a:ext cx="5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A407E324-5066-4F40-8CF7-9D4479463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3906"/>
              <a:ext cx="6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D0D7148D-DF65-4327-9766-399BDE9E0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135"/>
              <a:ext cx="0" cy="6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A085866-F1BD-4DB8-9F84-5EFBEC209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3158"/>
              <a:ext cx="0" cy="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4B647756-7657-4DA0-8A78-B319907BB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3090"/>
              <a:ext cx="726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B5FBDDC-8A4A-47FE-A21B-FAE12AF0C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8" y="3135"/>
              <a:ext cx="725" cy="7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C27AECA8-DB69-4A87-831E-04FE6AD341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" y="2908"/>
              <a:ext cx="2359" cy="1112"/>
              <a:chOff x="226" y="2908"/>
              <a:chExt cx="2359" cy="1112"/>
            </a:xfrm>
          </p:grpSpPr>
          <p:sp>
            <p:nvSpPr>
              <p:cNvPr id="14" name="Oval 14">
                <a:extLst>
                  <a:ext uri="{FF2B5EF4-FFF2-40B4-BE49-F238E27FC236}">
                    <a16:creationId xmlns:a16="http://schemas.microsoft.com/office/drawing/2014/main" id="{F1D82FC8-2783-4CF0-AC52-CE53F0E4C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" y="3317"/>
                <a:ext cx="250" cy="22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B76E93D-1BC2-40CD-AAA0-B2E71CDF7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908"/>
                <a:ext cx="250" cy="227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F282E0C1-5E07-41E6-861D-85197E616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793"/>
                <a:ext cx="250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" name="Oval 17">
                <a:extLst>
                  <a:ext uri="{FF2B5EF4-FFF2-40B4-BE49-F238E27FC236}">
                    <a16:creationId xmlns:a16="http://schemas.microsoft.com/office/drawing/2014/main" id="{0651E345-7833-4171-B749-E46FB3582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2931"/>
                <a:ext cx="250" cy="22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8" name="Oval 18">
                <a:extLst>
                  <a:ext uri="{FF2B5EF4-FFF2-40B4-BE49-F238E27FC236}">
                    <a16:creationId xmlns:a16="http://schemas.microsoft.com/office/drawing/2014/main" id="{54D7A619-2136-41B7-924A-EF37741C2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1" y="3770"/>
                <a:ext cx="250" cy="227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BC99E765-0703-47A9-B3FE-D8A6565023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8" y="3090"/>
                <a:ext cx="22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214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1400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the chromatic number of the graph shown below? </a:t>
            </a:r>
            <a:endParaRPr lang="en-IN" dirty="0"/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EF924BB9-BC2C-40F7-9B58-C24A05724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742" y="2513816"/>
            <a:ext cx="4343400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600" dirty="0">
                <a:latin typeface="+mn-lt"/>
              </a:rPr>
              <a:t>The chromatic number must be at least 3 since </a:t>
            </a:r>
            <a:r>
              <a:rPr lang="en-US" altLang="en-US" sz="2600" i="1" dirty="0">
                <a:latin typeface="+mn-lt"/>
              </a:rPr>
              <a:t>a</a:t>
            </a:r>
            <a:r>
              <a:rPr lang="en-US" altLang="en-US" sz="2600" dirty="0">
                <a:latin typeface="+mn-lt"/>
              </a:rPr>
              <a:t>, </a:t>
            </a:r>
            <a:r>
              <a:rPr lang="en-US" altLang="en-US" sz="2600" i="1" dirty="0">
                <a:latin typeface="+mn-lt"/>
              </a:rPr>
              <a:t>b</a:t>
            </a:r>
            <a:r>
              <a:rPr lang="en-US" altLang="en-US" sz="2600" dirty="0">
                <a:latin typeface="+mn-lt"/>
              </a:rPr>
              <a:t>, and </a:t>
            </a:r>
            <a:r>
              <a:rPr lang="en-US" altLang="en-US" sz="2600" i="1" dirty="0">
                <a:latin typeface="+mn-lt"/>
              </a:rPr>
              <a:t>c</a:t>
            </a:r>
            <a:r>
              <a:rPr lang="en-US" altLang="en-US" sz="2600" dirty="0">
                <a:latin typeface="+mn-lt"/>
              </a:rPr>
              <a:t> must be assigned different colors. So Let’s try 3 colors first.  3 colors work, so the chromatic number of this graph is 3.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14662CAB-6E4E-4941-8784-8AA74199E851}"/>
              </a:ext>
            </a:extLst>
          </p:cNvPr>
          <p:cNvGrpSpPr>
            <a:grpSpLocks/>
          </p:cNvGrpSpPr>
          <p:nvPr/>
        </p:nvGrpSpPr>
        <p:grpSpPr bwMode="auto">
          <a:xfrm>
            <a:off x="808985" y="2817629"/>
            <a:ext cx="3421063" cy="1938338"/>
            <a:chOff x="610" y="2069"/>
            <a:chExt cx="2155" cy="1221"/>
          </a:xfrm>
        </p:grpSpPr>
        <p:grpSp>
          <p:nvGrpSpPr>
            <p:cNvPr id="22" name="Group 2">
              <a:extLst>
                <a:ext uri="{FF2B5EF4-FFF2-40B4-BE49-F238E27FC236}">
                  <a16:creationId xmlns:a16="http://schemas.microsoft.com/office/drawing/2014/main" id="{7CD24A22-FF76-464F-BFA9-8BE8BCC66B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" y="2069"/>
              <a:ext cx="2155" cy="1221"/>
              <a:chOff x="576" y="1771"/>
              <a:chExt cx="2155" cy="1221"/>
            </a:xfrm>
          </p:grpSpPr>
          <p:grpSp>
            <p:nvGrpSpPr>
              <p:cNvPr id="30" name="Group 3">
                <a:extLst>
                  <a:ext uri="{FF2B5EF4-FFF2-40B4-BE49-F238E27FC236}">
                    <a16:creationId xmlns:a16="http://schemas.microsoft.com/office/drawing/2014/main" id="{3E9078EA-8651-4FB8-A027-A971E581BF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0" y="1904"/>
                <a:ext cx="1680" cy="864"/>
                <a:chOff x="704" y="3296"/>
                <a:chExt cx="1416" cy="608"/>
              </a:xfrm>
            </p:grpSpPr>
            <p:sp>
              <p:nvSpPr>
                <p:cNvPr id="32" name="Line 4">
                  <a:extLst>
                    <a:ext uri="{FF2B5EF4-FFF2-40B4-BE49-F238E27FC236}">
                      <a16:creationId xmlns:a16="http://schemas.microsoft.com/office/drawing/2014/main" id="{5DF601E3-839D-495C-BD06-E9D8C932D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312"/>
                  <a:ext cx="72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3" name="Line 5">
                  <a:extLst>
                    <a:ext uri="{FF2B5EF4-FFF2-40B4-BE49-F238E27FC236}">
                      <a16:creationId xmlns:a16="http://schemas.microsoft.com/office/drawing/2014/main" id="{8BC0D7EE-C1A6-416B-906C-BEF983D86E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312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4" name="Line 6">
                  <a:extLst>
                    <a:ext uri="{FF2B5EF4-FFF2-40B4-BE49-F238E27FC236}">
                      <a16:creationId xmlns:a16="http://schemas.microsoft.com/office/drawing/2014/main" id="{C840A073-1602-41EE-A772-10815297D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888"/>
                  <a:ext cx="72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5" name="Line 7">
                  <a:extLst>
                    <a:ext uri="{FF2B5EF4-FFF2-40B4-BE49-F238E27FC236}">
                      <a16:creationId xmlns:a16="http://schemas.microsoft.com/office/drawing/2014/main" id="{6335DF2B-5B23-4768-8ECD-7127BE1F7C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3312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6" name="Line 8">
                  <a:extLst>
                    <a:ext uri="{FF2B5EF4-FFF2-40B4-BE49-F238E27FC236}">
                      <a16:creationId xmlns:a16="http://schemas.microsoft.com/office/drawing/2014/main" id="{5D57A1B1-A79E-42D0-B57A-94A327EA4C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312"/>
                  <a:ext cx="720" cy="5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7" name="Line 9">
                  <a:extLst>
                    <a:ext uri="{FF2B5EF4-FFF2-40B4-BE49-F238E27FC236}">
                      <a16:creationId xmlns:a16="http://schemas.microsoft.com/office/drawing/2014/main" id="{45412D94-FCF6-4AC2-B313-4DF9C8030C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56" y="3312"/>
                  <a:ext cx="720" cy="5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8" name="Line 10">
                  <a:extLst>
                    <a:ext uri="{FF2B5EF4-FFF2-40B4-BE49-F238E27FC236}">
                      <a16:creationId xmlns:a16="http://schemas.microsoft.com/office/drawing/2014/main" id="{5AA3940C-6711-4EDE-843B-02F049A105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20" y="3312"/>
                  <a:ext cx="336" cy="2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39" name="Line 11">
                  <a:extLst>
                    <a:ext uri="{FF2B5EF4-FFF2-40B4-BE49-F238E27FC236}">
                      <a16:creationId xmlns:a16="http://schemas.microsoft.com/office/drawing/2014/main" id="{DA95592C-8ACA-4F64-9F1E-8B9A78AB2B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600"/>
                  <a:ext cx="336" cy="2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40" name="Line 12">
                  <a:extLst>
                    <a:ext uri="{FF2B5EF4-FFF2-40B4-BE49-F238E27FC236}">
                      <a16:creationId xmlns:a16="http://schemas.microsoft.com/office/drawing/2014/main" id="{1E09FFAB-9BF6-4772-AED5-77772B8CF6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3312"/>
                  <a:ext cx="336" cy="2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41" name="Line 13">
                  <a:extLst>
                    <a:ext uri="{FF2B5EF4-FFF2-40B4-BE49-F238E27FC236}">
                      <a16:creationId xmlns:a16="http://schemas.microsoft.com/office/drawing/2014/main" id="{641A0FFD-B04C-4157-AC6F-07A1D51B6A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6" y="3600"/>
                  <a:ext cx="336" cy="28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rIns="182880" anchor="ctr"/>
                <a:lstStyle/>
                <a:p>
                  <a:endParaRPr lang="en-IN"/>
                </a:p>
              </p:txBody>
            </p:sp>
            <p:sp>
              <p:nvSpPr>
                <p:cNvPr id="42" name="Oval 14">
                  <a:extLst>
                    <a:ext uri="{FF2B5EF4-FFF2-40B4-BE49-F238E27FC236}">
                      <a16:creationId xmlns:a16="http://schemas.microsoft.com/office/drawing/2014/main" id="{9380204C-D3AB-4D9C-AEB5-03D679C223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4" y="356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43" name="Oval 15">
                  <a:extLst>
                    <a:ext uri="{FF2B5EF4-FFF2-40B4-BE49-F238E27FC236}">
                      <a16:creationId xmlns:a16="http://schemas.microsoft.com/office/drawing/2014/main" id="{98439899-9CFF-476C-AE2E-2535B9376E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0" y="3296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44" name="Oval 16">
                  <a:extLst>
                    <a:ext uri="{FF2B5EF4-FFF2-40B4-BE49-F238E27FC236}">
                      <a16:creationId xmlns:a16="http://schemas.microsoft.com/office/drawing/2014/main" id="{3A96EBF1-E05C-4B7C-9D51-39E2B15893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2" y="3296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45" name="Oval 17">
                  <a:extLst>
                    <a:ext uri="{FF2B5EF4-FFF2-40B4-BE49-F238E27FC236}">
                      <a16:creationId xmlns:a16="http://schemas.microsoft.com/office/drawing/2014/main" id="{D58AA626-3CC7-4161-B2F1-BA78DD53E6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576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46" name="Oval 18">
                  <a:extLst>
                    <a:ext uri="{FF2B5EF4-FFF2-40B4-BE49-F238E27FC236}">
                      <a16:creationId xmlns:a16="http://schemas.microsoft.com/office/drawing/2014/main" id="{E973E114-E0D8-4DCA-90F6-5779079C85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3584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47" name="Oval 19">
                  <a:extLst>
                    <a:ext uri="{FF2B5EF4-FFF2-40B4-BE49-F238E27FC236}">
                      <a16:creationId xmlns:a16="http://schemas.microsoft.com/office/drawing/2014/main" id="{15531585-AE5A-47F7-9B3A-C88F23B197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0" y="3856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48" name="Oval 20">
                  <a:extLst>
                    <a:ext uri="{FF2B5EF4-FFF2-40B4-BE49-F238E27FC236}">
                      <a16:creationId xmlns:a16="http://schemas.microsoft.com/office/drawing/2014/main" id="{F9C461C0-AAE7-4BE1-AFC5-532FDC4AD7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0" y="3856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0" rIns="18288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31" name="Text Box 21">
                <a:extLst>
                  <a:ext uri="{FF2B5EF4-FFF2-40B4-BE49-F238E27FC236}">
                    <a16:creationId xmlns:a16="http://schemas.microsoft.com/office/drawing/2014/main" id="{2D9CC1BD-6EEF-48CA-8BBA-664EA8E653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1771"/>
                <a:ext cx="2155" cy="1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18288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/>
                <a:r>
                  <a:rPr lang="en-US" altLang="en-US" i="1">
                    <a:latin typeface="Bookman Old Style" panose="02050604050505020204" pitchFamily="18" charset="0"/>
                  </a:rPr>
                  <a:t>         </a:t>
                </a:r>
                <a:r>
                  <a:rPr lang="en-US" altLang="en-US" sz="2000" i="1">
                    <a:latin typeface="Bookman Old Style" panose="02050604050505020204" pitchFamily="18" charset="0"/>
                  </a:rPr>
                  <a:t>b                      e</a:t>
                </a:r>
              </a:p>
              <a:p>
                <a:pPr algn="l"/>
                <a:endParaRPr lang="en-US" altLang="en-US" sz="2000" i="1">
                  <a:latin typeface="Bookman Old Style" panose="02050604050505020204" pitchFamily="18" charset="0"/>
                </a:endParaRPr>
              </a:p>
              <a:p>
                <a:pPr algn="l"/>
                <a:r>
                  <a:rPr lang="en-US" altLang="en-US" sz="2000" i="1">
                    <a:latin typeface="Bookman Old Style" panose="02050604050505020204" pitchFamily="18" charset="0"/>
                  </a:rPr>
                  <a:t>a                     d              g </a:t>
                </a:r>
              </a:p>
              <a:p>
                <a:pPr algn="l"/>
                <a:endParaRPr lang="en-US" altLang="en-US" sz="2000" i="1">
                  <a:latin typeface="Bookman Old Style" panose="02050604050505020204" pitchFamily="18" charset="0"/>
                </a:endParaRPr>
              </a:p>
              <a:p>
                <a:pPr algn="l"/>
                <a:r>
                  <a:rPr lang="en-US" altLang="en-US" sz="2000" i="1">
                    <a:latin typeface="Bookman Old Style" panose="02050604050505020204" pitchFamily="18" charset="0"/>
                  </a:rPr>
                  <a:t> </a:t>
                </a:r>
              </a:p>
              <a:p>
                <a:pPr algn="l"/>
                <a:r>
                  <a:rPr lang="en-US" altLang="en-US" sz="2000" i="1">
                    <a:latin typeface="Bookman Old Style" panose="02050604050505020204" pitchFamily="18" charset="0"/>
                  </a:rPr>
                  <a:t>          c                  f</a:t>
                </a:r>
              </a:p>
            </p:txBody>
          </p:sp>
        </p:grp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65B6EC4E-D9A5-434D-AA96-5B7C7D4D69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8" y="2576"/>
              <a:ext cx="98" cy="9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E9CAAF39-70B8-4635-ABCC-F446E73197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49" y="2984"/>
              <a:ext cx="98" cy="9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B74700A6-93D4-4211-8B0B-ACC1C8D43A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49" y="2175"/>
              <a:ext cx="98" cy="98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64152F3C-8135-4FCC-B91F-0F971F6123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5" y="2984"/>
              <a:ext cx="98" cy="98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A0B869C3-D0B7-4FE1-B502-359E8210CD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5" y="2175"/>
              <a:ext cx="98" cy="9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8D07D175-24CD-4EAB-AFEE-9AE9F63EFF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65" y="2591"/>
              <a:ext cx="98" cy="9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F0377CFD-B365-4243-AD5C-F73943F499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4" y="2584"/>
              <a:ext cx="98" cy="9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347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world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Assigning of a GSM frequencies in INDIA such that no two states frequencies could not be overlapped.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can we assign the frequencies such that least number of frequencies can be used.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applicable to all the countries.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2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a map is colored, two regions with a common border are customarily assigned different colors.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want to use the smallest number of colors instead of just assigning every region its own color.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52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4-Color Map Theorem.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It can be shown that any two-dimensional map can be painted using four colors in such a way that adjacent regions (meaning those which sharing a common boundary segment, and not just a point) are different colors.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61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Solution to Problem</a:t>
            </a:r>
          </a:p>
        </p:txBody>
      </p:sp>
      <p:pic>
        <p:nvPicPr>
          <p:cNvPr id="4" name="Picture 41" descr="C:\Users\VenkateswaraReddy\Desktop\india.png">
            <a:extLst>
              <a:ext uri="{FF2B5EF4-FFF2-40B4-BE49-F238E27FC236}">
                <a16:creationId xmlns:a16="http://schemas.microsoft.com/office/drawing/2014/main" id="{AC9DA511-82ED-478D-9D45-BD13B3DEA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9880" y="1463800"/>
            <a:ext cx="5038314" cy="49087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28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Four colors are sufficient to color a map of the contiguous United States.</a:t>
            </a:r>
          </a:p>
          <a:p>
            <a:pPr marL="0" indent="0">
              <a:buNone/>
            </a:pPr>
            <a:r>
              <a:rPr lang="en-US" sz="2400" dirty="0"/>
              <a:t>Source of map:</a:t>
            </a:r>
          </a:p>
          <a:p>
            <a:pPr marL="0" indent="0">
              <a:buNone/>
            </a:pPr>
            <a:r>
              <a:rPr lang="en-US" sz="2400" dirty="0"/>
              <a:t>http://www.math.gatech.edu/~thomas/FC/fourcolor.html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5" descr="usa">
            <a:extLst>
              <a:ext uri="{FF2B5EF4-FFF2-40B4-BE49-F238E27FC236}">
                <a16:creationId xmlns:a16="http://schemas.microsoft.com/office/drawing/2014/main" id="{84DEFCD0-7D81-4854-BEF3-ECC757B7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7458" y="3817856"/>
            <a:ext cx="6858000" cy="28451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120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Definition: A graph is planar if it can be drawn in a plane without edge-crossings.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four-color theorem: For every planar graph, the chromatic number is ≤ 4.</a:t>
            </a:r>
          </a:p>
          <a:p>
            <a:pPr marL="0" indent="0">
              <a:buNone/>
            </a:pPr>
            <a:r>
              <a:rPr lang="en-US" sz="2400" dirty="0"/>
              <a:t>Was posed as a conjecture in the 1850s. Finally proved in 1976 (Appel and Haken) by the aid of computers.		</a:t>
            </a:r>
          </a:p>
          <a:p>
            <a:pPr marL="0" indent="0">
              <a:buNone/>
            </a:pPr>
            <a:endParaRPr lang="en-IN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A7EDB8-AF43-49F4-9903-6300E0DD655E}"/>
              </a:ext>
            </a:extLst>
          </p:cNvPr>
          <p:cNvGrpSpPr/>
          <p:nvPr/>
        </p:nvGrpSpPr>
        <p:grpSpPr>
          <a:xfrm>
            <a:off x="4081987" y="2019809"/>
            <a:ext cx="3744912" cy="1765300"/>
            <a:chOff x="3827463" y="1916113"/>
            <a:chExt cx="3744912" cy="176530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40667261-A449-4F9E-8813-E294B8EF3F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2900" y="2205038"/>
              <a:ext cx="64770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26773C9D-AC8E-447F-BE0E-3C4EA6CEE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900" y="2924176"/>
              <a:ext cx="611188" cy="468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0C3AD955-72EB-44FE-B23C-61480B875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0964" y="2097088"/>
              <a:ext cx="935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90186393-11A4-4588-AFD6-2CB72B545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1" y="3500438"/>
              <a:ext cx="1044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B418408A-F4AA-44AE-BE4E-D22FA71E9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5063" y="2276476"/>
              <a:ext cx="0" cy="1044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96B4A1E2-3FC8-44F9-9067-C2702D3E0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8413" y="2312988"/>
              <a:ext cx="0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6C03C9AB-26A4-400E-9568-F5E773F6ED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3014" y="2276476"/>
              <a:ext cx="1150937" cy="1116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8AB2349B-7AD7-4C31-98DB-539936486F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7463" y="1916113"/>
              <a:ext cx="3744912" cy="1765300"/>
              <a:chOff x="226" y="2908"/>
              <a:chExt cx="2359" cy="1112"/>
            </a:xfrm>
          </p:grpSpPr>
          <p:sp>
            <p:nvSpPr>
              <p:cNvPr id="13" name="Oval 14">
                <a:extLst>
                  <a:ext uri="{FF2B5EF4-FFF2-40B4-BE49-F238E27FC236}">
                    <a16:creationId xmlns:a16="http://schemas.microsoft.com/office/drawing/2014/main" id="{006BAC70-B7CF-454E-A2B5-E8F576CA6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" y="3317"/>
                <a:ext cx="250" cy="22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" name="Oval 15">
                <a:extLst>
                  <a:ext uri="{FF2B5EF4-FFF2-40B4-BE49-F238E27FC236}">
                    <a16:creationId xmlns:a16="http://schemas.microsoft.com/office/drawing/2014/main" id="{BE1DE3DA-273E-43DF-8352-BFEF9F16E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908"/>
                <a:ext cx="250" cy="227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5" name="Oval 16">
                <a:extLst>
                  <a:ext uri="{FF2B5EF4-FFF2-40B4-BE49-F238E27FC236}">
                    <a16:creationId xmlns:a16="http://schemas.microsoft.com/office/drawing/2014/main" id="{36E6C37F-6F7C-41D5-A989-317065C20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793"/>
                <a:ext cx="250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6" name="Oval 17">
                <a:extLst>
                  <a:ext uri="{FF2B5EF4-FFF2-40B4-BE49-F238E27FC236}">
                    <a16:creationId xmlns:a16="http://schemas.microsoft.com/office/drawing/2014/main" id="{C6AD9711-0B95-4E3C-8997-F6465ECF9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2931"/>
                <a:ext cx="250" cy="22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" name="Oval 18">
                <a:extLst>
                  <a:ext uri="{FF2B5EF4-FFF2-40B4-BE49-F238E27FC236}">
                    <a16:creationId xmlns:a16="http://schemas.microsoft.com/office/drawing/2014/main" id="{C4C3D7A4-B069-42C8-A7AC-59B9FF1C8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1" y="3770"/>
                <a:ext cx="250" cy="227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8" name="Text Box 19">
                <a:extLst>
                  <a:ext uri="{FF2B5EF4-FFF2-40B4-BE49-F238E27FC236}">
                    <a16:creationId xmlns:a16="http://schemas.microsoft.com/office/drawing/2014/main" id="{B710FEC7-2AAF-4438-B68B-BDDE9FA5B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8" y="3090"/>
                <a:ext cx="22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441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The standard approach to coloring a map is to use a single color for a state and never use the same color for two states.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Two states whose common border is just one point can be colored, if we so choose, with the same color.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661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2223BE-309E-4DA9-9E85-660DE50C2BE7}"/>
              </a:ext>
            </a:extLst>
          </p:cNvPr>
          <p:cNvGrpSpPr/>
          <p:nvPr/>
        </p:nvGrpSpPr>
        <p:grpSpPr>
          <a:xfrm>
            <a:off x="1976318" y="1385450"/>
            <a:ext cx="5543550" cy="4892675"/>
            <a:chOff x="3000375" y="1317626"/>
            <a:chExt cx="5543550" cy="4892675"/>
          </a:xfrm>
        </p:grpSpPr>
        <p:pic>
          <p:nvPicPr>
            <p:cNvPr id="7" name="Picture 37" descr="C:\Users\VenkateswaraReddy\Downloads\LcKrrpz7i.jpg">
              <a:extLst>
                <a:ext uri="{FF2B5EF4-FFF2-40B4-BE49-F238E27FC236}">
                  <a16:creationId xmlns:a16="http://schemas.microsoft.com/office/drawing/2014/main" id="{F92CBDDB-FDF8-49A8-B864-1FC41C558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0375" y="1317626"/>
              <a:ext cx="5543550" cy="4892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lowchart: Connector 1">
              <a:extLst>
                <a:ext uri="{FF2B5EF4-FFF2-40B4-BE49-F238E27FC236}">
                  <a16:creationId xmlns:a16="http://schemas.microsoft.com/office/drawing/2014/main" id="{D62CE0C6-5AAD-4346-8A1F-C6D586722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7463" y="2197101"/>
              <a:ext cx="114300" cy="149225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F1DF601A-4BAD-4C96-8FC1-D41CA806CCE4}"/>
                </a:ext>
              </a:extLst>
            </p:cNvPr>
            <p:cNvSpPr/>
            <p:nvPr/>
          </p:nvSpPr>
          <p:spPr bwMode="auto">
            <a:xfrm>
              <a:off x="5154613" y="2597151"/>
              <a:ext cx="114300" cy="149225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Flowchart: Connector 41">
              <a:extLst>
                <a:ext uri="{FF2B5EF4-FFF2-40B4-BE49-F238E27FC236}">
                  <a16:creationId xmlns:a16="http://schemas.microsoft.com/office/drawing/2014/main" id="{D32C094A-F716-4EB3-89B0-AF2E05B60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706689"/>
              <a:ext cx="114300" cy="149225"/>
            </a:xfrm>
            <a:prstGeom prst="flowChartConnector">
              <a:avLst/>
            </a:prstGeom>
            <a:solidFill>
              <a:srgbClr val="0033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Flowchart: Connector 44">
              <a:extLst>
                <a:ext uri="{FF2B5EF4-FFF2-40B4-BE49-F238E27FC236}">
                  <a16:creationId xmlns:a16="http://schemas.microsoft.com/office/drawing/2014/main" id="{295F5AED-D1FA-45F9-B468-C268B9AA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7538" y="3402014"/>
              <a:ext cx="114300" cy="149225"/>
            </a:xfrm>
            <a:prstGeom prst="flowChartConnector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Flowchart: Connector 50">
              <a:extLst>
                <a:ext uri="{FF2B5EF4-FFF2-40B4-BE49-F238E27FC236}">
                  <a16:creationId xmlns:a16="http://schemas.microsoft.com/office/drawing/2014/main" id="{78C0EC77-FD70-4937-BC91-213A4F8F5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475" y="4806951"/>
              <a:ext cx="114300" cy="149225"/>
            </a:xfrm>
            <a:prstGeom prst="flowChartConnector">
              <a:avLst/>
            </a:prstGeom>
            <a:solidFill>
              <a:srgbClr val="00B05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Flowchart: Connector 51">
              <a:extLst>
                <a:ext uri="{FF2B5EF4-FFF2-40B4-BE49-F238E27FC236}">
                  <a16:creationId xmlns:a16="http://schemas.microsoft.com/office/drawing/2014/main" id="{7B68B001-DA4A-4B63-870F-5402EDC5B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413" y="5634039"/>
              <a:ext cx="114300" cy="147637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Flowchart: Connector 52">
              <a:extLst>
                <a:ext uri="{FF2B5EF4-FFF2-40B4-BE49-F238E27FC236}">
                  <a16:creationId xmlns:a16="http://schemas.microsoft.com/office/drawing/2014/main" id="{2DC22487-3B1E-42F1-BBA2-BAC7A098F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5675314"/>
              <a:ext cx="114300" cy="147637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5" name="Flowchart: Connector 54">
              <a:extLst>
                <a:ext uri="{FF2B5EF4-FFF2-40B4-BE49-F238E27FC236}">
                  <a16:creationId xmlns:a16="http://schemas.microsoft.com/office/drawing/2014/main" id="{2A1ADA49-2B33-4BDA-997E-A2D47DBC3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1600" y="3519489"/>
              <a:ext cx="114300" cy="149225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6" name="Flowchart: Connector 55">
              <a:extLst>
                <a:ext uri="{FF2B5EF4-FFF2-40B4-BE49-F238E27FC236}">
                  <a16:creationId xmlns:a16="http://schemas.microsoft.com/office/drawing/2014/main" id="{E2777467-D792-43B7-B708-E131AC3D6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1675" y="4022725"/>
              <a:ext cx="114300" cy="147638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Flowchart: Connector 56">
              <a:extLst>
                <a:ext uri="{FF2B5EF4-FFF2-40B4-BE49-F238E27FC236}">
                  <a16:creationId xmlns:a16="http://schemas.microsoft.com/office/drawing/2014/main" id="{5A6AC3E2-1F4E-4781-B62A-BFEE620AA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5700" y="4144964"/>
              <a:ext cx="114300" cy="149225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8" name="Flowchart: Connector 58">
              <a:extLst>
                <a:ext uri="{FF2B5EF4-FFF2-40B4-BE49-F238E27FC236}">
                  <a16:creationId xmlns:a16="http://schemas.microsoft.com/office/drawing/2014/main" id="{3B901145-0DEA-476B-B29D-87B2D7FB8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6875" y="3873501"/>
              <a:ext cx="114300" cy="149225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Flowchart: Connector 59">
              <a:extLst>
                <a:ext uri="{FF2B5EF4-FFF2-40B4-BE49-F238E27FC236}">
                  <a16:creationId xmlns:a16="http://schemas.microsoft.com/office/drawing/2014/main" id="{44F7A0E5-8298-42FB-A1F7-C0ACDF003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8725" y="3808414"/>
              <a:ext cx="114300" cy="149225"/>
            </a:xfrm>
            <a:prstGeom prst="flowChartConnector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20" name="Straight Connector 7">
              <a:extLst>
                <a:ext uri="{FF2B5EF4-FFF2-40B4-BE49-F238E27FC236}">
                  <a16:creationId xmlns:a16="http://schemas.microsoft.com/office/drawing/2014/main" id="{2E4E8843-AD93-4974-8D1E-E6A312DF8D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83113" y="2968625"/>
              <a:ext cx="246062" cy="446088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Straight Connector 74">
              <a:extLst>
                <a:ext uri="{FF2B5EF4-FFF2-40B4-BE49-F238E27FC236}">
                  <a16:creationId xmlns:a16="http://schemas.microsoft.com/office/drawing/2014/main" id="{56137DC1-CF53-4620-909E-FB4EC8F08CC6}"/>
                </a:ext>
              </a:extLst>
            </p:cNvPr>
            <p:cNvCxnSpPr>
              <a:cxnSpLocks noChangeShapeType="1"/>
              <a:stCxn id="8" idx="3"/>
            </p:cNvCxnSpPr>
            <p:nvPr/>
          </p:nvCxnSpPr>
          <p:spPr bwMode="auto">
            <a:xfrm flipH="1">
              <a:off x="4913313" y="2324100"/>
              <a:ext cx="201612" cy="528638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Straight Connector 75">
              <a:extLst>
                <a:ext uri="{FF2B5EF4-FFF2-40B4-BE49-F238E27FC236}">
                  <a16:creationId xmlns:a16="http://schemas.microsoft.com/office/drawing/2014/main" id="{9F91DE2F-D75F-4FD5-8D8F-CAC2854C1F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0963" y="2363788"/>
              <a:ext cx="30162" cy="36195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Straight Connector 76">
              <a:extLst>
                <a:ext uri="{FF2B5EF4-FFF2-40B4-BE49-F238E27FC236}">
                  <a16:creationId xmlns:a16="http://schemas.microsoft.com/office/drawing/2014/main" id="{413094CE-D6A8-4274-AD7C-B3C5604FC5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105275" y="3536950"/>
              <a:ext cx="420688" cy="541338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Straight Connector 77">
              <a:extLst>
                <a:ext uri="{FF2B5EF4-FFF2-40B4-BE49-F238E27FC236}">
                  <a16:creationId xmlns:a16="http://schemas.microsoft.com/office/drawing/2014/main" id="{BD08B27F-6798-452E-864F-3B9F4CBF21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053014" y="2814639"/>
              <a:ext cx="161925" cy="293687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Straight Connector 78">
              <a:extLst>
                <a:ext uri="{FF2B5EF4-FFF2-40B4-BE49-F238E27FC236}">
                  <a16:creationId xmlns:a16="http://schemas.microsoft.com/office/drawing/2014/main" id="{7978BDE3-B131-40F4-85AC-B90112D444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27613" y="3043238"/>
              <a:ext cx="508000" cy="1778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Straight Connector 79">
              <a:extLst>
                <a:ext uri="{FF2B5EF4-FFF2-40B4-BE49-F238E27FC236}">
                  <a16:creationId xmlns:a16="http://schemas.microsoft.com/office/drawing/2014/main" id="{DEA8A4E3-0D09-4904-8C43-6A75EB751E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73675" y="2778126"/>
              <a:ext cx="261938" cy="265113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Straight Connector 80">
              <a:extLst>
                <a:ext uri="{FF2B5EF4-FFF2-40B4-BE49-F238E27FC236}">
                  <a16:creationId xmlns:a16="http://schemas.microsoft.com/office/drawing/2014/main" id="{87C44C8C-F80E-49C0-9FD6-9F2326219F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3475" y="2911476"/>
              <a:ext cx="52388" cy="271463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Connector 81">
              <a:extLst>
                <a:ext uri="{FF2B5EF4-FFF2-40B4-BE49-F238E27FC236}">
                  <a16:creationId xmlns:a16="http://schemas.microsoft.com/office/drawing/2014/main" id="{C4F9BF23-5F2A-4EC8-B603-A4CC65A79D79}"/>
                </a:ext>
              </a:extLst>
            </p:cNvPr>
            <p:cNvCxnSpPr>
              <a:cxnSpLocks noChangeShapeType="1"/>
              <a:endCxn id="10" idx="6"/>
            </p:cNvCxnSpPr>
            <p:nvPr/>
          </p:nvCxnSpPr>
          <p:spPr bwMode="auto">
            <a:xfrm flipH="1">
              <a:off x="4960939" y="2638426"/>
              <a:ext cx="268287" cy="1428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Connector 82">
              <a:extLst>
                <a:ext uri="{FF2B5EF4-FFF2-40B4-BE49-F238E27FC236}">
                  <a16:creationId xmlns:a16="http://schemas.microsoft.com/office/drawing/2014/main" id="{EB4501B4-74A6-4F66-94EB-B3098CEC15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27689" y="3063875"/>
              <a:ext cx="612775" cy="3048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Straight Connector 83">
              <a:extLst>
                <a:ext uri="{FF2B5EF4-FFF2-40B4-BE49-F238E27FC236}">
                  <a16:creationId xmlns:a16="http://schemas.microsoft.com/office/drawing/2014/main" id="{01FF49CF-4820-4174-9A18-ADE8139B60CA}"/>
                </a:ext>
              </a:extLst>
            </p:cNvPr>
            <p:cNvCxnSpPr>
              <a:cxnSpLocks noChangeShapeType="1"/>
              <a:endCxn id="11" idx="3"/>
            </p:cNvCxnSpPr>
            <p:nvPr/>
          </p:nvCxnSpPr>
          <p:spPr bwMode="auto">
            <a:xfrm>
              <a:off x="5562601" y="3030539"/>
              <a:ext cx="150813" cy="4984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Straight Connector 92">
              <a:extLst>
                <a:ext uri="{FF2B5EF4-FFF2-40B4-BE49-F238E27FC236}">
                  <a16:creationId xmlns:a16="http://schemas.microsoft.com/office/drawing/2014/main" id="{AE1FC150-BD9A-4DCA-85B4-0947B440D7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40263" y="3216275"/>
              <a:ext cx="379412" cy="27305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Straight Connector 94">
              <a:extLst>
                <a:ext uri="{FF2B5EF4-FFF2-40B4-BE49-F238E27FC236}">
                  <a16:creationId xmlns:a16="http://schemas.microsoft.com/office/drawing/2014/main" id="{DAC0E043-9BA3-4E28-B31F-405EEDDB0A4B}"/>
                </a:ext>
              </a:extLst>
            </p:cNvPr>
            <p:cNvCxnSpPr>
              <a:cxnSpLocks noChangeShapeType="1"/>
              <a:stCxn id="11" idx="4"/>
              <a:endCxn id="66" idx="6"/>
            </p:cNvCxnSpPr>
            <p:nvPr/>
          </p:nvCxnSpPr>
          <p:spPr bwMode="auto">
            <a:xfrm flipH="1">
              <a:off x="5421314" y="3551238"/>
              <a:ext cx="333375" cy="423862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Straight Connector 95">
              <a:extLst>
                <a:ext uri="{FF2B5EF4-FFF2-40B4-BE49-F238E27FC236}">
                  <a16:creationId xmlns:a16="http://schemas.microsoft.com/office/drawing/2014/main" id="{F05442FF-3EAC-4A6D-9D4C-8DDD8DD3957C}"/>
                </a:ext>
              </a:extLst>
            </p:cNvPr>
            <p:cNvCxnSpPr>
              <a:cxnSpLocks noChangeShapeType="1"/>
              <a:stCxn id="61" idx="2"/>
              <a:endCxn id="11" idx="6"/>
            </p:cNvCxnSpPr>
            <p:nvPr/>
          </p:nvCxnSpPr>
          <p:spPr bwMode="auto">
            <a:xfrm flipH="1">
              <a:off x="5811839" y="3238501"/>
              <a:ext cx="534987" cy="239713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Straight Connector 96">
              <a:extLst>
                <a:ext uri="{FF2B5EF4-FFF2-40B4-BE49-F238E27FC236}">
                  <a16:creationId xmlns:a16="http://schemas.microsoft.com/office/drawing/2014/main" id="{5CB72886-B0FA-443C-8928-EC92E7DF0537}"/>
                </a:ext>
              </a:extLst>
            </p:cNvPr>
            <p:cNvCxnSpPr>
              <a:cxnSpLocks noChangeShapeType="1"/>
              <a:stCxn id="61" idx="5"/>
              <a:endCxn id="15" idx="0"/>
            </p:cNvCxnSpPr>
            <p:nvPr/>
          </p:nvCxnSpPr>
          <p:spPr bwMode="auto">
            <a:xfrm>
              <a:off x="6443664" y="3290888"/>
              <a:ext cx="65087" cy="2286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Straight Connector 97">
              <a:extLst>
                <a:ext uri="{FF2B5EF4-FFF2-40B4-BE49-F238E27FC236}">
                  <a16:creationId xmlns:a16="http://schemas.microsoft.com/office/drawing/2014/main" id="{3B686D6C-1CCF-4E82-B98A-C5611AB2713F}"/>
                </a:ext>
              </a:extLst>
            </p:cNvPr>
            <p:cNvCxnSpPr>
              <a:cxnSpLocks noChangeShapeType="1"/>
              <a:stCxn id="11" idx="4"/>
              <a:endCxn id="16" idx="1"/>
            </p:cNvCxnSpPr>
            <p:nvPr/>
          </p:nvCxnSpPr>
          <p:spPr bwMode="auto">
            <a:xfrm>
              <a:off x="5754688" y="3551238"/>
              <a:ext cx="44450" cy="493712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Straight Connector 98">
              <a:extLst>
                <a:ext uri="{FF2B5EF4-FFF2-40B4-BE49-F238E27FC236}">
                  <a16:creationId xmlns:a16="http://schemas.microsoft.com/office/drawing/2014/main" id="{BB6F52E9-A0D8-4899-B52D-085C9C7458FA}"/>
                </a:ext>
              </a:extLst>
            </p:cNvPr>
            <p:cNvCxnSpPr>
              <a:cxnSpLocks noChangeShapeType="1"/>
              <a:endCxn id="57" idx="3"/>
            </p:cNvCxnSpPr>
            <p:nvPr/>
          </p:nvCxnSpPr>
          <p:spPr bwMode="auto">
            <a:xfrm>
              <a:off x="4105275" y="4017964"/>
              <a:ext cx="514350" cy="560387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Straight Connector 99">
              <a:extLst>
                <a:ext uri="{FF2B5EF4-FFF2-40B4-BE49-F238E27FC236}">
                  <a16:creationId xmlns:a16="http://schemas.microsoft.com/office/drawing/2014/main" id="{EEBFE70B-639E-43EB-B57C-E1E33D9B11FA}"/>
                </a:ext>
              </a:extLst>
            </p:cNvPr>
            <p:cNvCxnSpPr>
              <a:cxnSpLocks noChangeShapeType="1"/>
              <a:endCxn id="66" idx="2"/>
            </p:cNvCxnSpPr>
            <p:nvPr/>
          </p:nvCxnSpPr>
          <p:spPr bwMode="auto">
            <a:xfrm>
              <a:off x="4632325" y="3532188"/>
              <a:ext cx="674688" cy="442912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Straight Connector 111">
              <a:extLst>
                <a:ext uri="{FF2B5EF4-FFF2-40B4-BE49-F238E27FC236}">
                  <a16:creationId xmlns:a16="http://schemas.microsoft.com/office/drawing/2014/main" id="{D2A609C8-749B-4F2F-ADD1-AD95F1C8E5B6}"/>
                </a:ext>
              </a:extLst>
            </p:cNvPr>
            <p:cNvCxnSpPr>
              <a:cxnSpLocks noChangeShapeType="1"/>
              <a:stCxn id="15" idx="3"/>
            </p:cNvCxnSpPr>
            <p:nvPr/>
          </p:nvCxnSpPr>
          <p:spPr bwMode="auto">
            <a:xfrm flipH="1">
              <a:off x="6357939" y="3646489"/>
              <a:ext cx="109537" cy="204787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112">
              <a:extLst>
                <a:ext uri="{FF2B5EF4-FFF2-40B4-BE49-F238E27FC236}">
                  <a16:creationId xmlns:a16="http://schemas.microsoft.com/office/drawing/2014/main" id="{E9AE763B-1D13-4134-A413-A696CA806877}"/>
                </a:ext>
              </a:extLst>
            </p:cNvPr>
            <p:cNvCxnSpPr>
              <a:cxnSpLocks noChangeShapeType="1"/>
              <a:endCxn id="69" idx="7"/>
            </p:cNvCxnSpPr>
            <p:nvPr/>
          </p:nvCxnSpPr>
          <p:spPr bwMode="auto">
            <a:xfrm>
              <a:off x="4646614" y="4581525"/>
              <a:ext cx="52387" cy="47625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113">
              <a:extLst>
                <a:ext uri="{FF2B5EF4-FFF2-40B4-BE49-F238E27FC236}">
                  <a16:creationId xmlns:a16="http://schemas.microsoft.com/office/drawing/2014/main" id="{4DB1C760-5DC8-4C49-9A12-60828FBA099D}"/>
                </a:ext>
              </a:extLst>
            </p:cNvPr>
            <p:cNvCxnSpPr>
              <a:cxnSpLocks noChangeShapeType="1"/>
              <a:stCxn id="16" idx="3"/>
            </p:cNvCxnSpPr>
            <p:nvPr/>
          </p:nvCxnSpPr>
          <p:spPr bwMode="auto">
            <a:xfrm flipH="1">
              <a:off x="4697414" y="4148139"/>
              <a:ext cx="1101725" cy="37782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Connector 114">
              <a:extLst>
                <a:ext uri="{FF2B5EF4-FFF2-40B4-BE49-F238E27FC236}">
                  <a16:creationId xmlns:a16="http://schemas.microsoft.com/office/drawing/2014/main" id="{82EA5F76-438F-459F-988A-1BC5D40E4550}"/>
                </a:ext>
              </a:extLst>
            </p:cNvPr>
            <p:cNvCxnSpPr>
              <a:cxnSpLocks noChangeShapeType="1"/>
              <a:endCxn id="12" idx="7"/>
            </p:cNvCxnSpPr>
            <p:nvPr/>
          </p:nvCxnSpPr>
          <p:spPr bwMode="auto">
            <a:xfrm flipH="1">
              <a:off x="5421313" y="4130675"/>
              <a:ext cx="417512" cy="6985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115">
              <a:extLst>
                <a:ext uri="{FF2B5EF4-FFF2-40B4-BE49-F238E27FC236}">
                  <a16:creationId xmlns:a16="http://schemas.microsoft.com/office/drawing/2014/main" id="{9756BDF6-8E77-4BFA-B6DC-E5DC7E144400}"/>
                </a:ext>
              </a:extLst>
            </p:cNvPr>
            <p:cNvCxnSpPr>
              <a:cxnSpLocks noChangeShapeType="1"/>
              <a:stCxn id="14" idx="3"/>
            </p:cNvCxnSpPr>
            <p:nvPr/>
          </p:nvCxnSpPr>
          <p:spPr bwMode="auto">
            <a:xfrm flipH="1" flipV="1">
              <a:off x="4730751" y="5770563"/>
              <a:ext cx="288925" cy="3175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116">
              <a:extLst>
                <a:ext uri="{FF2B5EF4-FFF2-40B4-BE49-F238E27FC236}">
                  <a16:creationId xmlns:a16="http://schemas.microsoft.com/office/drawing/2014/main" id="{EB13201A-3180-4F14-93BB-7F4F6DAA2A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81739" y="3881438"/>
              <a:ext cx="96837" cy="3810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117">
              <a:extLst>
                <a:ext uri="{FF2B5EF4-FFF2-40B4-BE49-F238E27FC236}">
                  <a16:creationId xmlns:a16="http://schemas.microsoft.com/office/drawing/2014/main" id="{36C7A45E-382A-412C-A1D4-59185A3330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51576" y="3921126"/>
              <a:ext cx="555625" cy="347663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118">
              <a:extLst>
                <a:ext uri="{FF2B5EF4-FFF2-40B4-BE49-F238E27FC236}">
                  <a16:creationId xmlns:a16="http://schemas.microsoft.com/office/drawing/2014/main" id="{05EB8D0A-D526-48B5-B0D4-21EC6F50776C}"/>
                </a:ext>
              </a:extLst>
            </p:cNvPr>
            <p:cNvCxnSpPr>
              <a:cxnSpLocks noChangeShapeType="1"/>
              <a:stCxn id="69" idx="5"/>
              <a:endCxn id="14" idx="2"/>
            </p:cNvCxnSpPr>
            <p:nvPr/>
          </p:nvCxnSpPr>
          <p:spPr bwMode="auto">
            <a:xfrm>
              <a:off x="4699001" y="5162551"/>
              <a:ext cx="303213" cy="5873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119">
              <a:extLst>
                <a:ext uri="{FF2B5EF4-FFF2-40B4-BE49-F238E27FC236}">
                  <a16:creationId xmlns:a16="http://schemas.microsoft.com/office/drawing/2014/main" id="{0BDE3A62-DD56-4365-B406-275AAA314F1E}"/>
                </a:ext>
              </a:extLst>
            </p:cNvPr>
            <p:cNvCxnSpPr>
              <a:cxnSpLocks noChangeShapeType="1"/>
              <a:stCxn id="66" idx="2"/>
              <a:endCxn id="57" idx="4"/>
            </p:cNvCxnSpPr>
            <p:nvPr/>
          </p:nvCxnSpPr>
          <p:spPr bwMode="auto">
            <a:xfrm flipH="1">
              <a:off x="4659313" y="3975101"/>
              <a:ext cx="647700" cy="6254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120">
              <a:extLst>
                <a:ext uri="{FF2B5EF4-FFF2-40B4-BE49-F238E27FC236}">
                  <a16:creationId xmlns:a16="http://schemas.microsoft.com/office/drawing/2014/main" id="{238734E2-AB70-42D2-B890-FDE014709FF4}"/>
                </a:ext>
              </a:extLst>
            </p:cNvPr>
            <p:cNvCxnSpPr>
              <a:cxnSpLocks noChangeShapeType="1"/>
              <a:stCxn id="12" idx="2"/>
            </p:cNvCxnSpPr>
            <p:nvPr/>
          </p:nvCxnSpPr>
          <p:spPr bwMode="auto">
            <a:xfrm flipH="1">
              <a:off x="4630739" y="4881564"/>
              <a:ext cx="693737" cy="14922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Straight Connector 121">
              <a:extLst>
                <a:ext uri="{FF2B5EF4-FFF2-40B4-BE49-F238E27FC236}">
                  <a16:creationId xmlns:a16="http://schemas.microsoft.com/office/drawing/2014/main" id="{3D095EE5-A6C9-4978-AE31-67B95968FE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094289" y="4967289"/>
              <a:ext cx="257175" cy="7143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Straight Connector 122">
              <a:extLst>
                <a:ext uri="{FF2B5EF4-FFF2-40B4-BE49-F238E27FC236}">
                  <a16:creationId xmlns:a16="http://schemas.microsoft.com/office/drawing/2014/main" id="{00C058B7-46E4-4F50-A8C1-701EC0CB895A}"/>
                </a:ext>
              </a:extLst>
            </p:cNvPr>
            <p:cNvCxnSpPr>
              <a:cxnSpLocks noChangeShapeType="1"/>
              <a:endCxn id="13" idx="0"/>
            </p:cNvCxnSpPr>
            <p:nvPr/>
          </p:nvCxnSpPr>
          <p:spPr bwMode="auto">
            <a:xfrm>
              <a:off x="4670425" y="4995864"/>
              <a:ext cx="84138" cy="6381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Straight Connector 138">
              <a:extLst>
                <a:ext uri="{FF2B5EF4-FFF2-40B4-BE49-F238E27FC236}">
                  <a16:creationId xmlns:a16="http://schemas.microsoft.com/office/drawing/2014/main" id="{058912BA-9EDC-4DE5-8EC5-FC9BABA45F1E}"/>
                </a:ext>
              </a:extLst>
            </p:cNvPr>
            <p:cNvCxnSpPr>
              <a:cxnSpLocks noChangeShapeType="1"/>
              <a:stCxn id="19" idx="2"/>
            </p:cNvCxnSpPr>
            <p:nvPr/>
          </p:nvCxnSpPr>
          <p:spPr bwMode="auto">
            <a:xfrm flipH="1">
              <a:off x="5876925" y="3883025"/>
              <a:ext cx="431800" cy="1397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Connector 139">
              <a:extLst>
                <a:ext uri="{FF2B5EF4-FFF2-40B4-BE49-F238E27FC236}">
                  <a16:creationId xmlns:a16="http://schemas.microsoft.com/office/drawing/2014/main" id="{7B25776F-DF0A-4F43-9D8C-ACED2DC3FBE0}"/>
                </a:ext>
              </a:extLst>
            </p:cNvPr>
            <p:cNvCxnSpPr>
              <a:cxnSpLocks noChangeShapeType="1"/>
              <a:stCxn id="17" idx="3"/>
              <a:endCxn id="12" idx="6"/>
            </p:cNvCxnSpPr>
            <p:nvPr/>
          </p:nvCxnSpPr>
          <p:spPr bwMode="auto">
            <a:xfrm flipH="1">
              <a:off x="5438775" y="4271963"/>
              <a:ext cx="814388" cy="6096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Flowchart: Connector 143">
              <a:extLst>
                <a:ext uri="{FF2B5EF4-FFF2-40B4-BE49-F238E27FC236}">
                  <a16:creationId xmlns:a16="http://schemas.microsoft.com/office/drawing/2014/main" id="{52F1CEAB-3D22-40B4-AF35-995CD8F32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813" y="3033714"/>
              <a:ext cx="114300" cy="149225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53" name="Straight Connector 144">
              <a:extLst>
                <a:ext uri="{FF2B5EF4-FFF2-40B4-BE49-F238E27FC236}">
                  <a16:creationId xmlns:a16="http://schemas.microsoft.com/office/drawing/2014/main" id="{361B5F37-2C7B-4EC5-9563-B96146F9AA68}"/>
                </a:ext>
              </a:extLst>
            </p:cNvPr>
            <p:cNvCxnSpPr>
              <a:cxnSpLocks noChangeShapeType="1"/>
              <a:endCxn id="18" idx="0"/>
            </p:cNvCxnSpPr>
            <p:nvPr/>
          </p:nvCxnSpPr>
          <p:spPr bwMode="auto">
            <a:xfrm>
              <a:off x="6534151" y="3570288"/>
              <a:ext cx="269875" cy="303212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Flowchart: Connector 53">
              <a:extLst>
                <a:ext uri="{FF2B5EF4-FFF2-40B4-BE49-F238E27FC236}">
                  <a16:creationId xmlns:a16="http://schemas.microsoft.com/office/drawing/2014/main" id="{F1B1AD56-A798-41C2-9616-BA94F72CE220}"/>
                </a:ext>
              </a:extLst>
            </p:cNvPr>
            <p:cNvSpPr/>
            <p:nvPr/>
          </p:nvSpPr>
          <p:spPr bwMode="auto">
            <a:xfrm>
              <a:off x="4511675" y="3409951"/>
              <a:ext cx="114300" cy="149225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Flowchart: Connector 147">
              <a:extLst>
                <a:ext uri="{FF2B5EF4-FFF2-40B4-BE49-F238E27FC236}">
                  <a16:creationId xmlns:a16="http://schemas.microsoft.com/office/drawing/2014/main" id="{6BB69BFD-08F5-4B9F-929F-D7FD44779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8938" y="2886075"/>
              <a:ext cx="114300" cy="147638"/>
            </a:xfrm>
            <a:prstGeom prst="flowChartConnector">
              <a:avLst/>
            </a:prstGeom>
            <a:solidFill>
              <a:srgbClr val="0033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6" name="Flowchart: Connector 148">
              <a:extLst>
                <a:ext uri="{FF2B5EF4-FFF2-40B4-BE49-F238E27FC236}">
                  <a16:creationId xmlns:a16="http://schemas.microsoft.com/office/drawing/2014/main" id="{389586ED-EA63-4699-998A-3E212F540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125" y="3979864"/>
              <a:ext cx="114300" cy="149225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" name="Flowchart: Connector 56">
              <a:extLst>
                <a:ext uri="{FF2B5EF4-FFF2-40B4-BE49-F238E27FC236}">
                  <a16:creationId xmlns:a16="http://schemas.microsoft.com/office/drawing/2014/main" id="{12C752F3-5565-432A-8035-1C08C58E0BB1}"/>
                </a:ext>
              </a:extLst>
            </p:cNvPr>
            <p:cNvSpPr/>
            <p:nvPr/>
          </p:nvSpPr>
          <p:spPr bwMode="auto">
            <a:xfrm>
              <a:off x="4602163" y="4452939"/>
              <a:ext cx="114300" cy="147637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58" name="Straight Connector 151">
              <a:extLst>
                <a:ext uri="{FF2B5EF4-FFF2-40B4-BE49-F238E27FC236}">
                  <a16:creationId xmlns:a16="http://schemas.microsoft.com/office/drawing/2014/main" id="{8467EBDC-5095-4404-952E-40071FEEF487}"/>
                </a:ext>
              </a:extLst>
            </p:cNvPr>
            <p:cNvCxnSpPr>
              <a:cxnSpLocks noChangeShapeType="1"/>
              <a:stCxn id="54" idx="6"/>
              <a:endCxn id="11" idx="2"/>
            </p:cNvCxnSpPr>
            <p:nvPr/>
          </p:nvCxnSpPr>
          <p:spPr bwMode="auto">
            <a:xfrm flipV="1">
              <a:off x="4625976" y="3478213"/>
              <a:ext cx="1071563" cy="635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Connector 152">
              <a:extLst>
                <a:ext uri="{FF2B5EF4-FFF2-40B4-BE49-F238E27FC236}">
                  <a16:creationId xmlns:a16="http://schemas.microsoft.com/office/drawing/2014/main" id="{63EC6F97-5608-4FCD-93C8-595A412B3451}"/>
                </a:ext>
              </a:extLst>
            </p:cNvPr>
            <p:cNvCxnSpPr>
              <a:cxnSpLocks noChangeShapeType="1"/>
              <a:stCxn id="11" idx="7"/>
              <a:endCxn id="15" idx="2"/>
            </p:cNvCxnSpPr>
            <p:nvPr/>
          </p:nvCxnSpPr>
          <p:spPr bwMode="auto">
            <a:xfrm>
              <a:off x="5794376" y="3424238"/>
              <a:ext cx="657225" cy="169862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Straight Connector 155">
              <a:extLst>
                <a:ext uri="{FF2B5EF4-FFF2-40B4-BE49-F238E27FC236}">
                  <a16:creationId xmlns:a16="http://schemas.microsoft.com/office/drawing/2014/main" id="{D3635816-FDE5-4349-BE75-F571DABDB5C6}"/>
                </a:ext>
              </a:extLst>
            </p:cNvPr>
            <p:cNvCxnSpPr>
              <a:cxnSpLocks noChangeShapeType="1"/>
              <a:endCxn id="11" idx="2"/>
            </p:cNvCxnSpPr>
            <p:nvPr/>
          </p:nvCxnSpPr>
          <p:spPr bwMode="auto">
            <a:xfrm>
              <a:off x="5032376" y="3124201"/>
              <a:ext cx="665163" cy="35242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" name="Flowchart: Connector 157">
              <a:extLst>
                <a:ext uri="{FF2B5EF4-FFF2-40B4-BE49-F238E27FC236}">
                  <a16:creationId xmlns:a16="http://schemas.microsoft.com/office/drawing/2014/main" id="{F4346469-C39F-436F-BF9A-576738DD3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825" y="3163889"/>
              <a:ext cx="114300" cy="149225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" name="Flowchart: Connector 158">
              <a:extLst>
                <a:ext uri="{FF2B5EF4-FFF2-40B4-BE49-F238E27FC236}">
                  <a16:creationId xmlns:a16="http://schemas.microsoft.com/office/drawing/2014/main" id="{FB6B9113-3B5D-4AD0-BF06-58DA90E33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5" y="4868863"/>
              <a:ext cx="114300" cy="146050"/>
            </a:xfrm>
            <a:prstGeom prst="flowChartConnector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63" name="Straight Connector 159">
              <a:extLst>
                <a:ext uri="{FF2B5EF4-FFF2-40B4-BE49-F238E27FC236}">
                  <a16:creationId xmlns:a16="http://schemas.microsoft.com/office/drawing/2014/main" id="{2E104EA5-8149-43F4-A232-72E1EBD3E765}"/>
                </a:ext>
              </a:extLst>
            </p:cNvPr>
            <p:cNvCxnSpPr>
              <a:cxnSpLocks noChangeShapeType="1"/>
              <a:stCxn id="57" idx="4"/>
              <a:endCxn id="62" idx="7"/>
            </p:cNvCxnSpPr>
            <p:nvPr/>
          </p:nvCxnSpPr>
          <p:spPr bwMode="auto">
            <a:xfrm flipH="1">
              <a:off x="4468813" y="4600576"/>
              <a:ext cx="190500" cy="28892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Straight Connector 160">
              <a:extLst>
                <a:ext uri="{FF2B5EF4-FFF2-40B4-BE49-F238E27FC236}">
                  <a16:creationId xmlns:a16="http://schemas.microsoft.com/office/drawing/2014/main" id="{A7EE2E33-485D-4648-87F2-65BAE062CE99}"/>
                </a:ext>
              </a:extLst>
            </p:cNvPr>
            <p:cNvCxnSpPr>
              <a:cxnSpLocks noChangeShapeType="1"/>
              <a:endCxn id="69" idx="7"/>
            </p:cNvCxnSpPr>
            <p:nvPr/>
          </p:nvCxnSpPr>
          <p:spPr bwMode="auto">
            <a:xfrm>
              <a:off x="4370388" y="4941889"/>
              <a:ext cx="328612" cy="115887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Straight Connector 163">
              <a:extLst>
                <a:ext uri="{FF2B5EF4-FFF2-40B4-BE49-F238E27FC236}">
                  <a16:creationId xmlns:a16="http://schemas.microsoft.com/office/drawing/2014/main" id="{59774F2F-D3F3-42F0-99B6-3EB08777DCFC}"/>
                </a:ext>
              </a:extLst>
            </p:cNvPr>
            <p:cNvCxnSpPr>
              <a:cxnSpLocks noChangeShapeType="1"/>
              <a:stCxn id="66" idx="3"/>
            </p:cNvCxnSpPr>
            <p:nvPr/>
          </p:nvCxnSpPr>
          <p:spPr bwMode="auto">
            <a:xfrm flipH="1">
              <a:off x="4144963" y="4027488"/>
              <a:ext cx="1179512" cy="30162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" name="Flowchart: Connector 165">
              <a:extLst>
                <a:ext uri="{FF2B5EF4-FFF2-40B4-BE49-F238E27FC236}">
                  <a16:creationId xmlns:a16="http://schemas.microsoft.com/office/drawing/2014/main" id="{C2517F73-FCE3-4EC3-BEE0-1CA99DCA4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7013" y="3900489"/>
              <a:ext cx="114300" cy="149225"/>
            </a:xfrm>
            <a:prstGeom prst="flowChartConnector">
              <a:avLst/>
            </a:prstGeom>
            <a:solidFill>
              <a:srgbClr val="0033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67" name="Straight Connector 166">
              <a:extLst>
                <a:ext uri="{FF2B5EF4-FFF2-40B4-BE49-F238E27FC236}">
                  <a16:creationId xmlns:a16="http://schemas.microsoft.com/office/drawing/2014/main" id="{70008EFD-216D-44AC-8BD7-FFDEE066E696}"/>
                </a:ext>
              </a:extLst>
            </p:cNvPr>
            <p:cNvCxnSpPr>
              <a:cxnSpLocks noChangeShapeType="1"/>
              <a:stCxn id="12" idx="1"/>
              <a:endCxn id="57" idx="5"/>
            </p:cNvCxnSpPr>
            <p:nvPr/>
          </p:nvCxnSpPr>
          <p:spPr bwMode="auto">
            <a:xfrm flipH="1" flipV="1">
              <a:off x="4699000" y="4578351"/>
              <a:ext cx="641350" cy="25082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Straight Connector 168">
              <a:extLst>
                <a:ext uri="{FF2B5EF4-FFF2-40B4-BE49-F238E27FC236}">
                  <a16:creationId xmlns:a16="http://schemas.microsoft.com/office/drawing/2014/main" id="{84654A8C-3795-4087-81DF-F90CC030D097}"/>
                </a:ext>
              </a:extLst>
            </p:cNvPr>
            <p:cNvCxnSpPr>
              <a:cxnSpLocks noChangeShapeType="1"/>
              <a:endCxn id="66" idx="5"/>
            </p:cNvCxnSpPr>
            <p:nvPr/>
          </p:nvCxnSpPr>
          <p:spPr bwMode="auto">
            <a:xfrm flipH="1" flipV="1">
              <a:off x="5403851" y="4027489"/>
              <a:ext cx="481013" cy="307975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Flowchart: Connector 165">
              <a:extLst>
                <a:ext uri="{FF2B5EF4-FFF2-40B4-BE49-F238E27FC236}">
                  <a16:creationId xmlns:a16="http://schemas.microsoft.com/office/drawing/2014/main" id="{02F7FF57-FF50-423A-B6E0-A18C74FF9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163" y="5035551"/>
              <a:ext cx="114300" cy="149225"/>
            </a:xfrm>
            <a:prstGeom prst="flowChartConnector">
              <a:avLst/>
            </a:prstGeom>
            <a:solidFill>
              <a:srgbClr val="0033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70" name="Straight Connector 138">
              <a:extLst>
                <a:ext uri="{FF2B5EF4-FFF2-40B4-BE49-F238E27FC236}">
                  <a16:creationId xmlns:a16="http://schemas.microsoft.com/office/drawing/2014/main" id="{CDBF5FF8-381A-4611-8AD2-8A94E27A73E1}"/>
                </a:ext>
              </a:extLst>
            </p:cNvPr>
            <p:cNvCxnSpPr>
              <a:cxnSpLocks noChangeShapeType="1"/>
              <a:stCxn id="17" idx="2"/>
              <a:endCxn id="16" idx="6"/>
            </p:cNvCxnSpPr>
            <p:nvPr/>
          </p:nvCxnSpPr>
          <p:spPr bwMode="auto">
            <a:xfrm flipH="1" flipV="1">
              <a:off x="5895976" y="4097339"/>
              <a:ext cx="339725" cy="122237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" name="Flowchart: Connector 52">
              <a:extLst>
                <a:ext uri="{FF2B5EF4-FFF2-40B4-BE49-F238E27FC236}">
                  <a16:creationId xmlns:a16="http://schemas.microsoft.com/office/drawing/2014/main" id="{5266E1E9-7AE0-42E8-AFD7-EB9E78D03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814" y="5354639"/>
              <a:ext cx="53975" cy="73025"/>
            </a:xfrm>
            <a:prstGeom prst="flowChartConnector">
              <a:avLst/>
            </a:prstGeom>
            <a:solidFill>
              <a:schemeClr val="tx1">
                <a:lumMod val="1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cxnSp>
          <p:nvCxnSpPr>
            <p:cNvPr id="72" name="Straight Connector 115">
              <a:extLst>
                <a:ext uri="{FF2B5EF4-FFF2-40B4-BE49-F238E27FC236}">
                  <a16:creationId xmlns:a16="http://schemas.microsoft.com/office/drawing/2014/main" id="{CFF4E87B-563F-4131-B3CF-3191C0D61324}"/>
                </a:ext>
              </a:extLst>
            </p:cNvPr>
            <p:cNvCxnSpPr>
              <a:cxnSpLocks noChangeShapeType="1"/>
              <a:stCxn id="71" idx="5"/>
              <a:endCxn id="14" idx="7"/>
            </p:cNvCxnSpPr>
            <p:nvPr/>
          </p:nvCxnSpPr>
          <p:spPr bwMode="auto">
            <a:xfrm flipH="1">
              <a:off x="5099050" y="5418138"/>
              <a:ext cx="304800" cy="279400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Straight Connector 117">
              <a:extLst>
                <a:ext uri="{FF2B5EF4-FFF2-40B4-BE49-F238E27FC236}">
                  <a16:creationId xmlns:a16="http://schemas.microsoft.com/office/drawing/2014/main" id="{DB1A0795-827C-4DDB-8EF6-D20318E93F40}"/>
                </a:ext>
              </a:extLst>
            </p:cNvPr>
            <p:cNvCxnSpPr>
              <a:cxnSpLocks noChangeShapeType="1"/>
              <a:stCxn id="18" idx="2"/>
            </p:cNvCxnSpPr>
            <p:nvPr/>
          </p:nvCxnSpPr>
          <p:spPr bwMode="auto">
            <a:xfrm flipH="1" flipV="1">
              <a:off x="6429375" y="3892551"/>
              <a:ext cx="317500" cy="55563"/>
            </a:xfrm>
            <a:prstGeom prst="line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73939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GSM networks used to operate in only four different frequency ranges. </a:t>
            </a:r>
          </a:p>
          <a:p>
            <a:pPr marL="0" indent="0">
              <a:buNone/>
            </a:pPr>
            <a:r>
              <a:rPr lang="en-US" sz="2400" dirty="0"/>
              <a:t>The reason why only four different frequencies because any country can colored with four different colors. 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18" descr="C:\Users\VenkateswaraReddy\Desktop\Untitled.png">
            <a:extLst>
              <a:ext uri="{FF2B5EF4-FFF2-40B4-BE49-F238E27FC236}">
                <a16:creationId xmlns:a16="http://schemas.microsoft.com/office/drawing/2014/main" id="{DCA6C592-FE17-467B-8D2D-66F8BFF16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584" y="3550754"/>
            <a:ext cx="4330831" cy="311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959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EF72-4CEC-48D7-B481-51694781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 Coloring Problem:</a:t>
            </a:r>
          </a:p>
          <a:p>
            <a:pPr marL="0" indent="0">
              <a:buNone/>
            </a:pPr>
            <a:r>
              <a:rPr lang="en-US" dirty="0"/>
              <a:t>Given a graph, color all the vertices so that</a:t>
            </a:r>
          </a:p>
          <a:p>
            <a:pPr marL="0" indent="0">
              <a:buNone/>
            </a:pPr>
            <a:r>
              <a:rPr lang="en-US" dirty="0"/>
              <a:t>two adjacent vertices get different colors.</a:t>
            </a:r>
          </a:p>
          <a:p>
            <a:pPr marL="0" indent="0">
              <a:buNone/>
            </a:pPr>
            <a:r>
              <a:rPr lang="en-US" dirty="0"/>
              <a:t>Objective: use minimum number of colors.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Oval 182">
            <a:extLst>
              <a:ext uri="{FF2B5EF4-FFF2-40B4-BE49-F238E27FC236}">
                <a16:creationId xmlns:a16="http://schemas.microsoft.com/office/drawing/2014/main" id="{DE361CC0-582F-44D4-B33D-241629FF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951" y="4351257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83">
            <a:extLst>
              <a:ext uri="{FF2B5EF4-FFF2-40B4-BE49-F238E27FC236}">
                <a16:creationId xmlns:a16="http://schemas.microsoft.com/office/drawing/2014/main" id="{428474C7-38FB-4EFC-A430-DC3935644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751" y="5265657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184">
            <a:extLst>
              <a:ext uri="{FF2B5EF4-FFF2-40B4-BE49-F238E27FC236}">
                <a16:creationId xmlns:a16="http://schemas.microsoft.com/office/drawing/2014/main" id="{774DA362-DE05-4E7C-A69B-53FFF99A8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7151" y="5265657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185">
            <a:extLst>
              <a:ext uri="{FF2B5EF4-FFF2-40B4-BE49-F238E27FC236}">
                <a16:creationId xmlns:a16="http://schemas.microsoft.com/office/drawing/2014/main" id="{74486ED2-514E-4C6A-A1E0-5DF6C2741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4351" y="4351257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Oval 186">
            <a:extLst>
              <a:ext uri="{FF2B5EF4-FFF2-40B4-BE49-F238E27FC236}">
                <a16:creationId xmlns:a16="http://schemas.microsoft.com/office/drawing/2014/main" id="{670BE009-1341-4E64-89B5-42FA033DD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551" y="4351257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187">
            <a:extLst>
              <a:ext uri="{FF2B5EF4-FFF2-40B4-BE49-F238E27FC236}">
                <a16:creationId xmlns:a16="http://schemas.microsoft.com/office/drawing/2014/main" id="{6708D275-4E2E-49BA-9E28-14230DBAD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951" y="6180057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89">
            <a:extLst>
              <a:ext uri="{FF2B5EF4-FFF2-40B4-BE49-F238E27FC236}">
                <a16:creationId xmlns:a16="http://schemas.microsoft.com/office/drawing/2014/main" id="{A05CF473-9A15-4D8A-9393-A1ECA5C8C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1751" y="4427457"/>
            <a:ext cx="914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90">
            <a:extLst>
              <a:ext uri="{FF2B5EF4-FFF2-40B4-BE49-F238E27FC236}">
                <a16:creationId xmlns:a16="http://schemas.microsoft.com/office/drawing/2014/main" id="{4C816A6D-71C8-4324-9ADB-DF9237166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1751" y="442745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91">
            <a:extLst>
              <a:ext uri="{FF2B5EF4-FFF2-40B4-BE49-F238E27FC236}">
                <a16:creationId xmlns:a16="http://schemas.microsoft.com/office/drawing/2014/main" id="{87EC5E43-56B4-4FF9-99B0-F327570399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6151" y="4427457"/>
            <a:ext cx="914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92">
            <a:extLst>
              <a:ext uri="{FF2B5EF4-FFF2-40B4-BE49-F238E27FC236}">
                <a16:creationId xmlns:a16="http://schemas.microsoft.com/office/drawing/2014/main" id="{3855FBF0-A874-46C6-BAB1-61E6609A9B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8951" y="4427457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93">
            <a:extLst>
              <a:ext uri="{FF2B5EF4-FFF2-40B4-BE49-F238E27FC236}">
                <a16:creationId xmlns:a16="http://schemas.microsoft.com/office/drawing/2014/main" id="{451A5B3A-318D-499A-8F1C-2383A33C4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8951" y="5341857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94">
            <a:extLst>
              <a:ext uri="{FF2B5EF4-FFF2-40B4-BE49-F238E27FC236}">
                <a16:creationId xmlns:a16="http://schemas.microsoft.com/office/drawing/2014/main" id="{EDAA723B-DF39-4A44-85BF-67584F109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6151" y="4427457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96">
            <a:extLst>
              <a:ext uri="{FF2B5EF4-FFF2-40B4-BE49-F238E27FC236}">
                <a16:creationId xmlns:a16="http://schemas.microsoft.com/office/drawing/2014/main" id="{5AA439CC-23E8-44A9-A001-05700AD80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351" y="4351257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97">
            <a:extLst>
              <a:ext uri="{FF2B5EF4-FFF2-40B4-BE49-F238E27FC236}">
                <a16:creationId xmlns:a16="http://schemas.microsoft.com/office/drawing/2014/main" id="{EA7C88A8-B71A-46F8-B3E9-88F6600FE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151" y="5265657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98">
            <a:extLst>
              <a:ext uri="{FF2B5EF4-FFF2-40B4-BE49-F238E27FC236}">
                <a16:creationId xmlns:a16="http://schemas.microsoft.com/office/drawing/2014/main" id="{38671701-FC83-46E3-9106-4184BEBEF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51" y="5265657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199">
            <a:extLst>
              <a:ext uri="{FF2B5EF4-FFF2-40B4-BE49-F238E27FC236}">
                <a16:creationId xmlns:a16="http://schemas.microsoft.com/office/drawing/2014/main" id="{DD86D531-26AA-4E55-B51F-AD729DF8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751" y="4351257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200">
            <a:extLst>
              <a:ext uri="{FF2B5EF4-FFF2-40B4-BE49-F238E27FC236}">
                <a16:creationId xmlns:a16="http://schemas.microsoft.com/office/drawing/2014/main" id="{88B2D1EB-36C6-4201-8465-1A6DBBB23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951" y="4351257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201">
            <a:extLst>
              <a:ext uri="{FF2B5EF4-FFF2-40B4-BE49-F238E27FC236}">
                <a16:creationId xmlns:a16="http://schemas.microsoft.com/office/drawing/2014/main" id="{B2D9ED83-E5CA-42D2-B822-2A4B8403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351" y="6180057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02">
            <a:extLst>
              <a:ext uri="{FF2B5EF4-FFF2-40B4-BE49-F238E27FC236}">
                <a16:creationId xmlns:a16="http://schemas.microsoft.com/office/drawing/2014/main" id="{40F1019D-1737-4F74-84C5-9C95CCA66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2151" y="4427457"/>
            <a:ext cx="914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03">
            <a:extLst>
              <a:ext uri="{FF2B5EF4-FFF2-40B4-BE49-F238E27FC236}">
                <a16:creationId xmlns:a16="http://schemas.microsoft.com/office/drawing/2014/main" id="{11A52B8C-80F0-461D-AC60-E42218099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2151" y="442745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04">
            <a:extLst>
              <a:ext uri="{FF2B5EF4-FFF2-40B4-BE49-F238E27FC236}">
                <a16:creationId xmlns:a16="http://schemas.microsoft.com/office/drawing/2014/main" id="{295BCA7C-F4C9-4772-B479-D2268EFBA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6551" y="4427457"/>
            <a:ext cx="914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05">
            <a:extLst>
              <a:ext uri="{FF2B5EF4-FFF2-40B4-BE49-F238E27FC236}">
                <a16:creationId xmlns:a16="http://schemas.microsoft.com/office/drawing/2014/main" id="{ADCCC0AD-01CD-4D0E-8E60-326994B01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69351" y="4427457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06">
            <a:extLst>
              <a:ext uri="{FF2B5EF4-FFF2-40B4-BE49-F238E27FC236}">
                <a16:creationId xmlns:a16="http://schemas.microsoft.com/office/drawing/2014/main" id="{772EFDAE-4944-4511-907B-8B354A854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9351" y="5341857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7">
            <a:extLst>
              <a:ext uri="{FF2B5EF4-FFF2-40B4-BE49-F238E27FC236}">
                <a16:creationId xmlns:a16="http://schemas.microsoft.com/office/drawing/2014/main" id="{5BBCBF61-A33B-4C1B-8CA3-21613B2608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6551" y="4427457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08">
            <a:extLst>
              <a:ext uri="{FF2B5EF4-FFF2-40B4-BE49-F238E27FC236}">
                <a16:creationId xmlns:a16="http://schemas.microsoft.com/office/drawing/2014/main" id="{98B80A82-718B-44FE-BFA6-1F3BF9A1B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351" y="5230732"/>
            <a:ext cx="1963999" cy="46166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dirty="0"/>
              <a:t>3-colourable</a:t>
            </a:r>
          </a:p>
        </p:txBody>
      </p:sp>
    </p:spTree>
    <p:extLst>
      <p:ext uri="{BB962C8B-B14F-4D97-AF65-F5344CB8AC3E}">
        <p14:creationId xmlns:p14="http://schemas.microsoft.com/office/powerpoint/2010/main" val="374457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FAD3-0440-4DAE-9420-1E8A604D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EE63011-63BC-4071-8E05-C75CD4408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216" y="2365996"/>
            <a:ext cx="6003567" cy="46166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What graphs have chromatic number one?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0C3124-46D2-49E0-9D18-7675F1C7F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1819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D95DF1-E035-4812-A094-D733E23E8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2819" y="3352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D35F3C-E867-4BB0-8E11-18FF13162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419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B9D137-57C3-49E7-BEA2-64CC76DFB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019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A88E2F-3B6B-41C4-B144-C534B469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819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9480DFA-80DD-400C-94AB-522C98F0C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882" y="3124200"/>
            <a:ext cx="38026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when there are no edges…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ACC60C2C-828E-4E83-ACD6-1F7BCEB2A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158" y="4419600"/>
            <a:ext cx="5657318" cy="461665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What graphs have chromatic number 2?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AAD8057A-3944-434F-8B59-A2AB21C74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4582" y="5943600"/>
            <a:ext cx="40607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 path?  A cycle? A triangle?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15B46AA8-51AF-4D9B-A46E-8FEDDA0C8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020" y="5181600"/>
            <a:ext cx="7279557" cy="461665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What graphs have chromatic number larger than 2?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C03D83A5-4756-47F2-89A3-57629719C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682" y="1283762"/>
                <a:ext cx="7010400" cy="830997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1"/>
                <a:r>
                  <a:rPr lang="en-US" altLang="en-US" sz="2400" b="1" dirty="0"/>
                  <a:t>Definition.  </a:t>
                </a:r>
                <a:r>
                  <a:rPr lang="en-US" altLang="en-US" sz="2400" dirty="0"/>
                  <a:t>min #colors for </a:t>
                </a:r>
                <a:r>
                  <a:rPr lang="en-US" altLang="en-US" sz="2400" i="1" dirty="0"/>
                  <a:t>G  </a:t>
                </a:r>
                <a:r>
                  <a:rPr lang="en-US" altLang="en-US" sz="2400" dirty="0"/>
                  <a:t>is</a:t>
                </a:r>
                <a:r>
                  <a:rPr lang="en-US" altLang="en-US" sz="2400" dirty="0">
                    <a:solidFill>
                      <a:srgbClr val="0033CC"/>
                    </a:solidFill>
                    <a:sym typeface="Euclid Symbol" pitchFamily="18" charset="2"/>
                  </a:rPr>
                  <a:t> </a:t>
                </a:r>
                <a:r>
                  <a:rPr lang="en-US" altLang="en-US" sz="2400" dirty="0">
                    <a:solidFill>
                      <a:srgbClr val="0033CC"/>
                    </a:solidFill>
                  </a:rPr>
                  <a:t>chromatic number,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altLang="en-US" sz="2400" dirty="0">
                    <a:solidFill>
                      <a:srgbClr val="0033CC"/>
                    </a:solidFill>
                    <a:sym typeface="Euclid Symbol" pitchFamily="18" charset="2"/>
                  </a:rPr>
                  <a:t>(</a:t>
                </a:r>
                <a:r>
                  <a:rPr lang="en-US" altLang="en-US" sz="2400" i="1" dirty="0">
                    <a:sym typeface="Euclid Symbol" pitchFamily="18" charset="2"/>
                  </a:rPr>
                  <a:t>G</a:t>
                </a:r>
                <a:r>
                  <a:rPr lang="en-US" altLang="en-US" sz="2400" dirty="0">
                    <a:solidFill>
                      <a:srgbClr val="0033CC"/>
                    </a:solidFill>
                    <a:sym typeface="Euclid Symbol" pitchFamily="18" charset="2"/>
                  </a:rPr>
                  <a:t>)</a:t>
                </a:r>
              </a:p>
            </p:txBody>
          </p:sp>
        </mc:Choice>
        <mc:Fallback xmlns=""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C03D83A5-4756-47F2-89A3-57629719CB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682" y="1283762"/>
                <a:ext cx="7010400" cy="830997"/>
              </a:xfrm>
              <a:prstGeom prst="rect">
                <a:avLst/>
              </a:prstGeom>
              <a:blipFill>
                <a:blip r:embed="rId2"/>
                <a:stretch>
                  <a:fillRect t="-5072" b="-14493"/>
                </a:stretch>
              </a:blip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95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6E34-7FEB-43DE-B292-09433444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 - Simple Cycles</a:t>
            </a:r>
          </a:p>
        </p:txBody>
      </p:sp>
      <p:grpSp>
        <p:nvGrpSpPr>
          <p:cNvPr id="4" name="Group 45">
            <a:extLst>
              <a:ext uri="{FF2B5EF4-FFF2-40B4-BE49-F238E27FC236}">
                <a16:creationId xmlns:a16="http://schemas.microsoft.com/office/drawing/2014/main" id="{0BEDCA13-6DA9-4305-8CD1-DC9FB29AEC73}"/>
              </a:ext>
            </a:extLst>
          </p:cNvPr>
          <p:cNvGrpSpPr>
            <a:grpSpLocks/>
          </p:cNvGrpSpPr>
          <p:nvPr/>
        </p:nvGrpSpPr>
        <p:grpSpPr bwMode="auto">
          <a:xfrm>
            <a:off x="340151" y="3962400"/>
            <a:ext cx="1981200" cy="1219200"/>
            <a:chOff x="1104" y="2496"/>
            <a:chExt cx="1248" cy="768"/>
          </a:xfrm>
        </p:grpSpPr>
        <p:sp>
          <p:nvSpPr>
            <p:cNvPr id="5" name="Oval 46">
              <a:extLst>
                <a:ext uri="{FF2B5EF4-FFF2-40B4-BE49-F238E27FC236}">
                  <a16:creationId xmlns:a16="http://schemas.microsoft.com/office/drawing/2014/main" id="{EC51DD0D-21AA-4D7D-A7E7-E6D2E6122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784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47">
              <a:extLst>
                <a:ext uri="{FF2B5EF4-FFF2-40B4-BE49-F238E27FC236}">
                  <a16:creationId xmlns:a16="http://schemas.microsoft.com/office/drawing/2014/main" id="{AA08AB6A-5C0B-4EFF-A712-61B5829F5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20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48">
              <a:extLst>
                <a:ext uri="{FF2B5EF4-FFF2-40B4-BE49-F238E27FC236}">
                  <a16:creationId xmlns:a16="http://schemas.microsoft.com/office/drawing/2014/main" id="{88DE0D5F-4907-458E-B599-CEB91B481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96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49">
              <a:extLst>
                <a:ext uri="{FF2B5EF4-FFF2-40B4-BE49-F238E27FC236}">
                  <a16:creationId xmlns:a16="http://schemas.microsoft.com/office/drawing/2014/main" id="{4A9BA3B2-19AB-4CEB-9045-FBF493C36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96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50">
              <a:extLst>
                <a:ext uri="{FF2B5EF4-FFF2-40B4-BE49-F238E27FC236}">
                  <a16:creationId xmlns:a16="http://schemas.microsoft.com/office/drawing/2014/main" id="{47E828AB-5131-4419-95D6-5C2D2D335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20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0" name="AutoShape 51">
              <a:extLst>
                <a:ext uri="{FF2B5EF4-FFF2-40B4-BE49-F238E27FC236}">
                  <a16:creationId xmlns:a16="http://schemas.microsoft.com/office/drawing/2014/main" id="{55F786AF-A5E6-428A-9D2E-839B6E00D7A8}"/>
                </a:ext>
              </a:extLst>
            </p:cNvPr>
            <p:cNvCxnSpPr>
              <a:cxnSpLocks noChangeShapeType="1"/>
              <a:stCxn id="5" idx="5"/>
              <a:endCxn id="6" idx="1"/>
            </p:cNvCxnSpPr>
            <p:nvPr/>
          </p:nvCxnSpPr>
          <p:spPr bwMode="auto">
            <a:xfrm>
              <a:off x="1227" y="2907"/>
              <a:ext cx="378" cy="234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52">
              <a:extLst>
                <a:ext uri="{FF2B5EF4-FFF2-40B4-BE49-F238E27FC236}">
                  <a16:creationId xmlns:a16="http://schemas.microsoft.com/office/drawing/2014/main" id="{C369C627-5CB5-4056-BFA7-8AE245FB5691}"/>
                </a:ext>
              </a:extLst>
            </p:cNvPr>
            <p:cNvCxnSpPr>
              <a:cxnSpLocks noChangeShapeType="1"/>
              <a:stCxn id="6" idx="6"/>
              <a:endCxn id="9" idx="2"/>
            </p:cNvCxnSpPr>
            <p:nvPr/>
          </p:nvCxnSpPr>
          <p:spPr bwMode="auto">
            <a:xfrm>
              <a:off x="1728" y="3192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53">
              <a:extLst>
                <a:ext uri="{FF2B5EF4-FFF2-40B4-BE49-F238E27FC236}">
                  <a16:creationId xmlns:a16="http://schemas.microsoft.com/office/drawing/2014/main" id="{37CD0B20-3FDC-416D-B434-1AC704545AC3}"/>
                </a:ext>
              </a:extLst>
            </p:cNvPr>
            <p:cNvCxnSpPr>
              <a:cxnSpLocks noChangeShapeType="1"/>
              <a:stCxn id="9" idx="0"/>
              <a:endCxn id="7" idx="4"/>
            </p:cNvCxnSpPr>
            <p:nvPr/>
          </p:nvCxnSpPr>
          <p:spPr bwMode="auto">
            <a:xfrm flipV="1">
              <a:off x="2280" y="2640"/>
              <a:ext cx="0" cy="48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54">
              <a:extLst>
                <a:ext uri="{FF2B5EF4-FFF2-40B4-BE49-F238E27FC236}">
                  <a16:creationId xmlns:a16="http://schemas.microsoft.com/office/drawing/2014/main" id="{846CECAE-5FBF-4FAA-9092-DEB788062234}"/>
                </a:ext>
              </a:extLst>
            </p:cNvPr>
            <p:cNvCxnSpPr>
              <a:cxnSpLocks noChangeShapeType="1"/>
              <a:stCxn id="7" idx="2"/>
              <a:endCxn id="8" idx="6"/>
            </p:cNvCxnSpPr>
            <p:nvPr/>
          </p:nvCxnSpPr>
          <p:spPr bwMode="auto">
            <a:xfrm flipH="1">
              <a:off x="1728" y="2568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55">
              <a:extLst>
                <a:ext uri="{FF2B5EF4-FFF2-40B4-BE49-F238E27FC236}">
                  <a16:creationId xmlns:a16="http://schemas.microsoft.com/office/drawing/2014/main" id="{0FC61C8D-C99C-4838-8ACF-24F5D0174E0C}"/>
                </a:ext>
              </a:extLst>
            </p:cNvPr>
            <p:cNvCxnSpPr>
              <a:cxnSpLocks noChangeShapeType="1"/>
              <a:stCxn id="8" idx="2"/>
              <a:endCxn id="5" idx="7"/>
            </p:cNvCxnSpPr>
            <p:nvPr/>
          </p:nvCxnSpPr>
          <p:spPr bwMode="auto">
            <a:xfrm flipH="1">
              <a:off x="1227" y="2568"/>
              <a:ext cx="357" cy="23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" name="Group 56">
            <a:extLst>
              <a:ext uri="{FF2B5EF4-FFF2-40B4-BE49-F238E27FC236}">
                <a16:creationId xmlns:a16="http://schemas.microsoft.com/office/drawing/2014/main" id="{4127E9B4-EB3E-4E72-A33E-C0D4161EA941}"/>
              </a:ext>
            </a:extLst>
          </p:cNvPr>
          <p:cNvGrpSpPr>
            <a:grpSpLocks/>
          </p:cNvGrpSpPr>
          <p:nvPr/>
        </p:nvGrpSpPr>
        <p:grpSpPr bwMode="auto">
          <a:xfrm>
            <a:off x="2626151" y="3962400"/>
            <a:ext cx="1981200" cy="1219200"/>
            <a:chOff x="3264" y="2496"/>
            <a:chExt cx="1248" cy="768"/>
          </a:xfrm>
        </p:grpSpPr>
        <p:sp>
          <p:nvSpPr>
            <p:cNvPr id="16" name="Oval 57">
              <a:extLst>
                <a:ext uri="{FF2B5EF4-FFF2-40B4-BE49-F238E27FC236}">
                  <a16:creationId xmlns:a16="http://schemas.microsoft.com/office/drawing/2014/main" id="{53A7ECB3-3427-4302-9FEE-87A577EA2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784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58">
              <a:extLst>
                <a:ext uri="{FF2B5EF4-FFF2-40B4-BE49-F238E27FC236}">
                  <a16:creationId xmlns:a16="http://schemas.microsoft.com/office/drawing/2014/main" id="{76CDDF4C-7D10-4C95-9703-D42C68762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120"/>
              <a:ext cx="144" cy="144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59">
              <a:extLst>
                <a:ext uri="{FF2B5EF4-FFF2-40B4-BE49-F238E27FC236}">
                  <a16:creationId xmlns:a16="http://schemas.microsoft.com/office/drawing/2014/main" id="{5C61F1B0-4F4D-49F4-AD8D-6AD1ADB67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96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60">
              <a:extLst>
                <a:ext uri="{FF2B5EF4-FFF2-40B4-BE49-F238E27FC236}">
                  <a16:creationId xmlns:a16="http://schemas.microsoft.com/office/drawing/2014/main" id="{4919161A-45A4-42C6-B4DE-C6C4C9604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96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61">
              <a:extLst>
                <a:ext uri="{FF2B5EF4-FFF2-40B4-BE49-F238E27FC236}">
                  <a16:creationId xmlns:a16="http://schemas.microsoft.com/office/drawing/2014/main" id="{252346BA-CBA2-4EB7-97CB-C44355FF7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120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" name="AutoShape 62">
              <a:extLst>
                <a:ext uri="{FF2B5EF4-FFF2-40B4-BE49-F238E27FC236}">
                  <a16:creationId xmlns:a16="http://schemas.microsoft.com/office/drawing/2014/main" id="{BBA47136-3EF6-44BA-B29A-5BBB8C50CDE0}"/>
                </a:ext>
              </a:extLst>
            </p:cNvPr>
            <p:cNvCxnSpPr>
              <a:cxnSpLocks noChangeShapeType="1"/>
              <a:stCxn id="16" idx="5"/>
              <a:endCxn id="17" idx="1"/>
            </p:cNvCxnSpPr>
            <p:nvPr/>
          </p:nvCxnSpPr>
          <p:spPr bwMode="auto">
            <a:xfrm>
              <a:off x="3387" y="2907"/>
              <a:ext cx="378" cy="234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63">
              <a:extLst>
                <a:ext uri="{FF2B5EF4-FFF2-40B4-BE49-F238E27FC236}">
                  <a16:creationId xmlns:a16="http://schemas.microsoft.com/office/drawing/2014/main" id="{F05019CD-47C1-47CC-AA1C-3A3DA79F6B52}"/>
                </a:ext>
              </a:extLst>
            </p:cNvPr>
            <p:cNvCxnSpPr>
              <a:cxnSpLocks noChangeShapeType="1"/>
              <a:stCxn id="17" idx="6"/>
              <a:endCxn id="20" idx="2"/>
            </p:cNvCxnSpPr>
            <p:nvPr/>
          </p:nvCxnSpPr>
          <p:spPr bwMode="auto">
            <a:xfrm>
              <a:off x="3888" y="3192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64">
              <a:extLst>
                <a:ext uri="{FF2B5EF4-FFF2-40B4-BE49-F238E27FC236}">
                  <a16:creationId xmlns:a16="http://schemas.microsoft.com/office/drawing/2014/main" id="{81FB7490-1530-44FF-AA97-F48744905F1C}"/>
                </a:ext>
              </a:extLst>
            </p:cNvPr>
            <p:cNvCxnSpPr>
              <a:cxnSpLocks noChangeShapeType="1"/>
              <a:stCxn id="20" idx="0"/>
              <a:endCxn id="18" idx="4"/>
            </p:cNvCxnSpPr>
            <p:nvPr/>
          </p:nvCxnSpPr>
          <p:spPr bwMode="auto">
            <a:xfrm flipV="1">
              <a:off x="4440" y="2640"/>
              <a:ext cx="0" cy="48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65">
              <a:extLst>
                <a:ext uri="{FF2B5EF4-FFF2-40B4-BE49-F238E27FC236}">
                  <a16:creationId xmlns:a16="http://schemas.microsoft.com/office/drawing/2014/main" id="{04C7F76F-3F07-4ED6-A7A8-430C5DA779E3}"/>
                </a:ext>
              </a:extLst>
            </p:cNvPr>
            <p:cNvCxnSpPr>
              <a:cxnSpLocks noChangeShapeType="1"/>
              <a:stCxn id="18" idx="2"/>
              <a:endCxn id="19" idx="6"/>
            </p:cNvCxnSpPr>
            <p:nvPr/>
          </p:nvCxnSpPr>
          <p:spPr bwMode="auto">
            <a:xfrm flipH="1">
              <a:off x="3888" y="2568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66">
              <a:extLst>
                <a:ext uri="{FF2B5EF4-FFF2-40B4-BE49-F238E27FC236}">
                  <a16:creationId xmlns:a16="http://schemas.microsoft.com/office/drawing/2014/main" id="{E3ED325A-88EC-4BED-AFC1-A66312841AFA}"/>
                </a:ext>
              </a:extLst>
            </p:cNvPr>
            <p:cNvCxnSpPr>
              <a:cxnSpLocks noChangeShapeType="1"/>
              <a:stCxn id="19" idx="2"/>
              <a:endCxn id="16" idx="7"/>
            </p:cNvCxnSpPr>
            <p:nvPr/>
          </p:nvCxnSpPr>
          <p:spPr bwMode="auto">
            <a:xfrm flipH="1">
              <a:off x="3387" y="2568"/>
              <a:ext cx="357" cy="23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6" name="Group 67">
            <a:extLst>
              <a:ext uri="{FF2B5EF4-FFF2-40B4-BE49-F238E27FC236}">
                <a16:creationId xmlns:a16="http://schemas.microsoft.com/office/drawing/2014/main" id="{F4E38EF1-2DC1-4113-BAE3-AAA315F70A5D}"/>
              </a:ext>
            </a:extLst>
          </p:cNvPr>
          <p:cNvGrpSpPr>
            <a:grpSpLocks/>
          </p:cNvGrpSpPr>
          <p:nvPr/>
        </p:nvGrpSpPr>
        <p:grpSpPr bwMode="auto">
          <a:xfrm>
            <a:off x="644951" y="1752600"/>
            <a:ext cx="1219200" cy="1219200"/>
            <a:chOff x="1536" y="1104"/>
            <a:chExt cx="768" cy="768"/>
          </a:xfrm>
        </p:grpSpPr>
        <p:sp>
          <p:nvSpPr>
            <p:cNvPr id="27" name="Oval 68">
              <a:extLst>
                <a:ext uri="{FF2B5EF4-FFF2-40B4-BE49-F238E27FC236}">
                  <a16:creationId xmlns:a16="http://schemas.microsoft.com/office/drawing/2014/main" id="{31283D61-2D14-476C-B897-3C2FC5D59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72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69">
              <a:extLst>
                <a:ext uri="{FF2B5EF4-FFF2-40B4-BE49-F238E27FC236}">
                  <a16:creationId xmlns:a16="http://schemas.microsoft.com/office/drawing/2014/main" id="{D8A7E8FA-9693-4A67-9FF9-9ED99B815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04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70">
              <a:extLst>
                <a:ext uri="{FF2B5EF4-FFF2-40B4-BE49-F238E27FC236}">
                  <a16:creationId xmlns:a16="http://schemas.microsoft.com/office/drawing/2014/main" id="{C8167E96-1C28-4E81-84E8-A3B3F4CEB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104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71">
              <a:extLst>
                <a:ext uri="{FF2B5EF4-FFF2-40B4-BE49-F238E27FC236}">
                  <a16:creationId xmlns:a16="http://schemas.microsoft.com/office/drawing/2014/main" id="{BEE20043-6DD4-490A-B3CB-1BF0E8CD9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1" name="AutoShape 72">
              <a:extLst>
                <a:ext uri="{FF2B5EF4-FFF2-40B4-BE49-F238E27FC236}">
                  <a16:creationId xmlns:a16="http://schemas.microsoft.com/office/drawing/2014/main" id="{BDACECEF-F1B9-4833-A3AF-A5BF599AB418}"/>
                </a:ext>
              </a:extLst>
            </p:cNvPr>
            <p:cNvCxnSpPr>
              <a:cxnSpLocks noChangeShapeType="1"/>
              <a:stCxn id="27" idx="6"/>
              <a:endCxn id="30" idx="2"/>
            </p:cNvCxnSpPr>
            <p:nvPr/>
          </p:nvCxnSpPr>
          <p:spPr bwMode="auto">
            <a:xfrm>
              <a:off x="1680" y="1800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73">
              <a:extLst>
                <a:ext uri="{FF2B5EF4-FFF2-40B4-BE49-F238E27FC236}">
                  <a16:creationId xmlns:a16="http://schemas.microsoft.com/office/drawing/2014/main" id="{7A398EEE-52E7-4313-90D4-5FFCC53AEADF}"/>
                </a:ext>
              </a:extLst>
            </p:cNvPr>
            <p:cNvCxnSpPr>
              <a:cxnSpLocks noChangeShapeType="1"/>
              <a:stCxn id="30" idx="0"/>
              <a:endCxn id="28" idx="4"/>
            </p:cNvCxnSpPr>
            <p:nvPr/>
          </p:nvCxnSpPr>
          <p:spPr bwMode="auto">
            <a:xfrm flipV="1">
              <a:off x="2232" y="1248"/>
              <a:ext cx="0" cy="48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74">
              <a:extLst>
                <a:ext uri="{FF2B5EF4-FFF2-40B4-BE49-F238E27FC236}">
                  <a16:creationId xmlns:a16="http://schemas.microsoft.com/office/drawing/2014/main" id="{4597B432-6BEC-4A52-AFF0-7B9D92963464}"/>
                </a:ext>
              </a:extLst>
            </p:cNvPr>
            <p:cNvCxnSpPr>
              <a:cxnSpLocks noChangeShapeType="1"/>
              <a:stCxn id="28" idx="2"/>
              <a:endCxn id="29" idx="6"/>
            </p:cNvCxnSpPr>
            <p:nvPr/>
          </p:nvCxnSpPr>
          <p:spPr bwMode="auto">
            <a:xfrm flipH="1">
              <a:off x="1680" y="1176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75">
              <a:extLst>
                <a:ext uri="{FF2B5EF4-FFF2-40B4-BE49-F238E27FC236}">
                  <a16:creationId xmlns:a16="http://schemas.microsoft.com/office/drawing/2014/main" id="{421A0531-19C3-4301-8F8C-B45A65423EE8}"/>
                </a:ext>
              </a:extLst>
            </p:cNvPr>
            <p:cNvCxnSpPr>
              <a:cxnSpLocks noChangeShapeType="1"/>
              <a:stCxn id="29" idx="4"/>
              <a:endCxn id="27" idx="0"/>
            </p:cNvCxnSpPr>
            <p:nvPr/>
          </p:nvCxnSpPr>
          <p:spPr bwMode="auto">
            <a:xfrm>
              <a:off x="1608" y="1248"/>
              <a:ext cx="0" cy="48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5" name="Group 76">
            <a:extLst>
              <a:ext uri="{FF2B5EF4-FFF2-40B4-BE49-F238E27FC236}">
                <a16:creationId xmlns:a16="http://schemas.microsoft.com/office/drawing/2014/main" id="{A849E0B2-7B77-43AF-9991-74E438B162B3}"/>
              </a:ext>
            </a:extLst>
          </p:cNvPr>
          <p:cNvGrpSpPr>
            <a:grpSpLocks/>
          </p:cNvGrpSpPr>
          <p:nvPr/>
        </p:nvGrpSpPr>
        <p:grpSpPr bwMode="auto">
          <a:xfrm>
            <a:off x="2702351" y="1752600"/>
            <a:ext cx="1219200" cy="1219200"/>
            <a:chOff x="3696" y="1104"/>
            <a:chExt cx="768" cy="768"/>
          </a:xfrm>
        </p:grpSpPr>
        <p:sp>
          <p:nvSpPr>
            <p:cNvPr id="36" name="Oval 77">
              <a:extLst>
                <a:ext uri="{FF2B5EF4-FFF2-40B4-BE49-F238E27FC236}">
                  <a16:creationId xmlns:a16="http://schemas.microsoft.com/office/drawing/2014/main" id="{AC3E2E43-1CFE-438A-9662-36BAE30BA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728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78">
              <a:extLst>
                <a:ext uri="{FF2B5EF4-FFF2-40B4-BE49-F238E27FC236}">
                  <a16:creationId xmlns:a16="http://schemas.microsoft.com/office/drawing/2014/main" id="{994D79BA-2A0A-4526-81DB-A8A8391AE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104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79">
              <a:extLst>
                <a:ext uri="{FF2B5EF4-FFF2-40B4-BE49-F238E27FC236}">
                  <a16:creationId xmlns:a16="http://schemas.microsoft.com/office/drawing/2014/main" id="{9A0C8DF4-B644-4076-B7D7-5C2E170D5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104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80">
              <a:extLst>
                <a:ext uri="{FF2B5EF4-FFF2-40B4-BE49-F238E27FC236}">
                  <a16:creationId xmlns:a16="http://schemas.microsoft.com/office/drawing/2014/main" id="{589429D6-870F-439C-913C-5D664FD9E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728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0" name="AutoShape 81">
              <a:extLst>
                <a:ext uri="{FF2B5EF4-FFF2-40B4-BE49-F238E27FC236}">
                  <a16:creationId xmlns:a16="http://schemas.microsoft.com/office/drawing/2014/main" id="{F92B2AAC-A9B3-4AD2-9648-533DC8A8FE04}"/>
                </a:ext>
              </a:extLst>
            </p:cNvPr>
            <p:cNvCxnSpPr>
              <a:cxnSpLocks noChangeShapeType="1"/>
              <a:stCxn id="36" idx="6"/>
              <a:endCxn id="39" idx="2"/>
            </p:cNvCxnSpPr>
            <p:nvPr/>
          </p:nvCxnSpPr>
          <p:spPr bwMode="auto">
            <a:xfrm>
              <a:off x="3840" y="1800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82">
              <a:extLst>
                <a:ext uri="{FF2B5EF4-FFF2-40B4-BE49-F238E27FC236}">
                  <a16:creationId xmlns:a16="http://schemas.microsoft.com/office/drawing/2014/main" id="{00DA9E56-B63C-4D3D-8D10-4AC8A2F2326B}"/>
                </a:ext>
              </a:extLst>
            </p:cNvPr>
            <p:cNvCxnSpPr>
              <a:cxnSpLocks noChangeShapeType="1"/>
              <a:stCxn id="39" idx="0"/>
              <a:endCxn id="37" idx="4"/>
            </p:cNvCxnSpPr>
            <p:nvPr/>
          </p:nvCxnSpPr>
          <p:spPr bwMode="auto">
            <a:xfrm flipV="1">
              <a:off x="4392" y="1248"/>
              <a:ext cx="0" cy="48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83">
              <a:extLst>
                <a:ext uri="{FF2B5EF4-FFF2-40B4-BE49-F238E27FC236}">
                  <a16:creationId xmlns:a16="http://schemas.microsoft.com/office/drawing/2014/main" id="{A744CD39-58C1-4D4E-8152-A1DFEDAB2ACF}"/>
                </a:ext>
              </a:extLst>
            </p:cNvPr>
            <p:cNvCxnSpPr>
              <a:cxnSpLocks noChangeShapeType="1"/>
              <a:stCxn id="37" idx="2"/>
              <a:endCxn id="38" idx="6"/>
            </p:cNvCxnSpPr>
            <p:nvPr/>
          </p:nvCxnSpPr>
          <p:spPr bwMode="auto">
            <a:xfrm flipH="1">
              <a:off x="3840" y="1176"/>
              <a:ext cx="48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84">
              <a:extLst>
                <a:ext uri="{FF2B5EF4-FFF2-40B4-BE49-F238E27FC236}">
                  <a16:creationId xmlns:a16="http://schemas.microsoft.com/office/drawing/2014/main" id="{6ED001CA-0F04-4E99-8A26-2E7E7362E3BC}"/>
                </a:ext>
              </a:extLst>
            </p:cNvPr>
            <p:cNvCxnSpPr>
              <a:cxnSpLocks noChangeShapeType="1"/>
              <a:stCxn id="38" idx="4"/>
              <a:endCxn id="36" idx="0"/>
            </p:cNvCxnSpPr>
            <p:nvPr/>
          </p:nvCxnSpPr>
          <p:spPr bwMode="auto">
            <a:xfrm>
              <a:off x="3768" y="1248"/>
              <a:ext cx="0" cy="48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44" name="Object 85">
            <a:extLst>
              <a:ext uri="{FF2B5EF4-FFF2-40B4-BE49-F238E27FC236}">
                <a16:creationId xmlns:a16="http://schemas.microsoft.com/office/drawing/2014/main" id="{3046913A-6449-423B-9412-3016EF856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775745"/>
              </p:ext>
            </p:extLst>
          </p:nvPr>
        </p:nvGraphicFramePr>
        <p:xfrm>
          <a:off x="4816901" y="1752600"/>
          <a:ext cx="38290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774360" imgH="228600" progId="Equation.DSMT4">
                  <p:embed/>
                </p:oleObj>
              </mc:Choice>
              <mc:Fallback>
                <p:oleObj name="Equation" r:id="rId3" imgW="774360" imgH="228600" progId="Equation.DSMT4">
                  <p:embed/>
                  <p:pic>
                    <p:nvPicPr>
                      <p:cNvPr id="695381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901" y="1752600"/>
                        <a:ext cx="382905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86">
            <a:extLst>
              <a:ext uri="{FF2B5EF4-FFF2-40B4-BE49-F238E27FC236}">
                <a16:creationId xmlns:a16="http://schemas.microsoft.com/office/drawing/2014/main" id="{5F96E764-E097-45BE-AFD5-5B202989A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68930"/>
              </p:ext>
            </p:extLst>
          </p:nvPr>
        </p:nvGraphicFramePr>
        <p:xfrm>
          <a:off x="4910565" y="3886201"/>
          <a:ext cx="3773487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723600" imgH="228600" progId="Equation.DSMT4">
                  <p:embed/>
                </p:oleObj>
              </mc:Choice>
              <mc:Fallback>
                <p:oleObj name="Equation" r:id="rId5" imgW="723600" imgH="228600" progId="Equation.DSMT4">
                  <p:embed/>
                  <p:pic>
                    <p:nvPicPr>
                      <p:cNvPr id="69538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565" y="3886201"/>
                        <a:ext cx="3773487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618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6E34-7FEB-43DE-B292-09433444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 - Complete Graphs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D9F40E39-2DAA-4932-86C3-08831B5A809D}"/>
              </a:ext>
            </a:extLst>
          </p:cNvPr>
          <p:cNvGrpSpPr>
            <a:grpSpLocks/>
          </p:cNvGrpSpPr>
          <p:nvPr/>
        </p:nvGrpSpPr>
        <p:grpSpPr bwMode="auto">
          <a:xfrm>
            <a:off x="820129" y="2273433"/>
            <a:ext cx="1752600" cy="1524000"/>
            <a:chOff x="1248" y="1152"/>
            <a:chExt cx="1104" cy="960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F9A14F19-F6EC-45B0-91BA-75E2043F6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963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0A8A047B-8C8B-41F6-B9C4-9DBD7F640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48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30FE5931-A804-4134-8C92-74DAB1509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8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3A6CD266-0143-4C59-AF17-E5F52F38D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152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BC905354-7D4E-416C-A454-5C0327057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96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0" name="AutoShape 8">
              <a:extLst>
                <a:ext uri="{FF2B5EF4-FFF2-40B4-BE49-F238E27FC236}">
                  <a16:creationId xmlns:a16="http://schemas.microsoft.com/office/drawing/2014/main" id="{03D05D4D-7520-4C37-A1AF-B69DA72B8B91}"/>
                </a:ext>
              </a:extLst>
            </p:cNvPr>
            <p:cNvCxnSpPr>
              <a:cxnSpLocks noChangeShapeType="1"/>
              <a:stCxn id="5" idx="6"/>
              <a:endCxn id="9" idx="2"/>
            </p:cNvCxnSpPr>
            <p:nvPr/>
          </p:nvCxnSpPr>
          <p:spPr bwMode="auto">
            <a:xfrm>
              <a:off x="1632" y="2035"/>
              <a:ext cx="336" cy="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9">
              <a:extLst>
                <a:ext uri="{FF2B5EF4-FFF2-40B4-BE49-F238E27FC236}">
                  <a16:creationId xmlns:a16="http://schemas.microsoft.com/office/drawing/2014/main" id="{F8BEE5E8-79DF-4ACC-91FC-8C2B066BE3AF}"/>
                </a:ext>
              </a:extLst>
            </p:cNvPr>
            <p:cNvCxnSpPr>
              <a:cxnSpLocks noChangeShapeType="1"/>
              <a:stCxn id="8" idx="6"/>
              <a:endCxn id="7" idx="1"/>
            </p:cNvCxnSpPr>
            <p:nvPr/>
          </p:nvCxnSpPr>
          <p:spPr bwMode="auto">
            <a:xfrm>
              <a:off x="1872" y="122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0">
              <a:extLst>
                <a:ext uri="{FF2B5EF4-FFF2-40B4-BE49-F238E27FC236}">
                  <a16:creationId xmlns:a16="http://schemas.microsoft.com/office/drawing/2014/main" id="{56660C0D-5537-4DE7-AA6A-024F9F2A5C40}"/>
                </a:ext>
              </a:extLst>
            </p:cNvPr>
            <p:cNvCxnSpPr>
              <a:cxnSpLocks noChangeShapeType="1"/>
              <a:stCxn id="7" idx="4"/>
              <a:endCxn id="9" idx="7"/>
            </p:cNvCxnSpPr>
            <p:nvPr/>
          </p:nvCxnSpPr>
          <p:spPr bwMode="auto">
            <a:xfrm flipH="1">
              <a:off x="2091" y="1632"/>
              <a:ext cx="189" cy="35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1">
              <a:extLst>
                <a:ext uri="{FF2B5EF4-FFF2-40B4-BE49-F238E27FC236}">
                  <a16:creationId xmlns:a16="http://schemas.microsoft.com/office/drawing/2014/main" id="{14BF7398-B318-4DE3-A81E-0337FE1FF4CE}"/>
                </a:ext>
              </a:extLst>
            </p:cNvPr>
            <p:cNvCxnSpPr>
              <a:cxnSpLocks noChangeShapeType="1"/>
              <a:stCxn id="8" idx="2"/>
              <a:endCxn id="6" idx="7"/>
            </p:cNvCxnSpPr>
            <p:nvPr/>
          </p:nvCxnSpPr>
          <p:spPr bwMode="auto">
            <a:xfrm flipH="1">
              <a:off x="1371" y="122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2">
              <a:extLst>
                <a:ext uri="{FF2B5EF4-FFF2-40B4-BE49-F238E27FC236}">
                  <a16:creationId xmlns:a16="http://schemas.microsoft.com/office/drawing/2014/main" id="{4D6FAA4F-741A-4A75-B9F0-098745480A1A}"/>
                </a:ext>
              </a:extLst>
            </p:cNvPr>
            <p:cNvCxnSpPr>
              <a:cxnSpLocks noChangeShapeType="1"/>
              <a:stCxn id="6" idx="4"/>
              <a:endCxn id="5" idx="1"/>
            </p:cNvCxnSpPr>
            <p:nvPr/>
          </p:nvCxnSpPr>
          <p:spPr bwMode="auto">
            <a:xfrm>
              <a:off x="1320" y="1632"/>
              <a:ext cx="189" cy="35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3">
              <a:extLst>
                <a:ext uri="{FF2B5EF4-FFF2-40B4-BE49-F238E27FC236}">
                  <a16:creationId xmlns:a16="http://schemas.microsoft.com/office/drawing/2014/main" id="{0168D3F0-05DA-4E5B-A7AC-39FE8A45D76E}"/>
                </a:ext>
              </a:extLst>
            </p:cNvPr>
            <p:cNvCxnSpPr>
              <a:cxnSpLocks noChangeShapeType="1"/>
              <a:stCxn id="8" idx="4"/>
              <a:endCxn id="9" idx="1"/>
            </p:cNvCxnSpPr>
            <p:nvPr/>
          </p:nvCxnSpPr>
          <p:spPr bwMode="auto">
            <a:xfrm>
              <a:off x="1800" y="1296"/>
              <a:ext cx="189" cy="693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4">
              <a:extLst>
                <a:ext uri="{FF2B5EF4-FFF2-40B4-BE49-F238E27FC236}">
                  <a16:creationId xmlns:a16="http://schemas.microsoft.com/office/drawing/2014/main" id="{C4A52BE7-1B44-460A-9A3D-F305C8ABD962}"/>
                </a:ext>
              </a:extLst>
            </p:cNvPr>
            <p:cNvCxnSpPr>
              <a:cxnSpLocks noChangeShapeType="1"/>
              <a:stCxn id="8" idx="4"/>
              <a:endCxn id="5" idx="7"/>
            </p:cNvCxnSpPr>
            <p:nvPr/>
          </p:nvCxnSpPr>
          <p:spPr bwMode="auto">
            <a:xfrm flipH="1">
              <a:off x="1611" y="1296"/>
              <a:ext cx="189" cy="68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5">
              <a:extLst>
                <a:ext uri="{FF2B5EF4-FFF2-40B4-BE49-F238E27FC236}">
                  <a16:creationId xmlns:a16="http://schemas.microsoft.com/office/drawing/2014/main" id="{46F99E93-A69B-4DA1-9517-820DCA4C6E1C}"/>
                </a:ext>
              </a:extLst>
            </p:cNvPr>
            <p:cNvCxnSpPr>
              <a:cxnSpLocks noChangeShapeType="1"/>
              <a:stCxn id="6" idx="6"/>
              <a:endCxn id="7" idx="2"/>
            </p:cNvCxnSpPr>
            <p:nvPr/>
          </p:nvCxnSpPr>
          <p:spPr bwMode="auto">
            <a:xfrm>
              <a:off x="1392" y="1560"/>
              <a:ext cx="816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6">
              <a:extLst>
                <a:ext uri="{FF2B5EF4-FFF2-40B4-BE49-F238E27FC236}">
                  <a16:creationId xmlns:a16="http://schemas.microsoft.com/office/drawing/2014/main" id="{4F858F63-F0A1-48D2-ABD0-59914D923EA7}"/>
                </a:ext>
              </a:extLst>
            </p:cNvPr>
            <p:cNvCxnSpPr>
              <a:cxnSpLocks noChangeShapeType="1"/>
              <a:stCxn id="9" idx="1"/>
              <a:endCxn id="6" idx="6"/>
            </p:cNvCxnSpPr>
            <p:nvPr/>
          </p:nvCxnSpPr>
          <p:spPr bwMode="auto">
            <a:xfrm flipH="1" flipV="1">
              <a:off x="1392" y="1560"/>
              <a:ext cx="597" cy="429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17">
              <a:extLst>
                <a:ext uri="{FF2B5EF4-FFF2-40B4-BE49-F238E27FC236}">
                  <a16:creationId xmlns:a16="http://schemas.microsoft.com/office/drawing/2014/main" id="{250D36BD-B452-4C59-AF8F-43E6F97CCB10}"/>
                </a:ext>
              </a:extLst>
            </p:cNvPr>
            <p:cNvCxnSpPr>
              <a:cxnSpLocks noChangeShapeType="1"/>
              <a:stCxn id="5" idx="7"/>
              <a:endCxn id="7" idx="2"/>
            </p:cNvCxnSpPr>
            <p:nvPr/>
          </p:nvCxnSpPr>
          <p:spPr bwMode="auto">
            <a:xfrm flipV="1">
              <a:off x="1611" y="1560"/>
              <a:ext cx="597" cy="424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18">
              <a:extLst>
                <a:ext uri="{FF2B5EF4-FFF2-40B4-BE49-F238E27FC236}">
                  <a16:creationId xmlns:a16="http://schemas.microsoft.com/office/drawing/2014/main" id="{096D50F4-C527-47BD-9854-E9C027148EC5}"/>
                </a:ext>
              </a:extLst>
            </p:cNvPr>
            <p:cNvCxnSpPr>
              <a:cxnSpLocks noChangeShapeType="1"/>
              <a:stCxn id="7" idx="6"/>
              <a:endCxn id="7" idx="6"/>
            </p:cNvCxnSpPr>
            <p:nvPr/>
          </p:nvCxnSpPr>
          <p:spPr bwMode="auto">
            <a:xfrm>
              <a:off x="2352" y="1560"/>
              <a:ext cx="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DFAED79E-061D-4D03-8696-89776E127F6F}"/>
              </a:ext>
            </a:extLst>
          </p:cNvPr>
          <p:cNvGrpSpPr>
            <a:grpSpLocks/>
          </p:cNvGrpSpPr>
          <p:nvPr/>
        </p:nvGrpSpPr>
        <p:grpSpPr bwMode="auto">
          <a:xfrm>
            <a:off x="4172929" y="2273433"/>
            <a:ext cx="1752600" cy="1524000"/>
            <a:chOff x="3360" y="1680"/>
            <a:chExt cx="1104" cy="960"/>
          </a:xfrm>
        </p:grpSpPr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2CA131BD-2F2F-4705-B8CD-0B14E82CE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91"/>
              <a:ext cx="144" cy="144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6413911E-3740-40B0-B20F-4FD70A7DE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016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50280FCE-7AA3-4BA4-B6C8-6FF412C50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016"/>
              <a:ext cx="144" cy="144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3">
              <a:extLst>
                <a:ext uri="{FF2B5EF4-FFF2-40B4-BE49-F238E27FC236}">
                  <a16:creationId xmlns:a16="http://schemas.microsoft.com/office/drawing/2014/main" id="{340C5A76-6340-4F87-86C0-FD4B4C132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80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2682D98C-F033-477A-AF59-BF30B90E9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496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7" name="AutoShape 25">
              <a:extLst>
                <a:ext uri="{FF2B5EF4-FFF2-40B4-BE49-F238E27FC236}">
                  <a16:creationId xmlns:a16="http://schemas.microsoft.com/office/drawing/2014/main" id="{DDEDD769-54F6-4C09-A969-0C92A6A55192}"/>
                </a:ext>
              </a:extLst>
            </p:cNvPr>
            <p:cNvCxnSpPr>
              <a:cxnSpLocks noChangeShapeType="1"/>
              <a:stCxn id="22" idx="6"/>
              <a:endCxn id="26" idx="2"/>
            </p:cNvCxnSpPr>
            <p:nvPr/>
          </p:nvCxnSpPr>
          <p:spPr bwMode="auto">
            <a:xfrm>
              <a:off x="3744" y="2563"/>
              <a:ext cx="336" cy="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26">
              <a:extLst>
                <a:ext uri="{FF2B5EF4-FFF2-40B4-BE49-F238E27FC236}">
                  <a16:creationId xmlns:a16="http://schemas.microsoft.com/office/drawing/2014/main" id="{F32EAA4A-8082-4DBA-A35F-3ABBDE6808C3}"/>
                </a:ext>
              </a:extLst>
            </p:cNvPr>
            <p:cNvCxnSpPr>
              <a:cxnSpLocks noChangeShapeType="1"/>
              <a:stCxn id="25" idx="6"/>
              <a:endCxn id="24" idx="1"/>
            </p:cNvCxnSpPr>
            <p:nvPr/>
          </p:nvCxnSpPr>
          <p:spPr bwMode="auto">
            <a:xfrm>
              <a:off x="3984" y="1752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27">
              <a:extLst>
                <a:ext uri="{FF2B5EF4-FFF2-40B4-BE49-F238E27FC236}">
                  <a16:creationId xmlns:a16="http://schemas.microsoft.com/office/drawing/2014/main" id="{CC54265A-A0BB-4982-95A2-25F117798FC3}"/>
                </a:ext>
              </a:extLst>
            </p:cNvPr>
            <p:cNvCxnSpPr>
              <a:cxnSpLocks noChangeShapeType="1"/>
              <a:stCxn id="24" idx="4"/>
              <a:endCxn id="26" idx="7"/>
            </p:cNvCxnSpPr>
            <p:nvPr/>
          </p:nvCxnSpPr>
          <p:spPr bwMode="auto">
            <a:xfrm flipH="1">
              <a:off x="4203" y="2160"/>
              <a:ext cx="189" cy="35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28">
              <a:extLst>
                <a:ext uri="{FF2B5EF4-FFF2-40B4-BE49-F238E27FC236}">
                  <a16:creationId xmlns:a16="http://schemas.microsoft.com/office/drawing/2014/main" id="{E5ADDB8B-3F11-4EE0-9C76-AD1FD0C57D64}"/>
                </a:ext>
              </a:extLst>
            </p:cNvPr>
            <p:cNvCxnSpPr>
              <a:cxnSpLocks noChangeShapeType="1"/>
              <a:stCxn id="25" idx="2"/>
              <a:endCxn id="23" idx="7"/>
            </p:cNvCxnSpPr>
            <p:nvPr/>
          </p:nvCxnSpPr>
          <p:spPr bwMode="auto">
            <a:xfrm flipH="1">
              <a:off x="3483" y="1752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29">
              <a:extLst>
                <a:ext uri="{FF2B5EF4-FFF2-40B4-BE49-F238E27FC236}">
                  <a16:creationId xmlns:a16="http://schemas.microsoft.com/office/drawing/2014/main" id="{05E622B2-6438-4329-8642-FA05D0D5FDC9}"/>
                </a:ext>
              </a:extLst>
            </p:cNvPr>
            <p:cNvCxnSpPr>
              <a:cxnSpLocks noChangeShapeType="1"/>
              <a:stCxn id="23" idx="4"/>
              <a:endCxn id="22" idx="1"/>
            </p:cNvCxnSpPr>
            <p:nvPr/>
          </p:nvCxnSpPr>
          <p:spPr bwMode="auto">
            <a:xfrm>
              <a:off x="3432" y="2160"/>
              <a:ext cx="189" cy="35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30">
              <a:extLst>
                <a:ext uri="{FF2B5EF4-FFF2-40B4-BE49-F238E27FC236}">
                  <a16:creationId xmlns:a16="http://schemas.microsoft.com/office/drawing/2014/main" id="{8A4CB9A6-A5D0-43F7-8552-0567A03CDF25}"/>
                </a:ext>
              </a:extLst>
            </p:cNvPr>
            <p:cNvCxnSpPr>
              <a:cxnSpLocks noChangeShapeType="1"/>
              <a:stCxn id="25" idx="4"/>
              <a:endCxn id="26" idx="1"/>
            </p:cNvCxnSpPr>
            <p:nvPr/>
          </p:nvCxnSpPr>
          <p:spPr bwMode="auto">
            <a:xfrm>
              <a:off x="3912" y="1824"/>
              <a:ext cx="189" cy="693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1">
              <a:extLst>
                <a:ext uri="{FF2B5EF4-FFF2-40B4-BE49-F238E27FC236}">
                  <a16:creationId xmlns:a16="http://schemas.microsoft.com/office/drawing/2014/main" id="{921AFB04-FB2B-4FCE-A7B0-ADE7E61D893A}"/>
                </a:ext>
              </a:extLst>
            </p:cNvPr>
            <p:cNvCxnSpPr>
              <a:cxnSpLocks noChangeShapeType="1"/>
              <a:stCxn id="25" idx="4"/>
              <a:endCxn id="22" idx="7"/>
            </p:cNvCxnSpPr>
            <p:nvPr/>
          </p:nvCxnSpPr>
          <p:spPr bwMode="auto">
            <a:xfrm flipH="1">
              <a:off x="3723" y="1824"/>
              <a:ext cx="189" cy="68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32">
              <a:extLst>
                <a:ext uri="{FF2B5EF4-FFF2-40B4-BE49-F238E27FC236}">
                  <a16:creationId xmlns:a16="http://schemas.microsoft.com/office/drawing/2014/main" id="{C73B212E-9F2C-4DD5-9F1C-94E15B01E168}"/>
                </a:ext>
              </a:extLst>
            </p:cNvPr>
            <p:cNvCxnSpPr>
              <a:cxnSpLocks noChangeShapeType="1"/>
              <a:stCxn id="23" idx="6"/>
              <a:endCxn id="24" idx="2"/>
            </p:cNvCxnSpPr>
            <p:nvPr/>
          </p:nvCxnSpPr>
          <p:spPr bwMode="auto">
            <a:xfrm>
              <a:off x="3504" y="2088"/>
              <a:ext cx="816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33">
              <a:extLst>
                <a:ext uri="{FF2B5EF4-FFF2-40B4-BE49-F238E27FC236}">
                  <a16:creationId xmlns:a16="http://schemas.microsoft.com/office/drawing/2014/main" id="{5660DDB9-5629-4DB1-B060-F7F1477890A3}"/>
                </a:ext>
              </a:extLst>
            </p:cNvPr>
            <p:cNvCxnSpPr>
              <a:cxnSpLocks noChangeShapeType="1"/>
              <a:stCxn id="26" idx="1"/>
              <a:endCxn id="23" idx="6"/>
            </p:cNvCxnSpPr>
            <p:nvPr/>
          </p:nvCxnSpPr>
          <p:spPr bwMode="auto">
            <a:xfrm flipH="1" flipV="1">
              <a:off x="3504" y="2088"/>
              <a:ext cx="597" cy="429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34">
              <a:extLst>
                <a:ext uri="{FF2B5EF4-FFF2-40B4-BE49-F238E27FC236}">
                  <a16:creationId xmlns:a16="http://schemas.microsoft.com/office/drawing/2014/main" id="{1F6ADEB1-E50A-430C-8A46-83742FC228A6}"/>
                </a:ext>
              </a:extLst>
            </p:cNvPr>
            <p:cNvCxnSpPr>
              <a:cxnSpLocks noChangeShapeType="1"/>
              <a:stCxn id="22" idx="7"/>
              <a:endCxn id="24" idx="2"/>
            </p:cNvCxnSpPr>
            <p:nvPr/>
          </p:nvCxnSpPr>
          <p:spPr bwMode="auto">
            <a:xfrm flipV="1">
              <a:off x="3723" y="2088"/>
              <a:ext cx="597" cy="424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35">
              <a:extLst>
                <a:ext uri="{FF2B5EF4-FFF2-40B4-BE49-F238E27FC236}">
                  <a16:creationId xmlns:a16="http://schemas.microsoft.com/office/drawing/2014/main" id="{C58CE00B-EB6B-49AA-9821-DB693054D7F5}"/>
                </a:ext>
              </a:extLst>
            </p:cNvPr>
            <p:cNvCxnSpPr>
              <a:cxnSpLocks noChangeShapeType="1"/>
              <a:stCxn id="24" idx="6"/>
              <a:endCxn id="24" idx="6"/>
            </p:cNvCxnSpPr>
            <p:nvPr/>
          </p:nvCxnSpPr>
          <p:spPr bwMode="auto">
            <a:xfrm>
              <a:off x="4464" y="2088"/>
              <a:ext cx="0" cy="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8" name="Object 36">
            <a:extLst>
              <a:ext uri="{FF2B5EF4-FFF2-40B4-BE49-F238E27FC236}">
                <a16:creationId xmlns:a16="http://schemas.microsoft.com/office/drawing/2014/main" id="{8059FC85-9BAD-4B61-AE1C-49B1F7D0E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459881"/>
              </p:ext>
            </p:extLst>
          </p:nvPr>
        </p:nvGraphicFramePr>
        <p:xfrm>
          <a:off x="1490054" y="4330833"/>
          <a:ext cx="332105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622080" imgH="228600" progId="Equation.DSMT4">
                  <p:embed/>
                </p:oleObj>
              </mc:Choice>
              <mc:Fallback>
                <p:oleObj name="Equation" r:id="rId3" imgW="622080" imgH="228600" progId="Equation.DSMT4">
                  <p:embed/>
                  <p:pic>
                    <p:nvPicPr>
                      <p:cNvPr id="72093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054" y="4330833"/>
                        <a:ext cx="332105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685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6E34-7FEB-43DE-B292-09433444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Coloring Graphs - Wheels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4E080AAF-E55D-44E7-92A8-6F4A5FC4F17D}"/>
              </a:ext>
            </a:extLst>
          </p:cNvPr>
          <p:cNvGrpSpPr>
            <a:grpSpLocks/>
          </p:cNvGrpSpPr>
          <p:nvPr/>
        </p:nvGrpSpPr>
        <p:grpSpPr bwMode="auto">
          <a:xfrm>
            <a:off x="4132083" y="1600200"/>
            <a:ext cx="1752600" cy="1524000"/>
            <a:chOff x="3264" y="1632"/>
            <a:chExt cx="1104" cy="960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A2BFA032-0A84-447E-A844-EE0E30FF9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443"/>
              <a:ext cx="144" cy="144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24BC3BB0-EA31-4A13-A5D7-F0AB759DF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968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BA0BAB84-E677-433F-A4C4-84440F681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968"/>
              <a:ext cx="144" cy="144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03728DAE-C132-408D-B5CD-668E303C0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32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FACCBD55-2D9C-419E-977E-E279CC423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8"/>
              <a:ext cx="144" cy="1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0" name="AutoShape 8">
              <a:extLst>
                <a:ext uri="{FF2B5EF4-FFF2-40B4-BE49-F238E27FC236}">
                  <a16:creationId xmlns:a16="http://schemas.microsoft.com/office/drawing/2014/main" id="{86298D83-B75F-4258-8ADB-A0EE97349DB6}"/>
                </a:ext>
              </a:extLst>
            </p:cNvPr>
            <p:cNvCxnSpPr>
              <a:cxnSpLocks noChangeShapeType="1"/>
              <a:stCxn id="5" idx="6"/>
              <a:endCxn id="9" idx="2"/>
            </p:cNvCxnSpPr>
            <p:nvPr/>
          </p:nvCxnSpPr>
          <p:spPr bwMode="auto">
            <a:xfrm>
              <a:off x="3648" y="2515"/>
              <a:ext cx="336" cy="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9">
              <a:extLst>
                <a:ext uri="{FF2B5EF4-FFF2-40B4-BE49-F238E27FC236}">
                  <a16:creationId xmlns:a16="http://schemas.microsoft.com/office/drawing/2014/main" id="{2CF28246-4988-4E4C-859F-217602CAE5F6}"/>
                </a:ext>
              </a:extLst>
            </p:cNvPr>
            <p:cNvCxnSpPr>
              <a:cxnSpLocks noChangeShapeType="1"/>
              <a:stCxn id="8" idx="6"/>
              <a:endCxn id="7" idx="1"/>
            </p:cNvCxnSpPr>
            <p:nvPr/>
          </p:nvCxnSpPr>
          <p:spPr bwMode="auto">
            <a:xfrm>
              <a:off x="3888" y="170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0">
              <a:extLst>
                <a:ext uri="{FF2B5EF4-FFF2-40B4-BE49-F238E27FC236}">
                  <a16:creationId xmlns:a16="http://schemas.microsoft.com/office/drawing/2014/main" id="{19120AF7-7155-4FC5-8D87-DBFB6A612437}"/>
                </a:ext>
              </a:extLst>
            </p:cNvPr>
            <p:cNvCxnSpPr>
              <a:cxnSpLocks noChangeShapeType="1"/>
              <a:stCxn id="7" idx="4"/>
              <a:endCxn id="9" idx="7"/>
            </p:cNvCxnSpPr>
            <p:nvPr/>
          </p:nvCxnSpPr>
          <p:spPr bwMode="auto">
            <a:xfrm flipH="1">
              <a:off x="4107" y="2112"/>
              <a:ext cx="189" cy="35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1">
              <a:extLst>
                <a:ext uri="{FF2B5EF4-FFF2-40B4-BE49-F238E27FC236}">
                  <a16:creationId xmlns:a16="http://schemas.microsoft.com/office/drawing/2014/main" id="{09ED3595-5A6A-4EC1-8426-C356A2FC62C0}"/>
                </a:ext>
              </a:extLst>
            </p:cNvPr>
            <p:cNvCxnSpPr>
              <a:cxnSpLocks noChangeShapeType="1"/>
              <a:stCxn id="8" idx="2"/>
              <a:endCxn id="6" idx="7"/>
            </p:cNvCxnSpPr>
            <p:nvPr/>
          </p:nvCxnSpPr>
          <p:spPr bwMode="auto">
            <a:xfrm flipH="1">
              <a:off x="3387" y="170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2">
              <a:extLst>
                <a:ext uri="{FF2B5EF4-FFF2-40B4-BE49-F238E27FC236}">
                  <a16:creationId xmlns:a16="http://schemas.microsoft.com/office/drawing/2014/main" id="{E96057C1-EE8E-4650-B15F-E2783A1FDFCC}"/>
                </a:ext>
              </a:extLst>
            </p:cNvPr>
            <p:cNvCxnSpPr>
              <a:cxnSpLocks noChangeShapeType="1"/>
              <a:stCxn id="6" idx="4"/>
              <a:endCxn id="5" idx="1"/>
            </p:cNvCxnSpPr>
            <p:nvPr/>
          </p:nvCxnSpPr>
          <p:spPr bwMode="auto">
            <a:xfrm>
              <a:off x="3336" y="2112"/>
              <a:ext cx="189" cy="35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2ABF6813-41BF-4473-B3C6-E8337B785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64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6" name="AutoShape 14">
              <a:extLst>
                <a:ext uri="{FF2B5EF4-FFF2-40B4-BE49-F238E27FC236}">
                  <a16:creationId xmlns:a16="http://schemas.microsoft.com/office/drawing/2014/main" id="{BCE49C77-161E-463A-97F3-749BC90B36CE}"/>
                </a:ext>
              </a:extLst>
            </p:cNvPr>
            <p:cNvCxnSpPr>
              <a:cxnSpLocks noChangeShapeType="1"/>
              <a:stCxn id="8" idx="4"/>
              <a:endCxn id="15" idx="0"/>
            </p:cNvCxnSpPr>
            <p:nvPr/>
          </p:nvCxnSpPr>
          <p:spPr bwMode="auto">
            <a:xfrm>
              <a:off x="3816" y="1776"/>
              <a:ext cx="0" cy="28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5">
              <a:extLst>
                <a:ext uri="{FF2B5EF4-FFF2-40B4-BE49-F238E27FC236}">
                  <a16:creationId xmlns:a16="http://schemas.microsoft.com/office/drawing/2014/main" id="{24840C0A-132D-4B89-B426-5368B6CB1870}"/>
                </a:ext>
              </a:extLst>
            </p:cNvPr>
            <p:cNvCxnSpPr>
              <a:cxnSpLocks noChangeShapeType="1"/>
              <a:stCxn id="15" idx="6"/>
              <a:endCxn id="7" idx="2"/>
            </p:cNvCxnSpPr>
            <p:nvPr/>
          </p:nvCxnSpPr>
          <p:spPr bwMode="auto">
            <a:xfrm flipV="1">
              <a:off x="3888" y="2040"/>
              <a:ext cx="336" cy="9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6">
              <a:extLst>
                <a:ext uri="{FF2B5EF4-FFF2-40B4-BE49-F238E27FC236}">
                  <a16:creationId xmlns:a16="http://schemas.microsoft.com/office/drawing/2014/main" id="{59530547-346B-4E18-95FF-793561D52F4D}"/>
                </a:ext>
              </a:extLst>
            </p:cNvPr>
            <p:cNvCxnSpPr>
              <a:cxnSpLocks noChangeShapeType="1"/>
              <a:stCxn id="15" idx="5"/>
              <a:endCxn id="9" idx="1"/>
            </p:cNvCxnSpPr>
            <p:nvPr/>
          </p:nvCxnSpPr>
          <p:spPr bwMode="auto">
            <a:xfrm>
              <a:off x="3867" y="2187"/>
              <a:ext cx="138" cy="28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17">
              <a:extLst>
                <a:ext uri="{FF2B5EF4-FFF2-40B4-BE49-F238E27FC236}">
                  <a16:creationId xmlns:a16="http://schemas.microsoft.com/office/drawing/2014/main" id="{FB0F6971-4FFE-4BB6-BA31-E9725ED3145C}"/>
                </a:ext>
              </a:extLst>
            </p:cNvPr>
            <p:cNvCxnSpPr>
              <a:cxnSpLocks noChangeShapeType="1"/>
              <a:stCxn id="15" idx="3"/>
              <a:endCxn id="5" idx="7"/>
            </p:cNvCxnSpPr>
            <p:nvPr/>
          </p:nvCxnSpPr>
          <p:spPr bwMode="auto">
            <a:xfrm flipH="1">
              <a:off x="3627" y="2187"/>
              <a:ext cx="138" cy="27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18">
              <a:extLst>
                <a:ext uri="{FF2B5EF4-FFF2-40B4-BE49-F238E27FC236}">
                  <a16:creationId xmlns:a16="http://schemas.microsoft.com/office/drawing/2014/main" id="{D76ACA38-8B1C-4042-9F70-24896FC25820}"/>
                </a:ext>
              </a:extLst>
            </p:cNvPr>
            <p:cNvCxnSpPr>
              <a:cxnSpLocks noChangeShapeType="1"/>
              <a:stCxn id="15" idx="2"/>
              <a:endCxn id="6" idx="6"/>
            </p:cNvCxnSpPr>
            <p:nvPr/>
          </p:nvCxnSpPr>
          <p:spPr bwMode="auto">
            <a:xfrm flipH="1" flipV="1">
              <a:off x="3408" y="2040"/>
              <a:ext cx="336" cy="9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397122E2-E5F3-4FFE-9393-0FFFC8BD9E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509534"/>
              </p:ext>
            </p:extLst>
          </p:nvPr>
        </p:nvGraphicFramePr>
        <p:xfrm>
          <a:off x="4679771" y="4572000"/>
          <a:ext cx="3954462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3" imgW="799920" imgH="228600" progId="Equation.DSMT4">
                  <p:embed/>
                </p:oleObj>
              </mc:Choice>
              <mc:Fallback>
                <p:oleObj name="Equation" r:id="rId3" imgW="799920" imgH="228600" progId="Equation.DSMT4">
                  <p:embed/>
                  <p:pic>
                    <p:nvPicPr>
                      <p:cNvPr id="72193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771" y="4572000"/>
                        <a:ext cx="3954462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>
            <a:extLst>
              <a:ext uri="{FF2B5EF4-FFF2-40B4-BE49-F238E27FC236}">
                <a16:creationId xmlns:a16="http://schemas.microsoft.com/office/drawing/2014/main" id="{2435FF3B-13CD-421F-B583-819F8CC95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647012"/>
              </p:ext>
            </p:extLst>
          </p:nvPr>
        </p:nvGraphicFramePr>
        <p:xfrm>
          <a:off x="380821" y="4572000"/>
          <a:ext cx="3890962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5" imgW="787320" imgH="228600" progId="Equation.DSMT4">
                  <p:embed/>
                </p:oleObj>
              </mc:Choice>
              <mc:Fallback>
                <p:oleObj name="Equation" r:id="rId5" imgW="787320" imgH="228600" progId="Equation.DSMT4">
                  <p:embed/>
                  <p:pic>
                    <p:nvPicPr>
                      <p:cNvPr id="72194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21" y="4572000"/>
                        <a:ext cx="3890962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1">
            <a:extLst>
              <a:ext uri="{FF2B5EF4-FFF2-40B4-BE49-F238E27FC236}">
                <a16:creationId xmlns:a16="http://schemas.microsoft.com/office/drawing/2014/main" id="{80987D72-E077-4F7E-95D1-7E01A027B7E2}"/>
              </a:ext>
            </a:extLst>
          </p:cNvPr>
          <p:cNvGrpSpPr>
            <a:grpSpLocks/>
          </p:cNvGrpSpPr>
          <p:nvPr/>
        </p:nvGrpSpPr>
        <p:grpSpPr bwMode="auto">
          <a:xfrm>
            <a:off x="1693683" y="1600200"/>
            <a:ext cx="1752600" cy="1524000"/>
            <a:chOff x="1152" y="1152"/>
            <a:chExt cx="1104" cy="960"/>
          </a:xfrm>
        </p:grpSpPr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D49496D1-DE2B-4F83-8485-C24D337A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963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3">
              <a:extLst>
                <a:ext uri="{FF2B5EF4-FFF2-40B4-BE49-F238E27FC236}">
                  <a16:creationId xmlns:a16="http://schemas.microsoft.com/office/drawing/2014/main" id="{3B707168-4051-4CDB-A981-32DC09C14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8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2B89593D-B132-4038-BD5E-FC19A872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48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0A71E9DD-2BC8-4B8D-A5C6-691AE3B94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152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F1213E83-F94D-43E5-A07B-56640D3DE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9" name="AutoShape 27">
              <a:extLst>
                <a:ext uri="{FF2B5EF4-FFF2-40B4-BE49-F238E27FC236}">
                  <a16:creationId xmlns:a16="http://schemas.microsoft.com/office/drawing/2014/main" id="{213D24A5-AF11-4934-B90E-A21D88794905}"/>
                </a:ext>
              </a:extLst>
            </p:cNvPr>
            <p:cNvCxnSpPr>
              <a:cxnSpLocks noChangeShapeType="1"/>
              <a:stCxn id="24" idx="6"/>
              <a:endCxn id="28" idx="2"/>
            </p:cNvCxnSpPr>
            <p:nvPr/>
          </p:nvCxnSpPr>
          <p:spPr bwMode="auto">
            <a:xfrm>
              <a:off x="1536" y="2035"/>
              <a:ext cx="336" cy="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28">
              <a:extLst>
                <a:ext uri="{FF2B5EF4-FFF2-40B4-BE49-F238E27FC236}">
                  <a16:creationId xmlns:a16="http://schemas.microsoft.com/office/drawing/2014/main" id="{51A0069A-9D45-483D-BFE3-87D131D6E2A6}"/>
                </a:ext>
              </a:extLst>
            </p:cNvPr>
            <p:cNvCxnSpPr>
              <a:cxnSpLocks noChangeShapeType="1"/>
              <a:stCxn id="27" idx="6"/>
              <a:endCxn id="26" idx="1"/>
            </p:cNvCxnSpPr>
            <p:nvPr/>
          </p:nvCxnSpPr>
          <p:spPr bwMode="auto">
            <a:xfrm>
              <a:off x="1776" y="122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29">
              <a:extLst>
                <a:ext uri="{FF2B5EF4-FFF2-40B4-BE49-F238E27FC236}">
                  <a16:creationId xmlns:a16="http://schemas.microsoft.com/office/drawing/2014/main" id="{609CE7A0-5930-476F-888B-B22634884F02}"/>
                </a:ext>
              </a:extLst>
            </p:cNvPr>
            <p:cNvCxnSpPr>
              <a:cxnSpLocks noChangeShapeType="1"/>
              <a:stCxn id="26" idx="4"/>
              <a:endCxn id="28" idx="7"/>
            </p:cNvCxnSpPr>
            <p:nvPr/>
          </p:nvCxnSpPr>
          <p:spPr bwMode="auto">
            <a:xfrm flipH="1">
              <a:off x="1995" y="1632"/>
              <a:ext cx="189" cy="35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30">
              <a:extLst>
                <a:ext uri="{FF2B5EF4-FFF2-40B4-BE49-F238E27FC236}">
                  <a16:creationId xmlns:a16="http://schemas.microsoft.com/office/drawing/2014/main" id="{1D52DA1B-BD5A-45CA-9AE7-9987E16B6BD6}"/>
                </a:ext>
              </a:extLst>
            </p:cNvPr>
            <p:cNvCxnSpPr>
              <a:cxnSpLocks noChangeShapeType="1"/>
              <a:stCxn id="27" idx="2"/>
              <a:endCxn id="25" idx="7"/>
            </p:cNvCxnSpPr>
            <p:nvPr/>
          </p:nvCxnSpPr>
          <p:spPr bwMode="auto">
            <a:xfrm flipH="1">
              <a:off x="1275" y="1224"/>
              <a:ext cx="357" cy="285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31">
              <a:extLst>
                <a:ext uri="{FF2B5EF4-FFF2-40B4-BE49-F238E27FC236}">
                  <a16:creationId xmlns:a16="http://schemas.microsoft.com/office/drawing/2014/main" id="{4FBAE52B-2432-4CBB-BB2E-17BB7C7D8A4E}"/>
                </a:ext>
              </a:extLst>
            </p:cNvPr>
            <p:cNvCxnSpPr>
              <a:cxnSpLocks noChangeShapeType="1"/>
              <a:stCxn id="25" idx="4"/>
              <a:endCxn id="24" idx="1"/>
            </p:cNvCxnSpPr>
            <p:nvPr/>
          </p:nvCxnSpPr>
          <p:spPr bwMode="auto">
            <a:xfrm>
              <a:off x="1224" y="1632"/>
              <a:ext cx="189" cy="35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2B93FA6F-DE98-4DA8-A23B-CC1388B63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584"/>
              <a:ext cx="144" cy="144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5" name="AutoShape 33">
              <a:extLst>
                <a:ext uri="{FF2B5EF4-FFF2-40B4-BE49-F238E27FC236}">
                  <a16:creationId xmlns:a16="http://schemas.microsoft.com/office/drawing/2014/main" id="{4D9E937F-2110-44C2-96CA-07DCC5720BC1}"/>
                </a:ext>
              </a:extLst>
            </p:cNvPr>
            <p:cNvCxnSpPr>
              <a:cxnSpLocks noChangeShapeType="1"/>
              <a:stCxn id="27" idx="4"/>
              <a:endCxn id="34" idx="0"/>
            </p:cNvCxnSpPr>
            <p:nvPr/>
          </p:nvCxnSpPr>
          <p:spPr bwMode="auto">
            <a:xfrm>
              <a:off x="1704" y="1296"/>
              <a:ext cx="0" cy="28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34">
              <a:extLst>
                <a:ext uri="{FF2B5EF4-FFF2-40B4-BE49-F238E27FC236}">
                  <a16:creationId xmlns:a16="http://schemas.microsoft.com/office/drawing/2014/main" id="{B8B7BFA1-E4D7-464F-8BC5-E5BE9BDA00B0}"/>
                </a:ext>
              </a:extLst>
            </p:cNvPr>
            <p:cNvCxnSpPr>
              <a:cxnSpLocks noChangeShapeType="1"/>
              <a:stCxn id="34" idx="6"/>
              <a:endCxn id="26" idx="2"/>
            </p:cNvCxnSpPr>
            <p:nvPr/>
          </p:nvCxnSpPr>
          <p:spPr bwMode="auto">
            <a:xfrm flipV="1">
              <a:off x="1776" y="1560"/>
              <a:ext cx="336" cy="9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35">
              <a:extLst>
                <a:ext uri="{FF2B5EF4-FFF2-40B4-BE49-F238E27FC236}">
                  <a16:creationId xmlns:a16="http://schemas.microsoft.com/office/drawing/2014/main" id="{1A5839F6-DF7E-4134-A8A4-C14253CAB679}"/>
                </a:ext>
              </a:extLst>
            </p:cNvPr>
            <p:cNvCxnSpPr>
              <a:cxnSpLocks noChangeShapeType="1"/>
              <a:stCxn id="34" idx="5"/>
              <a:endCxn id="28" idx="1"/>
            </p:cNvCxnSpPr>
            <p:nvPr/>
          </p:nvCxnSpPr>
          <p:spPr bwMode="auto">
            <a:xfrm>
              <a:off x="1755" y="1707"/>
              <a:ext cx="138" cy="28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36">
              <a:extLst>
                <a:ext uri="{FF2B5EF4-FFF2-40B4-BE49-F238E27FC236}">
                  <a16:creationId xmlns:a16="http://schemas.microsoft.com/office/drawing/2014/main" id="{543DD269-5738-4BDF-B8DE-CF5E7DD1DD42}"/>
                </a:ext>
              </a:extLst>
            </p:cNvPr>
            <p:cNvCxnSpPr>
              <a:cxnSpLocks noChangeShapeType="1"/>
              <a:stCxn id="34" idx="3"/>
              <a:endCxn id="24" idx="7"/>
            </p:cNvCxnSpPr>
            <p:nvPr/>
          </p:nvCxnSpPr>
          <p:spPr bwMode="auto">
            <a:xfrm flipH="1">
              <a:off x="1515" y="1707"/>
              <a:ext cx="138" cy="27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37">
              <a:extLst>
                <a:ext uri="{FF2B5EF4-FFF2-40B4-BE49-F238E27FC236}">
                  <a16:creationId xmlns:a16="http://schemas.microsoft.com/office/drawing/2014/main" id="{641F9820-5BB0-42F2-AA87-5CBC019ECB3B}"/>
                </a:ext>
              </a:extLst>
            </p:cNvPr>
            <p:cNvCxnSpPr>
              <a:cxnSpLocks noChangeShapeType="1"/>
              <a:stCxn id="34" idx="2"/>
              <a:endCxn id="25" idx="6"/>
            </p:cNvCxnSpPr>
            <p:nvPr/>
          </p:nvCxnSpPr>
          <p:spPr bwMode="auto">
            <a:xfrm flipH="1" flipV="1">
              <a:off x="1296" y="1560"/>
              <a:ext cx="336" cy="96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40" name="Object 38">
            <a:extLst>
              <a:ext uri="{FF2B5EF4-FFF2-40B4-BE49-F238E27FC236}">
                <a16:creationId xmlns:a16="http://schemas.microsoft.com/office/drawing/2014/main" id="{935D981A-1443-4093-AB75-99369C4E3A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74551"/>
              </p:ext>
            </p:extLst>
          </p:nvPr>
        </p:nvGraphicFramePr>
        <p:xfrm>
          <a:off x="2092146" y="3276600"/>
          <a:ext cx="106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7" imgW="228600" imgH="228600" progId="Equation.DSMT4">
                  <p:embed/>
                </p:oleObj>
              </mc:Choice>
              <mc:Fallback>
                <p:oleObj name="Equation" r:id="rId7" imgW="228600" imgH="228600" progId="Equation.DSMT4">
                  <p:embed/>
                  <p:pic>
                    <p:nvPicPr>
                      <p:cNvPr id="72195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146" y="3276600"/>
                        <a:ext cx="1066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996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9918</TotalTime>
  <Words>578</Words>
  <Application>Microsoft Office PowerPoint</Application>
  <PresentationFormat>On-screen Show (4:3)</PresentationFormat>
  <Paragraphs>74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</vt:lpstr>
      <vt:lpstr>Bahnschrift</vt:lpstr>
      <vt:lpstr>Bahnschrift SemiBold</vt:lpstr>
      <vt:lpstr>Bookman Old Style</vt:lpstr>
      <vt:lpstr>Calibri</vt:lpstr>
      <vt:lpstr>Cambria Math</vt:lpstr>
      <vt:lpstr>Office Theme</vt:lpstr>
      <vt:lpstr>Equation</vt:lpstr>
      <vt:lpstr>EMTH403</vt:lpstr>
      <vt:lpstr>Lecture Outcomes</vt:lpstr>
      <vt:lpstr>Coloring Graphs</vt:lpstr>
      <vt:lpstr>Coloring Graphs - Example</vt:lpstr>
      <vt:lpstr>Real world problem</vt:lpstr>
      <vt:lpstr>Coloring Graphs</vt:lpstr>
      <vt:lpstr>Coloring Graphs</vt:lpstr>
      <vt:lpstr>Coloring Graphs</vt:lpstr>
      <vt:lpstr>Coloring Graphs</vt:lpstr>
      <vt:lpstr>Coloring Graphs</vt:lpstr>
      <vt:lpstr>Coloring Graphs</vt:lpstr>
      <vt:lpstr>Coloring Graphs</vt:lpstr>
      <vt:lpstr>Coloring Graphs</vt:lpstr>
      <vt:lpstr>Coloring Graphs</vt:lpstr>
      <vt:lpstr>Coloring Graphs</vt:lpstr>
      <vt:lpstr>Coloring Graphs - Simple Cycles</vt:lpstr>
      <vt:lpstr>Coloring Graphs - Complete Graphs</vt:lpstr>
      <vt:lpstr>Coloring Graphs - Wheels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Arpit Thakur</cp:lastModifiedBy>
  <cp:revision>1545</cp:revision>
  <dcterms:created xsi:type="dcterms:W3CDTF">2020-12-04T05:20:56Z</dcterms:created>
  <dcterms:modified xsi:type="dcterms:W3CDTF">2021-01-27T04:55:08Z</dcterms:modified>
</cp:coreProperties>
</file>