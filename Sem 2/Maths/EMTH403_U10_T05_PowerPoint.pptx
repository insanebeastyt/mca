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2" r:id="rId13"/>
    <p:sldId id="323" r:id="rId14"/>
    <p:sldId id="25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2"/>
            <p14:sldId id="32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27-01-2021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sz="2600" dirty="0"/>
              <a:t>understand some more applications of Eulers theorem for planar graphs.</a:t>
            </a:r>
          </a:p>
          <a:p>
            <a:r>
              <a:rPr lang="en-US" sz="2600" dirty="0"/>
              <a:t>understand 3 corollary for planar graphs.</a:t>
            </a:r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en-US" sz="2600" b="1" dirty="0"/>
              <a:t>Corollary 1: </a:t>
            </a:r>
            <a:r>
              <a:rPr lang="en-US" altLang="en-US" sz="2600" dirty="0"/>
              <a:t>If </a:t>
            </a:r>
            <a:r>
              <a:rPr lang="en-US" altLang="en-US" sz="2600" i="1" dirty="0"/>
              <a:t>G</a:t>
            </a:r>
            <a:r>
              <a:rPr lang="en-US" altLang="en-US" sz="2600" dirty="0"/>
              <a:t> is a connected planar simple graph with </a:t>
            </a:r>
            <a:r>
              <a:rPr lang="en-US" altLang="en-US" sz="2600" i="1" dirty="0"/>
              <a:t>e</a:t>
            </a:r>
            <a:r>
              <a:rPr lang="en-US" altLang="en-US" sz="2600" dirty="0"/>
              <a:t> edges and </a:t>
            </a:r>
            <a:r>
              <a:rPr lang="en-US" altLang="en-US" sz="2600" i="1" dirty="0"/>
              <a:t>v</a:t>
            </a:r>
            <a:r>
              <a:rPr lang="en-US" altLang="en-US" sz="2600" dirty="0"/>
              <a:t> vertices where </a:t>
            </a:r>
            <a:r>
              <a:rPr lang="en-US" altLang="en-US" sz="2600" i="1" dirty="0"/>
              <a:t>v</a:t>
            </a:r>
            <a:r>
              <a:rPr lang="en-US" altLang="en-US" sz="2600" dirty="0"/>
              <a:t> </a:t>
            </a:r>
            <a:r>
              <a:rPr lang="en-US" altLang="en-US" sz="2600" dirty="0">
                <a:sym typeface="Symbol" panose="05050102010706020507" pitchFamily="18" charset="2"/>
              </a:rPr>
              <a:t> 3, then </a:t>
            </a:r>
            <a:r>
              <a:rPr lang="en-US" altLang="en-US" sz="2600" i="1" dirty="0">
                <a:sym typeface="Symbol" panose="05050102010706020507" pitchFamily="18" charset="2"/>
              </a:rPr>
              <a:t>e</a:t>
            </a:r>
            <a:r>
              <a:rPr lang="en-US" altLang="en-US" sz="2600" dirty="0">
                <a:sym typeface="Symbol" panose="05050102010706020507" pitchFamily="18" charset="2"/>
              </a:rPr>
              <a:t>  3</a:t>
            </a:r>
            <a:r>
              <a:rPr lang="en-US" altLang="en-US" sz="2600" i="1" dirty="0">
                <a:sym typeface="Symbol" panose="05050102010706020507" pitchFamily="18" charset="2"/>
              </a:rPr>
              <a:t>v</a:t>
            </a:r>
            <a:r>
              <a:rPr lang="en-US" altLang="en-US" sz="2600" dirty="0">
                <a:sym typeface="Symbol" panose="05050102010706020507" pitchFamily="18" charset="2"/>
              </a:rPr>
              <a:t> - 6.</a:t>
            </a:r>
          </a:p>
          <a:p>
            <a:pPr marL="0" indent="0" eaLnBrk="1" hangingPunct="1">
              <a:buNone/>
            </a:pPr>
            <a:r>
              <a:rPr lang="en-US" altLang="en-US" sz="2600" dirty="0"/>
              <a:t>Is </a:t>
            </a:r>
            <a:r>
              <a:rPr lang="en-US" altLang="en-US" sz="2600" i="1" dirty="0"/>
              <a:t>K</a:t>
            </a:r>
            <a:r>
              <a:rPr lang="en-US" altLang="en-US" sz="2600" baseline="-25000" dirty="0"/>
              <a:t>5 </a:t>
            </a:r>
            <a:r>
              <a:rPr lang="en-US" altLang="en-US" sz="2600" dirty="0"/>
              <a:t>planar?</a:t>
            </a:r>
          </a:p>
          <a:p>
            <a:pPr marL="0" indent="0" eaLnBrk="1" hangingPunct="1">
              <a:buNone/>
            </a:pPr>
            <a:endParaRPr lang="en-US" altLang="en-US" sz="2600" dirty="0"/>
          </a:p>
          <a:p>
            <a:pPr marL="0" indent="0" eaLnBrk="1" hangingPunct="1">
              <a:buNone/>
            </a:pPr>
            <a:r>
              <a:rPr lang="en-US" altLang="en-US" sz="2600" dirty="0"/>
              <a:t>Yes		No</a:t>
            </a:r>
          </a:p>
          <a:p>
            <a:pPr marL="0" indent="0" eaLnBrk="1" hangingPunct="1">
              <a:buNone/>
            </a:pPr>
            <a:endParaRPr lang="en-US" altLang="en-US" sz="2600" dirty="0"/>
          </a:p>
          <a:p>
            <a:pPr marL="0" indent="0" eaLnBrk="1" hangingPunct="1">
              <a:buNone/>
            </a:pPr>
            <a:r>
              <a:rPr lang="en-US" altLang="en-US" sz="2600" dirty="0"/>
              <a:t>Answer: No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9DAFE4B-8BE5-417E-B059-1A0E21DBB9E0}"/>
              </a:ext>
            </a:extLst>
          </p:cNvPr>
          <p:cNvGrpSpPr>
            <a:grpSpLocks/>
          </p:cNvGrpSpPr>
          <p:nvPr/>
        </p:nvGrpSpPr>
        <p:grpSpPr bwMode="auto">
          <a:xfrm>
            <a:off x="4940710" y="2890101"/>
            <a:ext cx="3810000" cy="3276600"/>
            <a:chOff x="1023" y="2663"/>
            <a:chExt cx="1146" cy="1089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B85DB366-7396-4C38-8292-CC9D96B4439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8" y="2663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70678ECB-2858-4480-945B-C41A6FFDCC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8" y="3055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9BEA12D5-CFBB-4C59-8333-20D1D8B7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2703"/>
              <a:ext cx="1056" cy="1016"/>
            </a:xfrm>
            <a:prstGeom prst="pentag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CCB9E3C8-C801-4488-AC20-C038488127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" y="3103"/>
              <a:ext cx="848" cy="6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54F8537E-EB1E-49F4-8BFB-4732E39A2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3095"/>
              <a:ext cx="1064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69190E66-C876-40B2-A9EE-91B9397B8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8" y="2711"/>
              <a:ext cx="32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1D90FCA1-D521-4521-B150-B8FC40261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703"/>
              <a:ext cx="312" cy="1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23E45765-9B6F-48A0-B387-CD0FF53B3C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2" y="3103"/>
              <a:ext cx="872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0FBFEBDA-5AC5-40A1-B460-1E96B72A3F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3" y="3072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671695C6-0775-4EB3-82E2-FB9E7CEED5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0" y="3671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9E426C42-6D54-4F96-9CF9-1210E3F4CB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6" y="3655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6" name="Text Box 17">
            <a:extLst>
              <a:ext uri="{FF2B5EF4-FFF2-40B4-BE49-F238E27FC236}">
                <a16:creationId xmlns:a16="http://schemas.microsoft.com/office/drawing/2014/main" id="{8D1D46DD-90F9-44E0-9445-3680A1658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980" y="5247417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400" i="1" dirty="0">
                <a:latin typeface="+mn-lt"/>
                <a:cs typeface="Times New Roman" panose="02020603050405020304" pitchFamily="18" charset="0"/>
              </a:rPr>
              <a:t>K</a:t>
            </a:r>
            <a:r>
              <a:rPr lang="en-US" altLang="en-US" sz="2400" baseline="-25000" dirty="0">
                <a:latin typeface="+mn-lt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2941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</a:rPr>
              <a:t>K</a:t>
            </a:r>
            <a:r>
              <a:rPr lang="en-US" altLang="en-US" sz="3000" baseline="-25000" dirty="0">
                <a:cs typeface="Times New Roman" panose="02020603050405020304" pitchFamily="18" charset="0"/>
              </a:rPr>
              <a:t>5</a:t>
            </a:r>
            <a:r>
              <a:rPr lang="en-US" altLang="en-US" sz="3000" dirty="0">
                <a:cs typeface="Times New Roman" panose="02020603050405020304" pitchFamily="18" charset="0"/>
              </a:rPr>
              <a:t> has 5 vertices and 10 edges. </a:t>
            </a:r>
          </a:p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</a:rPr>
              <a:t>We see that </a:t>
            </a:r>
            <a:r>
              <a:rPr lang="en-US" altLang="en-US" sz="3000" i="1" dirty="0">
                <a:cs typeface="Times New Roman" panose="02020603050405020304" pitchFamily="18" charset="0"/>
              </a:rPr>
              <a:t>v</a:t>
            </a:r>
            <a:r>
              <a:rPr lang="en-US" altLang="en-US" sz="3000" dirty="0"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 3</a:t>
            </a:r>
            <a:r>
              <a:rPr lang="en-US" altLang="en-US" sz="3000" dirty="0">
                <a:cs typeface="Times New Roman" panose="02020603050405020304" pitchFamily="18" charset="0"/>
              </a:rPr>
              <a:t>.  </a:t>
            </a:r>
          </a:p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</a:rPr>
              <a:t>So, if K</a:t>
            </a:r>
            <a:r>
              <a:rPr lang="en-US" altLang="en-US" sz="3000" baseline="-25000" dirty="0">
                <a:cs typeface="Times New Roman" panose="02020603050405020304" pitchFamily="18" charset="0"/>
              </a:rPr>
              <a:t>5</a:t>
            </a:r>
            <a:r>
              <a:rPr lang="en-US" altLang="en-US" sz="3000" dirty="0">
                <a:cs typeface="Times New Roman" panose="02020603050405020304" pitchFamily="18" charset="0"/>
              </a:rPr>
              <a:t> is planar, it must be true that </a:t>
            </a:r>
            <a:r>
              <a:rPr lang="en-US" altLang="en-US" sz="30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  3</a:t>
            </a:r>
            <a:r>
              <a:rPr lang="en-US" altLang="en-US" sz="30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 – 6.</a:t>
            </a:r>
          </a:p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30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 – 6  =  3*5 – 6  =  15 – 6  =  9.</a:t>
            </a:r>
            <a:endParaRPr lang="en-US" altLang="en-US" sz="30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</a:rPr>
              <a:t>So </a:t>
            </a:r>
            <a:r>
              <a:rPr lang="en-US" altLang="en-US" sz="3000" i="1" dirty="0">
                <a:cs typeface="Times New Roman" panose="02020603050405020304" pitchFamily="18" charset="0"/>
              </a:rPr>
              <a:t>e</a:t>
            </a:r>
            <a:r>
              <a:rPr lang="en-US" altLang="en-US" sz="3000" dirty="0">
                <a:cs typeface="Times New Roman" panose="02020603050405020304" pitchFamily="18" charset="0"/>
              </a:rPr>
              <a:t> must be 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 9. </a:t>
            </a:r>
          </a:p>
          <a:p>
            <a:pPr marL="0" indent="0" eaLnBrk="1" hangingPunct="1">
              <a:buNone/>
            </a:pP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But </a:t>
            </a:r>
            <a:r>
              <a:rPr lang="en-US" altLang="en-US" sz="30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 = 10.</a:t>
            </a:r>
          </a:p>
          <a:p>
            <a:pPr marL="0" indent="0">
              <a:buNone/>
            </a:pPr>
            <a:r>
              <a:rPr lang="en-US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10 is not  9.</a:t>
            </a:r>
          </a:p>
          <a:p>
            <a:pPr marL="0" indent="0" eaLnBrk="1" hangingPunct="1">
              <a:buNone/>
            </a:pPr>
            <a:r>
              <a:rPr lang="en-US" altLang="en-US" sz="3000" dirty="0">
                <a:solidFill>
                  <a:schemeClr val="tx2"/>
                </a:solidFill>
                <a:cs typeface="Times New Roman" panose="02020603050405020304" pitchFamily="18" charset="0"/>
              </a:rPr>
              <a:t>So, </a:t>
            </a:r>
            <a:r>
              <a:rPr lang="en-US" altLang="en-US" sz="3000" i="1" dirty="0">
                <a:cs typeface="Times New Roman" panose="02020603050405020304" pitchFamily="18" charset="0"/>
              </a:rPr>
              <a:t>K</a:t>
            </a:r>
            <a:r>
              <a:rPr lang="en-US" altLang="en-US" sz="3000" baseline="-25000" dirty="0">
                <a:cs typeface="Times New Roman" panose="02020603050405020304" pitchFamily="18" charset="0"/>
              </a:rPr>
              <a:t>5 </a:t>
            </a:r>
            <a:r>
              <a:rPr lang="en-US" altLang="en-US" sz="3000" dirty="0">
                <a:cs typeface="Times New Roman" panose="02020603050405020304" pitchFamily="18" charset="0"/>
              </a:rPr>
              <a:t>is nonplanar.  </a:t>
            </a:r>
          </a:p>
          <a:p>
            <a:pPr marL="0" indent="0">
              <a:buNone/>
            </a:pPr>
            <a:endParaRPr lang="en-IN" sz="2400" dirty="0">
              <a:cs typeface="Times New Roman" panose="02020603050405020304" pitchFamily="18" charset="0"/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193B5001-93D9-4E49-8A5F-22B316CD2A06}"/>
              </a:ext>
            </a:extLst>
          </p:cNvPr>
          <p:cNvGrpSpPr>
            <a:grpSpLocks/>
          </p:cNvGrpSpPr>
          <p:nvPr/>
        </p:nvGrpSpPr>
        <p:grpSpPr bwMode="auto">
          <a:xfrm>
            <a:off x="5002492" y="3138339"/>
            <a:ext cx="3200400" cy="2971800"/>
            <a:chOff x="1023" y="2663"/>
            <a:chExt cx="1146" cy="1089"/>
          </a:xfrm>
        </p:grpSpPr>
        <p:sp>
          <p:nvSpPr>
            <p:cNvPr id="18" name="Oval 5">
              <a:extLst>
                <a:ext uri="{FF2B5EF4-FFF2-40B4-BE49-F238E27FC236}">
                  <a16:creationId xmlns:a16="http://schemas.microsoft.com/office/drawing/2014/main" id="{BA8660EF-2C0F-4CA7-ACDB-F76072CB45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8" y="2663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6">
              <a:extLst>
                <a:ext uri="{FF2B5EF4-FFF2-40B4-BE49-F238E27FC236}">
                  <a16:creationId xmlns:a16="http://schemas.microsoft.com/office/drawing/2014/main" id="{1CB71D2C-210C-4398-8A0E-BDA6E8218E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88" y="3055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AutoShape 7">
              <a:extLst>
                <a:ext uri="{FF2B5EF4-FFF2-40B4-BE49-F238E27FC236}">
                  <a16:creationId xmlns:a16="http://schemas.microsoft.com/office/drawing/2014/main" id="{B8E5B169-971E-4768-96BD-5395AC83F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2703"/>
              <a:ext cx="1056" cy="1016"/>
            </a:xfrm>
            <a:prstGeom prst="pentag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449ECB83-E50F-4391-A84C-1D4B8F937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" y="3103"/>
              <a:ext cx="848" cy="6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47122D07-F805-4570-9418-E6029551B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3095"/>
              <a:ext cx="1064" cy="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FA94A65E-51D8-43A9-8678-5EC436FEA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8" y="2711"/>
              <a:ext cx="320" cy="10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" name="Line 11">
              <a:extLst>
                <a:ext uri="{FF2B5EF4-FFF2-40B4-BE49-F238E27FC236}">
                  <a16:creationId xmlns:a16="http://schemas.microsoft.com/office/drawing/2014/main" id="{BAECB363-F2F7-4F52-A67E-541864FC87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6" y="2703"/>
              <a:ext cx="312" cy="10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Line 12">
              <a:extLst>
                <a:ext uri="{FF2B5EF4-FFF2-40B4-BE49-F238E27FC236}">
                  <a16:creationId xmlns:a16="http://schemas.microsoft.com/office/drawing/2014/main" id="{CCBAFCB2-56EC-425B-9AF2-03114C127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72" y="3103"/>
              <a:ext cx="872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Oval 13">
              <a:extLst>
                <a:ext uri="{FF2B5EF4-FFF2-40B4-BE49-F238E27FC236}">
                  <a16:creationId xmlns:a16="http://schemas.microsoft.com/office/drawing/2014/main" id="{AB53CCFA-3010-4E88-9E3D-58BEA70833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23" y="3072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14">
              <a:extLst>
                <a:ext uri="{FF2B5EF4-FFF2-40B4-BE49-F238E27FC236}">
                  <a16:creationId xmlns:a16="http://schemas.microsoft.com/office/drawing/2014/main" id="{BD5B81FE-6E7F-42BE-858D-772445A283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0" y="3671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15">
              <a:extLst>
                <a:ext uri="{FF2B5EF4-FFF2-40B4-BE49-F238E27FC236}">
                  <a16:creationId xmlns:a16="http://schemas.microsoft.com/office/drawing/2014/main" id="{6E467549-9BA6-4316-9535-39AE7382722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56" y="3655"/>
              <a:ext cx="81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9" name="Text Box 16">
            <a:extLst>
              <a:ext uri="{FF2B5EF4-FFF2-40B4-BE49-F238E27FC236}">
                <a16:creationId xmlns:a16="http://schemas.microsoft.com/office/drawing/2014/main" id="{97F465AF-0E89-4D2F-B6E2-7F3E44AB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692" y="5119539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3200">
                <a:latin typeface="Times New Roman" panose="02020603050405020304" pitchFamily="18" charset="0"/>
              </a:rPr>
              <a:t>K</a:t>
            </a:r>
            <a:r>
              <a:rPr lang="en-US" altLang="en-US" sz="3200" baseline="-25000">
                <a:latin typeface="Times New Roman" panose="02020603050405020304" pitchFamily="18" charset="0"/>
              </a:rPr>
              <a:t>5</a:t>
            </a:r>
            <a:endParaRPr lang="en-US" altLang="en-US" sz="32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3144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sz="2600" b="1" dirty="0"/>
              <a:t>Corollary 1: </a:t>
            </a:r>
            <a:r>
              <a:rPr lang="en-US" altLang="en-US" sz="2600" dirty="0"/>
              <a:t>If G is a connected planar simple graph with e edges and v vertices where v </a:t>
            </a:r>
            <a:r>
              <a:rPr lang="en-US" altLang="en-US" sz="2600" dirty="0">
                <a:sym typeface="Symbol" panose="05050102010706020507" pitchFamily="18" charset="2"/>
              </a:rPr>
              <a:t> 3, then e  3v - 6.</a:t>
            </a:r>
          </a:p>
          <a:p>
            <a:pPr marL="0" indent="0" eaLnBrk="1" hangingPunct="1">
              <a:buNone/>
            </a:pPr>
            <a:r>
              <a:rPr lang="en-US" altLang="en-US" sz="2600" dirty="0"/>
              <a:t>Is K</a:t>
            </a:r>
            <a:r>
              <a:rPr lang="en-US" altLang="en-US" sz="2600" baseline="-25000" dirty="0"/>
              <a:t>4 </a:t>
            </a:r>
            <a:r>
              <a:rPr lang="en-US" altLang="en-US" sz="2600" dirty="0"/>
              <a:t>planar?</a:t>
            </a:r>
          </a:p>
          <a:p>
            <a:pPr marL="0" indent="0" eaLnBrk="1" hangingPunct="1">
              <a:buNone/>
            </a:pPr>
            <a:endParaRPr lang="en-US" altLang="en-US" sz="2600" dirty="0"/>
          </a:p>
          <a:p>
            <a:pPr marL="0" indent="0" eaLnBrk="1" hangingPunct="1">
              <a:buNone/>
            </a:pPr>
            <a:r>
              <a:rPr lang="en-US" altLang="en-US" sz="2600" dirty="0"/>
              <a:t>Yes		No</a:t>
            </a:r>
          </a:p>
          <a:p>
            <a:pPr marL="0" indent="0" eaLnBrk="1" hangingPunct="1">
              <a:buNone/>
            </a:pPr>
            <a:endParaRPr lang="en-US" altLang="en-US" sz="2600" dirty="0"/>
          </a:p>
          <a:p>
            <a:pPr marL="0" indent="0" eaLnBrk="1" hangingPunct="1">
              <a:buNone/>
            </a:pPr>
            <a:endParaRPr lang="en-US" altLang="en-US" sz="2600" dirty="0"/>
          </a:p>
          <a:p>
            <a:pPr marL="0" indent="0" eaLnBrk="1" hangingPunct="1">
              <a:buNone/>
            </a:pPr>
            <a:r>
              <a:rPr lang="en-US" altLang="en-US" sz="2600" dirty="0"/>
              <a:t>Answer: Yes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D063F-9BC3-4152-A15D-029D6E45B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83" y="3276600"/>
            <a:ext cx="2338086" cy="255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164720"/>
            <a:ext cx="8504904" cy="5441351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K</a:t>
            </a:r>
            <a:r>
              <a:rPr lang="en-US" altLang="en-US" sz="2600" baseline="-25000" dirty="0">
                <a:cs typeface="Times New Roman" panose="02020603050405020304" pitchFamily="18" charset="0"/>
              </a:rPr>
              <a:t>4</a:t>
            </a:r>
            <a:r>
              <a:rPr lang="en-US" altLang="en-US" sz="2600" dirty="0">
                <a:cs typeface="Times New Roman" panose="02020603050405020304" pitchFamily="18" charset="0"/>
              </a:rPr>
              <a:t> has 4 vertices and 6 edges. </a:t>
            </a:r>
          </a:p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We see that </a:t>
            </a:r>
            <a:r>
              <a:rPr lang="en-US" altLang="en-US" sz="2600" i="1" dirty="0">
                <a:cs typeface="Times New Roman" panose="02020603050405020304" pitchFamily="18" charset="0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 3</a:t>
            </a:r>
            <a:r>
              <a:rPr lang="en-US" altLang="en-US" sz="2600" dirty="0">
                <a:cs typeface="Times New Roman" panose="02020603050405020304" pitchFamily="18" charset="0"/>
              </a:rPr>
              <a:t>.  </a:t>
            </a:r>
          </a:p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So, if K</a:t>
            </a:r>
            <a:r>
              <a:rPr lang="en-US" altLang="en-US" sz="2600" baseline="-25000" dirty="0">
                <a:cs typeface="Times New Roman" panose="02020603050405020304" pitchFamily="18" charset="0"/>
              </a:rPr>
              <a:t>4</a:t>
            </a:r>
            <a:r>
              <a:rPr lang="en-US" altLang="en-US" sz="2600" dirty="0">
                <a:cs typeface="Times New Roman" panose="02020603050405020304" pitchFamily="18" charset="0"/>
              </a:rPr>
              <a:t> is planar, it must be true that 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 3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– 6.</a:t>
            </a:r>
          </a:p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– 6  =  3*4 – 6  =  12 – 6  =  6.</a:t>
            </a:r>
            <a:endParaRPr lang="en-US" altLang="en-US" sz="260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So </a:t>
            </a:r>
            <a:r>
              <a:rPr lang="en-US" altLang="en-US" sz="2600" i="1" dirty="0">
                <a:cs typeface="Times New Roman" panose="02020603050405020304" pitchFamily="18" charset="0"/>
              </a:rPr>
              <a:t>e</a:t>
            </a:r>
            <a:r>
              <a:rPr lang="en-US" altLang="en-US" sz="2600" dirty="0">
                <a:cs typeface="Times New Roman" panose="02020603050405020304" pitchFamily="18" charset="0"/>
              </a:rPr>
              <a:t> must be 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 6. </a:t>
            </a:r>
          </a:p>
          <a:p>
            <a:pPr marL="0" indent="0" eaLnBrk="1" hangingPunct="1">
              <a:buNone/>
            </a:pP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But 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= 6.</a:t>
            </a:r>
          </a:p>
          <a:p>
            <a:pPr marL="0" indent="0">
              <a:buNone/>
            </a:pP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6 is  6.</a:t>
            </a:r>
          </a:p>
          <a:p>
            <a:pPr marL="0" indent="0" eaLnBrk="1" hangingPunct="1">
              <a:buNone/>
            </a:pPr>
            <a:r>
              <a:rPr lang="en-US" altLang="en-US" sz="2600" dirty="0">
                <a:solidFill>
                  <a:schemeClr val="tx2"/>
                </a:solidFill>
                <a:cs typeface="Times New Roman" panose="02020603050405020304" pitchFamily="18" charset="0"/>
              </a:rPr>
              <a:t>So, </a:t>
            </a:r>
            <a:r>
              <a:rPr lang="en-US" altLang="en-US" sz="2600" i="1" dirty="0">
                <a:cs typeface="Times New Roman" panose="02020603050405020304" pitchFamily="18" charset="0"/>
              </a:rPr>
              <a:t>K</a:t>
            </a:r>
            <a:r>
              <a:rPr lang="en-US" altLang="en-US" sz="2600" baseline="-25000" dirty="0">
                <a:cs typeface="Times New Roman" panose="02020603050405020304" pitchFamily="18" charset="0"/>
              </a:rPr>
              <a:t>4 </a:t>
            </a:r>
            <a:r>
              <a:rPr lang="en-US" altLang="en-US" sz="2600" dirty="0">
                <a:cs typeface="Times New Roman" panose="02020603050405020304" pitchFamily="18" charset="0"/>
              </a:rPr>
              <a:t>is planar.  </a:t>
            </a:r>
          </a:p>
          <a:p>
            <a:pPr marL="0" indent="0">
              <a:buNone/>
            </a:pPr>
            <a:endParaRPr lang="en-IN" sz="2400" dirty="0"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73207-1051-41E7-8721-BA455EC1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714" y="3429000"/>
            <a:ext cx="2338086" cy="255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5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Corollary 2: </a:t>
            </a:r>
            <a:r>
              <a:rPr lang="en-US" dirty="0"/>
              <a:t>If G is a connected planar simple graph, then G must have a vertex of degree not exceeding 5.</a:t>
            </a:r>
          </a:p>
          <a:p>
            <a:pPr marL="0" indent="0">
              <a:buNone/>
            </a:pPr>
            <a:r>
              <a:rPr lang="en-US" dirty="0"/>
              <a:t>If G has one or two vertices, it is true; </a:t>
            </a:r>
          </a:p>
          <a:p>
            <a:pPr marL="0" indent="0">
              <a:buNone/>
            </a:pPr>
            <a:r>
              <a:rPr lang="en-US" dirty="0"/>
              <a:t>thus, we assume that G has at least three vertices.</a:t>
            </a:r>
          </a:p>
          <a:p>
            <a:pPr marL="0" indent="0">
              <a:buNone/>
            </a:pPr>
            <a:r>
              <a:rPr lang="en-US" dirty="0"/>
              <a:t>If the degree of each vertex were at least 6, then by Handshaking Theorem, 2e ≥ 6v, i.e., e ≥ 3v,</a:t>
            </a:r>
          </a:p>
          <a:p>
            <a:pPr marL="0" indent="0">
              <a:buNone/>
            </a:pPr>
            <a:r>
              <a:rPr lang="en-US" dirty="0"/>
              <a:t>but this contradicts the inequality from Corollary 1:  1 e ≤ 3v – 6.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0C955C1E-1540-4180-90A9-06E534E396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30928"/>
              </p:ext>
            </p:extLst>
          </p:nvPr>
        </p:nvGraphicFramePr>
        <p:xfrm>
          <a:off x="5573712" y="5609302"/>
          <a:ext cx="28844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42720" progId="Equation.3">
                  <p:embed/>
                </p:oleObj>
              </mc:Choice>
              <mc:Fallback>
                <p:oleObj name="Equation" r:id="rId2" imgW="927000" imgH="342720" progId="Equation.3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C469A42C-E030-4761-BD04-84267DBDF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2" y="5609302"/>
                        <a:ext cx="28844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5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en-US" sz="2600" b="1" dirty="0">
                <a:cs typeface="Times New Roman" panose="02020603050405020304" pitchFamily="18" charset="0"/>
                <a:sym typeface="Symbol" panose="05050102010706020507" pitchFamily="18" charset="2"/>
              </a:rPr>
              <a:t>Corollary 3: 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If a connected planar simple graph has 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edges and 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vertices with </a:t>
            </a:r>
            <a:r>
              <a:rPr lang="en-US" altLang="en-US" sz="2600" i="1" dirty="0">
                <a:cs typeface="Times New Roman" panose="02020603050405020304" pitchFamily="18" charset="0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 3 and no circuits of length 3, then 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 2</a:t>
            </a:r>
            <a:r>
              <a:rPr lang="en-US" altLang="en-US" sz="2600" i="1" dirty="0"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2600" dirty="0">
                <a:cs typeface="Times New Roman" panose="02020603050405020304" pitchFamily="18" charset="0"/>
                <a:sym typeface="Symbol" panose="05050102010706020507" pitchFamily="18" charset="2"/>
              </a:rPr>
              <a:t> - 4.</a:t>
            </a: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Is </a:t>
            </a:r>
            <a:r>
              <a:rPr lang="en-US" altLang="en-US" sz="2600" i="1" dirty="0">
                <a:cs typeface="Times New Roman" panose="02020603050405020304" pitchFamily="18" charset="0"/>
              </a:rPr>
              <a:t>K</a:t>
            </a:r>
            <a:r>
              <a:rPr lang="en-US" altLang="en-US" sz="2600" baseline="-25000" dirty="0">
                <a:cs typeface="Times New Roman" panose="02020603050405020304" pitchFamily="18" charset="0"/>
              </a:rPr>
              <a:t>3,3 </a:t>
            </a:r>
            <a:r>
              <a:rPr lang="en-US" altLang="en-US" sz="2600" dirty="0">
                <a:cs typeface="Times New Roman" panose="02020603050405020304" pitchFamily="18" charset="0"/>
              </a:rPr>
              <a:t>planar?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Yes		No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en-US" sz="2600" dirty="0">
                <a:cs typeface="Times New Roman" panose="02020603050405020304" pitchFamily="18" charset="0"/>
              </a:rPr>
              <a:t>Answer: No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cs typeface="Times New Roman" panose="020206030504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0AE65C-F00D-416B-93D8-26229298A4A3}"/>
              </a:ext>
            </a:extLst>
          </p:cNvPr>
          <p:cNvGrpSpPr>
            <a:grpSpLocks/>
          </p:cNvGrpSpPr>
          <p:nvPr/>
        </p:nvGrpSpPr>
        <p:grpSpPr bwMode="auto">
          <a:xfrm>
            <a:off x="5532749" y="4029959"/>
            <a:ext cx="2709863" cy="1905000"/>
            <a:chOff x="2198" y="3014"/>
            <a:chExt cx="1371" cy="863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CB108409-CE40-453E-A55C-A5A4147DF1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126585F6-4C6E-417B-832B-25B7A15A9C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28A968F-4838-41EB-A798-40B2627A1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1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822D676E-F1C2-4C99-A619-164FB9DA7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7CD052EE-81D0-46C0-8238-256B2924E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39" y="3041"/>
              <a:ext cx="1302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F7495B0B-7427-4FB2-B8BA-0E8896B69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0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D260FCB9-275B-48B2-B4D7-5152881B6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2BEE719D-CF59-40FF-90DE-BED662BE6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A8708F16-F2CC-4005-A6B4-917611D3B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9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2C7373AE-6AFE-4D08-A3F6-B64B551636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0" y="3041"/>
              <a:ext cx="651" cy="7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1E9FEF07-354E-49A8-973B-47D4211647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36CD725A-1FF5-46BA-92CC-111EEA069B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014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7C801D01-040B-4C2D-9A14-AF9A82A2ED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98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18">
              <a:extLst>
                <a:ext uri="{FF2B5EF4-FFF2-40B4-BE49-F238E27FC236}">
                  <a16:creationId xmlns:a16="http://schemas.microsoft.com/office/drawing/2014/main" id="{E4F94E97-0899-4A8C-BB5B-CC4875CD26B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0" y="379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19">
              <a:extLst>
                <a:ext uri="{FF2B5EF4-FFF2-40B4-BE49-F238E27FC236}">
                  <a16:creationId xmlns:a16="http://schemas.microsoft.com/office/drawing/2014/main" id="{A837E458-5256-4F91-B09D-6232CEF37B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94" y="3802"/>
              <a:ext cx="75" cy="75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428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Theorem 1 (Kuratowski, 1930)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l-SI" altLang="en-US" dirty="0"/>
              <a:t>A graph is planar if and only if it does not contain a subgraph that is a K</a:t>
            </a:r>
            <a:r>
              <a:rPr lang="sl-SI" altLang="en-US" baseline="-25000" dirty="0"/>
              <a:t>5</a:t>
            </a:r>
            <a:r>
              <a:rPr lang="sl-SI" altLang="en-US" dirty="0"/>
              <a:t> or K</a:t>
            </a:r>
            <a:r>
              <a:rPr lang="sl-SI" altLang="en-US" baseline="-25000" dirty="0"/>
              <a:t>3,3</a:t>
            </a:r>
            <a:r>
              <a:rPr lang="sl-SI" altLang="en-US" dirty="0"/>
              <a:t> configuration.</a:t>
            </a:r>
            <a:endParaRPr lang="en-GB" alt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1059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01D07E-D57A-4A61-A051-A9F071F07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7" y="4175595"/>
            <a:ext cx="2708476" cy="2488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Which of these nonplanar graphs have the property that the removal of any vertex and all edges incident with that vertex produces a planar graph? a) K</a:t>
            </a:r>
            <a:r>
              <a:rPr lang="en-US" sz="2600" baseline="-25000" dirty="0"/>
              <a:t>5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If we remove a vertex from K</a:t>
            </a:r>
            <a:r>
              <a:rPr lang="en-US" sz="2600" baseline="-25000" dirty="0"/>
              <a:t>5</a:t>
            </a:r>
            <a:r>
              <a:rPr lang="en-US" sz="2600" dirty="0"/>
              <a:t> , then we get K</a:t>
            </a:r>
            <a:r>
              <a:rPr lang="en-US" sz="2600" baseline="-25000" dirty="0"/>
              <a:t>4</a:t>
            </a:r>
            <a:r>
              <a:rPr lang="en-US" sz="2600" dirty="0"/>
              <a:t> , which is clearly planar.</a:t>
            </a:r>
            <a:endParaRPr lang="en-IN" sz="2600" dirty="0"/>
          </a:p>
          <a:p>
            <a:pPr marL="0" indent="0">
              <a:buNone/>
            </a:pPr>
            <a:endParaRPr lang="en-US" sz="2400" baseline="-25000" dirty="0"/>
          </a:p>
          <a:p>
            <a:pPr marL="0" indent="0">
              <a:buNone/>
            </a:pPr>
            <a:endParaRPr lang="en-IN" sz="2400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027B-18E2-433C-821B-D7F7033C5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766" y="4104527"/>
            <a:ext cx="2338086" cy="2559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12E0C0-1A59-4FAE-8D63-EA30357BE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533" y="4251010"/>
            <a:ext cx="2662177" cy="238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0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1B5B5-0A7D-4E07-96D7-A6567E7E9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242" y="3163151"/>
            <a:ext cx="2708476" cy="2927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29844"/>
            <a:ext cx="8504904" cy="21991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Which of these nonplanar graphs have the property that the removal of any vertex and all edges incident with that vertex produces a planar graph?</a:t>
            </a:r>
            <a:br>
              <a:rPr lang="en-US" sz="2400" dirty="0"/>
            </a:br>
            <a:r>
              <a:rPr lang="en-US" sz="2400" dirty="0"/>
              <a:t>b) K</a:t>
            </a:r>
            <a:r>
              <a:rPr lang="en-US" sz="2400" baseline="-25000" dirty="0"/>
              <a:t>6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57C60A-B6E8-43D3-BF88-207541486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558" y="3014279"/>
            <a:ext cx="2824223" cy="3490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528BA-A0D6-4F3D-BB18-9873A89DE0DA}"/>
              </a:ext>
            </a:extLst>
          </p:cNvPr>
          <p:cNvSpPr txBox="1"/>
          <p:nvPr/>
        </p:nvSpPr>
        <p:spPr>
          <a:xfrm>
            <a:off x="292282" y="3366072"/>
            <a:ext cx="3467666" cy="278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If we remove a vertex from K</a:t>
            </a:r>
            <a:r>
              <a:rPr lang="en-US" sz="2400" baseline="-25000" dirty="0"/>
              <a:t>6</a:t>
            </a:r>
            <a:r>
              <a:rPr lang="en-US" sz="2400" dirty="0"/>
              <a:t> , then we get K</a:t>
            </a:r>
            <a:r>
              <a:rPr lang="en-US" sz="2400" baseline="-25000" dirty="0"/>
              <a:t>5</a:t>
            </a:r>
            <a:r>
              <a:rPr lang="en-US" sz="2400" dirty="0"/>
              <a:t> , which is not planar.(As shown in previous slide no. 49)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35690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0281E2-5586-441E-8428-ABC4FE63C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52" y="3469394"/>
            <a:ext cx="3078866" cy="2308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29844"/>
            <a:ext cx="8504904" cy="21991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Which of these nonplanar graphs have the property that the removal of any vertex and all edges incident with that vertex produces a planar graph?</a:t>
            </a:r>
            <a:br>
              <a:rPr lang="en-US" sz="2400" dirty="0"/>
            </a:br>
            <a:r>
              <a:rPr lang="en-US" sz="2400" dirty="0"/>
              <a:t>c) K</a:t>
            </a:r>
            <a:r>
              <a:rPr lang="en-US" sz="2400" baseline="-25000" dirty="0"/>
              <a:t>3,3</a:t>
            </a:r>
            <a:endParaRPr lang="en-IN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528BA-A0D6-4F3D-BB18-9873A89DE0DA}"/>
              </a:ext>
            </a:extLst>
          </p:cNvPr>
          <p:cNvSpPr txBox="1"/>
          <p:nvPr/>
        </p:nvSpPr>
        <p:spPr>
          <a:xfrm>
            <a:off x="393290" y="3544478"/>
            <a:ext cx="3237920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If we remove a vertex from K</a:t>
            </a:r>
            <a:r>
              <a:rPr lang="en-US" sz="2400" baseline="-25000" dirty="0"/>
              <a:t>3,3</a:t>
            </a:r>
            <a:r>
              <a:rPr lang="en-US" sz="2400" dirty="0"/>
              <a:t>, then we get K</a:t>
            </a:r>
            <a:r>
              <a:rPr lang="en-US" sz="2400" baseline="-25000" dirty="0"/>
              <a:t>3 ,2</a:t>
            </a:r>
            <a:r>
              <a:rPr lang="en-US" sz="2400" dirty="0"/>
              <a:t> , which is clearly planar.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6A9AB1-BB7F-47FB-980E-4AB9CC76C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29" y="3592082"/>
            <a:ext cx="2893671" cy="213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2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D5E-0156-4465-A1CD-EA26BF5B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Euler’s Formula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B638-637E-428E-AC91-58A2C24D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29844"/>
            <a:ext cx="8504904" cy="21991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Which of these nonplanar graphs have the property that the removal of any vertex and all edges incident with that vertex produces a planar graph?</a:t>
            </a:r>
            <a:br>
              <a:rPr lang="en-US" sz="2800" dirty="0"/>
            </a:br>
            <a:r>
              <a:rPr lang="en-US" sz="2800" dirty="0"/>
              <a:t>d) K</a:t>
            </a:r>
            <a:r>
              <a:rPr lang="en-US" sz="2800" baseline="-25000" dirty="0"/>
              <a:t>3,4</a:t>
            </a:r>
            <a:endParaRPr lang="en-IN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528BA-A0D6-4F3D-BB18-9873A89DE0DA}"/>
              </a:ext>
            </a:extLst>
          </p:cNvPr>
          <p:cNvSpPr txBox="1"/>
          <p:nvPr/>
        </p:nvSpPr>
        <p:spPr>
          <a:xfrm>
            <a:off x="393290" y="3476839"/>
            <a:ext cx="5112355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answer is no, since we can remove a vertex in the part of size 4 to leave K</a:t>
            </a:r>
            <a:r>
              <a:rPr lang="en-US" sz="2400" baseline="-25000" dirty="0"/>
              <a:t>3,3</a:t>
            </a:r>
            <a:r>
              <a:rPr lang="en-US" sz="2400" dirty="0"/>
              <a:t> , which is not planar. (As discussed earlier in slide 30)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F6C35-64E1-44F4-BB39-F91D99DDE6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23" r="14438" b="21798"/>
          <a:stretch/>
        </p:blipFill>
        <p:spPr>
          <a:xfrm>
            <a:off x="5531253" y="3157979"/>
            <a:ext cx="3366941" cy="238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1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10039</TotalTime>
  <Words>682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</vt:lpstr>
      <vt:lpstr>Bahnschrift</vt:lpstr>
      <vt:lpstr>Bahnschrift SemiBold</vt:lpstr>
      <vt:lpstr>Calibri</vt:lpstr>
      <vt:lpstr>Times New Roman</vt:lpstr>
      <vt:lpstr>Office Theme</vt:lpstr>
      <vt:lpstr>Equation</vt:lpstr>
      <vt:lpstr>EMTH403</vt:lpstr>
      <vt:lpstr>Lecture Outcomes</vt:lpstr>
      <vt:lpstr>Euler’s Formula (Cont.)</vt:lpstr>
      <vt:lpstr>Euler’s Formula (Cont.)</vt:lpstr>
      <vt:lpstr>Euler’s Formula (Cont.)</vt:lpstr>
      <vt:lpstr>Euler’s Formula (Cont.)</vt:lpstr>
      <vt:lpstr>Euler’s Formula (Cont.)</vt:lpstr>
      <vt:lpstr>Euler’s Formula (Cont.)</vt:lpstr>
      <vt:lpstr>Theorem 1 (Kuratowski, 1930)</vt:lpstr>
      <vt:lpstr>Euler’s Formula (Cont.)</vt:lpstr>
      <vt:lpstr>Euler’s Formula (Cont.)</vt:lpstr>
      <vt:lpstr>Euler’s Formula (Cont.)</vt:lpstr>
      <vt:lpstr>Euler’s Formula (Cont.)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1587</cp:revision>
  <dcterms:created xsi:type="dcterms:W3CDTF">2020-12-04T05:20:56Z</dcterms:created>
  <dcterms:modified xsi:type="dcterms:W3CDTF">2021-01-27T04:35:21Z</dcterms:modified>
</cp:coreProperties>
</file>