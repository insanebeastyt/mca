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327" r:id="rId4"/>
    <p:sldId id="328" r:id="rId5"/>
    <p:sldId id="329" r:id="rId6"/>
    <p:sldId id="336" r:id="rId7"/>
    <p:sldId id="337" r:id="rId8"/>
    <p:sldId id="331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7" r:id="rId18"/>
    <p:sldId id="348" r:id="rId19"/>
    <p:sldId id="346" r:id="rId20"/>
    <p:sldId id="349" r:id="rId21"/>
    <p:sldId id="350" r:id="rId22"/>
    <p:sldId id="351" r:id="rId23"/>
    <p:sldId id="355" r:id="rId24"/>
    <p:sldId id="353" r:id="rId25"/>
    <p:sldId id="354" r:id="rId26"/>
    <p:sldId id="25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327"/>
            <p14:sldId id="328"/>
            <p14:sldId id="329"/>
            <p14:sldId id="336"/>
            <p14:sldId id="337"/>
            <p14:sldId id="331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7"/>
            <p14:sldId id="348"/>
            <p14:sldId id="346"/>
            <p14:sldId id="349"/>
            <p14:sldId id="350"/>
            <p14:sldId id="351"/>
            <p14:sldId id="355"/>
            <p14:sldId id="353"/>
            <p14:sldId id="354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09-01-2021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sz="2600" dirty="0"/>
              <a:t>understand different types of graphs.</a:t>
            </a:r>
          </a:p>
          <a:p>
            <a:r>
              <a:rPr lang="en-US" sz="2600" dirty="0"/>
              <a:t>understand degree of a graph.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3945-AA96-4121-8205-E3E3EE34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330" y="1164723"/>
            <a:ext cx="8713387" cy="53389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Potentially anything (graphs can represent  relations, relations can describe the extension of any predicate).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Apps in networking, scheduling, flow optimization, circuit design, path planning.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apps: Genealogy analysis, computer game-playing, program compilation, object-oriented design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26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Graph -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3945-AA96-4121-8205-E3E3EE349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simple graph G = (V, E) consists of V, a nonempty set of vertices, and E, a set of unordered pairs of distinct elements of V called edges.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7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Graph – Example 1</a:t>
            </a:r>
            <a:endParaRPr lang="en-IN" dirty="0"/>
          </a:p>
        </p:txBody>
      </p:sp>
      <p:sp>
        <p:nvSpPr>
          <p:cNvPr id="30" name="Text Box 60">
            <a:extLst>
              <a:ext uri="{FF2B5EF4-FFF2-40B4-BE49-F238E27FC236}">
                <a16:creationId xmlns:a16="http://schemas.microsoft.com/office/drawing/2014/main" id="{912DE7B4-0DB3-4D5B-BDDE-DDA300008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888" y="4881394"/>
            <a:ext cx="68002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/>
              <a:t>How many vertices?  How many edges?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F4687D-1145-45C4-85EE-3A79FC29EC8C}"/>
              </a:ext>
            </a:extLst>
          </p:cNvPr>
          <p:cNvGrpSpPr/>
          <p:nvPr/>
        </p:nvGrpSpPr>
        <p:grpSpPr>
          <a:xfrm>
            <a:off x="230088" y="1480457"/>
            <a:ext cx="8546627" cy="3023890"/>
            <a:chOff x="202096" y="2133600"/>
            <a:chExt cx="8546627" cy="3023890"/>
          </a:xfrm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70741915-0CE2-4F84-9925-DCD5E42D0FC0}"/>
                </a:ext>
              </a:extLst>
            </p:cNvPr>
            <p:cNvGrpSpPr>
              <a:grpSpLocks/>
            </p:cNvGrpSpPr>
            <p:nvPr/>
          </p:nvGrpSpPr>
          <p:grpSpPr bwMode="auto">
            <a:xfrm rot="20054863">
              <a:off x="887896" y="3352800"/>
              <a:ext cx="228600" cy="1219200"/>
              <a:chOff x="576" y="1248"/>
              <a:chExt cx="144" cy="768"/>
            </a:xfrm>
          </p:grpSpPr>
          <p:sp>
            <p:nvSpPr>
              <p:cNvPr id="7" name="Oval 4">
                <a:extLst>
                  <a:ext uri="{FF2B5EF4-FFF2-40B4-BE49-F238E27FC236}">
                    <a16:creationId xmlns:a16="http://schemas.microsoft.com/office/drawing/2014/main" id="{7F994974-CA46-426D-AE60-B717AA0D1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  <p:sp>
            <p:nvSpPr>
              <p:cNvPr id="8" name="Line 5">
                <a:extLst>
                  <a:ext uri="{FF2B5EF4-FFF2-40B4-BE49-F238E27FC236}">
                    <a16:creationId xmlns:a16="http://schemas.microsoft.com/office/drawing/2014/main" id="{F5626885-DA17-4B0E-82A6-D5586EF2A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B4BB546A-A052-451F-A5B2-19ED372BE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</p:grpSp>
        <p:grpSp>
          <p:nvGrpSpPr>
            <p:cNvPr id="10" name="Group 11">
              <a:extLst>
                <a:ext uri="{FF2B5EF4-FFF2-40B4-BE49-F238E27FC236}">
                  <a16:creationId xmlns:a16="http://schemas.microsoft.com/office/drawing/2014/main" id="{235A9601-6996-4F5D-A949-47A65A0D7E23}"/>
                </a:ext>
              </a:extLst>
            </p:cNvPr>
            <p:cNvGrpSpPr>
              <a:grpSpLocks/>
            </p:cNvGrpSpPr>
            <p:nvPr/>
          </p:nvGrpSpPr>
          <p:grpSpPr bwMode="auto">
            <a:xfrm rot="3320065">
              <a:off x="5574196" y="2400300"/>
              <a:ext cx="228600" cy="1219200"/>
              <a:chOff x="576" y="1248"/>
              <a:chExt cx="144" cy="768"/>
            </a:xfrm>
          </p:grpSpPr>
          <p:sp>
            <p:nvSpPr>
              <p:cNvPr id="11" name="Oval 12">
                <a:extLst>
                  <a:ext uri="{FF2B5EF4-FFF2-40B4-BE49-F238E27FC236}">
                    <a16:creationId xmlns:a16="http://schemas.microsoft.com/office/drawing/2014/main" id="{5555D582-89C3-4D6A-A7C5-917212124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endParaRPr lang="en-US" altLang="en-US" sz="2400"/>
              </a:p>
            </p:txBody>
          </p:sp>
          <p:sp>
            <p:nvSpPr>
              <p:cNvPr id="12" name="Line 13">
                <a:extLst>
                  <a:ext uri="{FF2B5EF4-FFF2-40B4-BE49-F238E27FC236}">
                    <a16:creationId xmlns:a16="http://schemas.microsoft.com/office/drawing/2014/main" id="{6E7D6F89-6C20-42AC-A01B-933BDCF39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13" name="Oval 14">
                <a:extLst>
                  <a:ext uri="{FF2B5EF4-FFF2-40B4-BE49-F238E27FC236}">
                    <a16:creationId xmlns:a16="http://schemas.microsoft.com/office/drawing/2014/main" id="{4D9E6053-F46C-455C-9909-E0178E5BF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endParaRPr lang="en-US" altLang="en-US" sz="2400"/>
              </a:p>
            </p:txBody>
          </p:sp>
        </p:grp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6EDB733F-D920-4CD7-BFEF-C85B693A6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7896" y="3505200"/>
              <a:ext cx="21336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6F58F675-4A46-4C0F-A338-6E84B2DAA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2696" y="3810000"/>
              <a:ext cx="17526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3DC14965-D78C-42D0-B9BB-8EC8315148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961079">
              <a:off x="6231421" y="2319338"/>
              <a:ext cx="12954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7" name="Line 31">
              <a:extLst>
                <a:ext uri="{FF2B5EF4-FFF2-40B4-BE49-F238E27FC236}">
                  <a16:creationId xmlns:a16="http://schemas.microsoft.com/office/drawing/2014/main" id="{70AE98F0-247B-4668-A7BE-67CFEC3CC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1296" y="3124200"/>
              <a:ext cx="236220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8" name="Oval 32">
              <a:extLst>
                <a:ext uri="{FF2B5EF4-FFF2-40B4-BE49-F238E27FC236}">
                  <a16:creationId xmlns:a16="http://schemas.microsoft.com/office/drawing/2014/main" id="{BD183992-F40B-4237-AE96-36CE3DFF1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896" y="36576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9" name="Line 43">
              <a:extLst>
                <a:ext uri="{FF2B5EF4-FFF2-40B4-BE49-F238E27FC236}">
                  <a16:creationId xmlns:a16="http://schemas.microsoft.com/office/drawing/2014/main" id="{72ADA5CA-FBA6-4F0B-AEBB-814A2E709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1296" y="3352800"/>
              <a:ext cx="19050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0" name="Line 44">
              <a:extLst>
                <a:ext uri="{FF2B5EF4-FFF2-40B4-BE49-F238E27FC236}">
                  <a16:creationId xmlns:a16="http://schemas.microsoft.com/office/drawing/2014/main" id="{0EE33929-68F8-4932-B0E6-70FCFA53D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1496" y="3276600"/>
              <a:ext cx="22098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1" name="Line 49">
              <a:extLst>
                <a:ext uri="{FF2B5EF4-FFF2-40B4-BE49-F238E27FC236}">
                  <a16:creationId xmlns:a16="http://schemas.microsoft.com/office/drawing/2014/main" id="{265F80D5-263E-46F8-9BB2-F3D67967E8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2640" flipH="1">
              <a:off x="7355371" y="3019425"/>
              <a:ext cx="762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2" name="Oval 50">
              <a:extLst>
                <a:ext uri="{FF2B5EF4-FFF2-40B4-BE49-F238E27FC236}">
                  <a16:creationId xmlns:a16="http://schemas.microsoft.com/office/drawing/2014/main" id="{6BFF7807-D212-433E-B0FA-5A7820A708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640">
              <a:off x="7593496" y="2971801"/>
              <a:ext cx="228600" cy="2571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23" name="Text Box 53">
              <a:extLst>
                <a:ext uri="{FF2B5EF4-FFF2-40B4-BE49-F238E27FC236}">
                  <a16:creationId xmlns:a16="http://schemas.microsoft.com/office/drawing/2014/main" id="{AB4A78A6-FEA6-47FE-B448-74FAB03B7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96" y="2943225"/>
              <a:ext cx="8899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Delhi</a:t>
              </a:r>
            </a:p>
          </p:txBody>
        </p:sp>
        <p:sp>
          <p:nvSpPr>
            <p:cNvPr id="24" name="Text Box 54">
              <a:extLst>
                <a:ext uri="{FF2B5EF4-FFF2-40B4-BE49-F238E27FC236}">
                  <a16:creationId xmlns:a16="http://schemas.microsoft.com/office/drawing/2014/main" id="{45E71B85-8889-4F2A-B66A-273CB94C3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5297" y="4010025"/>
              <a:ext cx="9412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Surat</a:t>
              </a:r>
            </a:p>
          </p:txBody>
        </p:sp>
        <p:sp>
          <p:nvSpPr>
            <p:cNvPr id="25" name="Text Box 55">
              <a:extLst>
                <a:ext uri="{FF2B5EF4-FFF2-40B4-BE49-F238E27FC236}">
                  <a16:creationId xmlns:a16="http://schemas.microsoft.com/office/drawing/2014/main" id="{E79033D4-A617-4C09-B383-DF6598EFC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497" y="4695825"/>
              <a:ext cx="1295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Chennai</a:t>
              </a:r>
            </a:p>
          </p:txBody>
        </p:sp>
        <p:sp>
          <p:nvSpPr>
            <p:cNvPr id="26" name="Text Box 56">
              <a:extLst>
                <a:ext uri="{FF2B5EF4-FFF2-40B4-BE49-F238E27FC236}">
                  <a16:creationId xmlns:a16="http://schemas.microsoft.com/office/drawing/2014/main" id="{253369BD-4D06-4259-BC05-E33A28C33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7296" y="2438400"/>
              <a:ext cx="12314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Kolkata</a:t>
              </a:r>
            </a:p>
          </p:txBody>
        </p:sp>
        <p:sp>
          <p:nvSpPr>
            <p:cNvPr id="27" name="Text Box 57">
              <a:extLst>
                <a:ext uri="{FF2B5EF4-FFF2-40B4-BE49-F238E27FC236}">
                  <a16:creationId xmlns:a16="http://schemas.microsoft.com/office/drawing/2014/main" id="{CAA6FBB8-1E77-41A4-8B8A-AAE1ADF8D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1697" y="3581400"/>
              <a:ext cx="16546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Mangalore</a:t>
              </a:r>
            </a:p>
          </p:txBody>
        </p:sp>
        <p:sp>
          <p:nvSpPr>
            <p:cNvPr id="28" name="Text Box 58">
              <a:extLst>
                <a:ext uri="{FF2B5EF4-FFF2-40B4-BE49-F238E27FC236}">
                  <a16:creationId xmlns:a16="http://schemas.microsoft.com/office/drawing/2014/main" id="{502ABA4E-BD62-4547-8118-81CAA4D75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897" y="4114800"/>
              <a:ext cx="16658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Hyderabad</a:t>
              </a:r>
            </a:p>
          </p:txBody>
        </p:sp>
        <p:sp>
          <p:nvSpPr>
            <p:cNvPr id="29" name="Text Box 59">
              <a:extLst>
                <a:ext uri="{FF2B5EF4-FFF2-40B4-BE49-F238E27FC236}">
                  <a16:creationId xmlns:a16="http://schemas.microsoft.com/office/drawing/2014/main" id="{FFB7C9F0-E34F-4B94-A082-C58C4C859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8497" y="2133600"/>
              <a:ext cx="12666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Mumbai</a:t>
              </a:r>
            </a:p>
          </p:txBody>
        </p:sp>
        <p:sp>
          <p:nvSpPr>
            <p:cNvPr id="31" name="Oval 61">
              <a:extLst>
                <a:ext uri="{FF2B5EF4-FFF2-40B4-BE49-F238E27FC236}">
                  <a16:creationId xmlns:a16="http://schemas.microsoft.com/office/drawing/2014/main" id="{FD4E9D07-9AFE-46CA-91C2-0E14F6C42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896" y="36576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79721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Graph – Example 1</a:t>
            </a:r>
            <a:endParaRPr lang="en-IN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70741915-0CE2-4F84-9925-DCD5E42D0FC0}"/>
              </a:ext>
            </a:extLst>
          </p:cNvPr>
          <p:cNvGrpSpPr>
            <a:grpSpLocks/>
          </p:cNvGrpSpPr>
          <p:nvPr/>
        </p:nvGrpSpPr>
        <p:grpSpPr bwMode="auto">
          <a:xfrm rot="20054863">
            <a:off x="887896" y="2309192"/>
            <a:ext cx="228600" cy="1219200"/>
            <a:chOff x="576" y="1248"/>
            <a:chExt cx="144" cy="768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7F994974-CA46-426D-AE60-B717AA0D1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F5626885-DA17-4B0E-82A6-D5586EF2A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B4BB546A-A052-451F-A5B2-19ED372BE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235A9601-6996-4F5D-A949-47A65A0D7E23}"/>
              </a:ext>
            </a:extLst>
          </p:cNvPr>
          <p:cNvGrpSpPr>
            <a:grpSpLocks/>
          </p:cNvGrpSpPr>
          <p:nvPr/>
        </p:nvGrpSpPr>
        <p:grpSpPr bwMode="auto">
          <a:xfrm rot="3320065">
            <a:off x="5574196" y="1356692"/>
            <a:ext cx="228600" cy="1219200"/>
            <a:chOff x="576" y="1248"/>
            <a:chExt cx="144" cy="768"/>
          </a:xfrm>
        </p:grpSpPr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5555D582-89C3-4D6A-A7C5-917212124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6E7D6F89-6C20-42AC-A01B-933BDCF39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4D9E6053-F46C-455C-9909-E0178E5BF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</p:grpSp>
      <p:sp>
        <p:nvSpPr>
          <p:cNvPr id="14" name="Line 15">
            <a:extLst>
              <a:ext uri="{FF2B5EF4-FFF2-40B4-BE49-F238E27FC236}">
                <a16:creationId xmlns:a16="http://schemas.microsoft.com/office/drawing/2014/main" id="{6EDB733F-D920-4CD7-BFEF-C85B693A6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896" y="2461592"/>
            <a:ext cx="2133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6F58F675-4A46-4C0F-A338-6E84B2DAAD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92696" y="2766392"/>
            <a:ext cx="1752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3DC14965-D78C-42D0-B9BB-8EC831514879}"/>
              </a:ext>
            </a:extLst>
          </p:cNvPr>
          <p:cNvSpPr>
            <a:spLocks noChangeShapeType="1"/>
          </p:cNvSpPr>
          <p:nvPr/>
        </p:nvSpPr>
        <p:spPr bwMode="auto">
          <a:xfrm rot="19961079">
            <a:off x="6231421" y="1275730"/>
            <a:ext cx="12954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70AE98F0-247B-4668-A7BE-67CFEC3CC0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1296" y="2080592"/>
            <a:ext cx="23622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8" name="Oval 32">
            <a:extLst>
              <a:ext uri="{FF2B5EF4-FFF2-40B4-BE49-F238E27FC236}">
                <a16:creationId xmlns:a16="http://schemas.microsoft.com/office/drawing/2014/main" id="{BD183992-F40B-4237-AE96-36CE3DFF1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896" y="2613992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9" name="Line 43">
            <a:extLst>
              <a:ext uri="{FF2B5EF4-FFF2-40B4-BE49-F238E27FC236}">
                <a16:creationId xmlns:a16="http://schemas.microsoft.com/office/drawing/2014/main" id="{72ADA5CA-FBA6-4F0B-AEBB-814A2E709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1296" y="2309192"/>
            <a:ext cx="1905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0" name="Line 44">
            <a:extLst>
              <a:ext uri="{FF2B5EF4-FFF2-40B4-BE49-F238E27FC236}">
                <a16:creationId xmlns:a16="http://schemas.microsoft.com/office/drawing/2014/main" id="{0EE33929-68F8-4932-B0E6-70FCFA53D3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496" y="2232992"/>
            <a:ext cx="2209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1" name="Line 49">
            <a:extLst>
              <a:ext uri="{FF2B5EF4-FFF2-40B4-BE49-F238E27FC236}">
                <a16:creationId xmlns:a16="http://schemas.microsoft.com/office/drawing/2014/main" id="{265F80D5-263E-46F8-9BB2-F3D67967E8A2}"/>
              </a:ext>
            </a:extLst>
          </p:cNvPr>
          <p:cNvSpPr>
            <a:spLocks noChangeShapeType="1"/>
          </p:cNvSpPr>
          <p:nvPr/>
        </p:nvSpPr>
        <p:spPr bwMode="auto">
          <a:xfrm rot="2112640" flipH="1">
            <a:off x="7355371" y="1975817"/>
            <a:ext cx="762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2" name="Oval 50">
            <a:extLst>
              <a:ext uri="{FF2B5EF4-FFF2-40B4-BE49-F238E27FC236}">
                <a16:creationId xmlns:a16="http://schemas.microsoft.com/office/drawing/2014/main" id="{6BFF7807-D212-433E-B0FA-5A7820A708C7}"/>
              </a:ext>
            </a:extLst>
          </p:cNvPr>
          <p:cNvSpPr>
            <a:spLocks noChangeArrowheads="1"/>
          </p:cNvSpPr>
          <p:nvPr/>
        </p:nvSpPr>
        <p:spPr bwMode="auto">
          <a:xfrm rot="2112640">
            <a:off x="7593496" y="1928193"/>
            <a:ext cx="228600" cy="2571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3" name="Text Box 53">
            <a:extLst>
              <a:ext uri="{FF2B5EF4-FFF2-40B4-BE49-F238E27FC236}">
                <a16:creationId xmlns:a16="http://schemas.microsoft.com/office/drawing/2014/main" id="{AB4A78A6-FEA6-47FE-B448-74FAB03B7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96" y="1899617"/>
            <a:ext cx="8899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Delhi</a:t>
            </a:r>
          </a:p>
        </p:txBody>
      </p:sp>
      <p:sp>
        <p:nvSpPr>
          <p:cNvPr id="24" name="Text Box 54">
            <a:extLst>
              <a:ext uri="{FF2B5EF4-FFF2-40B4-BE49-F238E27FC236}">
                <a16:creationId xmlns:a16="http://schemas.microsoft.com/office/drawing/2014/main" id="{45E71B85-8889-4F2A-B66A-273CB94C3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5297" y="2966417"/>
            <a:ext cx="9412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Surat</a:t>
            </a:r>
          </a:p>
        </p:txBody>
      </p:sp>
      <p:sp>
        <p:nvSpPr>
          <p:cNvPr id="25" name="Text Box 55">
            <a:extLst>
              <a:ext uri="{FF2B5EF4-FFF2-40B4-BE49-F238E27FC236}">
                <a16:creationId xmlns:a16="http://schemas.microsoft.com/office/drawing/2014/main" id="{E79033D4-A617-4C09-B383-DF6598EFC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97" y="3652217"/>
            <a:ext cx="12955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Chennai</a:t>
            </a:r>
          </a:p>
        </p:txBody>
      </p:sp>
      <p:sp>
        <p:nvSpPr>
          <p:cNvPr id="26" name="Text Box 56">
            <a:extLst>
              <a:ext uri="{FF2B5EF4-FFF2-40B4-BE49-F238E27FC236}">
                <a16:creationId xmlns:a16="http://schemas.microsoft.com/office/drawing/2014/main" id="{253369BD-4D06-4259-BC05-E33A28C33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296" y="1394792"/>
            <a:ext cx="1231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Kolkata</a:t>
            </a:r>
          </a:p>
        </p:txBody>
      </p:sp>
      <p:sp>
        <p:nvSpPr>
          <p:cNvPr id="27" name="Text Box 57">
            <a:extLst>
              <a:ext uri="{FF2B5EF4-FFF2-40B4-BE49-F238E27FC236}">
                <a16:creationId xmlns:a16="http://schemas.microsoft.com/office/drawing/2014/main" id="{CAA6FBB8-1E77-41A4-8B8A-AAE1ADF8D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697" y="2537792"/>
            <a:ext cx="16546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Mangalore</a:t>
            </a:r>
          </a:p>
        </p:txBody>
      </p:sp>
      <p:sp>
        <p:nvSpPr>
          <p:cNvPr id="28" name="Text Box 58">
            <a:extLst>
              <a:ext uri="{FF2B5EF4-FFF2-40B4-BE49-F238E27FC236}">
                <a16:creationId xmlns:a16="http://schemas.microsoft.com/office/drawing/2014/main" id="{502ABA4E-BD62-4547-8118-81CAA4D75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897" y="3071192"/>
            <a:ext cx="16658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Hyderabad</a:t>
            </a:r>
          </a:p>
        </p:txBody>
      </p:sp>
      <p:sp>
        <p:nvSpPr>
          <p:cNvPr id="29" name="Text Box 59">
            <a:extLst>
              <a:ext uri="{FF2B5EF4-FFF2-40B4-BE49-F238E27FC236}">
                <a16:creationId xmlns:a16="http://schemas.microsoft.com/office/drawing/2014/main" id="{FFB7C9F0-E34F-4B94-A082-C58C4C859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497" y="1089992"/>
            <a:ext cx="1266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Mumbai</a:t>
            </a:r>
          </a:p>
        </p:txBody>
      </p:sp>
      <p:sp>
        <p:nvSpPr>
          <p:cNvPr id="31" name="Oval 61">
            <a:extLst>
              <a:ext uri="{FF2B5EF4-FFF2-40B4-BE49-F238E27FC236}">
                <a16:creationId xmlns:a16="http://schemas.microsoft.com/office/drawing/2014/main" id="{FD4E9D07-9AFE-46CA-91C2-0E14F6C42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896" y="2613992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34" name="Text Box 21">
            <a:extLst>
              <a:ext uri="{FF2B5EF4-FFF2-40B4-BE49-F238E27FC236}">
                <a16:creationId xmlns:a16="http://schemas.microsoft.com/office/drawing/2014/main" id="{51BED6E0-1E9F-4B0F-8D6D-A1079ACCF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6069" y="5063483"/>
            <a:ext cx="5887427" cy="1060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altLang="en-US" sz="2400" dirty="0"/>
              <a:t>V = { Mangalore, Surat, Mumbai, Chennai, </a:t>
            </a:r>
            <a:br>
              <a:rPr lang="en-US" altLang="en-US" sz="2400" dirty="0"/>
            </a:br>
            <a:r>
              <a:rPr lang="en-US" altLang="en-US" sz="2400" dirty="0"/>
              <a:t>Kolkata, Delhi,  Hyderabad }</a:t>
            </a:r>
          </a:p>
        </p:txBody>
      </p:sp>
      <p:sp>
        <p:nvSpPr>
          <p:cNvPr id="35" name="Text Box 28">
            <a:extLst>
              <a:ext uri="{FF2B5EF4-FFF2-40B4-BE49-F238E27FC236}">
                <a16:creationId xmlns:a16="http://schemas.microsoft.com/office/drawing/2014/main" id="{03C6F1CB-6EF5-401B-AC17-8CCDE75E8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9400" y="4294121"/>
            <a:ext cx="260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SET OF VERTICES</a:t>
            </a:r>
          </a:p>
        </p:txBody>
      </p:sp>
    </p:spTree>
    <p:extLst>
      <p:ext uri="{BB962C8B-B14F-4D97-AF65-F5344CB8AC3E}">
        <p14:creationId xmlns:p14="http://schemas.microsoft.com/office/powerpoint/2010/main" val="1361918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Graph – Example 1</a:t>
            </a:r>
            <a:endParaRPr lang="en-IN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70741915-0CE2-4F84-9925-DCD5E42D0FC0}"/>
              </a:ext>
            </a:extLst>
          </p:cNvPr>
          <p:cNvGrpSpPr>
            <a:grpSpLocks/>
          </p:cNvGrpSpPr>
          <p:nvPr/>
        </p:nvGrpSpPr>
        <p:grpSpPr bwMode="auto">
          <a:xfrm rot="20054863">
            <a:off x="887896" y="2348947"/>
            <a:ext cx="228600" cy="1219200"/>
            <a:chOff x="576" y="1248"/>
            <a:chExt cx="144" cy="768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7F994974-CA46-426D-AE60-B717AA0D1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F5626885-DA17-4B0E-82A6-D5586EF2A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B4BB546A-A052-451F-A5B2-19ED372BE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235A9601-6996-4F5D-A949-47A65A0D7E23}"/>
              </a:ext>
            </a:extLst>
          </p:cNvPr>
          <p:cNvGrpSpPr>
            <a:grpSpLocks/>
          </p:cNvGrpSpPr>
          <p:nvPr/>
        </p:nvGrpSpPr>
        <p:grpSpPr bwMode="auto">
          <a:xfrm rot="3320065">
            <a:off x="5574196" y="1396447"/>
            <a:ext cx="228600" cy="1219200"/>
            <a:chOff x="576" y="1248"/>
            <a:chExt cx="144" cy="768"/>
          </a:xfrm>
        </p:grpSpPr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5555D582-89C3-4D6A-A7C5-917212124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6E7D6F89-6C20-42AC-A01B-933BDCF39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4D9E6053-F46C-455C-9909-E0178E5BF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</p:grpSp>
      <p:sp>
        <p:nvSpPr>
          <p:cNvPr id="14" name="Line 15">
            <a:extLst>
              <a:ext uri="{FF2B5EF4-FFF2-40B4-BE49-F238E27FC236}">
                <a16:creationId xmlns:a16="http://schemas.microsoft.com/office/drawing/2014/main" id="{6EDB733F-D920-4CD7-BFEF-C85B693A6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896" y="2501347"/>
            <a:ext cx="2133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6F58F675-4A46-4C0F-A338-6E84B2DAAD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92696" y="2806147"/>
            <a:ext cx="1752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3DC14965-D78C-42D0-B9BB-8EC831514879}"/>
              </a:ext>
            </a:extLst>
          </p:cNvPr>
          <p:cNvSpPr>
            <a:spLocks noChangeShapeType="1"/>
          </p:cNvSpPr>
          <p:nvPr/>
        </p:nvSpPr>
        <p:spPr bwMode="auto">
          <a:xfrm rot="19961079">
            <a:off x="6231421" y="1315485"/>
            <a:ext cx="12954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70AE98F0-247B-4668-A7BE-67CFEC3CC0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1296" y="2120347"/>
            <a:ext cx="23622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8" name="Oval 32">
            <a:extLst>
              <a:ext uri="{FF2B5EF4-FFF2-40B4-BE49-F238E27FC236}">
                <a16:creationId xmlns:a16="http://schemas.microsoft.com/office/drawing/2014/main" id="{BD183992-F40B-4237-AE96-36CE3DFF1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896" y="2653747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9" name="Line 43">
            <a:extLst>
              <a:ext uri="{FF2B5EF4-FFF2-40B4-BE49-F238E27FC236}">
                <a16:creationId xmlns:a16="http://schemas.microsoft.com/office/drawing/2014/main" id="{72ADA5CA-FBA6-4F0B-AEBB-814A2E709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1296" y="2348947"/>
            <a:ext cx="1905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0" name="Line 44">
            <a:extLst>
              <a:ext uri="{FF2B5EF4-FFF2-40B4-BE49-F238E27FC236}">
                <a16:creationId xmlns:a16="http://schemas.microsoft.com/office/drawing/2014/main" id="{0EE33929-68F8-4932-B0E6-70FCFA53D3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496" y="2272747"/>
            <a:ext cx="2209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1" name="Line 49">
            <a:extLst>
              <a:ext uri="{FF2B5EF4-FFF2-40B4-BE49-F238E27FC236}">
                <a16:creationId xmlns:a16="http://schemas.microsoft.com/office/drawing/2014/main" id="{265F80D5-263E-46F8-9BB2-F3D67967E8A2}"/>
              </a:ext>
            </a:extLst>
          </p:cNvPr>
          <p:cNvSpPr>
            <a:spLocks noChangeShapeType="1"/>
          </p:cNvSpPr>
          <p:nvPr/>
        </p:nvSpPr>
        <p:spPr bwMode="auto">
          <a:xfrm rot="2112640" flipH="1">
            <a:off x="7355371" y="2015572"/>
            <a:ext cx="762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2" name="Oval 50">
            <a:extLst>
              <a:ext uri="{FF2B5EF4-FFF2-40B4-BE49-F238E27FC236}">
                <a16:creationId xmlns:a16="http://schemas.microsoft.com/office/drawing/2014/main" id="{6BFF7807-D212-433E-B0FA-5A7820A708C7}"/>
              </a:ext>
            </a:extLst>
          </p:cNvPr>
          <p:cNvSpPr>
            <a:spLocks noChangeArrowheads="1"/>
          </p:cNvSpPr>
          <p:nvPr/>
        </p:nvSpPr>
        <p:spPr bwMode="auto">
          <a:xfrm rot="2112640">
            <a:off x="7593496" y="1967948"/>
            <a:ext cx="228600" cy="2571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3" name="Text Box 53">
            <a:extLst>
              <a:ext uri="{FF2B5EF4-FFF2-40B4-BE49-F238E27FC236}">
                <a16:creationId xmlns:a16="http://schemas.microsoft.com/office/drawing/2014/main" id="{AB4A78A6-FEA6-47FE-B448-74FAB03B7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96" y="1939372"/>
            <a:ext cx="8899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Delhi</a:t>
            </a:r>
          </a:p>
        </p:txBody>
      </p:sp>
      <p:sp>
        <p:nvSpPr>
          <p:cNvPr id="24" name="Text Box 54">
            <a:extLst>
              <a:ext uri="{FF2B5EF4-FFF2-40B4-BE49-F238E27FC236}">
                <a16:creationId xmlns:a16="http://schemas.microsoft.com/office/drawing/2014/main" id="{45E71B85-8889-4F2A-B66A-273CB94C3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5297" y="3006172"/>
            <a:ext cx="9412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Surat</a:t>
            </a:r>
          </a:p>
        </p:txBody>
      </p:sp>
      <p:sp>
        <p:nvSpPr>
          <p:cNvPr id="25" name="Text Box 55">
            <a:extLst>
              <a:ext uri="{FF2B5EF4-FFF2-40B4-BE49-F238E27FC236}">
                <a16:creationId xmlns:a16="http://schemas.microsoft.com/office/drawing/2014/main" id="{E79033D4-A617-4C09-B383-DF6598EFC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97" y="3691972"/>
            <a:ext cx="12955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Chennai</a:t>
            </a:r>
          </a:p>
        </p:txBody>
      </p:sp>
      <p:sp>
        <p:nvSpPr>
          <p:cNvPr id="26" name="Text Box 56">
            <a:extLst>
              <a:ext uri="{FF2B5EF4-FFF2-40B4-BE49-F238E27FC236}">
                <a16:creationId xmlns:a16="http://schemas.microsoft.com/office/drawing/2014/main" id="{253369BD-4D06-4259-BC05-E33A28C33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296" y="1434547"/>
            <a:ext cx="1231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Kolkata</a:t>
            </a:r>
          </a:p>
        </p:txBody>
      </p:sp>
      <p:sp>
        <p:nvSpPr>
          <p:cNvPr id="27" name="Text Box 57">
            <a:extLst>
              <a:ext uri="{FF2B5EF4-FFF2-40B4-BE49-F238E27FC236}">
                <a16:creationId xmlns:a16="http://schemas.microsoft.com/office/drawing/2014/main" id="{CAA6FBB8-1E77-41A4-8B8A-AAE1ADF8D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697" y="2577547"/>
            <a:ext cx="16546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Mangalore</a:t>
            </a:r>
          </a:p>
        </p:txBody>
      </p:sp>
      <p:sp>
        <p:nvSpPr>
          <p:cNvPr id="28" name="Text Box 58">
            <a:extLst>
              <a:ext uri="{FF2B5EF4-FFF2-40B4-BE49-F238E27FC236}">
                <a16:creationId xmlns:a16="http://schemas.microsoft.com/office/drawing/2014/main" id="{502ABA4E-BD62-4547-8118-81CAA4D75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897" y="3110947"/>
            <a:ext cx="16658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Hyderabad</a:t>
            </a:r>
          </a:p>
        </p:txBody>
      </p:sp>
      <p:sp>
        <p:nvSpPr>
          <p:cNvPr id="29" name="Text Box 59">
            <a:extLst>
              <a:ext uri="{FF2B5EF4-FFF2-40B4-BE49-F238E27FC236}">
                <a16:creationId xmlns:a16="http://schemas.microsoft.com/office/drawing/2014/main" id="{FFB7C9F0-E34F-4B94-A082-C58C4C859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497" y="1129747"/>
            <a:ext cx="1266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Mumbai</a:t>
            </a:r>
          </a:p>
        </p:txBody>
      </p:sp>
      <p:sp>
        <p:nvSpPr>
          <p:cNvPr id="31" name="Oval 61">
            <a:extLst>
              <a:ext uri="{FF2B5EF4-FFF2-40B4-BE49-F238E27FC236}">
                <a16:creationId xmlns:a16="http://schemas.microsoft.com/office/drawing/2014/main" id="{FD4E9D07-9AFE-46CA-91C2-0E14F6C42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896" y="2653747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80051AEC-78B9-425B-8AF2-39A4BE89B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78" y="4229386"/>
            <a:ext cx="7686720" cy="2436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en-US" sz="2400" dirty="0"/>
              <a:t>E = {  {Delhi, Chennai},  {Delhi, Surat}, 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          {Chennai, Surat},  {Surat, Mangalore}, 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          {Mangalore, Mumbai},  {Mumbai, Kolkata},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          {Kolkata, Hyderabad},  {Mangalore, Hyderabad},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          {Mangalore, Kolkata}  }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04B4C507-AAD5-4916-AE9B-5A32BF199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6764" y="3853161"/>
            <a:ext cx="22012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SET OF EDGES</a:t>
            </a:r>
          </a:p>
        </p:txBody>
      </p:sp>
    </p:spTree>
    <p:extLst>
      <p:ext uri="{BB962C8B-B14F-4D97-AF65-F5344CB8AC3E}">
        <p14:creationId xmlns:p14="http://schemas.microsoft.com/office/powerpoint/2010/main" val="94984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Graph – Example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29F21-47E2-46A9-8455-2F6D57CFDE94}"/>
              </a:ext>
            </a:extLst>
          </p:cNvPr>
          <p:cNvSpPr txBox="1"/>
          <p:nvPr/>
        </p:nvSpPr>
        <p:spPr>
          <a:xfrm>
            <a:off x="393289" y="1322458"/>
            <a:ext cx="8396148" cy="19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2800" dirty="0"/>
              <a:t>Let </a:t>
            </a:r>
            <a:r>
              <a:rPr lang="en-US" altLang="en-US" sz="2800" i="1" dirty="0"/>
              <a:t>V </a:t>
            </a:r>
            <a:r>
              <a:rPr lang="en-US" altLang="en-US" sz="2800" dirty="0"/>
              <a:t>be the set of states in the far</a:t>
            </a:r>
            <a:br>
              <a:rPr lang="en-US" altLang="en-US" sz="2800" dirty="0"/>
            </a:br>
            <a:r>
              <a:rPr lang="en-US" altLang="en-US" sz="2800" dirty="0"/>
              <a:t>-southeastern U.S.:</a:t>
            </a:r>
          </a:p>
          <a:p>
            <a:pPr algn="ctr">
              <a:lnSpc>
                <a:spcPct val="150000"/>
              </a:lnSpc>
            </a:pPr>
            <a:r>
              <a:rPr lang="en-US" altLang="en-US" sz="2800" i="1" dirty="0"/>
              <a:t>I.e., </a:t>
            </a:r>
            <a:r>
              <a:rPr lang="en-US" altLang="en-US" sz="2800" i="1" dirty="0">
                <a:solidFill>
                  <a:srgbClr val="FF0000"/>
                </a:solidFill>
              </a:rPr>
              <a:t>V </a:t>
            </a:r>
            <a:r>
              <a:rPr lang="en-US" altLang="en-US" sz="2800" dirty="0">
                <a:solidFill>
                  <a:srgbClr val="FF0000"/>
                </a:solidFill>
              </a:rPr>
              <a:t>= {FL, GA, AL, MS, LA, SC, TN, NC}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18D9DF-B105-4F6D-BDF7-31EAE569DFC7}"/>
              </a:ext>
            </a:extLst>
          </p:cNvPr>
          <p:cNvGrpSpPr/>
          <p:nvPr/>
        </p:nvGrpSpPr>
        <p:grpSpPr>
          <a:xfrm>
            <a:off x="1912195" y="3508652"/>
            <a:ext cx="5467094" cy="2876798"/>
            <a:chOff x="1818861" y="2693505"/>
            <a:chExt cx="4293704" cy="2876798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A28463E9-3E05-4685-94E0-BD5E05A9F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861" y="2693505"/>
              <a:ext cx="4293704" cy="287679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 dirty="0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6A648BB1-7878-4503-876B-E3208EB23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384" y="4647785"/>
              <a:ext cx="2176462" cy="385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B6718F4D-7A9D-422E-B157-1404E59866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7409" y="4206460"/>
              <a:ext cx="554037" cy="425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50CA3901-F432-4B18-8E75-46B4056A7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5259" y="4179473"/>
              <a:ext cx="733425" cy="39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B7AFF3BE-FD32-41C7-AABB-1BD03FCF1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109" y="4242973"/>
              <a:ext cx="704850" cy="2174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1EE9C1C0-CF2F-42F4-88B8-35D0FA1834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4821" y="3996910"/>
              <a:ext cx="374650" cy="438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D81CF26E-EBF8-475F-8C0F-85D0220DA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846" y="4444585"/>
              <a:ext cx="104775" cy="577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79529C28-3C58-4079-A19F-B8E44CB9D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0746" y="4173123"/>
              <a:ext cx="877888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C4216BEB-8098-4ABC-8887-903D1E3A8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146" y="4222335"/>
              <a:ext cx="1676400" cy="835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FC2FF332-7F0A-43B7-B45E-AFA6ABB20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884" y="3576223"/>
              <a:ext cx="698500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6C266A8A-7C60-4C71-94FD-2CFB1A7FC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7959" y="3522248"/>
              <a:ext cx="835025" cy="655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802B332C-185D-44A6-A9E2-F33FB4344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4084" y="3587335"/>
              <a:ext cx="100012" cy="590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5FCE1D9-A96B-46EE-B5FE-1112F91D2F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2509" y="3519073"/>
              <a:ext cx="876300" cy="777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C2239CCD-69DD-4C05-B71A-ED024A324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02621" y="3530185"/>
              <a:ext cx="114300" cy="425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DC5C6A3-3EFA-4981-AB63-FC55F725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792" y="4697840"/>
              <a:ext cx="408245" cy="696069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99CF508-B3A4-4433-A872-2F12D1D1D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392" y="4024104"/>
              <a:ext cx="428047" cy="623681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3A17606-A82D-407C-A193-5DA0FAC5C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070" y="3643741"/>
              <a:ext cx="442855" cy="616416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799842A-1DC2-4E97-B067-0FC52DEA3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828" y="3836175"/>
              <a:ext cx="414466" cy="69864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BDEBB1-61C5-47EA-9E0C-142406C7E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3771" y="3872341"/>
              <a:ext cx="447944" cy="607918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E7741D7-41C5-4086-86C3-BFB62F0AC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7369" y="4342241"/>
              <a:ext cx="423594" cy="680194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0504B3E-0974-42F1-B8F7-26AC35FEE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095" y="3281791"/>
              <a:ext cx="422287" cy="5698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5EE6211-F2B3-42A6-9AAE-9401F0C8E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47" y="3043200"/>
              <a:ext cx="470415" cy="649188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C7ED7264-25AE-4574-AFF1-6D2CDEBEA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145" y="3354197"/>
              <a:ext cx="42955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TN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B52D67F0-CBE2-4037-8D14-6A2609733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2327" y="3883746"/>
              <a:ext cx="4396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AL</a:t>
              </a: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552B25E6-A0CD-498D-BC0A-3B3239AE6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084" y="3948640"/>
              <a:ext cx="48243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MS</a:t>
              </a: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150757F1-F882-4787-AE9E-171E3DF70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2419" y="4406634"/>
              <a:ext cx="4396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LA</a:t>
              </a: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28F095D0-2B5F-4E76-9EAF-5C9D67D75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0631" y="3721116"/>
              <a:ext cx="44340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SC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D5AC620F-F44F-440B-A8C9-0CD587EC7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583" y="4112154"/>
              <a:ext cx="45725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GA</a:t>
              </a: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C2CBE797-82EC-4E60-B9E2-652A9689F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1734" y="4858278"/>
              <a:ext cx="4182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FL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353BB252-BCE2-4A07-80D7-46682C04C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0263" y="3148924"/>
              <a:ext cx="463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NC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976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Graph – Example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29F21-47E2-46A9-8455-2F6D57CFDE94}"/>
              </a:ext>
            </a:extLst>
          </p:cNvPr>
          <p:cNvSpPr txBox="1"/>
          <p:nvPr/>
        </p:nvSpPr>
        <p:spPr>
          <a:xfrm>
            <a:off x="400932" y="1164139"/>
            <a:ext cx="8504904" cy="259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/>
              <a:t>Let E={{ u, v}|u adjoins v}</a:t>
            </a:r>
          </a:p>
          <a:p>
            <a:pPr>
              <a:lnSpc>
                <a:spcPct val="150000"/>
              </a:lnSpc>
            </a:pPr>
            <a:r>
              <a:rPr lang="en-US" altLang="en-US" sz="2800" dirty="0"/>
              <a:t>={{FL,GA},{FL,AL},{FL,MS}, {FL,LA},{GA,AL},{AL,MS},  {MS,LA},{GA,SC},{GA,TN},   {SC,NC},{NC,TN},{MS,TN},</a:t>
            </a:r>
            <a:br>
              <a:rPr lang="en-US" altLang="en-US" sz="2800" dirty="0"/>
            </a:br>
            <a:r>
              <a:rPr lang="en-US" altLang="en-US" sz="2800" dirty="0"/>
              <a:t>   {MS,AL}}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DAA51C-74F2-4A0F-9770-657B9156C5C5}"/>
              </a:ext>
            </a:extLst>
          </p:cNvPr>
          <p:cNvGrpSpPr/>
          <p:nvPr/>
        </p:nvGrpSpPr>
        <p:grpSpPr>
          <a:xfrm>
            <a:off x="2574640" y="3429000"/>
            <a:ext cx="6018854" cy="2876798"/>
            <a:chOff x="1818861" y="3677481"/>
            <a:chExt cx="4293704" cy="2876798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A28463E9-3E05-4685-94E0-BD5E05A9F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861" y="3677481"/>
              <a:ext cx="4293704" cy="287679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 dirty="0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6A648BB1-7878-4503-876B-E3208EB23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384" y="5631761"/>
              <a:ext cx="2176462" cy="385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B6718F4D-7A9D-422E-B157-1404E59866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7409" y="5190436"/>
              <a:ext cx="554037" cy="425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50CA3901-F432-4B18-8E75-46B4056A7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5259" y="5163449"/>
              <a:ext cx="733425" cy="39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B7AFF3BE-FD32-41C7-AABB-1BD03FCF1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109" y="5226949"/>
              <a:ext cx="704850" cy="2174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1EE9C1C0-CF2F-42F4-88B8-35D0FA1834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4821" y="4980886"/>
              <a:ext cx="374650" cy="438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D81CF26E-EBF8-475F-8C0F-85D0220DA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846" y="5428561"/>
              <a:ext cx="104775" cy="577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79529C28-3C58-4079-A19F-B8E44CB9D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0746" y="5157099"/>
              <a:ext cx="877888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C4216BEB-8098-4ABC-8887-903D1E3A8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146" y="5206311"/>
              <a:ext cx="1676400" cy="835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FC2FF332-7F0A-43B7-B45E-AFA6ABB20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884" y="4560199"/>
              <a:ext cx="698500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6C266A8A-7C60-4C71-94FD-2CFB1A7FC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7959" y="4506224"/>
              <a:ext cx="835025" cy="655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802B332C-185D-44A6-A9E2-F33FB4344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4084" y="4571311"/>
              <a:ext cx="100012" cy="590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5FCE1D9-A96B-46EE-B5FE-1112F91D2F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2509" y="4503049"/>
              <a:ext cx="876300" cy="777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C2239CCD-69DD-4C05-B71A-ED024A324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02621" y="4514161"/>
              <a:ext cx="114300" cy="425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DC5C6A3-3EFA-4981-AB63-FC55F725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792" y="5681816"/>
              <a:ext cx="408245" cy="696069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99CF508-B3A4-4433-A872-2F12D1D1D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392" y="5008080"/>
              <a:ext cx="428047" cy="623681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3A17606-A82D-407C-A193-5DA0FAC5C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7070" y="4627717"/>
              <a:ext cx="442855" cy="616416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799842A-1DC2-4E97-B067-0FC52DEA3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828" y="4820151"/>
              <a:ext cx="414466" cy="69864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BDEBB1-61C5-47EA-9E0C-142406C7E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3771" y="4856317"/>
              <a:ext cx="447944" cy="607918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E7741D7-41C5-4086-86C3-BFB62F0AC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7369" y="5326217"/>
              <a:ext cx="423594" cy="680194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0504B3E-0974-42F1-B8F7-26AC35FEE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095" y="4265767"/>
              <a:ext cx="422287" cy="569813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5EE6211-F2B3-42A6-9AAE-9401F0C8E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47" y="4027176"/>
              <a:ext cx="470415" cy="649188"/>
            </a:xfrm>
            <a:prstGeom prst="ellips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IN" sz="2400"/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C7ED7264-25AE-4574-AFF1-6D2CDEBEA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9835" y="4338173"/>
              <a:ext cx="39017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TN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B52D67F0-CBE2-4037-8D14-6A2609733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2477" y="4867722"/>
              <a:ext cx="3993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AL</a:t>
              </a: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552B25E6-A0CD-498D-BC0A-3B3239AE6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726" y="4931823"/>
              <a:ext cx="43820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MS</a:t>
              </a: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150757F1-F882-4787-AE9E-171E3DF70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569" y="5390610"/>
              <a:ext cx="3993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LA</a:t>
              </a: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28F095D0-2B5F-4E76-9EAF-5C9D67D75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955" y="4705092"/>
              <a:ext cx="40275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SC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D5AC620F-F44F-440B-A8C9-0CD587EC7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542" y="5096130"/>
              <a:ext cx="41533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GA</a:t>
              </a: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C2CBE797-82EC-4E60-B9E2-652A9689F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0904" y="5842254"/>
              <a:ext cx="37988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FL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353BB252-BCE2-4A07-80D7-46682C04C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510" y="4132900"/>
              <a:ext cx="42105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400" i="1" dirty="0"/>
                <a:t>NC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911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Graph – Example 1</a:t>
            </a:r>
            <a:endParaRPr lang="en-I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845166-C187-4D5B-81E3-79A551FA3B57}"/>
              </a:ext>
            </a:extLst>
          </p:cNvPr>
          <p:cNvGrpSpPr/>
          <p:nvPr/>
        </p:nvGrpSpPr>
        <p:grpSpPr>
          <a:xfrm>
            <a:off x="202096" y="1080001"/>
            <a:ext cx="8546627" cy="2442865"/>
            <a:chOff x="202096" y="1129747"/>
            <a:chExt cx="8546627" cy="2442865"/>
          </a:xfrm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70741915-0CE2-4F84-9925-DCD5E42D0FC0}"/>
                </a:ext>
              </a:extLst>
            </p:cNvPr>
            <p:cNvGrpSpPr>
              <a:grpSpLocks/>
            </p:cNvGrpSpPr>
            <p:nvPr/>
          </p:nvGrpSpPr>
          <p:grpSpPr bwMode="auto">
            <a:xfrm rot="20054863">
              <a:off x="887896" y="2348947"/>
              <a:ext cx="228600" cy="1219200"/>
              <a:chOff x="576" y="1248"/>
              <a:chExt cx="144" cy="768"/>
            </a:xfrm>
          </p:grpSpPr>
          <p:sp>
            <p:nvSpPr>
              <p:cNvPr id="7" name="Oval 4">
                <a:extLst>
                  <a:ext uri="{FF2B5EF4-FFF2-40B4-BE49-F238E27FC236}">
                    <a16:creationId xmlns:a16="http://schemas.microsoft.com/office/drawing/2014/main" id="{7F994974-CA46-426D-AE60-B717AA0D1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  <p:sp>
            <p:nvSpPr>
              <p:cNvPr id="8" name="Line 5">
                <a:extLst>
                  <a:ext uri="{FF2B5EF4-FFF2-40B4-BE49-F238E27FC236}">
                    <a16:creationId xmlns:a16="http://schemas.microsoft.com/office/drawing/2014/main" id="{F5626885-DA17-4B0E-82A6-D5586EF2A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B4BB546A-A052-451F-A5B2-19ED372BE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</p:grpSp>
        <p:grpSp>
          <p:nvGrpSpPr>
            <p:cNvPr id="10" name="Group 11">
              <a:extLst>
                <a:ext uri="{FF2B5EF4-FFF2-40B4-BE49-F238E27FC236}">
                  <a16:creationId xmlns:a16="http://schemas.microsoft.com/office/drawing/2014/main" id="{235A9601-6996-4F5D-A949-47A65A0D7E23}"/>
                </a:ext>
              </a:extLst>
            </p:cNvPr>
            <p:cNvGrpSpPr>
              <a:grpSpLocks/>
            </p:cNvGrpSpPr>
            <p:nvPr/>
          </p:nvGrpSpPr>
          <p:grpSpPr bwMode="auto">
            <a:xfrm rot="3320065">
              <a:off x="5574196" y="1396447"/>
              <a:ext cx="228600" cy="1219200"/>
              <a:chOff x="576" y="1248"/>
              <a:chExt cx="144" cy="768"/>
            </a:xfrm>
          </p:grpSpPr>
          <p:sp>
            <p:nvSpPr>
              <p:cNvPr id="11" name="Oval 12">
                <a:extLst>
                  <a:ext uri="{FF2B5EF4-FFF2-40B4-BE49-F238E27FC236}">
                    <a16:creationId xmlns:a16="http://schemas.microsoft.com/office/drawing/2014/main" id="{5555D582-89C3-4D6A-A7C5-917212124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endParaRPr lang="en-US" altLang="en-US" sz="2400"/>
              </a:p>
            </p:txBody>
          </p:sp>
          <p:sp>
            <p:nvSpPr>
              <p:cNvPr id="12" name="Line 13">
                <a:extLst>
                  <a:ext uri="{FF2B5EF4-FFF2-40B4-BE49-F238E27FC236}">
                    <a16:creationId xmlns:a16="http://schemas.microsoft.com/office/drawing/2014/main" id="{6E7D6F89-6C20-42AC-A01B-933BDCF39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13" name="Oval 14">
                <a:extLst>
                  <a:ext uri="{FF2B5EF4-FFF2-40B4-BE49-F238E27FC236}">
                    <a16:creationId xmlns:a16="http://schemas.microsoft.com/office/drawing/2014/main" id="{4D9E6053-F46C-455C-9909-E0178E5BF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endParaRPr lang="en-US" altLang="en-US" sz="2400"/>
              </a:p>
            </p:txBody>
          </p:sp>
        </p:grp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6EDB733F-D920-4CD7-BFEF-C85B693A6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7896" y="2501347"/>
              <a:ext cx="21336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6F58F675-4A46-4C0F-A338-6E84B2DAA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2696" y="2806147"/>
              <a:ext cx="17526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3DC14965-D78C-42D0-B9BB-8EC8315148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961079">
              <a:off x="6231421" y="1315485"/>
              <a:ext cx="12954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7" name="Line 31">
              <a:extLst>
                <a:ext uri="{FF2B5EF4-FFF2-40B4-BE49-F238E27FC236}">
                  <a16:creationId xmlns:a16="http://schemas.microsoft.com/office/drawing/2014/main" id="{70AE98F0-247B-4668-A7BE-67CFEC3CC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1296" y="2120347"/>
              <a:ext cx="236220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8" name="Oval 32">
              <a:extLst>
                <a:ext uri="{FF2B5EF4-FFF2-40B4-BE49-F238E27FC236}">
                  <a16:creationId xmlns:a16="http://schemas.microsoft.com/office/drawing/2014/main" id="{BD183992-F40B-4237-AE96-36CE3DFF1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896" y="265374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9" name="Line 43">
              <a:extLst>
                <a:ext uri="{FF2B5EF4-FFF2-40B4-BE49-F238E27FC236}">
                  <a16:creationId xmlns:a16="http://schemas.microsoft.com/office/drawing/2014/main" id="{72ADA5CA-FBA6-4F0B-AEBB-814A2E709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1296" y="2348947"/>
              <a:ext cx="19050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0" name="Line 44">
              <a:extLst>
                <a:ext uri="{FF2B5EF4-FFF2-40B4-BE49-F238E27FC236}">
                  <a16:creationId xmlns:a16="http://schemas.microsoft.com/office/drawing/2014/main" id="{0EE33929-68F8-4932-B0E6-70FCFA53D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1496" y="2272747"/>
              <a:ext cx="22098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1" name="Line 49">
              <a:extLst>
                <a:ext uri="{FF2B5EF4-FFF2-40B4-BE49-F238E27FC236}">
                  <a16:creationId xmlns:a16="http://schemas.microsoft.com/office/drawing/2014/main" id="{265F80D5-263E-46F8-9BB2-F3D67967E8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2640" flipH="1">
              <a:off x="7355371" y="2015572"/>
              <a:ext cx="762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2" name="Oval 50">
              <a:extLst>
                <a:ext uri="{FF2B5EF4-FFF2-40B4-BE49-F238E27FC236}">
                  <a16:creationId xmlns:a16="http://schemas.microsoft.com/office/drawing/2014/main" id="{6BFF7807-D212-433E-B0FA-5A7820A708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640">
              <a:off x="7593496" y="1967948"/>
              <a:ext cx="228600" cy="2571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23" name="Text Box 53">
              <a:extLst>
                <a:ext uri="{FF2B5EF4-FFF2-40B4-BE49-F238E27FC236}">
                  <a16:creationId xmlns:a16="http://schemas.microsoft.com/office/drawing/2014/main" id="{AB4A78A6-FEA6-47FE-B448-74FAB03B7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96" y="1939372"/>
              <a:ext cx="8899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Delhi</a:t>
              </a:r>
            </a:p>
          </p:txBody>
        </p:sp>
        <p:sp>
          <p:nvSpPr>
            <p:cNvPr id="24" name="Text Box 54">
              <a:extLst>
                <a:ext uri="{FF2B5EF4-FFF2-40B4-BE49-F238E27FC236}">
                  <a16:creationId xmlns:a16="http://schemas.microsoft.com/office/drawing/2014/main" id="{45E71B85-8889-4F2A-B66A-273CB94C3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5297" y="3006172"/>
              <a:ext cx="9412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Surat</a:t>
              </a:r>
            </a:p>
          </p:txBody>
        </p:sp>
        <p:sp>
          <p:nvSpPr>
            <p:cNvPr id="26" name="Text Box 56">
              <a:extLst>
                <a:ext uri="{FF2B5EF4-FFF2-40B4-BE49-F238E27FC236}">
                  <a16:creationId xmlns:a16="http://schemas.microsoft.com/office/drawing/2014/main" id="{253369BD-4D06-4259-BC05-E33A28C33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7296" y="1434547"/>
              <a:ext cx="12314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Kolkata</a:t>
              </a:r>
            </a:p>
          </p:txBody>
        </p:sp>
        <p:sp>
          <p:nvSpPr>
            <p:cNvPr id="27" name="Text Box 57">
              <a:extLst>
                <a:ext uri="{FF2B5EF4-FFF2-40B4-BE49-F238E27FC236}">
                  <a16:creationId xmlns:a16="http://schemas.microsoft.com/office/drawing/2014/main" id="{CAA6FBB8-1E77-41A4-8B8A-AAE1ADF8D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1697" y="2577547"/>
              <a:ext cx="16546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Mangalore</a:t>
              </a:r>
            </a:p>
          </p:txBody>
        </p:sp>
        <p:sp>
          <p:nvSpPr>
            <p:cNvPr id="28" name="Text Box 58">
              <a:extLst>
                <a:ext uri="{FF2B5EF4-FFF2-40B4-BE49-F238E27FC236}">
                  <a16:creationId xmlns:a16="http://schemas.microsoft.com/office/drawing/2014/main" id="{502ABA4E-BD62-4547-8118-81CAA4D75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897" y="3110947"/>
              <a:ext cx="16658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Hyderabad</a:t>
              </a:r>
            </a:p>
          </p:txBody>
        </p:sp>
        <p:sp>
          <p:nvSpPr>
            <p:cNvPr id="29" name="Text Box 59">
              <a:extLst>
                <a:ext uri="{FF2B5EF4-FFF2-40B4-BE49-F238E27FC236}">
                  <a16:creationId xmlns:a16="http://schemas.microsoft.com/office/drawing/2014/main" id="{FFB7C9F0-E34F-4B94-A082-C58C4C859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8497" y="1129747"/>
              <a:ext cx="12666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Mumbai</a:t>
              </a:r>
            </a:p>
          </p:txBody>
        </p:sp>
        <p:sp>
          <p:nvSpPr>
            <p:cNvPr id="31" name="Oval 61">
              <a:extLst>
                <a:ext uri="{FF2B5EF4-FFF2-40B4-BE49-F238E27FC236}">
                  <a16:creationId xmlns:a16="http://schemas.microsoft.com/office/drawing/2014/main" id="{FD4E9D07-9AFE-46CA-91C2-0E14F6C42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896" y="265374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A7BE058-91B7-4AEE-B4BC-5786BE559CE9}"/>
              </a:ext>
            </a:extLst>
          </p:cNvPr>
          <p:cNvSpPr txBox="1"/>
          <p:nvPr/>
        </p:nvSpPr>
        <p:spPr>
          <a:xfrm>
            <a:off x="393290" y="3660376"/>
            <a:ext cx="83554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400" dirty="0"/>
              <a:t>The network is made up of computers and telephone lines between computers.  </a:t>
            </a:r>
          </a:p>
          <a:p>
            <a:pPr algn="just"/>
            <a:endParaRPr lang="en-US" altLang="en-US" sz="2400" dirty="0"/>
          </a:p>
          <a:p>
            <a:pPr algn="just"/>
            <a:r>
              <a:rPr lang="en-US" altLang="en-US" sz="2400" dirty="0"/>
              <a:t>There is at most 1 telephone line between 2 computers in the network.  </a:t>
            </a:r>
          </a:p>
          <a:p>
            <a:pPr algn="just"/>
            <a:endParaRPr lang="en-US" altLang="en-US" sz="2400" dirty="0"/>
          </a:p>
          <a:p>
            <a:pPr algn="just"/>
            <a:r>
              <a:rPr lang="en-US" altLang="en-US" sz="2400" dirty="0"/>
              <a:t>Each line operates in both directions.  No computer has a telephone line to itself. </a:t>
            </a:r>
          </a:p>
        </p:txBody>
      </p:sp>
    </p:spTree>
    <p:extLst>
      <p:ext uri="{BB962C8B-B14F-4D97-AF65-F5344CB8AC3E}">
        <p14:creationId xmlns:p14="http://schemas.microsoft.com/office/powerpoint/2010/main" val="764762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Graph – Example 1</a:t>
            </a:r>
            <a:endParaRPr lang="en-IN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70741915-0CE2-4F84-9925-DCD5E42D0FC0}"/>
              </a:ext>
            </a:extLst>
          </p:cNvPr>
          <p:cNvGrpSpPr>
            <a:grpSpLocks/>
          </p:cNvGrpSpPr>
          <p:nvPr/>
        </p:nvGrpSpPr>
        <p:grpSpPr bwMode="auto">
          <a:xfrm rot="20054863">
            <a:off x="887896" y="2348947"/>
            <a:ext cx="228600" cy="1219200"/>
            <a:chOff x="576" y="1248"/>
            <a:chExt cx="144" cy="768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7F994974-CA46-426D-AE60-B717AA0D1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F5626885-DA17-4B0E-82A6-D5586EF2A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B4BB546A-A052-451F-A5B2-19ED372BE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235A9601-6996-4F5D-A949-47A65A0D7E23}"/>
              </a:ext>
            </a:extLst>
          </p:cNvPr>
          <p:cNvGrpSpPr>
            <a:grpSpLocks/>
          </p:cNvGrpSpPr>
          <p:nvPr/>
        </p:nvGrpSpPr>
        <p:grpSpPr bwMode="auto">
          <a:xfrm rot="3320065">
            <a:off x="5574196" y="1396447"/>
            <a:ext cx="228600" cy="1219200"/>
            <a:chOff x="576" y="1248"/>
            <a:chExt cx="144" cy="768"/>
          </a:xfrm>
        </p:grpSpPr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5555D582-89C3-4D6A-A7C5-917212124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6E7D6F89-6C20-42AC-A01B-933BDCF39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4D9E6053-F46C-455C-9909-E0178E5BF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</p:grpSp>
      <p:sp>
        <p:nvSpPr>
          <p:cNvPr id="14" name="Line 15">
            <a:extLst>
              <a:ext uri="{FF2B5EF4-FFF2-40B4-BE49-F238E27FC236}">
                <a16:creationId xmlns:a16="http://schemas.microsoft.com/office/drawing/2014/main" id="{6EDB733F-D920-4CD7-BFEF-C85B693A6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896" y="2501347"/>
            <a:ext cx="2133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6F58F675-4A46-4C0F-A338-6E84B2DAAD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92696" y="2806147"/>
            <a:ext cx="1752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3DC14965-D78C-42D0-B9BB-8EC831514879}"/>
              </a:ext>
            </a:extLst>
          </p:cNvPr>
          <p:cNvSpPr>
            <a:spLocks noChangeShapeType="1"/>
          </p:cNvSpPr>
          <p:nvPr/>
        </p:nvSpPr>
        <p:spPr bwMode="auto">
          <a:xfrm rot="19961079">
            <a:off x="6231421" y="1315485"/>
            <a:ext cx="12954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70AE98F0-247B-4668-A7BE-67CFEC3CC0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1296" y="2120347"/>
            <a:ext cx="23622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8" name="Oval 32">
            <a:extLst>
              <a:ext uri="{FF2B5EF4-FFF2-40B4-BE49-F238E27FC236}">
                <a16:creationId xmlns:a16="http://schemas.microsoft.com/office/drawing/2014/main" id="{BD183992-F40B-4237-AE96-36CE3DFF1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896" y="2653747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9" name="Line 43">
            <a:extLst>
              <a:ext uri="{FF2B5EF4-FFF2-40B4-BE49-F238E27FC236}">
                <a16:creationId xmlns:a16="http://schemas.microsoft.com/office/drawing/2014/main" id="{72ADA5CA-FBA6-4F0B-AEBB-814A2E709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1296" y="2348947"/>
            <a:ext cx="1905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0" name="Line 44">
            <a:extLst>
              <a:ext uri="{FF2B5EF4-FFF2-40B4-BE49-F238E27FC236}">
                <a16:creationId xmlns:a16="http://schemas.microsoft.com/office/drawing/2014/main" id="{0EE33929-68F8-4932-B0E6-70FCFA53D3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496" y="2272747"/>
            <a:ext cx="2209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1" name="Line 49">
            <a:extLst>
              <a:ext uri="{FF2B5EF4-FFF2-40B4-BE49-F238E27FC236}">
                <a16:creationId xmlns:a16="http://schemas.microsoft.com/office/drawing/2014/main" id="{265F80D5-263E-46F8-9BB2-F3D67967E8A2}"/>
              </a:ext>
            </a:extLst>
          </p:cNvPr>
          <p:cNvSpPr>
            <a:spLocks noChangeShapeType="1"/>
          </p:cNvSpPr>
          <p:nvPr/>
        </p:nvSpPr>
        <p:spPr bwMode="auto">
          <a:xfrm rot="2112640" flipH="1">
            <a:off x="7355371" y="2015572"/>
            <a:ext cx="762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2" name="Oval 50">
            <a:extLst>
              <a:ext uri="{FF2B5EF4-FFF2-40B4-BE49-F238E27FC236}">
                <a16:creationId xmlns:a16="http://schemas.microsoft.com/office/drawing/2014/main" id="{6BFF7807-D212-433E-B0FA-5A7820A708C7}"/>
              </a:ext>
            </a:extLst>
          </p:cNvPr>
          <p:cNvSpPr>
            <a:spLocks noChangeArrowheads="1"/>
          </p:cNvSpPr>
          <p:nvPr/>
        </p:nvSpPr>
        <p:spPr bwMode="auto">
          <a:xfrm rot="2112640">
            <a:off x="7593496" y="1967948"/>
            <a:ext cx="228600" cy="2571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3" name="Text Box 53">
            <a:extLst>
              <a:ext uri="{FF2B5EF4-FFF2-40B4-BE49-F238E27FC236}">
                <a16:creationId xmlns:a16="http://schemas.microsoft.com/office/drawing/2014/main" id="{AB4A78A6-FEA6-47FE-B448-74FAB03B7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96" y="1939372"/>
            <a:ext cx="8899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Delhi</a:t>
            </a:r>
          </a:p>
        </p:txBody>
      </p:sp>
      <p:sp>
        <p:nvSpPr>
          <p:cNvPr id="24" name="Text Box 54">
            <a:extLst>
              <a:ext uri="{FF2B5EF4-FFF2-40B4-BE49-F238E27FC236}">
                <a16:creationId xmlns:a16="http://schemas.microsoft.com/office/drawing/2014/main" id="{45E71B85-8889-4F2A-B66A-273CB94C3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5297" y="3006172"/>
            <a:ext cx="9412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Surat</a:t>
            </a:r>
          </a:p>
        </p:txBody>
      </p:sp>
      <p:sp>
        <p:nvSpPr>
          <p:cNvPr id="26" name="Text Box 56">
            <a:extLst>
              <a:ext uri="{FF2B5EF4-FFF2-40B4-BE49-F238E27FC236}">
                <a16:creationId xmlns:a16="http://schemas.microsoft.com/office/drawing/2014/main" id="{253369BD-4D06-4259-BC05-E33A28C33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296" y="1434547"/>
            <a:ext cx="1231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Kolkata</a:t>
            </a:r>
          </a:p>
        </p:txBody>
      </p:sp>
      <p:sp>
        <p:nvSpPr>
          <p:cNvPr id="27" name="Text Box 57">
            <a:extLst>
              <a:ext uri="{FF2B5EF4-FFF2-40B4-BE49-F238E27FC236}">
                <a16:creationId xmlns:a16="http://schemas.microsoft.com/office/drawing/2014/main" id="{CAA6FBB8-1E77-41A4-8B8A-AAE1ADF8D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697" y="2577547"/>
            <a:ext cx="16546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Mangalore</a:t>
            </a:r>
          </a:p>
        </p:txBody>
      </p:sp>
      <p:sp>
        <p:nvSpPr>
          <p:cNvPr id="28" name="Text Box 58">
            <a:extLst>
              <a:ext uri="{FF2B5EF4-FFF2-40B4-BE49-F238E27FC236}">
                <a16:creationId xmlns:a16="http://schemas.microsoft.com/office/drawing/2014/main" id="{502ABA4E-BD62-4547-8118-81CAA4D75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897" y="3110947"/>
            <a:ext cx="16658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Hyderabad</a:t>
            </a:r>
          </a:p>
        </p:txBody>
      </p:sp>
      <p:sp>
        <p:nvSpPr>
          <p:cNvPr id="29" name="Text Box 59">
            <a:extLst>
              <a:ext uri="{FF2B5EF4-FFF2-40B4-BE49-F238E27FC236}">
                <a16:creationId xmlns:a16="http://schemas.microsoft.com/office/drawing/2014/main" id="{FFB7C9F0-E34F-4B94-A082-C58C4C859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497" y="1129747"/>
            <a:ext cx="1266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Mumbai</a:t>
            </a:r>
          </a:p>
        </p:txBody>
      </p:sp>
      <p:sp>
        <p:nvSpPr>
          <p:cNvPr id="31" name="Oval 61">
            <a:extLst>
              <a:ext uri="{FF2B5EF4-FFF2-40B4-BE49-F238E27FC236}">
                <a16:creationId xmlns:a16="http://schemas.microsoft.com/office/drawing/2014/main" id="{FD4E9D07-9AFE-46CA-91C2-0E14F6C42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896" y="2653747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7BE058-91B7-4AEE-B4BC-5786BE559CE9}"/>
              </a:ext>
            </a:extLst>
          </p:cNvPr>
          <p:cNvSpPr txBox="1"/>
          <p:nvPr/>
        </p:nvSpPr>
        <p:spPr>
          <a:xfrm>
            <a:off x="393290" y="4253947"/>
            <a:ext cx="8355433" cy="19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dirty="0"/>
              <a:t>These are undirected edges, each of which connects two distinct vertices, and  no two edges connect the same pair of vertices. </a:t>
            </a:r>
          </a:p>
        </p:txBody>
      </p:sp>
    </p:spTree>
    <p:extLst>
      <p:ext uri="{BB962C8B-B14F-4D97-AF65-F5344CB8AC3E}">
        <p14:creationId xmlns:p14="http://schemas.microsoft.com/office/powerpoint/2010/main" val="2392847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C0DF-4840-4288-AFD0-4444C041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Non-Simple Graph - Definition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FC78F-33AC-48DA-BA22-DB107901E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340163" cy="53389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a multigraph G = (V, E) two or more edges may connect the same pair of vertices.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501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C0DF-4840-4288-AFD0-4444C041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Multigraph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FC78F-33AC-48DA-BA22-DB107901E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14297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can be multiple telephone lines between two computers in the network.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53DB090-61D3-4819-8722-FBB7B1ECEF68}"/>
              </a:ext>
            </a:extLst>
          </p:cNvPr>
          <p:cNvGrpSpPr/>
          <p:nvPr/>
        </p:nvGrpSpPr>
        <p:grpSpPr>
          <a:xfrm>
            <a:off x="298686" y="2847190"/>
            <a:ext cx="8546627" cy="3023890"/>
            <a:chOff x="490330" y="2984500"/>
            <a:chExt cx="8546627" cy="3023890"/>
          </a:xfrm>
        </p:grpSpPr>
        <p:sp>
          <p:nvSpPr>
            <p:cNvPr id="21" name="Text Box 24">
              <a:extLst>
                <a:ext uri="{FF2B5EF4-FFF2-40B4-BE49-F238E27FC236}">
                  <a16:creationId xmlns:a16="http://schemas.microsoft.com/office/drawing/2014/main" id="{4C827EE7-A00E-40EE-8B95-185D8FD06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5530" y="3289300"/>
              <a:ext cx="12314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Kolkata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800F342-F467-4B12-B54E-42997B05D1B9}"/>
                </a:ext>
              </a:extLst>
            </p:cNvPr>
            <p:cNvGrpSpPr>
              <a:grpSpLocks/>
            </p:cNvGrpSpPr>
            <p:nvPr/>
          </p:nvGrpSpPr>
          <p:grpSpPr bwMode="auto">
            <a:xfrm rot="20054863">
              <a:off x="1176130" y="4203700"/>
              <a:ext cx="228600" cy="1219200"/>
              <a:chOff x="576" y="1248"/>
              <a:chExt cx="144" cy="768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F78D7A5-9749-4B96-8675-58C3D62E8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  <p:sp>
            <p:nvSpPr>
              <p:cNvPr id="6" name="Line 5">
                <a:extLst>
                  <a:ext uri="{FF2B5EF4-FFF2-40B4-BE49-F238E27FC236}">
                    <a16:creationId xmlns:a16="http://schemas.microsoft.com/office/drawing/2014/main" id="{AAE6D80B-96BC-4FAD-AED7-392B23E2D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09DE0D6-046F-4D00-9F46-BF41557C6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</p:grp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A109D38E-DE73-4CD8-B558-F96BE68329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6268830" y="3451225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00B9BE15-F631-4F8A-A81C-0A63AA898F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320065">
              <a:off x="5954505" y="343535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4BF8474B-11DA-407F-AB97-FA6B02FC2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130" y="4356100"/>
              <a:ext cx="21336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C03E271A-D1E0-489E-A6AF-EB5FE9646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0930" y="4660900"/>
              <a:ext cx="17526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F1BF3E17-9C2B-47BE-A998-AAA7AFA974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961079">
              <a:off x="6519655" y="3170238"/>
              <a:ext cx="12954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4B198D3A-142F-452E-819B-1DA23C73B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9530" y="3898900"/>
              <a:ext cx="251460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06BE2819-69D2-432A-BF55-922335222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130" y="45085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8AFF7248-1851-42EC-BE29-43116DCBF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9530" y="4203700"/>
              <a:ext cx="19050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C2A29EA3-B5F9-4585-B12B-096A54EE3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09730" y="4127500"/>
              <a:ext cx="2209800" cy="4572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7" name="Oval 19">
              <a:extLst>
                <a:ext uri="{FF2B5EF4-FFF2-40B4-BE49-F238E27FC236}">
                  <a16:creationId xmlns:a16="http://schemas.microsoft.com/office/drawing/2014/main" id="{CFF6AAE1-5D37-4DB0-B01D-3CB38D9E77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640">
              <a:off x="7881730" y="3822701"/>
              <a:ext cx="228600" cy="2571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714B61E3-CC76-4E65-9D3E-57CC59E69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330" y="3794125"/>
              <a:ext cx="8899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Delhi</a:t>
              </a:r>
            </a:p>
          </p:txBody>
        </p:sp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00A1B695-AA07-4ADA-AD79-D5A759A81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3531" y="4860925"/>
              <a:ext cx="9412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Surat</a:t>
              </a:r>
            </a:p>
          </p:txBody>
        </p:sp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id="{97836690-74DC-487F-BEF6-5C6D6A38E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731" y="5546725"/>
              <a:ext cx="1295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Chennai</a:t>
              </a:r>
            </a:p>
          </p:txBody>
        </p:sp>
        <p:sp>
          <p:nvSpPr>
            <p:cNvPr id="22" name="Text Box 25">
              <a:extLst>
                <a:ext uri="{FF2B5EF4-FFF2-40B4-BE49-F238E27FC236}">
                  <a16:creationId xmlns:a16="http://schemas.microsoft.com/office/drawing/2014/main" id="{980EE6C2-1402-4E1E-8D95-1A869B7BB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4081" y="4432300"/>
              <a:ext cx="16546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Mangalore</a:t>
              </a:r>
            </a:p>
          </p:txBody>
        </p:sp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AE7E923E-B1A1-4F20-9987-ABCB1F676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2531" y="4873625"/>
              <a:ext cx="16658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Hyderabad</a:t>
              </a:r>
            </a:p>
          </p:txBody>
        </p:sp>
        <p:sp>
          <p:nvSpPr>
            <p:cNvPr id="24" name="Text Box 27">
              <a:extLst>
                <a:ext uri="{FF2B5EF4-FFF2-40B4-BE49-F238E27FC236}">
                  <a16:creationId xmlns:a16="http://schemas.microsoft.com/office/drawing/2014/main" id="{7A098CC8-B86D-4995-B49B-D924A0A94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6731" y="2984500"/>
              <a:ext cx="12666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Mumbai</a:t>
              </a:r>
            </a:p>
          </p:txBody>
        </p:sp>
        <p:sp>
          <p:nvSpPr>
            <p:cNvPr id="25" name="Freeform 37">
              <a:extLst>
                <a:ext uri="{FF2B5EF4-FFF2-40B4-BE49-F238E27FC236}">
                  <a16:creationId xmlns:a16="http://schemas.microsoft.com/office/drawing/2014/main" id="{FBDE40C9-C240-47ED-89A0-BFCB60372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0930" y="4737100"/>
              <a:ext cx="1676400" cy="622300"/>
            </a:xfrm>
            <a:custGeom>
              <a:avLst/>
              <a:gdLst>
                <a:gd name="T0" fmla="*/ 0 w 1056"/>
                <a:gd name="T1" fmla="*/ 336 h 392"/>
                <a:gd name="T2" fmla="*/ 144 w 1056"/>
                <a:gd name="T3" fmla="*/ 384 h 392"/>
                <a:gd name="T4" fmla="*/ 336 w 1056"/>
                <a:gd name="T5" fmla="*/ 384 h 392"/>
                <a:gd name="T6" fmla="*/ 528 w 1056"/>
                <a:gd name="T7" fmla="*/ 336 h 392"/>
                <a:gd name="T8" fmla="*/ 720 w 1056"/>
                <a:gd name="T9" fmla="*/ 240 h 392"/>
                <a:gd name="T10" fmla="*/ 960 w 1056"/>
                <a:gd name="T11" fmla="*/ 96 h 392"/>
                <a:gd name="T12" fmla="*/ 1056 w 1056"/>
                <a:gd name="T13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6" h="392">
                  <a:moveTo>
                    <a:pt x="0" y="336"/>
                  </a:moveTo>
                  <a:cubicBezTo>
                    <a:pt x="44" y="356"/>
                    <a:pt x="88" y="376"/>
                    <a:pt x="144" y="384"/>
                  </a:cubicBezTo>
                  <a:cubicBezTo>
                    <a:pt x="200" y="392"/>
                    <a:pt x="272" y="392"/>
                    <a:pt x="336" y="384"/>
                  </a:cubicBezTo>
                  <a:cubicBezTo>
                    <a:pt x="400" y="376"/>
                    <a:pt x="464" y="360"/>
                    <a:pt x="528" y="336"/>
                  </a:cubicBezTo>
                  <a:cubicBezTo>
                    <a:pt x="592" y="312"/>
                    <a:pt x="648" y="280"/>
                    <a:pt x="720" y="240"/>
                  </a:cubicBezTo>
                  <a:cubicBezTo>
                    <a:pt x="792" y="200"/>
                    <a:pt x="904" y="136"/>
                    <a:pt x="960" y="96"/>
                  </a:cubicBezTo>
                  <a:cubicBezTo>
                    <a:pt x="1016" y="56"/>
                    <a:pt x="1040" y="16"/>
                    <a:pt x="1056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6" name="Freeform 38">
              <a:extLst>
                <a:ext uri="{FF2B5EF4-FFF2-40B4-BE49-F238E27FC236}">
                  <a16:creationId xmlns:a16="http://schemas.microsoft.com/office/drawing/2014/main" id="{F514E7D0-9448-414B-B171-1F3BB4EB8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330" y="4127500"/>
              <a:ext cx="2362200" cy="711200"/>
            </a:xfrm>
            <a:custGeom>
              <a:avLst/>
              <a:gdLst>
                <a:gd name="T0" fmla="*/ 0 w 1488"/>
                <a:gd name="T1" fmla="*/ 336 h 448"/>
                <a:gd name="T2" fmla="*/ 192 w 1488"/>
                <a:gd name="T3" fmla="*/ 432 h 448"/>
                <a:gd name="T4" fmla="*/ 480 w 1488"/>
                <a:gd name="T5" fmla="*/ 432 h 448"/>
                <a:gd name="T6" fmla="*/ 912 w 1488"/>
                <a:gd name="T7" fmla="*/ 336 h 448"/>
                <a:gd name="T8" fmla="*/ 1200 w 1488"/>
                <a:gd name="T9" fmla="*/ 240 h 448"/>
                <a:gd name="T10" fmla="*/ 1392 w 1488"/>
                <a:gd name="T11" fmla="*/ 144 h 448"/>
                <a:gd name="T12" fmla="*/ 1488 w 1488"/>
                <a:gd name="T13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88" h="448">
                  <a:moveTo>
                    <a:pt x="0" y="336"/>
                  </a:moveTo>
                  <a:cubicBezTo>
                    <a:pt x="56" y="376"/>
                    <a:pt x="112" y="416"/>
                    <a:pt x="192" y="432"/>
                  </a:cubicBezTo>
                  <a:cubicBezTo>
                    <a:pt x="272" y="448"/>
                    <a:pt x="360" y="448"/>
                    <a:pt x="480" y="432"/>
                  </a:cubicBezTo>
                  <a:cubicBezTo>
                    <a:pt x="600" y="416"/>
                    <a:pt x="792" y="368"/>
                    <a:pt x="912" y="336"/>
                  </a:cubicBezTo>
                  <a:cubicBezTo>
                    <a:pt x="1032" y="304"/>
                    <a:pt x="1120" y="272"/>
                    <a:pt x="1200" y="240"/>
                  </a:cubicBezTo>
                  <a:cubicBezTo>
                    <a:pt x="1280" y="208"/>
                    <a:pt x="1344" y="184"/>
                    <a:pt x="1392" y="144"/>
                  </a:cubicBezTo>
                  <a:cubicBezTo>
                    <a:pt x="1440" y="104"/>
                    <a:pt x="1472" y="24"/>
                    <a:pt x="1488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7" name="Freeform 39">
              <a:extLst>
                <a:ext uri="{FF2B5EF4-FFF2-40B4-BE49-F238E27FC236}">
                  <a16:creationId xmlns:a16="http://schemas.microsoft.com/office/drawing/2014/main" id="{4F552237-DBC0-48FE-A1B3-A6C23C655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530" y="3975100"/>
              <a:ext cx="2286000" cy="609600"/>
            </a:xfrm>
            <a:custGeom>
              <a:avLst/>
              <a:gdLst>
                <a:gd name="T0" fmla="*/ 0 w 1440"/>
                <a:gd name="T1" fmla="*/ 384 h 384"/>
                <a:gd name="T2" fmla="*/ 192 w 1440"/>
                <a:gd name="T3" fmla="*/ 240 h 384"/>
                <a:gd name="T4" fmla="*/ 432 w 1440"/>
                <a:gd name="T5" fmla="*/ 144 h 384"/>
                <a:gd name="T6" fmla="*/ 912 w 1440"/>
                <a:gd name="T7" fmla="*/ 48 h 384"/>
                <a:gd name="T8" fmla="*/ 1248 w 1440"/>
                <a:gd name="T9" fmla="*/ 0 h 384"/>
                <a:gd name="T10" fmla="*/ 1440 w 1440"/>
                <a:gd name="T11" fmla="*/ 48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0" h="384">
                  <a:moveTo>
                    <a:pt x="0" y="384"/>
                  </a:moveTo>
                  <a:cubicBezTo>
                    <a:pt x="60" y="332"/>
                    <a:pt x="120" y="280"/>
                    <a:pt x="192" y="240"/>
                  </a:cubicBezTo>
                  <a:cubicBezTo>
                    <a:pt x="264" y="200"/>
                    <a:pt x="312" y="176"/>
                    <a:pt x="432" y="144"/>
                  </a:cubicBezTo>
                  <a:cubicBezTo>
                    <a:pt x="552" y="112"/>
                    <a:pt x="776" y="72"/>
                    <a:pt x="912" y="48"/>
                  </a:cubicBezTo>
                  <a:cubicBezTo>
                    <a:pt x="1048" y="24"/>
                    <a:pt x="1160" y="0"/>
                    <a:pt x="1248" y="0"/>
                  </a:cubicBezTo>
                  <a:cubicBezTo>
                    <a:pt x="1336" y="0"/>
                    <a:pt x="1388" y="24"/>
                    <a:pt x="1440" y="48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8" name="Freeform 40">
              <a:extLst>
                <a:ext uri="{FF2B5EF4-FFF2-40B4-BE49-F238E27FC236}">
                  <a16:creationId xmlns:a16="http://schemas.microsoft.com/office/drawing/2014/main" id="{C3BBD764-6D93-4E0E-A14B-8232BE7EC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530" y="3898900"/>
              <a:ext cx="584200" cy="698500"/>
            </a:xfrm>
            <a:custGeom>
              <a:avLst/>
              <a:gdLst>
                <a:gd name="T0" fmla="*/ 336 w 368"/>
                <a:gd name="T1" fmla="*/ 0 h 440"/>
                <a:gd name="T2" fmla="*/ 336 w 368"/>
                <a:gd name="T3" fmla="*/ 192 h 440"/>
                <a:gd name="T4" fmla="*/ 144 w 368"/>
                <a:gd name="T5" fmla="*/ 384 h 440"/>
                <a:gd name="T6" fmla="*/ 48 w 368"/>
                <a:gd name="T7" fmla="*/ 432 h 440"/>
                <a:gd name="T8" fmla="*/ 0 w 368"/>
                <a:gd name="T9" fmla="*/ 432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" h="440">
                  <a:moveTo>
                    <a:pt x="336" y="0"/>
                  </a:moveTo>
                  <a:cubicBezTo>
                    <a:pt x="352" y="64"/>
                    <a:pt x="368" y="128"/>
                    <a:pt x="336" y="192"/>
                  </a:cubicBezTo>
                  <a:cubicBezTo>
                    <a:pt x="304" y="256"/>
                    <a:pt x="192" y="344"/>
                    <a:pt x="144" y="384"/>
                  </a:cubicBezTo>
                  <a:cubicBezTo>
                    <a:pt x="96" y="424"/>
                    <a:pt x="72" y="424"/>
                    <a:pt x="48" y="432"/>
                  </a:cubicBezTo>
                  <a:cubicBezTo>
                    <a:pt x="24" y="440"/>
                    <a:pt x="12" y="436"/>
                    <a:pt x="0" y="43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2A49CBC2-0696-4ABC-93E6-A1A6EF278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5730" y="3975100"/>
              <a:ext cx="2286000" cy="228600"/>
            </a:xfrm>
            <a:custGeom>
              <a:avLst/>
              <a:gdLst>
                <a:gd name="T0" fmla="*/ 0 w 1440"/>
                <a:gd name="T1" fmla="*/ 96 h 152"/>
                <a:gd name="T2" fmla="*/ 288 w 1440"/>
                <a:gd name="T3" fmla="*/ 144 h 152"/>
                <a:gd name="T4" fmla="*/ 528 w 1440"/>
                <a:gd name="T5" fmla="*/ 144 h 152"/>
                <a:gd name="T6" fmla="*/ 672 w 1440"/>
                <a:gd name="T7" fmla="*/ 144 h 152"/>
                <a:gd name="T8" fmla="*/ 1056 w 1440"/>
                <a:gd name="T9" fmla="*/ 96 h 152"/>
                <a:gd name="T10" fmla="*/ 1296 w 1440"/>
                <a:gd name="T11" fmla="*/ 48 h 152"/>
                <a:gd name="T12" fmla="*/ 1440 w 1440"/>
                <a:gd name="T1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0" h="152">
                  <a:moveTo>
                    <a:pt x="0" y="96"/>
                  </a:moveTo>
                  <a:cubicBezTo>
                    <a:pt x="100" y="116"/>
                    <a:pt x="200" y="136"/>
                    <a:pt x="288" y="144"/>
                  </a:cubicBezTo>
                  <a:cubicBezTo>
                    <a:pt x="376" y="152"/>
                    <a:pt x="464" y="144"/>
                    <a:pt x="528" y="144"/>
                  </a:cubicBezTo>
                  <a:cubicBezTo>
                    <a:pt x="592" y="144"/>
                    <a:pt x="584" y="152"/>
                    <a:pt x="672" y="144"/>
                  </a:cubicBezTo>
                  <a:cubicBezTo>
                    <a:pt x="760" y="136"/>
                    <a:pt x="952" y="112"/>
                    <a:pt x="1056" y="96"/>
                  </a:cubicBezTo>
                  <a:cubicBezTo>
                    <a:pt x="1160" y="80"/>
                    <a:pt x="1232" y="64"/>
                    <a:pt x="1296" y="48"/>
                  </a:cubicBezTo>
                  <a:cubicBezTo>
                    <a:pt x="1360" y="32"/>
                    <a:pt x="1400" y="16"/>
                    <a:pt x="144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0" name="Line 44">
              <a:extLst>
                <a:ext uri="{FF2B5EF4-FFF2-40B4-BE49-F238E27FC236}">
                  <a16:creationId xmlns:a16="http://schemas.microsoft.com/office/drawing/2014/main" id="{33BE3E29-4284-4202-B3CB-7E13D74BC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4530" y="3975100"/>
              <a:ext cx="5334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1" name="Oval 47">
              <a:extLst>
                <a:ext uri="{FF2B5EF4-FFF2-40B4-BE49-F238E27FC236}">
                  <a16:creationId xmlns:a16="http://schemas.microsoft.com/office/drawing/2014/main" id="{FAE737BA-89B0-43FE-B8F8-EC35D0895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130" y="45720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32" name="Oval 10">
              <a:extLst>
                <a:ext uri="{FF2B5EF4-FFF2-40B4-BE49-F238E27FC236}">
                  <a16:creationId xmlns:a16="http://schemas.microsoft.com/office/drawing/2014/main" id="{CA3ACA13-6EE9-46D0-937D-66BC3EA035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5454443" y="4014788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808273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C0DF-4840-4288-AFD0-4444C041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Edges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FC78F-33AC-48DA-BA22-DB107901E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edges are called multiple or parallel edges if they connect the same two distinct vertices.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B67288E-F701-4482-A3C2-0B56F6F9197D}"/>
              </a:ext>
            </a:extLst>
          </p:cNvPr>
          <p:cNvGrpSpPr/>
          <p:nvPr/>
        </p:nvGrpSpPr>
        <p:grpSpPr>
          <a:xfrm>
            <a:off x="298686" y="2881863"/>
            <a:ext cx="8546627" cy="3023890"/>
            <a:chOff x="490330" y="2984500"/>
            <a:chExt cx="8546627" cy="302389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800F342-F467-4B12-B54E-42997B05D1B9}"/>
                </a:ext>
              </a:extLst>
            </p:cNvPr>
            <p:cNvGrpSpPr>
              <a:grpSpLocks/>
            </p:cNvGrpSpPr>
            <p:nvPr/>
          </p:nvGrpSpPr>
          <p:grpSpPr bwMode="auto">
            <a:xfrm rot="20054863">
              <a:off x="1176130" y="4203700"/>
              <a:ext cx="228600" cy="1219200"/>
              <a:chOff x="576" y="1248"/>
              <a:chExt cx="144" cy="768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F78D7A5-9749-4B96-8675-58C3D62E8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  <p:sp>
            <p:nvSpPr>
              <p:cNvPr id="6" name="Line 5">
                <a:extLst>
                  <a:ext uri="{FF2B5EF4-FFF2-40B4-BE49-F238E27FC236}">
                    <a16:creationId xmlns:a16="http://schemas.microsoft.com/office/drawing/2014/main" id="{AAE6D80B-96BC-4FAD-AED7-392B23E2D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09DE0D6-046F-4D00-9F46-BF41557C6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</p:grp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A109D38E-DE73-4CD8-B558-F96BE68329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6268830" y="3451225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00B9BE15-F631-4F8A-A81C-0A63AA898F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320065">
              <a:off x="5954505" y="343535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4BF8474B-11DA-407F-AB97-FA6B02FC2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130" y="4356100"/>
              <a:ext cx="21336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C03E271A-D1E0-489E-A6AF-EB5FE9646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0930" y="4660900"/>
              <a:ext cx="17526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F1BF3E17-9C2B-47BE-A998-AAA7AFA974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961079">
              <a:off x="6519655" y="3170238"/>
              <a:ext cx="12954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4B198D3A-142F-452E-819B-1DA23C73B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9530" y="3898900"/>
              <a:ext cx="251460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06BE2819-69D2-432A-BF55-922335222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130" y="45085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8AFF7248-1851-42EC-BE29-43116DCBF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9530" y="4203700"/>
              <a:ext cx="19050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C2A29EA3-B5F9-4585-B12B-096A54EE3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09730" y="4127500"/>
              <a:ext cx="2209800" cy="4572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7" name="Oval 19">
              <a:extLst>
                <a:ext uri="{FF2B5EF4-FFF2-40B4-BE49-F238E27FC236}">
                  <a16:creationId xmlns:a16="http://schemas.microsoft.com/office/drawing/2014/main" id="{CFF6AAE1-5D37-4DB0-B01D-3CB38D9E77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640">
              <a:off x="7881730" y="3822701"/>
              <a:ext cx="228600" cy="2571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714B61E3-CC76-4E65-9D3E-57CC59E69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330" y="3794125"/>
              <a:ext cx="8899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Delhi</a:t>
              </a:r>
            </a:p>
          </p:txBody>
        </p:sp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00A1B695-AA07-4ADA-AD79-D5A759A81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3531" y="4860925"/>
              <a:ext cx="9412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Surat</a:t>
              </a:r>
            </a:p>
          </p:txBody>
        </p:sp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id="{97836690-74DC-487F-BEF6-5C6D6A38E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731" y="5546725"/>
              <a:ext cx="1295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Chennai</a:t>
              </a:r>
            </a:p>
          </p:txBody>
        </p:sp>
        <p:sp>
          <p:nvSpPr>
            <p:cNvPr id="21" name="Text Box 24">
              <a:extLst>
                <a:ext uri="{FF2B5EF4-FFF2-40B4-BE49-F238E27FC236}">
                  <a16:creationId xmlns:a16="http://schemas.microsoft.com/office/drawing/2014/main" id="{4C827EE7-A00E-40EE-8B95-185D8FD06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5530" y="3289300"/>
              <a:ext cx="12314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Kolkata</a:t>
              </a:r>
            </a:p>
          </p:txBody>
        </p:sp>
        <p:sp>
          <p:nvSpPr>
            <p:cNvPr id="22" name="Text Box 25">
              <a:extLst>
                <a:ext uri="{FF2B5EF4-FFF2-40B4-BE49-F238E27FC236}">
                  <a16:creationId xmlns:a16="http://schemas.microsoft.com/office/drawing/2014/main" id="{980EE6C2-1402-4E1E-8D95-1A869B7BB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4081" y="4432300"/>
              <a:ext cx="16546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Mangalore</a:t>
              </a:r>
            </a:p>
          </p:txBody>
        </p:sp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AE7E923E-B1A1-4F20-9987-ABCB1F676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2531" y="4873625"/>
              <a:ext cx="16658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Hyderabad</a:t>
              </a:r>
            </a:p>
          </p:txBody>
        </p:sp>
        <p:sp>
          <p:nvSpPr>
            <p:cNvPr id="24" name="Text Box 27">
              <a:extLst>
                <a:ext uri="{FF2B5EF4-FFF2-40B4-BE49-F238E27FC236}">
                  <a16:creationId xmlns:a16="http://schemas.microsoft.com/office/drawing/2014/main" id="{7A098CC8-B86D-4995-B49B-D924A0A94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6731" y="2984500"/>
              <a:ext cx="12666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Mumbai</a:t>
              </a:r>
            </a:p>
          </p:txBody>
        </p:sp>
        <p:sp>
          <p:nvSpPr>
            <p:cNvPr id="25" name="Freeform 37">
              <a:extLst>
                <a:ext uri="{FF2B5EF4-FFF2-40B4-BE49-F238E27FC236}">
                  <a16:creationId xmlns:a16="http://schemas.microsoft.com/office/drawing/2014/main" id="{FBDE40C9-C240-47ED-89A0-BFCB60372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0930" y="4737100"/>
              <a:ext cx="1676400" cy="622300"/>
            </a:xfrm>
            <a:custGeom>
              <a:avLst/>
              <a:gdLst>
                <a:gd name="T0" fmla="*/ 0 w 1056"/>
                <a:gd name="T1" fmla="*/ 336 h 392"/>
                <a:gd name="T2" fmla="*/ 144 w 1056"/>
                <a:gd name="T3" fmla="*/ 384 h 392"/>
                <a:gd name="T4" fmla="*/ 336 w 1056"/>
                <a:gd name="T5" fmla="*/ 384 h 392"/>
                <a:gd name="T6" fmla="*/ 528 w 1056"/>
                <a:gd name="T7" fmla="*/ 336 h 392"/>
                <a:gd name="T8" fmla="*/ 720 w 1056"/>
                <a:gd name="T9" fmla="*/ 240 h 392"/>
                <a:gd name="T10" fmla="*/ 960 w 1056"/>
                <a:gd name="T11" fmla="*/ 96 h 392"/>
                <a:gd name="T12" fmla="*/ 1056 w 1056"/>
                <a:gd name="T13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6" h="392">
                  <a:moveTo>
                    <a:pt x="0" y="336"/>
                  </a:moveTo>
                  <a:cubicBezTo>
                    <a:pt x="44" y="356"/>
                    <a:pt x="88" y="376"/>
                    <a:pt x="144" y="384"/>
                  </a:cubicBezTo>
                  <a:cubicBezTo>
                    <a:pt x="200" y="392"/>
                    <a:pt x="272" y="392"/>
                    <a:pt x="336" y="384"/>
                  </a:cubicBezTo>
                  <a:cubicBezTo>
                    <a:pt x="400" y="376"/>
                    <a:pt x="464" y="360"/>
                    <a:pt x="528" y="336"/>
                  </a:cubicBezTo>
                  <a:cubicBezTo>
                    <a:pt x="592" y="312"/>
                    <a:pt x="648" y="280"/>
                    <a:pt x="720" y="240"/>
                  </a:cubicBezTo>
                  <a:cubicBezTo>
                    <a:pt x="792" y="200"/>
                    <a:pt x="904" y="136"/>
                    <a:pt x="960" y="96"/>
                  </a:cubicBezTo>
                  <a:cubicBezTo>
                    <a:pt x="1016" y="56"/>
                    <a:pt x="1040" y="16"/>
                    <a:pt x="1056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6" name="Freeform 38">
              <a:extLst>
                <a:ext uri="{FF2B5EF4-FFF2-40B4-BE49-F238E27FC236}">
                  <a16:creationId xmlns:a16="http://schemas.microsoft.com/office/drawing/2014/main" id="{F514E7D0-9448-414B-B171-1F3BB4EB8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330" y="4127500"/>
              <a:ext cx="2362200" cy="711200"/>
            </a:xfrm>
            <a:custGeom>
              <a:avLst/>
              <a:gdLst>
                <a:gd name="T0" fmla="*/ 0 w 1488"/>
                <a:gd name="T1" fmla="*/ 336 h 448"/>
                <a:gd name="T2" fmla="*/ 192 w 1488"/>
                <a:gd name="T3" fmla="*/ 432 h 448"/>
                <a:gd name="T4" fmla="*/ 480 w 1488"/>
                <a:gd name="T5" fmla="*/ 432 h 448"/>
                <a:gd name="T6" fmla="*/ 912 w 1488"/>
                <a:gd name="T7" fmla="*/ 336 h 448"/>
                <a:gd name="T8" fmla="*/ 1200 w 1488"/>
                <a:gd name="T9" fmla="*/ 240 h 448"/>
                <a:gd name="T10" fmla="*/ 1392 w 1488"/>
                <a:gd name="T11" fmla="*/ 144 h 448"/>
                <a:gd name="T12" fmla="*/ 1488 w 1488"/>
                <a:gd name="T13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88" h="448">
                  <a:moveTo>
                    <a:pt x="0" y="336"/>
                  </a:moveTo>
                  <a:cubicBezTo>
                    <a:pt x="56" y="376"/>
                    <a:pt x="112" y="416"/>
                    <a:pt x="192" y="432"/>
                  </a:cubicBezTo>
                  <a:cubicBezTo>
                    <a:pt x="272" y="448"/>
                    <a:pt x="360" y="448"/>
                    <a:pt x="480" y="432"/>
                  </a:cubicBezTo>
                  <a:cubicBezTo>
                    <a:pt x="600" y="416"/>
                    <a:pt x="792" y="368"/>
                    <a:pt x="912" y="336"/>
                  </a:cubicBezTo>
                  <a:cubicBezTo>
                    <a:pt x="1032" y="304"/>
                    <a:pt x="1120" y="272"/>
                    <a:pt x="1200" y="240"/>
                  </a:cubicBezTo>
                  <a:cubicBezTo>
                    <a:pt x="1280" y="208"/>
                    <a:pt x="1344" y="184"/>
                    <a:pt x="1392" y="144"/>
                  </a:cubicBezTo>
                  <a:cubicBezTo>
                    <a:pt x="1440" y="104"/>
                    <a:pt x="1472" y="24"/>
                    <a:pt x="1488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7" name="Freeform 39">
              <a:extLst>
                <a:ext uri="{FF2B5EF4-FFF2-40B4-BE49-F238E27FC236}">
                  <a16:creationId xmlns:a16="http://schemas.microsoft.com/office/drawing/2014/main" id="{4F552237-DBC0-48FE-A1B3-A6C23C655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530" y="3975100"/>
              <a:ext cx="2286000" cy="609600"/>
            </a:xfrm>
            <a:custGeom>
              <a:avLst/>
              <a:gdLst>
                <a:gd name="T0" fmla="*/ 0 w 1440"/>
                <a:gd name="T1" fmla="*/ 384 h 384"/>
                <a:gd name="T2" fmla="*/ 192 w 1440"/>
                <a:gd name="T3" fmla="*/ 240 h 384"/>
                <a:gd name="T4" fmla="*/ 432 w 1440"/>
                <a:gd name="T5" fmla="*/ 144 h 384"/>
                <a:gd name="T6" fmla="*/ 912 w 1440"/>
                <a:gd name="T7" fmla="*/ 48 h 384"/>
                <a:gd name="T8" fmla="*/ 1248 w 1440"/>
                <a:gd name="T9" fmla="*/ 0 h 384"/>
                <a:gd name="T10" fmla="*/ 1440 w 1440"/>
                <a:gd name="T11" fmla="*/ 48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0" h="384">
                  <a:moveTo>
                    <a:pt x="0" y="384"/>
                  </a:moveTo>
                  <a:cubicBezTo>
                    <a:pt x="60" y="332"/>
                    <a:pt x="120" y="280"/>
                    <a:pt x="192" y="240"/>
                  </a:cubicBezTo>
                  <a:cubicBezTo>
                    <a:pt x="264" y="200"/>
                    <a:pt x="312" y="176"/>
                    <a:pt x="432" y="144"/>
                  </a:cubicBezTo>
                  <a:cubicBezTo>
                    <a:pt x="552" y="112"/>
                    <a:pt x="776" y="72"/>
                    <a:pt x="912" y="48"/>
                  </a:cubicBezTo>
                  <a:cubicBezTo>
                    <a:pt x="1048" y="24"/>
                    <a:pt x="1160" y="0"/>
                    <a:pt x="1248" y="0"/>
                  </a:cubicBezTo>
                  <a:cubicBezTo>
                    <a:pt x="1336" y="0"/>
                    <a:pt x="1388" y="24"/>
                    <a:pt x="1440" y="48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8" name="Freeform 40">
              <a:extLst>
                <a:ext uri="{FF2B5EF4-FFF2-40B4-BE49-F238E27FC236}">
                  <a16:creationId xmlns:a16="http://schemas.microsoft.com/office/drawing/2014/main" id="{C3BBD764-6D93-4E0E-A14B-8232BE7EC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530" y="3898900"/>
              <a:ext cx="584200" cy="698500"/>
            </a:xfrm>
            <a:custGeom>
              <a:avLst/>
              <a:gdLst>
                <a:gd name="T0" fmla="*/ 336 w 368"/>
                <a:gd name="T1" fmla="*/ 0 h 440"/>
                <a:gd name="T2" fmla="*/ 336 w 368"/>
                <a:gd name="T3" fmla="*/ 192 h 440"/>
                <a:gd name="T4" fmla="*/ 144 w 368"/>
                <a:gd name="T5" fmla="*/ 384 h 440"/>
                <a:gd name="T6" fmla="*/ 48 w 368"/>
                <a:gd name="T7" fmla="*/ 432 h 440"/>
                <a:gd name="T8" fmla="*/ 0 w 368"/>
                <a:gd name="T9" fmla="*/ 432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" h="440">
                  <a:moveTo>
                    <a:pt x="336" y="0"/>
                  </a:moveTo>
                  <a:cubicBezTo>
                    <a:pt x="352" y="64"/>
                    <a:pt x="368" y="128"/>
                    <a:pt x="336" y="192"/>
                  </a:cubicBezTo>
                  <a:cubicBezTo>
                    <a:pt x="304" y="256"/>
                    <a:pt x="192" y="344"/>
                    <a:pt x="144" y="384"/>
                  </a:cubicBezTo>
                  <a:cubicBezTo>
                    <a:pt x="96" y="424"/>
                    <a:pt x="72" y="424"/>
                    <a:pt x="48" y="432"/>
                  </a:cubicBezTo>
                  <a:cubicBezTo>
                    <a:pt x="24" y="440"/>
                    <a:pt x="12" y="436"/>
                    <a:pt x="0" y="43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2A49CBC2-0696-4ABC-93E6-A1A6EF278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5730" y="3975100"/>
              <a:ext cx="2286000" cy="228600"/>
            </a:xfrm>
            <a:custGeom>
              <a:avLst/>
              <a:gdLst>
                <a:gd name="T0" fmla="*/ 0 w 1440"/>
                <a:gd name="T1" fmla="*/ 96 h 152"/>
                <a:gd name="T2" fmla="*/ 288 w 1440"/>
                <a:gd name="T3" fmla="*/ 144 h 152"/>
                <a:gd name="T4" fmla="*/ 528 w 1440"/>
                <a:gd name="T5" fmla="*/ 144 h 152"/>
                <a:gd name="T6" fmla="*/ 672 w 1440"/>
                <a:gd name="T7" fmla="*/ 144 h 152"/>
                <a:gd name="T8" fmla="*/ 1056 w 1440"/>
                <a:gd name="T9" fmla="*/ 96 h 152"/>
                <a:gd name="T10" fmla="*/ 1296 w 1440"/>
                <a:gd name="T11" fmla="*/ 48 h 152"/>
                <a:gd name="T12" fmla="*/ 1440 w 1440"/>
                <a:gd name="T1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0" h="152">
                  <a:moveTo>
                    <a:pt x="0" y="96"/>
                  </a:moveTo>
                  <a:cubicBezTo>
                    <a:pt x="100" y="116"/>
                    <a:pt x="200" y="136"/>
                    <a:pt x="288" y="144"/>
                  </a:cubicBezTo>
                  <a:cubicBezTo>
                    <a:pt x="376" y="152"/>
                    <a:pt x="464" y="144"/>
                    <a:pt x="528" y="144"/>
                  </a:cubicBezTo>
                  <a:cubicBezTo>
                    <a:pt x="592" y="144"/>
                    <a:pt x="584" y="152"/>
                    <a:pt x="672" y="144"/>
                  </a:cubicBezTo>
                  <a:cubicBezTo>
                    <a:pt x="760" y="136"/>
                    <a:pt x="952" y="112"/>
                    <a:pt x="1056" y="96"/>
                  </a:cubicBezTo>
                  <a:cubicBezTo>
                    <a:pt x="1160" y="80"/>
                    <a:pt x="1232" y="64"/>
                    <a:pt x="1296" y="48"/>
                  </a:cubicBezTo>
                  <a:cubicBezTo>
                    <a:pt x="1360" y="32"/>
                    <a:pt x="1400" y="16"/>
                    <a:pt x="144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0" name="Line 44">
              <a:extLst>
                <a:ext uri="{FF2B5EF4-FFF2-40B4-BE49-F238E27FC236}">
                  <a16:creationId xmlns:a16="http://schemas.microsoft.com/office/drawing/2014/main" id="{33BE3E29-4284-4202-B3CB-7E13D74BC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4530" y="3975100"/>
              <a:ext cx="5334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1" name="Oval 47">
              <a:extLst>
                <a:ext uri="{FF2B5EF4-FFF2-40B4-BE49-F238E27FC236}">
                  <a16:creationId xmlns:a16="http://schemas.microsoft.com/office/drawing/2014/main" id="{FAE737BA-89B0-43FE-B8F8-EC35D0895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130" y="45720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32" name="Oval 10">
              <a:extLst>
                <a:ext uri="{FF2B5EF4-FFF2-40B4-BE49-F238E27FC236}">
                  <a16:creationId xmlns:a16="http://schemas.microsoft.com/office/drawing/2014/main" id="{CA3ACA13-6EE9-46D0-937D-66BC3EA035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5454443" y="4014788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98417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C0DF-4840-4288-AFD0-4444C041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Non-Simple Graph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FC78F-33AC-48DA-BA22-DB107901E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multigraph G = (V, E) two or more edges may connect the same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Definition:-</a:t>
            </a:r>
            <a:r>
              <a:rPr lang="en-US" dirty="0"/>
              <a:t> In a pseudograph G = (V, E) two or more edges may connect the same pair of vertices, and in addition, an edge may connect a vertex to itself. </a:t>
            </a:r>
          </a:p>
          <a:p>
            <a:pPr marL="0" indent="0">
              <a:buNone/>
            </a:pPr>
            <a:r>
              <a:rPr lang="en-US" dirty="0"/>
              <a:t>Pair of vertices.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449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27D9-BD77-446D-81A6-80AE2973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Pseudograph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5F8B5-688F-4716-99AA-04308D014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392901" cy="13056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can be telephone lines in the network from a computer to itself (for diagnostic use).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9255B9-3E1C-4E04-A62C-BA87A364DDA5}"/>
              </a:ext>
            </a:extLst>
          </p:cNvPr>
          <p:cNvGrpSpPr/>
          <p:nvPr/>
        </p:nvGrpSpPr>
        <p:grpSpPr>
          <a:xfrm>
            <a:off x="315764" y="2723054"/>
            <a:ext cx="8470427" cy="3585865"/>
            <a:chOff x="3314" y="2571613"/>
            <a:chExt cx="8470427" cy="3585865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6B57D376-9670-4278-82C7-D1B60B83A7F3}"/>
                </a:ext>
              </a:extLst>
            </p:cNvPr>
            <p:cNvGrpSpPr>
              <a:grpSpLocks/>
            </p:cNvGrpSpPr>
            <p:nvPr/>
          </p:nvGrpSpPr>
          <p:grpSpPr bwMode="auto">
            <a:xfrm rot="20054863">
              <a:off x="689114" y="4108313"/>
              <a:ext cx="228600" cy="1219200"/>
              <a:chOff x="576" y="1248"/>
              <a:chExt cx="144" cy="768"/>
            </a:xfrm>
          </p:grpSpPr>
          <p:sp>
            <p:nvSpPr>
              <p:cNvPr id="8" name="Oval 5">
                <a:extLst>
                  <a:ext uri="{FF2B5EF4-FFF2-40B4-BE49-F238E27FC236}">
                    <a16:creationId xmlns:a16="http://schemas.microsoft.com/office/drawing/2014/main" id="{4C91F3B6-D79D-4EA7-9A33-6E76B1CA8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  <p:sp>
            <p:nvSpPr>
              <p:cNvPr id="9" name="Line 6">
                <a:extLst>
                  <a:ext uri="{FF2B5EF4-FFF2-40B4-BE49-F238E27FC236}">
                    <a16:creationId xmlns:a16="http://schemas.microsoft.com/office/drawing/2014/main" id="{00F1EB12-3A8E-4299-85CD-85E54A8DF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10" name="Oval 7">
                <a:extLst>
                  <a:ext uri="{FF2B5EF4-FFF2-40B4-BE49-F238E27FC236}">
                    <a16:creationId xmlns:a16="http://schemas.microsoft.com/office/drawing/2014/main" id="{BDF79023-9FE0-4EDF-9AE2-84857F7FE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</p:grp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7D8EB89E-19E9-4605-A6D7-546663BEF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5781814" y="3368538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C332172D-4EB1-4524-A783-BFB91E03C3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320065">
              <a:off x="5531784" y="3261383"/>
              <a:ext cx="9525" cy="969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614DCDF2-09AA-4E3B-B473-F105AAD1C8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4967427" y="3932101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4975231D-5186-4E71-9902-E2B21CDD7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114" y="4260713"/>
              <a:ext cx="21336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1FEFF439-4851-4689-9BD8-B346B7221B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3914" y="4565513"/>
              <a:ext cx="17526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649F3285-714D-491A-8A33-9F88318551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961079">
              <a:off x="6032639" y="3074851"/>
              <a:ext cx="12954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4786BFFF-FE7B-445D-8CDC-2BF8B2663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2514" y="3803513"/>
              <a:ext cx="251460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AB1925FE-6758-4000-9E24-DEBEBCE64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5114" y="441311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9973A05E-06D8-477D-B21A-227902FB1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2514" y="4108313"/>
              <a:ext cx="19050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6FD822A7-0AFE-47EF-80EC-63BD969D07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22714" y="4095613"/>
              <a:ext cx="2209800" cy="393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9E464374-5604-4E47-A280-9F0BEA9DEC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640">
              <a:off x="7394714" y="3727314"/>
              <a:ext cx="228600" cy="2571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81D16891-3684-47E9-9DE8-F9E4CA3A4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4" y="3333613"/>
              <a:ext cx="8899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Delhi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E6DE25FD-FEB7-41A6-A2A9-3D747E45B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4115" y="4781413"/>
              <a:ext cx="9412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Surat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C92498D3-A09C-4B1C-9E9B-C280FDEF7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065" y="5695813"/>
              <a:ext cx="1295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Chennai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315A7EEC-7749-4FC1-8E8D-C78E5863C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2314" y="3012938"/>
              <a:ext cx="12314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Kolkata</a:t>
              </a: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EBADDB04-CA82-4704-8AEA-7694C0D3D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3265" y="4400413"/>
              <a:ext cx="16546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Mangalore</a:t>
              </a:r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F04E149E-4D08-416B-A061-416400B4C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115" y="5086213"/>
              <a:ext cx="16658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Hyderabad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E1D29CAD-7F2F-4008-A3A2-24E7B2F08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7315" y="2571613"/>
              <a:ext cx="12666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Mumbai</a:t>
              </a: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FA17F15-B2B4-44E3-997A-3ECEBEFD2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914" y="4641713"/>
              <a:ext cx="1676400" cy="622300"/>
            </a:xfrm>
            <a:custGeom>
              <a:avLst/>
              <a:gdLst>
                <a:gd name="T0" fmla="*/ 0 w 1056"/>
                <a:gd name="T1" fmla="*/ 336 h 392"/>
                <a:gd name="T2" fmla="*/ 144 w 1056"/>
                <a:gd name="T3" fmla="*/ 384 h 392"/>
                <a:gd name="T4" fmla="*/ 336 w 1056"/>
                <a:gd name="T5" fmla="*/ 384 h 392"/>
                <a:gd name="T6" fmla="*/ 528 w 1056"/>
                <a:gd name="T7" fmla="*/ 336 h 392"/>
                <a:gd name="T8" fmla="*/ 720 w 1056"/>
                <a:gd name="T9" fmla="*/ 240 h 392"/>
                <a:gd name="T10" fmla="*/ 960 w 1056"/>
                <a:gd name="T11" fmla="*/ 96 h 392"/>
                <a:gd name="T12" fmla="*/ 1056 w 1056"/>
                <a:gd name="T13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6" h="392">
                  <a:moveTo>
                    <a:pt x="0" y="336"/>
                  </a:moveTo>
                  <a:cubicBezTo>
                    <a:pt x="44" y="356"/>
                    <a:pt x="88" y="376"/>
                    <a:pt x="144" y="384"/>
                  </a:cubicBezTo>
                  <a:cubicBezTo>
                    <a:pt x="200" y="392"/>
                    <a:pt x="272" y="392"/>
                    <a:pt x="336" y="384"/>
                  </a:cubicBezTo>
                  <a:cubicBezTo>
                    <a:pt x="400" y="376"/>
                    <a:pt x="464" y="360"/>
                    <a:pt x="528" y="336"/>
                  </a:cubicBezTo>
                  <a:cubicBezTo>
                    <a:pt x="592" y="312"/>
                    <a:pt x="648" y="280"/>
                    <a:pt x="720" y="240"/>
                  </a:cubicBezTo>
                  <a:cubicBezTo>
                    <a:pt x="792" y="200"/>
                    <a:pt x="904" y="136"/>
                    <a:pt x="960" y="96"/>
                  </a:cubicBezTo>
                  <a:cubicBezTo>
                    <a:pt x="1016" y="56"/>
                    <a:pt x="1040" y="16"/>
                    <a:pt x="1056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D5EC092-6D28-4FD0-A2D0-F220C7995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514" y="4108313"/>
              <a:ext cx="2362200" cy="520700"/>
            </a:xfrm>
            <a:custGeom>
              <a:avLst/>
              <a:gdLst>
                <a:gd name="T0" fmla="*/ 0 w 1488"/>
                <a:gd name="T1" fmla="*/ 336 h 448"/>
                <a:gd name="T2" fmla="*/ 192 w 1488"/>
                <a:gd name="T3" fmla="*/ 432 h 448"/>
                <a:gd name="T4" fmla="*/ 480 w 1488"/>
                <a:gd name="T5" fmla="*/ 432 h 448"/>
                <a:gd name="T6" fmla="*/ 912 w 1488"/>
                <a:gd name="T7" fmla="*/ 336 h 448"/>
                <a:gd name="T8" fmla="*/ 1200 w 1488"/>
                <a:gd name="T9" fmla="*/ 240 h 448"/>
                <a:gd name="T10" fmla="*/ 1392 w 1488"/>
                <a:gd name="T11" fmla="*/ 144 h 448"/>
                <a:gd name="T12" fmla="*/ 1488 w 1488"/>
                <a:gd name="T13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88" h="448">
                  <a:moveTo>
                    <a:pt x="0" y="336"/>
                  </a:moveTo>
                  <a:cubicBezTo>
                    <a:pt x="56" y="376"/>
                    <a:pt x="112" y="416"/>
                    <a:pt x="192" y="432"/>
                  </a:cubicBezTo>
                  <a:cubicBezTo>
                    <a:pt x="272" y="448"/>
                    <a:pt x="360" y="448"/>
                    <a:pt x="480" y="432"/>
                  </a:cubicBezTo>
                  <a:cubicBezTo>
                    <a:pt x="600" y="416"/>
                    <a:pt x="792" y="368"/>
                    <a:pt x="912" y="336"/>
                  </a:cubicBezTo>
                  <a:cubicBezTo>
                    <a:pt x="1032" y="304"/>
                    <a:pt x="1120" y="272"/>
                    <a:pt x="1200" y="240"/>
                  </a:cubicBezTo>
                  <a:cubicBezTo>
                    <a:pt x="1280" y="208"/>
                    <a:pt x="1344" y="184"/>
                    <a:pt x="1392" y="144"/>
                  </a:cubicBezTo>
                  <a:cubicBezTo>
                    <a:pt x="1440" y="104"/>
                    <a:pt x="1472" y="24"/>
                    <a:pt x="1488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D22A4A0-CCDF-45D3-8226-B88B381BE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514" y="4019413"/>
              <a:ext cx="2286000" cy="469900"/>
            </a:xfrm>
            <a:custGeom>
              <a:avLst/>
              <a:gdLst>
                <a:gd name="T0" fmla="*/ 0 w 1440"/>
                <a:gd name="T1" fmla="*/ 384 h 384"/>
                <a:gd name="T2" fmla="*/ 192 w 1440"/>
                <a:gd name="T3" fmla="*/ 240 h 384"/>
                <a:gd name="T4" fmla="*/ 432 w 1440"/>
                <a:gd name="T5" fmla="*/ 144 h 384"/>
                <a:gd name="T6" fmla="*/ 912 w 1440"/>
                <a:gd name="T7" fmla="*/ 48 h 384"/>
                <a:gd name="T8" fmla="*/ 1248 w 1440"/>
                <a:gd name="T9" fmla="*/ 0 h 384"/>
                <a:gd name="T10" fmla="*/ 1440 w 1440"/>
                <a:gd name="T11" fmla="*/ 48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0" h="384">
                  <a:moveTo>
                    <a:pt x="0" y="384"/>
                  </a:moveTo>
                  <a:cubicBezTo>
                    <a:pt x="60" y="332"/>
                    <a:pt x="120" y="280"/>
                    <a:pt x="192" y="240"/>
                  </a:cubicBezTo>
                  <a:cubicBezTo>
                    <a:pt x="264" y="200"/>
                    <a:pt x="312" y="176"/>
                    <a:pt x="432" y="144"/>
                  </a:cubicBezTo>
                  <a:cubicBezTo>
                    <a:pt x="552" y="112"/>
                    <a:pt x="776" y="72"/>
                    <a:pt x="912" y="48"/>
                  </a:cubicBezTo>
                  <a:cubicBezTo>
                    <a:pt x="1048" y="24"/>
                    <a:pt x="1160" y="0"/>
                    <a:pt x="1248" y="0"/>
                  </a:cubicBezTo>
                  <a:cubicBezTo>
                    <a:pt x="1336" y="0"/>
                    <a:pt x="1388" y="24"/>
                    <a:pt x="1440" y="4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9D8CA3C-5322-4D7D-AC47-D84BFB4F3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514" y="3803513"/>
              <a:ext cx="584200" cy="698500"/>
            </a:xfrm>
            <a:custGeom>
              <a:avLst/>
              <a:gdLst>
                <a:gd name="T0" fmla="*/ 336 w 368"/>
                <a:gd name="T1" fmla="*/ 0 h 440"/>
                <a:gd name="T2" fmla="*/ 336 w 368"/>
                <a:gd name="T3" fmla="*/ 192 h 440"/>
                <a:gd name="T4" fmla="*/ 144 w 368"/>
                <a:gd name="T5" fmla="*/ 384 h 440"/>
                <a:gd name="T6" fmla="*/ 48 w 368"/>
                <a:gd name="T7" fmla="*/ 432 h 440"/>
                <a:gd name="T8" fmla="*/ 0 w 368"/>
                <a:gd name="T9" fmla="*/ 432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" h="440">
                  <a:moveTo>
                    <a:pt x="336" y="0"/>
                  </a:moveTo>
                  <a:cubicBezTo>
                    <a:pt x="352" y="64"/>
                    <a:pt x="368" y="128"/>
                    <a:pt x="336" y="192"/>
                  </a:cubicBezTo>
                  <a:cubicBezTo>
                    <a:pt x="304" y="256"/>
                    <a:pt x="192" y="344"/>
                    <a:pt x="144" y="384"/>
                  </a:cubicBezTo>
                  <a:cubicBezTo>
                    <a:pt x="96" y="424"/>
                    <a:pt x="72" y="424"/>
                    <a:pt x="48" y="432"/>
                  </a:cubicBezTo>
                  <a:cubicBezTo>
                    <a:pt x="24" y="440"/>
                    <a:pt x="12" y="436"/>
                    <a:pt x="0" y="43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5834FF2-616E-4177-AB08-20848864D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714" y="3879713"/>
              <a:ext cx="2286000" cy="228600"/>
            </a:xfrm>
            <a:custGeom>
              <a:avLst/>
              <a:gdLst>
                <a:gd name="T0" fmla="*/ 0 w 1440"/>
                <a:gd name="T1" fmla="*/ 96 h 152"/>
                <a:gd name="T2" fmla="*/ 288 w 1440"/>
                <a:gd name="T3" fmla="*/ 144 h 152"/>
                <a:gd name="T4" fmla="*/ 528 w 1440"/>
                <a:gd name="T5" fmla="*/ 144 h 152"/>
                <a:gd name="T6" fmla="*/ 672 w 1440"/>
                <a:gd name="T7" fmla="*/ 144 h 152"/>
                <a:gd name="T8" fmla="*/ 1056 w 1440"/>
                <a:gd name="T9" fmla="*/ 96 h 152"/>
                <a:gd name="T10" fmla="*/ 1296 w 1440"/>
                <a:gd name="T11" fmla="*/ 48 h 152"/>
                <a:gd name="T12" fmla="*/ 1440 w 1440"/>
                <a:gd name="T1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0" h="152">
                  <a:moveTo>
                    <a:pt x="0" y="96"/>
                  </a:moveTo>
                  <a:cubicBezTo>
                    <a:pt x="100" y="116"/>
                    <a:pt x="200" y="136"/>
                    <a:pt x="288" y="144"/>
                  </a:cubicBezTo>
                  <a:cubicBezTo>
                    <a:pt x="376" y="152"/>
                    <a:pt x="464" y="144"/>
                    <a:pt x="528" y="144"/>
                  </a:cubicBezTo>
                  <a:cubicBezTo>
                    <a:pt x="592" y="144"/>
                    <a:pt x="584" y="152"/>
                    <a:pt x="672" y="144"/>
                  </a:cubicBezTo>
                  <a:cubicBezTo>
                    <a:pt x="760" y="136"/>
                    <a:pt x="952" y="112"/>
                    <a:pt x="1056" y="96"/>
                  </a:cubicBezTo>
                  <a:cubicBezTo>
                    <a:pt x="1160" y="80"/>
                    <a:pt x="1232" y="64"/>
                    <a:pt x="1296" y="48"/>
                  </a:cubicBezTo>
                  <a:cubicBezTo>
                    <a:pt x="1360" y="32"/>
                    <a:pt x="1400" y="16"/>
                    <a:pt x="144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51392A1-17DA-4FA0-B042-E6A70C094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37514" y="3879713"/>
              <a:ext cx="5334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5" name="Oval 35">
              <a:extLst>
                <a:ext uri="{FF2B5EF4-FFF2-40B4-BE49-F238E27FC236}">
                  <a16:creationId xmlns:a16="http://schemas.microsoft.com/office/drawing/2014/main" id="{34004A5B-A0F7-422F-94C2-DC16E0018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914" y="45528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6" name="Oval 36">
              <a:extLst>
                <a:ext uri="{FF2B5EF4-FFF2-40B4-BE49-F238E27FC236}">
                  <a16:creationId xmlns:a16="http://schemas.microsoft.com/office/drawing/2014/main" id="{F0DEE0B1-E256-4119-84FA-BB1328FFB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114" y="30288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7" name="Oval 37">
              <a:extLst>
                <a:ext uri="{FF2B5EF4-FFF2-40B4-BE49-F238E27FC236}">
                  <a16:creationId xmlns:a16="http://schemas.microsoft.com/office/drawing/2014/main" id="{3FE09539-F81C-48D5-AEB2-A197D0A79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7114" y="35622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8" name="Oval 38">
              <a:extLst>
                <a:ext uri="{FF2B5EF4-FFF2-40B4-BE49-F238E27FC236}">
                  <a16:creationId xmlns:a16="http://schemas.microsoft.com/office/drawing/2014/main" id="{91DC4478-C309-448D-B0C3-3D1C89FDF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14" y="37908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9" name="Oval 39">
              <a:extLst>
                <a:ext uri="{FF2B5EF4-FFF2-40B4-BE49-F238E27FC236}">
                  <a16:creationId xmlns:a16="http://schemas.microsoft.com/office/drawing/2014/main" id="{9E9D99C0-47B7-4E82-9D8A-67AEE93C5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114" y="51624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0" name="Oval 40">
              <a:extLst>
                <a:ext uri="{FF2B5EF4-FFF2-40B4-BE49-F238E27FC236}">
                  <a16:creationId xmlns:a16="http://schemas.microsoft.com/office/drawing/2014/main" id="{94B8195D-0798-411D-9241-EFB6D7477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3914" y="35622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1" name="Oval 41">
              <a:extLst>
                <a:ext uri="{FF2B5EF4-FFF2-40B4-BE49-F238E27FC236}">
                  <a16:creationId xmlns:a16="http://schemas.microsoft.com/office/drawing/2014/main" id="{1AF483FE-6EF9-472B-AB38-84DC3D8C1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1714" y="4019413"/>
              <a:ext cx="457200" cy="45720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2" name="Oval 42">
              <a:extLst>
                <a:ext uri="{FF2B5EF4-FFF2-40B4-BE49-F238E27FC236}">
                  <a16:creationId xmlns:a16="http://schemas.microsoft.com/office/drawing/2014/main" id="{6511AE61-B102-431D-870E-3867F1B99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114" y="441628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8096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27D9-BD77-446D-81A6-80AE2973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5F8B5-688F-4716-99AA-04308D014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392901" cy="130565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/>
              <a:t>An edge is called a </a:t>
            </a:r>
            <a:r>
              <a:rPr lang="en-US" altLang="en-US" sz="2800" i="1" dirty="0"/>
              <a:t>loop</a:t>
            </a:r>
            <a:r>
              <a:rPr lang="en-US" altLang="en-US" sz="2800" dirty="0"/>
              <a:t> if it connects a vertex to itself.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940860-27E7-47BC-AEA5-5D05B3A0AD13}"/>
              </a:ext>
            </a:extLst>
          </p:cNvPr>
          <p:cNvGrpSpPr/>
          <p:nvPr/>
        </p:nvGrpSpPr>
        <p:grpSpPr>
          <a:xfrm>
            <a:off x="336786" y="2554357"/>
            <a:ext cx="8470427" cy="3585865"/>
            <a:chOff x="3314" y="2571613"/>
            <a:chExt cx="8470427" cy="3585865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6B57D376-9670-4278-82C7-D1B60B83A7F3}"/>
                </a:ext>
              </a:extLst>
            </p:cNvPr>
            <p:cNvGrpSpPr>
              <a:grpSpLocks/>
            </p:cNvGrpSpPr>
            <p:nvPr/>
          </p:nvGrpSpPr>
          <p:grpSpPr bwMode="auto">
            <a:xfrm rot="20054863">
              <a:off x="689114" y="4108313"/>
              <a:ext cx="228600" cy="1219200"/>
              <a:chOff x="576" y="1248"/>
              <a:chExt cx="144" cy="768"/>
            </a:xfrm>
          </p:grpSpPr>
          <p:sp>
            <p:nvSpPr>
              <p:cNvPr id="8" name="Oval 5">
                <a:extLst>
                  <a:ext uri="{FF2B5EF4-FFF2-40B4-BE49-F238E27FC236}">
                    <a16:creationId xmlns:a16="http://schemas.microsoft.com/office/drawing/2014/main" id="{4C91F3B6-D79D-4EA7-9A33-6E76B1CA8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  <p:sp>
            <p:nvSpPr>
              <p:cNvPr id="9" name="Line 6">
                <a:extLst>
                  <a:ext uri="{FF2B5EF4-FFF2-40B4-BE49-F238E27FC236}">
                    <a16:creationId xmlns:a16="http://schemas.microsoft.com/office/drawing/2014/main" id="{00F1EB12-3A8E-4299-85CD-85E54A8DF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10" name="Oval 7">
                <a:extLst>
                  <a:ext uri="{FF2B5EF4-FFF2-40B4-BE49-F238E27FC236}">
                    <a16:creationId xmlns:a16="http://schemas.microsoft.com/office/drawing/2014/main" id="{BDF79023-9FE0-4EDF-9AE2-84857F7FE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/>
              </a:p>
            </p:txBody>
          </p:sp>
        </p:grp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7D8EB89E-19E9-4605-A6D7-546663BEF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5781814" y="3368538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C332172D-4EB1-4524-A783-BFB91E03C3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320065">
              <a:off x="5531784" y="3261383"/>
              <a:ext cx="9525" cy="969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614DCDF2-09AA-4E3B-B473-F105AAD1C8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4967427" y="3932101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4975231D-5186-4E71-9902-E2B21CDD7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114" y="4260713"/>
              <a:ext cx="21336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1FEFF439-4851-4689-9BD8-B346B7221B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3914" y="4565513"/>
              <a:ext cx="17526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649F3285-714D-491A-8A33-9F88318551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961079">
              <a:off x="6032639" y="3074851"/>
              <a:ext cx="12954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4786BFFF-FE7B-445D-8CDC-2BF8B2663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2514" y="3803513"/>
              <a:ext cx="251460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AB1925FE-6758-4000-9E24-DEBEBCE64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5114" y="441311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9973A05E-06D8-477D-B21A-227902FB1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2514" y="4108313"/>
              <a:ext cx="19050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6FD822A7-0AFE-47EF-80EC-63BD969D07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22714" y="4095613"/>
              <a:ext cx="2209800" cy="393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9E464374-5604-4E47-A280-9F0BEA9DEC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640">
              <a:off x="7394714" y="3727314"/>
              <a:ext cx="228600" cy="2571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81D16891-3684-47E9-9DE8-F9E4CA3A4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4" y="3333613"/>
              <a:ext cx="8899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Delhi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E6DE25FD-FEB7-41A6-A2A9-3D747E45B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4115" y="4781413"/>
              <a:ext cx="9412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Surat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C92498D3-A09C-4B1C-9E9B-C280FDEF7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065" y="5695813"/>
              <a:ext cx="1295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Chennai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315A7EEC-7749-4FC1-8E8D-C78E5863C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2314" y="3012938"/>
              <a:ext cx="12314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Kolkata</a:t>
              </a: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EBADDB04-CA82-4704-8AEA-7694C0D3D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3265" y="4400413"/>
              <a:ext cx="16546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Mangalore</a:t>
              </a:r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F04E149E-4D08-416B-A061-416400B4C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115" y="5086213"/>
              <a:ext cx="16658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Hyderabad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E1D29CAD-7F2F-4008-A3A2-24E7B2F08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7315" y="2571613"/>
              <a:ext cx="12666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Mumbai</a:t>
              </a: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FA17F15-B2B4-44E3-997A-3ECEBEFD2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914" y="4641713"/>
              <a:ext cx="1676400" cy="622300"/>
            </a:xfrm>
            <a:custGeom>
              <a:avLst/>
              <a:gdLst>
                <a:gd name="T0" fmla="*/ 0 w 1056"/>
                <a:gd name="T1" fmla="*/ 336 h 392"/>
                <a:gd name="T2" fmla="*/ 144 w 1056"/>
                <a:gd name="T3" fmla="*/ 384 h 392"/>
                <a:gd name="T4" fmla="*/ 336 w 1056"/>
                <a:gd name="T5" fmla="*/ 384 h 392"/>
                <a:gd name="T6" fmla="*/ 528 w 1056"/>
                <a:gd name="T7" fmla="*/ 336 h 392"/>
                <a:gd name="T8" fmla="*/ 720 w 1056"/>
                <a:gd name="T9" fmla="*/ 240 h 392"/>
                <a:gd name="T10" fmla="*/ 960 w 1056"/>
                <a:gd name="T11" fmla="*/ 96 h 392"/>
                <a:gd name="T12" fmla="*/ 1056 w 1056"/>
                <a:gd name="T13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6" h="392">
                  <a:moveTo>
                    <a:pt x="0" y="336"/>
                  </a:moveTo>
                  <a:cubicBezTo>
                    <a:pt x="44" y="356"/>
                    <a:pt x="88" y="376"/>
                    <a:pt x="144" y="384"/>
                  </a:cubicBezTo>
                  <a:cubicBezTo>
                    <a:pt x="200" y="392"/>
                    <a:pt x="272" y="392"/>
                    <a:pt x="336" y="384"/>
                  </a:cubicBezTo>
                  <a:cubicBezTo>
                    <a:pt x="400" y="376"/>
                    <a:pt x="464" y="360"/>
                    <a:pt x="528" y="336"/>
                  </a:cubicBezTo>
                  <a:cubicBezTo>
                    <a:pt x="592" y="312"/>
                    <a:pt x="648" y="280"/>
                    <a:pt x="720" y="240"/>
                  </a:cubicBezTo>
                  <a:cubicBezTo>
                    <a:pt x="792" y="200"/>
                    <a:pt x="904" y="136"/>
                    <a:pt x="960" y="96"/>
                  </a:cubicBezTo>
                  <a:cubicBezTo>
                    <a:pt x="1016" y="56"/>
                    <a:pt x="1040" y="16"/>
                    <a:pt x="1056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D5EC092-6D28-4FD0-A2D0-F220C7995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514" y="4108313"/>
              <a:ext cx="2362200" cy="520700"/>
            </a:xfrm>
            <a:custGeom>
              <a:avLst/>
              <a:gdLst>
                <a:gd name="T0" fmla="*/ 0 w 1488"/>
                <a:gd name="T1" fmla="*/ 336 h 448"/>
                <a:gd name="T2" fmla="*/ 192 w 1488"/>
                <a:gd name="T3" fmla="*/ 432 h 448"/>
                <a:gd name="T4" fmla="*/ 480 w 1488"/>
                <a:gd name="T5" fmla="*/ 432 h 448"/>
                <a:gd name="T6" fmla="*/ 912 w 1488"/>
                <a:gd name="T7" fmla="*/ 336 h 448"/>
                <a:gd name="T8" fmla="*/ 1200 w 1488"/>
                <a:gd name="T9" fmla="*/ 240 h 448"/>
                <a:gd name="T10" fmla="*/ 1392 w 1488"/>
                <a:gd name="T11" fmla="*/ 144 h 448"/>
                <a:gd name="T12" fmla="*/ 1488 w 1488"/>
                <a:gd name="T13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88" h="448">
                  <a:moveTo>
                    <a:pt x="0" y="336"/>
                  </a:moveTo>
                  <a:cubicBezTo>
                    <a:pt x="56" y="376"/>
                    <a:pt x="112" y="416"/>
                    <a:pt x="192" y="432"/>
                  </a:cubicBezTo>
                  <a:cubicBezTo>
                    <a:pt x="272" y="448"/>
                    <a:pt x="360" y="448"/>
                    <a:pt x="480" y="432"/>
                  </a:cubicBezTo>
                  <a:cubicBezTo>
                    <a:pt x="600" y="416"/>
                    <a:pt x="792" y="368"/>
                    <a:pt x="912" y="336"/>
                  </a:cubicBezTo>
                  <a:cubicBezTo>
                    <a:pt x="1032" y="304"/>
                    <a:pt x="1120" y="272"/>
                    <a:pt x="1200" y="240"/>
                  </a:cubicBezTo>
                  <a:cubicBezTo>
                    <a:pt x="1280" y="208"/>
                    <a:pt x="1344" y="184"/>
                    <a:pt x="1392" y="144"/>
                  </a:cubicBezTo>
                  <a:cubicBezTo>
                    <a:pt x="1440" y="104"/>
                    <a:pt x="1472" y="24"/>
                    <a:pt x="1488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D22A4A0-CCDF-45D3-8226-B88B381BE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514" y="4019413"/>
              <a:ext cx="2286000" cy="469900"/>
            </a:xfrm>
            <a:custGeom>
              <a:avLst/>
              <a:gdLst>
                <a:gd name="T0" fmla="*/ 0 w 1440"/>
                <a:gd name="T1" fmla="*/ 384 h 384"/>
                <a:gd name="T2" fmla="*/ 192 w 1440"/>
                <a:gd name="T3" fmla="*/ 240 h 384"/>
                <a:gd name="T4" fmla="*/ 432 w 1440"/>
                <a:gd name="T5" fmla="*/ 144 h 384"/>
                <a:gd name="T6" fmla="*/ 912 w 1440"/>
                <a:gd name="T7" fmla="*/ 48 h 384"/>
                <a:gd name="T8" fmla="*/ 1248 w 1440"/>
                <a:gd name="T9" fmla="*/ 0 h 384"/>
                <a:gd name="T10" fmla="*/ 1440 w 1440"/>
                <a:gd name="T11" fmla="*/ 48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0" h="384">
                  <a:moveTo>
                    <a:pt x="0" y="384"/>
                  </a:moveTo>
                  <a:cubicBezTo>
                    <a:pt x="60" y="332"/>
                    <a:pt x="120" y="280"/>
                    <a:pt x="192" y="240"/>
                  </a:cubicBezTo>
                  <a:cubicBezTo>
                    <a:pt x="264" y="200"/>
                    <a:pt x="312" y="176"/>
                    <a:pt x="432" y="144"/>
                  </a:cubicBezTo>
                  <a:cubicBezTo>
                    <a:pt x="552" y="112"/>
                    <a:pt x="776" y="72"/>
                    <a:pt x="912" y="48"/>
                  </a:cubicBezTo>
                  <a:cubicBezTo>
                    <a:pt x="1048" y="24"/>
                    <a:pt x="1160" y="0"/>
                    <a:pt x="1248" y="0"/>
                  </a:cubicBezTo>
                  <a:cubicBezTo>
                    <a:pt x="1336" y="0"/>
                    <a:pt x="1388" y="24"/>
                    <a:pt x="1440" y="4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9D8CA3C-5322-4D7D-AC47-D84BFB4F3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514" y="3803513"/>
              <a:ext cx="584200" cy="698500"/>
            </a:xfrm>
            <a:custGeom>
              <a:avLst/>
              <a:gdLst>
                <a:gd name="T0" fmla="*/ 336 w 368"/>
                <a:gd name="T1" fmla="*/ 0 h 440"/>
                <a:gd name="T2" fmla="*/ 336 w 368"/>
                <a:gd name="T3" fmla="*/ 192 h 440"/>
                <a:gd name="T4" fmla="*/ 144 w 368"/>
                <a:gd name="T5" fmla="*/ 384 h 440"/>
                <a:gd name="T6" fmla="*/ 48 w 368"/>
                <a:gd name="T7" fmla="*/ 432 h 440"/>
                <a:gd name="T8" fmla="*/ 0 w 368"/>
                <a:gd name="T9" fmla="*/ 432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" h="440">
                  <a:moveTo>
                    <a:pt x="336" y="0"/>
                  </a:moveTo>
                  <a:cubicBezTo>
                    <a:pt x="352" y="64"/>
                    <a:pt x="368" y="128"/>
                    <a:pt x="336" y="192"/>
                  </a:cubicBezTo>
                  <a:cubicBezTo>
                    <a:pt x="304" y="256"/>
                    <a:pt x="192" y="344"/>
                    <a:pt x="144" y="384"/>
                  </a:cubicBezTo>
                  <a:cubicBezTo>
                    <a:pt x="96" y="424"/>
                    <a:pt x="72" y="424"/>
                    <a:pt x="48" y="432"/>
                  </a:cubicBezTo>
                  <a:cubicBezTo>
                    <a:pt x="24" y="440"/>
                    <a:pt x="12" y="436"/>
                    <a:pt x="0" y="43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5834FF2-616E-4177-AB08-20848864D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714" y="3879713"/>
              <a:ext cx="2286000" cy="228600"/>
            </a:xfrm>
            <a:custGeom>
              <a:avLst/>
              <a:gdLst>
                <a:gd name="T0" fmla="*/ 0 w 1440"/>
                <a:gd name="T1" fmla="*/ 96 h 152"/>
                <a:gd name="T2" fmla="*/ 288 w 1440"/>
                <a:gd name="T3" fmla="*/ 144 h 152"/>
                <a:gd name="T4" fmla="*/ 528 w 1440"/>
                <a:gd name="T5" fmla="*/ 144 h 152"/>
                <a:gd name="T6" fmla="*/ 672 w 1440"/>
                <a:gd name="T7" fmla="*/ 144 h 152"/>
                <a:gd name="T8" fmla="*/ 1056 w 1440"/>
                <a:gd name="T9" fmla="*/ 96 h 152"/>
                <a:gd name="T10" fmla="*/ 1296 w 1440"/>
                <a:gd name="T11" fmla="*/ 48 h 152"/>
                <a:gd name="T12" fmla="*/ 1440 w 1440"/>
                <a:gd name="T1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0" h="152">
                  <a:moveTo>
                    <a:pt x="0" y="96"/>
                  </a:moveTo>
                  <a:cubicBezTo>
                    <a:pt x="100" y="116"/>
                    <a:pt x="200" y="136"/>
                    <a:pt x="288" y="144"/>
                  </a:cubicBezTo>
                  <a:cubicBezTo>
                    <a:pt x="376" y="152"/>
                    <a:pt x="464" y="144"/>
                    <a:pt x="528" y="144"/>
                  </a:cubicBezTo>
                  <a:cubicBezTo>
                    <a:pt x="592" y="144"/>
                    <a:pt x="584" y="152"/>
                    <a:pt x="672" y="144"/>
                  </a:cubicBezTo>
                  <a:cubicBezTo>
                    <a:pt x="760" y="136"/>
                    <a:pt x="952" y="112"/>
                    <a:pt x="1056" y="96"/>
                  </a:cubicBezTo>
                  <a:cubicBezTo>
                    <a:pt x="1160" y="80"/>
                    <a:pt x="1232" y="64"/>
                    <a:pt x="1296" y="48"/>
                  </a:cubicBezTo>
                  <a:cubicBezTo>
                    <a:pt x="1360" y="32"/>
                    <a:pt x="1400" y="16"/>
                    <a:pt x="144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51392A1-17DA-4FA0-B042-E6A70C094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37514" y="3879713"/>
              <a:ext cx="5334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5" name="Oval 35">
              <a:extLst>
                <a:ext uri="{FF2B5EF4-FFF2-40B4-BE49-F238E27FC236}">
                  <a16:creationId xmlns:a16="http://schemas.microsoft.com/office/drawing/2014/main" id="{34004A5B-A0F7-422F-94C2-DC16E0018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914" y="45528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6" name="Oval 36">
              <a:extLst>
                <a:ext uri="{FF2B5EF4-FFF2-40B4-BE49-F238E27FC236}">
                  <a16:creationId xmlns:a16="http://schemas.microsoft.com/office/drawing/2014/main" id="{F0DEE0B1-E256-4119-84FA-BB1328FFB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114" y="30288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7" name="Oval 37">
              <a:extLst>
                <a:ext uri="{FF2B5EF4-FFF2-40B4-BE49-F238E27FC236}">
                  <a16:creationId xmlns:a16="http://schemas.microsoft.com/office/drawing/2014/main" id="{3FE09539-F81C-48D5-AEB2-A197D0A79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7114" y="35622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8" name="Oval 38">
              <a:extLst>
                <a:ext uri="{FF2B5EF4-FFF2-40B4-BE49-F238E27FC236}">
                  <a16:creationId xmlns:a16="http://schemas.microsoft.com/office/drawing/2014/main" id="{91DC4478-C309-448D-B0C3-3D1C89FDF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14" y="37908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9" name="Oval 39">
              <a:extLst>
                <a:ext uri="{FF2B5EF4-FFF2-40B4-BE49-F238E27FC236}">
                  <a16:creationId xmlns:a16="http://schemas.microsoft.com/office/drawing/2014/main" id="{9E9D99C0-47B7-4E82-9D8A-67AEE93C5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114" y="51624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0" name="Oval 40">
              <a:extLst>
                <a:ext uri="{FF2B5EF4-FFF2-40B4-BE49-F238E27FC236}">
                  <a16:creationId xmlns:a16="http://schemas.microsoft.com/office/drawing/2014/main" id="{94B8195D-0798-411D-9241-EFB6D7477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3914" y="3562213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1" name="Oval 41">
              <a:extLst>
                <a:ext uri="{FF2B5EF4-FFF2-40B4-BE49-F238E27FC236}">
                  <a16:creationId xmlns:a16="http://schemas.microsoft.com/office/drawing/2014/main" id="{1AF483FE-6EF9-472B-AB38-84DC3D8C1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1714" y="4019413"/>
              <a:ext cx="457200" cy="45720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2" name="Oval 42">
              <a:extLst>
                <a:ext uri="{FF2B5EF4-FFF2-40B4-BE49-F238E27FC236}">
                  <a16:creationId xmlns:a16="http://schemas.microsoft.com/office/drawing/2014/main" id="{6511AE61-B102-431D-870E-3867F1B99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114" y="441628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84359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27D9-BD77-446D-81A6-80AE2973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Undirected Graphs</a:t>
            </a:r>
          </a:p>
        </p:txBody>
      </p:sp>
      <p:sp>
        <p:nvSpPr>
          <p:cNvPr id="43" name="Oval 4">
            <a:extLst>
              <a:ext uri="{FF2B5EF4-FFF2-40B4-BE49-F238E27FC236}">
                <a16:creationId xmlns:a16="http://schemas.microsoft.com/office/drawing/2014/main" id="{C7976E86-0EFB-41B4-B3F0-29DC2D9F0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88" y="1878496"/>
            <a:ext cx="8001000" cy="35814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2400" dirty="0"/>
          </a:p>
        </p:txBody>
      </p:sp>
      <p:sp>
        <p:nvSpPr>
          <p:cNvPr id="44" name="Oval 6">
            <a:extLst>
              <a:ext uri="{FF2B5EF4-FFF2-40B4-BE49-F238E27FC236}">
                <a16:creationId xmlns:a16="http://schemas.microsoft.com/office/drawing/2014/main" id="{B4678276-3E0F-4B63-81FF-43A546464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7088" y="2335696"/>
            <a:ext cx="5105400" cy="2667000"/>
          </a:xfrm>
          <a:prstGeom prst="ellipse">
            <a:avLst/>
          </a:prstGeom>
          <a:solidFill>
            <a:srgbClr val="00B6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45" name="Oval 7">
            <a:extLst>
              <a:ext uri="{FF2B5EF4-FFF2-40B4-BE49-F238E27FC236}">
                <a16:creationId xmlns:a16="http://schemas.microsoft.com/office/drawing/2014/main" id="{B255F2F6-3D64-42D5-B7F5-3A32E2E1B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77828" y="3097696"/>
            <a:ext cx="2819400" cy="1143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46" name="Text Box 8">
            <a:extLst>
              <a:ext uri="{FF2B5EF4-FFF2-40B4-BE49-F238E27FC236}">
                <a16:creationId xmlns:a16="http://schemas.microsoft.com/office/drawing/2014/main" id="{1ED4E442-3AFF-49D1-968C-4E4373682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266" y="3429000"/>
            <a:ext cx="2143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/>
              <a:t>pseudographs</a:t>
            </a:r>
          </a:p>
        </p:txBody>
      </p:sp>
      <p:sp>
        <p:nvSpPr>
          <p:cNvPr id="47" name="Text Box 9">
            <a:extLst>
              <a:ext uri="{FF2B5EF4-FFF2-40B4-BE49-F238E27FC236}">
                <a16:creationId xmlns:a16="http://schemas.microsoft.com/office/drawing/2014/main" id="{A4F60AA8-351D-4447-B5ED-F29911EDB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788" y="3428800"/>
            <a:ext cx="21499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simple graphs</a:t>
            </a:r>
          </a:p>
        </p:txBody>
      </p:sp>
      <p:sp>
        <p:nvSpPr>
          <p:cNvPr id="48" name="Text Box 10">
            <a:extLst>
              <a:ext uri="{FF2B5EF4-FFF2-40B4-BE49-F238E27FC236}">
                <a16:creationId xmlns:a16="http://schemas.microsoft.com/office/drawing/2014/main" id="{28841012-C972-49AF-91D5-AE48A05DC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3968" y="3429000"/>
            <a:ext cx="1846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</a:rPr>
              <a:t>multigraphs</a:t>
            </a:r>
          </a:p>
        </p:txBody>
      </p:sp>
    </p:spTree>
    <p:extLst>
      <p:ext uri="{BB962C8B-B14F-4D97-AF65-F5344CB8AC3E}">
        <p14:creationId xmlns:p14="http://schemas.microsoft.com/office/powerpoint/2010/main" val="212830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7DDF-3FA0-4FFD-A716-005B095F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Directed Graph - </a:t>
            </a:r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E397C-0DFD-48E8-9C4B-D8CF29BFF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directed graph G = (V, E) the edges are ordered pairs of (not necessarily distinct) vertices.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0529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7DDF-3FA0-4FFD-A716-005B095F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Directed Graph - </a:t>
            </a:r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E397C-0DFD-48E8-9C4B-D8CF29BFF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28" y="1099437"/>
            <a:ext cx="8504904" cy="279652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Some telephone lines in the network may operate in only one direction.</a:t>
            </a:r>
          </a:p>
          <a:p>
            <a:pPr marL="0" indent="0">
              <a:buNone/>
            </a:pPr>
            <a:r>
              <a:rPr lang="en-US" dirty="0"/>
              <a:t>Those that operate in two directions are represented.</a:t>
            </a:r>
          </a:p>
          <a:p>
            <a:pPr marL="0" indent="0">
              <a:buNone/>
            </a:pPr>
            <a:r>
              <a:rPr lang="en-US" dirty="0"/>
              <a:t>By pairs of edges in opposite directions.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F413C7-D2BC-460A-8C34-9AA5D08BB3DA}"/>
              </a:ext>
            </a:extLst>
          </p:cNvPr>
          <p:cNvGrpSpPr/>
          <p:nvPr/>
        </p:nvGrpSpPr>
        <p:grpSpPr>
          <a:xfrm>
            <a:off x="372428" y="3827783"/>
            <a:ext cx="8546627" cy="2854927"/>
            <a:chOff x="232259" y="3846444"/>
            <a:chExt cx="8546627" cy="2854927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0A8CCC53-E354-4D3B-854F-CBC60B5B68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54863">
              <a:off x="702159" y="5113269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5" name="Oval 7">
              <a:extLst>
                <a:ext uri="{FF2B5EF4-FFF2-40B4-BE49-F238E27FC236}">
                  <a16:creationId xmlns:a16="http://schemas.microsoft.com/office/drawing/2014/main" id="{EF1E9286-AA0B-4B66-938C-92B59CB5D8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54863">
              <a:off x="1132371" y="6007032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85203886-DFB2-49EF-8B31-9F6A33E94D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6010759" y="4325869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6A99A415-7D15-4762-A9AE-9A4D3671E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4059" y="537044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8" name="Oval 19">
              <a:extLst>
                <a:ext uri="{FF2B5EF4-FFF2-40B4-BE49-F238E27FC236}">
                  <a16:creationId xmlns:a16="http://schemas.microsoft.com/office/drawing/2014/main" id="{048B4C53-3F1E-4CF7-8B55-4783AF119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640">
              <a:off x="7623659" y="4684645"/>
              <a:ext cx="228600" cy="2571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F33B082A-2F26-4790-A567-1CAACE3E6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259" y="4656069"/>
              <a:ext cx="8899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Delhi</a:t>
              </a:r>
            </a:p>
          </p:txBody>
        </p:sp>
        <p:sp>
          <p:nvSpPr>
            <p:cNvPr id="10" name="Text Box 22">
              <a:extLst>
                <a:ext uri="{FF2B5EF4-FFF2-40B4-BE49-F238E27FC236}">
                  <a16:creationId xmlns:a16="http://schemas.microsoft.com/office/drawing/2014/main" id="{B6C1530C-495F-437F-9FCD-10013450E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5460" y="5722869"/>
              <a:ext cx="9412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Surat</a:t>
              </a:r>
            </a:p>
          </p:txBody>
        </p:sp>
        <p:sp>
          <p:nvSpPr>
            <p:cNvPr id="11" name="Text Box 23">
              <a:extLst>
                <a:ext uri="{FF2B5EF4-FFF2-40B4-BE49-F238E27FC236}">
                  <a16:creationId xmlns:a16="http://schemas.microsoft.com/office/drawing/2014/main" id="{A0A8D7CD-6AEF-4D8B-96CA-345A6718F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660" y="6239706"/>
              <a:ext cx="1295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Chennai</a:t>
              </a:r>
            </a:p>
          </p:txBody>
        </p:sp>
        <p:sp>
          <p:nvSpPr>
            <p:cNvPr id="12" name="Text Box 24">
              <a:extLst>
                <a:ext uri="{FF2B5EF4-FFF2-40B4-BE49-F238E27FC236}">
                  <a16:creationId xmlns:a16="http://schemas.microsoft.com/office/drawing/2014/main" id="{D8C9EAF8-05FE-4851-A43C-C23EC674F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7459" y="4151244"/>
              <a:ext cx="12314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Kolkata</a:t>
              </a:r>
            </a:p>
          </p:txBody>
        </p:sp>
        <p:sp>
          <p:nvSpPr>
            <p:cNvPr id="13" name="Text Box 25">
              <a:extLst>
                <a:ext uri="{FF2B5EF4-FFF2-40B4-BE49-F238E27FC236}">
                  <a16:creationId xmlns:a16="http://schemas.microsoft.com/office/drawing/2014/main" id="{996F3293-624D-40BF-B7B8-F4E8712EB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690" y="4410327"/>
              <a:ext cx="16546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Mangalore</a:t>
              </a:r>
            </a:p>
          </p:txBody>
        </p:sp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id="{BC9C4349-6E59-43F2-8FC8-6E4B88C20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460" y="5735569"/>
              <a:ext cx="16658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Hyderabad</a:t>
              </a:r>
            </a:p>
          </p:txBody>
        </p:sp>
        <p:sp>
          <p:nvSpPr>
            <p:cNvPr id="15" name="Text Box 27">
              <a:extLst>
                <a:ext uri="{FF2B5EF4-FFF2-40B4-BE49-F238E27FC236}">
                  <a16:creationId xmlns:a16="http://schemas.microsoft.com/office/drawing/2014/main" id="{11832F2A-10CB-4410-8387-2B0665ED7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8660" y="3846444"/>
              <a:ext cx="12666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Mumbai</a:t>
              </a:r>
            </a:p>
          </p:txBody>
        </p:sp>
        <p:grpSp>
          <p:nvGrpSpPr>
            <p:cNvPr id="16" name="Group 40">
              <a:extLst>
                <a:ext uri="{FF2B5EF4-FFF2-40B4-BE49-F238E27FC236}">
                  <a16:creationId xmlns:a16="http://schemas.microsoft.com/office/drawing/2014/main" id="{3CF149FC-A8E1-47EA-965F-6E6BCA6DBE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8059" y="5218044"/>
              <a:ext cx="1981200" cy="292100"/>
              <a:chOff x="576" y="2744"/>
              <a:chExt cx="1248" cy="184"/>
            </a:xfrm>
          </p:grpSpPr>
          <p:sp>
            <p:nvSpPr>
              <p:cNvPr id="17" name="Line 12">
                <a:extLst>
                  <a:ext uri="{FF2B5EF4-FFF2-40B4-BE49-F238E27FC236}">
                    <a16:creationId xmlns:a16="http://schemas.microsoft.com/office/drawing/2014/main" id="{AEFA9A3D-D02B-46A0-A769-43A1E6BFFD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18" name="Line 36">
                <a:extLst>
                  <a:ext uri="{FF2B5EF4-FFF2-40B4-BE49-F238E27FC236}">
                    <a16:creationId xmlns:a16="http://schemas.microsoft.com/office/drawing/2014/main" id="{5195DC55-0D0A-4E1F-84D7-E47C02507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19" name="Group 39">
              <a:extLst>
                <a:ext uri="{FF2B5EF4-FFF2-40B4-BE49-F238E27FC236}">
                  <a16:creationId xmlns:a16="http://schemas.microsoft.com/office/drawing/2014/main" id="{66B38BBB-6E8D-41E0-8B7D-0F6A5A60086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7166459" y="4824344"/>
              <a:ext cx="609600" cy="609600"/>
              <a:chOff x="672" y="2840"/>
              <a:chExt cx="1248" cy="184"/>
            </a:xfrm>
          </p:grpSpPr>
          <p:sp>
            <p:nvSpPr>
              <p:cNvPr id="20" name="Line 37">
                <a:extLst>
                  <a:ext uri="{FF2B5EF4-FFF2-40B4-BE49-F238E27FC236}">
                    <a16:creationId xmlns:a16="http://schemas.microsoft.com/office/drawing/2014/main" id="{0B70FCFF-3FB1-40EA-88DA-A741D3B80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840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21" name="Line 38">
                <a:extLst>
                  <a:ext uri="{FF2B5EF4-FFF2-40B4-BE49-F238E27FC236}">
                    <a16:creationId xmlns:a16="http://schemas.microsoft.com/office/drawing/2014/main" id="{6931B0B0-FF17-4F0C-82F9-892B83B5B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928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22" name="Group 41">
              <a:extLst>
                <a:ext uri="{FF2B5EF4-FFF2-40B4-BE49-F238E27FC236}">
                  <a16:creationId xmlns:a16="http://schemas.microsoft.com/office/drawing/2014/main" id="{287B3D89-CECF-4DED-852C-F5816E87600E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5337659" y="4748144"/>
              <a:ext cx="2362200" cy="228600"/>
              <a:chOff x="576" y="2744"/>
              <a:chExt cx="1248" cy="184"/>
            </a:xfrm>
          </p:grpSpPr>
          <p:sp>
            <p:nvSpPr>
              <p:cNvPr id="23" name="Line 42">
                <a:extLst>
                  <a:ext uri="{FF2B5EF4-FFF2-40B4-BE49-F238E27FC236}">
                    <a16:creationId xmlns:a16="http://schemas.microsoft.com/office/drawing/2014/main" id="{98C78C14-90A4-4213-A782-E9913AF01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24" name="Line 43">
                <a:extLst>
                  <a:ext uri="{FF2B5EF4-FFF2-40B4-BE49-F238E27FC236}">
                    <a16:creationId xmlns:a16="http://schemas.microsoft.com/office/drawing/2014/main" id="{09265744-479A-42E5-B495-55529CD71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25" name="Group 44">
              <a:extLst>
                <a:ext uri="{FF2B5EF4-FFF2-40B4-BE49-F238E27FC236}">
                  <a16:creationId xmlns:a16="http://schemas.microsoft.com/office/drawing/2014/main" id="{7DF13C9C-5C41-4932-836C-F7A5F5BED623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299060" y="5522844"/>
              <a:ext cx="1646237" cy="596900"/>
              <a:chOff x="576" y="2744"/>
              <a:chExt cx="1248" cy="184"/>
            </a:xfrm>
          </p:grpSpPr>
          <p:sp>
            <p:nvSpPr>
              <p:cNvPr id="26" name="Line 45">
                <a:extLst>
                  <a:ext uri="{FF2B5EF4-FFF2-40B4-BE49-F238E27FC236}">
                    <a16:creationId xmlns:a16="http://schemas.microsoft.com/office/drawing/2014/main" id="{8ED8C058-FA0D-4736-A37F-70CC5C322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27" name="Line 46">
                <a:extLst>
                  <a:ext uri="{FF2B5EF4-FFF2-40B4-BE49-F238E27FC236}">
                    <a16:creationId xmlns:a16="http://schemas.microsoft.com/office/drawing/2014/main" id="{EC83BB45-D7EB-4C90-AE6D-AF92D9B4BB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sp>
          <p:nvSpPr>
            <p:cNvPr id="28" name="Line 51">
              <a:extLst>
                <a:ext uri="{FF2B5EF4-FFF2-40B4-BE49-F238E27FC236}">
                  <a16:creationId xmlns:a16="http://schemas.microsoft.com/office/drawing/2014/main" id="{FBCB3750-52CB-4A30-A191-BFA5F907C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5659" y="5205344"/>
              <a:ext cx="2286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9" name="Line 52">
              <a:extLst>
                <a:ext uri="{FF2B5EF4-FFF2-40B4-BE49-F238E27FC236}">
                  <a16:creationId xmlns:a16="http://schemas.microsoft.com/office/drawing/2014/main" id="{82AEA8DD-A414-43C6-9B8A-1FE527FE1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8059" y="5510144"/>
              <a:ext cx="3048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grpSp>
          <p:nvGrpSpPr>
            <p:cNvPr id="30" name="Group 58">
              <a:extLst>
                <a:ext uri="{FF2B5EF4-FFF2-40B4-BE49-F238E27FC236}">
                  <a16:creationId xmlns:a16="http://schemas.microsoft.com/office/drawing/2014/main" id="{1FA2C4AB-0514-42FA-8559-074C8DA489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059" y="5510144"/>
              <a:ext cx="1752600" cy="711200"/>
              <a:chOff x="816" y="2928"/>
              <a:chExt cx="1104" cy="448"/>
            </a:xfrm>
          </p:grpSpPr>
          <p:sp>
            <p:nvSpPr>
              <p:cNvPr id="31" name="Freeform 53">
                <a:extLst>
                  <a:ext uri="{FF2B5EF4-FFF2-40B4-BE49-F238E27FC236}">
                    <a16:creationId xmlns:a16="http://schemas.microsoft.com/office/drawing/2014/main" id="{DFEF8155-8532-470D-A2CE-BBFB289B4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928"/>
                <a:ext cx="576" cy="336"/>
              </a:xfrm>
              <a:custGeom>
                <a:avLst/>
                <a:gdLst>
                  <a:gd name="T0" fmla="*/ 576 w 576"/>
                  <a:gd name="T1" fmla="*/ 0 h 336"/>
                  <a:gd name="T2" fmla="*/ 192 w 576"/>
                  <a:gd name="T3" fmla="*/ 240 h 336"/>
                  <a:gd name="T4" fmla="*/ 0 w 576"/>
                  <a:gd name="T5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336">
                    <a:moveTo>
                      <a:pt x="576" y="0"/>
                    </a:moveTo>
                    <a:cubicBezTo>
                      <a:pt x="432" y="92"/>
                      <a:pt x="288" y="184"/>
                      <a:pt x="192" y="240"/>
                    </a:cubicBezTo>
                    <a:cubicBezTo>
                      <a:pt x="96" y="296"/>
                      <a:pt x="32" y="320"/>
                      <a:pt x="0" y="33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32" name="Freeform 57">
                <a:extLst>
                  <a:ext uri="{FF2B5EF4-FFF2-40B4-BE49-F238E27FC236}">
                    <a16:creationId xmlns:a16="http://schemas.microsoft.com/office/drawing/2014/main" id="{0A698BEC-76CB-4FB4-992A-57434395C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264"/>
                <a:ext cx="528" cy="112"/>
              </a:xfrm>
              <a:custGeom>
                <a:avLst/>
                <a:gdLst>
                  <a:gd name="T0" fmla="*/ 528 w 528"/>
                  <a:gd name="T1" fmla="*/ 0 h 112"/>
                  <a:gd name="T2" fmla="*/ 192 w 528"/>
                  <a:gd name="T3" fmla="*/ 96 h 112"/>
                  <a:gd name="T4" fmla="*/ 0 w 528"/>
                  <a:gd name="T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" h="112">
                    <a:moveTo>
                      <a:pt x="528" y="0"/>
                    </a:moveTo>
                    <a:cubicBezTo>
                      <a:pt x="404" y="40"/>
                      <a:pt x="280" y="80"/>
                      <a:pt x="192" y="96"/>
                    </a:cubicBezTo>
                    <a:cubicBezTo>
                      <a:pt x="104" y="112"/>
                      <a:pt x="32" y="96"/>
                      <a:pt x="0" y="9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33" name="Group 59">
              <a:extLst>
                <a:ext uri="{FF2B5EF4-FFF2-40B4-BE49-F238E27FC236}">
                  <a16:creationId xmlns:a16="http://schemas.microsoft.com/office/drawing/2014/main" id="{8D716EC7-829D-466E-B232-12DEAF710FFB}"/>
                </a:ext>
              </a:extLst>
            </p:cNvPr>
            <p:cNvGrpSpPr>
              <a:grpSpLocks/>
            </p:cNvGrpSpPr>
            <p:nvPr/>
          </p:nvGrpSpPr>
          <p:grpSpPr bwMode="auto">
            <a:xfrm rot="727094">
              <a:off x="3127859" y="4824344"/>
              <a:ext cx="2133600" cy="939800"/>
              <a:chOff x="816" y="2928"/>
              <a:chExt cx="1104" cy="448"/>
            </a:xfrm>
          </p:grpSpPr>
          <p:sp>
            <p:nvSpPr>
              <p:cNvPr id="34" name="Freeform 60">
                <a:extLst>
                  <a:ext uri="{FF2B5EF4-FFF2-40B4-BE49-F238E27FC236}">
                    <a16:creationId xmlns:a16="http://schemas.microsoft.com/office/drawing/2014/main" id="{6F69862C-5AF4-4933-B8D2-7F832E99B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928"/>
                <a:ext cx="576" cy="336"/>
              </a:xfrm>
              <a:custGeom>
                <a:avLst/>
                <a:gdLst>
                  <a:gd name="T0" fmla="*/ 576 w 576"/>
                  <a:gd name="T1" fmla="*/ 0 h 336"/>
                  <a:gd name="T2" fmla="*/ 192 w 576"/>
                  <a:gd name="T3" fmla="*/ 240 h 336"/>
                  <a:gd name="T4" fmla="*/ 0 w 576"/>
                  <a:gd name="T5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336">
                    <a:moveTo>
                      <a:pt x="576" y="0"/>
                    </a:moveTo>
                    <a:cubicBezTo>
                      <a:pt x="432" y="92"/>
                      <a:pt x="288" y="184"/>
                      <a:pt x="192" y="240"/>
                    </a:cubicBezTo>
                    <a:cubicBezTo>
                      <a:pt x="96" y="296"/>
                      <a:pt x="32" y="320"/>
                      <a:pt x="0" y="336"/>
                    </a:cubicBez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35" name="Freeform 61">
                <a:extLst>
                  <a:ext uri="{FF2B5EF4-FFF2-40B4-BE49-F238E27FC236}">
                    <a16:creationId xmlns:a16="http://schemas.microsoft.com/office/drawing/2014/main" id="{4D10114C-5141-4A1F-9B17-CE063A610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264"/>
                <a:ext cx="528" cy="112"/>
              </a:xfrm>
              <a:custGeom>
                <a:avLst/>
                <a:gdLst>
                  <a:gd name="T0" fmla="*/ 528 w 528"/>
                  <a:gd name="T1" fmla="*/ 0 h 112"/>
                  <a:gd name="T2" fmla="*/ 192 w 528"/>
                  <a:gd name="T3" fmla="*/ 96 h 112"/>
                  <a:gd name="T4" fmla="*/ 0 w 528"/>
                  <a:gd name="T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" h="112">
                    <a:moveTo>
                      <a:pt x="528" y="0"/>
                    </a:moveTo>
                    <a:cubicBezTo>
                      <a:pt x="404" y="40"/>
                      <a:pt x="280" y="80"/>
                      <a:pt x="192" y="96"/>
                    </a:cubicBezTo>
                    <a:cubicBezTo>
                      <a:pt x="104" y="112"/>
                      <a:pt x="32" y="96"/>
                      <a:pt x="0" y="96"/>
                    </a:cubicBez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sp>
          <p:nvSpPr>
            <p:cNvPr id="36" name="Line 69">
              <a:extLst>
                <a:ext uri="{FF2B5EF4-FFF2-40B4-BE49-F238E27FC236}">
                  <a16:creationId xmlns:a16="http://schemas.microsoft.com/office/drawing/2014/main" id="{8DF16B7D-B96B-4520-B46E-EEF3DB370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7659" y="4721158"/>
              <a:ext cx="450850" cy="255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37" name="Line 70">
              <a:extLst>
                <a:ext uri="{FF2B5EF4-FFF2-40B4-BE49-F238E27FC236}">
                  <a16:creationId xmlns:a16="http://schemas.microsoft.com/office/drawing/2014/main" id="{F5ECFB3A-2F27-4B78-B70F-48A4B9A393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6759" y="4443345"/>
              <a:ext cx="419100" cy="277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grpSp>
          <p:nvGrpSpPr>
            <p:cNvPr id="38" name="Group 71">
              <a:extLst>
                <a:ext uri="{FF2B5EF4-FFF2-40B4-BE49-F238E27FC236}">
                  <a16:creationId xmlns:a16="http://schemas.microsoft.com/office/drawing/2014/main" id="{0F28293B-CC28-4BCA-952D-471C02702D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9659" y="4379844"/>
              <a:ext cx="1676400" cy="368300"/>
              <a:chOff x="576" y="2744"/>
              <a:chExt cx="1248" cy="184"/>
            </a:xfrm>
          </p:grpSpPr>
          <p:sp>
            <p:nvSpPr>
              <p:cNvPr id="39" name="Line 72">
                <a:extLst>
                  <a:ext uri="{FF2B5EF4-FFF2-40B4-BE49-F238E27FC236}">
                    <a16:creationId xmlns:a16="http://schemas.microsoft.com/office/drawing/2014/main" id="{D10DF628-E350-4D66-A88E-5D3320BCE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40" name="Line 73">
                <a:extLst>
                  <a:ext uri="{FF2B5EF4-FFF2-40B4-BE49-F238E27FC236}">
                    <a16:creationId xmlns:a16="http://schemas.microsoft.com/office/drawing/2014/main" id="{2526CBD3-6F56-4F11-B2CA-69F28007D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41" name="Group 74">
              <a:extLst>
                <a:ext uri="{FF2B5EF4-FFF2-40B4-BE49-F238E27FC236}">
                  <a16:creationId xmlns:a16="http://schemas.microsoft.com/office/drawing/2014/main" id="{2826B9D5-6808-43D7-90C0-B7AF197AAF3C}"/>
                </a:ext>
              </a:extLst>
            </p:cNvPr>
            <p:cNvGrpSpPr>
              <a:grpSpLocks/>
            </p:cNvGrpSpPr>
            <p:nvPr/>
          </p:nvGrpSpPr>
          <p:grpSpPr bwMode="auto">
            <a:xfrm rot="70023" flipV="1">
              <a:off x="5334485" y="5052944"/>
              <a:ext cx="1830387" cy="457200"/>
              <a:chOff x="816" y="2928"/>
              <a:chExt cx="1104" cy="448"/>
            </a:xfrm>
          </p:grpSpPr>
          <p:sp>
            <p:nvSpPr>
              <p:cNvPr id="42" name="Freeform 75">
                <a:extLst>
                  <a:ext uri="{FF2B5EF4-FFF2-40B4-BE49-F238E27FC236}">
                    <a16:creationId xmlns:a16="http://schemas.microsoft.com/office/drawing/2014/main" id="{7346A45C-4B6B-44DA-924E-0320C6E0B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928"/>
                <a:ext cx="576" cy="336"/>
              </a:xfrm>
              <a:custGeom>
                <a:avLst/>
                <a:gdLst>
                  <a:gd name="T0" fmla="*/ 576 w 576"/>
                  <a:gd name="T1" fmla="*/ 0 h 336"/>
                  <a:gd name="T2" fmla="*/ 192 w 576"/>
                  <a:gd name="T3" fmla="*/ 240 h 336"/>
                  <a:gd name="T4" fmla="*/ 0 w 576"/>
                  <a:gd name="T5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336">
                    <a:moveTo>
                      <a:pt x="576" y="0"/>
                    </a:moveTo>
                    <a:cubicBezTo>
                      <a:pt x="432" y="92"/>
                      <a:pt x="288" y="184"/>
                      <a:pt x="192" y="240"/>
                    </a:cubicBezTo>
                    <a:cubicBezTo>
                      <a:pt x="96" y="296"/>
                      <a:pt x="32" y="320"/>
                      <a:pt x="0" y="33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43" name="Freeform 76">
                <a:extLst>
                  <a:ext uri="{FF2B5EF4-FFF2-40B4-BE49-F238E27FC236}">
                    <a16:creationId xmlns:a16="http://schemas.microsoft.com/office/drawing/2014/main" id="{CCE9945D-7BE1-42E8-9C9D-E4F2C2392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264"/>
                <a:ext cx="528" cy="112"/>
              </a:xfrm>
              <a:custGeom>
                <a:avLst/>
                <a:gdLst>
                  <a:gd name="T0" fmla="*/ 528 w 528"/>
                  <a:gd name="T1" fmla="*/ 0 h 112"/>
                  <a:gd name="T2" fmla="*/ 192 w 528"/>
                  <a:gd name="T3" fmla="*/ 96 h 112"/>
                  <a:gd name="T4" fmla="*/ 0 w 528"/>
                  <a:gd name="T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" h="112">
                    <a:moveTo>
                      <a:pt x="528" y="0"/>
                    </a:moveTo>
                    <a:cubicBezTo>
                      <a:pt x="404" y="40"/>
                      <a:pt x="280" y="80"/>
                      <a:pt x="192" y="96"/>
                    </a:cubicBezTo>
                    <a:cubicBezTo>
                      <a:pt x="104" y="112"/>
                      <a:pt x="32" y="96"/>
                      <a:pt x="0" y="9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sp>
          <p:nvSpPr>
            <p:cNvPr id="44" name="Freeform 81">
              <a:extLst>
                <a:ext uri="{FF2B5EF4-FFF2-40B4-BE49-F238E27FC236}">
                  <a16:creationId xmlns:a16="http://schemas.microsoft.com/office/drawing/2014/main" id="{D7EE347A-4941-4806-8B53-18BF92A8DBD6}"/>
                </a:ext>
              </a:extLst>
            </p:cNvPr>
            <p:cNvSpPr>
              <a:spLocks/>
            </p:cNvSpPr>
            <p:nvPr/>
          </p:nvSpPr>
          <p:spPr bwMode="auto">
            <a:xfrm rot="3231724">
              <a:off x="6118709" y="5075169"/>
              <a:ext cx="755650" cy="800100"/>
            </a:xfrm>
            <a:custGeom>
              <a:avLst/>
              <a:gdLst>
                <a:gd name="T0" fmla="*/ 576 w 576"/>
                <a:gd name="T1" fmla="*/ 0 h 336"/>
                <a:gd name="T2" fmla="*/ 192 w 576"/>
                <a:gd name="T3" fmla="*/ 240 h 336"/>
                <a:gd name="T4" fmla="*/ 0 w 576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336">
                  <a:moveTo>
                    <a:pt x="576" y="0"/>
                  </a:moveTo>
                  <a:cubicBezTo>
                    <a:pt x="432" y="92"/>
                    <a:pt x="288" y="184"/>
                    <a:pt x="192" y="240"/>
                  </a:cubicBezTo>
                  <a:cubicBezTo>
                    <a:pt x="96" y="296"/>
                    <a:pt x="32" y="320"/>
                    <a:pt x="0" y="336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5" name="Freeform 82">
              <a:extLst>
                <a:ext uri="{FF2B5EF4-FFF2-40B4-BE49-F238E27FC236}">
                  <a16:creationId xmlns:a16="http://schemas.microsoft.com/office/drawing/2014/main" id="{2DF23BCC-A1B6-4B5C-9EA4-F07F605C5D68}"/>
                </a:ext>
              </a:extLst>
            </p:cNvPr>
            <p:cNvSpPr>
              <a:spLocks/>
            </p:cNvSpPr>
            <p:nvPr/>
          </p:nvSpPr>
          <p:spPr bwMode="auto">
            <a:xfrm rot="3231724">
              <a:off x="5293209" y="5071994"/>
              <a:ext cx="692150" cy="266700"/>
            </a:xfrm>
            <a:custGeom>
              <a:avLst/>
              <a:gdLst>
                <a:gd name="T0" fmla="*/ 528 w 528"/>
                <a:gd name="T1" fmla="*/ 0 h 112"/>
                <a:gd name="T2" fmla="*/ 192 w 528"/>
                <a:gd name="T3" fmla="*/ 96 h 112"/>
                <a:gd name="T4" fmla="*/ 0 w 528"/>
                <a:gd name="T5" fmla="*/ 9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112">
                  <a:moveTo>
                    <a:pt x="528" y="0"/>
                  </a:moveTo>
                  <a:cubicBezTo>
                    <a:pt x="404" y="40"/>
                    <a:pt x="280" y="80"/>
                    <a:pt x="192" y="96"/>
                  </a:cubicBezTo>
                  <a:cubicBezTo>
                    <a:pt x="104" y="112"/>
                    <a:pt x="32" y="96"/>
                    <a:pt x="0" y="96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6" name="Freeform 88">
              <a:extLst>
                <a:ext uri="{FF2B5EF4-FFF2-40B4-BE49-F238E27FC236}">
                  <a16:creationId xmlns:a16="http://schemas.microsoft.com/office/drawing/2014/main" id="{1B1C88D4-CDCC-472E-B65C-0EA2C6949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6259" y="4367144"/>
              <a:ext cx="533400" cy="228600"/>
            </a:xfrm>
            <a:custGeom>
              <a:avLst/>
              <a:gdLst>
                <a:gd name="T0" fmla="*/ 336 w 336"/>
                <a:gd name="T1" fmla="*/ 0 h 144"/>
                <a:gd name="T2" fmla="*/ 0 w 336"/>
                <a:gd name="T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6" h="144">
                  <a:moveTo>
                    <a:pt x="336" y="0"/>
                  </a:moveTo>
                  <a:cubicBezTo>
                    <a:pt x="196" y="60"/>
                    <a:pt x="56" y="120"/>
                    <a:pt x="0" y="14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7" name="Freeform 90">
              <a:extLst>
                <a:ext uri="{FF2B5EF4-FFF2-40B4-BE49-F238E27FC236}">
                  <a16:creationId xmlns:a16="http://schemas.microsoft.com/office/drawing/2014/main" id="{2BE45707-CCB0-4E3E-8263-8E175F7D8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1459" y="4595744"/>
              <a:ext cx="304800" cy="457200"/>
            </a:xfrm>
            <a:custGeom>
              <a:avLst/>
              <a:gdLst>
                <a:gd name="T0" fmla="*/ 192 w 192"/>
                <a:gd name="T1" fmla="*/ 0 h 240"/>
                <a:gd name="T2" fmla="*/ 48 w 192"/>
                <a:gd name="T3" fmla="*/ 96 h 240"/>
                <a:gd name="T4" fmla="*/ 0 w 192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240">
                  <a:moveTo>
                    <a:pt x="192" y="0"/>
                  </a:moveTo>
                  <a:cubicBezTo>
                    <a:pt x="136" y="28"/>
                    <a:pt x="80" y="56"/>
                    <a:pt x="48" y="96"/>
                  </a:cubicBezTo>
                  <a:cubicBezTo>
                    <a:pt x="16" y="136"/>
                    <a:pt x="8" y="216"/>
                    <a:pt x="0" y="24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8" name="Oval 92">
              <a:extLst>
                <a:ext uri="{FF2B5EF4-FFF2-40B4-BE49-F238E27FC236}">
                  <a16:creationId xmlns:a16="http://schemas.microsoft.com/office/drawing/2014/main" id="{75B7FFE1-DFD6-4E06-8382-D1D462F82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696" y="4973569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9" name="Line 98">
              <a:extLst>
                <a:ext uri="{FF2B5EF4-FFF2-40B4-BE49-F238E27FC236}">
                  <a16:creationId xmlns:a16="http://schemas.microsoft.com/office/drawing/2014/main" id="{F1D7D1BA-E7CD-4E5A-BAE0-E6A5FB98EB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2983396" y="4875144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grpSp>
          <p:nvGrpSpPr>
            <p:cNvPr id="50" name="Group 83">
              <a:extLst>
                <a:ext uri="{FF2B5EF4-FFF2-40B4-BE49-F238E27FC236}">
                  <a16:creationId xmlns:a16="http://schemas.microsoft.com/office/drawing/2014/main" id="{E768E89D-7E88-42F4-8064-9380CF562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5296" y="5129144"/>
              <a:ext cx="2281238" cy="241300"/>
              <a:chOff x="1790" y="2431"/>
              <a:chExt cx="1514" cy="160"/>
            </a:xfrm>
          </p:grpSpPr>
          <p:sp>
            <p:nvSpPr>
              <p:cNvPr id="51" name="Freeform 66">
                <a:extLst>
                  <a:ext uri="{FF2B5EF4-FFF2-40B4-BE49-F238E27FC236}">
                    <a16:creationId xmlns:a16="http://schemas.microsoft.com/office/drawing/2014/main" id="{E931A7EA-4426-41CB-BDE0-C3AC34A9970B}"/>
                  </a:ext>
                </a:extLst>
              </p:cNvPr>
              <p:cNvSpPr>
                <a:spLocks/>
              </p:cNvSpPr>
              <p:nvPr/>
            </p:nvSpPr>
            <p:spPr bwMode="auto">
              <a:xfrm rot="20872906" flipV="1">
                <a:off x="2508" y="2431"/>
                <a:ext cx="796" cy="35"/>
              </a:xfrm>
              <a:custGeom>
                <a:avLst/>
                <a:gdLst>
                  <a:gd name="T0" fmla="*/ 576 w 576"/>
                  <a:gd name="T1" fmla="*/ 0 h 336"/>
                  <a:gd name="T2" fmla="*/ 192 w 576"/>
                  <a:gd name="T3" fmla="*/ 240 h 336"/>
                  <a:gd name="T4" fmla="*/ 0 w 576"/>
                  <a:gd name="T5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336">
                    <a:moveTo>
                      <a:pt x="576" y="0"/>
                    </a:moveTo>
                    <a:cubicBezTo>
                      <a:pt x="432" y="92"/>
                      <a:pt x="288" y="184"/>
                      <a:pt x="192" y="240"/>
                    </a:cubicBezTo>
                    <a:cubicBezTo>
                      <a:pt x="96" y="296"/>
                      <a:pt x="32" y="320"/>
                      <a:pt x="0" y="336"/>
                    </a:cubicBez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52" name="Freeform 67">
                <a:extLst>
                  <a:ext uri="{FF2B5EF4-FFF2-40B4-BE49-F238E27FC236}">
                    <a16:creationId xmlns:a16="http://schemas.microsoft.com/office/drawing/2014/main" id="{83671CF0-A83D-4A4B-B1CA-DA47A77B33CB}"/>
                  </a:ext>
                </a:extLst>
              </p:cNvPr>
              <p:cNvSpPr>
                <a:spLocks/>
              </p:cNvSpPr>
              <p:nvPr/>
            </p:nvSpPr>
            <p:spPr bwMode="auto">
              <a:xfrm rot="20872906" flipV="1">
                <a:off x="1790" y="2579"/>
                <a:ext cx="730" cy="12"/>
              </a:xfrm>
              <a:custGeom>
                <a:avLst/>
                <a:gdLst>
                  <a:gd name="T0" fmla="*/ 528 w 528"/>
                  <a:gd name="T1" fmla="*/ 0 h 112"/>
                  <a:gd name="T2" fmla="*/ 192 w 528"/>
                  <a:gd name="T3" fmla="*/ 96 h 112"/>
                  <a:gd name="T4" fmla="*/ 0 w 528"/>
                  <a:gd name="T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" h="112">
                    <a:moveTo>
                      <a:pt x="528" y="0"/>
                    </a:moveTo>
                    <a:cubicBezTo>
                      <a:pt x="404" y="40"/>
                      <a:pt x="280" y="80"/>
                      <a:pt x="192" y="96"/>
                    </a:cubicBezTo>
                    <a:cubicBezTo>
                      <a:pt x="104" y="112"/>
                      <a:pt x="32" y="96"/>
                      <a:pt x="0" y="96"/>
                    </a:cubicBez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 type="triangle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sp>
          <p:nvSpPr>
            <p:cNvPr id="53" name="Oval 91">
              <a:extLst>
                <a:ext uri="{FF2B5EF4-FFF2-40B4-BE49-F238E27FC236}">
                  <a16:creationId xmlns:a16="http://schemas.microsoft.com/office/drawing/2014/main" id="{4B1A1CB7-1946-4D80-912C-FADC48760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096" y="537044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54" name="Oval 11">
              <a:extLst>
                <a:ext uri="{FF2B5EF4-FFF2-40B4-BE49-F238E27FC236}">
                  <a16:creationId xmlns:a16="http://schemas.microsoft.com/office/drawing/2014/main" id="{0AA23CF5-FDFA-424F-8BEB-D936FCB9AF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5155096" y="4889432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932098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012D-B0A3-4B01-A99D-EE693D60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Directed Multigraph - </a:t>
            </a:r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AF875-2635-42D9-80D2-37CCB697F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directed multigraph G = (V, E) the edges are ordered pairs of (not necessarily distinct) vertices, and in addition there may be multiple edges.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8516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012D-B0A3-4B01-A99D-EE693D60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Directed Multigraph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AF875-2635-42D9-80D2-37CCB697F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19616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may be several one-way lines in the same direction from one computer to another in the network. </a:t>
            </a:r>
            <a:endParaRPr lang="en-I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AA185E-3627-4C5D-BD4D-0DB6DC1F6D1C}"/>
              </a:ext>
            </a:extLst>
          </p:cNvPr>
          <p:cNvGrpSpPr/>
          <p:nvPr/>
        </p:nvGrpSpPr>
        <p:grpSpPr>
          <a:xfrm>
            <a:off x="298686" y="3071801"/>
            <a:ext cx="8546627" cy="3023890"/>
            <a:chOff x="351525" y="3081132"/>
            <a:chExt cx="8546627" cy="3023890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18D1FB1A-8F49-4E17-A383-BFD3393951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6130025" y="3560557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AFD2F3A3-0B09-4E4B-AE04-F6C59E17C6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320065">
              <a:off x="5315637" y="4124120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E7E6F9FF-1802-4C4B-9F3D-2D6BA21D0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3325" y="460513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762B79CB-AB54-4F93-B325-78DEE15804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640">
              <a:off x="7742925" y="3919333"/>
              <a:ext cx="228600" cy="2571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A7D6E3AE-83D1-4114-B413-6E90EEEF92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487360" flipH="1">
              <a:off x="2942326" y="4605132"/>
              <a:ext cx="293687" cy="2619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69D8EEF3-B16E-48D0-A316-2C7EEADF3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25" y="3890757"/>
              <a:ext cx="8899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Delhi</a:t>
              </a: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BE23A533-E8EB-443B-AA23-D9CB68466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4726" y="4957557"/>
              <a:ext cx="9412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Surat</a:t>
              </a: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CD49C530-1286-47CE-AA30-5840C1B6E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926" y="5643357"/>
              <a:ext cx="12955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Chennai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A10E2467-EBCE-4046-85F3-34FF91821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6725" y="3385932"/>
              <a:ext cx="123142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Kolkata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764650A4-6871-4420-964F-4F920715C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8516" y="3590848"/>
              <a:ext cx="16546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Mangalore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F14AB0BE-7004-46DC-A4CB-CE8C3CD3A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3726" y="4970257"/>
              <a:ext cx="16658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Hyderabad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57164914-5C22-4B61-A734-A821B038D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7926" y="3081132"/>
              <a:ext cx="126669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Mumbai</a:t>
              </a:r>
            </a:p>
          </p:txBody>
        </p:sp>
        <p:grpSp>
          <p:nvGrpSpPr>
            <p:cNvPr id="16" name="Group 18">
              <a:extLst>
                <a:ext uri="{FF2B5EF4-FFF2-40B4-BE49-F238E27FC236}">
                  <a16:creationId xmlns:a16="http://schemas.microsoft.com/office/drawing/2014/main" id="{60207A97-0999-4E3B-B5FB-E3CC2264B5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7325" y="4452732"/>
              <a:ext cx="1981200" cy="292100"/>
              <a:chOff x="576" y="2744"/>
              <a:chExt cx="1248" cy="184"/>
            </a:xfrm>
          </p:grpSpPr>
          <p:sp>
            <p:nvSpPr>
              <p:cNvPr id="17" name="Line 19">
                <a:extLst>
                  <a:ext uri="{FF2B5EF4-FFF2-40B4-BE49-F238E27FC236}">
                    <a16:creationId xmlns:a16="http://schemas.microsoft.com/office/drawing/2014/main" id="{742147DB-2FA3-4A83-AF8F-ED41C561B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18" name="Line 20">
                <a:extLst>
                  <a:ext uri="{FF2B5EF4-FFF2-40B4-BE49-F238E27FC236}">
                    <a16:creationId xmlns:a16="http://schemas.microsoft.com/office/drawing/2014/main" id="{35437F92-EA16-4C2D-B6F3-63F0781189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19" name="Group 21">
              <a:extLst>
                <a:ext uri="{FF2B5EF4-FFF2-40B4-BE49-F238E27FC236}">
                  <a16:creationId xmlns:a16="http://schemas.microsoft.com/office/drawing/2014/main" id="{FBA4A223-BAE8-40EB-969C-2908A6EB4FE7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7285725" y="4059032"/>
              <a:ext cx="609600" cy="609600"/>
              <a:chOff x="672" y="2840"/>
              <a:chExt cx="1248" cy="184"/>
            </a:xfrm>
          </p:grpSpPr>
          <p:sp>
            <p:nvSpPr>
              <p:cNvPr id="20" name="Line 22">
                <a:extLst>
                  <a:ext uri="{FF2B5EF4-FFF2-40B4-BE49-F238E27FC236}">
                    <a16:creationId xmlns:a16="http://schemas.microsoft.com/office/drawing/2014/main" id="{0F59E5FF-1D38-426A-8006-26C8C5F167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840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21" name="Line 23">
                <a:extLst>
                  <a:ext uri="{FF2B5EF4-FFF2-40B4-BE49-F238E27FC236}">
                    <a16:creationId xmlns:a16="http://schemas.microsoft.com/office/drawing/2014/main" id="{5A495431-D6B3-4ECC-9D85-018BD02F0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928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22" name="Group 24">
              <a:extLst>
                <a:ext uri="{FF2B5EF4-FFF2-40B4-BE49-F238E27FC236}">
                  <a16:creationId xmlns:a16="http://schemas.microsoft.com/office/drawing/2014/main" id="{BBAF1699-55BC-4E0F-A480-23B4EBD373E8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5456925" y="3982832"/>
              <a:ext cx="2362200" cy="228600"/>
              <a:chOff x="576" y="2744"/>
              <a:chExt cx="1248" cy="184"/>
            </a:xfrm>
          </p:grpSpPr>
          <p:sp>
            <p:nvSpPr>
              <p:cNvPr id="23" name="Line 25">
                <a:extLst>
                  <a:ext uri="{FF2B5EF4-FFF2-40B4-BE49-F238E27FC236}">
                    <a16:creationId xmlns:a16="http://schemas.microsoft.com/office/drawing/2014/main" id="{6C9DDDC0-B23F-41A4-98D0-96CF8D72E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24" name="Line 26">
                <a:extLst>
                  <a:ext uri="{FF2B5EF4-FFF2-40B4-BE49-F238E27FC236}">
                    <a16:creationId xmlns:a16="http://schemas.microsoft.com/office/drawing/2014/main" id="{F11EA60C-9452-4AC9-A793-DD2062986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25" name="Group 27">
              <a:extLst>
                <a:ext uri="{FF2B5EF4-FFF2-40B4-BE49-F238E27FC236}">
                  <a16:creationId xmlns:a16="http://schemas.microsoft.com/office/drawing/2014/main" id="{89071E27-A1E8-4CE4-9681-70CB735F43AB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418325" y="4821032"/>
              <a:ext cx="1600200" cy="533400"/>
              <a:chOff x="576" y="2744"/>
              <a:chExt cx="1248" cy="184"/>
            </a:xfrm>
          </p:grpSpPr>
          <p:sp>
            <p:nvSpPr>
              <p:cNvPr id="26" name="Line 28">
                <a:extLst>
                  <a:ext uri="{FF2B5EF4-FFF2-40B4-BE49-F238E27FC236}">
                    <a16:creationId xmlns:a16="http://schemas.microsoft.com/office/drawing/2014/main" id="{04D84002-C47D-4B5E-BEF5-F533D8AB1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27" name="Line 29">
                <a:extLst>
                  <a:ext uri="{FF2B5EF4-FFF2-40B4-BE49-F238E27FC236}">
                    <a16:creationId xmlns:a16="http://schemas.microsoft.com/office/drawing/2014/main" id="{FA9FE18F-76D4-4130-A2F5-7449DF702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D7E0479A-55D4-4B0C-AEE9-66DF6BBEC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925" y="4440032"/>
              <a:ext cx="228600" cy="4572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0A3D19D1-9766-4F0A-9494-540C2BCCD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7325" y="4744832"/>
              <a:ext cx="304800" cy="6096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grpSp>
          <p:nvGrpSpPr>
            <p:cNvPr id="30" name="Group 32">
              <a:extLst>
                <a:ext uri="{FF2B5EF4-FFF2-40B4-BE49-F238E27FC236}">
                  <a16:creationId xmlns:a16="http://schemas.microsoft.com/office/drawing/2014/main" id="{0E79309A-69E7-4E12-BF8A-E9F49D6523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8325" y="4744832"/>
              <a:ext cx="1752600" cy="711200"/>
              <a:chOff x="816" y="2928"/>
              <a:chExt cx="1104" cy="448"/>
            </a:xfrm>
          </p:grpSpPr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414BC783-216C-452E-B39E-3BE5D5BD1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928"/>
                <a:ext cx="576" cy="336"/>
              </a:xfrm>
              <a:custGeom>
                <a:avLst/>
                <a:gdLst>
                  <a:gd name="T0" fmla="*/ 576 w 576"/>
                  <a:gd name="T1" fmla="*/ 0 h 336"/>
                  <a:gd name="T2" fmla="*/ 192 w 576"/>
                  <a:gd name="T3" fmla="*/ 240 h 336"/>
                  <a:gd name="T4" fmla="*/ 0 w 576"/>
                  <a:gd name="T5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336">
                    <a:moveTo>
                      <a:pt x="576" y="0"/>
                    </a:moveTo>
                    <a:cubicBezTo>
                      <a:pt x="432" y="92"/>
                      <a:pt x="288" y="184"/>
                      <a:pt x="192" y="240"/>
                    </a:cubicBezTo>
                    <a:cubicBezTo>
                      <a:pt x="96" y="296"/>
                      <a:pt x="32" y="320"/>
                      <a:pt x="0" y="33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B7AE8B14-84BA-4111-A49F-139D99531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264"/>
                <a:ext cx="528" cy="112"/>
              </a:xfrm>
              <a:custGeom>
                <a:avLst/>
                <a:gdLst>
                  <a:gd name="T0" fmla="*/ 528 w 528"/>
                  <a:gd name="T1" fmla="*/ 0 h 112"/>
                  <a:gd name="T2" fmla="*/ 192 w 528"/>
                  <a:gd name="T3" fmla="*/ 96 h 112"/>
                  <a:gd name="T4" fmla="*/ 0 w 528"/>
                  <a:gd name="T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" h="112">
                    <a:moveTo>
                      <a:pt x="528" y="0"/>
                    </a:moveTo>
                    <a:cubicBezTo>
                      <a:pt x="404" y="40"/>
                      <a:pt x="280" y="80"/>
                      <a:pt x="192" y="96"/>
                    </a:cubicBezTo>
                    <a:cubicBezTo>
                      <a:pt x="104" y="112"/>
                      <a:pt x="32" y="96"/>
                      <a:pt x="0" y="9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33" name="Group 35">
              <a:extLst>
                <a:ext uri="{FF2B5EF4-FFF2-40B4-BE49-F238E27FC236}">
                  <a16:creationId xmlns:a16="http://schemas.microsoft.com/office/drawing/2014/main" id="{0BB137BE-755D-4028-9560-00117F617021}"/>
                </a:ext>
              </a:extLst>
            </p:cNvPr>
            <p:cNvGrpSpPr>
              <a:grpSpLocks/>
            </p:cNvGrpSpPr>
            <p:nvPr/>
          </p:nvGrpSpPr>
          <p:grpSpPr bwMode="auto">
            <a:xfrm rot="727094">
              <a:off x="3247125" y="4059032"/>
              <a:ext cx="2133600" cy="939800"/>
              <a:chOff x="816" y="2928"/>
              <a:chExt cx="1104" cy="448"/>
            </a:xfrm>
          </p:grpSpPr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107D2FD6-2952-4734-965E-BF5D73C8A0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928"/>
                <a:ext cx="576" cy="336"/>
              </a:xfrm>
              <a:custGeom>
                <a:avLst/>
                <a:gdLst>
                  <a:gd name="T0" fmla="*/ 576 w 576"/>
                  <a:gd name="T1" fmla="*/ 0 h 336"/>
                  <a:gd name="T2" fmla="*/ 192 w 576"/>
                  <a:gd name="T3" fmla="*/ 240 h 336"/>
                  <a:gd name="T4" fmla="*/ 0 w 576"/>
                  <a:gd name="T5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336">
                    <a:moveTo>
                      <a:pt x="576" y="0"/>
                    </a:moveTo>
                    <a:cubicBezTo>
                      <a:pt x="432" y="92"/>
                      <a:pt x="288" y="184"/>
                      <a:pt x="192" y="240"/>
                    </a:cubicBezTo>
                    <a:cubicBezTo>
                      <a:pt x="96" y="296"/>
                      <a:pt x="32" y="320"/>
                      <a:pt x="0" y="33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35" name="Freeform 37">
                <a:extLst>
                  <a:ext uri="{FF2B5EF4-FFF2-40B4-BE49-F238E27FC236}">
                    <a16:creationId xmlns:a16="http://schemas.microsoft.com/office/drawing/2014/main" id="{3962754D-C266-4BB5-B3AD-88AC7AD3D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264"/>
                <a:ext cx="528" cy="112"/>
              </a:xfrm>
              <a:custGeom>
                <a:avLst/>
                <a:gdLst>
                  <a:gd name="T0" fmla="*/ 528 w 528"/>
                  <a:gd name="T1" fmla="*/ 0 h 112"/>
                  <a:gd name="T2" fmla="*/ 192 w 528"/>
                  <a:gd name="T3" fmla="*/ 96 h 112"/>
                  <a:gd name="T4" fmla="*/ 0 w 528"/>
                  <a:gd name="T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" h="112">
                    <a:moveTo>
                      <a:pt x="528" y="0"/>
                    </a:moveTo>
                    <a:cubicBezTo>
                      <a:pt x="404" y="40"/>
                      <a:pt x="280" y="80"/>
                      <a:pt x="192" y="96"/>
                    </a:cubicBezTo>
                    <a:cubicBezTo>
                      <a:pt x="104" y="112"/>
                      <a:pt x="32" y="96"/>
                      <a:pt x="0" y="9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36" name="Group 38">
              <a:extLst>
                <a:ext uri="{FF2B5EF4-FFF2-40B4-BE49-F238E27FC236}">
                  <a16:creationId xmlns:a16="http://schemas.microsoft.com/office/drawing/2014/main" id="{31CE57EF-06E7-43F4-8839-FD7D34AF0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2326" y="4363832"/>
              <a:ext cx="2403475" cy="254000"/>
              <a:chOff x="1790" y="2431"/>
              <a:chExt cx="1514" cy="160"/>
            </a:xfrm>
          </p:grpSpPr>
          <p:sp>
            <p:nvSpPr>
              <p:cNvPr id="37" name="Freeform 39">
                <a:extLst>
                  <a:ext uri="{FF2B5EF4-FFF2-40B4-BE49-F238E27FC236}">
                    <a16:creationId xmlns:a16="http://schemas.microsoft.com/office/drawing/2014/main" id="{922C30B3-2483-4002-BE25-5FBCCA42BBCC}"/>
                  </a:ext>
                </a:extLst>
              </p:cNvPr>
              <p:cNvSpPr>
                <a:spLocks/>
              </p:cNvSpPr>
              <p:nvPr/>
            </p:nvSpPr>
            <p:spPr bwMode="auto">
              <a:xfrm rot="20872906" flipV="1">
                <a:off x="2508" y="2431"/>
                <a:ext cx="796" cy="35"/>
              </a:xfrm>
              <a:custGeom>
                <a:avLst/>
                <a:gdLst>
                  <a:gd name="T0" fmla="*/ 576 w 576"/>
                  <a:gd name="T1" fmla="*/ 0 h 336"/>
                  <a:gd name="T2" fmla="*/ 192 w 576"/>
                  <a:gd name="T3" fmla="*/ 240 h 336"/>
                  <a:gd name="T4" fmla="*/ 0 w 576"/>
                  <a:gd name="T5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336">
                    <a:moveTo>
                      <a:pt x="576" y="0"/>
                    </a:moveTo>
                    <a:cubicBezTo>
                      <a:pt x="432" y="92"/>
                      <a:pt x="288" y="184"/>
                      <a:pt x="192" y="240"/>
                    </a:cubicBezTo>
                    <a:cubicBezTo>
                      <a:pt x="96" y="296"/>
                      <a:pt x="32" y="320"/>
                      <a:pt x="0" y="33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38" name="Freeform 40">
                <a:extLst>
                  <a:ext uri="{FF2B5EF4-FFF2-40B4-BE49-F238E27FC236}">
                    <a16:creationId xmlns:a16="http://schemas.microsoft.com/office/drawing/2014/main" id="{54372091-60CC-4D47-A5A6-F10AFDE22C4D}"/>
                  </a:ext>
                </a:extLst>
              </p:cNvPr>
              <p:cNvSpPr>
                <a:spLocks/>
              </p:cNvSpPr>
              <p:nvPr/>
            </p:nvSpPr>
            <p:spPr bwMode="auto">
              <a:xfrm rot="20872906" flipV="1">
                <a:off x="1790" y="2579"/>
                <a:ext cx="730" cy="12"/>
              </a:xfrm>
              <a:custGeom>
                <a:avLst/>
                <a:gdLst>
                  <a:gd name="T0" fmla="*/ 528 w 528"/>
                  <a:gd name="T1" fmla="*/ 0 h 112"/>
                  <a:gd name="T2" fmla="*/ 192 w 528"/>
                  <a:gd name="T3" fmla="*/ 96 h 112"/>
                  <a:gd name="T4" fmla="*/ 0 w 528"/>
                  <a:gd name="T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" h="112">
                    <a:moveTo>
                      <a:pt x="528" y="0"/>
                    </a:moveTo>
                    <a:cubicBezTo>
                      <a:pt x="404" y="40"/>
                      <a:pt x="280" y="80"/>
                      <a:pt x="192" y="96"/>
                    </a:cubicBezTo>
                    <a:cubicBezTo>
                      <a:pt x="104" y="112"/>
                      <a:pt x="32" y="96"/>
                      <a:pt x="0" y="9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39" name="Group 41">
              <a:extLst>
                <a:ext uri="{FF2B5EF4-FFF2-40B4-BE49-F238E27FC236}">
                  <a16:creationId xmlns:a16="http://schemas.microsoft.com/office/drawing/2014/main" id="{4A71B264-5D4E-43F1-BC4B-68EC1B822EE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5456925" y="3678032"/>
              <a:ext cx="838200" cy="533400"/>
              <a:chOff x="576" y="2744"/>
              <a:chExt cx="1248" cy="184"/>
            </a:xfrm>
          </p:grpSpPr>
          <p:sp>
            <p:nvSpPr>
              <p:cNvPr id="40" name="Line 42">
                <a:extLst>
                  <a:ext uri="{FF2B5EF4-FFF2-40B4-BE49-F238E27FC236}">
                    <a16:creationId xmlns:a16="http://schemas.microsoft.com/office/drawing/2014/main" id="{00E94E26-E01C-4340-A755-6119E4E9E7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41" name="Line 43">
                <a:extLst>
                  <a:ext uri="{FF2B5EF4-FFF2-40B4-BE49-F238E27FC236}">
                    <a16:creationId xmlns:a16="http://schemas.microsoft.com/office/drawing/2014/main" id="{4A2B315D-F1BB-456B-8F1D-1F00CD266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42" name="Group 44">
              <a:extLst>
                <a:ext uri="{FF2B5EF4-FFF2-40B4-BE49-F238E27FC236}">
                  <a16:creationId xmlns:a16="http://schemas.microsoft.com/office/drawing/2014/main" id="{1A64BB15-AE2C-4C54-A1B3-203E758B44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8925" y="3614532"/>
              <a:ext cx="1676400" cy="368300"/>
              <a:chOff x="576" y="2744"/>
              <a:chExt cx="1248" cy="184"/>
            </a:xfrm>
          </p:grpSpPr>
          <p:sp>
            <p:nvSpPr>
              <p:cNvPr id="43" name="Line 45">
                <a:extLst>
                  <a:ext uri="{FF2B5EF4-FFF2-40B4-BE49-F238E27FC236}">
                    <a16:creationId xmlns:a16="http://schemas.microsoft.com/office/drawing/2014/main" id="{7515D425-D115-4C60-B249-D74D06291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744"/>
                <a:ext cx="672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44" name="Line 46">
                <a:extLst>
                  <a:ext uri="{FF2B5EF4-FFF2-40B4-BE49-F238E27FC236}">
                    <a16:creationId xmlns:a16="http://schemas.microsoft.com/office/drawing/2014/main" id="{6A25A3DD-8E3A-41C8-96E6-173DE76831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624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grpSp>
          <p:nvGrpSpPr>
            <p:cNvPr id="45" name="Group 47">
              <a:extLst>
                <a:ext uri="{FF2B5EF4-FFF2-40B4-BE49-F238E27FC236}">
                  <a16:creationId xmlns:a16="http://schemas.microsoft.com/office/drawing/2014/main" id="{9EF81B27-5FB1-4D3E-9F0B-00D928AA809A}"/>
                </a:ext>
              </a:extLst>
            </p:cNvPr>
            <p:cNvGrpSpPr>
              <a:grpSpLocks/>
            </p:cNvGrpSpPr>
            <p:nvPr/>
          </p:nvGrpSpPr>
          <p:grpSpPr bwMode="auto">
            <a:xfrm rot="70023" flipV="1">
              <a:off x="5453751" y="4287632"/>
              <a:ext cx="1830387" cy="457200"/>
              <a:chOff x="816" y="2928"/>
              <a:chExt cx="1104" cy="448"/>
            </a:xfrm>
          </p:grpSpPr>
          <p:sp>
            <p:nvSpPr>
              <p:cNvPr id="46" name="Freeform 48">
                <a:extLst>
                  <a:ext uri="{FF2B5EF4-FFF2-40B4-BE49-F238E27FC236}">
                    <a16:creationId xmlns:a16="http://schemas.microsoft.com/office/drawing/2014/main" id="{5C08928E-EAF2-4DFF-A8E3-F60FA8C9F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928"/>
                <a:ext cx="576" cy="336"/>
              </a:xfrm>
              <a:custGeom>
                <a:avLst/>
                <a:gdLst>
                  <a:gd name="T0" fmla="*/ 576 w 576"/>
                  <a:gd name="T1" fmla="*/ 0 h 336"/>
                  <a:gd name="T2" fmla="*/ 192 w 576"/>
                  <a:gd name="T3" fmla="*/ 240 h 336"/>
                  <a:gd name="T4" fmla="*/ 0 w 576"/>
                  <a:gd name="T5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336">
                    <a:moveTo>
                      <a:pt x="576" y="0"/>
                    </a:moveTo>
                    <a:cubicBezTo>
                      <a:pt x="432" y="92"/>
                      <a:pt x="288" y="184"/>
                      <a:pt x="192" y="240"/>
                    </a:cubicBezTo>
                    <a:cubicBezTo>
                      <a:pt x="96" y="296"/>
                      <a:pt x="32" y="320"/>
                      <a:pt x="0" y="33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  <p:sp>
            <p:nvSpPr>
              <p:cNvPr id="47" name="Freeform 49">
                <a:extLst>
                  <a:ext uri="{FF2B5EF4-FFF2-40B4-BE49-F238E27FC236}">
                    <a16:creationId xmlns:a16="http://schemas.microsoft.com/office/drawing/2014/main" id="{F7C75594-90C1-4D5D-9436-F53FE688CB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264"/>
                <a:ext cx="528" cy="112"/>
              </a:xfrm>
              <a:custGeom>
                <a:avLst/>
                <a:gdLst>
                  <a:gd name="T0" fmla="*/ 528 w 528"/>
                  <a:gd name="T1" fmla="*/ 0 h 112"/>
                  <a:gd name="T2" fmla="*/ 192 w 528"/>
                  <a:gd name="T3" fmla="*/ 96 h 112"/>
                  <a:gd name="T4" fmla="*/ 0 w 528"/>
                  <a:gd name="T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" h="112">
                    <a:moveTo>
                      <a:pt x="528" y="0"/>
                    </a:moveTo>
                    <a:cubicBezTo>
                      <a:pt x="404" y="40"/>
                      <a:pt x="280" y="80"/>
                      <a:pt x="192" y="96"/>
                    </a:cubicBezTo>
                    <a:cubicBezTo>
                      <a:pt x="104" y="112"/>
                      <a:pt x="32" y="96"/>
                      <a:pt x="0" y="9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400"/>
              </a:p>
            </p:txBody>
          </p:sp>
        </p:grpSp>
        <p:sp>
          <p:nvSpPr>
            <p:cNvPr id="48" name="Freeform 50">
              <a:extLst>
                <a:ext uri="{FF2B5EF4-FFF2-40B4-BE49-F238E27FC236}">
                  <a16:creationId xmlns:a16="http://schemas.microsoft.com/office/drawing/2014/main" id="{571F4239-D5B3-4F5C-87F6-464643D08B6F}"/>
                </a:ext>
              </a:extLst>
            </p:cNvPr>
            <p:cNvSpPr>
              <a:spLocks/>
            </p:cNvSpPr>
            <p:nvPr/>
          </p:nvSpPr>
          <p:spPr bwMode="auto">
            <a:xfrm rot="3231724">
              <a:off x="6237975" y="4309857"/>
              <a:ext cx="755650" cy="800100"/>
            </a:xfrm>
            <a:custGeom>
              <a:avLst/>
              <a:gdLst>
                <a:gd name="T0" fmla="*/ 576 w 576"/>
                <a:gd name="T1" fmla="*/ 0 h 336"/>
                <a:gd name="T2" fmla="*/ 192 w 576"/>
                <a:gd name="T3" fmla="*/ 240 h 336"/>
                <a:gd name="T4" fmla="*/ 0 w 576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336">
                  <a:moveTo>
                    <a:pt x="576" y="0"/>
                  </a:moveTo>
                  <a:cubicBezTo>
                    <a:pt x="432" y="92"/>
                    <a:pt x="288" y="184"/>
                    <a:pt x="192" y="240"/>
                  </a:cubicBezTo>
                  <a:cubicBezTo>
                    <a:pt x="96" y="296"/>
                    <a:pt x="32" y="320"/>
                    <a:pt x="0" y="336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49" name="Freeform 51">
              <a:extLst>
                <a:ext uri="{FF2B5EF4-FFF2-40B4-BE49-F238E27FC236}">
                  <a16:creationId xmlns:a16="http://schemas.microsoft.com/office/drawing/2014/main" id="{D702D2C6-6740-4C49-A533-C920103AEF41}"/>
                </a:ext>
              </a:extLst>
            </p:cNvPr>
            <p:cNvSpPr>
              <a:spLocks/>
            </p:cNvSpPr>
            <p:nvPr/>
          </p:nvSpPr>
          <p:spPr bwMode="auto">
            <a:xfrm rot="3231724">
              <a:off x="5412475" y="4306682"/>
              <a:ext cx="692150" cy="266700"/>
            </a:xfrm>
            <a:custGeom>
              <a:avLst/>
              <a:gdLst>
                <a:gd name="T0" fmla="*/ 528 w 528"/>
                <a:gd name="T1" fmla="*/ 0 h 112"/>
                <a:gd name="T2" fmla="*/ 192 w 528"/>
                <a:gd name="T3" fmla="*/ 96 h 112"/>
                <a:gd name="T4" fmla="*/ 0 w 528"/>
                <a:gd name="T5" fmla="*/ 9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112">
                  <a:moveTo>
                    <a:pt x="528" y="0"/>
                  </a:moveTo>
                  <a:cubicBezTo>
                    <a:pt x="404" y="40"/>
                    <a:pt x="280" y="80"/>
                    <a:pt x="192" y="96"/>
                  </a:cubicBezTo>
                  <a:cubicBezTo>
                    <a:pt x="104" y="112"/>
                    <a:pt x="32" y="96"/>
                    <a:pt x="0" y="96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50" name="Freeform 52">
              <a:extLst>
                <a:ext uri="{FF2B5EF4-FFF2-40B4-BE49-F238E27FC236}">
                  <a16:creationId xmlns:a16="http://schemas.microsoft.com/office/drawing/2014/main" id="{0A86B21E-F0B9-4281-B553-6408EE8C5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5525" y="3601832"/>
              <a:ext cx="533400" cy="228600"/>
            </a:xfrm>
            <a:custGeom>
              <a:avLst/>
              <a:gdLst>
                <a:gd name="T0" fmla="*/ 336 w 336"/>
                <a:gd name="T1" fmla="*/ 0 h 144"/>
                <a:gd name="T2" fmla="*/ 0 w 336"/>
                <a:gd name="T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6" h="144">
                  <a:moveTo>
                    <a:pt x="336" y="0"/>
                  </a:moveTo>
                  <a:cubicBezTo>
                    <a:pt x="196" y="60"/>
                    <a:pt x="56" y="120"/>
                    <a:pt x="0" y="14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51" name="Freeform 53">
              <a:extLst>
                <a:ext uri="{FF2B5EF4-FFF2-40B4-BE49-F238E27FC236}">
                  <a16:creationId xmlns:a16="http://schemas.microsoft.com/office/drawing/2014/main" id="{D567A53D-85C5-4AB1-9683-B18F09FBC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0725" y="3830432"/>
              <a:ext cx="304800" cy="457200"/>
            </a:xfrm>
            <a:custGeom>
              <a:avLst/>
              <a:gdLst>
                <a:gd name="T0" fmla="*/ 192 w 192"/>
                <a:gd name="T1" fmla="*/ 0 h 240"/>
                <a:gd name="T2" fmla="*/ 48 w 192"/>
                <a:gd name="T3" fmla="*/ 96 h 240"/>
                <a:gd name="T4" fmla="*/ 0 w 192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240">
                  <a:moveTo>
                    <a:pt x="192" y="0"/>
                  </a:moveTo>
                  <a:cubicBezTo>
                    <a:pt x="136" y="28"/>
                    <a:pt x="80" y="56"/>
                    <a:pt x="48" y="96"/>
                  </a:cubicBezTo>
                  <a:cubicBezTo>
                    <a:pt x="16" y="136"/>
                    <a:pt x="8" y="216"/>
                    <a:pt x="0" y="24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52" name="Oval 54">
              <a:extLst>
                <a:ext uri="{FF2B5EF4-FFF2-40B4-BE49-F238E27FC236}">
                  <a16:creationId xmlns:a16="http://schemas.microsoft.com/office/drawing/2014/main" id="{579E2ACA-7E22-47E4-86D2-FD66211FB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962" y="4208257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53" name="Line 55">
              <a:extLst>
                <a:ext uri="{FF2B5EF4-FFF2-40B4-BE49-F238E27FC236}">
                  <a16:creationId xmlns:a16="http://schemas.microsoft.com/office/drawing/2014/main" id="{A22AB565-0F9F-43E6-B911-286AB0C547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102662" y="4109832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54" name="Freeform 61">
              <a:extLst>
                <a:ext uri="{FF2B5EF4-FFF2-40B4-BE49-F238E27FC236}">
                  <a16:creationId xmlns:a16="http://schemas.microsoft.com/office/drawing/2014/main" id="{1A28657F-45C1-43D2-91A0-4036E6D11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862" y="4452732"/>
              <a:ext cx="546100" cy="927100"/>
            </a:xfrm>
            <a:custGeom>
              <a:avLst/>
              <a:gdLst>
                <a:gd name="T0" fmla="*/ 56 w 344"/>
                <a:gd name="T1" fmla="*/ 0 h 584"/>
                <a:gd name="T2" fmla="*/ 8 w 344"/>
                <a:gd name="T3" fmla="*/ 240 h 584"/>
                <a:gd name="T4" fmla="*/ 104 w 344"/>
                <a:gd name="T5" fmla="*/ 528 h 584"/>
                <a:gd name="T6" fmla="*/ 344 w 344"/>
                <a:gd name="T7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584">
                  <a:moveTo>
                    <a:pt x="56" y="0"/>
                  </a:moveTo>
                  <a:cubicBezTo>
                    <a:pt x="28" y="76"/>
                    <a:pt x="0" y="152"/>
                    <a:pt x="8" y="240"/>
                  </a:cubicBezTo>
                  <a:cubicBezTo>
                    <a:pt x="16" y="328"/>
                    <a:pt x="48" y="472"/>
                    <a:pt x="104" y="528"/>
                  </a:cubicBezTo>
                  <a:cubicBezTo>
                    <a:pt x="160" y="584"/>
                    <a:pt x="304" y="568"/>
                    <a:pt x="344" y="576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55" name="Line 62">
              <a:extLst>
                <a:ext uri="{FF2B5EF4-FFF2-40B4-BE49-F238E27FC236}">
                  <a16:creationId xmlns:a16="http://schemas.microsoft.com/office/drawing/2014/main" id="{354C9F07-EA6A-40D7-9A2C-5CD8A0DC05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78562" y="4909932"/>
              <a:ext cx="76200" cy="22860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56" name="Oval 3">
              <a:extLst>
                <a:ext uri="{FF2B5EF4-FFF2-40B4-BE49-F238E27FC236}">
                  <a16:creationId xmlns:a16="http://schemas.microsoft.com/office/drawing/2014/main" id="{BA1E13AC-9BD4-4233-8B71-81A1F00E3D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54863">
              <a:off x="821425" y="4347957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57" name="Oval 4">
              <a:extLst>
                <a:ext uri="{FF2B5EF4-FFF2-40B4-BE49-F238E27FC236}">
                  <a16:creationId xmlns:a16="http://schemas.microsoft.com/office/drawing/2014/main" id="{035A9CB5-F46A-4C23-A4A7-A3B271B4A0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54863">
              <a:off x="1251637" y="5241720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761200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012D-B0A3-4B01-A99D-EE693D60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Graphs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1CFA77B-24F4-4150-B2F5-4C2BFAC9C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625266"/>
              </p:ext>
            </p:extLst>
          </p:nvPr>
        </p:nvGraphicFramePr>
        <p:xfrm>
          <a:off x="176212" y="1578559"/>
          <a:ext cx="8791576" cy="337718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543175">
                  <a:extLst>
                    <a:ext uri="{9D8B030D-6E8A-4147-A177-3AD203B41FA5}">
                      <a16:colId xmlns:a16="http://schemas.microsoft.com/office/drawing/2014/main" val="605955136"/>
                    </a:ext>
                  </a:extLst>
                </a:gridCol>
                <a:gridCol w="1852613">
                  <a:extLst>
                    <a:ext uri="{9D8B030D-6E8A-4147-A177-3AD203B41FA5}">
                      <a16:colId xmlns:a16="http://schemas.microsoft.com/office/drawing/2014/main" val="1070091669"/>
                    </a:ext>
                  </a:extLst>
                </a:gridCol>
                <a:gridCol w="2197894">
                  <a:extLst>
                    <a:ext uri="{9D8B030D-6E8A-4147-A177-3AD203B41FA5}">
                      <a16:colId xmlns:a16="http://schemas.microsoft.com/office/drawing/2014/main" val="3563802203"/>
                    </a:ext>
                  </a:extLst>
                </a:gridCol>
                <a:gridCol w="2197894">
                  <a:extLst>
                    <a:ext uri="{9D8B030D-6E8A-4147-A177-3AD203B41FA5}">
                      <a16:colId xmlns:a16="http://schemas.microsoft.com/office/drawing/2014/main" val="1284019310"/>
                    </a:ext>
                  </a:extLst>
                </a:gridCol>
              </a:tblGrid>
              <a:tr h="8146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b="1" dirty="0"/>
                        <a:t>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b="1" dirty="0"/>
                        <a:t>Multiple Edges Allowed?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b="1" dirty="0"/>
                        <a:t>Loops Allowed?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939487"/>
                  </a:ext>
                </a:extLst>
              </a:tr>
              <a:tr h="4719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Simple graph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</a:rPr>
                        <a:t>Undirected</a:t>
                      </a: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lang="en-IN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374130"/>
                  </a:ext>
                </a:extLst>
              </a:tr>
              <a:tr h="4719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Multigraph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</a:rPr>
                        <a:t>Undirected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YES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lang="en-IN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713813"/>
                  </a:ext>
                </a:extLst>
              </a:tr>
              <a:tr h="4719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Pseudograph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</a:rPr>
                        <a:t>Undirected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YES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YES</a:t>
                      </a:r>
                      <a:endParaRPr lang="en-IN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347452"/>
                  </a:ext>
                </a:extLst>
              </a:tr>
              <a:tr h="4719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Directed graph 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Directed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YES</a:t>
                      </a:r>
                      <a:endParaRPr lang="en-IN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153321"/>
                  </a:ext>
                </a:extLst>
              </a:tr>
              <a:tr h="4743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Directed multigraph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Directed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YES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alt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YES</a:t>
                      </a:r>
                      <a:endParaRPr lang="en-IN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607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650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012D-B0A3-4B01-A99D-EE693D60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Adjacent Vertices (Neighbours) - </a:t>
            </a:r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AF875-2635-42D9-80D2-37CCB697F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Two vertices, </a:t>
            </a:r>
            <a:r>
              <a:rPr lang="en-US" altLang="en-US" i="1" dirty="0"/>
              <a:t>u</a:t>
            </a:r>
            <a:r>
              <a:rPr lang="en-US" altLang="en-US" dirty="0"/>
              <a:t> and </a:t>
            </a:r>
            <a:r>
              <a:rPr lang="en-US" altLang="en-US" i="1" dirty="0"/>
              <a:t>v</a:t>
            </a:r>
            <a:r>
              <a:rPr lang="en-US" altLang="en-US" dirty="0"/>
              <a:t> in an undirected graph G are called </a:t>
            </a:r>
            <a:r>
              <a:rPr lang="en-US" altLang="en-US" dirty="0">
                <a:solidFill>
                  <a:srgbClr val="CC0000"/>
                </a:solidFill>
              </a:rPr>
              <a:t>adjacent </a:t>
            </a:r>
            <a:r>
              <a:rPr lang="en-US" altLang="en-US" dirty="0"/>
              <a:t>(or</a:t>
            </a:r>
            <a:r>
              <a:rPr lang="en-US" altLang="en-US" dirty="0">
                <a:solidFill>
                  <a:srgbClr val="CC0000"/>
                </a:solidFill>
              </a:rPr>
              <a:t> neighbors) </a:t>
            </a:r>
            <a:r>
              <a:rPr lang="en-US" altLang="en-US" dirty="0"/>
              <a:t>in G, if {</a:t>
            </a:r>
            <a:r>
              <a:rPr lang="en-US" altLang="en-US" i="1" dirty="0"/>
              <a:t>u, v</a:t>
            </a:r>
            <a:r>
              <a:rPr lang="en-US" altLang="en-US" dirty="0"/>
              <a:t>} is an edge of G. 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An edge </a:t>
            </a:r>
            <a:r>
              <a:rPr lang="en-US" altLang="en-US" i="1" dirty="0"/>
              <a:t>e</a:t>
            </a:r>
            <a:r>
              <a:rPr lang="en-US" altLang="en-US" dirty="0"/>
              <a:t> connecting </a:t>
            </a:r>
            <a:r>
              <a:rPr lang="en-US" altLang="en-US" i="1" dirty="0"/>
              <a:t>u</a:t>
            </a:r>
            <a:r>
              <a:rPr lang="en-US" altLang="en-US" dirty="0"/>
              <a:t> and </a:t>
            </a:r>
            <a:r>
              <a:rPr lang="en-US" altLang="en-US" i="1" dirty="0"/>
              <a:t>v</a:t>
            </a:r>
            <a:r>
              <a:rPr lang="en-US" altLang="en-US" dirty="0"/>
              <a:t> is called </a:t>
            </a:r>
            <a:r>
              <a:rPr lang="en-US" altLang="en-US" dirty="0">
                <a:solidFill>
                  <a:srgbClr val="CC0000"/>
                </a:solidFill>
              </a:rPr>
              <a:t>incident with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CC0000"/>
                </a:solidFill>
              </a:rPr>
              <a:t>vertices </a:t>
            </a:r>
            <a:r>
              <a:rPr lang="en-US" altLang="en-US" i="1" dirty="0">
                <a:solidFill>
                  <a:srgbClr val="CC0000"/>
                </a:solidFill>
              </a:rPr>
              <a:t>u</a:t>
            </a:r>
            <a:r>
              <a:rPr lang="en-US" altLang="en-US" dirty="0">
                <a:solidFill>
                  <a:srgbClr val="CC0000"/>
                </a:solidFill>
              </a:rPr>
              <a:t> and </a:t>
            </a:r>
            <a:r>
              <a:rPr lang="en-US" altLang="en-US" i="1" dirty="0">
                <a:solidFill>
                  <a:srgbClr val="CC0000"/>
                </a:solidFill>
              </a:rPr>
              <a:t>v</a:t>
            </a:r>
            <a:r>
              <a:rPr lang="en-US" altLang="en-US" dirty="0"/>
              <a:t>, or is said to connect </a:t>
            </a:r>
            <a:r>
              <a:rPr lang="en-US" altLang="en-US" i="1" dirty="0"/>
              <a:t>u</a:t>
            </a:r>
            <a:r>
              <a:rPr lang="en-US" altLang="en-US" dirty="0"/>
              <a:t> and </a:t>
            </a:r>
            <a:r>
              <a:rPr lang="en-US" altLang="en-US" i="1" dirty="0"/>
              <a:t>v</a:t>
            </a:r>
            <a:r>
              <a:rPr lang="en-US" altLang="en-US" dirty="0"/>
              <a:t>.  The vertices </a:t>
            </a:r>
            <a:r>
              <a:rPr lang="en-US" altLang="en-US" i="1" dirty="0"/>
              <a:t>u</a:t>
            </a:r>
            <a:r>
              <a:rPr lang="en-US" altLang="en-US" dirty="0"/>
              <a:t> and </a:t>
            </a:r>
            <a:r>
              <a:rPr lang="en-US" altLang="en-US" i="1" dirty="0"/>
              <a:t>v</a:t>
            </a:r>
            <a:r>
              <a:rPr lang="en-US" altLang="en-US" dirty="0"/>
              <a:t> are called </a:t>
            </a:r>
            <a:r>
              <a:rPr lang="en-US" altLang="en-US" dirty="0">
                <a:solidFill>
                  <a:srgbClr val="CC0000"/>
                </a:solidFill>
              </a:rPr>
              <a:t>endpoints</a:t>
            </a:r>
            <a:r>
              <a:rPr lang="en-US" altLang="en-US" dirty="0"/>
              <a:t> of edge {</a:t>
            </a:r>
            <a:r>
              <a:rPr lang="en-US" altLang="en-US" i="1" dirty="0"/>
              <a:t>u, v</a:t>
            </a:r>
            <a:r>
              <a:rPr lang="en-US" altLang="en-US" dirty="0"/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3876093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F365-F59F-445E-9FC7-7D5FFE23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Degree of a vertex - </a:t>
            </a:r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EA2D-9476-4907-8F72-A853AF0DD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422719" cy="26176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degree of a vertex in an undirected graph is the number of edges incident with it, except that a loop at a vertex contributes twice to the degree of that vertex.</a:t>
            </a:r>
            <a:endParaRPr lang="en-IN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97A23C-12BF-44FA-91E8-E4E692A1E89F}"/>
              </a:ext>
            </a:extLst>
          </p:cNvPr>
          <p:cNvGrpSpPr/>
          <p:nvPr/>
        </p:nvGrpSpPr>
        <p:grpSpPr>
          <a:xfrm>
            <a:off x="1191319" y="3716419"/>
            <a:ext cx="3599898" cy="2271114"/>
            <a:chOff x="1191319" y="4088986"/>
            <a:chExt cx="3599898" cy="2271114"/>
          </a:xfrm>
        </p:grpSpPr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2739091E-A1E3-40B5-9814-4C25134D8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1319" y="5775325"/>
              <a:ext cx="51328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200" i="1"/>
                <a:t> a</a:t>
              </a:r>
              <a:endParaRPr lang="en-US" altLang="en-US" sz="3200"/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A1713325-3696-4BE4-A716-FD004A129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692" y="5775325"/>
              <a:ext cx="51648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200" i="1"/>
                <a:t> g</a:t>
              </a:r>
              <a:endParaRPr lang="en-US" altLang="en-US" sz="3200"/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666A3FD0-503C-42DF-9E83-42673BAF5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805" y="5775325"/>
              <a:ext cx="425116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200" i="1"/>
                <a:t> f</a:t>
              </a:r>
              <a:endParaRPr lang="en-US" altLang="en-US" sz="3200"/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4E6D5AD8-5E98-4AEB-B669-BB1B0A9EE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805" y="5775325"/>
              <a:ext cx="514885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200" i="1"/>
                <a:t> e</a:t>
              </a:r>
              <a:endParaRPr lang="en-US" altLang="en-US" sz="320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F750621-CC96-4D6D-A9DB-7702ABFAD70F}"/>
                </a:ext>
              </a:extLst>
            </p:cNvPr>
            <p:cNvGrpSpPr/>
            <p:nvPr/>
          </p:nvGrpSpPr>
          <p:grpSpPr>
            <a:xfrm>
              <a:off x="1592197" y="4088986"/>
              <a:ext cx="3199020" cy="1702214"/>
              <a:chOff x="1592197" y="4088986"/>
              <a:chExt cx="3199020" cy="1702214"/>
            </a:xfrm>
          </p:grpSpPr>
          <p:sp>
            <p:nvSpPr>
              <p:cNvPr id="4" name="Line 20">
                <a:extLst>
                  <a:ext uri="{FF2B5EF4-FFF2-40B4-BE49-F238E27FC236}">
                    <a16:creationId xmlns:a16="http://schemas.microsoft.com/office/drawing/2014/main" id="{72481E3D-896F-421E-8A2F-9A55C7A29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02606" y="4678017"/>
                <a:ext cx="83820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3200"/>
              </a:p>
            </p:txBody>
          </p:sp>
          <p:grpSp>
            <p:nvGrpSpPr>
              <p:cNvPr id="5" name="Group 2">
                <a:extLst>
                  <a:ext uri="{FF2B5EF4-FFF2-40B4-BE49-F238E27FC236}">
                    <a16:creationId xmlns:a16="http://schemas.microsoft.com/office/drawing/2014/main" id="{47045112-F8E3-441F-AFED-808B3B95AC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82797" y="4572000"/>
                <a:ext cx="228600" cy="1219200"/>
                <a:chOff x="576" y="1248"/>
                <a:chExt cx="144" cy="768"/>
              </a:xfrm>
            </p:grpSpPr>
            <p:sp>
              <p:nvSpPr>
                <p:cNvPr id="6" name="Oval 3">
                  <a:extLst>
                    <a:ext uri="{FF2B5EF4-FFF2-40B4-BE49-F238E27FC236}">
                      <a16:creationId xmlns:a16="http://schemas.microsoft.com/office/drawing/2014/main" id="{6869F6BD-4300-4E2B-BB04-6A1FD62F19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248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3200"/>
                </a:p>
              </p:txBody>
            </p:sp>
            <p:sp>
              <p:nvSpPr>
                <p:cNvPr id="7" name="Line 4">
                  <a:extLst>
                    <a:ext uri="{FF2B5EF4-FFF2-40B4-BE49-F238E27FC236}">
                      <a16:creationId xmlns:a16="http://schemas.microsoft.com/office/drawing/2014/main" id="{5487E075-E421-43B0-990C-BE3909B09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1392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3200"/>
                </a:p>
              </p:txBody>
            </p:sp>
            <p:sp>
              <p:nvSpPr>
                <p:cNvPr id="8" name="Oval 5">
                  <a:extLst>
                    <a:ext uri="{FF2B5EF4-FFF2-40B4-BE49-F238E27FC236}">
                      <a16:creationId xmlns:a16="http://schemas.microsoft.com/office/drawing/2014/main" id="{3711370D-D2F9-4B78-8D14-89084CE62D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3200"/>
                </a:p>
              </p:txBody>
            </p:sp>
          </p:grpSp>
          <p:grpSp>
            <p:nvGrpSpPr>
              <p:cNvPr id="9" name="Group 6">
                <a:extLst>
                  <a:ext uri="{FF2B5EF4-FFF2-40B4-BE49-F238E27FC236}">
                    <a16:creationId xmlns:a16="http://schemas.microsoft.com/office/drawing/2014/main" id="{C258A51D-4976-435F-B7C7-1BE2851811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7197" y="4572000"/>
                <a:ext cx="228600" cy="1219200"/>
                <a:chOff x="576" y="1248"/>
                <a:chExt cx="144" cy="768"/>
              </a:xfrm>
            </p:grpSpPr>
            <p:sp>
              <p:nvSpPr>
                <p:cNvPr id="10" name="Oval 7">
                  <a:extLst>
                    <a:ext uri="{FF2B5EF4-FFF2-40B4-BE49-F238E27FC236}">
                      <a16:creationId xmlns:a16="http://schemas.microsoft.com/office/drawing/2014/main" id="{20061916-9E46-47D0-A82C-C3EC835AC3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248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3200"/>
                </a:p>
              </p:txBody>
            </p:sp>
            <p:sp>
              <p:nvSpPr>
                <p:cNvPr id="11" name="Line 8">
                  <a:extLst>
                    <a:ext uri="{FF2B5EF4-FFF2-40B4-BE49-F238E27FC236}">
                      <a16:creationId xmlns:a16="http://schemas.microsoft.com/office/drawing/2014/main" id="{932D1D13-83AE-492C-BC7B-8459442B4F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1392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3200"/>
                </a:p>
              </p:txBody>
            </p:sp>
            <p:sp>
              <p:nvSpPr>
                <p:cNvPr id="12" name="Oval 9">
                  <a:extLst>
                    <a:ext uri="{FF2B5EF4-FFF2-40B4-BE49-F238E27FC236}">
                      <a16:creationId xmlns:a16="http://schemas.microsoft.com/office/drawing/2014/main" id="{F3A3ABB0-B2E4-4E9F-ACCC-5372684153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3200"/>
                </a:p>
              </p:txBody>
            </p:sp>
          </p:grpSp>
          <p:sp>
            <p:nvSpPr>
              <p:cNvPr id="13" name="Oval 10">
                <a:extLst>
                  <a:ext uri="{FF2B5EF4-FFF2-40B4-BE49-F238E27FC236}">
                    <a16:creationId xmlns:a16="http://schemas.microsoft.com/office/drawing/2014/main" id="{4BA14351-3358-4360-A299-9B3AB006C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606" y="4601817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3200"/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2265B26A-7AC8-4A95-865D-6899F6CA56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2975392" y="5295900"/>
                <a:ext cx="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3200"/>
              </a:p>
            </p:txBody>
          </p:sp>
          <p:sp>
            <p:nvSpPr>
              <p:cNvPr id="15" name="Oval 12">
                <a:extLst>
                  <a:ext uri="{FF2B5EF4-FFF2-40B4-BE49-F238E27FC236}">
                    <a16:creationId xmlns:a16="http://schemas.microsoft.com/office/drawing/2014/main" id="{846B6BBE-2839-4640-BAEB-7AF006711D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397" y="5562600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3200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336BE2EF-AACE-4A94-817E-EF78E88E0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5197" y="4724400"/>
                <a:ext cx="762000" cy="914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3200"/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0EFB0A07-09CF-4BBB-A1EE-19B0F6624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35197" y="4724400"/>
                <a:ext cx="838200" cy="990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3200"/>
              </a:p>
            </p:txBody>
          </p:sp>
          <p:sp>
            <p:nvSpPr>
              <p:cNvPr id="19" name="Line 19">
                <a:extLst>
                  <a:ext uri="{FF2B5EF4-FFF2-40B4-BE49-F238E27FC236}">
                    <a16:creationId xmlns:a16="http://schemas.microsoft.com/office/drawing/2014/main" id="{F93DD102-1BBA-4D96-998A-8999A929B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58997" y="4648200"/>
                <a:ext cx="914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3200"/>
              </a:p>
            </p:txBody>
          </p:sp>
          <p:sp>
            <p:nvSpPr>
              <p:cNvPr id="20" name="Oval 21">
                <a:extLst>
                  <a:ext uri="{FF2B5EF4-FFF2-40B4-BE49-F238E27FC236}">
                    <a16:creationId xmlns:a16="http://schemas.microsoft.com/office/drawing/2014/main" id="{BC15C2A0-6AEB-4C5A-8BB7-B5746BFCC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397" y="4191000"/>
                <a:ext cx="457200" cy="4572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3200"/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993C7D6B-3AF1-4B81-B3B7-3B6155260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2060992" y="5295900"/>
                <a:ext cx="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3200"/>
              </a:p>
            </p:txBody>
          </p:sp>
          <p:sp>
            <p:nvSpPr>
              <p:cNvPr id="22" name="Oval 23">
                <a:extLst>
                  <a:ext uri="{FF2B5EF4-FFF2-40B4-BE49-F238E27FC236}">
                    <a16:creationId xmlns:a16="http://schemas.microsoft.com/office/drawing/2014/main" id="{2D22F573-A874-4F0A-A615-EB12509FC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2197" y="5562600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3200"/>
              </a:p>
            </p:txBody>
          </p:sp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033C48EB-8CCF-40A4-9939-B9F8305AD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44597" y="4724400"/>
                <a:ext cx="914400" cy="914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3200"/>
              </a:p>
            </p:txBody>
          </p:sp>
          <p:sp>
            <p:nvSpPr>
              <p:cNvPr id="24" name="Text Box 25">
                <a:extLst>
                  <a:ext uri="{FF2B5EF4-FFF2-40B4-BE49-F238E27FC236}">
                    <a16:creationId xmlns:a16="http://schemas.microsoft.com/office/drawing/2014/main" id="{256C3C2B-85D2-45BF-9362-B226D186BB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3197" y="4495800"/>
                <a:ext cx="518091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i="1"/>
                  <a:t> b</a:t>
                </a:r>
                <a:endParaRPr lang="en-US" altLang="en-US" sz="3200"/>
              </a:p>
            </p:txBody>
          </p:sp>
          <p:sp>
            <p:nvSpPr>
              <p:cNvPr id="28" name="Text Box 29">
                <a:extLst>
                  <a:ext uri="{FF2B5EF4-FFF2-40B4-BE49-F238E27FC236}">
                    <a16:creationId xmlns:a16="http://schemas.microsoft.com/office/drawing/2014/main" id="{6F8F15D1-9949-4753-AF73-985D56EBC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9676" y="4088986"/>
                <a:ext cx="500458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i="1"/>
                  <a:t> c</a:t>
                </a:r>
                <a:endParaRPr lang="en-US" altLang="en-US" sz="3200"/>
              </a:p>
            </p:txBody>
          </p:sp>
          <p:sp>
            <p:nvSpPr>
              <p:cNvPr id="29" name="Text Box 30">
                <a:extLst>
                  <a:ext uri="{FF2B5EF4-FFF2-40B4-BE49-F238E27FC236}">
                    <a16:creationId xmlns:a16="http://schemas.microsoft.com/office/drawing/2014/main" id="{A121EF48-2922-4FB5-B93A-02AC40B965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4729" y="4108864"/>
                <a:ext cx="516488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i="1"/>
                  <a:t> d</a:t>
                </a:r>
                <a:endParaRPr lang="en-US" altLang="en-US" sz="3200"/>
              </a:p>
            </p:txBody>
          </p:sp>
        </p:grpSp>
      </p:grpSp>
      <p:sp>
        <p:nvSpPr>
          <p:cNvPr id="30" name="Text Box 31">
            <a:extLst>
              <a:ext uri="{FF2B5EF4-FFF2-40B4-BE49-F238E27FC236}">
                <a16:creationId xmlns:a16="http://schemas.microsoft.com/office/drawing/2014/main" id="{D7210341-53DD-4329-8118-5CEFC7C15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3287" y="4457850"/>
            <a:ext cx="21146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CC0000"/>
                </a:solidFill>
              </a:rPr>
              <a:t>deg( </a:t>
            </a:r>
            <a:r>
              <a:rPr lang="en-US" altLang="en-US" sz="3200" i="1" dirty="0">
                <a:solidFill>
                  <a:srgbClr val="CC0000"/>
                </a:solidFill>
              </a:rPr>
              <a:t>d </a:t>
            </a:r>
            <a:r>
              <a:rPr lang="en-US" altLang="en-US" sz="3200" dirty="0">
                <a:solidFill>
                  <a:srgbClr val="CC0000"/>
                </a:solidFill>
              </a:rPr>
              <a:t>) = 1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22904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8921</TotalTime>
  <Words>963</Words>
  <Application>Microsoft Office PowerPoint</Application>
  <PresentationFormat>On-screen Show (4:3)</PresentationFormat>
  <Paragraphs>197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</vt:lpstr>
      <vt:lpstr>Bahnschrift</vt:lpstr>
      <vt:lpstr>Bahnschrift SemiBold</vt:lpstr>
      <vt:lpstr>Calibri</vt:lpstr>
      <vt:lpstr>Office Theme</vt:lpstr>
      <vt:lpstr>EMTH403</vt:lpstr>
      <vt:lpstr>Lecture Outcomes</vt:lpstr>
      <vt:lpstr>Applications of Graphs</vt:lpstr>
      <vt:lpstr>Simple Graph - Definition</vt:lpstr>
      <vt:lpstr>Simple Graph – Example 1</vt:lpstr>
      <vt:lpstr>Simple Graph – Example 1</vt:lpstr>
      <vt:lpstr>Simple Graph – Example 1</vt:lpstr>
      <vt:lpstr>Simple Graph – Example 2</vt:lpstr>
      <vt:lpstr>Simple Graph – Example 2</vt:lpstr>
      <vt:lpstr>Simple Graph – Example 1</vt:lpstr>
      <vt:lpstr>Simple Graph – Example 1</vt:lpstr>
      <vt:lpstr>A Non-Simple Graph - Definition </vt:lpstr>
      <vt:lpstr>A Multigraph</vt:lpstr>
      <vt:lpstr>Multiple Edges</vt:lpstr>
      <vt:lpstr>Another Non-Simple Graph</vt:lpstr>
      <vt:lpstr>A Pseudograph</vt:lpstr>
      <vt:lpstr>Loops</vt:lpstr>
      <vt:lpstr>Undirected Graphs</vt:lpstr>
      <vt:lpstr>A Directed Graph - Definition</vt:lpstr>
      <vt:lpstr>A Directed Graph - Definition</vt:lpstr>
      <vt:lpstr>A Directed Multigraph - Definition</vt:lpstr>
      <vt:lpstr>A Directed Multigraph</vt:lpstr>
      <vt:lpstr>Types of Graphs</vt:lpstr>
      <vt:lpstr>Adjacent Vertices (Neighbours) - Definition</vt:lpstr>
      <vt:lpstr>Degree of a vertex - Definition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1275</cp:revision>
  <dcterms:created xsi:type="dcterms:W3CDTF">2020-12-04T05:20:56Z</dcterms:created>
  <dcterms:modified xsi:type="dcterms:W3CDTF">2021-01-09T04:09:18Z</dcterms:modified>
</cp:coreProperties>
</file>