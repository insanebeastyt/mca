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handoutMasterIdLst>
    <p:handoutMasterId r:id="rId22"/>
  </p:handoutMasterIdLst>
  <p:sldIdLst>
    <p:sldId id="256" r:id="rId2"/>
    <p:sldId id="257" r:id="rId3"/>
    <p:sldId id="363" r:id="rId4"/>
    <p:sldId id="364" r:id="rId5"/>
    <p:sldId id="381" r:id="rId6"/>
    <p:sldId id="382" r:id="rId7"/>
    <p:sldId id="383" r:id="rId8"/>
    <p:sldId id="384" r:id="rId9"/>
    <p:sldId id="385" r:id="rId10"/>
    <p:sldId id="386" r:id="rId11"/>
    <p:sldId id="387" r:id="rId12"/>
    <p:sldId id="376" r:id="rId13"/>
    <p:sldId id="388" r:id="rId14"/>
    <p:sldId id="389" r:id="rId15"/>
    <p:sldId id="390" r:id="rId16"/>
    <p:sldId id="391" r:id="rId17"/>
    <p:sldId id="392" r:id="rId18"/>
    <p:sldId id="377" r:id="rId19"/>
    <p:sldId id="25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013A8035-ECEF-47C4-90A1-0C3215DAC7C2}">
          <p14:sldIdLst>
            <p14:sldId id="256"/>
            <p14:sldId id="257"/>
            <p14:sldId id="363"/>
            <p14:sldId id="364"/>
            <p14:sldId id="381"/>
            <p14:sldId id="382"/>
            <p14:sldId id="383"/>
            <p14:sldId id="384"/>
            <p14:sldId id="385"/>
            <p14:sldId id="386"/>
            <p14:sldId id="387"/>
            <p14:sldId id="376"/>
            <p14:sldId id="388"/>
            <p14:sldId id="389"/>
            <p14:sldId id="390"/>
            <p14:sldId id="391"/>
            <p14:sldId id="392"/>
            <p14:sldId id="377"/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6CC"/>
    <a:srgbClr val="BA202B"/>
    <a:srgbClr val="4472C4"/>
    <a:srgbClr val="DDDDDD"/>
    <a:srgbClr val="BBBBBB"/>
    <a:srgbClr val="00A2B8"/>
    <a:srgbClr val="00B451"/>
    <a:srgbClr val="CA628C"/>
    <a:srgbClr val="71EEFF"/>
    <a:srgbClr val="89E2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143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1884" y="3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F218DD-E614-4E73-B564-F8E0717E89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A14C21-F88B-4739-8F26-AA4DEEB64FA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11DE57-39A0-4263-A76B-22C3CE26C8E2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35058-CB50-45CA-B183-2892DE4A396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0C2E93-0834-4027-BDF9-2CBEA154774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BE93A7-2C4F-4D32-8895-81F23FF37AD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657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08F98-5817-4768-91E0-7435FEF7FFA1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5C79E5-282A-4490-B8CC-DC7602F73C6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6000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822478E-B0D0-4983-A2EC-2C070D46FC4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200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758813" y="1011007"/>
            <a:ext cx="4186084" cy="1001405"/>
          </a:xfrm>
        </p:spPr>
        <p:txBody>
          <a:bodyPr anchor="b">
            <a:noAutofit/>
          </a:bodyPr>
          <a:lstStyle>
            <a:lvl1pPr algn="r">
              <a:defRPr sz="7500">
                <a:ln>
                  <a:solidFill>
                    <a:srgbClr val="BA202B"/>
                  </a:solidFill>
                </a:ln>
                <a:solidFill>
                  <a:srgbClr val="CA628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EMTH403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758813" y="2012412"/>
            <a:ext cx="4186083" cy="838943"/>
          </a:xfrm>
        </p:spPr>
        <p:txBody>
          <a:bodyPr>
            <a:normAutofit/>
          </a:bodyPr>
          <a:lstStyle>
            <a:lvl1pPr marL="0" indent="0" algn="r">
              <a:buNone/>
              <a:defRPr sz="2800">
                <a:solidFill>
                  <a:srgbClr val="00206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Mathematical Foundation for Computer Science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6A5137-F38E-416C-BA01-890D57CBC895}"/>
              </a:ext>
            </a:extLst>
          </p:cNvPr>
          <p:cNvSpPr txBox="1"/>
          <p:nvPr userDrawn="1"/>
        </p:nvSpPr>
        <p:spPr>
          <a:xfrm>
            <a:off x="5369878" y="3852760"/>
            <a:ext cx="3575018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sz="2700" strike="noStrike" dirty="0">
                <a:solidFill>
                  <a:srgbClr val="BA202B"/>
                </a:solidFill>
                <a:effectLst/>
              </a:rPr>
              <a:t>Nitin K. Mishra (Ph.D.)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2607290-3460-4AC4-ABC8-F072BD3D73E5}"/>
              </a:ext>
            </a:extLst>
          </p:cNvPr>
          <p:cNvSpPr txBox="1"/>
          <p:nvPr userDrawn="1"/>
        </p:nvSpPr>
        <p:spPr>
          <a:xfrm>
            <a:off x="5525729" y="4314425"/>
            <a:ext cx="34191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solidFill>
                  <a:schemeClr val="bg2">
                    <a:lumMod val="25000"/>
                  </a:schemeClr>
                </a:solidFill>
              </a:rPr>
              <a:t>Associate Professor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92C86BC-E539-4EC2-9687-C9BAFAAFC1D8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805586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12CEEC-655E-468A-942D-1D746D27486B}"/>
              </a:ext>
            </a:extLst>
          </p:cNvPr>
          <p:cNvCxnSpPr>
            <a:cxnSpLocks/>
          </p:cNvCxnSpPr>
          <p:nvPr userDrawn="1"/>
        </p:nvCxnSpPr>
        <p:spPr>
          <a:xfrm flipH="1">
            <a:off x="5525729" y="4360591"/>
            <a:ext cx="3342972" cy="0"/>
          </a:xfrm>
          <a:prstGeom prst="line">
            <a:avLst/>
          </a:prstGeom>
          <a:ln w="38100">
            <a:solidFill>
              <a:srgbClr val="89E2EB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538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earning Outcome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-1"/>
            <a:ext cx="9144000" cy="2113936"/>
          </a:xfrm>
          <a:prstGeom prst="rect">
            <a:avLst/>
          </a:prstGeom>
          <a:gradFill flip="none" rotWithShape="1">
            <a:gsLst>
              <a:gs pos="78000">
                <a:schemeClr val="accent3">
                  <a:lumMod val="0"/>
                  <a:lumOff val="100000"/>
                </a:schemeClr>
              </a:gs>
              <a:gs pos="45000">
                <a:srgbClr val="00A2B8"/>
              </a:gs>
            </a:gsLst>
            <a:lin ang="0" scaled="0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93290" y="0"/>
            <a:ext cx="5191433" cy="2113935"/>
          </a:xfrm>
        </p:spPr>
        <p:txBody>
          <a:bodyPr>
            <a:normAutofit/>
          </a:bodyPr>
          <a:lstStyle>
            <a:lvl1pPr>
              <a:defRPr sz="54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Lecture</a:t>
            </a:r>
            <a:br>
              <a:rPr lang="en-US" dirty="0"/>
            </a:br>
            <a:r>
              <a:rPr lang="en-US" dirty="0"/>
              <a:t>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buClr>
                <a:srgbClr val="00A2B8"/>
              </a:buClr>
              <a:defRPr sz="2800"/>
            </a:lvl2pPr>
            <a:lvl3pPr>
              <a:buClr>
                <a:srgbClr val="00A2B8"/>
              </a:buClr>
              <a:defRPr/>
            </a:lvl3pPr>
            <a:lvl4pPr>
              <a:buClr>
                <a:srgbClr val="00A2B8"/>
              </a:buClr>
              <a:defRPr/>
            </a:lvl4pPr>
            <a:lvl5pPr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</p:txBody>
      </p:sp>
      <p:pic>
        <p:nvPicPr>
          <p:cNvPr id="11" name="Graphic 10" descr="Target">
            <a:extLst>
              <a:ext uri="{FF2B5EF4-FFF2-40B4-BE49-F238E27FC236}">
                <a16:creationId xmlns:a16="http://schemas.microsoft.com/office/drawing/2014/main" id="{8709446A-BD58-42FE-8058-90C6B72440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26708" y="98321"/>
            <a:ext cx="1917292" cy="1917292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8377C6D-0C30-48F0-89AC-23D3E98F9A33}"/>
              </a:ext>
            </a:extLst>
          </p:cNvPr>
          <p:cNvSpPr txBox="1"/>
          <p:nvPr userDrawn="1"/>
        </p:nvSpPr>
        <p:spPr>
          <a:xfrm>
            <a:off x="393290" y="2298413"/>
            <a:ext cx="684514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After this lecture, you will be able to</a:t>
            </a:r>
          </a:p>
        </p:txBody>
      </p:sp>
    </p:spTree>
    <p:extLst>
      <p:ext uri="{BB962C8B-B14F-4D97-AF65-F5344CB8AC3E}">
        <p14:creationId xmlns:p14="http://schemas.microsoft.com/office/powerpoint/2010/main" val="6461605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alphaModFix amt="20000"/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8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4091E1C-13AA-4430-B0AB-E932AEDB367A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225208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 (whit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52A9DAD-2222-4EAA-A984-73EA804BABC9}"/>
              </a:ext>
            </a:extLst>
          </p:cNvPr>
          <p:cNvSpPr/>
          <p:nvPr userDrawn="1"/>
        </p:nvSpPr>
        <p:spPr>
          <a:xfrm>
            <a:off x="0" y="0"/>
            <a:ext cx="9144000" cy="1080000"/>
          </a:xfrm>
          <a:prstGeom prst="rect">
            <a:avLst/>
          </a:prstGeom>
          <a:solidFill>
            <a:srgbClr val="00A2B8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0" y="1"/>
            <a:ext cx="8504904" cy="1080000"/>
          </a:xfrm>
        </p:spPr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3290" y="1248697"/>
            <a:ext cx="8504904" cy="5338916"/>
          </a:xfrm>
        </p:spPr>
        <p:txBody>
          <a:bodyPr/>
          <a:lstStyle>
            <a:lvl1pPr>
              <a:lnSpc>
                <a:spcPct val="150000"/>
              </a:lnSpc>
              <a:buClr>
                <a:srgbClr val="00A2B8"/>
              </a:buClr>
              <a:defRPr/>
            </a:lvl1pPr>
            <a:lvl2pPr>
              <a:lnSpc>
                <a:spcPct val="150000"/>
              </a:lnSpc>
              <a:buClr>
                <a:srgbClr val="00A2B8"/>
              </a:buClr>
              <a:defRPr/>
            </a:lvl2pPr>
            <a:lvl3pPr>
              <a:lnSpc>
                <a:spcPct val="150000"/>
              </a:lnSpc>
              <a:buClr>
                <a:srgbClr val="00A2B8"/>
              </a:buClr>
              <a:defRPr/>
            </a:lvl3pPr>
            <a:lvl4pPr>
              <a:lnSpc>
                <a:spcPct val="150000"/>
              </a:lnSpc>
              <a:buClr>
                <a:srgbClr val="00A2B8"/>
              </a:buClr>
              <a:defRPr/>
            </a:lvl4pPr>
            <a:lvl5pPr>
              <a:lnSpc>
                <a:spcPct val="150000"/>
              </a:lnSpc>
              <a:buClr>
                <a:srgbClr val="00A2B8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40D22A-9F0E-4024-A4A6-FCCE6CB60E86}"/>
              </a:ext>
            </a:extLst>
          </p:cNvPr>
          <p:cNvSpPr txBox="1"/>
          <p:nvPr userDrawn="1"/>
        </p:nvSpPr>
        <p:spPr>
          <a:xfrm>
            <a:off x="33867" y="6666614"/>
            <a:ext cx="9110132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700" dirty="0"/>
              <a:t>Content Source: 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Discrete Mathematics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 and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Its Applications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. Seventh Edition. </a:t>
            </a:r>
            <a:r>
              <a:rPr lang="en-US" sz="700" b="1" dirty="0">
                <a:solidFill>
                  <a:srgbClr val="5F6368"/>
                </a:solidFill>
                <a:latin typeface="arial" panose="020B0604020202020204" pitchFamily="34" charset="0"/>
              </a:rPr>
              <a:t>Kenneth H. Rosen. Monmouth University. Prepared by Jerrold W. Grossman, Oakland University.</a:t>
            </a:r>
            <a:r>
              <a:rPr lang="en-US" sz="700" dirty="0">
                <a:solidFill>
                  <a:srgbClr val="4D5156"/>
                </a:solidFill>
                <a:latin typeface="arial" panose="020B0604020202020204" pitchFamily="34" charset="0"/>
              </a:rPr>
              <a:t> (and formerly AT&amp;T Laboratories)</a:t>
            </a:r>
            <a:endParaRPr lang="en-IN" sz="700" dirty="0"/>
          </a:p>
        </p:txBody>
      </p:sp>
    </p:spTree>
    <p:extLst>
      <p:ext uri="{BB962C8B-B14F-4D97-AF65-F5344CB8AC3E}">
        <p14:creationId xmlns:p14="http://schemas.microsoft.com/office/powerpoint/2010/main" val="4026521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3102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989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0985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2191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3743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100000">
              <a:schemeClr val="bg1">
                <a:lumMod val="85000"/>
              </a:schemeClr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D41FF5F-8082-499F-9B42-B9953F7F83AE}"/>
              </a:ext>
            </a:extLst>
          </p:cNvPr>
          <p:cNvSpPr txBox="1"/>
          <p:nvPr userDrawn="1"/>
        </p:nvSpPr>
        <p:spPr>
          <a:xfrm>
            <a:off x="1620711" y="2869012"/>
            <a:ext cx="590257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5400" dirty="0">
                <a:solidFill>
                  <a:srgbClr val="00A2B8"/>
                </a:solidFill>
                <a:effectLst/>
              </a:rPr>
              <a:t>That’s all for now…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376A0C7-0E66-445E-9D28-DB789C63D202}"/>
              </a:ext>
            </a:extLst>
          </p:cNvPr>
          <p:cNvCxnSpPr>
            <a:cxnSpLocks/>
          </p:cNvCxnSpPr>
          <p:nvPr userDrawn="1"/>
        </p:nvCxnSpPr>
        <p:spPr>
          <a:xfrm>
            <a:off x="1720645" y="3654690"/>
            <a:ext cx="5624052" cy="0"/>
          </a:xfrm>
          <a:prstGeom prst="line">
            <a:avLst/>
          </a:prstGeom>
          <a:ln w="31750">
            <a:solidFill>
              <a:srgbClr val="CA628C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60184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8816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85952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470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7047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76987-CD5A-4B0D-82F1-8DDC56102557}" type="datetimeFigureOut">
              <a:rPr lang="en-IN" smtClean="0"/>
              <a:t>13-01-2021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5910F8-8D71-4F22-9C7F-1F77DF6804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6213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4" r:id="rId3"/>
    <p:sldLayoutId id="214748367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3" r:id="rId10"/>
    <p:sldLayoutId id="2147483668" r:id="rId11"/>
    <p:sldLayoutId id="2147483669" r:id="rId12"/>
    <p:sldLayoutId id="2147483670" r:id="rId13"/>
    <p:sldLayoutId id="2147483671" r:id="rId1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>
        <p:tmplLst>
          <p:tmpl lvl="1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2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3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4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  <p:tmpl lvl="5">
            <p:tnLst>
              <p:par>
                <p:cTn presetID="1" presetClass="entr" presetSubtype="0" fill="hold" nodeType="click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</p:childTnLst>
                </p:cTn>
              </p:par>
            </p:tnLst>
          </p:tmpl>
        </p:tmplLst>
      </p:bldP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83B31A-26EC-4882-9FB2-E3790927BE3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EMTH403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2FDE88-E809-4B0D-A49D-23F92304ED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Mathematical Foundation for Computer Science 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85066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825CB-91D8-4BF1-84BC-BE57F146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Lecture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62320-2170-46A9-8662-1BF0938F29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560" y="2883188"/>
            <a:ext cx="7934633" cy="3500283"/>
          </a:xfrm>
        </p:spPr>
        <p:txBody>
          <a:bodyPr>
            <a:normAutofit/>
          </a:bodyPr>
          <a:lstStyle/>
          <a:p>
            <a:r>
              <a:rPr lang="en-US" dirty="0"/>
              <a:t>understand what is adjacency matrix</a:t>
            </a:r>
          </a:p>
          <a:p>
            <a:r>
              <a:rPr lang="en-US" dirty="0"/>
              <a:t>understand what </a:t>
            </a:r>
            <a:r>
              <a:rPr lang="en-IN" dirty="0"/>
              <a:t>is graph isomorphism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84721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Adjacency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D236-0AD7-4369-BC36-531DCC4E2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  <a:buFont typeface="Monotype Sorts" pitchFamily="2" charset="2"/>
              <a:buNone/>
            </a:pPr>
            <a:r>
              <a:rPr lang="en-US" altLang="en-US" sz="2800" dirty="0"/>
              <a:t>A simple graph </a:t>
            </a:r>
            <a:r>
              <a:rPr lang="en-US" altLang="en-US" sz="2800" i="1" dirty="0"/>
              <a:t>G</a:t>
            </a:r>
            <a:r>
              <a:rPr lang="en-US" altLang="en-US" sz="2800" dirty="0"/>
              <a:t> = (</a:t>
            </a:r>
            <a:r>
              <a:rPr lang="en-US" altLang="en-US" sz="2800" i="1" dirty="0"/>
              <a:t>V</a:t>
            </a:r>
            <a:r>
              <a:rPr lang="en-US" altLang="en-US" sz="2800" dirty="0"/>
              <a:t>, </a:t>
            </a:r>
            <a:r>
              <a:rPr lang="en-US" altLang="en-US" sz="2800" i="1" dirty="0"/>
              <a:t>E</a:t>
            </a:r>
            <a:r>
              <a:rPr lang="en-US" altLang="en-US" sz="2800" dirty="0"/>
              <a:t>) with n vertices can be represented by its adjacency matrix, A, where entry </a:t>
            </a:r>
            <a:r>
              <a:rPr lang="en-US" altLang="en-US" sz="2800" dirty="0" err="1"/>
              <a:t>a</a:t>
            </a:r>
            <a:r>
              <a:rPr lang="en-US" altLang="en-US" sz="2800" i="1" baseline="-25000" dirty="0" err="1">
                <a:latin typeface="Courier New" panose="02070309020205020404" pitchFamily="49" charset="0"/>
              </a:rPr>
              <a:t>ij</a:t>
            </a:r>
            <a:r>
              <a:rPr lang="en-US" altLang="en-US" sz="2800" dirty="0"/>
              <a:t> in row </a:t>
            </a:r>
            <a:r>
              <a:rPr lang="en-US" altLang="en-US" sz="2800" i="1" dirty="0" err="1">
                <a:latin typeface="Courier New" panose="02070309020205020404" pitchFamily="49" charset="0"/>
              </a:rPr>
              <a:t>i</a:t>
            </a:r>
            <a:r>
              <a:rPr lang="en-US" altLang="en-US" sz="2800" dirty="0"/>
              <a:t> and column </a:t>
            </a:r>
            <a:r>
              <a:rPr lang="en-US" altLang="en-US" sz="2800" i="1" dirty="0">
                <a:latin typeface="Courier New" panose="02070309020205020404" pitchFamily="49" charset="0"/>
              </a:rPr>
              <a:t>j</a:t>
            </a:r>
            <a:r>
              <a:rPr lang="en-US" altLang="en-US" sz="2800" dirty="0"/>
              <a:t> is</a:t>
            </a:r>
            <a:endParaRPr lang="en-US" altLang="en-US" sz="3200" dirty="0"/>
          </a:p>
          <a:p>
            <a:pPr>
              <a:buFont typeface="Monotype Sorts" pitchFamily="2" charset="2"/>
              <a:buNone/>
            </a:pPr>
            <a:r>
              <a:rPr lang="en-US" altLang="en-US" sz="3200" dirty="0"/>
              <a:t>                 </a:t>
            </a:r>
            <a:r>
              <a:rPr lang="en-US" altLang="en-US" sz="2800" dirty="0"/>
              <a:t>1        if  { </a:t>
            </a:r>
            <a:r>
              <a:rPr lang="en-US" altLang="en-US" sz="2800" i="1" dirty="0"/>
              <a:t>v</a:t>
            </a:r>
            <a:r>
              <a:rPr lang="en-US" altLang="en-US" sz="2800" i="1" baseline="-25000" dirty="0">
                <a:latin typeface="Courier New" panose="02070309020205020404" pitchFamily="49" charset="0"/>
              </a:rPr>
              <a:t>i</a:t>
            </a:r>
            <a:r>
              <a:rPr lang="en-US" altLang="en-US" sz="2800" dirty="0"/>
              <a:t>, </a:t>
            </a:r>
            <a:r>
              <a:rPr lang="en-US" altLang="en-US" sz="2800" i="1" dirty="0" err="1"/>
              <a:t>v</a:t>
            </a:r>
            <a:r>
              <a:rPr lang="en-US" altLang="en-US" sz="2800" i="1" baseline="-25000" dirty="0" err="1">
                <a:latin typeface="Courier New" panose="02070309020205020404" pitchFamily="49" charset="0"/>
              </a:rPr>
              <a:t>j</a:t>
            </a:r>
            <a:r>
              <a:rPr lang="en-US" altLang="en-US" sz="2800" i="1" dirty="0"/>
              <a:t> </a:t>
            </a:r>
            <a:r>
              <a:rPr lang="en-US" altLang="en-US" sz="2800" dirty="0"/>
              <a:t>} is an edge in G,</a:t>
            </a:r>
            <a:endParaRPr lang="en-US" altLang="en-US" sz="3200" dirty="0"/>
          </a:p>
          <a:p>
            <a:pPr>
              <a:buFont typeface="Monotype Sorts" pitchFamily="2" charset="2"/>
              <a:buNone/>
            </a:pPr>
            <a:r>
              <a:rPr lang="en-US" altLang="en-US" sz="3200" dirty="0" err="1"/>
              <a:t>a</a:t>
            </a:r>
            <a:r>
              <a:rPr lang="en-US" altLang="en-US" sz="3200" i="1" baseline="-25000" dirty="0" err="1">
                <a:latin typeface="Courier New" panose="02070309020205020404" pitchFamily="49" charset="0"/>
              </a:rPr>
              <a:t>ij</a:t>
            </a:r>
            <a:r>
              <a:rPr lang="en-US" altLang="en-US" sz="3200" dirty="0">
                <a:latin typeface="Courier New" panose="02070309020205020404" pitchFamily="49" charset="0"/>
              </a:rPr>
              <a:t> </a:t>
            </a:r>
            <a:r>
              <a:rPr lang="en-US" altLang="en-US" sz="3200" dirty="0"/>
              <a:t>=  </a:t>
            </a:r>
          </a:p>
          <a:p>
            <a:pPr>
              <a:buFont typeface="Monotype Sorts" pitchFamily="2" charset="2"/>
              <a:buNone/>
            </a:pPr>
            <a:r>
              <a:rPr lang="en-US" altLang="en-US" sz="2800" dirty="0"/>
              <a:t>                    0        otherwise.</a:t>
            </a:r>
            <a:endParaRPr lang="en-US" altLang="en-US" sz="1800" dirty="0"/>
          </a:p>
          <a:p>
            <a:pPr>
              <a:lnSpc>
                <a:spcPct val="120000"/>
              </a:lnSpc>
              <a:buFont typeface="Monotype Sorts" pitchFamily="2" charset="2"/>
              <a:buNone/>
            </a:pPr>
            <a:endParaRPr lang="en-US" altLang="en-US" sz="2800" dirty="0"/>
          </a:p>
          <a:p>
            <a:pPr>
              <a:buFont typeface="Monotype Sorts" pitchFamily="2" charset="2"/>
              <a:buNone/>
            </a:pPr>
            <a:endParaRPr lang="en-US" altLang="en-US" sz="2800" dirty="0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BB0368B3-66A6-4B83-BDF9-DDA1C7E8DD59}"/>
              </a:ext>
            </a:extLst>
          </p:cNvPr>
          <p:cNvSpPr>
            <a:spLocks/>
          </p:cNvSpPr>
          <p:nvPr/>
        </p:nvSpPr>
        <p:spPr bwMode="auto">
          <a:xfrm>
            <a:off x="1862608" y="3159835"/>
            <a:ext cx="321364" cy="2130606"/>
          </a:xfrm>
          <a:prstGeom prst="leftBrace">
            <a:avLst>
              <a:gd name="adj1" fmla="val 43750"/>
              <a:gd name="adj2" fmla="val 50000"/>
            </a:avLst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82756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Finding the adjacency matrix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D236-0AD7-4369-BC36-531DCC4E2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5821" y="1438741"/>
            <a:ext cx="8661258" cy="147332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This graph has 6 vertices a, b, c, d, e, f. </a:t>
            </a:r>
            <a:br>
              <a:rPr lang="en-US" dirty="0"/>
            </a:br>
            <a:r>
              <a:rPr lang="en-US" dirty="0"/>
              <a:t>We can arrange them in that order.</a:t>
            </a:r>
            <a:endParaRPr lang="en-IN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7CA82A4-314D-403B-B299-863F8E69484D}"/>
              </a:ext>
            </a:extLst>
          </p:cNvPr>
          <p:cNvGrpSpPr/>
          <p:nvPr/>
        </p:nvGrpSpPr>
        <p:grpSpPr>
          <a:xfrm>
            <a:off x="2820858" y="2722110"/>
            <a:ext cx="2889397" cy="3473206"/>
            <a:chOff x="2205038" y="3160649"/>
            <a:chExt cx="2889397" cy="3473206"/>
          </a:xfrm>
        </p:grpSpPr>
        <p:sp>
          <p:nvSpPr>
            <p:cNvPr id="4" name="Line 46">
              <a:extLst>
                <a:ext uri="{FF2B5EF4-FFF2-40B4-BE49-F238E27FC236}">
                  <a16:creationId xmlns:a16="http://schemas.microsoft.com/office/drawing/2014/main" id="{9BCD4FE8-4EEB-42F8-A589-9232EA4F085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048000" y="4846985"/>
              <a:ext cx="617538" cy="6858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5" name="Text Box 47">
              <a:extLst>
                <a:ext uri="{FF2B5EF4-FFF2-40B4-BE49-F238E27FC236}">
                  <a16:creationId xmlns:a16="http://schemas.microsoft.com/office/drawing/2014/main" id="{59AB362F-3129-4705-A423-0A17A884619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619625" y="4372323"/>
              <a:ext cx="47481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d</a:t>
              </a:r>
              <a:endParaRPr lang="en-US" altLang="en-US" sz="2800"/>
            </a:p>
          </p:txBody>
        </p:sp>
        <p:sp>
          <p:nvSpPr>
            <p:cNvPr id="6" name="Text Box 48">
              <a:extLst>
                <a:ext uri="{FF2B5EF4-FFF2-40B4-BE49-F238E27FC236}">
                  <a16:creationId xmlns:a16="http://schemas.microsoft.com/office/drawing/2014/main" id="{DD72B2CE-E667-4077-96A3-37B7AE30C0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76600" y="6110635"/>
              <a:ext cx="715260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/>
                <a:t> W</a:t>
              </a:r>
              <a:r>
                <a:rPr lang="en-US" altLang="en-US" sz="2800" baseline="-25000"/>
                <a:t>5</a:t>
              </a:r>
              <a:endParaRPr lang="en-US" altLang="en-US" sz="2800"/>
            </a:p>
          </p:txBody>
        </p:sp>
        <p:sp>
          <p:nvSpPr>
            <p:cNvPr id="7" name="Line 49">
              <a:extLst>
                <a:ext uri="{FF2B5EF4-FFF2-40B4-BE49-F238E27FC236}">
                  <a16:creationId xmlns:a16="http://schemas.microsoft.com/office/drawing/2014/main" id="{4F70582E-4927-4F9C-BCBB-011D3E3123F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>
              <a:off x="2922588" y="4465985"/>
              <a:ext cx="0" cy="10620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8" name="Oval 50">
              <a:extLst>
                <a:ext uri="{FF2B5EF4-FFF2-40B4-BE49-F238E27FC236}">
                  <a16:creationId xmlns:a16="http://schemas.microsoft.com/office/drawing/2014/main" id="{0B0A038E-56DE-4E1F-904E-9DB3FECE37C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81401" y="3748435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9" name="Line 51">
              <a:extLst>
                <a:ext uri="{FF2B5EF4-FFF2-40B4-BE49-F238E27FC236}">
                  <a16:creationId xmlns:a16="http://schemas.microsoft.com/office/drawing/2014/main" id="{6704093D-B6A7-4BDB-844A-8F3273FEB8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225800" y="5537548"/>
              <a:ext cx="96043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0" name="Oval 52">
              <a:extLst>
                <a:ext uri="{FF2B5EF4-FFF2-40B4-BE49-F238E27FC236}">
                  <a16:creationId xmlns:a16="http://schemas.microsoft.com/office/drawing/2014/main" id="{7C2B7709-7010-4E4D-9693-DF29BE86247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678114" y="4440586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1" name="Line 53">
              <a:extLst>
                <a:ext uri="{FF2B5EF4-FFF2-40B4-BE49-F238E27FC236}">
                  <a16:creationId xmlns:a16="http://schemas.microsoft.com/office/drawing/2014/main" id="{209233F4-1632-4203-920A-1F6E98E5E5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4359276" y="4513610"/>
              <a:ext cx="36513" cy="9652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2" name="Oval 54">
              <a:extLst>
                <a:ext uri="{FF2B5EF4-FFF2-40B4-BE49-F238E27FC236}">
                  <a16:creationId xmlns:a16="http://schemas.microsoft.com/office/drawing/2014/main" id="{C3ABEC31-6843-446E-8976-CC4FEE2D99B6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4456114" y="4404073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3" name="Line 55">
              <a:extLst>
                <a:ext uri="{FF2B5EF4-FFF2-40B4-BE49-F238E27FC236}">
                  <a16:creationId xmlns:a16="http://schemas.microsoft.com/office/drawing/2014/main" id="{7CA9F687-43E0-4BB9-9447-B90B97D7F23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733800" y="3913535"/>
              <a:ext cx="795338" cy="5969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4" name="Oval 56">
              <a:extLst>
                <a:ext uri="{FF2B5EF4-FFF2-40B4-BE49-F238E27FC236}">
                  <a16:creationId xmlns:a16="http://schemas.microsoft.com/office/drawing/2014/main" id="{A0B0F723-D2DC-499C-B58B-037DC58AAE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019426" y="5401024"/>
              <a:ext cx="206375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5" name="Line 57">
              <a:extLst>
                <a:ext uri="{FF2B5EF4-FFF2-40B4-BE49-F238E27FC236}">
                  <a16:creationId xmlns:a16="http://schemas.microsoft.com/office/drawing/2014/main" id="{1F3A5F1B-F625-4D58-89A8-2644DC787A2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2917032" y="3722242"/>
              <a:ext cx="685800" cy="890587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16" name="Oval 58">
              <a:extLst>
                <a:ext uri="{FF2B5EF4-FFF2-40B4-BE49-F238E27FC236}">
                  <a16:creationId xmlns:a16="http://schemas.microsoft.com/office/drawing/2014/main" id="{622D2CE2-67A3-408B-8882-E16CD5206AD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17975" y="5401024"/>
              <a:ext cx="204788" cy="204787"/>
            </a:xfrm>
            <a:prstGeom prst="ellipse">
              <a:avLst/>
            </a:prstGeom>
            <a:solidFill>
              <a:srgbClr val="990033"/>
            </a:solidFill>
            <a:ln w="12700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17" name="Text Box 59">
              <a:extLst>
                <a:ext uri="{FF2B5EF4-FFF2-40B4-BE49-F238E27FC236}">
                  <a16:creationId xmlns:a16="http://schemas.microsoft.com/office/drawing/2014/main" id="{F9E4B0B2-C8C1-4B39-B8E7-63C6F80B257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84463" y="5401023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a</a:t>
              </a:r>
              <a:endParaRPr lang="en-US" altLang="en-US" sz="2800"/>
            </a:p>
          </p:txBody>
        </p:sp>
        <p:sp>
          <p:nvSpPr>
            <p:cNvPr id="18" name="Text Box 60">
              <a:extLst>
                <a:ext uri="{FF2B5EF4-FFF2-40B4-BE49-F238E27FC236}">
                  <a16:creationId xmlns:a16="http://schemas.microsoft.com/office/drawing/2014/main" id="{D6DFC933-BB9D-4C1F-8A06-50E940C3FD7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205038" y="4372323"/>
              <a:ext cx="47641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b</a:t>
              </a:r>
              <a:endParaRPr lang="en-US" altLang="en-US" sz="2800"/>
            </a:p>
          </p:txBody>
        </p:sp>
        <p:sp>
          <p:nvSpPr>
            <p:cNvPr id="20" name="Text Box 62">
              <a:extLst>
                <a:ext uri="{FF2B5EF4-FFF2-40B4-BE49-F238E27FC236}">
                  <a16:creationId xmlns:a16="http://schemas.microsoft.com/office/drawing/2014/main" id="{494CBEFE-3B10-460A-B553-D81888E7287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6725" y="5401023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e</a:t>
              </a:r>
              <a:endParaRPr lang="en-US" altLang="en-US" sz="2800"/>
            </a:p>
          </p:txBody>
        </p:sp>
        <p:sp>
          <p:nvSpPr>
            <p:cNvPr id="21" name="Oval 63">
              <a:extLst>
                <a:ext uri="{FF2B5EF4-FFF2-40B4-BE49-F238E27FC236}">
                  <a16:creationId xmlns:a16="http://schemas.microsoft.com/office/drawing/2014/main" id="{35A650FB-550D-494C-AA51-E6F7B840EC2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3519489" y="4646961"/>
              <a:ext cx="230187" cy="246063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800"/>
            </a:p>
          </p:txBody>
        </p:sp>
        <p:sp>
          <p:nvSpPr>
            <p:cNvPr id="22" name="Line 64">
              <a:extLst>
                <a:ext uri="{FF2B5EF4-FFF2-40B4-BE49-F238E27FC236}">
                  <a16:creationId xmlns:a16="http://schemas.microsoft.com/office/drawing/2014/main" id="{D300A3D2-4DE4-42CD-A4E4-864BBAF6E68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765426" y="4510435"/>
              <a:ext cx="892175" cy="2730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3" name="Line 65">
              <a:extLst>
                <a:ext uri="{FF2B5EF4-FFF2-40B4-BE49-F238E27FC236}">
                  <a16:creationId xmlns:a16="http://schemas.microsoft.com/office/drawing/2014/main" id="{CA8F88F7-4476-413F-8DCC-00FBD93EBEF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589338" y="4783485"/>
              <a:ext cx="615950" cy="6175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4" name="Line 66">
              <a:extLst>
                <a:ext uri="{FF2B5EF4-FFF2-40B4-BE49-F238E27FC236}">
                  <a16:creationId xmlns:a16="http://schemas.microsoft.com/office/drawing/2014/main" id="{25A72974-E23C-4F82-927A-002E7C19C46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3657600" y="3900835"/>
              <a:ext cx="0" cy="8826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5" name="Line 67">
              <a:extLst>
                <a:ext uri="{FF2B5EF4-FFF2-40B4-BE49-F238E27FC236}">
                  <a16:creationId xmlns:a16="http://schemas.microsoft.com/office/drawing/2014/main" id="{E1EF186C-536D-4B28-B135-9ED4540DE14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589338" y="4510435"/>
              <a:ext cx="1027112" cy="2730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 sz="2800"/>
            </a:p>
          </p:txBody>
        </p:sp>
        <p:sp>
          <p:nvSpPr>
            <p:cNvPr id="26" name="Text Box 68">
              <a:extLst>
                <a:ext uri="{FF2B5EF4-FFF2-40B4-BE49-F238E27FC236}">
                  <a16:creationId xmlns:a16="http://schemas.microsoft.com/office/drawing/2014/main" id="{03668D2E-9B21-4B28-A7DC-CA13298C6E6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84463" y="5401023"/>
              <a:ext cx="471604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a</a:t>
              </a:r>
              <a:endParaRPr lang="en-US" altLang="en-US" sz="2800"/>
            </a:p>
          </p:txBody>
        </p:sp>
        <p:sp>
          <p:nvSpPr>
            <p:cNvPr id="27" name="Text Box 69">
              <a:extLst>
                <a:ext uri="{FF2B5EF4-FFF2-40B4-BE49-F238E27FC236}">
                  <a16:creationId xmlns:a16="http://schemas.microsoft.com/office/drawing/2014/main" id="{E7456ED0-7C1F-4E43-917C-133AE8495B35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381652" y="3160649"/>
              <a:ext cx="460382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c</a:t>
              </a:r>
              <a:endParaRPr lang="en-US" altLang="en-US" sz="2800"/>
            </a:p>
          </p:txBody>
        </p:sp>
        <p:sp>
          <p:nvSpPr>
            <p:cNvPr id="28" name="Text Box 70">
              <a:extLst>
                <a:ext uri="{FF2B5EF4-FFF2-40B4-BE49-F238E27FC236}">
                  <a16:creationId xmlns:a16="http://schemas.microsoft.com/office/drawing/2014/main" id="{ED2419A3-D017-4708-B54D-A4F713BCCDA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75138" y="5401023"/>
              <a:ext cx="473206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800" i="1"/>
                <a:t> e</a:t>
              </a:r>
              <a:endParaRPr lang="en-US" altLang="en-US" sz="2800"/>
            </a:p>
          </p:txBody>
        </p:sp>
        <p:sp>
          <p:nvSpPr>
            <p:cNvPr id="29" name="Text Box 71">
              <a:extLst>
                <a:ext uri="{FF2B5EF4-FFF2-40B4-BE49-F238E27FC236}">
                  <a16:creationId xmlns:a16="http://schemas.microsoft.com/office/drawing/2014/main" id="{A1CED656-52EA-4682-842B-4C0122814B9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733801" y="4694585"/>
              <a:ext cx="454025" cy="523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sz="2800" i="1"/>
                <a:t> f</a:t>
              </a:r>
              <a:endParaRPr lang="en-US" altLang="en-US" sz="2800"/>
            </a:p>
          </p:txBody>
        </p:sp>
      </p:grpSp>
    </p:spTree>
    <p:extLst>
      <p:ext uri="{BB962C8B-B14F-4D97-AF65-F5344CB8AC3E}">
        <p14:creationId xmlns:p14="http://schemas.microsoft.com/office/powerpoint/2010/main" val="3490780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32" name="Line 63">
            <a:extLst>
              <a:ext uri="{FF2B5EF4-FFF2-40B4-BE49-F238E27FC236}">
                <a16:creationId xmlns:a16="http://schemas.microsoft.com/office/drawing/2014/main" id="{E19283B7-66BD-46DF-BAC7-BBBA6F27AFB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40907" y="3236846"/>
            <a:ext cx="617538" cy="6858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3" name="Rectangle 3">
            <a:extLst>
              <a:ext uri="{FF2B5EF4-FFF2-40B4-BE49-F238E27FC236}">
                <a16:creationId xmlns:a16="http://schemas.microsoft.com/office/drawing/2014/main" id="{6F4B60C9-16BC-47BA-BF0C-A3A0E600C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98507" y="1636646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  <a:latin typeface="+mn-lt"/>
              </a:rPr>
              <a:t>a    b    c    d     e    f   </a:t>
            </a:r>
            <a:endParaRPr lang="en-US" altLang="en-US">
              <a:latin typeface="+mn-lt"/>
            </a:endParaRPr>
          </a:p>
        </p:txBody>
      </p:sp>
      <p:sp>
        <p:nvSpPr>
          <p:cNvPr id="34" name="Text Box 19">
            <a:extLst>
              <a:ext uri="{FF2B5EF4-FFF2-40B4-BE49-F238E27FC236}">
                <a16:creationId xmlns:a16="http://schemas.microsoft.com/office/drawing/2014/main" id="{DD9F8455-3931-4E3E-89FA-B684421840F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512532" y="276218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d</a:t>
            </a:r>
            <a:endParaRPr lang="en-US" altLang="en-US" sz="2400"/>
          </a:p>
        </p:txBody>
      </p:sp>
      <p:grpSp>
        <p:nvGrpSpPr>
          <p:cNvPr id="35" name="Group 39">
            <a:extLst>
              <a:ext uri="{FF2B5EF4-FFF2-40B4-BE49-F238E27FC236}">
                <a16:creationId xmlns:a16="http://schemas.microsoft.com/office/drawing/2014/main" id="{A86ECA85-3EE9-4849-BD4F-AB2FD96429F3}"/>
              </a:ext>
            </a:extLst>
          </p:cNvPr>
          <p:cNvGrpSpPr>
            <a:grpSpLocks/>
          </p:cNvGrpSpPr>
          <p:nvPr/>
        </p:nvGrpSpPr>
        <p:grpSpPr bwMode="auto">
          <a:xfrm>
            <a:off x="4446107" y="2551046"/>
            <a:ext cx="3276600" cy="2971800"/>
            <a:chOff x="3168" y="1824"/>
            <a:chExt cx="1776" cy="1440"/>
          </a:xfrm>
        </p:grpSpPr>
        <p:grpSp>
          <p:nvGrpSpPr>
            <p:cNvPr id="36" name="Group 33">
              <a:extLst>
                <a:ext uri="{FF2B5EF4-FFF2-40B4-BE49-F238E27FC236}">
                  <a16:creationId xmlns:a16="http://schemas.microsoft.com/office/drawing/2014/main" id="{3E5D7621-B570-4D0A-B177-4A7B54ECEC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24"/>
              <a:ext cx="192" cy="1440"/>
              <a:chOff x="2928" y="1824"/>
              <a:chExt cx="192" cy="1440"/>
            </a:xfrm>
          </p:grpSpPr>
          <p:sp>
            <p:nvSpPr>
              <p:cNvPr id="41" name="Line 30">
                <a:extLst>
                  <a:ext uri="{FF2B5EF4-FFF2-40B4-BE49-F238E27FC236}">
                    <a16:creationId xmlns:a16="http://schemas.microsoft.com/office/drawing/2014/main" id="{EAFEAC85-B0AC-4208-8F9E-95821D1604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2" name="Line 31">
                <a:extLst>
                  <a:ext uri="{FF2B5EF4-FFF2-40B4-BE49-F238E27FC236}">
                    <a16:creationId xmlns:a16="http://schemas.microsoft.com/office/drawing/2014/main" id="{919BEB22-A2E1-4BD0-A863-E959F2C95E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3" name="Line 32">
                <a:extLst>
                  <a:ext uri="{FF2B5EF4-FFF2-40B4-BE49-F238E27FC236}">
                    <a16:creationId xmlns:a16="http://schemas.microsoft.com/office/drawing/2014/main" id="{55C7D116-EC8D-4AB2-A4E6-566CBF4DC0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37" name="Group 34">
              <a:extLst>
                <a:ext uri="{FF2B5EF4-FFF2-40B4-BE49-F238E27FC236}">
                  <a16:creationId xmlns:a16="http://schemas.microsoft.com/office/drawing/2014/main" id="{6DAC9BEC-1F18-43F0-8989-090C24BB749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52" y="1824"/>
              <a:ext cx="192" cy="1440"/>
              <a:chOff x="2928" y="1824"/>
              <a:chExt cx="192" cy="1440"/>
            </a:xfrm>
          </p:grpSpPr>
          <p:sp>
            <p:nvSpPr>
              <p:cNvPr id="38" name="Line 35">
                <a:extLst>
                  <a:ext uri="{FF2B5EF4-FFF2-40B4-BE49-F238E27FC236}">
                    <a16:creationId xmlns:a16="http://schemas.microsoft.com/office/drawing/2014/main" id="{038F3676-74D0-4130-B558-7C0BDAB105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39" name="Line 36">
                <a:extLst>
                  <a:ext uri="{FF2B5EF4-FFF2-40B4-BE49-F238E27FC236}">
                    <a16:creationId xmlns:a16="http://schemas.microsoft.com/office/drawing/2014/main" id="{0D27A4BD-E86B-48EC-AF94-8DD3CBE2F0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40" name="Line 37">
                <a:extLst>
                  <a:ext uri="{FF2B5EF4-FFF2-40B4-BE49-F238E27FC236}">
                    <a16:creationId xmlns:a16="http://schemas.microsoft.com/office/drawing/2014/main" id="{4F4DC567-670F-4EA1-B874-20E4277830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44" name="Text Box 38">
            <a:extLst>
              <a:ext uri="{FF2B5EF4-FFF2-40B4-BE49-F238E27FC236}">
                <a16:creationId xmlns:a16="http://schemas.microsoft.com/office/drawing/2014/main" id="{1EF23ECD-7003-4920-87CA-0E1CE03FFDA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44433" y="2514534"/>
            <a:ext cx="3475631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b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c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d</a:t>
            </a:r>
          </a:p>
          <a:p>
            <a:endParaRPr lang="en-US" altLang="en-US" sz="1000"/>
          </a:p>
          <a:p>
            <a:r>
              <a:rPr lang="en-US" altLang="en-US" sz="2400"/>
              <a:t>e</a:t>
            </a:r>
          </a:p>
          <a:p>
            <a:endParaRPr lang="en-US" altLang="en-US" sz="1000"/>
          </a:p>
          <a:p>
            <a:r>
              <a:rPr lang="en-US" altLang="en-US" sz="2400"/>
              <a:t>f</a:t>
            </a:r>
            <a:endParaRPr lang="en-US" altLang="en-US"/>
          </a:p>
        </p:txBody>
      </p:sp>
      <p:sp>
        <p:nvSpPr>
          <p:cNvPr id="45" name="Text Box 40">
            <a:extLst>
              <a:ext uri="{FF2B5EF4-FFF2-40B4-BE49-F238E27FC236}">
                <a16:creationId xmlns:a16="http://schemas.microsoft.com/office/drawing/2014/main" id="{86193FB6-06A2-4E7D-A832-84FEC2B4F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4508" y="209384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FROM</a:t>
            </a:r>
          </a:p>
        </p:txBody>
      </p:sp>
      <p:sp>
        <p:nvSpPr>
          <p:cNvPr id="46" name="Text Box 41">
            <a:extLst>
              <a:ext uri="{FF2B5EF4-FFF2-40B4-BE49-F238E27FC236}">
                <a16:creationId xmlns:a16="http://schemas.microsoft.com/office/drawing/2014/main" id="{A974646B-65E1-4E0D-BC5D-C9BAD369D1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20733" y="140804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TO</a:t>
            </a:r>
          </a:p>
        </p:txBody>
      </p:sp>
      <p:sp>
        <p:nvSpPr>
          <p:cNvPr id="47" name="Text Box 42">
            <a:extLst>
              <a:ext uri="{FF2B5EF4-FFF2-40B4-BE49-F238E27FC236}">
                <a16:creationId xmlns:a16="http://schemas.microsoft.com/office/drawing/2014/main" id="{992CB881-FC5C-4FB7-BDEC-057DF2DCFA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6840" y="5761684"/>
            <a:ext cx="8921439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600" dirty="0"/>
              <a:t>There are edges from a to b, from a to e, and from a to f   </a:t>
            </a:r>
          </a:p>
        </p:txBody>
      </p:sp>
      <p:sp>
        <p:nvSpPr>
          <p:cNvPr id="48" name="Text Box 44">
            <a:extLst>
              <a:ext uri="{FF2B5EF4-FFF2-40B4-BE49-F238E27FC236}">
                <a16:creationId xmlns:a16="http://schemas.microsoft.com/office/drawing/2014/main" id="{8086BC3A-7731-43A3-95EE-22BAD7516D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9507" y="4500496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49" name="Line 45">
            <a:extLst>
              <a:ext uri="{FF2B5EF4-FFF2-40B4-BE49-F238E27FC236}">
                <a16:creationId xmlns:a16="http://schemas.microsoft.com/office/drawing/2014/main" id="{14CC69E5-9AF3-4100-9CBE-789699F6C306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815495" y="2855846"/>
            <a:ext cx="0" cy="10620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0" name="Oval 46">
            <a:extLst>
              <a:ext uri="{FF2B5EF4-FFF2-40B4-BE49-F238E27FC236}">
                <a16:creationId xmlns:a16="http://schemas.microsoft.com/office/drawing/2014/main" id="{04F575F0-815F-4826-8092-B055E7D4BC2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74308" y="2138296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51" name="Line 47">
            <a:extLst>
              <a:ext uri="{FF2B5EF4-FFF2-40B4-BE49-F238E27FC236}">
                <a16:creationId xmlns:a16="http://schemas.microsoft.com/office/drawing/2014/main" id="{DF44B1DC-085D-4B14-B36B-D4876D4601D3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118707" y="3927409"/>
            <a:ext cx="960438" cy="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2" name="Oval 48">
            <a:extLst>
              <a:ext uri="{FF2B5EF4-FFF2-40B4-BE49-F238E27FC236}">
                <a16:creationId xmlns:a16="http://schemas.microsoft.com/office/drawing/2014/main" id="{3A4FB0BC-41CF-4EF9-90A8-D0361C6F92F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71021" y="2830447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53" name="Line 49">
            <a:extLst>
              <a:ext uri="{FF2B5EF4-FFF2-40B4-BE49-F238E27FC236}">
                <a16:creationId xmlns:a16="http://schemas.microsoft.com/office/drawing/2014/main" id="{B4258562-CF0D-414A-836C-23A50CA0590E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252183" y="2903471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4" name="Oval 50">
            <a:extLst>
              <a:ext uri="{FF2B5EF4-FFF2-40B4-BE49-F238E27FC236}">
                <a16:creationId xmlns:a16="http://schemas.microsoft.com/office/drawing/2014/main" id="{287269F8-A5D2-4B89-9D4E-881A28429870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349021" y="2793934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55" name="Line 51">
            <a:extLst>
              <a:ext uri="{FF2B5EF4-FFF2-40B4-BE49-F238E27FC236}">
                <a16:creationId xmlns:a16="http://schemas.microsoft.com/office/drawing/2014/main" id="{ECACA5B2-96F1-4733-9015-D0FA097A398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26707" y="2303396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6" name="Oval 52">
            <a:extLst>
              <a:ext uri="{FF2B5EF4-FFF2-40B4-BE49-F238E27FC236}">
                <a16:creationId xmlns:a16="http://schemas.microsoft.com/office/drawing/2014/main" id="{65DB1A19-4062-4F60-921C-E3EB6B3BC10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912333" y="3790885"/>
            <a:ext cx="206375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57" name="Line 53">
            <a:extLst>
              <a:ext uri="{FF2B5EF4-FFF2-40B4-BE49-F238E27FC236}">
                <a16:creationId xmlns:a16="http://schemas.microsoft.com/office/drawing/2014/main" id="{B43BBFB9-E632-4114-99FF-4A7E66B085B4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809939" y="2112103"/>
            <a:ext cx="685800" cy="890587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8" name="Oval 54">
            <a:extLst>
              <a:ext uri="{FF2B5EF4-FFF2-40B4-BE49-F238E27FC236}">
                <a16:creationId xmlns:a16="http://schemas.microsoft.com/office/drawing/2014/main" id="{23EFD1CF-0DD3-4C2A-8C8C-C106D613266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10882" y="3790885"/>
            <a:ext cx="204788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59" name="Text Box 55">
            <a:extLst>
              <a:ext uri="{FF2B5EF4-FFF2-40B4-BE49-F238E27FC236}">
                <a16:creationId xmlns:a16="http://schemas.microsoft.com/office/drawing/2014/main" id="{1FB7090F-2D7A-4929-9A3C-7AEB82DFEE5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7370" y="379088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60" name="Text Box 56">
            <a:extLst>
              <a:ext uri="{FF2B5EF4-FFF2-40B4-BE49-F238E27FC236}">
                <a16:creationId xmlns:a16="http://schemas.microsoft.com/office/drawing/2014/main" id="{47B41B10-E85A-48A6-8D88-BAAEF7D72E9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945" y="276218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61" name="Text Box 57">
            <a:extLst>
              <a:ext uri="{FF2B5EF4-FFF2-40B4-BE49-F238E27FC236}">
                <a16:creationId xmlns:a16="http://schemas.microsoft.com/office/drawing/2014/main" id="{235F0934-C931-4E21-86EE-9A683CBD1F8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44132" y="178904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62" name="Text Box 58">
            <a:extLst>
              <a:ext uri="{FF2B5EF4-FFF2-40B4-BE49-F238E27FC236}">
                <a16:creationId xmlns:a16="http://schemas.microsoft.com/office/drawing/2014/main" id="{D6BCD757-6E79-48EE-9CBF-AF9F85B3A60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69632" y="379088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63" name="Oval 60">
            <a:extLst>
              <a:ext uri="{FF2B5EF4-FFF2-40B4-BE49-F238E27FC236}">
                <a16:creationId xmlns:a16="http://schemas.microsoft.com/office/drawing/2014/main" id="{44C54B42-54EB-49CE-ABA1-EDD4C98345B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1412396" y="3036822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64" name="Line 61">
            <a:extLst>
              <a:ext uri="{FF2B5EF4-FFF2-40B4-BE49-F238E27FC236}">
                <a16:creationId xmlns:a16="http://schemas.microsoft.com/office/drawing/2014/main" id="{9F5716A0-464A-4F7D-AB3C-2F86FE51A94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58333" y="2900296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5" name="Line 62">
            <a:extLst>
              <a:ext uri="{FF2B5EF4-FFF2-40B4-BE49-F238E27FC236}">
                <a16:creationId xmlns:a16="http://schemas.microsoft.com/office/drawing/2014/main" id="{4AD85B25-85B6-4648-88F0-D8644F27638D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82245" y="3173346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6" name="Line 64">
            <a:extLst>
              <a:ext uri="{FF2B5EF4-FFF2-40B4-BE49-F238E27FC236}">
                <a16:creationId xmlns:a16="http://schemas.microsoft.com/office/drawing/2014/main" id="{D730B605-1DAC-4AA3-93BC-DA54E7A25C88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50507" y="2290696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7" name="Line 65">
            <a:extLst>
              <a:ext uri="{FF2B5EF4-FFF2-40B4-BE49-F238E27FC236}">
                <a16:creationId xmlns:a16="http://schemas.microsoft.com/office/drawing/2014/main" id="{961C8AAC-DA91-4EFA-9EB2-1B46D9C81198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482245" y="2900296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8" name="Text Box 66">
            <a:extLst>
              <a:ext uri="{FF2B5EF4-FFF2-40B4-BE49-F238E27FC236}">
                <a16:creationId xmlns:a16="http://schemas.microsoft.com/office/drawing/2014/main" id="{EEEC4B81-B70A-42DC-9178-50B94E52E9D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77370" y="379088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69" name="Text Box 67">
            <a:extLst>
              <a:ext uri="{FF2B5EF4-FFF2-40B4-BE49-F238E27FC236}">
                <a16:creationId xmlns:a16="http://schemas.microsoft.com/office/drawing/2014/main" id="{E9F9C97C-16C3-42C7-AD92-D2C976269E1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44132" y="178904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70" name="Text Box 68">
            <a:extLst>
              <a:ext uri="{FF2B5EF4-FFF2-40B4-BE49-F238E27FC236}">
                <a16:creationId xmlns:a16="http://schemas.microsoft.com/office/drawing/2014/main" id="{8E9EB3CB-CB47-415A-84F9-4E0437BE89A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68045" y="379088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71" name="Text Box 69">
            <a:extLst>
              <a:ext uri="{FF2B5EF4-FFF2-40B4-BE49-F238E27FC236}">
                <a16:creationId xmlns:a16="http://schemas.microsoft.com/office/drawing/2014/main" id="{C4F52A55-5B89-4AD1-95C2-3D5EE4A766E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626708" y="3084446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9661441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73" name="Line 20">
            <a:extLst>
              <a:ext uri="{FF2B5EF4-FFF2-40B4-BE49-F238E27FC236}">
                <a16:creationId xmlns:a16="http://schemas.microsoft.com/office/drawing/2014/main" id="{AE17470E-B04E-4D22-9DF5-F60E6CE53243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755862" y="2716696"/>
            <a:ext cx="0" cy="1062038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4" name="Line 28">
            <a:extLst>
              <a:ext uri="{FF2B5EF4-FFF2-40B4-BE49-F238E27FC236}">
                <a16:creationId xmlns:a16="http://schemas.microsoft.com/office/drawing/2014/main" id="{3676A101-F4FF-40F9-9135-0F9F3025E339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750306" y="1972953"/>
            <a:ext cx="685800" cy="890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5" name="Line 35">
            <a:extLst>
              <a:ext uri="{FF2B5EF4-FFF2-40B4-BE49-F238E27FC236}">
                <a16:creationId xmlns:a16="http://schemas.microsoft.com/office/drawing/2014/main" id="{B917C8E8-D93D-4C30-A57A-BA72BF2ED69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598700" y="2761146"/>
            <a:ext cx="892175" cy="2730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6" name="Line 2">
            <a:extLst>
              <a:ext uri="{FF2B5EF4-FFF2-40B4-BE49-F238E27FC236}">
                <a16:creationId xmlns:a16="http://schemas.microsoft.com/office/drawing/2014/main" id="{4B1EC416-DFBB-47D7-9BBE-80943DAC1AC4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881274" y="3097696"/>
            <a:ext cx="617538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7" name="Rectangle 4">
            <a:extLst>
              <a:ext uri="{FF2B5EF4-FFF2-40B4-BE49-F238E27FC236}">
                <a16:creationId xmlns:a16="http://schemas.microsoft.com/office/drawing/2014/main" id="{0AA0C903-397E-4FAB-8049-71DA82529B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8874" y="1497496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a    b    c    d     e    f   </a:t>
            </a:r>
            <a:endParaRPr lang="en-US" altLang="en-US" dirty="0">
              <a:latin typeface="+mn-lt"/>
            </a:endParaRPr>
          </a:p>
        </p:txBody>
      </p:sp>
      <p:sp>
        <p:nvSpPr>
          <p:cNvPr id="78" name="Text Box 5">
            <a:extLst>
              <a:ext uri="{FF2B5EF4-FFF2-40B4-BE49-F238E27FC236}">
                <a16:creationId xmlns:a16="http://schemas.microsoft.com/office/drawing/2014/main" id="{EA9ADB34-510A-44EF-8518-D55A52634DA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52899" y="26230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d</a:t>
            </a:r>
            <a:endParaRPr lang="en-US" altLang="en-US" sz="2400"/>
          </a:p>
        </p:txBody>
      </p:sp>
      <p:grpSp>
        <p:nvGrpSpPr>
          <p:cNvPr id="79" name="Group 6">
            <a:extLst>
              <a:ext uri="{FF2B5EF4-FFF2-40B4-BE49-F238E27FC236}">
                <a16:creationId xmlns:a16="http://schemas.microsoft.com/office/drawing/2014/main" id="{62914EC2-B342-486B-A740-BAA8AC7DF317}"/>
              </a:ext>
            </a:extLst>
          </p:cNvPr>
          <p:cNvGrpSpPr>
            <a:grpSpLocks/>
          </p:cNvGrpSpPr>
          <p:nvPr/>
        </p:nvGrpSpPr>
        <p:grpSpPr bwMode="auto">
          <a:xfrm>
            <a:off x="4386474" y="2411896"/>
            <a:ext cx="3276600" cy="2971800"/>
            <a:chOff x="3168" y="1824"/>
            <a:chExt cx="1776" cy="1440"/>
          </a:xfrm>
        </p:grpSpPr>
        <p:grpSp>
          <p:nvGrpSpPr>
            <p:cNvPr id="80" name="Group 7">
              <a:extLst>
                <a:ext uri="{FF2B5EF4-FFF2-40B4-BE49-F238E27FC236}">
                  <a16:creationId xmlns:a16="http://schemas.microsoft.com/office/drawing/2014/main" id="{EA5C5C54-19C2-4136-9FB9-437C0892A1A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24"/>
              <a:ext cx="192" cy="1440"/>
              <a:chOff x="2928" y="1824"/>
              <a:chExt cx="192" cy="1440"/>
            </a:xfrm>
          </p:grpSpPr>
          <p:sp>
            <p:nvSpPr>
              <p:cNvPr id="85" name="Line 8">
                <a:extLst>
                  <a:ext uri="{FF2B5EF4-FFF2-40B4-BE49-F238E27FC236}">
                    <a16:creationId xmlns:a16="http://schemas.microsoft.com/office/drawing/2014/main" id="{C71CE59F-22A7-4EF4-AA45-B8DAAEBFC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6" name="Line 9">
                <a:extLst>
                  <a:ext uri="{FF2B5EF4-FFF2-40B4-BE49-F238E27FC236}">
                    <a16:creationId xmlns:a16="http://schemas.microsoft.com/office/drawing/2014/main" id="{1CB34205-81F5-4D34-B1E9-94D4131F50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7" name="Line 10">
                <a:extLst>
                  <a:ext uri="{FF2B5EF4-FFF2-40B4-BE49-F238E27FC236}">
                    <a16:creationId xmlns:a16="http://schemas.microsoft.com/office/drawing/2014/main" id="{6432ADA4-78FB-4284-A95F-BF2BE7D7EF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81" name="Group 11">
              <a:extLst>
                <a:ext uri="{FF2B5EF4-FFF2-40B4-BE49-F238E27FC236}">
                  <a16:creationId xmlns:a16="http://schemas.microsoft.com/office/drawing/2014/main" id="{CE4896B5-52BB-49D8-8FDC-321CF22AAD0A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52" y="1824"/>
              <a:ext cx="192" cy="1440"/>
              <a:chOff x="2928" y="1824"/>
              <a:chExt cx="192" cy="1440"/>
            </a:xfrm>
          </p:grpSpPr>
          <p:sp>
            <p:nvSpPr>
              <p:cNvPr id="82" name="Line 12">
                <a:extLst>
                  <a:ext uri="{FF2B5EF4-FFF2-40B4-BE49-F238E27FC236}">
                    <a16:creationId xmlns:a16="http://schemas.microsoft.com/office/drawing/2014/main" id="{F5EE03A7-8A14-418B-9CAA-37B21E97BF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3" name="Line 13">
                <a:extLst>
                  <a:ext uri="{FF2B5EF4-FFF2-40B4-BE49-F238E27FC236}">
                    <a16:creationId xmlns:a16="http://schemas.microsoft.com/office/drawing/2014/main" id="{DD615580-8A86-4C2B-B8A3-20E1AF9E78A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84" name="Line 14">
                <a:extLst>
                  <a:ext uri="{FF2B5EF4-FFF2-40B4-BE49-F238E27FC236}">
                    <a16:creationId xmlns:a16="http://schemas.microsoft.com/office/drawing/2014/main" id="{5ABDC074-3B47-4FC5-A9F7-59472D3829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88" name="Text Box 15">
            <a:extLst>
              <a:ext uri="{FF2B5EF4-FFF2-40B4-BE49-F238E27FC236}">
                <a16:creationId xmlns:a16="http://schemas.microsoft.com/office/drawing/2014/main" id="{E7CB77A7-F82F-4DEC-B265-5C7658EAD6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84799" y="2375384"/>
            <a:ext cx="3493264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b   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 0    0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c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d</a:t>
            </a:r>
          </a:p>
          <a:p>
            <a:endParaRPr lang="en-US" altLang="en-US" sz="1000"/>
          </a:p>
          <a:p>
            <a:r>
              <a:rPr lang="en-US" altLang="en-US" sz="2400"/>
              <a:t>e</a:t>
            </a:r>
          </a:p>
          <a:p>
            <a:endParaRPr lang="en-US" altLang="en-US" sz="1000"/>
          </a:p>
          <a:p>
            <a:r>
              <a:rPr lang="en-US" altLang="en-US" sz="2400"/>
              <a:t>f</a:t>
            </a:r>
            <a:endParaRPr lang="en-US" altLang="en-US"/>
          </a:p>
        </p:txBody>
      </p:sp>
      <p:sp>
        <p:nvSpPr>
          <p:cNvPr id="89" name="Text Box 16">
            <a:extLst>
              <a:ext uri="{FF2B5EF4-FFF2-40B4-BE49-F238E27FC236}">
                <a16:creationId xmlns:a16="http://schemas.microsoft.com/office/drawing/2014/main" id="{4331B450-C80A-4A8A-A00B-1518F9B79A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4875" y="195469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FROM</a:t>
            </a:r>
          </a:p>
        </p:txBody>
      </p:sp>
      <p:sp>
        <p:nvSpPr>
          <p:cNvPr id="90" name="Text Box 17">
            <a:extLst>
              <a:ext uri="{FF2B5EF4-FFF2-40B4-BE49-F238E27FC236}">
                <a16:creationId xmlns:a16="http://schemas.microsoft.com/office/drawing/2014/main" id="{2873ED99-8F95-413B-93A5-361F1F8A3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61100" y="126889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TO</a:t>
            </a:r>
          </a:p>
        </p:txBody>
      </p:sp>
      <p:sp>
        <p:nvSpPr>
          <p:cNvPr id="91" name="Text Box 18">
            <a:extLst>
              <a:ext uri="{FF2B5EF4-FFF2-40B4-BE49-F238E27FC236}">
                <a16:creationId xmlns:a16="http://schemas.microsoft.com/office/drawing/2014/main" id="{65F3627E-5A68-4C8C-A203-4144CF7716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666" y="5732945"/>
            <a:ext cx="8824151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600" dirty="0"/>
              <a:t>There are edges from b to a, from b to c, and from b to f   </a:t>
            </a:r>
          </a:p>
        </p:txBody>
      </p:sp>
      <p:sp>
        <p:nvSpPr>
          <p:cNvPr id="92" name="Text Box 19">
            <a:extLst>
              <a:ext uri="{FF2B5EF4-FFF2-40B4-BE49-F238E27FC236}">
                <a16:creationId xmlns:a16="http://schemas.microsoft.com/office/drawing/2014/main" id="{7540F891-6A9B-4603-9700-255F471E15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09874" y="4361346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93" name="Oval 21">
            <a:extLst>
              <a:ext uri="{FF2B5EF4-FFF2-40B4-BE49-F238E27FC236}">
                <a16:creationId xmlns:a16="http://schemas.microsoft.com/office/drawing/2014/main" id="{422DA4CF-ED1D-4B83-B445-2D8F39F561E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14675" y="1999146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94" name="Line 22">
            <a:extLst>
              <a:ext uri="{FF2B5EF4-FFF2-40B4-BE49-F238E27FC236}">
                <a16:creationId xmlns:a16="http://schemas.microsoft.com/office/drawing/2014/main" id="{A4F25F78-4666-4B7E-93B6-6D8452668CC8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059074" y="3788259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5" name="Oval 23">
            <a:extLst>
              <a:ext uri="{FF2B5EF4-FFF2-40B4-BE49-F238E27FC236}">
                <a16:creationId xmlns:a16="http://schemas.microsoft.com/office/drawing/2014/main" id="{292CBABF-A675-4408-99F2-5352F35051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11388" y="2691297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96" name="Line 24">
            <a:extLst>
              <a:ext uri="{FF2B5EF4-FFF2-40B4-BE49-F238E27FC236}">
                <a16:creationId xmlns:a16="http://schemas.microsoft.com/office/drawing/2014/main" id="{0248484F-82FC-4B75-A972-CE3DC9E59B3F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192550" y="2764321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7" name="Oval 25">
            <a:extLst>
              <a:ext uri="{FF2B5EF4-FFF2-40B4-BE49-F238E27FC236}">
                <a16:creationId xmlns:a16="http://schemas.microsoft.com/office/drawing/2014/main" id="{9DD467B0-68AB-48D8-8A2E-794336E3BBE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289388" y="2654784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98" name="Line 26">
            <a:extLst>
              <a:ext uri="{FF2B5EF4-FFF2-40B4-BE49-F238E27FC236}">
                <a16:creationId xmlns:a16="http://schemas.microsoft.com/office/drawing/2014/main" id="{C76CE4DC-EEA8-4058-9CEB-D6CC6BDAA02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67074" y="2164246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9" name="Oval 27">
            <a:extLst>
              <a:ext uri="{FF2B5EF4-FFF2-40B4-BE49-F238E27FC236}">
                <a16:creationId xmlns:a16="http://schemas.microsoft.com/office/drawing/2014/main" id="{424B0FA4-7581-45A7-846D-ACF1B3ABF28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52700" y="3651735"/>
            <a:ext cx="206375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00" name="Oval 29">
            <a:extLst>
              <a:ext uri="{FF2B5EF4-FFF2-40B4-BE49-F238E27FC236}">
                <a16:creationId xmlns:a16="http://schemas.microsoft.com/office/drawing/2014/main" id="{6838EF3F-44C0-43FE-BC8C-2DA23FB4DF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51249" y="3651735"/>
            <a:ext cx="204788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101" name="Text Box 30">
            <a:extLst>
              <a:ext uri="{FF2B5EF4-FFF2-40B4-BE49-F238E27FC236}">
                <a16:creationId xmlns:a16="http://schemas.microsoft.com/office/drawing/2014/main" id="{634B0666-D35E-47D4-94AF-0F627E5D08C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7737" y="36517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102" name="Text Box 31">
            <a:extLst>
              <a:ext uri="{FF2B5EF4-FFF2-40B4-BE49-F238E27FC236}">
                <a16:creationId xmlns:a16="http://schemas.microsoft.com/office/drawing/2014/main" id="{6252E899-BAE8-4B1A-98F2-482D9F2E5C7E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8312" y="26230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103" name="Text Box 32">
            <a:extLst>
              <a:ext uri="{FF2B5EF4-FFF2-40B4-BE49-F238E27FC236}">
                <a16:creationId xmlns:a16="http://schemas.microsoft.com/office/drawing/2014/main" id="{091B9C4A-9AFD-4CF1-9731-935936890B1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84499" y="164989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104" name="Text Box 33">
            <a:extLst>
              <a:ext uri="{FF2B5EF4-FFF2-40B4-BE49-F238E27FC236}">
                <a16:creationId xmlns:a16="http://schemas.microsoft.com/office/drawing/2014/main" id="{892B914D-4BFE-4179-8F03-1E8A05C7F1BC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09999" y="365173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105" name="Oval 34">
            <a:extLst>
              <a:ext uri="{FF2B5EF4-FFF2-40B4-BE49-F238E27FC236}">
                <a16:creationId xmlns:a16="http://schemas.microsoft.com/office/drawing/2014/main" id="{187C9AEC-E901-4190-90F3-51F9AC2A5899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1352763" y="2897672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106" name="Line 36">
            <a:extLst>
              <a:ext uri="{FF2B5EF4-FFF2-40B4-BE49-F238E27FC236}">
                <a16:creationId xmlns:a16="http://schemas.microsoft.com/office/drawing/2014/main" id="{53CC1ED8-2233-4BE9-916F-2FB8CD255DE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22612" y="3034196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7" name="Line 37">
            <a:extLst>
              <a:ext uri="{FF2B5EF4-FFF2-40B4-BE49-F238E27FC236}">
                <a16:creationId xmlns:a16="http://schemas.microsoft.com/office/drawing/2014/main" id="{6D15E3C4-F0B9-4E38-A579-DB97F13329E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90874" y="2151546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8" name="Line 38">
            <a:extLst>
              <a:ext uri="{FF2B5EF4-FFF2-40B4-BE49-F238E27FC236}">
                <a16:creationId xmlns:a16="http://schemas.microsoft.com/office/drawing/2014/main" id="{8D5C53E3-08E6-4FCA-9D54-25730B12638B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422612" y="2761146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09" name="Text Box 39">
            <a:extLst>
              <a:ext uri="{FF2B5EF4-FFF2-40B4-BE49-F238E27FC236}">
                <a16:creationId xmlns:a16="http://schemas.microsoft.com/office/drawing/2014/main" id="{C5688321-1C7B-4E6B-ACF9-40013FB9C1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17737" y="36517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110" name="Text Box 40">
            <a:extLst>
              <a:ext uri="{FF2B5EF4-FFF2-40B4-BE49-F238E27FC236}">
                <a16:creationId xmlns:a16="http://schemas.microsoft.com/office/drawing/2014/main" id="{BD5FA3C4-F98D-4BBF-8EE5-A55C73664D8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284499" y="164989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111" name="Text Box 41">
            <a:extLst>
              <a:ext uri="{FF2B5EF4-FFF2-40B4-BE49-F238E27FC236}">
                <a16:creationId xmlns:a16="http://schemas.microsoft.com/office/drawing/2014/main" id="{AC89FF28-D344-435C-9490-9CCAA52DE5B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08412" y="365173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112" name="Text Box 42">
            <a:extLst>
              <a:ext uri="{FF2B5EF4-FFF2-40B4-BE49-F238E27FC236}">
                <a16:creationId xmlns:a16="http://schemas.microsoft.com/office/drawing/2014/main" id="{80AAFC50-1D48-4252-BB0B-C150F63D56C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67075" y="2945296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2624230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3" name="Line 28">
            <a:extLst>
              <a:ext uri="{FF2B5EF4-FFF2-40B4-BE49-F238E27FC236}">
                <a16:creationId xmlns:a16="http://schemas.microsoft.com/office/drawing/2014/main" id="{17216A7A-57FC-466B-AD3E-1E4F18CE90D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765854" y="2164246"/>
            <a:ext cx="795338" cy="59690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" name="Line 37">
            <a:extLst>
              <a:ext uri="{FF2B5EF4-FFF2-40B4-BE49-F238E27FC236}">
                <a16:creationId xmlns:a16="http://schemas.microsoft.com/office/drawing/2014/main" id="{F6880123-E5D6-4267-85D8-2CD2026A39A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89654" y="2151546"/>
            <a:ext cx="0" cy="882650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5" name="Line 2">
            <a:extLst>
              <a:ext uri="{FF2B5EF4-FFF2-40B4-BE49-F238E27FC236}">
                <a16:creationId xmlns:a16="http://schemas.microsoft.com/office/drawing/2014/main" id="{6EFD8104-45EA-4950-9914-10526A15FC03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954642" y="2716696"/>
            <a:ext cx="0" cy="10620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6" name="Line 3">
            <a:extLst>
              <a:ext uri="{FF2B5EF4-FFF2-40B4-BE49-F238E27FC236}">
                <a16:creationId xmlns:a16="http://schemas.microsoft.com/office/drawing/2014/main" id="{3755AFD8-87E2-4488-AC74-06D229808838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949086" y="1972953"/>
            <a:ext cx="685800" cy="890587"/>
          </a:xfrm>
          <a:prstGeom prst="line">
            <a:avLst/>
          </a:prstGeom>
          <a:noFill/>
          <a:ln w="28575">
            <a:solidFill>
              <a:srgbClr val="0000CC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7" name="Line 4">
            <a:extLst>
              <a:ext uri="{FF2B5EF4-FFF2-40B4-BE49-F238E27FC236}">
                <a16:creationId xmlns:a16="http://schemas.microsoft.com/office/drawing/2014/main" id="{D2DD8ACE-ABC8-4DAB-A5D9-CE84733B6845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97480" y="2761146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8" name="Line 5">
            <a:extLst>
              <a:ext uri="{FF2B5EF4-FFF2-40B4-BE49-F238E27FC236}">
                <a16:creationId xmlns:a16="http://schemas.microsoft.com/office/drawing/2014/main" id="{2B374E41-9C4A-492A-B9D7-F922712595AA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080054" y="3097696"/>
            <a:ext cx="617538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DE3C2CD2-272D-40CE-B41E-D2BF80CF00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37654" y="1497496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a    b    c    d     e    f   </a:t>
            </a:r>
            <a:endParaRPr lang="en-US" altLang="en-US" dirty="0">
              <a:latin typeface="+mn-lt"/>
            </a:endParaRPr>
          </a:p>
        </p:txBody>
      </p:sp>
      <p:sp>
        <p:nvSpPr>
          <p:cNvPr id="10" name="Text Box 8">
            <a:extLst>
              <a:ext uri="{FF2B5EF4-FFF2-40B4-BE49-F238E27FC236}">
                <a16:creationId xmlns:a16="http://schemas.microsoft.com/office/drawing/2014/main" id="{CD090676-910A-417E-98CF-43D933500C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651679" y="26230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d</a:t>
            </a:r>
            <a:endParaRPr lang="en-US" altLang="en-US" sz="2400"/>
          </a:p>
        </p:txBody>
      </p:sp>
      <p:grpSp>
        <p:nvGrpSpPr>
          <p:cNvPr id="11" name="Group 9">
            <a:extLst>
              <a:ext uri="{FF2B5EF4-FFF2-40B4-BE49-F238E27FC236}">
                <a16:creationId xmlns:a16="http://schemas.microsoft.com/office/drawing/2014/main" id="{C51D2971-E548-45A1-BAE2-FC4FB91210DF}"/>
              </a:ext>
            </a:extLst>
          </p:cNvPr>
          <p:cNvGrpSpPr>
            <a:grpSpLocks/>
          </p:cNvGrpSpPr>
          <p:nvPr/>
        </p:nvGrpSpPr>
        <p:grpSpPr bwMode="auto">
          <a:xfrm>
            <a:off x="4585254" y="2411896"/>
            <a:ext cx="3276600" cy="2971800"/>
            <a:chOff x="3168" y="1824"/>
            <a:chExt cx="1776" cy="1440"/>
          </a:xfrm>
        </p:grpSpPr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3AD5275E-A074-4AEA-95C0-4585B16A90B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24"/>
              <a:ext cx="192" cy="1440"/>
              <a:chOff x="2928" y="1824"/>
              <a:chExt cx="192" cy="1440"/>
            </a:xfrm>
          </p:grpSpPr>
          <p:sp>
            <p:nvSpPr>
              <p:cNvPr id="17" name="Line 11">
                <a:extLst>
                  <a:ext uri="{FF2B5EF4-FFF2-40B4-BE49-F238E27FC236}">
                    <a16:creationId xmlns:a16="http://schemas.microsoft.com/office/drawing/2014/main" id="{0D966B11-2C83-4858-8363-11A7299CA3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8" name="Line 12">
                <a:extLst>
                  <a:ext uri="{FF2B5EF4-FFF2-40B4-BE49-F238E27FC236}">
                    <a16:creationId xmlns:a16="http://schemas.microsoft.com/office/drawing/2014/main" id="{41A3BC03-E41E-48BF-A788-55B952F21A4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C7008144-8ACE-4116-8CC7-F760207140C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3" name="Group 14">
              <a:extLst>
                <a:ext uri="{FF2B5EF4-FFF2-40B4-BE49-F238E27FC236}">
                  <a16:creationId xmlns:a16="http://schemas.microsoft.com/office/drawing/2014/main" id="{28751E06-D22E-4D70-87BF-C283904F755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52" y="1824"/>
              <a:ext cx="192" cy="1440"/>
              <a:chOff x="2928" y="1824"/>
              <a:chExt cx="192" cy="1440"/>
            </a:xfrm>
          </p:grpSpPr>
          <p:sp>
            <p:nvSpPr>
              <p:cNvPr id="14" name="Line 15">
                <a:extLst>
                  <a:ext uri="{FF2B5EF4-FFF2-40B4-BE49-F238E27FC236}">
                    <a16:creationId xmlns:a16="http://schemas.microsoft.com/office/drawing/2014/main" id="{41E99B1A-5CF6-4875-9365-92B55A4A960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5" name="Line 16">
                <a:extLst>
                  <a:ext uri="{FF2B5EF4-FFF2-40B4-BE49-F238E27FC236}">
                    <a16:creationId xmlns:a16="http://schemas.microsoft.com/office/drawing/2014/main" id="{5B8F08DF-590B-459B-91D6-C952825FB88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" name="Line 17">
                <a:extLst>
                  <a:ext uri="{FF2B5EF4-FFF2-40B4-BE49-F238E27FC236}">
                    <a16:creationId xmlns:a16="http://schemas.microsoft.com/office/drawing/2014/main" id="{58D625C9-19F8-4935-B51D-49013CA653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20" name="Text Box 18">
            <a:extLst>
              <a:ext uri="{FF2B5EF4-FFF2-40B4-BE49-F238E27FC236}">
                <a16:creationId xmlns:a16="http://schemas.microsoft.com/office/drawing/2014/main" id="{A184BCC7-64E5-4ADD-8005-B24712AA6E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3579" y="2375384"/>
            <a:ext cx="3493264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b   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 0    0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c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d</a:t>
            </a:r>
          </a:p>
          <a:p>
            <a:endParaRPr lang="en-US" altLang="en-US" sz="1000"/>
          </a:p>
          <a:p>
            <a:r>
              <a:rPr lang="en-US" altLang="en-US" sz="2400"/>
              <a:t>e</a:t>
            </a:r>
          </a:p>
          <a:p>
            <a:endParaRPr lang="en-US" altLang="en-US" sz="1000"/>
          </a:p>
          <a:p>
            <a:r>
              <a:rPr lang="en-US" altLang="en-US" sz="2400"/>
              <a:t>f</a:t>
            </a:r>
            <a:endParaRPr lang="en-US" altLang="en-US"/>
          </a:p>
        </p:txBody>
      </p:sp>
      <p:sp>
        <p:nvSpPr>
          <p:cNvPr id="21" name="Text Box 19">
            <a:extLst>
              <a:ext uri="{FF2B5EF4-FFF2-40B4-BE49-F238E27FC236}">
                <a16:creationId xmlns:a16="http://schemas.microsoft.com/office/drawing/2014/main" id="{AF654010-7E18-4FC6-97CA-BEA1472CD9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3655" y="195469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FROM</a:t>
            </a:r>
          </a:p>
        </p:txBody>
      </p:sp>
      <p:sp>
        <p:nvSpPr>
          <p:cNvPr id="22" name="Text Box 20">
            <a:extLst>
              <a:ext uri="{FF2B5EF4-FFF2-40B4-BE49-F238E27FC236}">
                <a16:creationId xmlns:a16="http://schemas.microsoft.com/office/drawing/2014/main" id="{35BF495B-54BA-4F69-BCFF-ACABF329A4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59880" y="1268896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TO</a:t>
            </a:r>
          </a:p>
        </p:txBody>
      </p:sp>
      <p:sp>
        <p:nvSpPr>
          <p:cNvPr id="23" name="Text Box 21">
            <a:extLst>
              <a:ext uri="{FF2B5EF4-FFF2-40B4-BE49-F238E27FC236}">
                <a16:creationId xmlns:a16="http://schemas.microsoft.com/office/drawing/2014/main" id="{C862681C-C450-49C9-BD3B-82ABEB99F6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5987" y="5726200"/>
            <a:ext cx="8504902" cy="4924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en-US" sz="2600" dirty="0"/>
              <a:t>There are edges from c to b, from c to d, and from c to f   </a:t>
            </a:r>
          </a:p>
        </p:txBody>
      </p:sp>
      <p:sp>
        <p:nvSpPr>
          <p:cNvPr id="24" name="Text Box 22">
            <a:extLst>
              <a:ext uri="{FF2B5EF4-FFF2-40B4-BE49-F238E27FC236}">
                <a16:creationId xmlns:a16="http://schemas.microsoft.com/office/drawing/2014/main" id="{8496B819-715B-41C8-A73A-D6822D940D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8654" y="4361346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25" name="Oval 23">
            <a:extLst>
              <a:ext uri="{FF2B5EF4-FFF2-40B4-BE49-F238E27FC236}">
                <a16:creationId xmlns:a16="http://schemas.microsoft.com/office/drawing/2014/main" id="{3F421E50-901D-4787-8C6A-11E1E21CC2A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13455" y="1999146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6" name="Line 24">
            <a:extLst>
              <a:ext uri="{FF2B5EF4-FFF2-40B4-BE49-F238E27FC236}">
                <a16:creationId xmlns:a16="http://schemas.microsoft.com/office/drawing/2014/main" id="{41C64FB5-51B1-47B6-963E-47B77971A790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257854" y="3788259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7" name="Oval 25">
            <a:extLst>
              <a:ext uri="{FF2B5EF4-FFF2-40B4-BE49-F238E27FC236}">
                <a16:creationId xmlns:a16="http://schemas.microsoft.com/office/drawing/2014/main" id="{283CBE4F-0FE0-4F58-9B96-1999BC17C62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0168" y="2691297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8" name="Line 26">
            <a:extLst>
              <a:ext uri="{FF2B5EF4-FFF2-40B4-BE49-F238E27FC236}">
                <a16:creationId xmlns:a16="http://schemas.microsoft.com/office/drawing/2014/main" id="{6F5499C7-FABD-44D9-BA54-C2257FDC9C95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391330" y="2764321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9" name="Oval 27">
            <a:extLst>
              <a:ext uri="{FF2B5EF4-FFF2-40B4-BE49-F238E27FC236}">
                <a16:creationId xmlns:a16="http://schemas.microsoft.com/office/drawing/2014/main" id="{6C8643BB-194D-4AA3-9995-DF3E8221A6E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488168" y="2654784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BD6E19A-D544-4812-A7AB-A02F54F4C33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051480" y="3651735"/>
            <a:ext cx="206375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EFCFC690-98FA-43E7-B511-8BAE3DE7E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0029" y="3651735"/>
            <a:ext cx="204788" cy="204787"/>
          </a:xfrm>
          <a:prstGeom prst="ellipse">
            <a:avLst/>
          </a:prstGeom>
          <a:solidFill>
            <a:srgbClr val="990033"/>
          </a:solidFill>
          <a:ln w="12700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2" name="Text Box 31">
            <a:extLst>
              <a:ext uri="{FF2B5EF4-FFF2-40B4-BE49-F238E27FC236}">
                <a16:creationId xmlns:a16="http://schemas.microsoft.com/office/drawing/2014/main" id="{4BE96C55-E9F7-40AF-88D0-93A4D8FDD9D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517" y="36517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33" name="Text Box 32">
            <a:extLst>
              <a:ext uri="{FF2B5EF4-FFF2-40B4-BE49-F238E27FC236}">
                <a16:creationId xmlns:a16="http://schemas.microsoft.com/office/drawing/2014/main" id="{D9A7A07F-3101-4933-9A1A-6196792264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7092" y="26230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34" name="Text Box 33">
            <a:extLst>
              <a:ext uri="{FF2B5EF4-FFF2-40B4-BE49-F238E27FC236}">
                <a16:creationId xmlns:a16="http://schemas.microsoft.com/office/drawing/2014/main" id="{D1CEE818-30BC-4C0B-AC05-59B475EB41C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83279" y="164989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35" name="Text Box 34">
            <a:extLst>
              <a:ext uri="{FF2B5EF4-FFF2-40B4-BE49-F238E27FC236}">
                <a16:creationId xmlns:a16="http://schemas.microsoft.com/office/drawing/2014/main" id="{63E1F2DD-7E0B-4DE9-B8A0-85FF6F4D704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08779" y="365173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159C37D-15E9-43BE-AA15-7B4F9BFD60AA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1551543" y="2897672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37" name="Line 36">
            <a:extLst>
              <a:ext uri="{FF2B5EF4-FFF2-40B4-BE49-F238E27FC236}">
                <a16:creationId xmlns:a16="http://schemas.microsoft.com/office/drawing/2014/main" id="{10111893-6465-47E9-9C7D-4CD7B185EA44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621392" y="3034196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8" name="Line 38">
            <a:extLst>
              <a:ext uri="{FF2B5EF4-FFF2-40B4-BE49-F238E27FC236}">
                <a16:creationId xmlns:a16="http://schemas.microsoft.com/office/drawing/2014/main" id="{099891E0-0765-45C6-8E40-0CF3AC7F033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621392" y="2761146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9" name="Text Box 39">
            <a:extLst>
              <a:ext uri="{FF2B5EF4-FFF2-40B4-BE49-F238E27FC236}">
                <a16:creationId xmlns:a16="http://schemas.microsoft.com/office/drawing/2014/main" id="{01D2CACE-D4D9-474A-85A4-C3F96D88519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517" y="3651734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40" name="Text Box 40">
            <a:extLst>
              <a:ext uri="{FF2B5EF4-FFF2-40B4-BE49-F238E27FC236}">
                <a16:creationId xmlns:a16="http://schemas.microsoft.com/office/drawing/2014/main" id="{30DA4348-A344-451E-9069-8D10ABAE60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483279" y="1649896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41" name="Text Box 41">
            <a:extLst>
              <a:ext uri="{FF2B5EF4-FFF2-40B4-BE49-F238E27FC236}">
                <a16:creationId xmlns:a16="http://schemas.microsoft.com/office/drawing/2014/main" id="{2654530B-AC62-40B2-904E-921C20E993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307192" y="3651734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42" name="Text Box 42">
            <a:extLst>
              <a:ext uri="{FF2B5EF4-FFF2-40B4-BE49-F238E27FC236}">
                <a16:creationId xmlns:a16="http://schemas.microsoft.com/office/drawing/2014/main" id="{D490623D-677C-4F2C-9D67-34A2274B520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765855" y="2945296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665291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1C250F15-913C-4520-9091-57D0D07D67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68689" y="1487559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 dirty="0">
                <a:solidFill>
                  <a:schemeClr val="tx1"/>
                </a:solidFill>
                <a:latin typeface="+mn-lt"/>
              </a:rPr>
              <a:t>a    b    c    d     e    f   </a:t>
            </a:r>
            <a:endParaRPr lang="en-US" altLang="en-US" dirty="0">
              <a:latin typeface="+mn-lt"/>
            </a:endParaRPr>
          </a:p>
        </p:txBody>
      </p:sp>
      <p:grpSp>
        <p:nvGrpSpPr>
          <p:cNvPr id="5" name="Group 11">
            <a:extLst>
              <a:ext uri="{FF2B5EF4-FFF2-40B4-BE49-F238E27FC236}">
                <a16:creationId xmlns:a16="http://schemas.microsoft.com/office/drawing/2014/main" id="{0DCEC3EE-1519-404C-83C4-ECE256BE88CF}"/>
              </a:ext>
            </a:extLst>
          </p:cNvPr>
          <p:cNvGrpSpPr>
            <a:grpSpLocks/>
          </p:cNvGrpSpPr>
          <p:nvPr/>
        </p:nvGrpSpPr>
        <p:grpSpPr bwMode="auto">
          <a:xfrm>
            <a:off x="4416289" y="2401959"/>
            <a:ext cx="3276600" cy="2971800"/>
            <a:chOff x="3168" y="1824"/>
            <a:chExt cx="1776" cy="1440"/>
          </a:xfrm>
        </p:grpSpPr>
        <p:grpSp>
          <p:nvGrpSpPr>
            <p:cNvPr id="6" name="Group 12">
              <a:extLst>
                <a:ext uri="{FF2B5EF4-FFF2-40B4-BE49-F238E27FC236}">
                  <a16:creationId xmlns:a16="http://schemas.microsoft.com/office/drawing/2014/main" id="{76AEE5DA-A00B-4F08-99D7-8E945245E4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24"/>
              <a:ext cx="192" cy="1440"/>
              <a:chOff x="2928" y="1824"/>
              <a:chExt cx="192" cy="1440"/>
            </a:xfrm>
          </p:grpSpPr>
          <p:sp>
            <p:nvSpPr>
              <p:cNvPr id="11" name="Line 13">
                <a:extLst>
                  <a:ext uri="{FF2B5EF4-FFF2-40B4-BE49-F238E27FC236}">
                    <a16:creationId xmlns:a16="http://schemas.microsoft.com/office/drawing/2014/main" id="{D34CF3A1-6485-4BC7-A1FA-43E4FE77AB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2" name="Line 14">
                <a:extLst>
                  <a:ext uri="{FF2B5EF4-FFF2-40B4-BE49-F238E27FC236}">
                    <a16:creationId xmlns:a16="http://schemas.microsoft.com/office/drawing/2014/main" id="{D103F816-2557-42D9-A826-6C0A58AB780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3" name="Line 15">
                <a:extLst>
                  <a:ext uri="{FF2B5EF4-FFF2-40B4-BE49-F238E27FC236}">
                    <a16:creationId xmlns:a16="http://schemas.microsoft.com/office/drawing/2014/main" id="{BDA29210-3078-4FFF-A3DF-86DBF2DCD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7" name="Group 16">
              <a:extLst>
                <a:ext uri="{FF2B5EF4-FFF2-40B4-BE49-F238E27FC236}">
                  <a16:creationId xmlns:a16="http://schemas.microsoft.com/office/drawing/2014/main" id="{45DA22EA-D7D8-4765-B182-55BA3674003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52" y="1824"/>
              <a:ext cx="192" cy="1440"/>
              <a:chOff x="2928" y="1824"/>
              <a:chExt cx="192" cy="1440"/>
            </a:xfrm>
          </p:grpSpPr>
          <p:sp>
            <p:nvSpPr>
              <p:cNvPr id="8" name="Line 17">
                <a:extLst>
                  <a:ext uri="{FF2B5EF4-FFF2-40B4-BE49-F238E27FC236}">
                    <a16:creationId xmlns:a16="http://schemas.microsoft.com/office/drawing/2014/main" id="{5C5BB51B-5A72-4C0B-9B6F-6376C0A6184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9" name="Line 18">
                <a:extLst>
                  <a:ext uri="{FF2B5EF4-FFF2-40B4-BE49-F238E27FC236}">
                    <a16:creationId xmlns:a16="http://schemas.microsoft.com/office/drawing/2014/main" id="{50705A87-CF8E-412C-B2BC-C4490207B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0" name="Line 19">
                <a:extLst>
                  <a:ext uri="{FF2B5EF4-FFF2-40B4-BE49-F238E27FC236}">
                    <a16:creationId xmlns:a16="http://schemas.microsoft.com/office/drawing/2014/main" id="{CCD364D3-2F27-4F52-8373-D74E156377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14" name="Text Box 20">
            <a:extLst>
              <a:ext uri="{FF2B5EF4-FFF2-40B4-BE49-F238E27FC236}">
                <a16:creationId xmlns:a16="http://schemas.microsoft.com/office/drawing/2014/main" id="{147D773C-2974-44DB-8C07-717DAF1445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14614" y="2365447"/>
            <a:ext cx="3493264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b   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 0    0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c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d</a:t>
            </a:r>
          </a:p>
          <a:p>
            <a:endParaRPr lang="en-US" altLang="en-US" sz="1000"/>
          </a:p>
          <a:p>
            <a:r>
              <a:rPr lang="en-US" altLang="en-US" sz="2400"/>
              <a:t>e</a:t>
            </a:r>
          </a:p>
          <a:p>
            <a:endParaRPr lang="en-US" altLang="en-US" sz="1000"/>
          </a:p>
          <a:p>
            <a:r>
              <a:rPr lang="en-US" altLang="en-US" sz="2400"/>
              <a:t>f</a:t>
            </a:r>
            <a:endParaRPr lang="en-US" altLang="en-US"/>
          </a:p>
        </p:txBody>
      </p:sp>
      <p:sp>
        <p:nvSpPr>
          <p:cNvPr id="15" name="Text Box 21">
            <a:extLst>
              <a:ext uri="{FF2B5EF4-FFF2-40B4-BE49-F238E27FC236}">
                <a16:creationId xmlns:a16="http://schemas.microsoft.com/office/drawing/2014/main" id="{ECBCE55C-C9D7-40DD-A50E-513162B6E9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4690" y="1944759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FROM</a:t>
            </a:r>
          </a:p>
        </p:txBody>
      </p:sp>
      <p:sp>
        <p:nvSpPr>
          <p:cNvPr id="16" name="Text Box 22">
            <a:extLst>
              <a:ext uri="{FF2B5EF4-FFF2-40B4-BE49-F238E27FC236}">
                <a16:creationId xmlns:a16="http://schemas.microsoft.com/office/drawing/2014/main" id="{D2A1AFD3-C78D-4BA5-B461-245A4BAE0F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0915" y="1258959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TO</a:t>
            </a:r>
          </a:p>
        </p:txBody>
      </p:sp>
      <p:sp>
        <p:nvSpPr>
          <p:cNvPr id="17" name="Text Box 23">
            <a:extLst>
              <a:ext uri="{FF2B5EF4-FFF2-40B4-BE49-F238E27FC236}">
                <a16:creationId xmlns:a16="http://schemas.microsoft.com/office/drawing/2014/main" id="{C58E9DB8-455D-46A7-BF51-1C92A87E9F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46381" y="5840971"/>
            <a:ext cx="6070893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Complete the adjacency matrix . . .    </a:t>
            </a:r>
          </a:p>
        </p:txBody>
      </p:sp>
      <p:sp>
        <p:nvSpPr>
          <p:cNvPr id="18" name="Line 43">
            <a:extLst>
              <a:ext uri="{FF2B5EF4-FFF2-40B4-BE49-F238E27FC236}">
                <a16:creationId xmlns:a16="http://schemas.microsoft.com/office/drawing/2014/main" id="{03C5B9E7-D6E8-4B56-B034-550131E14456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96889" y="2154309"/>
            <a:ext cx="795338" cy="5969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19" name="Line 44">
            <a:extLst>
              <a:ext uri="{FF2B5EF4-FFF2-40B4-BE49-F238E27FC236}">
                <a16:creationId xmlns:a16="http://schemas.microsoft.com/office/drawing/2014/main" id="{E5E3B8DE-92F5-470F-8A39-2836A7B8C91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520689" y="2141609"/>
            <a:ext cx="0" cy="8826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0" name="Line 45">
            <a:extLst>
              <a:ext uri="{FF2B5EF4-FFF2-40B4-BE49-F238E27FC236}">
                <a16:creationId xmlns:a16="http://schemas.microsoft.com/office/drawing/2014/main" id="{44C0165F-C294-412F-9F1B-E55F67D2E343}"/>
              </a:ext>
            </a:extLst>
          </p:cNvPr>
          <p:cNvSpPr>
            <a:spLocks noChangeAspect="1" noChangeShapeType="1"/>
          </p:cNvSpPr>
          <p:nvPr/>
        </p:nvSpPr>
        <p:spPr bwMode="auto">
          <a:xfrm rot="20216826">
            <a:off x="785677" y="2706759"/>
            <a:ext cx="0" cy="10620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1" name="Line 46">
            <a:extLst>
              <a:ext uri="{FF2B5EF4-FFF2-40B4-BE49-F238E27FC236}">
                <a16:creationId xmlns:a16="http://schemas.microsoft.com/office/drawing/2014/main" id="{DA189D7C-E272-46F5-846D-F41B60E18D80}"/>
              </a:ext>
            </a:extLst>
          </p:cNvPr>
          <p:cNvSpPr>
            <a:spLocks noChangeAspect="1" noChangeShapeType="1"/>
          </p:cNvSpPr>
          <p:nvPr/>
        </p:nvSpPr>
        <p:spPr bwMode="auto">
          <a:xfrm rot="16200000">
            <a:off x="780121" y="1963016"/>
            <a:ext cx="685800" cy="890587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2" name="Line 47">
            <a:extLst>
              <a:ext uri="{FF2B5EF4-FFF2-40B4-BE49-F238E27FC236}">
                <a16:creationId xmlns:a16="http://schemas.microsoft.com/office/drawing/2014/main" id="{362A715A-C652-4F98-B252-A6AEF6D685F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628515" y="2751209"/>
            <a:ext cx="892175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3" name="Line 48">
            <a:extLst>
              <a:ext uri="{FF2B5EF4-FFF2-40B4-BE49-F238E27FC236}">
                <a16:creationId xmlns:a16="http://schemas.microsoft.com/office/drawing/2014/main" id="{00FA3739-708A-44A5-B285-5D7034C1CB69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911089" y="3087759"/>
            <a:ext cx="617538" cy="6858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4" name="Text Box 49">
            <a:extLst>
              <a:ext uri="{FF2B5EF4-FFF2-40B4-BE49-F238E27FC236}">
                <a16:creationId xmlns:a16="http://schemas.microsoft.com/office/drawing/2014/main" id="{2354E58E-FFD4-4C7D-82E5-6D6359870CC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482714" y="2613097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d</a:t>
            </a:r>
            <a:endParaRPr lang="en-US" altLang="en-US" sz="2400"/>
          </a:p>
        </p:txBody>
      </p:sp>
      <p:sp>
        <p:nvSpPr>
          <p:cNvPr id="25" name="Text Box 50">
            <a:extLst>
              <a:ext uri="{FF2B5EF4-FFF2-40B4-BE49-F238E27FC236}">
                <a16:creationId xmlns:a16="http://schemas.microsoft.com/office/drawing/2014/main" id="{0FF4B9D8-E27C-463E-8E3F-53492083FD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39689" y="4351409"/>
            <a:ext cx="668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 W</a:t>
            </a:r>
            <a:r>
              <a:rPr lang="en-US" altLang="en-US" sz="2400" baseline="-25000"/>
              <a:t>5</a:t>
            </a:r>
            <a:endParaRPr lang="en-US" altLang="en-US" sz="2400"/>
          </a:p>
        </p:txBody>
      </p:sp>
      <p:sp>
        <p:nvSpPr>
          <p:cNvPr id="26" name="Oval 51">
            <a:extLst>
              <a:ext uri="{FF2B5EF4-FFF2-40B4-BE49-F238E27FC236}">
                <a16:creationId xmlns:a16="http://schemas.microsoft.com/office/drawing/2014/main" id="{632E3D4F-6496-4739-8E7B-ABEF231C7FE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444490" y="1989209"/>
            <a:ext cx="206375" cy="204788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7" name="Line 52">
            <a:extLst>
              <a:ext uri="{FF2B5EF4-FFF2-40B4-BE49-F238E27FC236}">
                <a16:creationId xmlns:a16="http://schemas.microsoft.com/office/drawing/2014/main" id="{10E94C4F-CD8D-4A25-A257-0FBBEF435536}"/>
              </a:ext>
            </a:extLst>
          </p:cNvPr>
          <p:cNvSpPr>
            <a:spLocks noChangeAspect="1" noChangeShapeType="1"/>
          </p:cNvSpPr>
          <p:nvPr/>
        </p:nvSpPr>
        <p:spPr bwMode="auto">
          <a:xfrm flipH="1">
            <a:off x="1088889" y="3778322"/>
            <a:ext cx="960438" cy="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28" name="Oval 53">
            <a:extLst>
              <a:ext uri="{FF2B5EF4-FFF2-40B4-BE49-F238E27FC236}">
                <a16:creationId xmlns:a16="http://schemas.microsoft.com/office/drawing/2014/main" id="{9517BA00-F4E1-4440-B20B-D559E04B16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41203" y="2681360"/>
            <a:ext cx="204787" cy="206375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29" name="Line 54">
            <a:extLst>
              <a:ext uri="{FF2B5EF4-FFF2-40B4-BE49-F238E27FC236}">
                <a16:creationId xmlns:a16="http://schemas.microsoft.com/office/drawing/2014/main" id="{9516C82F-30A3-4114-832C-7AA7CEC68AA2}"/>
              </a:ext>
            </a:extLst>
          </p:cNvPr>
          <p:cNvSpPr>
            <a:spLocks noChangeAspect="1" noChangeShapeType="1"/>
          </p:cNvSpPr>
          <p:nvPr/>
        </p:nvSpPr>
        <p:spPr bwMode="auto">
          <a:xfrm rot="1248377" flipH="1" flipV="1">
            <a:off x="2222365" y="2754384"/>
            <a:ext cx="36513" cy="96520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0" name="Oval 55">
            <a:extLst>
              <a:ext uri="{FF2B5EF4-FFF2-40B4-BE49-F238E27FC236}">
                <a16:creationId xmlns:a16="http://schemas.microsoft.com/office/drawing/2014/main" id="{560BFD7E-40E5-48B3-9FFD-BE01440E8AD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2319203" y="2644847"/>
            <a:ext cx="230187" cy="246062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31" name="Oval 56">
            <a:extLst>
              <a:ext uri="{FF2B5EF4-FFF2-40B4-BE49-F238E27FC236}">
                <a16:creationId xmlns:a16="http://schemas.microsoft.com/office/drawing/2014/main" id="{27A5A158-900A-45D1-966B-7BC561B705E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82515" y="3641798"/>
            <a:ext cx="206375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2" name="Oval 57">
            <a:extLst>
              <a:ext uri="{FF2B5EF4-FFF2-40B4-BE49-F238E27FC236}">
                <a16:creationId xmlns:a16="http://schemas.microsoft.com/office/drawing/2014/main" id="{8ABC67CD-EA70-4090-A16F-31D5153C5C5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981064" y="3641798"/>
            <a:ext cx="204788" cy="204787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rgbClr val="990033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400"/>
          </a:p>
        </p:txBody>
      </p:sp>
      <p:sp>
        <p:nvSpPr>
          <p:cNvPr id="33" name="Text Box 58">
            <a:extLst>
              <a:ext uri="{FF2B5EF4-FFF2-40B4-BE49-F238E27FC236}">
                <a16:creationId xmlns:a16="http://schemas.microsoft.com/office/drawing/2014/main" id="{158C20EF-9E3A-4AEF-9E7B-0D288F8E748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47552" y="3641797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34" name="Text Box 59">
            <a:extLst>
              <a:ext uri="{FF2B5EF4-FFF2-40B4-BE49-F238E27FC236}">
                <a16:creationId xmlns:a16="http://schemas.microsoft.com/office/drawing/2014/main" id="{7DFE87D2-0DB3-4828-A2C6-C56C51B241A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8127" y="2613097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b</a:t>
            </a:r>
            <a:endParaRPr lang="en-US" altLang="en-US" sz="2400"/>
          </a:p>
        </p:txBody>
      </p:sp>
      <p:sp>
        <p:nvSpPr>
          <p:cNvPr id="35" name="Text Box 60">
            <a:extLst>
              <a:ext uri="{FF2B5EF4-FFF2-40B4-BE49-F238E27FC236}">
                <a16:creationId xmlns:a16="http://schemas.microsoft.com/office/drawing/2014/main" id="{D2AF7D4F-5DA7-44F0-A8EF-48EB6ECDBFB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14314" y="1639959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36" name="Text Box 61">
            <a:extLst>
              <a:ext uri="{FF2B5EF4-FFF2-40B4-BE49-F238E27FC236}">
                <a16:creationId xmlns:a16="http://schemas.microsoft.com/office/drawing/2014/main" id="{E0ACF05D-3158-4AC1-80EA-F296150E7CD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9814" y="3641797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37" name="Oval 62">
            <a:extLst>
              <a:ext uri="{FF2B5EF4-FFF2-40B4-BE49-F238E27FC236}">
                <a16:creationId xmlns:a16="http://schemas.microsoft.com/office/drawing/2014/main" id="{FF239A0D-DCFD-4DE3-B4FC-EE1421F8A664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248377" flipV="1">
            <a:off x="1382578" y="2887735"/>
            <a:ext cx="230187" cy="246063"/>
          </a:xfrm>
          <a:prstGeom prst="ellipse">
            <a:avLst/>
          </a:prstGeom>
          <a:solidFill>
            <a:srgbClr val="99003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round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/>
          <a:p>
            <a:pPr algn="ctr"/>
            <a:endParaRPr lang="en-US" altLang="en-US" sz="2400"/>
          </a:p>
        </p:txBody>
      </p:sp>
      <p:sp>
        <p:nvSpPr>
          <p:cNvPr id="38" name="Line 63">
            <a:extLst>
              <a:ext uri="{FF2B5EF4-FFF2-40B4-BE49-F238E27FC236}">
                <a16:creationId xmlns:a16="http://schemas.microsoft.com/office/drawing/2014/main" id="{C547BC87-DEA4-4A37-B2E7-0A239F4E63FA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1452427" y="3024259"/>
            <a:ext cx="615950" cy="617538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39" name="Line 64">
            <a:extLst>
              <a:ext uri="{FF2B5EF4-FFF2-40B4-BE49-F238E27FC236}">
                <a16:creationId xmlns:a16="http://schemas.microsoft.com/office/drawing/2014/main" id="{653C2CD0-9318-4C19-9391-5D2DC8D76BBC}"/>
              </a:ext>
            </a:extLst>
          </p:cNvPr>
          <p:cNvSpPr>
            <a:spLocks noChangeAspect="1" noChangeShapeType="1"/>
          </p:cNvSpPr>
          <p:nvPr/>
        </p:nvSpPr>
        <p:spPr bwMode="auto">
          <a:xfrm flipV="1">
            <a:off x="1452427" y="2751209"/>
            <a:ext cx="1027112" cy="273050"/>
          </a:xfrm>
          <a:prstGeom prst="line">
            <a:avLst/>
          </a:prstGeom>
          <a:noFill/>
          <a:ln w="28575">
            <a:solidFill>
              <a:srgbClr val="990033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0" name="Text Box 65">
            <a:extLst>
              <a:ext uri="{FF2B5EF4-FFF2-40B4-BE49-F238E27FC236}">
                <a16:creationId xmlns:a16="http://schemas.microsoft.com/office/drawing/2014/main" id="{4EE6619D-50D2-4BE0-89EF-4DCAB966700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547552" y="3641797"/>
            <a:ext cx="35779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a</a:t>
            </a:r>
            <a:endParaRPr lang="en-US" altLang="en-US" sz="2400"/>
          </a:p>
        </p:txBody>
      </p:sp>
      <p:sp>
        <p:nvSpPr>
          <p:cNvPr id="41" name="Text Box 66">
            <a:extLst>
              <a:ext uri="{FF2B5EF4-FFF2-40B4-BE49-F238E27FC236}">
                <a16:creationId xmlns:a16="http://schemas.microsoft.com/office/drawing/2014/main" id="{46D82833-E71F-4667-B52E-3CCB21400EB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314314" y="1639959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c</a:t>
            </a:r>
            <a:endParaRPr lang="en-US" altLang="en-US" sz="2400"/>
          </a:p>
        </p:txBody>
      </p:sp>
      <p:sp>
        <p:nvSpPr>
          <p:cNvPr id="42" name="Text Box 67">
            <a:extLst>
              <a:ext uri="{FF2B5EF4-FFF2-40B4-BE49-F238E27FC236}">
                <a16:creationId xmlns:a16="http://schemas.microsoft.com/office/drawing/2014/main" id="{A5D3CD68-9BBF-442B-B151-B93BA0C599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2138227" y="3641797"/>
            <a:ext cx="344966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i="1"/>
              <a:t> e</a:t>
            </a:r>
            <a:endParaRPr lang="en-US" altLang="en-US" sz="2400"/>
          </a:p>
        </p:txBody>
      </p:sp>
      <p:sp>
        <p:nvSpPr>
          <p:cNvPr id="43" name="Text Box 68">
            <a:extLst>
              <a:ext uri="{FF2B5EF4-FFF2-40B4-BE49-F238E27FC236}">
                <a16:creationId xmlns:a16="http://schemas.microsoft.com/office/drawing/2014/main" id="{CF0727D0-02CE-41F8-8681-20CDE724B3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596890" y="2935359"/>
            <a:ext cx="45402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en-US" altLang="en-US" i="1"/>
              <a:t> f</a:t>
            </a:r>
            <a:endParaRPr lang="en-US" altLang="en-US" sz="2400"/>
          </a:p>
        </p:txBody>
      </p:sp>
    </p:spTree>
    <p:extLst>
      <p:ext uri="{BB962C8B-B14F-4D97-AF65-F5344CB8AC3E}">
        <p14:creationId xmlns:p14="http://schemas.microsoft.com/office/powerpoint/2010/main" val="4226547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9" name="Rectangle 9">
            <a:extLst>
              <a:ext uri="{FF2B5EF4-FFF2-40B4-BE49-F238E27FC236}">
                <a16:creationId xmlns:a16="http://schemas.microsoft.com/office/drawing/2014/main" id="{7B79E80C-C5AA-4969-B5B8-C21A6895FB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8179" y="1563162"/>
            <a:ext cx="3200400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b"/>
          <a:lstStyle>
            <a:lvl1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1pPr>
            <a:lvl2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2pPr>
            <a:lvl3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3pPr>
            <a:lvl4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4pPr>
            <a:lvl5pPr algn="ctr"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5pPr>
            <a:lvl6pPr marL="4572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6pPr>
            <a:lvl7pPr marL="9144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7pPr>
            <a:lvl8pPr marL="13716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8pPr>
            <a:lvl9pPr marL="1828800" algn="ctr" eaLnBrk="0" fontAlgn="base" hangingPunct="0">
              <a:spcBef>
                <a:spcPct val="0"/>
              </a:spcBef>
              <a:spcAft>
                <a:spcPct val="0"/>
              </a:spcAft>
              <a:defRPr sz="4000" b="1">
                <a:solidFill>
                  <a:srgbClr val="003366"/>
                </a:solidFill>
                <a:latin typeface="Arial" panose="020B0604020202020204" pitchFamily="34" charset="0"/>
              </a:defRPr>
            </a:lvl9pPr>
          </a:lstStyle>
          <a:p>
            <a:pPr algn="l"/>
            <a:r>
              <a:rPr lang="en-US" altLang="en-US" sz="2400">
                <a:solidFill>
                  <a:schemeClr val="tx1"/>
                </a:solidFill>
                <a:latin typeface="+mn-lt"/>
              </a:rPr>
              <a:t>a    b    c    d     e    f   </a:t>
            </a:r>
            <a:endParaRPr lang="en-US" altLang="en-US">
              <a:latin typeface="+mn-lt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EFED583D-3A89-45A6-9CD5-4316034BE3C5}"/>
              </a:ext>
            </a:extLst>
          </p:cNvPr>
          <p:cNvGrpSpPr>
            <a:grpSpLocks/>
          </p:cNvGrpSpPr>
          <p:nvPr/>
        </p:nvGrpSpPr>
        <p:grpSpPr bwMode="auto">
          <a:xfrm>
            <a:off x="5175779" y="2477562"/>
            <a:ext cx="3276600" cy="2971800"/>
            <a:chOff x="3168" y="1824"/>
            <a:chExt cx="1776" cy="1440"/>
          </a:xfrm>
        </p:grpSpPr>
        <p:grpSp>
          <p:nvGrpSpPr>
            <p:cNvPr id="12" name="Group 12">
              <a:extLst>
                <a:ext uri="{FF2B5EF4-FFF2-40B4-BE49-F238E27FC236}">
                  <a16:creationId xmlns:a16="http://schemas.microsoft.com/office/drawing/2014/main" id="{FA43B0D5-D0C3-4141-894E-ACC3A70A550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68" y="1824"/>
              <a:ext cx="192" cy="1440"/>
              <a:chOff x="2928" y="1824"/>
              <a:chExt cx="192" cy="1440"/>
            </a:xfrm>
          </p:grpSpPr>
          <p:sp>
            <p:nvSpPr>
              <p:cNvPr id="17" name="Line 13">
                <a:extLst>
                  <a:ext uri="{FF2B5EF4-FFF2-40B4-BE49-F238E27FC236}">
                    <a16:creationId xmlns:a16="http://schemas.microsoft.com/office/drawing/2014/main" id="{28F235B2-4902-424F-9D15-2834DCE7E5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8" name="Line 14">
                <a:extLst>
                  <a:ext uri="{FF2B5EF4-FFF2-40B4-BE49-F238E27FC236}">
                    <a16:creationId xmlns:a16="http://schemas.microsoft.com/office/drawing/2014/main" id="{B89A9CCF-7630-4810-A060-02BEEF98F5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9" name="Line 15">
                <a:extLst>
                  <a:ext uri="{FF2B5EF4-FFF2-40B4-BE49-F238E27FC236}">
                    <a16:creationId xmlns:a16="http://schemas.microsoft.com/office/drawing/2014/main" id="{1D0C0278-F07D-476E-BD09-3793C242E00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  <p:grpSp>
          <p:nvGrpSpPr>
            <p:cNvPr id="13" name="Group 16">
              <a:extLst>
                <a:ext uri="{FF2B5EF4-FFF2-40B4-BE49-F238E27FC236}">
                  <a16:creationId xmlns:a16="http://schemas.microsoft.com/office/drawing/2014/main" id="{C9494EBD-8D10-4F60-9175-FB87A313002B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52" y="1824"/>
              <a:ext cx="192" cy="1440"/>
              <a:chOff x="2928" y="1824"/>
              <a:chExt cx="192" cy="1440"/>
            </a:xfrm>
          </p:grpSpPr>
          <p:sp>
            <p:nvSpPr>
              <p:cNvPr id="14" name="Line 17">
                <a:extLst>
                  <a:ext uri="{FF2B5EF4-FFF2-40B4-BE49-F238E27FC236}">
                    <a16:creationId xmlns:a16="http://schemas.microsoft.com/office/drawing/2014/main" id="{B81E936E-8453-466A-B11C-06E45CF6DA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5" name="Line 18">
                <a:extLst>
                  <a:ext uri="{FF2B5EF4-FFF2-40B4-BE49-F238E27FC236}">
                    <a16:creationId xmlns:a16="http://schemas.microsoft.com/office/drawing/2014/main" id="{F24E4359-B889-4BCB-982D-8DEC5706951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3264"/>
                <a:ext cx="19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  <p:sp>
            <p:nvSpPr>
              <p:cNvPr id="16" name="Line 19">
                <a:extLst>
                  <a:ext uri="{FF2B5EF4-FFF2-40B4-BE49-F238E27FC236}">
                    <a16:creationId xmlns:a16="http://schemas.microsoft.com/office/drawing/2014/main" id="{01DF61F2-491B-46C3-BDA7-6CD3687DD7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28" y="1824"/>
                <a:ext cx="0" cy="144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 type="none" w="sm" len="sm"/>
                <a:tailEnd type="none" w="sm" len="sm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en-IN"/>
              </a:p>
            </p:txBody>
          </p:sp>
        </p:grpSp>
      </p:grpSp>
      <p:sp>
        <p:nvSpPr>
          <p:cNvPr id="20" name="Text Box 20">
            <a:extLst>
              <a:ext uri="{FF2B5EF4-FFF2-40B4-BE49-F238E27FC236}">
                <a16:creationId xmlns:a16="http://schemas.microsoft.com/office/drawing/2014/main" id="{43F3E874-E437-46BE-B52D-4D1B20BE55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74104" y="2441050"/>
            <a:ext cx="3518912" cy="30777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400"/>
              <a:t>a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b   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 0    0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c    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/>
          </a:p>
          <a:p>
            <a:endParaRPr lang="en-US" altLang="en-US" sz="1000"/>
          </a:p>
          <a:p>
            <a:r>
              <a:rPr lang="en-US" altLang="en-US" sz="2400"/>
              <a:t>d        0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 0    </a:t>
            </a:r>
            <a:r>
              <a:rPr lang="en-US" altLang="en-US" sz="2400">
                <a:solidFill>
                  <a:srgbClr val="0000CC"/>
                </a:solidFill>
              </a:rPr>
              <a:t>1    1</a:t>
            </a:r>
            <a:endParaRPr lang="en-US" altLang="en-US" sz="2400"/>
          </a:p>
          <a:p>
            <a:endParaRPr lang="en-US" altLang="en-US" sz="1000"/>
          </a:p>
          <a:p>
            <a:r>
              <a:rPr lang="en-US" altLang="en-US" sz="2400"/>
              <a:t>e   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0    0 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r>
              <a:rPr lang="en-US" altLang="en-US" sz="2400"/>
              <a:t>    0    </a:t>
            </a:r>
            <a:r>
              <a:rPr lang="en-US" altLang="en-US" sz="2400">
                <a:solidFill>
                  <a:srgbClr val="0000CC"/>
                </a:solidFill>
              </a:rPr>
              <a:t>1</a:t>
            </a:r>
            <a:endParaRPr lang="en-US" altLang="en-US" sz="2400"/>
          </a:p>
          <a:p>
            <a:endParaRPr lang="en-US" altLang="en-US" sz="1000"/>
          </a:p>
          <a:p>
            <a:r>
              <a:rPr lang="en-US" altLang="en-US" sz="2400"/>
              <a:t>f         </a:t>
            </a:r>
            <a:r>
              <a:rPr lang="en-US" altLang="en-US" sz="2400">
                <a:solidFill>
                  <a:srgbClr val="0000CC"/>
                </a:solidFill>
              </a:rPr>
              <a:t>1    1    1     1    1</a:t>
            </a:r>
            <a:r>
              <a:rPr lang="en-US" altLang="en-US" sz="2400"/>
              <a:t>    0</a:t>
            </a:r>
            <a:endParaRPr lang="en-US" altLang="en-US"/>
          </a:p>
        </p:txBody>
      </p:sp>
      <p:sp>
        <p:nvSpPr>
          <p:cNvPr id="21" name="Text Box 21">
            <a:extLst>
              <a:ext uri="{FF2B5EF4-FFF2-40B4-BE49-F238E27FC236}">
                <a16:creationId xmlns:a16="http://schemas.microsoft.com/office/drawing/2014/main" id="{4747F8B5-475E-4357-9944-D33FB95E0B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4180" y="2020362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FROM</a:t>
            </a:r>
          </a:p>
        </p:txBody>
      </p:sp>
      <p:sp>
        <p:nvSpPr>
          <p:cNvPr id="22" name="Text Box 22">
            <a:extLst>
              <a:ext uri="{FF2B5EF4-FFF2-40B4-BE49-F238E27FC236}">
                <a16:creationId xmlns:a16="http://schemas.microsoft.com/office/drawing/2014/main" id="{04CFDBE7-FBC3-4546-8CA6-23A06E54AB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50405" y="1334562"/>
            <a:ext cx="10445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/>
              <a:t>TO</a:t>
            </a:r>
          </a:p>
        </p:txBody>
      </p:sp>
      <p:sp>
        <p:nvSpPr>
          <p:cNvPr id="23" name="Text Box 23">
            <a:extLst>
              <a:ext uri="{FF2B5EF4-FFF2-40B4-BE49-F238E27FC236}">
                <a16:creationId xmlns:a16="http://schemas.microsoft.com/office/drawing/2014/main" id="{BF2AB3EC-0B2C-46B0-B576-7CAC6F695A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4733" y="5778120"/>
            <a:ext cx="621195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en-US" sz="2800" dirty="0"/>
              <a:t>Notice that this matrix is symmetric.  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02CCDFC-F897-4B90-83EB-045B658E2432}"/>
              </a:ext>
            </a:extLst>
          </p:cNvPr>
          <p:cNvGrpSpPr/>
          <p:nvPr/>
        </p:nvGrpSpPr>
        <p:grpSpPr>
          <a:xfrm>
            <a:off x="869264" y="1676400"/>
            <a:ext cx="2772377" cy="3168650"/>
            <a:chOff x="1071976" y="2057400"/>
            <a:chExt cx="2772377" cy="3168650"/>
          </a:xfrm>
        </p:grpSpPr>
        <p:sp>
          <p:nvSpPr>
            <p:cNvPr id="3" name="Line 2">
              <a:extLst>
                <a:ext uri="{FF2B5EF4-FFF2-40B4-BE49-F238E27FC236}">
                  <a16:creationId xmlns:a16="http://schemas.microsoft.com/office/drawing/2014/main" id="{EA506DE7-2B4A-4D28-898D-D630F7A9E89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600738" y="2571750"/>
              <a:ext cx="795338" cy="5969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4" name="Line 3">
              <a:extLst>
                <a:ext uri="{FF2B5EF4-FFF2-40B4-BE49-F238E27FC236}">
                  <a16:creationId xmlns:a16="http://schemas.microsoft.com/office/drawing/2014/main" id="{2C533073-8B6F-465C-B84F-7486E1A1D2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524538" y="2559050"/>
              <a:ext cx="0" cy="8826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5" name="Line 4">
              <a:extLst>
                <a:ext uri="{FF2B5EF4-FFF2-40B4-BE49-F238E27FC236}">
                  <a16:creationId xmlns:a16="http://schemas.microsoft.com/office/drawing/2014/main" id="{14215099-938A-4851-BDDF-212B0F6A61D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20216826">
              <a:off x="1789526" y="3124200"/>
              <a:ext cx="0" cy="10620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6" name="Line 5">
              <a:extLst>
                <a:ext uri="{FF2B5EF4-FFF2-40B4-BE49-F238E27FC236}">
                  <a16:creationId xmlns:a16="http://schemas.microsoft.com/office/drawing/2014/main" id="{62EE02E5-63A6-4862-B081-CC11B6CE7AC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6200000">
              <a:off x="1783970" y="2380457"/>
              <a:ext cx="685800" cy="890587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7" name="Line 6">
              <a:extLst>
                <a:ext uri="{FF2B5EF4-FFF2-40B4-BE49-F238E27FC236}">
                  <a16:creationId xmlns:a16="http://schemas.microsoft.com/office/drawing/2014/main" id="{28476378-A366-4BB6-8651-A422E7C9476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1632364" y="3168650"/>
              <a:ext cx="892175" cy="2730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8" name="Line 7">
              <a:extLst>
                <a:ext uri="{FF2B5EF4-FFF2-40B4-BE49-F238E27FC236}">
                  <a16:creationId xmlns:a16="http://schemas.microsoft.com/office/drawing/2014/main" id="{E05519D0-0CF8-4635-92AE-07C54AA2D71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1914938" y="3505200"/>
              <a:ext cx="617538" cy="6858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98660C13-5091-467B-9B73-F67BEB5FA6B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486563" y="3030538"/>
              <a:ext cx="35779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d</a:t>
              </a:r>
              <a:endParaRPr lang="en-US" altLang="en-US" sz="2400"/>
            </a:p>
          </p:txBody>
        </p:sp>
        <p:sp>
          <p:nvSpPr>
            <p:cNvPr id="24" name="Text Box 24">
              <a:extLst>
                <a:ext uri="{FF2B5EF4-FFF2-40B4-BE49-F238E27FC236}">
                  <a16:creationId xmlns:a16="http://schemas.microsoft.com/office/drawing/2014/main" id="{B4220E29-DE4D-4FB5-BCE0-D5B3F96EA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43538" y="4768850"/>
              <a:ext cx="668338" cy="4572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sz="2400"/>
                <a:t> W</a:t>
              </a:r>
              <a:r>
                <a:rPr lang="en-US" altLang="en-US" sz="2400" baseline="-25000"/>
                <a:t>5</a:t>
              </a:r>
              <a:endParaRPr lang="en-US" altLang="en-US" sz="2400"/>
            </a:p>
          </p:txBody>
        </p:sp>
        <p:sp>
          <p:nvSpPr>
            <p:cNvPr id="25" name="Oval 25">
              <a:extLst>
                <a:ext uri="{FF2B5EF4-FFF2-40B4-BE49-F238E27FC236}">
                  <a16:creationId xmlns:a16="http://schemas.microsoft.com/office/drawing/2014/main" id="{ED331FC8-4CC5-4D57-900B-1336F37B3F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448339" y="2406650"/>
              <a:ext cx="206375" cy="204788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6" name="Line 26">
              <a:extLst>
                <a:ext uri="{FF2B5EF4-FFF2-40B4-BE49-F238E27FC236}">
                  <a16:creationId xmlns:a16="http://schemas.microsoft.com/office/drawing/2014/main" id="{6D12DDBC-2ED0-4BB2-AEE3-B6793A6296B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2092738" y="4195763"/>
              <a:ext cx="960438" cy="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7" name="Oval 27">
              <a:extLst>
                <a:ext uri="{FF2B5EF4-FFF2-40B4-BE49-F238E27FC236}">
                  <a16:creationId xmlns:a16="http://schemas.microsoft.com/office/drawing/2014/main" id="{413E9C9D-39DA-450D-AF95-0BB5C5BB29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545052" y="3098801"/>
              <a:ext cx="204787" cy="206375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28" name="Line 28">
              <a:extLst>
                <a:ext uri="{FF2B5EF4-FFF2-40B4-BE49-F238E27FC236}">
                  <a16:creationId xmlns:a16="http://schemas.microsoft.com/office/drawing/2014/main" id="{A2119851-03CC-4CC0-8891-C2CC34D588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rot="1248377" flipH="1" flipV="1">
              <a:off x="3226214" y="3171825"/>
              <a:ext cx="36513" cy="96520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29" name="Oval 29">
              <a:extLst>
                <a:ext uri="{FF2B5EF4-FFF2-40B4-BE49-F238E27FC236}">
                  <a16:creationId xmlns:a16="http://schemas.microsoft.com/office/drawing/2014/main" id="{E576DE6A-F828-4344-BA03-CF24BE73EE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3323052" y="3062288"/>
              <a:ext cx="230187" cy="246062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0" name="Oval 30">
              <a:extLst>
                <a:ext uri="{FF2B5EF4-FFF2-40B4-BE49-F238E27FC236}">
                  <a16:creationId xmlns:a16="http://schemas.microsoft.com/office/drawing/2014/main" id="{78D3889C-A15A-48C8-B32D-5E0BEEA482C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1886364" y="4059239"/>
              <a:ext cx="206375" cy="204787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1" name="Oval 31">
              <a:extLst>
                <a:ext uri="{FF2B5EF4-FFF2-40B4-BE49-F238E27FC236}">
                  <a16:creationId xmlns:a16="http://schemas.microsoft.com/office/drawing/2014/main" id="{985FBE60-D318-429D-9616-518929712A9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2984913" y="4059239"/>
              <a:ext cx="204788" cy="204787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rgbClr val="990033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2" name="Text Box 32">
              <a:extLst>
                <a:ext uri="{FF2B5EF4-FFF2-40B4-BE49-F238E27FC236}">
                  <a16:creationId xmlns:a16="http://schemas.microsoft.com/office/drawing/2014/main" id="{FB312712-79F8-4252-974E-2E872EA9BD1D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51401" y="4059238"/>
              <a:ext cx="35779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a</a:t>
              </a:r>
              <a:endParaRPr lang="en-US" altLang="en-US" sz="2400"/>
            </a:p>
          </p:txBody>
        </p:sp>
        <p:sp>
          <p:nvSpPr>
            <p:cNvPr id="33" name="Text Box 33">
              <a:extLst>
                <a:ext uri="{FF2B5EF4-FFF2-40B4-BE49-F238E27FC236}">
                  <a16:creationId xmlns:a16="http://schemas.microsoft.com/office/drawing/2014/main" id="{F415A5FE-24A9-4513-86AF-2DDA66FB29CE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071976" y="3030538"/>
              <a:ext cx="35779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b</a:t>
              </a:r>
              <a:endParaRPr lang="en-US" altLang="en-US" sz="2400"/>
            </a:p>
          </p:txBody>
        </p:sp>
        <p:sp>
          <p:nvSpPr>
            <p:cNvPr id="34" name="Text Box 34">
              <a:extLst>
                <a:ext uri="{FF2B5EF4-FFF2-40B4-BE49-F238E27FC236}">
                  <a16:creationId xmlns:a16="http://schemas.microsoft.com/office/drawing/2014/main" id="{89104D57-BD5D-40AA-8C6A-9D79D63976A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18163" y="2057400"/>
              <a:ext cx="3449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c</a:t>
              </a:r>
              <a:endParaRPr lang="en-US" altLang="en-US" sz="2400"/>
            </a:p>
          </p:txBody>
        </p:sp>
        <p:sp>
          <p:nvSpPr>
            <p:cNvPr id="35" name="Text Box 35">
              <a:extLst>
                <a:ext uri="{FF2B5EF4-FFF2-40B4-BE49-F238E27FC236}">
                  <a16:creationId xmlns:a16="http://schemas.microsoft.com/office/drawing/2014/main" id="{B358D4B7-E888-4F6F-A689-56331D69CFC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3663" y="4059238"/>
              <a:ext cx="3449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e</a:t>
              </a:r>
              <a:endParaRPr lang="en-US" altLang="en-US" sz="2400"/>
            </a:p>
          </p:txBody>
        </p:sp>
        <p:sp>
          <p:nvSpPr>
            <p:cNvPr id="36" name="Oval 36">
              <a:extLst>
                <a:ext uri="{FF2B5EF4-FFF2-40B4-BE49-F238E27FC236}">
                  <a16:creationId xmlns:a16="http://schemas.microsoft.com/office/drawing/2014/main" id="{DEB23D9E-ABA6-4FFB-A7E0-F6FB8799E2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1248377" flipV="1">
              <a:off x="2386427" y="3305176"/>
              <a:ext cx="230187" cy="246063"/>
            </a:xfrm>
            <a:prstGeom prst="ellipse">
              <a:avLst/>
            </a:prstGeom>
            <a:solidFill>
              <a:srgbClr val="9900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round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wrap="none" anchor="ctr"/>
            <a:lstStyle/>
            <a:p>
              <a:pPr algn="ctr"/>
              <a:endParaRPr lang="en-US" altLang="en-US" sz="2400"/>
            </a:p>
          </p:txBody>
        </p:sp>
        <p:sp>
          <p:nvSpPr>
            <p:cNvPr id="37" name="Line 37">
              <a:extLst>
                <a:ext uri="{FF2B5EF4-FFF2-40B4-BE49-F238E27FC236}">
                  <a16:creationId xmlns:a16="http://schemas.microsoft.com/office/drawing/2014/main" id="{EE4918A6-E5E6-4D16-8B82-5024A928532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2456276" y="3441700"/>
              <a:ext cx="615950" cy="617538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8" name="Line 38">
              <a:extLst>
                <a:ext uri="{FF2B5EF4-FFF2-40B4-BE49-F238E27FC236}">
                  <a16:creationId xmlns:a16="http://schemas.microsoft.com/office/drawing/2014/main" id="{E2E3C12B-F956-44AE-BCA2-5AC176C8D42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456276" y="3168650"/>
              <a:ext cx="1027112" cy="273050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round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IN"/>
            </a:p>
          </p:txBody>
        </p:sp>
        <p:sp>
          <p:nvSpPr>
            <p:cNvPr id="39" name="Text Box 39">
              <a:extLst>
                <a:ext uri="{FF2B5EF4-FFF2-40B4-BE49-F238E27FC236}">
                  <a16:creationId xmlns:a16="http://schemas.microsoft.com/office/drawing/2014/main" id="{1BC3BDDA-20A8-4511-B80B-9EAB4FAE677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551401" y="4059238"/>
              <a:ext cx="357790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a</a:t>
              </a:r>
              <a:endParaRPr lang="en-US" altLang="en-US" sz="2400"/>
            </a:p>
          </p:txBody>
        </p:sp>
        <p:sp>
          <p:nvSpPr>
            <p:cNvPr id="40" name="Text Box 40">
              <a:extLst>
                <a:ext uri="{FF2B5EF4-FFF2-40B4-BE49-F238E27FC236}">
                  <a16:creationId xmlns:a16="http://schemas.microsoft.com/office/drawing/2014/main" id="{4318FC69-C3D6-4C6F-BD4B-CFB5FF14588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318163" y="2057400"/>
              <a:ext cx="3449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c</a:t>
              </a:r>
              <a:endParaRPr lang="en-US" altLang="en-US" sz="2400"/>
            </a:p>
          </p:txBody>
        </p:sp>
        <p:sp>
          <p:nvSpPr>
            <p:cNvPr id="41" name="Text Box 41">
              <a:extLst>
                <a:ext uri="{FF2B5EF4-FFF2-40B4-BE49-F238E27FC236}">
                  <a16:creationId xmlns:a16="http://schemas.microsoft.com/office/drawing/2014/main" id="{BC87F2CA-326B-4779-8F78-C60D2DD3C0D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142076" y="4059238"/>
              <a:ext cx="344966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en-US" i="1"/>
                <a:t> e</a:t>
              </a:r>
              <a:endParaRPr lang="en-US" altLang="en-US" sz="2400"/>
            </a:p>
          </p:txBody>
        </p:sp>
        <p:sp>
          <p:nvSpPr>
            <p:cNvPr id="42" name="Text Box 42">
              <a:extLst>
                <a:ext uri="{FF2B5EF4-FFF2-40B4-BE49-F238E27FC236}">
                  <a16:creationId xmlns:a16="http://schemas.microsoft.com/office/drawing/2014/main" id="{34E82AB8-EB79-463B-B4F0-2BBDCC2BF96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2600739" y="3352800"/>
              <a:ext cx="454025" cy="36933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1"/>
                  </a:solidFill>
                  <a:miter lim="800000"/>
                  <a:headEnd type="none" w="sm" len="sm"/>
                  <a:tailEnd type="none" w="sm" len="sm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r>
                <a:rPr lang="en-US" altLang="en-US" i="1"/>
                <a:t> f</a:t>
              </a:r>
              <a:endParaRPr lang="en-US" altLang="en-US" sz="2400"/>
            </a:p>
          </p:txBody>
        </p:sp>
      </p:grpSp>
    </p:spTree>
    <p:extLst>
      <p:ext uri="{BB962C8B-B14F-4D97-AF65-F5344CB8AC3E}">
        <p14:creationId xmlns:p14="http://schemas.microsoft.com/office/powerpoint/2010/main" val="1189272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Graph Isomorphism</a:t>
            </a: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3DC316-9CBC-42D0-BAA8-83C8D5C61C5A}"/>
              </a:ext>
            </a:extLst>
          </p:cNvPr>
          <p:cNvSpPr txBox="1"/>
          <p:nvPr/>
        </p:nvSpPr>
        <p:spPr>
          <a:xfrm>
            <a:off x="204661" y="1011635"/>
            <a:ext cx="8734678" cy="56525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Formal definition:</a:t>
            </a:r>
          </a:p>
          <a:p>
            <a:pPr marL="447675" marR="0" lvl="1" indent="-269875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Simple graphs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=(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and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=(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are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isomorphic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iff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 a bijection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: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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such that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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,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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and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are adjacent in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iff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a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and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b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are adjacent in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.</a:t>
            </a:r>
          </a:p>
          <a:p>
            <a:pPr marL="447675" marR="0" lvl="1" indent="-269875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f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 is the “renaming” function between the two node sets that makes the two graphs identical.</a:t>
            </a:r>
          </a:p>
          <a:p>
            <a:pPr marL="447675" marR="0" lvl="1" indent="-269875" algn="just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  <a:sym typeface="Symbol" pitchFamily="18" charset="2"/>
              </a:rPr>
              <a:t>This definition can be extended to other types of graphs.</a:t>
            </a:r>
          </a:p>
        </p:txBody>
      </p:sp>
    </p:spTree>
    <p:extLst>
      <p:ext uri="{BB962C8B-B14F-4D97-AF65-F5344CB8AC3E}">
        <p14:creationId xmlns:p14="http://schemas.microsoft.com/office/powerpoint/2010/main" val="27474416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Finding the adjacency matrix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00E948F-DC40-4099-80E7-AEF1EA339E97}"/>
              </a:ext>
            </a:extLst>
          </p:cNvPr>
          <p:cNvSpPr txBox="1"/>
          <p:nvPr/>
        </p:nvSpPr>
        <p:spPr>
          <a:xfrm>
            <a:off x="129209" y="1204482"/>
            <a:ext cx="8768985" cy="50523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Necessary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but not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sufficient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conditions for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=(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to be isomorphic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=(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,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-250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)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: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|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1|=|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V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2|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and 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|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1|=|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E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2|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.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The number of vertices with degree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n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is the same in both graphs.</a:t>
            </a:r>
          </a:p>
          <a:p>
            <a:pPr marL="742950" marR="0" lvl="1" indent="-285750" algn="l" defTabSz="914400" rtl="0" eaLnBrk="1" fontAlgn="auto" latinLnBrk="0" hangingPunct="1">
              <a:lnSpc>
                <a:spcPct val="15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/>
            </a:pP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For every proper subgraph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 of one graph, there is a proper subgraph of the other graph that is isomorphic to </a:t>
            </a:r>
            <a:r>
              <a:rPr kumimoji="0" lang="en-US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g</a:t>
            </a:r>
            <a:r>
              <a:rPr kumimoji="0" lang="en-US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Times New Roman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53462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D236-0AD7-4369-BC36-531DCC4E2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cs typeface="Times New Roman" pitchFamily="18" charset="0"/>
              </a:rPr>
              <a:t>Definition:- Two graphs G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(V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, E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) and G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(V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, E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) are said to be isomorphic if there exists a bijection1 α : V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 → V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 such that the edge (α(a), α(b)) ∈ E</a:t>
            </a:r>
            <a:r>
              <a:rPr lang="en-US" baseline="-25000" dirty="0">
                <a:cs typeface="Times New Roman" pitchFamily="18" charset="0"/>
              </a:rPr>
              <a:t>2</a:t>
            </a:r>
            <a:r>
              <a:rPr lang="en-US" dirty="0">
                <a:cs typeface="Times New Roman" pitchFamily="18" charset="0"/>
              </a:rPr>
              <a:t> if and only if (a, b) ∈ E</a:t>
            </a:r>
            <a:r>
              <a:rPr lang="en-US" baseline="-25000" dirty="0">
                <a:cs typeface="Times New Roman" pitchFamily="18" charset="0"/>
              </a:rPr>
              <a:t>1</a:t>
            </a:r>
            <a:r>
              <a:rPr lang="en-US" dirty="0">
                <a:cs typeface="Times New Roman" pitchFamily="18" charset="0"/>
              </a:rPr>
              <a:t>.</a:t>
            </a:r>
            <a:endParaRPr lang="en-US" dirty="0">
              <a:cs typeface="Times New Roman" pitchFamily="18" charset="0"/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9143918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AFD236-0AD7-4369-BC36-531DCC4E2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290" y="1248698"/>
            <a:ext cx="8392901" cy="1275841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cs typeface="Times New Roman" pitchFamily="18" charset="0"/>
                <a:sym typeface="Symbol" pitchFamily="18" charset="2"/>
              </a:rPr>
              <a:t>If isomorphic, label the 2nd graph to show the isomorphism, else identify difference.</a:t>
            </a:r>
          </a:p>
        </p:txBody>
      </p:sp>
      <p:sp>
        <p:nvSpPr>
          <p:cNvPr id="4" name="Oval 4">
            <a:extLst>
              <a:ext uri="{FF2B5EF4-FFF2-40B4-BE49-F238E27FC236}">
                <a16:creationId xmlns:a16="http://schemas.microsoft.com/office/drawing/2014/main" id="{BE8A25F7-5EC4-4AF7-A1CC-CB252F5409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825" y="3581402"/>
            <a:ext cx="141288" cy="14128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5" name="Oval 5">
            <a:extLst>
              <a:ext uri="{FF2B5EF4-FFF2-40B4-BE49-F238E27FC236}">
                <a16:creationId xmlns:a16="http://schemas.microsoft.com/office/drawing/2014/main" id="{131A0D0B-25A3-4D62-A0CB-20318D0C9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57450" y="4456115"/>
            <a:ext cx="141288" cy="14128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6" name="Oval 6">
            <a:extLst>
              <a:ext uri="{FF2B5EF4-FFF2-40B4-BE49-F238E27FC236}">
                <a16:creationId xmlns:a16="http://schemas.microsoft.com/office/drawing/2014/main" id="{4DBB8360-6164-4493-8CD3-7A98178FC3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95600" y="3763965"/>
            <a:ext cx="141288" cy="14128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7" name="Oval 7">
            <a:extLst>
              <a:ext uri="{FF2B5EF4-FFF2-40B4-BE49-F238E27FC236}">
                <a16:creationId xmlns:a16="http://schemas.microsoft.com/office/drawing/2014/main" id="{A5BF86DA-CFDC-4364-AC9E-FEA20D1EBE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8963" y="5086352"/>
            <a:ext cx="141287" cy="14128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8" name="Oval 8">
            <a:extLst>
              <a:ext uri="{FF2B5EF4-FFF2-40B4-BE49-F238E27FC236}">
                <a16:creationId xmlns:a16="http://schemas.microsoft.com/office/drawing/2014/main" id="{E329EAC4-7019-4009-9C49-C9C0D4485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6088" y="5211765"/>
            <a:ext cx="141287" cy="14128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9" name="Oval 9">
            <a:extLst>
              <a:ext uri="{FF2B5EF4-FFF2-40B4-BE49-F238E27FC236}">
                <a16:creationId xmlns:a16="http://schemas.microsoft.com/office/drawing/2014/main" id="{B0665639-761B-46C0-86E2-6E076C8F57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5788" y="3921127"/>
            <a:ext cx="141287" cy="14128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Oval 10">
            <a:extLst>
              <a:ext uri="{FF2B5EF4-FFF2-40B4-BE49-F238E27FC236}">
                <a16:creationId xmlns:a16="http://schemas.microsoft.com/office/drawing/2014/main" id="{4CE79F44-9450-44DF-8E1E-4169BE0BB4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3663" y="3624265"/>
            <a:ext cx="141287" cy="14128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1" name="Oval 11">
            <a:extLst>
              <a:ext uri="{FF2B5EF4-FFF2-40B4-BE49-F238E27FC236}">
                <a16:creationId xmlns:a16="http://schemas.microsoft.com/office/drawing/2014/main" id="{0CD8674E-EFA4-4006-AAAE-8B8341F77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2788" y="5140327"/>
            <a:ext cx="141287" cy="14128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2" name="Oval 12">
            <a:extLst>
              <a:ext uri="{FF2B5EF4-FFF2-40B4-BE49-F238E27FC236}">
                <a16:creationId xmlns:a16="http://schemas.microsoft.com/office/drawing/2014/main" id="{A4ACB14C-E80B-4F4B-A775-C93F627092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7338" y="4637090"/>
            <a:ext cx="141287" cy="141287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3" name="Oval 13">
            <a:extLst>
              <a:ext uri="{FF2B5EF4-FFF2-40B4-BE49-F238E27FC236}">
                <a16:creationId xmlns:a16="http://schemas.microsoft.com/office/drawing/2014/main" id="{6A73D23F-EFB6-4427-BFB4-8D90B0B3D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3788" y="4378327"/>
            <a:ext cx="141287" cy="141288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2BC1FCD2-2EA0-4BE8-8437-A75489DFA746}"/>
              </a:ext>
            </a:extLst>
          </p:cNvPr>
          <p:cNvSpPr>
            <a:spLocks/>
          </p:cNvSpPr>
          <p:nvPr/>
        </p:nvSpPr>
        <p:spPr bwMode="auto">
          <a:xfrm>
            <a:off x="1863725" y="3616327"/>
            <a:ext cx="1130300" cy="207963"/>
          </a:xfrm>
          <a:custGeom>
            <a:avLst/>
            <a:gdLst>
              <a:gd name="T0" fmla="*/ 0 w 712"/>
              <a:gd name="T1" fmla="*/ 19 h 131"/>
              <a:gd name="T2" fmla="*/ 292 w 712"/>
              <a:gd name="T3" fmla="*/ 19 h 131"/>
              <a:gd name="T4" fmla="*/ 712 w 712"/>
              <a:gd name="T5" fmla="*/ 131 h 1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712" h="131">
                <a:moveTo>
                  <a:pt x="0" y="19"/>
                </a:moveTo>
                <a:cubicBezTo>
                  <a:pt x="86" y="9"/>
                  <a:pt x="173" y="0"/>
                  <a:pt x="292" y="19"/>
                </a:cubicBezTo>
                <a:cubicBezTo>
                  <a:pt x="411" y="38"/>
                  <a:pt x="644" y="112"/>
                  <a:pt x="712" y="131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5" name="Freeform 15">
            <a:extLst>
              <a:ext uri="{FF2B5EF4-FFF2-40B4-BE49-F238E27FC236}">
                <a16:creationId xmlns:a16="http://schemas.microsoft.com/office/drawing/2014/main" id="{E71600E7-5DFE-4FFA-88AA-4CF7A727D514}"/>
              </a:ext>
            </a:extLst>
          </p:cNvPr>
          <p:cNvSpPr>
            <a:spLocks/>
          </p:cNvSpPr>
          <p:nvPr/>
        </p:nvSpPr>
        <p:spPr bwMode="auto">
          <a:xfrm>
            <a:off x="1460500" y="3646490"/>
            <a:ext cx="376238" cy="1646237"/>
          </a:xfrm>
          <a:custGeom>
            <a:avLst/>
            <a:gdLst>
              <a:gd name="T0" fmla="*/ 237 w 237"/>
              <a:gd name="T1" fmla="*/ 0 h 1037"/>
              <a:gd name="T2" fmla="*/ 6 w 237"/>
              <a:gd name="T3" fmla="*/ 420 h 1037"/>
              <a:gd name="T4" fmla="*/ 203 w 237"/>
              <a:gd name="T5" fmla="*/ 1037 h 103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37" h="1037">
                <a:moveTo>
                  <a:pt x="237" y="0"/>
                </a:moveTo>
                <a:cubicBezTo>
                  <a:pt x="124" y="123"/>
                  <a:pt x="12" y="247"/>
                  <a:pt x="6" y="420"/>
                </a:cubicBezTo>
                <a:cubicBezTo>
                  <a:pt x="0" y="593"/>
                  <a:pt x="101" y="815"/>
                  <a:pt x="203" y="1037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6" name="Freeform 16">
            <a:extLst>
              <a:ext uri="{FF2B5EF4-FFF2-40B4-BE49-F238E27FC236}">
                <a16:creationId xmlns:a16="http://schemas.microsoft.com/office/drawing/2014/main" id="{3F3AF21E-1C2A-4069-A1F9-31A4192C3357}"/>
              </a:ext>
            </a:extLst>
          </p:cNvPr>
          <p:cNvSpPr>
            <a:spLocks/>
          </p:cNvSpPr>
          <p:nvPr/>
        </p:nvSpPr>
        <p:spPr bwMode="auto">
          <a:xfrm>
            <a:off x="1616075" y="3824290"/>
            <a:ext cx="1404938" cy="1455737"/>
          </a:xfrm>
          <a:custGeom>
            <a:avLst/>
            <a:gdLst>
              <a:gd name="T0" fmla="*/ 96 w 885"/>
              <a:gd name="T1" fmla="*/ 917 h 917"/>
              <a:gd name="T2" fmla="*/ 131 w 885"/>
              <a:gd name="T3" fmla="*/ 445 h 917"/>
              <a:gd name="T4" fmla="*/ 885 w 885"/>
              <a:gd name="T5" fmla="*/ 0 h 9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885" h="917">
                <a:moveTo>
                  <a:pt x="96" y="917"/>
                </a:moveTo>
                <a:cubicBezTo>
                  <a:pt x="48" y="757"/>
                  <a:pt x="0" y="598"/>
                  <a:pt x="131" y="445"/>
                </a:cubicBezTo>
                <a:cubicBezTo>
                  <a:pt x="262" y="292"/>
                  <a:pt x="573" y="146"/>
                  <a:pt x="885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6CAE8866-A071-4A70-BC69-FB527E9FD419}"/>
              </a:ext>
            </a:extLst>
          </p:cNvPr>
          <p:cNvSpPr>
            <a:spLocks/>
          </p:cNvSpPr>
          <p:nvPr/>
        </p:nvSpPr>
        <p:spPr bwMode="auto">
          <a:xfrm>
            <a:off x="1836738" y="3673477"/>
            <a:ext cx="708025" cy="871538"/>
          </a:xfrm>
          <a:custGeom>
            <a:avLst/>
            <a:gdLst>
              <a:gd name="T0" fmla="*/ 0 w 446"/>
              <a:gd name="T1" fmla="*/ 0 h 549"/>
              <a:gd name="T2" fmla="*/ 146 w 446"/>
              <a:gd name="T3" fmla="*/ 292 h 549"/>
              <a:gd name="T4" fmla="*/ 446 w 446"/>
              <a:gd name="T5" fmla="*/ 549 h 5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46" h="549">
                <a:moveTo>
                  <a:pt x="0" y="0"/>
                </a:moveTo>
                <a:cubicBezTo>
                  <a:pt x="36" y="100"/>
                  <a:pt x="72" y="201"/>
                  <a:pt x="146" y="292"/>
                </a:cubicBezTo>
                <a:cubicBezTo>
                  <a:pt x="220" y="383"/>
                  <a:pt x="333" y="466"/>
                  <a:pt x="446" y="54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8" name="Freeform 18">
            <a:extLst>
              <a:ext uri="{FF2B5EF4-FFF2-40B4-BE49-F238E27FC236}">
                <a16:creationId xmlns:a16="http://schemas.microsoft.com/office/drawing/2014/main" id="{025733C5-47B3-4598-9922-B69EA120F808}"/>
              </a:ext>
            </a:extLst>
          </p:cNvPr>
          <p:cNvSpPr>
            <a:spLocks/>
          </p:cNvSpPr>
          <p:nvPr/>
        </p:nvSpPr>
        <p:spPr bwMode="auto">
          <a:xfrm>
            <a:off x="2544763" y="4518027"/>
            <a:ext cx="625475" cy="639763"/>
          </a:xfrm>
          <a:custGeom>
            <a:avLst/>
            <a:gdLst>
              <a:gd name="T0" fmla="*/ 0 w 394"/>
              <a:gd name="T1" fmla="*/ 0 h 403"/>
              <a:gd name="T2" fmla="*/ 248 w 394"/>
              <a:gd name="T3" fmla="*/ 103 h 403"/>
              <a:gd name="T4" fmla="*/ 394 w 394"/>
              <a:gd name="T5" fmla="*/ 403 h 4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394" h="403">
                <a:moveTo>
                  <a:pt x="0" y="0"/>
                </a:moveTo>
                <a:cubicBezTo>
                  <a:pt x="91" y="18"/>
                  <a:pt x="182" y="36"/>
                  <a:pt x="248" y="103"/>
                </a:cubicBezTo>
                <a:cubicBezTo>
                  <a:pt x="314" y="170"/>
                  <a:pt x="354" y="286"/>
                  <a:pt x="394" y="403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9" name="Freeform 19">
            <a:extLst>
              <a:ext uri="{FF2B5EF4-FFF2-40B4-BE49-F238E27FC236}">
                <a16:creationId xmlns:a16="http://schemas.microsoft.com/office/drawing/2014/main" id="{2870BF62-D781-48BA-B8D0-AAAD1413AF30}"/>
              </a:ext>
            </a:extLst>
          </p:cNvPr>
          <p:cNvSpPr>
            <a:spLocks/>
          </p:cNvSpPr>
          <p:nvPr/>
        </p:nvSpPr>
        <p:spPr bwMode="auto">
          <a:xfrm>
            <a:off x="1717675" y="5157790"/>
            <a:ext cx="1493838" cy="352425"/>
          </a:xfrm>
          <a:custGeom>
            <a:avLst/>
            <a:gdLst>
              <a:gd name="T0" fmla="*/ 24 w 941"/>
              <a:gd name="T1" fmla="*/ 85 h 222"/>
              <a:gd name="T2" fmla="*/ 84 w 941"/>
              <a:gd name="T3" fmla="*/ 102 h 222"/>
              <a:gd name="T4" fmla="*/ 529 w 941"/>
              <a:gd name="T5" fmla="*/ 205 h 222"/>
              <a:gd name="T6" fmla="*/ 941 w 941"/>
              <a:gd name="T7" fmla="*/ 0 h 22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941" h="222">
                <a:moveTo>
                  <a:pt x="24" y="85"/>
                </a:moveTo>
                <a:cubicBezTo>
                  <a:pt x="12" y="83"/>
                  <a:pt x="0" y="82"/>
                  <a:pt x="84" y="102"/>
                </a:cubicBezTo>
                <a:cubicBezTo>
                  <a:pt x="168" y="122"/>
                  <a:pt x="386" y="222"/>
                  <a:pt x="529" y="205"/>
                </a:cubicBezTo>
                <a:cubicBezTo>
                  <a:pt x="672" y="188"/>
                  <a:pt x="874" y="34"/>
                  <a:pt x="941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3C080C07-734D-4BAF-99F6-22135B45E3AE}"/>
              </a:ext>
            </a:extLst>
          </p:cNvPr>
          <p:cNvSpPr>
            <a:spLocks/>
          </p:cNvSpPr>
          <p:nvPr/>
        </p:nvSpPr>
        <p:spPr bwMode="auto">
          <a:xfrm>
            <a:off x="2952750" y="3851277"/>
            <a:ext cx="354013" cy="1306513"/>
          </a:xfrm>
          <a:custGeom>
            <a:avLst/>
            <a:gdLst>
              <a:gd name="T0" fmla="*/ 0 w 223"/>
              <a:gd name="T1" fmla="*/ 0 h 823"/>
              <a:gd name="T2" fmla="*/ 197 w 223"/>
              <a:gd name="T3" fmla="*/ 283 h 823"/>
              <a:gd name="T4" fmla="*/ 154 w 223"/>
              <a:gd name="T5" fmla="*/ 823 h 82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23" h="823">
                <a:moveTo>
                  <a:pt x="0" y="0"/>
                </a:moveTo>
                <a:cubicBezTo>
                  <a:pt x="85" y="73"/>
                  <a:pt x="171" y="146"/>
                  <a:pt x="197" y="283"/>
                </a:cubicBezTo>
                <a:cubicBezTo>
                  <a:pt x="223" y="420"/>
                  <a:pt x="188" y="621"/>
                  <a:pt x="154" y="823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7008E63F-65BD-44BC-9CB3-47CC7BB6C38A}"/>
              </a:ext>
            </a:extLst>
          </p:cNvPr>
          <p:cNvSpPr>
            <a:spLocks/>
          </p:cNvSpPr>
          <p:nvPr/>
        </p:nvSpPr>
        <p:spPr bwMode="auto">
          <a:xfrm>
            <a:off x="4445000" y="3581402"/>
            <a:ext cx="788988" cy="404813"/>
          </a:xfrm>
          <a:custGeom>
            <a:avLst/>
            <a:gdLst>
              <a:gd name="T0" fmla="*/ 0 w 497"/>
              <a:gd name="T1" fmla="*/ 255 h 255"/>
              <a:gd name="T2" fmla="*/ 214 w 497"/>
              <a:gd name="T3" fmla="*/ 33 h 255"/>
              <a:gd name="T4" fmla="*/ 497 w 497"/>
              <a:gd name="T5" fmla="*/ 58 h 25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497" h="255">
                <a:moveTo>
                  <a:pt x="0" y="255"/>
                </a:moveTo>
                <a:cubicBezTo>
                  <a:pt x="65" y="160"/>
                  <a:pt x="131" y="66"/>
                  <a:pt x="214" y="33"/>
                </a:cubicBezTo>
                <a:cubicBezTo>
                  <a:pt x="297" y="0"/>
                  <a:pt x="453" y="52"/>
                  <a:pt x="497" y="58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2" name="Freeform 22">
            <a:extLst>
              <a:ext uri="{FF2B5EF4-FFF2-40B4-BE49-F238E27FC236}">
                <a16:creationId xmlns:a16="http://schemas.microsoft.com/office/drawing/2014/main" id="{86299F6E-78B7-4E47-9EE3-2371C42DD97B}"/>
              </a:ext>
            </a:extLst>
          </p:cNvPr>
          <p:cNvSpPr>
            <a:spLocks/>
          </p:cNvSpPr>
          <p:nvPr/>
        </p:nvSpPr>
        <p:spPr bwMode="auto">
          <a:xfrm>
            <a:off x="4191000" y="3986215"/>
            <a:ext cx="388938" cy="1252537"/>
          </a:xfrm>
          <a:custGeom>
            <a:avLst/>
            <a:gdLst>
              <a:gd name="T0" fmla="*/ 160 w 245"/>
              <a:gd name="T1" fmla="*/ 0 h 789"/>
              <a:gd name="T2" fmla="*/ 14 w 245"/>
              <a:gd name="T3" fmla="*/ 240 h 789"/>
              <a:gd name="T4" fmla="*/ 245 w 245"/>
              <a:gd name="T5" fmla="*/ 789 h 78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45" h="789">
                <a:moveTo>
                  <a:pt x="160" y="0"/>
                </a:moveTo>
                <a:cubicBezTo>
                  <a:pt x="80" y="54"/>
                  <a:pt x="0" y="109"/>
                  <a:pt x="14" y="240"/>
                </a:cubicBezTo>
                <a:cubicBezTo>
                  <a:pt x="28" y="371"/>
                  <a:pt x="136" y="580"/>
                  <a:pt x="245" y="789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3" name="Freeform 23">
            <a:extLst>
              <a:ext uri="{FF2B5EF4-FFF2-40B4-BE49-F238E27FC236}">
                <a16:creationId xmlns:a16="http://schemas.microsoft.com/office/drawing/2014/main" id="{0B51EF22-7DF5-4266-BB05-E0E79B87260A}"/>
              </a:ext>
            </a:extLst>
          </p:cNvPr>
          <p:cNvSpPr>
            <a:spLocks/>
          </p:cNvSpPr>
          <p:nvPr/>
        </p:nvSpPr>
        <p:spPr bwMode="auto">
          <a:xfrm>
            <a:off x="4559300" y="4449765"/>
            <a:ext cx="401638" cy="762000"/>
          </a:xfrm>
          <a:custGeom>
            <a:avLst/>
            <a:gdLst>
              <a:gd name="T0" fmla="*/ 22 w 253"/>
              <a:gd name="T1" fmla="*/ 480 h 480"/>
              <a:gd name="T2" fmla="*/ 39 w 253"/>
              <a:gd name="T3" fmla="*/ 188 h 480"/>
              <a:gd name="T4" fmla="*/ 253 w 253"/>
              <a:gd name="T5" fmla="*/ 0 h 4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53" h="480">
                <a:moveTo>
                  <a:pt x="22" y="480"/>
                </a:moveTo>
                <a:cubicBezTo>
                  <a:pt x="11" y="374"/>
                  <a:pt x="0" y="268"/>
                  <a:pt x="39" y="188"/>
                </a:cubicBezTo>
                <a:cubicBezTo>
                  <a:pt x="78" y="108"/>
                  <a:pt x="165" y="54"/>
                  <a:pt x="253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4" name="Freeform 24">
            <a:extLst>
              <a:ext uri="{FF2B5EF4-FFF2-40B4-BE49-F238E27FC236}">
                <a16:creationId xmlns:a16="http://schemas.microsoft.com/office/drawing/2014/main" id="{5ED00571-0967-4BB5-A5DA-8DBFECA1A15D}"/>
              </a:ext>
            </a:extLst>
          </p:cNvPr>
          <p:cNvSpPr>
            <a:spLocks/>
          </p:cNvSpPr>
          <p:nvPr/>
        </p:nvSpPr>
        <p:spPr bwMode="auto">
          <a:xfrm>
            <a:off x="4960938" y="3687765"/>
            <a:ext cx="325437" cy="747712"/>
          </a:xfrm>
          <a:custGeom>
            <a:avLst/>
            <a:gdLst>
              <a:gd name="T0" fmla="*/ 0 w 205"/>
              <a:gd name="T1" fmla="*/ 471 h 471"/>
              <a:gd name="T2" fmla="*/ 172 w 205"/>
              <a:gd name="T3" fmla="*/ 291 h 471"/>
              <a:gd name="T4" fmla="*/ 198 w 205"/>
              <a:gd name="T5" fmla="*/ 0 h 4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205" h="471">
                <a:moveTo>
                  <a:pt x="0" y="471"/>
                </a:moveTo>
                <a:cubicBezTo>
                  <a:pt x="69" y="420"/>
                  <a:pt x="139" y="369"/>
                  <a:pt x="172" y="291"/>
                </a:cubicBezTo>
                <a:cubicBezTo>
                  <a:pt x="205" y="213"/>
                  <a:pt x="201" y="106"/>
                  <a:pt x="198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5" name="Freeform 25">
            <a:extLst>
              <a:ext uri="{FF2B5EF4-FFF2-40B4-BE49-F238E27FC236}">
                <a16:creationId xmlns:a16="http://schemas.microsoft.com/office/drawing/2014/main" id="{D1BB9640-BBC6-4FF3-8255-869AE950B1DA}"/>
              </a:ext>
            </a:extLst>
          </p:cNvPr>
          <p:cNvSpPr>
            <a:spLocks/>
          </p:cNvSpPr>
          <p:nvPr/>
        </p:nvSpPr>
        <p:spPr bwMode="auto">
          <a:xfrm>
            <a:off x="5233988" y="3673477"/>
            <a:ext cx="246062" cy="1035050"/>
          </a:xfrm>
          <a:custGeom>
            <a:avLst/>
            <a:gdLst>
              <a:gd name="T0" fmla="*/ 0 w 155"/>
              <a:gd name="T1" fmla="*/ 0 h 652"/>
              <a:gd name="T2" fmla="*/ 120 w 155"/>
              <a:gd name="T3" fmla="*/ 172 h 652"/>
              <a:gd name="T4" fmla="*/ 154 w 155"/>
              <a:gd name="T5" fmla="*/ 515 h 652"/>
              <a:gd name="T6" fmla="*/ 128 w 155"/>
              <a:gd name="T7" fmla="*/ 652 h 65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55" h="652">
                <a:moveTo>
                  <a:pt x="0" y="0"/>
                </a:moveTo>
                <a:cubicBezTo>
                  <a:pt x="47" y="43"/>
                  <a:pt x="94" y="86"/>
                  <a:pt x="120" y="172"/>
                </a:cubicBezTo>
                <a:cubicBezTo>
                  <a:pt x="146" y="258"/>
                  <a:pt x="153" y="435"/>
                  <a:pt x="154" y="515"/>
                </a:cubicBezTo>
                <a:cubicBezTo>
                  <a:pt x="155" y="595"/>
                  <a:pt x="134" y="629"/>
                  <a:pt x="128" y="652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6" name="Freeform 26">
            <a:extLst>
              <a:ext uri="{FF2B5EF4-FFF2-40B4-BE49-F238E27FC236}">
                <a16:creationId xmlns:a16="http://schemas.microsoft.com/office/drawing/2014/main" id="{F4B5E465-1747-4B26-B693-72E50A3E95E2}"/>
              </a:ext>
            </a:extLst>
          </p:cNvPr>
          <p:cNvSpPr>
            <a:spLocks/>
          </p:cNvSpPr>
          <p:nvPr/>
        </p:nvSpPr>
        <p:spPr bwMode="auto">
          <a:xfrm>
            <a:off x="4594225" y="4708527"/>
            <a:ext cx="830263" cy="503238"/>
          </a:xfrm>
          <a:custGeom>
            <a:avLst/>
            <a:gdLst>
              <a:gd name="T0" fmla="*/ 0 w 523"/>
              <a:gd name="T1" fmla="*/ 317 h 317"/>
              <a:gd name="T2" fmla="*/ 206 w 523"/>
              <a:gd name="T3" fmla="*/ 283 h 317"/>
              <a:gd name="T4" fmla="*/ 326 w 523"/>
              <a:gd name="T5" fmla="*/ 145 h 317"/>
              <a:gd name="T6" fmla="*/ 523 w 523"/>
              <a:gd name="T7" fmla="*/ 0 h 3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523" h="317">
                <a:moveTo>
                  <a:pt x="0" y="317"/>
                </a:moveTo>
                <a:cubicBezTo>
                  <a:pt x="76" y="314"/>
                  <a:pt x="152" y="312"/>
                  <a:pt x="206" y="283"/>
                </a:cubicBezTo>
                <a:cubicBezTo>
                  <a:pt x="260" y="254"/>
                  <a:pt x="273" y="192"/>
                  <a:pt x="326" y="145"/>
                </a:cubicBezTo>
                <a:cubicBezTo>
                  <a:pt x="379" y="98"/>
                  <a:pt x="451" y="49"/>
                  <a:pt x="523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7" name="Freeform 27">
            <a:extLst>
              <a:ext uri="{FF2B5EF4-FFF2-40B4-BE49-F238E27FC236}">
                <a16:creationId xmlns:a16="http://schemas.microsoft.com/office/drawing/2014/main" id="{0115E80A-39DB-4357-B022-E0FED8A81B3B}"/>
              </a:ext>
            </a:extLst>
          </p:cNvPr>
          <p:cNvSpPr>
            <a:spLocks/>
          </p:cNvSpPr>
          <p:nvPr/>
        </p:nvSpPr>
        <p:spPr bwMode="auto">
          <a:xfrm>
            <a:off x="4594225" y="3673477"/>
            <a:ext cx="1268413" cy="1739900"/>
          </a:xfrm>
          <a:custGeom>
            <a:avLst/>
            <a:gdLst>
              <a:gd name="T0" fmla="*/ 0 w 799"/>
              <a:gd name="T1" fmla="*/ 977 h 1096"/>
              <a:gd name="T2" fmla="*/ 171 w 799"/>
              <a:gd name="T3" fmla="*/ 1089 h 1096"/>
              <a:gd name="T4" fmla="*/ 531 w 799"/>
              <a:gd name="T5" fmla="*/ 1020 h 1096"/>
              <a:gd name="T6" fmla="*/ 763 w 799"/>
              <a:gd name="T7" fmla="*/ 772 h 1096"/>
              <a:gd name="T8" fmla="*/ 746 w 799"/>
              <a:gd name="T9" fmla="*/ 395 h 1096"/>
              <a:gd name="T10" fmla="*/ 643 w 799"/>
              <a:gd name="T11" fmla="*/ 103 h 1096"/>
              <a:gd name="T12" fmla="*/ 437 w 799"/>
              <a:gd name="T13" fmla="*/ 0 h 10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799" h="1096">
                <a:moveTo>
                  <a:pt x="0" y="977"/>
                </a:moveTo>
                <a:cubicBezTo>
                  <a:pt x="41" y="1029"/>
                  <a:pt x="83" y="1082"/>
                  <a:pt x="171" y="1089"/>
                </a:cubicBezTo>
                <a:cubicBezTo>
                  <a:pt x="259" y="1096"/>
                  <a:pt x="432" y="1073"/>
                  <a:pt x="531" y="1020"/>
                </a:cubicBezTo>
                <a:cubicBezTo>
                  <a:pt x="630" y="967"/>
                  <a:pt x="727" y="876"/>
                  <a:pt x="763" y="772"/>
                </a:cubicBezTo>
                <a:cubicBezTo>
                  <a:pt x="799" y="668"/>
                  <a:pt x="766" y="506"/>
                  <a:pt x="746" y="395"/>
                </a:cubicBezTo>
                <a:cubicBezTo>
                  <a:pt x="726" y="284"/>
                  <a:pt x="694" y="169"/>
                  <a:pt x="643" y="103"/>
                </a:cubicBezTo>
                <a:cubicBezTo>
                  <a:pt x="592" y="37"/>
                  <a:pt x="514" y="18"/>
                  <a:pt x="437" y="0"/>
                </a:cubicBezTo>
              </a:path>
            </a:pathLst>
          </a:custGeom>
          <a:noFill/>
          <a:ln w="28575" cap="flat" cmpd="sng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28" name="Text Box 28">
            <a:extLst>
              <a:ext uri="{FF2B5EF4-FFF2-40B4-BE49-F238E27FC236}">
                <a16:creationId xmlns:a16="http://schemas.microsoft.com/office/drawing/2014/main" id="{D6105345-90CD-4258-BBB8-2668FCC9D4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31938" y="3295652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/>
              <a:t>a</a:t>
            </a:r>
          </a:p>
        </p:txBody>
      </p:sp>
      <p:sp>
        <p:nvSpPr>
          <p:cNvPr id="29" name="Text Box 29">
            <a:extLst>
              <a:ext uri="{FF2B5EF4-FFF2-40B4-BE49-F238E27FC236}">
                <a16:creationId xmlns:a16="http://schemas.microsoft.com/office/drawing/2014/main" id="{0D98372C-8EA5-47D0-82AC-03098323A9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0688" y="359569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/>
              <a:t>b</a:t>
            </a:r>
          </a:p>
        </p:txBody>
      </p:sp>
      <p:sp>
        <p:nvSpPr>
          <p:cNvPr id="30" name="Text Box 30">
            <a:extLst>
              <a:ext uri="{FF2B5EF4-FFF2-40B4-BE49-F238E27FC236}">
                <a16:creationId xmlns:a16="http://schemas.microsoft.com/office/drawing/2014/main" id="{D26013FE-0B7C-4D4F-A8AC-818E2ABB5A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525" y="528161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/>
              <a:t>c</a:t>
            </a:r>
          </a:p>
        </p:txBody>
      </p:sp>
      <p:sp>
        <p:nvSpPr>
          <p:cNvPr id="31" name="Text Box 31">
            <a:extLst>
              <a:ext uri="{FF2B5EF4-FFF2-40B4-BE49-F238E27FC236}">
                <a16:creationId xmlns:a16="http://schemas.microsoft.com/office/drawing/2014/main" id="{C789855B-18EF-4664-BFC6-615B3A0598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9963" y="4670427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/>
              <a:t>d</a:t>
            </a:r>
          </a:p>
        </p:txBody>
      </p:sp>
      <p:sp>
        <p:nvSpPr>
          <p:cNvPr id="32" name="Text Box 32">
            <a:extLst>
              <a:ext uri="{FF2B5EF4-FFF2-40B4-BE49-F238E27FC236}">
                <a16:creationId xmlns:a16="http://schemas.microsoft.com/office/drawing/2014/main" id="{8B847A1A-0E18-41AF-B139-6BF72A891B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28975" y="5186365"/>
            <a:ext cx="3190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en-US" i="1"/>
              <a:t>e</a:t>
            </a:r>
          </a:p>
        </p:txBody>
      </p:sp>
      <p:sp>
        <p:nvSpPr>
          <p:cNvPr id="33" name="Text Box 37">
            <a:extLst>
              <a:ext uri="{FF2B5EF4-FFF2-40B4-BE49-F238E27FC236}">
                <a16:creationId xmlns:a16="http://schemas.microsoft.com/office/drawing/2014/main" id="{A90CAA47-80D1-43BC-99AA-5EF339F6BC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2967465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6213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i="1" dirty="0">
                <a:solidFill>
                  <a:srgbClr val="00B050"/>
                </a:solidFill>
                <a:latin typeface="+mn-lt"/>
              </a:rPr>
              <a:t> Same No of vertices</a:t>
            </a:r>
          </a:p>
        </p:txBody>
      </p:sp>
      <p:sp>
        <p:nvSpPr>
          <p:cNvPr id="34" name="Text Box 42">
            <a:extLst>
              <a:ext uri="{FF2B5EF4-FFF2-40B4-BE49-F238E27FC236}">
                <a16:creationId xmlns:a16="http://schemas.microsoft.com/office/drawing/2014/main" id="{B06EB87C-D87E-444C-BB8A-50501721F3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3729464"/>
            <a:ext cx="213360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6213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i="1" dirty="0">
                <a:solidFill>
                  <a:srgbClr val="00B050"/>
                </a:solidFill>
                <a:latin typeface="+mn-lt"/>
              </a:rPr>
              <a:t> Same No of edges</a:t>
            </a:r>
          </a:p>
        </p:txBody>
      </p:sp>
      <p:sp>
        <p:nvSpPr>
          <p:cNvPr id="35" name="Text Box 43">
            <a:extLst>
              <a:ext uri="{FF2B5EF4-FFF2-40B4-BE49-F238E27FC236}">
                <a16:creationId xmlns:a16="http://schemas.microsoft.com/office/drawing/2014/main" id="{E2ECC0BC-5CF9-488D-8AD7-79799BC81A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72200" y="4411058"/>
            <a:ext cx="2133600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176213" indent="-176213" algn="l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algn="l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>
              <a:buFontTx/>
              <a:buChar char="•"/>
            </a:pPr>
            <a:r>
              <a:rPr lang="en-US" i="1" dirty="0">
                <a:solidFill>
                  <a:srgbClr val="00B050"/>
                </a:solidFill>
                <a:latin typeface="+mn-lt"/>
              </a:rPr>
              <a:t> Different No of vertices of degree 2!  </a:t>
            </a:r>
            <a:br>
              <a:rPr lang="en-US" i="1" dirty="0">
                <a:solidFill>
                  <a:srgbClr val="00B050"/>
                </a:solidFill>
                <a:latin typeface="+mn-lt"/>
              </a:rPr>
            </a:br>
            <a:r>
              <a:rPr lang="en-US" i="1" dirty="0">
                <a:solidFill>
                  <a:srgbClr val="00B050"/>
                </a:solidFill>
                <a:latin typeface="+mn-lt"/>
              </a:rPr>
              <a:t>(1 vs 3)</a:t>
            </a:r>
          </a:p>
        </p:txBody>
      </p:sp>
    </p:spTree>
    <p:extLst>
      <p:ext uri="{BB962C8B-B14F-4D97-AF65-F5344CB8AC3E}">
        <p14:creationId xmlns:p14="http://schemas.microsoft.com/office/powerpoint/2010/main" val="474772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/>
      <p:bldP spid="34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7" name="Rectangle 3">
            <a:extLst>
              <a:ext uri="{FF2B5EF4-FFF2-40B4-BE49-F238E27FC236}">
                <a16:creationId xmlns:a16="http://schemas.microsoft.com/office/drawing/2014/main" id="{24EFD5F3-C671-4873-860B-2840EA86ED73}"/>
              </a:ext>
            </a:extLst>
          </p:cNvPr>
          <p:cNvSpPr txBox="1">
            <a:spLocks noChangeArrowheads="1"/>
          </p:cNvSpPr>
          <p:nvPr/>
        </p:nvSpPr>
        <p:spPr>
          <a:xfrm>
            <a:off x="304800" y="1118101"/>
            <a:ext cx="8839200" cy="53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Clr>
                <a:srgbClr val="00A2B8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Aft>
                <a:spcPct val="20000"/>
              </a:spcAft>
              <a:buNone/>
              <a:defRPr/>
            </a:pPr>
            <a:r>
              <a:rPr lang="en-US" sz="2400" b="1" dirty="0">
                <a:sym typeface="Symbol" pitchFamily="18" charset="2"/>
              </a:rPr>
              <a:t>Example II:</a:t>
            </a:r>
            <a:r>
              <a:rPr lang="en-US" sz="2400" dirty="0">
                <a:sym typeface="Symbol" pitchFamily="18" charset="2"/>
              </a:rPr>
              <a:t> How about these two graphs?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725D213-16B2-44F9-A552-4F2674E76A32}"/>
              </a:ext>
            </a:extLst>
          </p:cNvPr>
          <p:cNvGrpSpPr/>
          <p:nvPr/>
        </p:nvGrpSpPr>
        <p:grpSpPr>
          <a:xfrm>
            <a:off x="1131405" y="1578429"/>
            <a:ext cx="6705600" cy="2642175"/>
            <a:chOff x="934278" y="1905000"/>
            <a:chExt cx="6705600" cy="2642175"/>
          </a:xfrm>
        </p:grpSpPr>
        <p:sp>
          <p:nvSpPr>
            <p:cNvPr id="39" name="AutoShape 5">
              <a:extLst>
                <a:ext uri="{FF2B5EF4-FFF2-40B4-BE49-F238E27FC236}">
                  <a16:creationId xmlns:a16="http://schemas.microsoft.com/office/drawing/2014/main" id="{0B836612-8A5D-4B0C-B402-81BC132858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3078" y="41910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40" name="Text Box 6">
              <a:extLst>
                <a:ext uri="{FF2B5EF4-FFF2-40B4-BE49-F238E27FC236}">
                  <a16:creationId xmlns:a16="http://schemas.microsoft.com/office/drawing/2014/main" id="{36C78C39-70A8-44F3-B870-66F848E664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91678" y="3962400"/>
              <a:ext cx="609600" cy="5847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d</a:t>
              </a:r>
              <a:endParaRPr lang="en-US" sz="3200" baseline="-25000"/>
            </a:p>
          </p:txBody>
        </p:sp>
        <p:sp>
          <p:nvSpPr>
            <p:cNvPr id="41" name="AutoShape 7">
              <a:extLst>
                <a:ext uri="{FF2B5EF4-FFF2-40B4-BE49-F238E27FC236}">
                  <a16:creationId xmlns:a16="http://schemas.microsoft.com/office/drawing/2014/main" id="{52E929AF-7392-4EA1-8A8E-BDBF18248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15278" y="35814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42" name="AutoShape 8">
              <a:extLst>
                <a:ext uri="{FF2B5EF4-FFF2-40B4-BE49-F238E27FC236}">
                  <a16:creationId xmlns:a16="http://schemas.microsoft.com/office/drawing/2014/main" id="{FCDCCDA4-7ADB-4320-8F5E-B0951D613B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91478" y="25908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43" name="AutoShape 9">
              <a:extLst>
                <a:ext uri="{FF2B5EF4-FFF2-40B4-BE49-F238E27FC236}">
                  <a16:creationId xmlns:a16="http://schemas.microsoft.com/office/drawing/2014/main" id="{5B88B2B8-3E29-419E-A443-0C6FE60B8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15478" y="32004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44" name="AutoShape 10">
              <a:extLst>
                <a:ext uri="{FF2B5EF4-FFF2-40B4-BE49-F238E27FC236}">
                  <a16:creationId xmlns:a16="http://schemas.microsoft.com/office/drawing/2014/main" id="{D3F40E6A-C29A-47C7-A370-2AD4F5EB87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53478" y="24384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45" name="Text Box 11">
              <a:extLst>
                <a:ext uri="{FF2B5EF4-FFF2-40B4-BE49-F238E27FC236}">
                  <a16:creationId xmlns:a16="http://schemas.microsoft.com/office/drawing/2014/main" id="{5D16637C-104F-40A6-B303-21E21CA652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01078" y="1905000"/>
              <a:ext cx="609600" cy="5847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a</a:t>
              </a:r>
              <a:endParaRPr lang="en-US" sz="3200" baseline="-25000"/>
            </a:p>
          </p:txBody>
        </p:sp>
        <p:sp>
          <p:nvSpPr>
            <p:cNvPr id="46" name="Text Box 12">
              <a:extLst>
                <a:ext uri="{FF2B5EF4-FFF2-40B4-BE49-F238E27FC236}">
                  <a16:creationId xmlns:a16="http://schemas.microsoft.com/office/drawing/2014/main" id="{8781B9FB-6881-41D7-BCDD-C10AF8471C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34278" y="2286000"/>
              <a:ext cx="304800" cy="5847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b</a:t>
              </a:r>
              <a:endParaRPr lang="en-US" sz="3200" baseline="-25000"/>
            </a:p>
          </p:txBody>
        </p:sp>
        <p:sp>
          <p:nvSpPr>
            <p:cNvPr id="47" name="Text Box 13">
              <a:extLst>
                <a:ext uri="{FF2B5EF4-FFF2-40B4-BE49-F238E27FC236}">
                  <a16:creationId xmlns:a16="http://schemas.microsoft.com/office/drawing/2014/main" id="{92D2B338-79AF-43C9-AA6E-E25BE55C08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10478" y="3657600"/>
              <a:ext cx="381000" cy="5847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c</a:t>
              </a:r>
              <a:endParaRPr lang="en-US" sz="3200" baseline="-25000"/>
            </a:p>
          </p:txBody>
        </p:sp>
        <p:sp>
          <p:nvSpPr>
            <p:cNvPr id="48" name="Text Box 14">
              <a:extLst>
                <a:ext uri="{FF2B5EF4-FFF2-40B4-BE49-F238E27FC236}">
                  <a16:creationId xmlns:a16="http://schemas.microsoft.com/office/drawing/2014/main" id="{34CA3596-A589-46C9-8625-94703D94FD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15478" y="2743200"/>
              <a:ext cx="609600" cy="584775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e</a:t>
              </a:r>
              <a:endParaRPr lang="en-US" sz="3200" baseline="-25000"/>
            </a:p>
          </p:txBody>
        </p:sp>
        <p:cxnSp>
          <p:nvCxnSpPr>
            <p:cNvPr id="49" name="AutoShape 15">
              <a:extLst>
                <a:ext uri="{FF2B5EF4-FFF2-40B4-BE49-F238E27FC236}">
                  <a16:creationId xmlns:a16="http://schemas.microsoft.com/office/drawing/2014/main" id="{C8C81200-E24E-43E8-83D6-A628BBFC00A5}"/>
                </a:ext>
              </a:extLst>
            </p:cNvPr>
            <p:cNvCxnSpPr>
              <a:cxnSpLocks noChangeShapeType="1"/>
              <a:stCxn id="39" idx="0"/>
              <a:endCxn id="43" idx="4"/>
            </p:cNvCxnSpPr>
            <p:nvPr/>
          </p:nvCxnSpPr>
          <p:spPr bwMode="auto">
            <a:xfrm flipV="1">
              <a:off x="2839278" y="3352800"/>
              <a:ext cx="152400" cy="83820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AutoShape 16">
              <a:extLst>
                <a:ext uri="{FF2B5EF4-FFF2-40B4-BE49-F238E27FC236}">
                  <a16:creationId xmlns:a16="http://schemas.microsoft.com/office/drawing/2014/main" id="{62F670AC-6817-40B3-8827-ED2F860275F2}"/>
                </a:ext>
              </a:extLst>
            </p:cNvPr>
            <p:cNvCxnSpPr>
              <a:cxnSpLocks noChangeShapeType="1"/>
              <a:stCxn id="39" idx="2"/>
              <a:endCxn id="41" idx="6"/>
            </p:cNvCxnSpPr>
            <p:nvPr/>
          </p:nvCxnSpPr>
          <p:spPr bwMode="auto">
            <a:xfrm flipH="1" flipV="1">
              <a:off x="1467678" y="3657600"/>
              <a:ext cx="1295400" cy="60960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AutoShape 17">
              <a:extLst>
                <a:ext uri="{FF2B5EF4-FFF2-40B4-BE49-F238E27FC236}">
                  <a16:creationId xmlns:a16="http://schemas.microsoft.com/office/drawing/2014/main" id="{057A0066-3FA5-4958-BAE0-4CE4E6742651}"/>
                </a:ext>
              </a:extLst>
            </p:cNvPr>
            <p:cNvCxnSpPr>
              <a:cxnSpLocks noChangeShapeType="1"/>
              <a:stCxn id="41" idx="0"/>
              <a:endCxn id="42" idx="4"/>
            </p:cNvCxnSpPr>
            <p:nvPr/>
          </p:nvCxnSpPr>
          <p:spPr bwMode="auto">
            <a:xfrm flipV="1">
              <a:off x="1391478" y="2743200"/>
              <a:ext cx="76200" cy="83820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AutoShape 18">
              <a:extLst>
                <a:ext uri="{FF2B5EF4-FFF2-40B4-BE49-F238E27FC236}">
                  <a16:creationId xmlns:a16="http://schemas.microsoft.com/office/drawing/2014/main" id="{A6B4C35D-29E5-49AA-AE2B-777973742B6F}"/>
                </a:ext>
              </a:extLst>
            </p:cNvPr>
            <p:cNvCxnSpPr>
              <a:cxnSpLocks noChangeShapeType="1"/>
              <a:stCxn id="42" idx="7"/>
              <a:endCxn id="44" idx="3"/>
            </p:cNvCxnSpPr>
            <p:nvPr/>
          </p:nvCxnSpPr>
          <p:spPr bwMode="auto">
            <a:xfrm flipV="1">
              <a:off x="1521653" y="2568575"/>
              <a:ext cx="654050" cy="4445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3" name="AutoShape 19">
              <a:extLst>
                <a:ext uri="{FF2B5EF4-FFF2-40B4-BE49-F238E27FC236}">
                  <a16:creationId xmlns:a16="http://schemas.microsoft.com/office/drawing/2014/main" id="{BA489158-13A9-4B3C-88CD-6F7E3940A018}"/>
                </a:ext>
              </a:extLst>
            </p:cNvPr>
            <p:cNvCxnSpPr>
              <a:cxnSpLocks noChangeShapeType="1"/>
              <a:stCxn id="44" idx="5"/>
              <a:endCxn id="43" idx="1"/>
            </p:cNvCxnSpPr>
            <p:nvPr/>
          </p:nvCxnSpPr>
          <p:spPr bwMode="auto">
            <a:xfrm>
              <a:off x="2283653" y="2568575"/>
              <a:ext cx="654050" cy="65405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4" name="AutoShape 20">
              <a:extLst>
                <a:ext uri="{FF2B5EF4-FFF2-40B4-BE49-F238E27FC236}">
                  <a16:creationId xmlns:a16="http://schemas.microsoft.com/office/drawing/2014/main" id="{BF63A2D0-DE28-44AF-B363-23730BDC84B4}"/>
                </a:ext>
              </a:extLst>
            </p:cNvPr>
            <p:cNvCxnSpPr>
              <a:cxnSpLocks noChangeShapeType="1"/>
              <a:stCxn id="42" idx="5"/>
              <a:endCxn id="39" idx="1"/>
            </p:cNvCxnSpPr>
            <p:nvPr/>
          </p:nvCxnSpPr>
          <p:spPr bwMode="auto">
            <a:xfrm>
              <a:off x="1521653" y="2720975"/>
              <a:ext cx="1263650" cy="149225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6" name="AutoShape 22">
              <a:extLst>
                <a:ext uri="{FF2B5EF4-FFF2-40B4-BE49-F238E27FC236}">
                  <a16:creationId xmlns:a16="http://schemas.microsoft.com/office/drawing/2014/main" id="{433F9791-B48A-4519-AD8B-D3411A78AF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078" y="3962401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57" name="Text Box 23">
              <a:extLst>
                <a:ext uri="{FF2B5EF4-FFF2-40B4-BE49-F238E27FC236}">
                  <a16:creationId xmlns:a16="http://schemas.microsoft.com/office/drawing/2014/main" id="{EB2BB788-EA12-414A-A25D-2AB0190F07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54078" y="3886201"/>
              <a:ext cx="609600" cy="584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d</a:t>
              </a:r>
              <a:endParaRPr lang="en-US" sz="3200" baseline="-25000"/>
            </a:p>
          </p:txBody>
        </p:sp>
        <p:sp>
          <p:nvSpPr>
            <p:cNvPr id="58" name="AutoShape 24">
              <a:extLst>
                <a:ext uri="{FF2B5EF4-FFF2-40B4-BE49-F238E27FC236}">
                  <a16:creationId xmlns:a16="http://schemas.microsoft.com/office/drawing/2014/main" id="{967C29AF-2D08-42F4-97C0-AEB52D22A4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44478" y="3276601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59" name="AutoShape 25">
              <a:extLst>
                <a:ext uri="{FF2B5EF4-FFF2-40B4-BE49-F238E27FC236}">
                  <a16:creationId xmlns:a16="http://schemas.microsoft.com/office/drawing/2014/main" id="{13CFD46E-8244-44F3-A17C-643C19AD8A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30078" y="22860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60" name="AutoShape 26">
              <a:extLst>
                <a:ext uri="{FF2B5EF4-FFF2-40B4-BE49-F238E27FC236}">
                  <a16:creationId xmlns:a16="http://schemas.microsoft.com/office/drawing/2014/main" id="{A7243132-182B-42DE-B6D8-612DB14FF5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801678" y="3886201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61" name="AutoShape 27">
              <a:extLst>
                <a:ext uri="{FF2B5EF4-FFF2-40B4-BE49-F238E27FC236}">
                  <a16:creationId xmlns:a16="http://schemas.microsoft.com/office/drawing/2014/main" id="{4283585E-CBA6-4BA4-9940-F95D549A02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5478" y="2819400"/>
              <a:ext cx="152400" cy="152400"/>
            </a:xfrm>
            <a:prstGeom prst="flowChartConnector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n-US" sz="3200"/>
            </a:p>
          </p:txBody>
        </p:sp>
        <p:sp>
          <p:nvSpPr>
            <p:cNvPr id="62" name="Text Box 28">
              <a:extLst>
                <a:ext uri="{FF2B5EF4-FFF2-40B4-BE49-F238E27FC236}">
                  <a16:creationId xmlns:a16="http://schemas.microsoft.com/office/drawing/2014/main" id="{2F7E38D6-F956-4439-BF5C-9B6CE1EB2B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49078" y="2057400"/>
              <a:ext cx="609600" cy="584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a</a:t>
              </a:r>
              <a:endParaRPr lang="en-US" sz="3200" baseline="-25000"/>
            </a:p>
          </p:txBody>
        </p:sp>
        <p:sp>
          <p:nvSpPr>
            <p:cNvPr id="63" name="Text Box 29">
              <a:extLst>
                <a:ext uri="{FF2B5EF4-FFF2-40B4-BE49-F238E27FC236}">
                  <a16:creationId xmlns:a16="http://schemas.microsoft.com/office/drawing/2014/main" id="{D497B7E6-BB3A-49D6-9E83-513C56E973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73078" y="3124200"/>
              <a:ext cx="304800" cy="584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b</a:t>
              </a:r>
              <a:endParaRPr lang="en-US" sz="3200" baseline="-25000"/>
            </a:p>
          </p:txBody>
        </p:sp>
        <p:sp>
          <p:nvSpPr>
            <p:cNvPr id="64" name="Text Box 30">
              <a:extLst>
                <a:ext uri="{FF2B5EF4-FFF2-40B4-BE49-F238E27FC236}">
                  <a16:creationId xmlns:a16="http://schemas.microsoft.com/office/drawing/2014/main" id="{C61268EC-5460-4A5A-9324-F9B5F61CEEB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72878" y="3657601"/>
              <a:ext cx="381000" cy="584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c</a:t>
              </a:r>
              <a:endParaRPr lang="en-US" sz="3200" baseline="-25000"/>
            </a:p>
          </p:txBody>
        </p:sp>
        <p:sp>
          <p:nvSpPr>
            <p:cNvPr id="65" name="Text Box 31">
              <a:extLst>
                <a:ext uri="{FF2B5EF4-FFF2-40B4-BE49-F238E27FC236}">
                  <a16:creationId xmlns:a16="http://schemas.microsoft.com/office/drawing/2014/main" id="{095D5123-ECF4-424E-8FFA-B0CA8CE8F6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30278" y="2743200"/>
              <a:ext cx="609600" cy="5842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  <a:effectLst/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defRPr/>
              </a:pPr>
              <a:r>
                <a:rPr lang="en-US" sz="3200"/>
                <a:t>e</a:t>
              </a:r>
              <a:endParaRPr lang="en-US" sz="3200" baseline="-25000"/>
            </a:p>
          </p:txBody>
        </p:sp>
        <p:cxnSp>
          <p:nvCxnSpPr>
            <p:cNvPr id="66" name="AutoShape 32">
              <a:extLst>
                <a:ext uri="{FF2B5EF4-FFF2-40B4-BE49-F238E27FC236}">
                  <a16:creationId xmlns:a16="http://schemas.microsoft.com/office/drawing/2014/main" id="{75214C7D-25A4-4BE3-BFDA-E85A8A2DA028}"/>
                </a:ext>
              </a:extLst>
            </p:cNvPr>
            <p:cNvCxnSpPr>
              <a:cxnSpLocks noChangeShapeType="1"/>
              <a:stCxn id="56" idx="6"/>
              <a:endCxn id="60" idx="2"/>
            </p:cNvCxnSpPr>
            <p:nvPr/>
          </p:nvCxnSpPr>
          <p:spPr bwMode="auto">
            <a:xfrm flipV="1">
              <a:off x="5582478" y="3962401"/>
              <a:ext cx="1219200" cy="7620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AutoShape 33">
              <a:extLst>
                <a:ext uri="{FF2B5EF4-FFF2-40B4-BE49-F238E27FC236}">
                  <a16:creationId xmlns:a16="http://schemas.microsoft.com/office/drawing/2014/main" id="{7CA41987-0588-43FC-952D-DED831D2A171}"/>
                </a:ext>
              </a:extLst>
            </p:cNvPr>
            <p:cNvCxnSpPr>
              <a:cxnSpLocks noChangeShapeType="1"/>
              <a:stCxn id="56" idx="7"/>
              <a:endCxn id="58" idx="3"/>
            </p:cNvCxnSpPr>
            <p:nvPr/>
          </p:nvCxnSpPr>
          <p:spPr bwMode="auto">
            <a:xfrm flipV="1">
              <a:off x="5560253" y="3406776"/>
              <a:ext cx="806450" cy="57785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AutoShape 34">
              <a:extLst>
                <a:ext uri="{FF2B5EF4-FFF2-40B4-BE49-F238E27FC236}">
                  <a16:creationId xmlns:a16="http://schemas.microsoft.com/office/drawing/2014/main" id="{1F7A958B-FF78-4256-945F-78ED079D632D}"/>
                </a:ext>
              </a:extLst>
            </p:cNvPr>
            <p:cNvCxnSpPr>
              <a:cxnSpLocks noChangeShapeType="1"/>
              <a:stCxn id="58" idx="0"/>
              <a:endCxn id="59" idx="4"/>
            </p:cNvCxnSpPr>
            <p:nvPr/>
          </p:nvCxnSpPr>
          <p:spPr bwMode="auto">
            <a:xfrm flipH="1" flipV="1">
              <a:off x="5506278" y="2438400"/>
              <a:ext cx="914400" cy="83820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AutoShape 35">
              <a:extLst>
                <a:ext uri="{FF2B5EF4-FFF2-40B4-BE49-F238E27FC236}">
                  <a16:creationId xmlns:a16="http://schemas.microsoft.com/office/drawing/2014/main" id="{412681B8-120A-40BE-9A02-45A26ADFE34F}"/>
                </a:ext>
              </a:extLst>
            </p:cNvPr>
            <p:cNvCxnSpPr>
              <a:cxnSpLocks noChangeShapeType="1"/>
              <a:stCxn id="59" idx="5"/>
              <a:endCxn id="61" idx="2"/>
            </p:cNvCxnSpPr>
            <p:nvPr/>
          </p:nvCxnSpPr>
          <p:spPr bwMode="auto">
            <a:xfrm>
              <a:off x="5560253" y="2416175"/>
              <a:ext cx="1165225" cy="479425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AutoShape 36">
              <a:extLst>
                <a:ext uri="{FF2B5EF4-FFF2-40B4-BE49-F238E27FC236}">
                  <a16:creationId xmlns:a16="http://schemas.microsoft.com/office/drawing/2014/main" id="{9DD98335-1431-4E0F-B163-F6969253105B}"/>
                </a:ext>
              </a:extLst>
            </p:cNvPr>
            <p:cNvCxnSpPr>
              <a:cxnSpLocks noChangeShapeType="1"/>
              <a:stCxn id="61" idx="3"/>
              <a:endCxn id="58" idx="7"/>
            </p:cNvCxnSpPr>
            <p:nvPr/>
          </p:nvCxnSpPr>
          <p:spPr bwMode="auto">
            <a:xfrm flipH="1">
              <a:off x="6474653" y="2949575"/>
              <a:ext cx="273050" cy="349250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AutoShape 37">
              <a:extLst>
                <a:ext uri="{FF2B5EF4-FFF2-40B4-BE49-F238E27FC236}">
                  <a16:creationId xmlns:a16="http://schemas.microsoft.com/office/drawing/2014/main" id="{E79F8381-401F-4158-B43A-DBD1480BEC0E}"/>
                </a:ext>
              </a:extLst>
            </p:cNvPr>
            <p:cNvCxnSpPr>
              <a:cxnSpLocks noChangeShapeType="1"/>
              <a:stCxn id="59" idx="3"/>
              <a:endCxn id="56" idx="1"/>
            </p:cNvCxnSpPr>
            <p:nvPr/>
          </p:nvCxnSpPr>
          <p:spPr bwMode="auto">
            <a:xfrm>
              <a:off x="5452303" y="2416175"/>
              <a:ext cx="0" cy="1568451"/>
            </a:xfrm>
            <a:prstGeom prst="straightConnector1">
              <a:avLst/>
            </a:prstGeom>
            <a:noFill/>
            <a:ln w="2540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2" name="Rectangle 38">
            <a:extLst>
              <a:ext uri="{FF2B5EF4-FFF2-40B4-BE49-F238E27FC236}">
                <a16:creationId xmlns:a16="http://schemas.microsoft.com/office/drawing/2014/main" id="{28651A5B-6003-4878-A83A-71097C433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4242" y="4213680"/>
            <a:ext cx="8763000" cy="182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just">
              <a:lnSpc>
                <a:spcPct val="150000"/>
              </a:lnSpc>
              <a:spcAft>
                <a:spcPct val="20000"/>
              </a:spcAft>
              <a:defRPr/>
            </a:pPr>
            <a:r>
              <a:rPr lang="en-US" sz="2400" b="1" dirty="0">
                <a:sym typeface="Symbol" pitchFamily="18" charset="2"/>
              </a:rPr>
              <a:t>Solution:</a:t>
            </a:r>
            <a:r>
              <a:rPr lang="en-US" sz="2400" dirty="0">
                <a:sym typeface="Symbol" pitchFamily="18" charset="2"/>
              </a:rPr>
              <a:t> No, they are not isomorphic, because they differ in the degrees of their vertices.</a:t>
            </a:r>
          </a:p>
          <a:p>
            <a:pPr algn="just">
              <a:lnSpc>
                <a:spcPct val="150000"/>
              </a:lnSpc>
              <a:spcAft>
                <a:spcPct val="20000"/>
              </a:spcAft>
              <a:defRPr/>
            </a:pPr>
            <a:r>
              <a:rPr lang="en-US" sz="2400" dirty="0">
                <a:sym typeface="Symbol" pitchFamily="18" charset="2"/>
              </a:rPr>
              <a:t>Vertex d in right graph is of degree one, but there is no such vertex in the left graph.</a:t>
            </a:r>
          </a:p>
        </p:txBody>
      </p:sp>
    </p:spTree>
    <p:extLst>
      <p:ext uri="{BB962C8B-B14F-4D97-AF65-F5344CB8AC3E}">
        <p14:creationId xmlns:p14="http://schemas.microsoft.com/office/powerpoint/2010/main" val="2840193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build="p" autoUpdateAnimBg="0"/>
      <p:bldP spid="72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EE9A921-5F25-415D-BB1A-C85C53DB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4000" y="1220706"/>
            <a:ext cx="8504904" cy="5338916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From a visual standpoint, G1 and G2 are isomorphic if they can be arranged in such a way that their displays are identical (of course without changing adjacency).</a:t>
            </a:r>
          </a:p>
          <a:p>
            <a:pPr marL="0" indent="0">
              <a:buNone/>
            </a:pPr>
            <a:r>
              <a:rPr lang="en-US" dirty="0"/>
              <a:t>Unfortunately, for two simple graphs, each with n vertices, there are n! possible isomorphisms that we have to check in order to show that these graphs are isomorphic. </a:t>
            </a:r>
          </a:p>
          <a:p>
            <a:pPr marL="0" indent="0">
              <a:buNone/>
            </a:pPr>
            <a:r>
              <a:rPr lang="en-US" dirty="0"/>
              <a:t>However, showing that two graphs are not isomorphic can be easy.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50699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EE9A921-5F25-415D-BB1A-C85C53DBB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548" y="1183384"/>
            <a:ext cx="8504904" cy="5338916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For this purpose we can check invariants, that is, properties that two isomorphic simple graphs must both have.</a:t>
            </a:r>
          </a:p>
          <a:p>
            <a:pPr marL="0" indent="0">
              <a:buNone/>
            </a:pPr>
            <a:r>
              <a:rPr lang="en-US" dirty="0"/>
              <a:t>For example, they must have</a:t>
            </a:r>
          </a:p>
          <a:p>
            <a:r>
              <a:rPr lang="en-US" dirty="0"/>
              <a:t>  the same number of vertices,</a:t>
            </a:r>
          </a:p>
          <a:p>
            <a:r>
              <a:rPr lang="en-US" dirty="0"/>
              <a:t>  the same number of edges, and</a:t>
            </a:r>
          </a:p>
          <a:p>
            <a:r>
              <a:rPr lang="en-US" dirty="0"/>
              <a:t>  the same degrees of vertices.</a:t>
            </a:r>
          </a:p>
          <a:p>
            <a:pPr marL="0" indent="0">
              <a:buNone/>
            </a:pPr>
            <a:r>
              <a:rPr lang="en-US" dirty="0"/>
              <a:t>Note that two graphs that differ in any of these invariants are not isomorphic, but two graphs that match in all of them are not necessarily isomorphic.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578400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Graph Isomorphism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EE9A921-5F25-415D-BB1A-C85C53DBB4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Determine if the following two graphs G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1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and G</a:t>
            </a:r>
            <a:r>
              <a:rPr kumimoji="0" lang="en-US" altLang="en-US" sz="2400" b="0" i="0" u="none" strike="noStrike" kern="1200" cap="none" spc="0" normalizeH="0" baseline="-25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2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 are isomorphic: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These graphs are not isomorphic.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In the first graph the vertices of degree 3 are adjacent to a common vertex.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Arial" panose="020B0604020202020204" pitchFamily="34" charset="0"/>
              </a:rPr>
              <a:t>This is not true of the second graph.</a:t>
            </a:r>
          </a:p>
        </p:txBody>
      </p:sp>
      <p:sp>
        <p:nvSpPr>
          <p:cNvPr id="6" name="Oval 12">
            <a:extLst>
              <a:ext uri="{FF2B5EF4-FFF2-40B4-BE49-F238E27FC236}">
                <a16:creationId xmlns:a16="http://schemas.microsoft.com/office/drawing/2014/main" id="{F36EE229-A8B5-4DB5-BF27-65A13186F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52042" y="4137579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8" name="Oval 12">
            <a:extLst>
              <a:ext uri="{FF2B5EF4-FFF2-40B4-BE49-F238E27FC236}">
                <a16:creationId xmlns:a16="http://schemas.microsoft.com/office/drawing/2014/main" id="{28A4C431-F006-4EA1-94DF-C476B4C6A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3860" y="4114720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5" name="Line 11">
            <a:extLst>
              <a:ext uri="{FF2B5EF4-FFF2-40B4-BE49-F238E27FC236}">
                <a16:creationId xmlns:a16="http://schemas.microsoft.com/office/drawing/2014/main" id="{D980E3BB-F50E-4AD5-8AAC-AC88DEFCDDDA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1678322" y="3632945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18" name="Oval 12">
            <a:extLst>
              <a:ext uri="{FF2B5EF4-FFF2-40B4-BE49-F238E27FC236}">
                <a16:creationId xmlns:a16="http://schemas.microsoft.com/office/drawing/2014/main" id="{22F88DE0-3DC4-4CD8-AD22-3D8ABC4902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2363" y="4111075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19" name="Oval 12">
            <a:extLst>
              <a:ext uri="{FF2B5EF4-FFF2-40B4-BE49-F238E27FC236}">
                <a16:creationId xmlns:a16="http://schemas.microsoft.com/office/drawing/2014/main" id="{6D5AACB7-5099-43E2-84C2-DBC703FF9F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438" y="408821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20" name="Line 11">
            <a:extLst>
              <a:ext uri="{FF2B5EF4-FFF2-40B4-BE49-F238E27FC236}">
                <a16:creationId xmlns:a16="http://schemas.microsoft.com/office/drawing/2014/main" id="{A479A330-ED45-4BA5-8099-650B7034FAD5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3938900" y="3606441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1" name="Oval 12">
            <a:extLst>
              <a:ext uri="{FF2B5EF4-FFF2-40B4-BE49-F238E27FC236}">
                <a16:creationId xmlns:a16="http://schemas.microsoft.com/office/drawing/2014/main" id="{68B329F6-E913-4BA6-A8D5-D114D41F30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44346" y="4121013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22" name="Oval 12">
            <a:extLst>
              <a:ext uri="{FF2B5EF4-FFF2-40B4-BE49-F238E27FC236}">
                <a16:creationId xmlns:a16="http://schemas.microsoft.com/office/drawing/2014/main" id="{907E93B6-0BEE-4E8A-A8FB-996860EA8C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19200" y="411803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23" name="Line 11">
            <a:extLst>
              <a:ext uri="{FF2B5EF4-FFF2-40B4-BE49-F238E27FC236}">
                <a16:creationId xmlns:a16="http://schemas.microsoft.com/office/drawing/2014/main" id="{CCB5DB86-A473-4112-ABC8-AC42AC1854DB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213906" y="3636257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7" name="Line 11">
            <a:extLst>
              <a:ext uri="{FF2B5EF4-FFF2-40B4-BE49-F238E27FC236}">
                <a16:creationId xmlns:a16="http://schemas.microsoft.com/office/drawing/2014/main" id="{F3FF4B8F-B919-499D-B93A-3A054F0507C2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807008" y="3636256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28" name="Line 11">
            <a:extLst>
              <a:ext uri="{FF2B5EF4-FFF2-40B4-BE49-F238E27FC236}">
                <a16:creationId xmlns:a16="http://schemas.microsoft.com/office/drawing/2014/main" id="{DC7B81C5-9D79-4A49-8E7F-2D57284A33CA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078808" y="3634107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30" name="Line 11">
            <a:extLst>
              <a:ext uri="{FF2B5EF4-FFF2-40B4-BE49-F238E27FC236}">
                <a16:creationId xmlns:a16="http://schemas.microsoft.com/office/drawing/2014/main" id="{2D95438B-044D-4EF3-A4A1-074043205A63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2946233" y="4604269"/>
            <a:ext cx="771456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31" name="Oval 12">
            <a:extLst>
              <a:ext uri="{FF2B5EF4-FFF2-40B4-BE49-F238E27FC236}">
                <a16:creationId xmlns:a16="http://schemas.microsoft.com/office/drawing/2014/main" id="{61507688-877B-4A4B-AC02-5B571C9B4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648" y="4944233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33" name="Line 11">
            <a:extLst>
              <a:ext uri="{FF2B5EF4-FFF2-40B4-BE49-F238E27FC236}">
                <a16:creationId xmlns:a16="http://schemas.microsoft.com/office/drawing/2014/main" id="{B9CA0499-67C2-48BF-8F75-CF4920864276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215664" y="4657279"/>
            <a:ext cx="771456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34" name="Oval 12">
            <a:extLst>
              <a:ext uri="{FF2B5EF4-FFF2-40B4-BE49-F238E27FC236}">
                <a16:creationId xmlns:a16="http://schemas.microsoft.com/office/drawing/2014/main" id="{3F19BE93-BA48-4446-A024-B5749C4011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9419" y="501099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39" name="Oval 12">
            <a:extLst>
              <a:ext uri="{FF2B5EF4-FFF2-40B4-BE49-F238E27FC236}">
                <a16:creationId xmlns:a16="http://schemas.microsoft.com/office/drawing/2014/main" id="{D173D385-9D2B-40BD-9D82-C619EB8F03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4442" y="5691395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0" name="Oval 12">
            <a:extLst>
              <a:ext uri="{FF2B5EF4-FFF2-40B4-BE49-F238E27FC236}">
                <a16:creationId xmlns:a16="http://schemas.microsoft.com/office/drawing/2014/main" id="{50749405-1CA3-434E-BD3A-91443A6180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6377" y="5668536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1" name="Line 11">
            <a:extLst>
              <a:ext uri="{FF2B5EF4-FFF2-40B4-BE49-F238E27FC236}">
                <a16:creationId xmlns:a16="http://schemas.microsoft.com/office/drawing/2014/main" id="{139FF11A-2349-4DA9-B248-0E7EFABA1E17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1787582" y="5127125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2" name="Oval 12">
            <a:extLst>
              <a:ext uri="{FF2B5EF4-FFF2-40B4-BE49-F238E27FC236}">
                <a16:creationId xmlns:a16="http://schemas.microsoft.com/office/drawing/2014/main" id="{A05AA1D8-6864-4420-B61C-E00FF869A1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3692" y="5664891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3" name="Oval 12">
            <a:extLst>
              <a:ext uri="{FF2B5EF4-FFF2-40B4-BE49-F238E27FC236}">
                <a16:creationId xmlns:a16="http://schemas.microsoft.com/office/drawing/2014/main" id="{B66BC24D-D62A-4088-94D9-7B0A808F2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5627" y="5642032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4" name="Line 11">
            <a:extLst>
              <a:ext uri="{FF2B5EF4-FFF2-40B4-BE49-F238E27FC236}">
                <a16:creationId xmlns:a16="http://schemas.microsoft.com/office/drawing/2014/main" id="{8DB7180F-503B-422F-AFCE-FDED55F1C63A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4086832" y="5100621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5" name="Oval 12">
            <a:extLst>
              <a:ext uri="{FF2B5EF4-FFF2-40B4-BE49-F238E27FC236}">
                <a16:creationId xmlns:a16="http://schemas.microsoft.com/office/drawing/2014/main" id="{9CB5207D-AEC3-4882-A5E9-972238231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9991" y="5674829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6" name="Oval 12">
            <a:extLst>
              <a:ext uri="{FF2B5EF4-FFF2-40B4-BE49-F238E27FC236}">
                <a16:creationId xmlns:a16="http://schemas.microsoft.com/office/drawing/2014/main" id="{BEF85025-0B21-4C8C-A27B-CC2FFE5FAD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1804" y="5671848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47" name="Line 11">
            <a:extLst>
              <a:ext uri="{FF2B5EF4-FFF2-40B4-BE49-F238E27FC236}">
                <a16:creationId xmlns:a16="http://schemas.microsoft.com/office/drawing/2014/main" id="{BAE2C3D9-E844-4CA2-8B14-8EEE69A32DF4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6343009" y="5130437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8" name="Line 11">
            <a:extLst>
              <a:ext uri="{FF2B5EF4-FFF2-40B4-BE49-F238E27FC236}">
                <a16:creationId xmlns:a16="http://schemas.microsoft.com/office/drawing/2014/main" id="{1F5CA14B-93B2-425F-9EF6-F4714971A646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2970222" y="5130436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49" name="Line 11">
            <a:extLst>
              <a:ext uri="{FF2B5EF4-FFF2-40B4-BE49-F238E27FC236}">
                <a16:creationId xmlns:a16="http://schemas.microsoft.com/office/drawing/2014/main" id="{250C02A3-464F-4CD2-BA3D-A84B32E0579B}"/>
              </a:ext>
            </a:extLst>
          </p:cNvPr>
          <p:cNvSpPr>
            <a:spLocks noChangeShapeType="1"/>
          </p:cNvSpPr>
          <p:nvPr/>
        </p:nvSpPr>
        <p:spPr bwMode="auto">
          <a:xfrm rot="16200000" flipV="1">
            <a:off x="5201644" y="5128287"/>
            <a:ext cx="19878" cy="1222129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0" name="Line 11">
            <a:extLst>
              <a:ext uri="{FF2B5EF4-FFF2-40B4-BE49-F238E27FC236}">
                <a16:creationId xmlns:a16="http://schemas.microsoft.com/office/drawing/2014/main" id="{F81C25BB-26DC-4EC2-87B9-FCB0F36CC8FA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1985011" y="6093158"/>
            <a:ext cx="771456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1" name="Oval 12">
            <a:extLst>
              <a:ext uri="{FF2B5EF4-FFF2-40B4-BE49-F238E27FC236}">
                <a16:creationId xmlns:a16="http://schemas.microsoft.com/office/drawing/2014/main" id="{812F7E06-4832-4C60-90F6-68BA856970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1478" y="6397030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52" name="Line 11">
            <a:extLst>
              <a:ext uri="{FF2B5EF4-FFF2-40B4-BE49-F238E27FC236}">
                <a16:creationId xmlns:a16="http://schemas.microsoft.com/office/drawing/2014/main" id="{3AAC1354-96B3-4FAC-8A32-C083E8821BF6}"/>
              </a:ext>
            </a:extLst>
          </p:cNvPr>
          <p:cNvSpPr>
            <a:spLocks noChangeShapeType="1"/>
          </p:cNvSpPr>
          <p:nvPr/>
        </p:nvSpPr>
        <p:spPr bwMode="auto">
          <a:xfrm rot="16200000" flipH="1">
            <a:off x="5368064" y="6211095"/>
            <a:ext cx="771456" cy="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sz="2800"/>
          </a:p>
        </p:txBody>
      </p:sp>
      <p:sp>
        <p:nvSpPr>
          <p:cNvPr id="53" name="Oval 12">
            <a:extLst>
              <a:ext uri="{FF2B5EF4-FFF2-40B4-BE49-F238E27FC236}">
                <a16:creationId xmlns:a16="http://schemas.microsoft.com/office/drawing/2014/main" id="{9F315F1B-3C86-421F-9FF1-303B24EF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44479" y="6501364"/>
            <a:ext cx="228600" cy="22860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sz="280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A8D16601-CC1E-4177-9BEB-76EF941CD233}"/>
              </a:ext>
            </a:extLst>
          </p:cNvPr>
          <p:cNvSpPr txBox="1"/>
          <p:nvPr/>
        </p:nvSpPr>
        <p:spPr>
          <a:xfrm>
            <a:off x="925177" y="3665896"/>
            <a:ext cx="4074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1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6C81F49A-F5DF-4716-8D08-1A35DC14D9BD}"/>
              </a:ext>
            </a:extLst>
          </p:cNvPr>
          <p:cNvSpPr txBox="1"/>
          <p:nvPr/>
        </p:nvSpPr>
        <p:spPr>
          <a:xfrm>
            <a:off x="2016995" y="3631095"/>
            <a:ext cx="444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2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4D5E2E5-8F05-46B7-815C-3497CFEA7789}"/>
              </a:ext>
            </a:extLst>
          </p:cNvPr>
          <p:cNvSpPr txBox="1"/>
          <p:nvPr/>
        </p:nvSpPr>
        <p:spPr>
          <a:xfrm>
            <a:off x="3145681" y="3617266"/>
            <a:ext cx="4475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3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F2D0F78-8DD1-449D-8F38-D0250C201476}"/>
              </a:ext>
            </a:extLst>
          </p:cNvPr>
          <p:cNvSpPr txBox="1"/>
          <p:nvPr/>
        </p:nvSpPr>
        <p:spPr>
          <a:xfrm>
            <a:off x="4277573" y="3668108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C99ADD2B-755E-4B23-8AEA-06557E5E9D41}"/>
              </a:ext>
            </a:extLst>
          </p:cNvPr>
          <p:cNvSpPr txBox="1"/>
          <p:nvPr/>
        </p:nvSpPr>
        <p:spPr>
          <a:xfrm>
            <a:off x="5417481" y="3672491"/>
            <a:ext cx="4507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5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6F16586-7C7E-47FD-8686-0E8B28943C19}"/>
              </a:ext>
            </a:extLst>
          </p:cNvPr>
          <p:cNvSpPr txBox="1"/>
          <p:nvPr/>
        </p:nvSpPr>
        <p:spPr>
          <a:xfrm>
            <a:off x="6552575" y="3649410"/>
            <a:ext cx="4443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6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D1CB31C-054F-46B4-8675-10C2FCDE9E59}"/>
              </a:ext>
            </a:extLst>
          </p:cNvPr>
          <p:cNvSpPr txBox="1"/>
          <p:nvPr/>
        </p:nvSpPr>
        <p:spPr>
          <a:xfrm>
            <a:off x="2851029" y="4681328"/>
            <a:ext cx="4411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7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A2487EB-A806-43BB-BB4C-2658174BEA00}"/>
              </a:ext>
            </a:extLst>
          </p:cNvPr>
          <p:cNvSpPr txBox="1"/>
          <p:nvPr/>
        </p:nvSpPr>
        <p:spPr>
          <a:xfrm>
            <a:off x="5095602" y="4681328"/>
            <a:ext cx="4539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v</a:t>
            </a:r>
            <a:r>
              <a:rPr lang="en-IN" sz="2400" baseline="-25000" dirty="0"/>
              <a:t>8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0BEE0F0C-48F4-489C-9279-461E67FEEBA9}"/>
              </a:ext>
            </a:extLst>
          </p:cNvPr>
          <p:cNvSpPr txBox="1"/>
          <p:nvPr/>
        </p:nvSpPr>
        <p:spPr>
          <a:xfrm>
            <a:off x="938430" y="5239592"/>
            <a:ext cx="4555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35F783FF-9E1F-453C-AAD3-1B1B1342D5DA}"/>
              </a:ext>
            </a:extLst>
          </p:cNvPr>
          <p:cNvSpPr txBox="1"/>
          <p:nvPr/>
        </p:nvSpPr>
        <p:spPr>
          <a:xfrm>
            <a:off x="2030248" y="5204791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2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3066C31F-2741-47FE-BD25-4841DC1D7AD6}"/>
              </a:ext>
            </a:extLst>
          </p:cNvPr>
          <p:cNvSpPr txBox="1"/>
          <p:nvPr/>
        </p:nvSpPr>
        <p:spPr>
          <a:xfrm>
            <a:off x="3158934" y="5190962"/>
            <a:ext cx="4956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3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7094C4F-BBDE-4396-8BB1-E68A183E0B79}"/>
              </a:ext>
            </a:extLst>
          </p:cNvPr>
          <p:cNvSpPr txBox="1"/>
          <p:nvPr/>
        </p:nvSpPr>
        <p:spPr>
          <a:xfrm>
            <a:off x="4290826" y="5241804"/>
            <a:ext cx="5036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4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04803444-6795-4AB6-BE9A-6F15A01B5DC1}"/>
              </a:ext>
            </a:extLst>
          </p:cNvPr>
          <p:cNvSpPr txBox="1"/>
          <p:nvPr/>
        </p:nvSpPr>
        <p:spPr>
          <a:xfrm>
            <a:off x="6565828" y="5223106"/>
            <a:ext cx="4924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6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3E989AA-EE2F-4196-952C-E5B8A8AD77D0}"/>
              </a:ext>
            </a:extLst>
          </p:cNvPr>
          <p:cNvSpPr txBox="1"/>
          <p:nvPr/>
        </p:nvSpPr>
        <p:spPr>
          <a:xfrm>
            <a:off x="5542427" y="5246501"/>
            <a:ext cx="4988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5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AF68BDB-DB07-4F03-9131-28CFFD22E306}"/>
              </a:ext>
            </a:extLst>
          </p:cNvPr>
          <p:cNvSpPr txBox="1"/>
          <p:nvPr/>
        </p:nvSpPr>
        <p:spPr>
          <a:xfrm>
            <a:off x="5066867" y="6172294"/>
            <a:ext cx="5020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8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CA12D69-8314-49B8-8FF0-2205125A8E4F}"/>
              </a:ext>
            </a:extLst>
          </p:cNvPr>
          <p:cNvSpPr txBox="1"/>
          <p:nvPr/>
        </p:nvSpPr>
        <p:spPr>
          <a:xfrm>
            <a:off x="1780332" y="6235243"/>
            <a:ext cx="4892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U</a:t>
            </a:r>
            <a:r>
              <a:rPr lang="en-IN" sz="2400" baseline="-25000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5168543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6EA81-D2C3-4AB2-AE33-C4143BF3B2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Adjacency Matrix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F9A2AEC-A904-4C80-9F3D-2E96073D80F2}"/>
              </a:ext>
            </a:extLst>
          </p:cNvPr>
          <p:cNvSpPr/>
          <p:nvPr/>
        </p:nvSpPr>
        <p:spPr>
          <a:xfrm>
            <a:off x="629754" y="124688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6438E1E9-94CA-4AC9-A4C7-A6594F999616}"/>
              </a:ext>
            </a:extLst>
          </p:cNvPr>
          <p:cNvSpPr/>
          <p:nvPr/>
        </p:nvSpPr>
        <p:spPr>
          <a:xfrm>
            <a:off x="629754" y="234543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rgbClr val="FF0000"/>
                </a:solidFill>
              </a:rPr>
              <a:t>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8B17A7-2273-459F-A0C1-EEC8B4EC5FBE}"/>
              </a:ext>
            </a:extLst>
          </p:cNvPr>
          <p:cNvSpPr/>
          <p:nvPr/>
        </p:nvSpPr>
        <p:spPr>
          <a:xfrm>
            <a:off x="1950554" y="120401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srgbClr val="244A58">
                    <a:lumMod val="75000"/>
                  </a:srgbClr>
                </a:solidFill>
              </a:rPr>
              <a:t>Y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7714CB2-DADC-46A0-9414-F5C0FD02D3AA}"/>
              </a:ext>
            </a:extLst>
          </p:cNvPr>
          <p:cNvSpPr/>
          <p:nvPr/>
        </p:nvSpPr>
        <p:spPr>
          <a:xfrm>
            <a:off x="1950554" y="2345430"/>
            <a:ext cx="431800" cy="43180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Z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FCCDF5-0FB8-474D-9D87-8DEDDD6D9DE5}"/>
              </a:ext>
            </a:extLst>
          </p:cNvPr>
          <p:cNvSpPr/>
          <p:nvPr/>
        </p:nvSpPr>
        <p:spPr>
          <a:xfrm>
            <a:off x="6674332" y="123694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C7DD09F-4316-4A49-9540-7AD61196E82B}"/>
              </a:ext>
            </a:extLst>
          </p:cNvPr>
          <p:cNvSpPr/>
          <p:nvPr/>
        </p:nvSpPr>
        <p:spPr>
          <a:xfrm>
            <a:off x="5348769" y="1254402"/>
            <a:ext cx="431800" cy="433388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>
                    <a:lumMod val="75000"/>
                    <a:lumOff val="25000"/>
                  </a:prstClr>
                </a:solidFill>
              </a:rPr>
              <a:t>A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2AF14FF-1284-429B-92DD-FFD2DE6367D1}"/>
              </a:ext>
            </a:extLst>
          </p:cNvPr>
          <p:cNvSpPr/>
          <p:nvPr/>
        </p:nvSpPr>
        <p:spPr>
          <a:xfrm>
            <a:off x="5342419" y="2335490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26B3CAC-AD93-4C66-8E38-7D11E512FFCE}"/>
              </a:ext>
            </a:extLst>
          </p:cNvPr>
          <p:cNvSpPr/>
          <p:nvPr/>
        </p:nvSpPr>
        <p:spPr>
          <a:xfrm>
            <a:off x="6674332" y="238152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BCE67B5-79D9-4368-9632-C2B3605779A8}"/>
              </a:ext>
            </a:extLst>
          </p:cNvPr>
          <p:cNvSpPr/>
          <p:nvPr/>
        </p:nvSpPr>
        <p:spPr>
          <a:xfrm>
            <a:off x="5348769" y="617233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A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2E8FF5-2347-445E-A582-BB077E11ABDD}"/>
              </a:ext>
            </a:extLst>
          </p:cNvPr>
          <p:cNvSpPr/>
          <p:nvPr/>
        </p:nvSpPr>
        <p:spPr>
          <a:xfrm>
            <a:off x="6731482" y="6172337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6CECE78-48F7-4A4E-8A0F-27D4F2DD3191}"/>
              </a:ext>
            </a:extLst>
          </p:cNvPr>
          <p:cNvSpPr/>
          <p:nvPr/>
        </p:nvSpPr>
        <p:spPr>
          <a:xfrm>
            <a:off x="6731482" y="516427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FE7D437-CE61-4425-9F58-57EAAC80AE5E}"/>
              </a:ext>
            </a:extLst>
          </p:cNvPr>
          <p:cNvSpPr/>
          <p:nvPr/>
        </p:nvSpPr>
        <p:spPr>
          <a:xfrm>
            <a:off x="5342419" y="5164275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D7DFA87-86A0-4397-8423-3AC2B5E13312}"/>
              </a:ext>
            </a:extLst>
          </p:cNvPr>
          <p:cNvSpPr/>
          <p:nvPr/>
        </p:nvSpPr>
        <p:spPr>
          <a:xfrm>
            <a:off x="6731482" y="4362242"/>
            <a:ext cx="431800" cy="4333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10F6758-4CF3-4C62-8FEE-809E317DBC02}"/>
              </a:ext>
            </a:extLst>
          </p:cNvPr>
          <p:cNvSpPr/>
          <p:nvPr/>
        </p:nvSpPr>
        <p:spPr>
          <a:xfrm>
            <a:off x="5348769" y="4362242"/>
            <a:ext cx="431800" cy="43338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0A3B78D-8726-467B-8B37-C624BC1FB928}"/>
              </a:ext>
            </a:extLst>
          </p:cNvPr>
          <p:cNvSpPr/>
          <p:nvPr/>
        </p:nvSpPr>
        <p:spPr>
          <a:xfrm>
            <a:off x="6728308" y="3368466"/>
            <a:ext cx="433387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D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D689E57-415C-4FCD-B785-93CB8D895D74}"/>
              </a:ext>
            </a:extLst>
          </p:cNvPr>
          <p:cNvSpPr/>
          <p:nvPr/>
        </p:nvSpPr>
        <p:spPr>
          <a:xfrm>
            <a:off x="5348769" y="3368466"/>
            <a:ext cx="431800" cy="4318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IN" dirty="0">
                <a:solidFill>
                  <a:prstClr val="black"/>
                </a:solidFill>
              </a:rPr>
              <a:t>A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34D9A20-90C6-489D-8AD1-DA9FDA3586CE}"/>
              </a:ext>
            </a:extLst>
          </p:cNvPr>
          <p:cNvCxnSpPr>
            <a:cxnSpLocks noChangeShapeType="1"/>
            <a:endCxn id="5" idx="0"/>
          </p:cNvCxnSpPr>
          <p:nvPr/>
        </p:nvCxnSpPr>
        <p:spPr bwMode="auto">
          <a:xfrm>
            <a:off x="845654" y="1697730"/>
            <a:ext cx="0" cy="64770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733820-7E9A-4EEA-988D-1C782E98C32D}"/>
              </a:ext>
            </a:extLst>
          </p:cNvPr>
          <p:cNvCxnSpPr>
            <a:cxnSpLocks noChangeShapeType="1"/>
            <a:stCxn id="6" idx="4"/>
          </p:cNvCxnSpPr>
          <p:nvPr/>
        </p:nvCxnSpPr>
        <p:spPr bwMode="auto">
          <a:xfrm>
            <a:off x="2166454" y="1635818"/>
            <a:ext cx="0" cy="709613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EFB0B21-1746-4CB7-B695-59DDB0AE9307}"/>
              </a:ext>
            </a:extLst>
          </p:cNvPr>
          <p:cNvCxnSpPr>
            <a:cxnSpLocks noChangeShapeType="1"/>
            <a:endCxn id="6" idx="2"/>
          </p:cNvCxnSpPr>
          <p:nvPr/>
        </p:nvCxnSpPr>
        <p:spPr bwMode="auto">
          <a:xfrm>
            <a:off x="1061554" y="1419917"/>
            <a:ext cx="889000" cy="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C3364DD-15FB-4802-A888-5E22B1E67A9B}"/>
              </a:ext>
            </a:extLst>
          </p:cNvPr>
          <p:cNvCxnSpPr>
            <a:cxnSpLocks noChangeShapeType="1"/>
            <a:stCxn id="15" idx="6"/>
            <a:endCxn id="14" idx="2"/>
          </p:cNvCxnSpPr>
          <p:nvPr/>
        </p:nvCxnSpPr>
        <p:spPr bwMode="auto">
          <a:xfrm>
            <a:off x="5774220" y="5380175"/>
            <a:ext cx="957263" cy="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12DCA9-D999-40CD-9B41-1B155C692171}"/>
              </a:ext>
            </a:extLst>
          </p:cNvPr>
          <p:cNvCxnSpPr>
            <a:cxnSpLocks noChangeShapeType="1"/>
            <a:endCxn id="16" idx="2"/>
          </p:cNvCxnSpPr>
          <p:nvPr/>
        </p:nvCxnSpPr>
        <p:spPr bwMode="auto">
          <a:xfrm>
            <a:off x="5774220" y="4578141"/>
            <a:ext cx="957263" cy="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E56BFAA-4B7E-47F0-AF47-64D698CD838C}"/>
              </a:ext>
            </a:extLst>
          </p:cNvPr>
          <p:cNvCxnSpPr>
            <a:cxnSpLocks noChangeShapeType="1"/>
            <a:stCxn id="10" idx="7"/>
            <a:endCxn id="8" idx="3"/>
          </p:cNvCxnSpPr>
          <p:nvPr/>
        </p:nvCxnSpPr>
        <p:spPr bwMode="auto">
          <a:xfrm flipV="1">
            <a:off x="5710720" y="1605240"/>
            <a:ext cx="1027113" cy="793750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F581E90D-28FC-4DB2-BBB3-3F190BA7C4E5}"/>
              </a:ext>
            </a:extLst>
          </p:cNvPr>
          <p:cNvCxnSpPr>
            <a:cxnSpLocks noChangeShapeType="1"/>
            <a:stCxn id="19" idx="4"/>
          </p:cNvCxnSpPr>
          <p:nvPr/>
        </p:nvCxnSpPr>
        <p:spPr bwMode="auto">
          <a:xfrm flipH="1">
            <a:off x="5550383" y="3800267"/>
            <a:ext cx="14287" cy="561975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F6F2AA2-297F-4326-944E-1EDF8B1986FD}"/>
              </a:ext>
            </a:extLst>
          </p:cNvPr>
          <p:cNvCxnSpPr>
            <a:cxnSpLocks noChangeShapeType="1"/>
            <a:endCxn id="11" idx="0"/>
          </p:cNvCxnSpPr>
          <p:nvPr/>
        </p:nvCxnSpPr>
        <p:spPr bwMode="auto">
          <a:xfrm>
            <a:off x="6879120" y="1671915"/>
            <a:ext cx="11113" cy="709612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8EADA7E3-FE72-4637-B048-A1869C9BEFDC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4669" y="1656041"/>
            <a:ext cx="0" cy="649287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8C37D12-0F0F-40CC-9759-4DDF58F1C697}"/>
              </a:ext>
            </a:extLst>
          </p:cNvPr>
          <p:cNvCxnSpPr>
            <a:cxnSpLocks noChangeShapeType="1"/>
            <a:stCxn id="14" idx="4"/>
          </p:cNvCxnSpPr>
          <p:nvPr/>
        </p:nvCxnSpPr>
        <p:spPr bwMode="auto">
          <a:xfrm flipH="1">
            <a:off x="6945794" y="5596075"/>
            <a:ext cx="1588" cy="576262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AC6DB4D-BC5B-414B-89DE-F89D94B948E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64669" y="5596076"/>
            <a:ext cx="0" cy="649287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B5D4122-36A1-46F1-AE29-9506DE5EF388}"/>
              </a:ext>
            </a:extLst>
          </p:cNvPr>
          <p:cNvCxnSpPr>
            <a:cxnSpLocks noChangeShapeType="1"/>
            <a:stCxn id="18" idx="4"/>
          </p:cNvCxnSpPr>
          <p:nvPr/>
        </p:nvCxnSpPr>
        <p:spPr bwMode="auto">
          <a:xfrm flipH="1">
            <a:off x="6941032" y="3800266"/>
            <a:ext cx="4762" cy="576262"/>
          </a:xfrm>
          <a:prstGeom prst="line">
            <a:avLst/>
          </a:prstGeom>
          <a:noFill/>
          <a:ln w="31750" cmpd="dbl">
            <a:solidFill>
              <a:schemeClr val="tx1"/>
            </a:solidFill>
            <a:round/>
            <a:headEnd/>
            <a:tailEnd/>
          </a:ln>
          <a:effectLst>
            <a:outerShdw dist="25400" dir="5400000" sx="100999" sy="100999" rotWithShape="0">
              <a:srgbClr val="808080">
                <a:alpha val="39999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2" name="Curved Left Arrow 118">
            <a:extLst>
              <a:ext uri="{FF2B5EF4-FFF2-40B4-BE49-F238E27FC236}">
                <a16:creationId xmlns:a16="http://schemas.microsoft.com/office/drawing/2014/main" id="{306748E4-BE5D-4726-8099-06ABC2CDA403}"/>
              </a:ext>
            </a:extLst>
          </p:cNvPr>
          <p:cNvSpPr/>
          <p:nvPr/>
        </p:nvSpPr>
        <p:spPr>
          <a:xfrm>
            <a:off x="7445858" y="2544418"/>
            <a:ext cx="865187" cy="1320593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33" name="Curved Left Arrow 119">
            <a:extLst>
              <a:ext uri="{FF2B5EF4-FFF2-40B4-BE49-F238E27FC236}">
                <a16:creationId xmlns:a16="http://schemas.microsoft.com/office/drawing/2014/main" id="{07BC58CF-1A87-4A5A-B730-3657F341EF49}"/>
              </a:ext>
            </a:extLst>
          </p:cNvPr>
          <p:cNvSpPr/>
          <p:nvPr/>
        </p:nvSpPr>
        <p:spPr>
          <a:xfrm>
            <a:off x="7598258" y="4303644"/>
            <a:ext cx="865187" cy="1546915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IN">
              <a:solidFill>
                <a:prstClr val="black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C4D287F-100D-42E1-AD02-98B36E27B1F5}"/>
              </a:ext>
            </a:extLst>
          </p:cNvPr>
          <p:cNvSpPr txBox="1"/>
          <p:nvPr/>
        </p:nvSpPr>
        <p:spPr>
          <a:xfrm>
            <a:off x="2759074" y="1780629"/>
            <a:ext cx="2212975" cy="40011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IN" sz="2000" dirty="0">
                <a:solidFill>
                  <a:prstClr val="black"/>
                </a:solidFill>
              </a:rPr>
              <a:t>  is isomorphic to</a:t>
            </a:r>
          </a:p>
        </p:txBody>
      </p:sp>
    </p:spTree>
    <p:extLst>
      <p:ext uri="{BB962C8B-B14F-4D97-AF65-F5344CB8AC3E}">
        <p14:creationId xmlns:p14="http://schemas.microsoft.com/office/powerpoint/2010/main" val="40586579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81241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yFont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9287</TotalTime>
  <Words>1048</Words>
  <Application>Microsoft Office PowerPoint</Application>
  <PresentationFormat>On-screen Show (4:3)</PresentationFormat>
  <Paragraphs>237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arial</vt:lpstr>
      <vt:lpstr>Bahnschrift</vt:lpstr>
      <vt:lpstr>Bahnschrift SemiBold</vt:lpstr>
      <vt:lpstr>Calibri</vt:lpstr>
      <vt:lpstr>Courier New</vt:lpstr>
      <vt:lpstr>Monotype Sorts</vt:lpstr>
      <vt:lpstr>Office Theme</vt:lpstr>
      <vt:lpstr>EMTH403</vt:lpstr>
      <vt:lpstr>Lecture Outcomes</vt:lpstr>
      <vt:lpstr>Adjacency Matrix</vt:lpstr>
      <vt:lpstr>Finding the adjacency matrix</vt:lpstr>
      <vt:lpstr>Finding the adjacency matrix</vt:lpstr>
      <vt:lpstr>Finding the adjacency matrix</vt:lpstr>
      <vt:lpstr>Finding the adjacency matrix</vt:lpstr>
      <vt:lpstr>Finding the adjacency matrix</vt:lpstr>
      <vt:lpstr>Finding the adjacency matrix</vt:lpstr>
      <vt:lpstr>Graph Isomorphism</vt:lpstr>
      <vt:lpstr>Finding the adjacency matrix</vt:lpstr>
      <vt:lpstr>Graph Isomorphism</vt:lpstr>
      <vt:lpstr>Graph Isomorphism</vt:lpstr>
      <vt:lpstr>Graph Isomorphism</vt:lpstr>
      <vt:lpstr>Graph Isomorphism</vt:lpstr>
      <vt:lpstr>Graph Isomorphism</vt:lpstr>
      <vt:lpstr>Graph Isomorphism</vt:lpstr>
      <vt:lpstr>Adjacency Matrix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Nitin Mishra</dc:creator>
  <cp:lastModifiedBy>video recording 1</cp:lastModifiedBy>
  <cp:revision>1368</cp:revision>
  <dcterms:created xsi:type="dcterms:W3CDTF">2020-12-04T05:20:56Z</dcterms:created>
  <dcterms:modified xsi:type="dcterms:W3CDTF">2021-01-13T04:56:08Z</dcterms:modified>
</cp:coreProperties>
</file>