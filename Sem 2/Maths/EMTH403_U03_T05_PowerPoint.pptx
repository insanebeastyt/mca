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60" r:id="rId4"/>
    <p:sldId id="261" r:id="rId5"/>
    <p:sldId id="262" r:id="rId6"/>
    <p:sldId id="263" r:id="rId7"/>
    <p:sldId id="268" r:id="rId8"/>
    <p:sldId id="269" r:id="rId9"/>
    <p:sldId id="270" r:id="rId10"/>
    <p:sldId id="271" r:id="rId11"/>
    <p:sldId id="273" r:id="rId12"/>
    <p:sldId id="272" r:id="rId13"/>
    <p:sldId id="275" r:id="rId14"/>
    <p:sldId id="276" r:id="rId15"/>
    <p:sldId id="277" r:id="rId16"/>
    <p:sldId id="278" r:id="rId17"/>
    <p:sldId id="279" r:id="rId18"/>
    <p:sldId id="280" r:id="rId19"/>
    <p:sldId id="286" r:id="rId20"/>
    <p:sldId id="287" r:id="rId21"/>
    <p:sldId id="25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260"/>
            <p14:sldId id="261"/>
            <p14:sldId id="262"/>
            <p14:sldId id="263"/>
            <p14:sldId id="268"/>
            <p14:sldId id="269"/>
            <p14:sldId id="270"/>
            <p14:sldId id="271"/>
            <p14:sldId id="273"/>
            <p14:sldId id="272"/>
            <p14:sldId id="275"/>
            <p14:sldId id="276"/>
            <p14:sldId id="277"/>
            <p14:sldId id="278"/>
            <p14:sldId id="279"/>
            <p14:sldId id="280"/>
            <p14:sldId id="286"/>
            <p14:sldId id="287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FCFCFC"/>
    <a:srgbClr val="FAFAFA"/>
    <a:srgbClr val="F9F9F9"/>
    <a:srgbClr val="F5F6F6"/>
    <a:srgbClr val="E7FDFF"/>
    <a:srgbClr val="00A2B8"/>
    <a:srgbClr val="EBFDFF"/>
    <a:srgbClr val="4BEAFF"/>
    <a:srgbClr val="00B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24" autoAdjust="0"/>
    <p:restoredTop sz="88312" autoAdjust="0"/>
  </p:normalViewPr>
  <p:slideViewPr>
    <p:cSldViewPr snapToGrid="0">
      <p:cViewPr varScale="1">
        <p:scale>
          <a:sx n="60" d="100"/>
          <a:sy n="60" d="100"/>
        </p:scale>
        <p:origin x="17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21-12-2020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21-12-2020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21-12-2020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21-12-2020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21-12-2020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21-12-2020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21-12-2020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21-12-2020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21-12-2020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21-12-2020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21-12-2020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21-12-2020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1" y="2883189"/>
            <a:ext cx="7169786" cy="2956138"/>
          </a:xfrm>
        </p:spPr>
        <p:txBody>
          <a:bodyPr>
            <a:normAutofit/>
          </a:bodyPr>
          <a:lstStyle/>
          <a:p>
            <a:r>
              <a:rPr lang="en-US" dirty="0"/>
              <a:t>understand how to </a:t>
            </a:r>
            <a:r>
              <a:rPr lang="en-IN" dirty="0"/>
              <a:t>represent relations using digraphs</a:t>
            </a:r>
          </a:p>
          <a:p>
            <a:r>
              <a:rPr lang="en-US" dirty="0"/>
              <a:t>understand what is a Hasse Diagraph/Diagram.</a:t>
            </a:r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>
            <a:extLst>
              <a:ext uri="{FF2B5EF4-FFF2-40B4-BE49-F238E27FC236}">
                <a16:creationId xmlns:a16="http://schemas.microsoft.com/office/drawing/2014/main" id="{198D91A1-8B1D-4CCC-B10E-0AC72228A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8" y="3288056"/>
            <a:ext cx="995363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Task 1</a:t>
            </a:r>
            <a:br>
              <a:rPr lang="en-US" altLang="en-US"/>
            </a:br>
            <a:r>
              <a:rPr lang="en-US" altLang="en-US"/>
              <a:t>7 hours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C14752BD-C265-413B-A7C5-4D6C071C3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290" y="2789581"/>
            <a:ext cx="995362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Task 2</a:t>
            </a:r>
            <a:br>
              <a:rPr lang="en-US" altLang="en-US" dirty="0"/>
            </a:br>
            <a:r>
              <a:rPr lang="en-US" altLang="en-US" dirty="0"/>
              <a:t>6 hours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87A4BB66-1904-4F9F-BBA9-1D4E16F50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290" y="4223094"/>
            <a:ext cx="995362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Task 3</a:t>
            </a:r>
            <a:br>
              <a:rPr lang="en-US" altLang="en-US" dirty="0"/>
            </a:br>
            <a:r>
              <a:rPr lang="en-US" altLang="en-US" dirty="0"/>
              <a:t>3 hours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2FEF11D1-6FA9-4244-A7F0-A0938E439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8" y="2291106"/>
            <a:ext cx="995363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Task 4</a:t>
            </a:r>
            <a:br>
              <a:rPr lang="en-US" altLang="en-US"/>
            </a:br>
            <a:r>
              <a:rPr lang="en-US" altLang="en-US"/>
              <a:t>6 hours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8B9864A5-7BD7-48F1-80FA-67DCAAB24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8" y="3440456"/>
            <a:ext cx="995363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Task 5</a:t>
            </a:r>
            <a:br>
              <a:rPr lang="en-US" altLang="en-US"/>
            </a:br>
            <a:r>
              <a:rPr lang="en-US" altLang="en-US"/>
              <a:t>3 hours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D795FD11-45D0-424D-9E94-3C939672D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8" y="4873969"/>
            <a:ext cx="995363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Task 7</a:t>
            </a:r>
            <a:br>
              <a:rPr lang="en-US" altLang="en-US"/>
            </a:br>
            <a:r>
              <a:rPr lang="en-US" altLang="en-US"/>
              <a:t>1 hour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34361072-8597-4C4C-A393-7C191CA1B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3" y="2637181"/>
            <a:ext cx="995363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Task 6</a:t>
            </a:r>
            <a:br>
              <a:rPr lang="en-US" altLang="en-US"/>
            </a:br>
            <a:r>
              <a:rPr lang="en-US" altLang="en-US"/>
              <a:t>1 hour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A14F360C-B825-4565-8EAD-864322829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3" y="4375494"/>
            <a:ext cx="995363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Task 8</a:t>
            </a:r>
            <a:br>
              <a:rPr lang="en-US" altLang="en-US"/>
            </a:br>
            <a:r>
              <a:rPr lang="en-US" altLang="en-US"/>
              <a:t>2 hour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365FC6B5-2C64-483F-B124-CB2823B38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9528" y="4272306"/>
            <a:ext cx="995363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Task 9</a:t>
            </a:r>
            <a:br>
              <a:rPr lang="en-US" altLang="en-US"/>
            </a:br>
            <a:r>
              <a:rPr lang="en-US" altLang="en-US"/>
              <a:t>5 hour</a:t>
            </a:r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F389A76D-8693-40A6-BAD8-48581948AE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87490" y="3115019"/>
            <a:ext cx="558800" cy="498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8A64CF88-C275-4A68-B14B-105EA24F9B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7490" y="3754781"/>
            <a:ext cx="558800" cy="842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5729A9E4-8CBA-49CB-8A06-A1B5A53C4C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1653" y="2637180"/>
            <a:ext cx="803275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FFDC7599-3004-40C4-9CDE-EE53997395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1653" y="3115018"/>
            <a:ext cx="803275" cy="639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2662F8F5-93DD-4C78-9F86-6F87375E9F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1653" y="3288056"/>
            <a:ext cx="803275" cy="1738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456AEB2F-F9B8-4174-9D81-B9FF024A1E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1653" y="3938931"/>
            <a:ext cx="803275" cy="658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7CB9B2D2-12D9-4DB6-9B35-A3B70FFB0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1653" y="4873969"/>
            <a:ext cx="803275" cy="434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FD8E1165-E8AC-4630-804F-BB67A32700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0290" y="2494306"/>
            <a:ext cx="842962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0124A346-A75A-4EED-B53A-B0C191D33D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0290" y="2789581"/>
            <a:ext cx="842962" cy="1808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D1E1821C-1AD5-4F3F-8D95-0FD7B98B55E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0290" y="3754780"/>
            <a:ext cx="842962" cy="1119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3FFEADCD-5896-4AC6-B100-6B2EB1CCFC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8615" y="2789581"/>
            <a:ext cx="950912" cy="1808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434B705E-045E-48BC-86F1-C73D70490F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8615" y="4597744"/>
            <a:ext cx="950912" cy="122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7E8C002A-E6B0-4070-9017-D0371BA38D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0291" y="4873969"/>
            <a:ext cx="2789237" cy="650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420A01-4BBF-481D-A824-72B0F3985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– Job Scheduling</a:t>
            </a:r>
          </a:p>
        </p:txBody>
      </p:sp>
    </p:spTree>
    <p:extLst>
      <p:ext uri="{BB962C8B-B14F-4D97-AF65-F5344CB8AC3E}">
        <p14:creationId xmlns:p14="http://schemas.microsoft.com/office/powerpoint/2010/main" val="2892039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1A478-4992-40DE-8D7B-E6DA981B2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Assemble an Automobile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DE0BE-DA1D-43E4-8FA4-3D4714463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655" y="1248698"/>
            <a:ext cx="7980689" cy="5338916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Build Frame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Install engine, power train components, gas tank.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Install brakes, wheels, tires.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Install dashboard, floor, seats.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Install electrical lines.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Install gas lines.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Attach body panels to frame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Paint body.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3615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1D17A-837B-4DC3-ACEC-1EE4EDE8F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Prerequisites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6" name="Group 29">
            <a:extLst>
              <a:ext uri="{FF2B5EF4-FFF2-40B4-BE49-F238E27FC236}">
                <a16:creationId xmlns:a16="http://schemas.microsoft.com/office/drawing/2014/main" id="{0BBE12C2-F247-43C1-B339-2A04569DEC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3707126"/>
              </p:ext>
            </p:extLst>
          </p:nvPr>
        </p:nvGraphicFramePr>
        <p:xfrm>
          <a:off x="723900" y="1449718"/>
          <a:ext cx="7696200" cy="4827334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565400">
                  <a:extLst>
                    <a:ext uri="{9D8B030D-6E8A-4147-A177-3AD203B41FA5}">
                      <a16:colId xmlns:a16="http://schemas.microsoft.com/office/drawing/2014/main" val="3145453448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1487392103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4287749198"/>
                    </a:ext>
                  </a:extLst>
                </a:gridCol>
              </a:tblGrid>
              <a:tr h="858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Task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EA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Immediately Preceding Tasks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EA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Time Needed to Perform Task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E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451992"/>
                  </a:ext>
                </a:extLst>
              </a:tr>
              <a:tr h="2019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2, 3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2, 3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4, 5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6, 7, 8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 hours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 hours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hours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 hours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hours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 hour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 hour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hours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 hours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603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621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9438-733E-42CF-B89F-718EF374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Maximal and Minimal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D4BB8-0A3C-4B65-8015-5F2DEF426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87" y="1248698"/>
            <a:ext cx="8141110" cy="53389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element of a poset is called maximal if it is not less than any element of the poset.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That is, a is maximal in the poset (S, ) if there is no </a:t>
            </a:r>
          </a:p>
          <a:p>
            <a:pPr marL="0" indent="0">
              <a:buNone/>
            </a:pPr>
            <a:r>
              <a:rPr lang="en-US" dirty="0"/>
              <a:t>b ∈ S such that a ≺ b.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4642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9438-733E-42CF-B89F-718EF374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Maximal and Minimal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D4BB8-0A3C-4B65-8015-5F2DEF426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97" y="1248698"/>
            <a:ext cx="8285489" cy="53389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Similarly, an element of a poset is called minimal if it is not greater than any element of the poset.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That is, a is minimal if there is no element b ∈ S such that b ≺ a.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5151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9438-733E-42CF-B89F-718EF374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Maximal and Minimal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D4BB8-0A3C-4B65-8015-5F2DEF426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" y="1280782"/>
            <a:ext cx="8141110" cy="53389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Maximal and minimal elements are easy to spot using a Hasse diagram. They are the “top” and “bottom” elements in the diagram.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5548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9438-733E-42CF-B89F-718EF374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Maximal and Minimal Elements –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D4BB8-0A3C-4B65-8015-5F2DEF426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Which elements of the poset ({2, 4, 5, 10, 12, 20, 25}, |) are maximal, and which are minimal?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Hasse diagram in Figure above for this poset shows that the maximal elements are 12, 20, and 25, and the  minimal elements are 2 and 5.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17D950-0ECF-4A87-94F0-123C6AD7C5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rgbClr val="FDFDFD">
                <a:tint val="45000"/>
                <a:satMod val="400000"/>
              </a:srgbClr>
            </a:duotone>
          </a:blip>
          <a:srcRect l="7110" t="4102" r="4528" b="21668"/>
          <a:stretch/>
        </p:blipFill>
        <p:spPr>
          <a:xfrm>
            <a:off x="3060450" y="2445026"/>
            <a:ext cx="3170583" cy="260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21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9438-733E-42CF-B89F-718EF374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Maximal and Minimal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D4BB8-0A3C-4B65-8015-5F2DEF426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Find the maximal elements. for the poset ({3, 5, 9, 15,24, 45}, |).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>
              <a:ln>
                <a:solidFill>
                  <a:schemeClr val="accent1"/>
                </a:solidFill>
              </a:ln>
            </a:endParaRPr>
          </a:p>
          <a:p>
            <a:pPr marL="0" indent="0">
              <a:buNone/>
            </a:pPr>
            <a:r>
              <a:rPr lang="en-US" dirty="0"/>
              <a:t>Maximal elements are those that do not divide any other elements of the set. </a:t>
            </a:r>
          </a:p>
          <a:p>
            <a:pPr marL="0" indent="0">
              <a:buNone/>
            </a:pPr>
            <a:r>
              <a:rPr lang="en-US" dirty="0"/>
              <a:t>In this case 24 and 45 are the only numbers that meet that requirement.</a:t>
            </a:r>
          </a:p>
          <a:p>
            <a:pPr marL="0" indent="0">
              <a:buNone/>
            </a:pPr>
            <a:endParaRPr lang="en-IN" dirty="0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28C92F0-BA85-49E7-9BC0-784F0503B3F9}"/>
              </a:ext>
            </a:extLst>
          </p:cNvPr>
          <p:cNvGrpSpPr/>
          <p:nvPr/>
        </p:nvGrpSpPr>
        <p:grpSpPr>
          <a:xfrm>
            <a:off x="2652578" y="1675999"/>
            <a:ext cx="3378100" cy="2786672"/>
            <a:chOff x="5559799" y="1607367"/>
            <a:chExt cx="3378100" cy="2977560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7C2C843-91A0-4EF3-B8F0-4E90B1CE78F4}"/>
                </a:ext>
              </a:extLst>
            </p:cNvPr>
            <p:cNvSpPr txBox="1"/>
            <p:nvPr/>
          </p:nvSpPr>
          <p:spPr>
            <a:xfrm>
              <a:off x="6757657" y="3961975"/>
              <a:ext cx="4010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/>
                <a:t>3</a:t>
              </a: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C3F52A6D-8A2F-41D8-8E31-E3C9B41968AF}"/>
                </a:ext>
              </a:extLst>
            </p:cNvPr>
            <p:cNvGrpSpPr/>
            <p:nvPr/>
          </p:nvGrpSpPr>
          <p:grpSpPr>
            <a:xfrm>
              <a:off x="5559799" y="1607367"/>
              <a:ext cx="3378100" cy="2977560"/>
              <a:chOff x="5520094" y="1612179"/>
              <a:chExt cx="3378100" cy="2977560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742B9E3-F06D-4BB8-B599-F66AEA9EB48B}"/>
                  </a:ext>
                </a:extLst>
              </p:cNvPr>
              <p:cNvSpPr txBox="1"/>
              <p:nvPr/>
            </p:nvSpPr>
            <p:spPr>
              <a:xfrm>
                <a:off x="6654881" y="1612179"/>
                <a:ext cx="64152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3200" dirty="0"/>
                  <a:t>45</a:t>
                </a:r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030C4865-D90B-42A8-8CF7-2B93F600F68D}"/>
                  </a:ext>
                </a:extLst>
              </p:cNvPr>
              <p:cNvGrpSpPr/>
              <p:nvPr/>
            </p:nvGrpSpPr>
            <p:grpSpPr>
              <a:xfrm>
                <a:off x="5520094" y="1632156"/>
                <a:ext cx="3378100" cy="2957583"/>
                <a:chOff x="5520094" y="1632156"/>
                <a:chExt cx="3378100" cy="2957583"/>
              </a:xfrm>
            </p:grpSpPr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0236C79A-C50A-490D-B340-62751F8E3B77}"/>
                    </a:ext>
                  </a:extLst>
                </p:cNvPr>
                <p:cNvSpPr txBox="1"/>
                <p:nvPr/>
              </p:nvSpPr>
              <p:spPr>
                <a:xfrm>
                  <a:off x="6791519" y="2675520"/>
                  <a:ext cx="394660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sz="3200" dirty="0"/>
                    <a:t>9</a:t>
                  </a:r>
                </a:p>
              </p:txBody>
            </p: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66E65B47-4106-47CF-8B1A-147459346D87}"/>
                    </a:ext>
                  </a:extLst>
                </p:cNvPr>
                <p:cNvGrpSpPr/>
                <p:nvPr/>
              </p:nvGrpSpPr>
              <p:grpSpPr>
                <a:xfrm>
                  <a:off x="5520094" y="1632156"/>
                  <a:ext cx="3378100" cy="2957583"/>
                  <a:chOff x="5520094" y="1632156"/>
                  <a:chExt cx="3378100" cy="2957583"/>
                </a:xfrm>
              </p:grpSpPr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17178598-E933-457E-A818-08952C274C65}"/>
                      </a:ext>
                    </a:extLst>
                  </p:cNvPr>
                  <p:cNvSpPr txBox="1"/>
                  <p:nvPr/>
                </p:nvSpPr>
                <p:spPr>
                  <a:xfrm>
                    <a:off x="7684191" y="2713359"/>
                    <a:ext cx="543739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sz="3200" dirty="0"/>
                      <a:t>15</a:t>
                    </a:r>
                  </a:p>
                </p:txBody>
              </p:sp>
              <p:grpSp>
                <p:nvGrpSpPr>
                  <p:cNvPr id="90" name="Group 89">
                    <a:extLst>
                      <a:ext uri="{FF2B5EF4-FFF2-40B4-BE49-F238E27FC236}">
                        <a16:creationId xmlns:a16="http://schemas.microsoft.com/office/drawing/2014/main" id="{9AB25E0A-67EB-4BE3-B6EE-F7B53C98B892}"/>
                      </a:ext>
                    </a:extLst>
                  </p:cNvPr>
                  <p:cNvGrpSpPr/>
                  <p:nvPr/>
                </p:nvGrpSpPr>
                <p:grpSpPr>
                  <a:xfrm>
                    <a:off x="5520094" y="1632156"/>
                    <a:ext cx="3378100" cy="2957583"/>
                    <a:chOff x="5553210" y="1632156"/>
                    <a:chExt cx="3378100" cy="2957583"/>
                  </a:xfrm>
                </p:grpSpPr>
                <p:grpSp>
                  <p:nvGrpSpPr>
                    <p:cNvPr id="91" name="Group 90">
                      <a:extLst>
                        <a:ext uri="{FF2B5EF4-FFF2-40B4-BE49-F238E27FC236}">
                          <a16:creationId xmlns:a16="http://schemas.microsoft.com/office/drawing/2014/main" id="{9129865E-084B-457B-B74E-1455407A88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17277" y="1632156"/>
                      <a:ext cx="2675270" cy="2957583"/>
                      <a:chOff x="5597399" y="1632156"/>
                      <a:chExt cx="2675270" cy="2957583"/>
                    </a:xfrm>
                  </p:grpSpPr>
                  <p:cxnSp>
                    <p:nvCxnSpPr>
                      <p:cNvPr id="96" name="Straight Connector 95">
                        <a:extLst>
                          <a:ext uri="{FF2B5EF4-FFF2-40B4-BE49-F238E27FC236}">
                            <a16:creationId xmlns:a16="http://schemas.microsoft.com/office/drawing/2014/main" id="{D40E4152-E64C-4087-8859-1F12390EFEBB}"/>
                          </a:ext>
                        </a:extLst>
                      </p:cNvPr>
                      <p:cNvCxnSpPr>
                        <a:cxnSpLocks/>
                        <a:stCxn id="98" idx="1"/>
                        <a:endCxn id="101" idx="5"/>
                      </p:cNvCxnSpPr>
                      <p:nvPr/>
                    </p:nvCxnSpPr>
                    <p:spPr>
                      <a:xfrm flipH="1" flipV="1">
                        <a:off x="6097930" y="3212257"/>
                        <a:ext cx="660419" cy="876951"/>
                      </a:xfrm>
                      <a:prstGeom prst="line">
                        <a:avLst/>
                      </a:prstGeom>
                      <a:ln w="571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97" name="Group 96">
                        <a:extLst>
                          <a:ext uri="{FF2B5EF4-FFF2-40B4-BE49-F238E27FC236}">
                            <a16:creationId xmlns:a16="http://schemas.microsoft.com/office/drawing/2014/main" id="{398BC6C0-0250-4C82-9E01-EFF86E93EB0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597399" y="1632156"/>
                        <a:ext cx="2675270" cy="2957583"/>
                        <a:chOff x="5587460" y="1657005"/>
                        <a:chExt cx="2675270" cy="2957583"/>
                      </a:xfrm>
                    </p:grpSpPr>
                    <p:sp>
                      <p:nvSpPr>
                        <p:cNvPr id="98" name="Oval 97">
                          <a:extLst>
                            <a:ext uri="{FF2B5EF4-FFF2-40B4-BE49-F238E27FC236}">
                              <a16:creationId xmlns:a16="http://schemas.microsoft.com/office/drawing/2014/main" id="{40BCA750-049C-4716-9FD9-F9D549DDE8A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662533" y="4028180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99" name="Oval 98">
                          <a:extLst>
                            <a:ext uri="{FF2B5EF4-FFF2-40B4-BE49-F238E27FC236}">
                              <a16:creationId xmlns:a16="http://schemas.microsoft.com/office/drawing/2014/main" id="{0243A144-282D-446D-A019-22DADE6B74E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662533" y="2736575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100" name="Oval 99">
                          <a:extLst>
                            <a:ext uri="{FF2B5EF4-FFF2-40B4-BE49-F238E27FC236}">
                              <a16:creationId xmlns:a16="http://schemas.microsoft.com/office/drawing/2014/main" id="{0FEA4C39-60B6-4797-9F8F-DAEB72EA6A9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676322" y="2736575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101" name="Oval 100">
                          <a:extLst>
                            <a:ext uri="{FF2B5EF4-FFF2-40B4-BE49-F238E27FC236}">
                              <a16:creationId xmlns:a16="http://schemas.microsoft.com/office/drawing/2014/main" id="{36DD6F36-11A8-4F27-9B16-769E12AC1C9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587460" y="2736575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sp>
                      <p:nvSpPr>
                        <p:cNvPr id="102" name="Oval 101">
                          <a:extLst>
                            <a:ext uri="{FF2B5EF4-FFF2-40B4-BE49-F238E27FC236}">
                              <a16:creationId xmlns:a16="http://schemas.microsoft.com/office/drawing/2014/main" id="{4C000184-B829-40A2-BADC-8564A5D992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662533" y="1657005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cxnSp>
                      <p:nvCxnSpPr>
                        <p:cNvPr id="103" name="Straight Connector 102">
                          <a:extLst>
                            <a:ext uri="{FF2B5EF4-FFF2-40B4-BE49-F238E27FC236}">
                              <a16:creationId xmlns:a16="http://schemas.microsoft.com/office/drawing/2014/main" id="{C0BAD4E6-C463-47D5-B328-4819BFCCEBBC}"/>
                            </a:ext>
                          </a:extLst>
                        </p:cNvPr>
                        <p:cNvCxnSpPr>
                          <a:cxnSpLocks/>
                          <a:stCxn id="98" idx="0"/>
                          <a:endCxn id="99" idx="4"/>
                        </p:cNvCxnSpPr>
                        <p:nvPr/>
                      </p:nvCxnSpPr>
                      <p:spPr>
                        <a:xfrm flipV="1">
                          <a:off x="6955737" y="3322983"/>
                          <a:ext cx="0" cy="705197"/>
                        </a:xfrm>
                        <a:prstGeom prst="line">
                          <a:avLst/>
                        </a:prstGeom>
                        <a:ln w="57150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4" name="Straight Connector 103">
                          <a:extLst>
                            <a:ext uri="{FF2B5EF4-FFF2-40B4-BE49-F238E27FC236}">
                              <a16:creationId xmlns:a16="http://schemas.microsoft.com/office/drawing/2014/main" id="{C944B11D-7F88-4D44-A902-0E93900C9FC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7172852" y="3259071"/>
                          <a:ext cx="599135" cy="876951"/>
                        </a:xfrm>
                        <a:prstGeom prst="line">
                          <a:avLst/>
                        </a:prstGeom>
                        <a:ln w="57150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5" name="Straight Connector 104">
                          <a:extLst>
                            <a:ext uri="{FF2B5EF4-FFF2-40B4-BE49-F238E27FC236}">
                              <a16:creationId xmlns:a16="http://schemas.microsoft.com/office/drawing/2014/main" id="{56855986-2827-4590-A99F-333745489BB8}"/>
                            </a:ext>
                          </a:extLst>
                        </p:cNvPr>
                        <p:cNvCxnSpPr>
                          <a:cxnSpLocks/>
                          <a:stCxn id="99" idx="0"/>
                          <a:endCxn id="102" idx="4"/>
                        </p:cNvCxnSpPr>
                        <p:nvPr/>
                      </p:nvCxnSpPr>
                      <p:spPr>
                        <a:xfrm flipV="1">
                          <a:off x="6955737" y="2243413"/>
                          <a:ext cx="0" cy="493162"/>
                        </a:xfrm>
                        <a:prstGeom prst="line">
                          <a:avLst/>
                        </a:prstGeom>
                        <a:ln w="57150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6" name="Straight Connector 105">
                          <a:extLst>
                            <a:ext uri="{FF2B5EF4-FFF2-40B4-BE49-F238E27FC236}">
                              <a16:creationId xmlns:a16="http://schemas.microsoft.com/office/drawing/2014/main" id="{CC5966C6-55E1-4058-952B-4FEB773CB457}"/>
                            </a:ext>
                          </a:extLst>
                        </p:cNvPr>
                        <p:cNvCxnSpPr>
                          <a:cxnSpLocks/>
                          <a:stCxn id="100" idx="1"/>
                          <a:endCxn id="102" idx="5"/>
                        </p:cNvCxnSpPr>
                        <p:nvPr/>
                      </p:nvCxnSpPr>
                      <p:spPr>
                        <a:xfrm flipH="1" flipV="1">
                          <a:off x="7163064" y="2157536"/>
                          <a:ext cx="599135" cy="664916"/>
                        </a:xfrm>
                        <a:prstGeom prst="line">
                          <a:avLst/>
                        </a:prstGeom>
                        <a:ln w="57150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sp>
                  <p:nvSpPr>
                    <p:cNvPr id="92" name="TextBox 91">
                      <a:extLst>
                        <a:ext uri="{FF2B5EF4-FFF2-40B4-BE49-F238E27FC236}">
                          <a16:creationId xmlns:a16="http://schemas.microsoft.com/office/drawing/2014/main" id="{C95BFC9B-ABBF-4A28-AC1D-37A7148585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53210" y="2671237"/>
                      <a:ext cx="630301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IN" sz="3200" dirty="0"/>
                        <a:t>24</a:t>
                      </a:r>
                    </a:p>
                  </p:txBody>
                </p:sp>
                <p:sp>
                  <p:nvSpPr>
                    <p:cNvPr id="93" name="TextBox 92">
                      <a:extLst>
                        <a:ext uri="{FF2B5EF4-FFF2-40B4-BE49-F238E27FC236}">
                          <a16:creationId xmlns:a16="http://schemas.microsoft.com/office/drawing/2014/main" id="{78588E4C-9B4D-4644-8300-72B65A14908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44280" y="3918156"/>
                      <a:ext cx="407484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IN" sz="3200" dirty="0"/>
                        <a:t>5</a:t>
                      </a:r>
                    </a:p>
                  </p:txBody>
                </p:sp>
                <p:sp>
                  <p:nvSpPr>
                    <p:cNvPr id="94" name="Oval 93">
                      <a:extLst>
                        <a:ext uri="{FF2B5EF4-FFF2-40B4-BE49-F238E27FC236}">
                          <a16:creationId xmlns:a16="http://schemas.microsoft.com/office/drawing/2014/main" id="{17A455BB-E92C-47E6-ACC9-DFD86622F0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4902" y="3917339"/>
                      <a:ext cx="586408" cy="586408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cxnSp>
                  <p:nvCxnSpPr>
                    <p:cNvPr id="95" name="Straight Connector 94">
                      <a:extLst>
                        <a:ext uri="{FF2B5EF4-FFF2-40B4-BE49-F238E27FC236}">
                          <a16:creationId xmlns:a16="http://schemas.microsoft.com/office/drawing/2014/main" id="{9516CA26-0588-412C-AC5C-2F4D9E003BF8}"/>
                        </a:ext>
                      </a:extLst>
                    </p:cNvPr>
                    <p:cNvCxnSpPr>
                      <a:cxnSpLocks/>
                      <a:stCxn id="94" idx="1"/>
                    </p:cNvCxnSpPr>
                    <p:nvPr/>
                  </p:nvCxnSpPr>
                  <p:spPr>
                    <a:xfrm flipH="1" flipV="1">
                      <a:off x="8170459" y="3256012"/>
                      <a:ext cx="260320" cy="747204"/>
                    </a:xfrm>
                    <a:prstGeom prst="line">
                      <a:avLst/>
                    </a:prstGeom>
                    <a:ln w="5715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178755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9438-733E-42CF-B89F-718EF374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Maximal and Minimal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D4BB8-0A3C-4B65-8015-5F2DEF426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Find the minimal elements for the poset ({3, 5, 9, 15,24, 45}, |).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>
              <a:ln>
                <a:solidFill>
                  <a:schemeClr val="accent1"/>
                </a:solidFill>
              </a:ln>
            </a:endParaRPr>
          </a:p>
          <a:p>
            <a:pPr marL="0" indent="0">
              <a:buNone/>
            </a:pPr>
            <a:r>
              <a:rPr lang="en-US" dirty="0"/>
              <a:t>Minimal elements are those that are not divisible by any other elements of the set. </a:t>
            </a:r>
          </a:p>
          <a:p>
            <a:pPr marL="0" indent="0">
              <a:buNone/>
            </a:pPr>
            <a:r>
              <a:rPr lang="en-US" dirty="0"/>
              <a:t>In this case 3 and 5 are the only numbers that meet that requirement.</a:t>
            </a:r>
            <a:endParaRPr lang="en-IN" dirty="0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28C92F0-BA85-49E7-9BC0-784F0503B3F9}"/>
              </a:ext>
            </a:extLst>
          </p:cNvPr>
          <p:cNvGrpSpPr/>
          <p:nvPr/>
        </p:nvGrpSpPr>
        <p:grpSpPr>
          <a:xfrm>
            <a:off x="2652578" y="1682678"/>
            <a:ext cx="3378100" cy="2879383"/>
            <a:chOff x="5559799" y="1614086"/>
            <a:chExt cx="3378100" cy="2970841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7C2C843-91A0-4EF3-B8F0-4E90B1CE78F4}"/>
                </a:ext>
              </a:extLst>
            </p:cNvPr>
            <p:cNvSpPr txBox="1"/>
            <p:nvPr/>
          </p:nvSpPr>
          <p:spPr>
            <a:xfrm>
              <a:off x="6757657" y="3961975"/>
              <a:ext cx="4010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/>
                <a:t>3</a:t>
              </a: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C3F52A6D-8A2F-41D8-8E31-E3C9B41968AF}"/>
                </a:ext>
              </a:extLst>
            </p:cNvPr>
            <p:cNvGrpSpPr/>
            <p:nvPr/>
          </p:nvGrpSpPr>
          <p:grpSpPr>
            <a:xfrm>
              <a:off x="5559799" y="1614086"/>
              <a:ext cx="3378100" cy="2970841"/>
              <a:chOff x="5520094" y="1618898"/>
              <a:chExt cx="3378100" cy="2970841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742B9E3-F06D-4BB8-B599-F66AEA9EB48B}"/>
                  </a:ext>
                </a:extLst>
              </p:cNvPr>
              <p:cNvSpPr txBox="1"/>
              <p:nvPr/>
            </p:nvSpPr>
            <p:spPr>
              <a:xfrm>
                <a:off x="6631677" y="1618898"/>
                <a:ext cx="64152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3200" dirty="0"/>
                  <a:t>45</a:t>
                </a:r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030C4865-D90B-42A8-8CF7-2B93F600F68D}"/>
                  </a:ext>
                </a:extLst>
              </p:cNvPr>
              <p:cNvGrpSpPr/>
              <p:nvPr/>
            </p:nvGrpSpPr>
            <p:grpSpPr>
              <a:xfrm>
                <a:off x="5520094" y="1632156"/>
                <a:ext cx="3378100" cy="2957583"/>
                <a:chOff x="5520094" y="1632156"/>
                <a:chExt cx="3378100" cy="2957583"/>
              </a:xfrm>
            </p:grpSpPr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0236C79A-C50A-490D-B340-62751F8E3B77}"/>
                    </a:ext>
                  </a:extLst>
                </p:cNvPr>
                <p:cNvSpPr txBox="1"/>
                <p:nvPr/>
              </p:nvSpPr>
              <p:spPr>
                <a:xfrm>
                  <a:off x="6791519" y="2675520"/>
                  <a:ext cx="394660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sz="3200" dirty="0"/>
                    <a:t>9</a:t>
                  </a:r>
                </a:p>
              </p:txBody>
            </p: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66E65B47-4106-47CF-8B1A-147459346D87}"/>
                    </a:ext>
                  </a:extLst>
                </p:cNvPr>
                <p:cNvGrpSpPr/>
                <p:nvPr/>
              </p:nvGrpSpPr>
              <p:grpSpPr>
                <a:xfrm>
                  <a:off x="5520094" y="1632156"/>
                  <a:ext cx="3378100" cy="2957583"/>
                  <a:chOff x="5520094" y="1632156"/>
                  <a:chExt cx="3378100" cy="2957583"/>
                </a:xfrm>
              </p:grpSpPr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17178598-E933-457E-A818-08952C274C65}"/>
                      </a:ext>
                    </a:extLst>
                  </p:cNvPr>
                  <p:cNvSpPr txBox="1"/>
                  <p:nvPr/>
                </p:nvSpPr>
                <p:spPr>
                  <a:xfrm>
                    <a:off x="7684191" y="2713359"/>
                    <a:ext cx="543739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sz="3200" dirty="0"/>
                      <a:t>15</a:t>
                    </a:r>
                  </a:p>
                </p:txBody>
              </p:sp>
              <p:grpSp>
                <p:nvGrpSpPr>
                  <p:cNvPr id="90" name="Group 89">
                    <a:extLst>
                      <a:ext uri="{FF2B5EF4-FFF2-40B4-BE49-F238E27FC236}">
                        <a16:creationId xmlns:a16="http://schemas.microsoft.com/office/drawing/2014/main" id="{9AB25E0A-67EB-4BE3-B6EE-F7B53C98B892}"/>
                      </a:ext>
                    </a:extLst>
                  </p:cNvPr>
                  <p:cNvGrpSpPr/>
                  <p:nvPr/>
                </p:nvGrpSpPr>
                <p:grpSpPr>
                  <a:xfrm>
                    <a:off x="5520094" y="1632156"/>
                    <a:ext cx="3378100" cy="2957583"/>
                    <a:chOff x="5553210" y="1632156"/>
                    <a:chExt cx="3378100" cy="2957583"/>
                  </a:xfrm>
                </p:grpSpPr>
                <p:grpSp>
                  <p:nvGrpSpPr>
                    <p:cNvPr id="91" name="Group 90">
                      <a:extLst>
                        <a:ext uri="{FF2B5EF4-FFF2-40B4-BE49-F238E27FC236}">
                          <a16:creationId xmlns:a16="http://schemas.microsoft.com/office/drawing/2014/main" id="{9129865E-084B-457B-B74E-1455407A88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17277" y="1632156"/>
                      <a:ext cx="2675270" cy="2957583"/>
                      <a:chOff x="5597399" y="1632156"/>
                      <a:chExt cx="2675270" cy="2957583"/>
                    </a:xfrm>
                  </p:grpSpPr>
                  <p:cxnSp>
                    <p:nvCxnSpPr>
                      <p:cNvPr id="96" name="Straight Connector 95">
                        <a:extLst>
                          <a:ext uri="{FF2B5EF4-FFF2-40B4-BE49-F238E27FC236}">
                            <a16:creationId xmlns:a16="http://schemas.microsoft.com/office/drawing/2014/main" id="{D40E4152-E64C-4087-8859-1F12390EFEBB}"/>
                          </a:ext>
                        </a:extLst>
                      </p:cNvPr>
                      <p:cNvCxnSpPr>
                        <a:cxnSpLocks/>
                        <a:stCxn id="98" idx="1"/>
                        <a:endCxn id="101" idx="5"/>
                      </p:cNvCxnSpPr>
                      <p:nvPr/>
                    </p:nvCxnSpPr>
                    <p:spPr>
                      <a:xfrm flipH="1" flipV="1">
                        <a:off x="6097930" y="3212257"/>
                        <a:ext cx="660419" cy="876951"/>
                      </a:xfrm>
                      <a:prstGeom prst="line">
                        <a:avLst/>
                      </a:prstGeom>
                      <a:ln w="571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97" name="Group 96">
                        <a:extLst>
                          <a:ext uri="{FF2B5EF4-FFF2-40B4-BE49-F238E27FC236}">
                            <a16:creationId xmlns:a16="http://schemas.microsoft.com/office/drawing/2014/main" id="{398BC6C0-0250-4C82-9E01-EFF86E93EB0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597399" y="1632156"/>
                        <a:ext cx="2675270" cy="2957583"/>
                        <a:chOff x="5587460" y="1657005"/>
                        <a:chExt cx="2675270" cy="2957583"/>
                      </a:xfrm>
                    </p:grpSpPr>
                    <p:sp>
                      <p:nvSpPr>
                        <p:cNvPr id="98" name="Oval 97">
                          <a:extLst>
                            <a:ext uri="{FF2B5EF4-FFF2-40B4-BE49-F238E27FC236}">
                              <a16:creationId xmlns:a16="http://schemas.microsoft.com/office/drawing/2014/main" id="{40BCA750-049C-4716-9FD9-F9D549DDE8A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662533" y="4028180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99" name="Oval 98">
                          <a:extLst>
                            <a:ext uri="{FF2B5EF4-FFF2-40B4-BE49-F238E27FC236}">
                              <a16:creationId xmlns:a16="http://schemas.microsoft.com/office/drawing/2014/main" id="{0243A144-282D-446D-A019-22DADE6B74E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662533" y="2736575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100" name="Oval 99">
                          <a:extLst>
                            <a:ext uri="{FF2B5EF4-FFF2-40B4-BE49-F238E27FC236}">
                              <a16:creationId xmlns:a16="http://schemas.microsoft.com/office/drawing/2014/main" id="{0FEA4C39-60B6-4797-9F8F-DAEB72EA6A9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676322" y="2736575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101" name="Oval 100">
                          <a:extLst>
                            <a:ext uri="{FF2B5EF4-FFF2-40B4-BE49-F238E27FC236}">
                              <a16:creationId xmlns:a16="http://schemas.microsoft.com/office/drawing/2014/main" id="{36DD6F36-11A8-4F27-9B16-769E12AC1C9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587460" y="2736575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sp>
                      <p:nvSpPr>
                        <p:cNvPr id="102" name="Oval 101">
                          <a:extLst>
                            <a:ext uri="{FF2B5EF4-FFF2-40B4-BE49-F238E27FC236}">
                              <a16:creationId xmlns:a16="http://schemas.microsoft.com/office/drawing/2014/main" id="{4C000184-B829-40A2-BADC-8564A5D992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662533" y="1657005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cxnSp>
                      <p:nvCxnSpPr>
                        <p:cNvPr id="103" name="Straight Connector 102">
                          <a:extLst>
                            <a:ext uri="{FF2B5EF4-FFF2-40B4-BE49-F238E27FC236}">
                              <a16:creationId xmlns:a16="http://schemas.microsoft.com/office/drawing/2014/main" id="{C0BAD4E6-C463-47D5-B328-4819BFCCEBBC}"/>
                            </a:ext>
                          </a:extLst>
                        </p:cNvPr>
                        <p:cNvCxnSpPr>
                          <a:cxnSpLocks/>
                          <a:stCxn id="98" idx="0"/>
                          <a:endCxn id="99" idx="4"/>
                        </p:cNvCxnSpPr>
                        <p:nvPr/>
                      </p:nvCxnSpPr>
                      <p:spPr>
                        <a:xfrm flipV="1">
                          <a:off x="6955737" y="3322983"/>
                          <a:ext cx="0" cy="705197"/>
                        </a:xfrm>
                        <a:prstGeom prst="line">
                          <a:avLst/>
                        </a:prstGeom>
                        <a:ln w="57150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4" name="Straight Connector 103">
                          <a:extLst>
                            <a:ext uri="{FF2B5EF4-FFF2-40B4-BE49-F238E27FC236}">
                              <a16:creationId xmlns:a16="http://schemas.microsoft.com/office/drawing/2014/main" id="{C944B11D-7F88-4D44-A902-0E93900C9FC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7172852" y="3259071"/>
                          <a:ext cx="599135" cy="876951"/>
                        </a:xfrm>
                        <a:prstGeom prst="line">
                          <a:avLst/>
                        </a:prstGeom>
                        <a:ln w="57150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5" name="Straight Connector 104">
                          <a:extLst>
                            <a:ext uri="{FF2B5EF4-FFF2-40B4-BE49-F238E27FC236}">
                              <a16:creationId xmlns:a16="http://schemas.microsoft.com/office/drawing/2014/main" id="{56855986-2827-4590-A99F-333745489BB8}"/>
                            </a:ext>
                          </a:extLst>
                        </p:cNvPr>
                        <p:cNvCxnSpPr>
                          <a:cxnSpLocks/>
                          <a:stCxn id="99" idx="0"/>
                          <a:endCxn id="102" idx="4"/>
                        </p:cNvCxnSpPr>
                        <p:nvPr/>
                      </p:nvCxnSpPr>
                      <p:spPr>
                        <a:xfrm flipV="1">
                          <a:off x="6955737" y="2243413"/>
                          <a:ext cx="0" cy="493162"/>
                        </a:xfrm>
                        <a:prstGeom prst="line">
                          <a:avLst/>
                        </a:prstGeom>
                        <a:ln w="57150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6" name="Straight Connector 105">
                          <a:extLst>
                            <a:ext uri="{FF2B5EF4-FFF2-40B4-BE49-F238E27FC236}">
                              <a16:creationId xmlns:a16="http://schemas.microsoft.com/office/drawing/2014/main" id="{CC5966C6-55E1-4058-952B-4FEB773CB457}"/>
                            </a:ext>
                          </a:extLst>
                        </p:cNvPr>
                        <p:cNvCxnSpPr>
                          <a:cxnSpLocks/>
                          <a:stCxn id="100" idx="1"/>
                          <a:endCxn id="102" idx="5"/>
                        </p:cNvCxnSpPr>
                        <p:nvPr/>
                      </p:nvCxnSpPr>
                      <p:spPr>
                        <a:xfrm flipH="1" flipV="1">
                          <a:off x="7163064" y="2157536"/>
                          <a:ext cx="599135" cy="664916"/>
                        </a:xfrm>
                        <a:prstGeom prst="line">
                          <a:avLst/>
                        </a:prstGeom>
                        <a:ln w="57150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sp>
                  <p:nvSpPr>
                    <p:cNvPr id="92" name="TextBox 91">
                      <a:extLst>
                        <a:ext uri="{FF2B5EF4-FFF2-40B4-BE49-F238E27FC236}">
                          <a16:creationId xmlns:a16="http://schemas.microsoft.com/office/drawing/2014/main" id="{C95BFC9B-ABBF-4A28-AC1D-37A7148585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53210" y="2671237"/>
                      <a:ext cx="630301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IN" sz="3200" dirty="0"/>
                        <a:t>24</a:t>
                      </a:r>
                    </a:p>
                  </p:txBody>
                </p:sp>
                <p:sp>
                  <p:nvSpPr>
                    <p:cNvPr id="93" name="TextBox 92">
                      <a:extLst>
                        <a:ext uri="{FF2B5EF4-FFF2-40B4-BE49-F238E27FC236}">
                          <a16:creationId xmlns:a16="http://schemas.microsoft.com/office/drawing/2014/main" id="{78588E4C-9B4D-4644-8300-72B65A14908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44280" y="3918156"/>
                      <a:ext cx="407484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IN" sz="3200" dirty="0"/>
                        <a:t>5</a:t>
                      </a:r>
                    </a:p>
                  </p:txBody>
                </p:sp>
                <p:sp>
                  <p:nvSpPr>
                    <p:cNvPr id="94" name="Oval 93">
                      <a:extLst>
                        <a:ext uri="{FF2B5EF4-FFF2-40B4-BE49-F238E27FC236}">
                          <a16:creationId xmlns:a16="http://schemas.microsoft.com/office/drawing/2014/main" id="{17A455BB-E92C-47E6-ACC9-DFD86622F0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4902" y="3917339"/>
                      <a:ext cx="586408" cy="586408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cxnSp>
                  <p:nvCxnSpPr>
                    <p:cNvPr id="95" name="Straight Connector 94">
                      <a:extLst>
                        <a:ext uri="{FF2B5EF4-FFF2-40B4-BE49-F238E27FC236}">
                          <a16:creationId xmlns:a16="http://schemas.microsoft.com/office/drawing/2014/main" id="{9516CA26-0588-412C-AC5C-2F4D9E003BF8}"/>
                        </a:ext>
                      </a:extLst>
                    </p:cNvPr>
                    <p:cNvCxnSpPr>
                      <a:cxnSpLocks/>
                      <a:stCxn id="94" idx="1"/>
                    </p:cNvCxnSpPr>
                    <p:nvPr/>
                  </p:nvCxnSpPr>
                  <p:spPr>
                    <a:xfrm flipH="1" flipV="1">
                      <a:off x="8170459" y="3256012"/>
                      <a:ext cx="260320" cy="747204"/>
                    </a:xfrm>
                    <a:prstGeom prst="line">
                      <a:avLst/>
                    </a:prstGeom>
                    <a:ln w="5715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2931090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9438-733E-42CF-B89F-718EF374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Greatest and the least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D4BB8-0A3C-4B65-8015-5F2DEF426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Sometimes there is an element in a poset that is greater than every other element.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Such an element is called the greatest element. That is, a is the greatest element of the poset (S, ≪) if b  a for all b ∈ S. The greatest element is unique when it exists.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5907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9438-733E-42CF-B89F-718EF374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Greatest and the least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D4BB8-0A3C-4B65-8015-5F2DEF426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Likewise, an element is called the least element if it is less than all the other elements in the poset.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That is, a is the least element of (S, ) if a  b for all b ∈ S. The least element is unique when it exists.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560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9438-733E-42CF-B89F-718EF374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Greatest and the least Elements –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D4BB8-0A3C-4B65-8015-5F2DEF426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Determine whether the poset represented by the Hasse diagram have a greatest element and a least element.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least element of the poset with Hasse diagram is a.</a:t>
            </a:r>
          </a:p>
          <a:p>
            <a:pPr marL="0" indent="0">
              <a:buNone/>
            </a:pPr>
            <a:r>
              <a:rPr lang="en-US" dirty="0"/>
              <a:t>This poset has no greatest element.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B1B8CE-2678-41AB-B443-70FAB59068C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rgbClr val="FDFDFD">
                <a:tint val="45000"/>
                <a:satMod val="400000"/>
              </a:srgbClr>
            </a:duotone>
          </a:blip>
          <a:srcRect l="10469" t="7791" r="10403" b="18022"/>
          <a:stretch/>
        </p:blipFill>
        <p:spPr>
          <a:xfrm>
            <a:off x="3538330" y="2743199"/>
            <a:ext cx="2117035" cy="217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510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9438-733E-42CF-B89F-718EF374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Greatest and the least Elements –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D4BB8-0A3C-4B65-8015-5F2DEF426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Determine whether the poset represented by the Hasse diagram have a greatest element and a least element.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poset with Hasse diagram has neither a least nor a greatest element.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29ABE0-1302-4A70-BF2E-84743D6262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rgbClr val="FCFCFC">
                <a:tint val="45000"/>
                <a:satMod val="400000"/>
              </a:srgbClr>
            </a:duotone>
          </a:blip>
          <a:srcRect l="9039" t="7766" r="12436" b="18952"/>
          <a:stretch/>
        </p:blipFill>
        <p:spPr>
          <a:xfrm>
            <a:off x="3240148" y="2445028"/>
            <a:ext cx="2016000" cy="250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889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9438-733E-42CF-B89F-718EF374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Greatest and the least Elements –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D4BB8-0A3C-4B65-8015-5F2DEF426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333267" cy="19815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Let S be a set. Determine whether there is a greatest element and a least element in the poset (P (S),⊆).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585DBB-DCC5-4F1D-89D0-85A7AF7EE5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rgbClr val="FCFCFC">
                <a:tint val="45000"/>
                <a:satMod val="400000"/>
              </a:srgbClr>
            </a:duotone>
          </a:blip>
          <a:srcRect l="8905" t="5090" r="24138" b="21694"/>
          <a:stretch/>
        </p:blipFill>
        <p:spPr>
          <a:xfrm>
            <a:off x="4971266" y="2554357"/>
            <a:ext cx="3926928" cy="411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ED18E4-20DB-4493-9D5E-278882F70AF3}"/>
              </a:ext>
            </a:extLst>
          </p:cNvPr>
          <p:cNvSpPr txBox="1"/>
          <p:nvPr/>
        </p:nvSpPr>
        <p:spPr>
          <a:xfrm>
            <a:off x="221653" y="3230217"/>
            <a:ext cx="455382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800" dirty="0"/>
              <a:t>The least element is the empty set, because ∅ ⊆ T for any subset T of S.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The set S is the greatest element in this poset, because T ⊆ S whenever T is a subset of S.</a:t>
            </a:r>
          </a:p>
        </p:txBody>
      </p:sp>
    </p:spTree>
    <p:extLst>
      <p:ext uri="{BB962C8B-B14F-4D97-AF65-F5344CB8AC3E}">
        <p14:creationId xmlns:p14="http://schemas.microsoft.com/office/powerpoint/2010/main" val="383446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75999-CB08-433B-9372-E29C010A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Upper Bound and Lower Bound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5FCA0-BA61-4929-AE67-E0839E9D1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Sometimes it is possible to find an element that is greater than or equal to all the elements in a subset A of a poset  (S,&lt;&lt; ). </a:t>
            </a:r>
          </a:p>
          <a:p>
            <a:pPr marL="0" indent="0">
              <a:buNone/>
            </a:pPr>
            <a:r>
              <a:rPr lang="en-US" dirty="0"/>
              <a:t>If u is an element of S such that a  u for all elements a ∈ A, then u is called an upper bound of A.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3724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75999-CB08-433B-9372-E29C010A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Upper Bound and Lower Bound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5FCA0-BA61-4929-AE67-E0839E9D1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Likewise, there may be an element less than or equal to all the elements in A.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l is an element of S such that l  a for all elements a ∈ A, then l is called a lower bound of 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737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75999-CB08-433B-9372-E29C010A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Upper Bound and Lower Bound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5FCA0-BA61-4929-AE67-E0839E9D1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19417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Find the lower and upper bounds of the subsets {a, b, c} in the poset with the Hasse diagram shown in Figure.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91AF69-BA43-4917-9F94-09FCE1E753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rgbClr val="F9F9F9">
                <a:tint val="45000"/>
                <a:satMod val="400000"/>
              </a:srgbClr>
            </a:duotone>
          </a:blip>
          <a:srcRect l="5382" t="1665" r="-2424" b="27185"/>
          <a:stretch/>
        </p:blipFill>
        <p:spPr>
          <a:xfrm>
            <a:off x="5307496" y="2961861"/>
            <a:ext cx="3729845" cy="36675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92B122-C826-45CD-88FA-637F6121D822}"/>
              </a:ext>
            </a:extLst>
          </p:cNvPr>
          <p:cNvSpPr txBox="1"/>
          <p:nvPr/>
        </p:nvSpPr>
        <p:spPr>
          <a:xfrm>
            <a:off x="536712" y="4190857"/>
            <a:ext cx="40352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upper bounds of {a, b, c} are e, f, j, and h, and its only lower bound is a. </a:t>
            </a:r>
          </a:p>
        </p:txBody>
      </p:sp>
    </p:spTree>
    <p:extLst>
      <p:ext uri="{BB962C8B-B14F-4D97-AF65-F5344CB8AC3E}">
        <p14:creationId xmlns:p14="http://schemas.microsoft.com/office/powerpoint/2010/main" val="238349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75999-CB08-433B-9372-E29C010A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Upper Bound and Lower Bound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5FCA0-BA61-4929-AE67-E0839E9D1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19417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Find the lower and upper bounds of the subsets {a, c, d, f } in the poset with the Hasse diagram shown in Figure.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91AF69-BA43-4917-9F94-09FCE1E753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rgbClr val="FAFAFA">
                <a:tint val="45000"/>
                <a:satMod val="400000"/>
              </a:srgbClr>
            </a:duotone>
          </a:blip>
          <a:srcRect l="5382" t="1665" r="-2424" b="27185"/>
          <a:stretch/>
        </p:blipFill>
        <p:spPr>
          <a:xfrm>
            <a:off x="5307496" y="2961861"/>
            <a:ext cx="3729845" cy="36675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61A42B-1954-4D7D-B2B5-80CCDCEE24E2}"/>
              </a:ext>
            </a:extLst>
          </p:cNvPr>
          <p:cNvSpPr txBox="1"/>
          <p:nvPr/>
        </p:nvSpPr>
        <p:spPr>
          <a:xfrm>
            <a:off x="159255" y="4621175"/>
            <a:ext cx="514824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/>
              <a:t>The upper bounds of {a, c, d, f } are f , h, and j , and its lower bound is a.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1300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5487</TotalTime>
  <Words>1010</Words>
  <Application>Microsoft Office PowerPoint</Application>
  <PresentationFormat>On-screen Show (4:3)</PresentationFormat>
  <Paragraphs>148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Arial</vt:lpstr>
      <vt:lpstr>Bahnschrift</vt:lpstr>
      <vt:lpstr>Bahnschrift SemiBold</vt:lpstr>
      <vt:lpstr>Calibri</vt:lpstr>
      <vt:lpstr>Wingdings</vt:lpstr>
      <vt:lpstr>Office Theme</vt:lpstr>
      <vt:lpstr>EMTH403</vt:lpstr>
      <vt:lpstr>Lecture Outcomes</vt:lpstr>
      <vt:lpstr>Application – Job Scheduling</vt:lpstr>
      <vt:lpstr>Assemble an Automobile</vt:lpstr>
      <vt:lpstr> Prerequisites </vt:lpstr>
      <vt:lpstr>Maximal and Minimal Elements</vt:lpstr>
      <vt:lpstr>Maximal and Minimal Elements</vt:lpstr>
      <vt:lpstr>Maximal and Minimal Elements</vt:lpstr>
      <vt:lpstr>Maximal and Minimal Elements – Example 1</vt:lpstr>
      <vt:lpstr>Maximal and Minimal Elements</vt:lpstr>
      <vt:lpstr>Maximal and Minimal Elements</vt:lpstr>
      <vt:lpstr>Greatest and the least Elements</vt:lpstr>
      <vt:lpstr>Greatest and the least Elements</vt:lpstr>
      <vt:lpstr>Greatest and the least Elements – Example 1</vt:lpstr>
      <vt:lpstr>Greatest and the least Elements – Example 2</vt:lpstr>
      <vt:lpstr>Greatest and the least Elements – Example 2</vt:lpstr>
      <vt:lpstr>Upper Bound and Lower Bound</vt:lpstr>
      <vt:lpstr>Upper Bound and Lower Bound</vt:lpstr>
      <vt:lpstr>Upper Bound and Lower Bound</vt:lpstr>
      <vt:lpstr>Upper Bound and Lower Bound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Arpit Thakur</cp:lastModifiedBy>
  <cp:revision>785</cp:revision>
  <dcterms:created xsi:type="dcterms:W3CDTF">2020-12-04T05:20:56Z</dcterms:created>
  <dcterms:modified xsi:type="dcterms:W3CDTF">2020-12-21T07:17:27Z</dcterms:modified>
</cp:coreProperties>
</file>