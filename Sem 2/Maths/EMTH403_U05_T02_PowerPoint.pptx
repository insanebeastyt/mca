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6" r:id="rId2"/>
    <p:sldId id="257" r:id="rId3"/>
    <p:sldId id="288" r:id="rId4"/>
    <p:sldId id="289" r:id="rId5"/>
    <p:sldId id="290" r:id="rId6"/>
    <p:sldId id="296" r:id="rId7"/>
    <p:sldId id="291" r:id="rId8"/>
    <p:sldId id="292" r:id="rId9"/>
    <p:sldId id="295" r:id="rId10"/>
    <p:sldId id="293" r:id="rId11"/>
    <p:sldId id="297" r:id="rId12"/>
    <p:sldId id="294" r:id="rId13"/>
    <p:sldId id="298" r:id="rId14"/>
    <p:sldId id="299" r:id="rId15"/>
    <p:sldId id="301" r:id="rId16"/>
    <p:sldId id="302" r:id="rId17"/>
    <p:sldId id="304" r:id="rId18"/>
    <p:sldId id="306" r:id="rId19"/>
    <p:sldId id="308" r:id="rId20"/>
    <p:sldId id="25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88"/>
            <p14:sldId id="289"/>
            <p14:sldId id="290"/>
            <p14:sldId id="296"/>
            <p14:sldId id="291"/>
            <p14:sldId id="292"/>
            <p14:sldId id="295"/>
            <p14:sldId id="293"/>
            <p14:sldId id="297"/>
            <p14:sldId id="294"/>
            <p14:sldId id="298"/>
            <p14:sldId id="299"/>
            <p14:sldId id="301"/>
            <p14:sldId id="302"/>
            <p14:sldId id="304"/>
            <p14:sldId id="306"/>
            <p14:sldId id="308"/>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6CC"/>
    <a:srgbClr val="BA202B"/>
    <a:srgbClr val="4472C4"/>
    <a:srgbClr val="DDDDDD"/>
    <a:srgbClr val="BBBBBB"/>
    <a:srgbClr val="00A2B8"/>
    <a:srgbClr val="00B451"/>
    <a:srgbClr val="CA628C"/>
    <a:srgbClr val="71EEFF"/>
    <a:srgbClr val="89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1386" y="72"/>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29-12-2020</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08F98-5817-4768-91E0-7435FEF7FFA1}" type="datetimeFigureOut">
              <a:rPr lang="en-IN" smtClean="0"/>
              <a:t>29-12-2020</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C79E5-282A-4490-B8CC-DC7602F73C68}" type="slidenum">
              <a:rPr lang="en-IN" smtClean="0"/>
              <a:t>‹#›</a:t>
            </a:fld>
            <a:endParaRPr lang="en-IN"/>
          </a:p>
        </p:txBody>
      </p:sp>
    </p:spTree>
    <p:extLst>
      <p:ext uri="{BB962C8B-B14F-4D97-AF65-F5344CB8AC3E}">
        <p14:creationId xmlns:p14="http://schemas.microsoft.com/office/powerpoint/2010/main" val="20166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29-12-2020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29-12-2020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29-12-2020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29-12-2020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29-12-2020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29-12-2020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29-12-2020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29-12-2020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29-12-2020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29-12-2020</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a:xfrm>
            <a:off x="963560" y="2826916"/>
            <a:ext cx="7575529" cy="3974812"/>
          </a:xfrm>
        </p:spPr>
        <p:txBody>
          <a:bodyPr>
            <a:noAutofit/>
          </a:bodyPr>
          <a:lstStyle/>
          <a:p>
            <a:pPr>
              <a:lnSpc>
                <a:spcPct val="170000"/>
              </a:lnSpc>
            </a:pPr>
            <a:r>
              <a:rPr lang="en-US" sz="2400" dirty="0"/>
              <a:t>understand the use of product rule in the basics of counting.</a:t>
            </a:r>
          </a:p>
          <a:p>
            <a:pPr>
              <a:lnSpc>
                <a:spcPct val="170000"/>
              </a:lnSpc>
            </a:pPr>
            <a:r>
              <a:rPr lang="en-US" sz="2400" dirty="0"/>
              <a:t>understand the use of sum rule in the basics of counting.</a:t>
            </a:r>
          </a:p>
          <a:p>
            <a:pPr>
              <a:lnSpc>
                <a:spcPct val="170000"/>
              </a:lnSpc>
            </a:pPr>
            <a:r>
              <a:rPr lang="en-US" sz="2400" dirty="0"/>
              <a:t>understand the use of </a:t>
            </a:r>
            <a:r>
              <a:rPr lang="en-IN" sz="2400" dirty="0"/>
              <a:t>subtraction</a:t>
            </a:r>
            <a:r>
              <a:rPr lang="en-US" sz="2400" dirty="0"/>
              <a:t> rule in the basics of counting. </a:t>
            </a:r>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1</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fontScale="92500" lnSpcReduction="10000"/>
          </a:bodyPr>
          <a:lstStyle/>
          <a:p>
            <a:pPr marL="0" indent="0">
              <a:buNone/>
            </a:pPr>
            <a:r>
              <a:rPr lang="en-US" b="1" dirty="0"/>
              <a:t>Ques:- </a:t>
            </a:r>
            <a:r>
              <a:rPr lang="en-US" dirty="0"/>
              <a:t>How many different three-letter initials can</a:t>
            </a:r>
            <a:br>
              <a:rPr lang="en-US" dirty="0"/>
            </a:br>
            <a:r>
              <a:rPr lang="en-US" dirty="0"/>
              <a:t> people have?</a:t>
            </a:r>
          </a:p>
          <a:p>
            <a:pPr marL="0" indent="0">
              <a:buNone/>
            </a:pPr>
            <a:r>
              <a:rPr lang="en-US" b="1" dirty="0"/>
              <a:t>Sol:- </a:t>
            </a:r>
            <a:r>
              <a:rPr lang="en-US" dirty="0"/>
              <a:t>first initial ( 26 ways), </a:t>
            </a:r>
          </a:p>
          <a:p>
            <a:pPr marL="0" indent="0">
              <a:buNone/>
            </a:pPr>
            <a:r>
              <a:rPr lang="en-US" dirty="0"/>
              <a:t>then the second initial ( 26 ways),</a:t>
            </a:r>
          </a:p>
          <a:p>
            <a:pPr marL="0" indent="0">
              <a:buNone/>
            </a:pPr>
            <a:r>
              <a:rPr lang="en-US" dirty="0"/>
              <a:t>and then the third initial ( 26 ways). </a:t>
            </a:r>
          </a:p>
          <a:p>
            <a:pPr marL="0" indent="0">
              <a:buNone/>
            </a:pPr>
            <a:r>
              <a:rPr lang="en-US" dirty="0"/>
              <a:t>Therefore, by the product rule there are </a:t>
            </a:r>
          </a:p>
          <a:p>
            <a:pPr marL="0" indent="0">
              <a:buNone/>
            </a:pPr>
            <a:r>
              <a:rPr lang="en-US" dirty="0"/>
              <a:t>26 · 26 · 26 = 26</a:t>
            </a:r>
            <a:r>
              <a:rPr lang="en-US" baseline="30000" dirty="0"/>
              <a:t>3</a:t>
            </a:r>
            <a:r>
              <a:rPr lang="en-US" dirty="0"/>
              <a:t> = 17,576</a:t>
            </a:r>
          </a:p>
          <a:p>
            <a:pPr marL="0" indent="0">
              <a:buNone/>
            </a:pPr>
            <a:r>
              <a:rPr lang="en-US" dirty="0"/>
              <a:t>possible three-letter initials.</a:t>
            </a:r>
          </a:p>
          <a:p>
            <a:pPr marL="0" indent="0">
              <a:buNone/>
            </a:pPr>
            <a:endParaRPr lang="en-IN" dirty="0"/>
          </a:p>
        </p:txBody>
      </p:sp>
    </p:spTree>
    <p:extLst>
      <p:ext uri="{BB962C8B-B14F-4D97-AF65-F5344CB8AC3E}">
        <p14:creationId xmlns:p14="http://schemas.microsoft.com/office/powerpoint/2010/main" val="1980915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FB00-679A-438E-88AF-05479B6777EB}"/>
              </a:ext>
            </a:extLst>
          </p:cNvPr>
          <p:cNvSpPr>
            <a:spLocks noGrp="1"/>
          </p:cNvSpPr>
          <p:nvPr>
            <p:ph type="title"/>
          </p:nvPr>
        </p:nvSpPr>
        <p:spPr/>
        <p:txBody>
          <a:bodyPr/>
          <a:lstStyle/>
          <a:p>
            <a:r>
              <a:rPr lang="en-IN" dirty="0"/>
              <a:t>Basics of Counting – Example 1</a:t>
            </a:r>
          </a:p>
        </p:txBody>
      </p:sp>
      <p:sp>
        <p:nvSpPr>
          <p:cNvPr id="4" name="Oval 3">
            <a:extLst>
              <a:ext uri="{FF2B5EF4-FFF2-40B4-BE49-F238E27FC236}">
                <a16:creationId xmlns:a16="http://schemas.microsoft.com/office/drawing/2014/main" id="{C363D8BD-2385-4918-90CD-47687A346D1F}"/>
              </a:ext>
            </a:extLst>
          </p:cNvPr>
          <p:cNvSpPr/>
          <p:nvPr/>
        </p:nvSpPr>
        <p:spPr>
          <a:xfrm>
            <a:off x="616228" y="1182757"/>
            <a:ext cx="1272208" cy="4810539"/>
          </a:xfrm>
          <a:prstGeom prst="ellipse">
            <a:avLst/>
          </a:prstGeom>
          <a:solidFill>
            <a:schemeClr val="bg1"/>
          </a:solidFill>
          <a:ln w="57150">
            <a:solidFill>
              <a:srgbClr val="00B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9CBDFCDB-CE62-438B-8463-E9C7869B2180}"/>
              </a:ext>
            </a:extLst>
          </p:cNvPr>
          <p:cNvSpPr/>
          <p:nvPr/>
        </p:nvSpPr>
        <p:spPr>
          <a:xfrm>
            <a:off x="4745133" y="1182757"/>
            <a:ext cx="1272208" cy="4810539"/>
          </a:xfrm>
          <a:prstGeom prst="ellipse">
            <a:avLst/>
          </a:prstGeom>
          <a:solidFill>
            <a:schemeClr val="bg1"/>
          </a:solidFill>
          <a:ln w="57150">
            <a:solidFill>
              <a:srgbClr val="00B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D95CD1FE-10D1-445D-82FA-53BF22F32981}"/>
              </a:ext>
            </a:extLst>
          </p:cNvPr>
          <p:cNvSpPr/>
          <p:nvPr/>
        </p:nvSpPr>
        <p:spPr>
          <a:xfrm>
            <a:off x="2720011" y="1182757"/>
            <a:ext cx="1272208" cy="4810539"/>
          </a:xfrm>
          <a:prstGeom prst="ellipse">
            <a:avLst/>
          </a:prstGeom>
          <a:solidFill>
            <a:schemeClr val="bg1"/>
          </a:solidFill>
          <a:ln w="57150">
            <a:solidFill>
              <a:srgbClr val="00B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2B22D1B-8DDD-46DE-BBEA-A39B9BD40910}"/>
              </a:ext>
            </a:extLst>
          </p:cNvPr>
          <p:cNvSpPr txBox="1"/>
          <p:nvPr/>
        </p:nvSpPr>
        <p:spPr>
          <a:xfrm>
            <a:off x="1063486" y="1329610"/>
            <a:ext cx="377687" cy="4524315"/>
          </a:xfrm>
          <a:prstGeom prst="rect">
            <a:avLst/>
          </a:prstGeom>
          <a:noFill/>
        </p:spPr>
        <p:txBody>
          <a:bodyPr wrap="square" rtlCol="0">
            <a:spAutoFit/>
          </a:bodyPr>
          <a:lstStyle/>
          <a:p>
            <a:r>
              <a:rPr lang="en-IN" sz="2400" dirty="0"/>
              <a:t>A</a:t>
            </a:r>
          </a:p>
          <a:p>
            <a:r>
              <a:rPr lang="en-IN" sz="2400" dirty="0"/>
              <a:t>B</a:t>
            </a:r>
          </a:p>
          <a:p>
            <a:r>
              <a:rPr lang="en-IN" sz="2400" dirty="0"/>
              <a:t>C</a:t>
            </a:r>
          </a:p>
          <a:p>
            <a:r>
              <a:rPr lang="en-IN" sz="2400" dirty="0"/>
              <a:t>D</a:t>
            </a:r>
          </a:p>
          <a:p>
            <a:r>
              <a:rPr lang="en-IN" sz="2400" dirty="0"/>
              <a:t>E</a:t>
            </a:r>
          </a:p>
          <a:p>
            <a:r>
              <a:rPr lang="en-IN" sz="2400" dirty="0"/>
              <a:t>F</a:t>
            </a:r>
          </a:p>
          <a:p>
            <a:r>
              <a:rPr lang="en-IN" sz="2400" dirty="0"/>
              <a:t>G</a:t>
            </a:r>
          </a:p>
          <a:p>
            <a:r>
              <a:rPr lang="en-IN" sz="2400" dirty="0"/>
              <a:t>…………Z</a:t>
            </a:r>
          </a:p>
        </p:txBody>
      </p:sp>
      <p:sp>
        <p:nvSpPr>
          <p:cNvPr id="8" name="TextBox 7">
            <a:extLst>
              <a:ext uri="{FF2B5EF4-FFF2-40B4-BE49-F238E27FC236}">
                <a16:creationId xmlns:a16="http://schemas.microsoft.com/office/drawing/2014/main" id="{CA5FCD7E-5724-46BE-A8E0-259C9CF282A8}"/>
              </a:ext>
            </a:extLst>
          </p:cNvPr>
          <p:cNvSpPr txBox="1"/>
          <p:nvPr/>
        </p:nvSpPr>
        <p:spPr>
          <a:xfrm>
            <a:off x="3167271" y="1325868"/>
            <a:ext cx="377687" cy="4524315"/>
          </a:xfrm>
          <a:prstGeom prst="rect">
            <a:avLst/>
          </a:prstGeom>
          <a:noFill/>
        </p:spPr>
        <p:txBody>
          <a:bodyPr wrap="square" rtlCol="0">
            <a:spAutoFit/>
          </a:bodyPr>
          <a:lstStyle/>
          <a:p>
            <a:r>
              <a:rPr lang="en-IN" sz="2400" dirty="0"/>
              <a:t>A</a:t>
            </a:r>
          </a:p>
          <a:p>
            <a:r>
              <a:rPr lang="en-IN" sz="2400" dirty="0"/>
              <a:t>B</a:t>
            </a:r>
          </a:p>
          <a:p>
            <a:r>
              <a:rPr lang="en-IN" sz="2400" dirty="0"/>
              <a:t>C</a:t>
            </a:r>
          </a:p>
          <a:p>
            <a:r>
              <a:rPr lang="en-IN" sz="2400" dirty="0"/>
              <a:t>D</a:t>
            </a:r>
          </a:p>
          <a:p>
            <a:r>
              <a:rPr lang="en-IN" sz="2400" dirty="0"/>
              <a:t>E</a:t>
            </a:r>
          </a:p>
          <a:p>
            <a:r>
              <a:rPr lang="en-IN" sz="2400" dirty="0"/>
              <a:t>F</a:t>
            </a:r>
          </a:p>
          <a:p>
            <a:r>
              <a:rPr lang="en-IN" sz="2400" dirty="0"/>
              <a:t>G</a:t>
            </a:r>
          </a:p>
          <a:p>
            <a:r>
              <a:rPr lang="en-IN" sz="2400" dirty="0"/>
              <a:t>…………Z</a:t>
            </a:r>
          </a:p>
        </p:txBody>
      </p:sp>
      <p:sp>
        <p:nvSpPr>
          <p:cNvPr id="9" name="TextBox 8">
            <a:extLst>
              <a:ext uri="{FF2B5EF4-FFF2-40B4-BE49-F238E27FC236}">
                <a16:creationId xmlns:a16="http://schemas.microsoft.com/office/drawing/2014/main" id="{411A01F0-5BF6-4DBD-BC9A-6207FED98567}"/>
              </a:ext>
            </a:extLst>
          </p:cNvPr>
          <p:cNvSpPr txBox="1"/>
          <p:nvPr/>
        </p:nvSpPr>
        <p:spPr>
          <a:xfrm>
            <a:off x="5192393" y="1325868"/>
            <a:ext cx="377687" cy="4524315"/>
          </a:xfrm>
          <a:prstGeom prst="rect">
            <a:avLst/>
          </a:prstGeom>
          <a:noFill/>
        </p:spPr>
        <p:txBody>
          <a:bodyPr wrap="square" rtlCol="0">
            <a:spAutoFit/>
          </a:bodyPr>
          <a:lstStyle/>
          <a:p>
            <a:r>
              <a:rPr lang="en-IN" sz="2400" dirty="0"/>
              <a:t>A</a:t>
            </a:r>
          </a:p>
          <a:p>
            <a:r>
              <a:rPr lang="en-IN" sz="2400" dirty="0"/>
              <a:t>B</a:t>
            </a:r>
          </a:p>
          <a:p>
            <a:r>
              <a:rPr lang="en-IN" sz="2400" dirty="0"/>
              <a:t>C</a:t>
            </a:r>
          </a:p>
          <a:p>
            <a:r>
              <a:rPr lang="en-IN" sz="2400" dirty="0"/>
              <a:t>D</a:t>
            </a:r>
          </a:p>
          <a:p>
            <a:r>
              <a:rPr lang="en-IN" sz="2400" dirty="0"/>
              <a:t>E</a:t>
            </a:r>
          </a:p>
          <a:p>
            <a:r>
              <a:rPr lang="en-IN" sz="2400" dirty="0"/>
              <a:t>F</a:t>
            </a:r>
          </a:p>
          <a:p>
            <a:r>
              <a:rPr lang="en-IN" sz="2400" dirty="0"/>
              <a:t>G</a:t>
            </a:r>
          </a:p>
          <a:p>
            <a:r>
              <a:rPr lang="en-IN" sz="2400" dirty="0"/>
              <a:t>…………Z</a:t>
            </a:r>
          </a:p>
        </p:txBody>
      </p:sp>
      <p:cxnSp>
        <p:nvCxnSpPr>
          <p:cNvPr id="11" name="Straight Arrow Connector 10">
            <a:extLst>
              <a:ext uri="{FF2B5EF4-FFF2-40B4-BE49-F238E27FC236}">
                <a16:creationId xmlns:a16="http://schemas.microsoft.com/office/drawing/2014/main" id="{10931AD4-9811-408A-BFD3-C064C264D3B8}"/>
              </a:ext>
            </a:extLst>
          </p:cNvPr>
          <p:cNvCxnSpPr/>
          <p:nvPr/>
        </p:nvCxnSpPr>
        <p:spPr>
          <a:xfrm>
            <a:off x="1441173" y="1580322"/>
            <a:ext cx="1808923"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603B8A5-194C-4BCE-912A-917A10DB3E9F}"/>
              </a:ext>
            </a:extLst>
          </p:cNvPr>
          <p:cNvCxnSpPr/>
          <p:nvPr/>
        </p:nvCxnSpPr>
        <p:spPr>
          <a:xfrm>
            <a:off x="3472069" y="1580322"/>
            <a:ext cx="1808923"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654F8D9-9A6E-4A7C-995C-7A7531A18AA1}"/>
              </a:ext>
            </a:extLst>
          </p:cNvPr>
          <p:cNvCxnSpPr>
            <a:cxnSpLocks/>
          </p:cNvCxnSpPr>
          <p:nvPr/>
        </p:nvCxnSpPr>
        <p:spPr>
          <a:xfrm>
            <a:off x="3472069" y="1580322"/>
            <a:ext cx="1808923" cy="34786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78B0412-F644-4D98-816C-36BE75DE680F}"/>
              </a:ext>
            </a:extLst>
          </p:cNvPr>
          <p:cNvCxnSpPr>
            <a:cxnSpLocks/>
          </p:cNvCxnSpPr>
          <p:nvPr/>
        </p:nvCxnSpPr>
        <p:spPr>
          <a:xfrm>
            <a:off x="3472069" y="1580321"/>
            <a:ext cx="1808923" cy="69574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FDFA051-0413-41CA-8C0B-E4089EE824F1}"/>
              </a:ext>
            </a:extLst>
          </p:cNvPr>
          <p:cNvCxnSpPr>
            <a:cxnSpLocks/>
          </p:cNvCxnSpPr>
          <p:nvPr/>
        </p:nvCxnSpPr>
        <p:spPr>
          <a:xfrm>
            <a:off x="3472069" y="1580320"/>
            <a:ext cx="1808923" cy="109330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61E901-21B9-4348-8294-8C2625D5E347}"/>
              </a:ext>
            </a:extLst>
          </p:cNvPr>
          <p:cNvCxnSpPr>
            <a:cxnSpLocks/>
          </p:cNvCxnSpPr>
          <p:nvPr/>
        </p:nvCxnSpPr>
        <p:spPr>
          <a:xfrm>
            <a:off x="3472069" y="1580319"/>
            <a:ext cx="1808923" cy="145111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999DE0E-11A6-4C37-8FC8-0A0474FDFAA6}"/>
              </a:ext>
            </a:extLst>
          </p:cNvPr>
          <p:cNvCxnSpPr>
            <a:cxnSpLocks/>
          </p:cNvCxnSpPr>
          <p:nvPr/>
        </p:nvCxnSpPr>
        <p:spPr>
          <a:xfrm>
            <a:off x="3472069" y="1580318"/>
            <a:ext cx="1808923" cy="184868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03FD92B-18C3-44D0-AFA3-A2AAD3BF3F46}"/>
              </a:ext>
            </a:extLst>
          </p:cNvPr>
          <p:cNvCxnSpPr>
            <a:cxnSpLocks/>
          </p:cNvCxnSpPr>
          <p:nvPr/>
        </p:nvCxnSpPr>
        <p:spPr>
          <a:xfrm>
            <a:off x="3472069" y="1580317"/>
            <a:ext cx="1808923" cy="21866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80A3428-6558-4EBC-B7FF-A97CB9C42E28}"/>
              </a:ext>
            </a:extLst>
          </p:cNvPr>
          <p:cNvCxnSpPr>
            <a:cxnSpLocks/>
          </p:cNvCxnSpPr>
          <p:nvPr/>
        </p:nvCxnSpPr>
        <p:spPr>
          <a:xfrm>
            <a:off x="3472069" y="1607817"/>
            <a:ext cx="1808923" cy="39103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DEB22BA-E219-4125-8DE5-78E85B376A4D}"/>
              </a:ext>
            </a:extLst>
          </p:cNvPr>
          <p:cNvSpPr txBox="1"/>
          <p:nvPr/>
        </p:nvSpPr>
        <p:spPr>
          <a:xfrm>
            <a:off x="6266861" y="1325868"/>
            <a:ext cx="790963" cy="4524315"/>
          </a:xfrm>
          <a:prstGeom prst="rect">
            <a:avLst/>
          </a:prstGeom>
          <a:noFill/>
        </p:spPr>
        <p:txBody>
          <a:bodyPr wrap="square" rtlCol="0">
            <a:spAutoFit/>
          </a:bodyPr>
          <a:lstStyle/>
          <a:p>
            <a:r>
              <a:rPr lang="en-IN" sz="2400" dirty="0"/>
              <a:t>AAA</a:t>
            </a:r>
          </a:p>
          <a:p>
            <a:r>
              <a:rPr lang="en-IN" sz="2400" dirty="0"/>
              <a:t>AAB</a:t>
            </a:r>
          </a:p>
          <a:p>
            <a:r>
              <a:rPr lang="en-IN" sz="2400" dirty="0"/>
              <a:t>AAC</a:t>
            </a:r>
          </a:p>
          <a:p>
            <a:r>
              <a:rPr lang="en-IN" sz="2400" dirty="0"/>
              <a:t>AAD</a:t>
            </a:r>
          </a:p>
          <a:p>
            <a:r>
              <a:rPr lang="en-IN" sz="2400" dirty="0"/>
              <a:t>AAE</a:t>
            </a:r>
          </a:p>
          <a:p>
            <a:r>
              <a:rPr lang="en-IN" sz="2400" dirty="0"/>
              <a:t>AAF</a:t>
            </a:r>
          </a:p>
          <a:p>
            <a:r>
              <a:rPr lang="en-IN" sz="2400" dirty="0"/>
              <a:t>AAG</a:t>
            </a:r>
          </a:p>
          <a:p>
            <a:r>
              <a:rPr lang="en-IN" sz="2400" dirty="0"/>
              <a:t>….</a:t>
            </a:r>
          </a:p>
          <a:p>
            <a:r>
              <a:rPr lang="en-IN" sz="2400" dirty="0"/>
              <a:t>…</a:t>
            </a:r>
          </a:p>
          <a:p>
            <a:r>
              <a:rPr lang="en-IN" sz="2400" dirty="0"/>
              <a:t>…</a:t>
            </a:r>
          </a:p>
          <a:p>
            <a:r>
              <a:rPr lang="en-IN" sz="2400" dirty="0"/>
              <a:t>….</a:t>
            </a:r>
          </a:p>
          <a:p>
            <a:r>
              <a:rPr lang="en-IN" sz="2400" dirty="0"/>
              <a:t>AAZ</a:t>
            </a:r>
          </a:p>
        </p:txBody>
      </p:sp>
      <p:sp>
        <p:nvSpPr>
          <p:cNvPr id="36" name="TextBox 35">
            <a:extLst>
              <a:ext uri="{FF2B5EF4-FFF2-40B4-BE49-F238E27FC236}">
                <a16:creationId xmlns:a16="http://schemas.microsoft.com/office/drawing/2014/main" id="{D780FE70-415D-490F-8C76-DA9FC5E81D2E}"/>
              </a:ext>
            </a:extLst>
          </p:cNvPr>
          <p:cNvSpPr txBox="1"/>
          <p:nvPr/>
        </p:nvSpPr>
        <p:spPr>
          <a:xfrm>
            <a:off x="7148317" y="1349710"/>
            <a:ext cx="790963" cy="4524315"/>
          </a:xfrm>
          <a:prstGeom prst="rect">
            <a:avLst/>
          </a:prstGeom>
          <a:noFill/>
        </p:spPr>
        <p:txBody>
          <a:bodyPr wrap="square" rtlCol="0">
            <a:spAutoFit/>
          </a:bodyPr>
          <a:lstStyle/>
          <a:p>
            <a:r>
              <a:rPr lang="en-IN" sz="2400" dirty="0"/>
              <a:t>ABA</a:t>
            </a:r>
          </a:p>
          <a:p>
            <a:r>
              <a:rPr lang="en-IN" sz="2400" dirty="0"/>
              <a:t>ABB</a:t>
            </a:r>
          </a:p>
          <a:p>
            <a:r>
              <a:rPr lang="en-IN" sz="2400" dirty="0"/>
              <a:t>ABC</a:t>
            </a:r>
          </a:p>
          <a:p>
            <a:r>
              <a:rPr lang="en-IN" sz="2400" dirty="0"/>
              <a:t>ABD</a:t>
            </a:r>
          </a:p>
          <a:p>
            <a:r>
              <a:rPr lang="en-IN" sz="2400" dirty="0"/>
              <a:t>ABE</a:t>
            </a:r>
          </a:p>
          <a:p>
            <a:r>
              <a:rPr lang="en-IN" sz="2400" dirty="0"/>
              <a:t>ABF</a:t>
            </a:r>
          </a:p>
          <a:p>
            <a:r>
              <a:rPr lang="en-IN" sz="2400" dirty="0"/>
              <a:t>ABG</a:t>
            </a:r>
          </a:p>
          <a:p>
            <a:r>
              <a:rPr lang="en-IN" sz="2400" dirty="0"/>
              <a:t>….</a:t>
            </a:r>
          </a:p>
          <a:p>
            <a:r>
              <a:rPr lang="en-IN" sz="2400" dirty="0"/>
              <a:t>…</a:t>
            </a:r>
          </a:p>
          <a:p>
            <a:r>
              <a:rPr lang="en-IN" sz="2400" dirty="0"/>
              <a:t>…</a:t>
            </a:r>
          </a:p>
          <a:p>
            <a:r>
              <a:rPr lang="en-IN" sz="2400" dirty="0"/>
              <a:t>….</a:t>
            </a:r>
          </a:p>
          <a:p>
            <a:r>
              <a:rPr lang="en-IN" sz="2400" dirty="0"/>
              <a:t>ABZ</a:t>
            </a:r>
          </a:p>
        </p:txBody>
      </p:sp>
      <p:cxnSp>
        <p:nvCxnSpPr>
          <p:cNvPr id="38" name="Straight Arrow Connector 37">
            <a:extLst>
              <a:ext uri="{FF2B5EF4-FFF2-40B4-BE49-F238E27FC236}">
                <a16:creationId xmlns:a16="http://schemas.microsoft.com/office/drawing/2014/main" id="{38D6C423-0FFD-4753-A90C-447B10DEBE34}"/>
              </a:ext>
            </a:extLst>
          </p:cNvPr>
          <p:cNvCxnSpPr/>
          <p:nvPr/>
        </p:nvCxnSpPr>
        <p:spPr>
          <a:xfrm>
            <a:off x="1434549" y="1941441"/>
            <a:ext cx="1808923" cy="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BE9AC1C-E674-4547-A251-F4C03C146835}"/>
              </a:ext>
            </a:extLst>
          </p:cNvPr>
          <p:cNvCxnSpPr>
            <a:cxnSpLocks/>
          </p:cNvCxnSpPr>
          <p:nvPr/>
        </p:nvCxnSpPr>
        <p:spPr>
          <a:xfrm flipV="1">
            <a:off x="3472068" y="1607817"/>
            <a:ext cx="1808924" cy="320374"/>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774BF51-28D3-4466-AE18-DC73773BFB1A}"/>
              </a:ext>
            </a:extLst>
          </p:cNvPr>
          <p:cNvCxnSpPr/>
          <p:nvPr/>
        </p:nvCxnSpPr>
        <p:spPr>
          <a:xfrm>
            <a:off x="3472069" y="1928191"/>
            <a:ext cx="1808923" cy="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25DE648-4D9B-4274-9390-6F42DCB67D6F}"/>
              </a:ext>
            </a:extLst>
          </p:cNvPr>
          <p:cNvCxnSpPr>
            <a:cxnSpLocks/>
          </p:cNvCxnSpPr>
          <p:nvPr/>
        </p:nvCxnSpPr>
        <p:spPr>
          <a:xfrm>
            <a:off x="3472069" y="1941441"/>
            <a:ext cx="1808923" cy="33462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D49B5E2-A4CA-4272-B954-CDF44D4CF970}"/>
              </a:ext>
            </a:extLst>
          </p:cNvPr>
          <p:cNvCxnSpPr>
            <a:cxnSpLocks/>
          </p:cNvCxnSpPr>
          <p:nvPr/>
        </p:nvCxnSpPr>
        <p:spPr>
          <a:xfrm>
            <a:off x="3472069" y="1967943"/>
            <a:ext cx="1720324" cy="62617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819F717-6368-48D4-ACA9-9D10262DE546}"/>
              </a:ext>
            </a:extLst>
          </p:cNvPr>
          <p:cNvCxnSpPr>
            <a:cxnSpLocks/>
          </p:cNvCxnSpPr>
          <p:nvPr/>
        </p:nvCxnSpPr>
        <p:spPr>
          <a:xfrm>
            <a:off x="3544958" y="1964632"/>
            <a:ext cx="1736034" cy="106680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BBCF05C-F05C-4810-851C-AEDE872F50F5}"/>
              </a:ext>
            </a:extLst>
          </p:cNvPr>
          <p:cNvCxnSpPr>
            <a:cxnSpLocks/>
          </p:cNvCxnSpPr>
          <p:nvPr/>
        </p:nvCxnSpPr>
        <p:spPr>
          <a:xfrm>
            <a:off x="3472069" y="1991134"/>
            <a:ext cx="1808923" cy="1437866"/>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8923505-52A3-4BBB-BF97-8E79075ADBE8}"/>
              </a:ext>
            </a:extLst>
          </p:cNvPr>
          <p:cNvCxnSpPr>
            <a:cxnSpLocks/>
          </p:cNvCxnSpPr>
          <p:nvPr/>
        </p:nvCxnSpPr>
        <p:spPr>
          <a:xfrm>
            <a:off x="3508513" y="2011012"/>
            <a:ext cx="1772479" cy="1676405"/>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2663A294-838B-4785-807B-92C5FB7293DA}"/>
              </a:ext>
            </a:extLst>
          </p:cNvPr>
          <p:cNvCxnSpPr>
            <a:cxnSpLocks/>
          </p:cNvCxnSpPr>
          <p:nvPr/>
        </p:nvCxnSpPr>
        <p:spPr>
          <a:xfrm>
            <a:off x="3435628" y="1991134"/>
            <a:ext cx="1845364" cy="3527066"/>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EE2A127E-8CB8-4F3D-9A00-2C14A158EFFE}"/>
              </a:ext>
            </a:extLst>
          </p:cNvPr>
          <p:cNvSpPr txBox="1"/>
          <p:nvPr/>
        </p:nvSpPr>
        <p:spPr>
          <a:xfrm>
            <a:off x="8029773" y="1349710"/>
            <a:ext cx="790963" cy="4524315"/>
          </a:xfrm>
          <a:prstGeom prst="rect">
            <a:avLst/>
          </a:prstGeom>
          <a:noFill/>
        </p:spPr>
        <p:txBody>
          <a:bodyPr wrap="square" rtlCol="0">
            <a:spAutoFit/>
          </a:bodyPr>
          <a:lstStyle/>
          <a:p>
            <a:r>
              <a:rPr lang="en-IN" sz="2400" dirty="0"/>
              <a:t>AAA</a:t>
            </a:r>
          </a:p>
          <a:p>
            <a:r>
              <a:rPr lang="en-IN" sz="2400" dirty="0"/>
              <a:t>AAB</a:t>
            </a:r>
          </a:p>
          <a:p>
            <a:r>
              <a:rPr lang="en-IN" sz="2400" dirty="0"/>
              <a:t>…</a:t>
            </a:r>
          </a:p>
          <a:p>
            <a:r>
              <a:rPr lang="en-IN" sz="2400" dirty="0"/>
              <a:t>AAZ</a:t>
            </a:r>
          </a:p>
          <a:p>
            <a:r>
              <a:rPr lang="en-IN" sz="2400" dirty="0"/>
              <a:t>ABA</a:t>
            </a:r>
          </a:p>
          <a:p>
            <a:r>
              <a:rPr lang="en-IN" sz="2400" dirty="0"/>
              <a:t>…</a:t>
            </a:r>
          </a:p>
          <a:p>
            <a:r>
              <a:rPr lang="en-IN" sz="2400" dirty="0"/>
              <a:t>AZZ</a:t>
            </a:r>
          </a:p>
          <a:p>
            <a:r>
              <a:rPr lang="en-IN" sz="2400" dirty="0"/>
              <a:t>ZAA</a:t>
            </a:r>
          </a:p>
          <a:p>
            <a:r>
              <a:rPr lang="en-IN" sz="2400" dirty="0"/>
              <a:t>….</a:t>
            </a:r>
          </a:p>
          <a:p>
            <a:r>
              <a:rPr lang="en-IN" sz="2400" dirty="0"/>
              <a:t>…..</a:t>
            </a:r>
          </a:p>
          <a:p>
            <a:r>
              <a:rPr lang="en-IN" sz="2400" dirty="0"/>
              <a:t>….</a:t>
            </a:r>
          </a:p>
          <a:p>
            <a:r>
              <a:rPr lang="en-IN" sz="2400" dirty="0"/>
              <a:t>ZZZ</a:t>
            </a:r>
          </a:p>
        </p:txBody>
      </p:sp>
      <p:sp>
        <p:nvSpPr>
          <p:cNvPr id="55" name="TextBox 54">
            <a:extLst>
              <a:ext uri="{FF2B5EF4-FFF2-40B4-BE49-F238E27FC236}">
                <a16:creationId xmlns:a16="http://schemas.microsoft.com/office/drawing/2014/main" id="{96FF9062-4584-4104-B62C-B1CA76C569AE}"/>
              </a:ext>
            </a:extLst>
          </p:cNvPr>
          <p:cNvSpPr txBox="1"/>
          <p:nvPr/>
        </p:nvSpPr>
        <p:spPr>
          <a:xfrm>
            <a:off x="1370158" y="6183466"/>
            <a:ext cx="5244122" cy="492443"/>
          </a:xfrm>
          <a:prstGeom prst="rect">
            <a:avLst/>
          </a:prstGeom>
          <a:noFill/>
        </p:spPr>
        <p:txBody>
          <a:bodyPr wrap="square" rtlCol="0">
            <a:spAutoFit/>
          </a:bodyPr>
          <a:lstStyle/>
          <a:p>
            <a:r>
              <a:rPr lang="en-IN" sz="2600" dirty="0"/>
              <a:t>26*26*26 = 17,576 </a:t>
            </a:r>
          </a:p>
        </p:txBody>
      </p:sp>
    </p:spTree>
    <p:extLst>
      <p:ext uri="{BB962C8B-B14F-4D97-AF65-F5344CB8AC3E}">
        <p14:creationId xmlns:p14="http://schemas.microsoft.com/office/powerpoint/2010/main" val="97090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P spid="7" grpId="0"/>
      <p:bldP spid="8" grpId="0"/>
      <p:bldP spid="9" grpId="0"/>
      <p:bldP spid="34" grpId="0"/>
      <p:bldP spid="36" grpId="0"/>
      <p:bldP spid="5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2</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lnSpcReduction="10000"/>
          </a:bodyPr>
          <a:lstStyle/>
          <a:p>
            <a:pPr marL="0" indent="0">
              <a:buNone/>
            </a:pPr>
            <a:r>
              <a:rPr lang="en-US" b="1" dirty="0"/>
              <a:t>Ques:- </a:t>
            </a:r>
            <a:r>
              <a:rPr lang="en-US" dirty="0"/>
              <a:t>A multiple-choice test contains 10 questions. There are four possible answers for each question. In how many ways can a student answer the questions on the test if the student answers every question?</a:t>
            </a:r>
          </a:p>
          <a:p>
            <a:pPr marL="0" indent="0">
              <a:buNone/>
            </a:pPr>
            <a:endParaRPr lang="en-US" dirty="0"/>
          </a:p>
          <a:p>
            <a:pPr marL="0" indent="0">
              <a:buNone/>
            </a:pPr>
            <a:r>
              <a:rPr lang="en-US" b="1" dirty="0"/>
              <a:t>Sol:-</a:t>
            </a:r>
            <a:r>
              <a:rPr lang="en-IN" dirty="0"/>
              <a:t> 4 · 4 · · · 4 = 4</a:t>
            </a:r>
            <a:r>
              <a:rPr lang="en-IN" baseline="30000" dirty="0"/>
              <a:t>10</a:t>
            </a:r>
            <a:r>
              <a:rPr lang="en-IN" dirty="0"/>
              <a:t> = 1,048,576</a:t>
            </a:r>
          </a:p>
          <a:p>
            <a:pPr marL="0" indent="0">
              <a:buNone/>
            </a:pPr>
            <a:r>
              <a:rPr lang="en-US" dirty="0"/>
              <a:t>Possible ways are a, b, c, b, b, d, a, b, d, b etc. </a:t>
            </a: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265473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2</a:t>
            </a:r>
          </a:p>
        </p:txBody>
      </p:sp>
      <p:grpSp>
        <p:nvGrpSpPr>
          <p:cNvPr id="19" name="Group 18">
            <a:extLst>
              <a:ext uri="{FF2B5EF4-FFF2-40B4-BE49-F238E27FC236}">
                <a16:creationId xmlns:a16="http://schemas.microsoft.com/office/drawing/2014/main" id="{BC2744AF-DF1B-430D-8EF0-A6A92BDB0371}"/>
              </a:ext>
            </a:extLst>
          </p:cNvPr>
          <p:cNvGrpSpPr/>
          <p:nvPr/>
        </p:nvGrpSpPr>
        <p:grpSpPr>
          <a:xfrm>
            <a:off x="399489" y="1570383"/>
            <a:ext cx="8744511" cy="2798360"/>
            <a:chOff x="399489" y="1570383"/>
            <a:chExt cx="8744511" cy="2798360"/>
          </a:xfrm>
        </p:grpSpPr>
        <p:sp>
          <p:nvSpPr>
            <p:cNvPr id="4" name="Oval 3">
              <a:extLst>
                <a:ext uri="{FF2B5EF4-FFF2-40B4-BE49-F238E27FC236}">
                  <a16:creationId xmlns:a16="http://schemas.microsoft.com/office/drawing/2014/main" id="{B6D8E14C-CD62-4FE5-951F-CD76A9BEB72A}"/>
                </a:ext>
              </a:extLst>
            </p:cNvPr>
            <p:cNvSpPr/>
            <p:nvPr/>
          </p:nvSpPr>
          <p:spPr>
            <a:xfrm>
              <a:off x="399489" y="1643987"/>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BBCA0B8-CE48-4C09-AF16-F46B729BFD00}"/>
                </a:ext>
              </a:extLst>
            </p:cNvPr>
            <p:cNvSpPr txBox="1"/>
            <p:nvPr/>
          </p:nvSpPr>
          <p:spPr>
            <a:xfrm>
              <a:off x="913865" y="1570383"/>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0" name="Oval 9">
              <a:extLst>
                <a:ext uri="{FF2B5EF4-FFF2-40B4-BE49-F238E27FC236}">
                  <a16:creationId xmlns:a16="http://schemas.microsoft.com/office/drawing/2014/main" id="{1987709F-06EA-49A4-B53A-67E52EF29F96}"/>
                </a:ext>
              </a:extLst>
            </p:cNvPr>
            <p:cNvSpPr/>
            <p:nvPr/>
          </p:nvSpPr>
          <p:spPr>
            <a:xfrm>
              <a:off x="2359314" y="1607185"/>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2146641-E43A-4378-9CED-B9A94C2F41A7}"/>
                </a:ext>
              </a:extLst>
            </p:cNvPr>
            <p:cNvSpPr txBox="1"/>
            <p:nvPr/>
          </p:nvSpPr>
          <p:spPr>
            <a:xfrm>
              <a:off x="2879889" y="1607185"/>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2" name="Oval 11">
              <a:extLst>
                <a:ext uri="{FF2B5EF4-FFF2-40B4-BE49-F238E27FC236}">
                  <a16:creationId xmlns:a16="http://schemas.microsoft.com/office/drawing/2014/main" id="{14A27FD0-CE5C-4EBD-AB5F-A1FF26C3F027}"/>
                </a:ext>
              </a:extLst>
            </p:cNvPr>
            <p:cNvSpPr/>
            <p:nvPr/>
          </p:nvSpPr>
          <p:spPr>
            <a:xfrm>
              <a:off x="4123188" y="1570383"/>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B844F20-0097-4CA9-9965-EF0609F530EC}"/>
                </a:ext>
              </a:extLst>
            </p:cNvPr>
            <p:cNvSpPr txBox="1"/>
            <p:nvPr/>
          </p:nvSpPr>
          <p:spPr>
            <a:xfrm>
              <a:off x="4643763" y="1570383"/>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4" name="Oval 13">
              <a:extLst>
                <a:ext uri="{FF2B5EF4-FFF2-40B4-BE49-F238E27FC236}">
                  <a16:creationId xmlns:a16="http://schemas.microsoft.com/office/drawing/2014/main" id="{ACDFA6A8-62D4-48F2-AD8C-2EFC33D98910}"/>
                </a:ext>
              </a:extLst>
            </p:cNvPr>
            <p:cNvSpPr/>
            <p:nvPr/>
          </p:nvSpPr>
          <p:spPr>
            <a:xfrm>
              <a:off x="5914793" y="1607185"/>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B0D115B-AF56-4758-9078-DC183393656F}"/>
                </a:ext>
              </a:extLst>
            </p:cNvPr>
            <p:cNvSpPr txBox="1"/>
            <p:nvPr/>
          </p:nvSpPr>
          <p:spPr>
            <a:xfrm>
              <a:off x="6435368" y="1607185"/>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6" name="Oval 15">
              <a:extLst>
                <a:ext uri="{FF2B5EF4-FFF2-40B4-BE49-F238E27FC236}">
                  <a16:creationId xmlns:a16="http://schemas.microsoft.com/office/drawing/2014/main" id="{BEB6A16F-24BA-49BB-BECC-8E6D5A5A1C93}"/>
                </a:ext>
              </a:extLst>
            </p:cNvPr>
            <p:cNvSpPr/>
            <p:nvPr/>
          </p:nvSpPr>
          <p:spPr>
            <a:xfrm>
              <a:off x="8104498" y="1680789"/>
              <a:ext cx="1039502"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E849C787-AB48-49F8-83DC-1FE82EB27EE6}"/>
                </a:ext>
              </a:extLst>
            </p:cNvPr>
            <p:cNvSpPr txBox="1"/>
            <p:nvPr/>
          </p:nvSpPr>
          <p:spPr>
            <a:xfrm>
              <a:off x="8376171" y="1691087"/>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8" name="TextBox 17">
              <a:extLst>
                <a:ext uri="{FF2B5EF4-FFF2-40B4-BE49-F238E27FC236}">
                  <a16:creationId xmlns:a16="http://schemas.microsoft.com/office/drawing/2014/main" id="{7019C571-084A-4292-BBC1-F9BA3183B73A}"/>
                </a:ext>
              </a:extLst>
            </p:cNvPr>
            <p:cNvSpPr txBox="1"/>
            <p:nvPr/>
          </p:nvSpPr>
          <p:spPr>
            <a:xfrm>
              <a:off x="7434470" y="2613991"/>
              <a:ext cx="670028" cy="492443"/>
            </a:xfrm>
            <a:prstGeom prst="rect">
              <a:avLst/>
            </a:prstGeom>
            <a:noFill/>
          </p:spPr>
          <p:txBody>
            <a:bodyPr wrap="square" rtlCol="0">
              <a:spAutoFit/>
            </a:bodyPr>
            <a:lstStyle/>
            <a:p>
              <a:r>
                <a:rPr lang="en-IN" sz="2600" dirty="0"/>
                <a:t>…….</a:t>
              </a:r>
            </a:p>
          </p:txBody>
        </p:sp>
      </p:grpSp>
      <p:sp>
        <p:nvSpPr>
          <p:cNvPr id="20" name="TextBox 19">
            <a:extLst>
              <a:ext uri="{FF2B5EF4-FFF2-40B4-BE49-F238E27FC236}">
                <a16:creationId xmlns:a16="http://schemas.microsoft.com/office/drawing/2014/main" id="{66229A85-78FE-483A-B3C6-FD31816A7B2A}"/>
              </a:ext>
            </a:extLst>
          </p:cNvPr>
          <p:cNvSpPr txBox="1"/>
          <p:nvPr/>
        </p:nvSpPr>
        <p:spPr>
          <a:xfrm>
            <a:off x="546652" y="4372181"/>
            <a:ext cx="8504904" cy="492443"/>
          </a:xfrm>
          <a:prstGeom prst="rect">
            <a:avLst/>
          </a:prstGeom>
          <a:noFill/>
        </p:spPr>
        <p:txBody>
          <a:bodyPr wrap="square" rtlCol="0">
            <a:spAutoFit/>
          </a:bodyPr>
          <a:lstStyle/>
          <a:p>
            <a:r>
              <a:rPr lang="en-IN" sz="2600" dirty="0">
                <a:solidFill>
                  <a:srgbClr val="FF0000"/>
                </a:solidFill>
              </a:rPr>
              <a:t>Q1					Q2				Q3				Q4	…….		Q10</a:t>
            </a:r>
          </a:p>
        </p:txBody>
      </p:sp>
      <p:sp>
        <p:nvSpPr>
          <p:cNvPr id="65" name="TextBox 64">
            <a:extLst>
              <a:ext uri="{FF2B5EF4-FFF2-40B4-BE49-F238E27FC236}">
                <a16:creationId xmlns:a16="http://schemas.microsoft.com/office/drawing/2014/main" id="{A1492426-324E-434A-A52B-54D285B0C758}"/>
              </a:ext>
            </a:extLst>
          </p:cNvPr>
          <p:cNvSpPr txBox="1"/>
          <p:nvPr/>
        </p:nvSpPr>
        <p:spPr>
          <a:xfrm>
            <a:off x="520150" y="4792934"/>
            <a:ext cx="8504904" cy="492443"/>
          </a:xfrm>
          <a:prstGeom prst="rect">
            <a:avLst/>
          </a:prstGeom>
          <a:noFill/>
        </p:spPr>
        <p:txBody>
          <a:bodyPr wrap="square" rtlCol="0">
            <a:spAutoFit/>
          </a:bodyPr>
          <a:lstStyle/>
          <a:p>
            <a:r>
              <a:rPr lang="en-IN" sz="2600" dirty="0">
                <a:solidFill>
                  <a:srgbClr val="FF0000"/>
                </a:solidFill>
              </a:rPr>
              <a:t>4ways		 4ways 			 4ways 		 4ways…..4ways</a:t>
            </a:r>
          </a:p>
        </p:txBody>
      </p:sp>
      <p:sp>
        <p:nvSpPr>
          <p:cNvPr id="66" name="TextBox 65">
            <a:extLst>
              <a:ext uri="{FF2B5EF4-FFF2-40B4-BE49-F238E27FC236}">
                <a16:creationId xmlns:a16="http://schemas.microsoft.com/office/drawing/2014/main" id="{35787781-2376-4C65-BC9F-3457D75FEFBF}"/>
              </a:ext>
            </a:extLst>
          </p:cNvPr>
          <p:cNvSpPr txBox="1"/>
          <p:nvPr/>
        </p:nvSpPr>
        <p:spPr>
          <a:xfrm>
            <a:off x="444956" y="5281821"/>
            <a:ext cx="8504904" cy="492443"/>
          </a:xfrm>
          <a:prstGeom prst="rect">
            <a:avLst/>
          </a:prstGeom>
          <a:noFill/>
        </p:spPr>
        <p:txBody>
          <a:bodyPr wrap="square" rtlCol="0">
            <a:spAutoFit/>
          </a:bodyPr>
          <a:lstStyle/>
          <a:p>
            <a:r>
              <a:rPr lang="en-IN" sz="2600" dirty="0">
                <a:solidFill>
                  <a:srgbClr val="FF0000"/>
                </a:solidFill>
              </a:rPr>
              <a:t>= n</a:t>
            </a:r>
            <a:r>
              <a:rPr lang="en-IN" sz="2600" baseline="-25000" dirty="0">
                <a:solidFill>
                  <a:srgbClr val="FF0000"/>
                </a:solidFill>
              </a:rPr>
              <a:t>1</a:t>
            </a:r>
            <a:r>
              <a:rPr lang="en-IN" sz="2600" dirty="0">
                <a:solidFill>
                  <a:srgbClr val="FF0000"/>
                </a:solidFill>
              </a:rPr>
              <a:t>	*		 n</a:t>
            </a:r>
            <a:r>
              <a:rPr lang="en-IN" sz="2600" baseline="-25000" dirty="0">
                <a:solidFill>
                  <a:srgbClr val="FF0000"/>
                </a:solidFill>
              </a:rPr>
              <a:t>2		</a:t>
            </a:r>
            <a:r>
              <a:rPr lang="en-IN" sz="2600" dirty="0">
                <a:solidFill>
                  <a:srgbClr val="FF0000"/>
                </a:solidFill>
              </a:rPr>
              <a:t> * 			 n</a:t>
            </a:r>
            <a:r>
              <a:rPr lang="en-IN" sz="2600" baseline="-25000" dirty="0">
                <a:solidFill>
                  <a:srgbClr val="FF0000"/>
                </a:solidFill>
              </a:rPr>
              <a:t>3</a:t>
            </a:r>
            <a:r>
              <a:rPr lang="en-IN" sz="2600" dirty="0">
                <a:solidFill>
                  <a:srgbClr val="FF0000"/>
                </a:solidFill>
              </a:rPr>
              <a:t> 		 * 	 n</a:t>
            </a:r>
            <a:r>
              <a:rPr lang="en-IN" sz="2600" baseline="-25000" dirty="0">
                <a:solidFill>
                  <a:srgbClr val="FF0000"/>
                </a:solidFill>
              </a:rPr>
              <a:t>4 </a:t>
            </a:r>
            <a:r>
              <a:rPr lang="en-IN" sz="2600" dirty="0">
                <a:solidFill>
                  <a:srgbClr val="FF0000"/>
                </a:solidFill>
              </a:rPr>
              <a:t>…	 * 	.. n</a:t>
            </a:r>
            <a:r>
              <a:rPr lang="en-IN" sz="2600" baseline="-25000" dirty="0">
                <a:solidFill>
                  <a:srgbClr val="FF0000"/>
                </a:solidFill>
              </a:rPr>
              <a:t>10</a:t>
            </a:r>
            <a:endParaRPr lang="en-IN" sz="2600" dirty="0">
              <a:solidFill>
                <a:srgbClr val="FF0000"/>
              </a:solidFill>
            </a:endParaRPr>
          </a:p>
        </p:txBody>
      </p:sp>
      <p:sp>
        <p:nvSpPr>
          <p:cNvPr id="68" name="TextBox 67">
            <a:extLst>
              <a:ext uri="{FF2B5EF4-FFF2-40B4-BE49-F238E27FC236}">
                <a16:creationId xmlns:a16="http://schemas.microsoft.com/office/drawing/2014/main" id="{1B8F4CC5-F7EF-4DE3-BD90-EA6D5F70FB12}"/>
              </a:ext>
            </a:extLst>
          </p:cNvPr>
          <p:cNvSpPr txBox="1"/>
          <p:nvPr/>
        </p:nvSpPr>
        <p:spPr>
          <a:xfrm>
            <a:off x="393290" y="5861378"/>
            <a:ext cx="8504904" cy="492443"/>
          </a:xfrm>
          <a:prstGeom prst="rect">
            <a:avLst/>
          </a:prstGeom>
          <a:noFill/>
        </p:spPr>
        <p:txBody>
          <a:bodyPr wrap="square" rtlCol="0">
            <a:spAutoFit/>
          </a:bodyPr>
          <a:lstStyle/>
          <a:p>
            <a:r>
              <a:rPr lang="en-IN" sz="2600" dirty="0">
                <a:solidFill>
                  <a:srgbClr val="FF0000"/>
                </a:solidFill>
              </a:rPr>
              <a:t>= 4	*			 4</a:t>
            </a:r>
            <a:r>
              <a:rPr lang="en-IN" sz="2600" baseline="-25000" dirty="0">
                <a:solidFill>
                  <a:srgbClr val="FF0000"/>
                </a:solidFill>
              </a:rPr>
              <a:t>		</a:t>
            </a:r>
            <a:r>
              <a:rPr lang="en-IN" sz="2600" dirty="0">
                <a:solidFill>
                  <a:srgbClr val="FF0000"/>
                </a:solidFill>
              </a:rPr>
              <a:t> * 			 4 		 * 		 4</a:t>
            </a:r>
            <a:r>
              <a:rPr lang="en-IN" sz="2600" baseline="-25000" dirty="0">
                <a:solidFill>
                  <a:srgbClr val="FF0000"/>
                </a:solidFill>
              </a:rPr>
              <a:t> </a:t>
            </a:r>
            <a:r>
              <a:rPr lang="en-IN" sz="2600" dirty="0">
                <a:solidFill>
                  <a:srgbClr val="FF0000"/>
                </a:solidFill>
              </a:rPr>
              <a:t>…	 * 	.. 4</a:t>
            </a:r>
          </a:p>
        </p:txBody>
      </p:sp>
      <p:sp>
        <p:nvSpPr>
          <p:cNvPr id="69" name="TextBox 68">
            <a:extLst>
              <a:ext uri="{FF2B5EF4-FFF2-40B4-BE49-F238E27FC236}">
                <a16:creationId xmlns:a16="http://schemas.microsoft.com/office/drawing/2014/main" id="{00EE2057-896A-40DA-B13C-F6D3DC022B4C}"/>
              </a:ext>
            </a:extLst>
          </p:cNvPr>
          <p:cNvSpPr txBox="1"/>
          <p:nvPr/>
        </p:nvSpPr>
        <p:spPr>
          <a:xfrm>
            <a:off x="545690" y="6212558"/>
            <a:ext cx="8504904" cy="492443"/>
          </a:xfrm>
          <a:prstGeom prst="rect">
            <a:avLst/>
          </a:prstGeom>
          <a:noFill/>
        </p:spPr>
        <p:txBody>
          <a:bodyPr wrap="square" rtlCol="0">
            <a:spAutoFit/>
          </a:bodyPr>
          <a:lstStyle/>
          <a:p>
            <a:r>
              <a:rPr lang="en-IN" sz="2600" dirty="0">
                <a:solidFill>
                  <a:srgbClr val="FF0000"/>
                </a:solidFill>
              </a:rPr>
              <a:t>= 4 · 4 · · · 4 = 410 = 1,048,576</a:t>
            </a:r>
          </a:p>
        </p:txBody>
      </p:sp>
      <p:cxnSp>
        <p:nvCxnSpPr>
          <p:cNvPr id="72" name="Straight Arrow Connector 71">
            <a:extLst>
              <a:ext uri="{FF2B5EF4-FFF2-40B4-BE49-F238E27FC236}">
                <a16:creationId xmlns:a16="http://schemas.microsoft.com/office/drawing/2014/main" id="{8ECBA65A-B14B-445D-83E6-E279BC5E6F9C}"/>
              </a:ext>
            </a:extLst>
          </p:cNvPr>
          <p:cNvCxnSpPr>
            <a:cxnSpLocks/>
          </p:cNvCxnSpPr>
          <p:nvPr/>
        </p:nvCxnSpPr>
        <p:spPr>
          <a:xfrm>
            <a:off x="1292087" y="1828800"/>
            <a:ext cx="1689652" cy="78519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DF7B541-A056-4B7A-9F80-47437A95E9A2}"/>
              </a:ext>
            </a:extLst>
          </p:cNvPr>
          <p:cNvCxnSpPr>
            <a:cxnSpLocks/>
          </p:cNvCxnSpPr>
          <p:nvPr/>
        </p:nvCxnSpPr>
        <p:spPr>
          <a:xfrm>
            <a:off x="3193876" y="2613991"/>
            <a:ext cx="1578561" cy="1376447"/>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B38BBB2-DBDA-4A0B-A718-16F21B94C0C2}"/>
              </a:ext>
            </a:extLst>
          </p:cNvPr>
          <p:cNvCxnSpPr>
            <a:cxnSpLocks/>
          </p:cNvCxnSpPr>
          <p:nvPr/>
        </p:nvCxnSpPr>
        <p:spPr>
          <a:xfrm flipV="1">
            <a:off x="4951022" y="2613991"/>
            <a:ext cx="1593968" cy="1333806"/>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E28F865-2CAB-4515-97F6-24339E814332}"/>
              </a:ext>
            </a:extLst>
          </p:cNvPr>
          <p:cNvCxnSpPr>
            <a:cxnSpLocks/>
          </p:cNvCxnSpPr>
          <p:nvPr/>
        </p:nvCxnSpPr>
        <p:spPr>
          <a:xfrm>
            <a:off x="6712538" y="2589811"/>
            <a:ext cx="770179" cy="24180"/>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16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P spid="65" grpId="0"/>
      <p:bldP spid="66" grpId="0"/>
      <p:bldP spid="68" grpId="0"/>
      <p:bldP spid="6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2</a:t>
            </a:r>
          </a:p>
        </p:txBody>
      </p:sp>
      <p:grpSp>
        <p:nvGrpSpPr>
          <p:cNvPr id="19" name="Group 18">
            <a:extLst>
              <a:ext uri="{FF2B5EF4-FFF2-40B4-BE49-F238E27FC236}">
                <a16:creationId xmlns:a16="http://schemas.microsoft.com/office/drawing/2014/main" id="{BC2744AF-DF1B-430D-8EF0-A6A92BDB0371}"/>
              </a:ext>
            </a:extLst>
          </p:cNvPr>
          <p:cNvGrpSpPr/>
          <p:nvPr/>
        </p:nvGrpSpPr>
        <p:grpSpPr>
          <a:xfrm>
            <a:off x="399489" y="1570383"/>
            <a:ext cx="8744511" cy="2798360"/>
            <a:chOff x="399489" y="1570383"/>
            <a:chExt cx="8744511" cy="2798360"/>
          </a:xfrm>
        </p:grpSpPr>
        <p:sp>
          <p:nvSpPr>
            <p:cNvPr id="4" name="Oval 3">
              <a:extLst>
                <a:ext uri="{FF2B5EF4-FFF2-40B4-BE49-F238E27FC236}">
                  <a16:creationId xmlns:a16="http://schemas.microsoft.com/office/drawing/2014/main" id="{B6D8E14C-CD62-4FE5-951F-CD76A9BEB72A}"/>
                </a:ext>
              </a:extLst>
            </p:cNvPr>
            <p:cNvSpPr/>
            <p:nvPr/>
          </p:nvSpPr>
          <p:spPr>
            <a:xfrm>
              <a:off x="399489" y="1643987"/>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BBCA0B8-CE48-4C09-AF16-F46B729BFD00}"/>
                </a:ext>
              </a:extLst>
            </p:cNvPr>
            <p:cNvSpPr txBox="1"/>
            <p:nvPr/>
          </p:nvSpPr>
          <p:spPr>
            <a:xfrm>
              <a:off x="913865" y="1570383"/>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0" name="Oval 9">
              <a:extLst>
                <a:ext uri="{FF2B5EF4-FFF2-40B4-BE49-F238E27FC236}">
                  <a16:creationId xmlns:a16="http://schemas.microsoft.com/office/drawing/2014/main" id="{1987709F-06EA-49A4-B53A-67E52EF29F96}"/>
                </a:ext>
              </a:extLst>
            </p:cNvPr>
            <p:cNvSpPr/>
            <p:nvPr/>
          </p:nvSpPr>
          <p:spPr>
            <a:xfrm>
              <a:off x="2359314" y="1607185"/>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2146641-E43A-4378-9CED-B9A94C2F41A7}"/>
                </a:ext>
              </a:extLst>
            </p:cNvPr>
            <p:cNvSpPr txBox="1"/>
            <p:nvPr/>
          </p:nvSpPr>
          <p:spPr>
            <a:xfrm>
              <a:off x="2879889" y="1607185"/>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2" name="Oval 11">
              <a:extLst>
                <a:ext uri="{FF2B5EF4-FFF2-40B4-BE49-F238E27FC236}">
                  <a16:creationId xmlns:a16="http://schemas.microsoft.com/office/drawing/2014/main" id="{14A27FD0-CE5C-4EBD-AB5F-A1FF26C3F027}"/>
                </a:ext>
              </a:extLst>
            </p:cNvPr>
            <p:cNvSpPr/>
            <p:nvPr/>
          </p:nvSpPr>
          <p:spPr>
            <a:xfrm>
              <a:off x="4123188" y="1570383"/>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B844F20-0097-4CA9-9965-EF0609F530EC}"/>
                </a:ext>
              </a:extLst>
            </p:cNvPr>
            <p:cNvSpPr txBox="1"/>
            <p:nvPr/>
          </p:nvSpPr>
          <p:spPr>
            <a:xfrm>
              <a:off x="4643763" y="1570383"/>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4" name="Oval 13">
              <a:extLst>
                <a:ext uri="{FF2B5EF4-FFF2-40B4-BE49-F238E27FC236}">
                  <a16:creationId xmlns:a16="http://schemas.microsoft.com/office/drawing/2014/main" id="{ACDFA6A8-62D4-48F2-AD8C-2EFC33D98910}"/>
                </a:ext>
              </a:extLst>
            </p:cNvPr>
            <p:cNvSpPr/>
            <p:nvPr/>
          </p:nvSpPr>
          <p:spPr>
            <a:xfrm>
              <a:off x="5914793" y="1607185"/>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B0D115B-AF56-4758-9078-DC183393656F}"/>
                </a:ext>
              </a:extLst>
            </p:cNvPr>
            <p:cNvSpPr txBox="1"/>
            <p:nvPr/>
          </p:nvSpPr>
          <p:spPr>
            <a:xfrm>
              <a:off x="6435368" y="1607185"/>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6" name="Oval 15">
              <a:extLst>
                <a:ext uri="{FF2B5EF4-FFF2-40B4-BE49-F238E27FC236}">
                  <a16:creationId xmlns:a16="http://schemas.microsoft.com/office/drawing/2014/main" id="{BEB6A16F-24BA-49BB-BECC-8E6D5A5A1C93}"/>
                </a:ext>
              </a:extLst>
            </p:cNvPr>
            <p:cNvSpPr/>
            <p:nvPr/>
          </p:nvSpPr>
          <p:spPr>
            <a:xfrm>
              <a:off x="8104498" y="1680789"/>
              <a:ext cx="1039502"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E849C787-AB48-49F8-83DC-1FE82EB27EE6}"/>
                </a:ext>
              </a:extLst>
            </p:cNvPr>
            <p:cNvSpPr txBox="1"/>
            <p:nvPr/>
          </p:nvSpPr>
          <p:spPr>
            <a:xfrm>
              <a:off x="8376171" y="1691087"/>
              <a:ext cx="526774" cy="2677656"/>
            </a:xfrm>
            <a:prstGeom prst="rect">
              <a:avLst/>
            </a:prstGeom>
            <a:noFill/>
          </p:spPr>
          <p:txBody>
            <a:bodyPr wrap="square" rtlCol="0">
              <a:spAutoFit/>
            </a:bodyPr>
            <a:lstStyle/>
            <a:p>
              <a:r>
                <a:rPr lang="en-IN" sz="2400" dirty="0">
                  <a:solidFill>
                    <a:srgbClr val="FFFF00"/>
                  </a:solidFill>
                </a:rPr>
                <a:t>A</a:t>
              </a:r>
            </a:p>
            <a:p>
              <a:endParaRPr lang="en-IN" sz="2400" dirty="0">
                <a:solidFill>
                  <a:srgbClr val="FFFF00"/>
                </a:solidFill>
              </a:endParaRPr>
            </a:p>
            <a:p>
              <a:r>
                <a:rPr lang="en-IN" sz="2400" dirty="0">
                  <a:solidFill>
                    <a:srgbClr val="FFFF00"/>
                  </a:solidFill>
                </a:rPr>
                <a:t>B</a:t>
              </a:r>
            </a:p>
            <a:p>
              <a:endParaRPr lang="en-IN" sz="2400" dirty="0">
                <a:solidFill>
                  <a:srgbClr val="FFFF00"/>
                </a:solidFill>
              </a:endParaRPr>
            </a:p>
            <a:p>
              <a:r>
                <a:rPr lang="en-IN" sz="2400" dirty="0">
                  <a:solidFill>
                    <a:srgbClr val="FFFF00"/>
                  </a:solidFill>
                </a:rPr>
                <a:t>C</a:t>
              </a:r>
            </a:p>
            <a:p>
              <a:endParaRPr lang="en-IN" sz="2400" dirty="0">
                <a:solidFill>
                  <a:srgbClr val="FFFF00"/>
                </a:solidFill>
              </a:endParaRPr>
            </a:p>
            <a:p>
              <a:r>
                <a:rPr lang="en-IN" sz="2400" dirty="0">
                  <a:solidFill>
                    <a:srgbClr val="FFFF00"/>
                  </a:solidFill>
                </a:rPr>
                <a:t>D</a:t>
              </a:r>
            </a:p>
          </p:txBody>
        </p:sp>
        <p:sp>
          <p:nvSpPr>
            <p:cNvPr id="18" name="TextBox 17">
              <a:extLst>
                <a:ext uri="{FF2B5EF4-FFF2-40B4-BE49-F238E27FC236}">
                  <a16:creationId xmlns:a16="http://schemas.microsoft.com/office/drawing/2014/main" id="{7019C571-084A-4292-BBC1-F9BA3183B73A}"/>
                </a:ext>
              </a:extLst>
            </p:cNvPr>
            <p:cNvSpPr txBox="1"/>
            <p:nvPr/>
          </p:nvSpPr>
          <p:spPr>
            <a:xfrm>
              <a:off x="7434470" y="2613991"/>
              <a:ext cx="670028" cy="492443"/>
            </a:xfrm>
            <a:prstGeom prst="rect">
              <a:avLst/>
            </a:prstGeom>
            <a:noFill/>
          </p:spPr>
          <p:txBody>
            <a:bodyPr wrap="square" rtlCol="0">
              <a:spAutoFit/>
            </a:bodyPr>
            <a:lstStyle/>
            <a:p>
              <a:r>
                <a:rPr lang="en-IN" sz="2600" dirty="0"/>
                <a:t>…….</a:t>
              </a:r>
            </a:p>
          </p:txBody>
        </p:sp>
      </p:grpSp>
      <p:sp>
        <p:nvSpPr>
          <p:cNvPr id="20" name="TextBox 19">
            <a:extLst>
              <a:ext uri="{FF2B5EF4-FFF2-40B4-BE49-F238E27FC236}">
                <a16:creationId xmlns:a16="http://schemas.microsoft.com/office/drawing/2014/main" id="{66229A85-78FE-483A-B3C6-FD31816A7B2A}"/>
              </a:ext>
            </a:extLst>
          </p:cNvPr>
          <p:cNvSpPr txBox="1"/>
          <p:nvPr/>
        </p:nvSpPr>
        <p:spPr>
          <a:xfrm>
            <a:off x="546652" y="4372181"/>
            <a:ext cx="8504904" cy="492443"/>
          </a:xfrm>
          <a:prstGeom prst="rect">
            <a:avLst/>
          </a:prstGeom>
          <a:noFill/>
        </p:spPr>
        <p:txBody>
          <a:bodyPr wrap="square" rtlCol="0">
            <a:spAutoFit/>
          </a:bodyPr>
          <a:lstStyle/>
          <a:p>
            <a:r>
              <a:rPr lang="en-IN" sz="2600" dirty="0">
                <a:solidFill>
                  <a:srgbClr val="FF0000"/>
                </a:solidFill>
              </a:rPr>
              <a:t>Q1					Q2				Q3				Q4	…….		Q10</a:t>
            </a:r>
          </a:p>
        </p:txBody>
      </p:sp>
      <p:cxnSp>
        <p:nvCxnSpPr>
          <p:cNvPr id="22" name="Straight Arrow Connector 21">
            <a:extLst>
              <a:ext uri="{FF2B5EF4-FFF2-40B4-BE49-F238E27FC236}">
                <a16:creationId xmlns:a16="http://schemas.microsoft.com/office/drawing/2014/main" id="{1C44647B-89D5-4A7C-978C-2CCFA6FF4FEB}"/>
              </a:ext>
            </a:extLst>
          </p:cNvPr>
          <p:cNvCxnSpPr/>
          <p:nvPr/>
        </p:nvCxnSpPr>
        <p:spPr>
          <a:xfrm>
            <a:off x="1292087" y="1828800"/>
            <a:ext cx="1587802"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D8ABF39-5C5C-4BED-8B36-CE4FC22BEE68}"/>
              </a:ext>
            </a:extLst>
          </p:cNvPr>
          <p:cNvCxnSpPr>
            <a:cxnSpLocks/>
          </p:cNvCxnSpPr>
          <p:nvPr/>
        </p:nvCxnSpPr>
        <p:spPr>
          <a:xfrm>
            <a:off x="1292087" y="1851991"/>
            <a:ext cx="1587802" cy="76200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F996123-A2AF-4FE2-B561-DCB638901972}"/>
              </a:ext>
            </a:extLst>
          </p:cNvPr>
          <p:cNvCxnSpPr>
            <a:cxnSpLocks/>
          </p:cNvCxnSpPr>
          <p:nvPr/>
        </p:nvCxnSpPr>
        <p:spPr>
          <a:xfrm>
            <a:off x="1292087" y="1851991"/>
            <a:ext cx="1587802" cy="143786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15C4C2-ECA6-409D-99D4-A1BF6062FF49}"/>
              </a:ext>
            </a:extLst>
          </p:cNvPr>
          <p:cNvCxnSpPr>
            <a:cxnSpLocks/>
          </p:cNvCxnSpPr>
          <p:nvPr/>
        </p:nvCxnSpPr>
        <p:spPr>
          <a:xfrm>
            <a:off x="1292087" y="1851991"/>
            <a:ext cx="1587802" cy="2163418"/>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D3C2C33-B196-4398-9382-6BC83C64B69F}"/>
              </a:ext>
            </a:extLst>
          </p:cNvPr>
          <p:cNvCxnSpPr/>
          <p:nvPr/>
        </p:nvCxnSpPr>
        <p:spPr>
          <a:xfrm>
            <a:off x="3183835" y="1842052"/>
            <a:ext cx="1587802"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32A0D80-FD13-47F7-9AA6-3AC0D02DD1C5}"/>
              </a:ext>
            </a:extLst>
          </p:cNvPr>
          <p:cNvCxnSpPr>
            <a:cxnSpLocks/>
          </p:cNvCxnSpPr>
          <p:nvPr/>
        </p:nvCxnSpPr>
        <p:spPr>
          <a:xfrm>
            <a:off x="3183835" y="1865243"/>
            <a:ext cx="1587802" cy="76200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95C3247-4565-47A4-B358-9CBF742B9F48}"/>
              </a:ext>
            </a:extLst>
          </p:cNvPr>
          <p:cNvCxnSpPr>
            <a:cxnSpLocks/>
          </p:cNvCxnSpPr>
          <p:nvPr/>
        </p:nvCxnSpPr>
        <p:spPr>
          <a:xfrm>
            <a:off x="3183835" y="1865243"/>
            <a:ext cx="1587802" cy="143786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843D9F3-8B36-4D6A-B247-B0C3FF3C6F35}"/>
              </a:ext>
            </a:extLst>
          </p:cNvPr>
          <p:cNvCxnSpPr>
            <a:cxnSpLocks/>
          </p:cNvCxnSpPr>
          <p:nvPr/>
        </p:nvCxnSpPr>
        <p:spPr>
          <a:xfrm>
            <a:off x="3183835" y="1865243"/>
            <a:ext cx="1587802" cy="2163418"/>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81176AC-82E8-45CE-9C7E-092C359C6EB1}"/>
              </a:ext>
            </a:extLst>
          </p:cNvPr>
          <p:cNvCxnSpPr/>
          <p:nvPr/>
        </p:nvCxnSpPr>
        <p:spPr>
          <a:xfrm>
            <a:off x="4933114" y="1851993"/>
            <a:ext cx="1587802"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C601780-D024-454E-B1CC-79E543A080E4}"/>
              </a:ext>
            </a:extLst>
          </p:cNvPr>
          <p:cNvCxnSpPr>
            <a:cxnSpLocks/>
          </p:cNvCxnSpPr>
          <p:nvPr/>
        </p:nvCxnSpPr>
        <p:spPr>
          <a:xfrm>
            <a:off x="4933114" y="1875184"/>
            <a:ext cx="1587802" cy="76200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280F03E-1BB8-41ED-B9E1-1E1A9066A74D}"/>
              </a:ext>
            </a:extLst>
          </p:cNvPr>
          <p:cNvCxnSpPr>
            <a:cxnSpLocks/>
          </p:cNvCxnSpPr>
          <p:nvPr/>
        </p:nvCxnSpPr>
        <p:spPr>
          <a:xfrm>
            <a:off x="4933114" y="1875184"/>
            <a:ext cx="1587802" cy="143786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0299268-FB00-49D2-9F76-153931872D48}"/>
              </a:ext>
            </a:extLst>
          </p:cNvPr>
          <p:cNvCxnSpPr>
            <a:cxnSpLocks/>
          </p:cNvCxnSpPr>
          <p:nvPr/>
        </p:nvCxnSpPr>
        <p:spPr>
          <a:xfrm>
            <a:off x="4933114" y="1875184"/>
            <a:ext cx="1587802" cy="2163418"/>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473DE15-0750-4531-BCD2-84E252DCF413}"/>
              </a:ext>
            </a:extLst>
          </p:cNvPr>
          <p:cNvCxnSpPr>
            <a:cxnSpLocks/>
          </p:cNvCxnSpPr>
          <p:nvPr/>
        </p:nvCxnSpPr>
        <p:spPr>
          <a:xfrm flipV="1">
            <a:off x="1292087" y="1934818"/>
            <a:ext cx="1587802" cy="56984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A7DC762-9D7A-44EC-A334-0E005468906C}"/>
              </a:ext>
            </a:extLst>
          </p:cNvPr>
          <p:cNvCxnSpPr>
            <a:cxnSpLocks/>
          </p:cNvCxnSpPr>
          <p:nvPr/>
        </p:nvCxnSpPr>
        <p:spPr>
          <a:xfrm>
            <a:off x="1292087" y="2504661"/>
            <a:ext cx="1590261" cy="59635"/>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B9D35C4-B1BE-4C19-B626-1CD59AD42DF8}"/>
              </a:ext>
            </a:extLst>
          </p:cNvPr>
          <p:cNvCxnSpPr>
            <a:cxnSpLocks/>
          </p:cNvCxnSpPr>
          <p:nvPr/>
        </p:nvCxnSpPr>
        <p:spPr>
          <a:xfrm>
            <a:off x="1292087" y="2504661"/>
            <a:ext cx="1587802" cy="78519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12F2C31-7921-4241-8908-FF9E39BFED32}"/>
              </a:ext>
            </a:extLst>
          </p:cNvPr>
          <p:cNvCxnSpPr>
            <a:cxnSpLocks/>
          </p:cNvCxnSpPr>
          <p:nvPr/>
        </p:nvCxnSpPr>
        <p:spPr>
          <a:xfrm>
            <a:off x="1292087" y="2504661"/>
            <a:ext cx="1587802" cy="1441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C1A8FA9-C2DF-4878-AE7F-C107C6452886}"/>
              </a:ext>
            </a:extLst>
          </p:cNvPr>
          <p:cNvCxnSpPr>
            <a:cxnSpLocks/>
          </p:cNvCxnSpPr>
          <p:nvPr/>
        </p:nvCxnSpPr>
        <p:spPr>
          <a:xfrm flipV="1">
            <a:off x="3183835" y="2007706"/>
            <a:ext cx="1587802" cy="56984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3B5E0C3-5603-4686-99D1-224733EF3FD8}"/>
              </a:ext>
            </a:extLst>
          </p:cNvPr>
          <p:cNvCxnSpPr>
            <a:cxnSpLocks/>
          </p:cNvCxnSpPr>
          <p:nvPr/>
        </p:nvCxnSpPr>
        <p:spPr>
          <a:xfrm>
            <a:off x="3183835" y="2577549"/>
            <a:ext cx="1590261" cy="59635"/>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21E445D-8D0E-48E0-ACF4-E5053EF63FA5}"/>
              </a:ext>
            </a:extLst>
          </p:cNvPr>
          <p:cNvCxnSpPr>
            <a:cxnSpLocks/>
          </p:cNvCxnSpPr>
          <p:nvPr/>
        </p:nvCxnSpPr>
        <p:spPr>
          <a:xfrm>
            <a:off x="3183835" y="2577549"/>
            <a:ext cx="1587802" cy="78519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178149B-980B-4C34-B347-4601B4673D82}"/>
              </a:ext>
            </a:extLst>
          </p:cNvPr>
          <p:cNvCxnSpPr>
            <a:cxnSpLocks/>
          </p:cNvCxnSpPr>
          <p:nvPr/>
        </p:nvCxnSpPr>
        <p:spPr>
          <a:xfrm>
            <a:off x="3183835" y="2577549"/>
            <a:ext cx="1587802" cy="1441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4318A32-289E-4D14-8389-63BEFAF33127}"/>
              </a:ext>
            </a:extLst>
          </p:cNvPr>
          <p:cNvCxnSpPr>
            <a:cxnSpLocks/>
          </p:cNvCxnSpPr>
          <p:nvPr/>
        </p:nvCxnSpPr>
        <p:spPr>
          <a:xfrm flipV="1">
            <a:off x="4943054" y="1928194"/>
            <a:ext cx="1587802" cy="56984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0729BF1-34A6-4618-8726-45FFED1EB308}"/>
              </a:ext>
            </a:extLst>
          </p:cNvPr>
          <p:cNvCxnSpPr>
            <a:cxnSpLocks/>
          </p:cNvCxnSpPr>
          <p:nvPr/>
        </p:nvCxnSpPr>
        <p:spPr>
          <a:xfrm>
            <a:off x="4943054" y="2498037"/>
            <a:ext cx="1590261" cy="59635"/>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C1922D3-3441-4E66-B0AF-7571B8BCA500}"/>
              </a:ext>
            </a:extLst>
          </p:cNvPr>
          <p:cNvCxnSpPr>
            <a:cxnSpLocks/>
          </p:cNvCxnSpPr>
          <p:nvPr/>
        </p:nvCxnSpPr>
        <p:spPr>
          <a:xfrm>
            <a:off x="4943054" y="2498037"/>
            <a:ext cx="1587802" cy="78519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6456257C-7466-4BF9-8C51-3289A7968FCE}"/>
              </a:ext>
            </a:extLst>
          </p:cNvPr>
          <p:cNvCxnSpPr>
            <a:cxnSpLocks/>
          </p:cNvCxnSpPr>
          <p:nvPr/>
        </p:nvCxnSpPr>
        <p:spPr>
          <a:xfrm>
            <a:off x="4943054" y="2498037"/>
            <a:ext cx="1587802" cy="1441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2DC5BBB-78F7-44D0-A153-AD1418EE5074}"/>
              </a:ext>
            </a:extLst>
          </p:cNvPr>
          <p:cNvCxnSpPr>
            <a:cxnSpLocks/>
          </p:cNvCxnSpPr>
          <p:nvPr/>
        </p:nvCxnSpPr>
        <p:spPr>
          <a:xfrm flipV="1">
            <a:off x="1292087" y="1972040"/>
            <a:ext cx="1562581" cy="131118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8647623-2ECC-468D-A7C8-643F87720FAD}"/>
              </a:ext>
            </a:extLst>
          </p:cNvPr>
          <p:cNvCxnSpPr>
            <a:cxnSpLocks/>
          </p:cNvCxnSpPr>
          <p:nvPr/>
        </p:nvCxnSpPr>
        <p:spPr>
          <a:xfrm flipV="1">
            <a:off x="1295876" y="2557672"/>
            <a:ext cx="1596412" cy="694082"/>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52CDD23E-51F6-4362-BDD9-BF5E52DF22DB}"/>
              </a:ext>
            </a:extLst>
          </p:cNvPr>
          <p:cNvCxnSpPr>
            <a:cxnSpLocks/>
          </p:cNvCxnSpPr>
          <p:nvPr/>
        </p:nvCxnSpPr>
        <p:spPr>
          <a:xfrm>
            <a:off x="1260983" y="3270804"/>
            <a:ext cx="1635339" cy="124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A4BB549-E69C-45DF-AEED-3F905F49145D}"/>
              </a:ext>
            </a:extLst>
          </p:cNvPr>
          <p:cNvCxnSpPr>
            <a:cxnSpLocks/>
          </p:cNvCxnSpPr>
          <p:nvPr/>
        </p:nvCxnSpPr>
        <p:spPr>
          <a:xfrm>
            <a:off x="1289628" y="3289851"/>
            <a:ext cx="1590261" cy="69325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6A119C4-ACFF-466D-BA83-334E7012FF16}"/>
              </a:ext>
            </a:extLst>
          </p:cNvPr>
          <p:cNvCxnSpPr>
            <a:cxnSpLocks/>
          </p:cNvCxnSpPr>
          <p:nvPr/>
        </p:nvCxnSpPr>
        <p:spPr>
          <a:xfrm flipV="1">
            <a:off x="3173896" y="1995233"/>
            <a:ext cx="1562581" cy="131118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AED25674-2F13-403B-A57B-CF15E79F720A}"/>
              </a:ext>
            </a:extLst>
          </p:cNvPr>
          <p:cNvCxnSpPr>
            <a:cxnSpLocks/>
          </p:cNvCxnSpPr>
          <p:nvPr/>
        </p:nvCxnSpPr>
        <p:spPr>
          <a:xfrm flipV="1">
            <a:off x="3177685" y="2580865"/>
            <a:ext cx="1596412" cy="694082"/>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F46D214-AD1B-4B23-B60D-B164DF58FBBA}"/>
              </a:ext>
            </a:extLst>
          </p:cNvPr>
          <p:cNvCxnSpPr>
            <a:cxnSpLocks/>
          </p:cNvCxnSpPr>
          <p:nvPr/>
        </p:nvCxnSpPr>
        <p:spPr>
          <a:xfrm>
            <a:off x="3142792" y="3293997"/>
            <a:ext cx="1635339" cy="124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DB79027-482D-42E6-8FFA-21545CC233A2}"/>
              </a:ext>
            </a:extLst>
          </p:cNvPr>
          <p:cNvCxnSpPr>
            <a:cxnSpLocks/>
          </p:cNvCxnSpPr>
          <p:nvPr/>
        </p:nvCxnSpPr>
        <p:spPr>
          <a:xfrm>
            <a:off x="3171437" y="3313044"/>
            <a:ext cx="1590261" cy="69325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BF97C5B-5606-4294-896F-FC23BE105050}"/>
              </a:ext>
            </a:extLst>
          </p:cNvPr>
          <p:cNvCxnSpPr>
            <a:cxnSpLocks/>
          </p:cNvCxnSpPr>
          <p:nvPr/>
        </p:nvCxnSpPr>
        <p:spPr>
          <a:xfrm flipV="1">
            <a:off x="4923176" y="1975355"/>
            <a:ext cx="1562581" cy="131118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9128813C-0017-4CC5-ADD7-227BE2C48083}"/>
              </a:ext>
            </a:extLst>
          </p:cNvPr>
          <p:cNvCxnSpPr>
            <a:cxnSpLocks/>
          </p:cNvCxnSpPr>
          <p:nvPr/>
        </p:nvCxnSpPr>
        <p:spPr>
          <a:xfrm flipV="1">
            <a:off x="4926965" y="2560987"/>
            <a:ext cx="1596412" cy="694082"/>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E3A3C32-2FB9-4074-B4D3-00F976F98DA6}"/>
              </a:ext>
            </a:extLst>
          </p:cNvPr>
          <p:cNvCxnSpPr>
            <a:cxnSpLocks/>
          </p:cNvCxnSpPr>
          <p:nvPr/>
        </p:nvCxnSpPr>
        <p:spPr>
          <a:xfrm>
            <a:off x="4892072" y="3274119"/>
            <a:ext cx="1635339" cy="124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2548BF2D-3737-4FF3-BCE3-3932EC6DADF0}"/>
              </a:ext>
            </a:extLst>
          </p:cNvPr>
          <p:cNvCxnSpPr>
            <a:cxnSpLocks/>
          </p:cNvCxnSpPr>
          <p:nvPr/>
        </p:nvCxnSpPr>
        <p:spPr>
          <a:xfrm>
            <a:off x="4920717" y="3293166"/>
            <a:ext cx="1590261" cy="69325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2054A4CF-B316-4C7C-A3C8-841A5203C0F2}"/>
              </a:ext>
            </a:extLst>
          </p:cNvPr>
          <p:cNvCxnSpPr>
            <a:cxnSpLocks/>
          </p:cNvCxnSpPr>
          <p:nvPr/>
        </p:nvCxnSpPr>
        <p:spPr>
          <a:xfrm flipV="1">
            <a:off x="1283133" y="2007706"/>
            <a:ext cx="1561597" cy="19415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83007B2F-EA50-46F5-BFFE-6CE12497C60A}"/>
              </a:ext>
            </a:extLst>
          </p:cNvPr>
          <p:cNvCxnSpPr>
            <a:cxnSpLocks/>
          </p:cNvCxnSpPr>
          <p:nvPr/>
        </p:nvCxnSpPr>
        <p:spPr>
          <a:xfrm flipV="1">
            <a:off x="1279688" y="2684345"/>
            <a:ext cx="1525973" cy="12548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7FB9B0EF-B913-4BBB-9855-A5CB4B4EB373}"/>
              </a:ext>
            </a:extLst>
          </p:cNvPr>
          <p:cNvCxnSpPr>
            <a:cxnSpLocks/>
          </p:cNvCxnSpPr>
          <p:nvPr/>
        </p:nvCxnSpPr>
        <p:spPr>
          <a:xfrm flipV="1">
            <a:off x="1292431" y="3352802"/>
            <a:ext cx="1558794" cy="5864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7A7A051E-145B-431E-AD6E-A9B90BBA5B1A}"/>
              </a:ext>
            </a:extLst>
          </p:cNvPr>
          <p:cNvCxnSpPr>
            <a:cxnSpLocks/>
          </p:cNvCxnSpPr>
          <p:nvPr/>
        </p:nvCxnSpPr>
        <p:spPr>
          <a:xfrm>
            <a:off x="1292430" y="3983109"/>
            <a:ext cx="1602315" cy="231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2E0238DB-E4BD-4F6C-95A7-8AC2950DEF50}"/>
              </a:ext>
            </a:extLst>
          </p:cNvPr>
          <p:cNvCxnSpPr>
            <a:cxnSpLocks/>
          </p:cNvCxnSpPr>
          <p:nvPr/>
        </p:nvCxnSpPr>
        <p:spPr>
          <a:xfrm flipV="1">
            <a:off x="3174880" y="1991141"/>
            <a:ext cx="1561597" cy="19415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DDE7D0EA-F408-43C6-BDA3-D027593A9406}"/>
              </a:ext>
            </a:extLst>
          </p:cNvPr>
          <p:cNvCxnSpPr>
            <a:cxnSpLocks/>
          </p:cNvCxnSpPr>
          <p:nvPr/>
        </p:nvCxnSpPr>
        <p:spPr>
          <a:xfrm flipV="1">
            <a:off x="3171435" y="2667780"/>
            <a:ext cx="1525973" cy="12548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AA79B30B-6930-4968-BC60-56B6954338DD}"/>
              </a:ext>
            </a:extLst>
          </p:cNvPr>
          <p:cNvCxnSpPr>
            <a:cxnSpLocks/>
          </p:cNvCxnSpPr>
          <p:nvPr/>
        </p:nvCxnSpPr>
        <p:spPr>
          <a:xfrm flipV="1">
            <a:off x="3184178" y="3336237"/>
            <a:ext cx="1558794" cy="5864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3F585D4-4F9C-4493-A13E-12B5164F3D98}"/>
              </a:ext>
            </a:extLst>
          </p:cNvPr>
          <p:cNvCxnSpPr>
            <a:cxnSpLocks/>
          </p:cNvCxnSpPr>
          <p:nvPr/>
        </p:nvCxnSpPr>
        <p:spPr>
          <a:xfrm>
            <a:off x="3184177" y="3966544"/>
            <a:ext cx="1602315" cy="231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9902EBC9-E3EE-4AB6-A7C7-B168AFEBF476}"/>
              </a:ext>
            </a:extLst>
          </p:cNvPr>
          <p:cNvCxnSpPr>
            <a:cxnSpLocks/>
          </p:cNvCxnSpPr>
          <p:nvPr/>
        </p:nvCxnSpPr>
        <p:spPr>
          <a:xfrm flipV="1">
            <a:off x="4944038" y="1941448"/>
            <a:ext cx="1561597" cy="19415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E8D92A4E-7F99-4D6C-81CE-DAEAE7958EB3}"/>
              </a:ext>
            </a:extLst>
          </p:cNvPr>
          <p:cNvCxnSpPr>
            <a:cxnSpLocks/>
          </p:cNvCxnSpPr>
          <p:nvPr/>
        </p:nvCxnSpPr>
        <p:spPr>
          <a:xfrm flipV="1">
            <a:off x="4940593" y="2618087"/>
            <a:ext cx="1525973" cy="12548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53B14234-070B-4928-98C8-CAB8432DBDD8}"/>
              </a:ext>
            </a:extLst>
          </p:cNvPr>
          <p:cNvCxnSpPr>
            <a:cxnSpLocks/>
          </p:cNvCxnSpPr>
          <p:nvPr/>
        </p:nvCxnSpPr>
        <p:spPr>
          <a:xfrm flipV="1">
            <a:off x="4953336" y="3286544"/>
            <a:ext cx="1558794" cy="5864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501D4E59-DE8C-41BC-B35E-5A846121A09A}"/>
              </a:ext>
            </a:extLst>
          </p:cNvPr>
          <p:cNvCxnSpPr>
            <a:cxnSpLocks/>
          </p:cNvCxnSpPr>
          <p:nvPr/>
        </p:nvCxnSpPr>
        <p:spPr>
          <a:xfrm>
            <a:off x="4953335" y="3916851"/>
            <a:ext cx="1602315" cy="231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A1492426-324E-434A-A52B-54D285B0C758}"/>
              </a:ext>
            </a:extLst>
          </p:cNvPr>
          <p:cNvSpPr txBox="1"/>
          <p:nvPr/>
        </p:nvSpPr>
        <p:spPr>
          <a:xfrm>
            <a:off x="520150" y="4792934"/>
            <a:ext cx="8504904" cy="492443"/>
          </a:xfrm>
          <a:prstGeom prst="rect">
            <a:avLst/>
          </a:prstGeom>
          <a:noFill/>
        </p:spPr>
        <p:txBody>
          <a:bodyPr wrap="square" rtlCol="0">
            <a:spAutoFit/>
          </a:bodyPr>
          <a:lstStyle/>
          <a:p>
            <a:r>
              <a:rPr lang="en-IN" sz="2600" dirty="0">
                <a:solidFill>
                  <a:srgbClr val="FF0000"/>
                </a:solidFill>
              </a:rPr>
              <a:t>4ways		 4ways 			 4ways 		 4ways…..4ways</a:t>
            </a:r>
          </a:p>
        </p:txBody>
      </p:sp>
      <p:sp>
        <p:nvSpPr>
          <p:cNvPr id="66" name="TextBox 65">
            <a:extLst>
              <a:ext uri="{FF2B5EF4-FFF2-40B4-BE49-F238E27FC236}">
                <a16:creationId xmlns:a16="http://schemas.microsoft.com/office/drawing/2014/main" id="{35787781-2376-4C65-BC9F-3457D75FEFBF}"/>
              </a:ext>
            </a:extLst>
          </p:cNvPr>
          <p:cNvSpPr txBox="1"/>
          <p:nvPr/>
        </p:nvSpPr>
        <p:spPr>
          <a:xfrm>
            <a:off x="444956" y="5281821"/>
            <a:ext cx="8504904" cy="492443"/>
          </a:xfrm>
          <a:prstGeom prst="rect">
            <a:avLst/>
          </a:prstGeom>
          <a:noFill/>
        </p:spPr>
        <p:txBody>
          <a:bodyPr wrap="square" rtlCol="0">
            <a:spAutoFit/>
          </a:bodyPr>
          <a:lstStyle/>
          <a:p>
            <a:r>
              <a:rPr lang="en-IN" sz="2600" dirty="0">
                <a:solidFill>
                  <a:srgbClr val="FF0000"/>
                </a:solidFill>
              </a:rPr>
              <a:t>= n</a:t>
            </a:r>
            <a:r>
              <a:rPr lang="en-IN" sz="2600" baseline="-25000" dirty="0">
                <a:solidFill>
                  <a:srgbClr val="FF0000"/>
                </a:solidFill>
              </a:rPr>
              <a:t>1</a:t>
            </a:r>
            <a:r>
              <a:rPr lang="en-IN" sz="2600" dirty="0">
                <a:solidFill>
                  <a:srgbClr val="FF0000"/>
                </a:solidFill>
              </a:rPr>
              <a:t>	*		 n</a:t>
            </a:r>
            <a:r>
              <a:rPr lang="en-IN" sz="2600" baseline="-25000" dirty="0">
                <a:solidFill>
                  <a:srgbClr val="FF0000"/>
                </a:solidFill>
              </a:rPr>
              <a:t>2		</a:t>
            </a:r>
            <a:r>
              <a:rPr lang="en-IN" sz="2600" dirty="0">
                <a:solidFill>
                  <a:srgbClr val="FF0000"/>
                </a:solidFill>
              </a:rPr>
              <a:t> * 			 n</a:t>
            </a:r>
            <a:r>
              <a:rPr lang="en-IN" sz="2600" baseline="-25000" dirty="0">
                <a:solidFill>
                  <a:srgbClr val="FF0000"/>
                </a:solidFill>
              </a:rPr>
              <a:t>3</a:t>
            </a:r>
            <a:r>
              <a:rPr lang="en-IN" sz="2600" dirty="0">
                <a:solidFill>
                  <a:srgbClr val="FF0000"/>
                </a:solidFill>
              </a:rPr>
              <a:t> 		 * 	 n</a:t>
            </a:r>
            <a:r>
              <a:rPr lang="en-IN" sz="2600" baseline="-25000" dirty="0">
                <a:solidFill>
                  <a:srgbClr val="FF0000"/>
                </a:solidFill>
              </a:rPr>
              <a:t>4 </a:t>
            </a:r>
            <a:r>
              <a:rPr lang="en-IN" sz="2600" dirty="0">
                <a:solidFill>
                  <a:srgbClr val="FF0000"/>
                </a:solidFill>
              </a:rPr>
              <a:t>…	 * 	.. n</a:t>
            </a:r>
            <a:r>
              <a:rPr lang="en-IN" sz="2600" baseline="-25000" dirty="0">
                <a:solidFill>
                  <a:srgbClr val="FF0000"/>
                </a:solidFill>
              </a:rPr>
              <a:t>10</a:t>
            </a:r>
            <a:endParaRPr lang="en-IN" sz="2600" dirty="0">
              <a:solidFill>
                <a:srgbClr val="FF0000"/>
              </a:solidFill>
            </a:endParaRPr>
          </a:p>
        </p:txBody>
      </p:sp>
      <p:sp>
        <p:nvSpPr>
          <p:cNvPr id="68" name="TextBox 67">
            <a:extLst>
              <a:ext uri="{FF2B5EF4-FFF2-40B4-BE49-F238E27FC236}">
                <a16:creationId xmlns:a16="http://schemas.microsoft.com/office/drawing/2014/main" id="{1B8F4CC5-F7EF-4DE3-BD90-EA6D5F70FB12}"/>
              </a:ext>
            </a:extLst>
          </p:cNvPr>
          <p:cNvSpPr txBox="1"/>
          <p:nvPr/>
        </p:nvSpPr>
        <p:spPr>
          <a:xfrm>
            <a:off x="393290" y="5861378"/>
            <a:ext cx="8504904" cy="492443"/>
          </a:xfrm>
          <a:prstGeom prst="rect">
            <a:avLst/>
          </a:prstGeom>
          <a:noFill/>
        </p:spPr>
        <p:txBody>
          <a:bodyPr wrap="square" rtlCol="0">
            <a:spAutoFit/>
          </a:bodyPr>
          <a:lstStyle/>
          <a:p>
            <a:r>
              <a:rPr lang="en-IN" sz="2600" dirty="0">
                <a:solidFill>
                  <a:srgbClr val="FF0000"/>
                </a:solidFill>
              </a:rPr>
              <a:t>= 4	*			 4</a:t>
            </a:r>
            <a:r>
              <a:rPr lang="en-IN" sz="2600" baseline="-25000" dirty="0">
                <a:solidFill>
                  <a:srgbClr val="FF0000"/>
                </a:solidFill>
              </a:rPr>
              <a:t>		</a:t>
            </a:r>
            <a:r>
              <a:rPr lang="en-IN" sz="2600" dirty="0">
                <a:solidFill>
                  <a:srgbClr val="FF0000"/>
                </a:solidFill>
              </a:rPr>
              <a:t> * 			 4 		 * 		 4</a:t>
            </a:r>
            <a:r>
              <a:rPr lang="en-IN" sz="2600" baseline="-25000" dirty="0">
                <a:solidFill>
                  <a:srgbClr val="FF0000"/>
                </a:solidFill>
              </a:rPr>
              <a:t> </a:t>
            </a:r>
            <a:r>
              <a:rPr lang="en-IN" sz="2600" dirty="0">
                <a:solidFill>
                  <a:srgbClr val="FF0000"/>
                </a:solidFill>
              </a:rPr>
              <a:t>…	 * 	.. 4</a:t>
            </a:r>
          </a:p>
        </p:txBody>
      </p:sp>
      <p:sp>
        <p:nvSpPr>
          <p:cNvPr id="69" name="TextBox 68">
            <a:extLst>
              <a:ext uri="{FF2B5EF4-FFF2-40B4-BE49-F238E27FC236}">
                <a16:creationId xmlns:a16="http://schemas.microsoft.com/office/drawing/2014/main" id="{00EE2057-896A-40DA-B13C-F6D3DC022B4C}"/>
              </a:ext>
            </a:extLst>
          </p:cNvPr>
          <p:cNvSpPr txBox="1"/>
          <p:nvPr/>
        </p:nvSpPr>
        <p:spPr>
          <a:xfrm>
            <a:off x="545690" y="6212558"/>
            <a:ext cx="8504904" cy="492443"/>
          </a:xfrm>
          <a:prstGeom prst="rect">
            <a:avLst/>
          </a:prstGeom>
          <a:noFill/>
        </p:spPr>
        <p:txBody>
          <a:bodyPr wrap="square" rtlCol="0">
            <a:spAutoFit/>
          </a:bodyPr>
          <a:lstStyle/>
          <a:p>
            <a:r>
              <a:rPr lang="en-IN" sz="2600" dirty="0">
                <a:solidFill>
                  <a:srgbClr val="FF0000"/>
                </a:solidFill>
              </a:rPr>
              <a:t>= 4 · 4 · · · 4 = 410 = 1,048,576</a:t>
            </a:r>
          </a:p>
        </p:txBody>
      </p:sp>
    </p:spTree>
    <p:extLst>
      <p:ext uri="{BB962C8B-B14F-4D97-AF65-F5344CB8AC3E}">
        <p14:creationId xmlns:p14="http://schemas.microsoft.com/office/powerpoint/2010/main" val="100797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7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8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8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8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8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95"/>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98"/>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0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0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0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10"/>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11"/>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1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13"/>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14"/>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15"/>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65"/>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6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68"/>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P spid="65" grpId="0"/>
      <p:bldP spid="66" grpId="0"/>
      <p:bldP spid="68" grpId="0"/>
      <p:bldP spid="6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3</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lnSpcReduction="10000"/>
          </a:bodyPr>
          <a:lstStyle/>
          <a:p>
            <a:pPr marL="0" indent="0">
              <a:buNone/>
            </a:pPr>
            <a:r>
              <a:rPr lang="en-US" b="1" dirty="0"/>
              <a:t>Ques:- </a:t>
            </a:r>
            <a:r>
              <a:rPr lang="en-US" dirty="0"/>
              <a:t>A multiple-choice test contains 10 questions. There are four possible answers for each question. In how many ways can a student answer the questions on the test if the student can leave answers blank?</a:t>
            </a:r>
          </a:p>
          <a:p>
            <a:pPr marL="0" indent="0">
              <a:buNone/>
            </a:pPr>
            <a:endParaRPr lang="en-US" b="1" dirty="0"/>
          </a:p>
          <a:p>
            <a:pPr marL="0" indent="0">
              <a:buNone/>
            </a:pPr>
            <a:r>
              <a:rPr lang="en-US" b="1" dirty="0"/>
              <a:t>Sol:-</a:t>
            </a:r>
            <a:r>
              <a:rPr lang="en-IN" dirty="0"/>
              <a:t> 5 · 5 · · · 5 = 5</a:t>
            </a:r>
            <a:r>
              <a:rPr lang="en-IN" baseline="30000" dirty="0"/>
              <a:t>10</a:t>
            </a:r>
            <a:r>
              <a:rPr lang="en-IN" dirty="0"/>
              <a:t> = </a:t>
            </a:r>
            <a:r>
              <a:rPr lang="en-US" dirty="0"/>
              <a:t>9, 765,625</a:t>
            </a:r>
          </a:p>
          <a:p>
            <a:pPr marL="0" indent="0">
              <a:buNone/>
            </a:pPr>
            <a:r>
              <a:rPr lang="en-US" dirty="0"/>
              <a:t>Possible ways are a, b, c, b, blank, d, a, b, d, b etc. </a:t>
            </a:r>
            <a:endParaRPr lang="en-IN" dirty="0"/>
          </a:p>
        </p:txBody>
      </p:sp>
    </p:spTree>
    <p:extLst>
      <p:ext uri="{BB962C8B-B14F-4D97-AF65-F5344CB8AC3E}">
        <p14:creationId xmlns:p14="http://schemas.microsoft.com/office/powerpoint/2010/main" val="1165185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2</a:t>
            </a:r>
          </a:p>
        </p:txBody>
      </p:sp>
      <p:grpSp>
        <p:nvGrpSpPr>
          <p:cNvPr id="19" name="Group 18">
            <a:extLst>
              <a:ext uri="{FF2B5EF4-FFF2-40B4-BE49-F238E27FC236}">
                <a16:creationId xmlns:a16="http://schemas.microsoft.com/office/drawing/2014/main" id="{BC2744AF-DF1B-430D-8EF0-A6A92BDB0371}"/>
              </a:ext>
            </a:extLst>
          </p:cNvPr>
          <p:cNvGrpSpPr/>
          <p:nvPr/>
        </p:nvGrpSpPr>
        <p:grpSpPr>
          <a:xfrm>
            <a:off x="399489" y="1192695"/>
            <a:ext cx="8744511" cy="3306907"/>
            <a:chOff x="399489" y="1570383"/>
            <a:chExt cx="8744511" cy="2714458"/>
          </a:xfrm>
        </p:grpSpPr>
        <p:sp>
          <p:nvSpPr>
            <p:cNvPr id="4" name="Oval 3">
              <a:extLst>
                <a:ext uri="{FF2B5EF4-FFF2-40B4-BE49-F238E27FC236}">
                  <a16:creationId xmlns:a16="http://schemas.microsoft.com/office/drawing/2014/main" id="{B6D8E14C-CD62-4FE5-951F-CD76A9BEB72A}"/>
                </a:ext>
              </a:extLst>
            </p:cNvPr>
            <p:cNvSpPr/>
            <p:nvPr/>
          </p:nvSpPr>
          <p:spPr>
            <a:xfrm>
              <a:off x="399489" y="1643987"/>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BBCA0B8-CE48-4C09-AF16-F46B729BFD00}"/>
                </a:ext>
              </a:extLst>
            </p:cNvPr>
            <p:cNvSpPr txBox="1"/>
            <p:nvPr/>
          </p:nvSpPr>
          <p:spPr>
            <a:xfrm>
              <a:off x="691620" y="1602214"/>
              <a:ext cx="889019" cy="2450578"/>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endParaRPr lang="en-IN" sz="2400" dirty="0">
                <a:solidFill>
                  <a:srgbClr val="FFFF00"/>
                </a:solidFill>
              </a:endParaRPr>
            </a:p>
            <a:p>
              <a:pPr algn="ctr"/>
              <a:r>
                <a:rPr lang="en-IN" sz="2400" dirty="0">
                  <a:solidFill>
                    <a:srgbClr val="FFFF00"/>
                  </a:solidFill>
                </a:rPr>
                <a:t>D</a:t>
              </a:r>
            </a:p>
            <a:p>
              <a:pPr algn="ctr"/>
              <a:r>
                <a:rPr lang="en-IN" sz="2000" dirty="0">
                  <a:solidFill>
                    <a:srgbClr val="FFFF00"/>
                  </a:solidFill>
                </a:rPr>
                <a:t>Blank</a:t>
              </a:r>
            </a:p>
          </p:txBody>
        </p:sp>
        <p:sp>
          <p:nvSpPr>
            <p:cNvPr id="10" name="Oval 9">
              <a:extLst>
                <a:ext uri="{FF2B5EF4-FFF2-40B4-BE49-F238E27FC236}">
                  <a16:creationId xmlns:a16="http://schemas.microsoft.com/office/drawing/2014/main" id="{1987709F-06EA-49A4-B53A-67E52EF29F96}"/>
                </a:ext>
              </a:extLst>
            </p:cNvPr>
            <p:cNvSpPr/>
            <p:nvPr/>
          </p:nvSpPr>
          <p:spPr>
            <a:xfrm>
              <a:off x="2359314" y="1607185"/>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14A27FD0-CE5C-4EBD-AB5F-A1FF26C3F027}"/>
                </a:ext>
              </a:extLst>
            </p:cNvPr>
            <p:cNvSpPr/>
            <p:nvPr/>
          </p:nvSpPr>
          <p:spPr>
            <a:xfrm>
              <a:off x="4123188" y="1570383"/>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CDFA6A8-62D4-48F2-AD8C-2EFC33D98910}"/>
                </a:ext>
              </a:extLst>
            </p:cNvPr>
            <p:cNvSpPr/>
            <p:nvPr/>
          </p:nvSpPr>
          <p:spPr>
            <a:xfrm>
              <a:off x="5914793" y="1607185"/>
              <a:ext cx="1445449"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BEB6A16F-24BA-49BB-BECC-8E6D5A5A1C93}"/>
                </a:ext>
              </a:extLst>
            </p:cNvPr>
            <p:cNvSpPr/>
            <p:nvPr/>
          </p:nvSpPr>
          <p:spPr>
            <a:xfrm>
              <a:off x="8104498" y="1680789"/>
              <a:ext cx="1039502" cy="2604052"/>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7019C571-084A-4292-BBC1-F9BA3183B73A}"/>
                </a:ext>
              </a:extLst>
            </p:cNvPr>
            <p:cNvSpPr txBox="1"/>
            <p:nvPr/>
          </p:nvSpPr>
          <p:spPr>
            <a:xfrm>
              <a:off x="7434470" y="2613991"/>
              <a:ext cx="670028" cy="492443"/>
            </a:xfrm>
            <a:prstGeom prst="rect">
              <a:avLst/>
            </a:prstGeom>
            <a:noFill/>
          </p:spPr>
          <p:txBody>
            <a:bodyPr wrap="square" rtlCol="0">
              <a:spAutoFit/>
            </a:bodyPr>
            <a:lstStyle/>
            <a:p>
              <a:r>
                <a:rPr lang="en-IN" sz="2600" dirty="0"/>
                <a:t>…….</a:t>
              </a:r>
            </a:p>
          </p:txBody>
        </p:sp>
      </p:grpSp>
      <p:sp>
        <p:nvSpPr>
          <p:cNvPr id="20" name="TextBox 19">
            <a:extLst>
              <a:ext uri="{FF2B5EF4-FFF2-40B4-BE49-F238E27FC236}">
                <a16:creationId xmlns:a16="http://schemas.microsoft.com/office/drawing/2014/main" id="{66229A85-78FE-483A-B3C6-FD31816A7B2A}"/>
              </a:ext>
            </a:extLst>
          </p:cNvPr>
          <p:cNvSpPr txBox="1"/>
          <p:nvPr/>
        </p:nvSpPr>
        <p:spPr>
          <a:xfrm>
            <a:off x="546652" y="4372181"/>
            <a:ext cx="8504904" cy="492443"/>
          </a:xfrm>
          <a:prstGeom prst="rect">
            <a:avLst/>
          </a:prstGeom>
          <a:noFill/>
        </p:spPr>
        <p:txBody>
          <a:bodyPr wrap="square" rtlCol="0">
            <a:spAutoFit/>
          </a:bodyPr>
          <a:lstStyle/>
          <a:p>
            <a:r>
              <a:rPr lang="en-IN" sz="2600" dirty="0">
                <a:solidFill>
                  <a:srgbClr val="FF0000"/>
                </a:solidFill>
              </a:rPr>
              <a:t>Q1					Q2				Q3				Q4	…….		Q10</a:t>
            </a:r>
          </a:p>
        </p:txBody>
      </p:sp>
      <p:cxnSp>
        <p:nvCxnSpPr>
          <p:cNvPr id="22" name="Straight Arrow Connector 21">
            <a:extLst>
              <a:ext uri="{FF2B5EF4-FFF2-40B4-BE49-F238E27FC236}">
                <a16:creationId xmlns:a16="http://schemas.microsoft.com/office/drawing/2014/main" id="{1C44647B-89D5-4A7C-978C-2CCFA6FF4FEB}"/>
              </a:ext>
            </a:extLst>
          </p:cNvPr>
          <p:cNvCxnSpPr>
            <a:cxnSpLocks/>
          </p:cNvCxnSpPr>
          <p:nvPr/>
        </p:nvCxnSpPr>
        <p:spPr>
          <a:xfrm>
            <a:off x="1292087" y="1451113"/>
            <a:ext cx="1587802"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D8ABF39-5C5C-4BED-8B36-CE4FC22BEE68}"/>
              </a:ext>
            </a:extLst>
          </p:cNvPr>
          <p:cNvCxnSpPr>
            <a:cxnSpLocks/>
          </p:cNvCxnSpPr>
          <p:nvPr/>
        </p:nvCxnSpPr>
        <p:spPr>
          <a:xfrm>
            <a:off x="1292087" y="1474304"/>
            <a:ext cx="1587802" cy="76200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F996123-A2AF-4FE2-B561-DCB638901972}"/>
              </a:ext>
            </a:extLst>
          </p:cNvPr>
          <p:cNvCxnSpPr>
            <a:cxnSpLocks/>
          </p:cNvCxnSpPr>
          <p:nvPr/>
        </p:nvCxnSpPr>
        <p:spPr>
          <a:xfrm>
            <a:off x="1292087" y="1474304"/>
            <a:ext cx="1587802" cy="143786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15C4C2-ECA6-409D-99D4-A1BF6062FF49}"/>
              </a:ext>
            </a:extLst>
          </p:cNvPr>
          <p:cNvCxnSpPr>
            <a:cxnSpLocks/>
          </p:cNvCxnSpPr>
          <p:nvPr/>
        </p:nvCxnSpPr>
        <p:spPr>
          <a:xfrm>
            <a:off x="1292087" y="1474304"/>
            <a:ext cx="1587802" cy="2163418"/>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D3C2C33-B196-4398-9382-6BC83C64B69F}"/>
              </a:ext>
            </a:extLst>
          </p:cNvPr>
          <p:cNvCxnSpPr>
            <a:cxnSpLocks/>
          </p:cNvCxnSpPr>
          <p:nvPr/>
        </p:nvCxnSpPr>
        <p:spPr>
          <a:xfrm>
            <a:off x="3183835" y="1464365"/>
            <a:ext cx="1587802"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32A0D80-FD13-47F7-9AA6-3AC0D02DD1C5}"/>
              </a:ext>
            </a:extLst>
          </p:cNvPr>
          <p:cNvCxnSpPr>
            <a:cxnSpLocks/>
          </p:cNvCxnSpPr>
          <p:nvPr/>
        </p:nvCxnSpPr>
        <p:spPr>
          <a:xfrm>
            <a:off x="3183835" y="1487556"/>
            <a:ext cx="1587802" cy="76200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95C3247-4565-47A4-B358-9CBF742B9F48}"/>
              </a:ext>
            </a:extLst>
          </p:cNvPr>
          <p:cNvCxnSpPr>
            <a:cxnSpLocks/>
          </p:cNvCxnSpPr>
          <p:nvPr/>
        </p:nvCxnSpPr>
        <p:spPr>
          <a:xfrm>
            <a:off x="3183835" y="1487556"/>
            <a:ext cx="1587802" cy="143786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843D9F3-8B36-4D6A-B247-B0C3FF3C6F35}"/>
              </a:ext>
            </a:extLst>
          </p:cNvPr>
          <p:cNvCxnSpPr>
            <a:cxnSpLocks/>
          </p:cNvCxnSpPr>
          <p:nvPr/>
        </p:nvCxnSpPr>
        <p:spPr>
          <a:xfrm>
            <a:off x="3183835" y="1487556"/>
            <a:ext cx="1587802" cy="2163418"/>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81176AC-82E8-45CE-9C7E-092C359C6EB1}"/>
              </a:ext>
            </a:extLst>
          </p:cNvPr>
          <p:cNvCxnSpPr>
            <a:cxnSpLocks/>
          </p:cNvCxnSpPr>
          <p:nvPr/>
        </p:nvCxnSpPr>
        <p:spPr>
          <a:xfrm>
            <a:off x="4933114" y="1474306"/>
            <a:ext cx="1587802"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C601780-D024-454E-B1CC-79E543A080E4}"/>
              </a:ext>
            </a:extLst>
          </p:cNvPr>
          <p:cNvCxnSpPr>
            <a:cxnSpLocks/>
          </p:cNvCxnSpPr>
          <p:nvPr/>
        </p:nvCxnSpPr>
        <p:spPr>
          <a:xfrm>
            <a:off x="4933114" y="1497497"/>
            <a:ext cx="1587802" cy="76200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280F03E-1BB8-41ED-B9E1-1E1A9066A74D}"/>
              </a:ext>
            </a:extLst>
          </p:cNvPr>
          <p:cNvCxnSpPr>
            <a:cxnSpLocks/>
          </p:cNvCxnSpPr>
          <p:nvPr/>
        </p:nvCxnSpPr>
        <p:spPr>
          <a:xfrm>
            <a:off x="4933114" y="1497497"/>
            <a:ext cx="1587802" cy="143786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0299268-FB00-49D2-9F76-153931872D48}"/>
              </a:ext>
            </a:extLst>
          </p:cNvPr>
          <p:cNvCxnSpPr>
            <a:cxnSpLocks/>
          </p:cNvCxnSpPr>
          <p:nvPr/>
        </p:nvCxnSpPr>
        <p:spPr>
          <a:xfrm>
            <a:off x="4933114" y="1497497"/>
            <a:ext cx="1587802" cy="2163418"/>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473DE15-0750-4531-BCD2-84E252DCF413}"/>
              </a:ext>
            </a:extLst>
          </p:cNvPr>
          <p:cNvCxnSpPr>
            <a:cxnSpLocks/>
          </p:cNvCxnSpPr>
          <p:nvPr/>
        </p:nvCxnSpPr>
        <p:spPr>
          <a:xfrm flipV="1">
            <a:off x="1292087" y="1557132"/>
            <a:ext cx="1587802" cy="56984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A7DC762-9D7A-44EC-A334-0E005468906C}"/>
              </a:ext>
            </a:extLst>
          </p:cNvPr>
          <p:cNvCxnSpPr>
            <a:cxnSpLocks/>
          </p:cNvCxnSpPr>
          <p:nvPr/>
        </p:nvCxnSpPr>
        <p:spPr>
          <a:xfrm>
            <a:off x="1292087" y="2126974"/>
            <a:ext cx="1590261" cy="59635"/>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B9D35C4-B1BE-4C19-B626-1CD59AD42DF8}"/>
              </a:ext>
            </a:extLst>
          </p:cNvPr>
          <p:cNvCxnSpPr>
            <a:cxnSpLocks/>
          </p:cNvCxnSpPr>
          <p:nvPr/>
        </p:nvCxnSpPr>
        <p:spPr>
          <a:xfrm>
            <a:off x="1292087" y="2126974"/>
            <a:ext cx="1587802" cy="78519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12F2C31-7921-4241-8908-FF9E39BFED32}"/>
              </a:ext>
            </a:extLst>
          </p:cNvPr>
          <p:cNvCxnSpPr>
            <a:cxnSpLocks/>
          </p:cNvCxnSpPr>
          <p:nvPr/>
        </p:nvCxnSpPr>
        <p:spPr>
          <a:xfrm>
            <a:off x="1292087" y="2126974"/>
            <a:ext cx="1587802" cy="1441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C1A8FA9-C2DF-4878-AE7F-C107C6452886}"/>
              </a:ext>
            </a:extLst>
          </p:cNvPr>
          <p:cNvCxnSpPr>
            <a:cxnSpLocks/>
          </p:cNvCxnSpPr>
          <p:nvPr/>
        </p:nvCxnSpPr>
        <p:spPr>
          <a:xfrm flipV="1">
            <a:off x="3183835" y="1630020"/>
            <a:ext cx="1587802" cy="56984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3B5E0C3-5603-4686-99D1-224733EF3FD8}"/>
              </a:ext>
            </a:extLst>
          </p:cNvPr>
          <p:cNvCxnSpPr>
            <a:cxnSpLocks/>
          </p:cNvCxnSpPr>
          <p:nvPr/>
        </p:nvCxnSpPr>
        <p:spPr>
          <a:xfrm>
            <a:off x="3183835" y="2199862"/>
            <a:ext cx="1590261" cy="59635"/>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21E445D-8D0E-48E0-ACF4-E5053EF63FA5}"/>
              </a:ext>
            </a:extLst>
          </p:cNvPr>
          <p:cNvCxnSpPr>
            <a:cxnSpLocks/>
          </p:cNvCxnSpPr>
          <p:nvPr/>
        </p:nvCxnSpPr>
        <p:spPr>
          <a:xfrm>
            <a:off x="3183835" y="2199862"/>
            <a:ext cx="1587802" cy="78519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178149B-980B-4C34-B347-4601B4673D82}"/>
              </a:ext>
            </a:extLst>
          </p:cNvPr>
          <p:cNvCxnSpPr>
            <a:cxnSpLocks/>
          </p:cNvCxnSpPr>
          <p:nvPr/>
        </p:nvCxnSpPr>
        <p:spPr>
          <a:xfrm>
            <a:off x="3183835" y="2199862"/>
            <a:ext cx="1587802" cy="1441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4318A32-289E-4D14-8389-63BEFAF33127}"/>
              </a:ext>
            </a:extLst>
          </p:cNvPr>
          <p:cNvCxnSpPr>
            <a:cxnSpLocks/>
          </p:cNvCxnSpPr>
          <p:nvPr/>
        </p:nvCxnSpPr>
        <p:spPr>
          <a:xfrm flipV="1">
            <a:off x="4943054" y="1550508"/>
            <a:ext cx="1587802" cy="56984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0729BF1-34A6-4618-8726-45FFED1EB308}"/>
              </a:ext>
            </a:extLst>
          </p:cNvPr>
          <p:cNvCxnSpPr>
            <a:cxnSpLocks/>
          </p:cNvCxnSpPr>
          <p:nvPr/>
        </p:nvCxnSpPr>
        <p:spPr>
          <a:xfrm>
            <a:off x="4943054" y="2120350"/>
            <a:ext cx="1590261" cy="59635"/>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C1922D3-3441-4E66-B0AF-7571B8BCA500}"/>
              </a:ext>
            </a:extLst>
          </p:cNvPr>
          <p:cNvCxnSpPr>
            <a:cxnSpLocks/>
          </p:cNvCxnSpPr>
          <p:nvPr/>
        </p:nvCxnSpPr>
        <p:spPr>
          <a:xfrm>
            <a:off x="4943054" y="2120350"/>
            <a:ext cx="1587802" cy="78519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6456257C-7466-4BF9-8C51-3289A7968FCE}"/>
              </a:ext>
            </a:extLst>
          </p:cNvPr>
          <p:cNvCxnSpPr>
            <a:cxnSpLocks/>
          </p:cNvCxnSpPr>
          <p:nvPr/>
        </p:nvCxnSpPr>
        <p:spPr>
          <a:xfrm>
            <a:off x="4943054" y="2120350"/>
            <a:ext cx="1587802" cy="1441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2DC5BBB-78F7-44D0-A153-AD1418EE5074}"/>
              </a:ext>
            </a:extLst>
          </p:cNvPr>
          <p:cNvCxnSpPr>
            <a:cxnSpLocks/>
          </p:cNvCxnSpPr>
          <p:nvPr/>
        </p:nvCxnSpPr>
        <p:spPr>
          <a:xfrm flipV="1">
            <a:off x="1292087" y="1594353"/>
            <a:ext cx="1562581" cy="131118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8647623-2ECC-468D-A7C8-643F87720FAD}"/>
              </a:ext>
            </a:extLst>
          </p:cNvPr>
          <p:cNvCxnSpPr>
            <a:cxnSpLocks/>
          </p:cNvCxnSpPr>
          <p:nvPr/>
        </p:nvCxnSpPr>
        <p:spPr>
          <a:xfrm flipV="1">
            <a:off x="1295876" y="2179985"/>
            <a:ext cx="1596412" cy="694082"/>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52CDD23E-51F6-4362-BDD9-BF5E52DF22DB}"/>
              </a:ext>
            </a:extLst>
          </p:cNvPr>
          <p:cNvCxnSpPr>
            <a:cxnSpLocks/>
          </p:cNvCxnSpPr>
          <p:nvPr/>
        </p:nvCxnSpPr>
        <p:spPr>
          <a:xfrm>
            <a:off x="1260983" y="2893117"/>
            <a:ext cx="1635339" cy="124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A4BB549-E69C-45DF-AEED-3F905F49145D}"/>
              </a:ext>
            </a:extLst>
          </p:cNvPr>
          <p:cNvCxnSpPr>
            <a:cxnSpLocks/>
          </p:cNvCxnSpPr>
          <p:nvPr/>
        </p:nvCxnSpPr>
        <p:spPr>
          <a:xfrm>
            <a:off x="1289628" y="2912164"/>
            <a:ext cx="1590261" cy="69325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6A119C4-ACFF-466D-BA83-334E7012FF16}"/>
              </a:ext>
            </a:extLst>
          </p:cNvPr>
          <p:cNvCxnSpPr>
            <a:cxnSpLocks/>
          </p:cNvCxnSpPr>
          <p:nvPr/>
        </p:nvCxnSpPr>
        <p:spPr>
          <a:xfrm flipV="1">
            <a:off x="3173896" y="1617546"/>
            <a:ext cx="1562581" cy="131118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AED25674-2F13-403B-A57B-CF15E79F720A}"/>
              </a:ext>
            </a:extLst>
          </p:cNvPr>
          <p:cNvCxnSpPr>
            <a:cxnSpLocks/>
          </p:cNvCxnSpPr>
          <p:nvPr/>
        </p:nvCxnSpPr>
        <p:spPr>
          <a:xfrm flipV="1">
            <a:off x="3177685" y="2203178"/>
            <a:ext cx="1596412" cy="694082"/>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F46D214-AD1B-4B23-B60D-B164DF58FBBA}"/>
              </a:ext>
            </a:extLst>
          </p:cNvPr>
          <p:cNvCxnSpPr>
            <a:cxnSpLocks/>
          </p:cNvCxnSpPr>
          <p:nvPr/>
        </p:nvCxnSpPr>
        <p:spPr>
          <a:xfrm>
            <a:off x="3142792" y="2916310"/>
            <a:ext cx="1635339" cy="124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DB79027-482D-42E6-8FFA-21545CC233A2}"/>
              </a:ext>
            </a:extLst>
          </p:cNvPr>
          <p:cNvCxnSpPr>
            <a:cxnSpLocks/>
          </p:cNvCxnSpPr>
          <p:nvPr/>
        </p:nvCxnSpPr>
        <p:spPr>
          <a:xfrm>
            <a:off x="3171437" y="2935357"/>
            <a:ext cx="1590261" cy="69325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BF97C5B-5606-4294-896F-FC23BE105050}"/>
              </a:ext>
            </a:extLst>
          </p:cNvPr>
          <p:cNvCxnSpPr>
            <a:cxnSpLocks/>
          </p:cNvCxnSpPr>
          <p:nvPr/>
        </p:nvCxnSpPr>
        <p:spPr>
          <a:xfrm flipV="1">
            <a:off x="4923176" y="1597668"/>
            <a:ext cx="1562581" cy="131118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9128813C-0017-4CC5-ADD7-227BE2C48083}"/>
              </a:ext>
            </a:extLst>
          </p:cNvPr>
          <p:cNvCxnSpPr>
            <a:cxnSpLocks/>
          </p:cNvCxnSpPr>
          <p:nvPr/>
        </p:nvCxnSpPr>
        <p:spPr>
          <a:xfrm flipV="1">
            <a:off x="4926965" y="2183300"/>
            <a:ext cx="1596412" cy="694082"/>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E3A3C32-2FB9-4074-B4D3-00F976F98DA6}"/>
              </a:ext>
            </a:extLst>
          </p:cNvPr>
          <p:cNvCxnSpPr>
            <a:cxnSpLocks/>
          </p:cNvCxnSpPr>
          <p:nvPr/>
        </p:nvCxnSpPr>
        <p:spPr>
          <a:xfrm>
            <a:off x="4892072" y="2896432"/>
            <a:ext cx="1635339" cy="124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2548BF2D-3737-4FF3-BCE3-3932EC6DADF0}"/>
              </a:ext>
            </a:extLst>
          </p:cNvPr>
          <p:cNvCxnSpPr>
            <a:cxnSpLocks/>
          </p:cNvCxnSpPr>
          <p:nvPr/>
        </p:nvCxnSpPr>
        <p:spPr>
          <a:xfrm>
            <a:off x="4920717" y="2915479"/>
            <a:ext cx="1590261" cy="69325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2054A4CF-B316-4C7C-A3C8-841A5203C0F2}"/>
              </a:ext>
            </a:extLst>
          </p:cNvPr>
          <p:cNvCxnSpPr>
            <a:cxnSpLocks/>
          </p:cNvCxnSpPr>
          <p:nvPr/>
        </p:nvCxnSpPr>
        <p:spPr>
          <a:xfrm flipV="1">
            <a:off x="1283133" y="1630020"/>
            <a:ext cx="1561597" cy="19415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83007B2F-EA50-46F5-BFFE-6CE12497C60A}"/>
              </a:ext>
            </a:extLst>
          </p:cNvPr>
          <p:cNvCxnSpPr>
            <a:cxnSpLocks/>
          </p:cNvCxnSpPr>
          <p:nvPr/>
        </p:nvCxnSpPr>
        <p:spPr>
          <a:xfrm flipV="1">
            <a:off x="1279688" y="2306658"/>
            <a:ext cx="1525973" cy="12548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7FB9B0EF-B913-4BBB-9855-A5CB4B4EB373}"/>
              </a:ext>
            </a:extLst>
          </p:cNvPr>
          <p:cNvCxnSpPr>
            <a:cxnSpLocks/>
          </p:cNvCxnSpPr>
          <p:nvPr/>
        </p:nvCxnSpPr>
        <p:spPr>
          <a:xfrm flipV="1">
            <a:off x="1292431" y="2975115"/>
            <a:ext cx="1558794" cy="5864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7A7A051E-145B-431E-AD6E-A9B90BBA5B1A}"/>
              </a:ext>
            </a:extLst>
          </p:cNvPr>
          <p:cNvCxnSpPr>
            <a:cxnSpLocks/>
          </p:cNvCxnSpPr>
          <p:nvPr/>
        </p:nvCxnSpPr>
        <p:spPr>
          <a:xfrm>
            <a:off x="1292430" y="3605422"/>
            <a:ext cx="1602315" cy="231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2E0238DB-E4BD-4F6C-95A7-8AC2950DEF50}"/>
              </a:ext>
            </a:extLst>
          </p:cNvPr>
          <p:cNvCxnSpPr>
            <a:cxnSpLocks/>
          </p:cNvCxnSpPr>
          <p:nvPr/>
        </p:nvCxnSpPr>
        <p:spPr>
          <a:xfrm flipV="1">
            <a:off x="3174880" y="1613455"/>
            <a:ext cx="1561597" cy="19415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DDE7D0EA-F408-43C6-BDA3-D027593A9406}"/>
              </a:ext>
            </a:extLst>
          </p:cNvPr>
          <p:cNvCxnSpPr>
            <a:cxnSpLocks/>
          </p:cNvCxnSpPr>
          <p:nvPr/>
        </p:nvCxnSpPr>
        <p:spPr>
          <a:xfrm flipV="1">
            <a:off x="3171435" y="2290093"/>
            <a:ext cx="1525973" cy="12548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AA79B30B-6930-4968-BC60-56B6954338DD}"/>
              </a:ext>
            </a:extLst>
          </p:cNvPr>
          <p:cNvCxnSpPr>
            <a:cxnSpLocks/>
          </p:cNvCxnSpPr>
          <p:nvPr/>
        </p:nvCxnSpPr>
        <p:spPr>
          <a:xfrm flipV="1">
            <a:off x="3184178" y="2958550"/>
            <a:ext cx="1558794" cy="5864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3F585D4-4F9C-4493-A13E-12B5164F3D98}"/>
              </a:ext>
            </a:extLst>
          </p:cNvPr>
          <p:cNvCxnSpPr>
            <a:cxnSpLocks/>
          </p:cNvCxnSpPr>
          <p:nvPr/>
        </p:nvCxnSpPr>
        <p:spPr>
          <a:xfrm>
            <a:off x="3184177" y="3588857"/>
            <a:ext cx="1602315" cy="231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9902EBC9-E3EE-4AB6-A7C7-B168AFEBF476}"/>
              </a:ext>
            </a:extLst>
          </p:cNvPr>
          <p:cNvCxnSpPr>
            <a:cxnSpLocks/>
          </p:cNvCxnSpPr>
          <p:nvPr/>
        </p:nvCxnSpPr>
        <p:spPr>
          <a:xfrm flipV="1">
            <a:off x="4944038" y="1563762"/>
            <a:ext cx="1561597" cy="19415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E8D92A4E-7F99-4D6C-81CE-DAEAE7958EB3}"/>
              </a:ext>
            </a:extLst>
          </p:cNvPr>
          <p:cNvCxnSpPr>
            <a:cxnSpLocks/>
          </p:cNvCxnSpPr>
          <p:nvPr/>
        </p:nvCxnSpPr>
        <p:spPr>
          <a:xfrm flipV="1">
            <a:off x="4940593" y="2240400"/>
            <a:ext cx="1525973" cy="12548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53B14234-070B-4928-98C8-CAB8432DBDD8}"/>
              </a:ext>
            </a:extLst>
          </p:cNvPr>
          <p:cNvCxnSpPr>
            <a:cxnSpLocks/>
          </p:cNvCxnSpPr>
          <p:nvPr/>
        </p:nvCxnSpPr>
        <p:spPr>
          <a:xfrm flipV="1">
            <a:off x="4953336" y="2908857"/>
            <a:ext cx="1558794" cy="5864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501D4E59-DE8C-41BC-B35E-5A846121A09A}"/>
              </a:ext>
            </a:extLst>
          </p:cNvPr>
          <p:cNvCxnSpPr>
            <a:cxnSpLocks/>
          </p:cNvCxnSpPr>
          <p:nvPr/>
        </p:nvCxnSpPr>
        <p:spPr>
          <a:xfrm>
            <a:off x="4953335" y="3539164"/>
            <a:ext cx="1602315" cy="231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A1492426-324E-434A-A52B-54D285B0C758}"/>
              </a:ext>
            </a:extLst>
          </p:cNvPr>
          <p:cNvSpPr txBox="1"/>
          <p:nvPr/>
        </p:nvSpPr>
        <p:spPr>
          <a:xfrm>
            <a:off x="520150" y="4792934"/>
            <a:ext cx="8504904" cy="492443"/>
          </a:xfrm>
          <a:prstGeom prst="rect">
            <a:avLst/>
          </a:prstGeom>
          <a:noFill/>
        </p:spPr>
        <p:txBody>
          <a:bodyPr wrap="square" rtlCol="0">
            <a:spAutoFit/>
          </a:bodyPr>
          <a:lstStyle/>
          <a:p>
            <a:r>
              <a:rPr lang="en-IN" sz="2600" dirty="0">
                <a:solidFill>
                  <a:srgbClr val="FF0000"/>
                </a:solidFill>
              </a:rPr>
              <a:t>5ways		 5ways 			 5ways 		 5ways…..5ways</a:t>
            </a:r>
          </a:p>
        </p:txBody>
      </p:sp>
      <p:sp>
        <p:nvSpPr>
          <p:cNvPr id="66" name="TextBox 65">
            <a:extLst>
              <a:ext uri="{FF2B5EF4-FFF2-40B4-BE49-F238E27FC236}">
                <a16:creationId xmlns:a16="http://schemas.microsoft.com/office/drawing/2014/main" id="{35787781-2376-4C65-BC9F-3457D75FEFBF}"/>
              </a:ext>
            </a:extLst>
          </p:cNvPr>
          <p:cNvSpPr txBox="1"/>
          <p:nvPr/>
        </p:nvSpPr>
        <p:spPr>
          <a:xfrm>
            <a:off x="444956" y="5281821"/>
            <a:ext cx="8504904" cy="492443"/>
          </a:xfrm>
          <a:prstGeom prst="rect">
            <a:avLst/>
          </a:prstGeom>
          <a:noFill/>
        </p:spPr>
        <p:txBody>
          <a:bodyPr wrap="square" rtlCol="0">
            <a:spAutoFit/>
          </a:bodyPr>
          <a:lstStyle/>
          <a:p>
            <a:r>
              <a:rPr lang="en-IN" sz="2600" dirty="0">
                <a:solidFill>
                  <a:srgbClr val="FF0000"/>
                </a:solidFill>
              </a:rPr>
              <a:t>= n</a:t>
            </a:r>
            <a:r>
              <a:rPr lang="en-IN" sz="2600" baseline="-25000" dirty="0">
                <a:solidFill>
                  <a:srgbClr val="FF0000"/>
                </a:solidFill>
              </a:rPr>
              <a:t>1</a:t>
            </a:r>
            <a:r>
              <a:rPr lang="en-IN" sz="2600" dirty="0">
                <a:solidFill>
                  <a:srgbClr val="FF0000"/>
                </a:solidFill>
              </a:rPr>
              <a:t>	*		 n</a:t>
            </a:r>
            <a:r>
              <a:rPr lang="en-IN" sz="2600" baseline="-25000" dirty="0">
                <a:solidFill>
                  <a:srgbClr val="FF0000"/>
                </a:solidFill>
              </a:rPr>
              <a:t>2		</a:t>
            </a:r>
            <a:r>
              <a:rPr lang="en-IN" sz="2600" dirty="0">
                <a:solidFill>
                  <a:srgbClr val="FF0000"/>
                </a:solidFill>
              </a:rPr>
              <a:t> * 			 n</a:t>
            </a:r>
            <a:r>
              <a:rPr lang="en-IN" sz="2600" baseline="-25000" dirty="0">
                <a:solidFill>
                  <a:srgbClr val="FF0000"/>
                </a:solidFill>
              </a:rPr>
              <a:t>3</a:t>
            </a:r>
            <a:r>
              <a:rPr lang="en-IN" sz="2600" dirty="0">
                <a:solidFill>
                  <a:srgbClr val="FF0000"/>
                </a:solidFill>
              </a:rPr>
              <a:t> 		 * 	 n</a:t>
            </a:r>
            <a:r>
              <a:rPr lang="en-IN" sz="2600" baseline="-25000" dirty="0">
                <a:solidFill>
                  <a:srgbClr val="FF0000"/>
                </a:solidFill>
              </a:rPr>
              <a:t>4 </a:t>
            </a:r>
            <a:r>
              <a:rPr lang="en-IN" sz="2600" dirty="0">
                <a:solidFill>
                  <a:srgbClr val="FF0000"/>
                </a:solidFill>
              </a:rPr>
              <a:t>…	 * 	.. n</a:t>
            </a:r>
            <a:r>
              <a:rPr lang="en-IN" sz="2600" baseline="-25000" dirty="0">
                <a:solidFill>
                  <a:srgbClr val="FF0000"/>
                </a:solidFill>
              </a:rPr>
              <a:t>10</a:t>
            </a:r>
            <a:endParaRPr lang="en-IN" sz="2600" dirty="0">
              <a:solidFill>
                <a:srgbClr val="FF0000"/>
              </a:solidFill>
            </a:endParaRPr>
          </a:p>
        </p:txBody>
      </p:sp>
      <p:sp>
        <p:nvSpPr>
          <p:cNvPr id="68" name="TextBox 67">
            <a:extLst>
              <a:ext uri="{FF2B5EF4-FFF2-40B4-BE49-F238E27FC236}">
                <a16:creationId xmlns:a16="http://schemas.microsoft.com/office/drawing/2014/main" id="{1B8F4CC5-F7EF-4DE3-BD90-EA6D5F70FB12}"/>
              </a:ext>
            </a:extLst>
          </p:cNvPr>
          <p:cNvSpPr txBox="1"/>
          <p:nvPr/>
        </p:nvSpPr>
        <p:spPr>
          <a:xfrm>
            <a:off x="393290" y="5861378"/>
            <a:ext cx="8504904" cy="492443"/>
          </a:xfrm>
          <a:prstGeom prst="rect">
            <a:avLst/>
          </a:prstGeom>
          <a:noFill/>
        </p:spPr>
        <p:txBody>
          <a:bodyPr wrap="square" rtlCol="0">
            <a:spAutoFit/>
          </a:bodyPr>
          <a:lstStyle/>
          <a:p>
            <a:r>
              <a:rPr lang="en-IN" sz="2600" dirty="0">
                <a:solidFill>
                  <a:srgbClr val="FF0000"/>
                </a:solidFill>
              </a:rPr>
              <a:t>= 5	*			 5</a:t>
            </a:r>
            <a:r>
              <a:rPr lang="en-IN" sz="2600" baseline="-25000" dirty="0">
                <a:solidFill>
                  <a:srgbClr val="FF0000"/>
                </a:solidFill>
              </a:rPr>
              <a:t>		</a:t>
            </a:r>
            <a:r>
              <a:rPr lang="en-IN" sz="2600" dirty="0">
                <a:solidFill>
                  <a:srgbClr val="FF0000"/>
                </a:solidFill>
              </a:rPr>
              <a:t> * 			 5 		 * 		 5</a:t>
            </a:r>
            <a:r>
              <a:rPr lang="en-IN" sz="2600" baseline="-25000" dirty="0">
                <a:solidFill>
                  <a:srgbClr val="FF0000"/>
                </a:solidFill>
              </a:rPr>
              <a:t> </a:t>
            </a:r>
            <a:r>
              <a:rPr lang="en-IN" sz="2600" dirty="0">
                <a:solidFill>
                  <a:srgbClr val="FF0000"/>
                </a:solidFill>
              </a:rPr>
              <a:t>…	 * 	.. 5</a:t>
            </a:r>
          </a:p>
        </p:txBody>
      </p:sp>
      <p:sp>
        <p:nvSpPr>
          <p:cNvPr id="116" name="TextBox 115">
            <a:extLst>
              <a:ext uri="{FF2B5EF4-FFF2-40B4-BE49-F238E27FC236}">
                <a16:creationId xmlns:a16="http://schemas.microsoft.com/office/drawing/2014/main" id="{496F6156-C3F1-4D51-B10E-F0EC275BF64B}"/>
              </a:ext>
            </a:extLst>
          </p:cNvPr>
          <p:cNvSpPr txBox="1"/>
          <p:nvPr/>
        </p:nvSpPr>
        <p:spPr>
          <a:xfrm>
            <a:off x="2593306" y="1234788"/>
            <a:ext cx="889019" cy="2985433"/>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endParaRPr lang="en-IN" sz="2400" dirty="0">
              <a:solidFill>
                <a:srgbClr val="FFFF00"/>
              </a:solidFill>
            </a:endParaRPr>
          </a:p>
          <a:p>
            <a:pPr algn="ctr"/>
            <a:r>
              <a:rPr lang="en-IN" sz="2400" dirty="0">
                <a:solidFill>
                  <a:srgbClr val="FFFF00"/>
                </a:solidFill>
              </a:rPr>
              <a:t>D</a:t>
            </a:r>
          </a:p>
          <a:p>
            <a:pPr algn="ctr"/>
            <a:r>
              <a:rPr lang="en-IN" sz="2000" dirty="0">
                <a:solidFill>
                  <a:srgbClr val="FFFF00"/>
                </a:solidFill>
              </a:rPr>
              <a:t>Blank</a:t>
            </a:r>
          </a:p>
        </p:txBody>
      </p:sp>
      <p:sp>
        <p:nvSpPr>
          <p:cNvPr id="117" name="TextBox 116">
            <a:extLst>
              <a:ext uri="{FF2B5EF4-FFF2-40B4-BE49-F238E27FC236}">
                <a16:creationId xmlns:a16="http://schemas.microsoft.com/office/drawing/2014/main" id="{51400F77-E9C6-4835-A6B4-04D8C65CA96A}"/>
              </a:ext>
            </a:extLst>
          </p:cNvPr>
          <p:cNvSpPr txBox="1"/>
          <p:nvPr/>
        </p:nvSpPr>
        <p:spPr>
          <a:xfrm>
            <a:off x="4405539" y="1257981"/>
            <a:ext cx="889019" cy="2985433"/>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endParaRPr lang="en-IN" sz="2400" dirty="0">
              <a:solidFill>
                <a:srgbClr val="FFFF00"/>
              </a:solidFill>
            </a:endParaRPr>
          </a:p>
          <a:p>
            <a:pPr algn="ctr"/>
            <a:r>
              <a:rPr lang="en-IN" sz="2400" dirty="0">
                <a:solidFill>
                  <a:srgbClr val="FFFF00"/>
                </a:solidFill>
              </a:rPr>
              <a:t>D</a:t>
            </a:r>
          </a:p>
          <a:p>
            <a:pPr algn="ctr"/>
            <a:r>
              <a:rPr lang="en-IN" sz="2000" dirty="0">
                <a:solidFill>
                  <a:srgbClr val="FFFF00"/>
                </a:solidFill>
              </a:rPr>
              <a:t>Blank</a:t>
            </a:r>
          </a:p>
        </p:txBody>
      </p:sp>
      <p:sp>
        <p:nvSpPr>
          <p:cNvPr id="118" name="TextBox 117">
            <a:extLst>
              <a:ext uri="{FF2B5EF4-FFF2-40B4-BE49-F238E27FC236}">
                <a16:creationId xmlns:a16="http://schemas.microsoft.com/office/drawing/2014/main" id="{BA60520B-225B-4BBE-A803-A20D133E6FCE}"/>
              </a:ext>
            </a:extLst>
          </p:cNvPr>
          <p:cNvSpPr txBox="1"/>
          <p:nvPr/>
        </p:nvSpPr>
        <p:spPr>
          <a:xfrm>
            <a:off x="6237654" y="1211601"/>
            <a:ext cx="889019" cy="2985433"/>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endParaRPr lang="en-IN" sz="2400" dirty="0">
              <a:solidFill>
                <a:srgbClr val="FFFF00"/>
              </a:solidFill>
            </a:endParaRPr>
          </a:p>
          <a:p>
            <a:pPr algn="ctr"/>
            <a:r>
              <a:rPr lang="en-IN" sz="2400" dirty="0">
                <a:solidFill>
                  <a:srgbClr val="FFFF00"/>
                </a:solidFill>
              </a:rPr>
              <a:t>D</a:t>
            </a:r>
          </a:p>
          <a:p>
            <a:pPr algn="ctr"/>
            <a:r>
              <a:rPr lang="en-IN" sz="2000" dirty="0">
                <a:solidFill>
                  <a:srgbClr val="FFFF00"/>
                </a:solidFill>
              </a:rPr>
              <a:t>Blank</a:t>
            </a:r>
          </a:p>
        </p:txBody>
      </p:sp>
      <p:sp>
        <p:nvSpPr>
          <p:cNvPr id="119" name="TextBox 118">
            <a:extLst>
              <a:ext uri="{FF2B5EF4-FFF2-40B4-BE49-F238E27FC236}">
                <a16:creationId xmlns:a16="http://schemas.microsoft.com/office/drawing/2014/main" id="{B3B5153A-C69C-431C-A3F7-CD02F27F70B5}"/>
              </a:ext>
            </a:extLst>
          </p:cNvPr>
          <p:cNvSpPr txBox="1"/>
          <p:nvPr/>
        </p:nvSpPr>
        <p:spPr>
          <a:xfrm>
            <a:off x="8189035" y="1364001"/>
            <a:ext cx="889019" cy="2985433"/>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endParaRPr lang="en-IN" sz="2400" dirty="0">
              <a:solidFill>
                <a:srgbClr val="FFFF00"/>
              </a:solidFill>
            </a:endParaRPr>
          </a:p>
          <a:p>
            <a:pPr algn="ctr"/>
            <a:r>
              <a:rPr lang="en-IN" sz="2400" dirty="0">
                <a:solidFill>
                  <a:srgbClr val="FFFF00"/>
                </a:solidFill>
              </a:rPr>
              <a:t>D</a:t>
            </a:r>
          </a:p>
          <a:p>
            <a:pPr algn="ctr"/>
            <a:r>
              <a:rPr lang="en-IN" sz="2000" dirty="0">
                <a:solidFill>
                  <a:srgbClr val="FFFF00"/>
                </a:solidFill>
              </a:rPr>
              <a:t>Blank</a:t>
            </a:r>
          </a:p>
        </p:txBody>
      </p:sp>
      <p:sp>
        <p:nvSpPr>
          <p:cNvPr id="120" name="TextBox 119">
            <a:extLst>
              <a:ext uri="{FF2B5EF4-FFF2-40B4-BE49-F238E27FC236}">
                <a16:creationId xmlns:a16="http://schemas.microsoft.com/office/drawing/2014/main" id="{9B32081F-EC7A-4666-BC6B-BCC1B17E5975}"/>
              </a:ext>
            </a:extLst>
          </p:cNvPr>
          <p:cNvSpPr txBox="1"/>
          <p:nvPr/>
        </p:nvSpPr>
        <p:spPr>
          <a:xfrm>
            <a:off x="545690" y="6212558"/>
            <a:ext cx="8504904" cy="523220"/>
          </a:xfrm>
          <a:prstGeom prst="rect">
            <a:avLst/>
          </a:prstGeom>
          <a:noFill/>
        </p:spPr>
        <p:txBody>
          <a:bodyPr wrap="square" rtlCol="0">
            <a:spAutoFit/>
          </a:bodyPr>
          <a:lstStyle/>
          <a:p>
            <a:r>
              <a:rPr lang="en-IN" sz="2600" dirty="0">
                <a:solidFill>
                  <a:srgbClr val="FF0000"/>
                </a:solidFill>
              </a:rPr>
              <a:t>= </a:t>
            </a:r>
            <a:r>
              <a:rPr lang="en-IN" sz="2800" dirty="0"/>
              <a:t>5 · 5 · · · 5 = 5</a:t>
            </a:r>
            <a:r>
              <a:rPr lang="en-IN" sz="2800" baseline="30000" dirty="0"/>
              <a:t>10</a:t>
            </a:r>
            <a:r>
              <a:rPr lang="en-IN" sz="2800" dirty="0"/>
              <a:t> = </a:t>
            </a:r>
            <a:r>
              <a:rPr lang="en-US" sz="2800" dirty="0"/>
              <a:t>9, 765,625 </a:t>
            </a:r>
            <a:endParaRPr lang="en-IN" sz="2600" dirty="0">
              <a:solidFill>
                <a:srgbClr val="FF0000"/>
              </a:solidFill>
            </a:endParaRPr>
          </a:p>
        </p:txBody>
      </p:sp>
    </p:spTree>
    <p:extLst>
      <p:ext uri="{BB962C8B-B14F-4D97-AF65-F5344CB8AC3E}">
        <p14:creationId xmlns:p14="http://schemas.microsoft.com/office/powerpoint/2010/main" val="363627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7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8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8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8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8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95"/>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98"/>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0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0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0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10"/>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11"/>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1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13"/>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14"/>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15"/>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65"/>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6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68"/>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P spid="65" grpId="0"/>
      <p:bldP spid="66" grpId="0"/>
      <p:bldP spid="68" grpId="0"/>
      <p:bldP spid="1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2</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fontScale="85000" lnSpcReduction="10000"/>
          </a:bodyPr>
          <a:lstStyle/>
          <a:p>
            <a:pPr marL="0" indent="0">
              <a:buNone/>
            </a:pPr>
            <a:r>
              <a:rPr lang="en-US" b="1" dirty="0">
                <a:effectLst>
                  <a:outerShdw blurRad="38100" dist="38100" dir="2700000" algn="tl">
                    <a:srgbClr val="000000">
                      <a:alpha val="43137"/>
                    </a:srgbClr>
                  </a:outerShdw>
                </a:effectLst>
              </a:rPr>
              <a:t>Ques:- </a:t>
            </a:r>
            <a:r>
              <a:rPr lang="en-US" dirty="0"/>
              <a:t>How many different license plates can be made if each plate contains a sequence of three uppercase English letters followed by three digits ?</a:t>
            </a:r>
          </a:p>
          <a:p>
            <a:pPr marL="0" indent="0">
              <a:buNone/>
            </a:pPr>
            <a:endParaRPr lang="en-US" dirty="0"/>
          </a:p>
          <a:p>
            <a:pPr marL="0" indent="0">
              <a:buNone/>
            </a:pPr>
            <a:endParaRPr lang="en-US" dirty="0"/>
          </a:p>
          <a:p>
            <a:pPr marL="0" indent="0">
              <a:buNone/>
            </a:pPr>
            <a:r>
              <a:rPr lang="en-US" b="1" dirty="0">
                <a:effectLst>
                  <a:outerShdw blurRad="38100" dist="38100" dir="2700000" algn="tl">
                    <a:srgbClr val="000000">
                      <a:alpha val="43137"/>
                    </a:srgbClr>
                  </a:outerShdw>
                </a:effectLst>
              </a:rPr>
              <a:t>Sol:- </a:t>
            </a:r>
            <a:r>
              <a:rPr lang="en-US" dirty="0"/>
              <a:t>There are 26 choices for each of the three uppercase English letters and ten choices for each of the three digits. Hence, by the product rule there are a total of </a:t>
            </a:r>
          </a:p>
          <a:p>
            <a:pPr marL="0" indent="0">
              <a:buNone/>
            </a:pPr>
            <a:r>
              <a:rPr lang="en-US" dirty="0"/>
              <a:t>26 · 26 · 26 · 10 · 10 · 10 = 17,576,000 possible license plates.</a:t>
            </a:r>
            <a:endParaRPr lang="en-IN" dirty="0"/>
          </a:p>
        </p:txBody>
      </p:sp>
    </p:spTree>
    <p:extLst>
      <p:ext uri="{BB962C8B-B14F-4D97-AF65-F5344CB8AC3E}">
        <p14:creationId xmlns:p14="http://schemas.microsoft.com/office/powerpoint/2010/main" val="663753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2</a:t>
            </a:r>
          </a:p>
        </p:txBody>
      </p:sp>
      <p:sp>
        <p:nvSpPr>
          <p:cNvPr id="4" name="Oval 3">
            <a:extLst>
              <a:ext uri="{FF2B5EF4-FFF2-40B4-BE49-F238E27FC236}">
                <a16:creationId xmlns:a16="http://schemas.microsoft.com/office/drawing/2014/main" id="{B6D8E14C-CD62-4FE5-951F-CD76A9BEB72A}"/>
              </a:ext>
            </a:extLst>
          </p:cNvPr>
          <p:cNvSpPr/>
          <p:nvPr/>
        </p:nvSpPr>
        <p:spPr>
          <a:xfrm>
            <a:off x="545690" y="1320758"/>
            <a:ext cx="972029" cy="3172404"/>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BBCA0B8-CE48-4C09-AF16-F46B729BFD00}"/>
              </a:ext>
            </a:extLst>
          </p:cNvPr>
          <p:cNvSpPr txBox="1"/>
          <p:nvPr/>
        </p:nvSpPr>
        <p:spPr>
          <a:xfrm>
            <a:off x="734955" y="1402174"/>
            <a:ext cx="597843" cy="2677655"/>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r>
              <a:rPr lang="en-IN" sz="2400" dirty="0">
                <a:solidFill>
                  <a:srgbClr val="FFFF00"/>
                </a:solidFill>
              </a:rPr>
              <a:t>……</a:t>
            </a:r>
          </a:p>
          <a:p>
            <a:pPr algn="ctr"/>
            <a:r>
              <a:rPr lang="en-IN" sz="2400" dirty="0">
                <a:solidFill>
                  <a:srgbClr val="FFFF00"/>
                </a:solidFill>
              </a:rPr>
              <a:t>Z</a:t>
            </a:r>
          </a:p>
        </p:txBody>
      </p:sp>
      <p:sp>
        <p:nvSpPr>
          <p:cNvPr id="10" name="Oval 9">
            <a:extLst>
              <a:ext uri="{FF2B5EF4-FFF2-40B4-BE49-F238E27FC236}">
                <a16:creationId xmlns:a16="http://schemas.microsoft.com/office/drawing/2014/main" id="{1987709F-06EA-49A4-B53A-67E52EF29F96}"/>
              </a:ext>
            </a:extLst>
          </p:cNvPr>
          <p:cNvSpPr/>
          <p:nvPr/>
        </p:nvSpPr>
        <p:spPr>
          <a:xfrm>
            <a:off x="3096221" y="1286752"/>
            <a:ext cx="972029" cy="3172404"/>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Oval 11">
            <a:extLst>
              <a:ext uri="{FF2B5EF4-FFF2-40B4-BE49-F238E27FC236}">
                <a16:creationId xmlns:a16="http://schemas.microsoft.com/office/drawing/2014/main" id="{14A27FD0-CE5C-4EBD-AB5F-A1FF26C3F027}"/>
              </a:ext>
            </a:extLst>
          </p:cNvPr>
          <p:cNvSpPr/>
          <p:nvPr/>
        </p:nvSpPr>
        <p:spPr>
          <a:xfrm>
            <a:off x="1741243" y="1286752"/>
            <a:ext cx="972029" cy="3172404"/>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CDFA6A8-62D4-48F2-AD8C-2EFC33D98910}"/>
              </a:ext>
            </a:extLst>
          </p:cNvPr>
          <p:cNvSpPr/>
          <p:nvPr/>
        </p:nvSpPr>
        <p:spPr>
          <a:xfrm>
            <a:off x="4498719" y="1331919"/>
            <a:ext cx="972029" cy="3172404"/>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7019C571-084A-4292-BBC1-F9BA3183B73A}"/>
              </a:ext>
            </a:extLst>
          </p:cNvPr>
          <p:cNvSpPr txBox="1"/>
          <p:nvPr/>
        </p:nvSpPr>
        <p:spPr>
          <a:xfrm>
            <a:off x="7580671" y="2502472"/>
            <a:ext cx="450577" cy="892552"/>
          </a:xfrm>
          <a:prstGeom prst="rect">
            <a:avLst/>
          </a:prstGeom>
          <a:noFill/>
        </p:spPr>
        <p:txBody>
          <a:bodyPr wrap="square" rtlCol="0">
            <a:spAutoFit/>
          </a:bodyPr>
          <a:lstStyle/>
          <a:p>
            <a:r>
              <a:rPr lang="en-IN" sz="2600" dirty="0"/>
              <a:t>…….</a:t>
            </a:r>
          </a:p>
        </p:txBody>
      </p:sp>
      <p:sp>
        <p:nvSpPr>
          <p:cNvPr id="65" name="TextBox 64">
            <a:extLst>
              <a:ext uri="{FF2B5EF4-FFF2-40B4-BE49-F238E27FC236}">
                <a16:creationId xmlns:a16="http://schemas.microsoft.com/office/drawing/2014/main" id="{A1492426-324E-434A-A52B-54D285B0C758}"/>
              </a:ext>
            </a:extLst>
          </p:cNvPr>
          <p:cNvSpPr txBox="1"/>
          <p:nvPr/>
        </p:nvSpPr>
        <p:spPr>
          <a:xfrm>
            <a:off x="260845" y="4505883"/>
            <a:ext cx="8504904" cy="492443"/>
          </a:xfrm>
          <a:prstGeom prst="rect">
            <a:avLst/>
          </a:prstGeom>
          <a:noFill/>
        </p:spPr>
        <p:txBody>
          <a:bodyPr wrap="square" rtlCol="0">
            <a:spAutoFit/>
          </a:bodyPr>
          <a:lstStyle/>
          <a:p>
            <a:r>
              <a:rPr lang="en-IN" sz="2600" dirty="0">
                <a:solidFill>
                  <a:srgbClr val="FF0000"/>
                </a:solidFill>
              </a:rPr>
              <a:t>26ways 26ways 26ways 	 10way  10ways </a:t>
            </a:r>
            <a:r>
              <a:rPr lang="en-IN" sz="2600" dirty="0" err="1">
                <a:solidFill>
                  <a:srgbClr val="FF0000"/>
                </a:solidFill>
              </a:rPr>
              <a:t>10ways</a:t>
            </a:r>
            <a:endParaRPr lang="en-IN" sz="2600" dirty="0">
              <a:solidFill>
                <a:srgbClr val="FF0000"/>
              </a:solidFill>
            </a:endParaRPr>
          </a:p>
        </p:txBody>
      </p:sp>
      <p:sp>
        <p:nvSpPr>
          <p:cNvPr id="66" name="TextBox 65">
            <a:extLst>
              <a:ext uri="{FF2B5EF4-FFF2-40B4-BE49-F238E27FC236}">
                <a16:creationId xmlns:a16="http://schemas.microsoft.com/office/drawing/2014/main" id="{35787781-2376-4C65-BC9F-3457D75FEFBF}"/>
              </a:ext>
            </a:extLst>
          </p:cNvPr>
          <p:cNvSpPr txBox="1"/>
          <p:nvPr/>
        </p:nvSpPr>
        <p:spPr>
          <a:xfrm>
            <a:off x="444956" y="5281821"/>
            <a:ext cx="8504904" cy="492443"/>
          </a:xfrm>
          <a:prstGeom prst="rect">
            <a:avLst/>
          </a:prstGeom>
          <a:noFill/>
        </p:spPr>
        <p:txBody>
          <a:bodyPr wrap="square" rtlCol="0">
            <a:spAutoFit/>
          </a:bodyPr>
          <a:lstStyle/>
          <a:p>
            <a:r>
              <a:rPr lang="en-IN" sz="2600" dirty="0">
                <a:solidFill>
                  <a:srgbClr val="FF0000"/>
                </a:solidFill>
              </a:rPr>
              <a:t>= n</a:t>
            </a:r>
            <a:r>
              <a:rPr lang="en-IN" sz="2600" baseline="-25000" dirty="0">
                <a:solidFill>
                  <a:srgbClr val="FF0000"/>
                </a:solidFill>
              </a:rPr>
              <a:t>1</a:t>
            </a:r>
            <a:r>
              <a:rPr lang="en-IN" sz="2600" dirty="0">
                <a:solidFill>
                  <a:srgbClr val="FF0000"/>
                </a:solidFill>
              </a:rPr>
              <a:t>*	 n</a:t>
            </a:r>
            <a:r>
              <a:rPr lang="en-IN" sz="2600" baseline="-25000" dirty="0">
                <a:solidFill>
                  <a:srgbClr val="FF0000"/>
                </a:solidFill>
              </a:rPr>
              <a:t>2		</a:t>
            </a:r>
            <a:r>
              <a:rPr lang="en-IN" sz="2600" dirty="0">
                <a:solidFill>
                  <a:srgbClr val="FF0000"/>
                </a:solidFill>
              </a:rPr>
              <a:t>* n</a:t>
            </a:r>
            <a:r>
              <a:rPr lang="en-IN" sz="2600" baseline="-25000" dirty="0">
                <a:solidFill>
                  <a:srgbClr val="FF0000"/>
                </a:solidFill>
              </a:rPr>
              <a:t>3</a:t>
            </a:r>
            <a:r>
              <a:rPr lang="en-IN" sz="2600" dirty="0">
                <a:solidFill>
                  <a:srgbClr val="FF0000"/>
                </a:solidFill>
              </a:rPr>
              <a:t>  *	 n</a:t>
            </a:r>
            <a:r>
              <a:rPr lang="en-IN" sz="2600" baseline="-25000" dirty="0">
                <a:solidFill>
                  <a:srgbClr val="FF0000"/>
                </a:solidFill>
              </a:rPr>
              <a:t>4</a:t>
            </a:r>
            <a:r>
              <a:rPr lang="en-IN" sz="2600" dirty="0">
                <a:solidFill>
                  <a:srgbClr val="FF0000"/>
                </a:solidFill>
              </a:rPr>
              <a:t>	 *  n</a:t>
            </a:r>
            <a:r>
              <a:rPr lang="en-IN" sz="2600" baseline="-25000" dirty="0">
                <a:solidFill>
                  <a:srgbClr val="FF0000"/>
                </a:solidFill>
              </a:rPr>
              <a:t>5 </a:t>
            </a:r>
            <a:r>
              <a:rPr lang="en-IN" sz="2600" dirty="0">
                <a:solidFill>
                  <a:srgbClr val="FF0000"/>
                </a:solidFill>
              </a:rPr>
              <a:t>*  n</a:t>
            </a:r>
            <a:r>
              <a:rPr lang="en-IN" sz="2600" baseline="-25000" dirty="0">
                <a:solidFill>
                  <a:srgbClr val="FF0000"/>
                </a:solidFill>
              </a:rPr>
              <a:t>6 </a:t>
            </a:r>
            <a:endParaRPr lang="en-IN" sz="2600" dirty="0">
              <a:solidFill>
                <a:srgbClr val="FF0000"/>
              </a:solidFill>
            </a:endParaRPr>
          </a:p>
        </p:txBody>
      </p:sp>
      <p:sp>
        <p:nvSpPr>
          <p:cNvPr id="68" name="TextBox 67">
            <a:extLst>
              <a:ext uri="{FF2B5EF4-FFF2-40B4-BE49-F238E27FC236}">
                <a16:creationId xmlns:a16="http://schemas.microsoft.com/office/drawing/2014/main" id="{1B8F4CC5-F7EF-4DE3-BD90-EA6D5F70FB12}"/>
              </a:ext>
            </a:extLst>
          </p:cNvPr>
          <p:cNvSpPr txBox="1"/>
          <p:nvPr/>
        </p:nvSpPr>
        <p:spPr>
          <a:xfrm>
            <a:off x="444956" y="5864599"/>
            <a:ext cx="8504904" cy="492443"/>
          </a:xfrm>
          <a:prstGeom prst="rect">
            <a:avLst/>
          </a:prstGeom>
          <a:noFill/>
        </p:spPr>
        <p:txBody>
          <a:bodyPr wrap="square" rtlCol="0">
            <a:spAutoFit/>
          </a:bodyPr>
          <a:lstStyle/>
          <a:p>
            <a:r>
              <a:rPr lang="en-IN" sz="2600" dirty="0">
                <a:solidFill>
                  <a:srgbClr val="FF0000"/>
                </a:solidFill>
              </a:rPr>
              <a:t>= 26*	 26</a:t>
            </a:r>
            <a:r>
              <a:rPr lang="en-IN" sz="2600" baseline="-25000" dirty="0">
                <a:solidFill>
                  <a:srgbClr val="FF0000"/>
                </a:solidFill>
              </a:rPr>
              <a:t>	</a:t>
            </a:r>
            <a:r>
              <a:rPr lang="en-IN" sz="2600" dirty="0">
                <a:solidFill>
                  <a:srgbClr val="FF0000"/>
                </a:solidFill>
              </a:rPr>
              <a:t>*	 26  *	 10	 * 10	 * 10</a:t>
            </a:r>
          </a:p>
        </p:txBody>
      </p:sp>
      <p:sp>
        <p:nvSpPr>
          <p:cNvPr id="116" name="TextBox 115">
            <a:extLst>
              <a:ext uri="{FF2B5EF4-FFF2-40B4-BE49-F238E27FC236}">
                <a16:creationId xmlns:a16="http://schemas.microsoft.com/office/drawing/2014/main" id="{496F6156-C3F1-4D51-B10E-F0EC275BF64B}"/>
              </a:ext>
            </a:extLst>
          </p:cNvPr>
          <p:cNvSpPr txBox="1"/>
          <p:nvPr/>
        </p:nvSpPr>
        <p:spPr>
          <a:xfrm>
            <a:off x="1788543" y="1454506"/>
            <a:ext cx="889019" cy="2677656"/>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r>
              <a:rPr lang="en-IN" sz="2400" dirty="0">
                <a:solidFill>
                  <a:srgbClr val="FFFF00"/>
                </a:solidFill>
              </a:rPr>
              <a:t>……</a:t>
            </a:r>
          </a:p>
          <a:p>
            <a:pPr algn="ctr"/>
            <a:r>
              <a:rPr lang="en-IN" sz="2400" dirty="0">
                <a:solidFill>
                  <a:srgbClr val="FFFF00"/>
                </a:solidFill>
              </a:rPr>
              <a:t>Z</a:t>
            </a:r>
            <a:endParaRPr lang="en-IN" sz="2000" dirty="0">
              <a:solidFill>
                <a:srgbClr val="FFFF00"/>
              </a:solidFill>
            </a:endParaRPr>
          </a:p>
        </p:txBody>
      </p:sp>
      <p:sp>
        <p:nvSpPr>
          <p:cNvPr id="117" name="TextBox 116">
            <a:extLst>
              <a:ext uri="{FF2B5EF4-FFF2-40B4-BE49-F238E27FC236}">
                <a16:creationId xmlns:a16="http://schemas.microsoft.com/office/drawing/2014/main" id="{51400F77-E9C6-4835-A6B4-04D8C65CA96A}"/>
              </a:ext>
            </a:extLst>
          </p:cNvPr>
          <p:cNvSpPr txBox="1"/>
          <p:nvPr/>
        </p:nvSpPr>
        <p:spPr>
          <a:xfrm>
            <a:off x="3125481" y="1402173"/>
            <a:ext cx="889019" cy="2677656"/>
          </a:xfrm>
          <a:prstGeom prst="rect">
            <a:avLst/>
          </a:prstGeom>
          <a:noFill/>
        </p:spPr>
        <p:txBody>
          <a:bodyPr wrap="square" rtlCol="0">
            <a:spAutoFit/>
          </a:bodyPr>
          <a:lstStyle/>
          <a:p>
            <a:pPr algn="ctr"/>
            <a:r>
              <a:rPr lang="en-IN" sz="2400" dirty="0">
                <a:solidFill>
                  <a:srgbClr val="FFFF00"/>
                </a:solidFill>
              </a:rPr>
              <a:t>A</a:t>
            </a:r>
          </a:p>
          <a:p>
            <a:pPr algn="ctr"/>
            <a:endParaRPr lang="en-IN" sz="2400" dirty="0">
              <a:solidFill>
                <a:srgbClr val="FFFF00"/>
              </a:solidFill>
            </a:endParaRPr>
          </a:p>
          <a:p>
            <a:pPr algn="ctr"/>
            <a:r>
              <a:rPr lang="en-IN" sz="2400" dirty="0">
                <a:solidFill>
                  <a:srgbClr val="FFFF00"/>
                </a:solidFill>
              </a:rPr>
              <a:t>B</a:t>
            </a:r>
          </a:p>
          <a:p>
            <a:pPr algn="ctr"/>
            <a:endParaRPr lang="en-IN" sz="2400" dirty="0">
              <a:solidFill>
                <a:srgbClr val="FFFF00"/>
              </a:solidFill>
            </a:endParaRPr>
          </a:p>
          <a:p>
            <a:pPr algn="ctr"/>
            <a:r>
              <a:rPr lang="en-IN" sz="2400" dirty="0">
                <a:solidFill>
                  <a:srgbClr val="FFFF00"/>
                </a:solidFill>
              </a:rPr>
              <a:t>C</a:t>
            </a:r>
          </a:p>
          <a:p>
            <a:pPr algn="ctr"/>
            <a:r>
              <a:rPr lang="en-IN" sz="2400" dirty="0">
                <a:solidFill>
                  <a:srgbClr val="FFFF00"/>
                </a:solidFill>
              </a:rPr>
              <a:t>……</a:t>
            </a:r>
          </a:p>
          <a:p>
            <a:pPr algn="ctr"/>
            <a:r>
              <a:rPr lang="en-IN" sz="2400" dirty="0">
                <a:solidFill>
                  <a:srgbClr val="FFFF00"/>
                </a:solidFill>
              </a:rPr>
              <a:t>Z</a:t>
            </a:r>
            <a:endParaRPr lang="en-IN" sz="2000" dirty="0">
              <a:solidFill>
                <a:srgbClr val="FFFF00"/>
              </a:solidFill>
            </a:endParaRPr>
          </a:p>
        </p:txBody>
      </p:sp>
      <p:sp>
        <p:nvSpPr>
          <p:cNvPr id="120" name="TextBox 119">
            <a:extLst>
              <a:ext uri="{FF2B5EF4-FFF2-40B4-BE49-F238E27FC236}">
                <a16:creationId xmlns:a16="http://schemas.microsoft.com/office/drawing/2014/main" id="{9B32081F-EC7A-4666-BC6B-BCC1B17E5975}"/>
              </a:ext>
            </a:extLst>
          </p:cNvPr>
          <p:cNvSpPr txBox="1"/>
          <p:nvPr/>
        </p:nvSpPr>
        <p:spPr>
          <a:xfrm>
            <a:off x="545690" y="6212558"/>
            <a:ext cx="8504904" cy="523220"/>
          </a:xfrm>
          <a:prstGeom prst="rect">
            <a:avLst/>
          </a:prstGeom>
          <a:noFill/>
        </p:spPr>
        <p:txBody>
          <a:bodyPr wrap="square" rtlCol="0">
            <a:spAutoFit/>
          </a:bodyPr>
          <a:lstStyle/>
          <a:p>
            <a:r>
              <a:rPr lang="en-IN" sz="2600" dirty="0">
                <a:solidFill>
                  <a:srgbClr val="FF0000"/>
                </a:solidFill>
              </a:rPr>
              <a:t>= </a:t>
            </a:r>
            <a:r>
              <a:rPr lang="en-US" sz="2800" dirty="0"/>
              <a:t>= 17,576,000 </a:t>
            </a:r>
            <a:endParaRPr lang="en-IN" sz="2600" dirty="0">
              <a:solidFill>
                <a:srgbClr val="FF0000"/>
              </a:solidFill>
            </a:endParaRPr>
          </a:p>
        </p:txBody>
      </p:sp>
      <p:sp>
        <p:nvSpPr>
          <p:cNvPr id="69" name="Oval 68">
            <a:extLst>
              <a:ext uri="{FF2B5EF4-FFF2-40B4-BE49-F238E27FC236}">
                <a16:creationId xmlns:a16="http://schemas.microsoft.com/office/drawing/2014/main" id="{94AAD758-76F8-4866-995F-B79020333E1D}"/>
              </a:ext>
            </a:extLst>
          </p:cNvPr>
          <p:cNvSpPr/>
          <p:nvPr/>
        </p:nvSpPr>
        <p:spPr>
          <a:xfrm>
            <a:off x="5605241" y="1347131"/>
            <a:ext cx="972029" cy="3172404"/>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18DED12F-55B1-4001-B884-9C0E3139126B}"/>
              </a:ext>
            </a:extLst>
          </p:cNvPr>
          <p:cNvSpPr/>
          <p:nvPr/>
        </p:nvSpPr>
        <p:spPr>
          <a:xfrm>
            <a:off x="6843986" y="1302478"/>
            <a:ext cx="972029" cy="3172404"/>
          </a:xfrm>
          <a:prstGeom prst="ellipse">
            <a:avLst/>
          </a:prstGeom>
          <a:solidFill>
            <a:srgbClr val="00B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Box 72">
            <a:extLst>
              <a:ext uri="{FF2B5EF4-FFF2-40B4-BE49-F238E27FC236}">
                <a16:creationId xmlns:a16="http://schemas.microsoft.com/office/drawing/2014/main" id="{4ECCB70F-EE9D-4F32-A051-1D1CC8A33042}"/>
              </a:ext>
            </a:extLst>
          </p:cNvPr>
          <p:cNvSpPr txBox="1"/>
          <p:nvPr/>
        </p:nvSpPr>
        <p:spPr>
          <a:xfrm>
            <a:off x="4564279" y="1460476"/>
            <a:ext cx="889019" cy="2677656"/>
          </a:xfrm>
          <a:prstGeom prst="rect">
            <a:avLst/>
          </a:prstGeom>
          <a:noFill/>
        </p:spPr>
        <p:txBody>
          <a:bodyPr wrap="square" rtlCol="0">
            <a:spAutoFit/>
          </a:bodyPr>
          <a:lstStyle/>
          <a:p>
            <a:pPr algn="ctr"/>
            <a:r>
              <a:rPr lang="en-IN" sz="2400" dirty="0">
                <a:solidFill>
                  <a:srgbClr val="FFFF00"/>
                </a:solidFill>
              </a:rPr>
              <a:t>1</a:t>
            </a:r>
          </a:p>
          <a:p>
            <a:pPr algn="ctr"/>
            <a:endParaRPr lang="en-IN" sz="2400" dirty="0">
              <a:solidFill>
                <a:srgbClr val="FFFF00"/>
              </a:solidFill>
            </a:endParaRPr>
          </a:p>
          <a:p>
            <a:pPr algn="ctr"/>
            <a:r>
              <a:rPr lang="en-IN" sz="2400" dirty="0">
                <a:solidFill>
                  <a:srgbClr val="FFFF00"/>
                </a:solidFill>
              </a:rPr>
              <a:t>2</a:t>
            </a:r>
          </a:p>
          <a:p>
            <a:pPr algn="ctr"/>
            <a:endParaRPr lang="en-IN" sz="2400" dirty="0">
              <a:solidFill>
                <a:srgbClr val="FFFF00"/>
              </a:solidFill>
            </a:endParaRPr>
          </a:p>
          <a:p>
            <a:pPr algn="ctr"/>
            <a:r>
              <a:rPr lang="en-IN" sz="2400" dirty="0">
                <a:solidFill>
                  <a:srgbClr val="FFFF00"/>
                </a:solidFill>
              </a:rPr>
              <a:t>3</a:t>
            </a:r>
          </a:p>
          <a:p>
            <a:pPr algn="ctr"/>
            <a:r>
              <a:rPr lang="en-IN" sz="2400" dirty="0">
                <a:solidFill>
                  <a:srgbClr val="FFFF00"/>
                </a:solidFill>
              </a:rPr>
              <a:t>……</a:t>
            </a:r>
          </a:p>
          <a:p>
            <a:pPr algn="ctr"/>
            <a:r>
              <a:rPr lang="en-IN" sz="2400" dirty="0">
                <a:solidFill>
                  <a:srgbClr val="FFFF00"/>
                </a:solidFill>
              </a:rPr>
              <a:t>10</a:t>
            </a:r>
            <a:endParaRPr lang="en-IN" sz="2000" dirty="0">
              <a:solidFill>
                <a:srgbClr val="FFFF00"/>
              </a:solidFill>
            </a:endParaRPr>
          </a:p>
        </p:txBody>
      </p:sp>
      <p:sp>
        <p:nvSpPr>
          <p:cNvPr id="74" name="TextBox 73">
            <a:extLst>
              <a:ext uri="{FF2B5EF4-FFF2-40B4-BE49-F238E27FC236}">
                <a16:creationId xmlns:a16="http://schemas.microsoft.com/office/drawing/2014/main" id="{3FD20C83-8342-46E0-917B-1E69B4C3BE34}"/>
              </a:ext>
            </a:extLst>
          </p:cNvPr>
          <p:cNvSpPr txBox="1"/>
          <p:nvPr/>
        </p:nvSpPr>
        <p:spPr>
          <a:xfrm>
            <a:off x="5670838" y="1523425"/>
            <a:ext cx="889019" cy="2677656"/>
          </a:xfrm>
          <a:prstGeom prst="rect">
            <a:avLst/>
          </a:prstGeom>
          <a:noFill/>
        </p:spPr>
        <p:txBody>
          <a:bodyPr wrap="square" rtlCol="0">
            <a:spAutoFit/>
          </a:bodyPr>
          <a:lstStyle/>
          <a:p>
            <a:pPr algn="ctr"/>
            <a:r>
              <a:rPr lang="en-IN" sz="2400" dirty="0">
                <a:solidFill>
                  <a:srgbClr val="FFFF00"/>
                </a:solidFill>
              </a:rPr>
              <a:t>1</a:t>
            </a:r>
          </a:p>
          <a:p>
            <a:pPr algn="ctr"/>
            <a:endParaRPr lang="en-IN" sz="2400" dirty="0">
              <a:solidFill>
                <a:srgbClr val="FFFF00"/>
              </a:solidFill>
            </a:endParaRPr>
          </a:p>
          <a:p>
            <a:pPr algn="ctr"/>
            <a:r>
              <a:rPr lang="en-IN" sz="2400" dirty="0">
                <a:solidFill>
                  <a:srgbClr val="FFFF00"/>
                </a:solidFill>
              </a:rPr>
              <a:t>2</a:t>
            </a:r>
          </a:p>
          <a:p>
            <a:pPr algn="ctr"/>
            <a:endParaRPr lang="en-IN" sz="2400" dirty="0">
              <a:solidFill>
                <a:srgbClr val="FFFF00"/>
              </a:solidFill>
            </a:endParaRPr>
          </a:p>
          <a:p>
            <a:pPr algn="ctr"/>
            <a:r>
              <a:rPr lang="en-IN" sz="2400" dirty="0">
                <a:solidFill>
                  <a:srgbClr val="FFFF00"/>
                </a:solidFill>
              </a:rPr>
              <a:t>3</a:t>
            </a:r>
          </a:p>
          <a:p>
            <a:pPr algn="ctr"/>
            <a:r>
              <a:rPr lang="en-IN" sz="2400" dirty="0">
                <a:solidFill>
                  <a:srgbClr val="FFFF00"/>
                </a:solidFill>
              </a:rPr>
              <a:t>……</a:t>
            </a:r>
          </a:p>
          <a:p>
            <a:pPr algn="ctr"/>
            <a:r>
              <a:rPr lang="en-IN" sz="2400" dirty="0">
                <a:solidFill>
                  <a:srgbClr val="FFFF00"/>
                </a:solidFill>
              </a:rPr>
              <a:t>10</a:t>
            </a:r>
            <a:endParaRPr lang="en-IN" sz="2000" dirty="0">
              <a:solidFill>
                <a:srgbClr val="FFFF00"/>
              </a:solidFill>
            </a:endParaRPr>
          </a:p>
        </p:txBody>
      </p:sp>
      <p:sp>
        <p:nvSpPr>
          <p:cNvPr id="76" name="TextBox 75">
            <a:extLst>
              <a:ext uri="{FF2B5EF4-FFF2-40B4-BE49-F238E27FC236}">
                <a16:creationId xmlns:a16="http://schemas.microsoft.com/office/drawing/2014/main" id="{8EE49717-BBD3-4A46-BEEE-6347FD5FF466}"/>
              </a:ext>
            </a:extLst>
          </p:cNvPr>
          <p:cNvSpPr txBox="1"/>
          <p:nvPr/>
        </p:nvSpPr>
        <p:spPr>
          <a:xfrm>
            <a:off x="6930209" y="1454506"/>
            <a:ext cx="889019" cy="2677656"/>
          </a:xfrm>
          <a:prstGeom prst="rect">
            <a:avLst/>
          </a:prstGeom>
          <a:noFill/>
        </p:spPr>
        <p:txBody>
          <a:bodyPr wrap="square" rtlCol="0">
            <a:spAutoFit/>
          </a:bodyPr>
          <a:lstStyle/>
          <a:p>
            <a:pPr algn="ctr"/>
            <a:r>
              <a:rPr lang="en-IN" sz="2400" dirty="0">
                <a:solidFill>
                  <a:srgbClr val="FFFF00"/>
                </a:solidFill>
              </a:rPr>
              <a:t>1</a:t>
            </a:r>
          </a:p>
          <a:p>
            <a:pPr algn="ctr"/>
            <a:endParaRPr lang="en-IN" sz="2400" dirty="0">
              <a:solidFill>
                <a:srgbClr val="FFFF00"/>
              </a:solidFill>
            </a:endParaRPr>
          </a:p>
          <a:p>
            <a:pPr algn="ctr"/>
            <a:r>
              <a:rPr lang="en-IN" sz="2400" dirty="0">
                <a:solidFill>
                  <a:srgbClr val="FFFF00"/>
                </a:solidFill>
              </a:rPr>
              <a:t>2</a:t>
            </a:r>
          </a:p>
          <a:p>
            <a:pPr algn="ctr"/>
            <a:endParaRPr lang="en-IN" sz="2400" dirty="0">
              <a:solidFill>
                <a:srgbClr val="FFFF00"/>
              </a:solidFill>
            </a:endParaRPr>
          </a:p>
          <a:p>
            <a:pPr algn="ctr"/>
            <a:r>
              <a:rPr lang="en-IN" sz="2400" dirty="0">
                <a:solidFill>
                  <a:srgbClr val="FFFF00"/>
                </a:solidFill>
              </a:rPr>
              <a:t>3</a:t>
            </a:r>
          </a:p>
          <a:p>
            <a:pPr algn="ctr"/>
            <a:r>
              <a:rPr lang="en-IN" sz="2400" dirty="0">
                <a:solidFill>
                  <a:srgbClr val="FFFF00"/>
                </a:solidFill>
              </a:rPr>
              <a:t>……</a:t>
            </a:r>
          </a:p>
          <a:p>
            <a:pPr algn="ctr"/>
            <a:r>
              <a:rPr lang="en-IN" sz="2400" dirty="0">
                <a:solidFill>
                  <a:srgbClr val="FFFF00"/>
                </a:solidFill>
              </a:rPr>
              <a:t>10</a:t>
            </a:r>
            <a:endParaRPr lang="en-IN" sz="2000" dirty="0">
              <a:solidFill>
                <a:srgbClr val="FFFF00"/>
              </a:solidFill>
            </a:endParaRPr>
          </a:p>
        </p:txBody>
      </p:sp>
      <p:sp>
        <p:nvSpPr>
          <p:cNvPr id="77" name="TextBox 76">
            <a:extLst>
              <a:ext uri="{FF2B5EF4-FFF2-40B4-BE49-F238E27FC236}">
                <a16:creationId xmlns:a16="http://schemas.microsoft.com/office/drawing/2014/main" id="{B0A940BE-1382-44D3-9D8E-46B080F7149E}"/>
              </a:ext>
            </a:extLst>
          </p:cNvPr>
          <p:cNvSpPr txBox="1"/>
          <p:nvPr/>
        </p:nvSpPr>
        <p:spPr>
          <a:xfrm>
            <a:off x="260845" y="4507506"/>
            <a:ext cx="8504904" cy="492443"/>
          </a:xfrm>
          <a:prstGeom prst="rect">
            <a:avLst/>
          </a:prstGeom>
          <a:noFill/>
        </p:spPr>
        <p:txBody>
          <a:bodyPr wrap="square" rtlCol="0">
            <a:spAutoFit/>
          </a:bodyPr>
          <a:lstStyle/>
          <a:p>
            <a:r>
              <a:rPr lang="en-IN" sz="2600" dirty="0">
                <a:solidFill>
                  <a:srgbClr val="FF0000"/>
                </a:solidFill>
              </a:rPr>
              <a:t>26ways 26ways 26ways 	 10way  10ways </a:t>
            </a:r>
            <a:r>
              <a:rPr lang="en-IN" sz="2600" dirty="0" err="1">
                <a:solidFill>
                  <a:srgbClr val="FF0000"/>
                </a:solidFill>
              </a:rPr>
              <a:t>10ways</a:t>
            </a:r>
            <a:endParaRPr lang="en-IN" sz="2600" dirty="0">
              <a:solidFill>
                <a:srgbClr val="FF0000"/>
              </a:solidFill>
            </a:endParaRPr>
          </a:p>
        </p:txBody>
      </p:sp>
      <p:sp>
        <p:nvSpPr>
          <p:cNvPr id="79" name="TextBox 78">
            <a:extLst>
              <a:ext uri="{FF2B5EF4-FFF2-40B4-BE49-F238E27FC236}">
                <a16:creationId xmlns:a16="http://schemas.microsoft.com/office/drawing/2014/main" id="{4B5AEA6A-D08E-4AB9-8FA8-884731FBC76D}"/>
              </a:ext>
            </a:extLst>
          </p:cNvPr>
          <p:cNvSpPr txBox="1"/>
          <p:nvPr/>
        </p:nvSpPr>
        <p:spPr>
          <a:xfrm>
            <a:off x="444956" y="5283444"/>
            <a:ext cx="8504904" cy="492443"/>
          </a:xfrm>
          <a:prstGeom prst="rect">
            <a:avLst/>
          </a:prstGeom>
          <a:noFill/>
        </p:spPr>
        <p:txBody>
          <a:bodyPr wrap="square" rtlCol="0">
            <a:spAutoFit/>
          </a:bodyPr>
          <a:lstStyle/>
          <a:p>
            <a:r>
              <a:rPr lang="en-IN" sz="2600" dirty="0">
                <a:solidFill>
                  <a:srgbClr val="FF0000"/>
                </a:solidFill>
              </a:rPr>
              <a:t>= n</a:t>
            </a:r>
            <a:r>
              <a:rPr lang="en-IN" sz="2600" baseline="-25000" dirty="0">
                <a:solidFill>
                  <a:srgbClr val="FF0000"/>
                </a:solidFill>
              </a:rPr>
              <a:t>1</a:t>
            </a:r>
            <a:r>
              <a:rPr lang="en-IN" sz="2600" dirty="0">
                <a:solidFill>
                  <a:srgbClr val="FF0000"/>
                </a:solidFill>
              </a:rPr>
              <a:t>*	 n</a:t>
            </a:r>
            <a:r>
              <a:rPr lang="en-IN" sz="2600" baseline="-25000" dirty="0">
                <a:solidFill>
                  <a:srgbClr val="FF0000"/>
                </a:solidFill>
              </a:rPr>
              <a:t>2		</a:t>
            </a:r>
            <a:r>
              <a:rPr lang="en-IN" sz="2600" dirty="0">
                <a:solidFill>
                  <a:srgbClr val="FF0000"/>
                </a:solidFill>
              </a:rPr>
              <a:t>* n</a:t>
            </a:r>
            <a:r>
              <a:rPr lang="en-IN" sz="2600" baseline="-25000" dirty="0">
                <a:solidFill>
                  <a:srgbClr val="FF0000"/>
                </a:solidFill>
              </a:rPr>
              <a:t>3</a:t>
            </a:r>
            <a:r>
              <a:rPr lang="en-IN" sz="2600" dirty="0">
                <a:solidFill>
                  <a:srgbClr val="FF0000"/>
                </a:solidFill>
              </a:rPr>
              <a:t>  *	 n</a:t>
            </a:r>
            <a:r>
              <a:rPr lang="en-IN" sz="2600" baseline="-25000" dirty="0">
                <a:solidFill>
                  <a:srgbClr val="FF0000"/>
                </a:solidFill>
              </a:rPr>
              <a:t>4</a:t>
            </a:r>
            <a:r>
              <a:rPr lang="en-IN" sz="2600" dirty="0">
                <a:solidFill>
                  <a:srgbClr val="FF0000"/>
                </a:solidFill>
              </a:rPr>
              <a:t>	 *  n</a:t>
            </a:r>
            <a:r>
              <a:rPr lang="en-IN" sz="2600" baseline="-25000" dirty="0">
                <a:solidFill>
                  <a:srgbClr val="FF0000"/>
                </a:solidFill>
              </a:rPr>
              <a:t>5 </a:t>
            </a:r>
            <a:r>
              <a:rPr lang="en-IN" sz="2600" dirty="0">
                <a:solidFill>
                  <a:srgbClr val="FF0000"/>
                </a:solidFill>
              </a:rPr>
              <a:t>*  n</a:t>
            </a:r>
            <a:r>
              <a:rPr lang="en-IN" sz="2600" baseline="-25000" dirty="0">
                <a:solidFill>
                  <a:srgbClr val="FF0000"/>
                </a:solidFill>
              </a:rPr>
              <a:t>6 </a:t>
            </a:r>
            <a:endParaRPr lang="en-IN" sz="2600" dirty="0">
              <a:solidFill>
                <a:srgbClr val="FF0000"/>
              </a:solidFill>
            </a:endParaRPr>
          </a:p>
        </p:txBody>
      </p:sp>
    </p:spTree>
    <p:extLst>
      <p:ext uri="{BB962C8B-B14F-4D97-AF65-F5344CB8AC3E}">
        <p14:creationId xmlns:p14="http://schemas.microsoft.com/office/powerpoint/2010/main" val="447276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5" grpId="0"/>
      <p:bldP spid="66" grpId="0"/>
      <p:bldP spid="68" grpId="0"/>
      <p:bldP spid="120" grpId="0"/>
      <p:bldP spid="77"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b="1" dirty="0"/>
              <a:t>Ques:- </a:t>
            </a:r>
            <a:r>
              <a:rPr lang="en-US" dirty="0"/>
              <a:t>Six different airlines fly from New York to Delhi and seven fly from Delhi to San Francisco. </a:t>
            </a:r>
          </a:p>
          <a:p>
            <a:pPr marL="0" indent="0">
              <a:buNone/>
            </a:pPr>
            <a:endParaRPr lang="en-US" dirty="0"/>
          </a:p>
          <a:p>
            <a:pPr marL="0" indent="0">
              <a:buNone/>
            </a:pPr>
            <a:r>
              <a:rPr lang="en-US" dirty="0"/>
              <a:t>How many different pairs of airlines can you choose on which to book a trip from New York to San Francisco via Delhi, when you pick an airline for the flight to Delhi and an airline for the continuation flight to San Francisco?</a:t>
            </a:r>
            <a:endParaRPr lang="en-IN" dirty="0"/>
          </a:p>
        </p:txBody>
      </p:sp>
    </p:spTree>
    <p:extLst>
      <p:ext uri="{BB962C8B-B14F-4D97-AF65-F5344CB8AC3E}">
        <p14:creationId xmlns:p14="http://schemas.microsoft.com/office/powerpoint/2010/main" val="334013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FCFC4-94AB-41C3-8C09-D754937F53C4}"/>
              </a:ext>
            </a:extLst>
          </p:cNvPr>
          <p:cNvSpPr>
            <a:spLocks noGrp="1"/>
          </p:cNvSpPr>
          <p:nvPr>
            <p:ph type="title"/>
          </p:nvPr>
        </p:nvSpPr>
        <p:spPr>
          <a:xfrm>
            <a:off x="238539" y="-7938"/>
            <a:ext cx="8504904" cy="1080000"/>
          </a:xfrm>
        </p:spPr>
        <p:txBody>
          <a:bodyPr/>
          <a:lstStyle/>
          <a:p>
            <a:r>
              <a:rPr lang="en-IN" dirty="0"/>
              <a:t>Basics of Counting – Example </a:t>
            </a:r>
          </a:p>
        </p:txBody>
      </p:sp>
      <p:sp>
        <p:nvSpPr>
          <p:cNvPr id="4" name="Oval 3">
            <a:extLst>
              <a:ext uri="{FF2B5EF4-FFF2-40B4-BE49-F238E27FC236}">
                <a16:creationId xmlns:a16="http://schemas.microsoft.com/office/drawing/2014/main" id="{51D3A770-D071-4563-8EE3-3ADF47B3617B}"/>
              </a:ext>
            </a:extLst>
          </p:cNvPr>
          <p:cNvSpPr/>
          <p:nvPr/>
        </p:nvSpPr>
        <p:spPr>
          <a:xfrm>
            <a:off x="238539" y="4323522"/>
            <a:ext cx="1490870" cy="1172817"/>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C55C0FF-2379-4808-85BD-C911C8908CE6}"/>
              </a:ext>
            </a:extLst>
          </p:cNvPr>
          <p:cNvSpPr txBox="1"/>
          <p:nvPr/>
        </p:nvSpPr>
        <p:spPr>
          <a:xfrm>
            <a:off x="516835" y="4494431"/>
            <a:ext cx="1033669" cy="830997"/>
          </a:xfrm>
          <a:prstGeom prst="rect">
            <a:avLst/>
          </a:prstGeom>
          <a:noFill/>
        </p:spPr>
        <p:txBody>
          <a:bodyPr wrap="square" rtlCol="0">
            <a:spAutoFit/>
          </a:bodyPr>
          <a:lstStyle/>
          <a:p>
            <a:r>
              <a:rPr lang="en-IN" sz="2400" dirty="0"/>
              <a:t>New York</a:t>
            </a:r>
          </a:p>
        </p:txBody>
      </p:sp>
      <p:sp>
        <p:nvSpPr>
          <p:cNvPr id="9" name="Oval 8">
            <a:extLst>
              <a:ext uri="{FF2B5EF4-FFF2-40B4-BE49-F238E27FC236}">
                <a16:creationId xmlns:a16="http://schemas.microsoft.com/office/drawing/2014/main" id="{8EA1518A-78C5-4128-8FCC-A2553EE2318C}"/>
              </a:ext>
            </a:extLst>
          </p:cNvPr>
          <p:cNvSpPr/>
          <p:nvPr/>
        </p:nvSpPr>
        <p:spPr>
          <a:xfrm>
            <a:off x="3687417" y="4353339"/>
            <a:ext cx="1490870" cy="1172817"/>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1405DBB6-3EED-44BD-9697-E7032491DF25}"/>
              </a:ext>
            </a:extLst>
          </p:cNvPr>
          <p:cNvSpPr txBox="1"/>
          <p:nvPr/>
        </p:nvSpPr>
        <p:spPr>
          <a:xfrm>
            <a:off x="3988902" y="4496375"/>
            <a:ext cx="1033669" cy="461665"/>
          </a:xfrm>
          <a:prstGeom prst="rect">
            <a:avLst/>
          </a:prstGeom>
          <a:noFill/>
        </p:spPr>
        <p:txBody>
          <a:bodyPr wrap="square" rtlCol="0">
            <a:spAutoFit/>
          </a:bodyPr>
          <a:lstStyle/>
          <a:p>
            <a:r>
              <a:rPr lang="en-IN" sz="2400" dirty="0"/>
              <a:t>Delhi</a:t>
            </a:r>
          </a:p>
        </p:txBody>
      </p:sp>
      <p:sp>
        <p:nvSpPr>
          <p:cNvPr id="11" name="Oval 10">
            <a:extLst>
              <a:ext uri="{FF2B5EF4-FFF2-40B4-BE49-F238E27FC236}">
                <a16:creationId xmlns:a16="http://schemas.microsoft.com/office/drawing/2014/main" id="{FA760D48-F94A-421C-AF5B-69C39591CC4D}"/>
              </a:ext>
            </a:extLst>
          </p:cNvPr>
          <p:cNvSpPr/>
          <p:nvPr/>
        </p:nvSpPr>
        <p:spPr>
          <a:xfrm>
            <a:off x="7136295" y="4323522"/>
            <a:ext cx="1490870" cy="1172817"/>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FFDEC122-9DCD-4C50-8D72-883DED43B044}"/>
              </a:ext>
            </a:extLst>
          </p:cNvPr>
          <p:cNvSpPr txBox="1"/>
          <p:nvPr/>
        </p:nvSpPr>
        <p:spPr>
          <a:xfrm>
            <a:off x="7106478" y="4335407"/>
            <a:ext cx="1600199" cy="830997"/>
          </a:xfrm>
          <a:prstGeom prst="rect">
            <a:avLst/>
          </a:prstGeom>
          <a:noFill/>
        </p:spPr>
        <p:txBody>
          <a:bodyPr wrap="square" rtlCol="0">
            <a:spAutoFit/>
          </a:bodyPr>
          <a:lstStyle/>
          <a:p>
            <a:pPr algn="ctr"/>
            <a:r>
              <a:rPr lang="en-IN" sz="2400" dirty="0"/>
              <a:t>San Francisco</a:t>
            </a:r>
          </a:p>
        </p:txBody>
      </p:sp>
      <p:sp>
        <p:nvSpPr>
          <p:cNvPr id="15" name="Arc 14">
            <a:extLst>
              <a:ext uri="{FF2B5EF4-FFF2-40B4-BE49-F238E27FC236}">
                <a16:creationId xmlns:a16="http://schemas.microsoft.com/office/drawing/2014/main" id="{7A5EBCE4-B942-46C1-8C59-2D683AE2FBDB}"/>
              </a:ext>
            </a:extLst>
          </p:cNvPr>
          <p:cNvSpPr/>
          <p:nvPr/>
        </p:nvSpPr>
        <p:spPr>
          <a:xfrm>
            <a:off x="4528930" y="2236166"/>
            <a:ext cx="3216963" cy="4121713"/>
          </a:xfrm>
          <a:prstGeom prst="arc">
            <a:avLst>
              <a:gd name="adj1" fmla="val 10786895"/>
              <a:gd name="adj2" fmla="val 75266"/>
            </a:avLst>
          </a:prstGeom>
          <a:solidFill>
            <a:schemeClr val="bg1"/>
          </a:solid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Arc 15">
            <a:extLst>
              <a:ext uri="{FF2B5EF4-FFF2-40B4-BE49-F238E27FC236}">
                <a16:creationId xmlns:a16="http://schemas.microsoft.com/office/drawing/2014/main" id="{D0BC57D4-EC9C-44E3-A442-FAE43A0AC3AB}"/>
              </a:ext>
            </a:extLst>
          </p:cNvPr>
          <p:cNvSpPr/>
          <p:nvPr/>
        </p:nvSpPr>
        <p:spPr>
          <a:xfrm>
            <a:off x="4648199" y="2726546"/>
            <a:ext cx="2802835" cy="3317970"/>
          </a:xfrm>
          <a:prstGeom prst="arc">
            <a:avLst>
              <a:gd name="adj1" fmla="val 10917109"/>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Arc 18">
            <a:extLst>
              <a:ext uri="{FF2B5EF4-FFF2-40B4-BE49-F238E27FC236}">
                <a16:creationId xmlns:a16="http://schemas.microsoft.com/office/drawing/2014/main" id="{AC056F34-8F9A-460B-849E-4A428161315C}"/>
              </a:ext>
            </a:extLst>
          </p:cNvPr>
          <p:cNvSpPr/>
          <p:nvPr/>
        </p:nvSpPr>
        <p:spPr>
          <a:xfrm>
            <a:off x="4631636" y="3392468"/>
            <a:ext cx="2763075" cy="2665301"/>
          </a:xfrm>
          <a:prstGeom prst="arc">
            <a:avLst>
              <a:gd name="adj1" fmla="val 11752698"/>
              <a:gd name="adj2" fmla="val 20943720"/>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Arc 19">
            <a:extLst>
              <a:ext uri="{FF2B5EF4-FFF2-40B4-BE49-F238E27FC236}">
                <a16:creationId xmlns:a16="http://schemas.microsoft.com/office/drawing/2014/main" id="{8F5F6E1A-E769-4E17-A658-4902BDFFD18D}"/>
              </a:ext>
            </a:extLst>
          </p:cNvPr>
          <p:cNvSpPr/>
          <p:nvPr/>
        </p:nvSpPr>
        <p:spPr>
          <a:xfrm>
            <a:off x="4416281" y="1861088"/>
            <a:ext cx="3561528" cy="4851806"/>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 name="Arc 20">
            <a:extLst>
              <a:ext uri="{FF2B5EF4-FFF2-40B4-BE49-F238E27FC236}">
                <a16:creationId xmlns:a16="http://schemas.microsoft.com/office/drawing/2014/main" id="{9732FB6A-3AC6-4912-8F19-0F703274678A}"/>
              </a:ext>
            </a:extLst>
          </p:cNvPr>
          <p:cNvSpPr/>
          <p:nvPr/>
        </p:nvSpPr>
        <p:spPr>
          <a:xfrm>
            <a:off x="4439474" y="1585492"/>
            <a:ext cx="3561528" cy="5369253"/>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2" name="Arc 21">
            <a:extLst>
              <a:ext uri="{FF2B5EF4-FFF2-40B4-BE49-F238E27FC236}">
                <a16:creationId xmlns:a16="http://schemas.microsoft.com/office/drawing/2014/main" id="{984F8D53-7609-4CCC-B558-332DA720A7D5}"/>
              </a:ext>
            </a:extLst>
          </p:cNvPr>
          <p:cNvSpPr/>
          <p:nvPr/>
        </p:nvSpPr>
        <p:spPr>
          <a:xfrm>
            <a:off x="4403033" y="1215799"/>
            <a:ext cx="3561528" cy="6278971"/>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nvGrpSpPr>
          <p:cNvPr id="32" name="Group 31">
            <a:extLst>
              <a:ext uri="{FF2B5EF4-FFF2-40B4-BE49-F238E27FC236}">
                <a16:creationId xmlns:a16="http://schemas.microsoft.com/office/drawing/2014/main" id="{4932BC18-55BF-4CCD-9D44-7C99F8531A60}"/>
              </a:ext>
            </a:extLst>
          </p:cNvPr>
          <p:cNvGrpSpPr/>
          <p:nvPr/>
        </p:nvGrpSpPr>
        <p:grpSpPr>
          <a:xfrm>
            <a:off x="904444" y="1213459"/>
            <a:ext cx="3597969" cy="6278971"/>
            <a:chOff x="997224" y="1252330"/>
            <a:chExt cx="3597969" cy="6278971"/>
          </a:xfrm>
        </p:grpSpPr>
        <p:sp>
          <p:nvSpPr>
            <p:cNvPr id="33" name="Arc 32">
              <a:extLst>
                <a:ext uri="{FF2B5EF4-FFF2-40B4-BE49-F238E27FC236}">
                  <a16:creationId xmlns:a16="http://schemas.microsoft.com/office/drawing/2014/main" id="{7106B9E5-6ED1-42F6-930C-84136466B54F}"/>
                </a:ext>
              </a:extLst>
            </p:cNvPr>
            <p:cNvSpPr/>
            <p:nvPr/>
          </p:nvSpPr>
          <p:spPr>
            <a:xfrm>
              <a:off x="1123121" y="2272697"/>
              <a:ext cx="3216963" cy="4121713"/>
            </a:xfrm>
            <a:prstGeom prst="arc">
              <a:avLst>
                <a:gd name="adj1" fmla="val 10786895"/>
                <a:gd name="adj2" fmla="val 75266"/>
              </a:avLst>
            </a:prstGeom>
            <a:solidFill>
              <a:schemeClr val="bg1"/>
            </a:solid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4" name="Arc 33">
              <a:extLst>
                <a:ext uri="{FF2B5EF4-FFF2-40B4-BE49-F238E27FC236}">
                  <a16:creationId xmlns:a16="http://schemas.microsoft.com/office/drawing/2014/main" id="{EDCE1A09-D101-43C0-8C1C-A90D3E83381D}"/>
                </a:ext>
              </a:extLst>
            </p:cNvPr>
            <p:cNvSpPr/>
            <p:nvPr/>
          </p:nvSpPr>
          <p:spPr>
            <a:xfrm>
              <a:off x="1242390" y="2763077"/>
              <a:ext cx="2802835" cy="3317970"/>
            </a:xfrm>
            <a:prstGeom prst="arc">
              <a:avLst>
                <a:gd name="adj1" fmla="val 10917109"/>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5" name="Arc 34">
              <a:extLst>
                <a:ext uri="{FF2B5EF4-FFF2-40B4-BE49-F238E27FC236}">
                  <a16:creationId xmlns:a16="http://schemas.microsoft.com/office/drawing/2014/main" id="{5110585E-C74A-4F71-BBD4-56A453B80199}"/>
                </a:ext>
              </a:extLst>
            </p:cNvPr>
            <p:cNvSpPr/>
            <p:nvPr/>
          </p:nvSpPr>
          <p:spPr>
            <a:xfrm>
              <a:off x="1225827" y="3428999"/>
              <a:ext cx="2763075" cy="2665301"/>
            </a:xfrm>
            <a:prstGeom prst="arc">
              <a:avLst>
                <a:gd name="adj1" fmla="val 11752698"/>
                <a:gd name="adj2" fmla="val 20943720"/>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6" name="Arc 35">
              <a:extLst>
                <a:ext uri="{FF2B5EF4-FFF2-40B4-BE49-F238E27FC236}">
                  <a16:creationId xmlns:a16="http://schemas.microsoft.com/office/drawing/2014/main" id="{4E948632-F424-4BA8-8F13-A76D10F1FF0B}"/>
                </a:ext>
              </a:extLst>
            </p:cNvPr>
            <p:cNvSpPr/>
            <p:nvPr/>
          </p:nvSpPr>
          <p:spPr>
            <a:xfrm>
              <a:off x="1010472" y="1897619"/>
              <a:ext cx="3561528" cy="4851806"/>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7" name="Arc 36">
              <a:extLst>
                <a:ext uri="{FF2B5EF4-FFF2-40B4-BE49-F238E27FC236}">
                  <a16:creationId xmlns:a16="http://schemas.microsoft.com/office/drawing/2014/main" id="{F6EC9302-57BE-42E3-8DB0-7E0250E6858C}"/>
                </a:ext>
              </a:extLst>
            </p:cNvPr>
            <p:cNvSpPr/>
            <p:nvPr/>
          </p:nvSpPr>
          <p:spPr>
            <a:xfrm>
              <a:off x="1033665" y="1622023"/>
              <a:ext cx="3561528" cy="5369253"/>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8" name="Arc 37">
              <a:extLst>
                <a:ext uri="{FF2B5EF4-FFF2-40B4-BE49-F238E27FC236}">
                  <a16:creationId xmlns:a16="http://schemas.microsoft.com/office/drawing/2014/main" id="{A32986FB-1049-450F-888D-8B688BAD1342}"/>
                </a:ext>
              </a:extLst>
            </p:cNvPr>
            <p:cNvSpPr/>
            <p:nvPr/>
          </p:nvSpPr>
          <p:spPr>
            <a:xfrm>
              <a:off x="997224" y="1252330"/>
              <a:ext cx="3561528" cy="6278971"/>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9" name="TextBox 38">
            <a:extLst>
              <a:ext uri="{FF2B5EF4-FFF2-40B4-BE49-F238E27FC236}">
                <a16:creationId xmlns:a16="http://schemas.microsoft.com/office/drawing/2014/main" id="{CBABED01-0F8B-4797-A69D-DAC64EF9AF7B}"/>
              </a:ext>
            </a:extLst>
          </p:cNvPr>
          <p:cNvSpPr txBox="1"/>
          <p:nvPr/>
        </p:nvSpPr>
        <p:spPr>
          <a:xfrm>
            <a:off x="2007704" y="3558209"/>
            <a:ext cx="1282148" cy="461665"/>
          </a:xfrm>
          <a:prstGeom prst="rect">
            <a:avLst/>
          </a:prstGeom>
          <a:noFill/>
        </p:spPr>
        <p:txBody>
          <a:bodyPr wrap="square" rtlCol="0">
            <a:spAutoFit/>
          </a:bodyPr>
          <a:lstStyle/>
          <a:p>
            <a:r>
              <a:rPr lang="en-IN" sz="2400" dirty="0"/>
              <a:t>ND1</a:t>
            </a:r>
          </a:p>
        </p:txBody>
      </p:sp>
      <p:sp>
        <p:nvSpPr>
          <p:cNvPr id="40" name="TextBox 39">
            <a:extLst>
              <a:ext uri="{FF2B5EF4-FFF2-40B4-BE49-F238E27FC236}">
                <a16:creationId xmlns:a16="http://schemas.microsoft.com/office/drawing/2014/main" id="{2074D84E-E51D-40ED-81CA-D4BAAD5D2795}"/>
              </a:ext>
            </a:extLst>
          </p:cNvPr>
          <p:cNvSpPr txBox="1"/>
          <p:nvPr/>
        </p:nvSpPr>
        <p:spPr>
          <a:xfrm>
            <a:off x="1997748" y="2819329"/>
            <a:ext cx="1282148" cy="461665"/>
          </a:xfrm>
          <a:prstGeom prst="rect">
            <a:avLst/>
          </a:prstGeom>
          <a:noFill/>
        </p:spPr>
        <p:txBody>
          <a:bodyPr wrap="square" rtlCol="0">
            <a:spAutoFit/>
          </a:bodyPr>
          <a:lstStyle/>
          <a:p>
            <a:r>
              <a:rPr lang="en-IN" sz="2400" dirty="0"/>
              <a:t>ND1</a:t>
            </a:r>
          </a:p>
        </p:txBody>
      </p:sp>
      <p:grpSp>
        <p:nvGrpSpPr>
          <p:cNvPr id="41" name="Group 40">
            <a:extLst>
              <a:ext uri="{FF2B5EF4-FFF2-40B4-BE49-F238E27FC236}">
                <a16:creationId xmlns:a16="http://schemas.microsoft.com/office/drawing/2014/main" id="{64B3327B-04E0-428B-8F13-A0954B220550}"/>
              </a:ext>
            </a:extLst>
          </p:cNvPr>
          <p:cNvGrpSpPr/>
          <p:nvPr/>
        </p:nvGrpSpPr>
        <p:grpSpPr>
          <a:xfrm>
            <a:off x="904444" y="1223398"/>
            <a:ext cx="3597969" cy="6278971"/>
            <a:chOff x="997224" y="1252330"/>
            <a:chExt cx="3597969" cy="6278971"/>
          </a:xfrm>
        </p:grpSpPr>
        <p:sp>
          <p:nvSpPr>
            <p:cNvPr id="42" name="Arc 41">
              <a:extLst>
                <a:ext uri="{FF2B5EF4-FFF2-40B4-BE49-F238E27FC236}">
                  <a16:creationId xmlns:a16="http://schemas.microsoft.com/office/drawing/2014/main" id="{326D64DC-E6D9-48DC-A809-1FFD8FC4B9BC}"/>
                </a:ext>
              </a:extLst>
            </p:cNvPr>
            <p:cNvSpPr/>
            <p:nvPr/>
          </p:nvSpPr>
          <p:spPr>
            <a:xfrm>
              <a:off x="1123121" y="2272697"/>
              <a:ext cx="3216963" cy="4121713"/>
            </a:xfrm>
            <a:prstGeom prst="arc">
              <a:avLst>
                <a:gd name="adj1" fmla="val 10786895"/>
                <a:gd name="adj2" fmla="val 75266"/>
              </a:avLst>
            </a:prstGeom>
            <a:solidFill>
              <a:schemeClr val="bg1"/>
            </a:solid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3" name="Arc 42">
              <a:extLst>
                <a:ext uri="{FF2B5EF4-FFF2-40B4-BE49-F238E27FC236}">
                  <a16:creationId xmlns:a16="http://schemas.microsoft.com/office/drawing/2014/main" id="{FDC52F24-BC18-4C0C-BFAC-51C98D97916D}"/>
                </a:ext>
              </a:extLst>
            </p:cNvPr>
            <p:cNvSpPr/>
            <p:nvPr/>
          </p:nvSpPr>
          <p:spPr>
            <a:xfrm>
              <a:off x="1242390" y="2763077"/>
              <a:ext cx="2802835" cy="3317970"/>
            </a:xfrm>
            <a:prstGeom prst="arc">
              <a:avLst>
                <a:gd name="adj1" fmla="val 10917109"/>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4" name="Arc 43">
              <a:extLst>
                <a:ext uri="{FF2B5EF4-FFF2-40B4-BE49-F238E27FC236}">
                  <a16:creationId xmlns:a16="http://schemas.microsoft.com/office/drawing/2014/main" id="{6E29E9DE-A5B5-4BD2-B23A-3F0E4A2AF3B8}"/>
                </a:ext>
              </a:extLst>
            </p:cNvPr>
            <p:cNvSpPr/>
            <p:nvPr/>
          </p:nvSpPr>
          <p:spPr>
            <a:xfrm>
              <a:off x="1225827" y="3428999"/>
              <a:ext cx="2763075" cy="2665301"/>
            </a:xfrm>
            <a:prstGeom prst="arc">
              <a:avLst>
                <a:gd name="adj1" fmla="val 11752698"/>
                <a:gd name="adj2" fmla="val 20943720"/>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5" name="Arc 44">
              <a:extLst>
                <a:ext uri="{FF2B5EF4-FFF2-40B4-BE49-F238E27FC236}">
                  <a16:creationId xmlns:a16="http://schemas.microsoft.com/office/drawing/2014/main" id="{9EEDF75D-C69F-40DB-BCF2-E3648BA04F45}"/>
                </a:ext>
              </a:extLst>
            </p:cNvPr>
            <p:cNvSpPr/>
            <p:nvPr/>
          </p:nvSpPr>
          <p:spPr>
            <a:xfrm>
              <a:off x="1010472" y="1897619"/>
              <a:ext cx="3561528" cy="4851806"/>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6" name="Arc 45">
              <a:extLst>
                <a:ext uri="{FF2B5EF4-FFF2-40B4-BE49-F238E27FC236}">
                  <a16:creationId xmlns:a16="http://schemas.microsoft.com/office/drawing/2014/main" id="{C9E55A09-D8ED-4BBC-9DD1-67723C90D069}"/>
                </a:ext>
              </a:extLst>
            </p:cNvPr>
            <p:cNvSpPr/>
            <p:nvPr/>
          </p:nvSpPr>
          <p:spPr>
            <a:xfrm>
              <a:off x="1033665" y="1622023"/>
              <a:ext cx="3561528" cy="5369253"/>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7" name="Arc 46">
              <a:extLst>
                <a:ext uri="{FF2B5EF4-FFF2-40B4-BE49-F238E27FC236}">
                  <a16:creationId xmlns:a16="http://schemas.microsoft.com/office/drawing/2014/main" id="{4C010411-579B-456F-AEBB-107163640FC9}"/>
                </a:ext>
              </a:extLst>
            </p:cNvPr>
            <p:cNvSpPr/>
            <p:nvPr/>
          </p:nvSpPr>
          <p:spPr>
            <a:xfrm>
              <a:off x="997224" y="1252330"/>
              <a:ext cx="3561528" cy="6278971"/>
            </a:xfrm>
            <a:prstGeom prst="arc">
              <a:avLst>
                <a:gd name="adj1" fmla="val 10786895"/>
                <a:gd name="adj2" fmla="val 75266"/>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48" name="TextBox 47">
            <a:extLst>
              <a:ext uri="{FF2B5EF4-FFF2-40B4-BE49-F238E27FC236}">
                <a16:creationId xmlns:a16="http://schemas.microsoft.com/office/drawing/2014/main" id="{5E908924-C022-4974-9BA0-251AC75C4123}"/>
              </a:ext>
            </a:extLst>
          </p:cNvPr>
          <p:cNvSpPr txBox="1"/>
          <p:nvPr/>
        </p:nvSpPr>
        <p:spPr>
          <a:xfrm>
            <a:off x="1997748" y="2829268"/>
            <a:ext cx="1282148" cy="461665"/>
          </a:xfrm>
          <a:prstGeom prst="rect">
            <a:avLst/>
          </a:prstGeom>
          <a:noFill/>
        </p:spPr>
        <p:txBody>
          <a:bodyPr wrap="square" rtlCol="0">
            <a:spAutoFit/>
          </a:bodyPr>
          <a:lstStyle/>
          <a:p>
            <a:r>
              <a:rPr lang="en-IN" sz="2400" dirty="0"/>
              <a:t>ND5</a:t>
            </a:r>
          </a:p>
        </p:txBody>
      </p:sp>
      <p:sp>
        <p:nvSpPr>
          <p:cNvPr id="57" name="TextBox 56">
            <a:extLst>
              <a:ext uri="{FF2B5EF4-FFF2-40B4-BE49-F238E27FC236}">
                <a16:creationId xmlns:a16="http://schemas.microsoft.com/office/drawing/2014/main" id="{BC93CAD3-CDD0-43C8-A6E1-33363A54AA32}"/>
              </a:ext>
            </a:extLst>
          </p:cNvPr>
          <p:cNvSpPr txBox="1"/>
          <p:nvPr/>
        </p:nvSpPr>
        <p:spPr>
          <a:xfrm>
            <a:off x="2011002" y="3478621"/>
            <a:ext cx="1282148" cy="461665"/>
          </a:xfrm>
          <a:prstGeom prst="rect">
            <a:avLst/>
          </a:prstGeom>
          <a:noFill/>
        </p:spPr>
        <p:txBody>
          <a:bodyPr wrap="square" rtlCol="0">
            <a:spAutoFit/>
          </a:bodyPr>
          <a:lstStyle/>
          <a:p>
            <a:r>
              <a:rPr lang="en-IN" sz="2400" dirty="0"/>
              <a:t>ND6</a:t>
            </a:r>
          </a:p>
        </p:txBody>
      </p:sp>
      <p:sp>
        <p:nvSpPr>
          <p:cNvPr id="58" name="TextBox 57">
            <a:extLst>
              <a:ext uri="{FF2B5EF4-FFF2-40B4-BE49-F238E27FC236}">
                <a16:creationId xmlns:a16="http://schemas.microsoft.com/office/drawing/2014/main" id="{1DD4B0D2-9847-4CCB-967E-C4376C5D32EF}"/>
              </a:ext>
            </a:extLst>
          </p:cNvPr>
          <p:cNvSpPr txBox="1"/>
          <p:nvPr/>
        </p:nvSpPr>
        <p:spPr>
          <a:xfrm>
            <a:off x="2150148" y="2266050"/>
            <a:ext cx="1282148" cy="461665"/>
          </a:xfrm>
          <a:prstGeom prst="rect">
            <a:avLst/>
          </a:prstGeom>
          <a:noFill/>
        </p:spPr>
        <p:txBody>
          <a:bodyPr wrap="square" rtlCol="0">
            <a:spAutoFit/>
          </a:bodyPr>
          <a:lstStyle/>
          <a:p>
            <a:r>
              <a:rPr lang="en-IN" sz="2400" dirty="0"/>
              <a:t>ND4</a:t>
            </a:r>
          </a:p>
        </p:txBody>
      </p:sp>
      <p:sp>
        <p:nvSpPr>
          <p:cNvPr id="59" name="TextBox 58">
            <a:extLst>
              <a:ext uri="{FF2B5EF4-FFF2-40B4-BE49-F238E27FC236}">
                <a16:creationId xmlns:a16="http://schemas.microsoft.com/office/drawing/2014/main" id="{1B199290-395D-4D65-B9A0-9209D05C9AFA}"/>
              </a:ext>
            </a:extLst>
          </p:cNvPr>
          <p:cNvSpPr txBox="1"/>
          <p:nvPr/>
        </p:nvSpPr>
        <p:spPr>
          <a:xfrm>
            <a:off x="2150148" y="1898303"/>
            <a:ext cx="1282148" cy="461665"/>
          </a:xfrm>
          <a:prstGeom prst="rect">
            <a:avLst/>
          </a:prstGeom>
          <a:noFill/>
        </p:spPr>
        <p:txBody>
          <a:bodyPr wrap="square" rtlCol="0">
            <a:spAutoFit/>
          </a:bodyPr>
          <a:lstStyle/>
          <a:p>
            <a:r>
              <a:rPr lang="en-IN" sz="2400" dirty="0"/>
              <a:t>ND3</a:t>
            </a:r>
          </a:p>
        </p:txBody>
      </p:sp>
      <p:sp>
        <p:nvSpPr>
          <p:cNvPr id="60" name="TextBox 59">
            <a:extLst>
              <a:ext uri="{FF2B5EF4-FFF2-40B4-BE49-F238E27FC236}">
                <a16:creationId xmlns:a16="http://schemas.microsoft.com/office/drawing/2014/main" id="{9EFD6BE6-CB1F-4ABE-95DE-D9AAB9E7361F}"/>
              </a:ext>
            </a:extLst>
          </p:cNvPr>
          <p:cNvSpPr txBox="1"/>
          <p:nvPr/>
        </p:nvSpPr>
        <p:spPr>
          <a:xfrm>
            <a:off x="2150148" y="1530555"/>
            <a:ext cx="1282148" cy="461665"/>
          </a:xfrm>
          <a:prstGeom prst="rect">
            <a:avLst/>
          </a:prstGeom>
          <a:noFill/>
        </p:spPr>
        <p:txBody>
          <a:bodyPr wrap="square" rtlCol="0">
            <a:spAutoFit/>
          </a:bodyPr>
          <a:lstStyle/>
          <a:p>
            <a:r>
              <a:rPr lang="en-IN" sz="2400" dirty="0"/>
              <a:t>ND2</a:t>
            </a:r>
          </a:p>
        </p:txBody>
      </p:sp>
      <p:sp>
        <p:nvSpPr>
          <p:cNvPr id="61" name="TextBox 60">
            <a:extLst>
              <a:ext uri="{FF2B5EF4-FFF2-40B4-BE49-F238E27FC236}">
                <a16:creationId xmlns:a16="http://schemas.microsoft.com/office/drawing/2014/main" id="{3FCA077E-1FC3-415C-9B62-C72585A2CD2D}"/>
              </a:ext>
            </a:extLst>
          </p:cNvPr>
          <p:cNvSpPr txBox="1"/>
          <p:nvPr/>
        </p:nvSpPr>
        <p:spPr>
          <a:xfrm>
            <a:off x="2150148" y="1232383"/>
            <a:ext cx="1282148" cy="461665"/>
          </a:xfrm>
          <a:prstGeom prst="rect">
            <a:avLst/>
          </a:prstGeom>
          <a:noFill/>
        </p:spPr>
        <p:txBody>
          <a:bodyPr wrap="square" rtlCol="0">
            <a:spAutoFit/>
          </a:bodyPr>
          <a:lstStyle/>
          <a:p>
            <a:r>
              <a:rPr lang="en-IN" sz="2400" dirty="0"/>
              <a:t>ND1</a:t>
            </a:r>
          </a:p>
        </p:txBody>
      </p:sp>
      <p:sp>
        <p:nvSpPr>
          <p:cNvPr id="62" name="TextBox 61">
            <a:extLst>
              <a:ext uri="{FF2B5EF4-FFF2-40B4-BE49-F238E27FC236}">
                <a16:creationId xmlns:a16="http://schemas.microsoft.com/office/drawing/2014/main" id="{66597371-E269-4FC8-870D-8577F7240C8D}"/>
              </a:ext>
            </a:extLst>
          </p:cNvPr>
          <p:cNvSpPr txBox="1"/>
          <p:nvPr/>
        </p:nvSpPr>
        <p:spPr>
          <a:xfrm>
            <a:off x="5599042" y="3521768"/>
            <a:ext cx="1282148" cy="461665"/>
          </a:xfrm>
          <a:prstGeom prst="rect">
            <a:avLst/>
          </a:prstGeom>
          <a:noFill/>
        </p:spPr>
        <p:txBody>
          <a:bodyPr wrap="square" rtlCol="0">
            <a:spAutoFit/>
          </a:bodyPr>
          <a:lstStyle/>
          <a:p>
            <a:r>
              <a:rPr lang="en-IN" sz="2400" dirty="0"/>
              <a:t>DS6</a:t>
            </a:r>
          </a:p>
        </p:txBody>
      </p:sp>
      <p:sp>
        <p:nvSpPr>
          <p:cNvPr id="63" name="TextBox 62">
            <a:extLst>
              <a:ext uri="{FF2B5EF4-FFF2-40B4-BE49-F238E27FC236}">
                <a16:creationId xmlns:a16="http://schemas.microsoft.com/office/drawing/2014/main" id="{08BAF34C-532B-4DD5-B2D4-14B96BEF61B9}"/>
              </a:ext>
            </a:extLst>
          </p:cNvPr>
          <p:cNvSpPr txBox="1"/>
          <p:nvPr/>
        </p:nvSpPr>
        <p:spPr>
          <a:xfrm>
            <a:off x="5589086" y="2782888"/>
            <a:ext cx="1282148" cy="461665"/>
          </a:xfrm>
          <a:prstGeom prst="rect">
            <a:avLst/>
          </a:prstGeom>
          <a:noFill/>
        </p:spPr>
        <p:txBody>
          <a:bodyPr wrap="square" rtlCol="0">
            <a:spAutoFit/>
          </a:bodyPr>
          <a:lstStyle/>
          <a:p>
            <a:r>
              <a:rPr lang="en-IN" sz="2400" dirty="0"/>
              <a:t>DS5</a:t>
            </a:r>
          </a:p>
        </p:txBody>
      </p:sp>
      <p:sp>
        <p:nvSpPr>
          <p:cNvPr id="66" name="TextBox 65">
            <a:extLst>
              <a:ext uri="{FF2B5EF4-FFF2-40B4-BE49-F238E27FC236}">
                <a16:creationId xmlns:a16="http://schemas.microsoft.com/office/drawing/2014/main" id="{CE786833-FE23-459E-8520-E06EC58DA4DE}"/>
              </a:ext>
            </a:extLst>
          </p:cNvPr>
          <p:cNvSpPr txBox="1"/>
          <p:nvPr/>
        </p:nvSpPr>
        <p:spPr>
          <a:xfrm>
            <a:off x="5741486" y="2229609"/>
            <a:ext cx="1282148" cy="461665"/>
          </a:xfrm>
          <a:prstGeom prst="rect">
            <a:avLst/>
          </a:prstGeom>
          <a:noFill/>
        </p:spPr>
        <p:txBody>
          <a:bodyPr wrap="square" rtlCol="0">
            <a:spAutoFit/>
          </a:bodyPr>
          <a:lstStyle/>
          <a:p>
            <a:r>
              <a:rPr lang="en-IN" sz="2400" dirty="0"/>
              <a:t>DS4</a:t>
            </a:r>
          </a:p>
        </p:txBody>
      </p:sp>
      <p:sp>
        <p:nvSpPr>
          <p:cNvPr id="67" name="TextBox 66">
            <a:extLst>
              <a:ext uri="{FF2B5EF4-FFF2-40B4-BE49-F238E27FC236}">
                <a16:creationId xmlns:a16="http://schemas.microsoft.com/office/drawing/2014/main" id="{FA08A6AD-09C5-4B58-9A0A-2538CF7D1396}"/>
              </a:ext>
            </a:extLst>
          </p:cNvPr>
          <p:cNvSpPr txBox="1"/>
          <p:nvPr/>
        </p:nvSpPr>
        <p:spPr>
          <a:xfrm>
            <a:off x="5741486" y="1861862"/>
            <a:ext cx="1282148" cy="461665"/>
          </a:xfrm>
          <a:prstGeom prst="rect">
            <a:avLst/>
          </a:prstGeom>
          <a:noFill/>
        </p:spPr>
        <p:txBody>
          <a:bodyPr wrap="square" rtlCol="0">
            <a:spAutoFit/>
          </a:bodyPr>
          <a:lstStyle/>
          <a:p>
            <a:r>
              <a:rPr lang="en-IN" sz="2400" dirty="0"/>
              <a:t>DS3</a:t>
            </a:r>
          </a:p>
        </p:txBody>
      </p:sp>
      <p:sp>
        <p:nvSpPr>
          <p:cNvPr id="68" name="TextBox 67">
            <a:extLst>
              <a:ext uri="{FF2B5EF4-FFF2-40B4-BE49-F238E27FC236}">
                <a16:creationId xmlns:a16="http://schemas.microsoft.com/office/drawing/2014/main" id="{84BB535B-B1FD-467D-B9A9-71A2101C728E}"/>
              </a:ext>
            </a:extLst>
          </p:cNvPr>
          <p:cNvSpPr txBox="1"/>
          <p:nvPr/>
        </p:nvSpPr>
        <p:spPr>
          <a:xfrm>
            <a:off x="5741486" y="1494114"/>
            <a:ext cx="1282148" cy="461665"/>
          </a:xfrm>
          <a:prstGeom prst="rect">
            <a:avLst/>
          </a:prstGeom>
          <a:noFill/>
        </p:spPr>
        <p:txBody>
          <a:bodyPr wrap="square" rtlCol="0">
            <a:spAutoFit/>
          </a:bodyPr>
          <a:lstStyle/>
          <a:p>
            <a:r>
              <a:rPr lang="en-IN" sz="2400" dirty="0"/>
              <a:t>DS2</a:t>
            </a:r>
          </a:p>
        </p:txBody>
      </p:sp>
      <p:sp>
        <p:nvSpPr>
          <p:cNvPr id="69" name="TextBox 68">
            <a:extLst>
              <a:ext uri="{FF2B5EF4-FFF2-40B4-BE49-F238E27FC236}">
                <a16:creationId xmlns:a16="http://schemas.microsoft.com/office/drawing/2014/main" id="{542772BD-3EA3-4019-9090-04E17909D19B}"/>
              </a:ext>
            </a:extLst>
          </p:cNvPr>
          <p:cNvSpPr txBox="1"/>
          <p:nvPr/>
        </p:nvSpPr>
        <p:spPr>
          <a:xfrm>
            <a:off x="5741486" y="1195942"/>
            <a:ext cx="1282148" cy="461665"/>
          </a:xfrm>
          <a:prstGeom prst="rect">
            <a:avLst/>
          </a:prstGeom>
          <a:noFill/>
        </p:spPr>
        <p:txBody>
          <a:bodyPr wrap="square" rtlCol="0">
            <a:spAutoFit/>
          </a:bodyPr>
          <a:lstStyle/>
          <a:p>
            <a:r>
              <a:rPr lang="en-IN" sz="2400" dirty="0"/>
              <a:t>DS1</a:t>
            </a:r>
          </a:p>
        </p:txBody>
      </p:sp>
      <p:sp>
        <p:nvSpPr>
          <p:cNvPr id="76" name="Arc 75">
            <a:extLst>
              <a:ext uri="{FF2B5EF4-FFF2-40B4-BE49-F238E27FC236}">
                <a16:creationId xmlns:a16="http://schemas.microsoft.com/office/drawing/2014/main" id="{5098459D-97F5-4D76-84AC-E5407835BA75}"/>
              </a:ext>
            </a:extLst>
          </p:cNvPr>
          <p:cNvSpPr/>
          <p:nvPr/>
        </p:nvSpPr>
        <p:spPr>
          <a:xfrm>
            <a:off x="5118657" y="4015177"/>
            <a:ext cx="2073966" cy="1262650"/>
          </a:xfrm>
          <a:prstGeom prst="arc">
            <a:avLst>
              <a:gd name="adj1" fmla="val 10786895"/>
              <a:gd name="adj2" fmla="val 70034"/>
            </a:avLst>
          </a:prstGeom>
          <a:noFill/>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7" name="TextBox 76">
            <a:extLst>
              <a:ext uri="{FF2B5EF4-FFF2-40B4-BE49-F238E27FC236}">
                <a16:creationId xmlns:a16="http://schemas.microsoft.com/office/drawing/2014/main" id="{6539C9F4-E469-4808-9C58-D838436CA46B}"/>
              </a:ext>
            </a:extLst>
          </p:cNvPr>
          <p:cNvSpPr txBox="1"/>
          <p:nvPr/>
        </p:nvSpPr>
        <p:spPr>
          <a:xfrm>
            <a:off x="5622235" y="4071730"/>
            <a:ext cx="1282148" cy="461665"/>
          </a:xfrm>
          <a:prstGeom prst="rect">
            <a:avLst/>
          </a:prstGeom>
          <a:noFill/>
        </p:spPr>
        <p:txBody>
          <a:bodyPr wrap="square" rtlCol="0">
            <a:spAutoFit/>
          </a:bodyPr>
          <a:lstStyle/>
          <a:p>
            <a:r>
              <a:rPr lang="en-IN" sz="2400" dirty="0"/>
              <a:t>DS7</a:t>
            </a:r>
          </a:p>
        </p:txBody>
      </p:sp>
      <p:pic>
        <p:nvPicPr>
          <p:cNvPr id="1026" name="Picture 2" descr="Aeroplane Design and Engineering - OpenLearn - Open University">
            <a:extLst>
              <a:ext uri="{FF2B5EF4-FFF2-40B4-BE49-F238E27FC236}">
                <a16:creationId xmlns:a16="http://schemas.microsoft.com/office/drawing/2014/main" id="{A86C75F1-8E7C-4DC1-96A5-C54E644E1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40" y="1911437"/>
            <a:ext cx="1017798" cy="574455"/>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Aeroplane Design and Engineering - OpenLearn - Open University">
            <a:extLst>
              <a:ext uri="{FF2B5EF4-FFF2-40B4-BE49-F238E27FC236}">
                <a16:creationId xmlns:a16="http://schemas.microsoft.com/office/drawing/2014/main" id="{75566A1D-DB06-47C9-8B9E-3CF0BBDDE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4300" y="1149884"/>
            <a:ext cx="1017798" cy="574455"/>
          </a:xfrm>
          <a:prstGeom prst="rect">
            <a:avLst/>
          </a:prstGeom>
          <a:noFill/>
          <a:extLst>
            <a:ext uri="{909E8E84-426E-40DD-AFC4-6F175D3DCCD1}">
              <a14:hiddenFill xmlns:a14="http://schemas.microsoft.com/office/drawing/2010/main">
                <a:solidFill>
                  <a:srgbClr val="FFFFFF"/>
                </a:solidFill>
              </a14:hiddenFill>
            </a:ext>
          </a:extLst>
        </p:spPr>
      </p:pic>
      <p:sp>
        <p:nvSpPr>
          <p:cNvPr id="80" name="TextBox 79">
            <a:extLst>
              <a:ext uri="{FF2B5EF4-FFF2-40B4-BE49-F238E27FC236}">
                <a16:creationId xmlns:a16="http://schemas.microsoft.com/office/drawing/2014/main" id="{7C58496C-CC30-4A32-B679-C06694DEE85F}"/>
              </a:ext>
            </a:extLst>
          </p:cNvPr>
          <p:cNvSpPr txBox="1"/>
          <p:nvPr/>
        </p:nvSpPr>
        <p:spPr>
          <a:xfrm>
            <a:off x="444956" y="5424624"/>
            <a:ext cx="1490870" cy="892552"/>
          </a:xfrm>
          <a:prstGeom prst="rect">
            <a:avLst/>
          </a:prstGeom>
          <a:noFill/>
        </p:spPr>
        <p:txBody>
          <a:bodyPr wrap="square" rtlCol="0">
            <a:spAutoFit/>
          </a:bodyPr>
          <a:lstStyle/>
          <a:p>
            <a:r>
              <a:rPr lang="en-IN" sz="2600" dirty="0">
                <a:solidFill>
                  <a:srgbClr val="FF0000"/>
                </a:solidFill>
              </a:rPr>
              <a:t>= n</a:t>
            </a:r>
            <a:r>
              <a:rPr lang="en-IN" sz="2600" baseline="-25000" dirty="0">
                <a:solidFill>
                  <a:srgbClr val="FF0000"/>
                </a:solidFill>
              </a:rPr>
              <a:t>1</a:t>
            </a:r>
            <a:r>
              <a:rPr lang="en-IN" sz="2600" dirty="0">
                <a:solidFill>
                  <a:srgbClr val="FF0000"/>
                </a:solidFill>
              </a:rPr>
              <a:t>*	 n</a:t>
            </a:r>
            <a:r>
              <a:rPr lang="en-IN" sz="2600" baseline="-25000" dirty="0">
                <a:solidFill>
                  <a:srgbClr val="FF0000"/>
                </a:solidFill>
              </a:rPr>
              <a:t>2		</a:t>
            </a:r>
            <a:endParaRPr lang="en-IN" sz="2600" dirty="0">
              <a:solidFill>
                <a:srgbClr val="FF0000"/>
              </a:solidFill>
            </a:endParaRPr>
          </a:p>
        </p:txBody>
      </p:sp>
      <p:sp>
        <p:nvSpPr>
          <p:cNvPr id="81" name="TextBox 80">
            <a:extLst>
              <a:ext uri="{FF2B5EF4-FFF2-40B4-BE49-F238E27FC236}">
                <a16:creationId xmlns:a16="http://schemas.microsoft.com/office/drawing/2014/main" id="{192B124C-CDE2-4A8C-A7FC-0E71120EE2AC}"/>
              </a:ext>
            </a:extLst>
          </p:cNvPr>
          <p:cNvSpPr txBox="1"/>
          <p:nvPr/>
        </p:nvSpPr>
        <p:spPr>
          <a:xfrm>
            <a:off x="444956" y="5960778"/>
            <a:ext cx="1304333" cy="492443"/>
          </a:xfrm>
          <a:prstGeom prst="rect">
            <a:avLst/>
          </a:prstGeom>
          <a:noFill/>
        </p:spPr>
        <p:txBody>
          <a:bodyPr wrap="square" rtlCol="0">
            <a:spAutoFit/>
          </a:bodyPr>
          <a:lstStyle/>
          <a:p>
            <a:r>
              <a:rPr lang="en-IN" sz="2600" dirty="0">
                <a:solidFill>
                  <a:srgbClr val="FF0000"/>
                </a:solidFill>
              </a:rPr>
              <a:t>= 6*	7</a:t>
            </a:r>
          </a:p>
        </p:txBody>
      </p:sp>
      <p:sp>
        <p:nvSpPr>
          <p:cNvPr id="82" name="TextBox 81">
            <a:extLst>
              <a:ext uri="{FF2B5EF4-FFF2-40B4-BE49-F238E27FC236}">
                <a16:creationId xmlns:a16="http://schemas.microsoft.com/office/drawing/2014/main" id="{C4FDDD19-B0E8-410F-BDBC-636272171840}"/>
              </a:ext>
            </a:extLst>
          </p:cNvPr>
          <p:cNvSpPr txBox="1"/>
          <p:nvPr/>
        </p:nvSpPr>
        <p:spPr>
          <a:xfrm>
            <a:off x="466178" y="6280490"/>
            <a:ext cx="1183719" cy="523220"/>
          </a:xfrm>
          <a:prstGeom prst="rect">
            <a:avLst/>
          </a:prstGeom>
          <a:noFill/>
        </p:spPr>
        <p:txBody>
          <a:bodyPr wrap="square" rtlCol="0">
            <a:spAutoFit/>
          </a:bodyPr>
          <a:lstStyle/>
          <a:p>
            <a:r>
              <a:rPr lang="en-IN" sz="2600" dirty="0">
                <a:solidFill>
                  <a:srgbClr val="FF0000"/>
                </a:solidFill>
              </a:rPr>
              <a:t>= </a:t>
            </a:r>
            <a:r>
              <a:rPr lang="en-US" sz="2800" dirty="0"/>
              <a:t>42</a:t>
            </a:r>
            <a:endParaRPr lang="en-IN" sz="2600" dirty="0">
              <a:solidFill>
                <a:srgbClr val="FF0000"/>
              </a:solidFill>
            </a:endParaRPr>
          </a:p>
        </p:txBody>
      </p:sp>
      <p:sp>
        <p:nvSpPr>
          <p:cNvPr id="83" name="TextBox 82">
            <a:extLst>
              <a:ext uri="{FF2B5EF4-FFF2-40B4-BE49-F238E27FC236}">
                <a16:creationId xmlns:a16="http://schemas.microsoft.com/office/drawing/2014/main" id="{F6A02A20-7067-4F08-8DB2-6A60AB83DB47}"/>
              </a:ext>
            </a:extLst>
          </p:cNvPr>
          <p:cNvSpPr txBox="1"/>
          <p:nvPr/>
        </p:nvSpPr>
        <p:spPr>
          <a:xfrm>
            <a:off x="4433852" y="5418000"/>
            <a:ext cx="4501445" cy="492443"/>
          </a:xfrm>
          <a:prstGeom prst="rect">
            <a:avLst/>
          </a:prstGeom>
          <a:noFill/>
        </p:spPr>
        <p:txBody>
          <a:bodyPr wrap="square" rtlCol="0">
            <a:spAutoFit/>
          </a:bodyPr>
          <a:lstStyle/>
          <a:p>
            <a:r>
              <a:rPr lang="en-IN" sz="2600" dirty="0">
                <a:solidFill>
                  <a:srgbClr val="FF0000"/>
                </a:solidFill>
              </a:rPr>
              <a:t>ND1 DS1, etc</a:t>
            </a:r>
            <a:r>
              <a:rPr lang="en-IN" sz="2600" baseline="-25000" dirty="0">
                <a:solidFill>
                  <a:srgbClr val="FF0000"/>
                </a:solidFill>
              </a:rPr>
              <a:t>		</a:t>
            </a:r>
            <a:endParaRPr lang="en-IN" sz="2600" dirty="0">
              <a:solidFill>
                <a:srgbClr val="FF0000"/>
              </a:solidFill>
            </a:endParaRPr>
          </a:p>
        </p:txBody>
      </p:sp>
    </p:spTree>
    <p:extLst>
      <p:ext uri="{BB962C8B-B14F-4D97-AF65-F5344CB8AC3E}">
        <p14:creationId xmlns:p14="http://schemas.microsoft.com/office/powerpoint/2010/main" val="366209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1" grpId="0"/>
      <p:bldP spid="82" grpId="0"/>
      <p:bldP spid="8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E8C6-D02A-44C7-97C1-6218BA59866A}"/>
              </a:ext>
            </a:extLst>
          </p:cNvPr>
          <p:cNvSpPr>
            <a:spLocks noGrp="1"/>
          </p:cNvSpPr>
          <p:nvPr>
            <p:ph type="title"/>
          </p:nvPr>
        </p:nvSpPr>
        <p:spPr/>
        <p:txBody>
          <a:bodyPr/>
          <a:lstStyle/>
          <a:p>
            <a:r>
              <a:rPr lang="en-IN" dirty="0"/>
              <a:t>The Sum Rule</a:t>
            </a:r>
          </a:p>
        </p:txBody>
      </p:sp>
      <p:sp>
        <p:nvSpPr>
          <p:cNvPr id="3" name="Content Placeholder 2">
            <a:extLst>
              <a:ext uri="{FF2B5EF4-FFF2-40B4-BE49-F238E27FC236}">
                <a16:creationId xmlns:a16="http://schemas.microsoft.com/office/drawing/2014/main" id="{A28397F2-3379-4D7E-9C51-B270C41FD59F}"/>
              </a:ext>
            </a:extLst>
          </p:cNvPr>
          <p:cNvSpPr>
            <a:spLocks noGrp="1"/>
          </p:cNvSpPr>
          <p:nvPr>
            <p:ph idx="1"/>
          </p:nvPr>
        </p:nvSpPr>
        <p:spPr/>
        <p:txBody>
          <a:bodyPr/>
          <a:lstStyle/>
          <a:p>
            <a:pPr marL="0" indent="0">
              <a:buNone/>
            </a:pPr>
            <a:r>
              <a:rPr lang="en-US" dirty="0"/>
              <a:t>If a task can be done either in one of n1 ways or in one of n2 ways, Where none of the set of n1 ways is the same as any of the set of n2 ways, then there are n1 + n2 ways to do the task.</a:t>
            </a:r>
          </a:p>
          <a:p>
            <a:pPr marL="0" indent="0">
              <a:buNone/>
            </a:pPr>
            <a:endParaRPr lang="en-IN" dirty="0"/>
          </a:p>
        </p:txBody>
      </p:sp>
    </p:spTree>
    <p:extLst>
      <p:ext uri="{BB962C8B-B14F-4D97-AF65-F5344CB8AC3E}">
        <p14:creationId xmlns:p14="http://schemas.microsoft.com/office/powerpoint/2010/main" val="3448919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E8C6-D02A-44C7-97C1-6218BA59866A}"/>
              </a:ext>
            </a:extLst>
          </p:cNvPr>
          <p:cNvSpPr>
            <a:spLocks noGrp="1"/>
          </p:cNvSpPr>
          <p:nvPr>
            <p:ph type="title"/>
          </p:nvPr>
        </p:nvSpPr>
        <p:spPr/>
        <p:txBody>
          <a:bodyPr/>
          <a:lstStyle/>
          <a:p>
            <a:r>
              <a:rPr lang="en-IN" dirty="0"/>
              <a:t>The Sum Rule</a:t>
            </a:r>
          </a:p>
        </p:txBody>
      </p:sp>
      <p:sp>
        <p:nvSpPr>
          <p:cNvPr id="3" name="Content Placeholder 2">
            <a:extLst>
              <a:ext uri="{FF2B5EF4-FFF2-40B4-BE49-F238E27FC236}">
                <a16:creationId xmlns:a16="http://schemas.microsoft.com/office/drawing/2014/main" id="{A28397F2-3379-4D7E-9C51-B270C41FD59F}"/>
              </a:ext>
            </a:extLst>
          </p:cNvPr>
          <p:cNvSpPr>
            <a:spLocks noGrp="1"/>
          </p:cNvSpPr>
          <p:nvPr>
            <p:ph idx="1"/>
          </p:nvPr>
        </p:nvSpPr>
        <p:spPr/>
        <p:txBody>
          <a:bodyPr>
            <a:normAutofit lnSpcReduction="10000"/>
          </a:bodyPr>
          <a:lstStyle/>
          <a:p>
            <a:pPr marL="0" indent="0">
              <a:buNone/>
            </a:pPr>
            <a:r>
              <a:rPr lang="en-US" b="1" dirty="0">
                <a:effectLst>
                  <a:outerShdw blurRad="38100" dist="38100" dir="2700000" algn="tl">
                    <a:srgbClr val="000000">
                      <a:alpha val="43137"/>
                    </a:srgbClr>
                  </a:outerShdw>
                </a:effectLst>
              </a:rPr>
              <a:t>Ques:- </a:t>
            </a:r>
            <a:r>
              <a:rPr lang="en-US" dirty="0"/>
              <a:t>There are 18 mathematics majors and 325 computer science majors at a college. In how many ways can one representative be picked who is either a  mathematics major or a computer science major?</a:t>
            </a:r>
          </a:p>
          <a:p>
            <a:pPr marL="0" indent="0">
              <a:buNone/>
            </a:pPr>
            <a:endParaRPr lang="en-US" dirty="0"/>
          </a:p>
          <a:p>
            <a:pPr marL="0" indent="0">
              <a:buNone/>
            </a:pPr>
            <a:endParaRPr lang="en-US" dirty="0"/>
          </a:p>
          <a:p>
            <a:pPr marL="0" indent="0">
              <a:buNone/>
            </a:pPr>
            <a:r>
              <a:rPr lang="en-US" b="1" dirty="0">
                <a:effectLst>
                  <a:outerShdw blurRad="38100" dist="38100" dir="2700000" algn="tl">
                    <a:srgbClr val="000000">
                      <a:alpha val="43137"/>
                    </a:srgbClr>
                  </a:outerShdw>
                </a:effectLst>
              </a:rPr>
              <a:t>Sol:- </a:t>
            </a:r>
            <a:r>
              <a:rPr lang="en-IN" dirty="0">
                <a:solidFill>
                  <a:schemeClr val="tx1"/>
                </a:solidFill>
              </a:rPr>
              <a:t>343</a:t>
            </a:r>
            <a:endParaRPr lang="en-IN" dirty="0"/>
          </a:p>
        </p:txBody>
      </p:sp>
    </p:spTree>
    <p:extLst>
      <p:ext uri="{BB962C8B-B14F-4D97-AF65-F5344CB8AC3E}">
        <p14:creationId xmlns:p14="http://schemas.microsoft.com/office/powerpoint/2010/main" val="68008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5593-A0B5-4936-8F64-3F2CBF0237AF}"/>
              </a:ext>
            </a:extLst>
          </p:cNvPr>
          <p:cNvSpPr>
            <a:spLocks noGrp="1"/>
          </p:cNvSpPr>
          <p:nvPr>
            <p:ph type="title"/>
          </p:nvPr>
        </p:nvSpPr>
        <p:spPr/>
        <p:txBody>
          <a:bodyPr/>
          <a:lstStyle/>
          <a:p>
            <a:r>
              <a:rPr lang="en-IN" dirty="0"/>
              <a:t>The Sum Rule</a:t>
            </a:r>
          </a:p>
        </p:txBody>
      </p:sp>
      <p:sp>
        <p:nvSpPr>
          <p:cNvPr id="3" name="Content Placeholder 2">
            <a:extLst>
              <a:ext uri="{FF2B5EF4-FFF2-40B4-BE49-F238E27FC236}">
                <a16:creationId xmlns:a16="http://schemas.microsoft.com/office/drawing/2014/main" id="{61F41F99-FB03-407E-95B9-F171C22EF08A}"/>
              </a:ext>
            </a:extLst>
          </p:cNvPr>
          <p:cNvSpPr>
            <a:spLocks noGrp="1"/>
          </p:cNvSpPr>
          <p:nvPr>
            <p:ph idx="1"/>
          </p:nvPr>
        </p:nvSpPr>
        <p:spPr/>
        <p:txBody>
          <a:bodyPr>
            <a:normAutofit fontScale="85000" lnSpcReduction="10000"/>
          </a:bodyPr>
          <a:lstStyle/>
          <a:p>
            <a:pPr marL="0" indent="0">
              <a:buNone/>
            </a:pPr>
            <a:r>
              <a:rPr lang="en-US" b="1" dirty="0">
                <a:effectLst>
                  <a:outerShdw blurRad="38100" dist="38100" dir="2700000" algn="tl">
                    <a:srgbClr val="000000">
                      <a:alpha val="43137"/>
                    </a:srgbClr>
                  </a:outerShdw>
                </a:effectLst>
              </a:rPr>
              <a:t>Ques:- </a:t>
            </a:r>
            <a:r>
              <a:rPr lang="en-US" dirty="0"/>
              <a:t>A student can choose a computer project from one of three lists. The three lists contain 23, 15, and 19 possible projects, respectively. No project is on more than one list. How many possible projects are there to choose from?</a:t>
            </a:r>
          </a:p>
          <a:p>
            <a:pPr marL="0" indent="0">
              <a:buNone/>
            </a:pPr>
            <a:endParaRPr lang="en-US" dirty="0"/>
          </a:p>
          <a:p>
            <a:pPr marL="0" indent="0">
              <a:buNone/>
            </a:pPr>
            <a:r>
              <a:rPr lang="en-US" b="1" dirty="0">
                <a:effectLst>
                  <a:outerShdw blurRad="38100" dist="38100" dir="2700000" algn="tl">
                    <a:srgbClr val="000000">
                      <a:alpha val="43137"/>
                    </a:srgbClr>
                  </a:outerShdw>
                </a:effectLst>
              </a:rPr>
              <a:t>Sol:- </a:t>
            </a:r>
            <a:r>
              <a:rPr lang="en-US" dirty="0"/>
              <a:t>The student can choose a project by selecting a project from the first list, the second list, or the third list.</a:t>
            </a:r>
          </a:p>
          <a:p>
            <a:pPr marL="0" indent="0">
              <a:buNone/>
            </a:pPr>
            <a:r>
              <a:rPr lang="en-US" dirty="0"/>
              <a:t>Because no project is on more than one list, by the sum rule there are 23 + 15 + 19 = 57 ways to choose a project.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097587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5593-A0B5-4936-8F64-3F2CBF0237AF}"/>
              </a:ext>
            </a:extLst>
          </p:cNvPr>
          <p:cNvSpPr>
            <a:spLocks noGrp="1"/>
          </p:cNvSpPr>
          <p:nvPr>
            <p:ph type="title"/>
          </p:nvPr>
        </p:nvSpPr>
        <p:spPr/>
        <p:txBody>
          <a:bodyPr/>
          <a:lstStyle/>
          <a:p>
            <a:r>
              <a:rPr lang="en-IN" dirty="0"/>
              <a:t>The Sum Rule</a:t>
            </a:r>
          </a:p>
        </p:txBody>
      </p:sp>
      <p:sp>
        <p:nvSpPr>
          <p:cNvPr id="4" name="TextBox 3">
            <a:extLst>
              <a:ext uri="{FF2B5EF4-FFF2-40B4-BE49-F238E27FC236}">
                <a16:creationId xmlns:a16="http://schemas.microsoft.com/office/drawing/2014/main" id="{A914459B-DAFB-4064-A8CE-BE563D0ABF97}"/>
              </a:ext>
            </a:extLst>
          </p:cNvPr>
          <p:cNvSpPr txBox="1"/>
          <p:nvPr/>
        </p:nvSpPr>
        <p:spPr>
          <a:xfrm>
            <a:off x="-49692" y="2027585"/>
            <a:ext cx="1540565" cy="3477875"/>
          </a:xfrm>
          <a:prstGeom prst="rect">
            <a:avLst/>
          </a:prstGeom>
          <a:noFill/>
        </p:spPr>
        <p:txBody>
          <a:bodyPr wrap="square" rtlCol="0">
            <a:spAutoFit/>
          </a:bodyPr>
          <a:lstStyle/>
          <a:p>
            <a:r>
              <a:rPr lang="en-IN" sz="2200" dirty="0">
                <a:solidFill>
                  <a:srgbClr val="92D050"/>
                </a:solidFill>
              </a:rPr>
              <a:t>Project 1</a:t>
            </a:r>
          </a:p>
          <a:p>
            <a:r>
              <a:rPr lang="en-IN" sz="2200" dirty="0">
                <a:solidFill>
                  <a:srgbClr val="92D050"/>
                </a:solidFill>
              </a:rPr>
              <a:t>Project 2</a:t>
            </a:r>
          </a:p>
          <a:p>
            <a:r>
              <a:rPr lang="en-IN" sz="2200" dirty="0">
                <a:solidFill>
                  <a:srgbClr val="92D050"/>
                </a:solidFill>
              </a:rPr>
              <a:t>Project 3</a:t>
            </a:r>
          </a:p>
          <a:p>
            <a:r>
              <a:rPr lang="en-IN" sz="2200" dirty="0">
                <a:solidFill>
                  <a:srgbClr val="92D050"/>
                </a:solidFill>
              </a:rPr>
              <a:t>Project 4</a:t>
            </a:r>
          </a:p>
          <a:p>
            <a:r>
              <a:rPr lang="en-IN" sz="2200" dirty="0">
                <a:solidFill>
                  <a:srgbClr val="92D050"/>
                </a:solidFill>
              </a:rPr>
              <a:t>Project 5</a:t>
            </a:r>
          </a:p>
          <a:p>
            <a:r>
              <a:rPr lang="en-IN" sz="2200" dirty="0">
                <a:solidFill>
                  <a:srgbClr val="92D050"/>
                </a:solidFill>
              </a:rPr>
              <a:t>Project 6</a:t>
            </a:r>
          </a:p>
          <a:p>
            <a:r>
              <a:rPr lang="en-IN" sz="2200" dirty="0">
                <a:solidFill>
                  <a:srgbClr val="92D050"/>
                </a:solidFill>
              </a:rPr>
              <a:t>Project 7</a:t>
            </a:r>
          </a:p>
          <a:p>
            <a:r>
              <a:rPr lang="en-IN" sz="2200" dirty="0">
                <a:solidFill>
                  <a:srgbClr val="92D050"/>
                </a:solidFill>
              </a:rPr>
              <a:t>Project 8</a:t>
            </a:r>
          </a:p>
          <a:p>
            <a:r>
              <a:rPr lang="en-IN" sz="2200" dirty="0">
                <a:solidFill>
                  <a:srgbClr val="92D050"/>
                </a:solidFill>
              </a:rPr>
              <a:t>Project 9</a:t>
            </a:r>
          </a:p>
          <a:p>
            <a:r>
              <a:rPr lang="en-IN" sz="2200" dirty="0">
                <a:solidFill>
                  <a:srgbClr val="92D050"/>
                </a:solidFill>
              </a:rPr>
              <a:t>Project 10</a:t>
            </a:r>
          </a:p>
        </p:txBody>
      </p:sp>
      <p:sp>
        <p:nvSpPr>
          <p:cNvPr id="5" name="TextBox 4">
            <a:extLst>
              <a:ext uri="{FF2B5EF4-FFF2-40B4-BE49-F238E27FC236}">
                <a16:creationId xmlns:a16="http://schemas.microsoft.com/office/drawing/2014/main" id="{C8D71F8B-CC1F-485F-A764-F2DE447CE867}"/>
              </a:ext>
            </a:extLst>
          </p:cNvPr>
          <p:cNvSpPr txBox="1"/>
          <p:nvPr/>
        </p:nvSpPr>
        <p:spPr>
          <a:xfrm>
            <a:off x="496960" y="1103246"/>
            <a:ext cx="1818861" cy="492443"/>
          </a:xfrm>
          <a:prstGeom prst="rect">
            <a:avLst/>
          </a:prstGeom>
          <a:noFill/>
        </p:spPr>
        <p:txBody>
          <a:bodyPr wrap="square" rtlCol="0">
            <a:spAutoFit/>
          </a:bodyPr>
          <a:lstStyle/>
          <a:p>
            <a:r>
              <a:rPr lang="en-IN" sz="2600" dirty="0">
                <a:solidFill>
                  <a:srgbClr val="FF0000"/>
                </a:solidFill>
              </a:rPr>
              <a:t>List 1</a:t>
            </a:r>
          </a:p>
        </p:txBody>
      </p:sp>
      <p:sp>
        <p:nvSpPr>
          <p:cNvPr id="6" name="TextBox 5">
            <a:extLst>
              <a:ext uri="{FF2B5EF4-FFF2-40B4-BE49-F238E27FC236}">
                <a16:creationId xmlns:a16="http://schemas.microsoft.com/office/drawing/2014/main" id="{1E7F7AFC-41F8-4F18-BB05-10F01521B36B}"/>
              </a:ext>
            </a:extLst>
          </p:cNvPr>
          <p:cNvSpPr txBox="1"/>
          <p:nvPr/>
        </p:nvSpPr>
        <p:spPr>
          <a:xfrm>
            <a:off x="1490873" y="1550506"/>
            <a:ext cx="1610139" cy="4493538"/>
          </a:xfrm>
          <a:prstGeom prst="rect">
            <a:avLst/>
          </a:prstGeom>
          <a:noFill/>
        </p:spPr>
        <p:txBody>
          <a:bodyPr wrap="square" rtlCol="0">
            <a:spAutoFit/>
          </a:bodyPr>
          <a:lstStyle/>
          <a:p>
            <a:r>
              <a:rPr lang="en-IN" sz="2200" dirty="0">
                <a:solidFill>
                  <a:srgbClr val="92D050"/>
                </a:solidFill>
              </a:rPr>
              <a:t>Project 11</a:t>
            </a:r>
          </a:p>
          <a:p>
            <a:r>
              <a:rPr lang="en-IN" sz="2200" dirty="0">
                <a:solidFill>
                  <a:srgbClr val="92D050"/>
                </a:solidFill>
              </a:rPr>
              <a:t>Project 12</a:t>
            </a:r>
          </a:p>
          <a:p>
            <a:r>
              <a:rPr lang="en-IN" sz="2200" dirty="0">
                <a:solidFill>
                  <a:srgbClr val="92D050"/>
                </a:solidFill>
              </a:rPr>
              <a:t>Project 13</a:t>
            </a:r>
          </a:p>
          <a:p>
            <a:r>
              <a:rPr lang="en-IN" sz="2200" dirty="0">
                <a:solidFill>
                  <a:srgbClr val="92D050"/>
                </a:solidFill>
              </a:rPr>
              <a:t>Project 14</a:t>
            </a:r>
          </a:p>
          <a:p>
            <a:r>
              <a:rPr lang="en-IN" sz="2200" dirty="0">
                <a:solidFill>
                  <a:srgbClr val="92D050"/>
                </a:solidFill>
              </a:rPr>
              <a:t>Project 15</a:t>
            </a:r>
          </a:p>
          <a:p>
            <a:r>
              <a:rPr lang="en-IN" sz="2200" dirty="0">
                <a:solidFill>
                  <a:srgbClr val="92D050"/>
                </a:solidFill>
              </a:rPr>
              <a:t>Project 16</a:t>
            </a:r>
          </a:p>
          <a:p>
            <a:r>
              <a:rPr lang="en-IN" sz="2200" dirty="0">
                <a:solidFill>
                  <a:srgbClr val="92D050"/>
                </a:solidFill>
              </a:rPr>
              <a:t>Project 17</a:t>
            </a:r>
          </a:p>
          <a:p>
            <a:r>
              <a:rPr lang="en-IN" sz="2200" dirty="0">
                <a:solidFill>
                  <a:srgbClr val="92D050"/>
                </a:solidFill>
              </a:rPr>
              <a:t>Project 18</a:t>
            </a:r>
          </a:p>
          <a:p>
            <a:r>
              <a:rPr lang="en-IN" sz="2200" dirty="0">
                <a:solidFill>
                  <a:srgbClr val="92D050"/>
                </a:solidFill>
              </a:rPr>
              <a:t>Project 19</a:t>
            </a:r>
          </a:p>
          <a:p>
            <a:r>
              <a:rPr lang="en-IN" sz="2200" dirty="0">
                <a:solidFill>
                  <a:srgbClr val="92D050"/>
                </a:solidFill>
              </a:rPr>
              <a:t>Project 20</a:t>
            </a:r>
          </a:p>
          <a:p>
            <a:r>
              <a:rPr lang="en-IN" sz="2200" dirty="0">
                <a:solidFill>
                  <a:srgbClr val="92D050"/>
                </a:solidFill>
              </a:rPr>
              <a:t>Project 21</a:t>
            </a:r>
          </a:p>
          <a:p>
            <a:r>
              <a:rPr lang="en-IN" sz="2200" dirty="0">
                <a:solidFill>
                  <a:srgbClr val="92D050"/>
                </a:solidFill>
              </a:rPr>
              <a:t>Project 22</a:t>
            </a:r>
          </a:p>
          <a:p>
            <a:r>
              <a:rPr lang="en-IN" sz="2200" dirty="0">
                <a:solidFill>
                  <a:srgbClr val="92D050"/>
                </a:solidFill>
              </a:rPr>
              <a:t>Project 23</a:t>
            </a:r>
          </a:p>
        </p:txBody>
      </p:sp>
      <p:sp>
        <p:nvSpPr>
          <p:cNvPr id="8" name="TextBox 7">
            <a:extLst>
              <a:ext uri="{FF2B5EF4-FFF2-40B4-BE49-F238E27FC236}">
                <a16:creationId xmlns:a16="http://schemas.microsoft.com/office/drawing/2014/main" id="{8242A02F-2C02-4FC4-A80B-72946BE95C21}"/>
              </a:ext>
            </a:extLst>
          </p:cNvPr>
          <p:cNvSpPr txBox="1"/>
          <p:nvPr/>
        </p:nvSpPr>
        <p:spPr>
          <a:xfrm>
            <a:off x="3084440" y="2160103"/>
            <a:ext cx="1540565" cy="3477875"/>
          </a:xfrm>
          <a:prstGeom prst="rect">
            <a:avLst/>
          </a:prstGeom>
          <a:noFill/>
        </p:spPr>
        <p:txBody>
          <a:bodyPr wrap="square" rtlCol="0">
            <a:spAutoFit/>
          </a:bodyPr>
          <a:lstStyle/>
          <a:p>
            <a:r>
              <a:rPr lang="en-IN" sz="2200" dirty="0">
                <a:solidFill>
                  <a:srgbClr val="00B6CC"/>
                </a:solidFill>
              </a:rPr>
              <a:t>Project 1</a:t>
            </a:r>
          </a:p>
          <a:p>
            <a:r>
              <a:rPr lang="en-IN" sz="2200" dirty="0">
                <a:solidFill>
                  <a:srgbClr val="00B6CC"/>
                </a:solidFill>
              </a:rPr>
              <a:t>Project 2</a:t>
            </a:r>
          </a:p>
          <a:p>
            <a:r>
              <a:rPr lang="en-IN" sz="2200" dirty="0">
                <a:solidFill>
                  <a:srgbClr val="00B6CC"/>
                </a:solidFill>
              </a:rPr>
              <a:t>Project 3</a:t>
            </a:r>
          </a:p>
          <a:p>
            <a:r>
              <a:rPr lang="en-IN" sz="2200" dirty="0">
                <a:solidFill>
                  <a:srgbClr val="00B6CC"/>
                </a:solidFill>
              </a:rPr>
              <a:t>Project 4</a:t>
            </a:r>
          </a:p>
          <a:p>
            <a:r>
              <a:rPr lang="en-IN" sz="2200" dirty="0">
                <a:solidFill>
                  <a:srgbClr val="00B6CC"/>
                </a:solidFill>
              </a:rPr>
              <a:t>Project 5</a:t>
            </a:r>
          </a:p>
          <a:p>
            <a:r>
              <a:rPr lang="en-IN" sz="2200" dirty="0">
                <a:solidFill>
                  <a:srgbClr val="00B6CC"/>
                </a:solidFill>
              </a:rPr>
              <a:t>Project 6</a:t>
            </a:r>
          </a:p>
          <a:p>
            <a:r>
              <a:rPr lang="en-IN" sz="2200" dirty="0">
                <a:solidFill>
                  <a:srgbClr val="00B6CC"/>
                </a:solidFill>
              </a:rPr>
              <a:t>Project 7</a:t>
            </a:r>
          </a:p>
          <a:p>
            <a:r>
              <a:rPr lang="en-IN" sz="2200" dirty="0">
                <a:solidFill>
                  <a:srgbClr val="00B6CC"/>
                </a:solidFill>
              </a:rPr>
              <a:t>Project 8</a:t>
            </a:r>
          </a:p>
          <a:p>
            <a:r>
              <a:rPr lang="en-IN" sz="2200" dirty="0">
                <a:solidFill>
                  <a:srgbClr val="00B6CC"/>
                </a:solidFill>
              </a:rPr>
              <a:t>Project 9</a:t>
            </a:r>
          </a:p>
          <a:p>
            <a:r>
              <a:rPr lang="en-IN" sz="2200" dirty="0">
                <a:solidFill>
                  <a:srgbClr val="00B6CC"/>
                </a:solidFill>
              </a:rPr>
              <a:t>Project 10</a:t>
            </a:r>
          </a:p>
        </p:txBody>
      </p:sp>
      <p:sp>
        <p:nvSpPr>
          <p:cNvPr id="9" name="TextBox 8">
            <a:extLst>
              <a:ext uri="{FF2B5EF4-FFF2-40B4-BE49-F238E27FC236}">
                <a16:creationId xmlns:a16="http://schemas.microsoft.com/office/drawing/2014/main" id="{8284DB88-D0A7-4EA8-A5E7-26B97B685123}"/>
              </a:ext>
            </a:extLst>
          </p:cNvPr>
          <p:cNvSpPr txBox="1"/>
          <p:nvPr/>
        </p:nvSpPr>
        <p:spPr>
          <a:xfrm>
            <a:off x="3631092" y="1235764"/>
            <a:ext cx="1818861" cy="492443"/>
          </a:xfrm>
          <a:prstGeom prst="rect">
            <a:avLst/>
          </a:prstGeom>
          <a:noFill/>
        </p:spPr>
        <p:txBody>
          <a:bodyPr wrap="square" rtlCol="0">
            <a:spAutoFit/>
          </a:bodyPr>
          <a:lstStyle/>
          <a:p>
            <a:r>
              <a:rPr lang="en-IN" sz="2600" dirty="0">
                <a:solidFill>
                  <a:srgbClr val="FF0000"/>
                </a:solidFill>
              </a:rPr>
              <a:t>List 2</a:t>
            </a:r>
          </a:p>
        </p:txBody>
      </p:sp>
      <p:sp>
        <p:nvSpPr>
          <p:cNvPr id="10" name="TextBox 9">
            <a:extLst>
              <a:ext uri="{FF2B5EF4-FFF2-40B4-BE49-F238E27FC236}">
                <a16:creationId xmlns:a16="http://schemas.microsoft.com/office/drawing/2014/main" id="{9DE23110-D15C-49A0-8D08-ABF95B2E7C45}"/>
              </a:ext>
            </a:extLst>
          </p:cNvPr>
          <p:cNvSpPr txBox="1"/>
          <p:nvPr/>
        </p:nvSpPr>
        <p:spPr>
          <a:xfrm>
            <a:off x="4625005" y="1683024"/>
            <a:ext cx="1610139" cy="2123658"/>
          </a:xfrm>
          <a:prstGeom prst="rect">
            <a:avLst/>
          </a:prstGeom>
          <a:noFill/>
        </p:spPr>
        <p:txBody>
          <a:bodyPr wrap="square" rtlCol="0">
            <a:spAutoFit/>
          </a:bodyPr>
          <a:lstStyle/>
          <a:p>
            <a:r>
              <a:rPr lang="en-IN" sz="2200" dirty="0">
                <a:solidFill>
                  <a:srgbClr val="00B6CC"/>
                </a:solidFill>
              </a:rPr>
              <a:t>Project 11</a:t>
            </a:r>
          </a:p>
          <a:p>
            <a:r>
              <a:rPr lang="en-IN" sz="2200" dirty="0">
                <a:solidFill>
                  <a:srgbClr val="00B6CC"/>
                </a:solidFill>
              </a:rPr>
              <a:t>Project 12</a:t>
            </a:r>
          </a:p>
          <a:p>
            <a:r>
              <a:rPr lang="en-IN" sz="2200" dirty="0">
                <a:solidFill>
                  <a:srgbClr val="00B6CC"/>
                </a:solidFill>
              </a:rPr>
              <a:t>Project 13</a:t>
            </a:r>
          </a:p>
          <a:p>
            <a:r>
              <a:rPr lang="en-IN" sz="2200" dirty="0">
                <a:solidFill>
                  <a:srgbClr val="00B6CC"/>
                </a:solidFill>
              </a:rPr>
              <a:t>Project 14</a:t>
            </a:r>
          </a:p>
          <a:p>
            <a:r>
              <a:rPr lang="en-IN" sz="2200" dirty="0">
                <a:solidFill>
                  <a:srgbClr val="00B6CC"/>
                </a:solidFill>
              </a:rPr>
              <a:t>Project 15</a:t>
            </a:r>
          </a:p>
          <a:p>
            <a:endParaRPr lang="en-IN" sz="2200" dirty="0">
              <a:solidFill>
                <a:srgbClr val="00B6CC"/>
              </a:solidFill>
            </a:endParaRPr>
          </a:p>
        </p:txBody>
      </p:sp>
      <p:sp>
        <p:nvSpPr>
          <p:cNvPr id="11" name="TextBox 10">
            <a:extLst>
              <a:ext uri="{FF2B5EF4-FFF2-40B4-BE49-F238E27FC236}">
                <a16:creationId xmlns:a16="http://schemas.microsoft.com/office/drawing/2014/main" id="{33C5CFC2-C4CD-4F98-92A4-BACDD9271923}"/>
              </a:ext>
            </a:extLst>
          </p:cNvPr>
          <p:cNvSpPr txBox="1"/>
          <p:nvPr/>
        </p:nvSpPr>
        <p:spPr>
          <a:xfrm>
            <a:off x="6105927" y="2219737"/>
            <a:ext cx="1540565" cy="3477875"/>
          </a:xfrm>
          <a:prstGeom prst="rect">
            <a:avLst/>
          </a:prstGeom>
          <a:noFill/>
        </p:spPr>
        <p:txBody>
          <a:bodyPr wrap="square" rtlCol="0">
            <a:spAutoFit/>
          </a:bodyPr>
          <a:lstStyle/>
          <a:p>
            <a:r>
              <a:rPr lang="en-IN" sz="2200" dirty="0"/>
              <a:t>Project 1</a:t>
            </a:r>
          </a:p>
          <a:p>
            <a:r>
              <a:rPr lang="en-IN" sz="2200" dirty="0"/>
              <a:t>Project 2</a:t>
            </a:r>
          </a:p>
          <a:p>
            <a:r>
              <a:rPr lang="en-IN" sz="2200" dirty="0"/>
              <a:t>Project 3</a:t>
            </a:r>
          </a:p>
          <a:p>
            <a:r>
              <a:rPr lang="en-IN" sz="2200" dirty="0"/>
              <a:t>Project 4</a:t>
            </a:r>
          </a:p>
          <a:p>
            <a:r>
              <a:rPr lang="en-IN" sz="2200" dirty="0"/>
              <a:t>Project 5</a:t>
            </a:r>
          </a:p>
          <a:p>
            <a:r>
              <a:rPr lang="en-IN" sz="2200" dirty="0"/>
              <a:t>Project 6</a:t>
            </a:r>
          </a:p>
          <a:p>
            <a:r>
              <a:rPr lang="en-IN" sz="2200" dirty="0"/>
              <a:t>Project 7</a:t>
            </a:r>
          </a:p>
          <a:p>
            <a:r>
              <a:rPr lang="en-IN" sz="2200" dirty="0"/>
              <a:t>Project 8</a:t>
            </a:r>
          </a:p>
          <a:p>
            <a:r>
              <a:rPr lang="en-IN" sz="2200" dirty="0"/>
              <a:t>Project 9</a:t>
            </a:r>
          </a:p>
          <a:p>
            <a:r>
              <a:rPr lang="en-IN" sz="2200" dirty="0"/>
              <a:t>Project 10</a:t>
            </a:r>
          </a:p>
        </p:txBody>
      </p:sp>
      <p:sp>
        <p:nvSpPr>
          <p:cNvPr id="12" name="TextBox 11">
            <a:extLst>
              <a:ext uri="{FF2B5EF4-FFF2-40B4-BE49-F238E27FC236}">
                <a16:creationId xmlns:a16="http://schemas.microsoft.com/office/drawing/2014/main" id="{FD3187FA-40BA-48BC-A139-120884207968}"/>
              </a:ext>
            </a:extLst>
          </p:cNvPr>
          <p:cNvSpPr txBox="1"/>
          <p:nvPr/>
        </p:nvSpPr>
        <p:spPr>
          <a:xfrm>
            <a:off x="6652579" y="1295398"/>
            <a:ext cx="1818861" cy="492443"/>
          </a:xfrm>
          <a:prstGeom prst="rect">
            <a:avLst/>
          </a:prstGeom>
          <a:noFill/>
        </p:spPr>
        <p:txBody>
          <a:bodyPr wrap="square" rtlCol="0">
            <a:spAutoFit/>
          </a:bodyPr>
          <a:lstStyle/>
          <a:p>
            <a:r>
              <a:rPr lang="en-IN" sz="2600" dirty="0">
                <a:solidFill>
                  <a:srgbClr val="FF0000"/>
                </a:solidFill>
              </a:rPr>
              <a:t>List 3</a:t>
            </a:r>
          </a:p>
        </p:txBody>
      </p:sp>
      <p:sp>
        <p:nvSpPr>
          <p:cNvPr id="13" name="TextBox 12">
            <a:extLst>
              <a:ext uri="{FF2B5EF4-FFF2-40B4-BE49-F238E27FC236}">
                <a16:creationId xmlns:a16="http://schemas.microsoft.com/office/drawing/2014/main" id="{0B41EB55-F465-4D92-846F-BEF3E91335D2}"/>
              </a:ext>
            </a:extLst>
          </p:cNvPr>
          <p:cNvSpPr txBox="1"/>
          <p:nvPr/>
        </p:nvSpPr>
        <p:spPr>
          <a:xfrm>
            <a:off x="7646492" y="1742658"/>
            <a:ext cx="1610139" cy="3139321"/>
          </a:xfrm>
          <a:prstGeom prst="rect">
            <a:avLst/>
          </a:prstGeom>
          <a:noFill/>
        </p:spPr>
        <p:txBody>
          <a:bodyPr wrap="square" rtlCol="0">
            <a:spAutoFit/>
          </a:bodyPr>
          <a:lstStyle/>
          <a:p>
            <a:r>
              <a:rPr lang="en-IN" sz="2200" dirty="0"/>
              <a:t>Project 11</a:t>
            </a:r>
          </a:p>
          <a:p>
            <a:r>
              <a:rPr lang="en-IN" sz="2200" dirty="0"/>
              <a:t>Project 12</a:t>
            </a:r>
          </a:p>
          <a:p>
            <a:r>
              <a:rPr lang="en-IN" sz="2200" dirty="0"/>
              <a:t>Project 13</a:t>
            </a:r>
          </a:p>
          <a:p>
            <a:r>
              <a:rPr lang="en-IN" sz="2200" dirty="0"/>
              <a:t>Project 14</a:t>
            </a:r>
          </a:p>
          <a:p>
            <a:r>
              <a:rPr lang="en-IN" sz="2200" dirty="0"/>
              <a:t>Project 15</a:t>
            </a:r>
          </a:p>
          <a:p>
            <a:r>
              <a:rPr lang="en-IN" sz="2200" dirty="0"/>
              <a:t>Project 16</a:t>
            </a:r>
          </a:p>
          <a:p>
            <a:r>
              <a:rPr lang="en-IN" sz="2200" dirty="0"/>
              <a:t>Project 17</a:t>
            </a:r>
          </a:p>
          <a:p>
            <a:r>
              <a:rPr lang="en-IN" sz="2200" dirty="0"/>
              <a:t>Project 18</a:t>
            </a:r>
          </a:p>
          <a:p>
            <a:r>
              <a:rPr lang="en-IN" sz="2200" dirty="0"/>
              <a:t>Project 19</a:t>
            </a:r>
          </a:p>
        </p:txBody>
      </p:sp>
      <p:sp>
        <p:nvSpPr>
          <p:cNvPr id="14" name="TextBox 13">
            <a:extLst>
              <a:ext uri="{FF2B5EF4-FFF2-40B4-BE49-F238E27FC236}">
                <a16:creationId xmlns:a16="http://schemas.microsoft.com/office/drawing/2014/main" id="{1E08D028-9E18-4764-BD3B-4D300E943FD3}"/>
              </a:ext>
            </a:extLst>
          </p:cNvPr>
          <p:cNvSpPr txBox="1"/>
          <p:nvPr/>
        </p:nvSpPr>
        <p:spPr>
          <a:xfrm>
            <a:off x="-12240" y="6321799"/>
            <a:ext cx="8504904" cy="492443"/>
          </a:xfrm>
          <a:prstGeom prst="rect">
            <a:avLst/>
          </a:prstGeom>
          <a:noFill/>
        </p:spPr>
        <p:txBody>
          <a:bodyPr wrap="square" rtlCol="0">
            <a:spAutoFit/>
          </a:bodyPr>
          <a:lstStyle/>
          <a:p>
            <a:r>
              <a:rPr lang="en-IN" sz="2600" dirty="0">
                <a:solidFill>
                  <a:srgbClr val="FF0000"/>
                </a:solidFill>
              </a:rPr>
              <a:t>= 23 + 15 + 19 = 57 ways</a:t>
            </a:r>
          </a:p>
        </p:txBody>
      </p:sp>
      <p:sp>
        <p:nvSpPr>
          <p:cNvPr id="17" name="TextBox 16">
            <a:extLst>
              <a:ext uri="{FF2B5EF4-FFF2-40B4-BE49-F238E27FC236}">
                <a16:creationId xmlns:a16="http://schemas.microsoft.com/office/drawing/2014/main" id="{D7826D79-3A35-4B66-9C72-3D7AA00CB2FF}"/>
              </a:ext>
            </a:extLst>
          </p:cNvPr>
          <p:cNvSpPr txBox="1"/>
          <p:nvPr/>
        </p:nvSpPr>
        <p:spPr>
          <a:xfrm>
            <a:off x="3400675" y="5637978"/>
            <a:ext cx="2254690" cy="492443"/>
          </a:xfrm>
          <a:prstGeom prst="rect">
            <a:avLst/>
          </a:prstGeom>
          <a:noFill/>
        </p:spPr>
        <p:txBody>
          <a:bodyPr wrap="square" rtlCol="0">
            <a:spAutoFit/>
          </a:bodyPr>
          <a:lstStyle/>
          <a:p>
            <a:r>
              <a:rPr lang="en-IN" sz="2600" dirty="0">
                <a:solidFill>
                  <a:srgbClr val="FF0000"/>
                </a:solidFill>
              </a:rPr>
              <a:t>= n</a:t>
            </a:r>
            <a:r>
              <a:rPr lang="en-IN" sz="2600" baseline="-25000" dirty="0">
                <a:solidFill>
                  <a:srgbClr val="FF0000"/>
                </a:solidFill>
              </a:rPr>
              <a:t>1</a:t>
            </a:r>
            <a:r>
              <a:rPr lang="en-IN" sz="2600" dirty="0">
                <a:solidFill>
                  <a:srgbClr val="FF0000"/>
                </a:solidFill>
              </a:rPr>
              <a:t> +	 n</a:t>
            </a:r>
            <a:r>
              <a:rPr lang="en-IN" sz="2600" baseline="-25000" dirty="0">
                <a:solidFill>
                  <a:srgbClr val="FF0000"/>
                </a:solidFill>
              </a:rPr>
              <a:t>2	</a:t>
            </a:r>
            <a:r>
              <a:rPr lang="en-IN" sz="2600" dirty="0">
                <a:solidFill>
                  <a:srgbClr val="FF0000"/>
                </a:solidFill>
              </a:rPr>
              <a:t> + n</a:t>
            </a:r>
            <a:r>
              <a:rPr lang="en-IN" sz="2600" baseline="-25000" dirty="0">
                <a:solidFill>
                  <a:srgbClr val="FF0000"/>
                </a:solidFill>
              </a:rPr>
              <a:t>3</a:t>
            </a:r>
            <a:endParaRPr lang="en-IN" sz="2600" dirty="0">
              <a:solidFill>
                <a:srgbClr val="FF0000"/>
              </a:solidFill>
            </a:endParaRPr>
          </a:p>
        </p:txBody>
      </p:sp>
    </p:spTree>
    <p:extLst>
      <p:ext uri="{BB962C8B-B14F-4D97-AF65-F5344CB8AC3E}">
        <p14:creationId xmlns:p14="http://schemas.microsoft.com/office/powerpoint/2010/main" val="21533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5593-A0B5-4936-8F64-3F2CBF0237AF}"/>
              </a:ext>
            </a:extLst>
          </p:cNvPr>
          <p:cNvSpPr>
            <a:spLocks noGrp="1"/>
          </p:cNvSpPr>
          <p:nvPr>
            <p:ph type="title"/>
          </p:nvPr>
        </p:nvSpPr>
        <p:spPr/>
        <p:txBody>
          <a:bodyPr/>
          <a:lstStyle/>
          <a:p>
            <a:r>
              <a:rPr lang="en-IN" dirty="0"/>
              <a:t>The Subtraction Rule </a:t>
            </a:r>
          </a:p>
        </p:txBody>
      </p:sp>
      <p:sp>
        <p:nvSpPr>
          <p:cNvPr id="3" name="Content Placeholder 2">
            <a:extLst>
              <a:ext uri="{FF2B5EF4-FFF2-40B4-BE49-F238E27FC236}">
                <a16:creationId xmlns:a16="http://schemas.microsoft.com/office/drawing/2014/main" id="{61F41F99-FB03-407E-95B9-F171C22EF08A}"/>
              </a:ext>
            </a:extLst>
          </p:cNvPr>
          <p:cNvSpPr>
            <a:spLocks noGrp="1"/>
          </p:cNvSpPr>
          <p:nvPr>
            <p:ph idx="1"/>
          </p:nvPr>
        </p:nvSpPr>
        <p:spPr/>
        <p:txBody>
          <a:bodyPr>
            <a:normAutofit/>
          </a:bodyPr>
          <a:lstStyle/>
          <a:p>
            <a:pPr marL="0" indent="0">
              <a:buNone/>
            </a:pPr>
            <a:r>
              <a:rPr lang="en-US" dirty="0"/>
              <a:t>If a task can be done in either n</a:t>
            </a:r>
            <a:r>
              <a:rPr lang="en-US" baseline="-25000" dirty="0"/>
              <a:t>1</a:t>
            </a:r>
            <a:r>
              <a:rPr lang="en-US" dirty="0"/>
              <a:t> ways or n</a:t>
            </a:r>
            <a:r>
              <a:rPr lang="en-US" baseline="-25000" dirty="0"/>
              <a:t>2</a:t>
            </a:r>
            <a:r>
              <a:rPr lang="en-US" dirty="0"/>
              <a:t> ways, then the number of ways to do the task is n</a:t>
            </a:r>
            <a:r>
              <a:rPr lang="en-US" baseline="-25000" dirty="0"/>
              <a:t>1</a:t>
            </a:r>
            <a:r>
              <a:rPr lang="en-US" dirty="0"/>
              <a:t> + n</a:t>
            </a:r>
            <a:r>
              <a:rPr lang="en-US" baseline="-25000" dirty="0"/>
              <a:t>2</a:t>
            </a:r>
            <a:r>
              <a:rPr lang="en-US" dirty="0"/>
              <a:t> minus the number of ways to do the task that are common to the two different ways </a:t>
            </a:r>
          </a:p>
          <a:p>
            <a:pPr marL="0" indent="0">
              <a:buNone/>
            </a:pPr>
            <a:r>
              <a:rPr lang="en-US" dirty="0"/>
              <a:t>|A</a:t>
            </a:r>
            <a:r>
              <a:rPr lang="en-US" baseline="-25000" dirty="0"/>
              <a:t>1</a:t>
            </a:r>
            <a:r>
              <a:rPr lang="en-US" dirty="0"/>
              <a:t> ∪ A</a:t>
            </a:r>
            <a:r>
              <a:rPr lang="en-US" baseline="-25000" dirty="0"/>
              <a:t>2</a:t>
            </a:r>
            <a:r>
              <a:rPr lang="en-US" dirty="0"/>
              <a:t>| = |A</a:t>
            </a:r>
            <a:r>
              <a:rPr lang="en-US" baseline="-25000" dirty="0"/>
              <a:t>1</a:t>
            </a:r>
            <a:r>
              <a:rPr lang="en-US" dirty="0"/>
              <a:t>| + |A</a:t>
            </a:r>
            <a:r>
              <a:rPr lang="en-US" baseline="-25000" dirty="0"/>
              <a:t>2</a:t>
            </a:r>
            <a:r>
              <a:rPr lang="en-US" dirty="0"/>
              <a:t>| − |A</a:t>
            </a:r>
            <a:r>
              <a:rPr lang="en-US" baseline="-25000" dirty="0"/>
              <a:t>1</a:t>
            </a:r>
            <a:r>
              <a:rPr lang="en-US" dirty="0"/>
              <a:t> ∩ A</a:t>
            </a:r>
            <a:r>
              <a:rPr lang="en-US" baseline="-25000" dirty="0"/>
              <a:t>2</a:t>
            </a:r>
            <a:r>
              <a:rPr lang="en-US" dirty="0"/>
              <a:t>|.</a:t>
            </a:r>
          </a:p>
          <a:p>
            <a:pPr marL="0" indent="0">
              <a:buNone/>
            </a:pPr>
            <a:endParaRPr lang="en-IN" dirty="0"/>
          </a:p>
        </p:txBody>
      </p:sp>
    </p:spTree>
    <p:extLst>
      <p:ext uri="{BB962C8B-B14F-4D97-AF65-F5344CB8AC3E}">
        <p14:creationId xmlns:p14="http://schemas.microsoft.com/office/powerpoint/2010/main" val="3522252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5593-A0B5-4936-8F64-3F2CBF0237AF}"/>
              </a:ext>
            </a:extLst>
          </p:cNvPr>
          <p:cNvSpPr>
            <a:spLocks noGrp="1"/>
          </p:cNvSpPr>
          <p:nvPr>
            <p:ph type="title"/>
          </p:nvPr>
        </p:nvSpPr>
        <p:spPr/>
        <p:txBody>
          <a:bodyPr/>
          <a:lstStyle/>
          <a:p>
            <a:r>
              <a:rPr lang="en-IN" dirty="0"/>
              <a:t>The Subtraction Rule </a:t>
            </a:r>
          </a:p>
        </p:txBody>
      </p:sp>
      <p:sp>
        <p:nvSpPr>
          <p:cNvPr id="3" name="Content Placeholder 2">
            <a:extLst>
              <a:ext uri="{FF2B5EF4-FFF2-40B4-BE49-F238E27FC236}">
                <a16:creationId xmlns:a16="http://schemas.microsoft.com/office/drawing/2014/main" id="{61F41F99-FB03-407E-95B9-F171C22EF08A}"/>
              </a:ext>
            </a:extLst>
          </p:cNvPr>
          <p:cNvSpPr>
            <a:spLocks noGrp="1"/>
          </p:cNvSpPr>
          <p:nvPr>
            <p:ph idx="1"/>
          </p:nvPr>
        </p:nvSpPr>
        <p:spPr/>
        <p:txBody>
          <a:bodyPr>
            <a:normAutofit fontScale="77500" lnSpcReduction="20000"/>
          </a:bodyPr>
          <a:lstStyle/>
          <a:p>
            <a:pPr marL="0" indent="0">
              <a:buNone/>
            </a:pPr>
            <a:r>
              <a:rPr lang="en-US" b="1" dirty="0"/>
              <a:t>Ques:- </a:t>
            </a:r>
            <a:r>
              <a:rPr lang="en-US" dirty="0"/>
              <a:t>How many bit strings of length eight either start with a 1 bit or end with the two bits 00?</a:t>
            </a:r>
          </a:p>
          <a:p>
            <a:pPr marL="0" indent="0">
              <a:buNone/>
            </a:pPr>
            <a:endParaRPr lang="en-US" dirty="0"/>
          </a:p>
          <a:p>
            <a:pPr marL="0" indent="0">
              <a:buNone/>
            </a:pPr>
            <a:r>
              <a:rPr lang="en-US" b="1" dirty="0"/>
              <a:t>Sol:- </a:t>
            </a:r>
            <a:r>
              <a:rPr lang="en-US" dirty="0"/>
              <a:t>bit string of length eight that begins with a 1+ a bit string of length eight ending with the two bits 00 - bit string of length eight starting with a 1 and that ends with the two bits 00 </a:t>
            </a:r>
          </a:p>
          <a:p>
            <a:pPr marL="0" indent="0">
              <a:buNone/>
            </a:pPr>
            <a:r>
              <a:rPr lang="en-US" dirty="0"/>
              <a:t>= 2</a:t>
            </a:r>
            <a:r>
              <a:rPr lang="en-US" baseline="30000" dirty="0"/>
              <a:t>7</a:t>
            </a:r>
            <a:r>
              <a:rPr lang="en-US" dirty="0"/>
              <a:t> + 2</a:t>
            </a:r>
            <a:r>
              <a:rPr lang="en-US" baseline="30000" dirty="0"/>
              <a:t>6</a:t>
            </a:r>
            <a:r>
              <a:rPr lang="en-US" dirty="0"/>
              <a:t> - 2</a:t>
            </a:r>
            <a:r>
              <a:rPr lang="en-US" baseline="30000" dirty="0"/>
              <a:t>5</a:t>
            </a:r>
            <a:r>
              <a:rPr lang="en-US" dirty="0"/>
              <a:t>   = 128-64- 32 ways.</a:t>
            </a:r>
          </a:p>
          <a:p>
            <a:pPr marL="0" indent="0">
              <a:buNone/>
            </a:pPr>
            <a:endParaRPr lang="en-US" dirty="0"/>
          </a:p>
          <a:p>
            <a:pPr marL="0" indent="0">
              <a:buNone/>
            </a:pPr>
            <a:r>
              <a:rPr lang="en-US" dirty="0"/>
              <a:t>= the number of ways to construct a bit string of length eight that begins with a 1 or that ends with 00, equals 128 + 64 − 32 = 160.</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305581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7924</TotalTime>
  <Words>1620</Words>
  <Application>Microsoft Office PowerPoint</Application>
  <PresentationFormat>On-screen Show (4:3)</PresentationFormat>
  <Paragraphs>385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vt:lpstr>
      <vt:lpstr>Bahnschrift</vt:lpstr>
      <vt:lpstr>Bahnschrift SemiBold</vt:lpstr>
      <vt:lpstr>Calibri</vt:lpstr>
      <vt:lpstr>Office Theme</vt:lpstr>
      <vt:lpstr>EMTH403</vt:lpstr>
      <vt:lpstr>Lecture Outcomes</vt:lpstr>
      <vt:lpstr>Basics of Counting – Example 1</vt:lpstr>
      <vt:lpstr>Basics of Counting – Example 1</vt:lpstr>
      <vt:lpstr>Basics of Counting – Example 2</vt:lpstr>
      <vt:lpstr>Basics of Counting – Example 2</vt:lpstr>
      <vt:lpstr>Basics of Counting – Example 2</vt:lpstr>
      <vt:lpstr>Basics of Counting – Example 3</vt:lpstr>
      <vt:lpstr>Basics of Counting – Example 2</vt:lpstr>
      <vt:lpstr>Basics of Counting – Example 2</vt:lpstr>
      <vt:lpstr>Basics of Counting – Example 2</vt:lpstr>
      <vt:lpstr>Basics of Counting – Example </vt:lpstr>
      <vt:lpstr>Basics of Counting – Example </vt:lpstr>
      <vt:lpstr>The Sum Rule</vt:lpstr>
      <vt:lpstr>The Sum Rule</vt:lpstr>
      <vt:lpstr>The Sum Rule</vt:lpstr>
      <vt:lpstr>The Sum Rule</vt:lpstr>
      <vt:lpstr>The Subtraction Rule </vt:lpstr>
      <vt:lpstr>The Subtraction Rule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Arpit Thakur</cp:lastModifiedBy>
  <cp:revision>998</cp:revision>
  <dcterms:created xsi:type="dcterms:W3CDTF">2020-12-04T05:20:56Z</dcterms:created>
  <dcterms:modified xsi:type="dcterms:W3CDTF">2020-12-29T07:14:13Z</dcterms:modified>
</cp:coreProperties>
</file>