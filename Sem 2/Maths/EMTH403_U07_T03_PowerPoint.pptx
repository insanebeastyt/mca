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333" r:id="rId4"/>
    <p:sldId id="334" r:id="rId5"/>
    <p:sldId id="362" r:id="rId6"/>
    <p:sldId id="345" r:id="rId7"/>
    <p:sldId id="346" r:id="rId8"/>
    <p:sldId id="348" r:id="rId9"/>
    <p:sldId id="349" r:id="rId10"/>
    <p:sldId id="350" r:id="rId11"/>
    <p:sldId id="351" r:id="rId12"/>
    <p:sldId id="353" r:id="rId13"/>
    <p:sldId id="354" r:id="rId14"/>
    <p:sldId id="355" r:id="rId15"/>
    <p:sldId id="356" r:id="rId16"/>
    <p:sldId id="357" r:id="rId17"/>
    <p:sldId id="358" r:id="rId18"/>
    <p:sldId id="361" r:id="rId19"/>
    <p:sldId id="360" r:id="rId20"/>
    <p:sldId id="25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333"/>
            <p14:sldId id="334"/>
            <p14:sldId id="362"/>
            <p14:sldId id="345"/>
            <p14:sldId id="346"/>
            <p14:sldId id="348"/>
            <p14:sldId id="349"/>
            <p14:sldId id="350"/>
            <p14:sldId id="351"/>
            <p14:sldId id="353"/>
            <p14:sldId id="354"/>
            <p14:sldId id="355"/>
            <p14:sldId id="356"/>
            <p14:sldId id="357"/>
            <p14:sldId id="358"/>
            <p14:sldId id="361"/>
            <p14:sldId id="36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02B"/>
    <a:srgbClr val="00B6CC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understand what is complete graph and complete bipartite graph.</a:t>
            </a:r>
          </a:p>
          <a:p>
            <a:r>
              <a:rPr lang="en-US" dirty="0"/>
              <a:t>understand what </a:t>
            </a:r>
            <a:r>
              <a:rPr lang="en-IN" dirty="0"/>
              <a:t>is a union and subgraphs.</a:t>
            </a:r>
          </a:p>
          <a:p>
            <a:r>
              <a:rPr lang="en-IN" dirty="0"/>
              <a:t>understand how to represent a graph in a matrix form.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Simple Graphs - </a:t>
            </a:r>
            <a:r>
              <a:rPr lang="en-US" dirty="0"/>
              <a:t>Complete Graphs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9"/>
            <a:ext cx="8320141" cy="1414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complete bipartite graphs K</a:t>
            </a:r>
            <a:r>
              <a:rPr lang="en-US" baseline="-25000" dirty="0"/>
              <a:t>2,3</a:t>
            </a:r>
            <a:r>
              <a:rPr lang="en-US" dirty="0"/>
              <a:t>, K</a:t>
            </a:r>
            <a:r>
              <a:rPr lang="en-US" baseline="-25000" dirty="0"/>
              <a:t>3,3</a:t>
            </a:r>
            <a:r>
              <a:rPr lang="en-US" dirty="0"/>
              <a:t>, and K</a:t>
            </a:r>
            <a:r>
              <a:rPr lang="en-US" baseline="-25000" dirty="0"/>
              <a:t>3,5</a:t>
            </a:r>
            <a:r>
              <a:rPr lang="en-US" dirty="0"/>
              <a:t> are displayed in Figure below.</a:t>
            </a:r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DFF7F3-C7FD-428C-B16C-A58CB9527713}"/>
              </a:ext>
            </a:extLst>
          </p:cNvPr>
          <p:cNvGrpSpPr/>
          <p:nvPr/>
        </p:nvGrpSpPr>
        <p:grpSpPr>
          <a:xfrm>
            <a:off x="620821" y="3426561"/>
            <a:ext cx="2093104" cy="2319347"/>
            <a:chOff x="839479" y="3956154"/>
            <a:chExt cx="2093104" cy="2319347"/>
          </a:xfrm>
        </p:grpSpPr>
        <p:sp>
          <p:nvSpPr>
            <p:cNvPr id="36" name="Oval 12">
              <a:extLst>
                <a:ext uri="{FF2B5EF4-FFF2-40B4-BE49-F238E27FC236}">
                  <a16:creationId xmlns:a16="http://schemas.microsoft.com/office/drawing/2014/main" id="{331D5EDF-D422-41E1-A178-0E8810ED7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600" y="395615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3" name="Text Box 26">
              <a:extLst>
                <a:ext uri="{FF2B5EF4-FFF2-40B4-BE49-F238E27FC236}">
                  <a16:creationId xmlns:a16="http://schemas.microsoft.com/office/drawing/2014/main" id="{23C1C80E-E904-4F94-B8A6-52A43E948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907" y="5752281"/>
              <a:ext cx="7825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K</a:t>
              </a:r>
              <a:r>
                <a:rPr lang="en-US" sz="2800" baseline="-25000" dirty="0"/>
                <a:t>2,3</a:t>
              </a:r>
              <a:endParaRPr lang="en-US" altLang="en-US" sz="1800" dirty="0"/>
            </a:p>
          </p:txBody>
        </p:sp>
        <p:sp>
          <p:nvSpPr>
            <p:cNvPr id="108" name="Oval 12">
              <a:extLst>
                <a:ext uri="{FF2B5EF4-FFF2-40B4-BE49-F238E27FC236}">
                  <a16:creationId xmlns:a16="http://schemas.microsoft.com/office/drawing/2014/main" id="{BE763CB4-6F58-4BAF-BECF-17FE8A653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666" y="396861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9" name="Oval 12">
              <a:extLst>
                <a:ext uri="{FF2B5EF4-FFF2-40B4-BE49-F238E27FC236}">
                  <a16:creationId xmlns:a16="http://schemas.microsoft.com/office/drawing/2014/main" id="{AD8610FC-BABB-44EC-9719-772261787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479" y="518764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0" name="Oval 12">
              <a:extLst>
                <a:ext uri="{FF2B5EF4-FFF2-40B4-BE49-F238E27FC236}">
                  <a16:creationId xmlns:a16="http://schemas.microsoft.com/office/drawing/2014/main" id="{7BE6DE8A-1EE0-4BE0-8107-4E930B764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6260" y="515917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1" name="Oval 12">
              <a:extLst>
                <a:ext uri="{FF2B5EF4-FFF2-40B4-BE49-F238E27FC236}">
                  <a16:creationId xmlns:a16="http://schemas.microsoft.com/office/drawing/2014/main" id="{59440F84-A0CE-446B-BB37-AA198D6DF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3983" y="515150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2" name="Line 11">
              <a:extLst>
                <a:ext uri="{FF2B5EF4-FFF2-40B4-BE49-F238E27FC236}">
                  <a16:creationId xmlns:a16="http://schemas.microsoft.com/office/drawing/2014/main" id="{49D942D0-FED9-41B1-B955-7E5E339042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88552" y="4462605"/>
              <a:ext cx="1180569" cy="396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3" name="Line 11">
              <a:extLst>
                <a:ext uri="{FF2B5EF4-FFF2-40B4-BE49-F238E27FC236}">
                  <a16:creationId xmlns:a16="http://schemas.microsoft.com/office/drawing/2014/main" id="{302F53FE-0345-44C3-BA86-63A4AA012A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639360" y="4456489"/>
              <a:ext cx="1138774" cy="495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4" name="Line 11">
              <a:extLst>
                <a:ext uri="{FF2B5EF4-FFF2-40B4-BE49-F238E27FC236}">
                  <a16:creationId xmlns:a16="http://schemas.microsoft.com/office/drawing/2014/main" id="{00D8D033-048B-4031-AC88-59BC0F452C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116221" y="4397664"/>
              <a:ext cx="1158959" cy="5477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5" name="Line 11">
              <a:extLst>
                <a:ext uri="{FF2B5EF4-FFF2-40B4-BE49-F238E27FC236}">
                  <a16:creationId xmlns:a16="http://schemas.microsoft.com/office/drawing/2014/main" id="{505B9F30-B2FC-4E3C-98AC-20B2C1567A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053831" y="4469959"/>
              <a:ext cx="1184634" cy="3774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6" name="Line 11">
              <a:extLst>
                <a:ext uri="{FF2B5EF4-FFF2-40B4-BE49-F238E27FC236}">
                  <a16:creationId xmlns:a16="http://schemas.microsoft.com/office/drawing/2014/main" id="{81067BBC-F89E-4A52-9B94-5E342E0B1C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96859" y="3901074"/>
              <a:ext cx="1233229" cy="15934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7" name="Line 11">
              <a:extLst>
                <a:ext uri="{FF2B5EF4-FFF2-40B4-BE49-F238E27FC236}">
                  <a16:creationId xmlns:a16="http://schemas.microsoft.com/office/drawing/2014/main" id="{574634D7-EE93-4B3B-AA3A-46181FEB57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533783" y="3965547"/>
              <a:ext cx="1201159" cy="14324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5646B3F-BFF6-4A5C-8A79-1BAF0522F741}"/>
              </a:ext>
            </a:extLst>
          </p:cNvPr>
          <p:cNvGrpSpPr/>
          <p:nvPr/>
        </p:nvGrpSpPr>
        <p:grpSpPr>
          <a:xfrm>
            <a:off x="3046026" y="3407175"/>
            <a:ext cx="2125389" cy="2358118"/>
            <a:chOff x="3337511" y="3811367"/>
            <a:chExt cx="2125389" cy="2358118"/>
          </a:xfrm>
        </p:grpSpPr>
        <p:sp>
          <p:nvSpPr>
            <p:cNvPr id="118" name="Oval 12">
              <a:extLst>
                <a:ext uri="{FF2B5EF4-FFF2-40B4-BE49-F238E27FC236}">
                  <a16:creationId xmlns:a16="http://schemas.microsoft.com/office/drawing/2014/main" id="{79E8CC5A-5418-4BD0-936E-B1521DD8F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654" y="381136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9" name="Text Box 26">
              <a:extLst>
                <a:ext uri="{FF2B5EF4-FFF2-40B4-BE49-F238E27FC236}">
                  <a16:creationId xmlns:a16="http://schemas.microsoft.com/office/drawing/2014/main" id="{90D23A19-389A-4036-92D2-229423E80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939" y="5646265"/>
              <a:ext cx="7857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K</a:t>
              </a:r>
              <a:r>
                <a:rPr lang="en-US" sz="2800" baseline="-25000" dirty="0"/>
                <a:t>3,3</a:t>
              </a:r>
              <a:endParaRPr lang="en-US" altLang="en-US" sz="1800" dirty="0"/>
            </a:p>
          </p:txBody>
        </p:sp>
        <p:sp>
          <p:nvSpPr>
            <p:cNvPr id="120" name="Oval 12">
              <a:extLst>
                <a:ext uri="{FF2B5EF4-FFF2-40B4-BE49-F238E27FC236}">
                  <a16:creationId xmlns:a16="http://schemas.microsoft.com/office/drawing/2014/main" id="{D2AE0D35-8689-433B-A5CA-3C586E4FD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225" y="386259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21" name="Oval 12">
              <a:extLst>
                <a:ext uri="{FF2B5EF4-FFF2-40B4-BE49-F238E27FC236}">
                  <a16:creationId xmlns:a16="http://schemas.microsoft.com/office/drawing/2014/main" id="{3DE81A58-C609-461C-9346-855683FD4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511" y="508163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22" name="Oval 12">
              <a:extLst>
                <a:ext uri="{FF2B5EF4-FFF2-40B4-BE49-F238E27FC236}">
                  <a16:creationId xmlns:a16="http://schemas.microsoft.com/office/drawing/2014/main" id="{43B68276-3672-4776-B5EF-ED6F7B9AB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292" y="5053156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23" name="Oval 12">
              <a:extLst>
                <a:ext uri="{FF2B5EF4-FFF2-40B4-BE49-F238E27FC236}">
                  <a16:creationId xmlns:a16="http://schemas.microsoft.com/office/drawing/2014/main" id="{65578B24-862C-419B-8401-70670144A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015" y="504548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24" name="Line 11">
              <a:extLst>
                <a:ext uri="{FF2B5EF4-FFF2-40B4-BE49-F238E27FC236}">
                  <a16:creationId xmlns:a16="http://schemas.microsoft.com/office/drawing/2014/main" id="{524C7E28-7780-45C7-9DE2-1B2BC3263F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908527" y="4538819"/>
              <a:ext cx="1176396" cy="359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5" name="Line 11">
              <a:extLst>
                <a:ext uri="{FF2B5EF4-FFF2-40B4-BE49-F238E27FC236}">
                  <a16:creationId xmlns:a16="http://schemas.microsoft.com/office/drawing/2014/main" id="{9690BE67-9895-4814-912A-18E133B432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295371" y="4100353"/>
              <a:ext cx="1230915" cy="9032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6" name="Line 11">
              <a:extLst>
                <a:ext uri="{FF2B5EF4-FFF2-40B4-BE49-F238E27FC236}">
                  <a16:creationId xmlns:a16="http://schemas.microsoft.com/office/drawing/2014/main" id="{2605005A-49BA-4D01-AE8C-26B818407F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876832" y="4554227"/>
              <a:ext cx="1138777" cy="427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7" name="Line 11">
              <a:extLst>
                <a:ext uri="{FF2B5EF4-FFF2-40B4-BE49-F238E27FC236}">
                  <a16:creationId xmlns:a16="http://schemas.microsoft.com/office/drawing/2014/main" id="{816460EE-DAB6-41CD-ABD5-256AB0EE53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736529" y="4532935"/>
              <a:ext cx="1208465" cy="15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8" name="Line 11">
              <a:extLst>
                <a:ext uri="{FF2B5EF4-FFF2-40B4-BE49-F238E27FC236}">
                  <a16:creationId xmlns:a16="http://schemas.microsoft.com/office/drawing/2014/main" id="{6C76763E-F1FC-4D22-B55A-7667C5202A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745775" y="3605557"/>
              <a:ext cx="1271846" cy="19338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9" name="Line 11">
              <a:extLst>
                <a:ext uri="{FF2B5EF4-FFF2-40B4-BE49-F238E27FC236}">
                  <a16:creationId xmlns:a16="http://schemas.microsoft.com/office/drawing/2014/main" id="{DD25A23A-2244-4F08-9F24-BE0E7798F0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270267" y="4097983"/>
              <a:ext cx="1207707" cy="9489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30" name="Oval 12">
              <a:extLst>
                <a:ext uri="{FF2B5EF4-FFF2-40B4-BE49-F238E27FC236}">
                  <a16:creationId xmlns:a16="http://schemas.microsoft.com/office/drawing/2014/main" id="{821045D5-9773-4ED9-963B-588FE4052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4300" y="382271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1" name="Line 11">
              <a:extLst>
                <a:ext uri="{FF2B5EF4-FFF2-40B4-BE49-F238E27FC236}">
                  <a16:creationId xmlns:a16="http://schemas.microsoft.com/office/drawing/2014/main" id="{EBA56DB4-6857-4074-A1AD-4B752D31C2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792597" y="3599866"/>
              <a:ext cx="1210788" cy="18385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32" name="Line 11">
              <a:extLst>
                <a:ext uri="{FF2B5EF4-FFF2-40B4-BE49-F238E27FC236}">
                  <a16:creationId xmlns:a16="http://schemas.microsoft.com/office/drawing/2014/main" id="{2B54A982-CCB1-437D-B263-88CE3C4159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276050" y="4100904"/>
              <a:ext cx="1271846" cy="10257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33" name="Line 11">
              <a:extLst>
                <a:ext uri="{FF2B5EF4-FFF2-40B4-BE49-F238E27FC236}">
                  <a16:creationId xmlns:a16="http://schemas.microsoft.com/office/drawing/2014/main" id="{E34603D5-6D91-484B-88D4-1BEE337FEF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398224" y="4113238"/>
              <a:ext cx="1214016" cy="9247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CEC16A6-E1DD-46BE-8FE8-2CD2EDD6D2E6}"/>
              </a:ext>
            </a:extLst>
          </p:cNvPr>
          <p:cNvGrpSpPr/>
          <p:nvPr/>
        </p:nvGrpSpPr>
        <p:grpSpPr>
          <a:xfrm>
            <a:off x="5503516" y="3407175"/>
            <a:ext cx="3237565" cy="2358118"/>
            <a:chOff x="5722174" y="3844497"/>
            <a:chExt cx="3237565" cy="2358118"/>
          </a:xfrm>
        </p:grpSpPr>
        <p:sp>
          <p:nvSpPr>
            <p:cNvPr id="134" name="Oval 12">
              <a:extLst>
                <a:ext uri="{FF2B5EF4-FFF2-40B4-BE49-F238E27FC236}">
                  <a16:creationId xmlns:a16="http://schemas.microsoft.com/office/drawing/2014/main" id="{86C17329-88E5-4D24-9903-DB1A69106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250" y="384449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5" name="Text Box 26">
              <a:extLst>
                <a:ext uri="{FF2B5EF4-FFF2-40B4-BE49-F238E27FC236}">
                  <a16:creationId xmlns:a16="http://schemas.microsoft.com/office/drawing/2014/main" id="{E2FF7C67-0AEA-484F-908B-F75824DAF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9535" y="5679395"/>
              <a:ext cx="78899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K</a:t>
              </a:r>
              <a:r>
                <a:rPr lang="en-US" sz="2800" baseline="-25000" dirty="0"/>
                <a:t>3,5</a:t>
              </a:r>
              <a:endParaRPr lang="en-US" altLang="en-US" sz="1800" dirty="0"/>
            </a:p>
          </p:txBody>
        </p:sp>
        <p:sp>
          <p:nvSpPr>
            <p:cNvPr id="136" name="Oval 12">
              <a:extLst>
                <a:ext uri="{FF2B5EF4-FFF2-40B4-BE49-F238E27FC236}">
                  <a16:creationId xmlns:a16="http://schemas.microsoft.com/office/drawing/2014/main" id="{63122665-5046-4F2D-ACFD-B92B513EC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21" y="389572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7" name="Oval 12">
              <a:extLst>
                <a:ext uri="{FF2B5EF4-FFF2-40B4-BE49-F238E27FC236}">
                  <a16:creationId xmlns:a16="http://schemas.microsoft.com/office/drawing/2014/main" id="{81FE8CE1-13EA-41EC-9F47-0CDCBC3D6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107" y="511476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8" name="Oval 12">
              <a:extLst>
                <a:ext uri="{FF2B5EF4-FFF2-40B4-BE49-F238E27FC236}">
                  <a16:creationId xmlns:a16="http://schemas.microsoft.com/office/drawing/2014/main" id="{57740F74-CF41-4B5D-AA8D-6E1A7FA2D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9888" y="5086286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9" name="Oval 12">
              <a:extLst>
                <a:ext uri="{FF2B5EF4-FFF2-40B4-BE49-F238E27FC236}">
                  <a16:creationId xmlns:a16="http://schemas.microsoft.com/office/drawing/2014/main" id="{5E180439-485C-4C26-868A-16440D431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7611" y="507861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40" name="Line 11">
              <a:extLst>
                <a:ext uri="{FF2B5EF4-FFF2-40B4-BE49-F238E27FC236}">
                  <a16:creationId xmlns:a16="http://schemas.microsoft.com/office/drawing/2014/main" id="{A1E514B7-F9F3-42FF-BC50-4BF9F48207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804123" y="4571949"/>
              <a:ext cx="1176396" cy="359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1" name="Line 11">
              <a:extLst>
                <a:ext uri="{FF2B5EF4-FFF2-40B4-BE49-F238E27FC236}">
                  <a16:creationId xmlns:a16="http://schemas.microsoft.com/office/drawing/2014/main" id="{CB0C518C-BB9E-48B4-8953-B353F1B7C7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190967" y="4133483"/>
              <a:ext cx="1230915" cy="9032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2" name="Line 11">
              <a:extLst>
                <a:ext uri="{FF2B5EF4-FFF2-40B4-BE49-F238E27FC236}">
                  <a16:creationId xmlns:a16="http://schemas.microsoft.com/office/drawing/2014/main" id="{89B33CD7-1FA4-474C-BE56-3F4B489585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772428" y="4587357"/>
              <a:ext cx="1138777" cy="427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3" name="Line 11">
              <a:extLst>
                <a:ext uri="{FF2B5EF4-FFF2-40B4-BE49-F238E27FC236}">
                  <a16:creationId xmlns:a16="http://schemas.microsoft.com/office/drawing/2014/main" id="{BF5C8A79-0DB5-4111-B44D-5372B38DCF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632125" y="4566065"/>
              <a:ext cx="1208465" cy="15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4" name="Line 11">
              <a:extLst>
                <a:ext uri="{FF2B5EF4-FFF2-40B4-BE49-F238E27FC236}">
                  <a16:creationId xmlns:a16="http://schemas.microsoft.com/office/drawing/2014/main" id="{B381FA66-0727-4105-93CC-68F6B44F8A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641371" y="3638687"/>
              <a:ext cx="1271846" cy="19338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5" name="Line 11">
              <a:extLst>
                <a:ext uri="{FF2B5EF4-FFF2-40B4-BE49-F238E27FC236}">
                  <a16:creationId xmlns:a16="http://schemas.microsoft.com/office/drawing/2014/main" id="{91FA6DF6-698F-4813-A197-3F432E4F88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165863" y="4131113"/>
              <a:ext cx="1207707" cy="9489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6" name="Oval 12">
              <a:extLst>
                <a:ext uri="{FF2B5EF4-FFF2-40B4-BE49-F238E27FC236}">
                  <a16:creationId xmlns:a16="http://schemas.microsoft.com/office/drawing/2014/main" id="{AB0E2798-E764-48C4-8AF2-94AFE472F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9896" y="385584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47" name="Line 11">
              <a:extLst>
                <a:ext uri="{FF2B5EF4-FFF2-40B4-BE49-F238E27FC236}">
                  <a16:creationId xmlns:a16="http://schemas.microsoft.com/office/drawing/2014/main" id="{8A0091A5-F2F6-43A3-BC22-FD062A083C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688193" y="3632996"/>
              <a:ext cx="1210788" cy="18385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8" name="Line 11">
              <a:extLst>
                <a:ext uri="{FF2B5EF4-FFF2-40B4-BE49-F238E27FC236}">
                  <a16:creationId xmlns:a16="http://schemas.microsoft.com/office/drawing/2014/main" id="{3AEE1DD7-53D9-4EFF-BEDC-C38540840C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171646" y="4134034"/>
              <a:ext cx="1271846" cy="10257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9" name="Line 11">
              <a:extLst>
                <a:ext uri="{FF2B5EF4-FFF2-40B4-BE49-F238E27FC236}">
                  <a16:creationId xmlns:a16="http://schemas.microsoft.com/office/drawing/2014/main" id="{D514DFCC-4852-4E9F-815B-3F3678E384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293820" y="4146368"/>
              <a:ext cx="1214016" cy="9247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0" name="Oval 12">
              <a:extLst>
                <a:ext uri="{FF2B5EF4-FFF2-40B4-BE49-F238E27FC236}">
                  <a16:creationId xmlns:a16="http://schemas.microsoft.com/office/drawing/2014/main" id="{A2494AEF-D5B4-4804-A629-54C760749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139" y="505436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51" name="Oval 12">
              <a:extLst>
                <a:ext uri="{FF2B5EF4-FFF2-40B4-BE49-F238E27FC236}">
                  <a16:creationId xmlns:a16="http://schemas.microsoft.com/office/drawing/2014/main" id="{C23A8320-D87D-430D-8675-56C079052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174" y="506608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52" name="Line 11">
              <a:extLst>
                <a:ext uri="{FF2B5EF4-FFF2-40B4-BE49-F238E27FC236}">
                  <a16:creationId xmlns:a16="http://schemas.microsoft.com/office/drawing/2014/main" id="{F44F8D82-C044-4052-8367-C7679987C9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987458" y="3858210"/>
              <a:ext cx="1188152" cy="1427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3" name="Line 11">
              <a:extLst>
                <a:ext uri="{FF2B5EF4-FFF2-40B4-BE49-F238E27FC236}">
                  <a16:creationId xmlns:a16="http://schemas.microsoft.com/office/drawing/2014/main" id="{6941A215-1DBB-4B7A-AE0A-A878E860CA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525742" y="4287638"/>
              <a:ext cx="1188153" cy="568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4" name="Line 11">
              <a:extLst>
                <a:ext uri="{FF2B5EF4-FFF2-40B4-BE49-F238E27FC236}">
                  <a16:creationId xmlns:a16="http://schemas.microsoft.com/office/drawing/2014/main" id="{48A614E3-A44D-4A8C-9DE8-227D1E8247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401150" y="3325705"/>
              <a:ext cx="1246089" cy="24677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5" name="Line 11">
              <a:extLst>
                <a:ext uri="{FF2B5EF4-FFF2-40B4-BE49-F238E27FC236}">
                  <a16:creationId xmlns:a16="http://schemas.microsoft.com/office/drawing/2014/main" id="{380D7AED-0E1B-4FF6-82D4-C5A526985E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8002105" y="4275283"/>
              <a:ext cx="1126633" cy="6547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6" name="Line 11">
              <a:extLst>
                <a:ext uri="{FF2B5EF4-FFF2-40B4-BE49-F238E27FC236}">
                  <a16:creationId xmlns:a16="http://schemas.microsoft.com/office/drawing/2014/main" id="{A7A0FE26-5147-469F-BA7A-6F1B196BC8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488601" y="3843046"/>
              <a:ext cx="1149443" cy="15420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7" name="Line 11">
              <a:extLst>
                <a:ext uri="{FF2B5EF4-FFF2-40B4-BE49-F238E27FC236}">
                  <a16:creationId xmlns:a16="http://schemas.microsoft.com/office/drawing/2014/main" id="{89F32BFD-1703-48E2-8FCC-95F206008D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006114" y="3338223"/>
              <a:ext cx="1219134" cy="24363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</p:spTree>
    <p:extLst>
      <p:ext uri="{BB962C8B-B14F-4D97-AF65-F5344CB8AC3E}">
        <p14:creationId xmlns:p14="http://schemas.microsoft.com/office/powerpoint/2010/main" val="157148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Simple Graphs - </a:t>
            </a:r>
            <a:r>
              <a:rPr lang="en-US" dirty="0"/>
              <a:t>Complete Bipartite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154362" cy="27376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A complete bipartite graph K</a:t>
            </a:r>
            <a:r>
              <a:rPr lang="en-US" sz="2400" baseline="-25000" dirty="0"/>
              <a:t>m,n</a:t>
            </a:r>
            <a:r>
              <a:rPr lang="en-US" sz="2400" dirty="0"/>
              <a:t> is a graph that has its vertex set partitioned into two subsets of m and n vertices, respectively with an edge between two vertices if and only if one vertex is in the first subset and the other vertex is in the second subset.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C015681-491D-4C9A-AF38-FF67531B37B5}"/>
              </a:ext>
            </a:extLst>
          </p:cNvPr>
          <p:cNvGrpSpPr/>
          <p:nvPr/>
        </p:nvGrpSpPr>
        <p:grpSpPr>
          <a:xfrm>
            <a:off x="620821" y="4022908"/>
            <a:ext cx="2093104" cy="2319347"/>
            <a:chOff x="839479" y="3956154"/>
            <a:chExt cx="2093104" cy="2319347"/>
          </a:xfrm>
        </p:grpSpPr>
        <p:sp>
          <p:nvSpPr>
            <p:cNvPr id="70" name="Oval 12">
              <a:extLst>
                <a:ext uri="{FF2B5EF4-FFF2-40B4-BE49-F238E27FC236}">
                  <a16:creationId xmlns:a16="http://schemas.microsoft.com/office/drawing/2014/main" id="{65D31785-CF51-4294-9A5E-D3F043742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600" y="395615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1" name="Text Box 26">
              <a:extLst>
                <a:ext uri="{FF2B5EF4-FFF2-40B4-BE49-F238E27FC236}">
                  <a16:creationId xmlns:a16="http://schemas.microsoft.com/office/drawing/2014/main" id="{648EC88F-A8B5-41D9-A84D-E988D26B6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907" y="5752281"/>
              <a:ext cx="7825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K</a:t>
              </a:r>
              <a:r>
                <a:rPr lang="en-US" sz="2800" baseline="-25000" dirty="0"/>
                <a:t>2,3</a:t>
              </a:r>
              <a:endParaRPr lang="en-US" altLang="en-US" sz="1800" dirty="0"/>
            </a:p>
          </p:txBody>
        </p:sp>
        <p:sp>
          <p:nvSpPr>
            <p:cNvPr id="72" name="Oval 12">
              <a:extLst>
                <a:ext uri="{FF2B5EF4-FFF2-40B4-BE49-F238E27FC236}">
                  <a16:creationId xmlns:a16="http://schemas.microsoft.com/office/drawing/2014/main" id="{63E73D20-251F-4959-A30F-B0241E6FA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666" y="396861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3" name="Oval 12">
              <a:extLst>
                <a:ext uri="{FF2B5EF4-FFF2-40B4-BE49-F238E27FC236}">
                  <a16:creationId xmlns:a16="http://schemas.microsoft.com/office/drawing/2014/main" id="{209BBE4F-D6E4-4BC2-922D-1C3A2BAC0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479" y="518764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4" name="Oval 12">
              <a:extLst>
                <a:ext uri="{FF2B5EF4-FFF2-40B4-BE49-F238E27FC236}">
                  <a16:creationId xmlns:a16="http://schemas.microsoft.com/office/drawing/2014/main" id="{B288AEA3-E87E-417F-BA84-3B3EBC08A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6260" y="515917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5" name="Oval 12">
              <a:extLst>
                <a:ext uri="{FF2B5EF4-FFF2-40B4-BE49-F238E27FC236}">
                  <a16:creationId xmlns:a16="http://schemas.microsoft.com/office/drawing/2014/main" id="{EDF3A49B-5423-4461-AE91-2EF6163FB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3983" y="515150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6" name="Line 11">
              <a:extLst>
                <a:ext uri="{FF2B5EF4-FFF2-40B4-BE49-F238E27FC236}">
                  <a16:creationId xmlns:a16="http://schemas.microsoft.com/office/drawing/2014/main" id="{52E7BB9D-71FF-4E23-8EEE-A6D3DBE7A7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88552" y="4462605"/>
              <a:ext cx="1180569" cy="396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7" name="Line 11">
              <a:extLst>
                <a:ext uri="{FF2B5EF4-FFF2-40B4-BE49-F238E27FC236}">
                  <a16:creationId xmlns:a16="http://schemas.microsoft.com/office/drawing/2014/main" id="{3F4ED108-9348-4F23-BACD-A42F995F55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639360" y="4456489"/>
              <a:ext cx="1138774" cy="495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80EA36AB-3E3B-43F9-B06D-D40980CAB6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116221" y="4397664"/>
              <a:ext cx="1158959" cy="5477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9" name="Line 11">
              <a:extLst>
                <a:ext uri="{FF2B5EF4-FFF2-40B4-BE49-F238E27FC236}">
                  <a16:creationId xmlns:a16="http://schemas.microsoft.com/office/drawing/2014/main" id="{E9D37038-D3F4-47B7-94EC-F60596C039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053831" y="4469959"/>
              <a:ext cx="1184634" cy="3774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0" name="Line 11">
              <a:extLst>
                <a:ext uri="{FF2B5EF4-FFF2-40B4-BE49-F238E27FC236}">
                  <a16:creationId xmlns:a16="http://schemas.microsoft.com/office/drawing/2014/main" id="{F6C382D1-8BD8-43F2-B29B-561E088964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96859" y="3901074"/>
              <a:ext cx="1233229" cy="15934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5732B9DB-9577-4183-987D-48C085020D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533783" y="3965547"/>
              <a:ext cx="1201159" cy="14324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3BCA585-79A8-4D1C-BB50-0B9903B6AAC5}"/>
              </a:ext>
            </a:extLst>
          </p:cNvPr>
          <p:cNvGrpSpPr/>
          <p:nvPr/>
        </p:nvGrpSpPr>
        <p:grpSpPr>
          <a:xfrm>
            <a:off x="3046026" y="4003522"/>
            <a:ext cx="2125389" cy="2358118"/>
            <a:chOff x="3337511" y="3811367"/>
            <a:chExt cx="2125389" cy="2358118"/>
          </a:xfrm>
        </p:grpSpPr>
        <p:sp>
          <p:nvSpPr>
            <p:cNvPr id="83" name="Oval 12">
              <a:extLst>
                <a:ext uri="{FF2B5EF4-FFF2-40B4-BE49-F238E27FC236}">
                  <a16:creationId xmlns:a16="http://schemas.microsoft.com/office/drawing/2014/main" id="{2AD3F2E8-2871-4380-B718-9CD894C64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654" y="381136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4DE88D5A-82D6-49F6-9F8D-81FD1A2AC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939" y="5646265"/>
              <a:ext cx="7857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K</a:t>
              </a:r>
              <a:r>
                <a:rPr lang="en-US" sz="2800" baseline="-25000" dirty="0"/>
                <a:t>3,3</a:t>
              </a:r>
              <a:endParaRPr lang="en-US" altLang="en-US" sz="1800" dirty="0"/>
            </a:p>
          </p:txBody>
        </p:sp>
        <p:sp>
          <p:nvSpPr>
            <p:cNvPr id="85" name="Oval 12">
              <a:extLst>
                <a:ext uri="{FF2B5EF4-FFF2-40B4-BE49-F238E27FC236}">
                  <a16:creationId xmlns:a16="http://schemas.microsoft.com/office/drawing/2014/main" id="{C36B8142-1D4A-49E7-87C9-16A1B4F51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225" y="386259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6" name="Oval 12">
              <a:extLst>
                <a:ext uri="{FF2B5EF4-FFF2-40B4-BE49-F238E27FC236}">
                  <a16:creationId xmlns:a16="http://schemas.microsoft.com/office/drawing/2014/main" id="{0A712E4F-5164-4884-A35E-AC4668938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511" y="508163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7" name="Oval 12">
              <a:extLst>
                <a:ext uri="{FF2B5EF4-FFF2-40B4-BE49-F238E27FC236}">
                  <a16:creationId xmlns:a16="http://schemas.microsoft.com/office/drawing/2014/main" id="{6C22023A-CF1A-4A0D-A279-929C2BFA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292" y="5053156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8" name="Oval 12">
              <a:extLst>
                <a:ext uri="{FF2B5EF4-FFF2-40B4-BE49-F238E27FC236}">
                  <a16:creationId xmlns:a16="http://schemas.microsoft.com/office/drawing/2014/main" id="{B8C0CE1A-BD24-466B-A36C-44BC71796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015" y="504548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9" name="Line 11">
              <a:extLst>
                <a:ext uri="{FF2B5EF4-FFF2-40B4-BE49-F238E27FC236}">
                  <a16:creationId xmlns:a16="http://schemas.microsoft.com/office/drawing/2014/main" id="{C8B037A7-CC31-4D9D-9ED3-2A43DF2149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908527" y="4538819"/>
              <a:ext cx="1176396" cy="359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0" name="Line 11">
              <a:extLst>
                <a:ext uri="{FF2B5EF4-FFF2-40B4-BE49-F238E27FC236}">
                  <a16:creationId xmlns:a16="http://schemas.microsoft.com/office/drawing/2014/main" id="{FE0DC1D8-6C89-4590-9467-3919456C7E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295371" y="4100353"/>
              <a:ext cx="1230915" cy="9032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1" name="Line 11">
              <a:extLst>
                <a:ext uri="{FF2B5EF4-FFF2-40B4-BE49-F238E27FC236}">
                  <a16:creationId xmlns:a16="http://schemas.microsoft.com/office/drawing/2014/main" id="{14437E64-8235-4031-B92D-51AA6588D3B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876832" y="4554227"/>
              <a:ext cx="1138777" cy="427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2" name="Line 11">
              <a:extLst>
                <a:ext uri="{FF2B5EF4-FFF2-40B4-BE49-F238E27FC236}">
                  <a16:creationId xmlns:a16="http://schemas.microsoft.com/office/drawing/2014/main" id="{1EE2E2BC-C754-494B-8FDC-6C181A92D0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736529" y="4532935"/>
              <a:ext cx="1208465" cy="15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3" name="Line 11">
              <a:extLst>
                <a:ext uri="{FF2B5EF4-FFF2-40B4-BE49-F238E27FC236}">
                  <a16:creationId xmlns:a16="http://schemas.microsoft.com/office/drawing/2014/main" id="{4D1B6024-D901-4383-87CB-EF2AAA33B9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745775" y="3605557"/>
              <a:ext cx="1271846" cy="19338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4" name="Line 11">
              <a:extLst>
                <a:ext uri="{FF2B5EF4-FFF2-40B4-BE49-F238E27FC236}">
                  <a16:creationId xmlns:a16="http://schemas.microsoft.com/office/drawing/2014/main" id="{D21E58D1-CE67-4BB8-A44F-979FFAD940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270267" y="4097983"/>
              <a:ext cx="1207707" cy="9489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5" name="Oval 12">
              <a:extLst>
                <a:ext uri="{FF2B5EF4-FFF2-40B4-BE49-F238E27FC236}">
                  <a16:creationId xmlns:a16="http://schemas.microsoft.com/office/drawing/2014/main" id="{49D9578D-DEAC-4CEE-9A24-72FAA27C3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4300" y="382271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96" name="Line 11">
              <a:extLst>
                <a:ext uri="{FF2B5EF4-FFF2-40B4-BE49-F238E27FC236}">
                  <a16:creationId xmlns:a16="http://schemas.microsoft.com/office/drawing/2014/main" id="{83404E5A-E160-4961-8EB2-71A0E72662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792597" y="3599866"/>
              <a:ext cx="1210788" cy="18385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7" name="Line 11">
              <a:extLst>
                <a:ext uri="{FF2B5EF4-FFF2-40B4-BE49-F238E27FC236}">
                  <a16:creationId xmlns:a16="http://schemas.microsoft.com/office/drawing/2014/main" id="{83F17098-3104-4769-9B31-7DD4674FC1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276050" y="4100904"/>
              <a:ext cx="1271846" cy="10257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8" name="Line 11">
              <a:extLst>
                <a:ext uri="{FF2B5EF4-FFF2-40B4-BE49-F238E27FC236}">
                  <a16:creationId xmlns:a16="http://schemas.microsoft.com/office/drawing/2014/main" id="{92C36BE7-ED1E-4706-A483-C3CCB9CD02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398224" y="4113238"/>
              <a:ext cx="1214016" cy="9247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BD72324-73FB-4ADD-8A3E-5081E69B8A3B}"/>
              </a:ext>
            </a:extLst>
          </p:cNvPr>
          <p:cNvGrpSpPr/>
          <p:nvPr/>
        </p:nvGrpSpPr>
        <p:grpSpPr>
          <a:xfrm>
            <a:off x="5503516" y="4003522"/>
            <a:ext cx="3237565" cy="2358118"/>
            <a:chOff x="5722174" y="3844497"/>
            <a:chExt cx="3237565" cy="2358118"/>
          </a:xfrm>
        </p:grpSpPr>
        <p:sp>
          <p:nvSpPr>
            <p:cNvPr id="100" name="Oval 12">
              <a:extLst>
                <a:ext uri="{FF2B5EF4-FFF2-40B4-BE49-F238E27FC236}">
                  <a16:creationId xmlns:a16="http://schemas.microsoft.com/office/drawing/2014/main" id="{E630E266-FC6A-4005-967A-16B2EB822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250" y="384449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1" name="Text Box 26">
              <a:extLst>
                <a:ext uri="{FF2B5EF4-FFF2-40B4-BE49-F238E27FC236}">
                  <a16:creationId xmlns:a16="http://schemas.microsoft.com/office/drawing/2014/main" id="{5894E9BD-72AB-4053-B4EF-B2003EB67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9535" y="5679395"/>
              <a:ext cx="78899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K</a:t>
              </a:r>
              <a:r>
                <a:rPr lang="en-US" sz="2800" baseline="-25000" dirty="0"/>
                <a:t>3,5</a:t>
              </a:r>
              <a:endParaRPr lang="en-US" altLang="en-US" sz="1800" dirty="0"/>
            </a:p>
          </p:txBody>
        </p:sp>
        <p:sp>
          <p:nvSpPr>
            <p:cNvPr id="102" name="Oval 12">
              <a:extLst>
                <a:ext uri="{FF2B5EF4-FFF2-40B4-BE49-F238E27FC236}">
                  <a16:creationId xmlns:a16="http://schemas.microsoft.com/office/drawing/2014/main" id="{00818695-1488-432B-961D-3E983D0B4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21" y="389572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3" name="Oval 12">
              <a:extLst>
                <a:ext uri="{FF2B5EF4-FFF2-40B4-BE49-F238E27FC236}">
                  <a16:creationId xmlns:a16="http://schemas.microsoft.com/office/drawing/2014/main" id="{E87EEAE1-63BD-486C-8B41-76CBE6B25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107" y="511476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4" name="Oval 12">
              <a:extLst>
                <a:ext uri="{FF2B5EF4-FFF2-40B4-BE49-F238E27FC236}">
                  <a16:creationId xmlns:a16="http://schemas.microsoft.com/office/drawing/2014/main" id="{B748A632-9782-49EB-AF01-0CF9BFD32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9888" y="5086286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5" name="Oval 12">
              <a:extLst>
                <a:ext uri="{FF2B5EF4-FFF2-40B4-BE49-F238E27FC236}">
                  <a16:creationId xmlns:a16="http://schemas.microsoft.com/office/drawing/2014/main" id="{802C7626-BAE4-4DE8-91F4-BC3ED3AC2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7611" y="507861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6" name="Line 11">
              <a:extLst>
                <a:ext uri="{FF2B5EF4-FFF2-40B4-BE49-F238E27FC236}">
                  <a16:creationId xmlns:a16="http://schemas.microsoft.com/office/drawing/2014/main" id="{2359EE7D-5FAE-4BA2-BE2A-576622B342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804123" y="4571949"/>
              <a:ext cx="1176396" cy="359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7" name="Line 11">
              <a:extLst>
                <a:ext uri="{FF2B5EF4-FFF2-40B4-BE49-F238E27FC236}">
                  <a16:creationId xmlns:a16="http://schemas.microsoft.com/office/drawing/2014/main" id="{08BADB83-51A3-4D92-A4F2-795D2519DF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190967" y="4133483"/>
              <a:ext cx="1230915" cy="9032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8" name="Line 11">
              <a:extLst>
                <a:ext uri="{FF2B5EF4-FFF2-40B4-BE49-F238E27FC236}">
                  <a16:creationId xmlns:a16="http://schemas.microsoft.com/office/drawing/2014/main" id="{4D8D6573-56FD-4246-8532-47CB332421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772428" y="4587357"/>
              <a:ext cx="1138777" cy="427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9" name="Line 11">
              <a:extLst>
                <a:ext uri="{FF2B5EF4-FFF2-40B4-BE49-F238E27FC236}">
                  <a16:creationId xmlns:a16="http://schemas.microsoft.com/office/drawing/2014/main" id="{5E098937-D14A-4EC4-AFF8-6A21526574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632125" y="4566065"/>
              <a:ext cx="1208465" cy="15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0" name="Line 11">
              <a:extLst>
                <a:ext uri="{FF2B5EF4-FFF2-40B4-BE49-F238E27FC236}">
                  <a16:creationId xmlns:a16="http://schemas.microsoft.com/office/drawing/2014/main" id="{8B8B2ED7-44CC-4591-9ACA-29A6B7E2DF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641371" y="3638687"/>
              <a:ext cx="1271846" cy="19338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1" name="Line 11">
              <a:extLst>
                <a:ext uri="{FF2B5EF4-FFF2-40B4-BE49-F238E27FC236}">
                  <a16:creationId xmlns:a16="http://schemas.microsoft.com/office/drawing/2014/main" id="{162B4713-0AE3-460A-BB89-B0C461047C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165863" y="4131113"/>
              <a:ext cx="1207707" cy="9489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2" name="Oval 12">
              <a:extLst>
                <a:ext uri="{FF2B5EF4-FFF2-40B4-BE49-F238E27FC236}">
                  <a16:creationId xmlns:a16="http://schemas.microsoft.com/office/drawing/2014/main" id="{91C7103D-3974-4923-A7F3-C99E21A67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9896" y="385584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3" name="Line 11">
              <a:extLst>
                <a:ext uri="{FF2B5EF4-FFF2-40B4-BE49-F238E27FC236}">
                  <a16:creationId xmlns:a16="http://schemas.microsoft.com/office/drawing/2014/main" id="{80E58B2B-6DE1-4904-8DFF-74F187FBA7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688193" y="3632996"/>
              <a:ext cx="1210788" cy="18385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4" name="Line 11">
              <a:extLst>
                <a:ext uri="{FF2B5EF4-FFF2-40B4-BE49-F238E27FC236}">
                  <a16:creationId xmlns:a16="http://schemas.microsoft.com/office/drawing/2014/main" id="{52A94814-82DE-4B7E-A7FA-AD3BA88413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171646" y="4134034"/>
              <a:ext cx="1271846" cy="10257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5" name="Line 11">
              <a:extLst>
                <a:ext uri="{FF2B5EF4-FFF2-40B4-BE49-F238E27FC236}">
                  <a16:creationId xmlns:a16="http://schemas.microsoft.com/office/drawing/2014/main" id="{3BE9A020-21B3-463E-95A2-A8C03A7040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293820" y="4146368"/>
              <a:ext cx="1214016" cy="9247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6" name="Oval 12">
              <a:extLst>
                <a:ext uri="{FF2B5EF4-FFF2-40B4-BE49-F238E27FC236}">
                  <a16:creationId xmlns:a16="http://schemas.microsoft.com/office/drawing/2014/main" id="{EBF17D23-9310-4A00-A714-813C40C9C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139" y="505436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7" name="Oval 12">
              <a:extLst>
                <a:ext uri="{FF2B5EF4-FFF2-40B4-BE49-F238E27FC236}">
                  <a16:creationId xmlns:a16="http://schemas.microsoft.com/office/drawing/2014/main" id="{9D7B866A-8ABE-4699-BBEE-FA95F4453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174" y="506608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8" name="Line 11">
              <a:extLst>
                <a:ext uri="{FF2B5EF4-FFF2-40B4-BE49-F238E27FC236}">
                  <a16:creationId xmlns:a16="http://schemas.microsoft.com/office/drawing/2014/main" id="{01A7C3DE-B410-4D49-B4CC-BF1740806D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987458" y="3858210"/>
              <a:ext cx="1188152" cy="1427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9" name="Line 11">
              <a:extLst>
                <a:ext uri="{FF2B5EF4-FFF2-40B4-BE49-F238E27FC236}">
                  <a16:creationId xmlns:a16="http://schemas.microsoft.com/office/drawing/2014/main" id="{63F5D219-DF63-4F56-8396-DED70DE362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525742" y="4287638"/>
              <a:ext cx="1188153" cy="568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0" name="Line 11">
              <a:extLst>
                <a:ext uri="{FF2B5EF4-FFF2-40B4-BE49-F238E27FC236}">
                  <a16:creationId xmlns:a16="http://schemas.microsoft.com/office/drawing/2014/main" id="{58DE48B3-5220-4EC7-8F08-D8361ACD43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401150" y="3325705"/>
              <a:ext cx="1246089" cy="24677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1" name="Line 11">
              <a:extLst>
                <a:ext uri="{FF2B5EF4-FFF2-40B4-BE49-F238E27FC236}">
                  <a16:creationId xmlns:a16="http://schemas.microsoft.com/office/drawing/2014/main" id="{B6731817-F364-4C19-A090-7AC8EF9D86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8002105" y="4275283"/>
              <a:ext cx="1126633" cy="6547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2" name="Line 11">
              <a:extLst>
                <a:ext uri="{FF2B5EF4-FFF2-40B4-BE49-F238E27FC236}">
                  <a16:creationId xmlns:a16="http://schemas.microsoft.com/office/drawing/2014/main" id="{D0889202-EA01-4D0B-9E5A-A8ACFE4415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488601" y="3843046"/>
              <a:ext cx="1149443" cy="15420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3" name="Line 11">
              <a:extLst>
                <a:ext uri="{FF2B5EF4-FFF2-40B4-BE49-F238E27FC236}">
                  <a16:creationId xmlns:a16="http://schemas.microsoft.com/office/drawing/2014/main" id="{A57B38A4-C90B-429D-BA92-5C0DE80AE7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006114" y="3338223"/>
              <a:ext cx="1219134" cy="24363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</p:spTree>
    <p:extLst>
      <p:ext uri="{BB962C8B-B14F-4D97-AF65-F5344CB8AC3E}">
        <p14:creationId xmlns:p14="http://schemas.microsoft.com/office/powerpoint/2010/main" val="86797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Simple Graphs - </a:t>
            </a:r>
            <a:r>
              <a:rPr lang="en-US" dirty="0"/>
              <a:t>Complete Bipartite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349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Complete Bipartite Graphs can be used to model many types of applications that involve matching the elements of one set to elements of another</a:t>
            </a:r>
          </a:p>
          <a:p>
            <a:pPr marL="0" indent="0" algn="ctr">
              <a:buNone/>
            </a:pPr>
            <a:r>
              <a:rPr lang="en-US" sz="2400" u="sng" dirty="0"/>
              <a:t>Job Assignments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B9B60-EDFC-4B9D-8ED6-7C8973650F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" t="8500" r="54644" b="26935"/>
          <a:stretch/>
        </p:blipFill>
        <p:spPr>
          <a:xfrm>
            <a:off x="323193" y="3597965"/>
            <a:ext cx="8575001" cy="297078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031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Simple Graphs - </a:t>
            </a:r>
            <a:r>
              <a:rPr lang="en-US" dirty="0"/>
              <a:t>Complete Bipartite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349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Complete Bipartite Graphs can be used to model many types of applications that involve matching the elements of one set to elements of another</a:t>
            </a:r>
          </a:p>
          <a:p>
            <a:pPr marL="0" indent="0" algn="ctr">
              <a:buNone/>
            </a:pPr>
            <a:r>
              <a:rPr lang="en-US" sz="2400" u="sng" dirty="0"/>
              <a:t>Job Assignments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56F0A-8DBE-4949-A2EB-B6B8FDBDE6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63" t="7955" b="29162"/>
          <a:stretch/>
        </p:blipFill>
        <p:spPr>
          <a:xfrm>
            <a:off x="243508" y="3680821"/>
            <a:ext cx="8656983" cy="289726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700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Simple Graphs - </a:t>
            </a:r>
            <a:r>
              <a:rPr lang="en-US" dirty="0"/>
              <a:t>Complete Bipartite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64349"/>
            <a:ext cx="8504904" cy="330342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u="sng" dirty="0"/>
              <a:t>Local Area Networks </a:t>
            </a:r>
          </a:p>
          <a:p>
            <a:pPr marL="0" indent="0">
              <a:buNone/>
            </a:pPr>
            <a:r>
              <a:rPr lang="en-US" dirty="0"/>
              <a:t>The various computers in a building, such as minicomputers and personal computers, as well as peripheral devices such as printers and plotters, can be connected using a local area network.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223B0E-D864-4BCC-B8B3-B35305ABA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0" y="4467773"/>
            <a:ext cx="8357420" cy="190370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491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Union of 2 Simple graphs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402840" cy="224987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 typeface="Monotype Sorts" pitchFamily="2" charset="2"/>
              <a:buNone/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rgbClr val="990033"/>
                </a:solidFill>
              </a:rPr>
              <a:t>union</a:t>
            </a:r>
            <a:r>
              <a:rPr lang="en-US" altLang="en-US" dirty="0"/>
              <a:t> of 2 simple graphs </a:t>
            </a:r>
            <a:r>
              <a:rPr lang="en-US" altLang="en-US" i="1" dirty="0"/>
              <a:t>G</a:t>
            </a:r>
            <a:r>
              <a:rPr lang="en-US" altLang="en-US" i="1" baseline="-25000" dirty="0"/>
              <a:t>1</a:t>
            </a:r>
            <a:r>
              <a:rPr lang="en-US" altLang="en-US" dirty="0"/>
              <a:t> = (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1 </a:t>
            </a:r>
            <a:r>
              <a:rPr lang="en-US" altLang="en-US" dirty="0"/>
              <a:t>,</a:t>
            </a:r>
            <a:r>
              <a:rPr lang="en-US" altLang="en-US" i="1" dirty="0"/>
              <a:t> E</a:t>
            </a:r>
            <a:r>
              <a:rPr lang="en-US" altLang="en-US" i="1" baseline="-25000" dirty="0"/>
              <a:t>1 </a:t>
            </a:r>
            <a:r>
              <a:rPr lang="en-US" altLang="en-US" dirty="0"/>
              <a:t>)  and</a:t>
            </a:r>
            <a:br>
              <a:rPr lang="en-US" altLang="en-US" dirty="0"/>
            </a:br>
            <a:r>
              <a:rPr lang="en-US" altLang="en-US" dirty="0"/>
              <a:t> </a:t>
            </a:r>
            <a:r>
              <a:rPr lang="en-US" altLang="en-US" i="1" dirty="0"/>
              <a:t>G</a:t>
            </a:r>
            <a:r>
              <a:rPr lang="en-US" altLang="en-US" i="1" baseline="-25000" dirty="0"/>
              <a:t>2</a:t>
            </a:r>
            <a:r>
              <a:rPr lang="en-US" altLang="en-US" dirty="0"/>
              <a:t> = (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2 </a:t>
            </a:r>
            <a:r>
              <a:rPr lang="en-US" altLang="en-US" dirty="0"/>
              <a:t>,</a:t>
            </a:r>
            <a:r>
              <a:rPr lang="en-US" altLang="en-US" i="1" dirty="0"/>
              <a:t> E</a:t>
            </a:r>
            <a:r>
              <a:rPr lang="en-US" altLang="en-US" i="1" baseline="-25000" dirty="0"/>
              <a:t>2 </a:t>
            </a:r>
            <a:r>
              <a:rPr lang="en-US" altLang="en-US" dirty="0"/>
              <a:t>) is the simple graph with vertex set </a:t>
            </a:r>
            <a:r>
              <a:rPr lang="en-US" altLang="en-US" i="1" dirty="0"/>
              <a:t>V</a:t>
            </a:r>
            <a:r>
              <a:rPr lang="en-US" altLang="en-US" dirty="0"/>
              <a:t> =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1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2</a:t>
            </a:r>
            <a:r>
              <a:rPr lang="en-US" altLang="en-US" dirty="0"/>
              <a:t> and edge set </a:t>
            </a:r>
            <a:r>
              <a:rPr lang="en-US" altLang="en-US" i="1" dirty="0"/>
              <a:t>E</a:t>
            </a:r>
            <a:r>
              <a:rPr lang="en-US" altLang="en-US" dirty="0"/>
              <a:t> =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1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 </a:t>
            </a:r>
            <a:r>
              <a:rPr lang="en-US" altLang="en-US" dirty="0"/>
              <a:t>.  The union is denoted by </a:t>
            </a:r>
            <a:r>
              <a:rPr lang="en-US" altLang="en-US" i="1" dirty="0"/>
              <a:t>G</a:t>
            </a:r>
            <a:r>
              <a:rPr lang="en-US" altLang="en-US" i="1" baseline="-25000" dirty="0"/>
              <a:t>1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/>
              <a:t>G</a:t>
            </a:r>
            <a:r>
              <a:rPr lang="en-US" altLang="en-US" i="1" baseline="-25000" dirty="0"/>
              <a:t>2  </a:t>
            </a:r>
            <a:r>
              <a:rPr lang="en-US" altLang="en-US" dirty="0"/>
              <a:t>.</a:t>
            </a:r>
          </a:p>
        </p:txBody>
      </p:sp>
      <p:grpSp>
        <p:nvGrpSpPr>
          <p:cNvPr id="5" name="Group 38">
            <a:extLst>
              <a:ext uri="{FF2B5EF4-FFF2-40B4-BE49-F238E27FC236}">
                <a16:creationId xmlns:a16="http://schemas.microsoft.com/office/drawing/2014/main" id="{207D3B21-6A02-4E50-9B4D-957B333FBB15}"/>
              </a:ext>
            </a:extLst>
          </p:cNvPr>
          <p:cNvGrpSpPr>
            <a:grpSpLocks/>
          </p:cNvGrpSpPr>
          <p:nvPr/>
        </p:nvGrpSpPr>
        <p:grpSpPr bwMode="auto">
          <a:xfrm>
            <a:off x="1866121" y="4040085"/>
            <a:ext cx="1595707" cy="1744893"/>
            <a:chOff x="1152" y="2397"/>
            <a:chExt cx="940" cy="1114"/>
          </a:xfrm>
        </p:grpSpPr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6B16D0B9-7FA7-49CD-947B-A1D95AAA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7800AD68-E717-4F87-8C02-A8C31D08A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83EF02CE-FF7C-4440-AB1A-3DA6D7167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A6C309A0-E565-4997-A9CE-E2E4EF139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02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B6C99FC8-6CE8-4FCF-A98F-81E89528F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02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08D7089E-2259-48BD-931E-89B175708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397"/>
              <a:ext cx="315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a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70D5BC92-800E-417C-9CC4-97F9B628E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3" y="2407"/>
              <a:ext cx="319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b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3E595A0F-8B4D-46F8-9CDD-21F2E6C7F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2412"/>
              <a:ext cx="30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c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8CA77312-2013-44EB-9BB3-A376F35B7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072"/>
              <a:ext cx="31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/>
                <a:t>d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38CE4222-92D9-46DB-9BCF-E2AB42D28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" y="3034"/>
              <a:ext cx="317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e</a:t>
              </a: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B5E32A36-59D5-408F-B8D6-35B79959A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185A0693-2A92-41AF-A814-FD9821837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78159A69-D431-4CF6-8990-393F9A403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0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B3FC6E52-B96E-4AB6-810B-AF86C26AD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5AF71C86-64E9-4C59-9CA6-BAB7A98C3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7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1F854926-5899-4852-8AB2-64E2FB8A0D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278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</p:grpSp>
      <p:grpSp>
        <p:nvGrpSpPr>
          <p:cNvPr id="22" name="Group 39">
            <a:extLst>
              <a:ext uri="{FF2B5EF4-FFF2-40B4-BE49-F238E27FC236}">
                <a16:creationId xmlns:a16="http://schemas.microsoft.com/office/drawing/2014/main" id="{2DC073C8-EA25-413E-BE38-222D56BAC633}"/>
              </a:ext>
            </a:extLst>
          </p:cNvPr>
          <p:cNvGrpSpPr>
            <a:grpSpLocks/>
          </p:cNvGrpSpPr>
          <p:nvPr/>
        </p:nvGrpSpPr>
        <p:grpSpPr bwMode="auto">
          <a:xfrm>
            <a:off x="5607699" y="4080892"/>
            <a:ext cx="1399128" cy="1928022"/>
            <a:chOff x="3371" y="2400"/>
            <a:chExt cx="958" cy="1111"/>
          </a:xfrm>
        </p:grpSpPr>
        <p:sp>
          <p:nvSpPr>
            <p:cNvPr id="23" name="Oval 20">
              <a:extLst>
                <a:ext uri="{FF2B5EF4-FFF2-40B4-BE49-F238E27FC236}">
                  <a16:creationId xmlns:a16="http://schemas.microsoft.com/office/drawing/2014/main" id="{28D48F87-0DC5-43FD-983C-15EF1F5E2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266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4" name="Oval 21">
              <a:extLst>
                <a:ext uri="{FF2B5EF4-FFF2-40B4-BE49-F238E27FC236}">
                  <a16:creationId xmlns:a16="http://schemas.microsoft.com/office/drawing/2014/main" id="{35DD0E98-3AA5-4EA9-9E25-455353E3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66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5" name="Oval 22">
              <a:extLst>
                <a:ext uri="{FF2B5EF4-FFF2-40B4-BE49-F238E27FC236}">
                  <a16:creationId xmlns:a16="http://schemas.microsoft.com/office/drawing/2014/main" id="{F75E6D02-EB9A-4572-9811-10A1C6073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" y="266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ABE6AFD8-5351-4FC5-A533-8D2555489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299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01AC5E4B-AB12-4A70-ADFE-07E19FE73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" y="302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36DFAC63-767A-4FD7-AD68-5D8F75D09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2400"/>
              <a:ext cx="315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a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E0B011CC-F06B-4536-A683-75CBEB681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422"/>
              <a:ext cx="319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b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9B84E087-1F5B-4DC0-9904-18AD84636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3" y="2422"/>
              <a:ext cx="30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c</a:t>
              </a:r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71AE624A-0A5A-4EC5-8ABA-59A9CFBF1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3046"/>
              <a:ext cx="31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/>
                <a:t>d</a:t>
              </a:r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C273F198-DA2A-45A4-BA91-B2180CF81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3" y="3072"/>
              <a:ext cx="251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/>
                <a:t>f</a:t>
              </a:r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EEE60857-B060-4B6C-8E34-96EEE8E0D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271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14545CE-48F9-4C53-9BF7-40E816C88F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5" y="2736"/>
              <a:ext cx="229" cy="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0424B561-EB46-4B9B-B89C-19AB282C3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271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670535FB-9AB7-4C65-9461-C9E7D47A2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73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</p:grpSp>
      <p:sp>
        <p:nvSpPr>
          <p:cNvPr id="37" name="Text Box 37">
            <a:extLst>
              <a:ext uri="{FF2B5EF4-FFF2-40B4-BE49-F238E27FC236}">
                <a16:creationId xmlns:a16="http://schemas.microsoft.com/office/drawing/2014/main" id="{76C91227-7FE5-4471-9282-887C5C06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539" y="4481757"/>
            <a:ext cx="4603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b="1" dirty="0">
                <a:latin typeface="Symbol" panose="05050102010706020507" pitchFamily="18" charset="2"/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275858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7037E-6 L 0.19167 -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1.85185E-6 L -0.19254 1.85185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83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Union of 2 Simple graphs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402840" cy="224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The </a:t>
            </a:r>
            <a:r>
              <a:rPr lang="en-US" altLang="en-US" i="1" dirty="0"/>
              <a:t>union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rgbClr val="C00000"/>
                </a:solidFill>
              </a:rPr>
              <a:t>G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>
                <a:solidFill>
                  <a:srgbClr val="C0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olidFill>
                  <a:srgbClr val="C00000"/>
                </a:solidFill>
              </a:rPr>
              <a:t>G</a:t>
            </a:r>
            <a:r>
              <a:rPr lang="en-US" altLang="en-US" baseline="-25000" dirty="0">
                <a:solidFill>
                  <a:srgbClr val="C00000"/>
                </a:solidFill>
              </a:rPr>
              <a:t>2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of two simple graphs </a:t>
            </a:r>
            <a:r>
              <a:rPr lang="en-US" altLang="en-US" i="1" dirty="0">
                <a:solidFill>
                  <a:srgbClr val="C00000"/>
                </a:solidFill>
              </a:rPr>
              <a:t>G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>
                <a:solidFill>
                  <a:srgbClr val="C00000"/>
                </a:solidFill>
              </a:rPr>
              <a:t>=(</a:t>
            </a:r>
            <a:r>
              <a:rPr lang="en-US" altLang="en-US" i="1" dirty="0">
                <a:solidFill>
                  <a:srgbClr val="C00000"/>
                </a:solidFill>
              </a:rPr>
              <a:t>V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>
                <a:solidFill>
                  <a:srgbClr val="C00000"/>
                </a:solidFill>
              </a:rPr>
              <a:t>, </a:t>
            </a:r>
            <a:r>
              <a:rPr lang="en-US" altLang="en-US" i="1" dirty="0">
                <a:solidFill>
                  <a:srgbClr val="C00000"/>
                </a:solidFill>
              </a:rPr>
              <a:t>E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>
                <a:solidFill>
                  <a:srgbClr val="C00000"/>
                </a:solidFill>
              </a:rPr>
              <a:t>) </a:t>
            </a:r>
            <a:r>
              <a:rPr lang="en-US" altLang="en-US" dirty="0"/>
              <a:t>and </a:t>
            </a:r>
            <a:r>
              <a:rPr lang="en-US" altLang="en-US" i="1" dirty="0">
                <a:solidFill>
                  <a:srgbClr val="C00000"/>
                </a:solidFill>
              </a:rPr>
              <a:t>G</a:t>
            </a:r>
            <a:r>
              <a:rPr lang="en-US" altLang="en-US" baseline="-25000" dirty="0">
                <a:solidFill>
                  <a:srgbClr val="C00000"/>
                </a:solidFill>
              </a:rPr>
              <a:t>2</a:t>
            </a:r>
            <a:r>
              <a:rPr lang="en-US" altLang="en-US" dirty="0">
                <a:solidFill>
                  <a:srgbClr val="C00000"/>
                </a:solidFill>
              </a:rPr>
              <a:t>=(</a:t>
            </a:r>
            <a:r>
              <a:rPr lang="en-US" altLang="en-US" i="1" dirty="0">
                <a:solidFill>
                  <a:srgbClr val="C00000"/>
                </a:solidFill>
              </a:rPr>
              <a:t>V</a:t>
            </a:r>
            <a:r>
              <a:rPr lang="en-US" altLang="en-US" baseline="-25000" dirty="0">
                <a:solidFill>
                  <a:srgbClr val="C00000"/>
                </a:solidFill>
              </a:rPr>
              <a:t>2</a:t>
            </a:r>
            <a:r>
              <a:rPr lang="en-US" altLang="en-US" dirty="0">
                <a:solidFill>
                  <a:srgbClr val="C00000"/>
                </a:solidFill>
              </a:rPr>
              <a:t>,</a:t>
            </a:r>
            <a:r>
              <a:rPr lang="en-US" altLang="en-US" i="1" dirty="0">
                <a:solidFill>
                  <a:srgbClr val="C00000"/>
                </a:solidFill>
              </a:rPr>
              <a:t>E</a:t>
            </a:r>
            <a:r>
              <a:rPr lang="en-US" altLang="en-US" baseline="-25000" dirty="0">
                <a:solidFill>
                  <a:srgbClr val="C00000"/>
                </a:solidFill>
              </a:rPr>
              <a:t>2</a:t>
            </a:r>
            <a:r>
              <a:rPr lang="en-US" altLang="en-US" dirty="0">
                <a:solidFill>
                  <a:srgbClr val="C00000"/>
                </a:solidFill>
              </a:rPr>
              <a:t>) </a:t>
            </a:r>
            <a:r>
              <a:rPr lang="en-US" altLang="en-US" dirty="0"/>
              <a:t>is the simple graph </a:t>
            </a:r>
            <a:r>
              <a:rPr lang="en-US" altLang="en-US" dirty="0">
                <a:solidFill>
                  <a:srgbClr val="C00000"/>
                </a:solidFill>
              </a:rPr>
              <a:t>(</a:t>
            </a:r>
            <a:r>
              <a:rPr lang="en-US" altLang="en-US" i="1" dirty="0">
                <a:solidFill>
                  <a:srgbClr val="C00000"/>
                </a:solidFill>
              </a:rPr>
              <a:t>V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>
                <a:solidFill>
                  <a:srgbClr val="C0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olidFill>
                  <a:srgbClr val="C00000"/>
                </a:solidFill>
              </a:rPr>
              <a:t>V</a:t>
            </a:r>
            <a:r>
              <a:rPr lang="en-US" altLang="en-US" baseline="-25000" dirty="0">
                <a:solidFill>
                  <a:srgbClr val="C00000"/>
                </a:solidFill>
              </a:rPr>
              <a:t>2</a:t>
            </a:r>
            <a:r>
              <a:rPr lang="en-US" altLang="en-US" dirty="0">
                <a:solidFill>
                  <a:srgbClr val="C00000"/>
                </a:solidFill>
              </a:rPr>
              <a:t>, </a:t>
            </a:r>
            <a:r>
              <a:rPr lang="en-US" altLang="en-US" i="1" dirty="0">
                <a:solidFill>
                  <a:srgbClr val="C00000"/>
                </a:solidFill>
              </a:rPr>
              <a:t>E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>
                <a:solidFill>
                  <a:srgbClr val="C0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olidFill>
                  <a:srgbClr val="C00000"/>
                </a:solidFill>
              </a:rPr>
              <a:t>E</a:t>
            </a:r>
            <a:r>
              <a:rPr lang="en-US" altLang="en-US" baseline="-25000" dirty="0">
                <a:solidFill>
                  <a:srgbClr val="C00000"/>
                </a:solidFill>
              </a:rPr>
              <a:t>2</a:t>
            </a:r>
            <a:r>
              <a:rPr lang="en-US" altLang="en-US" dirty="0">
                <a:solidFill>
                  <a:srgbClr val="C00000"/>
                </a:solidFill>
              </a:rPr>
              <a:t>).</a:t>
            </a:r>
          </a:p>
        </p:txBody>
      </p:sp>
      <p:grpSp>
        <p:nvGrpSpPr>
          <p:cNvPr id="5" name="Group 38">
            <a:extLst>
              <a:ext uri="{FF2B5EF4-FFF2-40B4-BE49-F238E27FC236}">
                <a16:creationId xmlns:a16="http://schemas.microsoft.com/office/drawing/2014/main" id="{207D3B21-6A02-4E50-9B4D-957B333FBB15}"/>
              </a:ext>
            </a:extLst>
          </p:cNvPr>
          <p:cNvGrpSpPr>
            <a:grpSpLocks/>
          </p:cNvGrpSpPr>
          <p:nvPr/>
        </p:nvGrpSpPr>
        <p:grpSpPr bwMode="auto">
          <a:xfrm>
            <a:off x="2109176" y="3498574"/>
            <a:ext cx="1326359" cy="1960727"/>
            <a:chOff x="1152" y="2426"/>
            <a:chExt cx="941" cy="1085"/>
          </a:xfrm>
        </p:grpSpPr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6B16D0B9-7FA7-49CD-947B-A1D95AAA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7800AD68-E717-4F87-8C02-A8C31D08A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83EF02CE-FF7C-4440-AB1A-3DA6D7167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A6C309A0-E565-4997-A9CE-E2E4EF139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02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B6C99FC8-6CE8-4FCF-A98F-81E89528F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02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08D7089E-2259-48BD-931E-89B175708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26"/>
              <a:ext cx="315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a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70D5BC92-800E-417C-9CC4-97F9B628E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9" y="2448"/>
              <a:ext cx="319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b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3E595A0F-8B4D-46F8-9CDD-21F2E6C7F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" y="2448"/>
              <a:ext cx="30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c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8CA77312-2013-44EB-9BB3-A376F35B7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072"/>
              <a:ext cx="31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/>
                <a:t>d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38CE4222-92D9-46DB-9BCF-E2AB42D28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" y="3034"/>
              <a:ext cx="317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e</a:t>
              </a: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B5E32A36-59D5-408F-B8D6-35B79959A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185A0693-2A92-41AF-A814-FD9821837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78159A69-D431-4CF6-8990-393F9A403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0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B3FC6E52-B96E-4AB6-810B-AF86C26AD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5AF71C86-64E9-4C59-9CA6-BAB7A98C3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7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1F854926-5899-4852-8AB2-64E2FB8A0D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278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</p:grpSp>
      <p:grpSp>
        <p:nvGrpSpPr>
          <p:cNvPr id="22" name="Group 39">
            <a:extLst>
              <a:ext uri="{FF2B5EF4-FFF2-40B4-BE49-F238E27FC236}">
                <a16:creationId xmlns:a16="http://schemas.microsoft.com/office/drawing/2014/main" id="{2DC073C8-EA25-413E-BE38-222D56BAC633}"/>
              </a:ext>
            </a:extLst>
          </p:cNvPr>
          <p:cNvGrpSpPr>
            <a:grpSpLocks/>
          </p:cNvGrpSpPr>
          <p:nvPr/>
        </p:nvGrpSpPr>
        <p:grpSpPr bwMode="auto">
          <a:xfrm>
            <a:off x="5505061" y="3493955"/>
            <a:ext cx="1473779" cy="1965346"/>
            <a:chOff x="3371" y="2400"/>
            <a:chExt cx="958" cy="1111"/>
          </a:xfrm>
        </p:grpSpPr>
        <p:sp>
          <p:nvSpPr>
            <p:cNvPr id="23" name="Oval 20">
              <a:extLst>
                <a:ext uri="{FF2B5EF4-FFF2-40B4-BE49-F238E27FC236}">
                  <a16:creationId xmlns:a16="http://schemas.microsoft.com/office/drawing/2014/main" id="{28D48F87-0DC5-43FD-983C-15EF1F5E2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266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4" name="Oval 21">
              <a:extLst>
                <a:ext uri="{FF2B5EF4-FFF2-40B4-BE49-F238E27FC236}">
                  <a16:creationId xmlns:a16="http://schemas.microsoft.com/office/drawing/2014/main" id="{35DD0E98-3AA5-4EA9-9E25-455353E3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66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5" name="Oval 22">
              <a:extLst>
                <a:ext uri="{FF2B5EF4-FFF2-40B4-BE49-F238E27FC236}">
                  <a16:creationId xmlns:a16="http://schemas.microsoft.com/office/drawing/2014/main" id="{F75E6D02-EB9A-4572-9811-10A1C6073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" y="266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ABE6AFD8-5351-4FC5-A533-8D2555489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299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01AC5E4B-AB12-4A70-ADFE-07E19FE73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" y="302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36DFAC63-767A-4FD7-AD68-5D8F75D09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2400"/>
              <a:ext cx="315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a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E0B011CC-F06B-4536-A683-75CBEB681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422"/>
              <a:ext cx="319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b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9B84E087-1F5B-4DC0-9904-18AD84636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3" y="2422"/>
              <a:ext cx="30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dirty="0"/>
                <a:t>c</a:t>
              </a:r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71AE624A-0A5A-4EC5-8ABA-59A9CFBF1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3046"/>
              <a:ext cx="31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/>
                <a:t>d</a:t>
              </a:r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C273F198-DA2A-45A4-BA91-B2180CF81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3" y="3072"/>
              <a:ext cx="251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/>
                <a:t>f</a:t>
              </a:r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EEE60857-B060-4B6C-8E34-96EEE8E0D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271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14545CE-48F9-4C53-9BF7-40E816C88F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5" y="2736"/>
              <a:ext cx="229" cy="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0424B561-EB46-4B9B-B89C-19AB282C3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271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670535FB-9AB7-4C65-9461-C9E7D47A2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73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2800"/>
            </a:p>
          </p:txBody>
        </p:sp>
      </p:grpSp>
      <p:sp>
        <p:nvSpPr>
          <p:cNvPr id="37" name="Text Box 37">
            <a:extLst>
              <a:ext uri="{FF2B5EF4-FFF2-40B4-BE49-F238E27FC236}">
                <a16:creationId xmlns:a16="http://schemas.microsoft.com/office/drawing/2014/main" id="{76C91227-7FE5-4471-9282-887C5C06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119" y="3839158"/>
            <a:ext cx="4603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b="1" dirty="0">
                <a:latin typeface="Symbol" panose="05050102010706020507" pitchFamily="18" charset="2"/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10723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40741E-7 L 0.19167 7.40741E-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2.22222E-6 L -0.19254 2.22222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83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Union of 2 Simple graphs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580" y="1136291"/>
            <a:ext cx="8402840" cy="7164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990033"/>
                </a:solidFill>
              </a:rPr>
              <a:t>W</a:t>
            </a:r>
            <a:r>
              <a:rPr lang="en-US" altLang="en-US" baseline="-25000" dirty="0">
                <a:solidFill>
                  <a:srgbClr val="990033"/>
                </a:solidFill>
              </a:rPr>
              <a:t>5</a:t>
            </a:r>
            <a:r>
              <a:rPr lang="en-US" altLang="en-US" dirty="0"/>
              <a:t> is the union of </a:t>
            </a:r>
            <a:r>
              <a:rPr lang="en-US" altLang="en-US" dirty="0">
                <a:solidFill>
                  <a:schemeClr val="tx1"/>
                </a:solidFill>
              </a:rPr>
              <a:t>S</a:t>
            </a:r>
            <a:r>
              <a:rPr lang="en-US" altLang="en-US" baseline="-25000" dirty="0">
                <a:solidFill>
                  <a:schemeClr val="tx1"/>
                </a:solidFill>
              </a:rPr>
              <a:t>5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006600"/>
                </a:solidFill>
              </a:rPr>
              <a:t>C</a:t>
            </a:r>
            <a:r>
              <a:rPr lang="en-US" altLang="en-US" baseline="-25000" dirty="0">
                <a:solidFill>
                  <a:srgbClr val="006600"/>
                </a:solidFill>
              </a:rPr>
              <a:t>5</a:t>
            </a:r>
            <a:endParaRPr lang="en-US" altLang="en-US" dirty="0"/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355C0AD1-58E0-4DA2-976C-D11D46054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055" y="6024538"/>
            <a:ext cx="6335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006600"/>
                </a:solidFill>
              </a:rPr>
              <a:t> C</a:t>
            </a:r>
            <a:r>
              <a:rPr lang="en-US" altLang="en-US" sz="2800" baseline="-25000" dirty="0">
                <a:solidFill>
                  <a:srgbClr val="006600"/>
                </a:solidFill>
              </a:rPr>
              <a:t>5</a:t>
            </a:r>
            <a:endParaRPr lang="en-US" altLang="en-US" sz="2800" dirty="0">
              <a:solidFill>
                <a:srgbClr val="006600"/>
              </a:solidFill>
            </a:endParaRPr>
          </a:p>
        </p:txBody>
      </p:sp>
      <p:sp>
        <p:nvSpPr>
          <p:cNvPr id="40" name="Text Box 11">
            <a:extLst>
              <a:ext uri="{FF2B5EF4-FFF2-40B4-BE49-F238E27FC236}">
                <a16:creationId xmlns:a16="http://schemas.microsoft.com/office/drawing/2014/main" id="{4CA48384-515B-41B9-847B-5430FAD10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8166" y="5695119"/>
            <a:ext cx="7152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 W</a:t>
            </a:r>
            <a:r>
              <a:rPr lang="en-US" altLang="en-US" sz="2800" baseline="-25000" dirty="0"/>
              <a:t>5</a:t>
            </a:r>
            <a:endParaRPr lang="en-US" altLang="en-US" sz="2800" dirty="0"/>
          </a:p>
        </p:txBody>
      </p:sp>
      <p:sp>
        <p:nvSpPr>
          <p:cNvPr id="41" name="Text Box 43">
            <a:extLst>
              <a:ext uri="{FF2B5EF4-FFF2-40B4-BE49-F238E27FC236}">
                <a16:creationId xmlns:a16="http://schemas.microsoft.com/office/drawing/2014/main" id="{10F56051-CA10-4458-AD73-DB31A3445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5366" y="4399720"/>
            <a:ext cx="6319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 S</a:t>
            </a:r>
            <a:r>
              <a:rPr lang="en-US" altLang="en-US" sz="2800" baseline="-25000" dirty="0"/>
              <a:t>5</a:t>
            </a:r>
            <a:endParaRPr lang="en-US" altLang="en-US" sz="2800" dirty="0"/>
          </a:p>
        </p:txBody>
      </p:sp>
      <p:sp>
        <p:nvSpPr>
          <p:cNvPr id="52" name="Line 15">
            <a:extLst>
              <a:ext uri="{FF2B5EF4-FFF2-40B4-BE49-F238E27FC236}">
                <a16:creationId xmlns:a16="http://schemas.microsoft.com/office/drawing/2014/main" id="{B94DA003-1E45-4840-A0A8-753D7A88B9D1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1046854" y="4202869"/>
            <a:ext cx="0" cy="81438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3" name="Oval 16">
            <a:extLst>
              <a:ext uri="{FF2B5EF4-FFF2-40B4-BE49-F238E27FC236}">
                <a16:creationId xmlns:a16="http://schemas.microsoft.com/office/drawing/2014/main" id="{646C491C-7954-483B-AADB-084DE3F63B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967" y="3332919"/>
            <a:ext cx="206375" cy="204788"/>
          </a:xfrm>
          <a:prstGeom prst="ellipse">
            <a:avLst/>
          </a:prstGeom>
          <a:solidFill>
            <a:srgbClr val="99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54" name="Line 17">
            <a:extLst>
              <a:ext uri="{FF2B5EF4-FFF2-40B4-BE49-F238E27FC236}">
                <a16:creationId xmlns:a16="http://schemas.microsoft.com/office/drawing/2014/main" id="{3E2283EB-9605-44CF-9FE9-C7DB6B155B4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337366" y="5122032"/>
            <a:ext cx="960438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5" name="Oval 18">
            <a:extLst>
              <a:ext uri="{FF2B5EF4-FFF2-40B4-BE49-F238E27FC236}">
                <a16:creationId xmlns:a16="http://schemas.microsoft.com/office/drawing/2014/main" id="{CECA5944-3D16-4711-9EF0-6E587B74FD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9680" y="4025070"/>
            <a:ext cx="204787" cy="206375"/>
          </a:xfrm>
          <a:prstGeom prst="ellipse">
            <a:avLst/>
          </a:prstGeom>
          <a:solidFill>
            <a:srgbClr val="99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56" name="Line 19">
            <a:extLst>
              <a:ext uri="{FF2B5EF4-FFF2-40B4-BE49-F238E27FC236}">
                <a16:creationId xmlns:a16="http://schemas.microsoft.com/office/drawing/2014/main" id="{E50C0465-3364-46B3-953B-A4C2640D85D2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2470842" y="4098094"/>
            <a:ext cx="36513" cy="9652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7" name="Oval 20">
            <a:extLst>
              <a:ext uri="{FF2B5EF4-FFF2-40B4-BE49-F238E27FC236}">
                <a16:creationId xmlns:a16="http://schemas.microsoft.com/office/drawing/2014/main" id="{119BC408-D0FE-46E8-BFBA-681815AE27F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2567680" y="3988557"/>
            <a:ext cx="230187" cy="246062"/>
          </a:xfrm>
          <a:prstGeom prst="ellipse">
            <a:avLst/>
          </a:prstGeom>
          <a:solidFill>
            <a:srgbClr val="99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800"/>
          </a:p>
        </p:txBody>
      </p:sp>
      <p:sp>
        <p:nvSpPr>
          <p:cNvPr id="58" name="Line 21">
            <a:extLst>
              <a:ext uri="{FF2B5EF4-FFF2-40B4-BE49-F238E27FC236}">
                <a16:creationId xmlns:a16="http://schemas.microsoft.com/office/drawing/2014/main" id="{EC4B225B-7C90-4884-958E-C1CB5BE8C88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845366" y="3498019"/>
            <a:ext cx="795338" cy="5969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9" name="Oval 22">
            <a:extLst>
              <a:ext uri="{FF2B5EF4-FFF2-40B4-BE49-F238E27FC236}">
                <a16:creationId xmlns:a16="http://schemas.microsoft.com/office/drawing/2014/main" id="{FC507721-5A67-455E-AA92-83711B91E5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30992" y="4985508"/>
            <a:ext cx="206375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60" name="Line 23">
            <a:extLst>
              <a:ext uri="{FF2B5EF4-FFF2-40B4-BE49-F238E27FC236}">
                <a16:creationId xmlns:a16="http://schemas.microsoft.com/office/drawing/2014/main" id="{16C6815A-0AE4-4DF6-B4CE-68957C49374C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1028598" y="3306726"/>
            <a:ext cx="685800" cy="890587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61" name="Oval 24">
            <a:extLst>
              <a:ext uri="{FF2B5EF4-FFF2-40B4-BE49-F238E27FC236}">
                <a16:creationId xmlns:a16="http://schemas.microsoft.com/office/drawing/2014/main" id="{717BDFE1-6F11-4634-A18B-B79F7C6E75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9541" y="4985508"/>
            <a:ext cx="204788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62" name="Text Box 31">
            <a:extLst>
              <a:ext uri="{FF2B5EF4-FFF2-40B4-BE49-F238E27FC236}">
                <a16:creationId xmlns:a16="http://schemas.microsoft.com/office/drawing/2014/main" id="{6E3F75BF-296C-4DD7-BAC9-01485CEEE29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6029" y="4985507"/>
            <a:ext cx="4716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/>
              <a:t> a</a:t>
            </a:r>
            <a:endParaRPr lang="en-US" altLang="en-US" sz="2800"/>
          </a:p>
        </p:txBody>
      </p:sp>
      <p:sp>
        <p:nvSpPr>
          <p:cNvPr id="63" name="Text Box 33">
            <a:extLst>
              <a:ext uri="{FF2B5EF4-FFF2-40B4-BE49-F238E27FC236}">
                <a16:creationId xmlns:a16="http://schemas.microsoft.com/office/drawing/2014/main" id="{7ABB8E6C-B8D1-4921-BA2C-AC9F49E6D20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6604" y="3956807"/>
            <a:ext cx="4764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/>
              <a:t> b</a:t>
            </a:r>
            <a:endParaRPr lang="en-US" altLang="en-US" sz="2800"/>
          </a:p>
        </p:txBody>
      </p:sp>
      <p:sp>
        <p:nvSpPr>
          <p:cNvPr id="64" name="Text Box 34">
            <a:extLst>
              <a:ext uri="{FF2B5EF4-FFF2-40B4-BE49-F238E27FC236}">
                <a16:creationId xmlns:a16="http://schemas.microsoft.com/office/drawing/2014/main" id="{58DBCDB8-4482-44F7-8CA0-942D60B07D4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63988" y="2773137"/>
            <a:ext cx="4603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/>
              <a:t> c</a:t>
            </a:r>
            <a:endParaRPr lang="en-US" altLang="en-US" sz="2800" dirty="0"/>
          </a:p>
        </p:txBody>
      </p:sp>
      <p:sp>
        <p:nvSpPr>
          <p:cNvPr id="65" name="Text Box 35">
            <a:extLst>
              <a:ext uri="{FF2B5EF4-FFF2-40B4-BE49-F238E27FC236}">
                <a16:creationId xmlns:a16="http://schemas.microsoft.com/office/drawing/2014/main" id="{5C94781D-5F6A-41DF-91A8-19176EDE0E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88291" y="4985507"/>
            <a:ext cx="4732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/>
              <a:t> e</a:t>
            </a:r>
            <a:endParaRPr lang="en-US" altLang="en-US" sz="2800"/>
          </a:p>
        </p:txBody>
      </p:sp>
      <p:sp>
        <p:nvSpPr>
          <p:cNvPr id="66" name="Text Box 36">
            <a:extLst>
              <a:ext uri="{FF2B5EF4-FFF2-40B4-BE49-F238E27FC236}">
                <a16:creationId xmlns:a16="http://schemas.microsoft.com/office/drawing/2014/main" id="{091D6109-ED5F-4FC7-A867-C62106DDEEE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31191" y="3956807"/>
            <a:ext cx="4748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/>
              <a:t> d</a:t>
            </a:r>
            <a:endParaRPr lang="en-US" altLang="en-US" sz="2800"/>
          </a:p>
        </p:txBody>
      </p:sp>
      <p:sp>
        <p:nvSpPr>
          <p:cNvPr id="67" name="Oval 37">
            <a:extLst>
              <a:ext uri="{FF2B5EF4-FFF2-40B4-BE49-F238E27FC236}">
                <a16:creationId xmlns:a16="http://schemas.microsoft.com/office/drawing/2014/main" id="{AF23AE5A-ACE5-43F5-94A4-3B0FFED74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1631055" y="4231445"/>
            <a:ext cx="230187" cy="246063"/>
          </a:xfrm>
          <a:prstGeom prst="ellipse">
            <a:avLst/>
          </a:prstGeom>
          <a:solidFill>
            <a:srgbClr val="99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800"/>
          </a:p>
        </p:txBody>
      </p:sp>
      <p:sp>
        <p:nvSpPr>
          <p:cNvPr id="68" name="Line 38">
            <a:extLst>
              <a:ext uri="{FF2B5EF4-FFF2-40B4-BE49-F238E27FC236}">
                <a16:creationId xmlns:a16="http://schemas.microsoft.com/office/drawing/2014/main" id="{8EAA0CC7-BA52-4AA1-B2F4-BEABDDCB7C0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76992" y="4094919"/>
            <a:ext cx="892175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69" name="Line 39">
            <a:extLst>
              <a:ext uri="{FF2B5EF4-FFF2-40B4-BE49-F238E27FC236}">
                <a16:creationId xmlns:a16="http://schemas.microsoft.com/office/drawing/2014/main" id="{449EEF28-D4A8-41D2-A746-962164E057D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00904" y="4367969"/>
            <a:ext cx="615950" cy="6175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70" name="Line 40">
            <a:extLst>
              <a:ext uri="{FF2B5EF4-FFF2-40B4-BE49-F238E27FC236}">
                <a16:creationId xmlns:a16="http://schemas.microsoft.com/office/drawing/2014/main" id="{DD01553A-4B97-40BB-AC18-F8174AA2687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151630" y="4367969"/>
            <a:ext cx="617537" cy="6858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71" name="Line 41">
            <a:extLst>
              <a:ext uri="{FF2B5EF4-FFF2-40B4-BE49-F238E27FC236}">
                <a16:creationId xmlns:a16="http://schemas.microsoft.com/office/drawing/2014/main" id="{6FFF364A-76E4-4A0C-9C7C-A36FF8C7E97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69166" y="3485319"/>
            <a:ext cx="0" cy="8826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72" name="Line 42">
            <a:extLst>
              <a:ext uri="{FF2B5EF4-FFF2-40B4-BE49-F238E27FC236}">
                <a16:creationId xmlns:a16="http://schemas.microsoft.com/office/drawing/2014/main" id="{7D209BA6-8AE5-4559-93AD-7222277AF68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700904" y="4094919"/>
            <a:ext cx="1027112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73" name="Oval 45">
            <a:extLst>
              <a:ext uri="{FF2B5EF4-FFF2-40B4-BE49-F238E27FC236}">
                <a16:creationId xmlns:a16="http://schemas.microsoft.com/office/drawing/2014/main" id="{6543141F-B56A-4F43-A521-6919C4D38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9205" y="2213733"/>
            <a:ext cx="204787" cy="2047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74" name="Oval 47">
            <a:extLst>
              <a:ext uri="{FF2B5EF4-FFF2-40B4-BE49-F238E27FC236}">
                <a16:creationId xmlns:a16="http://schemas.microsoft.com/office/drawing/2014/main" id="{94FC8074-8CEC-454B-9C53-DB7B15C413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030" y="2899533"/>
            <a:ext cx="206375" cy="2047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75" name="Oval 49">
            <a:extLst>
              <a:ext uri="{FF2B5EF4-FFF2-40B4-BE49-F238E27FC236}">
                <a16:creationId xmlns:a16="http://schemas.microsoft.com/office/drawing/2014/main" id="{E2A882DB-1A02-4F8A-ACA1-EE2EC79DB4D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5495030" y="2861432"/>
            <a:ext cx="230187" cy="24606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800"/>
          </a:p>
        </p:txBody>
      </p:sp>
      <p:sp>
        <p:nvSpPr>
          <p:cNvPr id="76" name="Oval 51">
            <a:extLst>
              <a:ext uri="{FF2B5EF4-FFF2-40B4-BE49-F238E27FC236}">
                <a16:creationId xmlns:a16="http://schemas.microsoft.com/office/drawing/2014/main" id="{0C212D9F-2BE1-43B8-B710-54CC8ABE05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59930" y="3858383"/>
            <a:ext cx="206375" cy="2063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77" name="Oval 53">
            <a:extLst>
              <a:ext uri="{FF2B5EF4-FFF2-40B4-BE49-F238E27FC236}">
                <a16:creationId xmlns:a16="http://schemas.microsoft.com/office/drawing/2014/main" id="{7C6A7D21-6D37-49F2-9945-1546C94A2C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6892" y="3858383"/>
            <a:ext cx="206375" cy="2063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78" name="Oval 57">
            <a:extLst>
              <a:ext uri="{FF2B5EF4-FFF2-40B4-BE49-F238E27FC236}">
                <a16:creationId xmlns:a16="http://schemas.microsoft.com/office/drawing/2014/main" id="{5B7EDD0B-47E9-4DAD-832D-EA4679920A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4559991" y="3104320"/>
            <a:ext cx="230188" cy="24606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800"/>
          </a:p>
        </p:txBody>
      </p:sp>
      <p:sp>
        <p:nvSpPr>
          <p:cNvPr id="79" name="Line 58">
            <a:extLst>
              <a:ext uri="{FF2B5EF4-FFF2-40B4-BE49-F238E27FC236}">
                <a16:creationId xmlns:a16="http://schemas.microsoft.com/office/drawing/2014/main" id="{ED2EC76B-FE5A-4D1B-996A-E6BBBC639CF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805930" y="2967794"/>
            <a:ext cx="890587" cy="274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0" name="Line 59">
            <a:extLst>
              <a:ext uri="{FF2B5EF4-FFF2-40B4-BE49-F238E27FC236}">
                <a16:creationId xmlns:a16="http://schemas.microsoft.com/office/drawing/2014/main" id="{D6916542-135E-4779-8414-BF0ED08615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628255" y="3242432"/>
            <a:ext cx="617537" cy="615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1" name="Line 60">
            <a:extLst>
              <a:ext uri="{FF2B5EF4-FFF2-40B4-BE49-F238E27FC236}">
                <a16:creationId xmlns:a16="http://schemas.microsoft.com/office/drawing/2014/main" id="{66B48FEE-0A96-4D03-A90C-B8A78D8954B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110730" y="3318632"/>
            <a:ext cx="547687" cy="608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2" name="Line 61">
            <a:extLst>
              <a:ext uri="{FF2B5EF4-FFF2-40B4-BE49-F238E27FC236}">
                <a16:creationId xmlns:a16="http://schemas.microsoft.com/office/drawing/2014/main" id="{6DD3D1DF-08D3-4629-BC15-DED617DE587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696516" y="2350258"/>
            <a:ext cx="0" cy="892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3" name="Line 62">
            <a:extLst>
              <a:ext uri="{FF2B5EF4-FFF2-40B4-BE49-F238E27FC236}">
                <a16:creationId xmlns:a16="http://schemas.microsoft.com/office/drawing/2014/main" id="{F5870084-EB16-474A-AD06-F6AAB073793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628254" y="2967794"/>
            <a:ext cx="1028700" cy="274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4" name="Text Box 64">
            <a:extLst>
              <a:ext uri="{FF2B5EF4-FFF2-40B4-BE49-F238E27FC236}">
                <a16:creationId xmlns:a16="http://schemas.microsoft.com/office/drawing/2014/main" id="{8615B2A0-E4D3-4115-B472-2DC95312B01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6029" y="4985507"/>
            <a:ext cx="4716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/>
              <a:t> a</a:t>
            </a:r>
            <a:endParaRPr lang="en-US" altLang="en-US" sz="2800"/>
          </a:p>
        </p:txBody>
      </p:sp>
      <p:sp>
        <p:nvSpPr>
          <p:cNvPr id="86" name="Text Box 67">
            <a:extLst>
              <a:ext uri="{FF2B5EF4-FFF2-40B4-BE49-F238E27FC236}">
                <a16:creationId xmlns:a16="http://schemas.microsoft.com/office/drawing/2014/main" id="{8CC7946C-4557-4C61-83EF-A98E5D027C3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86704" y="4985507"/>
            <a:ext cx="4732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/>
              <a:t> e</a:t>
            </a:r>
            <a:endParaRPr lang="en-US" altLang="en-US" sz="2800"/>
          </a:p>
        </p:txBody>
      </p:sp>
      <p:sp>
        <p:nvSpPr>
          <p:cNvPr id="87" name="Text Box 69">
            <a:extLst>
              <a:ext uri="{FF2B5EF4-FFF2-40B4-BE49-F238E27FC236}">
                <a16:creationId xmlns:a16="http://schemas.microsoft.com/office/drawing/2014/main" id="{F72938A0-6219-41AD-BFE2-A29CDD07DD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724966" y="3852791"/>
            <a:ext cx="4716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/>
              <a:t> a</a:t>
            </a:r>
            <a:endParaRPr lang="en-US" altLang="en-US" sz="2800" dirty="0"/>
          </a:p>
        </p:txBody>
      </p:sp>
      <p:sp>
        <p:nvSpPr>
          <p:cNvPr id="88" name="Text Box 70">
            <a:extLst>
              <a:ext uri="{FF2B5EF4-FFF2-40B4-BE49-F238E27FC236}">
                <a16:creationId xmlns:a16="http://schemas.microsoft.com/office/drawing/2014/main" id="{1C35AA45-71EA-44EE-A5A5-A94E365C3A5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93166" y="2859844"/>
            <a:ext cx="4764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/>
              <a:t> b</a:t>
            </a:r>
            <a:endParaRPr lang="en-US" altLang="en-US" sz="2800" dirty="0"/>
          </a:p>
        </p:txBody>
      </p:sp>
      <p:sp>
        <p:nvSpPr>
          <p:cNvPr id="89" name="Text Box 71">
            <a:extLst>
              <a:ext uri="{FF2B5EF4-FFF2-40B4-BE49-F238E27FC236}">
                <a16:creationId xmlns:a16="http://schemas.microsoft.com/office/drawing/2014/main" id="{3E3E1C24-2AC4-4046-AE1D-478EC079E06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06349" y="1716844"/>
            <a:ext cx="4603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/>
              <a:t> c</a:t>
            </a:r>
            <a:endParaRPr lang="en-US" altLang="en-US" sz="2800" dirty="0"/>
          </a:p>
        </p:txBody>
      </p:sp>
      <p:sp>
        <p:nvSpPr>
          <p:cNvPr id="90" name="Text Box 72">
            <a:extLst>
              <a:ext uri="{FF2B5EF4-FFF2-40B4-BE49-F238E27FC236}">
                <a16:creationId xmlns:a16="http://schemas.microsoft.com/office/drawing/2014/main" id="{CA71C398-05F8-438E-9997-B91368E3A79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74366" y="3846441"/>
            <a:ext cx="4732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/>
              <a:t> e</a:t>
            </a:r>
            <a:endParaRPr lang="en-US" altLang="en-US" sz="2800" dirty="0"/>
          </a:p>
        </p:txBody>
      </p:sp>
      <p:sp>
        <p:nvSpPr>
          <p:cNvPr id="91" name="Text Box 73">
            <a:extLst>
              <a:ext uri="{FF2B5EF4-FFF2-40B4-BE49-F238E27FC236}">
                <a16:creationId xmlns:a16="http://schemas.microsoft.com/office/drawing/2014/main" id="{23DD22B6-7B11-46F7-AEB5-62E06842A3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56954" y="2835618"/>
            <a:ext cx="4748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/>
              <a:t> d</a:t>
            </a:r>
            <a:endParaRPr lang="en-US" alt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69E0AF-F745-4401-8D46-3EF011659F18}"/>
              </a:ext>
            </a:extLst>
          </p:cNvPr>
          <p:cNvGrpSpPr/>
          <p:nvPr/>
        </p:nvGrpSpPr>
        <p:grpSpPr>
          <a:xfrm>
            <a:off x="5821671" y="3511204"/>
            <a:ext cx="2763985" cy="2761725"/>
            <a:chOff x="5623616" y="3669339"/>
            <a:chExt cx="2763985" cy="2761725"/>
          </a:xfrm>
        </p:grpSpPr>
        <p:sp>
          <p:nvSpPr>
            <p:cNvPr id="42" name="Line 3">
              <a:extLst>
                <a:ext uri="{FF2B5EF4-FFF2-40B4-BE49-F238E27FC236}">
                  <a16:creationId xmlns:a16="http://schemas.microsoft.com/office/drawing/2014/main" id="{C540D14D-D056-4F1D-B770-616F33817E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216826" flipH="1">
              <a:off x="6263379" y="5025195"/>
              <a:ext cx="36512" cy="854075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3" name="Oval 4">
              <a:extLst>
                <a:ext uri="{FF2B5EF4-FFF2-40B4-BE49-F238E27FC236}">
                  <a16:creationId xmlns:a16="http://schemas.microsoft.com/office/drawing/2014/main" id="{115605B6-0745-4FFE-B5D6-B34C25485D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74567" y="4171120"/>
              <a:ext cx="206375" cy="206375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44" name="Line 5">
              <a:extLst>
                <a:ext uri="{FF2B5EF4-FFF2-40B4-BE49-F238E27FC236}">
                  <a16:creationId xmlns:a16="http://schemas.microsoft.com/office/drawing/2014/main" id="{832B46C2-F436-4E96-8F0B-016C5E2CD1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563416" y="5990394"/>
              <a:ext cx="960438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5" name="Oval 6">
              <a:extLst>
                <a:ext uri="{FF2B5EF4-FFF2-40B4-BE49-F238E27FC236}">
                  <a16:creationId xmlns:a16="http://schemas.microsoft.com/office/drawing/2014/main" id="{3DD1BEE7-6912-4451-8682-DA5D0A9CE8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15730" y="4893433"/>
              <a:ext cx="204787" cy="206375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46" name="Line 7">
              <a:extLst>
                <a:ext uri="{FF2B5EF4-FFF2-40B4-BE49-F238E27FC236}">
                  <a16:creationId xmlns:a16="http://schemas.microsoft.com/office/drawing/2014/main" id="{1E9FF945-C17B-4FCE-8A58-6D366959AD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248377" flipH="1" flipV="1">
              <a:off x="7696892" y="4966457"/>
              <a:ext cx="36513" cy="96520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7" name="Oval 8">
              <a:extLst>
                <a:ext uri="{FF2B5EF4-FFF2-40B4-BE49-F238E27FC236}">
                  <a16:creationId xmlns:a16="http://schemas.microsoft.com/office/drawing/2014/main" id="{6D6B85AE-EB87-4AB2-8A49-DC805C7B8A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7793730" y="4856920"/>
              <a:ext cx="230187" cy="246063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DFC021CD-179E-4E37-9A3D-7CC3D76330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44430" y="4345744"/>
              <a:ext cx="822325" cy="61595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9" name="Oval 12">
              <a:extLst>
                <a:ext uri="{FF2B5EF4-FFF2-40B4-BE49-F238E27FC236}">
                  <a16:creationId xmlns:a16="http://schemas.microsoft.com/office/drawing/2014/main" id="{1964B8CC-58ED-423E-AB49-492186CC55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358630" y="5853869"/>
              <a:ext cx="204787" cy="204788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50" name="Line 13">
              <a:extLst>
                <a:ext uri="{FF2B5EF4-FFF2-40B4-BE49-F238E27FC236}">
                  <a16:creationId xmlns:a16="http://schemas.microsoft.com/office/drawing/2014/main" id="{2986F182-37D2-4CA7-816D-9B5680D64B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6256236" y="4173501"/>
              <a:ext cx="684212" cy="892175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1" name="Oval 14">
              <a:extLst>
                <a:ext uri="{FF2B5EF4-FFF2-40B4-BE49-F238E27FC236}">
                  <a16:creationId xmlns:a16="http://schemas.microsoft.com/office/drawing/2014/main" id="{ED1259A6-416F-471A-8BFD-1C4AD4645F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55591" y="5853869"/>
              <a:ext cx="204788" cy="204788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92" name="Text Box 74">
              <a:extLst>
                <a:ext uri="{FF2B5EF4-FFF2-40B4-BE49-F238E27FC236}">
                  <a16:creationId xmlns:a16="http://schemas.microsoft.com/office/drawing/2014/main" id="{C6ECB2FA-9012-4A12-A33D-C808F544368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979216" y="5907844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>
                  <a:solidFill>
                    <a:srgbClr val="006600"/>
                  </a:solidFill>
                </a:rPr>
                <a:t> a</a:t>
              </a:r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93" name="Text Box 75">
              <a:extLst>
                <a:ext uri="{FF2B5EF4-FFF2-40B4-BE49-F238E27FC236}">
                  <a16:creationId xmlns:a16="http://schemas.microsoft.com/office/drawing/2014/main" id="{53C7B7B4-A66A-4AF1-8FF1-A084A2CF5EC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623616" y="4879144"/>
              <a:ext cx="4764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>
                  <a:solidFill>
                    <a:srgbClr val="006600"/>
                  </a:solidFill>
                </a:rPr>
                <a:t> b</a:t>
              </a:r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94" name="Text Box 76">
              <a:extLst>
                <a:ext uri="{FF2B5EF4-FFF2-40B4-BE49-F238E27FC236}">
                  <a16:creationId xmlns:a16="http://schemas.microsoft.com/office/drawing/2014/main" id="{54231B88-AD69-4B83-8E7C-C85F007CED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39614" y="3669339"/>
              <a:ext cx="4603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solidFill>
                    <a:srgbClr val="006600"/>
                  </a:solidFill>
                </a:rPr>
                <a:t> c</a:t>
              </a:r>
              <a:endParaRPr lang="en-US" altLang="en-US" sz="2800" dirty="0">
                <a:solidFill>
                  <a:srgbClr val="006600"/>
                </a:solidFill>
              </a:endParaRPr>
            </a:p>
          </p:txBody>
        </p:sp>
        <p:sp>
          <p:nvSpPr>
            <p:cNvPr id="95" name="Text Box 77">
              <a:extLst>
                <a:ext uri="{FF2B5EF4-FFF2-40B4-BE49-F238E27FC236}">
                  <a16:creationId xmlns:a16="http://schemas.microsoft.com/office/drawing/2014/main" id="{1C900326-D8BB-4DF8-A7EC-6193EC510E7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569891" y="5907844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>
                  <a:solidFill>
                    <a:srgbClr val="006600"/>
                  </a:solidFill>
                </a:rPr>
                <a:t> e</a:t>
              </a:r>
              <a:endParaRPr lang="en-US" altLang="en-US" sz="2800">
                <a:solidFill>
                  <a:srgbClr val="006600"/>
                </a:solidFill>
              </a:endParaRPr>
            </a:p>
          </p:txBody>
        </p:sp>
        <p:sp>
          <p:nvSpPr>
            <p:cNvPr id="96" name="Text Box 78">
              <a:extLst>
                <a:ext uri="{FF2B5EF4-FFF2-40B4-BE49-F238E27FC236}">
                  <a16:creationId xmlns:a16="http://schemas.microsoft.com/office/drawing/2014/main" id="{F9B6A6A1-444A-4CDC-A96B-21ABC821350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912791" y="4879144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>
                  <a:solidFill>
                    <a:srgbClr val="006600"/>
                  </a:solidFill>
                </a:rPr>
                <a:t> d</a:t>
              </a:r>
              <a:endParaRPr lang="en-US" altLang="en-US" sz="2800">
                <a:solidFill>
                  <a:srgbClr val="006600"/>
                </a:solidFill>
              </a:endParaRPr>
            </a:p>
          </p:txBody>
        </p:sp>
      </p:grpSp>
      <p:sp>
        <p:nvSpPr>
          <p:cNvPr id="97" name="Text Box 81">
            <a:extLst>
              <a:ext uri="{FF2B5EF4-FFF2-40B4-BE49-F238E27FC236}">
                <a16:creationId xmlns:a16="http://schemas.microsoft.com/office/drawing/2014/main" id="{3162CD3C-0292-4434-A5FA-44C23806FA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40967" y="3180519"/>
            <a:ext cx="4540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800" i="1"/>
              <a:t> f</a:t>
            </a:r>
            <a:endParaRPr lang="en-US" altLang="en-US" sz="2800"/>
          </a:p>
        </p:txBody>
      </p:sp>
      <p:sp>
        <p:nvSpPr>
          <p:cNvPr id="98" name="Text Box 82">
            <a:extLst>
              <a:ext uri="{FF2B5EF4-FFF2-40B4-BE49-F238E27FC236}">
                <a16:creationId xmlns:a16="http://schemas.microsoft.com/office/drawing/2014/main" id="{7D917999-8386-456D-808A-9747752358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845367" y="4307644"/>
            <a:ext cx="4540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800" i="1"/>
              <a:t> f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93278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371 L -0.00104 0.00394 C -0.00399 -0.00162 -0.00677 -0.00717 -0.00989 -0.01226 C -0.01927 -0.02777 -0.01163 -0.01157 -0.01961 -0.02685 C -0.02083 -0.02916 -0.02152 -0.03194 -0.02291 -0.03402 C -0.02448 -0.03634 -0.02673 -0.03773 -0.02829 -0.03981 C -0.03107 -0.04398 -0.03246 -0.05 -0.03593 -0.053 C -0.04027 -0.05671 -0.0427 -0.0581 -0.04566 -0.06319 C -0.04791 -0.06689 -0.04982 -0.07106 -0.05225 -0.07476 C -0.05607 -0.08078 -0.05764 -0.08194 -0.06198 -0.08634 C -0.0625 -0.08796 -0.06527 -0.09768 -0.06632 -0.0993 C -0.06753 -0.10115 -0.06927 -0.10231 -0.07066 -0.1037 C -0.07135 -0.10601 -0.0717 -0.10879 -0.07291 -0.11088 C -0.07361 -0.11226 -0.07517 -0.11273 -0.07621 -0.11388 C -0.07812 -0.1162 -0.0802 -0.11828 -0.08159 -0.12106 C -0.08333 -0.12476 -0.0842 -0.12708 -0.08698 -0.12986 C -0.08871 -0.13148 -0.09062 -0.13263 -0.09236 -0.13425 C -0.09357 -0.13611 -0.09444 -0.13819 -0.09566 -0.14004 C -0.09722 -0.14213 -0.10555 -0.14907 -0.10659 -0.15 C -0.10746 -0.15162 -0.11059 -0.15949 -0.11302 -0.1618 C -0.11441 -0.16296 -0.11597 -0.16342 -0.11736 -0.16458 C -0.11857 -0.1655 -0.11961 -0.16643 -0.12066 -0.16759 C -0.12448 -0.175 -0.121 -0.16921 -0.12621 -0.17476 C -0.12691 -0.17569 -0.12743 -0.17708 -0.12829 -0.17754 C -0.13194 -0.18009 -0.13628 -0.18101 -0.14027 -0.18194 C -0.14097 -0.18287 -0.14166 -0.18402 -0.14236 -0.18495 C -0.14444 -0.18703 -0.14704 -0.18819 -0.14895 -0.19074 C -0.15 -0.19213 -0.15121 -0.19351 -0.15225 -0.19513 C -0.15555 -0.20046 -0.15277 -0.19884 -0.15764 -0.20231 C -0.16128 -0.20486 -0.16562 -0.20578 -0.16857 -0.20949 C -0.16927 -0.21041 -0.16996 -0.21157 -0.17066 -0.2125 C -0.17309 -0.21504 -0.17517 -0.21666 -0.17829 -0.21689 C -0.19496 -0.21759 -0.21163 -0.21782 -0.22829 -0.21828 C -0.22934 -0.21875 -0.23038 -0.21921 -0.23159 -0.21967 C -0.23333 -0.22037 -0.23524 -0.2206 -0.23698 -0.22106 C -0.23854 -0.22152 -0.23993 -0.22222 -0.24132 -0.22268 C -0.24757 -0.23078 -0.24166 -0.2243 -0.24791 -0.22847 C -0.25312 -0.23194 -0.2493 -0.23009 -0.25329 -0.23425 C -0.25538 -0.23634 -0.25989 -0.24004 -0.25989 -0.23981 L -0.26302 -0.253 C -0.26336 -0.25439 -0.26319 -0.25648 -0.26423 -0.2574 C -0.27135 -0.26388 -0.26961 -0.26018 -0.2717 -0.26597 L -0.2717 -0.26574 L -0.2717 -0.26597 L -0.2717 -0.26574 L -0.2717 -0.26597 " pathEditMode="relative" rAng="0" ptsTypes="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42" y="-1347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8 0.01991 L 0.0408 0.01991 C 0.04358 0.01643 0.04653 0.01319 0.04948 0.00972 C 0.05087 0.00787 0.05208 0.00555 0.05382 0.00393 C 0.05712 0.00046 0.06094 0.00023 0.06458 -0.00185 C 0.06649 -0.00301 0.0684 -0.00463 0.07014 -0.00625 C 0.07187 -0.0081 0.07344 -0.01065 0.07552 -0.01204 C 0.08177 -0.01621 0.08472 -0.01597 0.09062 -0.01783 C 0.10486 -0.02222 0.0941 -0.01968 0.1059 -0.02222 C 0.10729 -0.02315 0.10885 -0.02408 0.11024 -0.02523 C 0.11285 -0.02708 0.11528 -0.02917 0.11788 -0.03102 C 0.11892 -0.03171 0.12014 -0.03171 0.12118 -0.03241 C 0.12257 -0.03333 0.12396 -0.03472 0.12552 -0.03519 C 0.1276 -0.03611 0.12986 -0.03611 0.13194 -0.03681 C 0.13351 -0.03704 0.13489 -0.03773 0.13628 -0.0382 C 0.13819 -0.03866 0.13993 -0.03912 0.14184 -0.03958 C 0.14358 -0.04051 0.14548 -0.04144 0.14722 -0.04259 C 0.14844 -0.04329 0.1493 -0.04468 0.15052 -0.04537 C 0.15156 -0.04607 0.1526 -0.04653 0.15382 -0.04676 C 0.1566 -0.04792 0.15972 -0.04838 0.1625 -0.04977 C 0.16423 -0.0507 0.16614 -0.05162 0.16788 -0.05255 C 0.17083 -0.0544 0.1743 -0.05533 0.17656 -0.05833 C 0.18073 -0.06389 0.1783 -0.06204 0.18316 -0.06435 C 0.18455 -0.06574 0.18594 -0.06713 0.1875 -0.06852 C 0.19062 -0.07153 0.19184 -0.07222 0.19514 -0.07593 C 0.19653 -0.07755 0.19774 -0.07986 0.19948 -0.08171 C 0.20382 -0.08634 0.20573 -0.08727 0.21024 -0.09028 C 0.21094 -0.09236 0.21128 -0.09468 0.2125 -0.09607 C 0.21423 -0.09861 0.21684 -0.1 0.21892 -0.10185 C 0.22014 -0.10278 0.22135 -0.10347 0.22222 -0.10486 C 0.22292 -0.10579 0.22378 -0.10671 0.22448 -0.10764 C 0.22552 -0.10949 0.22639 -0.11181 0.2276 -0.11343 C 0.22969 -0.11574 0.23229 -0.1169 0.2342 -0.11921 C 0.23594 -0.12176 0.23733 -0.125 0.23958 -0.12662 C 0.24114 -0.12755 0.24253 -0.12847 0.24392 -0.1294 C 0.24514 -0.13033 0.24601 -0.13148 0.24722 -0.13241 C 0.24826 -0.1331 0.24948 -0.13333 0.25052 -0.1338 C 0.25208 -0.13658 0.25382 -0.14028 0.2559 -0.14259 C 0.25694 -0.14352 0.25798 -0.14468 0.2592 -0.14537 C 0.26059 -0.14607 0.26215 -0.1463 0.26354 -0.14676 C 0.26458 -0.14769 0.2658 -0.14861 0.26684 -0.14977 C 0.26805 -0.15116 0.26875 -0.15301 0.27014 -0.15417 C 0.27205 -0.15556 0.27465 -0.15533 0.27656 -0.15695 C 0.28073 -0.16065 0.27864 -0.15926 0.28316 -0.16134 C 0.28733 -0.17269 0.28264 -0.16204 0.28958 -0.17153 C 0.29167 -0.17431 0.29305 -0.17986 0.29392 -0.1831 C 0.29479 -0.18588 0.29548 -0.18889 0.29618 -0.19167 C 0.29653 -0.19329 0.29635 -0.19514 0.29722 -0.19607 C 0.29948 -0.19792 0.30191 -0.19954 0.30382 -0.20185 C 0.30521 -0.20394 0.30625 -0.20648 0.30816 -0.20764 C 0.30955 -0.20857 0.31111 -0.20949 0.3125 -0.21065 C 0.31354 -0.21134 0.31458 -0.21273 0.31562 -0.21343 C 0.31667 -0.21412 0.31892 -0.21482 0.31892 -0.21482 L 0.32014 -0.21065 L 0.32014 -0.21065 " pathEditMode="relative" ptsTypes="AAAAAAAAAAAAAAAAAAAAAAAAAAAAAAAAAAAAAAAAAAAAAAAAAAAAAAA">
                                      <p:cBhvr>
                                        <p:cTn id="2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87" grpId="0"/>
      <p:bldP spid="88" grpId="0"/>
      <p:bldP spid="89" grpId="0"/>
      <p:bldP spid="90" grpId="0"/>
      <p:bldP spid="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Union of 2 Simple graphs - Definition</a:t>
            </a:r>
            <a:endParaRPr lang="en-IN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BBDFEEED-5CBF-4BEA-B455-1E1493097C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10" t="8380" r="70266" b="46771"/>
          <a:stretch/>
        </p:blipFill>
        <p:spPr>
          <a:xfrm>
            <a:off x="672600" y="1244849"/>
            <a:ext cx="3610151" cy="2373948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8C70BDEF-51D0-4D76-A8A0-41679D0761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78" t="5443" r="43287" b="44334"/>
          <a:stretch/>
        </p:blipFill>
        <p:spPr>
          <a:xfrm>
            <a:off x="4979504" y="1272887"/>
            <a:ext cx="3289853" cy="234739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8C39E5F2-1F7F-4EA5-87FE-A4D7237537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172" t="4102" r="2930" b="45675"/>
          <a:stretch/>
        </p:blipFill>
        <p:spPr>
          <a:xfrm>
            <a:off x="2491435" y="3783645"/>
            <a:ext cx="4308614" cy="286847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5CEE67-C321-45EF-B6B1-38F390736F82}"/>
              </a:ext>
            </a:extLst>
          </p:cNvPr>
          <p:cNvSpPr txBox="1"/>
          <p:nvPr/>
        </p:nvSpPr>
        <p:spPr>
          <a:xfrm>
            <a:off x="652977" y="3568340"/>
            <a:ext cx="894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G</a:t>
            </a:r>
            <a:r>
              <a:rPr lang="en-IN" sz="3600" baseline="-25000" dirty="0"/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0952FAC-0B0E-4866-9310-C3DE57B38D67}"/>
              </a:ext>
            </a:extLst>
          </p:cNvPr>
          <p:cNvSpPr txBox="1"/>
          <p:nvPr/>
        </p:nvSpPr>
        <p:spPr>
          <a:xfrm>
            <a:off x="7596501" y="3518921"/>
            <a:ext cx="894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G</a:t>
            </a:r>
            <a:r>
              <a:rPr lang="en-IN" sz="3600" baseline="-250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8BE9FE-89B4-41CB-93EC-827942098005}"/>
              </a:ext>
            </a:extLst>
          </p:cNvPr>
          <p:cNvSpPr txBox="1"/>
          <p:nvPr/>
        </p:nvSpPr>
        <p:spPr>
          <a:xfrm>
            <a:off x="866599" y="5456876"/>
            <a:ext cx="1832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G</a:t>
            </a:r>
            <a:r>
              <a:rPr lang="en-IN" sz="3600" baseline="-25000" dirty="0"/>
              <a:t>2</a:t>
            </a:r>
            <a:r>
              <a:rPr lang="en-IN" sz="3600" dirty="0"/>
              <a:t> U G</a:t>
            </a:r>
            <a:r>
              <a:rPr lang="en-IN" sz="36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5234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Subgraph - Definition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00EBE-083E-4CF5-827C-14B02D5609D0}"/>
              </a:ext>
            </a:extLst>
          </p:cNvPr>
          <p:cNvSpPr txBox="1"/>
          <p:nvPr/>
        </p:nvSpPr>
        <p:spPr>
          <a:xfrm>
            <a:off x="393290" y="1123754"/>
            <a:ext cx="8504904" cy="138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 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subgraph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of a graph </a:t>
            </a: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G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= (</a:t>
            </a: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V, E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) is a graph</a:t>
            </a:r>
            <a:b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H = (</a:t>
            </a: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W, F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) where </a:t>
            </a: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W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V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and </a:t>
            </a: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F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E.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17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Subgraph - Example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00EBE-083E-4CF5-827C-14B02D5609D0}"/>
              </a:ext>
            </a:extLst>
          </p:cNvPr>
          <p:cNvSpPr txBox="1"/>
          <p:nvPr/>
        </p:nvSpPr>
        <p:spPr>
          <a:xfrm>
            <a:off x="482742" y="1392111"/>
            <a:ext cx="8504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C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5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 is a subgraph of K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5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5648E790-09E8-4ACE-92EA-37CA287FA40E}"/>
              </a:ext>
            </a:extLst>
          </p:cNvPr>
          <p:cNvSpPr>
            <a:spLocks noChangeShapeType="1"/>
          </p:cNvSpPr>
          <p:nvPr/>
        </p:nvSpPr>
        <p:spPr bwMode="auto">
          <a:xfrm rot="20216826" flipH="1">
            <a:off x="5371619" y="3997395"/>
            <a:ext cx="39687" cy="1025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89146278-4F66-4810-8985-834F8FDA0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280" y="31639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B11994B8-D995-4ED0-B5F5-86DAF50FC4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9280" y="5145156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6985E8BB-3EF3-46E3-8B69-CDC0833B0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680" y="39259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2643F98B-55A0-46FA-8237-3C0A16DB11D5}"/>
              </a:ext>
            </a:extLst>
          </p:cNvPr>
          <p:cNvSpPr>
            <a:spLocks noChangeShapeType="1"/>
          </p:cNvSpPr>
          <p:nvPr/>
        </p:nvSpPr>
        <p:spPr bwMode="auto">
          <a:xfrm rot="1248377" flipH="1" flipV="1">
            <a:off x="6951180" y="4110106"/>
            <a:ext cx="50800" cy="96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ABF2221E-BAAC-4CBD-B13D-8F46B77AB37C}"/>
              </a:ext>
            </a:extLst>
          </p:cNvPr>
          <p:cNvSpPr>
            <a:spLocks noChangeArrowheads="1"/>
          </p:cNvSpPr>
          <p:nvPr/>
        </p:nvSpPr>
        <p:spPr bwMode="auto">
          <a:xfrm rot="1248377" flipV="1">
            <a:off x="7086119" y="3884681"/>
            <a:ext cx="255587" cy="2730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4000"/>
          </a:p>
        </p:txBody>
      </p:sp>
      <p:sp>
        <p:nvSpPr>
          <p:cNvPr id="11" name="Line 15">
            <a:extLst>
              <a:ext uri="{FF2B5EF4-FFF2-40B4-BE49-F238E27FC236}">
                <a16:creationId xmlns:a16="http://schemas.microsoft.com/office/drawing/2014/main" id="{F110A9DC-0173-44EA-8E1E-FF71EF801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2680" y="3316356"/>
            <a:ext cx="9144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7C7146FC-560E-402D-80D5-A13A9C2E8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3906" y="5526157"/>
            <a:ext cx="8258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000"/>
              <a:t> C</a:t>
            </a:r>
            <a:r>
              <a:rPr lang="en-US" altLang="en-US" sz="4000" baseline="-25000"/>
              <a:t>5</a:t>
            </a:r>
            <a:endParaRPr lang="en-US" altLang="en-US" sz="4000"/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F4447847-9BE4-4598-AA08-20E61BA40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281" y="4383156"/>
            <a:ext cx="837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000" dirty="0"/>
              <a:t> K</a:t>
            </a:r>
            <a:r>
              <a:rPr lang="en-US" altLang="en-US" sz="4000" baseline="-25000" dirty="0"/>
              <a:t>5</a:t>
            </a:r>
            <a:endParaRPr lang="en-US" altLang="en-US" sz="4000" dirty="0"/>
          </a:p>
        </p:txBody>
      </p:sp>
      <p:sp>
        <p:nvSpPr>
          <p:cNvPr id="14" name="Oval 22">
            <a:extLst>
              <a:ext uri="{FF2B5EF4-FFF2-40B4-BE49-F238E27FC236}">
                <a16:creationId xmlns:a16="http://schemas.microsoft.com/office/drawing/2014/main" id="{60F72FBF-46A5-4869-B3C6-8A3E3BDAD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680" y="49927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915E06BE-4F16-4FB7-B958-AEB954337B0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376380" y="3125856"/>
            <a:ext cx="7620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16" name="Oval 24">
            <a:extLst>
              <a:ext uri="{FF2B5EF4-FFF2-40B4-BE49-F238E27FC236}">
                <a16:creationId xmlns:a16="http://schemas.microsoft.com/office/drawing/2014/main" id="{C260FB20-141F-423C-828B-83FD2AC1B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9880" y="49927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EDE95BE8-8331-4695-9F60-1048CEB40C57}"/>
              </a:ext>
            </a:extLst>
          </p:cNvPr>
          <p:cNvSpPr>
            <a:spLocks noChangeShapeType="1"/>
          </p:cNvSpPr>
          <p:nvPr/>
        </p:nvSpPr>
        <p:spPr bwMode="auto">
          <a:xfrm rot="20216826">
            <a:off x="1434618" y="3056007"/>
            <a:ext cx="0" cy="904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18" name="Oval 26">
            <a:extLst>
              <a:ext uri="{FF2B5EF4-FFF2-40B4-BE49-F238E27FC236}">
                <a16:creationId xmlns:a16="http://schemas.microsoft.com/office/drawing/2014/main" id="{1DF2A75D-8695-41FD-9D57-6CA950106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880" y="20971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C26F8A41-22B5-43AA-84BB-C06D977E95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6880" y="4078356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6F103CA9-02E6-4899-BCDE-D56D21DC2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0" y="28591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21" name="Line 29">
            <a:extLst>
              <a:ext uri="{FF2B5EF4-FFF2-40B4-BE49-F238E27FC236}">
                <a16:creationId xmlns:a16="http://schemas.microsoft.com/office/drawing/2014/main" id="{4AC1D9E7-891B-48F8-A0E9-4984A1BB9566}"/>
              </a:ext>
            </a:extLst>
          </p:cNvPr>
          <p:cNvSpPr>
            <a:spLocks noChangeShapeType="1"/>
          </p:cNvSpPr>
          <p:nvPr/>
        </p:nvSpPr>
        <p:spPr bwMode="auto">
          <a:xfrm rot="1248377" flipH="1" flipV="1">
            <a:off x="2988780" y="3043306"/>
            <a:ext cx="50800" cy="96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22" name="Oval 30">
            <a:extLst>
              <a:ext uri="{FF2B5EF4-FFF2-40B4-BE49-F238E27FC236}">
                <a16:creationId xmlns:a16="http://schemas.microsoft.com/office/drawing/2014/main" id="{4BA43BDB-755E-4F92-B6BF-8624FE3EF849}"/>
              </a:ext>
            </a:extLst>
          </p:cNvPr>
          <p:cNvSpPr>
            <a:spLocks noChangeArrowheads="1"/>
          </p:cNvSpPr>
          <p:nvPr/>
        </p:nvSpPr>
        <p:spPr bwMode="auto">
          <a:xfrm rot="1248377" flipV="1">
            <a:off x="3123719" y="2817881"/>
            <a:ext cx="255587" cy="2730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4000"/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7CE9A3FE-0A9C-4ED0-BD88-46DC982AF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0280" y="2249556"/>
            <a:ext cx="9144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24" name="Oval 32">
            <a:extLst>
              <a:ext uri="{FF2B5EF4-FFF2-40B4-BE49-F238E27FC236}">
                <a16:creationId xmlns:a16="http://schemas.microsoft.com/office/drawing/2014/main" id="{73896EBB-EB0C-4A95-93E7-E5CFABA19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280" y="39259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25" name="Line 33">
            <a:extLst>
              <a:ext uri="{FF2B5EF4-FFF2-40B4-BE49-F238E27FC236}">
                <a16:creationId xmlns:a16="http://schemas.microsoft.com/office/drawing/2014/main" id="{BB56ED7C-934B-459E-95CB-B0EE957CDF8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413980" y="2059056"/>
            <a:ext cx="7620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26" name="Oval 34">
            <a:extLst>
              <a:ext uri="{FF2B5EF4-FFF2-40B4-BE49-F238E27FC236}">
                <a16:creationId xmlns:a16="http://schemas.microsoft.com/office/drawing/2014/main" id="{DDA381BD-93C7-4CC4-AC18-F277C1343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480" y="392595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4000"/>
          </a:p>
        </p:txBody>
      </p:sp>
      <p:sp>
        <p:nvSpPr>
          <p:cNvPr id="27" name="Line 35">
            <a:extLst>
              <a:ext uri="{FF2B5EF4-FFF2-40B4-BE49-F238E27FC236}">
                <a16:creationId xmlns:a16="http://schemas.microsoft.com/office/drawing/2014/main" id="{C5186FBC-9A83-45E2-86D7-596892684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5705" y="3011556"/>
            <a:ext cx="16002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28" name="Line 36">
            <a:extLst>
              <a:ext uri="{FF2B5EF4-FFF2-40B4-BE49-F238E27FC236}">
                <a16:creationId xmlns:a16="http://schemas.microsoft.com/office/drawing/2014/main" id="{4D8BF2BD-F624-4E11-A70F-6E20CCF637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6705" y="2935356"/>
            <a:ext cx="16002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29" name="Line 37">
            <a:extLst>
              <a:ext uri="{FF2B5EF4-FFF2-40B4-BE49-F238E27FC236}">
                <a16:creationId xmlns:a16="http://schemas.microsoft.com/office/drawing/2014/main" id="{F896C1B3-6CDB-42A6-A948-EA595F90B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6305" y="2097156"/>
            <a:ext cx="60960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CDF79D4C-04C4-4B32-A620-E92B32B569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26705" y="2249556"/>
            <a:ext cx="609600" cy="175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  <p:sp>
        <p:nvSpPr>
          <p:cNvPr id="31" name="Line 39">
            <a:extLst>
              <a:ext uri="{FF2B5EF4-FFF2-40B4-BE49-F238E27FC236}">
                <a16:creationId xmlns:a16="http://schemas.microsoft.com/office/drawing/2014/main" id="{45D11405-ACF4-4719-8FC0-A82FD6F2C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5705" y="2935356"/>
            <a:ext cx="190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4000"/>
          </a:p>
        </p:txBody>
      </p:sp>
    </p:spTree>
    <p:extLst>
      <p:ext uri="{BB962C8B-B14F-4D97-AF65-F5344CB8AC3E}">
        <p14:creationId xmlns:p14="http://schemas.microsoft.com/office/powerpoint/2010/main" val="52650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Subgraph - Example</a:t>
            </a:r>
            <a:endParaRPr lang="en-IN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C027FA0-AEF4-478E-92C3-1C1FF1CCD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399" r="48232" b="22749"/>
          <a:stretch/>
        </p:blipFill>
        <p:spPr>
          <a:xfrm>
            <a:off x="393290" y="1581288"/>
            <a:ext cx="4070075" cy="3740661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138BF44-9F0F-4D75-9089-A21ABC067A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309" t="6031" r="2026" b="26784"/>
          <a:stretch/>
        </p:blipFill>
        <p:spPr>
          <a:xfrm>
            <a:off x="4828118" y="1581287"/>
            <a:ext cx="3782143" cy="374066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F30FC6-1E73-4E00-BFCF-B48AAB72DB35}"/>
              </a:ext>
            </a:extLst>
          </p:cNvPr>
          <p:cNvSpPr txBox="1"/>
          <p:nvPr/>
        </p:nvSpPr>
        <p:spPr>
          <a:xfrm>
            <a:off x="3219217" y="5561625"/>
            <a:ext cx="3061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prstClr val="black"/>
                </a:solidFill>
                <a:ea typeface="+mj-ea"/>
                <a:cs typeface="Arial" panose="020B0604020202020204" pitchFamily="34" charset="0"/>
              </a:rPr>
              <a:t>A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 subgraph of K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5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59559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25B7-F308-46EE-BAFC-F4A88789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Representing Graphs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9CA78930-9B39-4287-ABC1-6DB475139EC9}"/>
              </a:ext>
            </a:extLst>
          </p:cNvPr>
          <p:cNvGrpSpPr>
            <a:grpSpLocks/>
          </p:cNvGrpSpPr>
          <p:nvPr/>
        </p:nvGrpSpPr>
        <p:grpSpPr bwMode="auto">
          <a:xfrm>
            <a:off x="695741" y="1109865"/>
            <a:ext cx="2362200" cy="2108201"/>
            <a:chOff x="768" y="480"/>
            <a:chExt cx="1488" cy="1328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08488961-214E-422A-AEEE-11A1E4675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480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a</a:t>
              </a:r>
              <a:endParaRPr lang="en-US" altLang="en-US" sz="3200" baseline="-25000"/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CC813EC8-48D0-4DAD-A962-CD9DDD951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36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EE24C4DB-6C68-498A-B9AA-10D92AEE4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152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44B6A34D-BC44-4244-B388-47B1263FB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960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F0651407-CD85-4052-929F-4447DD620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672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cxnSp>
          <p:nvCxnSpPr>
            <p:cNvPr id="11" name="AutoShape 9">
              <a:extLst>
                <a:ext uri="{FF2B5EF4-FFF2-40B4-BE49-F238E27FC236}">
                  <a16:creationId xmlns:a16="http://schemas.microsoft.com/office/drawing/2014/main" id="{E8139A7F-A5FA-4845-AE9D-FDC28816387D}"/>
                </a:ext>
              </a:extLst>
            </p:cNvPr>
            <p:cNvCxnSpPr>
              <a:cxnSpLocks noChangeShapeType="1"/>
              <a:stCxn id="9" idx="1"/>
              <a:endCxn id="10" idx="5"/>
            </p:cNvCxnSpPr>
            <p:nvPr/>
          </p:nvCxnSpPr>
          <p:spPr bwMode="auto">
            <a:xfrm flipH="1" flipV="1">
              <a:off x="1378" y="754"/>
              <a:ext cx="364" cy="22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0">
              <a:extLst>
                <a:ext uri="{FF2B5EF4-FFF2-40B4-BE49-F238E27FC236}">
                  <a16:creationId xmlns:a16="http://schemas.microsoft.com/office/drawing/2014/main" id="{E7EDABB2-FAB6-4A4B-BC58-9FAC4D017766}"/>
                </a:ext>
              </a:extLst>
            </p:cNvPr>
            <p:cNvCxnSpPr>
              <a:cxnSpLocks noChangeShapeType="1"/>
              <a:stCxn id="8" idx="7"/>
              <a:endCxn id="10" idx="3"/>
            </p:cNvCxnSpPr>
            <p:nvPr/>
          </p:nvCxnSpPr>
          <p:spPr bwMode="auto">
            <a:xfrm flipV="1">
              <a:off x="1090" y="754"/>
              <a:ext cx="220" cy="41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1">
              <a:extLst>
                <a:ext uri="{FF2B5EF4-FFF2-40B4-BE49-F238E27FC236}">
                  <a16:creationId xmlns:a16="http://schemas.microsoft.com/office/drawing/2014/main" id="{587AB464-7A3C-462E-9DE4-5D4E9FFD736B}"/>
                </a:ext>
              </a:extLst>
            </p:cNvPr>
            <p:cNvCxnSpPr>
              <a:cxnSpLocks noChangeShapeType="1"/>
              <a:stCxn id="10" idx="4"/>
              <a:endCxn id="7" idx="1"/>
            </p:cNvCxnSpPr>
            <p:nvPr/>
          </p:nvCxnSpPr>
          <p:spPr bwMode="auto">
            <a:xfrm>
              <a:off x="1344" y="768"/>
              <a:ext cx="398" cy="78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2">
              <a:extLst>
                <a:ext uri="{FF2B5EF4-FFF2-40B4-BE49-F238E27FC236}">
                  <a16:creationId xmlns:a16="http://schemas.microsoft.com/office/drawing/2014/main" id="{6485A6D0-C830-43EC-914A-9FE65A9801D7}"/>
                </a:ext>
              </a:extLst>
            </p:cNvPr>
            <p:cNvCxnSpPr>
              <a:cxnSpLocks noChangeShapeType="1"/>
              <a:stCxn id="8" idx="6"/>
              <a:endCxn id="9" idx="2"/>
            </p:cNvCxnSpPr>
            <p:nvPr/>
          </p:nvCxnSpPr>
          <p:spPr bwMode="auto">
            <a:xfrm flipV="1">
              <a:off x="1104" y="1008"/>
              <a:ext cx="624" cy="19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3">
              <a:extLst>
                <a:ext uri="{FF2B5EF4-FFF2-40B4-BE49-F238E27FC236}">
                  <a16:creationId xmlns:a16="http://schemas.microsoft.com/office/drawing/2014/main" id="{D100281E-C3F5-4897-A46B-4A38B625DF46}"/>
                </a:ext>
              </a:extLst>
            </p:cNvPr>
            <p:cNvCxnSpPr>
              <a:cxnSpLocks noChangeShapeType="1"/>
              <a:stCxn id="8" idx="5"/>
              <a:endCxn id="7" idx="1"/>
            </p:cNvCxnSpPr>
            <p:nvPr/>
          </p:nvCxnSpPr>
          <p:spPr bwMode="auto">
            <a:xfrm>
              <a:off x="1090" y="1234"/>
              <a:ext cx="652" cy="316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FD4ED022-0CD5-458A-BF84-1E7D58DC7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816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b</a:t>
              </a:r>
              <a:endParaRPr lang="en-US" altLang="en-US" sz="3200" baseline="-25000"/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2A50312A-87F0-46F0-B9A8-DD1323EC3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440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c</a:t>
              </a:r>
              <a:endParaRPr lang="en-US" altLang="en-US" sz="3200" baseline="-25000"/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B211F9B0-C4F2-4EA1-A0C9-3336885D3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056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d</a:t>
              </a:r>
              <a:endParaRPr lang="en-US" altLang="en-US" sz="3200" baseline="-25000"/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446D4B7C-1A36-4AD0-A870-D33686D913A2}"/>
              </a:ext>
            </a:extLst>
          </p:cNvPr>
          <p:cNvGrpSpPr>
            <a:grpSpLocks/>
          </p:cNvGrpSpPr>
          <p:nvPr/>
        </p:nvGrpSpPr>
        <p:grpSpPr bwMode="auto">
          <a:xfrm>
            <a:off x="4734341" y="1109865"/>
            <a:ext cx="2895600" cy="2184401"/>
            <a:chOff x="3312" y="480"/>
            <a:chExt cx="1824" cy="1376"/>
          </a:xfrm>
        </p:grpSpPr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4F10407B-4AAA-4357-A086-8B8E7C359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480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a</a:t>
              </a:r>
              <a:endParaRPr lang="en-US" altLang="en-US" sz="3200" baseline="-25000"/>
            </a:p>
          </p:txBody>
        </p:sp>
        <p:sp>
          <p:nvSpPr>
            <p:cNvPr id="21" name="AutoShape 19">
              <a:extLst>
                <a:ext uri="{FF2B5EF4-FFF2-40B4-BE49-F238E27FC236}">
                  <a16:creationId xmlns:a16="http://schemas.microsoft.com/office/drawing/2014/main" id="{C5F45541-214C-4017-8B10-8DB7BCA64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584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22" name="AutoShape 20">
              <a:extLst>
                <a:ext uri="{FF2B5EF4-FFF2-40B4-BE49-F238E27FC236}">
                  <a16:creationId xmlns:a16="http://schemas.microsoft.com/office/drawing/2014/main" id="{98EFF0C1-14F2-484B-AFD4-EF711348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960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6A09C8B7-AC99-4B51-B2E1-E02FDE09D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960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034A3C04-C3F9-4A77-8C64-D4645CDB8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672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cxnSp>
          <p:nvCxnSpPr>
            <p:cNvPr id="25" name="AutoShape 23">
              <a:extLst>
                <a:ext uri="{FF2B5EF4-FFF2-40B4-BE49-F238E27FC236}">
                  <a16:creationId xmlns:a16="http://schemas.microsoft.com/office/drawing/2014/main" id="{FC66B412-DA2B-4CB3-A230-C4B4E0045A6C}"/>
                </a:ext>
              </a:extLst>
            </p:cNvPr>
            <p:cNvCxnSpPr>
              <a:cxnSpLocks noChangeShapeType="1"/>
              <a:stCxn id="23" idx="1"/>
              <a:endCxn id="24" idx="5"/>
            </p:cNvCxnSpPr>
            <p:nvPr/>
          </p:nvCxnSpPr>
          <p:spPr bwMode="auto">
            <a:xfrm flipH="1" flipV="1">
              <a:off x="4258" y="754"/>
              <a:ext cx="364" cy="22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24">
              <a:extLst>
                <a:ext uri="{FF2B5EF4-FFF2-40B4-BE49-F238E27FC236}">
                  <a16:creationId xmlns:a16="http://schemas.microsoft.com/office/drawing/2014/main" id="{F5C20CCE-142E-492B-837F-25F27C92D0CD}"/>
                </a:ext>
              </a:extLst>
            </p:cNvPr>
            <p:cNvCxnSpPr>
              <a:cxnSpLocks noChangeShapeType="1"/>
              <a:stCxn id="22" idx="7"/>
              <a:endCxn id="24" idx="3"/>
            </p:cNvCxnSpPr>
            <p:nvPr/>
          </p:nvCxnSpPr>
          <p:spPr bwMode="auto">
            <a:xfrm flipV="1">
              <a:off x="3634" y="754"/>
              <a:ext cx="567" cy="22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25">
              <a:extLst>
                <a:ext uri="{FF2B5EF4-FFF2-40B4-BE49-F238E27FC236}">
                  <a16:creationId xmlns:a16="http://schemas.microsoft.com/office/drawing/2014/main" id="{61CCFD7B-22A2-4325-919E-524F8136122B}"/>
                </a:ext>
              </a:extLst>
            </p:cNvPr>
            <p:cNvCxnSpPr>
              <a:cxnSpLocks noChangeShapeType="1"/>
              <a:stCxn id="24" idx="4"/>
              <a:endCxn id="21" idx="1"/>
            </p:cNvCxnSpPr>
            <p:nvPr/>
          </p:nvCxnSpPr>
          <p:spPr bwMode="auto">
            <a:xfrm flipH="1">
              <a:off x="3998" y="768"/>
              <a:ext cx="226" cy="83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26">
              <a:extLst>
                <a:ext uri="{FF2B5EF4-FFF2-40B4-BE49-F238E27FC236}">
                  <a16:creationId xmlns:a16="http://schemas.microsoft.com/office/drawing/2014/main" id="{79A4557B-883D-40EC-B030-94A340D3524A}"/>
                </a:ext>
              </a:extLst>
            </p:cNvPr>
            <p:cNvCxnSpPr>
              <a:cxnSpLocks noChangeShapeType="1"/>
              <a:stCxn id="22" idx="6"/>
              <a:endCxn id="23" idx="2"/>
            </p:cNvCxnSpPr>
            <p:nvPr/>
          </p:nvCxnSpPr>
          <p:spPr bwMode="auto">
            <a:xfrm>
              <a:off x="3648" y="1008"/>
              <a:ext cx="960" cy="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27">
              <a:extLst>
                <a:ext uri="{FF2B5EF4-FFF2-40B4-BE49-F238E27FC236}">
                  <a16:creationId xmlns:a16="http://schemas.microsoft.com/office/drawing/2014/main" id="{5E79902B-513F-4406-AC0B-199DA5669E0C}"/>
                </a:ext>
              </a:extLst>
            </p:cNvPr>
            <p:cNvCxnSpPr>
              <a:cxnSpLocks noChangeShapeType="1"/>
              <a:stCxn id="22" idx="5"/>
              <a:endCxn id="21" idx="1"/>
            </p:cNvCxnSpPr>
            <p:nvPr/>
          </p:nvCxnSpPr>
          <p:spPr bwMode="auto">
            <a:xfrm>
              <a:off x="3634" y="1042"/>
              <a:ext cx="364" cy="556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6C35F4A9-CFEB-45CB-AC91-F158A7BAA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816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b</a:t>
              </a:r>
              <a:endParaRPr lang="en-US" altLang="en-US" sz="3200" baseline="-25000"/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4C01EDD4-E64D-4586-9FD1-0C76AB4DD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488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c</a:t>
              </a:r>
              <a:endParaRPr lang="en-US" altLang="en-US" sz="3200" baseline="-25000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70DD9CF7-01FB-45DE-8AEC-D22717833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72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d</a:t>
              </a:r>
              <a:endParaRPr lang="en-US" altLang="en-US" sz="3200" baseline="-25000"/>
            </a:p>
          </p:txBody>
        </p:sp>
      </p:grpSp>
      <p:grpSp>
        <p:nvGrpSpPr>
          <p:cNvPr id="33" name="Group 31">
            <a:extLst>
              <a:ext uri="{FF2B5EF4-FFF2-40B4-BE49-F238E27FC236}">
                <a16:creationId xmlns:a16="http://schemas.microsoft.com/office/drawing/2014/main" id="{1A752416-7074-4A3D-A5C7-F37C155FD358}"/>
              </a:ext>
            </a:extLst>
          </p:cNvPr>
          <p:cNvGrpSpPr>
            <a:grpSpLocks/>
          </p:cNvGrpSpPr>
          <p:nvPr/>
        </p:nvGrpSpPr>
        <p:grpSpPr bwMode="auto">
          <a:xfrm>
            <a:off x="733841" y="3370465"/>
            <a:ext cx="3429000" cy="3014663"/>
            <a:chOff x="816" y="1920"/>
            <a:chExt cx="2160" cy="1899"/>
          </a:xfrm>
        </p:grpSpPr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4A3A7F6E-3E90-4036-A2AA-854E8AD8E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841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a, d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21AE5EA6-0AC7-44B3-BAD2-4C3C2F35B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41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b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6" name="Rectangle 34">
              <a:extLst>
                <a:ext uri="{FF2B5EF4-FFF2-40B4-BE49-F238E27FC236}">
                  <a16:creationId xmlns:a16="http://schemas.microsoft.com/office/drawing/2014/main" id="{1584365E-FA1D-4F21-8C49-268D738F4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7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a, d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7" name="Rectangle 35">
              <a:extLst>
                <a:ext uri="{FF2B5EF4-FFF2-40B4-BE49-F238E27FC236}">
                  <a16:creationId xmlns:a16="http://schemas.microsoft.com/office/drawing/2014/main" id="{4C6B8CC4-73DA-42A1-B0C9-56126585B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167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c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8" name="Rectangle 36">
              <a:extLst>
                <a:ext uri="{FF2B5EF4-FFF2-40B4-BE49-F238E27FC236}">
                  <a16:creationId xmlns:a16="http://schemas.microsoft.com/office/drawing/2014/main" id="{965D5685-A413-4312-A1F3-E0B1E486B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493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a, b, c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5BDA01F2-75D2-4784-95F3-CD97E52F8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493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d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0" name="Rectangle 38">
              <a:extLst>
                <a:ext uri="{FF2B5EF4-FFF2-40B4-BE49-F238E27FC236}">
                  <a16:creationId xmlns:a16="http://schemas.microsoft.com/office/drawing/2014/main" id="{54DC9F06-9048-40C0-B831-F46422683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15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b, c, d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1" name="Rectangle 39">
              <a:extLst>
                <a:ext uri="{FF2B5EF4-FFF2-40B4-BE49-F238E27FC236}">
                  <a16:creationId xmlns:a16="http://schemas.microsoft.com/office/drawing/2014/main" id="{5EF281B5-4CA4-40E7-AA82-8A41DAFB3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15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a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2" name="Rectangle 40">
              <a:extLst>
                <a:ext uri="{FF2B5EF4-FFF2-40B4-BE49-F238E27FC236}">
                  <a16:creationId xmlns:a16="http://schemas.microsoft.com/office/drawing/2014/main" id="{8EE7191D-6052-40ED-8BFC-2E242E230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20"/>
              <a:ext cx="1200" cy="5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 dirty="0">
                  <a:solidFill>
                    <a:schemeClr val="tx1"/>
                  </a:solidFill>
                  <a:effectLst/>
                  <a:latin typeface="+mn-lt"/>
                </a:rPr>
                <a:t>Adjacent Vertices</a:t>
              </a:r>
              <a:endParaRPr lang="en-CA" altLang="en-US" sz="2800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861CBA74-68C4-4391-A98D-0D326A21D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20"/>
              <a:ext cx="960" cy="5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 dirty="0">
                  <a:solidFill>
                    <a:schemeClr val="tx1"/>
                  </a:solidFill>
                  <a:effectLst/>
                  <a:latin typeface="+mn-lt"/>
                </a:rPr>
                <a:t>Vertex</a:t>
              </a:r>
              <a:endParaRPr lang="en-CA" altLang="en-US" sz="2800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7C28F2E8-8B0E-4CBA-A12E-492F2B091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15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EC35AA8E-1EAC-4E7A-81B9-2A5307241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841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2FF404EC-BB30-4AF5-A692-6AFF87805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899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84B2FAA4-8D57-4B18-969F-65677F3E8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20"/>
              <a:ext cx="2160" cy="0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B532E416-D25C-4C41-87A6-E801E2D10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20"/>
              <a:ext cx="0" cy="1899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A8524704-4499-48DC-8F1B-E220DB637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0" cy="1899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F7C55974-B560-4104-89C0-4386BB8A7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819"/>
              <a:ext cx="2160" cy="0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5DC619AB-3049-47BB-8BA5-4FF72408F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493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A0360882-3BCF-4D08-A329-D5B7A270C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167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1">
            <a:extLst>
              <a:ext uri="{FF2B5EF4-FFF2-40B4-BE49-F238E27FC236}">
                <a16:creationId xmlns:a16="http://schemas.microsoft.com/office/drawing/2014/main" id="{1121E45A-FCA1-41A1-A89E-075403FADEBE}"/>
              </a:ext>
            </a:extLst>
          </p:cNvPr>
          <p:cNvGrpSpPr>
            <a:grpSpLocks/>
          </p:cNvGrpSpPr>
          <p:nvPr/>
        </p:nvGrpSpPr>
        <p:grpSpPr bwMode="auto">
          <a:xfrm>
            <a:off x="4924841" y="3370465"/>
            <a:ext cx="3429000" cy="3014663"/>
            <a:chOff x="816" y="1920"/>
            <a:chExt cx="2160" cy="1899"/>
          </a:xfrm>
        </p:grpSpPr>
        <p:sp>
          <p:nvSpPr>
            <p:cNvPr id="54" name="Rectangle 52">
              <a:extLst>
                <a:ext uri="{FF2B5EF4-FFF2-40B4-BE49-F238E27FC236}">
                  <a16:creationId xmlns:a16="http://schemas.microsoft.com/office/drawing/2014/main" id="{A43F7E2C-9A4E-473F-8A01-8DEF3C17F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841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a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5" name="Rectangle 53">
              <a:extLst>
                <a:ext uri="{FF2B5EF4-FFF2-40B4-BE49-F238E27FC236}">
                  <a16:creationId xmlns:a16="http://schemas.microsoft.com/office/drawing/2014/main" id="{E4559B19-F504-454B-9C53-08CF240D3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41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b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6" name="Rectangle 54">
              <a:extLst>
                <a:ext uri="{FF2B5EF4-FFF2-40B4-BE49-F238E27FC236}">
                  <a16:creationId xmlns:a16="http://schemas.microsoft.com/office/drawing/2014/main" id="{3B3EC5E4-E2C7-4F42-953F-2F600C0E7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7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endParaRPr lang="en-US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7" name="Rectangle 55">
              <a:extLst>
                <a:ext uri="{FF2B5EF4-FFF2-40B4-BE49-F238E27FC236}">
                  <a16:creationId xmlns:a16="http://schemas.microsoft.com/office/drawing/2014/main" id="{F43BFEDC-4504-4F38-ABC0-A8387FF10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167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c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8" name="Rectangle 56">
              <a:extLst>
                <a:ext uri="{FF2B5EF4-FFF2-40B4-BE49-F238E27FC236}">
                  <a16:creationId xmlns:a16="http://schemas.microsoft.com/office/drawing/2014/main" id="{283078DD-76A9-4895-A07E-D85F05A42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493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a, b, c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9" name="Rectangle 57">
              <a:extLst>
                <a:ext uri="{FF2B5EF4-FFF2-40B4-BE49-F238E27FC236}">
                  <a16:creationId xmlns:a16="http://schemas.microsoft.com/office/drawing/2014/main" id="{2F677115-9EEB-4335-A857-D91169604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493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d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0" name="Rectangle 58">
              <a:extLst>
                <a:ext uri="{FF2B5EF4-FFF2-40B4-BE49-F238E27FC236}">
                  <a16:creationId xmlns:a16="http://schemas.microsoft.com/office/drawing/2014/main" id="{F2A968D7-E37F-42B5-9179-E97068FF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15"/>
              <a:ext cx="120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c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1" name="Rectangle 59">
              <a:extLst>
                <a:ext uri="{FF2B5EF4-FFF2-40B4-BE49-F238E27FC236}">
                  <a16:creationId xmlns:a16="http://schemas.microsoft.com/office/drawing/2014/main" id="{46BDED46-7562-4FAD-856A-273CCFBF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15"/>
              <a:ext cx="960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a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81DBCACE-2A86-4EF9-9B1C-DC25E23DC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20"/>
              <a:ext cx="1200" cy="5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>
                  <a:solidFill>
                    <a:schemeClr val="tx1"/>
                  </a:solidFill>
                  <a:effectLst/>
                  <a:latin typeface="+mn-lt"/>
                </a:rPr>
                <a:t>Terminal Vertices</a:t>
              </a:r>
              <a:endParaRPr lang="en-CA" altLang="en-US" sz="280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8F52EA24-C611-4C4D-8CB9-E172ED461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20"/>
              <a:ext cx="960" cy="5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en-US" altLang="en-US" sz="2800" dirty="0">
                  <a:solidFill>
                    <a:schemeClr val="tx1"/>
                  </a:solidFill>
                  <a:effectLst/>
                  <a:latin typeface="+mn-lt"/>
                </a:rPr>
                <a:t>Initial Vertex</a:t>
              </a:r>
              <a:endParaRPr lang="en-CA" altLang="en-US" sz="2800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3A8A04B6-4AB1-4AAC-AE23-2B601D25F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15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ED549BFD-727D-4A28-95AA-7784EF5E9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841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66" name="Line 64">
              <a:extLst>
                <a:ext uri="{FF2B5EF4-FFF2-40B4-BE49-F238E27FC236}">
                  <a16:creationId xmlns:a16="http://schemas.microsoft.com/office/drawing/2014/main" id="{A00F0046-6CB6-4090-8FDE-584913E1F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899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5DE029AB-9AB5-4643-8272-7E87EA66F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20"/>
              <a:ext cx="2160" cy="0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AEB94ED0-1686-4563-9064-9CCDA03F8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20"/>
              <a:ext cx="0" cy="1899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74BDB456-7703-4FD2-905E-477C157EC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0" cy="1899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8E876E03-55FB-4E23-83D7-661820738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819"/>
              <a:ext cx="2160" cy="0"/>
            </a:xfrm>
            <a:prstGeom prst="line">
              <a:avLst/>
            </a:prstGeom>
            <a:noFill/>
            <a:ln w="38100" cap="sq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989BA418-C557-4DBD-9207-632E3CF0B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493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0D65A264-221C-43B8-84E1-DD0FD65D1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167"/>
              <a:ext cx="2160" cy="0"/>
            </a:xfrm>
            <a:prstGeom prst="line">
              <a:avLst/>
            </a:prstGeom>
            <a:noFill/>
            <a:ln w="38100">
              <a:solidFill>
                <a:srgbClr val="BA20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865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4616-8141-429D-89C6-0A0F78BA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Representing Graphs- </a:t>
            </a:r>
            <a:r>
              <a:rPr lang="en-US" altLang="en-US" dirty="0">
                <a:sym typeface="Symbol" panose="05050102010706020507" pitchFamily="18" charset="2"/>
              </a:rPr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BF10C-10D9-4E5A-83FA-946FE71C9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Let G = (V, E) be a simple graph with |V| = n. Suppose that the vertices of G are listed in arbitrary order as v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, v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, …, </a:t>
            </a:r>
            <a:r>
              <a:rPr lang="en-US" altLang="en-US" sz="2800" dirty="0" err="1">
                <a:sym typeface="Symbol" panose="05050102010706020507" pitchFamily="18" charset="2"/>
              </a:rPr>
              <a:t>v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 err="1">
                <a:sym typeface="Symbol" panose="05050102010706020507" pitchFamily="18" charset="2"/>
              </a:rPr>
              <a:t>.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</a:p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The adjacency matrix A (or A</a:t>
            </a:r>
            <a:r>
              <a:rPr lang="en-US" altLang="en-US" sz="2800" baseline="-25000" dirty="0">
                <a:sym typeface="Symbol" panose="05050102010706020507" pitchFamily="18" charset="2"/>
              </a:rPr>
              <a:t>G</a:t>
            </a:r>
            <a:r>
              <a:rPr lang="en-US" altLang="en-US" sz="2800" dirty="0">
                <a:sym typeface="Symbol" panose="05050102010706020507" pitchFamily="18" charset="2"/>
              </a:rPr>
              <a:t>) of G, with respect to this listing of the vertices, is the </a:t>
            </a:r>
            <a:r>
              <a:rPr lang="en-US" altLang="en-US" sz="2800" dirty="0" err="1">
                <a:sym typeface="Symbol" panose="05050102010706020507" pitchFamily="18" charset="2"/>
              </a:rPr>
              <a:t>nn</a:t>
            </a:r>
            <a:r>
              <a:rPr lang="en-US" altLang="en-US" sz="2800" dirty="0">
                <a:sym typeface="Symbol" panose="05050102010706020507" pitchFamily="18" charset="2"/>
              </a:rPr>
              <a:t> zero-one matrix with 1 as its (</a:t>
            </a:r>
            <a:r>
              <a:rPr lang="en-US" altLang="en-US" sz="2800" dirty="0" err="1"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ym typeface="Symbol" panose="05050102010706020507" pitchFamily="18" charset="2"/>
              </a:rPr>
              <a:t>, j) entry when v</a:t>
            </a:r>
            <a:r>
              <a:rPr lang="en-US" altLang="en-US" sz="2800" baseline="-25000" dirty="0"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ym typeface="Symbol" panose="05050102010706020507" pitchFamily="18" charset="2"/>
              </a:rPr>
              <a:t> and </a:t>
            </a:r>
            <a:r>
              <a:rPr lang="en-US" altLang="en-US" sz="2800" dirty="0" err="1">
                <a:sym typeface="Symbol" panose="05050102010706020507" pitchFamily="18" charset="2"/>
              </a:rPr>
              <a:t>v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800" dirty="0">
                <a:sym typeface="Symbol" panose="05050102010706020507" pitchFamily="18" charset="2"/>
              </a:rPr>
              <a:t> are adjacent, and 0 otherwise.</a:t>
            </a:r>
          </a:p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In other words, for an adjacency matrix A = [</a:t>
            </a:r>
            <a:r>
              <a:rPr lang="en-US" altLang="en-US" sz="2800" dirty="0" err="1">
                <a:sym typeface="Symbol" panose="05050102010706020507" pitchFamily="18" charset="2"/>
              </a:rPr>
              <a:t>a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ij</a:t>
            </a:r>
            <a:r>
              <a:rPr lang="en-US" altLang="en-US" sz="2800" dirty="0">
                <a:sym typeface="Symbol" panose="05050102010706020507" pitchFamily="18" charset="2"/>
              </a:rPr>
              <a:t>], </a:t>
            </a:r>
          </a:p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 err="1">
                <a:sym typeface="Symbol" panose="05050102010706020507" pitchFamily="18" charset="2"/>
              </a:rPr>
              <a:t>a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ij</a:t>
            </a:r>
            <a:r>
              <a:rPr lang="en-US" altLang="en-US" sz="2800" dirty="0">
                <a:sym typeface="Symbol" panose="05050102010706020507" pitchFamily="18" charset="2"/>
              </a:rPr>
              <a:t> = 1 	if {v</a:t>
            </a:r>
            <a:r>
              <a:rPr lang="en-US" altLang="en-US" sz="2800" baseline="-25000" dirty="0"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ym typeface="Symbol" panose="05050102010706020507" pitchFamily="18" charset="2"/>
              </a:rPr>
              <a:t>, </a:t>
            </a:r>
            <a:r>
              <a:rPr lang="en-US" altLang="en-US" sz="2800" dirty="0" err="1">
                <a:sym typeface="Symbol" panose="05050102010706020507" pitchFamily="18" charset="2"/>
              </a:rPr>
              <a:t>v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800" dirty="0">
                <a:sym typeface="Symbol" panose="05050102010706020507" pitchFamily="18" charset="2"/>
              </a:rPr>
              <a:t>} is an edge of G,</a:t>
            </a:r>
            <a:br>
              <a:rPr lang="en-US" altLang="en-US" sz="2800" dirty="0">
                <a:sym typeface="Symbol" panose="05050102010706020507" pitchFamily="18" charset="2"/>
              </a:rPr>
            </a:br>
            <a:r>
              <a:rPr lang="en-US" altLang="en-US" sz="2800" dirty="0" err="1">
                <a:sym typeface="Symbol" panose="05050102010706020507" pitchFamily="18" charset="2"/>
              </a:rPr>
              <a:t>a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ij</a:t>
            </a:r>
            <a:r>
              <a:rPr lang="en-US" altLang="en-US" sz="2800" dirty="0">
                <a:sym typeface="Symbol" panose="05050102010706020507" pitchFamily="18" charset="2"/>
              </a:rPr>
              <a:t> = 0	otherwise.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774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4616-8141-429D-89C6-0A0F78BA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Representing Graphs - </a:t>
            </a:r>
            <a:r>
              <a:rPr lang="en-US" altLang="en-US" dirty="0">
                <a:sym typeface="Symbol" panose="05050102010706020507" pitchFamily="18" charset="2"/>
              </a:rPr>
              <a:t>Example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75308B-0B0B-43D3-AF80-DF01A4FD6ECE}"/>
              </a:ext>
            </a:extLst>
          </p:cNvPr>
          <p:cNvGrpSpPr>
            <a:grpSpLocks/>
          </p:cNvGrpSpPr>
          <p:nvPr/>
        </p:nvGrpSpPr>
        <p:grpSpPr bwMode="auto">
          <a:xfrm>
            <a:off x="6298096" y="1464360"/>
            <a:ext cx="2362200" cy="2170113"/>
            <a:chOff x="768" y="480"/>
            <a:chExt cx="1488" cy="1367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203FD1A3-34C1-4FF3-8BAC-2D160528C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480"/>
              <a:ext cx="38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600"/>
                <a:t>a</a:t>
              </a:r>
              <a:endParaRPr lang="en-US" altLang="en-US" sz="3600" baseline="-25000"/>
            </a:p>
          </p:txBody>
        </p:sp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D6411E4C-E3D2-4D13-A5B2-0EFDA0D79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36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4D354953-94B4-4835-BE42-7E87BA623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152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C4EF34DE-058B-4C5F-BA2C-03FBF8596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960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FA2B87B7-663D-48EA-A7E5-175CC93FB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672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cxnSp>
          <p:nvCxnSpPr>
            <p:cNvPr id="10" name="AutoShape 9">
              <a:extLst>
                <a:ext uri="{FF2B5EF4-FFF2-40B4-BE49-F238E27FC236}">
                  <a16:creationId xmlns:a16="http://schemas.microsoft.com/office/drawing/2014/main" id="{146146B5-B6F6-4A72-8C9B-225CAAD3718A}"/>
                </a:ext>
              </a:extLst>
            </p:cNvPr>
            <p:cNvCxnSpPr>
              <a:cxnSpLocks noChangeShapeType="1"/>
              <a:stCxn id="8" idx="1"/>
              <a:endCxn id="9" idx="5"/>
            </p:cNvCxnSpPr>
            <p:nvPr/>
          </p:nvCxnSpPr>
          <p:spPr bwMode="auto">
            <a:xfrm flipH="1" flipV="1">
              <a:off x="1378" y="754"/>
              <a:ext cx="364" cy="22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10">
              <a:extLst>
                <a:ext uri="{FF2B5EF4-FFF2-40B4-BE49-F238E27FC236}">
                  <a16:creationId xmlns:a16="http://schemas.microsoft.com/office/drawing/2014/main" id="{22FE8959-F955-4701-90C7-8AD959DFCB88}"/>
                </a:ext>
              </a:extLst>
            </p:cNvPr>
            <p:cNvCxnSpPr>
              <a:cxnSpLocks noChangeShapeType="1"/>
              <a:stCxn id="7" idx="7"/>
              <a:endCxn id="9" idx="3"/>
            </p:cNvCxnSpPr>
            <p:nvPr/>
          </p:nvCxnSpPr>
          <p:spPr bwMode="auto">
            <a:xfrm flipV="1">
              <a:off x="1090" y="754"/>
              <a:ext cx="220" cy="41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1">
              <a:extLst>
                <a:ext uri="{FF2B5EF4-FFF2-40B4-BE49-F238E27FC236}">
                  <a16:creationId xmlns:a16="http://schemas.microsoft.com/office/drawing/2014/main" id="{9FF96D5C-C59D-4B02-B9DF-271F3CB57957}"/>
                </a:ext>
              </a:extLst>
            </p:cNvPr>
            <p:cNvCxnSpPr>
              <a:cxnSpLocks noChangeShapeType="1"/>
              <a:stCxn id="9" idx="4"/>
              <a:endCxn id="6" idx="1"/>
            </p:cNvCxnSpPr>
            <p:nvPr/>
          </p:nvCxnSpPr>
          <p:spPr bwMode="auto">
            <a:xfrm>
              <a:off x="1344" y="768"/>
              <a:ext cx="398" cy="78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2">
              <a:extLst>
                <a:ext uri="{FF2B5EF4-FFF2-40B4-BE49-F238E27FC236}">
                  <a16:creationId xmlns:a16="http://schemas.microsoft.com/office/drawing/2014/main" id="{23AD2290-4152-4F6A-BBF5-53A69C0277A2}"/>
                </a:ext>
              </a:extLst>
            </p:cNvPr>
            <p:cNvCxnSpPr>
              <a:cxnSpLocks noChangeShapeType="1"/>
              <a:stCxn id="7" idx="6"/>
              <a:endCxn id="8" idx="2"/>
            </p:cNvCxnSpPr>
            <p:nvPr/>
          </p:nvCxnSpPr>
          <p:spPr bwMode="auto">
            <a:xfrm flipV="1">
              <a:off x="1104" y="1008"/>
              <a:ext cx="624" cy="19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3">
              <a:extLst>
                <a:ext uri="{FF2B5EF4-FFF2-40B4-BE49-F238E27FC236}">
                  <a16:creationId xmlns:a16="http://schemas.microsoft.com/office/drawing/2014/main" id="{C989C48E-2D23-4EAB-92E5-B1B16C5D4A3C}"/>
                </a:ext>
              </a:extLst>
            </p:cNvPr>
            <p:cNvCxnSpPr>
              <a:cxnSpLocks noChangeShapeType="1"/>
              <a:stCxn id="7" idx="5"/>
              <a:endCxn id="6" idx="1"/>
            </p:cNvCxnSpPr>
            <p:nvPr/>
          </p:nvCxnSpPr>
          <p:spPr bwMode="auto">
            <a:xfrm>
              <a:off x="1090" y="1234"/>
              <a:ext cx="652" cy="316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BAF04F73-6FD3-4AEB-AFB0-8582C5190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816"/>
              <a:ext cx="38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600"/>
                <a:t>b</a:t>
              </a:r>
              <a:endParaRPr lang="en-US" altLang="en-US" sz="3600" baseline="-25000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2F370197-B4D9-4751-A84E-77F3CC6DE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440"/>
              <a:ext cx="38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600"/>
                <a:t>c</a:t>
              </a:r>
              <a:endParaRPr lang="en-US" altLang="en-US" sz="3600" baseline="-25000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BAA670D6-5B2D-4642-B767-DB8B659F5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056"/>
              <a:ext cx="38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600"/>
                <a:t>d</a:t>
              </a:r>
              <a:endParaRPr lang="en-US" altLang="en-US" sz="3600" baseline="-2500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A85FF8F-CB06-4D3B-9F65-7B2E6B3586BC}"/>
              </a:ext>
            </a:extLst>
          </p:cNvPr>
          <p:cNvSpPr txBox="1">
            <a:spLocks noChangeArrowheads="1"/>
          </p:cNvSpPr>
          <p:nvPr/>
        </p:nvSpPr>
        <p:spPr>
          <a:xfrm>
            <a:off x="452921" y="1334185"/>
            <a:ext cx="5638800" cy="24384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0000"/>
              </a:spcAft>
              <a:buNone/>
            </a:pPr>
            <a:r>
              <a:rPr lang="en-US" altLang="en-US" dirty="0">
                <a:sym typeface="Symbol" panose="05050102010706020507" pitchFamily="18" charset="2"/>
              </a:rPr>
              <a:t>What is the adjacency matrix A</a:t>
            </a:r>
            <a:r>
              <a:rPr lang="en-US" altLang="en-US" baseline="-25000" dirty="0">
                <a:sym typeface="Symbol" panose="05050102010706020507" pitchFamily="18" charset="2"/>
              </a:rPr>
              <a:t>G</a:t>
            </a:r>
            <a:r>
              <a:rPr lang="en-US" altLang="en-US" dirty="0">
                <a:sym typeface="Symbol" panose="05050102010706020507" pitchFamily="18" charset="2"/>
              </a:rPr>
              <a:t> for the following graph G based on the order of vertices a, b, c, d ?</a:t>
            </a:r>
            <a:endParaRPr lang="en-US" altLang="en-US" dirty="0">
              <a:solidFill>
                <a:srgbClr val="66FF33"/>
              </a:solidFill>
              <a:sym typeface="Symbol" panose="05050102010706020507" pitchFamily="18" charset="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B0FD16-5673-478B-9A06-AA6B29121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96" y="4131360"/>
            <a:ext cx="6248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1pPr>
            <a:lvl2pPr marL="1377950" indent="-577850">
              <a:buChar char="–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2pPr>
            <a:lvl3pPr marL="1987550" indent="-495300">
              <a:buChar char="•"/>
              <a:defRPr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3pPr>
            <a:lvl4pPr marL="2514600" indent="-412750">
              <a:buChar char="–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4pPr>
            <a:lvl5pPr marL="3041650" indent="-412750"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5pPr>
            <a:lvl6pPr marL="34988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6pPr>
            <a:lvl7pPr marL="39560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7pPr>
            <a:lvl8pPr marL="44132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8pPr>
            <a:lvl9pPr marL="48704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9pPr>
          </a:lstStyle>
          <a:p>
            <a:pPr>
              <a:spcAft>
                <a:spcPct val="20000"/>
              </a:spcAft>
            </a:pPr>
            <a:r>
              <a:rPr lang="en-US" altLang="en-US" sz="2800" dirty="0">
                <a:solidFill>
                  <a:schemeClr val="tx1"/>
                </a:solidFill>
                <a:effectLst/>
                <a:latin typeface="Bahnschrift" panose="020B0502040204020203" pitchFamily="34" charset="0"/>
                <a:sym typeface="Symbol" panose="05050102010706020507" pitchFamily="18" charset="2"/>
              </a:rPr>
              <a:t>Solution:</a:t>
            </a: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E42CFBED-83B6-4202-9035-712E602D4B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309787"/>
              </p:ext>
            </p:extLst>
          </p:nvPr>
        </p:nvGraphicFramePr>
        <p:xfrm>
          <a:off x="2106613" y="3521075"/>
          <a:ext cx="2590800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914400" progId="Equation.3">
                  <p:embed/>
                </p:oleObj>
              </mc:Choice>
              <mc:Fallback>
                <p:oleObj name="Equation" r:id="rId2" imgW="1231560" imgH="914400" progId="Equation.3">
                  <p:embed/>
                  <p:pic>
                    <p:nvPicPr>
                      <p:cNvPr id="283667" name="Object 19">
                        <a:extLst>
                          <a:ext uri="{FF2B5EF4-FFF2-40B4-BE49-F238E27FC236}">
                            <a16:creationId xmlns:a16="http://schemas.microsoft.com/office/drawing/2014/main" id="{2D463CD0-D670-4517-A530-9098309BD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3521075"/>
                        <a:ext cx="2590800" cy="19224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BCC8DE2-5DD4-4D2B-9257-1D4EBBB03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96" y="5655360"/>
            <a:ext cx="868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1pPr>
            <a:lvl2pPr marL="1377950" indent="-577850">
              <a:buChar char="–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2pPr>
            <a:lvl3pPr marL="1987550" indent="-495300">
              <a:buChar char="•"/>
              <a:defRPr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3pPr>
            <a:lvl4pPr marL="2514600" indent="-412750">
              <a:buChar char="–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4pPr>
            <a:lvl5pPr marL="3041650" indent="-412750"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5pPr>
            <a:lvl6pPr marL="34988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6pPr>
            <a:lvl7pPr marL="39560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7pPr>
            <a:lvl8pPr marL="44132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8pPr>
            <a:lvl9pPr marL="48704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9pPr>
          </a:lstStyle>
          <a:p>
            <a:pPr>
              <a:spcAft>
                <a:spcPct val="20000"/>
              </a:spcAft>
            </a:pPr>
            <a:r>
              <a:rPr lang="en-US" altLang="en-US" sz="2800" dirty="0">
                <a:solidFill>
                  <a:schemeClr val="tx1"/>
                </a:solidFill>
                <a:effectLst/>
                <a:latin typeface="Bahnschrift" panose="020B0502040204020203" pitchFamily="34" charset="0"/>
                <a:sym typeface="Symbol" panose="05050102010706020507" pitchFamily="18" charset="2"/>
              </a:rPr>
              <a:t>Note: Adjacency matrices of undirected graphs are always symmetric.</a:t>
            </a:r>
          </a:p>
        </p:txBody>
      </p:sp>
    </p:spTree>
    <p:extLst>
      <p:ext uri="{BB962C8B-B14F-4D97-AF65-F5344CB8AC3E}">
        <p14:creationId xmlns:p14="http://schemas.microsoft.com/office/powerpoint/2010/main" val="58999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  <p:bldP spid="19" grpId="0" autoUpdateAnimBg="0"/>
      <p:bldP spid="2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2325-2EF0-4C2F-99B1-D878D2FB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Representing Graphs - </a:t>
            </a:r>
            <a:r>
              <a:rPr lang="en-US" altLang="en-US" dirty="0">
                <a:sym typeface="Symbol" panose="05050102010706020507" pitchFamily="18" charset="2"/>
              </a:rPr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8D551-6A95-4A54-B3AA-013C8C5B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Let G = (V, E) be an undirected graph with |V| = n. Suppose that the vertices and edges of G are listed in arbitrary order as v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, v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, …, </a:t>
            </a:r>
            <a:r>
              <a:rPr lang="en-US" altLang="en-US" sz="2800" dirty="0" err="1">
                <a:sym typeface="Symbol" panose="05050102010706020507" pitchFamily="18" charset="2"/>
              </a:rPr>
              <a:t>v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800" baseline="-25000" dirty="0"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and e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, e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, …, </a:t>
            </a:r>
            <a:r>
              <a:rPr lang="en-US" altLang="en-US" sz="2800" dirty="0" err="1">
                <a:sym typeface="Symbol" panose="05050102010706020507" pitchFamily="18" charset="2"/>
              </a:rPr>
              <a:t>e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m</a:t>
            </a:r>
            <a:r>
              <a:rPr lang="en-US" altLang="en-US" sz="2800" dirty="0">
                <a:sym typeface="Symbol" panose="05050102010706020507" pitchFamily="18" charset="2"/>
              </a:rPr>
              <a:t>, respectively. </a:t>
            </a:r>
          </a:p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The </a:t>
            </a:r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incidence matrix </a:t>
            </a:r>
            <a:r>
              <a:rPr lang="en-US" altLang="en-US" sz="2800" dirty="0">
                <a:sym typeface="Symbol" panose="05050102010706020507" pitchFamily="18" charset="2"/>
              </a:rPr>
              <a:t>of G with respect to this listing of the vertices and edges is the </a:t>
            </a:r>
            <a:r>
              <a:rPr lang="en-US" altLang="en-US" sz="2800" dirty="0" err="1">
                <a:sym typeface="Symbol" panose="05050102010706020507" pitchFamily="18" charset="2"/>
              </a:rPr>
              <a:t>nm</a:t>
            </a:r>
            <a:r>
              <a:rPr lang="en-US" altLang="en-US" sz="2800" dirty="0">
                <a:sym typeface="Symbol" panose="05050102010706020507" pitchFamily="18" charset="2"/>
              </a:rPr>
              <a:t> zero-one matrix with 1 as its (</a:t>
            </a:r>
            <a:r>
              <a:rPr lang="en-US" altLang="en-US" sz="2800" dirty="0" err="1"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ym typeface="Symbol" panose="05050102010706020507" pitchFamily="18" charset="2"/>
              </a:rPr>
              <a:t>, j) entry when edge </a:t>
            </a:r>
            <a:r>
              <a:rPr lang="en-US" altLang="en-US" sz="2800" dirty="0" err="1">
                <a:sym typeface="Symbol" panose="05050102010706020507" pitchFamily="18" charset="2"/>
              </a:rPr>
              <a:t>e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800" dirty="0">
                <a:sym typeface="Symbol" panose="05050102010706020507" pitchFamily="18" charset="2"/>
              </a:rPr>
              <a:t> is incident with v</a:t>
            </a:r>
            <a:r>
              <a:rPr lang="en-US" altLang="en-US" sz="2800" baseline="-25000" dirty="0"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ym typeface="Symbol" panose="05050102010706020507" pitchFamily="18" charset="2"/>
              </a:rPr>
              <a:t>, and 0 otherwise.</a:t>
            </a:r>
          </a:p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In other words, for an incidence matrix M = [</a:t>
            </a:r>
            <a:r>
              <a:rPr lang="en-US" altLang="en-US" sz="2800" dirty="0" err="1">
                <a:sym typeface="Symbol" panose="05050102010706020507" pitchFamily="18" charset="2"/>
              </a:rPr>
              <a:t>m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ij</a:t>
            </a:r>
            <a:r>
              <a:rPr lang="en-US" altLang="en-US" sz="2800" dirty="0">
                <a:sym typeface="Symbol" panose="05050102010706020507" pitchFamily="18" charset="2"/>
              </a:rPr>
              <a:t>], </a:t>
            </a:r>
          </a:p>
          <a:p>
            <a:pPr marL="0" indent="0">
              <a:spcAft>
                <a:spcPct val="20000"/>
              </a:spcAft>
              <a:buNone/>
            </a:pPr>
            <a:r>
              <a:rPr lang="en-US" altLang="en-US" sz="2800" dirty="0" err="1">
                <a:sym typeface="Symbol" panose="05050102010706020507" pitchFamily="18" charset="2"/>
              </a:rPr>
              <a:t>m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ij</a:t>
            </a:r>
            <a:r>
              <a:rPr lang="en-US" altLang="en-US" sz="2800" dirty="0">
                <a:sym typeface="Symbol" panose="05050102010706020507" pitchFamily="18" charset="2"/>
              </a:rPr>
              <a:t> = 1 	if edge </a:t>
            </a:r>
            <a:r>
              <a:rPr lang="en-US" altLang="en-US" sz="2800" dirty="0" err="1">
                <a:sym typeface="Symbol" panose="05050102010706020507" pitchFamily="18" charset="2"/>
              </a:rPr>
              <a:t>e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800" dirty="0">
                <a:sym typeface="Symbol" panose="05050102010706020507" pitchFamily="18" charset="2"/>
              </a:rPr>
              <a:t> is incident with v</a:t>
            </a:r>
            <a:r>
              <a:rPr lang="en-US" altLang="en-US" sz="2800" baseline="-25000" dirty="0">
                <a:sym typeface="Symbol" panose="05050102010706020507" pitchFamily="18" charset="2"/>
              </a:rPr>
              <a:t>i</a:t>
            </a:r>
            <a:br>
              <a:rPr lang="en-US" altLang="en-US" sz="2800" baseline="-25000" dirty="0">
                <a:sym typeface="Symbol" panose="05050102010706020507" pitchFamily="18" charset="2"/>
              </a:rPr>
            </a:br>
            <a:r>
              <a:rPr lang="en-US" altLang="en-US" sz="2800" dirty="0" err="1">
                <a:sym typeface="Symbol" panose="05050102010706020507" pitchFamily="18" charset="2"/>
              </a:rPr>
              <a:t>m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ij</a:t>
            </a:r>
            <a:r>
              <a:rPr lang="en-US" altLang="en-US" sz="2800" dirty="0">
                <a:sym typeface="Symbol" panose="05050102010706020507" pitchFamily="18" charset="2"/>
              </a:rPr>
              <a:t> = 0	otherwise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1929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4616-8141-429D-89C6-0A0F78BA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Representing Graphs - Example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764AE33-3C90-4038-8279-D6A7CCA9804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55643"/>
            <a:ext cx="6734037" cy="24384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0000"/>
              </a:spcAft>
              <a:buNone/>
            </a:pPr>
            <a:r>
              <a:rPr lang="en-US" altLang="en-US" dirty="0">
                <a:sym typeface="Symbol" panose="05050102010706020507" pitchFamily="18" charset="2"/>
              </a:rPr>
              <a:t>What is the incidence matrix M for the following graph G based on the order of vertices a, b, c, d and edges 1, 2, 3, 4, 5, 6?</a:t>
            </a:r>
            <a:endParaRPr lang="en-US" altLang="en-US" dirty="0">
              <a:solidFill>
                <a:srgbClr val="66FF33"/>
              </a:solidFill>
              <a:sym typeface="Symbol" panose="05050102010706020507" pitchFamily="18" charset="2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8D1302-4E42-4010-B470-0B42696AE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87" y="3846443"/>
            <a:ext cx="6248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1pPr>
            <a:lvl2pPr marL="1377950" indent="-577850">
              <a:buChar char="–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2pPr>
            <a:lvl3pPr marL="1987550" indent="-495300">
              <a:buChar char="•"/>
              <a:defRPr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3pPr>
            <a:lvl4pPr marL="2514600" indent="-412750">
              <a:buChar char="–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4pPr>
            <a:lvl5pPr marL="3041650" indent="-412750"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5pPr>
            <a:lvl6pPr marL="34988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6pPr>
            <a:lvl7pPr marL="39560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7pPr>
            <a:lvl8pPr marL="44132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8pPr>
            <a:lvl9pPr marL="48704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9pPr>
          </a:lstStyle>
          <a:p>
            <a:pPr>
              <a:spcAft>
                <a:spcPct val="20000"/>
              </a:spcAft>
            </a:pPr>
            <a:r>
              <a:rPr lang="en-US" altLang="en-US" sz="2800" dirty="0">
                <a:solidFill>
                  <a:schemeClr val="tx1"/>
                </a:solidFill>
                <a:effectLst/>
                <a:latin typeface="+mn-lt"/>
                <a:sym typeface="Symbol" panose="05050102010706020507" pitchFamily="18" charset="2"/>
              </a:rPr>
              <a:t>Solution: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7B59F88-F245-4603-BF68-1B439C54A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423325"/>
              </p:ext>
            </p:extLst>
          </p:nvPr>
        </p:nvGraphicFramePr>
        <p:xfrm>
          <a:off x="2206487" y="3236844"/>
          <a:ext cx="3448050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914400" progId="Equation.3">
                  <p:embed/>
                </p:oleObj>
              </mc:Choice>
              <mc:Fallback>
                <p:oleObj name="Equation" r:id="rId2" imgW="1638000" imgH="914400" progId="Equation.3">
                  <p:embed/>
                  <p:pic>
                    <p:nvPicPr>
                      <p:cNvPr id="289797" name="Object 5">
                        <a:extLst>
                          <a:ext uri="{FF2B5EF4-FFF2-40B4-BE49-F238E27FC236}">
                            <a16:creationId xmlns:a16="http://schemas.microsoft.com/office/drawing/2014/main" id="{5FA77A4D-DD46-4256-8BD3-8C945B4A2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487" y="3236844"/>
                        <a:ext cx="3448050" cy="19224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>
            <a:extLst>
              <a:ext uri="{FF2B5EF4-FFF2-40B4-BE49-F238E27FC236}">
                <a16:creationId xmlns:a16="http://schemas.microsoft.com/office/drawing/2014/main" id="{86F21D42-BBA3-4253-AF4E-BB15BC001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87" y="5218043"/>
            <a:ext cx="868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1pPr>
            <a:lvl2pPr marL="1377950" indent="-577850">
              <a:buChar char="–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2pPr>
            <a:lvl3pPr marL="1987550" indent="-495300">
              <a:buChar char="•"/>
              <a:defRPr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3pPr>
            <a:lvl4pPr marL="2514600" indent="-412750">
              <a:buChar char="–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4pPr>
            <a:lvl5pPr marL="3041650" indent="-412750"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5pPr>
            <a:lvl6pPr marL="34988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6pPr>
            <a:lvl7pPr marL="39560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7pPr>
            <a:lvl8pPr marL="44132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8pPr>
            <a:lvl9pPr marL="4870450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defRPr>
            </a:lvl9pPr>
          </a:lstStyle>
          <a:p>
            <a:pPr>
              <a:spcAft>
                <a:spcPct val="20000"/>
              </a:spcAft>
            </a:pPr>
            <a:r>
              <a:rPr lang="en-US" altLang="en-US" sz="2800" dirty="0">
                <a:solidFill>
                  <a:schemeClr val="tx1"/>
                </a:solidFill>
                <a:effectLst/>
                <a:latin typeface="+mn-lt"/>
                <a:sym typeface="Symbol" panose="05050102010706020507" pitchFamily="18" charset="2"/>
              </a:rPr>
              <a:t>Note: Incidence matrices of directed graphs contain two 1s per column for edges connecting two vertices and one 1 per column for loops.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C997F1C-BC0C-412F-984A-940512FAAD7E}"/>
              </a:ext>
            </a:extLst>
          </p:cNvPr>
          <p:cNvGrpSpPr>
            <a:grpSpLocks/>
          </p:cNvGrpSpPr>
          <p:nvPr/>
        </p:nvGrpSpPr>
        <p:grpSpPr bwMode="auto">
          <a:xfrm>
            <a:off x="6734037" y="1433443"/>
            <a:ext cx="2514600" cy="2717801"/>
            <a:chOff x="3936" y="672"/>
            <a:chExt cx="1584" cy="1712"/>
          </a:xfrm>
        </p:grpSpPr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BF601632-1BA1-433F-800D-7564813E9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672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a</a:t>
              </a:r>
              <a:endParaRPr lang="en-US" altLang="en-US" sz="3200" baseline="-25000"/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45DF07CE-3593-4453-BEC8-6830E1354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872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C8D7A45A-B695-445F-961E-74C371578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344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7FC24FB5-BEF0-4F29-AFE5-D85D6E16F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152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65502B1A-FA2C-4352-917A-A5B1E3C5C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864"/>
              <a:ext cx="96" cy="96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200"/>
            </a:p>
          </p:txBody>
        </p:sp>
        <p:cxnSp>
          <p:nvCxnSpPr>
            <p:cNvPr id="13" name="AutoShape 13">
              <a:extLst>
                <a:ext uri="{FF2B5EF4-FFF2-40B4-BE49-F238E27FC236}">
                  <a16:creationId xmlns:a16="http://schemas.microsoft.com/office/drawing/2014/main" id="{38CD5BF2-9B8C-4963-B086-593CFB2FA1BC}"/>
                </a:ext>
              </a:extLst>
            </p:cNvPr>
            <p:cNvCxnSpPr>
              <a:cxnSpLocks noChangeShapeType="1"/>
              <a:stCxn id="11" idx="1"/>
              <a:endCxn id="12" idx="5"/>
            </p:cNvCxnSpPr>
            <p:nvPr/>
          </p:nvCxnSpPr>
          <p:spPr bwMode="auto">
            <a:xfrm flipH="1" flipV="1">
              <a:off x="4546" y="946"/>
              <a:ext cx="364" cy="22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4">
              <a:extLst>
                <a:ext uri="{FF2B5EF4-FFF2-40B4-BE49-F238E27FC236}">
                  <a16:creationId xmlns:a16="http://schemas.microsoft.com/office/drawing/2014/main" id="{447B04D7-FC3C-4D1D-997A-99BE30EE3552}"/>
                </a:ext>
              </a:extLst>
            </p:cNvPr>
            <p:cNvCxnSpPr>
              <a:cxnSpLocks noChangeShapeType="1"/>
              <a:stCxn id="10" idx="7"/>
              <a:endCxn id="12" idx="3"/>
            </p:cNvCxnSpPr>
            <p:nvPr/>
          </p:nvCxnSpPr>
          <p:spPr bwMode="auto">
            <a:xfrm flipV="1">
              <a:off x="4258" y="946"/>
              <a:ext cx="220" cy="41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5">
              <a:extLst>
                <a:ext uri="{FF2B5EF4-FFF2-40B4-BE49-F238E27FC236}">
                  <a16:creationId xmlns:a16="http://schemas.microsoft.com/office/drawing/2014/main" id="{50FD7E30-9FFC-43E0-900C-D1DB173BA795}"/>
                </a:ext>
              </a:extLst>
            </p:cNvPr>
            <p:cNvCxnSpPr>
              <a:cxnSpLocks noChangeShapeType="1"/>
              <a:stCxn id="12" idx="4"/>
              <a:endCxn id="9" idx="1"/>
            </p:cNvCxnSpPr>
            <p:nvPr/>
          </p:nvCxnSpPr>
          <p:spPr bwMode="auto">
            <a:xfrm>
              <a:off x="4512" y="960"/>
              <a:ext cx="590" cy="926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16">
              <a:extLst>
                <a:ext uri="{FF2B5EF4-FFF2-40B4-BE49-F238E27FC236}">
                  <a16:creationId xmlns:a16="http://schemas.microsoft.com/office/drawing/2014/main" id="{3DCF4D20-6B98-4ADE-BA0E-99BBEE542CEC}"/>
                </a:ext>
              </a:extLst>
            </p:cNvPr>
            <p:cNvCxnSpPr>
              <a:cxnSpLocks noChangeShapeType="1"/>
              <a:stCxn id="10" idx="6"/>
              <a:endCxn id="11" idx="2"/>
            </p:cNvCxnSpPr>
            <p:nvPr/>
          </p:nvCxnSpPr>
          <p:spPr bwMode="auto">
            <a:xfrm flipV="1">
              <a:off x="4272" y="1200"/>
              <a:ext cx="624" cy="192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17">
              <a:extLst>
                <a:ext uri="{FF2B5EF4-FFF2-40B4-BE49-F238E27FC236}">
                  <a16:creationId xmlns:a16="http://schemas.microsoft.com/office/drawing/2014/main" id="{A284DE6B-A1EE-477B-A6CA-9079AE8CBFB3}"/>
                </a:ext>
              </a:extLst>
            </p:cNvPr>
            <p:cNvCxnSpPr>
              <a:cxnSpLocks noChangeShapeType="1"/>
              <a:stCxn id="10" idx="5"/>
              <a:endCxn id="9" idx="1"/>
            </p:cNvCxnSpPr>
            <p:nvPr/>
          </p:nvCxnSpPr>
          <p:spPr bwMode="auto">
            <a:xfrm>
              <a:off x="4258" y="1426"/>
              <a:ext cx="844" cy="46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3A43CBC0-9016-478C-9BE2-D2F080148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008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b</a:t>
              </a:r>
              <a:endParaRPr lang="en-US" altLang="en-US" sz="3200" baseline="-25000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6B4CBFBE-202A-4F78-9709-29007C74F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632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c</a:t>
              </a:r>
              <a:endParaRPr lang="en-US" altLang="en-US" sz="3200" baseline="-25000"/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B823AD74-A683-4EEB-9836-F852709E2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d</a:t>
              </a:r>
              <a:endParaRPr lang="en-US" altLang="en-US" sz="3200" baseline="-25000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5D703BF4-3AB8-43FA-BB68-239224ADE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720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rgbClr val="00FFFF"/>
                  </a:solidFill>
                </a:rPr>
                <a:t>1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4A47CC81-875C-4C47-BE6D-CE1919C5B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912"/>
              <a:ext cx="28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rgbClr val="00FFFF"/>
                  </a:solidFill>
                </a:rPr>
                <a:t>2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1D4D825C-35A4-4841-9361-E8A9161B5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84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rgbClr val="00FFFF"/>
                  </a:solidFill>
                </a:rPr>
                <a:t>4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D2B935CC-3F96-4459-9C3C-9C5D9F8CD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344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rgbClr val="00FFFF"/>
                  </a:solidFill>
                </a:rPr>
                <a:t>5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18C96187-7A22-4BE0-AD22-142AC77E6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248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rgbClr val="00FFFF"/>
                  </a:solidFill>
                </a:rPr>
                <a:t>3</a:t>
              </a:r>
            </a:p>
          </p:txBody>
        </p:sp>
        <p:cxnSp>
          <p:nvCxnSpPr>
            <p:cNvPr id="26" name="AutoShape 26">
              <a:extLst>
                <a:ext uri="{FF2B5EF4-FFF2-40B4-BE49-F238E27FC236}">
                  <a16:creationId xmlns:a16="http://schemas.microsoft.com/office/drawing/2014/main" id="{0DCD003B-FBF5-4F3E-B41C-3D59C10B4453}"/>
                </a:ext>
              </a:extLst>
            </p:cNvPr>
            <p:cNvCxnSpPr>
              <a:cxnSpLocks noChangeShapeType="1"/>
              <a:stCxn id="9" idx="2"/>
              <a:endCxn id="9" idx="4"/>
            </p:cNvCxnSpPr>
            <p:nvPr/>
          </p:nvCxnSpPr>
          <p:spPr bwMode="auto">
            <a:xfrm rot="10800000" flipH="1" flipV="1">
              <a:off x="5088" y="1920"/>
              <a:ext cx="48" cy="48"/>
            </a:xfrm>
            <a:prstGeom prst="curvedConnector4">
              <a:avLst>
                <a:gd name="adj1" fmla="val -300000"/>
                <a:gd name="adj2" fmla="val 400000"/>
              </a:avLst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CC62A44C-42FB-4DDE-89B0-BF9B64276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016"/>
              <a:ext cx="3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rgbClr val="00FFFF"/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44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autoUpdateAnimBg="0"/>
      <p:bldP spid="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9147</TotalTime>
  <Words>918</Words>
  <Application>Microsoft Office PowerPoint</Application>
  <PresentationFormat>On-screen Show (4:3)</PresentationFormat>
  <Paragraphs>148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</vt:lpstr>
      <vt:lpstr>Bahnschrift</vt:lpstr>
      <vt:lpstr>Bahnschrift SemiBold</vt:lpstr>
      <vt:lpstr>Calibri</vt:lpstr>
      <vt:lpstr>Monotype Sorts</vt:lpstr>
      <vt:lpstr>Symbol</vt:lpstr>
      <vt:lpstr>Office Theme</vt:lpstr>
      <vt:lpstr>Equation</vt:lpstr>
      <vt:lpstr>EMTH403</vt:lpstr>
      <vt:lpstr>Lecture Outcomes</vt:lpstr>
      <vt:lpstr>Special Simple Graphs - Complete Graphs </vt:lpstr>
      <vt:lpstr>Special Simple Graphs - Complete Bipartite Graphs</vt:lpstr>
      <vt:lpstr>Special Simple Graphs - Complete Bipartite Graphs</vt:lpstr>
      <vt:lpstr>Special Simple Graphs - Complete Bipartite Graphs</vt:lpstr>
      <vt:lpstr>Special Simple Graphs - Complete Bipartite Graphs</vt:lpstr>
      <vt:lpstr>Union of 2 Simple graphs - Definition</vt:lpstr>
      <vt:lpstr>Union of 2 Simple graphs - Definition</vt:lpstr>
      <vt:lpstr>Union of 2 Simple graphs - Definition</vt:lpstr>
      <vt:lpstr>Union of 2 Simple graphs - Definition</vt:lpstr>
      <vt:lpstr>Subgraph - Definition </vt:lpstr>
      <vt:lpstr>Subgraph - Example</vt:lpstr>
      <vt:lpstr>Subgraph - Example</vt:lpstr>
      <vt:lpstr>Representing Graphs</vt:lpstr>
      <vt:lpstr>Representing Graphs- Definition</vt:lpstr>
      <vt:lpstr>Representing Graphs - Example</vt:lpstr>
      <vt:lpstr>Representing Graphs - Definition</vt:lpstr>
      <vt:lpstr>Representing Graphs -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1347</cp:revision>
  <dcterms:created xsi:type="dcterms:W3CDTF">2020-12-04T05:20:56Z</dcterms:created>
  <dcterms:modified xsi:type="dcterms:W3CDTF">2021-01-13T04:39:31Z</dcterms:modified>
</cp:coreProperties>
</file>