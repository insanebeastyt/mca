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0"/>
  </p:handoutMasterIdLst>
  <p:sldIdLst>
    <p:sldId id="256" r:id="rId2"/>
    <p:sldId id="257" r:id="rId3"/>
    <p:sldId id="260" r:id="rId4"/>
    <p:sldId id="261" r:id="rId5"/>
    <p:sldId id="263" r:id="rId6"/>
    <p:sldId id="262" r:id="rId7"/>
    <p:sldId id="265" r:id="rId8"/>
    <p:sldId id="264" r:id="rId9"/>
    <p:sldId id="266" r:id="rId10"/>
    <p:sldId id="290" r:id="rId11"/>
    <p:sldId id="267" r:id="rId12"/>
    <p:sldId id="270" r:id="rId13"/>
    <p:sldId id="279" r:id="rId14"/>
    <p:sldId id="283" r:id="rId15"/>
    <p:sldId id="284" r:id="rId16"/>
    <p:sldId id="286" r:id="rId17"/>
    <p:sldId id="287" r:id="rId18"/>
    <p:sldId id="288" r:id="rId19"/>
    <p:sldId id="289" r:id="rId20"/>
    <p:sldId id="271" r:id="rId21"/>
    <p:sldId id="272" r:id="rId22"/>
    <p:sldId id="273" r:id="rId23"/>
    <p:sldId id="275" r:id="rId24"/>
    <p:sldId id="280" r:id="rId25"/>
    <p:sldId id="276" r:id="rId26"/>
    <p:sldId id="277" r:id="rId27"/>
    <p:sldId id="278" r:id="rId28"/>
    <p:sldId id="259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6CC"/>
    <a:srgbClr val="4472C4"/>
    <a:srgbClr val="DDDDDD"/>
    <a:srgbClr val="BBBBBB"/>
    <a:srgbClr val="00A2B8"/>
    <a:srgbClr val="00B451"/>
    <a:srgbClr val="BA202B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11-12-2020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11-12-2020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11-12-2020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11-12-2020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11-12-2020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11-12-2020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11-12-2020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11-12-2020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11-12-2020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11-12-2020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11-12-2020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understand what </a:t>
            </a:r>
            <a:r>
              <a:rPr lang="en-IN" dirty="0"/>
              <a:t>are </a:t>
            </a:r>
            <a:r>
              <a:rPr lang="en-US" dirty="0"/>
              <a:t>Predicates.</a:t>
            </a:r>
            <a:endParaRPr lang="en-IN" dirty="0"/>
          </a:p>
          <a:p>
            <a:pPr algn="just"/>
            <a:r>
              <a:rPr lang="en-IN" dirty="0"/>
              <a:t>understand what are </a:t>
            </a:r>
            <a:r>
              <a:rPr lang="en-US" dirty="0"/>
              <a:t>the statement function, variables</a:t>
            </a:r>
            <a:r>
              <a:rPr lang="en-IN" dirty="0"/>
              <a:t> </a:t>
            </a:r>
            <a:r>
              <a:rPr lang="en-US" dirty="0"/>
              <a:t> </a:t>
            </a:r>
          </a:p>
          <a:p>
            <a:pPr algn="just"/>
            <a:r>
              <a:rPr lang="en-IN" dirty="0"/>
              <a:t>understand </a:t>
            </a:r>
            <a:r>
              <a:rPr lang="en-US" dirty="0"/>
              <a:t>binary, ternary and n – </a:t>
            </a:r>
            <a:r>
              <a:rPr lang="en-US" dirty="0" err="1"/>
              <a:t>ary</a:t>
            </a:r>
            <a:r>
              <a:rPr lang="en-US" dirty="0"/>
              <a:t> predicate 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DAA0-A24A-48E0-B6DD-DC2CDA7E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7291-AD46-496B-95B5-A2DAD898C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 this section we will introduce a more powerful type of logic called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predicate logic. </a:t>
            </a:r>
          </a:p>
          <a:p>
            <a:pPr algn="just"/>
            <a:r>
              <a:rPr lang="en-US" dirty="0"/>
              <a:t>We will see how predicate logic can be used to express the meaning of a wide range of statements in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mathematics and computer science </a:t>
            </a:r>
            <a:r>
              <a:rPr lang="en-US" dirty="0"/>
              <a:t>in ways that permit us to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reason and explore relationships between objects.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77267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DAA0-A24A-48E0-B6DD-DC2CDA7E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7291-AD46-496B-95B5-A2DAD898C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To understand predicate logic, we first need to introduce the concept of a predicate. </a:t>
            </a:r>
          </a:p>
          <a:p>
            <a:pPr algn="just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Afterward, we will introduce the notion of quantifiers</a:t>
            </a:r>
            <a:r>
              <a:rPr lang="en-US" dirty="0"/>
              <a:t>, which enable us to reason with statements that </a:t>
            </a:r>
            <a:r>
              <a:rPr lang="en-US" b="1" dirty="0"/>
              <a:t>assert</a:t>
            </a:r>
            <a:r>
              <a:rPr lang="en-US" dirty="0"/>
              <a:t> that a certain property holds for all objects of a certain type and with statements that </a:t>
            </a:r>
            <a:r>
              <a:rPr lang="en-US" b="1" dirty="0"/>
              <a:t>assert</a:t>
            </a:r>
            <a:r>
              <a:rPr lang="en-US" dirty="0"/>
              <a:t> the existence of an object with a particular property.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732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DAA0-A24A-48E0-B6DD-DC2CDA7E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7291-AD46-496B-95B5-A2DAD898C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statement “x is greater than 3” has two parts. The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part, </a:t>
            </a:r>
            <a:r>
              <a:rPr lang="en-US" dirty="0"/>
              <a:t>the variable x, is the subject of the statement.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part</a:t>
            </a:r>
            <a:r>
              <a:rPr lang="en-US" dirty="0"/>
              <a:t>—the predicate, “is greater than 3”—refers to a property that the subject of the statement can have. </a:t>
            </a:r>
          </a:p>
        </p:txBody>
      </p:sp>
    </p:spTree>
    <p:extLst>
      <p:ext uri="{BB962C8B-B14F-4D97-AF65-F5344CB8AC3E}">
        <p14:creationId xmlns:p14="http://schemas.microsoft.com/office/powerpoint/2010/main" val="1775389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DAA0-A24A-48E0-B6DD-DC2CDA7E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7291-AD46-496B-95B5-A2DAD898C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Statements involving variables, such as</a:t>
            </a:r>
          </a:p>
          <a:p>
            <a:pPr marL="0" indent="0" algn="just">
              <a:buNone/>
            </a:pPr>
            <a:r>
              <a:rPr lang="en-US" dirty="0"/>
              <a:t>“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dirty="0"/>
              <a:t> &gt; 3,” “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dirty="0"/>
              <a:t> = y + 3,” “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 </a:t>
            </a:r>
            <a:r>
              <a:rPr lang="en-US" dirty="0"/>
              <a:t>+ y = z,”</a:t>
            </a:r>
          </a:p>
          <a:p>
            <a:pPr marL="0" indent="0" algn="just">
              <a:buNone/>
            </a:pPr>
            <a:r>
              <a:rPr lang="en-US" dirty="0"/>
              <a:t>and</a:t>
            </a:r>
          </a:p>
          <a:p>
            <a:pPr marL="0" indent="0" algn="just">
              <a:buNone/>
            </a:pPr>
            <a:r>
              <a:rPr lang="en-US" dirty="0"/>
              <a:t>“computer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dirty="0"/>
              <a:t> is under attack by an intruder,”</a:t>
            </a:r>
          </a:p>
          <a:p>
            <a:pPr marL="0" indent="0" algn="just">
              <a:buNone/>
            </a:pPr>
            <a:r>
              <a:rPr lang="en-US" dirty="0"/>
              <a:t>and</a:t>
            </a:r>
          </a:p>
          <a:p>
            <a:pPr marL="0" indent="0" algn="just">
              <a:buNone/>
            </a:pPr>
            <a:r>
              <a:rPr lang="en-US" dirty="0"/>
              <a:t>“computer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dirty="0"/>
              <a:t> is functioning properly,”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0171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DAA0-A24A-48E0-B6DD-DC2CDA7E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7291-AD46-496B-95B5-A2DAD898C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We can denote the statement “x is greater than 3” by P(x), where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 denotes the predicate “is greater than 3” and x is the variable.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statement P(x) is also said to be the value of the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propositional function </a:t>
            </a:r>
            <a:r>
              <a:rPr lang="en-US" dirty="0"/>
              <a:t>P at x.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4404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DAA0-A24A-48E0-B6DD-DC2CDA7E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7291-AD46-496B-95B5-A2DAD898C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Once a value has been assigned </a:t>
            </a:r>
            <a:r>
              <a:rPr lang="en-US" dirty="0"/>
              <a:t>to the variable x, the statement P(x) becomes a proposition and has a truth value.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0120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DAA0-A24A-48E0-B6DD-DC2CDA7E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1 Variable Example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7291-AD46-496B-95B5-A2DAD898C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</a:t>
            </a:r>
            <a:r>
              <a:rPr lang="en-US" dirty="0"/>
              <a:t> Let P(x) denote the statement “x &gt; 3.” What is the truth values of </a:t>
            </a:r>
            <a:r>
              <a:rPr lang="en-US" dirty="0">
                <a:solidFill>
                  <a:srgbClr val="FF0000"/>
                </a:solidFill>
              </a:rPr>
              <a:t>P(4)?</a:t>
            </a: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We obtain the statement P(4) by setting x = 4 in the statement “x &gt; 3.” </a:t>
            </a:r>
          </a:p>
          <a:p>
            <a:pPr marL="0" indent="0" algn="just">
              <a:buNone/>
            </a:pPr>
            <a:r>
              <a:rPr lang="en-US" dirty="0"/>
              <a:t>Hence, P(4), which is the statement “4 &gt; 3,” is true.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6987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DAA0-A24A-48E0-B6DD-DC2CDA7E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1 Variable Example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7291-AD46-496B-95B5-A2DAD898C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</a:t>
            </a:r>
            <a:r>
              <a:rPr lang="en-US" dirty="0"/>
              <a:t> Let P(x) denote the statement “x &gt; 3.” What is the truth values of </a:t>
            </a:r>
            <a:r>
              <a:rPr lang="en-US" dirty="0">
                <a:solidFill>
                  <a:srgbClr val="FF0000"/>
                </a:solidFill>
              </a:rPr>
              <a:t>P(2)</a:t>
            </a:r>
            <a:r>
              <a:rPr lang="en-US" dirty="0"/>
              <a:t>?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P(2), which is the statement “2 &gt; 3,” is false.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609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DAA0-A24A-48E0-B6DD-DC2CDA7E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1 Variable Example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7291-AD46-496B-95B5-A2DAD898C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A(x) denote the statement “Computer x is under attack by an intruder.” Suppose that of the computers on campus, only </a:t>
            </a:r>
            <a:r>
              <a:rPr lang="en-US" dirty="0">
                <a:solidFill>
                  <a:srgbClr val="FF0000"/>
                </a:solidFill>
              </a:rPr>
              <a:t>CS2 and MATH1 </a:t>
            </a:r>
            <a:r>
              <a:rPr lang="en-US" dirty="0"/>
              <a:t>are currently under attack by intruders. What are truth values of </a:t>
            </a:r>
            <a:r>
              <a:rPr lang="en-US" dirty="0">
                <a:solidFill>
                  <a:srgbClr val="FF0000"/>
                </a:solidFill>
              </a:rPr>
              <a:t>A(CS1)</a:t>
            </a:r>
            <a:r>
              <a:rPr lang="en-US" dirty="0"/>
              <a:t>?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We obtain the statement A(CS1) by setting x = CS1 in the statement “Computer x is under attack by an intruder.” Because CS1 is not on the list of computers currently under</a:t>
            </a:r>
          </a:p>
          <a:p>
            <a:pPr marL="0" indent="0" algn="just">
              <a:buNone/>
            </a:pPr>
            <a:r>
              <a:rPr lang="en-US" dirty="0"/>
              <a:t>attack, we conclude that A(CS1) is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false.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2087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DAA0-A24A-48E0-B6DD-DC2CDA7E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1 Variable Example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7291-AD46-496B-95B5-A2DAD898C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A(x) denote the statement “Computer x is under attack by an intruder.” Suppose that of the computers on campus, only </a:t>
            </a:r>
            <a:r>
              <a:rPr lang="en-US" dirty="0">
                <a:solidFill>
                  <a:srgbClr val="FF0000"/>
                </a:solidFill>
              </a:rPr>
              <a:t>CS2 and MATH1 </a:t>
            </a:r>
            <a:r>
              <a:rPr lang="en-US" dirty="0"/>
              <a:t>are currently under attack by intruders. What are truth values of </a:t>
            </a:r>
            <a:r>
              <a:rPr lang="en-US" dirty="0">
                <a:solidFill>
                  <a:srgbClr val="FF0000"/>
                </a:solidFill>
              </a:rPr>
              <a:t>A(CS2), and A(MATH1)</a:t>
            </a:r>
            <a:r>
              <a:rPr lang="en-US" dirty="0"/>
              <a:t>?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Because CS2 and MATH1 are on the list of</a:t>
            </a:r>
          </a:p>
          <a:p>
            <a:pPr marL="0" indent="0" algn="just">
              <a:buNone/>
            </a:pPr>
            <a:r>
              <a:rPr lang="en-US" dirty="0"/>
              <a:t>computers under attack, we know that A(CS2) and A(MATH1) are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true.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01117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3D5E-8661-4CE0-977E-7DE40D44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1 Variable Example - 5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5E835-8681-44A7-8091-4C03D704D9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Ques:-</a:t>
                </a:r>
                <a:r>
                  <a:rPr lang="en-US" dirty="0"/>
                  <a:t>Let P(x) denote the statement “x ≤ 4.” What is the  truth value of </a:t>
                </a:r>
                <a:r>
                  <a:rPr lang="en-US" dirty="0">
                    <a:solidFill>
                      <a:srgbClr val="FF0000"/>
                    </a:solidFill>
                  </a:rPr>
                  <a:t>P(0)</a:t>
                </a:r>
                <a:r>
                  <a:rPr lang="en-US" dirty="0"/>
                  <a:t> 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I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Ans:-</a:t>
                </a:r>
                <a:r>
                  <a:rPr lang="en-IN" dirty="0"/>
                  <a:t>T, since 0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dirty="0"/>
                  <a:t> 4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5E835-8681-44A7-8091-4C03D704D9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7" r="-14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892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3D5E-8661-4CE0-977E-7DE40D44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1 Variable Example - 6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5E835-8681-44A7-8091-4C03D704D9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Ques:- </a:t>
                </a:r>
                <a:r>
                  <a:rPr lang="en-US" dirty="0"/>
                  <a:t>Let P(x) denote the statement “x ≤ 4.” What is the  truth value of </a:t>
                </a:r>
                <a:r>
                  <a:rPr lang="en-US" dirty="0">
                    <a:solidFill>
                      <a:srgbClr val="FF0000"/>
                    </a:solidFill>
                  </a:rPr>
                  <a:t>P(4)</a:t>
                </a:r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I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Ans:- </a:t>
                </a:r>
                <a:r>
                  <a:rPr lang="en-IN" dirty="0"/>
                  <a:t>T, since 4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dirty="0"/>
                  <a:t> 4.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5E835-8681-44A7-8091-4C03D704D9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7" r="-14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319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3D5E-8661-4CE0-977E-7DE40D44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1 Variable Example - 7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E835-8681-44A7-8091-4C03D704D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7836310" cy="1395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P(x) denote the statement “x ≤ 4.” What is the  truth value of </a:t>
            </a:r>
            <a:r>
              <a:rPr lang="en-US" dirty="0">
                <a:solidFill>
                  <a:srgbClr val="FF0000"/>
                </a:solidFill>
              </a:rPr>
              <a:t>P(6)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2EBBE23-6545-4C82-9748-9DBEDE0C1846}"/>
                  </a:ext>
                </a:extLst>
              </p:cNvPr>
              <p:cNvSpPr txBox="1"/>
              <p:nvPr/>
            </p:nvSpPr>
            <p:spPr>
              <a:xfrm flipV="1">
                <a:off x="3042400" y="5932602"/>
                <a:ext cx="218660" cy="5232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400" smtClean="0">
                          <a:latin typeface="Cambria Math" panose="02040503050406030204" pitchFamily="18" charset="0"/>
                        </a:rPr>
                        <m:t>∕</m:t>
                      </m:r>
                    </m:oMath>
                  </m:oMathPara>
                </a14:m>
                <a:endParaRPr lang="en-IN" sz="3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2EBBE23-6545-4C82-9748-9DBEDE0C1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V="1">
                <a:off x="3042400" y="5932602"/>
                <a:ext cx="21866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C50AC5-934B-4F72-B13D-2EEABB7DDF5F}"/>
                  </a:ext>
                </a:extLst>
              </p:cNvPr>
              <p:cNvSpPr txBox="1"/>
              <p:nvPr/>
            </p:nvSpPr>
            <p:spPr>
              <a:xfrm>
                <a:off x="393290" y="5826567"/>
                <a:ext cx="46316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IN" sz="2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Ans:- </a:t>
                </a:r>
                <a:r>
                  <a:rPr lang="en-US" sz="2800" dirty="0"/>
                  <a:t>F, since 6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dirty="0"/>
                  <a:t> 4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C50AC5-934B-4F72-B13D-2EEABB7DD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90" y="5826567"/>
                <a:ext cx="4631634" cy="523220"/>
              </a:xfrm>
              <a:prstGeom prst="rect">
                <a:avLst/>
              </a:prstGeom>
              <a:blipFill>
                <a:blip r:embed="rId3"/>
                <a:stretch>
                  <a:fillRect l="-2899" t="-15116" b="-372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93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3D5E-8661-4CE0-977E-7DE40D44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1 Variable Example - 8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E835-8681-44A7-8091-4C03D704D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P(x) be the statement “x = x</a:t>
            </a:r>
            <a:r>
              <a:rPr lang="en-US" baseline="30000" dirty="0"/>
              <a:t>2</a:t>
            </a:r>
            <a:r>
              <a:rPr lang="en-US" dirty="0"/>
              <a:t>.” If the domain consists of the integers, What is the truth value of </a:t>
            </a:r>
            <a:r>
              <a:rPr lang="en-US" dirty="0">
                <a:solidFill>
                  <a:srgbClr val="FF0000"/>
                </a:solidFill>
              </a:rPr>
              <a:t>P(0)</a:t>
            </a:r>
            <a:r>
              <a:rPr lang="en-US" dirty="0"/>
              <a:t>? </a:t>
            </a:r>
          </a:p>
          <a:p>
            <a:pPr marL="0" indent="0">
              <a:buNone/>
            </a:pP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T, since 0 = 0</a:t>
            </a:r>
            <a:r>
              <a:rPr lang="en-US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22448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3D5E-8661-4CE0-977E-7DE40D44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1 Variable Example - 9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E835-8681-44A7-8091-4C03D704D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P(x) be the statement “x = x</a:t>
            </a:r>
            <a:r>
              <a:rPr lang="en-US" baseline="30000" dirty="0"/>
              <a:t>2</a:t>
            </a:r>
            <a:r>
              <a:rPr lang="en-US" dirty="0"/>
              <a:t>.” If the domain consists of the integers, What is the truth value of </a:t>
            </a:r>
            <a:r>
              <a:rPr lang="en-US" dirty="0">
                <a:solidFill>
                  <a:srgbClr val="FF0000"/>
                </a:solidFill>
              </a:rPr>
              <a:t>P(1)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T, since 1 = 1</a:t>
            </a:r>
            <a:r>
              <a:rPr lang="en-US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49367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3D5E-8661-4CE0-977E-7DE40D44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1 Variable Example - 10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5E835-8681-44A7-8091-4C03D704D9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Ques:- </a:t>
                </a:r>
                <a:r>
                  <a:rPr lang="en-US" dirty="0"/>
                  <a:t>Let P(x) be the statement “x = x</a:t>
                </a:r>
                <a:r>
                  <a:rPr lang="en-US" baseline="30000" dirty="0"/>
                  <a:t>2</a:t>
                </a:r>
                <a:r>
                  <a:rPr lang="en-US" dirty="0"/>
                  <a:t>.” If the domain consists of the integers, What is the truth value of </a:t>
                </a:r>
                <a:r>
                  <a:rPr lang="en-US" dirty="0">
                    <a:solidFill>
                      <a:srgbClr val="FF0000"/>
                    </a:solidFill>
                  </a:rPr>
                  <a:t>P(2)</a:t>
                </a:r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I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Ans:- </a:t>
                </a:r>
                <a:r>
                  <a:rPr lang="en-US" dirty="0"/>
                  <a:t>F, since 2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2</a:t>
                </a:r>
                <a:r>
                  <a:rPr lang="en-US" baseline="30000" dirty="0"/>
                  <a:t>2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5E835-8681-44A7-8091-4C03D704D9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7" r="-14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2799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3D5E-8661-4CE0-977E-7DE40D44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1 Variable Example - 11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5E835-8681-44A7-8091-4C03D704D9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Ques:- </a:t>
                </a:r>
                <a:r>
                  <a:rPr lang="en-US" dirty="0"/>
                  <a:t>Let P(x) be the statement “x = x</a:t>
                </a:r>
                <a:r>
                  <a:rPr lang="en-US" baseline="30000" dirty="0"/>
                  <a:t>2</a:t>
                </a:r>
                <a:r>
                  <a:rPr lang="en-US" dirty="0"/>
                  <a:t>.” If the domain consists of the integers, What is the truth value of </a:t>
                </a:r>
                <a:r>
                  <a:rPr lang="en-US" dirty="0">
                    <a:solidFill>
                      <a:srgbClr val="FF0000"/>
                    </a:solidFill>
                  </a:rPr>
                  <a:t>P(−1)</a:t>
                </a:r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I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I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Ans:- </a:t>
                </a:r>
                <a:r>
                  <a:rPr lang="en-US" dirty="0"/>
                  <a:t>F, since -1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(-1)</a:t>
                </a:r>
                <a:r>
                  <a:rPr lang="en-US" baseline="30000" dirty="0"/>
                  <a:t>2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5E835-8681-44A7-8091-4C03D704D9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7" r="-14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952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DAA0-A24A-48E0-B6DD-DC2CDA7E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2 Variables Example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7291-AD46-496B-95B5-A2DAD898C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Q(x, y) denote the statement “x = y + 3.” What are the truth values of the propositions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Q(1, 2)</a:t>
            </a:r>
            <a:r>
              <a:rPr lang="en-US" dirty="0"/>
              <a:t>?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To obtain Q(1, 2), set x = 1 and y = 2 in the statement Q(x, y). Hence, Q(1, 2) is the statement</a:t>
            </a:r>
            <a:br>
              <a:rPr lang="en-US" dirty="0"/>
            </a:br>
            <a:r>
              <a:rPr lang="en-US" dirty="0"/>
              <a:t> “1 = 2 + 3,” which is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false.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8932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DAA0-A24A-48E0-B6DD-DC2CDA7E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2 Variables Example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7291-AD46-496B-95B5-A2DAD898C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Q(x, y) denote the statement “x = y + 3.” What are the truth values of the propositions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Q(3, 0)</a:t>
            </a:r>
            <a:r>
              <a:rPr lang="en-US" dirty="0"/>
              <a:t>?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The statement Q(3, 0) is the proposition </a:t>
            </a:r>
            <a:br>
              <a:rPr lang="en-US" dirty="0"/>
            </a:br>
            <a:r>
              <a:rPr lang="en-US" dirty="0"/>
              <a:t>“3 = 0 + 3,” which is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true.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74619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3D5E-8661-4CE0-977E-7DE40D44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2 Variables Example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E835-8681-44A7-8091-4C03D704D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A(c, n) denote the statement “Computer c is connected to network n,” where c is a variable representing a computer and n is a variable representing a network. Suppose that the computer MATH1 is connected to network CAMPUS2, but not to network CAMPUS1. What is the values of </a:t>
            </a:r>
            <a:r>
              <a:rPr lang="en-US" dirty="0">
                <a:solidFill>
                  <a:srgbClr val="FF0000"/>
                </a:solidFill>
              </a:rPr>
              <a:t>A(MATH1, CAMPUS1)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Because MATH1 is not connected to the CAMPUS1 network, we see that A(MATH1, CAMPUS1) is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false.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08026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3D5E-8661-4CE0-977E-7DE40D44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2 Variables Example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E835-8681-44A7-8091-4C03D704D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A(c, n) denote the statement “Computer c is connected to network n,” where c is a variable representing a computer and n is a variable representing a network. Suppose that the computer MATH1 is connected to network CAMPUS2, but not to network CAMPUS1. What is the values of </a:t>
            </a:r>
            <a:r>
              <a:rPr lang="en-US" dirty="0">
                <a:solidFill>
                  <a:srgbClr val="FF0000"/>
                </a:solidFill>
              </a:rPr>
              <a:t>A(MATH1, CAMPUS2)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However, because MATH1 is connected to the CAMPUS2 network, we see that A(MATH1, CAMPUS2) is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true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7458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3D5E-8661-4CE0-977E-7DE40D44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2 Variables Example - 5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E835-8681-44A7-8091-4C03D704D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Q(x, y) denote the statement “x is the capital of y.” What is the truth value of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Q(Delhi, India)?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IN" dirty="0"/>
              <a:t> This is true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831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3D5E-8661-4CE0-977E-7DE40D44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3 Variables Example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E835-8681-44A7-8091-4C03D704D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What is the truth values of the propositions </a:t>
            </a:r>
            <a:r>
              <a:rPr lang="en-US" dirty="0">
                <a:solidFill>
                  <a:srgbClr val="FF0000"/>
                </a:solidFill>
              </a:rPr>
              <a:t>R(1, 2, 3)</a:t>
            </a:r>
            <a:r>
              <a:rPr lang="en-US" dirty="0"/>
              <a:t> where R(x, y, z) denote the statement “x + y = z.”?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The proposition R(1, 2, 3) is obtained by setting x = 1, y = 2, and z = 3 in the statement R(x, y, z). We see that R(1, 2, 3) is the statement “1 + 2 = 3,” which is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true.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13302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3D5E-8661-4CE0-977E-7DE40D44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3 Variables Example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E835-8681-44A7-8091-4C03D704D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What is the truth values of the propositions </a:t>
            </a:r>
            <a:r>
              <a:rPr lang="en-US" dirty="0">
                <a:solidFill>
                  <a:srgbClr val="FF0000"/>
                </a:solidFill>
              </a:rPr>
              <a:t>R(0, 0, 1)</a:t>
            </a:r>
            <a:r>
              <a:rPr lang="en-US" dirty="0"/>
              <a:t> where R(x, y, z) denote the statement “x + y = z.”?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That R(0, 0, 1), is the statement “0 + 0 = 1,” is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false.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03168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3D5E-8661-4CE0-977E-7DE40D44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function – n Variables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E835-8681-44A7-8091-4C03D704D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statement of the form P(x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. . . , x</a:t>
            </a:r>
            <a:r>
              <a:rPr lang="en-US" baseline="-25000" dirty="0"/>
              <a:t>n</a:t>
            </a:r>
            <a:r>
              <a:rPr lang="en-US" dirty="0"/>
              <a:t>) is the value of the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propositional function </a:t>
            </a:r>
            <a:r>
              <a:rPr lang="en-US" dirty="0"/>
              <a:t>P at the n-tuple 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. . . , x</a:t>
            </a:r>
            <a:r>
              <a:rPr lang="en-US" baseline="-25000" dirty="0"/>
              <a:t>n</a:t>
            </a:r>
            <a:r>
              <a:rPr lang="en-US" dirty="0"/>
              <a:t>), and P is also called an n-place predicate or 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n- ary predicate.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50589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1840</TotalTime>
  <Words>1620</Words>
  <Application>Microsoft Office PowerPoint</Application>
  <PresentationFormat>On-screen Show (4:3)</PresentationFormat>
  <Paragraphs>130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</vt:lpstr>
      <vt:lpstr>Bahnschrift</vt:lpstr>
      <vt:lpstr>Bahnschrift SemiBold</vt:lpstr>
      <vt:lpstr>Calibri</vt:lpstr>
      <vt:lpstr>Cambria Math</vt:lpstr>
      <vt:lpstr>Office Theme</vt:lpstr>
      <vt:lpstr>EMTH403</vt:lpstr>
      <vt:lpstr>Lecture Outcomes</vt:lpstr>
      <vt:lpstr>Predicates</vt:lpstr>
      <vt:lpstr>Predicates</vt:lpstr>
      <vt:lpstr>Predicates</vt:lpstr>
      <vt:lpstr>Predicates</vt:lpstr>
      <vt:lpstr>Predicates</vt:lpstr>
      <vt:lpstr>Predicates</vt:lpstr>
      <vt:lpstr>Propositional function – 1 Variable Example - 1</vt:lpstr>
      <vt:lpstr>Propositional function – 1 Variable Example - 2</vt:lpstr>
      <vt:lpstr>Propositional function – 1 Variable Example - 3</vt:lpstr>
      <vt:lpstr>Propositional function – 1 Variable Example - 4</vt:lpstr>
      <vt:lpstr>Propositional function – 1 Variable Example - 5</vt:lpstr>
      <vt:lpstr>Propositional function – 1 Variable Example - 6</vt:lpstr>
      <vt:lpstr>Propositional function – 1 Variable Example - 7</vt:lpstr>
      <vt:lpstr>Propositional function – 1 Variable Example - 8</vt:lpstr>
      <vt:lpstr>Propositional function – 1 Variable Example - 9</vt:lpstr>
      <vt:lpstr>Propositional function – 1 Variable Example - 10</vt:lpstr>
      <vt:lpstr>Propositional function – 1 Variable Example - 11</vt:lpstr>
      <vt:lpstr>Propositional function – 2 Variables Example - 1</vt:lpstr>
      <vt:lpstr>Propositional function – 2 Variables Example - 2</vt:lpstr>
      <vt:lpstr>Propositional function – 2 Variables Example - 3</vt:lpstr>
      <vt:lpstr>Propositional function – 2 Variables Example - 4</vt:lpstr>
      <vt:lpstr>Propositional function – 2 Variables Example - 5</vt:lpstr>
      <vt:lpstr>Propositional function – 3 Variables Example - 1</vt:lpstr>
      <vt:lpstr>Propositional function – 3 Variables Example - 2</vt:lpstr>
      <vt:lpstr>Propositional function – n Variables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Nitin Mishra</cp:lastModifiedBy>
  <cp:revision>268</cp:revision>
  <dcterms:created xsi:type="dcterms:W3CDTF">2020-12-04T05:20:56Z</dcterms:created>
  <dcterms:modified xsi:type="dcterms:W3CDTF">2020-12-11T04:45:41Z</dcterms:modified>
</cp:coreProperties>
</file>