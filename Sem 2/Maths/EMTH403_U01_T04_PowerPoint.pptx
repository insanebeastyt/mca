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8"/>
  </p:handoutMasterIdLst>
  <p:sldIdLst>
    <p:sldId id="256" r:id="rId2"/>
    <p:sldId id="257" r:id="rId3"/>
    <p:sldId id="262" r:id="rId4"/>
    <p:sldId id="288" r:id="rId5"/>
    <p:sldId id="289" r:id="rId6"/>
    <p:sldId id="291" r:id="rId7"/>
    <p:sldId id="290" r:id="rId8"/>
    <p:sldId id="293" r:id="rId9"/>
    <p:sldId id="292" r:id="rId10"/>
    <p:sldId id="294" r:id="rId11"/>
    <p:sldId id="295" r:id="rId12"/>
    <p:sldId id="296" r:id="rId13"/>
    <p:sldId id="298" r:id="rId14"/>
    <p:sldId id="299" r:id="rId15"/>
    <p:sldId id="300" r:id="rId16"/>
    <p:sldId id="301" r:id="rId17"/>
    <p:sldId id="302" r:id="rId18"/>
    <p:sldId id="306" r:id="rId19"/>
    <p:sldId id="303" r:id="rId20"/>
    <p:sldId id="304" r:id="rId21"/>
    <p:sldId id="305" r:id="rId22"/>
    <p:sldId id="307" r:id="rId23"/>
    <p:sldId id="308" r:id="rId24"/>
    <p:sldId id="309" r:id="rId25"/>
    <p:sldId id="310" r:id="rId26"/>
    <p:sldId id="25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4472C4"/>
    <a:srgbClr val="DDDDDD"/>
    <a:srgbClr val="BBBBBB"/>
    <a:srgbClr val="00A2B8"/>
    <a:srgbClr val="00B451"/>
    <a:srgbClr val="BA202B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6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10-12-2020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10-12-2020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10-12-2020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10-12-2020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10-12-2020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10-12-2020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10-12-2020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10-12-2020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10-12-2020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10-12-2020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10-12-2020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understand what is a </a:t>
            </a:r>
            <a:r>
              <a:rPr lang="en-IN" dirty="0"/>
              <a:t>biconditional Statements</a:t>
            </a:r>
          </a:p>
          <a:p>
            <a:pPr algn="just"/>
            <a:r>
              <a:rPr lang="en-US" dirty="0"/>
              <a:t>learn what is equivalence of </a:t>
            </a:r>
            <a:r>
              <a:rPr lang="en-IN" dirty="0"/>
              <a:t>formulas</a:t>
            </a:r>
          </a:p>
          <a:p>
            <a:pPr algn="just"/>
            <a:r>
              <a:rPr lang="en-IN" dirty="0"/>
              <a:t>understand what is </a:t>
            </a:r>
            <a:r>
              <a:rPr lang="en-US" dirty="0"/>
              <a:t> duality law.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234D-7FA8-4797-A6D5-7A252977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BICONDITIONALS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E133F0-B8B2-4C79-859B-FC1EBA0B08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Let p and q be propositions. The biconditional statement </a:t>
                </a: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q </a:t>
                </a:r>
                <a:r>
                  <a:rPr lang="en-US" dirty="0"/>
                  <a:t>is the proposition </a:t>
                </a:r>
              </a:p>
              <a:p>
                <a:pPr marL="0" indent="0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“p if and only if q.” </a:t>
                </a:r>
              </a:p>
              <a:p>
                <a:pPr marL="0" indent="0">
                  <a:buNone/>
                </a:pPr>
                <a:r>
                  <a:rPr lang="en-US" dirty="0"/>
                  <a:t>The biconditional</a:t>
                </a:r>
                <a:br>
                  <a:rPr lang="en-US" dirty="0"/>
                </a:br>
                <a:r>
                  <a:rPr lang="en-US" dirty="0"/>
                  <a:t> statement 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q is true</a:t>
                </a:r>
                <a:br>
                  <a:rPr lang="en-US" dirty="0"/>
                </a:br>
                <a:r>
                  <a:rPr lang="en-US" dirty="0"/>
                  <a:t> when p and q  have  the</a:t>
                </a:r>
                <a:br>
                  <a:rPr lang="en-US" dirty="0"/>
                </a:br>
                <a:r>
                  <a:rPr lang="en-US" dirty="0"/>
                  <a:t> same truth values,  and</a:t>
                </a:r>
                <a:br>
                  <a:rPr lang="en-US" dirty="0"/>
                </a:br>
                <a:r>
                  <a:rPr lang="en-US" dirty="0"/>
                  <a:t> is false otherwise.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E133F0-B8B2-4C79-859B-FC1EBA0B0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FB72C89-B77C-44C8-960D-1EDFD9F9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742" y="3672813"/>
            <a:ext cx="4311872" cy="2914800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29981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234D-7FA8-4797-A6D5-7A252977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BICONDITIONALS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133F0-B8B2-4C79-859B-FC1EBA0B0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Biconditional statements are also called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bi-implications.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E39C9-3818-4554-810F-9C3D1A882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806" y="3429000"/>
            <a:ext cx="4311872" cy="2914800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81373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234D-7FA8-4797-A6D5-7A252977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BICONDITIONALS – 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E133F0-B8B2-4C79-859B-FC1EBA0B08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Let p be the statement “You can take the flight,” and let q be the statement “You buy a ticket.”</a:t>
                </a:r>
              </a:p>
              <a:p>
                <a:pPr marL="0" indent="0">
                  <a:buNone/>
                </a:pPr>
                <a:r>
                  <a:rPr lang="en-US" dirty="0"/>
                  <a:t>Then 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q is the </a:t>
                </a:r>
                <a:r>
                  <a:rPr lang="en-IN" dirty="0"/>
                  <a:t>statements </a:t>
                </a:r>
                <a:r>
                  <a:rPr lang="en-US" dirty="0"/>
                  <a:t>“You can take the flight </a:t>
                </a: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if and only if </a:t>
                </a:r>
                <a:r>
                  <a:rPr lang="en-US" dirty="0"/>
                  <a:t>you </a:t>
                </a:r>
                <a:br>
                  <a:rPr lang="en-US" dirty="0"/>
                </a:br>
                <a:r>
                  <a:rPr lang="en-US" dirty="0"/>
                  <a:t>buy a ticket.”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E133F0-B8B2-4C79-859B-FC1EBA0B0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5" r="-8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3FEC462-E9C0-4C54-8CE8-B853EA79C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38" y="3672813"/>
            <a:ext cx="4311872" cy="2914800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86517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234D-7FA8-4797-A6D5-7A252977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BICONDITIONALS –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133F0-B8B2-4C79-859B-FC1EBA0B0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statement is true if p and q are either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both true or both false</a:t>
            </a:r>
            <a:r>
              <a:rPr lang="en-US" dirty="0"/>
              <a:t>, that is, if you buy a ticket and can take the flight or if you do not buy a ticket and you cannot take the flight.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A19B30-30E0-471C-8D10-F676B1EDD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838" y="3672813"/>
            <a:ext cx="4311872" cy="2914800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60759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234D-7FA8-4797-A6D5-7A252977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BICONDITIONALS –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133F0-B8B2-4C79-859B-FC1EBA0B0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is false when p and q have opposite truth values, that is, when you do not buy a ticket, but you can take the flight (such as when you get a free trip) and when you  buy  a ticket </a:t>
            </a:r>
            <a:br>
              <a:rPr lang="en-US" dirty="0"/>
            </a:br>
            <a:r>
              <a:rPr lang="en-US" dirty="0"/>
              <a:t>but   you   cannot   take </a:t>
            </a:r>
            <a:br>
              <a:rPr lang="en-US" dirty="0"/>
            </a:br>
            <a:r>
              <a:rPr lang="en-US" dirty="0"/>
              <a:t>the 	light 	(such	      as </a:t>
            </a:r>
            <a:br>
              <a:rPr lang="en-US" dirty="0"/>
            </a:br>
            <a:r>
              <a:rPr lang="en-US" dirty="0"/>
              <a:t>when the airline bumps</a:t>
            </a:r>
            <a:br>
              <a:rPr lang="en-US" dirty="0"/>
            </a:br>
            <a:r>
              <a:rPr lang="en-US" dirty="0"/>
              <a:t> you).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2D35AA-DFBA-4797-8A4C-B3F728825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838" y="3672813"/>
            <a:ext cx="4311872" cy="2914800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90854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234D-7FA8-4797-A6D5-7A252977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BICONDITIONALS – 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E133F0-B8B2-4C79-859B-FC1EBA0B08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Ques:-</a:t>
                </a:r>
                <a:r>
                  <a:rPr lang="en-US" dirty="0"/>
                  <a:t>Let p and q be the propositions “Swimming at the New Jersey shore is allowed” and “Sharks have been spotted near the shore,” respectively. Express </a:t>
                </a:r>
                <a:r>
                  <a:rPr lang="en-US" dirty="0">
                    <a:solidFill>
                      <a:srgbClr val="FF0000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⇔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¬q </a:t>
                </a:r>
                <a:r>
                  <a:rPr lang="en-US" dirty="0"/>
                  <a:t>compound proposition as an English sentence.</a:t>
                </a:r>
              </a:p>
              <a:p>
                <a:pPr marL="0" indent="0" algn="just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</a:t>
                </a:r>
                <a:r>
                  <a:rPr lang="en-US" dirty="0"/>
                  <a:t>Swimming at the New Jersey shore is allowed </a:t>
                </a: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if and only if</a:t>
                </a:r>
                <a:r>
                  <a:rPr lang="en-US" dirty="0"/>
                  <a:t> sharks have </a:t>
                </a: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not</a:t>
                </a:r>
                <a:r>
                  <a:rPr lang="en-US" dirty="0"/>
                  <a:t> been spotted near the shore.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E133F0-B8B2-4C79-859B-FC1EBA0B0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7" r="-1434" b="-15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013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234D-7FA8-4797-A6D5-7A252977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 of Compound Propositions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133F0-B8B2-4C79-859B-FC1EBA0B0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189063"/>
            <a:ext cx="5450919" cy="30748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Construct the truth table of the compound proposition</a:t>
            </a:r>
            <a:br>
              <a:rPr lang="en-US" sz="2600" dirty="0"/>
            </a:br>
            <a:r>
              <a:rPr lang="en-US" sz="2600" dirty="0"/>
              <a:t> (p ∨¬q) → (p ∧ q).</a:t>
            </a:r>
          </a:p>
          <a:p>
            <a:pPr marL="0" indent="0">
              <a:buNone/>
            </a:pPr>
            <a:r>
              <a:rPr lang="en-US" sz="2600" dirty="0"/>
              <a:t>The Truth Table of </a:t>
            </a:r>
            <a:r>
              <a:rPr lang="en-US" sz="2600" dirty="0">
                <a:solidFill>
                  <a:srgbClr val="FF0000"/>
                </a:solidFill>
              </a:rPr>
              <a:t>(p ∨¬q) → (p ∧ q) </a:t>
            </a:r>
            <a:r>
              <a:rPr lang="en-US" sz="2600" dirty="0"/>
              <a:t>is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04C598-BA65-44D5-ABAF-9712F29CD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869" y="1171376"/>
            <a:ext cx="2165461" cy="2736991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5A1384-0D3B-45D1-979F-4A302CDE94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068"/>
          <a:stretch/>
        </p:blipFill>
        <p:spPr>
          <a:xfrm>
            <a:off x="598317" y="4359644"/>
            <a:ext cx="8299877" cy="2106517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63572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234D-7FA8-4797-A6D5-7A252977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 of Compound Propositions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6DE024-597F-46EE-8AE6-344ABDC2C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358" y="1253641"/>
            <a:ext cx="3276768" cy="2582863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5A2066-07B6-45B1-B64B-704126F86B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068"/>
          <a:stretch/>
        </p:blipFill>
        <p:spPr>
          <a:xfrm>
            <a:off x="598317" y="4328465"/>
            <a:ext cx="8299877" cy="2106517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6A97A8-DB81-43F8-8484-DFA32D745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189063"/>
            <a:ext cx="5450919" cy="30748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Construct the truth table of the compound proposition</a:t>
            </a:r>
            <a:br>
              <a:rPr lang="en-US" sz="2600" dirty="0"/>
            </a:br>
            <a:r>
              <a:rPr lang="en-US" sz="2600" dirty="0"/>
              <a:t> (p ∨¬q) → (p ∧ q).</a:t>
            </a:r>
          </a:p>
          <a:p>
            <a:pPr marL="0" indent="0">
              <a:buNone/>
            </a:pPr>
            <a:r>
              <a:rPr lang="en-US" sz="2600" dirty="0"/>
              <a:t>The Truth Table of </a:t>
            </a:r>
            <a:r>
              <a:rPr lang="en-US" sz="2600" dirty="0">
                <a:solidFill>
                  <a:srgbClr val="FF0000"/>
                </a:solidFill>
              </a:rPr>
              <a:t>(p ∨¬q) → (p ∧ q) </a:t>
            </a:r>
            <a:r>
              <a:rPr lang="en-US" sz="2600" dirty="0"/>
              <a:t>is </a:t>
            </a:r>
          </a:p>
        </p:txBody>
      </p:sp>
    </p:spTree>
    <p:extLst>
      <p:ext uri="{BB962C8B-B14F-4D97-AF65-F5344CB8AC3E}">
        <p14:creationId xmlns:p14="http://schemas.microsoft.com/office/powerpoint/2010/main" val="394831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234D-7FA8-4797-A6D5-7A252977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 of Compound Propositions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ACF914-A2D6-4398-8EA1-703A001275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068"/>
          <a:stretch/>
        </p:blipFill>
        <p:spPr>
          <a:xfrm>
            <a:off x="598317" y="4366228"/>
            <a:ext cx="8299877" cy="2106517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93D1BB-CEEF-4DB5-9D8A-DE89303AE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221" y="1291404"/>
            <a:ext cx="3072574" cy="2556569"/>
          </a:xfrm>
          <a:prstGeom prst="rect">
            <a:avLst/>
          </a:prstGeom>
          <a:ln w="76200">
            <a:solidFill>
              <a:srgbClr val="00B6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60F19D-D956-49AE-85B3-FADCD3C94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189063"/>
            <a:ext cx="5450919" cy="30748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Construct the truth table of the compound proposition</a:t>
            </a:r>
            <a:br>
              <a:rPr lang="en-US" sz="2600" dirty="0"/>
            </a:br>
            <a:r>
              <a:rPr lang="en-US" sz="2600" dirty="0"/>
              <a:t> (p ∨¬q) → (p ∧ q).</a:t>
            </a:r>
          </a:p>
          <a:p>
            <a:pPr marL="0" indent="0">
              <a:buNone/>
            </a:pPr>
            <a:r>
              <a:rPr lang="en-US" sz="2600" dirty="0"/>
              <a:t>The Truth Table of </a:t>
            </a:r>
            <a:r>
              <a:rPr lang="en-US" sz="2600" dirty="0">
                <a:solidFill>
                  <a:srgbClr val="FF0000"/>
                </a:solidFill>
              </a:rPr>
              <a:t>(p ∨¬q) → (p ∧ q) </a:t>
            </a:r>
            <a:r>
              <a:rPr lang="en-US" sz="2600" dirty="0"/>
              <a:t>is </a:t>
            </a:r>
          </a:p>
        </p:txBody>
      </p:sp>
    </p:spTree>
    <p:extLst>
      <p:ext uri="{BB962C8B-B14F-4D97-AF65-F5344CB8AC3E}">
        <p14:creationId xmlns:p14="http://schemas.microsoft.com/office/powerpoint/2010/main" val="215414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234D-7FA8-4797-A6D5-7A252977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 of Compound Propositions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042432-1218-4337-9080-D01FD28A7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160" y="1248697"/>
            <a:ext cx="3283119" cy="2573752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BFABFA-D433-49D3-8548-93EBECFC49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068"/>
          <a:stretch/>
        </p:blipFill>
        <p:spPr>
          <a:xfrm>
            <a:off x="598317" y="4372949"/>
            <a:ext cx="8299877" cy="2106517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3D0EF7E-D6D7-44C7-AC64-2A69C7B86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189063"/>
            <a:ext cx="5450919" cy="30748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Construct the truth table of the compound proposition</a:t>
            </a:r>
            <a:br>
              <a:rPr lang="en-US" sz="2600" dirty="0"/>
            </a:br>
            <a:r>
              <a:rPr lang="en-US" sz="2600" dirty="0"/>
              <a:t> (p ∨¬q) → (p ∧ q).</a:t>
            </a:r>
          </a:p>
          <a:p>
            <a:pPr marL="0" indent="0">
              <a:buNone/>
            </a:pPr>
            <a:r>
              <a:rPr lang="en-US" sz="2600" dirty="0"/>
              <a:t>The Truth Table of </a:t>
            </a:r>
            <a:r>
              <a:rPr lang="en-US" sz="2600" dirty="0">
                <a:solidFill>
                  <a:srgbClr val="FF0000"/>
                </a:solidFill>
              </a:rPr>
              <a:t>(p ∨¬q) → (p ∧ q) </a:t>
            </a:r>
            <a:r>
              <a:rPr lang="en-US" sz="2600" dirty="0"/>
              <a:t>is </a:t>
            </a:r>
          </a:p>
        </p:txBody>
      </p:sp>
    </p:spTree>
    <p:extLst>
      <p:ext uri="{BB962C8B-B14F-4D97-AF65-F5344CB8AC3E}">
        <p14:creationId xmlns:p14="http://schemas.microsoft.com/office/powerpoint/2010/main" val="188717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4A49-3635-49FF-AA86-491E03D0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Tautology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E06B-5BF2-4E3D-AC03-A08D74D38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DEFINITION:- </a:t>
            </a:r>
            <a:r>
              <a:rPr lang="en-US" dirty="0"/>
              <a:t>A compound proposition that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always true</a:t>
            </a:r>
            <a:r>
              <a:rPr lang="en-US" dirty="0"/>
              <a:t>, no matter what the truth values of the propositional variables that occur in it, is called a tautology.</a:t>
            </a:r>
          </a:p>
          <a:p>
            <a:pPr marL="0" indent="0" algn="just">
              <a:buNone/>
            </a:pPr>
            <a:r>
              <a:rPr lang="en-US" dirty="0"/>
              <a:t>Example of a </a:t>
            </a:r>
            <a:r>
              <a:rPr lang="en-US" dirty="0">
                <a:solidFill>
                  <a:srgbClr val="FF0000"/>
                </a:solidFill>
              </a:rPr>
              <a:t>Tautology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0ED3F0-8CF9-41CA-A0AD-517F7E429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323" y="4821964"/>
            <a:ext cx="2997354" cy="1289116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013405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4A49-3635-49FF-AA86-491E03D0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Contradiction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E06B-5BF2-4E3D-AC03-A08D74D38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DEFINITION:- </a:t>
            </a:r>
            <a:r>
              <a:rPr lang="en-US" dirty="0"/>
              <a:t>A compound proposition that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always false </a:t>
            </a:r>
            <a:r>
              <a:rPr lang="en-US" dirty="0"/>
              <a:t>is called a contradiction. </a:t>
            </a:r>
          </a:p>
          <a:p>
            <a:pPr marL="0" indent="0">
              <a:buNone/>
            </a:pPr>
            <a:r>
              <a:rPr lang="en-US" dirty="0"/>
              <a:t>Example of a </a:t>
            </a:r>
            <a:r>
              <a:rPr lang="en-US" dirty="0">
                <a:solidFill>
                  <a:srgbClr val="FF0000"/>
                </a:solidFill>
              </a:rPr>
              <a:t>Contradiction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7E5B6C-A791-4EDE-A2AA-42225A61703A}"/>
              </a:ext>
            </a:extLst>
          </p:cNvPr>
          <p:cNvGrpSpPr/>
          <p:nvPr/>
        </p:nvGrpSpPr>
        <p:grpSpPr>
          <a:xfrm>
            <a:off x="2702912" y="4301135"/>
            <a:ext cx="2883677" cy="1308167"/>
            <a:chOff x="2603521" y="4371048"/>
            <a:chExt cx="2883677" cy="1308167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E3E0254-C72D-48A7-8BA3-0D140E84BF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8555"/>
            <a:stretch/>
          </p:blipFill>
          <p:spPr>
            <a:xfrm>
              <a:off x="4055432" y="4371048"/>
              <a:ext cx="1431766" cy="1308167"/>
            </a:xfrm>
            <a:prstGeom prst="rect">
              <a:avLst/>
            </a:prstGeom>
            <a:ln w="57150">
              <a:solidFill>
                <a:srgbClr val="00B6CC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EA4CA20-52E1-419C-BF81-CCE75F4ABB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5717"/>
            <a:stretch/>
          </p:blipFill>
          <p:spPr>
            <a:xfrm>
              <a:off x="2603521" y="4371048"/>
              <a:ext cx="1560975" cy="1308167"/>
            </a:xfrm>
            <a:prstGeom prst="rect">
              <a:avLst/>
            </a:prstGeom>
            <a:ln w="57150">
              <a:solidFill>
                <a:srgbClr val="00B6CC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</p:pic>
      </p:grpSp>
    </p:spTree>
    <p:extLst>
      <p:ext uri="{BB962C8B-B14F-4D97-AF65-F5344CB8AC3E}">
        <p14:creationId xmlns:p14="http://schemas.microsoft.com/office/powerpoint/2010/main" val="588243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4A49-3635-49FF-AA86-491E03D0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Contingency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E06B-5BF2-4E3D-AC03-A08D74D38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DEFINITION:- </a:t>
            </a:r>
            <a:r>
              <a:rPr lang="en-US" dirty="0"/>
              <a:t>A compound proposition that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neither a tautology nor a contradiction </a:t>
            </a:r>
            <a:r>
              <a:rPr lang="en-US" dirty="0"/>
              <a:t>is called a </a:t>
            </a:r>
            <a:r>
              <a:rPr lang="en-US" dirty="0">
                <a:solidFill>
                  <a:srgbClr val="FF0000"/>
                </a:solidFill>
              </a:rPr>
              <a:t>contingency</a:t>
            </a:r>
            <a:r>
              <a:rPr lang="en-US" dirty="0"/>
              <a:t>. As we can see in the truth table for conditional statement p → q.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45D748-250A-4728-86CA-4026DCD29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231"/>
          <a:stretch/>
        </p:blipFill>
        <p:spPr>
          <a:xfrm>
            <a:off x="2785521" y="4373217"/>
            <a:ext cx="3283119" cy="1589778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22651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6049-1FD1-4308-BD88-A49A41AF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Equivalence of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E1F37-F20C-459A-BD93-F6E6EF280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000" dirty="0"/>
              <a:t>The compound propositions p and q are called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logically equivalent </a:t>
            </a:r>
            <a:r>
              <a:rPr lang="en-US" sz="3000" dirty="0"/>
              <a:t>if p ⇔ q is a tautology.</a:t>
            </a:r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r>
              <a:rPr lang="en-US" sz="3000" dirty="0"/>
              <a:t>The notation p ≡ q denotes that p and q are logically equivalent.</a:t>
            </a:r>
            <a:endParaRPr lang="en-IN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89681-9017-4527-BB65-449896AA0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064" y="2683566"/>
            <a:ext cx="4311872" cy="2632356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34415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EA6B2-67DC-4425-9A59-B69B1E3B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Equivalence of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C3D1F-EFF8-4115-B94E-CEA93EE77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Remark 1:</a:t>
            </a:r>
            <a:r>
              <a:rPr lang="en-US" dirty="0"/>
              <a:t> The symbol ≡ is not a logical connective, and p ≡ q is not a compound proposition but rather is the statement that p ⇔ q is a tautology.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26C173-9640-4316-BC5A-785E69EFC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806" y="3429000"/>
            <a:ext cx="4311872" cy="2914800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8204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EA6B2-67DC-4425-9A59-B69B1E3B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Equivalence of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C3D1F-EFF8-4115-B94E-CEA93EE77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Remark 2:  </a:t>
            </a:r>
            <a:r>
              <a:rPr lang="en-US" dirty="0"/>
              <a:t>The symbol ⇔ is sometimes used instead of ≡ to denote logical equivalence.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One way to determine whether two compound propositions are equivalent is to use a truth table.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In particular, the compound propositions p and q are equivalent if and only if the columns giving their truth values agree. 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89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90EA-5BF6-4DEB-BB7C-3D8D7233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Equivalence of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7C765-CF67-4C90-97E5-28EB9A576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Following Example illustrates this method to establish an extremely important and useful logical equivalence, namely, that of ¬(p ∨ q) with ¬p ∧¬q.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This logical equivalence is one of the two De Morgan laws, shown in the following Table, named after the English mathematician Augustus De Morgan, of the mid-nineteenth century.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6619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6E9A-5C3A-4A1B-9921-FF5FD39D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Equivalence of formulas –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F6C75-88E5-4A09-984D-513776996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3284188" cy="2641736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De Morgan’s Laws.</a:t>
            </a:r>
          </a:p>
          <a:p>
            <a:pPr marL="0" indent="0" algn="just">
              <a:buNone/>
            </a:pPr>
            <a:r>
              <a:rPr lang="en-IN" dirty="0"/>
              <a:t>1. ¬(p ∧ q) ≡ ¬p ∨¬q</a:t>
            </a:r>
          </a:p>
          <a:p>
            <a:pPr marL="0" indent="0" algn="just">
              <a:buNone/>
            </a:pPr>
            <a:r>
              <a:rPr lang="en-IN" dirty="0"/>
              <a:t>2. ¬(p ∨ q) ≡ ¬p ∧¬q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C9C9B7-4E8D-4DDA-89A3-DB8EED29DC13}"/>
              </a:ext>
            </a:extLst>
          </p:cNvPr>
          <p:cNvSpPr txBox="1"/>
          <p:nvPr/>
        </p:nvSpPr>
        <p:spPr>
          <a:xfrm>
            <a:off x="3975652" y="1388280"/>
            <a:ext cx="5039139" cy="1943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</a:t>
            </a:r>
            <a:r>
              <a:rPr lang="en-US" sz="2800" dirty="0"/>
              <a:t> Show that </a:t>
            </a:r>
            <a:br>
              <a:rPr lang="en-US" sz="2800" dirty="0"/>
            </a:br>
            <a:r>
              <a:rPr lang="en-US" sz="2800" dirty="0"/>
              <a:t>¬(p ∨ q) and ¬p ∧¬q are logically  equivalent.</a:t>
            </a:r>
            <a:endParaRPr lang="en-IN" sz="28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0760E3-F9FC-480E-AD3F-1C824A3357D4}"/>
              </a:ext>
            </a:extLst>
          </p:cNvPr>
          <p:cNvGrpSpPr/>
          <p:nvPr/>
        </p:nvGrpSpPr>
        <p:grpSpPr>
          <a:xfrm>
            <a:off x="393290" y="3890434"/>
            <a:ext cx="8274475" cy="2632315"/>
            <a:chOff x="434762" y="3890434"/>
            <a:chExt cx="8274475" cy="263231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E828FD9-D5BD-499F-89FC-7E5B6785DA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0277"/>
            <a:stretch/>
          </p:blipFill>
          <p:spPr>
            <a:xfrm>
              <a:off x="434762" y="4416690"/>
              <a:ext cx="8274475" cy="2106059"/>
            </a:xfrm>
            <a:prstGeom prst="rect">
              <a:avLst/>
            </a:prstGeom>
            <a:ln w="57150">
              <a:solidFill>
                <a:srgbClr val="00B6CC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BF8E513-3996-4F90-8A90-2CB833742D88}"/>
                </a:ext>
              </a:extLst>
            </p:cNvPr>
            <p:cNvSpPr txBox="1"/>
            <p:nvPr/>
          </p:nvSpPr>
          <p:spPr>
            <a:xfrm>
              <a:off x="434763" y="3890434"/>
              <a:ext cx="8274474" cy="492443"/>
            </a:xfrm>
            <a:prstGeom prst="rect">
              <a:avLst/>
            </a:prstGeom>
            <a:noFill/>
            <a:ln w="57150">
              <a:solidFill>
                <a:srgbClr val="00B6CC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2600" dirty="0"/>
                <a:t>The truth table for  ¬(p ∨ q) and ¬p ∧¬q is:-</a:t>
              </a:r>
              <a:endParaRPr lang="en-IN" sz="2600" dirty="0"/>
            </a:p>
          </p:txBody>
        </p:sp>
      </p:grpSp>
    </p:spTree>
    <p:extLst>
      <p:ext uri="{BB962C8B-B14F-4D97-AF65-F5344CB8AC3E}">
        <p14:creationId xmlns:p14="http://schemas.microsoft.com/office/powerpoint/2010/main" val="94091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1B67-8766-46B4-99E5-DF8B87D44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Equivalence of formulas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98757-FF5D-4639-84BB-B0CC9F4A0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Show that p → q and ¬p ∨ q are logically equivalent.</a:t>
            </a:r>
          </a:p>
          <a:p>
            <a:pPr marL="0" indent="0" algn="just">
              <a:buNone/>
            </a:pPr>
            <a:r>
              <a:rPr lang="en-US" dirty="0"/>
              <a:t>Truth Tables for ¬p ∨ q and p → q is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BD2C6B-8A52-472E-8B5E-A336B034B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727" y="2986617"/>
            <a:ext cx="7067913" cy="2622685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52165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8B0A5-6AC4-43C0-9DD1-699EB63B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Duality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81E0EF-ECC1-4DB8-92C1-76F806B518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The dual of a compound proposition that contains only the logical operators ∨, ∧, and ¬ is the compound proposition obtained by replacing each ∨ by ∧, each ∧ by ∨, each T by F, and each F by T. 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The dual of s is 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81E0EF-ECC1-4DB8-92C1-76F806B51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90" r="-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710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8F89-BE5D-4C2F-A2F8-F5E5B8491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Duality law –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8B1A-5D5E-4CA9-A516-C47835951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Find the dual of the compound proposition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p ∧¬q ∧¬r.</a:t>
            </a: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p ∨ ¬q ∨ ¬r(replacing each ∨ by ∧, each ∧ by ∨)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888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8F89-BE5D-4C2F-A2F8-F5E5B8491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Duality law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8B1A-5D5E-4CA9-A516-C47835951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Find the dual of the compound proposition </a:t>
            </a:r>
            <a:r>
              <a:rPr lang="en-US" dirty="0">
                <a:solidFill>
                  <a:srgbClr val="FF0000"/>
                </a:solidFill>
              </a:rPr>
              <a:t>(p ∧ q ∧ r) ∨ s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(p ∨ q ∨ r) ∧ s(replacing each ∨ by ∧, each ∧ by ∨)</a:t>
            </a:r>
          </a:p>
        </p:txBody>
      </p:sp>
    </p:spTree>
    <p:extLst>
      <p:ext uri="{BB962C8B-B14F-4D97-AF65-F5344CB8AC3E}">
        <p14:creationId xmlns:p14="http://schemas.microsoft.com/office/powerpoint/2010/main" val="900573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8F89-BE5D-4C2F-A2F8-F5E5B8491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Duality law – 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8B1A-5D5E-4CA9-A516-C47835951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Find the dual of the compound proposition </a:t>
            </a:r>
            <a:r>
              <a:rPr lang="en-US" dirty="0">
                <a:solidFill>
                  <a:srgbClr val="FF0000"/>
                </a:solidFill>
              </a:rPr>
              <a:t>(p ∨ F) ∧ (q ∨ T)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fr-FR" dirty="0"/>
              <a:t>(p</a:t>
            </a:r>
            <a:r>
              <a:rPr lang="en-US" dirty="0"/>
              <a:t> ∧ </a:t>
            </a:r>
            <a:r>
              <a:rPr lang="fr-FR" dirty="0"/>
              <a:t>T)</a:t>
            </a:r>
            <a:r>
              <a:rPr lang="en-US" dirty="0"/>
              <a:t> ∨</a:t>
            </a:r>
            <a:r>
              <a:rPr lang="fr-FR" dirty="0"/>
              <a:t>(q</a:t>
            </a:r>
            <a:r>
              <a:rPr lang="en-US" dirty="0"/>
              <a:t> ∧ </a:t>
            </a:r>
            <a:r>
              <a:rPr lang="fr-FR" dirty="0"/>
              <a:t>F)(</a:t>
            </a:r>
            <a:r>
              <a:rPr lang="en-US" dirty="0"/>
              <a:t>replacing each ∨ by ∧, each ∧ by ∨, each T by F, and each F by T. </a:t>
            </a:r>
            <a:r>
              <a:rPr lang="fr-FR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431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1614</TotalTime>
  <Words>1111</Words>
  <Application>Microsoft Office PowerPoint</Application>
  <PresentationFormat>On-screen Show (4:3)</PresentationFormat>
  <Paragraphs>83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</vt:lpstr>
      <vt:lpstr>Bahnschrift</vt:lpstr>
      <vt:lpstr>Bahnschrift SemiBold</vt:lpstr>
      <vt:lpstr>Calibri</vt:lpstr>
      <vt:lpstr>Cambria Math</vt:lpstr>
      <vt:lpstr>Office Theme</vt:lpstr>
      <vt:lpstr>EMTH403</vt:lpstr>
      <vt:lpstr>Lecture Outcomes</vt:lpstr>
      <vt:lpstr>BICONDITIONALS</vt:lpstr>
      <vt:lpstr>BICONDITIONALS</vt:lpstr>
      <vt:lpstr>BICONDITIONALS – Example 1</vt:lpstr>
      <vt:lpstr>BICONDITIONALS – Example 1</vt:lpstr>
      <vt:lpstr>BICONDITIONALS – Example 1</vt:lpstr>
      <vt:lpstr>BICONDITIONALS – Example 2</vt:lpstr>
      <vt:lpstr>Truth Tables of Compound Propositions</vt:lpstr>
      <vt:lpstr>Truth Tables of Compound Propositions</vt:lpstr>
      <vt:lpstr>Truth Tables of Compound Propositions</vt:lpstr>
      <vt:lpstr>Truth Tables of Compound Propositions</vt:lpstr>
      <vt:lpstr>Tautology</vt:lpstr>
      <vt:lpstr>Contradiction</vt:lpstr>
      <vt:lpstr>Contingency</vt:lpstr>
      <vt:lpstr>Equivalence of formulas</vt:lpstr>
      <vt:lpstr>Equivalence of formulas</vt:lpstr>
      <vt:lpstr>Equivalence of formulas</vt:lpstr>
      <vt:lpstr>Equivalence of formulas</vt:lpstr>
      <vt:lpstr>Equivalence of formulas – Example 1</vt:lpstr>
      <vt:lpstr>Equivalence of formulas – Example 2</vt:lpstr>
      <vt:lpstr>Duality law</vt:lpstr>
      <vt:lpstr>Duality law – Example 1</vt:lpstr>
      <vt:lpstr>Duality law – Example 2</vt:lpstr>
      <vt:lpstr>Duality law – Example 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182</cp:revision>
  <dcterms:created xsi:type="dcterms:W3CDTF">2020-12-04T05:20:56Z</dcterms:created>
  <dcterms:modified xsi:type="dcterms:W3CDTF">2020-12-10T08:40:35Z</dcterms:modified>
</cp:coreProperties>
</file>