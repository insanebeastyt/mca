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handoutMasterIdLst>
    <p:handoutMasterId r:id="rId23"/>
  </p:handoutMasterIdLst>
  <p:sldIdLst>
    <p:sldId id="256" r:id="rId2"/>
    <p:sldId id="257" r:id="rId3"/>
    <p:sldId id="288" r:id="rId4"/>
    <p:sldId id="289" r:id="rId5"/>
    <p:sldId id="291" r:id="rId6"/>
    <p:sldId id="298" r:id="rId7"/>
    <p:sldId id="292" r:id="rId8"/>
    <p:sldId id="293" r:id="rId9"/>
    <p:sldId id="299" r:id="rId10"/>
    <p:sldId id="300" r:id="rId11"/>
    <p:sldId id="295" r:id="rId12"/>
    <p:sldId id="301" r:id="rId13"/>
    <p:sldId id="290" r:id="rId14"/>
    <p:sldId id="296" r:id="rId15"/>
    <p:sldId id="302" r:id="rId16"/>
    <p:sldId id="306" r:id="rId17"/>
    <p:sldId id="303" r:id="rId18"/>
    <p:sldId id="307" r:id="rId19"/>
    <p:sldId id="304" r:id="rId20"/>
    <p:sldId id="25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13A8035-ECEF-47C4-90A1-0C3215DAC7C2}">
          <p14:sldIdLst>
            <p14:sldId id="256"/>
            <p14:sldId id="257"/>
            <p14:sldId id="288"/>
            <p14:sldId id="289"/>
            <p14:sldId id="291"/>
            <p14:sldId id="298"/>
            <p14:sldId id="292"/>
            <p14:sldId id="293"/>
            <p14:sldId id="299"/>
            <p14:sldId id="300"/>
            <p14:sldId id="295"/>
            <p14:sldId id="301"/>
            <p14:sldId id="290"/>
            <p14:sldId id="296"/>
            <p14:sldId id="302"/>
            <p14:sldId id="306"/>
            <p14:sldId id="303"/>
            <p14:sldId id="307"/>
            <p14:sldId id="304"/>
            <p14:sldId id="25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A202B"/>
    <a:srgbClr val="00B6CC"/>
    <a:srgbClr val="4472C4"/>
    <a:srgbClr val="DDDDDD"/>
    <a:srgbClr val="BBBBBB"/>
    <a:srgbClr val="00A2B8"/>
    <a:srgbClr val="00B451"/>
    <a:srgbClr val="CA628C"/>
    <a:srgbClr val="71EEFF"/>
    <a:srgbClr val="89E2E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8" d="100"/>
          <a:sy n="68" d="100"/>
        </p:scale>
        <p:origin x="1386" y="72"/>
      </p:cViewPr>
      <p:guideLst/>
    </p:cSldViewPr>
  </p:slideViewPr>
  <p:notesTextViewPr>
    <p:cViewPr>
      <p:scale>
        <a:sx n="1" d="1"/>
        <a:sy n="1" d="1"/>
      </p:scale>
      <p:origin x="0" y="0"/>
    </p:cViewPr>
  </p:notesTextViewPr>
  <p:notesViewPr>
    <p:cSldViewPr snapToGrid="0">
      <p:cViewPr varScale="1">
        <p:scale>
          <a:sx n="49" d="100"/>
          <a:sy n="49" d="100"/>
        </p:scale>
        <p:origin x="1884" y="3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2EA1649-745C-4109-9817-AAA47A21B367}" type="doc">
      <dgm:prSet loTypeId="urn:microsoft.com/office/officeart/2005/8/layout/venn3" loCatId="relationship" qsTypeId="urn:microsoft.com/office/officeart/2005/8/quickstyle/simple3" qsCatId="simple" csTypeId="urn:microsoft.com/office/officeart/2005/8/colors/accent1_2" csCatId="accent1" phldr="1"/>
      <dgm:spPr/>
      <dgm:t>
        <a:bodyPr/>
        <a:lstStyle/>
        <a:p>
          <a:endParaRPr lang="en-IN"/>
        </a:p>
      </dgm:t>
    </dgm:pt>
    <dgm:pt modelId="{96925D4E-6F71-487F-9B52-563A808AA85E}">
      <dgm:prSet phldrT="[Text]" custT="1"/>
      <dgm:spPr/>
      <dgm:t>
        <a:bodyPr/>
        <a:lstStyle/>
        <a:p>
          <a:r>
            <a:rPr lang="en-US" sz="2400" dirty="0">
              <a:solidFill>
                <a:srgbClr val="FF0000"/>
              </a:solidFill>
            </a:rPr>
            <a:t>220 of these applicants majored in computer science,</a:t>
          </a:r>
          <a:endParaRPr lang="en-IN" sz="2400" dirty="0">
            <a:solidFill>
              <a:srgbClr val="FF0000"/>
            </a:solidFill>
          </a:endParaRPr>
        </a:p>
      </dgm:t>
    </dgm:pt>
    <dgm:pt modelId="{7BFDAD6C-DCE8-4E3A-AFD3-20D81A68235C}" type="parTrans" cxnId="{ACA97A51-6DC3-433A-8351-F4DC3A6737B4}">
      <dgm:prSet/>
      <dgm:spPr/>
      <dgm:t>
        <a:bodyPr/>
        <a:lstStyle/>
        <a:p>
          <a:endParaRPr lang="en-IN"/>
        </a:p>
      </dgm:t>
    </dgm:pt>
    <dgm:pt modelId="{5FC09545-4C1E-4237-B741-7E584F989778}" type="sibTrans" cxnId="{ACA97A51-6DC3-433A-8351-F4DC3A6737B4}">
      <dgm:prSet/>
      <dgm:spPr/>
      <dgm:t>
        <a:bodyPr/>
        <a:lstStyle/>
        <a:p>
          <a:endParaRPr lang="en-IN"/>
        </a:p>
      </dgm:t>
    </dgm:pt>
    <dgm:pt modelId="{568F11D7-57D9-40C0-8EFE-D1BB0EE0C29A}">
      <dgm:prSet phldrT="[Text]" custT="1"/>
      <dgm:spPr/>
      <dgm:t>
        <a:bodyPr/>
        <a:lstStyle/>
        <a:p>
          <a:r>
            <a:rPr lang="en-US" sz="2400" dirty="0"/>
            <a:t>147 majored </a:t>
          </a:r>
        </a:p>
        <a:p>
          <a:r>
            <a:rPr lang="en-US" sz="2400" dirty="0"/>
            <a:t>in business</a:t>
          </a:r>
          <a:endParaRPr lang="en-IN" sz="2400" dirty="0"/>
        </a:p>
      </dgm:t>
    </dgm:pt>
    <dgm:pt modelId="{18618930-D521-468F-B7C7-34BA773AECB7}" type="parTrans" cxnId="{391E0E73-2AA7-4BCF-814E-D179F2293AA7}">
      <dgm:prSet/>
      <dgm:spPr/>
      <dgm:t>
        <a:bodyPr/>
        <a:lstStyle/>
        <a:p>
          <a:endParaRPr lang="en-IN"/>
        </a:p>
      </dgm:t>
    </dgm:pt>
    <dgm:pt modelId="{64C83073-7650-4906-BB50-59B1F788B69F}" type="sibTrans" cxnId="{391E0E73-2AA7-4BCF-814E-D179F2293AA7}">
      <dgm:prSet/>
      <dgm:spPr/>
      <dgm:t>
        <a:bodyPr/>
        <a:lstStyle/>
        <a:p>
          <a:endParaRPr lang="en-IN"/>
        </a:p>
      </dgm:t>
    </dgm:pt>
    <dgm:pt modelId="{C33D789B-D1AC-423D-8FED-92788B1BB4F6}" type="pres">
      <dgm:prSet presAssocID="{F2EA1649-745C-4109-9817-AAA47A21B367}" presName="Name0" presStyleCnt="0">
        <dgm:presLayoutVars>
          <dgm:dir/>
          <dgm:resizeHandles val="exact"/>
        </dgm:presLayoutVars>
      </dgm:prSet>
      <dgm:spPr/>
    </dgm:pt>
    <dgm:pt modelId="{A4ACF46D-9562-495D-BCEC-51E25F616A54}" type="pres">
      <dgm:prSet presAssocID="{96925D4E-6F71-487F-9B52-563A808AA85E}" presName="Name5" presStyleLbl="vennNode1" presStyleIdx="0" presStyleCnt="2">
        <dgm:presLayoutVars>
          <dgm:bulletEnabled val="1"/>
        </dgm:presLayoutVars>
      </dgm:prSet>
      <dgm:spPr/>
    </dgm:pt>
    <dgm:pt modelId="{BF18E66C-34E0-401C-82EF-12E70D891A57}" type="pres">
      <dgm:prSet presAssocID="{5FC09545-4C1E-4237-B741-7E584F989778}" presName="space" presStyleCnt="0"/>
      <dgm:spPr/>
    </dgm:pt>
    <dgm:pt modelId="{EBC84D51-2B03-4DEB-90B3-5463AFF7F29E}" type="pres">
      <dgm:prSet presAssocID="{568F11D7-57D9-40C0-8EFE-D1BB0EE0C29A}" presName="Name5" presStyleLbl="vennNode1" presStyleIdx="1" presStyleCnt="2" custLinFactNeighborX="-44622" custLinFactNeighborY="1944">
        <dgm:presLayoutVars>
          <dgm:bulletEnabled val="1"/>
        </dgm:presLayoutVars>
      </dgm:prSet>
      <dgm:spPr/>
    </dgm:pt>
  </dgm:ptLst>
  <dgm:cxnLst>
    <dgm:cxn modelId="{ACA97A51-6DC3-433A-8351-F4DC3A6737B4}" srcId="{F2EA1649-745C-4109-9817-AAA47A21B367}" destId="{96925D4E-6F71-487F-9B52-563A808AA85E}" srcOrd="0" destOrd="0" parTransId="{7BFDAD6C-DCE8-4E3A-AFD3-20D81A68235C}" sibTransId="{5FC09545-4C1E-4237-B741-7E584F989778}"/>
    <dgm:cxn modelId="{391E0E73-2AA7-4BCF-814E-D179F2293AA7}" srcId="{F2EA1649-745C-4109-9817-AAA47A21B367}" destId="{568F11D7-57D9-40C0-8EFE-D1BB0EE0C29A}" srcOrd="1" destOrd="0" parTransId="{18618930-D521-468F-B7C7-34BA773AECB7}" sibTransId="{64C83073-7650-4906-BB50-59B1F788B69F}"/>
    <dgm:cxn modelId="{4172DCAB-4985-43FE-9927-5151F5FA9489}" type="presOf" srcId="{568F11D7-57D9-40C0-8EFE-D1BB0EE0C29A}" destId="{EBC84D51-2B03-4DEB-90B3-5463AFF7F29E}" srcOrd="0" destOrd="0" presId="urn:microsoft.com/office/officeart/2005/8/layout/venn3"/>
    <dgm:cxn modelId="{FC6AF0B5-BF8A-4FB1-B50A-1A9BBE697906}" type="presOf" srcId="{96925D4E-6F71-487F-9B52-563A808AA85E}" destId="{A4ACF46D-9562-495D-BCEC-51E25F616A54}" srcOrd="0" destOrd="0" presId="urn:microsoft.com/office/officeart/2005/8/layout/venn3"/>
    <dgm:cxn modelId="{206D70E2-FCA2-4E2B-991D-FC04B7F30349}" type="presOf" srcId="{F2EA1649-745C-4109-9817-AAA47A21B367}" destId="{C33D789B-D1AC-423D-8FED-92788B1BB4F6}" srcOrd="0" destOrd="0" presId="urn:microsoft.com/office/officeart/2005/8/layout/venn3"/>
    <dgm:cxn modelId="{601C4871-1CF6-4824-924D-D17F82796E1C}" type="presParOf" srcId="{C33D789B-D1AC-423D-8FED-92788B1BB4F6}" destId="{A4ACF46D-9562-495D-BCEC-51E25F616A54}" srcOrd="0" destOrd="0" presId="urn:microsoft.com/office/officeart/2005/8/layout/venn3"/>
    <dgm:cxn modelId="{BA39A8AF-14BA-4889-B6EC-3C37D1DC7C51}" type="presParOf" srcId="{C33D789B-D1AC-423D-8FED-92788B1BB4F6}" destId="{BF18E66C-34E0-401C-82EF-12E70D891A57}" srcOrd="1" destOrd="0" presId="urn:microsoft.com/office/officeart/2005/8/layout/venn3"/>
    <dgm:cxn modelId="{A1960F87-74B6-4E9C-80BB-6EDDB59BD259}" type="presParOf" srcId="{C33D789B-D1AC-423D-8FED-92788B1BB4F6}" destId="{EBC84D51-2B03-4DEB-90B3-5463AFF7F29E}" srcOrd="2" destOrd="0" presId="urn:microsoft.com/office/officeart/2005/8/layout/ven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ACF46D-9562-495D-BCEC-51E25F616A54}">
      <dsp:nvSpPr>
        <dsp:cNvPr id="0" name=""/>
        <dsp:cNvSpPr/>
      </dsp:nvSpPr>
      <dsp:spPr>
        <a:xfrm>
          <a:off x="5761" y="556104"/>
          <a:ext cx="4090373" cy="4090373"/>
        </a:xfrm>
        <a:prstGeom prst="ellipse">
          <a:avLst/>
        </a:prstGeom>
        <a:gradFill rotWithShape="0">
          <a:gsLst>
            <a:gs pos="0">
              <a:schemeClr val="accent1">
                <a:alpha val="50000"/>
                <a:hueOff val="0"/>
                <a:satOff val="0"/>
                <a:lumOff val="0"/>
                <a:alphaOff val="0"/>
                <a:lumMod val="110000"/>
                <a:satMod val="105000"/>
                <a:tint val="67000"/>
              </a:schemeClr>
            </a:gs>
            <a:gs pos="50000">
              <a:schemeClr val="accent1">
                <a:alpha val="50000"/>
                <a:hueOff val="0"/>
                <a:satOff val="0"/>
                <a:lumOff val="0"/>
                <a:alphaOff val="0"/>
                <a:lumMod val="105000"/>
                <a:satMod val="103000"/>
                <a:tint val="73000"/>
              </a:schemeClr>
            </a:gs>
            <a:gs pos="100000">
              <a:schemeClr val="accent1">
                <a:alpha val="5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0">
          <a:scrgbClr r="0" g="0" b="0"/>
        </a:effectRef>
        <a:fontRef idx="minor">
          <a:schemeClr val="tx1"/>
        </a:fontRef>
      </dsp:style>
      <dsp:txBody>
        <a:bodyPr spcFirstLastPara="0" vert="horz" wrap="square" lIns="225107" tIns="30480" rIns="225107" bIns="3048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rgbClr val="FF0000"/>
              </a:solidFill>
            </a:rPr>
            <a:t>220 of these applicants majored in computer science,</a:t>
          </a:r>
          <a:endParaRPr lang="en-IN" sz="2400" kern="1200" dirty="0">
            <a:solidFill>
              <a:srgbClr val="FF0000"/>
            </a:solidFill>
          </a:endParaRPr>
        </a:p>
      </dsp:txBody>
      <dsp:txXfrm>
        <a:off x="604782" y="1155125"/>
        <a:ext cx="2892331" cy="2892331"/>
      </dsp:txXfrm>
    </dsp:sp>
    <dsp:sp modelId="{EBC84D51-2B03-4DEB-90B3-5463AFF7F29E}">
      <dsp:nvSpPr>
        <dsp:cNvPr id="0" name=""/>
        <dsp:cNvSpPr/>
      </dsp:nvSpPr>
      <dsp:spPr>
        <a:xfrm>
          <a:off x="2913018" y="635621"/>
          <a:ext cx="4090373" cy="4090373"/>
        </a:xfrm>
        <a:prstGeom prst="ellipse">
          <a:avLst/>
        </a:prstGeom>
        <a:gradFill rotWithShape="0">
          <a:gsLst>
            <a:gs pos="0">
              <a:schemeClr val="accent1">
                <a:alpha val="50000"/>
                <a:hueOff val="0"/>
                <a:satOff val="0"/>
                <a:lumOff val="0"/>
                <a:alphaOff val="0"/>
                <a:lumMod val="110000"/>
                <a:satMod val="105000"/>
                <a:tint val="67000"/>
              </a:schemeClr>
            </a:gs>
            <a:gs pos="50000">
              <a:schemeClr val="accent1">
                <a:alpha val="50000"/>
                <a:hueOff val="0"/>
                <a:satOff val="0"/>
                <a:lumOff val="0"/>
                <a:alphaOff val="0"/>
                <a:lumMod val="105000"/>
                <a:satMod val="103000"/>
                <a:tint val="73000"/>
              </a:schemeClr>
            </a:gs>
            <a:gs pos="100000">
              <a:schemeClr val="accent1">
                <a:alpha val="5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0">
          <a:scrgbClr r="0" g="0" b="0"/>
        </a:effectRef>
        <a:fontRef idx="minor">
          <a:schemeClr val="tx1"/>
        </a:fontRef>
      </dsp:style>
      <dsp:txBody>
        <a:bodyPr spcFirstLastPara="0" vert="horz" wrap="square" lIns="225107" tIns="30480" rIns="225107" bIns="30480" numCol="1" spcCol="1270" anchor="ctr" anchorCtr="0">
          <a:noAutofit/>
        </a:bodyPr>
        <a:lstStyle/>
        <a:p>
          <a:pPr marL="0" lvl="0" indent="0" algn="ctr" defTabSz="1066800">
            <a:lnSpc>
              <a:spcPct val="90000"/>
            </a:lnSpc>
            <a:spcBef>
              <a:spcPct val="0"/>
            </a:spcBef>
            <a:spcAft>
              <a:spcPct val="35000"/>
            </a:spcAft>
            <a:buNone/>
          </a:pPr>
          <a:r>
            <a:rPr lang="en-US" sz="2400" kern="1200" dirty="0"/>
            <a:t>147 majored </a:t>
          </a:r>
        </a:p>
        <a:p>
          <a:pPr marL="0" lvl="0" indent="0" algn="ctr" defTabSz="1066800">
            <a:lnSpc>
              <a:spcPct val="90000"/>
            </a:lnSpc>
            <a:spcBef>
              <a:spcPct val="0"/>
            </a:spcBef>
            <a:spcAft>
              <a:spcPct val="35000"/>
            </a:spcAft>
            <a:buNone/>
          </a:pPr>
          <a:r>
            <a:rPr lang="en-US" sz="2400" kern="1200" dirty="0"/>
            <a:t>in business</a:t>
          </a:r>
          <a:endParaRPr lang="en-IN" sz="2400" kern="1200" dirty="0"/>
        </a:p>
      </dsp:txBody>
      <dsp:txXfrm>
        <a:off x="3512039" y="1234642"/>
        <a:ext cx="2892331" cy="2892331"/>
      </dsp:txXfrm>
    </dsp:sp>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F218DD-E614-4E73-B564-F8E0717E89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34A14C21-F88B-4739-8F26-AA4DEEB64FA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511DE57-39A0-4263-A76B-22C3CE26C8E2}" type="datetimeFigureOut">
              <a:rPr lang="en-IN" smtClean="0"/>
              <a:t>30-12-2020</a:t>
            </a:fld>
            <a:endParaRPr lang="en-IN"/>
          </a:p>
        </p:txBody>
      </p:sp>
      <p:sp>
        <p:nvSpPr>
          <p:cNvPr id="4" name="Footer Placeholder 3">
            <a:extLst>
              <a:ext uri="{FF2B5EF4-FFF2-40B4-BE49-F238E27FC236}">
                <a16:creationId xmlns:a16="http://schemas.microsoft.com/office/drawing/2014/main" id="{5C435058-CB50-45CA-B183-2892DE4A396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530C2E93-0834-4027-BDF9-2CBEA154774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2BE93A7-2C4F-4D32-8895-81F23FF37AD6}" type="slidenum">
              <a:rPr lang="en-IN" smtClean="0"/>
              <a:t>‹#›</a:t>
            </a:fld>
            <a:endParaRPr lang="en-IN"/>
          </a:p>
        </p:txBody>
      </p:sp>
    </p:spTree>
    <p:extLst>
      <p:ext uri="{BB962C8B-B14F-4D97-AF65-F5344CB8AC3E}">
        <p14:creationId xmlns:p14="http://schemas.microsoft.com/office/powerpoint/2010/main" val="36868657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108F98-5817-4768-91E0-7435FEF7FFA1}" type="datetimeFigureOut">
              <a:rPr lang="en-IN" smtClean="0"/>
              <a:t>30-12-2020</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5C79E5-282A-4490-B8CC-DC7602F73C68}" type="slidenum">
              <a:rPr lang="en-IN" smtClean="0"/>
              <a:t>‹#›</a:t>
            </a:fld>
            <a:endParaRPr lang="en-IN"/>
          </a:p>
        </p:txBody>
      </p:sp>
    </p:spTree>
    <p:extLst>
      <p:ext uri="{BB962C8B-B14F-4D97-AF65-F5344CB8AC3E}">
        <p14:creationId xmlns:p14="http://schemas.microsoft.com/office/powerpoint/2010/main" val="20166000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822478E-B0D0-4983-A2EC-2C070D46FC4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1200"/>
          <a:stretch/>
        </p:blipFill>
        <p:spPr>
          <a:xfrm>
            <a:off x="-1" y="0"/>
            <a:ext cx="9144001" cy="6858000"/>
          </a:xfrm>
          <a:prstGeom prst="rect">
            <a:avLst/>
          </a:prstGeom>
        </p:spPr>
      </p:pic>
      <p:sp>
        <p:nvSpPr>
          <p:cNvPr id="2" name="Title 1"/>
          <p:cNvSpPr>
            <a:spLocks noGrp="1"/>
          </p:cNvSpPr>
          <p:nvPr>
            <p:ph type="ctrTitle" hasCustomPrompt="1"/>
          </p:nvPr>
        </p:nvSpPr>
        <p:spPr>
          <a:xfrm>
            <a:off x="4758813" y="1011007"/>
            <a:ext cx="4186084" cy="1001405"/>
          </a:xfrm>
        </p:spPr>
        <p:txBody>
          <a:bodyPr anchor="b">
            <a:noAutofit/>
          </a:bodyPr>
          <a:lstStyle>
            <a:lvl1pPr algn="r">
              <a:defRPr sz="7500">
                <a:ln>
                  <a:solidFill>
                    <a:srgbClr val="BA202B"/>
                  </a:solidFill>
                </a:ln>
                <a:solidFill>
                  <a:srgbClr val="CA628C"/>
                </a:solidFill>
                <a:effectLst>
                  <a:outerShdw blurRad="38100" dist="38100" dir="2700000" algn="tl">
                    <a:srgbClr val="000000">
                      <a:alpha val="43137"/>
                    </a:srgbClr>
                  </a:outerShdw>
                </a:effectLst>
              </a:defRPr>
            </a:lvl1pPr>
          </a:lstStyle>
          <a:p>
            <a:r>
              <a:rPr lang="en-US" dirty="0"/>
              <a:t>EMTH403</a:t>
            </a:r>
          </a:p>
        </p:txBody>
      </p:sp>
      <p:sp>
        <p:nvSpPr>
          <p:cNvPr id="3" name="Subtitle 2"/>
          <p:cNvSpPr>
            <a:spLocks noGrp="1"/>
          </p:cNvSpPr>
          <p:nvPr>
            <p:ph type="subTitle" idx="1" hasCustomPrompt="1"/>
          </p:nvPr>
        </p:nvSpPr>
        <p:spPr>
          <a:xfrm>
            <a:off x="4758813" y="2012412"/>
            <a:ext cx="4186083" cy="838943"/>
          </a:xfrm>
        </p:spPr>
        <p:txBody>
          <a:bodyPr>
            <a:normAutofit/>
          </a:bodyPr>
          <a:lstStyle>
            <a:lvl1pPr marL="0" indent="0" algn="r">
              <a:buNone/>
              <a:defRPr sz="2800">
                <a:solidFill>
                  <a:srgbClr val="00206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Mathematical Foundation for Computer Science</a:t>
            </a:r>
          </a:p>
        </p:txBody>
      </p:sp>
      <p:sp>
        <p:nvSpPr>
          <p:cNvPr id="9" name="TextBox 8">
            <a:extLst>
              <a:ext uri="{FF2B5EF4-FFF2-40B4-BE49-F238E27FC236}">
                <a16:creationId xmlns:a16="http://schemas.microsoft.com/office/drawing/2014/main" id="{FC6A5137-F38E-416C-BA01-890D57CBC895}"/>
              </a:ext>
            </a:extLst>
          </p:cNvPr>
          <p:cNvSpPr txBox="1"/>
          <p:nvPr userDrawn="1"/>
        </p:nvSpPr>
        <p:spPr>
          <a:xfrm>
            <a:off x="5369878" y="3852760"/>
            <a:ext cx="3575018" cy="507831"/>
          </a:xfrm>
          <a:prstGeom prst="rect">
            <a:avLst/>
          </a:prstGeom>
          <a:noFill/>
        </p:spPr>
        <p:txBody>
          <a:bodyPr wrap="none" rtlCol="0">
            <a:spAutoFit/>
          </a:bodyPr>
          <a:lstStyle/>
          <a:p>
            <a:pPr algn="r"/>
            <a:r>
              <a:rPr lang="en-IN" sz="2700" strike="noStrike" dirty="0">
                <a:solidFill>
                  <a:srgbClr val="BA202B"/>
                </a:solidFill>
                <a:effectLst/>
              </a:rPr>
              <a:t>Nitin K. Mishra (Ph.D.)</a:t>
            </a:r>
          </a:p>
        </p:txBody>
      </p:sp>
      <p:sp>
        <p:nvSpPr>
          <p:cNvPr id="10" name="TextBox 9">
            <a:extLst>
              <a:ext uri="{FF2B5EF4-FFF2-40B4-BE49-F238E27FC236}">
                <a16:creationId xmlns:a16="http://schemas.microsoft.com/office/drawing/2014/main" id="{12607290-3460-4AC4-ABC8-F072BD3D73E5}"/>
              </a:ext>
            </a:extLst>
          </p:cNvPr>
          <p:cNvSpPr txBox="1"/>
          <p:nvPr userDrawn="1"/>
        </p:nvSpPr>
        <p:spPr>
          <a:xfrm>
            <a:off x="5525729" y="4314425"/>
            <a:ext cx="3419167" cy="461665"/>
          </a:xfrm>
          <a:prstGeom prst="rect">
            <a:avLst/>
          </a:prstGeom>
          <a:noFill/>
        </p:spPr>
        <p:txBody>
          <a:bodyPr wrap="square" rtlCol="0">
            <a:spAutoFit/>
          </a:bodyPr>
          <a:lstStyle/>
          <a:p>
            <a:pPr algn="ctr"/>
            <a:r>
              <a:rPr lang="en-IN" sz="2400" dirty="0">
                <a:solidFill>
                  <a:schemeClr val="bg2">
                    <a:lumMod val="25000"/>
                  </a:schemeClr>
                </a:solidFill>
              </a:rPr>
              <a:t>Associate Professor</a:t>
            </a:r>
          </a:p>
        </p:txBody>
      </p:sp>
      <p:cxnSp>
        <p:nvCxnSpPr>
          <p:cNvPr id="12" name="Straight Connector 11">
            <a:extLst>
              <a:ext uri="{FF2B5EF4-FFF2-40B4-BE49-F238E27FC236}">
                <a16:creationId xmlns:a16="http://schemas.microsoft.com/office/drawing/2014/main" id="{392C86BC-E539-4EC2-9687-C9BAFAAFC1D8}"/>
              </a:ext>
            </a:extLst>
          </p:cNvPr>
          <p:cNvCxnSpPr>
            <a:cxnSpLocks/>
          </p:cNvCxnSpPr>
          <p:nvPr userDrawn="1"/>
        </p:nvCxnSpPr>
        <p:spPr>
          <a:xfrm flipH="1">
            <a:off x="5525729" y="4805586"/>
            <a:ext cx="3342972" cy="0"/>
          </a:xfrm>
          <a:prstGeom prst="line">
            <a:avLst/>
          </a:prstGeom>
          <a:ln w="38100">
            <a:solidFill>
              <a:srgbClr val="89E2EB"/>
            </a:solidFill>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712CEEC-655E-468A-942D-1D746D27486B}"/>
              </a:ext>
            </a:extLst>
          </p:cNvPr>
          <p:cNvCxnSpPr>
            <a:cxnSpLocks/>
          </p:cNvCxnSpPr>
          <p:nvPr userDrawn="1"/>
        </p:nvCxnSpPr>
        <p:spPr>
          <a:xfrm flipH="1">
            <a:off x="5525729" y="4360591"/>
            <a:ext cx="3342972" cy="0"/>
          </a:xfrm>
          <a:prstGeom prst="line">
            <a:avLst/>
          </a:prstGeom>
          <a:ln w="38100">
            <a:solidFill>
              <a:srgbClr val="89E2EB"/>
            </a:solidFill>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5389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Learning Outcome">
    <p:bg>
      <p:bgPr>
        <a:blipFill dpi="0" rotWithShape="1">
          <a:blip r:embed="rId2">
            <a:alphaModFix amt="20000"/>
            <a:lum/>
          </a:blip>
          <a:srcRect/>
          <a:stretch>
            <a:fillRect l="-6000" r="-6000"/>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52A9DAD-2222-4EAA-A984-73EA804BABC9}"/>
              </a:ext>
            </a:extLst>
          </p:cNvPr>
          <p:cNvSpPr/>
          <p:nvPr userDrawn="1"/>
        </p:nvSpPr>
        <p:spPr>
          <a:xfrm>
            <a:off x="0" y="-1"/>
            <a:ext cx="9144000" cy="2113936"/>
          </a:xfrm>
          <a:prstGeom prst="rect">
            <a:avLst/>
          </a:prstGeom>
          <a:gradFill flip="none" rotWithShape="1">
            <a:gsLst>
              <a:gs pos="78000">
                <a:schemeClr val="accent3">
                  <a:lumMod val="0"/>
                  <a:lumOff val="100000"/>
                </a:schemeClr>
              </a:gs>
              <a:gs pos="45000">
                <a:srgbClr val="00A2B8"/>
              </a:gs>
            </a:gsLst>
            <a:lin ang="0" scaled="0"/>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p:cNvSpPr>
            <a:spLocks noGrp="1"/>
          </p:cNvSpPr>
          <p:nvPr>
            <p:ph type="title" hasCustomPrompt="1"/>
          </p:nvPr>
        </p:nvSpPr>
        <p:spPr>
          <a:xfrm>
            <a:off x="393290" y="0"/>
            <a:ext cx="5191433" cy="2113935"/>
          </a:xfrm>
        </p:spPr>
        <p:txBody>
          <a:bodyPr>
            <a:normAutofit/>
          </a:bodyPr>
          <a:lstStyle>
            <a:lvl1pPr>
              <a:defRPr sz="5400">
                <a:solidFill>
                  <a:schemeClr val="bg1"/>
                </a:solidFill>
                <a:effectLst>
                  <a:outerShdw blurRad="38100" dist="38100" dir="2700000" algn="tl">
                    <a:srgbClr val="000000">
                      <a:alpha val="43137"/>
                    </a:srgbClr>
                  </a:outerShdw>
                </a:effectLst>
              </a:defRPr>
            </a:lvl1pPr>
          </a:lstStyle>
          <a:p>
            <a:r>
              <a:rPr lang="en-US" dirty="0"/>
              <a:t>Lecture</a:t>
            </a:r>
            <a:br>
              <a:rPr lang="en-US" dirty="0"/>
            </a:br>
            <a:r>
              <a:rPr lang="en-US" dirty="0"/>
              <a:t>Outcomes</a:t>
            </a:r>
          </a:p>
        </p:txBody>
      </p:sp>
      <p:sp>
        <p:nvSpPr>
          <p:cNvPr id="3" name="Content Placeholder 2"/>
          <p:cNvSpPr>
            <a:spLocks noGrp="1"/>
          </p:cNvSpPr>
          <p:nvPr>
            <p:ph idx="1" hasCustomPrompt="1"/>
          </p:nvPr>
        </p:nvSpPr>
        <p:spPr>
          <a:xfrm>
            <a:off x="963560" y="2883188"/>
            <a:ext cx="7934633" cy="3500283"/>
          </a:xfrm>
        </p:spPr>
        <p:txBody>
          <a:bodyPr>
            <a:normAutofit/>
          </a:bodyPr>
          <a:lstStyle>
            <a:lvl1pPr>
              <a:lnSpc>
                <a:spcPct val="150000"/>
              </a:lnSpc>
              <a:buClr>
                <a:srgbClr val="00A2B8"/>
              </a:buClr>
              <a:defRPr/>
            </a:lvl1pPr>
            <a:lvl2pPr>
              <a:buClr>
                <a:srgbClr val="00A2B8"/>
              </a:buClr>
              <a:defRPr sz="2800"/>
            </a:lvl2pPr>
            <a:lvl3pPr>
              <a:buClr>
                <a:srgbClr val="00A2B8"/>
              </a:buClr>
              <a:defRPr/>
            </a:lvl3pPr>
            <a:lvl4pPr>
              <a:buClr>
                <a:srgbClr val="00A2B8"/>
              </a:buClr>
              <a:defRPr/>
            </a:lvl4pPr>
            <a:lvl5pPr>
              <a:buClr>
                <a:srgbClr val="00A2B8"/>
              </a:buClr>
              <a:defRPr/>
            </a:lvl5pPr>
          </a:lstStyle>
          <a:p>
            <a:pPr lvl="0"/>
            <a:r>
              <a:rPr lang="en-US" dirty="0"/>
              <a:t>outcome 1</a:t>
            </a:r>
          </a:p>
          <a:p>
            <a:pPr lvl="0"/>
            <a:r>
              <a:rPr lang="en-US" dirty="0"/>
              <a:t>outcome 2</a:t>
            </a:r>
          </a:p>
          <a:p>
            <a:pPr lvl="0"/>
            <a:r>
              <a:rPr lang="en-US" dirty="0"/>
              <a:t>outcome 3</a:t>
            </a:r>
          </a:p>
        </p:txBody>
      </p:sp>
      <p:pic>
        <p:nvPicPr>
          <p:cNvPr id="11" name="Graphic 10" descr="Target">
            <a:extLst>
              <a:ext uri="{FF2B5EF4-FFF2-40B4-BE49-F238E27FC236}">
                <a16:creationId xmlns:a16="http://schemas.microsoft.com/office/drawing/2014/main" id="{8709446A-BD58-42FE-8058-90C6B724402E}"/>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26708" y="98321"/>
            <a:ext cx="1917292" cy="1917292"/>
          </a:xfrm>
          <a:prstGeom prst="rect">
            <a:avLst/>
          </a:prstGeom>
          <a:effectLst>
            <a:outerShdw blurRad="63500" sx="102000" sy="102000" algn="ctr" rotWithShape="0">
              <a:prstClr val="black">
                <a:alpha val="40000"/>
              </a:prstClr>
            </a:outerShdw>
          </a:effectLst>
        </p:spPr>
      </p:pic>
      <p:sp>
        <p:nvSpPr>
          <p:cNvPr id="12" name="TextBox 11">
            <a:extLst>
              <a:ext uri="{FF2B5EF4-FFF2-40B4-BE49-F238E27FC236}">
                <a16:creationId xmlns:a16="http://schemas.microsoft.com/office/drawing/2014/main" id="{F8377C6D-0C30-48F0-89AC-23D3E98F9A33}"/>
              </a:ext>
            </a:extLst>
          </p:cNvPr>
          <p:cNvSpPr txBox="1"/>
          <p:nvPr userDrawn="1"/>
        </p:nvSpPr>
        <p:spPr>
          <a:xfrm>
            <a:off x="393290" y="2298413"/>
            <a:ext cx="6845144" cy="584775"/>
          </a:xfrm>
          <a:prstGeom prst="rect">
            <a:avLst/>
          </a:prstGeom>
          <a:noFill/>
        </p:spPr>
        <p:txBody>
          <a:bodyPr wrap="none" rtlCol="0">
            <a:spAutoFit/>
          </a:bodyPr>
          <a:lstStyle/>
          <a:p>
            <a:r>
              <a:rPr lang="en-IN" sz="3200" dirty="0"/>
              <a:t>After this lecture, you will be able to</a:t>
            </a:r>
          </a:p>
        </p:txBody>
      </p:sp>
    </p:spTree>
    <p:extLst>
      <p:ext uri="{BB962C8B-B14F-4D97-AF65-F5344CB8AC3E}">
        <p14:creationId xmlns:p14="http://schemas.microsoft.com/office/powerpoint/2010/main" val="6461605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2_Title and Content">
    <p:bg>
      <p:bgPr>
        <a:blipFill dpi="0" rotWithShape="1">
          <a:blip r:embed="rId2">
            <a:alphaModFix amt="20000"/>
            <a:lum/>
          </a:blip>
          <a:srcRect/>
          <a:stretch>
            <a:fillRect l="-6000" r="-6000"/>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52A9DAD-2222-4EAA-A984-73EA804BABC9}"/>
              </a:ext>
            </a:extLst>
          </p:cNvPr>
          <p:cNvSpPr/>
          <p:nvPr userDrawn="1"/>
        </p:nvSpPr>
        <p:spPr>
          <a:xfrm>
            <a:off x="0" y="0"/>
            <a:ext cx="9144000" cy="1080000"/>
          </a:xfrm>
          <a:prstGeom prst="rect">
            <a:avLst/>
          </a:prstGeom>
          <a:solidFill>
            <a:srgbClr val="00A2B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p:cNvSpPr>
            <a:spLocks noGrp="1"/>
          </p:cNvSpPr>
          <p:nvPr>
            <p:ph type="title"/>
          </p:nvPr>
        </p:nvSpPr>
        <p:spPr>
          <a:xfrm>
            <a:off x="393290" y="1"/>
            <a:ext cx="8504904" cy="1080000"/>
          </a:xfrm>
        </p:spPr>
        <p:txBody>
          <a:bodyPr>
            <a:normAutofit/>
          </a:bodyPr>
          <a:lstStyle>
            <a:lvl1pPr>
              <a:defRPr sz="3600">
                <a:solidFill>
                  <a:schemeClr val="bg1"/>
                </a:solidFill>
                <a:effectLst>
                  <a:outerShdw blurRad="38100" dist="38100" dir="2700000" algn="tl">
                    <a:srgbClr val="000000">
                      <a:alpha val="43137"/>
                    </a:srgbClr>
                  </a:outerShdw>
                </a:effectLst>
              </a:defRPr>
            </a:lvl1pPr>
          </a:lstStyle>
          <a:p>
            <a:r>
              <a:rPr lang="en-US" dirty="0"/>
              <a:t>Click to edit Master title style</a:t>
            </a:r>
          </a:p>
        </p:txBody>
      </p:sp>
      <p:sp>
        <p:nvSpPr>
          <p:cNvPr id="3" name="Content Placeholder 2"/>
          <p:cNvSpPr>
            <a:spLocks noGrp="1"/>
          </p:cNvSpPr>
          <p:nvPr>
            <p:ph idx="1"/>
          </p:nvPr>
        </p:nvSpPr>
        <p:spPr>
          <a:xfrm>
            <a:off x="393290" y="1248698"/>
            <a:ext cx="8504904" cy="5338916"/>
          </a:xfrm>
        </p:spPr>
        <p:txBody>
          <a:bodyPr/>
          <a:lstStyle>
            <a:lvl1pPr>
              <a:lnSpc>
                <a:spcPct val="150000"/>
              </a:lnSpc>
              <a:buClr>
                <a:srgbClr val="00A2B8"/>
              </a:buClr>
              <a:defRPr/>
            </a:lvl1pPr>
            <a:lvl2pPr>
              <a:lnSpc>
                <a:spcPct val="150000"/>
              </a:lnSpc>
              <a:buClr>
                <a:srgbClr val="00A2B8"/>
              </a:buClr>
              <a:defRPr/>
            </a:lvl2pPr>
            <a:lvl3pPr>
              <a:lnSpc>
                <a:spcPct val="150000"/>
              </a:lnSpc>
              <a:buClr>
                <a:srgbClr val="00A2B8"/>
              </a:buClr>
              <a:defRPr/>
            </a:lvl3pPr>
            <a:lvl4pPr>
              <a:lnSpc>
                <a:spcPct val="150000"/>
              </a:lnSpc>
              <a:buClr>
                <a:srgbClr val="00A2B8"/>
              </a:buClr>
              <a:defRPr/>
            </a:lvl4pPr>
            <a:lvl5pPr>
              <a:lnSpc>
                <a:spcPct val="150000"/>
              </a:lnSpc>
              <a:buClr>
                <a:srgbClr val="00A2B8"/>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Box 4">
            <a:extLst>
              <a:ext uri="{FF2B5EF4-FFF2-40B4-BE49-F238E27FC236}">
                <a16:creationId xmlns:a16="http://schemas.microsoft.com/office/drawing/2014/main" id="{64091E1C-13AA-4430-B0AB-E932AEDB367A}"/>
              </a:ext>
            </a:extLst>
          </p:cNvPr>
          <p:cNvSpPr txBox="1"/>
          <p:nvPr userDrawn="1"/>
        </p:nvSpPr>
        <p:spPr>
          <a:xfrm>
            <a:off x="33867" y="6666614"/>
            <a:ext cx="9110132" cy="200055"/>
          </a:xfrm>
          <a:prstGeom prst="rect">
            <a:avLst/>
          </a:prstGeom>
          <a:noFill/>
        </p:spPr>
        <p:txBody>
          <a:bodyPr wrap="square" rtlCol="0">
            <a:spAutoFit/>
          </a:bodyPr>
          <a:lstStyle/>
          <a:p>
            <a:pPr algn="ctr"/>
            <a:r>
              <a:rPr lang="en-IN" sz="700" dirty="0"/>
              <a:t>Content Source: </a:t>
            </a:r>
            <a:r>
              <a:rPr lang="en-US" sz="700" b="1" dirty="0">
                <a:solidFill>
                  <a:srgbClr val="5F6368"/>
                </a:solidFill>
                <a:latin typeface="arial" panose="020B0604020202020204" pitchFamily="34" charset="0"/>
              </a:rPr>
              <a:t>Discrete Mathematics</a:t>
            </a:r>
            <a:r>
              <a:rPr lang="en-US" sz="700" dirty="0">
                <a:solidFill>
                  <a:srgbClr val="4D5156"/>
                </a:solidFill>
                <a:latin typeface="arial" panose="020B0604020202020204" pitchFamily="34" charset="0"/>
              </a:rPr>
              <a:t> and </a:t>
            </a:r>
            <a:r>
              <a:rPr lang="en-US" sz="700" b="1" dirty="0">
                <a:solidFill>
                  <a:srgbClr val="5F6368"/>
                </a:solidFill>
                <a:latin typeface="arial" panose="020B0604020202020204" pitchFamily="34" charset="0"/>
              </a:rPr>
              <a:t>Its Applications</a:t>
            </a:r>
            <a:r>
              <a:rPr lang="en-US" sz="700" dirty="0">
                <a:solidFill>
                  <a:srgbClr val="4D5156"/>
                </a:solidFill>
                <a:latin typeface="arial" panose="020B0604020202020204" pitchFamily="34" charset="0"/>
              </a:rPr>
              <a:t>. Seventh Edition. </a:t>
            </a:r>
            <a:r>
              <a:rPr lang="en-US" sz="700" b="1" dirty="0">
                <a:solidFill>
                  <a:srgbClr val="5F6368"/>
                </a:solidFill>
                <a:latin typeface="arial" panose="020B0604020202020204" pitchFamily="34" charset="0"/>
              </a:rPr>
              <a:t>Kenneth H. Rosen. Monmouth University. Prepared by Jerrold W. Grossman, Oakland University.</a:t>
            </a:r>
            <a:r>
              <a:rPr lang="en-US" sz="700" dirty="0">
                <a:solidFill>
                  <a:srgbClr val="4D5156"/>
                </a:solidFill>
                <a:latin typeface="arial" panose="020B0604020202020204" pitchFamily="34" charset="0"/>
              </a:rPr>
              <a:t> (and formerly AT&amp;T Laboratories)</a:t>
            </a:r>
            <a:endParaRPr lang="en-IN" sz="700" dirty="0"/>
          </a:p>
        </p:txBody>
      </p:sp>
    </p:spTree>
    <p:extLst>
      <p:ext uri="{BB962C8B-B14F-4D97-AF65-F5344CB8AC3E}">
        <p14:creationId xmlns:p14="http://schemas.microsoft.com/office/powerpoint/2010/main" val="2252086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Title and Content (white)">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52A9DAD-2222-4EAA-A984-73EA804BABC9}"/>
              </a:ext>
            </a:extLst>
          </p:cNvPr>
          <p:cNvSpPr/>
          <p:nvPr userDrawn="1"/>
        </p:nvSpPr>
        <p:spPr>
          <a:xfrm>
            <a:off x="0" y="0"/>
            <a:ext cx="9144000" cy="1080000"/>
          </a:xfrm>
          <a:prstGeom prst="rect">
            <a:avLst/>
          </a:prstGeom>
          <a:solidFill>
            <a:srgbClr val="00A2B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p:cNvSpPr>
            <a:spLocks noGrp="1"/>
          </p:cNvSpPr>
          <p:nvPr>
            <p:ph type="title"/>
          </p:nvPr>
        </p:nvSpPr>
        <p:spPr>
          <a:xfrm>
            <a:off x="393290" y="1"/>
            <a:ext cx="8504904" cy="1080000"/>
          </a:xfrm>
        </p:spPr>
        <p:txBody>
          <a:bodyPr>
            <a:normAutofit/>
          </a:bodyPr>
          <a:lstStyle>
            <a:lvl1pPr>
              <a:defRPr sz="3600">
                <a:solidFill>
                  <a:schemeClr val="bg1"/>
                </a:solidFill>
                <a:effectLst>
                  <a:outerShdw blurRad="38100" dist="38100" dir="2700000" algn="tl">
                    <a:srgbClr val="000000">
                      <a:alpha val="43137"/>
                    </a:srgbClr>
                  </a:outerShdw>
                </a:effectLst>
              </a:defRPr>
            </a:lvl1pPr>
          </a:lstStyle>
          <a:p>
            <a:r>
              <a:rPr lang="en-US" dirty="0"/>
              <a:t>Click to edit Master title style</a:t>
            </a:r>
          </a:p>
        </p:txBody>
      </p:sp>
      <p:sp>
        <p:nvSpPr>
          <p:cNvPr id="3" name="Content Placeholder 2"/>
          <p:cNvSpPr>
            <a:spLocks noGrp="1"/>
          </p:cNvSpPr>
          <p:nvPr>
            <p:ph idx="1"/>
          </p:nvPr>
        </p:nvSpPr>
        <p:spPr>
          <a:xfrm>
            <a:off x="393290" y="1248697"/>
            <a:ext cx="8504904" cy="5338916"/>
          </a:xfrm>
        </p:spPr>
        <p:txBody>
          <a:bodyPr/>
          <a:lstStyle>
            <a:lvl1pPr>
              <a:lnSpc>
                <a:spcPct val="150000"/>
              </a:lnSpc>
              <a:buClr>
                <a:srgbClr val="00A2B8"/>
              </a:buClr>
              <a:defRPr/>
            </a:lvl1pPr>
            <a:lvl2pPr>
              <a:lnSpc>
                <a:spcPct val="150000"/>
              </a:lnSpc>
              <a:buClr>
                <a:srgbClr val="00A2B8"/>
              </a:buClr>
              <a:defRPr/>
            </a:lvl2pPr>
            <a:lvl3pPr>
              <a:lnSpc>
                <a:spcPct val="150000"/>
              </a:lnSpc>
              <a:buClr>
                <a:srgbClr val="00A2B8"/>
              </a:buClr>
              <a:defRPr/>
            </a:lvl3pPr>
            <a:lvl4pPr>
              <a:lnSpc>
                <a:spcPct val="150000"/>
              </a:lnSpc>
              <a:buClr>
                <a:srgbClr val="00A2B8"/>
              </a:buClr>
              <a:defRPr/>
            </a:lvl4pPr>
            <a:lvl5pPr>
              <a:lnSpc>
                <a:spcPct val="150000"/>
              </a:lnSpc>
              <a:buClr>
                <a:srgbClr val="00A2B8"/>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Box 4">
            <a:extLst>
              <a:ext uri="{FF2B5EF4-FFF2-40B4-BE49-F238E27FC236}">
                <a16:creationId xmlns:a16="http://schemas.microsoft.com/office/drawing/2014/main" id="{9D40D22A-9F0E-4024-A4A6-FCCE6CB60E86}"/>
              </a:ext>
            </a:extLst>
          </p:cNvPr>
          <p:cNvSpPr txBox="1"/>
          <p:nvPr userDrawn="1"/>
        </p:nvSpPr>
        <p:spPr>
          <a:xfrm>
            <a:off x="33867" y="6666614"/>
            <a:ext cx="9110132" cy="200055"/>
          </a:xfrm>
          <a:prstGeom prst="rect">
            <a:avLst/>
          </a:prstGeom>
          <a:noFill/>
        </p:spPr>
        <p:txBody>
          <a:bodyPr wrap="square" rtlCol="0">
            <a:spAutoFit/>
          </a:bodyPr>
          <a:lstStyle/>
          <a:p>
            <a:pPr algn="ctr"/>
            <a:r>
              <a:rPr lang="en-IN" sz="700" dirty="0"/>
              <a:t>Content Source: </a:t>
            </a:r>
            <a:r>
              <a:rPr lang="en-US" sz="700" b="1" dirty="0">
                <a:solidFill>
                  <a:srgbClr val="5F6368"/>
                </a:solidFill>
                <a:latin typeface="arial" panose="020B0604020202020204" pitchFamily="34" charset="0"/>
              </a:rPr>
              <a:t>Discrete Mathematics</a:t>
            </a:r>
            <a:r>
              <a:rPr lang="en-US" sz="700" dirty="0">
                <a:solidFill>
                  <a:srgbClr val="4D5156"/>
                </a:solidFill>
                <a:latin typeface="arial" panose="020B0604020202020204" pitchFamily="34" charset="0"/>
              </a:rPr>
              <a:t> and </a:t>
            </a:r>
            <a:r>
              <a:rPr lang="en-US" sz="700" b="1" dirty="0">
                <a:solidFill>
                  <a:srgbClr val="5F6368"/>
                </a:solidFill>
                <a:latin typeface="arial" panose="020B0604020202020204" pitchFamily="34" charset="0"/>
              </a:rPr>
              <a:t>Its Applications</a:t>
            </a:r>
            <a:r>
              <a:rPr lang="en-US" sz="700" dirty="0">
                <a:solidFill>
                  <a:srgbClr val="4D5156"/>
                </a:solidFill>
                <a:latin typeface="arial" panose="020B0604020202020204" pitchFamily="34" charset="0"/>
              </a:rPr>
              <a:t>. Seventh Edition. </a:t>
            </a:r>
            <a:r>
              <a:rPr lang="en-US" sz="700" b="1" dirty="0">
                <a:solidFill>
                  <a:srgbClr val="5F6368"/>
                </a:solidFill>
                <a:latin typeface="arial" panose="020B0604020202020204" pitchFamily="34" charset="0"/>
              </a:rPr>
              <a:t>Kenneth H. Rosen. Monmouth University. Prepared by Jerrold W. Grossman, Oakland University.</a:t>
            </a:r>
            <a:r>
              <a:rPr lang="en-US" sz="700" dirty="0">
                <a:solidFill>
                  <a:srgbClr val="4D5156"/>
                </a:solidFill>
                <a:latin typeface="arial" panose="020B0604020202020204" pitchFamily="34" charset="0"/>
              </a:rPr>
              <a:t> (and formerly AT&amp;T Laboratories)</a:t>
            </a:r>
            <a:endParaRPr lang="en-IN" sz="700" dirty="0"/>
          </a:p>
        </p:txBody>
      </p:sp>
    </p:spTree>
    <p:extLst>
      <p:ext uri="{BB962C8B-B14F-4D97-AF65-F5344CB8AC3E}">
        <p14:creationId xmlns:p14="http://schemas.microsoft.com/office/powerpoint/2010/main" val="40265219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C376987-CD5A-4B0D-82F1-8DDC56102557}" type="datetimeFigureOut">
              <a:rPr lang="en-IN" smtClean="0"/>
              <a:t>30-12-2020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7443102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C376987-CD5A-4B0D-82F1-8DDC56102557}" type="datetimeFigureOut">
              <a:rPr lang="en-IN" smtClean="0"/>
              <a:t>30-12-2020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21449892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C376987-CD5A-4B0D-82F1-8DDC56102557}" type="datetimeFigureOut">
              <a:rPr lang="en-IN" smtClean="0"/>
              <a:t>30-12-2020</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18209859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C376987-CD5A-4B0D-82F1-8DDC56102557}" type="datetimeFigureOut">
              <a:rPr lang="en-IN" smtClean="0"/>
              <a:t>30-12-2020</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8592191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376987-CD5A-4B0D-82F1-8DDC56102557}" type="datetimeFigureOut">
              <a:rPr lang="en-IN" smtClean="0"/>
              <a:t>30-12-2020</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2763743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Thank You">
    <p:bg>
      <p:bgPr>
        <a:gradFill flip="none" rotWithShape="1">
          <a:gsLst>
            <a:gs pos="0">
              <a:schemeClr val="accent3">
                <a:lumMod val="0"/>
                <a:lumOff val="100000"/>
              </a:schemeClr>
            </a:gs>
            <a:gs pos="100000">
              <a:schemeClr val="bg1">
                <a:lumMod val="85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D41FF5F-8082-499F-9B42-B9953F7F83AE}"/>
              </a:ext>
            </a:extLst>
          </p:cNvPr>
          <p:cNvSpPr txBox="1"/>
          <p:nvPr userDrawn="1"/>
        </p:nvSpPr>
        <p:spPr>
          <a:xfrm>
            <a:off x="1620711" y="2869012"/>
            <a:ext cx="5902578" cy="923330"/>
          </a:xfrm>
          <a:prstGeom prst="rect">
            <a:avLst/>
          </a:prstGeom>
          <a:noFill/>
        </p:spPr>
        <p:txBody>
          <a:bodyPr wrap="none" rtlCol="0">
            <a:spAutoFit/>
          </a:bodyPr>
          <a:lstStyle/>
          <a:p>
            <a:r>
              <a:rPr lang="en-IN" sz="5400" dirty="0">
                <a:solidFill>
                  <a:srgbClr val="00A2B8"/>
                </a:solidFill>
                <a:effectLst/>
              </a:rPr>
              <a:t>That’s all for now…</a:t>
            </a:r>
          </a:p>
        </p:txBody>
      </p:sp>
      <p:cxnSp>
        <p:nvCxnSpPr>
          <p:cNvPr id="7" name="Straight Connector 6">
            <a:extLst>
              <a:ext uri="{FF2B5EF4-FFF2-40B4-BE49-F238E27FC236}">
                <a16:creationId xmlns:a16="http://schemas.microsoft.com/office/drawing/2014/main" id="{8376A0C7-0E66-445E-9D28-DB789C63D202}"/>
              </a:ext>
            </a:extLst>
          </p:cNvPr>
          <p:cNvCxnSpPr>
            <a:cxnSpLocks/>
          </p:cNvCxnSpPr>
          <p:nvPr userDrawn="1"/>
        </p:nvCxnSpPr>
        <p:spPr>
          <a:xfrm>
            <a:off x="1720645" y="3654690"/>
            <a:ext cx="5624052" cy="0"/>
          </a:xfrm>
          <a:prstGeom prst="line">
            <a:avLst/>
          </a:prstGeom>
          <a:ln w="31750">
            <a:solidFill>
              <a:srgbClr val="CA628C"/>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60184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C376987-CD5A-4B0D-82F1-8DDC56102557}" type="datetimeFigureOut">
              <a:rPr lang="en-IN" smtClean="0"/>
              <a:t>30-12-2020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39188165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C376987-CD5A-4B0D-82F1-8DDC56102557}" type="datetimeFigureOut">
              <a:rPr lang="en-IN" smtClean="0"/>
              <a:t>30-12-2020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20285952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376987-CD5A-4B0D-82F1-8DDC56102557}" type="datetimeFigureOut">
              <a:rPr lang="en-IN" smtClean="0"/>
              <a:t>30-12-2020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27767470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376987-CD5A-4B0D-82F1-8DDC56102557}" type="datetimeFigureOut">
              <a:rPr lang="en-IN" smtClean="0"/>
              <a:t>30-12-2020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2144704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376987-CD5A-4B0D-82F1-8DDC56102557}" type="datetimeFigureOut">
              <a:rPr lang="en-IN" smtClean="0"/>
              <a:t>30-12-2020</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5910F8-8D71-4F22-9C7F-1F77DF6804AD}" type="slidenum">
              <a:rPr lang="en-IN" smtClean="0"/>
              <a:t>‹#›</a:t>
            </a:fld>
            <a:endParaRPr lang="en-IN"/>
          </a:p>
        </p:txBody>
      </p:sp>
    </p:spTree>
    <p:extLst>
      <p:ext uri="{BB962C8B-B14F-4D97-AF65-F5344CB8AC3E}">
        <p14:creationId xmlns:p14="http://schemas.microsoft.com/office/powerpoint/2010/main" val="94621370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4" r:id="rId3"/>
    <p:sldLayoutId id="2147483672" r:id="rId4"/>
    <p:sldLayoutId id="2147483663" r:id="rId5"/>
    <p:sldLayoutId id="2147483664" r:id="rId6"/>
    <p:sldLayoutId id="2147483665" r:id="rId7"/>
    <p:sldLayoutId id="2147483666" r:id="rId8"/>
    <p:sldLayoutId id="2147483667" r:id="rId9"/>
    <p:sldLayoutId id="2147483673" r:id="rId10"/>
    <p:sldLayoutId id="2147483668" r:id="rId11"/>
    <p:sldLayoutId id="2147483669" r:id="rId12"/>
    <p:sldLayoutId id="2147483670" r:id="rId13"/>
    <p:sldLayoutId id="2147483671" r:id="rId14"/>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3B31A-26EC-4882-9FB2-E3790927BE30}"/>
              </a:ext>
            </a:extLst>
          </p:cNvPr>
          <p:cNvSpPr>
            <a:spLocks noGrp="1"/>
          </p:cNvSpPr>
          <p:nvPr>
            <p:ph type="ctrTitle"/>
          </p:nvPr>
        </p:nvSpPr>
        <p:spPr/>
        <p:txBody>
          <a:bodyPr>
            <a:normAutofit fontScale="90000"/>
          </a:bodyPr>
          <a:lstStyle/>
          <a:p>
            <a:r>
              <a:rPr lang="en-IN" dirty="0"/>
              <a:t>EMTH403</a:t>
            </a:r>
          </a:p>
        </p:txBody>
      </p:sp>
      <p:sp>
        <p:nvSpPr>
          <p:cNvPr id="3" name="Subtitle 2">
            <a:extLst>
              <a:ext uri="{FF2B5EF4-FFF2-40B4-BE49-F238E27FC236}">
                <a16:creationId xmlns:a16="http://schemas.microsoft.com/office/drawing/2014/main" id="{5F2FDE88-E809-4B0D-A49D-23F92304EDFA}"/>
              </a:ext>
            </a:extLst>
          </p:cNvPr>
          <p:cNvSpPr>
            <a:spLocks noGrp="1"/>
          </p:cNvSpPr>
          <p:nvPr>
            <p:ph type="subTitle" idx="1"/>
          </p:nvPr>
        </p:nvSpPr>
        <p:spPr/>
        <p:txBody>
          <a:bodyPr>
            <a:normAutofit lnSpcReduction="10000"/>
          </a:bodyPr>
          <a:lstStyle/>
          <a:p>
            <a:r>
              <a:rPr lang="en-US" dirty="0"/>
              <a:t>Mathematical Foundation for Computer Science </a:t>
            </a:r>
            <a:endParaRPr lang="en-IN" dirty="0"/>
          </a:p>
        </p:txBody>
      </p:sp>
    </p:spTree>
    <p:extLst>
      <p:ext uri="{BB962C8B-B14F-4D97-AF65-F5344CB8AC3E}">
        <p14:creationId xmlns:p14="http://schemas.microsoft.com/office/powerpoint/2010/main" val="3848506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825CB-91D8-4BF1-84BC-BE57F14646E6}"/>
              </a:ext>
            </a:extLst>
          </p:cNvPr>
          <p:cNvSpPr>
            <a:spLocks noGrp="1"/>
          </p:cNvSpPr>
          <p:nvPr>
            <p:ph type="title"/>
          </p:nvPr>
        </p:nvSpPr>
        <p:spPr/>
        <p:txBody>
          <a:bodyPr/>
          <a:lstStyle/>
          <a:p>
            <a:r>
              <a:rPr lang="en-IN" dirty="0"/>
              <a:t>Lecture Outcomes</a:t>
            </a:r>
          </a:p>
        </p:txBody>
      </p:sp>
      <p:sp>
        <p:nvSpPr>
          <p:cNvPr id="3" name="Content Placeholder 2">
            <a:extLst>
              <a:ext uri="{FF2B5EF4-FFF2-40B4-BE49-F238E27FC236}">
                <a16:creationId xmlns:a16="http://schemas.microsoft.com/office/drawing/2014/main" id="{C2262320-2170-46A9-8662-1BF0938F293E}"/>
              </a:ext>
            </a:extLst>
          </p:cNvPr>
          <p:cNvSpPr>
            <a:spLocks noGrp="1"/>
          </p:cNvSpPr>
          <p:nvPr>
            <p:ph idx="1"/>
          </p:nvPr>
        </p:nvSpPr>
        <p:spPr>
          <a:xfrm>
            <a:off x="963560" y="2883188"/>
            <a:ext cx="7934633" cy="3500283"/>
          </a:xfrm>
        </p:spPr>
        <p:txBody>
          <a:bodyPr>
            <a:normAutofit/>
          </a:bodyPr>
          <a:lstStyle/>
          <a:p>
            <a:r>
              <a:rPr lang="en-US" dirty="0"/>
              <a:t>understand the use of product rule, sum rule and </a:t>
            </a:r>
            <a:r>
              <a:rPr lang="en-IN" dirty="0"/>
              <a:t>subtraction</a:t>
            </a:r>
            <a:r>
              <a:rPr lang="en-US" dirty="0"/>
              <a:t> rule in the basics of counting. </a:t>
            </a:r>
          </a:p>
          <a:p>
            <a:r>
              <a:rPr lang="en-US" dirty="0"/>
              <a:t>understand the use of tree diagram in the basics of counting.</a:t>
            </a:r>
          </a:p>
          <a:p>
            <a:endParaRPr lang="en-US" dirty="0"/>
          </a:p>
          <a:p>
            <a:endParaRPr lang="en-US" dirty="0"/>
          </a:p>
        </p:txBody>
      </p:sp>
    </p:spTree>
    <p:extLst>
      <p:ext uri="{BB962C8B-B14F-4D97-AF65-F5344CB8AC3E}">
        <p14:creationId xmlns:p14="http://schemas.microsoft.com/office/powerpoint/2010/main" val="19984721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65969-44D9-4A16-9D0F-FD9428B23573}"/>
              </a:ext>
            </a:extLst>
          </p:cNvPr>
          <p:cNvSpPr>
            <a:spLocks noGrp="1"/>
          </p:cNvSpPr>
          <p:nvPr>
            <p:ph type="title"/>
          </p:nvPr>
        </p:nvSpPr>
        <p:spPr/>
        <p:txBody>
          <a:bodyPr/>
          <a:lstStyle/>
          <a:p>
            <a:r>
              <a:rPr lang="en-IN" dirty="0"/>
              <a:t>Basics of Counting – Example 1</a:t>
            </a:r>
          </a:p>
        </p:txBody>
      </p:sp>
      <p:sp>
        <p:nvSpPr>
          <p:cNvPr id="3" name="Content Placeholder 2">
            <a:extLst>
              <a:ext uri="{FF2B5EF4-FFF2-40B4-BE49-F238E27FC236}">
                <a16:creationId xmlns:a16="http://schemas.microsoft.com/office/drawing/2014/main" id="{9DEC7B9A-8015-4FB4-8C24-4BC3D64C32B7}"/>
              </a:ext>
            </a:extLst>
          </p:cNvPr>
          <p:cNvSpPr>
            <a:spLocks noGrp="1"/>
          </p:cNvSpPr>
          <p:nvPr>
            <p:ph idx="1"/>
          </p:nvPr>
        </p:nvSpPr>
        <p:spPr>
          <a:xfrm>
            <a:off x="393289" y="1248697"/>
            <a:ext cx="8392901" cy="5400581"/>
          </a:xfrm>
        </p:spPr>
        <p:txBody>
          <a:bodyPr>
            <a:normAutofit/>
          </a:bodyPr>
          <a:lstStyle/>
          <a:p>
            <a:pPr marL="0" indent="0">
              <a:buNone/>
            </a:pPr>
            <a:r>
              <a:rPr lang="en-US" sz="2400" b="1" dirty="0"/>
              <a:t>Ques:- </a:t>
            </a:r>
            <a:r>
              <a:rPr lang="en-US" sz="2400" dirty="0"/>
              <a:t>In a version of the computer language BASIC, the name of a variable is a string of one or two alphanumeric characters, where uppercase and lowercase letters are not distinguished. (An alphanumeric character is either one of the 26 English letters or one of the 10 digits.) Moreover, a variable name must begin with a letter and must be different from the five strings of two characters that are reserved for programming use. How many different variable names are there in this version of BASIC?</a:t>
            </a:r>
          </a:p>
          <a:p>
            <a:pPr marL="0" indent="0">
              <a:buNone/>
            </a:pPr>
            <a:endParaRPr lang="en-IN" sz="2400" dirty="0"/>
          </a:p>
        </p:txBody>
      </p:sp>
    </p:spTree>
    <p:extLst>
      <p:ext uri="{BB962C8B-B14F-4D97-AF65-F5344CB8AC3E}">
        <p14:creationId xmlns:p14="http://schemas.microsoft.com/office/powerpoint/2010/main" val="19809156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65969-44D9-4A16-9D0F-FD9428B23573}"/>
              </a:ext>
            </a:extLst>
          </p:cNvPr>
          <p:cNvSpPr>
            <a:spLocks noGrp="1"/>
          </p:cNvSpPr>
          <p:nvPr>
            <p:ph type="title"/>
          </p:nvPr>
        </p:nvSpPr>
        <p:spPr/>
        <p:txBody>
          <a:bodyPr/>
          <a:lstStyle/>
          <a:p>
            <a:r>
              <a:rPr lang="en-IN" dirty="0"/>
              <a:t>Basics of Counting – Example 1</a:t>
            </a:r>
          </a:p>
        </p:txBody>
      </p:sp>
      <p:sp>
        <p:nvSpPr>
          <p:cNvPr id="4" name="TextBox 3">
            <a:extLst>
              <a:ext uri="{FF2B5EF4-FFF2-40B4-BE49-F238E27FC236}">
                <a16:creationId xmlns:a16="http://schemas.microsoft.com/office/drawing/2014/main" id="{D35F839F-38AB-40A0-9681-2B7B57F6E5E9}"/>
              </a:ext>
            </a:extLst>
          </p:cNvPr>
          <p:cNvSpPr txBox="1"/>
          <p:nvPr/>
        </p:nvSpPr>
        <p:spPr>
          <a:xfrm>
            <a:off x="884580" y="1242391"/>
            <a:ext cx="576470" cy="2308324"/>
          </a:xfrm>
          <a:prstGeom prst="rect">
            <a:avLst/>
          </a:prstGeom>
          <a:noFill/>
        </p:spPr>
        <p:txBody>
          <a:bodyPr wrap="square" rtlCol="0">
            <a:spAutoFit/>
          </a:bodyPr>
          <a:lstStyle/>
          <a:p>
            <a:r>
              <a:rPr lang="en-IN" sz="2400" dirty="0"/>
              <a:t>A</a:t>
            </a:r>
          </a:p>
          <a:p>
            <a:r>
              <a:rPr lang="en-IN" sz="2400" dirty="0"/>
              <a:t>B</a:t>
            </a:r>
          </a:p>
          <a:p>
            <a:r>
              <a:rPr lang="en-IN" sz="2400" dirty="0"/>
              <a:t>C</a:t>
            </a:r>
          </a:p>
          <a:p>
            <a:r>
              <a:rPr lang="en-IN" sz="2400" dirty="0"/>
              <a:t>D</a:t>
            </a:r>
          </a:p>
          <a:p>
            <a:r>
              <a:rPr lang="en-IN" sz="2400" dirty="0"/>
              <a:t>…</a:t>
            </a:r>
          </a:p>
          <a:p>
            <a:r>
              <a:rPr lang="en-IN" sz="2400" dirty="0"/>
              <a:t>Z</a:t>
            </a:r>
          </a:p>
        </p:txBody>
      </p:sp>
      <p:sp>
        <p:nvSpPr>
          <p:cNvPr id="5" name="Left Brace 4">
            <a:extLst>
              <a:ext uri="{FF2B5EF4-FFF2-40B4-BE49-F238E27FC236}">
                <a16:creationId xmlns:a16="http://schemas.microsoft.com/office/drawing/2014/main" id="{D63F571F-4566-4CDD-ADC2-4CE9EEEDF098}"/>
              </a:ext>
            </a:extLst>
          </p:cNvPr>
          <p:cNvSpPr/>
          <p:nvPr/>
        </p:nvSpPr>
        <p:spPr>
          <a:xfrm>
            <a:off x="705679" y="1321905"/>
            <a:ext cx="288234" cy="2160104"/>
          </a:xfrm>
          <a:prstGeom prst="leftBrace">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6" name="TextBox 5">
            <a:extLst>
              <a:ext uri="{FF2B5EF4-FFF2-40B4-BE49-F238E27FC236}">
                <a16:creationId xmlns:a16="http://schemas.microsoft.com/office/drawing/2014/main" id="{A5B9A496-0924-42B8-896B-A6F994EAA185}"/>
              </a:ext>
            </a:extLst>
          </p:cNvPr>
          <p:cNvSpPr txBox="1"/>
          <p:nvPr/>
        </p:nvSpPr>
        <p:spPr>
          <a:xfrm>
            <a:off x="66263" y="2147907"/>
            <a:ext cx="556592" cy="492443"/>
          </a:xfrm>
          <a:prstGeom prst="rect">
            <a:avLst/>
          </a:prstGeom>
          <a:noFill/>
        </p:spPr>
        <p:txBody>
          <a:bodyPr wrap="square" rtlCol="0">
            <a:spAutoFit/>
          </a:bodyPr>
          <a:lstStyle/>
          <a:p>
            <a:r>
              <a:rPr lang="en-IN" sz="2600" dirty="0"/>
              <a:t>26</a:t>
            </a:r>
          </a:p>
        </p:txBody>
      </p:sp>
      <p:sp>
        <p:nvSpPr>
          <p:cNvPr id="13" name="TextBox 12">
            <a:extLst>
              <a:ext uri="{FF2B5EF4-FFF2-40B4-BE49-F238E27FC236}">
                <a16:creationId xmlns:a16="http://schemas.microsoft.com/office/drawing/2014/main" id="{387FD7B7-4EA9-4FBB-8920-229EA33D7AB0}"/>
              </a:ext>
            </a:extLst>
          </p:cNvPr>
          <p:cNvSpPr txBox="1"/>
          <p:nvPr/>
        </p:nvSpPr>
        <p:spPr>
          <a:xfrm>
            <a:off x="2468216" y="1080001"/>
            <a:ext cx="662608" cy="2308324"/>
          </a:xfrm>
          <a:prstGeom prst="rect">
            <a:avLst/>
          </a:prstGeom>
          <a:noFill/>
        </p:spPr>
        <p:txBody>
          <a:bodyPr wrap="square" rtlCol="0">
            <a:spAutoFit/>
          </a:bodyPr>
          <a:lstStyle/>
          <a:p>
            <a:r>
              <a:rPr lang="en-IN" sz="2400" dirty="0"/>
              <a:t>AA</a:t>
            </a:r>
          </a:p>
          <a:p>
            <a:r>
              <a:rPr lang="en-IN" sz="2400" dirty="0"/>
              <a:t>AB</a:t>
            </a:r>
          </a:p>
          <a:p>
            <a:r>
              <a:rPr lang="en-IN" sz="2400" dirty="0"/>
              <a:t>AC</a:t>
            </a:r>
          </a:p>
          <a:p>
            <a:r>
              <a:rPr lang="en-IN" sz="2400" dirty="0"/>
              <a:t>AD</a:t>
            </a:r>
          </a:p>
          <a:p>
            <a:r>
              <a:rPr lang="en-IN" sz="2400" dirty="0"/>
              <a:t>…</a:t>
            </a:r>
          </a:p>
          <a:p>
            <a:r>
              <a:rPr lang="en-IN" sz="2400" dirty="0"/>
              <a:t>AZ</a:t>
            </a:r>
          </a:p>
        </p:txBody>
      </p:sp>
      <p:sp>
        <p:nvSpPr>
          <p:cNvPr id="14" name="Left Brace 13">
            <a:extLst>
              <a:ext uri="{FF2B5EF4-FFF2-40B4-BE49-F238E27FC236}">
                <a16:creationId xmlns:a16="http://schemas.microsoft.com/office/drawing/2014/main" id="{7DEFAEDD-FFA7-439C-ACE5-A90B11F42272}"/>
              </a:ext>
            </a:extLst>
          </p:cNvPr>
          <p:cNvSpPr/>
          <p:nvPr/>
        </p:nvSpPr>
        <p:spPr>
          <a:xfrm>
            <a:off x="2249556" y="1245708"/>
            <a:ext cx="288234" cy="2160104"/>
          </a:xfrm>
          <a:prstGeom prst="leftBrace">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5" name="TextBox 14">
            <a:extLst>
              <a:ext uri="{FF2B5EF4-FFF2-40B4-BE49-F238E27FC236}">
                <a16:creationId xmlns:a16="http://schemas.microsoft.com/office/drawing/2014/main" id="{5B4E87B3-D697-41BA-9A66-87A4FC1DFF24}"/>
              </a:ext>
            </a:extLst>
          </p:cNvPr>
          <p:cNvSpPr txBox="1"/>
          <p:nvPr/>
        </p:nvSpPr>
        <p:spPr>
          <a:xfrm>
            <a:off x="1610140" y="2071710"/>
            <a:ext cx="556592" cy="492443"/>
          </a:xfrm>
          <a:prstGeom prst="rect">
            <a:avLst/>
          </a:prstGeom>
          <a:noFill/>
        </p:spPr>
        <p:txBody>
          <a:bodyPr wrap="square" rtlCol="0">
            <a:spAutoFit/>
          </a:bodyPr>
          <a:lstStyle/>
          <a:p>
            <a:r>
              <a:rPr lang="en-IN" sz="2600" dirty="0"/>
              <a:t>26</a:t>
            </a:r>
          </a:p>
        </p:txBody>
      </p:sp>
      <p:sp>
        <p:nvSpPr>
          <p:cNvPr id="16" name="TextBox 15">
            <a:extLst>
              <a:ext uri="{FF2B5EF4-FFF2-40B4-BE49-F238E27FC236}">
                <a16:creationId xmlns:a16="http://schemas.microsoft.com/office/drawing/2014/main" id="{0796560B-7D53-42EE-BDF8-2BF335A0FEAF}"/>
              </a:ext>
            </a:extLst>
          </p:cNvPr>
          <p:cNvSpPr txBox="1"/>
          <p:nvPr/>
        </p:nvSpPr>
        <p:spPr>
          <a:xfrm>
            <a:off x="2481468" y="3329557"/>
            <a:ext cx="662608" cy="1938992"/>
          </a:xfrm>
          <a:prstGeom prst="rect">
            <a:avLst/>
          </a:prstGeom>
          <a:noFill/>
        </p:spPr>
        <p:txBody>
          <a:bodyPr wrap="square" rtlCol="0">
            <a:spAutoFit/>
          </a:bodyPr>
          <a:lstStyle/>
          <a:p>
            <a:r>
              <a:rPr lang="en-IN" sz="2400" dirty="0"/>
              <a:t>A0</a:t>
            </a:r>
          </a:p>
          <a:p>
            <a:r>
              <a:rPr lang="en-IN" sz="2400" dirty="0"/>
              <a:t>A1</a:t>
            </a:r>
          </a:p>
          <a:p>
            <a:r>
              <a:rPr lang="en-IN" sz="2400" dirty="0"/>
              <a:t>A2</a:t>
            </a:r>
          </a:p>
          <a:p>
            <a:r>
              <a:rPr lang="en-IN" sz="2400" dirty="0"/>
              <a:t>…</a:t>
            </a:r>
          </a:p>
          <a:p>
            <a:r>
              <a:rPr lang="en-IN" sz="2400" dirty="0"/>
              <a:t>A9</a:t>
            </a:r>
          </a:p>
        </p:txBody>
      </p:sp>
      <p:sp>
        <p:nvSpPr>
          <p:cNvPr id="17" name="Left Brace 16">
            <a:extLst>
              <a:ext uri="{FF2B5EF4-FFF2-40B4-BE49-F238E27FC236}">
                <a16:creationId xmlns:a16="http://schemas.microsoft.com/office/drawing/2014/main" id="{7C72253F-9676-4B64-8567-782AB5F918D8}"/>
              </a:ext>
            </a:extLst>
          </p:cNvPr>
          <p:cNvSpPr/>
          <p:nvPr/>
        </p:nvSpPr>
        <p:spPr>
          <a:xfrm>
            <a:off x="2262808" y="3495264"/>
            <a:ext cx="218660" cy="1673084"/>
          </a:xfrm>
          <a:prstGeom prst="leftBrace">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8" name="TextBox 17">
            <a:extLst>
              <a:ext uri="{FF2B5EF4-FFF2-40B4-BE49-F238E27FC236}">
                <a16:creationId xmlns:a16="http://schemas.microsoft.com/office/drawing/2014/main" id="{33C258C7-9C3B-4A9E-95D3-7CC0DA377FD9}"/>
              </a:ext>
            </a:extLst>
          </p:cNvPr>
          <p:cNvSpPr txBox="1"/>
          <p:nvPr/>
        </p:nvSpPr>
        <p:spPr>
          <a:xfrm>
            <a:off x="1600200" y="4047626"/>
            <a:ext cx="556592" cy="492443"/>
          </a:xfrm>
          <a:prstGeom prst="rect">
            <a:avLst/>
          </a:prstGeom>
          <a:noFill/>
        </p:spPr>
        <p:txBody>
          <a:bodyPr wrap="square" rtlCol="0">
            <a:spAutoFit/>
          </a:bodyPr>
          <a:lstStyle/>
          <a:p>
            <a:r>
              <a:rPr lang="en-IN" sz="2600" dirty="0"/>
              <a:t>10</a:t>
            </a:r>
          </a:p>
        </p:txBody>
      </p:sp>
      <p:sp>
        <p:nvSpPr>
          <p:cNvPr id="19" name="TextBox 18">
            <a:extLst>
              <a:ext uri="{FF2B5EF4-FFF2-40B4-BE49-F238E27FC236}">
                <a16:creationId xmlns:a16="http://schemas.microsoft.com/office/drawing/2014/main" id="{764B2ADD-002A-4AC5-8BD4-4B2EDA5E02D0}"/>
              </a:ext>
            </a:extLst>
          </p:cNvPr>
          <p:cNvSpPr txBox="1"/>
          <p:nvPr/>
        </p:nvSpPr>
        <p:spPr>
          <a:xfrm>
            <a:off x="3952458" y="1063438"/>
            <a:ext cx="662608" cy="2308324"/>
          </a:xfrm>
          <a:prstGeom prst="rect">
            <a:avLst/>
          </a:prstGeom>
          <a:noFill/>
        </p:spPr>
        <p:txBody>
          <a:bodyPr wrap="square" rtlCol="0">
            <a:spAutoFit/>
          </a:bodyPr>
          <a:lstStyle/>
          <a:p>
            <a:r>
              <a:rPr lang="en-IN" sz="2400" dirty="0"/>
              <a:t>BA</a:t>
            </a:r>
          </a:p>
          <a:p>
            <a:r>
              <a:rPr lang="en-IN" sz="2400" dirty="0"/>
              <a:t>BB</a:t>
            </a:r>
          </a:p>
          <a:p>
            <a:r>
              <a:rPr lang="en-IN" sz="2400" dirty="0"/>
              <a:t>BC</a:t>
            </a:r>
          </a:p>
          <a:p>
            <a:r>
              <a:rPr lang="en-IN" sz="2400" dirty="0"/>
              <a:t>BD</a:t>
            </a:r>
          </a:p>
          <a:p>
            <a:r>
              <a:rPr lang="en-IN" sz="2400" dirty="0"/>
              <a:t>…</a:t>
            </a:r>
          </a:p>
          <a:p>
            <a:r>
              <a:rPr lang="en-IN" sz="2400" dirty="0"/>
              <a:t>BZ</a:t>
            </a:r>
          </a:p>
        </p:txBody>
      </p:sp>
      <p:sp>
        <p:nvSpPr>
          <p:cNvPr id="20" name="Left Brace 19">
            <a:extLst>
              <a:ext uri="{FF2B5EF4-FFF2-40B4-BE49-F238E27FC236}">
                <a16:creationId xmlns:a16="http://schemas.microsoft.com/office/drawing/2014/main" id="{AE41A805-3CA1-4BD2-80D0-D5DAAB5A8F12}"/>
              </a:ext>
            </a:extLst>
          </p:cNvPr>
          <p:cNvSpPr/>
          <p:nvPr/>
        </p:nvSpPr>
        <p:spPr>
          <a:xfrm>
            <a:off x="3733798" y="1229145"/>
            <a:ext cx="288234" cy="2160104"/>
          </a:xfrm>
          <a:prstGeom prst="leftBrace">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1" name="TextBox 20">
            <a:extLst>
              <a:ext uri="{FF2B5EF4-FFF2-40B4-BE49-F238E27FC236}">
                <a16:creationId xmlns:a16="http://schemas.microsoft.com/office/drawing/2014/main" id="{4592AA93-502E-4B47-82D8-77745E0E3ADE}"/>
              </a:ext>
            </a:extLst>
          </p:cNvPr>
          <p:cNvSpPr txBox="1"/>
          <p:nvPr/>
        </p:nvSpPr>
        <p:spPr>
          <a:xfrm>
            <a:off x="3094382" y="2055147"/>
            <a:ext cx="556592" cy="492443"/>
          </a:xfrm>
          <a:prstGeom prst="rect">
            <a:avLst/>
          </a:prstGeom>
          <a:noFill/>
        </p:spPr>
        <p:txBody>
          <a:bodyPr wrap="square" rtlCol="0">
            <a:spAutoFit/>
          </a:bodyPr>
          <a:lstStyle/>
          <a:p>
            <a:r>
              <a:rPr lang="en-IN" sz="2600" dirty="0"/>
              <a:t>26</a:t>
            </a:r>
          </a:p>
        </p:txBody>
      </p:sp>
      <p:sp>
        <p:nvSpPr>
          <p:cNvPr id="22" name="TextBox 21">
            <a:extLst>
              <a:ext uri="{FF2B5EF4-FFF2-40B4-BE49-F238E27FC236}">
                <a16:creationId xmlns:a16="http://schemas.microsoft.com/office/drawing/2014/main" id="{40DA1C2B-0E52-4740-B1A5-22BE50878A59}"/>
              </a:ext>
            </a:extLst>
          </p:cNvPr>
          <p:cNvSpPr txBox="1"/>
          <p:nvPr/>
        </p:nvSpPr>
        <p:spPr>
          <a:xfrm>
            <a:off x="3965710" y="3312994"/>
            <a:ext cx="662608" cy="1938992"/>
          </a:xfrm>
          <a:prstGeom prst="rect">
            <a:avLst/>
          </a:prstGeom>
          <a:noFill/>
        </p:spPr>
        <p:txBody>
          <a:bodyPr wrap="square" rtlCol="0">
            <a:spAutoFit/>
          </a:bodyPr>
          <a:lstStyle/>
          <a:p>
            <a:r>
              <a:rPr lang="en-IN" sz="2400" dirty="0"/>
              <a:t>B0</a:t>
            </a:r>
          </a:p>
          <a:p>
            <a:r>
              <a:rPr lang="en-IN" sz="2400" dirty="0"/>
              <a:t>B1</a:t>
            </a:r>
          </a:p>
          <a:p>
            <a:r>
              <a:rPr lang="en-IN" sz="2400" dirty="0"/>
              <a:t>B2</a:t>
            </a:r>
          </a:p>
          <a:p>
            <a:r>
              <a:rPr lang="en-IN" sz="2400" dirty="0"/>
              <a:t>…</a:t>
            </a:r>
          </a:p>
          <a:p>
            <a:r>
              <a:rPr lang="en-IN" sz="2400" dirty="0"/>
              <a:t>B9</a:t>
            </a:r>
          </a:p>
        </p:txBody>
      </p:sp>
      <p:sp>
        <p:nvSpPr>
          <p:cNvPr id="23" name="Left Brace 22">
            <a:extLst>
              <a:ext uri="{FF2B5EF4-FFF2-40B4-BE49-F238E27FC236}">
                <a16:creationId xmlns:a16="http://schemas.microsoft.com/office/drawing/2014/main" id="{B0D994E4-508A-4988-8EF2-DF88083042C9}"/>
              </a:ext>
            </a:extLst>
          </p:cNvPr>
          <p:cNvSpPr/>
          <p:nvPr/>
        </p:nvSpPr>
        <p:spPr>
          <a:xfrm>
            <a:off x="3747050" y="3478701"/>
            <a:ext cx="218660" cy="1673084"/>
          </a:xfrm>
          <a:prstGeom prst="leftBrace">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4" name="TextBox 23">
            <a:extLst>
              <a:ext uri="{FF2B5EF4-FFF2-40B4-BE49-F238E27FC236}">
                <a16:creationId xmlns:a16="http://schemas.microsoft.com/office/drawing/2014/main" id="{8EC71737-FE02-4491-815B-D0D6E489BC02}"/>
              </a:ext>
            </a:extLst>
          </p:cNvPr>
          <p:cNvSpPr txBox="1"/>
          <p:nvPr/>
        </p:nvSpPr>
        <p:spPr>
          <a:xfrm>
            <a:off x="3084442" y="4031063"/>
            <a:ext cx="556592" cy="492443"/>
          </a:xfrm>
          <a:prstGeom prst="rect">
            <a:avLst/>
          </a:prstGeom>
          <a:noFill/>
        </p:spPr>
        <p:txBody>
          <a:bodyPr wrap="square" rtlCol="0">
            <a:spAutoFit/>
          </a:bodyPr>
          <a:lstStyle/>
          <a:p>
            <a:r>
              <a:rPr lang="en-IN" sz="2600" dirty="0"/>
              <a:t>10</a:t>
            </a:r>
          </a:p>
        </p:txBody>
      </p:sp>
      <p:sp>
        <p:nvSpPr>
          <p:cNvPr id="25" name="TextBox 24">
            <a:extLst>
              <a:ext uri="{FF2B5EF4-FFF2-40B4-BE49-F238E27FC236}">
                <a16:creationId xmlns:a16="http://schemas.microsoft.com/office/drawing/2014/main" id="{077C0B64-F9DF-4E2B-92C1-9DD584973E0C}"/>
              </a:ext>
            </a:extLst>
          </p:cNvPr>
          <p:cNvSpPr txBox="1"/>
          <p:nvPr/>
        </p:nvSpPr>
        <p:spPr>
          <a:xfrm>
            <a:off x="5456580" y="1066753"/>
            <a:ext cx="662608" cy="2308324"/>
          </a:xfrm>
          <a:prstGeom prst="rect">
            <a:avLst/>
          </a:prstGeom>
          <a:noFill/>
        </p:spPr>
        <p:txBody>
          <a:bodyPr wrap="square" rtlCol="0">
            <a:spAutoFit/>
          </a:bodyPr>
          <a:lstStyle/>
          <a:p>
            <a:r>
              <a:rPr lang="en-IN" sz="2400" dirty="0"/>
              <a:t>CA</a:t>
            </a:r>
          </a:p>
          <a:p>
            <a:r>
              <a:rPr lang="en-IN" sz="2400" dirty="0"/>
              <a:t>CB</a:t>
            </a:r>
          </a:p>
          <a:p>
            <a:r>
              <a:rPr lang="en-IN" sz="2400" dirty="0"/>
              <a:t>CC</a:t>
            </a:r>
          </a:p>
          <a:p>
            <a:r>
              <a:rPr lang="en-IN" sz="2400" dirty="0"/>
              <a:t>CD</a:t>
            </a:r>
          </a:p>
          <a:p>
            <a:r>
              <a:rPr lang="en-IN" sz="2400" dirty="0"/>
              <a:t>…</a:t>
            </a:r>
          </a:p>
          <a:p>
            <a:r>
              <a:rPr lang="en-IN" sz="2400" dirty="0"/>
              <a:t>CZ</a:t>
            </a:r>
          </a:p>
        </p:txBody>
      </p:sp>
      <p:sp>
        <p:nvSpPr>
          <p:cNvPr id="26" name="Left Brace 25">
            <a:extLst>
              <a:ext uri="{FF2B5EF4-FFF2-40B4-BE49-F238E27FC236}">
                <a16:creationId xmlns:a16="http://schemas.microsoft.com/office/drawing/2014/main" id="{70BF69C7-0926-466A-9E6A-59C3D467CD53}"/>
              </a:ext>
            </a:extLst>
          </p:cNvPr>
          <p:cNvSpPr/>
          <p:nvPr/>
        </p:nvSpPr>
        <p:spPr>
          <a:xfrm>
            <a:off x="5237920" y="1232460"/>
            <a:ext cx="288234" cy="2160104"/>
          </a:xfrm>
          <a:prstGeom prst="leftBrace">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7" name="TextBox 26">
            <a:extLst>
              <a:ext uri="{FF2B5EF4-FFF2-40B4-BE49-F238E27FC236}">
                <a16:creationId xmlns:a16="http://schemas.microsoft.com/office/drawing/2014/main" id="{5B31A5C1-AEE3-4A21-8C50-326A101695B6}"/>
              </a:ext>
            </a:extLst>
          </p:cNvPr>
          <p:cNvSpPr txBox="1"/>
          <p:nvPr/>
        </p:nvSpPr>
        <p:spPr>
          <a:xfrm>
            <a:off x="4598504" y="2058462"/>
            <a:ext cx="556592" cy="492443"/>
          </a:xfrm>
          <a:prstGeom prst="rect">
            <a:avLst/>
          </a:prstGeom>
          <a:noFill/>
        </p:spPr>
        <p:txBody>
          <a:bodyPr wrap="square" rtlCol="0">
            <a:spAutoFit/>
          </a:bodyPr>
          <a:lstStyle/>
          <a:p>
            <a:r>
              <a:rPr lang="en-IN" sz="2600" dirty="0"/>
              <a:t>26</a:t>
            </a:r>
          </a:p>
        </p:txBody>
      </p:sp>
      <p:sp>
        <p:nvSpPr>
          <p:cNvPr id="28" name="TextBox 27">
            <a:extLst>
              <a:ext uri="{FF2B5EF4-FFF2-40B4-BE49-F238E27FC236}">
                <a16:creationId xmlns:a16="http://schemas.microsoft.com/office/drawing/2014/main" id="{C97D9B92-CDB6-4D31-A0B2-9AE85C2EA498}"/>
              </a:ext>
            </a:extLst>
          </p:cNvPr>
          <p:cNvSpPr txBox="1"/>
          <p:nvPr/>
        </p:nvSpPr>
        <p:spPr>
          <a:xfrm>
            <a:off x="5469832" y="3316309"/>
            <a:ext cx="662608" cy="1938992"/>
          </a:xfrm>
          <a:prstGeom prst="rect">
            <a:avLst/>
          </a:prstGeom>
          <a:noFill/>
        </p:spPr>
        <p:txBody>
          <a:bodyPr wrap="square" rtlCol="0">
            <a:spAutoFit/>
          </a:bodyPr>
          <a:lstStyle/>
          <a:p>
            <a:r>
              <a:rPr lang="en-IN" sz="2400" dirty="0"/>
              <a:t>C0</a:t>
            </a:r>
          </a:p>
          <a:p>
            <a:r>
              <a:rPr lang="en-IN" sz="2400" dirty="0"/>
              <a:t>C1</a:t>
            </a:r>
          </a:p>
          <a:p>
            <a:r>
              <a:rPr lang="en-IN" sz="2400" dirty="0"/>
              <a:t>C2</a:t>
            </a:r>
          </a:p>
          <a:p>
            <a:r>
              <a:rPr lang="en-IN" sz="2400" dirty="0"/>
              <a:t>…</a:t>
            </a:r>
          </a:p>
          <a:p>
            <a:r>
              <a:rPr lang="en-IN" sz="2400" dirty="0"/>
              <a:t>C9</a:t>
            </a:r>
          </a:p>
        </p:txBody>
      </p:sp>
      <p:sp>
        <p:nvSpPr>
          <p:cNvPr id="29" name="Left Brace 28">
            <a:extLst>
              <a:ext uri="{FF2B5EF4-FFF2-40B4-BE49-F238E27FC236}">
                <a16:creationId xmlns:a16="http://schemas.microsoft.com/office/drawing/2014/main" id="{FA47DEA6-00D3-49CC-B492-AB705C43FED9}"/>
              </a:ext>
            </a:extLst>
          </p:cNvPr>
          <p:cNvSpPr/>
          <p:nvPr/>
        </p:nvSpPr>
        <p:spPr>
          <a:xfrm>
            <a:off x="5251172" y="3482016"/>
            <a:ext cx="218660" cy="1673084"/>
          </a:xfrm>
          <a:prstGeom prst="leftBrace">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30" name="TextBox 29">
            <a:extLst>
              <a:ext uri="{FF2B5EF4-FFF2-40B4-BE49-F238E27FC236}">
                <a16:creationId xmlns:a16="http://schemas.microsoft.com/office/drawing/2014/main" id="{EED63B31-19C5-4976-9438-06E6D0275E9E}"/>
              </a:ext>
            </a:extLst>
          </p:cNvPr>
          <p:cNvSpPr txBox="1"/>
          <p:nvPr/>
        </p:nvSpPr>
        <p:spPr>
          <a:xfrm>
            <a:off x="4588564" y="4034378"/>
            <a:ext cx="556592" cy="492443"/>
          </a:xfrm>
          <a:prstGeom prst="rect">
            <a:avLst/>
          </a:prstGeom>
          <a:noFill/>
        </p:spPr>
        <p:txBody>
          <a:bodyPr wrap="square" rtlCol="0">
            <a:spAutoFit/>
          </a:bodyPr>
          <a:lstStyle/>
          <a:p>
            <a:r>
              <a:rPr lang="en-IN" sz="2600" dirty="0"/>
              <a:t>10</a:t>
            </a:r>
          </a:p>
        </p:txBody>
      </p:sp>
      <p:sp>
        <p:nvSpPr>
          <p:cNvPr id="43" name="TextBox 42">
            <a:extLst>
              <a:ext uri="{FF2B5EF4-FFF2-40B4-BE49-F238E27FC236}">
                <a16:creationId xmlns:a16="http://schemas.microsoft.com/office/drawing/2014/main" id="{1B9A146D-A317-4FDC-980C-8EE33AFEC17E}"/>
              </a:ext>
            </a:extLst>
          </p:cNvPr>
          <p:cNvSpPr txBox="1"/>
          <p:nvPr/>
        </p:nvSpPr>
        <p:spPr>
          <a:xfrm>
            <a:off x="6241773" y="2640350"/>
            <a:ext cx="1123123" cy="553998"/>
          </a:xfrm>
          <a:prstGeom prst="rect">
            <a:avLst/>
          </a:prstGeom>
          <a:noFill/>
        </p:spPr>
        <p:txBody>
          <a:bodyPr wrap="square" rtlCol="0">
            <a:spAutoFit/>
          </a:bodyPr>
          <a:lstStyle/>
          <a:p>
            <a:r>
              <a:rPr lang="en-IN" sz="3000" dirty="0"/>
              <a:t>……….</a:t>
            </a:r>
          </a:p>
        </p:txBody>
      </p:sp>
      <p:sp>
        <p:nvSpPr>
          <p:cNvPr id="44" name="TextBox 43">
            <a:extLst>
              <a:ext uri="{FF2B5EF4-FFF2-40B4-BE49-F238E27FC236}">
                <a16:creationId xmlns:a16="http://schemas.microsoft.com/office/drawing/2014/main" id="{3F0245EA-75BD-4A2E-8F54-0A3411BEAFE4}"/>
              </a:ext>
            </a:extLst>
          </p:cNvPr>
          <p:cNvSpPr txBox="1"/>
          <p:nvPr/>
        </p:nvSpPr>
        <p:spPr>
          <a:xfrm>
            <a:off x="8252785" y="1219153"/>
            <a:ext cx="662608" cy="2308324"/>
          </a:xfrm>
          <a:prstGeom prst="rect">
            <a:avLst/>
          </a:prstGeom>
          <a:noFill/>
        </p:spPr>
        <p:txBody>
          <a:bodyPr wrap="square" rtlCol="0">
            <a:spAutoFit/>
          </a:bodyPr>
          <a:lstStyle/>
          <a:p>
            <a:r>
              <a:rPr lang="en-IN" sz="2400" dirty="0"/>
              <a:t>ZA</a:t>
            </a:r>
          </a:p>
          <a:p>
            <a:r>
              <a:rPr lang="en-IN" sz="2400" dirty="0"/>
              <a:t>ZB</a:t>
            </a:r>
          </a:p>
          <a:p>
            <a:r>
              <a:rPr lang="en-IN" sz="2400" dirty="0"/>
              <a:t>ZC</a:t>
            </a:r>
          </a:p>
          <a:p>
            <a:r>
              <a:rPr lang="en-IN" sz="2400" dirty="0"/>
              <a:t>ZD</a:t>
            </a:r>
          </a:p>
          <a:p>
            <a:r>
              <a:rPr lang="en-IN" sz="2400" dirty="0"/>
              <a:t>…</a:t>
            </a:r>
          </a:p>
          <a:p>
            <a:r>
              <a:rPr lang="en-IN" sz="2400" dirty="0"/>
              <a:t>ZZ</a:t>
            </a:r>
          </a:p>
        </p:txBody>
      </p:sp>
      <p:sp>
        <p:nvSpPr>
          <p:cNvPr id="45" name="Left Brace 44">
            <a:extLst>
              <a:ext uri="{FF2B5EF4-FFF2-40B4-BE49-F238E27FC236}">
                <a16:creationId xmlns:a16="http://schemas.microsoft.com/office/drawing/2014/main" id="{8634F65A-6B6D-4003-BFE9-5B8EE1DAEB6D}"/>
              </a:ext>
            </a:extLst>
          </p:cNvPr>
          <p:cNvSpPr/>
          <p:nvPr/>
        </p:nvSpPr>
        <p:spPr>
          <a:xfrm>
            <a:off x="8034125" y="1384860"/>
            <a:ext cx="288234" cy="2160104"/>
          </a:xfrm>
          <a:prstGeom prst="leftBrace">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46" name="TextBox 45">
            <a:extLst>
              <a:ext uri="{FF2B5EF4-FFF2-40B4-BE49-F238E27FC236}">
                <a16:creationId xmlns:a16="http://schemas.microsoft.com/office/drawing/2014/main" id="{C6BEC488-8D92-49EA-8C75-396058431C35}"/>
              </a:ext>
            </a:extLst>
          </p:cNvPr>
          <p:cNvSpPr txBox="1"/>
          <p:nvPr/>
        </p:nvSpPr>
        <p:spPr>
          <a:xfrm>
            <a:off x="7394709" y="2210862"/>
            <a:ext cx="556592" cy="492443"/>
          </a:xfrm>
          <a:prstGeom prst="rect">
            <a:avLst/>
          </a:prstGeom>
          <a:noFill/>
        </p:spPr>
        <p:txBody>
          <a:bodyPr wrap="square" rtlCol="0">
            <a:spAutoFit/>
          </a:bodyPr>
          <a:lstStyle/>
          <a:p>
            <a:r>
              <a:rPr lang="en-IN" sz="2600" dirty="0"/>
              <a:t>26</a:t>
            </a:r>
          </a:p>
        </p:txBody>
      </p:sp>
      <p:sp>
        <p:nvSpPr>
          <p:cNvPr id="47" name="TextBox 46">
            <a:extLst>
              <a:ext uri="{FF2B5EF4-FFF2-40B4-BE49-F238E27FC236}">
                <a16:creationId xmlns:a16="http://schemas.microsoft.com/office/drawing/2014/main" id="{4E440A38-6C3F-4B36-A551-84EAD57308A6}"/>
              </a:ext>
            </a:extLst>
          </p:cNvPr>
          <p:cNvSpPr txBox="1"/>
          <p:nvPr/>
        </p:nvSpPr>
        <p:spPr>
          <a:xfrm>
            <a:off x="8266037" y="3468709"/>
            <a:ext cx="662608" cy="1938992"/>
          </a:xfrm>
          <a:prstGeom prst="rect">
            <a:avLst/>
          </a:prstGeom>
          <a:noFill/>
        </p:spPr>
        <p:txBody>
          <a:bodyPr wrap="square" rtlCol="0">
            <a:spAutoFit/>
          </a:bodyPr>
          <a:lstStyle/>
          <a:p>
            <a:r>
              <a:rPr lang="en-IN" sz="2400" dirty="0"/>
              <a:t>Z0</a:t>
            </a:r>
          </a:p>
          <a:p>
            <a:r>
              <a:rPr lang="en-IN" sz="2400" dirty="0"/>
              <a:t>Z1</a:t>
            </a:r>
          </a:p>
          <a:p>
            <a:r>
              <a:rPr lang="en-IN" sz="2400" dirty="0"/>
              <a:t>Z2</a:t>
            </a:r>
          </a:p>
          <a:p>
            <a:r>
              <a:rPr lang="en-IN" sz="2400" dirty="0"/>
              <a:t>…</a:t>
            </a:r>
          </a:p>
          <a:p>
            <a:r>
              <a:rPr lang="en-IN" sz="2400" dirty="0"/>
              <a:t>Z9</a:t>
            </a:r>
          </a:p>
        </p:txBody>
      </p:sp>
      <p:sp>
        <p:nvSpPr>
          <p:cNvPr id="48" name="Left Brace 47">
            <a:extLst>
              <a:ext uri="{FF2B5EF4-FFF2-40B4-BE49-F238E27FC236}">
                <a16:creationId xmlns:a16="http://schemas.microsoft.com/office/drawing/2014/main" id="{51C1381F-38F7-482E-A51C-DAD49C38CB0E}"/>
              </a:ext>
            </a:extLst>
          </p:cNvPr>
          <p:cNvSpPr/>
          <p:nvPr/>
        </p:nvSpPr>
        <p:spPr>
          <a:xfrm>
            <a:off x="8047377" y="3634416"/>
            <a:ext cx="218660" cy="1673084"/>
          </a:xfrm>
          <a:prstGeom prst="leftBrace">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49" name="TextBox 48">
            <a:extLst>
              <a:ext uri="{FF2B5EF4-FFF2-40B4-BE49-F238E27FC236}">
                <a16:creationId xmlns:a16="http://schemas.microsoft.com/office/drawing/2014/main" id="{89090FBD-FD35-4C6D-AF62-AF8342B576A0}"/>
              </a:ext>
            </a:extLst>
          </p:cNvPr>
          <p:cNvSpPr txBox="1"/>
          <p:nvPr/>
        </p:nvSpPr>
        <p:spPr>
          <a:xfrm>
            <a:off x="7384769" y="4186778"/>
            <a:ext cx="556592" cy="492443"/>
          </a:xfrm>
          <a:prstGeom prst="rect">
            <a:avLst/>
          </a:prstGeom>
          <a:noFill/>
        </p:spPr>
        <p:txBody>
          <a:bodyPr wrap="square" rtlCol="0">
            <a:spAutoFit/>
          </a:bodyPr>
          <a:lstStyle/>
          <a:p>
            <a:r>
              <a:rPr lang="en-IN" sz="2600" dirty="0"/>
              <a:t>10</a:t>
            </a:r>
          </a:p>
        </p:txBody>
      </p:sp>
      <p:sp>
        <p:nvSpPr>
          <p:cNvPr id="50" name="TextBox 49">
            <a:extLst>
              <a:ext uri="{FF2B5EF4-FFF2-40B4-BE49-F238E27FC236}">
                <a16:creationId xmlns:a16="http://schemas.microsoft.com/office/drawing/2014/main" id="{371A9E3D-BE25-4102-9204-E720858299A7}"/>
              </a:ext>
            </a:extLst>
          </p:cNvPr>
          <p:cNvSpPr txBox="1"/>
          <p:nvPr/>
        </p:nvSpPr>
        <p:spPr>
          <a:xfrm>
            <a:off x="66263" y="5307500"/>
            <a:ext cx="8620537" cy="461665"/>
          </a:xfrm>
          <a:prstGeom prst="rect">
            <a:avLst/>
          </a:prstGeom>
          <a:noFill/>
        </p:spPr>
        <p:txBody>
          <a:bodyPr wrap="square" rtlCol="0">
            <a:spAutoFit/>
          </a:bodyPr>
          <a:lstStyle/>
          <a:p>
            <a:r>
              <a:rPr lang="en-IN" sz="2400" dirty="0">
                <a:solidFill>
                  <a:srgbClr val="7030A0"/>
                </a:solidFill>
              </a:rPr>
              <a:t>=26		+	36		+		36		+	36		+				36</a:t>
            </a:r>
          </a:p>
        </p:txBody>
      </p:sp>
      <p:sp>
        <p:nvSpPr>
          <p:cNvPr id="51" name="TextBox 50">
            <a:extLst>
              <a:ext uri="{FF2B5EF4-FFF2-40B4-BE49-F238E27FC236}">
                <a16:creationId xmlns:a16="http://schemas.microsoft.com/office/drawing/2014/main" id="{F6AAACEA-3A6D-4434-BA63-E7F7E9B73641}"/>
              </a:ext>
            </a:extLst>
          </p:cNvPr>
          <p:cNvSpPr txBox="1"/>
          <p:nvPr/>
        </p:nvSpPr>
        <p:spPr>
          <a:xfrm>
            <a:off x="69578" y="5688497"/>
            <a:ext cx="8620537" cy="461665"/>
          </a:xfrm>
          <a:prstGeom prst="rect">
            <a:avLst/>
          </a:prstGeom>
          <a:noFill/>
        </p:spPr>
        <p:txBody>
          <a:bodyPr wrap="square" rtlCol="0">
            <a:spAutoFit/>
          </a:bodyPr>
          <a:lstStyle/>
          <a:p>
            <a:r>
              <a:rPr lang="en-IN" sz="2400" dirty="0">
                <a:solidFill>
                  <a:srgbClr val="7030A0"/>
                </a:solidFill>
              </a:rPr>
              <a:t>=26		+	26*36</a:t>
            </a:r>
          </a:p>
        </p:txBody>
      </p:sp>
      <p:sp>
        <p:nvSpPr>
          <p:cNvPr id="52" name="TextBox 51">
            <a:extLst>
              <a:ext uri="{FF2B5EF4-FFF2-40B4-BE49-F238E27FC236}">
                <a16:creationId xmlns:a16="http://schemas.microsoft.com/office/drawing/2014/main" id="{A36C997E-7FFC-4A91-9C9A-FAE96FA715E4}"/>
              </a:ext>
            </a:extLst>
          </p:cNvPr>
          <p:cNvSpPr txBox="1"/>
          <p:nvPr/>
        </p:nvSpPr>
        <p:spPr>
          <a:xfrm>
            <a:off x="23184" y="6096100"/>
            <a:ext cx="8620537" cy="461665"/>
          </a:xfrm>
          <a:prstGeom prst="rect">
            <a:avLst/>
          </a:prstGeom>
          <a:noFill/>
        </p:spPr>
        <p:txBody>
          <a:bodyPr wrap="square" rtlCol="0">
            <a:spAutoFit/>
          </a:bodyPr>
          <a:lstStyle/>
          <a:p>
            <a:r>
              <a:rPr lang="en-IN" sz="2400" dirty="0">
                <a:solidFill>
                  <a:srgbClr val="7030A0"/>
                </a:solidFill>
              </a:rPr>
              <a:t>ANSWER	=	26		+	26*36	-	5(RESERVED) =	26+931=</a:t>
            </a:r>
            <a:r>
              <a:rPr lang="en-IN" sz="2400" b="1" dirty="0">
                <a:effectLst>
                  <a:outerShdw blurRad="38100" dist="38100" dir="2700000" algn="tl">
                    <a:srgbClr val="000000">
                      <a:alpha val="43137"/>
                    </a:srgbClr>
                  </a:outerShdw>
                </a:effectLst>
              </a:rPr>
              <a:t>957</a:t>
            </a:r>
            <a:r>
              <a:rPr lang="en-IN" sz="2400" dirty="0">
                <a:solidFill>
                  <a:srgbClr val="7030A0"/>
                </a:solidFill>
              </a:rPr>
              <a:t> </a:t>
            </a:r>
          </a:p>
        </p:txBody>
      </p:sp>
    </p:spTree>
    <p:extLst>
      <p:ext uri="{BB962C8B-B14F-4D97-AF65-F5344CB8AC3E}">
        <p14:creationId xmlns:p14="http://schemas.microsoft.com/office/powerpoint/2010/main" val="35451949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65969-44D9-4A16-9D0F-FD9428B23573}"/>
              </a:ext>
            </a:extLst>
          </p:cNvPr>
          <p:cNvSpPr>
            <a:spLocks noGrp="1"/>
          </p:cNvSpPr>
          <p:nvPr>
            <p:ph type="title"/>
          </p:nvPr>
        </p:nvSpPr>
        <p:spPr/>
        <p:txBody>
          <a:bodyPr/>
          <a:lstStyle/>
          <a:p>
            <a:r>
              <a:rPr lang="en-IN" dirty="0"/>
              <a:t>Basics of Counting – Example 2</a:t>
            </a:r>
          </a:p>
        </p:txBody>
      </p:sp>
      <p:sp>
        <p:nvSpPr>
          <p:cNvPr id="3" name="Content Placeholder 2">
            <a:extLst>
              <a:ext uri="{FF2B5EF4-FFF2-40B4-BE49-F238E27FC236}">
                <a16:creationId xmlns:a16="http://schemas.microsoft.com/office/drawing/2014/main" id="{9DEC7B9A-8015-4FB4-8C24-4BC3D64C32B7}"/>
              </a:ext>
            </a:extLst>
          </p:cNvPr>
          <p:cNvSpPr>
            <a:spLocks noGrp="1"/>
          </p:cNvSpPr>
          <p:nvPr>
            <p:ph idx="1"/>
          </p:nvPr>
        </p:nvSpPr>
        <p:spPr>
          <a:xfrm>
            <a:off x="393289" y="1248697"/>
            <a:ext cx="8392901" cy="5400581"/>
          </a:xfrm>
        </p:spPr>
        <p:txBody>
          <a:bodyPr>
            <a:normAutofit/>
          </a:bodyPr>
          <a:lstStyle/>
          <a:p>
            <a:pPr marL="0" indent="0">
              <a:buNone/>
            </a:pPr>
            <a:r>
              <a:rPr lang="en-US" sz="2400" b="1" dirty="0"/>
              <a:t>Ques:- </a:t>
            </a:r>
            <a:r>
              <a:rPr lang="en-US" sz="2400" dirty="0"/>
              <a:t>How many strings are there of lowercase letters of length four or less, not counting the empty string?</a:t>
            </a:r>
          </a:p>
          <a:p>
            <a:pPr marL="0" indent="0">
              <a:buNone/>
            </a:pPr>
            <a:endParaRPr lang="en-US" sz="2400" dirty="0"/>
          </a:p>
          <a:p>
            <a:pPr marL="0" indent="0">
              <a:buNone/>
            </a:pPr>
            <a:r>
              <a:rPr lang="en-US" sz="2400" b="1" dirty="0"/>
              <a:t>Sol:- </a:t>
            </a:r>
            <a:r>
              <a:rPr lang="en-US" sz="2400" dirty="0"/>
              <a:t>By the sum rule we can count the number of strings of length 4 or less by counting the number of strings of length </a:t>
            </a:r>
            <a:r>
              <a:rPr lang="en-US" sz="2400" dirty="0" err="1"/>
              <a:t>i</a:t>
            </a:r>
            <a:r>
              <a:rPr lang="en-US" sz="2400" dirty="0"/>
              <a:t>, for 0 ≤ </a:t>
            </a:r>
            <a:r>
              <a:rPr lang="en-US" sz="2400" dirty="0" err="1"/>
              <a:t>i</a:t>
            </a:r>
            <a:r>
              <a:rPr lang="en-US" sz="2400" dirty="0"/>
              <a:t> ≤ 4, and then adding the results. </a:t>
            </a:r>
            <a:endParaRPr lang="en-IN" dirty="0"/>
          </a:p>
        </p:txBody>
      </p:sp>
    </p:spTree>
    <p:extLst>
      <p:ext uri="{BB962C8B-B14F-4D97-AF65-F5344CB8AC3E}">
        <p14:creationId xmlns:p14="http://schemas.microsoft.com/office/powerpoint/2010/main" val="33260876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BB92C-06EC-452E-851B-A95C7EA6350F}"/>
              </a:ext>
            </a:extLst>
          </p:cNvPr>
          <p:cNvSpPr>
            <a:spLocks noGrp="1"/>
          </p:cNvSpPr>
          <p:nvPr>
            <p:ph type="title"/>
          </p:nvPr>
        </p:nvSpPr>
        <p:spPr/>
        <p:txBody>
          <a:bodyPr/>
          <a:lstStyle/>
          <a:p>
            <a:r>
              <a:rPr lang="en-IN" dirty="0"/>
              <a:t>Basics of Counting – Example 2</a:t>
            </a:r>
          </a:p>
        </p:txBody>
      </p:sp>
      <p:sp>
        <p:nvSpPr>
          <p:cNvPr id="4" name="TextBox 3">
            <a:extLst>
              <a:ext uri="{FF2B5EF4-FFF2-40B4-BE49-F238E27FC236}">
                <a16:creationId xmlns:a16="http://schemas.microsoft.com/office/drawing/2014/main" id="{7DFC4DF6-4963-4AA8-9187-0E1F7660AA0F}"/>
              </a:ext>
            </a:extLst>
          </p:cNvPr>
          <p:cNvSpPr txBox="1"/>
          <p:nvPr/>
        </p:nvSpPr>
        <p:spPr>
          <a:xfrm>
            <a:off x="228600" y="2001076"/>
            <a:ext cx="815009" cy="461665"/>
          </a:xfrm>
          <a:prstGeom prst="rect">
            <a:avLst/>
          </a:prstGeom>
          <a:noFill/>
        </p:spPr>
        <p:txBody>
          <a:bodyPr wrap="square" rtlCol="0">
            <a:spAutoFit/>
          </a:bodyPr>
          <a:lstStyle/>
          <a:p>
            <a:r>
              <a:rPr lang="en-IN" sz="2400" dirty="0"/>
              <a:t>Null</a:t>
            </a:r>
          </a:p>
        </p:txBody>
      </p:sp>
      <p:sp>
        <p:nvSpPr>
          <p:cNvPr id="5" name="TextBox 4">
            <a:extLst>
              <a:ext uri="{FF2B5EF4-FFF2-40B4-BE49-F238E27FC236}">
                <a16:creationId xmlns:a16="http://schemas.microsoft.com/office/drawing/2014/main" id="{87DD47EE-5320-41E9-B022-BC1982F55B1E}"/>
              </a:ext>
            </a:extLst>
          </p:cNvPr>
          <p:cNvSpPr txBox="1"/>
          <p:nvPr/>
        </p:nvSpPr>
        <p:spPr>
          <a:xfrm>
            <a:off x="1043609" y="1904947"/>
            <a:ext cx="1109869" cy="3046988"/>
          </a:xfrm>
          <a:prstGeom prst="rect">
            <a:avLst/>
          </a:prstGeom>
          <a:noFill/>
        </p:spPr>
        <p:txBody>
          <a:bodyPr wrap="square" rtlCol="0">
            <a:spAutoFit/>
          </a:bodyPr>
          <a:lstStyle/>
          <a:p>
            <a:pPr algn="ctr"/>
            <a:r>
              <a:rPr lang="en-IN" sz="2400" dirty="0"/>
              <a:t>1 Letter</a:t>
            </a:r>
          </a:p>
          <a:p>
            <a:pPr algn="ctr"/>
            <a:r>
              <a:rPr lang="en-IN" sz="2400" dirty="0"/>
              <a:t>a</a:t>
            </a:r>
          </a:p>
          <a:p>
            <a:pPr algn="ctr"/>
            <a:r>
              <a:rPr lang="en-IN" sz="2400" dirty="0"/>
              <a:t>b</a:t>
            </a:r>
          </a:p>
          <a:p>
            <a:pPr algn="ctr"/>
            <a:r>
              <a:rPr lang="en-IN" sz="2400" dirty="0"/>
              <a:t>c</a:t>
            </a:r>
          </a:p>
          <a:p>
            <a:pPr algn="ctr"/>
            <a:r>
              <a:rPr lang="en-IN" sz="2400" dirty="0"/>
              <a:t>…</a:t>
            </a:r>
          </a:p>
          <a:p>
            <a:pPr algn="ctr"/>
            <a:r>
              <a:rPr lang="en-IN" sz="2400" dirty="0"/>
              <a:t>…</a:t>
            </a:r>
          </a:p>
          <a:p>
            <a:pPr algn="ctr"/>
            <a:r>
              <a:rPr lang="en-IN" sz="2400" dirty="0"/>
              <a:t>z</a:t>
            </a:r>
          </a:p>
        </p:txBody>
      </p:sp>
      <p:sp>
        <p:nvSpPr>
          <p:cNvPr id="7" name="TextBox 6">
            <a:extLst>
              <a:ext uri="{FF2B5EF4-FFF2-40B4-BE49-F238E27FC236}">
                <a16:creationId xmlns:a16="http://schemas.microsoft.com/office/drawing/2014/main" id="{5DB0345D-7E87-420D-86E5-B6B8655AAF66}"/>
              </a:ext>
            </a:extLst>
          </p:cNvPr>
          <p:cNvSpPr txBox="1"/>
          <p:nvPr/>
        </p:nvSpPr>
        <p:spPr>
          <a:xfrm>
            <a:off x="1971261" y="1904947"/>
            <a:ext cx="1318591" cy="3416320"/>
          </a:xfrm>
          <a:prstGeom prst="rect">
            <a:avLst/>
          </a:prstGeom>
          <a:noFill/>
        </p:spPr>
        <p:txBody>
          <a:bodyPr wrap="square" rtlCol="0">
            <a:spAutoFit/>
          </a:bodyPr>
          <a:lstStyle/>
          <a:p>
            <a:pPr algn="ctr"/>
            <a:r>
              <a:rPr lang="en-IN" sz="2400" dirty="0"/>
              <a:t>2 Letters</a:t>
            </a:r>
          </a:p>
          <a:p>
            <a:pPr algn="ctr"/>
            <a:r>
              <a:rPr lang="en-IN" sz="2400" dirty="0"/>
              <a:t>aa</a:t>
            </a:r>
          </a:p>
          <a:p>
            <a:pPr algn="ctr"/>
            <a:r>
              <a:rPr lang="en-IN" sz="2400" dirty="0"/>
              <a:t>Ab</a:t>
            </a:r>
          </a:p>
          <a:p>
            <a:pPr algn="ctr"/>
            <a:r>
              <a:rPr lang="en-IN" sz="2400" dirty="0"/>
              <a:t>..</a:t>
            </a:r>
          </a:p>
          <a:p>
            <a:pPr algn="ctr"/>
            <a:r>
              <a:rPr lang="en-IN" sz="2400" dirty="0"/>
              <a:t>ba</a:t>
            </a:r>
          </a:p>
          <a:p>
            <a:pPr algn="ctr"/>
            <a:r>
              <a:rPr lang="en-IN" sz="2400" dirty="0"/>
              <a:t>bb</a:t>
            </a:r>
          </a:p>
          <a:p>
            <a:pPr algn="ctr"/>
            <a:r>
              <a:rPr lang="en-IN" sz="2400" dirty="0"/>
              <a:t>…</a:t>
            </a:r>
          </a:p>
          <a:p>
            <a:pPr algn="ctr"/>
            <a:r>
              <a:rPr lang="en-IN" sz="2400" dirty="0"/>
              <a:t>zz</a:t>
            </a:r>
          </a:p>
        </p:txBody>
      </p:sp>
      <p:sp>
        <p:nvSpPr>
          <p:cNvPr id="9" name="TextBox 8">
            <a:extLst>
              <a:ext uri="{FF2B5EF4-FFF2-40B4-BE49-F238E27FC236}">
                <a16:creationId xmlns:a16="http://schemas.microsoft.com/office/drawing/2014/main" id="{54F1A5B0-9B6F-460B-8D70-3CEEAF9A4238}"/>
              </a:ext>
            </a:extLst>
          </p:cNvPr>
          <p:cNvSpPr txBox="1"/>
          <p:nvPr/>
        </p:nvSpPr>
        <p:spPr>
          <a:xfrm>
            <a:off x="3488310" y="1891644"/>
            <a:ext cx="1212895" cy="3416320"/>
          </a:xfrm>
          <a:prstGeom prst="rect">
            <a:avLst/>
          </a:prstGeom>
          <a:noFill/>
        </p:spPr>
        <p:txBody>
          <a:bodyPr wrap="square" rtlCol="0">
            <a:spAutoFit/>
          </a:bodyPr>
          <a:lstStyle/>
          <a:p>
            <a:pPr algn="ctr"/>
            <a:r>
              <a:rPr lang="en-IN" sz="2400" dirty="0"/>
              <a:t>3 Letters</a:t>
            </a:r>
          </a:p>
          <a:p>
            <a:pPr algn="ctr"/>
            <a:r>
              <a:rPr lang="en-IN" sz="2400" dirty="0"/>
              <a:t>aaa</a:t>
            </a:r>
          </a:p>
          <a:p>
            <a:pPr algn="ctr"/>
            <a:r>
              <a:rPr lang="en-IN" sz="2400" dirty="0"/>
              <a:t>Aab</a:t>
            </a:r>
          </a:p>
          <a:p>
            <a:pPr algn="ctr"/>
            <a:r>
              <a:rPr lang="en-IN" sz="2400" dirty="0"/>
              <a:t>..</a:t>
            </a:r>
          </a:p>
          <a:p>
            <a:pPr algn="ctr"/>
            <a:r>
              <a:rPr lang="en-IN" sz="2400" dirty="0"/>
              <a:t>baa</a:t>
            </a:r>
          </a:p>
          <a:p>
            <a:pPr algn="ctr"/>
            <a:r>
              <a:rPr lang="en-IN" sz="2400" dirty="0"/>
              <a:t>bab</a:t>
            </a:r>
          </a:p>
          <a:p>
            <a:pPr algn="ctr"/>
            <a:r>
              <a:rPr lang="en-IN" sz="2400" dirty="0"/>
              <a:t>…</a:t>
            </a:r>
          </a:p>
          <a:p>
            <a:pPr algn="ctr"/>
            <a:r>
              <a:rPr lang="en-IN" sz="2400" dirty="0"/>
              <a:t>zzz</a:t>
            </a:r>
          </a:p>
        </p:txBody>
      </p:sp>
      <p:sp>
        <p:nvSpPr>
          <p:cNvPr id="10" name="TextBox 9">
            <a:extLst>
              <a:ext uri="{FF2B5EF4-FFF2-40B4-BE49-F238E27FC236}">
                <a16:creationId xmlns:a16="http://schemas.microsoft.com/office/drawing/2014/main" id="{A4716323-5322-4C32-AEF6-323137188096}"/>
              </a:ext>
            </a:extLst>
          </p:cNvPr>
          <p:cNvSpPr txBox="1"/>
          <p:nvPr/>
        </p:nvSpPr>
        <p:spPr>
          <a:xfrm>
            <a:off x="5429758" y="1894959"/>
            <a:ext cx="1212895" cy="3416320"/>
          </a:xfrm>
          <a:prstGeom prst="rect">
            <a:avLst/>
          </a:prstGeom>
          <a:noFill/>
        </p:spPr>
        <p:txBody>
          <a:bodyPr wrap="square" rtlCol="0">
            <a:spAutoFit/>
          </a:bodyPr>
          <a:lstStyle/>
          <a:p>
            <a:pPr algn="ctr"/>
            <a:r>
              <a:rPr lang="en-IN" sz="2400" dirty="0"/>
              <a:t>4 Letters</a:t>
            </a:r>
          </a:p>
          <a:p>
            <a:pPr algn="ctr"/>
            <a:r>
              <a:rPr lang="en-IN" sz="2400" dirty="0"/>
              <a:t>aaaa</a:t>
            </a:r>
          </a:p>
          <a:p>
            <a:pPr algn="ctr"/>
            <a:r>
              <a:rPr lang="en-IN" sz="2400" dirty="0"/>
              <a:t>Aaab</a:t>
            </a:r>
          </a:p>
          <a:p>
            <a:pPr algn="ctr"/>
            <a:r>
              <a:rPr lang="en-IN" sz="2400" dirty="0"/>
              <a:t>..</a:t>
            </a:r>
          </a:p>
          <a:p>
            <a:pPr algn="ctr"/>
            <a:r>
              <a:rPr lang="en-IN" sz="2400" dirty="0"/>
              <a:t>baaa</a:t>
            </a:r>
          </a:p>
          <a:p>
            <a:pPr algn="ctr"/>
            <a:r>
              <a:rPr lang="en-IN" sz="2400" dirty="0"/>
              <a:t>baab</a:t>
            </a:r>
          </a:p>
          <a:p>
            <a:pPr algn="ctr"/>
            <a:r>
              <a:rPr lang="en-IN" sz="2400" dirty="0"/>
              <a:t>…</a:t>
            </a:r>
          </a:p>
          <a:p>
            <a:pPr algn="ctr"/>
            <a:r>
              <a:rPr lang="en-IN" sz="2400" dirty="0"/>
              <a:t>zzzz</a:t>
            </a:r>
          </a:p>
        </p:txBody>
      </p:sp>
      <p:sp>
        <p:nvSpPr>
          <p:cNvPr id="11" name="TextBox 10">
            <a:extLst>
              <a:ext uri="{FF2B5EF4-FFF2-40B4-BE49-F238E27FC236}">
                <a16:creationId xmlns:a16="http://schemas.microsoft.com/office/drawing/2014/main" id="{00842244-725B-4D0F-A80F-823663852E83}"/>
              </a:ext>
            </a:extLst>
          </p:cNvPr>
          <p:cNvSpPr txBox="1"/>
          <p:nvPr/>
        </p:nvSpPr>
        <p:spPr>
          <a:xfrm>
            <a:off x="228600" y="5334571"/>
            <a:ext cx="6808304" cy="461665"/>
          </a:xfrm>
          <a:prstGeom prst="rect">
            <a:avLst/>
          </a:prstGeom>
          <a:noFill/>
        </p:spPr>
        <p:txBody>
          <a:bodyPr wrap="square" rtlCol="0">
            <a:spAutoFit/>
          </a:bodyPr>
          <a:lstStyle/>
          <a:p>
            <a:r>
              <a:rPr lang="en-IN" sz="2400" dirty="0"/>
              <a:t>=1	+	26	+	26.26	+	26.26.26	+	26.26.26.26</a:t>
            </a:r>
          </a:p>
        </p:txBody>
      </p:sp>
      <p:sp>
        <p:nvSpPr>
          <p:cNvPr id="12" name="TextBox 11">
            <a:extLst>
              <a:ext uri="{FF2B5EF4-FFF2-40B4-BE49-F238E27FC236}">
                <a16:creationId xmlns:a16="http://schemas.microsoft.com/office/drawing/2014/main" id="{EC537F95-79AB-4116-9000-5CCB42080C7D}"/>
              </a:ext>
            </a:extLst>
          </p:cNvPr>
          <p:cNvSpPr txBox="1"/>
          <p:nvPr/>
        </p:nvSpPr>
        <p:spPr>
          <a:xfrm>
            <a:off x="228600" y="6269999"/>
            <a:ext cx="7454348" cy="461665"/>
          </a:xfrm>
          <a:prstGeom prst="rect">
            <a:avLst/>
          </a:prstGeom>
          <a:noFill/>
        </p:spPr>
        <p:txBody>
          <a:bodyPr wrap="square" rtlCol="0">
            <a:spAutoFit/>
          </a:bodyPr>
          <a:lstStyle/>
          <a:p>
            <a:r>
              <a:rPr lang="en-IN" sz="2400" dirty="0"/>
              <a:t>= </a:t>
            </a:r>
            <a:r>
              <a:rPr lang="en-US" sz="2400" b="1" dirty="0"/>
              <a:t>1 + 	26 +	 676 	+ 17576	 + 456976 = 475,255</a:t>
            </a:r>
            <a:endParaRPr lang="en-IN" sz="2400" dirty="0"/>
          </a:p>
        </p:txBody>
      </p:sp>
      <p:sp>
        <p:nvSpPr>
          <p:cNvPr id="13" name="TextBox 12">
            <a:extLst>
              <a:ext uri="{FF2B5EF4-FFF2-40B4-BE49-F238E27FC236}">
                <a16:creationId xmlns:a16="http://schemas.microsoft.com/office/drawing/2014/main" id="{1B51A4DE-5202-4DFF-9E66-168A11EC19EA}"/>
              </a:ext>
            </a:extLst>
          </p:cNvPr>
          <p:cNvSpPr txBox="1"/>
          <p:nvPr/>
        </p:nvSpPr>
        <p:spPr>
          <a:xfrm>
            <a:off x="215352" y="5808334"/>
            <a:ext cx="6808304" cy="461665"/>
          </a:xfrm>
          <a:prstGeom prst="rect">
            <a:avLst/>
          </a:prstGeom>
          <a:noFill/>
        </p:spPr>
        <p:txBody>
          <a:bodyPr wrap="square" rtlCol="0">
            <a:spAutoFit/>
          </a:bodyPr>
          <a:lstStyle/>
          <a:p>
            <a:r>
              <a:rPr lang="en-IN" sz="2400" dirty="0"/>
              <a:t>=</a:t>
            </a:r>
            <a:r>
              <a:rPr lang="en-US" sz="2400" b="1" dirty="0"/>
              <a:t>26</a:t>
            </a:r>
            <a:r>
              <a:rPr lang="en-US" sz="2400" b="1" baseline="30000" dirty="0"/>
              <a:t>0</a:t>
            </a:r>
            <a:r>
              <a:rPr lang="en-US" sz="2400" b="1" dirty="0"/>
              <a:t> +	26</a:t>
            </a:r>
            <a:r>
              <a:rPr lang="en-US" sz="2400" b="1" baseline="30000" dirty="0"/>
              <a:t>1</a:t>
            </a:r>
            <a:r>
              <a:rPr lang="en-US" sz="2400" b="1" dirty="0"/>
              <a:t> +	26</a:t>
            </a:r>
            <a:r>
              <a:rPr lang="en-US" sz="2400" b="1" baseline="30000" dirty="0"/>
              <a:t>2</a:t>
            </a:r>
            <a:r>
              <a:rPr lang="en-US" sz="2400" b="1" dirty="0"/>
              <a:t> 	+	26</a:t>
            </a:r>
            <a:r>
              <a:rPr lang="en-US" sz="2400" b="1" baseline="30000" dirty="0"/>
              <a:t>3			</a:t>
            </a:r>
            <a:r>
              <a:rPr lang="en-US" sz="2400" b="1" dirty="0"/>
              <a:t> +	26</a:t>
            </a:r>
            <a:r>
              <a:rPr lang="en-US" sz="2400" b="1" baseline="30000" dirty="0"/>
              <a:t>4</a:t>
            </a:r>
            <a:r>
              <a:rPr lang="en-US" sz="2400" b="1" dirty="0"/>
              <a:t> </a:t>
            </a:r>
            <a:endParaRPr lang="en-IN" sz="2400" dirty="0"/>
          </a:p>
        </p:txBody>
      </p:sp>
      <p:sp>
        <p:nvSpPr>
          <p:cNvPr id="14" name="TextBox 13">
            <a:extLst>
              <a:ext uri="{FF2B5EF4-FFF2-40B4-BE49-F238E27FC236}">
                <a16:creationId xmlns:a16="http://schemas.microsoft.com/office/drawing/2014/main" id="{B8154448-638F-4815-9357-607C20F03CA8}"/>
              </a:ext>
            </a:extLst>
          </p:cNvPr>
          <p:cNvSpPr txBox="1"/>
          <p:nvPr/>
        </p:nvSpPr>
        <p:spPr>
          <a:xfrm>
            <a:off x="393290" y="1202635"/>
            <a:ext cx="8504904" cy="1200329"/>
          </a:xfrm>
          <a:prstGeom prst="rect">
            <a:avLst/>
          </a:prstGeom>
          <a:noFill/>
        </p:spPr>
        <p:txBody>
          <a:bodyPr wrap="square" rtlCol="0">
            <a:spAutoFit/>
          </a:bodyPr>
          <a:lstStyle/>
          <a:p>
            <a:r>
              <a:rPr lang="en-US" sz="2400" b="1" dirty="0"/>
              <a:t>Ques:- </a:t>
            </a:r>
            <a:r>
              <a:rPr lang="en-US" sz="2400" dirty="0"/>
              <a:t>How many strings are there of lowercase letters of length four or less, not counting the empty string?</a:t>
            </a:r>
          </a:p>
          <a:p>
            <a:endParaRPr lang="en-IN" sz="2400" dirty="0"/>
          </a:p>
        </p:txBody>
      </p:sp>
    </p:spTree>
    <p:extLst>
      <p:ext uri="{BB962C8B-B14F-4D97-AF65-F5344CB8AC3E}">
        <p14:creationId xmlns:p14="http://schemas.microsoft.com/office/powerpoint/2010/main" val="2937185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P spid="9" grpId="0"/>
      <p:bldP spid="10" grpId="0"/>
      <p:bldP spid="11" grpId="0"/>
      <p:bldP spid="12" grpId="0"/>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65969-44D9-4A16-9D0F-FD9428B23573}"/>
              </a:ext>
            </a:extLst>
          </p:cNvPr>
          <p:cNvSpPr>
            <a:spLocks noGrp="1"/>
          </p:cNvSpPr>
          <p:nvPr>
            <p:ph type="title"/>
          </p:nvPr>
        </p:nvSpPr>
        <p:spPr/>
        <p:txBody>
          <a:bodyPr/>
          <a:lstStyle/>
          <a:p>
            <a:r>
              <a:rPr lang="en-IN" dirty="0"/>
              <a:t>Basics of Counting – Example 3</a:t>
            </a:r>
          </a:p>
        </p:txBody>
      </p:sp>
      <p:sp>
        <p:nvSpPr>
          <p:cNvPr id="3" name="Content Placeholder 2">
            <a:extLst>
              <a:ext uri="{FF2B5EF4-FFF2-40B4-BE49-F238E27FC236}">
                <a16:creationId xmlns:a16="http://schemas.microsoft.com/office/drawing/2014/main" id="{9DEC7B9A-8015-4FB4-8C24-4BC3D64C32B7}"/>
              </a:ext>
            </a:extLst>
          </p:cNvPr>
          <p:cNvSpPr>
            <a:spLocks noGrp="1"/>
          </p:cNvSpPr>
          <p:nvPr>
            <p:ph idx="1"/>
          </p:nvPr>
        </p:nvSpPr>
        <p:spPr>
          <a:xfrm>
            <a:off x="393289" y="1248697"/>
            <a:ext cx="8392901" cy="5400581"/>
          </a:xfrm>
        </p:spPr>
        <p:txBody>
          <a:bodyPr>
            <a:normAutofit/>
          </a:bodyPr>
          <a:lstStyle/>
          <a:p>
            <a:pPr marL="0" indent="0">
              <a:buNone/>
            </a:pPr>
            <a:r>
              <a:rPr lang="en-US" sz="2400" b="1" dirty="0"/>
              <a:t>Ques:-</a:t>
            </a:r>
            <a:r>
              <a:rPr lang="en-US" sz="2400" dirty="0"/>
              <a:t>Suppose that a password for a computer system must have at least 8, but no more than 12, characters, where each character in the password is a lowercase English letter, an uppercase English letter, a digit, or one of the six special characters ∗, &gt;, &lt;, !, +, and =. How many different passwords are available for this computer system?</a:t>
            </a:r>
            <a:endParaRPr lang="en-IN" sz="2400" dirty="0"/>
          </a:p>
        </p:txBody>
      </p:sp>
    </p:spTree>
    <p:extLst>
      <p:ext uri="{BB962C8B-B14F-4D97-AF65-F5344CB8AC3E}">
        <p14:creationId xmlns:p14="http://schemas.microsoft.com/office/powerpoint/2010/main" val="6360385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65969-44D9-4A16-9D0F-FD9428B23573}"/>
              </a:ext>
            </a:extLst>
          </p:cNvPr>
          <p:cNvSpPr>
            <a:spLocks noGrp="1"/>
          </p:cNvSpPr>
          <p:nvPr>
            <p:ph type="title"/>
          </p:nvPr>
        </p:nvSpPr>
        <p:spPr/>
        <p:txBody>
          <a:bodyPr/>
          <a:lstStyle/>
          <a:p>
            <a:r>
              <a:rPr lang="en-IN" dirty="0"/>
              <a:t>Basics of Counting – Example 3</a:t>
            </a:r>
          </a:p>
        </p:txBody>
      </p:sp>
      <p:sp>
        <p:nvSpPr>
          <p:cNvPr id="3" name="Content Placeholder 2">
            <a:extLst>
              <a:ext uri="{FF2B5EF4-FFF2-40B4-BE49-F238E27FC236}">
                <a16:creationId xmlns:a16="http://schemas.microsoft.com/office/drawing/2014/main" id="{9DEC7B9A-8015-4FB4-8C24-4BC3D64C32B7}"/>
              </a:ext>
            </a:extLst>
          </p:cNvPr>
          <p:cNvSpPr>
            <a:spLocks noGrp="1"/>
          </p:cNvSpPr>
          <p:nvPr>
            <p:ph idx="1"/>
          </p:nvPr>
        </p:nvSpPr>
        <p:spPr>
          <a:xfrm>
            <a:off x="393289" y="1248697"/>
            <a:ext cx="8392901" cy="5400581"/>
          </a:xfrm>
        </p:spPr>
        <p:txBody>
          <a:bodyPr>
            <a:normAutofit/>
          </a:bodyPr>
          <a:lstStyle/>
          <a:p>
            <a:pPr marL="0" indent="0">
              <a:buNone/>
            </a:pPr>
            <a:r>
              <a:rPr lang="en-US" sz="2400" b="1" dirty="0"/>
              <a:t>Sol:- </a:t>
            </a:r>
            <a:r>
              <a:rPr lang="en-US" sz="2400" dirty="0"/>
              <a:t>We are told that there are 26 + 26 + 10 + 6 = 68 available characters. </a:t>
            </a:r>
          </a:p>
          <a:p>
            <a:pPr marL="0" indent="0">
              <a:buNone/>
            </a:pPr>
            <a:endParaRPr lang="en-US" sz="2400" dirty="0"/>
          </a:p>
          <a:p>
            <a:pPr marL="0" indent="0">
              <a:buNone/>
            </a:pPr>
            <a:r>
              <a:rPr lang="en-US" sz="2400" dirty="0"/>
              <a:t>A password of length k using these characters can be formed in 68</a:t>
            </a:r>
            <a:r>
              <a:rPr lang="en-US" sz="2400" baseline="30000" dirty="0"/>
              <a:t>k</a:t>
            </a:r>
            <a:r>
              <a:rPr lang="en-US" sz="2400" dirty="0"/>
              <a:t> ways. </a:t>
            </a:r>
          </a:p>
          <a:p>
            <a:pPr marL="0" indent="0">
              <a:buNone/>
            </a:pPr>
            <a:endParaRPr lang="en-US" sz="2400" dirty="0"/>
          </a:p>
          <a:p>
            <a:pPr marL="0" indent="0">
              <a:buNone/>
            </a:pPr>
            <a:r>
              <a:rPr lang="en-US" sz="2400" dirty="0"/>
              <a:t>Therefore the number of passwords with the specified length restriction is 68</a:t>
            </a:r>
            <a:r>
              <a:rPr lang="en-US" sz="2400" baseline="30000" dirty="0"/>
              <a:t>8</a:t>
            </a:r>
            <a:r>
              <a:rPr lang="en-US" sz="2400" dirty="0"/>
              <a:t> + 68</a:t>
            </a:r>
            <a:r>
              <a:rPr lang="en-US" sz="2400" baseline="30000" dirty="0"/>
              <a:t>9</a:t>
            </a:r>
            <a:r>
              <a:rPr lang="en-US" sz="2400" dirty="0"/>
              <a:t> + 68</a:t>
            </a:r>
            <a:r>
              <a:rPr lang="en-US" sz="2400" baseline="30000" dirty="0"/>
              <a:t>10</a:t>
            </a:r>
            <a:r>
              <a:rPr lang="en-US" sz="2400" dirty="0"/>
              <a:t> + 68</a:t>
            </a:r>
            <a:r>
              <a:rPr lang="en-US" sz="2400" baseline="30000" dirty="0"/>
              <a:t>11</a:t>
            </a:r>
            <a:r>
              <a:rPr lang="en-US" sz="2400" dirty="0"/>
              <a:t> + 68</a:t>
            </a:r>
            <a:r>
              <a:rPr lang="en-US" sz="2400" baseline="30000" dirty="0"/>
              <a:t>12</a:t>
            </a:r>
            <a:r>
              <a:rPr lang="en-US" sz="2400" dirty="0"/>
              <a:t>.</a:t>
            </a:r>
          </a:p>
          <a:p>
            <a:pPr marL="0" indent="0">
              <a:buNone/>
            </a:pPr>
            <a:endParaRPr lang="en-IN" sz="2400" dirty="0"/>
          </a:p>
        </p:txBody>
      </p:sp>
    </p:spTree>
    <p:extLst>
      <p:ext uri="{BB962C8B-B14F-4D97-AF65-F5344CB8AC3E}">
        <p14:creationId xmlns:p14="http://schemas.microsoft.com/office/powerpoint/2010/main" val="24743129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BB92C-06EC-452E-851B-A95C7EA6350F}"/>
              </a:ext>
            </a:extLst>
          </p:cNvPr>
          <p:cNvSpPr>
            <a:spLocks noGrp="1"/>
          </p:cNvSpPr>
          <p:nvPr>
            <p:ph type="title"/>
          </p:nvPr>
        </p:nvSpPr>
        <p:spPr/>
        <p:txBody>
          <a:bodyPr/>
          <a:lstStyle/>
          <a:p>
            <a:r>
              <a:rPr lang="en-IN" dirty="0"/>
              <a:t>Basics of Counting – Example 3</a:t>
            </a:r>
          </a:p>
        </p:txBody>
      </p:sp>
      <p:sp>
        <p:nvSpPr>
          <p:cNvPr id="5" name="TextBox 4">
            <a:extLst>
              <a:ext uri="{FF2B5EF4-FFF2-40B4-BE49-F238E27FC236}">
                <a16:creationId xmlns:a16="http://schemas.microsoft.com/office/drawing/2014/main" id="{87DD47EE-5320-41E9-B022-BC1982F55B1E}"/>
              </a:ext>
            </a:extLst>
          </p:cNvPr>
          <p:cNvSpPr txBox="1"/>
          <p:nvPr/>
        </p:nvSpPr>
        <p:spPr>
          <a:xfrm>
            <a:off x="-129209" y="1149572"/>
            <a:ext cx="2007705" cy="3816429"/>
          </a:xfrm>
          <a:prstGeom prst="rect">
            <a:avLst/>
          </a:prstGeom>
          <a:noFill/>
        </p:spPr>
        <p:txBody>
          <a:bodyPr wrap="square" rtlCol="0">
            <a:spAutoFit/>
          </a:bodyPr>
          <a:lstStyle/>
          <a:p>
            <a:pPr algn="ctr"/>
            <a:r>
              <a:rPr lang="en-IN" sz="2200" dirty="0"/>
              <a:t>8 Letters</a:t>
            </a:r>
          </a:p>
          <a:p>
            <a:pPr algn="ctr"/>
            <a:r>
              <a:rPr lang="en-IN" sz="2200" dirty="0"/>
              <a:t>aaaaaaaa</a:t>
            </a:r>
          </a:p>
          <a:p>
            <a:pPr algn="ctr"/>
            <a:r>
              <a:rPr lang="en-IN" sz="2200" dirty="0"/>
              <a:t>..</a:t>
            </a:r>
          </a:p>
          <a:p>
            <a:pPr algn="ctr"/>
            <a:r>
              <a:rPr lang="en-IN" sz="2200" dirty="0"/>
              <a:t>zzzzzzzz</a:t>
            </a:r>
          </a:p>
          <a:p>
            <a:pPr algn="ctr"/>
            <a:r>
              <a:rPr lang="en-IN" sz="2200" dirty="0"/>
              <a:t>AAAAAAAA</a:t>
            </a:r>
          </a:p>
          <a:p>
            <a:pPr algn="ctr"/>
            <a:r>
              <a:rPr lang="en-IN" sz="2200" dirty="0"/>
              <a:t>…</a:t>
            </a:r>
          </a:p>
          <a:p>
            <a:pPr algn="ctr"/>
            <a:r>
              <a:rPr lang="en-IN" sz="2200" dirty="0"/>
              <a:t>ZZZZZZZZ</a:t>
            </a:r>
            <a:r>
              <a:rPr lang="en-US" sz="2200" dirty="0"/>
              <a:t> </a:t>
            </a:r>
          </a:p>
          <a:p>
            <a:pPr algn="ctr"/>
            <a:r>
              <a:rPr lang="en-US" sz="2200" dirty="0"/>
              <a:t>∗ ∗ ∗ ∗ ∗ ∗ ∗ ∗ </a:t>
            </a:r>
          </a:p>
          <a:p>
            <a:pPr algn="ctr"/>
            <a:r>
              <a:rPr lang="en-US" sz="2200" dirty="0"/>
              <a:t>∗ ∗ ∗ ∗ ∗ ∗ ∗ ∗ &gt;</a:t>
            </a:r>
          </a:p>
          <a:p>
            <a:pPr algn="ctr"/>
            <a:r>
              <a:rPr lang="en-US" sz="2200" dirty="0"/>
              <a:t>….</a:t>
            </a:r>
          </a:p>
          <a:p>
            <a:pPr algn="ctr"/>
            <a:r>
              <a:rPr lang="en-US" sz="2200" dirty="0"/>
              <a:t> = = = = = = = = </a:t>
            </a:r>
            <a:endParaRPr lang="en-IN" sz="2200" dirty="0"/>
          </a:p>
        </p:txBody>
      </p:sp>
      <p:sp>
        <p:nvSpPr>
          <p:cNvPr id="16" name="TextBox 15">
            <a:extLst>
              <a:ext uri="{FF2B5EF4-FFF2-40B4-BE49-F238E27FC236}">
                <a16:creationId xmlns:a16="http://schemas.microsoft.com/office/drawing/2014/main" id="{DD2F22F6-CD70-4F42-B193-90DB14C41256}"/>
              </a:ext>
            </a:extLst>
          </p:cNvPr>
          <p:cNvSpPr txBox="1"/>
          <p:nvPr/>
        </p:nvSpPr>
        <p:spPr>
          <a:xfrm>
            <a:off x="1633330" y="1149572"/>
            <a:ext cx="2007705" cy="3816429"/>
          </a:xfrm>
          <a:prstGeom prst="rect">
            <a:avLst/>
          </a:prstGeom>
          <a:noFill/>
        </p:spPr>
        <p:txBody>
          <a:bodyPr wrap="square" rtlCol="0">
            <a:spAutoFit/>
          </a:bodyPr>
          <a:lstStyle/>
          <a:p>
            <a:pPr algn="ctr"/>
            <a:r>
              <a:rPr lang="en-IN" sz="2200" dirty="0"/>
              <a:t>9 Letters</a:t>
            </a:r>
          </a:p>
          <a:p>
            <a:pPr algn="ctr"/>
            <a:r>
              <a:rPr lang="en-IN" sz="2200" dirty="0"/>
              <a:t>aaaaaaaaa</a:t>
            </a:r>
          </a:p>
          <a:p>
            <a:pPr algn="ctr"/>
            <a:r>
              <a:rPr lang="en-IN" sz="2200" dirty="0"/>
              <a:t>..</a:t>
            </a:r>
          </a:p>
          <a:p>
            <a:pPr algn="ctr"/>
            <a:r>
              <a:rPr lang="en-IN" sz="2200" dirty="0"/>
              <a:t>zzzzzzzzz</a:t>
            </a:r>
          </a:p>
          <a:p>
            <a:pPr algn="ctr"/>
            <a:r>
              <a:rPr lang="en-IN" sz="2200" dirty="0"/>
              <a:t>AAAAAAAAA</a:t>
            </a:r>
          </a:p>
          <a:p>
            <a:pPr algn="ctr"/>
            <a:r>
              <a:rPr lang="en-IN" sz="2200" dirty="0"/>
              <a:t>…</a:t>
            </a:r>
          </a:p>
          <a:p>
            <a:pPr algn="ctr"/>
            <a:r>
              <a:rPr lang="en-IN" sz="2200" dirty="0"/>
              <a:t>ZZZZZZZZ</a:t>
            </a:r>
            <a:r>
              <a:rPr lang="en-US" sz="2200" dirty="0"/>
              <a:t> </a:t>
            </a:r>
          </a:p>
          <a:p>
            <a:pPr algn="ctr"/>
            <a:r>
              <a:rPr lang="en-US" sz="2200" dirty="0"/>
              <a:t>∗ ∗ ∗ ∗ ∗ ∗ ∗ ∗ </a:t>
            </a:r>
          </a:p>
          <a:p>
            <a:pPr algn="ctr"/>
            <a:r>
              <a:rPr lang="en-US" sz="2200" dirty="0"/>
              <a:t>∗ ∗ ∗ ∗ ∗ ∗ ∗ &gt;</a:t>
            </a:r>
          </a:p>
          <a:p>
            <a:pPr algn="ctr"/>
            <a:r>
              <a:rPr lang="en-US" sz="2200" dirty="0"/>
              <a:t>….</a:t>
            </a:r>
          </a:p>
          <a:p>
            <a:pPr algn="ctr"/>
            <a:r>
              <a:rPr lang="en-US" sz="2200" dirty="0"/>
              <a:t> = = = = = = = = </a:t>
            </a:r>
            <a:endParaRPr lang="en-IN" sz="2200" dirty="0"/>
          </a:p>
        </p:txBody>
      </p:sp>
      <p:sp>
        <p:nvSpPr>
          <p:cNvPr id="17" name="TextBox 16">
            <a:extLst>
              <a:ext uri="{FF2B5EF4-FFF2-40B4-BE49-F238E27FC236}">
                <a16:creationId xmlns:a16="http://schemas.microsoft.com/office/drawing/2014/main" id="{FFAF69F3-F5E7-4977-9943-0BCA308B23B7}"/>
              </a:ext>
            </a:extLst>
          </p:cNvPr>
          <p:cNvSpPr txBox="1"/>
          <p:nvPr/>
        </p:nvSpPr>
        <p:spPr>
          <a:xfrm>
            <a:off x="4827099" y="1083314"/>
            <a:ext cx="2637189" cy="3816429"/>
          </a:xfrm>
          <a:prstGeom prst="rect">
            <a:avLst/>
          </a:prstGeom>
          <a:noFill/>
        </p:spPr>
        <p:txBody>
          <a:bodyPr wrap="square" rtlCol="0">
            <a:spAutoFit/>
          </a:bodyPr>
          <a:lstStyle/>
          <a:p>
            <a:pPr algn="ctr"/>
            <a:r>
              <a:rPr lang="en-IN" sz="2200" dirty="0"/>
              <a:t>12 Letters</a:t>
            </a:r>
          </a:p>
          <a:p>
            <a:pPr algn="ctr"/>
            <a:r>
              <a:rPr lang="en-IN" sz="2200" dirty="0"/>
              <a:t>aaaaaaaaaaaa</a:t>
            </a:r>
          </a:p>
          <a:p>
            <a:pPr algn="ctr"/>
            <a:r>
              <a:rPr lang="en-IN" sz="2200" dirty="0"/>
              <a:t>..</a:t>
            </a:r>
          </a:p>
          <a:p>
            <a:pPr algn="ctr"/>
            <a:r>
              <a:rPr lang="en-IN" sz="2200" dirty="0"/>
              <a:t>zzzzzzzzzzzz</a:t>
            </a:r>
          </a:p>
          <a:p>
            <a:pPr algn="ctr"/>
            <a:r>
              <a:rPr lang="en-IN" sz="2200" dirty="0"/>
              <a:t>AAAAAAAAAAAA</a:t>
            </a:r>
          </a:p>
          <a:p>
            <a:pPr algn="ctr"/>
            <a:r>
              <a:rPr lang="en-IN" sz="2200" dirty="0"/>
              <a:t>…</a:t>
            </a:r>
          </a:p>
          <a:p>
            <a:pPr algn="ctr"/>
            <a:r>
              <a:rPr lang="en-IN" sz="2200" dirty="0"/>
              <a:t>ZZZZZZZZZZZ</a:t>
            </a:r>
            <a:r>
              <a:rPr lang="en-US" sz="2200" dirty="0"/>
              <a:t> </a:t>
            </a:r>
          </a:p>
          <a:p>
            <a:pPr algn="ctr"/>
            <a:r>
              <a:rPr lang="en-US" sz="2200" dirty="0"/>
              <a:t>∗ ∗ ∗ ∗ ∗ ∗ ∗ ∗ ∗ ∗ </a:t>
            </a:r>
          </a:p>
          <a:p>
            <a:pPr algn="ctr"/>
            <a:r>
              <a:rPr lang="en-US" sz="2200" dirty="0"/>
              <a:t>∗ ∗ ∗ ∗ ∗ ∗ ∗ ∗ ∗ &gt;</a:t>
            </a:r>
          </a:p>
          <a:p>
            <a:pPr algn="ctr"/>
            <a:r>
              <a:rPr lang="en-US" sz="2200" dirty="0"/>
              <a:t>….</a:t>
            </a:r>
          </a:p>
          <a:p>
            <a:pPr algn="ctr"/>
            <a:r>
              <a:rPr lang="en-US" sz="2200" dirty="0"/>
              <a:t> = = = = = = = = = = = </a:t>
            </a:r>
            <a:endParaRPr lang="en-IN" sz="2200" dirty="0"/>
          </a:p>
        </p:txBody>
      </p:sp>
      <p:sp>
        <p:nvSpPr>
          <p:cNvPr id="3" name="TextBox 2">
            <a:extLst>
              <a:ext uri="{FF2B5EF4-FFF2-40B4-BE49-F238E27FC236}">
                <a16:creationId xmlns:a16="http://schemas.microsoft.com/office/drawing/2014/main" id="{061E4D98-9FC9-48C2-B6B2-88A9BA72A2CA}"/>
              </a:ext>
            </a:extLst>
          </p:cNvPr>
          <p:cNvSpPr txBox="1"/>
          <p:nvPr/>
        </p:nvSpPr>
        <p:spPr>
          <a:xfrm>
            <a:off x="3776870" y="2733261"/>
            <a:ext cx="1252330" cy="523220"/>
          </a:xfrm>
          <a:prstGeom prst="rect">
            <a:avLst/>
          </a:prstGeom>
          <a:noFill/>
        </p:spPr>
        <p:txBody>
          <a:bodyPr wrap="square" rtlCol="0">
            <a:spAutoFit/>
          </a:bodyPr>
          <a:lstStyle/>
          <a:p>
            <a:r>
              <a:rPr lang="en-IN" sz="2800" b="1" dirty="0"/>
              <a:t>………..</a:t>
            </a:r>
          </a:p>
        </p:txBody>
      </p:sp>
      <p:sp>
        <p:nvSpPr>
          <p:cNvPr id="18" name="TextBox 17">
            <a:extLst>
              <a:ext uri="{FF2B5EF4-FFF2-40B4-BE49-F238E27FC236}">
                <a16:creationId xmlns:a16="http://schemas.microsoft.com/office/drawing/2014/main" id="{B4A99AB0-0B9B-4ABA-AE62-2CA11B86F7C8}"/>
              </a:ext>
            </a:extLst>
          </p:cNvPr>
          <p:cNvSpPr txBox="1"/>
          <p:nvPr/>
        </p:nvSpPr>
        <p:spPr>
          <a:xfrm>
            <a:off x="-3308" y="6295343"/>
            <a:ext cx="6808304" cy="430887"/>
          </a:xfrm>
          <a:prstGeom prst="rect">
            <a:avLst/>
          </a:prstGeom>
          <a:noFill/>
        </p:spPr>
        <p:txBody>
          <a:bodyPr wrap="square" rtlCol="0">
            <a:spAutoFit/>
          </a:bodyPr>
          <a:lstStyle/>
          <a:p>
            <a:r>
              <a:rPr lang="en-IN" sz="2200" dirty="0"/>
              <a:t>=</a:t>
            </a:r>
            <a:r>
              <a:rPr lang="en-US" sz="2200" b="1" dirty="0"/>
              <a:t>68</a:t>
            </a:r>
            <a:r>
              <a:rPr lang="en-US" sz="2200" b="1" baseline="30000" dirty="0"/>
              <a:t>8</a:t>
            </a:r>
            <a:r>
              <a:rPr lang="en-US" sz="2200" b="1" dirty="0"/>
              <a:t> +	68</a:t>
            </a:r>
            <a:r>
              <a:rPr lang="en-US" sz="2200" b="1" baseline="30000" dirty="0"/>
              <a:t>9</a:t>
            </a:r>
            <a:r>
              <a:rPr lang="en-US" sz="2200" b="1" dirty="0"/>
              <a:t> +	68</a:t>
            </a:r>
            <a:r>
              <a:rPr lang="en-US" sz="2200" b="1" baseline="30000" dirty="0"/>
              <a:t>10</a:t>
            </a:r>
            <a:r>
              <a:rPr lang="en-US" sz="2200" b="1" dirty="0"/>
              <a:t> 	+	68</a:t>
            </a:r>
            <a:r>
              <a:rPr lang="en-US" sz="2200" b="1" baseline="30000" dirty="0"/>
              <a:t>11			</a:t>
            </a:r>
            <a:r>
              <a:rPr lang="en-US" sz="2200" b="1" dirty="0"/>
              <a:t> +	68</a:t>
            </a:r>
            <a:r>
              <a:rPr lang="en-US" sz="2200" b="1" baseline="30000" dirty="0"/>
              <a:t>12</a:t>
            </a:r>
            <a:r>
              <a:rPr lang="en-US" sz="2200" b="1" dirty="0"/>
              <a:t> </a:t>
            </a:r>
            <a:endParaRPr lang="en-IN" sz="2200" dirty="0"/>
          </a:p>
        </p:txBody>
      </p:sp>
    </p:spTree>
    <p:extLst>
      <p:ext uri="{BB962C8B-B14F-4D97-AF65-F5344CB8AC3E}">
        <p14:creationId xmlns:p14="http://schemas.microsoft.com/office/powerpoint/2010/main" val="2947661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6" grpId="0"/>
      <p:bldP spid="17" grpId="0"/>
      <p:bldP spid="1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65969-44D9-4A16-9D0F-FD9428B23573}"/>
              </a:ext>
            </a:extLst>
          </p:cNvPr>
          <p:cNvSpPr>
            <a:spLocks noGrp="1"/>
          </p:cNvSpPr>
          <p:nvPr>
            <p:ph type="title"/>
          </p:nvPr>
        </p:nvSpPr>
        <p:spPr/>
        <p:txBody>
          <a:bodyPr/>
          <a:lstStyle/>
          <a:p>
            <a:r>
              <a:rPr lang="en-IN" dirty="0"/>
              <a:t>Basics of Counting – Example 4</a:t>
            </a:r>
          </a:p>
        </p:txBody>
      </p:sp>
      <p:sp>
        <p:nvSpPr>
          <p:cNvPr id="3" name="Content Placeholder 2">
            <a:extLst>
              <a:ext uri="{FF2B5EF4-FFF2-40B4-BE49-F238E27FC236}">
                <a16:creationId xmlns:a16="http://schemas.microsoft.com/office/drawing/2014/main" id="{9DEC7B9A-8015-4FB4-8C24-4BC3D64C32B7}"/>
              </a:ext>
            </a:extLst>
          </p:cNvPr>
          <p:cNvSpPr>
            <a:spLocks noGrp="1"/>
          </p:cNvSpPr>
          <p:nvPr>
            <p:ph idx="1"/>
          </p:nvPr>
        </p:nvSpPr>
        <p:spPr>
          <a:xfrm>
            <a:off x="393289" y="1248697"/>
            <a:ext cx="8392901" cy="5400581"/>
          </a:xfrm>
        </p:spPr>
        <p:txBody>
          <a:bodyPr>
            <a:normAutofit/>
          </a:bodyPr>
          <a:lstStyle/>
          <a:p>
            <a:pPr marL="0" indent="0">
              <a:buNone/>
            </a:pPr>
            <a:r>
              <a:rPr lang="en-US" sz="2400" b="1" dirty="0"/>
              <a:t>Ques:- </a:t>
            </a:r>
            <a:r>
              <a:rPr lang="en-US" sz="2400" dirty="0"/>
              <a:t>Each user on a computer system has a password, which is six to eight characters long, where each character is an uppercase letter or a digit. Each password must contain at least one digit. How many possible passwords are there?</a:t>
            </a:r>
          </a:p>
          <a:p>
            <a:pPr marL="0" indent="0">
              <a:buNone/>
            </a:pPr>
            <a:endParaRPr lang="en-US" sz="2400" dirty="0"/>
          </a:p>
          <a:p>
            <a:pPr marL="0" indent="0">
              <a:buNone/>
            </a:pPr>
            <a:endParaRPr lang="en-IN" sz="2400" dirty="0"/>
          </a:p>
        </p:txBody>
      </p:sp>
    </p:spTree>
    <p:extLst>
      <p:ext uri="{BB962C8B-B14F-4D97-AF65-F5344CB8AC3E}">
        <p14:creationId xmlns:p14="http://schemas.microsoft.com/office/powerpoint/2010/main" val="5417264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65969-44D9-4A16-9D0F-FD9428B23573}"/>
              </a:ext>
            </a:extLst>
          </p:cNvPr>
          <p:cNvSpPr>
            <a:spLocks noGrp="1"/>
          </p:cNvSpPr>
          <p:nvPr>
            <p:ph type="title"/>
          </p:nvPr>
        </p:nvSpPr>
        <p:spPr/>
        <p:txBody>
          <a:bodyPr/>
          <a:lstStyle/>
          <a:p>
            <a:r>
              <a:rPr lang="en-IN" dirty="0"/>
              <a:t>Basics of Counting – Example 4</a:t>
            </a:r>
          </a:p>
        </p:txBody>
      </p:sp>
      <p:sp>
        <p:nvSpPr>
          <p:cNvPr id="4" name="TextBox 3">
            <a:extLst>
              <a:ext uri="{FF2B5EF4-FFF2-40B4-BE49-F238E27FC236}">
                <a16:creationId xmlns:a16="http://schemas.microsoft.com/office/drawing/2014/main" id="{F2008E20-FF56-4150-BFD4-BA6775021A82}"/>
              </a:ext>
            </a:extLst>
          </p:cNvPr>
          <p:cNvSpPr txBox="1"/>
          <p:nvPr/>
        </p:nvSpPr>
        <p:spPr>
          <a:xfrm>
            <a:off x="1073427" y="1610133"/>
            <a:ext cx="417444" cy="3416320"/>
          </a:xfrm>
          <a:prstGeom prst="rect">
            <a:avLst/>
          </a:prstGeom>
          <a:noFill/>
        </p:spPr>
        <p:txBody>
          <a:bodyPr wrap="square" rtlCol="0">
            <a:spAutoFit/>
          </a:bodyPr>
          <a:lstStyle/>
          <a:p>
            <a:r>
              <a:rPr lang="en-IN" sz="2400" dirty="0"/>
              <a:t>0</a:t>
            </a:r>
          </a:p>
          <a:p>
            <a:r>
              <a:rPr lang="en-IN" sz="2400" dirty="0"/>
              <a:t>1</a:t>
            </a:r>
          </a:p>
          <a:p>
            <a:r>
              <a:rPr lang="en-IN" sz="2400" dirty="0"/>
              <a:t>2</a:t>
            </a:r>
          </a:p>
          <a:p>
            <a:r>
              <a:rPr lang="en-IN" sz="2400" dirty="0"/>
              <a:t>..</a:t>
            </a:r>
          </a:p>
          <a:p>
            <a:r>
              <a:rPr lang="en-IN" sz="2400" dirty="0"/>
              <a:t>9</a:t>
            </a:r>
          </a:p>
          <a:p>
            <a:r>
              <a:rPr lang="en-IN" sz="2400" dirty="0"/>
              <a:t>a</a:t>
            </a:r>
          </a:p>
          <a:p>
            <a:r>
              <a:rPr lang="en-IN" sz="2400" dirty="0"/>
              <a:t>b</a:t>
            </a:r>
          </a:p>
          <a:p>
            <a:r>
              <a:rPr lang="en-IN" sz="2400" dirty="0"/>
              <a:t>…</a:t>
            </a:r>
          </a:p>
          <a:p>
            <a:r>
              <a:rPr lang="en-IN" sz="2400" dirty="0"/>
              <a:t>z</a:t>
            </a:r>
          </a:p>
        </p:txBody>
      </p:sp>
      <p:sp>
        <p:nvSpPr>
          <p:cNvPr id="5" name="TextBox 4">
            <a:extLst>
              <a:ext uri="{FF2B5EF4-FFF2-40B4-BE49-F238E27FC236}">
                <a16:creationId xmlns:a16="http://schemas.microsoft.com/office/drawing/2014/main" id="{3EE7278F-FD66-4F92-910B-4A384EB22541}"/>
              </a:ext>
            </a:extLst>
          </p:cNvPr>
          <p:cNvSpPr txBox="1"/>
          <p:nvPr/>
        </p:nvSpPr>
        <p:spPr>
          <a:xfrm>
            <a:off x="1454425" y="1603507"/>
            <a:ext cx="417444" cy="3416320"/>
          </a:xfrm>
          <a:prstGeom prst="rect">
            <a:avLst/>
          </a:prstGeom>
          <a:noFill/>
        </p:spPr>
        <p:txBody>
          <a:bodyPr wrap="square" rtlCol="0">
            <a:spAutoFit/>
          </a:bodyPr>
          <a:lstStyle/>
          <a:p>
            <a:r>
              <a:rPr lang="en-IN" sz="2400" dirty="0"/>
              <a:t>0</a:t>
            </a:r>
          </a:p>
          <a:p>
            <a:r>
              <a:rPr lang="en-IN" sz="2400" dirty="0"/>
              <a:t>1</a:t>
            </a:r>
          </a:p>
          <a:p>
            <a:r>
              <a:rPr lang="en-IN" sz="2400" dirty="0"/>
              <a:t>2</a:t>
            </a:r>
          </a:p>
          <a:p>
            <a:r>
              <a:rPr lang="en-IN" sz="2400" dirty="0"/>
              <a:t>..</a:t>
            </a:r>
          </a:p>
          <a:p>
            <a:r>
              <a:rPr lang="en-IN" sz="2400" dirty="0"/>
              <a:t>9</a:t>
            </a:r>
          </a:p>
          <a:p>
            <a:r>
              <a:rPr lang="en-IN" sz="2400" dirty="0"/>
              <a:t>a</a:t>
            </a:r>
          </a:p>
          <a:p>
            <a:r>
              <a:rPr lang="en-IN" sz="2400" dirty="0"/>
              <a:t>b</a:t>
            </a:r>
          </a:p>
          <a:p>
            <a:r>
              <a:rPr lang="en-IN" sz="2400" dirty="0"/>
              <a:t>…</a:t>
            </a:r>
          </a:p>
          <a:p>
            <a:r>
              <a:rPr lang="en-IN" sz="2400" dirty="0"/>
              <a:t>z</a:t>
            </a:r>
          </a:p>
        </p:txBody>
      </p:sp>
      <p:sp>
        <p:nvSpPr>
          <p:cNvPr id="6" name="TextBox 5">
            <a:extLst>
              <a:ext uri="{FF2B5EF4-FFF2-40B4-BE49-F238E27FC236}">
                <a16:creationId xmlns:a16="http://schemas.microsoft.com/office/drawing/2014/main" id="{A55C6D1F-E49E-43C5-8372-90DA803A2046}"/>
              </a:ext>
            </a:extLst>
          </p:cNvPr>
          <p:cNvSpPr txBox="1"/>
          <p:nvPr/>
        </p:nvSpPr>
        <p:spPr>
          <a:xfrm>
            <a:off x="1802298" y="1623387"/>
            <a:ext cx="417444" cy="3416320"/>
          </a:xfrm>
          <a:prstGeom prst="rect">
            <a:avLst/>
          </a:prstGeom>
          <a:noFill/>
        </p:spPr>
        <p:txBody>
          <a:bodyPr wrap="square" rtlCol="0">
            <a:spAutoFit/>
          </a:bodyPr>
          <a:lstStyle/>
          <a:p>
            <a:r>
              <a:rPr lang="en-IN" sz="2400" dirty="0"/>
              <a:t>0</a:t>
            </a:r>
          </a:p>
          <a:p>
            <a:r>
              <a:rPr lang="en-IN" sz="2400" dirty="0"/>
              <a:t>1</a:t>
            </a:r>
          </a:p>
          <a:p>
            <a:r>
              <a:rPr lang="en-IN" sz="2400" dirty="0"/>
              <a:t>2</a:t>
            </a:r>
          </a:p>
          <a:p>
            <a:r>
              <a:rPr lang="en-IN" sz="2400" dirty="0"/>
              <a:t>..</a:t>
            </a:r>
          </a:p>
          <a:p>
            <a:r>
              <a:rPr lang="en-IN" sz="2400" dirty="0"/>
              <a:t>9</a:t>
            </a:r>
          </a:p>
          <a:p>
            <a:r>
              <a:rPr lang="en-IN" sz="2400" dirty="0"/>
              <a:t>a</a:t>
            </a:r>
          </a:p>
          <a:p>
            <a:r>
              <a:rPr lang="en-IN" sz="2400" dirty="0"/>
              <a:t>b</a:t>
            </a:r>
          </a:p>
          <a:p>
            <a:r>
              <a:rPr lang="en-IN" sz="2400" dirty="0"/>
              <a:t>…</a:t>
            </a:r>
          </a:p>
          <a:p>
            <a:r>
              <a:rPr lang="en-IN" sz="2400" dirty="0"/>
              <a:t>z</a:t>
            </a:r>
          </a:p>
        </p:txBody>
      </p:sp>
      <p:sp>
        <p:nvSpPr>
          <p:cNvPr id="7" name="TextBox 6">
            <a:extLst>
              <a:ext uri="{FF2B5EF4-FFF2-40B4-BE49-F238E27FC236}">
                <a16:creationId xmlns:a16="http://schemas.microsoft.com/office/drawing/2014/main" id="{6EB8CCA2-37DD-438C-AC1A-EC6028CDE663}"/>
              </a:ext>
            </a:extLst>
          </p:cNvPr>
          <p:cNvSpPr txBox="1"/>
          <p:nvPr/>
        </p:nvSpPr>
        <p:spPr>
          <a:xfrm>
            <a:off x="2183296" y="1616761"/>
            <a:ext cx="417444" cy="3416320"/>
          </a:xfrm>
          <a:prstGeom prst="rect">
            <a:avLst/>
          </a:prstGeom>
          <a:noFill/>
        </p:spPr>
        <p:txBody>
          <a:bodyPr wrap="square" rtlCol="0">
            <a:spAutoFit/>
          </a:bodyPr>
          <a:lstStyle/>
          <a:p>
            <a:r>
              <a:rPr lang="en-IN" sz="2400" dirty="0"/>
              <a:t>0</a:t>
            </a:r>
          </a:p>
          <a:p>
            <a:r>
              <a:rPr lang="en-IN" sz="2400" dirty="0"/>
              <a:t>1</a:t>
            </a:r>
          </a:p>
          <a:p>
            <a:r>
              <a:rPr lang="en-IN" sz="2400" dirty="0"/>
              <a:t>2</a:t>
            </a:r>
          </a:p>
          <a:p>
            <a:r>
              <a:rPr lang="en-IN" sz="2400" dirty="0"/>
              <a:t>..</a:t>
            </a:r>
          </a:p>
          <a:p>
            <a:r>
              <a:rPr lang="en-IN" sz="2400" dirty="0"/>
              <a:t>9</a:t>
            </a:r>
          </a:p>
          <a:p>
            <a:r>
              <a:rPr lang="en-IN" sz="2400" dirty="0"/>
              <a:t>a</a:t>
            </a:r>
          </a:p>
          <a:p>
            <a:r>
              <a:rPr lang="en-IN" sz="2400" dirty="0"/>
              <a:t>b</a:t>
            </a:r>
          </a:p>
          <a:p>
            <a:r>
              <a:rPr lang="en-IN" sz="2400" dirty="0"/>
              <a:t>…</a:t>
            </a:r>
          </a:p>
          <a:p>
            <a:r>
              <a:rPr lang="en-IN" sz="2400" dirty="0"/>
              <a:t>z</a:t>
            </a:r>
          </a:p>
        </p:txBody>
      </p:sp>
      <p:sp>
        <p:nvSpPr>
          <p:cNvPr id="8" name="TextBox 7">
            <a:extLst>
              <a:ext uri="{FF2B5EF4-FFF2-40B4-BE49-F238E27FC236}">
                <a16:creationId xmlns:a16="http://schemas.microsoft.com/office/drawing/2014/main" id="{148F9C17-C67C-44A6-A177-E32A8A48C8E5}"/>
              </a:ext>
            </a:extLst>
          </p:cNvPr>
          <p:cNvSpPr txBox="1"/>
          <p:nvPr/>
        </p:nvSpPr>
        <p:spPr>
          <a:xfrm>
            <a:off x="2418523" y="1603509"/>
            <a:ext cx="417444" cy="3416320"/>
          </a:xfrm>
          <a:prstGeom prst="rect">
            <a:avLst/>
          </a:prstGeom>
          <a:noFill/>
        </p:spPr>
        <p:txBody>
          <a:bodyPr wrap="square" rtlCol="0">
            <a:spAutoFit/>
          </a:bodyPr>
          <a:lstStyle/>
          <a:p>
            <a:r>
              <a:rPr lang="en-IN" sz="2400" dirty="0"/>
              <a:t>0</a:t>
            </a:r>
          </a:p>
          <a:p>
            <a:r>
              <a:rPr lang="en-IN" sz="2400" dirty="0"/>
              <a:t>1</a:t>
            </a:r>
          </a:p>
          <a:p>
            <a:r>
              <a:rPr lang="en-IN" sz="2400" dirty="0"/>
              <a:t>2</a:t>
            </a:r>
          </a:p>
          <a:p>
            <a:r>
              <a:rPr lang="en-IN" sz="2400" dirty="0"/>
              <a:t>..</a:t>
            </a:r>
          </a:p>
          <a:p>
            <a:r>
              <a:rPr lang="en-IN" sz="2400" dirty="0"/>
              <a:t>9</a:t>
            </a:r>
          </a:p>
          <a:p>
            <a:r>
              <a:rPr lang="en-IN" sz="2400" dirty="0"/>
              <a:t>a</a:t>
            </a:r>
          </a:p>
          <a:p>
            <a:r>
              <a:rPr lang="en-IN" sz="2400" dirty="0"/>
              <a:t>b</a:t>
            </a:r>
          </a:p>
          <a:p>
            <a:r>
              <a:rPr lang="en-IN" sz="2400" dirty="0"/>
              <a:t>…</a:t>
            </a:r>
          </a:p>
          <a:p>
            <a:r>
              <a:rPr lang="en-IN" sz="2400" dirty="0"/>
              <a:t>z</a:t>
            </a:r>
          </a:p>
        </p:txBody>
      </p:sp>
      <p:sp>
        <p:nvSpPr>
          <p:cNvPr id="9" name="TextBox 8">
            <a:extLst>
              <a:ext uri="{FF2B5EF4-FFF2-40B4-BE49-F238E27FC236}">
                <a16:creationId xmlns:a16="http://schemas.microsoft.com/office/drawing/2014/main" id="{D9106F72-50CF-439B-8AF9-51EBF34A5983}"/>
              </a:ext>
            </a:extLst>
          </p:cNvPr>
          <p:cNvSpPr txBox="1"/>
          <p:nvPr/>
        </p:nvSpPr>
        <p:spPr>
          <a:xfrm>
            <a:off x="2799521" y="1596883"/>
            <a:ext cx="417444" cy="3416320"/>
          </a:xfrm>
          <a:prstGeom prst="rect">
            <a:avLst/>
          </a:prstGeom>
          <a:noFill/>
        </p:spPr>
        <p:txBody>
          <a:bodyPr wrap="square" rtlCol="0">
            <a:spAutoFit/>
          </a:bodyPr>
          <a:lstStyle/>
          <a:p>
            <a:r>
              <a:rPr lang="en-IN" sz="2400" dirty="0"/>
              <a:t>0</a:t>
            </a:r>
          </a:p>
          <a:p>
            <a:r>
              <a:rPr lang="en-IN" sz="2400" dirty="0"/>
              <a:t>1</a:t>
            </a:r>
          </a:p>
          <a:p>
            <a:r>
              <a:rPr lang="en-IN" sz="2400" dirty="0"/>
              <a:t>2</a:t>
            </a:r>
          </a:p>
          <a:p>
            <a:r>
              <a:rPr lang="en-IN" sz="2400" dirty="0"/>
              <a:t>..</a:t>
            </a:r>
          </a:p>
          <a:p>
            <a:r>
              <a:rPr lang="en-IN" sz="2400" dirty="0"/>
              <a:t>9</a:t>
            </a:r>
          </a:p>
          <a:p>
            <a:r>
              <a:rPr lang="en-IN" sz="2400" dirty="0"/>
              <a:t>a</a:t>
            </a:r>
          </a:p>
          <a:p>
            <a:r>
              <a:rPr lang="en-IN" sz="2400" dirty="0"/>
              <a:t>b</a:t>
            </a:r>
          </a:p>
          <a:p>
            <a:r>
              <a:rPr lang="en-IN" sz="2400" dirty="0"/>
              <a:t>…</a:t>
            </a:r>
          </a:p>
          <a:p>
            <a:r>
              <a:rPr lang="en-IN" sz="2400" dirty="0"/>
              <a:t>z</a:t>
            </a:r>
          </a:p>
        </p:txBody>
      </p:sp>
      <p:sp>
        <p:nvSpPr>
          <p:cNvPr id="10" name="TextBox 9">
            <a:extLst>
              <a:ext uri="{FF2B5EF4-FFF2-40B4-BE49-F238E27FC236}">
                <a16:creationId xmlns:a16="http://schemas.microsoft.com/office/drawing/2014/main" id="{E63348D5-A767-4821-B4FA-B8C7B2A586E7}"/>
              </a:ext>
            </a:extLst>
          </p:cNvPr>
          <p:cNvSpPr txBox="1"/>
          <p:nvPr/>
        </p:nvSpPr>
        <p:spPr>
          <a:xfrm>
            <a:off x="3969023" y="1603509"/>
            <a:ext cx="417444" cy="1569660"/>
          </a:xfrm>
          <a:prstGeom prst="rect">
            <a:avLst/>
          </a:prstGeom>
          <a:noFill/>
        </p:spPr>
        <p:txBody>
          <a:bodyPr wrap="square" rtlCol="0">
            <a:spAutoFit/>
          </a:bodyPr>
          <a:lstStyle/>
          <a:p>
            <a:r>
              <a:rPr lang="en-IN" sz="2400" dirty="0"/>
              <a:t>a</a:t>
            </a:r>
          </a:p>
          <a:p>
            <a:r>
              <a:rPr lang="en-IN" sz="2400" dirty="0"/>
              <a:t>b</a:t>
            </a:r>
          </a:p>
          <a:p>
            <a:r>
              <a:rPr lang="en-IN" sz="2400" dirty="0"/>
              <a:t>…</a:t>
            </a:r>
          </a:p>
          <a:p>
            <a:r>
              <a:rPr lang="en-IN" sz="2400" dirty="0"/>
              <a:t>z</a:t>
            </a:r>
          </a:p>
        </p:txBody>
      </p:sp>
      <p:sp>
        <p:nvSpPr>
          <p:cNvPr id="15" name="TextBox 14">
            <a:extLst>
              <a:ext uri="{FF2B5EF4-FFF2-40B4-BE49-F238E27FC236}">
                <a16:creationId xmlns:a16="http://schemas.microsoft.com/office/drawing/2014/main" id="{96889C99-6597-4840-920E-A5C379902862}"/>
              </a:ext>
            </a:extLst>
          </p:cNvPr>
          <p:cNvSpPr txBox="1"/>
          <p:nvPr/>
        </p:nvSpPr>
        <p:spPr>
          <a:xfrm>
            <a:off x="4250631" y="1596885"/>
            <a:ext cx="417444" cy="1569660"/>
          </a:xfrm>
          <a:prstGeom prst="rect">
            <a:avLst/>
          </a:prstGeom>
          <a:noFill/>
        </p:spPr>
        <p:txBody>
          <a:bodyPr wrap="square" rtlCol="0">
            <a:spAutoFit/>
          </a:bodyPr>
          <a:lstStyle/>
          <a:p>
            <a:r>
              <a:rPr lang="en-IN" sz="2400" dirty="0"/>
              <a:t>a</a:t>
            </a:r>
          </a:p>
          <a:p>
            <a:r>
              <a:rPr lang="en-IN" sz="2400" dirty="0"/>
              <a:t>b</a:t>
            </a:r>
          </a:p>
          <a:p>
            <a:r>
              <a:rPr lang="en-IN" sz="2400" dirty="0"/>
              <a:t>…</a:t>
            </a:r>
          </a:p>
          <a:p>
            <a:r>
              <a:rPr lang="en-IN" sz="2400" dirty="0"/>
              <a:t>z</a:t>
            </a:r>
          </a:p>
        </p:txBody>
      </p:sp>
      <p:sp>
        <p:nvSpPr>
          <p:cNvPr id="16" name="TextBox 15">
            <a:extLst>
              <a:ext uri="{FF2B5EF4-FFF2-40B4-BE49-F238E27FC236}">
                <a16:creationId xmlns:a16="http://schemas.microsoft.com/office/drawing/2014/main" id="{B67A3499-6E3A-43FD-80E3-E69E29A8E9F5}"/>
              </a:ext>
            </a:extLst>
          </p:cNvPr>
          <p:cNvSpPr txBox="1"/>
          <p:nvPr/>
        </p:nvSpPr>
        <p:spPr>
          <a:xfrm>
            <a:off x="4499110" y="1596884"/>
            <a:ext cx="417444" cy="1569660"/>
          </a:xfrm>
          <a:prstGeom prst="rect">
            <a:avLst/>
          </a:prstGeom>
          <a:noFill/>
        </p:spPr>
        <p:txBody>
          <a:bodyPr wrap="square" rtlCol="0">
            <a:spAutoFit/>
          </a:bodyPr>
          <a:lstStyle/>
          <a:p>
            <a:r>
              <a:rPr lang="en-IN" sz="2400" dirty="0"/>
              <a:t>a</a:t>
            </a:r>
          </a:p>
          <a:p>
            <a:r>
              <a:rPr lang="en-IN" sz="2400" dirty="0"/>
              <a:t>b</a:t>
            </a:r>
          </a:p>
          <a:p>
            <a:r>
              <a:rPr lang="en-IN" sz="2400" dirty="0"/>
              <a:t>…</a:t>
            </a:r>
          </a:p>
          <a:p>
            <a:r>
              <a:rPr lang="en-IN" sz="2400" dirty="0"/>
              <a:t>z</a:t>
            </a:r>
          </a:p>
        </p:txBody>
      </p:sp>
      <p:sp>
        <p:nvSpPr>
          <p:cNvPr id="17" name="TextBox 16">
            <a:extLst>
              <a:ext uri="{FF2B5EF4-FFF2-40B4-BE49-F238E27FC236}">
                <a16:creationId xmlns:a16="http://schemas.microsoft.com/office/drawing/2014/main" id="{C7BFF85D-769E-46AD-AAC9-4F88EB2B978B}"/>
              </a:ext>
            </a:extLst>
          </p:cNvPr>
          <p:cNvSpPr txBox="1"/>
          <p:nvPr/>
        </p:nvSpPr>
        <p:spPr>
          <a:xfrm>
            <a:off x="4780718" y="1590260"/>
            <a:ext cx="417444" cy="1569660"/>
          </a:xfrm>
          <a:prstGeom prst="rect">
            <a:avLst/>
          </a:prstGeom>
          <a:noFill/>
        </p:spPr>
        <p:txBody>
          <a:bodyPr wrap="square" rtlCol="0">
            <a:spAutoFit/>
          </a:bodyPr>
          <a:lstStyle/>
          <a:p>
            <a:r>
              <a:rPr lang="en-IN" sz="2400" dirty="0"/>
              <a:t>a</a:t>
            </a:r>
          </a:p>
          <a:p>
            <a:r>
              <a:rPr lang="en-IN" sz="2400" dirty="0"/>
              <a:t>b</a:t>
            </a:r>
          </a:p>
          <a:p>
            <a:r>
              <a:rPr lang="en-IN" sz="2400" dirty="0"/>
              <a:t>…</a:t>
            </a:r>
          </a:p>
          <a:p>
            <a:r>
              <a:rPr lang="en-IN" sz="2400" dirty="0"/>
              <a:t>z</a:t>
            </a:r>
          </a:p>
        </p:txBody>
      </p:sp>
      <p:sp>
        <p:nvSpPr>
          <p:cNvPr id="18" name="TextBox 17">
            <a:extLst>
              <a:ext uri="{FF2B5EF4-FFF2-40B4-BE49-F238E27FC236}">
                <a16:creationId xmlns:a16="http://schemas.microsoft.com/office/drawing/2014/main" id="{52D42FA9-9C96-407A-AB70-18F42049D6E3}"/>
              </a:ext>
            </a:extLst>
          </p:cNvPr>
          <p:cNvSpPr txBox="1"/>
          <p:nvPr/>
        </p:nvSpPr>
        <p:spPr>
          <a:xfrm>
            <a:off x="5035824" y="1577007"/>
            <a:ext cx="417444" cy="1569660"/>
          </a:xfrm>
          <a:prstGeom prst="rect">
            <a:avLst/>
          </a:prstGeom>
          <a:noFill/>
        </p:spPr>
        <p:txBody>
          <a:bodyPr wrap="square" rtlCol="0">
            <a:spAutoFit/>
          </a:bodyPr>
          <a:lstStyle/>
          <a:p>
            <a:r>
              <a:rPr lang="en-IN" sz="2400" dirty="0"/>
              <a:t>a</a:t>
            </a:r>
          </a:p>
          <a:p>
            <a:r>
              <a:rPr lang="en-IN" sz="2400" dirty="0"/>
              <a:t>b</a:t>
            </a:r>
          </a:p>
          <a:p>
            <a:r>
              <a:rPr lang="en-IN" sz="2400" dirty="0"/>
              <a:t>…</a:t>
            </a:r>
          </a:p>
          <a:p>
            <a:r>
              <a:rPr lang="en-IN" sz="2400" dirty="0"/>
              <a:t>z</a:t>
            </a:r>
          </a:p>
        </p:txBody>
      </p:sp>
      <p:sp>
        <p:nvSpPr>
          <p:cNvPr id="19" name="TextBox 18">
            <a:extLst>
              <a:ext uri="{FF2B5EF4-FFF2-40B4-BE49-F238E27FC236}">
                <a16:creationId xmlns:a16="http://schemas.microsoft.com/office/drawing/2014/main" id="{36FA1BA4-9FA8-42A3-8218-A4EB981116F6}"/>
              </a:ext>
            </a:extLst>
          </p:cNvPr>
          <p:cNvSpPr txBox="1"/>
          <p:nvPr/>
        </p:nvSpPr>
        <p:spPr>
          <a:xfrm>
            <a:off x="5317432" y="1570383"/>
            <a:ext cx="417444" cy="1569660"/>
          </a:xfrm>
          <a:prstGeom prst="rect">
            <a:avLst/>
          </a:prstGeom>
          <a:noFill/>
        </p:spPr>
        <p:txBody>
          <a:bodyPr wrap="square" rtlCol="0">
            <a:spAutoFit/>
          </a:bodyPr>
          <a:lstStyle/>
          <a:p>
            <a:r>
              <a:rPr lang="en-IN" sz="2400" dirty="0"/>
              <a:t>a</a:t>
            </a:r>
          </a:p>
          <a:p>
            <a:r>
              <a:rPr lang="en-IN" sz="2400" dirty="0"/>
              <a:t>b</a:t>
            </a:r>
          </a:p>
          <a:p>
            <a:r>
              <a:rPr lang="en-IN" sz="2400" dirty="0"/>
              <a:t>…</a:t>
            </a:r>
          </a:p>
          <a:p>
            <a:r>
              <a:rPr lang="en-IN" sz="2400" dirty="0"/>
              <a:t>z</a:t>
            </a:r>
          </a:p>
        </p:txBody>
      </p:sp>
      <p:sp>
        <p:nvSpPr>
          <p:cNvPr id="20" name="TextBox 19">
            <a:extLst>
              <a:ext uri="{FF2B5EF4-FFF2-40B4-BE49-F238E27FC236}">
                <a16:creationId xmlns:a16="http://schemas.microsoft.com/office/drawing/2014/main" id="{F55C98C7-BD34-478E-AAC0-2C24A4CA5E2F}"/>
              </a:ext>
            </a:extLst>
          </p:cNvPr>
          <p:cNvSpPr txBox="1"/>
          <p:nvPr/>
        </p:nvSpPr>
        <p:spPr>
          <a:xfrm>
            <a:off x="3349487" y="2097150"/>
            <a:ext cx="868015" cy="646331"/>
          </a:xfrm>
          <a:prstGeom prst="rect">
            <a:avLst/>
          </a:prstGeom>
          <a:noFill/>
        </p:spPr>
        <p:txBody>
          <a:bodyPr wrap="square" rtlCol="0">
            <a:spAutoFit/>
          </a:bodyPr>
          <a:lstStyle/>
          <a:p>
            <a:r>
              <a:rPr lang="en-IN" sz="3600" dirty="0"/>
              <a:t>-</a:t>
            </a:r>
          </a:p>
        </p:txBody>
      </p:sp>
      <p:sp>
        <p:nvSpPr>
          <p:cNvPr id="22" name="TextBox 21">
            <a:extLst>
              <a:ext uri="{FF2B5EF4-FFF2-40B4-BE49-F238E27FC236}">
                <a16:creationId xmlns:a16="http://schemas.microsoft.com/office/drawing/2014/main" id="{99BC5725-1088-462C-8FF5-B28A7B9198A4}"/>
              </a:ext>
            </a:extLst>
          </p:cNvPr>
          <p:cNvSpPr txBox="1"/>
          <p:nvPr/>
        </p:nvSpPr>
        <p:spPr>
          <a:xfrm>
            <a:off x="-59633" y="5168344"/>
            <a:ext cx="9452113" cy="646331"/>
          </a:xfrm>
          <a:prstGeom prst="rect">
            <a:avLst/>
          </a:prstGeom>
          <a:noFill/>
        </p:spPr>
        <p:txBody>
          <a:bodyPr wrap="square" rtlCol="0">
            <a:spAutoFit/>
          </a:bodyPr>
          <a:lstStyle/>
          <a:p>
            <a:r>
              <a:rPr lang="en-IN" sz="3600" dirty="0"/>
              <a:t>=36*36* 36*36* 36*36 - 26*26* 26*26* 26*26</a:t>
            </a:r>
          </a:p>
        </p:txBody>
      </p:sp>
      <p:sp>
        <p:nvSpPr>
          <p:cNvPr id="23" name="TextBox 22">
            <a:extLst>
              <a:ext uri="{FF2B5EF4-FFF2-40B4-BE49-F238E27FC236}">
                <a16:creationId xmlns:a16="http://schemas.microsoft.com/office/drawing/2014/main" id="{5394B058-8F8D-4832-9A1B-D7CCDBCF7816}"/>
              </a:ext>
            </a:extLst>
          </p:cNvPr>
          <p:cNvSpPr txBox="1"/>
          <p:nvPr/>
        </p:nvSpPr>
        <p:spPr>
          <a:xfrm>
            <a:off x="92767" y="5917089"/>
            <a:ext cx="9452113" cy="646331"/>
          </a:xfrm>
          <a:prstGeom prst="rect">
            <a:avLst/>
          </a:prstGeom>
          <a:noFill/>
        </p:spPr>
        <p:txBody>
          <a:bodyPr wrap="square" rtlCol="0">
            <a:spAutoFit/>
          </a:bodyPr>
          <a:lstStyle/>
          <a:p>
            <a:r>
              <a:rPr lang="en-IN" sz="3600" dirty="0"/>
              <a:t>=36</a:t>
            </a:r>
            <a:r>
              <a:rPr lang="en-IN" sz="3600" baseline="30000" dirty="0"/>
              <a:t>6</a:t>
            </a:r>
            <a:r>
              <a:rPr lang="en-IN" sz="3600" dirty="0"/>
              <a:t>- 26</a:t>
            </a:r>
            <a:r>
              <a:rPr lang="en-IN" sz="3600" baseline="30000" dirty="0"/>
              <a:t>6</a:t>
            </a:r>
          </a:p>
        </p:txBody>
      </p:sp>
      <p:sp>
        <p:nvSpPr>
          <p:cNvPr id="24" name="TextBox 23">
            <a:extLst>
              <a:ext uri="{FF2B5EF4-FFF2-40B4-BE49-F238E27FC236}">
                <a16:creationId xmlns:a16="http://schemas.microsoft.com/office/drawing/2014/main" id="{5DF9B902-2CD2-460D-AF07-FED61DD58DF1}"/>
              </a:ext>
            </a:extLst>
          </p:cNvPr>
          <p:cNvSpPr txBox="1"/>
          <p:nvPr/>
        </p:nvSpPr>
        <p:spPr>
          <a:xfrm>
            <a:off x="616226" y="1033673"/>
            <a:ext cx="7265504" cy="461665"/>
          </a:xfrm>
          <a:prstGeom prst="rect">
            <a:avLst/>
          </a:prstGeom>
          <a:noFill/>
        </p:spPr>
        <p:txBody>
          <a:bodyPr wrap="square" rtlCol="0">
            <a:spAutoFit/>
          </a:bodyPr>
          <a:lstStyle/>
          <a:p>
            <a:r>
              <a:rPr lang="en-US" sz="2400" dirty="0"/>
              <a:t>Total password, which are six characters long</a:t>
            </a:r>
            <a:endParaRPr lang="en-IN" sz="2400" dirty="0"/>
          </a:p>
        </p:txBody>
      </p:sp>
      <p:sp>
        <p:nvSpPr>
          <p:cNvPr id="25" name="Left Brace 24">
            <a:extLst>
              <a:ext uri="{FF2B5EF4-FFF2-40B4-BE49-F238E27FC236}">
                <a16:creationId xmlns:a16="http://schemas.microsoft.com/office/drawing/2014/main" id="{541C2C42-51B0-4298-BF8D-BD67DB5E5E15}"/>
              </a:ext>
            </a:extLst>
          </p:cNvPr>
          <p:cNvSpPr/>
          <p:nvPr/>
        </p:nvSpPr>
        <p:spPr>
          <a:xfrm rot="16200000">
            <a:off x="4483337" y="2456763"/>
            <a:ext cx="535136" cy="1598615"/>
          </a:xfrm>
          <a:prstGeom prst="leftBrace">
            <a:avLst>
              <a:gd name="adj1" fmla="val 8333"/>
              <a:gd name="adj2" fmla="val 50000"/>
            </a:avLst>
          </a:prstGeom>
          <a:ln w="38100">
            <a:solidFill>
              <a:srgbClr val="BA202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6" name="Oval 25">
            <a:extLst>
              <a:ext uri="{FF2B5EF4-FFF2-40B4-BE49-F238E27FC236}">
                <a16:creationId xmlns:a16="http://schemas.microsoft.com/office/drawing/2014/main" id="{117B0A8B-4FCF-446D-B590-C36B2A40D99B}"/>
              </a:ext>
            </a:extLst>
          </p:cNvPr>
          <p:cNvSpPr/>
          <p:nvPr/>
        </p:nvSpPr>
        <p:spPr>
          <a:xfrm>
            <a:off x="3951597" y="3866322"/>
            <a:ext cx="1975440" cy="72496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B9687EA5-4D48-49B0-A0D6-337FB4F45445}"/>
              </a:ext>
            </a:extLst>
          </p:cNvPr>
          <p:cNvSpPr txBox="1"/>
          <p:nvPr/>
        </p:nvSpPr>
        <p:spPr>
          <a:xfrm>
            <a:off x="4194310" y="3899448"/>
            <a:ext cx="1590259" cy="646331"/>
          </a:xfrm>
          <a:prstGeom prst="rect">
            <a:avLst/>
          </a:prstGeom>
          <a:noFill/>
        </p:spPr>
        <p:txBody>
          <a:bodyPr wrap="square" rtlCol="0">
            <a:spAutoFit/>
          </a:bodyPr>
          <a:lstStyle/>
          <a:p>
            <a:r>
              <a:rPr lang="en-IN" dirty="0"/>
              <a:t>Passwords with no digits</a:t>
            </a:r>
          </a:p>
        </p:txBody>
      </p:sp>
    </p:spTree>
    <p:extLst>
      <p:ext uri="{BB962C8B-B14F-4D97-AF65-F5344CB8AC3E}">
        <p14:creationId xmlns:p14="http://schemas.microsoft.com/office/powerpoint/2010/main" val="1759134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65969-44D9-4A16-9D0F-FD9428B23573}"/>
              </a:ext>
            </a:extLst>
          </p:cNvPr>
          <p:cNvSpPr>
            <a:spLocks noGrp="1"/>
          </p:cNvSpPr>
          <p:nvPr>
            <p:ph type="title"/>
          </p:nvPr>
        </p:nvSpPr>
        <p:spPr/>
        <p:txBody>
          <a:bodyPr/>
          <a:lstStyle/>
          <a:p>
            <a:r>
              <a:rPr lang="en-IN" dirty="0"/>
              <a:t>Basics of Counting – Example 4</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DEC7B9A-8015-4FB4-8C24-4BC3D64C32B7}"/>
                  </a:ext>
                </a:extLst>
              </p:cNvPr>
              <p:cNvSpPr>
                <a:spLocks noGrp="1"/>
              </p:cNvSpPr>
              <p:nvPr>
                <p:ph idx="1"/>
              </p:nvPr>
            </p:nvSpPr>
            <p:spPr>
              <a:xfrm>
                <a:off x="393289" y="1248697"/>
                <a:ext cx="8392901" cy="5400581"/>
              </a:xfrm>
            </p:spPr>
            <p:txBody>
              <a:bodyPr>
                <a:normAutofit fontScale="92500" lnSpcReduction="20000"/>
              </a:bodyPr>
              <a:lstStyle/>
              <a:p>
                <a:pPr marL="0" indent="0">
                  <a:buNone/>
                </a:pPr>
                <a:r>
                  <a:rPr lang="en-US" sz="2400" b="1" dirty="0"/>
                  <a:t>There are </a:t>
                </a:r>
                <a:endParaRPr lang="en-US" sz="2400" dirty="0"/>
              </a:p>
              <a:p>
                <a:pPr marL="0" indent="0">
                  <a:buNone/>
                </a:pPr>
                <a:endParaRPr lang="en-US" sz="2400" dirty="0"/>
              </a:p>
              <a:p>
                <a:pPr marL="0" indent="0">
                  <a:buNone/>
                </a:pPr>
                <a:r>
                  <a:rPr lang="en-US" sz="2800" b="1" dirty="0"/>
                  <a:t>Sol:- </a:t>
                </a:r>
                <a14:m>
                  <m:oMath xmlns:m="http://schemas.openxmlformats.org/officeDocument/2006/math">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𝑃</m:t>
                        </m:r>
                      </m:e>
                      <m:sub>
                        <m:r>
                          <a:rPr lang="en-US" sz="2800" b="0" i="1" dirty="0" smtClean="0">
                            <a:latin typeface="Cambria Math" panose="02040503050406030204" pitchFamily="18" charset="0"/>
                          </a:rPr>
                          <m:t>6</m:t>
                        </m:r>
                      </m:sub>
                    </m:sSub>
                    <m:r>
                      <a:rPr lang="en-IN" sz="2800" i="1" dirty="0" smtClean="0">
                        <a:latin typeface="Cambria Math" panose="02040503050406030204" pitchFamily="18" charset="0"/>
                      </a:rPr>
                      <m:t> </m:t>
                    </m:r>
                  </m:oMath>
                </a14:m>
                <a:r>
                  <a:rPr lang="en-IN" sz="2800" dirty="0"/>
                  <a:t>= </a:t>
                </a:r>
                <a14:m>
                  <m:oMath xmlns:m="http://schemas.openxmlformats.org/officeDocument/2006/math">
                    <m:sSup>
                      <m:sSupPr>
                        <m:ctrlPr>
                          <a:rPr lang="en-IN" sz="2800" i="1" smtClean="0">
                            <a:latin typeface="Cambria Math" panose="02040503050406030204" pitchFamily="18" charset="0"/>
                          </a:rPr>
                        </m:ctrlPr>
                      </m:sSupPr>
                      <m:e>
                        <m:r>
                          <a:rPr lang="en-US" sz="2800" b="0" i="1" smtClean="0">
                            <a:latin typeface="Cambria Math" panose="02040503050406030204" pitchFamily="18" charset="0"/>
                          </a:rPr>
                          <m:t>36</m:t>
                        </m:r>
                      </m:e>
                      <m:sup>
                        <m:r>
                          <a:rPr lang="en-US" sz="2800" b="0" i="1" smtClean="0">
                            <a:latin typeface="Cambria Math" panose="02040503050406030204" pitchFamily="18" charset="0"/>
                          </a:rPr>
                          <m:t>6</m:t>
                        </m:r>
                      </m:sup>
                    </m:sSup>
                  </m:oMath>
                </a14:m>
                <a:r>
                  <a:rPr lang="en-IN" sz="2800" dirty="0"/>
                  <a:t> − </a:t>
                </a:r>
                <a14:m>
                  <m:oMath xmlns:m="http://schemas.openxmlformats.org/officeDocument/2006/math">
                    <m:sSup>
                      <m:sSupPr>
                        <m:ctrlPr>
                          <a:rPr lang="en-IN" sz="2800" i="1" smtClean="0">
                            <a:latin typeface="Cambria Math" panose="02040503050406030204" pitchFamily="18" charset="0"/>
                          </a:rPr>
                        </m:ctrlPr>
                      </m:sSupPr>
                      <m:e>
                        <m:r>
                          <a:rPr lang="en-US" sz="2800" b="0" i="1" smtClean="0">
                            <a:latin typeface="Cambria Math" panose="02040503050406030204" pitchFamily="18" charset="0"/>
                          </a:rPr>
                          <m:t>26</m:t>
                        </m:r>
                      </m:e>
                      <m:sup>
                        <m:r>
                          <a:rPr lang="en-US" sz="2800" b="0" i="1" smtClean="0">
                            <a:latin typeface="Cambria Math" panose="02040503050406030204" pitchFamily="18" charset="0"/>
                          </a:rPr>
                          <m:t>6</m:t>
                        </m:r>
                      </m:sup>
                    </m:sSup>
                  </m:oMath>
                </a14:m>
                <a:r>
                  <a:rPr lang="en-IN" sz="2800" dirty="0"/>
                  <a:t>= 2,176,782,336 − 308,915,776 = 1,867,866,560.</a:t>
                </a:r>
              </a:p>
              <a:p>
                <a:pPr marL="0" indent="0">
                  <a:buNone/>
                </a:pPr>
                <a14:m>
                  <m:oMath xmlns:m="http://schemas.openxmlformats.org/officeDocument/2006/math">
                    <m:sSub>
                      <m:sSubPr>
                        <m:ctrlPr>
                          <a:rPr lang="en-US" sz="2800" i="1" dirty="0" smtClean="0">
                            <a:latin typeface="Cambria Math" panose="02040503050406030204" pitchFamily="18" charset="0"/>
                          </a:rPr>
                        </m:ctrlPr>
                      </m:sSubPr>
                      <m:e>
                        <m:r>
                          <a:rPr lang="en-US" sz="2800" i="1" dirty="0">
                            <a:latin typeface="Cambria Math" panose="02040503050406030204" pitchFamily="18" charset="0"/>
                          </a:rPr>
                          <m:t>𝑃</m:t>
                        </m:r>
                      </m:e>
                      <m:sub>
                        <m:r>
                          <a:rPr lang="en-US" sz="2800" b="0" i="1" dirty="0" smtClean="0">
                            <a:latin typeface="Cambria Math" panose="02040503050406030204" pitchFamily="18" charset="0"/>
                          </a:rPr>
                          <m:t>7</m:t>
                        </m:r>
                      </m:sub>
                    </m:sSub>
                  </m:oMath>
                </a14:m>
                <a:r>
                  <a:rPr lang="en-IN" sz="2800" dirty="0"/>
                  <a:t>= </a:t>
                </a:r>
                <a14:m>
                  <m:oMath xmlns:m="http://schemas.openxmlformats.org/officeDocument/2006/math">
                    <m:sSup>
                      <m:sSupPr>
                        <m:ctrlPr>
                          <a:rPr lang="en-IN" sz="2800" i="1" smtClean="0">
                            <a:latin typeface="Cambria Math" panose="02040503050406030204" pitchFamily="18" charset="0"/>
                          </a:rPr>
                        </m:ctrlPr>
                      </m:sSupPr>
                      <m:e>
                        <m:r>
                          <a:rPr lang="en-US" sz="2800" b="0" i="1" smtClean="0">
                            <a:latin typeface="Cambria Math" panose="02040503050406030204" pitchFamily="18" charset="0"/>
                          </a:rPr>
                          <m:t>36</m:t>
                        </m:r>
                      </m:e>
                      <m:sup>
                        <m:r>
                          <a:rPr lang="en-US" sz="2800" b="0" i="1" smtClean="0">
                            <a:latin typeface="Cambria Math" panose="02040503050406030204" pitchFamily="18" charset="0"/>
                          </a:rPr>
                          <m:t>7</m:t>
                        </m:r>
                      </m:sup>
                    </m:sSup>
                  </m:oMath>
                </a14:m>
                <a:r>
                  <a:rPr lang="en-IN" sz="2800" dirty="0"/>
                  <a:t> − </a:t>
                </a:r>
                <a14:m>
                  <m:oMath xmlns:m="http://schemas.openxmlformats.org/officeDocument/2006/math">
                    <m:sSup>
                      <m:sSupPr>
                        <m:ctrlPr>
                          <a:rPr lang="en-IN" sz="2800" i="1" smtClean="0">
                            <a:latin typeface="Cambria Math" panose="02040503050406030204" pitchFamily="18" charset="0"/>
                          </a:rPr>
                        </m:ctrlPr>
                      </m:sSupPr>
                      <m:e>
                        <m:r>
                          <a:rPr lang="en-US" sz="2800" b="0" i="1" smtClean="0">
                            <a:latin typeface="Cambria Math" panose="02040503050406030204" pitchFamily="18" charset="0"/>
                          </a:rPr>
                          <m:t>26</m:t>
                        </m:r>
                      </m:e>
                      <m:sup>
                        <m:r>
                          <a:rPr lang="en-US" sz="2800" b="0" i="1" smtClean="0">
                            <a:latin typeface="Cambria Math" panose="02040503050406030204" pitchFamily="18" charset="0"/>
                          </a:rPr>
                          <m:t>7</m:t>
                        </m:r>
                      </m:sup>
                    </m:sSup>
                  </m:oMath>
                </a14:m>
                <a:r>
                  <a:rPr lang="en-IN" sz="2800" dirty="0"/>
                  <a:t>= 78,364,164,096 − 8,031,810,176 = 70,332,353,920.</a:t>
                </a:r>
              </a:p>
              <a:p>
                <a:pPr marL="0" indent="0">
                  <a:buNone/>
                </a:pPr>
                <a14:m>
                  <m:oMath xmlns:m="http://schemas.openxmlformats.org/officeDocument/2006/math">
                    <m:sSub>
                      <m:sSubPr>
                        <m:ctrlPr>
                          <a:rPr lang="en-US" sz="2800" i="1" dirty="0">
                            <a:latin typeface="Cambria Math" panose="02040503050406030204" pitchFamily="18" charset="0"/>
                          </a:rPr>
                        </m:ctrlPr>
                      </m:sSubPr>
                      <m:e>
                        <m:r>
                          <a:rPr lang="en-US" sz="2800" i="1" dirty="0">
                            <a:latin typeface="Cambria Math" panose="02040503050406030204" pitchFamily="18" charset="0"/>
                          </a:rPr>
                          <m:t>𝑃</m:t>
                        </m:r>
                      </m:e>
                      <m:sub>
                        <m:r>
                          <a:rPr lang="en-US" sz="2800" b="0" i="1" dirty="0" smtClean="0">
                            <a:latin typeface="Cambria Math" panose="02040503050406030204" pitchFamily="18" charset="0"/>
                          </a:rPr>
                          <m:t>8</m:t>
                        </m:r>
                      </m:sub>
                    </m:sSub>
                  </m:oMath>
                </a14:m>
                <a:r>
                  <a:rPr lang="en-IN" sz="2800" dirty="0"/>
                  <a:t>= </a:t>
                </a:r>
                <a14:m>
                  <m:oMath xmlns:m="http://schemas.openxmlformats.org/officeDocument/2006/math">
                    <m:sSup>
                      <m:sSupPr>
                        <m:ctrlPr>
                          <a:rPr lang="en-IN" sz="2800" i="1" smtClean="0">
                            <a:latin typeface="Cambria Math" panose="02040503050406030204" pitchFamily="18" charset="0"/>
                          </a:rPr>
                        </m:ctrlPr>
                      </m:sSupPr>
                      <m:e>
                        <m:r>
                          <a:rPr lang="en-US" sz="2800" b="0" i="1" smtClean="0">
                            <a:latin typeface="Cambria Math" panose="02040503050406030204" pitchFamily="18" charset="0"/>
                          </a:rPr>
                          <m:t>36</m:t>
                        </m:r>
                      </m:e>
                      <m:sup>
                        <m:r>
                          <a:rPr lang="en-US" sz="2800" b="0" i="1" smtClean="0">
                            <a:latin typeface="Cambria Math" panose="02040503050406030204" pitchFamily="18" charset="0"/>
                          </a:rPr>
                          <m:t>8</m:t>
                        </m:r>
                      </m:sup>
                    </m:sSup>
                  </m:oMath>
                </a14:m>
                <a:r>
                  <a:rPr lang="en-IN" sz="2800" dirty="0"/>
                  <a:t> − </a:t>
                </a:r>
                <a14:m>
                  <m:oMath xmlns:m="http://schemas.openxmlformats.org/officeDocument/2006/math">
                    <m:sSup>
                      <m:sSupPr>
                        <m:ctrlPr>
                          <a:rPr lang="en-IN" sz="2800" i="1" smtClean="0">
                            <a:latin typeface="Cambria Math" panose="02040503050406030204" pitchFamily="18" charset="0"/>
                          </a:rPr>
                        </m:ctrlPr>
                      </m:sSupPr>
                      <m:e>
                        <m:r>
                          <a:rPr lang="en-US" sz="2800" b="0" i="1" smtClean="0">
                            <a:latin typeface="Cambria Math" panose="02040503050406030204" pitchFamily="18" charset="0"/>
                          </a:rPr>
                          <m:t>26</m:t>
                        </m:r>
                      </m:e>
                      <m:sup>
                        <m:r>
                          <a:rPr lang="en-US" sz="2800" b="0" i="1" smtClean="0">
                            <a:latin typeface="Cambria Math" panose="02040503050406030204" pitchFamily="18" charset="0"/>
                          </a:rPr>
                          <m:t>8</m:t>
                        </m:r>
                      </m:sup>
                    </m:sSup>
                  </m:oMath>
                </a14:m>
                <a:r>
                  <a:rPr lang="en-IN" sz="2800" dirty="0"/>
                  <a:t>= 2</a:t>
                </a:r>
                <a:r>
                  <a:rPr lang="en-IN" sz="2800" i="1" dirty="0"/>
                  <a:t>,</a:t>
                </a:r>
                <a:r>
                  <a:rPr lang="en-IN" sz="2800" dirty="0"/>
                  <a:t>821</a:t>
                </a:r>
                <a:r>
                  <a:rPr lang="en-IN" sz="2800" i="1" dirty="0"/>
                  <a:t>,</a:t>
                </a:r>
                <a:r>
                  <a:rPr lang="en-IN" sz="2800" dirty="0"/>
                  <a:t>109</a:t>
                </a:r>
                <a:r>
                  <a:rPr lang="en-IN" sz="2800" i="1" dirty="0"/>
                  <a:t>,</a:t>
                </a:r>
                <a:r>
                  <a:rPr lang="en-IN" sz="2800" dirty="0"/>
                  <a:t>907</a:t>
                </a:r>
                <a:r>
                  <a:rPr lang="en-IN" sz="2800" i="1" dirty="0"/>
                  <a:t>,</a:t>
                </a:r>
                <a:r>
                  <a:rPr lang="en-IN" sz="2800" dirty="0"/>
                  <a:t>456 − 208</a:t>
                </a:r>
                <a:r>
                  <a:rPr lang="en-IN" sz="2800" i="1" dirty="0"/>
                  <a:t>,</a:t>
                </a:r>
                <a:r>
                  <a:rPr lang="en-IN" sz="2800" dirty="0"/>
                  <a:t>827</a:t>
                </a:r>
                <a:r>
                  <a:rPr lang="en-IN" sz="2800" i="1" dirty="0"/>
                  <a:t>,</a:t>
                </a:r>
                <a:r>
                  <a:rPr lang="en-IN" sz="2800" dirty="0"/>
                  <a:t>064</a:t>
                </a:r>
                <a:r>
                  <a:rPr lang="en-IN" sz="2800" i="1" dirty="0"/>
                  <a:t>,</a:t>
                </a:r>
                <a:r>
                  <a:rPr lang="en-IN" sz="2800" dirty="0"/>
                  <a:t>576</a:t>
                </a:r>
              </a:p>
              <a:p>
                <a:pPr marL="0" indent="0">
                  <a:buNone/>
                </a:pPr>
                <a:r>
                  <a:rPr lang="en-IN" sz="2800" dirty="0"/>
                  <a:t>= 2</a:t>
                </a:r>
                <a:r>
                  <a:rPr lang="en-IN" sz="2800" i="1" dirty="0"/>
                  <a:t>,</a:t>
                </a:r>
                <a:r>
                  <a:rPr lang="en-IN" sz="2800" dirty="0"/>
                  <a:t>612</a:t>
                </a:r>
                <a:r>
                  <a:rPr lang="en-IN" sz="2800" i="1" dirty="0"/>
                  <a:t>,</a:t>
                </a:r>
                <a:r>
                  <a:rPr lang="en-IN" sz="2800" dirty="0"/>
                  <a:t>282</a:t>
                </a:r>
                <a:r>
                  <a:rPr lang="en-IN" sz="2800" i="1" dirty="0"/>
                  <a:t>,</a:t>
                </a:r>
                <a:r>
                  <a:rPr lang="en-IN" sz="2800" dirty="0"/>
                  <a:t>842</a:t>
                </a:r>
                <a:r>
                  <a:rPr lang="en-IN" sz="2800" i="1" dirty="0"/>
                  <a:t>,</a:t>
                </a:r>
                <a:r>
                  <a:rPr lang="en-IN" sz="2800" dirty="0"/>
                  <a:t>880</a:t>
                </a:r>
                <a:r>
                  <a:rPr lang="en-IN" sz="2800" i="1" dirty="0"/>
                  <a:t>.</a:t>
                </a:r>
              </a:p>
              <a:p>
                <a:pPr marL="0" indent="0">
                  <a:buNone/>
                </a:pPr>
                <a:r>
                  <a:rPr lang="nn-NO" sz="2800" dirty="0"/>
                  <a:t>P = </a:t>
                </a:r>
                <a14:m>
                  <m:oMath xmlns:m="http://schemas.openxmlformats.org/officeDocument/2006/math">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𝑃</m:t>
                        </m:r>
                      </m:e>
                      <m:sub>
                        <m:r>
                          <a:rPr lang="en-US" sz="2800" b="0" i="1" dirty="0" smtClean="0">
                            <a:latin typeface="Cambria Math" panose="02040503050406030204" pitchFamily="18" charset="0"/>
                          </a:rPr>
                          <m:t>6</m:t>
                        </m:r>
                      </m:sub>
                    </m:sSub>
                  </m:oMath>
                </a14:m>
                <a:r>
                  <a:rPr lang="nn-NO" sz="2800" dirty="0"/>
                  <a:t>+</a:t>
                </a:r>
                <a:r>
                  <a:rPr lang="en-US" sz="2800" dirty="0"/>
                  <a:t> </a:t>
                </a:r>
                <a14:m>
                  <m:oMath xmlns:m="http://schemas.openxmlformats.org/officeDocument/2006/math">
                    <m:sSub>
                      <m:sSubPr>
                        <m:ctrlPr>
                          <a:rPr lang="en-US" sz="2800" i="1" dirty="0">
                            <a:latin typeface="Cambria Math" panose="02040503050406030204" pitchFamily="18" charset="0"/>
                          </a:rPr>
                        </m:ctrlPr>
                      </m:sSubPr>
                      <m:e>
                        <m:r>
                          <a:rPr lang="en-US" sz="2800" i="1" dirty="0">
                            <a:latin typeface="Cambria Math" panose="02040503050406030204" pitchFamily="18" charset="0"/>
                          </a:rPr>
                          <m:t>𝑃</m:t>
                        </m:r>
                      </m:e>
                      <m:sub>
                        <m:r>
                          <a:rPr lang="en-US" sz="2800" b="0" i="1" dirty="0" smtClean="0">
                            <a:latin typeface="Cambria Math" panose="02040503050406030204" pitchFamily="18" charset="0"/>
                          </a:rPr>
                          <m:t>7</m:t>
                        </m:r>
                      </m:sub>
                    </m:sSub>
                  </m:oMath>
                </a14:m>
                <a:r>
                  <a:rPr lang="nn-NO" sz="2800" dirty="0"/>
                  <a:t>+</a:t>
                </a:r>
                <a:r>
                  <a:rPr lang="en-US" sz="2800" dirty="0"/>
                  <a:t> </a:t>
                </a:r>
                <a14:m>
                  <m:oMath xmlns:m="http://schemas.openxmlformats.org/officeDocument/2006/math">
                    <m:sSub>
                      <m:sSubPr>
                        <m:ctrlPr>
                          <a:rPr lang="en-US" sz="2800" i="1" dirty="0">
                            <a:latin typeface="Cambria Math" panose="02040503050406030204" pitchFamily="18" charset="0"/>
                          </a:rPr>
                        </m:ctrlPr>
                      </m:sSubPr>
                      <m:e>
                        <m:r>
                          <a:rPr lang="en-US" sz="2800" i="1" dirty="0">
                            <a:latin typeface="Cambria Math" panose="02040503050406030204" pitchFamily="18" charset="0"/>
                          </a:rPr>
                          <m:t>𝑃</m:t>
                        </m:r>
                      </m:e>
                      <m:sub>
                        <m:r>
                          <a:rPr lang="en-US" sz="2800" b="0" i="1" dirty="0" smtClean="0">
                            <a:latin typeface="Cambria Math" panose="02040503050406030204" pitchFamily="18" charset="0"/>
                          </a:rPr>
                          <m:t>8</m:t>
                        </m:r>
                      </m:sub>
                    </m:sSub>
                  </m:oMath>
                </a14:m>
                <a:r>
                  <a:rPr lang="nn-NO" sz="2800" dirty="0"/>
                  <a:t>= 2,684,483,063,360.</a:t>
                </a:r>
                <a:endParaRPr lang="en-IN" sz="2800" dirty="0"/>
              </a:p>
              <a:p>
                <a:pPr marL="0" indent="0">
                  <a:buNone/>
                </a:pPr>
                <a:endParaRPr lang="en-IN" sz="2400" dirty="0"/>
              </a:p>
            </p:txBody>
          </p:sp>
        </mc:Choice>
        <mc:Fallback xmlns="">
          <p:sp>
            <p:nvSpPr>
              <p:cNvPr id="3" name="Content Placeholder 2">
                <a:extLst>
                  <a:ext uri="{FF2B5EF4-FFF2-40B4-BE49-F238E27FC236}">
                    <a16:creationId xmlns:a16="http://schemas.microsoft.com/office/drawing/2014/main" id="{9DEC7B9A-8015-4FB4-8C24-4BC3D64C32B7}"/>
                  </a:ext>
                </a:extLst>
              </p:cNvPr>
              <p:cNvSpPr>
                <a:spLocks noGrp="1" noRot="1" noChangeAspect="1" noMove="1" noResize="1" noEditPoints="1" noAdjustHandles="1" noChangeArrowheads="1" noChangeShapeType="1" noTextEdit="1"/>
              </p:cNvSpPr>
              <p:nvPr>
                <p:ph idx="1"/>
              </p:nvPr>
            </p:nvSpPr>
            <p:spPr>
              <a:xfrm>
                <a:off x="393289" y="1248697"/>
                <a:ext cx="8392901" cy="5400581"/>
              </a:xfrm>
              <a:blipFill>
                <a:blip r:embed="rId2"/>
                <a:stretch>
                  <a:fillRect l="-1308" r="-1381" b="-339"/>
                </a:stretch>
              </a:blipFill>
            </p:spPr>
            <p:txBody>
              <a:bodyPr/>
              <a:lstStyle/>
              <a:p>
                <a:r>
                  <a:rPr lang="en-IN">
                    <a:noFill/>
                  </a:rPr>
                  <a:t> </a:t>
                </a:r>
              </a:p>
            </p:txBody>
          </p:sp>
        </mc:Fallback>
      </mc:AlternateContent>
    </p:spTree>
    <p:extLst>
      <p:ext uri="{BB962C8B-B14F-4D97-AF65-F5344CB8AC3E}">
        <p14:creationId xmlns:p14="http://schemas.microsoft.com/office/powerpoint/2010/main" val="11730217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65969-44D9-4A16-9D0F-FD9428B23573}"/>
              </a:ext>
            </a:extLst>
          </p:cNvPr>
          <p:cNvSpPr>
            <a:spLocks noGrp="1"/>
          </p:cNvSpPr>
          <p:nvPr>
            <p:ph type="title"/>
          </p:nvPr>
        </p:nvSpPr>
        <p:spPr/>
        <p:txBody>
          <a:bodyPr/>
          <a:lstStyle/>
          <a:p>
            <a:r>
              <a:rPr lang="en-IN" dirty="0"/>
              <a:t>Basics of Counting – Example 5</a:t>
            </a:r>
          </a:p>
        </p:txBody>
      </p:sp>
      <p:sp>
        <p:nvSpPr>
          <p:cNvPr id="3" name="Content Placeholder 2">
            <a:extLst>
              <a:ext uri="{FF2B5EF4-FFF2-40B4-BE49-F238E27FC236}">
                <a16:creationId xmlns:a16="http://schemas.microsoft.com/office/drawing/2014/main" id="{9DEC7B9A-8015-4FB4-8C24-4BC3D64C32B7}"/>
              </a:ext>
            </a:extLst>
          </p:cNvPr>
          <p:cNvSpPr>
            <a:spLocks noGrp="1"/>
          </p:cNvSpPr>
          <p:nvPr>
            <p:ph idx="1"/>
          </p:nvPr>
        </p:nvSpPr>
        <p:spPr>
          <a:xfrm>
            <a:off x="393289" y="1248697"/>
            <a:ext cx="8392901" cy="5400581"/>
          </a:xfrm>
        </p:spPr>
        <p:txBody>
          <a:bodyPr>
            <a:normAutofit lnSpcReduction="10000"/>
          </a:bodyPr>
          <a:lstStyle/>
          <a:p>
            <a:pPr marL="0" indent="0">
              <a:buNone/>
            </a:pPr>
            <a:r>
              <a:rPr lang="en-US" sz="2400" b="1" dirty="0"/>
              <a:t>Ques:- </a:t>
            </a:r>
            <a:r>
              <a:rPr lang="en-US" sz="2400" dirty="0"/>
              <a:t>How many strings of five ASCII characters contain the character @ (“at” sign) at least once? [Note: There are</a:t>
            </a:r>
            <a:br>
              <a:rPr lang="en-US" sz="2400" dirty="0"/>
            </a:br>
            <a:r>
              <a:rPr lang="en-US" sz="2400" dirty="0"/>
              <a:t>128 different ASCII characters].</a:t>
            </a:r>
          </a:p>
          <a:p>
            <a:pPr marL="0" indent="0">
              <a:buNone/>
            </a:pPr>
            <a:endParaRPr lang="en-US" sz="2400" dirty="0"/>
          </a:p>
          <a:p>
            <a:pPr marL="0" indent="0">
              <a:buNone/>
            </a:pPr>
            <a:endParaRPr lang="en-US" sz="2400" dirty="0"/>
          </a:p>
          <a:p>
            <a:pPr marL="0" indent="0">
              <a:buNone/>
            </a:pPr>
            <a:r>
              <a:rPr lang="en-US" sz="2400" b="1" dirty="0"/>
              <a:t>Sol:- </a:t>
            </a:r>
            <a:r>
              <a:rPr lang="en-US" sz="2400" dirty="0"/>
              <a:t>The easiest way to count this is to find the total number of ASCII strings of length five and then subtract off</a:t>
            </a:r>
          </a:p>
          <a:p>
            <a:pPr marL="0" indent="0">
              <a:buNone/>
            </a:pPr>
            <a:r>
              <a:rPr lang="en-US" sz="2400" dirty="0"/>
              <a:t>the number of such strings that do not contain the @character. </a:t>
            </a:r>
            <a:endParaRPr lang="en-IN" sz="2400" dirty="0"/>
          </a:p>
        </p:txBody>
      </p:sp>
    </p:spTree>
    <p:extLst>
      <p:ext uri="{BB962C8B-B14F-4D97-AF65-F5344CB8AC3E}">
        <p14:creationId xmlns:p14="http://schemas.microsoft.com/office/powerpoint/2010/main" val="41322327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65969-44D9-4A16-9D0F-FD9428B23573}"/>
              </a:ext>
            </a:extLst>
          </p:cNvPr>
          <p:cNvSpPr>
            <a:spLocks noGrp="1"/>
          </p:cNvSpPr>
          <p:nvPr>
            <p:ph type="title"/>
          </p:nvPr>
        </p:nvSpPr>
        <p:spPr/>
        <p:txBody>
          <a:bodyPr/>
          <a:lstStyle/>
          <a:p>
            <a:r>
              <a:rPr lang="en-IN" dirty="0"/>
              <a:t>Basics of Counting – Example 5</a:t>
            </a:r>
          </a:p>
        </p:txBody>
      </p:sp>
      <p:sp>
        <p:nvSpPr>
          <p:cNvPr id="6" name="TextBox 5">
            <a:extLst>
              <a:ext uri="{FF2B5EF4-FFF2-40B4-BE49-F238E27FC236}">
                <a16:creationId xmlns:a16="http://schemas.microsoft.com/office/drawing/2014/main" id="{DD64C08A-FBBB-45FB-82D4-B071BFCE4D74}"/>
              </a:ext>
            </a:extLst>
          </p:cNvPr>
          <p:cNvSpPr txBox="1"/>
          <p:nvPr/>
        </p:nvSpPr>
        <p:spPr>
          <a:xfrm>
            <a:off x="621892" y="1610141"/>
            <a:ext cx="3423336" cy="646331"/>
          </a:xfrm>
          <a:prstGeom prst="rect">
            <a:avLst/>
          </a:prstGeom>
          <a:noFill/>
        </p:spPr>
        <p:txBody>
          <a:bodyPr wrap="square" rtlCol="0">
            <a:spAutoFit/>
          </a:bodyPr>
          <a:lstStyle/>
          <a:p>
            <a:r>
              <a:rPr lang="en-IN" sz="2600" dirty="0"/>
              <a:t>=Total			</a:t>
            </a:r>
            <a:r>
              <a:rPr lang="en-IN" sz="3600" dirty="0"/>
              <a:t>-</a:t>
            </a:r>
            <a:r>
              <a:rPr lang="en-IN" sz="2600" dirty="0"/>
              <a:t>	</a:t>
            </a:r>
          </a:p>
        </p:txBody>
      </p:sp>
      <p:sp>
        <p:nvSpPr>
          <p:cNvPr id="7" name="TextBox 6">
            <a:extLst>
              <a:ext uri="{FF2B5EF4-FFF2-40B4-BE49-F238E27FC236}">
                <a16:creationId xmlns:a16="http://schemas.microsoft.com/office/drawing/2014/main" id="{473C3744-D714-4FA3-BF9A-C74E78BC627E}"/>
              </a:ext>
            </a:extLst>
          </p:cNvPr>
          <p:cNvSpPr txBox="1"/>
          <p:nvPr/>
        </p:nvSpPr>
        <p:spPr>
          <a:xfrm>
            <a:off x="4326835" y="1749287"/>
            <a:ext cx="4091608" cy="523220"/>
          </a:xfrm>
          <a:prstGeom prst="rect">
            <a:avLst/>
          </a:prstGeom>
          <a:noFill/>
        </p:spPr>
        <p:txBody>
          <a:bodyPr wrap="square" rtlCol="0">
            <a:spAutoFit/>
          </a:bodyPr>
          <a:lstStyle/>
          <a:p>
            <a:r>
              <a:rPr lang="en-US" sz="2800" dirty="0">
                <a:solidFill>
                  <a:srgbClr val="FF0000"/>
                </a:solidFill>
              </a:rPr>
              <a:t>Without @character</a:t>
            </a:r>
            <a:r>
              <a:rPr lang="en-US" sz="2800" dirty="0"/>
              <a:t>.</a:t>
            </a:r>
            <a:endParaRPr lang="en-IN" sz="2600" dirty="0"/>
          </a:p>
        </p:txBody>
      </p:sp>
      <p:sp>
        <p:nvSpPr>
          <p:cNvPr id="9" name="TextBox 8">
            <a:extLst>
              <a:ext uri="{FF2B5EF4-FFF2-40B4-BE49-F238E27FC236}">
                <a16:creationId xmlns:a16="http://schemas.microsoft.com/office/drawing/2014/main" id="{2ACF27FA-F9DE-48C6-B942-9475BA1935B6}"/>
              </a:ext>
            </a:extLst>
          </p:cNvPr>
          <p:cNvSpPr txBox="1"/>
          <p:nvPr/>
        </p:nvSpPr>
        <p:spPr>
          <a:xfrm>
            <a:off x="616226" y="2435087"/>
            <a:ext cx="6937513" cy="461665"/>
          </a:xfrm>
          <a:prstGeom prst="rect">
            <a:avLst/>
          </a:prstGeom>
          <a:noFill/>
        </p:spPr>
        <p:txBody>
          <a:bodyPr wrap="square" rtlCol="0">
            <a:spAutoFit/>
          </a:bodyPr>
          <a:lstStyle/>
          <a:p>
            <a:r>
              <a:rPr lang="en-IN" sz="2400" dirty="0"/>
              <a:t>= n</a:t>
            </a:r>
            <a:r>
              <a:rPr lang="en-IN" sz="2400" baseline="-25000" dirty="0"/>
              <a:t>1</a:t>
            </a:r>
            <a:r>
              <a:rPr lang="en-IN" sz="2400" dirty="0"/>
              <a:t>* n</a:t>
            </a:r>
            <a:r>
              <a:rPr lang="en-IN" sz="2400" baseline="-25000" dirty="0"/>
              <a:t>2</a:t>
            </a:r>
            <a:r>
              <a:rPr lang="en-IN" sz="2400" dirty="0"/>
              <a:t>* n</a:t>
            </a:r>
            <a:r>
              <a:rPr lang="en-IN" sz="2400" baseline="-25000" dirty="0"/>
              <a:t>3</a:t>
            </a:r>
            <a:r>
              <a:rPr lang="en-IN" sz="2400" dirty="0"/>
              <a:t>* n</a:t>
            </a:r>
            <a:r>
              <a:rPr lang="en-IN" sz="2400" baseline="-25000" dirty="0"/>
              <a:t>4</a:t>
            </a:r>
            <a:r>
              <a:rPr lang="en-IN" sz="2400" dirty="0"/>
              <a:t>* n</a:t>
            </a:r>
            <a:r>
              <a:rPr lang="en-IN" sz="2400" baseline="-25000" dirty="0"/>
              <a:t>5</a:t>
            </a:r>
            <a:r>
              <a:rPr lang="en-IN" sz="2400" dirty="0"/>
              <a:t> -	 m</a:t>
            </a:r>
            <a:r>
              <a:rPr lang="en-IN" sz="2400" baseline="-25000" dirty="0"/>
              <a:t>1</a:t>
            </a:r>
            <a:r>
              <a:rPr lang="en-IN" sz="2400" dirty="0"/>
              <a:t>* m</a:t>
            </a:r>
            <a:r>
              <a:rPr lang="en-IN" sz="2400" baseline="-25000" dirty="0"/>
              <a:t>2</a:t>
            </a:r>
            <a:r>
              <a:rPr lang="en-IN" sz="2400" dirty="0"/>
              <a:t>* m</a:t>
            </a:r>
            <a:r>
              <a:rPr lang="en-IN" sz="2400" baseline="-25000" dirty="0"/>
              <a:t>3</a:t>
            </a:r>
            <a:r>
              <a:rPr lang="en-IN" sz="2400" dirty="0"/>
              <a:t>* m</a:t>
            </a:r>
            <a:r>
              <a:rPr lang="en-IN" sz="2400" baseline="-25000" dirty="0"/>
              <a:t>4</a:t>
            </a:r>
            <a:r>
              <a:rPr lang="en-IN" sz="2400" dirty="0"/>
              <a:t>* m</a:t>
            </a:r>
            <a:r>
              <a:rPr lang="en-IN" sz="2400" baseline="-25000" dirty="0"/>
              <a:t>5 	 </a:t>
            </a:r>
            <a:endParaRPr lang="en-IN" sz="2400" dirty="0"/>
          </a:p>
        </p:txBody>
      </p:sp>
      <p:sp>
        <p:nvSpPr>
          <p:cNvPr id="10" name="TextBox 9">
            <a:extLst>
              <a:ext uri="{FF2B5EF4-FFF2-40B4-BE49-F238E27FC236}">
                <a16:creationId xmlns:a16="http://schemas.microsoft.com/office/drawing/2014/main" id="{BDC467C9-3285-4C98-91E1-F4B3BAFE0BAA}"/>
              </a:ext>
            </a:extLst>
          </p:cNvPr>
          <p:cNvSpPr txBox="1"/>
          <p:nvPr/>
        </p:nvSpPr>
        <p:spPr>
          <a:xfrm>
            <a:off x="552318" y="3095248"/>
            <a:ext cx="7925762" cy="2554545"/>
          </a:xfrm>
          <a:prstGeom prst="rect">
            <a:avLst/>
          </a:prstGeom>
          <a:noFill/>
        </p:spPr>
        <p:txBody>
          <a:bodyPr wrap="square">
            <a:spAutoFit/>
          </a:bodyPr>
          <a:lstStyle/>
          <a:p>
            <a:r>
              <a:rPr lang="en-US" sz="2600" dirty="0"/>
              <a:t>=128*128*128* 128*128 </a:t>
            </a:r>
            <a:r>
              <a:rPr lang="en-US" sz="4000" dirty="0"/>
              <a:t>-</a:t>
            </a:r>
            <a:r>
              <a:rPr lang="en-US" sz="2600" dirty="0"/>
              <a:t> 127*127*127* 127*127</a:t>
            </a:r>
            <a:r>
              <a:rPr lang="en-US" sz="4000" dirty="0"/>
              <a:t> </a:t>
            </a:r>
          </a:p>
          <a:p>
            <a:r>
              <a:rPr lang="en-US" sz="4000" dirty="0"/>
              <a:t>=128</a:t>
            </a:r>
            <a:r>
              <a:rPr lang="en-US" sz="4000" baseline="30000" dirty="0"/>
              <a:t>5 						</a:t>
            </a:r>
            <a:r>
              <a:rPr lang="en-US" sz="4000" dirty="0"/>
              <a:t> - 				127</a:t>
            </a:r>
            <a:r>
              <a:rPr lang="en-US" sz="4000" baseline="30000" dirty="0"/>
              <a:t>5</a:t>
            </a:r>
            <a:r>
              <a:rPr lang="en-US" sz="4000" dirty="0"/>
              <a:t> </a:t>
            </a:r>
          </a:p>
          <a:p>
            <a:r>
              <a:rPr lang="en-US" sz="4000" dirty="0"/>
              <a:t>= 34,359,738,368 - 33,038,369,407</a:t>
            </a:r>
          </a:p>
          <a:p>
            <a:r>
              <a:rPr lang="en-US" sz="4000" dirty="0"/>
              <a:t>= 1,321,368,961</a:t>
            </a:r>
            <a:endParaRPr lang="en-IN" sz="4000" dirty="0"/>
          </a:p>
        </p:txBody>
      </p:sp>
    </p:spTree>
    <p:extLst>
      <p:ext uri="{BB962C8B-B14F-4D97-AF65-F5344CB8AC3E}">
        <p14:creationId xmlns:p14="http://schemas.microsoft.com/office/powerpoint/2010/main" val="1377493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65969-44D9-4A16-9D0F-FD9428B23573}"/>
              </a:ext>
            </a:extLst>
          </p:cNvPr>
          <p:cNvSpPr>
            <a:spLocks noGrp="1"/>
          </p:cNvSpPr>
          <p:nvPr>
            <p:ph type="title"/>
          </p:nvPr>
        </p:nvSpPr>
        <p:spPr/>
        <p:txBody>
          <a:bodyPr/>
          <a:lstStyle/>
          <a:p>
            <a:r>
              <a:rPr lang="en-IN" dirty="0"/>
              <a:t>Basics of Counting – Example 6</a:t>
            </a:r>
          </a:p>
        </p:txBody>
      </p:sp>
      <p:sp>
        <p:nvSpPr>
          <p:cNvPr id="3" name="Content Placeholder 2">
            <a:extLst>
              <a:ext uri="{FF2B5EF4-FFF2-40B4-BE49-F238E27FC236}">
                <a16:creationId xmlns:a16="http://schemas.microsoft.com/office/drawing/2014/main" id="{9DEC7B9A-8015-4FB4-8C24-4BC3D64C32B7}"/>
              </a:ext>
            </a:extLst>
          </p:cNvPr>
          <p:cNvSpPr>
            <a:spLocks noGrp="1"/>
          </p:cNvSpPr>
          <p:nvPr>
            <p:ph idx="1"/>
          </p:nvPr>
        </p:nvSpPr>
        <p:spPr>
          <a:xfrm>
            <a:off x="393289" y="1248697"/>
            <a:ext cx="8392901" cy="5400581"/>
          </a:xfrm>
        </p:spPr>
        <p:txBody>
          <a:bodyPr>
            <a:normAutofit lnSpcReduction="10000"/>
          </a:bodyPr>
          <a:lstStyle/>
          <a:p>
            <a:pPr marL="0" indent="0">
              <a:buNone/>
            </a:pPr>
            <a:r>
              <a:rPr lang="en-US" sz="2400" b="1" dirty="0"/>
              <a:t>Ques:- </a:t>
            </a:r>
            <a:r>
              <a:rPr lang="en-US" sz="2400" dirty="0"/>
              <a:t>A computer company receives 350 applications from computer graduates for a job planning a line of newWeb servers. </a:t>
            </a:r>
          </a:p>
          <a:p>
            <a:pPr marL="0" indent="0">
              <a:buNone/>
            </a:pPr>
            <a:r>
              <a:rPr lang="en-US" sz="2400" dirty="0"/>
              <a:t>Suppose that 220 of these applicants majored in computer science, 147 majored in business, and 51 majored both in computer science and in business. </a:t>
            </a:r>
          </a:p>
          <a:p>
            <a:pPr marL="0" indent="0">
              <a:buNone/>
            </a:pPr>
            <a:endParaRPr lang="en-US" sz="2400" dirty="0"/>
          </a:p>
          <a:p>
            <a:pPr marL="0" indent="0">
              <a:buNone/>
            </a:pPr>
            <a:r>
              <a:rPr lang="en-US" sz="2400" dirty="0"/>
              <a:t>How many of these applicants majored neither in computer science nor in business?</a:t>
            </a:r>
          </a:p>
          <a:p>
            <a:pPr marL="0" indent="0">
              <a:buNone/>
            </a:pPr>
            <a:endParaRPr lang="en-IN" sz="2400" dirty="0"/>
          </a:p>
        </p:txBody>
      </p:sp>
    </p:spTree>
    <p:extLst>
      <p:ext uri="{BB962C8B-B14F-4D97-AF65-F5344CB8AC3E}">
        <p14:creationId xmlns:p14="http://schemas.microsoft.com/office/powerpoint/2010/main" val="2760601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65969-44D9-4A16-9D0F-FD9428B23573}"/>
              </a:ext>
            </a:extLst>
          </p:cNvPr>
          <p:cNvSpPr>
            <a:spLocks noGrp="1"/>
          </p:cNvSpPr>
          <p:nvPr>
            <p:ph type="title"/>
          </p:nvPr>
        </p:nvSpPr>
        <p:spPr/>
        <p:txBody>
          <a:bodyPr/>
          <a:lstStyle/>
          <a:p>
            <a:r>
              <a:rPr lang="en-IN" dirty="0"/>
              <a:t>Basics of Counting – Example 6</a:t>
            </a:r>
          </a:p>
        </p:txBody>
      </p:sp>
      <p:graphicFrame>
        <p:nvGraphicFramePr>
          <p:cNvPr id="8" name="Diagram 7">
            <a:extLst>
              <a:ext uri="{FF2B5EF4-FFF2-40B4-BE49-F238E27FC236}">
                <a16:creationId xmlns:a16="http://schemas.microsoft.com/office/drawing/2014/main" id="{FC03B2A6-4636-45BB-812B-8D08C58E350D}"/>
              </a:ext>
            </a:extLst>
          </p:cNvPr>
          <p:cNvGraphicFramePr/>
          <p:nvPr>
            <p:extLst>
              <p:ext uri="{D42A27DB-BD31-4B8C-83A1-F6EECF244321}">
                <p14:modId xmlns:p14="http://schemas.microsoft.com/office/powerpoint/2010/main" val="2224994494"/>
              </p:ext>
            </p:extLst>
          </p:nvPr>
        </p:nvGraphicFramePr>
        <p:xfrm>
          <a:off x="196965" y="1253843"/>
          <a:ext cx="7374194" cy="52025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 name="TextBox 11">
            <a:extLst>
              <a:ext uri="{FF2B5EF4-FFF2-40B4-BE49-F238E27FC236}">
                <a16:creationId xmlns:a16="http://schemas.microsoft.com/office/drawing/2014/main" id="{F3D92BC4-E9B5-4804-9A02-BBBF74ECA3E3}"/>
              </a:ext>
            </a:extLst>
          </p:cNvPr>
          <p:cNvSpPr txBox="1"/>
          <p:nvPr/>
        </p:nvSpPr>
        <p:spPr>
          <a:xfrm>
            <a:off x="2995849" y="3011555"/>
            <a:ext cx="1456884" cy="1292662"/>
          </a:xfrm>
          <a:prstGeom prst="rect">
            <a:avLst/>
          </a:prstGeom>
          <a:noFill/>
        </p:spPr>
        <p:txBody>
          <a:bodyPr wrap="square" rtlCol="0">
            <a:spAutoFit/>
          </a:bodyPr>
          <a:lstStyle/>
          <a:p>
            <a:pPr algn="ctr"/>
            <a:r>
              <a:rPr lang="en-US" sz="2600" dirty="0"/>
              <a:t>51 majored both</a:t>
            </a:r>
            <a:endParaRPr lang="en-IN" sz="2600" dirty="0"/>
          </a:p>
        </p:txBody>
      </p:sp>
      <p:sp>
        <p:nvSpPr>
          <p:cNvPr id="14" name="TextBox 13">
            <a:extLst>
              <a:ext uri="{FF2B5EF4-FFF2-40B4-BE49-F238E27FC236}">
                <a16:creationId xmlns:a16="http://schemas.microsoft.com/office/drawing/2014/main" id="{E5C6E2EA-33E4-4974-B799-1E68AF21129B}"/>
              </a:ext>
            </a:extLst>
          </p:cNvPr>
          <p:cNvSpPr txBox="1"/>
          <p:nvPr/>
        </p:nvSpPr>
        <p:spPr>
          <a:xfrm>
            <a:off x="7358270" y="2523290"/>
            <a:ext cx="1908313" cy="2308324"/>
          </a:xfrm>
          <a:prstGeom prst="rect">
            <a:avLst/>
          </a:prstGeom>
          <a:noFill/>
        </p:spPr>
        <p:txBody>
          <a:bodyPr wrap="square" rtlCol="0">
            <a:spAutoFit/>
          </a:bodyPr>
          <a:lstStyle/>
          <a:p>
            <a:r>
              <a:rPr lang="en-US" sz="2400" dirty="0"/>
              <a:t>receives 350 applications from computer graduates</a:t>
            </a:r>
            <a:endParaRPr lang="en-IN" sz="2400" dirty="0"/>
          </a:p>
        </p:txBody>
      </p:sp>
      <p:sp>
        <p:nvSpPr>
          <p:cNvPr id="15" name="TextBox 14">
            <a:extLst>
              <a:ext uri="{FF2B5EF4-FFF2-40B4-BE49-F238E27FC236}">
                <a16:creationId xmlns:a16="http://schemas.microsoft.com/office/drawing/2014/main" id="{AECC62A1-A245-4D34-ADC6-969B33FEDAFE}"/>
              </a:ext>
            </a:extLst>
          </p:cNvPr>
          <p:cNvSpPr txBox="1"/>
          <p:nvPr/>
        </p:nvSpPr>
        <p:spPr>
          <a:xfrm>
            <a:off x="652670" y="1253843"/>
            <a:ext cx="7838660" cy="461665"/>
          </a:xfrm>
          <a:prstGeom prst="rect">
            <a:avLst/>
          </a:prstGeom>
          <a:noFill/>
        </p:spPr>
        <p:txBody>
          <a:bodyPr wrap="square" rtlCol="0">
            <a:spAutoFit/>
          </a:bodyPr>
          <a:lstStyle/>
          <a:p>
            <a:r>
              <a:rPr lang="en-US" sz="2400" dirty="0"/>
              <a:t>|C1 ∪ B2| = |C1| + |B2| − |C1 ∩ B2| = 220 + 147 − 51 = 316</a:t>
            </a:r>
            <a:endParaRPr lang="en-IN" sz="2400" dirty="0"/>
          </a:p>
        </p:txBody>
      </p:sp>
      <p:sp>
        <p:nvSpPr>
          <p:cNvPr id="16" name="TextBox 15">
            <a:extLst>
              <a:ext uri="{FF2B5EF4-FFF2-40B4-BE49-F238E27FC236}">
                <a16:creationId xmlns:a16="http://schemas.microsoft.com/office/drawing/2014/main" id="{683DC8DD-EC5E-40F0-8DBD-7123EFC5A00E}"/>
              </a:ext>
            </a:extLst>
          </p:cNvPr>
          <p:cNvSpPr txBox="1"/>
          <p:nvPr/>
        </p:nvSpPr>
        <p:spPr>
          <a:xfrm>
            <a:off x="473767" y="5907156"/>
            <a:ext cx="7838660" cy="830997"/>
          </a:xfrm>
          <a:prstGeom prst="rect">
            <a:avLst/>
          </a:prstGeom>
          <a:noFill/>
        </p:spPr>
        <p:txBody>
          <a:bodyPr wrap="square" rtlCol="0">
            <a:spAutoFit/>
          </a:bodyPr>
          <a:lstStyle/>
          <a:p>
            <a:pPr marL="0" indent="0">
              <a:buNone/>
            </a:pPr>
            <a:r>
              <a:rPr lang="en-US" sz="2400" dirty="0"/>
              <a:t>We conclude that 350 − 316 = 34 of the applicants majored neither in computer science nor in business.</a:t>
            </a:r>
          </a:p>
        </p:txBody>
      </p:sp>
    </p:spTree>
    <p:extLst>
      <p:ext uri="{BB962C8B-B14F-4D97-AF65-F5344CB8AC3E}">
        <p14:creationId xmlns:p14="http://schemas.microsoft.com/office/powerpoint/2010/main" val="41666772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65969-44D9-4A16-9D0F-FD9428B23573}"/>
              </a:ext>
            </a:extLst>
          </p:cNvPr>
          <p:cNvSpPr>
            <a:spLocks noGrp="1"/>
          </p:cNvSpPr>
          <p:nvPr>
            <p:ph type="title"/>
          </p:nvPr>
        </p:nvSpPr>
        <p:spPr/>
        <p:txBody>
          <a:bodyPr/>
          <a:lstStyle/>
          <a:p>
            <a:r>
              <a:rPr lang="en-IN" dirty="0"/>
              <a:t>Tree Diagrams – Example 1</a:t>
            </a:r>
          </a:p>
        </p:txBody>
      </p:sp>
      <p:sp>
        <p:nvSpPr>
          <p:cNvPr id="3" name="Content Placeholder 2">
            <a:extLst>
              <a:ext uri="{FF2B5EF4-FFF2-40B4-BE49-F238E27FC236}">
                <a16:creationId xmlns:a16="http://schemas.microsoft.com/office/drawing/2014/main" id="{9DEC7B9A-8015-4FB4-8C24-4BC3D64C32B7}"/>
              </a:ext>
            </a:extLst>
          </p:cNvPr>
          <p:cNvSpPr>
            <a:spLocks noGrp="1"/>
          </p:cNvSpPr>
          <p:nvPr>
            <p:ph idx="1"/>
          </p:nvPr>
        </p:nvSpPr>
        <p:spPr>
          <a:xfrm>
            <a:off x="393289" y="1248697"/>
            <a:ext cx="8392901" cy="5400581"/>
          </a:xfrm>
        </p:spPr>
        <p:txBody>
          <a:bodyPr>
            <a:normAutofit fontScale="92500"/>
          </a:bodyPr>
          <a:lstStyle/>
          <a:p>
            <a:pPr marL="0" indent="0">
              <a:buNone/>
            </a:pPr>
            <a:r>
              <a:rPr lang="en-US" sz="2400" b="1" dirty="0"/>
              <a:t>Ques:- </a:t>
            </a:r>
            <a:r>
              <a:rPr lang="en-US" sz="2400" dirty="0"/>
              <a:t>Suppose that “I Love New Delhi” T-shirts come in five different sizes: S, M, L, XL, and XXL.</a:t>
            </a:r>
          </a:p>
          <a:p>
            <a:pPr marL="0" indent="0">
              <a:buNone/>
            </a:pPr>
            <a:endParaRPr lang="en-US" sz="2400" dirty="0"/>
          </a:p>
          <a:p>
            <a:pPr marL="0" indent="0">
              <a:buNone/>
            </a:pPr>
            <a:r>
              <a:rPr lang="en-US" sz="2400" dirty="0"/>
              <a:t>Further suppose that each size comes in four colors, white, red, green, and black, except for XL, which comes only in red, green, and black, and XXL, which comes only in green and black.</a:t>
            </a:r>
          </a:p>
          <a:p>
            <a:pPr marL="0" indent="0">
              <a:buNone/>
            </a:pPr>
            <a:endParaRPr lang="en-US" sz="2400" dirty="0"/>
          </a:p>
          <a:p>
            <a:pPr marL="0" indent="0">
              <a:buNone/>
            </a:pPr>
            <a:r>
              <a:rPr lang="en-US" sz="2400" dirty="0"/>
              <a:t> How many different shirts does a souvenir shop have to stock to have at least one of each available size and color of the T-shirt?</a:t>
            </a:r>
          </a:p>
          <a:p>
            <a:pPr marL="0" indent="0">
              <a:buNone/>
            </a:pPr>
            <a:endParaRPr lang="en-IN" sz="2400" dirty="0"/>
          </a:p>
        </p:txBody>
      </p:sp>
    </p:spTree>
    <p:extLst>
      <p:ext uri="{BB962C8B-B14F-4D97-AF65-F5344CB8AC3E}">
        <p14:creationId xmlns:p14="http://schemas.microsoft.com/office/powerpoint/2010/main" val="2555353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65969-44D9-4A16-9D0F-FD9428B23573}"/>
              </a:ext>
            </a:extLst>
          </p:cNvPr>
          <p:cNvSpPr>
            <a:spLocks noGrp="1"/>
          </p:cNvSpPr>
          <p:nvPr>
            <p:ph type="title"/>
          </p:nvPr>
        </p:nvSpPr>
        <p:spPr/>
        <p:txBody>
          <a:bodyPr/>
          <a:lstStyle/>
          <a:p>
            <a:r>
              <a:rPr lang="en-IN" dirty="0"/>
              <a:t>Tree Diagrams – Example 1</a:t>
            </a:r>
          </a:p>
        </p:txBody>
      </p:sp>
      <p:pic>
        <p:nvPicPr>
          <p:cNvPr id="4" name="Picture 3">
            <a:extLst>
              <a:ext uri="{FF2B5EF4-FFF2-40B4-BE49-F238E27FC236}">
                <a16:creationId xmlns:a16="http://schemas.microsoft.com/office/drawing/2014/main" id="{F30A2BD3-1F55-427F-B56C-5D39F734285E}"/>
              </a:ext>
            </a:extLst>
          </p:cNvPr>
          <p:cNvPicPr>
            <a:picLocks noChangeAspect="1"/>
          </p:cNvPicPr>
          <p:nvPr/>
        </p:nvPicPr>
        <p:blipFill rotWithShape="1">
          <a:blip r:embed="rId2"/>
          <a:srcRect b="19904"/>
          <a:stretch/>
        </p:blipFill>
        <p:spPr>
          <a:xfrm>
            <a:off x="0" y="1132729"/>
            <a:ext cx="9144001" cy="4037744"/>
          </a:xfrm>
          <a:prstGeom prst="rect">
            <a:avLst/>
          </a:prstGeom>
        </p:spPr>
      </p:pic>
      <p:sp>
        <p:nvSpPr>
          <p:cNvPr id="5" name="TextBox 4">
            <a:extLst>
              <a:ext uri="{FF2B5EF4-FFF2-40B4-BE49-F238E27FC236}">
                <a16:creationId xmlns:a16="http://schemas.microsoft.com/office/drawing/2014/main" id="{1DD2423E-EAEB-4585-9761-103713B97782}"/>
              </a:ext>
            </a:extLst>
          </p:cNvPr>
          <p:cNvSpPr txBox="1"/>
          <p:nvPr/>
        </p:nvSpPr>
        <p:spPr>
          <a:xfrm>
            <a:off x="393290" y="5044610"/>
            <a:ext cx="8678791" cy="1938992"/>
          </a:xfrm>
          <a:prstGeom prst="rect">
            <a:avLst/>
          </a:prstGeom>
          <a:noFill/>
        </p:spPr>
        <p:txBody>
          <a:bodyPr wrap="square" rtlCol="0">
            <a:spAutoFit/>
          </a:bodyPr>
          <a:lstStyle/>
          <a:p>
            <a:r>
              <a:rPr lang="en-US" sz="2400" dirty="0"/>
              <a:t>The tree diagram in above displays all possible size and color pairs. </a:t>
            </a:r>
          </a:p>
          <a:p>
            <a:r>
              <a:rPr lang="en-US" sz="2400" dirty="0"/>
              <a:t>It follows that the souvenir shop owner needs to stock 17 different T-shirts.</a:t>
            </a:r>
            <a:endParaRPr lang="en-IN" sz="2400" dirty="0"/>
          </a:p>
          <a:p>
            <a:endParaRPr lang="en-IN" sz="2400" dirty="0"/>
          </a:p>
        </p:txBody>
      </p:sp>
    </p:spTree>
    <p:extLst>
      <p:ext uri="{BB962C8B-B14F-4D97-AF65-F5344CB8AC3E}">
        <p14:creationId xmlns:p14="http://schemas.microsoft.com/office/powerpoint/2010/main" val="1538860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65969-44D9-4A16-9D0F-FD9428B23573}"/>
              </a:ext>
            </a:extLst>
          </p:cNvPr>
          <p:cNvSpPr>
            <a:spLocks noGrp="1"/>
          </p:cNvSpPr>
          <p:nvPr>
            <p:ph type="title"/>
          </p:nvPr>
        </p:nvSpPr>
        <p:spPr/>
        <p:txBody>
          <a:bodyPr/>
          <a:lstStyle/>
          <a:p>
            <a:r>
              <a:rPr lang="en-IN" dirty="0"/>
              <a:t>Tree Diagrams – Example 2</a:t>
            </a:r>
          </a:p>
        </p:txBody>
      </p:sp>
      <p:sp>
        <p:nvSpPr>
          <p:cNvPr id="3" name="Content Placeholder 2">
            <a:extLst>
              <a:ext uri="{FF2B5EF4-FFF2-40B4-BE49-F238E27FC236}">
                <a16:creationId xmlns:a16="http://schemas.microsoft.com/office/drawing/2014/main" id="{9DEC7B9A-8015-4FB4-8C24-4BC3D64C32B7}"/>
              </a:ext>
            </a:extLst>
          </p:cNvPr>
          <p:cNvSpPr>
            <a:spLocks noGrp="1"/>
          </p:cNvSpPr>
          <p:nvPr>
            <p:ph idx="1"/>
          </p:nvPr>
        </p:nvSpPr>
        <p:spPr>
          <a:xfrm>
            <a:off x="0" y="1080001"/>
            <a:ext cx="5297557" cy="5777998"/>
          </a:xfrm>
        </p:spPr>
        <p:txBody>
          <a:bodyPr>
            <a:normAutofit lnSpcReduction="10000"/>
          </a:bodyPr>
          <a:lstStyle/>
          <a:p>
            <a:pPr marL="0" indent="0">
              <a:buNone/>
            </a:pPr>
            <a:r>
              <a:rPr lang="en-US" sz="2400" b="1" dirty="0"/>
              <a:t>Ques:- </a:t>
            </a:r>
            <a:r>
              <a:rPr lang="en-US" sz="2400" dirty="0"/>
              <a:t>How many bit strings of length four do not have two consecutive 1s?</a:t>
            </a:r>
          </a:p>
          <a:p>
            <a:pPr marL="0" indent="0">
              <a:buNone/>
            </a:pPr>
            <a:endParaRPr lang="en-US" sz="2400" dirty="0"/>
          </a:p>
          <a:p>
            <a:pPr marL="0" indent="0">
              <a:buNone/>
            </a:pPr>
            <a:r>
              <a:rPr lang="en-US" sz="2400" dirty="0"/>
              <a:t>The tree diagram displays all 8-bit strings of length four without two  consecutive 1s.</a:t>
            </a:r>
          </a:p>
          <a:p>
            <a:pPr marL="0" indent="0">
              <a:buNone/>
            </a:pPr>
            <a:endParaRPr lang="en-US" sz="2400" dirty="0"/>
          </a:p>
          <a:p>
            <a:pPr marL="0" indent="0">
              <a:buNone/>
            </a:pPr>
            <a:r>
              <a:rPr lang="en-US" sz="2400" dirty="0"/>
              <a:t>There are eight-bit strings of length four without two consecutive 1s.</a:t>
            </a:r>
          </a:p>
          <a:p>
            <a:pPr marL="0" indent="0">
              <a:buNone/>
            </a:pPr>
            <a:endParaRPr lang="en-IN" sz="2400" dirty="0"/>
          </a:p>
        </p:txBody>
      </p:sp>
      <p:pic>
        <p:nvPicPr>
          <p:cNvPr id="4" name="Picture 3">
            <a:extLst>
              <a:ext uri="{FF2B5EF4-FFF2-40B4-BE49-F238E27FC236}">
                <a16:creationId xmlns:a16="http://schemas.microsoft.com/office/drawing/2014/main" id="{EB827CE9-036F-4380-B017-03BA76779D59}"/>
              </a:ext>
            </a:extLst>
          </p:cNvPr>
          <p:cNvPicPr>
            <a:picLocks noChangeAspect="1"/>
          </p:cNvPicPr>
          <p:nvPr/>
        </p:nvPicPr>
        <p:blipFill rotWithShape="1">
          <a:blip r:embed="rId2"/>
          <a:srcRect b="34487"/>
          <a:stretch/>
        </p:blipFill>
        <p:spPr>
          <a:xfrm>
            <a:off x="5387009" y="1209208"/>
            <a:ext cx="3756991" cy="5390373"/>
          </a:xfrm>
          <a:prstGeom prst="rect">
            <a:avLst/>
          </a:prstGeom>
        </p:spPr>
      </p:pic>
    </p:spTree>
    <p:extLst>
      <p:ext uri="{BB962C8B-B14F-4D97-AF65-F5344CB8AC3E}">
        <p14:creationId xmlns:p14="http://schemas.microsoft.com/office/powerpoint/2010/main" val="2001138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81241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MyFont">
      <a:majorFont>
        <a:latin typeface="Bahnschrift SemiBold"/>
        <a:ea typeface=""/>
        <a:cs typeface=""/>
      </a:majorFont>
      <a:minorFont>
        <a:latin typeface="Bahnschrif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8075</TotalTime>
  <Words>1415</Words>
  <Application>Microsoft Office PowerPoint</Application>
  <PresentationFormat>On-screen Show (4:3)</PresentationFormat>
  <Paragraphs>292</Paragraphs>
  <Slides>20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arial</vt:lpstr>
      <vt:lpstr>Bahnschrift</vt:lpstr>
      <vt:lpstr>Bahnschrift SemiBold</vt:lpstr>
      <vt:lpstr>Calibri</vt:lpstr>
      <vt:lpstr>Cambria Math</vt:lpstr>
      <vt:lpstr>Office Theme</vt:lpstr>
      <vt:lpstr>EMTH403</vt:lpstr>
      <vt:lpstr>Lecture Outcomes</vt:lpstr>
      <vt:lpstr>Basics of Counting – Example 1</vt:lpstr>
      <vt:lpstr>Basics of Counting – Example 1</vt:lpstr>
      <vt:lpstr>Basics of Counting – Example 2</vt:lpstr>
      <vt:lpstr>Basics of Counting – Example 2</vt:lpstr>
      <vt:lpstr>Basics of Counting – Example 3</vt:lpstr>
      <vt:lpstr>Basics of Counting – Example 3</vt:lpstr>
      <vt:lpstr>Basics of Counting – Example 3</vt:lpstr>
      <vt:lpstr>Basics of Counting – Example 4</vt:lpstr>
      <vt:lpstr>Basics of Counting – Example 4</vt:lpstr>
      <vt:lpstr>Basics of Counting – Example 4</vt:lpstr>
      <vt:lpstr>Basics of Counting – Example 5</vt:lpstr>
      <vt:lpstr>Basics of Counting – Example 5</vt:lpstr>
      <vt:lpstr>Basics of Counting – Example 6</vt:lpstr>
      <vt:lpstr>Basics of Counting – Example 6</vt:lpstr>
      <vt:lpstr>Tree Diagrams – Example 1</vt:lpstr>
      <vt:lpstr>Tree Diagrams – Example 1</vt:lpstr>
      <vt:lpstr>Tree Diagrams – Example 2</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Nitin Mishra</dc:creator>
  <cp:lastModifiedBy>Arpit Thakur</cp:lastModifiedBy>
  <cp:revision>1068</cp:revision>
  <dcterms:created xsi:type="dcterms:W3CDTF">2020-12-04T05:20:56Z</dcterms:created>
  <dcterms:modified xsi:type="dcterms:W3CDTF">2020-12-30T08:07:33Z</dcterms:modified>
</cp:coreProperties>
</file>