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61" r:id="rId4"/>
    <p:sldId id="264" r:id="rId5"/>
    <p:sldId id="265" r:id="rId6"/>
    <p:sldId id="266" r:id="rId7"/>
    <p:sldId id="267" r:id="rId8"/>
    <p:sldId id="268" r:id="rId9"/>
    <p:sldId id="277" r:id="rId10"/>
    <p:sldId id="278" r:id="rId11"/>
    <p:sldId id="279" r:id="rId12"/>
    <p:sldId id="280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1" r:id="rId22"/>
    <p:sldId id="282" r:id="rId23"/>
    <p:sldId id="283" r:id="rId24"/>
    <p:sldId id="284" r:id="rId25"/>
    <p:sldId id="285" r:id="rId26"/>
    <p:sldId id="25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261"/>
            <p14:sldId id="264"/>
            <p14:sldId id="265"/>
            <p14:sldId id="266"/>
            <p14:sldId id="267"/>
            <p14:sldId id="268"/>
            <p14:sldId id="277"/>
            <p14:sldId id="278"/>
            <p14:sldId id="279"/>
            <p14:sldId id="280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81"/>
            <p14:sldId id="282"/>
            <p14:sldId id="283"/>
            <p14:sldId id="284"/>
            <p14:sldId id="285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24-12-2020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9"/>
            <a:ext cx="7209769" cy="3236258"/>
          </a:xfrm>
        </p:spPr>
        <p:txBody>
          <a:bodyPr>
            <a:normAutofit/>
          </a:bodyPr>
          <a:lstStyle/>
          <a:p>
            <a:r>
              <a:rPr lang="en-US" dirty="0"/>
              <a:t>understand what are </a:t>
            </a:r>
            <a:r>
              <a:rPr lang="en-IN" dirty="0"/>
              <a:t>Boolean Functions </a:t>
            </a:r>
          </a:p>
          <a:p>
            <a:r>
              <a:rPr lang="en-US" dirty="0"/>
              <a:t>understand what are Boolean Expressions</a:t>
            </a:r>
          </a:p>
          <a:p>
            <a:r>
              <a:rPr lang="en-US" dirty="0"/>
              <a:t>understand how to write Boolean Expressions into a logical equivalence.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13223"/>
            <a:ext cx="8253753" cy="161377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circuits in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computers</a:t>
            </a:r>
            <a:r>
              <a:rPr lang="en-US" dirty="0"/>
              <a:t> and other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 devices </a:t>
            </a:r>
            <a:r>
              <a:rPr lang="en-US" dirty="0"/>
              <a:t>have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inputs, </a:t>
            </a:r>
            <a:r>
              <a:rPr lang="en-US" dirty="0"/>
              <a:t>each of which is either a 0 or a 1 and produce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outputs</a:t>
            </a:r>
            <a:r>
              <a:rPr lang="en-US" dirty="0"/>
              <a:t> that are also 0s and 1s.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Focus On">
            <a:extLst>
              <a:ext uri="{FF2B5EF4-FFF2-40B4-BE49-F238E27FC236}">
                <a16:creationId xmlns:a16="http://schemas.microsoft.com/office/drawing/2014/main" id="{0FDCF002-7229-4360-B303-71CD4B1E7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"/>
          <a:stretch/>
        </p:blipFill>
        <p:spPr bwMode="auto">
          <a:xfrm>
            <a:off x="6639338" y="2340045"/>
            <a:ext cx="245763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2A6C95-EB56-45C0-8B4D-C26B9433087E}"/>
              </a:ext>
            </a:extLst>
          </p:cNvPr>
          <p:cNvSpPr txBox="1"/>
          <p:nvPr/>
        </p:nvSpPr>
        <p:spPr>
          <a:xfrm>
            <a:off x="393290" y="2826995"/>
            <a:ext cx="6170034" cy="389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Circuits can be constructed using any </a:t>
            </a:r>
            <a:br>
              <a:rPr lang="en-US" sz="2400" dirty="0"/>
            </a:br>
            <a:r>
              <a:rPr lang="en-US" sz="2400" dirty="0"/>
              <a:t>basic element that has two different states.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Such elements include switches that can be in either the on or the off position and optical devices that can be either lit or unlit.</a:t>
            </a:r>
          </a:p>
        </p:txBody>
      </p:sp>
    </p:spTree>
    <p:extLst>
      <p:ext uri="{BB962C8B-B14F-4D97-AF65-F5344CB8AC3E}">
        <p14:creationId xmlns:p14="http://schemas.microsoft.com/office/powerpoint/2010/main" val="38578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6616469" cy="533891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1938 Claude Shannon showed how the</a:t>
            </a:r>
            <a:br>
              <a:rPr lang="en-US" dirty="0"/>
            </a:br>
            <a:r>
              <a:rPr lang="en-US" dirty="0"/>
              <a:t> basic rules of logic, first given by </a:t>
            </a:r>
            <a:br>
              <a:rPr lang="en-US" dirty="0"/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George Boole </a:t>
            </a:r>
            <a:r>
              <a:rPr lang="en-US" dirty="0"/>
              <a:t>in 1854 in his </a:t>
            </a:r>
            <a:br>
              <a:rPr lang="en-US" dirty="0"/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Laws of Thought</a:t>
            </a:r>
            <a:r>
              <a:rPr lang="en-US" dirty="0"/>
              <a:t>, could be used </a:t>
            </a:r>
            <a:br>
              <a:rPr lang="en-US" dirty="0"/>
            </a:br>
            <a:r>
              <a:rPr lang="en-US" dirty="0"/>
              <a:t>to design circuits. </a:t>
            </a:r>
          </a:p>
          <a:p>
            <a:r>
              <a:rPr lang="en-US" dirty="0"/>
              <a:t>These </a:t>
            </a:r>
            <a:r>
              <a:rPr lang="en-US" b="1" dirty="0"/>
              <a:t>rules</a:t>
            </a:r>
            <a:r>
              <a:rPr lang="en-US" dirty="0"/>
              <a:t> form the basis for Boolean algebra. </a:t>
            </a:r>
          </a:p>
          <a:p>
            <a:r>
              <a:rPr lang="en-US" dirty="0"/>
              <a:t>Here we discuss the </a:t>
            </a:r>
            <a:r>
              <a:rPr lang="en-US" dirty="0">
                <a:solidFill>
                  <a:srgbClr val="FF0000"/>
                </a:solidFill>
              </a:rPr>
              <a:t>basic properties </a:t>
            </a:r>
            <a:r>
              <a:rPr lang="en-US" dirty="0"/>
              <a:t>of Boolean algebra.</a:t>
            </a:r>
            <a:endParaRPr lang="en-IN" dirty="0"/>
          </a:p>
        </p:txBody>
      </p:sp>
      <p:pic>
        <p:nvPicPr>
          <p:cNvPr id="1028" name="Picture 4" descr="George Boole: generous genius">
            <a:extLst>
              <a:ext uri="{FF2B5EF4-FFF2-40B4-BE49-F238E27FC236}">
                <a16:creationId xmlns:a16="http://schemas.microsoft.com/office/drawing/2014/main" id="{A75AD234-AFCB-43C5-99F0-1105ED2E5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9759" y="1470991"/>
            <a:ext cx="1958009" cy="1958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4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34630"/>
            <a:ext cx="8173935" cy="533891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operation of a circuit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defined by a Boolean function </a:t>
            </a:r>
            <a:r>
              <a:rPr lang="en-US" dirty="0"/>
              <a:t>that specifies the value of an output for each set of inputs.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first step in constructing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circuit</a:t>
            </a:r>
            <a:r>
              <a:rPr lang="en-US" dirty="0"/>
              <a:t> is to represent its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Boolean function </a:t>
            </a:r>
            <a:r>
              <a:rPr lang="en-US" dirty="0"/>
              <a:t>by an expression built up using the basic operations of Boolean algebra.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83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20563"/>
            <a:ext cx="8159867" cy="53389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Boolean algebra provides the operations and the rules for working with the set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{0, 1}.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 and optical switches </a:t>
            </a:r>
            <a:r>
              <a:rPr lang="en-US" dirty="0"/>
              <a:t>can be studied using this set and the rules of Boolean algebra.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operations </a:t>
            </a:r>
            <a:r>
              <a:rPr lang="en-US" dirty="0"/>
              <a:t>in Boolean algebra that will be used most are </a:t>
            </a:r>
            <a:r>
              <a:rPr lang="en-US" b="1" dirty="0">
                <a:solidFill>
                  <a:srgbClr val="FF0000"/>
                </a:solidFill>
              </a:rPr>
              <a:t>complementation, the Boolean sum, and the Boolean product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877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- 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332182"/>
                <a:ext cx="8173935" cy="45612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complement</a:t>
                </a:r>
                <a:r>
                  <a:rPr lang="en-US" dirty="0"/>
                  <a:t> of an element, denoted with a bar, is defined by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Boolean sum</a:t>
                </a:r>
                <a:r>
                  <a:rPr lang="en-US" dirty="0"/>
                  <a:t>, denoted by + or by OR, has the following values:</a:t>
                </a:r>
              </a:p>
              <a:p>
                <a:pPr marL="0" indent="0">
                  <a:buNone/>
                </a:pPr>
                <a:r>
                  <a:rPr lang="en-US" dirty="0"/>
                  <a:t>1 + 1 = 1, 1 + 0 = 1, 0 + 1 = 1, 0 + 0 = 0.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332182"/>
                <a:ext cx="8173935" cy="4561259"/>
              </a:xfrm>
              <a:blipFill>
                <a:blip r:embed="rId2"/>
                <a:stretch>
                  <a:fillRect l="-1567" r="-1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Focus On">
            <a:extLst>
              <a:ext uri="{FF2B5EF4-FFF2-40B4-BE49-F238E27FC236}">
                <a16:creationId xmlns:a16="http://schemas.microsoft.com/office/drawing/2014/main" id="{B5EF0F11-5745-41C7-A07E-0B4FC601A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6" t="49192"/>
          <a:stretch/>
        </p:blipFill>
        <p:spPr bwMode="auto">
          <a:xfrm>
            <a:off x="6295745" y="4766381"/>
            <a:ext cx="2454965" cy="1379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042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131732" cy="23691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Boolean product</a:t>
            </a:r>
            <a:r>
              <a:rPr lang="en-US" dirty="0"/>
              <a:t>, denoted by · or by AND, has the following values:</a:t>
            </a:r>
          </a:p>
          <a:p>
            <a:pPr marL="0" indent="0">
              <a:buNone/>
            </a:pPr>
            <a:r>
              <a:rPr lang="en-US" dirty="0"/>
              <a:t>1 · 1 = 1, 1 · 0 = 0, 0 · 1 = 0, 0 · 0 = 0.</a:t>
            </a:r>
            <a:endParaRPr lang="en-IN" dirty="0"/>
          </a:p>
        </p:txBody>
      </p:sp>
      <p:pic>
        <p:nvPicPr>
          <p:cNvPr id="4" name="Picture 2" descr="Focus On">
            <a:extLst>
              <a:ext uri="{FF2B5EF4-FFF2-40B4-BE49-F238E27FC236}">
                <a16:creationId xmlns:a16="http://schemas.microsoft.com/office/drawing/2014/main" id="{A88363EA-9A8A-41D4-ACFA-3E02A5129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" b="51526"/>
          <a:stretch/>
        </p:blipFill>
        <p:spPr bwMode="auto">
          <a:xfrm>
            <a:off x="6420681" y="2266123"/>
            <a:ext cx="2477513" cy="135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53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Example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8"/>
                <a:ext cx="6105984" cy="28309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Find the value of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pt-BR" dirty="0"/>
                      <m:t>·</m:t>
                    </m:r>
                    <m:acc>
                      <m:accPr>
                        <m:chr m:val="̅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Ans:-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1.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8"/>
                <a:ext cx="6105984" cy="2830933"/>
              </a:xfrm>
              <a:blipFill>
                <a:blip r:embed="rId2"/>
                <a:stretch>
                  <a:fillRect l="-20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67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Example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8"/>
                <a:ext cx="5683953" cy="30278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Find the value of 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1+</m:t>
                    </m:r>
                    <m:acc>
                      <m:accPr>
                        <m:chr m:val="̅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Ans:-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1+</m:t>
                    </m:r>
                    <m:acc>
                      <m:accPr>
                        <m:chr m:val="̅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8"/>
                <a:ext cx="5683953" cy="3027880"/>
              </a:xfrm>
              <a:blipFill>
                <a:blip r:embed="rId2"/>
                <a:stretch>
                  <a:fillRect l="-22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888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Example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8"/>
                <a:ext cx="5698021" cy="35765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Find the value of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dirty="0"/>
                      <m:t>·</m:t>
                    </m:r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en-US" b="1" dirty="0"/>
                  <a:t>Sol:-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dirty="0"/>
                      <m:t>·</m:t>
                    </m:r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dirty="0" smtClean="0"/>
                        <m:t>·</m:t>
                      </m:r>
                      <m:r>
                        <m:rPr>
                          <m:nor/>
                        </m:rPr>
                        <a:rPr lang="en-IN" b="0" i="0" dirty="0" smtClean="0"/>
                        <m:t>1</m:t>
                      </m:r>
                    </m:oMath>
                  </m:oMathPara>
                </a14:m>
                <a:endParaRPr lang="en-IN" b="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8"/>
                <a:ext cx="5698021" cy="3576520"/>
              </a:xfrm>
              <a:blipFill>
                <a:blip r:embed="rId2"/>
                <a:stretch>
                  <a:fillRect l="-22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71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Example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8"/>
                <a:ext cx="5810562" cy="28590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Find the value of 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pt-BR" dirty="0"/>
              </a:p>
              <a:p>
                <a:pPr marL="0" indent="0">
                  <a:buNone/>
                </a:pPr>
                <a:r>
                  <a:rPr lang="en-US" b="1" dirty="0"/>
                  <a:t>Sol:-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(1+0)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8"/>
                <a:ext cx="5810562" cy="2859068"/>
              </a:xfrm>
              <a:blipFill>
                <a:blip r:embed="rId2"/>
                <a:stretch>
                  <a:fillRect l="-2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411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Example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8"/>
                <a:ext cx="6471744" cy="477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 </a:t>
                </a:r>
                <a:r>
                  <a:rPr lang="en-US" dirty="0"/>
                  <a:t>Find the value of 1 · 0 +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dirty="0"/>
                          <m:t>0 + 1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Sol:-</a:t>
                </a:r>
                <a:r>
                  <a:rPr lang="en-US" dirty="0"/>
                  <a:t> 1 · 0 +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dirty="0"/>
                          <m:t>0 + 1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= 0 +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= 0 + 0</a:t>
                </a:r>
              </a:p>
              <a:p>
                <a:pPr marL="0" indent="0">
                  <a:buNone/>
                </a:pPr>
                <a:r>
                  <a:rPr lang="en-IN" dirty="0"/>
                  <a:t>= 0.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8"/>
                <a:ext cx="6471744" cy="4772274"/>
              </a:xfrm>
              <a:blipFill>
                <a:blip r:embed="rId2"/>
                <a:stretch>
                  <a:fillRect l="-19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174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Example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06495"/>
                <a:ext cx="8075461" cy="533891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Illustrates the translation from Boolean algebra to propositional logic.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Ques:-</a:t>
                </a:r>
                <a:r>
                  <a:rPr lang="en-US" dirty="0"/>
                  <a:t> Translate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1 · 0+ 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1+0</m:t>
                        </m:r>
                      </m:e>
                    </m:acc>
                    <m:r>
                      <m:rPr>
                        <m:nor/>
                      </m:rPr>
                      <a:rPr lang="en-US" dirty="0"/>
                      <m:t>) = 0</m:t>
                    </m:r>
                  </m:oMath>
                </a14:m>
                <a:r>
                  <a:rPr lang="en-US" dirty="0"/>
                  <a:t>, the equality found in Example 1, into a logical equivalence.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Ans:-</a:t>
                </a:r>
                <a:r>
                  <a:rPr lang="en-US" dirty="0"/>
                  <a:t> We obtain</a:t>
                </a:r>
              </a:p>
              <a:p>
                <a:pPr marL="0" indent="0">
                  <a:buNone/>
                </a:pPr>
                <a:r>
                  <a:rPr lang="en-US" dirty="0"/>
                  <a:t>(T ∧ F)∨¬(T ∨ F) ≡ F.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06495"/>
                <a:ext cx="8075461" cy="5338916"/>
              </a:xfrm>
              <a:blipFill>
                <a:blip r:embed="rId2"/>
                <a:stretch>
                  <a:fillRect l="-1208" r="-1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0257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Boolean Functions – Introduction – Example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20562"/>
                <a:ext cx="8075461" cy="533891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Illustrates the translation from propositional logic to Boolean algebra.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Ques:-</a:t>
                </a:r>
                <a:r>
                  <a:rPr lang="en-US" dirty="0"/>
                  <a:t> Translate the logical equivalence (T ∧ T)∨¬F ≡ T into an identity in Boolean algebra.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Ans:-</a:t>
                </a:r>
                <a:r>
                  <a:rPr lang="en-US" dirty="0"/>
                  <a:t> We obtain</a:t>
                </a:r>
              </a:p>
              <a:p>
                <a:pPr marL="0" indent="0">
                  <a:buNone/>
                </a:pPr>
                <a:r>
                  <a:rPr lang="en-US" dirty="0"/>
                  <a:t>(1 · 1)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20562"/>
                <a:ext cx="8075461" cy="5338916"/>
              </a:xfrm>
              <a:blipFill>
                <a:blip r:embed="rId2"/>
                <a:stretch>
                  <a:fillRect l="-1208" r="-1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277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188002" cy="53389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Let B = {0, 1}. Then B</a:t>
            </a:r>
            <a:r>
              <a:rPr lang="en-US" baseline="30000" dirty="0"/>
              <a:t>n</a:t>
            </a:r>
            <a:r>
              <a:rPr lang="en-US" dirty="0"/>
              <a:t> = {(x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x</a:t>
            </a:r>
            <a:r>
              <a:rPr lang="en-US" baseline="-25000" dirty="0"/>
              <a:t>n</a:t>
            </a:r>
            <a:r>
              <a:rPr lang="en-US" dirty="0"/>
              <a:t>) | x</a:t>
            </a:r>
            <a:r>
              <a:rPr lang="en-US" baseline="-25000" dirty="0"/>
              <a:t>i</a:t>
            </a:r>
            <a:r>
              <a:rPr lang="en-US" dirty="0"/>
              <a:t> ∈ B for</a:t>
            </a:r>
            <a:br>
              <a:rPr lang="en-US" dirty="0"/>
            </a:br>
            <a:r>
              <a:rPr lang="en-US" dirty="0"/>
              <a:t> {1 ≤ </a:t>
            </a:r>
            <a:r>
              <a:rPr lang="en-US" dirty="0" err="1"/>
              <a:t>i</a:t>
            </a:r>
            <a:r>
              <a:rPr lang="en-US" dirty="0"/>
              <a:t> ≤ n} is the set of all possible n-tuples of 0s and 1s.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variable x is called a </a:t>
            </a:r>
            <a:r>
              <a:rPr lang="en-US" b="1" dirty="0"/>
              <a:t>Boolean variable </a:t>
            </a:r>
            <a:r>
              <a:rPr lang="en-US" dirty="0"/>
              <a:t>if it assumes values only from B, that is, if its only possible values are 0 and 1.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function from B</a:t>
            </a:r>
            <a:r>
              <a:rPr lang="en-US" baseline="30000" dirty="0"/>
              <a:t>n</a:t>
            </a:r>
            <a:r>
              <a:rPr lang="en-US" dirty="0"/>
              <a:t> to B is called a </a:t>
            </a:r>
            <a:r>
              <a:rPr lang="en-US" dirty="0">
                <a:solidFill>
                  <a:srgbClr val="FF0000"/>
                </a:solidFill>
              </a:rPr>
              <a:t>Boolean function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degree 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205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8"/>
                <a:ext cx="8258341" cy="280646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function F(x, y) =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𝐱</m:t>
                    </m:r>
                    <m:acc>
                      <m:accPr>
                        <m:chr m:val="̅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dirty="0"/>
                  <a:t> from the set of ordered pairs of Boolean variables to the set {0, 1} is a Boolean function of degree 2 with F(1, 1) = 0, F(1, 0) = 1, F(0, 1) = 0, and F(0, 0) = 0.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Displayed are these values of F in Table 1 below.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8"/>
                <a:ext cx="8258341" cy="2806467"/>
              </a:xfrm>
              <a:blipFill>
                <a:blip r:embed="rId2"/>
                <a:stretch>
                  <a:fillRect l="-1182" r="-1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3F44F8F-C534-4508-BE0B-E25601D02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66" y="4055165"/>
            <a:ext cx="2241665" cy="2609984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759559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145799" cy="48848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Boolean functions can be represented using expressions made up from variables and Boolean operations.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Boolean expressions in the variables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x</a:t>
            </a:r>
            <a:r>
              <a:rPr lang="en-US" baseline="-25000" dirty="0"/>
              <a:t>n</a:t>
            </a:r>
            <a:r>
              <a:rPr lang="en-US" dirty="0"/>
              <a:t> are defined recursively as 0, 1,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 . . , x</a:t>
            </a:r>
            <a:r>
              <a:rPr lang="en-US" baseline="-25000" dirty="0"/>
              <a:t>n</a:t>
            </a:r>
            <a:r>
              <a:rPr lang="en-US" dirty="0"/>
              <a:t> are Boolean expressions;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Boolean expression represents a Boolean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19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90" y="1248697"/>
                <a:ext cx="8504904" cy="2468537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Ques:-</a:t>
                </a:r>
                <a:r>
                  <a:rPr lang="en-US" dirty="0"/>
                  <a:t> Find the values of the Boolean function represented by F(x, y, z) =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xy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Ans:-</a:t>
                </a:r>
                <a:r>
                  <a:rPr lang="en-US" dirty="0"/>
                  <a:t> The values of this function are as in Table below.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90" y="1248697"/>
                <a:ext cx="8504904" cy="2468537"/>
              </a:xfrm>
              <a:blipFill>
                <a:blip r:embed="rId2"/>
                <a:stretch>
                  <a:fillRect l="-1290"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8BEFBD8-852B-4D0F-AD02-163B46812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765" y="3261210"/>
            <a:ext cx="6342469" cy="3285567"/>
          </a:xfrm>
          <a:prstGeom prst="rect">
            <a:avLst/>
          </a:prstGeom>
          <a:ln w="57150">
            <a:solidFill>
              <a:srgbClr val="00B6CC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9139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70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Show that the distributive law x(y + z) = xy + xz is valid.</a:t>
            </a:r>
          </a:p>
          <a:p>
            <a:pPr marL="0" indent="0">
              <a:buNone/>
            </a:pPr>
            <a:r>
              <a:rPr lang="en-US" dirty="0"/>
              <a:t>The verification of this identity is shown in Table below. The identity holds because the last two columns of the table agree.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787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23327" cy="1226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Show that the distributive law x(y + z) = xy + xz is valid.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67FCF-CF39-4972-884B-883E9B6F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74" y="2715842"/>
            <a:ext cx="8204051" cy="3334630"/>
          </a:xfrm>
          <a:prstGeom prst="rect">
            <a:avLst/>
          </a:prstGeom>
          <a:ln w="76200">
            <a:solidFill>
              <a:srgbClr val="00B6CC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49650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23327" cy="1226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Similarly, we can find the validity of the following identities.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CEE6BE-219D-489D-A068-268713EB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872" y="2643541"/>
            <a:ext cx="5860255" cy="3561598"/>
          </a:xfrm>
          <a:prstGeom prst="rect">
            <a:avLst/>
          </a:prstGeom>
          <a:ln w="76200">
            <a:solidFill>
              <a:srgbClr val="00B6CC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350445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080001"/>
            <a:ext cx="8323327" cy="1226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Similarly, we can find the validity of the following identities.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9AC9D-0BD7-4163-AB8F-E19AD1403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38" y="2496311"/>
            <a:ext cx="4596808" cy="3758717"/>
          </a:xfrm>
          <a:prstGeom prst="rect">
            <a:avLst/>
          </a:prstGeom>
          <a:ln w="76200">
            <a:solidFill>
              <a:srgbClr val="00B6CC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91846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 – Example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C7B9A-8015-4FB4-8C24-4BC3D64C3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7"/>
            <a:ext cx="8382962" cy="54105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Translate the distributive law x + yz = (x + y)(x + z) in into a logical equivalence.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Here we will change the Boolean variables x, y, and z into the propositional variables p, q, and 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Next, we change each Boolean sum into a disjunction and each Boolean product into a conjunction.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p ∨ (q ∧ r) ≡ (p ∨ q) ∧ (p ∨ r).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589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969-44D9-4A16-9D0F-FD9428B2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Expressions – Example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can obtain De Morgan’s laws for propositions when you transform De Morgan’s laws for Boolean algebra in into logical equivalences.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IN" dirty="0"/>
                  <a:t>1.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xy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y</m:t>
                        </m:r>
                      </m:e>
                    </m:acc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fr-F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</a:t>
                </a:r>
                <a:r>
                  <a:rPr lang="fr-FR" dirty="0"/>
                  <a:t> ¬(p ∧ q) ≡ ¬p ∨¬q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2. </m:t>
                    </m:r>
                    <m:acc>
                      <m:accPr>
                        <m:chr m:val="̅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IN" dirty="0"/>
                          <m:t>y</m:t>
                        </m:r>
                      </m:e>
                    </m:acc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</m:e>
                    </m:acc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/>
                          <m:t>y</m:t>
                        </m:r>
                      </m:e>
                    </m:acc>
                  </m:oMath>
                </a14:m>
                <a:r>
                  <a:rPr lang="en-IN" dirty="0"/>
                  <a:t> </a:t>
                </a:r>
              </a:p>
              <a:p>
                <a:pPr marL="0" indent="0">
                  <a:buNone/>
                </a:pPr>
                <a:r>
                  <a:rPr lang="fr-FR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dirty="0"/>
                  <a:t>¬(p ∨ q) ≡ ¬p ∧¬q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EC7B9A-8015-4FB4-8C24-4BC3D64C3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89" y="1248697"/>
                <a:ext cx="8392901" cy="5400581"/>
              </a:xfrm>
              <a:blipFill>
                <a:blip r:embed="rId2"/>
                <a:stretch>
                  <a:fillRect l="-1381" r="-1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476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7398</TotalTime>
  <Words>1161</Words>
  <Application>Microsoft Office PowerPoint</Application>
  <PresentationFormat>On-screen Show (4:3)</PresentationFormat>
  <Paragraphs>121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Boolean Algebra</vt:lpstr>
      <vt:lpstr>Boolean Algebra</vt:lpstr>
      <vt:lpstr>Boolean Algebra</vt:lpstr>
      <vt:lpstr>Boolean Functions - Introduction</vt:lpstr>
      <vt:lpstr>Boolean Functions - Introduction</vt:lpstr>
      <vt:lpstr>Boolean Functions - Introduction</vt:lpstr>
      <vt:lpstr>Boolean Functions – Introduction Example 1</vt:lpstr>
      <vt:lpstr>Boolean Functions – Introduction Example 2</vt:lpstr>
      <vt:lpstr>Boolean Functions – Introduction Example 3</vt:lpstr>
      <vt:lpstr>Boolean Functions – Introduction Example 4</vt:lpstr>
      <vt:lpstr>Boolean Functions – Introduction Example 5</vt:lpstr>
      <vt:lpstr>Boolean Functions – Introduction Example 1</vt:lpstr>
      <vt:lpstr>Boolean Functions – Introduction – Example 1</vt:lpstr>
      <vt:lpstr>Boolean Functions</vt:lpstr>
      <vt:lpstr>Boolean Functions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 – Example 1</vt:lpstr>
      <vt:lpstr>Boolean Expressions – Example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Arpit Thakur</cp:lastModifiedBy>
  <cp:revision>882</cp:revision>
  <dcterms:created xsi:type="dcterms:W3CDTF">2020-12-04T05:20:56Z</dcterms:created>
  <dcterms:modified xsi:type="dcterms:W3CDTF">2020-12-24T08:29:09Z</dcterms:modified>
</cp:coreProperties>
</file>