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82" r:id="rId4"/>
    <p:sldId id="284" r:id="rId5"/>
    <p:sldId id="285" r:id="rId6"/>
    <p:sldId id="286" r:id="rId7"/>
    <p:sldId id="287" r:id="rId8"/>
    <p:sldId id="260" r:id="rId9"/>
    <p:sldId id="26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62" r:id="rId19"/>
    <p:sldId id="263" r:id="rId20"/>
    <p:sldId id="280" r:id="rId21"/>
    <p:sldId id="281" r:id="rId22"/>
    <p:sldId id="259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282"/>
            <p14:sldId id="284"/>
            <p14:sldId id="285"/>
            <p14:sldId id="286"/>
            <p14:sldId id="287"/>
            <p14:sldId id="260"/>
            <p14:sldId id="26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62"/>
            <p14:sldId id="263"/>
            <p14:sldId id="280"/>
            <p14:sldId id="281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6CC"/>
    <a:srgbClr val="BA202B"/>
    <a:srgbClr val="4472C4"/>
    <a:srgbClr val="DDDDDD"/>
    <a:srgbClr val="BBBBBB"/>
    <a:srgbClr val="00A2B8"/>
    <a:srgbClr val="00B451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62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08F98-5817-4768-91E0-7435FEF7FFA1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79E5-282A-4490-B8CC-DC7602F73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0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/>
          <a:p>
            <a:r>
              <a:rPr lang="en-US" sz="2600" dirty="0"/>
              <a:t>understand what are Shortest-Path Problems.</a:t>
            </a:r>
          </a:p>
          <a:p>
            <a:r>
              <a:rPr lang="en-US" sz="2600" dirty="0"/>
              <a:t>understand what is a Shortest-Path Algorithm.</a:t>
            </a:r>
          </a:p>
          <a:p>
            <a:r>
              <a:rPr lang="en-US" sz="2600" dirty="0"/>
              <a:t>understand what is Dijkstra’s Algorithm.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Path Problem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669E266D-4E05-4EA6-A8A5-F76EEB82D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53" t="36909" r="39157" b="19060"/>
          <a:stretch>
            <a:fillRect/>
          </a:stretch>
        </p:blipFill>
        <p:spPr bwMode="auto">
          <a:xfrm>
            <a:off x="2019300" y="1815941"/>
            <a:ext cx="5105400" cy="405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Line 7">
            <a:extLst>
              <a:ext uri="{FF2B5EF4-FFF2-40B4-BE49-F238E27FC236}">
                <a16:creationId xmlns:a16="http://schemas.microsoft.com/office/drawing/2014/main" id="{AC292353-0C15-49A6-A025-E875B192F0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6494" y="3348673"/>
            <a:ext cx="355600" cy="3810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FAFC646A-483B-4B45-8002-AEAE082CAD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3632" y="3763010"/>
            <a:ext cx="736600" cy="61912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6D7893DF-4E46-46CC-BCB4-21C26E48CB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0032" y="3340735"/>
            <a:ext cx="347662" cy="105092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E9F9B89-5CC6-421A-9D33-FB82A72D16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2569" y="3340735"/>
            <a:ext cx="1058863" cy="81438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F154C518-A0D3-42BD-B4D3-A0E99429D8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5107" y="3332798"/>
            <a:ext cx="1601787" cy="37465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629741C1-FAEA-4139-ABD2-3ABAA7EDA6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4044" y="4164648"/>
            <a:ext cx="704850" cy="20955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57CDD3C5-3DBF-40CF-9821-0B63EA43849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7782" y="4153535"/>
            <a:ext cx="781050" cy="1111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AA36BAE5-77E0-4ADA-BCC6-EDB06D3449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9907" y="3705860"/>
            <a:ext cx="306387" cy="45878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35621D2F-66A4-4049-9F52-B006CED09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794" y="3572510"/>
            <a:ext cx="1003300" cy="46166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en-US" altLang="en-US" sz="2400" dirty="0">
                <a:solidFill>
                  <a:schemeClr val="bg1"/>
                </a:solidFill>
              </a:rPr>
              <a:t>Paris</a:t>
            </a: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50BEAE92-1A45-4F66-8F33-D0401246D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9607" y="2915285"/>
            <a:ext cx="1406525" cy="830997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en-US" altLang="en-US" sz="2400" dirty="0">
                <a:solidFill>
                  <a:schemeClr val="bg1"/>
                </a:solidFill>
              </a:rPr>
              <a:t>Brussels</a:t>
            </a: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993EAAA2-FE9E-46A9-BB4F-8BB96BCFF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2695" y="4486910"/>
            <a:ext cx="935037" cy="46166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chemeClr val="bg1"/>
                </a:solidFill>
              </a:rPr>
              <a:t>Bern</a:t>
            </a: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1B7AF96E-4BC4-4253-B69B-E359A2F00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4294" y="4705192"/>
            <a:ext cx="1198561" cy="46166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chemeClr val="bg1"/>
                </a:solidFill>
              </a:rPr>
              <a:t>Munich</a:t>
            </a:r>
          </a:p>
        </p:txBody>
      </p:sp>
      <p:sp>
        <p:nvSpPr>
          <p:cNvPr id="18" name="Text Box 19">
            <a:extLst>
              <a:ext uri="{FF2B5EF4-FFF2-40B4-BE49-F238E27FC236}">
                <a16:creationId xmlns:a16="http://schemas.microsoft.com/office/drawing/2014/main" id="{968A7BD7-07C5-43E7-896D-786C2A79A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9093" y="3267710"/>
            <a:ext cx="1443265" cy="46166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chemeClr val="bg1"/>
                </a:solidFill>
              </a:rPr>
              <a:t>Prague</a:t>
            </a:r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93521DD5-3F6F-45A9-879B-57AD6D43C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6782" y="3953510"/>
            <a:ext cx="1127918" cy="46166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chemeClr val="bg1"/>
                </a:solidFill>
              </a:rPr>
              <a:t>Vienna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7D0E2C70-7ACF-46FE-8F11-E515F3DEE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1369" y="3997960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en-US" sz="2400">
                <a:solidFill>
                  <a:schemeClr val="bg1"/>
                </a:solidFill>
              </a:rPr>
              <a:t>346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CC468068-2351-4086-B14C-54EE4F9B8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2782" y="3301048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en-US" sz="2400">
                <a:solidFill>
                  <a:schemeClr val="bg1"/>
                </a:solidFill>
              </a:rPr>
              <a:t>183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E6C6F96B-FA47-4092-ADDE-AA30400F6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4694" y="3188335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en-US" sz="2400">
                <a:solidFill>
                  <a:schemeClr val="bg1"/>
                </a:solidFill>
              </a:rPr>
              <a:t>566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1A63C65B-9AA9-41A4-8809-4CDF94EC1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1169" y="3682048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en-US" sz="2400">
                <a:solidFill>
                  <a:schemeClr val="bg1"/>
                </a:solidFill>
              </a:rPr>
              <a:t>194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05AC0400-018D-45CC-BC66-93658ADC9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832" y="3842385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en-US" sz="2400" dirty="0">
                <a:solidFill>
                  <a:schemeClr val="bg1"/>
                </a:solidFill>
              </a:rPr>
              <a:t>285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1D0B17E6-EA21-4564-B0C2-0E871DB7E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494" y="3585210"/>
            <a:ext cx="685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en-US" sz="2400">
                <a:solidFill>
                  <a:schemeClr val="bg1"/>
                </a:solidFill>
              </a:rPr>
              <a:t>504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C00F3EE6-329B-4395-818B-0731549AC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3682" y="3797935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en-US" sz="2400">
                <a:solidFill>
                  <a:schemeClr val="bg1"/>
                </a:solidFill>
              </a:rPr>
              <a:t>407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B64DF349-07E6-44A3-9019-996378A23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5469" y="4231323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en-US" sz="2400">
                <a:solidFill>
                  <a:schemeClr val="bg1"/>
                </a:solidFill>
              </a:rPr>
              <a:t>271</a:t>
            </a: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4A7DEE00-186F-4F1A-AADA-E7EFFA1376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88557" y="3356610"/>
            <a:ext cx="355600" cy="3810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29" name="Line 30">
            <a:extLst>
              <a:ext uri="{FF2B5EF4-FFF2-40B4-BE49-F238E27FC236}">
                <a16:creationId xmlns:a16="http://schemas.microsoft.com/office/drawing/2014/main" id="{C80492B7-651B-4CE2-93B1-374138E75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7169" y="3340735"/>
            <a:ext cx="1601788" cy="37465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30" name="Line 31">
            <a:extLst>
              <a:ext uri="{FF2B5EF4-FFF2-40B4-BE49-F238E27FC236}">
                <a16:creationId xmlns:a16="http://schemas.microsoft.com/office/drawing/2014/main" id="{8DAB7B82-0B92-4BDE-8FF5-79E3BE8638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1969" y="3713798"/>
            <a:ext cx="306388" cy="458787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31" name="Line 32">
            <a:extLst>
              <a:ext uri="{FF2B5EF4-FFF2-40B4-BE49-F238E27FC236}">
                <a16:creationId xmlns:a16="http://schemas.microsoft.com/office/drawing/2014/main" id="{50B2F205-AABC-454A-A3CD-6BCC64FBBC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88557" y="3356610"/>
            <a:ext cx="355600" cy="3810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32" name="Line 33">
            <a:extLst>
              <a:ext uri="{FF2B5EF4-FFF2-40B4-BE49-F238E27FC236}">
                <a16:creationId xmlns:a16="http://schemas.microsoft.com/office/drawing/2014/main" id="{20D4ECD3-677A-4AA5-B678-08FD6C6CC7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2094" y="3348673"/>
            <a:ext cx="347663" cy="10509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 dirty="0"/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E48E42B1-1CE7-4F6C-8375-DF5B5EE569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06107" y="4172585"/>
            <a:ext cx="704850" cy="20955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34" name="Line 35">
            <a:extLst>
              <a:ext uri="{FF2B5EF4-FFF2-40B4-BE49-F238E27FC236}">
                <a16:creationId xmlns:a16="http://schemas.microsoft.com/office/drawing/2014/main" id="{081341C3-B8EC-4D0F-A6FD-CEC1B0AEBC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9844" y="4161473"/>
            <a:ext cx="781050" cy="11112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770B1582-22B0-4109-976B-07D4CDB9E2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4744" y="3770948"/>
            <a:ext cx="736600" cy="6191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36" name="Line 37">
            <a:extLst>
              <a:ext uri="{FF2B5EF4-FFF2-40B4-BE49-F238E27FC236}">
                <a16:creationId xmlns:a16="http://schemas.microsoft.com/office/drawing/2014/main" id="{EABD4842-5D86-4E32-814F-17D69C0EFF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1144" y="3348673"/>
            <a:ext cx="347663" cy="10509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A31E9B31-DD77-42AD-AFAE-73E3018AB0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3682" y="3348673"/>
            <a:ext cx="1058862" cy="814387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38" name="Line 39">
            <a:extLst>
              <a:ext uri="{FF2B5EF4-FFF2-40B4-BE49-F238E27FC236}">
                <a16:creationId xmlns:a16="http://schemas.microsoft.com/office/drawing/2014/main" id="{54F24942-6CF4-4933-8076-8FC402D728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8894" y="4161473"/>
            <a:ext cx="781050" cy="11112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39" name="Line 40">
            <a:extLst>
              <a:ext uri="{FF2B5EF4-FFF2-40B4-BE49-F238E27FC236}">
                <a16:creationId xmlns:a16="http://schemas.microsoft.com/office/drawing/2014/main" id="{93ADE282-15D8-4108-9180-730AE6BAF1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4744" y="3774123"/>
            <a:ext cx="736600" cy="6191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40" name="Line 41">
            <a:extLst>
              <a:ext uri="{FF2B5EF4-FFF2-40B4-BE49-F238E27FC236}">
                <a16:creationId xmlns:a16="http://schemas.microsoft.com/office/drawing/2014/main" id="{5904C661-C298-4EBC-8771-AC4485D81D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5157" y="4175760"/>
            <a:ext cx="704850" cy="20955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41" name="Line 42">
            <a:extLst>
              <a:ext uri="{FF2B5EF4-FFF2-40B4-BE49-F238E27FC236}">
                <a16:creationId xmlns:a16="http://schemas.microsoft.com/office/drawing/2014/main" id="{CB6883B2-CD19-4A4E-9DB7-4591D14728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8894" y="4164648"/>
            <a:ext cx="781050" cy="11112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42" name="Line 43">
            <a:extLst>
              <a:ext uri="{FF2B5EF4-FFF2-40B4-BE49-F238E27FC236}">
                <a16:creationId xmlns:a16="http://schemas.microsoft.com/office/drawing/2014/main" id="{3D98A9C5-865D-4DB4-B022-650F7D0F719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66332" y="3697923"/>
            <a:ext cx="1587" cy="571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oval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43" name="Line 44">
            <a:extLst>
              <a:ext uri="{FF2B5EF4-FFF2-40B4-BE49-F238E27FC236}">
                <a16:creationId xmlns:a16="http://schemas.microsoft.com/office/drawing/2014/main" id="{C4B131B2-39BD-494A-94C3-8467E89272C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56857" y="3291523"/>
            <a:ext cx="1587" cy="571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oval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44" name="Line 45">
            <a:extLst>
              <a:ext uri="{FF2B5EF4-FFF2-40B4-BE49-F238E27FC236}">
                <a16:creationId xmlns:a16="http://schemas.microsoft.com/office/drawing/2014/main" id="{C5A06C4F-BB86-4A47-90F7-D55AE2F8220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98169" y="4318635"/>
            <a:ext cx="1588" cy="571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oval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45" name="Line 46">
            <a:extLst>
              <a:ext uri="{FF2B5EF4-FFF2-40B4-BE49-F238E27FC236}">
                <a16:creationId xmlns:a16="http://schemas.microsoft.com/office/drawing/2014/main" id="{120739E7-D72F-4D35-B51F-4E10943050C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15719" y="4102735"/>
            <a:ext cx="1588" cy="571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oval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46" name="Line 47">
            <a:extLst>
              <a:ext uri="{FF2B5EF4-FFF2-40B4-BE49-F238E27FC236}">
                <a16:creationId xmlns:a16="http://schemas.microsoft.com/office/drawing/2014/main" id="{C1BC0A16-F3E3-4A2E-840A-8E981A112E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07844" y="3645535"/>
            <a:ext cx="1588" cy="571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oval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47" name="Line 48">
            <a:extLst>
              <a:ext uri="{FF2B5EF4-FFF2-40B4-BE49-F238E27FC236}">
                <a16:creationId xmlns:a16="http://schemas.microsoft.com/office/drawing/2014/main" id="{44150D1E-0786-4DB6-890A-A0D9982E7A1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04707" y="4113848"/>
            <a:ext cx="1587" cy="571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oval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 sz="2400"/>
          </a:p>
        </p:txBody>
      </p:sp>
      <p:sp>
        <p:nvSpPr>
          <p:cNvPr id="48" name="Text Box 49">
            <a:extLst>
              <a:ext uri="{FF2B5EF4-FFF2-40B4-BE49-F238E27FC236}">
                <a16:creationId xmlns:a16="http://schemas.microsoft.com/office/drawing/2014/main" id="{347D90B2-D427-4961-A991-D6FE19322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7419" y="3058160"/>
            <a:ext cx="685800" cy="46166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en-US" sz="2400">
                <a:solidFill>
                  <a:srgbClr val="FF0000"/>
                </a:solidFill>
              </a:rPr>
              <a:t>943</a:t>
            </a:r>
          </a:p>
        </p:txBody>
      </p:sp>
      <p:sp>
        <p:nvSpPr>
          <p:cNvPr id="49" name="Text Box 50">
            <a:extLst>
              <a:ext uri="{FF2B5EF4-FFF2-40B4-BE49-F238E27FC236}">
                <a16:creationId xmlns:a16="http://schemas.microsoft.com/office/drawing/2014/main" id="{BC420564-CF63-4207-80D8-0A9A696CA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6757" y="4321810"/>
            <a:ext cx="838200" cy="46166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en-US" sz="2400" dirty="0">
                <a:solidFill>
                  <a:srgbClr val="FF0000"/>
                </a:solidFill>
              </a:rPr>
              <a:t>1146</a:t>
            </a:r>
          </a:p>
        </p:txBody>
      </p:sp>
      <p:sp>
        <p:nvSpPr>
          <p:cNvPr id="50" name="Text Box 51">
            <a:extLst>
              <a:ext uri="{FF2B5EF4-FFF2-40B4-BE49-F238E27FC236}">
                <a16:creationId xmlns:a16="http://schemas.microsoft.com/office/drawing/2014/main" id="{B2F5997F-160B-4A55-AA3B-1CD1FF9AD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094" y="3591560"/>
            <a:ext cx="838200" cy="46166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en-US" sz="2400">
                <a:solidFill>
                  <a:srgbClr val="FF0000"/>
                </a:solidFill>
              </a:rPr>
              <a:t>1542</a:t>
            </a:r>
          </a:p>
        </p:txBody>
      </p:sp>
      <p:sp>
        <p:nvSpPr>
          <p:cNvPr id="51" name="Text Box 52">
            <a:extLst>
              <a:ext uri="{FF2B5EF4-FFF2-40B4-BE49-F238E27FC236}">
                <a16:creationId xmlns:a16="http://schemas.microsoft.com/office/drawing/2014/main" id="{5BB9FFCB-467D-49D1-ABD6-4395D1DC9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1632" y="3759835"/>
            <a:ext cx="685800" cy="46166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en-US" sz="2400">
                <a:solidFill>
                  <a:srgbClr val="FF0000"/>
                </a:solidFill>
              </a:rPr>
              <a:t>902</a:t>
            </a:r>
          </a:p>
        </p:txBody>
      </p:sp>
    </p:spTree>
    <p:extLst>
      <p:ext uri="{BB962C8B-B14F-4D97-AF65-F5344CB8AC3E}">
        <p14:creationId xmlns:p14="http://schemas.microsoft.com/office/powerpoint/2010/main" val="324795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500"/>
                            </p:stCondLst>
                            <p:childTnLst>
                              <p:par>
                                <p:cTn id="106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45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0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5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6000"/>
                            </p:stCondLst>
                            <p:childTnLst>
                              <p:par>
                                <p:cTn id="138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7500"/>
                            </p:stCondLst>
                            <p:childTnLst>
                              <p:par>
                                <p:cTn id="1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8000"/>
                            </p:stCondLst>
                            <p:childTnLst>
                              <p:par>
                                <p:cTn id="1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8500"/>
                            </p:stCondLst>
                            <p:childTnLst>
                              <p:par>
                                <p:cTn id="1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9000"/>
                            </p:stCondLst>
                            <p:childTnLst>
                              <p:par>
                                <p:cTn id="1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9500"/>
                            </p:stCondLst>
                            <p:childTnLst>
                              <p:par>
                                <p:cTn id="173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1000"/>
                            </p:stCondLst>
                            <p:childTnLst>
                              <p:par>
                                <p:cTn id="1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1500"/>
                            </p:stCondLst>
                            <p:childTnLst>
                              <p:par>
                                <p:cTn id="1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2000"/>
                            </p:stCondLst>
                            <p:childTnLst>
                              <p:par>
                                <p:cTn id="1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48" grpId="0" animBg="1"/>
      <p:bldP spid="49" grpId="0" animBg="1"/>
      <p:bldP spid="50" grpId="0" animBg="1"/>
      <p:bldP spid="5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FAD3-0440-4DAE-9420-1E8A604D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Path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EF72-4CEC-48D7-B481-516947816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Many problems can be modeled using graphs with weights assigned to their edges.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As an illustration, consider how an airline system can be modeled. We set up the basic graph model by representing cities by vertices and flights by edges.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2141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FAD3-0440-4DAE-9420-1E8A604D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Path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EF72-4CEC-48D7-B481-516947816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Problems involving distances can be modeled by assigning distances between cities to the edges. </a:t>
            </a:r>
          </a:p>
          <a:p>
            <a:endParaRPr lang="en-US" dirty="0"/>
          </a:p>
          <a:p>
            <a:r>
              <a:rPr lang="en-US" dirty="0"/>
              <a:t>Problems involving flight time can be modeled by assigning flight times to edges. </a:t>
            </a:r>
          </a:p>
          <a:p>
            <a:endParaRPr lang="en-US" dirty="0"/>
          </a:p>
          <a:p>
            <a:r>
              <a:rPr lang="en-US" dirty="0"/>
              <a:t>Problems involving fares can be modeled by assigning fares to the edges.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126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FAD3-0440-4DAE-9420-1E8A604D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Path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EF72-4CEC-48D7-B481-516947816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Graphs that have a number assigned to each edge are called weighted graphs.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ED0AB0-4543-45CA-8570-CC76EB597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5811"/>
            <a:ext cx="9080676" cy="399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18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FAD3-0440-4DAE-9420-1E8A604D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Path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EF72-4CEC-48D7-B481-516947816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several different algorithms that find a shortest path between two vertices in a weighted graph.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will present a greedy algorithm discovered by the Dutch mathematician </a:t>
            </a:r>
            <a:r>
              <a:rPr lang="en-US" dirty="0" err="1"/>
              <a:t>Edsger</a:t>
            </a:r>
            <a:r>
              <a:rPr lang="en-US" dirty="0"/>
              <a:t> Dijkstra in 1959.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042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Dijkstra’s Algorithm</a:t>
            </a:r>
          </a:p>
        </p:txBody>
      </p:sp>
      <p:sp>
        <p:nvSpPr>
          <p:cNvPr id="77" name="Title 1">
            <a:extLst>
              <a:ext uri="{FF2B5EF4-FFF2-40B4-BE49-F238E27FC236}">
                <a16:creationId xmlns:a16="http://schemas.microsoft.com/office/drawing/2014/main" id="{A223431A-3A54-47F1-8D50-1A2A402EAF02}"/>
              </a:ext>
            </a:extLst>
          </p:cNvPr>
          <p:cNvSpPr txBox="1">
            <a:spLocks/>
          </p:cNvSpPr>
          <p:nvPr/>
        </p:nvSpPr>
        <p:spPr>
          <a:xfrm>
            <a:off x="197772" y="1306406"/>
            <a:ext cx="874845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</a:rPr>
              <a:t>Find the length of a shortest path between a and z in the given weighted graph.</a:t>
            </a:r>
            <a:endParaRPr lang="en-IN" sz="2400" dirty="0"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914E5147-255E-4725-83D4-6DEFDDC32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5811"/>
            <a:ext cx="9080676" cy="399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763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Dijkstra’s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F39A62-6FCF-4B6E-804F-FC83E7D6B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47" y="1691840"/>
            <a:ext cx="8504905" cy="399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97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Dijkstra’s Algorithm</a:t>
            </a:r>
          </a:p>
        </p:txBody>
      </p:sp>
      <p:sp>
        <p:nvSpPr>
          <p:cNvPr id="77" name="Title 1">
            <a:extLst>
              <a:ext uri="{FF2B5EF4-FFF2-40B4-BE49-F238E27FC236}">
                <a16:creationId xmlns:a16="http://schemas.microsoft.com/office/drawing/2014/main" id="{A223431A-3A54-47F1-8D50-1A2A402EAF02}"/>
              </a:ext>
            </a:extLst>
          </p:cNvPr>
          <p:cNvSpPr txBox="1">
            <a:spLocks/>
          </p:cNvSpPr>
          <p:nvPr/>
        </p:nvSpPr>
        <p:spPr>
          <a:xfrm>
            <a:off x="197772" y="1210892"/>
            <a:ext cx="874845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</a:rPr>
              <a:t>Find the length of a shortest path between a and z in the given weighted graph.</a:t>
            </a:r>
            <a:endParaRPr lang="en-IN" sz="2400" dirty="0"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FB08B0-AFF9-4504-8991-94F05EF0CD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11" t="9223" r="1064" b="5078"/>
          <a:stretch/>
        </p:blipFill>
        <p:spPr>
          <a:xfrm>
            <a:off x="69574" y="2484783"/>
            <a:ext cx="9034670" cy="412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16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Dijkstra’s Algorithm</a:t>
            </a:r>
          </a:p>
        </p:txBody>
      </p:sp>
      <p:sp>
        <p:nvSpPr>
          <p:cNvPr id="77" name="Title 1">
            <a:extLst>
              <a:ext uri="{FF2B5EF4-FFF2-40B4-BE49-F238E27FC236}">
                <a16:creationId xmlns:a16="http://schemas.microsoft.com/office/drawing/2014/main" id="{A223431A-3A54-47F1-8D50-1A2A402EAF02}"/>
              </a:ext>
            </a:extLst>
          </p:cNvPr>
          <p:cNvSpPr txBox="1">
            <a:spLocks/>
          </p:cNvSpPr>
          <p:nvPr/>
        </p:nvSpPr>
        <p:spPr>
          <a:xfrm>
            <a:off x="197771" y="1210891"/>
            <a:ext cx="874845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</a:rPr>
              <a:t>Find the length of a shortest path between a and z in the given weighted graph.</a:t>
            </a:r>
            <a:endParaRPr lang="en-IN" sz="2400" dirty="0"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2DFB3C-1148-4D13-8A50-E1CB674404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02"/>
          <a:stretch/>
        </p:blipFill>
        <p:spPr>
          <a:xfrm>
            <a:off x="967672" y="2484781"/>
            <a:ext cx="7208655" cy="4203879"/>
          </a:xfrm>
          <a:prstGeom prst="round1Rect">
            <a:avLst/>
          </a:prstGeom>
        </p:spPr>
      </p:pic>
    </p:spTree>
    <p:extLst>
      <p:ext uri="{BB962C8B-B14F-4D97-AF65-F5344CB8AC3E}">
        <p14:creationId xmlns:p14="http://schemas.microsoft.com/office/powerpoint/2010/main" val="1428712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Dijkstra’s Algorithm</a:t>
            </a:r>
          </a:p>
        </p:txBody>
      </p:sp>
      <p:sp>
        <p:nvSpPr>
          <p:cNvPr id="77" name="Title 1">
            <a:extLst>
              <a:ext uri="{FF2B5EF4-FFF2-40B4-BE49-F238E27FC236}">
                <a16:creationId xmlns:a16="http://schemas.microsoft.com/office/drawing/2014/main" id="{A223431A-3A54-47F1-8D50-1A2A402EAF02}"/>
              </a:ext>
            </a:extLst>
          </p:cNvPr>
          <p:cNvSpPr txBox="1">
            <a:spLocks/>
          </p:cNvSpPr>
          <p:nvPr/>
        </p:nvSpPr>
        <p:spPr>
          <a:xfrm>
            <a:off x="271514" y="1279660"/>
            <a:ext cx="874845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</a:rPr>
              <a:t>Find the length of a shortest path between a and z in the given weighted graph.</a:t>
            </a:r>
            <a:endParaRPr lang="en-IN" sz="2400" dirty="0"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AF755-BC79-448C-A014-EEDA890D3E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15" t="4170" r="1982"/>
          <a:stretch/>
        </p:blipFill>
        <p:spPr>
          <a:xfrm>
            <a:off x="993912" y="2622320"/>
            <a:ext cx="7156175" cy="401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79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Dijkstra’s Algorithm</a:t>
            </a:r>
          </a:p>
        </p:txBody>
      </p:sp>
      <p:sp>
        <p:nvSpPr>
          <p:cNvPr id="77" name="Title 1">
            <a:extLst>
              <a:ext uri="{FF2B5EF4-FFF2-40B4-BE49-F238E27FC236}">
                <a16:creationId xmlns:a16="http://schemas.microsoft.com/office/drawing/2014/main" id="{A223431A-3A54-47F1-8D50-1A2A402EAF02}"/>
              </a:ext>
            </a:extLst>
          </p:cNvPr>
          <p:cNvSpPr txBox="1">
            <a:spLocks/>
          </p:cNvSpPr>
          <p:nvPr/>
        </p:nvSpPr>
        <p:spPr>
          <a:xfrm>
            <a:off x="197772" y="1195983"/>
            <a:ext cx="874845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</a:rPr>
              <a:t>Find the length of a shortest path between a and z in the given weighted graph.</a:t>
            </a:r>
            <a:endParaRPr lang="en-IN" sz="2400" dirty="0"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C2B297-295B-4024-988E-9CDA7F23DE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19" t="467" r="10981"/>
          <a:stretch/>
        </p:blipFill>
        <p:spPr>
          <a:xfrm>
            <a:off x="929308" y="2454966"/>
            <a:ext cx="7285384" cy="412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205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Dijkstra’s algorithm</a:t>
            </a:r>
          </a:p>
        </p:txBody>
      </p:sp>
      <p:sp>
        <p:nvSpPr>
          <p:cNvPr id="77" name="Title 1">
            <a:extLst>
              <a:ext uri="{FF2B5EF4-FFF2-40B4-BE49-F238E27FC236}">
                <a16:creationId xmlns:a16="http://schemas.microsoft.com/office/drawing/2014/main" id="{A223431A-3A54-47F1-8D50-1A2A402EAF02}"/>
              </a:ext>
            </a:extLst>
          </p:cNvPr>
          <p:cNvSpPr txBox="1">
            <a:spLocks/>
          </p:cNvSpPr>
          <p:nvPr/>
        </p:nvSpPr>
        <p:spPr>
          <a:xfrm>
            <a:off x="271514" y="1199660"/>
            <a:ext cx="874845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</a:rPr>
              <a:t>Find the length of a shortest path between a and z in the given weighted graph.</a:t>
            </a:r>
            <a:endParaRPr lang="en-IN" sz="2400" dirty="0"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CE07D3-207E-4D49-8AEC-AE555E6741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11" r="2641"/>
          <a:stretch/>
        </p:blipFill>
        <p:spPr>
          <a:xfrm>
            <a:off x="393290" y="2462320"/>
            <a:ext cx="8150276" cy="414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853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Dijkstra’s Algorithm</a:t>
            </a:r>
          </a:p>
        </p:txBody>
      </p:sp>
      <p:sp>
        <p:nvSpPr>
          <p:cNvPr id="77" name="Title 1">
            <a:extLst>
              <a:ext uri="{FF2B5EF4-FFF2-40B4-BE49-F238E27FC236}">
                <a16:creationId xmlns:a16="http://schemas.microsoft.com/office/drawing/2014/main" id="{A223431A-3A54-47F1-8D50-1A2A402EAF02}"/>
              </a:ext>
            </a:extLst>
          </p:cNvPr>
          <p:cNvSpPr txBox="1">
            <a:spLocks/>
          </p:cNvSpPr>
          <p:nvPr/>
        </p:nvSpPr>
        <p:spPr>
          <a:xfrm>
            <a:off x="197772" y="1264752"/>
            <a:ext cx="874845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</a:rPr>
              <a:t>Find the length of a shortest path between a and z in the given weighted graph</a:t>
            </a:r>
            <a:endParaRPr lang="en-IN" sz="2400" dirty="0"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A5186C-841B-4B5E-BA48-CF2B910842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17" t="1727" r="1494" b="2328"/>
          <a:stretch/>
        </p:blipFill>
        <p:spPr>
          <a:xfrm>
            <a:off x="323022" y="2592503"/>
            <a:ext cx="8497956" cy="407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576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Dijkstra’s Algorithm</a:t>
            </a:r>
          </a:p>
        </p:txBody>
      </p:sp>
      <p:sp>
        <p:nvSpPr>
          <p:cNvPr id="77" name="Title 1">
            <a:extLst>
              <a:ext uri="{FF2B5EF4-FFF2-40B4-BE49-F238E27FC236}">
                <a16:creationId xmlns:a16="http://schemas.microsoft.com/office/drawing/2014/main" id="{A223431A-3A54-47F1-8D50-1A2A402EAF02}"/>
              </a:ext>
            </a:extLst>
          </p:cNvPr>
          <p:cNvSpPr txBox="1">
            <a:spLocks/>
          </p:cNvSpPr>
          <p:nvPr/>
        </p:nvSpPr>
        <p:spPr>
          <a:xfrm>
            <a:off x="197771" y="1193774"/>
            <a:ext cx="874845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</a:rPr>
              <a:t>Find the length of a shortest path between a and z in the given weighted graph.</a:t>
            </a:r>
            <a:endParaRPr lang="en-IN" sz="2400" dirty="0"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060ED7-F89E-4A88-B906-36B2CB8893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34" t="2834" r="2439" b="1674"/>
          <a:stretch/>
        </p:blipFill>
        <p:spPr>
          <a:xfrm>
            <a:off x="263386" y="2450548"/>
            <a:ext cx="8617227" cy="414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557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Dijkstra’s Algorithm</a:t>
            </a:r>
          </a:p>
        </p:txBody>
      </p:sp>
      <p:sp>
        <p:nvSpPr>
          <p:cNvPr id="77" name="Title 1">
            <a:extLst>
              <a:ext uri="{FF2B5EF4-FFF2-40B4-BE49-F238E27FC236}">
                <a16:creationId xmlns:a16="http://schemas.microsoft.com/office/drawing/2014/main" id="{A223431A-3A54-47F1-8D50-1A2A402EAF02}"/>
              </a:ext>
            </a:extLst>
          </p:cNvPr>
          <p:cNvSpPr txBox="1">
            <a:spLocks/>
          </p:cNvSpPr>
          <p:nvPr/>
        </p:nvSpPr>
        <p:spPr>
          <a:xfrm>
            <a:off x="197772" y="1324472"/>
            <a:ext cx="874845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</a:rPr>
              <a:t>Find the length of a shortest path between a and z in the given weighted graph.</a:t>
            </a:r>
            <a:endParaRPr lang="en-IN" sz="2400" dirty="0"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CE9530-DCC8-4821-9EDF-1F79C348D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324" y="2711944"/>
            <a:ext cx="6018835" cy="320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338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Dijkstra’s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F1DA2-A658-4432-92DE-E53831595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43" y="1189434"/>
            <a:ext cx="4985992" cy="265358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ACB79D-6B46-4C49-AE44-84DCD9C930F9}"/>
              </a:ext>
            </a:extLst>
          </p:cNvPr>
          <p:cNvCxnSpPr>
            <a:cxnSpLocks/>
          </p:cNvCxnSpPr>
          <p:nvPr/>
        </p:nvCxnSpPr>
        <p:spPr>
          <a:xfrm flipV="1">
            <a:off x="103408" y="4403923"/>
            <a:ext cx="9032392" cy="3061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EAAFCC-694D-49B3-A804-3D33F93386F8}"/>
              </a:ext>
            </a:extLst>
          </p:cNvPr>
          <p:cNvCxnSpPr>
            <a:cxnSpLocks/>
          </p:cNvCxnSpPr>
          <p:nvPr/>
        </p:nvCxnSpPr>
        <p:spPr>
          <a:xfrm>
            <a:off x="1056861" y="4437899"/>
            <a:ext cx="0" cy="188996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3CA4111-B944-4BD1-84DA-A184D0C5EBA2}"/>
              </a:ext>
            </a:extLst>
          </p:cNvPr>
          <p:cNvSpPr txBox="1"/>
          <p:nvPr/>
        </p:nvSpPr>
        <p:spPr>
          <a:xfrm>
            <a:off x="126032" y="3764224"/>
            <a:ext cx="980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F31D9E-033E-4EB3-8F81-21D7CE561C08}"/>
              </a:ext>
            </a:extLst>
          </p:cNvPr>
          <p:cNvSpPr txBox="1"/>
          <p:nvPr/>
        </p:nvSpPr>
        <p:spPr>
          <a:xfrm>
            <a:off x="3599690" y="3764224"/>
            <a:ext cx="824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Path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1E155F-B98F-492B-969E-868707310E7B}"/>
                  </a:ext>
                </a:extLst>
              </p:cNvPr>
              <p:cNvSpPr txBox="1"/>
              <p:nvPr/>
            </p:nvSpPr>
            <p:spPr>
              <a:xfrm>
                <a:off x="158310" y="4437899"/>
                <a:ext cx="89207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		---	2(a)		3(a)	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 </m:t>
                    </m:r>
                  </m:oMath>
                </a14:m>
                <a:r>
                  <a:rPr lang="en-US" dirty="0"/>
                  <a:t>	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 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1E155F-B98F-492B-969E-868707310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10" y="4437899"/>
                <a:ext cx="8920784" cy="369332"/>
              </a:xfrm>
              <a:prstGeom prst="rect">
                <a:avLst/>
              </a:prstGeom>
              <a:blipFill>
                <a:blip r:embed="rId3"/>
                <a:stretch>
                  <a:fillRect l="-615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58FD99A-BC3A-480C-AF8D-E4F94929C71E}"/>
              </a:ext>
            </a:extLst>
          </p:cNvPr>
          <p:cNvSpPr txBox="1"/>
          <p:nvPr/>
        </p:nvSpPr>
        <p:spPr>
          <a:xfrm>
            <a:off x="697094" y="4033770"/>
            <a:ext cx="8920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a 	b		c		d		e		z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673D4D-B2AE-44D3-85C2-62D469B6BA07}"/>
                  </a:ext>
                </a:extLst>
              </p:cNvPr>
              <p:cNvSpPr txBox="1"/>
              <p:nvPr/>
            </p:nvSpPr>
            <p:spPr>
              <a:xfrm>
                <a:off x="111608" y="4761063"/>
                <a:ext cx="89207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a,b</a:t>
                </a:r>
                <a:r>
                  <a:rPr lang="en-US" dirty="0"/>
                  <a:t>		---	---		3(a)		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7(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4(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673D4D-B2AE-44D3-85C2-62D469B6B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08" y="4761063"/>
                <a:ext cx="8920784" cy="369332"/>
              </a:xfrm>
              <a:prstGeom prst="rect">
                <a:avLst/>
              </a:prstGeom>
              <a:blipFill>
                <a:blip r:embed="rId4"/>
                <a:stretch>
                  <a:fillRect l="-546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CCFB83D-5070-48A0-A5AA-8D8288542EA2}"/>
                  </a:ext>
                </a:extLst>
              </p:cNvPr>
              <p:cNvSpPr txBox="1"/>
              <p:nvPr/>
            </p:nvSpPr>
            <p:spPr>
              <a:xfrm>
                <a:off x="123825" y="5180074"/>
                <a:ext cx="89207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a,b,c</a:t>
                </a:r>
                <a:r>
                  <a:rPr lang="en-US" dirty="0"/>
                  <a:t>	---	---		----		7(</a:t>
                </a:r>
                <a:r>
                  <a:rPr lang="en-US" dirty="0" err="1"/>
                  <a:t>a,b</a:t>
                </a:r>
                <a:r>
                  <a:rPr lang="en-US" dirty="0"/>
                  <a:t>)	 	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4(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 </m:t>
                    </m:r>
                  </m:oMath>
                </a14:m>
                <a:r>
                  <a:rPr lang="en-US" dirty="0"/>
                  <a:t>	</a:t>
                </a:r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CCFB83D-5070-48A0-A5AA-8D8288542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25" y="5180074"/>
                <a:ext cx="8920784" cy="369332"/>
              </a:xfrm>
              <a:prstGeom prst="rect">
                <a:avLst/>
              </a:prstGeom>
              <a:blipFill>
                <a:blip r:embed="rId5"/>
                <a:stretch>
                  <a:fillRect l="-546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FE6F94-FC13-4308-BB34-C6A45E5E873B}"/>
                  </a:ext>
                </a:extLst>
              </p:cNvPr>
              <p:cNvSpPr txBox="1"/>
              <p:nvPr/>
            </p:nvSpPr>
            <p:spPr>
              <a:xfrm>
                <a:off x="123825" y="5559286"/>
                <a:ext cx="89207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a,b,c,e</a:t>
                </a:r>
                <a:r>
                  <a:rPr lang="en-US" dirty="0"/>
                  <a:t>	---	---		----		5(</a:t>
                </a:r>
                <a:r>
                  <a:rPr lang="en-US" dirty="0" err="1"/>
                  <a:t>a,b,e</a:t>
                </a:r>
                <a:r>
                  <a:rPr lang="en-US" dirty="0"/>
                  <a:t>)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----		8(</a:t>
                </a:r>
                <a:r>
                  <a:rPr lang="en-US" dirty="0" err="1"/>
                  <a:t>a,b,e</a:t>
                </a:r>
                <a:r>
                  <a:rPr lang="en-US" dirty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FE6F94-FC13-4308-BB34-C6A45E5E8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25" y="5559286"/>
                <a:ext cx="8920784" cy="369332"/>
              </a:xfrm>
              <a:prstGeom prst="rect">
                <a:avLst/>
              </a:prstGeom>
              <a:blipFill>
                <a:blip r:embed="rId6"/>
                <a:stretch>
                  <a:fillRect l="-546"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DA76AD-A494-4D41-86E1-482CAC79B14E}"/>
                  </a:ext>
                </a:extLst>
              </p:cNvPr>
              <p:cNvSpPr txBox="1"/>
              <p:nvPr/>
            </p:nvSpPr>
            <p:spPr>
              <a:xfrm>
                <a:off x="123825" y="5958531"/>
                <a:ext cx="89207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a,b,c,e,d</a:t>
                </a:r>
                <a:r>
                  <a:rPr lang="en-US" dirty="0"/>
                  <a:t>	---	---		----		-------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----		7(</a:t>
                </a:r>
                <a:r>
                  <a:rPr lang="en-US" dirty="0" err="1"/>
                  <a:t>a,b,e,d</a:t>
                </a:r>
                <a:r>
                  <a:rPr lang="en-US" dirty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DA76AD-A494-4D41-86E1-482CAC79B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25" y="5958531"/>
                <a:ext cx="8920784" cy="369332"/>
              </a:xfrm>
              <a:prstGeom prst="rect">
                <a:avLst/>
              </a:prstGeom>
              <a:blipFill>
                <a:blip r:embed="rId7"/>
                <a:stretch>
                  <a:fillRect l="-546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B5AA765-A512-4545-9F7E-1E8B0C8F193B}"/>
              </a:ext>
            </a:extLst>
          </p:cNvPr>
          <p:cNvSpPr txBox="1"/>
          <p:nvPr/>
        </p:nvSpPr>
        <p:spPr>
          <a:xfrm>
            <a:off x="906171" y="6327863"/>
            <a:ext cx="7036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Shortest Path from a to z = </a:t>
            </a:r>
            <a:r>
              <a:rPr lang="en-US" dirty="0" err="1"/>
              <a:t>abedz</a:t>
            </a:r>
            <a:r>
              <a:rPr lang="en-US" dirty="0"/>
              <a:t>, Length=7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448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Dijkstra’s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C28D5F-D36F-4E18-9704-97E7919118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07" r="2027"/>
          <a:stretch/>
        </p:blipFill>
        <p:spPr>
          <a:xfrm>
            <a:off x="691098" y="1170356"/>
            <a:ext cx="7684495" cy="2533951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D80CB9-A815-4DF0-99C5-843487124044}"/>
              </a:ext>
            </a:extLst>
          </p:cNvPr>
          <p:cNvCxnSpPr>
            <a:cxnSpLocks/>
          </p:cNvCxnSpPr>
          <p:nvPr/>
        </p:nvCxnSpPr>
        <p:spPr>
          <a:xfrm flipV="1">
            <a:off x="0" y="3988179"/>
            <a:ext cx="9144000" cy="2722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9EC3031-E591-451A-993C-500C84E3F27E}"/>
              </a:ext>
            </a:extLst>
          </p:cNvPr>
          <p:cNvCxnSpPr>
            <a:cxnSpLocks/>
          </p:cNvCxnSpPr>
          <p:nvPr/>
        </p:nvCxnSpPr>
        <p:spPr>
          <a:xfrm>
            <a:off x="1146312" y="2797587"/>
            <a:ext cx="0" cy="380862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4F648E3-23C4-431F-AA3E-34521F86EE56}"/>
              </a:ext>
            </a:extLst>
          </p:cNvPr>
          <p:cNvSpPr txBox="1"/>
          <p:nvPr/>
        </p:nvSpPr>
        <p:spPr>
          <a:xfrm>
            <a:off x="155711" y="3098854"/>
            <a:ext cx="938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8D5341-B38E-4E5F-B40E-5C4A2A87B06B}"/>
                  </a:ext>
                </a:extLst>
              </p:cNvPr>
              <p:cNvSpPr txBox="1"/>
              <p:nvPr/>
            </p:nvSpPr>
            <p:spPr>
              <a:xfrm>
                <a:off x="-38514" y="5145401"/>
                <a:ext cx="91825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a,c,b,d</a:t>
                </a:r>
                <a:r>
                  <a:rPr lang="en-US" dirty="0"/>
                  <a:t>		--     ---		---		---		7(</a:t>
                </a:r>
                <a:r>
                  <a:rPr lang="en-US" dirty="0" err="1"/>
                  <a:t>a,c,d</a:t>
                </a:r>
                <a:r>
                  <a:rPr lang="en-US" dirty="0"/>
                  <a:t>)	11(</a:t>
                </a:r>
                <a:r>
                  <a:rPr lang="en-US" dirty="0" err="1"/>
                  <a:t>a,c,d</a:t>
                </a:r>
                <a:r>
                  <a:rPr lang="en-US" dirty="0"/>
                  <a:t>)	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IN" dirty="0"/>
                  <a:t>		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8D5341-B38E-4E5F-B40E-5C4A2A87B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514" y="5145401"/>
                <a:ext cx="9182514" cy="369332"/>
              </a:xfrm>
              <a:prstGeom prst="rect">
                <a:avLst/>
              </a:prstGeom>
              <a:blipFill>
                <a:blip r:embed="rId3"/>
                <a:stretch>
                  <a:fillRect l="-59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CE14FF-4DD2-4310-AF3C-F60B78D50C05}"/>
                  </a:ext>
                </a:extLst>
              </p:cNvPr>
              <p:cNvSpPr txBox="1"/>
              <p:nvPr/>
            </p:nvSpPr>
            <p:spPr>
              <a:xfrm>
                <a:off x="-57565" y="5540775"/>
                <a:ext cx="90624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a,c,b,d,e		--	---		---		---		---		11(</a:t>
                </a:r>
                <a:r>
                  <a:rPr lang="en-US" dirty="0" err="1"/>
                  <a:t>a,c,d</a:t>
                </a:r>
                <a:r>
                  <a:rPr lang="en-US" dirty="0"/>
                  <a:t>)	12(</a:t>
                </a:r>
                <a:r>
                  <a:rPr lang="en-US" dirty="0" err="1"/>
                  <a:t>a,c,d,e</a:t>
                </a:r>
                <a:r>
                  <a:rPr lang="en-US" dirty="0"/>
                  <a:t>)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CE14FF-4DD2-4310-AF3C-F60B78D50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565" y="5540775"/>
                <a:ext cx="9062417" cy="369332"/>
              </a:xfrm>
              <a:prstGeom prst="rect">
                <a:avLst/>
              </a:prstGeom>
              <a:blipFill>
                <a:blip r:embed="rId4"/>
                <a:stretch>
                  <a:fillRect l="-606"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FE9FB-BD04-407F-B4F0-0FA2DE60A984}"/>
                  </a:ext>
                </a:extLst>
              </p:cNvPr>
              <p:cNvSpPr txBox="1"/>
              <p:nvPr/>
            </p:nvSpPr>
            <p:spPr>
              <a:xfrm>
                <a:off x="-67090" y="5841666"/>
                <a:ext cx="114772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a,c,b,d,e,f</a:t>
                </a:r>
                <a:r>
                  <a:rPr lang="en-US" dirty="0"/>
                  <a:t>	--	---		---		---		---		---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12(</m:t>
                    </m:r>
                    <m:r>
                      <m:rPr>
                        <m:nor/>
                      </m:rPr>
                      <a:rPr lang="en-US" dirty="0"/>
                      <m:t>a</m:t>
                    </m:r>
                    <m:r>
                      <m:rPr>
                        <m:nor/>
                      </m:rPr>
                      <a:rPr lang="en-US" dirty="0"/>
                      <m:t>,</m:t>
                    </m:r>
                    <m:r>
                      <m:rPr>
                        <m:nor/>
                      </m:rPr>
                      <a:rPr lang="en-US" dirty="0"/>
                      <m:t>c</m:t>
                    </m:r>
                    <m:r>
                      <m:rPr>
                        <m:nor/>
                      </m:rPr>
                      <a:rPr lang="en-US" dirty="0"/>
                      <m:t>,</m:t>
                    </m:r>
                    <m:r>
                      <m:rPr>
                        <m:nor/>
                      </m:rPr>
                      <a:rPr lang="en-US" dirty="0"/>
                      <m:t>d</m:t>
                    </m:r>
                    <m:r>
                      <m:rPr>
                        <m:nor/>
                      </m:rPr>
                      <a:rPr lang="en-US" dirty="0"/>
                      <m:t>,</m:t>
                    </m:r>
                    <m:r>
                      <m:rPr>
                        <m:nor/>
                      </m:rPr>
                      <a:rPr lang="en-US" dirty="0"/>
                      <m:t>e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r>
                  <a:rPr lang="en-US" dirty="0"/>
                  <a:t>	18(</a:t>
                </a:r>
                <a:r>
                  <a:rPr lang="en-US" dirty="0" err="1"/>
                  <a:t>acdf</a:t>
                </a:r>
                <a:r>
                  <a:rPr lang="en-US" dirty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FE9FB-BD04-407F-B4F0-0FA2DE60A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7090" y="5841666"/>
                <a:ext cx="11477207" cy="369332"/>
              </a:xfrm>
              <a:prstGeom prst="rect">
                <a:avLst/>
              </a:prstGeom>
              <a:blipFill>
                <a:blip r:embed="rId5"/>
                <a:stretch>
                  <a:fillRect l="-47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A92E725-F4E4-4104-AAF3-1565B38C5D4D}"/>
                  </a:ext>
                </a:extLst>
              </p:cNvPr>
              <p:cNvSpPr txBox="1"/>
              <p:nvPr/>
            </p:nvSpPr>
            <p:spPr>
              <a:xfrm>
                <a:off x="-76615" y="6096165"/>
                <a:ext cx="12371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a,c,b,d,e,f,g</a:t>
                </a:r>
                <a:r>
                  <a:rPr lang="en-US" dirty="0"/>
                  <a:t>	--	---		---		---		---		---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−−−</m:t>
                    </m:r>
                  </m:oMath>
                </a14:m>
                <a:r>
                  <a:rPr lang="en-US" dirty="0"/>
                  <a:t>			16(</a:t>
                </a:r>
                <a:r>
                  <a:rPr lang="en-US" dirty="0" err="1"/>
                  <a:t>acdeg</a:t>
                </a:r>
                <a:r>
                  <a:rPr lang="en-US" dirty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A92E725-F4E4-4104-AAF3-1565B38C5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615" y="6096165"/>
                <a:ext cx="12371317" cy="369332"/>
              </a:xfrm>
              <a:prstGeom prst="rect">
                <a:avLst/>
              </a:prstGeom>
              <a:blipFill>
                <a:blip r:embed="rId6"/>
                <a:stretch>
                  <a:fillRect l="-394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8CAD3C9C-2589-4861-8624-504B2A6B3B08}"/>
              </a:ext>
            </a:extLst>
          </p:cNvPr>
          <p:cNvSpPr txBox="1"/>
          <p:nvPr/>
        </p:nvSpPr>
        <p:spPr>
          <a:xfrm>
            <a:off x="2180813" y="6416036"/>
            <a:ext cx="4929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Shortest Path from a to z = </a:t>
            </a:r>
            <a:r>
              <a:rPr lang="en-US" dirty="0" err="1"/>
              <a:t>acdegz</a:t>
            </a:r>
            <a:r>
              <a:rPr lang="en-US" dirty="0"/>
              <a:t>, Length=16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F51F34-CEB1-4757-B230-B88B8ECBDC91}"/>
              </a:ext>
            </a:extLst>
          </p:cNvPr>
          <p:cNvSpPr txBox="1"/>
          <p:nvPr/>
        </p:nvSpPr>
        <p:spPr>
          <a:xfrm>
            <a:off x="14497" y="3654244"/>
            <a:ext cx="8990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	a	b		c		d		e		f		g			z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68856FD-BB78-4DF8-9284-D39E9FE8D4A3}"/>
                  </a:ext>
                </a:extLst>
              </p:cNvPr>
              <p:cNvSpPr txBox="1"/>
              <p:nvPr/>
            </p:nvSpPr>
            <p:spPr>
              <a:xfrm>
                <a:off x="14497" y="3974310"/>
                <a:ext cx="84834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			0	4(a)		3(a)	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 </m:t>
                    </m:r>
                  </m:oMath>
                </a14:m>
                <a:r>
                  <a:rPr lang="en-US" dirty="0"/>
                  <a:t>	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 </m:t>
                    </m:r>
                  </m:oMath>
                </a14:m>
                <a:r>
                  <a:rPr lang="en-US" dirty="0"/>
                  <a:t>	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 </m:t>
                    </m:r>
                  </m:oMath>
                </a14:m>
                <a:r>
                  <a:rPr lang="en-US" dirty="0"/>
                  <a:t>	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 </m:t>
                    </m:r>
                  </m:oMath>
                </a14:m>
                <a:r>
                  <a:rPr lang="en-US" dirty="0"/>
                  <a:t>		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68856FD-BB78-4DF8-9284-D39E9FE8D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7" y="3974310"/>
                <a:ext cx="8483460" cy="369332"/>
              </a:xfrm>
              <a:prstGeom prst="rect">
                <a:avLst/>
              </a:prstGeom>
              <a:blipFill>
                <a:blip r:embed="rId7"/>
                <a:stretch>
                  <a:fillRect l="-575"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7FBDCDF-5DDC-4883-99A3-52C2EAF49D31}"/>
                  </a:ext>
                </a:extLst>
              </p:cNvPr>
              <p:cNvSpPr txBox="1"/>
              <p:nvPr/>
            </p:nvSpPr>
            <p:spPr>
              <a:xfrm>
                <a:off x="7872" y="4414947"/>
                <a:ext cx="91825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a,c</a:t>
                </a:r>
                <a:r>
                  <a:rPr lang="en-US" dirty="0"/>
                  <a:t>			--	4(a)		---		6(</a:t>
                </a:r>
                <a:r>
                  <a:rPr lang="en-US" dirty="0" err="1"/>
                  <a:t>a,c</a:t>
                </a:r>
                <a:r>
                  <a:rPr lang="en-US" dirty="0"/>
                  <a:t>)	9(</a:t>
                </a:r>
                <a:r>
                  <a:rPr lang="en-US" dirty="0" err="1"/>
                  <a:t>a,c</a:t>
                </a:r>
                <a:r>
                  <a:rPr lang="en-US" dirty="0"/>
                  <a:t>)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 </m:t>
                    </m:r>
                  </m:oMath>
                </a14:m>
                <a:r>
                  <a:rPr lang="en-US" dirty="0"/>
                  <a:t>	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 </m:t>
                    </m:r>
                  </m:oMath>
                </a14:m>
                <a:r>
                  <a:rPr lang="en-US" dirty="0"/>
                  <a:t>		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 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7FBDCDF-5DDC-4883-99A3-52C2EAF49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2" y="4414947"/>
                <a:ext cx="9182514" cy="369332"/>
              </a:xfrm>
              <a:prstGeom prst="rect">
                <a:avLst/>
              </a:prstGeom>
              <a:blipFill>
                <a:blip r:embed="rId8"/>
                <a:stretch>
                  <a:fillRect l="-531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5EFB0F9-EAF9-4583-BA59-630DB6E0CB9B}"/>
                  </a:ext>
                </a:extLst>
              </p:cNvPr>
              <p:cNvSpPr txBox="1"/>
              <p:nvPr/>
            </p:nvSpPr>
            <p:spPr>
              <a:xfrm>
                <a:off x="-18630" y="4776069"/>
                <a:ext cx="9144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a,c,b</a:t>
                </a:r>
                <a:r>
                  <a:rPr lang="en-US" dirty="0"/>
                  <a:t>		--	---		---		6(</a:t>
                </a:r>
                <a:r>
                  <a:rPr lang="en-US" dirty="0" err="1"/>
                  <a:t>a,c</a:t>
                </a:r>
                <a:r>
                  <a:rPr lang="en-US" dirty="0"/>
                  <a:t>)	9(</a:t>
                </a:r>
                <a:r>
                  <a:rPr lang="en-US" dirty="0" err="1"/>
                  <a:t>a,c</a:t>
                </a:r>
                <a:r>
                  <a:rPr lang="en-US" dirty="0"/>
                  <a:t>) 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 </m:t>
                    </m:r>
                  </m:oMath>
                </a14:m>
                <a:r>
                  <a:rPr lang="en-US" dirty="0"/>
                  <a:t>	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 </m:t>
                    </m:r>
                  </m:oMath>
                </a14:m>
                <a:r>
                  <a:rPr lang="en-US" dirty="0"/>
                  <a:t>		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 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5EFB0F9-EAF9-4583-BA59-630DB6E0C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630" y="4776069"/>
                <a:ext cx="9144000" cy="369332"/>
              </a:xfrm>
              <a:prstGeom prst="rect">
                <a:avLst/>
              </a:prstGeom>
              <a:blipFill>
                <a:blip r:embed="rId9"/>
                <a:stretch>
                  <a:fillRect l="-600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66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/>
      <p:bldP spid="13" grpId="0"/>
      <p:bldP spid="14" grpId="0"/>
      <p:bldP spid="15" grpId="0"/>
      <p:bldP spid="22" grpId="0"/>
      <p:bldP spid="23" grpId="0"/>
      <p:bldP spid="24" grpId="0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Dijkstra’s Algorithm</a:t>
            </a:r>
          </a:p>
        </p:txBody>
      </p:sp>
      <p:sp>
        <p:nvSpPr>
          <p:cNvPr id="77" name="Title 1">
            <a:extLst>
              <a:ext uri="{FF2B5EF4-FFF2-40B4-BE49-F238E27FC236}">
                <a16:creationId xmlns:a16="http://schemas.microsoft.com/office/drawing/2014/main" id="{A223431A-3A54-47F1-8D50-1A2A402EAF02}"/>
              </a:ext>
            </a:extLst>
          </p:cNvPr>
          <p:cNvSpPr txBox="1">
            <a:spLocks/>
          </p:cNvSpPr>
          <p:nvPr/>
        </p:nvSpPr>
        <p:spPr>
          <a:xfrm>
            <a:off x="197772" y="1279660"/>
            <a:ext cx="874845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</a:rPr>
              <a:t>Find the length of a shortest path between a and z in the given weighted graph.</a:t>
            </a:r>
            <a:endParaRPr lang="en-IN" sz="2400" dirty="0"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8776AA-FB7B-4685-8CCE-D9F072738C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46" t="8701" b="5599"/>
          <a:stretch/>
        </p:blipFill>
        <p:spPr>
          <a:xfrm>
            <a:off x="954789" y="2622320"/>
            <a:ext cx="7255566" cy="364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360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Dijkstra’s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8776AA-FB7B-4685-8CCE-D9F072738C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46" t="8701" b="5599"/>
          <a:stretch/>
        </p:blipFill>
        <p:spPr>
          <a:xfrm>
            <a:off x="1839372" y="1315508"/>
            <a:ext cx="4402402" cy="221006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F4E52A-2585-4DC6-9738-01C2E14559BD}"/>
              </a:ext>
            </a:extLst>
          </p:cNvPr>
          <p:cNvCxnSpPr>
            <a:cxnSpLocks/>
          </p:cNvCxnSpPr>
          <p:nvPr/>
        </p:nvCxnSpPr>
        <p:spPr>
          <a:xfrm flipV="1">
            <a:off x="0" y="3968199"/>
            <a:ext cx="9143986" cy="4721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6514F0-4F5E-43D4-8179-DB0CF494A8E8}"/>
              </a:ext>
            </a:extLst>
          </p:cNvPr>
          <p:cNvCxnSpPr>
            <a:cxnSpLocks/>
          </p:cNvCxnSpPr>
          <p:nvPr/>
        </p:nvCxnSpPr>
        <p:spPr>
          <a:xfrm>
            <a:off x="1106556" y="3265077"/>
            <a:ext cx="0" cy="318873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35AB085-6A8E-4385-87BC-3228E6634672}"/>
              </a:ext>
            </a:extLst>
          </p:cNvPr>
          <p:cNvSpPr txBox="1"/>
          <p:nvPr/>
        </p:nvSpPr>
        <p:spPr>
          <a:xfrm>
            <a:off x="0" y="3188877"/>
            <a:ext cx="990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902586-9714-44EA-AE7B-C2696A138340}"/>
              </a:ext>
            </a:extLst>
          </p:cNvPr>
          <p:cNvSpPr txBox="1"/>
          <p:nvPr/>
        </p:nvSpPr>
        <p:spPr>
          <a:xfrm>
            <a:off x="6096000" y="3265077"/>
            <a:ext cx="990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Path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3122A9-DE91-4514-A90D-E0C5DD8D5488}"/>
                  </a:ext>
                </a:extLst>
              </p:cNvPr>
              <p:cNvSpPr txBox="1"/>
              <p:nvPr/>
            </p:nvSpPr>
            <p:spPr>
              <a:xfrm>
                <a:off x="123825" y="4027077"/>
                <a:ext cx="90201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		---	4(a)		2(a)	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 </m:t>
                    </m:r>
                  </m:oMath>
                </a14:m>
                <a:r>
                  <a:rPr lang="en-US" dirty="0"/>
                  <a:t>		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 </m:t>
                    </m:r>
                  </m:oMath>
                </a14:m>
                <a:r>
                  <a:rPr lang="en-US" dirty="0"/>
                  <a:t>		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3122A9-DE91-4514-A90D-E0C5DD8D5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25" y="4027077"/>
                <a:ext cx="9020161" cy="369332"/>
              </a:xfrm>
              <a:prstGeom prst="rect">
                <a:avLst/>
              </a:prstGeom>
              <a:blipFill>
                <a:blip r:embed="rId3"/>
                <a:stretch>
                  <a:fillRect l="-541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06B20E2-70F1-4AB8-A6AD-45AFA5A6A9A3}"/>
              </a:ext>
            </a:extLst>
          </p:cNvPr>
          <p:cNvSpPr txBox="1"/>
          <p:nvPr/>
        </p:nvSpPr>
        <p:spPr>
          <a:xfrm>
            <a:off x="670478" y="3551512"/>
            <a:ext cx="6883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a 	b		c		d			e			z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D82300-91AE-4ECA-83BF-A5C06025FEB3}"/>
                  </a:ext>
                </a:extLst>
              </p:cNvPr>
              <p:cNvSpPr txBox="1"/>
              <p:nvPr/>
            </p:nvSpPr>
            <p:spPr>
              <a:xfrm>
                <a:off x="123825" y="4560477"/>
                <a:ext cx="90201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a,c</a:t>
                </a:r>
                <a:r>
                  <a:rPr lang="en-US" dirty="0"/>
                  <a:t>		---	3(</a:t>
                </a:r>
                <a:r>
                  <a:rPr lang="en-US" dirty="0" err="1"/>
                  <a:t>a,c</a:t>
                </a:r>
                <a:r>
                  <a:rPr lang="en-US" dirty="0"/>
                  <a:t>)	----		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	12(</a:t>
                </a:r>
                <a:r>
                  <a:rPr lang="en-US" dirty="0" err="1"/>
                  <a:t>a,c</a:t>
                </a:r>
                <a:r>
                  <a:rPr lang="en-US" dirty="0"/>
                  <a:t>)	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D82300-91AE-4ECA-83BF-A5C06025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25" y="4560477"/>
                <a:ext cx="9020161" cy="369332"/>
              </a:xfrm>
              <a:prstGeom prst="rect">
                <a:avLst/>
              </a:prstGeom>
              <a:blipFill>
                <a:blip r:embed="rId4"/>
                <a:stretch>
                  <a:fillRect l="-541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399D29-6385-4394-BB18-02DD38395A89}"/>
                  </a:ext>
                </a:extLst>
              </p:cNvPr>
              <p:cNvSpPr txBox="1"/>
              <p:nvPr/>
            </p:nvSpPr>
            <p:spPr>
              <a:xfrm>
                <a:off x="152400" y="5170077"/>
                <a:ext cx="90201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a,c,b</a:t>
                </a:r>
                <a:r>
                  <a:rPr lang="en-US" dirty="0"/>
                  <a:t>	---	----		----		8(</a:t>
                </a:r>
                <a:r>
                  <a:rPr lang="en-US" dirty="0" err="1"/>
                  <a:t>a,c,b</a:t>
                </a:r>
                <a:r>
                  <a:rPr lang="en-US" dirty="0"/>
                  <a:t>)	 	 12(</a:t>
                </a:r>
                <a:r>
                  <a:rPr lang="en-US" dirty="0" err="1"/>
                  <a:t>a,c</a:t>
                </a:r>
                <a:r>
                  <a:rPr lang="en-US" dirty="0"/>
                  <a:t>)	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 </m:t>
                    </m:r>
                  </m:oMath>
                </a14:m>
                <a:r>
                  <a:rPr lang="en-US" dirty="0"/>
                  <a:t>	</a:t>
                </a:r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399D29-6385-4394-BB18-02DD38395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5170077"/>
                <a:ext cx="9020161" cy="369332"/>
              </a:xfrm>
              <a:prstGeom prst="rect">
                <a:avLst/>
              </a:prstGeom>
              <a:blipFill>
                <a:blip r:embed="rId5"/>
                <a:stretch>
                  <a:fillRect l="-541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56909BC-170E-400E-9FCF-7A336123EA6D}"/>
              </a:ext>
            </a:extLst>
          </p:cNvPr>
          <p:cNvSpPr txBox="1"/>
          <p:nvPr/>
        </p:nvSpPr>
        <p:spPr>
          <a:xfrm>
            <a:off x="152400" y="5703477"/>
            <a:ext cx="9020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a,c,b,d</a:t>
            </a:r>
            <a:r>
              <a:rPr lang="en-US" dirty="0"/>
              <a:t>	---	----		----		------	 	 10(</a:t>
            </a:r>
            <a:r>
              <a:rPr lang="en-US" dirty="0" err="1"/>
              <a:t>a,c,b,d</a:t>
            </a:r>
            <a:r>
              <a:rPr lang="en-US" dirty="0"/>
              <a:t>)	 14(</a:t>
            </a:r>
            <a:r>
              <a:rPr lang="en-US" dirty="0" err="1"/>
              <a:t>a,c,b,d</a:t>
            </a:r>
            <a:r>
              <a:rPr lang="en-US" dirty="0"/>
              <a:t>) 	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E1C416-A999-4686-9DBD-3CF23E47FF27}"/>
              </a:ext>
            </a:extLst>
          </p:cNvPr>
          <p:cNvSpPr txBox="1"/>
          <p:nvPr/>
        </p:nvSpPr>
        <p:spPr>
          <a:xfrm>
            <a:off x="152400" y="6084477"/>
            <a:ext cx="9020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a,c,b,d,e</a:t>
            </a:r>
            <a:r>
              <a:rPr lang="en-US" dirty="0"/>
              <a:t>	---	----		----		------	 	 --------	 13(</a:t>
            </a:r>
            <a:r>
              <a:rPr lang="en-US" dirty="0" err="1"/>
              <a:t>a,c,b,d,e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C5A80-DB5A-4DAE-9129-B9EC3DD192A8}"/>
              </a:ext>
            </a:extLst>
          </p:cNvPr>
          <p:cNvSpPr txBox="1"/>
          <p:nvPr/>
        </p:nvSpPr>
        <p:spPr>
          <a:xfrm>
            <a:off x="1550505" y="6376024"/>
            <a:ext cx="7513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Shortest Path from a to z = </a:t>
            </a:r>
            <a:r>
              <a:rPr lang="en-US" dirty="0" err="1"/>
              <a:t>a,c,b,d,e</a:t>
            </a:r>
            <a:r>
              <a:rPr lang="en-US" dirty="0"/>
              <a:t>, Length=13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947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/>
      <p:bldP spid="15" grpId="0"/>
      <p:bldP spid="16" grpId="0"/>
      <p:bldP spid="17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9898</TotalTime>
  <Words>1141</Words>
  <Application>Microsoft Office PowerPoint</Application>
  <PresentationFormat>On-screen Show (4:3)</PresentationFormat>
  <Paragraphs>95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</vt:lpstr>
      <vt:lpstr>Bahnschrift</vt:lpstr>
      <vt:lpstr>Bahnschrift SemiBold</vt:lpstr>
      <vt:lpstr>Calibri</vt:lpstr>
      <vt:lpstr>Cambria Math</vt:lpstr>
      <vt:lpstr>Office Theme</vt:lpstr>
      <vt:lpstr>EMTH403</vt:lpstr>
      <vt:lpstr>Lecture Outcomes</vt:lpstr>
      <vt:lpstr>Shortest Path Problem</vt:lpstr>
      <vt:lpstr>Shortest Path Problem</vt:lpstr>
      <vt:lpstr>Shortest Path Problem</vt:lpstr>
      <vt:lpstr>Shortest Path Problem</vt:lpstr>
      <vt:lpstr>Shortest Path Problem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video recording 1</cp:lastModifiedBy>
  <cp:revision>1534</cp:revision>
  <dcterms:created xsi:type="dcterms:W3CDTF">2020-12-04T05:20:56Z</dcterms:created>
  <dcterms:modified xsi:type="dcterms:W3CDTF">2021-01-22T05:31:33Z</dcterms:modified>
</cp:coreProperties>
</file>