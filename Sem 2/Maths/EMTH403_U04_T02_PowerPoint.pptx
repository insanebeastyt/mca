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handoutMasterIdLst>
    <p:handoutMasterId r:id="rId22"/>
  </p:handoutMasterIdLst>
  <p:sldIdLst>
    <p:sldId id="256" r:id="rId2"/>
    <p:sldId id="257" r:id="rId3"/>
    <p:sldId id="285" r:id="rId4"/>
    <p:sldId id="286" r:id="rId5"/>
    <p:sldId id="287" r:id="rId6"/>
    <p:sldId id="288" r:id="rId7"/>
    <p:sldId id="290" r:id="rId8"/>
    <p:sldId id="297" r:id="rId9"/>
    <p:sldId id="291" r:id="rId10"/>
    <p:sldId id="300" r:id="rId11"/>
    <p:sldId id="292" r:id="rId12"/>
    <p:sldId id="294" r:id="rId13"/>
    <p:sldId id="293" r:id="rId14"/>
    <p:sldId id="301" r:id="rId15"/>
    <p:sldId id="296" r:id="rId16"/>
    <p:sldId id="299" r:id="rId17"/>
    <p:sldId id="295" r:id="rId18"/>
    <p:sldId id="298" r:id="rId19"/>
    <p:sldId id="25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013A8035-ECEF-47C4-90A1-0C3215DAC7C2}">
          <p14:sldIdLst>
            <p14:sldId id="256"/>
            <p14:sldId id="257"/>
            <p14:sldId id="285"/>
            <p14:sldId id="286"/>
            <p14:sldId id="287"/>
            <p14:sldId id="288"/>
            <p14:sldId id="290"/>
            <p14:sldId id="297"/>
            <p14:sldId id="291"/>
            <p14:sldId id="300"/>
            <p14:sldId id="292"/>
            <p14:sldId id="294"/>
            <p14:sldId id="293"/>
            <p14:sldId id="301"/>
            <p14:sldId id="296"/>
            <p14:sldId id="299"/>
            <p14:sldId id="295"/>
            <p14:sldId id="298"/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D5F2"/>
    <a:srgbClr val="B9F7FF"/>
    <a:srgbClr val="00A2B8"/>
    <a:srgbClr val="00B6CC"/>
    <a:srgbClr val="4472C4"/>
    <a:srgbClr val="DDDDDD"/>
    <a:srgbClr val="BBBBBB"/>
    <a:srgbClr val="00B451"/>
    <a:srgbClr val="BA202B"/>
    <a:srgbClr val="CA62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143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9" d="100"/>
          <a:sy n="49" d="100"/>
        </p:scale>
        <p:origin x="1884" y="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F218DD-E614-4E73-B564-F8E0717E89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A14C21-F88B-4739-8F26-AA4DEEB64FA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11DE57-39A0-4263-A76B-22C3CE26C8E2}" type="datetimeFigureOut">
              <a:rPr lang="en-IN" smtClean="0"/>
              <a:t>26-12-2020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435058-CB50-45CA-B183-2892DE4A396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0C2E93-0834-4027-BDF9-2CBEA154774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BE93A7-2C4F-4D32-8895-81F23FF37A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8657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108F98-5817-4768-91E0-7435FEF7FFA1}" type="datetimeFigureOut">
              <a:rPr lang="en-IN" smtClean="0"/>
              <a:t>26-12-2020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5C79E5-282A-4490-B8CC-DC7602F73C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6600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822478E-B0D0-4983-A2EC-2C070D46FC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200"/>
          <a:stretch/>
        </p:blipFill>
        <p:spPr>
          <a:xfrm>
            <a:off x="-1" y="0"/>
            <a:ext cx="9144001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758813" y="1011007"/>
            <a:ext cx="4186084" cy="1001405"/>
          </a:xfrm>
        </p:spPr>
        <p:txBody>
          <a:bodyPr anchor="b">
            <a:noAutofit/>
          </a:bodyPr>
          <a:lstStyle>
            <a:lvl1pPr algn="r">
              <a:defRPr sz="7500">
                <a:ln>
                  <a:solidFill>
                    <a:srgbClr val="BA202B"/>
                  </a:solidFill>
                </a:ln>
                <a:solidFill>
                  <a:srgbClr val="CA628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EMTH403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758813" y="2012412"/>
            <a:ext cx="4186083" cy="838943"/>
          </a:xfrm>
        </p:spPr>
        <p:txBody>
          <a:bodyPr>
            <a:normAutofit/>
          </a:bodyPr>
          <a:lstStyle>
            <a:lvl1pPr marL="0" indent="0" algn="r">
              <a:buNone/>
              <a:defRPr sz="2800">
                <a:solidFill>
                  <a:srgbClr val="00206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Mathematical Foundation for Computer Science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6A5137-F38E-416C-BA01-890D57CBC895}"/>
              </a:ext>
            </a:extLst>
          </p:cNvPr>
          <p:cNvSpPr txBox="1"/>
          <p:nvPr userDrawn="1"/>
        </p:nvSpPr>
        <p:spPr>
          <a:xfrm>
            <a:off x="5369878" y="3852760"/>
            <a:ext cx="357501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IN" sz="2700" strike="noStrike" dirty="0">
                <a:solidFill>
                  <a:srgbClr val="BA202B"/>
                </a:solidFill>
                <a:effectLst/>
              </a:rPr>
              <a:t>Nitin K. Mishra (Ph.D.)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607290-3460-4AC4-ABC8-F072BD3D73E5}"/>
              </a:ext>
            </a:extLst>
          </p:cNvPr>
          <p:cNvSpPr txBox="1"/>
          <p:nvPr userDrawn="1"/>
        </p:nvSpPr>
        <p:spPr>
          <a:xfrm>
            <a:off x="5525729" y="4314425"/>
            <a:ext cx="34191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chemeClr val="bg2">
                    <a:lumMod val="25000"/>
                  </a:schemeClr>
                </a:solidFill>
              </a:rPr>
              <a:t>Associate Professor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92C86BC-E539-4EC2-9687-C9BAFAAFC1D8}"/>
              </a:ext>
            </a:extLst>
          </p:cNvPr>
          <p:cNvCxnSpPr>
            <a:cxnSpLocks/>
          </p:cNvCxnSpPr>
          <p:nvPr userDrawn="1"/>
        </p:nvCxnSpPr>
        <p:spPr>
          <a:xfrm flipH="1">
            <a:off x="5525729" y="4805586"/>
            <a:ext cx="3342972" cy="0"/>
          </a:xfrm>
          <a:prstGeom prst="line">
            <a:avLst/>
          </a:prstGeom>
          <a:ln w="38100">
            <a:solidFill>
              <a:srgbClr val="89E2EB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712CEEC-655E-468A-942D-1D746D27486B}"/>
              </a:ext>
            </a:extLst>
          </p:cNvPr>
          <p:cNvCxnSpPr>
            <a:cxnSpLocks/>
          </p:cNvCxnSpPr>
          <p:nvPr userDrawn="1"/>
        </p:nvCxnSpPr>
        <p:spPr>
          <a:xfrm flipH="1">
            <a:off x="5525729" y="4360591"/>
            <a:ext cx="3342972" cy="0"/>
          </a:xfrm>
          <a:prstGeom prst="line">
            <a:avLst/>
          </a:prstGeom>
          <a:ln w="38100">
            <a:solidFill>
              <a:srgbClr val="89E2EB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5389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earning Outcome">
    <p:bg>
      <p:bgPr>
        <a:blipFill dpi="0" rotWithShape="1">
          <a:blip r:embed="rId2">
            <a:alphaModFix amt="2000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52A9DAD-2222-4EAA-A984-73EA804BABC9}"/>
              </a:ext>
            </a:extLst>
          </p:cNvPr>
          <p:cNvSpPr/>
          <p:nvPr userDrawn="1"/>
        </p:nvSpPr>
        <p:spPr>
          <a:xfrm>
            <a:off x="0" y="-1"/>
            <a:ext cx="9144000" cy="2113936"/>
          </a:xfrm>
          <a:prstGeom prst="rect">
            <a:avLst/>
          </a:prstGeom>
          <a:gradFill flip="none" rotWithShape="1">
            <a:gsLst>
              <a:gs pos="78000">
                <a:schemeClr val="accent3">
                  <a:lumMod val="0"/>
                  <a:lumOff val="100000"/>
                </a:schemeClr>
              </a:gs>
              <a:gs pos="45000">
                <a:srgbClr val="00A2B8"/>
              </a:gs>
            </a:gsLst>
            <a:lin ang="0" scaled="0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3290" y="0"/>
            <a:ext cx="5191433" cy="2113935"/>
          </a:xfrm>
        </p:spPr>
        <p:txBody>
          <a:bodyPr>
            <a:normAutofit/>
          </a:bodyPr>
          <a:lstStyle>
            <a:lvl1pPr>
              <a:defRPr sz="5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Lecture</a:t>
            </a:r>
            <a:br>
              <a:rPr lang="en-US" dirty="0"/>
            </a:br>
            <a:r>
              <a:rPr lang="en-US" dirty="0"/>
              <a:t>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63560" y="2883188"/>
            <a:ext cx="7934633" cy="3500283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buClr>
                <a:srgbClr val="00A2B8"/>
              </a:buClr>
              <a:defRPr/>
            </a:lvl1pPr>
            <a:lvl2pPr>
              <a:buClr>
                <a:srgbClr val="00A2B8"/>
              </a:buClr>
              <a:defRPr sz="2800"/>
            </a:lvl2pPr>
            <a:lvl3pPr>
              <a:buClr>
                <a:srgbClr val="00A2B8"/>
              </a:buClr>
              <a:defRPr/>
            </a:lvl3pPr>
            <a:lvl4pPr>
              <a:buClr>
                <a:srgbClr val="00A2B8"/>
              </a:buClr>
              <a:defRPr/>
            </a:lvl4pPr>
            <a:lvl5pPr>
              <a:buClr>
                <a:srgbClr val="00A2B8"/>
              </a:buClr>
              <a:defRPr/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</p:txBody>
      </p:sp>
      <p:pic>
        <p:nvPicPr>
          <p:cNvPr id="11" name="Graphic 10" descr="Target">
            <a:extLst>
              <a:ext uri="{FF2B5EF4-FFF2-40B4-BE49-F238E27FC236}">
                <a16:creationId xmlns:a16="http://schemas.microsoft.com/office/drawing/2014/main" id="{8709446A-BD58-42FE-8058-90C6B724402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26708" y="98321"/>
            <a:ext cx="1917292" cy="191729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8377C6D-0C30-48F0-89AC-23D3E98F9A33}"/>
              </a:ext>
            </a:extLst>
          </p:cNvPr>
          <p:cNvSpPr txBox="1"/>
          <p:nvPr userDrawn="1"/>
        </p:nvSpPr>
        <p:spPr>
          <a:xfrm>
            <a:off x="393290" y="2298413"/>
            <a:ext cx="68451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/>
              <a:t>After this lecture, you will be able to</a:t>
            </a:r>
          </a:p>
        </p:txBody>
      </p:sp>
    </p:spTree>
    <p:extLst>
      <p:ext uri="{BB962C8B-B14F-4D97-AF65-F5344CB8AC3E}">
        <p14:creationId xmlns:p14="http://schemas.microsoft.com/office/powerpoint/2010/main" val="646160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bg>
      <p:bgPr>
        <a:blipFill dpi="0" rotWithShape="1">
          <a:blip r:embed="rId2">
            <a:alphaModFix amt="2000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52A9DAD-2222-4EAA-A984-73EA804BABC9}"/>
              </a:ext>
            </a:extLst>
          </p:cNvPr>
          <p:cNvSpPr/>
          <p:nvPr userDrawn="1"/>
        </p:nvSpPr>
        <p:spPr>
          <a:xfrm>
            <a:off x="0" y="0"/>
            <a:ext cx="9144000" cy="1080000"/>
          </a:xfrm>
          <a:prstGeom prst="rect">
            <a:avLst/>
          </a:prstGeom>
          <a:solidFill>
            <a:srgbClr val="00A2B8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290" y="1"/>
            <a:ext cx="8504904" cy="108000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290" y="1248698"/>
            <a:ext cx="8504904" cy="5338916"/>
          </a:xfrm>
        </p:spPr>
        <p:txBody>
          <a:bodyPr/>
          <a:lstStyle>
            <a:lvl1pPr>
              <a:lnSpc>
                <a:spcPct val="150000"/>
              </a:lnSpc>
              <a:buClr>
                <a:srgbClr val="00A2B8"/>
              </a:buClr>
              <a:defRPr/>
            </a:lvl1pPr>
            <a:lvl2pPr>
              <a:lnSpc>
                <a:spcPct val="150000"/>
              </a:lnSpc>
              <a:buClr>
                <a:srgbClr val="00A2B8"/>
              </a:buClr>
              <a:defRPr/>
            </a:lvl2pPr>
            <a:lvl3pPr>
              <a:lnSpc>
                <a:spcPct val="150000"/>
              </a:lnSpc>
              <a:buClr>
                <a:srgbClr val="00A2B8"/>
              </a:buClr>
              <a:defRPr/>
            </a:lvl3pPr>
            <a:lvl4pPr>
              <a:lnSpc>
                <a:spcPct val="150000"/>
              </a:lnSpc>
              <a:buClr>
                <a:srgbClr val="00A2B8"/>
              </a:buClr>
              <a:defRPr/>
            </a:lvl4pPr>
            <a:lvl5pPr>
              <a:lnSpc>
                <a:spcPct val="150000"/>
              </a:lnSpc>
              <a:buClr>
                <a:srgbClr val="00A2B8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091E1C-13AA-4430-B0AB-E932AEDB367A}"/>
              </a:ext>
            </a:extLst>
          </p:cNvPr>
          <p:cNvSpPr txBox="1"/>
          <p:nvPr userDrawn="1"/>
        </p:nvSpPr>
        <p:spPr>
          <a:xfrm>
            <a:off x="33867" y="6666614"/>
            <a:ext cx="911013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00" dirty="0"/>
              <a:t>Content Source: 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Discrete Mathematics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 and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Its Applications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. Seventh Edition.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Kenneth H. Rosen. Monmouth University. Prepared by Jerrold W. Grossman, Oakland University.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 (and formerly AT&amp;T Laboratories)</a:t>
            </a:r>
            <a:endParaRPr lang="en-IN" sz="700" dirty="0"/>
          </a:p>
        </p:txBody>
      </p:sp>
    </p:spTree>
    <p:extLst>
      <p:ext uri="{BB962C8B-B14F-4D97-AF65-F5344CB8AC3E}">
        <p14:creationId xmlns:p14="http://schemas.microsoft.com/office/powerpoint/2010/main" val="225208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 (whit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52A9DAD-2222-4EAA-A984-73EA804BABC9}"/>
              </a:ext>
            </a:extLst>
          </p:cNvPr>
          <p:cNvSpPr/>
          <p:nvPr userDrawn="1"/>
        </p:nvSpPr>
        <p:spPr>
          <a:xfrm>
            <a:off x="0" y="0"/>
            <a:ext cx="9144000" cy="1080000"/>
          </a:xfrm>
          <a:prstGeom prst="rect">
            <a:avLst/>
          </a:prstGeom>
          <a:solidFill>
            <a:srgbClr val="00A2B8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290" y="1"/>
            <a:ext cx="8504904" cy="108000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290" y="1248697"/>
            <a:ext cx="8504904" cy="5338916"/>
          </a:xfrm>
        </p:spPr>
        <p:txBody>
          <a:bodyPr/>
          <a:lstStyle>
            <a:lvl1pPr>
              <a:lnSpc>
                <a:spcPct val="150000"/>
              </a:lnSpc>
              <a:buClr>
                <a:srgbClr val="00A2B8"/>
              </a:buClr>
              <a:defRPr/>
            </a:lvl1pPr>
            <a:lvl2pPr>
              <a:lnSpc>
                <a:spcPct val="150000"/>
              </a:lnSpc>
              <a:buClr>
                <a:srgbClr val="00A2B8"/>
              </a:buClr>
              <a:defRPr/>
            </a:lvl2pPr>
            <a:lvl3pPr>
              <a:lnSpc>
                <a:spcPct val="150000"/>
              </a:lnSpc>
              <a:buClr>
                <a:srgbClr val="00A2B8"/>
              </a:buClr>
              <a:defRPr/>
            </a:lvl3pPr>
            <a:lvl4pPr>
              <a:lnSpc>
                <a:spcPct val="150000"/>
              </a:lnSpc>
              <a:buClr>
                <a:srgbClr val="00A2B8"/>
              </a:buClr>
              <a:defRPr/>
            </a:lvl4pPr>
            <a:lvl5pPr>
              <a:lnSpc>
                <a:spcPct val="150000"/>
              </a:lnSpc>
              <a:buClr>
                <a:srgbClr val="00A2B8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40D22A-9F0E-4024-A4A6-FCCE6CB60E86}"/>
              </a:ext>
            </a:extLst>
          </p:cNvPr>
          <p:cNvSpPr txBox="1"/>
          <p:nvPr userDrawn="1"/>
        </p:nvSpPr>
        <p:spPr>
          <a:xfrm>
            <a:off x="33867" y="6666614"/>
            <a:ext cx="911013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00" dirty="0"/>
              <a:t>Content Source: 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Discrete Mathematics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 and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Its Applications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. Seventh Edition.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Kenneth H. Rosen. Monmouth University. Prepared by Jerrold W. Grossman, Oakland University.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 (and formerly AT&amp;T Laboratories)</a:t>
            </a:r>
            <a:endParaRPr lang="en-IN" sz="700" dirty="0"/>
          </a:p>
        </p:txBody>
      </p:sp>
    </p:spTree>
    <p:extLst>
      <p:ext uri="{BB962C8B-B14F-4D97-AF65-F5344CB8AC3E}">
        <p14:creationId xmlns:p14="http://schemas.microsoft.com/office/powerpoint/2010/main" val="4026521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26-12-2020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4310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26-12-2020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4989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26-12-2020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0985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26-12-2020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9219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26-12-2020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3743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"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D41FF5F-8082-499F-9B42-B9953F7F83AE}"/>
              </a:ext>
            </a:extLst>
          </p:cNvPr>
          <p:cNvSpPr txBox="1"/>
          <p:nvPr userDrawn="1"/>
        </p:nvSpPr>
        <p:spPr>
          <a:xfrm>
            <a:off x="1620711" y="2869012"/>
            <a:ext cx="590257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5400" dirty="0">
                <a:solidFill>
                  <a:srgbClr val="00A2B8"/>
                </a:solidFill>
                <a:effectLst/>
              </a:rPr>
              <a:t>That’s all for now…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376A0C7-0E66-445E-9D28-DB789C63D202}"/>
              </a:ext>
            </a:extLst>
          </p:cNvPr>
          <p:cNvCxnSpPr>
            <a:cxnSpLocks/>
          </p:cNvCxnSpPr>
          <p:nvPr userDrawn="1"/>
        </p:nvCxnSpPr>
        <p:spPr>
          <a:xfrm>
            <a:off x="1720645" y="3654690"/>
            <a:ext cx="5624052" cy="0"/>
          </a:xfrm>
          <a:prstGeom prst="line">
            <a:avLst/>
          </a:prstGeom>
          <a:ln w="31750">
            <a:solidFill>
              <a:srgbClr val="CA628C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6018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26-12-2020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8816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26-12-2020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85952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26-12-2020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67470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26-12-2020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4704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376987-CD5A-4B0D-82F1-8DDC56102557}" type="datetimeFigureOut">
              <a:rPr lang="en-IN" smtClean="0"/>
              <a:t>26-12-2020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6213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4" r:id="rId3"/>
    <p:sldLayoutId id="214748367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73" r:id="rId10"/>
    <p:sldLayoutId id="2147483668" r:id="rId11"/>
    <p:sldLayoutId id="2147483669" r:id="rId12"/>
    <p:sldLayoutId id="2147483670" r:id="rId13"/>
    <p:sldLayoutId id="2147483671" r:id="rId14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just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3B31A-26EC-4882-9FB2-E3790927BE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EMTH403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2FDE88-E809-4B0D-A49D-23F92304ED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Mathematical Foundation for Computer Science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8506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825CB-91D8-4BF1-84BC-BE57F1464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Lecture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62320-2170-46A9-8662-1BF0938F29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understand what are duals of Boolean expression.</a:t>
            </a:r>
          </a:p>
          <a:p>
            <a:r>
              <a:rPr lang="en-US" sz="2400" dirty="0"/>
              <a:t> understand what is a </a:t>
            </a:r>
            <a:r>
              <a:rPr lang="en-IN" sz="2400" dirty="0"/>
              <a:t>Complemented Lattice.</a:t>
            </a:r>
          </a:p>
          <a:p>
            <a:r>
              <a:rPr lang="en-IN" sz="2400" dirty="0"/>
              <a:t>understand what is Boolean Algebra. </a:t>
            </a:r>
            <a:endParaRPr lang="en-US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472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65969-44D9-4A16-9D0F-FD9428B23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Duality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C7B9A-8015-4FB4-8C24-4BC3D64C32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89" y="1248697"/>
            <a:ext cx="8392901" cy="54005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To explain the </a:t>
            </a:r>
            <a:r>
              <a:rPr lang="en-US" dirty="0">
                <a:solidFill>
                  <a:srgbClr val="FF0000"/>
                </a:solidFill>
              </a:rPr>
              <a:t>relationship between the two identities</a:t>
            </a:r>
            <a:r>
              <a:rPr lang="en-US" dirty="0"/>
              <a:t> in each pair we use the concept of a </a:t>
            </a:r>
            <a:r>
              <a:rPr lang="en-US" dirty="0">
                <a:solidFill>
                  <a:srgbClr val="FF0000"/>
                </a:solidFill>
              </a:rPr>
              <a:t>dual.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dual of a Boolean expression is obtained by </a:t>
            </a:r>
            <a:r>
              <a:rPr lang="en-US" dirty="0">
                <a:solidFill>
                  <a:srgbClr val="FF0000"/>
                </a:solidFill>
              </a:rPr>
              <a:t>interchanging </a:t>
            </a:r>
            <a:r>
              <a:rPr lang="en-US" dirty="0"/>
              <a:t>Boolean sums and Boolean products and interchanging 0s and 1s.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9476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65969-44D9-4A16-9D0F-FD9428B23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Duality</a:t>
            </a: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EC7B9A-8015-4FB4-8C24-4BC3D64C32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3289" y="1248697"/>
                <a:ext cx="8392901" cy="540058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solidFill>
                      <a:srgbClr val="FF0000"/>
                    </a:solidFill>
                  </a:rPr>
                  <a:t>Ques:- </a:t>
                </a:r>
                <a:r>
                  <a:rPr lang="en-US" dirty="0"/>
                  <a:t>Find the duals of x(y + 0) 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</m:e>
                    </m:acc>
                  </m:oMath>
                </a14:m>
                <a:r>
                  <a:rPr lang="en-US" dirty="0"/>
                  <a:t> · 1 + 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dirty="0"/>
                          <m:t>y</m:t>
                        </m:r>
                      </m:e>
                    </m:acc>
                  </m:oMath>
                </a14:m>
                <a:r>
                  <a:rPr lang="en-US" dirty="0"/>
                  <a:t> + z).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FF0000"/>
                    </a:solidFill>
                  </a:rPr>
                  <a:t>Sol:- </a:t>
                </a:r>
                <a:r>
                  <a:rPr lang="en-US" dirty="0"/>
                  <a:t>Interchanging · signs and + signs and interchanging 0s and 1s in these expressions produces their duals.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 duals are x + (y · 1) and (x + 0)(</a:t>
                </a:r>
                <a:r>
                  <a:rPr lang="en-US" dirty="0" err="1"/>
                  <a:t>yz</a:t>
                </a:r>
                <a:r>
                  <a:rPr lang="en-US" dirty="0"/>
                  <a:t>), respectively.</a:t>
                </a:r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EC7B9A-8015-4FB4-8C24-4BC3D64C32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3289" y="1248697"/>
                <a:ext cx="8392901" cy="5400581"/>
              </a:xfrm>
              <a:blipFill>
                <a:blip r:embed="rId2"/>
                <a:stretch>
                  <a:fillRect l="-1526" r="-152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33009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65969-44D9-4A16-9D0F-FD9428B23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Boolean algebra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EC7B9A-8015-4FB4-8C24-4BC3D64C32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3290" y="1248697"/>
                <a:ext cx="8283571" cy="5211737"/>
              </a:xfrm>
            </p:spPr>
            <p:txBody>
              <a:bodyPr>
                <a:normAutofit fontScale="85000" lnSpcReduction="10000"/>
              </a:bodyPr>
              <a:lstStyle/>
              <a:p>
                <a:pPr marL="0" indent="0">
                  <a:buNone/>
                </a:pPr>
                <a:r>
                  <a:rPr lang="en-IN" dirty="0"/>
                  <a:t>A </a:t>
                </a:r>
                <a:r>
                  <a:rPr lang="en-IN" dirty="0">
                    <a:solidFill>
                      <a:srgbClr val="FF0000"/>
                    </a:solidFill>
                  </a:rPr>
                  <a:t>Boolean algebra </a:t>
                </a:r>
                <a:r>
                  <a:rPr lang="en-IN" dirty="0"/>
                  <a:t>is a set B with two binary operations ∨ and ∧, elements 0 and 1, and a unary operation </a:t>
                </a:r>
                <a:r>
                  <a:rPr lang="en-IN" sz="5400" baseline="30000" dirty="0"/>
                  <a:t>-</a:t>
                </a:r>
                <a:r>
                  <a:rPr lang="en-IN" dirty="0"/>
                  <a:t> such that </a:t>
                </a:r>
                <a:r>
                  <a:rPr lang="en-IN" dirty="0">
                    <a:solidFill>
                      <a:srgbClr val="FF0000"/>
                    </a:solidFill>
                  </a:rPr>
                  <a:t>these properties hold </a:t>
                </a:r>
                <a:r>
                  <a:rPr lang="en-IN" dirty="0"/>
                  <a:t>for all x, y, and z in B:</a:t>
                </a:r>
              </a:p>
              <a:p>
                <a:pPr marL="0" indent="0">
                  <a:buNone/>
                </a:pPr>
                <a:r>
                  <a:rPr lang="en-IN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}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nor/>
                                </m:rPr>
                                <a:rPr lang="en-IN" dirty="0"/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IN" dirty="0"/>
                                <m:t> ∨ 0 = </m:t>
                              </m:r>
                              <m:r>
                                <m:rPr>
                                  <m:nor/>
                                </m:rPr>
                                <a:rPr lang="en-IN" dirty="0"/>
                                <m:t>x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nor/>
                                </m:rPr>
                                <a:rPr lang="en-IN" dirty="0"/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IN" dirty="0"/>
                                <m:t> ∧ 1 = </m:t>
                              </m:r>
                              <m:r>
                                <m:rPr>
                                  <m:nor/>
                                </m:rPr>
                                <a:rPr lang="en-IN" dirty="0"/>
                                <m:t>x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IN" dirty="0"/>
                  <a:t>				  Identity laws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"/>
                        <m:endChr m:val="}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nor/>
                                </m:rPr>
                                <a:rPr lang="en-IN" dirty="0"/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IN" i="1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IN"/>
                                <m:t>∨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acc>
                                <m:accPr>
                                  <m:chr m:val="̅"/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nor/>
                                    </m:rPr>
                                    <a:rPr lang="en-IN" dirty="0"/>
                                    <m:t>x</m:t>
                                  </m:r>
                                </m:e>
                              </m:acc>
                              <m:r>
                                <m:rPr>
                                  <m:nor/>
                                </m:rPr>
                                <a:rPr lang="en-IN"/>
                                <m:t>= 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nor/>
                                </m:rPr>
                                <a:rPr lang="en-IN" dirty="0"/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IN" b="0" i="0" dirty="0" smtClean="0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IN"/>
                                <m:t>∧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acc>
                                <m:accPr>
                                  <m:chr m:val="̅"/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nor/>
                                    </m:rPr>
                                    <a:rPr lang="en-IN" dirty="0"/>
                                    <m:t>x</m:t>
                                  </m:r>
                                </m:e>
                              </m:acc>
                              <m:r>
                                <m:rPr>
                                  <m:nor/>
                                </m:rPr>
                                <a:rPr lang="en-IN"/>
                                <m:t>= 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IN" dirty="0"/>
                  <a:t>			  	Complement laws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"/>
                        <m:endChr m:val="}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nor/>
                                </m:rPr>
                                <a:rPr lang="en-IN" dirty="0"/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en-IN" dirty="0"/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IN" dirty="0"/>
                                <m:t> ∨ </m:t>
                              </m:r>
                              <m:r>
                                <m:rPr>
                                  <m:nor/>
                                </m:rPr>
                                <a:rPr lang="en-IN" dirty="0"/>
                                <m:t>y</m:t>
                              </m:r>
                              <m:r>
                                <m:rPr>
                                  <m:nor/>
                                </m:rPr>
                                <a:rPr lang="en-IN" dirty="0"/>
                                <m:t>) ∨ </m:t>
                              </m:r>
                              <m:r>
                                <m:rPr>
                                  <m:nor/>
                                </m:rPr>
                                <a:rPr lang="en-IN" dirty="0"/>
                                <m:t>z</m:t>
                              </m:r>
                              <m:r>
                                <m:rPr>
                                  <m:nor/>
                                </m:rPr>
                                <a:rPr lang="en-IN" dirty="0"/>
                                <m:t> = </m:t>
                              </m:r>
                              <m:r>
                                <m:rPr>
                                  <m:nor/>
                                </m:rPr>
                                <a:rPr lang="en-IN" dirty="0"/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IN" dirty="0"/>
                                <m:t> ∨ (</m:t>
                              </m:r>
                              <m:r>
                                <m:rPr>
                                  <m:nor/>
                                </m:rPr>
                                <a:rPr lang="en-IN" dirty="0"/>
                                <m:t>y</m:t>
                              </m:r>
                              <m:r>
                                <m:rPr>
                                  <m:nor/>
                                </m:rPr>
                                <a:rPr lang="en-IN" dirty="0"/>
                                <m:t> ∨ </m:t>
                              </m:r>
                              <m:r>
                                <m:rPr>
                                  <m:nor/>
                                </m:rPr>
                                <a:rPr lang="en-IN" dirty="0"/>
                                <m:t>z</m:t>
                              </m:r>
                              <m:r>
                                <m:rPr>
                                  <m:nor/>
                                </m:rPr>
                                <a:rPr lang="en-IN" dirty="0"/>
                                <m:t>) 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nor/>
                                </m:rPr>
                                <a:rPr lang="en-IN" dirty="0"/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en-IN" dirty="0"/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IN" dirty="0"/>
                                <m:t> ∧ </m:t>
                              </m:r>
                              <m:r>
                                <m:rPr>
                                  <m:nor/>
                                </m:rPr>
                                <a:rPr lang="en-IN" dirty="0"/>
                                <m:t>y</m:t>
                              </m:r>
                              <m:r>
                                <m:rPr>
                                  <m:nor/>
                                </m:rPr>
                                <a:rPr lang="en-IN" dirty="0"/>
                                <m:t>) ∧ </m:t>
                              </m:r>
                              <m:r>
                                <m:rPr>
                                  <m:nor/>
                                </m:rPr>
                                <a:rPr lang="en-IN" dirty="0"/>
                                <m:t>z</m:t>
                              </m:r>
                              <m:r>
                                <m:rPr>
                                  <m:nor/>
                                </m:rPr>
                                <a:rPr lang="en-IN" dirty="0"/>
                                <m:t> = </m:t>
                              </m:r>
                              <m:r>
                                <m:rPr>
                                  <m:nor/>
                                </m:rPr>
                                <a:rPr lang="en-IN" dirty="0"/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IN" dirty="0"/>
                                <m:t> ∧ (</m:t>
                              </m:r>
                              <m:r>
                                <m:rPr>
                                  <m:nor/>
                                </m:rPr>
                                <a:rPr lang="en-IN" dirty="0"/>
                                <m:t>y</m:t>
                              </m:r>
                              <m:r>
                                <m:rPr>
                                  <m:nor/>
                                </m:rPr>
                                <a:rPr lang="en-IN" dirty="0"/>
                                <m:t> ∧ </m:t>
                              </m:r>
                              <m:r>
                                <m:rPr>
                                  <m:nor/>
                                </m:rPr>
                                <a:rPr lang="en-IN" dirty="0"/>
                                <m:t>z</m:t>
                              </m:r>
                              <m:r>
                                <m:rPr>
                                  <m:nor/>
                                </m:rPr>
                                <a:rPr lang="en-IN" dirty="0"/>
                                <m:t>)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IN" dirty="0"/>
                  <a:t>	 	Associative laws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EC7B9A-8015-4FB4-8C24-4BC3D64C32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3290" y="1248697"/>
                <a:ext cx="8283571" cy="5211737"/>
              </a:xfrm>
              <a:blipFill>
                <a:blip r:embed="rId2"/>
                <a:stretch>
                  <a:fillRect l="-1178" r="-11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1565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65969-44D9-4A16-9D0F-FD9428B23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Boolean algebra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EC7B9A-8015-4FB4-8C24-4BC3D64C32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3289" y="1248698"/>
                <a:ext cx="8392901" cy="5470154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IN" dirty="0"/>
                  <a:t>A Boolean algebra is a set B with two binary operations ∨ and ∧, elements 0 and 1, and a unary operation </a:t>
                </a:r>
                <a:r>
                  <a:rPr lang="en-IN" sz="5400" baseline="30000" dirty="0"/>
                  <a:t>-</a:t>
                </a:r>
                <a:r>
                  <a:rPr lang="en-IN" dirty="0"/>
                  <a:t> such that these properties hold for all x, y, and z in B: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"/>
                        <m:endChr m:val="}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nor/>
                                </m:rPr>
                                <a:rPr lang="en-IN" dirty="0"/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IN" dirty="0"/>
                                <m:t> ∨ </m:t>
                              </m:r>
                              <m:r>
                                <m:rPr>
                                  <m:nor/>
                                </m:rPr>
                                <a:rPr lang="en-IN" dirty="0"/>
                                <m:t>y</m:t>
                              </m:r>
                              <m:r>
                                <m:rPr>
                                  <m:nor/>
                                </m:rPr>
                                <a:rPr lang="en-IN" dirty="0"/>
                                <m:t> = </m:t>
                              </m:r>
                              <m:r>
                                <m:rPr>
                                  <m:nor/>
                                </m:rPr>
                                <a:rPr lang="en-IN" dirty="0"/>
                                <m:t>y</m:t>
                              </m:r>
                              <m:r>
                                <m:rPr>
                                  <m:nor/>
                                </m:rPr>
                                <a:rPr lang="en-IN" dirty="0"/>
                                <m:t> ∨ </m:t>
                              </m:r>
                              <m:r>
                                <m:rPr>
                                  <m:nor/>
                                </m:rPr>
                                <a:rPr lang="en-IN" dirty="0"/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IN" dirty="0"/>
                                <m:t> 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nor/>
                                </m:rPr>
                                <a:rPr lang="en-IN" dirty="0"/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IN" dirty="0"/>
                                <m:t> ∧ </m:t>
                              </m:r>
                              <m:r>
                                <m:rPr>
                                  <m:nor/>
                                </m:rPr>
                                <a:rPr lang="en-IN" dirty="0"/>
                                <m:t>y</m:t>
                              </m:r>
                              <m:r>
                                <m:rPr>
                                  <m:nor/>
                                </m:rPr>
                                <a:rPr lang="en-IN" dirty="0"/>
                                <m:t> = </m:t>
                              </m:r>
                              <m:r>
                                <m:rPr>
                                  <m:nor/>
                                </m:rPr>
                                <a:rPr lang="en-IN" dirty="0"/>
                                <m:t>y</m:t>
                              </m:r>
                              <m:r>
                                <m:rPr>
                                  <m:nor/>
                                </m:rPr>
                                <a:rPr lang="en-IN" dirty="0"/>
                                <m:t> ∧ </m:t>
                              </m:r>
                              <m:r>
                                <m:rPr>
                                  <m:nor/>
                                </m:rPr>
                                <a:rPr lang="en-IN" dirty="0"/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IN" dirty="0"/>
                                <m:t> 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IN" dirty="0"/>
                  <a:t>			          Commutative laws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"/>
                        <m:endChr m:val="}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nor/>
                                </m:rPr>
                                <a:rPr lang="en-IN" dirty="0"/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IN" dirty="0"/>
                                <m:t> ∨ (</m:t>
                              </m:r>
                              <m:r>
                                <m:rPr>
                                  <m:nor/>
                                </m:rPr>
                                <a:rPr lang="en-IN" dirty="0"/>
                                <m:t>y</m:t>
                              </m:r>
                              <m:r>
                                <m:rPr>
                                  <m:nor/>
                                </m:rPr>
                                <a:rPr lang="en-IN" dirty="0"/>
                                <m:t> ∧ </m:t>
                              </m:r>
                              <m:r>
                                <m:rPr>
                                  <m:nor/>
                                </m:rPr>
                                <a:rPr lang="en-IN" dirty="0"/>
                                <m:t>z</m:t>
                              </m:r>
                              <m:r>
                                <m:rPr>
                                  <m:nor/>
                                </m:rPr>
                                <a:rPr lang="en-IN" dirty="0"/>
                                <m:t>) = (</m:t>
                              </m:r>
                              <m:r>
                                <m:rPr>
                                  <m:nor/>
                                </m:rPr>
                                <a:rPr lang="en-IN" dirty="0"/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IN" dirty="0"/>
                                <m:t> ∨ </m:t>
                              </m:r>
                              <m:r>
                                <m:rPr>
                                  <m:nor/>
                                </m:rPr>
                                <a:rPr lang="en-IN" dirty="0"/>
                                <m:t>y</m:t>
                              </m:r>
                              <m:r>
                                <m:rPr>
                                  <m:nor/>
                                </m:rPr>
                                <a:rPr lang="en-IN" dirty="0"/>
                                <m:t>) ∧ (</m:t>
                              </m:r>
                              <m:r>
                                <m:rPr>
                                  <m:nor/>
                                </m:rPr>
                                <a:rPr lang="en-IN" dirty="0"/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IN" dirty="0"/>
                                <m:t> ∨ </m:t>
                              </m:r>
                              <m:r>
                                <m:rPr>
                                  <m:nor/>
                                </m:rPr>
                                <a:rPr lang="en-IN" dirty="0"/>
                                <m:t>z</m:t>
                              </m:r>
                              <m:r>
                                <m:rPr>
                                  <m:nor/>
                                </m:rPr>
                                <a:rPr lang="en-IN" dirty="0"/>
                                <m:t>) 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nor/>
                                </m:rPr>
                                <a:rPr lang="en-IN" dirty="0"/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IN" dirty="0"/>
                                <m:t> ∧ (</m:t>
                              </m:r>
                              <m:r>
                                <m:rPr>
                                  <m:nor/>
                                </m:rPr>
                                <a:rPr lang="en-IN" dirty="0"/>
                                <m:t>y</m:t>
                              </m:r>
                              <m:r>
                                <m:rPr>
                                  <m:nor/>
                                </m:rPr>
                                <a:rPr lang="en-IN" dirty="0"/>
                                <m:t> ∨ </m:t>
                              </m:r>
                              <m:r>
                                <m:rPr>
                                  <m:nor/>
                                </m:rPr>
                                <a:rPr lang="en-IN" dirty="0"/>
                                <m:t>z</m:t>
                              </m:r>
                              <m:r>
                                <m:rPr>
                                  <m:nor/>
                                </m:rPr>
                                <a:rPr lang="en-IN" dirty="0"/>
                                <m:t>) = (</m:t>
                              </m:r>
                              <m:r>
                                <m:rPr>
                                  <m:nor/>
                                </m:rPr>
                                <a:rPr lang="en-IN" dirty="0"/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IN" dirty="0"/>
                                <m:t> ∧ </m:t>
                              </m:r>
                              <m:r>
                                <m:rPr>
                                  <m:nor/>
                                </m:rPr>
                                <a:rPr lang="en-IN" dirty="0"/>
                                <m:t>y</m:t>
                              </m:r>
                              <m:r>
                                <m:rPr>
                                  <m:nor/>
                                </m:rPr>
                                <a:rPr lang="en-IN" dirty="0"/>
                                <m:t>) ∨ (</m:t>
                              </m:r>
                              <m:r>
                                <m:rPr>
                                  <m:nor/>
                                </m:rPr>
                                <a:rPr lang="en-IN" dirty="0"/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IN" dirty="0"/>
                                <m:t> ∧ </m:t>
                              </m:r>
                              <m:r>
                                <m:rPr>
                                  <m:nor/>
                                </m:rPr>
                                <a:rPr lang="en-IN" dirty="0"/>
                                <m:t>z</m:t>
                              </m:r>
                              <m:r>
                                <m:rPr>
                                  <m:nor/>
                                </m:rPr>
                                <a:rPr lang="en-IN" dirty="0"/>
                                <m:t>)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IN" dirty="0"/>
                  <a:t> 		Distributive laws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EC7B9A-8015-4FB4-8C24-4BC3D64C32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3289" y="1248698"/>
                <a:ext cx="8392901" cy="5470154"/>
              </a:xfrm>
              <a:blipFill>
                <a:blip r:embed="rId2"/>
                <a:stretch>
                  <a:fillRect l="-1308" r="-203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5183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65969-44D9-4A16-9D0F-FD9428B23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Boolean algebra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C7B9A-8015-4FB4-8C24-4BC3D64C32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89" y="1248698"/>
            <a:ext cx="8631441" cy="540058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Boolean algebras </a:t>
            </a:r>
            <a:r>
              <a:rPr lang="en-US" dirty="0">
                <a:solidFill>
                  <a:srgbClr val="FF0000"/>
                </a:solidFill>
              </a:rPr>
              <a:t>may also be defined </a:t>
            </a:r>
            <a:r>
              <a:rPr lang="en-US" dirty="0"/>
              <a:t>using the notion of a lattice, discussed earlier.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Lattice</a:t>
            </a:r>
            <a:r>
              <a:rPr lang="en-US" dirty="0"/>
              <a:t> L is a </a:t>
            </a:r>
            <a:r>
              <a:rPr lang="en-US" dirty="0">
                <a:solidFill>
                  <a:srgbClr val="FF0000"/>
                </a:solidFill>
              </a:rPr>
              <a:t>partially ordered set </a:t>
            </a:r>
            <a:r>
              <a:rPr lang="en-US" dirty="0"/>
              <a:t>in which every pair of elements x, y has a least upper bound, denoted by lub(x, y) and a greatest lower bound denoted by glb(x, y).</a:t>
            </a:r>
          </a:p>
          <a:p>
            <a:pPr marL="0" indent="0">
              <a:buNone/>
            </a:pPr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199771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65969-44D9-4A16-9D0F-FD9428B23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Boolean algebra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C7B9A-8015-4FB4-8C24-4BC3D64C32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89" y="1248698"/>
            <a:ext cx="8392901" cy="54701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Given two elements x and y of L, we can define two operations ∨ and ∧ on pairs of elements of L by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x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∨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y = lub(x, y) and x ∧ y = glb(x, y).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86679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65969-44D9-4A16-9D0F-FD9428B23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Boolean algebra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C7B9A-8015-4FB4-8C24-4BC3D64C32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89" y="1248698"/>
            <a:ext cx="8392901" cy="547015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For a lattice L to be a Boolean algebra, it must have two properties.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First, it must be </a:t>
            </a:r>
            <a:r>
              <a:rPr lang="en-US" dirty="0">
                <a:solidFill>
                  <a:srgbClr val="FF0000"/>
                </a:solidFill>
              </a:rPr>
              <a:t>complemented</a:t>
            </a:r>
            <a:r>
              <a:rPr lang="en-US" b="1" dirty="0"/>
              <a:t>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For a lattice to be complemented it must have a least element 0 and a greatest element 1 </a:t>
            </a:r>
            <a:br>
              <a:rPr lang="en-US" dirty="0"/>
            </a:br>
            <a:br>
              <a:rPr lang="en-US" dirty="0"/>
            </a:br>
            <a:r>
              <a:rPr lang="en-US" dirty="0">
                <a:solidFill>
                  <a:srgbClr val="FF0000"/>
                </a:solidFill>
              </a:rPr>
              <a:t>and</a:t>
            </a:r>
            <a:r>
              <a:rPr lang="en-US" dirty="0"/>
              <a:t> for every element x of the lattice there must exist </a:t>
            </a:r>
            <a:r>
              <a:rPr lang="en-US" b="1" dirty="0"/>
              <a:t>an element x</a:t>
            </a:r>
            <a:r>
              <a:rPr lang="en-US" dirty="0"/>
              <a:t> such that x ∨ x = 1 and x ∧ x = 0.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96975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65969-44D9-4A16-9D0F-FD9428B23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Boolean algebra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C7B9A-8015-4FB4-8C24-4BC3D64C32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89" y="1248698"/>
            <a:ext cx="8392901" cy="547015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For a lattice L to be a Boolean algebra, it must have two properties.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First, it must be </a:t>
            </a:r>
            <a:r>
              <a:rPr lang="en-US" dirty="0">
                <a:solidFill>
                  <a:srgbClr val="FF0000"/>
                </a:solidFill>
              </a:rPr>
              <a:t>complemented.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Second, it must be </a:t>
            </a:r>
            <a:r>
              <a:rPr lang="en-US" dirty="0">
                <a:solidFill>
                  <a:srgbClr val="FF0000"/>
                </a:solidFill>
              </a:rPr>
              <a:t>distributive.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means that for every x, y, and z in L, </a:t>
            </a:r>
            <a:r>
              <a:rPr lang="en-US" dirty="0">
                <a:solidFill>
                  <a:srgbClr val="FF0000"/>
                </a:solidFill>
              </a:rPr>
              <a:t>x ∨ (y ∧ z) = (x ∨ y) ∧ (x ∨ z)</a:t>
            </a:r>
            <a:r>
              <a:rPr lang="en-US" dirty="0"/>
              <a:t> and </a:t>
            </a:r>
            <a:r>
              <a:rPr lang="en-US" dirty="0">
                <a:solidFill>
                  <a:srgbClr val="FF0000"/>
                </a:solidFill>
              </a:rPr>
              <a:t>x ∧ (y ∨ z) = (x ∧ y) ∨ (x ∧ z).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16253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65969-44D9-4A16-9D0F-FD9428B23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Complemented Lattice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C7B9A-8015-4FB4-8C24-4BC3D64C32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89" y="1248698"/>
            <a:ext cx="8392901" cy="54701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A complemented lattice is a </a:t>
            </a:r>
            <a:r>
              <a:rPr lang="en-US" sz="2400" dirty="0">
                <a:solidFill>
                  <a:srgbClr val="FF0000"/>
                </a:solidFill>
              </a:rPr>
              <a:t>bounded lattice </a:t>
            </a:r>
            <a:r>
              <a:rPr lang="en-US" sz="2400" dirty="0"/>
              <a:t>(with least element 0 and greatest element 1), in which </a:t>
            </a:r>
            <a:r>
              <a:rPr lang="en-US" sz="2400" dirty="0">
                <a:solidFill>
                  <a:srgbClr val="FF0000"/>
                </a:solidFill>
              </a:rPr>
              <a:t>every element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has a complement, i.e. an element b satisfying a ∨ b = 1 and a ∧ b = 0. Complements </a:t>
            </a:r>
            <a:r>
              <a:rPr lang="en-US" sz="2400" dirty="0">
                <a:solidFill>
                  <a:srgbClr val="FF0000"/>
                </a:solidFill>
              </a:rPr>
              <a:t>need not be unique.</a:t>
            </a:r>
          </a:p>
          <a:p>
            <a:pPr marL="0" indent="0">
              <a:buNone/>
            </a:pPr>
            <a:endParaRPr lang="en-IN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8E87BE-4CB1-4BE5-8858-E7BD063FF9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87" y="4104862"/>
            <a:ext cx="8965226" cy="225618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837D9F5-73FF-47C8-B845-31C57C56502F}"/>
              </a:ext>
            </a:extLst>
          </p:cNvPr>
          <p:cNvSpPr txBox="1"/>
          <p:nvPr/>
        </p:nvSpPr>
        <p:spPr>
          <a:xfrm>
            <a:off x="1038016" y="4139822"/>
            <a:ext cx="2872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1</a:t>
            </a:r>
            <a:endParaRPr lang="en-IN" sz="2400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1B3296-F9DE-44C5-B926-EF3FA998FED7}"/>
              </a:ext>
            </a:extLst>
          </p:cNvPr>
          <p:cNvSpPr txBox="1"/>
          <p:nvPr/>
        </p:nvSpPr>
        <p:spPr>
          <a:xfrm>
            <a:off x="347411" y="4748435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a</a:t>
            </a:r>
            <a:endParaRPr lang="en-IN" sz="2400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DD33C5-CD9C-49D6-851E-8CEA0B7BF607}"/>
              </a:ext>
            </a:extLst>
          </p:cNvPr>
          <p:cNvSpPr txBox="1"/>
          <p:nvPr/>
        </p:nvSpPr>
        <p:spPr>
          <a:xfrm>
            <a:off x="1719011" y="4771288"/>
            <a:ext cx="2872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b</a:t>
            </a:r>
            <a:endParaRPr lang="en-IN" sz="2400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159E11-FF68-4FDA-A5B1-538C4E3F6DBF}"/>
              </a:ext>
            </a:extLst>
          </p:cNvPr>
          <p:cNvSpPr txBox="1"/>
          <p:nvPr/>
        </p:nvSpPr>
        <p:spPr>
          <a:xfrm>
            <a:off x="1009885" y="5899379"/>
            <a:ext cx="2872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0</a:t>
            </a:r>
            <a:endParaRPr lang="en-IN" sz="2400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0C7C5A-26E4-4031-85B2-F1A8245A8968}"/>
              </a:ext>
            </a:extLst>
          </p:cNvPr>
          <p:cNvSpPr txBox="1"/>
          <p:nvPr/>
        </p:nvSpPr>
        <p:spPr>
          <a:xfrm>
            <a:off x="3417182" y="4104862"/>
            <a:ext cx="2872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2060"/>
                </a:solidFill>
              </a:rPr>
              <a:t>1</a:t>
            </a:r>
            <a:endParaRPr lang="en-IN" sz="2400" dirty="0">
              <a:solidFill>
                <a:srgbClr val="00206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5B7D62-DC3E-4F3E-B44A-F97CDAEE0912}"/>
              </a:ext>
            </a:extLst>
          </p:cNvPr>
          <p:cNvSpPr txBox="1"/>
          <p:nvPr/>
        </p:nvSpPr>
        <p:spPr>
          <a:xfrm>
            <a:off x="2717155" y="4933525"/>
            <a:ext cx="2872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2060"/>
                </a:solidFill>
              </a:rPr>
              <a:t>a</a:t>
            </a:r>
            <a:endParaRPr lang="en-IN" sz="2400" dirty="0">
              <a:solidFill>
                <a:srgbClr val="00206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8A07FB-B2F7-424B-8938-D3C4DE7EBFAC}"/>
              </a:ext>
            </a:extLst>
          </p:cNvPr>
          <p:cNvSpPr txBox="1"/>
          <p:nvPr/>
        </p:nvSpPr>
        <p:spPr>
          <a:xfrm>
            <a:off x="4027840" y="4933525"/>
            <a:ext cx="4770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2060"/>
                </a:solidFill>
              </a:rPr>
              <a:t>b</a:t>
            </a:r>
            <a:r>
              <a:rPr lang="en-US" sz="2400" baseline="-25000" dirty="0">
                <a:solidFill>
                  <a:srgbClr val="002060"/>
                </a:solidFill>
              </a:rPr>
              <a:t>2</a:t>
            </a:r>
            <a:endParaRPr lang="en-IN" sz="2400" baseline="-25000" dirty="0">
              <a:solidFill>
                <a:srgbClr val="00206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1F78749-38BF-47D5-8621-7007BD678934}"/>
              </a:ext>
            </a:extLst>
          </p:cNvPr>
          <p:cNvSpPr txBox="1"/>
          <p:nvPr/>
        </p:nvSpPr>
        <p:spPr>
          <a:xfrm>
            <a:off x="5675870" y="4187012"/>
            <a:ext cx="2872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</a:rPr>
              <a:t>1</a:t>
            </a:r>
            <a:endParaRPr lang="en-IN" sz="2400" dirty="0">
              <a:solidFill>
                <a:srgbClr val="00B05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C6D6F05-BDC7-44C8-B92A-2C59095B986B}"/>
              </a:ext>
            </a:extLst>
          </p:cNvPr>
          <p:cNvSpPr txBox="1"/>
          <p:nvPr/>
        </p:nvSpPr>
        <p:spPr>
          <a:xfrm>
            <a:off x="3273553" y="5848523"/>
            <a:ext cx="2872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2060"/>
                </a:solidFill>
              </a:rPr>
              <a:t>0</a:t>
            </a:r>
            <a:endParaRPr lang="en-IN" sz="2400" dirty="0">
              <a:solidFill>
                <a:srgbClr val="00206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666F506-305E-405F-9E4E-AC61121C2164}"/>
              </a:ext>
            </a:extLst>
          </p:cNvPr>
          <p:cNvSpPr txBox="1"/>
          <p:nvPr/>
        </p:nvSpPr>
        <p:spPr>
          <a:xfrm>
            <a:off x="5543482" y="5831562"/>
            <a:ext cx="2872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</a:rPr>
              <a:t>0</a:t>
            </a:r>
            <a:endParaRPr lang="en-IN" sz="2400" dirty="0">
              <a:solidFill>
                <a:srgbClr val="00B05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C4E2A4B-D951-4783-9D0A-0488CB214EA5}"/>
              </a:ext>
            </a:extLst>
          </p:cNvPr>
          <p:cNvSpPr txBox="1"/>
          <p:nvPr/>
        </p:nvSpPr>
        <p:spPr>
          <a:xfrm>
            <a:off x="7745507" y="5831561"/>
            <a:ext cx="2872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0</a:t>
            </a:r>
            <a:endParaRPr lang="en-IN" sz="2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8A3BCFC-AF46-46D3-AC7E-7DAFE2294FA1}"/>
              </a:ext>
            </a:extLst>
          </p:cNvPr>
          <p:cNvSpPr txBox="1"/>
          <p:nvPr/>
        </p:nvSpPr>
        <p:spPr>
          <a:xfrm>
            <a:off x="3476790" y="4933525"/>
            <a:ext cx="4770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2060"/>
                </a:solidFill>
              </a:rPr>
              <a:t>b</a:t>
            </a:r>
            <a:r>
              <a:rPr lang="en-US" sz="2400" baseline="-25000" dirty="0">
                <a:solidFill>
                  <a:srgbClr val="002060"/>
                </a:solidFill>
              </a:rPr>
              <a:t>1</a:t>
            </a:r>
            <a:endParaRPr lang="en-IN" sz="2400" baseline="-25000" dirty="0">
              <a:solidFill>
                <a:srgbClr val="00206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01869BA-A9A3-4214-A861-219DD1C03B1D}"/>
              </a:ext>
            </a:extLst>
          </p:cNvPr>
          <p:cNvSpPr txBox="1"/>
          <p:nvPr/>
        </p:nvSpPr>
        <p:spPr>
          <a:xfrm>
            <a:off x="4714192" y="4944377"/>
            <a:ext cx="2872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</a:rPr>
              <a:t>a</a:t>
            </a:r>
            <a:endParaRPr lang="en-IN" sz="2400" dirty="0">
              <a:solidFill>
                <a:srgbClr val="00B05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8311579-837E-4648-98F8-F8B9322DE763}"/>
              </a:ext>
            </a:extLst>
          </p:cNvPr>
          <p:cNvSpPr txBox="1"/>
          <p:nvPr/>
        </p:nvSpPr>
        <p:spPr>
          <a:xfrm>
            <a:off x="5160860" y="4979267"/>
            <a:ext cx="4770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</a:rPr>
              <a:t>b</a:t>
            </a:r>
            <a:r>
              <a:rPr lang="en-US" sz="2400" baseline="-25000" dirty="0">
                <a:solidFill>
                  <a:srgbClr val="00B050"/>
                </a:solidFill>
              </a:rPr>
              <a:t>1</a:t>
            </a:r>
            <a:endParaRPr lang="en-IN" sz="2400" baseline="-25000" dirty="0">
              <a:solidFill>
                <a:srgbClr val="00B05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6C15EC6-454A-4EEA-BC78-E1AFD0EFD711}"/>
              </a:ext>
            </a:extLst>
          </p:cNvPr>
          <p:cNvSpPr txBox="1"/>
          <p:nvPr/>
        </p:nvSpPr>
        <p:spPr>
          <a:xfrm>
            <a:off x="5574003" y="4979266"/>
            <a:ext cx="4770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</a:rPr>
              <a:t>b</a:t>
            </a:r>
            <a:r>
              <a:rPr lang="en-US" sz="2400" baseline="-25000" dirty="0">
                <a:solidFill>
                  <a:srgbClr val="00B050"/>
                </a:solidFill>
              </a:rPr>
              <a:t>2</a:t>
            </a:r>
            <a:endParaRPr lang="en-IN" sz="2400" baseline="-25000" dirty="0">
              <a:solidFill>
                <a:srgbClr val="00B05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F290C6C-3BFA-456D-B123-BAFC2416F313}"/>
              </a:ext>
            </a:extLst>
          </p:cNvPr>
          <p:cNvSpPr txBox="1"/>
          <p:nvPr/>
        </p:nvSpPr>
        <p:spPr>
          <a:xfrm>
            <a:off x="6395280" y="4975985"/>
            <a:ext cx="4770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</a:rPr>
              <a:t>b</a:t>
            </a:r>
            <a:r>
              <a:rPr lang="en-US" sz="2400" baseline="-25000" dirty="0">
                <a:solidFill>
                  <a:srgbClr val="00B050"/>
                </a:solidFill>
              </a:rPr>
              <a:t>3</a:t>
            </a:r>
            <a:endParaRPr lang="en-IN" sz="2400" baseline="-25000" dirty="0">
              <a:solidFill>
                <a:srgbClr val="00B05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6C6A9FC-21B2-4129-A107-72964E8B543D}"/>
              </a:ext>
            </a:extLst>
          </p:cNvPr>
          <p:cNvSpPr txBox="1"/>
          <p:nvPr/>
        </p:nvSpPr>
        <p:spPr>
          <a:xfrm>
            <a:off x="7250374" y="4648677"/>
            <a:ext cx="2872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</a:t>
            </a:r>
            <a:endParaRPr lang="en-IN" sz="24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43D2E17-B447-4A6E-976E-6FD7CB7C18E8}"/>
              </a:ext>
            </a:extLst>
          </p:cNvPr>
          <p:cNvSpPr txBox="1"/>
          <p:nvPr/>
        </p:nvSpPr>
        <p:spPr>
          <a:xfrm>
            <a:off x="7888257" y="4126973"/>
            <a:ext cx="2872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</a:t>
            </a:r>
            <a:endParaRPr lang="en-IN" sz="24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75CE372-775A-4419-A6B3-0FEEE2F135E6}"/>
              </a:ext>
            </a:extLst>
          </p:cNvPr>
          <p:cNvSpPr txBox="1"/>
          <p:nvPr/>
        </p:nvSpPr>
        <p:spPr>
          <a:xfrm>
            <a:off x="8498211" y="4660776"/>
            <a:ext cx="4770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</a:t>
            </a:r>
            <a:r>
              <a:rPr lang="en-US" sz="2400" baseline="-25000" dirty="0"/>
              <a:t>1</a:t>
            </a:r>
            <a:endParaRPr lang="en-IN" sz="2400" baseline="-25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8245B5E-3364-42ED-BC59-0A296A264536}"/>
              </a:ext>
            </a:extLst>
          </p:cNvPr>
          <p:cNvSpPr txBox="1"/>
          <p:nvPr/>
        </p:nvSpPr>
        <p:spPr>
          <a:xfrm>
            <a:off x="8553395" y="5198398"/>
            <a:ext cx="4770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</a:t>
            </a:r>
            <a:r>
              <a:rPr lang="en-US" sz="2400" baseline="-25000" dirty="0"/>
              <a:t>2</a:t>
            </a:r>
            <a:endParaRPr lang="en-IN" sz="2400" baseline="-25000" dirty="0"/>
          </a:p>
        </p:txBody>
      </p:sp>
    </p:spTree>
    <p:extLst>
      <p:ext uri="{BB962C8B-B14F-4D97-AF65-F5344CB8AC3E}">
        <p14:creationId xmlns:p14="http://schemas.microsoft.com/office/powerpoint/2010/main" val="33393646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65969-44D9-4A16-9D0F-FD9428B23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Complemented Lattice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D2D356-421E-4B8E-8D10-2E5185CD849B}"/>
              </a:ext>
            </a:extLst>
          </p:cNvPr>
          <p:cNvSpPr txBox="1"/>
          <p:nvPr/>
        </p:nvSpPr>
        <p:spPr>
          <a:xfrm>
            <a:off x="308113" y="1406386"/>
            <a:ext cx="677848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600" dirty="0"/>
              <a:t>D</a:t>
            </a:r>
            <a:r>
              <a:rPr lang="en-IN" sz="2600" baseline="-25000" dirty="0"/>
              <a:t>30</a:t>
            </a:r>
            <a:r>
              <a:rPr lang="en-IN" sz="2600" dirty="0"/>
              <a:t> is a complemented lattice.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E0336E-CDFE-470E-8DE4-91A302B5DF7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7190" t="25385" r="1" b="20240"/>
          <a:stretch/>
        </p:blipFill>
        <p:spPr>
          <a:xfrm>
            <a:off x="5225310" y="2225214"/>
            <a:ext cx="3918690" cy="4020941"/>
          </a:xfrm>
          <a:prstGeom prst="rect">
            <a:avLst/>
          </a:prstGeom>
        </p:spPr>
      </p:pic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9A43B9D9-CCBA-4AE1-8CE5-DC9C5806D6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7350073"/>
              </p:ext>
            </p:extLst>
          </p:nvPr>
        </p:nvGraphicFramePr>
        <p:xfrm>
          <a:off x="558934" y="2239715"/>
          <a:ext cx="4013066" cy="4006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6533">
                  <a:extLst>
                    <a:ext uri="{9D8B030D-6E8A-4147-A177-3AD203B41FA5}">
                      <a16:colId xmlns:a16="http://schemas.microsoft.com/office/drawing/2014/main" val="1969501481"/>
                    </a:ext>
                  </a:extLst>
                </a:gridCol>
                <a:gridCol w="2006533">
                  <a:extLst>
                    <a:ext uri="{9D8B030D-6E8A-4147-A177-3AD203B41FA5}">
                      <a16:colId xmlns:a16="http://schemas.microsoft.com/office/drawing/2014/main" val="3659155992"/>
                    </a:ext>
                  </a:extLst>
                </a:gridCol>
              </a:tblGrid>
              <a:tr h="44141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Element</a:t>
                      </a:r>
                      <a:endParaRPr lang="en-IN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2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Its Complement</a:t>
                      </a:r>
                      <a:endParaRPr lang="en-IN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2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26561"/>
                  </a:ext>
                </a:extLst>
              </a:tr>
              <a:tr h="39793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6038705"/>
                  </a:ext>
                </a:extLst>
              </a:tr>
              <a:tr h="39793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9138112"/>
                  </a:ext>
                </a:extLst>
              </a:tr>
              <a:tr h="39793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0070189"/>
                  </a:ext>
                </a:extLst>
              </a:tr>
              <a:tr h="39793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8588639"/>
                  </a:ext>
                </a:extLst>
              </a:tr>
              <a:tr h="39793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973542"/>
                  </a:ext>
                </a:extLst>
              </a:tr>
              <a:tr h="39793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753391"/>
                  </a:ext>
                </a:extLst>
              </a:tr>
              <a:tr h="39793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4290808"/>
                  </a:ext>
                </a:extLst>
              </a:tr>
              <a:tr h="39793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62553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58580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65969-44D9-4A16-9D0F-FD9428B23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Complemented Lattice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EBDB03-9A23-4F66-A6C5-048BEF71ADB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683" t="30522" r="5250"/>
          <a:stretch/>
        </p:blipFill>
        <p:spPr>
          <a:xfrm>
            <a:off x="917883" y="1863079"/>
            <a:ext cx="7663070" cy="45723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64317FA-9844-4692-A1A1-5C35227E7975}"/>
              </a:ext>
            </a:extLst>
          </p:cNvPr>
          <p:cNvSpPr txBox="1"/>
          <p:nvPr/>
        </p:nvSpPr>
        <p:spPr>
          <a:xfrm>
            <a:off x="755374" y="1441174"/>
            <a:ext cx="677848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600" dirty="0"/>
              <a:t>D</a:t>
            </a:r>
            <a:r>
              <a:rPr lang="en-IN" sz="2600" baseline="-25000" dirty="0"/>
              <a:t>20</a:t>
            </a:r>
            <a:r>
              <a:rPr lang="en-IN" sz="2600" dirty="0"/>
              <a:t> is not complemented lattice.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CFB8F8-2F0A-4984-805E-2DE8611F272A}"/>
              </a:ext>
            </a:extLst>
          </p:cNvPr>
          <p:cNvSpPr/>
          <p:nvPr/>
        </p:nvSpPr>
        <p:spPr>
          <a:xfrm>
            <a:off x="3956180" y="1933617"/>
            <a:ext cx="4786604" cy="3664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22915B52-1E2E-43E7-A5CD-CE5852FA4F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2798484"/>
              </p:ext>
            </p:extLst>
          </p:nvPr>
        </p:nvGraphicFramePr>
        <p:xfrm>
          <a:off x="4572000" y="2206256"/>
          <a:ext cx="4013066" cy="3210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6533">
                  <a:extLst>
                    <a:ext uri="{9D8B030D-6E8A-4147-A177-3AD203B41FA5}">
                      <a16:colId xmlns:a16="http://schemas.microsoft.com/office/drawing/2014/main" val="1969501481"/>
                    </a:ext>
                  </a:extLst>
                </a:gridCol>
                <a:gridCol w="2006533">
                  <a:extLst>
                    <a:ext uri="{9D8B030D-6E8A-4147-A177-3AD203B41FA5}">
                      <a16:colId xmlns:a16="http://schemas.microsoft.com/office/drawing/2014/main" val="3659155992"/>
                    </a:ext>
                  </a:extLst>
                </a:gridCol>
              </a:tblGrid>
              <a:tr h="44141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Element</a:t>
                      </a:r>
                      <a:endParaRPr lang="en-IN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2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Its Complement</a:t>
                      </a:r>
                      <a:endParaRPr lang="en-IN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2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26561"/>
                  </a:ext>
                </a:extLst>
              </a:tr>
              <a:tr h="39793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9138112"/>
                  </a:ext>
                </a:extLst>
              </a:tr>
              <a:tr h="39793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0070189"/>
                  </a:ext>
                </a:extLst>
              </a:tr>
              <a:tr h="39793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8588639"/>
                  </a:ext>
                </a:extLst>
              </a:tr>
              <a:tr h="39793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973542"/>
                  </a:ext>
                </a:extLst>
              </a:tr>
              <a:tr h="39793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753391"/>
                  </a:ext>
                </a:extLst>
              </a:tr>
              <a:tr h="39793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42908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40826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65969-44D9-4A16-9D0F-FD9428B23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Boolean algebra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C7B9A-8015-4FB4-8C24-4BC3D64C32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89" y="1248698"/>
            <a:ext cx="8392901" cy="547015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For a lattice L to be a Boolean algebra, it must have two properties.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First, it must be </a:t>
            </a:r>
            <a:r>
              <a:rPr lang="en-US" dirty="0">
                <a:solidFill>
                  <a:srgbClr val="FF0000"/>
                </a:solidFill>
              </a:rPr>
              <a:t>complemented.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Second, it must be </a:t>
            </a:r>
            <a:r>
              <a:rPr lang="en-US" dirty="0">
                <a:solidFill>
                  <a:srgbClr val="FF0000"/>
                </a:solidFill>
              </a:rPr>
              <a:t>distributive.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means that for every x, y, and z in L, </a:t>
            </a:r>
            <a:r>
              <a:rPr lang="en-US" dirty="0">
                <a:solidFill>
                  <a:srgbClr val="FF0000"/>
                </a:solidFill>
              </a:rPr>
              <a:t>x ∨ (y ∧ z) = (x ∨ y) ∧ (x ∨ z)</a:t>
            </a:r>
            <a:r>
              <a:rPr lang="en-US" dirty="0"/>
              <a:t> and </a:t>
            </a:r>
            <a:r>
              <a:rPr lang="en-US" dirty="0">
                <a:solidFill>
                  <a:srgbClr val="FF0000"/>
                </a:solidFill>
              </a:rPr>
              <a:t>x ∧ (y ∨ z) = (x ∧ y) ∨ (x ∧ z).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9496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65969-44D9-4A16-9D0F-FD9428B23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Boolean algebra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C7B9A-8015-4FB4-8C24-4BC3D64C32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89" y="1248698"/>
            <a:ext cx="8392901" cy="54701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Consider the lattices D</a:t>
            </a:r>
            <a:r>
              <a:rPr lang="en-IN" baseline="-25000" dirty="0"/>
              <a:t>20</a:t>
            </a:r>
            <a:r>
              <a:rPr lang="en-IN" dirty="0"/>
              <a:t> of all positive integer divisors of 20. </a:t>
            </a:r>
          </a:p>
          <a:p>
            <a:pPr marL="0" indent="0">
              <a:buNone/>
            </a:pPr>
            <a:r>
              <a:rPr lang="en-IN" dirty="0"/>
              <a:t>D</a:t>
            </a:r>
            <a:r>
              <a:rPr lang="en-IN" baseline="-25000" dirty="0"/>
              <a:t>20</a:t>
            </a:r>
            <a:r>
              <a:rPr lang="en-IN" dirty="0"/>
              <a:t> is not a boolean algebra.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5A359E-E5E6-4C21-BCAC-6D177341614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" t="37284" r="78588"/>
          <a:stretch/>
        </p:blipFill>
        <p:spPr>
          <a:xfrm>
            <a:off x="5387009" y="2069850"/>
            <a:ext cx="3667539" cy="4308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520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65969-44D9-4A16-9D0F-FD9428B23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Boolean algebra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C7B9A-8015-4FB4-8C24-4BC3D64C32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89" y="1248698"/>
            <a:ext cx="8392901" cy="54701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Consider the lattices D</a:t>
            </a:r>
            <a:r>
              <a:rPr lang="en-IN" baseline="-25000" dirty="0"/>
              <a:t>30</a:t>
            </a:r>
            <a:r>
              <a:rPr lang="en-IN" dirty="0"/>
              <a:t> of all positive integer divisors of 30.</a:t>
            </a:r>
          </a:p>
          <a:p>
            <a:pPr marL="0" indent="0">
              <a:buNone/>
            </a:pPr>
            <a:r>
              <a:rPr lang="en-IN" dirty="0"/>
              <a:t>D</a:t>
            </a:r>
            <a:r>
              <a:rPr lang="en-IN" baseline="-25000" dirty="0"/>
              <a:t>30</a:t>
            </a:r>
            <a:r>
              <a:rPr lang="en-IN" dirty="0"/>
              <a:t> is a Boolean algebra.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AC22A9-832B-496C-AC76-7AFE4582105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708" t="37284" r="47356"/>
          <a:stretch/>
        </p:blipFill>
        <p:spPr>
          <a:xfrm>
            <a:off x="4492487" y="1997765"/>
            <a:ext cx="4540220" cy="4270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9111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65969-44D9-4A16-9D0F-FD9428B23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Boolean algebra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EC7B9A-8015-4FB4-8C24-4BC3D64C32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3289" y="1248698"/>
                <a:ext cx="8392901" cy="547015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IN" dirty="0"/>
                  <a:t>S = {a, b, c} and T = {2, 3, 5} consider the </a:t>
                </a:r>
                <a:r>
                  <a:rPr lang="en-IN" dirty="0" err="1"/>
                  <a:t>Hasse</a:t>
                </a:r>
                <a:r>
                  <a:rPr lang="en-IN" dirty="0"/>
                  <a:t> diagram of the two lattices (P(S), </a:t>
                </a:r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</a:rPr>
                      <m:t>⊆</m:t>
                    </m:r>
                  </m:oMath>
                </a14:m>
                <a:r>
                  <a:rPr lang="en-IN" dirty="0"/>
                  <a:t>) and (P(T),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⊆</m:t>
                    </m:r>
                  </m:oMath>
                </a14:m>
                <a:r>
                  <a:rPr lang="en-IN" dirty="0"/>
                  <a:t>).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EC7B9A-8015-4FB4-8C24-4BC3D64C32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3289" y="1248698"/>
                <a:ext cx="8392901" cy="5470154"/>
              </a:xfrm>
              <a:blipFill>
                <a:blip r:embed="rId2"/>
                <a:stretch>
                  <a:fillRect l="-1526" r="-152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016F6B67-DE9B-42A4-A755-CC1BEBEE085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887" t="44006" r="8797"/>
          <a:stretch/>
        </p:blipFill>
        <p:spPr>
          <a:xfrm>
            <a:off x="310785" y="2734880"/>
            <a:ext cx="8587409" cy="3813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8707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65969-44D9-4A16-9D0F-FD9428B23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Boolean algebra</a:t>
            </a: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EC7B9A-8015-4FB4-8C24-4BC3D64C32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3289" y="1248698"/>
                <a:ext cx="8392901" cy="5470154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Ques:-</a:t>
                </a:r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Show that in a Boolean algebra, the idempotent laws x ∨ x = x and x ∧ x = x hold for every element x.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IN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Sol:-</a:t>
                </a:r>
                <a:r>
                  <a:rPr lang="en-IN" dirty="0">
                    <a:solidFill>
                      <a:srgbClr val="FF0000"/>
                    </a:solidFill>
                  </a:rPr>
                  <a:t> </a:t>
                </a:r>
                <a:r>
                  <a:rPr lang="en-IN" dirty="0"/>
                  <a:t>By the domination, distributive, and identity laws, x∨x = (x∨x)∧1 = (x∨x)∧(x∨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IN" dirty="0"/>
                          <m:t>x</m:t>
                        </m:r>
                      </m:e>
                    </m:acc>
                  </m:oMath>
                </a14:m>
                <a:r>
                  <a:rPr lang="en-IN" dirty="0"/>
                  <a:t>) = x ∨ (x ∧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IN" dirty="0"/>
                          <m:t>x</m:t>
                        </m:r>
                      </m:e>
                    </m:acc>
                  </m:oMath>
                </a14:m>
                <a:r>
                  <a:rPr lang="en-IN" dirty="0"/>
                  <a:t>) = x ∨ 0 = x. </a:t>
                </a:r>
              </a:p>
              <a:p>
                <a:pPr marL="0" indent="0">
                  <a:buNone/>
                </a:pPr>
                <a:br>
                  <a:rPr lang="en-IN" dirty="0"/>
                </a:br>
                <a:r>
                  <a:rPr lang="en-IN" dirty="0"/>
                  <a:t>Similarly, x ∧ x =(x ∧ x) ∨ 0= (x ∧ x) ∨ (x ∧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IN" dirty="0"/>
                          <m:t>x</m:t>
                        </m:r>
                      </m:e>
                    </m:acc>
                  </m:oMath>
                </a14:m>
                <a:r>
                  <a:rPr lang="en-IN" dirty="0"/>
                  <a:t>) = x ∧ (x ∨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IN" dirty="0"/>
                          <m:t>x</m:t>
                        </m:r>
                      </m:e>
                    </m:acc>
                  </m:oMath>
                </a14:m>
                <a:r>
                  <a:rPr lang="en-IN" dirty="0"/>
                  <a:t>) = x ∧ 1 = x.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EC7B9A-8015-4FB4-8C24-4BC3D64C32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3289" y="1248698"/>
                <a:ext cx="8392901" cy="5470154"/>
              </a:xfrm>
              <a:blipFill>
                <a:blip r:embed="rId2"/>
                <a:stretch>
                  <a:fillRect l="-1381" r="-1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23003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81241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yFont">
      <a:majorFont>
        <a:latin typeface="Bahnschrift SemiBold"/>
        <a:ea typeface=""/>
        <a:cs typeface=""/>
      </a:majorFont>
      <a:minorFont>
        <a:latin typeface="Bahnschrif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7575</TotalTime>
  <Words>937</Words>
  <Application>Microsoft Office PowerPoint</Application>
  <PresentationFormat>On-screen Show (4:3)</PresentationFormat>
  <Paragraphs>136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Arial</vt:lpstr>
      <vt:lpstr>Bahnschrift</vt:lpstr>
      <vt:lpstr>Bahnschrift SemiBold</vt:lpstr>
      <vt:lpstr>Calibri</vt:lpstr>
      <vt:lpstr>Cambria Math</vt:lpstr>
      <vt:lpstr>Office Theme</vt:lpstr>
      <vt:lpstr>EMTH403</vt:lpstr>
      <vt:lpstr>Lecture Outcomes</vt:lpstr>
      <vt:lpstr>Duality</vt:lpstr>
      <vt:lpstr>Duality</vt:lpstr>
      <vt:lpstr>Boolean algebra</vt:lpstr>
      <vt:lpstr>Boolean algebra</vt:lpstr>
      <vt:lpstr>Boolean algebra</vt:lpstr>
      <vt:lpstr>Boolean algebra</vt:lpstr>
      <vt:lpstr>Boolean algebra</vt:lpstr>
      <vt:lpstr>Boolean algebra</vt:lpstr>
      <vt:lpstr>Complemented Lattice</vt:lpstr>
      <vt:lpstr>Complemented Lattice</vt:lpstr>
      <vt:lpstr>Complemented Lattice</vt:lpstr>
      <vt:lpstr>Boolean algebra</vt:lpstr>
      <vt:lpstr>Boolean algebra</vt:lpstr>
      <vt:lpstr>Boolean algebra</vt:lpstr>
      <vt:lpstr>Boolean algebra</vt:lpstr>
      <vt:lpstr>Boolean algebra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Nitin Mishra</dc:creator>
  <cp:lastModifiedBy>video recording 1</cp:lastModifiedBy>
  <cp:revision>915</cp:revision>
  <dcterms:created xsi:type="dcterms:W3CDTF">2020-12-04T05:20:56Z</dcterms:created>
  <dcterms:modified xsi:type="dcterms:W3CDTF">2020-12-26T10:32:36Z</dcterms:modified>
</cp:coreProperties>
</file>