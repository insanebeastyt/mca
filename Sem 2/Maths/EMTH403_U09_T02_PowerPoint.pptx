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93" r:id="rId4"/>
    <p:sldId id="294" r:id="rId5"/>
    <p:sldId id="295" r:id="rId6"/>
    <p:sldId id="296" r:id="rId7"/>
    <p:sldId id="297" r:id="rId8"/>
    <p:sldId id="286" r:id="rId9"/>
    <p:sldId id="298" r:id="rId10"/>
    <p:sldId id="299" r:id="rId11"/>
    <p:sldId id="300" r:id="rId12"/>
    <p:sldId id="287" r:id="rId13"/>
    <p:sldId id="301" r:id="rId14"/>
    <p:sldId id="302" r:id="rId15"/>
    <p:sldId id="303" r:id="rId16"/>
    <p:sldId id="304" r:id="rId17"/>
    <p:sldId id="305" r:id="rId18"/>
    <p:sldId id="306" r:id="rId19"/>
    <p:sldId id="311" r:id="rId20"/>
    <p:sldId id="307" r:id="rId21"/>
    <p:sldId id="312" r:id="rId22"/>
    <p:sldId id="308" r:id="rId23"/>
    <p:sldId id="309" r:id="rId24"/>
    <p:sldId id="310" r:id="rId25"/>
    <p:sldId id="25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93"/>
            <p14:sldId id="294"/>
            <p14:sldId id="295"/>
            <p14:sldId id="296"/>
            <p14:sldId id="297"/>
            <p14:sldId id="286"/>
            <p14:sldId id="298"/>
            <p14:sldId id="299"/>
            <p14:sldId id="300"/>
            <p14:sldId id="287"/>
            <p14:sldId id="301"/>
            <p14:sldId id="302"/>
            <p14:sldId id="303"/>
            <p14:sldId id="304"/>
            <p14:sldId id="305"/>
            <p14:sldId id="306"/>
            <p14:sldId id="311"/>
            <p14:sldId id="307"/>
            <p14:sldId id="312"/>
            <p14:sldId id="308"/>
            <p14:sldId id="309"/>
            <p14:sldId id="31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Euler path in a directed and undirected graph.</a:t>
            </a:r>
          </a:p>
          <a:p>
            <a:r>
              <a:rPr lang="en-US" dirty="0"/>
              <a:t>understand what are Euler circuit in a directed and undirected graph.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Necessary and Sufficient Conditions</a:t>
            </a:r>
          </a:p>
          <a:p>
            <a:pPr marL="0" indent="0">
              <a:buNone/>
            </a:pPr>
            <a:r>
              <a:rPr lang="en-US" dirty="0"/>
              <a:t>A connected multigraph has a Euler circuit if and only if each of its vertices has an even degree.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connected multigraph has a Euler path but not an Euler circuit if and only if it has exactly two vertices of odd degree.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38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Does the graph above has an Euler path?</a:t>
            </a:r>
          </a:p>
          <a:p>
            <a:pPr marL="0" indent="0">
              <a:buNone/>
            </a:pPr>
            <a:endParaRPr 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Sol:- Yes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(</a:t>
            </a:r>
            <a:r>
              <a:rPr lang="pt-BR" dirty="0"/>
              <a:t>d, a, b,c, d, b.</a:t>
            </a:r>
            <a:r>
              <a:rPr lang="en-US" altLang="en-US" dirty="0"/>
              <a:t>)</a:t>
            </a:r>
            <a:endParaRPr lang="en-US" altLang="en-US" sz="3600" dirty="0"/>
          </a:p>
          <a:p>
            <a:pPr>
              <a:spcBef>
                <a:spcPct val="0"/>
              </a:spcBef>
              <a:buNone/>
            </a:pPr>
            <a:endParaRPr lang="en-IN" dirty="0"/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039D7B4A-956C-4F2E-88FF-9AF022D653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30876" y="151606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36" name="Oval 22">
            <a:extLst>
              <a:ext uri="{FF2B5EF4-FFF2-40B4-BE49-F238E27FC236}">
                <a16:creationId xmlns:a16="http://schemas.microsoft.com/office/drawing/2014/main" id="{946D3E36-8E06-480C-AE5F-18D79844E5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0401" y="299561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37" name="Line 23">
            <a:extLst>
              <a:ext uri="{FF2B5EF4-FFF2-40B4-BE49-F238E27FC236}">
                <a16:creationId xmlns:a16="http://schemas.microsoft.com/office/drawing/2014/main" id="{14E97EC8-BF3D-4714-B17A-58494502DC1F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2859363" y="2316162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38" name="Text Box 24">
            <a:extLst>
              <a:ext uri="{FF2B5EF4-FFF2-40B4-BE49-F238E27FC236}">
                <a16:creationId xmlns:a16="http://schemas.microsoft.com/office/drawing/2014/main" id="{0C655CFE-CAFC-45A5-BA70-1B197D07A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226" y="3059112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d</a:t>
            </a:r>
          </a:p>
        </p:txBody>
      </p:sp>
      <p:sp>
        <p:nvSpPr>
          <p:cNvPr id="39" name="Text Box 25">
            <a:extLst>
              <a:ext uri="{FF2B5EF4-FFF2-40B4-BE49-F238E27FC236}">
                <a16:creationId xmlns:a16="http://schemas.microsoft.com/office/drawing/2014/main" id="{120EE317-EAE7-4139-92FB-1144DFF9D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826" y="1138237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a</a:t>
            </a:r>
          </a:p>
        </p:txBody>
      </p:sp>
      <p:sp>
        <p:nvSpPr>
          <p:cNvPr id="40" name="Oval 26">
            <a:extLst>
              <a:ext uri="{FF2B5EF4-FFF2-40B4-BE49-F238E27FC236}">
                <a16:creationId xmlns:a16="http://schemas.microsoft.com/office/drawing/2014/main" id="{1BE04875-5D06-48AA-865F-D16734662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16776" y="151606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41" name="Oval 27">
            <a:extLst>
              <a:ext uri="{FF2B5EF4-FFF2-40B4-BE49-F238E27FC236}">
                <a16:creationId xmlns:a16="http://schemas.microsoft.com/office/drawing/2014/main" id="{2ED14A42-399C-483B-AED6-BA57E266A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6301" y="299561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42" name="Line 28">
            <a:extLst>
              <a:ext uri="{FF2B5EF4-FFF2-40B4-BE49-F238E27FC236}">
                <a16:creationId xmlns:a16="http://schemas.microsoft.com/office/drawing/2014/main" id="{D25111FD-DE9B-43AB-81B9-92B4F0CE55FF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4345263" y="2316162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43" name="Text Box 29">
            <a:extLst>
              <a:ext uri="{FF2B5EF4-FFF2-40B4-BE49-F238E27FC236}">
                <a16:creationId xmlns:a16="http://schemas.microsoft.com/office/drawing/2014/main" id="{2EF61E0D-68F6-4953-953D-8F0D6D5D3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026" y="3043237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c</a:t>
            </a:r>
          </a:p>
        </p:txBody>
      </p:sp>
      <p:sp>
        <p:nvSpPr>
          <p:cNvPr id="44" name="Text Box 30">
            <a:extLst>
              <a:ext uri="{FF2B5EF4-FFF2-40B4-BE49-F238E27FC236}">
                <a16:creationId xmlns:a16="http://schemas.microsoft.com/office/drawing/2014/main" id="{15C4BDE0-DA56-45D8-913C-035664FBE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726" y="1154112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b</a:t>
            </a:r>
          </a:p>
        </p:txBody>
      </p:sp>
      <p:sp>
        <p:nvSpPr>
          <p:cNvPr id="45" name="Line 31">
            <a:extLst>
              <a:ext uri="{FF2B5EF4-FFF2-40B4-BE49-F238E27FC236}">
                <a16:creationId xmlns:a16="http://schemas.microsoft.com/office/drawing/2014/main" id="{1BD22E62-C044-475A-8A7F-D4CF4C9C487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630889" y="1571625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46" name="Line 32">
            <a:extLst>
              <a:ext uri="{FF2B5EF4-FFF2-40B4-BE49-F238E27FC236}">
                <a16:creationId xmlns:a16="http://schemas.microsoft.com/office/drawing/2014/main" id="{BC5DACD9-CBA4-4738-93BF-657DB6FB47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8026" y="1595437"/>
            <a:ext cx="144780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47" name="Line 33">
            <a:extLst>
              <a:ext uri="{FF2B5EF4-FFF2-40B4-BE49-F238E27FC236}">
                <a16:creationId xmlns:a16="http://schemas.microsoft.com/office/drawing/2014/main" id="{F22B8278-D0B0-43E8-A8A2-074B0B48420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603901" y="3043237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40126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Does the graph above has an Euler path?</a:t>
            </a:r>
          </a:p>
          <a:p>
            <a:pPr marL="0" indent="0">
              <a:buNone/>
            </a:pPr>
            <a:endParaRPr 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Sol:- Yes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   (b, a, g, f, e, d, c, g, b, c, f, d)</a:t>
            </a:r>
          </a:p>
        </p:txBody>
      </p:sp>
      <p:sp>
        <p:nvSpPr>
          <p:cNvPr id="23" name="Text Box 37">
            <a:extLst>
              <a:ext uri="{FF2B5EF4-FFF2-40B4-BE49-F238E27FC236}">
                <a16:creationId xmlns:a16="http://schemas.microsoft.com/office/drawing/2014/main" id="{CF7C3ED6-39B2-4079-96AE-49104763F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920" y="1200288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 dirty="0">
                <a:solidFill>
                  <a:schemeClr val="tx2"/>
                </a:solidFill>
                <a:latin typeface="Bookman Old Style" panose="02050604050505020204" pitchFamily="18" charset="0"/>
              </a:rPr>
              <a:t>e</a:t>
            </a:r>
            <a:endParaRPr lang="en-US" altLang="en-US" sz="2800" i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5" name="Oval 39">
            <a:extLst>
              <a:ext uri="{FF2B5EF4-FFF2-40B4-BE49-F238E27FC236}">
                <a16:creationId xmlns:a16="http://schemas.microsoft.com/office/drawing/2014/main" id="{AA59B784-92B6-43C0-9A80-139258F28C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5867" y="299561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" name="Line 40">
            <a:extLst>
              <a:ext uri="{FF2B5EF4-FFF2-40B4-BE49-F238E27FC236}">
                <a16:creationId xmlns:a16="http://schemas.microsoft.com/office/drawing/2014/main" id="{5805CF4E-F4A3-4E52-860C-BB223F47B0FF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2404596" y="2314577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" name="Text Box 41">
            <a:extLst>
              <a:ext uri="{FF2B5EF4-FFF2-40B4-BE49-F238E27FC236}">
                <a16:creationId xmlns:a16="http://schemas.microsoft.com/office/drawing/2014/main" id="{C064937C-FEE9-4285-BEFE-C00C9E413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2692" y="3043237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>
                <a:solidFill>
                  <a:schemeClr val="tx2"/>
                </a:solidFill>
                <a:latin typeface="Bookman Old Style" panose="02050604050505020204" pitchFamily="18" charset="0"/>
              </a:rPr>
              <a:t>c</a:t>
            </a:r>
            <a:endParaRPr lang="en-US" altLang="en-US" sz="2800" i="1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8" name="Text Box 42">
            <a:extLst>
              <a:ext uri="{FF2B5EF4-FFF2-40B4-BE49-F238E27FC236}">
                <a16:creationId xmlns:a16="http://schemas.microsoft.com/office/drawing/2014/main" id="{4302D40E-E57E-42B6-8C2D-0A70BA4E3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292" y="1138237"/>
            <a:ext cx="292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 dirty="0">
                <a:solidFill>
                  <a:schemeClr val="tx2"/>
                </a:solidFill>
                <a:latin typeface="Bookman Old Style" panose="02050604050505020204" pitchFamily="18" charset="0"/>
              </a:rPr>
              <a:t>g</a:t>
            </a:r>
            <a:endParaRPr lang="en-US" altLang="en-US" sz="2800" i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9" name="Oval 43">
            <a:extLst>
              <a:ext uri="{FF2B5EF4-FFF2-40B4-BE49-F238E27FC236}">
                <a16:creationId xmlns:a16="http://schemas.microsoft.com/office/drawing/2014/main" id="{58FA3866-C156-4C41-8643-C52A4F1A10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82242" y="151606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" name="Oval 44">
            <a:extLst>
              <a:ext uri="{FF2B5EF4-FFF2-40B4-BE49-F238E27FC236}">
                <a16:creationId xmlns:a16="http://schemas.microsoft.com/office/drawing/2014/main" id="{80D94C0B-2D49-49C8-81B5-8FDA2A5DB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91767" y="299561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" name="Line 45">
            <a:extLst>
              <a:ext uri="{FF2B5EF4-FFF2-40B4-BE49-F238E27FC236}">
                <a16:creationId xmlns:a16="http://schemas.microsoft.com/office/drawing/2014/main" id="{A4E0D372-38D9-4DF4-8A12-567BEE0D0812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3910729" y="2316162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" name="Text Box 46">
            <a:extLst>
              <a:ext uri="{FF2B5EF4-FFF2-40B4-BE49-F238E27FC236}">
                <a16:creationId xmlns:a16="http://schemas.microsoft.com/office/drawing/2014/main" id="{F64E91E5-9D9B-458B-AE3D-01A954BEF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0492" y="3059112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>
                <a:solidFill>
                  <a:schemeClr val="tx2"/>
                </a:solidFill>
                <a:latin typeface="Bookman Old Style" panose="02050604050505020204" pitchFamily="18" charset="0"/>
              </a:rPr>
              <a:t>d</a:t>
            </a:r>
            <a:endParaRPr lang="en-US" altLang="en-US" sz="2800" i="1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3" name="Text Box 47">
            <a:extLst>
              <a:ext uri="{FF2B5EF4-FFF2-40B4-BE49-F238E27FC236}">
                <a16:creationId xmlns:a16="http://schemas.microsoft.com/office/drawing/2014/main" id="{6134C265-86AA-4E5C-B705-E1586A2DF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3192" y="1154112"/>
            <a:ext cx="292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 dirty="0">
                <a:solidFill>
                  <a:schemeClr val="tx2"/>
                </a:solidFill>
                <a:latin typeface="Bookman Old Style" panose="02050604050505020204" pitchFamily="18" charset="0"/>
              </a:rPr>
              <a:t>f</a:t>
            </a:r>
            <a:endParaRPr lang="en-US" altLang="en-US" sz="2800" i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4" name="Line 48">
            <a:extLst>
              <a:ext uri="{FF2B5EF4-FFF2-40B4-BE49-F238E27FC236}">
                <a16:creationId xmlns:a16="http://schemas.microsoft.com/office/drawing/2014/main" id="{6F4C67C0-B1B0-4035-9282-5BA7DF4CF60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02693" y="1571625"/>
            <a:ext cx="15636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" name="Line 49">
            <a:extLst>
              <a:ext uri="{FF2B5EF4-FFF2-40B4-BE49-F238E27FC236}">
                <a16:creationId xmlns:a16="http://schemas.microsoft.com/office/drawing/2014/main" id="{E51BF802-1892-4650-A189-D8D526B9749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69367" y="3043237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" name="Line 50">
            <a:extLst>
              <a:ext uri="{FF2B5EF4-FFF2-40B4-BE49-F238E27FC236}">
                <a16:creationId xmlns:a16="http://schemas.microsoft.com/office/drawing/2014/main" id="{C5904C81-BE40-4DC4-B091-C0C0870B60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9048" y="1562893"/>
            <a:ext cx="1485900" cy="14644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" name="Oval 51">
            <a:extLst>
              <a:ext uri="{FF2B5EF4-FFF2-40B4-BE49-F238E27FC236}">
                <a16:creationId xmlns:a16="http://schemas.microsoft.com/office/drawing/2014/main" id="{B2F152ED-7C0D-495A-A7B3-11374DD5F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12985" y="1580358"/>
            <a:ext cx="109538" cy="1095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28D59218-D727-429B-BCED-56E8B09906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9392" y="1598112"/>
            <a:ext cx="1461291" cy="144512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3" name="Line 53">
            <a:extLst>
              <a:ext uri="{FF2B5EF4-FFF2-40B4-BE49-F238E27FC236}">
                <a16:creationId xmlns:a16="http://schemas.microsoft.com/office/drawing/2014/main" id="{0BE88D4E-A8BB-4212-B357-72E142727A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639392" y="1587845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" name="Oval 38">
            <a:extLst>
              <a:ext uri="{FF2B5EF4-FFF2-40B4-BE49-F238E27FC236}">
                <a16:creationId xmlns:a16="http://schemas.microsoft.com/office/drawing/2014/main" id="{93D41D26-67F5-4FE1-A271-2BC6F0EDE6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69027" y="1519376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" name="Oval 39">
            <a:extLst>
              <a:ext uri="{FF2B5EF4-FFF2-40B4-BE49-F238E27FC236}">
                <a16:creationId xmlns:a16="http://schemas.microsoft.com/office/drawing/2014/main" id="{3AE456F7-0147-4F76-97F9-11333260C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8552" y="2998926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5E957616-E3B4-4BA7-B6DE-B21FEAF47B2F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897514" y="2319476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2D997C08-C4A7-409B-B3CC-46C803149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377" y="3046551"/>
            <a:ext cx="292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 dirty="0">
                <a:solidFill>
                  <a:schemeClr val="tx2"/>
                </a:solidFill>
                <a:latin typeface="Bookman Old Style" panose="02050604050505020204" pitchFamily="18" charset="0"/>
              </a:rPr>
              <a:t>b</a:t>
            </a:r>
            <a:endParaRPr lang="en-US" altLang="en-US" sz="2800" i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5EBD5D8E-0010-492C-B8F0-2A05E22F3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977" y="1141551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i="1">
                <a:solidFill>
                  <a:schemeClr val="tx2"/>
                </a:solidFill>
                <a:latin typeface="Bookman Old Style" panose="02050604050505020204" pitchFamily="18" charset="0"/>
              </a:rPr>
              <a:t>a</a:t>
            </a:r>
            <a:endParaRPr lang="en-US" altLang="en-US" sz="2800" i="1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1" name="Oval 43">
            <a:extLst>
              <a:ext uri="{FF2B5EF4-FFF2-40B4-BE49-F238E27FC236}">
                <a16:creationId xmlns:a16="http://schemas.microsoft.com/office/drawing/2014/main" id="{4A5979BD-7537-467C-B257-E9066936B1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4927" y="1519376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" name="Line 48">
            <a:extLst>
              <a:ext uri="{FF2B5EF4-FFF2-40B4-BE49-F238E27FC236}">
                <a16:creationId xmlns:a16="http://schemas.microsoft.com/office/drawing/2014/main" id="{77891361-FA35-4CE7-93F4-D9901C2C468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669040" y="1574939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" name="Line 49">
            <a:extLst>
              <a:ext uri="{FF2B5EF4-FFF2-40B4-BE49-F238E27FC236}">
                <a16:creationId xmlns:a16="http://schemas.microsoft.com/office/drawing/2014/main" id="{CB42C26C-4C41-4868-AC96-B4B7175C534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642052" y="3046551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" name="Line 50">
            <a:extLst>
              <a:ext uri="{FF2B5EF4-FFF2-40B4-BE49-F238E27FC236}">
                <a16:creationId xmlns:a16="http://schemas.microsoft.com/office/drawing/2014/main" id="{5A793741-617D-4ABE-B2EE-9F1C8DDE09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31733" y="1566207"/>
            <a:ext cx="1485900" cy="14644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3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Does the graph above has an Euler path?</a:t>
            </a:r>
          </a:p>
          <a:p>
            <a:pPr marL="0" indent="0">
              <a:buNone/>
            </a:pPr>
            <a:endParaRPr 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Sol:-	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		</a:t>
            </a:r>
            <a:r>
              <a:rPr lang="en-US" altLang="en-US" dirty="0"/>
              <a:t>six vertices of odd degree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CECE65-0F1D-471F-96A8-9CE48FEB19C1}"/>
              </a:ext>
            </a:extLst>
          </p:cNvPr>
          <p:cNvGrpSpPr/>
          <p:nvPr/>
        </p:nvGrpSpPr>
        <p:grpSpPr>
          <a:xfrm>
            <a:off x="3105687" y="943321"/>
            <a:ext cx="1820232" cy="2409290"/>
            <a:chOff x="3105687" y="943321"/>
            <a:chExt cx="1820232" cy="2409290"/>
          </a:xfrm>
        </p:grpSpPr>
        <p:sp>
          <p:nvSpPr>
            <p:cNvPr id="44" name="Oval 5">
              <a:extLst>
                <a:ext uri="{FF2B5EF4-FFF2-40B4-BE49-F238E27FC236}">
                  <a16:creationId xmlns:a16="http://schemas.microsoft.com/office/drawing/2014/main" id="{DB8516DD-6AEC-41DB-9BE5-7041E8077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957" y="2537518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grpSp>
          <p:nvGrpSpPr>
            <p:cNvPr id="45" name="Group 6">
              <a:extLst>
                <a:ext uri="{FF2B5EF4-FFF2-40B4-BE49-F238E27FC236}">
                  <a16:creationId xmlns:a16="http://schemas.microsoft.com/office/drawing/2014/main" id="{C1FBE531-8938-490A-9AE5-EF0469376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3457" y="1694556"/>
              <a:ext cx="1206501" cy="1071563"/>
              <a:chOff x="-40" y="1341"/>
              <a:chExt cx="760" cy="675"/>
            </a:xfrm>
          </p:grpSpPr>
          <p:sp>
            <p:nvSpPr>
              <p:cNvPr id="49" name="Oval 7">
                <a:extLst>
                  <a:ext uri="{FF2B5EF4-FFF2-40B4-BE49-F238E27FC236}">
                    <a16:creationId xmlns:a16="http://schemas.microsoft.com/office/drawing/2014/main" id="{90F699B9-BEAE-4B92-AAB4-F1D496028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54" name="Line 8">
                <a:extLst>
                  <a:ext uri="{FF2B5EF4-FFF2-40B4-BE49-F238E27FC236}">
                    <a16:creationId xmlns:a16="http://schemas.microsoft.com/office/drawing/2014/main" id="{FA3A78F2-FDDB-4361-B678-6040B68A8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2" y="1404"/>
                <a:ext cx="0" cy="5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55" name="Oval 9">
                <a:extLst>
                  <a:ext uri="{FF2B5EF4-FFF2-40B4-BE49-F238E27FC236}">
                    <a16:creationId xmlns:a16="http://schemas.microsoft.com/office/drawing/2014/main" id="{2E1CA450-FAA1-4FEB-AED7-881284433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56" name="Line 14">
              <a:extLst>
                <a:ext uri="{FF2B5EF4-FFF2-40B4-BE49-F238E27FC236}">
                  <a16:creationId xmlns:a16="http://schemas.microsoft.com/office/drawing/2014/main" id="{AD7489A5-8429-4759-8C30-836E48828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2653" y="1823143"/>
              <a:ext cx="30126" cy="8475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7" name="Oval 7">
              <a:extLst>
                <a:ext uri="{FF2B5EF4-FFF2-40B4-BE49-F238E27FC236}">
                  <a16:creationId xmlns:a16="http://schemas.microsoft.com/office/drawing/2014/main" id="{305D03A7-BDD5-431C-BB7F-3D84945D4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509" y="1706082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9" name="Line 4">
              <a:extLst>
                <a:ext uri="{FF2B5EF4-FFF2-40B4-BE49-F238E27FC236}">
                  <a16:creationId xmlns:a16="http://schemas.microsoft.com/office/drawing/2014/main" id="{4BED2E69-624A-4200-8987-85593E607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3331" y="1807459"/>
              <a:ext cx="960984" cy="8816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0" name="Line 4">
              <a:extLst>
                <a:ext uri="{FF2B5EF4-FFF2-40B4-BE49-F238E27FC236}">
                  <a16:creationId xmlns:a16="http://schemas.microsoft.com/office/drawing/2014/main" id="{C078A04B-5732-4167-A6D6-67999B639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806" y="1812031"/>
              <a:ext cx="1002126" cy="801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1" name="Oval 7">
              <a:extLst>
                <a:ext uri="{FF2B5EF4-FFF2-40B4-BE49-F238E27FC236}">
                  <a16:creationId xmlns:a16="http://schemas.microsoft.com/office/drawing/2014/main" id="{D661C727-D000-469E-BCEF-FDABF87F0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026" y="1113567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3" name="Line 4">
              <a:extLst>
                <a:ext uri="{FF2B5EF4-FFF2-40B4-BE49-F238E27FC236}">
                  <a16:creationId xmlns:a16="http://schemas.microsoft.com/office/drawing/2014/main" id="{13F9DB35-B434-4F06-ABDB-BCD070CB1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2004" y="1249475"/>
              <a:ext cx="22469" cy="18247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4" name="Line 4">
              <a:extLst>
                <a:ext uri="{FF2B5EF4-FFF2-40B4-BE49-F238E27FC236}">
                  <a16:creationId xmlns:a16="http://schemas.microsoft.com/office/drawing/2014/main" id="{04010E22-D59E-42CE-9851-F8F7011E6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487" y="1249476"/>
              <a:ext cx="397547" cy="519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5" name="Line 4">
              <a:extLst>
                <a:ext uri="{FF2B5EF4-FFF2-40B4-BE49-F238E27FC236}">
                  <a16:creationId xmlns:a16="http://schemas.microsoft.com/office/drawing/2014/main" id="{23B7A9CE-EC60-4745-983C-EC2B47F237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1281" y="1242851"/>
              <a:ext cx="471895" cy="560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7" name="Oval 7">
              <a:extLst>
                <a:ext uri="{FF2B5EF4-FFF2-40B4-BE49-F238E27FC236}">
                  <a16:creationId xmlns:a16="http://schemas.microsoft.com/office/drawing/2014/main" id="{9CEF645B-C03D-4832-AA3C-3639A7575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157" y="294700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8" name="Line 4">
              <a:extLst>
                <a:ext uri="{FF2B5EF4-FFF2-40B4-BE49-F238E27FC236}">
                  <a16:creationId xmlns:a16="http://schemas.microsoft.com/office/drawing/2014/main" id="{9589CCA8-D7FD-4159-B04A-164078613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779" y="2597842"/>
              <a:ext cx="503409" cy="4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9" name="Line 4">
              <a:extLst>
                <a:ext uri="{FF2B5EF4-FFF2-40B4-BE49-F238E27FC236}">
                  <a16:creationId xmlns:a16="http://schemas.microsoft.com/office/drawing/2014/main" id="{1A364ED0-94C9-4B3B-8775-BEB167208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8337" y="2633665"/>
              <a:ext cx="486865" cy="440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2" name="Oval 7">
              <a:extLst>
                <a:ext uri="{FF2B5EF4-FFF2-40B4-BE49-F238E27FC236}">
                  <a16:creationId xmlns:a16="http://schemas.microsoft.com/office/drawing/2014/main" id="{7198155D-01D7-4247-8FFD-111C93E73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938" y="2167692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E5C6BBA-6310-41C7-A1AB-2C79C60D9FF3}"/>
                </a:ext>
              </a:extLst>
            </p:cNvPr>
            <p:cNvSpPr txBox="1"/>
            <p:nvPr/>
          </p:nvSpPr>
          <p:spPr>
            <a:xfrm>
              <a:off x="3749973" y="1683801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g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3913221-2651-46FC-A4D8-8DCF1A1319E6}"/>
                </a:ext>
              </a:extLst>
            </p:cNvPr>
            <p:cNvSpPr txBox="1"/>
            <p:nvPr/>
          </p:nvSpPr>
          <p:spPr>
            <a:xfrm>
              <a:off x="3105687" y="1572448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f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24B8158-1F26-48AF-B056-A7136142D178}"/>
                </a:ext>
              </a:extLst>
            </p:cNvPr>
            <p:cNvSpPr txBox="1"/>
            <p:nvPr/>
          </p:nvSpPr>
          <p:spPr>
            <a:xfrm>
              <a:off x="3153049" y="2369014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A81D0BF-CA24-4E3E-90CF-197D53463480}"/>
                </a:ext>
              </a:extLst>
            </p:cNvPr>
            <p:cNvSpPr txBox="1"/>
            <p:nvPr/>
          </p:nvSpPr>
          <p:spPr>
            <a:xfrm>
              <a:off x="3615951" y="2890946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AD699C0-8C2B-40B4-BF40-FF315C1C3BC9}"/>
                </a:ext>
              </a:extLst>
            </p:cNvPr>
            <p:cNvSpPr txBox="1"/>
            <p:nvPr/>
          </p:nvSpPr>
          <p:spPr>
            <a:xfrm>
              <a:off x="4582959" y="2458248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750A801-3813-4174-8D31-D0E74F346E44}"/>
                </a:ext>
              </a:extLst>
            </p:cNvPr>
            <p:cNvSpPr txBox="1"/>
            <p:nvPr/>
          </p:nvSpPr>
          <p:spPr>
            <a:xfrm>
              <a:off x="4587989" y="1431443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3DB2E62-A465-443D-A584-B1AC7A1A7663}"/>
                </a:ext>
              </a:extLst>
            </p:cNvPr>
            <p:cNvSpPr txBox="1"/>
            <p:nvPr/>
          </p:nvSpPr>
          <p:spPr>
            <a:xfrm>
              <a:off x="3531358" y="943321"/>
              <a:ext cx="3379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3246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Does the graph above has an Euler path?</a:t>
            </a:r>
          </a:p>
          <a:p>
            <a:pPr marL="0" indent="0">
              <a:buNone/>
            </a:pPr>
            <a:endParaRPr 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Sol:-	No</a:t>
            </a: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F24271FC-77FB-4D06-A7E6-67990688442D}"/>
              </a:ext>
            </a:extLst>
          </p:cNvPr>
          <p:cNvGrpSpPr>
            <a:grpSpLocks/>
          </p:cNvGrpSpPr>
          <p:nvPr/>
        </p:nvGrpSpPr>
        <p:grpSpPr bwMode="auto">
          <a:xfrm>
            <a:off x="3563091" y="2583903"/>
            <a:ext cx="985838" cy="228600"/>
            <a:chOff x="576" y="1872"/>
            <a:chExt cx="621" cy="144"/>
          </a:xfrm>
        </p:grpSpPr>
        <p:sp>
          <p:nvSpPr>
            <p:cNvPr id="30" name="Line 4">
              <a:extLst>
                <a:ext uri="{FF2B5EF4-FFF2-40B4-BE49-F238E27FC236}">
                  <a16:creationId xmlns:a16="http://schemas.microsoft.com/office/drawing/2014/main" id="{2EB3A44D-F50E-4888-9685-C7B4D5CA09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B4567C-E6B8-4A8F-B9A7-564528AD1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87BF4B4-85AC-46D4-94B1-3909132EF74F}"/>
              </a:ext>
            </a:extLst>
          </p:cNvPr>
          <p:cNvGrpSpPr>
            <a:grpSpLocks/>
          </p:cNvGrpSpPr>
          <p:nvPr/>
        </p:nvGrpSpPr>
        <p:grpSpPr bwMode="auto">
          <a:xfrm>
            <a:off x="3366241" y="1740941"/>
            <a:ext cx="1416051" cy="1071563"/>
            <a:chOff x="-124" y="1341"/>
            <a:chExt cx="892" cy="675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B24AA79-E007-4844-B18F-C765F5240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4" y="1341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4" name="Line 8">
              <a:extLst>
                <a:ext uri="{FF2B5EF4-FFF2-40B4-BE49-F238E27FC236}">
                  <a16:creationId xmlns:a16="http://schemas.microsoft.com/office/drawing/2014/main" id="{2EC98DAC-8E15-4249-9DEE-192F1DC9CB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442"/>
              <a:ext cx="144" cy="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044C08E-F706-4D1C-AC5A-93E4AB9B6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36" name="Line 14">
            <a:extLst>
              <a:ext uri="{FF2B5EF4-FFF2-40B4-BE49-F238E27FC236}">
                <a16:creationId xmlns:a16="http://schemas.microsoft.com/office/drawing/2014/main" id="{AB701E10-123E-48CC-A2D3-B9ADB6834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7708" y="1858416"/>
            <a:ext cx="141205" cy="8586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6C4B82A0-7151-4ED7-A82B-26ACFE76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485" y="1752467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38" name="Line 4">
            <a:extLst>
              <a:ext uri="{FF2B5EF4-FFF2-40B4-BE49-F238E27FC236}">
                <a16:creationId xmlns:a16="http://schemas.microsoft.com/office/drawing/2014/main" id="{E324B640-8C09-4D7D-BF2C-028C7C09D6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708" y="1807918"/>
            <a:ext cx="1294583" cy="371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39" name="Line 4">
            <a:extLst>
              <a:ext uri="{FF2B5EF4-FFF2-40B4-BE49-F238E27FC236}">
                <a16:creationId xmlns:a16="http://schemas.microsoft.com/office/drawing/2014/main" id="{30BF887E-035A-4A18-877C-1CA380990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9465" y="1807918"/>
            <a:ext cx="1142976" cy="9275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0" name="Line 4">
            <a:extLst>
              <a:ext uri="{FF2B5EF4-FFF2-40B4-BE49-F238E27FC236}">
                <a16:creationId xmlns:a16="http://schemas.microsoft.com/office/drawing/2014/main" id="{559F14AC-AFEC-4490-8000-599B157F8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2940" y="1858416"/>
            <a:ext cx="1002126" cy="801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1" name="Oval 7">
            <a:extLst>
              <a:ext uri="{FF2B5EF4-FFF2-40B4-BE49-F238E27FC236}">
                <a16:creationId xmlns:a16="http://schemas.microsoft.com/office/drawing/2014/main" id="{B3892BA4-9B1F-41C4-8824-3399F4847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353" y="1170225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2" name="Line 4">
            <a:extLst>
              <a:ext uri="{FF2B5EF4-FFF2-40B4-BE49-F238E27FC236}">
                <a16:creationId xmlns:a16="http://schemas.microsoft.com/office/drawing/2014/main" id="{783ED7D9-C448-495E-8E68-3A5D5DDEE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3433" y="1331847"/>
            <a:ext cx="486865" cy="13348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3" name="Line 4">
            <a:extLst>
              <a:ext uri="{FF2B5EF4-FFF2-40B4-BE49-F238E27FC236}">
                <a16:creationId xmlns:a16="http://schemas.microsoft.com/office/drawing/2014/main" id="{3900142B-D684-4AA3-975C-F1134F7143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5607" y="1295861"/>
            <a:ext cx="462532" cy="14722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6" name="Line 4">
            <a:extLst>
              <a:ext uri="{FF2B5EF4-FFF2-40B4-BE49-F238E27FC236}">
                <a16:creationId xmlns:a16="http://schemas.microsoft.com/office/drawing/2014/main" id="{59A555A3-E158-4D13-AE0E-54935F588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621" y="1295861"/>
            <a:ext cx="567144" cy="5450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7" name="Line 4">
            <a:extLst>
              <a:ext uri="{FF2B5EF4-FFF2-40B4-BE49-F238E27FC236}">
                <a16:creationId xmlns:a16="http://schemas.microsoft.com/office/drawing/2014/main" id="{172C8747-7E98-4AE5-971E-E8D5CC7CE1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1601" y="1251454"/>
            <a:ext cx="521306" cy="6023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226696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43311106-12D1-4CFA-A18E-681895FF6203}"/>
              </a:ext>
            </a:extLst>
          </p:cNvPr>
          <p:cNvGrpSpPr>
            <a:grpSpLocks/>
          </p:cNvGrpSpPr>
          <p:nvPr/>
        </p:nvGrpSpPr>
        <p:grpSpPr bwMode="auto">
          <a:xfrm>
            <a:off x="3563091" y="2627516"/>
            <a:ext cx="985838" cy="228600"/>
            <a:chOff x="576" y="1872"/>
            <a:chExt cx="621" cy="144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F56A9B83-9049-4E29-818E-CCB812419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55CD38D-4E5E-4FF5-8DA1-37AFC1A2D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E34F0FA-082E-432C-B5B7-421BA8227CEB}"/>
              </a:ext>
            </a:extLst>
          </p:cNvPr>
          <p:cNvGrpSpPr>
            <a:grpSpLocks/>
          </p:cNvGrpSpPr>
          <p:nvPr/>
        </p:nvGrpSpPr>
        <p:grpSpPr bwMode="auto">
          <a:xfrm>
            <a:off x="3366241" y="1784554"/>
            <a:ext cx="1416051" cy="1071563"/>
            <a:chOff x="-124" y="1341"/>
            <a:chExt cx="892" cy="67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2AC54C-41BC-4E5F-9BEA-13D36C840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4" y="1341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28CF04D-9CA0-46BB-A80C-F94B004F1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442"/>
              <a:ext cx="144" cy="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9DF613-25BC-42E7-8A44-3D2137CAD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11" name="Line 14">
            <a:extLst>
              <a:ext uri="{FF2B5EF4-FFF2-40B4-BE49-F238E27FC236}">
                <a16:creationId xmlns:a16="http://schemas.microsoft.com/office/drawing/2014/main" id="{A5750709-5AD4-4691-8152-E72A08B385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7708" y="1902029"/>
            <a:ext cx="141205" cy="8586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FBFEE8AC-3127-4C88-A222-A80483596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485" y="1796080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60CCE020-9689-4264-A113-C86EDB95A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708" y="1851531"/>
            <a:ext cx="1294583" cy="371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2E0C6EF9-965C-4E78-8284-92E0BB897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353" y="1213838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9" name="Line 4">
            <a:extLst>
              <a:ext uri="{FF2B5EF4-FFF2-40B4-BE49-F238E27FC236}">
                <a16:creationId xmlns:a16="http://schemas.microsoft.com/office/drawing/2014/main" id="{841E310E-5DF7-43FD-9028-FB29ED6DBD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5607" y="1339474"/>
            <a:ext cx="462532" cy="14722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20" name="Line 4">
            <a:extLst>
              <a:ext uri="{FF2B5EF4-FFF2-40B4-BE49-F238E27FC236}">
                <a16:creationId xmlns:a16="http://schemas.microsoft.com/office/drawing/2014/main" id="{DF11A43A-AA7D-4A13-9850-7F6AC86C2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621" y="1339474"/>
            <a:ext cx="567144" cy="5450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21" name="Line 4">
            <a:extLst>
              <a:ext uri="{FF2B5EF4-FFF2-40B4-BE49-F238E27FC236}">
                <a16:creationId xmlns:a16="http://schemas.microsoft.com/office/drawing/2014/main" id="{9CF5682C-5DD1-4E33-A773-D844443C9D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1601" y="1295067"/>
            <a:ext cx="521306" cy="6023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BE9776-66C9-42DF-A348-0F79B74DB86E}"/>
              </a:ext>
            </a:extLst>
          </p:cNvPr>
          <p:cNvSpPr txBox="1"/>
          <p:nvPr/>
        </p:nvSpPr>
        <p:spPr>
          <a:xfrm>
            <a:off x="3031102" y="1681911"/>
            <a:ext cx="506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B30537-1C22-43FE-96F8-81A563AF93E2}"/>
              </a:ext>
            </a:extLst>
          </p:cNvPr>
          <p:cNvSpPr txBox="1"/>
          <p:nvPr/>
        </p:nvSpPr>
        <p:spPr>
          <a:xfrm>
            <a:off x="4256057" y="1080001"/>
            <a:ext cx="506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2E919-8970-40C3-99E5-F21294C94D97}"/>
              </a:ext>
            </a:extLst>
          </p:cNvPr>
          <p:cNvSpPr txBox="1"/>
          <p:nvPr/>
        </p:nvSpPr>
        <p:spPr>
          <a:xfrm>
            <a:off x="4877554" y="1639286"/>
            <a:ext cx="506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E84496-1A6C-4BD4-B955-88D6076B31AF}"/>
              </a:ext>
            </a:extLst>
          </p:cNvPr>
          <p:cNvSpPr txBox="1"/>
          <p:nvPr/>
        </p:nvSpPr>
        <p:spPr>
          <a:xfrm>
            <a:off x="4710909" y="2586346"/>
            <a:ext cx="506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9DBCAB-5272-45B8-B5E2-FCBB62C4FF68}"/>
              </a:ext>
            </a:extLst>
          </p:cNvPr>
          <p:cNvSpPr txBox="1"/>
          <p:nvPr/>
        </p:nvSpPr>
        <p:spPr>
          <a:xfrm>
            <a:off x="3152569" y="2525211"/>
            <a:ext cx="506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C12225C-737B-4AB8-AF77-59F8F8568EA5}"/>
              </a:ext>
            </a:extLst>
          </p:cNvPr>
          <p:cNvSpPr txBox="1">
            <a:spLocks/>
          </p:cNvSpPr>
          <p:nvPr/>
        </p:nvSpPr>
        <p:spPr>
          <a:xfrm>
            <a:off x="545690" y="3340745"/>
            <a:ext cx="8111293" cy="3399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Ques:- </a:t>
            </a:r>
            <a:r>
              <a:rPr lang="en-US" dirty="0"/>
              <a:t>Does the graph above has an Euler circuit or an  Euler path?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/>
              <a:t>Sol:-	</a:t>
            </a:r>
            <a:r>
              <a:rPr lang="en-US" altLang="en-US" dirty="0"/>
              <a:t>Since there are four vertices of odd degree (a, b, c, and e) and 4 &gt; 2, this graph has neither an Euler circuit nor an Euler path.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94876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C12225C-737B-4AB8-AF77-59F8F8568EA5}"/>
              </a:ext>
            </a:extLst>
          </p:cNvPr>
          <p:cNvSpPr txBox="1">
            <a:spLocks/>
          </p:cNvSpPr>
          <p:nvPr/>
        </p:nvSpPr>
        <p:spPr>
          <a:xfrm>
            <a:off x="545690" y="3340745"/>
            <a:ext cx="8111293" cy="339927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Ques:- </a:t>
            </a:r>
            <a:r>
              <a:rPr lang="en-US" dirty="0"/>
              <a:t>Does the graph above has an Euler circuit or an  Euler path?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/>
              <a:t>Sol:-	</a:t>
            </a:r>
            <a:r>
              <a:rPr lang="en-US" altLang="en-US" dirty="0"/>
              <a:t>Since there are two vertices of odd degree (a and d), this graph has no Euler circuit, but it does have an Euler path starting at a and ending at d. We can find such a path by inspection, One such path is a, e, c, e, b, e, d, b, a, c, 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b="1" dirty="0"/>
          </a:p>
        </p:txBody>
      </p:sp>
      <p:sp>
        <p:nvSpPr>
          <p:cNvPr id="44" name="Text Box 20">
            <a:extLst>
              <a:ext uri="{FF2B5EF4-FFF2-40B4-BE49-F238E27FC236}">
                <a16:creationId xmlns:a16="http://schemas.microsoft.com/office/drawing/2014/main" id="{116A7C5A-E8B1-4620-B307-312E7B3C7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7632" y="2017769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  <a:latin typeface="+mn-lt"/>
              </a:rPr>
              <a:t>e</a:t>
            </a:r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FFF56030-B573-431D-83A4-CCFA6D82B3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30876" y="151606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46" name="Oval 22">
            <a:extLst>
              <a:ext uri="{FF2B5EF4-FFF2-40B4-BE49-F238E27FC236}">
                <a16:creationId xmlns:a16="http://schemas.microsoft.com/office/drawing/2014/main" id="{6A93AF28-2C2F-435A-8E35-9960E58E14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0401" y="299561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47" name="Line 23">
            <a:extLst>
              <a:ext uri="{FF2B5EF4-FFF2-40B4-BE49-F238E27FC236}">
                <a16:creationId xmlns:a16="http://schemas.microsoft.com/office/drawing/2014/main" id="{897B3FE2-C865-42EB-B92A-F786185C21E0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2859363" y="2316162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48" name="Text Box 24">
            <a:extLst>
              <a:ext uri="{FF2B5EF4-FFF2-40B4-BE49-F238E27FC236}">
                <a16:creationId xmlns:a16="http://schemas.microsoft.com/office/drawing/2014/main" id="{5EBBB720-BEEC-49D9-B81F-3D1E9A982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226" y="3059112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d</a:t>
            </a:r>
          </a:p>
        </p:txBody>
      </p:sp>
      <p:sp>
        <p:nvSpPr>
          <p:cNvPr id="49" name="Text Box 25">
            <a:extLst>
              <a:ext uri="{FF2B5EF4-FFF2-40B4-BE49-F238E27FC236}">
                <a16:creationId xmlns:a16="http://schemas.microsoft.com/office/drawing/2014/main" id="{FB2A0D95-7BEA-4034-8935-6F661FFB6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826" y="1138237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a</a:t>
            </a:r>
          </a:p>
        </p:txBody>
      </p:sp>
      <p:sp>
        <p:nvSpPr>
          <p:cNvPr id="50" name="Oval 26">
            <a:extLst>
              <a:ext uri="{FF2B5EF4-FFF2-40B4-BE49-F238E27FC236}">
                <a16:creationId xmlns:a16="http://schemas.microsoft.com/office/drawing/2014/main" id="{C2614AD5-DD32-4432-BF64-F29E99A8F1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16776" y="151606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51" name="Oval 27">
            <a:extLst>
              <a:ext uri="{FF2B5EF4-FFF2-40B4-BE49-F238E27FC236}">
                <a16:creationId xmlns:a16="http://schemas.microsoft.com/office/drawing/2014/main" id="{2C5A14DB-4494-44FC-AC17-8F81390723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6301" y="2995612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52" name="Line 28">
            <a:extLst>
              <a:ext uri="{FF2B5EF4-FFF2-40B4-BE49-F238E27FC236}">
                <a16:creationId xmlns:a16="http://schemas.microsoft.com/office/drawing/2014/main" id="{A0F7C67A-C4A7-4014-945E-006FBCEFF590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>
            <a:off x="4345263" y="2316162"/>
            <a:ext cx="146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53" name="Text Box 29">
            <a:extLst>
              <a:ext uri="{FF2B5EF4-FFF2-40B4-BE49-F238E27FC236}">
                <a16:creationId xmlns:a16="http://schemas.microsoft.com/office/drawing/2014/main" id="{8E8F840E-1628-4B05-A904-35A5FA6E2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026" y="3043237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c</a:t>
            </a:r>
          </a:p>
        </p:txBody>
      </p:sp>
      <p:sp>
        <p:nvSpPr>
          <p:cNvPr id="54" name="Text Box 30">
            <a:extLst>
              <a:ext uri="{FF2B5EF4-FFF2-40B4-BE49-F238E27FC236}">
                <a16:creationId xmlns:a16="http://schemas.microsoft.com/office/drawing/2014/main" id="{4B179294-CE04-4D8D-8DF7-A25C8F4BB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726" y="1154112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+mn-lt"/>
              </a:rPr>
              <a:t>b</a:t>
            </a:r>
          </a:p>
        </p:txBody>
      </p:sp>
      <p:sp>
        <p:nvSpPr>
          <p:cNvPr id="55" name="Line 31">
            <a:extLst>
              <a:ext uri="{FF2B5EF4-FFF2-40B4-BE49-F238E27FC236}">
                <a16:creationId xmlns:a16="http://schemas.microsoft.com/office/drawing/2014/main" id="{B82A1423-6C6A-47FF-820D-EA299D99415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630889" y="1571625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56" name="Line 32">
            <a:extLst>
              <a:ext uri="{FF2B5EF4-FFF2-40B4-BE49-F238E27FC236}">
                <a16:creationId xmlns:a16="http://schemas.microsoft.com/office/drawing/2014/main" id="{1BFC493A-6D06-4275-A3EC-780770259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8026" y="1595437"/>
            <a:ext cx="144780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57" name="Line 33">
            <a:extLst>
              <a:ext uri="{FF2B5EF4-FFF2-40B4-BE49-F238E27FC236}">
                <a16:creationId xmlns:a16="http://schemas.microsoft.com/office/drawing/2014/main" id="{AE1D09C8-74CB-403D-B671-6240646B37A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603901" y="3043237"/>
            <a:ext cx="147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58" name="Line 34">
            <a:extLst>
              <a:ext uri="{FF2B5EF4-FFF2-40B4-BE49-F238E27FC236}">
                <a16:creationId xmlns:a16="http://schemas.microsoft.com/office/drawing/2014/main" id="{CAF8CEA9-2F5D-423D-AA13-F4E58F5BA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8026" y="1595437"/>
            <a:ext cx="144780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59" name="Oval 35">
            <a:extLst>
              <a:ext uri="{FF2B5EF4-FFF2-40B4-BE49-F238E27FC236}">
                <a16:creationId xmlns:a16="http://schemas.microsoft.com/office/drawing/2014/main" id="{8CBD4B35-7A84-4F19-A5EB-F596E5DA2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48426" y="2255837"/>
            <a:ext cx="109538" cy="1095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+mn-lt"/>
            </a:endParaRP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9E0A35DB-85BA-4242-9E0D-64DF8A901333}"/>
              </a:ext>
            </a:extLst>
          </p:cNvPr>
          <p:cNvSpPr/>
          <p:nvPr/>
        </p:nvSpPr>
        <p:spPr>
          <a:xfrm rot="19078634">
            <a:off x="3474222" y="2493507"/>
            <a:ext cx="1036758" cy="437328"/>
          </a:xfrm>
          <a:prstGeom prst="arc">
            <a:avLst>
              <a:gd name="adj1" fmla="val 10995366"/>
              <a:gd name="adj2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0A754B42-E216-45AE-9C02-88A4E83D37EF}"/>
              </a:ext>
            </a:extLst>
          </p:cNvPr>
          <p:cNvSpPr/>
          <p:nvPr/>
        </p:nvSpPr>
        <p:spPr>
          <a:xfrm rot="19078634">
            <a:off x="4165692" y="1741337"/>
            <a:ext cx="1064176" cy="447981"/>
          </a:xfrm>
          <a:prstGeom prst="arc">
            <a:avLst>
              <a:gd name="adj1" fmla="val 10995366"/>
              <a:gd name="adj2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4DC159D-3578-450F-B426-0E96055C5F11}"/>
              </a:ext>
            </a:extLst>
          </p:cNvPr>
          <p:cNvSpPr/>
          <p:nvPr/>
        </p:nvSpPr>
        <p:spPr>
          <a:xfrm rot="8045409">
            <a:off x="4159065" y="1734711"/>
            <a:ext cx="1064176" cy="447981"/>
          </a:xfrm>
          <a:prstGeom prst="arc">
            <a:avLst>
              <a:gd name="adj1" fmla="val 10995366"/>
              <a:gd name="adj2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E8A1B9EC-914E-4BE0-BB8E-452BFB23821C}"/>
              </a:ext>
            </a:extLst>
          </p:cNvPr>
          <p:cNvSpPr/>
          <p:nvPr/>
        </p:nvSpPr>
        <p:spPr>
          <a:xfrm rot="8045409">
            <a:off x="3426888" y="2443706"/>
            <a:ext cx="1064176" cy="447981"/>
          </a:xfrm>
          <a:prstGeom prst="arc">
            <a:avLst>
              <a:gd name="adj1" fmla="val 10995366"/>
              <a:gd name="adj2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29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C12225C-737B-4AB8-AF77-59F8F8568EA5}"/>
              </a:ext>
            </a:extLst>
          </p:cNvPr>
          <p:cNvSpPr txBox="1">
            <a:spLocks/>
          </p:cNvSpPr>
          <p:nvPr/>
        </p:nvSpPr>
        <p:spPr>
          <a:xfrm>
            <a:off x="227638" y="4078364"/>
            <a:ext cx="8111293" cy="33992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/>
              <a:t>Sol:-	</a:t>
            </a:r>
            <a:r>
              <a:rPr lang="en-US" altLang="en-US" dirty="0"/>
              <a:t>All the vertex degrees are even, so there is an Euler circuit. We can find such a circuit by inspection, One such circuit is a, b, c, d, c, e, d, b, e, a, e, a.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EF481-4F80-47AF-92A4-3B55C44BA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1" t="3480"/>
          <a:stretch/>
        </p:blipFill>
        <p:spPr>
          <a:xfrm>
            <a:off x="1401417" y="1291998"/>
            <a:ext cx="6545781" cy="339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2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C12225C-737B-4AB8-AF77-59F8F8568EA5}"/>
              </a:ext>
            </a:extLst>
          </p:cNvPr>
          <p:cNvSpPr txBox="1">
            <a:spLocks/>
          </p:cNvSpPr>
          <p:nvPr/>
        </p:nvSpPr>
        <p:spPr>
          <a:xfrm>
            <a:off x="227638" y="4691268"/>
            <a:ext cx="8670556" cy="19778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Sol:-	</a:t>
            </a:r>
            <a:r>
              <a:rPr lang="en-US" altLang="en-US" sz="2400" dirty="0"/>
              <a:t>All the vertex degrees are even, so there is an Euler circuit. We can find such a circuit by inspection, One such circuit is a, b, c, d, e, f, g, h,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a, h, b,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c, e, h, d, g, c, a.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98D3F-AD25-4618-B166-0626FA9FF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1" r="2777" b="-601"/>
          <a:stretch/>
        </p:blipFill>
        <p:spPr>
          <a:xfrm>
            <a:off x="196645" y="1274828"/>
            <a:ext cx="8750710" cy="322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3588026"/>
            <a:ext cx="8504904" cy="31109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Determine whether the picture shown can</a:t>
            </a:r>
            <a:br>
              <a:rPr lang="en-US" dirty="0"/>
            </a:br>
            <a:r>
              <a:rPr lang="en-US" dirty="0"/>
              <a:t>be drawn with a pencil in a continuous motion without lifting</a:t>
            </a:r>
            <a:br>
              <a:rPr lang="en-US" dirty="0"/>
            </a:br>
            <a:r>
              <a:rPr lang="en-US" dirty="0"/>
              <a:t>the pencil or retracing part of the picture.</a:t>
            </a:r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The graph in the current exercise has all vertices of even degree; therefore it has an Euler circuit and can be so traced.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5049D-8DD5-4A6E-85F3-DCB33E71E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43" y="1146208"/>
            <a:ext cx="4286470" cy="244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12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Paths and Circuits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3588026"/>
            <a:ext cx="8504904" cy="31109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Determine whether the picture shown can</a:t>
            </a:r>
            <a:br>
              <a:rPr lang="en-US" sz="2400" dirty="0"/>
            </a:br>
            <a:r>
              <a:rPr lang="en-US" sz="2400" dirty="0"/>
              <a:t>be drawn with a pencil in a continuous motion without lifting</a:t>
            </a:r>
            <a:br>
              <a:rPr lang="en-US" sz="2400" dirty="0"/>
            </a:br>
            <a:r>
              <a:rPr lang="en-US" sz="2400" dirty="0"/>
              <a:t>the pencil or retracing part of the picture.</a:t>
            </a:r>
          </a:p>
          <a:p>
            <a:pPr marL="0" indent="0">
              <a:buNone/>
            </a:pPr>
            <a:r>
              <a:rPr lang="en-US" sz="2400" b="1" dirty="0"/>
              <a:t>Sol:- </a:t>
            </a:r>
            <a:r>
              <a:rPr lang="en-US" sz="2400" dirty="0"/>
              <a:t>This graph has 4 vertices of odd degree; therefore it has no Euler path or circuit and cannot be so traced.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7B8AC-F721-441E-BE11-D3FA115C7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40" y="1323867"/>
            <a:ext cx="3308520" cy="226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13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Circuit in Directed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66" y="4442790"/>
            <a:ext cx="8975034" cy="2266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Does the graph above has an Euler circuit? </a:t>
            </a:r>
          </a:p>
          <a:p>
            <a:pPr marL="0" indent="0">
              <a:buNone/>
            </a:pPr>
            <a:r>
              <a:rPr lang="en-US" sz="2400" b="1" dirty="0"/>
              <a:t>Sol:- 	</a:t>
            </a:r>
            <a:r>
              <a:rPr lang="en-US" sz="2400" dirty="0"/>
              <a:t>No</a:t>
            </a:r>
            <a:endParaRPr lang="en-IN" sz="2400" dirty="0"/>
          </a:p>
        </p:txBody>
      </p:sp>
      <p:pic>
        <p:nvPicPr>
          <p:cNvPr id="5" name="Picture 4" descr="09_5_04">
            <a:extLst>
              <a:ext uri="{FF2B5EF4-FFF2-40B4-BE49-F238E27FC236}">
                <a16:creationId xmlns:a16="http://schemas.microsoft.com/office/drawing/2014/main" id="{ED054718-98CA-49F5-9BF8-752BFEE8F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43" r="77782" b="15911"/>
          <a:stretch/>
        </p:blipFill>
        <p:spPr>
          <a:xfrm>
            <a:off x="3134139" y="1282148"/>
            <a:ext cx="1845365" cy="25642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340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Circuit in Directed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5" y="4432852"/>
            <a:ext cx="8975034" cy="2266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Does the graph above has an Euler circuit? </a:t>
            </a:r>
          </a:p>
          <a:p>
            <a:pPr marL="0" indent="0">
              <a:buNone/>
            </a:pPr>
            <a:r>
              <a:rPr lang="en-US" sz="2400" b="1" dirty="0"/>
              <a:t>Sol:- 	</a:t>
            </a:r>
            <a:r>
              <a:rPr lang="en-US" sz="2400" dirty="0"/>
              <a:t>Yes (a, g, c, b, g, e, d, f, a)</a:t>
            </a:r>
            <a:endParaRPr lang="en-IN" sz="2400" dirty="0"/>
          </a:p>
        </p:txBody>
      </p:sp>
      <p:pic>
        <p:nvPicPr>
          <p:cNvPr id="6" name="Picture 4" descr="09_5_04">
            <a:extLst>
              <a:ext uri="{FF2B5EF4-FFF2-40B4-BE49-F238E27FC236}">
                <a16:creationId xmlns:a16="http://schemas.microsoft.com/office/drawing/2014/main" id="{6FDB09DB-95B3-4451-A040-508298C02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7" t="13609" r="26606" b="12081"/>
          <a:stretch/>
        </p:blipFill>
        <p:spPr>
          <a:xfrm>
            <a:off x="2554357" y="1371599"/>
            <a:ext cx="3677478" cy="30612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9243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Circuit in Directed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5" y="4432852"/>
            <a:ext cx="8975034" cy="2266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Does the graph above has an Euler circuit? </a:t>
            </a:r>
          </a:p>
          <a:p>
            <a:pPr marL="0" indent="0">
              <a:buNone/>
            </a:pPr>
            <a:r>
              <a:rPr lang="en-US" sz="2400" b="1" dirty="0"/>
              <a:t>Sol:- 	</a:t>
            </a:r>
            <a:r>
              <a:rPr lang="en-US" sz="2400" dirty="0"/>
              <a:t>No</a:t>
            </a:r>
            <a:endParaRPr lang="en-IN" sz="2400" dirty="0"/>
          </a:p>
        </p:txBody>
      </p:sp>
      <p:pic>
        <p:nvPicPr>
          <p:cNvPr id="5" name="Picture 4" descr="09_5_04">
            <a:extLst>
              <a:ext uri="{FF2B5EF4-FFF2-40B4-BE49-F238E27FC236}">
                <a16:creationId xmlns:a16="http://schemas.microsoft.com/office/drawing/2014/main" id="{08FBEB34-D083-4D6D-A21E-EE4E180B4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2" t="22960" b="16724"/>
          <a:stretch/>
        </p:blipFill>
        <p:spPr>
          <a:xfrm>
            <a:off x="3230216" y="1284877"/>
            <a:ext cx="2057401" cy="27702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0643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in Directed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5" y="4432852"/>
            <a:ext cx="8975034" cy="2266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Does the graph above has an Euler path? </a:t>
            </a:r>
          </a:p>
          <a:p>
            <a:pPr marL="0" indent="0">
              <a:buNone/>
            </a:pPr>
            <a:r>
              <a:rPr lang="en-US" sz="2400" b="1" dirty="0"/>
              <a:t>Sol:- 	</a:t>
            </a:r>
            <a:r>
              <a:rPr lang="en-US" sz="2400" dirty="0"/>
              <a:t>Yes</a:t>
            </a:r>
          </a:p>
          <a:p>
            <a:pPr marL="0" indent="0">
              <a:buNone/>
            </a:pPr>
            <a:r>
              <a:rPr lang="en-US" sz="2400" dirty="0"/>
              <a:t>(a, g, c, b, g, e, d, f, a)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7" name="Picture 4" descr="09_5_04">
            <a:extLst>
              <a:ext uri="{FF2B5EF4-FFF2-40B4-BE49-F238E27FC236}">
                <a16:creationId xmlns:a16="http://schemas.microsoft.com/office/drawing/2014/main" id="{3ACD1AC1-6B27-4E24-A4B5-16A6D83FD5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7" t="13609" r="26606" b="12081"/>
          <a:stretch/>
        </p:blipFill>
        <p:spPr>
          <a:xfrm>
            <a:off x="2554357" y="1371599"/>
            <a:ext cx="3677478" cy="30612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155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in Directed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38C-266E-451C-AB57-CCC7EAA3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5" y="4432852"/>
            <a:ext cx="8975034" cy="2266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Does the graph above has an Euler path? </a:t>
            </a:r>
          </a:p>
          <a:p>
            <a:pPr marL="0" indent="0">
              <a:buNone/>
            </a:pPr>
            <a:r>
              <a:rPr lang="en-US" sz="2400" b="1" dirty="0"/>
              <a:t>Sol:- 	</a:t>
            </a:r>
            <a:r>
              <a:rPr lang="en-US" sz="2400" dirty="0"/>
              <a:t>Yes      </a:t>
            </a:r>
          </a:p>
          <a:p>
            <a:pPr marL="0" indent="0">
              <a:buNone/>
            </a:pPr>
            <a:r>
              <a:rPr lang="en-US" sz="2400" dirty="0"/>
              <a:t> (c, a, b, c, d, b) 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 descr="09_5_04">
            <a:extLst>
              <a:ext uri="{FF2B5EF4-FFF2-40B4-BE49-F238E27FC236}">
                <a16:creationId xmlns:a16="http://schemas.microsoft.com/office/drawing/2014/main" id="{08FBEB34-D083-4D6D-A21E-EE4E180B4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2" t="22960" b="16724"/>
          <a:stretch/>
        </p:blipFill>
        <p:spPr>
          <a:xfrm>
            <a:off x="3230216" y="1284877"/>
            <a:ext cx="2057401" cy="27702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3751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8F6C-7392-4C04-8202-1C5583B0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 Paths and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56A-EAD6-429A-A823-33075B93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For which values of n do the graphs K</a:t>
            </a:r>
            <a:r>
              <a:rPr lang="en-US" sz="2400" baseline="-25000" dirty="0"/>
              <a:t>n</a:t>
            </a:r>
            <a:r>
              <a:rPr lang="en-US" sz="2400" dirty="0"/>
              <a:t> have an Euler path but no Euler circuit?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Sol:-</a:t>
            </a:r>
            <a:r>
              <a:rPr lang="en-US" sz="2400" dirty="0"/>
              <a:t> Clearly K</a:t>
            </a:r>
            <a:r>
              <a:rPr lang="en-US" sz="2400" baseline="-25000" dirty="0"/>
              <a:t>2</a:t>
            </a:r>
            <a:r>
              <a:rPr lang="en-US" sz="2400" dirty="0"/>
              <a:t> has an Euler path but no Euler circuit. </a:t>
            </a:r>
          </a:p>
        </p:txBody>
      </p:sp>
    </p:spTree>
    <p:extLst>
      <p:ext uri="{BB962C8B-B14F-4D97-AF65-F5344CB8AC3E}">
        <p14:creationId xmlns:p14="http://schemas.microsoft.com/office/powerpoint/2010/main" val="3038770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8F6C-7392-4C04-8202-1C5583B0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 Paths and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56A-EAD6-429A-A823-33075B93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For which values of n do the graphs K</a:t>
            </a:r>
            <a:r>
              <a:rPr lang="en-US" sz="2400" baseline="-25000" dirty="0"/>
              <a:t>n</a:t>
            </a:r>
            <a:r>
              <a:rPr lang="en-US" sz="2400" dirty="0"/>
              <a:t> have an Euler path but no Euler circuit?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Sol:-</a:t>
            </a:r>
            <a:r>
              <a:rPr lang="en-US" sz="2400" dirty="0"/>
              <a:t> For odd n &gt; 2 there is an Euler circuit (since the degrees of all the vertices are n -1, which is even), whereas for even n &gt; 2 there are at least 4 vertices of odd degree and hence no Euler path. </a:t>
            </a:r>
          </a:p>
        </p:txBody>
      </p:sp>
    </p:spTree>
    <p:extLst>
      <p:ext uri="{BB962C8B-B14F-4D97-AF65-F5344CB8AC3E}">
        <p14:creationId xmlns:p14="http://schemas.microsoft.com/office/powerpoint/2010/main" val="3252616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8F6C-7392-4C04-8202-1C5583B0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 Paths and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56A-EAD6-429A-A823-33075B93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Ques:- </a:t>
            </a:r>
            <a:r>
              <a:rPr lang="en-US" sz="2400" dirty="0"/>
              <a:t>For which values of n do the graphs K</a:t>
            </a:r>
            <a:r>
              <a:rPr lang="en-US" sz="2400" baseline="-25000" dirty="0"/>
              <a:t>n</a:t>
            </a:r>
            <a:r>
              <a:rPr lang="en-US" sz="2400" dirty="0"/>
              <a:t> have an Euler path but no Euler circuit?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Sol:-</a:t>
            </a:r>
            <a:r>
              <a:rPr lang="en-US" sz="2400" dirty="0"/>
              <a:t> Thus for no n other than 2 is there an Euler path but not an Euler circuit.</a:t>
            </a:r>
          </a:p>
        </p:txBody>
      </p:sp>
    </p:spTree>
    <p:extLst>
      <p:ext uri="{BB962C8B-B14F-4D97-AF65-F5344CB8AC3E}">
        <p14:creationId xmlns:p14="http://schemas.microsoft.com/office/powerpoint/2010/main" val="840982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8F6C-7392-4C04-8202-1C5583B0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 Paths and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56A-EAD6-429A-A823-33075B93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For which values of n do the graph C</a:t>
            </a:r>
            <a:r>
              <a:rPr lang="en-US" baseline="-25000" dirty="0"/>
              <a:t>n</a:t>
            </a:r>
            <a:r>
              <a:rPr lang="en-US" dirty="0"/>
              <a:t> have an Euler path but no Euler circuit?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Sol:-</a:t>
            </a:r>
            <a:r>
              <a:rPr lang="en-US" dirty="0"/>
              <a:t> Since C</a:t>
            </a:r>
            <a:r>
              <a:rPr lang="en-US" baseline="-25000" dirty="0"/>
              <a:t>n</a:t>
            </a:r>
            <a:r>
              <a:rPr lang="en-US" dirty="0"/>
              <a:t> has an Euler circuit for all n, there are no values of n meeting these conditions.</a:t>
            </a:r>
          </a:p>
        </p:txBody>
      </p:sp>
    </p:spTree>
    <p:extLst>
      <p:ext uri="{BB962C8B-B14F-4D97-AF65-F5344CB8AC3E}">
        <p14:creationId xmlns:p14="http://schemas.microsoft.com/office/powerpoint/2010/main" val="2399706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8F6C-7392-4C04-8202-1C5583B0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 Paths and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56A-EAD6-429A-A823-33075B93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For which values of n do the graph </a:t>
            </a:r>
            <a:r>
              <a:rPr lang="en-US" dirty="0" err="1"/>
              <a:t>W</a:t>
            </a:r>
            <a:r>
              <a:rPr lang="en-US" baseline="-25000" dirty="0" err="1"/>
              <a:t>n</a:t>
            </a:r>
            <a:r>
              <a:rPr lang="en-US" dirty="0"/>
              <a:t> have an Euler path but no Euler circuit?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A wheel has at least 3 vertices of degree 3 (around the rim), so there can be no Euler path.</a:t>
            </a:r>
          </a:p>
        </p:txBody>
      </p:sp>
    </p:spTree>
    <p:extLst>
      <p:ext uri="{BB962C8B-B14F-4D97-AF65-F5344CB8AC3E}">
        <p14:creationId xmlns:p14="http://schemas.microsoft.com/office/powerpoint/2010/main" val="349281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8F6C-7392-4C04-8202-1C5583B0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 Paths and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56A-EAD6-429A-A823-33075B93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For which values of n do the graph </a:t>
            </a:r>
            <a:r>
              <a:rPr lang="en-US" dirty="0" err="1"/>
              <a:t>Q</a:t>
            </a:r>
            <a:r>
              <a:rPr lang="en-US" baseline="-25000" dirty="0" err="1"/>
              <a:t>n</a:t>
            </a:r>
            <a:r>
              <a:rPr lang="en-US" dirty="0"/>
              <a:t> have an Euler path but no Euler circuit?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The same argument applies here as applied in part (a). In more detail, Q</a:t>
            </a:r>
            <a:r>
              <a:rPr lang="en-US" baseline="-25000" dirty="0"/>
              <a:t>1</a:t>
            </a:r>
            <a:r>
              <a:rPr lang="en-US" dirty="0"/>
              <a:t> (which is the same as K</a:t>
            </a:r>
            <a:r>
              <a:rPr lang="en-US" baseline="-25000" dirty="0"/>
              <a:t>2</a:t>
            </a:r>
            <a:r>
              <a:rPr lang="en-US" dirty="0"/>
              <a:t> ) is the only cube with an Euler path but no Euler circuit, since for odd n &gt; 1 there are too many vertices of odd degree, and for even n &gt; 1 there is an Euler circuit.</a:t>
            </a:r>
          </a:p>
        </p:txBody>
      </p:sp>
    </p:spTree>
    <p:extLst>
      <p:ext uri="{BB962C8B-B14F-4D97-AF65-F5344CB8AC3E}">
        <p14:creationId xmlns:p14="http://schemas.microsoft.com/office/powerpoint/2010/main" val="1153075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9812</TotalTime>
  <Words>1133</Words>
  <Application>Microsoft Office PowerPoint</Application>
  <PresentationFormat>On-screen Show (4:3)</PresentationFormat>
  <Paragraphs>144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</vt:lpstr>
      <vt:lpstr>Bahnschrift</vt:lpstr>
      <vt:lpstr>Bahnschrift SemiBold</vt:lpstr>
      <vt:lpstr>Bookman Old Style</vt:lpstr>
      <vt:lpstr>Calibri</vt:lpstr>
      <vt:lpstr>Office Theme</vt:lpstr>
      <vt:lpstr>EMTH403</vt:lpstr>
      <vt:lpstr>Lecture Outcomes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Circuit in Directed Graphs</vt:lpstr>
      <vt:lpstr>Euler Circuit in Directed Graphs</vt:lpstr>
      <vt:lpstr>Euler Circuit in Directed Graphs</vt:lpstr>
      <vt:lpstr>Euler Path in Directed Graphs</vt:lpstr>
      <vt:lpstr>Euler Path in Directed Graphs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Euler Paths and Circuits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1525</cp:revision>
  <dcterms:created xsi:type="dcterms:W3CDTF">2020-12-04T05:20:56Z</dcterms:created>
  <dcterms:modified xsi:type="dcterms:W3CDTF">2021-01-19T04:12:42Z</dcterms:modified>
</cp:coreProperties>
</file>