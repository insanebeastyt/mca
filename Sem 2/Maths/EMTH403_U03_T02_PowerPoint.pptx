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handoutMasterIdLst>
    <p:handoutMasterId r:id="rId21"/>
  </p:handoutMasterIdLst>
  <p:sldIdLst>
    <p:sldId id="256" r:id="rId2"/>
    <p:sldId id="257" r:id="rId3"/>
    <p:sldId id="284" r:id="rId4"/>
    <p:sldId id="295" r:id="rId5"/>
    <p:sldId id="304" r:id="rId6"/>
    <p:sldId id="305" r:id="rId7"/>
    <p:sldId id="308" r:id="rId8"/>
    <p:sldId id="309" r:id="rId9"/>
    <p:sldId id="299" r:id="rId10"/>
    <p:sldId id="311" r:id="rId11"/>
    <p:sldId id="278" r:id="rId12"/>
    <p:sldId id="312" r:id="rId13"/>
    <p:sldId id="313" r:id="rId14"/>
    <p:sldId id="314" r:id="rId15"/>
    <p:sldId id="315" r:id="rId16"/>
    <p:sldId id="316" r:id="rId17"/>
    <p:sldId id="317" r:id="rId18"/>
    <p:sldId id="318" r:id="rId19"/>
    <p:sldId id="259"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13A8035-ECEF-47C4-90A1-0C3215DAC7C2}">
          <p14:sldIdLst>
            <p14:sldId id="256"/>
            <p14:sldId id="257"/>
            <p14:sldId id="284"/>
            <p14:sldId id="295"/>
            <p14:sldId id="304"/>
            <p14:sldId id="305"/>
            <p14:sldId id="308"/>
            <p14:sldId id="309"/>
            <p14:sldId id="299"/>
            <p14:sldId id="311"/>
            <p14:sldId id="278"/>
            <p14:sldId id="312"/>
            <p14:sldId id="313"/>
            <p14:sldId id="314"/>
            <p14:sldId id="315"/>
            <p14:sldId id="316"/>
            <p14:sldId id="317"/>
            <p14:sldId id="318"/>
            <p14:sldId id="25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6CC"/>
    <a:srgbClr val="4472C4"/>
    <a:srgbClr val="DDDDDD"/>
    <a:srgbClr val="BBBBBB"/>
    <a:srgbClr val="00A2B8"/>
    <a:srgbClr val="00B451"/>
    <a:srgbClr val="BA202B"/>
    <a:srgbClr val="CA628C"/>
    <a:srgbClr val="71EEFF"/>
    <a:srgbClr val="89E2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291" autoAdjust="0"/>
  </p:normalViewPr>
  <p:slideViewPr>
    <p:cSldViewPr snapToGrid="0">
      <p:cViewPr varScale="1">
        <p:scale>
          <a:sx n="82" d="100"/>
          <a:sy n="82" d="100"/>
        </p:scale>
        <p:origin x="1430" y="72"/>
      </p:cViewPr>
      <p:guideLst/>
    </p:cSldViewPr>
  </p:slideViewPr>
  <p:notesTextViewPr>
    <p:cViewPr>
      <p:scale>
        <a:sx n="1" d="1"/>
        <a:sy n="1" d="1"/>
      </p:scale>
      <p:origin x="0" y="0"/>
    </p:cViewPr>
  </p:notesTextViewPr>
  <p:notesViewPr>
    <p:cSldViewPr snapToGrid="0">
      <p:cViewPr varScale="1">
        <p:scale>
          <a:sx n="49" d="100"/>
          <a:sy n="49" d="100"/>
        </p:scale>
        <p:origin x="1884" y="3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F218DD-E614-4E73-B564-F8E0717E89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34A14C21-F88B-4739-8F26-AA4DEEB64FA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511DE57-39A0-4263-A76B-22C3CE26C8E2}" type="datetimeFigureOut">
              <a:rPr lang="en-IN" smtClean="0"/>
              <a:t>19-12-2020</a:t>
            </a:fld>
            <a:endParaRPr lang="en-IN"/>
          </a:p>
        </p:txBody>
      </p:sp>
      <p:sp>
        <p:nvSpPr>
          <p:cNvPr id="4" name="Footer Placeholder 3">
            <a:extLst>
              <a:ext uri="{FF2B5EF4-FFF2-40B4-BE49-F238E27FC236}">
                <a16:creationId xmlns:a16="http://schemas.microsoft.com/office/drawing/2014/main" id="{5C435058-CB50-45CA-B183-2892DE4A396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530C2E93-0834-4027-BDF9-2CBEA154774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2BE93A7-2C4F-4D32-8895-81F23FF37AD6}" type="slidenum">
              <a:rPr lang="en-IN" smtClean="0"/>
              <a:t>‹#›</a:t>
            </a:fld>
            <a:endParaRPr lang="en-IN"/>
          </a:p>
        </p:txBody>
      </p:sp>
    </p:spTree>
    <p:extLst>
      <p:ext uri="{BB962C8B-B14F-4D97-AF65-F5344CB8AC3E}">
        <p14:creationId xmlns:p14="http://schemas.microsoft.com/office/powerpoint/2010/main" val="3686865765"/>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822478E-B0D0-4983-A2EC-2C070D46FC4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1200"/>
          <a:stretch/>
        </p:blipFill>
        <p:spPr>
          <a:xfrm>
            <a:off x="-1" y="0"/>
            <a:ext cx="9144001" cy="6858000"/>
          </a:xfrm>
          <a:prstGeom prst="rect">
            <a:avLst/>
          </a:prstGeom>
        </p:spPr>
      </p:pic>
      <p:sp>
        <p:nvSpPr>
          <p:cNvPr id="2" name="Title 1"/>
          <p:cNvSpPr>
            <a:spLocks noGrp="1"/>
          </p:cNvSpPr>
          <p:nvPr>
            <p:ph type="ctrTitle" hasCustomPrompt="1"/>
          </p:nvPr>
        </p:nvSpPr>
        <p:spPr>
          <a:xfrm>
            <a:off x="4758813" y="1011007"/>
            <a:ext cx="4186084" cy="1001405"/>
          </a:xfrm>
        </p:spPr>
        <p:txBody>
          <a:bodyPr anchor="b">
            <a:noAutofit/>
          </a:bodyPr>
          <a:lstStyle>
            <a:lvl1pPr algn="r">
              <a:defRPr sz="7500">
                <a:ln>
                  <a:solidFill>
                    <a:srgbClr val="BA202B"/>
                  </a:solidFill>
                </a:ln>
                <a:solidFill>
                  <a:srgbClr val="CA628C"/>
                </a:solidFill>
                <a:effectLst>
                  <a:outerShdw blurRad="38100" dist="38100" dir="2700000" algn="tl">
                    <a:srgbClr val="000000">
                      <a:alpha val="43137"/>
                    </a:srgbClr>
                  </a:outerShdw>
                </a:effectLst>
              </a:defRPr>
            </a:lvl1pPr>
          </a:lstStyle>
          <a:p>
            <a:r>
              <a:rPr lang="en-US" dirty="0"/>
              <a:t>EMTH403</a:t>
            </a:r>
          </a:p>
        </p:txBody>
      </p:sp>
      <p:sp>
        <p:nvSpPr>
          <p:cNvPr id="3" name="Subtitle 2"/>
          <p:cNvSpPr>
            <a:spLocks noGrp="1"/>
          </p:cNvSpPr>
          <p:nvPr>
            <p:ph type="subTitle" idx="1" hasCustomPrompt="1"/>
          </p:nvPr>
        </p:nvSpPr>
        <p:spPr>
          <a:xfrm>
            <a:off x="4758813" y="2012412"/>
            <a:ext cx="4186083" cy="838943"/>
          </a:xfrm>
        </p:spPr>
        <p:txBody>
          <a:bodyPr>
            <a:normAutofit/>
          </a:bodyPr>
          <a:lstStyle>
            <a:lvl1pPr marL="0" indent="0" algn="r">
              <a:buNone/>
              <a:defRPr sz="2800">
                <a:solidFill>
                  <a:srgbClr val="00206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Mathematical Foundation for Computer Science</a:t>
            </a:r>
          </a:p>
        </p:txBody>
      </p:sp>
      <p:sp>
        <p:nvSpPr>
          <p:cNvPr id="9" name="TextBox 8">
            <a:extLst>
              <a:ext uri="{FF2B5EF4-FFF2-40B4-BE49-F238E27FC236}">
                <a16:creationId xmlns:a16="http://schemas.microsoft.com/office/drawing/2014/main" id="{FC6A5137-F38E-416C-BA01-890D57CBC895}"/>
              </a:ext>
            </a:extLst>
          </p:cNvPr>
          <p:cNvSpPr txBox="1"/>
          <p:nvPr userDrawn="1"/>
        </p:nvSpPr>
        <p:spPr>
          <a:xfrm>
            <a:off x="5369878" y="3852760"/>
            <a:ext cx="3575018" cy="507831"/>
          </a:xfrm>
          <a:prstGeom prst="rect">
            <a:avLst/>
          </a:prstGeom>
          <a:noFill/>
        </p:spPr>
        <p:txBody>
          <a:bodyPr wrap="none" rtlCol="0">
            <a:spAutoFit/>
          </a:bodyPr>
          <a:lstStyle/>
          <a:p>
            <a:pPr algn="r"/>
            <a:r>
              <a:rPr lang="en-IN" sz="2700" strike="noStrike" dirty="0">
                <a:solidFill>
                  <a:srgbClr val="BA202B"/>
                </a:solidFill>
                <a:effectLst/>
              </a:rPr>
              <a:t>Nitin K. Mishra (Ph.D.)</a:t>
            </a:r>
          </a:p>
        </p:txBody>
      </p:sp>
      <p:sp>
        <p:nvSpPr>
          <p:cNvPr id="10" name="TextBox 9">
            <a:extLst>
              <a:ext uri="{FF2B5EF4-FFF2-40B4-BE49-F238E27FC236}">
                <a16:creationId xmlns:a16="http://schemas.microsoft.com/office/drawing/2014/main" id="{12607290-3460-4AC4-ABC8-F072BD3D73E5}"/>
              </a:ext>
            </a:extLst>
          </p:cNvPr>
          <p:cNvSpPr txBox="1"/>
          <p:nvPr userDrawn="1"/>
        </p:nvSpPr>
        <p:spPr>
          <a:xfrm>
            <a:off x="5525729" y="4314425"/>
            <a:ext cx="3419167" cy="461665"/>
          </a:xfrm>
          <a:prstGeom prst="rect">
            <a:avLst/>
          </a:prstGeom>
          <a:noFill/>
        </p:spPr>
        <p:txBody>
          <a:bodyPr wrap="square" rtlCol="0">
            <a:spAutoFit/>
          </a:bodyPr>
          <a:lstStyle/>
          <a:p>
            <a:pPr algn="ctr"/>
            <a:r>
              <a:rPr lang="en-IN" sz="2400" dirty="0">
                <a:solidFill>
                  <a:schemeClr val="bg2">
                    <a:lumMod val="25000"/>
                  </a:schemeClr>
                </a:solidFill>
              </a:rPr>
              <a:t>Associate Professor</a:t>
            </a:r>
          </a:p>
        </p:txBody>
      </p:sp>
      <p:cxnSp>
        <p:nvCxnSpPr>
          <p:cNvPr id="12" name="Straight Connector 11">
            <a:extLst>
              <a:ext uri="{FF2B5EF4-FFF2-40B4-BE49-F238E27FC236}">
                <a16:creationId xmlns:a16="http://schemas.microsoft.com/office/drawing/2014/main" id="{392C86BC-E539-4EC2-9687-C9BAFAAFC1D8}"/>
              </a:ext>
            </a:extLst>
          </p:cNvPr>
          <p:cNvCxnSpPr>
            <a:cxnSpLocks/>
          </p:cNvCxnSpPr>
          <p:nvPr userDrawn="1"/>
        </p:nvCxnSpPr>
        <p:spPr>
          <a:xfrm flipH="1">
            <a:off x="5525729" y="4805586"/>
            <a:ext cx="3342972" cy="0"/>
          </a:xfrm>
          <a:prstGeom prst="line">
            <a:avLst/>
          </a:prstGeom>
          <a:ln w="38100">
            <a:solidFill>
              <a:srgbClr val="89E2EB"/>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712CEEC-655E-468A-942D-1D746D27486B}"/>
              </a:ext>
            </a:extLst>
          </p:cNvPr>
          <p:cNvCxnSpPr>
            <a:cxnSpLocks/>
          </p:cNvCxnSpPr>
          <p:nvPr userDrawn="1"/>
        </p:nvCxnSpPr>
        <p:spPr>
          <a:xfrm flipH="1">
            <a:off x="5525729" y="4360591"/>
            <a:ext cx="3342972" cy="0"/>
          </a:xfrm>
          <a:prstGeom prst="line">
            <a:avLst/>
          </a:prstGeom>
          <a:ln w="38100">
            <a:solidFill>
              <a:srgbClr val="89E2EB"/>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389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Learning Outcome">
    <p:bg>
      <p:bgPr>
        <a:blipFill dpi="0" rotWithShape="1">
          <a:blip r:embed="rId2">
            <a:alphaModFix amt="20000"/>
            <a:lum/>
          </a:blip>
          <a:srcRect/>
          <a:stretch>
            <a:fillRect l="-6000" r="-6000"/>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2A9DAD-2222-4EAA-A984-73EA804BABC9}"/>
              </a:ext>
            </a:extLst>
          </p:cNvPr>
          <p:cNvSpPr/>
          <p:nvPr userDrawn="1"/>
        </p:nvSpPr>
        <p:spPr>
          <a:xfrm>
            <a:off x="0" y="-1"/>
            <a:ext cx="9144000" cy="2113936"/>
          </a:xfrm>
          <a:prstGeom prst="rect">
            <a:avLst/>
          </a:prstGeom>
          <a:gradFill flip="none" rotWithShape="1">
            <a:gsLst>
              <a:gs pos="78000">
                <a:schemeClr val="accent3">
                  <a:lumMod val="0"/>
                  <a:lumOff val="100000"/>
                </a:schemeClr>
              </a:gs>
              <a:gs pos="45000">
                <a:srgbClr val="00A2B8"/>
              </a:gs>
            </a:gsLst>
            <a:lin ang="0" scaled="0"/>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hasCustomPrompt="1"/>
          </p:nvPr>
        </p:nvSpPr>
        <p:spPr>
          <a:xfrm>
            <a:off x="393290" y="0"/>
            <a:ext cx="5191433" cy="2113935"/>
          </a:xfrm>
        </p:spPr>
        <p:txBody>
          <a:bodyPr>
            <a:normAutofit/>
          </a:bodyPr>
          <a:lstStyle>
            <a:lvl1pPr>
              <a:defRPr sz="5400">
                <a:solidFill>
                  <a:schemeClr val="bg1"/>
                </a:solidFill>
                <a:effectLst>
                  <a:outerShdw blurRad="38100" dist="38100" dir="2700000" algn="tl">
                    <a:srgbClr val="000000">
                      <a:alpha val="43137"/>
                    </a:srgbClr>
                  </a:outerShdw>
                </a:effectLst>
              </a:defRPr>
            </a:lvl1pPr>
          </a:lstStyle>
          <a:p>
            <a:r>
              <a:rPr lang="en-US" dirty="0"/>
              <a:t>Lecture</a:t>
            </a:r>
            <a:br>
              <a:rPr lang="en-US" dirty="0"/>
            </a:br>
            <a:r>
              <a:rPr lang="en-US" dirty="0"/>
              <a:t>Outcomes</a:t>
            </a:r>
          </a:p>
        </p:txBody>
      </p:sp>
      <p:sp>
        <p:nvSpPr>
          <p:cNvPr id="3" name="Content Placeholder 2"/>
          <p:cNvSpPr>
            <a:spLocks noGrp="1"/>
          </p:cNvSpPr>
          <p:nvPr>
            <p:ph idx="1" hasCustomPrompt="1"/>
          </p:nvPr>
        </p:nvSpPr>
        <p:spPr>
          <a:xfrm>
            <a:off x="963560" y="2883188"/>
            <a:ext cx="7934633" cy="3500283"/>
          </a:xfrm>
        </p:spPr>
        <p:txBody>
          <a:bodyPr>
            <a:normAutofit/>
          </a:bodyPr>
          <a:lstStyle>
            <a:lvl1pPr>
              <a:lnSpc>
                <a:spcPct val="150000"/>
              </a:lnSpc>
              <a:buClr>
                <a:srgbClr val="00A2B8"/>
              </a:buClr>
              <a:defRPr/>
            </a:lvl1pPr>
            <a:lvl2pPr>
              <a:buClr>
                <a:srgbClr val="00A2B8"/>
              </a:buClr>
              <a:defRPr sz="2800"/>
            </a:lvl2pPr>
            <a:lvl3pPr>
              <a:buClr>
                <a:srgbClr val="00A2B8"/>
              </a:buClr>
              <a:defRPr/>
            </a:lvl3pPr>
            <a:lvl4pPr>
              <a:buClr>
                <a:srgbClr val="00A2B8"/>
              </a:buClr>
              <a:defRPr/>
            </a:lvl4pPr>
            <a:lvl5pPr>
              <a:buClr>
                <a:srgbClr val="00A2B8"/>
              </a:buClr>
              <a:defRPr/>
            </a:lvl5pPr>
          </a:lstStyle>
          <a:p>
            <a:pPr lvl="0"/>
            <a:r>
              <a:rPr lang="en-US" dirty="0"/>
              <a:t>outcome 1</a:t>
            </a:r>
          </a:p>
          <a:p>
            <a:pPr lvl="0"/>
            <a:r>
              <a:rPr lang="en-US" dirty="0"/>
              <a:t>outcome 2</a:t>
            </a:r>
          </a:p>
          <a:p>
            <a:pPr lvl="0"/>
            <a:r>
              <a:rPr lang="en-US" dirty="0"/>
              <a:t>outcome 3</a:t>
            </a:r>
          </a:p>
        </p:txBody>
      </p:sp>
      <p:pic>
        <p:nvPicPr>
          <p:cNvPr id="11" name="Graphic 10" descr="Target">
            <a:extLst>
              <a:ext uri="{FF2B5EF4-FFF2-40B4-BE49-F238E27FC236}">
                <a16:creationId xmlns:a16="http://schemas.microsoft.com/office/drawing/2014/main" id="{8709446A-BD58-42FE-8058-90C6B724402E}"/>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26708" y="98321"/>
            <a:ext cx="1917292" cy="1917292"/>
          </a:xfrm>
          <a:prstGeom prst="rect">
            <a:avLst/>
          </a:prstGeom>
          <a:effectLst>
            <a:outerShdw blurRad="63500" sx="102000" sy="102000" algn="ctr" rotWithShape="0">
              <a:prstClr val="black">
                <a:alpha val="40000"/>
              </a:prstClr>
            </a:outerShdw>
          </a:effectLst>
        </p:spPr>
      </p:pic>
      <p:sp>
        <p:nvSpPr>
          <p:cNvPr id="12" name="TextBox 11">
            <a:extLst>
              <a:ext uri="{FF2B5EF4-FFF2-40B4-BE49-F238E27FC236}">
                <a16:creationId xmlns:a16="http://schemas.microsoft.com/office/drawing/2014/main" id="{F8377C6D-0C30-48F0-89AC-23D3E98F9A33}"/>
              </a:ext>
            </a:extLst>
          </p:cNvPr>
          <p:cNvSpPr txBox="1"/>
          <p:nvPr userDrawn="1"/>
        </p:nvSpPr>
        <p:spPr>
          <a:xfrm>
            <a:off x="393290" y="2298413"/>
            <a:ext cx="6845144" cy="584775"/>
          </a:xfrm>
          <a:prstGeom prst="rect">
            <a:avLst/>
          </a:prstGeom>
          <a:noFill/>
        </p:spPr>
        <p:txBody>
          <a:bodyPr wrap="none" rtlCol="0">
            <a:spAutoFit/>
          </a:bodyPr>
          <a:lstStyle/>
          <a:p>
            <a:r>
              <a:rPr lang="en-IN" sz="3200" dirty="0"/>
              <a:t>After this lecture, you will be able to</a:t>
            </a:r>
          </a:p>
        </p:txBody>
      </p:sp>
    </p:spTree>
    <p:extLst>
      <p:ext uri="{BB962C8B-B14F-4D97-AF65-F5344CB8AC3E}">
        <p14:creationId xmlns:p14="http://schemas.microsoft.com/office/powerpoint/2010/main" val="6461605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2_Title and Content">
    <p:bg>
      <p:bgPr>
        <a:blipFill dpi="0" rotWithShape="1">
          <a:blip r:embed="rId2">
            <a:alphaModFix amt="20000"/>
            <a:lum/>
          </a:blip>
          <a:srcRect/>
          <a:stretch>
            <a:fillRect l="-6000" r="-6000"/>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2A9DAD-2222-4EAA-A984-73EA804BABC9}"/>
              </a:ext>
            </a:extLst>
          </p:cNvPr>
          <p:cNvSpPr/>
          <p:nvPr userDrawn="1"/>
        </p:nvSpPr>
        <p:spPr>
          <a:xfrm>
            <a:off x="0" y="0"/>
            <a:ext cx="9144000" cy="1080000"/>
          </a:xfrm>
          <a:prstGeom prst="rect">
            <a:avLst/>
          </a:prstGeom>
          <a:solidFill>
            <a:srgbClr val="00A2B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p:nvPr>
        </p:nvSpPr>
        <p:spPr>
          <a:xfrm>
            <a:off x="393290" y="1"/>
            <a:ext cx="8504904" cy="1080000"/>
          </a:xfrm>
        </p:spPr>
        <p:txBody>
          <a:bodyPr>
            <a:normAutofit/>
          </a:bodyPr>
          <a:lstStyle>
            <a:lvl1pPr>
              <a:defRPr sz="3600">
                <a:solidFill>
                  <a:schemeClr val="bg1"/>
                </a:solidFill>
                <a:effectLst>
                  <a:outerShdw blurRad="38100" dist="38100" dir="2700000" algn="tl">
                    <a:srgbClr val="000000">
                      <a:alpha val="43137"/>
                    </a:srgbClr>
                  </a:outerShdw>
                </a:effectLst>
              </a:defRPr>
            </a:lvl1pPr>
          </a:lstStyle>
          <a:p>
            <a:r>
              <a:rPr lang="en-US" dirty="0"/>
              <a:t>Click to edit Master title style</a:t>
            </a:r>
          </a:p>
        </p:txBody>
      </p:sp>
      <p:sp>
        <p:nvSpPr>
          <p:cNvPr id="3" name="Content Placeholder 2"/>
          <p:cNvSpPr>
            <a:spLocks noGrp="1"/>
          </p:cNvSpPr>
          <p:nvPr>
            <p:ph idx="1"/>
          </p:nvPr>
        </p:nvSpPr>
        <p:spPr>
          <a:xfrm>
            <a:off x="393290" y="1248698"/>
            <a:ext cx="8504904" cy="5338916"/>
          </a:xfrm>
        </p:spPr>
        <p:txBody>
          <a:bodyPr/>
          <a:lstStyle>
            <a:lvl1pPr>
              <a:lnSpc>
                <a:spcPct val="150000"/>
              </a:lnSpc>
              <a:buClr>
                <a:srgbClr val="00A2B8"/>
              </a:buClr>
              <a:defRPr/>
            </a:lvl1pPr>
            <a:lvl2pPr>
              <a:lnSpc>
                <a:spcPct val="150000"/>
              </a:lnSpc>
              <a:buClr>
                <a:srgbClr val="00A2B8"/>
              </a:buClr>
              <a:defRPr/>
            </a:lvl2pPr>
            <a:lvl3pPr>
              <a:lnSpc>
                <a:spcPct val="150000"/>
              </a:lnSpc>
              <a:buClr>
                <a:srgbClr val="00A2B8"/>
              </a:buClr>
              <a:defRPr/>
            </a:lvl3pPr>
            <a:lvl4pPr>
              <a:lnSpc>
                <a:spcPct val="150000"/>
              </a:lnSpc>
              <a:buClr>
                <a:srgbClr val="00A2B8"/>
              </a:buClr>
              <a:defRPr/>
            </a:lvl4pPr>
            <a:lvl5pPr>
              <a:lnSpc>
                <a:spcPct val="150000"/>
              </a:lnSpc>
              <a:buClr>
                <a:srgbClr val="00A2B8"/>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Box 4">
            <a:extLst>
              <a:ext uri="{FF2B5EF4-FFF2-40B4-BE49-F238E27FC236}">
                <a16:creationId xmlns:a16="http://schemas.microsoft.com/office/drawing/2014/main" id="{64091E1C-13AA-4430-B0AB-E932AEDB367A}"/>
              </a:ext>
            </a:extLst>
          </p:cNvPr>
          <p:cNvSpPr txBox="1"/>
          <p:nvPr userDrawn="1"/>
        </p:nvSpPr>
        <p:spPr>
          <a:xfrm>
            <a:off x="33867" y="6666614"/>
            <a:ext cx="9110132" cy="200055"/>
          </a:xfrm>
          <a:prstGeom prst="rect">
            <a:avLst/>
          </a:prstGeom>
          <a:noFill/>
        </p:spPr>
        <p:txBody>
          <a:bodyPr wrap="square" rtlCol="0">
            <a:spAutoFit/>
          </a:bodyPr>
          <a:lstStyle/>
          <a:p>
            <a:pPr algn="ctr"/>
            <a:r>
              <a:rPr lang="en-IN" sz="700" dirty="0"/>
              <a:t>Content Source: </a:t>
            </a:r>
            <a:r>
              <a:rPr lang="en-US" sz="700" b="1" dirty="0">
                <a:solidFill>
                  <a:srgbClr val="5F6368"/>
                </a:solidFill>
                <a:latin typeface="arial" panose="020B0604020202020204" pitchFamily="34" charset="0"/>
              </a:rPr>
              <a:t>Discrete Mathematics</a:t>
            </a:r>
            <a:r>
              <a:rPr lang="en-US" sz="700" dirty="0">
                <a:solidFill>
                  <a:srgbClr val="4D5156"/>
                </a:solidFill>
                <a:latin typeface="arial" panose="020B0604020202020204" pitchFamily="34" charset="0"/>
              </a:rPr>
              <a:t> and </a:t>
            </a:r>
            <a:r>
              <a:rPr lang="en-US" sz="700" b="1" dirty="0">
                <a:solidFill>
                  <a:srgbClr val="5F6368"/>
                </a:solidFill>
                <a:latin typeface="arial" panose="020B0604020202020204" pitchFamily="34" charset="0"/>
              </a:rPr>
              <a:t>Its Applications</a:t>
            </a:r>
            <a:r>
              <a:rPr lang="en-US" sz="700" dirty="0">
                <a:solidFill>
                  <a:srgbClr val="4D5156"/>
                </a:solidFill>
                <a:latin typeface="arial" panose="020B0604020202020204" pitchFamily="34" charset="0"/>
              </a:rPr>
              <a:t>. Seventh Edition. </a:t>
            </a:r>
            <a:r>
              <a:rPr lang="en-US" sz="700" b="1" dirty="0">
                <a:solidFill>
                  <a:srgbClr val="5F6368"/>
                </a:solidFill>
                <a:latin typeface="arial" panose="020B0604020202020204" pitchFamily="34" charset="0"/>
              </a:rPr>
              <a:t>Kenneth H. Rosen. Monmouth University. Prepared by Jerrold W. Grossman, Oakland University.</a:t>
            </a:r>
            <a:r>
              <a:rPr lang="en-US" sz="700" dirty="0">
                <a:solidFill>
                  <a:srgbClr val="4D5156"/>
                </a:solidFill>
                <a:latin typeface="arial" panose="020B0604020202020204" pitchFamily="34" charset="0"/>
              </a:rPr>
              <a:t> (and formerly AT&amp;T Laboratories)</a:t>
            </a:r>
            <a:endParaRPr lang="en-IN" sz="700" dirty="0"/>
          </a:p>
        </p:txBody>
      </p:sp>
    </p:spTree>
    <p:extLst>
      <p:ext uri="{BB962C8B-B14F-4D97-AF65-F5344CB8AC3E}">
        <p14:creationId xmlns:p14="http://schemas.microsoft.com/office/powerpoint/2010/main" val="225208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white)">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2A9DAD-2222-4EAA-A984-73EA804BABC9}"/>
              </a:ext>
            </a:extLst>
          </p:cNvPr>
          <p:cNvSpPr/>
          <p:nvPr userDrawn="1"/>
        </p:nvSpPr>
        <p:spPr>
          <a:xfrm>
            <a:off x="0" y="0"/>
            <a:ext cx="9144000" cy="1080000"/>
          </a:xfrm>
          <a:prstGeom prst="rect">
            <a:avLst/>
          </a:prstGeom>
          <a:solidFill>
            <a:srgbClr val="00A2B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p:nvPr>
        </p:nvSpPr>
        <p:spPr>
          <a:xfrm>
            <a:off x="393290" y="1"/>
            <a:ext cx="8504904" cy="1080000"/>
          </a:xfrm>
        </p:spPr>
        <p:txBody>
          <a:bodyPr>
            <a:normAutofit/>
          </a:bodyPr>
          <a:lstStyle>
            <a:lvl1pPr>
              <a:defRPr sz="3600">
                <a:solidFill>
                  <a:schemeClr val="bg1"/>
                </a:solidFill>
                <a:effectLst>
                  <a:outerShdw blurRad="38100" dist="38100" dir="2700000" algn="tl">
                    <a:srgbClr val="000000">
                      <a:alpha val="43137"/>
                    </a:srgbClr>
                  </a:outerShdw>
                </a:effectLst>
              </a:defRPr>
            </a:lvl1pPr>
          </a:lstStyle>
          <a:p>
            <a:r>
              <a:rPr lang="en-US" dirty="0"/>
              <a:t>Click to edit Master title style</a:t>
            </a:r>
          </a:p>
        </p:txBody>
      </p:sp>
      <p:sp>
        <p:nvSpPr>
          <p:cNvPr id="3" name="Content Placeholder 2"/>
          <p:cNvSpPr>
            <a:spLocks noGrp="1"/>
          </p:cNvSpPr>
          <p:nvPr>
            <p:ph idx="1"/>
          </p:nvPr>
        </p:nvSpPr>
        <p:spPr>
          <a:xfrm>
            <a:off x="393290" y="1248697"/>
            <a:ext cx="8504904" cy="5338916"/>
          </a:xfrm>
        </p:spPr>
        <p:txBody>
          <a:bodyPr/>
          <a:lstStyle>
            <a:lvl1pPr>
              <a:lnSpc>
                <a:spcPct val="150000"/>
              </a:lnSpc>
              <a:buClr>
                <a:srgbClr val="00A2B8"/>
              </a:buClr>
              <a:defRPr/>
            </a:lvl1pPr>
            <a:lvl2pPr>
              <a:lnSpc>
                <a:spcPct val="150000"/>
              </a:lnSpc>
              <a:buClr>
                <a:srgbClr val="00A2B8"/>
              </a:buClr>
              <a:defRPr/>
            </a:lvl2pPr>
            <a:lvl3pPr>
              <a:lnSpc>
                <a:spcPct val="150000"/>
              </a:lnSpc>
              <a:buClr>
                <a:srgbClr val="00A2B8"/>
              </a:buClr>
              <a:defRPr/>
            </a:lvl3pPr>
            <a:lvl4pPr>
              <a:lnSpc>
                <a:spcPct val="150000"/>
              </a:lnSpc>
              <a:buClr>
                <a:srgbClr val="00A2B8"/>
              </a:buClr>
              <a:defRPr/>
            </a:lvl4pPr>
            <a:lvl5pPr>
              <a:lnSpc>
                <a:spcPct val="150000"/>
              </a:lnSpc>
              <a:buClr>
                <a:srgbClr val="00A2B8"/>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Box 4">
            <a:extLst>
              <a:ext uri="{FF2B5EF4-FFF2-40B4-BE49-F238E27FC236}">
                <a16:creationId xmlns:a16="http://schemas.microsoft.com/office/drawing/2014/main" id="{9D40D22A-9F0E-4024-A4A6-FCCE6CB60E86}"/>
              </a:ext>
            </a:extLst>
          </p:cNvPr>
          <p:cNvSpPr txBox="1"/>
          <p:nvPr userDrawn="1"/>
        </p:nvSpPr>
        <p:spPr>
          <a:xfrm>
            <a:off x="33867" y="6666614"/>
            <a:ext cx="9110132" cy="200055"/>
          </a:xfrm>
          <a:prstGeom prst="rect">
            <a:avLst/>
          </a:prstGeom>
          <a:noFill/>
        </p:spPr>
        <p:txBody>
          <a:bodyPr wrap="square" rtlCol="0">
            <a:spAutoFit/>
          </a:bodyPr>
          <a:lstStyle/>
          <a:p>
            <a:pPr algn="ctr"/>
            <a:r>
              <a:rPr lang="en-IN" sz="700" dirty="0"/>
              <a:t>Content Source: </a:t>
            </a:r>
            <a:r>
              <a:rPr lang="en-US" sz="700" b="1" dirty="0">
                <a:solidFill>
                  <a:srgbClr val="5F6368"/>
                </a:solidFill>
                <a:latin typeface="arial" panose="020B0604020202020204" pitchFamily="34" charset="0"/>
              </a:rPr>
              <a:t>Discrete Mathematics</a:t>
            </a:r>
            <a:r>
              <a:rPr lang="en-US" sz="700" dirty="0">
                <a:solidFill>
                  <a:srgbClr val="4D5156"/>
                </a:solidFill>
                <a:latin typeface="arial" panose="020B0604020202020204" pitchFamily="34" charset="0"/>
              </a:rPr>
              <a:t> and </a:t>
            </a:r>
            <a:r>
              <a:rPr lang="en-US" sz="700" b="1" dirty="0">
                <a:solidFill>
                  <a:srgbClr val="5F6368"/>
                </a:solidFill>
                <a:latin typeface="arial" panose="020B0604020202020204" pitchFamily="34" charset="0"/>
              </a:rPr>
              <a:t>Its Applications</a:t>
            </a:r>
            <a:r>
              <a:rPr lang="en-US" sz="700" dirty="0">
                <a:solidFill>
                  <a:srgbClr val="4D5156"/>
                </a:solidFill>
                <a:latin typeface="arial" panose="020B0604020202020204" pitchFamily="34" charset="0"/>
              </a:rPr>
              <a:t>. Seventh Edition. </a:t>
            </a:r>
            <a:r>
              <a:rPr lang="en-US" sz="700" b="1" dirty="0">
                <a:solidFill>
                  <a:srgbClr val="5F6368"/>
                </a:solidFill>
                <a:latin typeface="arial" panose="020B0604020202020204" pitchFamily="34" charset="0"/>
              </a:rPr>
              <a:t>Kenneth H. Rosen. Monmouth University. Prepared by Jerrold W. Grossman, Oakland University.</a:t>
            </a:r>
            <a:r>
              <a:rPr lang="en-US" sz="700" dirty="0">
                <a:solidFill>
                  <a:srgbClr val="4D5156"/>
                </a:solidFill>
                <a:latin typeface="arial" panose="020B0604020202020204" pitchFamily="34" charset="0"/>
              </a:rPr>
              <a:t> (and formerly AT&amp;T Laboratories)</a:t>
            </a:r>
            <a:endParaRPr lang="en-IN" sz="700" dirty="0"/>
          </a:p>
        </p:txBody>
      </p:sp>
    </p:spTree>
    <p:extLst>
      <p:ext uri="{BB962C8B-B14F-4D97-AF65-F5344CB8AC3E}">
        <p14:creationId xmlns:p14="http://schemas.microsoft.com/office/powerpoint/2010/main" val="40265219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376987-CD5A-4B0D-82F1-8DDC56102557}" type="datetimeFigureOut">
              <a:rPr lang="en-IN" smtClean="0"/>
              <a:t>19-12-2020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7443102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C376987-CD5A-4B0D-82F1-8DDC56102557}" type="datetimeFigureOut">
              <a:rPr lang="en-IN" smtClean="0"/>
              <a:t>19-12-2020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2144989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C376987-CD5A-4B0D-82F1-8DDC56102557}" type="datetimeFigureOut">
              <a:rPr lang="en-IN" smtClean="0"/>
              <a:t>19-12-2020</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1820985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C376987-CD5A-4B0D-82F1-8DDC56102557}" type="datetimeFigureOut">
              <a:rPr lang="en-IN" smtClean="0"/>
              <a:t>19-12-2020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859219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376987-CD5A-4B0D-82F1-8DDC56102557}" type="datetimeFigureOut">
              <a:rPr lang="en-IN" smtClean="0"/>
              <a:t>19-12-2020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2763743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Thank You">
    <p:bg>
      <p:bgPr>
        <a:gradFill flip="none" rotWithShape="1">
          <a:gsLst>
            <a:gs pos="0">
              <a:schemeClr val="accent3">
                <a:lumMod val="0"/>
                <a:lumOff val="100000"/>
              </a:schemeClr>
            </a:gs>
            <a:gs pos="100000">
              <a:schemeClr val="bg1">
                <a:lumMod val="85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D41FF5F-8082-499F-9B42-B9953F7F83AE}"/>
              </a:ext>
            </a:extLst>
          </p:cNvPr>
          <p:cNvSpPr txBox="1"/>
          <p:nvPr userDrawn="1"/>
        </p:nvSpPr>
        <p:spPr>
          <a:xfrm>
            <a:off x="1620711" y="2869012"/>
            <a:ext cx="5902578" cy="923330"/>
          </a:xfrm>
          <a:prstGeom prst="rect">
            <a:avLst/>
          </a:prstGeom>
          <a:noFill/>
        </p:spPr>
        <p:txBody>
          <a:bodyPr wrap="none" rtlCol="0">
            <a:spAutoFit/>
          </a:bodyPr>
          <a:lstStyle/>
          <a:p>
            <a:r>
              <a:rPr lang="en-IN" sz="5400" dirty="0">
                <a:solidFill>
                  <a:srgbClr val="00A2B8"/>
                </a:solidFill>
                <a:effectLst/>
              </a:rPr>
              <a:t>That’s all for now…</a:t>
            </a:r>
          </a:p>
        </p:txBody>
      </p:sp>
      <p:cxnSp>
        <p:nvCxnSpPr>
          <p:cNvPr id="7" name="Straight Connector 6">
            <a:extLst>
              <a:ext uri="{FF2B5EF4-FFF2-40B4-BE49-F238E27FC236}">
                <a16:creationId xmlns:a16="http://schemas.microsoft.com/office/drawing/2014/main" id="{8376A0C7-0E66-445E-9D28-DB789C63D202}"/>
              </a:ext>
            </a:extLst>
          </p:cNvPr>
          <p:cNvCxnSpPr>
            <a:cxnSpLocks/>
          </p:cNvCxnSpPr>
          <p:nvPr userDrawn="1"/>
        </p:nvCxnSpPr>
        <p:spPr>
          <a:xfrm>
            <a:off x="1720645" y="3654690"/>
            <a:ext cx="5624052" cy="0"/>
          </a:xfrm>
          <a:prstGeom prst="line">
            <a:avLst/>
          </a:prstGeom>
          <a:ln w="31750">
            <a:solidFill>
              <a:srgbClr val="CA628C"/>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60184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376987-CD5A-4B0D-82F1-8DDC56102557}" type="datetimeFigureOut">
              <a:rPr lang="en-IN" smtClean="0"/>
              <a:t>19-12-2020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39188165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376987-CD5A-4B0D-82F1-8DDC56102557}" type="datetimeFigureOut">
              <a:rPr lang="en-IN" smtClean="0"/>
              <a:t>19-12-2020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20285952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376987-CD5A-4B0D-82F1-8DDC56102557}" type="datetimeFigureOut">
              <a:rPr lang="en-IN" smtClean="0"/>
              <a:t>19-12-2020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27767470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376987-CD5A-4B0D-82F1-8DDC56102557}" type="datetimeFigureOut">
              <a:rPr lang="en-IN" smtClean="0"/>
              <a:t>19-12-2020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2144704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376987-CD5A-4B0D-82F1-8DDC56102557}" type="datetimeFigureOut">
              <a:rPr lang="en-IN" smtClean="0"/>
              <a:t>19-12-2020</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5910F8-8D71-4F22-9C7F-1F77DF6804AD}" type="slidenum">
              <a:rPr lang="en-IN" smtClean="0"/>
              <a:t>‹#›</a:t>
            </a:fld>
            <a:endParaRPr lang="en-IN"/>
          </a:p>
        </p:txBody>
      </p:sp>
    </p:spTree>
    <p:extLst>
      <p:ext uri="{BB962C8B-B14F-4D97-AF65-F5344CB8AC3E}">
        <p14:creationId xmlns:p14="http://schemas.microsoft.com/office/powerpoint/2010/main" val="9462137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4" r:id="rId3"/>
    <p:sldLayoutId id="2147483672" r:id="rId4"/>
    <p:sldLayoutId id="2147483663" r:id="rId5"/>
    <p:sldLayoutId id="2147483664" r:id="rId6"/>
    <p:sldLayoutId id="2147483665" r:id="rId7"/>
    <p:sldLayoutId id="2147483666" r:id="rId8"/>
    <p:sldLayoutId id="2147483667" r:id="rId9"/>
    <p:sldLayoutId id="2147483673" r:id="rId10"/>
    <p:sldLayoutId id="2147483668" r:id="rId11"/>
    <p:sldLayoutId id="2147483669" r:id="rId12"/>
    <p:sldLayoutId id="2147483670" r:id="rId13"/>
    <p:sldLayoutId id="2147483671" r:id="rId14"/>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3B31A-26EC-4882-9FB2-E3790927BE30}"/>
              </a:ext>
            </a:extLst>
          </p:cNvPr>
          <p:cNvSpPr>
            <a:spLocks noGrp="1"/>
          </p:cNvSpPr>
          <p:nvPr>
            <p:ph type="ctrTitle"/>
          </p:nvPr>
        </p:nvSpPr>
        <p:spPr/>
        <p:txBody>
          <a:bodyPr>
            <a:normAutofit fontScale="90000"/>
          </a:bodyPr>
          <a:lstStyle/>
          <a:p>
            <a:r>
              <a:rPr lang="en-IN" dirty="0"/>
              <a:t>EMTH403</a:t>
            </a:r>
          </a:p>
        </p:txBody>
      </p:sp>
      <p:sp>
        <p:nvSpPr>
          <p:cNvPr id="3" name="Subtitle 2">
            <a:extLst>
              <a:ext uri="{FF2B5EF4-FFF2-40B4-BE49-F238E27FC236}">
                <a16:creationId xmlns:a16="http://schemas.microsoft.com/office/drawing/2014/main" id="{5F2FDE88-E809-4B0D-A49D-23F92304EDFA}"/>
              </a:ext>
            </a:extLst>
          </p:cNvPr>
          <p:cNvSpPr>
            <a:spLocks noGrp="1"/>
          </p:cNvSpPr>
          <p:nvPr>
            <p:ph type="subTitle" idx="1"/>
          </p:nvPr>
        </p:nvSpPr>
        <p:spPr/>
        <p:txBody>
          <a:bodyPr>
            <a:normAutofit lnSpcReduction="10000"/>
          </a:bodyPr>
          <a:lstStyle/>
          <a:p>
            <a:r>
              <a:rPr lang="en-US" dirty="0"/>
              <a:t>Mathematical Foundation for Computer Science </a:t>
            </a:r>
            <a:endParaRPr lang="en-IN" dirty="0"/>
          </a:p>
        </p:txBody>
      </p:sp>
    </p:spTree>
    <p:extLst>
      <p:ext uri="{BB962C8B-B14F-4D97-AF65-F5344CB8AC3E}">
        <p14:creationId xmlns:p14="http://schemas.microsoft.com/office/powerpoint/2010/main" val="3848506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825CB-91D8-4BF1-84BC-BE57F14646E6}"/>
              </a:ext>
            </a:extLst>
          </p:cNvPr>
          <p:cNvSpPr>
            <a:spLocks noGrp="1"/>
          </p:cNvSpPr>
          <p:nvPr>
            <p:ph type="title"/>
          </p:nvPr>
        </p:nvSpPr>
        <p:spPr/>
        <p:txBody>
          <a:bodyPr/>
          <a:lstStyle/>
          <a:p>
            <a:r>
              <a:rPr lang="en-IN" dirty="0"/>
              <a:t>Lecture Outcomes</a:t>
            </a:r>
          </a:p>
        </p:txBody>
      </p:sp>
      <p:sp>
        <p:nvSpPr>
          <p:cNvPr id="3" name="Content Placeholder 2">
            <a:extLst>
              <a:ext uri="{FF2B5EF4-FFF2-40B4-BE49-F238E27FC236}">
                <a16:creationId xmlns:a16="http://schemas.microsoft.com/office/drawing/2014/main" id="{C2262320-2170-46A9-8662-1BF0938F293E}"/>
              </a:ext>
            </a:extLst>
          </p:cNvPr>
          <p:cNvSpPr>
            <a:spLocks noGrp="1"/>
          </p:cNvSpPr>
          <p:nvPr>
            <p:ph idx="1"/>
          </p:nvPr>
        </p:nvSpPr>
        <p:spPr>
          <a:xfrm>
            <a:off x="963561" y="2883189"/>
            <a:ext cx="7002804" cy="2113936"/>
          </a:xfrm>
        </p:spPr>
        <p:txBody>
          <a:bodyPr>
            <a:normAutofit/>
          </a:bodyPr>
          <a:lstStyle/>
          <a:p>
            <a:r>
              <a:rPr lang="en-US" dirty="0"/>
              <a:t>understand what is </a:t>
            </a:r>
            <a:r>
              <a:rPr lang="en-IN" dirty="0"/>
              <a:t>antisymmetric relation.</a:t>
            </a:r>
          </a:p>
          <a:p>
            <a:r>
              <a:rPr lang="en-US" dirty="0"/>
              <a:t>understand what is </a:t>
            </a:r>
            <a:r>
              <a:rPr lang="en-IN" dirty="0"/>
              <a:t>transitive relation.</a:t>
            </a:r>
          </a:p>
        </p:txBody>
      </p:sp>
    </p:spTree>
    <p:extLst>
      <p:ext uri="{BB962C8B-B14F-4D97-AF65-F5344CB8AC3E}">
        <p14:creationId xmlns:p14="http://schemas.microsoft.com/office/powerpoint/2010/main" val="1998472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9D5BF-CA5F-4068-8BD2-280DE8B48C68}"/>
              </a:ext>
            </a:extLst>
          </p:cNvPr>
          <p:cNvSpPr>
            <a:spLocks noGrp="1"/>
          </p:cNvSpPr>
          <p:nvPr>
            <p:ph type="title"/>
          </p:nvPr>
        </p:nvSpPr>
        <p:spPr/>
        <p:txBody>
          <a:bodyPr>
            <a:normAutofit/>
          </a:bodyPr>
          <a:lstStyle/>
          <a:p>
            <a:r>
              <a:rPr lang="en-IN" sz="3200" dirty="0"/>
              <a:t>Properties of Relations - </a:t>
            </a:r>
            <a:r>
              <a:rPr lang="en-US" sz="3200" dirty="0"/>
              <a:t>Antisymmetric</a:t>
            </a:r>
            <a:endParaRPr lang="en-IN" sz="3200" dirty="0"/>
          </a:p>
        </p:txBody>
      </p:sp>
      <p:sp>
        <p:nvSpPr>
          <p:cNvPr id="3" name="Content Placeholder 2">
            <a:extLst>
              <a:ext uri="{FF2B5EF4-FFF2-40B4-BE49-F238E27FC236}">
                <a16:creationId xmlns:a16="http://schemas.microsoft.com/office/drawing/2014/main" id="{85D727B6-6C67-426C-ACE7-C812D2ED2FE5}"/>
              </a:ext>
            </a:extLst>
          </p:cNvPr>
          <p:cNvSpPr>
            <a:spLocks noGrp="1"/>
          </p:cNvSpPr>
          <p:nvPr>
            <p:ph idx="1"/>
          </p:nvPr>
        </p:nvSpPr>
        <p:spPr>
          <a:xfrm>
            <a:off x="393290" y="1080001"/>
            <a:ext cx="8504904" cy="5338916"/>
          </a:xfrm>
        </p:spPr>
        <p:txBody>
          <a:bodyPr>
            <a:normAutofit lnSpcReduction="10000"/>
          </a:bodyPr>
          <a:lstStyle/>
          <a:p>
            <a:pPr marL="0" indent="0">
              <a:buNone/>
            </a:pPr>
            <a:r>
              <a:rPr lang="en-US" dirty="0"/>
              <a:t>A relation R on a set A such that for all a, b ∈ A, if (a, b) ∈ R and (b, a) ∈ R, then a = b is called antisymmetric.</a:t>
            </a:r>
          </a:p>
          <a:p>
            <a:pPr marL="0" indent="0">
              <a:buNone/>
            </a:pPr>
            <a:endParaRPr lang="en-US" dirty="0"/>
          </a:p>
          <a:p>
            <a:pPr marL="0" indent="0">
              <a:buNone/>
            </a:pPr>
            <a:endParaRPr lang="en-US" dirty="0"/>
          </a:p>
          <a:p>
            <a:pPr marL="0" indent="0">
              <a:buNone/>
            </a:pPr>
            <a:r>
              <a:rPr lang="en-US" dirty="0"/>
              <a:t>Similarly, the relation R on the set A is antisymmetric if</a:t>
            </a:r>
          </a:p>
          <a:p>
            <a:pPr marL="0" indent="0">
              <a:buNone/>
            </a:pPr>
            <a:r>
              <a:rPr lang="en-US" dirty="0">
                <a:solidFill>
                  <a:srgbClr val="C00000"/>
                </a:solidFill>
              </a:rPr>
              <a:t>∀a∀b(((a, b) ∈ R ∧ (b, a) ∈ R) → (a = b)).</a:t>
            </a:r>
            <a:endParaRPr lang="en-IN" dirty="0">
              <a:solidFill>
                <a:srgbClr val="C00000"/>
              </a:solidFill>
            </a:endParaRPr>
          </a:p>
        </p:txBody>
      </p:sp>
    </p:spTree>
    <p:extLst>
      <p:ext uri="{BB962C8B-B14F-4D97-AF65-F5344CB8AC3E}">
        <p14:creationId xmlns:p14="http://schemas.microsoft.com/office/powerpoint/2010/main" val="41793478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9D5BF-CA5F-4068-8BD2-280DE8B48C68}"/>
              </a:ext>
            </a:extLst>
          </p:cNvPr>
          <p:cNvSpPr>
            <a:spLocks noGrp="1"/>
          </p:cNvSpPr>
          <p:nvPr>
            <p:ph type="title"/>
          </p:nvPr>
        </p:nvSpPr>
        <p:spPr>
          <a:xfrm>
            <a:off x="393290" y="1"/>
            <a:ext cx="8653728" cy="1080000"/>
          </a:xfrm>
        </p:spPr>
        <p:txBody>
          <a:bodyPr>
            <a:normAutofit/>
          </a:bodyPr>
          <a:lstStyle/>
          <a:p>
            <a:r>
              <a:rPr lang="en-IN" sz="3200" dirty="0"/>
              <a:t>Properties of Relations – </a:t>
            </a:r>
            <a:r>
              <a:rPr lang="en-US" sz="3200" dirty="0"/>
              <a:t>Antisymmetric Example 1</a:t>
            </a:r>
            <a:endParaRPr lang="en-IN" sz="3200" dirty="0"/>
          </a:p>
        </p:txBody>
      </p:sp>
      <p:sp>
        <p:nvSpPr>
          <p:cNvPr id="3" name="Content Placeholder 2">
            <a:extLst>
              <a:ext uri="{FF2B5EF4-FFF2-40B4-BE49-F238E27FC236}">
                <a16:creationId xmlns:a16="http://schemas.microsoft.com/office/drawing/2014/main" id="{85D727B6-6C67-426C-ACE7-C812D2ED2FE5}"/>
              </a:ext>
            </a:extLst>
          </p:cNvPr>
          <p:cNvSpPr>
            <a:spLocks noGrp="1"/>
          </p:cNvSpPr>
          <p:nvPr>
            <p:ph idx="1"/>
          </p:nvPr>
        </p:nvSpPr>
        <p:spPr>
          <a:xfrm>
            <a:off x="393290" y="1080001"/>
            <a:ext cx="8348928" cy="5498466"/>
          </a:xfrm>
        </p:spPr>
        <p:txBody>
          <a:bodyPr>
            <a:normAutofit/>
          </a:bodyPr>
          <a:lstStyle/>
          <a:p>
            <a:pPr marL="0" indent="0">
              <a:buNone/>
            </a:pPr>
            <a:r>
              <a:rPr lang="en-US" sz="2600" dirty="0">
                <a:solidFill>
                  <a:srgbClr val="00B6CC"/>
                </a:solidFill>
              </a:rPr>
              <a:t>Ques:- </a:t>
            </a:r>
            <a:r>
              <a:rPr lang="en-US" sz="2600" dirty="0"/>
              <a:t>Consider the following relations on {1, 2, 3, 4}:</a:t>
            </a:r>
          </a:p>
          <a:p>
            <a:pPr marL="0" indent="0">
              <a:buNone/>
            </a:pPr>
            <a:r>
              <a:rPr lang="en-US" sz="2600" dirty="0"/>
              <a:t>Is it antisymmetric(</a:t>
            </a:r>
            <a:r>
              <a:rPr lang="en-US" sz="2600" dirty="0">
                <a:solidFill>
                  <a:srgbClr val="C00000"/>
                </a:solidFill>
              </a:rPr>
              <a:t>∀a∀b(((a, b)∈R∧(b, a) ∈ R)→(a= b))</a:t>
            </a:r>
            <a:r>
              <a:rPr lang="en-US" sz="2600" dirty="0"/>
              <a:t>)?</a:t>
            </a:r>
          </a:p>
          <a:p>
            <a:pPr marL="0" indent="0">
              <a:buNone/>
            </a:pPr>
            <a:r>
              <a:rPr lang="en-US" sz="2600" dirty="0"/>
              <a:t>R4 = {(2, 1), (3, 1), (3, 2), (4, 1), (4, 2), (4, 3)}</a:t>
            </a:r>
          </a:p>
          <a:p>
            <a:pPr marL="0" indent="0">
              <a:buNone/>
            </a:pPr>
            <a:endParaRPr lang="en-US" sz="2600" dirty="0"/>
          </a:p>
          <a:p>
            <a:pPr marL="0" indent="0">
              <a:buNone/>
            </a:pPr>
            <a:endParaRPr lang="en-US" sz="2600" dirty="0"/>
          </a:p>
          <a:p>
            <a:pPr marL="0" indent="0">
              <a:buNone/>
            </a:pPr>
            <a:endParaRPr lang="en-US" sz="2600" dirty="0"/>
          </a:p>
          <a:p>
            <a:pPr marL="0" indent="0">
              <a:buNone/>
            </a:pPr>
            <a:r>
              <a:rPr lang="en-US" sz="2600" dirty="0">
                <a:solidFill>
                  <a:srgbClr val="00B6CC"/>
                </a:solidFill>
              </a:rPr>
              <a:t>Ans:- </a:t>
            </a:r>
            <a:r>
              <a:rPr lang="en-US" sz="2600" dirty="0"/>
              <a:t>R4 is antisymmetric. </a:t>
            </a:r>
            <a:endParaRPr lang="en-IN" sz="2600" dirty="0"/>
          </a:p>
        </p:txBody>
      </p:sp>
    </p:spTree>
    <p:extLst>
      <p:ext uri="{BB962C8B-B14F-4D97-AF65-F5344CB8AC3E}">
        <p14:creationId xmlns:p14="http://schemas.microsoft.com/office/powerpoint/2010/main" val="28114249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9D5BF-CA5F-4068-8BD2-280DE8B48C68}"/>
              </a:ext>
            </a:extLst>
          </p:cNvPr>
          <p:cNvSpPr>
            <a:spLocks noGrp="1"/>
          </p:cNvSpPr>
          <p:nvPr>
            <p:ph type="title"/>
          </p:nvPr>
        </p:nvSpPr>
        <p:spPr>
          <a:xfrm>
            <a:off x="393290" y="1"/>
            <a:ext cx="8750710" cy="1080000"/>
          </a:xfrm>
        </p:spPr>
        <p:txBody>
          <a:bodyPr>
            <a:normAutofit/>
          </a:bodyPr>
          <a:lstStyle/>
          <a:p>
            <a:r>
              <a:rPr lang="en-IN" sz="3200" dirty="0"/>
              <a:t>Properties of Relations – </a:t>
            </a:r>
            <a:r>
              <a:rPr lang="en-US" sz="3200" dirty="0"/>
              <a:t>Antisymmetric Example 2</a:t>
            </a:r>
            <a:endParaRPr lang="en-IN" sz="3200" dirty="0"/>
          </a:p>
        </p:txBody>
      </p:sp>
      <p:sp>
        <p:nvSpPr>
          <p:cNvPr id="3" name="Content Placeholder 2">
            <a:extLst>
              <a:ext uri="{FF2B5EF4-FFF2-40B4-BE49-F238E27FC236}">
                <a16:creationId xmlns:a16="http://schemas.microsoft.com/office/drawing/2014/main" id="{85D727B6-6C67-426C-ACE7-C812D2ED2FE5}"/>
              </a:ext>
            </a:extLst>
          </p:cNvPr>
          <p:cNvSpPr>
            <a:spLocks noGrp="1"/>
          </p:cNvSpPr>
          <p:nvPr>
            <p:ph idx="1"/>
          </p:nvPr>
        </p:nvSpPr>
        <p:spPr>
          <a:xfrm>
            <a:off x="196645" y="1080001"/>
            <a:ext cx="8750710" cy="5609302"/>
          </a:xfrm>
        </p:spPr>
        <p:txBody>
          <a:bodyPr>
            <a:noAutofit/>
          </a:bodyPr>
          <a:lstStyle/>
          <a:p>
            <a:pPr marL="0" indent="0">
              <a:lnSpc>
                <a:spcPct val="170000"/>
              </a:lnSpc>
              <a:buNone/>
            </a:pPr>
            <a:r>
              <a:rPr lang="en-US" sz="2400" dirty="0">
                <a:solidFill>
                  <a:srgbClr val="00B6CC"/>
                </a:solidFill>
              </a:rPr>
              <a:t>Ques:- </a:t>
            </a:r>
            <a:r>
              <a:rPr lang="en-US" sz="2400" dirty="0"/>
              <a:t>Consider the following relations on {1, 2, 3, 4}:</a:t>
            </a:r>
          </a:p>
          <a:p>
            <a:pPr marL="0" indent="0">
              <a:lnSpc>
                <a:spcPct val="170000"/>
              </a:lnSpc>
              <a:buNone/>
            </a:pPr>
            <a:r>
              <a:rPr lang="en-US" sz="2400" dirty="0"/>
              <a:t>Is it antisymmetric (</a:t>
            </a:r>
            <a:r>
              <a:rPr lang="en-US" sz="2400" dirty="0">
                <a:solidFill>
                  <a:srgbClr val="C00000"/>
                </a:solidFill>
              </a:rPr>
              <a:t>∀a∀b(((a, b) ∈ R ∧ (b, a) ∈ R) → (a = b)).</a:t>
            </a:r>
            <a:r>
              <a:rPr lang="en-US" sz="2400" dirty="0"/>
              <a:t>) ?</a:t>
            </a:r>
          </a:p>
          <a:p>
            <a:pPr marL="0" indent="0">
              <a:lnSpc>
                <a:spcPct val="170000"/>
              </a:lnSpc>
              <a:buNone/>
            </a:pPr>
            <a:r>
              <a:rPr lang="en-US" sz="2400" dirty="0"/>
              <a:t>R5 = {(1, 1), (1, 2), (1, 3), (1, 4), (2, 2), (2, 3), (2, 4), (3, 3), (3, 4), (4, 4)}</a:t>
            </a:r>
          </a:p>
          <a:p>
            <a:pPr marL="0" indent="0">
              <a:lnSpc>
                <a:spcPct val="170000"/>
              </a:lnSpc>
              <a:buNone/>
            </a:pPr>
            <a:endParaRPr lang="en-US" sz="2400" dirty="0"/>
          </a:p>
          <a:p>
            <a:pPr marL="0" indent="0">
              <a:lnSpc>
                <a:spcPct val="170000"/>
              </a:lnSpc>
              <a:buNone/>
            </a:pPr>
            <a:endParaRPr lang="en-US" sz="2400" dirty="0"/>
          </a:p>
          <a:p>
            <a:pPr marL="0" indent="0">
              <a:lnSpc>
                <a:spcPct val="170000"/>
              </a:lnSpc>
              <a:buNone/>
            </a:pPr>
            <a:r>
              <a:rPr lang="en-US" sz="2400" dirty="0">
                <a:solidFill>
                  <a:srgbClr val="00B6CC"/>
                </a:solidFill>
              </a:rPr>
              <a:t>Ans:- </a:t>
            </a:r>
            <a:r>
              <a:rPr lang="en-US" sz="2400" dirty="0"/>
              <a:t>R5 is antisymmetric. </a:t>
            </a:r>
            <a:endParaRPr lang="en-IN" sz="2400" dirty="0"/>
          </a:p>
        </p:txBody>
      </p:sp>
    </p:spTree>
    <p:extLst>
      <p:ext uri="{BB962C8B-B14F-4D97-AF65-F5344CB8AC3E}">
        <p14:creationId xmlns:p14="http://schemas.microsoft.com/office/powerpoint/2010/main" val="32579314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9D5BF-CA5F-4068-8BD2-280DE8B48C68}"/>
              </a:ext>
            </a:extLst>
          </p:cNvPr>
          <p:cNvSpPr>
            <a:spLocks noGrp="1"/>
          </p:cNvSpPr>
          <p:nvPr>
            <p:ph type="title"/>
          </p:nvPr>
        </p:nvSpPr>
        <p:spPr>
          <a:xfrm>
            <a:off x="393289" y="1"/>
            <a:ext cx="8626019" cy="1080000"/>
          </a:xfrm>
        </p:spPr>
        <p:txBody>
          <a:bodyPr>
            <a:normAutofit/>
          </a:bodyPr>
          <a:lstStyle/>
          <a:p>
            <a:r>
              <a:rPr lang="en-IN" sz="3200" dirty="0"/>
              <a:t>Properties of Relations – </a:t>
            </a:r>
            <a:r>
              <a:rPr lang="en-US" sz="3200" dirty="0"/>
              <a:t>Antisymmetric Example 3</a:t>
            </a:r>
            <a:endParaRPr lang="en-IN" sz="3200" dirty="0"/>
          </a:p>
        </p:txBody>
      </p:sp>
      <p:sp>
        <p:nvSpPr>
          <p:cNvPr id="3" name="Content Placeholder 2">
            <a:extLst>
              <a:ext uri="{FF2B5EF4-FFF2-40B4-BE49-F238E27FC236}">
                <a16:creationId xmlns:a16="http://schemas.microsoft.com/office/drawing/2014/main" id="{85D727B6-6C67-426C-ACE7-C812D2ED2FE5}"/>
              </a:ext>
            </a:extLst>
          </p:cNvPr>
          <p:cNvSpPr>
            <a:spLocks noGrp="1"/>
          </p:cNvSpPr>
          <p:nvPr>
            <p:ph idx="1"/>
          </p:nvPr>
        </p:nvSpPr>
        <p:spPr>
          <a:xfrm>
            <a:off x="304942" y="1084666"/>
            <a:ext cx="8534115" cy="5609302"/>
          </a:xfrm>
        </p:spPr>
        <p:txBody>
          <a:bodyPr>
            <a:normAutofit fontScale="92500"/>
          </a:bodyPr>
          <a:lstStyle/>
          <a:p>
            <a:pPr marL="0" indent="0">
              <a:buNone/>
            </a:pPr>
            <a:r>
              <a:rPr lang="en-US" dirty="0">
                <a:solidFill>
                  <a:srgbClr val="00B6CC"/>
                </a:solidFill>
              </a:rPr>
              <a:t>Ques:- </a:t>
            </a:r>
            <a:r>
              <a:rPr lang="en-US" dirty="0"/>
              <a:t>Consider the following relations on {1, 2, 3, 4}:</a:t>
            </a:r>
          </a:p>
          <a:p>
            <a:pPr marL="0" indent="0">
              <a:buNone/>
            </a:pPr>
            <a:r>
              <a:rPr lang="en-US" dirty="0"/>
              <a:t>Is it antisymmetric(</a:t>
            </a:r>
            <a:r>
              <a:rPr lang="en-US" dirty="0">
                <a:solidFill>
                  <a:srgbClr val="C00000"/>
                </a:solidFill>
              </a:rPr>
              <a:t>∀a∀b(((a, b) ∈ R ∧ (b, a) ∈ R) → (a = b)).</a:t>
            </a:r>
            <a:r>
              <a:rPr lang="en-US" dirty="0"/>
              <a:t>) ?</a:t>
            </a:r>
          </a:p>
          <a:p>
            <a:pPr marL="0" indent="0">
              <a:buNone/>
            </a:pPr>
            <a:r>
              <a:rPr lang="en-US" dirty="0"/>
              <a:t>R6 = {(3, 4)}</a:t>
            </a:r>
          </a:p>
          <a:p>
            <a:pPr marL="0" indent="0">
              <a:buNone/>
            </a:pPr>
            <a:endParaRPr lang="en-US" dirty="0"/>
          </a:p>
          <a:p>
            <a:pPr marL="0" indent="0">
              <a:buNone/>
            </a:pPr>
            <a:endParaRPr lang="en-US" dirty="0"/>
          </a:p>
          <a:p>
            <a:pPr marL="0" indent="0">
              <a:buNone/>
            </a:pPr>
            <a:endParaRPr lang="en-US" dirty="0"/>
          </a:p>
          <a:p>
            <a:pPr marL="0" indent="0">
              <a:buNone/>
            </a:pPr>
            <a:r>
              <a:rPr lang="en-US" dirty="0">
                <a:solidFill>
                  <a:srgbClr val="00B6CC"/>
                </a:solidFill>
              </a:rPr>
              <a:t>Ans:- </a:t>
            </a:r>
            <a:r>
              <a:rPr lang="en-US" dirty="0"/>
              <a:t>R6 is antisymmetric. </a:t>
            </a:r>
            <a:endParaRPr lang="en-IN" dirty="0"/>
          </a:p>
        </p:txBody>
      </p:sp>
    </p:spTree>
    <p:extLst>
      <p:ext uri="{BB962C8B-B14F-4D97-AF65-F5344CB8AC3E}">
        <p14:creationId xmlns:p14="http://schemas.microsoft.com/office/powerpoint/2010/main" val="2121315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9D5BF-CA5F-4068-8BD2-280DE8B48C68}"/>
              </a:ext>
            </a:extLst>
          </p:cNvPr>
          <p:cNvSpPr>
            <a:spLocks noGrp="1"/>
          </p:cNvSpPr>
          <p:nvPr>
            <p:ph type="title"/>
          </p:nvPr>
        </p:nvSpPr>
        <p:spPr>
          <a:xfrm>
            <a:off x="393290" y="1"/>
            <a:ext cx="8653728" cy="1080000"/>
          </a:xfrm>
        </p:spPr>
        <p:txBody>
          <a:bodyPr>
            <a:normAutofit/>
          </a:bodyPr>
          <a:lstStyle/>
          <a:p>
            <a:r>
              <a:rPr lang="en-IN" sz="3200" dirty="0"/>
              <a:t>Properties of Relations – </a:t>
            </a:r>
            <a:r>
              <a:rPr lang="en-US" sz="3200" dirty="0"/>
              <a:t>Antisymmetric Example 4</a:t>
            </a:r>
            <a:endParaRPr lang="en-IN" sz="3200"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5D727B6-6C67-426C-ACE7-C812D2ED2FE5}"/>
                  </a:ext>
                </a:extLst>
              </p:cNvPr>
              <p:cNvSpPr>
                <a:spLocks noGrp="1"/>
              </p:cNvSpPr>
              <p:nvPr>
                <p:ph idx="1"/>
              </p:nvPr>
            </p:nvSpPr>
            <p:spPr>
              <a:xfrm>
                <a:off x="245136" y="1005355"/>
                <a:ext cx="8653728" cy="5777999"/>
              </a:xfrm>
            </p:spPr>
            <p:txBody>
              <a:bodyPr>
                <a:noAutofit/>
              </a:bodyPr>
              <a:lstStyle/>
              <a:p>
                <a:pPr marL="0" indent="0">
                  <a:buNone/>
                </a:pPr>
                <a:r>
                  <a:rPr lang="en-US" sz="2400" dirty="0">
                    <a:solidFill>
                      <a:srgbClr val="00B6CC"/>
                    </a:solidFill>
                  </a:rPr>
                  <a:t>Ques:- </a:t>
                </a:r>
                <a:r>
                  <a:rPr lang="en-US" sz="2400" dirty="0"/>
                  <a:t>Consider the following relations on {1, 2, 3, 4}:</a:t>
                </a:r>
              </a:p>
              <a:p>
                <a:pPr marL="0" indent="0">
                  <a:buNone/>
                </a:pPr>
                <a:r>
                  <a:rPr lang="en-US" sz="2400" dirty="0"/>
                  <a:t>Is it antisymmetric (</a:t>
                </a:r>
                <a:r>
                  <a:rPr lang="en-US" sz="2400" dirty="0">
                    <a:solidFill>
                      <a:srgbClr val="C00000"/>
                    </a:solidFill>
                  </a:rPr>
                  <a:t>∀a∀b(((a, b) ∈ R ∧ (b, a) ∈ R) → (a = b)).</a:t>
                </a:r>
                <a:r>
                  <a:rPr lang="en-US" sz="2400" dirty="0"/>
                  <a:t>) ?</a:t>
                </a:r>
              </a:p>
              <a:p>
                <a:pPr marL="0" indent="0">
                  <a:buNone/>
                </a:pPr>
                <a:r>
                  <a:rPr lang="en-US" sz="2400" dirty="0"/>
                  <a:t>R1 = {(1, 1), (1, 2), (2, 1), (2, 2), (3, 4), (4, 1), (4, 4)}.</a:t>
                </a:r>
              </a:p>
              <a:p>
                <a:pPr marL="0" indent="0">
                  <a:buNone/>
                </a:pPr>
                <a:endParaRPr lang="en-US" sz="2400" dirty="0"/>
              </a:p>
              <a:p>
                <a:pPr marL="0" indent="0">
                  <a:buNone/>
                </a:pPr>
                <a:endParaRPr lang="en-US" sz="2400" dirty="0"/>
              </a:p>
              <a:p>
                <a:pPr marL="0" indent="0">
                  <a:buNone/>
                </a:pPr>
                <a:endParaRPr lang="en-US" sz="2400" dirty="0"/>
              </a:p>
              <a:p>
                <a:pPr marL="0" indent="0">
                  <a:buNone/>
                </a:pPr>
                <a:r>
                  <a:rPr lang="en-US" sz="2400" dirty="0">
                    <a:solidFill>
                      <a:srgbClr val="00B6CC"/>
                    </a:solidFill>
                  </a:rPr>
                  <a:t>Ans:- </a:t>
                </a:r>
                <a:r>
                  <a:rPr lang="en-US" sz="2400" dirty="0"/>
                  <a:t>One should verify that the relation is </a:t>
                </a:r>
                <a:r>
                  <a:rPr lang="en-US" sz="2400" dirty="0">
                    <a:solidFill>
                      <a:srgbClr val="C00000"/>
                    </a:solidFill>
                  </a:rPr>
                  <a:t>not antisymmetric. </a:t>
                </a:r>
                <a:r>
                  <a:rPr lang="en-US" sz="2400" dirty="0"/>
                  <a:t>This is done by finding a pair (a, b) with a </a:t>
                </a:r>
                <a14:m>
                  <m:oMath xmlns:m="http://schemas.openxmlformats.org/officeDocument/2006/math">
                    <m:r>
                      <a:rPr lang="en-US" sz="2400" i="1" smtClean="0">
                        <a:latin typeface="Cambria Math" panose="02040503050406030204" pitchFamily="18" charset="0"/>
                        <a:ea typeface="Cambria Math" panose="02040503050406030204" pitchFamily="18" charset="0"/>
                      </a:rPr>
                      <m:t>≠</m:t>
                    </m:r>
                  </m:oMath>
                </a14:m>
                <a:r>
                  <a:rPr lang="en-US" sz="2400" dirty="0"/>
                  <a:t> b such that (a, b) and (b, a) are both in the relation.</a:t>
                </a:r>
                <a:endParaRPr lang="en-IN" sz="2400" dirty="0"/>
              </a:p>
            </p:txBody>
          </p:sp>
        </mc:Choice>
        <mc:Fallback>
          <p:sp>
            <p:nvSpPr>
              <p:cNvPr id="3" name="Content Placeholder 2">
                <a:extLst>
                  <a:ext uri="{FF2B5EF4-FFF2-40B4-BE49-F238E27FC236}">
                    <a16:creationId xmlns:a16="http://schemas.microsoft.com/office/drawing/2014/main" id="{85D727B6-6C67-426C-ACE7-C812D2ED2FE5}"/>
                  </a:ext>
                </a:extLst>
              </p:cNvPr>
              <p:cNvSpPr>
                <a:spLocks noGrp="1" noRot="1" noChangeAspect="1" noMove="1" noResize="1" noEditPoints="1" noAdjustHandles="1" noChangeArrowheads="1" noChangeShapeType="1" noTextEdit="1"/>
              </p:cNvSpPr>
              <p:nvPr>
                <p:ph idx="1"/>
              </p:nvPr>
            </p:nvSpPr>
            <p:spPr>
              <a:xfrm>
                <a:off x="245136" y="1005355"/>
                <a:ext cx="8653728" cy="5777999"/>
              </a:xfrm>
              <a:blipFill>
                <a:blip r:embed="rId2"/>
                <a:stretch>
                  <a:fillRect l="-1056" r="-1056" b="-1371"/>
                </a:stretch>
              </a:blipFill>
            </p:spPr>
            <p:txBody>
              <a:bodyPr/>
              <a:lstStyle/>
              <a:p>
                <a:r>
                  <a:rPr lang="en-IN">
                    <a:noFill/>
                  </a:rPr>
                  <a:t> </a:t>
                </a:r>
              </a:p>
            </p:txBody>
          </p:sp>
        </mc:Fallback>
      </mc:AlternateContent>
    </p:spTree>
    <p:extLst>
      <p:ext uri="{BB962C8B-B14F-4D97-AF65-F5344CB8AC3E}">
        <p14:creationId xmlns:p14="http://schemas.microsoft.com/office/powerpoint/2010/main" val="27187441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9D5BF-CA5F-4068-8BD2-280DE8B48C68}"/>
              </a:ext>
            </a:extLst>
          </p:cNvPr>
          <p:cNvSpPr>
            <a:spLocks noGrp="1"/>
          </p:cNvSpPr>
          <p:nvPr>
            <p:ph type="title"/>
          </p:nvPr>
        </p:nvSpPr>
        <p:spPr>
          <a:xfrm>
            <a:off x="393290" y="1"/>
            <a:ext cx="8639874" cy="1080000"/>
          </a:xfrm>
        </p:spPr>
        <p:txBody>
          <a:bodyPr>
            <a:normAutofit/>
          </a:bodyPr>
          <a:lstStyle/>
          <a:p>
            <a:r>
              <a:rPr lang="en-IN" sz="3200" dirty="0"/>
              <a:t>Properties of Relations – </a:t>
            </a:r>
            <a:r>
              <a:rPr lang="en-US" sz="3200" dirty="0"/>
              <a:t>Antisymmetric Example 5</a:t>
            </a:r>
            <a:endParaRPr lang="en-IN" sz="3200"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5D727B6-6C67-426C-ACE7-C812D2ED2FE5}"/>
                  </a:ext>
                </a:extLst>
              </p:cNvPr>
              <p:cNvSpPr>
                <a:spLocks noGrp="1"/>
              </p:cNvSpPr>
              <p:nvPr>
                <p:ph idx="1"/>
              </p:nvPr>
            </p:nvSpPr>
            <p:spPr>
              <a:xfrm>
                <a:off x="258320" y="1080001"/>
                <a:ext cx="8774844" cy="5338916"/>
              </a:xfrm>
            </p:spPr>
            <p:txBody>
              <a:bodyPr>
                <a:noAutofit/>
              </a:bodyPr>
              <a:lstStyle/>
              <a:p>
                <a:pPr marL="0" indent="0">
                  <a:buNone/>
                </a:pPr>
                <a:r>
                  <a:rPr lang="en-US" sz="2400" dirty="0">
                    <a:solidFill>
                      <a:srgbClr val="00B6CC"/>
                    </a:solidFill>
                  </a:rPr>
                  <a:t>Ques:- </a:t>
                </a:r>
                <a:r>
                  <a:rPr lang="en-US" sz="2400" dirty="0"/>
                  <a:t>Consider the following relations on {1, 2, 3, 4}:</a:t>
                </a:r>
              </a:p>
              <a:p>
                <a:pPr marL="0" indent="0">
                  <a:buNone/>
                </a:pPr>
                <a:r>
                  <a:rPr lang="en-US" sz="2400" dirty="0"/>
                  <a:t>Is it antisymmetric(</a:t>
                </a:r>
                <a:r>
                  <a:rPr lang="en-US" sz="2400" dirty="0">
                    <a:solidFill>
                      <a:srgbClr val="C00000"/>
                    </a:solidFill>
                  </a:rPr>
                  <a:t>∀a∀b(((a, b) ∈ R ∧ (b, a) ∈ R) → (a = b)).</a:t>
                </a:r>
                <a:r>
                  <a:rPr lang="en-US" sz="2400" dirty="0"/>
                  <a:t>) ?</a:t>
                </a:r>
              </a:p>
              <a:p>
                <a:pPr marL="0" indent="0">
                  <a:buNone/>
                </a:pPr>
                <a:r>
                  <a:rPr lang="en-US" sz="2400" dirty="0"/>
                  <a:t>R2 = {(1, 1), (1, 2), (2, 1)}.</a:t>
                </a:r>
              </a:p>
              <a:p>
                <a:pPr marL="0" indent="0">
                  <a:buNone/>
                </a:pPr>
                <a:endParaRPr lang="en-US" sz="2400" dirty="0"/>
              </a:p>
              <a:p>
                <a:pPr marL="0" indent="0">
                  <a:buNone/>
                </a:pPr>
                <a:endParaRPr lang="en-US" sz="2400" dirty="0"/>
              </a:p>
              <a:p>
                <a:pPr marL="0" indent="0">
                  <a:buNone/>
                </a:pPr>
                <a:r>
                  <a:rPr lang="en-US" sz="2400" dirty="0">
                    <a:solidFill>
                      <a:srgbClr val="00B6CC"/>
                    </a:solidFill>
                  </a:rPr>
                  <a:t>Ans:- </a:t>
                </a:r>
                <a:r>
                  <a:rPr lang="en-US" sz="2400" dirty="0"/>
                  <a:t>One should verify that the relation is </a:t>
                </a:r>
                <a:r>
                  <a:rPr lang="en-US" sz="2400" dirty="0">
                    <a:solidFill>
                      <a:srgbClr val="C00000"/>
                    </a:solidFill>
                  </a:rPr>
                  <a:t>not antisymmetric</a:t>
                </a:r>
                <a:r>
                  <a:rPr lang="en-US" sz="2400" dirty="0"/>
                  <a:t>. This is done by finding a pair (a, b) with a </a:t>
                </a:r>
                <a14:m>
                  <m:oMath xmlns:m="http://schemas.openxmlformats.org/officeDocument/2006/math">
                    <m:r>
                      <a:rPr lang="en-US" sz="2400" i="1" smtClean="0">
                        <a:latin typeface="Cambria Math" panose="02040503050406030204" pitchFamily="18" charset="0"/>
                        <a:ea typeface="Cambria Math" panose="02040503050406030204" pitchFamily="18" charset="0"/>
                      </a:rPr>
                      <m:t>≠</m:t>
                    </m:r>
                  </m:oMath>
                </a14:m>
                <a:r>
                  <a:rPr lang="en-US" sz="2400" dirty="0"/>
                  <a:t> b such that (a, b) and (b, a) are both in the relation.</a:t>
                </a:r>
                <a:endParaRPr lang="en-IN" sz="2400" dirty="0"/>
              </a:p>
            </p:txBody>
          </p:sp>
        </mc:Choice>
        <mc:Fallback>
          <p:sp>
            <p:nvSpPr>
              <p:cNvPr id="3" name="Content Placeholder 2">
                <a:extLst>
                  <a:ext uri="{FF2B5EF4-FFF2-40B4-BE49-F238E27FC236}">
                    <a16:creationId xmlns:a16="http://schemas.microsoft.com/office/drawing/2014/main" id="{85D727B6-6C67-426C-ACE7-C812D2ED2FE5}"/>
                  </a:ext>
                </a:extLst>
              </p:cNvPr>
              <p:cNvSpPr>
                <a:spLocks noGrp="1" noRot="1" noChangeAspect="1" noMove="1" noResize="1" noEditPoints="1" noAdjustHandles="1" noChangeArrowheads="1" noChangeShapeType="1" noTextEdit="1"/>
              </p:cNvSpPr>
              <p:nvPr>
                <p:ph idx="1"/>
              </p:nvPr>
            </p:nvSpPr>
            <p:spPr>
              <a:xfrm>
                <a:off x="258320" y="1080001"/>
                <a:ext cx="8774844" cy="5338916"/>
              </a:xfrm>
              <a:blipFill>
                <a:blip r:embed="rId2"/>
                <a:stretch>
                  <a:fillRect l="-1042" r="-1042"/>
                </a:stretch>
              </a:blipFill>
            </p:spPr>
            <p:txBody>
              <a:bodyPr/>
              <a:lstStyle/>
              <a:p>
                <a:r>
                  <a:rPr lang="en-IN">
                    <a:noFill/>
                  </a:rPr>
                  <a:t> </a:t>
                </a:r>
              </a:p>
            </p:txBody>
          </p:sp>
        </mc:Fallback>
      </mc:AlternateContent>
    </p:spTree>
    <p:extLst>
      <p:ext uri="{BB962C8B-B14F-4D97-AF65-F5344CB8AC3E}">
        <p14:creationId xmlns:p14="http://schemas.microsoft.com/office/powerpoint/2010/main" val="4733024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9D5BF-CA5F-4068-8BD2-280DE8B48C68}"/>
              </a:ext>
            </a:extLst>
          </p:cNvPr>
          <p:cNvSpPr>
            <a:spLocks noGrp="1"/>
          </p:cNvSpPr>
          <p:nvPr>
            <p:ph type="title"/>
          </p:nvPr>
        </p:nvSpPr>
        <p:spPr>
          <a:xfrm>
            <a:off x="393290" y="1"/>
            <a:ext cx="8750710" cy="1080000"/>
          </a:xfrm>
        </p:spPr>
        <p:txBody>
          <a:bodyPr>
            <a:normAutofit/>
          </a:bodyPr>
          <a:lstStyle/>
          <a:p>
            <a:r>
              <a:rPr lang="en-IN" sz="3200" dirty="0"/>
              <a:t>Properties of Relations – </a:t>
            </a:r>
            <a:r>
              <a:rPr lang="en-US" sz="3200" dirty="0"/>
              <a:t>Antisymmetric Example 6</a:t>
            </a:r>
            <a:endParaRPr lang="en-IN" sz="3200"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5D727B6-6C67-426C-ACE7-C812D2ED2FE5}"/>
                  </a:ext>
                </a:extLst>
              </p:cNvPr>
              <p:cNvSpPr>
                <a:spLocks noGrp="1"/>
              </p:cNvSpPr>
              <p:nvPr>
                <p:ph idx="1"/>
              </p:nvPr>
            </p:nvSpPr>
            <p:spPr>
              <a:xfrm>
                <a:off x="393290" y="1005356"/>
                <a:ext cx="8504904" cy="5777999"/>
              </a:xfrm>
            </p:spPr>
            <p:txBody>
              <a:bodyPr>
                <a:noAutofit/>
              </a:bodyPr>
              <a:lstStyle/>
              <a:p>
                <a:pPr marL="0" indent="0">
                  <a:buNone/>
                </a:pPr>
                <a:r>
                  <a:rPr lang="en-US" sz="2400" dirty="0">
                    <a:solidFill>
                      <a:srgbClr val="00B6CC"/>
                    </a:solidFill>
                  </a:rPr>
                  <a:t>Ques:- </a:t>
                </a:r>
                <a:r>
                  <a:rPr lang="en-US" sz="2400" dirty="0"/>
                  <a:t>Consider the following relations on {1, 2, 3, 4}:</a:t>
                </a:r>
              </a:p>
              <a:p>
                <a:pPr marL="0" indent="0">
                  <a:buNone/>
                </a:pPr>
                <a:r>
                  <a:rPr lang="en-US" sz="2400" dirty="0"/>
                  <a:t>Is it antisymmetric(</a:t>
                </a:r>
                <a:r>
                  <a:rPr lang="en-US" sz="2400" dirty="0">
                    <a:solidFill>
                      <a:srgbClr val="C00000"/>
                    </a:solidFill>
                  </a:rPr>
                  <a:t>∀a∀b(((a, b) ∈ R ∧ (b, a) ∈ R) → (a = b)).</a:t>
                </a:r>
                <a:r>
                  <a:rPr lang="en-US" sz="2400" dirty="0"/>
                  <a:t>) ?</a:t>
                </a:r>
              </a:p>
              <a:p>
                <a:pPr marL="0" indent="0">
                  <a:buNone/>
                </a:pPr>
                <a:r>
                  <a:rPr lang="en-US" sz="2400" dirty="0"/>
                  <a:t>R3 = {(1, 1), (1, 2), (1, 4), (2, 1), (2, 2), (3, 3), (4, 1), (4, 4)}</a:t>
                </a:r>
              </a:p>
              <a:p>
                <a:pPr marL="0" indent="0">
                  <a:buNone/>
                </a:pPr>
                <a:endParaRPr lang="en-US" sz="2400" dirty="0"/>
              </a:p>
              <a:p>
                <a:pPr marL="0" indent="0">
                  <a:buNone/>
                </a:pPr>
                <a:endParaRPr lang="en-US" sz="2400" dirty="0"/>
              </a:p>
              <a:p>
                <a:pPr marL="0" indent="0">
                  <a:buNone/>
                </a:pPr>
                <a:endParaRPr lang="en-US" sz="2400" dirty="0"/>
              </a:p>
              <a:p>
                <a:pPr marL="0" indent="0">
                  <a:buNone/>
                </a:pPr>
                <a:r>
                  <a:rPr lang="en-US" sz="2400" dirty="0">
                    <a:solidFill>
                      <a:srgbClr val="00B6CC"/>
                    </a:solidFill>
                  </a:rPr>
                  <a:t>Ans:- </a:t>
                </a:r>
                <a:r>
                  <a:rPr lang="en-US" sz="2400" dirty="0"/>
                  <a:t>One should verify that the relation is </a:t>
                </a:r>
                <a:r>
                  <a:rPr lang="en-US" sz="2400" dirty="0">
                    <a:solidFill>
                      <a:srgbClr val="C00000"/>
                    </a:solidFill>
                  </a:rPr>
                  <a:t>not antisymmetric</a:t>
                </a:r>
                <a:r>
                  <a:rPr lang="en-US" sz="2400" dirty="0"/>
                  <a:t>. This is done by finding a pair (a, b) with a </a:t>
                </a:r>
                <a14:m>
                  <m:oMath xmlns:m="http://schemas.openxmlformats.org/officeDocument/2006/math">
                    <m:r>
                      <a:rPr lang="en-US" sz="2400" i="1" smtClean="0">
                        <a:latin typeface="Cambria Math" panose="02040503050406030204" pitchFamily="18" charset="0"/>
                        <a:ea typeface="Cambria Math" panose="02040503050406030204" pitchFamily="18" charset="0"/>
                      </a:rPr>
                      <m:t>≠</m:t>
                    </m:r>
                  </m:oMath>
                </a14:m>
                <a:r>
                  <a:rPr lang="en-US" sz="2400" dirty="0"/>
                  <a:t> b such that (a, b) and (b, a) are both in the relation.</a:t>
                </a:r>
                <a:endParaRPr lang="en-IN" sz="2400" dirty="0"/>
              </a:p>
            </p:txBody>
          </p:sp>
        </mc:Choice>
        <mc:Fallback>
          <p:sp>
            <p:nvSpPr>
              <p:cNvPr id="3" name="Content Placeholder 2">
                <a:extLst>
                  <a:ext uri="{FF2B5EF4-FFF2-40B4-BE49-F238E27FC236}">
                    <a16:creationId xmlns:a16="http://schemas.microsoft.com/office/drawing/2014/main" id="{85D727B6-6C67-426C-ACE7-C812D2ED2FE5}"/>
                  </a:ext>
                </a:extLst>
              </p:cNvPr>
              <p:cNvSpPr>
                <a:spLocks noGrp="1" noRot="1" noChangeAspect="1" noMove="1" noResize="1" noEditPoints="1" noAdjustHandles="1" noChangeArrowheads="1" noChangeShapeType="1" noTextEdit="1"/>
              </p:cNvSpPr>
              <p:nvPr>
                <p:ph idx="1"/>
              </p:nvPr>
            </p:nvSpPr>
            <p:spPr>
              <a:xfrm>
                <a:off x="393290" y="1005356"/>
                <a:ext cx="8504904" cy="5777999"/>
              </a:xfrm>
              <a:blipFill>
                <a:blip r:embed="rId2"/>
                <a:stretch>
                  <a:fillRect l="-1147" r="-1075" b="-1371"/>
                </a:stretch>
              </a:blipFill>
            </p:spPr>
            <p:txBody>
              <a:bodyPr/>
              <a:lstStyle/>
              <a:p>
                <a:r>
                  <a:rPr lang="en-IN">
                    <a:noFill/>
                  </a:rPr>
                  <a:t> </a:t>
                </a:r>
              </a:p>
            </p:txBody>
          </p:sp>
        </mc:Fallback>
      </mc:AlternateContent>
    </p:spTree>
    <p:extLst>
      <p:ext uri="{BB962C8B-B14F-4D97-AF65-F5344CB8AC3E}">
        <p14:creationId xmlns:p14="http://schemas.microsoft.com/office/powerpoint/2010/main" val="37257447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9D5BF-CA5F-4068-8BD2-280DE8B48C68}"/>
              </a:ext>
            </a:extLst>
          </p:cNvPr>
          <p:cNvSpPr>
            <a:spLocks noGrp="1"/>
          </p:cNvSpPr>
          <p:nvPr>
            <p:ph type="title"/>
          </p:nvPr>
        </p:nvSpPr>
        <p:spPr>
          <a:xfrm>
            <a:off x="393289" y="1"/>
            <a:ext cx="8612165" cy="1080000"/>
          </a:xfrm>
        </p:spPr>
        <p:txBody>
          <a:bodyPr>
            <a:normAutofit/>
          </a:bodyPr>
          <a:lstStyle/>
          <a:p>
            <a:r>
              <a:rPr lang="en-IN" sz="3200" dirty="0"/>
              <a:t>Properties of Relations – </a:t>
            </a:r>
            <a:r>
              <a:rPr lang="en-US" sz="3200" dirty="0"/>
              <a:t>Antisymmetric Example 7</a:t>
            </a:r>
            <a:endParaRPr lang="en-IN" sz="3200" dirty="0"/>
          </a:p>
        </p:txBody>
      </p:sp>
      <p:sp>
        <p:nvSpPr>
          <p:cNvPr id="3" name="Content Placeholder 2">
            <a:extLst>
              <a:ext uri="{FF2B5EF4-FFF2-40B4-BE49-F238E27FC236}">
                <a16:creationId xmlns:a16="http://schemas.microsoft.com/office/drawing/2014/main" id="{85D727B6-6C67-426C-ACE7-C812D2ED2FE5}"/>
              </a:ext>
            </a:extLst>
          </p:cNvPr>
          <p:cNvSpPr>
            <a:spLocks noGrp="1"/>
          </p:cNvSpPr>
          <p:nvPr>
            <p:ph idx="1"/>
          </p:nvPr>
        </p:nvSpPr>
        <p:spPr>
          <a:xfrm>
            <a:off x="393290" y="1080001"/>
            <a:ext cx="8504904" cy="5507613"/>
          </a:xfrm>
        </p:spPr>
        <p:txBody>
          <a:bodyPr>
            <a:normAutofit/>
          </a:bodyPr>
          <a:lstStyle/>
          <a:p>
            <a:pPr marL="0" indent="0">
              <a:buNone/>
            </a:pPr>
            <a:r>
              <a:rPr lang="en-US" sz="2600" dirty="0">
                <a:solidFill>
                  <a:srgbClr val="00B6CC"/>
                </a:solidFill>
              </a:rPr>
              <a:t>Ques:- </a:t>
            </a:r>
            <a:r>
              <a:rPr lang="en-US" sz="2600" dirty="0"/>
              <a:t>Is the “divides” relation on the set of positive integers antisymmetric?</a:t>
            </a:r>
            <a:endParaRPr lang="en-IN" sz="2600" dirty="0"/>
          </a:p>
          <a:p>
            <a:pPr marL="0" indent="0">
              <a:buNone/>
            </a:pPr>
            <a:endParaRPr lang="en-IN" sz="2600" dirty="0"/>
          </a:p>
          <a:p>
            <a:pPr marL="0" indent="0">
              <a:buNone/>
            </a:pPr>
            <a:endParaRPr lang="en-IN" sz="2600" dirty="0"/>
          </a:p>
          <a:p>
            <a:pPr marL="0" indent="0">
              <a:buNone/>
            </a:pPr>
            <a:endParaRPr lang="en-IN" sz="2600" dirty="0"/>
          </a:p>
          <a:p>
            <a:pPr marL="0" indent="0">
              <a:buNone/>
            </a:pPr>
            <a:endParaRPr lang="en-IN" sz="2600" dirty="0"/>
          </a:p>
          <a:p>
            <a:pPr marL="0" indent="0">
              <a:buNone/>
            </a:pPr>
            <a:r>
              <a:rPr lang="en-US" sz="2600" dirty="0">
                <a:solidFill>
                  <a:srgbClr val="00B6CC"/>
                </a:solidFill>
              </a:rPr>
              <a:t>Ans:- </a:t>
            </a:r>
            <a:r>
              <a:rPr lang="en-US" sz="2600" dirty="0">
                <a:solidFill>
                  <a:srgbClr val="C00000"/>
                </a:solidFill>
              </a:rPr>
              <a:t>It is antisymmetric</a:t>
            </a:r>
            <a:r>
              <a:rPr lang="en-US" sz="2600" dirty="0"/>
              <a:t>, for if a and b are positive integers with a |b and b |a, then a = b.</a:t>
            </a:r>
            <a:endParaRPr lang="en-IN" sz="2600" dirty="0"/>
          </a:p>
        </p:txBody>
      </p:sp>
    </p:spTree>
    <p:extLst>
      <p:ext uri="{BB962C8B-B14F-4D97-AF65-F5344CB8AC3E}">
        <p14:creationId xmlns:p14="http://schemas.microsoft.com/office/powerpoint/2010/main" val="22337329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9D5BF-CA5F-4068-8BD2-280DE8B48C68}"/>
              </a:ext>
            </a:extLst>
          </p:cNvPr>
          <p:cNvSpPr>
            <a:spLocks noGrp="1"/>
          </p:cNvSpPr>
          <p:nvPr>
            <p:ph type="title"/>
          </p:nvPr>
        </p:nvSpPr>
        <p:spPr/>
        <p:txBody>
          <a:bodyPr>
            <a:normAutofit/>
          </a:bodyPr>
          <a:lstStyle/>
          <a:p>
            <a:r>
              <a:rPr lang="en-IN" sz="3200" dirty="0"/>
              <a:t>Properties of Relations - Transitive</a:t>
            </a:r>
          </a:p>
        </p:txBody>
      </p:sp>
      <p:sp>
        <p:nvSpPr>
          <p:cNvPr id="3" name="Content Placeholder 2">
            <a:extLst>
              <a:ext uri="{FF2B5EF4-FFF2-40B4-BE49-F238E27FC236}">
                <a16:creationId xmlns:a16="http://schemas.microsoft.com/office/drawing/2014/main" id="{85D727B6-6C67-426C-ACE7-C812D2ED2FE5}"/>
              </a:ext>
            </a:extLst>
          </p:cNvPr>
          <p:cNvSpPr>
            <a:spLocks noGrp="1"/>
          </p:cNvSpPr>
          <p:nvPr>
            <p:ph idx="1"/>
          </p:nvPr>
        </p:nvSpPr>
        <p:spPr>
          <a:xfrm>
            <a:off x="393290" y="1248698"/>
            <a:ext cx="8504904" cy="5338916"/>
          </a:xfrm>
        </p:spPr>
        <p:txBody>
          <a:bodyPr>
            <a:normAutofit/>
          </a:bodyPr>
          <a:lstStyle/>
          <a:p>
            <a:pPr marL="0" indent="0">
              <a:buNone/>
            </a:pPr>
            <a:r>
              <a:rPr lang="en-US" dirty="0"/>
              <a:t>A relation R on a set A is called transitive if whenever (a, b) ∈ R and (b, c) ∈ R, then (a, c) ∈ R, for all a, b, c ∈ A.</a:t>
            </a:r>
          </a:p>
          <a:p>
            <a:pPr marL="0" indent="0">
              <a:buNone/>
            </a:pPr>
            <a:endParaRPr lang="en-US" dirty="0"/>
          </a:p>
          <a:p>
            <a:pPr marL="0" indent="0">
              <a:buNone/>
            </a:pPr>
            <a:r>
              <a:rPr lang="en-US" dirty="0">
                <a:solidFill>
                  <a:srgbClr val="00B6CC"/>
                </a:solidFill>
              </a:rPr>
              <a:t>Remark: </a:t>
            </a:r>
            <a:r>
              <a:rPr lang="en-US" dirty="0"/>
              <a:t>Using quantifiers we see that the relation R on a set A is transitive if we have</a:t>
            </a:r>
          </a:p>
          <a:p>
            <a:pPr marL="0" indent="0">
              <a:buNone/>
            </a:pPr>
            <a:r>
              <a:rPr lang="en-US" dirty="0">
                <a:solidFill>
                  <a:srgbClr val="C00000"/>
                </a:solidFill>
              </a:rPr>
              <a:t>∀a∀b∀c(((a, b) ∈ R ∧ (b, c) ∈ R) → (a, c) ∈ R).</a:t>
            </a:r>
            <a:endParaRPr lang="en-IN" dirty="0">
              <a:solidFill>
                <a:srgbClr val="C00000"/>
              </a:solidFill>
            </a:endParaRPr>
          </a:p>
        </p:txBody>
      </p:sp>
    </p:spTree>
    <p:extLst>
      <p:ext uri="{BB962C8B-B14F-4D97-AF65-F5344CB8AC3E}">
        <p14:creationId xmlns:p14="http://schemas.microsoft.com/office/powerpoint/2010/main" val="2337217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9D5BF-CA5F-4068-8BD2-280DE8B48C68}"/>
              </a:ext>
            </a:extLst>
          </p:cNvPr>
          <p:cNvSpPr>
            <a:spLocks noGrp="1"/>
          </p:cNvSpPr>
          <p:nvPr>
            <p:ph type="title"/>
          </p:nvPr>
        </p:nvSpPr>
        <p:spPr/>
        <p:txBody>
          <a:bodyPr>
            <a:normAutofit/>
          </a:bodyPr>
          <a:lstStyle/>
          <a:p>
            <a:r>
              <a:rPr lang="en-IN" sz="3200" dirty="0"/>
              <a:t>Properties of Relations – Transitive Example 1</a:t>
            </a:r>
          </a:p>
        </p:txBody>
      </p:sp>
      <p:sp>
        <p:nvSpPr>
          <p:cNvPr id="3" name="Content Placeholder 2">
            <a:extLst>
              <a:ext uri="{FF2B5EF4-FFF2-40B4-BE49-F238E27FC236}">
                <a16:creationId xmlns:a16="http://schemas.microsoft.com/office/drawing/2014/main" id="{85D727B6-6C67-426C-ACE7-C812D2ED2FE5}"/>
              </a:ext>
            </a:extLst>
          </p:cNvPr>
          <p:cNvSpPr>
            <a:spLocks noGrp="1"/>
          </p:cNvSpPr>
          <p:nvPr>
            <p:ph idx="1"/>
          </p:nvPr>
        </p:nvSpPr>
        <p:spPr>
          <a:xfrm>
            <a:off x="393290" y="1005355"/>
            <a:ext cx="8504904" cy="5777999"/>
          </a:xfrm>
        </p:spPr>
        <p:txBody>
          <a:bodyPr>
            <a:noAutofit/>
          </a:bodyPr>
          <a:lstStyle/>
          <a:p>
            <a:pPr marL="0" indent="0">
              <a:buNone/>
            </a:pPr>
            <a:r>
              <a:rPr lang="en-US" sz="2400" dirty="0">
                <a:solidFill>
                  <a:srgbClr val="00B6CC"/>
                </a:solidFill>
              </a:rPr>
              <a:t>Ques:- </a:t>
            </a:r>
            <a:r>
              <a:rPr lang="en-US" sz="2400" dirty="0"/>
              <a:t>Is the following relation transitive?</a:t>
            </a:r>
            <a:endParaRPr lang="pt-BR" sz="2400" dirty="0"/>
          </a:p>
          <a:p>
            <a:pPr marL="0" indent="0">
              <a:buNone/>
            </a:pPr>
            <a:r>
              <a:rPr lang="pt-BR" sz="2400" dirty="0"/>
              <a:t>R4 = {(2, 1), (3, 1), (3, 2), (4, 1), (4, 2), (4, 3)}.</a:t>
            </a:r>
          </a:p>
          <a:p>
            <a:pPr marL="0" indent="0">
              <a:buNone/>
            </a:pPr>
            <a:endParaRPr lang="pt-BR" sz="2400" dirty="0"/>
          </a:p>
          <a:p>
            <a:pPr marL="0" indent="0">
              <a:buNone/>
            </a:pPr>
            <a:endParaRPr lang="pt-BR" sz="2400" dirty="0"/>
          </a:p>
          <a:p>
            <a:pPr marL="0" indent="0">
              <a:buNone/>
            </a:pPr>
            <a:endParaRPr lang="pt-BR" sz="2400" dirty="0"/>
          </a:p>
          <a:p>
            <a:pPr marL="0" indent="0">
              <a:buNone/>
            </a:pPr>
            <a:endParaRPr lang="pt-BR" sz="2400" dirty="0"/>
          </a:p>
          <a:p>
            <a:pPr marL="0" indent="0">
              <a:buNone/>
            </a:pPr>
            <a:r>
              <a:rPr lang="en-US" sz="2400" dirty="0">
                <a:solidFill>
                  <a:srgbClr val="00B6CC"/>
                </a:solidFill>
              </a:rPr>
              <a:t>Ans:- </a:t>
            </a:r>
            <a:r>
              <a:rPr lang="en-US" sz="2400" dirty="0">
                <a:solidFill>
                  <a:srgbClr val="C00000"/>
                </a:solidFill>
              </a:rPr>
              <a:t>R4 is transitive</a:t>
            </a:r>
            <a:r>
              <a:rPr lang="en-US" sz="2400" dirty="0"/>
              <a:t>, because (3, 2) and (2, 1), (4, 2) and (2, 1), (4, 3) and (3, 1), and (4, 3) and (3, 2) are the only such sets of pairs, and (3, 1), (4, 1), and (4, 2) belong to R4.</a:t>
            </a:r>
            <a:endParaRPr lang="en-IN" sz="2400" dirty="0"/>
          </a:p>
        </p:txBody>
      </p:sp>
    </p:spTree>
    <p:extLst>
      <p:ext uri="{BB962C8B-B14F-4D97-AF65-F5344CB8AC3E}">
        <p14:creationId xmlns:p14="http://schemas.microsoft.com/office/powerpoint/2010/main" val="4433957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9D5BF-CA5F-4068-8BD2-280DE8B48C68}"/>
              </a:ext>
            </a:extLst>
          </p:cNvPr>
          <p:cNvSpPr>
            <a:spLocks noGrp="1"/>
          </p:cNvSpPr>
          <p:nvPr>
            <p:ph type="title"/>
          </p:nvPr>
        </p:nvSpPr>
        <p:spPr/>
        <p:txBody>
          <a:bodyPr>
            <a:normAutofit/>
          </a:bodyPr>
          <a:lstStyle/>
          <a:p>
            <a:r>
              <a:rPr lang="en-IN" sz="3200" dirty="0"/>
              <a:t>Properties of Relations – Transitive Example 2</a:t>
            </a:r>
          </a:p>
        </p:txBody>
      </p:sp>
      <p:sp>
        <p:nvSpPr>
          <p:cNvPr id="3" name="Content Placeholder 2">
            <a:extLst>
              <a:ext uri="{FF2B5EF4-FFF2-40B4-BE49-F238E27FC236}">
                <a16:creationId xmlns:a16="http://schemas.microsoft.com/office/drawing/2014/main" id="{85D727B6-6C67-426C-ACE7-C812D2ED2FE5}"/>
              </a:ext>
            </a:extLst>
          </p:cNvPr>
          <p:cNvSpPr>
            <a:spLocks noGrp="1"/>
          </p:cNvSpPr>
          <p:nvPr>
            <p:ph idx="1"/>
          </p:nvPr>
        </p:nvSpPr>
        <p:spPr>
          <a:xfrm>
            <a:off x="393290" y="1080001"/>
            <a:ext cx="8504904" cy="5874981"/>
          </a:xfrm>
        </p:spPr>
        <p:txBody>
          <a:bodyPr>
            <a:normAutofit/>
          </a:bodyPr>
          <a:lstStyle/>
          <a:p>
            <a:pPr marL="0" indent="0">
              <a:buNone/>
            </a:pPr>
            <a:r>
              <a:rPr lang="en-US" sz="2600" dirty="0">
                <a:solidFill>
                  <a:srgbClr val="00B6CC"/>
                </a:solidFill>
              </a:rPr>
              <a:t>Ques:- </a:t>
            </a:r>
            <a:r>
              <a:rPr lang="en-US" sz="2600" dirty="0"/>
              <a:t>Is the following relation transitive?</a:t>
            </a:r>
            <a:endParaRPr lang="pt-BR" sz="2600" dirty="0"/>
          </a:p>
          <a:p>
            <a:pPr marL="0" indent="0">
              <a:buNone/>
            </a:pPr>
            <a:r>
              <a:rPr lang="pt-BR" sz="2600" dirty="0"/>
              <a:t>R5 = {(1, 1), (1, 2), (1, 3), (1, 4), (2, 2), (2, 3), (2, 4), (3, 3), (3, 4), (4, 4)}.</a:t>
            </a:r>
          </a:p>
          <a:p>
            <a:pPr marL="0" indent="0">
              <a:buNone/>
            </a:pPr>
            <a:endParaRPr lang="pt-BR" sz="2600" dirty="0"/>
          </a:p>
          <a:p>
            <a:pPr marL="0" indent="0">
              <a:buNone/>
            </a:pPr>
            <a:endParaRPr lang="pt-BR" sz="2600" dirty="0"/>
          </a:p>
          <a:p>
            <a:pPr marL="0" indent="0">
              <a:buNone/>
            </a:pPr>
            <a:endParaRPr lang="pt-BR" sz="2600" dirty="0"/>
          </a:p>
          <a:p>
            <a:pPr marL="0" indent="0">
              <a:buNone/>
            </a:pPr>
            <a:endParaRPr lang="pt-BR" sz="2600" dirty="0"/>
          </a:p>
          <a:p>
            <a:pPr marL="0" indent="0">
              <a:buNone/>
            </a:pPr>
            <a:r>
              <a:rPr lang="en-US" sz="2600" dirty="0">
                <a:solidFill>
                  <a:srgbClr val="00B6CC"/>
                </a:solidFill>
              </a:rPr>
              <a:t>Ans:- </a:t>
            </a:r>
            <a:r>
              <a:rPr lang="pt-BR" sz="2600" dirty="0">
                <a:solidFill>
                  <a:srgbClr val="C00000"/>
                </a:solidFill>
              </a:rPr>
              <a:t>R5 is transitive</a:t>
            </a:r>
            <a:endParaRPr lang="en-IN" sz="2600" dirty="0">
              <a:solidFill>
                <a:srgbClr val="C00000"/>
              </a:solidFill>
            </a:endParaRPr>
          </a:p>
        </p:txBody>
      </p:sp>
    </p:spTree>
    <p:extLst>
      <p:ext uri="{BB962C8B-B14F-4D97-AF65-F5344CB8AC3E}">
        <p14:creationId xmlns:p14="http://schemas.microsoft.com/office/powerpoint/2010/main" val="315703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9D5BF-CA5F-4068-8BD2-280DE8B48C68}"/>
              </a:ext>
            </a:extLst>
          </p:cNvPr>
          <p:cNvSpPr>
            <a:spLocks noGrp="1"/>
          </p:cNvSpPr>
          <p:nvPr>
            <p:ph type="title"/>
          </p:nvPr>
        </p:nvSpPr>
        <p:spPr/>
        <p:txBody>
          <a:bodyPr>
            <a:normAutofit/>
          </a:bodyPr>
          <a:lstStyle/>
          <a:p>
            <a:r>
              <a:rPr lang="en-IN" sz="3200" dirty="0"/>
              <a:t>Properties of Relations – Transitive Example 3</a:t>
            </a:r>
          </a:p>
        </p:txBody>
      </p:sp>
      <p:sp>
        <p:nvSpPr>
          <p:cNvPr id="3" name="Content Placeholder 2">
            <a:extLst>
              <a:ext uri="{FF2B5EF4-FFF2-40B4-BE49-F238E27FC236}">
                <a16:creationId xmlns:a16="http://schemas.microsoft.com/office/drawing/2014/main" id="{85D727B6-6C67-426C-ACE7-C812D2ED2FE5}"/>
              </a:ext>
            </a:extLst>
          </p:cNvPr>
          <p:cNvSpPr>
            <a:spLocks noGrp="1"/>
          </p:cNvSpPr>
          <p:nvPr>
            <p:ph idx="1"/>
          </p:nvPr>
        </p:nvSpPr>
        <p:spPr>
          <a:xfrm>
            <a:off x="393290" y="1080001"/>
            <a:ext cx="8504904" cy="5507613"/>
          </a:xfrm>
        </p:spPr>
        <p:txBody>
          <a:bodyPr>
            <a:normAutofit/>
          </a:bodyPr>
          <a:lstStyle/>
          <a:p>
            <a:pPr marL="0" indent="0">
              <a:buNone/>
            </a:pPr>
            <a:r>
              <a:rPr lang="en-US" dirty="0">
                <a:solidFill>
                  <a:srgbClr val="00B6CC"/>
                </a:solidFill>
              </a:rPr>
              <a:t>Ques:- </a:t>
            </a:r>
            <a:r>
              <a:rPr lang="en-US" dirty="0"/>
              <a:t>Is the following relation transitive?</a:t>
            </a:r>
            <a:endParaRPr lang="pt-BR" dirty="0"/>
          </a:p>
          <a:p>
            <a:pPr marL="0" indent="0">
              <a:buNone/>
            </a:pPr>
            <a:r>
              <a:rPr lang="pt-BR" dirty="0"/>
              <a:t>R6 = {(3, 4)}.</a:t>
            </a:r>
          </a:p>
          <a:p>
            <a:pPr marL="0" indent="0">
              <a:buNone/>
            </a:pPr>
            <a:endParaRPr lang="pt-BR" dirty="0"/>
          </a:p>
          <a:p>
            <a:pPr marL="0" indent="0">
              <a:buNone/>
            </a:pPr>
            <a:endParaRPr lang="pt-BR" dirty="0"/>
          </a:p>
          <a:p>
            <a:pPr marL="0" indent="0">
              <a:buNone/>
            </a:pPr>
            <a:endParaRPr lang="pt-BR" dirty="0"/>
          </a:p>
          <a:p>
            <a:pPr marL="0" indent="0">
              <a:buNone/>
            </a:pPr>
            <a:endParaRPr lang="pt-BR" dirty="0"/>
          </a:p>
          <a:p>
            <a:pPr marL="0" indent="0">
              <a:buNone/>
            </a:pPr>
            <a:r>
              <a:rPr lang="en-US" dirty="0">
                <a:solidFill>
                  <a:srgbClr val="00B6CC"/>
                </a:solidFill>
              </a:rPr>
              <a:t>Ans:- </a:t>
            </a:r>
            <a:r>
              <a:rPr lang="pt-BR" dirty="0">
                <a:solidFill>
                  <a:srgbClr val="C00000"/>
                </a:solidFill>
              </a:rPr>
              <a:t>R6 is transitive</a:t>
            </a:r>
            <a:endParaRPr lang="en-IN" dirty="0">
              <a:solidFill>
                <a:srgbClr val="C00000"/>
              </a:solidFill>
            </a:endParaRPr>
          </a:p>
        </p:txBody>
      </p:sp>
    </p:spTree>
    <p:extLst>
      <p:ext uri="{BB962C8B-B14F-4D97-AF65-F5344CB8AC3E}">
        <p14:creationId xmlns:p14="http://schemas.microsoft.com/office/powerpoint/2010/main" val="10370725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9D5BF-CA5F-4068-8BD2-280DE8B48C68}"/>
              </a:ext>
            </a:extLst>
          </p:cNvPr>
          <p:cNvSpPr>
            <a:spLocks noGrp="1"/>
          </p:cNvSpPr>
          <p:nvPr>
            <p:ph type="title"/>
          </p:nvPr>
        </p:nvSpPr>
        <p:spPr/>
        <p:txBody>
          <a:bodyPr>
            <a:normAutofit/>
          </a:bodyPr>
          <a:lstStyle/>
          <a:p>
            <a:r>
              <a:rPr lang="en-IN" sz="3200" dirty="0"/>
              <a:t>Properties of Relations – Transitive Example 4</a:t>
            </a:r>
          </a:p>
        </p:txBody>
      </p:sp>
      <p:sp>
        <p:nvSpPr>
          <p:cNvPr id="3" name="Content Placeholder 2">
            <a:extLst>
              <a:ext uri="{FF2B5EF4-FFF2-40B4-BE49-F238E27FC236}">
                <a16:creationId xmlns:a16="http://schemas.microsoft.com/office/drawing/2014/main" id="{85D727B6-6C67-426C-ACE7-C812D2ED2FE5}"/>
              </a:ext>
            </a:extLst>
          </p:cNvPr>
          <p:cNvSpPr>
            <a:spLocks noGrp="1"/>
          </p:cNvSpPr>
          <p:nvPr>
            <p:ph idx="1"/>
          </p:nvPr>
        </p:nvSpPr>
        <p:spPr>
          <a:xfrm>
            <a:off x="393290" y="1080001"/>
            <a:ext cx="8504904" cy="5507613"/>
          </a:xfrm>
        </p:spPr>
        <p:txBody>
          <a:bodyPr>
            <a:normAutofit/>
          </a:bodyPr>
          <a:lstStyle/>
          <a:p>
            <a:pPr marL="0" indent="0">
              <a:buNone/>
            </a:pPr>
            <a:r>
              <a:rPr lang="en-US" dirty="0">
                <a:solidFill>
                  <a:srgbClr val="00B6CC"/>
                </a:solidFill>
              </a:rPr>
              <a:t>Ques:- </a:t>
            </a:r>
            <a:r>
              <a:rPr lang="en-US" dirty="0"/>
              <a:t>Is the following relation transitive?</a:t>
            </a:r>
            <a:endParaRPr lang="pt-BR" dirty="0"/>
          </a:p>
          <a:p>
            <a:pPr marL="0" indent="0">
              <a:buNone/>
            </a:pPr>
            <a:r>
              <a:rPr lang="pt-BR" dirty="0"/>
              <a:t>R1 = {(1, 1), (1, 2), (2, 1), (2, 2), (3, 4), (4, 1), (4, 4)}.</a:t>
            </a: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solidFill>
                  <a:srgbClr val="00B6CC"/>
                </a:solidFill>
              </a:rPr>
              <a:t>Ans:- </a:t>
            </a:r>
            <a:r>
              <a:rPr lang="en-US" dirty="0"/>
              <a:t>R1 is not transitive because (3, 4) and (4, 1) belong to R1, but </a:t>
            </a:r>
            <a:r>
              <a:rPr lang="en-US" dirty="0">
                <a:solidFill>
                  <a:srgbClr val="C00000"/>
                </a:solidFill>
              </a:rPr>
              <a:t>(3, 1) does not</a:t>
            </a:r>
            <a:endParaRPr lang="en-IN" dirty="0">
              <a:solidFill>
                <a:srgbClr val="C00000"/>
              </a:solidFill>
            </a:endParaRPr>
          </a:p>
        </p:txBody>
      </p:sp>
    </p:spTree>
    <p:extLst>
      <p:ext uri="{BB962C8B-B14F-4D97-AF65-F5344CB8AC3E}">
        <p14:creationId xmlns:p14="http://schemas.microsoft.com/office/powerpoint/2010/main" val="37361314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9D5BF-CA5F-4068-8BD2-280DE8B48C68}"/>
              </a:ext>
            </a:extLst>
          </p:cNvPr>
          <p:cNvSpPr>
            <a:spLocks noGrp="1"/>
          </p:cNvSpPr>
          <p:nvPr>
            <p:ph type="title"/>
          </p:nvPr>
        </p:nvSpPr>
        <p:spPr/>
        <p:txBody>
          <a:bodyPr>
            <a:normAutofit/>
          </a:bodyPr>
          <a:lstStyle/>
          <a:p>
            <a:r>
              <a:rPr lang="en-IN" sz="3200" dirty="0"/>
              <a:t>Properties of Relations – Transitive Example 5</a:t>
            </a:r>
          </a:p>
        </p:txBody>
      </p:sp>
      <p:sp>
        <p:nvSpPr>
          <p:cNvPr id="3" name="Content Placeholder 2">
            <a:extLst>
              <a:ext uri="{FF2B5EF4-FFF2-40B4-BE49-F238E27FC236}">
                <a16:creationId xmlns:a16="http://schemas.microsoft.com/office/drawing/2014/main" id="{85D727B6-6C67-426C-ACE7-C812D2ED2FE5}"/>
              </a:ext>
            </a:extLst>
          </p:cNvPr>
          <p:cNvSpPr>
            <a:spLocks noGrp="1"/>
          </p:cNvSpPr>
          <p:nvPr>
            <p:ph idx="1"/>
          </p:nvPr>
        </p:nvSpPr>
        <p:spPr>
          <a:xfrm>
            <a:off x="393290" y="1080001"/>
            <a:ext cx="8504904" cy="5507613"/>
          </a:xfrm>
        </p:spPr>
        <p:txBody>
          <a:bodyPr>
            <a:normAutofit/>
          </a:bodyPr>
          <a:lstStyle/>
          <a:p>
            <a:pPr marL="0" indent="0">
              <a:buNone/>
            </a:pPr>
            <a:r>
              <a:rPr lang="en-US" dirty="0">
                <a:solidFill>
                  <a:srgbClr val="00B6CC"/>
                </a:solidFill>
              </a:rPr>
              <a:t>Ques:- </a:t>
            </a:r>
            <a:r>
              <a:rPr lang="en-US" dirty="0"/>
              <a:t>Is the following relation transitive?</a:t>
            </a:r>
            <a:endParaRPr lang="pt-BR" dirty="0"/>
          </a:p>
          <a:p>
            <a:pPr marL="0" indent="0">
              <a:buNone/>
            </a:pPr>
            <a:r>
              <a:rPr lang="pt-BR" dirty="0"/>
              <a:t>R2 = {(1, 1), (1, 2), (2, 1)}.</a:t>
            </a:r>
          </a:p>
          <a:p>
            <a:pPr marL="0" indent="0">
              <a:buNone/>
            </a:pPr>
            <a:endParaRPr lang="pt-BR" dirty="0"/>
          </a:p>
          <a:p>
            <a:pPr marL="0" indent="0">
              <a:buNone/>
            </a:pPr>
            <a:endParaRPr lang="pt-BR" dirty="0"/>
          </a:p>
          <a:p>
            <a:pPr marL="0" indent="0">
              <a:buNone/>
            </a:pPr>
            <a:endParaRPr lang="pt-BR" dirty="0"/>
          </a:p>
          <a:p>
            <a:pPr marL="0" indent="0">
              <a:buNone/>
            </a:pPr>
            <a:r>
              <a:rPr lang="en-US" dirty="0">
                <a:solidFill>
                  <a:srgbClr val="00B6CC"/>
                </a:solidFill>
              </a:rPr>
              <a:t>Ans:- </a:t>
            </a:r>
            <a:r>
              <a:rPr lang="en-US" dirty="0"/>
              <a:t>R2 is not transitive because (2, 1) and (1, 2) belong to R2, but </a:t>
            </a:r>
            <a:r>
              <a:rPr lang="en-US" dirty="0">
                <a:solidFill>
                  <a:srgbClr val="C00000"/>
                </a:solidFill>
              </a:rPr>
              <a:t>(2, 2) does not.</a:t>
            </a:r>
            <a:endParaRPr lang="en-IN" dirty="0">
              <a:solidFill>
                <a:srgbClr val="C00000"/>
              </a:solidFill>
            </a:endParaRPr>
          </a:p>
        </p:txBody>
      </p:sp>
    </p:spTree>
    <p:extLst>
      <p:ext uri="{BB962C8B-B14F-4D97-AF65-F5344CB8AC3E}">
        <p14:creationId xmlns:p14="http://schemas.microsoft.com/office/powerpoint/2010/main" val="31533541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9D5BF-CA5F-4068-8BD2-280DE8B48C68}"/>
              </a:ext>
            </a:extLst>
          </p:cNvPr>
          <p:cNvSpPr>
            <a:spLocks noGrp="1"/>
          </p:cNvSpPr>
          <p:nvPr>
            <p:ph type="title"/>
          </p:nvPr>
        </p:nvSpPr>
        <p:spPr/>
        <p:txBody>
          <a:bodyPr>
            <a:normAutofit/>
          </a:bodyPr>
          <a:lstStyle/>
          <a:p>
            <a:r>
              <a:rPr lang="en-IN" sz="3200" dirty="0"/>
              <a:t>Properties of Relations – Transitive Example 6</a:t>
            </a:r>
          </a:p>
        </p:txBody>
      </p:sp>
      <p:sp>
        <p:nvSpPr>
          <p:cNvPr id="3" name="Content Placeholder 2">
            <a:extLst>
              <a:ext uri="{FF2B5EF4-FFF2-40B4-BE49-F238E27FC236}">
                <a16:creationId xmlns:a16="http://schemas.microsoft.com/office/drawing/2014/main" id="{85D727B6-6C67-426C-ACE7-C812D2ED2FE5}"/>
              </a:ext>
            </a:extLst>
          </p:cNvPr>
          <p:cNvSpPr>
            <a:spLocks noGrp="1"/>
          </p:cNvSpPr>
          <p:nvPr>
            <p:ph idx="1"/>
          </p:nvPr>
        </p:nvSpPr>
        <p:spPr>
          <a:xfrm>
            <a:off x="393290" y="1080001"/>
            <a:ext cx="8504904" cy="5507613"/>
          </a:xfrm>
        </p:spPr>
        <p:txBody>
          <a:bodyPr>
            <a:normAutofit/>
          </a:bodyPr>
          <a:lstStyle/>
          <a:p>
            <a:pPr marL="0" indent="0">
              <a:buNone/>
            </a:pPr>
            <a:r>
              <a:rPr lang="en-US" dirty="0">
                <a:solidFill>
                  <a:srgbClr val="00B6CC"/>
                </a:solidFill>
              </a:rPr>
              <a:t>Ques:- </a:t>
            </a:r>
            <a:r>
              <a:rPr lang="en-US" dirty="0"/>
              <a:t>Is the following relation transitive?</a:t>
            </a:r>
            <a:endParaRPr lang="pt-BR" dirty="0"/>
          </a:p>
          <a:p>
            <a:pPr marL="0" indent="0">
              <a:buNone/>
            </a:pPr>
            <a:r>
              <a:rPr lang="pt-BR" dirty="0"/>
              <a:t>R3 = {(1, 1), (1, 2), (1, 4), (2, 1), (2, 2), (3, 3), (4, 1), (4, 4)}</a:t>
            </a:r>
          </a:p>
          <a:p>
            <a:pPr marL="0" indent="0">
              <a:buNone/>
            </a:pPr>
            <a:endParaRPr lang="pt-BR" dirty="0"/>
          </a:p>
          <a:p>
            <a:pPr marL="0" indent="0">
              <a:buNone/>
            </a:pPr>
            <a:endParaRPr lang="pt-BR" dirty="0"/>
          </a:p>
          <a:p>
            <a:pPr marL="0" indent="0">
              <a:buNone/>
            </a:pPr>
            <a:endParaRPr lang="pt-BR" dirty="0"/>
          </a:p>
          <a:p>
            <a:pPr marL="0" indent="0">
              <a:buNone/>
            </a:pPr>
            <a:r>
              <a:rPr lang="en-US" dirty="0">
                <a:solidFill>
                  <a:srgbClr val="00B6CC"/>
                </a:solidFill>
              </a:rPr>
              <a:t>Ans:- </a:t>
            </a:r>
            <a:r>
              <a:rPr lang="en-US" dirty="0"/>
              <a:t>R3 is not transitive because (4, 1) and (1, 2) belong to R3, but </a:t>
            </a:r>
            <a:r>
              <a:rPr lang="en-US" dirty="0">
                <a:solidFill>
                  <a:srgbClr val="C00000"/>
                </a:solidFill>
              </a:rPr>
              <a:t>(4, 2) does not.</a:t>
            </a:r>
            <a:endParaRPr lang="en-IN" dirty="0">
              <a:solidFill>
                <a:srgbClr val="C00000"/>
              </a:solidFill>
            </a:endParaRPr>
          </a:p>
        </p:txBody>
      </p:sp>
    </p:spTree>
    <p:extLst>
      <p:ext uri="{BB962C8B-B14F-4D97-AF65-F5344CB8AC3E}">
        <p14:creationId xmlns:p14="http://schemas.microsoft.com/office/powerpoint/2010/main" val="13074300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9D5BF-CA5F-4068-8BD2-280DE8B48C68}"/>
              </a:ext>
            </a:extLst>
          </p:cNvPr>
          <p:cNvSpPr>
            <a:spLocks noGrp="1"/>
          </p:cNvSpPr>
          <p:nvPr>
            <p:ph type="title"/>
          </p:nvPr>
        </p:nvSpPr>
        <p:spPr/>
        <p:txBody>
          <a:bodyPr>
            <a:normAutofit/>
          </a:bodyPr>
          <a:lstStyle/>
          <a:p>
            <a:r>
              <a:rPr lang="en-IN" sz="3200" dirty="0"/>
              <a:t>Properties of Relations – Transitive Example 7</a:t>
            </a:r>
          </a:p>
        </p:txBody>
      </p:sp>
      <p:sp>
        <p:nvSpPr>
          <p:cNvPr id="3" name="Content Placeholder 2">
            <a:extLst>
              <a:ext uri="{FF2B5EF4-FFF2-40B4-BE49-F238E27FC236}">
                <a16:creationId xmlns:a16="http://schemas.microsoft.com/office/drawing/2014/main" id="{85D727B6-6C67-426C-ACE7-C812D2ED2FE5}"/>
              </a:ext>
            </a:extLst>
          </p:cNvPr>
          <p:cNvSpPr>
            <a:spLocks noGrp="1"/>
          </p:cNvSpPr>
          <p:nvPr>
            <p:ph idx="1"/>
          </p:nvPr>
        </p:nvSpPr>
        <p:spPr>
          <a:xfrm>
            <a:off x="393290" y="1080001"/>
            <a:ext cx="8504904" cy="5507613"/>
          </a:xfrm>
        </p:spPr>
        <p:txBody>
          <a:bodyPr>
            <a:normAutofit/>
          </a:bodyPr>
          <a:lstStyle/>
          <a:p>
            <a:pPr marL="0" indent="0">
              <a:buNone/>
            </a:pPr>
            <a:r>
              <a:rPr lang="en-US" dirty="0">
                <a:solidFill>
                  <a:srgbClr val="00B6CC"/>
                </a:solidFill>
              </a:rPr>
              <a:t>Ques:- </a:t>
            </a:r>
            <a:r>
              <a:rPr lang="en-US" dirty="0"/>
              <a:t>Is the “divides” relation on the set of positive integers transitive?</a:t>
            </a:r>
          </a:p>
          <a:p>
            <a:pPr marL="0" indent="0">
              <a:buNone/>
            </a:pPr>
            <a:endParaRPr lang="en-US" dirty="0"/>
          </a:p>
          <a:p>
            <a:pPr marL="0" indent="0">
              <a:buNone/>
            </a:pPr>
            <a:endParaRPr lang="en-US" dirty="0"/>
          </a:p>
          <a:p>
            <a:pPr marL="0" indent="0">
              <a:buNone/>
            </a:pPr>
            <a:r>
              <a:rPr lang="en-US" dirty="0">
                <a:solidFill>
                  <a:srgbClr val="00B6CC"/>
                </a:solidFill>
              </a:rPr>
              <a:t>Ans:- </a:t>
            </a:r>
            <a:r>
              <a:rPr lang="en-US" dirty="0"/>
              <a:t>Suppose that a divides b and b divides c. Then there are positive integers k and l such that b = ak and c = bl. Hence, c = a(kl), so a divides c. It follows that this relation is transitive.</a:t>
            </a:r>
            <a:endParaRPr lang="en-IN" dirty="0"/>
          </a:p>
        </p:txBody>
      </p:sp>
    </p:spTree>
    <p:extLst>
      <p:ext uri="{BB962C8B-B14F-4D97-AF65-F5344CB8AC3E}">
        <p14:creationId xmlns:p14="http://schemas.microsoft.com/office/powerpoint/2010/main" val="36070298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81241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MyFont">
      <a:majorFont>
        <a:latin typeface="Bahnschrift SemiBold"/>
        <a:ea typeface=""/>
        <a:cs typeface=""/>
      </a:majorFont>
      <a:minorFont>
        <a:latin typeface="Bahnschrif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3364</TotalTime>
  <Words>1461</Words>
  <Application>Microsoft Office PowerPoint</Application>
  <PresentationFormat>On-screen Show (4:3)</PresentationFormat>
  <Paragraphs>119</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Arial</vt:lpstr>
      <vt:lpstr>Bahnschrift</vt:lpstr>
      <vt:lpstr>Bahnschrift SemiBold</vt:lpstr>
      <vt:lpstr>Calibri</vt:lpstr>
      <vt:lpstr>Cambria Math</vt:lpstr>
      <vt:lpstr>Office Theme</vt:lpstr>
      <vt:lpstr>EMTH403</vt:lpstr>
      <vt:lpstr>Lecture Outcomes</vt:lpstr>
      <vt:lpstr>Properties of Relations - Antisymmetric</vt:lpstr>
      <vt:lpstr>Properties of Relations – Antisymmetric Example 1</vt:lpstr>
      <vt:lpstr>Properties of Relations – Antisymmetric Example 2</vt:lpstr>
      <vt:lpstr>Properties of Relations – Antisymmetric Example 3</vt:lpstr>
      <vt:lpstr>Properties of Relations – Antisymmetric Example 4</vt:lpstr>
      <vt:lpstr>Properties of Relations – Antisymmetric Example 5</vt:lpstr>
      <vt:lpstr>Properties of Relations – Antisymmetric Example 6</vt:lpstr>
      <vt:lpstr>Properties of Relations – Antisymmetric Example 7</vt:lpstr>
      <vt:lpstr>Properties of Relations - Transitive</vt:lpstr>
      <vt:lpstr>Properties of Relations – Transitive Example 1</vt:lpstr>
      <vt:lpstr>Properties of Relations – Transitive Example 2</vt:lpstr>
      <vt:lpstr>Properties of Relations – Transitive Example 3</vt:lpstr>
      <vt:lpstr>Properties of Relations – Transitive Example 4</vt:lpstr>
      <vt:lpstr>Properties of Relations – Transitive Example 5</vt:lpstr>
      <vt:lpstr>Properties of Relations – Transitive Example 6</vt:lpstr>
      <vt:lpstr>Properties of Relations – Transitive Example 7</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Nitin Mishra</dc:creator>
  <cp:lastModifiedBy>video recording 1</cp:lastModifiedBy>
  <cp:revision>680</cp:revision>
  <dcterms:created xsi:type="dcterms:W3CDTF">2020-12-04T05:20:56Z</dcterms:created>
  <dcterms:modified xsi:type="dcterms:W3CDTF">2020-12-19T06:18:37Z</dcterms:modified>
</cp:coreProperties>
</file>