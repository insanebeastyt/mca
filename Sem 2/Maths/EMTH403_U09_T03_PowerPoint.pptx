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4"/>
  </p:notesMasterIdLst>
  <p:handoutMasterIdLst>
    <p:handoutMasterId r:id="rId25"/>
  </p:handoutMasterIdLst>
  <p:sldIdLst>
    <p:sldId id="256" r:id="rId2"/>
    <p:sldId id="257" r:id="rId3"/>
    <p:sldId id="293" r:id="rId4"/>
    <p:sldId id="313" r:id="rId5"/>
    <p:sldId id="314" r:id="rId6"/>
    <p:sldId id="326" r:id="rId7"/>
    <p:sldId id="327" r:id="rId8"/>
    <p:sldId id="328" r:id="rId9"/>
    <p:sldId id="329" r:id="rId10"/>
    <p:sldId id="330" r:id="rId11"/>
    <p:sldId id="331" r:id="rId12"/>
    <p:sldId id="332" r:id="rId13"/>
    <p:sldId id="333" r:id="rId14"/>
    <p:sldId id="334" r:id="rId15"/>
    <p:sldId id="335" r:id="rId16"/>
    <p:sldId id="336" r:id="rId17"/>
    <p:sldId id="315" r:id="rId18"/>
    <p:sldId id="316" r:id="rId19"/>
    <p:sldId id="337" r:id="rId20"/>
    <p:sldId id="338" r:id="rId21"/>
    <p:sldId id="317" r:id="rId22"/>
    <p:sldId id="259"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13A8035-ECEF-47C4-90A1-0C3215DAC7C2}">
          <p14:sldIdLst>
            <p14:sldId id="256"/>
            <p14:sldId id="257"/>
            <p14:sldId id="293"/>
            <p14:sldId id="313"/>
            <p14:sldId id="314"/>
            <p14:sldId id="326"/>
            <p14:sldId id="327"/>
            <p14:sldId id="328"/>
            <p14:sldId id="329"/>
            <p14:sldId id="330"/>
            <p14:sldId id="331"/>
            <p14:sldId id="332"/>
            <p14:sldId id="333"/>
            <p14:sldId id="334"/>
            <p14:sldId id="335"/>
            <p14:sldId id="336"/>
            <p14:sldId id="315"/>
            <p14:sldId id="316"/>
            <p14:sldId id="337"/>
            <p14:sldId id="338"/>
            <p14:sldId id="317"/>
            <p14:sldId id="259"/>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6CC"/>
    <a:srgbClr val="BA202B"/>
    <a:srgbClr val="4472C4"/>
    <a:srgbClr val="DDDDDD"/>
    <a:srgbClr val="BBBBBB"/>
    <a:srgbClr val="00A2B8"/>
    <a:srgbClr val="00B451"/>
    <a:srgbClr val="CA628C"/>
    <a:srgbClr val="71EEFF"/>
    <a:srgbClr val="89E2E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1430" y="72"/>
      </p:cViewPr>
      <p:guideLst/>
    </p:cSldViewPr>
  </p:slideViewPr>
  <p:notesTextViewPr>
    <p:cViewPr>
      <p:scale>
        <a:sx n="1" d="1"/>
        <a:sy n="1" d="1"/>
      </p:scale>
      <p:origin x="0" y="0"/>
    </p:cViewPr>
  </p:notesTextViewPr>
  <p:notesViewPr>
    <p:cSldViewPr snapToGrid="0">
      <p:cViewPr varScale="1">
        <p:scale>
          <a:sx n="49" d="100"/>
          <a:sy n="49" d="100"/>
        </p:scale>
        <p:origin x="1884" y="3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F218DD-E614-4E73-B564-F8E0717E89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34A14C21-F88B-4739-8F26-AA4DEEB64FA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511DE57-39A0-4263-A76B-22C3CE26C8E2}" type="datetimeFigureOut">
              <a:rPr lang="en-IN" smtClean="0"/>
              <a:t>19-01-2021</a:t>
            </a:fld>
            <a:endParaRPr lang="en-IN"/>
          </a:p>
        </p:txBody>
      </p:sp>
      <p:sp>
        <p:nvSpPr>
          <p:cNvPr id="4" name="Footer Placeholder 3">
            <a:extLst>
              <a:ext uri="{FF2B5EF4-FFF2-40B4-BE49-F238E27FC236}">
                <a16:creationId xmlns:a16="http://schemas.microsoft.com/office/drawing/2014/main" id="{5C435058-CB50-45CA-B183-2892DE4A396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530C2E93-0834-4027-BDF9-2CBEA154774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2BE93A7-2C4F-4D32-8895-81F23FF37AD6}" type="slidenum">
              <a:rPr lang="en-IN" smtClean="0"/>
              <a:t>‹#›</a:t>
            </a:fld>
            <a:endParaRPr lang="en-IN"/>
          </a:p>
        </p:txBody>
      </p:sp>
    </p:spTree>
    <p:extLst>
      <p:ext uri="{BB962C8B-B14F-4D97-AF65-F5344CB8AC3E}">
        <p14:creationId xmlns:p14="http://schemas.microsoft.com/office/powerpoint/2010/main" val="36868657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108F98-5817-4768-91E0-7435FEF7FFA1}" type="datetimeFigureOut">
              <a:rPr lang="en-IN" smtClean="0"/>
              <a:t>19-01-2021</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5C79E5-282A-4490-B8CC-DC7602F73C68}" type="slidenum">
              <a:rPr lang="en-IN" smtClean="0"/>
              <a:t>‹#›</a:t>
            </a:fld>
            <a:endParaRPr lang="en-IN"/>
          </a:p>
        </p:txBody>
      </p:sp>
    </p:spTree>
    <p:extLst>
      <p:ext uri="{BB962C8B-B14F-4D97-AF65-F5344CB8AC3E}">
        <p14:creationId xmlns:p14="http://schemas.microsoft.com/office/powerpoint/2010/main" val="20166000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822478E-B0D0-4983-A2EC-2C070D46FC4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11200"/>
          <a:stretch/>
        </p:blipFill>
        <p:spPr>
          <a:xfrm>
            <a:off x="-1" y="0"/>
            <a:ext cx="9144001" cy="6858000"/>
          </a:xfrm>
          <a:prstGeom prst="rect">
            <a:avLst/>
          </a:prstGeom>
        </p:spPr>
      </p:pic>
      <p:sp>
        <p:nvSpPr>
          <p:cNvPr id="2" name="Title 1"/>
          <p:cNvSpPr>
            <a:spLocks noGrp="1"/>
          </p:cNvSpPr>
          <p:nvPr>
            <p:ph type="ctrTitle" hasCustomPrompt="1"/>
          </p:nvPr>
        </p:nvSpPr>
        <p:spPr>
          <a:xfrm>
            <a:off x="4758813" y="1011007"/>
            <a:ext cx="4186084" cy="1001405"/>
          </a:xfrm>
        </p:spPr>
        <p:txBody>
          <a:bodyPr anchor="b">
            <a:noAutofit/>
          </a:bodyPr>
          <a:lstStyle>
            <a:lvl1pPr algn="r">
              <a:defRPr sz="7500">
                <a:ln>
                  <a:solidFill>
                    <a:srgbClr val="BA202B"/>
                  </a:solidFill>
                </a:ln>
                <a:solidFill>
                  <a:srgbClr val="CA628C"/>
                </a:solidFill>
                <a:effectLst>
                  <a:outerShdw blurRad="38100" dist="38100" dir="2700000" algn="tl">
                    <a:srgbClr val="000000">
                      <a:alpha val="43137"/>
                    </a:srgbClr>
                  </a:outerShdw>
                </a:effectLst>
              </a:defRPr>
            </a:lvl1pPr>
          </a:lstStyle>
          <a:p>
            <a:r>
              <a:rPr lang="en-US" dirty="0"/>
              <a:t>EMTH403</a:t>
            </a:r>
          </a:p>
        </p:txBody>
      </p:sp>
      <p:sp>
        <p:nvSpPr>
          <p:cNvPr id="3" name="Subtitle 2"/>
          <p:cNvSpPr>
            <a:spLocks noGrp="1"/>
          </p:cNvSpPr>
          <p:nvPr>
            <p:ph type="subTitle" idx="1" hasCustomPrompt="1"/>
          </p:nvPr>
        </p:nvSpPr>
        <p:spPr>
          <a:xfrm>
            <a:off x="4758813" y="2012412"/>
            <a:ext cx="4186083" cy="838943"/>
          </a:xfrm>
        </p:spPr>
        <p:txBody>
          <a:bodyPr>
            <a:normAutofit/>
          </a:bodyPr>
          <a:lstStyle>
            <a:lvl1pPr marL="0" indent="0" algn="r">
              <a:buNone/>
              <a:defRPr sz="2800">
                <a:solidFill>
                  <a:srgbClr val="00206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Mathematical Foundation for Computer Science</a:t>
            </a:r>
          </a:p>
        </p:txBody>
      </p:sp>
      <p:sp>
        <p:nvSpPr>
          <p:cNvPr id="9" name="TextBox 8">
            <a:extLst>
              <a:ext uri="{FF2B5EF4-FFF2-40B4-BE49-F238E27FC236}">
                <a16:creationId xmlns:a16="http://schemas.microsoft.com/office/drawing/2014/main" id="{FC6A5137-F38E-416C-BA01-890D57CBC895}"/>
              </a:ext>
            </a:extLst>
          </p:cNvPr>
          <p:cNvSpPr txBox="1"/>
          <p:nvPr userDrawn="1"/>
        </p:nvSpPr>
        <p:spPr>
          <a:xfrm>
            <a:off x="5369878" y="3852760"/>
            <a:ext cx="3575018" cy="507831"/>
          </a:xfrm>
          <a:prstGeom prst="rect">
            <a:avLst/>
          </a:prstGeom>
          <a:noFill/>
        </p:spPr>
        <p:txBody>
          <a:bodyPr wrap="none" rtlCol="0">
            <a:spAutoFit/>
          </a:bodyPr>
          <a:lstStyle/>
          <a:p>
            <a:pPr algn="r"/>
            <a:r>
              <a:rPr lang="en-IN" sz="2700" strike="noStrike" dirty="0">
                <a:solidFill>
                  <a:srgbClr val="BA202B"/>
                </a:solidFill>
                <a:effectLst/>
              </a:rPr>
              <a:t>Nitin K. Mishra (Ph.D.)</a:t>
            </a:r>
          </a:p>
        </p:txBody>
      </p:sp>
      <p:sp>
        <p:nvSpPr>
          <p:cNvPr id="10" name="TextBox 9">
            <a:extLst>
              <a:ext uri="{FF2B5EF4-FFF2-40B4-BE49-F238E27FC236}">
                <a16:creationId xmlns:a16="http://schemas.microsoft.com/office/drawing/2014/main" id="{12607290-3460-4AC4-ABC8-F072BD3D73E5}"/>
              </a:ext>
            </a:extLst>
          </p:cNvPr>
          <p:cNvSpPr txBox="1"/>
          <p:nvPr userDrawn="1"/>
        </p:nvSpPr>
        <p:spPr>
          <a:xfrm>
            <a:off x="5525729" y="4314425"/>
            <a:ext cx="3419167" cy="461665"/>
          </a:xfrm>
          <a:prstGeom prst="rect">
            <a:avLst/>
          </a:prstGeom>
          <a:noFill/>
        </p:spPr>
        <p:txBody>
          <a:bodyPr wrap="square" rtlCol="0">
            <a:spAutoFit/>
          </a:bodyPr>
          <a:lstStyle/>
          <a:p>
            <a:pPr algn="ctr"/>
            <a:r>
              <a:rPr lang="en-IN" sz="2400" dirty="0">
                <a:solidFill>
                  <a:schemeClr val="bg2">
                    <a:lumMod val="25000"/>
                  </a:schemeClr>
                </a:solidFill>
              </a:rPr>
              <a:t>Associate Professor</a:t>
            </a:r>
          </a:p>
        </p:txBody>
      </p:sp>
      <p:cxnSp>
        <p:nvCxnSpPr>
          <p:cNvPr id="12" name="Straight Connector 11">
            <a:extLst>
              <a:ext uri="{FF2B5EF4-FFF2-40B4-BE49-F238E27FC236}">
                <a16:creationId xmlns:a16="http://schemas.microsoft.com/office/drawing/2014/main" id="{392C86BC-E539-4EC2-9687-C9BAFAAFC1D8}"/>
              </a:ext>
            </a:extLst>
          </p:cNvPr>
          <p:cNvCxnSpPr>
            <a:cxnSpLocks/>
          </p:cNvCxnSpPr>
          <p:nvPr userDrawn="1"/>
        </p:nvCxnSpPr>
        <p:spPr>
          <a:xfrm flipH="1">
            <a:off x="5525729" y="4805586"/>
            <a:ext cx="3342972" cy="0"/>
          </a:xfrm>
          <a:prstGeom prst="line">
            <a:avLst/>
          </a:prstGeom>
          <a:ln w="38100">
            <a:solidFill>
              <a:srgbClr val="89E2EB"/>
            </a:solidFill>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712CEEC-655E-468A-942D-1D746D27486B}"/>
              </a:ext>
            </a:extLst>
          </p:cNvPr>
          <p:cNvCxnSpPr>
            <a:cxnSpLocks/>
          </p:cNvCxnSpPr>
          <p:nvPr userDrawn="1"/>
        </p:nvCxnSpPr>
        <p:spPr>
          <a:xfrm flipH="1">
            <a:off x="5525729" y="4360591"/>
            <a:ext cx="3342972" cy="0"/>
          </a:xfrm>
          <a:prstGeom prst="line">
            <a:avLst/>
          </a:prstGeom>
          <a:ln w="38100">
            <a:solidFill>
              <a:srgbClr val="89E2EB"/>
            </a:solidFill>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53890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Learning Outcome">
    <p:bg>
      <p:bgPr>
        <a:blipFill dpi="0" rotWithShape="1">
          <a:blip r:embed="rId2">
            <a:alphaModFix amt="20000"/>
            <a:lum/>
          </a:blip>
          <a:srcRect/>
          <a:stretch>
            <a:fillRect l="-6000" r="-6000"/>
          </a:stretch>
        </a:blip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52A9DAD-2222-4EAA-A984-73EA804BABC9}"/>
              </a:ext>
            </a:extLst>
          </p:cNvPr>
          <p:cNvSpPr/>
          <p:nvPr userDrawn="1"/>
        </p:nvSpPr>
        <p:spPr>
          <a:xfrm>
            <a:off x="0" y="-1"/>
            <a:ext cx="9144000" cy="2113936"/>
          </a:xfrm>
          <a:prstGeom prst="rect">
            <a:avLst/>
          </a:prstGeom>
          <a:gradFill flip="none" rotWithShape="1">
            <a:gsLst>
              <a:gs pos="78000">
                <a:schemeClr val="accent3">
                  <a:lumMod val="0"/>
                  <a:lumOff val="100000"/>
                </a:schemeClr>
              </a:gs>
              <a:gs pos="45000">
                <a:srgbClr val="00A2B8"/>
              </a:gs>
            </a:gsLst>
            <a:lin ang="0" scaled="0"/>
            <a:tileRect/>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p:cNvSpPr>
            <a:spLocks noGrp="1"/>
          </p:cNvSpPr>
          <p:nvPr>
            <p:ph type="title" hasCustomPrompt="1"/>
          </p:nvPr>
        </p:nvSpPr>
        <p:spPr>
          <a:xfrm>
            <a:off x="393290" y="0"/>
            <a:ext cx="5191433" cy="2113935"/>
          </a:xfrm>
        </p:spPr>
        <p:txBody>
          <a:bodyPr>
            <a:normAutofit/>
          </a:bodyPr>
          <a:lstStyle>
            <a:lvl1pPr>
              <a:defRPr sz="5400">
                <a:solidFill>
                  <a:schemeClr val="bg1"/>
                </a:solidFill>
                <a:effectLst>
                  <a:outerShdw blurRad="38100" dist="38100" dir="2700000" algn="tl">
                    <a:srgbClr val="000000">
                      <a:alpha val="43137"/>
                    </a:srgbClr>
                  </a:outerShdw>
                </a:effectLst>
              </a:defRPr>
            </a:lvl1pPr>
          </a:lstStyle>
          <a:p>
            <a:r>
              <a:rPr lang="en-US" dirty="0"/>
              <a:t>Lecture</a:t>
            </a:r>
            <a:br>
              <a:rPr lang="en-US" dirty="0"/>
            </a:br>
            <a:r>
              <a:rPr lang="en-US" dirty="0"/>
              <a:t>Outcomes</a:t>
            </a:r>
          </a:p>
        </p:txBody>
      </p:sp>
      <p:sp>
        <p:nvSpPr>
          <p:cNvPr id="3" name="Content Placeholder 2"/>
          <p:cNvSpPr>
            <a:spLocks noGrp="1"/>
          </p:cNvSpPr>
          <p:nvPr>
            <p:ph idx="1" hasCustomPrompt="1"/>
          </p:nvPr>
        </p:nvSpPr>
        <p:spPr>
          <a:xfrm>
            <a:off x="963560" y="2883188"/>
            <a:ext cx="7934633" cy="3500283"/>
          </a:xfrm>
        </p:spPr>
        <p:txBody>
          <a:bodyPr>
            <a:normAutofit/>
          </a:bodyPr>
          <a:lstStyle>
            <a:lvl1pPr>
              <a:lnSpc>
                <a:spcPct val="150000"/>
              </a:lnSpc>
              <a:buClr>
                <a:srgbClr val="00A2B8"/>
              </a:buClr>
              <a:defRPr/>
            </a:lvl1pPr>
            <a:lvl2pPr>
              <a:buClr>
                <a:srgbClr val="00A2B8"/>
              </a:buClr>
              <a:defRPr sz="2800"/>
            </a:lvl2pPr>
            <a:lvl3pPr>
              <a:buClr>
                <a:srgbClr val="00A2B8"/>
              </a:buClr>
              <a:defRPr/>
            </a:lvl3pPr>
            <a:lvl4pPr>
              <a:buClr>
                <a:srgbClr val="00A2B8"/>
              </a:buClr>
              <a:defRPr/>
            </a:lvl4pPr>
            <a:lvl5pPr>
              <a:buClr>
                <a:srgbClr val="00A2B8"/>
              </a:buClr>
              <a:defRPr/>
            </a:lvl5pPr>
          </a:lstStyle>
          <a:p>
            <a:pPr lvl="0"/>
            <a:r>
              <a:rPr lang="en-US" dirty="0"/>
              <a:t>outcome 1</a:t>
            </a:r>
          </a:p>
          <a:p>
            <a:pPr lvl="0"/>
            <a:r>
              <a:rPr lang="en-US" dirty="0"/>
              <a:t>outcome 2</a:t>
            </a:r>
          </a:p>
          <a:p>
            <a:pPr lvl="0"/>
            <a:r>
              <a:rPr lang="en-US" dirty="0"/>
              <a:t>outcome 3</a:t>
            </a:r>
          </a:p>
        </p:txBody>
      </p:sp>
      <p:pic>
        <p:nvPicPr>
          <p:cNvPr id="11" name="Graphic 10" descr="Target">
            <a:extLst>
              <a:ext uri="{FF2B5EF4-FFF2-40B4-BE49-F238E27FC236}">
                <a16:creationId xmlns:a16="http://schemas.microsoft.com/office/drawing/2014/main" id="{8709446A-BD58-42FE-8058-90C6B724402E}"/>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226708" y="98321"/>
            <a:ext cx="1917292" cy="1917292"/>
          </a:xfrm>
          <a:prstGeom prst="rect">
            <a:avLst/>
          </a:prstGeom>
          <a:effectLst>
            <a:outerShdw blurRad="63500" sx="102000" sy="102000" algn="ctr" rotWithShape="0">
              <a:prstClr val="black">
                <a:alpha val="40000"/>
              </a:prstClr>
            </a:outerShdw>
          </a:effectLst>
        </p:spPr>
      </p:pic>
      <p:sp>
        <p:nvSpPr>
          <p:cNvPr id="12" name="TextBox 11">
            <a:extLst>
              <a:ext uri="{FF2B5EF4-FFF2-40B4-BE49-F238E27FC236}">
                <a16:creationId xmlns:a16="http://schemas.microsoft.com/office/drawing/2014/main" id="{F8377C6D-0C30-48F0-89AC-23D3E98F9A33}"/>
              </a:ext>
            </a:extLst>
          </p:cNvPr>
          <p:cNvSpPr txBox="1"/>
          <p:nvPr userDrawn="1"/>
        </p:nvSpPr>
        <p:spPr>
          <a:xfrm>
            <a:off x="393290" y="2298413"/>
            <a:ext cx="6845144" cy="584775"/>
          </a:xfrm>
          <a:prstGeom prst="rect">
            <a:avLst/>
          </a:prstGeom>
          <a:noFill/>
        </p:spPr>
        <p:txBody>
          <a:bodyPr wrap="none" rtlCol="0">
            <a:spAutoFit/>
          </a:bodyPr>
          <a:lstStyle/>
          <a:p>
            <a:r>
              <a:rPr lang="en-IN" sz="3200" dirty="0"/>
              <a:t>After this lecture, you will be able to</a:t>
            </a:r>
          </a:p>
        </p:txBody>
      </p:sp>
    </p:spTree>
    <p:extLst>
      <p:ext uri="{BB962C8B-B14F-4D97-AF65-F5344CB8AC3E}">
        <p14:creationId xmlns:p14="http://schemas.microsoft.com/office/powerpoint/2010/main" val="6461605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2_Title and Content">
    <p:bg>
      <p:bgPr>
        <a:blipFill dpi="0" rotWithShape="1">
          <a:blip r:embed="rId2">
            <a:alphaModFix amt="20000"/>
            <a:lum/>
          </a:blip>
          <a:srcRect/>
          <a:stretch>
            <a:fillRect l="-6000" r="-6000"/>
          </a:stretch>
        </a:blip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52A9DAD-2222-4EAA-A984-73EA804BABC9}"/>
              </a:ext>
            </a:extLst>
          </p:cNvPr>
          <p:cNvSpPr/>
          <p:nvPr userDrawn="1"/>
        </p:nvSpPr>
        <p:spPr>
          <a:xfrm>
            <a:off x="0" y="0"/>
            <a:ext cx="9144000" cy="1080000"/>
          </a:xfrm>
          <a:prstGeom prst="rect">
            <a:avLst/>
          </a:prstGeom>
          <a:solidFill>
            <a:srgbClr val="00A2B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p:cNvSpPr>
            <a:spLocks noGrp="1"/>
          </p:cNvSpPr>
          <p:nvPr>
            <p:ph type="title"/>
          </p:nvPr>
        </p:nvSpPr>
        <p:spPr>
          <a:xfrm>
            <a:off x="393290" y="1"/>
            <a:ext cx="8504904" cy="1080000"/>
          </a:xfrm>
        </p:spPr>
        <p:txBody>
          <a:bodyPr>
            <a:normAutofit/>
          </a:bodyPr>
          <a:lstStyle>
            <a:lvl1pPr>
              <a:defRPr sz="3600">
                <a:solidFill>
                  <a:schemeClr val="bg1"/>
                </a:solidFill>
                <a:effectLst>
                  <a:outerShdw blurRad="38100" dist="38100" dir="2700000" algn="tl">
                    <a:srgbClr val="000000">
                      <a:alpha val="43137"/>
                    </a:srgbClr>
                  </a:outerShdw>
                </a:effectLst>
              </a:defRPr>
            </a:lvl1pPr>
          </a:lstStyle>
          <a:p>
            <a:r>
              <a:rPr lang="en-US" dirty="0"/>
              <a:t>Click to edit Master title style</a:t>
            </a:r>
          </a:p>
        </p:txBody>
      </p:sp>
      <p:sp>
        <p:nvSpPr>
          <p:cNvPr id="3" name="Content Placeholder 2"/>
          <p:cNvSpPr>
            <a:spLocks noGrp="1"/>
          </p:cNvSpPr>
          <p:nvPr>
            <p:ph idx="1"/>
          </p:nvPr>
        </p:nvSpPr>
        <p:spPr>
          <a:xfrm>
            <a:off x="393290" y="1248698"/>
            <a:ext cx="8504904" cy="5338916"/>
          </a:xfrm>
        </p:spPr>
        <p:txBody>
          <a:bodyPr/>
          <a:lstStyle>
            <a:lvl1pPr>
              <a:lnSpc>
                <a:spcPct val="150000"/>
              </a:lnSpc>
              <a:buClr>
                <a:srgbClr val="00A2B8"/>
              </a:buClr>
              <a:defRPr/>
            </a:lvl1pPr>
            <a:lvl2pPr>
              <a:lnSpc>
                <a:spcPct val="150000"/>
              </a:lnSpc>
              <a:buClr>
                <a:srgbClr val="00A2B8"/>
              </a:buClr>
              <a:defRPr/>
            </a:lvl2pPr>
            <a:lvl3pPr>
              <a:lnSpc>
                <a:spcPct val="150000"/>
              </a:lnSpc>
              <a:buClr>
                <a:srgbClr val="00A2B8"/>
              </a:buClr>
              <a:defRPr/>
            </a:lvl3pPr>
            <a:lvl4pPr>
              <a:lnSpc>
                <a:spcPct val="150000"/>
              </a:lnSpc>
              <a:buClr>
                <a:srgbClr val="00A2B8"/>
              </a:buClr>
              <a:defRPr/>
            </a:lvl4pPr>
            <a:lvl5pPr>
              <a:lnSpc>
                <a:spcPct val="150000"/>
              </a:lnSpc>
              <a:buClr>
                <a:srgbClr val="00A2B8"/>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Box 4">
            <a:extLst>
              <a:ext uri="{FF2B5EF4-FFF2-40B4-BE49-F238E27FC236}">
                <a16:creationId xmlns:a16="http://schemas.microsoft.com/office/drawing/2014/main" id="{64091E1C-13AA-4430-B0AB-E932AEDB367A}"/>
              </a:ext>
            </a:extLst>
          </p:cNvPr>
          <p:cNvSpPr txBox="1"/>
          <p:nvPr userDrawn="1"/>
        </p:nvSpPr>
        <p:spPr>
          <a:xfrm>
            <a:off x="33867" y="6666614"/>
            <a:ext cx="9110132" cy="200055"/>
          </a:xfrm>
          <a:prstGeom prst="rect">
            <a:avLst/>
          </a:prstGeom>
          <a:noFill/>
        </p:spPr>
        <p:txBody>
          <a:bodyPr wrap="square" rtlCol="0">
            <a:spAutoFit/>
          </a:bodyPr>
          <a:lstStyle/>
          <a:p>
            <a:pPr algn="ctr"/>
            <a:r>
              <a:rPr lang="en-IN" sz="700" dirty="0"/>
              <a:t>Content Source: </a:t>
            </a:r>
            <a:r>
              <a:rPr lang="en-US" sz="700" b="1" dirty="0">
                <a:solidFill>
                  <a:srgbClr val="5F6368"/>
                </a:solidFill>
                <a:latin typeface="arial" panose="020B0604020202020204" pitchFamily="34" charset="0"/>
              </a:rPr>
              <a:t>Discrete Mathematics</a:t>
            </a:r>
            <a:r>
              <a:rPr lang="en-US" sz="700" dirty="0">
                <a:solidFill>
                  <a:srgbClr val="4D5156"/>
                </a:solidFill>
                <a:latin typeface="arial" panose="020B0604020202020204" pitchFamily="34" charset="0"/>
              </a:rPr>
              <a:t> and </a:t>
            </a:r>
            <a:r>
              <a:rPr lang="en-US" sz="700" b="1" dirty="0">
                <a:solidFill>
                  <a:srgbClr val="5F6368"/>
                </a:solidFill>
                <a:latin typeface="arial" panose="020B0604020202020204" pitchFamily="34" charset="0"/>
              </a:rPr>
              <a:t>Its Applications</a:t>
            </a:r>
            <a:r>
              <a:rPr lang="en-US" sz="700" dirty="0">
                <a:solidFill>
                  <a:srgbClr val="4D5156"/>
                </a:solidFill>
                <a:latin typeface="arial" panose="020B0604020202020204" pitchFamily="34" charset="0"/>
              </a:rPr>
              <a:t>. Seventh Edition. </a:t>
            </a:r>
            <a:r>
              <a:rPr lang="en-US" sz="700" b="1" dirty="0">
                <a:solidFill>
                  <a:srgbClr val="5F6368"/>
                </a:solidFill>
                <a:latin typeface="arial" panose="020B0604020202020204" pitchFamily="34" charset="0"/>
              </a:rPr>
              <a:t>Kenneth H. Rosen. Monmouth University. Prepared by Jerrold W. Grossman, Oakland University.</a:t>
            </a:r>
            <a:r>
              <a:rPr lang="en-US" sz="700" dirty="0">
                <a:solidFill>
                  <a:srgbClr val="4D5156"/>
                </a:solidFill>
                <a:latin typeface="arial" panose="020B0604020202020204" pitchFamily="34" charset="0"/>
              </a:rPr>
              <a:t> (and formerly AT&amp;T Laboratories)</a:t>
            </a:r>
            <a:endParaRPr lang="en-IN" sz="700" dirty="0"/>
          </a:p>
        </p:txBody>
      </p:sp>
    </p:spTree>
    <p:extLst>
      <p:ext uri="{BB962C8B-B14F-4D97-AF65-F5344CB8AC3E}">
        <p14:creationId xmlns:p14="http://schemas.microsoft.com/office/powerpoint/2010/main" val="2252086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_Title and Content (white)">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52A9DAD-2222-4EAA-A984-73EA804BABC9}"/>
              </a:ext>
            </a:extLst>
          </p:cNvPr>
          <p:cNvSpPr/>
          <p:nvPr userDrawn="1"/>
        </p:nvSpPr>
        <p:spPr>
          <a:xfrm>
            <a:off x="0" y="0"/>
            <a:ext cx="9144000" cy="1080000"/>
          </a:xfrm>
          <a:prstGeom prst="rect">
            <a:avLst/>
          </a:prstGeom>
          <a:solidFill>
            <a:srgbClr val="00A2B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p:cNvSpPr>
            <a:spLocks noGrp="1"/>
          </p:cNvSpPr>
          <p:nvPr>
            <p:ph type="title"/>
          </p:nvPr>
        </p:nvSpPr>
        <p:spPr>
          <a:xfrm>
            <a:off x="393290" y="1"/>
            <a:ext cx="8504904" cy="1080000"/>
          </a:xfrm>
        </p:spPr>
        <p:txBody>
          <a:bodyPr>
            <a:normAutofit/>
          </a:bodyPr>
          <a:lstStyle>
            <a:lvl1pPr>
              <a:defRPr sz="3600">
                <a:solidFill>
                  <a:schemeClr val="bg1"/>
                </a:solidFill>
                <a:effectLst>
                  <a:outerShdw blurRad="38100" dist="38100" dir="2700000" algn="tl">
                    <a:srgbClr val="000000">
                      <a:alpha val="43137"/>
                    </a:srgbClr>
                  </a:outerShdw>
                </a:effectLst>
              </a:defRPr>
            </a:lvl1pPr>
          </a:lstStyle>
          <a:p>
            <a:r>
              <a:rPr lang="en-US" dirty="0"/>
              <a:t>Click to edit Master title style</a:t>
            </a:r>
          </a:p>
        </p:txBody>
      </p:sp>
      <p:sp>
        <p:nvSpPr>
          <p:cNvPr id="3" name="Content Placeholder 2"/>
          <p:cNvSpPr>
            <a:spLocks noGrp="1"/>
          </p:cNvSpPr>
          <p:nvPr>
            <p:ph idx="1"/>
          </p:nvPr>
        </p:nvSpPr>
        <p:spPr>
          <a:xfrm>
            <a:off x="393290" y="1248697"/>
            <a:ext cx="8504904" cy="5338916"/>
          </a:xfrm>
        </p:spPr>
        <p:txBody>
          <a:bodyPr/>
          <a:lstStyle>
            <a:lvl1pPr>
              <a:lnSpc>
                <a:spcPct val="150000"/>
              </a:lnSpc>
              <a:buClr>
                <a:srgbClr val="00A2B8"/>
              </a:buClr>
              <a:defRPr/>
            </a:lvl1pPr>
            <a:lvl2pPr>
              <a:lnSpc>
                <a:spcPct val="150000"/>
              </a:lnSpc>
              <a:buClr>
                <a:srgbClr val="00A2B8"/>
              </a:buClr>
              <a:defRPr/>
            </a:lvl2pPr>
            <a:lvl3pPr>
              <a:lnSpc>
                <a:spcPct val="150000"/>
              </a:lnSpc>
              <a:buClr>
                <a:srgbClr val="00A2B8"/>
              </a:buClr>
              <a:defRPr/>
            </a:lvl3pPr>
            <a:lvl4pPr>
              <a:lnSpc>
                <a:spcPct val="150000"/>
              </a:lnSpc>
              <a:buClr>
                <a:srgbClr val="00A2B8"/>
              </a:buClr>
              <a:defRPr/>
            </a:lvl4pPr>
            <a:lvl5pPr>
              <a:lnSpc>
                <a:spcPct val="150000"/>
              </a:lnSpc>
              <a:buClr>
                <a:srgbClr val="00A2B8"/>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Box 4">
            <a:extLst>
              <a:ext uri="{FF2B5EF4-FFF2-40B4-BE49-F238E27FC236}">
                <a16:creationId xmlns:a16="http://schemas.microsoft.com/office/drawing/2014/main" id="{9D40D22A-9F0E-4024-A4A6-FCCE6CB60E86}"/>
              </a:ext>
            </a:extLst>
          </p:cNvPr>
          <p:cNvSpPr txBox="1"/>
          <p:nvPr userDrawn="1"/>
        </p:nvSpPr>
        <p:spPr>
          <a:xfrm>
            <a:off x="33867" y="6666614"/>
            <a:ext cx="9110132" cy="200055"/>
          </a:xfrm>
          <a:prstGeom prst="rect">
            <a:avLst/>
          </a:prstGeom>
          <a:noFill/>
        </p:spPr>
        <p:txBody>
          <a:bodyPr wrap="square" rtlCol="0">
            <a:spAutoFit/>
          </a:bodyPr>
          <a:lstStyle/>
          <a:p>
            <a:pPr algn="ctr"/>
            <a:r>
              <a:rPr lang="en-IN" sz="700" dirty="0"/>
              <a:t>Content Source: </a:t>
            </a:r>
            <a:r>
              <a:rPr lang="en-US" sz="700" b="1" dirty="0">
                <a:solidFill>
                  <a:srgbClr val="5F6368"/>
                </a:solidFill>
                <a:latin typeface="arial" panose="020B0604020202020204" pitchFamily="34" charset="0"/>
              </a:rPr>
              <a:t>Discrete Mathematics</a:t>
            </a:r>
            <a:r>
              <a:rPr lang="en-US" sz="700" dirty="0">
                <a:solidFill>
                  <a:srgbClr val="4D5156"/>
                </a:solidFill>
                <a:latin typeface="arial" panose="020B0604020202020204" pitchFamily="34" charset="0"/>
              </a:rPr>
              <a:t> and </a:t>
            </a:r>
            <a:r>
              <a:rPr lang="en-US" sz="700" b="1" dirty="0">
                <a:solidFill>
                  <a:srgbClr val="5F6368"/>
                </a:solidFill>
                <a:latin typeface="arial" panose="020B0604020202020204" pitchFamily="34" charset="0"/>
              </a:rPr>
              <a:t>Its Applications</a:t>
            </a:r>
            <a:r>
              <a:rPr lang="en-US" sz="700" dirty="0">
                <a:solidFill>
                  <a:srgbClr val="4D5156"/>
                </a:solidFill>
                <a:latin typeface="arial" panose="020B0604020202020204" pitchFamily="34" charset="0"/>
              </a:rPr>
              <a:t>. Seventh Edition. </a:t>
            </a:r>
            <a:r>
              <a:rPr lang="en-US" sz="700" b="1" dirty="0">
                <a:solidFill>
                  <a:srgbClr val="5F6368"/>
                </a:solidFill>
                <a:latin typeface="arial" panose="020B0604020202020204" pitchFamily="34" charset="0"/>
              </a:rPr>
              <a:t>Kenneth H. Rosen. Monmouth University. Prepared by Jerrold W. Grossman, Oakland University.</a:t>
            </a:r>
            <a:r>
              <a:rPr lang="en-US" sz="700" dirty="0">
                <a:solidFill>
                  <a:srgbClr val="4D5156"/>
                </a:solidFill>
                <a:latin typeface="arial" panose="020B0604020202020204" pitchFamily="34" charset="0"/>
              </a:rPr>
              <a:t> (and formerly AT&amp;T Laboratories)</a:t>
            </a:r>
            <a:endParaRPr lang="en-IN" sz="700" dirty="0"/>
          </a:p>
        </p:txBody>
      </p:sp>
    </p:spTree>
    <p:extLst>
      <p:ext uri="{BB962C8B-B14F-4D97-AF65-F5344CB8AC3E}">
        <p14:creationId xmlns:p14="http://schemas.microsoft.com/office/powerpoint/2010/main" val="40265219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C376987-CD5A-4B0D-82F1-8DDC56102557}" type="datetimeFigureOut">
              <a:rPr lang="en-IN" smtClean="0"/>
              <a:t>19-01-2021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7443102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C376987-CD5A-4B0D-82F1-8DDC56102557}" type="datetimeFigureOut">
              <a:rPr lang="en-IN" smtClean="0"/>
              <a:t>19-01-2021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21449892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C376987-CD5A-4B0D-82F1-8DDC56102557}" type="datetimeFigureOut">
              <a:rPr lang="en-IN" smtClean="0"/>
              <a:t>19-01-2021</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18209859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C376987-CD5A-4B0D-82F1-8DDC56102557}" type="datetimeFigureOut">
              <a:rPr lang="en-IN" smtClean="0"/>
              <a:t>19-01-2021</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8592191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376987-CD5A-4B0D-82F1-8DDC56102557}" type="datetimeFigureOut">
              <a:rPr lang="en-IN" smtClean="0"/>
              <a:t>19-01-2021</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27637432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Thank You">
    <p:bg>
      <p:bgPr>
        <a:gradFill flip="none" rotWithShape="1">
          <a:gsLst>
            <a:gs pos="0">
              <a:schemeClr val="accent3">
                <a:lumMod val="0"/>
                <a:lumOff val="100000"/>
              </a:schemeClr>
            </a:gs>
            <a:gs pos="100000">
              <a:schemeClr val="bg1">
                <a:lumMod val="85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D41FF5F-8082-499F-9B42-B9953F7F83AE}"/>
              </a:ext>
            </a:extLst>
          </p:cNvPr>
          <p:cNvSpPr txBox="1"/>
          <p:nvPr userDrawn="1"/>
        </p:nvSpPr>
        <p:spPr>
          <a:xfrm>
            <a:off x="1620711" y="2869012"/>
            <a:ext cx="5902578" cy="923330"/>
          </a:xfrm>
          <a:prstGeom prst="rect">
            <a:avLst/>
          </a:prstGeom>
          <a:noFill/>
        </p:spPr>
        <p:txBody>
          <a:bodyPr wrap="none" rtlCol="0">
            <a:spAutoFit/>
          </a:bodyPr>
          <a:lstStyle/>
          <a:p>
            <a:r>
              <a:rPr lang="en-IN" sz="5400" dirty="0">
                <a:solidFill>
                  <a:srgbClr val="00A2B8"/>
                </a:solidFill>
                <a:effectLst/>
              </a:rPr>
              <a:t>That’s all for now…</a:t>
            </a:r>
          </a:p>
        </p:txBody>
      </p:sp>
      <p:cxnSp>
        <p:nvCxnSpPr>
          <p:cNvPr id="7" name="Straight Connector 6">
            <a:extLst>
              <a:ext uri="{FF2B5EF4-FFF2-40B4-BE49-F238E27FC236}">
                <a16:creationId xmlns:a16="http://schemas.microsoft.com/office/drawing/2014/main" id="{8376A0C7-0E66-445E-9D28-DB789C63D202}"/>
              </a:ext>
            </a:extLst>
          </p:cNvPr>
          <p:cNvCxnSpPr>
            <a:cxnSpLocks/>
          </p:cNvCxnSpPr>
          <p:nvPr userDrawn="1"/>
        </p:nvCxnSpPr>
        <p:spPr>
          <a:xfrm>
            <a:off x="1720645" y="3654690"/>
            <a:ext cx="5624052" cy="0"/>
          </a:xfrm>
          <a:prstGeom prst="line">
            <a:avLst/>
          </a:prstGeom>
          <a:ln w="31750">
            <a:solidFill>
              <a:srgbClr val="CA628C"/>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60184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C376987-CD5A-4B0D-82F1-8DDC56102557}" type="datetimeFigureOut">
              <a:rPr lang="en-IN" smtClean="0"/>
              <a:t>19-01-2021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39188165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C376987-CD5A-4B0D-82F1-8DDC56102557}" type="datetimeFigureOut">
              <a:rPr lang="en-IN" smtClean="0"/>
              <a:t>19-01-2021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20285952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376987-CD5A-4B0D-82F1-8DDC56102557}" type="datetimeFigureOut">
              <a:rPr lang="en-IN" smtClean="0"/>
              <a:t>19-01-2021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27767470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376987-CD5A-4B0D-82F1-8DDC56102557}" type="datetimeFigureOut">
              <a:rPr lang="en-IN" smtClean="0"/>
              <a:t>19-01-2021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2144704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376987-CD5A-4B0D-82F1-8DDC56102557}" type="datetimeFigureOut">
              <a:rPr lang="en-IN" smtClean="0"/>
              <a:t>19-01-2021</a:t>
            </a:fld>
            <a:endParaRPr lang="en-I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5910F8-8D71-4F22-9C7F-1F77DF6804AD}" type="slidenum">
              <a:rPr lang="en-IN" smtClean="0"/>
              <a:t>‹#›</a:t>
            </a:fld>
            <a:endParaRPr lang="en-IN"/>
          </a:p>
        </p:txBody>
      </p:sp>
    </p:spTree>
    <p:extLst>
      <p:ext uri="{BB962C8B-B14F-4D97-AF65-F5344CB8AC3E}">
        <p14:creationId xmlns:p14="http://schemas.microsoft.com/office/powerpoint/2010/main" val="94621370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4" r:id="rId3"/>
    <p:sldLayoutId id="2147483672" r:id="rId4"/>
    <p:sldLayoutId id="2147483663" r:id="rId5"/>
    <p:sldLayoutId id="2147483664" r:id="rId6"/>
    <p:sldLayoutId id="2147483665" r:id="rId7"/>
    <p:sldLayoutId id="2147483666" r:id="rId8"/>
    <p:sldLayoutId id="2147483667" r:id="rId9"/>
    <p:sldLayoutId id="2147483673" r:id="rId10"/>
    <p:sldLayoutId id="2147483668" r:id="rId11"/>
    <p:sldLayoutId id="2147483669" r:id="rId12"/>
    <p:sldLayoutId id="2147483670" r:id="rId13"/>
    <p:sldLayoutId id="2147483671" r:id="rId14"/>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just"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just"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hyperlink" Target="http://www.google.com/url?sa=i&amp;source=images&amp;cd=&amp;cad=rja&amp;docid=Z7FGiRgdqvCS1M&amp;tbnid=BwPKD8P9ipKFYM:&amp;ved=0CAgQjRwwAA&amp;url=http%3A%2F%2Fcommons.wikimedia.org%2Fwiki%2FFile%3ADodecahedron.gif&amp;ei=C809UqeVELHi4AOthIFo&amp;psig=AFQjCNFkK4_sXGRBYFjIjud2BQMa9Z6Tww&amp;ust=1379868299312995" TargetMode="Externa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3B31A-26EC-4882-9FB2-E3790927BE30}"/>
              </a:ext>
            </a:extLst>
          </p:cNvPr>
          <p:cNvSpPr>
            <a:spLocks noGrp="1"/>
          </p:cNvSpPr>
          <p:nvPr>
            <p:ph type="ctrTitle"/>
          </p:nvPr>
        </p:nvSpPr>
        <p:spPr/>
        <p:txBody>
          <a:bodyPr>
            <a:normAutofit fontScale="90000"/>
          </a:bodyPr>
          <a:lstStyle/>
          <a:p>
            <a:r>
              <a:rPr lang="en-IN" dirty="0"/>
              <a:t>EMTH403</a:t>
            </a:r>
          </a:p>
        </p:txBody>
      </p:sp>
      <p:sp>
        <p:nvSpPr>
          <p:cNvPr id="3" name="Subtitle 2">
            <a:extLst>
              <a:ext uri="{FF2B5EF4-FFF2-40B4-BE49-F238E27FC236}">
                <a16:creationId xmlns:a16="http://schemas.microsoft.com/office/drawing/2014/main" id="{5F2FDE88-E809-4B0D-A49D-23F92304EDFA}"/>
              </a:ext>
            </a:extLst>
          </p:cNvPr>
          <p:cNvSpPr>
            <a:spLocks noGrp="1"/>
          </p:cNvSpPr>
          <p:nvPr>
            <p:ph type="subTitle" idx="1"/>
          </p:nvPr>
        </p:nvSpPr>
        <p:spPr/>
        <p:txBody>
          <a:bodyPr>
            <a:normAutofit lnSpcReduction="10000"/>
          </a:bodyPr>
          <a:lstStyle/>
          <a:p>
            <a:r>
              <a:rPr lang="en-US" dirty="0"/>
              <a:t>Mathematical Foundation for Computer Science </a:t>
            </a:r>
            <a:endParaRPr lang="en-IN" dirty="0"/>
          </a:p>
        </p:txBody>
      </p:sp>
    </p:spTree>
    <p:extLst>
      <p:ext uri="{BB962C8B-B14F-4D97-AF65-F5344CB8AC3E}">
        <p14:creationId xmlns:p14="http://schemas.microsoft.com/office/powerpoint/2010/main" val="38485066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825CB-91D8-4BF1-84BC-BE57F14646E6}"/>
              </a:ext>
            </a:extLst>
          </p:cNvPr>
          <p:cNvSpPr>
            <a:spLocks noGrp="1"/>
          </p:cNvSpPr>
          <p:nvPr>
            <p:ph type="title"/>
          </p:nvPr>
        </p:nvSpPr>
        <p:spPr/>
        <p:txBody>
          <a:bodyPr/>
          <a:lstStyle/>
          <a:p>
            <a:r>
              <a:rPr lang="en-IN" dirty="0"/>
              <a:t>Lecture Outcomes</a:t>
            </a:r>
          </a:p>
        </p:txBody>
      </p:sp>
      <p:sp>
        <p:nvSpPr>
          <p:cNvPr id="3" name="Content Placeholder 2">
            <a:extLst>
              <a:ext uri="{FF2B5EF4-FFF2-40B4-BE49-F238E27FC236}">
                <a16:creationId xmlns:a16="http://schemas.microsoft.com/office/drawing/2014/main" id="{C2262320-2170-46A9-8662-1BF0938F293E}"/>
              </a:ext>
            </a:extLst>
          </p:cNvPr>
          <p:cNvSpPr>
            <a:spLocks noGrp="1"/>
          </p:cNvSpPr>
          <p:nvPr>
            <p:ph idx="1"/>
          </p:nvPr>
        </p:nvSpPr>
        <p:spPr>
          <a:xfrm>
            <a:off x="963560" y="2883188"/>
            <a:ext cx="7934633" cy="3500283"/>
          </a:xfrm>
        </p:spPr>
        <p:txBody>
          <a:bodyPr>
            <a:normAutofit/>
          </a:bodyPr>
          <a:lstStyle/>
          <a:p>
            <a:r>
              <a:rPr lang="en-US" dirty="0"/>
              <a:t>understand what are Hamilton path and graphs in a directed and undirected graph.</a:t>
            </a:r>
          </a:p>
          <a:p>
            <a:r>
              <a:rPr lang="en-US" dirty="0"/>
              <a:t>understand what are Hamilton circuit and graphs in a directed and undirected graph.</a:t>
            </a:r>
          </a:p>
          <a:p>
            <a:endParaRPr lang="en-US" dirty="0"/>
          </a:p>
          <a:p>
            <a:endParaRPr lang="en-US" dirty="0"/>
          </a:p>
        </p:txBody>
      </p:sp>
    </p:spTree>
    <p:extLst>
      <p:ext uri="{BB962C8B-B14F-4D97-AF65-F5344CB8AC3E}">
        <p14:creationId xmlns:p14="http://schemas.microsoft.com/office/powerpoint/2010/main" val="19984721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7F013-7233-43C8-A219-CCE9F2C40032}"/>
              </a:ext>
            </a:extLst>
          </p:cNvPr>
          <p:cNvSpPr>
            <a:spLocks noGrp="1"/>
          </p:cNvSpPr>
          <p:nvPr>
            <p:ph type="title"/>
          </p:nvPr>
        </p:nvSpPr>
        <p:spPr/>
        <p:txBody>
          <a:bodyPr/>
          <a:lstStyle/>
          <a:p>
            <a:r>
              <a:rPr lang="en-US" dirty="0"/>
              <a:t>Hamilton Paths and Circuits</a:t>
            </a:r>
            <a:endParaRPr lang="en-IN" dirty="0"/>
          </a:p>
        </p:txBody>
      </p:sp>
      <p:sp>
        <p:nvSpPr>
          <p:cNvPr id="3" name="Content Placeholder 2">
            <a:extLst>
              <a:ext uri="{FF2B5EF4-FFF2-40B4-BE49-F238E27FC236}">
                <a16:creationId xmlns:a16="http://schemas.microsoft.com/office/drawing/2014/main" id="{849D538C-266E-451C-AB57-CCC7EAA355D5}"/>
              </a:ext>
            </a:extLst>
          </p:cNvPr>
          <p:cNvSpPr>
            <a:spLocks noGrp="1"/>
          </p:cNvSpPr>
          <p:nvPr>
            <p:ph idx="1"/>
          </p:nvPr>
        </p:nvSpPr>
        <p:spPr/>
        <p:txBody>
          <a:bodyPr/>
          <a:lstStyle/>
          <a:p>
            <a:pPr marL="0" indent="0">
              <a:buNone/>
            </a:pPr>
            <a:r>
              <a:rPr lang="en-US" dirty="0"/>
              <a:t>A Hamilton path in a graph G is a path which visits every vertex in G exactly once.</a:t>
            </a:r>
          </a:p>
          <a:p>
            <a:pPr marL="0" indent="0">
              <a:buNone/>
            </a:pPr>
            <a:endParaRPr lang="en-US" dirty="0"/>
          </a:p>
          <a:p>
            <a:pPr marL="0" indent="0">
              <a:buNone/>
            </a:pPr>
            <a:r>
              <a:rPr lang="en-US" dirty="0"/>
              <a:t>A Hamilton circuit is a Hamilton path that returns to its start.</a:t>
            </a:r>
          </a:p>
        </p:txBody>
      </p:sp>
    </p:spTree>
    <p:extLst>
      <p:ext uri="{BB962C8B-B14F-4D97-AF65-F5344CB8AC3E}">
        <p14:creationId xmlns:p14="http://schemas.microsoft.com/office/powerpoint/2010/main" val="24043815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7F013-7233-43C8-A219-CCE9F2C40032}"/>
              </a:ext>
            </a:extLst>
          </p:cNvPr>
          <p:cNvSpPr>
            <a:spLocks noGrp="1"/>
          </p:cNvSpPr>
          <p:nvPr>
            <p:ph type="title"/>
          </p:nvPr>
        </p:nvSpPr>
        <p:spPr/>
        <p:txBody>
          <a:bodyPr/>
          <a:lstStyle/>
          <a:p>
            <a:r>
              <a:rPr lang="en-US" dirty="0"/>
              <a:t>Travelling Salesman Problem</a:t>
            </a:r>
            <a:endParaRPr lang="en-IN" dirty="0"/>
          </a:p>
        </p:txBody>
      </p:sp>
      <p:sp>
        <p:nvSpPr>
          <p:cNvPr id="3" name="Content Placeholder 2">
            <a:extLst>
              <a:ext uri="{FF2B5EF4-FFF2-40B4-BE49-F238E27FC236}">
                <a16:creationId xmlns:a16="http://schemas.microsoft.com/office/drawing/2014/main" id="{849D538C-266E-451C-AB57-CCC7EAA355D5}"/>
              </a:ext>
            </a:extLst>
          </p:cNvPr>
          <p:cNvSpPr>
            <a:spLocks noGrp="1"/>
          </p:cNvSpPr>
          <p:nvPr>
            <p:ph idx="1"/>
          </p:nvPr>
        </p:nvSpPr>
        <p:spPr/>
        <p:txBody>
          <a:bodyPr>
            <a:normAutofit lnSpcReduction="10000"/>
          </a:bodyPr>
          <a:lstStyle/>
          <a:p>
            <a:pPr marL="0" indent="0">
              <a:buNone/>
            </a:pPr>
            <a:r>
              <a:rPr lang="en-US" dirty="0"/>
              <a:t>A Hamilton circuit or path may be used to solve practical problems that require visiting “vertices”, such as:</a:t>
            </a:r>
          </a:p>
          <a:p>
            <a:pPr marL="0" indent="0">
              <a:buNone/>
            </a:pPr>
            <a:r>
              <a:rPr lang="en-US" dirty="0"/>
              <a:t>		</a:t>
            </a:r>
            <a:r>
              <a:rPr lang="en-US" sz="2400" dirty="0"/>
              <a:t>road intersections</a:t>
            </a:r>
          </a:p>
          <a:p>
            <a:pPr marL="0" indent="0">
              <a:buNone/>
            </a:pPr>
            <a:r>
              <a:rPr lang="en-US" sz="2400" dirty="0"/>
              <a:t>		pipeline crossings</a:t>
            </a:r>
          </a:p>
          <a:p>
            <a:pPr marL="0" indent="0">
              <a:buNone/>
            </a:pPr>
            <a:r>
              <a:rPr lang="en-US" sz="2400" dirty="0"/>
              <a:t>		communication network nodes</a:t>
            </a:r>
          </a:p>
          <a:p>
            <a:pPr marL="0" indent="0">
              <a:buNone/>
            </a:pPr>
            <a:r>
              <a:rPr lang="en-US" dirty="0"/>
              <a:t>A classic example is the Travelling Salesman Problem – finding a Hamilton circuit.</a:t>
            </a:r>
          </a:p>
        </p:txBody>
      </p:sp>
    </p:spTree>
    <p:extLst>
      <p:ext uri="{BB962C8B-B14F-4D97-AF65-F5344CB8AC3E}">
        <p14:creationId xmlns:p14="http://schemas.microsoft.com/office/powerpoint/2010/main" val="33843779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7F013-7233-43C8-A219-CCE9F2C40032}"/>
              </a:ext>
            </a:extLst>
          </p:cNvPr>
          <p:cNvSpPr>
            <a:spLocks noGrp="1"/>
          </p:cNvSpPr>
          <p:nvPr>
            <p:ph type="title"/>
          </p:nvPr>
        </p:nvSpPr>
        <p:spPr/>
        <p:txBody>
          <a:bodyPr/>
          <a:lstStyle/>
          <a:p>
            <a:r>
              <a:rPr lang="en-US" dirty="0"/>
              <a:t>Finding Hamilton Circuits</a:t>
            </a:r>
            <a:endParaRPr lang="en-IN" dirty="0"/>
          </a:p>
        </p:txBody>
      </p:sp>
      <p:sp>
        <p:nvSpPr>
          <p:cNvPr id="3" name="Content Placeholder 2">
            <a:extLst>
              <a:ext uri="{FF2B5EF4-FFF2-40B4-BE49-F238E27FC236}">
                <a16:creationId xmlns:a16="http://schemas.microsoft.com/office/drawing/2014/main" id="{849D538C-266E-451C-AB57-CCC7EAA355D5}"/>
              </a:ext>
            </a:extLst>
          </p:cNvPr>
          <p:cNvSpPr>
            <a:spLocks noGrp="1"/>
          </p:cNvSpPr>
          <p:nvPr>
            <p:ph idx="1"/>
          </p:nvPr>
        </p:nvSpPr>
        <p:spPr/>
        <p:txBody>
          <a:bodyPr/>
          <a:lstStyle/>
          <a:p>
            <a:pPr marL="0" indent="0">
              <a:buNone/>
            </a:pPr>
            <a:r>
              <a:rPr lang="en-US" dirty="0"/>
              <a:t>Unlike the Euler circuit problem, finding Hamilton circuits is hard.</a:t>
            </a:r>
          </a:p>
          <a:p>
            <a:pPr marL="0" indent="0">
              <a:buNone/>
            </a:pPr>
            <a:endParaRPr lang="en-US" dirty="0"/>
          </a:p>
          <a:p>
            <a:pPr marL="0" indent="0">
              <a:buNone/>
            </a:pPr>
            <a:endParaRPr lang="en-US" dirty="0"/>
          </a:p>
          <a:p>
            <a:pPr marL="0" indent="0">
              <a:buNone/>
            </a:pPr>
            <a:endParaRPr lang="en-US" dirty="0"/>
          </a:p>
          <a:p>
            <a:pPr marL="0" indent="0">
              <a:buNone/>
            </a:pPr>
            <a:r>
              <a:rPr lang="en-US" dirty="0"/>
              <a:t>There is no simple set of necessary and sufficient conditions, and no simple algorithm.</a:t>
            </a:r>
          </a:p>
          <a:p>
            <a:pPr marL="0" indent="0">
              <a:buNone/>
            </a:pPr>
            <a:endParaRPr lang="en-US" dirty="0"/>
          </a:p>
        </p:txBody>
      </p:sp>
    </p:spTree>
    <p:extLst>
      <p:ext uri="{BB962C8B-B14F-4D97-AF65-F5344CB8AC3E}">
        <p14:creationId xmlns:p14="http://schemas.microsoft.com/office/powerpoint/2010/main" val="26641463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7F013-7233-43C8-A219-CCE9F2C40032}"/>
              </a:ext>
            </a:extLst>
          </p:cNvPr>
          <p:cNvSpPr>
            <a:spLocks noGrp="1"/>
          </p:cNvSpPr>
          <p:nvPr>
            <p:ph type="title"/>
          </p:nvPr>
        </p:nvSpPr>
        <p:spPr/>
        <p:txBody>
          <a:bodyPr/>
          <a:lstStyle/>
          <a:p>
            <a:r>
              <a:rPr lang="en-US" dirty="0"/>
              <a:t>Hamilton circuit?</a:t>
            </a:r>
            <a:endParaRPr lang="en-IN" dirty="0"/>
          </a:p>
        </p:txBody>
      </p:sp>
      <p:sp>
        <p:nvSpPr>
          <p:cNvPr id="3" name="Content Placeholder 2">
            <a:extLst>
              <a:ext uri="{FF2B5EF4-FFF2-40B4-BE49-F238E27FC236}">
                <a16:creationId xmlns:a16="http://schemas.microsoft.com/office/drawing/2014/main" id="{849D538C-266E-451C-AB57-CCC7EAA355D5}"/>
              </a:ext>
            </a:extLst>
          </p:cNvPr>
          <p:cNvSpPr>
            <a:spLocks noGrp="1"/>
          </p:cNvSpPr>
          <p:nvPr>
            <p:ph idx="1"/>
          </p:nvPr>
        </p:nvSpPr>
        <p:spPr/>
        <p:txBody>
          <a:bodyPr>
            <a:normAutofit/>
          </a:bodyPr>
          <a:lstStyle/>
          <a:p>
            <a:pPr marL="0" indent="0">
              <a:buNone/>
            </a:pPr>
            <a:endParaRPr lang="en-US" dirty="0"/>
          </a:p>
          <a:p>
            <a:pPr marL="0" indent="0">
              <a:buNone/>
            </a:pPr>
            <a:endParaRPr lang="en-US" dirty="0"/>
          </a:p>
          <a:p>
            <a:pPr marL="0" indent="0">
              <a:buNone/>
            </a:pPr>
            <a:endParaRPr lang="en-US" dirty="0"/>
          </a:p>
          <a:p>
            <a:pPr marL="0" indent="0">
              <a:buNone/>
            </a:pPr>
            <a:r>
              <a:rPr lang="en-US" b="1" dirty="0"/>
              <a:t>Ques:- </a:t>
            </a:r>
            <a:r>
              <a:rPr lang="en-US" dirty="0"/>
              <a:t>Does the graph above has an Hamilton Circuit?</a:t>
            </a:r>
          </a:p>
          <a:p>
            <a:pPr marL="0" indent="0">
              <a:buNone/>
            </a:pPr>
            <a:endParaRPr lang="en-US" dirty="0"/>
          </a:p>
          <a:p>
            <a:pPr marL="0" indent="0">
              <a:buNone/>
            </a:pPr>
            <a:r>
              <a:rPr lang="en-US" altLang="en-US" b="1" dirty="0"/>
              <a:t>Sol:- </a:t>
            </a:r>
            <a:r>
              <a:rPr lang="en-IN" sz="2800" dirty="0"/>
              <a:t>a, b, c, d, e, a is a Hamilton circuit.</a:t>
            </a:r>
          </a:p>
          <a:p>
            <a:pPr>
              <a:spcBef>
                <a:spcPct val="0"/>
              </a:spcBef>
              <a:buNone/>
            </a:pPr>
            <a:endParaRPr lang="en-IN" dirty="0"/>
          </a:p>
        </p:txBody>
      </p:sp>
      <p:pic>
        <p:nvPicPr>
          <p:cNvPr id="17" name="Picture 16">
            <a:extLst>
              <a:ext uri="{FF2B5EF4-FFF2-40B4-BE49-F238E27FC236}">
                <a16:creationId xmlns:a16="http://schemas.microsoft.com/office/drawing/2014/main" id="{BDD9F956-DB62-46CE-9063-617C99227E88}"/>
              </a:ext>
            </a:extLst>
          </p:cNvPr>
          <p:cNvPicPr>
            <a:picLocks noChangeAspect="1"/>
          </p:cNvPicPr>
          <p:nvPr/>
        </p:nvPicPr>
        <p:blipFill>
          <a:blip r:embed="rId2"/>
          <a:stretch>
            <a:fillRect/>
          </a:stretch>
        </p:blipFill>
        <p:spPr>
          <a:xfrm>
            <a:off x="3160035" y="1183384"/>
            <a:ext cx="3194613" cy="2444151"/>
          </a:xfrm>
          <a:prstGeom prst="rect">
            <a:avLst/>
          </a:prstGeom>
        </p:spPr>
      </p:pic>
    </p:spTree>
    <p:extLst>
      <p:ext uri="{BB962C8B-B14F-4D97-AF65-F5344CB8AC3E}">
        <p14:creationId xmlns:p14="http://schemas.microsoft.com/office/powerpoint/2010/main" val="16649931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7F013-7233-43C8-A219-CCE9F2C40032}"/>
              </a:ext>
            </a:extLst>
          </p:cNvPr>
          <p:cNvSpPr>
            <a:spLocks noGrp="1"/>
          </p:cNvSpPr>
          <p:nvPr>
            <p:ph type="title"/>
          </p:nvPr>
        </p:nvSpPr>
        <p:spPr/>
        <p:txBody>
          <a:bodyPr/>
          <a:lstStyle/>
          <a:p>
            <a:r>
              <a:rPr lang="en-US" dirty="0"/>
              <a:t>Hamilton Path?</a:t>
            </a:r>
            <a:endParaRPr lang="en-IN" dirty="0"/>
          </a:p>
        </p:txBody>
      </p:sp>
      <p:sp>
        <p:nvSpPr>
          <p:cNvPr id="3" name="Content Placeholder 2">
            <a:extLst>
              <a:ext uri="{FF2B5EF4-FFF2-40B4-BE49-F238E27FC236}">
                <a16:creationId xmlns:a16="http://schemas.microsoft.com/office/drawing/2014/main" id="{849D538C-266E-451C-AB57-CCC7EAA355D5}"/>
              </a:ext>
            </a:extLst>
          </p:cNvPr>
          <p:cNvSpPr>
            <a:spLocks noGrp="1"/>
          </p:cNvSpPr>
          <p:nvPr>
            <p:ph idx="1"/>
          </p:nvPr>
        </p:nvSpPr>
        <p:spPr/>
        <p:txBody>
          <a:bodyPr>
            <a:normAutofit/>
          </a:bodyPr>
          <a:lstStyle/>
          <a:p>
            <a:pPr marL="0" indent="0">
              <a:buNone/>
            </a:pPr>
            <a:endParaRPr lang="en-US" dirty="0"/>
          </a:p>
          <a:p>
            <a:pPr marL="0" indent="0">
              <a:buNone/>
            </a:pPr>
            <a:endParaRPr lang="en-US" dirty="0"/>
          </a:p>
          <a:p>
            <a:pPr marL="0" indent="0">
              <a:buNone/>
            </a:pPr>
            <a:endParaRPr lang="en-US" dirty="0"/>
          </a:p>
          <a:p>
            <a:pPr marL="0" indent="0">
              <a:buNone/>
            </a:pPr>
            <a:r>
              <a:rPr lang="en-US" b="1" dirty="0"/>
              <a:t>Ques:- </a:t>
            </a:r>
            <a:r>
              <a:rPr lang="en-US" dirty="0"/>
              <a:t>Does the graph above has an Hamilton Path?</a:t>
            </a:r>
          </a:p>
          <a:p>
            <a:pPr marL="0" indent="0">
              <a:buNone/>
            </a:pPr>
            <a:endParaRPr lang="en-US" dirty="0"/>
          </a:p>
          <a:p>
            <a:pPr marL="0" indent="0">
              <a:buNone/>
            </a:pPr>
            <a:r>
              <a:rPr lang="en-US" altLang="en-US" b="1" dirty="0"/>
              <a:t>Sol:- </a:t>
            </a:r>
            <a:r>
              <a:rPr lang="en-US" sz="2800" dirty="0"/>
              <a:t>This graph has the Hamilton path a, b, c, f, d, e. This simple path hits each vertex once.</a:t>
            </a:r>
          </a:p>
          <a:p>
            <a:pPr>
              <a:spcBef>
                <a:spcPct val="0"/>
              </a:spcBef>
              <a:buNone/>
            </a:pPr>
            <a:endParaRPr lang="en-IN" dirty="0"/>
          </a:p>
        </p:txBody>
      </p:sp>
      <p:pic>
        <p:nvPicPr>
          <p:cNvPr id="5" name="Picture 4">
            <a:extLst>
              <a:ext uri="{FF2B5EF4-FFF2-40B4-BE49-F238E27FC236}">
                <a16:creationId xmlns:a16="http://schemas.microsoft.com/office/drawing/2014/main" id="{354C19AB-C18F-4C40-993F-FF3A02683C03}"/>
              </a:ext>
            </a:extLst>
          </p:cNvPr>
          <p:cNvPicPr>
            <a:picLocks noChangeAspect="1"/>
          </p:cNvPicPr>
          <p:nvPr/>
        </p:nvPicPr>
        <p:blipFill>
          <a:blip r:embed="rId2"/>
          <a:stretch>
            <a:fillRect/>
          </a:stretch>
        </p:blipFill>
        <p:spPr>
          <a:xfrm>
            <a:off x="1960415" y="1176443"/>
            <a:ext cx="5370653" cy="2616679"/>
          </a:xfrm>
          <a:prstGeom prst="rect">
            <a:avLst/>
          </a:prstGeom>
        </p:spPr>
      </p:pic>
    </p:spTree>
    <p:extLst>
      <p:ext uri="{BB962C8B-B14F-4D97-AF65-F5344CB8AC3E}">
        <p14:creationId xmlns:p14="http://schemas.microsoft.com/office/powerpoint/2010/main" val="16754492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7F013-7233-43C8-A219-CCE9F2C40032}"/>
              </a:ext>
            </a:extLst>
          </p:cNvPr>
          <p:cNvSpPr>
            <a:spLocks noGrp="1"/>
          </p:cNvSpPr>
          <p:nvPr>
            <p:ph type="title"/>
          </p:nvPr>
        </p:nvSpPr>
        <p:spPr/>
        <p:txBody>
          <a:bodyPr/>
          <a:lstStyle/>
          <a:p>
            <a:r>
              <a:rPr lang="en-US" dirty="0"/>
              <a:t>Hamilton circuit?</a:t>
            </a:r>
            <a:endParaRPr lang="en-IN" dirty="0"/>
          </a:p>
        </p:txBody>
      </p:sp>
      <p:sp>
        <p:nvSpPr>
          <p:cNvPr id="3" name="Content Placeholder 2">
            <a:extLst>
              <a:ext uri="{FF2B5EF4-FFF2-40B4-BE49-F238E27FC236}">
                <a16:creationId xmlns:a16="http://schemas.microsoft.com/office/drawing/2014/main" id="{849D538C-266E-451C-AB57-CCC7EAA355D5}"/>
              </a:ext>
            </a:extLst>
          </p:cNvPr>
          <p:cNvSpPr>
            <a:spLocks noGrp="1"/>
          </p:cNvSpPr>
          <p:nvPr>
            <p:ph idx="1"/>
          </p:nvPr>
        </p:nvSpPr>
        <p:spPr>
          <a:xfrm>
            <a:off x="393290" y="3574279"/>
            <a:ext cx="8504904" cy="3013335"/>
          </a:xfrm>
        </p:spPr>
        <p:txBody>
          <a:bodyPr>
            <a:normAutofit fontScale="85000" lnSpcReduction="10000"/>
          </a:bodyPr>
          <a:lstStyle/>
          <a:p>
            <a:pPr marL="0" indent="0">
              <a:buNone/>
            </a:pPr>
            <a:r>
              <a:rPr lang="en-US" b="1" dirty="0"/>
              <a:t>Ques:- </a:t>
            </a:r>
            <a:r>
              <a:rPr lang="en-US" dirty="0"/>
              <a:t>Does the graph above has an Hamilton Circuit?</a:t>
            </a:r>
          </a:p>
          <a:p>
            <a:pPr marL="0" indent="0">
              <a:buNone/>
            </a:pPr>
            <a:endParaRPr lang="en-US" dirty="0"/>
          </a:p>
          <a:p>
            <a:pPr marL="0" indent="0">
              <a:buNone/>
            </a:pPr>
            <a:r>
              <a:rPr lang="en-US" altLang="en-US" b="1" dirty="0"/>
              <a:t>Sol:- </a:t>
            </a:r>
            <a:r>
              <a:rPr lang="en-US" sz="2800" dirty="0"/>
              <a:t>There is no Hamilton circuit because of the cut edges </a:t>
            </a:r>
            <a:br>
              <a:rPr lang="en-US" sz="2800" dirty="0"/>
            </a:br>
            <a:r>
              <a:rPr lang="en-US" sz="2800" dirty="0"/>
              <a:t>({ c, e}, for instance). Once a purported circuit had reached vertex e, there would be nowhere for it to go.</a:t>
            </a:r>
            <a:endParaRPr lang="en-IN" sz="2800" dirty="0"/>
          </a:p>
          <a:p>
            <a:pPr>
              <a:spcBef>
                <a:spcPct val="0"/>
              </a:spcBef>
              <a:buNone/>
            </a:pPr>
            <a:endParaRPr lang="en-IN" dirty="0"/>
          </a:p>
        </p:txBody>
      </p:sp>
      <p:pic>
        <p:nvPicPr>
          <p:cNvPr id="5" name="Picture 4">
            <a:extLst>
              <a:ext uri="{FF2B5EF4-FFF2-40B4-BE49-F238E27FC236}">
                <a16:creationId xmlns:a16="http://schemas.microsoft.com/office/drawing/2014/main" id="{B647C31D-4A8D-4037-A854-45E5B9E1EEEC}"/>
              </a:ext>
            </a:extLst>
          </p:cNvPr>
          <p:cNvPicPr>
            <a:picLocks noChangeAspect="1"/>
          </p:cNvPicPr>
          <p:nvPr/>
        </p:nvPicPr>
        <p:blipFill rotWithShape="1">
          <a:blip r:embed="rId2"/>
          <a:srcRect t="6122" b="5220"/>
          <a:stretch/>
        </p:blipFill>
        <p:spPr>
          <a:xfrm>
            <a:off x="1979271" y="1218706"/>
            <a:ext cx="5185458" cy="2355573"/>
          </a:xfrm>
          <a:prstGeom prst="rect">
            <a:avLst/>
          </a:prstGeom>
        </p:spPr>
      </p:pic>
      <p:sp>
        <p:nvSpPr>
          <p:cNvPr id="6" name="Rectangle 5">
            <a:extLst>
              <a:ext uri="{FF2B5EF4-FFF2-40B4-BE49-F238E27FC236}">
                <a16:creationId xmlns:a16="http://schemas.microsoft.com/office/drawing/2014/main" id="{4A9B51B1-47E9-430F-8A63-E96F836A2114}"/>
              </a:ext>
            </a:extLst>
          </p:cNvPr>
          <p:cNvSpPr/>
          <p:nvPr/>
        </p:nvSpPr>
        <p:spPr>
          <a:xfrm>
            <a:off x="2309190" y="2910510"/>
            <a:ext cx="1020419" cy="5284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481522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7F013-7233-43C8-A219-CCE9F2C40032}"/>
              </a:ext>
            </a:extLst>
          </p:cNvPr>
          <p:cNvSpPr>
            <a:spLocks noGrp="1"/>
          </p:cNvSpPr>
          <p:nvPr>
            <p:ph type="title"/>
          </p:nvPr>
        </p:nvSpPr>
        <p:spPr/>
        <p:txBody>
          <a:bodyPr/>
          <a:lstStyle/>
          <a:p>
            <a:r>
              <a:rPr lang="en-US" dirty="0"/>
              <a:t>Hamilton Circuit</a:t>
            </a:r>
            <a:endParaRPr lang="en-IN" dirty="0"/>
          </a:p>
        </p:txBody>
      </p:sp>
      <p:sp>
        <p:nvSpPr>
          <p:cNvPr id="3" name="Content Placeholder 2">
            <a:extLst>
              <a:ext uri="{FF2B5EF4-FFF2-40B4-BE49-F238E27FC236}">
                <a16:creationId xmlns:a16="http://schemas.microsoft.com/office/drawing/2014/main" id="{849D538C-266E-451C-AB57-CCC7EAA355D5}"/>
              </a:ext>
            </a:extLst>
          </p:cNvPr>
          <p:cNvSpPr>
            <a:spLocks noGrp="1"/>
          </p:cNvSpPr>
          <p:nvPr>
            <p:ph idx="1"/>
          </p:nvPr>
        </p:nvSpPr>
        <p:spPr>
          <a:xfrm>
            <a:off x="393290" y="3574279"/>
            <a:ext cx="8504904" cy="3013335"/>
          </a:xfrm>
        </p:spPr>
        <p:txBody>
          <a:bodyPr>
            <a:normAutofit fontScale="77500" lnSpcReduction="20000"/>
          </a:bodyPr>
          <a:lstStyle/>
          <a:p>
            <a:pPr marL="0" indent="0">
              <a:buNone/>
            </a:pPr>
            <a:r>
              <a:rPr lang="en-US" b="1" dirty="0"/>
              <a:t>Ques:- </a:t>
            </a:r>
            <a:r>
              <a:rPr lang="en-US" dirty="0"/>
              <a:t>Does the graph above has an Hamilton Circuit?</a:t>
            </a:r>
          </a:p>
          <a:p>
            <a:pPr marL="0" indent="0">
              <a:buNone/>
            </a:pPr>
            <a:r>
              <a:rPr lang="en-US" altLang="en-US" b="1" dirty="0"/>
              <a:t>Sol:- </a:t>
            </a:r>
            <a:r>
              <a:rPr lang="en-US" sz="2800" dirty="0"/>
              <a:t>There is no Hamiltonian circuit in this graph. </a:t>
            </a:r>
          </a:p>
          <a:p>
            <a:pPr marL="0" indent="0">
              <a:buNone/>
            </a:pPr>
            <a:r>
              <a:rPr lang="en-US" sz="2800" dirty="0"/>
              <a:t>If there were one, then it would have to include all the edges of the graph, because it would have to enter and exit vertex a, enter and exit vertex d, and enter and exit vertex e. But then vertex c would have been visited more than once, a contradiction.</a:t>
            </a:r>
            <a:endParaRPr lang="en-IN" sz="2800" dirty="0"/>
          </a:p>
          <a:p>
            <a:pPr>
              <a:spcBef>
                <a:spcPct val="0"/>
              </a:spcBef>
              <a:buNone/>
            </a:pPr>
            <a:endParaRPr lang="en-IN" dirty="0"/>
          </a:p>
        </p:txBody>
      </p:sp>
      <p:sp>
        <p:nvSpPr>
          <p:cNvPr id="6" name="Rectangle 5">
            <a:extLst>
              <a:ext uri="{FF2B5EF4-FFF2-40B4-BE49-F238E27FC236}">
                <a16:creationId xmlns:a16="http://schemas.microsoft.com/office/drawing/2014/main" id="{4A9B51B1-47E9-430F-8A63-E96F836A2114}"/>
              </a:ext>
            </a:extLst>
          </p:cNvPr>
          <p:cNvSpPr/>
          <p:nvPr/>
        </p:nvSpPr>
        <p:spPr>
          <a:xfrm>
            <a:off x="2309190" y="2910510"/>
            <a:ext cx="1020419" cy="5284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a:extLst>
              <a:ext uri="{FF2B5EF4-FFF2-40B4-BE49-F238E27FC236}">
                <a16:creationId xmlns:a16="http://schemas.microsoft.com/office/drawing/2014/main" id="{C4B103B4-AAAF-44FA-B228-0574E9B3885E}"/>
              </a:ext>
            </a:extLst>
          </p:cNvPr>
          <p:cNvPicPr>
            <a:picLocks noChangeAspect="1"/>
          </p:cNvPicPr>
          <p:nvPr/>
        </p:nvPicPr>
        <p:blipFill rotWithShape="1">
          <a:blip r:embed="rId2"/>
          <a:srcRect t="4310" r="31849" b="3026"/>
          <a:stretch/>
        </p:blipFill>
        <p:spPr>
          <a:xfrm>
            <a:off x="2908850" y="1146579"/>
            <a:ext cx="2398644" cy="2590535"/>
          </a:xfrm>
          <a:prstGeom prst="rect">
            <a:avLst/>
          </a:prstGeom>
        </p:spPr>
      </p:pic>
    </p:spTree>
    <p:extLst>
      <p:ext uri="{BB962C8B-B14F-4D97-AF65-F5344CB8AC3E}">
        <p14:creationId xmlns:p14="http://schemas.microsoft.com/office/powerpoint/2010/main" val="3852737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7F013-7233-43C8-A219-CCE9F2C40032}"/>
              </a:ext>
            </a:extLst>
          </p:cNvPr>
          <p:cNvSpPr>
            <a:spLocks noGrp="1"/>
          </p:cNvSpPr>
          <p:nvPr>
            <p:ph type="title"/>
          </p:nvPr>
        </p:nvSpPr>
        <p:spPr/>
        <p:txBody>
          <a:bodyPr/>
          <a:lstStyle/>
          <a:p>
            <a:r>
              <a:rPr lang="en-US" dirty="0"/>
              <a:t>Hamilton Path</a:t>
            </a:r>
            <a:endParaRPr lang="en-IN" dirty="0"/>
          </a:p>
        </p:txBody>
      </p:sp>
      <p:sp>
        <p:nvSpPr>
          <p:cNvPr id="3" name="Content Placeholder 2">
            <a:extLst>
              <a:ext uri="{FF2B5EF4-FFF2-40B4-BE49-F238E27FC236}">
                <a16:creationId xmlns:a16="http://schemas.microsoft.com/office/drawing/2014/main" id="{849D538C-266E-451C-AB57-CCC7EAA355D5}"/>
              </a:ext>
            </a:extLst>
          </p:cNvPr>
          <p:cNvSpPr>
            <a:spLocks noGrp="1"/>
          </p:cNvSpPr>
          <p:nvPr>
            <p:ph idx="1"/>
          </p:nvPr>
        </p:nvSpPr>
        <p:spPr>
          <a:xfrm>
            <a:off x="393290" y="4701210"/>
            <a:ext cx="8504904" cy="1886404"/>
          </a:xfrm>
        </p:spPr>
        <p:txBody>
          <a:bodyPr>
            <a:normAutofit fontScale="92500" lnSpcReduction="20000"/>
          </a:bodyPr>
          <a:lstStyle/>
          <a:p>
            <a:pPr marL="0" indent="0">
              <a:buNone/>
            </a:pPr>
            <a:r>
              <a:rPr lang="en-US" b="1" dirty="0"/>
              <a:t>Ques:- </a:t>
            </a:r>
            <a:r>
              <a:rPr lang="en-US" dirty="0"/>
              <a:t>Does the graph above has an Hamilton Path?</a:t>
            </a:r>
          </a:p>
          <a:p>
            <a:pPr marL="0" indent="0">
              <a:buNone/>
            </a:pPr>
            <a:endParaRPr lang="en-US" dirty="0"/>
          </a:p>
          <a:p>
            <a:pPr marL="0" indent="0">
              <a:buNone/>
            </a:pPr>
            <a:r>
              <a:rPr lang="en-US" altLang="en-US" b="1" dirty="0"/>
              <a:t>Sol:- </a:t>
            </a:r>
            <a:r>
              <a:rPr lang="en-US" sz="2800" dirty="0"/>
              <a:t>This graph has the Hamilton path f, e, d, a, b, c.</a:t>
            </a:r>
            <a:endParaRPr lang="en-IN" dirty="0"/>
          </a:p>
        </p:txBody>
      </p:sp>
      <p:pic>
        <p:nvPicPr>
          <p:cNvPr id="6" name="Picture 5">
            <a:extLst>
              <a:ext uri="{FF2B5EF4-FFF2-40B4-BE49-F238E27FC236}">
                <a16:creationId xmlns:a16="http://schemas.microsoft.com/office/drawing/2014/main" id="{4610061B-2D0C-4871-928B-366686F3E3AC}"/>
              </a:ext>
            </a:extLst>
          </p:cNvPr>
          <p:cNvPicPr>
            <a:picLocks noChangeAspect="1"/>
          </p:cNvPicPr>
          <p:nvPr/>
        </p:nvPicPr>
        <p:blipFill rotWithShape="1">
          <a:blip r:embed="rId2"/>
          <a:srcRect b="4162"/>
          <a:stretch/>
        </p:blipFill>
        <p:spPr>
          <a:xfrm>
            <a:off x="2025570" y="1276333"/>
            <a:ext cx="4822492" cy="3501933"/>
          </a:xfrm>
          <a:prstGeom prst="rect">
            <a:avLst/>
          </a:prstGeom>
        </p:spPr>
      </p:pic>
    </p:spTree>
    <p:extLst>
      <p:ext uri="{BB962C8B-B14F-4D97-AF65-F5344CB8AC3E}">
        <p14:creationId xmlns:p14="http://schemas.microsoft.com/office/powerpoint/2010/main" val="1056924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7F013-7233-43C8-A219-CCE9F2C40032}"/>
              </a:ext>
            </a:extLst>
          </p:cNvPr>
          <p:cNvSpPr>
            <a:spLocks noGrp="1"/>
          </p:cNvSpPr>
          <p:nvPr>
            <p:ph type="title"/>
          </p:nvPr>
        </p:nvSpPr>
        <p:spPr/>
        <p:txBody>
          <a:bodyPr/>
          <a:lstStyle/>
          <a:p>
            <a:r>
              <a:rPr lang="en-US" dirty="0"/>
              <a:t>Hamilton Circuit</a:t>
            </a:r>
            <a:endParaRPr lang="en-IN" dirty="0"/>
          </a:p>
        </p:txBody>
      </p:sp>
      <p:sp>
        <p:nvSpPr>
          <p:cNvPr id="3" name="Content Placeholder 2">
            <a:extLst>
              <a:ext uri="{FF2B5EF4-FFF2-40B4-BE49-F238E27FC236}">
                <a16:creationId xmlns:a16="http://schemas.microsoft.com/office/drawing/2014/main" id="{849D538C-266E-451C-AB57-CCC7EAA355D5}"/>
              </a:ext>
            </a:extLst>
          </p:cNvPr>
          <p:cNvSpPr>
            <a:spLocks noGrp="1"/>
          </p:cNvSpPr>
          <p:nvPr>
            <p:ph idx="1"/>
          </p:nvPr>
        </p:nvSpPr>
        <p:spPr>
          <a:xfrm>
            <a:off x="393290" y="3931552"/>
            <a:ext cx="8504904" cy="2656062"/>
          </a:xfrm>
        </p:spPr>
        <p:txBody>
          <a:bodyPr>
            <a:normAutofit fontScale="85000" lnSpcReduction="10000"/>
          </a:bodyPr>
          <a:lstStyle/>
          <a:p>
            <a:pPr marL="0" indent="0">
              <a:buNone/>
            </a:pPr>
            <a:r>
              <a:rPr lang="en-US" b="1" dirty="0"/>
              <a:t>Ques:- </a:t>
            </a:r>
            <a:r>
              <a:rPr lang="en-US" dirty="0"/>
              <a:t>Which of these three figures has a Hamilton circuit?  </a:t>
            </a:r>
            <a:br>
              <a:rPr lang="en-US" dirty="0"/>
            </a:br>
            <a:r>
              <a:rPr lang="en-US" dirty="0"/>
              <a:t>Or, if no Hamilton circuit, a Hamilton path? </a:t>
            </a:r>
          </a:p>
          <a:p>
            <a:pPr marL="0" indent="0">
              <a:buNone/>
            </a:pPr>
            <a:endParaRPr lang="en-US" dirty="0"/>
          </a:p>
          <a:p>
            <a:pPr marL="0" indent="0">
              <a:buNone/>
            </a:pPr>
            <a:r>
              <a:rPr lang="en-US" b="1" dirty="0"/>
              <a:t>Sol:- </a:t>
            </a:r>
            <a:r>
              <a:rPr lang="en-US" dirty="0"/>
              <a:t>Lets do it one by one.</a:t>
            </a:r>
            <a:endParaRPr lang="en-IN" dirty="0"/>
          </a:p>
        </p:txBody>
      </p:sp>
      <p:sp>
        <p:nvSpPr>
          <p:cNvPr id="6" name="Rectangle 5">
            <a:extLst>
              <a:ext uri="{FF2B5EF4-FFF2-40B4-BE49-F238E27FC236}">
                <a16:creationId xmlns:a16="http://schemas.microsoft.com/office/drawing/2014/main" id="{4A9B51B1-47E9-430F-8A63-E96F836A2114}"/>
              </a:ext>
            </a:extLst>
          </p:cNvPr>
          <p:cNvSpPr/>
          <p:nvPr/>
        </p:nvSpPr>
        <p:spPr>
          <a:xfrm>
            <a:off x="2309190" y="2910510"/>
            <a:ext cx="1020419" cy="5284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8" name="Picture 4" descr="09_5_10">
            <a:extLst>
              <a:ext uri="{FF2B5EF4-FFF2-40B4-BE49-F238E27FC236}">
                <a16:creationId xmlns:a16="http://schemas.microsoft.com/office/drawing/2014/main" id="{6823BBAF-E882-4CF1-99BD-91D4FA384BC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7763"/>
          <a:stretch/>
        </p:blipFill>
        <p:spPr>
          <a:xfrm>
            <a:off x="393290" y="1215339"/>
            <a:ext cx="8534400" cy="2716213"/>
          </a:xfrm>
          <a:prstGeom prst="rect">
            <a:avLst/>
          </a:prstGeom>
          <a:noFill/>
        </p:spPr>
      </p:pic>
    </p:spTree>
    <p:extLst>
      <p:ext uri="{BB962C8B-B14F-4D97-AF65-F5344CB8AC3E}">
        <p14:creationId xmlns:p14="http://schemas.microsoft.com/office/powerpoint/2010/main" val="3142112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7F013-7233-43C8-A219-CCE9F2C40032}"/>
              </a:ext>
            </a:extLst>
          </p:cNvPr>
          <p:cNvSpPr>
            <a:spLocks noGrp="1"/>
          </p:cNvSpPr>
          <p:nvPr>
            <p:ph type="title"/>
          </p:nvPr>
        </p:nvSpPr>
        <p:spPr/>
        <p:txBody>
          <a:bodyPr/>
          <a:lstStyle/>
          <a:p>
            <a:r>
              <a:rPr lang="en-US" dirty="0"/>
              <a:t>Hamilton Circuit</a:t>
            </a:r>
            <a:endParaRPr lang="en-IN" dirty="0"/>
          </a:p>
        </p:txBody>
      </p:sp>
      <p:sp>
        <p:nvSpPr>
          <p:cNvPr id="3" name="Content Placeholder 2">
            <a:extLst>
              <a:ext uri="{FF2B5EF4-FFF2-40B4-BE49-F238E27FC236}">
                <a16:creationId xmlns:a16="http://schemas.microsoft.com/office/drawing/2014/main" id="{849D538C-266E-451C-AB57-CCC7EAA355D5}"/>
              </a:ext>
            </a:extLst>
          </p:cNvPr>
          <p:cNvSpPr>
            <a:spLocks noGrp="1"/>
          </p:cNvSpPr>
          <p:nvPr>
            <p:ph idx="1"/>
          </p:nvPr>
        </p:nvSpPr>
        <p:spPr>
          <a:xfrm>
            <a:off x="393290" y="5609302"/>
            <a:ext cx="8504904" cy="978312"/>
          </a:xfrm>
        </p:spPr>
        <p:txBody>
          <a:bodyPr>
            <a:normAutofit/>
          </a:bodyPr>
          <a:lstStyle/>
          <a:p>
            <a:pPr marL="0" indent="0">
              <a:buNone/>
            </a:pPr>
            <a:r>
              <a:rPr lang="en-US" b="1" dirty="0"/>
              <a:t>Sol:- </a:t>
            </a:r>
            <a:r>
              <a:rPr lang="en-US" dirty="0"/>
              <a:t> G</a:t>
            </a:r>
            <a:r>
              <a:rPr lang="en-US" baseline="-25000" dirty="0"/>
              <a:t>1</a:t>
            </a:r>
            <a:r>
              <a:rPr lang="en-US" dirty="0"/>
              <a:t> has a Hamilton circuit: a, b, c, d, e, a </a:t>
            </a:r>
            <a:endParaRPr lang="en-IN" dirty="0"/>
          </a:p>
        </p:txBody>
      </p:sp>
      <p:sp>
        <p:nvSpPr>
          <p:cNvPr id="6" name="Rectangle 5">
            <a:extLst>
              <a:ext uri="{FF2B5EF4-FFF2-40B4-BE49-F238E27FC236}">
                <a16:creationId xmlns:a16="http://schemas.microsoft.com/office/drawing/2014/main" id="{4A9B51B1-47E9-430F-8A63-E96F836A2114}"/>
              </a:ext>
            </a:extLst>
          </p:cNvPr>
          <p:cNvSpPr/>
          <p:nvPr/>
        </p:nvSpPr>
        <p:spPr>
          <a:xfrm>
            <a:off x="2309190" y="2910510"/>
            <a:ext cx="1020419" cy="5284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descr="09_5_10">
            <a:extLst>
              <a:ext uri="{FF2B5EF4-FFF2-40B4-BE49-F238E27FC236}">
                <a16:creationId xmlns:a16="http://schemas.microsoft.com/office/drawing/2014/main" id="{42EA3484-E39B-475B-BC3E-A8BD2BEFFEA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3286" r="78688"/>
          <a:stretch/>
        </p:blipFill>
        <p:spPr>
          <a:xfrm>
            <a:off x="3006587" y="1213839"/>
            <a:ext cx="3130826" cy="4395463"/>
          </a:xfrm>
          <a:prstGeom prst="rect">
            <a:avLst/>
          </a:prstGeom>
          <a:noFill/>
        </p:spPr>
      </p:pic>
      <p:sp>
        <p:nvSpPr>
          <p:cNvPr id="4" name="Rectangle 3">
            <a:extLst>
              <a:ext uri="{FF2B5EF4-FFF2-40B4-BE49-F238E27FC236}">
                <a16:creationId xmlns:a16="http://schemas.microsoft.com/office/drawing/2014/main" id="{C0A3F68F-7679-4A2F-AC89-880043DFCE32}"/>
              </a:ext>
            </a:extLst>
          </p:cNvPr>
          <p:cNvSpPr/>
          <p:nvPr/>
        </p:nvSpPr>
        <p:spPr>
          <a:xfrm>
            <a:off x="3116424" y="4410170"/>
            <a:ext cx="606490" cy="7254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800" dirty="0">
                <a:solidFill>
                  <a:schemeClr val="tx1"/>
                </a:solidFill>
              </a:rPr>
              <a:t>G1</a:t>
            </a:r>
          </a:p>
        </p:txBody>
      </p:sp>
    </p:spTree>
    <p:extLst>
      <p:ext uri="{BB962C8B-B14F-4D97-AF65-F5344CB8AC3E}">
        <p14:creationId xmlns:p14="http://schemas.microsoft.com/office/powerpoint/2010/main" val="265397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7F013-7233-43C8-A219-CCE9F2C40032}"/>
              </a:ext>
            </a:extLst>
          </p:cNvPr>
          <p:cNvSpPr>
            <a:spLocks noGrp="1"/>
          </p:cNvSpPr>
          <p:nvPr>
            <p:ph type="title"/>
          </p:nvPr>
        </p:nvSpPr>
        <p:spPr/>
        <p:txBody>
          <a:bodyPr/>
          <a:lstStyle/>
          <a:p>
            <a:r>
              <a:rPr lang="en-US" dirty="0"/>
              <a:t>Hamilton Circuit</a:t>
            </a:r>
            <a:endParaRPr lang="en-IN" dirty="0"/>
          </a:p>
        </p:txBody>
      </p:sp>
      <p:sp>
        <p:nvSpPr>
          <p:cNvPr id="3" name="Content Placeholder 2">
            <a:extLst>
              <a:ext uri="{FF2B5EF4-FFF2-40B4-BE49-F238E27FC236}">
                <a16:creationId xmlns:a16="http://schemas.microsoft.com/office/drawing/2014/main" id="{849D538C-266E-451C-AB57-CCC7EAA355D5}"/>
              </a:ext>
            </a:extLst>
          </p:cNvPr>
          <p:cNvSpPr>
            <a:spLocks noGrp="1"/>
          </p:cNvSpPr>
          <p:nvPr>
            <p:ph idx="1"/>
          </p:nvPr>
        </p:nvSpPr>
        <p:spPr>
          <a:xfrm>
            <a:off x="393290" y="3931552"/>
            <a:ext cx="8504904" cy="2656062"/>
          </a:xfrm>
        </p:spPr>
        <p:txBody>
          <a:bodyPr>
            <a:normAutofit/>
          </a:bodyPr>
          <a:lstStyle/>
          <a:p>
            <a:pPr marL="0" indent="0">
              <a:buNone/>
            </a:pPr>
            <a:endParaRPr lang="en-US" dirty="0"/>
          </a:p>
          <a:p>
            <a:pPr marL="0" indent="0">
              <a:buNone/>
            </a:pPr>
            <a:r>
              <a:rPr lang="en-US" b="1" dirty="0"/>
              <a:t>Sol:- </a:t>
            </a:r>
            <a:r>
              <a:rPr lang="en-US" dirty="0"/>
              <a:t> </a:t>
            </a:r>
            <a:r>
              <a:rPr lang="en-US" altLang="en-US" sz="2800" dirty="0"/>
              <a:t>G</a:t>
            </a:r>
            <a:r>
              <a:rPr lang="en-US" altLang="en-US" sz="2800" baseline="-25000" dirty="0"/>
              <a:t>2</a:t>
            </a:r>
            <a:r>
              <a:rPr lang="en-US" altLang="en-US" sz="2800" dirty="0"/>
              <a:t> does not have a Hamilton circuit, but does have a Hamilton path: a, b, c, d  </a:t>
            </a:r>
          </a:p>
          <a:p>
            <a:pPr marL="0" indent="0">
              <a:buNone/>
            </a:pPr>
            <a:endParaRPr lang="en-IN" dirty="0"/>
          </a:p>
        </p:txBody>
      </p:sp>
      <p:sp>
        <p:nvSpPr>
          <p:cNvPr id="6" name="Rectangle 5">
            <a:extLst>
              <a:ext uri="{FF2B5EF4-FFF2-40B4-BE49-F238E27FC236}">
                <a16:creationId xmlns:a16="http://schemas.microsoft.com/office/drawing/2014/main" id="{4A9B51B1-47E9-430F-8A63-E96F836A2114}"/>
              </a:ext>
            </a:extLst>
          </p:cNvPr>
          <p:cNvSpPr/>
          <p:nvPr/>
        </p:nvSpPr>
        <p:spPr>
          <a:xfrm>
            <a:off x="2309190" y="2910510"/>
            <a:ext cx="1020419" cy="5284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8" name="Picture 3" descr="09_5_10">
            <a:extLst>
              <a:ext uri="{FF2B5EF4-FFF2-40B4-BE49-F238E27FC236}">
                <a16:creationId xmlns:a16="http://schemas.microsoft.com/office/drawing/2014/main" id="{75A7A74B-72D7-42C4-AE66-D7E5F973DEB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6203" t="13163" r="54581" b="8534"/>
          <a:stretch/>
        </p:blipFill>
        <p:spPr>
          <a:xfrm>
            <a:off x="3061252" y="1352836"/>
            <a:ext cx="2355576" cy="3312083"/>
          </a:xfrm>
          <a:prstGeom prst="rect">
            <a:avLst/>
          </a:prstGeom>
          <a:noFill/>
        </p:spPr>
      </p:pic>
      <p:sp>
        <p:nvSpPr>
          <p:cNvPr id="7" name="Rectangle 6">
            <a:extLst>
              <a:ext uri="{FF2B5EF4-FFF2-40B4-BE49-F238E27FC236}">
                <a16:creationId xmlns:a16="http://schemas.microsoft.com/office/drawing/2014/main" id="{3C5438CB-C128-4DC2-81D6-B3EC381B76EB}"/>
              </a:ext>
            </a:extLst>
          </p:cNvPr>
          <p:cNvSpPr/>
          <p:nvPr/>
        </p:nvSpPr>
        <p:spPr>
          <a:xfrm>
            <a:off x="3935795" y="4083599"/>
            <a:ext cx="606490" cy="7254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800" dirty="0">
                <a:solidFill>
                  <a:schemeClr val="tx1"/>
                </a:solidFill>
              </a:rPr>
              <a:t>G2</a:t>
            </a:r>
          </a:p>
        </p:txBody>
      </p:sp>
    </p:spTree>
    <p:extLst>
      <p:ext uri="{BB962C8B-B14F-4D97-AF65-F5344CB8AC3E}">
        <p14:creationId xmlns:p14="http://schemas.microsoft.com/office/powerpoint/2010/main" val="776287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7F013-7233-43C8-A219-CCE9F2C40032}"/>
              </a:ext>
            </a:extLst>
          </p:cNvPr>
          <p:cNvSpPr>
            <a:spLocks noGrp="1"/>
          </p:cNvSpPr>
          <p:nvPr>
            <p:ph type="title"/>
          </p:nvPr>
        </p:nvSpPr>
        <p:spPr/>
        <p:txBody>
          <a:bodyPr/>
          <a:lstStyle/>
          <a:p>
            <a:r>
              <a:rPr lang="en-US" dirty="0"/>
              <a:t>Hamilton Circuit</a:t>
            </a:r>
            <a:endParaRPr lang="en-IN" dirty="0"/>
          </a:p>
        </p:txBody>
      </p:sp>
      <p:sp>
        <p:nvSpPr>
          <p:cNvPr id="3" name="Content Placeholder 2">
            <a:extLst>
              <a:ext uri="{FF2B5EF4-FFF2-40B4-BE49-F238E27FC236}">
                <a16:creationId xmlns:a16="http://schemas.microsoft.com/office/drawing/2014/main" id="{849D538C-266E-451C-AB57-CCC7EAA355D5}"/>
              </a:ext>
            </a:extLst>
          </p:cNvPr>
          <p:cNvSpPr>
            <a:spLocks noGrp="1"/>
          </p:cNvSpPr>
          <p:nvPr>
            <p:ph idx="1"/>
          </p:nvPr>
        </p:nvSpPr>
        <p:spPr>
          <a:xfrm>
            <a:off x="393290" y="4631634"/>
            <a:ext cx="8504904" cy="1955979"/>
          </a:xfrm>
        </p:spPr>
        <p:txBody>
          <a:bodyPr>
            <a:normAutofit/>
          </a:bodyPr>
          <a:lstStyle/>
          <a:p>
            <a:pPr marL="0" indent="0">
              <a:buNone/>
            </a:pPr>
            <a:endParaRPr lang="en-US" dirty="0"/>
          </a:p>
          <a:p>
            <a:pPr marL="0" indent="0">
              <a:buNone/>
            </a:pPr>
            <a:r>
              <a:rPr lang="en-US" b="1" dirty="0"/>
              <a:t>Sol:- </a:t>
            </a:r>
            <a:r>
              <a:rPr lang="en-US" dirty="0"/>
              <a:t> </a:t>
            </a:r>
            <a:r>
              <a:rPr lang="en-US" altLang="en-US" sz="2800" dirty="0"/>
              <a:t>G</a:t>
            </a:r>
            <a:r>
              <a:rPr lang="en-US" altLang="en-US" sz="2800" baseline="-25000" dirty="0"/>
              <a:t>3</a:t>
            </a:r>
            <a:r>
              <a:rPr lang="en-US" altLang="en-US" sz="2800" dirty="0"/>
              <a:t> has neither.</a:t>
            </a:r>
          </a:p>
          <a:p>
            <a:pPr marL="0" indent="0">
              <a:buNone/>
            </a:pPr>
            <a:endParaRPr lang="en-US" altLang="en-US" sz="2800" dirty="0"/>
          </a:p>
          <a:p>
            <a:pPr marL="0" indent="0">
              <a:buNone/>
            </a:pPr>
            <a:endParaRPr lang="en-IN" dirty="0"/>
          </a:p>
        </p:txBody>
      </p:sp>
      <p:sp>
        <p:nvSpPr>
          <p:cNvPr id="6" name="Rectangle 5">
            <a:extLst>
              <a:ext uri="{FF2B5EF4-FFF2-40B4-BE49-F238E27FC236}">
                <a16:creationId xmlns:a16="http://schemas.microsoft.com/office/drawing/2014/main" id="{4A9B51B1-47E9-430F-8A63-E96F836A2114}"/>
              </a:ext>
            </a:extLst>
          </p:cNvPr>
          <p:cNvSpPr/>
          <p:nvPr/>
        </p:nvSpPr>
        <p:spPr>
          <a:xfrm>
            <a:off x="2309190" y="2910510"/>
            <a:ext cx="1020419" cy="5284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3" descr="09_5_10">
            <a:extLst>
              <a:ext uri="{FF2B5EF4-FFF2-40B4-BE49-F238E27FC236}">
                <a16:creationId xmlns:a16="http://schemas.microsoft.com/office/drawing/2014/main" id="{2515ED61-23CA-4419-A1D6-C55F84CF7BF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0000" t="7763"/>
          <a:stretch/>
        </p:blipFill>
        <p:spPr>
          <a:xfrm>
            <a:off x="917712" y="1388096"/>
            <a:ext cx="6725480" cy="4280990"/>
          </a:xfrm>
          <a:prstGeom prst="rect">
            <a:avLst/>
          </a:prstGeom>
          <a:noFill/>
        </p:spPr>
      </p:pic>
      <p:sp>
        <p:nvSpPr>
          <p:cNvPr id="8" name="Rectangle 7">
            <a:extLst>
              <a:ext uri="{FF2B5EF4-FFF2-40B4-BE49-F238E27FC236}">
                <a16:creationId xmlns:a16="http://schemas.microsoft.com/office/drawing/2014/main" id="{A3AEE540-8E69-42D2-BE6D-EABFFC75B465}"/>
              </a:ext>
            </a:extLst>
          </p:cNvPr>
          <p:cNvSpPr/>
          <p:nvPr/>
        </p:nvSpPr>
        <p:spPr>
          <a:xfrm>
            <a:off x="4189444" y="4631634"/>
            <a:ext cx="606490" cy="7254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800" dirty="0">
                <a:solidFill>
                  <a:schemeClr val="tx1"/>
                </a:solidFill>
              </a:rPr>
              <a:t>G3</a:t>
            </a:r>
          </a:p>
        </p:txBody>
      </p:sp>
    </p:spTree>
    <p:extLst>
      <p:ext uri="{BB962C8B-B14F-4D97-AF65-F5344CB8AC3E}">
        <p14:creationId xmlns:p14="http://schemas.microsoft.com/office/powerpoint/2010/main" val="3341754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7F013-7233-43C8-A219-CCE9F2C40032}"/>
              </a:ext>
            </a:extLst>
          </p:cNvPr>
          <p:cNvSpPr>
            <a:spLocks noGrp="1"/>
          </p:cNvSpPr>
          <p:nvPr>
            <p:ph type="title"/>
          </p:nvPr>
        </p:nvSpPr>
        <p:spPr/>
        <p:txBody>
          <a:bodyPr/>
          <a:lstStyle/>
          <a:p>
            <a:r>
              <a:rPr lang="en-US" dirty="0"/>
              <a:t>Hamilton Circuit</a:t>
            </a:r>
            <a:endParaRPr lang="en-IN" dirty="0"/>
          </a:p>
        </p:txBody>
      </p:sp>
      <p:sp>
        <p:nvSpPr>
          <p:cNvPr id="3" name="Content Placeholder 2">
            <a:extLst>
              <a:ext uri="{FF2B5EF4-FFF2-40B4-BE49-F238E27FC236}">
                <a16:creationId xmlns:a16="http://schemas.microsoft.com/office/drawing/2014/main" id="{849D538C-266E-451C-AB57-CCC7EAA355D5}"/>
              </a:ext>
            </a:extLst>
          </p:cNvPr>
          <p:cNvSpPr>
            <a:spLocks noGrp="1"/>
          </p:cNvSpPr>
          <p:nvPr>
            <p:ph idx="1"/>
          </p:nvPr>
        </p:nvSpPr>
        <p:spPr>
          <a:xfrm>
            <a:off x="393290" y="4631634"/>
            <a:ext cx="8504904" cy="1955979"/>
          </a:xfrm>
        </p:spPr>
        <p:txBody>
          <a:bodyPr>
            <a:normAutofit/>
          </a:bodyPr>
          <a:lstStyle/>
          <a:p>
            <a:pPr marL="0" indent="0">
              <a:buNone/>
            </a:pPr>
            <a:endParaRPr lang="en-US" dirty="0"/>
          </a:p>
          <a:p>
            <a:pPr eaLnBrk="1" hangingPunct="1">
              <a:lnSpc>
                <a:spcPct val="80000"/>
              </a:lnSpc>
              <a:buFontTx/>
              <a:buNone/>
            </a:pPr>
            <a:r>
              <a:rPr lang="en-US" altLang="en-US" sz="2800" b="1" dirty="0">
                <a:latin typeface="Times New Roman" panose="02020603050405020304" pitchFamily="18" charset="0"/>
              </a:rPr>
              <a:t>Ques:- </a:t>
            </a:r>
            <a:r>
              <a:rPr lang="en-US" altLang="en-US" sz="2800" dirty="0">
                <a:latin typeface="Times New Roman" panose="02020603050405020304" pitchFamily="18" charset="0"/>
              </a:rPr>
              <a:t>Is there a circuit in this graph that passes through each vertex exactly once?</a:t>
            </a:r>
          </a:p>
          <a:p>
            <a:pPr marL="0" indent="0">
              <a:buNone/>
            </a:pPr>
            <a:endParaRPr lang="en-US" altLang="en-US" sz="2800" dirty="0"/>
          </a:p>
          <a:p>
            <a:pPr marL="0" indent="0">
              <a:buNone/>
            </a:pPr>
            <a:endParaRPr lang="en-IN" dirty="0"/>
          </a:p>
        </p:txBody>
      </p:sp>
      <p:sp>
        <p:nvSpPr>
          <p:cNvPr id="6" name="Rectangle 5">
            <a:extLst>
              <a:ext uri="{FF2B5EF4-FFF2-40B4-BE49-F238E27FC236}">
                <a16:creationId xmlns:a16="http://schemas.microsoft.com/office/drawing/2014/main" id="{4A9B51B1-47E9-430F-8A63-E96F836A2114}"/>
              </a:ext>
            </a:extLst>
          </p:cNvPr>
          <p:cNvSpPr/>
          <p:nvPr/>
        </p:nvSpPr>
        <p:spPr>
          <a:xfrm>
            <a:off x="2309190" y="2910510"/>
            <a:ext cx="1020419" cy="5284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8" name="Picture 7">
            <a:extLst>
              <a:ext uri="{FF2B5EF4-FFF2-40B4-BE49-F238E27FC236}">
                <a16:creationId xmlns:a16="http://schemas.microsoft.com/office/drawing/2014/main" id="{9136428D-FD03-4AD2-BDF4-2001AE3EB5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2662" y="1369917"/>
            <a:ext cx="7178675"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9" name="Text Box 9">
            <a:extLst>
              <a:ext uri="{FF2B5EF4-FFF2-40B4-BE49-F238E27FC236}">
                <a16:creationId xmlns:a16="http://schemas.microsoft.com/office/drawing/2014/main" id="{E922098F-23A8-4A48-97B8-1407A8865BEF}"/>
              </a:ext>
            </a:extLst>
          </p:cNvPr>
          <p:cNvSpPr txBox="1">
            <a:spLocks noChangeArrowheads="1"/>
          </p:cNvSpPr>
          <p:nvPr/>
        </p:nvSpPr>
        <p:spPr bwMode="auto">
          <a:xfrm>
            <a:off x="1727917" y="4487752"/>
            <a:ext cx="648126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2400" dirty="0">
                <a:latin typeface="+mn-lt"/>
              </a:rPr>
              <a:t>Dodecahedron puzzle  and it equivalent graph</a:t>
            </a:r>
          </a:p>
        </p:txBody>
      </p:sp>
    </p:spTree>
    <p:extLst>
      <p:ext uri="{BB962C8B-B14F-4D97-AF65-F5344CB8AC3E}">
        <p14:creationId xmlns:p14="http://schemas.microsoft.com/office/powerpoint/2010/main" val="3954639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7F013-7233-43C8-A219-CCE9F2C40032}"/>
              </a:ext>
            </a:extLst>
          </p:cNvPr>
          <p:cNvSpPr>
            <a:spLocks noGrp="1"/>
          </p:cNvSpPr>
          <p:nvPr>
            <p:ph type="title"/>
          </p:nvPr>
        </p:nvSpPr>
        <p:spPr/>
        <p:txBody>
          <a:bodyPr/>
          <a:lstStyle/>
          <a:p>
            <a:r>
              <a:rPr lang="en-US" dirty="0"/>
              <a:t>Hamilton Circuit</a:t>
            </a:r>
            <a:endParaRPr lang="en-IN" dirty="0"/>
          </a:p>
        </p:txBody>
      </p:sp>
      <p:sp>
        <p:nvSpPr>
          <p:cNvPr id="3" name="Content Placeholder 2">
            <a:extLst>
              <a:ext uri="{FF2B5EF4-FFF2-40B4-BE49-F238E27FC236}">
                <a16:creationId xmlns:a16="http://schemas.microsoft.com/office/drawing/2014/main" id="{849D538C-266E-451C-AB57-CCC7EAA355D5}"/>
              </a:ext>
            </a:extLst>
          </p:cNvPr>
          <p:cNvSpPr>
            <a:spLocks noGrp="1"/>
          </p:cNvSpPr>
          <p:nvPr>
            <p:ph idx="1"/>
          </p:nvPr>
        </p:nvSpPr>
        <p:spPr>
          <a:xfrm>
            <a:off x="393290" y="4631634"/>
            <a:ext cx="8504904" cy="1955979"/>
          </a:xfrm>
        </p:spPr>
        <p:txBody>
          <a:bodyPr>
            <a:normAutofit/>
          </a:bodyPr>
          <a:lstStyle/>
          <a:p>
            <a:pPr marL="0" indent="0">
              <a:buNone/>
            </a:pPr>
            <a:endParaRPr lang="en-US" dirty="0"/>
          </a:p>
          <a:p>
            <a:pPr eaLnBrk="1" hangingPunct="1">
              <a:lnSpc>
                <a:spcPct val="80000"/>
              </a:lnSpc>
              <a:buFontTx/>
              <a:buNone/>
            </a:pPr>
            <a:r>
              <a:rPr lang="en-US" altLang="en-US" sz="2800" b="1" dirty="0">
                <a:latin typeface="Times New Roman" panose="02020603050405020304" pitchFamily="18" charset="0"/>
              </a:rPr>
              <a:t>Ques:- </a:t>
            </a:r>
            <a:r>
              <a:rPr lang="en-US" altLang="en-US" sz="2800" dirty="0">
                <a:latin typeface="Times New Roman" panose="02020603050405020304" pitchFamily="18" charset="0"/>
              </a:rPr>
              <a:t>Is there a circuit in this graph that passes through each vertex exactly once?</a:t>
            </a:r>
          </a:p>
          <a:p>
            <a:pPr marL="0" indent="0">
              <a:buNone/>
            </a:pPr>
            <a:endParaRPr lang="en-US" altLang="en-US" sz="2800" dirty="0"/>
          </a:p>
          <a:p>
            <a:pPr marL="0" indent="0">
              <a:buNone/>
            </a:pPr>
            <a:endParaRPr lang="en-IN" dirty="0"/>
          </a:p>
        </p:txBody>
      </p:sp>
      <p:sp>
        <p:nvSpPr>
          <p:cNvPr id="6" name="Rectangle 5">
            <a:extLst>
              <a:ext uri="{FF2B5EF4-FFF2-40B4-BE49-F238E27FC236}">
                <a16:creationId xmlns:a16="http://schemas.microsoft.com/office/drawing/2014/main" id="{4A9B51B1-47E9-430F-8A63-E96F836A2114}"/>
              </a:ext>
            </a:extLst>
          </p:cNvPr>
          <p:cNvSpPr/>
          <p:nvPr/>
        </p:nvSpPr>
        <p:spPr>
          <a:xfrm>
            <a:off x="2309190" y="2910510"/>
            <a:ext cx="1020419" cy="5284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4" descr="http://upload.wikimedia.org/wikipedia/commons/7/73/Dodecahedron.gif">
            <a:hlinkClick r:id="rId2"/>
            <a:extLst>
              <a:ext uri="{FF2B5EF4-FFF2-40B4-BE49-F238E27FC236}">
                <a16:creationId xmlns:a16="http://schemas.microsoft.com/office/drawing/2014/main" id="{DCA545DE-CC70-4FFE-838A-6BF891E72E8A}"/>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2309190" y="1080001"/>
            <a:ext cx="4495800" cy="3283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6">
            <a:extLst>
              <a:ext uri="{FF2B5EF4-FFF2-40B4-BE49-F238E27FC236}">
                <a16:creationId xmlns:a16="http://schemas.microsoft.com/office/drawing/2014/main" id="{623C2C16-359D-47D1-8235-F9DD184D66AD}"/>
              </a:ext>
            </a:extLst>
          </p:cNvPr>
          <p:cNvSpPr>
            <a:spLocks noChangeArrowheads="1"/>
          </p:cNvSpPr>
          <p:nvPr/>
        </p:nvSpPr>
        <p:spPr bwMode="auto">
          <a:xfrm>
            <a:off x="868903" y="4631634"/>
            <a:ext cx="740619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2400" dirty="0">
                <a:latin typeface="+mn-lt"/>
              </a:rPr>
              <a:t>Dodecahedron is a polyhedron with twelve flat faces</a:t>
            </a:r>
          </a:p>
        </p:txBody>
      </p:sp>
    </p:spTree>
    <p:extLst>
      <p:ext uri="{BB962C8B-B14F-4D97-AF65-F5344CB8AC3E}">
        <p14:creationId xmlns:p14="http://schemas.microsoft.com/office/powerpoint/2010/main" val="3822929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7F013-7233-43C8-A219-CCE9F2C40032}"/>
              </a:ext>
            </a:extLst>
          </p:cNvPr>
          <p:cNvSpPr>
            <a:spLocks noGrp="1"/>
          </p:cNvSpPr>
          <p:nvPr>
            <p:ph type="title"/>
          </p:nvPr>
        </p:nvSpPr>
        <p:spPr/>
        <p:txBody>
          <a:bodyPr/>
          <a:lstStyle/>
          <a:p>
            <a:r>
              <a:rPr lang="en-US" dirty="0"/>
              <a:t>Hamilton Paths and Circuits</a:t>
            </a:r>
            <a:endParaRPr lang="en-IN" dirty="0"/>
          </a:p>
        </p:txBody>
      </p:sp>
      <p:sp>
        <p:nvSpPr>
          <p:cNvPr id="5" name="Rectangle 3">
            <a:extLst>
              <a:ext uri="{FF2B5EF4-FFF2-40B4-BE49-F238E27FC236}">
                <a16:creationId xmlns:a16="http://schemas.microsoft.com/office/drawing/2014/main" id="{B75897AE-49F1-4E07-854E-4C892D7ECC4B}"/>
              </a:ext>
            </a:extLst>
          </p:cNvPr>
          <p:cNvSpPr txBox="1">
            <a:spLocks noChangeArrowheads="1"/>
          </p:cNvSpPr>
          <p:nvPr/>
        </p:nvSpPr>
        <p:spPr>
          <a:xfrm>
            <a:off x="420758" y="5272208"/>
            <a:ext cx="8153400" cy="762000"/>
          </a:xfrm>
          <a:prstGeom prst="rect">
            <a:avLst/>
          </a:prstGeom>
        </p:spPr>
        <p:txBody>
          <a:bodyPr vert="horz" lIns="91440" tIns="45720" rIns="91440" bIns="45720" rtlCol="0">
            <a:noAutofit/>
          </a:bodyPr>
          <a:lstStyle>
            <a:lvl1pPr marL="228600" indent="-228600" algn="just" defTabSz="914400" rtl="0" eaLnBrk="1" latinLnBrk="0" hangingPunct="1">
              <a:lnSpc>
                <a:spcPct val="150000"/>
              </a:lnSpc>
              <a:spcBef>
                <a:spcPts val="1000"/>
              </a:spcBef>
              <a:buClr>
                <a:srgbClr val="00A2B8"/>
              </a:buClr>
              <a:buFont typeface="Arial" panose="020B0604020202020204" pitchFamily="34" charset="0"/>
              <a:buChar char="•"/>
              <a:defRPr sz="2800" kern="1200">
                <a:solidFill>
                  <a:schemeClr val="tx1"/>
                </a:solidFill>
                <a:latin typeface="+mn-lt"/>
                <a:ea typeface="+mn-ea"/>
                <a:cs typeface="+mn-cs"/>
              </a:defRPr>
            </a:lvl1pPr>
            <a:lvl2pPr marL="685800" indent="-228600" algn="just" defTabSz="914400" rtl="0" eaLnBrk="1" latinLnBrk="0" hangingPunct="1">
              <a:lnSpc>
                <a:spcPct val="150000"/>
              </a:lnSpc>
              <a:spcBef>
                <a:spcPts val="500"/>
              </a:spcBef>
              <a:buClr>
                <a:srgbClr val="00A2B8"/>
              </a:buClr>
              <a:buFont typeface="Arial" panose="020B0604020202020204" pitchFamily="34" charset="0"/>
              <a:buChar char="•"/>
              <a:defRPr sz="2400" kern="1200">
                <a:solidFill>
                  <a:schemeClr val="tx1"/>
                </a:solidFill>
                <a:latin typeface="+mn-lt"/>
                <a:ea typeface="+mn-ea"/>
                <a:cs typeface="+mn-cs"/>
              </a:defRPr>
            </a:lvl2pPr>
            <a:lvl3pPr marL="1143000" indent="-228600" algn="just" defTabSz="914400" rtl="0" eaLnBrk="1" latinLnBrk="0" hangingPunct="1">
              <a:lnSpc>
                <a:spcPct val="150000"/>
              </a:lnSpc>
              <a:spcBef>
                <a:spcPts val="500"/>
              </a:spcBef>
              <a:buClr>
                <a:srgbClr val="00A2B8"/>
              </a:buClr>
              <a:buFont typeface="Arial" panose="020B0604020202020204" pitchFamily="34" charset="0"/>
              <a:buChar char="•"/>
              <a:defRPr sz="2000" kern="1200">
                <a:solidFill>
                  <a:schemeClr val="tx1"/>
                </a:solidFill>
                <a:latin typeface="+mn-lt"/>
                <a:ea typeface="+mn-ea"/>
                <a:cs typeface="+mn-cs"/>
              </a:defRPr>
            </a:lvl3pPr>
            <a:lvl4pPr marL="1600200" indent="-228600" algn="just" defTabSz="914400" rtl="0" eaLnBrk="1" latinLnBrk="0" hangingPunct="1">
              <a:lnSpc>
                <a:spcPct val="150000"/>
              </a:lnSpc>
              <a:spcBef>
                <a:spcPts val="500"/>
              </a:spcBef>
              <a:buClr>
                <a:srgbClr val="00A2B8"/>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150000"/>
              </a:lnSpc>
              <a:spcBef>
                <a:spcPts val="500"/>
              </a:spcBef>
              <a:buClr>
                <a:srgbClr val="00A2B8"/>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60000"/>
              </a:lnSpc>
              <a:buNone/>
            </a:pPr>
            <a:r>
              <a:rPr lang="en-US" altLang="en-US" sz="2400" dirty="0"/>
              <a:t>Yes; this is a circuit that passes through each vertex exactly once.</a:t>
            </a:r>
          </a:p>
        </p:txBody>
      </p:sp>
      <p:pic>
        <p:nvPicPr>
          <p:cNvPr id="6" name="Picture 6">
            <a:extLst>
              <a:ext uri="{FF2B5EF4-FFF2-40B4-BE49-F238E27FC236}">
                <a16:creationId xmlns:a16="http://schemas.microsoft.com/office/drawing/2014/main" id="{C00F6E10-7C87-4DDA-B399-09E2039559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43056" t="25926" r="31944" b="57407"/>
          <a:stretch>
            <a:fillRect/>
          </a:stretch>
        </p:blipFill>
        <p:spPr bwMode="auto">
          <a:xfrm>
            <a:off x="420758" y="1494942"/>
            <a:ext cx="6477000" cy="336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descr="09_5_09">
            <a:extLst>
              <a:ext uri="{FF2B5EF4-FFF2-40B4-BE49-F238E27FC236}">
                <a16:creationId xmlns:a16="http://schemas.microsoft.com/office/drawing/2014/main" id="{09F998D0-77CF-4D95-ADE9-0B9A0144D82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9375"/>
          <a:stretch/>
        </p:blipFill>
        <p:spPr>
          <a:xfrm>
            <a:off x="3819941" y="1702905"/>
            <a:ext cx="4800600" cy="3154362"/>
          </a:xfrm>
          <a:prstGeom prst="rect">
            <a:avLst/>
          </a:prstGeom>
          <a:noFill/>
        </p:spPr>
      </p:pic>
    </p:spTree>
    <p:extLst>
      <p:ext uri="{BB962C8B-B14F-4D97-AF65-F5344CB8AC3E}">
        <p14:creationId xmlns:p14="http://schemas.microsoft.com/office/powerpoint/2010/main" val="889798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7F013-7233-43C8-A219-CCE9F2C40032}"/>
              </a:ext>
            </a:extLst>
          </p:cNvPr>
          <p:cNvSpPr>
            <a:spLocks noGrp="1"/>
          </p:cNvSpPr>
          <p:nvPr>
            <p:ph type="title"/>
          </p:nvPr>
        </p:nvSpPr>
        <p:spPr/>
        <p:txBody>
          <a:bodyPr/>
          <a:lstStyle/>
          <a:p>
            <a:r>
              <a:rPr lang="en-US" dirty="0"/>
              <a:t>Properties to look for ...</a:t>
            </a:r>
            <a:endParaRPr lang="en-IN" dirty="0"/>
          </a:p>
        </p:txBody>
      </p:sp>
      <p:sp>
        <p:nvSpPr>
          <p:cNvPr id="3" name="Content Placeholder 2">
            <a:extLst>
              <a:ext uri="{FF2B5EF4-FFF2-40B4-BE49-F238E27FC236}">
                <a16:creationId xmlns:a16="http://schemas.microsoft.com/office/drawing/2014/main" id="{849D538C-266E-451C-AB57-CCC7EAA355D5}"/>
              </a:ext>
            </a:extLst>
          </p:cNvPr>
          <p:cNvSpPr>
            <a:spLocks noGrp="1"/>
          </p:cNvSpPr>
          <p:nvPr>
            <p:ph idx="1"/>
          </p:nvPr>
        </p:nvSpPr>
        <p:spPr/>
        <p:txBody>
          <a:bodyPr/>
          <a:lstStyle/>
          <a:p>
            <a:pPr marL="0" indent="0">
              <a:buNone/>
            </a:pPr>
            <a:r>
              <a:rPr lang="en-US" dirty="0"/>
              <a:t>No vertex of degree 1</a:t>
            </a:r>
          </a:p>
          <a:p>
            <a:pPr marL="0" indent="0">
              <a:buNone/>
            </a:pPr>
            <a:r>
              <a:rPr lang="en-US" dirty="0"/>
              <a:t>If a node has degree 2, then both edges incident to it must be in any Hamilton circuit.</a:t>
            </a:r>
          </a:p>
          <a:p>
            <a:pPr marL="0" indent="0">
              <a:buNone/>
            </a:pPr>
            <a:r>
              <a:rPr lang="en-US" dirty="0"/>
              <a:t>No smaller circuits contained in any Hamilton circuit (the start/endpoint of any smaller circuit would have to be visited twice).</a:t>
            </a:r>
          </a:p>
          <a:p>
            <a:pPr marL="0" indent="0">
              <a:buNone/>
            </a:pPr>
            <a:endParaRPr lang="en-US" dirty="0"/>
          </a:p>
        </p:txBody>
      </p:sp>
    </p:spTree>
    <p:extLst>
      <p:ext uri="{BB962C8B-B14F-4D97-AF65-F5344CB8AC3E}">
        <p14:creationId xmlns:p14="http://schemas.microsoft.com/office/powerpoint/2010/main" val="16829722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7F013-7233-43C8-A219-CCE9F2C40032}"/>
              </a:ext>
            </a:extLst>
          </p:cNvPr>
          <p:cNvSpPr>
            <a:spLocks noGrp="1"/>
          </p:cNvSpPr>
          <p:nvPr>
            <p:ph type="title"/>
          </p:nvPr>
        </p:nvSpPr>
        <p:spPr/>
        <p:txBody>
          <a:bodyPr/>
          <a:lstStyle/>
          <a:p>
            <a:r>
              <a:rPr lang="en-US" dirty="0"/>
              <a:t>Hamilton Circuit</a:t>
            </a:r>
            <a:endParaRPr lang="en-IN" dirty="0"/>
          </a:p>
        </p:txBody>
      </p:sp>
      <p:sp>
        <p:nvSpPr>
          <p:cNvPr id="3" name="Content Placeholder 2">
            <a:extLst>
              <a:ext uri="{FF2B5EF4-FFF2-40B4-BE49-F238E27FC236}">
                <a16:creationId xmlns:a16="http://schemas.microsoft.com/office/drawing/2014/main" id="{849D538C-266E-451C-AB57-CCC7EAA355D5}"/>
              </a:ext>
            </a:extLst>
          </p:cNvPr>
          <p:cNvSpPr>
            <a:spLocks noGrp="1"/>
          </p:cNvSpPr>
          <p:nvPr>
            <p:ph idx="1"/>
          </p:nvPr>
        </p:nvSpPr>
        <p:spPr>
          <a:xfrm>
            <a:off x="393290" y="4425040"/>
            <a:ext cx="8504904" cy="2162574"/>
          </a:xfrm>
        </p:spPr>
        <p:txBody>
          <a:bodyPr>
            <a:normAutofit/>
          </a:bodyPr>
          <a:lstStyle/>
          <a:p>
            <a:pPr marL="0" indent="0">
              <a:buNone/>
            </a:pPr>
            <a:endParaRPr lang="en-US" dirty="0"/>
          </a:p>
          <a:p>
            <a:pPr marL="0" indent="0">
              <a:buNone/>
            </a:pPr>
            <a:r>
              <a:rPr lang="en-US" b="1" dirty="0"/>
              <a:t>Sol:- </a:t>
            </a:r>
            <a:r>
              <a:rPr lang="en-US" dirty="0"/>
              <a:t> </a:t>
            </a:r>
            <a:r>
              <a:rPr lang="en-US" altLang="en-US" sz="2800" dirty="0"/>
              <a:t>There is no Hamilton circuit in G because G has a vertex of degree one: e.</a:t>
            </a:r>
          </a:p>
          <a:p>
            <a:pPr marL="0" indent="0">
              <a:buNone/>
            </a:pPr>
            <a:endParaRPr lang="en-US" altLang="en-US" sz="2800" dirty="0"/>
          </a:p>
          <a:p>
            <a:pPr marL="0" indent="0">
              <a:buNone/>
            </a:pPr>
            <a:endParaRPr lang="en-IN" dirty="0"/>
          </a:p>
        </p:txBody>
      </p:sp>
      <p:pic>
        <p:nvPicPr>
          <p:cNvPr id="8" name="Picture 2">
            <a:extLst>
              <a:ext uri="{FF2B5EF4-FFF2-40B4-BE49-F238E27FC236}">
                <a16:creationId xmlns:a16="http://schemas.microsoft.com/office/drawing/2014/main" id="{16BD1744-CEAD-42C5-9F08-3C734193BB9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53880" b="10937"/>
          <a:stretch/>
        </p:blipFill>
        <p:spPr bwMode="auto">
          <a:xfrm>
            <a:off x="2297713" y="1293450"/>
            <a:ext cx="4417943" cy="37077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23" name="TextBox 22">
            <a:extLst>
              <a:ext uri="{FF2B5EF4-FFF2-40B4-BE49-F238E27FC236}">
                <a16:creationId xmlns:a16="http://schemas.microsoft.com/office/drawing/2014/main" id="{2BE74414-2CBA-499E-AD26-4346D6C3B403}"/>
              </a:ext>
            </a:extLst>
          </p:cNvPr>
          <p:cNvSpPr txBox="1"/>
          <p:nvPr/>
        </p:nvSpPr>
        <p:spPr>
          <a:xfrm>
            <a:off x="3881536" y="4425040"/>
            <a:ext cx="548122" cy="523220"/>
          </a:xfrm>
          <a:prstGeom prst="rect">
            <a:avLst/>
          </a:prstGeom>
          <a:solidFill>
            <a:schemeClr val="bg1"/>
          </a:solidFill>
        </p:spPr>
        <p:txBody>
          <a:bodyPr wrap="square" rtlCol="0">
            <a:spAutoFit/>
          </a:bodyPr>
          <a:lstStyle/>
          <a:p>
            <a:r>
              <a:rPr lang="en-IN" sz="2800" dirty="0"/>
              <a:t>G</a:t>
            </a:r>
            <a:endParaRPr lang="en-IN" dirty="0"/>
          </a:p>
        </p:txBody>
      </p:sp>
      <p:sp>
        <p:nvSpPr>
          <p:cNvPr id="24" name="TextBox 23">
            <a:extLst>
              <a:ext uri="{FF2B5EF4-FFF2-40B4-BE49-F238E27FC236}">
                <a16:creationId xmlns:a16="http://schemas.microsoft.com/office/drawing/2014/main" id="{141E7BD7-0573-44E0-B59B-AA205053C04A}"/>
              </a:ext>
            </a:extLst>
          </p:cNvPr>
          <p:cNvSpPr txBox="1"/>
          <p:nvPr/>
        </p:nvSpPr>
        <p:spPr>
          <a:xfrm>
            <a:off x="2372358" y="1163007"/>
            <a:ext cx="417495" cy="523220"/>
          </a:xfrm>
          <a:prstGeom prst="rect">
            <a:avLst/>
          </a:prstGeom>
          <a:solidFill>
            <a:schemeClr val="bg1"/>
          </a:solidFill>
        </p:spPr>
        <p:txBody>
          <a:bodyPr wrap="square" rtlCol="0">
            <a:spAutoFit/>
          </a:bodyPr>
          <a:lstStyle/>
          <a:p>
            <a:r>
              <a:rPr lang="en-IN" sz="2800" dirty="0"/>
              <a:t>a</a:t>
            </a:r>
            <a:endParaRPr lang="en-IN" dirty="0"/>
          </a:p>
        </p:txBody>
      </p:sp>
      <p:sp>
        <p:nvSpPr>
          <p:cNvPr id="25" name="TextBox 24">
            <a:extLst>
              <a:ext uri="{FF2B5EF4-FFF2-40B4-BE49-F238E27FC236}">
                <a16:creationId xmlns:a16="http://schemas.microsoft.com/office/drawing/2014/main" id="{8CC6516E-DBF2-460D-85B5-8312A78F31E3}"/>
              </a:ext>
            </a:extLst>
          </p:cNvPr>
          <p:cNvSpPr txBox="1"/>
          <p:nvPr/>
        </p:nvSpPr>
        <p:spPr>
          <a:xfrm>
            <a:off x="4018019" y="1163007"/>
            <a:ext cx="417495" cy="523220"/>
          </a:xfrm>
          <a:prstGeom prst="rect">
            <a:avLst/>
          </a:prstGeom>
          <a:solidFill>
            <a:schemeClr val="bg1"/>
          </a:solidFill>
        </p:spPr>
        <p:txBody>
          <a:bodyPr wrap="square" rtlCol="0">
            <a:spAutoFit/>
          </a:bodyPr>
          <a:lstStyle/>
          <a:p>
            <a:r>
              <a:rPr lang="en-IN" sz="2800" dirty="0"/>
              <a:t>b</a:t>
            </a:r>
            <a:endParaRPr lang="en-IN" dirty="0"/>
          </a:p>
        </p:txBody>
      </p:sp>
      <p:sp>
        <p:nvSpPr>
          <p:cNvPr id="26" name="TextBox 25">
            <a:extLst>
              <a:ext uri="{FF2B5EF4-FFF2-40B4-BE49-F238E27FC236}">
                <a16:creationId xmlns:a16="http://schemas.microsoft.com/office/drawing/2014/main" id="{EADF2F6F-9C3C-4EF5-994E-29CA054D7370}"/>
              </a:ext>
            </a:extLst>
          </p:cNvPr>
          <p:cNvSpPr txBox="1"/>
          <p:nvPr/>
        </p:nvSpPr>
        <p:spPr>
          <a:xfrm>
            <a:off x="5585562" y="1163007"/>
            <a:ext cx="417495" cy="523220"/>
          </a:xfrm>
          <a:prstGeom prst="rect">
            <a:avLst/>
          </a:prstGeom>
          <a:solidFill>
            <a:schemeClr val="bg1"/>
          </a:solidFill>
        </p:spPr>
        <p:txBody>
          <a:bodyPr wrap="square" rtlCol="0">
            <a:spAutoFit/>
          </a:bodyPr>
          <a:lstStyle/>
          <a:p>
            <a:r>
              <a:rPr lang="en-IN" sz="2800" dirty="0"/>
              <a:t>a</a:t>
            </a:r>
            <a:endParaRPr lang="en-IN" dirty="0"/>
          </a:p>
        </p:txBody>
      </p:sp>
      <p:sp>
        <p:nvSpPr>
          <p:cNvPr id="27" name="TextBox 26">
            <a:extLst>
              <a:ext uri="{FF2B5EF4-FFF2-40B4-BE49-F238E27FC236}">
                <a16:creationId xmlns:a16="http://schemas.microsoft.com/office/drawing/2014/main" id="{1EA9039F-B5AF-4652-A86E-626B5DF6991F}"/>
              </a:ext>
            </a:extLst>
          </p:cNvPr>
          <p:cNvSpPr txBox="1"/>
          <p:nvPr/>
        </p:nvSpPr>
        <p:spPr>
          <a:xfrm>
            <a:off x="5568794" y="1163007"/>
            <a:ext cx="417495" cy="523220"/>
          </a:xfrm>
          <a:prstGeom prst="rect">
            <a:avLst/>
          </a:prstGeom>
          <a:solidFill>
            <a:schemeClr val="bg1"/>
          </a:solidFill>
        </p:spPr>
        <p:txBody>
          <a:bodyPr wrap="square" rtlCol="0">
            <a:spAutoFit/>
          </a:bodyPr>
          <a:lstStyle/>
          <a:p>
            <a:r>
              <a:rPr lang="en-IN" sz="2800" dirty="0"/>
              <a:t>e</a:t>
            </a:r>
            <a:endParaRPr lang="en-IN" dirty="0"/>
          </a:p>
        </p:txBody>
      </p:sp>
      <p:sp>
        <p:nvSpPr>
          <p:cNvPr id="28" name="TextBox 27">
            <a:extLst>
              <a:ext uri="{FF2B5EF4-FFF2-40B4-BE49-F238E27FC236}">
                <a16:creationId xmlns:a16="http://schemas.microsoft.com/office/drawing/2014/main" id="{C91F65F3-3C0E-4059-ABCB-D202D30223DF}"/>
              </a:ext>
            </a:extLst>
          </p:cNvPr>
          <p:cNvSpPr txBox="1"/>
          <p:nvPr/>
        </p:nvSpPr>
        <p:spPr>
          <a:xfrm>
            <a:off x="4012162" y="3688371"/>
            <a:ext cx="417495" cy="523220"/>
          </a:xfrm>
          <a:prstGeom prst="rect">
            <a:avLst/>
          </a:prstGeom>
          <a:solidFill>
            <a:schemeClr val="bg1"/>
          </a:solidFill>
        </p:spPr>
        <p:txBody>
          <a:bodyPr wrap="square" rtlCol="0">
            <a:spAutoFit/>
          </a:bodyPr>
          <a:lstStyle/>
          <a:p>
            <a:r>
              <a:rPr lang="en-IN" sz="2800" dirty="0"/>
              <a:t>c</a:t>
            </a:r>
            <a:endParaRPr lang="en-IN" dirty="0"/>
          </a:p>
        </p:txBody>
      </p:sp>
      <p:sp>
        <p:nvSpPr>
          <p:cNvPr id="29" name="TextBox 28">
            <a:extLst>
              <a:ext uri="{FF2B5EF4-FFF2-40B4-BE49-F238E27FC236}">
                <a16:creationId xmlns:a16="http://schemas.microsoft.com/office/drawing/2014/main" id="{3F7888B5-049E-4325-9AB2-C20C0E9E1F22}"/>
              </a:ext>
            </a:extLst>
          </p:cNvPr>
          <p:cNvSpPr txBox="1"/>
          <p:nvPr/>
        </p:nvSpPr>
        <p:spPr>
          <a:xfrm>
            <a:off x="2433708" y="3669709"/>
            <a:ext cx="417495" cy="523220"/>
          </a:xfrm>
          <a:prstGeom prst="rect">
            <a:avLst/>
          </a:prstGeom>
          <a:solidFill>
            <a:schemeClr val="bg1"/>
          </a:solidFill>
        </p:spPr>
        <p:txBody>
          <a:bodyPr wrap="square" rtlCol="0">
            <a:spAutoFit/>
          </a:bodyPr>
          <a:lstStyle/>
          <a:p>
            <a:r>
              <a:rPr lang="en-IN" sz="2800" dirty="0"/>
              <a:t>d</a:t>
            </a:r>
            <a:endParaRPr lang="en-IN" dirty="0"/>
          </a:p>
        </p:txBody>
      </p:sp>
    </p:spTree>
    <p:extLst>
      <p:ext uri="{BB962C8B-B14F-4D97-AF65-F5344CB8AC3E}">
        <p14:creationId xmlns:p14="http://schemas.microsoft.com/office/powerpoint/2010/main" val="28011260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7F013-7233-43C8-A219-CCE9F2C40032}"/>
              </a:ext>
            </a:extLst>
          </p:cNvPr>
          <p:cNvSpPr>
            <a:spLocks noGrp="1"/>
          </p:cNvSpPr>
          <p:nvPr>
            <p:ph type="title"/>
          </p:nvPr>
        </p:nvSpPr>
        <p:spPr/>
        <p:txBody>
          <a:bodyPr/>
          <a:lstStyle/>
          <a:p>
            <a:r>
              <a:rPr lang="en-US" dirty="0"/>
              <a:t>Hamilton circuit?</a:t>
            </a:r>
            <a:endParaRPr lang="en-IN" dirty="0"/>
          </a:p>
        </p:txBody>
      </p:sp>
      <p:sp>
        <p:nvSpPr>
          <p:cNvPr id="3" name="Content Placeholder 2">
            <a:extLst>
              <a:ext uri="{FF2B5EF4-FFF2-40B4-BE49-F238E27FC236}">
                <a16:creationId xmlns:a16="http://schemas.microsoft.com/office/drawing/2014/main" id="{849D538C-266E-451C-AB57-CCC7EAA355D5}"/>
              </a:ext>
            </a:extLst>
          </p:cNvPr>
          <p:cNvSpPr>
            <a:spLocks noGrp="1"/>
          </p:cNvSpPr>
          <p:nvPr>
            <p:ph idx="1"/>
          </p:nvPr>
        </p:nvSpPr>
        <p:spPr>
          <a:xfrm>
            <a:off x="393290" y="3955774"/>
            <a:ext cx="8504904" cy="2631840"/>
          </a:xfrm>
        </p:spPr>
        <p:txBody>
          <a:bodyPr>
            <a:normAutofit fontScale="92500" lnSpcReduction="20000"/>
          </a:bodyPr>
          <a:lstStyle/>
          <a:p>
            <a:pPr marL="0" indent="0">
              <a:buNone/>
            </a:pPr>
            <a:r>
              <a:rPr lang="en-US" b="1" dirty="0"/>
              <a:t>Sol:- </a:t>
            </a:r>
            <a:r>
              <a:rPr lang="en-US" dirty="0"/>
              <a:t> </a:t>
            </a:r>
            <a:r>
              <a:rPr lang="en-US" altLang="en-US" sz="2800" dirty="0"/>
              <a:t>Because the degrees of the vertices a, b, d, and e are all two, every edge incident with these vertices must be part of any Hamilton circuit. No Hamilton circuit can exist in H, for any Hamilton circuit would have to contain four edges incident with c, which is impossible.</a:t>
            </a:r>
            <a:endParaRPr lang="en-IN" dirty="0"/>
          </a:p>
        </p:txBody>
      </p:sp>
      <p:sp>
        <p:nvSpPr>
          <p:cNvPr id="6" name="Rectangle 5">
            <a:extLst>
              <a:ext uri="{FF2B5EF4-FFF2-40B4-BE49-F238E27FC236}">
                <a16:creationId xmlns:a16="http://schemas.microsoft.com/office/drawing/2014/main" id="{4A9B51B1-47E9-430F-8A63-E96F836A2114}"/>
              </a:ext>
            </a:extLst>
          </p:cNvPr>
          <p:cNvSpPr/>
          <p:nvPr/>
        </p:nvSpPr>
        <p:spPr>
          <a:xfrm>
            <a:off x="2309190" y="2910510"/>
            <a:ext cx="1020419" cy="5284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2">
            <a:extLst>
              <a:ext uri="{FF2B5EF4-FFF2-40B4-BE49-F238E27FC236}">
                <a16:creationId xmlns:a16="http://schemas.microsoft.com/office/drawing/2014/main" id="{F04C5200-9C93-4920-9A63-DF6133C8E67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4937" t="9594" b="43101"/>
          <a:stretch/>
        </p:blipFill>
        <p:spPr bwMode="auto">
          <a:xfrm>
            <a:off x="1742659" y="1530220"/>
            <a:ext cx="4751011" cy="177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8" name="TextBox 7">
            <a:extLst>
              <a:ext uri="{FF2B5EF4-FFF2-40B4-BE49-F238E27FC236}">
                <a16:creationId xmlns:a16="http://schemas.microsoft.com/office/drawing/2014/main" id="{768F3CCB-8F3E-4F61-824B-1A7C87CA5A52}"/>
              </a:ext>
            </a:extLst>
          </p:cNvPr>
          <p:cNvSpPr txBox="1"/>
          <p:nvPr/>
        </p:nvSpPr>
        <p:spPr>
          <a:xfrm>
            <a:off x="2610651" y="1124183"/>
            <a:ext cx="324307" cy="461665"/>
          </a:xfrm>
          <a:prstGeom prst="rect">
            <a:avLst/>
          </a:prstGeom>
          <a:solidFill>
            <a:schemeClr val="bg1"/>
          </a:solidFill>
        </p:spPr>
        <p:txBody>
          <a:bodyPr wrap="square" rtlCol="0">
            <a:spAutoFit/>
          </a:bodyPr>
          <a:lstStyle/>
          <a:p>
            <a:r>
              <a:rPr lang="en-IN" sz="2400" dirty="0"/>
              <a:t>a</a:t>
            </a:r>
            <a:endParaRPr lang="en-IN" sz="1600" dirty="0"/>
          </a:p>
        </p:txBody>
      </p:sp>
      <p:sp>
        <p:nvSpPr>
          <p:cNvPr id="9" name="TextBox 8">
            <a:extLst>
              <a:ext uri="{FF2B5EF4-FFF2-40B4-BE49-F238E27FC236}">
                <a16:creationId xmlns:a16="http://schemas.microsoft.com/office/drawing/2014/main" id="{E357ECC0-E1A0-4FED-99F7-47459794E357}"/>
              </a:ext>
            </a:extLst>
          </p:cNvPr>
          <p:cNvSpPr txBox="1"/>
          <p:nvPr/>
        </p:nvSpPr>
        <p:spPr>
          <a:xfrm>
            <a:off x="2610651" y="3248019"/>
            <a:ext cx="417495" cy="523220"/>
          </a:xfrm>
          <a:prstGeom prst="rect">
            <a:avLst/>
          </a:prstGeom>
          <a:solidFill>
            <a:schemeClr val="bg1"/>
          </a:solidFill>
        </p:spPr>
        <p:txBody>
          <a:bodyPr wrap="square" rtlCol="0">
            <a:spAutoFit/>
          </a:bodyPr>
          <a:lstStyle/>
          <a:p>
            <a:r>
              <a:rPr lang="en-IN" sz="2800" dirty="0"/>
              <a:t>b</a:t>
            </a:r>
            <a:endParaRPr lang="en-IN" dirty="0"/>
          </a:p>
        </p:txBody>
      </p:sp>
      <p:sp>
        <p:nvSpPr>
          <p:cNvPr id="10" name="TextBox 9">
            <a:extLst>
              <a:ext uri="{FF2B5EF4-FFF2-40B4-BE49-F238E27FC236}">
                <a16:creationId xmlns:a16="http://schemas.microsoft.com/office/drawing/2014/main" id="{CEDD3D82-8324-4335-BC2E-00AC7B1807FF}"/>
              </a:ext>
            </a:extLst>
          </p:cNvPr>
          <p:cNvSpPr txBox="1"/>
          <p:nvPr/>
        </p:nvSpPr>
        <p:spPr>
          <a:xfrm>
            <a:off x="5531472" y="3304082"/>
            <a:ext cx="417495" cy="523220"/>
          </a:xfrm>
          <a:prstGeom prst="rect">
            <a:avLst/>
          </a:prstGeom>
          <a:solidFill>
            <a:schemeClr val="bg1"/>
          </a:solidFill>
        </p:spPr>
        <p:txBody>
          <a:bodyPr wrap="square" rtlCol="0">
            <a:spAutoFit/>
          </a:bodyPr>
          <a:lstStyle/>
          <a:p>
            <a:r>
              <a:rPr lang="en-IN" sz="2800" dirty="0"/>
              <a:t>e</a:t>
            </a:r>
            <a:endParaRPr lang="en-IN" dirty="0"/>
          </a:p>
        </p:txBody>
      </p:sp>
      <p:sp>
        <p:nvSpPr>
          <p:cNvPr id="11" name="TextBox 10">
            <a:extLst>
              <a:ext uri="{FF2B5EF4-FFF2-40B4-BE49-F238E27FC236}">
                <a16:creationId xmlns:a16="http://schemas.microsoft.com/office/drawing/2014/main" id="{17EE0FE3-753D-4B42-BA31-A3129EA3C18C}"/>
              </a:ext>
            </a:extLst>
          </p:cNvPr>
          <p:cNvSpPr txBox="1"/>
          <p:nvPr/>
        </p:nvSpPr>
        <p:spPr>
          <a:xfrm>
            <a:off x="4126513" y="1733057"/>
            <a:ext cx="417495" cy="523220"/>
          </a:xfrm>
          <a:prstGeom prst="rect">
            <a:avLst/>
          </a:prstGeom>
          <a:solidFill>
            <a:schemeClr val="bg1"/>
          </a:solidFill>
        </p:spPr>
        <p:txBody>
          <a:bodyPr wrap="square" rtlCol="0">
            <a:spAutoFit/>
          </a:bodyPr>
          <a:lstStyle/>
          <a:p>
            <a:r>
              <a:rPr lang="en-IN" sz="2800" dirty="0"/>
              <a:t>c</a:t>
            </a:r>
            <a:endParaRPr lang="en-IN" dirty="0"/>
          </a:p>
        </p:txBody>
      </p:sp>
      <p:sp>
        <p:nvSpPr>
          <p:cNvPr id="12" name="TextBox 11">
            <a:extLst>
              <a:ext uri="{FF2B5EF4-FFF2-40B4-BE49-F238E27FC236}">
                <a16:creationId xmlns:a16="http://schemas.microsoft.com/office/drawing/2014/main" id="{40BD53D2-A680-459C-9149-16378C4E730F}"/>
              </a:ext>
            </a:extLst>
          </p:cNvPr>
          <p:cNvSpPr txBox="1"/>
          <p:nvPr/>
        </p:nvSpPr>
        <p:spPr>
          <a:xfrm>
            <a:off x="5948967" y="1324238"/>
            <a:ext cx="417495" cy="523220"/>
          </a:xfrm>
          <a:prstGeom prst="rect">
            <a:avLst/>
          </a:prstGeom>
          <a:solidFill>
            <a:schemeClr val="bg1"/>
          </a:solidFill>
        </p:spPr>
        <p:txBody>
          <a:bodyPr wrap="square" rtlCol="0">
            <a:spAutoFit/>
          </a:bodyPr>
          <a:lstStyle/>
          <a:p>
            <a:r>
              <a:rPr lang="en-IN" sz="2800" dirty="0"/>
              <a:t>d</a:t>
            </a:r>
            <a:endParaRPr lang="en-IN" dirty="0"/>
          </a:p>
        </p:txBody>
      </p:sp>
    </p:spTree>
    <p:extLst>
      <p:ext uri="{BB962C8B-B14F-4D97-AF65-F5344CB8AC3E}">
        <p14:creationId xmlns:p14="http://schemas.microsoft.com/office/powerpoint/2010/main" val="3914241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7F013-7233-43C8-A219-CCE9F2C40032}"/>
              </a:ext>
            </a:extLst>
          </p:cNvPr>
          <p:cNvSpPr>
            <a:spLocks noGrp="1"/>
          </p:cNvSpPr>
          <p:nvPr>
            <p:ph type="title"/>
          </p:nvPr>
        </p:nvSpPr>
        <p:spPr/>
        <p:txBody>
          <a:bodyPr/>
          <a:lstStyle/>
          <a:p>
            <a:r>
              <a:rPr lang="en-US" dirty="0"/>
              <a:t>Summary</a:t>
            </a:r>
            <a:endParaRPr lang="en-IN" dirty="0"/>
          </a:p>
        </p:txBody>
      </p:sp>
      <p:graphicFrame>
        <p:nvGraphicFramePr>
          <p:cNvPr id="4" name="Group 42">
            <a:extLst>
              <a:ext uri="{FF2B5EF4-FFF2-40B4-BE49-F238E27FC236}">
                <a16:creationId xmlns:a16="http://schemas.microsoft.com/office/drawing/2014/main" id="{B8E5C7DA-ADE0-4F7D-8279-8F0A8AC789DF}"/>
              </a:ext>
            </a:extLst>
          </p:cNvPr>
          <p:cNvGraphicFramePr>
            <a:graphicFrameLocks noGrp="1"/>
          </p:cNvGraphicFramePr>
          <p:nvPr>
            <p:extLst>
              <p:ext uri="{D42A27DB-BD31-4B8C-83A1-F6EECF244321}">
                <p14:modId xmlns:p14="http://schemas.microsoft.com/office/powerpoint/2010/main" val="914985645"/>
              </p:ext>
            </p:extLst>
          </p:nvPr>
        </p:nvGraphicFramePr>
        <p:xfrm>
          <a:off x="439994" y="1948071"/>
          <a:ext cx="8458200" cy="3203575"/>
        </p:xfrm>
        <a:graphic>
          <a:graphicData uri="http://schemas.openxmlformats.org/drawingml/2006/table">
            <a:tbl>
              <a:tblPr/>
              <a:tblGrid>
                <a:gridCol w="4818063">
                  <a:extLst>
                    <a:ext uri="{9D8B030D-6E8A-4147-A177-3AD203B41FA5}">
                      <a16:colId xmlns:a16="http://schemas.microsoft.com/office/drawing/2014/main" val="20000"/>
                    </a:ext>
                  </a:extLst>
                </a:gridCol>
                <a:gridCol w="1708150">
                  <a:extLst>
                    <a:ext uri="{9D8B030D-6E8A-4147-A177-3AD203B41FA5}">
                      <a16:colId xmlns:a16="http://schemas.microsoft.com/office/drawing/2014/main" val="20001"/>
                    </a:ext>
                  </a:extLst>
                </a:gridCol>
                <a:gridCol w="1931987">
                  <a:extLst>
                    <a:ext uri="{9D8B030D-6E8A-4147-A177-3AD203B41FA5}">
                      <a16:colId xmlns:a16="http://schemas.microsoft.com/office/drawing/2014/main" val="20002"/>
                    </a:ext>
                  </a:extLst>
                </a:gridCol>
              </a:tblGrid>
              <a:tr h="68897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3200" b="1" i="0" u="none" strike="noStrike" cap="none" normalizeH="0" baseline="0">
                          <a:ln>
                            <a:noFill/>
                          </a:ln>
                          <a:solidFill>
                            <a:schemeClr val="tx2"/>
                          </a:solidFill>
                          <a:effectLst/>
                          <a:latin typeface="+mn-lt"/>
                        </a:rPr>
                        <a:t>Property</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3200" b="1" i="0" u="none" strike="noStrike" cap="none" normalizeH="0" baseline="0">
                          <a:ln>
                            <a:noFill/>
                          </a:ln>
                          <a:solidFill>
                            <a:schemeClr val="tx2"/>
                          </a:solidFill>
                          <a:effectLst/>
                          <a:latin typeface="+mn-lt"/>
                        </a:rPr>
                        <a:t>Euler</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3200" b="1" i="0" u="none" strike="noStrike" cap="none" normalizeH="0" baseline="0">
                          <a:ln>
                            <a:noFill/>
                          </a:ln>
                          <a:solidFill>
                            <a:schemeClr val="tx2"/>
                          </a:solidFill>
                          <a:effectLst/>
                          <a:latin typeface="+mn-lt"/>
                        </a:rPr>
                        <a:t>Hamilton</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257300">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3200" b="0" i="0" u="none" strike="noStrike" cap="none" normalizeH="0" baseline="0" dirty="0">
                          <a:ln>
                            <a:noFill/>
                          </a:ln>
                          <a:solidFill>
                            <a:schemeClr val="tx1"/>
                          </a:solidFill>
                          <a:effectLst/>
                          <a:latin typeface="+mn-lt"/>
                        </a:rPr>
                        <a:t>Repeated visits to a given node allowed?</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3200" b="0" i="0" u="none" strike="noStrike" cap="none" normalizeH="0" baseline="0">
                          <a:ln>
                            <a:noFill/>
                          </a:ln>
                          <a:solidFill>
                            <a:schemeClr val="tx1"/>
                          </a:solidFill>
                          <a:effectLst/>
                          <a:latin typeface="+mn-lt"/>
                        </a:rPr>
                        <a:t>Yes</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3200" b="0" i="0" u="none" strike="noStrike" cap="none" normalizeH="0" baseline="0">
                          <a:ln>
                            <a:noFill/>
                          </a:ln>
                          <a:solidFill>
                            <a:schemeClr val="tx1"/>
                          </a:solidFill>
                          <a:effectLst/>
                          <a:latin typeface="+mn-lt"/>
                        </a:rPr>
                        <a:t>No</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257300">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3200" b="0" i="0" u="none" strike="noStrike" cap="none" normalizeH="0" baseline="0" dirty="0">
                          <a:ln>
                            <a:noFill/>
                          </a:ln>
                          <a:solidFill>
                            <a:schemeClr val="tx1"/>
                          </a:solidFill>
                          <a:effectLst/>
                          <a:latin typeface="+mn-lt"/>
                        </a:rPr>
                        <a:t>Repeated traversals of a given edge allowed?</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3200" b="0" i="0" u="none" strike="noStrike" cap="none" normalizeH="0" baseline="0">
                          <a:ln>
                            <a:noFill/>
                          </a:ln>
                          <a:solidFill>
                            <a:schemeClr val="tx1"/>
                          </a:solidFill>
                          <a:effectLst/>
                          <a:latin typeface="+mn-lt"/>
                        </a:rPr>
                        <a:t>No</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3200" b="0" i="0" u="none" strike="noStrike" cap="none" normalizeH="0" baseline="0" dirty="0">
                          <a:ln>
                            <a:noFill/>
                          </a:ln>
                          <a:solidFill>
                            <a:schemeClr val="tx1"/>
                          </a:solidFill>
                          <a:effectLst/>
                          <a:latin typeface="+mn-lt"/>
                        </a:rPr>
                        <a:t>No</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12432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81241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MyFont">
      <a:majorFont>
        <a:latin typeface="Bahnschrift SemiBold"/>
        <a:ea typeface=""/>
        <a:cs typeface=""/>
      </a:majorFont>
      <a:minorFont>
        <a:latin typeface="Bahnschrif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9859</TotalTime>
  <Words>733</Words>
  <Application>Microsoft Office PowerPoint</Application>
  <PresentationFormat>On-screen Show (4:3)</PresentationFormat>
  <Paragraphs>103</Paragraphs>
  <Slides>22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Arial</vt:lpstr>
      <vt:lpstr>Bahnschrift</vt:lpstr>
      <vt:lpstr>Bahnschrift SemiBold</vt:lpstr>
      <vt:lpstr>Calibri</vt:lpstr>
      <vt:lpstr>Times New Roman</vt:lpstr>
      <vt:lpstr>Office Theme</vt:lpstr>
      <vt:lpstr>EMTH403</vt:lpstr>
      <vt:lpstr>Lecture Outcomes</vt:lpstr>
      <vt:lpstr>Hamilton Paths and Circuits</vt:lpstr>
      <vt:lpstr>Travelling Salesman Problem</vt:lpstr>
      <vt:lpstr>Finding Hamilton Circuits</vt:lpstr>
      <vt:lpstr>Hamilton circuit?</vt:lpstr>
      <vt:lpstr>Hamilton Path?</vt:lpstr>
      <vt:lpstr>Hamilton circuit?</vt:lpstr>
      <vt:lpstr>Hamilton Circuit</vt:lpstr>
      <vt:lpstr>Hamilton Path</vt:lpstr>
      <vt:lpstr>Hamilton Circuit</vt:lpstr>
      <vt:lpstr>Hamilton Circuit</vt:lpstr>
      <vt:lpstr>Hamilton Circuit</vt:lpstr>
      <vt:lpstr>Hamilton Circuit</vt:lpstr>
      <vt:lpstr>Hamilton Circuit</vt:lpstr>
      <vt:lpstr>Hamilton Circuit</vt:lpstr>
      <vt:lpstr>Hamilton Paths and Circuits</vt:lpstr>
      <vt:lpstr>Properties to look for ...</vt:lpstr>
      <vt:lpstr>Hamilton Circuit</vt:lpstr>
      <vt:lpstr>Hamilton circuit?</vt:lpstr>
      <vt:lpstr>Summary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Nitin Mishra</dc:creator>
  <cp:lastModifiedBy>video recording 1</cp:lastModifiedBy>
  <cp:revision>1538</cp:revision>
  <dcterms:created xsi:type="dcterms:W3CDTF">2020-12-04T05:20:56Z</dcterms:created>
  <dcterms:modified xsi:type="dcterms:W3CDTF">2021-01-19T04:36:08Z</dcterms:modified>
</cp:coreProperties>
</file>